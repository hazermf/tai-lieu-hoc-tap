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335" r:id="rId2"/>
    <p:sldId id="334"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2895" autoAdjust="0"/>
  </p:normalViewPr>
  <p:slideViewPr>
    <p:cSldViewPr>
      <p:cViewPr varScale="1">
        <p:scale>
          <a:sx n="138" d="100"/>
          <a:sy n="138" d="100"/>
        </p:scale>
        <p:origin x="2928"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6539881D-2A1B-44B5-86E6-CD0BDC979B08}" type="datetimeFigureOut">
              <a:rPr lang="en-US" smtClean="0"/>
              <a:t>7/5/2025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2462E6CA-8440-45F5-A3AE-62AA54DA537F}" type="slidenum">
              <a:rPr lang="en-US" smtClean="0"/>
              <a:t>‹#›</a:t>
            </a:fld>
            <a:endParaRPr lang="en-US"/>
          </a:p>
        </p:txBody>
      </p:sp>
    </p:spTree>
    <p:extLst>
      <p:ext uri="{BB962C8B-B14F-4D97-AF65-F5344CB8AC3E}">
        <p14:creationId xmlns:p14="http://schemas.microsoft.com/office/powerpoint/2010/main" val="4146592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Tốc độ thay đổi của hệ thống máy tính luôn ở mức đáng kinh ngạc. Từ năm 1945, khi kỷ nguyên máy tính hiện đại bắt đầu, cho đến khoảng năm 1985, máy tính thường lớn và đắt đỏ, hoạt động độc lập do thiếu khả năng kết nối. Từ giữa những năm 1980, hai tiến bộ công nghệ đã thay đổi tình hình:</a:t>
            </a:r>
          </a:p>
          <a:p>
            <a:pPr algn="l">
              <a:buFont typeface="+mj-lt"/>
              <a:buAutoNum type="arabicPeriod"/>
            </a:pPr>
            <a:r>
              <a:rPr lang="vi-VN" b="1" i="0" dirty="0">
                <a:solidFill>
                  <a:srgbClr val="404040"/>
                </a:solidFill>
                <a:effectLst/>
                <a:latin typeface="Inter"/>
              </a:rPr>
              <a:t>Vi xử lý mạnh mẽ</a:t>
            </a:r>
            <a:r>
              <a:rPr lang="vi-VN" b="0" i="0" dirty="0">
                <a:solidFill>
                  <a:srgbClr val="404040"/>
                </a:solidFill>
                <a:effectLst/>
                <a:latin typeface="Inter"/>
              </a:rPr>
              <a:t>: Từ các máy 8-bit, CPU 16-, 32-, và 64-bit trở nên phổ biến, với các CPU đa nhân hiện nay thúc đẩy việc phát triển phần mềm để tận dụng song song hóa.</a:t>
            </a:r>
          </a:p>
          <a:p>
            <a:pPr algn="l">
              <a:buFont typeface="+mj-lt"/>
              <a:buAutoNum type="arabicPeriod"/>
            </a:pPr>
            <a:r>
              <a:rPr lang="vi-VN" b="1" i="0" dirty="0">
                <a:solidFill>
                  <a:srgbClr val="404040"/>
                </a:solidFill>
                <a:effectLst/>
                <a:latin typeface="Inter"/>
              </a:rPr>
              <a:t>Mạng máy tính tốc độ cao</a:t>
            </a:r>
            <a:r>
              <a:rPr lang="vi-VN" b="0" i="0" dirty="0">
                <a:solidFill>
                  <a:srgbClr val="404040"/>
                </a:solidFill>
                <a:effectLst/>
                <a:latin typeface="Inter"/>
              </a:rPr>
              <a:t>: Mạng cục bộ (LAN) và mạng diện rộng (WAN) cho phép kết nối hàng triệu máy tính trên toàn cầu với tốc độ truyền dữ liệu cực nhanh.</a:t>
            </a:r>
          </a:p>
          <a:p>
            <a:pPr algn="l"/>
            <a:r>
              <a:rPr lang="vi-VN" b="0" i="0" dirty="0">
                <a:solidFill>
                  <a:srgbClr val="404040"/>
                </a:solidFill>
                <a:effectLst/>
                <a:latin typeface="Inter"/>
              </a:rPr>
              <a:t>Song song với điều này, sự thu nhỏ của hệ thống máy tính, như điện thoại thông minh và máy tính nhúng, đã tạo ra các thiết bị mạnh mẽ, có khả năng kết nối mạng. Những tiến bộ này giúp việc xây dựng các hệ thống phân tán (distributed systems) trở nên dễ dàng, bao gồm nhiều máy tính kết nối mạng, có thể thay đổi liên tục về quy mô và cấu trúc. Chương này sẽ khám phá các mục tiêu thiết kế và một số loại hệ thống phân tán phổ biến.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3</a:t>
            </a:fld>
            <a:endParaRPr lang="en-US"/>
          </a:p>
        </p:txBody>
      </p:sp>
    </p:spTree>
    <p:extLst>
      <p:ext uri="{BB962C8B-B14F-4D97-AF65-F5344CB8AC3E}">
        <p14:creationId xmlns:p14="http://schemas.microsoft.com/office/powerpoint/2010/main" val="1201031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Trong các tài liệu, có nhiều định nghĩa khác nhau về hệ thống phân tán, nhưng không có định nghĩa nào thực sự thỏa đáng hoặc thống nhất với các định nghĩa khác.</a:t>
            </a:r>
            <a:r>
              <a:rPr lang="en-US" b="0" i="0" dirty="0">
                <a:solidFill>
                  <a:srgbClr val="404040"/>
                </a:solidFill>
                <a:effectLst/>
                <a:latin typeface="Inter"/>
              </a:rPr>
              <a:t> </a:t>
            </a:r>
            <a:r>
              <a:rPr lang="vi-VN" dirty="0">
                <a:effectLst/>
              </a:rPr>
              <a:t>Đối với mục đích của chúng ta, một đặc trưng chung và không quá chặt chẽ là đủ:</a:t>
            </a:r>
            <a:endParaRPr lang="en-US" b="0" i="0" dirty="0">
              <a:solidFill>
                <a:srgbClr val="404040"/>
              </a:solidFill>
              <a:effectLst/>
              <a:latin typeface="Inter"/>
            </a:endParaRPr>
          </a:p>
          <a:p>
            <a:endParaRPr lang="en-US" b="1" dirty="0"/>
          </a:p>
          <a:p>
            <a:r>
              <a:rPr lang="en-US" b="1" dirty="0" err="1"/>
              <a:t>Định</a:t>
            </a:r>
            <a:r>
              <a:rPr lang="en-US" b="1" dirty="0"/>
              <a:t> </a:t>
            </a:r>
            <a:r>
              <a:rPr lang="en-US" b="1" dirty="0" err="1"/>
              <a:t>nghĩa</a:t>
            </a:r>
            <a:r>
              <a:rPr lang="en-US" dirty="0"/>
              <a:t>: </a:t>
            </a:r>
            <a:r>
              <a:rPr lang="vi-VN" b="0" i="0" dirty="0">
                <a:solidFill>
                  <a:srgbClr val="404040"/>
                </a:solidFill>
                <a:effectLst/>
                <a:latin typeface="Inter"/>
              </a:rPr>
              <a:t>Một hệ thống phân tán là một tập hợp các thành phần tính toán tự trị mà đối với người dùng, nó xuất hiện như một hệ thống thống nhất và mạch lạc.</a:t>
            </a:r>
            <a:endParaRPr lang="en-US" b="0" i="0" dirty="0">
              <a:solidFill>
                <a:srgbClr val="404040"/>
              </a:solidFill>
              <a:effectLst/>
              <a:latin typeface="Inter"/>
            </a:endParaRPr>
          </a:p>
          <a:p>
            <a:pPr algn="l"/>
            <a:endParaRPr lang="en-US" b="1" i="0" dirty="0">
              <a:solidFill>
                <a:srgbClr val="404040"/>
              </a:solidFill>
              <a:effectLst/>
              <a:latin typeface="Inter"/>
            </a:endParaRPr>
          </a:p>
          <a:p>
            <a:pPr algn="l"/>
            <a:r>
              <a:rPr lang="vi-VN" b="0" i="0" dirty="0">
                <a:solidFill>
                  <a:srgbClr val="404040"/>
                </a:solidFill>
                <a:effectLst/>
                <a:latin typeface="Inter"/>
              </a:rPr>
              <a:t>Định nghĩa này đề cập đến hai đặc điểm chính của hệ thống phân tán.</a:t>
            </a:r>
          </a:p>
          <a:p>
            <a:pPr algn="l">
              <a:buFont typeface="+mj-lt"/>
              <a:buAutoNum type="arabicPeriod"/>
            </a:pPr>
            <a:r>
              <a:rPr lang="vi-VN" b="1" i="0" dirty="0">
                <a:solidFill>
                  <a:srgbClr val="404040"/>
                </a:solidFill>
                <a:effectLst/>
                <a:latin typeface="Inter"/>
              </a:rPr>
              <a:t>Tập hợp các thành phần tính toán độc lập</a:t>
            </a:r>
            <a:r>
              <a:rPr lang="vi-VN" b="0" i="0" dirty="0">
                <a:solidFill>
                  <a:srgbClr val="404040"/>
                </a:solidFill>
                <a:effectLst/>
                <a:latin typeface="Inter"/>
              </a:rPr>
              <a:t>: Một hệ thống phân tán bao gồm các thành phần tính toán (thường được gọi là các nút - nodes), có thể hoạt động độc lập với nhau. Mỗi nút có thể là một thiết bị phần cứng hoặc một tiến trình phần mềm.</a:t>
            </a:r>
          </a:p>
          <a:p>
            <a:pPr algn="l">
              <a:buFont typeface="+mj-lt"/>
              <a:buAutoNum type="arabicPeriod"/>
            </a:pPr>
            <a:r>
              <a:rPr lang="vi-VN" b="1" i="0" dirty="0">
                <a:solidFill>
                  <a:srgbClr val="404040"/>
                </a:solidFill>
                <a:effectLst/>
                <a:latin typeface="Inter"/>
              </a:rPr>
              <a:t>Người dùng cảm nhận như một hệ thống duy nhất</a:t>
            </a:r>
            <a:r>
              <a:rPr lang="vi-VN" b="0" i="0" dirty="0">
                <a:solidFill>
                  <a:srgbClr val="404040"/>
                </a:solidFill>
                <a:effectLst/>
                <a:latin typeface="Inter"/>
              </a:rPr>
              <a:t>: Người dùng (có thể là con người hoặc ứng dụng) có cảm giác họ đang tương tác với một hệ thống thống nhất. Điều này đòi hỏi các nút tự trị phải hợp tác với nhau. Cách thiết lập sự hợp tác này là trọng tâm của việc phát triển hệ thống phân tán.</a:t>
            </a:r>
          </a:p>
          <a:p>
            <a:pPr algn="l"/>
            <a:r>
              <a:rPr lang="vi-VN" b="0" i="0" dirty="0">
                <a:solidFill>
                  <a:srgbClr val="404040"/>
                </a:solidFill>
                <a:effectLst/>
                <a:latin typeface="Inter"/>
              </a:rPr>
              <a:t>Lưu ý rằng chúng ta không đưa ra bất kỳ giả định nào về loại nút. Trong cùng một hệ thống, các nút có thể bao gồm từ máy tính mainframe hiệu suất cao đến các thiết bị nhỏ trong mạng cảm biến. Tương tự, chúng ta cũng không giả định về cách thức các nút được kết nối với nhau.</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a:t>
            </a:fld>
            <a:endParaRPr lang="en-US"/>
          </a:p>
        </p:txBody>
      </p:sp>
    </p:spTree>
    <p:extLst>
      <p:ext uri="{BB962C8B-B14F-4D97-AF65-F5344CB8AC3E}">
        <p14:creationId xmlns:p14="http://schemas.microsoft.com/office/powerpoint/2010/main" val="675607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Các hệ thống phân tán hiện đại có thể (và thường sẽ) bao gồm nhiều loại nút khác nhau, từ các máy tính hiệu suất cao cỡ lớn đến các máy tính nhúng nhỏ hoặc thậm chí các thiết bị nhỏ hơn. Một nguyên tắc cơ bản là các nút có thể hoạt động độc lập với nhau, mặc dù rõ ràng nếu chúng hoàn toàn bỏ qua nhau thì việc đưa chúng vào cùng một hệ thống phân tán là vô nghĩa. Trong thực tế, các nút được lập trình để đạt được các mục tiêu chung, được thực hiện thông qua việc trao đổi thông điệp với nhau. Một nút phản ứng với các thông điệp đến, xử lý chúng và từ đó dẫn đến việc tiếp tục giao tiếp thông qua truyền thông điệp.</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Một quan sát quan trọng là, do phải làm việc với các nút độc lập, mỗi nút sẽ có khái niệm thời gian riêng của nó. Nói cách khác, chúng ta không thể luôn giả định rằng có một thứ như đồng hồ toàn cầu. Việc thiếu một tham chiếu thời gian chung dẫn đến các câu hỏi cơ bản về đồng bộ hóa và điều phối trong hệ thống phân tán, mà chúng ta sẽ thảo luận chi tiết trong Chương 6. Việc chúng ta đang làm việc với một tập hợp các nút cũng ngụ ý rằng chúng ta có thể cần quản lý thành viên và tổ chức của tập hợp đó. Nói cách khác, chúng ta có thể cần đăng ký các nút nào có thể hoặc không thể thuộc về hệ thống, và cung cấp cho mỗi thành viên một danh sách các nút mà nó có thể giao tiếp trực tiếp.</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Quản lý thành viên nhóm có thể cực kỳ khó khăn, nếu chỉ vì lý do kiểm soát truy cập. Để giải thích, chúng ta phân biệt giữa nhóm mở và nhóm đóng. Trong nhóm mở, bất kỳ nút nào cũng được phép tham gia hệ thống phân tán, có nghĩa là nó có thể gửi thông điệp đến bất kỳ nút nào khác trong hệ thống. Ngược lại, với nhóm đóng, chỉ các thành viên của nhóm đó mới có thể giao tiếp với nhau và cần một cơ chế riêng để cho phép một nút tham gia hoặc rời khỏi nhóm.</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Không khó để thấy rằng kiểm soát truy cập có thể khó khăn. Đầu tiên, cần một cơ chế để xác thực một nút, và như chúng ta sẽ thấy trong Chương 9, nếu không được thiết kế đúng cách, quản lý xác thực có thể dễ dàng tạo ra một nút cổ chai về khả năng mở rộng. Thứ hai, về nguyên tắc, mỗi nút phải kiểm tra xem nó có thực sự đang giao tiếp với một thành viên khác trong nhóm hay không, chứ không phải, ví dụ, với một kẻ xâm nhập nhằm tạo ra sự hỗn loạn. Cuối cùng, xét rằng một thành viên có thể dễ dàng giao tiếp với các thành viên không phải là thành viên, nếu tính bảo mật là một vấn đề trong giao tiếp trong hệ thống phân tán, chúng ta có thể phải đối mặt với các vấn đề về niềm tin.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a:t>
            </a:fld>
            <a:endParaRPr lang="en-US"/>
          </a:p>
        </p:txBody>
      </p:sp>
    </p:spTree>
    <p:extLst>
      <p:ext uri="{BB962C8B-B14F-4D97-AF65-F5344CB8AC3E}">
        <p14:creationId xmlns:p14="http://schemas.microsoft.com/office/powerpoint/2010/main" val="3963524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Về tổ chức của tập hợp, thực tế cho thấy rằng một hệ thống phân tán thường được tổ chức như một mạng phủ [Tarkoma, 2010]. Trong trường hợp này, một nút thường là một tiến trình phần mềm được trang bị một danh sách các tiến trình khác mà nó có thể gửi thông điệp trực tiếp đến. Cũng có thể xảy ra trường hợp một hàng xóm cần được tìm kiếm trước. Việc truyền thông điệp sau đó được thực hiện thông qua các kênh TCP/IP hoặc UDP, nhưng như chúng ta sẽ thấy trong Chương 4, các tiện ích cấp cao hơn cũng có thể có sẵn. Có khoảng hai loại mạng phủ:</a:t>
            </a:r>
            <a:endParaRPr lang="en-US" b="0" i="0" dirty="0">
              <a:solidFill>
                <a:srgbClr val="404040"/>
              </a:solidFill>
              <a:effectLst/>
              <a:latin typeface="Inter"/>
            </a:endParaRPr>
          </a:p>
          <a:p>
            <a:pPr algn="l"/>
            <a:endParaRPr lang="vi-VN" b="0" i="0" dirty="0">
              <a:solidFill>
                <a:srgbClr val="404040"/>
              </a:solidFill>
              <a:effectLst/>
              <a:latin typeface="Inter"/>
            </a:endParaRPr>
          </a:p>
          <a:p>
            <a:pPr algn="l">
              <a:buFont typeface="Arial" panose="020B0604020202020204" pitchFamily="34" charset="0"/>
              <a:buChar char="•"/>
            </a:pPr>
            <a:r>
              <a:rPr lang="vi-VN" b="1" i="0" dirty="0">
                <a:solidFill>
                  <a:srgbClr val="404040"/>
                </a:solidFill>
                <a:effectLst/>
                <a:latin typeface="Inter"/>
              </a:rPr>
              <a:t>Mạng phủ có cấu trúc</a:t>
            </a:r>
            <a:r>
              <a:rPr lang="vi-VN" b="0" i="0" dirty="0">
                <a:solidFill>
                  <a:srgbClr val="404040"/>
                </a:solidFill>
                <a:effectLst/>
                <a:latin typeface="Inter"/>
              </a:rPr>
              <a:t>: Trong trường hợp này, mỗi nút có một tập hợp các hàng xóm được xác định rõ ràng mà nó có thể giao tiếp. Ví dụ, các nút được tổ chức trong một cây hoặc vòng logic.</a:t>
            </a:r>
          </a:p>
          <a:p>
            <a:pPr algn="l">
              <a:buFont typeface="Arial" panose="020B0604020202020204" pitchFamily="34" charset="0"/>
              <a:buChar char="•"/>
            </a:pPr>
            <a:r>
              <a:rPr lang="vi-VN" b="1" i="0" dirty="0">
                <a:solidFill>
                  <a:srgbClr val="404040"/>
                </a:solidFill>
                <a:effectLst/>
                <a:latin typeface="Inter"/>
              </a:rPr>
              <a:t>Mạng phủ không cấu trúc</a:t>
            </a:r>
            <a:r>
              <a:rPr lang="vi-VN" b="0" i="0" dirty="0">
                <a:solidFill>
                  <a:srgbClr val="404040"/>
                </a:solidFill>
                <a:effectLst/>
                <a:latin typeface="Inter"/>
              </a:rPr>
              <a:t>: Trong các mạng phủ này, mỗi nút có một số tham chiếu đến các nút khác được chọn ngẫu nhiên.</a:t>
            </a:r>
            <a:endParaRPr lang="en-US" b="0" i="0" dirty="0">
              <a:solidFill>
                <a:srgbClr val="404040"/>
              </a:solidFill>
              <a:effectLst/>
              <a:latin typeface="Inter"/>
            </a:endParaRPr>
          </a:p>
          <a:p>
            <a:pPr algn="l">
              <a:buFont typeface="Arial" panose="020B0604020202020204" pitchFamily="34" charset="0"/>
              <a:buNone/>
            </a:pPr>
            <a:endParaRPr lang="vi-VN" b="0" i="0" dirty="0">
              <a:solidFill>
                <a:srgbClr val="404040"/>
              </a:solidFill>
              <a:effectLst/>
              <a:latin typeface="Inter"/>
            </a:endParaRPr>
          </a:p>
          <a:p>
            <a:pPr algn="l"/>
            <a:r>
              <a:rPr lang="vi-VN" b="0" i="0" dirty="0">
                <a:solidFill>
                  <a:srgbClr val="404040"/>
                </a:solidFill>
                <a:effectLst/>
                <a:latin typeface="Inter"/>
              </a:rPr>
              <a:t>Trong mọi trường hợp, một mạng phủ, về nguyên tắc, luôn luôn được kết nối, có nghĩa là giữa hai nút bất kỳ luôn có một đường truyền thông cho phép các nút đó định tuyến thông điệp từ một nút đến nút khác. Một lớp mạng phủ nổi tiếng được hình thành bởi các mạng ngang hàng (P2P). Các ví dụ về mạng phủ sẽ được thảo luận chi tiết trong Chương 2 và các chương sau. Điều quan trọng là nhận ra rằng việc tổ chức các nút đòi hỏi nỗ lực đặc biệt và đôi khi là một trong những phần phức tạp hơn của quản lý hệ thống phân tán.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a:t>
            </a:fld>
            <a:endParaRPr lang="en-US"/>
          </a:p>
        </p:txBody>
      </p:sp>
    </p:spTree>
    <p:extLst>
      <p:ext uri="{BB962C8B-B14F-4D97-AF65-F5344CB8AC3E}">
        <p14:creationId xmlns:p14="http://schemas.microsoft.com/office/powerpoint/2010/main" val="1024828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Như đã đề cập, một hệ thống phân tán nên xuất hiện như một hệ thống thống nhất và mạch lạc. Trong một số trường hợp, các nhà nghiên cứu thậm chí còn đi xa hơn khi cho rằng nên có một </a:t>
            </a:r>
            <a:r>
              <a:rPr lang="vi-VN" b="1" i="0" dirty="0">
                <a:solidFill>
                  <a:srgbClr val="404040"/>
                </a:solidFill>
                <a:effectLst/>
                <a:latin typeface="Inter"/>
              </a:rPr>
              <a:t>góc nhìn hệ thống đơn lẻ</a:t>
            </a:r>
            <a:r>
              <a:rPr lang="vi-VN" b="0" i="0" dirty="0">
                <a:solidFill>
                  <a:srgbClr val="404040"/>
                </a:solidFill>
                <a:effectLst/>
                <a:latin typeface="Inter"/>
              </a:rPr>
              <a:t>, nghĩa là người dùng cuối thậm chí không nên nhận ra rằng họ đang làm việc với các quy trình, dữ liệu và điều khiển được phân tán trên một mạng máy tính. Tuy nhiên, việc đạt được góc nhìn hệ thống đơn lẻ thường là yêu cầu quá cao, và đó là lý do tại sao trong định nghĩa của chúng ta về hệ thống phân tán, chúng ta chọn một tiêu chí yếu hơn, đó là hệ thống </a:t>
            </a:r>
            <a:r>
              <a:rPr lang="vi-VN" b="1" i="0" dirty="0">
                <a:solidFill>
                  <a:srgbClr val="404040"/>
                </a:solidFill>
                <a:effectLst/>
                <a:latin typeface="Inter"/>
              </a:rPr>
              <a:t>xuất hiện một cách mạch lạc</a:t>
            </a:r>
            <a:r>
              <a:rPr lang="vi-VN" b="0" i="0" dirty="0">
                <a:solidFill>
                  <a:srgbClr val="404040"/>
                </a:solidFill>
                <a:effectLst/>
                <a:latin typeface="Inter"/>
              </a:rPr>
              <a:t>. Nói một cách đơn giản, một hệ thống phân tán là mạch lạc nếu nó hoạt động theo đúng kỳ vọng của người dùng. Cụ thể hơn, trong một hệ thống mạch lạc, tập hợp các nút hoạt động như một thể thống nhất, bất kể việc tương tác giữa người dùng và hệ thống diễn ra ở đâu, khi nào và như thế nào.</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Việc cung cấp một góc nhìn hệ thống mạch lạc đã là một thách thức đủ lớn. Ví dụ, nó yêu cầu rằng người dùng cuối không thể biết chính xác quy trình hiện đang chạy trên máy tính nào, hoặc thậm chí một phần công việc đã được chuyển sang một quy trình khác đang chạy ở nơi khác. Tương tự, việc dữ liệu được lưu trữ ở đâu không nên là mối quan tâm, và cũng không nên quan trọng việc hệ thống có thể đang sao chép dữ liệu để tăng hiệu suất. Tính minh bạch phân tán (</a:t>
            </a:r>
            <a:r>
              <a:rPr lang="vi-VN" b="1" i="0" dirty="0">
                <a:solidFill>
                  <a:srgbClr val="404040"/>
                </a:solidFill>
                <a:effectLst/>
                <a:latin typeface="Inter"/>
              </a:rPr>
              <a:t>distribution transparency</a:t>
            </a:r>
            <a:r>
              <a:rPr lang="vi-VN" b="0" i="0" dirty="0">
                <a:solidFill>
                  <a:srgbClr val="404040"/>
                </a:solidFill>
                <a:effectLst/>
                <a:latin typeface="Inter"/>
              </a:rPr>
              <a:t>) này, mà chúng ta sẽ thảo luận chi tiết hơn trong Mục 1.2, là một mục tiêu thiết kế quan trọng của hệ thống phân tán. Theo một cách nào đó, nó tương tự như cách tiếp cận trong nhiều hệ điều hành kiểu Unix, trong đó tài nguyên được truy cập thông qua một giao diện hệ thống tệp thống nhất, che giấu sự khác biệt giữa tệp, thiết bị lưu trữ, bộ nhớ chính và cả mạng.</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0" i="0" dirty="0">
                <a:solidFill>
                  <a:srgbClr val="404040"/>
                </a:solidFill>
                <a:effectLst/>
                <a:latin typeface="Inter"/>
              </a:rPr>
              <a:t>Tuy nhiên, việc hướng tới một hệ thống mạch lạc đặt ra một sự đánh đổi quan trọng. Vì chúng ta không thể bỏ qua thực tế rằng một hệ thống phân tán bao gồm nhiều nút được kết nối mạng, nên việc chỉ một phần hệ thống gặp sự cố tại bất kỳ thời điểm nào là điều không thể tránh khỏi. Điều này có nghĩa là hành vi bất ngờ, chẳng hạn như một số ứng dụng có thể tiếp tục chạy thành công trong khi những ứng dụng khác bị dừng đột ngột, là một thực tế cần được xử lý. Mặc dù sự cố một phần vốn có trong bất kỳ hệ thống phức tạp nào, nhưng trong hệ thống phân tán, chúng đặc biệt khó che giấu. Điều này đã khiến Leslie Lamport, người đoạt giải Turing, mô tả một hệ thống phân tán là: </a:t>
            </a:r>
            <a:r>
              <a:rPr lang="vi-VN" b="0" i="1" dirty="0">
                <a:solidFill>
                  <a:srgbClr val="404040"/>
                </a:solidFill>
                <a:effectLst/>
                <a:latin typeface="Inter"/>
              </a:rPr>
              <a:t>"[...] một hệ thống mà sự cố của một máy tính bạn thậm chí không biết đến có thể khiến máy tính của bạn không thể sử dụng được."</a:t>
            </a:r>
            <a:endParaRPr lang="vi-VN" b="0" i="0" dirty="0">
              <a:solidFill>
                <a:srgbClr val="404040"/>
              </a:solidFill>
              <a:effectLst/>
              <a:latin typeface="Inter"/>
            </a:endParaRP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7</a:t>
            </a:fld>
            <a:endParaRPr lang="en-US"/>
          </a:p>
        </p:txBody>
      </p:sp>
    </p:spTree>
    <p:extLst>
      <p:ext uri="{BB962C8B-B14F-4D97-AF65-F5344CB8AC3E}">
        <p14:creationId xmlns:p14="http://schemas.microsoft.com/office/powerpoint/2010/main" val="495669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effectLst/>
                <a:latin typeface="Inter"/>
              </a:rPr>
              <a:t>Để hỗ trợ việc phát triển các ứng dụng phân tán, các hệ thống phân tán thường được tổ chức với một lớp phần mềm riêng biệt, được đặt một cách logic trên các hệ điều hành tương ứng của các máy tính trong hệ thống. Cách tổ chức này được minh họa trong Hình 1.1, tạo nên cái được gọi là </a:t>
            </a:r>
            <a:r>
              <a:rPr lang="vi-VN" b="1" i="0" dirty="0">
                <a:effectLst/>
                <a:latin typeface="Inter"/>
              </a:rPr>
              <a:t>middleware</a:t>
            </a:r>
            <a:r>
              <a:rPr lang="vi-VN" b="0" i="0" dirty="0">
                <a:effectLst/>
                <a:latin typeface="Inter"/>
              </a:rPr>
              <a:t> [Bernstein, 1996].</a:t>
            </a:r>
          </a:p>
          <a:p>
            <a:pPr algn="l"/>
            <a:r>
              <a:rPr lang="vi-VN" b="0" i="0" dirty="0">
                <a:effectLst/>
                <a:latin typeface="Inter"/>
              </a:rPr>
              <a:t>Middleware hoạt động như một lớp trung gian, cung cấp các dịch vụ và chức năng chung để giúp các ứng dụng phân tán giao tiếp và tương tác một cách hiệu quả, đồng thời che giấu sự phức tạp của các hệ thống cơ bản.</a:t>
            </a:r>
          </a:p>
          <a:p>
            <a:pPr algn="l"/>
            <a:br>
              <a:rPr lang="vi-VN" b="0" i="0" dirty="0">
                <a:solidFill>
                  <a:srgbClr val="800080"/>
                </a:solidFill>
                <a:effectLst/>
                <a:latin typeface="Inter"/>
              </a:rPr>
            </a:br>
            <a:r>
              <a:rPr lang="vi-VN" b="0" i="0" dirty="0">
                <a:solidFill>
                  <a:srgbClr val="404040"/>
                </a:solidFill>
                <a:effectLst/>
                <a:latin typeface="Inter"/>
              </a:rPr>
              <a:t>Hình 1.1 cho thấy bốn máy tính được kết nối mạng và ba ứng dụng, trong đó ứng dụng B được phân tán trên máy tính 2 và 3. Mỗi ứng dụng được cung cấp cùng một giao diện. Hệ thống phân tán cung cấp các phương tiện để các thành phần của một ứng dụng phân tán duy nhất giao tiếp với nhau, đồng thời cho phép các ứng dụng khác nhau giao tiếp. Đồng thời, nó che giấu, một cách tốt nhất và hợp lý nhất, sự khác biệt về phần cứng và hệ điều hành từ mỗi ứng dụng.</a:t>
            </a:r>
          </a:p>
          <a:p>
            <a:pPr algn="l"/>
            <a:r>
              <a:rPr lang="vi-VN" b="0" i="0" dirty="0">
                <a:solidFill>
                  <a:srgbClr val="404040"/>
                </a:solidFill>
                <a:effectLst/>
                <a:latin typeface="Inter"/>
              </a:rPr>
              <a:t>Theo một cách nào đó, middleware đối với hệ thống phân tán cũng giống như hệ điều hành đối với máy tính: một trình quản lý tài nguyên cung cấp cho các ứng dụng của nó khả năng chia sẻ và triển khai hiệu quả các tài nguyên đó trên mạng. Bên cạnh quản lý tài nguyên, nó cung cấp các dịch vụ mà hầu hết các hệ điều hành cũng có, bao gồm:</a:t>
            </a:r>
          </a:p>
          <a:p>
            <a:pPr algn="l">
              <a:buFont typeface="Arial" panose="020B0604020202020204" pitchFamily="34" charset="0"/>
              <a:buChar char="•"/>
            </a:pPr>
            <a:r>
              <a:rPr lang="vi-VN" b="0" i="0" dirty="0">
                <a:solidFill>
                  <a:srgbClr val="404040"/>
                </a:solidFill>
                <a:effectLst/>
                <a:latin typeface="Inter"/>
              </a:rPr>
              <a:t>Các phương tiện để giao tiếp giữa các ứng dụng.</a:t>
            </a:r>
          </a:p>
          <a:p>
            <a:pPr algn="l">
              <a:buFont typeface="Arial" panose="020B0604020202020204" pitchFamily="34" charset="0"/>
              <a:buChar char="•"/>
            </a:pPr>
            <a:r>
              <a:rPr lang="vi-VN" b="0" i="0" dirty="0">
                <a:solidFill>
                  <a:srgbClr val="404040"/>
                </a:solidFill>
                <a:effectLst/>
                <a:latin typeface="Inter"/>
              </a:rPr>
              <a:t>Các dịch vụ bảo mật.</a:t>
            </a:r>
          </a:p>
          <a:p>
            <a:pPr algn="l">
              <a:buFont typeface="Arial" panose="020B0604020202020204" pitchFamily="34" charset="0"/>
              <a:buChar char="•"/>
            </a:pPr>
            <a:r>
              <a:rPr lang="vi-VN" b="0" i="0" dirty="0">
                <a:solidFill>
                  <a:srgbClr val="404040"/>
                </a:solidFill>
                <a:effectLst/>
                <a:latin typeface="Inter"/>
              </a:rPr>
              <a:t>Các dịch vụ kế toán.</a:t>
            </a:r>
          </a:p>
          <a:p>
            <a:pPr algn="l">
              <a:buFont typeface="Arial" panose="020B0604020202020204" pitchFamily="34" charset="0"/>
              <a:buChar char="•"/>
            </a:pPr>
            <a:r>
              <a:rPr lang="vi-VN" b="0" i="0" dirty="0">
                <a:solidFill>
                  <a:srgbClr val="404040"/>
                </a:solidFill>
                <a:effectLst/>
                <a:latin typeface="Inter"/>
              </a:rPr>
              <a:t>Che giấu và khôi phục sau các lỗi.</a:t>
            </a:r>
          </a:p>
          <a:p>
            <a:endParaRPr lang="en-US" dirty="0"/>
          </a:p>
          <a:p>
            <a:pPr algn="l"/>
            <a:r>
              <a:rPr lang="vi-VN" b="0" i="0" dirty="0">
                <a:solidFill>
                  <a:srgbClr val="404040"/>
                </a:solidFill>
                <a:effectLst/>
                <a:latin typeface="Inter"/>
              </a:rPr>
              <a:t>Sự khác biệt chính so với các dịch vụ tương đương trong hệ điều hành là các dịch vụ middleware được cung cấp trong môi trường mạng. Cũng lưu ý rằng hầu hết các dịch vụ này đều hữu ích cho nhiều ứng dụng. Theo nghĩa này, middleware cũng có thể được xem như một kho chứa các thành phần và chức năng thường dùng mà giờ đây không cần phải được triển khai riêng biệt bởi các ứng dụng. Để minh họa rõ hơn, hãy xem xét một số ví dụ về các dịch vụ middleware điển hình.</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1" i="0" dirty="0">
                <a:solidFill>
                  <a:srgbClr val="404040"/>
                </a:solidFill>
                <a:effectLst/>
                <a:latin typeface="Inter"/>
              </a:rPr>
              <a:t>Giao tiếp</a:t>
            </a:r>
            <a:r>
              <a:rPr lang="vi-VN" b="0" i="0" dirty="0">
                <a:solidFill>
                  <a:srgbClr val="404040"/>
                </a:solidFill>
                <a:effectLst/>
                <a:latin typeface="Inter"/>
              </a:rPr>
              <a:t>: Một dịch vụ giao tiếp phổ biến là </a:t>
            </a:r>
            <a:r>
              <a:rPr lang="vi-VN" b="1" i="0" dirty="0">
                <a:solidFill>
                  <a:srgbClr val="404040"/>
                </a:solidFill>
                <a:effectLst/>
                <a:latin typeface="Inter"/>
              </a:rPr>
              <a:t>Gọi thủ tục từ xa (Remote Procedure Call - RPC)</a:t>
            </a:r>
            <a:r>
              <a:rPr lang="vi-VN" b="0" i="0" dirty="0">
                <a:solidFill>
                  <a:srgbClr val="404040"/>
                </a:solidFill>
                <a:effectLst/>
                <a:latin typeface="Inter"/>
              </a:rPr>
              <a:t>. Dịch vụ RPC, mà chúng ta sẽ quay lại trong Chương 4, cho phép một ứng dụng gọi một hàm được triển khai và thực thi trên máy tính từ xa như thể nó có sẵn cục bộ. Để làm điều này, nhà phát triển chỉ cần chỉ định tiêu đề hàm được biểu diễn bằng một ngôn ngữ lập trình đặc biệt, từ đó hệ thống con RPC có thể tạo ra mã cần thiết để thiết lập các lời gọi từ xa.</a:t>
            </a:r>
            <a:endParaRPr lang="en-US" b="0" i="0" dirty="0">
              <a:solidFill>
                <a:srgbClr val="404040"/>
              </a:solidFill>
              <a:effectLst/>
              <a:latin typeface="Inter"/>
            </a:endParaRPr>
          </a:p>
          <a:p>
            <a:pPr algn="l"/>
            <a:endParaRPr lang="vi-VN" b="0" i="0" dirty="0">
              <a:solidFill>
                <a:srgbClr val="404040"/>
              </a:solidFill>
              <a:effectLst/>
              <a:latin typeface="Inter"/>
            </a:endParaRPr>
          </a:p>
          <a:p>
            <a:pPr algn="l"/>
            <a:r>
              <a:rPr lang="vi-VN" b="1" i="0" dirty="0">
                <a:solidFill>
                  <a:srgbClr val="404040"/>
                </a:solidFill>
                <a:effectLst/>
                <a:latin typeface="Inter"/>
              </a:rPr>
              <a:t>Giao dịch</a:t>
            </a:r>
            <a:r>
              <a:rPr lang="vi-VN" b="0" i="0" dirty="0">
                <a:solidFill>
                  <a:srgbClr val="404040"/>
                </a:solidFill>
                <a:effectLst/>
                <a:latin typeface="Inter"/>
              </a:rPr>
              <a:t>: Nhiều ứng dụng sử dụng nhiều dịch vụ được phân tán trên nhiều máy tính. Middleware thường cung cấp hỗ trợ đặc biệt để thực thi các dịch vụ như vậy theo cách </a:t>
            </a:r>
            <a:r>
              <a:rPr lang="vi-VN" b="1" i="0" dirty="0">
                <a:solidFill>
                  <a:srgbClr val="404040"/>
                </a:solidFill>
                <a:effectLst/>
                <a:latin typeface="Inter"/>
              </a:rPr>
              <a:t>tất cả hoặc không gì cả</a:t>
            </a:r>
            <a:r>
              <a:rPr lang="vi-VN" b="0" i="0" dirty="0">
                <a:solidFill>
                  <a:srgbClr val="404040"/>
                </a:solidFill>
                <a:effectLst/>
                <a:latin typeface="Inter"/>
              </a:rPr>
              <a:t>, thường được gọi là </a:t>
            </a:r>
            <a:r>
              <a:rPr lang="vi-VN" b="1" i="0" dirty="0">
                <a:solidFill>
                  <a:srgbClr val="404040"/>
                </a:solidFill>
                <a:effectLst/>
                <a:latin typeface="Inter"/>
              </a:rPr>
              <a:t>giao dịch nguyên tử (atomic transaction)</a:t>
            </a:r>
            <a:r>
              <a:rPr lang="vi-VN" b="0" i="0" dirty="0">
                <a:solidFill>
                  <a:srgbClr val="404040"/>
                </a:solidFill>
                <a:effectLst/>
                <a:latin typeface="Inter"/>
              </a:rPr>
              <a:t>. Trong trường hợp này, nhà phát triển ứng dụng chỉ cần chỉ định các dịch vụ từ xa liên quan, và bằng cách tuân theo một giao thức chuẩn hóa, middleware đảm bảo rằng mọi dịch vụ đều được gọi, hoặc không có dịch vụ nào được gọi cả.</a:t>
            </a:r>
          </a:p>
          <a:p>
            <a:pPr algn="l"/>
            <a:endParaRPr lang="en-US" b="1" i="0" dirty="0">
              <a:solidFill>
                <a:srgbClr val="404040"/>
              </a:solidFill>
              <a:effectLst/>
              <a:latin typeface="Inter"/>
            </a:endParaRPr>
          </a:p>
          <a:p>
            <a:pPr algn="l"/>
            <a:r>
              <a:rPr lang="vi-VN" b="1" i="0" dirty="0">
                <a:solidFill>
                  <a:srgbClr val="404040"/>
                </a:solidFill>
                <a:effectLst/>
                <a:latin typeface="Inter"/>
              </a:rPr>
              <a:t>Tổng hợp dịch vụ</a:t>
            </a:r>
            <a:r>
              <a:rPr lang="vi-VN" b="0" i="0" dirty="0">
                <a:solidFill>
                  <a:srgbClr val="404040"/>
                </a:solidFill>
                <a:effectLst/>
                <a:latin typeface="Inter"/>
              </a:rPr>
              <a:t>: Ngày càng phổ biến việc phát triển các ứng dụng mới bằng cách kết hợp các chương trình hiện có. Điều này đặc biệt đúng với nhiều ứng dụng dựa trên web, đặc biệt là những ứng dụng được gọi là </a:t>
            </a:r>
            <a:r>
              <a:rPr lang="vi-VN" b="1" i="0" dirty="0">
                <a:solidFill>
                  <a:srgbClr val="404040"/>
                </a:solidFill>
                <a:effectLst/>
                <a:latin typeface="Inter"/>
              </a:rPr>
              <a:t>dịch vụ web (Web services)</a:t>
            </a:r>
            <a:r>
              <a:rPr lang="vi-VN" b="0" i="0" dirty="0">
                <a:solidFill>
                  <a:srgbClr val="404040"/>
                </a:solidFill>
                <a:effectLst/>
                <a:latin typeface="Inter"/>
              </a:rPr>
              <a:t> [Alonso et al., 2004]. Middleware dựa trên web có thể hỗ trợ bằng cách chuẩn hóa cách thức truy cập các dịch vụ web và cung cấp các phương tiện để tạo ra các chức năng của chúng theo một thứ tự cụ thể. Một ví dụ đơn giản về cách triển khai tổng hợp dịch vụ là </a:t>
            </a:r>
            <a:r>
              <a:rPr lang="vi-VN" b="1" i="0" dirty="0">
                <a:solidFill>
                  <a:srgbClr val="404040"/>
                </a:solidFill>
                <a:effectLst/>
                <a:latin typeface="Inter"/>
              </a:rPr>
              <a:t>mashup</a:t>
            </a:r>
            <a:r>
              <a:rPr lang="vi-VN" b="0" i="0" dirty="0">
                <a:solidFill>
                  <a:srgbClr val="404040"/>
                </a:solidFill>
                <a:effectLst/>
                <a:latin typeface="Inter"/>
              </a:rPr>
              <a:t>: các trang web kết hợp và tổng hợp dữ liệu từ các nguồn khác nhau. Các mashup nổi tiếng là những mashup dựa trên bản đồ của Google, trong đó bản đồ được tăng cường với thông tin bổ sung như trình lập kế hoạch chuyến đi hoặc dự báo thời tiết theo thời gian thực.</a:t>
            </a:r>
          </a:p>
          <a:p>
            <a:pPr algn="l"/>
            <a:endParaRPr lang="en-US" b="1" i="0" dirty="0">
              <a:solidFill>
                <a:srgbClr val="404040"/>
              </a:solidFill>
              <a:effectLst/>
              <a:latin typeface="Inter"/>
            </a:endParaRPr>
          </a:p>
          <a:p>
            <a:pPr algn="l"/>
            <a:r>
              <a:rPr lang="vi-VN" b="1" i="0" dirty="0">
                <a:solidFill>
                  <a:srgbClr val="404040"/>
                </a:solidFill>
                <a:effectLst/>
                <a:latin typeface="Inter"/>
              </a:rPr>
              <a:t>Độ tin cậy</a:t>
            </a:r>
            <a:r>
              <a:rPr lang="vi-VN" b="0" i="0" dirty="0">
                <a:solidFill>
                  <a:srgbClr val="404040"/>
                </a:solidFill>
                <a:effectLst/>
                <a:latin typeface="Inter"/>
              </a:rPr>
              <a:t>: Cuối cùng, đã có rất nhiều nghiên cứu về việc cung cấp các chức năng nâng cao để xây dựng các ứng dụng phân tán đáng tin cậy. Bộ công cụ </a:t>
            </a:r>
            <a:r>
              <a:rPr lang="vi-VN" b="1" i="0" dirty="0">
                <a:solidFill>
                  <a:srgbClr val="404040"/>
                </a:solidFill>
                <a:effectLst/>
                <a:latin typeface="Inter"/>
              </a:rPr>
              <a:t>Horus</a:t>
            </a:r>
            <a:r>
              <a:rPr lang="vi-VN" b="0" i="0" dirty="0">
                <a:solidFill>
                  <a:srgbClr val="404040"/>
                </a:solidFill>
                <a:effectLst/>
                <a:latin typeface="Inter"/>
              </a:rPr>
              <a:t> [van Renesse et al., 1994] cho phép nhà phát triển xây dựng một ứng dụng như một nhóm các tiến trình sao cho bất kỳ thông điệp nào được gửi bởi một tiến trình đều được đảm bảo nhận bởi tất cả hoặc không có tiến trình nào khác. Hóa ra, những đảm bảo như vậy có thể đơn giản hóa đáng kể việc phát triển các ứng dụng phân tán và thường được triển khai như một phần của middleware.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8</a:t>
            </a:fld>
            <a:endParaRPr lang="en-US"/>
          </a:p>
        </p:txBody>
      </p:sp>
    </p:spTree>
    <p:extLst>
      <p:ext uri="{BB962C8B-B14F-4D97-AF65-F5344CB8AC3E}">
        <p14:creationId xmlns:p14="http://schemas.microsoft.com/office/powerpoint/2010/main" val="3718752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effectLst/>
              </a:rPr>
              <a:t>Trong phần này, chúng ta sẽ thảo luận về bốn mục tiêu quan trọng cần đạt được để việc xây dựng một hệ thống phân tán trở nên đáng giá. Một hệ thống phân tán nên làm cho việc truy cập tài nguyên trở nên dễ dàng; nó nên che giấu sự thật rằng các tài nguyên được phân bố trên mạng; nó nên mở; và nó nên có khả năng mở rộng.</a:t>
            </a:r>
            <a:endParaRPr lang="en-US" dirty="0">
              <a:effectLst/>
            </a:endParaRPr>
          </a:p>
          <a:p>
            <a:endParaRPr lang="vi-VN" dirty="0">
              <a:effectLst/>
            </a:endParaRPr>
          </a:p>
          <a:p>
            <a:pPr algn="l"/>
            <a:br>
              <a:rPr lang="vi-VN" dirty="0">
                <a:solidFill>
                  <a:srgbClr val="4D6BFE"/>
                </a:solidFill>
                <a:effectLst/>
              </a:rPr>
            </a:br>
            <a:r>
              <a:rPr lang="en-US" b="1" i="0" dirty="0">
                <a:solidFill>
                  <a:srgbClr val="404040"/>
                </a:solidFill>
                <a:effectLst/>
                <a:latin typeface="Inter"/>
              </a:rPr>
              <a:t>1. </a:t>
            </a:r>
            <a:r>
              <a:rPr lang="en-US" b="1" i="0" dirty="0" err="1">
                <a:solidFill>
                  <a:srgbClr val="404040"/>
                </a:solidFill>
                <a:effectLst/>
                <a:latin typeface="Inter"/>
              </a:rPr>
              <a:t>Hỗ</a:t>
            </a:r>
            <a:r>
              <a:rPr lang="en-US" b="1" i="0" dirty="0">
                <a:solidFill>
                  <a:srgbClr val="404040"/>
                </a:solidFill>
                <a:effectLst/>
                <a:latin typeface="Inter"/>
              </a:rPr>
              <a:t> </a:t>
            </a:r>
            <a:r>
              <a:rPr lang="en-US" b="1" i="0" dirty="0" err="1">
                <a:solidFill>
                  <a:srgbClr val="404040"/>
                </a:solidFill>
                <a:effectLst/>
                <a:latin typeface="Inter"/>
              </a:rPr>
              <a:t>trợ</a:t>
            </a:r>
            <a:r>
              <a:rPr lang="en-US" b="1" i="0" dirty="0">
                <a:solidFill>
                  <a:srgbClr val="404040"/>
                </a:solidFill>
                <a:effectLst/>
                <a:latin typeface="Inter"/>
              </a:rPr>
              <a:t> chia </a:t>
            </a:r>
            <a:r>
              <a:rPr lang="en-US" b="1" i="0" dirty="0" err="1">
                <a:solidFill>
                  <a:srgbClr val="404040"/>
                </a:solidFill>
                <a:effectLst/>
                <a:latin typeface="Inter"/>
              </a:rPr>
              <a:t>sẻ</a:t>
            </a:r>
            <a:r>
              <a:rPr lang="en-US" b="1" i="0" dirty="0">
                <a:solidFill>
                  <a:srgbClr val="404040"/>
                </a:solidFill>
                <a:effectLst/>
                <a:latin typeface="Inter"/>
              </a:rPr>
              <a:t> </a:t>
            </a:r>
            <a:r>
              <a:rPr lang="en-US" b="1" i="0" dirty="0" err="1">
                <a:solidFill>
                  <a:srgbClr val="404040"/>
                </a:solidFill>
                <a:effectLst/>
                <a:latin typeface="Inter"/>
              </a:rPr>
              <a:t>tài</a:t>
            </a:r>
            <a:r>
              <a:rPr lang="en-US" b="1" i="0" dirty="0">
                <a:solidFill>
                  <a:srgbClr val="404040"/>
                </a:solidFill>
                <a:effectLst/>
                <a:latin typeface="Inter"/>
              </a:rPr>
              <a:t> </a:t>
            </a:r>
            <a:r>
              <a:rPr lang="en-US" b="1" i="0" dirty="0" err="1">
                <a:solidFill>
                  <a:srgbClr val="404040"/>
                </a:solidFill>
                <a:effectLst/>
                <a:latin typeface="Inter"/>
              </a:rPr>
              <a:t>nguyên</a:t>
            </a:r>
            <a:endParaRPr lang="en-US" b="1" i="0" dirty="0">
              <a:solidFill>
                <a:srgbClr val="404040"/>
              </a:solidFill>
              <a:effectLst/>
              <a:latin typeface="Inter"/>
            </a:endParaRPr>
          </a:p>
          <a:p>
            <a:pPr algn="l"/>
            <a:br>
              <a:rPr lang="en-US" dirty="0"/>
            </a:br>
            <a:r>
              <a:rPr lang="en-US" b="1" i="0" dirty="0">
                <a:solidFill>
                  <a:srgbClr val="404040"/>
                </a:solidFill>
                <a:effectLst/>
                <a:latin typeface="Inter"/>
              </a:rPr>
              <a:t>2. </a:t>
            </a:r>
            <a:r>
              <a:rPr lang="en-US" b="1" i="0" dirty="0" err="1">
                <a:solidFill>
                  <a:srgbClr val="404040"/>
                </a:solidFill>
                <a:effectLst/>
                <a:latin typeface="Inter"/>
              </a:rPr>
              <a:t>Tính</a:t>
            </a:r>
            <a:r>
              <a:rPr lang="en-US" b="1" i="0" dirty="0">
                <a:solidFill>
                  <a:srgbClr val="404040"/>
                </a:solidFill>
                <a:effectLst/>
                <a:latin typeface="Inter"/>
              </a:rPr>
              <a:t> </a:t>
            </a:r>
            <a:r>
              <a:rPr lang="en-US" b="1" i="0" dirty="0" err="1">
                <a:solidFill>
                  <a:srgbClr val="404040"/>
                </a:solidFill>
                <a:effectLst/>
                <a:latin typeface="Inter"/>
              </a:rPr>
              <a:t>minh</a:t>
            </a:r>
            <a:r>
              <a:rPr lang="en-US" b="1" i="0" dirty="0">
                <a:solidFill>
                  <a:srgbClr val="404040"/>
                </a:solidFill>
                <a:effectLst/>
                <a:latin typeface="Inter"/>
              </a:rPr>
              <a:t> </a:t>
            </a:r>
            <a:r>
              <a:rPr lang="en-US" b="1" i="0" dirty="0" err="1">
                <a:solidFill>
                  <a:srgbClr val="404040"/>
                </a:solidFill>
                <a:effectLst/>
                <a:latin typeface="Inter"/>
              </a:rPr>
              <a:t>bạch</a:t>
            </a:r>
            <a:r>
              <a:rPr lang="en-US" b="1" i="0" dirty="0">
                <a:solidFill>
                  <a:srgbClr val="404040"/>
                </a:solidFill>
                <a:effectLst/>
                <a:latin typeface="Inter"/>
              </a:rPr>
              <a:t> </a:t>
            </a:r>
            <a:r>
              <a:rPr lang="en-US" b="1" i="0" dirty="0" err="1">
                <a:solidFill>
                  <a:srgbClr val="404040"/>
                </a:solidFill>
                <a:effectLst/>
                <a:latin typeface="Inter"/>
              </a:rPr>
              <a:t>phân</a:t>
            </a:r>
            <a:r>
              <a:rPr lang="en-US" b="1" i="0" dirty="0">
                <a:solidFill>
                  <a:srgbClr val="404040"/>
                </a:solidFill>
                <a:effectLst/>
                <a:latin typeface="Inter"/>
              </a:rPr>
              <a:t> </a:t>
            </a:r>
            <a:r>
              <a:rPr lang="en-US" b="1" i="0" dirty="0" err="1">
                <a:solidFill>
                  <a:srgbClr val="404040"/>
                </a:solidFill>
                <a:effectLst/>
                <a:latin typeface="Inter"/>
              </a:rPr>
              <a:t>tán</a:t>
            </a:r>
            <a:r>
              <a:rPr lang="en-US" b="1" i="0" dirty="0">
                <a:solidFill>
                  <a:srgbClr val="404040"/>
                </a:solidFill>
                <a:effectLst/>
                <a:latin typeface="Inter"/>
              </a:rPr>
              <a:t> (Distribution Transparency)</a:t>
            </a:r>
          </a:p>
          <a:p>
            <a:pPr algn="l"/>
            <a:br>
              <a:rPr lang="en-US" dirty="0"/>
            </a:br>
            <a:r>
              <a:rPr lang="en-US" b="1" i="0" dirty="0">
                <a:solidFill>
                  <a:srgbClr val="404040"/>
                </a:solidFill>
                <a:effectLst/>
                <a:latin typeface="Inter"/>
              </a:rPr>
              <a:t>3. </a:t>
            </a:r>
            <a:r>
              <a:rPr lang="en-US" b="1" i="0" dirty="0" err="1">
                <a:solidFill>
                  <a:srgbClr val="404040"/>
                </a:solidFill>
                <a:effectLst/>
                <a:latin typeface="Inter"/>
              </a:rPr>
              <a:t>Tính</a:t>
            </a:r>
            <a:r>
              <a:rPr lang="en-US" b="1" i="0" dirty="0">
                <a:solidFill>
                  <a:srgbClr val="404040"/>
                </a:solidFill>
                <a:effectLst/>
                <a:latin typeface="Inter"/>
              </a:rPr>
              <a:t> </a:t>
            </a:r>
            <a:r>
              <a:rPr lang="en-US" b="1" i="0" dirty="0" err="1">
                <a:solidFill>
                  <a:srgbClr val="404040"/>
                </a:solidFill>
                <a:effectLst/>
                <a:latin typeface="Inter"/>
              </a:rPr>
              <a:t>mở</a:t>
            </a:r>
            <a:r>
              <a:rPr lang="en-US" b="1" i="0" dirty="0">
                <a:solidFill>
                  <a:srgbClr val="404040"/>
                </a:solidFill>
                <a:effectLst/>
                <a:latin typeface="Inter"/>
              </a:rPr>
              <a:t> (Openness)</a:t>
            </a:r>
          </a:p>
          <a:p>
            <a:pPr algn="l"/>
            <a:br>
              <a:rPr lang="en-US" dirty="0"/>
            </a:br>
            <a:r>
              <a:rPr lang="en-US" b="1" i="0" dirty="0">
                <a:solidFill>
                  <a:srgbClr val="404040"/>
                </a:solidFill>
                <a:effectLst/>
                <a:latin typeface="Inter"/>
              </a:rPr>
              <a:t>4. </a:t>
            </a:r>
            <a:r>
              <a:rPr lang="en-US" b="1" i="0" dirty="0" err="1">
                <a:solidFill>
                  <a:srgbClr val="404040"/>
                </a:solidFill>
                <a:effectLst/>
                <a:latin typeface="Inter"/>
              </a:rPr>
              <a:t>Khả</a:t>
            </a:r>
            <a:r>
              <a:rPr lang="en-US" b="1" i="0" dirty="0">
                <a:solidFill>
                  <a:srgbClr val="404040"/>
                </a:solidFill>
                <a:effectLst/>
                <a:latin typeface="Inter"/>
              </a:rPr>
              <a:t> </a:t>
            </a:r>
            <a:r>
              <a:rPr lang="en-US" b="1" i="0" dirty="0" err="1">
                <a:solidFill>
                  <a:srgbClr val="404040"/>
                </a:solidFill>
                <a:effectLst/>
                <a:latin typeface="Inter"/>
              </a:rPr>
              <a:t>năng</a:t>
            </a:r>
            <a:r>
              <a:rPr lang="en-US" b="1" i="0" dirty="0">
                <a:solidFill>
                  <a:srgbClr val="404040"/>
                </a:solidFill>
                <a:effectLst/>
                <a:latin typeface="Inter"/>
              </a:rPr>
              <a:t> </a:t>
            </a:r>
            <a:r>
              <a:rPr lang="en-US" b="1" i="0" dirty="0" err="1">
                <a:solidFill>
                  <a:srgbClr val="404040"/>
                </a:solidFill>
                <a:effectLst/>
                <a:latin typeface="Inter"/>
              </a:rPr>
              <a:t>mở</a:t>
            </a:r>
            <a:r>
              <a:rPr lang="en-US" b="1" i="0" dirty="0">
                <a:solidFill>
                  <a:srgbClr val="404040"/>
                </a:solidFill>
                <a:effectLst/>
                <a:latin typeface="Inter"/>
              </a:rPr>
              <a:t> </a:t>
            </a:r>
            <a:r>
              <a:rPr lang="en-US" b="1" i="0" dirty="0" err="1">
                <a:solidFill>
                  <a:srgbClr val="404040"/>
                </a:solidFill>
                <a:effectLst/>
                <a:latin typeface="Inter"/>
              </a:rPr>
              <a:t>rộng</a:t>
            </a:r>
            <a:r>
              <a:rPr lang="en-US" b="1" i="0" dirty="0">
                <a:solidFill>
                  <a:srgbClr val="404040"/>
                </a:solidFill>
                <a:effectLst/>
                <a:latin typeface="Inter"/>
              </a:rPr>
              <a:t> (Scalability)</a:t>
            </a:r>
          </a:p>
          <a:p>
            <a:br>
              <a:rPr lang="en-US" dirty="0"/>
            </a:b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9</a:t>
            </a:fld>
            <a:endParaRPr lang="en-US"/>
          </a:p>
        </p:txBody>
      </p:sp>
    </p:spTree>
    <p:extLst>
      <p:ext uri="{BB962C8B-B14F-4D97-AF65-F5344CB8AC3E}">
        <p14:creationId xmlns:p14="http://schemas.microsoft.com/office/powerpoint/2010/main" val="182627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effectLst/>
              </a:rPr>
              <a:t>Hỗ trợ chia sẻ tài nguyên</a:t>
            </a:r>
          </a:p>
          <a:p>
            <a:r>
              <a:rPr lang="vi-VN" dirty="0">
                <a:effectLst/>
              </a:rPr>
              <a:t>Một mục tiêu quan trọng của hệ thống phân tán là làm cho người dùng (và các ứng dụng) dễ dàng truy cập và chia sẻ các tài nguyên từ xa. Tài nguyên có thể là hầu hết mọi thứ, nhưng các ví dụ điển hình bao gồm thiết bị ngoại vi, cơ sở lưu trữ, dữ liệu, tệp, dịch vụ và mạng, chỉ để kể tên một vài. Có nhiều lý do để muốn chia sẻ tài nguyên. Một lý do rõ ràng là yếu tố kinh tế. Ví dụ, việc chia sẻ một cơ sở lưu trữ cao cấp và đáng tin cậy sẽ rẻ hơn so với việc mua và duy trì bộ nhớ riêng cho từng người dùng.</a:t>
            </a:r>
          </a:p>
          <a:p>
            <a:r>
              <a:rPr lang="vi-VN" dirty="0">
                <a:effectLst/>
              </a:rPr>
              <a:t>Việc kết nối người dùng và tài nguyên cũng làm cho việc hợp tác và trao đổi thông tin trở nên dễ dàng hơn, như được minh họa bởi sự thành công của Internet với các giao thức đơn giản để trao đổi tệp, thư, tài liệu, âm thanh và video. Khả năng kết nối của Internet đã cho phép các nhóm người ở các khu vực địa lý khác nhau làm việc cùng nhau thông qua các loại phần mềm nhóm (groupware), chẳng hạn như phần mềm chỉnh sửa hợp tác, hội nghị truyền hình, v.v., như được minh họa bởi các công ty phát triển phần mềm đa quốc gia đã thuê ngoài phần lớn sản xuất mã của họ sang châu Á.</a:t>
            </a:r>
          </a:p>
          <a:p>
            <a:r>
              <a:rPr lang="vi-VN" dirty="0">
                <a:effectLst/>
              </a:rPr>
              <a:t>Tuy nhiên, việc chia sẻ tài nguyên trong hệ thống phân tán có lẽ được minh họa rõ nhất bởi sự thành công của các mạng ngang hàng (peer-to-peer) chia sẻ tệp như BitTorrent. Các hệ thống phân tán này làm cho việc chia sẻ tệp trên Internet trở nên cực kỳ đơn giản đối với người dùng. Các mạng ngang hàng thường được liên kết với việc phân phối các tệp phương tiện như âm thanh và video. Trong các trường hợp khác, công nghệ này được sử dụng để phân phối lượng lớn dữ liệu, như trong trường hợp cập nhật phần mềm, dịch vụ sao lưu và đồng bộ hóa dữ liệu trên nhiều máy chủ.</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10</a:t>
            </a:fld>
            <a:endParaRPr lang="en-US"/>
          </a:p>
        </p:txBody>
      </p:sp>
    </p:spTree>
    <p:extLst>
      <p:ext uri="{BB962C8B-B14F-4D97-AF65-F5344CB8AC3E}">
        <p14:creationId xmlns:p14="http://schemas.microsoft.com/office/powerpoint/2010/main" val="1492580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Một mục tiêu quan trọng của hệ thống phân tán là che giấu sự thật rằng các tiến trình và tài nguyên của nó được phân bố vật lý trên nhiều máy tính, có thể cách xa nhau bởi khoảng cách lớn. Nói cách khác, nó cố gắng làm cho sự phân tán của các tiến trình và tài nguyên trở nên </a:t>
            </a:r>
            <a:r>
              <a:rPr lang="vi-VN" b="1" i="0" dirty="0">
                <a:solidFill>
                  <a:srgbClr val="404040"/>
                </a:solidFill>
                <a:effectLst/>
                <a:latin typeface="Inter"/>
              </a:rPr>
              <a:t>minh bạch (transparent)</a:t>
            </a:r>
            <a:r>
              <a:rPr lang="vi-VN" b="0" i="0" dirty="0">
                <a:solidFill>
                  <a:srgbClr val="404040"/>
                </a:solidFill>
                <a:effectLst/>
                <a:latin typeface="Inter"/>
              </a:rPr>
              <a:t>, tức là vô hình đối với người dùng cuối và ứng dụng.</a:t>
            </a:r>
            <a:r>
              <a:rPr lang="en-US" b="0" i="0" dirty="0">
                <a:solidFill>
                  <a:srgbClr val="404040"/>
                </a:solidFill>
                <a:effectLst/>
                <a:latin typeface="Inter"/>
              </a:rPr>
              <a:t> </a:t>
            </a:r>
            <a:r>
              <a:rPr lang="vi-VN" b="0" i="0" dirty="0">
                <a:solidFill>
                  <a:srgbClr val="404040"/>
                </a:solidFill>
                <a:effectLst/>
                <a:latin typeface="Inter"/>
              </a:rPr>
              <a:t>Điều này có nghĩa là người dùng và ứng dụng không cần phải quan tâm đến việc tài nguyên nằm ở đâu, cách chúng được truy cập, hoặc cách chúng được quản lý trên mạng. Thay vào đó, hệ thống phân tán sẽ tự động xử lý các chi tiết phức tạp này, mang lại trải nghiệm như thể mọi thứ đang hoạt động trên một hệ thống duy nhất.</a:t>
            </a:r>
          </a:p>
          <a:p>
            <a:endParaRPr lang="en-US" b="0" i="0" dirty="0">
              <a:solidFill>
                <a:srgbClr val="404040"/>
              </a:solidFill>
              <a:effectLst/>
              <a:latin typeface="Inter"/>
            </a:endParaRPr>
          </a:p>
          <a:p>
            <a:endParaRPr lang="en-US" b="0" i="0" dirty="0">
              <a:solidFill>
                <a:srgbClr val="404040"/>
              </a:solidFill>
              <a:effectLst/>
              <a:latin typeface="Inter"/>
            </a:endParaRPr>
          </a:p>
          <a:p>
            <a:pPr algn="l">
              <a:buFont typeface="+mj-lt"/>
              <a:buAutoNum type="arabicPeriod"/>
            </a:pPr>
            <a:r>
              <a:rPr lang="vi-VN" b="1" i="0" dirty="0">
                <a:solidFill>
                  <a:srgbClr val="404040"/>
                </a:solidFill>
                <a:effectLst/>
                <a:latin typeface="Inter"/>
              </a:rPr>
              <a:t>Tính minh bạch truy cập (Access Transparency)</a:t>
            </a:r>
            <a:r>
              <a:rPr lang="vi-VN" b="0" i="0" dirty="0">
                <a:solidFill>
                  <a:srgbClr val="404040"/>
                </a:solidFill>
                <a:effectLst/>
                <a:latin typeface="Inter"/>
              </a:rPr>
              <a:t>: Người dùng không cần biết tài nguyên được truy cập ở đâu hoặc như thế nào. Hệ thống cung cấp một giao diện đồng nhất bất kể vị trí hoặc loại tài nguyên.</a:t>
            </a:r>
          </a:p>
          <a:p>
            <a:pPr algn="l">
              <a:buFont typeface="+mj-lt"/>
              <a:buAutoNum type="arabicPeriod"/>
            </a:pPr>
            <a:r>
              <a:rPr lang="vi-VN" b="1" i="0" dirty="0">
                <a:solidFill>
                  <a:srgbClr val="404040"/>
                </a:solidFill>
                <a:effectLst/>
                <a:latin typeface="Inter"/>
              </a:rPr>
              <a:t>Tính minh bạch vị trí (Location Transparency)</a:t>
            </a:r>
            <a:r>
              <a:rPr lang="vi-VN" b="0" i="0" dirty="0">
                <a:solidFill>
                  <a:srgbClr val="404040"/>
                </a:solidFill>
                <a:effectLst/>
                <a:latin typeface="Inter"/>
              </a:rPr>
              <a:t>: Người dùng không cần biết vị trí vật lý của tài nguyên. Hệ thống tự động xử lý chi tiết về vị trí tài nguyên.</a:t>
            </a:r>
          </a:p>
          <a:p>
            <a:pPr algn="l">
              <a:buFont typeface="+mj-lt"/>
              <a:buAutoNum type="arabicPeriod"/>
            </a:pPr>
            <a:r>
              <a:rPr lang="vi-VN" b="1" i="0" dirty="0">
                <a:solidFill>
                  <a:srgbClr val="404040"/>
                </a:solidFill>
                <a:effectLst/>
                <a:latin typeface="Inter"/>
              </a:rPr>
              <a:t>Tính minh bạch di chuyển (Relocation Transparency)</a:t>
            </a:r>
            <a:r>
              <a:rPr lang="vi-VN" b="0" i="0" dirty="0">
                <a:solidFill>
                  <a:srgbClr val="404040"/>
                </a:solidFill>
                <a:effectLst/>
                <a:latin typeface="Inter"/>
              </a:rPr>
              <a:t>: Tài nguyên có thể được di chuyển mà không ảnh hưởng đến cách chúng được truy cập. Người dùng không nhận thấy sự thay đổi vị trí của tài nguyên.</a:t>
            </a:r>
          </a:p>
          <a:p>
            <a:pPr algn="l">
              <a:buFont typeface="+mj-lt"/>
              <a:buAutoNum type="arabicPeriod"/>
            </a:pPr>
            <a:r>
              <a:rPr lang="vi-VN" b="1" i="0" dirty="0">
                <a:solidFill>
                  <a:srgbClr val="404040"/>
                </a:solidFill>
                <a:effectLst/>
                <a:latin typeface="Inter"/>
              </a:rPr>
              <a:t>Tính minh bạch di trú (Migration Transparency)</a:t>
            </a:r>
            <a:r>
              <a:rPr lang="vi-VN" b="0" i="0" dirty="0">
                <a:solidFill>
                  <a:srgbClr val="404040"/>
                </a:solidFill>
                <a:effectLst/>
                <a:latin typeface="Inter"/>
              </a:rPr>
              <a:t>: Tương tự như di chuyển, nhưng cụ thể đề cập đến việc di chuyển các tiến trình hoặc dữ liệu từ một nút sang nút khác mà không làm gián đoạn dịch vụ.</a:t>
            </a:r>
          </a:p>
          <a:p>
            <a:pPr algn="l">
              <a:buFont typeface="+mj-lt"/>
              <a:buAutoNum type="arabicPeriod"/>
            </a:pPr>
            <a:r>
              <a:rPr lang="vi-VN" b="1" i="0" dirty="0">
                <a:solidFill>
                  <a:srgbClr val="404040"/>
                </a:solidFill>
                <a:effectLst/>
                <a:latin typeface="Inter"/>
              </a:rPr>
              <a:t>Tính minh bạch sao chép (Replication Transparency)</a:t>
            </a:r>
            <a:r>
              <a:rPr lang="vi-VN" b="0" i="0" dirty="0">
                <a:solidFill>
                  <a:srgbClr val="404040"/>
                </a:solidFill>
                <a:effectLst/>
                <a:latin typeface="Inter"/>
              </a:rPr>
              <a:t>: Người dùng không cần biết về sự tồn tại của nhiều bản sao tài nguyên. Hệ thống tự động quản lý việc sao chép để cải thiện hiệu suất và độ tin cậy.</a:t>
            </a:r>
          </a:p>
          <a:p>
            <a:pPr algn="l">
              <a:buFont typeface="+mj-lt"/>
              <a:buAutoNum type="arabicPeriod"/>
            </a:pPr>
            <a:r>
              <a:rPr lang="vi-VN" b="1" i="0" dirty="0">
                <a:solidFill>
                  <a:srgbClr val="404040"/>
                </a:solidFill>
                <a:effectLst/>
                <a:latin typeface="Inter"/>
              </a:rPr>
              <a:t>Tính minh bạch đồng thời (Concurrency Transparency)</a:t>
            </a:r>
            <a:r>
              <a:rPr lang="vi-VN" b="0" i="0" dirty="0">
                <a:solidFill>
                  <a:srgbClr val="404040"/>
                </a:solidFill>
                <a:effectLst/>
                <a:latin typeface="Inter"/>
              </a:rPr>
              <a:t>: Nhiều người dùng có thể truy cập tài nguyên chia sẻ đồng thời mà không gây xung đột. Hệ thống quản lý việc truy cập đồng thời để đảm bảo tính nhất quán.</a:t>
            </a:r>
          </a:p>
          <a:p>
            <a:pPr algn="l">
              <a:buFont typeface="+mj-lt"/>
              <a:buAutoNum type="arabicPeriod"/>
            </a:pPr>
            <a:r>
              <a:rPr lang="vi-VN" b="1" i="0" dirty="0">
                <a:solidFill>
                  <a:srgbClr val="404040"/>
                </a:solidFill>
                <a:effectLst/>
                <a:latin typeface="Inter"/>
              </a:rPr>
              <a:t>Tính minh bạch lỗi (Failure Transparency)</a:t>
            </a:r>
            <a:r>
              <a:rPr lang="vi-VN" b="0" i="0" dirty="0">
                <a:solidFill>
                  <a:srgbClr val="404040"/>
                </a:solidFill>
                <a:effectLst/>
                <a:latin typeface="Inter"/>
              </a:rPr>
              <a:t>: Hệ thống che giấu các lỗi khỏi người dùng, đảm bảo hệ thống tiếp tục hoạt động chính xác ngay cả khi một số thành phần gặp sự cố.</a:t>
            </a:r>
          </a:p>
          <a:p>
            <a:pPr algn="l"/>
            <a:r>
              <a:rPr lang="vi-VN" b="0" i="0" dirty="0">
                <a:solidFill>
                  <a:srgbClr val="404040"/>
                </a:solidFill>
                <a:effectLst/>
                <a:latin typeface="Inter"/>
              </a:rPr>
              <a:t>Các khía cạnh minh bạch này rất quan trọng để tạo ra trải nghiệm người dùng liền mạch trong hệ thống phân tán, giúp che giấu sự phức tạp của việc phân tán khỏi người dùng cuối.</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11</a:t>
            </a:fld>
            <a:endParaRPr lang="en-US"/>
          </a:p>
        </p:txBody>
      </p:sp>
    </p:spTree>
    <p:extLst>
      <p:ext uri="{BB962C8B-B14F-4D97-AF65-F5344CB8AC3E}">
        <p14:creationId xmlns:p14="http://schemas.microsoft.com/office/powerpoint/2010/main" val="148435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Việc hướng tới tính minh bạch phân tán hoàn toàn có thể là quá mức cần thiết. Trong một số trường hợp, việc che giấu mọi khía cạnh phân tán có thể dẫn đến những hạn chế hoặc trải nghiệm không mong muốn cho người dùng. Ví dụ, khi người dùng di chuyển đến một múi giờ khác</a:t>
            </a:r>
            <a:endParaRPr lang="en-US" b="0" i="0" dirty="0">
              <a:solidFill>
                <a:srgbClr val="404040"/>
              </a:solidFill>
              <a:effectLst/>
              <a:latin typeface="Inter"/>
            </a:endParaRPr>
          </a:p>
          <a:p>
            <a:r>
              <a:rPr lang="vi-VN" b="0" i="0" dirty="0">
                <a:solidFill>
                  <a:srgbClr val="404040"/>
                </a:solidFill>
                <a:effectLst/>
                <a:latin typeface="Inter"/>
              </a:rPr>
              <a:t>Do đó, thay vì cố gắng đạt được tính minh bạch phân tán hoàn toàn, hệ thống nên cân nhắc linh hoạt để đáp ứng nhu cầu cụ thể của người dùng. Điều này có thể bao gồm việc tiết lộ một số thông tin phân tán khi cần thiết, giúp người dùng có trải nghiệm tốt hơn và phù hợp hơn với tình huống thực tế., việc hệ thống tự động điều chỉnh thời gian gửi báo điện tử theo múi giờ mới có thể hữu ích hơn là tuân thủ nghiêm ngặt thời gian địa phương ban đầu.</a:t>
            </a: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12</a:t>
            </a:fld>
            <a:endParaRPr lang="en-US"/>
          </a:p>
        </p:txBody>
      </p:sp>
    </p:spTree>
    <p:extLst>
      <p:ext uri="{BB962C8B-B14F-4D97-AF65-F5344CB8AC3E}">
        <p14:creationId xmlns:p14="http://schemas.microsoft.com/office/powerpoint/2010/main" val="4229018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Có những độ trễ trong giao tiếp mà không thể che giấu được. Trong hệ thống phân tán, việc truyền dữ liệu giữa các máy tính qua mạng luôn đi kèm với một khoảng thời gian trễ nhất định, phụ thuộc vào khoảng cách vật lý và chất lượng kết nối mạng. Mặc dù hệ thống có thể tối ưu hóa và giảm thiểu độ trễ, nhưng không thể loại bỏ hoàn toàn nó.</a:t>
            </a:r>
          </a:p>
          <a:p>
            <a:pPr algn="l"/>
            <a:r>
              <a:rPr lang="vi-VN" b="0" i="0" dirty="0">
                <a:solidFill>
                  <a:srgbClr val="404040"/>
                </a:solidFill>
                <a:effectLst/>
                <a:latin typeface="Inter"/>
              </a:rPr>
              <a:t>Điều này có nghĩa là người dùng và ứng dụng có thể nhận thấy sự chậm trễ trong việc truy cập tài nguyên từ xa hoặc trong quá trình giao tiếp giữa các thành phần phân tán. Thay vì cố gắng che giấu hoàn toàn độ trễ, hệ thống nên cung cấp thông tin hoặc cơ chế để người dùng hiểu và quản lý được sự chậm trễ này, nhằm đảm bảo trải nghiệm người dùng được tốt nhất có thể.</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13</a:t>
            </a:fld>
            <a:endParaRPr lang="en-US"/>
          </a:p>
        </p:txBody>
      </p:sp>
    </p:spTree>
    <p:extLst>
      <p:ext uri="{BB962C8B-B14F-4D97-AF65-F5344CB8AC3E}">
        <p14:creationId xmlns:p14="http://schemas.microsoft.com/office/powerpoint/2010/main" val="3790408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Việc che giấu hoàn toàn các lỗi của mạng và các nút là điều không thể (cả về lý thuyết lẫn thực tế). Dưới đây là một số lý do cụ thể:</a:t>
            </a:r>
          </a:p>
          <a:p>
            <a:pPr algn="l">
              <a:buFont typeface="+mj-lt"/>
              <a:buAutoNum type="arabicPeriod"/>
            </a:pPr>
            <a:r>
              <a:rPr lang="vi-VN" b="1" i="0" dirty="0">
                <a:solidFill>
                  <a:srgbClr val="404040"/>
                </a:solidFill>
                <a:effectLst/>
                <a:latin typeface="Inter"/>
              </a:rPr>
              <a:t>Không thể phân biệt máy tính chậm với máy tính bị lỗi</a:t>
            </a:r>
            <a:r>
              <a:rPr lang="vi-VN" b="0" i="0" dirty="0">
                <a:solidFill>
                  <a:srgbClr val="404040"/>
                </a:solidFill>
                <a:effectLst/>
                <a:latin typeface="Inter"/>
              </a:rPr>
              <a:t>: Khi một máy tính phản hồi chậm, bạn không thể chắc chắn liệu nó đang gặp sự cố hay chỉ đơn giản là xử lý chậm do tải công việc cao. Điều này làm cho việc che giấu lỗi trở nên khó khăn.</a:t>
            </a:r>
          </a:p>
          <a:p>
            <a:pPr algn="l">
              <a:buFont typeface="+mj-lt"/>
              <a:buAutoNum type="arabicPeriod"/>
            </a:pPr>
            <a:r>
              <a:rPr lang="vi-VN" b="1" i="0" dirty="0">
                <a:solidFill>
                  <a:srgbClr val="404040"/>
                </a:solidFill>
                <a:effectLst/>
                <a:latin typeface="Inter"/>
              </a:rPr>
              <a:t>Không thể chắc chắn rằng máy chủ đã thực hiện một thao tác trước khi gặp sự cố</a:t>
            </a:r>
            <a:r>
              <a:rPr lang="vi-VN" b="0" i="0" dirty="0">
                <a:solidFill>
                  <a:srgbClr val="404040"/>
                </a:solidFill>
                <a:effectLst/>
                <a:latin typeface="Inter"/>
              </a:rPr>
              <a:t>: Khi một máy chủ gặp sự cố, bạn không thể biết liệu nó đã hoàn thành một thao tác cụ thể trước khi sụp đổ hay chưa. Điều này đặt ra thách thức lớn trong việc đảm bảo tính nhất quán và độ tin cậy của hệ thống.</a:t>
            </a:r>
          </a:p>
          <a:p>
            <a:pPr algn="l"/>
            <a:r>
              <a:rPr lang="vi-VN" b="0" i="0" dirty="0">
                <a:solidFill>
                  <a:srgbClr val="404040"/>
                </a:solidFill>
                <a:effectLst/>
                <a:latin typeface="Inter"/>
              </a:rPr>
              <a:t>Những hạn chế này cho thấy rằng, mặc dù hệ thống phân tán có thể cố gắng che giấu các lỗi, nhưng việc đạt được sự minh bạch hoàn toàn là không thể. Thay vào đó, hệ thống nên tập trung vào việc quản lý và phục hồi từ các lỗi một cách hiệu quả, đồng thời cung cấp thông tin phản hồi phù hợp cho người dùng để họ có thể hiểu và ứng phó với các tình huống bất ngờ.</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14</a:t>
            </a:fld>
            <a:endParaRPr lang="en-US"/>
          </a:p>
        </p:txBody>
      </p:sp>
    </p:spTree>
    <p:extLst>
      <p:ext uri="{BB962C8B-B14F-4D97-AF65-F5344CB8AC3E}">
        <p14:creationId xmlns:p14="http://schemas.microsoft.com/office/powerpoint/2010/main" val="4045976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Việc đạt được tính minh bạch hoàn toàn trong hệ thống phân tán thường đi kèm với chi phí về hiệu suất và có thể làm lộ rõ sự phân tán của hệ thống. Dưới đây là một số ví dụ cụ thể:</a:t>
            </a:r>
          </a:p>
          <a:p>
            <a:pPr algn="l">
              <a:buFont typeface="+mj-lt"/>
              <a:buAutoNum type="arabicPeriod"/>
            </a:pPr>
            <a:r>
              <a:rPr lang="vi-VN" b="1" i="0" dirty="0">
                <a:solidFill>
                  <a:srgbClr val="404040"/>
                </a:solidFill>
                <a:effectLst/>
                <a:latin typeface="Inter"/>
              </a:rPr>
              <a:t>Duy trì các bản sao (replicas) luôn cập nhật chính xác với bản chính (master) tốn thời gian</a:t>
            </a:r>
            <a:r>
              <a:rPr lang="vi-VN" b="0" i="0" dirty="0">
                <a:solidFill>
                  <a:srgbClr val="404040"/>
                </a:solidFill>
                <a:effectLst/>
                <a:latin typeface="Inter"/>
              </a:rPr>
              <a:t>: Để đảm bảo rằng các bản sao luôn đồng bộ với bản chính, hệ thống cần thực hiện các quy trình đồng bộ hóa phức tạp và tốn kém về thời gian. Điều này có thể làm chậm hiệu suất tổng thể của hệ thống.</a:t>
            </a:r>
          </a:p>
          <a:p>
            <a:pPr algn="l">
              <a:buFont typeface="+mj-lt"/>
              <a:buAutoNum type="arabicPeriod"/>
            </a:pPr>
            <a:r>
              <a:rPr lang="vi-VN" b="1" i="0" dirty="0">
                <a:solidFill>
                  <a:srgbClr val="404040"/>
                </a:solidFill>
                <a:effectLst/>
                <a:latin typeface="Inter"/>
              </a:rPr>
              <a:t>Ghi dữ liệu ngay lập tức vào đĩa để đảm bảo khả năng chịu lỗi</a:t>
            </a:r>
            <a:r>
              <a:rPr lang="vi-VN" b="0" i="0" dirty="0">
                <a:solidFill>
                  <a:srgbClr val="404040"/>
                </a:solidFill>
                <a:effectLst/>
                <a:latin typeface="Inter"/>
              </a:rPr>
              <a:t>: Để đảm bảo rằng dữ liệu không bị mất trong trường hợp xảy ra sự cố, hệ thống có thể cần phải ghi dữ liệu ngay lập tức vào đĩa. Tuy nhiên, việc này có thể làm chậm các thao tác ghi và ảnh hưởng đến hiệu suất tổng thể.</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15</a:t>
            </a:fld>
            <a:endParaRPr lang="en-US"/>
          </a:p>
        </p:txBody>
      </p:sp>
    </p:spTree>
    <p:extLst>
      <p:ext uri="{BB962C8B-B14F-4D97-AF65-F5344CB8AC3E}">
        <p14:creationId xmlns:p14="http://schemas.microsoft.com/office/powerpoint/2010/main" val="4219085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Việc tiết lộ một số khía cạnh phân tán của hệ thống đôi khi có thể mang lại lợi ích. Dưới đây là một số tình huống mà việc tiết lộ thông tin phân tán là hữu ích:</a:t>
            </a:r>
          </a:p>
          <a:p>
            <a:pPr algn="l">
              <a:buFont typeface="+mj-lt"/>
              <a:buAutoNum type="arabicPeriod"/>
            </a:pPr>
            <a:r>
              <a:rPr lang="vi-VN" b="1" i="0" dirty="0">
                <a:solidFill>
                  <a:srgbClr val="404040"/>
                </a:solidFill>
                <a:effectLst/>
                <a:latin typeface="Inter"/>
              </a:rPr>
              <a:t>Sử dụng các dịch vụ dựa trên vị trí (location-based services)</a:t>
            </a:r>
            <a:r>
              <a:rPr lang="vi-VN" b="0" i="0" dirty="0">
                <a:solidFill>
                  <a:srgbClr val="404040"/>
                </a:solidFill>
                <a:effectLst/>
                <a:latin typeface="Inter"/>
              </a:rPr>
              <a:t>: Ví dụ, khi bạn muốn tìm bạn bè gần mình, việc biết vị trí thực tế của các thiết bị là cần thiết để cung cấp thông tin chính xác.</a:t>
            </a:r>
          </a:p>
          <a:p>
            <a:pPr algn="l">
              <a:buFont typeface="+mj-lt"/>
              <a:buAutoNum type="arabicPeriod"/>
            </a:pPr>
            <a:r>
              <a:rPr lang="vi-VN" b="1" i="0" dirty="0">
                <a:solidFill>
                  <a:srgbClr val="404040"/>
                </a:solidFill>
                <a:effectLst/>
                <a:latin typeface="Inter"/>
              </a:rPr>
              <a:t>Xử lý người dùng ở các múi giờ khác nhau</a:t>
            </a:r>
            <a:r>
              <a:rPr lang="vi-VN" b="0" i="0" dirty="0">
                <a:solidFill>
                  <a:srgbClr val="404040"/>
                </a:solidFill>
                <a:effectLst/>
                <a:latin typeface="Inter"/>
              </a:rPr>
              <a:t>: Khi người dùng di chuyển đến các múi giờ khác nhau, việc điều chỉnh thời gian và thông báo theo múi giờ hiện tại của họ sẽ mang lại trải nghiệm tốt hơn.</a:t>
            </a:r>
          </a:p>
          <a:p>
            <a:pPr algn="l">
              <a:buFont typeface="+mj-lt"/>
              <a:buAutoNum type="arabicPeriod"/>
            </a:pPr>
            <a:r>
              <a:rPr lang="vi-VN" b="1" i="0" dirty="0">
                <a:solidFill>
                  <a:srgbClr val="404040"/>
                </a:solidFill>
                <a:effectLst/>
                <a:latin typeface="Inter"/>
              </a:rPr>
              <a:t>Giúp người dùng hiểu rõ tình hình</a:t>
            </a:r>
            <a:r>
              <a:rPr lang="vi-VN" b="0" i="0" dirty="0">
                <a:solidFill>
                  <a:srgbClr val="404040"/>
                </a:solidFill>
                <a:effectLst/>
                <a:latin typeface="Inter"/>
              </a:rPr>
              <a:t>: Khi một máy chủ không phản hồi trong thời gian dài, việc thông báo rõ ràng rằng máy chủ đang gặp sự cố sẽ giúp người dùng hiểu được tình hình và có thể thực hiện các hành động phù hợp.</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16</a:t>
            </a:fld>
            <a:endParaRPr lang="en-US"/>
          </a:p>
        </p:txBody>
      </p:sp>
    </p:spTree>
    <p:extLst>
      <p:ext uri="{BB962C8B-B14F-4D97-AF65-F5344CB8AC3E}">
        <p14:creationId xmlns:p14="http://schemas.microsoft.com/office/powerpoint/2010/main" val="3832487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solidFill>
                  <a:srgbClr val="404040"/>
                </a:solidFill>
                <a:effectLst/>
                <a:latin typeface="Inter"/>
              </a:rPr>
              <a:t>Kết luận:</a:t>
            </a:r>
            <a:br>
              <a:rPr lang="vi-VN" dirty="0"/>
            </a:br>
            <a:r>
              <a:rPr lang="vi-VN" b="0" i="0" dirty="0">
                <a:solidFill>
                  <a:srgbClr val="404040"/>
                </a:solidFill>
                <a:effectLst/>
                <a:latin typeface="Inter"/>
              </a:rPr>
              <a:t>Tính minh bạch phân tán là một mục tiêu đáng hướng tới, nhưng việc đạt được nó lại là một câu chuyện khác. Trong nhiều trường hợp, việc hướng tới tính minh bạch hoàn toàn thậm chí không nên là mục tiêu chính. Thay vào đó, hệ thống cần cân nhắc giữa tính minh bạch và các yếu tố khác như hiệu suất, trải nghiệm người dùng, và tính thực tế. Đôi khi, việc tiết lộ một số thông tin phân tán có thể mang lại lợi ích lớn hơn so với việc che giấu hoàn toàn.</a:t>
            </a: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17</a:t>
            </a:fld>
            <a:endParaRPr lang="en-US"/>
          </a:p>
        </p:txBody>
      </p:sp>
    </p:spTree>
    <p:extLst>
      <p:ext uri="{BB962C8B-B14F-4D97-AF65-F5344CB8AC3E}">
        <p14:creationId xmlns:p14="http://schemas.microsoft.com/office/powerpoint/2010/main" val="1883453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Tính mở của hệ thống phân tán</a:t>
            </a:r>
            <a:br>
              <a:rPr lang="vi-VN" b="0" i="0" dirty="0">
                <a:solidFill>
                  <a:srgbClr val="404040"/>
                </a:solidFill>
                <a:effectLst/>
                <a:latin typeface="Inter"/>
              </a:rPr>
            </a:br>
            <a:r>
              <a:rPr lang="vi-VN" b="0" i="0" dirty="0">
                <a:solidFill>
                  <a:srgbClr val="404040"/>
                </a:solidFill>
                <a:effectLst/>
                <a:latin typeface="Inter"/>
              </a:rPr>
              <a:t>Khi nói về tính mở trong hệ thống phân tán, chúng ta đang đề cập đến khả năng tương tác với các dịch vụ từ các hệ thống mở khác, bất kể môi trường cơ bản là gì. Để đạt được điều này, hệ thống cần đáp ứng các yêu cầu sau:</a:t>
            </a:r>
          </a:p>
          <a:p>
            <a:pPr algn="l">
              <a:buFont typeface="+mj-lt"/>
              <a:buAutoNum type="arabicPeriod"/>
            </a:pPr>
            <a:r>
              <a:rPr lang="vi-VN" b="1" i="0" dirty="0">
                <a:solidFill>
                  <a:srgbClr val="404040"/>
                </a:solidFill>
                <a:effectLst/>
                <a:latin typeface="Inter"/>
              </a:rPr>
              <a:t>Tuân thủ các giao diện được định nghĩa rõ ràng</a:t>
            </a:r>
            <a:r>
              <a:rPr lang="vi-VN" b="0" i="0" dirty="0">
                <a:solidFill>
                  <a:srgbClr val="404040"/>
                </a:solidFill>
                <a:effectLst/>
                <a:latin typeface="Inter"/>
              </a:rPr>
              <a:t>: Các hệ thống cần tuân theo các tiêu chuẩn và giao diện được xác định rõ ràng để đảm bảo khả năng tương tác.</a:t>
            </a:r>
          </a:p>
          <a:p>
            <a:pPr algn="l">
              <a:buFont typeface="+mj-lt"/>
              <a:buAutoNum type="arabicPeriod"/>
            </a:pPr>
            <a:r>
              <a:rPr lang="vi-VN" b="1" i="0" dirty="0">
                <a:solidFill>
                  <a:srgbClr val="404040"/>
                </a:solidFill>
                <a:effectLst/>
                <a:latin typeface="Inter"/>
              </a:rPr>
              <a:t>Dễ dàng tương tác</a:t>
            </a:r>
            <a:r>
              <a:rPr lang="vi-VN" b="0" i="0" dirty="0">
                <a:solidFill>
                  <a:srgbClr val="404040"/>
                </a:solidFill>
                <a:effectLst/>
                <a:latin typeface="Inter"/>
              </a:rPr>
              <a:t>: Các hệ thống nên có khả năng làm việc cùng nhau một cách liền mạch, bất kể chúng được phát triển trên nền tảng nào.</a:t>
            </a:r>
          </a:p>
          <a:p>
            <a:pPr algn="l">
              <a:buFont typeface="+mj-lt"/>
              <a:buAutoNum type="arabicPeriod"/>
            </a:pPr>
            <a:r>
              <a:rPr lang="vi-VN" b="1" i="0" dirty="0">
                <a:solidFill>
                  <a:srgbClr val="404040"/>
                </a:solidFill>
                <a:effectLst/>
                <a:latin typeface="Inter"/>
              </a:rPr>
              <a:t>Hỗ trợ tính di động của ứng dụng</a:t>
            </a:r>
            <a:r>
              <a:rPr lang="vi-VN" b="0" i="0" dirty="0">
                <a:solidFill>
                  <a:srgbClr val="404040"/>
                </a:solidFill>
                <a:effectLst/>
                <a:latin typeface="Inter"/>
              </a:rPr>
              <a:t>: Ứng dụng nên có thể dễ dàng di chuyển và chạy trên các hệ thống khác nhau mà không cần thay đổi đáng kể.</a:t>
            </a:r>
          </a:p>
          <a:p>
            <a:pPr algn="l">
              <a:buFont typeface="+mj-lt"/>
              <a:buAutoNum type="arabicPeriod"/>
            </a:pPr>
            <a:r>
              <a:rPr lang="vi-VN" b="1" i="0" dirty="0">
                <a:solidFill>
                  <a:srgbClr val="404040"/>
                </a:solidFill>
                <a:effectLst/>
                <a:latin typeface="Inter"/>
              </a:rPr>
              <a:t>Dễ dàng mở rộng</a:t>
            </a:r>
            <a:r>
              <a:rPr lang="vi-VN" b="0" i="0" dirty="0">
                <a:solidFill>
                  <a:srgbClr val="404040"/>
                </a:solidFill>
                <a:effectLst/>
                <a:latin typeface="Inter"/>
              </a:rPr>
              <a:t>: Hệ thống nên được thiết kế để có thể dễ dàng thêm các tính năng hoặc dịch vụ mới mà không làm ảnh hưởng đến hoạt động hiện tại.</a:t>
            </a:r>
          </a:p>
          <a:p>
            <a:pPr algn="l"/>
            <a:r>
              <a:rPr lang="vi-VN" b="0" i="0" dirty="0">
                <a:solidFill>
                  <a:srgbClr val="404040"/>
                </a:solidFill>
                <a:effectLst/>
                <a:latin typeface="Inter"/>
              </a:rPr>
              <a:t>Tính mở là yếu tố quan trọng để đảm bảo rằng các hệ thống phân tán có thể phát triển và thích nghi với các công nghệ và yêu cầu mới, đồng thời tạo điều kiện cho sự hợp tác và tích hợp giữa các hệ thống khác nhau.</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18</a:t>
            </a:fld>
            <a:endParaRPr lang="en-US"/>
          </a:p>
        </p:txBody>
      </p:sp>
    </p:spTree>
    <p:extLst>
      <p:ext uri="{BB962C8B-B14F-4D97-AF65-F5344CB8AC3E}">
        <p14:creationId xmlns:p14="http://schemas.microsoft.com/office/powerpoint/2010/main" val="713038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Chính sách (Policies) so với Cơ chế (Mechanisms)</a:t>
            </a:r>
            <a:endParaRPr lang="vi-VN" b="0" i="0" dirty="0">
              <a:solidFill>
                <a:srgbClr val="404040"/>
              </a:solidFill>
              <a:effectLst/>
              <a:latin typeface="Inter"/>
            </a:endParaRPr>
          </a:p>
          <a:p>
            <a:pPr algn="l"/>
            <a:r>
              <a:rPr lang="vi-VN" b="0" i="0" dirty="0">
                <a:solidFill>
                  <a:srgbClr val="404040"/>
                </a:solidFill>
                <a:effectLst/>
                <a:latin typeface="Inter"/>
              </a:rPr>
              <a:t>Để triển khai tính mở trong hệ thống phân tán, chúng ta cần phân biệt giữa </a:t>
            </a:r>
            <a:r>
              <a:rPr lang="vi-VN" b="1" i="0" dirty="0">
                <a:solidFill>
                  <a:srgbClr val="404040"/>
                </a:solidFill>
                <a:effectLst/>
                <a:latin typeface="Inter"/>
              </a:rPr>
              <a:t>chính sách</a:t>
            </a:r>
            <a:r>
              <a:rPr lang="vi-VN" b="0" i="0" dirty="0">
                <a:solidFill>
                  <a:srgbClr val="404040"/>
                </a:solidFill>
                <a:effectLst/>
                <a:latin typeface="Inter"/>
              </a:rPr>
              <a:t> và </a:t>
            </a:r>
            <a:r>
              <a:rPr lang="vi-VN" b="1" i="0" dirty="0">
                <a:solidFill>
                  <a:srgbClr val="404040"/>
                </a:solidFill>
                <a:effectLst/>
                <a:latin typeface="Inter"/>
              </a:rPr>
              <a:t>cơ chế</a:t>
            </a:r>
            <a:r>
              <a:rPr lang="vi-VN" b="0" i="0" dirty="0">
                <a:solidFill>
                  <a:srgbClr val="404040"/>
                </a:solidFill>
                <a:effectLst/>
                <a:latin typeface="Inter"/>
              </a:rPr>
              <a:t>:</a:t>
            </a:r>
          </a:p>
          <a:p>
            <a:pPr algn="l"/>
            <a:r>
              <a:rPr lang="vi-VN" b="1" i="0" dirty="0">
                <a:solidFill>
                  <a:srgbClr val="404040"/>
                </a:solidFill>
                <a:effectLst/>
                <a:latin typeface="Inter"/>
              </a:rPr>
              <a:t>Triển khai tính mở: Chính sách</a:t>
            </a:r>
          </a:p>
          <a:p>
            <a:pPr algn="l"/>
            <a:r>
              <a:rPr lang="vi-VN" b="0" i="0" dirty="0">
                <a:solidFill>
                  <a:srgbClr val="404040"/>
                </a:solidFill>
                <a:effectLst/>
                <a:latin typeface="Inter"/>
              </a:rPr>
              <a:t>Chính sách đề cập đến các quyết định và quy tắc được đưa ra để quản lý hệ thống. Ví dụ:</a:t>
            </a:r>
          </a:p>
          <a:p>
            <a:pPr algn="l">
              <a:buFont typeface="Arial" panose="020B0604020202020204" pitchFamily="34" charset="0"/>
              <a:buChar char="•"/>
            </a:pPr>
            <a:r>
              <a:rPr lang="vi-VN" b="1" i="0" dirty="0">
                <a:solidFill>
                  <a:srgbClr val="404040"/>
                </a:solidFill>
                <a:effectLst/>
                <a:latin typeface="Inter"/>
              </a:rPr>
              <a:t>Mức độ nhất quán dữ liệu cache của client</a:t>
            </a:r>
            <a:r>
              <a:rPr lang="vi-VN" b="0" i="0" dirty="0">
                <a:solidFill>
                  <a:srgbClr val="404040"/>
                </a:solidFill>
                <a:effectLst/>
                <a:latin typeface="Inter"/>
              </a:rPr>
              <a:t>: Quyết định mức độ cập nhật dữ liệu cache giữa client và server.</a:t>
            </a:r>
          </a:p>
          <a:p>
            <a:pPr algn="l">
              <a:buFont typeface="Arial" panose="020B0604020202020204" pitchFamily="34" charset="0"/>
              <a:buChar char="•"/>
            </a:pPr>
            <a:r>
              <a:rPr lang="vi-VN" b="1" i="0" dirty="0">
                <a:solidFill>
                  <a:srgbClr val="404040"/>
                </a:solidFill>
                <a:effectLst/>
                <a:latin typeface="Inter"/>
              </a:rPr>
              <a:t>Các hoạt động cho phép mã tải về thực hiện</a:t>
            </a:r>
            <a:r>
              <a:rPr lang="vi-VN" b="0" i="0" dirty="0">
                <a:solidFill>
                  <a:srgbClr val="404040"/>
                </a:solidFill>
                <a:effectLst/>
                <a:latin typeface="Inter"/>
              </a:rPr>
              <a:t>: Quy định những gì mã di động (mobile code) có thể làm trên hệ thống.</a:t>
            </a:r>
          </a:p>
          <a:p>
            <a:pPr algn="l">
              <a:buFont typeface="Arial" panose="020B0604020202020204" pitchFamily="34" charset="0"/>
              <a:buChar char="•"/>
            </a:pPr>
            <a:r>
              <a:rPr lang="vi-VN" b="1" i="0" dirty="0">
                <a:solidFill>
                  <a:srgbClr val="404040"/>
                </a:solidFill>
                <a:effectLst/>
                <a:latin typeface="Inter"/>
              </a:rPr>
              <a:t>Yêu cầu chất lượng dịch vụ (QoS) khi băng thông thay đổi</a:t>
            </a:r>
            <a:r>
              <a:rPr lang="vi-VN" b="0" i="0" dirty="0">
                <a:solidFill>
                  <a:srgbClr val="404040"/>
                </a:solidFill>
                <a:effectLst/>
                <a:latin typeface="Inter"/>
              </a:rPr>
              <a:t>: Điều chỉnh các yêu cầu về chất lượng dịch vụ dựa trên điều kiện mạng.</a:t>
            </a:r>
          </a:p>
          <a:p>
            <a:pPr algn="l">
              <a:buFont typeface="Arial" panose="020B0604020202020204" pitchFamily="34" charset="0"/>
              <a:buChar char="•"/>
            </a:pPr>
            <a:r>
              <a:rPr lang="vi-VN" b="1" i="0" dirty="0">
                <a:solidFill>
                  <a:srgbClr val="404040"/>
                </a:solidFill>
                <a:effectLst/>
                <a:latin typeface="Inter"/>
              </a:rPr>
              <a:t>Mức độ bảo mật cho giao tiếp</a:t>
            </a:r>
            <a:r>
              <a:rPr lang="vi-VN" b="0" i="0" dirty="0">
                <a:solidFill>
                  <a:srgbClr val="404040"/>
                </a:solidFill>
                <a:effectLst/>
                <a:latin typeface="Inter"/>
              </a:rPr>
              <a:t>: Xác định mức độ mã hóa và bảo mật cần thiết cho việc truyền thông.</a:t>
            </a:r>
          </a:p>
          <a:p>
            <a:pPr algn="l"/>
            <a:r>
              <a:rPr lang="vi-VN" b="1" i="0" dirty="0">
                <a:solidFill>
                  <a:srgbClr val="404040"/>
                </a:solidFill>
                <a:effectLst/>
                <a:latin typeface="Inter"/>
              </a:rPr>
              <a:t>Triển khai tính mở: Cơ chế</a:t>
            </a:r>
          </a:p>
          <a:p>
            <a:pPr algn="l"/>
            <a:r>
              <a:rPr lang="vi-VN" b="0" i="0" dirty="0">
                <a:solidFill>
                  <a:srgbClr val="404040"/>
                </a:solidFill>
                <a:effectLst/>
                <a:latin typeface="Inter"/>
              </a:rPr>
              <a:t>Cơ chế là các công cụ và phương pháp kỹ thuật được sử dụng để thực thi các chính sách. Ví dụ:</a:t>
            </a:r>
          </a:p>
          <a:p>
            <a:pPr algn="l">
              <a:buFont typeface="Arial" panose="020B0604020202020204" pitchFamily="34" charset="0"/>
              <a:buChar char="•"/>
            </a:pPr>
            <a:r>
              <a:rPr lang="vi-VN" b="1" i="0" dirty="0">
                <a:solidFill>
                  <a:srgbClr val="404040"/>
                </a:solidFill>
                <a:effectLst/>
                <a:latin typeface="Inter"/>
              </a:rPr>
              <a:t>Cho phép thiết lập (động) chính sách caching</a:t>
            </a:r>
            <a:r>
              <a:rPr lang="vi-VN" b="0" i="0" dirty="0">
                <a:solidFill>
                  <a:srgbClr val="404040"/>
                </a:solidFill>
                <a:effectLst/>
                <a:latin typeface="Inter"/>
              </a:rPr>
              <a:t>: Hỗ trợ thay đổi cách lưu trữ và cập nhật dữ liệu cache.</a:t>
            </a:r>
          </a:p>
          <a:p>
            <a:pPr algn="l">
              <a:buFont typeface="Arial" panose="020B0604020202020204" pitchFamily="34" charset="0"/>
              <a:buChar char="•"/>
            </a:pPr>
            <a:r>
              <a:rPr lang="vi-VN" b="1" i="0" dirty="0">
                <a:solidFill>
                  <a:srgbClr val="404040"/>
                </a:solidFill>
                <a:effectLst/>
                <a:latin typeface="Inter"/>
              </a:rPr>
              <a:t>Hỗ trợ các mức độ tin cậy khác nhau cho mã di động</a:t>
            </a:r>
            <a:r>
              <a:rPr lang="vi-VN" b="0" i="0" dirty="0">
                <a:solidFill>
                  <a:srgbClr val="404040"/>
                </a:solidFill>
                <a:effectLst/>
                <a:latin typeface="Inter"/>
              </a:rPr>
              <a:t>: Cung cấp các cơ chế kiểm soát quyền hạn của mã tải về.</a:t>
            </a:r>
          </a:p>
          <a:p>
            <a:pPr algn="l">
              <a:buFont typeface="Arial" panose="020B0604020202020204" pitchFamily="34" charset="0"/>
              <a:buChar char="•"/>
            </a:pPr>
            <a:r>
              <a:rPr lang="vi-VN" b="1" i="0" dirty="0">
                <a:solidFill>
                  <a:srgbClr val="404040"/>
                </a:solidFill>
                <a:effectLst/>
                <a:latin typeface="Inter"/>
              </a:rPr>
              <a:t>Cung cấp các tham số QoS có thể điều chỉnh cho từng luồng dữ liệu</a:t>
            </a:r>
            <a:r>
              <a:rPr lang="vi-VN" b="0" i="0" dirty="0">
                <a:solidFill>
                  <a:srgbClr val="404040"/>
                </a:solidFill>
                <a:effectLst/>
                <a:latin typeface="Inter"/>
              </a:rPr>
              <a:t>: Cho phép tùy chỉnh chất lượng dịch vụ dựa trên nhu cầu cụ thể.</a:t>
            </a:r>
          </a:p>
          <a:p>
            <a:pPr algn="l">
              <a:buFont typeface="Arial" panose="020B0604020202020204" pitchFamily="34" charset="0"/>
              <a:buChar char="•"/>
            </a:pPr>
            <a:r>
              <a:rPr lang="vi-VN" b="1" i="0" dirty="0">
                <a:solidFill>
                  <a:srgbClr val="404040"/>
                </a:solidFill>
                <a:effectLst/>
                <a:latin typeface="Inter"/>
              </a:rPr>
              <a:t>Cung cấp các thuật toán mã hóa khác nhau</a:t>
            </a:r>
            <a:r>
              <a:rPr lang="vi-VN" b="0" i="0" dirty="0">
                <a:solidFill>
                  <a:srgbClr val="404040"/>
                </a:solidFill>
                <a:effectLst/>
                <a:latin typeface="Inter"/>
              </a:rPr>
              <a:t>: Hỗ trợ nhiều phương pháp mã hóa để đáp ứng các yêu cầu bảo mật khác nhau.</a:t>
            </a:r>
          </a:p>
          <a:p>
            <a:pPr algn="l"/>
            <a:r>
              <a:rPr lang="vi-VN" b="0" i="0" dirty="0">
                <a:solidFill>
                  <a:srgbClr val="404040"/>
                </a:solidFill>
                <a:effectLst/>
                <a:latin typeface="Inter"/>
              </a:rPr>
              <a:t>Việc tách biệt giữa chính sách và cơ chế giúp hệ thống linh hoạt hơn, cho phép dễ dàng thay đổi chính sách mà không cần thay đổi cơ chế cơ bản, từ đó hỗ trợ tính mở và khả năng mở rộng của hệ thống phân tán.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19</a:t>
            </a:fld>
            <a:endParaRPr lang="en-US"/>
          </a:p>
        </p:txBody>
      </p:sp>
    </p:spTree>
    <p:extLst>
      <p:ext uri="{BB962C8B-B14F-4D97-AF65-F5344CB8AC3E}">
        <p14:creationId xmlns:p14="http://schemas.microsoft.com/office/powerpoint/2010/main" val="2004215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Về sự tách biệt nghiêm ngặt giữa chính sách và cơ chế</a:t>
            </a:r>
            <a:endParaRPr lang="vi-VN" b="0" i="0" dirty="0">
              <a:solidFill>
                <a:srgbClr val="404040"/>
              </a:solidFill>
              <a:effectLst/>
              <a:latin typeface="Inter"/>
            </a:endParaRPr>
          </a:p>
          <a:p>
            <a:pPr algn="l"/>
            <a:r>
              <a:rPr lang="vi-VN" b="1" i="0" dirty="0">
                <a:solidFill>
                  <a:srgbClr val="404040"/>
                </a:solidFill>
                <a:effectLst/>
                <a:latin typeface="Inter"/>
              </a:rPr>
              <a:t>Nhận xét</a:t>
            </a:r>
          </a:p>
          <a:p>
            <a:pPr algn="l"/>
            <a:r>
              <a:rPr lang="vi-VN" b="0" i="0" dirty="0">
                <a:solidFill>
                  <a:srgbClr val="404040"/>
                </a:solidFill>
                <a:effectLst/>
                <a:latin typeface="Inter"/>
              </a:rPr>
              <a:t>Việc tách biệt nghiêm ngặt giữa chính sách (policy) và cơ chế (mechanism) đòi hỏi phải đảm bảo rằng các cơ chế được thiết kế đủ linh hoạt để hỗ trợ nhiều chính sách khác nhau. Điều này có thể dẫn đến việc có nhiều tham số cấu hình và quản lý phức tạp hơn. Càng tách biệt nghiêm ngặt, hệ thống càng cần nhiều công cụ và tùy chọn để điều chỉnh hành vi theo các chính sách khác nhau.</a:t>
            </a:r>
          </a:p>
          <a:p>
            <a:pPr algn="l"/>
            <a:r>
              <a:rPr lang="vi-VN" b="1" i="0" dirty="0">
                <a:solidFill>
                  <a:srgbClr val="404040"/>
                </a:solidFill>
                <a:effectLst/>
                <a:latin typeface="Inter"/>
              </a:rPr>
              <a:t>Tìm kiếm sự cân bằng</a:t>
            </a:r>
          </a:p>
          <a:p>
            <a:pPr algn="l">
              <a:buFont typeface="Arial" panose="020B0604020202020204" pitchFamily="34" charset="0"/>
              <a:buChar char="•"/>
            </a:pPr>
            <a:r>
              <a:rPr lang="vi-VN" b="1" i="0" dirty="0">
                <a:solidFill>
                  <a:srgbClr val="404040"/>
                </a:solidFill>
                <a:effectLst/>
                <a:latin typeface="Inter"/>
              </a:rPr>
              <a:t>Hard coding policies (nhúng chính sách vào cơ chế)</a:t>
            </a:r>
            <a:r>
              <a:rPr lang="vi-VN" b="0" i="0" dirty="0">
                <a:solidFill>
                  <a:srgbClr val="404040"/>
                </a:solidFill>
                <a:effectLst/>
                <a:latin typeface="Inter"/>
              </a:rPr>
              <a:t>: Việc này thường đơn giản hóa quản lý và giảm độ phức tạp, nhưng đánh đổi bằng sự linh hoạt. Khi chính sách được nhúng trực tiếp vào cơ chế, hệ thống trở nên cứng nhắc hơn và khó thích ứng với các yêu cầu thay đổi.</a:t>
            </a:r>
          </a:p>
          <a:p>
            <a:pPr algn="l">
              <a:buFont typeface="Arial" panose="020B0604020202020204" pitchFamily="34" charset="0"/>
              <a:buChar char="•"/>
            </a:pPr>
            <a:r>
              <a:rPr lang="vi-VN" b="1" i="0" dirty="0">
                <a:solidFill>
                  <a:srgbClr val="404040"/>
                </a:solidFill>
                <a:effectLst/>
                <a:latin typeface="Inter"/>
              </a:rPr>
              <a:t>Không có giải pháp rõ ràng</a:t>
            </a:r>
            <a:r>
              <a:rPr lang="vi-VN" b="0" i="0" dirty="0">
                <a:solidFill>
                  <a:srgbClr val="404040"/>
                </a:solidFill>
                <a:effectLst/>
                <a:latin typeface="Inter"/>
              </a:rPr>
              <a:t>: Việc tìm kiếm sự cân bằng giữa tính linh hoạt và độ phức tạp là một thách thức. Một số hệ thống có thể ưu tiên sự đơn giản và hiệu suất, trong khi những hệ thống khác có thể cần sự linh hoạt cao để đáp ứng các yêu cầu đa dạng.</a:t>
            </a:r>
          </a:p>
          <a:p>
            <a:pPr algn="l"/>
            <a:r>
              <a:rPr lang="vi-VN" b="1" i="0" dirty="0">
                <a:solidFill>
                  <a:srgbClr val="404040"/>
                </a:solidFill>
                <a:effectLst/>
                <a:latin typeface="Inter"/>
              </a:rPr>
              <a:t>Kết luận</a:t>
            </a:r>
          </a:p>
          <a:p>
            <a:pPr algn="l"/>
            <a:r>
              <a:rPr lang="vi-VN" b="0" i="0" dirty="0">
                <a:solidFill>
                  <a:srgbClr val="404040"/>
                </a:solidFill>
                <a:effectLst/>
                <a:latin typeface="Inter"/>
              </a:rPr>
              <a:t>Không có một giải pháp tối ưu duy nhất cho việc tách biệt chính sách và cơ chế. Việc lựa chọn giữa tính linh hoạt và độ phức tạp phụ thuộc vào yêu cầu cụ thể của hệ thống và ngữ cảnh sử dụng. Điều quan trọng là tìm ra sự cân bằng phù hợp để hệ thống vừa dễ quản lý, vừa đáp ứng được các yêu cầu thay đổi.</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20</a:t>
            </a:fld>
            <a:endParaRPr lang="en-US"/>
          </a:p>
        </p:txBody>
      </p:sp>
    </p:spTree>
    <p:extLst>
      <p:ext uri="{BB962C8B-B14F-4D97-AF65-F5344CB8AC3E}">
        <p14:creationId xmlns:p14="http://schemas.microsoft.com/office/powerpoint/2010/main" val="84991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Khả năng mở rộng (Scalability) trong hệ thống phân tán</a:t>
            </a:r>
            <a:endParaRPr lang="vi-VN" b="0" i="0" dirty="0">
              <a:solidFill>
                <a:srgbClr val="404040"/>
              </a:solidFill>
              <a:effectLst/>
              <a:latin typeface="Inter"/>
            </a:endParaRPr>
          </a:p>
          <a:p>
            <a:pPr algn="l"/>
            <a:r>
              <a:rPr lang="vi-VN" b="1" i="0" dirty="0">
                <a:solidFill>
                  <a:srgbClr val="404040"/>
                </a:solidFill>
                <a:effectLst/>
                <a:latin typeface="Inter"/>
              </a:rPr>
              <a:t>Nhận xét</a:t>
            </a:r>
          </a:p>
          <a:p>
            <a:pPr algn="l"/>
            <a:r>
              <a:rPr lang="vi-VN" b="0" i="0" dirty="0">
                <a:solidFill>
                  <a:srgbClr val="404040"/>
                </a:solidFill>
                <a:effectLst/>
                <a:latin typeface="Inter"/>
              </a:rPr>
              <a:t>Nhiều nhà phát triển hệ thống phân tán hiện đại thường sử dụng tính từ "có khả năng mở rộng" (scalable) một cách dễ dàng mà không làm rõ lý do tại sao hệ thống của họ thực sự có thể mở rộng. Việc sử dụng thuật ngữ này một cách mơ hồ có thể dẫn đến hiểu lầm hoặc đánh giá quá cao về khả năng của hệ thống.</a:t>
            </a:r>
          </a:p>
          <a:p>
            <a:pPr algn="l"/>
            <a:r>
              <a:rPr lang="vi-VN" b="0" i="0" dirty="0">
                <a:solidFill>
                  <a:srgbClr val="404040"/>
                </a:solidFill>
                <a:effectLst/>
                <a:latin typeface="Inter"/>
              </a:rPr>
              <a:t>Việc sử dụng thuật ngữ "scalable" cần đi kèm với sự giải thích rõ ràng về cách hệ thống đạt được khả năng mở rộng. Điều này giúp người dùng và nhà phát triển khác hiểu rõ hơn về giới hạn và tiềm năng của hệ thống, đồng thời tránh những kỳ vọng không thực tế.</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21</a:t>
            </a:fld>
            <a:endParaRPr lang="en-US"/>
          </a:p>
        </p:txBody>
      </p:sp>
    </p:spTree>
    <p:extLst>
      <p:ext uri="{BB962C8B-B14F-4D97-AF65-F5344CB8AC3E}">
        <p14:creationId xmlns:p14="http://schemas.microsoft.com/office/powerpoint/2010/main" val="4232737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Ba thành phần chính của khả năng mở rộng (Scalability) trong hệ thống phân tán</a:t>
            </a:r>
            <a:endParaRPr lang="vi-VN" b="0" i="0" dirty="0">
              <a:solidFill>
                <a:srgbClr val="404040"/>
              </a:solidFill>
              <a:effectLst/>
              <a:latin typeface="Inter"/>
            </a:endParaRPr>
          </a:p>
          <a:p>
            <a:pPr algn="l"/>
            <a:r>
              <a:rPr lang="vi-VN" b="0" i="0" dirty="0">
                <a:solidFill>
                  <a:srgbClr val="404040"/>
                </a:solidFill>
                <a:effectLst/>
                <a:latin typeface="Inter"/>
              </a:rPr>
              <a:t>Để đánh giá khả năng mở rộng của một hệ thống phân tán, chúng ta cần xem xét ít nhất ba thành phần chính sau:</a:t>
            </a:r>
          </a:p>
          <a:p>
            <a:pPr algn="l"/>
            <a:r>
              <a:rPr lang="vi-VN" b="1" i="0" dirty="0">
                <a:solidFill>
                  <a:srgbClr val="404040"/>
                </a:solidFill>
                <a:effectLst/>
                <a:latin typeface="Inter"/>
              </a:rPr>
              <a:t>1. Khả năng mở rộng về quy mô (Size Scalability)</a:t>
            </a:r>
          </a:p>
          <a:p>
            <a:pPr algn="l">
              <a:buFont typeface="Arial" panose="020B0604020202020204" pitchFamily="34" charset="0"/>
              <a:buChar char="•"/>
            </a:pPr>
            <a:r>
              <a:rPr lang="vi-VN" b="1" i="0" dirty="0">
                <a:solidFill>
                  <a:srgbClr val="404040"/>
                </a:solidFill>
                <a:effectLst/>
                <a:latin typeface="Inter"/>
              </a:rPr>
              <a:t>Định nghĩa</a:t>
            </a:r>
            <a:r>
              <a:rPr lang="vi-VN" b="0" i="0" dirty="0">
                <a:solidFill>
                  <a:srgbClr val="404040"/>
                </a:solidFill>
                <a:effectLst/>
                <a:latin typeface="Inter"/>
              </a:rPr>
              <a:t>: Khả năng của hệ thống để hỗ trợ sự gia tăng về số lượng người dùng hoặc tiến trình.</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Hệ thống có thể xử lý hàng triệu người dùng đồng thời mà không bị giảm hiệu suất đáng kể.</a:t>
            </a:r>
          </a:p>
          <a:p>
            <a:pPr algn="l">
              <a:buFont typeface="Arial" panose="020B0604020202020204" pitchFamily="34" charset="0"/>
              <a:buChar char="•"/>
            </a:pPr>
            <a:r>
              <a:rPr lang="vi-VN" b="1" i="0" dirty="0">
                <a:solidFill>
                  <a:srgbClr val="404040"/>
                </a:solidFill>
                <a:effectLst/>
                <a:latin typeface="Inter"/>
              </a:rPr>
              <a:t>Thách thức</a:t>
            </a:r>
            <a:r>
              <a:rPr lang="vi-VN" b="0" i="0" dirty="0">
                <a:solidFill>
                  <a:srgbClr val="404040"/>
                </a:solidFill>
                <a:effectLst/>
                <a:latin typeface="Inter"/>
              </a:rPr>
              <a:t>: Đảm bảo rằng việc thêm người dùng hoặc tiến trình mới không làm quá tải tài nguyên hoặc gây ra tắc nghẽn.</a:t>
            </a:r>
          </a:p>
          <a:p>
            <a:pPr algn="l"/>
            <a:r>
              <a:rPr lang="vi-VN" b="1" i="0" dirty="0">
                <a:solidFill>
                  <a:srgbClr val="404040"/>
                </a:solidFill>
                <a:effectLst/>
                <a:latin typeface="Inter"/>
              </a:rPr>
              <a:t>2. Khả năng mở rộng về địa lý (Geographical Scalability)</a:t>
            </a:r>
          </a:p>
          <a:p>
            <a:pPr algn="l">
              <a:buFont typeface="Arial" panose="020B0604020202020204" pitchFamily="34" charset="0"/>
              <a:buChar char="•"/>
            </a:pPr>
            <a:r>
              <a:rPr lang="vi-VN" b="1" i="0" dirty="0">
                <a:solidFill>
                  <a:srgbClr val="404040"/>
                </a:solidFill>
                <a:effectLst/>
                <a:latin typeface="Inter"/>
              </a:rPr>
              <a:t>Định nghĩa</a:t>
            </a:r>
            <a:r>
              <a:rPr lang="vi-VN" b="0" i="0" dirty="0">
                <a:solidFill>
                  <a:srgbClr val="404040"/>
                </a:solidFill>
                <a:effectLst/>
                <a:latin typeface="Inter"/>
              </a:rPr>
              <a:t>: Khả năng của hệ thống để hoạt động hiệu quả ngay cả khi các nút nằm cách xa nhau về mặt địa lý.</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Hệ thống có thể kết nối các nút từ nhiều quốc gia khác nhau mà không bị ảnh hưởng nhiều bởi độ trễ mạng.</a:t>
            </a:r>
          </a:p>
          <a:p>
            <a:pPr algn="l">
              <a:buFont typeface="Arial" panose="020B0604020202020204" pitchFamily="34" charset="0"/>
              <a:buChar char="•"/>
            </a:pPr>
            <a:r>
              <a:rPr lang="vi-VN" b="1" i="0" dirty="0">
                <a:solidFill>
                  <a:srgbClr val="404040"/>
                </a:solidFill>
                <a:effectLst/>
                <a:latin typeface="Inter"/>
              </a:rPr>
              <a:t>Thách thức</a:t>
            </a:r>
            <a:r>
              <a:rPr lang="vi-VN" b="0" i="0" dirty="0">
                <a:solidFill>
                  <a:srgbClr val="404040"/>
                </a:solidFill>
                <a:effectLst/>
                <a:latin typeface="Inter"/>
              </a:rPr>
              <a:t>: Giảm thiểu độ trễ và đảm bảo tính nhất quán dữ liệu giữa các nút ở xa.</a:t>
            </a:r>
          </a:p>
          <a:p>
            <a:pPr algn="l"/>
            <a:r>
              <a:rPr lang="vi-VN" b="1" i="0" dirty="0">
                <a:solidFill>
                  <a:srgbClr val="404040"/>
                </a:solidFill>
                <a:effectLst/>
                <a:latin typeface="Inter"/>
              </a:rPr>
              <a:t>3. Khả năng mở rộng về quản trị (Administrative Scalability)</a:t>
            </a:r>
          </a:p>
          <a:p>
            <a:pPr algn="l">
              <a:buFont typeface="Arial" panose="020B0604020202020204" pitchFamily="34" charset="0"/>
              <a:buChar char="•"/>
            </a:pPr>
            <a:r>
              <a:rPr lang="vi-VN" b="1" i="0" dirty="0">
                <a:solidFill>
                  <a:srgbClr val="404040"/>
                </a:solidFill>
                <a:effectLst/>
                <a:latin typeface="Inter"/>
              </a:rPr>
              <a:t>Định nghĩa</a:t>
            </a:r>
            <a:r>
              <a:rPr lang="vi-VN" b="0" i="0" dirty="0">
                <a:solidFill>
                  <a:srgbClr val="404040"/>
                </a:solidFill>
                <a:effectLst/>
                <a:latin typeface="Inter"/>
              </a:rPr>
              <a:t>: Khả năng của hệ thống để hỗ trợ nhiều miền quản trị khác nhau mà không gây ra xung đột hoặc phức tạp trong quản lý.</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Hệ thống có thể tích hợp và quản lý các nút từ nhiều tổ chức hoặc bộ phận khác nhau.</a:t>
            </a:r>
          </a:p>
          <a:p>
            <a:pPr algn="l">
              <a:buFont typeface="Arial" panose="020B0604020202020204" pitchFamily="34" charset="0"/>
              <a:buChar char="•"/>
            </a:pPr>
            <a:r>
              <a:rPr lang="vi-VN" b="1" i="0" dirty="0">
                <a:solidFill>
                  <a:srgbClr val="404040"/>
                </a:solidFill>
                <a:effectLst/>
                <a:latin typeface="Inter"/>
              </a:rPr>
              <a:t>Thách thức</a:t>
            </a:r>
            <a:r>
              <a:rPr lang="vi-VN" b="0" i="0" dirty="0">
                <a:solidFill>
                  <a:srgbClr val="404040"/>
                </a:solidFill>
                <a:effectLst/>
                <a:latin typeface="Inter"/>
              </a:rPr>
              <a:t>: Đảm bảo sự hợp tác và đồng bộ giữa các miền quản trị khác nhau, đồng thời duy trì tính bảo mật và quyền riêng tư.</a:t>
            </a:r>
          </a:p>
          <a:p>
            <a:pPr algn="l"/>
            <a:r>
              <a:rPr lang="vi-VN" b="1" i="0" dirty="0">
                <a:solidFill>
                  <a:srgbClr val="404040"/>
                </a:solidFill>
                <a:effectLst/>
                <a:latin typeface="Inter"/>
              </a:rPr>
              <a:t>Kết luận</a:t>
            </a:r>
          </a:p>
          <a:p>
            <a:pPr algn="l"/>
            <a:r>
              <a:rPr lang="vi-VN" b="0" i="0" dirty="0">
                <a:solidFill>
                  <a:srgbClr val="404040"/>
                </a:solidFill>
                <a:effectLst/>
                <a:latin typeface="Inter"/>
              </a:rPr>
              <a:t>Để một hệ thống phân tán thực sự có khả năng mở rộng, nó cần được thiết kế để đáp ứng cả ba thành phần trên. Việc hiểu rõ và giải quyết các thách thức liên quan đến từng thành phần sẽ giúp hệ thống hoạt động hiệu quả và linh hoạt trong nhiều tình huống khác nhau.</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22</a:t>
            </a:fld>
            <a:endParaRPr lang="en-US"/>
          </a:p>
        </p:txBody>
      </p:sp>
    </p:spTree>
    <p:extLst>
      <p:ext uri="{BB962C8B-B14F-4D97-AF65-F5344CB8AC3E}">
        <p14:creationId xmlns:p14="http://schemas.microsoft.com/office/powerpoint/2010/main" val="2104200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solidFill>
                  <a:srgbClr val="404040"/>
                </a:solidFill>
                <a:effectLst/>
                <a:latin typeface="Inter"/>
              </a:rPr>
              <a:t>Nhận xét</a:t>
            </a:r>
            <a:br>
              <a:rPr lang="vi-VN" dirty="0"/>
            </a:br>
            <a:r>
              <a:rPr lang="vi-VN" b="0" i="0" dirty="0">
                <a:solidFill>
                  <a:srgbClr val="404040"/>
                </a:solidFill>
                <a:effectLst/>
                <a:latin typeface="Inter"/>
              </a:rPr>
              <a:t>Hầu hết các hệ thống phân tán hiện nay chỉ tập trung vào khả năng mở rộng về quy mô (size scalability) ở một mức độ nhất định. Giải pháp phổ biến thường là sử dụng nhiều máy chủ mạnh hoạt động độc lập và song song. Tuy nhiên, thách thức thực sự vẫn nằm ở khả năng mở rộng về địa lý (geographical scalability) và quản trị (administrative scalability).</a:t>
            </a: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23</a:t>
            </a:fld>
            <a:endParaRPr lang="en-US"/>
          </a:p>
        </p:txBody>
      </p:sp>
    </p:spTree>
    <p:extLst>
      <p:ext uri="{BB962C8B-B14F-4D97-AF65-F5344CB8AC3E}">
        <p14:creationId xmlns:p14="http://schemas.microsoft.com/office/powerpoint/2010/main" val="3716659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Khả năng mở rộng về quy mô (Size Scalability)</a:t>
            </a:r>
            <a:br>
              <a:rPr lang="vi-VN" b="0" i="0" dirty="0">
                <a:solidFill>
                  <a:srgbClr val="404040"/>
                </a:solidFill>
                <a:effectLst/>
                <a:latin typeface="Inter"/>
              </a:rPr>
            </a:br>
            <a:r>
              <a:rPr lang="vi-VN" b="0" i="0" dirty="0">
                <a:solidFill>
                  <a:srgbClr val="404040"/>
                </a:solidFill>
                <a:effectLst/>
                <a:latin typeface="Inter"/>
              </a:rPr>
              <a:t>Các giải pháp tập trung (centralized solutions) thường gặp phải các vấn đề về khả năng mở rộng do những nguyên nhân chính sau:</a:t>
            </a:r>
          </a:p>
          <a:p>
            <a:pPr algn="l"/>
            <a:r>
              <a:rPr lang="vi-VN" b="1" i="0" dirty="0">
                <a:solidFill>
                  <a:srgbClr val="404040"/>
                </a:solidFill>
                <a:effectLst/>
                <a:latin typeface="Inter"/>
              </a:rPr>
              <a:t>Nguyên nhân gốc rễ của các vấn đề về khả năng mở rộng trong giải pháp tập trung</a:t>
            </a:r>
          </a:p>
          <a:p>
            <a:pPr algn="l">
              <a:buFont typeface="+mj-lt"/>
              <a:buAutoNum type="arabicPeriod"/>
            </a:pPr>
            <a:r>
              <a:rPr lang="vi-VN" b="1" i="0" dirty="0">
                <a:solidFill>
                  <a:srgbClr val="404040"/>
                </a:solidFill>
                <a:effectLst/>
                <a:latin typeface="Inter"/>
              </a:rPr>
              <a:t>Khả năng tính toán bị giới hạn bởi CPU</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hệ thống tập trung phụ thuộc vào sức mạnh xử lý của một hoặc một vài CPU. Khi số lượng người dùng hoặc yêu cầu xử lý tăng lên, CPU có thể trở thành nút cổ chai, dẫn đến giảm hiệu suất.</a:t>
            </a:r>
          </a:p>
          <a:p>
            <a:pPr algn="l">
              <a:buFont typeface="+mj-lt"/>
              <a:buAutoNum type="arabicPeriod"/>
            </a:pPr>
            <a:r>
              <a:rPr lang="vi-VN" b="1" i="0" dirty="0">
                <a:solidFill>
                  <a:srgbClr val="404040"/>
                </a:solidFill>
                <a:effectLst/>
                <a:latin typeface="Inter"/>
              </a:rPr>
              <a:t>Khả năng lưu trữ và tốc độ truyền tải giữa CPU và đĩa</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Dung lượng lưu trữ và tốc độ truyền tải dữ liệu giữa CPU và đĩa cứng có thể bị giới hạn. Khi khối lượng dữ liệu tăng lên, việc đọc/ghi dữ liệu có thể trở nên chậm chạp, ảnh hưởng đến hiệu suất tổng thể.</a:t>
            </a:r>
          </a:p>
          <a:p>
            <a:pPr algn="l">
              <a:buFont typeface="+mj-lt"/>
              <a:buAutoNum type="arabicPeriod"/>
            </a:pPr>
            <a:r>
              <a:rPr lang="vi-VN" b="1" i="0" dirty="0">
                <a:solidFill>
                  <a:srgbClr val="404040"/>
                </a:solidFill>
                <a:effectLst/>
                <a:latin typeface="Inter"/>
              </a:rPr>
              <a:t>Mạng giữa người dùng và dịch vụ tập trung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Tất cả người dùng đều kết nối đến một dịch vụ tập trung, điều này có thể dẫn đến tắc nghẽn mạng khi số lượng người dùng tăng lên. Độ trễ và băng thông hạn chế có thể làm giảm trải nghiệm người dùng.</a:t>
            </a:r>
          </a:p>
          <a:p>
            <a:pPr algn="l"/>
            <a:r>
              <a:rPr lang="vi-VN" b="1" i="0" dirty="0">
                <a:solidFill>
                  <a:srgbClr val="404040"/>
                </a:solidFill>
                <a:effectLst/>
                <a:latin typeface="Inter"/>
              </a:rPr>
              <a:t>Tại sao các giải pháp tập trung khó mở rộng?</a:t>
            </a:r>
          </a:p>
          <a:p>
            <a:pPr algn="l">
              <a:buFont typeface="Arial" panose="020B0604020202020204" pitchFamily="34" charset="0"/>
              <a:buChar char="•"/>
            </a:pPr>
            <a:r>
              <a:rPr lang="vi-VN" b="1" i="0" dirty="0">
                <a:solidFill>
                  <a:srgbClr val="404040"/>
                </a:solidFill>
                <a:effectLst/>
                <a:latin typeface="Inter"/>
              </a:rPr>
              <a:t>Tập trung hóa tạo ra điểm yếu duy nhất (single point of failure)</a:t>
            </a:r>
            <a:r>
              <a:rPr lang="vi-VN" b="0" i="0" dirty="0">
                <a:solidFill>
                  <a:srgbClr val="404040"/>
                </a:solidFill>
                <a:effectLst/>
                <a:latin typeface="Inter"/>
              </a:rPr>
              <a:t>: Nếu dịch vụ tập trung gặp sự cố, toàn bộ hệ thống sẽ bị ảnh hưởng.</a:t>
            </a:r>
          </a:p>
          <a:p>
            <a:pPr algn="l">
              <a:buFont typeface="Arial" panose="020B0604020202020204" pitchFamily="34" charset="0"/>
              <a:buChar char="•"/>
            </a:pPr>
            <a:r>
              <a:rPr lang="vi-VN" b="1" i="0" dirty="0">
                <a:solidFill>
                  <a:srgbClr val="404040"/>
                </a:solidFill>
                <a:effectLst/>
                <a:latin typeface="Inter"/>
              </a:rPr>
              <a:t>Khó mở rộng theo chiều ngang (horizontal scaling)</a:t>
            </a:r>
            <a:r>
              <a:rPr lang="vi-VN" b="0" i="0" dirty="0">
                <a:solidFill>
                  <a:srgbClr val="404040"/>
                </a:solidFill>
                <a:effectLst/>
                <a:latin typeface="Inter"/>
              </a:rPr>
              <a:t>: Việc thêm nhiều máy chủ hoặc tài nguyên vào một hệ thống tập trung thường phức tạp và tốn kém hơn so với các hệ thống phân tán.</a:t>
            </a:r>
          </a:p>
          <a:p>
            <a:pPr algn="l"/>
            <a:r>
              <a:rPr lang="vi-VN" b="1" i="0" dirty="0">
                <a:solidFill>
                  <a:srgbClr val="404040"/>
                </a:solidFill>
                <a:effectLst/>
                <a:latin typeface="Inter"/>
              </a:rPr>
              <a:t>Kết luận</a:t>
            </a:r>
          </a:p>
          <a:p>
            <a:pPr algn="l"/>
            <a:r>
              <a:rPr lang="vi-VN" b="0" i="0" dirty="0">
                <a:solidFill>
                  <a:srgbClr val="404040"/>
                </a:solidFill>
                <a:effectLst/>
                <a:latin typeface="Inter"/>
              </a:rPr>
              <a:t>Các giải pháp tập trung thường gặp khó khăn trong việc mở rộng quy mô do giới hạn về khả năng tính toán, lưu trữ và mạng. Để giải quyết các vấn đề này, các hệ thống phân tán được thiết kế để phân tán tải và tài nguyên trên nhiều nút, giúp cải thiện khả năng mở rộng và độ tin cậy.</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24</a:t>
            </a:fld>
            <a:endParaRPr lang="en-US"/>
          </a:p>
        </p:txBody>
      </p:sp>
    </p:spTree>
    <p:extLst>
      <p:ext uri="{BB962C8B-B14F-4D97-AF65-F5344CB8AC3E}">
        <p14:creationId xmlns:p14="http://schemas.microsoft.com/office/powerpoint/2010/main" val="695323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i="0" dirty="0">
                <a:solidFill>
                  <a:srgbClr val="404040"/>
                </a:solidFill>
                <a:effectLst/>
                <a:latin typeface="Inter"/>
              </a:rPr>
              <a:t>Phân tích hình thức: Một dịch vụ tập trung có thể được mô hình hóa như một hệ thống hàng đợi đơn giản</a:t>
            </a:r>
          </a:p>
          <a:p>
            <a:pPr algn="l"/>
            <a:r>
              <a:rPr lang="vi-VN" b="0" i="0" dirty="0">
                <a:solidFill>
                  <a:srgbClr val="404040"/>
                </a:solidFill>
                <a:effectLst/>
                <a:latin typeface="Inter"/>
              </a:rPr>
              <a:t>Trong nhiều trường hợp, chúng ta có thể giả định rằng hàng đợi có dung lượng vô hạn, nghĩa là không có hạn chế về số lượng yêu cầu có thể được chấp nhận để xử lý tiếp theo. Nói một cách chính xác, điều này có nghĩa là tốc độ đến của các yêu cầu không bị ảnh hưởng bởi những gì hiện có trong hàng đợi hoặc đang được xử lý. Giả sử rằng tốc độ đến của các yêu cầu là </a:t>
            </a:r>
            <a:r>
              <a:rPr lang="el-GR" b="0" i="0" dirty="0">
                <a:solidFill>
                  <a:srgbClr val="404040"/>
                </a:solidFill>
                <a:effectLst/>
                <a:latin typeface="Inter"/>
              </a:rPr>
              <a:t>λ </a:t>
            </a:r>
            <a:r>
              <a:rPr lang="vi-VN" b="0" i="0" dirty="0">
                <a:solidFill>
                  <a:srgbClr val="404040"/>
                </a:solidFill>
                <a:effectLst/>
                <a:latin typeface="Inter"/>
              </a:rPr>
              <a:t>yêu cầu mỗi giây và khả năng xử lý của dịch vụ là µ yêu cầu mỗi giây, chúng ta có thể tính toán rằng tỷ lệ thời gian pₖ mà có k yêu cầu trong hệ thống là bằng:</a:t>
            </a: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25</a:t>
            </a:fld>
            <a:endParaRPr lang="en-US"/>
          </a:p>
        </p:txBody>
      </p:sp>
    </p:spTree>
    <p:extLst>
      <p:ext uri="{BB962C8B-B14F-4D97-AF65-F5344CB8AC3E}">
        <p14:creationId xmlns:p14="http://schemas.microsoft.com/office/powerpoint/2010/main" val="4124857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404040"/>
                </a:solidFill>
                <a:effectLst/>
                <a:latin typeface="Inter"/>
              </a:rPr>
              <a:t>Nếu</a:t>
            </a:r>
            <a:r>
              <a:rPr lang="en-US" b="0" i="0" dirty="0">
                <a:solidFill>
                  <a:srgbClr val="404040"/>
                </a:solidFill>
                <a:effectLst/>
                <a:latin typeface="Inter"/>
              </a:rPr>
              <a:t> </a:t>
            </a:r>
            <a:r>
              <a:rPr lang="en-US" b="0" i="0" dirty="0" err="1">
                <a:solidFill>
                  <a:srgbClr val="404040"/>
                </a:solidFill>
                <a:effectLst/>
                <a:latin typeface="Inter"/>
              </a:rPr>
              <a:t>chúng</a:t>
            </a:r>
            <a:r>
              <a:rPr lang="en-US" b="0" i="0" dirty="0">
                <a:solidFill>
                  <a:srgbClr val="404040"/>
                </a:solidFill>
                <a:effectLst/>
                <a:latin typeface="Inter"/>
              </a:rPr>
              <a:t> ta </a:t>
            </a:r>
            <a:r>
              <a:rPr lang="en-US" b="0" i="0" dirty="0" err="1">
                <a:solidFill>
                  <a:srgbClr val="404040"/>
                </a:solidFill>
                <a:effectLst/>
                <a:latin typeface="Inter"/>
              </a:rPr>
              <a:t>định</a:t>
            </a:r>
            <a:r>
              <a:rPr lang="en-US" b="0" i="0" dirty="0">
                <a:solidFill>
                  <a:srgbClr val="404040"/>
                </a:solidFill>
                <a:effectLst/>
                <a:latin typeface="Inter"/>
              </a:rPr>
              <a:t> </a:t>
            </a:r>
            <a:r>
              <a:rPr lang="en-US" b="0" i="0" dirty="0" err="1">
                <a:solidFill>
                  <a:srgbClr val="404040"/>
                </a:solidFill>
                <a:effectLst/>
                <a:latin typeface="Inter"/>
              </a:rPr>
              <a:t>nghĩa</a:t>
            </a:r>
            <a:r>
              <a:rPr lang="en-US" b="0" i="0" dirty="0">
                <a:solidFill>
                  <a:srgbClr val="404040"/>
                </a:solidFill>
                <a:effectLst/>
                <a:latin typeface="Inter"/>
              </a:rPr>
              <a:t> </a:t>
            </a:r>
            <a:r>
              <a:rPr lang="en-US" b="1" i="0" dirty="0" err="1">
                <a:solidFill>
                  <a:srgbClr val="404040"/>
                </a:solidFill>
                <a:effectLst/>
                <a:latin typeface="Inter"/>
              </a:rPr>
              <a:t>mức</a:t>
            </a:r>
            <a:r>
              <a:rPr lang="en-US" b="1" i="0" dirty="0">
                <a:solidFill>
                  <a:srgbClr val="404040"/>
                </a:solidFill>
                <a:effectLst/>
                <a:latin typeface="Inter"/>
              </a:rPr>
              <a:t> </a:t>
            </a:r>
            <a:r>
              <a:rPr lang="en-US" b="1" i="0" dirty="0" err="1">
                <a:solidFill>
                  <a:srgbClr val="404040"/>
                </a:solidFill>
                <a:effectLst/>
                <a:latin typeface="Inter"/>
              </a:rPr>
              <a:t>độ</a:t>
            </a:r>
            <a:r>
              <a:rPr lang="en-US" b="1" i="0" dirty="0">
                <a:solidFill>
                  <a:srgbClr val="404040"/>
                </a:solidFill>
                <a:effectLst/>
                <a:latin typeface="Inter"/>
              </a:rPr>
              <a:t> </a:t>
            </a:r>
            <a:r>
              <a:rPr lang="en-US" b="1" i="0" dirty="0" err="1">
                <a:solidFill>
                  <a:srgbClr val="404040"/>
                </a:solidFill>
                <a:effectLst/>
                <a:latin typeface="Inter"/>
              </a:rPr>
              <a:t>sử</a:t>
            </a:r>
            <a:r>
              <a:rPr lang="en-US" b="1" i="0" dirty="0">
                <a:solidFill>
                  <a:srgbClr val="404040"/>
                </a:solidFill>
                <a:effectLst/>
                <a:latin typeface="Inter"/>
              </a:rPr>
              <a:t> </a:t>
            </a:r>
            <a:r>
              <a:rPr lang="en-US" b="1" i="0" dirty="0" err="1">
                <a:solidFill>
                  <a:srgbClr val="404040"/>
                </a:solidFill>
                <a:effectLst/>
                <a:latin typeface="Inter"/>
              </a:rPr>
              <a:t>dụng</a:t>
            </a:r>
            <a:r>
              <a:rPr lang="en-US" b="1" i="0" dirty="0">
                <a:solidFill>
                  <a:srgbClr val="404040"/>
                </a:solidFill>
                <a:effectLst/>
                <a:latin typeface="Inter"/>
              </a:rPr>
              <a:t> (utilization) U</a:t>
            </a:r>
            <a:r>
              <a:rPr lang="en-US" b="0" i="0" dirty="0">
                <a:solidFill>
                  <a:srgbClr val="404040"/>
                </a:solidFill>
                <a:effectLst/>
                <a:latin typeface="Inter"/>
              </a:rPr>
              <a:t> </a:t>
            </a:r>
            <a:r>
              <a:rPr lang="en-US" b="0" i="0" dirty="0" err="1">
                <a:solidFill>
                  <a:srgbClr val="404040"/>
                </a:solidFill>
                <a:effectLst/>
                <a:latin typeface="Inter"/>
              </a:rPr>
              <a:t>của</a:t>
            </a:r>
            <a:r>
              <a:rPr lang="en-US" b="0" i="0" dirty="0">
                <a:solidFill>
                  <a:srgbClr val="404040"/>
                </a:solidFill>
                <a:effectLst/>
                <a:latin typeface="Inter"/>
              </a:rPr>
              <a:t> </a:t>
            </a:r>
            <a:r>
              <a:rPr lang="en-US" b="0" i="0" dirty="0" err="1">
                <a:solidFill>
                  <a:srgbClr val="404040"/>
                </a:solidFill>
                <a:effectLst/>
                <a:latin typeface="Inter"/>
              </a:rPr>
              <a:t>một</a:t>
            </a:r>
            <a:r>
              <a:rPr lang="en-US" b="0" i="0" dirty="0">
                <a:solidFill>
                  <a:srgbClr val="404040"/>
                </a:solidFill>
                <a:effectLst/>
                <a:latin typeface="Inter"/>
              </a:rPr>
              <a:t> </a:t>
            </a:r>
            <a:r>
              <a:rPr lang="en-US" b="0" i="0" dirty="0" err="1">
                <a:solidFill>
                  <a:srgbClr val="404040"/>
                </a:solidFill>
                <a:effectLst/>
                <a:latin typeface="Inter"/>
              </a:rPr>
              <a:t>dịch</a:t>
            </a:r>
            <a:r>
              <a:rPr lang="en-US" b="0" i="0" dirty="0">
                <a:solidFill>
                  <a:srgbClr val="404040"/>
                </a:solidFill>
                <a:effectLst/>
                <a:latin typeface="Inter"/>
              </a:rPr>
              <a:t> </a:t>
            </a:r>
            <a:r>
              <a:rPr lang="en-US" b="0" i="0" dirty="0" err="1">
                <a:solidFill>
                  <a:srgbClr val="404040"/>
                </a:solidFill>
                <a:effectLst/>
                <a:latin typeface="Inter"/>
              </a:rPr>
              <a:t>vụ</a:t>
            </a:r>
            <a:r>
              <a:rPr lang="en-US" b="0" i="0" dirty="0">
                <a:solidFill>
                  <a:srgbClr val="404040"/>
                </a:solidFill>
                <a:effectLst/>
                <a:latin typeface="Inter"/>
              </a:rPr>
              <a:t> </a:t>
            </a:r>
            <a:r>
              <a:rPr lang="en-US" b="0" i="0" dirty="0" err="1">
                <a:solidFill>
                  <a:srgbClr val="404040"/>
                </a:solidFill>
                <a:effectLst/>
                <a:latin typeface="Inter"/>
              </a:rPr>
              <a:t>là</a:t>
            </a:r>
            <a:r>
              <a:rPr lang="en-US" b="0" i="0" dirty="0">
                <a:solidFill>
                  <a:srgbClr val="404040"/>
                </a:solidFill>
                <a:effectLst/>
                <a:latin typeface="Inter"/>
              </a:rPr>
              <a:t> </a:t>
            </a:r>
            <a:r>
              <a:rPr lang="en-US" b="0" i="0" dirty="0" err="1">
                <a:solidFill>
                  <a:srgbClr val="404040"/>
                </a:solidFill>
                <a:effectLst/>
                <a:latin typeface="Inter"/>
              </a:rPr>
              <a:t>tỷ</a:t>
            </a:r>
            <a:r>
              <a:rPr lang="en-US" b="0" i="0" dirty="0">
                <a:solidFill>
                  <a:srgbClr val="404040"/>
                </a:solidFill>
                <a:effectLst/>
                <a:latin typeface="Inter"/>
              </a:rPr>
              <a:t> </a:t>
            </a:r>
            <a:r>
              <a:rPr lang="en-US" b="0" i="0" dirty="0" err="1">
                <a:solidFill>
                  <a:srgbClr val="404040"/>
                </a:solidFill>
                <a:effectLst/>
                <a:latin typeface="Inter"/>
              </a:rPr>
              <a:t>lệ</a:t>
            </a:r>
            <a:r>
              <a:rPr lang="en-US" b="0" i="0" dirty="0">
                <a:solidFill>
                  <a:srgbClr val="404040"/>
                </a:solidFill>
                <a:effectLst/>
                <a:latin typeface="Inter"/>
              </a:rPr>
              <a:t> </a:t>
            </a:r>
            <a:r>
              <a:rPr lang="en-US" b="0" i="0" dirty="0" err="1">
                <a:solidFill>
                  <a:srgbClr val="404040"/>
                </a:solidFill>
                <a:effectLst/>
                <a:latin typeface="Inter"/>
              </a:rPr>
              <a:t>thời</a:t>
            </a:r>
            <a:r>
              <a:rPr lang="en-US" b="0" i="0" dirty="0">
                <a:solidFill>
                  <a:srgbClr val="404040"/>
                </a:solidFill>
                <a:effectLst/>
                <a:latin typeface="Inter"/>
              </a:rPr>
              <a:t> </a:t>
            </a:r>
            <a:r>
              <a:rPr lang="en-US" b="0" i="0" dirty="0" err="1">
                <a:solidFill>
                  <a:srgbClr val="404040"/>
                </a:solidFill>
                <a:effectLst/>
                <a:latin typeface="Inter"/>
              </a:rPr>
              <a:t>gian</a:t>
            </a:r>
            <a:r>
              <a:rPr lang="en-US" b="0" i="0" dirty="0">
                <a:solidFill>
                  <a:srgbClr val="404040"/>
                </a:solidFill>
                <a:effectLst/>
                <a:latin typeface="Inter"/>
              </a:rPr>
              <a:t> </a:t>
            </a:r>
            <a:r>
              <a:rPr lang="en-US" b="0" i="0" dirty="0" err="1">
                <a:solidFill>
                  <a:srgbClr val="404040"/>
                </a:solidFill>
                <a:effectLst/>
                <a:latin typeface="Inter"/>
              </a:rPr>
              <a:t>mà</a:t>
            </a:r>
            <a:r>
              <a:rPr lang="en-US" b="0" i="0" dirty="0">
                <a:solidFill>
                  <a:srgbClr val="404040"/>
                </a:solidFill>
                <a:effectLst/>
                <a:latin typeface="Inter"/>
              </a:rPr>
              <a:t> </a:t>
            </a:r>
            <a:r>
              <a:rPr lang="en-US" b="0" i="0" dirty="0" err="1">
                <a:solidFill>
                  <a:srgbClr val="404040"/>
                </a:solidFill>
                <a:effectLst/>
                <a:latin typeface="Inter"/>
              </a:rPr>
              <a:t>dịch</a:t>
            </a:r>
            <a:r>
              <a:rPr lang="en-US" b="0" i="0" dirty="0">
                <a:solidFill>
                  <a:srgbClr val="404040"/>
                </a:solidFill>
                <a:effectLst/>
                <a:latin typeface="Inter"/>
              </a:rPr>
              <a:t> </a:t>
            </a:r>
            <a:r>
              <a:rPr lang="en-US" b="0" i="0" dirty="0" err="1">
                <a:solidFill>
                  <a:srgbClr val="404040"/>
                </a:solidFill>
                <a:effectLst/>
                <a:latin typeface="Inter"/>
              </a:rPr>
              <a:t>vụ</a:t>
            </a:r>
            <a:r>
              <a:rPr lang="en-US" b="0" i="0" dirty="0">
                <a:solidFill>
                  <a:srgbClr val="404040"/>
                </a:solidFill>
                <a:effectLst/>
                <a:latin typeface="Inter"/>
              </a:rPr>
              <a:t> </a:t>
            </a:r>
            <a:r>
              <a:rPr lang="en-US" b="0" i="0" dirty="0" err="1">
                <a:solidFill>
                  <a:srgbClr val="404040"/>
                </a:solidFill>
                <a:effectLst/>
                <a:latin typeface="Inter"/>
              </a:rPr>
              <a:t>đó</a:t>
            </a:r>
            <a:r>
              <a:rPr lang="en-US" b="0" i="0" dirty="0">
                <a:solidFill>
                  <a:srgbClr val="404040"/>
                </a:solidFill>
                <a:effectLst/>
                <a:latin typeface="Inter"/>
              </a:rPr>
              <a:t> </a:t>
            </a:r>
            <a:r>
              <a:rPr lang="en-US" b="0" i="0" dirty="0" err="1">
                <a:solidFill>
                  <a:srgbClr val="404040"/>
                </a:solidFill>
                <a:effectLst/>
                <a:latin typeface="Inter"/>
              </a:rPr>
              <a:t>đang</a:t>
            </a:r>
            <a:r>
              <a:rPr lang="en-US" b="0" i="0" dirty="0">
                <a:solidFill>
                  <a:srgbClr val="404040"/>
                </a:solidFill>
                <a:effectLst/>
                <a:latin typeface="Inter"/>
              </a:rPr>
              <a:t> </a:t>
            </a:r>
            <a:r>
              <a:rPr lang="en-US" b="0" i="0" dirty="0" err="1">
                <a:solidFill>
                  <a:srgbClr val="404040"/>
                </a:solidFill>
                <a:effectLst/>
                <a:latin typeface="Inter"/>
              </a:rPr>
              <a:t>bận</a:t>
            </a:r>
            <a:r>
              <a:rPr lang="en-US" b="0" i="0" dirty="0">
                <a:solidFill>
                  <a:srgbClr val="404040"/>
                </a:solidFill>
                <a:effectLst/>
                <a:latin typeface="Inter"/>
              </a:rPr>
              <a:t>, </a:t>
            </a:r>
            <a:r>
              <a:rPr lang="en-US" b="0" i="0" dirty="0" err="1">
                <a:solidFill>
                  <a:srgbClr val="404040"/>
                </a:solidFill>
                <a:effectLst/>
                <a:latin typeface="Inter"/>
              </a:rPr>
              <a:t>thì</a:t>
            </a:r>
            <a:r>
              <a:rPr lang="en-US" b="0" i="0" dirty="0">
                <a:solidFill>
                  <a:srgbClr val="404040"/>
                </a:solidFill>
                <a:effectLst/>
                <a:latin typeface="Inter"/>
              </a:rPr>
              <a:t> </a:t>
            </a:r>
            <a:r>
              <a:rPr lang="en-US" b="0" i="0" dirty="0" err="1">
                <a:solidFill>
                  <a:srgbClr val="404040"/>
                </a:solidFill>
                <a:effectLst/>
                <a:latin typeface="Inter"/>
              </a:rPr>
              <a:t>rõ</a:t>
            </a:r>
            <a:r>
              <a:rPr lang="en-US" b="0" i="0" dirty="0">
                <a:solidFill>
                  <a:srgbClr val="404040"/>
                </a:solidFill>
                <a:effectLst/>
                <a:latin typeface="Inter"/>
              </a:rPr>
              <a:t> </a:t>
            </a:r>
            <a:r>
              <a:rPr lang="en-US" b="0" i="0" dirty="0" err="1">
                <a:solidFill>
                  <a:srgbClr val="404040"/>
                </a:solidFill>
                <a:effectLst/>
                <a:latin typeface="Inter"/>
              </a:rPr>
              <a:t>ràng</a:t>
            </a:r>
            <a:r>
              <a:rPr lang="en-US" b="0" i="0" dirty="0">
                <a:solidFill>
                  <a:srgbClr val="404040"/>
                </a:solidFill>
                <a:effectLst/>
                <a:latin typeface="Inter"/>
              </a:rPr>
              <a:t>:</a:t>
            </a:r>
          </a:p>
          <a:p>
            <a:endParaRPr lang="en-US" b="0" i="0" dirty="0">
              <a:solidFill>
                <a:srgbClr val="404040"/>
              </a:solidFill>
              <a:effectLst/>
              <a:latin typeface="Inter"/>
            </a:endParaRPr>
          </a:p>
          <a:p>
            <a:r>
              <a:rPr lang="vi-VN" dirty="0">
                <a:effectLst/>
              </a:rPr>
              <a:t>Chúng ta có thể tính toán </a:t>
            </a:r>
            <a:r>
              <a:rPr lang="vi-VN" b="1" dirty="0">
                <a:effectLst/>
              </a:rPr>
              <a:t>số lượng yêu cầu trung bình N</a:t>
            </a:r>
            <a:r>
              <a:rPr lang="vi-VN" dirty="0">
                <a:effectLst/>
              </a:rPr>
              <a:t> trong hệ thống như sau:</a:t>
            </a:r>
          </a:p>
          <a:p>
            <a:pPr marL="0" marR="0" lvl="0" indent="0" algn="l" defTabSz="914400" rtl="0" eaLnBrk="1" fontAlgn="auto" latinLnBrk="0" hangingPunct="1">
              <a:lnSpc>
                <a:spcPct val="100000"/>
              </a:lnSpc>
              <a:spcBef>
                <a:spcPts val="0"/>
              </a:spcBef>
              <a:spcAft>
                <a:spcPts val="0"/>
              </a:spcAft>
              <a:buClrTx/>
              <a:buSzTx/>
              <a:buFontTx/>
              <a:buNone/>
              <a:tabLst/>
              <a:defRPr/>
            </a:pPr>
            <a:br>
              <a:rPr lang="vi-VN" dirty="0">
                <a:solidFill>
                  <a:srgbClr val="4D6BFE"/>
                </a:solidFill>
                <a:effectLst/>
              </a:rPr>
            </a:br>
            <a:r>
              <a:rPr lang="vi-VN" dirty="0">
                <a:effectLst/>
              </a:rPr>
              <a:t>Điều chúng ta thực sự quan tâm là </a:t>
            </a:r>
            <a:r>
              <a:rPr lang="vi-VN" b="1" dirty="0">
                <a:effectLst/>
              </a:rPr>
              <a:t>thời gian phản hồi R</a:t>
            </a:r>
            <a:r>
              <a:rPr lang="vi-VN" dirty="0">
                <a:effectLst/>
              </a:rPr>
              <a:t>: khoảng thời gian cần thiết để dịch vụ xử lý một yêu cầu, bao gồm cả thời gian chờ trong hàng đợi. Để tính toán điều này, chúng ta cần biết </a:t>
            </a:r>
            <a:r>
              <a:rPr lang="vi-VN" b="1" dirty="0">
                <a:effectLst/>
              </a:rPr>
              <a:t>thông lượng trung bình X</a:t>
            </a:r>
            <a:r>
              <a:rPr lang="vi-VN" dirty="0">
                <a:effectLst/>
              </a:rPr>
              <a:t>. Xét rằng dịch vụ được coi là "bận" khi có ít nhất một yêu cầu đang được xử lý, và điều này xảy ra với thông lượng µ yêu cầu mỗi giây trong một khoảng thời gian chiếm tỷ lệ U so với tổng thời gian, chúng ta có:</a:t>
            </a:r>
            <a:r>
              <a:rPr lang="en-US" dirty="0">
                <a:effectLst/>
              </a:rPr>
              <a:t> </a:t>
            </a:r>
            <a:r>
              <a:rPr lang="vi-VN" b="1" dirty="0">
                <a:effectLst/>
              </a:rPr>
              <a:t>thông lượng trung bình X</a:t>
            </a:r>
            <a:endParaRPr lang="vi-VN" dirty="0">
              <a:effectLst/>
            </a:endParaRP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26</a:t>
            </a:fld>
            <a:endParaRPr lang="en-US"/>
          </a:p>
        </p:txBody>
      </p:sp>
    </p:spTree>
    <p:extLst>
      <p:ext uri="{BB962C8B-B14F-4D97-AF65-F5344CB8AC3E}">
        <p14:creationId xmlns:p14="http://schemas.microsoft.com/office/powerpoint/2010/main" val="3403252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dirty="0">
                <a:solidFill>
                  <a:srgbClr val="4D6BFE"/>
                </a:solidFill>
                <a:effectLst/>
              </a:rPr>
            </a:br>
            <a:r>
              <a:rPr lang="vi-VN" dirty="0">
                <a:effectLst/>
              </a:rPr>
              <a:t>Thời gian phản hồi: tổng thời gian cần thiết để xử lý một yêu cầu sau khi nó được gửi đi.</a:t>
            </a:r>
          </a:p>
          <a:p>
            <a:pPr algn="l"/>
            <a:br>
              <a:rPr lang="vi-VN" dirty="0">
                <a:solidFill>
                  <a:srgbClr val="4D6BFE"/>
                </a:solidFill>
                <a:effectLst/>
              </a:rPr>
            </a:br>
            <a:r>
              <a:rPr lang="vi-VN" b="1" i="0" dirty="0">
                <a:solidFill>
                  <a:srgbClr val="404040"/>
                </a:solidFill>
                <a:effectLst/>
                <a:latin typeface="Inter"/>
              </a:rPr>
              <a:t>Nhận xét</a:t>
            </a:r>
          </a:p>
          <a:p>
            <a:pPr algn="l">
              <a:buFont typeface="+mj-lt"/>
              <a:buAutoNum type="arabicPeriod"/>
            </a:pPr>
            <a:r>
              <a:rPr lang="vi-VN" b="1" i="0" dirty="0">
                <a:solidFill>
                  <a:srgbClr val="404040"/>
                </a:solidFill>
                <a:effectLst/>
                <a:latin typeface="Inter"/>
              </a:rPr>
              <a:t>Nếu U nhỏ</a:t>
            </a:r>
            <a:r>
              <a:rPr lang="vi-VN" b="0" i="0" dirty="0">
                <a:solidFill>
                  <a:srgbClr val="404040"/>
                </a:solidFill>
                <a:effectLst/>
                <a:latin typeface="Inter"/>
              </a:rPr>
              <a:t>: Thời gian phản hồi gần bằng thời gian xử lý (tỷ lệ phản hồi so với thời gian xử lý gần bằng 1). Điều này có nghĩa là yêu cầu được xử lý ngay lập tức mà không cần chờ đợi.</a:t>
            </a:r>
          </a:p>
          <a:p>
            <a:pPr algn="l">
              <a:buFont typeface="+mj-lt"/>
              <a:buAutoNum type="arabicPeriod"/>
            </a:pPr>
            <a:r>
              <a:rPr lang="vi-VN" b="1" i="0" dirty="0">
                <a:solidFill>
                  <a:srgbClr val="404040"/>
                </a:solidFill>
                <a:effectLst/>
                <a:latin typeface="Inter"/>
              </a:rPr>
              <a:t>Nếu U tiến gần đến 1</a:t>
            </a:r>
            <a:r>
              <a:rPr lang="vi-VN" b="0" i="0" dirty="0">
                <a:solidFill>
                  <a:srgbClr val="404040"/>
                </a:solidFill>
                <a:effectLst/>
                <a:latin typeface="Inter"/>
              </a:rPr>
              <a:t>: Hệ thống sẽ bị tắc nghẽn và gần như ngừng hoạt động. Để giải quyết vấn đề này, cần </a:t>
            </a:r>
            <a:r>
              <a:rPr lang="vi-VN" b="1" i="0" dirty="0">
                <a:solidFill>
                  <a:srgbClr val="404040"/>
                </a:solidFill>
                <a:effectLst/>
                <a:latin typeface="Inter"/>
              </a:rPr>
              <a:t>giảm thời gian xử lý (S)</a:t>
            </a:r>
            <a:r>
              <a:rPr lang="vi-VN" b="0" i="0" dirty="0">
                <a:solidFill>
                  <a:srgbClr val="404040"/>
                </a:solidFill>
                <a:effectLst/>
                <a:latin typeface="Inter"/>
              </a:rPr>
              <a:t> hoặc tăng khả năng xử lý (µ) để giảm tải cho hệ thống.</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27</a:t>
            </a:fld>
            <a:endParaRPr lang="en-US"/>
          </a:p>
        </p:txBody>
      </p:sp>
    </p:spTree>
    <p:extLst>
      <p:ext uri="{BB962C8B-B14F-4D97-AF65-F5344CB8AC3E}">
        <p14:creationId xmlns:p14="http://schemas.microsoft.com/office/powerpoint/2010/main" val="152008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Không thể đơn giản chuyển từ LAN sang WAN</a:t>
            </a:r>
          </a:p>
          <a:p>
            <a:pPr algn="l"/>
            <a:r>
              <a:rPr lang="vi-VN" b="0" i="0" dirty="0">
                <a:solidFill>
                  <a:srgbClr val="404040"/>
                </a:solidFill>
                <a:effectLst/>
                <a:latin typeface="Inter"/>
              </a:rPr>
              <a:t>Nhiều hệ thống phân tán giả định các tương tác đồng bộ giữa client và server: client gửi yêu cầu và chờ phản hồi. Tuy nhiên, độ trễ (latency) trong mạng WAN có thể dễ dàng làm cho mô hình này không khả thi.</a:t>
            </a:r>
          </a:p>
          <a:p>
            <a:pPr algn="l"/>
            <a:r>
              <a:rPr lang="vi-VN" b="1" i="0" dirty="0">
                <a:solidFill>
                  <a:srgbClr val="404040"/>
                </a:solidFill>
                <a:effectLst/>
                <a:latin typeface="Inter"/>
              </a:rPr>
              <a:t>Các vấn đề cụ thể khi chuyển từ LAN sang WAN</a:t>
            </a:r>
          </a:p>
          <a:p>
            <a:pPr algn="l">
              <a:buFont typeface="+mj-lt"/>
              <a:buAutoNum type="arabicPeriod"/>
            </a:pPr>
            <a:r>
              <a:rPr lang="vi-VN" b="1" i="0" dirty="0">
                <a:solidFill>
                  <a:srgbClr val="404040"/>
                </a:solidFill>
                <a:effectLst/>
                <a:latin typeface="Inter"/>
              </a:rPr>
              <a:t>Độ trễ cao</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Trong mạng LAN, độ trễ thường thấp, cho phép các tương tác đồng bộ diễn ra nhanh chóng.</a:t>
            </a:r>
          </a:p>
          <a:p>
            <a:pPr marL="742950" lvl="1" indent="-285750" algn="l">
              <a:buFont typeface="+mj-lt"/>
              <a:buAutoNum type="arabicPeriod"/>
            </a:pPr>
            <a:r>
              <a:rPr lang="vi-VN" b="0" i="0" dirty="0">
                <a:solidFill>
                  <a:srgbClr val="404040"/>
                </a:solidFill>
                <a:effectLst/>
                <a:latin typeface="Inter"/>
              </a:rPr>
              <a:t>Trong mạng WAN, độ trễ cao có thể khiến việc chờ phản hồi trở nên không thực tế, đặc biệt là với các ứng dụng yêu cầu thời gian thực.</a:t>
            </a:r>
          </a:p>
          <a:p>
            <a:pPr algn="l">
              <a:buFont typeface="+mj-lt"/>
              <a:buAutoNum type="arabicPeriod"/>
            </a:pPr>
            <a:r>
              <a:rPr lang="vi-VN" b="1" i="0" dirty="0">
                <a:solidFill>
                  <a:srgbClr val="404040"/>
                </a:solidFill>
                <a:effectLst/>
                <a:latin typeface="Inter"/>
              </a:rPr>
              <a:t>Độ tin cậy thấp của các liên kết WAN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liên kết WAN thường không ổn định, dễ bị gián đoạn hoặc mất kết nối.</a:t>
            </a:r>
          </a:p>
          <a:p>
            <a:pPr marL="742950" lvl="1" indent="-285750" algn="l">
              <a:buFont typeface="+mj-lt"/>
              <a:buAutoNum type="arabicPeriod"/>
            </a:pPr>
            <a:r>
              <a:rPr lang="vi-VN" b="0" i="0" dirty="0">
                <a:solidFill>
                  <a:srgbClr val="404040"/>
                </a:solidFill>
                <a:effectLst/>
                <a:latin typeface="Inter"/>
              </a:rPr>
              <a:t>Ví dụ: Việc chuyển video streaming từ LAN sang WAN có thể thất bại do chất lượng mạng không đảm bảo.</a:t>
            </a:r>
          </a:p>
          <a:p>
            <a:pPr algn="l">
              <a:buFont typeface="+mj-lt"/>
              <a:buAutoNum type="arabicPeriod"/>
            </a:pPr>
            <a:r>
              <a:rPr lang="vi-VN" b="1" i="0" dirty="0">
                <a:solidFill>
                  <a:srgbClr val="404040"/>
                </a:solidFill>
                <a:effectLst/>
                <a:latin typeface="Inter"/>
              </a:rPr>
              <a:t>Thiếu hỗ trợ giao tiếp đa điểm (multipoint communication)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Trong mạng LAN, việc phát sóng (broadcast) một yêu cầu tìm kiếm đến tất cả các nút là dễ dàng.</a:t>
            </a:r>
          </a:p>
          <a:p>
            <a:pPr marL="742950" lvl="1" indent="-285750" algn="l">
              <a:buFont typeface="+mj-lt"/>
              <a:buAutoNum type="arabicPeriod"/>
            </a:pPr>
            <a:r>
              <a:rPr lang="vi-VN" b="0" i="0" dirty="0">
                <a:solidFill>
                  <a:srgbClr val="404040"/>
                </a:solidFill>
                <a:effectLst/>
                <a:latin typeface="Inter"/>
              </a:rPr>
              <a:t>Trong mạng WAN, việc này không khả thi do hạn chế về băng thông và độ trễ.</a:t>
            </a:r>
          </a:p>
          <a:p>
            <a:pPr marL="742950" lvl="1" indent="-285750" algn="l">
              <a:buFont typeface="+mj-lt"/>
              <a:buAutoNum type="arabicPeriod"/>
            </a:pPr>
            <a:r>
              <a:rPr lang="vi-VN" b="0" i="0" dirty="0">
                <a:solidFill>
                  <a:srgbClr val="404040"/>
                </a:solidFill>
                <a:effectLst/>
                <a:latin typeface="Inter"/>
              </a:rPr>
              <a:t>Giải pháp: Phát triển các dịch vụ đặt tên (naming) và thư mục (directory) riêng biệt, mặc dù các dịch vụ này cũng có vấn đề về khả năng mở rộng.</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28</a:t>
            </a:fld>
            <a:endParaRPr lang="en-US"/>
          </a:p>
        </p:txBody>
      </p:sp>
    </p:spTree>
    <p:extLst>
      <p:ext uri="{BB962C8B-B14F-4D97-AF65-F5344CB8AC3E}">
        <p14:creationId xmlns:p14="http://schemas.microsoft.com/office/powerpoint/2010/main" val="4030358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Vấn đề về khả năng mở rộng </a:t>
            </a:r>
            <a:r>
              <a:rPr lang="en-US" b="1" dirty="0" err="1"/>
              <a:t>quản</a:t>
            </a:r>
            <a:r>
              <a:rPr lang="en-US" b="1" dirty="0"/>
              <a:t> </a:t>
            </a:r>
            <a:r>
              <a:rPr lang="en-US" b="1" dirty="0" err="1"/>
              <a:t>trị</a:t>
            </a:r>
            <a:r>
              <a:rPr lang="vi-VN" b="1" dirty="0"/>
              <a:t>:</a:t>
            </a:r>
            <a:endParaRPr lang="en-US" b="1" dirty="0"/>
          </a:p>
          <a:p>
            <a:r>
              <a:rPr lang="en-US" b="1" dirty="0" err="1"/>
              <a:t>Về</a:t>
            </a:r>
            <a:r>
              <a:rPr lang="vi-VN" b="1" dirty="0"/>
              <a:t> Bản chất</a:t>
            </a:r>
            <a:r>
              <a:rPr lang="en-US" b="1" dirty="0"/>
              <a:t> </a:t>
            </a:r>
            <a:r>
              <a:rPr lang="en-US" b="1" dirty="0" err="1"/>
              <a:t>đó</a:t>
            </a:r>
            <a:r>
              <a:rPr lang="en-US" b="1" dirty="0"/>
              <a:t> </a:t>
            </a:r>
            <a:r>
              <a:rPr lang="en-US" b="1" dirty="0" err="1"/>
              <a:t>là</a:t>
            </a:r>
            <a:r>
              <a:rPr lang="en-US" b="1" dirty="0"/>
              <a:t> </a:t>
            </a:r>
            <a:r>
              <a:rPr lang="vi-VN" b="1" dirty="0"/>
              <a:t>Mâu thuẫn trong các chính sách liên quan đến:</a:t>
            </a:r>
          </a:p>
          <a:p>
            <a:pPr>
              <a:buFont typeface="Arial" panose="020B0604020202020204" pitchFamily="34" charset="0"/>
              <a:buChar char="•"/>
            </a:pPr>
            <a:r>
              <a:rPr lang="vi-VN" dirty="0"/>
              <a:t>Việc sử dụng (và do đó là thanh toán)</a:t>
            </a:r>
          </a:p>
          <a:p>
            <a:pPr>
              <a:buFont typeface="Arial" panose="020B0604020202020204" pitchFamily="34" charset="0"/>
              <a:buChar char="•"/>
            </a:pPr>
            <a:r>
              <a:rPr lang="vi-VN" dirty="0"/>
              <a:t>Quản lý</a:t>
            </a:r>
          </a:p>
          <a:p>
            <a:pPr>
              <a:buFont typeface="Arial" panose="020B0604020202020204" pitchFamily="34" charset="0"/>
              <a:buChar char="•"/>
            </a:pPr>
            <a:r>
              <a:rPr lang="vi-VN" dirty="0"/>
              <a:t>Bảo mật</a:t>
            </a:r>
          </a:p>
          <a:p>
            <a:r>
              <a:rPr lang="vi-VN" b="1" dirty="0"/>
              <a:t>Ví dụ:</a:t>
            </a:r>
          </a:p>
          <a:p>
            <a:pPr>
              <a:buFont typeface="Arial" panose="020B0604020202020204" pitchFamily="34" charset="0"/>
              <a:buChar char="•"/>
            </a:pPr>
            <a:r>
              <a:rPr lang="vi-VN" b="1" dirty="0"/>
              <a:t>Lưới tính toán</a:t>
            </a:r>
            <a:r>
              <a:rPr lang="vi-VN" dirty="0"/>
              <a:t>: Chia sẻ tài nguyên đắt đỏ giữa các miền khác nhau.</a:t>
            </a:r>
          </a:p>
          <a:p>
            <a:pPr>
              <a:buFont typeface="Arial" panose="020B0604020202020204" pitchFamily="34" charset="0"/>
              <a:buChar char="•"/>
            </a:pPr>
            <a:r>
              <a:rPr lang="vi-VN" b="1" dirty="0"/>
              <a:t>Thiết bị dùng chung</a:t>
            </a:r>
            <a:r>
              <a:rPr lang="vi-VN" dirty="0"/>
              <a:t>: Làm thế nào để kiểm soát, quản lý và sử dụng một kính thiên văn vô tuyến được xây dựng như một mạng cảm biến quy mô lớn dùng chung?</a:t>
            </a:r>
          </a:p>
          <a:p>
            <a:r>
              <a:rPr lang="vi-VN" b="1" dirty="0"/>
              <a:t>Ngoại lệ: Một số mạng ngang hàng (peer-to-peer)</a:t>
            </a:r>
          </a:p>
          <a:p>
            <a:pPr>
              <a:buFont typeface="Arial" panose="020B0604020202020204" pitchFamily="34" charset="0"/>
              <a:buChar char="•"/>
            </a:pPr>
            <a:r>
              <a:rPr lang="vi-VN" b="1" dirty="0"/>
              <a:t>Hệ thống chia sẻ tệp</a:t>
            </a:r>
            <a:r>
              <a:rPr lang="vi-VN" dirty="0"/>
              <a:t> (dựa trên BitTorrent, v.v.)</a:t>
            </a:r>
          </a:p>
          <a:p>
            <a:pPr>
              <a:buFont typeface="Arial" panose="020B0604020202020204" pitchFamily="34" charset="0"/>
              <a:buChar char="•"/>
            </a:pPr>
            <a:r>
              <a:rPr lang="vi-VN" b="1" dirty="0"/>
              <a:t>Điện thoại ngang hàng</a:t>
            </a:r>
            <a:r>
              <a:rPr lang="vi-VN" dirty="0"/>
              <a:t> (Skype)</a:t>
            </a:r>
          </a:p>
          <a:p>
            <a:pPr>
              <a:buFont typeface="Arial" panose="020B0604020202020204" pitchFamily="34" charset="0"/>
              <a:buChar char="•"/>
            </a:pPr>
            <a:r>
              <a:rPr lang="vi-VN" b="1" dirty="0"/>
              <a:t>Phát trực tuyến âm thanh có hỗ trợ ngang hàng</a:t>
            </a:r>
            <a:r>
              <a:rPr lang="vi-VN" dirty="0"/>
              <a:t> (Spotify)</a:t>
            </a:r>
          </a:p>
          <a:p>
            <a:r>
              <a:rPr lang="vi-VN" b="1" dirty="0"/>
              <a:t>Lưu ý:</a:t>
            </a:r>
            <a:r>
              <a:rPr lang="vi-VN" dirty="0"/>
              <a:t> Người dùng cuối hợp tác với nhau, không phải các thực thể hành chính.</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29</a:t>
            </a:fld>
            <a:endParaRPr lang="en-US"/>
          </a:p>
        </p:txBody>
      </p:sp>
    </p:spTree>
    <p:extLst>
      <p:ext uri="{BB962C8B-B14F-4D97-AF65-F5344CB8AC3E}">
        <p14:creationId xmlns:p14="http://schemas.microsoft.com/office/powerpoint/2010/main" val="17567527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Ẩn độ trễ truyền thông</a:t>
            </a:r>
          </a:p>
          <a:p>
            <a:r>
              <a:rPr lang="vi-VN" dirty="0"/>
              <a:t>Ẩn độ trễ truyền thông đặc biệt quan trọng trong trường hợp </a:t>
            </a:r>
            <a:r>
              <a:rPr lang="vi-VN" b="1" dirty="0"/>
              <a:t>khả năng mở rộng theo địa lý</a:t>
            </a:r>
            <a:r>
              <a:rPr lang="vi-VN" dirty="0"/>
              <a:t>. Ý tưởng cơ bản rất đơn giản: cố gắng tránh chờ đợi phản hồi từ các yêu cầu dịch vụ từ xa càng nhiều càng tốt.</a:t>
            </a:r>
          </a:p>
          <a:p>
            <a:r>
              <a:rPr lang="vi-VN" dirty="0"/>
              <a:t>Ví dụ, khi một dịch vụ được yêu cầu trên một máy từ xa, thay vì chờ đợi phản hồi từ máy chủ, ta có thể thực hiện các công việc khác tại phía máy yêu cầu. Điều này có nghĩa là ứng dụng yêu cầu cần được thiết kế để sử dụng </a:t>
            </a:r>
            <a:r>
              <a:rPr lang="vi-VN" b="1" dirty="0"/>
              <a:t>giao tiếp bất đồng bộ</a:t>
            </a:r>
            <a:r>
              <a:rPr lang="vi-VN" dirty="0"/>
              <a:t>. Khi phản hồi đến, ứng dụng sẽ bị gián đoạn và một trình xử lý đặc biệt sẽ được gọi để hoàn thành yêu cầu trước đó.</a:t>
            </a:r>
          </a:p>
          <a:p>
            <a:r>
              <a:rPr lang="vi-VN" dirty="0"/>
              <a:t>Giao tiếp bất đồng bộ thường được sử dụng trong:</a:t>
            </a:r>
          </a:p>
          <a:p>
            <a:pPr>
              <a:buFont typeface="Arial" panose="020B0604020202020204" pitchFamily="34" charset="0"/>
              <a:buChar char="•"/>
            </a:pPr>
            <a:r>
              <a:rPr lang="vi-VN" b="1" dirty="0"/>
              <a:t>Hệ thống xử lý theo lô</a:t>
            </a:r>
            <a:endParaRPr lang="vi-VN" dirty="0"/>
          </a:p>
          <a:p>
            <a:pPr>
              <a:buFont typeface="Arial" panose="020B0604020202020204" pitchFamily="34" charset="0"/>
              <a:buChar char="•"/>
            </a:pPr>
            <a:r>
              <a:rPr lang="vi-VN" b="1" dirty="0"/>
              <a:t>Ứng dụng song song</a:t>
            </a:r>
            <a:r>
              <a:rPr lang="vi-VN" dirty="0"/>
              <a:t>, nơi các tác vụ độc lập có thể được lên lịch thực thi trong khi một tác vụ khác đang chờ phản hồi</a:t>
            </a:r>
          </a:p>
          <a:p>
            <a:r>
              <a:rPr lang="vi-VN" dirty="0"/>
              <a:t>Một cách tiếp cận khác là </a:t>
            </a:r>
            <a:r>
              <a:rPr lang="vi-VN" b="1" dirty="0"/>
              <a:t>tạo một luồng mới để xử lý yêu cầu</a:t>
            </a:r>
            <a:r>
              <a:rPr lang="vi-VN" dirty="0"/>
              <a:t>. Dù luồng đó có thể bị chặn khi chờ phản hồi, các luồng khác trong cùng tiến trình vẫn có thể tiếp tục thực thi.</a:t>
            </a:r>
          </a:p>
          <a:p>
            <a:r>
              <a:rPr lang="vi-VN" dirty="0"/>
              <a:t>Tuy nhiên, nhiều ứng dụng không thể tận dụng tốt giao tiếp bất đồng bộ. Ví dụ, trong các </a:t>
            </a:r>
            <a:r>
              <a:rPr lang="vi-VN" b="1" dirty="0"/>
              <a:t>ứng dụng tương tác</a:t>
            </a:r>
            <a:r>
              <a:rPr lang="vi-VN" dirty="0"/>
              <a:t>, khi người dùng gửi yêu cầu, họ thường không có việc gì khác để làm ngoài việc chờ phản hồi. Trong những trường hợp này, </a:t>
            </a:r>
            <a:r>
              <a:rPr lang="vi-VN" b="1" dirty="0"/>
              <a:t>giải pháp tốt hơn là giảm thiểu tổng số lần truyền thông</a:t>
            </a:r>
            <a:r>
              <a:rPr lang="vi-VN" dirty="0"/>
              <a:t>, bằng cách di chuyển một phần xử lý thường được thực hiện trên máy chủ sang phía máy khách.</a:t>
            </a:r>
          </a:p>
          <a:p>
            <a:r>
              <a:rPr lang="vi-VN" dirty="0"/>
              <a:t>Một ví dụ điển hình là </a:t>
            </a:r>
            <a:r>
              <a:rPr lang="vi-VN" b="1" dirty="0"/>
              <a:t>truy vấn cơ sở dữ liệu bằng biểu mẫu</a:t>
            </a:r>
            <a:r>
              <a:rPr lang="vi-VN" dirty="0"/>
              <a:t>. Có hai cách tiếp cận:</a:t>
            </a:r>
          </a:p>
          <a:p>
            <a:pPr>
              <a:buFont typeface="+mj-lt"/>
              <a:buAutoNum type="arabicPeriod"/>
            </a:pPr>
            <a:r>
              <a:rPr lang="vi-VN" b="1" dirty="0"/>
              <a:t>Cách tiếp cận kém hiệu quả</a:t>
            </a:r>
            <a:r>
              <a:rPr lang="vi-VN" dirty="0"/>
              <a:t>: Gửi từng trường của biểu mẫu riêng lẻ và chờ phản hồi từ máy chủ sau mỗi lần nhập dữ liệu. Ví dụ, máy chủ có thể kiểm tra lỗi cú pháp trước khi chấp nhận dữ liệu.</a:t>
            </a:r>
          </a:p>
          <a:p>
            <a:pPr>
              <a:buFont typeface="+mj-lt"/>
              <a:buAutoNum type="arabicPeriod"/>
            </a:pPr>
            <a:r>
              <a:rPr lang="vi-VN" b="1" dirty="0"/>
              <a:t>Cách tiếp cận hiệu quả hơn</a:t>
            </a:r>
            <a:r>
              <a:rPr lang="vi-VN" dirty="0"/>
              <a:t>: Gửi toàn bộ mã xử lý biểu mẫu (bao gồm cả kiểm tra lỗi) đến máy khách. Máy khách thực hiện quá trình nhập dữ liệu và chỉ gửi lại biểu mẫu hoàn chỉnh khi hoàn tất.</a:t>
            </a:r>
          </a:p>
          <a:p>
            <a:r>
              <a:rPr lang="vi-VN"/>
              <a:t>Cách tiếp cận thứ hai – còn gọi là </a:t>
            </a:r>
            <a:r>
              <a:rPr lang="vi-VN" b="1"/>
              <a:t>gửi mã xuống máy khách (code shipping)</a:t>
            </a:r>
            <a:r>
              <a:rPr lang="vi-VN"/>
              <a:t> – được Web hỗ trợ rộng rãi thông qua </a:t>
            </a:r>
            <a:r>
              <a:rPr lang="vi-VN" b="1"/>
              <a:t>Java applet và JavaScript</a:t>
            </a:r>
            <a:r>
              <a:rPr lang="vi-VN"/>
              <a:t>.</a:t>
            </a:r>
          </a:p>
          <a:p>
            <a:endParaRPr lang="en-US"/>
          </a:p>
        </p:txBody>
      </p:sp>
      <p:sp>
        <p:nvSpPr>
          <p:cNvPr id="4" name="Slide Number Placeholder 3"/>
          <p:cNvSpPr>
            <a:spLocks noGrp="1"/>
          </p:cNvSpPr>
          <p:nvPr>
            <p:ph type="sldNum" sz="quarter" idx="5"/>
          </p:nvPr>
        </p:nvSpPr>
        <p:spPr/>
        <p:txBody>
          <a:bodyPr/>
          <a:lstStyle/>
          <a:p>
            <a:fld id="{2462E6CA-8440-45F5-A3AE-62AA54DA537F}" type="slidenum">
              <a:rPr lang="en-US" smtClean="0"/>
              <a:t>30</a:t>
            </a:fld>
            <a:endParaRPr lang="en-US"/>
          </a:p>
        </p:txBody>
      </p:sp>
    </p:spTree>
    <p:extLst>
      <p:ext uri="{BB962C8B-B14F-4D97-AF65-F5344CB8AC3E}">
        <p14:creationId xmlns:p14="http://schemas.microsoft.com/office/powerpoint/2010/main" val="2796783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404040"/>
                </a:solidFill>
                <a:effectLst/>
                <a:latin typeface="Inter"/>
              </a:rPr>
              <a:t>Hình vẽ trên minh họa các kỹ thuật mở rộng hệ thống phân tán bằng cách di chuyển các tính toán từ máy chủ (server) sang máy khách (client). Điều này giúp giảm tải cho máy chủ và cải thiện hiệu suất tổng thể của hệ thống. </a:t>
            </a:r>
            <a:endParaRPr lang="en-US" b="0" i="0" dirty="0">
              <a:solidFill>
                <a:srgbClr val="404040"/>
              </a:solidFill>
              <a:effectLst/>
              <a:latin typeface="Inter"/>
            </a:endParaRPr>
          </a:p>
          <a:p>
            <a:r>
              <a:rPr lang="vi-VN" b="0" i="0" dirty="0">
                <a:solidFill>
                  <a:srgbClr val="404040"/>
                </a:solidFill>
                <a:effectLst/>
                <a:latin typeface="Inter"/>
              </a:rPr>
              <a:t>Trong hình vẽ, thông tin biểu mẫu (FIRST NAME, LAST NAME, E-MAIL) được client gửi đến server để kiểm tra và xử lý. Bằng cách di chuyển một phần quá trình kiểm tra sang client, server chỉ cần xử lý các yêu cầu đã được kiểm tra sơ bộ, giúp tối ưu hóa hiệu suất.</a:t>
            </a: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31</a:t>
            </a:fld>
            <a:endParaRPr lang="en-US"/>
          </a:p>
        </p:txBody>
      </p:sp>
    </p:spTree>
    <p:extLst>
      <p:ext uri="{BB962C8B-B14F-4D97-AF65-F5344CB8AC3E}">
        <p14:creationId xmlns:p14="http://schemas.microsoft.com/office/powerpoint/2010/main" val="41874275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vi-VN" b="1" i="0" dirty="0">
                <a:solidFill>
                  <a:srgbClr val="404040"/>
                </a:solidFill>
                <a:effectLst/>
                <a:latin typeface="Inter"/>
              </a:rPr>
              <a:t>Phân vùng dữ liệu và tính toán</a:t>
            </a:r>
            <a:r>
              <a:rPr lang="vi-VN" b="0" i="0" dirty="0">
                <a:solidFill>
                  <a:srgbClr val="404040"/>
                </a:solidFill>
                <a:effectLst/>
                <a:latin typeface="Inter"/>
              </a:rPr>
              <a:t>: Đây là quá trình chia nhỏ dữ liệu và các tác vụ tính toán thành các phần nhỏ hơn và phân phối chúng trên nhiều máy khác nhau trong hệ thống phân tán. Điều này giúp cân bằng tải và tăng hiệu suất tổng thể.</a:t>
            </a:r>
            <a:r>
              <a:rPr lang="en-US" b="0" i="0" dirty="0">
                <a:solidFill>
                  <a:srgbClr val="404040"/>
                </a:solidFill>
                <a:effectLst/>
                <a:latin typeface="Inter"/>
              </a:rPr>
              <a:t> </a:t>
            </a:r>
            <a:r>
              <a:rPr lang="en-US" b="0" i="0" dirty="0" err="1">
                <a:solidFill>
                  <a:srgbClr val="404040"/>
                </a:solidFill>
                <a:effectLst/>
                <a:latin typeface="Inter"/>
              </a:rPr>
              <a:t>Từ</a:t>
            </a:r>
            <a:r>
              <a:rPr lang="en-US" b="0" i="0" dirty="0">
                <a:solidFill>
                  <a:srgbClr val="404040"/>
                </a:solidFill>
                <a:effectLst/>
                <a:latin typeface="Inter"/>
              </a:rPr>
              <a:t> </a:t>
            </a:r>
            <a:r>
              <a:rPr lang="en-US" b="0" i="0" dirty="0" err="1">
                <a:solidFill>
                  <a:srgbClr val="404040"/>
                </a:solidFill>
                <a:effectLst/>
                <a:latin typeface="Inter"/>
              </a:rPr>
              <a:t>đó</a:t>
            </a:r>
            <a:r>
              <a:rPr lang="en-US" b="0" i="0" dirty="0">
                <a:solidFill>
                  <a:srgbClr val="404040"/>
                </a:solidFill>
                <a:effectLst/>
                <a:latin typeface="Inter"/>
              </a:rPr>
              <a:t>, </a:t>
            </a:r>
            <a:r>
              <a:rPr lang="en-US" b="0" i="0" dirty="0" err="1">
                <a:solidFill>
                  <a:srgbClr val="404040"/>
                </a:solidFill>
                <a:effectLst/>
                <a:latin typeface="Inter"/>
              </a:rPr>
              <a:t>cải</a:t>
            </a:r>
            <a:r>
              <a:rPr lang="en-US" b="0" i="0" dirty="0">
                <a:solidFill>
                  <a:srgbClr val="404040"/>
                </a:solidFill>
                <a:effectLst/>
                <a:latin typeface="Inter"/>
              </a:rPr>
              <a:t> </a:t>
            </a:r>
            <a:r>
              <a:rPr lang="en-US" b="0" i="0" dirty="0" err="1">
                <a:solidFill>
                  <a:srgbClr val="404040"/>
                </a:solidFill>
                <a:effectLst/>
                <a:latin typeface="Inter"/>
              </a:rPr>
              <a:t>thiện</a:t>
            </a:r>
            <a:r>
              <a:rPr lang="en-US" b="0" i="0" dirty="0">
                <a:solidFill>
                  <a:srgbClr val="404040"/>
                </a:solidFill>
                <a:effectLst/>
                <a:latin typeface="Inter"/>
              </a:rPr>
              <a:t> </a:t>
            </a:r>
            <a:r>
              <a:rPr lang="en-US" b="0" i="0" dirty="0" err="1">
                <a:solidFill>
                  <a:srgbClr val="404040"/>
                </a:solidFill>
                <a:effectLst/>
                <a:latin typeface="Inter"/>
              </a:rPr>
              <a:t>khả</a:t>
            </a:r>
            <a:r>
              <a:rPr lang="en-US" b="0" i="0" dirty="0">
                <a:solidFill>
                  <a:srgbClr val="404040"/>
                </a:solidFill>
                <a:effectLst/>
                <a:latin typeface="Inter"/>
              </a:rPr>
              <a:t> </a:t>
            </a:r>
            <a:r>
              <a:rPr lang="en-US" b="0" i="0" dirty="0" err="1">
                <a:solidFill>
                  <a:srgbClr val="404040"/>
                </a:solidFill>
                <a:effectLst/>
                <a:latin typeface="Inter"/>
              </a:rPr>
              <a:t>năng</a:t>
            </a:r>
            <a:r>
              <a:rPr lang="en-US" b="0" i="0" dirty="0">
                <a:solidFill>
                  <a:srgbClr val="404040"/>
                </a:solidFill>
                <a:effectLst/>
                <a:latin typeface="Inter"/>
              </a:rPr>
              <a:t> </a:t>
            </a:r>
            <a:r>
              <a:rPr lang="en-US" b="0" i="0" dirty="0" err="1">
                <a:solidFill>
                  <a:srgbClr val="404040"/>
                </a:solidFill>
                <a:effectLst/>
                <a:latin typeface="Inter"/>
              </a:rPr>
              <a:t>mở</a:t>
            </a:r>
            <a:r>
              <a:rPr lang="en-US" b="0" i="0" dirty="0">
                <a:solidFill>
                  <a:srgbClr val="404040"/>
                </a:solidFill>
                <a:effectLst/>
                <a:latin typeface="Inter"/>
              </a:rPr>
              <a:t> </a:t>
            </a:r>
            <a:r>
              <a:rPr lang="en-US" b="0" i="0" dirty="0" err="1">
                <a:solidFill>
                  <a:srgbClr val="404040"/>
                </a:solidFill>
                <a:effectLst/>
                <a:latin typeface="Inter"/>
              </a:rPr>
              <a:t>rộng</a:t>
            </a:r>
            <a:r>
              <a:rPr lang="en-US" b="0" i="0" dirty="0">
                <a:solidFill>
                  <a:srgbClr val="404040"/>
                </a:solidFill>
                <a:effectLst/>
                <a:latin typeface="Inter"/>
              </a:rPr>
              <a:t>, </a:t>
            </a:r>
            <a:r>
              <a:rPr lang="en-US" b="0" i="0" dirty="0" err="1">
                <a:solidFill>
                  <a:srgbClr val="404040"/>
                </a:solidFill>
                <a:effectLst/>
                <a:latin typeface="Inter"/>
              </a:rPr>
              <a:t>tăng</a:t>
            </a:r>
            <a:r>
              <a:rPr lang="en-US" b="0" i="0" dirty="0">
                <a:solidFill>
                  <a:srgbClr val="404040"/>
                </a:solidFill>
                <a:effectLst/>
                <a:latin typeface="Inter"/>
              </a:rPr>
              <a:t> </a:t>
            </a:r>
            <a:r>
              <a:rPr lang="en-US" b="0" i="0" dirty="0" err="1">
                <a:solidFill>
                  <a:srgbClr val="404040"/>
                </a:solidFill>
                <a:effectLst/>
                <a:latin typeface="Inter"/>
              </a:rPr>
              <a:t>tốc</a:t>
            </a:r>
            <a:r>
              <a:rPr lang="en-US" b="0" i="0" dirty="0">
                <a:solidFill>
                  <a:srgbClr val="404040"/>
                </a:solidFill>
                <a:effectLst/>
                <a:latin typeface="Inter"/>
              </a:rPr>
              <a:t> </a:t>
            </a:r>
            <a:r>
              <a:rPr lang="en-US" b="0" i="0" dirty="0" err="1">
                <a:solidFill>
                  <a:srgbClr val="404040"/>
                </a:solidFill>
                <a:effectLst/>
                <a:latin typeface="Inter"/>
              </a:rPr>
              <a:t>độ</a:t>
            </a:r>
            <a:r>
              <a:rPr lang="en-US" b="0" i="0" dirty="0">
                <a:solidFill>
                  <a:srgbClr val="404040"/>
                </a:solidFill>
                <a:effectLst/>
                <a:latin typeface="Inter"/>
              </a:rPr>
              <a:t> </a:t>
            </a:r>
            <a:r>
              <a:rPr lang="en-US" b="0" i="0" dirty="0" err="1">
                <a:solidFill>
                  <a:srgbClr val="404040"/>
                </a:solidFill>
                <a:effectLst/>
                <a:latin typeface="Inter"/>
              </a:rPr>
              <a:t>xử</a:t>
            </a:r>
            <a:r>
              <a:rPr lang="en-US" b="0" i="0" dirty="0">
                <a:solidFill>
                  <a:srgbClr val="404040"/>
                </a:solidFill>
                <a:effectLst/>
                <a:latin typeface="Inter"/>
              </a:rPr>
              <a:t> </a:t>
            </a:r>
            <a:r>
              <a:rPr lang="en-US" b="0" i="0" dirty="0" err="1">
                <a:solidFill>
                  <a:srgbClr val="404040"/>
                </a:solidFill>
                <a:effectLst/>
                <a:latin typeface="Inter"/>
              </a:rPr>
              <a:t>lý</a:t>
            </a:r>
            <a:r>
              <a:rPr lang="en-US" b="0" i="0" dirty="0">
                <a:solidFill>
                  <a:srgbClr val="404040"/>
                </a:solidFill>
                <a:effectLst/>
                <a:latin typeface="Inter"/>
              </a:rPr>
              <a:t> </a:t>
            </a:r>
            <a:r>
              <a:rPr lang="en-US" b="0" i="0" dirty="0" err="1">
                <a:solidFill>
                  <a:srgbClr val="404040"/>
                </a:solidFill>
                <a:effectLst/>
                <a:latin typeface="Inter"/>
              </a:rPr>
              <a:t>và</a:t>
            </a:r>
            <a:r>
              <a:rPr lang="en-US" b="0" i="0" dirty="0">
                <a:solidFill>
                  <a:srgbClr val="404040"/>
                </a:solidFill>
                <a:effectLst/>
                <a:latin typeface="Inter"/>
              </a:rPr>
              <a:t> </a:t>
            </a:r>
            <a:r>
              <a:rPr lang="en-US" b="0" i="0" dirty="0" err="1">
                <a:solidFill>
                  <a:srgbClr val="404040"/>
                </a:solidFill>
                <a:effectLst/>
                <a:latin typeface="Inter"/>
              </a:rPr>
              <a:t>đảm</a:t>
            </a:r>
            <a:r>
              <a:rPr lang="en-US" b="0" i="0" dirty="0">
                <a:solidFill>
                  <a:srgbClr val="404040"/>
                </a:solidFill>
                <a:effectLst/>
                <a:latin typeface="Inter"/>
              </a:rPr>
              <a:t> </a:t>
            </a:r>
            <a:r>
              <a:rPr lang="en-US" b="0" i="0" dirty="0" err="1">
                <a:solidFill>
                  <a:srgbClr val="404040"/>
                </a:solidFill>
                <a:effectLst/>
                <a:latin typeface="Inter"/>
              </a:rPr>
              <a:t>bảo</a:t>
            </a:r>
            <a:r>
              <a:rPr lang="en-US" b="0" i="0" dirty="0">
                <a:solidFill>
                  <a:srgbClr val="404040"/>
                </a:solidFill>
                <a:effectLst/>
                <a:latin typeface="Inter"/>
              </a:rPr>
              <a:t> </a:t>
            </a:r>
            <a:r>
              <a:rPr lang="en-US" b="0" i="0" dirty="0" err="1">
                <a:solidFill>
                  <a:srgbClr val="404040"/>
                </a:solidFill>
                <a:effectLst/>
                <a:latin typeface="Inter"/>
              </a:rPr>
              <a:t>tính</a:t>
            </a:r>
            <a:r>
              <a:rPr lang="en-US" b="0" i="0" dirty="0">
                <a:solidFill>
                  <a:srgbClr val="404040"/>
                </a:solidFill>
                <a:effectLst/>
                <a:latin typeface="Inter"/>
              </a:rPr>
              <a:t> </a:t>
            </a:r>
            <a:r>
              <a:rPr lang="en-US" b="0" i="0" dirty="0" err="1">
                <a:solidFill>
                  <a:srgbClr val="404040"/>
                </a:solidFill>
                <a:effectLst/>
                <a:latin typeface="Inter"/>
              </a:rPr>
              <a:t>sẵn</a:t>
            </a:r>
            <a:r>
              <a:rPr lang="en-US" b="0" i="0" dirty="0">
                <a:solidFill>
                  <a:srgbClr val="404040"/>
                </a:solidFill>
                <a:effectLst/>
                <a:latin typeface="Inter"/>
              </a:rPr>
              <a:t> </a:t>
            </a:r>
            <a:r>
              <a:rPr lang="en-US" b="0" i="0" dirty="0" err="1">
                <a:solidFill>
                  <a:srgbClr val="404040"/>
                </a:solidFill>
                <a:effectLst/>
                <a:latin typeface="Inter"/>
              </a:rPr>
              <a:t>sàng</a:t>
            </a:r>
            <a:r>
              <a:rPr lang="en-US" b="0" i="0" dirty="0">
                <a:solidFill>
                  <a:srgbClr val="404040"/>
                </a:solidFill>
                <a:effectLst/>
                <a:latin typeface="Inter"/>
              </a:rPr>
              <a:t> </a:t>
            </a:r>
            <a:r>
              <a:rPr lang="en-US" b="0" i="0" dirty="0" err="1">
                <a:solidFill>
                  <a:srgbClr val="404040"/>
                </a:solidFill>
                <a:effectLst/>
                <a:latin typeface="Inter"/>
              </a:rPr>
              <a:t>cao</a:t>
            </a:r>
            <a:r>
              <a:rPr lang="en-US" b="0" i="0" dirty="0">
                <a:solidFill>
                  <a:srgbClr val="404040"/>
                </a:solidFill>
                <a:effectLst/>
                <a:latin typeface="Inter"/>
              </a:rPr>
              <a:t> </a:t>
            </a:r>
            <a:r>
              <a:rPr lang="en-US" b="0" i="0" dirty="0" err="1">
                <a:solidFill>
                  <a:srgbClr val="404040"/>
                </a:solidFill>
                <a:effectLst/>
                <a:latin typeface="Inter"/>
              </a:rPr>
              <a:t>của</a:t>
            </a:r>
            <a:r>
              <a:rPr lang="en-US" b="0" i="0" dirty="0">
                <a:solidFill>
                  <a:srgbClr val="404040"/>
                </a:solidFill>
                <a:effectLst/>
                <a:latin typeface="Inter"/>
              </a:rPr>
              <a:t> </a:t>
            </a:r>
            <a:r>
              <a:rPr lang="en-US" b="0" i="0" dirty="0" err="1">
                <a:solidFill>
                  <a:srgbClr val="404040"/>
                </a:solidFill>
                <a:effectLst/>
                <a:latin typeface="Inter"/>
              </a:rPr>
              <a:t>hệ</a:t>
            </a:r>
            <a:r>
              <a:rPr lang="en-US" b="0" i="0" dirty="0">
                <a:solidFill>
                  <a:srgbClr val="404040"/>
                </a:solidFill>
                <a:effectLst/>
                <a:latin typeface="Inter"/>
              </a:rPr>
              <a:t> </a:t>
            </a:r>
            <a:r>
              <a:rPr lang="en-US" b="0" i="0" dirty="0" err="1">
                <a:solidFill>
                  <a:srgbClr val="404040"/>
                </a:solidFill>
                <a:effectLst/>
                <a:latin typeface="Inter"/>
              </a:rPr>
              <a:t>thống</a:t>
            </a:r>
            <a:r>
              <a:rPr lang="en-US" b="0" i="0" dirty="0">
                <a:solidFill>
                  <a:srgbClr val="404040"/>
                </a:solidFill>
                <a:effectLst/>
                <a:latin typeface="Inter"/>
              </a:rPr>
              <a:t>.</a:t>
            </a:r>
          </a:p>
          <a:p>
            <a:pPr algn="l">
              <a:buFont typeface="+mj-lt"/>
              <a:buAutoNum type="arabicPeriod"/>
            </a:pPr>
            <a:r>
              <a:rPr lang="en-US" b="0" i="0" dirty="0">
                <a:solidFill>
                  <a:srgbClr val="404040"/>
                </a:solidFill>
                <a:effectLst/>
                <a:latin typeface="Inter"/>
              </a:rPr>
              <a:t> </a:t>
            </a:r>
            <a:r>
              <a:rPr lang="vi-VN" b="1" i="0" dirty="0">
                <a:solidFill>
                  <a:srgbClr val="404040"/>
                </a:solidFill>
                <a:effectLst/>
                <a:latin typeface="Inter"/>
              </a:rPr>
              <a:t>Move computations to clients (Java applets)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Di chuyển tính toán sang client</a:t>
            </a:r>
            <a:r>
              <a:rPr lang="vi-VN" b="0" i="0" dirty="0">
                <a:solidFill>
                  <a:srgbClr val="404040"/>
                </a:solidFill>
                <a:effectLst/>
                <a:latin typeface="Inter"/>
              </a:rPr>
              <a:t>: Thay vì thực hiện tất cả các tính toán trên server, một phần công việc được chuyển sang client. Java applets là một ví dụ về công nghệ cho phép thực hiện các tính toán trên trình duyệt của client.</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Giảm tải cho server, cải thiện thời gian phản hồi và tận dụng tài nguyên của client.</a:t>
            </a:r>
          </a:p>
          <a:p>
            <a:pPr algn="l">
              <a:buFont typeface="+mj-lt"/>
              <a:buAutoNum type="arabicPeriod"/>
            </a:pPr>
            <a:r>
              <a:rPr lang="vi-VN" b="1" i="0" dirty="0">
                <a:solidFill>
                  <a:srgbClr val="404040"/>
                </a:solidFill>
                <a:effectLst/>
                <a:latin typeface="Inter"/>
              </a:rPr>
              <a:t>Decentralized naming services (DNS)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Dịch vụ đặt tên phi tập trung</a:t>
            </a:r>
            <a:r>
              <a:rPr lang="vi-VN" b="0" i="0" dirty="0">
                <a:solidFill>
                  <a:srgbClr val="404040"/>
                </a:solidFill>
                <a:effectLst/>
                <a:latin typeface="Inter"/>
              </a:rPr>
              <a:t>: DNS (Domain Name System) là một hệ thống phân tán để chuyển đổi tên miền thành địa chỉ IP. Thay vì dựa vào một máy chủ trung tâm, DNS sử dụng nhiều máy chủ phân tán trên toàn cầu.</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Tăng độ tin cậy và khả năng chịu lỗi, cải thiện thời gian phản hồi và phân phối tải.</a:t>
            </a:r>
          </a:p>
          <a:p>
            <a:pPr algn="l">
              <a:buFont typeface="+mj-lt"/>
              <a:buAutoNum type="arabicPeriod"/>
            </a:pPr>
            <a:r>
              <a:rPr lang="vi-VN" b="1" i="0" dirty="0">
                <a:solidFill>
                  <a:srgbClr val="404040"/>
                </a:solidFill>
                <a:effectLst/>
                <a:latin typeface="Inter"/>
              </a:rPr>
              <a:t>Decentralized information systems (WWW)</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Hệ thống thông tin phi tập trung</a:t>
            </a:r>
            <a:r>
              <a:rPr lang="vi-VN" b="0" i="0" dirty="0">
                <a:solidFill>
                  <a:srgbClr val="404040"/>
                </a:solidFill>
                <a:effectLst/>
                <a:latin typeface="Inter"/>
              </a:rPr>
              <a:t>: World Wide Web (WWW) là một ví dụ điển hình của hệ thống thông tin phi tập trung, nơi dữ liệu và tài nguyên được phân phối trên nhiều máy chủ khác nhau.</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Tăng khả năng mở rộng, cải thiện khả năng truy cập và đảm bảo tính sẵn sàng cao của thông tin.</a:t>
            </a:r>
          </a:p>
          <a:p>
            <a:pPr algn="l">
              <a:buFont typeface="Arial" panose="020B0604020202020204" pitchFamily="34" charset="0"/>
              <a:buChar char="•"/>
            </a:pPr>
            <a:endParaRPr lang="vi-VN" b="0" i="0" dirty="0">
              <a:solidFill>
                <a:srgbClr val="404040"/>
              </a:solidFill>
              <a:effectLst/>
              <a:latin typeface="Inter"/>
            </a:endParaRPr>
          </a:p>
        </p:txBody>
      </p:sp>
      <p:sp>
        <p:nvSpPr>
          <p:cNvPr id="4" name="Slide Number Placeholder 3"/>
          <p:cNvSpPr>
            <a:spLocks noGrp="1"/>
          </p:cNvSpPr>
          <p:nvPr>
            <p:ph type="sldNum" sz="quarter" idx="5"/>
          </p:nvPr>
        </p:nvSpPr>
        <p:spPr/>
        <p:txBody>
          <a:bodyPr/>
          <a:lstStyle/>
          <a:p>
            <a:fld id="{2462E6CA-8440-45F5-A3AE-62AA54DA537F}" type="slidenum">
              <a:rPr lang="en-US" smtClean="0"/>
              <a:t>32</a:t>
            </a:fld>
            <a:endParaRPr lang="en-US"/>
          </a:p>
        </p:txBody>
      </p:sp>
    </p:spTree>
    <p:extLst>
      <p:ext uri="{BB962C8B-B14F-4D97-AF65-F5344CB8AC3E}">
        <p14:creationId xmlns:p14="http://schemas.microsoft.com/office/powerpoint/2010/main" val="5663234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Inter"/>
              </a:rPr>
              <a:t>Replication và caching là hai kỹ thuật quan trọng trong việc tối ưu hóa hiệu suất và độ tin cậy của hệ thống phân tán. Dưới đây là giải thích chi tiết về các khía cạnh của hai kỹ thuật này:</a:t>
            </a:r>
          </a:p>
          <a:p>
            <a:pPr algn="l"/>
            <a:r>
              <a:rPr lang="vi-VN" b="1" i="0" dirty="0">
                <a:solidFill>
                  <a:srgbClr val="404040"/>
                </a:solidFill>
                <a:effectLst/>
                <a:latin typeface="Inter"/>
              </a:rPr>
              <a:t>Replication (Sao chép dữ liệu)</a:t>
            </a:r>
          </a:p>
          <a:p>
            <a:pPr algn="l">
              <a:buFont typeface="+mj-lt"/>
              <a:buAutoNum type="arabicPeriod"/>
            </a:pPr>
            <a:r>
              <a:rPr lang="vi-VN" b="1" i="0" dirty="0">
                <a:solidFill>
                  <a:srgbClr val="404040"/>
                </a:solidFill>
                <a:effectLst/>
                <a:latin typeface="Inter"/>
              </a:rPr>
              <a:t>Replicated file servers and databases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Sao chép dữ liệu</a:t>
            </a:r>
            <a:r>
              <a:rPr lang="vi-VN" b="0" i="0" dirty="0">
                <a:solidFill>
                  <a:srgbClr val="404040"/>
                </a:solidFill>
                <a:effectLst/>
                <a:latin typeface="Inter"/>
              </a:rPr>
              <a:t>: Dữ liệu được sao chép và lưu trữ trên nhiều máy chủ khác nhau. Điều này giúp đảm bảo rằng dữ liệu vẫn có sẵn ngay cả khi một số máy chủ gặp sự cố.</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Tăng tính sẵn sàng và độ tin cậy của dữ liệu, cải thiện hiệu suất truy cập bằng cách phân phối tải.</a:t>
            </a:r>
          </a:p>
          <a:p>
            <a:pPr algn="l">
              <a:buFont typeface="+mj-lt"/>
              <a:buAutoNum type="arabicPeriod"/>
            </a:pPr>
            <a:r>
              <a:rPr lang="vi-VN" b="1" i="0" dirty="0">
                <a:solidFill>
                  <a:srgbClr val="404040"/>
                </a:solidFill>
                <a:effectLst/>
                <a:latin typeface="Inter"/>
              </a:rPr>
              <a:t>Mirrored Web sites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Web site gương</a:t>
            </a:r>
            <a:r>
              <a:rPr lang="vi-VN" b="0" i="0" dirty="0">
                <a:solidFill>
                  <a:srgbClr val="404040"/>
                </a:solidFill>
                <a:effectLst/>
                <a:latin typeface="Inter"/>
              </a:rPr>
              <a:t>: Các bản sao của một trang web được lưu trữ trên nhiều máy chủ ở các vị trí địa lý khác nhau. Người dùng được chuyển hướng đến máy chủ gần nhất để tải trang web.</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Giảm độ trễ, tăng tốc độ tải trang và đảm bảo trang web luôn khả dụng ngay cả khi một máy chủ bị lỗi.</a:t>
            </a:r>
          </a:p>
          <a:p>
            <a:pPr algn="l"/>
            <a:r>
              <a:rPr lang="vi-VN" b="1" i="0" dirty="0">
                <a:solidFill>
                  <a:srgbClr val="404040"/>
                </a:solidFill>
                <a:effectLst/>
                <a:latin typeface="Inter"/>
              </a:rPr>
              <a:t>Caching (Bộ nhớ đệm)</a:t>
            </a:r>
          </a:p>
          <a:p>
            <a:pPr algn="l">
              <a:buFont typeface="+mj-lt"/>
              <a:buAutoNum type="arabicPeriod"/>
            </a:pPr>
            <a:r>
              <a:rPr lang="vi-VN" b="1" i="0" dirty="0">
                <a:solidFill>
                  <a:srgbClr val="404040"/>
                </a:solidFill>
                <a:effectLst/>
                <a:latin typeface="Inter"/>
              </a:rPr>
              <a:t>Web caches (in browsers and proxies)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Bộ nhớ đệm web</a:t>
            </a:r>
            <a:r>
              <a:rPr lang="vi-VN" b="0" i="0" dirty="0">
                <a:solidFill>
                  <a:srgbClr val="404040"/>
                </a:solidFill>
                <a:effectLst/>
                <a:latin typeface="Inter"/>
              </a:rPr>
              <a:t>: Dữ liệu web được lưu trữ tạm thời trên trình duyệt của người dùng hoặc trên các máy chủ proxy. Khi người dùng yêu cầu cùng một dữ liệu lần nữa, nó có thể được truy xuất từ bộ nhớ đệm thay vì tải lại từ máy chủ gốc.</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Giảm tải cho máy chủ gốc, cải thiện thời gian tải trang và giảm băng thông mạng.</a:t>
            </a:r>
          </a:p>
          <a:p>
            <a:pPr algn="l">
              <a:buFont typeface="+mj-lt"/>
              <a:buAutoNum type="arabicPeriod"/>
            </a:pPr>
            <a:r>
              <a:rPr lang="vi-VN" b="1" i="0" dirty="0">
                <a:solidFill>
                  <a:srgbClr val="404040"/>
                </a:solidFill>
                <a:effectLst/>
                <a:latin typeface="Inter"/>
              </a:rPr>
              <a:t>File caching (at server and client)</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Bộ nhớ đệm file</a:t>
            </a:r>
            <a:r>
              <a:rPr lang="vi-VN" b="0" i="0" dirty="0">
                <a:solidFill>
                  <a:srgbClr val="404040"/>
                </a:solidFill>
                <a:effectLst/>
                <a:latin typeface="Inter"/>
              </a:rPr>
              <a:t>: Các file được lưu trữ tạm thời trên máy chủ hoặc client để truy xuất nhanh hơn trong các yêu cầu tiếp theo.</a:t>
            </a:r>
          </a:p>
          <a:p>
            <a:pPr marL="742950" lvl="1" indent="-285750"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 Tăng tốc độ truy xuất dữ liệu, giảm độ trễ và cải thiện hiệu suất tổng thể của hệ thống.</a:t>
            </a:r>
          </a:p>
          <a:p>
            <a:pPr algn="l"/>
            <a:r>
              <a:rPr lang="vi-VN" b="1" i="0" dirty="0">
                <a:solidFill>
                  <a:srgbClr val="404040"/>
                </a:solidFill>
                <a:effectLst/>
                <a:latin typeface="Inter"/>
              </a:rPr>
              <a:t>Tổng kết</a:t>
            </a:r>
          </a:p>
          <a:p>
            <a:pPr algn="l">
              <a:buFont typeface="Arial" panose="020B0604020202020204" pitchFamily="34" charset="0"/>
              <a:buChar char="•"/>
            </a:pPr>
            <a:r>
              <a:rPr lang="vi-VN" b="1" i="0" dirty="0">
                <a:solidFill>
                  <a:srgbClr val="404040"/>
                </a:solidFill>
                <a:effectLst/>
                <a:latin typeface="Inter"/>
              </a:rPr>
              <a:t>Replication</a:t>
            </a:r>
            <a:r>
              <a:rPr lang="vi-VN" b="0" i="0" dirty="0">
                <a:solidFill>
                  <a:srgbClr val="404040"/>
                </a:solidFill>
                <a:effectLst/>
                <a:latin typeface="Inter"/>
              </a:rPr>
              <a:t>: Tạo ra các bản sao dữ liệu trên nhiều máy chủ để đảm bảo tính sẵn sàng và độ tin cậy cao.</a:t>
            </a:r>
          </a:p>
          <a:p>
            <a:pPr algn="l">
              <a:buFont typeface="Arial" panose="020B0604020202020204" pitchFamily="34" charset="0"/>
              <a:buChar char="•"/>
            </a:pPr>
            <a:r>
              <a:rPr lang="vi-VN" b="1" i="0" dirty="0">
                <a:solidFill>
                  <a:srgbClr val="404040"/>
                </a:solidFill>
                <a:effectLst/>
                <a:latin typeface="Inter"/>
              </a:rPr>
              <a:t>Caching</a:t>
            </a:r>
            <a:r>
              <a:rPr lang="vi-VN" b="0" i="0" dirty="0">
                <a:solidFill>
                  <a:srgbClr val="404040"/>
                </a:solidFill>
                <a:effectLst/>
                <a:latin typeface="Inter"/>
              </a:rPr>
              <a:t>: Lưu trữ tạm thời dữ liệu để truy xuất nhanh hơn, giảm tải cho máy chủ và cải thiện trải nghiệm người dùng.</a:t>
            </a:r>
          </a:p>
          <a:p>
            <a:pPr algn="l"/>
            <a:r>
              <a:rPr lang="vi-VN" b="0" i="0" dirty="0">
                <a:solidFill>
                  <a:srgbClr val="404040"/>
                </a:solidFill>
                <a:effectLst/>
                <a:latin typeface="Inter"/>
              </a:rPr>
              <a:t>Cả hai kỹ thuật này đều nhằm mục đích cải thiện hiệu suất, độ tin cậy và khả năng mở rộng của hệ thống phân tán, đặc biệt là trong các môi trường có lượng truy cập lớn và yêu cầu cao về tính sẵn sàng.</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33</a:t>
            </a:fld>
            <a:endParaRPr lang="en-US"/>
          </a:p>
        </p:txBody>
      </p:sp>
    </p:spTree>
    <p:extLst>
      <p:ext uri="{BB962C8B-B14F-4D97-AF65-F5344CB8AC3E}">
        <p14:creationId xmlns:p14="http://schemas.microsoft.com/office/powerpoint/2010/main" val="2887472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a:t>
            </a:r>
          </a:p>
        </p:txBody>
      </p:sp>
      <p:sp>
        <p:nvSpPr>
          <p:cNvPr id="4" name="Slide Number Placeholder 3"/>
          <p:cNvSpPr>
            <a:spLocks noGrp="1"/>
          </p:cNvSpPr>
          <p:nvPr>
            <p:ph type="sldNum" sz="quarter" idx="5"/>
          </p:nvPr>
        </p:nvSpPr>
        <p:spPr/>
        <p:txBody>
          <a:bodyPr/>
          <a:lstStyle/>
          <a:p>
            <a:fld id="{2462E6CA-8440-45F5-A3AE-62AA54DA537F}" type="slidenum">
              <a:rPr lang="en-US" smtClean="0"/>
              <a:t>35</a:t>
            </a:fld>
            <a:endParaRPr lang="en-US"/>
          </a:p>
        </p:txBody>
      </p:sp>
    </p:spTree>
    <p:extLst>
      <p:ext uri="{BB962C8B-B14F-4D97-AF65-F5344CB8AC3E}">
        <p14:creationId xmlns:p14="http://schemas.microsoft.com/office/powerpoint/2010/main" val="30804379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a:t>
            </a:r>
          </a:p>
        </p:txBody>
      </p:sp>
      <p:sp>
        <p:nvSpPr>
          <p:cNvPr id="4" name="Slide Number Placeholder 3"/>
          <p:cNvSpPr>
            <a:spLocks noGrp="1"/>
          </p:cNvSpPr>
          <p:nvPr>
            <p:ph type="sldNum" sz="quarter" idx="5"/>
          </p:nvPr>
        </p:nvSpPr>
        <p:spPr/>
        <p:txBody>
          <a:bodyPr/>
          <a:lstStyle/>
          <a:p>
            <a:fld id="{2462E6CA-8440-45F5-A3AE-62AA54DA537F}" type="slidenum">
              <a:rPr lang="en-US" smtClean="0"/>
              <a:t>36</a:t>
            </a:fld>
            <a:endParaRPr lang="en-US"/>
          </a:p>
        </p:txBody>
      </p:sp>
    </p:spTree>
    <p:extLst>
      <p:ext uri="{BB962C8B-B14F-4D97-AF65-F5344CB8AC3E}">
        <p14:creationId xmlns:p14="http://schemas.microsoft.com/office/powerpoint/2010/main" val="42896011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a:t>
            </a:r>
          </a:p>
        </p:txBody>
      </p:sp>
      <p:sp>
        <p:nvSpPr>
          <p:cNvPr id="4" name="Slide Number Placeholder 3"/>
          <p:cNvSpPr>
            <a:spLocks noGrp="1"/>
          </p:cNvSpPr>
          <p:nvPr>
            <p:ph type="sldNum" sz="quarter" idx="5"/>
          </p:nvPr>
        </p:nvSpPr>
        <p:spPr/>
        <p:txBody>
          <a:bodyPr/>
          <a:lstStyle/>
          <a:p>
            <a:fld id="{2462E6CA-8440-45F5-A3AE-62AA54DA537F}" type="slidenum">
              <a:rPr lang="en-US" smtClean="0"/>
              <a:t>37</a:t>
            </a:fld>
            <a:endParaRPr lang="en-US"/>
          </a:p>
        </p:txBody>
      </p:sp>
    </p:spTree>
    <p:extLst>
      <p:ext uri="{BB962C8B-B14F-4D97-AF65-F5344CB8AC3E}">
        <p14:creationId xmlns:p14="http://schemas.microsoft.com/office/powerpoint/2010/main" val="3701905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Mở rộng: Vấn đề với Replication (Sao chép dữ liệu)</a:t>
            </a:r>
          </a:p>
          <a:p>
            <a:pPr algn="l"/>
            <a:r>
              <a:rPr lang="vi-VN" b="0" i="0" dirty="0">
                <a:solidFill>
                  <a:srgbClr val="404040"/>
                </a:solidFill>
                <a:effectLst/>
                <a:latin typeface="Inter"/>
              </a:rPr>
              <a:t>Replication (sao chép dữ liệu) là một kỹ thuật mạnh mẽ để cải thiện tính khả dụng, khả năng chịu lỗi và hiệu suất trong các hệ thống phân tán. Tuy nhiên, nó cũng mang lại một thách thức lớn: </a:t>
            </a:r>
            <a:r>
              <a:rPr lang="vi-VN" b="1" i="0" dirty="0">
                <a:solidFill>
                  <a:srgbClr val="404040"/>
                </a:solidFill>
                <a:effectLst/>
                <a:latin typeface="Inter"/>
              </a:rPr>
              <a:t>duy trì tính nhất quán giữa các bản sao dữ liệu</a:t>
            </a:r>
            <a:r>
              <a:rPr lang="vi-VN" b="0" i="0" dirty="0">
                <a:solidFill>
                  <a:srgbClr val="404040"/>
                </a:solidFill>
                <a:effectLst/>
                <a:latin typeface="Inter"/>
              </a:rPr>
              <a:t>. Dưới đây là phân tích sâu hơn về vấn đề này và những hệ quả của nó:</a:t>
            </a:r>
          </a:p>
          <a:p>
            <a:pPr algn="l"/>
            <a:r>
              <a:rPr lang="vi-VN" b="1" i="0" dirty="0">
                <a:solidFill>
                  <a:srgbClr val="404040"/>
                </a:solidFill>
                <a:effectLst/>
                <a:latin typeface="Inter"/>
              </a:rPr>
              <a:t>Vấn đề cốt lõi: Sự không nhất quán trong dữ liệu được sao chép</a:t>
            </a:r>
          </a:p>
          <a:p>
            <a:pPr algn="l"/>
            <a:r>
              <a:rPr lang="vi-VN" b="0" i="0" dirty="0">
                <a:solidFill>
                  <a:srgbClr val="404040"/>
                </a:solidFill>
                <a:effectLst/>
                <a:latin typeface="Inter"/>
              </a:rPr>
              <a:t>Khi dữ liệu được sao chép trên nhiều node hoặc được lưu trong bộ nhớ đệm (cache) ở các vị trí khác nhau, bất kỳ thay đổi nào trên một bản sao có thể dẫn đến sự không nhất quán. Ví dụ:</a:t>
            </a:r>
          </a:p>
          <a:p>
            <a:pPr algn="l">
              <a:buFont typeface="Arial" panose="020B0604020202020204" pitchFamily="34" charset="0"/>
              <a:buChar char="•"/>
            </a:pPr>
            <a:r>
              <a:rPr lang="vi-VN" b="0" i="0" dirty="0">
                <a:solidFill>
                  <a:srgbClr val="404040"/>
                </a:solidFill>
                <a:effectLst/>
                <a:latin typeface="Inter"/>
              </a:rPr>
              <a:t>Nếu </a:t>
            </a:r>
            <a:r>
              <a:rPr lang="vi-VN" b="1" i="0" dirty="0">
                <a:solidFill>
                  <a:srgbClr val="404040"/>
                </a:solidFill>
                <a:effectLst/>
                <a:latin typeface="Inter"/>
              </a:rPr>
              <a:t>Bản sao A</a:t>
            </a:r>
            <a:r>
              <a:rPr lang="vi-VN" b="0" i="0" dirty="0">
                <a:solidFill>
                  <a:srgbClr val="404040"/>
                </a:solidFill>
                <a:effectLst/>
                <a:latin typeface="Inter"/>
              </a:rPr>
              <a:t> được cập nhật, nó sẽ khác với </a:t>
            </a:r>
            <a:r>
              <a:rPr lang="vi-VN" b="1" i="0" dirty="0">
                <a:solidFill>
                  <a:srgbClr val="404040"/>
                </a:solidFill>
                <a:effectLst/>
                <a:latin typeface="Inter"/>
              </a:rPr>
              <a:t>Bản sao B</a:t>
            </a:r>
            <a:r>
              <a:rPr lang="vi-VN" b="0" i="0" dirty="0">
                <a:solidFill>
                  <a:srgbClr val="404040"/>
                </a:solidFill>
                <a:effectLst/>
                <a:latin typeface="Inter"/>
              </a:rPr>
              <a:t> và </a:t>
            </a:r>
            <a:r>
              <a:rPr lang="vi-VN" b="1" i="0" dirty="0">
                <a:solidFill>
                  <a:srgbClr val="404040"/>
                </a:solidFill>
                <a:effectLst/>
                <a:latin typeface="Inter"/>
              </a:rPr>
              <a:t>Bản sao C</a:t>
            </a:r>
            <a:r>
              <a:rPr lang="vi-VN" b="0" i="0" dirty="0">
                <a:solidFill>
                  <a:srgbClr val="404040"/>
                </a:solidFill>
                <a:effectLst/>
                <a:latin typeface="Inter"/>
              </a:rPr>
              <a:t>.</a:t>
            </a:r>
          </a:p>
          <a:p>
            <a:pPr algn="l">
              <a:buFont typeface="Arial" panose="020B0604020202020204" pitchFamily="34" charset="0"/>
              <a:buChar char="•"/>
            </a:pPr>
            <a:r>
              <a:rPr lang="vi-VN" b="0" i="0" dirty="0">
                <a:solidFill>
                  <a:srgbClr val="404040"/>
                </a:solidFill>
                <a:effectLst/>
                <a:latin typeface="Inter"/>
              </a:rPr>
              <a:t>Để đảm bảo tất cả các bản sao luôn nhất quán, mọi thay đổi phải được đồng bộ hóa toàn cầu trên tất cả các bản sao.</a:t>
            </a:r>
          </a:p>
          <a:p>
            <a:pPr algn="l"/>
            <a:r>
              <a:rPr lang="vi-VN" b="1" i="0" dirty="0">
                <a:solidFill>
                  <a:srgbClr val="404040"/>
                </a:solidFill>
                <a:effectLst/>
                <a:latin typeface="Inter"/>
              </a:rPr>
              <a:t>Thách thức: Đồng bộ hóa toàn cầu</a:t>
            </a:r>
          </a:p>
          <a:p>
            <a:pPr algn="l">
              <a:buFont typeface="+mj-lt"/>
              <a:buAutoNum type="arabicPeriod"/>
            </a:pPr>
            <a:r>
              <a:rPr lang="vi-VN" b="1" i="0" dirty="0">
                <a:solidFill>
                  <a:srgbClr val="404040"/>
                </a:solidFill>
                <a:effectLst/>
                <a:latin typeface="Inter"/>
              </a:rPr>
              <a:t>Yêu cầu đồng bộ hóa toàn cầu</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Để giữ cho tất cả các bản sao nhất quán, mọi thao tác ghi dữ liệu phải được lan truyền đồng thời đến tất cả các bản sao.</a:t>
            </a:r>
          </a:p>
          <a:p>
            <a:pPr marL="742950" lvl="1" indent="-285750" algn="l">
              <a:buFont typeface="+mj-lt"/>
              <a:buAutoNum type="arabicPeriod"/>
            </a:pPr>
            <a:r>
              <a:rPr lang="vi-VN" b="0" i="0" dirty="0">
                <a:solidFill>
                  <a:srgbClr val="404040"/>
                </a:solidFill>
                <a:effectLst/>
                <a:latin typeface="Inter"/>
              </a:rPr>
              <a:t>Điều này đòi hỏi </a:t>
            </a:r>
            <a:r>
              <a:rPr lang="vi-VN" b="1" i="0" dirty="0">
                <a:solidFill>
                  <a:srgbClr val="404040"/>
                </a:solidFill>
                <a:effectLst/>
                <a:latin typeface="Inter"/>
              </a:rPr>
              <a:t>đồng bộ hóa toàn cầu</a:t>
            </a:r>
            <a:r>
              <a:rPr lang="vi-VN" b="0" i="0" dirty="0">
                <a:solidFill>
                  <a:srgbClr val="404040"/>
                </a:solidFill>
                <a:effectLst/>
                <a:latin typeface="Inter"/>
              </a:rPr>
              <a:t>, trong đó tất cả các node phải đồng ý về thứ tự và thời điểm cập nhật.</a:t>
            </a:r>
          </a:p>
          <a:p>
            <a:pPr algn="l">
              <a:buFont typeface="+mj-lt"/>
              <a:buAutoNum type="arabicPeriod"/>
            </a:pPr>
            <a:r>
              <a:rPr lang="vi-VN" b="1" i="0" dirty="0">
                <a:solidFill>
                  <a:srgbClr val="404040"/>
                </a:solidFill>
                <a:effectLst/>
                <a:latin typeface="Inter"/>
              </a:rPr>
              <a:t>Vấn đề về khả năng mở rộng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Đồng bộ hóa toàn cầu rất </a:t>
            </a:r>
            <a:r>
              <a:rPr lang="vi-VN" b="1" i="0" dirty="0">
                <a:solidFill>
                  <a:srgbClr val="404040"/>
                </a:solidFill>
                <a:effectLst/>
                <a:latin typeface="Inter"/>
              </a:rPr>
              <a:t>tốn kém</a:t>
            </a:r>
            <a:r>
              <a:rPr lang="vi-VN" b="0" i="0" dirty="0">
                <a:solidFill>
                  <a:srgbClr val="404040"/>
                </a:solidFill>
                <a:effectLst/>
                <a:latin typeface="Inter"/>
              </a:rPr>
              <a:t> về thời gian và tài nguyên, đặc biệt trong các hệ thống phân tán quy mô lớn.</a:t>
            </a:r>
          </a:p>
          <a:p>
            <a:pPr marL="742950" lvl="1" indent="-285750" algn="l">
              <a:buFont typeface="+mj-lt"/>
              <a:buAutoNum type="arabicPeriod"/>
            </a:pPr>
            <a:r>
              <a:rPr lang="vi-VN" b="0" i="0" dirty="0">
                <a:solidFill>
                  <a:srgbClr val="404040"/>
                </a:solidFill>
                <a:effectLst/>
                <a:latin typeface="Inter"/>
              </a:rPr>
              <a:t>Khi số lượng node tăng lên, chi phí để đồng bộ hóa các cập nhật cũng tăng theo, khiến việc mở rộng hệ thống trở nên khó khăn.</a:t>
            </a:r>
          </a:p>
          <a:p>
            <a:pPr algn="l">
              <a:buFont typeface="+mj-lt"/>
              <a:buAutoNum type="arabicPeriod"/>
            </a:pPr>
            <a:r>
              <a:rPr lang="vi-VN" b="1" i="0" dirty="0">
                <a:solidFill>
                  <a:srgbClr val="404040"/>
                </a:solidFill>
                <a:effectLst/>
                <a:latin typeface="Inter"/>
              </a:rPr>
              <a:t>Đánh đổi với hiệu suất</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Tính nhất quán chặt chẽ (ví dụ: mô hình nhất quán mạnh - strong consistency) yêu cầu đồng bộ hóa ngay lập tức, điều này có thể làm chậm hệ thống và tăng độ trễ.</a:t>
            </a:r>
          </a:p>
          <a:p>
            <a:pPr marL="742950" lvl="1" indent="-285750" algn="l">
              <a:buFont typeface="+mj-lt"/>
              <a:buAutoNum type="arabicPeriod"/>
            </a:pPr>
            <a:r>
              <a:rPr lang="vi-VN" b="0" i="0" dirty="0">
                <a:solidFill>
                  <a:srgbClr val="404040"/>
                </a:solidFill>
                <a:effectLst/>
                <a:latin typeface="Inter"/>
              </a:rPr>
              <a:t>Sự đánh đổi này khiến đồng bộ hóa toàn cầu trở nên không thực tế đối với các hệ thống quy mô lớn và yêu cầu hiệu suất cao.</a:t>
            </a:r>
          </a:p>
          <a:p>
            <a:pPr algn="l"/>
            <a:r>
              <a:rPr lang="vi-VN" b="1" i="0" dirty="0">
                <a:solidFill>
                  <a:srgbClr val="404040"/>
                </a:solidFill>
                <a:effectLst/>
                <a:latin typeface="Inter"/>
              </a:rPr>
              <a:t>Quan sát: Chấp nhận sự không nhất quán</a:t>
            </a:r>
          </a:p>
          <a:p>
            <a:pPr algn="l"/>
            <a:r>
              <a:rPr lang="vi-VN" b="0" i="0" dirty="0">
                <a:solidFill>
                  <a:srgbClr val="404040"/>
                </a:solidFill>
                <a:effectLst/>
                <a:latin typeface="Inter"/>
              </a:rPr>
              <a:t>Một cách để giải quyết vấn đề về khả năng mở rộng là </a:t>
            </a:r>
            <a:r>
              <a:rPr lang="vi-VN" b="1" i="0" dirty="0">
                <a:solidFill>
                  <a:srgbClr val="404040"/>
                </a:solidFill>
                <a:effectLst/>
                <a:latin typeface="Inter"/>
              </a:rPr>
              <a:t>nới lỏng yêu cầu về tính nhất quán</a:t>
            </a:r>
            <a:r>
              <a:rPr lang="vi-VN" b="0" i="0" dirty="0">
                <a:solidFill>
                  <a:srgbClr val="404040"/>
                </a:solidFill>
                <a:effectLst/>
                <a:latin typeface="Inter"/>
              </a:rPr>
              <a:t> và chấp nhận một mức độ không nhất quán nhất định. Tuy nhiên, cách tiếp cận này phụ thuộc rất nhiều vào yêu cầu của ứng dụng:</a:t>
            </a:r>
          </a:p>
          <a:p>
            <a:pPr algn="l">
              <a:buFont typeface="+mj-lt"/>
              <a:buAutoNum type="arabicPeriod"/>
            </a:pPr>
            <a:r>
              <a:rPr lang="vi-VN" b="1" i="0" dirty="0">
                <a:solidFill>
                  <a:srgbClr val="404040"/>
                </a:solidFill>
                <a:effectLst/>
                <a:latin typeface="Inter"/>
              </a:rPr>
              <a:t>Khi sự không nhất quán có thể chấp nhận được</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Trong một số ứng dụng, sự không nhất quán tạm thời là chấp nhận được. Ví dụ:</a:t>
            </a:r>
          </a:p>
          <a:p>
            <a:pPr marL="1143000" lvl="2" indent="-228600" algn="l">
              <a:buFont typeface="+mj-lt"/>
              <a:buAutoNum type="arabicPeriod"/>
            </a:pPr>
            <a:r>
              <a:rPr lang="vi-VN" b="1" i="0" dirty="0">
                <a:solidFill>
                  <a:srgbClr val="404040"/>
                </a:solidFill>
                <a:effectLst/>
                <a:latin typeface="Inter"/>
              </a:rPr>
              <a:t>Bảng tin mạng xã hội</a:t>
            </a:r>
            <a:r>
              <a:rPr lang="vi-VN" b="0" i="0" dirty="0">
                <a:solidFill>
                  <a:srgbClr val="404040"/>
                </a:solidFill>
                <a:effectLst/>
                <a:latin typeface="Inter"/>
              </a:rPr>
              <a:t>: Việc cập nhật bảng tin của người dùng chậm một chút thường không gây ảnh hưởng lớn.</a:t>
            </a:r>
          </a:p>
          <a:p>
            <a:pPr marL="1143000" lvl="2" indent="-228600" algn="l">
              <a:buFont typeface="+mj-lt"/>
              <a:buAutoNum type="arabicPeriod"/>
            </a:pPr>
            <a:r>
              <a:rPr lang="vi-VN" b="1" i="0" dirty="0">
                <a:solidFill>
                  <a:srgbClr val="404040"/>
                </a:solidFill>
                <a:effectLst/>
                <a:latin typeface="Inter"/>
              </a:rPr>
              <a:t>Tình trạng sản phẩm trong thương mại điện tử</a:t>
            </a:r>
            <a:r>
              <a:rPr lang="vi-VN" b="0" i="0" dirty="0">
                <a:solidFill>
                  <a:srgbClr val="404040"/>
                </a:solidFill>
                <a:effectLst/>
                <a:latin typeface="Inter"/>
              </a:rPr>
              <a:t>: Hiển thị thông tin tồn kho hơi lỗi thời có thể chấp nhận được nếu hệ thống tự điều chỉnh sau đó.</a:t>
            </a:r>
          </a:p>
          <a:p>
            <a:pPr marL="742950" lvl="1" indent="-285750" algn="l">
              <a:buFont typeface="+mj-lt"/>
              <a:buAutoNum type="arabicPeriod"/>
            </a:pPr>
            <a:r>
              <a:rPr lang="vi-VN" b="0" i="0" dirty="0">
                <a:solidFill>
                  <a:srgbClr val="404040"/>
                </a:solidFill>
                <a:effectLst/>
                <a:latin typeface="Inter"/>
              </a:rPr>
              <a:t>Trong những trường hợp này, </a:t>
            </a:r>
            <a:r>
              <a:rPr lang="vi-VN" b="1" i="0" dirty="0">
                <a:solidFill>
                  <a:srgbClr val="404040"/>
                </a:solidFill>
                <a:effectLst/>
                <a:latin typeface="Inter"/>
              </a:rPr>
              <a:t>nhất quán cuối cùng (eventual consistency)</a:t>
            </a:r>
            <a:r>
              <a:rPr lang="vi-VN" b="0" i="0" dirty="0">
                <a:solidFill>
                  <a:srgbClr val="404040"/>
                </a:solidFill>
                <a:effectLst/>
                <a:latin typeface="Inter"/>
              </a:rPr>
              <a:t> có thể được sử dụng, trong đó các cập nhật được lan truyền không đồng bộ, và tất cả các bản sao cuối cùng sẽ hội tụ về cùng một trạng thái.</a:t>
            </a:r>
          </a:p>
          <a:p>
            <a:pPr algn="l">
              <a:buFont typeface="+mj-lt"/>
              <a:buAutoNum type="arabicPeriod"/>
            </a:pPr>
            <a:r>
              <a:rPr lang="vi-VN" b="1" i="0" dirty="0">
                <a:solidFill>
                  <a:srgbClr val="404040"/>
                </a:solidFill>
                <a:effectLst/>
                <a:latin typeface="Inter"/>
              </a:rPr>
              <a:t>Khi sự không nhất quán không thể chấp nhận được</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Trong các ứng dụng mà tính chính xác là yếu tố sống còn, sự không nhất quán không thể được chấp nhận. Ví dụ:</a:t>
            </a:r>
          </a:p>
          <a:p>
            <a:pPr marL="1143000" lvl="2" indent="-228600" algn="l">
              <a:buFont typeface="+mj-lt"/>
              <a:buAutoNum type="arabicPeriod"/>
            </a:pPr>
            <a:r>
              <a:rPr lang="vi-VN" b="1" i="0" dirty="0">
                <a:solidFill>
                  <a:srgbClr val="404040"/>
                </a:solidFill>
                <a:effectLst/>
                <a:latin typeface="Inter"/>
              </a:rPr>
              <a:t>Giao dịch tài chính</a:t>
            </a:r>
            <a:r>
              <a:rPr lang="vi-VN" b="0" i="0" dirty="0">
                <a:solidFill>
                  <a:srgbClr val="404040"/>
                </a:solidFill>
                <a:effectLst/>
                <a:latin typeface="Inter"/>
              </a:rPr>
              <a:t>: Ghi đè số dư ngân hàng do cập nhật không nhất quán có thể dẫn đến sai sót nghiêm trọng.</a:t>
            </a:r>
          </a:p>
          <a:p>
            <a:pPr marL="1143000" lvl="2" indent="-228600" algn="l">
              <a:buFont typeface="+mj-lt"/>
              <a:buAutoNum type="arabicPeriod"/>
            </a:pPr>
            <a:r>
              <a:rPr lang="vi-VN" b="1" i="0" dirty="0">
                <a:solidFill>
                  <a:srgbClr val="404040"/>
                </a:solidFill>
                <a:effectLst/>
                <a:latin typeface="Inter"/>
              </a:rPr>
              <a:t>Hệ thống y tế</a:t>
            </a:r>
            <a:r>
              <a:rPr lang="vi-VN" b="0" i="0" dirty="0">
                <a:solidFill>
                  <a:srgbClr val="404040"/>
                </a:solidFill>
                <a:effectLst/>
                <a:latin typeface="Inter"/>
              </a:rPr>
              <a:t>: Dữ liệu bệnh nhân không nhất quán có thể gây ra hậu quả nguy hiểm.</a:t>
            </a:r>
          </a:p>
          <a:p>
            <a:pPr marL="742950" lvl="1" indent="-285750" algn="l">
              <a:buFont typeface="+mj-lt"/>
              <a:buAutoNum type="arabicPeriod"/>
            </a:pPr>
            <a:r>
              <a:rPr lang="vi-VN" b="0" i="0" dirty="0">
                <a:solidFill>
                  <a:srgbClr val="404040"/>
                </a:solidFill>
                <a:effectLst/>
                <a:latin typeface="Inter"/>
              </a:rPr>
              <a:t>Trong những trường hợp này, </a:t>
            </a:r>
            <a:r>
              <a:rPr lang="vi-VN" b="1" i="0" dirty="0">
                <a:solidFill>
                  <a:srgbClr val="404040"/>
                </a:solidFill>
                <a:effectLst/>
                <a:latin typeface="Inter"/>
              </a:rPr>
              <a:t>nhất quán mạnh (strong consistency)</a:t>
            </a:r>
            <a:r>
              <a:rPr lang="vi-VN" b="0" i="0" dirty="0">
                <a:solidFill>
                  <a:srgbClr val="404040"/>
                </a:solidFill>
                <a:effectLst/>
                <a:latin typeface="Inter"/>
              </a:rPr>
              <a:t> là bắt buộc, và đồng bộ hóa toàn cầu (hoặc các cơ chế thay thế như giao thức đồng thuận phân tán) trở nên cần thiết.</a:t>
            </a:r>
            <a:endParaRPr lang="en-US" b="0" i="0" dirty="0">
              <a:solidFill>
                <a:srgbClr val="404040"/>
              </a:solidFill>
              <a:effectLst/>
              <a:latin typeface="Inter"/>
            </a:endParaRPr>
          </a:p>
          <a:p>
            <a:pPr marL="457200" lvl="1" indent="0" algn="l">
              <a:buFont typeface="+mj-lt"/>
              <a:buNone/>
            </a:pPr>
            <a:r>
              <a:rPr lang="en-US" b="0" i="0" dirty="0">
                <a:solidFill>
                  <a:srgbClr val="404040"/>
                </a:solidFill>
                <a:effectLst/>
                <a:latin typeface="Inter"/>
              </a:rPr>
              <a:t>----------------------------------------------------------------------------------------------------------------------------------------------------------------------------------------------------------</a:t>
            </a:r>
            <a:endParaRPr lang="vi-VN" b="0" i="0" dirty="0">
              <a:solidFill>
                <a:srgbClr val="404040"/>
              </a:solidFill>
              <a:effectLst/>
              <a:latin typeface="Inter"/>
            </a:endParaRPr>
          </a:p>
          <a:p>
            <a:pPr algn="l"/>
            <a:r>
              <a:rPr lang="vi-VN" b="1" i="0" dirty="0">
                <a:solidFill>
                  <a:srgbClr val="404040"/>
                </a:solidFill>
                <a:effectLst/>
                <a:latin typeface="Inter"/>
              </a:rPr>
              <a:t>Điểm quan trọng cần lưu ý</a:t>
            </a:r>
          </a:p>
          <a:p>
            <a:pPr algn="l">
              <a:buFont typeface="+mj-lt"/>
              <a:buAutoNum type="arabicPeriod"/>
            </a:pPr>
            <a:r>
              <a:rPr lang="vi-VN" b="1" i="0" dirty="0">
                <a:solidFill>
                  <a:srgbClr val="404040"/>
                </a:solidFill>
                <a:effectLst/>
                <a:latin typeface="Inter"/>
              </a:rPr>
              <a:t>Replication gây ra sự không nhất quán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Việc thay đổi một bản sao dữ liệu làm cho nó khác biệt so với các bản sao khác, dẫn đến sự không nhất quán.</a:t>
            </a:r>
          </a:p>
          <a:p>
            <a:pPr algn="l">
              <a:buFont typeface="+mj-lt"/>
              <a:buAutoNum type="arabicPeriod"/>
            </a:pPr>
            <a:r>
              <a:rPr lang="vi-VN" b="1" i="0" dirty="0">
                <a:solidFill>
                  <a:srgbClr val="404040"/>
                </a:solidFill>
                <a:effectLst/>
                <a:latin typeface="Inter"/>
              </a:rPr>
              <a:t>Đồng bộ hóa toàn cầu rất tốn kém</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Để giữ cho tất cả các bản sao nhất quán, cần phải đồng bộ hóa toàn cầu, điều này cản trở khả năng mở rộng.</a:t>
            </a:r>
          </a:p>
          <a:p>
            <a:pPr algn="l">
              <a:buFont typeface="+mj-lt"/>
              <a:buAutoNum type="arabicPeriod"/>
            </a:pPr>
            <a:r>
              <a:rPr lang="vi-VN" b="1" i="0" dirty="0">
                <a:solidFill>
                  <a:srgbClr val="404040"/>
                </a:solidFill>
                <a:effectLst/>
                <a:latin typeface="Inter"/>
              </a:rPr>
              <a:t>Chấp nhận sự không nhất quán có thể cải thiện khả năng mở rộng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Bằng cách nới lỏng yêu cầu về tính nhất quán, nhu cầu đồng bộ hóa toàn cầu được giảm bớt, giúp hệ thống có thể mở rộng quy mô lớn.</a:t>
            </a:r>
          </a:p>
          <a:p>
            <a:pPr marL="742950" lvl="1" indent="-285750" algn="l">
              <a:buFont typeface="+mj-lt"/>
              <a:buAutoNum type="arabicPeriod"/>
            </a:pPr>
            <a:r>
              <a:rPr lang="vi-VN" b="0" i="0" dirty="0">
                <a:solidFill>
                  <a:srgbClr val="404040"/>
                </a:solidFill>
                <a:effectLst/>
                <a:latin typeface="Inter"/>
              </a:rPr>
              <a:t>Tuy nhiên, cách tiếp cận này </a:t>
            </a:r>
            <a:r>
              <a:rPr lang="vi-VN" b="1" i="0" dirty="0">
                <a:solidFill>
                  <a:srgbClr val="404040"/>
                </a:solidFill>
                <a:effectLst/>
                <a:latin typeface="Inter"/>
              </a:rPr>
              <a:t>phụ thuộc vào ứng dụng</a:t>
            </a:r>
            <a:r>
              <a:rPr lang="vi-VN" b="0" i="0" dirty="0">
                <a:solidFill>
                  <a:srgbClr val="404040"/>
                </a:solidFill>
                <a:effectLst/>
                <a:latin typeface="Inter"/>
              </a:rPr>
              <a:t> và không phù hợp với mọi trường hợp.</a:t>
            </a:r>
          </a:p>
          <a:p>
            <a:pPr algn="l">
              <a:buFont typeface="+mj-lt"/>
              <a:buAutoNum type="arabicPeriod"/>
            </a:pPr>
            <a:r>
              <a:rPr lang="vi-VN" b="1" i="0" dirty="0">
                <a:solidFill>
                  <a:srgbClr val="404040"/>
                </a:solidFill>
                <a:effectLst/>
                <a:latin typeface="Inter"/>
              </a:rPr>
              <a:t>Lựa chọn mô hình nhất quán phù hợp</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Nhất quán mạnh</a:t>
            </a:r>
            <a:r>
              <a:rPr lang="vi-VN" b="0" i="0" dirty="0">
                <a:solidFill>
                  <a:srgbClr val="404040"/>
                </a:solidFill>
                <a:effectLst/>
                <a:latin typeface="Inter"/>
              </a:rPr>
              <a:t>: Đảm bảo tất cả các bản sao luôn đồng bộ nhưng hy sinh khả năng mở rộng.</a:t>
            </a:r>
          </a:p>
          <a:p>
            <a:pPr marL="742950" lvl="1" indent="-285750" algn="l">
              <a:buFont typeface="+mj-lt"/>
              <a:buAutoNum type="arabicPeriod"/>
            </a:pPr>
            <a:r>
              <a:rPr lang="vi-VN" b="1" i="0" dirty="0">
                <a:solidFill>
                  <a:srgbClr val="404040"/>
                </a:solidFill>
                <a:effectLst/>
                <a:latin typeface="Inter"/>
              </a:rPr>
              <a:t>Nhất quán cuối cùng</a:t>
            </a:r>
            <a:r>
              <a:rPr lang="vi-VN" b="0" i="0" dirty="0">
                <a:solidFill>
                  <a:srgbClr val="404040"/>
                </a:solidFill>
                <a:effectLst/>
                <a:latin typeface="Inter"/>
              </a:rPr>
              <a:t>: Cho phép sự không nhất quán tạm thời để cải thiện khả năng mở rộng và hiệu suất.</a:t>
            </a:r>
            <a:endParaRPr lang="en-US" b="0" i="0" dirty="0">
              <a:solidFill>
                <a:srgbClr val="404040"/>
              </a:solidFill>
              <a:effectLst/>
              <a:latin typeface="Inter"/>
            </a:endParaRPr>
          </a:p>
          <a:p>
            <a:pPr marL="457200" lvl="1" indent="0" algn="l">
              <a:buFont typeface="+mj-lt"/>
              <a:buNone/>
            </a:pPr>
            <a:r>
              <a:rPr lang="en-US" b="0" i="0" dirty="0">
                <a:solidFill>
                  <a:srgbClr val="404040"/>
                </a:solidFill>
                <a:effectLst/>
                <a:latin typeface="Inter"/>
              </a:rPr>
              <a:t>------------------------------------------------------------------------------------------------------------------------------------------------------------------------------------------------------------</a:t>
            </a:r>
            <a:endParaRPr lang="vi-VN" b="0" i="0" dirty="0">
              <a:solidFill>
                <a:srgbClr val="404040"/>
              </a:solidFill>
              <a:effectLst/>
              <a:latin typeface="Inter"/>
            </a:endParaRPr>
          </a:p>
          <a:p>
            <a:pPr algn="l"/>
            <a:r>
              <a:rPr lang="vi-VN" b="1" i="0" dirty="0">
                <a:solidFill>
                  <a:srgbClr val="404040"/>
                </a:solidFill>
                <a:effectLst/>
                <a:latin typeface="Inter"/>
              </a:rPr>
              <a:t>Kết luận</a:t>
            </a:r>
          </a:p>
          <a:p>
            <a:pPr algn="l"/>
            <a:r>
              <a:rPr lang="vi-VN" b="0" i="0" dirty="0">
                <a:solidFill>
                  <a:srgbClr val="404040"/>
                </a:solidFill>
                <a:effectLst/>
                <a:latin typeface="Inter"/>
              </a:rPr>
              <a:t>Vấn đề với replication nằm ở sự đánh đổi giữa tính nhất quán và khả năng mở rộng. Trong khi đồng bộ hóa toàn cầu đảm bảo tính nhất quán, nó lại hạn chế khả năng mở rộng của hệ thống. Việc chấp nhận sự không nhất quán có thể giảm bớt vấn đề này, nhưng đòi hỏi sự cân nhắc kỹ lưỡng về yêu cầu của ứng dụng. Hiểu rõ sự đánh đổi này là điều cốt yếu để thiết kế các hệ thống phân tán hiệu quả và có khả năng mở rộng.</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38</a:t>
            </a:fld>
            <a:endParaRPr lang="en-US"/>
          </a:p>
        </p:txBody>
      </p:sp>
    </p:spTree>
    <p:extLst>
      <p:ext uri="{BB962C8B-B14F-4D97-AF65-F5344CB8AC3E}">
        <p14:creationId xmlns:p14="http://schemas.microsoft.com/office/powerpoint/2010/main" val="24738346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39</a:t>
            </a:fld>
            <a:endParaRPr lang="en-US"/>
          </a:p>
        </p:txBody>
      </p:sp>
    </p:spTree>
    <p:extLst>
      <p:ext uri="{BB962C8B-B14F-4D97-AF65-F5344CB8AC3E}">
        <p14:creationId xmlns:p14="http://schemas.microsoft.com/office/powerpoint/2010/main" val="2137273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40</a:t>
            </a:fld>
            <a:endParaRPr lang="en-US"/>
          </a:p>
        </p:txBody>
      </p:sp>
    </p:spTree>
    <p:extLst>
      <p:ext uri="{BB962C8B-B14F-4D97-AF65-F5344CB8AC3E}">
        <p14:creationId xmlns:p14="http://schemas.microsoft.com/office/powerpoint/2010/main" val="30623532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41</a:t>
            </a:fld>
            <a:endParaRPr lang="en-US"/>
          </a:p>
        </p:txBody>
      </p:sp>
    </p:spTree>
    <p:extLst>
      <p:ext uri="{BB962C8B-B14F-4D97-AF65-F5344CB8AC3E}">
        <p14:creationId xmlns:p14="http://schemas.microsoft.com/office/powerpoint/2010/main" val="28683795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42</a:t>
            </a:fld>
            <a:endParaRPr lang="en-US"/>
          </a:p>
        </p:txBody>
      </p:sp>
    </p:spTree>
    <p:extLst>
      <p:ext uri="{BB962C8B-B14F-4D97-AF65-F5344CB8AC3E}">
        <p14:creationId xmlns:p14="http://schemas.microsoft.com/office/powerpoint/2010/main" val="3407366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43</a:t>
            </a:fld>
            <a:endParaRPr lang="en-US"/>
          </a:p>
        </p:txBody>
      </p:sp>
    </p:spTree>
    <p:extLst>
      <p:ext uri="{BB962C8B-B14F-4D97-AF65-F5344CB8AC3E}">
        <p14:creationId xmlns:p14="http://schemas.microsoft.com/office/powerpoint/2010/main" val="3722362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44</a:t>
            </a:fld>
            <a:endParaRPr lang="en-US"/>
          </a:p>
        </p:txBody>
      </p:sp>
    </p:spTree>
    <p:extLst>
      <p:ext uri="{BB962C8B-B14F-4D97-AF65-F5344CB8AC3E}">
        <p14:creationId xmlns:p14="http://schemas.microsoft.com/office/powerpoint/2010/main" val="5569608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45</a:t>
            </a:fld>
            <a:endParaRPr lang="en-US"/>
          </a:p>
        </p:txBody>
      </p:sp>
    </p:spTree>
    <p:extLst>
      <p:ext uri="{BB962C8B-B14F-4D97-AF65-F5344CB8AC3E}">
        <p14:creationId xmlns:p14="http://schemas.microsoft.com/office/powerpoint/2010/main" val="118326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46</a:t>
            </a:fld>
            <a:endParaRPr lang="en-US"/>
          </a:p>
        </p:txBody>
      </p:sp>
    </p:spTree>
    <p:extLst>
      <p:ext uri="{BB962C8B-B14F-4D97-AF65-F5344CB8AC3E}">
        <p14:creationId xmlns:p14="http://schemas.microsoft.com/office/powerpoint/2010/main" val="4005203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47</a:t>
            </a:fld>
            <a:endParaRPr lang="en-US"/>
          </a:p>
        </p:txBody>
      </p:sp>
    </p:spTree>
    <p:extLst>
      <p:ext uri="{BB962C8B-B14F-4D97-AF65-F5344CB8AC3E}">
        <p14:creationId xmlns:p14="http://schemas.microsoft.com/office/powerpoint/2010/main" val="30014439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Phát triển hệ thống phân tán: Những </a:t>
            </a:r>
            <a:r>
              <a:rPr lang="en-US" b="1" i="0" dirty="0" err="1">
                <a:solidFill>
                  <a:srgbClr val="404040"/>
                </a:solidFill>
                <a:effectLst/>
                <a:latin typeface="Inter"/>
              </a:rPr>
              <a:t>sai</a:t>
            </a:r>
            <a:r>
              <a:rPr lang="en-US" b="1" i="0" dirty="0">
                <a:solidFill>
                  <a:srgbClr val="404040"/>
                </a:solidFill>
                <a:effectLst/>
                <a:latin typeface="Inter"/>
              </a:rPr>
              <a:t> </a:t>
            </a:r>
            <a:r>
              <a:rPr lang="en-US" b="1" i="0" dirty="0" err="1">
                <a:solidFill>
                  <a:srgbClr val="404040"/>
                </a:solidFill>
                <a:effectLst/>
                <a:latin typeface="Inter"/>
              </a:rPr>
              <a:t>lầm</a:t>
            </a:r>
            <a:endParaRPr lang="vi-VN" b="1" i="0" dirty="0">
              <a:solidFill>
                <a:srgbClr val="404040"/>
              </a:solidFill>
              <a:effectLst/>
              <a:latin typeface="Inter"/>
            </a:endParaRPr>
          </a:p>
          <a:p>
            <a:pPr algn="l"/>
            <a:r>
              <a:rPr lang="vi-VN" b="0" i="0" dirty="0">
                <a:solidFill>
                  <a:srgbClr val="404040"/>
                </a:solidFill>
                <a:effectLst/>
                <a:latin typeface="Inter"/>
              </a:rPr>
              <a:t>Khi phát triển các hệ thống phân tán, có nhiều yếu tố phức tạp và rủi ro có thể dẫn đến những sai lầm nghiêm trọng. Dưới đây là một số quan sát và giả định sai lầm phổ biến mà các nhà phát triển thường mắc phải:</a:t>
            </a:r>
          </a:p>
          <a:p>
            <a:pPr algn="l"/>
            <a:r>
              <a:rPr lang="vi-VN" b="1" i="0" dirty="0">
                <a:solidFill>
                  <a:srgbClr val="404040"/>
                </a:solidFill>
                <a:effectLst/>
                <a:latin typeface="Inter"/>
              </a:rPr>
              <a:t>Quan sát</a:t>
            </a:r>
          </a:p>
          <a:p>
            <a:pPr algn="l"/>
            <a:r>
              <a:rPr lang="vi-VN" b="0" i="0" dirty="0">
                <a:solidFill>
                  <a:srgbClr val="404040"/>
                </a:solidFill>
                <a:effectLst/>
                <a:latin typeface="Inter"/>
              </a:rPr>
              <a:t>Nhiều hệ thống phân tán trở nên phức tạp một cách không cần thiết do những sai lầm trong quá trình thiết kế và triển khai. Những sai lầm này thường xuất phát từ các </a:t>
            </a:r>
            <a:r>
              <a:rPr lang="vi-VN" b="1" i="0" dirty="0">
                <a:solidFill>
                  <a:srgbClr val="404040"/>
                </a:solidFill>
                <a:effectLst/>
                <a:latin typeface="Inter"/>
              </a:rPr>
              <a:t>giả định sai lầm</a:t>
            </a:r>
            <a:r>
              <a:rPr lang="vi-VN" b="0" i="0" dirty="0">
                <a:solidFill>
                  <a:srgbClr val="404040"/>
                </a:solidFill>
                <a:effectLst/>
                <a:latin typeface="Inter"/>
              </a:rPr>
              <a:t> và dẫn đến việc phải vá lỗi sau này. Các giả định sai lầm này thường bị ẩn giấu và không được nhận ra cho đến khi hệ thống gặp sự cố.</a:t>
            </a:r>
          </a:p>
          <a:p>
            <a:pPr algn="l"/>
            <a:r>
              <a:rPr lang="vi-VN" b="1" i="0" dirty="0">
                <a:solidFill>
                  <a:srgbClr val="404040"/>
                </a:solidFill>
                <a:effectLst/>
                <a:latin typeface="Inter"/>
              </a:rPr>
              <a:t>Các giả định sai lầm (và thường bị ẩn giấu)</a:t>
            </a:r>
          </a:p>
          <a:p>
            <a:pPr algn="l">
              <a:buFont typeface="+mj-lt"/>
              <a:buAutoNum type="arabicPeriod"/>
            </a:pPr>
            <a:r>
              <a:rPr lang="vi-VN" b="1" i="0" dirty="0">
                <a:solidFill>
                  <a:srgbClr val="404040"/>
                </a:solidFill>
                <a:effectLst/>
                <a:latin typeface="Inter"/>
              </a:rPr>
              <a:t>Mạng luôn đáng tin cậy (The network is reliable)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Mạng có thể bị gián đoạn, gói tin có thể bị mất, hoặc kết nối có thể bị ngắt đột ngột.</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gặp lỗi nếu không được thiết kế để xử lý các sự cố mạng.</a:t>
            </a:r>
          </a:p>
          <a:p>
            <a:pPr algn="l">
              <a:buFont typeface="+mj-lt"/>
              <a:buAutoNum type="arabicPeriod"/>
            </a:pPr>
            <a:r>
              <a:rPr lang="vi-VN" b="1" i="0" dirty="0">
                <a:solidFill>
                  <a:srgbClr val="404040"/>
                </a:solidFill>
                <a:effectLst/>
                <a:latin typeface="Inter"/>
              </a:rPr>
              <a:t>Mạng luôn an toàn (The network is secure)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Mạng có thể bị tấn công, dữ liệu có thể bị đánh cắp hoặc bị giả mạo.</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bị xâm nhập hoặc dữ liệu nhạy cảm bị lộ nếu không có cơ chế bảo mật phù hợp.</a:t>
            </a:r>
          </a:p>
          <a:p>
            <a:pPr algn="l">
              <a:buFont typeface="+mj-lt"/>
              <a:buAutoNum type="arabicPeriod"/>
            </a:pPr>
            <a:r>
              <a:rPr lang="vi-VN" b="1" i="0" dirty="0">
                <a:solidFill>
                  <a:srgbClr val="404040"/>
                </a:solidFill>
                <a:effectLst/>
                <a:latin typeface="Inter"/>
              </a:rPr>
              <a:t>Mạng là đồng nhất (The network is homogeneous)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Các thiết bị và công nghệ mạng có thể khác nhau về cấu hình, hiệu suất và khả năng tương thích.</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hoạt động không ổn định nếu không được thiết kế để tương thích với nhiều loại mạng khác nhau.</a:t>
            </a:r>
          </a:p>
          <a:p>
            <a:pPr algn="l">
              <a:buFont typeface="+mj-lt"/>
              <a:buAutoNum type="arabicPeriod"/>
            </a:pPr>
            <a:r>
              <a:rPr lang="vi-VN" b="1" i="0" dirty="0">
                <a:solidFill>
                  <a:srgbClr val="404040"/>
                </a:solidFill>
                <a:effectLst/>
                <a:latin typeface="Inter"/>
              </a:rPr>
              <a:t>Topology mạng không thay đổi (The topology does not change)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Các node trong mạng có thể tham gia hoặc rời khỏi hệ thống bất kỳ lúc nào, và topology mạng có thể thay đổi.</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gặp lỗi nếu không được thiết kế để thích ứng với sự thay đổi topology.</a:t>
            </a:r>
          </a:p>
          <a:p>
            <a:pPr algn="l">
              <a:buFont typeface="+mj-lt"/>
              <a:buAutoNum type="arabicPeriod"/>
            </a:pPr>
            <a:r>
              <a:rPr lang="vi-VN" b="1" i="0" dirty="0">
                <a:solidFill>
                  <a:srgbClr val="404040"/>
                </a:solidFill>
                <a:effectLst/>
                <a:latin typeface="Inter"/>
              </a:rPr>
              <a:t>Độ trễ bằng không (Latency is zero)</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Truyền dữ liệu qua mạng luôn có độ trễ, đặc biệt là trong các mạng diện rộng (WAN) hoặc mạng có tải nặng.</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hoạt động chậm hoặc không đáp ứng được yêu cầu thời gian thực nếu không tính đến độ trễ.</a:t>
            </a:r>
          </a:p>
          <a:p>
            <a:pPr algn="l">
              <a:buFont typeface="+mj-lt"/>
              <a:buAutoNum type="arabicPeriod"/>
            </a:pPr>
            <a:r>
              <a:rPr lang="vi-VN" b="1" i="0" dirty="0">
                <a:solidFill>
                  <a:srgbClr val="404040"/>
                </a:solidFill>
                <a:effectLst/>
                <a:latin typeface="Inter"/>
              </a:rPr>
              <a:t>Băng thông vô hạn (Bandwidth is infinite)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Băng thông mạng là có giới hạn và có thể bị chia sẻ bởi nhiều ứng dụng khác nhau.</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bị nghẽn cổ chai nếu không được thiết kế để tối ưu hóa việc sử dụng băng thông.</a:t>
            </a:r>
          </a:p>
          <a:p>
            <a:pPr algn="l">
              <a:buFont typeface="+mj-lt"/>
              <a:buAutoNum type="arabicPeriod"/>
            </a:pPr>
            <a:r>
              <a:rPr lang="vi-VN" b="1" i="0" dirty="0">
                <a:solidFill>
                  <a:srgbClr val="404040"/>
                </a:solidFill>
                <a:effectLst/>
                <a:latin typeface="Inter"/>
              </a:rPr>
              <a:t>Chi phí truyền tải bằng không (Transport cost is zero)</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Truyền tải dữ liệu qua mạng có chi phí, bao gồm chi phí băng thông, năng lượng và thời gian.</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Hệ thống có thể trở nên tốn kém nếu không được thiết kế để giảm thiểu chi phí truyền tải.</a:t>
            </a:r>
          </a:p>
          <a:p>
            <a:pPr algn="l">
              <a:buFont typeface="+mj-lt"/>
              <a:buAutoNum type="arabicPeriod"/>
            </a:pPr>
            <a:r>
              <a:rPr lang="vi-VN" b="1" i="0" dirty="0">
                <a:solidFill>
                  <a:srgbClr val="404040"/>
                </a:solidFill>
                <a:effectLst/>
                <a:latin typeface="Inter"/>
              </a:rPr>
              <a:t>Chỉ có một quản trị viên (There is one administrator)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Thực tế</a:t>
            </a:r>
            <a:r>
              <a:rPr lang="vi-VN" b="0" i="0" dirty="0">
                <a:solidFill>
                  <a:srgbClr val="404040"/>
                </a:solidFill>
                <a:effectLst/>
                <a:latin typeface="Inter"/>
              </a:rPr>
              <a:t>: Trong các hệ thống phân tán lớn, có thể có nhiều quản trị viên hoặc các nhóm quản trị khác nhau.</a:t>
            </a:r>
          </a:p>
          <a:p>
            <a:pPr marL="742950" lvl="1" indent="-285750" algn="l">
              <a:buFont typeface="+mj-lt"/>
              <a:buAutoNum type="arabicPeriod"/>
            </a:pPr>
            <a:r>
              <a:rPr lang="vi-VN" b="1" i="0" dirty="0">
                <a:solidFill>
                  <a:srgbClr val="404040"/>
                </a:solidFill>
                <a:effectLst/>
                <a:latin typeface="Inter"/>
              </a:rPr>
              <a:t>Hậu quả</a:t>
            </a:r>
            <a:r>
              <a:rPr lang="vi-VN" b="0" i="0" dirty="0">
                <a:solidFill>
                  <a:srgbClr val="404040"/>
                </a:solidFill>
                <a:effectLst/>
                <a:latin typeface="Inter"/>
              </a:rPr>
              <a:t>: Xung đột về quyền hạn và chính sách quản trị có thể xảy ra nếu không có cơ chế quản lý phù hợp.</a:t>
            </a:r>
          </a:p>
          <a:p>
            <a:pPr algn="l"/>
            <a:r>
              <a:rPr lang="vi-VN" b="1" i="0" dirty="0">
                <a:solidFill>
                  <a:srgbClr val="404040"/>
                </a:solidFill>
                <a:effectLst/>
                <a:latin typeface="Inter"/>
              </a:rPr>
              <a:t>Kết luận</a:t>
            </a:r>
          </a:p>
          <a:p>
            <a:pPr algn="l"/>
            <a:r>
              <a:rPr lang="vi-VN" b="0" i="0" dirty="0">
                <a:solidFill>
                  <a:srgbClr val="404040"/>
                </a:solidFill>
                <a:effectLst/>
                <a:latin typeface="Inter"/>
              </a:rPr>
              <a:t>Việc phát triển các hệ thống phân tán đòi hỏi sự hiểu biết sâu sắc về các thách thức và rủi ro tiềm ẩn. Các giả định sai lầm về độ tin cậy, bảo mật, hiệu suất và quản trị mạng có thể dẫn đến những hệ thống phức tạp và dễ gặp lỗi. Để tránh những cạm bẫy này, các nhà phát triển cần:</a:t>
            </a:r>
          </a:p>
          <a:p>
            <a:pPr algn="l">
              <a:buFont typeface="Arial" panose="020B0604020202020204" pitchFamily="34" charset="0"/>
              <a:buChar char="•"/>
            </a:pPr>
            <a:r>
              <a:rPr lang="vi-VN" b="1" i="0" dirty="0">
                <a:solidFill>
                  <a:srgbClr val="404040"/>
                </a:solidFill>
                <a:effectLst/>
                <a:latin typeface="Inter"/>
              </a:rPr>
              <a:t>Thiết kế hệ thống với khả năng chịu lỗi</a:t>
            </a:r>
            <a:r>
              <a:rPr lang="vi-VN" b="0" i="0" dirty="0">
                <a:solidFill>
                  <a:srgbClr val="404040"/>
                </a:solidFill>
                <a:effectLst/>
                <a:latin typeface="Inter"/>
              </a:rPr>
              <a:t> và thích ứng với sự thay đổi.</a:t>
            </a:r>
          </a:p>
          <a:p>
            <a:pPr algn="l">
              <a:buFont typeface="Arial" panose="020B0604020202020204" pitchFamily="34" charset="0"/>
              <a:buChar char="•"/>
            </a:pPr>
            <a:r>
              <a:rPr lang="vi-VN" b="1" i="0" dirty="0">
                <a:solidFill>
                  <a:srgbClr val="404040"/>
                </a:solidFill>
                <a:effectLst/>
                <a:latin typeface="Inter"/>
              </a:rPr>
              <a:t>Đánh giá kỹ lưỡng các giả định</a:t>
            </a:r>
            <a:r>
              <a:rPr lang="vi-VN" b="0" i="0" dirty="0">
                <a:solidFill>
                  <a:srgbClr val="404040"/>
                </a:solidFill>
                <a:effectLst/>
                <a:latin typeface="Inter"/>
              </a:rPr>
              <a:t> về mạng và môi trường triển khai.</a:t>
            </a:r>
          </a:p>
          <a:p>
            <a:pPr algn="l">
              <a:buFont typeface="Arial" panose="020B0604020202020204" pitchFamily="34" charset="0"/>
              <a:buChar char="•"/>
            </a:pPr>
            <a:r>
              <a:rPr lang="vi-VN" b="1" i="0" dirty="0">
                <a:solidFill>
                  <a:srgbClr val="404040"/>
                </a:solidFill>
                <a:effectLst/>
                <a:latin typeface="Inter"/>
              </a:rPr>
              <a:t>Sử dụng các mô hình và công nghệ phù hợp</a:t>
            </a:r>
            <a:r>
              <a:rPr lang="vi-VN" b="0" i="0" dirty="0">
                <a:solidFill>
                  <a:srgbClr val="404040"/>
                </a:solidFill>
                <a:effectLst/>
                <a:latin typeface="Inter"/>
              </a:rPr>
              <a:t> để đảm bảo tính nhất quán, bảo mật và hiệu suất của hệ thống.</a:t>
            </a:r>
          </a:p>
          <a:p>
            <a:pPr algn="l"/>
            <a:r>
              <a:rPr lang="vi-VN" b="0" i="0" dirty="0">
                <a:solidFill>
                  <a:srgbClr val="404040"/>
                </a:solidFill>
                <a:effectLst/>
                <a:latin typeface="Inter"/>
              </a:rPr>
              <a:t>Bằng cách nhận thức và giải quyết các giả định sai lầm từ giai đoạn đầu, chúng ta có thể xây dựng các hệ thống phân tán mạnh mẽ, đáng tin cậy và dễ bảo trì hơn.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48</a:t>
            </a:fld>
            <a:endParaRPr lang="en-US"/>
          </a:p>
        </p:txBody>
      </p:sp>
    </p:spTree>
    <p:extLst>
      <p:ext uri="{BB962C8B-B14F-4D97-AF65-F5344CB8AC3E}">
        <p14:creationId xmlns:p14="http://schemas.microsoft.com/office/powerpoint/2010/main" val="22037397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Ba loại hệ thống phân tán</a:t>
            </a:r>
          </a:p>
          <a:p>
            <a:pPr algn="l"/>
            <a:r>
              <a:rPr lang="vi-VN" b="0" i="0" dirty="0">
                <a:solidFill>
                  <a:srgbClr val="404040"/>
                </a:solidFill>
                <a:effectLst/>
                <a:latin typeface="Inter"/>
              </a:rPr>
              <a:t>Hệ thống phân tán được phân loại dựa trên mục đích và cách thức hoạt động của chúng. Dưới đây là ba loại hệ thống phân tán phổ biến:</a:t>
            </a:r>
          </a:p>
          <a:p>
            <a:pPr algn="l"/>
            <a:r>
              <a:rPr lang="vi-VN" b="1" i="0" dirty="0">
                <a:solidFill>
                  <a:srgbClr val="404040"/>
                </a:solidFill>
                <a:effectLst/>
                <a:latin typeface="Inter"/>
              </a:rPr>
              <a:t>1. Hệ thống tính toán hiệu năng cao (High-Performance Distributed Computing Systems)</a:t>
            </a:r>
          </a:p>
          <a:p>
            <a:pPr algn="l">
              <a:buFont typeface="Arial" panose="020B0604020202020204" pitchFamily="34" charset="0"/>
              <a:buChar char="•"/>
            </a:pPr>
            <a:r>
              <a:rPr lang="vi-VN" b="1" i="0" dirty="0">
                <a:solidFill>
                  <a:srgbClr val="404040"/>
                </a:solidFill>
                <a:effectLst/>
                <a:latin typeface="Inter"/>
              </a:rPr>
              <a:t>Mục đích</a:t>
            </a:r>
            <a:r>
              <a:rPr lang="vi-VN" b="0" i="0" dirty="0">
                <a:solidFill>
                  <a:srgbClr val="404040"/>
                </a:solidFill>
                <a:effectLst/>
                <a:latin typeface="Inter"/>
              </a:rPr>
              <a:t>: Tập trung vào việc thực hiện các tác vụ tính toán phức tạp và đòi hỏi hiệu suất cao bằng cách phân phối tải trên nhiều máy tính hoặc node.</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Xử lý song song</a:t>
            </a:r>
            <a:r>
              <a:rPr lang="vi-VN" b="0" i="0" dirty="0">
                <a:solidFill>
                  <a:srgbClr val="404040"/>
                </a:solidFill>
                <a:effectLst/>
                <a:latin typeface="Inter"/>
              </a:rPr>
              <a:t>: Các tác vụ được chia nhỏ và xử lý đồng thời trên nhiều node để tăng tốc độ tính toán.</a:t>
            </a:r>
          </a:p>
          <a:p>
            <a:pPr marL="742950" lvl="1" indent="-285750" algn="l">
              <a:buFont typeface="Arial" panose="020B0604020202020204" pitchFamily="34" charset="0"/>
              <a:buChar char="•"/>
            </a:pPr>
            <a:r>
              <a:rPr lang="vi-VN" b="1" i="0" dirty="0">
                <a:solidFill>
                  <a:srgbClr val="404040"/>
                </a:solidFill>
                <a:effectLst/>
                <a:latin typeface="Inter"/>
              </a:rPr>
              <a:t>Tối ưu hóa hiệu suất</a:t>
            </a:r>
            <a:r>
              <a:rPr lang="vi-VN" b="0" i="0" dirty="0">
                <a:solidFill>
                  <a:srgbClr val="404040"/>
                </a:solidFill>
                <a:effectLst/>
                <a:latin typeface="Inter"/>
              </a:rPr>
              <a:t>: Tập trung vào việc giảm thời gian thực hiện và tăng khả năng xử lý dữ liệu.</a:t>
            </a:r>
          </a:p>
          <a:p>
            <a:pPr marL="742950" lvl="1" indent="-285750" algn="l">
              <a:buFont typeface="Arial" panose="020B0604020202020204" pitchFamily="34" charset="0"/>
              <a:buChar char="•"/>
            </a:pPr>
            <a:r>
              <a:rPr lang="vi-VN" b="1" i="0" dirty="0">
                <a:solidFill>
                  <a:srgbClr val="404040"/>
                </a:solidFill>
                <a:effectLst/>
                <a:latin typeface="Inter"/>
              </a:rPr>
              <a:t>Ứng dụng điển hình</a:t>
            </a:r>
            <a:r>
              <a:rPr lang="vi-VN" b="0" i="0" dirty="0">
                <a:solidFill>
                  <a:srgbClr val="404040"/>
                </a:solidFill>
                <a:effectLst/>
                <a:latin typeface="Inter"/>
              </a:rPr>
              <a:t>: Mô phỏng khoa học, dự báo thời tiết, phân tích dữ liệu lớn (Big Data), và trí tuệ nhân tạo (AI).</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Các hệ thống như </a:t>
            </a:r>
            <a:r>
              <a:rPr lang="vi-VN" b="1" i="0" dirty="0">
                <a:solidFill>
                  <a:srgbClr val="404040"/>
                </a:solidFill>
                <a:effectLst/>
                <a:latin typeface="Inter"/>
              </a:rPr>
              <a:t>Hadoop</a:t>
            </a:r>
            <a:r>
              <a:rPr lang="vi-VN" b="0" i="0" dirty="0">
                <a:solidFill>
                  <a:srgbClr val="404040"/>
                </a:solidFill>
                <a:effectLst/>
                <a:latin typeface="Inter"/>
              </a:rPr>
              <a:t>, </a:t>
            </a:r>
            <a:r>
              <a:rPr lang="vi-VN" b="1" i="0" dirty="0">
                <a:solidFill>
                  <a:srgbClr val="404040"/>
                </a:solidFill>
                <a:effectLst/>
                <a:latin typeface="Inter"/>
              </a:rPr>
              <a:t>Apache Spark</a:t>
            </a:r>
            <a:r>
              <a:rPr lang="vi-VN" b="0" i="0" dirty="0">
                <a:solidFill>
                  <a:srgbClr val="404040"/>
                </a:solidFill>
                <a:effectLst/>
                <a:latin typeface="Inter"/>
              </a:rPr>
              <a:t>, và các siêu máy tính phân tán.</a:t>
            </a:r>
          </a:p>
          <a:p>
            <a:pPr algn="l"/>
            <a:r>
              <a:rPr lang="vi-VN" b="1" i="0" dirty="0">
                <a:solidFill>
                  <a:srgbClr val="404040"/>
                </a:solidFill>
                <a:effectLst/>
                <a:latin typeface="Inter"/>
              </a:rPr>
              <a:t>2. Hệ thống thông tin phân tán (Distributed Information Systems)</a:t>
            </a:r>
          </a:p>
          <a:p>
            <a:pPr algn="l">
              <a:buFont typeface="Arial" panose="020B0604020202020204" pitchFamily="34" charset="0"/>
              <a:buChar char="•"/>
            </a:pPr>
            <a:r>
              <a:rPr lang="vi-VN" b="1" i="0" dirty="0">
                <a:solidFill>
                  <a:srgbClr val="404040"/>
                </a:solidFill>
                <a:effectLst/>
                <a:latin typeface="Inter"/>
              </a:rPr>
              <a:t>Mục đích</a:t>
            </a:r>
            <a:r>
              <a:rPr lang="vi-VN" b="0" i="0" dirty="0">
                <a:solidFill>
                  <a:srgbClr val="404040"/>
                </a:solidFill>
                <a:effectLst/>
                <a:latin typeface="Inter"/>
              </a:rPr>
              <a:t>: Quản lý và xử lý thông tin trên nhiều node, thường tập trung vào việc lưu trữ, truy xuất và chia sẻ dữ liệu.</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Quản lý dữ liệu phân tán</a:t>
            </a:r>
            <a:r>
              <a:rPr lang="vi-VN" b="0" i="0" dirty="0">
                <a:solidFill>
                  <a:srgbClr val="404040"/>
                </a:solidFill>
                <a:effectLst/>
                <a:latin typeface="Inter"/>
              </a:rPr>
              <a:t>: Dữ liệu được lưu trữ và truy cập từ nhiều vị trí khác nhau.</a:t>
            </a:r>
          </a:p>
          <a:p>
            <a:pPr marL="742950" lvl="1" indent="-285750" algn="l">
              <a:buFont typeface="Arial" panose="020B0604020202020204" pitchFamily="34" charset="0"/>
              <a:buChar char="•"/>
            </a:pPr>
            <a:r>
              <a:rPr lang="vi-VN" b="1" i="0" dirty="0">
                <a:solidFill>
                  <a:srgbClr val="404040"/>
                </a:solidFill>
                <a:effectLst/>
                <a:latin typeface="Inter"/>
              </a:rPr>
              <a:t>Tính sẵn sàng cao</a:t>
            </a:r>
            <a:r>
              <a:rPr lang="vi-VN" b="0" i="0" dirty="0">
                <a:solidFill>
                  <a:srgbClr val="404040"/>
                </a:solidFill>
                <a:effectLst/>
                <a:latin typeface="Inter"/>
              </a:rPr>
              <a:t>: Đảm bảo rằng dữ liệu luôn có sẵn ngay cả khi một số node gặp sự cố.</a:t>
            </a:r>
          </a:p>
          <a:p>
            <a:pPr marL="742950" lvl="1" indent="-285750" algn="l">
              <a:buFont typeface="Arial" panose="020B0604020202020204" pitchFamily="34" charset="0"/>
              <a:buChar char="•"/>
            </a:pPr>
            <a:r>
              <a:rPr lang="vi-VN" b="1" i="0" dirty="0">
                <a:solidFill>
                  <a:srgbClr val="404040"/>
                </a:solidFill>
                <a:effectLst/>
                <a:latin typeface="Inter"/>
              </a:rPr>
              <a:t>Ứng dụng điển hình</a:t>
            </a:r>
            <a:r>
              <a:rPr lang="vi-VN" b="0" i="0" dirty="0">
                <a:solidFill>
                  <a:srgbClr val="404040"/>
                </a:solidFill>
                <a:effectLst/>
                <a:latin typeface="Inter"/>
              </a:rPr>
              <a:t>: Hệ thống cơ sở dữ liệu phân tán, hệ thống quản lý nội dung, và các ứng dụng web phân tán.</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Các hệ thống như </a:t>
            </a:r>
            <a:r>
              <a:rPr lang="vi-VN" b="1" i="0" dirty="0">
                <a:solidFill>
                  <a:srgbClr val="404040"/>
                </a:solidFill>
                <a:effectLst/>
                <a:latin typeface="Inter"/>
              </a:rPr>
              <a:t>Amazon DynamoDB</a:t>
            </a:r>
            <a:r>
              <a:rPr lang="vi-VN" b="0" i="0" dirty="0">
                <a:solidFill>
                  <a:srgbClr val="404040"/>
                </a:solidFill>
                <a:effectLst/>
                <a:latin typeface="Inter"/>
              </a:rPr>
              <a:t>, </a:t>
            </a:r>
            <a:r>
              <a:rPr lang="vi-VN" b="1" i="0" dirty="0">
                <a:solidFill>
                  <a:srgbClr val="404040"/>
                </a:solidFill>
                <a:effectLst/>
                <a:latin typeface="Inter"/>
              </a:rPr>
              <a:t>Google Bigtable</a:t>
            </a:r>
            <a:r>
              <a:rPr lang="vi-VN" b="0" i="0" dirty="0">
                <a:solidFill>
                  <a:srgbClr val="404040"/>
                </a:solidFill>
                <a:effectLst/>
                <a:latin typeface="Inter"/>
              </a:rPr>
              <a:t>, và </a:t>
            </a:r>
            <a:r>
              <a:rPr lang="vi-VN" b="1" i="0" dirty="0">
                <a:solidFill>
                  <a:srgbClr val="404040"/>
                </a:solidFill>
                <a:effectLst/>
                <a:latin typeface="Inter"/>
              </a:rPr>
              <a:t>Apache Cassandra</a:t>
            </a:r>
            <a:r>
              <a:rPr lang="vi-VN" b="0" i="0" dirty="0">
                <a:solidFill>
                  <a:srgbClr val="404040"/>
                </a:solidFill>
                <a:effectLst/>
                <a:latin typeface="Inter"/>
              </a:rPr>
              <a:t>.</a:t>
            </a:r>
          </a:p>
          <a:p>
            <a:pPr algn="l"/>
            <a:r>
              <a:rPr lang="vi-VN" b="1" i="0" dirty="0">
                <a:solidFill>
                  <a:srgbClr val="404040"/>
                </a:solidFill>
                <a:effectLst/>
                <a:latin typeface="Inter"/>
              </a:rPr>
              <a:t>3. Hệ thống phân tán cho điện toán phổ biến (Distributed Systems for Pervasive Computing)</a:t>
            </a:r>
          </a:p>
          <a:p>
            <a:pPr algn="l">
              <a:buFont typeface="Arial" panose="020B0604020202020204" pitchFamily="34" charset="0"/>
              <a:buChar char="•"/>
            </a:pPr>
            <a:r>
              <a:rPr lang="vi-VN" b="1" i="0" dirty="0">
                <a:solidFill>
                  <a:srgbClr val="404040"/>
                </a:solidFill>
                <a:effectLst/>
                <a:latin typeface="Inter"/>
              </a:rPr>
              <a:t>Mục đích</a:t>
            </a:r>
            <a:r>
              <a:rPr lang="vi-VN" b="0" i="0" dirty="0">
                <a:solidFill>
                  <a:srgbClr val="404040"/>
                </a:solidFill>
                <a:effectLst/>
                <a:latin typeface="Inter"/>
              </a:rPr>
              <a:t>: Hỗ trợ các thiết bị và ứng dụng nhúng, di động, và IoT (Internet of Things) trong môi trường điện toán phổ biến (pervasive computing).</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Kết nối mọi lúc mọi nơi</a:t>
            </a:r>
            <a:r>
              <a:rPr lang="vi-VN" b="0" i="0" dirty="0">
                <a:solidFill>
                  <a:srgbClr val="404040"/>
                </a:solidFill>
                <a:effectLst/>
                <a:latin typeface="Inter"/>
              </a:rPr>
              <a:t>: Các thiết bị có thể kết nối và tương tác với nhau liên tục, bất kể vị trí địa lý.</a:t>
            </a:r>
          </a:p>
          <a:p>
            <a:pPr marL="742950" lvl="1" indent="-285750" algn="l">
              <a:buFont typeface="Arial" panose="020B0604020202020204" pitchFamily="34" charset="0"/>
              <a:buChar char="•"/>
            </a:pPr>
            <a:r>
              <a:rPr lang="vi-VN" b="1" i="0" dirty="0">
                <a:solidFill>
                  <a:srgbClr val="404040"/>
                </a:solidFill>
                <a:effectLst/>
                <a:latin typeface="Inter"/>
              </a:rPr>
              <a:t>Tính linh hoạt và thích ứng</a:t>
            </a:r>
            <a:r>
              <a:rPr lang="vi-VN" b="0" i="0" dirty="0">
                <a:solidFill>
                  <a:srgbClr val="404040"/>
                </a:solidFill>
                <a:effectLst/>
                <a:latin typeface="Inter"/>
              </a:rPr>
              <a:t>: Hệ thống có khả năng thích ứng với sự thay đổi của môi trường và nhu cầu người dùng.</a:t>
            </a:r>
          </a:p>
          <a:p>
            <a:pPr marL="742950" lvl="1" indent="-285750" algn="l">
              <a:buFont typeface="Arial" panose="020B0604020202020204" pitchFamily="34" charset="0"/>
              <a:buChar char="•"/>
            </a:pPr>
            <a:r>
              <a:rPr lang="vi-VN" b="1" i="0" dirty="0">
                <a:solidFill>
                  <a:srgbClr val="404040"/>
                </a:solidFill>
                <a:effectLst/>
                <a:latin typeface="Inter"/>
              </a:rPr>
              <a:t>Ứng dụng điển hình</a:t>
            </a:r>
            <a:r>
              <a:rPr lang="vi-VN" b="0" i="0" dirty="0">
                <a:solidFill>
                  <a:srgbClr val="404040"/>
                </a:solidFill>
                <a:effectLst/>
                <a:latin typeface="Inter"/>
              </a:rPr>
              <a:t>: Nhà thông minh (smart home), thành phố thông minh (smart city), và các hệ thống chăm sóc sức khỏe di động.</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Các hệ thống như </a:t>
            </a:r>
            <a:r>
              <a:rPr lang="vi-VN" b="1" i="0" dirty="0">
                <a:solidFill>
                  <a:srgbClr val="404040"/>
                </a:solidFill>
                <a:effectLst/>
                <a:latin typeface="Inter"/>
              </a:rPr>
              <a:t>Google Nest</a:t>
            </a:r>
            <a:r>
              <a:rPr lang="vi-VN" b="0" i="0" dirty="0">
                <a:solidFill>
                  <a:srgbClr val="404040"/>
                </a:solidFill>
                <a:effectLst/>
                <a:latin typeface="Inter"/>
              </a:rPr>
              <a:t>, </a:t>
            </a:r>
            <a:r>
              <a:rPr lang="vi-VN" b="1" i="0" dirty="0">
                <a:solidFill>
                  <a:srgbClr val="404040"/>
                </a:solidFill>
                <a:effectLst/>
                <a:latin typeface="Inter"/>
              </a:rPr>
              <a:t>Apple HomeKit</a:t>
            </a:r>
            <a:r>
              <a:rPr lang="vi-VN" b="0" i="0" dirty="0">
                <a:solidFill>
                  <a:srgbClr val="404040"/>
                </a:solidFill>
                <a:effectLst/>
                <a:latin typeface="Inter"/>
              </a:rPr>
              <a:t>, và các nền tảng IoT như </a:t>
            </a:r>
            <a:r>
              <a:rPr lang="vi-VN" b="1" i="0" dirty="0">
                <a:solidFill>
                  <a:srgbClr val="404040"/>
                </a:solidFill>
                <a:effectLst/>
                <a:latin typeface="Inter"/>
              </a:rPr>
              <a:t>AWS IoT Core</a:t>
            </a:r>
            <a:r>
              <a:rPr lang="vi-VN" b="0" i="0" dirty="0">
                <a:solidFill>
                  <a:srgbClr val="404040"/>
                </a:solidFill>
                <a:effectLst/>
                <a:latin typeface="Inter"/>
              </a:rPr>
              <a:t>.</a:t>
            </a:r>
          </a:p>
          <a:p>
            <a:pPr algn="l"/>
            <a:r>
              <a:rPr lang="en-US" b="1" i="0" dirty="0">
                <a:solidFill>
                  <a:srgbClr val="404040"/>
                </a:solidFill>
                <a:effectLst/>
                <a:latin typeface="Inter"/>
              </a:rPr>
              <a:t>-----------------------------------------------------------------------------------------------------------------------------------------------------------------------------------</a:t>
            </a:r>
          </a:p>
          <a:p>
            <a:pPr algn="l"/>
            <a:r>
              <a:rPr lang="vi-VN" b="1" i="0" dirty="0">
                <a:solidFill>
                  <a:srgbClr val="404040"/>
                </a:solidFill>
                <a:effectLst/>
                <a:latin typeface="Inter"/>
              </a:rPr>
              <a:t>So sánh ba loại hệ thống phân tán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 - - - - - - - - - - - - - - - - - - - - - - - - - - - - - - - - - - - - - - - - - - - - - - - - - - - - - - - - - - - - - - - - - - - - - - - - - - - - - - - - - - - - - - - - - - - - - - - - - - - - - - - - - -</a:t>
            </a:r>
          </a:p>
          <a:p>
            <a:pPr algn="l"/>
            <a:r>
              <a:rPr lang="vi-VN" b="1" dirty="0"/>
              <a:t>Tiêu chí</a:t>
            </a:r>
            <a:r>
              <a:rPr lang="en-US" b="1" dirty="0"/>
              <a:t>		</a:t>
            </a:r>
            <a:r>
              <a:rPr lang="vi-VN" b="1" dirty="0"/>
              <a:t>Hệ thống tính toán hiệu năng cao</a:t>
            </a:r>
            <a:r>
              <a:rPr lang="en-US" b="1" dirty="0"/>
              <a:t>	</a:t>
            </a:r>
            <a:r>
              <a:rPr lang="vi-VN" b="1" dirty="0"/>
              <a:t>Hệ thống thông tin phân tán</a:t>
            </a:r>
            <a:r>
              <a:rPr lang="en-US" b="1" dirty="0"/>
              <a:t>	</a:t>
            </a:r>
            <a:r>
              <a:rPr lang="vi-VN" b="1" dirty="0"/>
              <a:t>Hệ thống phân tán cho điện toán phổ biến</a:t>
            </a:r>
            <a:endParaRPr lang="en-US" b="1" dirty="0"/>
          </a:p>
          <a:p>
            <a:pPr algn="l"/>
            <a:r>
              <a:rPr lang="vi-VN" b="1" dirty="0">
                <a:effectLst/>
              </a:rPr>
              <a:t>Mục đích chính</a:t>
            </a:r>
            <a:r>
              <a:rPr lang="en-US" b="1" dirty="0">
                <a:effectLst/>
              </a:rPr>
              <a:t>	</a:t>
            </a:r>
            <a:r>
              <a:rPr lang="vi-VN" dirty="0">
                <a:effectLst/>
              </a:rPr>
              <a:t>Xử lý tác vụ tính toán phức tạp</a:t>
            </a:r>
            <a:r>
              <a:rPr lang="en-US" dirty="0">
                <a:effectLst/>
              </a:rPr>
              <a:t>	</a:t>
            </a:r>
            <a:r>
              <a:rPr lang="vi-VN" dirty="0">
                <a:effectLst/>
              </a:rPr>
              <a:t>Quản lý và chia sẻ dữ liệu</a:t>
            </a:r>
            <a:r>
              <a:rPr lang="en-US" dirty="0">
                <a:effectLst/>
              </a:rPr>
              <a:t>		</a:t>
            </a:r>
            <a:r>
              <a:rPr lang="vi-VN" dirty="0">
                <a:effectLst/>
              </a:rPr>
              <a:t>Hỗ trợ thiết bị di động và IoT</a:t>
            </a:r>
            <a:endParaRPr lang="en-US" dirty="0">
              <a:effectLst/>
            </a:endParaRPr>
          </a:p>
          <a:p>
            <a:pPr algn="l"/>
            <a:r>
              <a:rPr lang="vi-VN" b="1" dirty="0">
                <a:effectLst/>
              </a:rPr>
              <a:t>Tập trung vào</a:t>
            </a:r>
            <a:r>
              <a:rPr lang="en-US" b="1" dirty="0">
                <a:effectLst/>
              </a:rPr>
              <a:t>	</a:t>
            </a:r>
            <a:r>
              <a:rPr lang="vi-VN" dirty="0">
                <a:effectLst/>
              </a:rPr>
              <a:t>Hiệu suất tính toán</a:t>
            </a:r>
            <a:r>
              <a:rPr lang="en-US" dirty="0">
                <a:effectLst/>
              </a:rPr>
              <a:t>		</a:t>
            </a:r>
            <a:r>
              <a:rPr lang="vi-VN" dirty="0">
                <a:effectLst/>
              </a:rPr>
              <a:t>Tính sẵn sàng và nhất quán</a:t>
            </a:r>
            <a:r>
              <a:rPr lang="en-US" dirty="0">
                <a:effectLst/>
              </a:rPr>
              <a:t>		</a:t>
            </a:r>
            <a:r>
              <a:rPr lang="vi-VN" dirty="0">
                <a:effectLst/>
              </a:rPr>
              <a:t>Tính linh hoạt và thích ứng</a:t>
            </a:r>
            <a:endParaRPr lang="en-US" dirty="0">
              <a:effectLst/>
            </a:endParaRPr>
          </a:p>
          <a:p>
            <a:pPr algn="l"/>
            <a:r>
              <a:rPr lang="vi-VN" b="1" dirty="0">
                <a:effectLst/>
              </a:rPr>
              <a:t>Ứng dụng điển hình</a:t>
            </a:r>
            <a:r>
              <a:rPr lang="en-US" b="1" dirty="0">
                <a:effectLst/>
              </a:rPr>
              <a:t>	</a:t>
            </a:r>
            <a:r>
              <a:rPr lang="vi-VN" dirty="0">
                <a:effectLst/>
              </a:rPr>
              <a:t>Mô phỏng, AI, Big Data</a:t>
            </a:r>
            <a:r>
              <a:rPr lang="en-US" dirty="0">
                <a:effectLst/>
              </a:rPr>
              <a:t>		</a:t>
            </a:r>
            <a:r>
              <a:rPr lang="vi-VN" dirty="0">
                <a:effectLst/>
              </a:rPr>
              <a:t>Cơ sở dữ liệu phân tán, ứng dụng web</a:t>
            </a:r>
            <a:r>
              <a:rPr lang="en-US" dirty="0">
                <a:effectLst/>
              </a:rPr>
              <a:t>	</a:t>
            </a:r>
            <a:r>
              <a:rPr lang="vi-VN" dirty="0">
                <a:effectLst/>
              </a:rPr>
              <a:t>Nhà thông minh, thành phố thông minh</a:t>
            </a:r>
            <a:endParaRPr lang="en-US" dirty="0">
              <a:effectLst/>
            </a:endParaRPr>
          </a:p>
          <a:p>
            <a:pPr algn="l"/>
            <a:r>
              <a:rPr lang="vi-VN" b="1" dirty="0">
                <a:effectLst/>
              </a:rPr>
              <a:t>Ví dụ</a:t>
            </a:r>
            <a:r>
              <a:rPr lang="en-US" b="1" dirty="0">
                <a:effectLst/>
              </a:rPr>
              <a:t>		</a:t>
            </a:r>
            <a:r>
              <a:rPr lang="vi-VN" dirty="0">
                <a:effectLst/>
              </a:rPr>
              <a:t>Hadoop, Apache Spark</a:t>
            </a:r>
            <a:r>
              <a:rPr lang="en-US" dirty="0">
                <a:effectLst/>
              </a:rPr>
              <a:t>		</a:t>
            </a:r>
            <a:r>
              <a:rPr lang="vi-VN" dirty="0">
                <a:effectLst/>
              </a:rPr>
              <a:t>Amazon DynamoDB, Cassandra</a:t>
            </a:r>
            <a:r>
              <a:rPr lang="en-US" dirty="0">
                <a:effectLst/>
              </a:rPr>
              <a:t>	</a:t>
            </a:r>
            <a:r>
              <a:rPr lang="vi-VN" dirty="0">
                <a:effectLst/>
              </a:rPr>
              <a:t>Google Nest, AWS IoT Core</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404040"/>
                </a:solidFill>
                <a:effectLst/>
                <a:latin typeface="Inter"/>
              </a:rPr>
              <a:t>-----------------------------------------------------------------------------------------------------------------------------------------------------------------------------------</a:t>
            </a:r>
          </a:p>
          <a:p>
            <a:pPr algn="l"/>
            <a:r>
              <a:rPr lang="vi-VN" b="1" i="0" dirty="0">
                <a:solidFill>
                  <a:srgbClr val="404040"/>
                </a:solidFill>
                <a:effectLst/>
                <a:latin typeface="Inter"/>
              </a:rPr>
              <a:t>Kết luận</a:t>
            </a:r>
          </a:p>
          <a:p>
            <a:pPr algn="l"/>
            <a:r>
              <a:rPr lang="vi-VN" b="0" i="0" dirty="0">
                <a:solidFill>
                  <a:srgbClr val="404040"/>
                </a:solidFill>
                <a:effectLst/>
                <a:latin typeface="Inter"/>
              </a:rPr>
              <a:t>Ba loại hệ thống phân tán này phản ánh sự đa dạng trong cách thức ứng dụng công nghệ phân tán để giải quyết các vấn đề khác nhau:</a:t>
            </a:r>
          </a:p>
          <a:p>
            <a:pPr algn="l">
              <a:buFont typeface="Arial" panose="020B0604020202020204" pitchFamily="34" charset="0"/>
              <a:buChar char="•"/>
            </a:pPr>
            <a:r>
              <a:rPr lang="vi-VN" b="1" i="0" dirty="0">
                <a:solidFill>
                  <a:srgbClr val="404040"/>
                </a:solidFill>
                <a:effectLst/>
                <a:latin typeface="Inter"/>
              </a:rPr>
              <a:t>Hệ thống tính toán hiệu năng cao</a:t>
            </a:r>
            <a:r>
              <a:rPr lang="vi-VN" b="0" i="0" dirty="0">
                <a:solidFill>
                  <a:srgbClr val="404040"/>
                </a:solidFill>
                <a:effectLst/>
                <a:latin typeface="Inter"/>
              </a:rPr>
              <a:t> tập trung vào việc tăng tốc độ xử lý dữ liệu.</a:t>
            </a:r>
          </a:p>
          <a:p>
            <a:pPr algn="l">
              <a:buFont typeface="Arial" panose="020B0604020202020204" pitchFamily="34" charset="0"/>
              <a:buChar char="•"/>
            </a:pPr>
            <a:r>
              <a:rPr lang="vi-VN" b="1" i="0" dirty="0">
                <a:solidFill>
                  <a:srgbClr val="404040"/>
                </a:solidFill>
                <a:effectLst/>
                <a:latin typeface="Inter"/>
              </a:rPr>
              <a:t>Hệ thống thông tin phân tán</a:t>
            </a:r>
            <a:r>
              <a:rPr lang="vi-VN" b="0" i="0" dirty="0">
                <a:solidFill>
                  <a:srgbClr val="404040"/>
                </a:solidFill>
                <a:effectLst/>
                <a:latin typeface="Inter"/>
              </a:rPr>
              <a:t> đảm bảo tính sẵn sàng và nhất quán của dữ liệu.</a:t>
            </a:r>
          </a:p>
          <a:p>
            <a:pPr algn="l">
              <a:buFont typeface="Arial" panose="020B0604020202020204" pitchFamily="34" charset="0"/>
              <a:buChar char="•"/>
            </a:pPr>
            <a:r>
              <a:rPr lang="vi-VN" b="1" i="0" dirty="0">
                <a:solidFill>
                  <a:srgbClr val="404040"/>
                </a:solidFill>
                <a:effectLst/>
                <a:latin typeface="Inter"/>
              </a:rPr>
              <a:t>Hệ thống phân tán cho điện toán phổ biến</a:t>
            </a:r>
            <a:r>
              <a:rPr lang="vi-VN" b="0" i="0" dirty="0">
                <a:solidFill>
                  <a:srgbClr val="404040"/>
                </a:solidFill>
                <a:effectLst/>
                <a:latin typeface="Inter"/>
              </a:rPr>
              <a:t> hỗ trợ các thiết bị và ứng dụng trong môi trường IoT và di động.</a:t>
            </a:r>
          </a:p>
          <a:p>
            <a:pPr algn="l"/>
            <a:r>
              <a:rPr lang="vi-VN" b="0" i="0" dirty="0">
                <a:solidFill>
                  <a:srgbClr val="404040"/>
                </a:solidFill>
                <a:effectLst/>
                <a:latin typeface="Inter"/>
              </a:rPr>
              <a:t>Việc hiểu rõ các loại hệ thống này giúp lựa chọn và thiết kế giải pháp phù hợp với nhu cầu cụ thể của từng ứng dụng.</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49</a:t>
            </a:fld>
            <a:endParaRPr lang="en-US"/>
          </a:p>
        </p:txBody>
      </p:sp>
    </p:spTree>
    <p:extLst>
      <p:ext uri="{BB962C8B-B14F-4D97-AF65-F5344CB8AC3E}">
        <p14:creationId xmlns:p14="http://schemas.microsoft.com/office/powerpoint/2010/main" val="27542770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Tính toán song song (Parallel Computing)</a:t>
            </a:r>
          </a:p>
          <a:p>
            <a:pPr algn="l"/>
            <a:r>
              <a:rPr lang="vi-VN" b="0" i="0" dirty="0">
                <a:solidFill>
                  <a:srgbClr val="404040"/>
                </a:solidFill>
                <a:effectLst/>
                <a:latin typeface="Inter"/>
              </a:rPr>
              <a:t>Tính toán song song là một phương pháp xử lý trong đó nhiều phép tính được thực hiện đồng thời, thường bằng cách chia nhỏ một vấn đề lớn thành các phần nhỏ hơn và xử lý chúng song song trên nhiều bộ xử lý (processors) hoặc lõi (cores). Dưới đây là một số quan sát và khái niệm liên quan đến tính toán song song và sự phát triển của nó trong lĩnh vực tính toán hiệu năng cao.</a:t>
            </a:r>
          </a:p>
          <a:p>
            <a:pPr algn="l"/>
            <a:br>
              <a:rPr lang="vi-VN" dirty="0"/>
            </a:br>
            <a:r>
              <a:rPr lang="vi-VN" b="1" i="0" dirty="0">
                <a:solidFill>
                  <a:srgbClr val="404040"/>
                </a:solidFill>
                <a:effectLst/>
                <a:latin typeface="Inter"/>
              </a:rPr>
              <a:t>Quan sát</a:t>
            </a:r>
            <a:endParaRPr lang="en-US" b="1" i="0" dirty="0">
              <a:solidFill>
                <a:srgbClr val="404040"/>
              </a:solidFill>
              <a:effectLst/>
              <a:latin typeface="Inter"/>
            </a:endParaRPr>
          </a:p>
          <a:p>
            <a:pPr algn="l"/>
            <a:r>
              <a:rPr lang="vi-VN" b="1" i="0" dirty="0">
                <a:solidFill>
                  <a:srgbClr val="404040"/>
                </a:solidFill>
                <a:effectLst/>
                <a:latin typeface="Inter"/>
              </a:rPr>
              <a:t>Tính toán hiệu năng cao bắt đầu với tính toán song song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Tính toán song song là nền tảng của các hệ thống tính toán hiệu năng cao (high-performance computing - HPC). Ban đầu, các hệ thống này tập trung vào việc sử dụng nhiều bộ xử lý hoặc lõi để tăng tốc độ xử lý dữ liệu.</a:t>
            </a:r>
          </a:p>
          <a:p>
            <a:pPr marL="742950" lvl="1" indent="-285750" algn="l">
              <a:buFont typeface="+mj-lt"/>
              <a:buAutoNum type="arabicPeriod"/>
            </a:pPr>
            <a:r>
              <a:rPr lang="vi-VN" b="0" i="0" dirty="0">
                <a:solidFill>
                  <a:srgbClr val="404040"/>
                </a:solidFill>
                <a:effectLst/>
                <a:latin typeface="Inter"/>
              </a:rPr>
              <a:t>Các hệ thống này được thiết kế để giải quyết các bài toán phức tạp, đòi hỏi khả năng tính toán lớn, chẳng hạn như mô phỏng khoa học, dự báo thời tiết và phân tích dữ liệu lớn.</a:t>
            </a:r>
          </a:p>
          <a:p>
            <a:pPr algn="l"/>
            <a:r>
              <a:rPr lang="vi-VN" b="1" i="0" dirty="0">
                <a:solidFill>
                  <a:srgbClr val="404040"/>
                </a:solidFill>
                <a:effectLst/>
                <a:latin typeface="Inter"/>
              </a:rPr>
              <a:t>Hình ảnh minh họa</a:t>
            </a:r>
          </a:p>
          <a:p>
            <a:pPr algn="l"/>
            <a:r>
              <a:rPr lang="vi-VN" b="0" i="0" dirty="0">
                <a:solidFill>
                  <a:srgbClr val="404040"/>
                </a:solidFill>
                <a:effectLst/>
                <a:latin typeface="Inter"/>
              </a:rPr>
              <a:t>Hình ảnh mô tả một hệ thống tính toán song song với các thành phần chính:</a:t>
            </a:r>
          </a:p>
          <a:p>
            <a:pPr algn="l">
              <a:buFont typeface="Arial" panose="020B0604020202020204" pitchFamily="34" charset="0"/>
              <a:buChar char="•"/>
            </a:pPr>
            <a:r>
              <a:rPr lang="vi-VN" b="1" i="0" dirty="0">
                <a:solidFill>
                  <a:srgbClr val="404040"/>
                </a:solidFill>
                <a:effectLst/>
                <a:latin typeface="Inter"/>
              </a:rPr>
              <a:t>P (Processor)</a:t>
            </a:r>
            <a:r>
              <a:rPr lang="vi-VN" b="0" i="0" dirty="0">
                <a:solidFill>
                  <a:srgbClr val="404040"/>
                </a:solidFill>
                <a:effectLst/>
                <a:latin typeface="Inter"/>
              </a:rPr>
              <a:t>: Các bộ xử lý hoặc lõi xử lý.</a:t>
            </a:r>
          </a:p>
          <a:p>
            <a:pPr algn="l">
              <a:buFont typeface="Arial" panose="020B0604020202020204" pitchFamily="34" charset="0"/>
              <a:buChar char="•"/>
            </a:pPr>
            <a:r>
              <a:rPr lang="vi-VN" b="1" i="0" dirty="0">
                <a:solidFill>
                  <a:srgbClr val="404040"/>
                </a:solidFill>
                <a:effectLst/>
                <a:latin typeface="Inter"/>
              </a:rPr>
              <a:t>M (Memory)</a:t>
            </a:r>
            <a:r>
              <a:rPr lang="vi-VN" b="0" i="0" dirty="0">
                <a:solidFill>
                  <a:srgbClr val="404040"/>
                </a:solidFill>
                <a:effectLst/>
                <a:latin typeface="Inter"/>
              </a:rPr>
              <a:t>: Bộ nhớ được chia sẻ hoặc riêng biệt.</a:t>
            </a:r>
          </a:p>
          <a:p>
            <a:pPr algn="l">
              <a:buFont typeface="Arial" panose="020B0604020202020204" pitchFamily="34" charset="0"/>
              <a:buChar char="•"/>
            </a:pPr>
            <a:r>
              <a:rPr lang="vi-VN" b="1" i="0" dirty="0">
                <a:solidFill>
                  <a:srgbClr val="404040"/>
                </a:solidFill>
                <a:effectLst/>
                <a:latin typeface="Inter"/>
              </a:rPr>
              <a:t>Interconnect</a:t>
            </a:r>
            <a:r>
              <a:rPr lang="vi-VN" b="0" i="0" dirty="0">
                <a:solidFill>
                  <a:srgbClr val="404040"/>
                </a:solidFill>
                <a:effectLst/>
                <a:latin typeface="Inter"/>
              </a:rPr>
              <a:t>: Mạng kết nối giữa các bộ xử lý và bộ nhớ.</a:t>
            </a:r>
          </a:p>
          <a:p>
            <a:pPr algn="l"/>
            <a:r>
              <a:rPr lang="vi-VN" b="0" i="0" dirty="0">
                <a:solidFill>
                  <a:srgbClr val="404040"/>
                </a:solidFill>
                <a:effectLst/>
                <a:latin typeface="Inter"/>
              </a:rPr>
              <a:t>Cấu trúc này có thể đại diện cho một hệ thống đa xử lý (multiprocessor) hoặc đa máy tính (multicomputer), tùy thuộc vào cách bộ nhớ và kết nối được tổ chức.</a:t>
            </a:r>
          </a:p>
          <a:p>
            <a:pPr algn="l">
              <a:buFont typeface="+mj-lt"/>
              <a:buAutoNum type="arabicPeriod"/>
            </a:pPr>
            <a:r>
              <a:rPr lang="vi-VN" b="1" i="0" dirty="0">
                <a:solidFill>
                  <a:srgbClr val="404040"/>
                </a:solidFill>
                <a:effectLst/>
                <a:latin typeface="Inter"/>
              </a:rPr>
              <a:t>Đa xử lý (Multiprocessor) và đa lõi (Multicore) so với đa máy tính (Multicomputer)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Đa xử lý (Multiprocessor)</a:t>
            </a:r>
            <a:r>
              <a:rPr lang="vi-VN" b="0" i="0" dirty="0">
                <a:solidFill>
                  <a:srgbClr val="404040"/>
                </a:solidFill>
                <a:effectLst/>
                <a:latin typeface="Inter"/>
              </a:rPr>
              <a:t>: Một hệ thống có nhiều bộ xử lý (processors) chia sẻ chung một bộ nhớ (memory). Các bộ xử lý này có thể truy cập vào cùng một không gian bộ nhớ và giao tiếp với nhau thông qua bộ nhớ chia sẻ.</a:t>
            </a:r>
          </a:p>
          <a:p>
            <a:pPr marL="1143000" lvl="2" indent="-228600" algn="l">
              <a:buFont typeface="+mj-lt"/>
              <a:buAutoNum type="arabicPeriod"/>
            </a:pPr>
            <a:r>
              <a:rPr lang="vi-VN" b="1" i="0" dirty="0">
                <a:solidFill>
                  <a:srgbClr val="404040"/>
                </a:solidFill>
                <a:effectLst/>
                <a:latin typeface="Inter"/>
              </a:rPr>
              <a:t>Ưu điểm</a:t>
            </a:r>
            <a:r>
              <a:rPr lang="vi-VN" b="0" i="0" dirty="0">
                <a:solidFill>
                  <a:srgbClr val="404040"/>
                </a:solidFill>
                <a:effectLst/>
                <a:latin typeface="Inter"/>
              </a:rPr>
              <a:t>: Dễ dàng chia sẻ dữ liệu giữa các bộ xử lý.</a:t>
            </a:r>
          </a:p>
          <a:p>
            <a:pPr marL="1143000" lvl="2" indent="-228600" algn="l">
              <a:buFont typeface="+mj-lt"/>
              <a:buAutoNum type="arabicPeriod"/>
            </a:pPr>
            <a:r>
              <a:rPr lang="vi-VN" b="1" i="0" dirty="0">
                <a:solidFill>
                  <a:srgbClr val="404040"/>
                </a:solidFill>
                <a:effectLst/>
                <a:latin typeface="Inter"/>
              </a:rPr>
              <a:t>Nhược điểm</a:t>
            </a:r>
            <a:r>
              <a:rPr lang="vi-VN" b="0" i="0" dirty="0">
                <a:solidFill>
                  <a:srgbClr val="404040"/>
                </a:solidFill>
                <a:effectLst/>
                <a:latin typeface="Inter"/>
              </a:rPr>
              <a:t>: Khó mở rộng quy mô do giới hạn của bộ nhớ chia sẻ.</a:t>
            </a:r>
          </a:p>
          <a:p>
            <a:pPr marL="742950" lvl="1" indent="-285750" algn="l">
              <a:buFont typeface="+mj-lt"/>
              <a:buAutoNum type="arabicPeriod"/>
            </a:pPr>
            <a:r>
              <a:rPr lang="vi-VN" b="1" i="0" dirty="0">
                <a:solidFill>
                  <a:srgbClr val="404040"/>
                </a:solidFill>
                <a:effectLst/>
                <a:latin typeface="Inter"/>
              </a:rPr>
              <a:t>Đa lõi (Multicore)</a:t>
            </a:r>
            <a:r>
              <a:rPr lang="vi-VN" b="0" i="0" dirty="0">
                <a:solidFill>
                  <a:srgbClr val="404040"/>
                </a:solidFill>
                <a:effectLst/>
                <a:latin typeface="Inter"/>
              </a:rPr>
              <a:t>: Một bộ xử lý có nhiều lõi (cores) trên cùng một chip. Mỗi lõi có thể thực hiện các tác vụ độc lập, nhưng chúng chia sẻ tài nguyên như bộ nhớ cache và bus dữ liệu.</a:t>
            </a:r>
          </a:p>
          <a:p>
            <a:pPr marL="1143000" lvl="2" indent="-228600" algn="l">
              <a:buFont typeface="+mj-lt"/>
              <a:buAutoNum type="arabicPeriod"/>
            </a:pPr>
            <a:r>
              <a:rPr lang="vi-VN" b="1" i="0" dirty="0">
                <a:solidFill>
                  <a:srgbClr val="404040"/>
                </a:solidFill>
                <a:effectLst/>
                <a:latin typeface="Inter"/>
              </a:rPr>
              <a:t>Ưu điểm</a:t>
            </a:r>
            <a:r>
              <a:rPr lang="vi-VN" b="0" i="0" dirty="0">
                <a:solidFill>
                  <a:srgbClr val="404040"/>
                </a:solidFill>
                <a:effectLst/>
                <a:latin typeface="Inter"/>
              </a:rPr>
              <a:t>: Tiết kiệm năng lượng và cải thiện hiệu suất trên một chip duy nhất.</a:t>
            </a:r>
          </a:p>
          <a:p>
            <a:pPr marL="1143000" lvl="2" indent="-228600" algn="l">
              <a:buFont typeface="+mj-lt"/>
              <a:buAutoNum type="arabicPeriod"/>
            </a:pPr>
            <a:r>
              <a:rPr lang="vi-VN" b="1" i="0" dirty="0">
                <a:solidFill>
                  <a:srgbClr val="404040"/>
                </a:solidFill>
                <a:effectLst/>
                <a:latin typeface="Inter"/>
              </a:rPr>
              <a:t>Nhược điểm</a:t>
            </a:r>
            <a:r>
              <a:rPr lang="vi-VN" b="0" i="0" dirty="0">
                <a:solidFill>
                  <a:srgbClr val="404040"/>
                </a:solidFill>
                <a:effectLst/>
                <a:latin typeface="Inter"/>
              </a:rPr>
              <a:t>: Giới hạn về số lõi có thể tích hợp trên một chip.</a:t>
            </a:r>
          </a:p>
          <a:p>
            <a:pPr marL="742950" lvl="1" indent="-285750" algn="l">
              <a:buFont typeface="+mj-lt"/>
              <a:buAutoNum type="arabicPeriod"/>
            </a:pPr>
            <a:r>
              <a:rPr lang="vi-VN" b="1" i="0" dirty="0">
                <a:solidFill>
                  <a:srgbClr val="404040"/>
                </a:solidFill>
                <a:effectLst/>
                <a:latin typeface="Inter"/>
              </a:rPr>
              <a:t>Đa máy tính (Multicomputer)</a:t>
            </a:r>
            <a:r>
              <a:rPr lang="vi-VN" b="0" i="0" dirty="0">
                <a:solidFill>
                  <a:srgbClr val="404040"/>
                </a:solidFill>
                <a:effectLst/>
                <a:latin typeface="Inter"/>
              </a:rPr>
              <a:t>: Một hệ thống gồm nhiều máy tính độc lập, mỗi máy tính có bộ xử lý và bộ nhớ riêng, kết nối với nhau thông qua mạng.</a:t>
            </a:r>
          </a:p>
          <a:p>
            <a:pPr marL="1143000" lvl="2" indent="-228600" algn="l">
              <a:buFont typeface="+mj-lt"/>
              <a:buAutoNum type="arabicPeriod"/>
            </a:pPr>
            <a:r>
              <a:rPr lang="vi-VN" b="1" i="0" dirty="0">
                <a:solidFill>
                  <a:srgbClr val="404040"/>
                </a:solidFill>
                <a:effectLst/>
                <a:latin typeface="Inter"/>
              </a:rPr>
              <a:t>Ưu điểm</a:t>
            </a:r>
            <a:r>
              <a:rPr lang="vi-VN" b="0" i="0" dirty="0">
                <a:solidFill>
                  <a:srgbClr val="404040"/>
                </a:solidFill>
                <a:effectLst/>
                <a:latin typeface="Inter"/>
              </a:rPr>
              <a:t>: Dễ dàng mở rộng quy mô bằng cách thêm nhiều máy tính.</a:t>
            </a:r>
          </a:p>
          <a:p>
            <a:pPr marL="1143000" lvl="2" indent="-228600" algn="l">
              <a:buFont typeface="+mj-lt"/>
              <a:buAutoNum type="arabicPeriod"/>
            </a:pPr>
            <a:r>
              <a:rPr lang="vi-VN" b="1" i="0" dirty="0">
                <a:solidFill>
                  <a:srgbClr val="404040"/>
                </a:solidFill>
                <a:effectLst/>
                <a:latin typeface="Inter"/>
              </a:rPr>
              <a:t>Nhược điểm</a:t>
            </a:r>
            <a:r>
              <a:rPr lang="vi-VN" b="0" i="0" dirty="0">
                <a:solidFill>
                  <a:srgbClr val="404040"/>
                </a:solidFill>
                <a:effectLst/>
                <a:latin typeface="Inter"/>
              </a:rPr>
              <a:t>: Khó chia sẻ dữ liệu giữa các máy tính do không có bộ nhớ chia sẻ.</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50</a:t>
            </a:fld>
            <a:endParaRPr lang="en-US"/>
          </a:p>
        </p:txBody>
      </p:sp>
    </p:spTree>
    <p:extLst>
      <p:ext uri="{BB962C8B-B14F-4D97-AF65-F5344CB8AC3E}">
        <p14:creationId xmlns:p14="http://schemas.microsoft.com/office/powerpoint/2010/main" val="861950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Hệ thống</a:t>
            </a:r>
            <a:r>
              <a:rPr lang="en-US" b="1" i="0" dirty="0">
                <a:solidFill>
                  <a:srgbClr val="404040"/>
                </a:solidFill>
                <a:effectLst/>
                <a:latin typeface="Inter"/>
              </a:rPr>
              <a:t> </a:t>
            </a:r>
            <a:r>
              <a:rPr lang="vi-VN" b="1" i="0" dirty="0">
                <a:solidFill>
                  <a:srgbClr val="404040"/>
                </a:solidFill>
                <a:effectLst/>
                <a:latin typeface="Inter"/>
              </a:rPr>
              <a:t>phân tán chia sẻ bộ nhớ (Distributed Shared Memory Systems)</a:t>
            </a:r>
          </a:p>
          <a:p>
            <a:pPr algn="l"/>
            <a:r>
              <a:rPr lang="vi-VN" b="0" i="0" dirty="0">
                <a:solidFill>
                  <a:srgbClr val="404040"/>
                </a:solidFill>
                <a:effectLst/>
                <a:latin typeface="Inter"/>
              </a:rPr>
              <a:t>Hệ thống</a:t>
            </a:r>
            <a:r>
              <a:rPr lang="en-US" b="0" i="0" dirty="0">
                <a:solidFill>
                  <a:srgbClr val="404040"/>
                </a:solidFill>
                <a:effectLst/>
                <a:latin typeface="Inter"/>
              </a:rPr>
              <a:t> </a:t>
            </a:r>
            <a:r>
              <a:rPr lang="en-US" b="0" i="0" dirty="0" err="1">
                <a:solidFill>
                  <a:srgbClr val="404040"/>
                </a:solidFill>
                <a:effectLst/>
                <a:latin typeface="Inter"/>
              </a:rPr>
              <a:t>phân</a:t>
            </a:r>
            <a:r>
              <a:rPr lang="en-US" b="0" i="0" dirty="0">
                <a:solidFill>
                  <a:srgbClr val="404040"/>
                </a:solidFill>
                <a:effectLst/>
                <a:latin typeface="Inter"/>
              </a:rPr>
              <a:t> </a:t>
            </a:r>
            <a:r>
              <a:rPr lang="en-US" b="0" i="0" dirty="0" err="1">
                <a:solidFill>
                  <a:srgbClr val="404040"/>
                </a:solidFill>
                <a:effectLst/>
                <a:latin typeface="Inter"/>
              </a:rPr>
              <a:t>tán</a:t>
            </a:r>
            <a:r>
              <a:rPr lang="vi-VN" b="0" i="0" dirty="0">
                <a:solidFill>
                  <a:srgbClr val="404040"/>
                </a:solidFill>
                <a:effectLst/>
                <a:latin typeface="Inter"/>
              </a:rPr>
              <a:t> chia sẻ </a:t>
            </a:r>
            <a:r>
              <a:rPr lang="en-US" b="0" i="0" dirty="0" err="1">
                <a:solidFill>
                  <a:srgbClr val="404040"/>
                </a:solidFill>
                <a:effectLst/>
                <a:latin typeface="Inter"/>
              </a:rPr>
              <a:t>bộ</a:t>
            </a:r>
            <a:r>
              <a:rPr lang="en-US" b="0" i="0" dirty="0">
                <a:solidFill>
                  <a:srgbClr val="404040"/>
                </a:solidFill>
                <a:effectLst/>
                <a:latin typeface="Inter"/>
              </a:rPr>
              <a:t> </a:t>
            </a:r>
            <a:r>
              <a:rPr lang="en-US" b="0" i="0" dirty="0" err="1">
                <a:solidFill>
                  <a:srgbClr val="404040"/>
                </a:solidFill>
                <a:effectLst/>
                <a:latin typeface="Inter"/>
              </a:rPr>
              <a:t>nhớ</a:t>
            </a:r>
            <a:r>
              <a:rPr lang="vi-VN" b="0" i="0" dirty="0">
                <a:solidFill>
                  <a:srgbClr val="404040"/>
                </a:solidFill>
                <a:effectLst/>
                <a:latin typeface="Inter"/>
              </a:rPr>
              <a:t> (DSM) là một phương pháp nhằm mô phỏng bộ nhớ chia sẻ trên các hệ thống đa máy tính (multicomputers), vốn không có bộ nhớ vật lý chia sẻ. Dưới đây là một số quan sát và thách thức liên quan đến DSM:</a:t>
            </a:r>
          </a:p>
          <a:p>
            <a:pPr algn="l"/>
            <a:r>
              <a:rPr lang="vi-VN" b="1" i="0" dirty="0">
                <a:solidFill>
                  <a:srgbClr val="404040"/>
                </a:solidFill>
                <a:effectLst/>
                <a:latin typeface="Inter"/>
              </a:rPr>
              <a:t>Quan sát</a:t>
            </a:r>
          </a:p>
          <a:p>
            <a:pPr algn="l">
              <a:buFont typeface="+mj-lt"/>
              <a:buAutoNum type="arabicPeriod"/>
            </a:pPr>
            <a:r>
              <a:rPr lang="vi-VN" b="1" i="0" dirty="0">
                <a:solidFill>
                  <a:srgbClr val="404040"/>
                </a:solidFill>
                <a:effectLst/>
                <a:latin typeface="Inter"/>
              </a:rPr>
              <a:t>Đa xử lý (Multiprocessors) dễ lập trình hơn đa máy tính (Multicomputers)</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Trong hệ thống đa xử lý, các bộ xử lý chia sẻ chung một bộ nhớ vật lý, điều này làm cho việc lập trình trở nên dễ dàng hơn vì các tiến trình có thể truy cập trực tiếp vào cùng một không gian bộ nhớ.</a:t>
            </a:r>
          </a:p>
          <a:p>
            <a:pPr marL="742950" lvl="1" indent="-285750" algn="l">
              <a:buFont typeface="+mj-lt"/>
              <a:buAutoNum type="arabicPeriod"/>
            </a:pPr>
            <a:r>
              <a:rPr lang="vi-VN" b="0" i="0" dirty="0">
                <a:solidFill>
                  <a:srgbClr val="404040"/>
                </a:solidFill>
                <a:effectLst/>
                <a:latin typeface="Inter"/>
              </a:rPr>
              <a:t>Tuy nhiên, khi số lượng bộ xử lý (hoặc lõi) tăng lên, việc duy trì tính nhất quán và hiệu suất của bộ nhớ chia sẻ trở nên khó khăn.</a:t>
            </a:r>
          </a:p>
          <a:p>
            <a:pPr algn="l">
              <a:buFont typeface="+mj-lt"/>
              <a:buAutoNum type="arabicPeriod"/>
            </a:pPr>
            <a:r>
              <a:rPr lang="vi-VN" b="1" i="0" dirty="0">
                <a:solidFill>
                  <a:srgbClr val="404040"/>
                </a:solidFill>
                <a:effectLst/>
                <a:latin typeface="Inter"/>
              </a:rPr>
              <a:t>Giải pháp: Triển khai mô hình bộ nhớ chia sẻ trên đa máy tính</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Để khắc phục hạn chế của đa xử lý, các nhà nghiên cứu đã đề xuất việc triển khai mô hình bộ nhớ chia sẻ trên các hệ thống đa máy tính, nơi mỗi máy tính có bộ nhớ riêng.</a:t>
            </a:r>
          </a:p>
          <a:p>
            <a:pPr marL="742950" lvl="1" indent="-285750" algn="l">
              <a:buFont typeface="+mj-lt"/>
              <a:buAutoNum type="arabicPeriod"/>
            </a:pPr>
            <a:r>
              <a:rPr lang="vi-VN" b="1" i="0" dirty="0">
                <a:solidFill>
                  <a:srgbClr val="404040"/>
                </a:solidFill>
                <a:effectLst/>
                <a:latin typeface="Inter"/>
              </a:rPr>
              <a:t>Ví dụ thông qua kỹ thuật bộ nhớ ảo (Virtual Memory)</a:t>
            </a:r>
            <a:r>
              <a:rPr lang="vi-VN" b="0" i="0" dirty="0">
                <a:solidFill>
                  <a:srgbClr val="404040"/>
                </a:solidFill>
                <a:effectLst/>
                <a:latin typeface="Inter"/>
              </a:rPr>
              <a:t>:</a:t>
            </a:r>
          </a:p>
          <a:p>
            <a:pPr marL="1143000" lvl="2" indent="-228600" algn="l">
              <a:buFont typeface="+mj-lt"/>
              <a:buAutoNum type="arabicPeriod"/>
            </a:pPr>
            <a:r>
              <a:rPr lang="vi-VN" b="0" i="0" dirty="0">
                <a:solidFill>
                  <a:srgbClr val="404040"/>
                </a:solidFill>
                <a:effectLst/>
                <a:latin typeface="Inter"/>
              </a:rPr>
              <a:t>Tất cả các trang bộ nhớ chính (main-memory pages) từ các bộ xử lý khác nhau được ánh xạ vào một không gian địa chỉ ảo duy nhất.</a:t>
            </a:r>
          </a:p>
          <a:p>
            <a:pPr marL="1143000" lvl="2" indent="-228600" algn="l">
              <a:buFont typeface="+mj-lt"/>
              <a:buAutoNum type="arabicPeriod"/>
            </a:pPr>
            <a:r>
              <a:rPr lang="vi-VN" b="0" i="0" dirty="0">
                <a:solidFill>
                  <a:srgbClr val="404040"/>
                </a:solidFill>
                <a:effectLst/>
                <a:latin typeface="Inter"/>
              </a:rPr>
              <a:t>Nếu một tiến trình trên bộ xử lý A truy cập vào trang P nằm trên bộ xử lý B, hệ điều hành (OS) tại A sẽ bẫy (trap) yêu cầu và tìm nạp (fetch) trang P từ B, tương tự như cách nó sẽ làm nếu P nằm trên đĩa cục bộ.</a:t>
            </a:r>
          </a:p>
          <a:p>
            <a:pPr algn="l"/>
            <a:r>
              <a:rPr lang="vi-VN" b="1" i="0" dirty="0">
                <a:solidFill>
                  <a:srgbClr val="404040"/>
                </a:solidFill>
                <a:effectLst/>
                <a:latin typeface="Inter"/>
              </a:rPr>
              <a:t>Vấn đề</a:t>
            </a:r>
          </a:p>
          <a:p>
            <a:pPr algn="l">
              <a:buFont typeface="+mj-lt"/>
              <a:buAutoNum type="arabicPeriod"/>
            </a:pPr>
            <a:r>
              <a:rPr lang="vi-VN" b="1" i="0" dirty="0">
                <a:solidFill>
                  <a:srgbClr val="404040"/>
                </a:solidFill>
                <a:effectLst/>
                <a:latin typeface="Inter"/>
              </a:rPr>
              <a:t>Hiệu suất của DSM không thể cạnh tranh với đa xử lý</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Mặc dù DSM cung cấp một mô hình lập trình dễ dàng hơn so với đa máy tính, hiệu suất của nó không bao giờ đạt được mức độ của các hệ thống đa xử lý thực sự.</a:t>
            </a:r>
          </a:p>
          <a:p>
            <a:pPr marL="742950" lvl="1" indent="-285750" algn="l">
              <a:buFont typeface="+mj-lt"/>
              <a:buAutoNum type="arabicPeriod"/>
            </a:pPr>
            <a:r>
              <a:rPr lang="vi-VN" b="0" i="0" dirty="0">
                <a:solidFill>
                  <a:srgbClr val="404040"/>
                </a:solidFill>
                <a:effectLst/>
                <a:latin typeface="Inter"/>
              </a:rPr>
              <a:t>Việc truy cập bộ nhớ từ xa thông qua mạng luôn chậm hơn so với truy cập bộ nhớ cục bộ, dẫn đến độ trễ cao và hiệu suất thấp.</a:t>
            </a:r>
          </a:p>
          <a:p>
            <a:pPr algn="l">
              <a:buFont typeface="+mj-lt"/>
              <a:buAutoNum type="arabicPeriod"/>
            </a:pPr>
            <a:r>
              <a:rPr lang="vi-VN" b="1" i="0" dirty="0">
                <a:solidFill>
                  <a:srgbClr val="404040"/>
                </a:solidFill>
                <a:effectLst/>
                <a:latin typeface="Inter"/>
              </a:rPr>
              <a:t>Không đáp ứng được kỳ vọng của lập trình viên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lập trình viên kỳ vọng rằng DSM sẽ mang lại hiệu suất tương tự như hệ thống đa xử lý, nhưng thực tế lại không như vậy.</a:t>
            </a:r>
          </a:p>
          <a:p>
            <a:pPr marL="742950" lvl="1" indent="-285750" algn="l">
              <a:buFont typeface="+mj-lt"/>
              <a:buAutoNum type="arabicPeriod"/>
            </a:pPr>
            <a:r>
              <a:rPr lang="vi-VN" b="0" i="0" dirty="0">
                <a:solidFill>
                  <a:srgbClr val="404040"/>
                </a:solidFill>
                <a:effectLst/>
                <a:latin typeface="Inter"/>
              </a:rPr>
              <a:t>Sự phức tạp trong việc quản lý bộ nhớ chia sẻ phân tán và độ trễ cao khi truy cập bộ nhớ từ xa đã khiến DSM không được chấp nhận rộng rãi.</a:t>
            </a:r>
          </a:p>
          <a:p>
            <a:pPr algn="l">
              <a:buFont typeface="+mj-lt"/>
              <a:buAutoNum type="arabicPeriod"/>
            </a:pPr>
            <a:r>
              <a:rPr lang="vi-VN" b="1" i="0" dirty="0">
                <a:solidFill>
                  <a:srgbClr val="404040"/>
                </a:solidFill>
                <a:effectLst/>
                <a:latin typeface="Inter"/>
              </a:rPr>
              <a:t>DSM đã bị bỏ rơi</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Do những hạn chế về hiệu suất và sự phức tạp trong triển khai, DSM đã không còn được sử dụng rộng rãi trong các hệ thống hiện đại.</a:t>
            </a:r>
          </a:p>
          <a:p>
            <a:pPr marL="742950" lvl="1" indent="-285750" algn="l">
              <a:buFont typeface="+mj-lt"/>
              <a:buAutoNum type="arabicPeriod"/>
            </a:pPr>
            <a:r>
              <a:rPr lang="vi-VN" b="0" i="0" dirty="0">
                <a:solidFill>
                  <a:srgbClr val="404040"/>
                </a:solidFill>
                <a:effectLst/>
                <a:latin typeface="Inter"/>
              </a:rPr>
              <a:t>Thay vào đó, các phương pháp khác như </a:t>
            </a:r>
            <a:r>
              <a:rPr lang="vi-VN" b="1" i="0" dirty="0">
                <a:solidFill>
                  <a:srgbClr val="404040"/>
                </a:solidFill>
                <a:effectLst/>
                <a:latin typeface="Inter"/>
              </a:rPr>
              <a:t>truyền thông điệp (message passing)</a:t>
            </a:r>
            <a:r>
              <a:rPr lang="vi-VN" b="0" i="0" dirty="0">
                <a:solidFill>
                  <a:srgbClr val="404040"/>
                </a:solidFill>
                <a:effectLst/>
                <a:latin typeface="Inter"/>
              </a:rPr>
              <a:t> và </a:t>
            </a:r>
            <a:r>
              <a:rPr lang="vi-VN" b="1" i="0" dirty="0">
                <a:solidFill>
                  <a:srgbClr val="404040"/>
                </a:solidFill>
                <a:effectLst/>
                <a:latin typeface="Inter"/>
              </a:rPr>
              <a:t>lập trình phân tán (distributed programming)</a:t>
            </a:r>
            <a:r>
              <a:rPr lang="vi-VN" b="0" i="0" dirty="0">
                <a:solidFill>
                  <a:srgbClr val="404040"/>
                </a:solidFill>
                <a:effectLst/>
                <a:latin typeface="Inter"/>
              </a:rPr>
              <a:t> đã trở nên phổ biến hơn.</a:t>
            </a:r>
          </a:p>
          <a:p>
            <a:pPr algn="l"/>
            <a:r>
              <a:rPr lang="vi-VN" b="1" i="0" dirty="0">
                <a:solidFill>
                  <a:srgbClr val="404040"/>
                </a:solidFill>
                <a:effectLst/>
                <a:latin typeface="Inter"/>
              </a:rPr>
              <a:t>Kết luận</a:t>
            </a:r>
          </a:p>
          <a:p>
            <a:pPr algn="l"/>
            <a:r>
              <a:rPr lang="vi-VN" b="0" i="0" dirty="0">
                <a:solidFill>
                  <a:srgbClr val="404040"/>
                </a:solidFill>
                <a:effectLst/>
                <a:latin typeface="Inter"/>
              </a:rPr>
              <a:t>Hệ thống bộ nhớ chia sẻ phân tán (DSM) là một nỗ lực nhằm mang lại mô hình lập trình dễ dàng của đa xử lý cho các hệ thống đa máy tính. Tuy nhiên, do hiệu suất không đạt được kỳ vọng và sự phức tạp trong triển khai, DSM đã không thành công và dần bị thay thế bởi các phương pháp khác. Điều này nhấn mạnh tầm quan trọng của việc cân nhắc giữa tính dễ lập trình và hiệu suất thực tế khi thiết kế các hệ thống phân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51</a:t>
            </a:fld>
            <a:endParaRPr lang="en-US"/>
          </a:p>
        </p:txBody>
      </p:sp>
    </p:spTree>
    <p:extLst>
      <p:ext uri="{BB962C8B-B14F-4D97-AF65-F5344CB8AC3E}">
        <p14:creationId xmlns:p14="http://schemas.microsoft.com/office/powerpoint/2010/main" val="39004957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err="1">
                <a:solidFill>
                  <a:srgbClr val="404040"/>
                </a:solidFill>
                <a:effectLst/>
                <a:latin typeface="Inter"/>
              </a:rPr>
              <a:t>Điện</a:t>
            </a:r>
            <a:r>
              <a:rPr lang="vi-VN" b="1" i="0" dirty="0">
                <a:solidFill>
                  <a:srgbClr val="404040"/>
                </a:solidFill>
                <a:effectLst/>
                <a:latin typeface="Inter"/>
              </a:rPr>
              <a:t> toán cụm (Cluster Computing)</a:t>
            </a:r>
          </a:p>
          <a:p>
            <a:pPr algn="l"/>
            <a:r>
              <a:rPr lang="vi-VN" b="0" i="0" dirty="0">
                <a:solidFill>
                  <a:srgbClr val="404040"/>
                </a:solidFill>
                <a:effectLst/>
                <a:latin typeface="Inter"/>
              </a:rPr>
              <a:t>Tính toán cụm là một phương pháp trong đó một nhóm các máy tính (thường là các hệ thống cao cấp) được kết nối với nhau thông qua mạng cục bộ (LAN) để hoạt động như một hệ thống thống nhất. Dưới đây là một số đặc điểm và thành phần chính của tính toán cụm:</a:t>
            </a:r>
          </a:p>
          <a:p>
            <a:pPr algn="l"/>
            <a:r>
              <a:rPr lang="vi-VN" b="1" i="0" dirty="0">
                <a:solidFill>
                  <a:srgbClr val="404040"/>
                </a:solidFill>
                <a:effectLst/>
                <a:latin typeface="Inter"/>
              </a:rPr>
              <a:t>Đặc điểm chính</a:t>
            </a:r>
          </a:p>
          <a:p>
            <a:pPr algn="l">
              <a:buFont typeface="+mj-lt"/>
              <a:buAutoNum type="arabicPeriod"/>
            </a:pPr>
            <a:r>
              <a:rPr lang="vi-VN" b="1" i="0" dirty="0">
                <a:solidFill>
                  <a:srgbClr val="404040"/>
                </a:solidFill>
                <a:effectLst/>
                <a:latin typeface="Inter"/>
              </a:rPr>
              <a:t>Nhóm các hệ thống cao cấp</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máy tính trong cụm thường là các hệ thống mạnh mẽ, được thiết kế để xử lý các tác vụ tính toán phức tạp.</a:t>
            </a:r>
          </a:p>
          <a:p>
            <a:pPr marL="742950" lvl="1" indent="-285750" algn="l">
              <a:buFont typeface="+mj-lt"/>
              <a:buAutoNum type="arabicPeriod"/>
            </a:pPr>
            <a:r>
              <a:rPr lang="vi-VN" b="0" i="0" dirty="0">
                <a:solidFill>
                  <a:srgbClr val="404040"/>
                </a:solidFill>
                <a:effectLst/>
                <a:latin typeface="Inter"/>
              </a:rPr>
              <a:t>Chúng được kết nối với nhau thông qua mạng cục bộ (LAN) để chia sẻ tài nguyên và phối hợp thực hiện các tác vụ.</a:t>
            </a:r>
          </a:p>
          <a:p>
            <a:pPr algn="l">
              <a:buFont typeface="+mj-lt"/>
              <a:buAutoNum type="arabicPeriod"/>
            </a:pPr>
            <a:r>
              <a:rPr lang="vi-VN" b="1" i="0" dirty="0">
                <a:solidFill>
                  <a:srgbClr val="404040"/>
                </a:solidFill>
                <a:effectLst/>
                <a:latin typeface="Inter"/>
              </a:rPr>
              <a:t>Đồng nhất (Homogeneous)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Hệ điều hành giống nhau</a:t>
            </a:r>
            <a:r>
              <a:rPr lang="vi-VN" b="0" i="0" dirty="0">
                <a:solidFill>
                  <a:srgbClr val="404040"/>
                </a:solidFill>
                <a:effectLst/>
                <a:latin typeface="Inter"/>
              </a:rPr>
              <a:t>: Tất cả các máy tính trong cụm thường chạy cùng một hệ điều hành để đảm bảo tính tương thích và dễ quản lý.</a:t>
            </a:r>
          </a:p>
          <a:p>
            <a:pPr marL="742950" lvl="1" indent="-285750" algn="l">
              <a:buFont typeface="+mj-lt"/>
              <a:buAutoNum type="arabicPeriod"/>
            </a:pPr>
            <a:r>
              <a:rPr lang="vi-VN" b="1" i="0" dirty="0">
                <a:solidFill>
                  <a:srgbClr val="404040"/>
                </a:solidFill>
                <a:effectLst/>
                <a:latin typeface="Inter"/>
              </a:rPr>
              <a:t>Phần cứng gần giống nhau</a:t>
            </a:r>
            <a:r>
              <a:rPr lang="vi-VN" b="0" i="0" dirty="0">
                <a:solidFill>
                  <a:srgbClr val="404040"/>
                </a:solidFill>
                <a:effectLst/>
                <a:latin typeface="Inter"/>
              </a:rPr>
              <a:t>: Các máy tính trong cụm thường có cấu hình phần cứng tương tự nhau để đảm bảo hiệu suất đồng đều.</a:t>
            </a:r>
          </a:p>
          <a:p>
            <a:pPr algn="l">
              <a:buFont typeface="+mj-lt"/>
              <a:buAutoNum type="arabicPeriod"/>
            </a:pPr>
            <a:r>
              <a:rPr lang="vi-VN" b="1" i="0" dirty="0">
                <a:solidFill>
                  <a:srgbClr val="404040"/>
                </a:solidFill>
                <a:effectLst/>
                <a:latin typeface="Inter"/>
              </a:rPr>
              <a:t>Một nút quản lý (Single Managing Node)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Nút chủ (Master Node)</a:t>
            </a:r>
            <a:r>
              <a:rPr lang="vi-VN" b="0" i="0" dirty="0">
                <a:solidFill>
                  <a:srgbClr val="404040"/>
                </a:solidFill>
                <a:effectLst/>
                <a:latin typeface="Inter"/>
              </a:rPr>
              <a:t>: Đây là nút quản lý chính của cụm, chịu trách nhiệm điều phối các tác vụ và quản lý tài nguyên.</a:t>
            </a:r>
          </a:p>
          <a:p>
            <a:pPr marL="742950" lvl="1" indent="-285750" algn="l">
              <a:buFont typeface="+mj-lt"/>
              <a:buAutoNum type="arabicPeriod"/>
            </a:pPr>
            <a:r>
              <a:rPr lang="vi-VN" b="1" i="0" dirty="0">
                <a:solidFill>
                  <a:srgbClr val="404040"/>
                </a:solidFill>
                <a:effectLst/>
                <a:latin typeface="Inter"/>
              </a:rPr>
              <a:t>Nút tính toán (Compute Nodes)</a:t>
            </a:r>
            <a:r>
              <a:rPr lang="vi-VN" b="0" i="0" dirty="0">
                <a:solidFill>
                  <a:srgbClr val="404040"/>
                </a:solidFill>
                <a:effectLst/>
                <a:latin typeface="Inter"/>
              </a:rPr>
              <a:t>: Các nút này thực hiện các tác vụ tính toán được giao bởi nút chủ.</a:t>
            </a:r>
          </a:p>
          <a:p>
            <a:pPr algn="l"/>
            <a:r>
              <a:rPr lang="vi-VN" b="1" i="0" dirty="0">
                <a:solidFill>
                  <a:srgbClr val="404040"/>
                </a:solidFill>
                <a:effectLst/>
                <a:latin typeface="Inter"/>
              </a:rPr>
              <a:t>Thành phần chính</a:t>
            </a:r>
          </a:p>
          <a:p>
            <a:pPr algn="l"/>
            <a:r>
              <a:rPr lang="vi-VN" b="0" i="0" dirty="0">
                <a:solidFill>
                  <a:srgbClr val="404040"/>
                </a:solidFill>
                <a:effectLst/>
                <a:latin typeface="Inter"/>
              </a:rPr>
              <a:t>Hình ảnh mô tả các thành phần chính của một hệ thống tính toán cụm:</a:t>
            </a:r>
          </a:p>
          <a:p>
            <a:pPr algn="l">
              <a:buFont typeface="+mj-lt"/>
              <a:buAutoNum type="arabicPeriod"/>
            </a:pPr>
            <a:r>
              <a:rPr lang="vi-VN" b="1" i="0" dirty="0">
                <a:solidFill>
                  <a:srgbClr val="404040"/>
                </a:solidFill>
                <a:effectLst/>
                <a:latin typeface="Inter"/>
              </a:rPr>
              <a:t>Nút chủ (Master Node)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Ứng dụng quản lý (Management Application)</a:t>
            </a:r>
            <a:r>
              <a:rPr lang="vi-VN" b="0" i="0" dirty="0">
                <a:solidFill>
                  <a:srgbClr val="404040"/>
                </a:solidFill>
                <a:effectLst/>
                <a:latin typeface="Inter"/>
              </a:rPr>
              <a:t>: Phần mềm quản lý và điều phối các tác vụ trong cụm.</a:t>
            </a:r>
          </a:p>
          <a:p>
            <a:pPr marL="742950" lvl="1" indent="-285750" algn="l">
              <a:buFont typeface="+mj-lt"/>
              <a:buAutoNum type="arabicPeriod"/>
            </a:pPr>
            <a:r>
              <a:rPr lang="vi-VN" b="1" i="0" dirty="0">
                <a:solidFill>
                  <a:srgbClr val="404040"/>
                </a:solidFill>
                <a:effectLst/>
                <a:latin typeface="Inter"/>
              </a:rPr>
              <a:t>Thư viện song song (Parallel Libs)</a:t>
            </a:r>
            <a:r>
              <a:rPr lang="vi-VN" b="0" i="0" dirty="0">
                <a:solidFill>
                  <a:srgbClr val="404040"/>
                </a:solidFill>
                <a:effectLst/>
                <a:latin typeface="Inter"/>
              </a:rPr>
              <a:t>: Các thư viện hỗ trợ lập trình song song để tối ưu hóa hiệu suất tính toán.</a:t>
            </a:r>
          </a:p>
          <a:p>
            <a:pPr marL="742950" lvl="1" indent="-285750" algn="l">
              <a:buFont typeface="+mj-lt"/>
              <a:buAutoNum type="arabicPeriod"/>
            </a:pPr>
            <a:r>
              <a:rPr lang="vi-VN" b="1" i="0" dirty="0">
                <a:solidFill>
                  <a:srgbClr val="404040"/>
                </a:solidFill>
                <a:effectLst/>
                <a:latin typeface="Inter"/>
              </a:rPr>
              <a:t>Hệ điều hành cục bộ (Local OS)</a:t>
            </a:r>
            <a:r>
              <a:rPr lang="vi-VN" b="0" i="0" dirty="0">
                <a:solidFill>
                  <a:srgbClr val="404040"/>
                </a:solidFill>
                <a:effectLst/>
                <a:latin typeface="Inter"/>
              </a:rPr>
              <a:t>: Hệ điều hành chạy trên nút chủ.</a:t>
            </a:r>
          </a:p>
          <a:p>
            <a:pPr algn="l">
              <a:buFont typeface="+mj-lt"/>
              <a:buAutoNum type="arabicPeriod"/>
            </a:pPr>
            <a:r>
              <a:rPr lang="vi-VN" b="1" i="0" dirty="0">
                <a:solidFill>
                  <a:srgbClr val="404040"/>
                </a:solidFill>
                <a:effectLst/>
                <a:latin typeface="Inter"/>
              </a:rPr>
              <a:t>Nút tính toán (Compute Nodes)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Thành phần của ứng dụng song song (Component of Parallel Application)</a:t>
            </a:r>
            <a:r>
              <a:rPr lang="vi-VN" b="0" i="0" dirty="0">
                <a:solidFill>
                  <a:srgbClr val="404040"/>
                </a:solidFill>
                <a:effectLst/>
                <a:latin typeface="Inter"/>
              </a:rPr>
              <a:t>: Các phần của ứng dụng được thực hiện song song trên các nút tính toán.</a:t>
            </a:r>
          </a:p>
          <a:p>
            <a:pPr marL="742950" lvl="1" indent="-285750" algn="l">
              <a:buFont typeface="+mj-lt"/>
              <a:buAutoNum type="arabicPeriod"/>
            </a:pPr>
            <a:r>
              <a:rPr lang="vi-VN" b="1" i="0" dirty="0">
                <a:solidFill>
                  <a:srgbClr val="404040"/>
                </a:solidFill>
                <a:effectLst/>
                <a:latin typeface="Inter"/>
              </a:rPr>
              <a:t>Hệ điều hành cục bộ (Local OS)</a:t>
            </a:r>
            <a:r>
              <a:rPr lang="vi-VN" b="0" i="0" dirty="0">
                <a:solidFill>
                  <a:srgbClr val="404040"/>
                </a:solidFill>
                <a:effectLst/>
                <a:latin typeface="Inter"/>
              </a:rPr>
              <a:t>: Hệ điều hành chạy trên mỗi nút tính toán.</a:t>
            </a:r>
          </a:p>
          <a:p>
            <a:pPr algn="l">
              <a:buFont typeface="+mj-lt"/>
              <a:buAutoNum type="arabicPeriod"/>
            </a:pPr>
            <a:r>
              <a:rPr lang="vi-VN" b="1" i="0" dirty="0">
                <a:solidFill>
                  <a:srgbClr val="404040"/>
                </a:solidFill>
                <a:effectLst/>
                <a:latin typeface="Inter"/>
              </a:rPr>
              <a:t>Mạng truy cập từ xa (Remote Access Network)</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Mạng tiêu chuẩn (Standard Network)</a:t>
            </a:r>
            <a:r>
              <a:rPr lang="vi-VN" b="0" i="0" dirty="0">
                <a:solidFill>
                  <a:srgbClr val="404040"/>
                </a:solidFill>
                <a:effectLst/>
                <a:latin typeface="Inter"/>
              </a:rPr>
              <a:t>: Mạng dùng để truy cập và quản lý cụm từ xa.</a:t>
            </a:r>
          </a:p>
          <a:p>
            <a:pPr marL="742950" lvl="1" indent="-285750" algn="l">
              <a:buFont typeface="+mj-lt"/>
              <a:buAutoNum type="arabicPeriod"/>
            </a:pPr>
            <a:r>
              <a:rPr lang="vi-VN" b="1" i="0" dirty="0">
                <a:solidFill>
                  <a:srgbClr val="404040"/>
                </a:solidFill>
                <a:effectLst/>
                <a:latin typeface="Inter"/>
              </a:rPr>
              <a:t>Mạng tốc độ cao (High-Speed Network)</a:t>
            </a:r>
            <a:r>
              <a:rPr lang="vi-VN" b="0" i="0" dirty="0">
                <a:solidFill>
                  <a:srgbClr val="404040"/>
                </a:solidFill>
                <a:effectLst/>
                <a:latin typeface="Inter"/>
              </a:rPr>
              <a:t>: Mạng kết nối các nút trong cụm với tốc độ cao để đảm bảo hiệu suất tính toán.</a:t>
            </a:r>
          </a:p>
          <a:p>
            <a:pPr algn="l"/>
            <a:r>
              <a:rPr lang="vi-VN" b="1" i="0" dirty="0">
                <a:solidFill>
                  <a:srgbClr val="404040"/>
                </a:solidFill>
                <a:effectLst/>
                <a:latin typeface="Inter"/>
              </a:rPr>
              <a:t>Lợi ích của tính toán cụm</a:t>
            </a:r>
          </a:p>
          <a:p>
            <a:pPr algn="l">
              <a:buFont typeface="+mj-lt"/>
              <a:buAutoNum type="arabicPeriod"/>
            </a:pPr>
            <a:r>
              <a:rPr lang="vi-VN" b="1" i="0" dirty="0">
                <a:solidFill>
                  <a:srgbClr val="404040"/>
                </a:solidFill>
                <a:effectLst/>
                <a:latin typeface="Inter"/>
              </a:rPr>
              <a:t>Hiệu suất cao</a:t>
            </a:r>
            <a:r>
              <a:rPr lang="vi-VN" b="0" i="0" dirty="0">
                <a:solidFill>
                  <a:srgbClr val="404040"/>
                </a:solidFill>
                <a:effectLst/>
                <a:latin typeface="Inter"/>
              </a:rPr>
              <a:t>: Các cụm máy tính có thể xử lý các tác vụ phức tạp và đòi hỏi nhiều tài nguyên một cách hiệu quả.</a:t>
            </a:r>
          </a:p>
          <a:p>
            <a:pPr algn="l">
              <a:buFont typeface="+mj-lt"/>
              <a:buAutoNum type="arabicPeriod"/>
            </a:pPr>
            <a:r>
              <a:rPr lang="vi-VN" b="1" i="0" dirty="0">
                <a:solidFill>
                  <a:srgbClr val="404040"/>
                </a:solidFill>
                <a:effectLst/>
                <a:latin typeface="Inter"/>
              </a:rPr>
              <a:t>Khả năng mở rộng</a:t>
            </a:r>
            <a:r>
              <a:rPr lang="vi-VN" b="0" i="0" dirty="0">
                <a:solidFill>
                  <a:srgbClr val="404040"/>
                </a:solidFill>
                <a:effectLst/>
                <a:latin typeface="Inter"/>
              </a:rPr>
              <a:t>: Có thể dễ dàng thêm các nút tính toán vào cụm để tăng cường hiệu suất.</a:t>
            </a:r>
          </a:p>
          <a:p>
            <a:pPr algn="l">
              <a:buFont typeface="+mj-lt"/>
              <a:buAutoNum type="arabicPeriod"/>
            </a:pPr>
            <a:r>
              <a:rPr lang="vi-VN" b="1" i="0" dirty="0">
                <a:solidFill>
                  <a:srgbClr val="404040"/>
                </a:solidFill>
                <a:effectLst/>
                <a:latin typeface="Inter"/>
              </a:rPr>
              <a:t>Tính sẵn sàng cao</a:t>
            </a:r>
            <a:r>
              <a:rPr lang="vi-VN" b="0" i="0" dirty="0">
                <a:solidFill>
                  <a:srgbClr val="404040"/>
                </a:solidFill>
                <a:effectLst/>
                <a:latin typeface="Inter"/>
              </a:rPr>
              <a:t>: Nếu một nút trong cụm gặp sự cố, các nút khác có thể tiếp tục hoạt động, đảm bảo tính liên tục của hệ thống.</a:t>
            </a:r>
          </a:p>
          <a:p>
            <a:pPr algn="l"/>
            <a:r>
              <a:rPr lang="vi-VN" b="1" i="0" dirty="0">
                <a:solidFill>
                  <a:srgbClr val="404040"/>
                </a:solidFill>
                <a:effectLst/>
                <a:latin typeface="Inter"/>
              </a:rPr>
              <a:t>Kết luận</a:t>
            </a:r>
          </a:p>
          <a:p>
            <a:pPr algn="l"/>
            <a:r>
              <a:rPr lang="vi-VN" b="0" i="0" dirty="0">
                <a:solidFill>
                  <a:srgbClr val="404040"/>
                </a:solidFill>
                <a:effectLst/>
                <a:latin typeface="Inter"/>
              </a:rPr>
              <a:t>Tính toán cụm là một phương pháp hiệu quả để xử lý các tác vụ tính toán phức tạp bằng cách sử dụng một nhóm các máy tính được kết nối với nhau. Với cấu trúc đồng nhất và một nút quản lý chính, các hệ thống cụm cung cấp hiệu suất cao, khả năng mở rộng và tính sẵn sàng cao, làm cho chúng trở thành một lựa chọn phổ biến trong nhiều lĩnh vực như khoa học, kỹ thuật và phân tích dữ liệu lớn.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52</a:t>
            </a:fld>
            <a:endParaRPr lang="en-US"/>
          </a:p>
        </p:txBody>
      </p:sp>
    </p:spTree>
    <p:extLst>
      <p:ext uri="{BB962C8B-B14F-4D97-AF65-F5344CB8AC3E}">
        <p14:creationId xmlns:p14="http://schemas.microsoft.com/office/powerpoint/2010/main" val="11192979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Tính toán lưới (Grid Computing)</a:t>
            </a:r>
          </a:p>
          <a:p>
            <a:pPr algn="l"/>
            <a:r>
              <a:rPr lang="vi-VN" b="0" i="0" dirty="0">
                <a:solidFill>
                  <a:srgbClr val="404040"/>
                </a:solidFill>
                <a:effectLst/>
                <a:latin typeface="Inter"/>
              </a:rPr>
              <a:t>Tính toán lưới là một bước tiến tiếp theo trong việc kết nối và sử dụng tài nguyên tính toán từ nhiều nguồn khác nhau. Dưới đây là một số đặc điểm và khái niệm chính của tính toán lưới:</a:t>
            </a:r>
          </a:p>
          <a:p>
            <a:pPr algn="l"/>
            <a:r>
              <a:rPr lang="vi-VN" b="1" i="0" dirty="0">
                <a:solidFill>
                  <a:srgbClr val="404040"/>
                </a:solidFill>
                <a:effectLst/>
                <a:latin typeface="Inter"/>
              </a:rPr>
              <a:t>Đặc điểm chính</a:t>
            </a:r>
          </a:p>
          <a:p>
            <a:pPr algn="l">
              <a:buFont typeface="+mj-lt"/>
              <a:buAutoNum type="arabicPeriod"/>
            </a:pPr>
            <a:r>
              <a:rPr lang="vi-VN" b="1" i="0" dirty="0">
                <a:solidFill>
                  <a:srgbClr val="404040"/>
                </a:solidFill>
                <a:effectLst/>
                <a:latin typeface="Inter"/>
              </a:rPr>
              <a:t>Nhiều nút từ khắp nơi (Lots of Nodes from Everywhere)</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Tính toán lưới kết nối một số lượng lớn các nút tính toán từ nhiều địa điểm khác nhau, có thể là từ các tổ chức, quốc gia hoặc thậm chí là toàn cầu.</a:t>
            </a:r>
          </a:p>
          <a:p>
            <a:pPr marL="742950" lvl="1" indent="-285750" algn="l">
              <a:buFont typeface="+mj-lt"/>
              <a:buAutoNum type="arabicPeriod"/>
            </a:pPr>
            <a:r>
              <a:rPr lang="vi-VN" b="0" i="0" dirty="0">
                <a:solidFill>
                  <a:srgbClr val="404040"/>
                </a:solidFill>
                <a:effectLst/>
                <a:latin typeface="Inter"/>
              </a:rPr>
              <a:t>Điều này cho phép tận dụng tối đa tài nguyên tính toán sẵn có trên quy mô rộng lớn.</a:t>
            </a:r>
          </a:p>
          <a:p>
            <a:pPr algn="l">
              <a:buFont typeface="+mj-lt"/>
              <a:buAutoNum type="arabicPeriod"/>
            </a:pPr>
            <a:r>
              <a:rPr lang="vi-VN" b="1" i="0" dirty="0">
                <a:solidFill>
                  <a:srgbClr val="404040"/>
                </a:solidFill>
                <a:effectLst/>
                <a:latin typeface="Inter"/>
              </a:rPr>
              <a:t>Không đồng nhất (Heterogeneous)</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nút trong lưới có thể có cấu hình phần cứng và phần mềm khác nhau, bao gồm các hệ điều hành, kiến trúc máy tính và công nghệ mạng khác nhau.</a:t>
            </a:r>
          </a:p>
          <a:p>
            <a:pPr marL="742950" lvl="1" indent="-285750" algn="l">
              <a:buFont typeface="+mj-lt"/>
              <a:buAutoNum type="arabicPeriod"/>
            </a:pPr>
            <a:r>
              <a:rPr lang="vi-VN" b="0" i="0" dirty="0">
                <a:solidFill>
                  <a:srgbClr val="404040"/>
                </a:solidFill>
                <a:effectLst/>
                <a:latin typeface="Inter"/>
              </a:rPr>
              <a:t>Tính không đồng nhất này đòi hỏi các cơ chế tương thích và tích hợp linh hoạt.</a:t>
            </a:r>
          </a:p>
          <a:p>
            <a:pPr algn="l">
              <a:buFont typeface="+mj-lt"/>
              <a:buAutoNum type="arabicPeriod"/>
            </a:pPr>
            <a:r>
              <a:rPr lang="vi-VN" b="1" i="0" dirty="0">
                <a:solidFill>
                  <a:srgbClr val="404040"/>
                </a:solidFill>
                <a:effectLst/>
                <a:latin typeface="Inter"/>
              </a:rPr>
              <a:t>Phân tán qua nhiều tổ chức (Dispersed Across Several Organizations)</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nút tính toán có thể thuộc về nhiều tổ chức khác nhau, mỗi tổ chức có chính sách và quy định riêng về việc sử dụng tài nguyên.</a:t>
            </a:r>
          </a:p>
          <a:p>
            <a:pPr marL="742950" lvl="1" indent="-285750" algn="l">
              <a:buFont typeface="+mj-lt"/>
              <a:buAutoNum type="arabicPeriod"/>
            </a:pPr>
            <a:r>
              <a:rPr lang="vi-VN" b="0" i="0" dirty="0">
                <a:solidFill>
                  <a:srgbClr val="404040"/>
                </a:solidFill>
                <a:effectLst/>
                <a:latin typeface="Inter"/>
              </a:rPr>
              <a:t>Điều này đòi hỏi sự phối hợp và thỏa thuận giữa các tổ chức để chia sẻ tài nguyên một cách hiệu quả.</a:t>
            </a:r>
          </a:p>
          <a:p>
            <a:pPr algn="l">
              <a:buFont typeface="+mj-lt"/>
              <a:buAutoNum type="arabicPeriod"/>
            </a:pPr>
            <a:r>
              <a:rPr lang="vi-VN" b="1" i="0" dirty="0">
                <a:solidFill>
                  <a:srgbClr val="404040"/>
                </a:solidFill>
                <a:effectLst/>
                <a:latin typeface="Inter"/>
              </a:rPr>
              <a:t>Có thể dễ dàng mở rộng qua mạng diện rộng (Can Easily Span a Wide-Area Network)</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Tính toán lưới có thể hoạt động trên các mạng diện rộng (WAN), cho phép kết nối các nút từ nhiều khu vực địa lý khác nhau.</a:t>
            </a:r>
          </a:p>
          <a:p>
            <a:pPr marL="742950" lvl="1" indent="-285750" algn="l">
              <a:buFont typeface="+mj-lt"/>
              <a:buAutoNum type="arabicPeriod"/>
            </a:pPr>
            <a:r>
              <a:rPr lang="vi-VN" b="0" i="0" dirty="0">
                <a:solidFill>
                  <a:srgbClr val="404040"/>
                </a:solidFill>
                <a:effectLst/>
                <a:latin typeface="Inter"/>
              </a:rPr>
              <a:t>Điều này giúp tạo ra một hệ thống tính toán phân tán với quy mô lớn và khả năng xử lý mạnh mẽ.</a:t>
            </a:r>
          </a:p>
          <a:p>
            <a:pPr algn="l"/>
            <a:r>
              <a:rPr lang="vi-VN" b="1" i="0" dirty="0">
                <a:solidFill>
                  <a:srgbClr val="404040"/>
                </a:solidFill>
                <a:effectLst/>
                <a:latin typeface="Inter"/>
              </a:rPr>
              <a:t>Tổ chức ảo (Virtual Organizations)</a:t>
            </a:r>
          </a:p>
          <a:p>
            <a:pPr algn="l"/>
            <a:r>
              <a:rPr lang="vi-VN" b="0" i="0" dirty="0">
                <a:solidFill>
                  <a:srgbClr val="404040"/>
                </a:solidFill>
                <a:effectLst/>
                <a:latin typeface="Inter"/>
              </a:rPr>
              <a:t>Để hỗ trợ sự hợp tác và chia sẻ tài nguyên trong tính toán lưới, khái niệm </a:t>
            </a:r>
            <a:r>
              <a:rPr lang="vi-VN" b="1" i="0" dirty="0">
                <a:solidFill>
                  <a:srgbClr val="404040"/>
                </a:solidFill>
                <a:effectLst/>
                <a:latin typeface="Inter"/>
              </a:rPr>
              <a:t>tổ chức ảo (Virtual Organizations - VOs)</a:t>
            </a:r>
            <a:r>
              <a:rPr lang="vi-VN" b="0" i="0" dirty="0">
                <a:solidFill>
                  <a:srgbClr val="404040"/>
                </a:solidFill>
                <a:effectLst/>
                <a:latin typeface="Inter"/>
              </a:rPr>
              <a:t> được sử dụng:</a:t>
            </a:r>
          </a:p>
          <a:p>
            <a:pPr algn="l">
              <a:buFont typeface="+mj-lt"/>
              <a:buAutoNum type="arabicPeriod"/>
            </a:pPr>
            <a:r>
              <a:rPr lang="vi-VN" b="1" i="0" dirty="0">
                <a:solidFill>
                  <a:srgbClr val="404040"/>
                </a:solidFill>
                <a:effectLst/>
                <a:latin typeface="Inter"/>
              </a:rPr>
              <a:t>Định nghĩa</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Tổ chức ảo là một nhóm người dùng (hoặc chính xác hơn là các ID của họ) được tập hợp lại để chia sẻ và sử dụng tài nguyên tính toán trong lưới.</a:t>
            </a:r>
          </a:p>
          <a:p>
            <a:pPr marL="742950" lvl="1" indent="-285750" algn="l">
              <a:buFont typeface="+mj-lt"/>
              <a:buAutoNum type="arabicPeriod"/>
            </a:pPr>
            <a:r>
              <a:rPr lang="vi-VN" b="0" i="0" dirty="0">
                <a:solidFill>
                  <a:srgbClr val="404040"/>
                </a:solidFill>
                <a:effectLst/>
                <a:latin typeface="Inter"/>
              </a:rPr>
              <a:t>Các tổ chức ảo cho phép quản lý quyền truy cập và phân bổ tài nguyên một cách có kiểm soát.</a:t>
            </a:r>
          </a:p>
          <a:p>
            <a:pPr algn="l">
              <a:buFont typeface="+mj-lt"/>
              <a:buAutoNum type="arabicPeriod"/>
            </a:pPr>
            <a:r>
              <a:rPr lang="vi-VN" b="1" i="0" dirty="0">
                <a:solidFill>
                  <a:srgbClr val="404040"/>
                </a:solidFill>
                <a:effectLst/>
                <a:latin typeface="Inter"/>
              </a:rPr>
              <a:t>Cơ chế ủy quyền (Authorization)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Mỗi tổ chức ảo có các chính sách và quy tắc riêng để xác định ai có thể truy cập và sử dụng tài nguyên.</a:t>
            </a:r>
          </a:p>
          <a:p>
            <a:pPr marL="742950" lvl="1" indent="-285750" algn="l">
              <a:buFont typeface="+mj-lt"/>
              <a:buAutoNum type="arabicPeriod"/>
            </a:pPr>
            <a:r>
              <a:rPr lang="vi-VN" b="0" i="0" dirty="0">
                <a:solidFill>
                  <a:srgbClr val="404040"/>
                </a:solidFill>
                <a:effectLst/>
                <a:latin typeface="Inter"/>
              </a:rPr>
              <a:t>Các cơ chế ủy quyền đảm bảo rằng chỉ những người dùng được phép mới có thể sử dụng tài nguyên của lưới.</a:t>
            </a:r>
          </a:p>
          <a:p>
            <a:pPr algn="l">
              <a:buFont typeface="+mj-lt"/>
              <a:buAutoNum type="arabicPeriod"/>
            </a:pPr>
            <a:r>
              <a:rPr lang="vi-VN" b="1" i="0" dirty="0">
                <a:solidFill>
                  <a:srgbClr val="404040"/>
                </a:solidFill>
                <a:effectLst/>
                <a:latin typeface="Inter"/>
              </a:rPr>
              <a:t>Lợi ích</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Hợp tác đa tổ chức</a:t>
            </a:r>
            <a:r>
              <a:rPr lang="vi-VN" b="0" i="0" dirty="0">
                <a:solidFill>
                  <a:srgbClr val="404040"/>
                </a:solidFill>
                <a:effectLst/>
                <a:latin typeface="Inter"/>
              </a:rPr>
              <a:t>: Tổ chức ảo cho phép các tổ chức khác nhau cùng tham gia và chia sẻ tài nguyên mà vẫn duy trì quyền kiểm soát riêng.</a:t>
            </a:r>
          </a:p>
          <a:p>
            <a:pPr marL="742950" lvl="1" indent="-285750" algn="l">
              <a:buFont typeface="+mj-lt"/>
              <a:buAutoNum type="arabicPeriod"/>
            </a:pPr>
            <a:r>
              <a:rPr lang="vi-VN" b="1" i="0" dirty="0">
                <a:solidFill>
                  <a:srgbClr val="404040"/>
                </a:solidFill>
                <a:effectLst/>
                <a:latin typeface="Inter"/>
              </a:rPr>
              <a:t>Tối ưu hóa tài nguyên</a:t>
            </a:r>
            <a:r>
              <a:rPr lang="vi-VN" b="0" i="0" dirty="0">
                <a:solidFill>
                  <a:srgbClr val="404040"/>
                </a:solidFill>
                <a:effectLst/>
                <a:latin typeface="Inter"/>
              </a:rPr>
              <a:t>: Tài nguyên tính toán có thể được phân bổ và sử dụng một cách hiệu quả trên quy mô lớn.</a:t>
            </a:r>
          </a:p>
          <a:p>
            <a:pPr algn="l"/>
            <a:r>
              <a:rPr lang="vi-VN" b="1" i="0" dirty="0">
                <a:solidFill>
                  <a:srgbClr val="404040"/>
                </a:solidFill>
                <a:effectLst/>
                <a:latin typeface="Inter"/>
              </a:rPr>
              <a:t>Kết luận</a:t>
            </a:r>
          </a:p>
          <a:p>
            <a:pPr algn="l"/>
            <a:r>
              <a:rPr lang="vi-VN" b="0" i="0" dirty="0">
                <a:solidFill>
                  <a:srgbClr val="404040"/>
                </a:solidFill>
                <a:effectLst/>
                <a:latin typeface="Inter"/>
              </a:rPr>
              <a:t>Tính toán lưới là một phương pháp tiên tiến để kết nối và sử dụng tài nguyên tính toán từ nhiều nguồn khác nhau trên quy mô lớn. Với tính không đồng nhất và khả năng mở rộng qua mạng diện rộng, tính toán lưới cho phép các tổ chức hợp tác và chia sẻ tài nguyên một cách hiệu quả thông qua các tổ chức ảo. Điều này mở ra nhiều cơ hội mới trong nghiên cứu khoa học, phân tích dữ liệu và các ứng dụng đòi hỏi hiệu suất tính toán cao.</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53</a:t>
            </a:fld>
            <a:endParaRPr lang="en-US"/>
          </a:p>
        </p:txBody>
      </p:sp>
    </p:spTree>
    <p:extLst>
      <p:ext uri="{BB962C8B-B14F-4D97-AF65-F5344CB8AC3E}">
        <p14:creationId xmlns:p14="http://schemas.microsoft.com/office/powerpoint/2010/main" val="39347666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Kiến trúc cho tính toán lưới (Grid Computing): Các lớp</a:t>
            </a:r>
          </a:p>
          <a:p>
            <a:pPr algn="l"/>
            <a:r>
              <a:rPr lang="vi-VN" b="0" i="0" dirty="0">
                <a:solidFill>
                  <a:srgbClr val="404040"/>
                </a:solidFill>
                <a:effectLst/>
                <a:latin typeface="Inter"/>
              </a:rPr>
              <a:t>Kiến trúc tính toán lưới được thiết kế theo các lớp (layers) để quản lý và điều phối tài nguyên một cách hiệu quả. Mỗi lớp có một chức năng cụ thể, từ quản lý tài nguyên cục bộ đến hỗ trợ các ứng dụng thực tế. Dưới đây là mô tả chi tiết về các lớp trong kiến trúc tính toán lưới:</a:t>
            </a:r>
          </a:p>
          <a:p>
            <a:pPr algn="l"/>
            <a:r>
              <a:rPr lang="vi-VN" b="1" i="0" dirty="0">
                <a:solidFill>
                  <a:srgbClr val="404040"/>
                </a:solidFill>
                <a:effectLst/>
                <a:latin typeface="Inter"/>
              </a:rPr>
              <a:t>Các lớp trong kiến trúc tính toán lưới</a:t>
            </a:r>
          </a:p>
          <a:p>
            <a:pPr algn="l">
              <a:buFont typeface="+mj-lt"/>
              <a:buAutoNum type="arabicPeriod"/>
            </a:pPr>
            <a:r>
              <a:rPr lang="vi-VN" b="1" i="0" dirty="0">
                <a:solidFill>
                  <a:srgbClr val="404040"/>
                </a:solidFill>
                <a:effectLst/>
                <a:latin typeface="Inter"/>
              </a:rPr>
              <a:t>Lớp Fabric (Fabric Layer)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Cung cấp các giao diện để truy cập và quản lý tài nguyên cục bộ, chẳng hạn như máy tính, lưu trữ dữ liệu, và mạng.</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Truy vấn trạng thái và khả năng của tài nguyên, khóa tài nguyên để đảm bảo tính nhất quán.</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Đảm bảo rằng các tài nguyên cục bộ có thể được tích hợp và quản lý trong hệ thống lưới.</a:t>
            </a:r>
          </a:p>
          <a:p>
            <a:pPr algn="l">
              <a:buFont typeface="+mj-lt"/>
              <a:buAutoNum type="arabicPeriod"/>
            </a:pPr>
            <a:r>
              <a:rPr lang="vi-VN" b="1" i="0" dirty="0">
                <a:solidFill>
                  <a:srgbClr val="404040"/>
                </a:solidFill>
                <a:effectLst/>
                <a:latin typeface="Inter"/>
              </a:rPr>
              <a:t>Lớp Kết nối (Connectivity Layer)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Quản lý các giao thức truyền thông và giao dịch, bao gồm việc di chuyển dữ liệu giữa các tài nguyên và các giao thức xác thực.</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giao thức như TCP/IP, SSL/TLS để đảm bảo an toàn và bảo mật trong truyền thông.</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Đảm bảo rằng các tài nguyên có thể giao tiếp và tương tác với nhau một cách an toàn và hiệu quả.</a:t>
            </a:r>
          </a:p>
          <a:p>
            <a:pPr algn="l">
              <a:buFont typeface="+mj-lt"/>
              <a:buAutoNum type="arabicPeriod"/>
            </a:pPr>
            <a:r>
              <a:rPr lang="vi-VN" b="1" i="0" dirty="0">
                <a:solidFill>
                  <a:srgbClr val="404040"/>
                </a:solidFill>
                <a:effectLst/>
                <a:latin typeface="Inter"/>
              </a:rPr>
              <a:t>Lớp Tài nguyên (Resource Layer)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Quản lý các tài nguyên riêng lẻ, chẳng hạn như tạo tiến trình, đọc dữ liệu, hoặc quản lý bộ nhớ.</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Quản lý một máy tính cụ thể hoặc một hệ thống lưu trữ dữ liệu.</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Cung cấp các dịch vụ cơ bản để quản lý và sử dụng tài nguyên trong lưới.</a:t>
            </a:r>
          </a:p>
          <a:p>
            <a:pPr algn="l">
              <a:buFont typeface="+mj-lt"/>
              <a:buAutoNum type="arabicPeriod"/>
            </a:pPr>
            <a:r>
              <a:rPr lang="vi-VN" b="1" i="0" dirty="0">
                <a:solidFill>
                  <a:srgbClr val="404040"/>
                </a:solidFill>
                <a:effectLst/>
                <a:latin typeface="Inter"/>
              </a:rPr>
              <a:t>Lớp Tập thể (Collective Layer)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Quản lý việc truy cập vào nhiều tài nguyên cùng lúc, bao gồm việc khám phá tài nguyên, lập lịch trình, và sao chép dữ liệu.</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Dịch vụ khám phá tài nguyên, lập lịch tác vụ, và quản lý sao chép dữ liệu để đảm bảo tính sẵn sàng cao.</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Tối ưu hóa việc sử dụng tài nguyên và đảm bảo hiệu suất tổng thể của hệ thống lưới.</a:t>
            </a:r>
          </a:p>
          <a:p>
            <a:pPr algn="l">
              <a:buFont typeface="+mj-lt"/>
              <a:buAutoNum type="arabicPeriod"/>
            </a:pPr>
            <a:r>
              <a:rPr lang="vi-VN" b="1" i="0" dirty="0">
                <a:solidFill>
                  <a:srgbClr val="404040"/>
                </a:solidFill>
                <a:effectLst/>
                <a:latin typeface="Inter"/>
              </a:rPr>
              <a:t>Lớp Ứng dụng (Application Layer)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Chứa các ứng dụng thực tế chạy trên hệ thống lưới, thường được phát triển bởi một tổ chức cụ thể.</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ứng dụng khoa học, phân tích dữ liệu lớn, hoặc mô phỏng phức tạp.</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Cung cấp các ứng dụng cụ thể tận dụng sức mạnh tính toán của lưới để giải quyết các vấn đề thực tế.</a:t>
            </a:r>
          </a:p>
          <a:p>
            <a:pPr algn="l"/>
            <a:r>
              <a:rPr lang="vi-VN" b="1" i="0" dirty="0">
                <a:solidFill>
                  <a:srgbClr val="404040"/>
                </a:solidFill>
                <a:effectLst/>
                <a:latin typeface="Inter"/>
              </a:rPr>
              <a:t>Kết luận</a:t>
            </a:r>
          </a:p>
          <a:p>
            <a:pPr algn="l"/>
            <a:r>
              <a:rPr lang="vi-VN" b="0" i="0" dirty="0">
                <a:solidFill>
                  <a:srgbClr val="404040"/>
                </a:solidFill>
                <a:effectLst/>
                <a:latin typeface="Inter"/>
              </a:rPr>
              <a:t>Kiến trúc tính toán lưới được thiết kế theo các lớp để quản lý và điều phối tài nguyên một cách hiệu quả. Mỗi lớp có một vai trò cụ thể, từ quản lý tài nguyên cục bộ đến hỗ trợ các ứng dụng thực tế. Việc hiểu rõ các lớp này giúp thiết kế và triển khai các hệ thống lưới hiệu quả, đáp ứng nhu cầu tính toán phức tạp và đa dạng trong nhiều lĩnh vực.</a:t>
            </a:r>
          </a:p>
          <a:p>
            <a:endParaRPr lang="en-US" dirty="0"/>
          </a:p>
          <a:p>
            <a:pPr algn="l"/>
            <a:r>
              <a:rPr lang="vi-VN" b="1" i="0" dirty="0">
                <a:solidFill>
                  <a:srgbClr val="404040"/>
                </a:solidFill>
                <a:effectLst/>
                <a:latin typeface="Inter"/>
              </a:rPr>
              <a:t>Tóm tắt các lớp</a:t>
            </a:r>
          </a:p>
          <a:p>
            <a:r>
              <a:rPr lang="vi-VN" b="1" dirty="0"/>
              <a:t>Lớp</a:t>
            </a:r>
            <a:r>
              <a:rPr lang="en-US" b="1" dirty="0"/>
              <a:t>		</a:t>
            </a:r>
            <a:r>
              <a:rPr lang="vi-VN" b="1" dirty="0"/>
              <a:t>Chức năng chính</a:t>
            </a:r>
            <a:r>
              <a:rPr lang="en-US" b="1" dirty="0"/>
              <a:t>			</a:t>
            </a:r>
            <a:r>
              <a:rPr lang="vi-VN" b="1" dirty="0"/>
              <a:t>Ví dụ</a:t>
            </a:r>
            <a:endParaRPr lang="en-US" b="1" dirty="0"/>
          </a:p>
          <a:p>
            <a:r>
              <a:rPr lang="vi-VN" b="1" dirty="0">
                <a:effectLst/>
              </a:rPr>
              <a:t>Fabric</a:t>
            </a:r>
            <a:r>
              <a:rPr lang="en-US" b="1" dirty="0">
                <a:effectLst/>
              </a:rPr>
              <a:t>		</a:t>
            </a:r>
            <a:r>
              <a:rPr lang="vi-VN" dirty="0">
                <a:effectLst/>
              </a:rPr>
              <a:t>Cung cấp giao diện quản lý tài nguyên cục bộ</a:t>
            </a:r>
            <a:r>
              <a:rPr lang="en-US" dirty="0">
                <a:effectLst/>
              </a:rPr>
              <a:t>	</a:t>
            </a:r>
            <a:r>
              <a:rPr lang="vi-VN" dirty="0">
                <a:effectLst/>
              </a:rPr>
              <a:t>Truy vấn trạng thái, khóa tài nguyên</a:t>
            </a:r>
            <a:endParaRPr lang="en-US" dirty="0">
              <a:effectLst/>
            </a:endParaRPr>
          </a:p>
          <a:p>
            <a:r>
              <a:rPr lang="vi-VN" b="1" dirty="0">
                <a:effectLst/>
              </a:rPr>
              <a:t>Connectivity</a:t>
            </a:r>
            <a:r>
              <a:rPr lang="en-US" b="1" dirty="0">
                <a:effectLst/>
              </a:rPr>
              <a:t>		</a:t>
            </a:r>
            <a:r>
              <a:rPr lang="vi-VN" dirty="0">
                <a:effectLst/>
              </a:rPr>
              <a:t>Quản lý giao thức truyền thông và xác thực</a:t>
            </a:r>
            <a:r>
              <a:rPr lang="en-US" dirty="0">
                <a:effectLst/>
              </a:rPr>
              <a:t>		</a:t>
            </a:r>
            <a:r>
              <a:rPr lang="vi-VN" dirty="0">
                <a:effectLst/>
              </a:rPr>
              <a:t>TCP/IP, SSL/TLS</a:t>
            </a:r>
            <a:endParaRPr lang="en-US" dirty="0">
              <a:effectLst/>
            </a:endParaRPr>
          </a:p>
          <a:p>
            <a:r>
              <a:rPr lang="vi-VN" b="1" dirty="0">
                <a:effectLst/>
              </a:rPr>
              <a:t>Resource</a:t>
            </a:r>
            <a:r>
              <a:rPr lang="en-US" b="1" dirty="0">
                <a:effectLst/>
              </a:rPr>
              <a:t>		</a:t>
            </a:r>
            <a:r>
              <a:rPr lang="vi-VN" dirty="0">
                <a:effectLst/>
              </a:rPr>
              <a:t>Quản lý tài nguyên riêng lẻ</a:t>
            </a:r>
            <a:r>
              <a:rPr lang="en-US" dirty="0">
                <a:effectLst/>
              </a:rPr>
              <a:t>			</a:t>
            </a:r>
            <a:r>
              <a:rPr lang="vi-VN" dirty="0">
                <a:effectLst/>
              </a:rPr>
              <a:t>Tạo tiến trình, đọc dữ liệu</a:t>
            </a:r>
            <a:endParaRPr lang="en-US" dirty="0">
              <a:effectLst/>
            </a:endParaRPr>
          </a:p>
          <a:p>
            <a:r>
              <a:rPr lang="vi-VN" b="1" dirty="0">
                <a:effectLst/>
              </a:rPr>
              <a:t>Collective</a:t>
            </a:r>
            <a:r>
              <a:rPr lang="en-US" b="1" dirty="0">
                <a:effectLst/>
              </a:rPr>
              <a:t>		</a:t>
            </a:r>
            <a:r>
              <a:rPr lang="vi-VN" dirty="0">
                <a:effectLst/>
              </a:rPr>
              <a:t>Quản lý truy cập vào nhiều tài nguyên</a:t>
            </a:r>
            <a:r>
              <a:rPr lang="en-US" dirty="0">
                <a:effectLst/>
              </a:rPr>
              <a:t>		</a:t>
            </a:r>
            <a:r>
              <a:rPr lang="vi-VN" dirty="0">
                <a:effectLst/>
              </a:rPr>
              <a:t>Khám phá tài nguyên, lập lịch tác vụ, sao chép dữ liệu</a:t>
            </a:r>
            <a:endParaRPr lang="en-US" dirty="0">
              <a:effectLst/>
            </a:endParaRPr>
          </a:p>
          <a:p>
            <a:r>
              <a:rPr lang="vi-VN" b="1" dirty="0">
                <a:effectLst/>
              </a:rPr>
              <a:t>Application</a:t>
            </a:r>
            <a:r>
              <a:rPr lang="en-US" b="1" dirty="0">
                <a:effectLst/>
              </a:rPr>
              <a:t>		</a:t>
            </a:r>
            <a:r>
              <a:rPr lang="vi-VN" dirty="0">
                <a:effectLst/>
              </a:rPr>
              <a:t>Chứa các ứng dụng thực tế chạy trên lưới</a:t>
            </a:r>
            <a:r>
              <a:rPr lang="en-US" dirty="0">
                <a:effectLst/>
              </a:rPr>
              <a:t>		</a:t>
            </a:r>
            <a:r>
              <a:rPr lang="vi-VN" dirty="0">
                <a:effectLst/>
              </a:rPr>
              <a:t>Ứng dụng khoa học, phân tích dữ liệu lớn</a:t>
            </a: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54</a:t>
            </a:fld>
            <a:endParaRPr lang="en-US"/>
          </a:p>
        </p:txBody>
      </p:sp>
    </p:spTree>
    <p:extLst>
      <p:ext uri="{BB962C8B-B14F-4D97-AF65-F5344CB8AC3E}">
        <p14:creationId xmlns:p14="http://schemas.microsoft.com/office/powerpoint/2010/main" val="19890424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Điện toán đám mây (Cloud Computing)</a:t>
            </a:r>
          </a:p>
          <a:p>
            <a:pPr algn="l"/>
            <a:r>
              <a:rPr lang="vi-VN" b="0" i="0" dirty="0">
                <a:solidFill>
                  <a:srgbClr val="404040"/>
                </a:solidFill>
                <a:effectLst/>
                <a:latin typeface="Inter"/>
              </a:rPr>
              <a:t>Điện toán đám mây là một mô hình cung cấp các dịch vụ tính toán qua Internet, cho phép người dùng truy cập và sử dụng tài nguyên tính toán một cách linh hoạt và theo nhu cầu. Dưới đây là một số khía cạnh chính của điện toán đám mây dựa trên nội dung của tệp image.png:</a:t>
            </a:r>
          </a:p>
          <a:p>
            <a:pPr algn="l"/>
            <a:r>
              <a:rPr lang="vi-VN" b="1" i="0" dirty="0">
                <a:solidFill>
                  <a:srgbClr val="404040"/>
                </a:solidFill>
                <a:effectLst/>
                <a:latin typeface="Inter"/>
              </a:rPr>
              <a:t>Các lớp trong điện toán đám mây</a:t>
            </a:r>
          </a:p>
          <a:p>
            <a:pPr algn="l">
              <a:buFont typeface="+mj-lt"/>
              <a:buAutoNum type="arabicPeriod"/>
            </a:pPr>
            <a:r>
              <a:rPr lang="vi-VN" b="1" i="0" dirty="0">
                <a:solidFill>
                  <a:srgbClr val="404040"/>
                </a:solidFill>
                <a:effectLst/>
                <a:latin typeface="Inter"/>
              </a:rPr>
              <a:t>Ứng dụng (Application)</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Cung cấp các ứng dụng trực tiếp cho người dùng cuối.</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dịch vụ như </a:t>
            </a:r>
            <a:r>
              <a:rPr lang="vi-VN" b="1" i="0" dirty="0">
                <a:solidFill>
                  <a:srgbClr val="404040"/>
                </a:solidFill>
                <a:effectLst/>
                <a:latin typeface="Inter"/>
              </a:rPr>
              <a:t>Google Docs</a:t>
            </a:r>
            <a:r>
              <a:rPr lang="vi-VN" b="0" i="0" dirty="0">
                <a:solidFill>
                  <a:srgbClr val="404040"/>
                </a:solidFill>
                <a:effectLst/>
                <a:latin typeface="Inter"/>
              </a:rPr>
              <a:t>, </a:t>
            </a:r>
            <a:r>
              <a:rPr lang="vi-VN" b="1" i="0" dirty="0">
                <a:solidFill>
                  <a:srgbClr val="404040"/>
                </a:solidFill>
                <a:effectLst/>
                <a:latin typeface="Inter"/>
              </a:rPr>
              <a:t>Gmail</a:t>
            </a:r>
            <a:r>
              <a:rPr lang="vi-VN" b="0" i="0" dirty="0">
                <a:solidFill>
                  <a:srgbClr val="404040"/>
                </a:solidFill>
                <a:effectLst/>
                <a:latin typeface="Inter"/>
              </a:rPr>
              <a:t>, </a:t>
            </a:r>
            <a:r>
              <a:rPr lang="vi-VN" b="1" i="0" dirty="0">
                <a:solidFill>
                  <a:srgbClr val="404040"/>
                </a:solidFill>
                <a:effectLst/>
                <a:latin typeface="Inter"/>
              </a:rPr>
              <a:t>YouTube</a:t>
            </a:r>
            <a:r>
              <a:rPr lang="vi-VN" b="0" i="0" dirty="0">
                <a:solidFill>
                  <a:srgbClr val="404040"/>
                </a:solidFill>
                <a:effectLst/>
                <a:latin typeface="Inter"/>
              </a:rPr>
              <a:t>, và </a:t>
            </a:r>
            <a:r>
              <a:rPr lang="vi-VN" b="1" i="0" dirty="0">
                <a:solidFill>
                  <a:srgbClr val="404040"/>
                </a:solidFill>
                <a:effectLst/>
                <a:latin typeface="Inter"/>
              </a:rPr>
              <a:t>Flickr</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Người dùng có thể truy cập và sử dụng các ứng dụng này thông qua trình duyệt web mà không cần cài đặt phần mềm.</a:t>
            </a:r>
          </a:p>
          <a:p>
            <a:pPr algn="l">
              <a:buFont typeface="+mj-lt"/>
              <a:buAutoNum type="arabicPeriod"/>
            </a:pPr>
            <a:r>
              <a:rPr lang="vi-VN" b="1" i="0" dirty="0">
                <a:solidFill>
                  <a:srgbClr val="404040"/>
                </a:solidFill>
                <a:effectLst/>
                <a:latin typeface="Inter"/>
              </a:rPr>
              <a:t>Nền tảng (Platform)</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Cung cấp môi trường phát triển và triển khai ứng dụng.</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nền tảng như </a:t>
            </a:r>
            <a:r>
              <a:rPr lang="vi-VN" b="1" i="0" dirty="0">
                <a:solidFill>
                  <a:srgbClr val="404040"/>
                </a:solidFill>
                <a:effectLst/>
                <a:latin typeface="Inter"/>
              </a:rPr>
              <a:t>Microsoft Azure</a:t>
            </a:r>
            <a:r>
              <a:rPr lang="vi-VN" b="0" i="0" dirty="0">
                <a:solidFill>
                  <a:srgbClr val="404040"/>
                </a:solidFill>
                <a:effectLst/>
                <a:latin typeface="Inter"/>
              </a:rPr>
              <a:t>, </a:t>
            </a:r>
            <a:r>
              <a:rPr lang="vi-VN" b="1" i="0" dirty="0">
                <a:solidFill>
                  <a:srgbClr val="404040"/>
                </a:solidFill>
                <a:effectLst/>
                <a:latin typeface="Inter"/>
              </a:rPr>
              <a:t>Google App Engine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Cung cấp các công cụ và dịch vụ để phát triển, thử nghiệm và triển khai ứng dụng.</a:t>
            </a:r>
          </a:p>
          <a:p>
            <a:pPr algn="l">
              <a:buFont typeface="+mj-lt"/>
              <a:buAutoNum type="arabicPeriod"/>
            </a:pPr>
            <a:r>
              <a:rPr lang="vi-VN" b="1" i="0" dirty="0">
                <a:solidFill>
                  <a:srgbClr val="404040"/>
                </a:solidFill>
                <a:effectLst/>
                <a:latin typeface="Inter"/>
              </a:rPr>
              <a:t>Cơ sở hạ tầng (Infrastructure)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Cung cấp tài nguyên tính toán cơ bản như máy ảo, lưu trữ và mạng.</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dịch vụ như </a:t>
            </a:r>
            <a:r>
              <a:rPr lang="vi-VN" b="1" i="0" dirty="0">
                <a:solidFill>
                  <a:srgbClr val="404040"/>
                </a:solidFill>
                <a:effectLst/>
                <a:latin typeface="Inter"/>
              </a:rPr>
              <a:t>Amazon S3</a:t>
            </a:r>
            <a:r>
              <a:rPr lang="vi-VN" b="0" i="0" dirty="0">
                <a:solidFill>
                  <a:srgbClr val="404040"/>
                </a:solidFill>
                <a:effectLst/>
                <a:latin typeface="Inter"/>
              </a:rPr>
              <a:t> (lưu trữ đối tượng), </a:t>
            </a:r>
            <a:r>
              <a:rPr lang="vi-VN" b="1" i="0" dirty="0">
                <a:solidFill>
                  <a:srgbClr val="404040"/>
                </a:solidFill>
                <a:effectLst/>
                <a:latin typeface="Inter"/>
              </a:rPr>
              <a:t>Amazon EC2</a:t>
            </a:r>
            <a:r>
              <a:rPr lang="vi-VN" b="0" i="0" dirty="0">
                <a:solidFill>
                  <a:srgbClr val="404040"/>
                </a:solidFill>
                <a:effectLst/>
                <a:latin typeface="Inter"/>
              </a:rPr>
              <a:t> (máy ảo đám mây).</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Người dùng có thể thuê và quản lý tài nguyên tính toán theo nhu cầu.</a:t>
            </a:r>
          </a:p>
          <a:p>
            <a:pPr algn="l">
              <a:buFont typeface="+mj-lt"/>
              <a:buAutoNum type="arabicPeriod"/>
            </a:pPr>
            <a:r>
              <a:rPr lang="vi-VN" b="1" i="0" dirty="0">
                <a:solidFill>
                  <a:srgbClr val="404040"/>
                </a:solidFill>
                <a:effectLst/>
                <a:latin typeface="Inter"/>
              </a:rPr>
              <a:t>Phần cứng (Hardware)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Chức năng</a:t>
            </a:r>
            <a:r>
              <a:rPr lang="vi-VN" b="0" i="0" dirty="0">
                <a:solidFill>
                  <a:srgbClr val="404040"/>
                </a:solidFill>
                <a:effectLst/>
                <a:latin typeface="Inter"/>
              </a:rPr>
              <a:t>: Cung cấp các tài nguyên vật lý như CPU, bộ nhớ, ổ đĩa và băng thông mạng.</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trung tâm dữ liệu (datacenters) với hàng nghìn máy chủ và thiết bị mạng.</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Đây là nền tảng vật lý hỗ trợ các dịch vụ đám mây.</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55</a:t>
            </a:fld>
            <a:endParaRPr lang="en-US"/>
          </a:p>
        </p:txBody>
      </p:sp>
    </p:spTree>
    <p:extLst>
      <p:ext uri="{BB962C8B-B14F-4D97-AF65-F5344CB8AC3E}">
        <p14:creationId xmlns:p14="http://schemas.microsoft.com/office/powerpoint/2010/main" val="21642679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Điện toán đám mây (Cloud Computing): Phân biệt bốn lớp</a:t>
            </a:r>
          </a:p>
          <a:p>
            <a:pPr algn="l"/>
            <a:r>
              <a:rPr lang="vi-VN" b="0" i="0" dirty="0">
                <a:solidFill>
                  <a:srgbClr val="404040"/>
                </a:solidFill>
                <a:effectLst/>
                <a:latin typeface="Inter"/>
              </a:rPr>
              <a:t>Điện toán đám mây được chia thành bốn lớp chính, mỗi lớp có chức năng và đặc điểm riêng. Dưới đây là sự phân biệt chi tiết giữa các lớp này:</a:t>
            </a:r>
          </a:p>
          <a:p>
            <a:pPr algn="l"/>
            <a:r>
              <a:rPr lang="vi-VN" b="1" i="0" dirty="0">
                <a:solidFill>
                  <a:srgbClr val="404040"/>
                </a:solidFill>
                <a:effectLst/>
                <a:latin typeface="Inter"/>
              </a:rPr>
              <a:t>1. Lớp Phần cứng (Hardware Layer)</a:t>
            </a:r>
          </a:p>
          <a:p>
            <a:pPr algn="l">
              <a:buFont typeface="Arial" panose="020B0604020202020204" pitchFamily="34" charset="0"/>
              <a:buChar char="•"/>
            </a:pPr>
            <a:r>
              <a:rPr lang="vi-VN" b="1" i="0" dirty="0">
                <a:solidFill>
                  <a:srgbClr val="404040"/>
                </a:solidFill>
                <a:effectLst/>
                <a:latin typeface="Inter"/>
              </a:rPr>
              <a:t>Chức năng</a:t>
            </a:r>
            <a:r>
              <a:rPr lang="vi-VN" b="0" i="0" dirty="0">
                <a:solidFill>
                  <a:srgbClr val="404040"/>
                </a:solidFill>
                <a:effectLst/>
                <a:latin typeface="Inter"/>
              </a:rPr>
              <a:t>: Bao gồm các thiết bị vật lý như bộ xử lý (processors), bộ định tuyến (routers), hệ thống điện và làm mát.</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Khách hàng thường không bao giờ nhìn thấy hoặc tương tác trực tiếp với lớp này.</a:t>
            </a:r>
          </a:p>
          <a:p>
            <a:pPr marL="742950" lvl="1" indent="-285750" algn="l">
              <a:buFont typeface="Arial" panose="020B0604020202020204" pitchFamily="34" charset="0"/>
              <a:buChar char="•"/>
            </a:pPr>
            <a:r>
              <a:rPr lang="vi-VN" b="0" i="0" dirty="0">
                <a:solidFill>
                  <a:srgbClr val="404040"/>
                </a:solidFill>
                <a:effectLst/>
                <a:latin typeface="Inter"/>
              </a:rPr>
              <a:t>Đây là nền tảng vật lý hỗ trợ toàn bộ hệ thống đám mây.</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Các trung tâm dữ liệu (datacenters) với hàng nghìn máy chủ và thiết bị mạng.</a:t>
            </a:r>
          </a:p>
          <a:p>
            <a:pPr algn="l"/>
            <a:r>
              <a:rPr lang="vi-VN" b="1" i="0" dirty="0">
                <a:solidFill>
                  <a:srgbClr val="404040"/>
                </a:solidFill>
                <a:effectLst/>
                <a:latin typeface="Inter"/>
              </a:rPr>
              <a:t>2. Lớp Cơ sở hạ tầng (Infrastructure Layer)</a:t>
            </a:r>
          </a:p>
          <a:p>
            <a:pPr algn="l">
              <a:buFont typeface="Arial" panose="020B0604020202020204" pitchFamily="34" charset="0"/>
              <a:buChar char="•"/>
            </a:pPr>
            <a:r>
              <a:rPr lang="vi-VN" b="1" i="0" dirty="0">
                <a:solidFill>
                  <a:srgbClr val="404040"/>
                </a:solidFill>
                <a:effectLst/>
                <a:latin typeface="Inter"/>
              </a:rPr>
              <a:t>Chức năng</a:t>
            </a:r>
            <a:r>
              <a:rPr lang="vi-VN" b="0" i="0" dirty="0">
                <a:solidFill>
                  <a:srgbClr val="404040"/>
                </a:solidFill>
                <a:effectLst/>
                <a:latin typeface="Inter"/>
              </a:rPr>
              <a:t>: Triển khai các kỹ thuật ảo hóa để quản lý và phân bổ tài nguyên ảo như máy chủ ảo (virtual servers) và thiết bị lưu trữ ảo (virtual storage devices).</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Cung cấp các tài nguyên tính toán cơ bản như máy ảo, lưu trữ và mạng.</a:t>
            </a:r>
          </a:p>
          <a:p>
            <a:pPr marL="742950" lvl="1" indent="-285750" algn="l">
              <a:buFont typeface="Arial" panose="020B0604020202020204" pitchFamily="34" charset="0"/>
              <a:buChar char="•"/>
            </a:pPr>
            <a:r>
              <a:rPr lang="vi-VN" b="0" i="0" dirty="0">
                <a:solidFill>
                  <a:srgbClr val="404040"/>
                </a:solidFill>
                <a:effectLst/>
                <a:latin typeface="Inter"/>
              </a:rPr>
              <a:t>Khách hàng có thể thuê và quản lý các tài nguyên này theo nhu cầu.</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a:t>
            </a:r>
            <a:r>
              <a:rPr lang="vi-VN" b="1" i="0" dirty="0">
                <a:solidFill>
                  <a:srgbClr val="404040"/>
                </a:solidFill>
                <a:effectLst/>
                <a:latin typeface="Inter"/>
              </a:rPr>
              <a:t>Amazon EC2</a:t>
            </a:r>
            <a:r>
              <a:rPr lang="vi-VN" b="0" i="0" dirty="0">
                <a:solidFill>
                  <a:srgbClr val="404040"/>
                </a:solidFill>
                <a:effectLst/>
                <a:latin typeface="Inter"/>
              </a:rPr>
              <a:t> (máy ảo đám mây), </a:t>
            </a:r>
            <a:r>
              <a:rPr lang="vi-VN" b="1" i="0" dirty="0">
                <a:solidFill>
                  <a:srgbClr val="404040"/>
                </a:solidFill>
                <a:effectLst/>
                <a:latin typeface="Inter"/>
              </a:rPr>
              <a:t>Amazon S3</a:t>
            </a:r>
            <a:r>
              <a:rPr lang="vi-VN" b="0" i="0" dirty="0">
                <a:solidFill>
                  <a:srgbClr val="404040"/>
                </a:solidFill>
                <a:effectLst/>
                <a:latin typeface="Inter"/>
              </a:rPr>
              <a:t> (lưu trữ đối tượng).</a:t>
            </a:r>
          </a:p>
          <a:p>
            <a:pPr algn="l"/>
            <a:r>
              <a:rPr lang="vi-VN" b="1" i="0" dirty="0">
                <a:solidFill>
                  <a:srgbClr val="404040"/>
                </a:solidFill>
                <a:effectLst/>
                <a:latin typeface="Inter"/>
              </a:rPr>
              <a:t>3. Lớp Nền tảng (Platform Layer)</a:t>
            </a:r>
          </a:p>
          <a:p>
            <a:pPr algn="l">
              <a:buFont typeface="Arial" panose="020B0604020202020204" pitchFamily="34" charset="0"/>
              <a:buChar char="•"/>
            </a:pPr>
            <a:r>
              <a:rPr lang="vi-VN" b="1" i="0" dirty="0">
                <a:solidFill>
                  <a:srgbClr val="404040"/>
                </a:solidFill>
                <a:effectLst/>
                <a:latin typeface="Inter"/>
              </a:rPr>
              <a:t>Chức năng</a:t>
            </a:r>
            <a:r>
              <a:rPr lang="vi-VN" b="0" i="0" dirty="0">
                <a:solidFill>
                  <a:srgbClr val="404040"/>
                </a:solidFill>
                <a:effectLst/>
                <a:latin typeface="Inter"/>
              </a:rPr>
              <a:t>: Cung cấp các mức trừu tượng cao hơn cho lưu trữ và các dịch vụ khác.</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Cung cấp các công cụ và dịch vụ để phát triển, thử nghiệm và triển khai ứng dụng.</a:t>
            </a:r>
          </a:p>
          <a:p>
            <a:pPr marL="742950" lvl="1" indent="-285750" algn="l">
              <a:buFont typeface="Arial" panose="020B0604020202020204" pitchFamily="34" charset="0"/>
              <a:buChar char="•"/>
            </a:pPr>
            <a:r>
              <a:rPr lang="vi-VN" b="0" i="0" dirty="0">
                <a:solidFill>
                  <a:srgbClr val="404040"/>
                </a:solidFill>
                <a:effectLst/>
                <a:latin typeface="Inter"/>
              </a:rPr>
              <a:t>Nhà phát triển có thể tập trung vào việc xây dựng ứng dụng mà không cần quan tâm đến cơ sở hạ tầng.</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a:t>
            </a:r>
            <a:r>
              <a:rPr lang="vi-VN" b="1" i="0" dirty="0">
                <a:solidFill>
                  <a:srgbClr val="404040"/>
                </a:solidFill>
                <a:effectLst/>
                <a:latin typeface="Inter"/>
              </a:rPr>
              <a:t>Amazon S3</a:t>
            </a:r>
            <a:r>
              <a:rPr lang="vi-VN" b="0" i="0" dirty="0">
                <a:solidFill>
                  <a:srgbClr val="404040"/>
                </a:solidFill>
                <a:effectLst/>
                <a:latin typeface="Inter"/>
              </a:rPr>
              <a:t> cung cấp API để tổ chức và lưu trữ các tệp trong các "buckets".</a:t>
            </a:r>
          </a:p>
          <a:p>
            <a:pPr algn="l"/>
            <a:r>
              <a:rPr lang="vi-VN" b="1" i="0" dirty="0">
                <a:solidFill>
                  <a:srgbClr val="404040"/>
                </a:solidFill>
                <a:effectLst/>
                <a:latin typeface="Inter"/>
              </a:rPr>
              <a:t>4. Lớp Ứng dụng (Application Layer)</a:t>
            </a:r>
          </a:p>
          <a:p>
            <a:pPr algn="l">
              <a:buFont typeface="Arial" panose="020B0604020202020204" pitchFamily="34" charset="0"/>
              <a:buChar char="•"/>
            </a:pPr>
            <a:r>
              <a:rPr lang="vi-VN" b="1" i="0" dirty="0">
                <a:solidFill>
                  <a:srgbClr val="404040"/>
                </a:solidFill>
                <a:effectLst/>
                <a:latin typeface="Inter"/>
              </a:rPr>
              <a:t>Chức năng</a:t>
            </a:r>
            <a:r>
              <a:rPr lang="vi-VN" b="0" i="0" dirty="0">
                <a:solidFill>
                  <a:srgbClr val="404040"/>
                </a:solidFill>
                <a:effectLst/>
                <a:latin typeface="Inter"/>
              </a:rPr>
              <a:t>: Bao gồm các ứng dụng thực tế mà người dùng cuối sử dụng.</a:t>
            </a:r>
          </a:p>
          <a:p>
            <a:pPr algn="l">
              <a:buFont typeface="Arial" panose="020B0604020202020204" pitchFamily="34" charset="0"/>
              <a:buChar char="•"/>
            </a:pPr>
            <a:r>
              <a:rPr lang="vi-VN" b="1" i="0" dirty="0">
                <a:solidFill>
                  <a:srgbClr val="404040"/>
                </a:solidFill>
                <a:effectLst/>
                <a:latin typeface="Inter"/>
              </a:rPr>
              <a:t>Đặc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Các ứng dụng này có thể được truy cập qua trình duyệt web mà không cần cài đặt phần mềm.</a:t>
            </a:r>
          </a:p>
          <a:p>
            <a:pPr marL="742950" lvl="1" indent="-285750" algn="l">
              <a:buFont typeface="Arial" panose="020B0604020202020204" pitchFamily="34" charset="0"/>
              <a:buChar char="•"/>
            </a:pPr>
            <a:r>
              <a:rPr lang="vi-VN" b="0" i="0" dirty="0">
                <a:solidFill>
                  <a:srgbClr val="404040"/>
                </a:solidFill>
                <a:effectLst/>
                <a:latin typeface="Inter"/>
              </a:rPr>
              <a:t>Tương tự như các bộ ứng dụng đi kèm với hệ điều hành.</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Các bộ ứng dụng văn phòng như </a:t>
            </a:r>
            <a:r>
              <a:rPr lang="vi-VN" b="1" i="0" dirty="0">
                <a:solidFill>
                  <a:srgbClr val="404040"/>
                </a:solidFill>
                <a:effectLst/>
                <a:latin typeface="Inter"/>
              </a:rPr>
              <a:t>Google Docs</a:t>
            </a:r>
            <a:r>
              <a:rPr lang="vi-VN" b="0" i="0" dirty="0">
                <a:solidFill>
                  <a:srgbClr val="404040"/>
                </a:solidFill>
                <a:effectLst/>
                <a:latin typeface="Inter"/>
              </a:rPr>
              <a:t> (xử lý văn bản, bảng tính, trình chiếu).</a:t>
            </a:r>
          </a:p>
          <a:p>
            <a:pPr algn="l"/>
            <a:r>
              <a:rPr lang="vi-VN" b="1" i="0" dirty="0">
                <a:solidFill>
                  <a:srgbClr val="404040"/>
                </a:solidFill>
                <a:effectLst/>
                <a:latin typeface="Inter"/>
              </a:rPr>
              <a:t>Kết luận</a:t>
            </a:r>
          </a:p>
          <a:p>
            <a:pPr algn="l"/>
            <a:r>
              <a:rPr lang="vi-VN" b="0" i="0" dirty="0">
                <a:solidFill>
                  <a:srgbClr val="404040"/>
                </a:solidFill>
                <a:effectLst/>
                <a:latin typeface="Inter"/>
              </a:rPr>
              <a:t>Điện toán đám mây được chia thành bốn lớp chính, mỗi lớp đóng một vai trò quan trọng trong việc cung cấp và quản lý tài nguyên tính toán. Việc hiểu rõ các lớp này giúp người dùng và nhà phát triển tận dụng tối đa lợi ích của điện toán đám mây, từ việc quản lý cơ sở hạ tầng đến phát triển và sử dụng các ứng dụng thực tế.</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56</a:t>
            </a:fld>
            <a:endParaRPr lang="en-US"/>
          </a:p>
        </p:txBody>
      </p:sp>
    </p:spTree>
    <p:extLst>
      <p:ext uri="{BB962C8B-B14F-4D97-AF65-F5344CB8AC3E}">
        <p14:creationId xmlns:p14="http://schemas.microsoft.com/office/powerpoint/2010/main" val="725590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Điện toán đám mây có tiết kiệm chi phí không? </a:t>
            </a:r>
            <a:endParaRPr lang="en-US" b="1" i="0" dirty="0">
              <a:solidFill>
                <a:srgbClr val="404040"/>
              </a:solidFill>
              <a:effectLst/>
              <a:latin typeface="Inter"/>
            </a:endParaRPr>
          </a:p>
          <a:p>
            <a:pPr algn="l"/>
            <a:r>
              <a:rPr lang="vi-VN" b="1" i="0" dirty="0">
                <a:solidFill>
                  <a:srgbClr val="404040"/>
                </a:solidFill>
                <a:effectLst/>
                <a:latin typeface="Inter"/>
              </a:rPr>
              <a:t>Quan sát</a:t>
            </a:r>
          </a:p>
          <a:p>
            <a:pPr algn="l"/>
            <a:r>
              <a:rPr lang="vi-VN" b="0" i="0" dirty="0">
                <a:solidFill>
                  <a:srgbClr val="404040"/>
                </a:solidFill>
                <a:effectLst/>
                <a:latin typeface="Inter"/>
              </a:rPr>
              <a:t>Một trong những lý do quan trọng cho sự thành công của điện toán đám mây là nó cho phép các tổ chức thuê ngoài cơ sở hạ tầng CNTT của họ: cả phần cứng và phần mềm. Câu hỏi quan trọng đặt ra là: </a:t>
            </a:r>
            <a:r>
              <a:rPr lang="vi-VN" b="1" i="0" dirty="0">
                <a:solidFill>
                  <a:srgbClr val="404040"/>
                </a:solidFill>
                <a:effectLst/>
                <a:latin typeface="Inter"/>
              </a:rPr>
              <a:t>Việc thuê ngoài này có thực sự rẻ hơn không?</a:t>
            </a:r>
            <a:endParaRPr lang="vi-VN" b="0" i="0" dirty="0">
              <a:solidFill>
                <a:srgbClr val="404040"/>
              </a:solidFill>
              <a:effectLst/>
              <a:latin typeface="Inter"/>
            </a:endParaRPr>
          </a:p>
          <a:p>
            <a:pPr algn="l"/>
            <a:r>
              <a:rPr lang="vi-VN" b="1" i="0" dirty="0">
                <a:solidFill>
                  <a:srgbClr val="404040"/>
                </a:solidFill>
                <a:effectLst/>
                <a:latin typeface="Inter"/>
              </a:rPr>
              <a:t>Cách tiếp cận</a:t>
            </a:r>
          </a:p>
          <a:p>
            <a:pPr algn="l"/>
            <a:r>
              <a:rPr lang="vi-VN" b="0" i="0" dirty="0">
                <a:solidFill>
                  <a:srgbClr val="404040"/>
                </a:solidFill>
                <a:effectLst/>
                <a:latin typeface="Inter"/>
              </a:rPr>
              <a:t>Để trả lời câu hỏi này, chúng ta có thể xem xét các ứng dụng doanh nghiệp, được mô hình hóa như một tập hợp các thành phần, mỗi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yêu cầu </a:t>
            </a:r>
            <a:r>
              <a:rPr lang="vi-VN" b="0" i="0" dirty="0">
                <a:solidFill>
                  <a:srgbClr val="404040"/>
                </a:solidFill>
                <a:effectLst/>
                <a:latin typeface="KaTeX_Main"/>
              </a:rPr>
              <a:t>Ni</a:t>
            </a:r>
            <a:r>
              <a:rPr lang="vi-VN" b="0" i="1" dirty="0">
                <a:solidFill>
                  <a:srgbClr val="404040"/>
                </a:solidFill>
                <a:effectLst/>
                <a:latin typeface="KaTeX_Math"/>
              </a:rPr>
              <a:t>Ni</a:t>
            </a:r>
            <a:r>
              <a:rPr lang="vi-VN" b="0" i="0" dirty="0">
                <a:solidFill>
                  <a:srgbClr val="404040"/>
                </a:solidFill>
                <a:effectLst/>
                <a:latin typeface="KaTeX_Main"/>
              </a:rPr>
              <a:t>​</a:t>
            </a:r>
            <a:r>
              <a:rPr lang="vi-VN" b="0" i="0" dirty="0">
                <a:solidFill>
                  <a:srgbClr val="404040"/>
                </a:solidFill>
                <a:effectLst/>
                <a:latin typeface="Inter"/>
              </a:rPr>
              <a:t> máy chủ. Ứng dụng này có thể được biểu diễn dưới dạng một đồ thị có hướng, trong đó:</a:t>
            </a:r>
          </a:p>
          <a:p>
            <a:pPr algn="l">
              <a:buFont typeface="Arial" panose="020B0604020202020204" pitchFamily="34" charset="0"/>
              <a:buChar char="•"/>
            </a:pPr>
            <a:r>
              <a:rPr lang="vi-VN" b="1" i="0" dirty="0">
                <a:solidFill>
                  <a:srgbClr val="404040"/>
                </a:solidFill>
                <a:effectLst/>
                <a:latin typeface="Inter"/>
              </a:rPr>
              <a:t>Đỉnh (vertex)</a:t>
            </a:r>
            <a:r>
              <a:rPr lang="vi-VN" b="0" i="0" dirty="0">
                <a:solidFill>
                  <a:srgbClr val="404040"/>
                </a:solidFill>
                <a:effectLst/>
                <a:latin typeface="Inter"/>
              </a:rPr>
              <a:t>: Đại diện cho một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Inter"/>
              </a:rPr>
              <a:t>Cung (arc)</a:t>
            </a:r>
            <a:r>
              <a:rPr lang="vi-VN" b="0" i="0" dirty="0">
                <a:solidFill>
                  <a:srgbClr val="404040"/>
                </a:solidFill>
                <a:effectLst/>
                <a:latin typeface="Inter"/>
              </a:rPr>
              <a:t>: Đại diện cho luồng dữ liệu từ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đến thành phần </a:t>
            </a:r>
            <a:r>
              <a:rPr lang="vi-VN" b="0" i="0" dirty="0">
                <a:solidFill>
                  <a:srgbClr val="404040"/>
                </a:solidFill>
                <a:effectLst/>
                <a:latin typeface="KaTeX_Main"/>
              </a:rPr>
              <a:t>Cj</a:t>
            </a:r>
            <a:r>
              <a:rPr lang="vi-VN" b="0" i="1" dirty="0">
                <a:solidFill>
                  <a:srgbClr val="404040"/>
                </a:solidFill>
                <a:effectLst/>
                <a:latin typeface="KaTeX_Math"/>
              </a:rPr>
              <a:t>Cj</a:t>
            </a:r>
            <a:r>
              <a:rPr lang="vi-VN" b="0" i="0" dirty="0">
                <a:solidFill>
                  <a:srgbClr val="404040"/>
                </a:solidFill>
                <a:effectLst/>
                <a:latin typeface="KaTeX_Main"/>
              </a:rPr>
              <a:t>​</a:t>
            </a:r>
            <a:r>
              <a:rPr lang="vi-VN" b="0" i="0" dirty="0">
                <a:solidFill>
                  <a:srgbClr val="404040"/>
                </a:solidFill>
                <a:effectLst/>
                <a:latin typeface="Inter"/>
              </a:rPr>
              <a:t>, ký hiệu là </a:t>
            </a:r>
            <a:r>
              <a:rPr lang="vi-VN" b="0" i="0" dirty="0">
                <a:solidFill>
                  <a:srgbClr val="404040"/>
                </a:solidFill>
                <a:effectLst/>
                <a:latin typeface="KaTeX_Main"/>
              </a:rPr>
              <a:t>(i→j)(</a:t>
            </a:r>
            <a:r>
              <a:rPr lang="vi-VN" b="0" i="1" dirty="0">
                <a:solidFill>
                  <a:srgbClr val="404040"/>
                </a:solidFill>
                <a:effectLst/>
                <a:latin typeface="KaTeX_Math"/>
              </a:rPr>
              <a:t>i</a:t>
            </a:r>
            <a:r>
              <a:rPr lang="vi-VN" b="0" i="0" dirty="0">
                <a:solidFill>
                  <a:srgbClr val="404040"/>
                </a:solidFill>
                <a:effectLst/>
                <a:latin typeface="KaTeX_Main"/>
              </a:rPr>
              <a:t>→</a:t>
            </a:r>
            <a:r>
              <a:rPr lang="vi-VN" b="0" i="1" dirty="0">
                <a:solidFill>
                  <a:srgbClr val="404040"/>
                </a:solidFill>
                <a:effectLst/>
                <a:latin typeface="KaTeX_Math"/>
              </a:rPr>
              <a:t>j</a:t>
            </a:r>
            <a:r>
              <a:rPr lang="vi-VN" b="0" i="0" dirty="0">
                <a:solidFill>
                  <a:srgbClr val="404040"/>
                </a:solidFill>
                <a:effectLst/>
                <a:latin typeface="KaTeX_Main"/>
              </a:rPr>
              <a:t>)</a:t>
            </a:r>
            <a:r>
              <a:rPr lang="vi-VN" b="0" i="0" dirty="0">
                <a:solidFill>
                  <a:srgbClr val="404040"/>
                </a:solidFill>
                <a:effectLst/>
                <a:latin typeface="Inter"/>
              </a:rPr>
              <a:t>.</a:t>
            </a:r>
          </a:p>
          <a:p>
            <a:pPr algn="l"/>
            <a:r>
              <a:rPr lang="vi-VN" b="0" i="0" dirty="0">
                <a:solidFill>
                  <a:srgbClr val="404040"/>
                </a:solidFill>
                <a:effectLst/>
                <a:latin typeface="Inter"/>
              </a:rPr>
              <a:t>Mỗi cung có hai trọng số liên quan:</a:t>
            </a:r>
          </a:p>
          <a:p>
            <a:pPr algn="l">
              <a:buFont typeface="+mj-lt"/>
              <a:buAutoNum type="arabicPeriod"/>
            </a:pPr>
            <a:r>
              <a:rPr lang="vi-VN" b="1" i="0" dirty="0">
                <a:solidFill>
                  <a:srgbClr val="404040"/>
                </a:solidFill>
                <a:effectLst/>
                <a:latin typeface="KaTeX_Main"/>
              </a:rPr>
              <a:t>Ti,j</a:t>
            </a:r>
            <a:r>
              <a:rPr lang="vi-VN" b="1" i="1" dirty="0">
                <a:solidFill>
                  <a:srgbClr val="404040"/>
                </a:solidFill>
                <a:effectLst/>
                <a:latin typeface="KaTeX_Math"/>
              </a:rPr>
              <a:t>Ti</a:t>
            </a:r>
            <a:r>
              <a:rPr lang="vi-VN" b="1" i="0" dirty="0">
                <a:solidFill>
                  <a:srgbClr val="404040"/>
                </a:solidFill>
                <a:effectLst/>
                <a:latin typeface="KaTeX_Main"/>
              </a:rPr>
              <a:t>,</a:t>
            </a:r>
            <a:r>
              <a:rPr lang="vi-VN" b="1" i="1" dirty="0">
                <a:solidFill>
                  <a:srgbClr val="404040"/>
                </a:solidFill>
                <a:effectLst/>
                <a:latin typeface="KaTeX_Math"/>
              </a:rPr>
              <a:t>j</a:t>
            </a:r>
            <a:r>
              <a:rPr lang="vi-VN" b="1" i="0" dirty="0">
                <a:solidFill>
                  <a:srgbClr val="404040"/>
                </a:solidFill>
                <a:effectLst/>
                <a:latin typeface="KaTeX_Main"/>
              </a:rPr>
              <a:t>​</a:t>
            </a:r>
            <a:r>
              <a:rPr lang="vi-VN" b="0" i="0" dirty="0">
                <a:solidFill>
                  <a:srgbClr val="404040"/>
                </a:solidFill>
                <a:effectLst/>
                <a:latin typeface="Inter"/>
              </a:rPr>
              <a:t>: Số lượng giao dịch trên một đơn vị thời gian gây ra luồng dữ liệu từ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đến </a:t>
            </a:r>
            <a:r>
              <a:rPr lang="vi-VN" b="0" i="0" dirty="0">
                <a:solidFill>
                  <a:srgbClr val="404040"/>
                </a:solidFill>
                <a:effectLst/>
                <a:latin typeface="KaTeX_Main"/>
              </a:rPr>
              <a:t>Cj</a:t>
            </a:r>
            <a:r>
              <a:rPr lang="vi-VN" b="0" i="1" dirty="0">
                <a:solidFill>
                  <a:srgbClr val="404040"/>
                </a:solidFill>
                <a:effectLst/>
                <a:latin typeface="KaTeX_Math"/>
              </a:rPr>
              <a:t>Cj</a:t>
            </a:r>
            <a:r>
              <a:rPr lang="vi-VN" b="0" i="0" dirty="0">
                <a:solidFill>
                  <a:srgbClr val="404040"/>
                </a:solidFill>
                <a:effectLst/>
                <a:latin typeface="KaTeX_Main"/>
              </a:rPr>
              <a:t>​</a:t>
            </a:r>
            <a:r>
              <a:rPr lang="vi-VN" b="0" i="0" dirty="0">
                <a:solidFill>
                  <a:srgbClr val="404040"/>
                </a:solidFill>
                <a:effectLst/>
                <a:latin typeface="Inter"/>
              </a:rPr>
              <a:t>.</a:t>
            </a:r>
          </a:p>
          <a:p>
            <a:pPr algn="l">
              <a:buFont typeface="+mj-lt"/>
              <a:buAutoNum type="arabicPeriod"/>
            </a:pPr>
            <a:r>
              <a:rPr lang="vi-VN" b="1" i="0" dirty="0">
                <a:solidFill>
                  <a:srgbClr val="404040"/>
                </a:solidFill>
                <a:effectLst/>
                <a:latin typeface="KaTeX_Main"/>
              </a:rPr>
              <a:t>Si,j</a:t>
            </a:r>
            <a:r>
              <a:rPr lang="vi-VN" b="1" i="1" dirty="0">
                <a:solidFill>
                  <a:srgbClr val="404040"/>
                </a:solidFill>
                <a:effectLst/>
                <a:latin typeface="KaTeX_Math"/>
              </a:rPr>
              <a:t>Si</a:t>
            </a:r>
            <a:r>
              <a:rPr lang="vi-VN" b="1" i="0" dirty="0">
                <a:solidFill>
                  <a:srgbClr val="404040"/>
                </a:solidFill>
                <a:effectLst/>
                <a:latin typeface="KaTeX_Main"/>
              </a:rPr>
              <a:t>,</a:t>
            </a:r>
            <a:r>
              <a:rPr lang="vi-VN" b="1" i="1" dirty="0">
                <a:solidFill>
                  <a:srgbClr val="404040"/>
                </a:solidFill>
                <a:effectLst/>
                <a:latin typeface="KaTeX_Math"/>
              </a:rPr>
              <a:t>j</a:t>
            </a:r>
            <a:r>
              <a:rPr lang="vi-VN" b="1" i="0" dirty="0">
                <a:solidFill>
                  <a:srgbClr val="404040"/>
                </a:solidFill>
                <a:effectLst/>
                <a:latin typeface="KaTeX_Main"/>
              </a:rPr>
              <a:t>​</a:t>
            </a:r>
            <a:r>
              <a:rPr lang="vi-VN" b="0" i="0" dirty="0">
                <a:solidFill>
                  <a:srgbClr val="404040"/>
                </a:solidFill>
                <a:effectLst/>
                <a:latin typeface="Inter"/>
              </a:rPr>
              <a:t>: Tổng lượng dữ liệu liên quan đến </a:t>
            </a:r>
            <a:r>
              <a:rPr lang="vi-VN" b="0" i="0" dirty="0">
                <a:solidFill>
                  <a:srgbClr val="404040"/>
                </a:solidFill>
                <a:effectLst/>
                <a:latin typeface="KaTeX_Main"/>
              </a:rPr>
              <a:t>Ti,j</a:t>
            </a:r>
            <a:r>
              <a:rPr lang="vi-VN" b="0" i="1" dirty="0">
                <a:solidFill>
                  <a:srgbClr val="404040"/>
                </a:solidFill>
                <a:effectLst/>
                <a:latin typeface="KaTeX_Math"/>
              </a:rPr>
              <a:t>Ti</a:t>
            </a:r>
            <a:r>
              <a:rPr lang="vi-VN" b="0" i="0" dirty="0">
                <a:solidFill>
                  <a:srgbClr val="404040"/>
                </a:solidFill>
                <a:effectLst/>
                <a:latin typeface="KaTeX_Main"/>
              </a:rPr>
              <a:t>,</a:t>
            </a:r>
            <a:r>
              <a:rPr lang="vi-VN" b="0" i="1" dirty="0">
                <a:solidFill>
                  <a:srgbClr val="404040"/>
                </a:solidFill>
                <a:effectLst/>
                <a:latin typeface="KaTeX_Math"/>
              </a:rPr>
              <a:t>j</a:t>
            </a:r>
            <a:r>
              <a:rPr lang="vi-VN" b="0" i="0" dirty="0">
                <a:solidFill>
                  <a:srgbClr val="404040"/>
                </a:solidFill>
                <a:effectLst/>
                <a:latin typeface="KaTeX_Main"/>
              </a:rPr>
              <a:t>​</a:t>
            </a:r>
            <a:r>
              <a:rPr lang="vi-VN" b="0" i="0" dirty="0">
                <a:solidFill>
                  <a:srgbClr val="404040"/>
                </a:solidFill>
                <a:effectLst/>
                <a:latin typeface="Inter"/>
              </a:rPr>
              <a:t>.</a:t>
            </a:r>
          </a:p>
          <a:p>
            <a:pPr algn="l"/>
            <a:r>
              <a:rPr lang="vi-VN" b="1" i="0" dirty="0">
                <a:solidFill>
                  <a:srgbClr val="404040"/>
                </a:solidFill>
                <a:effectLst/>
                <a:latin typeface="Inter"/>
              </a:rPr>
              <a:t>Phân tích chi phí</a:t>
            </a:r>
          </a:p>
          <a:p>
            <a:pPr algn="l">
              <a:buFont typeface="+mj-lt"/>
              <a:buAutoNum type="arabicPeriod"/>
            </a:pPr>
            <a:r>
              <a:rPr lang="vi-VN" b="1" i="0" dirty="0">
                <a:solidFill>
                  <a:srgbClr val="404040"/>
                </a:solidFill>
                <a:effectLst/>
                <a:latin typeface="Inter"/>
              </a:rPr>
              <a:t>Chi phí tự xây dựng và quản lý cơ sở hạ tầng</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Chi phí đầu tư ban đầu</a:t>
            </a:r>
            <a:r>
              <a:rPr lang="vi-VN" b="0" i="0" dirty="0">
                <a:solidFill>
                  <a:srgbClr val="404040"/>
                </a:solidFill>
                <a:effectLst/>
                <a:latin typeface="Inter"/>
              </a:rPr>
              <a:t>: Mua phần cứng (máy chủ, lưu trữ, mạng), phần mềm, và thiết lập trung tâm dữ liệu.</a:t>
            </a:r>
          </a:p>
          <a:p>
            <a:pPr marL="742950" lvl="1" indent="-285750" algn="l">
              <a:buFont typeface="+mj-lt"/>
              <a:buAutoNum type="arabicPeriod"/>
            </a:pPr>
            <a:r>
              <a:rPr lang="vi-VN" b="1" i="0" dirty="0">
                <a:solidFill>
                  <a:srgbClr val="404040"/>
                </a:solidFill>
                <a:effectLst/>
                <a:latin typeface="Inter"/>
              </a:rPr>
              <a:t>Chi phí vận hành</a:t>
            </a:r>
            <a:r>
              <a:rPr lang="vi-VN" b="0" i="0" dirty="0">
                <a:solidFill>
                  <a:srgbClr val="404040"/>
                </a:solidFill>
                <a:effectLst/>
                <a:latin typeface="Inter"/>
              </a:rPr>
              <a:t>: Điện, làm mát, bảo trì, nhân sự quản lý hệ thống.</a:t>
            </a:r>
          </a:p>
          <a:p>
            <a:pPr marL="742950" lvl="1" indent="-285750" algn="l">
              <a:buFont typeface="+mj-lt"/>
              <a:buAutoNum type="arabicPeriod"/>
            </a:pPr>
            <a:r>
              <a:rPr lang="vi-VN" b="1" i="0" dirty="0">
                <a:solidFill>
                  <a:srgbClr val="404040"/>
                </a:solidFill>
                <a:effectLst/>
                <a:latin typeface="Inter"/>
              </a:rPr>
              <a:t>Chi phí mở rộng</a:t>
            </a:r>
            <a:r>
              <a:rPr lang="vi-VN" b="0" i="0" dirty="0">
                <a:solidFill>
                  <a:srgbClr val="404040"/>
                </a:solidFill>
                <a:effectLst/>
                <a:latin typeface="Inter"/>
              </a:rPr>
              <a:t>: Khi nhu cầu tăng, cần đầu tư thêm phần cứng và phần mềm.</a:t>
            </a:r>
          </a:p>
          <a:p>
            <a:pPr algn="l">
              <a:buFont typeface="+mj-lt"/>
              <a:buAutoNum type="arabicPeriod"/>
            </a:pPr>
            <a:r>
              <a:rPr lang="vi-VN" b="1" i="0" dirty="0">
                <a:solidFill>
                  <a:srgbClr val="404040"/>
                </a:solidFill>
                <a:effectLst/>
                <a:latin typeface="Inter"/>
              </a:rPr>
              <a:t>Chi phí sử dụng điện toán đám mây</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Chi phí thuê tài nguyên</a:t>
            </a:r>
            <a:r>
              <a:rPr lang="vi-VN" b="0" i="0" dirty="0">
                <a:solidFill>
                  <a:srgbClr val="404040"/>
                </a:solidFill>
                <a:effectLst/>
                <a:latin typeface="Inter"/>
              </a:rPr>
              <a:t>: Trả tiền theo nhu cầu sử dụng (pay-as-you-go) cho máy ảo, lưu trữ, và băng thông mạng.</a:t>
            </a:r>
          </a:p>
          <a:p>
            <a:pPr marL="742950" lvl="1" indent="-285750" algn="l">
              <a:buFont typeface="+mj-lt"/>
              <a:buAutoNum type="arabicPeriod"/>
            </a:pPr>
            <a:r>
              <a:rPr lang="vi-VN" b="1" i="0" dirty="0">
                <a:solidFill>
                  <a:srgbClr val="404040"/>
                </a:solidFill>
                <a:effectLst/>
                <a:latin typeface="Inter"/>
              </a:rPr>
              <a:t>Chi phí quản lý</a:t>
            </a:r>
            <a:r>
              <a:rPr lang="vi-VN" b="0" i="0" dirty="0">
                <a:solidFill>
                  <a:srgbClr val="404040"/>
                </a:solidFill>
                <a:effectLst/>
                <a:latin typeface="Inter"/>
              </a:rPr>
              <a:t>: Giảm đáng kể do nhà cung cấp đám mây quản lý cơ sở hạ tầng.</a:t>
            </a:r>
          </a:p>
          <a:p>
            <a:pPr marL="742950" lvl="1" indent="-285750" algn="l">
              <a:buFont typeface="+mj-lt"/>
              <a:buAutoNum type="arabicPeriod"/>
            </a:pPr>
            <a:r>
              <a:rPr lang="vi-VN" b="1" i="0" dirty="0">
                <a:solidFill>
                  <a:srgbClr val="404040"/>
                </a:solidFill>
                <a:effectLst/>
                <a:latin typeface="Inter"/>
              </a:rPr>
              <a:t>Chi phí mở rộng</a:t>
            </a:r>
            <a:r>
              <a:rPr lang="vi-VN" b="0" i="0" dirty="0">
                <a:solidFill>
                  <a:srgbClr val="404040"/>
                </a:solidFill>
                <a:effectLst/>
                <a:latin typeface="Inter"/>
              </a:rPr>
              <a:t>: Dễ dàng mở rộng hoặc thu hẹp tài nguyên mà không cần đầu tư lớn ban đầu.</a:t>
            </a:r>
          </a:p>
          <a:p>
            <a:pPr algn="l"/>
            <a:r>
              <a:rPr lang="vi-VN" b="1" i="0" dirty="0">
                <a:solidFill>
                  <a:srgbClr val="404040"/>
                </a:solidFill>
                <a:effectLst/>
                <a:latin typeface="Inter"/>
              </a:rPr>
              <a:t>So sánh chi phí</a:t>
            </a:r>
          </a:p>
          <a:p>
            <a:pPr algn="l">
              <a:buFont typeface="+mj-lt"/>
              <a:buAutoNum type="arabicPeriod"/>
            </a:pPr>
            <a:r>
              <a:rPr lang="vi-VN" b="1" i="0" dirty="0">
                <a:solidFill>
                  <a:srgbClr val="404040"/>
                </a:solidFill>
                <a:effectLst/>
                <a:latin typeface="Inter"/>
              </a:rPr>
              <a:t>Chi phí cố định vs. Chi phí biến đổi</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Tự xây dựng</a:t>
            </a:r>
            <a:r>
              <a:rPr lang="vi-VN" b="0" i="0" dirty="0">
                <a:solidFill>
                  <a:srgbClr val="404040"/>
                </a:solidFill>
                <a:effectLst/>
                <a:latin typeface="Inter"/>
              </a:rPr>
              <a:t>: Chi phí cố định cao, đặc biệt là đầu tư ban đầu và chi phí vận hành liên tục.</a:t>
            </a:r>
          </a:p>
          <a:p>
            <a:pPr marL="742950" lvl="1" indent="-285750" algn="l">
              <a:buFont typeface="+mj-lt"/>
              <a:buAutoNum type="arabicPeriod"/>
            </a:pPr>
            <a:r>
              <a:rPr lang="vi-VN" b="1" i="0" dirty="0">
                <a:solidFill>
                  <a:srgbClr val="404040"/>
                </a:solidFill>
                <a:effectLst/>
                <a:latin typeface="Inter"/>
              </a:rPr>
              <a:t>Điện toán đám mây</a:t>
            </a:r>
            <a:r>
              <a:rPr lang="vi-VN" b="0" i="0" dirty="0">
                <a:solidFill>
                  <a:srgbClr val="404040"/>
                </a:solidFill>
                <a:effectLst/>
                <a:latin typeface="Inter"/>
              </a:rPr>
              <a:t>: Chi phí biến đổi, chỉ trả tiền cho những gì sử dụng, giúp giảm chi phí cố định.</a:t>
            </a:r>
          </a:p>
          <a:p>
            <a:pPr algn="l">
              <a:buFont typeface="+mj-lt"/>
              <a:buAutoNum type="arabicPeriod"/>
            </a:pPr>
            <a:r>
              <a:rPr lang="vi-VN" b="1" i="0" dirty="0">
                <a:solidFill>
                  <a:srgbClr val="404040"/>
                </a:solidFill>
                <a:effectLst/>
                <a:latin typeface="Inter"/>
              </a:rPr>
              <a:t>Hiệu quả kinh tế theo quy mô</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nhà cung cấp đám mây lớn như </a:t>
            </a:r>
            <a:r>
              <a:rPr lang="vi-VN" b="1" i="0" dirty="0">
                <a:solidFill>
                  <a:srgbClr val="404040"/>
                </a:solidFill>
                <a:effectLst/>
                <a:latin typeface="Inter"/>
              </a:rPr>
              <a:t>Amazon Web Services (AWS)</a:t>
            </a:r>
            <a:r>
              <a:rPr lang="vi-VN" b="0" i="0" dirty="0">
                <a:solidFill>
                  <a:srgbClr val="404040"/>
                </a:solidFill>
                <a:effectLst/>
                <a:latin typeface="Inter"/>
              </a:rPr>
              <a:t>, </a:t>
            </a:r>
            <a:r>
              <a:rPr lang="vi-VN" b="1" i="0" dirty="0">
                <a:solidFill>
                  <a:srgbClr val="404040"/>
                </a:solidFill>
                <a:effectLst/>
                <a:latin typeface="Inter"/>
              </a:rPr>
              <a:t>Microsoft Azure</a:t>
            </a:r>
            <a:r>
              <a:rPr lang="vi-VN" b="0" i="0" dirty="0">
                <a:solidFill>
                  <a:srgbClr val="404040"/>
                </a:solidFill>
                <a:effectLst/>
                <a:latin typeface="Inter"/>
              </a:rPr>
              <a:t>, và </a:t>
            </a:r>
            <a:r>
              <a:rPr lang="vi-VN" b="1" i="0" dirty="0">
                <a:solidFill>
                  <a:srgbClr val="404040"/>
                </a:solidFill>
                <a:effectLst/>
                <a:latin typeface="Inter"/>
              </a:rPr>
              <a:t>Google Cloud Platform</a:t>
            </a:r>
            <a:r>
              <a:rPr lang="vi-VN" b="0" i="0" dirty="0">
                <a:solidFill>
                  <a:srgbClr val="404040"/>
                </a:solidFill>
                <a:effectLst/>
                <a:latin typeface="Inter"/>
              </a:rPr>
              <a:t> có thể tận dụng hiệu quả kinh tế theo quy mô để giảm chi phí.</a:t>
            </a:r>
          </a:p>
          <a:p>
            <a:pPr marL="742950" lvl="1" indent="-285750" algn="l">
              <a:buFont typeface="+mj-lt"/>
              <a:buAutoNum type="arabicPeriod"/>
            </a:pPr>
            <a:r>
              <a:rPr lang="vi-VN" b="0" i="0" dirty="0">
                <a:solidFill>
                  <a:srgbClr val="404040"/>
                </a:solidFill>
                <a:effectLst/>
                <a:latin typeface="Inter"/>
              </a:rPr>
              <a:t>Các tổ chức nhỏ và vừa có thể hưởng lợi từ việc chia sẻ tài nguyên và chi phí với nhiều khách hàng khác.</a:t>
            </a:r>
          </a:p>
          <a:p>
            <a:pPr algn="l">
              <a:buFont typeface="+mj-lt"/>
              <a:buAutoNum type="arabicPeriod"/>
            </a:pPr>
            <a:r>
              <a:rPr lang="vi-VN" b="1" i="0" dirty="0">
                <a:solidFill>
                  <a:srgbClr val="404040"/>
                </a:solidFill>
                <a:effectLst/>
                <a:latin typeface="Inter"/>
              </a:rPr>
              <a:t>Chi phí ẩn</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Tự xây dựng</a:t>
            </a:r>
            <a:r>
              <a:rPr lang="vi-VN" b="0" i="0" dirty="0">
                <a:solidFill>
                  <a:srgbClr val="404040"/>
                </a:solidFill>
                <a:effectLst/>
                <a:latin typeface="Inter"/>
              </a:rPr>
              <a:t>: Chi phí ẩn bao gồm thời gian và nguồn lực để quản lý và bảo trì hệ thống.</a:t>
            </a:r>
          </a:p>
          <a:p>
            <a:pPr marL="742950" lvl="1" indent="-285750" algn="l">
              <a:buFont typeface="+mj-lt"/>
              <a:buAutoNum type="arabicPeriod"/>
            </a:pPr>
            <a:r>
              <a:rPr lang="vi-VN" b="1" i="0" dirty="0">
                <a:solidFill>
                  <a:srgbClr val="404040"/>
                </a:solidFill>
                <a:effectLst/>
                <a:latin typeface="Inter"/>
              </a:rPr>
              <a:t>Điện toán đám mây</a:t>
            </a:r>
            <a:r>
              <a:rPr lang="vi-VN" b="0" i="0" dirty="0">
                <a:solidFill>
                  <a:srgbClr val="404040"/>
                </a:solidFill>
                <a:effectLst/>
                <a:latin typeface="Inter"/>
              </a:rPr>
              <a:t>: Chi phí ẩn có thể bao gồm việc tối ưu hóa sử dụng tài nguyên và quản lý các dịch vụ đám mây.</a:t>
            </a:r>
          </a:p>
          <a:p>
            <a:pPr algn="l"/>
            <a:r>
              <a:rPr lang="vi-VN" b="1" i="0" dirty="0">
                <a:solidFill>
                  <a:srgbClr val="404040"/>
                </a:solidFill>
                <a:effectLst/>
                <a:latin typeface="Inter"/>
              </a:rPr>
              <a:t>Kết luận</a:t>
            </a:r>
          </a:p>
          <a:p>
            <a:pPr algn="l"/>
            <a:r>
              <a:rPr lang="vi-VN" b="0" i="0" dirty="0">
                <a:solidFill>
                  <a:srgbClr val="404040"/>
                </a:solidFill>
                <a:effectLst/>
                <a:latin typeface="Inter"/>
              </a:rPr>
              <a:t>Điện toán đám mây có thể tiết kiệm chi phí đáng kể so với việc tự xây dựng và quản lý cơ sở hạ tầng CNTT, đặc biệt là đối với các tổ chức nhỏ và vừa. Tuy nhiên, việc tính toán chi phí cần xem xét các yếu tố như quy mô ứng dụng, lượng dữ liệu và giao dịch, cũng như khả năng tối ưu hóa sử dụng tài nguyên. Việc thuê ngoài cơ sở hạ tầng thông qua điện toán đám mây không chỉ giúp giảm chi phí mà còn mang lại sự linh hoạt và khả năng mở rộng cao, làm cho nó trở thành một lựa chọn hấp dẫn cho nhiều tổ chức.</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57</a:t>
            </a:fld>
            <a:endParaRPr lang="en-US"/>
          </a:p>
        </p:txBody>
      </p:sp>
    </p:spTree>
    <p:extLst>
      <p:ext uri="{BB962C8B-B14F-4D97-AF65-F5344CB8AC3E}">
        <p14:creationId xmlns:p14="http://schemas.microsoft.com/office/powerpoint/2010/main" val="29023609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Điện toán đám mây có tiết kiệm chi phí không?</a:t>
            </a:r>
          </a:p>
          <a:p>
            <a:pPr algn="l"/>
            <a:r>
              <a:rPr lang="vi-VN" b="0" i="0" dirty="0">
                <a:solidFill>
                  <a:srgbClr val="404040"/>
                </a:solidFill>
                <a:effectLst/>
                <a:latin typeface="Inter"/>
              </a:rPr>
              <a:t>Để đánh giá tính hiệu quả về chi phí của điện toán đám mây, chúng ta cần xem xét một kế hoạch di chuyển (migration plan) các thành phần ứng dụng từ cơ sở hạ tầng tại chỗ (on-premises) lên đám mây. Mục tiêu là tối đa hóa lợi ích tài chính trong khi đảm bảo các yêu cầu về hiệu suất và độ tin cậy được đáp ứng.</a:t>
            </a:r>
          </a:p>
          <a:p>
            <a:pPr algn="l"/>
            <a:r>
              <a:rPr lang="vi-VN" b="1" i="0" dirty="0">
                <a:solidFill>
                  <a:srgbClr val="404040"/>
                </a:solidFill>
                <a:effectLst/>
                <a:latin typeface="Inter"/>
              </a:rPr>
              <a:t>Kế hoạch di chuyển (Migration Plan)</a:t>
            </a:r>
          </a:p>
          <a:p>
            <a:pPr algn="l">
              <a:buFont typeface="+mj-lt"/>
              <a:buAutoNum type="arabicPeriod"/>
            </a:pPr>
            <a:r>
              <a:rPr lang="vi-VN" b="1" i="0" dirty="0">
                <a:solidFill>
                  <a:srgbClr val="404040"/>
                </a:solidFill>
                <a:effectLst/>
                <a:latin typeface="Inter"/>
              </a:rPr>
              <a:t>Xác định số lượng máy chủ cần di chuyển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Đối với mỗi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cần xác định số lượng máy chủ </a:t>
            </a:r>
            <a:r>
              <a:rPr lang="vi-VN" b="0" i="0" dirty="0">
                <a:solidFill>
                  <a:srgbClr val="404040"/>
                </a:solidFill>
                <a:effectLst/>
                <a:latin typeface="KaTeX_Main"/>
              </a:rPr>
              <a:t>ni</a:t>
            </a:r>
            <a:r>
              <a:rPr lang="vi-VN" b="0" i="1" dirty="0">
                <a:solidFill>
                  <a:srgbClr val="404040"/>
                </a:solidFill>
                <a:effectLst/>
                <a:latin typeface="KaTeX_Math"/>
              </a:rPr>
              <a:t>ni</a:t>
            </a:r>
            <a:r>
              <a:rPr lang="vi-VN" b="0" i="0" dirty="0">
                <a:solidFill>
                  <a:srgbClr val="404040"/>
                </a:solidFill>
                <a:effectLst/>
                <a:latin typeface="KaTeX_Main"/>
              </a:rPr>
              <a:t>​</a:t>
            </a:r>
            <a:r>
              <a:rPr lang="vi-VN" b="0" i="0" dirty="0">
                <a:solidFill>
                  <a:srgbClr val="404040"/>
                </a:solidFill>
                <a:effectLst/>
                <a:latin typeface="Inter"/>
              </a:rPr>
              <a:t> trong tổng số </a:t>
            </a:r>
            <a:r>
              <a:rPr lang="vi-VN" b="0" i="0" dirty="0">
                <a:solidFill>
                  <a:srgbClr val="404040"/>
                </a:solidFill>
                <a:effectLst/>
                <a:latin typeface="KaTeX_Main"/>
              </a:rPr>
              <a:t>Ni</a:t>
            </a:r>
            <a:r>
              <a:rPr lang="vi-VN" b="0" i="1" dirty="0">
                <a:solidFill>
                  <a:srgbClr val="404040"/>
                </a:solidFill>
                <a:effectLst/>
                <a:latin typeface="KaTeX_Math"/>
              </a:rPr>
              <a:t>Ni</a:t>
            </a:r>
            <a:r>
              <a:rPr lang="vi-VN" b="0" i="0" dirty="0">
                <a:solidFill>
                  <a:srgbClr val="404040"/>
                </a:solidFill>
                <a:effectLst/>
                <a:latin typeface="KaTeX_Main"/>
              </a:rPr>
              <a:t>​</a:t>
            </a:r>
            <a:r>
              <a:rPr lang="vi-VN" b="0" i="0" dirty="0">
                <a:solidFill>
                  <a:srgbClr val="404040"/>
                </a:solidFill>
                <a:effectLst/>
                <a:latin typeface="Inter"/>
              </a:rPr>
              <a:t> máy chủ nên được di chuyển lên đám mây.</a:t>
            </a:r>
          </a:p>
          <a:p>
            <a:pPr marL="742950" lvl="1" indent="-285750" algn="l">
              <a:buFont typeface="+mj-lt"/>
              <a:buAutoNum type="arabicPeriod"/>
            </a:pPr>
            <a:r>
              <a:rPr lang="vi-VN" b="0" i="0" dirty="0">
                <a:solidFill>
                  <a:srgbClr val="404040"/>
                </a:solidFill>
                <a:effectLst/>
                <a:latin typeface="Inter"/>
              </a:rPr>
              <a:t>Mục tiêu là tối đa hóa lợi ích tài chính (giảm chi phí) trong khi tính đến các chi phí bổ sung cho việc truyền thông qua Internet.</a:t>
            </a:r>
          </a:p>
          <a:p>
            <a:pPr algn="l">
              <a:buFont typeface="+mj-lt"/>
              <a:buAutoNum type="arabicPeriod"/>
            </a:pPr>
            <a:r>
              <a:rPr lang="vi-VN" b="1" i="0" dirty="0">
                <a:solidFill>
                  <a:srgbClr val="404040"/>
                </a:solidFill>
                <a:effectLst/>
                <a:latin typeface="Inter"/>
              </a:rPr>
              <a:t>Tối ưu hóa lợi ích tài chính</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Lợi ích tài chính</a:t>
            </a:r>
            <a:r>
              <a:rPr lang="vi-VN" b="0" i="0" dirty="0">
                <a:solidFill>
                  <a:srgbClr val="404040"/>
                </a:solidFill>
                <a:effectLst/>
                <a:latin typeface="Inter"/>
              </a:rPr>
              <a:t>: Giảm chi phí vận hành và bảo trì cơ sở hạ tầng tại chỗ.</a:t>
            </a:r>
          </a:p>
          <a:p>
            <a:pPr marL="742950" lvl="1" indent="-285750" algn="l">
              <a:buFont typeface="+mj-lt"/>
              <a:buAutoNum type="arabicPeriod"/>
            </a:pPr>
            <a:r>
              <a:rPr lang="vi-VN" b="1" i="0" dirty="0">
                <a:solidFill>
                  <a:srgbClr val="404040"/>
                </a:solidFill>
                <a:effectLst/>
                <a:latin typeface="Inter"/>
              </a:rPr>
              <a:t>Chi phí bổ sung</a:t>
            </a:r>
            <a:r>
              <a:rPr lang="vi-VN" b="0" i="0" dirty="0">
                <a:solidFill>
                  <a:srgbClr val="404040"/>
                </a:solidFill>
                <a:effectLst/>
                <a:latin typeface="Inter"/>
              </a:rPr>
              <a:t>: Chi phí truyền thông qua Internet, bao gồm băng thông và độ trễ.</a:t>
            </a:r>
          </a:p>
          <a:p>
            <a:pPr algn="l">
              <a:buFont typeface="+mj-lt"/>
              <a:buAutoNum type="arabicPeriod"/>
            </a:pPr>
            <a:r>
              <a:rPr lang="vi-VN" b="1" i="0" dirty="0">
                <a:solidFill>
                  <a:srgbClr val="404040"/>
                </a:solidFill>
                <a:effectLst/>
                <a:latin typeface="Inter"/>
              </a:rPr>
              <a:t>Yêu cầu đối với kế hoạch di chuyển</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Đáp ứng các ràng buộc chính sách</a:t>
            </a:r>
            <a:r>
              <a:rPr lang="vi-VN" b="0" i="0" dirty="0">
                <a:solidFill>
                  <a:srgbClr val="404040"/>
                </a:solidFill>
                <a:effectLst/>
                <a:latin typeface="Inter"/>
              </a:rPr>
              <a:t>: Đảm bảo rằng việc di chuyển tuân thủ các chính sách và quy định của tổ chức.</a:t>
            </a:r>
          </a:p>
          <a:p>
            <a:pPr marL="742950" lvl="1" indent="-285750" algn="l">
              <a:buFont typeface="+mj-lt"/>
              <a:buAutoNum type="arabicPeriod"/>
            </a:pPr>
            <a:r>
              <a:rPr lang="vi-VN" b="1" i="0" dirty="0">
                <a:solidFill>
                  <a:srgbClr val="404040"/>
                </a:solidFill>
                <a:effectLst/>
                <a:latin typeface="Inter"/>
              </a:rPr>
              <a:t>Đảm bảo độ trễ</a:t>
            </a:r>
            <a:r>
              <a:rPr lang="vi-VN" b="0" i="0" dirty="0">
                <a:solidFill>
                  <a:srgbClr val="404040"/>
                </a:solidFill>
                <a:effectLst/>
                <a:latin typeface="Inter"/>
              </a:rPr>
              <a:t>: Các độ trễ bổ sung do việc di chuyển lên đám mây không được vi phạm các ràng buộc về độ trễ cụ thể.</a:t>
            </a:r>
          </a:p>
          <a:p>
            <a:pPr marL="742950" lvl="1" indent="-285750" algn="l">
              <a:buFont typeface="+mj-lt"/>
              <a:buAutoNum type="arabicPeriod"/>
            </a:pPr>
            <a:r>
              <a:rPr lang="vi-VN" b="1" i="0" dirty="0">
                <a:solidFill>
                  <a:srgbClr val="404040"/>
                </a:solidFill>
                <a:effectLst/>
                <a:latin typeface="Inter"/>
              </a:rPr>
              <a:t>Đảm bảo tính chính xác của giao dịch</a:t>
            </a:r>
            <a:r>
              <a:rPr lang="vi-VN" b="0" i="0" dirty="0">
                <a:solidFill>
                  <a:srgbClr val="404040"/>
                </a:solidFill>
                <a:effectLst/>
                <a:latin typeface="Inter"/>
              </a:rPr>
              <a:t>: Tất cả các giao dịch tiếp tục hoạt động chính xác; yêu cầu hoặc dữ liệu không bị mất trong quá trình giao dịch.</a:t>
            </a:r>
          </a:p>
          <a:p>
            <a:pPr algn="l"/>
            <a:r>
              <a:rPr lang="vi-VN" b="1" i="0" dirty="0">
                <a:solidFill>
                  <a:srgbClr val="404040"/>
                </a:solidFill>
                <a:effectLst/>
                <a:latin typeface="Inter"/>
              </a:rPr>
              <a:t>Các bước thực hiện kế hoạch di chuyển</a:t>
            </a:r>
          </a:p>
          <a:p>
            <a:pPr algn="l">
              <a:buFont typeface="+mj-lt"/>
              <a:buAutoNum type="arabicPeriod"/>
            </a:pPr>
            <a:r>
              <a:rPr lang="vi-VN" b="1" i="0" dirty="0">
                <a:solidFill>
                  <a:srgbClr val="404040"/>
                </a:solidFill>
                <a:effectLst/>
                <a:latin typeface="Inter"/>
              </a:rPr>
              <a:t>Phân tích các thành phần ứng dụng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Xác định các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và số lượng máy chủ </a:t>
            </a:r>
            <a:r>
              <a:rPr lang="vi-VN" b="0" i="0" dirty="0">
                <a:solidFill>
                  <a:srgbClr val="404040"/>
                </a:solidFill>
                <a:effectLst/>
                <a:latin typeface="KaTeX_Main"/>
              </a:rPr>
              <a:t>Ni</a:t>
            </a:r>
            <a:r>
              <a:rPr lang="vi-VN" b="0" i="1" dirty="0">
                <a:solidFill>
                  <a:srgbClr val="404040"/>
                </a:solidFill>
                <a:effectLst/>
                <a:latin typeface="KaTeX_Math"/>
              </a:rPr>
              <a:t>Ni</a:t>
            </a:r>
            <a:r>
              <a:rPr lang="vi-VN" b="0" i="0" dirty="0">
                <a:solidFill>
                  <a:srgbClr val="404040"/>
                </a:solidFill>
                <a:effectLst/>
                <a:latin typeface="KaTeX_Main"/>
              </a:rPr>
              <a:t>​</a:t>
            </a:r>
            <a:r>
              <a:rPr lang="vi-VN" b="0" i="0" dirty="0">
                <a:solidFill>
                  <a:srgbClr val="404040"/>
                </a:solidFill>
                <a:effectLst/>
                <a:latin typeface="Inter"/>
              </a:rPr>
              <a:t> cần thiết cho mỗi thành phần.</a:t>
            </a:r>
          </a:p>
          <a:p>
            <a:pPr marL="742950" lvl="1" indent="-285750" algn="l">
              <a:buFont typeface="+mj-lt"/>
              <a:buAutoNum type="arabicPeriod"/>
            </a:pPr>
            <a:r>
              <a:rPr lang="vi-VN" b="0" i="0" dirty="0">
                <a:solidFill>
                  <a:srgbClr val="404040"/>
                </a:solidFill>
                <a:effectLst/>
                <a:latin typeface="Inter"/>
              </a:rPr>
              <a:t>Đánh giá lượng dữ liệu và số lượng giao dịch giữa các thành phần (</a:t>
            </a:r>
            <a:r>
              <a:rPr lang="vi-VN" b="0" i="0" dirty="0">
                <a:solidFill>
                  <a:srgbClr val="404040"/>
                </a:solidFill>
                <a:effectLst/>
                <a:latin typeface="KaTeX_Main"/>
              </a:rPr>
              <a:t>Ti,j</a:t>
            </a:r>
            <a:r>
              <a:rPr lang="vi-VN" b="0" i="1" dirty="0">
                <a:solidFill>
                  <a:srgbClr val="404040"/>
                </a:solidFill>
                <a:effectLst/>
                <a:latin typeface="KaTeX_Math"/>
              </a:rPr>
              <a:t>Ti</a:t>
            </a:r>
            <a:r>
              <a:rPr lang="vi-VN" b="0" i="0" dirty="0">
                <a:solidFill>
                  <a:srgbClr val="404040"/>
                </a:solidFill>
                <a:effectLst/>
                <a:latin typeface="KaTeX_Main"/>
              </a:rPr>
              <a:t>,</a:t>
            </a:r>
            <a:r>
              <a:rPr lang="vi-VN" b="0" i="1" dirty="0">
                <a:solidFill>
                  <a:srgbClr val="404040"/>
                </a:solidFill>
                <a:effectLst/>
                <a:latin typeface="KaTeX_Math"/>
              </a:rPr>
              <a:t>j</a:t>
            </a:r>
            <a:r>
              <a:rPr lang="vi-VN" b="0" i="0" dirty="0">
                <a:solidFill>
                  <a:srgbClr val="404040"/>
                </a:solidFill>
                <a:effectLst/>
                <a:latin typeface="KaTeX_Main"/>
              </a:rPr>
              <a:t>​</a:t>
            </a:r>
            <a:r>
              <a:rPr lang="vi-VN" b="0" i="0" dirty="0">
                <a:solidFill>
                  <a:srgbClr val="404040"/>
                </a:solidFill>
                <a:effectLst/>
                <a:latin typeface="Inter"/>
              </a:rPr>
              <a:t> và </a:t>
            </a:r>
            <a:r>
              <a:rPr lang="vi-VN" b="0" i="0" dirty="0">
                <a:solidFill>
                  <a:srgbClr val="404040"/>
                </a:solidFill>
                <a:effectLst/>
                <a:latin typeface="KaTeX_Main"/>
              </a:rPr>
              <a:t>Si,j</a:t>
            </a:r>
            <a:r>
              <a:rPr lang="vi-VN" b="0" i="1" dirty="0">
                <a:solidFill>
                  <a:srgbClr val="404040"/>
                </a:solidFill>
                <a:effectLst/>
                <a:latin typeface="KaTeX_Math"/>
              </a:rPr>
              <a:t>Si</a:t>
            </a:r>
            <a:r>
              <a:rPr lang="vi-VN" b="0" i="0" dirty="0">
                <a:solidFill>
                  <a:srgbClr val="404040"/>
                </a:solidFill>
                <a:effectLst/>
                <a:latin typeface="KaTeX_Main"/>
              </a:rPr>
              <a:t>,</a:t>
            </a:r>
            <a:r>
              <a:rPr lang="vi-VN" b="0" i="1" dirty="0">
                <a:solidFill>
                  <a:srgbClr val="404040"/>
                </a:solidFill>
                <a:effectLst/>
                <a:latin typeface="KaTeX_Math"/>
              </a:rPr>
              <a:t>j</a:t>
            </a:r>
            <a:r>
              <a:rPr lang="vi-VN" b="0" i="0" dirty="0">
                <a:solidFill>
                  <a:srgbClr val="404040"/>
                </a:solidFill>
                <a:effectLst/>
                <a:latin typeface="KaTeX_Main"/>
              </a:rPr>
              <a:t>​</a:t>
            </a:r>
            <a:r>
              <a:rPr lang="vi-VN" b="0" i="0" dirty="0">
                <a:solidFill>
                  <a:srgbClr val="404040"/>
                </a:solidFill>
                <a:effectLst/>
                <a:latin typeface="Inter"/>
              </a:rPr>
              <a:t>).</a:t>
            </a:r>
          </a:p>
          <a:p>
            <a:pPr algn="l">
              <a:buFont typeface="+mj-lt"/>
              <a:buAutoNum type="arabicPeriod"/>
            </a:pPr>
            <a:r>
              <a:rPr lang="vi-VN" b="1" i="0" dirty="0">
                <a:solidFill>
                  <a:srgbClr val="404040"/>
                </a:solidFill>
                <a:effectLst/>
                <a:latin typeface="Inter"/>
              </a:rPr>
              <a:t>Tính toán chi phí và lợi ích</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Chi phí tại chỗ</a:t>
            </a:r>
            <a:r>
              <a:rPr lang="vi-VN" b="0" i="0" dirty="0">
                <a:solidFill>
                  <a:srgbClr val="404040"/>
                </a:solidFill>
                <a:effectLst/>
                <a:latin typeface="Inter"/>
              </a:rPr>
              <a:t>: Bao gồm chi phí phần cứng, phần mềm, điện, làm mát, và nhân sự.</a:t>
            </a:r>
          </a:p>
          <a:p>
            <a:pPr marL="742950" lvl="1" indent="-285750" algn="l">
              <a:buFont typeface="+mj-lt"/>
              <a:buAutoNum type="arabicPeriod"/>
            </a:pPr>
            <a:r>
              <a:rPr lang="vi-VN" b="1" i="0" dirty="0">
                <a:solidFill>
                  <a:srgbClr val="404040"/>
                </a:solidFill>
                <a:effectLst/>
                <a:latin typeface="Inter"/>
              </a:rPr>
              <a:t>Chi phí đám mây</a:t>
            </a:r>
            <a:r>
              <a:rPr lang="vi-VN" b="0" i="0" dirty="0">
                <a:solidFill>
                  <a:srgbClr val="404040"/>
                </a:solidFill>
                <a:effectLst/>
                <a:latin typeface="Inter"/>
              </a:rPr>
              <a:t>: Bao gồm chi phí thuê máy ảo, lưu trữ, và băng thông mạng.</a:t>
            </a:r>
          </a:p>
          <a:p>
            <a:pPr marL="742950" lvl="1" indent="-285750" algn="l">
              <a:buFont typeface="+mj-lt"/>
              <a:buAutoNum type="arabicPeriod"/>
            </a:pPr>
            <a:r>
              <a:rPr lang="vi-VN" b="1" i="0" dirty="0">
                <a:solidFill>
                  <a:srgbClr val="404040"/>
                </a:solidFill>
                <a:effectLst/>
                <a:latin typeface="Inter"/>
              </a:rPr>
              <a:t>Chi phí truyền thông</a:t>
            </a:r>
            <a:r>
              <a:rPr lang="vi-VN" b="0" i="0" dirty="0">
                <a:solidFill>
                  <a:srgbClr val="404040"/>
                </a:solidFill>
                <a:effectLst/>
                <a:latin typeface="Inter"/>
              </a:rPr>
              <a:t>: Tính toán chi phí bổ sung cho việc truyền dữ liệu qua Internet.</a:t>
            </a:r>
          </a:p>
          <a:p>
            <a:pPr algn="l">
              <a:buFont typeface="+mj-lt"/>
              <a:buAutoNum type="arabicPeriod"/>
            </a:pPr>
            <a:r>
              <a:rPr lang="vi-VN" b="1" i="0" dirty="0">
                <a:solidFill>
                  <a:srgbClr val="404040"/>
                </a:solidFill>
                <a:effectLst/>
                <a:latin typeface="Inter"/>
              </a:rPr>
              <a:t>Tối ưu hóa số lượng máy chủ di chuyển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Sử dụng các mô hình toán học và thuật toán tối ưu hóa để xác định số lượng máy chủ </a:t>
            </a:r>
            <a:r>
              <a:rPr lang="vi-VN" b="0" i="0" dirty="0">
                <a:solidFill>
                  <a:srgbClr val="404040"/>
                </a:solidFill>
                <a:effectLst/>
                <a:latin typeface="KaTeX_Main"/>
              </a:rPr>
              <a:t>ni</a:t>
            </a:r>
            <a:r>
              <a:rPr lang="vi-VN" b="0" i="1" dirty="0">
                <a:solidFill>
                  <a:srgbClr val="404040"/>
                </a:solidFill>
                <a:effectLst/>
                <a:latin typeface="KaTeX_Math"/>
              </a:rPr>
              <a:t>ni</a:t>
            </a:r>
            <a:r>
              <a:rPr lang="vi-VN" b="0" i="0" dirty="0">
                <a:solidFill>
                  <a:srgbClr val="404040"/>
                </a:solidFill>
                <a:effectLst/>
                <a:latin typeface="KaTeX_Main"/>
              </a:rPr>
              <a:t>​</a:t>
            </a:r>
            <a:r>
              <a:rPr lang="vi-VN" b="0" i="0" dirty="0">
                <a:solidFill>
                  <a:srgbClr val="404040"/>
                </a:solidFill>
                <a:effectLst/>
                <a:latin typeface="Inter"/>
              </a:rPr>
              <a:t> cần di chuyển cho mỗi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Đảm bảo rằng việc di chuyển tối đa hóa lợi ích tài chính trong khi vẫn đáp ứng các yêu cầu về hiệu suất và độ tin cậy.</a:t>
            </a:r>
          </a:p>
          <a:p>
            <a:pPr algn="l">
              <a:buFont typeface="+mj-lt"/>
              <a:buAutoNum type="arabicPeriod"/>
            </a:pPr>
            <a:r>
              <a:rPr lang="vi-VN" b="1" i="0" dirty="0">
                <a:solidFill>
                  <a:srgbClr val="404040"/>
                </a:solidFill>
                <a:effectLst/>
                <a:latin typeface="Inter"/>
              </a:rPr>
              <a:t>Kiểm tra và xác nhận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Kiểm tra rằng các ràng buộc chính sách được đáp ứng.</a:t>
            </a:r>
          </a:p>
          <a:p>
            <a:pPr marL="742950" lvl="1" indent="-285750" algn="l">
              <a:buFont typeface="+mj-lt"/>
              <a:buAutoNum type="arabicPeriod"/>
            </a:pPr>
            <a:r>
              <a:rPr lang="vi-VN" b="0" i="0" dirty="0">
                <a:solidFill>
                  <a:srgbClr val="404040"/>
                </a:solidFill>
                <a:effectLst/>
                <a:latin typeface="Inter"/>
              </a:rPr>
              <a:t>Đảm bảo rằng các độ trễ bổ sung không vượt quá các giới hạn cho phép.</a:t>
            </a:r>
          </a:p>
          <a:p>
            <a:pPr marL="742950" lvl="1" indent="-285750" algn="l">
              <a:buFont typeface="+mj-lt"/>
              <a:buAutoNum type="arabicPeriod"/>
            </a:pPr>
            <a:r>
              <a:rPr lang="vi-VN" b="0" i="0" dirty="0">
                <a:solidFill>
                  <a:srgbClr val="404040"/>
                </a:solidFill>
                <a:effectLst/>
                <a:latin typeface="Inter"/>
              </a:rPr>
              <a:t>Xác nhận rằng tất cả các giao dịch tiếp tục hoạt động chính xác và không có dữ liệu bị mất.</a:t>
            </a:r>
          </a:p>
          <a:p>
            <a:pPr algn="l"/>
            <a:r>
              <a:rPr lang="vi-VN" b="1" i="0" dirty="0">
                <a:solidFill>
                  <a:srgbClr val="404040"/>
                </a:solidFill>
                <a:effectLst/>
                <a:latin typeface="Inter"/>
              </a:rPr>
              <a:t>Kết luận</a:t>
            </a:r>
          </a:p>
          <a:p>
            <a:pPr algn="l"/>
            <a:r>
              <a:rPr lang="vi-VN" b="0" i="0" dirty="0">
                <a:solidFill>
                  <a:srgbClr val="404040"/>
                </a:solidFill>
                <a:effectLst/>
                <a:latin typeface="Inter"/>
              </a:rPr>
              <a:t>Điện toán đám mây có thể tiết kiệm chi phí đáng kể nếu được triển khai một cách hợp lý. Việc xây dựng một kế hoạch di chuyển chi tiết và tối ưu hóa số lượng máy chủ di chuyển lên đám mây là rất quan trọng để đảm bảo rằng lợi ích tài chính được tối đa hóa trong khi vẫn đáp ứng các yêu cầu về hiệu suất và độ tin cậy. Các tổ chức cần cân nhắc kỹ lưỡng các yếu tố như chi phí truyền thông, độ trễ, và tính chính xác của giao dịch khi quyết định di chuyển lên đám mây.</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58</a:t>
            </a:fld>
            <a:endParaRPr lang="en-US"/>
          </a:p>
        </p:txBody>
      </p:sp>
    </p:spTree>
    <p:extLst>
      <p:ext uri="{BB962C8B-B14F-4D97-AF65-F5344CB8AC3E}">
        <p14:creationId xmlns:p14="http://schemas.microsoft.com/office/powerpoint/2010/main" val="36149547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404040"/>
                </a:solidFill>
                <a:effectLst/>
                <a:latin typeface="Inter"/>
              </a:rPr>
              <a:t>L</a:t>
            </a:r>
            <a:r>
              <a:rPr lang="vi-VN" b="1" i="0" dirty="0">
                <a:solidFill>
                  <a:srgbClr val="404040"/>
                </a:solidFill>
                <a:effectLst/>
                <a:latin typeface="Inter"/>
              </a:rPr>
              <a:t>ợi ích Tính toán </a:t>
            </a:r>
            <a:r>
              <a:rPr lang="en-US" b="1" i="0" dirty="0">
                <a:solidFill>
                  <a:srgbClr val="404040"/>
                </a:solidFill>
                <a:effectLst/>
                <a:latin typeface="Inter"/>
              </a:rPr>
              <a:t> </a:t>
            </a:r>
            <a:r>
              <a:rPr lang="vi-VN" b="1" i="0" dirty="0">
                <a:solidFill>
                  <a:srgbClr val="404040"/>
                </a:solidFill>
                <a:effectLst/>
                <a:latin typeface="Inter"/>
              </a:rPr>
              <a:t>(Computing Benefits)</a:t>
            </a:r>
          </a:p>
          <a:p>
            <a:pPr algn="l"/>
            <a:r>
              <a:rPr lang="vi-VN" b="0" i="0" dirty="0">
                <a:solidFill>
                  <a:srgbClr val="404040"/>
                </a:solidFill>
                <a:effectLst/>
                <a:latin typeface="Inter"/>
              </a:rPr>
              <a:t>Để đánh giá lợi ích tài chính của việc di chuyển các thành phần ứng dụng lên đám mây, chúng ta cần xem xét các yếu tố sau:</a:t>
            </a:r>
          </a:p>
          <a:p>
            <a:pPr algn="l"/>
            <a:r>
              <a:rPr lang="vi-VN" b="1" i="0" dirty="0">
                <a:solidFill>
                  <a:srgbClr val="404040"/>
                </a:solidFill>
                <a:effectLst/>
                <a:latin typeface="Inter"/>
              </a:rPr>
              <a:t>Lợi ích t</a:t>
            </a:r>
            <a:r>
              <a:rPr lang="en-US" b="1" i="0" dirty="0" err="1">
                <a:solidFill>
                  <a:srgbClr val="404040"/>
                </a:solidFill>
                <a:effectLst/>
                <a:latin typeface="Inter"/>
              </a:rPr>
              <a:t>ài</a:t>
            </a:r>
            <a:r>
              <a:rPr lang="en-US" b="1" i="0" dirty="0">
                <a:solidFill>
                  <a:srgbClr val="404040"/>
                </a:solidFill>
                <a:effectLst/>
                <a:latin typeface="Inter"/>
              </a:rPr>
              <a:t> </a:t>
            </a:r>
            <a:r>
              <a:rPr lang="en-US" b="1" i="0" dirty="0" err="1">
                <a:solidFill>
                  <a:srgbClr val="404040"/>
                </a:solidFill>
                <a:effectLst/>
                <a:latin typeface="Inter"/>
              </a:rPr>
              <a:t>chính</a:t>
            </a:r>
            <a:r>
              <a:rPr lang="vi-VN" b="1" i="0" dirty="0">
                <a:solidFill>
                  <a:srgbClr val="404040"/>
                </a:solidFill>
                <a:effectLst/>
                <a:latin typeface="Inter"/>
              </a:rPr>
              <a:t> (Monetary Savings)</a:t>
            </a:r>
          </a:p>
          <a:p>
            <a:pPr algn="l">
              <a:buFont typeface="+mj-lt"/>
              <a:buAutoNum type="arabicPeriod"/>
            </a:pPr>
            <a:r>
              <a:rPr lang="vi-VN" b="1" i="0" dirty="0">
                <a:solidFill>
                  <a:srgbClr val="404040"/>
                </a:solidFill>
                <a:effectLst/>
                <a:latin typeface="Inter"/>
              </a:rPr>
              <a:t>Lợi ích của việc di chuyển thành phần tính toán (Compute-Intensive Component)</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KaTeX_Main"/>
              </a:rPr>
              <a:t>Bc</a:t>
            </a:r>
            <a:r>
              <a:rPr lang="vi-VN" b="1" i="1" dirty="0">
                <a:solidFill>
                  <a:srgbClr val="404040"/>
                </a:solidFill>
                <a:effectLst/>
                <a:latin typeface="KaTeX_Math"/>
              </a:rPr>
              <a:t>Bc</a:t>
            </a:r>
            <a:r>
              <a:rPr lang="vi-VN" b="1" i="0" dirty="0">
                <a:solidFill>
                  <a:srgbClr val="404040"/>
                </a:solidFill>
                <a:effectLst/>
                <a:latin typeface="KaTeX_Main"/>
              </a:rPr>
              <a:t>​</a:t>
            </a:r>
            <a:r>
              <a:rPr lang="vi-VN" b="0" i="0" dirty="0">
                <a:solidFill>
                  <a:srgbClr val="404040"/>
                </a:solidFill>
                <a:effectLst/>
                <a:latin typeface="Inter"/>
              </a:rPr>
              <a:t>: Lợi ích tài chính khi di chuyển một thành phần tính toán lên đám mây. Lợi ích này có thể bao gồm việc giảm chi phí phần cứng, điện năng, và bảo trì.</a:t>
            </a:r>
          </a:p>
          <a:p>
            <a:pPr marL="742950" lvl="1" indent="-285750" algn="l">
              <a:buFont typeface="+mj-lt"/>
              <a:buAutoNum type="arabicPeriod"/>
            </a:pPr>
            <a:r>
              <a:rPr lang="vi-VN" b="1" i="0" dirty="0">
                <a:solidFill>
                  <a:srgbClr val="404040"/>
                </a:solidFill>
                <a:effectLst/>
                <a:latin typeface="KaTeX_Main"/>
              </a:rPr>
              <a:t>Mc</a:t>
            </a:r>
            <a:r>
              <a:rPr lang="vi-VN" b="1" i="1" dirty="0">
                <a:solidFill>
                  <a:srgbClr val="404040"/>
                </a:solidFill>
                <a:effectLst/>
                <a:latin typeface="KaTeX_Math"/>
              </a:rPr>
              <a:t>Mc</a:t>
            </a:r>
            <a:r>
              <a:rPr lang="vi-VN" b="1" i="0" dirty="0">
                <a:solidFill>
                  <a:srgbClr val="404040"/>
                </a:solidFill>
                <a:effectLst/>
                <a:latin typeface="KaTeX_Main"/>
              </a:rPr>
              <a:t>​</a:t>
            </a:r>
            <a:r>
              <a:rPr lang="vi-VN" b="0" i="0" dirty="0">
                <a:solidFill>
                  <a:srgbClr val="404040"/>
                </a:solidFill>
                <a:effectLst/>
                <a:latin typeface="Inter"/>
              </a:rPr>
              <a:t>: Tổng số thành phần tính toán được di chuyển lên đám mây.</a:t>
            </a:r>
          </a:p>
          <a:p>
            <a:pPr algn="l">
              <a:buFont typeface="+mj-lt"/>
              <a:buAutoNum type="arabicPeriod"/>
            </a:pPr>
            <a:r>
              <a:rPr lang="vi-VN" b="1" i="0" dirty="0">
                <a:solidFill>
                  <a:srgbClr val="404040"/>
                </a:solidFill>
                <a:effectLst/>
                <a:latin typeface="Inter"/>
              </a:rPr>
              <a:t>Lợi ích của việc di chuyển thành phần lưu trữ (Storage-Intensive Component)</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KaTeX_Main"/>
              </a:rPr>
              <a:t>Bs</a:t>
            </a:r>
            <a:r>
              <a:rPr lang="vi-VN" b="1" i="1" dirty="0">
                <a:solidFill>
                  <a:srgbClr val="404040"/>
                </a:solidFill>
                <a:effectLst/>
                <a:latin typeface="KaTeX_Math"/>
              </a:rPr>
              <a:t>Bs</a:t>
            </a:r>
            <a:r>
              <a:rPr lang="vi-VN" b="1" i="0" dirty="0">
                <a:solidFill>
                  <a:srgbClr val="404040"/>
                </a:solidFill>
                <a:effectLst/>
                <a:latin typeface="KaTeX_Main"/>
              </a:rPr>
              <a:t>​</a:t>
            </a:r>
            <a:r>
              <a:rPr lang="vi-VN" b="0" i="0" dirty="0">
                <a:solidFill>
                  <a:srgbClr val="404040"/>
                </a:solidFill>
                <a:effectLst/>
                <a:latin typeface="Inter"/>
              </a:rPr>
              <a:t>: Lợi ích tài chính khi di chuyển một thành phần lưu trữ lên đám mây. Lợi ích này có thể bao gồm việc giảm chi phí lưu trữ, sao lưu, và quản lý dữ liệu.</a:t>
            </a:r>
          </a:p>
          <a:p>
            <a:pPr marL="742950" lvl="1" indent="-285750" algn="l">
              <a:buFont typeface="+mj-lt"/>
              <a:buAutoNum type="arabicPeriod"/>
            </a:pPr>
            <a:r>
              <a:rPr lang="vi-VN" b="1" i="0" dirty="0">
                <a:solidFill>
                  <a:srgbClr val="404040"/>
                </a:solidFill>
                <a:effectLst/>
                <a:latin typeface="KaTeX_Main"/>
              </a:rPr>
              <a:t>Ms</a:t>
            </a:r>
            <a:r>
              <a:rPr lang="vi-VN" b="1" i="1" dirty="0">
                <a:solidFill>
                  <a:srgbClr val="404040"/>
                </a:solidFill>
                <a:effectLst/>
                <a:latin typeface="KaTeX_Math"/>
              </a:rPr>
              <a:t>Ms</a:t>
            </a:r>
            <a:r>
              <a:rPr lang="vi-VN" b="1" i="0" dirty="0">
                <a:solidFill>
                  <a:srgbClr val="404040"/>
                </a:solidFill>
                <a:effectLst/>
                <a:latin typeface="KaTeX_Main"/>
              </a:rPr>
              <a:t>​</a:t>
            </a:r>
            <a:r>
              <a:rPr lang="vi-VN" b="0" i="0" dirty="0">
                <a:solidFill>
                  <a:srgbClr val="404040"/>
                </a:solidFill>
                <a:effectLst/>
                <a:latin typeface="Inter"/>
              </a:rPr>
              <a:t>: Tổng số thành phần lưu trữ được di chuyển lên đám mây.</a:t>
            </a:r>
          </a:p>
          <a:p>
            <a:pPr algn="l">
              <a:buFont typeface="+mj-lt"/>
              <a:buAutoNum type="arabicPeriod"/>
            </a:pPr>
            <a:r>
              <a:rPr lang="vi-VN" b="1" i="0" dirty="0">
                <a:solidFill>
                  <a:srgbClr val="404040"/>
                </a:solidFill>
                <a:effectLst/>
                <a:latin typeface="Inter"/>
              </a:rPr>
              <a:t>Tổng lợi ích</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Tổng lợi ích tài chính từ việc di chuyển các thành phần tính toán và lưu trữ lên đám mây được tính bằng công thức:</a:t>
            </a:r>
          </a:p>
          <a:p>
            <a:pPr marL="742950" lvl="1" indent="-285750" algn="l">
              <a:buFont typeface="+mj-lt"/>
              <a:buAutoNum type="arabicPeriod"/>
            </a:pPr>
            <a:r>
              <a:rPr lang="vi-VN" b="0" i="0" dirty="0">
                <a:solidFill>
                  <a:srgbClr val="404040"/>
                </a:solidFill>
                <a:effectLst/>
                <a:latin typeface="KaTeX_Main"/>
              </a:rPr>
              <a:t>Total Benefits=Bc⋅Mc+Bs⋅MsTotal Benefits=</a:t>
            </a:r>
            <a:r>
              <a:rPr lang="vi-VN" b="0" i="1" dirty="0">
                <a:solidFill>
                  <a:srgbClr val="404040"/>
                </a:solidFill>
                <a:effectLst/>
                <a:latin typeface="KaTeX_Math"/>
              </a:rPr>
              <a:t>Bc</a:t>
            </a:r>
            <a:r>
              <a:rPr lang="vi-VN" b="0" i="0" dirty="0">
                <a:solidFill>
                  <a:srgbClr val="404040"/>
                </a:solidFill>
                <a:effectLst/>
                <a:latin typeface="KaTeX_Main"/>
              </a:rPr>
              <a:t>​⋅</a:t>
            </a:r>
            <a:r>
              <a:rPr lang="vi-VN" b="0" i="1" dirty="0">
                <a:solidFill>
                  <a:srgbClr val="404040"/>
                </a:solidFill>
                <a:effectLst/>
                <a:latin typeface="KaTeX_Math"/>
              </a:rPr>
              <a:t>Mc</a:t>
            </a:r>
            <a:r>
              <a:rPr lang="vi-VN" b="0" i="0" dirty="0">
                <a:solidFill>
                  <a:srgbClr val="404040"/>
                </a:solidFill>
                <a:effectLst/>
                <a:latin typeface="KaTeX_Main"/>
              </a:rPr>
              <a:t>​+</a:t>
            </a:r>
            <a:r>
              <a:rPr lang="vi-VN" b="0" i="1" dirty="0">
                <a:solidFill>
                  <a:srgbClr val="404040"/>
                </a:solidFill>
                <a:effectLst/>
                <a:latin typeface="KaTeX_Math"/>
              </a:rPr>
              <a:t>Bs</a:t>
            </a:r>
            <a:r>
              <a:rPr lang="vi-VN" b="0" i="0" dirty="0">
                <a:solidFill>
                  <a:srgbClr val="404040"/>
                </a:solidFill>
                <a:effectLst/>
                <a:latin typeface="KaTeX_Main"/>
              </a:rPr>
              <a:t>​⋅</a:t>
            </a:r>
            <a:r>
              <a:rPr lang="vi-VN" b="0" i="1" dirty="0">
                <a:solidFill>
                  <a:srgbClr val="404040"/>
                </a:solidFill>
                <a:effectLst/>
                <a:latin typeface="KaTeX_Math"/>
              </a:rPr>
              <a:t>Ms</a:t>
            </a:r>
            <a:r>
              <a:rPr lang="vi-VN" b="0" i="0" dirty="0">
                <a:solidFill>
                  <a:srgbClr val="404040"/>
                </a:solidFill>
                <a:effectLst/>
                <a:latin typeface="KaTeX_Main"/>
              </a:rPr>
              <a:t>​</a:t>
            </a:r>
            <a:endParaRPr lang="vi-VN" b="0" i="0" dirty="0">
              <a:solidFill>
                <a:srgbClr val="404040"/>
              </a:solidFill>
              <a:effectLst/>
              <a:latin typeface="Inter"/>
            </a:endParaRPr>
          </a:p>
          <a:p>
            <a:pPr algn="l"/>
            <a:r>
              <a:rPr lang="vi-VN" b="1" i="0" dirty="0">
                <a:solidFill>
                  <a:srgbClr val="404040"/>
                </a:solidFill>
                <a:effectLst/>
                <a:latin typeface="Inter"/>
              </a:rPr>
              <a:t>Ví dụ minh họa</a:t>
            </a:r>
          </a:p>
          <a:p>
            <a:pPr algn="l"/>
            <a:r>
              <a:rPr lang="vi-VN" b="0" i="0" dirty="0">
                <a:solidFill>
                  <a:srgbClr val="404040"/>
                </a:solidFill>
                <a:effectLst/>
                <a:latin typeface="Inter"/>
              </a:rPr>
              <a:t>Giả sử:</a:t>
            </a:r>
          </a:p>
          <a:p>
            <a:pPr algn="l">
              <a:buFont typeface="Arial" panose="020B0604020202020204" pitchFamily="34" charset="0"/>
              <a:buChar char="•"/>
            </a:pPr>
            <a:r>
              <a:rPr lang="vi-VN" b="1" i="0" dirty="0">
                <a:solidFill>
                  <a:srgbClr val="404040"/>
                </a:solidFill>
                <a:effectLst/>
                <a:latin typeface="KaTeX_Main"/>
              </a:rPr>
              <a:t>Bc=1000</a:t>
            </a:r>
            <a:r>
              <a:rPr lang="vi-VN" b="1" i="1" dirty="0">
                <a:solidFill>
                  <a:srgbClr val="404040"/>
                </a:solidFill>
                <a:effectLst/>
                <a:latin typeface="KaTeX_Math"/>
              </a:rPr>
              <a:t>Bc</a:t>
            </a:r>
            <a:r>
              <a:rPr lang="vi-VN" b="1" i="0" dirty="0">
                <a:solidFill>
                  <a:srgbClr val="404040"/>
                </a:solidFill>
                <a:effectLst/>
                <a:latin typeface="KaTeX_Main"/>
              </a:rPr>
              <a:t>​=1000</a:t>
            </a:r>
            <a:r>
              <a:rPr lang="vi-VN" b="1" i="0" dirty="0">
                <a:solidFill>
                  <a:srgbClr val="404040"/>
                </a:solidFill>
                <a:effectLst/>
                <a:latin typeface="Inter"/>
              </a:rPr>
              <a:t> USD</a:t>
            </a:r>
            <a:r>
              <a:rPr lang="vi-VN" b="0" i="0" dirty="0">
                <a:solidFill>
                  <a:srgbClr val="404040"/>
                </a:solidFill>
                <a:effectLst/>
                <a:latin typeface="Inter"/>
              </a:rPr>
              <a:t>: Lợi ích tài chính khi di chuyển một thành phần tính toán lên đám mây.</a:t>
            </a:r>
          </a:p>
          <a:p>
            <a:pPr algn="l">
              <a:buFont typeface="Arial" panose="020B0604020202020204" pitchFamily="34" charset="0"/>
              <a:buChar char="•"/>
            </a:pPr>
            <a:r>
              <a:rPr lang="vi-VN" b="1" i="0" dirty="0">
                <a:solidFill>
                  <a:srgbClr val="404040"/>
                </a:solidFill>
                <a:effectLst/>
                <a:latin typeface="KaTeX_Main"/>
              </a:rPr>
              <a:t>Mc=5</a:t>
            </a:r>
            <a:r>
              <a:rPr lang="vi-VN" b="1" i="1" dirty="0">
                <a:solidFill>
                  <a:srgbClr val="404040"/>
                </a:solidFill>
                <a:effectLst/>
                <a:latin typeface="KaTeX_Math"/>
              </a:rPr>
              <a:t>Mc</a:t>
            </a:r>
            <a:r>
              <a:rPr lang="vi-VN" b="1" i="0" dirty="0">
                <a:solidFill>
                  <a:srgbClr val="404040"/>
                </a:solidFill>
                <a:effectLst/>
                <a:latin typeface="KaTeX_Main"/>
              </a:rPr>
              <a:t>​=5</a:t>
            </a:r>
            <a:r>
              <a:rPr lang="vi-VN" b="0" i="0" dirty="0">
                <a:solidFill>
                  <a:srgbClr val="404040"/>
                </a:solidFill>
                <a:effectLst/>
                <a:latin typeface="Inter"/>
              </a:rPr>
              <a:t>: Số lượng thành phần tính toán được di chuyển.</a:t>
            </a:r>
          </a:p>
          <a:p>
            <a:pPr algn="l">
              <a:buFont typeface="Arial" panose="020B0604020202020204" pitchFamily="34" charset="0"/>
              <a:buChar char="•"/>
            </a:pPr>
            <a:r>
              <a:rPr lang="vi-VN" b="1" i="0" dirty="0">
                <a:solidFill>
                  <a:srgbClr val="404040"/>
                </a:solidFill>
                <a:effectLst/>
                <a:latin typeface="KaTeX_Main"/>
              </a:rPr>
              <a:t>Bs=500</a:t>
            </a:r>
            <a:r>
              <a:rPr lang="vi-VN" b="1" i="1" dirty="0">
                <a:solidFill>
                  <a:srgbClr val="404040"/>
                </a:solidFill>
                <a:effectLst/>
                <a:latin typeface="KaTeX_Math"/>
              </a:rPr>
              <a:t>Bs</a:t>
            </a:r>
            <a:r>
              <a:rPr lang="vi-VN" b="1" i="0" dirty="0">
                <a:solidFill>
                  <a:srgbClr val="404040"/>
                </a:solidFill>
                <a:effectLst/>
                <a:latin typeface="KaTeX_Main"/>
              </a:rPr>
              <a:t>​=500</a:t>
            </a:r>
            <a:r>
              <a:rPr lang="vi-VN" b="1" i="0" dirty="0">
                <a:solidFill>
                  <a:srgbClr val="404040"/>
                </a:solidFill>
                <a:effectLst/>
                <a:latin typeface="Inter"/>
              </a:rPr>
              <a:t> USD</a:t>
            </a:r>
            <a:r>
              <a:rPr lang="vi-VN" b="0" i="0" dirty="0">
                <a:solidFill>
                  <a:srgbClr val="404040"/>
                </a:solidFill>
                <a:effectLst/>
                <a:latin typeface="Inter"/>
              </a:rPr>
              <a:t>: Lợi ích tài chính khi di chuyển một thành phần lưu trữ lên đám mây.</a:t>
            </a:r>
          </a:p>
          <a:p>
            <a:pPr algn="l">
              <a:buFont typeface="Arial" panose="020B0604020202020204" pitchFamily="34" charset="0"/>
              <a:buChar char="•"/>
            </a:pPr>
            <a:r>
              <a:rPr lang="vi-VN" b="1" i="0" dirty="0">
                <a:solidFill>
                  <a:srgbClr val="404040"/>
                </a:solidFill>
                <a:effectLst/>
                <a:latin typeface="KaTeX_Main"/>
              </a:rPr>
              <a:t>Ms=10</a:t>
            </a:r>
            <a:r>
              <a:rPr lang="vi-VN" b="1" i="1" dirty="0">
                <a:solidFill>
                  <a:srgbClr val="404040"/>
                </a:solidFill>
                <a:effectLst/>
                <a:latin typeface="KaTeX_Math"/>
              </a:rPr>
              <a:t>Ms</a:t>
            </a:r>
            <a:r>
              <a:rPr lang="vi-VN" b="1" i="0" dirty="0">
                <a:solidFill>
                  <a:srgbClr val="404040"/>
                </a:solidFill>
                <a:effectLst/>
                <a:latin typeface="KaTeX_Main"/>
              </a:rPr>
              <a:t>​=10</a:t>
            </a:r>
            <a:r>
              <a:rPr lang="vi-VN" b="0" i="0" dirty="0">
                <a:solidFill>
                  <a:srgbClr val="404040"/>
                </a:solidFill>
                <a:effectLst/>
                <a:latin typeface="Inter"/>
              </a:rPr>
              <a:t>: Số lượng thành phần lưu trữ được di chuyển.</a:t>
            </a:r>
          </a:p>
          <a:p>
            <a:pPr algn="l"/>
            <a:r>
              <a:rPr lang="vi-VN" b="0" i="0" dirty="0">
                <a:solidFill>
                  <a:srgbClr val="404040"/>
                </a:solidFill>
                <a:effectLst/>
                <a:latin typeface="Inter"/>
              </a:rPr>
              <a:t>Tổng lợi ích tài chính sẽ là:</a:t>
            </a:r>
          </a:p>
          <a:p>
            <a:pPr algn="l"/>
            <a:r>
              <a:rPr lang="vi-VN" b="0" i="0" dirty="0">
                <a:solidFill>
                  <a:srgbClr val="404040"/>
                </a:solidFill>
                <a:effectLst/>
                <a:latin typeface="KaTeX_Main"/>
              </a:rPr>
              <a:t>Total Benefits=1000⋅5+500⋅10=5000+5000=10000 USDTotal Benefits=1000⋅5+500⋅10=5000+5000=10000 USD</a:t>
            </a:r>
            <a:r>
              <a:rPr lang="vi-VN" b="1" i="0" dirty="0">
                <a:solidFill>
                  <a:srgbClr val="404040"/>
                </a:solidFill>
                <a:effectLst/>
                <a:latin typeface="Inter"/>
              </a:rPr>
              <a:t>Các yếu tố cần xem xét</a:t>
            </a:r>
          </a:p>
          <a:p>
            <a:pPr algn="l">
              <a:buFont typeface="+mj-lt"/>
              <a:buAutoNum type="arabicPeriod"/>
            </a:pPr>
            <a:r>
              <a:rPr lang="vi-VN" b="1" i="0" dirty="0">
                <a:solidFill>
                  <a:srgbClr val="404040"/>
                </a:solidFill>
                <a:effectLst/>
                <a:latin typeface="Inter"/>
              </a:rPr>
              <a:t>Chi phí di chuyển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Bao gồm chi phí truyền thông qua Internet, chi phí quản lý và chi phí chuyển đổi.</a:t>
            </a:r>
          </a:p>
          <a:p>
            <a:pPr marL="742950" lvl="1" indent="-285750" algn="l">
              <a:buFont typeface="+mj-lt"/>
              <a:buAutoNum type="arabicPeriod"/>
            </a:pPr>
            <a:r>
              <a:rPr lang="vi-VN" b="0" i="0" dirty="0">
                <a:solidFill>
                  <a:srgbClr val="404040"/>
                </a:solidFill>
                <a:effectLst/>
                <a:latin typeface="Inter"/>
              </a:rPr>
              <a:t>Cần đảm bảo rằng lợi ích tài chính vượt trội so với chi phí di chuyển.</a:t>
            </a:r>
          </a:p>
          <a:p>
            <a:pPr algn="l">
              <a:buFont typeface="+mj-lt"/>
              <a:buAutoNum type="arabicPeriod"/>
            </a:pPr>
            <a:r>
              <a:rPr lang="vi-VN" b="1" i="0" dirty="0">
                <a:solidFill>
                  <a:srgbClr val="404040"/>
                </a:solidFill>
                <a:effectLst/>
                <a:latin typeface="Inter"/>
              </a:rPr>
              <a:t>Hiệu suất và độ trễ</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Đảm bảo rằng việc di chuyển không gây ra độ trễ quá mức ảnh hưởng đến hiệu suất ứng dụng.</a:t>
            </a:r>
          </a:p>
          <a:p>
            <a:pPr marL="742950" lvl="1" indent="-285750" algn="l">
              <a:buFont typeface="+mj-lt"/>
              <a:buAutoNum type="arabicPeriod"/>
            </a:pPr>
            <a:r>
              <a:rPr lang="vi-VN" b="0" i="0" dirty="0">
                <a:solidFill>
                  <a:srgbClr val="404040"/>
                </a:solidFill>
                <a:effectLst/>
                <a:latin typeface="Inter"/>
              </a:rPr>
              <a:t>Các thành phần nhạy cảm với độ trễ có thể cần được giữ lại tại chỗ hoặc di chuyển một phần.</a:t>
            </a:r>
          </a:p>
          <a:p>
            <a:pPr algn="l">
              <a:buFont typeface="+mj-lt"/>
              <a:buAutoNum type="arabicPeriod"/>
            </a:pPr>
            <a:r>
              <a:rPr lang="vi-VN" b="1" i="0" dirty="0">
                <a:solidFill>
                  <a:srgbClr val="404040"/>
                </a:solidFill>
                <a:effectLst/>
                <a:latin typeface="Inter"/>
              </a:rPr>
              <a:t>Độ tin cậy và bảo mật</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Đảm bảo rằng các giao dịch tiếp tục hoạt động chính xác và không có dữ liệu bị mất.</a:t>
            </a:r>
          </a:p>
          <a:p>
            <a:pPr marL="742950" lvl="1" indent="-285750" algn="l">
              <a:buFont typeface="+mj-lt"/>
              <a:buAutoNum type="arabicPeriod"/>
            </a:pPr>
            <a:r>
              <a:rPr lang="vi-VN" b="0" i="0" dirty="0">
                <a:solidFill>
                  <a:srgbClr val="404040"/>
                </a:solidFill>
                <a:effectLst/>
                <a:latin typeface="Inter"/>
              </a:rPr>
              <a:t>Tuân thủ các chính sách bảo mật và quy định của tổ chức.</a:t>
            </a:r>
          </a:p>
          <a:p>
            <a:pPr algn="l"/>
            <a:r>
              <a:rPr lang="vi-VN" b="1" i="0" dirty="0">
                <a:solidFill>
                  <a:srgbClr val="404040"/>
                </a:solidFill>
                <a:effectLst/>
                <a:latin typeface="Inter"/>
              </a:rPr>
              <a:t>Kết luận</a:t>
            </a:r>
          </a:p>
          <a:p>
            <a:pPr algn="l"/>
            <a:r>
              <a:rPr lang="vi-VN" b="0" i="0" dirty="0">
                <a:solidFill>
                  <a:srgbClr val="404040"/>
                </a:solidFill>
                <a:effectLst/>
                <a:latin typeface="Inter"/>
              </a:rPr>
              <a:t>Việc tính toán lợi ích tài chính từ việc di chuyển các thành phần ứng dụng lên đám mây là một bước quan trọng để đánh giá tính hiệu quả của điện toán đám mây. Bằng cách xác định lợi ích của việc di chuyển các thành phần tính toán và lưu trữ, các tổ chức có thể tối đa hóa lợi ích tài chính trong khi vẫn đảm bảo các yêu cầu về hiệu suất, độ trễ, và độ tin cậy. Công thức tổng lợi ích </a:t>
            </a:r>
            <a:r>
              <a:rPr lang="vi-VN" b="0" i="0" dirty="0">
                <a:solidFill>
                  <a:srgbClr val="404040"/>
                </a:solidFill>
                <a:effectLst/>
                <a:latin typeface="KaTeX_Main"/>
              </a:rPr>
              <a:t>Bc⋅Mc+Bs⋅Ms</a:t>
            </a:r>
            <a:r>
              <a:rPr lang="vi-VN" b="0" i="1" dirty="0">
                <a:solidFill>
                  <a:srgbClr val="404040"/>
                </a:solidFill>
                <a:effectLst/>
                <a:latin typeface="KaTeX_Math"/>
              </a:rPr>
              <a:t>Bc</a:t>
            </a:r>
            <a:r>
              <a:rPr lang="vi-VN" b="0" i="0" dirty="0">
                <a:solidFill>
                  <a:srgbClr val="404040"/>
                </a:solidFill>
                <a:effectLst/>
                <a:latin typeface="KaTeX_Main"/>
              </a:rPr>
              <a:t>​⋅</a:t>
            </a:r>
            <a:r>
              <a:rPr lang="vi-VN" b="0" i="1" dirty="0">
                <a:solidFill>
                  <a:srgbClr val="404040"/>
                </a:solidFill>
                <a:effectLst/>
                <a:latin typeface="KaTeX_Math"/>
              </a:rPr>
              <a:t>Mc</a:t>
            </a:r>
            <a:r>
              <a:rPr lang="vi-VN" b="0" i="0" dirty="0">
                <a:solidFill>
                  <a:srgbClr val="404040"/>
                </a:solidFill>
                <a:effectLst/>
                <a:latin typeface="KaTeX_Main"/>
              </a:rPr>
              <a:t>​+</a:t>
            </a:r>
            <a:r>
              <a:rPr lang="vi-VN" b="0" i="1" dirty="0">
                <a:solidFill>
                  <a:srgbClr val="404040"/>
                </a:solidFill>
                <a:effectLst/>
                <a:latin typeface="KaTeX_Math"/>
              </a:rPr>
              <a:t>Bs</a:t>
            </a:r>
            <a:r>
              <a:rPr lang="vi-VN" b="0" i="0" dirty="0">
                <a:solidFill>
                  <a:srgbClr val="404040"/>
                </a:solidFill>
                <a:effectLst/>
                <a:latin typeface="KaTeX_Main"/>
              </a:rPr>
              <a:t>​⋅</a:t>
            </a:r>
            <a:r>
              <a:rPr lang="vi-VN" b="0" i="1" dirty="0">
                <a:solidFill>
                  <a:srgbClr val="404040"/>
                </a:solidFill>
                <a:effectLst/>
                <a:latin typeface="KaTeX_Math"/>
              </a:rPr>
              <a:t>Ms</a:t>
            </a:r>
            <a:r>
              <a:rPr lang="vi-VN" b="0" i="0" dirty="0">
                <a:solidFill>
                  <a:srgbClr val="404040"/>
                </a:solidFill>
                <a:effectLst/>
                <a:latin typeface="KaTeX_Main"/>
              </a:rPr>
              <a:t>​</a:t>
            </a:r>
            <a:r>
              <a:rPr lang="vi-VN" b="0" i="0" dirty="0">
                <a:solidFill>
                  <a:srgbClr val="404040"/>
                </a:solidFill>
                <a:effectLst/>
                <a:latin typeface="Inter"/>
              </a:rPr>
              <a:t> cung cấp một cách tiếp cận đơn giản và hiệu quả để đánh giá lợi ích tổng thể của việc di chuyển lên đám mây.</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59</a:t>
            </a:fld>
            <a:endParaRPr lang="en-US"/>
          </a:p>
        </p:txBody>
      </p:sp>
    </p:spTree>
    <p:extLst>
      <p:ext uri="{BB962C8B-B14F-4D97-AF65-F5344CB8AC3E}">
        <p14:creationId xmlns:p14="http://schemas.microsoft.com/office/powerpoint/2010/main" val="9214993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Chi phí Internet: Lưu lượng truy cập đến/từ đám mây</a:t>
            </a:r>
          </a:p>
          <a:p>
            <a:pPr algn="l"/>
            <a:r>
              <a:rPr lang="vi-VN" b="0" i="0" dirty="0">
                <a:solidFill>
                  <a:srgbClr val="404040"/>
                </a:solidFill>
                <a:effectLst/>
                <a:latin typeface="Inter"/>
              </a:rPr>
              <a:t>Khi di chuyển các thành phần ứng dụng lên đám mây, một trong những yếu tố quan trọng cần xem xét là </a:t>
            </a:r>
            <a:r>
              <a:rPr lang="vi-VN" b="1" i="0" dirty="0">
                <a:solidFill>
                  <a:srgbClr val="404040"/>
                </a:solidFill>
                <a:effectLst/>
                <a:latin typeface="Inter"/>
              </a:rPr>
              <a:t>chi phí Internet</a:t>
            </a:r>
            <a:r>
              <a:rPr lang="vi-VN" b="0" i="0" dirty="0">
                <a:solidFill>
                  <a:srgbClr val="404040"/>
                </a:solidFill>
                <a:effectLst/>
                <a:latin typeface="Inter"/>
              </a:rPr>
              <a:t> liên quan đến việc truyền dữ liệu giữa người dùng và các thành phần trên đám mây. Dưới đây là cách tính toán chi phí này:</a:t>
            </a:r>
          </a:p>
          <a:p>
            <a:pPr algn="l"/>
            <a:r>
              <a:rPr lang="vi-VN" b="1" i="0" dirty="0">
                <a:solidFill>
                  <a:srgbClr val="404040"/>
                </a:solidFill>
                <a:effectLst/>
                <a:latin typeface="Inter"/>
              </a:rPr>
              <a:t>Công thức tính chi phí Internet</a:t>
            </a:r>
          </a:p>
          <a:p>
            <a:pPr algn="l"/>
            <a:r>
              <a:rPr lang="vi-VN" b="0" i="0" dirty="0">
                <a:solidFill>
                  <a:srgbClr val="404040"/>
                </a:solidFill>
                <a:effectLst/>
                <a:latin typeface="Inter"/>
              </a:rPr>
              <a:t>Chi phí Internet được tính dựa trên lưu lượng dữ liệu truyền tải giữa người dùng và các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trên đám mây. Công thức tổng quát như sau:</a:t>
            </a:r>
          </a:p>
          <a:p>
            <a:pPr algn="l"/>
            <a:r>
              <a:rPr lang="vi-VN" b="0" i="0" dirty="0">
                <a:solidFill>
                  <a:srgbClr val="404040"/>
                </a:solidFill>
                <a:effectLst/>
                <a:latin typeface="KaTeX_Main"/>
              </a:rPr>
              <a:t>Trlocal,inet=∑CiTrlocal,inet​=</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KaTeX_Size2"/>
              </a:rPr>
              <a:t>∑</a:t>
            </a:r>
            <a:r>
              <a:rPr lang="vi-VN" b="0" i="0" dirty="0">
                <a:solidFill>
                  <a:srgbClr val="404040"/>
                </a:solidFill>
                <a:effectLst/>
                <a:latin typeface="KaTeX_Main"/>
              </a:rPr>
              <a:t>​</a:t>
            </a:r>
            <a:r>
              <a:rPr lang="vi-VN" b="0" i="0" dirty="0">
                <a:solidFill>
                  <a:srgbClr val="404040"/>
                </a:solidFill>
                <a:effectLst/>
                <a:latin typeface="Inter"/>
              </a:rPr>
              <a:t>Trong đó:</a:t>
            </a:r>
          </a:p>
          <a:p>
            <a:pPr algn="l">
              <a:buFont typeface="Arial" panose="020B0604020202020204" pitchFamily="34" charset="0"/>
              <a:buChar char="•"/>
            </a:pPr>
            <a:r>
              <a:rPr lang="vi-VN" b="0" i="0" dirty="0">
                <a:solidFill>
                  <a:srgbClr val="404040"/>
                </a:solidFill>
                <a:effectLst/>
                <a:latin typeface="Inter"/>
              </a:rPr>
              <a:t>: Số lượng giao dịch trên một đơn vị thời gian gây ra luồng dữ liệu từ người dùng đến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a:t>
            </a:r>
          </a:p>
          <a:p>
            <a:pPr algn="l">
              <a:buFont typeface="Arial" panose="020B0604020202020204" pitchFamily="34" charset="0"/>
              <a:buChar char="•"/>
            </a:pPr>
            <a:r>
              <a:rPr lang="vi-VN" b="0" i="0" dirty="0">
                <a:solidFill>
                  <a:srgbClr val="404040"/>
                </a:solidFill>
                <a:effectLst/>
                <a:latin typeface="Inter"/>
              </a:rPr>
              <a:t>: Lượng dữ liệu liên quan đến </a:t>
            </a:r>
            <a:r>
              <a:rPr lang="vi-VN" b="0" i="0" dirty="0">
                <a:solidFill>
                  <a:srgbClr val="404040"/>
                </a:solidFill>
                <a:effectLst/>
                <a:latin typeface="KaTeX_Main"/>
              </a:rPr>
              <a:t>Tuser,i</a:t>
            </a:r>
            <a:r>
              <a:rPr lang="vi-VN" b="0" i="1" dirty="0">
                <a:solidFill>
                  <a:srgbClr val="404040"/>
                </a:solidFill>
                <a:effectLst/>
                <a:latin typeface="KaTeX_Math"/>
              </a:rPr>
              <a:t>T</a:t>
            </a:r>
            <a:r>
              <a:rPr lang="vi-VN" b="0" i="0" dirty="0">
                <a:solidFill>
                  <a:srgbClr val="404040"/>
                </a:solidFill>
                <a:effectLst/>
                <a:latin typeface="KaTeX_Main"/>
              </a:rPr>
              <a:t>user,</a:t>
            </a:r>
            <a:r>
              <a:rPr lang="vi-VN" b="0" i="1" dirty="0">
                <a:solidFill>
                  <a:srgbClr val="404040"/>
                </a:solidFill>
                <a:effectLst/>
                <a:latin typeface="KaTeX_Math"/>
              </a:rPr>
              <a:t>i</a:t>
            </a:r>
            <a:r>
              <a:rPr lang="vi-VN" b="0" i="0" dirty="0">
                <a:solidFill>
                  <a:srgbClr val="404040"/>
                </a:solidFill>
                <a:effectLst/>
                <a:latin typeface="KaTeX_Main"/>
              </a:rPr>
              <a:t>​</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KaTeX_Main"/>
              </a:rPr>
              <a:t>Ti,user</a:t>
            </a:r>
            <a:r>
              <a:rPr lang="vi-VN" b="1" i="1" dirty="0">
                <a:solidFill>
                  <a:srgbClr val="404040"/>
                </a:solidFill>
                <a:effectLst/>
                <a:latin typeface="KaTeX_Math"/>
              </a:rPr>
              <a:t>Ti</a:t>
            </a:r>
            <a:r>
              <a:rPr lang="vi-VN" b="1" i="0" dirty="0">
                <a:solidFill>
                  <a:srgbClr val="404040"/>
                </a:solidFill>
                <a:effectLst/>
                <a:latin typeface="KaTeX_Main"/>
              </a:rPr>
              <a:t>,user​</a:t>
            </a:r>
            <a:r>
              <a:rPr lang="vi-VN" b="0" i="0" dirty="0">
                <a:solidFill>
                  <a:srgbClr val="404040"/>
                </a:solidFill>
                <a:effectLst/>
                <a:latin typeface="Inter"/>
              </a:rPr>
              <a:t>: Số lượng giao dịch trên một đơn vị thời gian gây ra luồng dữ liệu từ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đến người dùng.</a:t>
            </a:r>
          </a:p>
          <a:p>
            <a:pPr algn="l">
              <a:buFont typeface="Arial" panose="020B0604020202020204" pitchFamily="34" charset="0"/>
              <a:buChar char="•"/>
            </a:pPr>
            <a:r>
              <a:rPr lang="vi-VN" b="1" i="0" dirty="0">
                <a:solidFill>
                  <a:srgbClr val="404040"/>
                </a:solidFill>
                <a:effectLst/>
                <a:latin typeface="KaTeX_Main"/>
              </a:rPr>
              <a:t>Si,user</a:t>
            </a:r>
            <a:r>
              <a:rPr lang="vi-VN" b="1" i="1" dirty="0">
                <a:solidFill>
                  <a:srgbClr val="404040"/>
                </a:solidFill>
                <a:effectLst/>
                <a:latin typeface="KaTeX_Math"/>
              </a:rPr>
              <a:t>Si</a:t>
            </a:r>
            <a:r>
              <a:rPr lang="vi-VN" b="1" i="0" dirty="0">
                <a:solidFill>
                  <a:srgbClr val="404040"/>
                </a:solidFill>
                <a:effectLst/>
                <a:latin typeface="KaTeX_Main"/>
              </a:rPr>
              <a:t>,user​</a:t>
            </a:r>
            <a:r>
              <a:rPr lang="vi-VN" b="0" i="0" dirty="0">
                <a:solidFill>
                  <a:srgbClr val="404040"/>
                </a:solidFill>
                <a:effectLst/>
                <a:latin typeface="Inter"/>
              </a:rPr>
              <a:t>: Lượng dữ liệu liên quan đến </a:t>
            </a:r>
            <a:r>
              <a:rPr lang="vi-VN" b="0" i="0" dirty="0">
                <a:solidFill>
                  <a:srgbClr val="404040"/>
                </a:solidFill>
                <a:effectLst/>
                <a:latin typeface="KaTeX_Main"/>
              </a:rPr>
              <a:t>Ti,user</a:t>
            </a:r>
            <a:r>
              <a:rPr lang="vi-VN" b="0" i="1" dirty="0">
                <a:solidFill>
                  <a:srgbClr val="404040"/>
                </a:solidFill>
                <a:effectLst/>
                <a:latin typeface="KaTeX_Math"/>
              </a:rPr>
              <a:t>Ti</a:t>
            </a:r>
            <a:r>
              <a:rPr lang="vi-VN" b="0" i="0" dirty="0">
                <a:solidFill>
                  <a:srgbClr val="404040"/>
                </a:solidFill>
                <a:effectLst/>
                <a:latin typeface="KaTeX_Main"/>
              </a:rPr>
              <a:t>,user​</a:t>
            </a:r>
            <a:r>
              <a:rPr lang="vi-VN" b="0" i="0" dirty="0">
                <a:solidFill>
                  <a:srgbClr val="404040"/>
                </a:solidFill>
                <a:effectLst/>
                <a:latin typeface="Inter"/>
              </a:rPr>
              <a:t>.</a:t>
            </a:r>
          </a:p>
          <a:p>
            <a:pPr algn="l"/>
            <a:r>
              <a:rPr lang="vi-VN" b="1" i="0" dirty="0">
                <a:solidFill>
                  <a:srgbClr val="404040"/>
                </a:solidFill>
                <a:effectLst/>
                <a:latin typeface="Inter"/>
              </a:rPr>
              <a:t>Giải thích công thức</a:t>
            </a:r>
          </a:p>
          <a:p>
            <a:pPr algn="l">
              <a:buFont typeface="+mj-lt"/>
              <a:buAutoNum type="arabicPeriod"/>
            </a:pPr>
            <a:r>
              <a:rPr lang="vi-VN" b="1" i="0" dirty="0">
                <a:solidFill>
                  <a:srgbClr val="404040"/>
                </a:solidFill>
                <a:effectLst/>
                <a:latin typeface="Inter"/>
              </a:rPr>
              <a:t>Lưu lượng từ người dùng đến đám mây</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 Đại diện cho tổng lượng dữ liệu được truyền từ người dùng đến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trên đám mây.</a:t>
            </a:r>
          </a:p>
          <a:p>
            <a:pPr marL="742950" lvl="1" indent="-285750" algn="l">
              <a:buFont typeface="+mj-lt"/>
              <a:buAutoNum type="arabicPeriod"/>
            </a:pPr>
            <a:r>
              <a:rPr lang="vi-VN" b="0" i="0" dirty="0">
                <a:solidFill>
                  <a:srgbClr val="404040"/>
                </a:solidFill>
                <a:effectLst/>
                <a:latin typeface="Inter"/>
              </a:rPr>
              <a:t>Ví dụ: Nếu người dùng gửi 100 yêu cầu mỗi giờ (</a:t>
            </a:r>
            <a:r>
              <a:rPr lang="vi-VN" b="0" i="0" dirty="0">
                <a:solidFill>
                  <a:srgbClr val="404040"/>
                </a:solidFill>
                <a:effectLst/>
                <a:latin typeface="KaTeX_Main"/>
              </a:rPr>
              <a:t>T</a:t>
            </a:r>
            <a:r>
              <a:rPr lang="vi-VN" b="0" i="1" dirty="0">
                <a:solidFill>
                  <a:srgbClr val="404040"/>
                </a:solidFill>
                <a:effectLst/>
                <a:latin typeface="KaTeX_Math"/>
              </a:rPr>
              <a:t>T</a:t>
            </a:r>
            <a:r>
              <a:rPr lang="vi-VN" b="0" i="0" dirty="0">
                <a:solidFill>
                  <a:srgbClr val="404040"/>
                </a:solidFill>
                <a:effectLst/>
                <a:latin typeface="Inter"/>
              </a:rPr>
              <a:t>) và mỗi yêu cầu có kích thước 1 MB (</a:t>
            </a:r>
            <a:r>
              <a:rPr lang="vi-VN" b="0" i="0" dirty="0">
                <a:solidFill>
                  <a:srgbClr val="404040"/>
                </a:solidFill>
                <a:effectLst/>
                <a:latin typeface="KaTeX_Main"/>
              </a:rPr>
              <a:t>S</a:t>
            </a:r>
            <a:r>
              <a:rPr lang="vi-VN" b="0" i="1" dirty="0">
                <a:solidFill>
                  <a:srgbClr val="404040"/>
                </a:solidFill>
                <a:effectLst/>
                <a:latin typeface="KaTeX_Math"/>
              </a:rPr>
              <a:t>S</a:t>
            </a:r>
            <a:r>
              <a:rPr lang="vi-VN" b="0" i="0" dirty="0">
                <a:solidFill>
                  <a:srgbClr val="404040"/>
                </a:solidFill>
                <a:effectLst/>
                <a:latin typeface="Inter"/>
              </a:rPr>
              <a:t>), thì tổng lượng dữ liệu là </a:t>
            </a:r>
            <a:r>
              <a:rPr lang="vi-VN" b="0" i="0" dirty="0">
                <a:solidFill>
                  <a:srgbClr val="404040"/>
                </a:solidFill>
                <a:effectLst/>
                <a:latin typeface="KaTeX_Main"/>
              </a:rPr>
              <a:t>100⋅1=100 MB100⋅1=100 MB</a:t>
            </a:r>
            <a:r>
              <a:rPr lang="vi-VN" b="0" i="0" dirty="0">
                <a:solidFill>
                  <a:srgbClr val="404040"/>
                </a:solidFill>
                <a:effectLst/>
                <a:latin typeface="Inter"/>
              </a:rPr>
              <a:t>.</a:t>
            </a:r>
          </a:p>
          <a:p>
            <a:pPr algn="l">
              <a:buFont typeface="+mj-lt"/>
              <a:buAutoNum type="arabicPeriod"/>
            </a:pPr>
            <a:r>
              <a:rPr lang="vi-VN" b="1" i="0" dirty="0">
                <a:solidFill>
                  <a:srgbClr val="404040"/>
                </a:solidFill>
                <a:effectLst/>
                <a:latin typeface="Inter"/>
              </a:rPr>
              <a:t>Lưu lượng từ đám mây đến người dùng</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KaTeX_Main"/>
              </a:rPr>
              <a:t>Ti,user⋅Si,user</a:t>
            </a:r>
            <a:r>
              <a:rPr lang="vi-VN" b="1" i="1" dirty="0">
                <a:solidFill>
                  <a:srgbClr val="404040"/>
                </a:solidFill>
                <a:effectLst/>
                <a:latin typeface="KaTeX_Math"/>
              </a:rPr>
              <a:t>Ti</a:t>
            </a:r>
            <a:r>
              <a:rPr lang="vi-VN" b="1" i="0" dirty="0">
                <a:solidFill>
                  <a:srgbClr val="404040"/>
                </a:solidFill>
                <a:effectLst/>
                <a:latin typeface="KaTeX_Main"/>
              </a:rPr>
              <a:t>,user​⋅</a:t>
            </a:r>
            <a:r>
              <a:rPr lang="vi-VN" b="1" i="1" dirty="0">
                <a:solidFill>
                  <a:srgbClr val="404040"/>
                </a:solidFill>
                <a:effectLst/>
                <a:latin typeface="KaTeX_Math"/>
              </a:rPr>
              <a:t>Si</a:t>
            </a:r>
            <a:r>
              <a:rPr lang="vi-VN" b="1" i="0" dirty="0">
                <a:solidFill>
                  <a:srgbClr val="404040"/>
                </a:solidFill>
                <a:effectLst/>
                <a:latin typeface="KaTeX_Main"/>
              </a:rPr>
              <a:t>,user​</a:t>
            </a:r>
            <a:r>
              <a:rPr lang="vi-VN" b="0" i="0" dirty="0">
                <a:solidFill>
                  <a:srgbClr val="404040"/>
                </a:solidFill>
                <a:effectLst/>
                <a:latin typeface="Inter"/>
              </a:rPr>
              <a:t>: Đại diện cho tổng lượng dữ liệu được truyền từ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trên đám mây đến người dùng.</a:t>
            </a:r>
          </a:p>
          <a:p>
            <a:pPr marL="742950" lvl="1" indent="-285750" algn="l">
              <a:buFont typeface="+mj-lt"/>
              <a:buAutoNum type="arabicPeriod"/>
            </a:pPr>
            <a:r>
              <a:rPr lang="vi-VN" b="0" i="0" dirty="0">
                <a:solidFill>
                  <a:srgbClr val="404040"/>
                </a:solidFill>
                <a:effectLst/>
                <a:latin typeface="Inter"/>
              </a:rPr>
              <a:t>Ví dụ: Nếu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gửi 50 phản hồi mỗi giờ (</a:t>
            </a:r>
            <a:r>
              <a:rPr lang="vi-VN" b="0" i="0" dirty="0">
                <a:solidFill>
                  <a:srgbClr val="404040"/>
                </a:solidFill>
                <a:effectLst/>
                <a:latin typeface="KaTeX_Main"/>
              </a:rPr>
              <a:t>Ti,user=50</a:t>
            </a:r>
            <a:r>
              <a:rPr lang="vi-VN" b="0" i="1" dirty="0">
                <a:solidFill>
                  <a:srgbClr val="404040"/>
                </a:solidFill>
                <a:effectLst/>
                <a:latin typeface="KaTeX_Math"/>
              </a:rPr>
              <a:t>Ti</a:t>
            </a:r>
            <a:r>
              <a:rPr lang="vi-VN" b="0" i="0" dirty="0">
                <a:solidFill>
                  <a:srgbClr val="404040"/>
                </a:solidFill>
                <a:effectLst/>
                <a:latin typeface="KaTeX_Main"/>
              </a:rPr>
              <a:t>,user​=50</a:t>
            </a:r>
            <a:r>
              <a:rPr lang="vi-VN" b="0" i="0" dirty="0">
                <a:solidFill>
                  <a:srgbClr val="404040"/>
                </a:solidFill>
                <a:effectLst/>
                <a:latin typeface="Inter"/>
              </a:rPr>
              <a:t>) và mỗi phản hồi có kích thước 2 MB (</a:t>
            </a:r>
            <a:r>
              <a:rPr lang="vi-VN" b="0" i="0" dirty="0">
                <a:solidFill>
                  <a:srgbClr val="404040"/>
                </a:solidFill>
                <a:effectLst/>
                <a:latin typeface="KaTeX_Main"/>
              </a:rPr>
              <a:t>Si,user=2 MB</a:t>
            </a:r>
            <a:r>
              <a:rPr lang="vi-VN" b="0" i="1" dirty="0">
                <a:solidFill>
                  <a:srgbClr val="404040"/>
                </a:solidFill>
                <a:effectLst/>
                <a:latin typeface="KaTeX_Math"/>
              </a:rPr>
              <a:t>Si</a:t>
            </a:r>
            <a:r>
              <a:rPr lang="vi-VN" b="0" i="0" dirty="0">
                <a:solidFill>
                  <a:srgbClr val="404040"/>
                </a:solidFill>
                <a:effectLst/>
                <a:latin typeface="KaTeX_Main"/>
              </a:rPr>
              <a:t>,user​=2 MB</a:t>
            </a:r>
            <a:r>
              <a:rPr lang="vi-VN" b="0" i="0" dirty="0">
                <a:solidFill>
                  <a:srgbClr val="404040"/>
                </a:solidFill>
                <a:effectLst/>
                <a:latin typeface="Inter"/>
              </a:rPr>
              <a:t>), thì tổng lượng dữ liệu là </a:t>
            </a:r>
            <a:r>
              <a:rPr lang="vi-VN" b="0" i="0" dirty="0">
                <a:solidFill>
                  <a:srgbClr val="404040"/>
                </a:solidFill>
                <a:effectLst/>
                <a:latin typeface="KaTeX_Main"/>
              </a:rPr>
              <a:t>50⋅2=100 MB50⋅2=100 MB</a:t>
            </a:r>
            <a:r>
              <a:rPr lang="vi-VN" b="0" i="0" dirty="0">
                <a:solidFill>
                  <a:srgbClr val="404040"/>
                </a:solidFill>
                <a:effectLst/>
                <a:latin typeface="Inter"/>
              </a:rPr>
              <a:t>.</a:t>
            </a:r>
          </a:p>
          <a:p>
            <a:pPr algn="l">
              <a:buFont typeface="+mj-lt"/>
              <a:buAutoNum type="arabicPeriod"/>
            </a:pPr>
            <a:r>
              <a:rPr lang="vi-VN" b="1" i="0" dirty="0">
                <a:solidFill>
                  <a:srgbClr val="404040"/>
                </a:solidFill>
                <a:effectLst/>
                <a:latin typeface="Inter"/>
              </a:rPr>
              <a:t>Tổng lưu lượng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Tổng lưu lượng dữ liệu giữa người dùng và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là tổng của lưu lượng đến và đi:</a:t>
            </a:r>
          </a:p>
          <a:p>
            <a:pPr marL="742950" lvl="1" indent="-285750" algn="l">
              <a:buFont typeface="+mj-lt"/>
              <a:buAutoNum type="arabicPeriod"/>
            </a:pPr>
            <a:r>
              <a:rPr lang="vi-VN" b="0" i="0" dirty="0">
                <a:solidFill>
                  <a:srgbClr val="404040"/>
                </a:solidFill>
                <a:effectLst/>
                <a:latin typeface="KaTeX_Main"/>
              </a:rPr>
              <a:t>Tuser,i⋅Suser,i+Ti,user⋅Si,user</a:t>
            </a:r>
            <a:r>
              <a:rPr lang="vi-VN" b="0" i="1" dirty="0">
                <a:solidFill>
                  <a:srgbClr val="404040"/>
                </a:solidFill>
                <a:effectLst/>
                <a:latin typeface="KaTeX_Math"/>
              </a:rPr>
              <a:t>T</a:t>
            </a:r>
            <a:r>
              <a:rPr lang="vi-VN" b="0" i="0" dirty="0">
                <a:solidFill>
                  <a:srgbClr val="404040"/>
                </a:solidFill>
                <a:effectLst/>
                <a:latin typeface="KaTeX_Main"/>
              </a:rPr>
              <a:t>user,</a:t>
            </a:r>
            <a:r>
              <a:rPr lang="vi-VN" b="0" i="1" dirty="0">
                <a:solidFill>
                  <a:srgbClr val="404040"/>
                </a:solidFill>
                <a:effectLst/>
                <a:latin typeface="KaTeX_Math"/>
              </a:rPr>
              <a:t>i</a:t>
            </a:r>
            <a:r>
              <a:rPr lang="vi-VN" b="0" i="0" dirty="0">
                <a:solidFill>
                  <a:srgbClr val="404040"/>
                </a:solidFill>
                <a:effectLst/>
                <a:latin typeface="KaTeX_Main"/>
              </a:rPr>
              <a:t>​⋅</a:t>
            </a:r>
            <a:r>
              <a:rPr lang="vi-VN" b="0" i="1" dirty="0">
                <a:solidFill>
                  <a:srgbClr val="404040"/>
                </a:solidFill>
                <a:effectLst/>
                <a:latin typeface="KaTeX_Math"/>
              </a:rPr>
              <a:t>S</a:t>
            </a:r>
            <a:r>
              <a:rPr lang="vi-VN" b="0" i="0" dirty="0">
                <a:solidFill>
                  <a:srgbClr val="404040"/>
                </a:solidFill>
                <a:effectLst/>
                <a:latin typeface="KaTeX_Main"/>
              </a:rPr>
              <a:t>user,</a:t>
            </a:r>
            <a:r>
              <a:rPr lang="vi-VN" b="0" i="1" dirty="0">
                <a:solidFill>
                  <a:srgbClr val="404040"/>
                </a:solidFill>
                <a:effectLst/>
                <a:latin typeface="KaTeX_Math"/>
              </a:rPr>
              <a:t>i</a:t>
            </a:r>
            <a:r>
              <a:rPr lang="vi-VN" b="0" i="0" dirty="0">
                <a:solidFill>
                  <a:srgbClr val="404040"/>
                </a:solidFill>
                <a:effectLst/>
                <a:latin typeface="KaTeX_Main"/>
              </a:rPr>
              <a:t>​+</a:t>
            </a:r>
            <a:r>
              <a:rPr lang="vi-VN" b="0" i="1" dirty="0">
                <a:solidFill>
                  <a:srgbClr val="404040"/>
                </a:solidFill>
                <a:effectLst/>
                <a:latin typeface="KaTeX_Math"/>
              </a:rPr>
              <a:t>Ti</a:t>
            </a:r>
            <a:r>
              <a:rPr lang="vi-VN" b="0" i="0" dirty="0">
                <a:solidFill>
                  <a:srgbClr val="404040"/>
                </a:solidFill>
                <a:effectLst/>
                <a:latin typeface="KaTeX_Main"/>
              </a:rPr>
              <a:t>,user​⋅</a:t>
            </a:r>
            <a:r>
              <a:rPr lang="vi-VN" b="0" i="1" dirty="0">
                <a:solidFill>
                  <a:srgbClr val="404040"/>
                </a:solidFill>
                <a:effectLst/>
                <a:latin typeface="KaTeX_Math"/>
              </a:rPr>
              <a:t>Si</a:t>
            </a:r>
            <a:r>
              <a:rPr lang="vi-VN" b="0" i="0" dirty="0">
                <a:solidFill>
                  <a:srgbClr val="404040"/>
                </a:solidFill>
                <a:effectLst/>
                <a:latin typeface="KaTeX_Main"/>
              </a:rPr>
              <a:t>,user​</a:t>
            </a:r>
            <a:endParaRPr lang="vi-VN" b="0" i="0" dirty="0">
              <a:solidFill>
                <a:srgbClr val="404040"/>
              </a:solidFill>
              <a:effectLst/>
              <a:latin typeface="Inter"/>
            </a:endParaRPr>
          </a:p>
          <a:p>
            <a:pPr marL="742950" lvl="1" indent="-285750" algn="l">
              <a:buFont typeface="+mj-lt"/>
              <a:buAutoNum type="arabicPeriod"/>
            </a:pPr>
            <a:r>
              <a:rPr lang="vi-VN" b="0" i="0" dirty="0">
                <a:solidFill>
                  <a:srgbClr val="404040"/>
                </a:solidFill>
                <a:effectLst/>
                <a:latin typeface="Inter"/>
              </a:rPr>
              <a:t>Tổng lưu lượng cho tất cả các thành phần </a:t>
            </a:r>
            <a:r>
              <a:rPr lang="vi-VN" b="0" i="0" dirty="0">
                <a:solidFill>
                  <a:srgbClr val="404040"/>
                </a:solidFill>
                <a:effectLst/>
                <a:latin typeface="KaTeX_Main"/>
              </a:rPr>
              <a:t>Ci</a:t>
            </a:r>
            <a:r>
              <a:rPr lang="vi-VN" b="0" i="1" dirty="0">
                <a:solidFill>
                  <a:srgbClr val="404040"/>
                </a:solidFill>
                <a:effectLst/>
                <a:latin typeface="KaTeX_Math"/>
              </a:rPr>
              <a:t>Ci</a:t>
            </a:r>
            <a:r>
              <a:rPr lang="vi-VN" b="0" i="0" dirty="0">
                <a:solidFill>
                  <a:srgbClr val="404040"/>
                </a:solidFill>
                <a:effectLst/>
                <a:latin typeface="KaTeX_Main"/>
              </a:rPr>
              <a:t>​</a:t>
            </a:r>
            <a:r>
              <a:rPr lang="vi-VN" b="0" i="0" dirty="0">
                <a:solidFill>
                  <a:srgbClr val="404040"/>
                </a:solidFill>
                <a:effectLst/>
                <a:latin typeface="Inter"/>
              </a:rPr>
              <a:t> được tính bằng cách cộng dồn các giá trị này.</a:t>
            </a:r>
          </a:p>
          <a:p>
            <a:pPr algn="l"/>
            <a:r>
              <a:rPr lang="vi-VN" b="1" i="0" dirty="0">
                <a:solidFill>
                  <a:srgbClr val="404040"/>
                </a:solidFill>
                <a:effectLst/>
                <a:latin typeface="Inter"/>
              </a:rPr>
              <a:t>Ví dụ minh họa</a:t>
            </a:r>
          </a:p>
          <a:p>
            <a:pPr algn="l"/>
            <a:r>
              <a:rPr lang="vi-VN" b="0" i="0" dirty="0">
                <a:solidFill>
                  <a:srgbClr val="404040"/>
                </a:solidFill>
                <a:effectLst/>
                <a:latin typeface="Inter"/>
              </a:rPr>
              <a:t>Giả sử có hai thành phần </a:t>
            </a:r>
            <a:r>
              <a:rPr lang="vi-VN" b="0" i="0" dirty="0">
                <a:solidFill>
                  <a:srgbClr val="404040"/>
                </a:solidFill>
                <a:effectLst/>
                <a:latin typeface="KaTeX_Main"/>
              </a:rPr>
              <a:t>C1</a:t>
            </a:r>
            <a:r>
              <a:rPr lang="vi-VN" b="0" i="1" dirty="0">
                <a:solidFill>
                  <a:srgbClr val="404040"/>
                </a:solidFill>
                <a:effectLst/>
                <a:latin typeface="KaTeX_Math"/>
              </a:rPr>
              <a:t>C</a:t>
            </a:r>
            <a:r>
              <a:rPr lang="vi-VN" b="0" i="0" dirty="0">
                <a:solidFill>
                  <a:srgbClr val="404040"/>
                </a:solidFill>
                <a:effectLst/>
                <a:latin typeface="KaTeX_Main"/>
              </a:rPr>
              <a:t>1​</a:t>
            </a:r>
            <a:r>
              <a:rPr lang="vi-VN" b="0" i="0" dirty="0">
                <a:solidFill>
                  <a:srgbClr val="404040"/>
                </a:solidFill>
                <a:effectLst/>
                <a:latin typeface="Inter"/>
              </a:rPr>
              <a:t> và </a:t>
            </a:r>
            <a:r>
              <a:rPr lang="vi-VN" b="0" i="0" dirty="0">
                <a:solidFill>
                  <a:srgbClr val="404040"/>
                </a:solidFill>
                <a:effectLst/>
                <a:latin typeface="KaTeX_Main"/>
              </a:rPr>
              <a:t>C2</a:t>
            </a:r>
            <a:r>
              <a:rPr lang="vi-VN" b="0" i="1" dirty="0">
                <a:solidFill>
                  <a:srgbClr val="404040"/>
                </a:solidFill>
                <a:effectLst/>
                <a:latin typeface="KaTeX_Math"/>
              </a:rPr>
              <a:t>C</a:t>
            </a:r>
            <a:r>
              <a:rPr lang="vi-VN" b="0" i="0" dirty="0">
                <a:solidFill>
                  <a:srgbClr val="404040"/>
                </a:solidFill>
                <a:effectLst/>
                <a:latin typeface="KaTeX_Main"/>
              </a:rPr>
              <a:t>2​</a:t>
            </a:r>
            <a:r>
              <a:rPr lang="vi-VN" b="0" i="0" dirty="0">
                <a:solidFill>
                  <a:srgbClr val="404040"/>
                </a:solidFill>
                <a:effectLst/>
                <a:latin typeface="Inter"/>
              </a:rPr>
              <a:t> trên đám mây:</a:t>
            </a:r>
          </a:p>
          <a:p>
            <a:pPr algn="l">
              <a:buFont typeface="Arial" panose="020B0604020202020204" pitchFamily="34" charset="0"/>
              <a:buChar char="•"/>
            </a:pPr>
            <a:r>
              <a:rPr lang="vi-VN" b="1" i="0" dirty="0">
                <a:solidFill>
                  <a:srgbClr val="404040"/>
                </a:solidFill>
                <a:effectLst/>
                <a:latin typeface="Inter"/>
              </a:rPr>
              <a:t>Thành phần </a:t>
            </a:r>
            <a:r>
              <a:rPr lang="vi-VN" b="1" i="0" dirty="0">
                <a:solidFill>
                  <a:srgbClr val="404040"/>
                </a:solidFill>
                <a:effectLst/>
                <a:latin typeface="KaTeX_Main"/>
              </a:rPr>
              <a:t>C1</a:t>
            </a:r>
            <a:r>
              <a:rPr lang="vi-VN" b="1" i="1" dirty="0">
                <a:solidFill>
                  <a:srgbClr val="404040"/>
                </a:solidFill>
                <a:effectLst/>
                <a:latin typeface="KaTeX_Math"/>
              </a:rPr>
              <a:t>C</a:t>
            </a:r>
            <a:r>
              <a:rPr lang="vi-VN" b="1" i="0" dirty="0">
                <a:solidFill>
                  <a:srgbClr val="404040"/>
                </a:solidFill>
                <a:effectLst/>
                <a:latin typeface="KaTeX_Main"/>
              </a:rPr>
              <a:t>1​</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KaTeX_Main"/>
              </a:rPr>
              <a:t>Tuser,1=100</a:t>
            </a:r>
            <a:r>
              <a:rPr lang="vi-VN" b="0" i="1" dirty="0">
                <a:solidFill>
                  <a:srgbClr val="404040"/>
                </a:solidFill>
                <a:effectLst/>
                <a:latin typeface="KaTeX_Math"/>
              </a:rPr>
              <a:t>T</a:t>
            </a:r>
            <a:r>
              <a:rPr lang="vi-VN" b="0" i="0" dirty="0">
                <a:solidFill>
                  <a:srgbClr val="404040"/>
                </a:solidFill>
                <a:effectLst/>
                <a:latin typeface="KaTeX_Main"/>
              </a:rPr>
              <a:t>user,1​=100</a:t>
            </a:r>
            <a:r>
              <a:rPr lang="vi-VN" b="0" i="0" dirty="0">
                <a:solidFill>
                  <a:srgbClr val="404040"/>
                </a:solidFill>
                <a:effectLst/>
                <a:latin typeface="Inter"/>
              </a:rPr>
              <a:t> giao dịch/giờ, </a:t>
            </a:r>
            <a:r>
              <a:rPr lang="vi-VN" b="0" i="0" dirty="0">
                <a:solidFill>
                  <a:srgbClr val="404040"/>
                </a:solidFill>
                <a:effectLst/>
                <a:latin typeface="KaTeX_Main"/>
              </a:rPr>
              <a:t>Suser,1=1 MB</a:t>
            </a:r>
            <a:r>
              <a:rPr lang="vi-VN" b="0" i="1" dirty="0">
                <a:solidFill>
                  <a:srgbClr val="404040"/>
                </a:solidFill>
                <a:effectLst/>
                <a:latin typeface="KaTeX_Math"/>
              </a:rPr>
              <a:t>S</a:t>
            </a:r>
            <a:r>
              <a:rPr lang="vi-VN" b="0" i="0" dirty="0">
                <a:solidFill>
                  <a:srgbClr val="404040"/>
                </a:solidFill>
                <a:effectLst/>
                <a:latin typeface="KaTeX_Main"/>
              </a:rPr>
              <a:t>user,1​=1 MB</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KaTeX_Main"/>
              </a:rPr>
              <a:t>T1,user=50</a:t>
            </a:r>
            <a:r>
              <a:rPr lang="vi-VN" b="0" i="1" dirty="0">
                <a:solidFill>
                  <a:srgbClr val="404040"/>
                </a:solidFill>
                <a:effectLst/>
                <a:latin typeface="KaTeX_Math"/>
              </a:rPr>
              <a:t>T</a:t>
            </a:r>
            <a:r>
              <a:rPr lang="vi-VN" b="0" i="0" dirty="0">
                <a:solidFill>
                  <a:srgbClr val="404040"/>
                </a:solidFill>
                <a:effectLst/>
                <a:latin typeface="KaTeX_Main"/>
              </a:rPr>
              <a:t>1,user​=50</a:t>
            </a:r>
            <a:r>
              <a:rPr lang="vi-VN" b="0" i="0" dirty="0">
                <a:solidFill>
                  <a:srgbClr val="404040"/>
                </a:solidFill>
                <a:effectLst/>
                <a:latin typeface="Inter"/>
              </a:rPr>
              <a:t> giao dịch/giờ, </a:t>
            </a:r>
            <a:r>
              <a:rPr lang="vi-VN" b="0" i="0" dirty="0">
                <a:solidFill>
                  <a:srgbClr val="404040"/>
                </a:solidFill>
                <a:effectLst/>
                <a:latin typeface="KaTeX_Main"/>
              </a:rPr>
              <a:t>S1,user=2 MB</a:t>
            </a:r>
            <a:r>
              <a:rPr lang="vi-VN" b="0" i="1" dirty="0">
                <a:solidFill>
                  <a:srgbClr val="404040"/>
                </a:solidFill>
                <a:effectLst/>
                <a:latin typeface="KaTeX_Math"/>
              </a:rPr>
              <a:t>S</a:t>
            </a:r>
            <a:r>
              <a:rPr lang="vi-VN" b="0" i="0" dirty="0">
                <a:solidFill>
                  <a:srgbClr val="404040"/>
                </a:solidFill>
                <a:effectLst/>
                <a:latin typeface="KaTeX_Main"/>
              </a:rPr>
              <a:t>1,user​=2 MB</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Inter"/>
              </a:rPr>
              <a:t>Thành phần </a:t>
            </a:r>
            <a:r>
              <a:rPr lang="vi-VN" b="1" i="0" dirty="0">
                <a:solidFill>
                  <a:srgbClr val="404040"/>
                </a:solidFill>
                <a:effectLst/>
                <a:latin typeface="KaTeX_Main"/>
              </a:rPr>
              <a:t>C2</a:t>
            </a:r>
            <a:r>
              <a:rPr lang="vi-VN" b="1" i="1" dirty="0">
                <a:solidFill>
                  <a:srgbClr val="404040"/>
                </a:solidFill>
                <a:effectLst/>
                <a:latin typeface="KaTeX_Math"/>
              </a:rPr>
              <a:t>C</a:t>
            </a:r>
            <a:r>
              <a:rPr lang="vi-VN" b="1" i="0" dirty="0">
                <a:solidFill>
                  <a:srgbClr val="404040"/>
                </a:solidFill>
                <a:effectLst/>
                <a:latin typeface="KaTeX_Main"/>
              </a:rPr>
              <a:t>2​</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KaTeX_Main"/>
              </a:rPr>
              <a:t>Tuser,2=200</a:t>
            </a:r>
            <a:r>
              <a:rPr lang="vi-VN" b="0" i="1" dirty="0">
                <a:solidFill>
                  <a:srgbClr val="404040"/>
                </a:solidFill>
                <a:effectLst/>
                <a:latin typeface="KaTeX_Math"/>
              </a:rPr>
              <a:t>T</a:t>
            </a:r>
            <a:r>
              <a:rPr lang="vi-VN" b="0" i="0" dirty="0">
                <a:solidFill>
                  <a:srgbClr val="404040"/>
                </a:solidFill>
                <a:effectLst/>
                <a:latin typeface="KaTeX_Main"/>
              </a:rPr>
              <a:t>user,2​=200</a:t>
            </a:r>
            <a:r>
              <a:rPr lang="vi-VN" b="0" i="0" dirty="0">
                <a:solidFill>
                  <a:srgbClr val="404040"/>
                </a:solidFill>
                <a:effectLst/>
                <a:latin typeface="Inter"/>
              </a:rPr>
              <a:t> giao dịch/giờ, </a:t>
            </a:r>
            <a:r>
              <a:rPr lang="vi-VN" b="0" i="0" dirty="0">
                <a:solidFill>
                  <a:srgbClr val="404040"/>
                </a:solidFill>
                <a:effectLst/>
                <a:latin typeface="KaTeX_Main"/>
              </a:rPr>
              <a:t>Suser,2=0.5 MB</a:t>
            </a:r>
            <a:r>
              <a:rPr lang="vi-VN" b="0" i="1" dirty="0">
                <a:solidFill>
                  <a:srgbClr val="404040"/>
                </a:solidFill>
                <a:effectLst/>
                <a:latin typeface="KaTeX_Math"/>
              </a:rPr>
              <a:t>S</a:t>
            </a:r>
            <a:r>
              <a:rPr lang="vi-VN" b="0" i="0" dirty="0">
                <a:solidFill>
                  <a:srgbClr val="404040"/>
                </a:solidFill>
                <a:effectLst/>
                <a:latin typeface="KaTeX_Main"/>
              </a:rPr>
              <a:t>user,2​=0.5 MB</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KaTeX_Main"/>
              </a:rPr>
              <a:t>T2,user=100</a:t>
            </a:r>
            <a:r>
              <a:rPr lang="vi-VN" b="0" i="1" dirty="0">
                <a:solidFill>
                  <a:srgbClr val="404040"/>
                </a:solidFill>
                <a:effectLst/>
                <a:latin typeface="KaTeX_Math"/>
              </a:rPr>
              <a:t>T</a:t>
            </a:r>
            <a:r>
              <a:rPr lang="vi-VN" b="0" i="0" dirty="0">
                <a:solidFill>
                  <a:srgbClr val="404040"/>
                </a:solidFill>
                <a:effectLst/>
                <a:latin typeface="KaTeX_Main"/>
              </a:rPr>
              <a:t>2,user​=100</a:t>
            </a:r>
            <a:r>
              <a:rPr lang="vi-VN" b="0" i="0" dirty="0">
                <a:solidFill>
                  <a:srgbClr val="404040"/>
                </a:solidFill>
                <a:effectLst/>
                <a:latin typeface="Inter"/>
              </a:rPr>
              <a:t> giao dịch/giờ, </a:t>
            </a:r>
            <a:r>
              <a:rPr lang="vi-VN" b="0" i="0" dirty="0">
                <a:solidFill>
                  <a:srgbClr val="404040"/>
                </a:solidFill>
                <a:effectLst/>
                <a:latin typeface="KaTeX_Main"/>
              </a:rPr>
              <a:t>S2,user=1 MB</a:t>
            </a:r>
            <a:r>
              <a:rPr lang="vi-VN" b="0" i="1" dirty="0">
                <a:solidFill>
                  <a:srgbClr val="404040"/>
                </a:solidFill>
                <a:effectLst/>
                <a:latin typeface="KaTeX_Math"/>
              </a:rPr>
              <a:t>S</a:t>
            </a:r>
            <a:r>
              <a:rPr lang="vi-VN" b="0" i="0" dirty="0">
                <a:solidFill>
                  <a:srgbClr val="404040"/>
                </a:solidFill>
                <a:effectLst/>
                <a:latin typeface="KaTeX_Main"/>
              </a:rPr>
              <a:t>2,user​=1 MB</a:t>
            </a:r>
            <a:r>
              <a:rPr lang="vi-VN" b="0" i="0" dirty="0">
                <a:solidFill>
                  <a:srgbClr val="404040"/>
                </a:solidFill>
                <a:effectLst/>
                <a:latin typeface="Inter"/>
              </a:rPr>
              <a:t>.</a:t>
            </a:r>
          </a:p>
          <a:p>
            <a:pPr algn="l"/>
            <a:r>
              <a:rPr lang="vi-VN" b="0" i="0" dirty="0">
                <a:solidFill>
                  <a:srgbClr val="404040"/>
                </a:solidFill>
                <a:effectLst/>
                <a:latin typeface="Inter"/>
              </a:rPr>
              <a:t>Tổng lưu lượng dữ liệu sẽ là:</a:t>
            </a:r>
          </a:p>
          <a:p>
            <a:pPr algn="l"/>
            <a:r>
              <a:rPr lang="vi-VN" b="0" i="0" dirty="0">
                <a:solidFill>
                  <a:srgbClr val="404040"/>
                </a:solidFill>
                <a:effectLst/>
                <a:latin typeface="KaTeX_Main"/>
              </a:rPr>
              <a:t>Trlocal,inet=(100⋅1+50⋅2)+(200⋅0.5+100⋅1)=(100+100)+(100+100)=400 MBTrlocal,inet​=(100⋅1+50⋅2)+(200⋅0.5+100⋅1)=(100+100)+(100+100)=400 MB</a:t>
            </a:r>
            <a:r>
              <a:rPr lang="vi-VN" b="1" i="0" dirty="0">
                <a:solidFill>
                  <a:srgbClr val="404040"/>
                </a:solidFill>
                <a:effectLst/>
                <a:latin typeface="Inter"/>
              </a:rPr>
              <a:t>Kết luận</a:t>
            </a:r>
          </a:p>
          <a:p>
            <a:pPr algn="l"/>
            <a:r>
              <a:rPr lang="vi-VN" b="0" i="0" dirty="0">
                <a:solidFill>
                  <a:srgbClr val="404040"/>
                </a:solidFill>
                <a:effectLst/>
                <a:latin typeface="Inter"/>
              </a:rPr>
              <a:t>Chi phí Internet là một yếu tố quan trọng cần xem xét khi di chuyển các thành phần ứng dụng lên đám mây. Bằng cách tính toán lưu lượng dữ liệu giữa người dùng và các thành phần trên đám mây, các tổ chức có thể ước lượng chi phí Internet và đảm bảo rằng việc di chuyển lên đám mây là hiệu quả về mặt chi phí. Công thức </a:t>
            </a:r>
            <a:r>
              <a:rPr lang="vi-VN" b="0" i="0" dirty="0">
                <a:solidFill>
                  <a:srgbClr val="404040"/>
                </a:solidFill>
                <a:effectLst/>
                <a:latin typeface="KaTeX_Main"/>
              </a:rPr>
              <a:t>Trlocal,inet=∑Ci(Tuser,i⋅Suser,i+Ti,user⋅Si,user)Trlocal,inet​=</a:t>
            </a:r>
            <a:r>
              <a:rPr lang="vi-VN" b="0" i="0" dirty="0">
                <a:solidFill>
                  <a:srgbClr val="404040"/>
                </a:solidFill>
                <a:effectLst/>
                <a:latin typeface="KaTeX_Size1"/>
              </a:rPr>
              <a:t>∑</a:t>
            </a:r>
            <a:r>
              <a:rPr lang="vi-VN" b="0" i="1" dirty="0">
                <a:solidFill>
                  <a:srgbClr val="404040"/>
                </a:solidFill>
                <a:effectLst/>
                <a:latin typeface="KaTeX_Math"/>
              </a:rPr>
              <a:t>Ci</a:t>
            </a:r>
            <a:r>
              <a:rPr lang="vi-VN" b="0" i="0" dirty="0">
                <a:solidFill>
                  <a:srgbClr val="404040"/>
                </a:solidFill>
                <a:effectLst/>
                <a:latin typeface="KaTeX_Main"/>
              </a:rPr>
              <a:t>​​(</a:t>
            </a:r>
            <a:r>
              <a:rPr lang="vi-VN" b="0" i="1" dirty="0">
                <a:solidFill>
                  <a:srgbClr val="404040"/>
                </a:solidFill>
                <a:effectLst/>
                <a:latin typeface="KaTeX_Math"/>
              </a:rPr>
              <a:t>T</a:t>
            </a:r>
            <a:r>
              <a:rPr lang="vi-VN" b="0" i="0" dirty="0">
                <a:solidFill>
                  <a:srgbClr val="404040"/>
                </a:solidFill>
                <a:effectLst/>
                <a:latin typeface="KaTeX_Main"/>
              </a:rPr>
              <a:t>user,</a:t>
            </a:r>
            <a:r>
              <a:rPr lang="vi-VN" b="0" i="1" dirty="0">
                <a:solidFill>
                  <a:srgbClr val="404040"/>
                </a:solidFill>
                <a:effectLst/>
                <a:latin typeface="KaTeX_Math"/>
              </a:rPr>
              <a:t>i</a:t>
            </a:r>
            <a:r>
              <a:rPr lang="vi-VN" b="0" i="0" dirty="0">
                <a:solidFill>
                  <a:srgbClr val="404040"/>
                </a:solidFill>
                <a:effectLst/>
                <a:latin typeface="KaTeX_Main"/>
              </a:rPr>
              <a:t>​⋅</a:t>
            </a:r>
            <a:r>
              <a:rPr lang="vi-VN" b="0" i="1" dirty="0">
                <a:solidFill>
                  <a:srgbClr val="404040"/>
                </a:solidFill>
                <a:effectLst/>
                <a:latin typeface="KaTeX_Math"/>
              </a:rPr>
              <a:t>S</a:t>
            </a:r>
            <a:r>
              <a:rPr lang="vi-VN" b="0" i="0" dirty="0">
                <a:solidFill>
                  <a:srgbClr val="404040"/>
                </a:solidFill>
                <a:effectLst/>
                <a:latin typeface="KaTeX_Main"/>
              </a:rPr>
              <a:t>user,</a:t>
            </a:r>
            <a:r>
              <a:rPr lang="vi-VN" b="0" i="1" dirty="0">
                <a:solidFill>
                  <a:srgbClr val="404040"/>
                </a:solidFill>
                <a:effectLst/>
                <a:latin typeface="KaTeX_Math"/>
              </a:rPr>
              <a:t>i</a:t>
            </a:r>
            <a:r>
              <a:rPr lang="vi-VN" b="0" i="0" dirty="0">
                <a:solidFill>
                  <a:srgbClr val="404040"/>
                </a:solidFill>
                <a:effectLst/>
                <a:latin typeface="KaTeX_Main"/>
              </a:rPr>
              <a:t>​+</a:t>
            </a:r>
            <a:r>
              <a:rPr lang="vi-VN" b="0" i="1" dirty="0">
                <a:solidFill>
                  <a:srgbClr val="404040"/>
                </a:solidFill>
                <a:effectLst/>
                <a:latin typeface="KaTeX_Math"/>
              </a:rPr>
              <a:t>Ti</a:t>
            </a:r>
            <a:r>
              <a:rPr lang="vi-VN" b="0" i="0" dirty="0">
                <a:solidFill>
                  <a:srgbClr val="404040"/>
                </a:solidFill>
                <a:effectLst/>
                <a:latin typeface="KaTeX_Main"/>
              </a:rPr>
              <a:t>,user​⋅</a:t>
            </a:r>
            <a:r>
              <a:rPr lang="vi-VN" b="0" i="1" dirty="0">
                <a:solidFill>
                  <a:srgbClr val="404040"/>
                </a:solidFill>
                <a:effectLst/>
                <a:latin typeface="KaTeX_Math"/>
              </a:rPr>
              <a:t>Si</a:t>
            </a:r>
            <a:r>
              <a:rPr lang="vi-VN" b="0" i="0" dirty="0">
                <a:solidFill>
                  <a:srgbClr val="404040"/>
                </a:solidFill>
                <a:effectLst/>
                <a:latin typeface="KaTeX_Main"/>
              </a:rPr>
              <a:t>,user​)</a:t>
            </a:r>
            <a:r>
              <a:rPr lang="vi-VN" b="0" i="0" dirty="0">
                <a:solidFill>
                  <a:srgbClr val="404040"/>
                </a:solidFill>
                <a:effectLst/>
                <a:latin typeface="Inter"/>
              </a:rPr>
              <a:t> cung cấp một cách tiếp cận đơn giản và hiệu quả để tính toán lưu lượng dữ liệu và chi phí Internet liên quan.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60</a:t>
            </a:fld>
            <a:endParaRPr lang="en-US"/>
          </a:p>
        </p:txBody>
      </p:sp>
    </p:spTree>
    <p:extLst>
      <p:ext uri="{BB962C8B-B14F-4D97-AF65-F5344CB8AC3E}">
        <p14:creationId xmlns:p14="http://schemas.microsoft.com/office/powerpoint/2010/main" val="18772196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effectLst/>
              </a:rPr>
              <a:t>Tỷ lệ giao dịch sau khi di chuyển (Rate of Transactions After Migration)</a:t>
            </a:r>
          </a:p>
          <a:p>
            <a:r>
              <a:rPr lang="vi-VN" dirty="0">
                <a:effectLst/>
              </a:rPr>
              <a:t>Khi di chuyển một phần hoặc toàn bộ các máy chủ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lên đám mây, tỷ lệ giao dịch giữa các thành phần có thể thay đổi. Dưới đây là một số ký hiệu và công thức liên quan đến tỷ lệ giao dịch sau khi di chuyển:</a:t>
            </a:r>
          </a:p>
          <a:p>
            <a:r>
              <a:rPr lang="vi-VN" b="1" dirty="0">
                <a:effectLst/>
              </a:rPr>
              <a:t>Các ký hiệu</a:t>
            </a:r>
          </a:p>
          <a:p>
            <a:pPr>
              <a:buFont typeface="+mj-lt"/>
              <a:buAutoNum type="arabicPeriod"/>
            </a:pPr>
            <a:r>
              <a:rPr lang="vi-VN" b="1" dirty="0">
                <a:effectLst/>
                <a:latin typeface="KaTeX_Main"/>
              </a:rPr>
              <a:t>Ci,local</a:t>
            </a:r>
            <a:r>
              <a:rPr lang="vi-VN" b="1" i="1" dirty="0">
                <a:effectLst/>
                <a:latin typeface="KaTeX_Math"/>
              </a:rPr>
              <a:t>Ci</a:t>
            </a:r>
            <a:r>
              <a:rPr lang="vi-VN" b="1" dirty="0">
                <a:effectLst/>
                <a:latin typeface="KaTeX_Main"/>
              </a:rPr>
              <a:t>,local​</a:t>
            </a:r>
            <a:r>
              <a:rPr lang="vi-VN" dirty="0">
                <a:effectLst/>
              </a:rPr>
              <a:t>: Tập hợp các máy chủ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tiếp tục hoạt động tại chỗ (local).</a:t>
            </a:r>
          </a:p>
          <a:p>
            <a:pPr>
              <a:buFont typeface="+mj-lt"/>
              <a:buAutoNum type="arabicPeriod"/>
            </a:pPr>
            <a:r>
              <a:rPr lang="vi-VN" b="1" dirty="0">
                <a:effectLst/>
                <a:latin typeface="KaTeX_Main"/>
              </a:rPr>
              <a:t>Ci,cloud</a:t>
            </a:r>
            <a:r>
              <a:rPr lang="vi-VN" b="1" i="1" dirty="0">
                <a:effectLst/>
                <a:latin typeface="KaTeX_Math"/>
              </a:rPr>
              <a:t>Ci</a:t>
            </a:r>
            <a:r>
              <a:rPr lang="vi-VN" b="1" dirty="0">
                <a:effectLst/>
                <a:latin typeface="KaTeX_Main"/>
              </a:rPr>
              <a:t>,cloud​</a:t>
            </a:r>
            <a:r>
              <a:rPr lang="vi-VN" dirty="0">
                <a:effectLst/>
              </a:rPr>
              <a:t>: Tập hợp các máy chủ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được di chuyển lên đám mây.</a:t>
            </a:r>
          </a:p>
          <a:p>
            <a:pPr>
              <a:buFont typeface="+mj-lt"/>
              <a:buAutoNum type="arabicPeriod"/>
            </a:pPr>
            <a:r>
              <a:rPr lang="vi-VN" b="1" dirty="0">
                <a:effectLst/>
                <a:latin typeface="KaTeX_Main"/>
              </a:rPr>
              <a:t>ni</a:t>
            </a:r>
            <a:r>
              <a:rPr lang="vi-VN" b="1" i="1" dirty="0">
                <a:effectLst/>
                <a:latin typeface="KaTeX_Math"/>
              </a:rPr>
              <a:t>ni</a:t>
            </a:r>
            <a:r>
              <a:rPr lang="vi-VN" b="1" dirty="0">
                <a:effectLst/>
                <a:latin typeface="KaTeX_Main"/>
              </a:rPr>
              <a:t>​</a:t>
            </a:r>
            <a:r>
              <a:rPr lang="vi-VN" dirty="0">
                <a:effectLst/>
              </a:rPr>
              <a:t>: Số lượng máy chủ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được di chuyển lên đám mây.</a:t>
            </a:r>
          </a:p>
          <a:p>
            <a:pPr>
              <a:buFont typeface="+mj-lt"/>
              <a:buAutoNum type="arabicPeriod"/>
            </a:pPr>
            <a:r>
              <a:rPr lang="vi-VN" b="1" dirty="0">
                <a:effectLst/>
                <a:latin typeface="KaTeX_Main"/>
              </a:rPr>
              <a:t>Ni</a:t>
            </a:r>
            <a:r>
              <a:rPr lang="vi-VN" b="1" i="1" dirty="0">
                <a:effectLst/>
                <a:latin typeface="KaTeX_Math"/>
              </a:rPr>
              <a:t>Ni</a:t>
            </a:r>
            <a:r>
              <a:rPr lang="vi-VN" b="1" dirty="0">
                <a:effectLst/>
                <a:latin typeface="KaTeX_Main"/>
              </a:rPr>
              <a:t>​</a:t>
            </a:r>
            <a:r>
              <a:rPr lang="vi-VN" dirty="0">
                <a:effectLst/>
              </a:rPr>
              <a:t>: Tổng số máy chủ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a:t>
            </a:r>
          </a:p>
          <a:p>
            <a:pPr>
              <a:buFont typeface="+mj-lt"/>
              <a:buAutoNum type="arabicPeriod"/>
            </a:pPr>
            <a:r>
              <a:rPr lang="vi-VN" b="1" dirty="0">
                <a:effectLst/>
                <a:latin typeface="KaTeX_Main"/>
              </a:rPr>
              <a:t>fi</a:t>
            </a:r>
            <a:r>
              <a:rPr lang="vi-VN" b="1" i="1" dirty="0">
                <a:effectLst/>
                <a:latin typeface="KaTeX_Math"/>
              </a:rPr>
              <a:t>fi</a:t>
            </a:r>
            <a:r>
              <a:rPr lang="vi-VN" b="1" dirty="0">
                <a:effectLst/>
                <a:latin typeface="KaTeX_Main"/>
              </a:rPr>
              <a:t>​</a:t>
            </a:r>
            <a:r>
              <a:rPr lang="vi-VN" dirty="0">
                <a:effectLst/>
              </a:rPr>
              <a:t>: Tỷ lệ máy chủ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được di chuyển lên đám mây, được tính bằng </a:t>
            </a:r>
            <a:r>
              <a:rPr lang="vi-VN" dirty="0">
                <a:effectLst/>
                <a:latin typeface="KaTeX_Main"/>
              </a:rPr>
              <a:t>fi=niNi</a:t>
            </a:r>
            <a:r>
              <a:rPr lang="vi-VN" i="1" dirty="0">
                <a:effectLst/>
                <a:latin typeface="KaTeX_Math"/>
              </a:rPr>
              <a:t>fi</a:t>
            </a:r>
            <a:r>
              <a:rPr lang="vi-VN" dirty="0">
                <a:effectLst/>
                <a:latin typeface="KaTeX_Main"/>
              </a:rPr>
              <a:t>​=</a:t>
            </a:r>
            <a:r>
              <a:rPr lang="vi-VN" i="1" dirty="0">
                <a:effectLst/>
                <a:latin typeface="KaTeX_Math"/>
              </a:rPr>
              <a:t>Ni</a:t>
            </a:r>
            <a:r>
              <a:rPr lang="vi-VN" dirty="0">
                <a:effectLst/>
                <a:latin typeface="KaTeX_Main"/>
              </a:rPr>
              <a:t>​</a:t>
            </a:r>
            <a:r>
              <a:rPr lang="vi-VN" i="1" dirty="0">
                <a:effectLst/>
                <a:latin typeface="KaTeX_Math"/>
              </a:rPr>
              <a:t>ni</a:t>
            </a:r>
            <a:r>
              <a:rPr lang="vi-VN" dirty="0">
                <a:effectLst/>
                <a:latin typeface="KaTeX_Main"/>
              </a:rPr>
              <a:t>​​</a:t>
            </a:r>
            <a:r>
              <a:rPr lang="vi-VN" dirty="0">
                <a:effectLst/>
              </a:rPr>
              <a:t>.</a:t>
            </a:r>
          </a:p>
          <a:p>
            <a:pPr>
              <a:buFont typeface="+mj-lt"/>
              <a:buAutoNum type="arabicPeriod"/>
            </a:pPr>
            <a:r>
              <a:rPr lang="vi-VN" b="1" dirty="0">
                <a:effectLst/>
                <a:latin typeface="KaTeX_Main"/>
              </a:rPr>
              <a:t>si</a:t>
            </a:r>
            <a:r>
              <a:rPr lang="vi-VN" b="1" i="1" dirty="0">
                <a:effectLst/>
                <a:latin typeface="KaTeX_Math"/>
              </a:rPr>
              <a:t>si</a:t>
            </a:r>
            <a:r>
              <a:rPr lang="vi-VN" b="1" dirty="0">
                <a:effectLst/>
                <a:latin typeface="KaTeX_Main"/>
              </a:rPr>
              <a:t>​</a:t>
            </a:r>
            <a:r>
              <a:rPr lang="vi-VN" dirty="0">
                <a:effectLst/>
              </a:rPr>
              <a:t>: Một máy chủ cụ thể của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a:t>
            </a:r>
          </a:p>
          <a:p>
            <a:r>
              <a:rPr lang="vi-VN" b="1" dirty="0">
                <a:effectLst/>
              </a:rPr>
              <a:t>Công thức tính tỷ lệ giao dịch sau khi di chuyển</a:t>
            </a:r>
          </a:p>
          <a:p>
            <a:r>
              <a:rPr lang="vi-VN" dirty="0">
                <a:effectLst/>
              </a:rPr>
              <a:t>Công thức tổng quát để tính tỷ lệ giao dịch </a:t>
            </a:r>
            <a:r>
              <a:rPr lang="vi-VN" dirty="0">
                <a:effectLst/>
                <a:latin typeface="KaTeX_Main"/>
              </a:rPr>
              <a:t>Ti,j∗</a:t>
            </a:r>
            <a:r>
              <a:rPr lang="vi-VN" i="1" dirty="0">
                <a:effectLst/>
                <a:latin typeface="KaTeX_Math"/>
              </a:rPr>
              <a:t>Ti</a:t>
            </a:r>
            <a:r>
              <a:rPr lang="vi-VN" dirty="0">
                <a:effectLst/>
                <a:latin typeface="KaTeX_Main"/>
              </a:rPr>
              <a:t>,</a:t>
            </a:r>
            <a:r>
              <a:rPr lang="vi-VN" i="1" dirty="0">
                <a:effectLst/>
                <a:latin typeface="KaTeX_Math"/>
              </a:rPr>
              <a:t>j</a:t>
            </a:r>
            <a:r>
              <a:rPr lang="vi-VN" dirty="0">
                <a:effectLst/>
                <a:latin typeface="KaTeX_Main"/>
              </a:rPr>
              <a:t>∗​</a:t>
            </a:r>
            <a:r>
              <a:rPr lang="vi-VN" dirty="0">
                <a:effectLst/>
              </a:rPr>
              <a:t> giữa các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và </a:t>
            </a:r>
            <a:r>
              <a:rPr lang="vi-VN" dirty="0">
                <a:effectLst/>
                <a:latin typeface="KaTeX_Main"/>
              </a:rPr>
              <a:t>Cj</a:t>
            </a:r>
            <a:r>
              <a:rPr lang="vi-VN" i="1" dirty="0">
                <a:effectLst/>
                <a:latin typeface="KaTeX_Math"/>
              </a:rPr>
              <a:t>Cj</a:t>
            </a:r>
            <a:r>
              <a:rPr lang="vi-VN" dirty="0">
                <a:effectLst/>
                <a:latin typeface="KaTeX_Main"/>
              </a:rPr>
              <a:t>​</a:t>
            </a:r>
            <a:r>
              <a:rPr lang="vi-VN" dirty="0">
                <a:effectLst/>
              </a:rPr>
              <a:t> sau khi di chuyển được biểu diễn như sau:</a:t>
            </a:r>
          </a:p>
          <a:p>
            <a:r>
              <a:rPr lang="vi-VN" dirty="0">
                <a:effectLst/>
                <a:latin typeface="KaTeX_Main"/>
              </a:rPr>
              <a:t>Ti,j∗=</a:t>
            </a:r>
            <a:r>
              <a:rPr lang="vi-VN" i="1" dirty="0">
                <a:effectLst/>
                <a:latin typeface="KaTeX_Math"/>
              </a:rPr>
              <a:t>Ti</a:t>
            </a:r>
            <a:r>
              <a:rPr lang="vi-VN" dirty="0">
                <a:effectLst/>
                <a:latin typeface="KaTeX_Main"/>
              </a:rPr>
              <a:t>,</a:t>
            </a:r>
            <a:r>
              <a:rPr lang="vi-VN" i="1" dirty="0">
                <a:effectLst/>
                <a:latin typeface="KaTeX_Math"/>
              </a:rPr>
              <a:t>j</a:t>
            </a:r>
            <a:r>
              <a:rPr lang="vi-VN" dirty="0">
                <a:effectLst/>
                <a:latin typeface="KaTeX_Main"/>
              </a:rPr>
              <a:t>∗​=</a:t>
            </a:r>
            <a:endParaRPr lang="en-US" dirty="0">
              <a:effectLst/>
              <a:latin typeface="KaTeX_Main"/>
            </a:endParaRPr>
          </a:p>
          <a:p>
            <a:r>
              <a:rPr lang="vi-VN" b="1" dirty="0">
                <a:effectLst/>
              </a:rPr>
              <a:t>Giải thích công thức</a:t>
            </a:r>
          </a:p>
          <a:p>
            <a:pPr>
              <a:buFont typeface="+mj-lt"/>
              <a:buAutoNum type="arabicPeriod"/>
            </a:pPr>
            <a:r>
              <a:rPr lang="vi-VN" b="1" dirty="0">
                <a:effectLst/>
              </a:rPr>
              <a:t>Khi cả </a:t>
            </a:r>
            <a:r>
              <a:rPr lang="vi-VN" b="1" dirty="0">
                <a:effectLst/>
                <a:latin typeface="KaTeX_Main"/>
              </a:rPr>
              <a:t>si</a:t>
            </a:r>
            <a:r>
              <a:rPr lang="vi-VN" b="1" i="1" dirty="0">
                <a:effectLst/>
                <a:latin typeface="KaTeX_Math"/>
              </a:rPr>
              <a:t>si</a:t>
            </a:r>
            <a:r>
              <a:rPr lang="vi-VN" b="1" dirty="0">
                <a:effectLst/>
                <a:latin typeface="KaTeX_Main"/>
              </a:rPr>
              <a:t>​</a:t>
            </a:r>
            <a:r>
              <a:rPr lang="vi-VN" b="1" dirty="0">
                <a:effectLst/>
              </a:rPr>
              <a:t> và </a:t>
            </a:r>
            <a:r>
              <a:rPr lang="vi-VN" b="1" dirty="0">
                <a:effectLst/>
                <a:latin typeface="KaTeX_Main"/>
              </a:rPr>
              <a:t>sj</a:t>
            </a:r>
            <a:r>
              <a:rPr lang="vi-VN" b="1" i="1" dirty="0">
                <a:effectLst/>
                <a:latin typeface="KaTeX_Math"/>
              </a:rPr>
              <a:t>sj</a:t>
            </a:r>
            <a:r>
              <a:rPr lang="vi-VN" b="1" dirty="0">
                <a:effectLst/>
                <a:latin typeface="KaTeX_Main"/>
              </a:rPr>
              <a:t>​</a:t>
            </a:r>
            <a:r>
              <a:rPr lang="vi-VN" b="1" dirty="0">
                <a:effectLst/>
              </a:rPr>
              <a:t> đều ở local</a:t>
            </a:r>
            <a:r>
              <a:rPr lang="vi-VN" dirty="0">
                <a:effectLst/>
              </a:rPr>
              <a:t>:</a:t>
            </a:r>
          </a:p>
          <a:p>
            <a:pPr marL="742950" lvl="1" indent="-285750">
              <a:buFont typeface="+mj-lt"/>
              <a:buAutoNum type="arabicPeriod"/>
            </a:pPr>
            <a:r>
              <a:rPr lang="vi-VN" dirty="0">
                <a:effectLst/>
              </a:rPr>
              <a:t>Tỷ lệ giao dịch được điều chỉnh bởi tỷ lệ máy chủ không được di chuyển lên đám mây của cả hai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và </a:t>
            </a:r>
            <a:r>
              <a:rPr lang="vi-VN" dirty="0">
                <a:effectLst/>
                <a:latin typeface="KaTeX_Main"/>
              </a:rPr>
              <a:t>Cj</a:t>
            </a:r>
            <a:r>
              <a:rPr lang="vi-VN" i="1" dirty="0">
                <a:effectLst/>
                <a:latin typeface="KaTeX_Math"/>
              </a:rPr>
              <a:t>Cj</a:t>
            </a:r>
            <a:r>
              <a:rPr lang="vi-VN" dirty="0">
                <a:effectLst/>
                <a:latin typeface="KaTeX_Main"/>
              </a:rPr>
              <a:t>​</a:t>
            </a:r>
            <a:r>
              <a:rPr lang="vi-VN" dirty="0">
                <a:effectLst/>
              </a:rPr>
              <a:t>.</a:t>
            </a:r>
          </a:p>
          <a:p>
            <a:pPr>
              <a:buFont typeface="+mj-lt"/>
              <a:buAutoNum type="arabicPeriod"/>
            </a:pPr>
            <a:r>
              <a:rPr lang="vi-VN" b="1" dirty="0">
                <a:effectLst/>
              </a:rPr>
              <a:t>Khi </a:t>
            </a:r>
            <a:r>
              <a:rPr lang="vi-VN" b="1" dirty="0">
                <a:effectLst/>
                <a:latin typeface="KaTeX_Main"/>
              </a:rPr>
              <a:t>si</a:t>
            </a:r>
            <a:r>
              <a:rPr lang="vi-VN" b="1" i="1" dirty="0">
                <a:effectLst/>
                <a:latin typeface="KaTeX_Math"/>
              </a:rPr>
              <a:t>si</a:t>
            </a:r>
            <a:r>
              <a:rPr lang="vi-VN" b="1" dirty="0">
                <a:effectLst/>
                <a:latin typeface="KaTeX_Main"/>
              </a:rPr>
              <a:t>​</a:t>
            </a:r>
            <a:r>
              <a:rPr lang="vi-VN" b="1" dirty="0">
                <a:effectLst/>
              </a:rPr>
              <a:t> ở local và </a:t>
            </a:r>
            <a:r>
              <a:rPr lang="vi-VN" b="1" dirty="0">
                <a:effectLst/>
                <a:latin typeface="KaTeX_Main"/>
              </a:rPr>
              <a:t>sj</a:t>
            </a:r>
            <a:r>
              <a:rPr lang="vi-VN" b="1" i="1" dirty="0">
                <a:effectLst/>
                <a:latin typeface="KaTeX_Math"/>
              </a:rPr>
              <a:t>sj</a:t>
            </a:r>
            <a:r>
              <a:rPr lang="vi-VN" b="1" dirty="0">
                <a:effectLst/>
                <a:latin typeface="KaTeX_Main"/>
              </a:rPr>
              <a:t>​</a:t>
            </a:r>
            <a:r>
              <a:rPr lang="vi-VN" b="1" dirty="0">
                <a:effectLst/>
              </a:rPr>
              <a:t> ở cloud</a:t>
            </a:r>
            <a:r>
              <a:rPr lang="vi-VN" dirty="0">
                <a:effectLst/>
              </a:rPr>
              <a:t>:</a:t>
            </a:r>
          </a:p>
          <a:p>
            <a:pPr marL="742950" lvl="1" indent="-285750">
              <a:buFont typeface="+mj-lt"/>
              <a:buAutoNum type="arabicPeriod"/>
            </a:pPr>
            <a:r>
              <a:rPr lang="vi-VN" dirty="0">
                <a:effectLst/>
              </a:rPr>
              <a:t>Tỷ lệ giao dịch được điều chỉnh bởi tỷ lệ máy chủ không được di chuyển của </a:t>
            </a:r>
            <a:r>
              <a:rPr lang="vi-VN" dirty="0">
                <a:effectLst/>
                <a:latin typeface="KaTeX_Main"/>
              </a:rPr>
              <a:t>Ci</a:t>
            </a:r>
            <a:r>
              <a:rPr lang="vi-VN" i="1" dirty="0">
                <a:effectLst/>
                <a:latin typeface="KaTeX_Math"/>
              </a:rPr>
              <a:t>Ci</a:t>
            </a:r>
            <a:r>
              <a:rPr lang="vi-VN" dirty="0">
                <a:effectLst/>
                <a:latin typeface="KaTeX_Main"/>
              </a:rPr>
              <a:t>​</a:t>
            </a:r>
            <a:r>
              <a:rPr lang="vi-VN" dirty="0">
                <a:effectLst/>
              </a:rPr>
              <a:t> và tỷ lệ máy chủ được di chuyển của </a:t>
            </a:r>
            <a:r>
              <a:rPr lang="vi-VN" dirty="0">
                <a:effectLst/>
                <a:latin typeface="KaTeX_Main"/>
              </a:rPr>
              <a:t>Cj</a:t>
            </a:r>
            <a:r>
              <a:rPr lang="vi-VN" i="1" dirty="0">
                <a:effectLst/>
                <a:latin typeface="KaTeX_Math"/>
              </a:rPr>
              <a:t>Cj</a:t>
            </a:r>
            <a:r>
              <a:rPr lang="vi-VN" dirty="0">
                <a:effectLst/>
                <a:latin typeface="KaTeX_Main"/>
              </a:rPr>
              <a:t>​</a:t>
            </a:r>
            <a:r>
              <a:rPr lang="vi-VN" dirty="0">
                <a:effectLst/>
              </a:rPr>
              <a:t>.</a:t>
            </a:r>
          </a:p>
          <a:p>
            <a:pPr>
              <a:buFont typeface="+mj-lt"/>
              <a:buAutoNum type="arabicPeriod"/>
            </a:pPr>
            <a:r>
              <a:rPr lang="vi-VN" b="1" dirty="0">
                <a:effectLst/>
              </a:rPr>
              <a:t>Khi </a:t>
            </a:r>
            <a:r>
              <a:rPr lang="vi-VN" b="1" dirty="0">
                <a:effectLst/>
                <a:latin typeface="KaTeX_Main"/>
              </a:rPr>
              <a:t>si</a:t>
            </a:r>
            <a:r>
              <a:rPr lang="vi-VN" b="1" i="1" dirty="0">
                <a:effectLst/>
                <a:latin typeface="KaTeX_Math"/>
              </a:rPr>
              <a:t>si</a:t>
            </a:r>
            <a:r>
              <a:rPr lang="vi-VN" b="1" dirty="0">
                <a:effectLst/>
                <a:latin typeface="KaTeX_Main"/>
              </a:rPr>
              <a:t>​</a:t>
            </a:r>
            <a:r>
              <a:rPr lang="vi-VN" b="1" dirty="0">
                <a:effectLst/>
              </a:rPr>
              <a:t> ở cloud và </a:t>
            </a:r>
            <a:r>
              <a:rPr lang="vi-VN" b="1" dirty="0">
                <a:effectLst/>
                <a:latin typeface="KaTeX_Main"/>
              </a:rPr>
              <a:t>sj</a:t>
            </a:r>
            <a:r>
              <a:rPr lang="vi-VN" b="1" i="1" dirty="0">
                <a:effectLst/>
                <a:latin typeface="KaTeX_Math"/>
              </a:rPr>
              <a:t>sj</a:t>
            </a:r>
            <a:r>
              <a:rPr lang="vi-VN" b="1" dirty="0">
                <a:effectLst/>
                <a:latin typeface="KaTeX_Main"/>
              </a:rPr>
              <a:t>​</a:t>
            </a:r>
            <a:r>
              <a:rPr lang="vi-VN" b="1" dirty="0">
                <a:effectLst/>
              </a:rPr>
              <a:t> ở local</a:t>
            </a:r>
            <a:r>
              <a:rPr lang="vi-VN" dirty="0">
                <a:effectLst/>
              </a:rPr>
              <a:t>:</a:t>
            </a:r>
          </a:p>
          <a:p>
            <a:pPr marL="742950" lvl="1" indent="-285750">
              <a:buFont typeface="+mj-lt"/>
              <a:buAutoNum type="arabicPeriod"/>
            </a:pPr>
            <a:r>
              <a:rPr lang="vi-VN" dirty="0">
                <a:effectLst/>
              </a:rPr>
              <a:t>Tỷ lệ giao dịch được điều chỉnh bởi tỷ lệ máy chủ được di chuyển của </a:t>
            </a:r>
            <a:r>
              <a:rPr lang="vi-VN" dirty="0">
                <a:effectLst/>
                <a:latin typeface="KaTeX_Main"/>
              </a:rPr>
              <a:t>Ci</a:t>
            </a:r>
            <a:r>
              <a:rPr lang="vi-VN" i="1" dirty="0">
                <a:effectLst/>
                <a:latin typeface="KaTeX_Math"/>
              </a:rPr>
              <a:t>Ci</a:t>
            </a:r>
            <a:r>
              <a:rPr lang="vi-VN" dirty="0">
                <a:effectLst/>
                <a:latin typeface="KaTeX_Main"/>
              </a:rPr>
              <a:t>​</a:t>
            </a:r>
            <a:r>
              <a:rPr lang="vi-VN" dirty="0">
                <a:effectLst/>
              </a:rPr>
              <a:t> và tỷ lệ máy chủ không được di chuyển của </a:t>
            </a:r>
            <a:r>
              <a:rPr lang="vi-VN" dirty="0">
                <a:effectLst/>
                <a:latin typeface="KaTeX_Main"/>
              </a:rPr>
              <a:t>Cj</a:t>
            </a:r>
            <a:r>
              <a:rPr lang="vi-VN" i="1" dirty="0">
                <a:effectLst/>
                <a:latin typeface="KaTeX_Math"/>
              </a:rPr>
              <a:t>Cj</a:t>
            </a:r>
            <a:r>
              <a:rPr lang="vi-VN" dirty="0">
                <a:effectLst/>
                <a:latin typeface="KaTeX_Main"/>
              </a:rPr>
              <a:t>​</a:t>
            </a:r>
            <a:r>
              <a:rPr lang="vi-VN" dirty="0">
                <a:effectLst/>
              </a:rPr>
              <a:t>.</a:t>
            </a:r>
          </a:p>
          <a:p>
            <a:pPr>
              <a:buFont typeface="+mj-lt"/>
              <a:buAutoNum type="arabicPeriod"/>
            </a:pPr>
            <a:r>
              <a:rPr lang="vi-VN" b="1" dirty="0">
                <a:effectLst/>
              </a:rPr>
              <a:t>Khi cả </a:t>
            </a:r>
            <a:r>
              <a:rPr lang="vi-VN" b="1" dirty="0">
                <a:effectLst/>
                <a:latin typeface="KaTeX_Main"/>
              </a:rPr>
              <a:t>si</a:t>
            </a:r>
            <a:r>
              <a:rPr lang="vi-VN" b="1" i="1" dirty="0">
                <a:effectLst/>
                <a:latin typeface="KaTeX_Math"/>
              </a:rPr>
              <a:t>si</a:t>
            </a:r>
            <a:r>
              <a:rPr lang="vi-VN" b="1" dirty="0">
                <a:effectLst/>
                <a:latin typeface="KaTeX_Main"/>
              </a:rPr>
              <a:t>​</a:t>
            </a:r>
            <a:r>
              <a:rPr lang="vi-VN" b="1" dirty="0">
                <a:effectLst/>
              </a:rPr>
              <a:t> và </a:t>
            </a:r>
            <a:r>
              <a:rPr lang="vi-VN" b="1" dirty="0">
                <a:effectLst/>
                <a:latin typeface="KaTeX_Main"/>
              </a:rPr>
              <a:t>sj</a:t>
            </a:r>
            <a:r>
              <a:rPr lang="vi-VN" b="1" i="1" dirty="0">
                <a:effectLst/>
                <a:latin typeface="KaTeX_Math"/>
              </a:rPr>
              <a:t>sj</a:t>
            </a:r>
            <a:r>
              <a:rPr lang="vi-VN" b="1" dirty="0">
                <a:effectLst/>
                <a:latin typeface="KaTeX_Main"/>
              </a:rPr>
              <a:t>​</a:t>
            </a:r>
            <a:r>
              <a:rPr lang="vi-VN" b="1" dirty="0">
                <a:effectLst/>
              </a:rPr>
              <a:t> đều ở cloud</a:t>
            </a:r>
            <a:r>
              <a:rPr lang="vi-VN" dirty="0">
                <a:effectLst/>
              </a:rPr>
              <a:t>:</a:t>
            </a:r>
          </a:p>
          <a:p>
            <a:pPr marL="742950" lvl="1" indent="-285750">
              <a:buFont typeface="+mj-lt"/>
              <a:buAutoNum type="arabicPeriod"/>
            </a:pPr>
            <a:r>
              <a:rPr lang="vi-VN" dirty="0">
                <a:effectLst/>
              </a:rPr>
              <a:t>Tỷ lệ giao dịch được điều chỉnh bởi tỷ lệ máy chủ được di chuyển của cả hai thành phần </a:t>
            </a:r>
            <a:r>
              <a:rPr lang="vi-VN" dirty="0">
                <a:effectLst/>
                <a:latin typeface="KaTeX_Main"/>
              </a:rPr>
              <a:t>Ci</a:t>
            </a:r>
            <a:r>
              <a:rPr lang="vi-VN" i="1" dirty="0">
                <a:effectLst/>
                <a:latin typeface="KaTeX_Math"/>
              </a:rPr>
              <a:t>Ci</a:t>
            </a:r>
            <a:r>
              <a:rPr lang="vi-VN" dirty="0">
                <a:effectLst/>
                <a:latin typeface="KaTeX_Main"/>
              </a:rPr>
              <a:t>​</a:t>
            </a:r>
            <a:r>
              <a:rPr lang="vi-VN" dirty="0">
                <a:effectLst/>
              </a:rPr>
              <a:t> và </a:t>
            </a:r>
            <a:r>
              <a:rPr lang="vi-VN" dirty="0">
                <a:effectLst/>
                <a:latin typeface="KaTeX_Main"/>
              </a:rPr>
              <a:t>Cj</a:t>
            </a:r>
            <a:r>
              <a:rPr lang="vi-VN" i="1" dirty="0">
                <a:effectLst/>
                <a:latin typeface="KaTeX_Math"/>
              </a:rPr>
              <a:t>Cj</a:t>
            </a:r>
            <a:r>
              <a:rPr lang="vi-VN" dirty="0">
                <a:effectLst/>
                <a:latin typeface="KaTeX_Main"/>
              </a:rPr>
              <a:t>​</a:t>
            </a:r>
            <a:r>
              <a:rPr lang="vi-VN" dirty="0">
                <a:effectLst/>
              </a:rPr>
              <a:t>.</a:t>
            </a:r>
          </a:p>
          <a:p>
            <a:r>
              <a:rPr lang="vi-VN" b="1" dirty="0">
                <a:effectLst/>
              </a:rPr>
              <a:t>Ví dụ minh họa</a:t>
            </a:r>
          </a:p>
          <a:p>
            <a:r>
              <a:rPr lang="vi-VN" dirty="0">
                <a:effectLst/>
              </a:rPr>
              <a:t>Giả sử:</a:t>
            </a:r>
          </a:p>
          <a:p>
            <a:pPr>
              <a:buFont typeface="Arial" panose="020B0604020202020204" pitchFamily="34" charset="0"/>
              <a:buChar char="•"/>
            </a:pPr>
            <a:r>
              <a:rPr lang="vi-VN" b="1" dirty="0">
                <a:effectLst/>
                <a:latin typeface="KaTeX_Main"/>
              </a:rPr>
              <a:t>Ci</a:t>
            </a:r>
            <a:r>
              <a:rPr lang="vi-VN" b="1" i="1" dirty="0">
                <a:effectLst/>
                <a:latin typeface="KaTeX_Math"/>
              </a:rPr>
              <a:t>Ci</a:t>
            </a:r>
            <a:r>
              <a:rPr lang="vi-VN" b="1" dirty="0">
                <a:effectLst/>
                <a:latin typeface="KaTeX_Main"/>
              </a:rPr>
              <a:t>​</a:t>
            </a:r>
            <a:r>
              <a:rPr lang="vi-VN" dirty="0">
                <a:effectLst/>
              </a:rPr>
              <a:t>: Có </a:t>
            </a:r>
            <a:r>
              <a:rPr lang="vi-VN" dirty="0">
                <a:effectLst/>
                <a:latin typeface="KaTeX_Main"/>
              </a:rPr>
              <a:t>Ni=10</a:t>
            </a:r>
            <a:r>
              <a:rPr lang="vi-VN" i="1" dirty="0">
                <a:effectLst/>
                <a:latin typeface="KaTeX_Math"/>
              </a:rPr>
              <a:t>Ni</a:t>
            </a:r>
            <a:r>
              <a:rPr lang="vi-VN" dirty="0">
                <a:effectLst/>
                <a:latin typeface="KaTeX_Main"/>
              </a:rPr>
              <a:t>​=10</a:t>
            </a:r>
            <a:r>
              <a:rPr lang="vi-VN" dirty="0">
                <a:effectLst/>
              </a:rPr>
              <a:t> máy chủ, trong đó </a:t>
            </a:r>
            <a:r>
              <a:rPr lang="vi-VN" dirty="0">
                <a:effectLst/>
                <a:latin typeface="KaTeX_Main"/>
              </a:rPr>
              <a:t>ni=4</a:t>
            </a:r>
            <a:r>
              <a:rPr lang="vi-VN" i="1" dirty="0">
                <a:effectLst/>
                <a:latin typeface="KaTeX_Math"/>
              </a:rPr>
              <a:t>ni</a:t>
            </a:r>
            <a:r>
              <a:rPr lang="vi-VN" dirty="0">
                <a:effectLst/>
                <a:latin typeface="KaTeX_Main"/>
              </a:rPr>
              <a:t>​=4</a:t>
            </a:r>
            <a:r>
              <a:rPr lang="vi-VN" dirty="0">
                <a:effectLst/>
              </a:rPr>
              <a:t> máy chủ được di chuyển lên đám mây (</a:t>
            </a:r>
            <a:r>
              <a:rPr lang="vi-VN" dirty="0">
                <a:effectLst/>
                <a:latin typeface="KaTeX_Main"/>
              </a:rPr>
              <a:t>fi=0.4</a:t>
            </a:r>
            <a:r>
              <a:rPr lang="vi-VN" i="1" dirty="0">
                <a:effectLst/>
                <a:latin typeface="KaTeX_Math"/>
              </a:rPr>
              <a:t>fi</a:t>
            </a:r>
            <a:r>
              <a:rPr lang="vi-VN" dirty="0">
                <a:effectLst/>
                <a:latin typeface="KaTeX_Main"/>
              </a:rPr>
              <a:t>​=0.4</a:t>
            </a:r>
            <a:r>
              <a:rPr lang="vi-VN" dirty="0">
                <a:effectLst/>
              </a:rPr>
              <a:t>).</a:t>
            </a:r>
          </a:p>
          <a:p>
            <a:pPr>
              <a:buFont typeface="Arial" panose="020B0604020202020204" pitchFamily="34" charset="0"/>
              <a:buChar char="•"/>
            </a:pPr>
            <a:r>
              <a:rPr lang="vi-VN" b="1" dirty="0">
                <a:effectLst/>
                <a:latin typeface="KaTeX_Main"/>
              </a:rPr>
              <a:t>Cj</a:t>
            </a:r>
            <a:r>
              <a:rPr lang="vi-VN" b="1" i="1" dirty="0">
                <a:effectLst/>
                <a:latin typeface="KaTeX_Math"/>
              </a:rPr>
              <a:t>Cj</a:t>
            </a:r>
            <a:r>
              <a:rPr lang="vi-VN" b="1" dirty="0">
                <a:effectLst/>
                <a:latin typeface="KaTeX_Main"/>
              </a:rPr>
              <a:t>​</a:t>
            </a:r>
            <a:r>
              <a:rPr lang="vi-VN" dirty="0">
                <a:effectLst/>
              </a:rPr>
              <a:t>: Có </a:t>
            </a:r>
            <a:r>
              <a:rPr lang="vi-VN" dirty="0">
                <a:effectLst/>
                <a:latin typeface="KaTeX_Main"/>
              </a:rPr>
              <a:t>Nj=8</a:t>
            </a:r>
            <a:r>
              <a:rPr lang="vi-VN" i="1" dirty="0">
                <a:effectLst/>
                <a:latin typeface="KaTeX_Math"/>
              </a:rPr>
              <a:t>Nj</a:t>
            </a:r>
            <a:r>
              <a:rPr lang="vi-VN" dirty="0">
                <a:effectLst/>
                <a:latin typeface="KaTeX_Main"/>
              </a:rPr>
              <a:t>​=8</a:t>
            </a:r>
            <a:r>
              <a:rPr lang="vi-VN" dirty="0">
                <a:effectLst/>
              </a:rPr>
              <a:t> máy chủ, trong đó </a:t>
            </a:r>
            <a:r>
              <a:rPr lang="vi-VN" dirty="0">
                <a:effectLst/>
                <a:latin typeface="KaTeX_Main"/>
              </a:rPr>
              <a:t>nj=2</a:t>
            </a:r>
            <a:r>
              <a:rPr lang="vi-VN" i="1" dirty="0">
                <a:effectLst/>
                <a:latin typeface="KaTeX_Math"/>
              </a:rPr>
              <a:t>nj</a:t>
            </a:r>
            <a:r>
              <a:rPr lang="vi-VN" dirty="0">
                <a:effectLst/>
                <a:latin typeface="KaTeX_Main"/>
              </a:rPr>
              <a:t>​=2</a:t>
            </a:r>
            <a:r>
              <a:rPr lang="vi-VN" dirty="0">
                <a:effectLst/>
              </a:rPr>
              <a:t> máy chủ được di chuyển lên đám mây (</a:t>
            </a:r>
            <a:r>
              <a:rPr lang="vi-VN" dirty="0">
                <a:effectLst/>
                <a:latin typeface="KaTeX_Main"/>
              </a:rPr>
              <a:t>fj=0.25</a:t>
            </a:r>
            <a:r>
              <a:rPr lang="vi-VN" i="1" dirty="0">
                <a:effectLst/>
                <a:latin typeface="KaTeX_Math"/>
              </a:rPr>
              <a:t>fj</a:t>
            </a:r>
            <a:r>
              <a:rPr lang="vi-VN" dirty="0">
                <a:effectLst/>
                <a:latin typeface="KaTeX_Main"/>
              </a:rPr>
              <a:t>​=0.25</a:t>
            </a:r>
            <a:r>
              <a:rPr lang="vi-VN" dirty="0">
                <a:effectLst/>
              </a:rPr>
              <a:t>).</a:t>
            </a:r>
          </a:p>
          <a:p>
            <a:pPr>
              <a:buFont typeface="Arial" panose="020B0604020202020204" pitchFamily="34" charset="0"/>
              <a:buChar char="•"/>
            </a:pPr>
            <a:r>
              <a:rPr lang="vi-VN" b="1" dirty="0">
                <a:effectLst/>
                <a:latin typeface="KaTeX_Main"/>
              </a:rPr>
              <a:t>Ti,j=1000</a:t>
            </a:r>
            <a:r>
              <a:rPr lang="vi-VN" b="1" i="1" dirty="0">
                <a:effectLst/>
                <a:latin typeface="KaTeX_Math"/>
              </a:rPr>
              <a:t>Ti</a:t>
            </a:r>
            <a:r>
              <a:rPr lang="vi-VN" b="1" dirty="0">
                <a:effectLst/>
                <a:latin typeface="KaTeX_Main"/>
              </a:rPr>
              <a:t>,</a:t>
            </a:r>
            <a:r>
              <a:rPr lang="vi-VN" b="1" i="1" dirty="0">
                <a:effectLst/>
                <a:latin typeface="KaTeX_Math"/>
              </a:rPr>
              <a:t>j</a:t>
            </a:r>
            <a:r>
              <a:rPr lang="vi-VN" b="1" dirty="0">
                <a:effectLst/>
                <a:latin typeface="KaTeX_Main"/>
              </a:rPr>
              <a:t>​=1000</a:t>
            </a:r>
            <a:r>
              <a:rPr lang="vi-VN" dirty="0">
                <a:effectLst/>
              </a:rPr>
              <a:t>: Tỷ lệ giao dịch ban đầu giữa </a:t>
            </a:r>
            <a:r>
              <a:rPr lang="vi-VN" dirty="0">
                <a:effectLst/>
                <a:latin typeface="KaTeX_Main"/>
              </a:rPr>
              <a:t>Ci</a:t>
            </a:r>
            <a:r>
              <a:rPr lang="vi-VN" i="1" dirty="0">
                <a:effectLst/>
                <a:latin typeface="KaTeX_Math"/>
              </a:rPr>
              <a:t>Ci</a:t>
            </a:r>
            <a:r>
              <a:rPr lang="vi-VN" dirty="0">
                <a:effectLst/>
                <a:latin typeface="KaTeX_Main"/>
              </a:rPr>
              <a:t>​</a:t>
            </a:r>
            <a:r>
              <a:rPr lang="vi-VN" dirty="0">
                <a:effectLst/>
              </a:rPr>
              <a:t> và </a:t>
            </a:r>
            <a:r>
              <a:rPr lang="vi-VN" dirty="0">
                <a:effectLst/>
                <a:latin typeface="KaTeX_Main"/>
              </a:rPr>
              <a:t>Cj</a:t>
            </a:r>
            <a:r>
              <a:rPr lang="vi-VN" i="1" dirty="0">
                <a:effectLst/>
                <a:latin typeface="KaTeX_Math"/>
              </a:rPr>
              <a:t>Cj</a:t>
            </a:r>
            <a:r>
              <a:rPr lang="vi-VN" dirty="0">
                <a:effectLst/>
                <a:latin typeface="KaTeX_Main"/>
              </a:rPr>
              <a:t>​</a:t>
            </a:r>
            <a:r>
              <a:rPr lang="vi-VN" dirty="0">
                <a:effectLst/>
              </a:rPr>
              <a:t>.</a:t>
            </a:r>
          </a:p>
          <a:p>
            <a:r>
              <a:rPr lang="vi-VN" dirty="0">
                <a:effectLst/>
              </a:rPr>
              <a:t>Tính toán tỷ lệ giao dịch sau khi di chuyển:</a:t>
            </a:r>
          </a:p>
          <a:p>
            <a:pPr>
              <a:buFont typeface="Arial" panose="020B0604020202020204" pitchFamily="34" charset="0"/>
              <a:buChar char="•"/>
            </a:pPr>
            <a:r>
              <a:rPr lang="vi-VN" b="1" dirty="0">
                <a:effectLst/>
              </a:rPr>
              <a:t>Khi </a:t>
            </a:r>
            <a:r>
              <a:rPr lang="vi-VN" b="1" dirty="0">
                <a:effectLst/>
                <a:latin typeface="KaTeX_Main"/>
              </a:rPr>
              <a:t>si∈Ci,local</a:t>
            </a:r>
            <a:r>
              <a:rPr lang="vi-VN" b="1" i="1" dirty="0">
                <a:effectLst/>
                <a:latin typeface="KaTeX_Math"/>
              </a:rPr>
              <a:t>si</a:t>
            </a:r>
            <a:r>
              <a:rPr lang="vi-VN" b="1" dirty="0">
                <a:effectLst/>
                <a:latin typeface="KaTeX_Main"/>
              </a:rPr>
              <a:t>​∈</a:t>
            </a:r>
            <a:r>
              <a:rPr lang="vi-VN" b="1" i="1" dirty="0">
                <a:effectLst/>
                <a:latin typeface="KaTeX_Math"/>
              </a:rPr>
              <a:t>Ci</a:t>
            </a:r>
            <a:r>
              <a:rPr lang="vi-VN" b="1" dirty="0">
                <a:effectLst/>
                <a:latin typeface="KaTeX_Main"/>
              </a:rPr>
              <a:t>,local​</a:t>
            </a:r>
            <a:r>
              <a:rPr lang="vi-VN" b="1" dirty="0">
                <a:effectLst/>
              </a:rPr>
              <a:t> và </a:t>
            </a:r>
            <a:r>
              <a:rPr lang="vi-VN" b="1" dirty="0">
                <a:effectLst/>
                <a:latin typeface="KaTeX_Main"/>
              </a:rPr>
              <a:t>sj∈Cj,local</a:t>
            </a:r>
            <a:r>
              <a:rPr lang="vi-VN" b="1" i="1" dirty="0">
                <a:effectLst/>
                <a:latin typeface="KaTeX_Math"/>
              </a:rPr>
              <a:t>sj</a:t>
            </a:r>
            <a:r>
              <a:rPr lang="vi-VN" b="1" dirty="0">
                <a:effectLst/>
                <a:latin typeface="KaTeX_Main"/>
              </a:rPr>
              <a:t>​∈</a:t>
            </a:r>
            <a:r>
              <a:rPr lang="vi-VN" b="1" i="1" dirty="0">
                <a:effectLst/>
                <a:latin typeface="KaTeX_Math"/>
              </a:rPr>
              <a:t>Cj</a:t>
            </a:r>
            <a:r>
              <a:rPr lang="vi-VN" b="1" dirty="0">
                <a:effectLst/>
                <a:latin typeface="KaTeX_Main"/>
              </a:rPr>
              <a:t>,local​</a:t>
            </a:r>
            <a:r>
              <a:rPr lang="vi-VN" dirty="0">
                <a:effectLst/>
              </a:rPr>
              <a:t>:</a:t>
            </a:r>
          </a:p>
          <a:p>
            <a:pPr>
              <a:buFont typeface="Arial" panose="020B0604020202020204" pitchFamily="34" charset="0"/>
              <a:buChar char="•"/>
            </a:pPr>
            <a:r>
              <a:rPr lang="vi-VN" dirty="0">
                <a:effectLst/>
                <a:latin typeface="KaTeX_Main"/>
              </a:rPr>
              <a:t>Ti,j∗=(1−0.4)⋅(1−0.25)⋅1000=0.6⋅0.75⋅1000=450</a:t>
            </a:r>
            <a:r>
              <a:rPr lang="vi-VN" i="1" dirty="0">
                <a:effectLst/>
                <a:latin typeface="KaTeX_Math"/>
              </a:rPr>
              <a:t>Ti</a:t>
            </a:r>
            <a:r>
              <a:rPr lang="vi-VN" dirty="0">
                <a:effectLst/>
                <a:latin typeface="KaTeX_Main"/>
              </a:rPr>
              <a:t>,</a:t>
            </a:r>
            <a:r>
              <a:rPr lang="vi-VN" i="1" dirty="0">
                <a:effectLst/>
                <a:latin typeface="KaTeX_Math"/>
              </a:rPr>
              <a:t>j</a:t>
            </a:r>
            <a:r>
              <a:rPr lang="vi-VN" dirty="0">
                <a:effectLst/>
                <a:latin typeface="KaTeX_Main"/>
              </a:rPr>
              <a:t>∗​=(1−0.4)⋅(1−0.25)⋅1000=0.6⋅0.75⋅1000=450</a:t>
            </a:r>
            <a:endParaRPr lang="vi-VN" dirty="0">
              <a:effectLst/>
            </a:endParaRPr>
          </a:p>
          <a:p>
            <a:pPr>
              <a:buFont typeface="Arial" panose="020B0604020202020204" pitchFamily="34" charset="0"/>
              <a:buChar char="•"/>
            </a:pPr>
            <a:r>
              <a:rPr lang="vi-VN" b="1" dirty="0">
                <a:effectLst/>
              </a:rPr>
              <a:t>Khi </a:t>
            </a:r>
            <a:r>
              <a:rPr lang="vi-VN" b="1" dirty="0">
                <a:effectLst/>
                <a:latin typeface="KaTeX_Main"/>
              </a:rPr>
              <a:t>si∈Ci,local</a:t>
            </a:r>
            <a:r>
              <a:rPr lang="vi-VN" b="1" i="1" dirty="0">
                <a:effectLst/>
                <a:latin typeface="KaTeX_Math"/>
              </a:rPr>
              <a:t>si</a:t>
            </a:r>
            <a:r>
              <a:rPr lang="vi-VN" b="1" dirty="0">
                <a:effectLst/>
                <a:latin typeface="KaTeX_Main"/>
              </a:rPr>
              <a:t>​∈</a:t>
            </a:r>
            <a:r>
              <a:rPr lang="vi-VN" b="1" i="1" dirty="0">
                <a:effectLst/>
                <a:latin typeface="KaTeX_Math"/>
              </a:rPr>
              <a:t>Ci</a:t>
            </a:r>
            <a:r>
              <a:rPr lang="vi-VN" b="1" dirty="0">
                <a:effectLst/>
                <a:latin typeface="KaTeX_Main"/>
              </a:rPr>
              <a:t>,local​</a:t>
            </a:r>
            <a:r>
              <a:rPr lang="vi-VN" b="1" dirty="0">
                <a:effectLst/>
              </a:rPr>
              <a:t> và </a:t>
            </a:r>
            <a:r>
              <a:rPr lang="vi-VN" b="1" dirty="0">
                <a:effectLst/>
                <a:latin typeface="KaTeX_Main"/>
              </a:rPr>
              <a:t>sj∈Cj,cloud</a:t>
            </a:r>
            <a:r>
              <a:rPr lang="vi-VN" b="1" i="1" dirty="0">
                <a:effectLst/>
                <a:latin typeface="KaTeX_Math"/>
              </a:rPr>
              <a:t>sj</a:t>
            </a:r>
            <a:r>
              <a:rPr lang="vi-VN" b="1" dirty="0">
                <a:effectLst/>
                <a:latin typeface="KaTeX_Main"/>
              </a:rPr>
              <a:t>​∈</a:t>
            </a:r>
            <a:r>
              <a:rPr lang="vi-VN" b="1" i="1" dirty="0">
                <a:effectLst/>
                <a:latin typeface="KaTeX_Math"/>
              </a:rPr>
              <a:t>Cj</a:t>
            </a:r>
            <a:r>
              <a:rPr lang="vi-VN" b="1" dirty="0">
                <a:effectLst/>
                <a:latin typeface="KaTeX_Main"/>
              </a:rPr>
              <a:t>,cloud​</a:t>
            </a:r>
            <a:r>
              <a:rPr lang="vi-VN" dirty="0">
                <a:effectLst/>
              </a:rPr>
              <a:t>:</a:t>
            </a:r>
          </a:p>
          <a:p>
            <a:pPr>
              <a:buFont typeface="Arial" panose="020B0604020202020204" pitchFamily="34" charset="0"/>
              <a:buChar char="•"/>
            </a:pPr>
            <a:r>
              <a:rPr lang="vi-VN" dirty="0">
                <a:effectLst/>
                <a:latin typeface="KaTeX_Main"/>
              </a:rPr>
              <a:t>Ti,j∗=(1−0.4)⋅0.25⋅1000=0.6⋅0.25⋅1000=150</a:t>
            </a:r>
            <a:r>
              <a:rPr lang="vi-VN" i="1" dirty="0">
                <a:effectLst/>
                <a:latin typeface="KaTeX_Math"/>
              </a:rPr>
              <a:t>Ti</a:t>
            </a:r>
            <a:r>
              <a:rPr lang="vi-VN" dirty="0">
                <a:effectLst/>
                <a:latin typeface="KaTeX_Main"/>
              </a:rPr>
              <a:t>,</a:t>
            </a:r>
            <a:r>
              <a:rPr lang="vi-VN" i="1" dirty="0">
                <a:effectLst/>
                <a:latin typeface="KaTeX_Math"/>
              </a:rPr>
              <a:t>j</a:t>
            </a:r>
            <a:r>
              <a:rPr lang="vi-VN" dirty="0">
                <a:effectLst/>
                <a:latin typeface="KaTeX_Main"/>
              </a:rPr>
              <a:t>∗​=(1−0.4)⋅0.25⋅1000=0.6⋅0.25⋅1000=150</a:t>
            </a:r>
            <a:endParaRPr lang="vi-VN" dirty="0">
              <a:effectLst/>
            </a:endParaRPr>
          </a:p>
          <a:p>
            <a:pPr>
              <a:buFont typeface="Arial" panose="020B0604020202020204" pitchFamily="34" charset="0"/>
              <a:buChar char="•"/>
            </a:pPr>
            <a:r>
              <a:rPr lang="vi-VN" b="1" dirty="0">
                <a:effectLst/>
              </a:rPr>
              <a:t>Khi </a:t>
            </a:r>
            <a:r>
              <a:rPr lang="vi-VN" b="1" dirty="0">
                <a:effectLst/>
                <a:latin typeface="KaTeX_Main"/>
              </a:rPr>
              <a:t>si∈Ci,cloud</a:t>
            </a:r>
            <a:r>
              <a:rPr lang="vi-VN" b="1" i="1" dirty="0">
                <a:effectLst/>
                <a:latin typeface="KaTeX_Math"/>
              </a:rPr>
              <a:t>si</a:t>
            </a:r>
            <a:r>
              <a:rPr lang="vi-VN" b="1" dirty="0">
                <a:effectLst/>
                <a:latin typeface="KaTeX_Main"/>
              </a:rPr>
              <a:t>​∈</a:t>
            </a:r>
            <a:r>
              <a:rPr lang="vi-VN" b="1" i="1" dirty="0">
                <a:effectLst/>
                <a:latin typeface="KaTeX_Math"/>
              </a:rPr>
              <a:t>Ci</a:t>
            </a:r>
            <a:r>
              <a:rPr lang="vi-VN" b="1" dirty="0">
                <a:effectLst/>
                <a:latin typeface="KaTeX_Main"/>
              </a:rPr>
              <a:t>,cloud​</a:t>
            </a:r>
            <a:r>
              <a:rPr lang="vi-VN" b="1" dirty="0">
                <a:effectLst/>
              </a:rPr>
              <a:t> và </a:t>
            </a:r>
            <a:r>
              <a:rPr lang="vi-VN" b="1" dirty="0">
                <a:effectLst/>
                <a:latin typeface="KaTeX_Main"/>
              </a:rPr>
              <a:t>sj∈Cj,local</a:t>
            </a:r>
            <a:r>
              <a:rPr lang="vi-VN" b="1" i="1" dirty="0">
                <a:effectLst/>
                <a:latin typeface="KaTeX_Math"/>
              </a:rPr>
              <a:t>sj</a:t>
            </a:r>
            <a:r>
              <a:rPr lang="vi-VN" b="1" dirty="0">
                <a:effectLst/>
                <a:latin typeface="KaTeX_Main"/>
              </a:rPr>
              <a:t>​∈</a:t>
            </a:r>
            <a:r>
              <a:rPr lang="vi-VN" b="1" i="1" dirty="0">
                <a:effectLst/>
                <a:latin typeface="KaTeX_Math"/>
              </a:rPr>
              <a:t>Cj</a:t>
            </a:r>
            <a:r>
              <a:rPr lang="vi-VN" b="1" dirty="0">
                <a:effectLst/>
                <a:latin typeface="KaTeX_Main"/>
              </a:rPr>
              <a:t>,local​</a:t>
            </a:r>
            <a:r>
              <a:rPr lang="vi-VN" dirty="0">
                <a:effectLst/>
              </a:rPr>
              <a:t>:</a:t>
            </a:r>
          </a:p>
          <a:p>
            <a:pPr>
              <a:buFont typeface="Arial" panose="020B0604020202020204" pitchFamily="34" charset="0"/>
              <a:buChar char="•"/>
            </a:pPr>
            <a:r>
              <a:rPr lang="vi-VN" dirty="0">
                <a:effectLst/>
                <a:latin typeface="KaTeX_Main"/>
              </a:rPr>
              <a:t>Ti,j∗=0.4⋅(1−0.25)⋅1000=0.4⋅0.75⋅1000=300</a:t>
            </a:r>
            <a:r>
              <a:rPr lang="vi-VN" i="1" dirty="0">
                <a:effectLst/>
                <a:latin typeface="KaTeX_Math"/>
              </a:rPr>
              <a:t>Ti</a:t>
            </a:r>
            <a:r>
              <a:rPr lang="vi-VN" dirty="0">
                <a:effectLst/>
                <a:latin typeface="KaTeX_Main"/>
              </a:rPr>
              <a:t>,</a:t>
            </a:r>
            <a:r>
              <a:rPr lang="vi-VN" i="1" dirty="0">
                <a:effectLst/>
                <a:latin typeface="KaTeX_Math"/>
              </a:rPr>
              <a:t>j</a:t>
            </a:r>
            <a:r>
              <a:rPr lang="vi-VN" dirty="0">
                <a:effectLst/>
                <a:latin typeface="KaTeX_Main"/>
              </a:rPr>
              <a:t>∗​=0.4⋅(1−0.25)⋅1000=0.4⋅0.75⋅1000=300</a:t>
            </a:r>
            <a:endParaRPr lang="vi-VN" dirty="0">
              <a:effectLst/>
            </a:endParaRPr>
          </a:p>
          <a:p>
            <a:pPr>
              <a:buFont typeface="Arial" panose="020B0604020202020204" pitchFamily="34" charset="0"/>
              <a:buChar char="•"/>
            </a:pPr>
            <a:r>
              <a:rPr lang="vi-VN" b="1" dirty="0">
                <a:effectLst/>
              </a:rPr>
              <a:t>Khi </a:t>
            </a:r>
            <a:r>
              <a:rPr lang="vi-VN" b="1" dirty="0">
                <a:effectLst/>
                <a:latin typeface="KaTeX_Main"/>
              </a:rPr>
              <a:t>si∈Ci,cloud</a:t>
            </a:r>
            <a:r>
              <a:rPr lang="vi-VN" b="1" i="1" dirty="0">
                <a:effectLst/>
                <a:latin typeface="KaTeX_Math"/>
              </a:rPr>
              <a:t>si</a:t>
            </a:r>
            <a:r>
              <a:rPr lang="vi-VN" b="1" dirty="0">
                <a:effectLst/>
                <a:latin typeface="KaTeX_Main"/>
              </a:rPr>
              <a:t>​∈</a:t>
            </a:r>
            <a:r>
              <a:rPr lang="vi-VN" b="1" i="1" dirty="0">
                <a:effectLst/>
                <a:latin typeface="KaTeX_Math"/>
              </a:rPr>
              <a:t>Ci</a:t>
            </a:r>
            <a:r>
              <a:rPr lang="vi-VN" b="1" dirty="0">
                <a:effectLst/>
                <a:latin typeface="KaTeX_Main"/>
              </a:rPr>
              <a:t>,cloud​</a:t>
            </a:r>
            <a:r>
              <a:rPr lang="vi-VN" b="1" dirty="0">
                <a:effectLst/>
              </a:rPr>
              <a:t> và </a:t>
            </a:r>
            <a:r>
              <a:rPr lang="vi-VN" b="1" dirty="0">
                <a:effectLst/>
                <a:latin typeface="KaTeX_Main"/>
              </a:rPr>
              <a:t>sj∈Cj,cloud</a:t>
            </a:r>
            <a:r>
              <a:rPr lang="vi-VN" b="1" i="1" dirty="0">
                <a:effectLst/>
                <a:latin typeface="KaTeX_Math"/>
              </a:rPr>
              <a:t>sj</a:t>
            </a:r>
            <a:r>
              <a:rPr lang="vi-VN" b="1" dirty="0">
                <a:effectLst/>
                <a:latin typeface="KaTeX_Main"/>
              </a:rPr>
              <a:t>​∈</a:t>
            </a:r>
            <a:r>
              <a:rPr lang="vi-VN" b="1" i="1" dirty="0">
                <a:effectLst/>
                <a:latin typeface="KaTeX_Math"/>
              </a:rPr>
              <a:t>Cj</a:t>
            </a:r>
            <a:r>
              <a:rPr lang="vi-VN" b="1" dirty="0">
                <a:effectLst/>
                <a:latin typeface="KaTeX_Main"/>
              </a:rPr>
              <a:t>,cloud​</a:t>
            </a:r>
            <a:r>
              <a:rPr lang="vi-VN" dirty="0">
                <a:effectLst/>
              </a:rPr>
              <a:t>:</a:t>
            </a:r>
          </a:p>
          <a:p>
            <a:pPr>
              <a:buFont typeface="Arial" panose="020B0604020202020204" pitchFamily="34" charset="0"/>
              <a:buChar char="•"/>
            </a:pPr>
            <a:r>
              <a:rPr lang="vi-VN" dirty="0">
                <a:effectLst/>
                <a:latin typeface="KaTeX_Main"/>
              </a:rPr>
              <a:t>Ti,j∗=0.4⋅0.25⋅1000=100</a:t>
            </a:r>
            <a:r>
              <a:rPr lang="vi-VN" i="1" dirty="0">
                <a:effectLst/>
                <a:latin typeface="KaTeX_Math"/>
              </a:rPr>
              <a:t>Ti</a:t>
            </a:r>
            <a:r>
              <a:rPr lang="vi-VN" dirty="0">
                <a:effectLst/>
                <a:latin typeface="KaTeX_Main"/>
              </a:rPr>
              <a:t>,</a:t>
            </a:r>
            <a:r>
              <a:rPr lang="vi-VN" i="1" dirty="0">
                <a:effectLst/>
                <a:latin typeface="KaTeX_Math"/>
              </a:rPr>
              <a:t>j</a:t>
            </a:r>
            <a:r>
              <a:rPr lang="vi-VN" dirty="0">
                <a:effectLst/>
                <a:latin typeface="KaTeX_Main"/>
              </a:rPr>
              <a:t>∗​=0.4⋅0.25⋅1000=100</a:t>
            </a:r>
            <a:endParaRPr lang="vi-VN" dirty="0">
              <a:effectLst/>
            </a:endParaRPr>
          </a:p>
          <a:p>
            <a:r>
              <a:rPr lang="vi-VN" b="1" dirty="0">
                <a:effectLst/>
              </a:rPr>
              <a:t>Kết luận</a:t>
            </a:r>
          </a:p>
          <a:p>
            <a:r>
              <a:rPr lang="vi-VN" dirty="0">
                <a:effectLst/>
              </a:rPr>
              <a:t>Việc di chuyển các máy chủ lên đám mây ảnh hưởng đến tỷ lệ giao dịch giữa các thành phần. Bằng cách sử dụng công thức trên, các tổ chức có thể ước lượng tỷ lệ giao dịch sau khi di chuyển và đảm bảo rằng hệ thống vẫn hoạt động hiệu quả. Công thức này cung cấp một cách tiếp cận có hệ thống để tính toán và điều chỉnh tỷ lệ giao dịch dựa trên tỷ lệ máy chủ được di chuyển lên đám mây.</a:t>
            </a:r>
          </a:p>
          <a:p>
            <a:br>
              <a:rPr lang="vi-VN" dirty="0">
                <a:solidFill>
                  <a:srgbClr val="4D6BFE"/>
                </a:solidFill>
                <a:effectLst/>
              </a:rPr>
            </a:b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61</a:t>
            </a:fld>
            <a:endParaRPr lang="en-US"/>
          </a:p>
        </p:txBody>
      </p:sp>
    </p:spTree>
    <p:extLst>
      <p:ext uri="{BB962C8B-B14F-4D97-AF65-F5344CB8AC3E}">
        <p14:creationId xmlns:p14="http://schemas.microsoft.com/office/powerpoint/2010/main" val="9434221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Tích hợp các ứng dụng (Integrating Applications)</a:t>
            </a:r>
          </a:p>
          <a:p>
            <a:pPr algn="l"/>
            <a:r>
              <a:rPr lang="vi-VN" b="0" i="0" dirty="0">
                <a:solidFill>
                  <a:srgbClr val="404040"/>
                </a:solidFill>
                <a:effectLst/>
                <a:latin typeface="Inter"/>
              </a:rPr>
              <a:t>Trong môi trường công nghệ thông tin hiện đại, các tổ chức thường phải đối mặt với việc quản lý nhiều ứng dụng mạng khác nhau. Việc đạt được khả năng tương tác giữa các ứng dụng này có thể là một thách thức lớn. Dưới đây là các bước tiếp cận cơ bản để tích hợp các ứng dụng một cách hiệu quả:</a:t>
            </a:r>
          </a:p>
          <a:p>
            <a:pPr algn="l"/>
            <a:r>
              <a:rPr lang="vi-VN" b="1" i="0" dirty="0">
                <a:solidFill>
                  <a:srgbClr val="404040"/>
                </a:solidFill>
                <a:effectLst/>
                <a:latin typeface="Inter"/>
              </a:rPr>
              <a:t>Tình huống</a:t>
            </a:r>
          </a:p>
          <a:p>
            <a:pPr algn="l"/>
            <a:r>
              <a:rPr lang="vi-VN" b="0" i="0" dirty="0">
                <a:solidFill>
                  <a:srgbClr val="404040"/>
                </a:solidFill>
                <a:effectLst/>
                <a:latin typeface="Inter"/>
              </a:rPr>
              <a:t>Các tổ chức thường có nhiều ứng dụng mạng chạy trên các máy chủ khác nhau, cung cấp các dịch vụ cho các máy khách từ xa. Tuy nhiên, việc đạt được khả năng tương tác giữa các ứng dụng này thường gặp nhiều khó khăn, dẫn đến sự phức tạp trong quản lý và vận hành.</a:t>
            </a:r>
          </a:p>
          <a:p>
            <a:pPr algn="l"/>
            <a:r>
              <a:rPr lang="vi-VN" b="1" i="0" dirty="0">
                <a:solidFill>
                  <a:srgbClr val="404040"/>
                </a:solidFill>
                <a:effectLst/>
                <a:latin typeface="Inter"/>
              </a:rPr>
              <a:t>Cách tiếp cận cơ bản</a:t>
            </a:r>
          </a:p>
          <a:p>
            <a:pPr algn="l">
              <a:buFont typeface="+mj-lt"/>
              <a:buAutoNum type="arabicPeriod"/>
            </a:pPr>
            <a:r>
              <a:rPr lang="vi-VN" b="1" i="0" dirty="0">
                <a:solidFill>
                  <a:srgbClr val="404040"/>
                </a:solidFill>
                <a:effectLst/>
                <a:latin typeface="Inter"/>
              </a:rPr>
              <a:t>Ứng dụng mạng (Networked Application)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Một ứng dụng mạng là ứng dụng chạy trên một máy chủ và cung cấp các dịch vụ của nó cho các máy khách từ xa.</a:t>
            </a:r>
          </a:p>
          <a:p>
            <a:pPr marL="742950" lvl="1" indent="-285750" algn="l">
              <a:buFont typeface="+mj-lt"/>
              <a:buAutoNum type="arabicPeriod"/>
            </a:pPr>
            <a:r>
              <a:rPr lang="vi-VN" b="0" i="0" dirty="0">
                <a:solidFill>
                  <a:srgbClr val="404040"/>
                </a:solidFill>
                <a:effectLst/>
                <a:latin typeface="Inter"/>
              </a:rPr>
              <a:t>Ví dụ: Các dịch vụ web, API, và các ứng dụng client-server truyền thống.</a:t>
            </a:r>
          </a:p>
          <a:p>
            <a:pPr algn="l">
              <a:buFont typeface="+mj-lt"/>
              <a:buAutoNum type="arabicPeriod"/>
            </a:pPr>
            <a:r>
              <a:rPr lang="vi-VN" b="1" i="0" dirty="0">
                <a:solidFill>
                  <a:srgbClr val="404040"/>
                </a:solidFill>
                <a:effectLst/>
                <a:latin typeface="Inter"/>
              </a:rPr>
              <a:t>Tích hợp đơn giản</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Kết hợp yêu cầu</a:t>
            </a:r>
            <a:r>
              <a:rPr lang="vi-VN" b="0" i="0" dirty="0">
                <a:solidFill>
                  <a:srgbClr val="404040"/>
                </a:solidFill>
                <a:effectLst/>
                <a:latin typeface="Inter"/>
              </a:rPr>
              <a:t>: Các máy khách có thể kết hợp các yêu cầu từ các ứng dụng khác nhau.</a:t>
            </a:r>
          </a:p>
          <a:p>
            <a:pPr marL="742950" lvl="1" indent="-285750" algn="l">
              <a:buFont typeface="+mj-lt"/>
              <a:buAutoNum type="arabicPeriod"/>
            </a:pPr>
            <a:r>
              <a:rPr lang="vi-VN" b="1" i="0" dirty="0">
                <a:solidFill>
                  <a:srgbClr val="404040"/>
                </a:solidFill>
                <a:effectLst/>
                <a:latin typeface="Inter"/>
              </a:rPr>
              <a:t>Gửi yêu cầu</a:t>
            </a:r>
            <a:r>
              <a:rPr lang="vi-VN" b="0" i="0" dirty="0">
                <a:solidFill>
                  <a:srgbClr val="404040"/>
                </a:solidFill>
                <a:effectLst/>
                <a:latin typeface="Inter"/>
              </a:rPr>
              <a:t>: Gửi các yêu cầu kết hợp này đến các máy chủ tương ứng.</a:t>
            </a:r>
          </a:p>
          <a:p>
            <a:pPr marL="742950" lvl="1" indent="-285750" algn="l">
              <a:buFont typeface="+mj-lt"/>
              <a:buAutoNum type="arabicPeriod"/>
            </a:pPr>
            <a:r>
              <a:rPr lang="vi-VN" b="1" i="0" dirty="0">
                <a:solidFill>
                  <a:srgbClr val="404040"/>
                </a:solidFill>
                <a:effectLst/>
                <a:latin typeface="Inter"/>
              </a:rPr>
              <a:t>Thu thập phản hồi</a:t>
            </a:r>
            <a:r>
              <a:rPr lang="vi-VN" b="0" i="0" dirty="0">
                <a:solidFill>
                  <a:srgbClr val="404040"/>
                </a:solidFill>
                <a:effectLst/>
                <a:latin typeface="Inter"/>
              </a:rPr>
              <a:t>: Thu thập các phản hồi từ các máy chủ.</a:t>
            </a:r>
          </a:p>
          <a:p>
            <a:pPr marL="742950" lvl="1" indent="-285750" algn="l">
              <a:buFont typeface="+mj-lt"/>
              <a:buAutoNum type="arabicPeriod"/>
            </a:pPr>
            <a:r>
              <a:rPr lang="vi-VN" b="1" i="0" dirty="0">
                <a:solidFill>
                  <a:srgbClr val="404040"/>
                </a:solidFill>
                <a:effectLst/>
                <a:latin typeface="Inter"/>
              </a:rPr>
              <a:t>Trình bày kết quả</a:t>
            </a:r>
            <a:r>
              <a:rPr lang="vi-VN" b="0" i="0" dirty="0">
                <a:solidFill>
                  <a:srgbClr val="404040"/>
                </a:solidFill>
                <a:effectLst/>
                <a:latin typeface="Inter"/>
              </a:rPr>
              <a:t>: Trình bày một kết quả thống nhất và mạch lạc cho người dùng.</a:t>
            </a:r>
          </a:p>
          <a:p>
            <a:pPr algn="l"/>
            <a:r>
              <a:rPr lang="vi-VN" b="1" i="0" dirty="0">
                <a:solidFill>
                  <a:srgbClr val="404040"/>
                </a:solidFill>
                <a:effectLst/>
                <a:latin typeface="Inter"/>
              </a:rPr>
              <a:t>Bước tiếp theo: Tích hợp ứng dụng doanh nghiệp (Enterprise Application Integration - EAI)</a:t>
            </a:r>
          </a:p>
          <a:p>
            <a:pPr algn="l"/>
            <a:r>
              <a:rPr lang="vi-VN" b="0" i="0" dirty="0">
                <a:solidFill>
                  <a:srgbClr val="404040"/>
                </a:solidFill>
                <a:effectLst/>
                <a:latin typeface="Inter"/>
              </a:rPr>
              <a:t>Để nâng cao khả năng tương tác và tích hợp giữa các ứng dụng, bước tiếp theo là cho phép </a:t>
            </a:r>
            <a:r>
              <a:rPr lang="vi-VN" b="1" i="0" dirty="0">
                <a:solidFill>
                  <a:srgbClr val="404040"/>
                </a:solidFill>
                <a:effectLst/>
                <a:latin typeface="Inter"/>
              </a:rPr>
              <a:t>giao tiếp trực tiếp giữa các ứng dụng với nhau</a:t>
            </a:r>
            <a:r>
              <a:rPr lang="vi-VN" b="0" i="0" dirty="0">
                <a:solidFill>
                  <a:srgbClr val="404040"/>
                </a:solidFill>
                <a:effectLst/>
                <a:latin typeface="Inter"/>
              </a:rPr>
              <a:t>, dẫn đến việc hình thành </a:t>
            </a:r>
            <a:r>
              <a:rPr lang="vi-VN" b="1" i="0" dirty="0">
                <a:solidFill>
                  <a:srgbClr val="404040"/>
                </a:solidFill>
                <a:effectLst/>
                <a:latin typeface="Inter"/>
              </a:rPr>
              <a:t>Tích hợp ứng dụng doanh nghiệp (EAI)</a:t>
            </a:r>
            <a:r>
              <a:rPr lang="vi-VN" b="0" i="0" dirty="0">
                <a:solidFill>
                  <a:srgbClr val="404040"/>
                </a:solidFill>
                <a:effectLst/>
                <a:latin typeface="Inter"/>
              </a:rPr>
              <a:t>.</a:t>
            </a:r>
          </a:p>
          <a:p>
            <a:pPr algn="l">
              <a:buFont typeface="+mj-lt"/>
              <a:buAutoNum type="arabicPeriod"/>
            </a:pPr>
            <a:r>
              <a:rPr lang="vi-VN" b="1" i="0" dirty="0">
                <a:solidFill>
                  <a:srgbClr val="404040"/>
                </a:solidFill>
                <a:effectLst/>
                <a:latin typeface="Inter"/>
              </a:rPr>
              <a:t>Giao tiếp ứng dụng-đến-ứng dụng (Application-to-Application Communication)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Cho phép các ứng dụng giao tiếp trực tiếp với nhau mà không cần sự can thiệp của máy khách.</a:t>
            </a:r>
          </a:p>
          <a:p>
            <a:pPr marL="742950" lvl="1" indent="-285750" algn="l">
              <a:buFont typeface="+mj-lt"/>
              <a:buAutoNum type="arabicPeriod"/>
            </a:pPr>
            <a:r>
              <a:rPr lang="vi-VN" b="0" i="0" dirty="0">
                <a:solidFill>
                  <a:srgbClr val="404040"/>
                </a:solidFill>
                <a:effectLst/>
                <a:latin typeface="Inter"/>
              </a:rPr>
              <a:t>Ví dụ: Một ứng dụng quản lý đơn hàng có thể tự động gửi thông tin đơn hàng đến ứng dụng quản lý kho mà không cần người dùng phải thực hiện thủ công.</a:t>
            </a:r>
          </a:p>
          <a:p>
            <a:pPr algn="l">
              <a:buFont typeface="+mj-lt"/>
              <a:buAutoNum type="arabicPeriod"/>
            </a:pPr>
            <a:r>
              <a:rPr lang="vi-VN" b="1" i="0" dirty="0">
                <a:solidFill>
                  <a:srgbClr val="404040"/>
                </a:solidFill>
                <a:effectLst/>
                <a:latin typeface="Inter"/>
              </a:rPr>
              <a:t>Lợi ích của EAI</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Tăng hiệu quả</a:t>
            </a:r>
            <a:r>
              <a:rPr lang="vi-VN" b="0" i="0" dirty="0">
                <a:solidFill>
                  <a:srgbClr val="404040"/>
                </a:solidFill>
                <a:effectLst/>
                <a:latin typeface="Inter"/>
              </a:rPr>
              <a:t>: Tự động hóa các quy trình kinh doanh, giảm thiểu sự can thiệp thủ công.</a:t>
            </a:r>
          </a:p>
          <a:p>
            <a:pPr marL="742950" lvl="1" indent="-285750" algn="l">
              <a:buFont typeface="+mj-lt"/>
              <a:buAutoNum type="arabicPeriod"/>
            </a:pPr>
            <a:r>
              <a:rPr lang="vi-VN" b="1" i="0" dirty="0">
                <a:solidFill>
                  <a:srgbClr val="404040"/>
                </a:solidFill>
                <a:effectLst/>
                <a:latin typeface="Inter"/>
              </a:rPr>
              <a:t>Cải thiện độ chính xác</a:t>
            </a:r>
            <a:r>
              <a:rPr lang="vi-VN" b="0" i="0" dirty="0">
                <a:solidFill>
                  <a:srgbClr val="404040"/>
                </a:solidFill>
                <a:effectLst/>
                <a:latin typeface="Inter"/>
              </a:rPr>
              <a:t>: Giảm thiểu lỗi do con người trong quá trình chuyển đổi dữ liệu.</a:t>
            </a:r>
          </a:p>
          <a:p>
            <a:pPr marL="742950" lvl="1" indent="-285750" algn="l">
              <a:buFont typeface="+mj-lt"/>
              <a:buAutoNum type="arabicPeriod"/>
            </a:pPr>
            <a:r>
              <a:rPr lang="vi-VN" b="1" i="0" dirty="0">
                <a:solidFill>
                  <a:srgbClr val="404040"/>
                </a:solidFill>
                <a:effectLst/>
                <a:latin typeface="Inter"/>
              </a:rPr>
              <a:t>Tăng tính linh hoạt</a:t>
            </a:r>
            <a:r>
              <a:rPr lang="vi-VN" b="0" i="0" dirty="0">
                <a:solidFill>
                  <a:srgbClr val="404040"/>
                </a:solidFill>
                <a:effectLst/>
                <a:latin typeface="Inter"/>
              </a:rPr>
              <a:t>: Dễ dàng thêm hoặc thay đổi các ứng dụng mà không ảnh hưởng đến toàn bộ hệ thống.</a:t>
            </a:r>
          </a:p>
          <a:p>
            <a:pPr algn="l">
              <a:buFont typeface="+mj-lt"/>
              <a:buAutoNum type="arabicPeriod"/>
            </a:pPr>
            <a:r>
              <a:rPr lang="vi-VN" b="1" i="0" dirty="0">
                <a:solidFill>
                  <a:srgbClr val="404040"/>
                </a:solidFill>
                <a:effectLst/>
                <a:latin typeface="Inter"/>
              </a:rPr>
              <a:t>Các công nghệ hỗ trợ EAI</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Middleware</a:t>
            </a:r>
            <a:r>
              <a:rPr lang="vi-VN" b="0" i="0" dirty="0">
                <a:solidFill>
                  <a:srgbClr val="404040"/>
                </a:solidFill>
                <a:effectLst/>
                <a:latin typeface="Inter"/>
              </a:rPr>
              <a:t>: Phần mềm trung gian giúp kết nối và quản lý giao tiếp giữa các ứng dụng.</a:t>
            </a:r>
          </a:p>
          <a:p>
            <a:pPr marL="742950" lvl="1" indent="-285750" algn="l">
              <a:buFont typeface="+mj-lt"/>
              <a:buAutoNum type="arabicPeriod"/>
            </a:pPr>
            <a:r>
              <a:rPr lang="vi-VN" b="1" i="0" dirty="0">
                <a:solidFill>
                  <a:srgbClr val="404040"/>
                </a:solidFill>
                <a:effectLst/>
                <a:latin typeface="Inter"/>
              </a:rPr>
              <a:t>API (Application Programming Interface)</a:t>
            </a:r>
            <a:r>
              <a:rPr lang="vi-VN" b="0" i="0" dirty="0">
                <a:solidFill>
                  <a:srgbClr val="404040"/>
                </a:solidFill>
                <a:effectLst/>
                <a:latin typeface="Inter"/>
              </a:rPr>
              <a:t>: Cung cấp các giao diện lập trình ứng dụng để các ứng dụng có thể giao tiếp với nhau.</a:t>
            </a:r>
          </a:p>
          <a:p>
            <a:pPr marL="742950" lvl="1" indent="-285750" algn="l">
              <a:buFont typeface="+mj-lt"/>
              <a:buAutoNum type="arabicPeriod"/>
            </a:pPr>
            <a:r>
              <a:rPr lang="vi-VN" b="1" i="0" dirty="0">
                <a:solidFill>
                  <a:srgbClr val="404040"/>
                </a:solidFill>
                <a:effectLst/>
                <a:latin typeface="Inter"/>
              </a:rPr>
              <a:t>ESB (Enterprise Service Bus)</a:t>
            </a:r>
            <a:r>
              <a:rPr lang="vi-VN" b="0" i="0" dirty="0">
                <a:solidFill>
                  <a:srgbClr val="404040"/>
                </a:solidFill>
                <a:effectLst/>
                <a:latin typeface="Inter"/>
              </a:rPr>
              <a:t>: Một kiến trúc phần mềm trung gian hỗ trợ tích hợp các ứng dụng thông qua các dịch vụ web.</a:t>
            </a:r>
          </a:p>
          <a:p>
            <a:pPr algn="l"/>
            <a:r>
              <a:rPr lang="vi-VN" b="1" i="0" dirty="0">
                <a:solidFill>
                  <a:srgbClr val="404040"/>
                </a:solidFill>
                <a:effectLst/>
                <a:latin typeface="Inter"/>
              </a:rPr>
              <a:t>Ví dụ minh họa</a:t>
            </a:r>
          </a:p>
          <a:p>
            <a:pPr algn="l"/>
            <a:r>
              <a:rPr lang="vi-VN" b="0" i="0" dirty="0">
                <a:solidFill>
                  <a:srgbClr val="404040"/>
                </a:solidFill>
                <a:effectLst/>
                <a:latin typeface="Inter"/>
              </a:rPr>
              <a:t>Giả sử một công ty có các ứng dụng sau:</a:t>
            </a:r>
          </a:p>
          <a:p>
            <a:pPr algn="l">
              <a:buFont typeface="Arial" panose="020B0604020202020204" pitchFamily="34" charset="0"/>
              <a:buChar char="•"/>
            </a:pPr>
            <a:r>
              <a:rPr lang="vi-VN" b="1" i="0" dirty="0">
                <a:solidFill>
                  <a:srgbClr val="404040"/>
                </a:solidFill>
                <a:effectLst/>
                <a:latin typeface="Inter"/>
              </a:rPr>
              <a:t>Ứng dụng quản lý đơn hàng (Order Management System - OMS)</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Inter"/>
              </a:rPr>
              <a:t>Ứng dụng quản lý kho (Inventory Management System - IMS)</a:t>
            </a:r>
            <a:r>
              <a:rPr lang="vi-VN" b="0" i="0" dirty="0">
                <a:solidFill>
                  <a:srgbClr val="404040"/>
                </a:solidFill>
                <a:effectLst/>
                <a:latin typeface="Inter"/>
              </a:rPr>
              <a:t>.</a:t>
            </a:r>
          </a:p>
          <a:p>
            <a:pPr algn="l">
              <a:buFont typeface="Arial" panose="020B0604020202020204" pitchFamily="34" charset="0"/>
              <a:buChar char="•"/>
            </a:pPr>
            <a:r>
              <a:rPr lang="vi-VN" b="1" i="0" dirty="0">
                <a:solidFill>
                  <a:srgbClr val="404040"/>
                </a:solidFill>
                <a:effectLst/>
                <a:latin typeface="Inter"/>
              </a:rPr>
              <a:t>Ứng dụng quản lý khách hàng (Customer Relationship Management - CRM)</a:t>
            </a:r>
            <a:r>
              <a:rPr lang="vi-VN" b="0" i="0" dirty="0">
                <a:solidFill>
                  <a:srgbClr val="404040"/>
                </a:solidFill>
                <a:effectLst/>
                <a:latin typeface="Inter"/>
              </a:rPr>
              <a:t>.</a:t>
            </a:r>
          </a:p>
          <a:p>
            <a:pPr algn="l"/>
            <a:r>
              <a:rPr lang="vi-VN" b="1" i="0" dirty="0">
                <a:solidFill>
                  <a:srgbClr val="404040"/>
                </a:solidFill>
                <a:effectLst/>
                <a:latin typeface="Inter"/>
              </a:rPr>
              <a:t>Tích hợp đơn giản</a:t>
            </a:r>
            <a:r>
              <a:rPr lang="vi-VN" b="0" i="0" dirty="0">
                <a:solidFill>
                  <a:srgbClr val="404040"/>
                </a:solidFill>
                <a:effectLst/>
                <a:latin typeface="Inter"/>
              </a:rPr>
              <a:t>:</a:t>
            </a:r>
          </a:p>
          <a:p>
            <a:pPr algn="l">
              <a:buFont typeface="Arial" panose="020B0604020202020204" pitchFamily="34" charset="0"/>
              <a:buChar char="•"/>
            </a:pPr>
            <a:r>
              <a:rPr lang="vi-VN" b="0" i="0" dirty="0">
                <a:solidFill>
                  <a:srgbClr val="404040"/>
                </a:solidFill>
                <a:effectLst/>
                <a:latin typeface="Inter"/>
              </a:rPr>
              <a:t>Máy khách kết hợp yêu cầu từ OMS và IMS, gửi yêu cầu đến các máy chủ tương ứng, thu thập phản hồi và trình bày kết quả cho người dùng.</a:t>
            </a:r>
          </a:p>
          <a:p>
            <a:pPr algn="l"/>
            <a:r>
              <a:rPr lang="vi-VN" b="1" i="0" dirty="0">
                <a:solidFill>
                  <a:srgbClr val="404040"/>
                </a:solidFill>
                <a:effectLst/>
                <a:latin typeface="Inter"/>
              </a:rPr>
              <a:t>Tích hợp ứng dụng doanh nghiệp (EAI)</a:t>
            </a:r>
            <a:r>
              <a:rPr lang="vi-VN" b="0" i="0" dirty="0">
                <a:solidFill>
                  <a:srgbClr val="404040"/>
                </a:solidFill>
                <a:effectLst/>
                <a:latin typeface="Inter"/>
              </a:rPr>
              <a:t>:</a:t>
            </a:r>
          </a:p>
          <a:p>
            <a:pPr algn="l">
              <a:buFont typeface="Arial" panose="020B0604020202020204" pitchFamily="34" charset="0"/>
              <a:buChar char="•"/>
            </a:pPr>
            <a:r>
              <a:rPr lang="vi-VN" b="0" i="0" dirty="0">
                <a:solidFill>
                  <a:srgbClr val="404040"/>
                </a:solidFill>
                <a:effectLst/>
                <a:latin typeface="Inter"/>
              </a:rPr>
              <a:t>OMS tự động gửi thông tin đơn hàng đến IMS để cập nhật kho.</a:t>
            </a:r>
          </a:p>
          <a:p>
            <a:pPr algn="l">
              <a:buFont typeface="Arial" panose="020B0604020202020204" pitchFamily="34" charset="0"/>
              <a:buChar char="•"/>
            </a:pPr>
            <a:r>
              <a:rPr lang="vi-VN" b="0" i="0" dirty="0">
                <a:solidFill>
                  <a:srgbClr val="404040"/>
                </a:solidFill>
                <a:effectLst/>
                <a:latin typeface="Inter"/>
              </a:rPr>
              <a:t>IMS tự động gửi thông báo đến CRM khi hàng tồn kho thấp.</a:t>
            </a:r>
          </a:p>
          <a:p>
            <a:pPr algn="l">
              <a:buFont typeface="Arial" panose="020B0604020202020204" pitchFamily="34" charset="0"/>
              <a:buChar char="•"/>
            </a:pPr>
            <a:r>
              <a:rPr lang="vi-VN" b="0" i="0" dirty="0">
                <a:solidFill>
                  <a:srgbClr val="404040"/>
                </a:solidFill>
                <a:effectLst/>
                <a:latin typeface="Inter"/>
              </a:rPr>
              <a:t>CRM tự động gửi thông báo đến khách hàng về tình trạng đơn hàng.</a:t>
            </a:r>
          </a:p>
          <a:p>
            <a:pPr algn="l"/>
            <a:r>
              <a:rPr lang="vi-VN" b="1" i="0" dirty="0">
                <a:solidFill>
                  <a:srgbClr val="404040"/>
                </a:solidFill>
                <a:effectLst/>
                <a:latin typeface="Inter"/>
              </a:rPr>
              <a:t>Kết luận</a:t>
            </a:r>
          </a:p>
          <a:p>
            <a:pPr algn="l"/>
            <a:r>
              <a:rPr lang="vi-VN" b="0" i="0" dirty="0">
                <a:solidFill>
                  <a:srgbClr val="404040"/>
                </a:solidFill>
                <a:effectLst/>
                <a:latin typeface="Inter"/>
              </a:rPr>
              <a:t>Việc tích hợp các ứng dụng mạng là một yếu tố quan trọng để đạt được khả năng tương tác và hiệu quả trong các tổ chức. Bằng cách bắt đầu với tích hợp đơn giản và tiến tới tích hợp ứng dụng doanh nghiệp (EAI), các tổ chức có thể tự động hóa các quy trình kinh doanh, cải thiện độ chính xác và tăng tính linh hoạt của hệ thống. Các công nghệ như middleware, API và ESB đóng vai trò quan trọng trong việc hỗ trợ tích hợp ứng dụng một cách hiệu quả.</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63</a:t>
            </a:fld>
            <a:endParaRPr lang="en-US"/>
          </a:p>
        </p:txBody>
      </p:sp>
    </p:spTree>
    <p:extLst>
      <p:ext uri="{BB962C8B-B14F-4D97-AF65-F5344CB8AC3E}">
        <p14:creationId xmlns:p14="http://schemas.microsoft.com/office/powerpoint/2010/main" val="22314545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Hình ảnh minh họa</a:t>
            </a:r>
          </a:p>
          <a:p>
            <a:pPr algn="l"/>
            <a:r>
              <a:rPr lang="vi-VN" b="0" i="0" dirty="0">
                <a:solidFill>
                  <a:srgbClr val="404040"/>
                </a:solidFill>
                <a:effectLst/>
                <a:latin typeface="Inter"/>
              </a:rPr>
              <a:t>Hình ảnh mô tả cấu trúc của một hệ thống sử dụng middleware để tích hợp các ứng dụng:</a:t>
            </a:r>
          </a:p>
          <a:p>
            <a:pPr algn="l">
              <a:buFont typeface="Arial" panose="020B0604020202020204" pitchFamily="34" charset="0"/>
              <a:buChar char="•"/>
            </a:pPr>
            <a:r>
              <a:rPr lang="vi-VN" b="1" i="0" dirty="0">
                <a:solidFill>
                  <a:srgbClr val="404040"/>
                </a:solidFill>
                <a:effectLst/>
                <a:latin typeface="Inter"/>
              </a:rPr>
              <a:t>Máy khách (Client)</a:t>
            </a:r>
            <a:r>
              <a:rPr lang="vi-VN" b="0" i="0" dirty="0">
                <a:solidFill>
                  <a:srgbClr val="404040"/>
                </a:solidFill>
                <a:effectLst/>
                <a:latin typeface="Inter"/>
              </a:rPr>
              <a:t>: Các ứng dụng máy khách gửi yêu cầu và nhận phản hồi thông qua middleware.</a:t>
            </a:r>
          </a:p>
          <a:p>
            <a:pPr algn="l">
              <a:buFont typeface="Arial" panose="020B0604020202020204" pitchFamily="34" charset="0"/>
              <a:buChar char="•"/>
            </a:pPr>
            <a:r>
              <a:rPr lang="vi-VN" b="1" i="0" dirty="0">
                <a:solidFill>
                  <a:srgbClr val="404040"/>
                </a:solidFill>
                <a:effectLst/>
                <a:latin typeface="Inter"/>
              </a:rPr>
              <a:t>Middleware</a:t>
            </a:r>
            <a:r>
              <a:rPr lang="vi-VN" b="0" i="0" dirty="0">
                <a:solidFill>
                  <a:srgbClr val="404040"/>
                </a:solidFill>
                <a:effectLst/>
                <a:latin typeface="Inter"/>
              </a:rPr>
              <a:t>: Cung cấp các phương tiện truyền thông như RPC và MOM để kết nối các ứng dụng máy khách và máy chủ.</a:t>
            </a:r>
          </a:p>
          <a:p>
            <a:pPr algn="l">
              <a:buFont typeface="Arial" panose="020B0604020202020204" pitchFamily="34" charset="0"/>
              <a:buChar char="•"/>
            </a:pPr>
            <a:r>
              <a:rPr lang="vi-VN" b="1" i="0" dirty="0">
                <a:solidFill>
                  <a:srgbClr val="404040"/>
                </a:solidFill>
                <a:effectLst/>
                <a:latin typeface="Inter"/>
              </a:rPr>
              <a:t>Máy chủ (Server-side)</a:t>
            </a:r>
            <a:r>
              <a:rPr lang="vi-VN" b="0" i="0" dirty="0">
                <a:solidFill>
                  <a:srgbClr val="404040"/>
                </a:solidFill>
                <a:effectLst/>
                <a:latin typeface="Inter"/>
              </a:rPr>
              <a:t>: Các ứng dụng máy chủ xử lý yêu cầu và gửi phản hồi lại cho máy khách thông qua middleware.</a:t>
            </a:r>
            <a:endParaRPr lang="en-US" b="0" i="0" dirty="0">
              <a:solidFill>
                <a:srgbClr val="404040"/>
              </a:solidFill>
              <a:effectLst/>
              <a:latin typeface="Inter"/>
            </a:endParaRPr>
          </a:p>
          <a:p>
            <a:pPr algn="l">
              <a:buFont typeface="Arial" panose="020B0604020202020204" pitchFamily="34" charset="0"/>
              <a:buNone/>
            </a:pPr>
            <a:endParaRPr lang="vi-VN" b="0" i="0" dirty="0">
              <a:solidFill>
                <a:srgbClr val="404040"/>
              </a:solidFill>
              <a:effectLst/>
              <a:latin typeface="Inter"/>
            </a:endParaRPr>
          </a:p>
          <a:p>
            <a:pPr algn="l"/>
            <a:r>
              <a:rPr lang="vi-VN" b="1" i="0" dirty="0">
                <a:solidFill>
                  <a:srgbClr val="404040"/>
                </a:solidFill>
                <a:effectLst/>
                <a:latin typeface="Inter"/>
              </a:rPr>
              <a:t>Middleware cung cấp các phương tiện truyền thông để tích hợp</a:t>
            </a:r>
          </a:p>
          <a:p>
            <a:pPr algn="l"/>
            <a:r>
              <a:rPr lang="vi-VN" b="0" i="0" dirty="0">
                <a:solidFill>
                  <a:srgbClr val="404040"/>
                </a:solidFill>
                <a:effectLst/>
                <a:latin typeface="Inter"/>
              </a:rPr>
              <a:t>Middleware đóng vai trò quan trọng trong việc tích hợp các ứng dụng bằng cách cung cấp các phương tiện truyền thông giữa các ứng dụng khác nhau. Dưới đây là hai phương pháp phổ biến mà middleware sử dụng để hỗ trợ tích hợp ứng dụng:</a:t>
            </a:r>
          </a:p>
          <a:p>
            <a:pPr algn="l"/>
            <a:r>
              <a:rPr lang="vi-VN" b="1" i="0" dirty="0">
                <a:solidFill>
                  <a:srgbClr val="404040"/>
                </a:solidFill>
                <a:effectLst/>
                <a:latin typeface="Inter"/>
              </a:rPr>
              <a:t>1. Gọi thủ tục từ xa (Remote Procedure Call - RPC)</a:t>
            </a:r>
          </a:p>
          <a:p>
            <a:pPr algn="l">
              <a:buFont typeface="Arial" panose="020B0604020202020204" pitchFamily="34" charset="0"/>
              <a:buChar char="•"/>
            </a:pPr>
            <a:r>
              <a:rPr lang="vi-VN" b="1" i="0" dirty="0">
                <a:solidFill>
                  <a:srgbClr val="404040"/>
                </a:solidFill>
                <a:effectLst/>
                <a:latin typeface="Inter"/>
              </a:rPr>
              <a:t>Khái niệm</a:t>
            </a:r>
            <a:r>
              <a:rPr lang="vi-VN" b="0" i="0" dirty="0">
                <a:solidFill>
                  <a:srgbClr val="404040"/>
                </a:solidFill>
                <a:effectLst/>
                <a:latin typeface="Inter"/>
              </a:rPr>
              <a:t>: RPC cho phép một ứng dụng gọi một thủ tục (procedure) trên một ứng dụng khác chạy trên một máy chủ từ xa như thể nó là một thủ tục cục bộ.</a:t>
            </a:r>
          </a:p>
          <a:p>
            <a:pPr algn="l">
              <a:buFont typeface="Arial" panose="020B0604020202020204" pitchFamily="34" charset="0"/>
              <a:buChar char="•"/>
            </a:pPr>
            <a:r>
              <a:rPr lang="vi-VN" b="1" i="0" dirty="0">
                <a:solidFill>
                  <a:srgbClr val="404040"/>
                </a:solidFill>
                <a:effectLst/>
                <a:latin typeface="Inter"/>
              </a:rPr>
              <a:t>Quy trình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Gửi yêu cầu</a:t>
            </a:r>
            <a:r>
              <a:rPr lang="vi-VN" b="0" i="0" dirty="0">
                <a:solidFill>
                  <a:srgbClr val="404040"/>
                </a:solidFill>
                <a:effectLst/>
                <a:latin typeface="Inter"/>
              </a:rPr>
              <a:t>: Yêu cầu được gửi thông qua một lệnh gọi thủ tục cục bộ.</a:t>
            </a:r>
          </a:p>
          <a:p>
            <a:pPr marL="742950" lvl="1" indent="-285750" algn="l">
              <a:buFont typeface="Arial" panose="020B0604020202020204" pitchFamily="34" charset="0"/>
              <a:buChar char="•"/>
            </a:pPr>
            <a:r>
              <a:rPr lang="vi-VN" b="1" i="0" dirty="0">
                <a:solidFill>
                  <a:srgbClr val="404040"/>
                </a:solidFill>
                <a:effectLst/>
                <a:latin typeface="Inter"/>
              </a:rPr>
              <a:t>Đóng gói thông điệp</a:t>
            </a:r>
            <a:r>
              <a:rPr lang="vi-VN" b="0" i="0" dirty="0">
                <a:solidFill>
                  <a:srgbClr val="404040"/>
                </a:solidFill>
                <a:effectLst/>
                <a:latin typeface="Inter"/>
              </a:rPr>
              <a:t>: Yêu cầu được đóng gói thành một thông điệp và gửi đến máy chủ từ xa.</a:t>
            </a:r>
          </a:p>
          <a:p>
            <a:pPr marL="742950" lvl="1" indent="-285750" algn="l">
              <a:buFont typeface="Arial" panose="020B0604020202020204" pitchFamily="34" charset="0"/>
              <a:buChar char="•"/>
            </a:pPr>
            <a:r>
              <a:rPr lang="vi-VN" b="1" i="0" dirty="0">
                <a:solidFill>
                  <a:srgbClr val="404040"/>
                </a:solidFill>
                <a:effectLst/>
                <a:latin typeface="Inter"/>
              </a:rPr>
              <a:t>Xử lý yêu cầu</a:t>
            </a:r>
            <a:r>
              <a:rPr lang="vi-VN" b="0" i="0" dirty="0">
                <a:solidFill>
                  <a:srgbClr val="404040"/>
                </a:solidFill>
                <a:effectLst/>
                <a:latin typeface="Inter"/>
              </a:rPr>
              <a:t>: Máy chủ từ xa nhận thông điệp, giải mã và thực hiện thủ tục tương ứng.</a:t>
            </a:r>
          </a:p>
          <a:p>
            <a:pPr marL="742950" lvl="1" indent="-285750" algn="l">
              <a:buFont typeface="Arial" panose="020B0604020202020204" pitchFamily="34" charset="0"/>
              <a:buChar char="•"/>
            </a:pPr>
            <a:r>
              <a:rPr lang="vi-VN" b="1" i="0" dirty="0">
                <a:solidFill>
                  <a:srgbClr val="404040"/>
                </a:solidFill>
                <a:effectLst/>
                <a:latin typeface="Inter"/>
              </a:rPr>
              <a:t>Phản hồi</a:t>
            </a:r>
            <a:r>
              <a:rPr lang="vi-VN" b="0" i="0" dirty="0">
                <a:solidFill>
                  <a:srgbClr val="404040"/>
                </a:solidFill>
                <a:effectLst/>
                <a:latin typeface="Inter"/>
              </a:rPr>
              <a:t>: Kết quả được đóng gói thành một thông điệp và gửi trở lại máy khách.</a:t>
            </a:r>
          </a:p>
          <a:p>
            <a:pPr marL="742950" lvl="1" indent="-285750" algn="l">
              <a:buFont typeface="Arial" panose="020B0604020202020204" pitchFamily="34" charset="0"/>
              <a:buChar char="•"/>
            </a:pPr>
            <a:r>
              <a:rPr lang="vi-VN" b="1" i="0" dirty="0">
                <a:solidFill>
                  <a:srgbClr val="404040"/>
                </a:solidFill>
                <a:effectLst/>
                <a:latin typeface="Inter"/>
              </a:rPr>
              <a:t>Trả về kết quả</a:t>
            </a:r>
            <a:r>
              <a:rPr lang="vi-VN" b="0" i="0" dirty="0">
                <a:solidFill>
                  <a:srgbClr val="404040"/>
                </a:solidFill>
                <a:effectLst/>
                <a:latin typeface="Inter"/>
              </a:rPr>
              <a:t>: Máy khách nhận thông điệp phản hồi và trả về kết quả như là giá trị trả về của lệnh gọi thủ tục.</a:t>
            </a:r>
          </a:p>
          <a:p>
            <a:pPr algn="l">
              <a:buFont typeface="Arial" panose="020B0604020202020204" pitchFamily="34" charset="0"/>
              <a:buChar char="•"/>
            </a:pPr>
            <a:r>
              <a:rPr lang="vi-VN" b="1" i="0" dirty="0">
                <a:solidFill>
                  <a:srgbClr val="404040"/>
                </a:solidFill>
                <a:effectLst/>
                <a:latin typeface="Inter"/>
              </a:rPr>
              <a:t>Ưu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Đơn giản hóa việc giao tiếp giữa các ứng dụng bằng cách sử dụng cú pháp tương tự như lệnh gọi thủ tục cục bộ.</a:t>
            </a:r>
          </a:p>
          <a:p>
            <a:pPr marL="742950" lvl="1" indent="-285750" algn="l">
              <a:buFont typeface="Arial" panose="020B0604020202020204" pitchFamily="34" charset="0"/>
              <a:buChar char="•"/>
            </a:pPr>
            <a:r>
              <a:rPr lang="vi-VN" b="0" i="0" dirty="0">
                <a:solidFill>
                  <a:srgbClr val="404040"/>
                </a:solidFill>
                <a:effectLst/>
                <a:latin typeface="Inter"/>
              </a:rPr>
              <a:t>Hiệu quả trong các hệ thống yêu cầu phản hồi nhanh chóng.</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Một ứng dụng máy khách gọi một hàm tính toán trên máy chủ từ xa và nhận kết quả trả về.</a:t>
            </a:r>
          </a:p>
          <a:p>
            <a:pPr algn="l"/>
            <a:r>
              <a:rPr lang="vi-VN" b="1" i="0" dirty="0">
                <a:solidFill>
                  <a:srgbClr val="404040"/>
                </a:solidFill>
                <a:effectLst/>
                <a:latin typeface="Inter"/>
              </a:rPr>
              <a:t>2. Middleware hướng thông điệp (Message-Oriented Middleware - MOM)</a:t>
            </a:r>
          </a:p>
          <a:p>
            <a:pPr algn="l">
              <a:buFont typeface="Arial" panose="020B0604020202020204" pitchFamily="34" charset="0"/>
              <a:buChar char="•"/>
            </a:pPr>
            <a:r>
              <a:rPr lang="vi-VN" b="1" i="0" dirty="0">
                <a:solidFill>
                  <a:srgbClr val="404040"/>
                </a:solidFill>
                <a:effectLst/>
                <a:latin typeface="Inter"/>
              </a:rPr>
              <a:t>Khái niệm</a:t>
            </a:r>
            <a:r>
              <a:rPr lang="vi-VN" b="0" i="0" dirty="0">
                <a:solidFill>
                  <a:srgbClr val="404040"/>
                </a:solidFill>
                <a:effectLst/>
                <a:latin typeface="Inter"/>
              </a:rPr>
              <a:t>: MOM cho phép các ứng dụng giao tiếp thông qua việc gửi và nhận thông điệp (messages) thông qua một điểm tiếp xúc logic (logical contact point).</a:t>
            </a:r>
          </a:p>
          <a:p>
            <a:pPr algn="l">
              <a:buFont typeface="Arial" panose="020B0604020202020204" pitchFamily="34" charset="0"/>
              <a:buChar char="•"/>
            </a:pPr>
            <a:r>
              <a:rPr lang="vi-VN" b="1" i="0" dirty="0">
                <a:solidFill>
                  <a:srgbClr val="404040"/>
                </a:solidFill>
                <a:effectLst/>
                <a:latin typeface="Inter"/>
              </a:rPr>
              <a:t>Quy trình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Gửi thông điệp</a:t>
            </a:r>
            <a:r>
              <a:rPr lang="vi-VN" b="0" i="0" dirty="0">
                <a:solidFill>
                  <a:srgbClr val="404040"/>
                </a:solidFill>
                <a:effectLst/>
                <a:latin typeface="Inter"/>
              </a:rPr>
              <a:t>: Một ứng dụng gửi thông điệp đến một điểm tiếp xúc logic (ví dụ: một hàng đợi hoặc chủ đề).</a:t>
            </a:r>
          </a:p>
          <a:p>
            <a:pPr marL="742950" lvl="1" indent="-285750" algn="l">
              <a:buFont typeface="Arial" panose="020B0604020202020204" pitchFamily="34" charset="0"/>
              <a:buChar char="•"/>
            </a:pPr>
            <a:r>
              <a:rPr lang="vi-VN" b="1" i="0" dirty="0">
                <a:solidFill>
                  <a:srgbClr val="404040"/>
                </a:solidFill>
                <a:effectLst/>
                <a:latin typeface="Inter"/>
              </a:rPr>
              <a:t>Đăng ký và chuyển tiếp</a:t>
            </a:r>
            <a:r>
              <a:rPr lang="vi-VN" b="0" i="0" dirty="0">
                <a:solidFill>
                  <a:srgbClr val="404040"/>
                </a:solidFill>
                <a:effectLst/>
                <a:latin typeface="Inter"/>
              </a:rPr>
              <a:t>: Các ứng dụng khác đăng ký (subscribe) để nhận thông điệp từ điểm tiếp xúc này. Thông điệp được chuyển tiếp đến các ứng dụng đã đăng ký.</a:t>
            </a:r>
          </a:p>
          <a:p>
            <a:pPr marL="742950" lvl="1" indent="-285750" algn="l">
              <a:buFont typeface="Arial" panose="020B0604020202020204" pitchFamily="34" charset="0"/>
              <a:buChar char="•"/>
            </a:pPr>
            <a:r>
              <a:rPr lang="vi-VN" b="1" i="0" dirty="0">
                <a:solidFill>
                  <a:srgbClr val="404040"/>
                </a:solidFill>
                <a:effectLst/>
                <a:latin typeface="Inter"/>
              </a:rPr>
              <a:t>Xử lý thông điệp</a:t>
            </a:r>
            <a:r>
              <a:rPr lang="vi-VN" b="0" i="0" dirty="0">
                <a:solidFill>
                  <a:srgbClr val="404040"/>
                </a:solidFill>
                <a:effectLst/>
                <a:latin typeface="Inter"/>
              </a:rPr>
              <a:t>: Các ứng dụng nhận thông điệp và xử lý chúng một cách độc lập.</a:t>
            </a:r>
          </a:p>
          <a:p>
            <a:pPr algn="l">
              <a:buFont typeface="Arial" panose="020B0604020202020204" pitchFamily="34" charset="0"/>
              <a:buChar char="•"/>
            </a:pPr>
            <a:r>
              <a:rPr lang="vi-VN" b="1" i="0" dirty="0">
                <a:solidFill>
                  <a:srgbClr val="404040"/>
                </a:solidFill>
                <a:effectLst/>
                <a:latin typeface="Inter"/>
              </a:rPr>
              <a:t>Ưu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Hỗ trợ giao tiếp không đồng bộ, cho phép các ứng dụng hoạt động độc lập và không cần phải chờ đợi phản hồi ngay lập tức.</a:t>
            </a:r>
          </a:p>
          <a:p>
            <a:pPr marL="742950" lvl="1" indent="-285750" algn="l">
              <a:buFont typeface="Arial" panose="020B0604020202020204" pitchFamily="34" charset="0"/>
              <a:buChar char="•"/>
            </a:pPr>
            <a:r>
              <a:rPr lang="vi-VN" b="0" i="0" dirty="0">
                <a:solidFill>
                  <a:srgbClr val="404040"/>
                </a:solidFill>
                <a:effectLst/>
                <a:latin typeface="Inter"/>
              </a:rPr>
              <a:t>Linh hoạt và có khả năng mở rộng cao, phù hợp với các hệ thống phân tán phức tạp.</a:t>
            </a:r>
          </a:p>
          <a:p>
            <a:pPr algn="l">
              <a:buFont typeface="Arial" panose="020B0604020202020204" pitchFamily="34" charset="0"/>
              <a:buChar char="•"/>
            </a:pPr>
            <a:r>
              <a:rPr lang="vi-VN" b="1" i="0" dirty="0">
                <a:solidFill>
                  <a:srgbClr val="404040"/>
                </a:solidFill>
                <a:effectLst/>
                <a:latin typeface="Inter"/>
              </a:rPr>
              <a:t>Ví dụ</a:t>
            </a:r>
            <a:r>
              <a:rPr lang="vi-VN" b="0" i="0" dirty="0">
                <a:solidFill>
                  <a:srgbClr val="404040"/>
                </a:solidFill>
                <a:effectLst/>
                <a:latin typeface="Inter"/>
              </a:rPr>
              <a:t>: Một ứng dụng gửi thông điệp đặt hàng đến một hàng đợi, và các ứng dụng quản lý kho và thanh toán đăng ký để nhận và xử lý thông điệp này.</a:t>
            </a:r>
          </a:p>
          <a:p>
            <a:pPr algn="l"/>
            <a:r>
              <a:rPr lang="vi-VN" b="1" i="0" dirty="0">
                <a:solidFill>
                  <a:srgbClr val="404040"/>
                </a:solidFill>
                <a:effectLst/>
                <a:latin typeface="Inter"/>
              </a:rPr>
              <a:t>Kết luận</a:t>
            </a:r>
          </a:p>
          <a:p>
            <a:pPr algn="l"/>
            <a:r>
              <a:rPr lang="vi-VN" b="0" i="0" dirty="0">
                <a:solidFill>
                  <a:srgbClr val="404040"/>
                </a:solidFill>
                <a:effectLst/>
                <a:latin typeface="Inter"/>
              </a:rPr>
              <a:t>Middleware đóng vai trò quan trọng trong việc tích hợp các ứng dụng bằng cách cung cấp các phương tiện truyền thông hiệu quả như RPC và MOM. RPC đơn giản hóa việc giao tiếp giữa các ứng dụng bằng cách sử dụng cú pháp tương tự như lệnh gọi thủ tục cục bộ, trong khi MOM hỗ trợ giao tiếp không đồng bộ thông qua việc gửi và nhận thông điệp. Cả hai phương pháp này đều giúp cải thiện khả năng tương tác và hiệu quả của các hệ thống phân tán.</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66</a:t>
            </a:fld>
            <a:endParaRPr lang="en-US"/>
          </a:p>
        </p:txBody>
      </p:sp>
    </p:spTree>
    <p:extLst>
      <p:ext uri="{BB962C8B-B14F-4D97-AF65-F5344CB8AC3E}">
        <p14:creationId xmlns:p14="http://schemas.microsoft.com/office/powerpoint/2010/main" val="41105351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Cách tích hợp các ứng dụng</a:t>
            </a:r>
          </a:p>
          <a:p>
            <a:pPr algn="l"/>
            <a:r>
              <a:rPr lang="vi-VN" b="0" i="0" dirty="0">
                <a:solidFill>
                  <a:srgbClr val="404040"/>
                </a:solidFill>
                <a:effectLst/>
                <a:latin typeface="Inter"/>
              </a:rPr>
              <a:t>Tích hợp các ứng dụng là một quá trình quan trọng để đảm bảo các hệ thống khác nhau có thể làm việc cùng nhau một cách hiệu quả. Dưới đây là các phương pháp tích hợp ứng dụng phổ biến, mỗi phương pháp có ưu điểm và nhược điểm riêng:</a:t>
            </a:r>
          </a:p>
          <a:p>
            <a:pPr algn="l"/>
            <a:r>
              <a:rPr lang="vi-VN" b="1" i="0" dirty="0">
                <a:solidFill>
                  <a:srgbClr val="404040"/>
                </a:solidFill>
                <a:effectLst/>
                <a:latin typeface="Inter"/>
              </a:rPr>
              <a:t>1. Chuyển tệp (File Transfer)</a:t>
            </a:r>
          </a:p>
          <a:p>
            <a:pPr algn="l">
              <a:buFont typeface="Arial" panose="020B0604020202020204" pitchFamily="34" charset="0"/>
              <a:buChar char="•"/>
            </a:pPr>
            <a:r>
              <a:rPr lang="vi-VN" b="1" i="0" dirty="0">
                <a:solidFill>
                  <a:srgbClr val="404040"/>
                </a:solidFill>
                <a:effectLst/>
                <a:latin typeface="Inter"/>
              </a:rPr>
              <a:t>Khái niệm</a:t>
            </a:r>
            <a:r>
              <a:rPr lang="vi-VN" b="0" i="0" dirty="0">
                <a:solidFill>
                  <a:srgbClr val="404040"/>
                </a:solidFill>
                <a:effectLst/>
                <a:latin typeface="Inter"/>
              </a:rPr>
              <a:t>: Các ứng dụng trao đổi dữ liệu thông qua việc chuyển tệp.</a:t>
            </a:r>
          </a:p>
          <a:p>
            <a:pPr algn="l">
              <a:buFont typeface="Arial" panose="020B0604020202020204" pitchFamily="34" charset="0"/>
              <a:buChar char="•"/>
            </a:pPr>
            <a:r>
              <a:rPr lang="vi-VN" b="1" i="0" dirty="0">
                <a:solidFill>
                  <a:srgbClr val="404040"/>
                </a:solidFill>
                <a:effectLst/>
                <a:latin typeface="Inter"/>
              </a:rPr>
              <a:t>Quy trình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Xác định định dạng và bố cục tệp</a:t>
            </a:r>
            <a:r>
              <a:rPr lang="vi-VN" b="0" i="0" dirty="0">
                <a:solidFill>
                  <a:srgbClr val="404040"/>
                </a:solidFill>
                <a:effectLst/>
                <a:latin typeface="Inter"/>
              </a:rPr>
              <a:t>: Các ứng dụng cần thống nhất về định dạng và cấu trúc của tệp dữ liệu.</a:t>
            </a:r>
          </a:p>
          <a:p>
            <a:pPr marL="742950" lvl="1" indent="-285750" algn="l">
              <a:buFont typeface="Arial" panose="020B0604020202020204" pitchFamily="34" charset="0"/>
              <a:buChar char="•"/>
            </a:pPr>
            <a:r>
              <a:rPr lang="vi-VN" b="1" i="0" dirty="0">
                <a:solidFill>
                  <a:srgbClr val="404040"/>
                </a:solidFill>
                <a:effectLst/>
                <a:latin typeface="Inter"/>
              </a:rPr>
              <a:t>Quản lý tệp</a:t>
            </a:r>
            <a:r>
              <a:rPr lang="vi-VN" b="0" i="0" dirty="0">
                <a:solidFill>
                  <a:srgbClr val="404040"/>
                </a:solidFill>
                <a:effectLst/>
                <a:latin typeface="Inter"/>
              </a:rPr>
              <a:t>: Cần có cơ chế quản lý việc tạo, đọc, ghi và xóa tệp.</a:t>
            </a:r>
          </a:p>
          <a:p>
            <a:pPr marL="742950" lvl="1" indent="-285750" algn="l">
              <a:buFont typeface="Arial" panose="020B0604020202020204" pitchFamily="34" charset="0"/>
              <a:buChar char="•"/>
            </a:pPr>
            <a:r>
              <a:rPr lang="vi-VN" b="1" i="0" dirty="0">
                <a:solidFill>
                  <a:srgbClr val="404040"/>
                </a:solidFill>
                <a:effectLst/>
                <a:latin typeface="Inter"/>
              </a:rPr>
              <a:t>Cập nhật và thông báo</a:t>
            </a:r>
            <a:r>
              <a:rPr lang="vi-VN" b="0" i="0" dirty="0">
                <a:solidFill>
                  <a:srgbClr val="404040"/>
                </a:solidFill>
                <a:effectLst/>
                <a:latin typeface="Inter"/>
              </a:rPr>
              <a:t>: Cần có cơ chế để cập nhật dữ liệu và thông báo khi có thay đổi.</a:t>
            </a:r>
          </a:p>
          <a:p>
            <a:pPr algn="l">
              <a:buFont typeface="Arial" panose="020B0604020202020204" pitchFamily="34" charset="0"/>
              <a:buChar char="•"/>
            </a:pPr>
            <a:r>
              <a:rPr lang="vi-VN" b="1" i="0" dirty="0">
                <a:solidFill>
                  <a:srgbClr val="404040"/>
                </a:solidFill>
                <a:effectLst/>
                <a:latin typeface="Inter"/>
              </a:rPr>
              <a:t>Ưu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Đơn giản về mặt kỹ thuật.</a:t>
            </a:r>
          </a:p>
          <a:p>
            <a:pPr marL="742950" lvl="1" indent="-285750" algn="l">
              <a:buFont typeface="Arial" panose="020B0604020202020204" pitchFamily="34" charset="0"/>
              <a:buChar char="•"/>
            </a:pPr>
            <a:r>
              <a:rPr lang="vi-VN" b="0" i="0" dirty="0">
                <a:solidFill>
                  <a:srgbClr val="404040"/>
                </a:solidFill>
                <a:effectLst/>
                <a:latin typeface="Inter"/>
              </a:rPr>
              <a:t>Phù hợp với các hệ thống không yêu cầu tương tác thời gian thực.</a:t>
            </a:r>
          </a:p>
          <a:p>
            <a:pPr algn="l">
              <a:buFont typeface="Arial" panose="020B0604020202020204" pitchFamily="34" charset="0"/>
              <a:buChar char="•"/>
            </a:pPr>
            <a:r>
              <a:rPr lang="vi-VN" b="1" i="0" dirty="0">
                <a:solidFill>
                  <a:srgbClr val="404040"/>
                </a:solidFill>
                <a:effectLst/>
                <a:latin typeface="Inter"/>
              </a:rPr>
              <a:t>Nhược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Kém linh hoạt, khó thích ứng với các thay đổi.</a:t>
            </a:r>
          </a:p>
          <a:p>
            <a:pPr marL="742950" lvl="1" indent="-285750" algn="l">
              <a:buFont typeface="Arial" panose="020B0604020202020204" pitchFamily="34" charset="0"/>
              <a:buChar char="•"/>
            </a:pPr>
            <a:r>
              <a:rPr lang="vi-VN" b="0" i="0" dirty="0">
                <a:solidFill>
                  <a:srgbClr val="404040"/>
                </a:solidFill>
                <a:effectLst/>
                <a:latin typeface="Inter"/>
              </a:rPr>
              <a:t>Khó quản lý việc cập nhật và đồng bộ hóa dữ liệu.</a:t>
            </a:r>
          </a:p>
          <a:p>
            <a:pPr algn="l"/>
            <a:r>
              <a:rPr lang="vi-VN" b="1" i="0" dirty="0">
                <a:solidFill>
                  <a:srgbClr val="404040"/>
                </a:solidFill>
                <a:effectLst/>
                <a:latin typeface="Inter"/>
              </a:rPr>
              <a:t>2. Cơ sở dữ liệu chia sẻ (Shared Database)</a:t>
            </a:r>
          </a:p>
          <a:p>
            <a:pPr algn="l">
              <a:buFont typeface="Arial" panose="020B0604020202020204" pitchFamily="34" charset="0"/>
              <a:buChar char="•"/>
            </a:pPr>
            <a:r>
              <a:rPr lang="vi-VN" b="1" i="0" dirty="0">
                <a:solidFill>
                  <a:srgbClr val="404040"/>
                </a:solidFill>
                <a:effectLst/>
                <a:latin typeface="Inter"/>
              </a:rPr>
              <a:t>Khái niệm</a:t>
            </a:r>
            <a:r>
              <a:rPr lang="vi-VN" b="0" i="0" dirty="0">
                <a:solidFill>
                  <a:srgbClr val="404040"/>
                </a:solidFill>
                <a:effectLst/>
                <a:latin typeface="Inter"/>
              </a:rPr>
              <a:t>: Các ứng dụng chia sẻ một cơ sở dữ liệu chung để truy cập và cập nhật dữ liệu.</a:t>
            </a:r>
          </a:p>
          <a:p>
            <a:pPr algn="l">
              <a:buFont typeface="Arial" panose="020B0604020202020204" pitchFamily="34" charset="0"/>
              <a:buChar char="•"/>
            </a:pPr>
            <a:r>
              <a:rPr lang="vi-VN" b="1" i="0" dirty="0">
                <a:solidFill>
                  <a:srgbClr val="404040"/>
                </a:solidFill>
                <a:effectLst/>
                <a:latin typeface="Inter"/>
              </a:rPr>
              <a:t>Quy trình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Thiết kế lược đồ dữ liệu chung</a:t>
            </a:r>
            <a:r>
              <a:rPr lang="vi-VN" b="0" i="0" dirty="0">
                <a:solidFill>
                  <a:srgbClr val="404040"/>
                </a:solidFill>
                <a:effectLst/>
                <a:latin typeface="Inter"/>
              </a:rPr>
              <a:t>: Các ứng dụng cần thống nhất về cấu trúc dữ liệu.</a:t>
            </a:r>
          </a:p>
          <a:p>
            <a:pPr marL="742950" lvl="1" indent="-285750" algn="l">
              <a:buFont typeface="Arial" panose="020B0604020202020204" pitchFamily="34" charset="0"/>
              <a:buChar char="•"/>
            </a:pPr>
            <a:r>
              <a:rPr lang="vi-VN" b="1" i="0" dirty="0">
                <a:solidFill>
                  <a:srgbClr val="404040"/>
                </a:solidFill>
                <a:effectLst/>
                <a:latin typeface="Inter"/>
              </a:rPr>
              <a:t>Truy cập và cập nhật dữ liệu</a:t>
            </a:r>
            <a:r>
              <a:rPr lang="vi-VN" b="0" i="0" dirty="0">
                <a:solidFill>
                  <a:srgbClr val="404040"/>
                </a:solidFill>
                <a:effectLst/>
                <a:latin typeface="Inter"/>
              </a:rPr>
              <a:t>: Các ứng dụng có thể đọc và ghi dữ liệu trực tiếp vào cơ sở dữ liệu chung.</a:t>
            </a:r>
          </a:p>
          <a:p>
            <a:pPr algn="l">
              <a:buFont typeface="Arial" panose="020B0604020202020204" pitchFamily="34" charset="0"/>
              <a:buChar char="•"/>
            </a:pPr>
            <a:r>
              <a:rPr lang="vi-VN" b="1" i="0" dirty="0">
                <a:solidFill>
                  <a:srgbClr val="404040"/>
                </a:solidFill>
                <a:effectLst/>
                <a:latin typeface="Inter"/>
              </a:rPr>
              <a:t>Ưu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Linh hoạt hơn so với chuyển tệp.</a:t>
            </a:r>
          </a:p>
          <a:p>
            <a:pPr marL="742950" lvl="1" indent="-285750" algn="l">
              <a:buFont typeface="Arial" panose="020B0604020202020204" pitchFamily="34" charset="0"/>
              <a:buChar char="•"/>
            </a:pPr>
            <a:r>
              <a:rPr lang="vi-VN" b="0" i="0" dirty="0">
                <a:solidFill>
                  <a:srgbClr val="404040"/>
                </a:solidFill>
                <a:effectLst/>
                <a:latin typeface="Inter"/>
              </a:rPr>
              <a:t>Dễ dàng truy cập và cập nhật dữ liệu.</a:t>
            </a:r>
          </a:p>
          <a:p>
            <a:pPr algn="l">
              <a:buFont typeface="Arial" panose="020B0604020202020204" pitchFamily="34" charset="0"/>
              <a:buChar char="•"/>
            </a:pPr>
            <a:r>
              <a:rPr lang="vi-VN" b="1" i="0" dirty="0">
                <a:solidFill>
                  <a:srgbClr val="404040"/>
                </a:solidFill>
                <a:effectLst/>
                <a:latin typeface="Inter"/>
              </a:rPr>
              <a:t>Nhược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Yêu cầu lược đồ dữ liệu chung, có thể gây khó khăn khi tích hợp các hệ thống khác nhau.</a:t>
            </a:r>
          </a:p>
          <a:p>
            <a:pPr marL="742950" lvl="1" indent="-285750" algn="l">
              <a:buFont typeface="Arial" panose="020B0604020202020204" pitchFamily="34" charset="0"/>
              <a:buChar char="•"/>
            </a:pPr>
            <a:r>
              <a:rPr lang="vi-VN" b="0" i="0" dirty="0">
                <a:solidFill>
                  <a:srgbClr val="404040"/>
                </a:solidFill>
                <a:effectLst/>
                <a:latin typeface="Inter"/>
              </a:rPr>
              <a:t>Nguy cơ tạo ra nút cổ chai (bottleneck) nếu cơ sở dữ liệu không được tối ưu hóa.</a:t>
            </a:r>
          </a:p>
          <a:p>
            <a:pPr algn="l"/>
            <a:r>
              <a:rPr lang="vi-VN" b="1" i="0" dirty="0">
                <a:solidFill>
                  <a:srgbClr val="404040"/>
                </a:solidFill>
                <a:effectLst/>
                <a:latin typeface="Inter"/>
              </a:rPr>
              <a:t>3. Gọi thủ tục từ xa (Remote Procedure Call - RPC)</a:t>
            </a:r>
          </a:p>
          <a:p>
            <a:pPr algn="l">
              <a:buFont typeface="Arial" panose="020B0604020202020204" pitchFamily="34" charset="0"/>
              <a:buChar char="•"/>
            </a:pPr>
            <a:r>
              <a:rPr lang="vi-VN" b="1" i="0" dirty="0">
                <a:solidFill>
                  <a:srgbClr val="404040"/>
                </a:solidFill>
                <a:effectLst/>
                <a:latin typeface="Inter"/>
              </a:rPr>
              <a:t>Khái niệm</a:t>
            </a:r>
            <a:r>
              <a:rPr lang="vi-VN" b="0" i="0" dirty="0">
                <a:solidFill>
                  <a:srgbClr val="404040"/>
                </a:solidFill>
                <a:effectLst/>
                <a:latin typeface="Inter"/>
              </a:rPr>
              <a:t>: Một ứng dụng gọi một thủ tục trên một ứng dụng khác chạy trên máy chủ từ xa như thể nó là một thủ tục cục bộ.</a:t>
            </a:r>
          </a:p>
          <a:p>
            <a:pPr algn="l">
              <a:buFont typeface="Arial" panose="020B0604020202020204" pitchFamily="34" charset="0"/>
              <a:buChar char="•"/>
            </a:pPr>
            <a:r>
              <a:rPr lang="vi-VN" b="1" i="0" dirty="0">
                <a:solidFill>
                  <a:srgbClr val="404040"/>
                </a:solidFill>
                <a:effectLst/>
                <a:latin typeface="Inter"/>
              </a:rPr>
              <a:t>Quy trình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Gửi yêu cầu</a:t>
            </a:r>
            <a:r>
              <a:rPr lang="vi-VN" b="0" i="0" dirty="0">
                <a:solidFill>
                  <a:srgbClr val="404040"/>
                </a:solidFill>
                <a:effectLst/>
                <a:latin typeface="Inter"/>
              </a:rPr>
              <a:t>: Ứng dụng gọi một thủ tục từ xa.</a:t>
            </a:r>
          </a:p>
          <a:p>
            <a:pPr marL="742950" lvl="1" indent="-285750" algn="l">
              <a:buFont typeface="Arial" panose="020B0604020202020204" pitchFamily="34" charset="0"/>
              <a:buChar char="•"/>
            </a:pPr>
            <a:r>
              <a:rPr lang="vi-VN" b="1" i="0" dirty="0">
                <a:solidFill>
                  <a:srgbClr val="404040"/>
                </a:solidFill>
                <a:effectLst/>
                <a:latin typeface="Inter"/>
              </a:rPr>
              <a:t>Xử lý yêu cầu</a:t>
            </a:r>
            <a:r>
              <a:rPr lang="vi-VN" b="0" i="0" dirty="0">
                <a:solidFill>
                  <a:srgbClr val="404040"/>
                </a:solidFill>
                <a:effectLst/>
                <a:latin typeface="Inter"/>
              </a:rPr>
              <a:t>: Máy chủ từ xa thực hiện thủ tục và trả về kết quả.</a:t>
            </a:r>
          </a:p>
          <a:p>
            <a:pPr marL="742950" lvl="1" indent="-285750" algn="l">
              <a:buFont typeface="Arial" panose="020B0604020202020204" pitchFamily="34" charset="0"/>
              <a:buChar char="•"/>
            </a:pPr>
            <a:r>
              <a:rPr lang="vi-VN" b="1" i="0" dirty="0">
                <a:solidFill>
                  <a:srgbClr val="404040"/>
                </a:solidFill>
                <a:effectLst/>
                <a:latin typeface="Inter"/>
              </a:rPr>
              <a:t>Nhận kết quả</a:t>
            </a:r>
            <a:r>
              <a:rPr lang="vi-VN" b="0" i="0" dirty="0">
                <a:solidFill>
                  <a:srgbClr val="404040"/>
                </a:solidFill>
                <a:effectLst/>
                <a:latin typeface="Inter"/>
              </a:rPr>
              <a:t>: Ứng dụng nhận kết quả và tiếp tục xử lý.</a:t>
            </a:r>
          </a:p>
          <a:p>
            <a:pPr algn="l">
              <a:buFont typeface="Arial" panose="020B0604020202020204" pitchFamily="34" charset="0"/>
              <a:buChar char="•"/>
            </a:pPr>
            <a:r>
              <a:rPr lang="vi-VN" b="1" i="0" dirty="0">
                <a:solidFill>
                  <a:srgbClr val="404040"/>
                </a:solidFill>
                <a:effectLst/>
                <a:latin typeface="Inter"/>
              </a:rPr>
              <a:t>Ưu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Hiệu quả khi cần thực hiện một chuỗi các hành động.</a:t>
            </a:r>
          </a:p>
          <a:p>
            <a:pPr marL="742950" lvl="1" indent="-285750" algn="l">
              <a:buFont typeface="Arial" panose="020B0604020202020204" pitchFamily="34" charset="0"/>
              <a:buChar char="•"/>
            </a:pPr>
            <a:r>
              <a:rPr lang="vi-VN" b="0" i="0" dirty="0">
                <a:solidFill>
                  <a:srgbClr val="404040"/>
                </a:solidFill>
                <a:effectLst/>
                <a:latin typeface="Inter"/>
              </a:rPr>
              <a:t>Đơn giản hóa việc giao tiếp giữa các ứng dụng.</a:t>
            </a:r>
          </a:p>
          <a:p>
            <a:pPr algn="l">
              <a:buFont typeface="Arial" panose="020B0604020202020204" pitchFamily="34" charset="0"/>
              <a:buChar char="•"/>
            </a:pPr>
            <a:r>
              <a:rPr lang="vi-VN" b="1" i="0" dirty="0">
                <a:solidFill>
                  <a:srgbClr val="404040"/>
                </a:solidFill>
                <a:effectLst/>
                <a:latin typeface="Inter"/>
              </a:rPr>
              <a:t>Nhược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Yêu cầu cả hai ứng dụng (gọi và được gọi) phải hoạt động đồng thời.</a:t>
            </a:r>
          </a:p>
          <a:p>
            <a:pPr marL="742950" lvl="1" indent="-285750" algn="l">
              <a:buFont typeface="Arial" panose="020B0604020202020204" pitchFamily="34" charset="0"/>
              <a:buChar char="•"/>
            </a:pPr>
            <a:r>
              <a:rPr lang="vi-VN" b="0" i="0" dirty="0">
                <a:solidFill>
                  <a:srgbClr val="404040"/>
                </a:solidFill>
                <a:effectLst/>
                <a:latin typeface="Inter"/>
              </a:rPr>
              <a:t>Khó khăn trong việc xử lý lỗi và phục hồi.</a:t>
            </a:r>
          </a:p>
          <a:p>
            <a:pPr algn="l"/>
            <a:r>
              <a:rPr lang="vi-VN" b="1" i="0" dirty="0">
                <a:solidFill>
                  <a:srgbClr val="404040"/>
                </a:solidFill>
                <a:effectLst/>
                <a:latin typeface="Inter"/>
              </a:rPr>
              <a:t>4. Truyền thông qua thông điệp (Messaging)</a:t>
            </a:r>
          </a:p>
          <a:p>
            <a:pPr algn="l">
              <a:buFont typeface="Arial" panose="020B0604020202020204" pitchFamily="34" charset="0"/>
              <a:buChar char="•"/>
            </a:pPr>
            <a:r>
              <a:rPr lang="vi-VN" b="1" i="0" dirty="0">
                <a:solidFill>
                  <a:srgbClr val="404040"/>
                </a:solidFill>
                <a:effectLst/>
                <a:latin typeface="Inter"/>
              </a:rPr>
              <a:t>Khái niệm</a:t>
            </a:r>
            <a:r>
              <a:rPr lang="vi-VN" b="0" i="0" dirty="0">
                <a:solidFill>
                  <a:srgbClr val="404040"/>
                </a:solidFill>
                <a:effectLst/>
                <a:latin typeface="Inter"/>
              </a:rPr>
              <a:t>: Các ứng dụng giao tiếp thông qua việc gửi và nhận thông điệp (messages) thông qua một hệ thống trung gian.</a:t>
            </a:r>
          </a:p>
          <a:p>
            <a:pPr algn="l">
              <a:buFont typeface="Arial" panose="020B0604020202020204" pitchFamily="34" charset="0"/>
              <a:buChar char="•"/>
            </a:pPr>
            <a:r>
              <a:rPr lang="vi-VN" b="1" i="0" dirty="0">
                <a:solidFill>
                  <a:srgbClr val="404040"/>
                </a:solidFill>
                <a:effectLst/>
                <a:latin typeface="Inter"/>
              </a:rPr>
              <a:t>Quy trình</a:t>
            </a:r>
            <a:r>
              <a:rPr lang="vi-VN" b="0" i="0" dirty="0">
                <a:solidFill>
                  <a:srgbClr val="404040"/>
                </a:solidFill>
                <a:effectLst/>
                <a:latin typeface="Inter"/>
              </a:rPr>
              <a:t>:</a:t>
            </a:r>
          </a:p>
          <a:p>
            <a:pPr marL="742950" lvl="1" indent="-285750" algn="l">
              <a:buFont typeface="Arial" panose="020B0604020202020204" pitchFamily="34" charset="0"/>
              <a:buChar char="•"/>
            </a:pPr>
            <a:r>
              <a:rPr lang="vi-VN" b="1" i="0" dirty="0">
                <a:solidFill>
                  <a:srgbClr val="404040"/>
                </a:solidFill>
                <a:effectLst/>
                <a:latin typeface="Inter"/>
              </a:rPr>
              <a:t>Gửi thông điệp</a:t>
            </a:r>
            <a:r>
              <a:rPr lang="vi-VN" b="0" i="0" dirty="0">
                <a:solidFill>
                  <a:srgbClr val="404040"/>
                </a:solidFill>
                <a:effectLst/>
                <a:latin typeface="Inter"/>
              </a:rPr>
              <a:t>: Một ứng dụng gửi thông điệp đến một hàng đợi hoặc chủ đề.</a:t>
            </a:r>
          </a:p>
          <a:p>
            <a:pPr marL="742950" lvl="1" indent="-285750" algn="l">
              <a:buFont typeface="Arial" panose="020B0604020202020204" pitchFamily="34" charset="0"/>
              <a:buChar char="•"/>
            </a:pPr>
            <a:r>
              <a:rPr lang="vi-VN" b="1" i="0" dirty="0">
                <a:solidFill>
                  <a:srgbClr val="404040"/>
                </a:solidFill>
                <a:effectLst/>
                <a:latin typeface="Inter"/>
              </a:rPr>
              <a:t>Nhận thông điệp</a:t>
            </a:r>
            <a:r>
              <a:rPr lang="vi-VN" b="0" i="0" dirty="0">
                <a:solidFill>
                  <a:srgbClr val="404040"/>
                </a:solidFill>
                <a:effectLst/>
                <a:latin typeface="Inter"/>
              </a:rPr>
              <a:t>: Các ứng dụng khác đăng ký để nhận và xử lý thông điệp.</a:t>
            </a:r>
          </a:p>
          <a:p>
            <a:pPr algn="l">
              <a:buFont typeface="Arial" panose="020B0604020202020204" pitchFamily="34" charset="0"/>
              <a:buChar char="•"/>
            </a:pPr>
            <a:r>
              <a:rPr lang="vi-VN" b="1" i="0" dirty="0">
                <a:solidFill>
                  <a:srgbClr val="404040"/>
                </a:solidFill>
                <a:effectLst/>
                <a:latin typeface="Inter"/>
              </a:rPr>
              <a:t>Ưu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Cho phép tách biệt về thời gian và không gian: Ứng dụng gửi và nhận không cần hoạt động đồng thời.</a:t>
            </a:r>
          </a:p>
          <a:p>
            <a:pPr marL="742950" lvl="1" indent="-285750" algn="l">
              <a:buFont typeface="Arial" panose="020B0604020202020204" pitchFamily="34" charset="0"/>
              <a:buChar char="•"/>
            </a:pPr>
            <a:r>
              <a:rPr lang="vi-VN" b="0" i="0" dirty="0">
                <a:solidFill>
                  <a:srgbClr val="404040"/>
                </a:solidFill>
                <a:effectLst/>
                <a:latin typeface="Inter"/>
              </a:rPr>
              <a:t>Linh hoạt và có khả năng mở rộng cao.</a:t>
            </a:r>
          </a:p>
          <a:p>
            <a:pPr algn="l">
              <a:buFont typeface="Arial" panose="020B0604020202020204" pitchFamily="34" charset="0"/>
              <a:buChar char="•"/>
            </a:pPr>
            <a:r>
              <a:rPr lang="vi-VN" b="1" i="0" dirty="0">
                <a:solidFill>
                  <a:srgbClr val="404040"/>
                </a:solidFill>
                <a:effectLst/>
                <a:latin typeface="Inter"/>
              </a:rPr>
              <a:t>Nhược điểm</a:t>
            </a:r>
            <a:r>
              <a:rPr lang="vi-VN" b="0" i="0" dirty="0">
                <a:solidFill>
                  <a:srgbClr val="404040"/>
                </a:solidFill>
                <a:effectLst/>
                <a:latin typeface="Inter"/>
              </a:rPr>
              <a:t>:</a:t>
            </a:r>
          </a:p>
          <a:p>
            <a:pPr marL="742950" lvl="1" indent="-285750" algn="l">
              <a:buFont typeface="Arial" panose="020B0604020202020204" pitchFamily="34" charset="0"/>
              <a:buChar char="•"/>
            </a:pPr>
            <a:r>
              <a:rPr lang="vi-VN" b="0" i="0" dirty="0">
                <a:solidFill>
                  <a:srgbClr val="404040"/>
                </a:solidFill>
                <a:effectLst/>
                <a:latin typeface="Inter"/>
              </a:rPr>
              <a:t>Phức tạp hơn so với RPC và chuyển tệp.</a:t>
            </a:r>
          </a:p>
          <a:p>
            <a:pPr marL="742950" lvl="1" indent="-285750" algn="l">
              <a:buFont typeface="Arial" panose="020B0604020202020204" pitchFamily="34" charset="0"/>
              <a:buChar char="•"/>
            </a:pPr>
            <a:r>
              <a:rPr lang="vi-VN" b="0" i="0" dirty="0">
                <a:solidFill>
                  <a:srgbClr val="404040"/>
                </a:solidFill>
                <a:effectLst/>
                <a:latin typeface="Inter"/>
              </a:rPr>
              <a:t>Cần có cơ chế quản lý thông điệp và xử lý lỗi.</a:t>
            </a:r>
          </a:p>
          <a:p>
            <a:pPr algn="l"/>
            <a:r>
              <a:rPr lang="vi-VN" b="1" i="0" dirty="0">
                <a:solidFill>
                  <a:srgbClr val="404040"/>
                </a:solidFill>
                <a:effectLst/>
                <a:latin typeface="Inter"/>
              </a:rPr>
              <a:t>Kết luận</a:t>
            </a:r>
          </a:p>
          <a:p>
            <a:pPr algn="l"/>
            <a:r>
              <a:rPr lang="vi-VN" b="0" i="0" dirty="0">
                <a:solidFill>
                  <a:srgbClr val="404040"/>
                </a:solidFill>
                <a:effectLst/>
                <a:latin typeface="Inter"/>
              </a:rPr>
              <a:t>Việc lựa chọn phương pháp tích hợp ứng dụng phụ thuộc vào yêu cầu cụ thể của hệ thống và các ứng dụng liên quan. Chuyển tệp phù hợp với các hệ thống đơn giản, trong khi cơ sở dữ liệu chung và RPC phù hợp với các hệ thống yêu cầu tương tác thời gian thực. Messaging là lựa chọn lý tưởng cho các hệ thống phân tán phức tạp, yêu cầu tính linh hoạt và khả năng mở rộng cao.</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67</a:t>
            </a:fld>
            <a:endParaRPr lang="en-US"/>
          </a:p>
        </p:txBody>
      </p:sp>
    </p:spTree>
    <p:extLst>
      <p:ext uri="{BB962C8B-B14F-4D97-AF65-F5344CB8AC3E}">
        <p14:creationId xmlns:p14="http://schemas.microsoft.com/office/powerpoint/2010/main" val="26426701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a:t>
            </a:r>
          </a:p>
        </p:txBody>
      </p:sp>
      <p:sp>
        <p:nvSpPr>
          <p:cNvPr id="4" name="Slide Number Placeholder 3"/>
          <p:cNvSpPr>
            <a:spLocks noGrp="1"/>
          </p:cNvSpPr>
          <p:nvPr>
            <p:ph type="sldNum" sz="quarter" idx="5"/>
          </p:nvPr>
        </p:nvSpPr>
        <p:spPr/>
        <p:txBody>
          <a:bodyPr/>
          <a:lstStyle/>
          <a:p>
            <a:fld id="{2462E6CA-8440-45F5-A3AE-62AA54DA537F}" type="slidenum">
              <a:rPr lang="en-US" smtClean="0"/>
              <a:t>68</a:t>
            </a:fld>
            <a:endParaRPr lang="en-US"/>
          </a:p>
        </p:txBody>
      </p:sp>
    </p:spTree>
    <p:extLst>
      <p:ext uri="{BB962C8B-B14F-4D97-AF65-F5344CB8AC3E}">
        <p14:creationId xmlns:p14="http://schemas.microsoft.com/office/powerpoint/2010/main" val="37726628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69</a:t>
            </a:fld>
            <a:endParaRPr lang="en-US"/>
          </a:p>
        </p:txBody>
      </p:sp>
    </p:spTree>
    <p:extLst>
      <p:ext uri="{BB962C8B-B14F-4D97-AF65-F5344CB8AC3E}">
        <p14:creationId xmlns:p14="http://schemas.microsoft.com/office/powerpoint/2010/main" val="22924852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slide</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70</a:t>
            </a:fld>
            <a:endParaRPr lang="en-US"/>
          </a:p>
        </p:txBody>
      </p:sp>
    </p:spTree>
    <p:extLst>
      <p:ext uri="{BB962C8B-B14F-4D97-AF65-F5344CB8AC3E}">
        <p14:creationId xmlns:p14="http://schemas.microsoft.com/office/powerpoint/2010/main" val="6996674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Hệ thống phân tán phổ biến (Distributed Pervasive Systems)</a:t>
            </a:r>
          </a:p>
          <a:p>
            <a:pPr algn="l"/>
            <a:r>
              <a:rPr lang="vi-VN" b="0" i="0" dirty="0">
                <a:solidFill>
                  <a:srgbClr val="404040"/>
                </a:solidFill>
                <a:effectLst/>
                <a:latin typeface="Inter"/>
              </a:rPr>
              <a:t>Hệ thống phân tán phổ biến là thế hệ tiếp theo của các hệ thống phân tán, trong đó các nút (nodes) thường nhỏ gọn, di động và thường được nhúng vào một hệ thống lớn hơn. Đặc điểm chính của các hệ thống này là chúng tự nhiên hòa nhập vào môi trường của người dùng. Dưới đây là các phân loại chính của hệ thống phân tán phổ biến:</a:t>
            </a:r>
          </a:p>
          <a:p>
            <a:pPr algn="l"/>
            <a:r>
              <a:rPr lang="vi-VN" b="1" i="0" dirty="0">
                <a:solidFill>
                  <a:srgbClr val="404040"/>
                </a:solidFill>
                <a:effectLst/>
                <a:latin typeface="Inter"/>
              </a:rPr>
              <a:t>Ba phân loại (có phần chồng chéo)</a:t>
            </a:r>
          </a:p>
          <a:p>
            <a:pPr algn="l">
              <a:buFont typeface="+mj-lt"/>
              <a:buAutoNum type="arabicPeriod"/>
            </a:pPr>
            <a:r>
              <a:rPr lang="vi-VN" b="1" i="0" dirty="0">
                <a:solidFill>
                  <a:srgbClr val="404040"/>
                </a:solidFill>
                <a:effectLst/>
                <a:latin typeface="Inter"/>
              </a:rPr>
              <a:t>Hệ thống tính toán phổ biến (Ubiquitous Computing Systems)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Các hệ thống này hiện diện liên tục và tương tác liên tục với người dùng.</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Nhà thông minh (smart home) với các thiết bị tự động hóa như đèn, điều hòa, và hệ thống an ninh.</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Tạo ra một môi trường trong đó công nghệ trở nên vô hình và tự nhiên đối với người dùng.</a:t>
            </a:r>
          </a:p>
          <a:p>
            <a:pPr algn="l">
              <a:buFont typeface="+mj-lt"/>
              <a:buAutoNum type="arabicPeriod"/>
            </a:pPr>
            <a:r>
              <a:rPr lang="vi-VN" b="1" i="0" dirty="0">
                <a:solidFill>
                  <a:srgbClr val="404040"/>
                </a:solidFill>
                <a:effectLst/>
                <a:latin typeface="Inter"/>
              </a:rPr>
              <a:t>Hệ thống tính toán di động (Mobile Computing Systems)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Các thiết bị trong hệ thống này có tính di động cao, cho phép người dùng tương tác với hệ thống từ bất kỳ đâu.</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Điện thoại thông minh, máy tính bảng, và các thiết bị đeo được (wearable devices) như đồng hồ thông minh.</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Cung cấp khả năng truy cập và tương tác liên tục với hệ thống, bất kể vị trí địa lý.</a:t>
            </a:r>
          </a:p>
          <a:p>
            <a:pPr algn="l">
              <a:buFont typeface="+mj-lt"/>
              <a:buAutoNum type="arabicPeriod"/>
            </a:pPr>
            <a:r>
              <a:rPr lang="vi-VN" b="1" i="0" dirty="0">
                <a:solidFill>
                  <a:srgbClr val="404040"/>
                </a:solidFill>
                <a:effectLst/>
                <a:latin typeface="Inter"/>
              </a:rPr>
              <a:t>Mạng cảm biến và cơ cấu chấp hành (Sensor and Actuator Networks)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Các hệ thống này tập trung vào việc cảm nhận và tác động lên môi trường thông qua các cảm biến và cơ cấu chấp hành.</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Hệ thống giám sát môi trường, hệ thống điều khiển tự động trong nông nghiệp, và hệ thống quản lý giao thông thông minh.</a:t>
            </a:r>
          </a:p>
          <a:p>
            <a:pPr marL="742950" lvl="1" indent="-285750" algn="l">
              <a:buFont typeface="+mj-lt"/>
              <a:buAutoNum type="arabicPeriod"/>
            </a:pPr>
            <a:r>
              <a:rPr lang="vi-VN" b="1" i="0" dirty="0">
                <a:solidFill>
                  <a:srgbClr val="404040"/>
                </a:solidFill>
                <a:effectLst/>
                <a:latin typeface="Inter"/>
              </a:rPr>
              <a:t>Mục tiêu</a:t>
            </a:r>
            <a:r>
              <a:rPr lang="vi-VN" b="0" i="0" dirty="0">
                <a:solidFill>
                  <a:srgbClr val="404040"/>
                </a:solidFill>
                <a:effectLst/>
                <a:latin typeface="Inter"/>
              </a:rPr>
              <a:t>: Thu thập dữ liệu từ môi trường và thực hiện các hành động dựa trên dữ liệu đó để cải thiện hiệu quả và an toàn.</a:t>
            </a:r>
          </a:p>
          <a:p>
            <a:pPr algn="l"/>
            <a:r>
              <a:rPr lang="vi-VN" b="1" i="0" dirty="0">
                <a:solidFill>
                  <a:srgbClr val="404040"/>
                </a:solidFill>
                <a:effectLst/>
                <a:latin typeface="Inter"/>
              </a:rPr>
              <a:t>Đặc điểm chung của hệ thống phân tán phổ biến</a:t>
            </a:r>
          </a:p>
          <a:p>
            <a:pPr algn="l">
              <a:buFont typeface="+mj-lt"/>
              <a:buAutoNum type="arabicPeriod"/>
            </a:pPr>
            <a:r>
              <a:rPr lang="vi-VN" b="1" i="0" dirty="0">
                <a:solidFill>
                  <a:srgbClr val="404040"/>
                </a:solidFill>
                <a:effectLst/>
                <a:latin typeface="Inter"/>
              </a:rPr>
              <a:t>Tính phổ biến (Pervasiveness)</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hệ thống này hiện diện ở khắp mọi nơi và hòa nhập vào cuộc sống hàng ngày của người dùng.</a:t>
            </a:r>
          </a:p>
          <a:p>
            <a:pPr marL="742950" lvl="1" indent="-285750" algn="l">
              <a:buFont typeface="+mj-lt"/>
              <a:buAutoNum type="arabicPeriod"/>
            </a:pPr>
            <a:r>
              <a:rPr lang="vi-VN" b="0" i="0" dirty="0">
                <a:solidFill>
                  <a:srgbClr val="404040"/>
                </a:solidFill>
                <a:effectLst/>
                <a:latin typeface="Inter"/>
              </a:rPr>
              <a:t>Người dùng có thể tương tác với hệ thống một cách tự nhiên mà không cần nhận thức rõ ràng về sự hiện diện của công nghệ.</a:t>
            </a:r>
          </a:p>
          <a:p>
            <a:pPr algn="l">
              <a:buFont typeface="+mj-lt"/>
              <a:buAutoNum type="arabicPeriod"/>
            </a:pPr>
            <a:r>
              <a:rPr lang="vi-VN" b="1" i="0" dirty="0">
                <a:solidFill>
                  <a:srgbClr val="404040"/>
                </a:solidFill>
                <a:effectLst/>
                <a:latin typeface="Inter"/>
              </a:rPr>
              <a:t>Tính di động (Mobility)</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thiết bị trong hệ thống có thể di chuyển và tương tác với hệ thống từ bất kỳ vị trí nào.</a:t>
            </a:r>
          </a:p>
          <a:p>
            <a:pPr marL="742950" lvl="1" indent="-285750" algn="l">
              <a:buFont typeface="+mj-lt"/>
              <a:buAutoNum type="arabicPeriod"/>
            </a:pPr>
            <a:r>
              <a:rPr lang="vi-VN" b="0" i="0" dirty="0">
                <a:solidFill>
                  <a:srgbClr val="404040"/>
                </a:solidFill>
                <a:effectLst/>
                <a:latin typeface="Inter"/>
              </a:rPr>
              <a:t>Điều này đòi hỏi hệ thống phải có khả năng kết nối và hoạt động liên tục trong các môi trường khác nhau.</a:t>
            </a:r>
          </a:p>
          <a:p>
            <a:pPr algn="l">
              <a:buFont typeface="+mj-lt"/>
              <a:buAutoNum type="arabicPeriod"/>
            </a:pPr>
            <a:r>
              <a:rPr lang="vi-VN" b="1" i="0" dirty="0">
                <a:solidFill>
                  <a:srgbClr val="404040"/>
                </a:solidFill>
                <a:effectLst/>
                <a:latin typeface="Inter"/>
              </a:rPr>
              <a:t>Tính nhúng (Embeddedness)</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nút trong hệ thống thường được nhúng vào các thiết bị hoặc hệ thống lớn hơn, làm cho chúng trở nên không thể thiếu trong môi trường hoạt động.</a:t>
            </a:r>
          </a:p>
          <a:p>
            <a:pPr marL="742950" lvl="1" indent="-285750" algn="l">
              <a:buFont typeface="+mj-lt"/>
              <a:buAutoNum type="arabicPeriod"/>
            </a:pPr>
            <a:r>
              <a:rPr lang="vi-VN" b="0" i="0" dirty="0">
                <a:solidFill>
                  <a:srgbClr val="404040"/>
                </a:solidFill>
                <a:effectLst/>
                <a:latin typeface="Inter"/>
              </a:rPr>
              <a:t>Ví dụ: Cảm biến nhiệt độ được nhúng trong hệ thống điều hòa không khí.</a:t>
            </a:r>
          </a:p>
          <a:p>
            <a:pPr algn="l">
              <a:buFont typeface="+mj-lt"/>
              <a:buAutoNum type="arabicPeriod"/>
            </a:pPr>
            <a:r>
              <a:rPr lang="vi-VN" b="1" i="0" dirty="0">
                <a:solidFill>
                  <a:srgbClr val="404040"/>
                </a:solidFill>
                <a:effectLst/>
                <a:latin typeface="Inter"/>
              </a:rPr>
              <a:t>Tính hợp tác (Collaboration)</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nút trong hệ thống thường cần phải hợp tác với nhau để thực hiện các nhiệm vụ phức tạp.</a:t>
            </a:r>
          </a:p>
          <a:p>
            <a:pPr marL="742950" lvl="1" indent="-285750" algn="l">
              <a:buFont typeface="+mj-lt"/>
              <a:buAutoNum type="arabicPeriod"/>
            </a:pPr>
            <a:r>
              <a:rPr lang="vi-VN" b="0" i="0" dirty="0">
                <a:solidFill>
                  <a:srgbClr val="404040"/>
                </a:solidFill>
                <a:effectLst/>
                <a:latin typeface="Inter"/>
              </a:rPr>
              <a:t>Ví dụ: Các cảm biến trong một mạng cảm biến cần phối hợp để thu thập và xử lý dữ liệu môi trường.</a:t>
            </a:r>
          </a:p>
          <a:p>
            <a:pPr algn="l"/>
            <a:r>
              <a:rPr lang="vi-VN" b="1" i="0" dirty="0">
                <a:solidFill>
                  <a:srgbClr val="404040"/>
                </a:solidFill>
                <a:effectLst/>
                <a:latin typeface="Inter"/>
              </a:rPr>
              <a:t>Ví dụ minh họa</a:t>
            </a:r>
          </a:p>
          <a:p>
            <a:pPr algn="l">
              <a:buFont typeface="+mj-lt"/>
              <a:buAutoNum type="arabicPeriod"/>
            </a:pPr>
            <a:r>
              <a:rPr lang="vi-VN" b="1" i="0" dirty="0">
                <a:solidFill>
                  <a:srgbClr val="404040"/>
                </a:solidFill>
                <a:effectLst/>
                <a:latin typeface="Inter"/>
              </a:rPr>
              <a:t>Hệ thống nhà thông minh (Ubiquitous Computing)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thiết bị như đèn, điều hòa, và hệ thống an ninh tự động điều chỉnh dựa trên thói quen và sự hiện diện của người dùng.</a:t>
            </a:r>
          </a:p>
          <a:p>
            <a:pPr algn="l">
              <a:buFont typeface="+mj-lt"/>
              <a:buAutoNum type="arabicPeriod"/>
            </a:pPr>
            <a:r>
              <a:rPr lang="vi-VN" b="1" i="0" dirty="0">
                <a:solidFill>
                  <a:srgbClr val="404040"/>
                </a:solidFill>
                <a:effectLst/>
                <a:latin typeface="Inter"/>
              </a:rPr>
              <a:t>Hệ thống y tế di động (Mobile Computing)</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thiết bị đeo được theo dõi sức khỏe và gửi dữ liệu đến bác sĩ từ xa để theo dõi và chẩn đoán.</a:t>
            </a:r>
          </a:p>
          <a:p>
            <a:pPr algn="l">
              <a:buFont typeface="+mj-lt"/>
              <a:buAutoNum type="arabicPeriod"/>
            </a:pPr>
            <a:r>
              <a:rPr lang="vi-VN" b="1" i="0" dirty="0">
                <a:solidFill>
                  <a:srgbClr val="404040"/>
                </a:solidFill>
                <a:effectLst/>
                <a:latin typeface="Inter"/>
              </a:rPr>
              <a:t>Hệ thống nông nghiệp thông minh (Sensor and Actuator Networks)</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Các cảm biến đo độ ẩm và nhiệt độ đất, kết hợp với hệ thống tưới tiêu tự động, giúp tối ưu hóa việc chăm sóc cây trồng.</a:t>
            </a:r>
          </a:p>
          <a:p>
            <a:pPr algn="l"/>
            <a:r>
              <a:rPr lang="vi-VN" b="1" i="0" dirty="0">
                <a:solidFill>
                  <a:srgbClr val="404040"/>
                </a:solidFill>
                <a:effectLst/>
                <a:latin typeface="Inter"/>
              </a:rPr>
              <a:t>Kết luận</a:t>
            </a:r>
          </a:p>
          <a:p>
            <a:pPr algn="l"/>
            <a:r>
              <a:rPr lang="vi-VN" b="0" i="0" dirty="0">
                <a:solidFill>
                  <a:srgbClr val="404040"/>
                </a:solidFill>
                <a:effectLst/>
                <a:latin typeface="Inter"/>
              </a:rPr>
              <a:t>Hệ thống phân tán phổ biến đại diện cho thế hệ tiếp theo của các hệ thống phân tán, với các nút nhỏ gọn, di động và được nhúng vào môi trường của người dùng. Ba phân loại chính của hệ thống này bao gồm hệ thống tính toán phổ biến, hệ thống tính toán di động, và mạng cảm biến và cơ cấu chấp hành. Các hệ thống này có đặc điểm chung là tính phổ biến, di động, nhúng và hợp tác, làm cho chúng trở nên không thể thiếu trong cuộc sống hiện đại.</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71</a:t>
            </a:fld>
            <a:endParaRPr lang="en-US"/>
          </a:p>
        </p:txBody>
      </p:sp>
    </p:spTree>
    <p:extLst>
      <p:ext uri="{BB962C8B-B14F-4D97-AF65-F5344CB8AC3E}">
        <p14:creationId xmlns:p14="http://schemas.microsoft.com/office/powerpoint/2010/main" val="8110314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Hệ thống phổ biến (Ubiquitous Systems)</a:t>
            </a:r>
          </a:p>
          <a:p>
            <a:pPr algn="l"/>
            <a:r>
              <a:rPr lang="vi-VN" b="0" i="0" dirty="0">
                <a:solidFill>
                  <a:srgbClr val="404040"/>
                </a:solidFill>
                <a:effectLst/>
                <a:latin typeface="Inter"/>
              </a:rPr>
              <a:t>Hệ thống phổ biến là các hệ thống phân tán trong đó các thiết bị được kết nối mạng, phân bố rộng rãi và có khả năng tương tác một cách tự nhiên và không gây phiền nhiễu với người dùng. Dưới đây là các yếu tố cốt lõi của hệ thống phổ biến:</a:t>
            </a:r>
          </a:p>
          <a:p>
            <a:pPr algn="l"/>
            <a:r>
              <a:rPr lang="vi-VN" b="1" i="0" dirty="0">
                <a:solidFill>
                  <a:srgbClr val="404040"/>
                </a:solidFill>
                <a:effectLst/>
                <a:latin typeface="Inter"/>
              </a:rPr>
              <a:t>Các yếu tố cốt lõi</a:t>
            </a:r>
          </a:p>
          <a:p>
            <a:pPr algn="l">
              <a:buFont typeface="+mj-lt"/>
              <a:buAutoNum type="arabicPeriod"/>
            </a:pPr>
            <a:r>
              <a:rPr lang="vi-VN" b="1" i="0" dirty="0">
                <a:solidFill>
                  <a:srgbClr val="404040"/>
                </a:solidFill>
                <a:effectLst/>
                <a:latin typeface="Inter"/>
              </a:rPr>
              <a:t>Phân phối (Distribution)</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Các thiết bị được kết nối mạng, phân bố rộng rãi và có thể truy cập một cách minh bạch.</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Các thiết bị trong nhà thông minh như đèn, điều hòa, và hệ thống an ninh được kết nối và điều khiển từ xa thông qua mạng.</a:t>
            </a:r>
          </a:p>
          <a:p>
            <a:pPr algn="l">
              <a:buFont typeface="+mj-lt"/>
              <a:buAutoNum type="arabicPeriod"/>
            </a:pPr>
            <a:r>
              <a:rPr lang="vi-VN" b="1" i="0" dirty="0">
                <a:solidFill>
                  <a:srgbClr val="404040"/>
                </a:solidFill>
                <a:effectLst/>
                <a:latin typeface="Inter"/>
              </a:rPr>
              <a:t>Tương tác (Interaction)</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Tương tác giữa người dùng và thiết bị diễn ra một cách không gây phiền nhiễu và tự nhiên.</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Hệ thống đèn tự động bật/tắt dựa trên sự hiện diện của người dùng mà không cần người dùng phải thao tác.</a:t>
            </a:r>
          </a:p>
          <a:p>
            <a:pPr algn="l">
              <a:buFont typeface="+mj-lt"/>
              <a:buAutoNum type="arabicPeriod"/>
            </a:pPr>
            <a:r>
              <a:rPr lang="vi-VN" b="1" i="0" dirty="0">
                <a:solidFill>
                  <a:srgbClr val="404040"/>
                </a:solidFill>
                <a:effectLst/>
                <a:latin typeface="Inter"/>
              </a:rPr>
              <a:t>Nhận thức ngữ cảnh (Context Awareness)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Hệ thống nhận biết được ngữ cảnh của người dùng để tối ưu hóa tương tác.</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Hệ thống điều hòa tự động điều chỉnh nhiệt độ dựa trên thời tiết và thói quen của người dùng.</a:t>
            </a:r>
          </a:p>
          <a:p>
            <a:pPr algn="l">
              <a:buFont typeface="+mj-lt"/>
              <a:buAutoNum type="arabicPeriod"/>
            </a:pPr>
            <a:r>
              <a:rPr lang="vi-VN" b="1" i="0" dirty="0">
                <a:solidFill>
                  <a:srgbClr val="404040"/>
                </a:solidFill>
                <a:effectLst/>
                <a:latin typeface="Inter"/>
              </a:rPr>
              <a:t>Tự chủ (Autonomy)</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Các thiết bị hoạt động tự động mà không cần sự can thiệp của con người, và có khả năng tự quản lý cao.</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Hệ thống tưới cây tự động điều chỉnh lượng nước tưới dựa trên độ ẩm đất và dự báo thời tiết.</a:t>
            </a:r>
          </a:p>
          <a:p>
            <a:pPr algn="l">
              <a:buFont typeface="+mj-lt"/>
              <a:buAutoNum type="arabicPeriod"/>
            </a:pPr>
            <a:r>
              <a:rPr lang="vi-VN" b="1" i="0" dirty="0">
                <a:solidFill>
                  <a:srgbClr val="404040"/>
                </a:solidFill>
                <a:effectLst/>
                <a:latin typeface="Inter"/>
              </a:rPr>
              <a:t>Thông minh (Intelligence)</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Hệ thống có khả năng xử lý một loạt các hành động và tương tác động một cách thông minh.</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Hệ thống nhà thông minh có thể học hỏi thói quen của người dùng và tự động điều chỉnh các thiết bị để phù hợp với nhu cầu.</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72</a:t>
            </a:fld>
            <a:endParaRPr lang="en-US"/>
          </a:p>
        </p:txBody>
      </p:sp>
    </p:spTree>
    <p:extLst>
      <p:ext uri="{BB962C8B-B14F-4D97-AF65-F5344CB8AC3E}">
        <p14:creationId xmlns:p14="http://schemas.microsoft.com/office/powerpoint/2010/main" val="19664288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Tính toán di động (Mobile Computing)</a:t>
            </a:r>
          </a:p>
          <a:p>
            <a:pPr algn="l"/>
            <a:r>
              <a:rPr lang="vi-VN" b="0" i="0" dirty="0">
                <a:solidFill>
                  <a:srgbClr val="404040"/>
                </a:solidFill>
                <a:effectLst/>
                <a:latin typeface="Inter"/>
              </a:rPr>
              <a:t>Tính toán di động đề cập đến việc sử dụng các thiết bị di động để truy cập và tương tác với các dịch vụ và ứng dụng từ bất kỳ đâu. Dưới đây là các đặc điểm nổi bật của tính toán di động:</a:t>
            </a:r>
          </a:p>
          <a:p>
            <a:pPr algn="l"/>
            <a:r>
              <a:rPr lang="vi-VN" b="1" i="0" dirty="0">
                <a:solidFill>
                  <a:srgbClr val="404040"/>
                </a:solidFill>
                <a:effectLst/>
                <a:latin typeface="Inter"/>
              </a:rPr>
              <a:t>Các đặc điểm nổi bật</a:t>
            </a:r>
          </a:p>
          <a:p>
            <a:pPr algn="l">
              <a:buFont typeface="+mj-lt"/>
              <a:buAutoNum type="arabicPeriod"/>
            </a:pPr>
            <a:r>
              <a:rPr lang="vi-VN" b="1" i="0" dirty="0">
                <a:solidFill>
                  <a:srgbClr val="404040"/>
                </a:solidFill>
                <a:effectLst/>
                <a:latin typeface="Inter"/>
              </a:rPr>
              <a:t>Đa dạng thiết bị di động (A Myriad of Different Mobile Devices)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Có rất nhiều loại thiết bị di động khác nhau, bao gồm điện thoại thông minh (smartphones), máy tính bảng (tablets), thiết bị GPS, điều khiển từ xa (remote controls), và thẻ nhận dạng hoạt động (active badges).</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Người dùng có thể sử dụng điện thoại thông minh để truy cập email, máy tính bảng để xem phim, và thiết bị GPS để điều hướng.</a:t>
            </a:r>
          </a:p>
          <a:p>
            <a:pPr algn="l">
              <a:buFont typeface="+mj-lt"/>
              <a:buAutoNum type="arabicPeriod"/>
            </a:pPr>
            <a:r>
              <a:rPr lang="vi-VN" b="1" i="0" dirty="0">
                <a:solidFill>
                  <a:srgbClr val="404040"/>
                </a:solidFill>
                <a:effectLst/>
                <a:latin typeface="Inter"/>
              </a:rPr>
              <a:t>Tính di động (Mobility)</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Vị trí của thiết bị di động thay đổi theo thời gian, dẫn đến sự thay đổi trong các dịch vụ địa phương, khả năng tiếp cận, và các yếu tố khác.</a:t>
            </a:r>
          </a:p>
          <a:p>
            <a:pPr marL="742950" lvl="1" indent="-285750" algn="l">
              <a:buFont typeface="+mj-lt"/>
              <a:buAutoNum type="arabicPeriod"/>
            </a:pPr>
            <a:r>
              <a:rPr lang="vi-VN" b="1" i="0" dirty="0">
                <a:solidFill>
                  <a:srgbClr val="404040"/>
                </a:solidFill>
                <a:effectLst/>
                <a:latin typeface="Inter"/>
              </a:rPr>
              <a:t>Từ khóa</a:t>
            </a:r>
            <a:r>
              <a:rPr lang="vi-VN" b="0" i="0" dirty="0">
                <a:solidFill>
                  <a:srgbClr val="404040"/>
                </a:solidFill>
                <a:effectLst/>
                <a:latin typeface="Inter"/>
              </a:rPr>
              <a:t>: </a:t>
            </a:r>
            <a:r>
              <a:rPr lang="vi-VN" b="1" i="0" dirty="0">
                <a:solidFill>
                  <a:srgbClr val="404040"/>
                </a:solidFill>
                <a:effectLst/>
                <a:latin typeface="Inter"/>
              </a:rPr>
              <a:t>Khám phá (Discovery)</a:t>
            </a:r>
            <a:r>
              <a:rPr lang="vi-VN" b="0" i="0" dirty="0">
                <a:solidFill>
                  <a:srgbClr val="404040"/>
                </a:solidFill>
                <a:effectLst/>
                <a:latin typeface="Inter"/>
              </a:rPr>
              <a:t> - Hệ thống cần có khả năng khám phá và kết nối với các dịch vụ mới khi thiết bị di chuyển.</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Khi người dùng di chuyển từ thành phố này sang thành phố khác, điện thoại của họ cần tự động kết nối với các dịch vụ mạng di động và Wi-Fi có sẵn.</a:t>
            </a:r>
          </a:p>
          <a:p>
            <a:pPr algn="l">
              <a:buFont typeface="+mj-lt"/>
              <a:buAutoNum type="arabicPeriod"/>
            </a:pPr>
            <a:r>
              <a:rPr lang="vi-VN" b="1" i="0" dirty="0">
                <a:solidFill>
                  <a:srgbClr val="404040"/>
                </a:solidFill>
                <a:effectLst/>
                <a:latin typeface="Inter"/>
              </a:rPr>
              <a:t>Khó khăn trong truyền thông (Communication Challenges)</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Đặc điểm</a:t>
            </a:r>
            <a:r>
              <a:rPr lang="vi-VN" b="0" i="0" dirty="0">
                <a:solidFill>
                  <a:srgbClr val="404040"/>
                </a:solidFill>
                <a:effectLst/>
                <a:latin typeface="Inter"/>
              </a:rPr>
              <a:t>: Truyền thông có thể trở nên khó khăn do không có đường truyền ổn định và có thể không có kết nối liên tục.</a:t>
            </a:r>
          </a:p>
          <a:p>
            <a:pPr marL="742950" lvl="1" indent="-285750" algn="l">
              <a:buFont typeface="+mj-lt"/>
              <a:buAutoNum type="arabicPeriod"/>
            </a:pPr>
            <a:r>
              <a:rPr lang="vi-VN" b="1" i="0" dirty="0">
                <a:solidFill>
                  <a:srgbClr val="404040"/>
                </a:solidFill>
                <a:effectLst/>
                <a:latin typeface="Inter"/>
              </a:rPr>
              <a:t>Giải pháp</a:t>
            </a:r>
            <a:r>
              <a:rPr lang="vi-VN" b="0" i="0" dirty="0">
                <a:solidFill>
                  <a:srgbClr val="404040"/>
                </a:solidFill>
                <a:effectLst/>
                <a:latin typeface="Inter"/>
              </a:rPr>
              <a:t>: </a:t>
            </a:r>
            <a:r>
              <a:rPr lang="vi-VN" b="1" i="0" dirty="0">
                <a:solidFill>
                  <a:srgbClr val="404040"/>
                </a:solidFill>
                <a:effectLst/>
                <a:latin typeface="Inter"/>
              </a:rPr>
              <a:t>Mạng chịu đựng gián đoạn (Disruption-Tolerant Networking - DTN)</a:t>
            </a:r>
            <a:r>
              <a:rPr lang="vi-VN" b="0" i="0" dirty="0">
                <a:solidFill>
                  <a:srgbClr val="404040"/>
                </a:solidFill>
                <a:effectLst/>
                <a:latin typeface="Inter"/>
              </a:rPr>
              <a:t> - Các giao thức và công nghệ cho phép truyền thông ngay cả khi kết nối bị gián đoạn.</a:t>
            </a:r>
          </a:p>
          <a:p>
            <a:pPr marL="742950" lvl="1" indent="-285750" algn="l">
              <a:buFont typeface="+mj-lt"/>
              <a:buAutoNum type="arabicPeriod"/>
            </a:pPr>
            <a:r>
              <a:rPr lang="vi-VN" b="1" i="0" dirty="0">
                <a:solidFill>
                  <a:srgbClr val="404040"/>
                </a:solidFill>
                <a:effectLst/>
                <a:latin typeface="Inter"/>
              </a:rPr>
              <a:t>Ví dụ</a:t>
            </a:r>
            <a:r>
              <a:rPr lang="vi-VN" b="0" i="0" dirty="0">
                <a:solidFill>
                  <a:srgbClr val="404040"/>
                </a:solidFill>
                <a:effectLst/>
                <a:latin typeface="Inter"/>
              </a:rPr>
              <a:t>: Trong các khu vực có tín hiệu yếu hoặc không ổn định, hệ thống có thể lưu trữ và chuyển tiếp dữ liệu khi kết nối được thiết lập lại.</a:t>
            </a:r>
          </a:p>
          <a:p>
            <a:pPr algn="l"/>
            <a:r>
              <a:rPr lang="vi-VN" b="1" i="0" dirty="0">
                <a:solidFill>
                  <a:srgbClr val="404040"/>
                </a:solidFill>
                <a:effectLst/>
                <a:latin typeface="Inter"/>
              </a:rPr>
              <a:t>Kết luận</a:t>
            </a:r>
          </a:p>
          <a:p>
            <a:pPr algn="l"/>
            <a:r>
              <a:rPr lang="vi-VN" b="0" i="0" dirty="0">
                <a:solidFill>
                  <a:srgbClr val="404040"/>
                </a:solidFill>
                <a:effectLst/>
                <a:latin typeface="Inter"/>
              </a:rPr>
              <a:t>Tính toán di động là một lĩnh vực quan trọng trong công nghệ thông tin, với các đặc điểm nổi bật như đa dạng thiết bị, tính di động, và các khó khăn trong truyền thông. Các thiết bị di động như điện thoại thông minh, máy tính bảng, và thiết bị GPS đã trở thành một phần không thể thiếu trong cuộc sống hiện đại. Để đối phó với các thách thức về truyền thông, các công nghệ như mạng chịu đựng gián đoạn (DTN) đã được phát triển để đảm bảo kết nối liên tục và hiệu quả.</a:t>
            </a:r>
          </a:p>
          <a:p>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73</a:t>
            </a:fld>
            <a:endParaRPr lang="en-US"/>
          </a:p>
        </p:txBody>
      </p:sp>
    </p:spTree>
    <p:extLst>
      <p:ext uri="{BB962C8B-B14F-4D97-AF65-F5344CB8AC3E}">
        <p14:creationId xmlns:p14="http://schemas.microsoft.com/office/powerpoint/2010/main" val="41521569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Inter"/>
              </a:rPr>
              <a:t>Mô hình di động (Mobility Patterns)</a:t>
            </a:r>
            <a:endParaRPr lang="en-US" b="1" i="0" dirty="0">
              <a:solidFill>
                <a:srgbClr val="404040"/>
              </a:solidFill>
              <a:effectLst/>
              <a:latin typeface="Inter"/>
            </a:endParaRPr>
          </a:p>
          <a:p>
            <a:pPr algn="l"/>
            <a:r>
              <a:rPr lang="vi-VN" b="1" i="0" dirty="0">
                <a:solidFill>
                  <a:srgbClr val="404040"/>
                </a:solidFill>
                <a:effectLst/>
                <a:latin typeface="Inter"/>
              </a:rPr>
              <a:t>Vấn đề</a:t>
            </a:r>
          </a:p>
          <a:p>
            <a:pPr algn="l"/>
            <a:r>
              <a:rPr lang="vi-VN" b="0" i="0" dirty="0">
                <a:solidFill>
                  <a:srgbClr val="404040"/>
                </a:solidFill>
                <a:effectLst/>
                <a:latin typeface="Inter"/>
              </a:rPr>
              <a:t>Mối quan hệ giữa việc phổ biến thông tin và di chuyển của con người là một chủ đề quan trọng trong nghiên cứu về mạng di động và tính toán di động. Ý tưởng cơ bản là mỗi lần gặp gỡ (encounter) giữa các cá nhân tạo cơ hội để trao đổi thông tin, đặc biệt là trong các mạng chuyển mạch túi (pocket-switched networks).</a:t>
            </a:r>
          </a:p>
          <a:p>
            <a:pPr algn="l"/>
            <a:r>
              <a:rPr lang="vi-VN" b="1" i="0" dirty="0">
                <a:solidFill>
                  <a:srgbClr val="404040"/>
                </a:solidFill>
                <a:effectLst/>
                <a:latin typeface="Inter"/>
              </a:rPr>
              <a:t>Chiến lược thành công</a:t>
            </a:r>
          </a:p>
          <a:p>
            <a:pPr algn="l"/>
            <a:r>
              <a:rPr lang="vi-VN" b="0" i="0" dirty="0">
                <a:solidFill>
                  <a:srgbClr val="404040"/>
                </a:solidFill>
                <a:effectLst/>
                <a:latin typeface="Inter"/>
              </a:rPr>
              <a:t>Một chiến lược hiệu quả để phổ biến thông tin trong môi trường di động dựa trên việc tận dụng các mối quan hệ xã hội và cộng đồng khép kín. Dưới đây là một ví dụ minh họa:</a:t>
            </a:r>
          </a:p>
          <a:p>
            <a:pPr algn="l">
              <a:buFont typeface="+mj-lt"/>
              <a:buAutoNum type="arabicPeriod"/>
            </a:pPr>
            <a:r>
              <a:rPr lang="vi-VN" b="1" i="0" dirty="0">
                <a:solidFill>
                  <a:srgbClr val="404040"/>
                </a:solidFill>
                <a:effectLst/>
                <a:latin typeface="Inter"/>
              </a:rPr>
              <a:t>Thế giới của Alice</a:t>
            </a:r>
            <a:r>
              <a:rPr lang="vi-VN" b="0" i="0" dirty="0">
                <a:solidFill>
                  <a:srgbClr val="404040"/>
                </a:solidFill>
                <a:effectLst/>
                <a:latin typeface="Inter"/>
              </a:rPr>
              <a:t>:</a:t>
            </a:r>
          </a:p>
          <a:p>
            <a:pPr marL="742950" lvl="1" indent="-285750" algn="l">
              <a:buFont typeface="+mj-lt"/>
              <a:buAutoNum type="arabicPeriod"/>
            </a:pPr>
            <a:r>
              <a:rPr lang="vi-VN" b="0" i="0" dirty="0">
                <a:solidFill>
                  <a:srgbClr val="404040"/>
                </a:solidFill>
                <a:effectLst/>
                <a:latin typeface="Inter"/>
              </a:rPr>
              <a:t>Alice có một nhóm bạn bè và những người lạ.</a:t>
            </a:r>
          </a:p>
          <a:p>
            <a:pPr marL="742950" lvl="1" indent="-285750" algn="l">
              <a:buFont typeface="+mj-lt"/>
              <a:buAutoNum type="arabicPeriod"/>
            </a:pPr>
            <a:r>
              <a:rPr lang="vi-VN" b="0" i="0" dirty="0">
                <a:solidFill>
                  <a:srgbClr val="404040"/>
                </a:solidFill>
                <a:effectLst/>
                <a:latin typeface="Inter"/>
              </a:rPr>
              <a:t>Nếu Alice muốn gửi một thông điệp đến Bob, cô ấy có thể áp dụng chiến lược sau:</a:t>
            </a:r>
          </a:p>
          <a:p>
            <a:pPr algn="l">
              <a:buFont typeface="+mj-lt"/>
              <a:buAutoNum type="arabicPeriod"/>
            </a:pPr>
            <a:r>
              <a:rPr lang="vi-VN" b="1" i="0" dirty="0">
                <a:solidFill>
                  <a:srgbClr val="404040"/>
                </a:solidFill>
                <a:effectLst/>
                <a:latin typeface="Inter"/>
              </a:rPr>
              <a:t>Chiến lược gửi thông điệp</a:t>
            </a:r>
            <a:r>
              <a:rPr lang="vi-VN" b="0" i="0" dirty="0">
                <a:solidFill>
                  <a:srgbClr val="404040"/>
                </a:solidFill>
                <a:effectLst/>
                <a:latin typeface="Inter"/>
              </a:rPr>
              <a:t>:</a:t>
            </a:r>
          </a:p>
          <a:p>
            <a:pPr marL="742950" lvl="1" indent="-285750" algn="l">
              <a:buFont typeface="+mj-lt"/>
              <a:buAutoNum type="arabicPeriod"/>
            </a:pPr>
            <a:r>
              <a:rPr lang="vi-VN" b="1" i="0" dirty="0">
                <a:solidFill>
                  <a:srgbClr val="404040"/>
                </a:solidFill>
                <a:effectLst/>
                <a:latin typeface="Inter"/>
              </a:rPr>
              <a:t>Bước 1</a:t>
            </a:r>
            <a:r>
              <a:rPr lang="vi-VN" b="0" i="0" dirty="0">
                <a:solidFill>
                  <a:srgbClr val="404040"/>
                </a:solidFill>
                <a:effectLst/>
                <a:latin typeface="Inter"/>
              </a:rPr>
              <a:t>: Alice gửi thông điệp đến tất cả bạn bè của mình.</a:t>
            </a:r>
          </a:p>
          <a:p>
            <a:pPr marL="742950" lvl="1" indent="-285750" algn="l">
              <a:buFont typeface="+mj-lt"/>
              <a:buAutoNum type="arabicPeriod"/>
            </a:pPr>
            <a:r>
              <a:rPr lang="vi-VN" b="1" i="0" dirty="0">
                <a:solidFill>
                  <a:srgbClr val="404040"/>
                </a:solidFill>
                <a:effectLst/>
                <a:latin typeface="Inter"/>
              </a:rPr>
              <a:t>Bước 2</a:t>
            </a:r>
            <a:r>
              <a:rPr lang="vi-VN" b="0" i="0" dirty="0">
                <a:solidFill>
                  <a:srgbClr val="404040"/>
                </a:solidFill>
                <a:effectLst/>
                <a:latin typeface="Inter"/>
              </a:rPr>
              <a:t>: Khi một người bạn của Alice gặp Bob lần đầu tiên, họ sẽ chuyển thông điệp từ Alice đến Bob.</a:t>
            </a:r>
          </a:p>
          <a:p>
            <a:pPr algn="l"/>
            <a:r>
              <a:rPr lang="vi-VN" b="1" i="0" dirty="0">
                <a:solidFill>
                  <a:srgbClr val="404040"/>
                </a:solidFill>
                <a:effectLst/>
                <a:latin typeface="Inter"/>
              </a:rPr>
              <a:t>Quan sát</a:t>
            </a:r>
          </a:p>
          <a:p>
            <a:pPr algn="l"/>
            <a:r>
              <a:rPr lang="vi-VN" b="0" i="0" dirty="0">
                <a:solidFill>
                  <a:srgbClr val="404040"/>
                </a:solidFill>
                <a:effectLst/>
                <a:latin typeface="Inter"/>
              </a:rPr>
              <a:t>Chiến lược này hoạt động hiệu quả vì các lý do sau:</a:t>
            </a:r>
          </a:p>
          <a:p>
            <a:pPr algn="l">
              <a:buFont typeface="+mj-lt"/>
              <a:buAutoNum type="arabicPeriod"/>
            </a:pPr>
            <a:r>
              <a:rPr lang="vi-VN" b="1" i="0" dirty="0">
                <a:solidFill>
                  <a:srgbClr val="404040"/>
                </a:solidFill>
                <a:effectLst/>
                <a:latin typeface="Inter"/>
              </a:rPr>
              <a:t>Cộng đồng khép kín</a:t>
            </a:r>
            <a:r>
              <a:rPr lang="vi-VN" b="0" i="0" dirty="0">
                <a:solidFill>
                  <a:srgbClr val="404040"/>
                </a:solidFill>
                <a:effectLst/>
                <a:latin typeface="Inter"/>
              </a:rPr>
              <a:t>: Các nhóm bạn bè thường tạo thành các cộng đồng khép kín, nơi các thành viên thường xuyên gặp gỡ và tương tác với nhau.</a:t>
            </a:r>
          </a:p>
          <a:p>
            <a:pPr algn="l">
              <a:buFont typeface="+mj-lt"/>
              <a:buAutoNum type="arabicPeriod"/>
            </a:pPr>
            <a:r>
              <a:rPr lang="vi-VN" b="1" i="0" dirty="0">
                <a:solidFill>
                  <a:srgbClr val="404040"/>
                </a:solidFill>
                <a:effectLst/>
                <a:latin typeface="Inter"/>
              </a:rPr>
              <a:t>Tần suất gặp gỡ cao</a:t>
            </a:r>
            <a:r>
              <a:rPr lang="vi-VN" b="0" i="0" dirty="0">
                <a:solidFill>
                  <a:srgbClr val="404040"/>
                </a:solidFill>
                <a:effectLst/>
                <a:latin typeface="Inter"/>
              </a:rPr>
              <a:t>: Trong các cộng đồng khép kín, xác suất để một người bạn của Alice gặp Bob là khá cao, điều này làm tăng khả năng thông điệp được chuyển đến Bob một cách nhanh chóng.</a:t>
            </a:r>
          </a:p>
          <a:p>
            <a:pPr algn="l">
              <a:buFont typeface="+mj-lt"/>
              <a:buAutoNum type="arabicPeriod"/>
            </a:pPr>
            <a:r>
              <a:rPr lang="vi-VN" b="1" i="0" dirty="0">
                <a:solidFill>
                  <a:srgbClr val="404040"/>
                </a:solidFill>
                <a:effectLst/>
                <a:latin typeface="Inter"/>
              </a:rPr>
              <a:t>Hiệu quả truyền thông</a:t>
            </a:r>
            <a:r>
              <a:rPr lang="vi-VN" b="0" i="0" dirty="0">
                <a:solidFill>
                  <a:srgbClr val="404040"/>
                </a:solidFill>
                <a:effectLst/>
                <a:latin typeface="Inter"/>
              </a:rPr>
              <a:t>: Chiến lược này tận dụng các mối quan hệ xã hội để tối ưu hóa việc phổ biến thông tin mà không cần dựa vào cơ sở hạ tầng mạng cố định.</a:t>
            </a:r>
          </a:p>
          <a:p>
            <a:br>
              <a:rPr lang="vi-VN" dirty="0"/>
            </a:br>
            <a:endParaRPr lang="en-US" dirty="0"/>
          </a:p>
        </p:txBody>
      </p:sp>
      <p:sp>
        <p:nvSpPr>
          <p:cNvPr id="4" name="Slide Number Placeholder 3"/>
          <p:cNvSpPr>
            <a:spLocks noGrp="1"/>
          </p:cNvSpPr>
          <p:nvPr>
            <p:ph type="sldNum" sz="quarter" idx="5"/>
          </p:nvPr>
        </p:nvSpPr>
        <p:spPr/>
        <p:txBody>
          <a:bodyPr/>
          <a:lstStyle/>
          <a:p>
            <a:fld id="{2462E6CA-8440-45F5-A3AE-62AA54DA537F}" type="slidenum">
              <a:rPr lang="en-US" smtClean="0"/>
              <a:t>74</a:t>
            </a:fld>
            <a:endParaRPr lang="en-US"/>
          </a:p>
        </p:txBody>
      </p:sp>
    </p:spTree>
    <p:extLst>
      <p:ext uri="{BB962C8B-B14F-4D97-AF65-F5344CB8AC3E}">
        <p14:creationId xmlns:p14="http://schemas.microsoft.com/office/powerpoint/2010/main" val="2568086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56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56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56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56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7/5/2025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56</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8846"/>
            <a:ext cx="1300480"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334594" y="571561"/>
            <a:ext cx="3940911" cy="78930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7/5/2025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56</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7.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 Target="slide8.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slide" Target="slide10.xml"/><Relationship Id="rId4" Type="http://schemas.openxmlformats.org/officeDocument/2006/relationships/slide" Target="slide9.xml"/></Relationships>
</file>

<file path=ppt/slides/_rels/slide1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4.xml"/></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4.xml"/></Relationships>
</file>

<file path=ppt/slides/_rels/slide1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4.xml"/></Relationships>
</file>

<file path=ppt/slides/_rels/slide14.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4.xml"/></Relationships>
</file>

<file path=ppt/slides/_rels/slide15.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4.xml"/></Relationships>
</file>

<file path=ppt/slides/_rels/slide16.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4.xml"/></Relationships>
</file>

<file path=ppt/slides/_rels/slide17.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slide" Target="slide11.xml"/><Relationship Id="rId5" Type="http://schemas.openxmlformats.org/officeDocument/2006/relationships/slide" Target="slide9.xml"/><Relationship Id="rId4" Type="http://schemas.openxmlformats.org/officeDocument/2006/relationships/slide" Target="slide4.xml"/></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slide" Target="slide18.xml"/><Relationship Id="rId4" Type="http://schemas.openxmlformats.org/officeDocument/2006/relationships/slide" Target="slide9.xml"/></Relationships>
</file>

<file path=ppt/slides/_rels/slide19.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slide" Target="slide18.xml"/><Relationship Id="rId5" Type="http://schemas.openxmlformats.org/officeDocument/2006/relationships/slide" Target="slide9.xml"/><Relationship Id="rId4" Type="http://schemas.openxmlformats.org/officeDocument/2006/relationships/slide" Target="slide4.xml"/></Relationships>
</file>

<file path=ppt/slides/_rels/slide20.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slide" Target="slide18.xml"/><Relationship Id="rId5" Type="http://schemas.openxmlformats.org/officeDocument/2006/relationships/slide" Target="slide9.xml"/><Relationship Id="rId4" Type="http://schemas.openxmlformats.org/officeDocument/2006/relationships/slide" Target="slide4.xml"/></Relationships>
</file>

<file path=ppt/slides/_rels/slide2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4.xml"/></Relationships>
</file>

<file path=ppt/slides/_rels/slide22.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4.xml"/></Relationships>
</file>

<file path=ppt/slides/_rels/slide2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4.xml"/></Relationships>
</file>

<file path=ppt/slides/_rels/slide2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4.xml"/></Relationships>
</file>

<file path=ppt/slides/_rels/slide2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21.xml"/><Relationship Id="rId4" Type="http://schemas.openxmlformats.org/officeDocument/2006/relationships/slide" Target="slide9.xml"/></Relationships>
</file>

<file path=ppt/slides/_rels/slide2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9.xml"/></Relationships>
</file>

<file path=ppt/slides/_rels/slide2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9.xml"/></Relationships>
</file>

<file path=ppt/slides/_rels/slide28.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slide" Target="slide9.xml"/><Relationship Id="rId4" Type="http://schemas.openxmlformats.org/officeDocument/2006/relationships/slide" Target="slide4.xml"/></Relationships>
</file>

<file path=ppt/slides/_rels/slide29.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slide" Target="slide4.xml"/></Relationships>
</file>

<file path=ppt/slides/_rels/slide30.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1.xml.rels><?xml version="1.0" encoding="UTF-8" standalone="yes"?>
<Relationships xmlns="http://schemas.openxmlformats.org/package/2006/relationships"><Relationship Id="rId8" Type="http://schemas.openxmlformats.org/officeDocument/2006/relationships/hyperlink" Target="mailto:MVS@VAN-STEEN.NET" TargetMode="External"/><Relationship Id="rId3" Type="http://schemas.openxmlformats.org/officeDocument/2006/relationships/slide" Target="slide4.xml"/><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slide" Target="slide21.xml"/><Relationship Id="rId10" Type="http://schemas.openxmlformats.org/officeDocument/2006/relationships/slide" Target="slide30.xml"/><Relationship Id="rId4" Type="http://schemas.openxmlformats.org/officeDocument/2006/relationships/slide" Target="slide9.xml"/><Relationship Id="rId9"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3.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0.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9.xml"/></Relationships>
</file>

<file path=ppt/slides/_rels/slide35.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6.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7.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8.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4.xml"/></Relationships>
</file>

<file path=ppt/slides/_rels/slide3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0.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1.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9.xml"/></Relationships>
</file>

<file path=ppt/slides/_rels/slide4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slide" Target="slide49.xml"/></Relationships>
</file>

<file path=ppt/slides/_rels/slide5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slide" Target="slide50.xml"/><Relationship Id="rId4" Type="http://schemas.openxmlformats.org/officeDocument/2006/relationships/slide" Target="slide49.xml"/></Relationships>
</file>

<file path=ppt/slides/_rels/slide5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slide" Target="slide49.xml"/></Relationships>
</file>

<file path=ppt/slides/_rels/slide52.xml.rels><?xml version="1.0" encoding="UTF-8" standalone="yes"?>
<Relationships xmlns="http://schemas.openxmlformats.org/package/2006/relationships"><Relationship Id="rId8" Type="http://schemas.openxmlformats.org/officeDocument/2006/relationships/slide" Target="slide52.xml"/><Relationship Id="rId3" Type="http://schemas.openxmlformats.org/officeDocument/2006/relationships/slide" Target="slide4.xml"/><Relationship Id="rId7"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50.xml"/><Relationship Id="rId4" Type="http://schemas.openxmlformats.org/officeDocument/2006/relationships/slide" Target="slide49.xml"/></Relationships>
</file>

<file path=ppt/slides/_rels/slide53.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5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50.xml"/><Relationship Id="rId4" Type="http://schemas.openxmlformats.org/officeDocument/2006/relationships/slide" Target="slide49.xml"/></Relationships>
</file>

<file path=ppt/slides/_rels/slide5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2.xml"/><Relationship Id="rId1" Type="http://schemas.openxmlformats.org/officeDocument/2006/relationships/slideLayout" Target="../slideLayouts/slideLayout5.xml"/><Relationship Id="rId6" Type="http://schemas.openxmlformats.org/officeDocument/2006/relationships/slide" Target="slide55.xml"/><Relationship Id="rId5" Type="http://schemas.openxmlformats.org/officeDocument/2006/relationships/slide" Target="slide50.xml"/><Relationship Id="rId4" Type="http://schemas.openxmlformats.org/officeDocument/2006/relationships/slide" Target="slide49.xml"/></Relationships>
</file>

<file path=ppt/slides/_rels/slide56.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53.xml"/><Relationship Id="rId1" Type="http://schemas.openxmlformats.org/officeDocument/2006/relationships/slideLayout" Target="../slideLayouts/slideLayout5.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57.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58.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55.xml"/><Relationship Id="rId1" Type="http://schemas.openxmlformats.org/officeDocument/2006/relationships/slideLayout" Target="../slideLayouts/slideLayout5.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59.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56.xml"/><Relationship Id="rId1" Type="http://schemas.openxmlformats.org/officeDocument/2006/relationships/slideLayout" Target="../slideLayouts/slideLayout5.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60.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57.xml"/><Relationship Id="rId1" Type="http://schemas.openxmlformats.org/officeDocument/2006/relationships/slideLayout" Target="../slideLayouts/slideLayout5.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61.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xml"/></Relationships>
</file>

<file path=ppt/slides/_rels/slide6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55.xml"/><Relationship Id="rId1" Type="http://schemas.openxmlformats.org/officeDocument/2006/relationships/slideLayout" Target="../slideLayouts/slideLayout5.xml"/><Relationship Id="rId5" Type="http://schemas.openxmlformats.org/officeDocument/2006/relationships/slide" Target="slide50.xml"/><Relationship Id="rId4" Type="http://schemas.openxmlformats.org/officeDocument/2006/relationships/slide" Target="slide49.xml"/></Relationships>
</file>

<file path=ppt/slides/_rels/slide6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9.xml"/><Relationship Id="rId1" Type="http://schemas.openxmlformats.org/officeDocument/2006/relationships/slideLayout" Target="../slideLayouts/slideLayout5.xml"/><Relationship Id="rId5" Type="http://schemas.openxmlformats.org/officeDocument/2006/relationships/slide" Target="slide63.xml"/><Relationship Id="rId4" Type="http://schemas.openxmlformats.org/officeDocument/2006/relationships/slide" Target="slide49.xml"/></Relationships>
</file>

<file path=ppt/slides/_rels/slide64.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slide" Target="slide4.xml"/><Relationship Id="rId1" Type="http://schemas.openxmlformats.org/officeDocument/2006/relationships/slideLayout" Target="../slideLayouts/slideLayout5.xml"/><Relationship Id="rId5" Type="http://schemas.openxmlformats.org/officeDocument/2006/relationships/slide" Target="slide64.xml"/><Relationship Id="rId4" Type="http://schemas.openxmlformats.org/officeDocument/2006/relationships/slide" Target="slide63.xml"/></Relationships>
</file>

<file path=ppt/slides/_rels/slide6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64.xml"/><Relationship Id="rId3" Type="http://schemas.openxmlformats.org/officeDocument/2006/relationships/slide" Target="slide49.xml"/><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slide" Target="slide4.xml"/><Relationship Id="rId1" Type="http://schemas.openxmlformats.org/officeDocument/2006/relationships/slideLayout" Target="../slideLayouts/slideLayout5.xml"/><Relationship Id="rId6" Type="http://schemas.openxmlformats.org/officeDocument/2006/relationships/image" Target="../media/image10.png"/><Relationship Id="rId11" Type="http://schemas.openxmlformats.org/officeDocument/2006/relationships/image" Target="../media/image3.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slide" Target="slide63.xml"/><Relationship Id="rId9" Type="http://schemas.openxmlformats.org/officeDocument/2006/relationships/image" Target="../media/image13.png"/></Relationships>
</file>

<file path=ppt/slides/_rels/slide6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0.xml"/><Relationship Id="rId1" Type="http://schemas.openxmlformats.org/officeDocument/2006/relationships/slideLayout" Target="../slideLayouts/slideLayout5.xml"/><Relationship Id="rId6" Type="http://schemas.openxmlformats.org/officeDocument/2006/relationships/slide" Target="slide66.xml"/><Relationship Id="rId5" Type="http://schemas.openxmlformats.org/officeDocument/2006/relationships/slide" Target="slide63.xml"/><Relationship Id="rId4" Type="http://schemas.openxmlformats.org/officeDocument/2006/relationships/slide" Target="slide49.xml"/></Relationships>
</file>

<file path=ppt/slides/_rels/slide67.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notesSlide" Target="../notesSlides/notesSlide61.xml"/><Relationship Id="rId1" Type="http://schemas.openxmlformats.org/officeDocument/2006/relationships/slideLayout" Target="../slideLayouts/slideLayout5.xml"/><Relationship Id="rId6" Type="http://schemas.openxmlformats.org/officeDocument/2006/relationships/slide" Target="slide63.xml"/><Relationship Id="rId5" Type="http://schemas.openxmlformats.org/officeDocument/2006/relationships/slide" Target="slide49.xml"/><Relationship Id="rId4" Type="http://schemas.openxmlformats.org/officeDocument/2006/relationships/slide" Target="slide4.xml"/></Relationships>
</file>

<file path=ppt/slides/_rels/slide6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2.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6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3.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7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4.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7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5.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7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6.xml"/><Relationship Id="rId1" Type="http://schemas.openxmlformats.org/officeDocument/2006/relationships/slideLayout" Target="../slideLayouts/slideLayout5.xml"/><Relationship Id="rId6" Type="http://schemas.openxmlformats.org/officeDocument/2006/relationships/slide" Target="slide72.xml"/><Relationship Id="rId5" Type="http://schemas.openxmlformats.org/officeDocument/2006/relationships/slide" Target="slide68.xml"/><Relationship Id="rId4" Type="http://schemas.openxmlformats.org/officeDocument/2006/relationships/slide" Target="slide49.xml"/></Relationships>
</file>

<file path=ppt/slides/_rels/slide73.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notesSlide" Target="../notesSlides/notesSlide67.xml"/><Relationship Id="rId1" Type="http://schemas.openxmlformats.org/officeDocument/2006/relationships/slideLayout" Target="../slideLayouts/slideLayout5.xml"/><Relationship Id="rId6" Type="http://schemas.openxmlformats.org/officeDocument/2006/relationships/slide" Target="slide68.xml"/><Relationship Id="rId5" Type="http://schemas.openxmlformats.org/officeDocument/2006/relationships/slide" Target="slide49.xml"/><Relationship Id="rId4" Type="http://schemas.openxmlformats.org/officeDocument/2006/relationships/slide" Target="slide4.xml"/></Relationships>
</file>

<file path=ppt/slides/_rels/slide74.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68.xml"/><Relationship Id="rId5" Type="http://schemas.openxmlformats.org/officeDocument/2006/relationships/slide" Target="slide49.xml"/><Relationship Id="rId4" Type="http://schemas.openxmlformats.org/officeDocument/2006/relationships/slide" Target="slide4.xml"/></Relationships>
</file>

<file path=ppt/slides/_rels/slide7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73.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76.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slide" Target="slide4.xml"/><Relationship Id="rId1" Type="http://schemas.openxmlformats.org/officeDocument/2006/relationships/slideLayout" Target="../slideLayouts/slideLayout5.xml"/><Relationship Id="rId5" Type="http://schemas.openxmlformats.org/officeDocument/2006/relationships/slide" Target="slide73.xml"/><Relationship Id="rId4" Type="http://schemas.openxmlformats.org/officeDocument/2006/relationships/slide" Target="slide68.xml"/></Relationships>
</file>

<file path=ppt/slides/_rels/slide7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77.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7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 Target="slide49.xml"/><Relationship Id="rId7" Type="http://schemas.openxmlformats.org/officeDocument/2006/relationships/image" Target="../media/image18.png"/><Relationship Id="rId2" Type="http://schemas.openxmlformats.org/officeDocument/2006/relationships/slide" Target="slide4.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slide" Target="slide77.xml"/><Relationship Id="rId4" Type="http://schemas.openxmlformats.org/officeDocument/2006/relationships/slide" Target="slide68.xml"/><Relationship Id="rId9" Type="http://schemas.openxmlformats.org/officeDocument/2006/relationships/image" Target="../media/image20.png"/></Relationships>
</file>

<file path=ppt/slides/_rels/slide7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77.xml"/><Relationship Id="rId1" Type="http://schemas.openxmlformats.org/officeDocument/2006/relationships/slideLayout" Target="../slideLayouts/slideLayout5.xml"/><Relationship Id="rId5" Type="http://schemas.openxmlformats.org/officeDocument/2006/relationships/slide" Target="slide68.xml"/><Relationship Id="rId4" Type="http://schemas.openxmlformats.org/officeDocument/2006/relationships/slide" Target="slide49.xml"/></Relationships>
</file>

<file path=ppt/slides/_rels/slide8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77.xml"/><Relationship Id="rId1" Type="http://schemas.openxmlformats.org/officeDocument/2006/relationships/slideLayout" Target="../slideLayouts/slideLayout2.xml"/><Relationship Id="rId5" Type="http://schemas.openxmlformats.org/officeDocument/2006/relationships/slide" Target="slide68.xml"/><Relationship Id="rId4" Type="http://schemas.openxmlformats.org/officeDocument/2006/relationships/slide" Target="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CF61F4-75A9-33B8-8FCC-5AB26A3298EB}"/>
              </a:ext>
            </a:extLst>
          </p:cNvPr>
          <p:cNvSpPr txBox="1"/>
          <p:nvPr/>
        </p:nvSpPr>
        <p:spPr>
          <a:xfrm>
            <a:off x="247650" y="206375"/>
            <a:ext cx="3962400" cy="400110"/>
          </a:xfrm>
          <a:prstGeom prst="rect">
            <a:avLst/>
          </a:prstGeom>
          <a:noFill/>
        </p:spPr>
        <p:txBody>
          <a:bodyPr wrap="square" rtlCol="0">
            <a:spAutoFit/>
          </a:bodyPr>
          <a:lstStyle/>
          <a:p>
            <a:r>
              <a:rPr lang="en-US" sz="2000" dirty="0">
                <a:solidFill>
                  <a:schemeClr val="tx2">
                    <a:lumMod val="75000"/>
                  </a:schemeClr>
                </a:solidFill>
                <a:latin typeface="Arial" panose="020B0604020202020204" pitchFamily="34" charset="0"/>
                <a:cs typeface="Arial" panose="020B0604020202020204" pitchFamily="34" charset="0"/>
              </a:rPr>
              <a:t>Assessment</a:t>
            </a:r>
          </a:p>
        </p:txBody>
      </p:sp>
      <p:sp>
        <p:nvSpPr>
          <p:cNvPr id="4" name="TextBox 3">
            <a:extLst>
              <a:ext uri="{FF2B5EF4-FFF2-40B4-BE49-F238E27FC236}">
                <a16:creationId xmlns:a16="http://schemas.microsoft.com/office/drawing/2014/main" id="{15A121C3-775E-6FC5-4DFD-B14808676A50}"/>
              </a:ext>
            </a:extLst>
          </p:cNvPr>
          <p:cNvSpPr txBox="1"/>
          <p:nvPr/>
        </p:nvSpPr>
        <p:spPr>
          <a:xfrm>
            <a:off x="171450" y="663575"/>
            <a:ext cx="4191000" cy="2000548"/>
          </a:xfrm>
          <a:prstGeom prst="rect">
            <a:avLst/>
          </a:prstGeom>
          <a:noFill/>
        </p:spPr>
        <p:txBody>
          <a:bodyPr wrap="square" rtlCol="0">
            <a:spAutoFit/>
          </a:bodyPr>
          <a:lstStyle/>
          <a:p>
            <a:pPr marL="285750" indent="-285750">
              <a:buFontTx/>
              <a:buChar char="-"/>
            </a:pPr>
            <a:r>
              <a:rPr lang="en-US" dirty="0"/>
              <a:t>Attendance/Contribution (10%)</a:t>
            </a:r>
          </a:p>
          <a:p>
            <a:pPr marL="742950" lvl="1" indent="-285750">
              <a:buFontTx/>
              <a:buChar char="-"/>
            </a:pPr>
            <a:r>
              <a:rPr lang="en-US" sz="1400" dirty="0"/>
              <a:t>Each question or answer equal to 1pt</a:t>
            </a:r>
          </a:p>
          <a:p>
            <a:pPr marL="285750" indent="-285750">
              <a:buFontTx/>
              <a:buChar char="-"/>
            </a:pPr>
            <a:r>
              <a:rPr lang="en-US" dirty="0"/>
              <a:t>Presentation (30%)</a:t>
            </a:r>
          </a:p>
          <a:p>
            <a:pPr marL="742950" lvl="1" indent="-285750">
              <a:buFontTx/>
              <a:buChar char="-"/>
            </a:pPr>
            <a:r>
              <a:rPr lang="en-US" sz="1400" dirty="0"/>
              <a:t>Present a section of the course content</a:t>
            </a:r>
          </a:p>
          <a:p>
            <a:pPr marL="285750" indent="-285750">
              <a:buFontTx/>
              <a:buChar char="-"/>
            </a:pPr>
            <a:r>
              <a:rPr lang="en-US" dirty="0"/>
              <a:t>Group Assignment (60%)</a:t>
            </a:r>
          </a:p>
          <a:p>
            <a:pPr marL="742950" lvl="1" indent="-285750">
              <a:buFontTx/>
              <a:buChar char="-"/>
            </a:pPr>
            <a:r>
              <a:rPr lang="en-US" sz="1400" dirty="0"/>
              <a:t>Design and implement a distributed application (for example: p2p chat, p2p file/video sharing)</a:t>
            </a:r>
          </a:p>
        </p:txBody>
      </p:sp>
    </p:spTree>
    <p:extLst>
      <p:ext uri="{BB962C8B-B14F-4D97-AF65-F5344CB8AC3E}">
        <p14:creationId xmlns:p14="http://schemas.microsoft.com/office/powerpoint/2010/main" val="3334516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CAE9F6-F1EE-5D41-79B1-05D916DED48D}"/>
              </a:ext>
            </a:extLst>
          </p:cNvPr>
          <p:cNvSpPr txBox="1"/>
          <p:nvPr/>
        </p:nvSpPr>
        <p:spPr>
          <a:xfrm>
            <a:off x="32905" y="130175"/>
            <a:ext cx="4114800" cy="400110"/>
          </a:xfrm>
          <a:prstGeom prst="rect">
            <a:avLst/>
          </a:prstGeom>
          <a:noFill/>
        </p:spPr>
        <p:txBody>
          <a:bodyPr wrap="square" rtlCol="0">
            <a:spAutoFit/>
          </a:bodyPr>
          <a:lstStyle/>
          <a:p>
            <a:r>
              <a:rPr lang="en-US" sz="2000" dirty="0">
                <a:solidFill>
                  <a:schemeClr val="tx2">
                    <a:lumMod val="75000"/>
                  </a:schemeClr>
                </a:solidFill>
                <a:latin typeface="Arial" panose="020B0604020202020204" pitchFamily="34" charset="0"/>
                <a:cs typeface="Arial" panose="020B0604020202020204" pitchFamily="34" charset="0"/>
              </a:rPr>
              <a:t>Course Content</a:t>
            </a:r>
          </a:p>
        </p:txBody>
      </p:sp>
      <p:sp>
        <p:nvSpPr>
          <p:cNvPr id="3" name="TextBox 2">
            <a:extLst>
              <a:ext uri="{FF2B5EF4-FFF2-40B4-BE49-F238E27FC236}">
                <a16:creationId xmlns:a16="http://schemas.microsoft.com/office/drawing/2014/main" id="{7A5710E2-11FE-7B75-D366-D9F6271EBB61}"/>
              </a:ext>
            </a:extLst>
          </p:cNvPr>
          <p:cNvSpPr txBox="1"/>
          <p:nvPr/>
        </p:nvSpPr>
        <p:spPr>
          <a:xfrm>
            <a:off x="95250" y="587375"/>
            <a:ext cx="4191000" cy="2308324"/>
          </a:xfrm>
          <a:prstGeom prst="rect">
            <a:avLst/>
          </a:prstGeom>
          <a:noFill/>
        </p:spPr>
        <p:txBody>
          <a:bodyPr wrap="square" rtlCol="0">
            <a:spAutoFit/>
          </a:bodyPr>
          <a:lstStyle/>
          <a:p>
            <a:pPr marL="285750" indent="-285750">
              <a:buFontTx/>
              <a:buChar char="-"/>
            </a:pPr>
            <a:r>
              <a:rPr lang="en-US" dirty="0"/>
              <a:t>Introduction</a:t>
            </a:r>
          </a:p>
          <a:p>
            <a:pPr marL="285750" indent="-285750">
              <a:buFontTx/>
              <a:buChar char="-"/>
            </a:pPr>
            <a:r>
              <a:rPr lang="en-US" dirty="0"/>
              <a:t>Architectures</a:t>
            </a:r>
          </a:p>
          <a:p>
            <a:pPr marL="285750" indent="-285750">
              <a:buFontTx/>
              <a:buChar char="-"/>
            </a:pPr>
            <a:r>
              <a:rPr lang="en-US" dirty="0"/>
              <a:t>Processes</a:t>
            </a:r>
          </a:p>
          <a:p>
            <a:pPr marL="285750" indent="-285750">
              <a:buFontTx/>
              <a:buChar char="-"/>
            </a:pPr>
            <a:r>
              <a:rPr lang="en-US" dirty="0"/>
              <a:t>Communication</a:t>
            </a:r>
          </a:p>
          <a:p>
            <a:pPr marL="285750" indent="-285750">
              <a:buFontTx/>
              <a:buChar char="-"/>
            </a:pPr>
            <a:r>
              <a:rPr lang="en-US" dirty="0"/>
              <a:t>Naming</a:t>
            </a:r>
          </a:p>
          <a:p>
            <a:pPr marL="285750" indent="-285750">
              <a:buFontTx/>
              <a:buChar char="-"/>
            </a:pPr>
            <a:r>
              <a:rPr lang="en-US" dirty="0"/>
              <a:t>Coordination</a:t>
            </a:r>
          </a:p>
          <a:p>
            <a:pPr marL="285750" indent="-285750">
              <a:buFontTx/>
              <a:buChar char="-"/>
            </a:pPr>
            <a:r>
              <a:rPr lang="en-US" dirty="0"/>
              <a:t>Consistency and replication</a:t>
            </a:r>
          </a:p>
          <a:p>
            <a:pPr marL="285750" indent="-285750">
              <a:buFontTx/>
              <a:buChar char="-"/>
            </a:pPr>
            <a:r>
              <a:rPr lang="en-US" dirty="0"/>
              <a:t>Fault tolerance</a:t>
            </a:r>
          </a:p>
        </p:txBody>
      </p:sp>
    </p:spTree>
    <p:extLst>
      <p:ext uri="{BB962C8B-B14F-4D97-AF65-F5344CB8AC3E}">
        <p14:creationId xmlns:p14="http://schemas.microsoft.com/office/powerpoint/2010/main" val="3745342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503866"/>
            <a:ext cx="1783714" cy="554355"/>
          </a:xfrm>
          <a:prstGeom prst="rect">
            <a:avLst/>
          </a:prstGeom>
        </p:spPr>
        <p:txBody>
          <a:bodyPr vert="horz" wrap="square" lIns="0" tIns="110490" rIns="0" bIns="0" rtlCol="0">
            <a:spAutoFit/>
          </a:bodyPr>
          <a:lstStyle/>
          <a:p>
            <a:pPr algn="ctr">
              <a:lnSpc>
                <a:spcPct val="100000"/>
              </a:lnSpc>
              <a:spcBef>
                <a:spcPts val="870"/>
              </a:spcBef>
            </a:pPr>
            <a:r>
              <a:rPr sz="1400" b="1" spc="10" dirty="0">
                <a:solidFill>
                  <a:srgbClr val="3333B2"/>
                </a:solidFill>
                <a:latin typeface="Arial"/>
                <a:cs typeface="Arial"/>
              </a:rPr>
              <a:t>Distributed</a:t>
            </a:r>
            <a:r>
              <a:rPr sz="1400" b="1" spc="-35" dirty="0">
                <a:solidFill>
                  <a:srgbClr val="3333B2"/>
                </a:solidFill>
                <a:latin typeface="Arial"/>
                <a:cs typeface="Arial"/>
              </a:rPr>
              <a:t> </a:t>
            </a:r>
            <a:r>
              <a:rPr sz="1400" b="1" spc="20" dirty="0">
                <a:solidFill>
                  <a:srgbClr val="3333B2"/>
                </a:solidFill>
                <a:latin typeface="Arial"/>
                <a:cs typeface="Arial"/>
              </a:rPr>
              <a:t>Systems</a:t>
            </a:r>
            <a:endParaRPr sz="1400">
              <a:latin typeface="Arial"/>
              <a:cs typeface="Arial"/>
            </a:endParaRPr>
          </a:p>
          <a:p>
            <a:pPr marL="3810" algn="ctr">
              <a:lnSpc>
                <a:spcPct val="100000"/>
              </a:lnSpc>
              <a:spcBef>
                <a:spcPts val="509"/>
              </a:spcBef>
            </a:pPr>
            <a:r>
              <a:rPr sz="1000" spc="-5" dirty="0">
                <a:solidFill>
                  <a:srgbClr val="3333B2"/>
                </a:solidFill>
                <a:latin typeface="Arial"/>
                <a:cs typeface="Arial"/>
              </a:rPr>
              <a:t>(3rd</a:t>
            </a:r>
            <a:r>
              <a:rPr sz="1000" spc="-35"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3" name="object 3"/>
          <p:cNvSpPr txBox="1"/>
          <p:nvPr/>
        </p:nvSpPr>
        <p:spPr>
          <a:xfrm>
            <a:off x="1307998" y="2243770"/>
            <a:ext cx="1992630" cy="521334"/>
          </a:xfrm>
          <a:prstGeom prst="rect">
            <a:avLst/>
          </a:prstGeom>
        </p:spPr>
        <p:txBody>
          <a:bodyPr vert="horz" wrap="square" lIns="0" tIns="17145" rIns="0" bIns="0" rtlCol="0">
            <a:spAutoFit/>
          </a:bodyPr>
          <a:lstStyle/>
          <a:p>
            <a:pPr algn="ctr">
              <a:lnSpc>
                <a:spcPct val="100000"/>
              </a:lnSpc>
              <a:spcBef>
                <a:spcPts val="135"/>
              </a:spcBef>
            </a:pPr>
            <a:r>
              <a:rPr sz="1400" spc="15" dirty="0">
                <a:latin typeface="Arial"/>
                <a:cs typeface="Arial"/>
              </a:rPr>
              <a:t>Chapter</a:t>
            </a:r>
            <a:r>
              <a:rPr sz="1400" spc="-25" dirty="0">
                <a:latin typeface="Arial"/>
                <a:cs typeface="Arial"/>
              </a:rPr>
              <a:t> </a:t>
            </a:r>
            <a:r>
              <a:rPr sz="1400" spc="15" dirty="0">
                <a:latin typeface="Arial"/>
                <a:cs typeface="Arial"/>
              </a:rPr>
              <a:t>01:</a:t>
            </a:r>
            <a:r>
              <a:rPr sz="1400" spc="65" dirty="0">
                <a:latin typeface="Arial"/>
                <a:cs typeface="Arial"/>
              </a:rPr>
              <a:t> </a:t>
            </a:r>
            <a:r>
              <a:rPr sz="1400" spc="15" dirty="0">
                <a:latin typeface="Arial"/>
                <a:cs typeface="Arial"/>
              </a:rPr>
              <a:t>Introduction</a:t>
            </a:r>
            <a:endParaRPr sz="1400">
              <a:latin typeface="Arial"/>
              <a:cs typeface="Arial"/>
            </a:endParaRPr>
          </a:p>
          <a:p>
            <a:pPr algn="ctr">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4</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14744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What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a:t>
            </a:r>
            <a:endParaRPr sz="600">
              <a:latin typeface="Arial"/>
              <a:cs typeface="Arial"/>
            </a:endParaRPr>
          </a:p>
        </p:txBody>
      </p:sp>
      <p:sp>
        <p:nvSpPr>
          <p:cNvPr id="3" name="object 3"/>
          <p:cNvSpPr txBox="1">
            <a:spLocks noGrp="1"/>
          </p:cNvSpPr>
          <p:nvPr>
            <p:ph type="title"/>
          </p:nvPr>
        </p:nvSpPr>
        <p:spPr>
          <a:xfrm>
            <a:off x="95300" y="188846"/>
            <a:ext cx="1553845" cy="244475"/>
          </a:xfrm>
          <a:prstGeom prst="rect">
            <a:avLst/>
          </a:prstGeom>
        </p:spPr>
        <p:txBody>
          <a:bodyPr vert="horz" wrap="square" lIns="0" tIns="17145" rIns="0" bIns="0" rtlCol="0">
            <a:spAutoFit/>
          </a:bodyPr>
          <a:lstStyle/>
          <a:p>
            <a:pPr marL="12700">
              <a:lnSpc>
                <a:spcPct val="100000"/>
              </a:lnSpc>
              <a:spcBef>
                <a:spcPts val="135"/>
              </a:spcBef>
            </a:pPr>
            <a:r>
              <a:rPr spc="10" dirty="0"/>
              <a:t>Distributed</a:t>
            </a:r>
            <a:r>
              <a:rPr spc="-30" dirty="0"/>
              <a:t> </a:t>
            </a:r>
            <a:r>
              <a:rPr spc="15" dirty="0"/>
              <a:t>System</a:t>
            </a:r>
          </a:p>
        </p:txBody>
      </p:sp>
      <p:sp>
        <p:nvSpPr>
          <p:cNvPr id="4" name="object 4"/>
          <p:cNvSpPr txBox="1"/>
          <p:nvPr/>
        </p:nvSpPr>
        <p:spPr>
          <a:xfrm>
            <a:off x="317728" y="930831"/>
            <a:ext cx="3968750" cy="1528445"/>
          </a:xfrm>
          <a:prstGeom prst="rect">
            <a:avLst/>
          </a:prstGeom>
        </p:spPr>
        <p:txBody>
          <a:bodyPr vert="horz" wrap="square" lIns="0" tIns="12065" rIns="0" bIns="0" rtlCol="0">
            <a:spAutoFit/>
          </a:bodyPr>
          <a:lstStyle/>
          <a:p>
            <a:pPr marL="41910">
              <a:lnSpc>
                <a:spcPts val="1410"/>
              </a:lnSpc>
              <a:spcBef>
                <a:spcPts val="95"/>
              </a:spcBef>
            </a:pPr>
            <a:r>
              <a:rPr sz="1200" spc="-5" dirty="0">
                <a:solidFill>
                  <a:srgbClr val="3333B2"/>
                </a:solidFill>
                <a:latin typeface="Arial"/>
                <a:cs typeface="Arial"/>
              </a:rPr>
              <a:t>Definition</a:t>
            </a:r>
            <a:endParaRPr sz="1200" dirty="0">
              <a:latin typeface="Arial"/>
              <a:cs typeface="Arial"/>
            </a:endParaRPr>
          </a:p>
          <a:p>
            <a:pPr marL="41910" marR="30480" indent="-4445">
              <a:lnSpc>
                <a:spcPts val="1200"/>
              </a:lnSpc>
              <a:spcBef>
                <a:spcPts val="10"/>
              </a:spcBef>
            </a:pPr>
            <a:r>
              <a:rPr sz="1000" spc="-20" dirty="0">
                <a:latin typeface="Arial"/>
                <a:cs typeface="Arial"/>
              </a:rPr>
              <a:t>A</a:t>
            </a:r>
            <a:r>
              <a:rPr sz="1000" spc="-10" dirty="0">
                <a:latin typeface="Arial"/>
                <a:cs typeface="Arial"/>
              </a:rPr>
              <a:t> </a:t>
            </a:r>
            <a:r>
              <a:rPr sz="1000" spc="-15" dirty="0">
                <a:latin typeface="Arial"/>
                <a:cs typeface="Arial"/>
              </a:rPr>
              <a:t>distributed</a:t>
            </a:r>
            <a:r>
              <a:rPr sz="1000" spc="-5" dirty="0">
                <a:latin typeface="Arial"/>
                <a:cs typeface="Arial"/>
              </a:rPr>
              <a:t> </a:t>
            </a:r>
            <a:r>
              <a:rPr sz="1000" spc="-15" dirty="0">
                <a:latin typeface="Arial"/>
                <a:cs typeface="Arial"/>
              </a:rPr>
              <a:t>system</a:t>
            </a:r>
            <a:r>
              <a:rPr sz="1000" spc="-5" dirty="0">
                <a:latin typeface="Arial"/>
                <a:cs typeface="Arial"/>
              </a:rPr>
              <a:t> </a:t>
            </a:r>
            <a:r>
              <a:rPr sz="1000" spc="-10" dirty="0">
                <a:latin typeface="Arial"/>
                <a:cs typeface="Arial"/>
              </a:rPr>
              <a:t>is</a:t>
            </a:r>
            <a:r>
              <a:rPr sz="1000" spc="-5" dirty="0">
                <a:latin typeface="Arial"/>
                <a:cs typeface="Arial"/>
              </a:rPr>
              <a:t> </a:t>
            </a:r>
            <a:r>
              <a:rPr sz="1000" spc="-15" dirty="0">
                <a:latin typeface="Arial"/>
                <a:cs typeface="Arial"/>
              </a:rPr>
              <a:t>a</a:t>
            </a:r>
            <a:r>
              <a:rPr sz="1000" spc="-5" dirty="0">
                <a:latin typeface="Arial"/>
                <a:cs typeface="Arial"/>
              </a:rPr>
              <a:t> </a:t>
            </a:r>
            <a:r>
              <a:rPr sz="1000" spc="-10" dirty="0">
                <a:latin typeface="Arial"/>
                <a:cs typeface="Arial"/>
              </a:rPr>
              <a:t>collection of</a:t>
            </a:r>
            <a:r>
              <a:rPr sz="1000" spc="-5" dirty="0">
                <a:latin typeface="Arial"/>
                <a:cs typeface="Arial"/>
              </a:rPr>
              <a:t> </a:t>
            </a:r>
            <a:r>
              <a:rPr sz="1000" spc="-15" dirty="0">
                <a:solidFill>
                  <a:srgbClr val="FA0000"/>
                </a:solidFill>
                <a:latin typeface="Arial"/>
                <a:cs typeface="Arial"/>
              </a:rPr>
              <a:t>autonomous</a:t>
            </a:r>
            <a:r>
              <a:rPr sz="1000" spc="-5" dirty="0">
                <a:solidFill>
                  <a:srgbClr val="FA0000"/>
                </a:solidFill>
                <a:latin typeface="Arial"/>
                <a:cs typeface="Arial"/>
              </a:rPr>
              <a:t> </a:t>
            </a:r>
            <a:r>
              <a:rPr sz="1000" spc="-15" dirty="0">
                <a:solidFill>
                  <a:srgbClr val="FA0000"/>
                </a:solidFill>
                <a:latin typeface="Arial"/>
                <a:cs typeface="Arial"/>
              </a:rPr>
              <a:t>computing</a:t>
            </a:r>
            <a:r>
              <a:rPr sz="1000" spc="-5" dirty="0">
                <a:solidFill>
                  <a:srgbClr val="FA0000"/>
                </a:solidFill>
                <a:latin typeface="Arial"/>
                <a:cs typeface="Arial"/>
              </a:rPr>
              <a:t> </a:t>
            </a:r>
            <a:r>
              <a:rPr sz="1000" spc="-15" dirty="0">
                <a:solidFill>
                  <a:srgbClr val="FA0000"/>
                </a:solidFill>
                <a:latin typeface="Arial"/>
                <a:cs typeface="Arial"/>
              </a:rPr>
              <a:t>elements </a:t>
            </a:r>
            <a:r>
              <a:rPr sz="1000" spc="-265" dirty="0">
                <a:solidFill>
                  <a:srgbClr val="FA0000"/>
                </a:solidFill>
                <a:latin typeface="Arial"/>
                <a:cs typeface="Arial"/>
              </a:rPr>
              <a:t> </a:t>
            </a:r>
            <a:r>
              <a:rPr sz="1000" spc="-5" dirty="0">
                <a:latin typeface="Arial"/>
                <a:cs typeface="Arial"/>
              </a:rPr>
              <a:t>that appears to its users</a:t>
            </a:r>
            <a:r>
              <a:rPr sz="1000" dirty="0">
                <a:latin typeface="Arial"/>
                <a:cs typeface="Arial"/>
              </a:rPr>
              <a:t> </a:t>
            </a:r>
            <a:r>
              <a:rPr sz="1000" spc="-5" dirty="0">
                <a:latin typeface="Arial"/>
                <a:cs typeface="Arial"/>
              </a:rPr>
              <a:t>as a </a:t>
            </a:r>
            <a:r>
              <a:rPr sz="1000" spc="-5" dirty="0">
                <a:solidFill>
                  <a:srgbClr val="FA0000"/>
                </a:solidFill>
                <a:latin typeface="Arial"/>
                <a:cs typeface="Arial"/>
              </a:rPr>
              <a:t>single coherent</a:t>
            </a:r>
            <a:r>
              <a:rPr sz="1000" dirty="0">
                <a:solidFill>
                  <a:srgbClr val="FA0000"/>
                </a:solidFill>
                <a:latin typeface="Arial"/>
                <a:cs typeface="Arial"/>
              </a:rPr>
              <a:t> </a:t>
            </a:r>
            <a:r>
              <a:rPr sz="1000" spc="-5" dirty="0">
                <a:solidFill>
                  <a:srgbClr val="FA0000"/>
                </a:solidFill>
                <a:latin typeface="Arial"/>
                <a:cs typeface="Arial"/>
              </a:rPr>
              <a:t>system</a:t>
            </a:r>
            <a:r>
              <a:rPr sz="1000" spc="-5" dirty="0">
                <a:latin typeface="Arial"/>
                <a:cs typeface="Arial"/>
              </a:rPr>
              <a:t>.</a:t>
            </a:r>
            <a:endParaRPr sz="1000" dirty="0">
              <a:latin typeface="Arial"/>
              <a:cs typeface="Arial"/>
            </a:endParaRPr>
          </a:p>
          <a:p>
            <a:pPr marL="41910">
              <a:lnSpc>
                <a:spcPct val="100000"/>
              </a:lnSpc>
              <a:spcBef>
                <a:spcPts val="650"/>
              </a:spcBef>
            </a:pPr>
            <a:r>
              <a:rPr sz="1200" spc="-5" dirty="0">
                <a:solidFill>
                  <a:srgbClr val="3333B2"/>
                </a:solidFill>
                <a:latin typeface="Arial"/>
                <a:cs typeface="Arial"/>
              </a:rPr>
              <a:t>Characteristic</a:t>
            </a:r>
            <a:r>
              <a:rPr sz="1200" spc="-25" dirty="0">
                <a:solidFill>
                  <a:srgbClr val="3333B2"/>
                </a:solidFill>
                <a:latin typeface="Arial"/>
                <a:cs typeface="Arial"/>
              </a:rPr>
              <a:t> </a:t>
            </a:r>
            <a:r>
              <a:rPr sz="1200" spc="-10" dirty="0">
                <a:solidFill>
                  <a:srgbClr val="3333B2"/>
                </a:solidFill>
                <a:latin typeface="Arial"/>
                <a:cs typeface="Arial"/>
              </a:rPr>
              <a:t>features</a:t>
            </a:r>
            <a:endParaRPr sz="1200" dirty="0">
              <a:latin typeface="Arial"/>
              <a:cs typeface="Arial"/>
            </a:endParaRPr>
          </a:p>
          <a:p>
            <a:pPr marL="318770" marR="92075" indent="-168275">
              <a:lnSpc>
                <a:spcPct val="100000"/>
              </a:lnSpc>
              <a:spcBef>
                <a:spcPts val="540"/>
              </a:spcBef>
              <a:buClr>
                <a:srgbClr val="3333B2"/>
              </a:buClr>
              <a:buChar char="►"/>
              <a:tabLst>
                <a:tab pos="319405" algn="l"/>
              </a:tabLst>
            </a:pPr>
            <a:r>
              <a:rPr sz="1000" spc="-10" dirty="0">
                <a:latin typeface="Arial"/>
                <a:cs typeface="Arial"/>
              </a:rPr>
              <a:t>Autonomous</a:t>
            </a:r>
            <a:r>
              <a:rPr sz="1000" dirty="0">
                <a:latin typeface="Arial"/>
                <a:cs typeface="Arial"/>
              </a:rPr>
              <a:t> </a:t>
            </a:r>
            <a:r>
              <a:rPr sz="1000" spc="-5" dirty="0">
                <a:latin typeface="Arial"/>
                <a:cs typeface="Arial"/>
              </a:rPr>
              <a:t>computing</a:t>
            </a:r>
            <a:r>
              <a:rPr sz="1000" spc="5" dirty="0">
                <a:latin typeface="Arial"/>
                <a:cs typeface="Arial"/>
              </a:rPr>
              <a:t> </a:t>
            </a:r>
            <a:r>
              <a:rPr sz="1000" spc="-5" dirty="0">
                <a:latin typeface="Arial"/>
                <a:cs typeface="Arial"/>
              </a:rPr>
              <a:t>elements,</a:t>
            </a:r>
            <a:r>
              <a:rPr sz="1000" spc="5" dirty="0">
                <a:latin typeface="Arial"/>
                <a:cs typeface="Arial"/>
              </a:rPr>
              <a:t> </a:t>
            </a:r>
            <a:r>
              <a:rPr sz="1000" spc="-5" dirty="0">
                <a:latin typeface="Arial"/>
                <a:cs typeface="Arial"/>
              </a:rPr>
              <a:t>also</a:t>
            </a:r>
            <a:r>
              <a:rPr sz="1000" spc="5" dirty="0">
                <a:latin typeface="Arial"/>
                <a:cs typeface="Arial"/>
              </a:rPr>
              <a:t> </a:t>
            </a:r>
            <a:r>
              <a:rPr sz="1000" spc="-10" dirty="0">
                <a:latin typeface="Arial"/>
                <a:cs typeface="Arial"/>
              </a:rPr>
              <a:t>referred</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as</a:t>
            </a:r>
            <a:r>
              <a:rPr sz="1000" spc="5" dirty="0">
                <a:latin typeface="Arial"/>
                <a:cs typeface="Arial"/>
              </a:rPr>
              <a:t> </a:t>
            </a:r>
            <a:r>
              <a:rPr sz="1000" spc="-5" dirty="0">
                <a:solidFill>
                  <a:srgbClr val="FA0000"/>
                </a:solidFill>
                <a:latin typeface="Arial"/>
                <a:cs typeface="Arial"/>
              </a:rPr>
              <a:t>nodes</a:t>
            </a:r>
            <a:r>
              <a:rPr sz="1000" spc="-5" dirty="0">
                <a:latin typeface="Arial"/>
                <a:cs typeface="Arial"/>
              </a:rPr>
              <a:t>,</a:t>
            </a:r>
            <a:r>
              <a:rPr sz="1000" spc="5" dirty="0">
                <a:latin typeface="Arial"/>
                <a:cs typeface="Arial"/>
              </a:rPr>
              <a:t> </a:t>
            </a:r>
            <a:r>
              <a:rPr sz="1000" spc="-5" dirty="0">
                <a:latin typeface="Arial"/>
                <a:cs typeface="Arial"/>
              </a:rPr>
              <a:t>be </a:t>
            </a:r>
            <a:r>
              <a:rPr sz="1000" spc="-265" dirty="0">
                <a:latin typeface="Arial"/>
                <a:cs typeface="Arial"/>
              </a:rPr>
              <a:t> </a:t>
            </a:r>
            <a:r>
              <a:rPr sz="1000" spc="-10" dirty="0">
                <a:latin typeface="Arial"/>
                <a:cs typeface="Arial"/>
              </a:rPr>
              <a:t>they </a:t>
            </a:r>
            <a:r>
              <a:rPr sz="1000" spc="-5" dirty="0">
                <a:latin typeface="Arial"/>
                <a:cs typeface="Arial"/>
              </a:rPr>
              <a:t>hardware </a:t>
            </a:r>
            <a:r>
              <a:rPr sz="1000" spc="-10" dirty="0">
                <a:latin typeface="Arial"/>
                <a:cs typeface="Arial"/>
              </a:rPr>
              <a:t>devices</a:t>
            </a:r>
            <a:r>
              <a:rPr sz="1000" spc="-5" dirty="0">
                <a:latin typeface="Arial"/>
                <a:cs typeface="Arial"/>
              </a:rPr>
              <a:t> or software processes.</a:t>
            </a:r>
            <a:endParaRPr sz="1000" dirty="0">
              <a:latin typeface="Arial"/>
              <a:cs typeface="Arial"/>
            </a:endParaRPr>
          </a:p>
          <a:p>
            <a:pPr marL="318770" marR="106045" indent="-168275">
              <a:lnSpc>
                <a:spcPct val="100000"/>
              </a:lnSpc>
              <a:spcBef>
                <a:spcPts val="590"/>
              </a:spcBef>
              <a:buClr>
                <a:srgbClr val="3333B2"/>
              </a:buClr>
              <a:buChar char="►"/>
              <a:tabLst>
                <a:tab pos="319405" algn="l"/>
              </a:tabLst>
            </a:pPr>
            <a:r>
              <a:rPr sz="1000" spc="-5" dirty="0">
                <a:latin typeface="Arial"/>
                <a:cs typeface="Arial"/>
              </a:rPr>
              <a:t>Single</a:t>
            </a:r>
            <a:r>
              <a:rPr sz="1000" dirty="0">
                <a:latin typeface="Arial"/>
                <a:cs typeface="Arial"/>
              </a:rPr>
              <a:t> </a:t>
            </a:r>
            <a:r>
              <a:rPr sz="1000" spc="-5" dirty="0">
                <a:latin typeface="Arial"/>
                <a:cs typeface="Arial"/>
              </a:rPr>
              <a:t>coherent</a:t>
            </a:r>
            <a:r>
              <a:rPr sz="1000" dirty="0">
                <a:latin typeface="Arial"/>
                <a:cs typeface="Arial"/>
              </a:rPr>
              <a:t> </a:t>
            </a:r>
            <a:r>
              <a:rPr sz="1000" spc="-5" dirty="0">
                <a:latin typeface="Arial"/>
                <a:cs typeface="Arial"/>
              </a:rPr>
              <a:t>system:</a:t>
            </a:r>
            <a:r>
              <a:rPr sz="1000" spc="65" dirty="0">
                <a:latin typeface="Arial"/>
                <a:cs typeface="Arial"/>
              </a:rPr>
              <a:t> </a:t>
            </a:r>
            <a:r>
              <a:rPr sz="1000" spc="-5" dirty="0">
                <a:latin typeface="Arial"/>
                <a:cs typeface="Arial"/>
              </a:rPr>
              <a:t>users</a:t>
            </a:r>
            <a:r>
              <a:rPr sz="1000" dirty="0">
                <a:latin typeface="Arial"/>
                <a:cs typeface="Arial"/>
              </a:rPr>
              <a:t> </a:t>
            </a:r>
            <a:r>
              <a:rPr sz="1000" spc="-5" dirty="0">
                <a:latin typeface="Arial"/>
                <a:cs typeface="Arial"/>
              </a:rPr>
              <a:t>or</a:t>
            </a:r>
            <a:r>
              <a:rPr sz="1000" spc="5" dirty="0">
                <a:latin typeface="Arial"/>
                <a:cs typeface="Arial"/>
              </a:rPr>
              <a:t> </a:t>
            </a:r>
            <a:r>
              <a:rPr sz="1000" spc="-5" dirty="0">
                <a:latin typeface="Arial"/>
                <a:cs typeface="Arial"/>
              </a:rPr>
              <a:t>applications</a:t>
            </a:r>
            <a:r>
              <a:rPr sz="1000" dirty="0">
                <a:latin typeface="Arial"/>
                <a:cs typeface="Arial"/>
              </a:rPr>
              <a:t> </a:t>
            </a:r>
            <a:r>
              <a:rPr sz="1000" spc="-5" dirty="0">
                <a:latin typeface="Arial"/>
                <a:cs typeface="Arial"/>
              </a:rPr>
              <a:t>perceive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single </a:t>
            </a:r>
            <a:r>
              <a:rPr sz="1000" spc="-260" dirty="0">
                <a:latin typeface="Arial"/>
                <a:cs typeface="Arial"/>
              </a:rPr>
              <a:t> </a:t>
            </a:r>
            <a:r>
              <a:rPr sz="1000" spc="-5" dirty="0">
                <a:latin typeface="Arial"/>
                <a:cs typeface="Arial"/>
              </a:rPr>
              <a:t>system</a:t>
            </a:r>
            <a:r>
              <a:rPr sz="1000" spc="-10"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nodes need to </a:t>
            </a:r>
            <a:r>
              <a:rPr sz="1000" spc="-5" dirty="0">
                <a:solidFill>
                  <a:srgbClr val="0000FA"/>
                </a:solidFill>
                <a:latin typeface="Arial"/>
                <a:cs typeface="Arial"/>
              </a:rPr>
              <a:t>collaborate</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5</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329815" algn="l"/>
              </a:tabLst>
            </a:pPr>
            <a:r>
              <a:rPr sz="600" spc="-5" dirty="0">
                <a:solidFill>
                  <a:srgbClr val="3333B2"/>
                </a:solidFill>
                <a:latin typeface="Arial"/>
                <a:cs typeface="Arial"/>
                <a:hlinkClick r:id="rId3" action="ppaction://hlinksldjump"/>
              </a:rPr>
              <a:t>Introduction:</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What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Characteristic</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1:</a:t>
            </a:r>
            <a:r>
              <a:rPr sz="600" spc="5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Collection</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autonomous</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computing</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elements</a:t>
            </a:r>
            <a:endParaRPr sz="600">
              <a:latin typeface="Arial"/>
              <a:cs typeface="Arial"/>
            </a:endParaRPr>
          </a:p>
        </p:txBody>
      </p:sp>
      <p:sp>
        <p:nvSpPr>
          <p:cNvPr id="3" name="object 3"/>
          <p:cNvSpPr txBox="1">
            <a:spLocks noGrp="1"/>
          </p:cNvSpPr>
          <p:nvPr>
            <p:ph type="title"/>
          </p:nvPr>
        </p:nvSpPr>
        <p:spPr>
          <a:xfrm>
            <a:off x="95300" y="188846"/>
            <a:ext cx="2628265" cy="244475"/>
          </a:xfrm>
          <a:prstGeom prst="rect">
            <a:avLst/>
          </a:prstGeom>
        </p:spPr>
        <p:txBody>
          <a:bodyPr vert="horz" wrap="square" lIns="0" tIns="17145" rIns="0" bIns="0" rtlCol="0">
            <a:spAutoFit/>
          </a:bodyPr>
          <a:lstStyle/>
          <a:p>
            <a:pPr marL="12700">
              <a:lnSpc>
                <a:spcPct val="100000"/>
              </a:lnSpc>
              <a:spcBef>
                <a:spcPts val="135"/>
              </a:spcBef>
            </a:pPr>
            <a:r>
              <a:rPr spc="15" dirty="0"/>
              <a:t>Collection</a:t>
            </a:r>
            <a:r>
              <a:rPr spc="-10" dirty="0"/>
              <a:t> </a:t>
            </a:r>
            <a:r>
              <a:rPr spc="10" dirty="0"/>
              <a:t>of</a:t>
            </a:r>
            <a:r>
              <a:rPr spc="-5" dirty="0"/>
              <a:t> </a:t>
            </a:r>
            <a:r>
              <a:rPr spc="15" dirty="0"/>
              <a:t>autonomous</a:t>
            </a:r>
            <a:r>
              <a:rPr spc="-5" dirty="0"/>
              <a:t> </a:t>
            </a:r>
            <a:r>
              <a:rPr spc="15" dirty="0"/>
              <a:t>nodes</a:t>
            </a:r>
          </a:p>
        </p:txBody>
      </p:sp>
      <p:sp>
        <p:nvSpPr>
          <p:cNvPr id="4" name="object 4"/>
          <p:cNvSpPr txBox="1"/>
          <p:nvPr/>
        </p:nvSpPr>
        <p:spPr>
          <a:xfrm>
            <a:off x="321894" y="892212"/>
            <a:ext cx="3831590" cy="1584960"/>
          </a:xfrm>
          <a:prstGeom prst="rect">
            <a:avLst/>
          </a:prstGeom>
        </p:spPr>
        <p:txBody>
          <a:bodyPr vert="horz" wrap="square" lIns="0" tIns="39370" rIns="0" bIns="0" rtlCol="0">
            <a:spAutoFit/>
          </a:bodyPr>
          <a:lstStyle/>
          <a:p>
            <a:pPr marL="38100">
              <a:lnSpc>
                <a:spcPct val="100000"/>
              </a:lnSpc>
              <a:spcBef>
                <a:spcPts val="310"/>
              </a:spcBef>
            </a:pPr>
            <a:r>
              <a:rPr sz="1200" spc="-5" dirty="0">
                <a:solidFill>
                  <a:srgbClr val="3333B2"/>
                </a:solidFill>
                <a:latin typeface="Arial"/>
                <a:cs typeface="Arial"/>
              </a:rPr>
              <a:t>Independent</a:t>
            </a:r>
            <a:r>
              <a:rPr sz="1200" spc="-25" dirty="0">
                <a:solidFill>
                  <a:srgbClr val="3333B2"/>
                </a:solidFill>
                <a:latin typeface="Arial"/>
                <a:cs typeface="Arial"/>
              </a:rPr>
              <a:t> </a:t>
            </a:r>
            <a:r>
              <a:rPr sz="1200" spc="-10" dirty="0">
                <a:solidFill>
                  <a:srgbClr val="3333B2"/>
                </a:solidFill>
                <a:latin typeface="Arial"/>
                <a:cs typeface="Arial"/>
              </a:rPr>
              <a:t>behavior</a:t>
            </a:r>
            <a:endParaRPr sz="1200">
              <a:latin typeface="Arial"/>
              <a:cs typeface="Arial"/>
            </a:endParaRPr>
          </a:p>
          <a:p>
            <a:pPr marL="38100" marR="30480" algn="just">
              <a:lnSpc>
                <a:spcPct val="100000"/>
              </a:lnSpc>
              <a:spcBef>
                <a:spcPts val="175"/>
              </a:spcBef>
            </a:pPr>
            <a:r>
              <a:rPr sz="1000" spc="-5" dirty="0">
                <a:latin typeface="Arial"/>
                <a:cs typeface="Arial"/>
              </a:rPr>
              <a:t>Each node is autonomous and will thus </a:t>
            </a:r>
            <a:r>
              <a:rPr sz="1000" spc="-15" dirty="0">
                <a:latin typeface="Arial"/>
                <a:cs typeface="Arial"/>
              </a:rPr>
              <a:t>have </a:t>
            </a:r>
            <a:r>
              <a:rPr sz="1000" spc="-5" dirty="0">
                <a:latin typeface="Arial"/>
                <a:cs typeface="Arial"/>
              </a:rPr>
              <a:t>its </a:t>
            </a:r>
            <a:r>
              <a:rPr sz="1000" spc="-10" dirty="0">
                <a:solidFill>
                  <a:srgbClr val="0000FA"/>
                </a:solidFill>
                <a:latin typeface="Arial"/>
                <a:cs typeface="Arial"/>
              </a:rPr>
              <a:t>own </a:t>
            </a:r>
            <a:r>
              <a:rPr sz="1000" spc="-5" dirty="0">
                <a:solidFill>
                  <a:srgbClr val="0000FA"/>
                </a:solidFill>
                <a:latin typeface="Arial"/>
                <a:cs typeface="Arial"/>
              </a:rPr>
              <a:t>notion of time</a:t>
            </a:r>
            <a:r>
              <a:rPr sz="1000" spc="-5" dirty="0">
                <a:latin typeface="Arial"/>
                <a:cs typeface="Arial"/>
              </a:rPr>
              <a:t>: </a:t>
            </a:r>
            <a:r>
              <a:rPr sz="1000" spc="-265" dirty="0">
                <a:latin typeface="Arial"/>
                <a:cs typeface="Arial"/>
              </a:rPr>
              <a:t> </a:t>
            </a:r>
            <a:r>
              <a:rPr sz="1000" spc="-5" dirty="0">
                <a:latin typeface="Arial"/>
                <a:cs typeface="Arial"/>
              </a:rPr>
              <a:t>there is no </a:t>
            </a:r>
            <a:r>
              <a:rPr sz="1000" spc="-5" dirty="0">
                <a:solidFill>
                  <a:srgbClr val="FA0000"/>
                </a:solidFill>
                <a:latin typeface="Arial"/>
                <a:cs typeface="Arial"/>
              </a:rPr>
              <a:t>global clock</a:t>
            </a:r>
            <a:r>
              <a:rPr sz="1000" spc="-5" dirty="0">
                <a:latin typeface="Arial"/>
                <a:cs typeface="Arial"/>
              </a:rPr>
              <a:t>. Leads to fundamental synchronization and </a:t>
            </a:r>
            <a:r>
              <a:rPr sz="1000" dirty="0">
                <a:latin typeface="Arial"/>
                <a:cs typeface="Arial"/>
              </a:rPr>
              <a:t> </a:t>
            </a:r>
            <a:r>
              <a:rPr sz="1000" spc="-5" dirty="0">
                <a:latin typeface="Arial"/>
                <a:cs typeface="Arial"/>
              </a:rPr>
              <a:t>coordination</a:t>
            </a:r>
            <a:r>
              <a:rPr sz="1000" spc="-10" dirty="0">
                <a:latin typeface="Arial"/>
                <a:cs typeface="Arial"/>
              </a:rPr>
              <a:t> problems.</a:t>
            </a:r>
            <a:endParaRPr sz="1000">
              <a:latin typeface="Arial"/>
              <a:cs typeface="Arial"/>
            </a:endParaRPr>
          </a:p>
          <a:p>
            <a:pPr marL="38100">
              <a:lnSpc>
                <a:spcPct val="100000"/>
              </a:lnSpc>
              <a:spcBef>
                <a:spcPts val="680"/>
              </a:spcBef>
            </a:pPr>
            <a:r>
              <a:rPr sz="1200" spc="-5" dirty="0">
                <a:solidFill>
                  <a:srgbClr val="3333B2"/>
                </a:solidFill>
                <a:latin typeface="Arial"/>
                <a:cs typeface="Arial"/>
              </a:rPr>
              <a:t>Collection</a:t>
            </a:r>
            <a:r>
              <a:rPr sz="1200" spc="-35" dirty="0">
                <a:solidFill>
                  <a:srgbClr val="3333B2"/>
                </a:solidFill>
                <a:latin typeface="Arial"/>
                <a:cs typeface="Arial"/>
              </a:rPr>
              <a:t> </a:t>
            </a:r>
            <a:r>
              <a:rPr sz="1200" spc="-5" dirty="0">
                <a:solidFill>
                  <a:srgbClr val="3333B2"/>
                </a:solidFill>
                <a:latin typeface="Arial"/>
                <a:cs typeface="Arial"/>
              </a:rPr>
              <a:t>of</a:t>
            </a:r>
            <a:r>
              <a:rPr sz="1200" spc="-30" dirty="0">
                <a:solidFill>
                  <a:srgbClr val="3333B2"/>
                </a:solidFill>
                <a:latin typeface="Arial"/>
                <a:cs typeface="Arial"/>
              </a:rPr>
              <a:t> </a:t>
            </a:r>
            <a:r>
              <a:rPr sz="1200" spc="-5" dirty="0">
                <a:solidFill>
                  <a:srgbClr val="3333B2"/>
                </a:solidFill>
                <a:latin typeface="Arial"/>
                <a:cs typeface="Arial"/>
              </a:rPr>
              <a:t>nodes</a:t>
            </a:r>
            <a:endParaRPr sz="1200">
              <a:latin typeface="Arial"/>
              <a:cs typeface="Arial"/>
            </a:endParaRPr>
          </a:p>
          <a:p>
            <a:pPr marL="314960" indent="-168275">
              <a:lnSpc>
                <a:spcPct val="100000"/>
              </a:lnSpc>
              <a:spcBef>
                <a:spcPts val="545"/>
              </a:spcBef>
              <a:buClr>
                <a:srgbClr val="3333B2"/>
              </a:buClr>
              <a:buChar char="►"/>
              <a:tabLst>
                <a:tab pos="315595" algn="l"/>
              </a:tabLst>
            </a:pPr>
            <a:r>
              <a:rPr sz="1000" spc="-10" dirty="0">
                <a:latin typeface="Arial"/>
                <a:cs typeface="Arial"/>
              </a:rPr>
              <a:t>How</a:t>
            </a:r>
            <a:r>
              <a:rPr sz="1000" spc="-15"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manage</a:t>
            </a:r>
            <a:r>
              <a:rPr sz="1000" spc="-10" dirty="0">
                <a:latin typeface="Arial"/>
                <a:cs typeface="Arial"/>
              </a:rPr>
              <a:t> </a:t>
            </a:r>
            <a:r>
              <a:rPr sz="1000" spc="-5" dirty="0">
                <a:solidFill>
                  <a:srgbClr val="FA0000"/>
                </a:solidFill>
                <a:latin typeface="Arial"/>
                <a:cs typeface="Arial"/>
              </a:rPr>
              <a:t>group</a:t>
            </a:r>
            <a:r>
              <a:rPr sz="1000" spc="-15" dirty="0">
                <a:solidFill>
                  <a:srgbClr val="FA0000"/>
                </a:solidFill>
                <a:latin typeface="Arial"/>
                <a:cs typeface="Arial"/>
              </a:rPr>
              <a:t> </a:t>
            </a:r>
            <a:r>
              <a:rPr sz="1000" spc="-5" dirty="0">
                <a:solidFill>
                  <a:srgbClr val="FA0000"/>
                </a:solidFill>
                <a:latin typeface="Arial"/>
                <a:cs typeface="Arial"/>
              </a:rPr>
              <a:t>membership</a:t>
            </a:r>
            <a:r>
              <a:rPr sz="1000" spc="-5" dirty="0">
                <a:latin typeface="Arial"/>
                <a:cs typeface="Arial"/>
              </a:rPr>
              <a:t>?</a:t>
            </a:r>
            <a:endParaRPr sz="1000">
              <a:latin typeface="Arial"/>
              <a:cs typeface="Arial"/>
            </a:endParaRPr>
          </a:p>
          <a:p>
            <a:pPr marL="314960" marR="351155" indent="-168275">
              <a:lnSpc>
                <a:spcPct val="100000"/>
              </a:lnSpc>
              <a:spcBef>
                <a:spcPts val="590"/>
              </a:spcBef>
              <a:buClr>
                <a:srgbClr val="3333B2"/>
              </a:buClr>
              <a:buChar char="►"/>
              <a:tabLst>
                <a:tab pos="315595" algn="l"/>
              </a:tabLst>
            </a:pPr>
            <a:r>
              <a:rPr sz="1000" spc="-10" dirty="0">
                <a:latin typeface="Arial"/>
                <a:cs typeface="Arial"/>
              </a:rPr>
              <a:t>How</a:t>
            </a:r>
            <a:r>
              <a:rPr sz="1000" spc="-5" dirty="0">
                <a:latin typeface="Arial"/>
                <a:cs typeface="Arial"/>
              </a:rPr>
              <a:t> to </a:t>
            </a:r>
            <a:r>
              <a:rPr sz="1000" spc="-10" dirty="0">
                <a:latin typeface="Arial"/>
                <a:cs typeface="Arial"/>
              </a:rPr>
              <a:t>know</a:t>
            </a:r>
            <a:r>
              <a:rPr sz="1000" dirty="0">
                <a:latin typeface="Arial"/>
                <a:cs typeface="Arial"/>
              </a:rPr>
              <a:t> </a:t>
            </a:r>
            <a:r>
              <a:rPr sz="1000" spc="-5" dirty="0">
                <a:latin typeface="Arial"/>
                <a:cs typeface="Arial"/>
              </a:rPr>
              <a:t>that </a:t>
            </a:r>
            <a:r>
              <a:rPr sz="1000" spc="-10" dirty="0">
                <a:latin typeface="Arial"/>
                <a:cs typeface="Arial"/>
              </a:rPr>
              <a:t>you</a:t>
            </a:r>
            <a:r>
              <a:rPr sz="1000" dirty="0">
                <a:latin typeface="Arial"/>
                <a:cs typeface="Arial"/>
              </a:rPr>
              <a:t> </a:t>
            </a:r>
            <a:r>
              <a:rPr sz="1000" spc="-5" dirty="0">
                <a:latin typeface="Arial"/>
                <a:cs typeface="Arial"/>
              </a:rPr>
              <a:t>are indeed</a:t>
            </a:r>
            <a:r>
              <a:rPr sz="1000" dirty="0">
                <a:latin typeface="Arial"/>
                <a:cs typeface="Arial"/>
              </a:rPr>
              <a:t> </a:t>
            </a:r>
            <a:r>
              <a:rPr sz="1000" spc="-5" dirty="0">
                <a:latin typeface="Arial"/>
                <a:cs typeface="Arial"/>
              </a:rPr>
              <a:t>communicating with</a:t>
            </a:r>
            <a:r>
              <a:rPr sz="1000" dirty="0">
                <a:latin typeface="Arial"/>
                <a:cs typeface="Arial"/>
              </a:rPr>
              <a:t> </a:t>
            </a:r>
            <a:r>
              <a:rPr sz="1000" spc="-5" dirty="0">
                <a:latin typeface="Arial"/>
                <a:cs typeface="Arial"/>
              </a:rPr>
              <a:t>an </a:t>
            </a:r>
            <a:r>
              <a:rPr sz="1000" spc="-265" dirty="0">
                <a:latin typeface="Arial"/>
                <a:cs typeface="Arial"/>
              </a:rPr>
              <a:t> </a:t>
            </a:r>
            <a:r>
              <a:rPr sz="1000" spc="-5" dirty="0">
                <a:solidFill>
                  <a:srgbClr val="0000FA"/>
                </a:solidFill>
                <a:latin typeface="Arial"/>
                <a:cs typeface="Arial"/>
              </a:rPr>
              <a:t>authorized</a:t>
            </a:r>
            <a:r>
              <a:rPr sz="1000" spc="-10" dirty="0">
                <a:solidFill>
                  <a:srgbClr val="0000FA"/>
                </a:solidFill>
                <a:latin typeface="Arial"/>
                <a:cs typeface="Arial"/>
              </a:rPr>
              <a:t> </a:t>
            </a:r>
            <a:r>
              <a:rPr sz="1000" spc="-5" dirty="0">
                <a:solidFill>
                  <a:srgbClr val="0000FA"/>
                </a:solidFill>
                <a:latin typeface="Arial"/>
                <a:cs typeface="Arial"/>
              </a:rPr>
              <a:t>(non)member</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6</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14744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What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a:t>
            </a:r>
            <a:endParaRPr sz="600">
              <a:latin typeface="Arial"/>
              <a:cs typeface="Arial"/>
            </a:endParaRPr>
          </a:p>
        </p:txBody>
      </p:sp>
      <p:sp>
        <p:nvSpPr>
          <p:cNvPr id="3" name="object 3"/>
          <p:cNvSpPr txBox="1"/>
          <p:nvPr/>
        </p:nvSpPr>
        <p:spPr>
          <a:xfrm>
            <a:off x="2384110" y="716"/>
            <a:ext cx="21577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Characteristic</a:t>
            </a:r>
            <a:r>
              <a:rPr sz="600" spc="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1:</a:t>
            </a:r>
            <a:r>
              <a:rPr sz="600" spc="5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Collection</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autonomous</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computing</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elements</a:t>
            </a:r>
            <a:endParaRPr sz="600">
              <a:latin typeface="Arial"/>
              <a:cs typeface="Arial"/>
            </a:endParaRPr>
          </a:p>
        </p:txBody>
      </p:sp>
      <p:sp>
        <p:nvSpPr>
          <p:cNvPr id="4" name="object 4"/>
          <p:cNvSpPr txBox="1"/>
          <p:nvPr/>
        </p:nvSpPr>
        <p:spPr>
          <a:xfrm>
            <a:off x="95300" y="188846"/>
            <a:ext cx="4165600" cy="244348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Organization</a:t>
            </a:r>
            <a:endParaRPr sz="1400">
              <a:latin typeface="Arial"/>
              <a:cs typeface="Arial"/>
            </a:endParaRPr>
          </a:p>
          <a:p>
            <a:pPr>
              <a:lnSpc>
                <a:spcPct val="100000"/>
              </a:lnSpc>
            </a:pPr>
            <a:endParaRPr sz="1800">
              <a:latin typeface="Arial"/>
              <a:cs typeface="Arial"/>
            </a:endParaRPr>
          </a:p>
          <a:p>
            <a:pPr marL="264160">
              <a:lnSpc>
                <a:spcPct val="100000"/>
              </a:lnSpc>
              <a:spcBef>
                <a:spcPts val="1145"/>
              </a:spcBef>
            </a:pPr>
            <a:r>
              <a:rPr sz="1200" spc="-15" dirty="0">
                <a:solidFill>
                  <a:srgbClr val="3333B2"/>
                </a:solidFill>
                <a:latin typeface="Arial"/>
                <a:cs typeface="Arial"/>
              </a:rPr>
              <a:t>Overlay</a:t>
            </a:r>
            <a:r>
              <a:rPr sz="1200" spc="-30" dirty="0">
                <a:solidFill>
                  <a:srgbClr val="3333B2"/>
                </a:solidFill>
                <a:latin typeface="Arial"/>
                <a:cs typeface="Arial"/>
              </a:rPr>
              <a:t> </a:t>
            </a:r>
            <a:r>
              <a:rPr sz="1200" spc="-5" dirty="0">
                <a:solidFill>
                  <a:srgbClr val="3333B2"/>
                </a:solidFill>
                <a:latin typeface="Arial"/>
                <a:cs typeface="Arial"/>
              </a:rPr>
              <a:t>network</a:t>
            </a:r>
            <a:endParaRPr sz="1200">
              <a:latin typeface="Arial"/>
              <a:cs typeface="Arial"/>
            </a:endParaRPr>
          </a:p>
          <a:p>
            <a:pPr marL="264160" marR="5715">
              <a:lnSpc>
                <a:spcPct val="100000"/>
              </a:lnSpc>
              <a:spcBef>
                <a:spcPts val="180"/>
              </a:spcBef>
            </a:pPr>
            <a:r>
              <a:rPr sz="1000" spc="-15" dirty="0">
                <a:latin typeface="Arial"/>
                <a:cs typeface="Arial"/>
              </a:rPr>
              <a:t>Each</a:t>
            </a:r>
            <a:r>
              <a:rPr sz="1000" spc="-5" dirty="0">
                <a:latin typeface="Arial"/>
                <a:cs typeface="Arial"/>
              </a:rPr>
              <a:t> </a:t>
            </a:r>
            <a:r>
              <a:rPr sz="1000" spc="-10" dirty="0">
                <a:latin typeface="Arial"/>
                <a:cs typeface="Arial"/>
              </a:rPr>
              <a:t>node</a:t>
            </a:r>
            <a:r>
              <a:rPr sz="1000" dirty="0">
                <a:latin typeface="Arial"/>
                <a:cs typeface="Arial"/>
              </a:rPr>
              <a:t> </a:t>
            </a:r>
            <a:r>
              <a:rPr sz="1000" spc="-10" dirty="0">
                <a:latin typeface="Arial"/>
                <a:cs typeface="Arial"/>
              </a:rPr>
              <a:t>in</a:t>
            </a:r>
            <a:r>
              <a:rPr sz="1000" dirty="0">
                <a:latin typeface="Arial"/>
                <a:cs typeface="Arial"/>
              </a:rPr>
              <a:t> </a:t>
            </a:r>
            <a:r>
              <a:rPr sz="1000" spc="-10" dirty="0">
                <a:latin typeface="Arial"/>
                <a:cs typeface="Arial"/>
              </a:rPr>
              <a:t>the</a:t>
            </a:r>
            <a:r>
              <a:rPr sz="1000" dirty="0">
                <a:latin typeface="Arial"/>
                <a:cs typeface="Arial"/>
              </a:rPr>
              <a:t> </a:t>
            </a:r>
            <a:r>
              <a:rPr sz="1000" spc="-10" dirty="0">
                <a:latin typeface="Arial"/>
                <a:cs typeface="Arial"/>
              </a:rPr>
              <a:t>collection</a:t>
            </a:r>
            <a:r>
              <a:rPr sz="1000" spc="-5" dirty="0">
                <a:latin typeface="Arial"/>
                <a:cs typeface="Arial"/>
              </a:rPr>
              <a:t> </a:t>
            </a:r>
            <a:r>
              <a:rPr sz="1000" spc="-15" dirty="0">
                <a:latin typeface="Arial"/>
                <a:cs typeface="Arial"/>
              </a:rPr>
              <a:t>communicates</a:t>
            </a:r>
            <a:r>
              <a:rPr sz="1000" dirty="0">
                <a:latin typeface="Arial"/>
                <a:cs typeface="Arial"/>
              </a:rPr>
              <a:t> </a:t>
            </a:r>
            <a:r>
              <a:rPr sz="1000" spc="-10" dirty="0">
                <a:latin typeface="Arial"/>
                <a:cs typeface="Arial"/>
              </a:rPr>
              <a:t>only</a:t>
            </a:r>
            <a:r>
              <a:rPr sz="1000" dirty="0">
                <a:latin typeface="Arial"/>
                <a:cs typeface="Arial"/>
              </a:rPr>
              <a:t> </a:t>
            </a:r>
            <a:r>
              <a:rPr sz="1000" spc="-10" dirty="0">
                <a:latin typeface="Arial"/>
                <a:cs typeface="Arial"/>
              </a:rPr>
              <a:t>with</a:t>
            </a:r>
            <a:r>
              <a:rPr sz="1000" dirty="0">
                <a:latin typeface="Arial"/>
                <a:cs typeface="Arial"/>
              </a:rPr>
              <a:t> </a:t>
            </a:r>
            <a:r>
              <a:rPr sz="1000" spc="-10" dirty="0">
                <a:latin typeface="Arial"/>
                <a:cs typeface="Arial"/>
              </a:rPr>
              <a:t>other</a:t>
            </a:r>
            <a:r>
              <a:rPr sz="1000" spc="-5" dirty="0">
                <a:latin typeface="Arial"/>
                <a:cs typeface="Arial"/>
              </a:rPr>
              <a:t> </a:t>
            </a:r>
            <a:r>
              <a:rPr sz="1000" spc="-10" dirty="0">
                <a:latin typeface="Arial"/>
                <a:cs typeface="Arial"/>
              </a:rPr>
              <a:t>nodes</a:t>
            </a:r>
            <a:r>
              <a:rPr sz="1000" dirty="0">
                <a:latin typeface="Arial"/>
                <a:cs typeface="Arial"/>
              </a:rPr>
              <a:t> </a:t>
            </a:r>
            <a:r>
              <a:rPr sz="1000" spc="-10" dirty="0">
                <a:latin typeface="Arial"/>
                <a:cs typeface="Arial"/>
              </a:rPr>
              <a:t>in</a:t>
            </a:r>
            <a:r>
              <a:rPr sz="1000" dirty="0">
                <a:latin typeface="Arial"/>
                <a:cs typeface="Arial"/>
              </a:rPr>
              <a:t> </a:t>
            </a:r>
            <a:r>
              <a:rPr sz="1000" spc="-10" dirty="0">
                <a:latin typeface="Arial"/>
                <a:cs typeface="Arial"/>
              </a:rPr>
              <a:t>the </a:t>
            </a:r>
            <a:r>
              <a:rPr sz="1000" spc="-265" dirty="0">
                <a:latin typeface="Arial"/>
                <a:cs typeface="Arial"/>
              </a:rPr>
              <a:t> </a:t>
            </a:r>
            <a:r>
              <a:rPr sz="1000" spc="-5" dirty="0">
                <a:latin typeface="Arial"/>
                <a:cs typeface="Arial"/>
              </a:rPr>
              <a:t>system, its</a:t>
            </a:r>
            <a:r>
              <a:rPr sz="1000" dirty="0">
                <a:latin typeface="Arial"/>
                <a:cs typeface="Arial"/>
              </a:rPr>
              <a:t> </a:t>
            </a:r>
            <a:r>
              <a:rPr sz="1000" spc="-5" dirty="0">
                <a:solidFill>
                  <a:srgbClr val="FA0000"/>
                </a:solidFill>
                <a:latin typeface="Arial"/>
                <a:cs typeface="Arial"/>
              </a:rPr>
              <a:t>neighbors</a:t>
            </a:r>
            <a:r>
              <a:rPr sz="1000" spc="-5" dirty="0">
                <a:latin typeface="Arial"/>
                <a:cs typeface="Arial"/>
              </a:rPr>
              <a:t>.</a:t>
            </a:r>
            <a:r>
              <a:rPr sz="1000" spc="6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neighbors</a:t>
            </a:r>
            <a:r>
              <a:rPr sz="1000" dirty="0">
                <a:latin typeface="Arial"/>
                <a:cs typeface="Arial"/>
              </a:rPr>
              <a:t> </a:t>
            </a:r>
            <a:r>
              <a:rPr sz="1000" spc="-15" dirty="0">
                <a:latin typeface="Arial"/>
                <a:cs typeface="Arial"/>
              </a:rPr>
              <a:t>may</a:t>
            </a:r>
            <a:r>
              <a:rPr sz="1000" spc="-5" dirty="0">
                <a:latin typeface="Arial"/>
                <a:cs typeface="Arial"/>
              </a:rPr>
              <a:t> be</a:t>
            </a:r>
            <a:r>
              <a:rPr sz="1000" dirty="0">
                <a:latin typeface="Arial"/>
                <a:cs typeface="Arial"/>
              </a:rPr>
              <a:t> </a:t>
            </a:r>
            <a:r>
              <a:rPr sz="1000" spc="-5" dirty="0">
                <a:latin typeface="Arial"/>
                <a:cs typeface="Arial"/>
              </a:rPr>
              <a:t>dynamic,</a:t>
            </a:r>
            <a:r>
              <a:rPr sz="1000" dirty="0">
                <a:latin typeface="Arial"/>
                <a:cs typeface="Arial"/>
              </a:rPr>
              <a:t> </a:t>
            </a:r>
            <a:r>
              <a:rPr sz="1000" spc="-5" dirty="0">
                <a:latin typeface="Arial"/>
                <a:cs typeface="Arial"/>
              </a:rPr>
              <a:t>or</a:t>
            </a:r>
            <a:r>
              <a:rPr sz="1000" dirty="0">
                <a:latin typeface="Arial"/>
                <a:cs typeface="Arial"/>
              </a:rPr>
              <a:t> </a:t>
            </a:r>
            <a:r>
              <a:rPr sz="1000" spc="-15" dirty="0">
                <a:latin typeface="Arial"/>
                <a:cs typeface="Arial"/>
              </a:rPr>
              <a:t>may </a:t>
            </a:r>
            <a:r>
              <a:rPr sz="1000" spc="-10" dirty="0">
                <a:latin typeface="Arial"/>
                <a:cs typeface="Arial"/>
              </a:rPr>
              <a:t> </a:t>
            </a:r>
            <a:r>
              <a:rPr sz="1000" spc="-20" dirty="0">
                <a:latin typeface="Arial"/>
                <a:cs typeface="Arial"/>
              </a:rPr>
              <a:t>even</a:t>
            </a:r>
            <a:r>
              <a:rPr sz="1000" spc="-5" dirty="0">
                <a:latin typeface="Arial"/>
                <a:cs typeface="Arial"/>
              </a:rPr>
              <a:t> be </a:t>
            </a:r>
            <a:r>
              <a:rPr sz="1000" spc="-10" dirty="0">
                <a:latin typeface="Arial"/>
                <a:cs typeface="Arial"/>
              </a:rPr>
              <a:t>known</a:t>
            </a:r>
            <a:r>
              <a:rPr sz="1000" spc="-5" dirty="0">
                <a:latin typeface="Arial"/>
                <a:cs typeface="Arial"/>
              </a:rPr>
              <a:t> only</a:t>
            </a:r>
            <a:r>
              <a:rPr sz="1000" dirty="0">
                <a:latin typeface="Arial"/>
                <a:cs typeface="Arial"/>
              </a:rPr>
              <a:t> </a:t>
            </a:r>
            <a:r>
              <a:rPr sz="1000" spc="-5" dirty="0">
                <a:latin typeface="Arial"/>
                <a:cs typeface="Arial"/>
              </a:rPr>
              <a:t>implicitly (i.e., requires</a:t>
            </a:r>
            <a:r>
              <a:rPr sz="1000" dirty="0">
                <a:latin typeface="Arial"/>
                <a:cs typeface="Arial"/>
              </a:rPr>
              <a:t> </a:t>
            </a:r>
            <a:r>
              <a:rPr sz="1000" spc="-5" dirty="0">
                <a:latin typeface="Arial"/>
                <a:cs typeface="Arial"/>
              </a:rPr>
              <a:t>a lookup).</a:t>
            </a:r>
            <a:endParaRPr sz="1000">
              <a:latin typeface="Arial"/>
              <a:cs typeface="Arial"/>
            </a:endParaRPr>
          </a:p>
          <a:p>
            <a:pPr marL="264160">
              <a:lnSpc>
                <a:spcPct val="100000"/>
              </a:lnSpc>
              <a:spcBef>
                <a:spcPts val="685"/>
              </a:spcBef>
            </a:pPr>
            <a:r>
              <a:rPr sz="1200" spc="-15" dirty="0">
                <a:solidFill>
                  <a:srgbClr val="3333B2"/>
                </a:solidFill>
                <a:latin typeface="Arial"/>
                <a:cs typeface="Arial"/>
              </a:rPr>
              <a:t>Overlay</a:t>
            </a:r>
            <a:r>
              <a:rPr sz="1200" spc="-30" dirty="0">
                <a:solidFill>
                  <a:srgbClr val="3333B2"/>
                </a:solidFill>
                <a:latin typeface="Arial"/>
                <a:cs typeface="Arial"/>
              </a:rPr>
              <a:t> </a:t>
            </a:r>
            <a:r>
              <a:rPr sz="1200" spc="-5" dirty="0">
                <a:solidFill>
                  <a:srgbClr val="3333B2"/>
                </a:solidFill>
                <a:latin typeface="Arial"/>
                <a:cs typeface="Arial"/>
              </a:rPr>
              <a:t>types</a:t>
            </a:r>
            <a:endParaRPr sz="1200">
              <a:latin typeface="Arial"/>
              <a:cs typeface="Arial"/>
            </a:endParaRPr>
          </a:p>
          <a:p>
            <a:pPr marL="258445">
              <a:lnSpc>
                <a:spcPct val="100000"/>
              </a:lnSpc>
              <a:spcBef>
                <a:spcPts val="180"/>
              </a:spcBef>
            </a:pPr>
            <a:r>
              <a:rPr sz="1000" spc="-10" dirty="0">
                <a:latin typeface="Arial"/>
                <a:cs typeface="Arial"/>
              </a:rPr>
              <a:t>Well-known</a:t>
            </a:r>
            <a:r>
              <a:rPr sz="1000" spc="5" dirty="0">
                <a:latin typeface="Arial"/>
                <a:cs typeface="Arial"/>
              </a:rPr>
              <a:t> </a:t>
            </a:r>
            <a:r>
              <a:rPr sz="1000" spc="-10" dirty="0">
                <a:latin typeface="Arial"/>
                <a:cs typeface="Arial"/>
              </a:rPr>
              <a:t>example</a:t>
            </a:r>
            <a:r>
              <a:rPr sz="1000" spc="5" dirty="0">
                <a:latin typeface="Arial"/>
                <a:cs typeface="Arial"/>
              </a:rPr>
              <a:t> </a:t>
            </a:r>
            <a:r>
              <a:rPr sz="1000" spc="-5" dirty="0">
                <a:latin typeface="Arial"/>
                <a:cs typeface="Arial"/>
              </a:rPr>
              <a:t>of</a:t>
            </a:r>
            <a:r>
              <a:rPr sz="1000" spc="10" dirty="0">
                <a:latin typeface="Arial"/>
                <a:cs typeface="Arial"/>
              </a:rPr>
              <a:t> </a:t>
            </a:r>
            <a:r>
              <a:rPr sz="1000" spc="-15" dirty="0">
                <a:latin typeface="Arial"/>
                <a:cs typeface="Arial"/>
              </a:rPr>
              <a:t>overlay</a:t>
            </a:r>
            <a:r>
              <a:rPr sz="1000" spc="5" dirty="0">
                <a:latin typeface="Arial"/>
                <a:cs typeface="Arial"/>
              </a:rPr>
              <a:t> </a:t>
            </a:r>
            <a:r>
              <a:rPr sz="1000" spc="-5" dirty="0">
                <a:latin typeface="Arial"/>
                <a:cs typeface="Arial"/>
              </a:rPr>
              <a:t>networks:</a:t>
            </a:r>
            <a:r>
              <a:rPr sz="1000" spc="75" dirty="0">
                <a:latin typeface="Arial"/>
                <a:cs typeface="Arial"/>
              </a:rPr>
              <a:t> </a:t>
            </a:r>
            <a:r>
              <a:rPr sz="1000" spc="-5" dirty="0">
                <a:solidFill>
                  <a:srgbClr val="FA0000"/>
                </a:solidFill>
                <a:latin typeface="Arial"/>
                <a:cs typeface="Arial"/>
              </a:rPr>
              <a:t>peer-to-peer</a:t>
            </a:r>
            <a:r>
              <a:rPr sz="1000" spc="10" dirty="0">
                <a:solidFill>
                  <a:srgbClr val="FA0000"/>
                </a:solidFill>
                <a:latin typeface="Arial"/>
                <a:cs typeface="Arial"/>
              </a:rPr>
              <a:t> </a:t>
            </a:r>
            <a:r>
              <a:rPr sz="1000" spc="-5" dirty="0">
                <a:solidFill>
                  <a:srgbClr val="FA0000"/>
                </a:solidFill>
                <a:latin typeface="Arial"/>
                <a:cs typeface="Arial"/>
              </a:rPr>
              <a:t>systems</a:t>
            </a:r>
            <a:r>
              <a:rPr sz="1000" spc="-5" dirty="0">
                <a:latin typeface="Arial"/>
                <a:cs typeface="Arial"/>
              </a:rPr>
              <a:t>.</a:t>
            </a:r>
            <a:endParaRPr sz="1000">
              <a:latin typeface="Arial"/>
              <a:cs typeface="Arial"/>
            </a:endParaRPr>
          </a:p>
          <a:p>
            <a:pPr marL="523240" marR="5080" indent="-259079">
              <a:lnSpc>
                <a:spcPct val="100000"/>
              </a:lnSpc>
              <a:spcBef>
                <a:spcPts val="595"/>
              </a:spcBef>
            </a:pPr>
            <a:r>
              <a:rPr sz="1000" spc="-5" dirty="0">
                <a:solidFill>
                  <a:srgbClr val="0000FA"/>
                </a:solidFill>
                <a:latin typeface="Arial"/>
                <a:cs typeface="Arial"/>
              </a:rPr>
              <a:t>Structured</a:t>
            </a:r>
            <a:r>
              <a:rPr sz="1000" spc="-5" dirty="0">
                <a:solidFill>
                  <a:srgbClr val="3333B2"/>
                </a:solidFill>
                <a:latin typeface="Arial"/>
                <a:cs typeface="Arial"/>
              </a:rPr>
              <a:t>:</a:t>
            </a:r>
            <a:r>
              <a:rPr sz="1000" dirty="0">
                <a:solidFill>
                  <a:srgbClr val="3333B2"/>
                </a:solidFill>
                <a:latin typeface="Arial"/>
                <a:cs typeface="Arial"/>
              </a:rPr>
              <a:t> </a:t>
            </a:r>
            <a:r>
              <a:rPr sz="1000" spc="-5" dirty="0">
                <a:latin typeface="Arial"/>
                <a:cs typeface="Arial"/>
              </a:rPr>
              <a:t>each node has a </a:t>
            </a:r>
            <a:r>
              <a:rPr sz="1000" spc="-5" dirty="0">
                <a:solidFill>
                  <a:srgbClr val="0000FA"/>
                </a:solidFill>
                <a:latin typeface="Arial"/>
                <a:cs typeface="Arial"/>
              </a:rPr>
              <a:t>well-defined set of neighbors </a:t>
            </a:r>
            <a:r>
              <a:rPr sz="1000" spc="-5" dirty="0">
                <a:latin typeface="Arial"/>
                <a:cs typeface="Arial"/>
              </a:rPr>
              <a:t>with </a:t>
            </a:r>
            <a:r>
              <a:rPr sz="1000" spc="-10" dirty="0">
                <a:latin typeface="Arial"/>
                <a:cs typeface="Arial"/>
              </a:rPr>
              <a:t>whom </a:t>
            </a:r>
            <a:r>
              <a:rPr sz="1000" spc="-265" dirty="0">
                <a:latin typeface="Arial"/>
                <a:cs typeface="Arial"/>
              </a:rPr>
              <a:t> </a:t>
            </a:r>
            <a:r>
              <a:rPr sz="1000" spc="-5" dirty="0">
                <a:latin typeface="Arial"/>
                <a:cs typeface="Arial"/>
              </a:rPr>
              <a:t>it</a:t>
            </a:r>
            <a:r>
              <a:rPr sz="1000" spc="-10" dirty="0">
                <a:latin typeface="Arial"/>
                <a:cs typeface="Arial"/>
              </a:rPr>
              <a:t> </a:t>
            </a:r>
            <a:r>
              <a:rPr sz="1000" spc="-5" dirty="0">
                <a:latin typeface="Arial"/>
                <a:cs typeface="Arial"/>
              </a:rPr>
              <a:t>can communicate (tree, </a:t>
            </a:r>
            <a:r>
              <a:rPr sz="1000" dirty="0">
                <a:latin typeface="Arial"/>
                <a:cs typeface="Arial"/>
              </a:rPr>
              <a:t>ring).</a:t>
            </a:r>
            <a:endParaRPr sz="1000">
              <a:latin typeface="Arial"/>
              <a:cs typeface="Arial"/>
            </a:endParaRPr>
          </a:p>
          <a:p>
            <a:pPr marL="523240" marR="78740" indent="-259079">
              <a:lnSpc>
                <a:spcPts val="1200"/>
              </a:lnSpc>
              <a:spcBef>
                <a:spcPts val="30"/>
              </a:spcBef>
            </a:pPr>
            <a:r>
              <a:rPr sz="1000" spc="-5" dirty="0">
                <a:solidFill>
                  <a:srgbClr val="0000FA"/>
                </a:solidFill>
                <a:latin typeface="Arial"/>
                <a:cs typeface="Arial"/>
              </a:rPr>
              <a:t>Unstructured</a:t>
            </a:r>
            <a:r>
              <a:rPr sz="1000" spc="-5" dirty="0">
                <a:solidFill>
                  <a:srgbClr val="3333B2"/>
                </a:solidFill>
                <a:latin typeface="Arial"/>
                <a:cs typeface="Arial"/>
              </a:rPr>
              <a:t>:</a:t>
            </a:r>
            <a:r>
              <a:rPr sz="1000" spc="5" dirty="0">
                <a:solidFill>
                  <a:srgbClr val="3333B2"/>
                </a:solidFill>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references</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randomly</a:t>
            </a:r>
            <a:r>
              <a:rPr sz="1000" dirty="0">
                <a:solidFill>
                  <a:srgbClr val="0000FA"/>
                </a:solidFill>
                <a:latin typeface="Arial"/>
                <a:cs typeface="Arial"/>
              </a:rPr>
              <a:t> </a:t>
            </a:r>
            <a:r>
              <a:rPr sz="1000" spc="-5" dirty="0">
                <a:solidFill>
                  <a:srgbClr val="0000FA"/>
                </a:solidFill>
                <a:latin typeface="Arial"/>
                <a:cs typeface="Arial"/>
              </a:rPr>
              <a:t>selected</a:t>
            </a:r>
            <a:r>
              <a:rPr sz="1000" dirty="0">
                <a:solidFill>
                  <a:srgbClr val="0000FA"/>
                </a:solidFill>
                <a:latin typeface="Arial"/>
                <a:cs typeface="Arial"/>
              </a:rPr>
              <a:t> </a:t>
            </a:r>
            <a:r>
              <a:rPr sz="1000" spc="-5" dirty="0">
                <a:solidFill>
                  <a:srgbClr val="0000FA"/>
                </a:solidFill>
                <a:latin typeface="Arial"/>
                <a:cs typeface="Arial"/>
              </a:rPr>
              <a:t>other </a:t>
            </a:r>
            <a:r>
              <a:rPr sz="1000" spc="-265" dirty="0">
                <a:solidFill>
                  <a:srgbClr val="0000FA"/>
                </a:solidFill>
                <a:latin typeface="Arial"/>
                <a:cs typeface="Arial"/>
              </a:rPr>
              <a:t> </a:t>
            </a:r>
            <a:r>
              <a:rPr sz="1000" spc="-5" dirty="0">
                <a:solidFill>
                  <a:srgbClr val="0000FA"/>
                </a:solidFill>
                <a:latin typeface="Arial"/>
                <a:cs typeface="Arial"/>
              </a:rPr>
              <a:t>nodes</a:t>
            </a:r>
            <a:r>
              <a:rPr sz="1000" spc="-10" dirty="0">
                <a:solidFill>
                  <a:srgbClr val="0000FA"/>
                </a:solidFill>
                <a:latin typeface="Arial"/>
                <a:cs typeface="Arial"/>
              </a:rPr>
              <a:t> </a:t>
            </a:r>
            <a:r>
              <a:rPr sz="1000" spc="-5" dirty="0">
                <a:latin typeface="Arial"/>
                <a:cs typeface="Arial"/>
              </a:rPr>
              <a:t>from the system.</a:t>
            </a:r>
            <a:endParaRPr sz="10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7</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097530" algn="l"/>
              </a:tabLst>
            </a:pPr>
            <a:r>
              <a:rPr sz="600" spc="-5" dirty="0">
                <a:solidFill>
                  <a:srgbClr val="3333B2"/>
                </a:solidFill>
                <a:latin typeface="Arial"/>
                <a:cs typeface="Arial"/>
                <a:hlinkClick r:id="rId3" action="ppaction://hlinksldjump"/>
              </a:rPr>
              <a:t>Introduction:</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What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Characteristic</a:t>
            </a:r>
            <a:r>
              <a:rPr sz="600" spc="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2:</a:t>
            </a:r>
            <a:r>
              <a:rPr sz="600" spc="4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Single</a:t>
            </a:r>
            <a:r>
              <a:rPr sz="600" spc="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coherent</a:t>
            </a:r>
            <a:r>
              <a:rPr sz="600" spc="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system</a:t>
            </a:r>
            <a:endParaRPr sz="600">
              <a:latin typeface="Arial"/>
              <a:cs typeface="Arial"/>
            </a:endParaRPr>
          </a:p>
        </p:txBody>
      </p:sp>
      <p:sp>
        <p:nvSpPr>
          <p:cNvPr id="3" name="object 3"/>
          <p:cNvSpPr txBox="1">
            <a:spLocks noGrp="1"/>
          </p:cNvSpPr>
          <p:nvPr>
            <p:ph type="title"/>
          </p:nvPr>
        </p:nvSpPr>
        <p:spPr>
          <a:xfrm>
            <a:off x="95300" y="188846"/>
            <a:ext cx="1402715" cy="244475"/>
          </a:xfrm>
          <a:prstGeom prst="rect">
            <a:avLst/>
          </a:prstGeom>
        </p:spPr>
        <p:txBody>
          <a:bodyPr vert="horz" wrap="square" lIns="0" tIns="17145" rIns="0" bIns="0" rtlCol="0">
            <a:spAutoFit/>
          </a:bodyPr>
          <a:lstStyle/>
          <a:p>
            <a:pPr marL="12700">
              <a:lnSpc>
                <a:spcPct val="100000"/>
              </a:lnSpc>
              <a:spcBef>
                <a:spcPts val="135"/>
              </a:spcBef>
            </a:pPr>
            <a:r>
              <a:rPr spc="15" dirty="0"/>
              <a:t>Coherent</a:t>
            </a:r>
            <a:r>
              <a:rPr spc="-55" dirty="0"/>
              <a:t> </a:t>
            </a:r>
            <a:r>
              <a:rPr spc="15" dirty="0"/>
              <a:t>system</a:t>
            </a:r>
          </a:p>
        </p:txBody>
      </p:sp>
      <p:sp>
        <p:nvSpPr>
          <p:cNvPr id="4" name="object 4"/>
          <p:cNvSpPr txBox="1"/>
          <p:nvPr/>
        </p:nvSpPr>
        <p:spPr>
          <a:xfrm>
            <a:off x="329895" y="587943"/>
            <a:ext cx="3968750" cy="2460625"/>
          </a:xfrm>
          <a:prstGeom prst="rect">
            <a:avLst/>
          </a:prstGeom>
        </p:spPr>
        <p:txBody>
          <a:bodyPr vert="horz" wrap="square" lIns="0" tIns="12065" rIns="0" bIns="0" rtlCol="0">
            <a:spAutoFit/>
          </a:bodyPr>
          <a:lstStyle/>
          <a:p>
            <a:pPr marL="29845">
              <a:lnSpc>
                <a:spcPts val="1410"/>
              </a:lnSpc>
              <a:spcBef>
                <a:spcPts val="95"/>
              </a:spcBef>
            </a:pPr>
            <a:r>
              <a:rPr sz="1200" spc="-5" dirty="0">
                <a:solidFill>
                  <a:srgbClr val="3333B2"/>
                </a:solidFill>
                <a:latin typeface="Arial"/>
                <a:cs typeface="Arial"/>
              </a:rPr>
              <a:t>Essence</a:t>
            </a:r>
            <a:endParaRPr sz="1200">
              <a:latin typeface="Arial"/>
              <a:cs typeface="Arial"/>
            </a:endParaRPr>
          </a:p>
          <a:p>
            <a:pPr marL="25400" marR="262890" indent="635">
              <a:lnSpc>
                <a:spcPts val="1200"/>
              </a:lnSpc>
              <a:spcBef>
                <a:spcPts val="10"/>
              </a:spcBef>
            </a:pPr>
            <a:r>
              <a:rPr sz="1000" spc="-5" dirty="0">
                <a:latin typeface="Arial"/>
                <a:cs typeface="Arial"/>
              </a:rPr>
              <a:t>The collection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whole</a:t>
            </a:r>
            <a:r>
              <a:rPr sz="1000" dirty="0">
                <a:latin typeface="Arial"/>
                <a:cs typeface="Arial"/>
              </a:rPr>
              <a:t> </a:t>
            </a:r>
            <a:r>
              <a:rPr sz="1000" spc="-5" dirty="0">
                <a:latin typeface="Arial"/>
                <a:cs typeface="Arial"/>
              </a:rPr>
              <a:t>operates</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same,</a:t>
            </a:r>
            <a:r>
              <a:rPr sz="1000" dirty="0">
                <a:latin typeface="Arial"/>
                <a:cs typeface="Arial"/>
              </a:rPr>
              <a:t> </a:t>
            </a:r>
            <a:r>
              <a:rPr sz="1000" spc="-5" dirty="0">
                <a:latin typeface="Arial"/>
                <a:cs typeface="Arial"/>
              </a:rPr>
              <a:t>no</a:t>
            </a:r>
            <a:r>
              <a:rPr sz="1000" dirty="0">
                <a:latin typeface="Arial"/>
                <a:cs typeface="Arial"/>
              </a:rPr>
              <a:t> </a:t>
            </a:r>
            <a:r>
              <a:rPr sz="1000" spc="-5" dirty="0">
                <a:latin typeface="Arial"/>
                <a:cs typeface="Arial"/>
              </a:rPr>
              <a:t>matter </a:t>
            </a:r>
            <a:r>
              <a:rPr sz="1000" dirty="0">
                <a:latin typeface="Arial"/>
                <a:cs typeface="Arial"/>
              </a:rPr>
              <a:t> </a:t>
            </a:r>
            <a:r>
              <a:rPr sz="1000" spc="-5" dirty="0">
                <a:latin typeface="Arial"/>
                <a:cs typeface="Arial"/>
              </a:rPr>
              <a:t>where, when, and</a:t>
            </a:r>
            <a:r>
              <a:rPr sz="1000" dirty="0">
                <a:latin typeface="Arial"/>
                <a:cs typeface="Arial"/>
              </a:rPr>
              <a:t> </a:t>
            </a:r>
            <a:r>
              <a:rPr sz="1000" spc="-10" dirty="0">
                <a:latin typeface="Arial"/>
                <a:cs typeface="Arial"/>
              </a:rPr>
              <a:t>how</a:t>
            </a:r>
            <a:r>
              <a:rPr sz="1000" spc="-5" dirty="0">
                <a:latin typeface="Arial"/>
                <a:cs typeface="Arial"/>
              </a:rPr>
              <a:t> interaction</a:t>
            </a:r>
            <a:r>
              <a:rPr sz="1000" dirty="0">
                <a:latin typeface="Arial"/>
                <a:cs typeface="Arial"/>
              </a:rPr>
              <a:t> </a:t>
            </a:r>
            <a:r>
              <a:rPr sz="1000" spc="-5" dirty="0">
                <a:latin typeface="Arial"/>
                <a:cs typeface="Arial"/>
              </a:rPr>
              <a:t>between a</a:t>
            </a:r>
            <a:r>
              <a:rPr sz="1000" dirty="0">
                <a:latin typeface="Arial"/>
                <a:cs typeface="Arial"/>
              </a:rPr>
              <a:t> </a:t>
            </a:r>
            <a:r>
              <a:rPr sz="1000" spc="-5" dirty="0">
                <a:latin typeface="Arial"/>
                <a:cs typeface="Arial"/>
              </a:rPr>
              <a:t>user and the</a:t>
            </a:r>
            <a:r>
              <a:rPr sz="1000" dirty="0">
                <a:latin typeface="Arial"/>
                <a:cs typeface="Arial"/>
              </a:rPr>
              <a:t> </a:t>
            </a:r>
            <a:r>
              <a:rPr sz="1000" spc="-5" dirty="0">
                <a:latin typeface="Arial"/>
                <a:cs typeface="Arial"/>
              </a:rPr>
              <a:t>system </a:t>
            </a:r>
            <a:r>
              <a:rPr sz="1000" spc="-265" dirty="0">
                <a:latin typeface="Arial"/>
                <a:cs typeface="Arial"/>
              </a:rPr>
              <a:t> </a:t>
            </a:r>
            <a:r>
              <a:rPr sz="1000" spc="-10" dirty="0">
                <a:latin typeface="Arial"/>
                <a:cs typeface="Arial"/>
              </a:rPr>
              <a:t>takes </a:t>
            </a:r>
            <a:r>
              <a:rPr sz="1000" spc="-5" dirty="0">
                <a:latin typeface="Arial"/>
                <a:cs typeface="Arial"/>
              </a:rPr>
              <a:t>place.</a:t>
            </a:r>
            <a:endParaRPr sz="1000">
              <a:latin typeface="Arial"/>
              <a:cs typeface="Arial"/>
            </a:endParaRPr>
          </a:p>
          <a:p>
            <a:pPr marL="29845">
              <a:lnSpc>
                <a:spcPct val="100000"/>
              </a:lnSpc>
              <a:spcBef>
                <a:spcPts val="645"/>
              </a:spcBef>
            </a:pPr>
            <a:r>
              <a:rPr sz="1200" spc="-5" dirty="0">
                <a:solidFill>
                  <a:srgbClr val="007C00"/>
                </a:solidFill>
                <a:latin typeface="Arial"/>
                <a:cs typeface="Arial"/>
              </a:rPr>
              <a:t>Examples</a:t>
            </a:r>
            <a:endParaRPr sz="1200">
              <a:latin typeface="Arial"/>
              <a:cs typeface="Arial"/>
            </a:endParaRPr>
          </a:p>
          <a:p>
            <a:pPr marL="306705" indent="-168275">
              <a:lnSpc>
                <a:spcPts val="1200"/>
              </a:lnSpc>
              <a:spcBef>
                <a:spcPts val="770"/>
              </a:spcBef>
              <a:buClr>
                <a:srgbClr val="007C00"/>
              </a:buClr>
              <a:buChar char="►"/>
              <a:tabLst>
                <a:tab pos="307340" algn="l"/>
              </a:tabLst>
            </a:pPr>
            <a:r>
              <a:rPr sz="1000" spc="-5" dirty="0">
                <a:latin typeface="Arial"/>
                <a:cs typeface="Arial"/>
              </a:rPr>
              <a:t>An end</a:t>
            </a:r>
            <a:r>
              <a:rPr sz="1000" dirty="0">
                <a:latin typeface="Arial"/>
                <a:cs typeface="Arial"/>
              </a:rPr>
              <a:t> </a:t>
            </a:r>
            <a:r>
              <a:rPr sz="1000" spc="-5" dirty="0">
                <a:latin typeface="Arial"/>
                <a:cs typeface="Arial"/>
              </a:rPr>
              <a:t>user</a:t>
            </a:r>
            <a:r>
              <a:rPr sz="1000" dirty="0">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tell</a:t>
            </a:r>
            <a:r>
              <a:rPr sz="1000" dirty="0">
                <a:latin typeface="Arial"/>
                <a:cs typeface="Arial"/>
              </a:rPr>
              <a:t> </a:t>
            </a:r>
            <a:r>
              <a:rPr sz="1000" spc="-5" dirty="0">
                <a:latin typeface="Arial"/>
                <a:cs typeface="Arial"/>
              </a:rPr>
              <a:t>where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computation</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taking</a:t>
            </a:r>
            <a:r>
              <a:rPr sz="1000" dirty="0">
                <a:latin typeface="Arial"/>
                <a:cs typeface="Arial"/>
              </a:rPr>
              <a:t> </a:t>
            </a:r>
            <a:r>
              <a:rPr sz="1000" spc="-5" dirty="0">
                <a:latin typeface="Arial"/>
                <a:cs typeface="Arial"/>
              </a:rPr>
              <a:t>place</a:t>
            </a:r>
            <a:endParaRPr sz="1000">
              <a:latin typeface="Arial"/>
              <a:cs typeface="Arial"/>
            </a:endParaRPr>
          </a:p>
          <a:p>
            <a:pPr marL="306705" indent="-168275">
              <a:lnSpc>
                <a:spcPts val="1195"/>
              </a:lnSpc>
              <a:buClr>
                <a:srgbClr val="007C00"/>
              </a:buClr>
              <a:buChar char="►"/>
              <a:tabLst>
                <a:tab pos="307340" algn="l"/>
              </a:tabLst>
            </a:pPr>
            <a:r>
              <a:rPr sz="1000" spc="-15" dirty="0">
                <a:latin typeface="Arial"/>
                <a:cs typeface="Arial"/>
              </a:rPr>
              <a:t>Where</a:t>
            </a:r>
            <a:r>
              <a:rPr sz="1000" dirty="0">
                <a:latin typeface="Arial"/>
                <a:cs typeface="Arial"/>
              </a:rPr>
              <a:t> </a:t>
            </a:r>
            <a:r>
              <a:rPr sz="1000" spc="-15" dirty="0">
                <a:latin typeface="Arial"/>
                <a:cs typeface="Arial"/>
              </a:rPr>
              <a:t>data</a:t>
            </a:r>
            <a:r>
              <a:rPr sz="1000" dirty="0">
                <a:latin typeface="Arial"/>
                <a:cs typeface="Arial"/>
              </a:rPr>
              <a:t> </a:t>
            </a:r>
            <a:r>
              <a:rPr sz="1000" spc="-10" dirty="0">
                <a:latin typeface="Arial"/>
                <a:cs typeface="Arial"/>
              </a:rPr>
              <a:t>is</a:t>
            </a:r>
            <a:r>
              <a:rPr sz="1000" dirty="0">
                <a:latin typeface="Arial"/>
                <a:cs typeface="Arial"/>
              </a:rPr>
              <a:t> </a:t>
            </a:r>
            <a:r>
              <a:rPr sz="1000" spc="-15" dirty="0">
                <a:latin typeface="Arial"/>
                <a:cs typeface="Arial"/>
              </a:rPr>
              <a:t>exactly</a:t>
            </a:r>
            <a:r>
              <a:rPr sz="1000" dirty="0">
                <a:latin typeface="Arial"/>
                <a:cs typeface="Arial"/>
              </a:rPr>
              <a:t> </a:t>
            </a:r>
            <a:r>
              <a:rPr sz="1000" spc="-15" dirty="0">
                <a:latin typeface="Arial"/>
                <a:cs typeface="Arial"/>
              </a:rPr>
              <a:t>stored</a:t>
            </a:r>
            <a:r>
              <a:rPr sz="1000" dirty="0">
                <a:latin typeface="Arial"/>
                <a:cs typeface="Arial"/>
              </a:rPr>
              <a:t> </a:t>
            </a:r>
            <a:r>
              <a:rPr sz="1000" spc="-15" dirty="0">
                <a:latin typeface="Arial"/>
                <a:cs typeface="Arial"/>
              </a:rPr>
              <a:t>should</a:t>
            </a:r>
            <a:r>
              <a:rPr sz="1000" dirty="0">
                <a:latin typeface="Arial"/>
                <a:cs typeface="Arial"/>
              </a:rPr>
              <a:t> </a:t>
            </a:r>
            <a:r>
              <a:rPr sz="1000" spc="-15" dirty="0">
                <a:latin typeface="Arial"/>
                <a:cs typeface="Arial"/>
              </a:rPr>
              <a:t>be</a:t>
            </a:r>
            <a:r>
              <a:rPr sz="1000" dirty="0">
                <a:latin typeface="Arial"/>
                <a:cs typeface="Arial"/>
              </a:rPr>
              <a:t> </a:t>
            </a:r>
            <a:r>
              <a:rPr sz="1000" spc="-20" dirty="0">
                <a:latin typeface="Arial"/>
                <a:cs typeface="Arial"/>
              </a:rPr>
              <a:t>irrelevant</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an</a:t>
            </a:r>
            <a:r>
              <a:rPr sz="1000" dirty="0">
                <a:latin typeface="Arial"/>
                <a:cs typeface="Arial"/>
              </a:rPr>
              <a:t> </a:t>
            </a:r>
            <a:r>
              <a:rPr sz="1000" spc="-15" dirty="0">
                <a:latin typeface="Arial"/>
                <a:cs typeface="Arial"/>
              </a:rPr>
              <a:t>application</a:t>
            </a:r>
            <a:endParaRPr sz="1000">
              <a:latin typeface="Arial"/>
              <a:cs typeface="Arial"/>
            </a:endParaRPr>
          </a:p>
          <a:p>
            <a:pPr marL="306705" indent="-168275">
              <a:lnSpc>
                <a:spcPts val="1200"/>
              </a:lnSpc>
              <a:buClr>
                <a:srgbClr val="007C00"/>
              </a:buClr>
              <a:buChar char="►"/>
              <a:tabLst>
                <a:tab pos="307340" algn="l"/>
              </a:tabLst>
            </a:pPr>
            <a:r>
              <a:rPr sz="1000" spc="-5" dirty="0">
                <a:latin typeface="Arial"/>
                <a:cs typeface="Arial"/>
              </a:rPr>
              <a:t>If or</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a:t>
            </a:r>
            <a:r>
              <a:rPr sz="1000" dirty="0">
                <a:latin typeface="Arial"/>
                <a:cs typeface="Arial"/>
              </a:rPr>
              <a:t> </a:t>
            </a:r>
            <a:r>
              <a:rPr sz="1000" spc="-5" dirty="0">
                <a:latin typeface="Arial"/>
                <a:cs typeface="Arial"/>
              </a:rPr>
              <a:t>replicated</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completely</a:t>
            </a:r>
            <a:r>
              <a:rPr sz="1000" dirty="0">
                <a:latin typeface="Arial"/>
                <a:cs typeface="Arial"/>
              </a:rPr>
              <a:t> </a:t>
            </a:r>
            <a:r>
              <a:rPr sz="1000" spc="-5" dirty="0">
                <a:latin typeface="Arial"/>
                <a:cs typeface="Arial"/>
              </a:rPr>
              <a:t>hidden</a:t>
            </a:r>
            <a:endParaRPr sz="1000">
              <a:latin typeface="Arial"/>
              <a:cs typeface="Arial"/>
            </a:endParaRPr>
          </a:p>
          <a:p>
            <a:pPr marL="29845">
              <a:lnSpc>
                <a:spcPct val="100000"/>
              </a:lnSpc>
              <a:spcBef>
                <a:spcPts val="595"/>
              </a:spcBef>
            </a:pPr>
            <a:r>
              <a:rPr sz="1000" spc="-15" dirty="0">
                <a:latin typeface="Arial"/>
                <a:cs typeface="Arial"/>
              </a:rPr>
              <a:t>Keyword</a:t>
            </a:r>
            <a:r>
              <a:rPr sz="1000" spc="-10" dirty="0">
                <a:latin typeface="Arial"/>
                <a:cs typeface="Arial"/>
              </a:rPr>
              <a:t> </a:t>
            </a:r>
            <a:r>
              <a:rPr sz="1000" spc="-5" dirty="0">
                <a:latin typeface="Arial"/>
                <a:cs typeface="Arial"/>
              </a:rPr>
              <a:t>is</a:t>
            </a:r>
            <a:r>
              <a:rPr sz="1000" spc="-10" dirty="0">
                <a:latin typeface="Arial"/>
                <a:cs typeface="Arial"/>
              </a:rPr>
              <a:t> </a:t>
            </a:r>
            <a:r>
              <a:rPr sz="1000" spc="-5" dirty="0">
                <a:solidFill>
                  <a:srgbClr val="FA0000"/>
                </a:solidFill>
                <a:latin typeface="Arial"/>
                <a:cs typeface="Arial"/>
              </a:rPr>
              <a:t>distribution</a:t>
            </a:r>
            <a:r>
              <a:rPr sz="1000" spc="-10" dirty="0">
                <a:solidFill>
                  <a:srgbClr val="FA0000"/>
                </a:solidFill>
                <a:latin typeface="Arial"/>
                <a:cs typeface="Arial"/>
              </a:rPr>
              <a:t> </a:t>
            </a:r>
            <a:r>
              <a:rPr sz="1000" spc="-5" dirty="0">
                <a:solidFill>
                  <a:srgbClr val="FA0000"/>
                </a:solidFill>
                <a:latin typeface="Arial"/>
                <a:cs typeface="Arial"/>
              </a:rPr>
              <a:t>transparency</a:t>
            </a:r>
            <a:endParaRPr sz="1000">
              <a:latin typeface="Arial"/>
              <a:cs typeface="Arial"/>
            </a:endParaRPr>
          </a:p>
          <a:p>
            <a:pPr marL="25400">
              <a:lnSpc>
                <a:spcPct val="100000"/>
              </a:lnSpc>
              <a:spcBef>
                <a:spcPts val="690"/>
              </a:spcBef>
            </a:pPr>
            <a:r>
              <a:rPr sz="1200" spc="-5" dirty="0">
                <a:solidFill>
                  <a:srgbClr val="3333B2"/>
                </a:solidFill>
                <a:latin typeface="Arial"/>
                <a:cs typeface="Arial"/>
              </a:rPr>
              <a:t>The</a:t>
            </a:r>
            <a:r>
              <a:rPr sz="1200" spc="-10" dirty="0">
                <a:solidFill>
                  <a:srgbClr val="3333B2"/>
                </a:solidFill>
                <a:latin typeface="Arial"/>
                <a:cs typeface="Arial"/>
              </a:rPr>
              <a:t> </a:t>
            </a:r>
            <a:r>
              <a:rPr sz="1200" spc="-5" dirty="0">
                <a:solidFill>
                  <a:srgbClr val="3333B2"/>
                </a:solidFill>
                <a:latin typeface="Arial"/>
                <a:cs typeface="Arial"/>
              </a:rPr>
              <a:t>snag:</a:t>
            </a:r>
            <a:r>
              <a:rPr sz="1200" spc="65" dirty="0">
                <a:solidFill>
                  <a:srgbClr val="3333B2"/>
                </a:solidFill>
                <a:latin typeface="Arial"/>
                <a:cs typeface="Arial"/>
              </a:rPr>
              <a:t> </a:t>
            </a:r>
            <a:r>
              <a:rPr sz="1200" dirty="0">
                <a:solidFill>
                  <a:srgbClr val="3333B2"/>
                </a:solidFill>
                <a:latin typeface="Arial"/>
                <a:cs typeface="Arial"/>
              </a:rPr>
              <a:t>partial</a:t>
            </a:r>
            <a:r>
              <a:rPr sz="1200" spc="-10" dirty="0">
                <a:solidFill>
                  <a:srgbClr val="3333B2"/>
                </a:solidFill>
                <a:latin typeface="Arial"/>
                <a:cs typeface="Arial"/>
              </a:rPr>
              <a:t> failures</a:t>
            </a:r>
            <a:endParaRPr sz="1200">
              <a:latin typeface="Arial"/>
              <a:cs typeface="Arial"/>
            </a:endParaRPr>
          </a:p>
          <a:p>
            <a:pPr marL="29845" marR="17780">
              <a:lnSpc>
                <a:spcPct val="100000"/>
              </a:lnSpc>
              <a:spcBef>
                <a:spcPts val="195"/>
              </a:spcBef>
            </a:pPr>
            <a:r>
              <a:rPr sz="1000" spc="-10" dirty="0">
                <a:latin typeface="Arial"/>
                <a:cs typeface="Arial"/>
              </a:rPr>
              <a:t>It</a:t>
            </a:r>
            <a:r>
              <a:rPr sz="1000" dirty="0">
                <a:latin typeface="Arial"/>
                <a:cs typeface="Arial"/>
              </a:rPr>
              <a:t> </a:t>
            </a:r>
            <a:r>
              <a:rPr sz="1000" spc="-10" dirty="0">
                <a:latin typeface="Arial"/>
                <a:cs typeface="Arial"/>
              </a:rPr>
              <a:t>is</a:t>
            </a:r>
            <a:r>
              <a:rPr sz="1000" spc="5" dirty="0">
                <a:latin typeface="Arial"/>
                <a:cs typeface="Arial"/>
              </a:rPr>
              <a:t> </a:t>
            </a:r>
            <a:r>
              <a:rPr sz="1000" spc="-20" dirty="0">
                <a:latin typeface="Arial"/>
                <a:cs typeface="Arial"/>
              </a:rPr>
              <a:t>inevitable</a:t>
            </a:r>
            <a:r>
              <a:rPr sz="1000" dirty="0">
                <a:latin typeface="Arial"/>
                <a:cs typeface="Arial"/>
              </a:rPr>
              <a:t> </a:t>
            </a:r>
            <a:r>
              <a:rPr sz="1000" spc="-10" dirty="0">
                <a:latin typeface="Arial"/>
                <a:cs typeface="Arial"/>
              </a:rPr>
              <a:t>that</a:t>
            </a:r>
            <a:r>
              <a:rPr sz="1000" spc="5" dirty="0">
                <a:latin typeface="Arial"/>
                <a:cs typeface="Arial"/>
              </a:rPr>
              <a:t> </a:t>
            </a:r>
            <a:r>
              <a:rPr sz="1000" spc="-10" dirty="0">
                <a:latin typeface="Arial"/>
                <a:cs typeface="Arial"/>
              </a:rPr>
              <a:t>at</a:t>
            </a:r>
            <a:r>
              <a:rPr sz="1000" dirty="0">
                <a:latin typeface="Arial"/>
                <a:cs typeface="Arial"/>
              </a:rPr>
              <a:t> </a:t>
            </a:r>
            <a:r>
              <a:rPr sz="1000" spc="-20" dirty="0">
                <a:latin typeface="Arial"/>
                <a:cs typeface="Arial"/>
              </a:rPr>
              <a:t>any</a:t>
            </a:r>
            <a:r>
              <a:rPr sz="1000" dirty="0">
                <a:latin typeface="Arial"/>
                <a:cs typeface="Arial"/>
              </a:rPr>
              <a:t> </a:t>
            </a:r>
            <a:r>
              <a:rPr sz="1000" spc="-15" dirty="0">
                <a:latin typeface="Arial"/>
                <a:cs typeface="Arial"/>
              </a:rPr>
              <a:t>time</a:t>
            </a:r>
            <a:r>
              <a:rPr sz="1000" spc="5" dirty="0">
                <a:latin typeface="Arial"/>
                <a:cs typeface="Arial"/>
              </a:rPr>
              <a:t> </a:t>
            </a:r>
            <a:r>
              <a:rPr sz="1000" spc="-15" dirty="0">
                <a:solidFill>
                  <a:srgbClr val="FA0000"/>
                </a:solidFill>
                <a:latin typeface="Arial"/>
                <a:cs typeface="Arial"/>
              </a:rPr>
              <a:t>only</a:t>
            </a:r>
            <a:r>
              <a:rPr sz="1000" dirty="0">
                <a:solidFill>
                  <a:srgbClr val="FA0000"/>
                </a:solidFill>
                <a:latin typeface="Arial"/>
                <a:cs typeface="Arial"/>
              </a:rPr>
              <a:t> </a:t>
            </a:r>
            <a:r>
              <a:rPr sz="1000" spc="-15" dirty="0">
                <a:solidFill>
                  <a:srgbClr val="FA0000"/>
                </a:solidFill>
                <a:latin typeface="Arial"/>
                <a:cs typeface="Arial"/>
              </a:rPr>
              <a:t>a</a:t>
            </a:r>
            <a:r>
              <a:rPr sz="1000" spc="5" dirty="0">
                <a:solidFill>
                  <a:srgbClr val="FA0000"/>
                </a:solidFill>
                <a:latin typeface="Arial"/>
                <a:cs typeface="Arial"/>
              </a:rPr>
              <a:t> </a:t>
            </a:r>
            <a:r>
              <a:rPr sz="1000" spc="-5" dirty="0">
                <a:solidFill>
                  <a:srgbClr val="FA0000"/>
                </a:solidFill>
                <a:latin typeface="Arial"/>
                <a:cs typeface="Arial"/>
              </a:rPr>
              <a:t>part</a:t>
            </a:r>
            <a:r>
              <a:rPr sz="1000" dirty="0">
                <a:solidFill>
                  <a:srgbClr val="FA0000"/>
                </a:solidFill>
                <a:latin typeface="Arial"/>
                <a:cs typeface="Arial"/>
              </a:rPr>
              <a:t> </a:t>
            </a:r>
            <a:r>
              <a:rPr sz="1000" spc="-10" dirty="0">
                <a:latin typeface="Arial"/>
                <a:cs typeface="Arial"/>
              </a:rPr>
              <a:t>of</a:t>
            </a:r>
            <a:r>
              <a:rPr sz="1000" spc="5" dirty="0">
                <a:latin typeface="Arial"/>
                <a:cs typeface="Arial"/>
              </a:rPr>
              <a:t> </a:t>
            </a:r>
            <a:r>
              <a:rPr sz="1000" spc="-15" dirty="0">
                <a:latin typeface="Arial"/>
                <a:cs typeface="Arial"/>
              </a:rPr>
              <a:t>the</a:t>
            </a:r>
            <a:r>
              <a:rPr sz="1000" dirty="0">
                <a:latin typeface="Arial"/>
                <a:cs typeface="Arial"/>
              </a:rPr>
              <a:t> </a:t>
            </a:r>
            <a:r>
              <a:rPr sz="1000" spc="-15" dirty="0">
                <a:latin typeface="Arial"/>
                <a:cs typeface="Arial"/>
              </a:rPr>
              <a:t>distributed</a:t>
            </a:r>
            <a:r>
              <a:rPr sz="1000" spc="5" dirty="0">
                <a:latin typeface="Arial"/>
                <a:cs typeface="Arial"/>
              </a:rPr>
              <a:t> </a:t>
            </a:r>
            <a:r>
              <a:rPr sz="1000" spc="-15" dirty="0">
                <a:latin typeface="Arial"/>
                <a:cs typeface="Arial"/>
              </a:rPr>
              <a:t>system</a:t>
            </a:r>
            <a:r>
              <a:rPr sz="1000" dirty="0">
                <a:latin typeface="Arial"/>
                <a:cs typeface="Arial"/>
              </a:rPr>
              <a:t> </a:t>
            </a:r>
            <a:r>
              <a:rPr sz="1000" spc="-20" dirty="0">
                <a:latin typeface="Arial"/>
                <a:cs typeface="Arial"/>
              </a:rPr>
              <a:t>fails. </a:t>
            </a:r>
            <a:r>
              <a:rPr sz="1000" spc="-260" dirty="0">
                <a:latin typeface="Arial"/>
                <a:cs typeface="Arial"/>
              </a:rPr>
              <a:t> </a:t>
            </a:r>
            <a:r>
              <a:rPr sz="1000" spc="-5" dirty="0">
                <a:latin typeface="Arial"/>
                <a:cs typeface="Arial"/>
              </a:rPr>
              <a:t>Hiding</a:t>
            </a:r>
            <a:r>
              <a:rPr sz="1000" dirty="0">
                <a:latin typeface="Arial"/>
                <a:cs typeface="Arial"/>
              </a:rPr>
              <a:t> partial </a:t>
            </a:r>
            <a:r>
              <a:rPr sz="1000" spc="-10" dirty="0">
                <a:latin typeface="Arial"/>
                <a:cs typeface="Arial"/>
              </a:rPr>
              <a:t>failures</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their</a:t>
            </a:r>
            <a:r>
              <a:rPr sz="1000" dirty="0">
                <a:latin typeface="Arial"/>
                <a:cs typeface="Arial"/>
              </a:rPr>
              <a:t> </a:t>
            </a:r>
            <a:r>
              <a:rPr sz="1000" spc="-5" dirty="0">
                <a:latin typeface="Arial"/>
                <a:cs typeface="Arial"/>
              </a:rPr>
              <a:t>recovery</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often</a:t>
            </a:r>
            <a:r>
              <a:rPr sz="1000" spc="5" dirty="0">
                <a:latin typeface="Arial"/>
                <a:cs typeface="Arial"/>
              </a:rPr>
              <a:t> </a:t>
            </a:r>
            <a:r>
              <a:rPr sz="1000" spc="-5" dirty="0">
                <a:latin typeface="Arial"/>
                <a:cs typeface="Arial"/>
              </a:rPr>
              <a:t>very</a:t>
            </a:r>
            <a:r>
              <a:rPr sz="1000" dirty="0">
                <a:latin typeface="Arial"/>
                <a:cs typeface="Arial"/>
              </a:rPr>
              <a:t> </a:t>
            </a:r>
            <a:r>
              <a:rPr sz="1000" spc="-5" dirty="0">
                <a:latin typeface="Arial"/>
                <a:cs typeface="Arial"/>
              </a:rPr>
              <a:t>difficult</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in </a:t>
            </a:r>
            <a:r>
              <a:rPr sz="1000" dirty="0">
                <a:latin typeface="Arial"/>
                <a:cs typeface="Arial"/>
              </a:rPr>
              <a:t> </a:t>
            </a:r>
            <a:r>
              <a:rPr sz="1000" spc="-5" dirty="0">
                <a:latin typeface="Arial"/>
                <a:cs typeface="Arial"/>
              </a:rPr>
              <a:t>general</a:t>
            </a:r>
            <a:r>
              <a:rPr sz="1000" spc="-10" dirty="0">
                <a:latin typeface="Arial"/>
                <a:cs typeface="Arial"/>
              </a:rPr>
              <a:t> </a:t>
            </a:r>
            <a:r>
              <a:rPr sz="1000" spc="-5" dirty="0">
                <a:latin typeface="Arial"/>
                <a:cs typeface="Arial"/>
              </a:rPr>
              <a:t>impossible to hide.</a:t>
            </a:r>
            <a:endParaRPr sz="10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58185" algn="l"/>
              </a:tabLst>
            </a:pPr>
            <a:r>
              <a:rPr sz="600" spc="-5" dirty="0">
                <a:solidFill>
                  <a:srgbClr val="3333B2"/>
                </a:solidFill>
                <a:latin typeface="Arial"/>
                <a:cs typeface="Arial"/>
                <a:hlinkClick r:id="rId3" action="ppaction://hlinksldjump"/>
              </a:rPr>
              <a:t>Introduction:</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What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Middleware</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and</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distributed</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3442970" cy="244475"/>
          </a:xfrm>
          <a:prstGeom prst="rect">
            <a:avLst/>
          </a:prstGeom>
        </p:spPr>
        <p:txBody>
          <a:bodyPr vert="horz" wrap="square" lIns="0" tIns="17145" rIns="0" bIns="0" rtlCol="0">
            <a:spAutoFit/>
          </a:bodyPr>
          <a:lstStyle/>
          <a:p>
            <a:pPr marL="12700">
              <a:lnSpc>
                <a:spcPct val="100000"/>
              </a:lnSpc>
              <a:spcBef>
                <a:spcPts val="135"/>
              </a:spcBef>
            </a:pPr>
            <a:r>
              <a:rPr spc="10" dirty="0"/>
              <a:t>Middleware:</a:t>
            </a:r>
            <a:r>
              <a:rPr spc="95" dirty="0"/>
              <a:t> </a:t>
            </a:r>
            <a:r>
              <a:rPr spc="15" dirty="0"/>
              <a:t>the</a:t>
            </a:r>
            <a:r>
              <a:rPr spc="5" dirty="0"/>
              <a:t> </a:t>
            </a:r>
            <a:r>
              <a:rPr spc="25" dirty="0"/>
              <a:t>OS</a:t>
            </a:r>
            <a:r>
              <a:rPr spc="5" dirty="0"/>
              <a:t> </a:t>
            </a:r>
            <a:r>
              <a:rPr spc="10" dirty="0"/>
              <a:t>of</a:t>
            </a:r>
            <a:r>
              <a:rPr dirty="0"/>
              <a:t> </a:t>
            </a:r>
            <a:r>
              <a:rPr spc="10" dirty="0"/>
              <a:t>distributed</a:t>
            </a:r>
            <a:r>
              <a:rPr spc="5" dirty="0"/>
              <a:t> </a:t>
            </a:r>
            <a:r>
              <a:rPr spc="15" dirty="0"/>
              <a:t>systems</a:t>
            </a:r>
          </a:p>
        </p:txBody>
      </p:sp>
      <p:grpSp>
        <p:nvGrpSpPr>
          <p:cNvPr id="4" name="object 4"/>
          <p:cNvGrpSpPr/>
          <p:nvPr/>
        </p:nvGrpSpPr>
        <p:grpSpPr>
          <a:xfrm>
            <a:off x="716163" y="996917"/>
            <a:ext cx="3178175" cy="1026794"/>
            <a:chOff x="716163" y="996917"/>
            <a:chExt cx="3178175" cy="1026794"/>
          </a:xfrm>
        </p:grpSpPr>
        <p:sp>
          <p:nvSpPr>
            <p:cNvPr id="5" name="object 5"/>
            <p:cNvSpPr/>
            <p:nvPr/>
          </p:nvSpPr>
          <p:spPr>
            <a:xfrm>
              <a:off x="721561" y="1002315"/>
              <a:ext cx="657860" cy="1016000"/>
            </a:xfrm>
            <a:custGeom>
              <a:avLst/>
              <a:gdLst/>
              <a:ahLst/>
              <a:cxnLst/>
              <a:rect l="l" t="t" r="r" b="b"/>
              <a:pathLst>
                <a:path w="657860" h="1016000">
                  <a:moveTo>
                    <a:pt x="657358" y="0"/>
                  </a:moveTo>
                  <a:lnTo>
                    <a:pt x="0" y="0"/>
                  </a:lnTo>
                  <a:lnTo>
                    <a:pt x="0" y="1015917"/>
                  </a:lnTo>
                  <a:lnTo>
                    <a:pt x="657358" y="1015917"/>
                  </a:lnTo>
                  <a:lnTo>
                    <a:pt x="657358" y="0"/>
                  </a:lnTo>
                  <a:close/>
                </a:path>
              </a:pathLst>
            </a:custGeom>
            <a:solidFill>
              <a:srgbClr val="E6E7E8"/>
            </a:solidFill>
          </p:spPr>
          <p:txBody>
            <a:bodyPr wrap="square" lIns="0" tIns="0" rIns="0" bIns="0" rtlCol="0"/>
            <a:lstStyle/>
            <a:p>
              <a:endParaRPr/>
            </a:p>
          </p:txBody>
        </p:sp>
        <p:sp>
          <p:nvSpPr>
            <p:cNvPr id="6" name="object 6"/>
            <p:cNvSpPr/>
            <p:nvPr/>
          </p:nvSpPr>
          <p:spPr>
            <a:xfrm>
              <a:off x="721561" y="1002315"/>
              <a:ext cx="657860" cy="1016000"/>
            </a:xfrm>
            <a:custGeom>
              <a:avLst/>
              <a:gdLst/>
              <a:ahLst/>
              <a:cxnLst/>
              <a:rect l="l" t="t" r="r" b="b"/>
              <a:pathLst>
                <a:path w="657860" h="1016000">
                  <a:moveTo>
                    <a:pt x="0" y="1015917"/>
                  </a:moveTo>
                  <a:lnTo>
                    <a:pt x="657358" y="1015917"/>
                  </a:lnTo>
                  <a:lnTo>
                    <a:pt x="657358" y="0"/>
                  </a:lnTo>
                  <a:lnTo>
                    <a:pt x="0" y="0"/>
                  </a:lnTo>
                  <a:lnTo>
                    <a:pt x="0" y="1015917"/>
                  </a:lnTo>
                  <a:close/>
                </a:path>
              </a:pathLst>
            </a:custGeom>
            <a:ln w="10541">
              <a:solidFill>
                <a:srgbClr val="231F20"/>
              </a:solidFill>
            </a:ln>
          </p:spPr>
          <p:txBody>
            <a:bodyPr wrap="square" lIns="0" tIns="0" rIns="0" bIns="0" rtlCol="0"/>
            <a:lstStyle/>
            <a:p>
              <a:endParaRPr/>
            </a:p>
          </p:txBody>
        </p:sp>
        <p:sp>
          <p:nvSpPr>
            <p:cNvPr id="7" name="object 7"/>
            <p:cNvSpPr/>
            <p:nvPr/>
          </p:nvSpPr>
          <p:spPr>
            <a:xfrm>
              <a:off x="1558188" y="1002322"/>
              <a:ext cx="657860" cy="1016000"/>
            </a:xfrm>
            <a:custGeom>
              <a:avLst/>
              <a:gdLst/>
              <a:ahLst/>
              <a:cxnLst/>
              <a:rect l="l" t="t" r="r" b="b"/>
              <a:pathLst>
                <a:path w="657860" h="1016000">
                  <a:moveTo>
                    <a:pt x="657364" y="717118"/>
                  </a:moveTo>
                  <a:lnTo>
                    <a:pt x="0" y="717118"/>
                  </a:lnTo>
                  <a:lnTo>
                    <a:pt x="0" y="1015911"/>
                  </a:lnTo>
                  <a:lnTo>
                    <a:pt x="657364" y="1015911"/>
                  </a:lnTo>
                  <a:lnTo>
                    <a:pt x="657364" y="717118"/>
                  </a:lnTo>
                  <a:close/>
                </a:path>
                <a:path w="657860" h="1016000">
                  <a:moveTo>
                    <a:pt x="657364" y="0"/>
                  </a:moveTo>
                  <a:lnTo>
                    <a:pt x="0" y="0"/>
                  </a:lnTo>
                  <a:lnTo>
                    <a:pt x="0" y="478078"/>
                  </a:lnTo>
                  <a:lnTo>
                    <a:pt x="657364" y="478078"/>
                  </a:lnTo>
                  <a:lnTo>
                    <a:pt x="657364" y="0"/>
                  </a:lnTo>
                  <a:close/>
                </a:path>
              </a:pathLst>
            </a:custGeom>
            <a:solidFill>
              <a:srgbClr val="E6E7E8"/>
            </a:solidFill>
          </p:spPr>
          <p:txBody>
            <a:bodyPr wrap="square" lIns="0" tIns="0" rIns="0" bIns="0" rtlCol="0"/>
            <a:lstStyle/>
            <a:p>
              <a:endParaRPr/>
            </a:p>
          </p:txBody>
        </p:sp>
        <p:sp>
          <p:nvSpPr>
            <p:cNvPr id="8" name="object 8"/>
            <p:cNvSpPr/>
            <p:nvPr/>
          </p:nvSpPr>
          <p:spPr>
            <a:xfrm>
              <a:off x="1558198" y="1002315"/>
              <a:ext cx="657860" cy="1016000"/>
            </a:xfrm>
            <a:custGeom>
              <a:avLst/>
              <a:gdLst/>
              <a:ahLst/>
              <a:cxnLst/>
              <a:rect l="l" t="t" r="r" b="b"/>
              <a:pathLst>
                <a:path w="657860" h="1016000">
                  <a:moveTo>
                    <a:pt x="0" y="1015917"/>
                  </a:moveTo>
                  <a:lnTo>
                    <a:pt x="657358" y="1015917"/>
                  </a:lnTo>
                  <a:lnTo>
                    <a:pt x="657358" y="0"/>
                  </a:lnTo>
                  <a:lnTo>
                    <a:pt x="0" y="0"/>
                  </a:lnTo>
                  <a:lnTo>
                    <a:pt x="0" y="1015917"/>
                  </a:lnTo>
                  <a:close/>
                </a:path>
              </a:pathLst>
            </a:custGeom>
            <a:ln w="10541">
              <a:solidFill>
                <a:srgbClr val="231F20"/>
              </a:solidFill>
            </a:ln>
          </p:spPr>
          <p:txBody>
            <a:bodyPr wrap="square" lIns="0" tIns="0" rIns="0" bIns="0" rtlCol="0"/>
            <a:lstStyle/>
            <a:p>
              <a:endParaRPr/>
            </a:p>
          </p:txBody>
        </p:sp>
        <p:sp>
          <p:nvSpPr>
            <p:cNvPr id="9" name="object 9"/>
            <p:cNvSpPr/>
            <p:nvPr/>
          </p:nvSpPr>
          <p:spPr>
            <a:xfrm>
              <a:off x="2394826" y="1002322"/>
              <a:ext cx="657860" cy="1016000"/>
            </a:xfrm>
            <a:custGeom>
              <a:avLst/>
              <a:gdLst/>
              <a:ahLst/>
              <a:cxnLst/>
              <a:rect l="l" t="t" r="r" b="b"/>
              <a:pathLst>
                <a:path w="657860" h="1016000">
                  <a:moveTo>
                    <a:pt x="657364" y="717118"/>
                  </a:moveTo>
                  <a:lnTo>
                    <a:pt x="0" y="717118"/>
                  </a:lnTo>
                  <a:lnTo>
                    <a:pt x="0" y="1015911"/>
                  </a:lnTo>
                  <a:lnTo>
                    <a:pt x="657364" y="1015911"/>
                  </a:lnTo>
                  <a:lnTo>
                    <a:pt x="657364" y="717118"/>
                  </a:lnTo>
                  <a:close/>
                </a:path>
                <a:path w="657860" h="1016000">
                  <a:moveTo>
                    <a:pt x="657364" y="0"/>
                  </a:moveTo>
                  <a:lnTo>
                    <a:pt x="0" y="0"/>
                  </a:lnTo>
                  <a:lnTo>
                    <a:pt x="0" y="478078"/>
                  </a:lnTo>
                  <a:lnTo>
                    <a:pt x="657364" y="478078"/>
                  </a:lnTo>
                  <a:lnTo>
                    <a:pt x="657364" y="0"/>
                  </a:lnTo>
                  <a:close/>
                </a:path>
              </a:pathLst>
            </a:custGeom>
            <a:solidFill>
              <a:srgbClr val="E6E7E8"/>
            </a:solidFill>
          </p:spPr>
          <p:txBody>
            <a:bodyPr wrap="square" lIns="0" tIns="0" rIns="0" bIns="0" rtlCol="0"/>
            <a:lstStyle/>
            <a:p>
              <a:endParaRPr/>
            </a:p>
          </p:txBody>
        </p:sp>
        <p:sp>
          <p:nvSpPr>
            <p:cNvPr id="10" name="object 10"/>
            <p:cNvSpPr/>
            <p:nvPr/>
          </p:nvSpPr>
          <p:spPr>
            <a:xfrm>
              <a:off x="2394838" y="1002315"/>
              <a:ext cx="657860" cy="1016000"/>
            </a:xfrm>
            <a:custGeom>
              <a:avLst/>
              <a:gdLst/>
              <a:ahLst/>
              <a:cxnLst/>
              <a:rect l="l" t="t" r="r" b="b"/>
              <a:pathLst>
                <a:path w="657860" h="1016000">
                  <a:moveTo>
                    <a:pt x="0" y="1015917"/>
                  </a:moveTo>
                  <a:lnTo>
                    <a:pt x="657363" y="1015917"/>
                  </a:lnTo>
                  <a:lnTo>
                    <a:pt x="657363" y="0"/>
                  </a:lnTo>
                  <a:lnTo>
                    <a:pt x="0" y="0"/>
                  </a:lnTo>
                  <a:lnTo>
                    <a:pt x="0" y="1015917"/>
                  </a:lnTo>
                  <a:close/>
                </a:path>
              </a:pathLst>
            </a:custGeom>
            <a:ln w="10541">
              <a:solidFill>
                <a:srgbClr val="231F20"/>
              </a:solidFill>
            </a:ln>
          </p:spPr>
          <p:txBody>
            <a:bodyPr wrap="square" lIns="0" tIns="0" rIns="0" bIns="0" rtlCol="0"/>
            <a:lstStyle/>
            <a:p>
              <a:endParaRPr/>
            </a:p>
          </p:txBody>
        </p:sp>
        <p:sp>
          <p:nvSpPr>
            <p:cNvPr id="11" name="object 11"/>
            <p:cNvSpPr/>
            <p:nvPr/>
          </p:nvSpPr>
          <p:spPr>
            <a:xfrm>
              <a:off x="3231477" y="1002315"/>
              <a:ext cx="657860" cy="1016000"/>
            </a:xfrm>
            <a:custGeom>
              <a:avLst/>
              <a:gdLst/>
              <a:ahLst/>
              <a:cxnLst/>
              <a:rect l="l" t="t" r="r" b="b"/>
              <a:pathLst>
                <a:path w="657860" h="1016000">
                  <a:moveTo>
                    <a:pt x="657358" y="0"/>
                  </a:moveTo>
                  <a:lnTo>
                    <a:pt x="0" y="0"/>
                  </a:lnTo>
                  <a:lnTo>
                    <a:pt x="0" y="1015917"/>
                  </a:lnTo>
                  <a:lnTo>
                    <a:pt x="657358" y="1015917"/>
                  </a:lnTo>
                  <a:lnTo>
                    <a:pt x="657358" y="0"/>
                  </a:lnTo>
                  <a:close/>
                </a:path>
              </a:pathLst>
            </a:custGeom>
            <a:solidFill>
              <a:srgbClr val="E6E7E8"/>
            </a:solidFill>
          </p:spPr>
          <p:txBody>
            <a:bodyPr wrap="square" lIns="0" tIns="0" rIns="0" bIns="0" rtlCol="0"/>
            <a:lstStyle/>
            <a:p>
              <a:endParaRPr/>
            </a:p>
          </p:txBody>
        </p:sp>
        <p:sp>
          <p:nvSpPr>
            <p:cNvPr id="12" name="object 12"/>
            <p:cNvSpPr/>
            <p:nvPr/>
          </p:nvSpPr>
          <p:spPr>
            <a:xfrm>
              <a:off x="3231477" y="1002315"/>
              <a:ext cx="657860" cy="1016000"/>
            </a:xfrm>
            <a:custGeom>
              <a:avLst/>
              <a:gdLst/>
              <a:ahLst/>
              <a:cxnLst/>
              <a:rect l="l" t="t" r="r" b="b"/>
              <a:pathLst>
                <a:path w="657860" h="1016000">
                  <a:moveTo>
                    <a:pt x="0" y="1015917"/>
                  </a:moveTo>
                  <a:lnTo>
                    <a:pt x="657358" y="1015917"/>
                  </a:lnTo>
                  <a:lnTo>
                    <a:pt x="657358" y="0"/>
                  </a:lnTo>
                  <a:lnTo>
                    <a:pt x="0" y="0"/>
                  </a:lnTo>
                  <a:lnTo>
                    <a:pt x="0" y="1015917"/>
                  </a:lnTo>
                  <a:close/>
                </a:path>
              </a:pathLst>
            </a:custGeom>
            <a:ln w="10541">
              <a:solidFill>
                <a:srgbClr val="231F20"/>
              </a:solidFill>
            </a:ln>
          </p:spPr>
          <p:txBody>
            <a:bodyPr wrap="square" lIns="0" tIns="0" rIns="0" bIns="0" rtlCol="0"/>
            <a:lstStyle/>
            <a:p>
              <a:endParaRPr/>
            </a:p>
          </p:txBody>
        </p:sp>
      </p:grpSp>
      <p:sp>
        <p:nvSpPr>
          <p:cNvPr id="13" name="object 13"/>
          <p:cNvSpPr txBox="1"/>
          <p:nvPr/>
        </p:nvSpPr>
        <p:spPr>
          <a:xfrm>
            <a:off x="781319" y="1779194"/>
            <a:ext cx="537845" cy="179705"/>
          </a:xfrm>
          <a:prstGeom prst="rect">
            <a:avLst/>
          </a:prstGeom>
          <a:solidFill>
            <a:srgbClr val="FFFFFF"/>
          </a:solidFill>
          <a:ln w="5270">
            <a:solidFill>
              <a:srgbClr val="231F20"/>
            </a:solidFill>
          </a:ln>
        </p:spPr>
        <p:txBody>
          <a:bodyPr vert="horz" wrap="square" lIns="0" tIns="35560" rIns="0" bIns="0" rtlCol="0">
            <a:spAutoFit/>
          </a:bodyPr>
          <a:lstStyle/>
          <a:p>
            <a:pPr marL="46355">
              <a:lnSpc>
                <a:spcPct val="100000"/>
              </a:lnSpc>
              <a:spcBef>
                <a:spcPts val="280"/>
              </a:spcBef>
            </a:pPr>
            <a:r>
              <a:rPr sz="650" spc="5" dirty="0">
                <a:solidFill>
                  <a:srgbClr val="231F20"/>
                </a:solidFill>
                <a:latin typeface="Arial"/>
                <a:cs typeface="Arial"/>
              </a:rPr>
              <a:t>Local</a:t>
            </a:r>
            <a:r>
              <a:rPr sz="650" spc="-30" dirty="0">
                <a:solidFill>
                  <a:srgbClr val="231F20"/>
                </a:solidFill>
                <a:latin typeface="Arial"/>
                <a:cs typeface="Arial"/>
              </a:rPr>
              <a:t> </a:t>
            </a:r>
            <a:r>
              <a:rPr sz="650" spc="10" dirty="0">
                <a:solidFill>
                  <a:srgbClr val="231F20"/>
                </a:solidFill>
                <a:latin typeface="Arial"/>
                <a:cs typeface="Arial"/>
              </a:rPr>
              <a:t>OS</a:t>
            </a:r>
            <a:r>
              <a:rPr sz="650" spc="-30" dirty="0">
                <a:solidFill>
                  <a:srgbClr val="231F20"/>
                </a:solidFill>
                <a:latin typeface="Arial"/>
                <a:cs typeface="Arial"/>
              </a:rPr>
              <a:t> </a:t>
            </a:r>
            <a:r>
              <a:rPr sz="650" spc="5" dirty="0">
                <a:solidFill>
                  <a:srgbClr val="231F20"/>
                </a:solidFill>
                <a:latin typeface="Arial"/>
                <a:cs typeface="Arial"/>
              </a:rPr>
              <a:t>1</a:t>
            </a:r>
            <a:endParaRPr sz="650">
              <a:latin typeface="Arial"/>
              <a:cs typeface="Arial"/>
            </a:endParaRPr>
          </a:p>
        </p:txBody>
      </p:sp>
      <p:sp>
        <p:nvSpPr>
          <p:cNvPr id="14" name="object 14"/>
          <p:cNvSpPr txBox="1"/>
          <p:nvPr/>
        </p:nvSpPr>
        <p:spPr>
          <a:xfrm>
            <a:off x="1627918" y="1779194"/>
            <a:ext cx="528320" cy="179705"/>
          </a:xfrm>
          <a:prstGeom prst="rect">
            <a:avLst/>
          </a:prstGeom>
          <a:solidFill>
            <a:srgbClr val="FFFFFF"/>
          </a:solidFill>
          <a:ln w="5270">
            <a:solidFill>
              <a:srgbClr val="231F20"/>
            </a:solidFill>
          </a:ln>
        </p:spPr>
        <p:txBody>
          <a:bodyPr vert="horz" wrap="square" lIns="0" tIns="38735" rIns="0" bIns="0" rtlCol="0">
            <a:spAutoFit/>
          </a:bodyPr>
          <a:lstStyle/>
          <a:p>
            <a:pPr marL="49530">
              <a:lnSpc>
                <a:spcPct val="100000"/>
              </a:lnSpc>
              <a:spcBef>
                <a:spcPts val="305"/>
              </a:spcBef>
            </a:pPr>
            <a:r>
              <a:rPr sz="650" spc="5" dirty="0">
                <a:solidFill>
                  <a:srgbClr val="231F20"/>
                </a:solidFill>
                <a:latin typeface="Arial"/>
                <a:cs typeface="Arial"/>
              </a:rPr>
              <a:t>Local</a:t>
            </a:r>
            <a:r>
              <a:rPr sz="650" spc="-30" dirty="0">
                <a:solidFill>
                  <a:srgbClr val="231F20"/>
                </a:solidFill>
                <a:latin typeface="Arial"/>
                <a:cs typeface="Arial"/>
              </a:rPr>
              <a:t> </a:t>
            </a:r>
            <a:r>
              <a:rPr sz="650" spc="10" dirty="0">
                <a:solidFill>
                  <a:srgbClr val="231F20"/>
                </a:solidFill>
                <a:latin typeface="Arial"/>
                <a:cs typeface="Arial"/>
              </a:rPr>
              <a:t>OS</a:t>
            </a:r>
            <a:r>
              <a:rPr sz="650" spc="-30" dirty="0">
                <a:solidFill>
                  <a:srgbClr val="231F20"/>
                </a:solidFill>
                <a:latin typeface="Arial"/>
                <a:cs typeface="Arial"/>
              </a:rPr>
              <a:t> </a:t>
            </a:r>
            <a:r>
              <a:rPr sz="650" spc="5" dirty="0">
                <a:solidFill>
                  <a:srgbClr val="231F20"/>
                </a:solidFill>
                <a:latin typeface="Arial"/>
                <a:cs typeface="Arial"/>
              </a:rPr>
              <a:t>2</a:t>
            </a:r>
            <a:endParaRPr sz="650">
              <a:latin typeface="Arial"/>
              <a:cs typeface="Arial"/>
            </a:endParaRPr>
          </a:p>
        </p:txBody>
      </p:sp>
      <p:sp>
        <p:nvSpPr>
          <p:cNvPr id="15" name="object 15"/>
          <p:cNvSpPr txBox="1"/>
          <p:nvPr/>
        </p:nvSpPr>
        <p:spPr>
          <a:xfrm>
            <a:off x="2454605" y="1779194"/>
            <a:ext cx="537845" cy="179705"/>
          </a:xfrm>
          <a:prstGeom prst="rect">
            <a:avLst/>
          </a:prstGeom>
          <a:solidFill>
            <a:srgbClr val="FFFFFF"/>
          </a:solidFill>
          <a:ln w="5270">
            <a:solidFill>
              <a:srgbClr val="231F20"/>
            </a:solidFill>
          </a:ln>
        </p:spPr>
        <p:txBody>
          <a:bodyPr vert="horz" wrap="square" lIns="0" tIns="38735" rIns="0" bIns="0" rtlCol="0">
            <a:spAutoFit/>
          </a:bodyPr>
          <a:lstStyle/>
          <a:p>
            <a:pPr marL="59690">
              <a:lnSpc>
                <a:spcPct val="100000"/>
              </a:lnSpc>
              <a:spcBef>
                <a:spcPts val="305"/>
              </a:spcBef>
            </a:pPr>
            <a:r>
              <a:rPr sz="650" spc="5" dirty="0">
                <a:solidFill>
                  <a:srgbClr val="231F20"/>
                </a:solidFill>
                <a:latin typeface="Arial"/>
                <a:cs typeface="Arial"/>
              </a:rPr>
              <a:t>Local</a:t>
            </a:r>
            <a:r>
              <a:rPr sz="650" spc="-30" dirty="0">
                <a:solidFill>
                  <a:srgbClr val="231F20"/>
                </a:solidFill>
                <a:latin typeface="Arial"/>
                <a:cs typeface="Arial"/>
              </a:rPr>
              <a:t> </a:t>
            </a:r>
            <a:r>
              <a:rPr sz="650" spc="10" dirty="0">
                <a:solidFill>
                  <a:srgbClr val="231F20"/>
                </a:solidFill>
                <a:latin typeface="Arial"/>
                <a:cs typeface="Arial"/>
              </a:rPr>
              <a:t>OS</a:t>
            </a:r>
            <a:r>
              <a:rPr sz="650" spc="-30" dirty="0">
                <a:solidFill>
                  <a:srgbClr val="231F20"/>
                </a:solidFill>
                <a:latin typeface="Arial"/>
                <a:cs typeface="Arial"/>
              </a:rPr>
              <a:t> </a:t>
            </a:r>
            <a:r>
              <a:rPr sz="650" spc="5" dirty="0">
                <a:solidFill>
                  <a:srgbClr val="231F20"/>
                </a:solidFill>
                <a:latin typeface="Arial"/>
                <a:cs typeface="Arial"/>
              </a:rPr>
              <a:t>3</a:t>
            </a:r>
            <a:endParaRPr sz="650">
              <a:latin typeface="Arial"/>
              <a:cs typeface="Arial"/>
            </a:endParaRPr>
          </a:p>
        </p:txBody>
      </p:sp>
      <p:sp>
        <p:nvSpPr>
          <p:cNvPr id="16" name="object 16"/>
          <p:cNvSpPr txBox="1"/>
          <p:nvPr/>
        </p:nvSpPr>
        <p:spPr>
          <a:xfrm>
            <a:off x="3291234" y="1779194"/>
            <a:ext cx="537845" cy="179705"/>
          </a:xfrm>
          <a:prstGeom prst="rect">
            <a:avLst/>
          </a:prstGeom>
          <a:solidFill>
            <a:srgbClr val="FFFFFF"/>
          </a:solidFill>
          <a:ln w="5270">
            <a:solidFill>
              <a:srgbClr val="231F20"/>
            </a:solidFill>
          </a:ln>
        </p:spPr>
        <p:txBody>
          <a:bodyPr vert="horz" wrap="square" lIns="0" tIns="38735" rIns="0" bIns="0" rtlCol="0">
            <a:spAutoFit/>
          </a:bodyPr>
          <a:lstStyle/>
          <a:p>
            <a:pPr marL="59690">
              <a:lnSpc>
                <a:spcPct val="100000"/>
              </a:lnSpc>
              <a:spcBef>
                <a:spcPts val="305"/>
              </a:spcBef>
            </a:pPr>
            <a:r>
              <a:rPr sz="650" spc="5" dirty="0">
                <a:solidFill>
                  <a:srgbClr val="231F20"/>
                </a:solidFill>
                <a:latin typeface="Arial"/>
                <a:cs typeface="Arial"/>
              </a:rPr>
              <a:t>Local</a:t>
            </a:r>
            <a:r>
              <a:rPr sz="650" spc="-30" dirty="0">
                <a:solidFill>
                  <a:srgbClr val="231F20"/>
                </a:solidFill>
                <a:latin typeface="Arial"/>
                <a:cs typeface="Arial"/>
              </a:rPr>
              <a:t> </a:t>
            </a:r>
            <a:r>
              <a:rPr sz="650" spc="10" dirty="0">
                <a:solidFill>
                  <a:srgbClr val="231F20"/>
                </a:solidFill>
                <a:latin typeface="Arial"/>
                <a:cs typeface="Arial"/>
              </a:rPr>
              <a:t>OS</a:t>
            </a:r>
            <a:r>
              <a:rPr sz="650" spc="-30" dirty="0">
                <a:solidFill>
                  <a:srgbClr val="231F20"/>
                </a:solidFill>
                <a:latin typeface="Arial"/>
                <a:cs typeface="Arial"/>
              </a:rPr>
              <a:t> </a:t>
            </a:r>
            <a:r>
              <a:rPr sz="650" spc="5" dirty="0">
                <a:solidFill>
                  <a:srgbClr val="231F20"/>
                </a:solidFill>
                <a:latin typeface="Arial"/>
                <a:cs typeface="Arial"/>
              </a:rPr>
              <a:t>4</a:t>
            </a:r>
            <a:endParaRPr sz="650">
              <a:latin typeface="Arial"/>
              <a:cs typeface="Arial"/>
            </a:endParaRPr>
          </a:p>
        </p:txBody>
      </p:sp>
      <p:grpSp>
        <p:nvGrpSpPr>
          <p:cNvPr id="17" name="object 17"/>
          <p:cNvGrpSpPr/>
          <p:nvPr/>
        </p:nvGrpSpPr>
        <p:grpSpPr>
          <a:xfrm>
            <a:off x="1615100" y="1059215"/>
            <a:ext cx="1380490" cy="304800"/>
            <a:chOff x="1615100" y="1059215"/>
            <a:chExt cx="1380490" cy="304800"/>
          </a:xfrm>
        </p:grpSpPr>
        <p:sp>
          <p:nvSpPr>
            <p:cNvPr id="18" name="object 18"/>
            <p:cNvSpPr/>
            <p:nvPr/>
          </p:nvSpPr>
          <p:spPr>
            <a:xfrm>
              <a:off x="1617958" y="1062073"/>
              <a:ext cx="1374775" cy="299085"/>
            </a:xfrm>
            <a:custGeom>
              <a:avLst/>
              <a:gdLst/>
              <a:ahLst/>
              <a:cxnLst/>
              <a:rect l="l" t="t" r="r" b="b"/>
              <a:pathLst>
                <a:path w="1374775" h="299084">
                  <a:moveTo>
                    <a:pt x="1374483" y="0"/>
                  </a:moveTo>
                  <a:lnTo>
                    <a:pt x="0" y="0"/>
                  </a:lnTo>
                  <a:lnTo>
                    <a:pt x="0" y="298800"/>
                  </a:lnTo>
                  <a:lnTo>
                    <a:pt x="1374483" y="298800"/>
                  </a:lnTo>
                  <a:lnTo>
                    <a:pt x="1374483" y="0"/>
                  </a:lnTo>
                  <a:close/>
                </a:path>
              </a:pathLst>
            </a:custGeom>
            <a:solidFill>
              <a:srgbClr val="FFFFFF"/>
            </a:solidFill>
          </p:spPr>
          <p:txBody>
            <a:bodyPr wrap="square" lIns="0" tIns="0" rIns="0" bIns="0" rtlCol="0"/>
            <a:lstStyle/>
            <a:p>
              <a:endParaRPr/>
            </a:p>
          </p:txBody>
        </p:sp>
        <p:sp>
          <p:nvSpPr>
            <p:cNvPr id="19" name="object 19"/>
            <p:cNvSpPr/>
            <p:nvPr/>
          </p:nvSpPr>
          <p:spPr>
            <a:xfrm>
              <a:off x="1617958" y="1062073"/>
              <a:ext cx="1374775" cy="299085"/>
            </a:xfrm>
            <a:custGeom>
              <a:avLst/>
              <a:gdLst/>
              <a:ahLst/>
              <a:cxnLst/>
              <a:rect l="l" t="t" r="r" b="b"/>
              <a:pathLst>
                <a:path w="1374775" h="299084">
                  <a:moveTo>
                    <a:pt x="0" y="298800"/>
                  </a:moveTo>
                  <a:lnTo>
                    <a:pt x="1374483" y="298800"/>
                  </a:lnTo>
                  <a:lnTo>
                    <a:pt x="1374483" y="0"/>
                  </a:lnTo>
                  <a:lnTo>
                    <a:pt x="0" y="0"/>
                  </a:lnTo>
                  <a:lnTo>
                    <a:pt x="0" y="298800"/>
                  </a:lnTo>
                  <a:close/>
                </a:path>
              </a:pathLst>
            </a:custGeom>
            <a:ln w="5270">
              <a:solidFill>
                <a:srgbClr val="231F20"/>
              </a:solidFill>
            </a:ln>
          </p:spPr>
          <p:txBody>
            <a:bodyPr wrap="square" lIns="0" tIns="0" rIns="0" bIns="0" rtlCol="0"/>
            <a:lstStyle/>
            <a:p>
              <a:endParaRPr/>
            </a:p>
          </p:txBody>
        </p:sp>
      </p:grpSp>
      <p:sp>
        <p:nvSpPr>
          <p:cNvPr id="20" name="object 20"/>
          <p:cNvSpPr txBox="1"/>
          <p:nvPr/>
        </p:nvSpPr>
        <p:spPr>
          <a:xfrm>
            <a:off x="781319" y="1062073"/>
            <a:ext cx="537845" cy="299085"/>
          </a:xfrm>
          <a:prstGeom prst="rect">
            <a:avLst/>
          </a:prstGeom>
          <a:solidFill>
            <a:srgbClr val="FFFFFF"/>
          </a:solidFill>
          <a:ln w="5270">
            <a:solidFill>
              <a:srgbClr val="231F20"/>
            </a:solidFill>
          </a:ln>
        </p:spPr>
        <p:txBody>
          <a:bodyPr vert="horz" wrap="square" lIns="0" tIns="2540" rIns="0" bIns="0" rtlCol="0">
            <a:spAutoFit/>
          </a:bodyPr>
          <a:lstStyle/>
          <a:p>
            <a:pPr>
              <a:lnSpc>
                <a:spcPct val="100000"/>
              </a:lnSpc>
              <a:spcBef>
                <a:spcPts val="20"/>
              </a:spcBef>
            </a:pPr>
            <a:endParaRPr sz="700">
              <a:latin typeface="Times New Roman"/>
              <a:cs typeface="Times New Roman"/>
            </a:endParaRPr>
          </a:p>
          <a:p>
            <a:pPr marL="119380">
              <a:lnSpc>
                <a:spcPct val="100000"/>
              </a:lnSpc>
            </a:pPr>
            <a:r>
              <a:rPr sz="650" spc="5" dirty="0">
                <a:solidFill>
                  <a:srgbClr val="231F20"/>
                </a:solidFill>
                <a:latin typeface="Arial"/>
                <a:cs typeface="Arial"/>
              </a:rPr>
              <a:t>Appl.</a:t>
            </a:r>
            <a:r>
              <a:rPr sz="650" spc="-35" dirty="0">
                <a:solidFill>
                  <a:srgbClr val="231F20"/>
                </a:solidFill>
                <a:latin typeface="Arial"/>
                <a:cs typeface="Arial"/>
              </a:rPr>
              <a:t> </a:t>
            </a:r>
            <a:r>
              <a:rPr sz="650" spc="5" dirty="0">
                <a:solidFill>
                  <a:srgbClr val="231F20"/>
                </a:solidFill>
                <a:latin typeface="Arial"/>
                <a:cs typeface="Arial"/>
              </a:rPr>
              <a:t>A</a:t>
            </a:r>
            <a:endParaRPr sz="650">
              <a:latin typeface="Arial"/>
              <a:cs typeface="Arial"/>
            </a:endParaRPr>
          </a:p>
        </p:txBody>
      </p:sp>
      <p:sp>
        <p:nvSpPr>
          <p:cNvPr id="21" name="object 21"/>
          <p:cNvSpPr txBox="1"/>
          <p:nvPr/>
        </p:nvSpPr>
        <p:spPr>
          <a:xfrm>
            <a:off x="2023722" y="1152478"/>
            <a:ext cx="5175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Application B</a:t>
            </a:r>
            <a:endParaRPr sz="650">
              <a:latin typeface="Arial"/>
              <a:cs typeface="Arial"/>
            </a:endParaRPr>
          </a:p>
        </p:txBody>
      </p:sp>
      <p:sp>
        <p:nvSpPr>
          <p:cNvPr id="22" name="object 22"/>
          <p:cNvSpPr txBox="1"/>
          <p:nvPr/>
        </p:nvSpPr>
        <p:spPr>
          <a:xfrm>
            <a:off x="3291234" y="1062073"/>
            <a:ext cx="537845" cy="299085"/>
          </a:xfrm>
          <a:prstGeom prst="rect">
            <a:avLst/>
          </a:prstGeom>
          <a:solidFill>
            <a:srgbClr val="FFFFFF"/>
          </a:solidFill>
          <a:ln w="5270">
            <a:solidFill>
              <a:srgbClr val="231F20"/>
            </a:solidFill>
          </a:ln>
        </p:spPr>
        <p:txBody>
          <a:bodyPr vert="horz" wrap="square" lIns="0" tIns="2540" rIns="0" bIns="0" rtlCol="0">
            <a:spAutoFit/>
          </a:bodyPr>
          <a:lstStyle/>
          <a:p>
            <a:pPr>
              <a:lnSpc>
                <a:spcPct val="100000"/>
              </a:lnSpc>
              <a:spcBef>
                <a:spcPts val="20"/>
              </a:spcBef>
            </a:pPr>
            <a:endParaRPr sz="700">
              <a:latin typeface="Times New Roman"/>
              <a:cs typeface="Times New Roman"/>
            </a:endParaRPr>
          </a:p>
          <a:p>
            <a:pPr marL="119380">
              <a:lnSpc>
                <a:spcPct val="100000"/>
              </a:lnSpc>
            </a:pPr>
            <a:r>
              <a:rPr sz="650" spc="5" dirty="0">
                <a:solidFill>
                  <a:srgbClr val="231F20"/>
                </a:solidFill>
                <a:latin typeface="Arial"/>
                <a:cs typeface="Arial"/>
              </a:rPr>
              <a:t>Appl.</a:t>
            </a:r>
            <a:r>
              <a:rPr sz="650" spc="-45" dirty="0">
                <a:solidFill>
                  <a:srgbClr val="231F20"/>
                </a:solidFill>
                <a:latin typeface="Arial"/>
                <a:cs typeface="Arial"/>
              </a:rPr>
              <a:t> </a:t>
            </a:r>
            <a:r>
              <a:rPr sz="650" spc="10" dirty="0">
                <a:solidFill>
                  <a:srgbClr val="231F20"/>
                </a:solidFill>
                <a:latin typeface="Arial"/>
                <a:cs typeface="Arial"/>
              </a:rPr>
              <a:t>C</a:t>
            </a:r>
            <a:endParaRPr sz="650">
              <a:latin typeface="Arial"/>
              <a:cs typeface="Arial"/>
            </a:endParaRPr>
          </a:p>
        </p:txBody>
      </p:sp>
      <p:grpSp>
        <p:nvGrpSpPr>
          <p:cNvPr id="23" name="object 23"/>
          <p:cNvGrpSpPr/>
          <p:nvPr/>
        </p:nvGrpSpPr>
        <p:grpSpPr>
          <a:xfrm>
            <a:off x="778462" y="1417773"/>
            <a:ext cx="3053715" cy="304800"/>
            <a:chOff x="778462" y="1417773"/>
            <a:chExt cx="3053715" cy="304800"/>
          </a:xfrm>
        </p:grpSpPr>
        <p:sp>
          <p:nvSpPr>
            <p:cNvPr id="24" name="object 24"/>
            <p:cNvSpPr/>
            <p:nvPr/>
          </p:nvSpPr>
          <p:spPr>
            <a:xfrm>
              <a:off x="781319" y="1480393"/>
              <a:ext cx="3048000" cy="239395"/>
            </a:xfrm>
            <a:custGeom>
              <a:avLst/>
              <a:gdLst/>
              <a:ahLst/>
              <a:cxnLst/>
              <a:rect l="l" t="t" r="r" b="b"/>
              <a:pathLst>
                <a:path w="3048000" h="239394">
                  <a:moveTo>
                    <a:pt x="3047761" y="0"/>
                  </a:moveTo>
                  <a:lnTo>
                    <a:pt x="0" y="0"/>
                  </a:lnTo>
                  <a:lnTo>
                    <a:pt x="0" y="239038"/>
                  </a:lnTo>
                  <a:lnTo>
                    <a:pt x="3047761" y="239038"/>
                  </a:lnTo>
                  <a:lnTo>
                    <a:pt x="3047761" y="0"/>
                  </a:lnTo>
                  <a:close/>
                </a:path>
              </a:pathLst>
            </a:custGeom>
            <a:solidFill>
              <a:srgbClr val="FFFFFF"/>
            </a:solidFill>
          </p:spPr>
          <p:txBody>
            <a:bodyPr wrap="square" lIns="0" tIns="0" rIns="0" bIns="0" rtlCol="0"/>
            <a:lstStyle/>
            <a:p>
              <a:endParaRPr/>
            </a:p>
          </p:txBody>
        </p:sp>
        <p:sp>
          <p:nvSpPr>
            <p:cNvPr id="25" name="object 25"/>
            <p:cNvSpPr/>
            <p:nvPr/>
          </p:nvSpPr>
          <p:spPr>
            <a:xfrm>
              <a:off x="781319" y="1480393"/>
              <a:ext cx="3048000" cy="239395"/>
            </a:xfrm>
            <a:custGeom>
              <a:avLst/>
              <a:gdLst/>
              <a:ahLst/>
              <a:cxnLst/>
              <a:rect l="l" t="t" r="r" b="b"/>
              <a:pathLst>
                <a:path w="3048000" h="239394">
                  <a:moveTo>
                    <a:pt x="0" y="239038"/>
                  </a:moveTo>
                  <a:lnTo>
                    <a:pt x="3047761" y="239038"/>
                  </a:lnTo>
                  <a:lnTo>
                    <a:pt x="3047761" y="0"/>
                  </a:lnTo>
                  <a:lnTo>
                    <a:pt x="0" y="0"/>
                  </a:lnTo>
                  <a:lnTo>
                    <a:pt x="0" y="239038"/>
                  </a:lnTo>
                  <a:close/>
                </a:path>
              </a:pathLst>
            </a:custGeom>
            <a:ln w="5270">
              <a:solidFill>
                <a:srgbClr val="231F20"/>
              </a:solidFill>
            </a:ln>
          </p:spPr>
          <p:txBody>
            <a:bodyPr wrap="square" lIns="0" tIns="0" rIns="0" bIns="0" rtlCol="0"/>
            <a:lstStyle/>
            <a:p>
              <a:endParaRPr/>
            </a:p>
          </p:txBody>
        </p:sp>
        <p:sp>
          <p:nvSpPr>
            <p:cNvPr id="26" name="object 26"/>
            <p:cNvSpPr/>
            <p:nvPr/>
          </p:nvSpPr>
          <p:spPr>
            <a:xfrm>
              <a:off x="811390" y="1420631"/>
              <a:ext cx="478155" cy="60325"/>
            </a:xfrm>
            <a:custGeom>
              <a:avLst/>
              <a:gdLst/>
              <a:ahLst/>
              <a:cxnLst/>
              <a:rect l="l" t="t" r="r" b="b"/>
              <a:pathLst>
                <a:path w="478155" h="60325">
                  <a:moveTo>
                    <a:pt x="478079" y="0"/>
                  </a:moveTo>
                  <a:lnTo>
                    <a:pt x="0" y="0"/>
                  </a:lnTo>
                  <a:lnTo>
                    <a:pt x="0" y="59762"/>
                  </a:lnTo>
                  <a:lnTo>
                    <a:pt x="478079" y="59762"/>
                  </a:lnTo>
                  <a:lnTo>
                    <a:pt x="478079" y="0"/>
                  </a:lnTo>
                  <a:close/>
                </a:path>
              </a:pathLst>
            </a:custGeom>
            <a:solidFill>
              <a:srgbClr val="A7A9AC"/>
            </a:solidFill>
          </p:spPr>
          <p:txBody>
            <a:bodyPr wrap="square" lIns="0" tIns="0" rIns="0" bIns="0" rtlCol="0"/>
            <a:lstStyle/>
            <a:p>
              <a:endParaRPr/>
            </a:p>
          </p:txBody>
        </p:sp>
        <p:sp>
          <p:nvSpPr>
            <p:cNvPr id="27" name="object 27"/>
            <p:cNvSpPr/>
            <p:nvPr/>
          </p:nvSpPr>
          <p:spPr>
            <a:xfrm>
              <a:off x="811390" y="1420631"/>
              <a:ext cx="478155" cy="60325"/>
            </a:xfrm>
            <a:custGeom>
              <a:avLst/>
              <a:gdLst/>
              <a:ahLst/>
              <a:cxnLst/>
              <a:rect l="l" t="t" r="r" b="b"/>
              <a:pathLst>
                <a:path w="478155" h="60325">
                  <a:moveTo>
                    <a:pt x="0" y="59762"/>
                  </a:moveTo>
                  <a:lnTo>
                    <a:pt x="478079" y="59762"/>
                  </a:lnTo>
                  <a:lnTo>
                    <a:pt x="478079" y="0"/>
                  </a:lnTo>
                  <a:lnTo>
                    <a:pt x="0" y="0"/>
                  </a:lnTo>
                  <a:lnTo>
                    <a:pt x="0" y="59762"/>
                  </a:lnTo>
                  <a:close/>
                </a:path>
              </a:pathLst>
            </a:custGeom>
            <a:ln w="5270">
              <a:solidFill>
                <a:srgbClr val="231F20"/>
              </a:solidFill>
            </a:ln>
          </p:spPr>
          <p:txBody>
            <a:bodyPr wrap="square" lIns="0" tIns="0" rIns="0" bIns="0" rtlCol="0"/>
            <a:lstStyle/>
            <a:p>
              <a:endParaRPr/>
            </a:p>
          </p:txBody>
        </p:sp>
        <p:sp>
          <p:nvSpPr>
            <p:cNvPr id="28" name="object 28"/>
            <p:cNvSpPr/>
            <p:nvPr/>
          </p:nvSpPr>
          <p:spPr>
            <a:xfrm>
              <a:off x="1647839" y="1420631"/>
              <a:ext cx="478155" cy="60325"/>
            </a:xfrm>
            <a:custGeom>
              <a:avLst/>
              <a:gdLst/>
              <a:ahLst/>
              <a:cxnLst/>
              <a:rect l="l" t="t" r="r" b="b"/>
              <a:pathLst>
                <a:path w="478155" h="60325">
                  <a:moveTo>
                    <a:pt x="478079" y="0"/>
                  </a:moveTo>
                  <a:lnTo>
                    <a:pt x="0" y="0"/>
                  </a:lnTo>
                  <a:lnTo>
                    <a:pt x="0" y="59762"/>
                  </a:lnTo>
                  <a:lnTo>
                    <a:pt x="478079" y="59762"/>
                  </a:lnTo>
                  <a:lnTo>
                    <a:pt x="478079" y="0"/>
                  </a:lnTo>
                  <a:close/>
                </a:path>
              </a:pathLst>
            </a:custGeom>
            <a:solidFill>
              <a:srgbClr val="A7A9AC"/>
            </a:solidFill>
          </p:spPr>
          <p:txBody>
            <a:bodyPr wrap="square" lIns="0" tIns="0" rIns="0" bIns="0" rtlCol="0"/>
            <a:lstStyle/>
            <a:p>
              <a:endParaRPr/>
            </a:p>
          </p:txBody>
        </p:sp>
        <p:sp>
          <p:nvSpPr>
            <p:cNvPr id="29" name="object 29"/>
            <p:cNvSpPr/>
            <p:nvPr/>
          </p:nvSpPr>
          <p:spPr>
            <a:xfrm>
              <a:off x="1647839" y="1420631"/>
              <a:ext cx="478155" cy="60325"/>
            </a:xfrm>
            <a:custGeom>
              <a:avLst/>
              <a:gdLst/>
              <a:ahLst/>
              <a:cxnLst/>
              <a:rect l="l" t="t" r="r" b="b"/>
              <a:pathLst>
                <a:path w="478155" h="60325">
                  <a:moveTo>
                    <a:pt x="0" y="59762"/>
                  </a:moveTo>
                  <a:lnTo>
                    <a:pt x="478079" y="59762"/>
                  </a:lnTo>
                  <a:lnTo>
                    <a:pt x="478079" y="0"/>
                  </a:lnTo>
                  <a:lnTo>
                    <a:pt x="0" y="0"/>
                  </a:lnTo>
                  <a:lnTo>
                    <a:pt x="0" y="59762"/>
                  </a:lnTo>
                  <a:close/>
                </a:path>
              </a:pathLst>
            </a:custGeom>
            <a:ln w="5270">
              <a:solidFill>
                <a:srgbClr val="231F20"/>
              </a:solidFill>
            </a:ln>
          </p:spPr>
          <p:txBody>
            <a:bodyPr wrap="square" lIns="0" tIns="0" rIns="0" bIns="0" rtlCol="0"/>
            <a:lstStyle/>
            <a:p>
              <a:endParaRPr/>
            </a:p>
          </p:txBody>
        </p:sp>
        <p:sp>
          <p:nvSpPr>
            <p:cNvPr id="30" name="object 30"/>
            <p:cNvSpPr/>
            <p:nvPr/>
          </p:nvSpPr>
          <p:spPr>
            <a:xfrm>
              <a:off x="2484289" y="1420631"/>
              <a:ext cx="478155" cy="60325"/>
            </a:xfrm>
            <a:custGeom>
              <a:avLst/>
              <a:gdLst/>
              <a:ahLst/>
              <a:cxnLst/>
              <a:rect l="l" t="t" r="r" b="b"/>
              <a:pathLst>
                <a:path w="478155" h="60325">
                  <a:moveTo>
                    <a:pt x="478079" y="0"/>
                  </a:moveTo>
                  <a:lnTo>
                    <a:pt x="0" y="0"/>
                  </a:lnTo>
                  <a:lnTo>
                    <a:pt x="0" y="59762"/>
                  </a:lnTo>
                  <a:lnTo>
                    <a:pt x="478079" y="59762"/>
                  </a:lnTo>
                  <a:lnTo>
                    <a:pt x="478079" y="0"/>
                  </a:lnTo>
                  <a:close/>
                </a:path>
              </a:pathLst>
            </a:custGeom>
            <a:solidFill>
              <a:srgbClr val="A7A9AC"/>
            </a:solidFill>
          </p:spPr>
          <p:txBody>
            <a:bodyPr wrap="square" lIns="0" tIns="0" rIns="0" bIns="0" rtlCol="0"/>
            <a:lstStyle/>
            <a:p>
              <a:endParaRPr/>
            </a:p>
          </p:txBody>
        </p:sp>
        <p:sp>
          <p:nvSpPr>
            <p:cNvPr id="31" name="object 31"/>
            <p:cNvSpPr/>
            <p:nvPr/>
          </p:nvSpPr>
          <p:spPr>
            <a:xfrm>
              <a:off x="2484289" y="1420631"/>
              <a:ext cx="478155" cy="60325"/>
            </a:xfrm>
            <a:custGeom>
              <a:avLst/>
              <a:gdLst/>
              <a:ahLst/>
              <a:cxnLst/>
              <a:rect l="l" t="t" r="r" b="b"/>
              <a:pathLst>
                <a:path w="478155" h="60325">
                  <a:moveTo>
                    <a:pt x="0" y="59762"/>
                  </a:moveTo>
                  <a:lnTo>
                    <a:pt x="478079" y="59762"/>
                  </a:lnTo>
                  <a:lnTo>
                    <a:pt x="478079" y="0"/>
                  </a:lnTo>
                  <a:lnTo>
                    <a:pt x="0" y="0"/>
                  </a:lnTo>
                  <a:lnTo>
                    <a:pt x="0" y="59762"/>
                  </a:lnTo>
                  <a:close/>
                </a:path>
              </a:pathLst>
            </a:custGeom>
            <a:ln w="5270">
              <a:solidFill>
                <a:srgbClr val="231F20"/>
              </a:solidFill>
            </a:ln>
          </p:spPr>
          <p:txBody>
            <a:bodyPr wrap="square" lIns="0" tIns="0" rIns="0" bIns="0" rtlCol="0"/>
            <a:lstStyle/>
            <a:p>
              <a:endParaRPr/>
            </a:p>
          </p:txBody>
        </p:sp>
        <p:sp>
          <p:nvSpPr>
            <p:cNvPr id="32" name="object 32"/>
            <p:cNvSpPr/>
            <p:nvPr/>
          </p:nvSpPr>
          <p:spPr>
            <a:xfrm>
              <a:off x="3320738" y="1420631"/>
              <a:ext cx="478155" cy="60325"/>
            </a:xfrm>
            <a:custGeom>
              <a:avLst/>
              <a:gdLst/>
              <a:ahLst/>
              <a:cxnLst/>
              <a:rect l="l" t="t" r="r" b="b"/>
              <a:pathLst>
                <a:path w="478154" h="60325">
                  <a:moveTo>
                    <a:pt x="478079" y="0"/>
                  </a:moveTo>
                  <a:lnTo>
                    <a:pt x="0" y="0"/>
                  </a:lnTo>
                  <a:lnTo>
                    <a:pt x="0" y="59762"/>
                  </a:lnTo>
                  <a:lnTo>
                    <a:pt x="478079" y="59762"/>
                  </a:lnTo>
                  <a:lnTo>
                    <a:pt x="478079" y="0"/>
                  </a:lnTo>
                  <a:close/>
                </a:path>
              </a:pathLst>
            </a:custGeom>
            <a:solidFill>
              <a:srgbClr val="A7A9AC"/>
            </a:solidFill>
          </p:spPr>
          <p:txBody>
            <a:bodyPr wrap="square" lIns="0" tIns="0" rIns="0" bIns="0" rtlCol="0"/>
            <a:lstStyle/>
            <a:p>
              <a:endParaRPr/>
            </a:p>
          </p:txBody>
        </p:sp>
        <p:sp>
          <p:nvSpPr>
            <p:cNvPr id="33" name="object 33"/>
            <p:cNvSpPr/>
            <p:nvPr/>
          </p:nvSpPr>
          <p:spPr>
            <a:xfrm>
              <a:off x="3320738" y="1420631"/>
              <a:ext cx="478155" cy="60325"/>
            </a:xfrm>
            <a:custGeom>
              <a:avLst/>
              <a:gdLst/>
              <a:ahLst/>
              <a:cxnLst/>
              <a:rect l="l" t="t" r="r" b="b"/>
              <a:pathLst>
                <a:path w="478154" h="60325">
                  <a:moveTo>
                    <a:pt x="0" y="59762"/>
                  </a:moveTo>
                  <a:lnTo>
                    <a:pt x="478079" y="59762"/>
                  </a:lnTo>
                  <a:lnTo>
                    <a:pt x="478079" y="0"/>
                  </a:lnTo>
                  <a:lnTo>
                    <a:pt x="0" y="0"/>
                  </a:lnTo>
                  <a:lnTo>
                    <a:pt x="0" y="59762"/>
                  </a:lnTo>
                  <a:close/>
                </a:path>
              </a:pathLst>
            </a:custGeom>
            <a:ln w="5270">
              <a:solidFill>
                <a:srgbClr val="231F20"/>
              </a:solidFill>
            </a:ln>
          </p:spPr>
          <p:txBody>
            <a:bodyPr wrap="square" lIns="0" tIns="0" rIns="0" bIns="0" rtlCol="0"/>
            <a:lstStyle/>
            <a:p>
              <a:endParaRPr/>
            </a:p>
          </p:txBody>
        </p:sp>
      </p:grpSp>
      <p:sp>
        <p:nvSpPr>
          <p:cNvPr id="34" name="object 34"/>
          <p:cNvSpPr txBox="1"/>
          <p:nvPr/>
        </p:nvSpPr>
        <p:spPr>
          <a:xfrm>
            <a:off x="1507823" y="1534401"/>
            <a:ext cx="14408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Distributed-system</a:t>
            </a:r>
            <a:r>
              <a:rPr sz="650" spc="-20" dirty="0">
                <a:solidFill>
                  <a:srgbClr val="231F20"/>
                </a:solidFill>
                <a:latin typeface="Arial"/>
                <a:cs typeface="Arial"/>
              </a:rPr>
              <a:t> </a:t>
            </a:r>
            <a:r>
              <a:rPr sz="650" spc="5" dirty="0">
                <a:solidFill>
                  <a:srgbClr val="231F20"/>
                </a:solidFill>
                <a:latin typeface="Arial"/>
                <a:cs typeface="Arial"/>
              </a:rPr>
              <a:t>layer</a:t>
            </a:r>
            <a:r>
              <a:rPr sz="650" spc="-20" dirty="0">
                <a:solidFill>
                  <a:srgbClr val="231F20"/>
                </a:solidFill>
                <a:latin typeface="Arial"/>
                <a:cs typeface="Arial"/>
              </a:rPr>
              <a:t> </a:t>
            </a:r>
            <a:r>
              <a:rPr sz="650" spc="5" dirty="0">
                <a:solidFill>
                  <a:srgbClr val="231F20"/>
                </a:solidFill>
                <a:latin typeface="Arial"/>
                <a:cs typeface="Arial"/>
              </a:rPr>
              <a:t>(middleware)</a:t>
            </a:r>
            <a:endParaRPr sz="650">
              <a:latin typeface="Arial"/>
              <a:cs typeface="Arial"/>
            </a:endParaRPr>
          </a:p>
        </p:txBody>
      </p:sp>
      <p:sp>
        <p:nvSpPr>
          <p:cNvPr id="35" name="object 35"/>
          <p:cNvSpPr txBox="1"/>
          <p:nvPr/>
        </p:nvSpPr>
        <p:spPr>
          <a:xfrm>
            <a:off x="2471930" y="824955"/>
            <a:ext cx="4660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Computer 3</a:t>
            </a:r>
            <a:endParaRPr sz="650">
              <a:latin typeface="Arial"/>
              <a:cs typeface="Arial"/>
            </a:endParaRPr>
          </a:p>
        </p:txBody>
      </p:sp>
      <p:sp>
        <p:nvSpPr>
          <p:cNvPr id="36" name="object 36"/>
          <p:cNvSpPr txBox="1"/>
          <p:nvPr/>
        </p:nvSpPr>
        <p:spPr>
          <a:xfrm>
            <a:off x="3308725" y="824955"/>
            <a:ext cx="4660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Computer 4</a:t>
            </a:r>
            <a:endParaRPr sz="650">
              <a:latin typeface="Arial"/>
              <a:cs typeface="Arial"/>
            </a:endParaRPr>
          </a:p>
        </p:txBody>
      </p:sp>
      <p:sp>
        <p:nvSpPr>
          <p:cNvPr id="37" name="object 37"/>
          <p:cNvSpPr txBox="1"/>
          <p:nvPr/>
        </p:nvSpPr>
        <p:spPr>
          <a:xfrm>
            <a:off x="798347" y="644481"/>
            <a:ext cx="1303020" cy="307340"/>
          </a:xfrm>
          <a:prstGeom prst="rect">
            <a:avLst/>
          </a:prstGeom>
        </p:spPr>
        <p:txBody>
          <a:bodyPr vert="horz" wrap="square" lIns="0" tIns="13970" rIns="0" bIns="0" rtlCol="0">
            <a:spAutoFit/>
          </a:bodyPr>
          <a:lstStyle/>
          <a:p>
            <a:pPr marL="97790">
              <a:lnSpc>
                <a:spcPct val="100000"/>
              </a:lnSpc>
              <a:spcBef>
                <a:spcPts val="110"/>
              </a:spcBef>
            </a:pPr>
            <a:r>
              <a:rPr sz="650" spc="5" dirty="0">
                <a:solidFill>
                  <a:srgbClr val="231F20"/>
                </a:solidFill>
                <a:latin typeface="Arial"/>
                <a:cs typeface="Arial"/>
              </a:rPr>
              <a:t>Same</a:t>
            </a:r>
            <a:r>
              <a:rPr sz="650" spc="-20" dirty="0">
                <a:solidFill>
                  <a:srgbClr val="231F20"/>
                </a:solidFill>
                <a:latin typeface="Arial"/>
                <a:cs typeface="Arial"/>
              </a:rPr>
              <a:t> </a:t>
            </a:r>
            <a:r>
              <a:rPr sz="650" spc="5" dirty="0">
                <a:solidFill>
                  <a:srgbClr val="231F20"/>
                </a:solidFill>
                <a:latin typeface="Arial"/>
                <a:cs typeface="Arial"/>
              </a:rPr>
              <a:t>interface</a:t>
            </a:r>
            <a:r>
              <a:rPr sz="650" spc="-15" dirty="0">
                <a:solidFill>
                  <a:srgbClr val="231F20"/>
                </a:solidFill>
                <a:latin typeface="Arial"/>
                <a:cs typeface="Arial"/>
              </a:rPr>
              <a:t> </a:t>
            </a:r>
            <a:r>
              <a:rPr sz="650" spc="5" dirty="0">
                <a:solidFill>
                  <a:srgbClr val="231F20"/>
                </a:solidFill>
                <a:latin typeface="Arial"/>
                <a:cs typeface="Arial"/>
              </a:rPr>
              <a:t>everywhere</a:t>
            </a:r>
            <a:endParaRPr sz="650">
              <a:latin typeface="Arial"/>
              <a:cs typeface="Arial"/>
            </a:endParaRPr>
          </a:p>
          <a:p>
            <a:pPr>
              <a:lnSpc>
                <a:spcPct val="100000"/>
              </a:lnSpc>
              <a:spcBef>
                <a:spcPts val="10"/>
              </a:spcBef>
            </a:pPr>
            <a:endParaRPr sz="550">
              <a:latin typeface="Arial"/>
              <a:cs typeface="Arial"/>
            </a:endParaRPr>
          </a:p>
          <a:p>
            <a:pPr marL="12700">
              <a:lnSpc>
                <a:spcPct val="100000"/>
              </a:lnSpc>
              <a:tabLst>
                <a:tab pos="848994" algn="l"/>
              </a:tabLst>
            </a:pPr>
            <a:r>
              <a:rPr sz="650" spc="5" dirty="0">
                <a:solidFill>
                  <a:srgbClr val="231F20"/>
                </a:solidFill>
                <a:latin typeface="Arial"/>
                <a:cs typeface="Arial"/>
              </a:rPr>
              <a:t>Computer 1	Computer 2</a:t>
            </a:r>
            <a:endParaRPr sz="650">
              <a:latin typeface="Arial"/>
              <a:cs typeface="Arial"/>
            </a:endParaRPr>
          </a:p>
        </p:txBody>
      </p:sp>
      <p:grpSp>
        <p:nvGrpSpPr>
          <p:cNvPr id="38" name="object 38"/>
          <p:cNvGrpSpPr/>
          <p:nvPr/>
        </p:nvGrpSpPr>
        <p:grpSpPr>
          <a:xfrm>
            <a:off x="841077" y="790522"/>
            <a:ext cx="2928620" cy="1358265"/>
            <a:chOff x="841077" y="790522"/>
            <a:chExt cx="2928620" cy="1358265"/>
          </a:xfrm>
        </p:grpSpPr>
        <p:sp>
          <p:nvSpPr>
            <p:cNvPr id="39" name="object 39"/>
            <p:cNvSpPr/>
            <p:nvPr/>
          </p:nvSpPr>
          <p:spPr>
            <a:xfrm>
              <a:off x="1319157" y="793157"/>
              <a:ext cx="149860" cy="628015"/>
            </a:xfrm>
            <a:custGeom>
              <a:avLst/>
              <a:gdLst/>
              <a:ahLst/>
              <a:cxnLst/>
              <a:rect l="l" t="t" r="r" b="b"/>
              <a:pathLst>
                <a:path w="149859" h="628015">
                  <a:moveTo>
                    <a:pt x="149401" y="0"/>
                  </a:moveTo>
                  <a:lnTo>
                    <a:pt x="126057" y="287125"/>
                  </a:lnTo>
                  <a:lnTo>
                    <a:pt x="74700" y="481810"/>
                  </a:lnTo>
                  <a:lnTo>
                    <a:pt x="23344" y="592458"/>
                  </a:lnTo>
                  <a:lnTo>
                    <a:pt x="0" y="627474"/>
                  </a:lnTo>
                </a:path>
              </a:pathLst>
            </a:custGeom>
            <a:ln w="5270">
              <a:solidFill>
                <a:srgbClr val="231F20"/>
              </a:solidFill>
            </a:ln>
          </p:spPr>
          <p:txBody>
            <a:bodyPr wrap="square" lIns="0" tIns="0" rIns="0" bIns="0" rtlCol="0"/>
            <a:lstStyle/>
            <a:p>
              <a:endParaRPr/>
            </a:p>
          </p:txBody>
        </p:sp>
        <p:pic>
          <p:nvPicPr>
            <p:cNvPr id="40" name="object 40"/>
            <p:cNvPicPr/>
            <p:nvPr/>
          </p:nvPicPr>
          <p:blipFill>
            <a:blip r:embed="rId5" cstate="print"/>
            <a:stretch>
              <a:fillRect/>
            </a:stretch>
          </p:blipFill>
          <p:spPr>
            <a:xfrm>
              <a:off x="1295230" y="1371805"/>
              <a:ext cx="72102" cy="77541"/>
            </a:xfrm>
            <a:prstGeom prst="rect">
              <a:avLst/>
            </a:prstGeom>
          </p:spPr>
        </p:pic>
        <p:sp>
          <p:nvSpPr>
            <p:cNvPr id="41" name="object 41"/>
            <p:cNvSpPr/>
            <p:nvPr/>
          </p:nvSpPr>
          <p:spPr>
            <a:xfrm>
              <a:off x="1468559" y="793157"/>
              <a:ext cx="149860" cy="628015"/>
            </a:xfrm>
            <a:custGeom>
              <a:avLst/>
              <a:gdLst/>
              <a:ahLst/>
              <a:cxnLst/>
              <a:rect l="l" t="t" r="r" b="b"/>
              <a:pathLst>
                <a:path w="149859" h="628015">
                  <a:moveTo>
                    <a:pt x="0" y="0"/>
                  </a:moveTo>
                  <a:lnTo>
                    <a:pt x="23343" y="287125"/>
                  </a:lnTo>
                  <a:lnTo>
                    <a:pt x="74699" y="481810"/>
                  </a:lnTo>
                  <a:lnTo>
                    <a:pt x="126055" y="592458"/>
                  </a:lnTo>
                  <a:lnTo>
                    <a:pt x="149398" y="627474"/>
                  </a:lnTo>
                </a:path>
              </a:pathLst>
            </a:custGeom>
            <a:ln w="5270">
              <a:solidFill>
                <a:srgbClr val="231F20"/>
              </a:solidFill>
            </a:ln>
          </p:spPr>
          <p:txBody>
            <a:bodyPr wrap="square" lIns="0" tIns="0" rIns="0" bIns="0" rtlCol="0"/>
            <a:lstStyle/>
            <a:p>
              <a:endParaRPr/>
            </a:p>
          </p:txBody>
        </p:sp>
        <p:pic>
          <p:nvPicPr>
            <p:cNvPr id="42" name="object 42"/>
            <p:cNvPicPr/>
            <p:nvPr/>
          </p:nvPicPr>
          <p:blipFill>
            <a:blip r:embed="rId6" cstate="print"/>
            <a:stretch>
              <a:fillRect/>
            </a:stretch>
          </p:blipFill>
          <p:spPr>
            <a:xfrm>
              <a:off x="1569782" y="1371805"/>
              <a:ext cx="72106" cy="77541"/>
            </a:xfrm>
            <a:prstGeom prst="rect">
              <a:avLst/>
            </a:prstGeom>
          </p:spPr>
        </p:pic>
        <p:sp>
          <p:nvSpPr>
            <p:cNvPr id="43" name="object 43"/>
            <p:cNvSpPr/>
            <p:nvPr/>
          </p:nvSpPr>
          <p:spPr>
            <a:xfrm>
              <a:off x="841077" y="2018232"/>
              <a:ext cx="2928620" cy="121285"/>
            </a:xfrm>
            <a:custGeom>
              <a:avLst/>
              <a:gdLst/>
              <a:ahLst/>
              <a:cxnLst/>
              <a:rect l="l" t="t" r="r" b="b"/>
              <a:pathLst>
                <a:path w="2928620" h="121285">
                  <a:moveTo>
                    <a:pt x="209160" y="0"/>
                  </a:moveTo>
                  <a:lnTo>
                    <a:pt x="209160" y="119520"/>
                  </a:lnTo>
                </a:path>
                <a:path w="2928620" h="121285">
                  <a:moveTo>
                    <a:pt x="1045799" y="0"/>
                  </a:moveTo>
                  <a:lnTo>
                    <a:pt x="1045799" y="119520"/>
                  </a:lnTo>
                </a:path>
                <a:path w="2928620" h="121285">
                  <a:moveTo>
                    <a:pt x="1882439" y="1205"/>
                  </a:moveTo>
                  <a:lnTo>
                    <a:pt x="1882439" y="120727"/>
                  </a:lnTo>
                </a:path>
                <a:path w="2928620" h="121285">
                  <a:moveTo>
                    <a:pt x="2719078" y="0"/>
                  </a:moveTo>
                  <a:lnTo>
                    <a:pt x="2719078" y="119520"/>
                  </a:lnTo>
                </a:path>
                <a:path w="2928620" h="121285">
                  <a:moveTo>
                    <a:pt x="0" y="119520"/>
                  </a:moveTo>
                  <a:lnTo>
                    <a:pt x="418321" y="119520"/>
                  </a:lnTo>
                </a:path>
                <a:path w="2928620" h="121285">
                  <a:moveTo>
                    <a:pt x="836642" y="119524"/>
                  </a:moveTo>
                  <a:lnTo>
                    <a:pt x="1254954" y="119524"/>
                  </a:lnTo>
                </a:path>
                <a:path w="2928620" h="121285">
                  <a:moveTo>
                    <a:pt x="1673284" y="119524"/>
                  </a:moveTo>
                  <a:lnTo>
                    <a:pt x="2091604" y="119524"/>
                  </a:lnTo>
                </a:path>
                <a:path w="2928620" h="121285">
                  <a:moveTo>
                    <a:pt x="2509923" y="119524"/>
                  </a:moveTo>
                  <a:lnTo>
                    <a:pt x="2928243" y="119524"/>
                  </a:lnTo>
                </a:path>
              </a:pathLst>
            </a:custGeom>
            <a:ln w="21083">
              <a:solidFill>
                <a:srgbClr val="231F20"/>
              </a:solidFill>
            </a:ln>
          </p:spPr>
          <p:txBody>
            <a:bodyPr wrap="square" lIns="0" tIns="0" rIns="0" bIns="0" rtlCol="0"/>
            <a:lstStyle/>
            <a:p>
              <a:endParaRPr/>
            </a:p>
          </p:txBody>
        </p:sp>
        <p:sp>
          <p:nvSpPr>
            <p:cNvPr id="44" name="object 44"/>
            <p:cNvSpPr/>
            <p:nvPr/>
          </p:nvSpPr>
          <p:spPr>
            <a:xfrm>
              <a:off x="2932682" y="2137748"/>
              <a:ext cx="418465" cy="0"/>
            </a:xfrm>
            <a:custGeom>
              <a:avLst/>
              <a:gdLst/>
              <a:ahLst/>
              <a:cxnLst/>
              <a:rect l="l" t="t" r="r" b="b"/>
              <a:pathLst>
                <a:path w="418464">
                  <a:moveTo>
                    <a:pt x="0" y="0"/>
                  </a:moveTo>
                  <a:lnTo>
                    <a:pt x="418319" y="0"/>
                  </a:lnTo>
                </a:path>
              </a:pathLst>
            </a:custGeom>
            <a:ln w="21083">
              <a:solidFill>
                <a:srgbClr val="231F20"/>
              </a:solidFill>
              <a:prstDash val="lgDash"/>
            </a:ln>
          </p:spPr>
          <p:txBody>
            <a:bodyPr wrap="square" lIns="0" tIns="0" rIns="0" bIns="0" rtlCol="0"/>
            <a:lstStyle/>
            <a:p>
              <a:endParaRPr/>
            </a:p>
          </p:txBody>
        </p:sp>
        <p:sp>
          <p:nvSpPr>
            <p:cNvPr id="45" name="object 45"/>
            <p:cNvSpPr/>
            <p:nvPr/>
          </p:nvSpPr>
          <p:spPr>
            <a:xfrm>
              <a:off x="1259399" y="2137748"/>
              <a:ext cx="1255395" cy="0"/>
            </a:xfrm>
            <a:custGeom>
              <a:avLst/>
              <a:gdLst/>
              <a:ahLst/>
              <a:cxnLst/>
              <a:rect l="l" t="t" r="r" b="b"/>
              <a:pathLst>
                <a:path w="1255395">
                  <a:moveTo>
                    <a:pt x="0" y="4"/>
                  </a:moveTo>
                  <a:lnTo>
                    <a:pt x="418320" y="4"/>
                  </a:lnTo>
                </a:path>
                <a:path w="1255395">
                  <a:moveTo>
                    <a:pt x="836632" y="0"/>
                  </a:moveTo>
                  <a:lnTo>
                    <a:pt x="1254962" y="0"/>
                  </a:lnTo>
                </a:path>
              </a:pathLst>
            </a:custGeom>
            <a:ln w="21083">
              <a:solidFill>
                <a:srgbClr val="231F20"/>
              </a:solidFill>
              <a:prstDash val="lgDash"/>
            </a:ln>
          </p:spPr>
          <p:txBody>
            <a:bodyPr wrap="square" lIns="0" tIns="0" rIns="0" bIns="0" rtlCol="0"/>
            <a:lstStyle/>
            <a:p>
              <a:endParaRPr/>
            </a:p>
          </p:txBody>
        </p:sp>
      </p:grpSp>
      <p:sp>
        <p:nvSpPr>
          <p:cNvPr id="46" name="object 46"/>
          <p:cNvSpPr txBox="1"/>
          <p:nvPr/>
        </p:nvSpPr>
        <p:spPr>
          <a:xfrm>
            <a:off x="3398058" y="2168400"/>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sp>
        <p:nvSpPr>
          <p:cNvPr id="48" name="object 48"/>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8</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47" name="object 47"/>
          <p:cNvSpPr txBox="1"/>
          <p:nvPr/>
        </p:nvSpPr>
        <p:spPr>
          <a:xfrm>
            <a:off x="340169" y="2333190"/>
            <a:ext cx="3408679" cy="5048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What</a:t>
            </a:r>
            <a:r>
              <a:rPr sz="1200" spc="-20" dirty="0">
                <a:solidFill>
                  <a:srgbClr val="3333B2"/>
                </a:solidFill>
                <a:latin typeface="Arial"/>
                <a:cs typeface="Arial"/>
              </a:rPr>
              <a:t> </a:t>
            </a:r>
            <a:r>
              <a:rPr sz="1200" spc="-5" dirty="0">
                <a:solidFill>
                  <a:srgbClr val="3333B2"/>
                </a:solidFill>
                <a:latin typeface="Arial"/>
                <a:cs typeface="Arial"/>
              </a:rPr>
              <a:t>does</a:t>
            </a:r>
            <a:r>
              <a:rPr sz="1200" spc="-15" dirty="0">
                <a:solidFill>
                  <a:srgbClr val="3333B2"/>
                </a:solidFill>
                <a:latin typeface="Arial"/>
                <a:cs typeface="Arial"/>
              </a:rPr>
              <a:t> </a:t>
            </a:r>
            <a:r>
              <a:rPr sz="1200" spc="-5" dirty="0">
                <a:solidFill>
                  <a:srgbClr val="3333B2"/>
                </a:solidFill>
                <a:latin typeface="Arial"/>
                <a:cs typeface="Arial"/>
              </a:rPr>
              <a:t>it</a:t>
            </a:r>
            <a:r>
              <a:rPr sz="1200" spc="-20" dirty="0">
                <a:solidFill>
                  <a:srgbClr val="3333B2"/>
                </a:solidFill>
                <a:latin typeface="Arial"/>
                <a:cs typeface="Arial"/>
              </a:rPr>
              <a:t> </a:t>
            </a:r>
            <a:r>
              <a:rPr sz="1200" spc="-5" dirty="0">
                <a:solidFill>
                  <a:srgbClr val="3333B2"/>
                </a:solidFill>
                <a:latin typeface="Arial"/>
                <a:cs typeface="Arial"/>
              </a:rPr>
              <a:t>contain?</a:t>
            </a:r>
            <a:endParaRPr sz="1200">
              <a:latin typeface="Arial"/>
              <a:cs typeface="Arial"/>
            </a:endParaRPr>
          </a:p>
          <a:p>
            <a:pPr marL="19685" marR="5080">
              <a:lnSpc>
                <a:spcPts val="1200"/>
              </a:lnSpc>
              <a:spcBef>
                <a:spcPts val="10"/>
              </a:spcBef>
            </a:pPr>
            <a:r>
              <a:rPr sz="1000" spc="-5" dirty="0">
                <a:latin typeface="Arial"/>
                <a:cs typeface="Arial"/>
              </a:rPr>
              <a:t>Commonly used</a:t>
            </a:r>
            <a:r>
              <a:rPr sz="1000" dirty="0">
                <a:latin typeface="Arial"/>
                <a:cs typeface="Arial"/>
              </a:rPr>
              <a:t> </a:t>
            </a:r>
            <a:r>
              <a:rPr sz="1000" spc="-5" dirty="0">
                <a:latin typeface="Arial"/>
                <a:cs typeface="Arial"/>
              </a:rPr>
              <a:t>components</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functions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be </a:t>
            </a:r>
            <a:r>
              <a:rPr sz="1000" spc="-260" dirty="0">
                <a:latin typeface="Arial"/>
                <a:cs typeface="Arial"/>
              </a:rPr>
              <a:t> </a:t>
            </a:r>
            <a:r>
              <a:rPr sz="1000" spc="-5" dirty="0">
                <a:latin typeface="Arial"/>
                <a:cs typeface="Arial"/>
              </a:rPr>
              <a:t>implemented </a:t>
            </a:r>
            <a:r>
              <a:rPr sz="1000" spc="-15" dirty="0">
                <a:latin typeface="Arial"/>
                <a:cs typeface="Arial"/>
              </a:rPr>
              <a:t>by</a:t>
            </a:r>
            <a:r>
              <a:rPr sz="1000" spc="-5" dirty="0">
                <a:latin typeface="Arial"/>
                <a:cs typeface="Arial"/>
              </a:rPr>
              <a:t> applications </a:t>
            </a:r>
            <a:r>
              <a:rPr sz="1000" spc="-15" dirty="0">
                <a:latin typeface="Arial"/>
                <a:cs typeface="Arial"/>
              </a:rPr>
              <a:t>separately.</a:t>
            </a:r>
            <a:endParaRPr sz="10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9</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a:spLocks noGrp="1"/>
          </p:cNvSpPr>
          <p:nvPr>
            <p:ph type="title"/>
          </p:nvPr>
        </p:nvSpPr>
        <p:spPr>
          <a:xfrm>
            <a:off x="95300" y="188846"/>
            <a:ext cx="2390775" cy="244475"/>
          </a:xfrm>
          <a:prstGeom prst="rect">
            <a:avLst/>
          </a:prstGeom>
        </p:spPr>
        <p:txBody>
          <a:bodyPr vert="horz" wrap="square" lIns="0" tIns="17145" rIns="0" bIns="0" rtlCol="0">
            <a:spAutoFit/>
          </a:bodyPr>
          <a:lstStyle/>
          <a:p>
            <a:pPr marL="12700">
              <a:lnSpc>
                <a:spcPct val="100000"/>
              </a:lnSpc>
              <a:spcBef>
                <a:spcPts val="135"/>
              </a:spcBef>
            </a:pPr>
            <a:r>
              <a:rPr spc="20" dirty="0"/>
              <a:t>What</a:t>
            </a:r>
            <a:r>
              <a:rPr spc="-10" dirty="0"/>
              <a:t> </a:t>
            </a:r>
            <a:r>
              <a:rPr spc="15" dirty="0"/>
              <a:t>do</a:t>
            </a:r>
            <a:r>
              <a:rPr spc="-5" dirty="0"/>
              <a:t> </a:t>
            </a:r>
            <a:r>
              <a:rPr spc="10" dirty="0"/>
              <a:t>we</a:t>
            </a:r>
            <a:r>
              <a:rPr spc="-5" dirty="0"/>
              <a:t> </a:t>
            </a:r>
            <a:r>
              <a:rPr spc="10" dirty="0"/>
              <a:t>want</a:t>
            </a:r>
            <a:r>
              <a:rPr spc="-5" dirty="0"/>
              <a:t> </a:t>
            </a:r>
            <a:r>
              <a:rPr spc="10" dirty="0"/>
              <a:t>to</a:t>
            </a:r>
            <a:r>
              <a:rPr spc="-5" dirty="0"/>
              <a:t> </a:t>
            </a:r>
            <a:r>
              <a:rPr spc="5" dirty="0"/>
              <a:t>achieve?</a:t>
            </a:r>
          </a:p>
        </p:txBody>
      </p:sp>
      <p:sp>
        <p:nvSpPr>
          <p:cNvPr id="4" name="object 4"/>
          <p:cNvSpPr txBox="1"/>
          <p:nvPr/>
        </p:nvSpPr>
        <p:spPr>
          <a:xfrm>
            <a:off x="431304" y="1271530"/>
            <a:ext cx="1875789" cy="936625"/>
          </a:xfrm>
          <a:prstGeom prst="rect">
            <a:avLst/>
          </a:prstGeom>
        </p:spPr>
        <p:txBody>
          <a:bodyPr vert="horz" wrap="square" lIns="0" tIns="88265" rIns="0" bIns="0" rtlCol="0">
            <a:spAutoFit/>
          </a:bodyPr>
          <a:lstStyle/>
          <a:p>
            <a:pPr marL="205740" indent="-168275">
              <a:lnSpc>
                <a:spcPct val="100000"/>
              </a:lnSpc>
              <a:spcBef>
                <a:spcPts val="695"/>
              </a:spcBef>
              <a:buClr>
                <a:srgbClr val="3333B2"/>
              </a:buClr>
              <a:buChar char="►"/>
              <a:tabLst>
                <a:tab pos="206375" algn="l"/>
              </a:tabLst>
            </a:pPr>
            <a:r>
              <a:rPr sz="1000" dirty="0">
                <a:latin typeface="Arial"/>
                <a:cs typeface="Arial"/>
              </a:rPr>
              <a:t>Support</a:t>
            </a:r>
            <a:r>
              <a:rPr sz="1000" spc="-10" dirty="0">
                <a:latin typeface="Arial"/>
                <a:cs typeface="Arial"/>
              </a:rPr>
              <a:t> </a:t>
            </a:r>
            <a:r>
              <a:rPr sz="1000" spc="-5" dirty="0">
                <a:latin typeface="Arial"/>
                <a:cs typeface="Arial"/>
              </a:rPr>
              <a:t>sharing</a:t>
            </a:r>
            <a:r>
              <a:rPr sz="1000" spc="-10" dirty="0">
                <a:latin typeface="Arial"/>
                <a:cs typeface="Arial"/>
              </a:rPr>
              <a:t> </a:t>
            </a:r>
            <a:r>
              <a:rPr sz="1000" spc="-5" dirty="0">
                <a:latin typeface="Arial"/>
                <a:cs typeface="Arial"/>
              </a:rPr>
              <a:t>of resources</a:t>
            </a:r>
            <a:endParaRPr sz="1000" dirty="0">
              <a:latin typeface="Arial"/>
              <a:cs typeface="Arial"/>
            </a:endParaRPr>
          </a:p>
          <a:p>
            <a:pPr marL="205740" indent="-168275">
              <a:lnSpc>
                <a:spcPct val="100000"/>
              </a:lnSpc>
              <a:spcBef>
                <a:spcPts val="590"/>
              </a:spcBef>
              <a:buClr>
                <a:srgbClr val="3333B2"/>
              </a:buClr>
              <a:buChar char="►"/>
              <a:tabLst>
                <a:tab pos="206375" algn="l"/>
              </a:tabLst>
            </a:pPr>
            <a:r>
              <a:rPr sz="1000" spc="-5" dirty="0">
                <a:latin typeface="Arial"/>
                <a:cs typeface="Arial"/>
              </a:rPr>
              <a:t>Distribution</a:t>
            </a:r>
            <a:r>
              <a:rPr sz="1000" spc="-25" dirty="0">
                <a:latin typeface="Arial"/>
                <a:cs typeface="Arial"/>
              </a:rPr>
              <a:t> </a:t>
            </a:r>
            <a:r>
              <a:rPr sz="1000" spc="-5" dirty="0">
                <a:latin typeface="Arial"/>
                <a:cs typeface="Arial"/>
              </a:rPr>
              <a:t>transparency</a:t>
            </a:r>
            <a:endParaRPr sz="1000" dirty="0">
              <a:latin typeface="Arial"/>
              <a:cs typeface="Arial"/>
            </a:endParaRPr>
          </a:p>
          <a:p>
            <a:pPr marL="205740" indent="-168275">
              <a:lnSpc>
                <a:spcPct val="100000"/>
              </a:lnSpc>
              <a:spcBef>
                <a:spcPts val="595"/>
              </a:spcBef>
              <a:buClr>
                <a:srgbClr val="3333B2"/>
              </a:buClr>
              <a:buChar char="►"/>
              <a:tabLst>
                <a:tab pos="206375" algn="l"/>
              </a:tabLst>
            </a:pPr>
            <a:r>
              <a:rPr sz="1000" spc="-5" dirty="0">
                <a:latin typeface="Arial"/>
                <a:cs typeface="Arial"/>
              </a:rPr>
              <a:t>Openness</a:t>
            </a:r>
            <a:endParaRPr sz="1000" dirty="0">
              <a:latin typeface="Arial"/>
              <a:cs typeface="Arial"/>
            </a:endParaRPr>
          </a:p>
          <a:p>
            <a:pPr marL="205740" indent="-168275">
              <a:lnSpc>
                <a:spcPct val="100000"/>
              </a:lnSpc>
              <a:spcBef>
                <a:spcPts val="590"/>
              </a:spcBef>
              <a:buClr>
                <a:srgbClr val="3333B2"/>
              </a:buClr>
              <a:buChar char="►"/>
              <a:tabLst>
                <a:tab pos="206375" algn="l"/>
              </a:tabLst>
            </a:pPr>
            <a:r>
              <a:rPr sz="1000" spc="-5" dirty="0">
                <a:latin typeface="Arial"/>
                <a:cs typeface="Arial"/>
              </a:rPr>
              <a:t>Scalability</a:t>
            </a:r>
            <a:endParaRPr sz="1000" dirty="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10</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3558159" y="716"/>
            <a:ext cx="983615" cy="116839"/>
          </a:xfrm>
          <a:prstGeom prst="rect">
            <a:avLst/>
          </a:prstGeom>
        </p:spPr>
        <p:txBody>
          <a:bodyPr vert="horz" wrap="square" lIns="0" tIns="12065" rIns="0" bIns="0" rtlCol="0">
            <a:spAutoFit/>
          </a:bodyPr>
          <a:lstStyle/>
          <a:p>
            <a:pPr marL="12700">
              <a:lnSpc>
                <a:spcPct val="100000"/>
              </a:lnSpc>
              <a:spcBef>
                <a:spcPts val="95"/>
              </a:spcBef>
            </a:pPr>
            <a:r>
              <a:rPr sz="600" dirty="0">
                <a:solidFill>
                  <a:srgbClr val="262685"/>
                </a:solidFill>
                <a:latin typeface="Arial"/>
                <a:cs typeface="Arial"/>
                <a:hlinkClick r:id="rId5" action="ppaction://hlinksldjump"/>
              </a:rPr>
              <a:t>Supporting</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resource</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sharing</a:t>
            </a:r>
            <a:endParaRPr sz="600">
              <a:latin typeface="Arial"/>
              <a:cs typeface="Arial"/>
            </a:endParaRPr>
          </a:p>
        </p:txBody>
      </p:sp>
      <p:sp>
        <p:nvSpPr>
          <p:cNvPr id="4" name="object 4"/>
          <p:cNvSpPr txBox="1"/>
          <p:nvPr/>
        </p:nvSpPr>
        <p:spPr>
          <a:xfrm>
            <a:off x="95300" y="188846"/>
            <a:ext cx="150685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Sharing</a:t>
            </a:r>
            <a:r>
              <a:rPr sz="1400" spc="-50" dirty="0">
                <a:solidFill>
                  <a:srgbClr val="3333B2"/>
                </a:solidFill>
                <a:latin typeface="Arial"/>
                <a:cs typeface="Arial"/>
              </a:rPr>
              <a:t> </a:t>
            </a:r>
            <a:r>
              <a:rPr sz="1400" spc="15" dirty="0">
                <a:solidFill>
                  <a:srgbClr val="3333B2"/>
                </a:solidFill>
                <a:latin typeface="Arial"/>
                <a:cs typeface="Arial"/>
              </a:rPr>
              <a:t>resources</a:t>
            </a:r>
            <a:endParaRPr sz="1400">
              <a:latin typeface="Arial"/>
              <a:cs typeface="Arial"/>
            </a:endParaRPr>
          </a:p>
        </p:txBody>
      </p:sp>
      <p:sp>
        <p:nvSpPr>
          <p:cNvPr id="5" name="object 5"/>
          <p:cNvSpPr txBox="1"/>
          <p:nvPr/>
        </p:nvSpPr>
        <p:spPr>
          <a:xfrm>
            <a:off x="309194" y="885670"/>
            <a:ext cx="3687445" cy="1716405"/>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007C00"/>
                </a:solidFill>
                <a:latin typeface="Arial"/>
                <a:cs typeface="Arial"/>
              </a:rPr>
              <a:t>Canonical</a:t>
            </a:r>
            <a:r>
              <a:rPr sz="1200" spc="-35" dirty="0">
                <a:solidFill>
                  <a:srgbClr val="007C00"/>
                </a:solidFill>
                <a:latin typeface="Arial"/>
                <a:cs typeface="Arial"/>
              </a:rPr>
              <a:t> </a:t>
            </a:r>
            <a:r>
              <a:rPr sz="1200" spc="-10" dirty="0">
                <a:solidFill>
                  <a:srgbClr val="007C00"/>
                </a:solidFill>
                <a:latin typeface="Arial"/>
                <a:cs typeface="Arial"/>
              </a:rPr>
              <a:t>examples</a:t>
            </a:r>
            <a:endParaRPr sz="1200">
              <a:latin typeface="Arial"/>
              <a:cs typeface="Arial"/>
            </a:endParaRPr>
          </a:p>
          <a:p>
            <a:pPr marL="327660" indent="-168275">
              <a:lnSpc>
                <a:spcPts val="1200"/>
              </a:lnSpc>
              <a:spcBef>
                <a:spcPts val="770"/>
              </a:spcBef>
              <a:buClr>
                <a:srgbClr val="007C00"/>
              </a:buClr>
              <a:buChar char="►"/>
              <a:tabLst>
                <a:tab pos="328295" algn="l"/>
              </a:tabLst>
            </a:pPr>
            <a:r>
              <a:rPr sz="1000" spc="-5" dirty="0">
                <a:latin typeface="Arial"/>
                <a:cs typeface="Arial"/>
              </a:rPr>
              <a:t>Cloud-based</a:t>
            </a:r>
            <a:r>
              <a:rPr sz="1000" spc="-10" dirty="0">
                <a:latin typeface="Arial"/>
                <a:cs typeface="Arial"/>
              </a:rPr>
              <a:t> </a:t>
            </a:r>
            <a:r>
              <a:rPr sz="1000" spc="-5" dirty="0">
                <a:latin typeface="Arial"/>
                <a:cs typeface="Arial"/>
              </a:rPr>
              <a:t>shared storage</a:t>
            </a:r>
            <a:r>
              <a:rPr sz="1000" spc="-10" dirty="0">
                <a:latin typeface="Arial"/>
                <a:cs typeface="Arial"/>
              </a:rPr>
              <a:t> </a:t>
            </a:r>
            <a:r>
              <a:rPr sz="1000" spc="-5" dirty="0">
                <a:latin typeface="Arial"/>
                <a:cs typeface="Arial"/>
              </a:rPr>
              <a:t>and files</a:t>
            </a:r>
            <a:endParaRPr sz="1000">
              <a:latin typeface="Arial"/>
              <a:cs typeface="Arial"/>
            </a:endParaRPr>
          </a:p>
          <a:p>
            <a:pPr marL="327660" indent="-168275">
              <a:lnSpc>
                <a:spcPts val="1195"/>
              </a:lnSpc>
              <a:buClr>
                <a:srgbClr val="007C00"/>
              </a:buClr>
              <a:buChar char="►"/>
              <a:tabLst>
                <a:tab pos="328295" algn="l"/>
              </a:tabLst>
            </a:pPr>
            <a:r>
              <a:rPr sz="1000" spc="-10" dirty="0">
                <a:latin typeface="Arial"/>
                <a:cs typeface="Arial"/>
              </a:rPr>
              <a:t>Peer-to-peer</a:t>
            </a:r>
            <a:r>
              <a:rPr sz="1000" dirty="0">
                <a:latin typeface="Arial"/>
                <a:cs typeface="Arial"/>
              </a:rPr>
              <a:t> </a:t>
            </a:r>
            <a:r>
              <a:rPr sz="1000" spc="-5" dirty="0">
                <a:latin typeface="Arial"/>
                <a:cs typeface="Arial"/>
              </a:rPr>
              <a:t>assisted</a:t>
            </a:r>
            <a:r>
              <a:rPr sz="1000" dirty="0">
                <a:latin typeface="Arial"/>
                <a:cs typeface="Arial"/>
              </a:rPr>
              <a:t> </a:t>
            </a:r>
            <a:r>
              <a:rPr sz="1000" spc="-5" dirty="0">
                <a:latin typeface="Arial"/>
                <a:cs typeface="Arial"/>
              </a:rPr>
              <a:t>multimedia</a:t>
            </a:r>
            <a:r>
              <a:rPr sz="1000" dirty="0">
                <a:latin typeface="Arial"/>
                <a:cs typeface="Arial"/>
              </a:rPr>
              <a:t> </a:t>
            </a:r>
            <a:r>
              <a:rPr sz="1000" spc="-5" dirty="0">
                <a:latin typeface="Arial"/>
                <a:cs typeface="Arial"/>
              </a:rPr>
              <a:t>streaming</a:t>
            </a:r>
            <a:endParaRPr sz="1000">
              <a:latin typeface="Arial"/>
              <a:cs typeface="Arial"/>
            </a:endParaRPr>
          </a:p>
          <a:p>
            <a:pPr marL="327660" indent="-168275">
              <a:lnSpc>
                <a:spcPts val="1195"/>
              </a:lnSpc>
              <a:buClr>
                <a:srgbClr val="007C00"/>
              </a:buClr>
              <a:buChar char="►"/>
              <a:tabLst>
                <a:tab pos="328295" algn="l"/>
              </a:tabLst>
            </a:pPr>
            <a:r>
              <a:rPr sz="1000" spc="-5" dirty="0">
                <a:latin typeface="Arial"/>
                <a:cs typeface="Arial"/>
              </a:rPr>
              <a:t>Shared mail</a:t>
            </a:r>
            <a:r>
              <a:rPr sz="1000" dirty="0">
                <a:latin typeface="Arial"/>
                <a:cs typeface="Arial"/>
              </a:rPr>
              <a:t> services </a:t>
            </a:r>
            <a:r>
              <a:rPr sz="1000" spc="-5" dirty="0">
                <a:latin typeface="Arial"/>
                <a:cs typeface="Arial"/>
              </a:rPr>
              <a:t>(think</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outsourced</a:t>
            </a:r>
            <a:r>
              <a:rPr sz="1000" dirty="0">
                <a:latin typeface="Arial"/>
                <a:cs typeface="Arial"/>
              </a:rPr>
              <a:t> </a:t>
            </a:r>
            <a:r>
              <a:rPr sz="1000" spc="-5" dirty="0">
                <a:latin typeface="Arial"/>
                <a:cs typeface="Arial"/>
              </a:rPr>
              <a:t>mail</a:t>
            </a:r>
            <a:r>
              <a:rPr sz="1000" dirty="0">
                <a:latin typeface="Arial"/>
                <a:cs typeface="Arial"/>
              </a:rPr>
              <a:t> </a:t>
            </a:r>
            <a:r>
              <a:rPr sz="1000" spc="-5" dirty="0">
                <a:latin typeface="Arial"/>
                <a:cs typeface="Arial"/>
              </a:rPr>
              <a:t>systems)</a:t>
            </a:r>
            <a:endParaRPr sz="1000">
              <a:latin typeface="Arial"/>
              <a:cs typeface="Arial"/>
            </a:endParaRPr>
          </a:p>
          <a:p>
            <a:pPr marL="327660" indent="-168275">
              <a:lnSpc>
                <a:spcPts val="1200"/>
              </a:lnSpc>
              <a:buClr>
                <a:srgbClr val="007C00"/>
              </a:buClr>
              <a:buChar char="►"/>
              <a:tabLst>
                <a:tab pos="328295" algn="l"/>
              </a:tabLst>
            </a:pPr>
            <a:r>
              <a:rPr sz="1000" spc="-5" dirty="0">
                <a:latin typeface="Arial"/>
                <a:cs typeface="Arial"/>
              </a:rPr>
              <a:t>Shared</a:t>
            </a:r>
            <a:r>
              <a:rPr sz="1000" dirty="0">
                <a:latin typeface="Arial"/>
                <a:cs typeface="Arial"/>
              </a:rPr>
              <a:t> </a:t>
            </a:r>
            <a:r>
              <a:rPr sz="1000" spc="-15" dirty="0">
                <a:latin typeface="Arial"/>
                <a:cs typeface="Arial"/>
              </a:rPr>
              <a:t>Web</a:t>
            </a:r>
            <a:r>
              <a:rPr sz="1000" spc="5" dirty="0">
                <a:latin typeface="Arial"/>
                <a:cs typeface="Arial"/>
              </a:rPr>
              <a:t> </a:t>
            </a:r>
            <a:r>
              <a:rPr sz="1000" spc="-5" dirty="0">
                <a:latin typeface="Arial"/>
                <a:cs typeface="Arial"/>
              </a:rPr>
              <a:t>hosting</a:t>
            </a:r>
            <a:r>
              <a:rPr sz="1000" dirty="0">
                <a:latin typeface="Arial"/>
                <a:cs typeface="Arial"/>
              </a:rPr>
              <a:t> </a:t>
            </a:r>
            <a:r>
              <a:rPr sz="1000" spc="-5" dirty="0">
                <a:latin typeface="Arial"/>
                <a:cs typeface="Arial"/>
              </a:rPr>
              <a:t>(think</a:t>
            </a:r>
            <a:r>
              <a:rPr sz="1000" spc="5"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content</a:t>
            </a:r>
            <a:r>
              <a:rPr sz="1000" dirty="0">
                <a:latin typeface="Arial"/>
                <a:cs typeface="Arial"/>
              </a:rPr>
              <a:t> </a:t>
            </a:r>
            <a:r>
              <a:rPr sz="1000" spc="-5" dirty="0">
                <a:latin typeface="Arial"/>
                <a:cs typeface="Arial"/>
              </a:rPr>
              <a:t>distribution</a:t>
            </a:r>
            <a:r>
              <a:rPr sz="1000" spc="5" dirty="0">
                <a:latin typeface="Arial"/>
                <a:cs typeface="Arial"/>
              </a:rPr>
              <a:t> </a:t>
            </a:r>
            <a:r>
              <a:rPr sz="1000" spc="-5" dirty="0">
                <a:latin typeface="Arial"/>
                <a:cs typeface="Arial"/>
              </a:rPr>
              <a:t>networks)</a:t>
            </a:r>
            <a:endParaRPr sz="1000">
              <a:latin typeface="Arial"/>
              <a:cs typeface="Arial"/>
            </a:endParaRPr>
          </a:p>
          <a:p>
            <a:pPr>
              <a:lnSpc>
                <a:spcPct val="100000"/>
              </a:lnSpc>
              <a:spcBef>
                <a:spcPts val="15"/>
              </a:spcBef>
            </a:pPr>
            <a:endParaRPr sz="1300">
              <a:latin typeface="Arial"/>
              <a:cs typeface="Arial"/>
            </a:endParaRPr>
          </a:p>
          <a:p>
            <a:pPr marL="50800">
              <a:lnSpc>
                <a:spcPct val="100000"/>
              </a:lnSpc>
              <a:spcBef>
                <a:spcPts val="5"/>
              </a:spcBef>
            </a:pPr>
            <a:r>
              <a:rPr sz="1200" spc="-5" dirty="0">
                <a:solidFill>
                  <a:srgbClr val="3333B2"/>
                </a:solidFill>
                <a:latin typeface="Arial"/>
                <a:cs typeface="Arial"/>
              </a:rPr>
              <a:t>Observation</a:t>
            </a:r>
            <a:endParaRPr sz="1200">
              <a:latin typeface="Arial"/>
              <a:cs typeface="Arial"/>
            </a:endParaRPr>
          </a:p>
          <a:p>
            <a:pPr marL="327660">
              <a:lnSpc>
                <a:spcPct val="100000"/>
              </a:lnSpc>
              <a:spcBef>
                <a:spcPts val="165"/>
              </a:spcBef>
            </a:pPr>
            <a:r>
              <a:rPr sz="1000" i="1" spc="-5" dirty="0">
                <a:latin typeface="Arial"/>
                <a:cs typeface="Arial"/>
              </a:rPr>
              <a:t>“The</a:t>
            </a:r>
            <a:r>
              <a:rPr sz="1000" i="1" spc="-10" dirty="0">
                <a:latin typeface="Arial"/>
                <a:cs typeface="Arial"/>
              </a:rPr>
              <a:t> </a:t>
            </a:r>
            <a:r>
              <a:rPr sz="1000" i="1" spc="-5" dirty="0">
                <a:latin typeface="Arial"/>
                <a:cs typeface="Arial"/>
              </a:rPr>
              <a:t>network</a:t>
            </a:r>
            <a:r>
              <a:rPr sz="1000" i="1" spc="-10" dirty="0">
                <a:latin typeface="Arial"/>
                <a:cs typeface="Arial"/>
              </a:rPr>
              <a:t> </a:t>
            </a:r>
            <a:r>
              <a:rPr sz="1000" i="1" spc="-5" dirty="0">
                <a:latin typeface="Arial"/>
                <a:cs typeface="Arial"/>
              </a:rPr>
              <a:t>is</a:t>
            </a:r>
            <a:r>
              <a:rPr sz="1000" i="1" spc="-10" dirty="0">
                <a:latin typeface="Arial"/>
                <a:cs typeface="Arial"/>
              </a:rPr>
              <a:t> </a:t>
            </a:r>
            <a:r>
              <a:rPr sz="1000" i="1" spc="-5" dirty="0">
                <a:latin typeface="Arial"/>
                <a:cs typeface="Arial"/>
              </a:rPr>
              <a:t>the</a:t>
            </a:r>
            <a:r>
              <a:rPr sz="1000" i="1" spc="-10" dirty="0">
                <a:latin typeface="Arial"/>
                <a:cs typeface="Arial"/>
              </a:rPr>
              <a:t> </a:t>
            </a:r>
            <a:r>
              <a:rPr sz="1000" i="1" spc="-5" dirty="0">
                <a:latin typeface="Arial"/>
                <a:cs typeface="Arial"/>
              </a:rPr>
              <a:t>computer”</a:t>
            </a:r>
            <a:endParaRPr sz="1000">
              <a:latin typeface="Arial"/>
              <a:cs typeface="Arial"/>
            </a:endParaRPr>
          </a:p>
          <a:p>
            <a:pPr marL="46355">
              <a:lnSpc>
                <a:spcPct val="100000"/>
              </a:lnSpc>
              <a:spcBef>
                <a:spcPts val="800"/>
              </a:spcBef>
            </a:pPr>
            <a:r>
              <a:rPr sz="1000" spc="-5" dirty="0">
                <a:latin typeface="Arial"/>
                <a:cs typeface="Arial"/>
              </a:rPr>
              <a:t>(quote from</a:t>
            </a:r>
            <a:r>
              <a:rPr sz="1000" dirty="0">
                <a:latin typeface="Arial"/>
                <a:cs typeface="Arial"/>
              </a:rPr>
              <a:t> </a:t>
            </a:r>
            <a:r>
              <a:rPr sz="1000" spc="-5" dirty="0">
                <a:latin typeface="Arial"/>
                <a:cs typeface="Arial"/>
              </a:rPr>
              <a:t>John</a:t>
            </a:r>
            <a:r>
              <a:rPr sz="1000" dirty="0">
                <a:latin typeface="Arial"/>
                <a:cs typeface="Arial"/>
              </a:rPr>
              <a:t> </a:t>
            </a:r>
            <a:r>
              <a:rPr sz="1000" spc="-10" dirty="0">
                <a:latin typeface="Arial"/>
                <a:cs typeface="Arial"/>
              </a:rPr>
              <a:t>Gage,</a:t>
            </a:r>
            <a:r>
              <a:rPr sz="1000" dirty="0">
                <a:latin typeface="Arial"/>
                <a:cs typeface="Arial"/>
              </a:rPr>
              <a:t> </a:t>
            </a:r>
            <a:r>
              <a:rPr sz="1000" spc="-5" dirty="0">
                <a:latin typeface="Arial"/>
                <a:cs typeface="Arial"/>
              </a:rPr>
              <a:t>then</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Sun</a:t>
            </a:r>
            <a:r>
              <a:rPr sz="1000" dirty="0">
                <a:latin typeface="Arial"/>
                <a:cs typeface="Arial"/>
              </a:rPr>
              <a:t> </a:t>
            </a:r>
            <a:r>
              <a:rPr sz="1000" spc="-5" dirty="0">
                <a:latin typeface="Arial"/>
                <a:cs typeface="Arial"/>
              </a:rPr>
              <a:t>Microsystems)</a:t>
            </a:r>
            <a:endParaRPr sz="100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54430" cy="119380"/>
          </a:xfrm>
          <a:prstGeom prst="rect">
            <a:avLst/>
          </a:prstGeom>
        </p:spPr>
        <p:txBody>
          <a:bodyPr vert="horz" wrap="square" lIns="0" tIns="8890" rIns="0" bIns="0" rtlCol="0">
            <a:spAutoFit/>
          </a:bodyPr>
          <a:lstStyle/>
          <a:p>
            <a:pPr marL="12700">
              <a:lnSpc>
                <a:spcPct val="100000"/>
              </a:lnSpc>
              <a:spcBef>
                <a:spcPts val="70"/>
              </a:spcBef>
            </a:pPr>
            <a:r>
              <a:rPr sz="600" spc="-20" dirty="0">
                <a:solidFill>
                  <a:srgbClr val="3333B2"/>
                </a:solidFill>
                <a:latin typeface="Arial"/>
                <a:cs typeface="Arial"/>
                <a:hlinkClick r:id="rId3" action="ppaction://hlinksldjump"/>
              </a:rPr>
              <a:t>Types</a:t>
            </a:r>
            <a:r>
              <a:rPr sz="600" spc="-5" dirty="0">
                <a:solidFill>
                  <a:srgbClr val="3333B2"/>
                </a:solidFill>
                <a:latin typeface="Arial"/>
                <a:cs typeface="Arial"/>
                <a:hlinkClick r:id="rId3" action="ppaction://hlinksldjump"/>
              </a:rPr>
              <a:t> of distribution transparency</a:t>
            </a:r>
            <a:endParaRPr sz="600">
              <a:latin typeface="Arial"/>
              <a:cs typeface="Arial"/>
            </a:endParaRPr>
          </a:p>
        </p:txBody>
      </p:sp>
      <p:sp>
        <p:nvSpPr>
          <p:cNvPr id="7" name="object 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11</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Making</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distribution transparent</a:t>
            </a:r>
            <a:endParaRPr sz="600">
              <a:latin typeface="Arial"/>
              <a:cs typeface="Arial"/>
            </a:endParaRPr>
          </a:p>
        </p:txBody>
      </p:sp>
      <p:sp>
        <p:nvSpPr>
          <p:cNvPr id="4" name="object 4"/>
          <p:cNvSpPr txBox="1"/>
          <p:nvPr/>
        </p:nvSpPr>
        <p:spPr>
          <a:xfrm>
            <a:off x="95300" y="188846"/>
            <a:ext cx="2037714" cy="673100"/>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Distribution</a:t>
            </a:r>
            <a:r>
              <a:rPr sz="1400" spc="-50" dirty="0">
                <a:solidFill>
                  <a:srgbClr val="3333B2"/>
                </a:solidFill>
                <a:latin typeface="Arial"/>
                <a:cs typeface="Arial"/>
              </a:rPr>
              <a:t> </a:t>
            </a:r>
            <a:r>
              <a:rPr sz="1400" spc="15" dirty="0">
                <a:solidFill>
                  <a:srgbClr val="3333B2"/>
                </a:solidFill>
                <a:latin typeface="Arial"/>
                <a:cs typeface="Arial"/>
              </a:rPr>
              <a:t>transparency</a:t>
            </a:r>
            <a:endParaRPr sz="1400">
              <a:latin typeface="Arial"/>
              <a:cs typeface="Arial"/>
            </a:endParaRPr>
          </a:p>
          <a:p>
            <a:pPr>
              <a:lnSpc>
                <a:spcPct val="100000"/>
              </a:lnSpc>
              <a:spcBef>
                <a:spcPts val="45"/>
              </a:spcBef>
            </a:pPr>
            <a:endParaRPr sz="1650">
              <a:latin typeface="Arial"/>
              <a:cs typeface="Arial"/>
            </a:endParaRPr>
          </a:p>
          <a:p>
            <a:pPr marL="259715">
              <a:lnSpc>
                <a:spcPct val="100000"/>
              </a:lnSpc>
            </a:pPr>
            <a:r>
              <a:rPr sz="1200" spc="-35" dirty="0">
                <a:solidFill>
                  <a:srgbClr val="3333B2"/>
                </a:solidFill>
                <a:latin typeface="Arial"/>
                <a:cs typeface="Arial"/>
              </a:rPr>
              <a:t>Types</a:t>
            </a:r>
            <a:endParaRPr sz="1200">
              <a:latin typeface="Arial"/>
              <a:cs typeface="Arial"/>
            </a:endParaRPr>
          </a:p>
        </p:txBody>
      </p:sp>
      <p:graphicFrame>
        <p:nvGraphicFramePr>
          <p:cNvPr id="5" name="object 5"/>
          <p:cNvGraphicFramePr>
            <a:graphicFrameLocks noGrp="1"/>
          </p:cNvGraphicFramePr>
          <p:nvPr/>
        </p:nvGraphicFramePr>
        <p:xfrm>
          <a:off x="405295" y="973950"/>
          <a:ext cx="3792220" cy="1843405"/>
        </p:xfrm>
        <a:graphic>
          <a:graphicData uri="http://schemas.openxmlformats.org/drawingml/2006/table">
            <a:tbl>
              <a:tblPr firstRow="1" bandRow="1">
                <a:tableStyleId>{2D5ABB26-0587-4C30-8999-92F81FD0307C}</a:tableStyleId>
              </a:tblPr>
              <a:tblGrid>
                <a:gridCol w="913765">
                  <a:extLst>
                    <a:ext uri="{9D8B030D-6E8A-4147-A177-3AD203B41FA5}">
                      <a16:colId xmlns:a16="http://schemas.microsoft.com/office/drawing/2014/main" val="20000"/>
                    </a:ext>
                  </a:extLst>
                </a:gridCol>
                <a:gridCol w="2878455">
                  <a:extLst>
                    <a:ext uri="{9D8B030D-6E8A-4147-A177-3AD203B41FA5}">
                      <a16:colId xmlns:a16="http://schemas.microsoft.com/office/drawing/2014/main" val="20001"/>
                    </a:ext>
                  </a:extLst>
                </a:gridCol>
              </a:tblGrid>
              <a:tr h="178435">
                <a:tc>
                  <a:txBody>
                    <a:bodyPr/>
                    <a:lstStyle/>
                    <a:p>
                      <a:pPr marL="78105">
                        <a:lnSpc>
                          <a:spcPts val="1140"/>
                        </a:lnSpc>
                      </a:pPr>
                      <a:r>
                        <a:rPr sz="1000" spc="-15" dirty="0">
                          <a:solidFill>
                            <a:srgbClr val="0000FA"/>
                          </a:solidFill>
                          <a:latin typeface="Arial"/>
                          <a:cs typeface="Arial"/>
                        </a:rPr>
                        <a:t>Transparency</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1140"/>
                        </a:lnSpc>
                      </a:pPr>
                      <a:r>
                        <a:rPr sz="1000" spc="-5" dirty="0">
                          <a:solidFill>
                            <a:srgbClr val="0000FA"/>
                          </a:solidFill>
                          <a:latin typeface="Arial"/>
                          <a:cs typeface="Arial"/>
                        </a:rPr>
                        <a:t>Description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30835">
                <a:tc>
                  <a:txBody>
                    <a:bodyPr/>
                    <a:lstStyle/>
                    <a:p>
                      <a:pPr marL="78105">
                        <a:lnSpc>
                          <a:spcPts val="1195"/>
                        </a:lnSpc>
                      </a:pPr>
                      <a:r>
                        <a:rPr sz="1000" spc="-5" dirty="0">
                          <a:solidFill>
                            <a:srgbClr val="FA0000"/>
                          </a:solidFill>
                          <a:latin typeface="Arial"/>
                          <a:cs typeface="Arial"/>
                        </a:rPr>
                        <a:t>Access</a:t>
                      </a:r>
                      <a:endParaRPr sz="10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111125">
                        <a:lnSpc>
                          <a:spcPts val="1200"/>
                        </a:lnSpc>
                        <a:spcBef>
                          <a:spcPts val="35"/>
                        </a:spcBef>
                      </a:pPr>
                      <a:r>
                        <a:rPr sz="1000" spc="-5" dirty="0">
                          <a:latin typeface="Arial"/>
                          <a:cs typeface="Arial"/>
                        </a:rPr>
                        <a:t>Hide differences in data representation and </a:t>
                      </a:r>
                      <a:r>
                        <a:rPr sz="1000" spc="-10" dirty="0">
                          <a:latin typeface="Arial"/>
                          <a:cs typeface="Arial"/>
                        </a:rPr>
                        <a:t>how </a:t>
                      </a:r>
                      <a:r>
                        <a:rPr sz="1000" spc="-265" dirty="0">
                          <a:latin typeface="Arial"/>
                          <a:cs typeface="Arial"/>
                        </a:rPr>
                        <a:t> </a:t>
                      </a:r>
                      <a:r>
                        <a:rPr sz="1000" spc="-5" dirty="0">
                          <a:latin typeface="Arial"/>
                          <a:cs typeface="Arial"/>
                        </a:rPr>
                        <a:t>an</a:t>
                      </a:r>
                      <a:r>
                        <a:rPr sz="1000" spc="-10" dirty="0">
                          <a:latin typeface="Arial"/>
                          <a:cs typeface="Arial"/>
                        </a:rPr>
                        <a:t> </a:t>
                      </a:r>
                      <a:r>
                        <a:rPr sz="1000" spc="-5" dirty="0">
                          <a:latin typeface="Arial"/>
                          <a:cs typeface="Arial"/>
                        </a:rPr>
                        <a:t>object is accessed</a:t>
                      </a:r>
                      <a:endParaRPr sz="1000">
                        <a:latin typeface="Arial"/>
                        <a:cs typeface="Arial"/>
                      </a:endParaRPr>
                    </a:p>
                  </a:txBody>
                  <a:tcPr marL="0" marR="0" marT="444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1450">
                <a:tc>
                  <a:txBody>
                    <a:bodyPr/>
                    <a:lstStyle/>
                    <a:p>
                      <a:pPr marL="78105">
                        <a:lnSpc>
                          <a:spcPts val="1140"/>
                        </a:lnSpc>
                      </a:pPr>
                      <a:r>
                        <a:rPr sz="1000" spc="-5" dirty="0">
                          <a:solidFill>
                            <a:srgbClr val="FA0000"/>
                          </a:solidFill>
                          <a:latin typeface="Arial"/>
                          <a:cs typeface="Arial"/>
                        </a:rPr>
                        <a:t>Location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Hide</a:t>
                      </a:r>
                      <a:r>
                        <a:rPr sz="1000" spc="-10" dirty="0">
                          <a:latin typeface="Arial"/>
                          <a:cs typeface="Arial"/>
                        </a:rPr>
                        <a:t> </a:t>
                      </a:r>
                      <a:r>
                        <a:rPr sz="1000" spc="-5" dirty="0">
                          <a:latin typeface="Arial"/>
                          <a:cs typeface="Arial"/>
                        </a:rPr>
                        <a:t>where</a:t>
                      </a:r>
                      <a:r>
                        <a:rPr sz="1000" spc="-10" dirty="0">
                          <a:latin typeface="Arial"/>
                          <a:cs typeface="Arial"/>
                        </a:rPr>
                        <a:t> </a:t>
                      </a:r>
                      <a:r>
                        <a:rPr sz="1000" spc="-5" dirty="0">
                          <a:latin typeface="Arial"/>
                          <a:cs typeface="Arial"/>
                        </a:rPr>
                        <a:t>an object</a:t>
                      </a:r>
                      <a:r>
                        <a:rPr sz="1000" spc="-10"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located</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3850">
                <a:tc>
                  <a:txBody>
                    <a:bodyPr/>
                    <a:lstStyle/>
                    <a:p>
                      <a:pPr marL="78105">
                        <a:lnSpc>
                          <a:spcPts val="1140"/>
                        </a:lnSpc>
                      </a:pPr>
                      <a:r>
                        <a:rPr sz="1000" spc="-5" dirty="0">
                          <a:solidFill>
                            <a:srgbClr val="FA0000"/>
                          </a:solidFill>
                          <a:latin typeface="Arial"/>
                          <a:cs typeface="Arial"/>
                        </a:rPr>
                        <a:t>Relocation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Hide that an</a:t>
                      </a:r>
                      <a:r>
                        <a:rPr sz="1000" dirty="0">
                          <a:latin typeface="Arial"/>
                          <a:cs typeface="Arial"/>
                        </a:rPr>
                        <a:t> </a:t>
                      </a:r>
                      <a:r>
                        <a:rPr sz="1000" spc="-5" dirty="0">
                          <a:latin typeface="Arial"/>
                          <a:cs typeface="Arial"/>
                        </a:rPr>
                        <a:t>object </a:t>
                      </a:r>
                      <a:r>
                        <a:rPr sz="1000" spc="-15" dirty="0">
                          <a:latin typeface="Arial"/>
                          <a:cs typeface="Arial"/>
                        </a:rPr>
                        <a:t>may</a:t>
                      </a:r>
                      <a:r>
                        <a:rPr sz="1000" spc="-5" dirty="0">
                          <a:latin typeface="Arial"/>
                          <a:cs typeface="Arial"/>
                        </a:rPr>
                        <a:t> be</a:t>
                      </a:r>
                      <a:r>
                        <a:rPr sz="1000" dirty="0">
                          <a:latin typeface="Arial"/>
                          <a:cs typeface="Arial"/>
                        </a:rPr>
                        <a:t> </a:t>
                      </a:r>
                      <a:r>
                        <a:rPr sz="1000" spc="-15" dirty="0">
                          <a:latin typeface="Arial"/>
                          <a:cs typeface="Arial"/>
                        </a:rPr>
                        <a:t>moved</a:t>
                      </a:r>
                      <a:r>
                        <a:rPr sz="1000" spc="-5" dirty="0">
                          <a:latin typeface="Arial"/>
                          <a:cs typeface="Arial"/>
                        </a:rPr>
                        <a:t> to another</a:t>
                      </a:r>
                      <a:endParaRPr sz="1000">
                        <a:latin typeface="Arial"/>
                        <a:cs typeface="Arial"/>
                      </a:endParaRPr>
                    </a:p>
                    <a:p>
                      <a:pPr marL="78105">
                        <a:lnSpc>
                          <a:spcPts val="1200"/>
                        </a:lnSpc>
                      </a:pPr>
                      <a:r>
                        <a:rPr sz="1000" spc="-5" dirty="0">
                          <a:latin typeface="Arial"/>
                          <a:cs typeface="Arial"/>
                        </a:rPr>
                        <a:t>location</a:t>
                      </a:r>
                      <a:r>
                        <a:rPr sz="1000" spc="-20" dirty="0">
                          <a:latin typeface="Arial"/>
                          <a:cs typeface="Arial"/>
                        </a:rPr>
                        <a:t> </a:t>
                      </a:r>
                      <a:r>
                        <a:rPr sz="1000" spc="-5" dirty="0">
                          <a:latin typeface="Arial"/>
                          <a:cs typeface="Arial"/>
                        </a:rPr>
                        <a:t>while</a:t>
                      </a:r>
                      <a:r>
                        <a:rPr sz="1000" spc="-15" dirty="0">
                          <a:latin typeface="Arial"/>
                          <a:cs typeface="Arial"/>
                        </a:rPr>
                        <a:t> </a:t>
                      </a:r>
                      <a:r>
                        <a:rPr sz="1000" spc="-5" dirty="0">
                          <a:latin typeface="Arial"/>
                          <a:cs typeface="Arial"/>
                        </a:rPr>
                        <a:t>in</a:t>
                      </a:r>
                      <a:r>
                        <a:rPr sz="1000" spc="-15" dirty="0">
                          <a:latin typeface="Arial"/>
                          <a:cs typeface="Arial"/>
                        </a:rPr>
                        <a:t> </a:t>
                      </a:r>
                      <a:r>
                        <a:rPr sz="1000" spc="-5" dirty="0">
                          <a:latin typeface="Arial"/>
                          <a:cs typeface="Arial"/>
                        </a:rPr>
                        <a:t>use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71450">
                <a:tc>
                  <a:txBody>
                    <a:bodyPr/>
                    <a:lstStyle/>
                    <a:p>
                      <a:pPr marL="78105">
                        <a:lnSpc>
                          <a:spcPts val="1140"/>
                        </a:lnSpc>
                      </a:pPr>
                      <a:r>
                        <a:rPr sz="1000" spc="-5" dirty="0">
                          <a:solidFill>
                            <a:srgbClr val="FA0000"/>
                          </a:solidFill>
                          <a:latin typeface="Arial"/>
                          <a:cs typeface="Arial"/>
                        </a:rPr>
                        <a:t>Migration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10" dirty="0">
                          <a:latin typeface="Arial"/>
                          <a:cs typeface="Arial"/>
                        </a:rPr>
                        <a:t>Hide</a:t>
                      </a:r>
                      <a:r>
                        <a:rPr sz="1000" spc="-5" dirty="0">
                          <a:latin typeface="Arial"/>
                          <a:cs typeface="Arial"/>
                        </a:rPr>
                        <a:t> that</a:t>
                      </a:r>
                      <a:r>
                        <a:rPr sz="1000" dirty="0">
                          <a:latin typeface="Arial"/>
                          <a:cs typeface="Arial"/>
                        </a:rPr>
                        <a:t> </a:t>
                      </a:r>
                      <a:r>
                        <a:rPr sz="1000" spc="-10" dirty="0">
                          <a:latin typeface="Arial"/>
                          <a:cs typeface="Arial"/>
                        </a:rPr>
                        <a:t>an</a:t>
                      </a:r>
                      <a:r>
                        <a:rPr sz="1000" dirty="0">
                          <a:latin typeface="Arial"/>
                          <a:cs typeface="Arial"/>
                        </a:rPr>
                        <a:t> </a:t>
                      </a:r>
                      <a:r>
                        <a:rPr sz="1000" spc="-10" dirty="0">
                          <a:latin typeface="Arial"/>
                          <a:cs typeface="Arial"/>
                        </a:rPr>
                        <a:t>object</a:t>
                      </a:r>
                      <a:r>
                        <a:rPr sz="1000" dirty="0">
                          <a:latin typeface="Arial"/>
                          <a:cs typeface="Arial"/>
                        </a:rPr>
                        <a:t> </a:t>
                      </a:r>
                      <a:r>
                        <a:rPr sz="1000" spc="-20" dirty="0">
                          <a:latin typeface="Arial"/>
                          <a:cs typeface="Arial"/>
                        </a:rPr>
                        <a:t>may</a:t>
                      </a:r>
                      <a:r>
                        <a:rPr sz="1000" dirty="0">
                          <a:latin typeface="Arial"/>
                          <a:cs typeface="Arial"/>
                        </a:rPr>
                        <a:t> </a:t>
                      </a:r>
                      <a:r>
                        <a:rPr sz="1000" spc="-20" dirty="0">
                          <a:latin typeface="Arial"/>
                          <a:cs typeface="Arial"/>
                        </a:rPr>
                        <a:t>move</a:t>
                      </a:r>
                      <a:r>
                        <a:rPr sz="1000" spc="-5" dirty="0">
                          <a:latin typeface="Arial"/>
                          <a:cs typeface="Arial"/>
                        </a:rPr>
                        <a:t> to</a:t>
                      </a:r>
                      <a:r>
                        <a:rPr sz="1000" dirty="0">
                          <a:latin typeface="Arial"/>
                          <a:cs typeface="Arial"/>
                        </a:rPr>
                        <a:t> </a:t>
                      </a:r>
                      <a:r>
                        <a:rPr sz="1000" spc="-10" dirty="0">
                          <a:latin typeface="Arial"/>
                          <a:cs typeface="Arial"/>
                        </a:rPr>
                        <a:t>another</a:t>
                      </a:r>
                      <a:r>
                        <a:rPr sz="1000" dirty="0">
                          <a:latin typeface="Arial"/>
                          <a:cs typeface="Arial"/>
                        </a:rPr>
                        <a:t> </a:t>
                      </a:r>
                      <a:r>
                        <a:rPr sz="1000" spc="-10" dirty="0">
                          <a:latin typeface="Arial"/>
                          <a:cs typeface="Arial"/>
                        </a:rPr>
                        <a:t>location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71450">
                <a:tc>
                  <a:txBody>
                    <a:bodyPr/>
                    <a:lstStyle/>
                    <a:p>
                      <a:pPr marL="78105">
                        <a:lnSpc>
                          <a:spcPts val="1140"/>
                        </a:lnSpc>
                      </a:pPr>
                      <a:r>
                        <a:rPr sz="1000" spc="-5" dirty="0">
                          <a:solidFill>
                            <a:srgbClr val="FA0000"/>
                          </a:solidFill>
                          <a:latin typeface="Arial"/>
                          <a:cs typeface="Arial"/>
                        </a:rPr>
                        <a:t>Replication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Hide</a:t>
                      </a:r>
                      <a:r>
                        <a:rPr sz="1000" spc="-10" dirty="0">
                          <a:latin typeface="Arial"/>
                          <a:cs typeface="Arial"/>
                        </a:rPr>
                        <a:t> </a:t>
                      </a:r>
                      <a:r>
                        <a:rPr sz="1000" spc="-5" dirty="0">
                          <a:latin typeface="Arial"/>
                          <a:cs typeface="Arial"/>
                        </a:rPr>
                        <a:t>that an object</a:t>
                      </a:r>
                      <a:r>
                        <a:rPr sz="1000" spc="-10" dirty="0">
                          <a:latin typeface="Arial"/>
                          <a:cs typeface="Arial"/>
                        </a:rPr>
                        <a:t> </a:t>
                      </a:r>
                      <a:r>
                        <a:rPr sz="1000" spc="-5" dirty="0">
                          <a:latin typeface="Arial"/>
                          <a:cs typeface="Arial"/>
                        </a:rPr>
                        <a:t>is replicated</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23850">
                <a:tc>
                  <a:txBody>
                    <a:bodyPr/>
                    <a:lstStyle/>
                    <a:p>
                      <a:pPr marL="78105">
                        <a:lnSpc>
                          <a:spcPts val="1140"/>
                        </a:lnSpc>
                      </a:pPr>
                      <a:r>
                        <a:rPr sz="1000" spc="-5" dirty="0">
                          <a:solidFill>
                            <a:srgbClr val="FA0000"/>
                          </a:solidFill>
                          <a:latin typeface="Arial"/>
                          <a:cs typeface="Arial"/>
                        </a:rPr>
                        <a:t>Concurrency</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Hide that an object</a:t>
                      </a:r>
                      <a:r>
                        <a:rPr sz="1000" dirty="0">
                          <a:latin typeface="Arial"/>
                          <a:cs typeface="Arial"/>
                        </a:rPr>
                        <a:t> </a:t>
                      </a:r>
                      <a:r>
                        <a:rPr sz="1000" spc="-15" dirty="0">
                          <a:latin typeface="Arial"/>
                          <a:cs typeface="Arial"/>
                        </a:rPr>
                        <a:t>may</a:t>
                      </a:r>
                      <a:r>
                        <a:rPr sz="1000" spc="-5" dirty="0">
                          <a:latin typeface="Arial"/>
                          <a:cs typeface="Arial"/>
                        </a:rPr>
                        <a:t> be shared</a:t>
                      </a:r>
                      <a:r>
                        <a:rPr sz="1000" dirty="0">
                          <a:latin typeface="Arial"/>
                          <a:cs typeface="Arial"/>
                        </a:rPr>
                        <a:t> </a:t>
                      </a:r>
                      <a:r>
                        <a:rPr sz="1000" spc="-15" dirty="0">
                          <a:latin typeface="Arial"/>
                          <a:cs typeface="Arial"/>
                        </a:rPr>
                        <a:t>by</a:t>
                      </a:r>
                      <a:r>
                        <a:rPr sz="1000" spc="-5" dirty="0">
                          <a:latin typeface="Arial"/>
                          <a:cs typeface="Arial"/>
                        </a:rPr>
                        <a:t> </a:t>
                      </a:r>
                      <a:r>
                        <a:rPr sz="1000" spc="-15" dirty="0">
                          <a:latin typeface="Arial"/>
                          <a:cs typeface="Arial"/>
                        </a:rPr>
                        <a:t>several</a:t>
                      </a:r>
                      <a:endParaRPr sz="1000">
                        <a:latin typeface="Arial"/>
                        <a:cs typeface="Arial"/>
                      </a:endParaRPr>
                    </a:p>
                    <a:p>
                      <a:pPr marL="78105">
                        <a:lnSpc>
                          <a:spcPts val="1200"/>
                        </a:lnSpc>
                      </a:pPr>
                      <a:r>
                        <a:rPr sz="1000" spc="-5" dirty="0">
                          <a:latin typeface="Arial"/>
                          <a:cs typeface="Arial"/>
                        </a:rPr>
                        <a:t>independent</a:t>
                      </a:r>
                      <a:r>
                        <a:rPr sz="1000" spc="-30" dirty="0">
                          <a:latin typeface="Arial"/>
                          <a:cs typeface="Arial"/>
                        </a:rPr>
                        <a:t> </a:t>
                      </a:r>
                      <a:r>
                        <a:rPr sz="1000" spc="-5" dirty="0">
                          <a:latin typeface="Arial"/>
                          <a:cs typeface="Arial"/>
                        </a:rPr>
                        <a:t>users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172085">
                <a:tc>
                  <a:txBody>
                    <a:bodyPr/>
                    <a:lstStyle/>
                    <a:p>
                      <a:pPr marL="78105">
                        <a:lnSpc>
                          <a:spcPts val="1140"/>
                        </a:lnSpc>
                      </a:pPr>
                      <a:r>
                        <a:rPr sz="1000" spc="-10" dirty="0">
                          <a:solidFill>
                            <a:srgbClr val="FA0000"/>
                          </a:solidFill>
                          <a:latin typeface="Arial"/>
                          <a:cs typeface="Arial"/>
                        </a:rPr>
                        <a:t>Failure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Hide the </a:t>
                      </a:r>
                      <a:r>
                        <a:rPr sz="1000" spc="-10" dirty="0">
                          <a:latin typeface="Arial"/>
                          <a:cs typeface="Arial"/>
                        </a:rPr>
                        <a:t>failure</a:t>
                      </a:r>
                      <a:r>
                        <a:rPr sz="1000" spc="-5" dirty="0">
                          <a:latin typeface="Arial"/>
                          <a:cs typeface="Arial"/>
                        </a:rPr>
                        <a:t> and recovery of an object</a:t>
                      </a:r>
                      <a:endParaRPr sz="10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052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Degree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 distribution transparency</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Making</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 transparent</a:t>
            </a:r>
            <a:endParaRPr sz="600">
              <a:latin typeface="Arial"/>
              <a:cs typeface="Arial"/>
            </a:endParaRPr>
          </a:p>
        </p:txBody>
      </p:sp>
      <p:sp>
        <p:nvSpPr>
          <p:cNvPr id="4" name="object 4"/>
          <p:cNvSpPr txBox="1"/>
          <p:nvPr/>
        </p:nvSpPr>
        <p:spPr>
          <a:xfrm>
            <a:off x="95300" y="188846"/>
            <a:ext cx="3444875" cy="78613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Degree</a:t>
            </a:r>
            <a:r>
              <a:rPr sz="1400" spc="-20" dirty="0">
                <a:solidFill>
                  <a:srgbClr val="3333B2"/>
                </a:solidFill>
                <a:latin typeface="Arial"/>
                <a:cs typeface="Arial"/>
              </a:rPr>
              <a:t> </a:t>
            </a:r>
            <a:r>
              <a:rPr sz="1400" spc="10" dirty="0">
                <a:solidFill>
                  <a:srgbClr val="3333B2"/>
                </a:solidFill>
                <a:latin typeface="Arial"/>
                <a:cs typeface="Arial"/>
              </a:rPr>
              <a:t>of</a:t>
            </a:r>
            <a:r>
              <a:rPr sz="1400" spc="-25" dirty="0">
                <a:solidFill>
                  <a:srgbClr val="3333B2"/>
                </a:solidFill>
                <a:latin typeface="Arial"/>
                <a:cs typeface="Arial"/>
              </a:rPr>
              <a:t> </a:t>
            </a:r>
            <a:r>
              <a:rPr sz="1400" spc="15" dirty="0">
                <a:solidFill>
                  <a:srgbClr val="3333B2"/>
                </a:solidFill>
                <a:latin typeface="Arial"/>
                <a:cs typeface="Arial"/>
              </a:rPr>
              <a:t>transparency</a:t>
            </a:r>
            <a:endParaRPr sz="1400" dirty="0">
              <a:latin typeface="Arial"/>
              <a:cs typeface="Arial"/>
            </a:endParaRPr>
          </a:p>
          <a:p>
            <a:pPr>
              <a:lnSpc>
                <a:spcPct val="100000"/>
              </a:lnSpc>
              <a:spcBef>
                <a:spcPts val="15"/>
              </a:spcBef>
            </a:pPr>
            <a:endParaRPr sz="1450" dirty="0">
              <a:latin typeface="Arial"/>
              <a:cs typeface="Arial"/>
            </a:endParaRPr>
          </a:p>
          <a:p>
            <a:pPr marL="26416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260350">
              <a:lnSpc>
                <a:spcPts val="1170"/>
              </a:lnSpc>
            </a:pPr>
            <a:r>
              <a:rPr sz="1000" spc="-5" dirty="0">
                <a:latin typeface="Arial"/>
                <a:cs typeface="Arial"/>
              </a:rPr>
              <a:t>Aiming at</a:t>
            </a:r>
            <a:r>
              <a:rPr sz="1000" dirty="0">
                <a:latin typeface="Arial"/>
                <a:cs typeface="Arial"/>
              </a:rPr>
              <a:t> </a:t>
            </a:r>
            <a:r>
              <a:rPr sz="1000" spc="-5" dirty="0">
                <a:latin typeface="Arial"/>
                <a:cs typeface="Arial"/>
              </a:rPr>
              <a:t>full distribution</a:t>
            </a:r>
            <a:r>
              <a:rPr sz="1000" dirty="0">
                <a:latin typeface="Arial"/>
                <a:cs typeface="Arial"/>
              </a:rPr>
              <a:t> </a:t>
            </a:r>
            <a:r>
              <a:rPr sz="1000" spc="-5" dirty="0">
                <a:latin typeface="Arial"/>
                <a:cs typeface="Arial"/>
              </a:rPr>
              <a:t>transparency</a:t>
            </a:r>
            <a:r>
              <a:rPr sz="1000" dirty="0">
                <a:latin typeface="Arial"/>
                <a:cs typeface="Arial"/>
              </a:rPr>
              <a:t> </a:t>
            </a:r>
            <a:r>
              <a:rPr sz="1000" spc="-15" dirty="0">
                <a:latin typeface="Arial"/>
                <a:cs typeface="Arial"/>
              </a:rPr>
              <a:t>may</a:t>
            </a:r>
            <a:r>
              <a:rPr sz="1000" spc="-5" dirty="0">
                <a:latin typeface="Arial"/>
                <a:cs typeface="Arial"/>
              </a:rPr>
              <a:t> be</a:t>
            </a:r>
            <a:r>
              <a:rPr sz="1000" dirty="0">
                <a:latin typeface="Arial"/>
                <a:cs typeface="Arial"/>
              </a:rPr>
              <a:t> </a:t>
            </a:r>
            <a:r>
              <a:rPr sz="1000" spc="-5" dirty="0">
                <a:latin typeface="Arial"/>
                <a:cs typeface="Arial"/>
              </a:rPr>
              <a:t>too much:</a:t>
            </a:r>
            <a:endParaRPr sz="1000" dirty="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052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Degree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 distribution transparency</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Making</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 transparent</a:t>
            </a:r>
            <a:endParaRPr sz="600">
              <a:latin typeface="Arial"/>
              <a:cs typeface="Arial"/>
            </a:endParaRPr>
          </a:p>
        </p:txBody>
      </p:sp>
      <p:sp>
        <p:nvSpPr>
          <p:cNvPr id="4" name="object 4"/>
          <p:cNvSpPr txBox="1"/>
          <p:nvPr/>
        </p:nvSpPr>
        <p:spPr>
          <a:xfrm>
            <a:off x="82600" y="188846"/>
            <a:ext cx="3825240" cy="101346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Degree</a:t>
            </a:r>
            <a:r>
              <a:rPr sz="1400" spc="-20" dirty="0">
                <a:solidFill>
                  <a:srgbClr val="3333B2"/>
                </a:solidFill>
                <a:latin typeface="Arial"/>
                <a:cs typeface="Arial"/>
              </a:rPr>
              <a:t> </a:t>
            </a:r>
            <a:r>
              <a:rPr sz="1400" spc="10" dirty="0">
                <a:solidFill>
                  <a:srgbClr val="3333B2"/>
                </a:solidFill>
                <a:latin typeface="Arial"/>
                <a:cs typeface="Arial"/>
              </a:rPr>
              <a:t>of</a:t>
            </a:r>
            <a:r>
              <a:rPr sz="1400" spc="-25" dirty="0">
                <a:solidFill>
                  <a:srgbClr val="3333B2"/>
                </a:solidFill>
                <a:latin typeface="Arial"/>
                <a:cs typeface="Arial"/>
              </a:rPr>
              <a:t> </a:t>
            </a:r>
            <a:r>
              <a:rPr sz="1400" spc="15" dirty="0">
                <a:solidFill>
                  <a:srgbClr val="3333B2"/>
                </a:solidFill>
                <a:latin typeface="Arial"/>
                <a:cs typeface="Arial"/>
              </a:rPr>
              <a:t>transparency</a:t>
            </a:r>
            <a:endParaRPr sz="1400" dirty="0">
              <a:latin typeface="Arial"/>
              <a:cs typeface="Arial"/>
            </a:endParaRPr>
          </a:p>
          <a:p>
            <a:pPr>
              <a:lnSpc>
                <a:spcPct val="100000"/>
              </a:lnSpc>
              <a:spcBef>
                <a:spcPts val="15"/>
              </a:spcBef>
            </a:pPr>
            <a:endParaRPr sz="1450" dirty="0">
              <a:latin typeface="Arial"/>
              <a:cs typeface="Arial"/>
            </a:endParaRPr>
          </a:p>
          <a:p>
            <a:pPr marL="27686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273050">
              <a:lnSpc>
                <a:spcPts val="1170"/>
              </a:lnSpc>
            </a:pPr>
            <a:r>
              <a:rPr sz="1000" spc="-5" dirty="0">
                <a:latin typeface="Arial"/>
                <a:cs typeface="Arial"/>
              </a:rPr>
              <a:t>Aiming at</a:t>
            </a:r>
            <a:r>
              <a:rPr sz="1000" dirty="0">
                <a:latin typeface="Arial"/>
                <a:cs typeface="Arial"/>
              </a:rPr>
              <a:t> </a:t>
            </a:r>
            <a:r>
              <a:rPr sz="1000" spc="-5" dirty="0">
                <a:latin typeface="Arial"/>
                <a:cs typeface="Arial"/>
              </a:rPr>
              <a:t>full distribution</a:t>
            </a:r>
            <a:r>
              <a:rPr sz="1000" dirty="0">
                <a:latin typeface="Arial"/>
                <a:cs typeface="Arial"/>
              </a:rPr>
              <a:t> </a:t>
            </a:r>
            <a:r>
              <a:rPr sz="1000" spc="-5" dirty="0">
                <a:latin typeface="Arial"/>
                <a:cs typeface="Arial"/>
              </a:rPr>
              <a:t>transparency </a:t>
            </a:r>
            <a:r>
              <a:rPr sz="1000" spc="-15" dirty="0">
                <a:latin typeface="Arial"/>
                <a:cs typeface="Arial"/>
              </a:rPr>
              <a:t>may</a:t>
            </a:r>
            <a:r>
              <a:rPr sz="1000" dirty="0">
                <a:latin typeface="Arial"/>
                <a:cs typeface="Arial"/>
              </a:rPr>
              <a:t> </a:t>
            </a:r>
            <a:r>
              <a:rPr sz="1000" spc="-5" dirty="0">
                <a:latin typeface="Arial"/>
                <a:cs typeface="Arial"/>
              </a:rPr>
              <a:t>be too</a:t>
            </a:r>
            <a:r>
              <a:rPr sz="1000" dirty="0">
                <a:latin typeface="Arial"/>
                <a:cs typeface="Arial"/>
              </a:rPr>
              <a:t> </a:t>
            </a:r>
            <a:r>
              <a:rPr sz="1000" spc="-5" dirty="0">
                <a:latin typeface="Arial"/>
                <a:cs typeface="Arial"/>
              </a:rPr>
              <a:t>much:</a:t>
            </a:r>
            <a:endParaRPr sz="1000" dirty="0">
              <a:latin typeface="Arial"/>
              <a:cs typeface="Arial"/>
            </a:endParaRPr>
          </a:p>
          <a:p>
            <a:pPr marL="554355" indent="-168275">
              <a:lnSpc>
                <a:spcPct val="100000"/>
              </a:lnSpc>
              <a:spcBef>
                <a:spcPts val="590"/>
              </a:spcBef>
              <a:buClr>
                <a:srgbClr val="3333B2"/>
              </a:buClr>
              <a:buChar char="►"/>
              <a:tabLst>
                <a:tab pos="554990" algn="l"/>
              </a:tabLst>
            </a:pPr>
            <a:r>
              <a:rPr sz="1000" spc="-5" dirty="0">
                <a:latin typeface="Arial"/>
                <a:cs typeface="Arial"/>
              </a:rPr>
              <a:t>There are</a:t>
            </a:r>
            <a:r>
              <a:rPr sz="1000" dirty="0">
                <a:latin typeface="Arial"/>
                <a:cs typeface="Arial"/>
              </a:rPr>
              <a:t> </a:t>
            </a:r>
            <a:r>
              <a:rPr sz="1000" spc="-5" dirty="0">
                <a:latin typeface="Arial"/>
                <a:cs typeface="Arial"/>
              </a:rPr>
              <a:t>communication</a:t>
            </a:r>
            <a:r>
              <a:rPr sz="1000" dirty="0">
                <a:latin typeface="Arial"/>
                <a:cs typeface="Arial"/>
              </a:rPr>
              <a:t> </a:t>
            </a:r>
            <a:r>
              <a:rPr sz="1000" spc="-5" dirty="0">
                <a:latin typeface="Arial"/>
                <a:cs typeface="Arial"/>
              </a:rPr>
              <a:t>latencies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hidden</a:t>
            </a:r>
            <a:endParaRPr sz="1000" dirty="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052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Degree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 distribution transparency</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Making</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 transparent</a:t>
            </a:r>
            <a:endParaRPr sz="600">
              <a:latin typeface="Arial"/>
              <a:cs typeface="Arial"/>
            </a:endParaRPr>
          </a:p>
        </p:txBody>
      </p:sp>
      <p:sp>
        <p:nvSpPr>
          <p:cNvPr id="4" name="object 4"/>
          <p:cNvSpPr txBox="1"/>
          <p:nvPr/>
        </p:nvSpPr>
        <p:spPr>
          <a:xfrm>
            <a:off x="82600" y="188846"/>
            <a:ext cx="4219575" cy="179832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Degree</a:t>
            </a:r>
            <a:r>
              <a:rPr sz="1400" spc="-20" dirty="0">
                <a:solidFill>
                  <a:srgbClr val="3333B2"/>
                </a:solidFill>
                <a:latin typeface="Arial"/>
                <a:cs typeface="Arial"/>
              </a:rPr>
              <a:t> </a:t>
            </a:r>
            <a:r>
              <a:rPr sz="1400" spc="10" dirty="0">
                <a:solidFill>
                  <a:srgbClr val="3333B2"/>
                </a:solidFill>
                <a:latin typeface="Arial"/>
                <a:cs typeface="Arial"/>
              </a:rPr>
              <a:t>of</a:t>
            </a:r>
            <a:r>
              <a:rPr sz="1400" spc="-25" dirty="0">
                <a:solidFill>
                  <a:srgbClr val="3333B2"/>
                </a:solidFill>
                <a:latin typeface="Arial"/>
                <a:cs typeface="Arial"/>
              </a:rPr>
              <a:t> </a:t>
            </a:r>
            <a:r>
              <a:rPr sz="1400" spc="15" dirty="0">
                <a:solidFill>
                  <a:srgbClr val="3333B2"/>
                </a:solidFill>
                <a:latin typeface="Arial"/>
                <a:cs typeface="Arial"/>
              </a:rPr>
              <a:t>transparency</a:t>
            </a:r>
            <a:endParaRPr sz="1400" dirty="0">
              <a:latin typeface="Arial"/>
              <a:cs typeface="Arial"/>
            </a:endParaRPr>
          </a:p>
          <a:p>
            <a:pPr>
              <a:lnSpc>
                <a:spcPct val="100000"/>
              </a:lnSpc>
              <a:spcBef>
                <a:spcPts val="15"/>
              </a:spcBef>
            </a:pPr>
            <a:endParaRPr sz="1450" dirty="0">
              <a:latin typeface="Arial"/>
              <a:cs typeface="Arial"/>
            </a:endParaRPr>
          </a:p>
          <a:p>
            <a:pPr marL="27686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273050">
              <a:lnSpc>
                <a:spcPts val="1170"/>
              </a:lnSpc>
            </a:pPr>
            <a:r>
              <a:rPr sz="1000" spc="-5" dirty="0">
                <a:latin typeface="Arial"/>
                <a:cs typeface="Arial"/>
              </a:rPr>
              <a:t>Aiming at</a:t>
            </a:r>
            <a:r>
              <a:rPr sz="1000" dirty="0">
                <a:latin typeface="Arial"/>
                <a:cs typeface="Arial"/>
              </a:rPr>
              <a:t> </a:t>
            </a:r>
            <a:r>
              <a:rPr sz="1000" spc="-5" dirty="0">
                <a:latin typeface="Arial"/>
                <a:cs typeface="Arial"/>
              </a:rPr>
              <a:t>full distribution</a:t>
            </a:r>
            <a:r>
              <a:rPr sz="1000" dirty="0">
                <a:latin typeface="Arial"/>
                <a:cs typeface="Arial"/>
              </a:rPr>
              <a:t> </a:t>
            </a:r>
            <a:r>
              <a:rPr sz="1000" spc="-5" dirty="0">
                <a:latin typeface="Arial"/>
                <a:cs typeface="Arial"/>
              </a:rPr>
              <a:t>transparency </a:t>
            </a:r>
            <a:r>
              <a:rPr sz="1000" spc="-15" dirty="0">
                <a:latin typeface="Arial"/>
                <a:cs typeface="Arial"/>
              </a:rPr>
              <a:t>may</a:t>
            </a:r>
            <a:r>
              <a:rPr sz="1000" dirty="0">
                <a:latin typeface="Arial"/>
                <a:cs typeface="Arial"/>
              </a:rPr>
              <a:t> </a:t>
            </a:r>
            <a:r>
              <a:rPr sz="1000" spc="-5" dirty="0">
                <a:latin typeface="Arial"/>
                <a:cs typeface="Arial"/>
              </a:rPr>
              <a:t>be too</a:t>
            </a:r>
            <a:r>
              <a:rPr sz="1000" dirty="0">
                <a:latin typeface="Arial"/>
                <a:cs typeface="Arial"/>
              </a:rPr>
              <a:t> </a:t>
            </a:r>
            <a:r>
              <a:rPr sz="1000" spc="-5" dirty="0">
                <a:latin typeface="Arial"/>
                <a:cs typeface="Arial"/>
              </a:rPr>
              <a:t>much:</a:t>
            </a:r>
            <a:endParaRPr sz="1000" dirty="0">
              <a:latin typeface="Arial"/>
              <a:cs typeface="Arial"/>
            </a:endParaRPr>
          </a:p>
          <a:p>
            <a:pPr marL="554355" indent="-168275">
              <a:lnSpc>
                <a:spcPts val="1200"/>
              </a:lnSpc>
              <a:spcBef>
                <a:spcPts val="590"/>
              </a:spcBef>
              <a:buClr>
                <a:srgbClr val="3333B2"/>
              </a:buClr>
              <a:buChar char="►"/>
              <a:tabLst>
                <a:tab pos="554990" algn="l"/>
              </a:tabLst>
            </a:pPr>
            <a:r>
              <a:rPr sz="1000" spc="-5" dirty="0">
                <a:latin typeface="Arial"/>
                <a:cs typeface="Arial"/>
              </a:rPr>
              <a:t>There are</a:t>
            </a:r>
            <a:r>
              <a:rPr sz="1000" dirty="0">
                <a:latin typeface="Arial"/>
                <a:cs typeface="Arial"/>
              </a:rPr>
              <a:t> </a:t>
            </a:r>
            <a:r>
              <a:rPr sz="1000" spc="-5" dirty="0">
                <a:latin typeface="Arial"/>
                <a:cs typeface="Arial"/>
              </a:rPr>
              <a:t>communication</a:t>
            </a:r>
            <a:r>
              <a:rPr sz="1000" dirty="0">
                <a:latin typeface="Arial"/>
                <a:cs typeface="Arial"/>
              </a:rPr>
              <a:t> </a:t>
            </a:r>
            <a:r>
              <a:rPr sz="1000" spc="-5" dirty="0">
                <a:latin typeface="Arial"/>
                <a:cs typeface="Arial"/>
              </a:rPr>
              <a:t>latencies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hidden</a:t>
            </a:r>
            <a:endParaRPr sz="1000" dirty="0">
              <a:latin typeface="Arial"/>
              <a:cs typeface="Arial"/>
            </a:endParaRPr>
          </a:p>
          <a:p>
            <a:pPr marL="554355" marR="43180" indent="-168275">
              <a:lnSpc>
                <a:spcPts val="1200"/>
              </a:lnSpc>
              <a:spcBef>
                <a:spcPts val="40"/>
              </a:spcBef>
              <a:buClr>
                <a:srgbClr val="3333B2"/>
              </a:buClr>
              <a:buChar char="►"/>
              <a:tabLst>
                <a:tab pos="554990" algn="l"/>
              </a:tabLst>
            </a:pPr>
            <a:r>
              <a:rPr sz="1000" spc="-5" dirty="0">
                <a:solidFill>
                  <a:srgbClr val="FA0000"/>
                </a:solidFill>
                <a:latin typeface="Arial"/>
                <a:cs typeface="Arial"/>
              </a:rPr>
              <a:t>Completely</a:t>
            </a:r>
            <a:r>
              <a:rPr sz="1000" spc="-10" dirty="0">
                <a:solidFill>
                  <a:srgbClr val="FA0000"/>
                </a:solidFill>
                <a:latin typeface="Arial"/>
                <a:cs typeface="Arial"/>
              </a:rPr>
              <a:t> </a:t>
            </a:r>
            <a:r>
              <a:rPr sz="1000" spc="-5" dirty="0">
                <a:solidFill>
                  <a:srgbClr val="FA0000"/>
                </a:solidFill>
                <a:latin typeface="Arial"/>
                <a:cs typeface="Arial"/>
              </a:rPr>
              <a:t>hiding</a:t>
            </a:r>
            <a:r>
              <a:rPr sz="1000" spc="-10" dirty="0">
                <a:solidFill>
                  <a:srgbClr val="FA0000"/>
                </a:solidFill>
                <a:latin typeface="Arial"/>
                <a:cs typeface="Arial"/>
              </a:rPr>
              <a:t> failures </a:t>
            </a:r>
            <a:r>
              <a:rPr sz="1000" spc="-5" dirty="0">
                <a:latin typeface="Arial"/>
                <a:cs typeface="Arial"/>
              </a:rPr>
              <a:t>of</a:t>
            </a:r>
            <a:r>
              <a:rPr sz="1000" spc="-10" dirty="0">
                <a:latin typeface="Arial"/>
                <a:cs typeface="Arial"/>
              </a:rPr>
              <a:t> </a:t>
            </a:r>
            <a:r>
              <a:rPr sz="1000" spc="-5" dirty="0">
                <a:latin typeface="Arial"/>
                <a:cs typeface="Arial"/>
              </a:rPr>
              <a:t>networks</a:t>
            </a:r>
            <a:r>
              <a:rPr sz="1000" spc="-1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nodes</a:t>
            </a:r>
            <a:r>
              <a:rPr sz="1000" spc="-10"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(theoretically </a:t>
            </a:r>
            <a:r>
              <a:rPr sz="1000" spc="-26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practically) </a:t>
            </a:r>
            <a:r>
              <a:rPr sz="1000" spc="-5" dirty="0">
                <a:solidFill>
                  <a:srgbClr val="0000FA"/>
                </a:solidFill>
                <a:latin typeface="Arial"/>
                <a:cs typeface="Arial"/>
              </a:rPr>
              <a:t>impossible</a:t>
            </a:r>
            <a:endParaRPr sz="1000" dirty="0">
              <a:latin typeface="Arial"/>
              <a:cs typeface="Arial"/>
            </a:endParaRPr>
          </a:p>
          <a:p>
            <a:pPr marL="831215" lvl="1" indent="-168275">
              <a:lnSpc>
                <a:spcPts val="1200"/>
              </a:lnSpc>
              <a:spcBef>
                <a:spcPts val="150"/>
              </a:spcBef>
              <a:buClr>
                <a:srgbClr val="3333B2"/>
              </a:buClr>
              <a:buChar char="►"/>
              <a:tabLst>
                <a:tab pos="831850" algn="l"/>
              </a:tabLst>
            </a:pPr>
            <a:r>
              <a:rPr sz="1000" spc="-50" dirty="0">
                <a:latin typeface="Arial"/>
                <a:cs typeface="Arial"/>
              </a:rPr>
              <a:t>You</a:t>
            </a:r>
            <a:r>
              <a:rPr sz="1000" dirty="0">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distinguish</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slow</a:t>
            </a:r>
            <a:r>
              <a:rPr sz="1000" dirty="0">
                <a:latin typeface="Arial"/>
                <a:cs typeface="Arial"/>
              </a:rPr>
              <a:t> </a:t>
            </a:r>
            <a:r>
              <a:rPr sz="1000" spc="-5" dirty="0">
                <a:latin typeface="Arial"/>
                <a:cs typeface="Arial"/>
              </a:rPr>
              <a:t>computer</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failing</a:t>
            </a:r>
            <a:r>
              <a:rPr sz="1000" dirty="0">
                <a:latin typeface="Arial"/>
                <a:cs typeface="Arial"/>
              </a:rPr>
              <a:t> </a:t>
            </a:r>
            <a:r>
              <a:rPr sz="1000" spc="-5" dirty="0">
                <a:latin typeface="Arial"/>
                <a:cs typeface="Arial"/>
              </a:rPr>
              <a:t>one</a:t>
            </a:r>
            <a:endParaRPr sz="1000" dirty="0">
              <a:latin typeface="Arial"/>
              <a:cs typeface="Arial"/>
            </a:endParaRPr>
          </a:p>
          <a:p>
            <a:pPr marL="831215" marR="141605" lvl="1" indent="-168275">
              <a:lnSpc>
                <a:spcPts val="1200"/>
              </a:lnSpc>
              <a:spcBef>
                <a:spcPts val="35"/>
              </a:spcBef>
              <a:buClr>
                <a:srgbClr val="3333B2"/>
              </a:buClr>
              <a:buChar char="►"/>
              <a:tabLst>
                <a:tab pos="831850" algn="l"/>
              </a:tabLst>
            </a:pPr>
            <a:r>
              <a:rPr sz="1000" spc="-50" dirty="0">
                <a:latin typeface="Arial"/>
                <a:cs typeface="Arial"/>
              </a:rPr>
              <a:t>You</a:t>
            </a:r>
            <a:r>
              <a:rPr sz="1000" spc="-5" dirty="0">
                <a:latin typeface="Arial"/>
                <a:cs typeface="Arial"/>
              </a:rPr>
              <a:t> can</a:t>
            </a:r>
            <a:r>
              <a:rPr sz="1000" dirty="0">
                <a:latin typeface="Arial"/>
                <a:cs typeface="Arial"/>
              </a:rPr>
              <a:t> </a:t>
            </a:r>
            <a:r>
              <a:rPr sz="1000" spc="-15" dirty="0">
                <a:latin typeface="Arial"/>
                <a:cs typeface="Arial"/>
              </a:rPr>
              <a:t>never</a:t>
            </a:r>
            <a:r>
              <a:rPr sz="1000" spc="-5" dirty="0">
                <a:latin typeface="Arial"/>
                <a:cs typeface="Arial"/>
              </a:rPr>
              <a:t> be</a:t>
            </a:r>
            <a:r>
              <a:rPr sz="1000" dirty="0">
                <a:latin typeface="Arial"/>
                <a:cs typeface="Arial"/>
              </a:rPr>
              <a:t> </a:t>
            </a:r>
            <a:r>
              <a:rPr sz="1000" spc="-5" dirty="0">
                <a:latin typeface="Arial"/>
                <a:cs typeface="Arial"/>
              </a:rPr>
              <a:t>sure that</a:t>
            </a:r>
            <a:r>
              <a:rPr sz="1000" dirty="0">
                <a:latin typeface="Arial"/>
                <a:cs typeface="Arial"/>
              </a:rPr>
              <a:t> </a:t>
            </a:r>
            <a:r>
              <a:rPr sz="1000" spc="-5" dirty="0">
                <a:latin typeface="Arial"/>
                <a:cs typeface="Arial"/>
              </a:rPr>
              <a:t>a server actually</a:t>
            </a:r>
            <a:r>
              <a:rPr sz="1000" dirty="0">
                <a:latin typeface="Arial"/>
                <a:cs typeface="Arial"/>
              </a:rPr>
              <a:t> </a:t>
            </a:r>
            <a:r>
              <a:rPr sz="1000" spc="-5" dirty="0">
                <a:latin typeface="Arial"/>
                <a:cs typeface="Arial"/>
              </a:rPr>
              <a:t>performed an </a:t>
            </a:r>
            <a:r>
              <a:rPr sz="1000" spc="-260" dirty="0">
                <a:latin typeface="Arial"/>
                <a:cs typeface="Arial"/>
              </a:rPr>
              <a:t> </a:t>
            </a:r>
            <a:r>
              <a:rPr sz="1000" spc="-5" dirty="0">
                <a:latin typeface="Arial"/>
                <a:cs typeface="Arial"/>
              </a:rPr>
              <a:t>operation</a:t>
            </a:r>
            <a:r>
              <a:rPr sz="1000" spc="-10" dirty="0">
                <a:latin typeface="Arial"/>
                <a:cs typeface="Arial"/>
              </a:rPr>
              <a:t> before</a:t>
            </a:r>
            <a:r>
              <a:rPr sz="1000" spc="-5" dirty="0">
                <a:latin typeface="Arial"/>
                <a:cs typeface="Arial"/>
              </a:rPr>
              <a:t> a crash</a:t>
            </a:r>
            <a:endParaRPr sz="1000" dirty="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052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Degree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 distribution transparency</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Making</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 transparent</a:t>
            </a:r>
            <a:endParaRPr sz="600">
              <a:latin typeface="Arial"/>
              <a:cs typeface="Arial"/>
            </a:endParaRPr>
          </a:p>
        </p:txBody>
      </p:sp>
      <p:sp>
        <p:nvSpPr>
          <p:cNvPr id="4" name="object 4"/>
          <p:cNvSpPr txBox="1"/>
          <p:nvPr/>
        </p:nvSpPr>
        <p:spPr>
          <a:xfrm>
            <a:off x="82600" y="188846"/>
            <a:ext cx="4219575" cy="275971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Degree</a:t>
            </a:r>
            <a:r>
              <a:rPr sz="1400" spc="-20" dirty="0">
                <a:solidFill>
                  <a:srgbClr val="3333B2"/>
                </a:solidFill>
                <a:latin typeface="Arial"/>
                <a:cs typeface="Arial"/>
              </a:rPr>
              <a:t> </a:t>
            </a:r>
            <a:r>
              <a:rPr sz="1400" spc="10" dirty="0">
                <a:solidFill>
                  <a:srgbClr val="3333B2"/>
                </a:solidFill>
                <a:latin typeface="Arial"/>
                <a:cs typeface="Arial"/>
              </a:rPr>
              <a:t>of</a:t>
            </a:r>
            <a:r>
              <a:rPr sz="1400" spc="-25" dirty="0">
                <a:solidFill>
                  <a:srgbClr val="3333B2"/>
                </a:solidFill>
                <a:latin typeface="Arial"/>
                <a:cs typeface="Arial"/>
              </a:rPr>
              <a:t> </a:t>
            </a:r>
            <a:r>
              <a:rPr sz="1400" spc="15" dirty="0">
                <a:solidFill>
                  <a:srgbClr val="3333B2"/>
                </a:solidFill>
                <a:latin typeface="Arial"/>
                <a:cs typeface="Arial"/>
              </a:rPr>
              <a:t>transparency</a:t>
            </a:r>
            <a:endParaRPr sz="1400" dirty="0">
              <a:latin typeface="Arial"/>
              <a:cs typeface="Arial"/>
            </a:endParaRPr>
          </a:p>
          <a:p>
            <a:pPr>
              <a:lnSpc>
                <a:spcPct val="100000"/>
              </a:lnSpc>
              <a:spcBef>
                <a:spcPts val="15"/>
              </a:spcBef>
            </a:pPr>
            <a:endParaRPr sz="1450" dirty="0">
              <a:latin typeface="Arial"/>
              <a:cs typeface="Arial"/>
            </a:endParaRPr>
          </a:p>
          <a:p>
            <a:pPr marL="27686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273050">
              <a:lnSpc>
                <a:spcPts val="1170"/>
              </a:lnSpc>
            </a:pPr>
            <a:r>
              <a:rPr sz="1000" spc="-5" dirty="0">
                <a:latin typeface="Arial"/>
                <a:cs typeface="Arial"/>
              </a:rPr>
              <a:t>Aiming at</a:t>
            </a:r>
            <a:r>
              <a:rPr sz="1000" dirty="0">
                <a:latin typeface="Arial"/>
                <a:cs typeface="Arial"/>
              </a:rPr>
              <a:t> </a:t>
            </a:r>
            <a:r>
              <a:rPr sz="1000" spc="-5" dirty="0">
                <a:latin typeface="Arial"/>
                <a:cs typeface="Arial"/>
              </a:rPr>
              <a:t>full distribution</a:t>
            </a:r>
            <a:r>
              <a:rPr sz="1000" dirty="0">
                <a:latin typeface="Arial"/>
                <a:cs typeface="Arial"/>
              </a:rPr>
              <a:t> </a:t>
            </a:r>
            <a:r>
              <a:rPr sz="1000" spc="-5" dirty="0">
                <a:latin typeface="Arial"/>
                <a:cs typeface="Arial"/>
              </a:rPr>
              <a:t>transparency </a:t>
            </a:r>
            <a:r>
              <a:rPr sz="1000" spc="-15" dirty="0">
                <a:latin typeface="Arial"/>
                <a:cs typeface="Arial"/>
              </a:rPr>
              <a:t>may</a:t>
            </a:r>
            <a:r>
              <a:rPr sz="1000" dirty="0">
                <a:latin typeface="Arial"/>
                <a:cs typeface="Arial"/>
              </a:rPr>
              <a:t> </a:t>
            </a:r>
            <a:r>
              <a:rPr sz="1000" spc="-5" dirty="0">
                <a:latin typeface="Arial"/>
                <a:cs typeface="Arial"/>
              </a:rPr>
              <a:t>be too</a:t>
            </a:r>
            <a:r>
              <a:rPr sz="1000" dirty="0">
                <a:latin typeface="Arial"/>
                <a:cs typeface="Arial"/>
              </a:rPr>
              <a:t> </a:t>
            </a:r>
            <a:r>
              <a:rPr sz="1000" spc="-5" dirty="0">
                <a:latin typeface="Arial"/>
                <a:cs typeface="Arial"/>
              </a:rPr>
              <a:t>much:</a:t>
            </a:r>
            <a:endParaRPr sz="1000" dirty="0">
              <a:latin typeface="Arial"/>
              <a:cs typeface="Arial"/>
            </a:endParaRPr>
          </a:p>
          <a:p>
            <a:pPr marL="554355" indent="-168275">
              <a:lnSpc>
                <a:spcPts val="1200"/>
              </a:lnSpc>
              <a:spcBef>
                <a:spcPts val="590"/>
              </a:spcBef>
              <a:buClr>
                <a:srgbClr val="3333B2"/>
              </a:buClr>
              <a:buChar char="►"/>
              <a:tabLst>
                <a:tab pos="554990" algn="l"/>
              </a:tabLst>
            </a:pPr>
            <a:r>
              <a:rPr sz="1000" spc="-5" dirty="0">
                <a:latin typeface="Arial"/>
                <a:cs typeface="Arial"/>
              </a:rPr>
              <a:t>There are</a:t>
            </a:r>
            <a:r>
              <a:rPr sz="1000" dirty="0">
                <a:latin typeface="Arial"/>
                <a:cs typeface="Arial"/>
              </a:rPr>
              <a:t> </a:t>
            </a:r>
            <a:r>
              <a:rPr sz="1000" spc="-5" dirty="0">
                <a:latin typeface="Arial"/>
                <a:cs typeface="Arial"/>
              </a:rPr>
              <a:t>communication</a:t>
            </a:r>
            <a:r>
              <a:rPr sz="1000" dirty="0">
                <a:latin typeface="Arial"/>
                <a:cs typeface="Arial"/>
              </a:rPr>
              <a:t> </a:t>
            </a:r>
            <a:r>
              <a:rPr sz="1000" spc="-5" dirty="0">
                <a:latin typeface="Arial"/>
                <a:cs typeface="Arial"/>
              </a:rPr>
              <a:t>latencies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hidden</a:t>
            </a:r>
            <a:endParaRPr sz="1000" dirty="0">
              <a:latin typeface="Arial"/>
              <a:cs typeface="Arial"/>
            </a:endParaRPr>
          </a:p>
          <a:p>
            <a:pPr marL="554355" marR="43180" indent="-168275">
              <a:lnSpc>
                <a:spcPts val="1200"/>
              </a:lnSpc>
              <a:spcBef>
                <a:spcPts val="40"/>
              </a:spcBef>
              <a:buClr>
                <a:srgbClr val="3333B2"/>
              </a:buClr>
              <a:buChar char="►"/>
              <a:tabLst>
                <a:tab pos="554990" algn="l"/>
              </a:tabLst>
            </a:pPr>
            <a:r>
              <a:rPr sz="1000" spc="-5" dirty="0">
                <a:solidFill>
                  <a:srgbClr val="FA0000"/>
                </a:solidFill>
                <a:latin typeface="Arial"/>
                <a:cs typeface="Arial"/>
              </a:rPr>
              <a:t>Completely</a:t>
            </a:r>
            <a:r>
              <a:rPr sz="1000" spc="-10" dirty="0">
                <a:solidFill>
                  <a:srgbClr val="FA0000"/>
                </a:solidFill>
                <a:latin typeface="Arial"/>
                <a:cs typeface="Arial"/>
              </a:rPr>
              <a:t> </a:t>
            </a:r>
            <a:r>
              <a:rPr sz="1000" spc="-5" dirty="0">
                <a:solidFill>
                  <a:srgbClr val="FA0000"/>
                </a:solidFill>
                <a:latin typeface="Arial"/>
                <a:cs typeface="Arial"/>
              </a:rPr>
              <a:t>hiding</a:t>
            </a:r>
            <a:r>
              <a:rPr sz="1000" spc="-10" dirty="0">
                <a:solidFill>
                  <a:srgbClr val="FA0000"/>
                </a:solidFill>
                <a:latin typeface="Arial"/>
                <a:cs typeface="Arial"/>
              </a:rPr>
              <a:t> failures </a:t>
            </a:r>
            <a:r>
              <a:rPr sz="1000" spc="-5" dirty="0">
                <a:latin typeface="Arial"/>
                <a:cs typeface="Arial"/>
              </a:rPr>
              <a:t>of</a:t>
            </a:r>
            <a:r>
              <a:rPr sz="1000" spc="-10" dirty="0">
                <a:latin typeface="Arial"/>
                <a:cs typeface="Arial"/>
              </a:rPr>
              <a:t> </a:t>
            </a:r>
            <a:r>
              <a:rPr sz="1000" spc="-5" dirty="0">
                <a:latin typeface="Arial"/>
                <a:cs typeface="Arial"/>
              </a:rPr>
              <a:t>networks</a:t>
            </a:r>
            <a:r>
              <a:rPr sz="1000" spc="-1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nodes</a:t>
            </a:r>
            <a:r>
              <a:rPr sz="1000" spc="-10"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(theoretically </a:t>
            </a:r>
            <a:r>
              <a:rPr sz="1000" spc="-26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practically) </a:t>
            </a:r>
            <a:r>
              <a:rPr sz="1000" spc="-5" dirty="0">
                <a:solidFill>
                  <a:srgbClr val="0000FA"/>
                </a:solidFill>
                <a:latin typeface="Arial"/>
                <a:cs typeface="Arial"/>
              </a:rPr>
              <a:t>impossible</a:t>
            </a:r>
            <a:endParaRPr sz="1000" dirty="0">
              <a:latin typeface="Arial"/>
              <a:cs typeface="Arial"/>
            </a:endParaRPr>
          </a:p>
          <a:p>
            <a:pPr marL="831215" lvl="1" indent="-168275">
              <a:lnSpc>
                <a:spcPts val="1200"/>
              </a:lnSpc>
              <a:spcBef>
                <a:spcPts val="150"/>
              </a:spcBef>
              <a:buClr>
                <a:srgbClr val="3333B2"/>
              </a:buClr>
              <a:buChar char="►"/>
              <a:tabLst>
                <a:tab pos="831850" algn="l"/>
              </a:tabLst>
            </a:pPr>
            <a:r>
              <a:rPr sz="1000" spc="-50" dirty="0">
                <a:latin typeface="Arial"/>
                <a:cs typeface="Arial"/>
              </a:rPr>
              <a:t>You</a:t>
            </a:r>
            <a:r>
              <a:rPr sz="1000" dirty="0">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distinguish</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slow</a:t>
            </a:r>
            <a:r>
              <a:rPr sz="1000" dirty="0">
                <a:latin typeface="Arial"/>
                <a:cs typeface="Arial"/>
              </a:rPr>
              <a:t> </a:t>
            </a:r>
            <a:r>
              <a:rPr sz="1000" spc="-5" dirty="0">
                <a:latin typeface="Arial"/>
                <a:cs typeface="Arial"/>
              </a:rPr>
              <a:t>computer</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failing</a:t>
            </a:r>
            <a:r>
              <a:rPr sz="1000" dirty="0">
                <a:latin typeface="Arial"/>
                <a:cs typeface="Arial"/>
              </a:rPr>
              <a:t> </a:t>
            </a:r>
            <a:r>
              <a:rPr sz="1000" spc="-5" dirty="0">
                <a:latin typeface="Arial"/>
                <a:cs typeface="Arial"/>
              </a:rPr>
              <a:t>one</a:t>
            </a:r>
            <a:endParaRPr sz="1000" dirty="0">
              <a:latin typeface="Arial"/>
              <a:cs typeface="Arial"/>
            </a:endParaRPr>
          </a:p>
          <a:p>
            <a:pPr marL="831215" marR="141605" lvl="1" indent="-168275">
              <a:lnSpc>
                <a:spcPts val="1200"/>
              </a:lnSpc>
              <a:spcBef>
                <a:spcPts val="35"/>
              </a:spcBef>
              <a:buClr>
                <a:srgbClr val="3333B2"/>
              </a:buClr>
              <a:buChar char="►"/>
              <a:tabLst>
                <a:tab pos="831850" algn="l"/>
              </a:tabLst>
            </a:pPr>
            <a:r>
              <a:rPr sz="1000" spc="-50" dirty="0">
                <a:latin typeface="Arial"/>
                <a:cs typeface="Arial"/>
              </a:rPr>
              <a:t>You</a:t>
            </a:r>
            <a:r>
              <a:rPr sz="1000" spc="-5" dirty="0">
                <a:latin typeface="Arial"/>
                <a:cs typeface="Arial"/>
              </a:rPr>
              <a:t> can</a:t>
            </a:r>
            <a:r>
              <a:rPr sz="1000" dirty="0">
                <a:latin typeface="Arial"/>
                <a:cs typeface="Arial"/>
              </a:rPr>
              <a:t> </a:t>
            </a:r>
            <a:r>
              <a:rPr sz="1000" spc="-15" dirty="0">
                <a:latin typeface="Arial"/>
                <a:cs typeface="Arial"/>
              </a:rPr>
              <a:t>never</a:t>
            </a:r>
            <a:r>
              <a:rPr sz="1000" spc="-5" dirty="0">
                <a:latin typeface="Arial"/>
                <a:cs typeface="Arial"/>
              </a:rPr>
              <a:t> be</a:t>
            </a:r>
            <a:r>
              <a:rPr sz="1000" dirty="0">
                <a:latin typeface="Arial"/>
                <a:cs typeface="Arial"/>
              </a:rPr>
              <a:t> </a:t>
            </a:r>
            <a:r>
              <a:rPr sz="1000" spc="-5" dirty="0">
                <a:latin typeface="Arial"/>
                <a:cs typeface="Arial"/>
              </a:rPr>
              <a:t>sure that</a:t>
            </a:r>
            <a:r>
              <a:rPr sz="1000" dirty="0">
                <a:latin typeface="Arial"/>
                <a:cs typeface="Arial"/>
              </a:rPr>
              <a:t> </a:t>
            </a:r>
            <a:r>
              <a:rPr sz="1000" spc="-5" dirty="0">
                <a:latin typeface="Arial"/>
                <a:cs typeface="Arial"/>
              </a:rPr>
              <a:t>a server actually</a:t>
            </a:r>
            <a:r>
              <a:rPr sz="1000" dirty="0">
                <a:latin typeface="Arial"/>
                <a:cs typeface="Arial"/>
              </a:rPr>
              <a:t> </a:t>
            </a:r>
            <a:r>
              <a:rPr sz="1000" spc="-5" dirty="0">
                <a:latin typeface="Arial"/>
                <a:cs typeface="Arial"/>
              </a:rPr>
              <a:t>performed an </a:t>
            </a:r>
            <a:r>
              <a:rPr sz="1000" spc="-260" dirty="0">
                <a:latin typeface="Arial"/>
                <a:cs typeface="Arial"/>
              </a:rPr>
              <a:t> </a:t>
            </a:r>
            <a:r>
              <a:rPr sz="1000" spc="-5" dirty="0">
                <a:latin typeface="Arial"/>
                <a:cs typeface="Arial"/>
              </a:rPr>
              <a:t>operation</a:t>
            </a:r>
            <a:r>
              <a:rPr sz="1000" spc="-10" dirty="0">
                <a:latin typeface="Arial"/>
                <a:cs typeface="Arial"/>
              </a:rPr>
              <a:t> before</a:t>
            </a:r>
            <a:r>
              <a:rPr sz="1000" spc="-5" dirty="0">
                <a:latin typeface="Arial"/>
                <a:cs typeface="Arial"/>
              </a:rPr>
              <a:t> a crash</a:t>
            </a:r>
            <a:endParaRPr sz="1000" dirty="0">
              <a:latin typeface="Arial"/>
              <a:cs typeface="Arial"/>
            </a:endParaRPr>
          </a:p>
          <a:p>
            <a:pPr marL="554355" marR="105410" indent="-168275">
              <a:lnSpc>
                <a:spcPct val="100000"/>
              </a:lnSpc>
              <a:spcBef>
                <a:spcPts val="150"/>
              </a:spcBef>
              <a:buClr>
                <a:srgbClr val="3333B2"/>
              </a:buClr>
              <a:buChar char="►"/>
              <a:tabLst>
                <a:tab pos="554990" algn="l"/>
              </a:tabLst>
            </a:pPr>
            <a:r>
              <a:rPr sz="1000" spc="-5" dirty="0">
                <a:latin typeface="Arial"/>
                <a:cs typeface="Arial"/>
              </a:rPr>
              <a:t>Full</a:t>
            </a:r>
            <a:r>
              <a:rPr sz="1000" dirty="0">
                <a:latin typeface="Arial"/>
                <a:cs typeface="Arial"/>
              </a:rPr>
              <a:t> </a:t>
            </a:r>
            <a:r>
              <a:rPr sz="1000" spc="-5" dirty="0">
                <a:latin typeface="Arial"/>
                <a:cs typeface="Arial"/>
              </a:rPr>
              <a:t>transparency</a:t>
            </a:r>
            <a:r>
              <a:rPr sz="1000" spc="5" dirty="0">
                <a:latin typeface="Arial"/>
                <a:cs typeface="Arial"/>
              </a:rPr>
              <a:t> </a:t>
            </a:r>
            <a:r>
              <a:rPr sz="1000" spc="-5" dirty="0">
                <a:latin typeface="Arial"/>
                <a:cs typeface="Arial"/>
              </a:rPr>
              <a:t>will</a:t>
            </a:r>
            <a:r>
              <a:rPr sz="1000" spc="5" dirty="0">
                <a:latin typeface="Arial"/>
                <a:cs typeface="Arial"/>
              </a:rPr>
              <a:t> </a:t>
            </a:r>
            <a:r>
              <a:rPr sz="1000" spc="-5" dirty="0">
                <a:solidFill>
                  <a:srgbClr val="FA0000"/>
                </a:solidFill>
                <a:latin typeface="Arial"/>
                <a:cs typeface="Arial"/>
              </a:rPr>
              <a:t>cost</a:t>
            </a:r>
            <a:r>
              <a:rPr sz="1000" spc="5" dirty="0">
                <a:solidFill>
                  <a:srgbClr val="FA0000"/>
                </a:solidFill>
                <a:latin typeface="Arial"/>
                <a:cs typeface="Arial"/>
              </a:rPr>
              <a:t> </a:t>
            </a:r>
            <a:r>
              <a:rPr sz="1000" spc="-5" dirty="0">
                <a:solidFill>
                  <a:srgbClr val="FA0000"/>
                </a:solidFill>
                <a:latin typeface="Arial"/>
                <a:cs typeface="Arial"/>
              </a:rPr>
              <a:t>performance</a:t>
            </a:r>
            <a:r>
              <a:rPr sz="1000" spc="-5" dirty="0">
                <a:latin typeface="Arial"/>
                <a:cs typeface="Arial"/>
              </a:rPr>
              <a:t>,</a:t>
            </a:r>
            <a:r>
              <a:rPr sz="1000" spc="5" dirty="0">
                <a:latin typeface="Arial"/>
                <a:cs typeface="Arial"/>
              </a:rPr>
              <a:t> </a:t>
            </a:r>
            <a:r>
              <a:rPr sz="1000" spc="-10" dirty="0">
                <a:latin typeface="Arial"/>
                <a:cs typeface="Arial"/>
              </a:rPr>
              <a:t>exposing</a:t>
            </a:r>
            <a:r>
              <a:rPr sz="1000" spc="5" dirty="0">
                <a:latin typeface="Arial"/>
                <a:cs typeface="Arial"/>
              </a:rPr>
              <a:t> </a:t>
            </a:r>
            <a:r>
              <a:rPr sz="1000" spc="-5" dirty="0">
                <a:latin typeface="Arial"/>
                <a:cs typeface="Arial"/>
              </a:rPr>
              <a:t>distribution</a:t>
            </a:r>
            <a:r>
              <a:rPr sz="1000" spc="5" dirty="0">
                <a:latin typeface="Arial"/>
                <a:cs typeface="Arial"/>
              </a:rPr>
              <a:t> </a:t>
            </a:r>
            <a:r>
              <a:rPr sz="1000" spc="-5" dirty="0">
                <a:latin typeface="Arial"/>
                <a:cs typeface="Arial"/>
              </a:rPr>
              <a:t>of </a:t>
            </a:r>
            <a:r>
              <a:rPr sz="1000" spc="-26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system</a:t>
            </a:r>
            <a:endParaRPr sz="1000" dirty="0">
              <a:latin typeface="Arial"/>
              <a:cs typeface="Arial"/>
            </a:endParaRPr>
          </a:p>
          <a:p>
            <a:pPr marL="831215" marR="184785" lvl="1" indent="-168275">
              <a:lnSpc>
                <a:spcPct val="100000"/>
              </a:lnSpc>
              <a:spcBef>
                <a:spcPts val="190"/>
              </a:spcBef>
              <a:buClr>
                <a:srgbClr val="3333B2"/>
              </a:buClr>
              <a:buChar char="►"/>
              <a:tabLst>
                <a:tab pos="831850" algn="l"/>
              </a:tabLst>
            </a:pPr>
            <a:r>
              <a:rPr sz="1000" spc="-10" dirty="0">
                <a:latin typeface="Arial"/>
                <a:cs typeface="Arial"/>
              </a:rPr>
              <a:t>Keeping</a:t>
            </a:r>
            <a:r>
              <a:rPr sz="1000" dirty="0">
                <a:latin typeface="Arial"/>
                <a:cs typeface="Arial"/>
              </a:rPr>
              <a:t> </a:t>
            </a:r>
            <a:r>
              <a:rPr sz="1000" spc="-5" dirty="0">
                <a:latin typeface="Arial"/>
                <a:cs typeface="Arial"/>
              </a:rPr>
              <a:t>replicas</a:t>
            </a:r>
            <a:r>
              <a:rPr sz="1000" spc="5" dirty="0">
                <a:latin typeface="Arial"/>
                <a:cs typeface="Arial"/>
              </a:rPr>
              <a:t> </a:t>
            </a:r>
            <a:r>
              <a:rPr sz="1000" spc="-10" dirty="0">
                <a:solidFill>
                  <a:srgbClr val="0000FA"/>
                </a:solidFill>
                <a:latin typeface="Arial"/>
                <a:cs typeface="Arial"/>
              </a:rPr>
              <a:t>exactly</a:t>
            </a:r>
            <a:r>
              <a:rPr sz="1000" spc="5" dirty="0">
                <a:solidFill>
                  <a:srgbClr val="0000FA"/>
                </a:solidFill>
                <a:latin typeface="Arial"/>
                <a:cs typeface="Arial"/>
              </a:rPr>
              <a:t> </a:t>
            </a:r>
            <a:r>
              <a:rPr sz="1000" spc="-5" dirty="0">
                <a:latin typeface="Arial"/>
                <a:cs typeface="Arial"/>
              </a:rPr>
              <a:t>up-to-date</a:t>
            </a:r>
            <a:r>
              <a:rPr sz="1000" spc="5"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master</a:t>
            </a:r>
            <a:r>
              <a:rPr sz="1000" spc="5" dirty="0">
                <a:latin typeface="Arial"/>
                <a:cs typeface="Arial"/>
              </a:rPr>
              <a:t> </a:t>
            </a:r>
            <a:r>
              <a:rPr sz="1000" spc="-10" dirty="0">
                <a:solidFill>
                  <a:srgbClr val="0000FA"/>
                </a:solidFill>
                <a:latin typeface="Arial"/>
                <a:cs typeface="Arial"/>
              </a:rPr>
              <a:t>takes </a:t>
            </a:r>
            <a:r>
              <a:rPr sz="1000" spc="-265" dirty="0">
                <a:solidFill>
                  <a:srgbClr val="0000FA"/>
                </a:solidFill>
                <a:latin typeface="Arial"/>
                <a:cs typeface="Arial"/>
              </a:rPr>
              <a:t> </a:t>
            </a:r>
            <a:r>
              <a:rPr sz="1000" spc="-5" dirty="0">
                <a:solidFill>
                  <a:srgbClr val="0000FA"/>
                </a:solidFill>
                <a:latin typeface="Arial"/>
                <a:cs typeface="Arial"/>
              </a:rPr>
              <a:t>time</a:t>
            </a:r>
            <a:endParaRPr sz="1000" dirty="0">
              <a:latin typeface="Arial"/>
              <a:cs typeface="Arial"/>
            </a:endParaRPr>
          </a:p>
          <a:p>
            <a:pPr marL="831215" marR="447675" lvl="1" indent="-168275">
              <a:lnSpc>
                <a:spcPts val="1200"/>
              </a:lnSpc>
              <a:spcBef>
                <a:spcPts val="35"/>
              </a:spcBef>
              <a:buClr>
                <a:srgbClr val="3333B2"/>
              </a:buClr>
              <a:buChar char="►"/>
              <a:tabLst>
                <a:tab pos="831850" algn="l"/>
              </a:tabLst>
            </a:pPr>
            <a:r>
              <a:rPr sz="1000" spc="-5" dirty="0">
                <a:latin typeface="Arial"/>
                <a:cs typeface="Arial"/>
              </a:rPr>
              <a:t>Immediately flushing</a:t>
            </a:r>
            <a:r>
              <a:rPr sz="1000" dirty="0">
                <a:latin typeface="Arial"/>
                <a:cs typeface="Arial"/>
              </a:rPr>
              <a:t> write </a:t>
            </a:r>
            <a:r>
              <a:rPr sz="1000" spc="-5" dirty="0">
                <a:latin typeface="Arial"/>
                <a:cs typeface="Arial"/>
              </a:rPr>
              <a:t>operations</a:t>
            </a:r>
            <a:r>
              <a:rPr sz="1000" dirty="0">
                <a:latin typeface="Arial"/>
                <a:cs typeface="Arial"/>
              </a:rPr>
              <a:t> </a:t>
            </a:r>
            <a:r>
              <a:rPr sz="1000" spc="-5" dirty="0">
                <a:latin typeface="Arial"/>
                <a:cs typeface="Arial"/>
              </a:rPr>
              <a:t>to disk</a:t>
            </a:r>
            <a:r>
              <a:rPr sz="1000" dirty="0">
                <a:latin typeface="Arial"/>
                <a:cs typeface="Arial"/>
              </a:rPr>
              <a:t> </a:t>
            </a:r>
            <a:r>
              <a:rPr sz="1000" spc="-15" dirty="0">
                <a:latin typeface="Arial"/>
                <a:cs typeface="Arial"/>
              </a:rPr>
              <a:t>for</a:t>
            </a:r>
            <a:r>
              <a:rPr sz="1000" dirty="0">
                <a:latin typeface="Arial"/>
                <a:cs typeface="Arial"/>
              </a:rPr>
              <a:t> </a:t>
            </a:r>
            <a:r>
              <a:rPr sz="1000" spc="-10" dirty="0">
                <a:latin typeface="Arial"/>
                <a:cs typeface="Arial"/>
              </a:rPr>
              <a:t>fault </a:t>
            </a:r>
            <a:r>
              <a:rPr sz="1000" spc="-265" dirty="0">
                <a:latin typeface="Arial"/>
                <a:cs typeface="Arial"/>
              </a:rPr>
              <a:t> </a:t>
            </a:r>
            <a:r>
              <a:rPr sz="1000" spc="-5" dirty="0">
                <a:latin typeface="Arial"/>
                <a:cs typeface="Arial"/>
              </a:rPr>
              <a:t>tolerance</a:t>
            </a:r>
            <a:endParaRPr sz="1000" dirty="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052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Degree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 distribution transparency</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Making</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 transparent</a:t>
            </a:r>
            <a:endParaRPr sz="600">
              <a:latin typeface="Arial"/>
              <a:cs typeface="Arial"/>
            </a:endParaRPr>
          </a:p>
        </p:txBody>
      </p:sp>
      <p:sp>
        <p:nvSpPr>
          <p:cNvPr id="4" name="object 4"/>
          <p:cNvSpPr txBox="1"/>
          <p:nvPr/>
        </p:nvSpPr>
        <p:spPr>
          <a:xfrm>
            <a:off x="82600" y="188846"/>
            <a:ext cx="4216400" cy="193802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Degree</a:t>
            </a:r>
            <a:r>
              <a:rPr sz="1400" spc="-20" dirty="0">
                <a:solidFill>
                  <a:srgbClr val="3333B2"/>
                </a:solidFill>
                <a:latin typeface="Arial"/>
                <a:cs typeface="Arial"/>
              </a:rPr>
              <a:t> </a:t>
            </a:r>
            <a:r>
              <a:rPr sz="1400" spc="10" dirty="0">
                <a:solidFill>
                  <a:srgbClr val="3333B2"/>
                </a:solidFill>
                <a:latin typeface="Arial"/>
                <a:cs typeface="Arial"/>
              </a:rPr>
              <a:t>of</a:t>
            </a:r>
            <a:r>
              <a:rPr sz="1400" spc="-25" dirty="0">
                <a:solidFill>
                  <a:srgbClr val="3333B2"/>
                </a:solidFill>
                <a:latin typeface="Arial"/>
                <a:cs typeface="Arial"/>
              </a:rPr>
              <a:t> </a:t>
            </a:r>
            <a:r>
              <a:rPr sz="1400" spc="15" dirty="0">
                <a:solidFill>
                  <a:srgbClr val="3333B2"/>
                </a:solidFill>
                <a:latin typeface="Arial"/>
                <a:cs typeface="Arial"/>
              </a:rPr>
              <a:t>transparency</a:t>
            </a:r>
            <a:endParaRPr sz="1400" dirty="0">
              <a:latin typeface="Arial"/>
              <a:cs typeface="Arial"/>
            </a:endParaRPr>
          </a:p>
          <a:p>
            <a:pPr>
              <a:lnSpc>
                <a:spcPct val="100000"/>
              </a:lnSpc>
              <a:spcBef>
                <a:spcPts val="35"/>
              </a:spcBef>
            </a:pPr>
            <a:endParaRPr sz="2350" dirty="0">
              <a:latin typeface="Arial"/>
              <a:cs typeface="Arial"/>
            </a:endParaRPr>
          </a:p>
          <a:p>
            <a:pPr marL="276860">
              <a:lnSpc>
                <a:spcPct val="100000"/>
              </a:lnSpc>
            </a:pPr>
            <a:r>
              <a:rPr sz="1200" spc="-5" dirty="0">
                <a:solidFill>
                  <a:srgbClr val="007C00"/>
                </a:solidFill>
                <a:latin typeface="Arial"/>
                <a:cs typeface="Arial"/>
              </a:rPr>
              <a:t>Exposing</a:t>
            </a:r>
            <a:r>
              <a:rPr sz="1200" spc="-15" dirty="0">
                <a:solidFill>
                  <a:srgbClr val="007C00"/>
                </a:solidFill>
                <a:latin typeface="Arial"/>
                <a:cs typeface="Arial"/>
              </a:rPr>
              <a:t> </a:t>
            </a:r>
            <a:r>
              <a:rPr sz="1200" spc="-5" dirty="0">
                <a:solidFill>
                  <a:srgbClr val="007C00"/>
                </a:solidFill>
                <a:latin typeface="Arial"/>
                <a:cs typeface="Arial"/>
              </a:rPr>
              <a:t>distribution</a:t>
            </a:r>
            <a:r>
              <a:rPr sz="1200" spc="-10" dirty="0">
                <a:solidFill>
                  <a:srgbClr val="007C00"/>
                </a:solidFill>
                <a:latin typeface="Arial"/>
                <a:cs typeface="Arial"/>
              </a:rPr>
              <a:t> </a:t>
            </a:r>
            <a:r>
              <a:rPr sz="1200" spc="-20" dirty="0">
                <a:solidFill>
                  <a:srgbClr val="007C00"/>
                </a:solidFill>
                <a:latin typeface="Arial"/>
                <a:cs typeface="Arial"/>
              </a:rPr>
              <a:t>may</a:t>
            </a:r>
            <a:r>
              <a:rPr sz="1200" spc="-10" dirty="0">
                <a:solidFill>
                  <a:srgbClr val="007C00"/>
                </a:solidFill>
                <a:latin typeface="Arial"/>
                <a:cs typeface="Arial"/>
              </a:rPr>
              <a:t> </a:t>
            </a:r>
            <a:r>
              <a:rPr sz="1200" spc="-5" dirty="0">
                <a:solidFill>
                  <a:srgbClr val="007C00"/>
                </a:solidFill>
                <a:latin typeface="Arial"/>
                <a:cs typeface="Arial"/>
              </a:rPr>
              <a:t>be</a:t>
            </a:r>
            <a:r>
              <a:rPr sz="1200" spc="-10" dirty="0">
                <a:solidFill>
                  <a:srgbClr val="007C00"/>
                </a:solidFill>
                <a:latin typeface="Arial"/>
                <a:cs typeface="Arial"/>
              </a:rPr>
              <a:t> </a:t>
            </a:r>
            <a:r>
              <a:rPr sz="1200" spc="-5" dirty="0">
                <a:solidFill>
                  <a:srgbClr val="007C00"/>
                </a:solidFill>
                <a:latin typeface="Arial"/>
                <a:cs typeface="Arial"/>
              </a:rPr>
              <a:t>good</a:t>
            </a:r>
            <a:endParaRPr sz="1200" dirty="0">
              <a:latin typeface="Arial"/>
              <a:cs typeface="Arial"/>
            </a:endParaRPr>
          </a:p>
          <a:p>
            <a:pPr marL="554355" marR="356870" indent="-168275" algn="just">
              <a:lnSpc>
                <a:spcPct val="100000"/>
              </a:lnSpc>
              <a:spcBef>
                <a:spcPts val="790"/>
              </a:spcBef>
              <a:buClr>
                <a:srgbClr val="007C00"/>
              </a:buClr>
              <a:buChar char="►"/>
              <a:tabLst>
                <a:tab pos="554990" algn="l"/>
              </a:tabLst>
            </a:pPr>
            <a:r>
              <a:rPr sz="1000" spc="-5" dirty="0">
                <a:latin typeface="Arial"/>
                <a:cs typeface="Arial"/>
              </a:rPr>
              <a:t>Making use of location-based </a:t>
            </a:r>
            <a:r>
              <a:rPr sz="1000" dirty="0">
                <a:latin typeface="Arial"/>
                <a:cs typeface="Arial"/>
              </a:rPr>
              <a:t>services </a:t>
            </a:r>
            <a:r>
              <a:rPr sz="1000" spc="-5" dirty="0">
                <a:latin typeface="Arial"/>
                <a:cs typeface="Arial"/>
              </a:rPr>
              <a:t>(finding </a:t>
            </a:r>
            <a:r>
              <a:rPr sz="1000" spc="-10" dirty="0">
                <a:latin typeface="Arial"/>
                <a:cs typeface="Arial"/>
              </a:rPr>
              <a:t>your nearby </a:t>
            </a:r>
            <a:r>
              <a:rPr sz="1000" spc="-265" dirty="0">
                <a:latin typeface="Arial"/>
                <a:cs typeface="Arial"/>
              </a:rPr>
              <a:t> </a:t>
            </a:r>
            <a:r>
              <a:rPr sz="1000" spc="-5" dirty="0">
                <a:latin typeface="Arial"/>
                <a:cs typeface="Arial"/>
              </a:rPr>
              <a:t>friends)</a:t>
            </a:r>
            <a:endParaRPr sz="1000" dirty="0">
              <a:latin typeface="Arial"/>
              <a:cs typeface="Arial"/>
            </a:endParaRPr>
          </a:p>
          <a:p>
            <a:pPr marL="554355" indent="-168275" algn="just">
              <a:lnSpc>
                <a:spcPct val="100000"/>
              </a:lnSpc>
              <a:spcBef>
                <a:spcPts val="590"/>
              </a:spcBef>
              <a:buClr>
                <a:srgbClr val="007C00"/>
              </a:buClr>
              <a:buChar char="►"/>
              <a:tabLst>
                <a:tab pos="554990" algn="l"/>
              </a:tabLst>
            </a:pPr>
            <a:r>
              <a:rPr sz="1000" spc="-5" dirty="0">
                <a:latin typeface="Arial"/>
                <a:cs typeface="Arial"/>
              </a:rPr>
              <a:t>When dealing with users in different time </a:t>
            </a:r>
            <a:r>
              <a:rPr sz="1000" spc="-10" dirty="0">
                <a:latin typeface="Arial"/>
                <a:cs typeface="Arial"/>
              </a:rPr>
              <a:t>zones</a:t>
            </a:r>
            <a:endParaRPr sz="1000" dirty="0">
              <a:latin typeface="Arial"/>
              <a:cs typeface="Arial"/>
            </a:endParaRPr>
          </a:p>
          <a:p>
            <a:pPr marL="549910" marR="43180" indent="-163830" algn="just">
              <a:lnSpc>
                <a:spcPct val="100000"/>
              </a:lnSpc>
              <a:spcBef>
                <a:spcPts val="590"/>
              </a:spcBef>
              <a:buClr>
                <a:srgbClr val="007C00"/>
              </a:buClr>
              <a:buChar char="►"/>
              <a:tabLst>
                <a:tab pos="554990" algn="l"/>
              </a:tabLst>
            </a:pPr>
            <a:r>
              <a:rPr sz="1000" spc="-5" dirty="0">
                <a:latin typeface="Arial"/>
                <a:cs typeface="Arial"/>
              </a:rPr>
              <a:t>When it </a:t>
            </a:r>
            <a:r>
              <a:rPr sz="1000" spc="-10" dirty="0">
                <a:latin typeface="Arial"/>
                <a:cs typeface="Arial"/>
              </a:rPr>
              <a:t>makes </a:t>
            </a:r>
            <a:r>
              <a:rPr sz="1000" spc="-5" dirty="0">
                <a:latin typeface="Arial"/>
                <a:cs typeface="Arial"/>
              </a:rPr>
              <a:t>it easier </a:t>
            </a:r>
            <a:r>
              <a:rPr sz="1000" spc="-15" dirty="0">
                <a:latin typeface="Arial"/>
                <a:cs typeface="Arial"/>
              </a:rPr>
              <a:t>for </a:t>
            </a:r>
            <a:r>
              <a:rPr sz="1000" spc="-5" dirty="0">
                <a:latin typeface="Arial"/>
                <a:cs typeface="Arial"/>
              </a:rPr>
              <a:t>a user to understand </a:t>
            </a:r>
            <a:r>
              <a:rPr sz="1000" spc="-15" dirty="0">
                <a:latin typeface="Arial"/>
                <a:cs typeface="Arial"/>
              </a:rPr>
              <a:t>what’s </a:t>
            </a:r>
            <a:r>
              <a:rPr sz="1000" spc="-5" dirty="0">
                <a:latin typeface="Arial"/>
                <a:cs typeface="Arial"/>
              </a:rPr>
              <a:t>going on </a:t>
            </a:r>
            <a:r>
              <a:rPr sz="1000" dirty="0">
                <a:latin typeface="Arial"/>
                <a:cs typeface="Arial"/>
              </a:rPr>
              <a:t> </a:t>
            </a:r>
            <a:r>
              <a:rPr sz="1000" spc="-10" dirty="0">
                <a:latin typeface="Arial"/>
                <a:cs typeface="Arial"/>
              </a:rPr>
              <a:t>(when e.g., a </a:t>
            </a:r>
            <a:r>
              <a:rPr sz="1000" spc="-5" dirty="0">
                <a:latin typeface="Arial"/>
                <a:cs typeface="Arial"/>
              </a:rPr>
              <a:t>server </a:t>
            </a:r>
            <a:r>
              <a:rPr sz="1000" spc="-10" dirty="0">
                <a:latin typeface="Arial"/>
                <a:cs typeface="Arial"/>
              </a:rPr>
              <a:t>does </a:t>
            </a:r>
            <a:r>
              <a:rPr sz="1000" spc="-5" dirty="0">
                <a:latin typeface="Arial"/>
                <a:cs typeface="Arial"/>
              </a:rPr>
              <a:t>not </a:t>
            </a:r>
            <a:r>
              <a:rPr sz="1000" spc="-10" dirty="0">
                <a:latin typeface="Arial"/>
                <a:cs typeface="Arial"/>
              </a:rPr>
              <a:t>respond </a:t>
            </a:r>
            <a:r>
              <a:rPr sz="1000" spc="-15" dirty="0">
                <a:latin typeface="Arial"/>
                <a:cs typeface="Arial"/>
              </a:rPr>
              <a:t>for </a:t>
            </a:r>
            <a:r>
              <a:rPr sz="1000" spc="-10" dirty="0">
                <a:latin typeface="Arial"/>
                <a:cs typeface="Arial"/>
              </a:rPr>
              <a:t>a </a:t>
            </a:r>
            <a:r>
              <a:rPr sz="1000" spc="-5" dirty="0">
                <a:latin typeface="Arial"/>
                <a:cs typeface="Arial"/>
              </a:rPr>
              <a:t>long </a:t>
            </a:r>
            <a:r>
              <a:rPr sz="1000" spc="-10" dirty="0">
                <a:latin typeface="Arial"/>
                <a:cs typeface="Arial"/>
              </a:rPr>
              <a:t>time, </a:t>
            </a:r>
            <a:r>
              <a:rPr sz="1000" dirty="0">
                <a:latin typeface="Arial"/>
                <a:cs typeface="Arial"/>
              </a:rPr>
              <a:t>report </a:t>
            </a:r>
            <a:r>
              <a:rPr sz="1000" spc="-5" dirty="0">
                <a:latin typeface="Arial"/>
                <a:cs typeface="Arial"/>
              </a:rPr>
              <a:t>it </a:t>
            </a:r>
            <a:r>
              <a:rPr sz="1000" spc="-10" dirty="0">
                <a:latin typeface="Arial"/>
                <a:cs typeface="Arial"/>
              </a:rPr>
              <a:t>as </a:t>
            </a:r>
            <a:r>
              <a:rPr sz="1000" spc="-265" dirty="0">
                <a:latin typeface="Arial"/>
                <a:cs typeface="Arial"/>
              </a:rPr>
              <a:t> </a:t>
            </a:r>
            <a:r>
              <a:rPr sz="1000" spc="-5" dirty="0">
                <a:latin typeface="Arial"/>
                <a:cs typeface="Arial"/>
              </a:rPr>
              <a:t>failing).</a:t>
            </a:r>
            <a:endParaRPr sz="1000" dirty="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20523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Degree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 distribution transparency</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3479139" y="716"/>
            <a:ext cx="10623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Making</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distribution transparent</a:t>
            </a:r>
            <a:endParaRPr sz="600">
              <a:latin typeface="Arial"/>
              <a:cs typeface="Arial"/>
            </a:endParaRPr>
          </a:p>
        </p:txBody>
      </p:sp>
      <p:sp>
        <p:nvSpPr>
          <p:cNvPr id="4" name="object 4"/>
          <p:cNvSpPr txBox="1"/>
          <p:nvPr/>
        </p:nvSpPr>
        <p:spPr>
          <a:xfrm>
            <a:off x="69900" y="188846"/>
            <a:ext cx="4241800" cy="2609850"/>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Degree</a:t>
            </a:r>
            <a:r>
              <a:rPr sz="1400" spc="-20" dirty="0">
                <a:solidFill>
                  <a:srgbClr val="3333B2"/>
                </a:solidFill>
                <a:latin typeface="Arial"/>
                <a:cs typeface="Arial"/>
              </a:rPr>
              <a:t> </a:t>
            </a:r>
            <a:r>
              <a:rPr sz="1400" spc="10" dirty="0">
                <a:solidFill>
                  <a:srgbClr val="3333B2"/>
                </a:solidFill>
                <a:latin typeface="Arial"/>
                <a:cs typeface="Arial"/>
              </a:rPr>
              <a:t>of</a:t>
            </a:r>
            <a:r>
              <a:rPr sz="1400" spc="-25" dirty="0">
                <a:solidFill>
                  <a:srgbClr val="3333B2"/>
                </a:solidFill>
                <a:latin typeface="Arial"/>
                <a:cs typeface="Arial"/>
              </a:rPr>
              <a:t> </a:t>
            </a:r>
            <a:r>
              <a:rPr sz="1400" spc="15" dirty="0">
                <a:solidFill>
                  <a:srgbClr val="3333B2"/>
                </a:solidFill>
                <a:latin typeface="Arial"/>
                <a:cs typeface="Arial"/>
              </a:rPr>
              <a:t>transparency</a:t>
            </a:r>
            <a:endParaRPr sz="1400" dirty="0">
              <a:latin typeface="Arial"/>
              <a:cs typeface="Arial"/>
            </a:endParaRPr>
          </a:p>
          <a:p>
            <a:pPr>
              <a:lnSpc>
                <a:spcPct val="100000"/>
              </a:lnSpc>
              <a:spcBef>
                <a:spcPts val="35"/>
              </a:spcBef>
            </a:pPr>
            <a:endParaRPr sz="2350" dirty="0">
              <a:latin typeface="Arial"/>
              <a:cs typeface="Arial"/>
            </a:endParaRPr>
          </a:p>
          <a:p>
            <a:pPr marL="289560">
              <a:lnSpc>
                <a:spcPct val="100000"/>
              </a:lnSpc>
            </a:pPr>
            <a:r>
              <a:rPr sz="1200" spc="-5" dirty="0">
                <a:solidFill>
                  <a:srgbClr val="007C00"/>
                </a:solidFill>
                <a:latin typeface="Arial"/>
                <a:cs typeface="Arial"/>
              </a:rPr>
              <a:t>Exposing</a:t>
            </a:r>
            <a:r>
              <a:rPr sz="1200" spc="-15" dirty="0">
                <a:solidFill>
                  <a:srgbClr val="007C00"/>
                </a:solidFill>
                <a:latin typeface="Arial"/>
                <a:cs typeface="Arial"/>
              </a:rPr>
              <a:t> </a:t>
            </a:r>
            <a:r>
              <a:rPr sz="1200" spc="-5" dirty="0">
                <a:solidFill>
                  <a:srgbClr val="007C00"/>
                </a:solidFill>
                <a:latin typeface="Arial"/>
                <a:cs typeface="Arial"/>
              </a:rPr>
              <a:t>distribution</a:t>
            </a:r>
            <a:r>
              <a:rPr sz="1200" spc="-10" dirty="0">
                <a:solidFill>
                  <a:srgbClr val="007C00"/>
                </a:solidFill>
                <a:latin typeface="Arial"/>
                <a:cs typeface="Arial"/>
              </a:rPr>
              <a:t> </a:t>
            </a:r>
            <a:r>
              <a:rPr sz="1200" spc="-20" dirty="0">
                <a:solidFill>
                  <a:srgbClr val="007C00"/>
                </a:solidFill>
                <a:latin typeface="Arial"/>
                <a:cs typeface="Arial"/>
              </a:rPr>
              <a:t>may</a:t>
            </a:r>
            <a:r>
              <a:rPr sz="1200" spc="-10" dirty="0">
                <a:solidFill>
                  <a:srgbClr val="007C00"/>
                </a:solidFill>
                <a:latin typeface="Arial"/>
                <a:cs typeface="Arial"/>
              </a:rPr>
              <a:t> </a:t>
            </a:r>
            <a:r>
              <a:rPr sz="1200" spc="-5" dirty="0">
                <a:solidFill>
                  <a:srgbClr val="007C00"/>
                </a:solidFill>
                <a:latin typeface="Arial"/>
                <a:cs typeface="Arial"/>
              </a:rPr>
              <a:t>be</a:t>
            </a:r>
            <a:r>
              <a:rPr sz="1200" spc="-10" dirty="0">
                <a:solidFill>
                  <a:srgbClr val="007C00"/>
                </a:solidFill>
                <a:latin typeface="Arial"/>
                <a:cs typeface="Arial"/>
              </a:rPr>
              <a:t> </a:t>
            </a:r>
            <a:r>
              <a:rPr sz="1200" spc="-5" dirty="0">
                <a:solidFill>
                  <a:srgbClr val="007C00"/>
                </a:solidFill>
                <a:latin typeface="Arial"/>
                <a:cs typeface="Arial"/>
              </a:rPr>
              <a:t>good</a:t>
            </a:r>
            <a:endParaRPr sz="1200" dirty="0">
              <a:latin typeface="Arial"/>
              <a:cs typeface="Arial"/>
            </a:endParaRPr>
          </a:p>
          <a:p>
            <a:pPr marL="567055" marR="369570" indent="-168275" algn="just">
              <a:lnSpc>
                <a:spcPct val="100000"/>
              </a:lnSpc>
              <a:spcBef>
                <a:spcPts val="790"/>
              </a:spcBef>
              <a:buClr>
                <a:srgbClr val="007C00"/>
              </a:buClr>
              <a:buChar char="►"/>
              <a:tabLst>
                <a:tab pos="567690" algn="l"/>
              </a:tabLst>
            </a:pPr>
            <a:r>
              <a:rPr sz="1000" spc="-5" dirty="0">
                <a:latin typeface="Arial"/>
                <a:cs typeface="Arial"/>
              </a:rPr>
              <a:t>Making use of location-based </a:t>
            </a:r>
            <a:r>
              <a:rPr sz="1000" dirty="0">
                <a:latin typeface="Arial"/>
                <a:cs typeface="Arial"/>
              </a:rPr>
              <a:t>services </a:t>
            </a:r>
            <a:r>
              <a:rPr sz="1000" spc="-5" dirty="0">
                <a:latin typeface="Arial"/>
                <a:cs typeface="Arial"/>
              </a:rPr>
              <a:t>(finding </a:t>
            </a:r>
            <a:r>
              <a:rPr sz="1000" spc="-10" dirty="0">
                <a:latin typeface="Arial"/>
                <a:cs typeface="Arial"/>
              </a:rPr>
              <a:t>your nearby </a:t>
            </a:r>
            <a:r>
              <a:rPr sz="1000" spc="-265" dirty="0">
                <a:latin typeface="Arial"/>
                <a:cs typeface="Arial"/>
              </a:rPr>
              <a:t> </a:t>
            </a:r>
            <a:r>
              <a:rPr sz="1000" spc="-5" dirty="0">
                <a:latin typeface="Arial"/>
                <a:cs typeface="Arial"/>
              </a:rPr>
              <a:t>friends)</a:t>
            </a:r>
            <a:endParaRPr sz="1000" dirty="0">
              <a:latin typeface="Arial"/>
              <a:cs typeface="Arial"/>
            </a:endParaRPr>
          </a:p>
          <a:p>
            <a:pPr marL="567055" indent="-168275" algn="just">
              <a:lnSpc>
                <a:spcPct val="100000"/>
              </a:lnSpc>
              <a:spcBef>
                <a:spcPts val="590"/>
              </a:spcBef>
              <a:buClr>
                <a:srgbClr val="007C00"/>
              </a:buClr>
              <a:buChar char="►"/>
              <a:tabLst>
                <a:tab pos="567690" algn="l"/>
              </a:tabLst>
            </a:pPr>
            <a:r>
              <a:rPr sz="1000" spc="-5" dirty="0">
                <a:latin typeface="Arial"/>
                <a:cs typeface="Arial"/>
              </a:rPr>
              <a:t>When dealing with users in different time </a:t>
            </a:r>
            <a:r>
              <a:rPr sz="1000" spc="-10" dirty="0">
                <a:latin typeface="Arial"/>
                <a:cs typeface="Arial"/>
              </a:rPr>
              <a:t>zones</a:t>
            </a:r>
            <a:endParaRPr sz="1000" dirty="0">
              <a:latin typeface="Arial"/>
              <a:cs typeface="Arial"/>
            </a:endParaRPr>
          </a:p>
          <a:p>
            <a:pPr marL="562610" marR="55880" indent="-163830" algn="just">
              <a:lnSpc>
                <a:spcPct val="100000"/>
              </a:lnSpc>
              <a:spcBef>
                <a:spcPts val="590"/>
              </a:spcBef>
              <a:buClr>
                <a:srgbClr val="007C00"/>
              </a:buClr>
              <a:buChar char="►"/>
              <a:tabLst>
                <a:tab pos="567690" algn="l"/>
              </a:tabLst>
            </a:pPr>
            <a:r>
              <a:rPr sz="1000" spc="-5" dirty="0">
                <a:latin typeface="Arial"/>
                <a:cs typeface="Arial"/>
              </a:rPr>
              <a:t>When it </a:t>
            </a:r>
            <a:r>
              <a:rPr sz="1000" spc="-10" dirty="0">
                <a:latin typeface="Arial"/>
                <a:cs typeface="Arial"/>
              </a:rPr>
              <a:t>makes </a:t>
            </a:r>
            <a:r>
              <a:rPr sz="1000" spc="-5" dirty="0">
                <a:latin typeface="Arial"/>
                <a:cs typeface="Arial"/>
              </a:rPr>
              <a:t>it easier </a:t>
            </a:r>
            <a:r>
              <a:rPr sz="1000" spc="-15" dirty="0">
                <a:latin typeface="Arial"/>
                <a:cs typeface="Arial"/>
              </a:rPr>
              <a:t>for </a:t>
            </a:r>
            <a:r>
              <a:rPr sz="1000" spc="-5" dirty="0">
                <a:latin typeface="Arial"/>
                <a:cs typeface="Arial"/>
              </a:rPr>
              <a:t>a user to understand </a:t>
            </a:r>
            <a:r>
              <a:rPr sz="1000" spc="-15" dirty="0">
                <a:latin typeface="Arial"/>
                <a:cs typeface="Arial"/>
              </a:rPr>
              <a:t>what’s </a:t>
            </a:r>
            <a:r>
              <a:rPr sz="1000" spc="-5" dirty="0">
                <a:latin typeface="Arial"/>
                <a:cs typeface="Arial"/>
              </a:rPr>
              <a:t>going on </a:t>
            </a:r>
            <a:r>
              <a:rPr sz="1000" dirty="0">
                <a:latin typeface="Arial"/>
                <a:cs typeface="Arial"/>
              </a:rPr>
              <a:t> </a:t>
            </a:r>
            <a:r>
              <a:rPr sz="1000" spc="-10" dirty="0">
                <a:latin typeface="Arial"/>
                <a:cs typeface="Arial"/>
              </a:rPr>
              <a:t>(when e.g., a </a:t>
            </a:r>
            <a:r>
              <a:rPr sz="1000" spc="-5" dirty="0">
                <a:latin typeface="Arial"/>
                <a:cs typeface="Arial"/>
              </a:rPr>
              <a:t>server </a:t>
            </a:r>
            <a:r>
              <a:rPr sz="1000" spc="-10" dirty="0">
                <a:latin typeface="Arial"/>
                <a:cs typeface="Arial"/>
              </a:rPr>
              <a:t>does </a:t>
            </a:r>
            <a:r>
              <a:rPr sz="1000" spc="-5" dirty="0">
                <a:latin typeface="Arial"/>
                <a:cs typeface="Arial"/>
              </a:rPr>
              <a:t>not </a:t>
            </a:r>
            <a:r>
              <a:rPr sz="1000" spc="-10" dirty="0">
                <a:latin typeface="Arial"/>
                <a:cs typeface="Arial"/>
              </a:rPr>
              <a:t>respond </a:t>
            </a:r>
            <a:r>
              <a:rPr sz="1000" spc="-15" dirty="0">
                <a:latin typeface="Arial"/>
                <a:cs typeface="Arial"/>
              </a:rPr>
              <a:t>for </a:t>
            </a:r>
            <a:r>
              <a:rPr sz="1000" spc="-10" dirty="0">
                <a:latin typeface="Arial"/>
                <a:cs typeface="Arial"/>
              </a:rPr>
              <a:t>a </a:t>
            </a:r>
            <a:r>
              <a:rPr sz="1000" spc="-5" dirty="0">
                <a:latin typeface="Arial"/>
                <a:cs typeface="Arial"/>
              </a:rPr>
              <a:t>long </a:t>
            </a:r>
            <a:r>
              <a:rPr sz="1000" spc="-10" dirty="0">
                <a:latin typeface="Arial"/>
                <a:cs typeface="Arial"/>
              </a:rPr>
              <a:t>time, </a:t>
            </a:r>
            <a:r>
              <a:rPr sz="1000" dirty="0">
                <a:latin typeface="Arial"/>
                <a:cs typeface="Arial"/>
              </a:rPr>
              <a:t>report </a:t>
            </a:r>
            <a:r>
              <a:rPr sz="1000" spc="-5" dirty="0">
                <a:latin typeface="Arial"/>
                <a:cs typeface="Arial"/>
              </a:rPr>
              <a:t>it </a:t>
            </a:r>
            <a:r>
              <a:rPr sz="1000" spc="-10" dirty="0">
                <a:latin typeface="Arial"/>
                <a:cs typeface="Arial"/>
              </a:rPr>
              <a:t>as </a:t>
            </a:r>
            <a:r>
              <a:rPr sz="1000" spc="-265" dirty="0">
                <a:latin typeface="Arial"/>
                <a:cs typeface="Arial"/>
              </a:rPr>
              <a:t> </a:t>
            </a:r>
            <a:r>
              <a:rPr sz="1000" spc="-5" dirty="0">
                <a:latin typeface="Arial"/>
                <a:cs typeface="Arial"/>
              </a:rPr>
              <a:t>failing).</a:t>
            </a:r>
            <a:endParaRPr sz="1000" dirty="0">
              <a:latin typeface="Arial"/>
              <a:cs typeface="Arial"/>
            </a:endParaRPr>
          </a:p>
          <a:p>
            <a:pPr>
              <a:lnSpc>
                <a:spcPct val="100000"/>
              </a:lnSpc>
              <a:spcBef>
                <a:spcPts val="10"/>
              </a:spcBef>
            </a:pPr>
            <a:endParaRPr sz="1300" dirty="0">
              <a:latin typeface="Arial"/>
              <a:cs typeface="Arial"/>
            </a:endParaRPr>
          </a:p>
          <a:p>
            <a:pPr marL="289560">
              <a:lnSpc>
                <a:spcPts val="1410"/>
              </a:lnSpc>
            </a:pPr>
            <a:r>
              <a:rPr sz="1200" spc="-5" dirty="0">
                <a:solidFill>
                  <a:srgbClr val="3333B2"/>
                </a:solidFill>
                <a:latin typeface="Arial"/>
                <a:cs typeface="Arial"/>
              </a:rPr>
              <a:t>Conclusion</a:t>
            </a:r>
            <a:endParaRPr sz="1200" dirty="0">
              <a:latin typeface="Arial"/>
              <a:cs typeface="Arial"/>
            </a:endParaRPr>
          </a:p>
          <a:p>
            <a:pPr marL="289560" marR="55880">
              <a:lnSpc>
                <a:spcPts val="1200"/>
              </a:lnSpc>
              <a:spcBef>
                <a:spcPts val="10"/>
              </a:spcBef>
            </a:pPr>
            <a:r>
              <a:rPr sz="1000" spc="-5" dirty="0">
                <a:latin typeface="Arial"/>
                <a:cs typeface="Arial"/>
              </a:rPr>
              <a:t>Distribution </a:t>
            </a:r>
            <a:r>
              <a:rPr sz="1000" spc="-10" dirty="0">
                <a:latin typeface="Arial"/>
                <a:cs typeface="Arial"/>
              </a:rPr>
              <a:t>transparency</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a nice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goal,</a:t>
            </a:r>
            <a:r>
              <a:rPr sz="1000" dirty="0">
                <a:latin typeface="Arial"/>
                <a:cs typeface="Arial"/>
              </a:rPr>
              <a:t> </a:t>
            </a:r>
            <a:r>
              <a:rPr sz="1000" spc="-15" dirty="0">
                <a:latin typeface="Arial"/>
                <a:cs typeface="Arial"/>
              </a:rPr>
              <a:t>but</a:t>
            </a:r>
            <a:r>
              <a:rPr sz="1000" spc="-5" dirty="0">
                <a:latin typeface="Arial"/>
                <a:cs typeface="Arial"/>
              </a:rPr>
              <a:t> </a:t>
            </a:r>
            <a:r>
              <a:rPr sz="1000" spc="-10" dirty="0">
                <a:latin typeface="Arial"/>
                <a:cs typeface="Arial"/>
              </a:rPr>
              <a:t>achieving</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 a</a:t>
            </a:r>
            <a:r>
              <a:rPr sz="1000" dirty="0">
                <a:latin typeface="Arial"/>
                <a:cs typeface="Arial"/>
              </a:rPr>
              <a:t> </a:t>
            </a:r>
            <a:r>
              <a:rPr sz="1000" spc="-10" dirty="0">
                <a:latin typeface="Arial"/>
                <a:cs typeface="Arial"/>
              </a:rPr>
              <a:t>different </a:t>
            </a:r>
            <a:r>
              <a:rPr sz="1000" spc="-260" dirty="0">
                <a:latin typeface="Arial"/>
                <a:cs typeface="Arial"/>
              </a:rPr>
              <a:t> </a:t>
            </a:r>
            <a:r>
              <a:rPr sz="1000" spc="-15" dirty="0">
                <a:latin typeface="Arial"/>
                <a:cs typeface="Arial"/>
              </a:rPr>
              <a:t>story,</a:t>
            </a:r>
            <a:r>
              <a:rPr sz="1000" spc="-5" dirty="0">
                <a:latin typeface="Arial"/>
                <a:cs typeface="Arial"/>
              </a:rPr>
              <a:t> and it should often not </a:t>
            </a:r>
            <a:r>
              <a:rPr sz="1000" spc="-20" dirty="0">
                <a:latin typeface="Arial"/>
                <a:cs typeface="Arial"/>
              </a:rPr>
              <a:t>even</a:t>
            </a:r>
            <a:r>
              <a:rPr sz="1000" spc="-5" dirty="0">
                <a:latin typeface="Arial"/>
                <a:cs typeface="Arial"/>
              </a:rPr>
              <a:t> be aimed at.</a:t>
            </a:r>
            <a:endParaRPr sz="1000" dirty="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131843" y="716"/>
            <a:ext cx="4095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Being open</a:t>
            </a:r>
            <a:endParaRPr sz="600">
              <a:latin typeface="Arial"/>
              <a:cs typeface="Arial"/>
            </a:endParaRPr>
          </a:p>
        </p:txBody>
      </p:sp>
      <p:sp>
        <p:nvSpPr>
          <p:cNvPr id="4" name="object 4"/>
          <p:cNvSpPr txBox="1"/>
          <p:nvPr/>
        </p:nvSpPr>
        <p:spPr>
          <a:xfrm>
            <a:off x="95300" y="188846"/>
            <a:ext cx="266763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Openness</a:t>
            </a:r>
            <a:r>
              <a:rPr sz="1400" spc="5" dirty="0">
                <a:solidFill>
                  <a:srgbClr val="3333B2"/>
                </a:solidFill>
                <a:latin typeface="Arial"/>
                <a:cs typeface="Arial"/>
              </a:rPr>
              <a:t> </a:t>
            </a:r>
            <a:r>
              <a:rPr sz="1400" spc="10" dirty="0">
                <a:solidFill>
                  <a:srgbClr val="3333B2"/>
                </a:solidFill>
                <a:latin typeface="Arial"/>
                <a:cs typeface="Arial"/>
              </a:rPr>
              <a:t>of distributed</a:t>
            </a:r>
            <a:r>
              <a:rPr sz="1400" spc="5"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p:txBody>
      </p:sp>
      <p:sp>
        <p:nvSpPr>
          <p:cNvPr id="5" name="object 5"/>
          <p:cNvSpPr txBox="1"/>
          <p:nvPr/>
        </p:nvSpPr>
        <p:spPr>
          <a:xfrm>
            <a:off x="314769" y="1024615"/>
            <a:ext cx="3970020" cy="1249680"/>
          </a:xfrm>
          <a:prstGeom prst="rect">
            <a:avLst/>
          </a:prstGeom>
        </p:spPr>
        <p:txBody>
          <a:bodyPr vert="horz" wrap="square" lIns="0" tIns="41910" rIns="0" bIns="0" rtlCol="0">
            <a:spAutoFit/>
          </a:bodyPr>
          <a:lstStyle/>
          <a:p>
            <a:pPr marL="38100">
              <a:lnSpc>
                <a:spcPct val="100000"/>
              </a:lnSpc>
              <a:spcBef>
                <a:spcPts val="330"/>
              </a:spcBef>
            </a:pPr>
            <a:r>
              <a:rPr sz="1200" spc="-5" dirty="0">
                <a:solidFill>
                  <a:srgbClr val="3333B2"/>
                </a:solidFill>
                <a:latin typeface="Arial"/>
                <a:cs typeface="Arial"/>
              </a:rPr>
              <a:t>What</a:t>
            </a:r>
            <a:r>
              <a:rPr sz="1200" spc="-15" dirty="0">
                <a:solidFill>
                  <a:srgbClr val="3333B2"/>
                </a:solidFill>
                <a:latin typeface="Arial"/>
                <a:cs typeface="Arial"/>
              </a:rPr>
              <a:t> </a:t>
            </a:r>
            <a:r>
              <a:rPr sz="1200" spc="-5" dirty="0">
                <a:solidFill>
                  <a:srgbClr val="3333B2"/>
                </a:solidFill>
                <a:latin typeface="Arial"/>
                <a:cs typeface="Arial"/>
              </a:rPr>
              <a:t>are</a:t>
            </a:r>
            <a:r>
              <a:rPr sz="1200" spc="-10" dirty="0">
                <a:solidFill>
                  <a:srgbClr val="3333B2"/>
                </a:solidFill>
                <a:latin typeface="Arial"/>
                <a:cs typeface="Arial"/>
              </a:rPr>
              <a:t> </a:t>
            </a:r>
            <a:r>
              <a:rPr sz="1200" spc="-15" dirty="0">
                <a:solidFill>
                  <a:srgbClr val="3333B2"/>
                </a:solidFill>
                <a:latin typeface="Arial"/>
                <a:cs typeface="Arial"/>
              </a:rPr>
              <a:t>we </a:t>
            </a:r>
            <a:r>
              <a:rPr sz="1200" spc="-5" dirty="0">
                <a:solidFill>
                  <a:srgbClr val="3333B2"/>
                </a:solidFill>
                <a:latin typeface="Arial"/>
                <a:cs typeface="Arial"/>
              </a:rPr>
              <a:t>talking</a:t>
            </a:r>
            <a:r>
              <a:rPr sz="1200" spc="-10" dirty="0">
                <a:solidFill>
                  <a:srgbClr val="3333B2"/>
                </a:solidFill>
                <a:latin typeface="Arial"/>
                <a:cs typeface="Arial"/>
              </a:rPr>
              <a:t> </a:t>
            </a:r>
            <a:r>
              <a:rPr sz="1200" spc="-5" dirty="0">
                <a:solidFill>
                  <a:srgbClr val="3333B2"/>
                </a:solidFill>
                <a:latin typeface="Arial"/>
                <a:cs typeface="Arial"/>
              </a:rPr>
              <a:t>about?</a:t>
            </a:r>
            <a:endParaRPr sz="1200" dirty="0">
              <a:latin typeface="Arial"/>
              <a:cs typeface="Arial"/>
            </a:endParaRPr>
          </a:p>
          <a:p>
            <a:pPr marL="45085" marR="30480">
              <a:lnSpc>
                <a:spcPct val="100000"/>
              </a:lnSpc>
              <a:spcBef>
                <a:spcPts val="190"/>
              </a:spcBef>
            </a:pPr>
            <a:r>
              <a:rPr sz="1000" spc="-10" dirty="0">
                <a:latin typeface="Arial"/>
                <a:cs typeface="Arial"/>
              </a:rPr>
              <a:t>Be</a:t>
            </a:r>
            <a:r>
              <a:rPr sz="1000" dirty="0">
                <a:latin typeface="Arial"/>
                <a:cs typeface="Arial"/>
              </a:rPr>
              <a:t> </a:t>
            </a:r>
            <a:r>
              <a:rPr sz="1000" spc="-15" dirty="0">
                <a:latin typeface="Arial"/>
                <a:cs typeface="Arial"/>
              </a:rPr>
              <a:t>able</a:t>
            </a:r>
            <a:r>
              <a:rPr sz="1000" dirty="0">
                <a:latin typeface="Arial"/>
                <a:cs typeface="Arial"/>
              </a:rPr>
              <a:t> </a:t>
            </a:r>
            <a:r>
              <a:rPr sz="1000" spc="-10" dirty="0">
                <a:latin typeface="Arial"/>
                <a:cs typeface="Arial"/>
              </a:rPr>
              <a:t>to</a:t>
            </a:r>
            <a:r>
              <a:rPr sz="1000" spc="5" dirty="0">
                <a:latin typeface="Arial"/>
                <a:cs typeface="Arial"/>
              </a:rPr>
              <a:t> </a:t>
            </a:r>
            <a:r>
              <a:rPr sz="1000" spc="-10" dirty="0">
                <a:latin typeface="Arial"/>
                <a:cs typeface="Arial"/>
              </a:rPr>
              <a:t>interact</a:t>
            </a:r>
            <a:r>
              <a:rPr sz="1000" dirty="0">
                <a:latin typeface="Arial"/>
                <a:cs typeface="Arial"/>
              </a:rPr>
              <a:t> </a:t>
            </a:r>
            <a:r>
              <a:rPr sz="1000" spc="-10" dirty="0">
                <a:latin typeface="Arial"/>
                <a:cs typeface="Arial"/>
              </a:rPr>
              <a:t>with</a:t>
            </a:r>
            <a:r>
              <a:rPr sz="1000" spc="5" dirty="0">
                <a:latin typeface="Arial"/>
                <a:cs typeface="Arial"/>
              </a:rPr>
              <a:t> </a:t>
            </a:r>
            <a:r>
              <a:rPr sz="1000" spc="-5" dirty="0">
                <a:latin typeface="Arial"/>
                <a:cs typeface="Arial"/>
              </a:rPr>
              <a:t>services</a:t>
            </a:r>
            <a:r>
              <a:rPr sz="1000" dirty="0">
                <a:latin typeface="Arial"/>
                <a:cs typeface="Arial"/>
              </a:rPr>
              <a:t> </a:t>
            </a:r>
            <a:r>
              <a:rPr sz="1000" spc="-10" dirty="0">
                <a:latin typeface="Arial"/>
                <a:cs typeface="Arial"/>
              </a:rPr>
              <a:t>from</a:t>
            </a:r>
            <a:r>
              <a:rPr sz="1000" dirty="0">
                <a:latin typeface="Arial"/>
                <a:cs typeface="Arial"/>
              </a:rPr>
              <a:t> </a:t>
            </a:r>
            <a:r>
              <a:rPr sz="1000" spc="-10" dirty="0">
                <a:latin typeface="Arial"/>
                <a:cs typeface="Arial"/>
              </a:rPr>
              <a:t>other</a:t>
            </a:r>
            <a:r>
              <a:rPr sz="1000" spc="5" dirty="0">
                <a:latin typeface="Arial"/>
                <a:cs typeface="Arial"/>
              </a:rPr>
              <a:t> </a:t>
            </a:r>
            <a:r>
              <a:rPr sz="1000" spc="-10" dirty="0">
                <a:latin typeface="Arial"/>
                <a:cs typeface="Arial"/>
              </a:rPr>
              <a:t>open</a:t>
            </a:r>
            <a:r>
              <a:rPr sz="1000"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irrespective </a:t>
            </a:r>
            <a:r>
              <a:rPr sz="1000" spc="-265"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the underlying environment:</a:t>
            </a:r>
            <a:endParaRPr sz="1000" dirty="0">
              <a:latin typeface="Arial"/>
              <a:cs typeface="Arial"/>
            </a:endParaRPr>
          </a:p>
          <a:p>
            <a:pPr marL="321945" indent="-168275">
              <a:lnSpc>
                <a:spcPts val="1200"/>
              </a:lnSpc>
              <a:spcBef>
                <a:spcPts val="590"/>
              </a:spcBef>
              <a:buClr>
                <a:srgbClr val="3333B2"/>
              </a:buClr>
              <a:buChar char="►"/>
              <a:tabLst>
                <a:tab pos="322580" algn="l"/>
              </a:tabLst>
            </a:pPr>
            <a:r>
              <a:rPr sz="1000" spc="-5" dirty="0">
                <a:latin typeface="Arial"/>
                <a:cs typeface="Arial"/>
              </a:rPr>
              <a:t>Systems</a:t>
            </a:r>
            <a:r>
              <a:rPr sz="1000" spc="-10" dirty="0">
                <a:latin typeface="Arial"/>
                <a:cs typeface="Arial"/>
              </a:rPr>
              <a:t> </a:t>
            </a:r>
            <a:r>
              <a:rPr sz="1000" spc="-5" dirty="0">
                <a:latin typeface="Arial"/>
                <a:cs typeface="Arial"/>
              </a:rPr>
              <a:t>should conform</a:t>
            </a:r>
            <a:r>
              <a:rPr sz="1000" spc="-10" dirty="0">
                <a:latin typeface="Arial"/>
                <a:cs typeface="Arial"/>
              </a:rPr>
              <a:t> </a:t>
            </a:r>
            <a:r>
              <a:rPr sz="1000" spc="-5" dirty="0">
                <a:latin typeface="Arial"/>
                <a:cs typeface="Arial"/>
              </a:rPr>
              <a:t>to well-defined </a:t>
            </a:r>
            <a:r>
              <a:rPr sz="1000" spc="-5" dirty="0">
                <a:solidFill>
                  <a:srgbClr val="0000FA"/>
                </a:solidFill>
                <a:latin typeface="Arial"/>
                <a:cs typeface="Arial"/>
              </a:rPr>
              <a:t>interfaces</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Systems</a:t>
            </a:r>
            <a:r>
              <a:rPr sz="1000" spc="-10" dirty="0">
                <a:latin typeface="Arial"/>
                <a:cs typeface="Arial"/>
              </a:rPr>
              <a:t> </a:t>
            </a:r>
            <a:r>
              <a:rPr sz="1000" spc="-5" dirty="0">
                <a:latin typeface="Arial"/>
                <a:cs typeface="Arial"/>
              </a:rPr>
              <a:t>should</a:t>
            </a:r>
            <a:r>
              <a:rPr sz="1000" spc="-10" dirty="0">
                <a:latin typeface="Arial"/>
                <a:cs typeface="Arial"/>
              </a:rPr>
              <a:t> </a:t>
            </a:r>
            <a:r>
              <a:rPr sz="1000" spc="-5" dirty="0">
                <a:latin typeface="Arial"/>
                <a:cs typeface="Arial"/>
              </a:rPr>
              <a:t>easily </a:t>
            </a:r>
            <a:r>
              <a:rPr sz="1000" spc="-5" dirty="0">
                <a:solidFill>
                  <a:srgbClr val="0000FA"/>
                </a:solidFill>
                <a:latin typeface="Arial"/>
                <a:cs typeface="Arial"/>
              </a:rPr>
              <a:t>interoperate</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Systems should</a:t>
            </a:r>
            <a:r>
              <a:rPr sz="1000" dirty="0">
                <a:latin typeface="Arial"/>
                <a:cs typeface="Arial"/>
              </a:rPr>
              <a:t> support </a:t>
            </a:r>
            <a:r>
              <a:rPr sz="1000" dirty="0">
                <a:solidFill>
                  <a:srgbClr val="0000FA"/>
                </a:solidFill>
                <a:latin typeface="Arial"/>
                <a:cs typeface="Arial"/>
              </a:rPr>
              <a:t>portability </a:t>
            </a:r>
            <a:r>
              <a:rPr sz="1000" spc="-5" dirty="0">
                <a:latin typeface="Arial"/>
                <a:cs typeface="Arial"/>
              </a:rPr>
              <a:t>of</a:t>
            </a:r>
            <a:r>
              <a:rPr sz="1000" dirty="0">
                <a:latin typeface="Arial"/>
                <a:cs typeface="Arial"/>
              </a:rPr>
              <a:t> </a:t>
            </a:r>
            <a:r>
              <a:rPr sz="1000" spc="-5" dirty="0">
                <a:latin typeface="Arial"/>
                <a:cs typeface="Arial"/>
              </a:rPr>
              <a:t>applications</a:t>
            </a:r>
            <a:endParaRPr sz="1000" dirty="0">
              <a:latin typeface="Arial"/>
              <a:cs typeface="Arial"/>
            </a:endParaRPr>
          </a:p>
          <a:p>
            <a:pPr marL="321945" indent="-168275">
              <a:lnSpc>
                <a:spcPts val="1200"/>
              </a:lnSpc>
              <a:buClr>
                <a:srgbClr val="3333B2"/>
              </a:buClr>
              <a:buChar char="►"/>
              <a:tabLst>
                <a:tab pos="322580" algn="l"/>
              </a:tabLst>
            </a:pPr>
            <a:r>
              <a:rPr sz="1000" spc="-5" dirty="0">
                <a:latin typeface="Arial"/>
                <a:cs typeface="Arial"/>
              </a:rPr>
              <a:t>Systems</a:t>
            </a:r>
            <a:r>
              <a:rPr sz="1000" spc="-10" dirty="0">
                <a:latin typeface="Arial"/>
                <a:cs typeface="Arial"/>
              </a:rPr>
              <a:t> </a:t>
            </a:r>
            <a:r>
              <a:rPr sz="1000" spc="-5" dirty="0">
                <a:latin typeface="Arial"/>
                <a:cs typeface="Arial"/>
              </a:rPr>
              <a:t>should be easily </a:t>
            </a:r>
            <a:r>
              <a:rPr sz="1000" spc="-10" dirty="0">
                <a:solidFill>
                  <a:srgbClr val="0000FA"/>
                </a:solidFill>
                <a:latin typeface="Arial"/>
                <a:cs typeface="Arial"/>
              </a:rPr>
              <a:t>extensible</a:t>
            </a:r>
            <a:endParaRPr sz="1000" dirty="0">
              <a:latin typeface="Arial"/>
              <a:cs typeface="Arial"/>
            </a:endParaRPr>
          </a:p>
        </p:txBody>
      </p:sp>
      <p:sp>
        <p:nvSpPr>
          <p:cNvPr id="6" name="object 6"/>
          <p:cNvSpPr txBox="1"/>
          <p:nvPr/>
        </p:nvSpPr>
        <p:spPr>
          <a:xfrm>
            <a:off x="66713" y="3327684"/>
            <a:ext cx="15894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Interoperability, </a:t>
            </a:r>
            <a:r>
              <a:rPr sz="600" spc="-10" dirty="0">
                <a:solidFill>
                  <a:srgbClr val="3333B2"/>
                </a:solidFill>
                <a:latin typeface="Arial"/>
                <a:cs typeface="Arial"/>
                <a:hlinkClick r:id="rId5" action="ppaction://hlinksldjump"/>
              </a:rPr>
              <a:t>composability,</a:t>
            </a:r>
            <a:r>
              <a:rPr sz="600" spc="-5" dirty="0">
                <a:solidFill>
                  <a:srgbClr val="3333B2"/>
                </a:solidFill>
                <a:latin typeface="Arial"/>
                <a:cs typeface="Arial"/>
                <a:hlinkClick r:id="rId5" action="ppaction://hlinksldjump"/>
              </a:rPr>
              <a:t> and</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extensibility</a:t>
            </a:r>
            <a:endParaRPr sz="600">
              <a:latin typeface="Arial"/>
              <a:cs typeface="Arial"/>
            </a:endParaRPr>
          </a:p>
        </p:txBody>
      </p:sp>
      <p:sp>
        <p:nvSpPr>
          <p:cNvPr id="7" name="object 7"/>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1893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Separating policy from mechanism</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13</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131843" y="716"/>
            <a:ext cx="4095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open</a:t>
            </a:r>
            <a:endParaRPr sz="600">
              <a:latin typeface="Arial"/>
              <a:cs typeface="Arial"/>
            </a:endParaRPr>
          </a:p>
        </p:txBody>
      </p:sp>
      <p:sp>
        <p:nvSpPr>
          <p:cNvPr id="4" name="object 4"/>
          <p:cNvSpPr txBox="1"/>
          <p:nvPr/>
        </p:nvSpPr>
        <p:spPr>
          <a:xfrm>
            <a:off x="69900" y="188846"/>
            <a:ext cx="4163060" cy="2642870"/>
          </a:xfrm>
          <a:prstGeom prst="rect">
            <a:avLst/>
          </a:prstGeom>
        </p:spPr>
        <p:txBody>
          <a:bodyPr vert="horz" wrap="square" lIns="0" tIns="17145" rIns="0" bIns="0" rtlCol="0">
            <a:spAutoFit/>
          </a:bodyPr>
          <a:lstStyle/>
          <a:p>
            <a:pPr marL="38100">
              <a:lnSpc>
                <a:spcPct val="100000"/>
              </a:lnSpc>
              <a:spcBef>
                <a:spcPts val="135"/>
              </a:spcBef>
            </a:pPr>
            <a:r>
              <a:rPr sz="1400" spc="5" dirty="0">
                <a:solidFill>
                  <a:srgbClr val="3333B2"/>
                </a:solidFill>
                <a:latin typeface="Arial"/>
                <a:cs typeface="Arial"/>
              </a:rPr>
              <a:t>Policies</a:t>
            </a:r>
            <a:r>
              <a:rPr sz="1400" spc="-15" dirty="0">
                <a:solidFill>
                  <a:srgbClr val="3333B2"/>
                </a:solidFill>
                <a:latin typeface="Arial"/>
                <a:cs typeface="Arial"/>
              </a:rPr>
              <a:t> </a:t>
            </a:r>
            <a:r>
              <a:rPr sz="1400" spc="10" dirty="0">
                <a:solidFill>
                  <a:srgbClr val="3333B2"/>
                </a:solidFill>
                <a:latin typeface="Arial"/>
                <a:cs typeface="Arial"/>
              </a:rPr>
              <a:t>versus</a:t>
            </a:r>
            <a:r>
              <a:rPr sz="1400" spc="-10" dirty="0">
                <a:solidFill>
                  <a:srgbClr val="3333B2"/>
                </a:solidFill>
                <a:latin typeface="Arial"/>
                <a:cs typeface="Arial"/>
              </a:rPr>
              <a:t> </a:t>
            </a:r>
            <a:r>
              <a:rPr sz="1400" spc="15" dirty="0">
                <a:solidFill>
                  <a:srgbClr val="3333B2"/>
                </a:solidFill>
                <a:latin typeface="Arial"/>
                <a:cs typeface="Arial"/>
              </a:rPr>
              <a:t>mechanisms</a:t>
            </a:r>
            <a:endParaRPr sz="1400" dirty="0">
              <a:latin typeface="Arial"/>
              <a:cs typeface="Arial"/>
            </a:endParaRPr>
          </a:p>
          <a:p>
            <a:pPr>
              <a:lnSpc>
                <a:spcPct val="100000"/>
              </a:lnSpc>
              <a:spcBef>
                <a:spcPts val="35"/>
              </a:spcBef>
            </a:pPr>
            <a:endParaRPr sz="1850" dirty="0">
              <a:latin typeface="Arial"/>
              <a:cs typeface="Arial"/>
            </a:endParaRPr>
          </a:p>
          <a:p>
            <a:pPr marL="289560">
              <a:lnSpc>
                <a:spcPct val="100000"/>
              </a:lnSpc>
            </a:pPr>
            <a:r>
              <a:rPr sz="1200" spc="-5" dirty="0">
                <a:solidFill>
                  <a:srgbClr val="3333B2"/>
                </a:solidFill>
                <a:latin typeface="Arial"/>
                <a:cs typeface="Arial"/>
              </a:rPr>
              <a:t>Implementing</a:t>
            </a:r>
            <a:r>
              <a:rPr sz="1200" spc="-15" dirty="0">
                <a:solidFill>
                  <a:srgbClr val="3333B2"/>
                </a:solidFill>
                <a:latin typeface="Arial"/>
                <a:cs typeface="Arial"/>
              </a:rPr>
              <a:t> </a:t>
            </a:r>
            <a:r>
              <a:rPr sz="1200" spc="-5" dirty="0">
                <a:solidFill>
                  <a:srgbClr val="3333B2"/>
                </a:solidFill>
                <a:latin typeface="Arial"/>
                <a:cs typeface="Arial"/>
              </a:rPr>
              <a:t>openness:</a:t>
            </a:r>
            <a:r>
              <a:rPr sz="1200" spc="70" dirty="0">
                <a:solidFill>
                  <a:srgbClr val="3333B2"/>
                </a:solidFill>
                <a:latin typeface="Arial"/>
                <a:cs typeface="Arial"/>
              </a:rPr>
              <a:t> </a:t>
            </a:r>
            <a:r>
              <a:rPr sz="1200" spc="-5" dirty="0">
                <a:solidFill>
                  <a:srgbClr val="3333B2"/>
                </a:solidFill>
                <a:latin typeface="Arial"/>
                <a:cs typeface="Arial"/>
              </a:rPr>
              <a:t>policies</a:t>
            </a:r>
            <a:endParaRPr sz="1200" dirty="0">
              <a:latin typeface="Arial"/>
              <a:cs typeface="Arial"/>
            </a:endParaRPr>
          </a:p>
          <a:p>
            <a:pPr marL="567055" indent="-168275">
              <a:lnSpc>
                <a:spcPts val="1200"/>
              </a:lnSpc>
              <a:spcBef>
                <a:spcPts val="790"/>
              </a:spcBef>
              <a:buClr>
                <a:srgbClr val="3333B2"/>
              </a:buClr>
              <a:buChar char="►"/>
              <a:tabLst>
                <a:tab pos="567690" algn="l"/>
              </a:tabLst>
            </a:pPr>
            <a:r>
              <a:rPr sz="1000" spc="-5" dirty="0">
                <a:latin typeface="Arial"/>
                <a:cs typeface="Arial"/>
              </a:rPr>
              <a:t>What</a:t>
            </a:r>
            <a:r>
              <a:rPr sz="1000" dirty="0">
                <a:latin typeface="Arial"/>
                <a:cs typeface="Arial"/>
              </a:rPr>
              <a:t> </a:t>
            </a:r>
            <a:r>
              <a:rPr sz="1000" spc="-15" dirty="0">
                <a:latin typeface="Arial"/>
                <a:cs typeface="Arial"/>
              </a:rPr>
              <a:t>level</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consistency</a:t>
            </a:r>
            <a:r>
              <a:rPr sz="1000" spc="5" dirty="0">
                <a:latin typeface="Arial"/>
                <a:cs typeface="Arial"/>
              </a:rPr>
              <a:t> </a:t>
            </a:r>
            <a:r>
              <a:rPr sz="1000" spc="-5" dirty="0">
                <a:latin typeface="Arial"/>
                <a:cs typeface="Arial"/>
              </a:rPr>
              <a:t>do</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require</a:t>
            </a:r>
            <a:r>
              <a:rPr sz="1000" dirty="0">
                <a:latin typeface="Arial"/>
                <a:cs typeface="Arial"/>
              </a:rPr>
              <a:t> </a:t>
            </a:r>
            <a:r>
              <a:rPr sz="1000" spc="-15" dirty="0">
                <a:latin typeface="Arial"/>
                <a:cs typeface="Arial"/>
              </a:rPr>
              <a:t>for</a:t>
            </a:r>
            <a:r>
              <a:rPr sz="1000" spc="5" dirty="0">
                <a:latin typeface="Arial"/>
                <a:cs typeface="Arial"/>
              </a:rPr>
              <a:t> </a:t>
            </a:r>
            <a:r>
              <a:rPr sz="1000" spc="-5" dirty="0">
                <a:latin typeface="Arial"/>
                <a:cs typeface="Arial"/>
              </a:rPr>
              <a:t>client-cached</a:t>
            </a:r>
            <a:r>
              <a:rPr sz="1000" dirty="0">
                <a:latin typeface="Arial"/>
                <a:cs typeface="Arial"/>
              </a:rPr>
              <a:t> </a:t>
            </a:r>
            <a:r>
              <a:rPr sz="1000" spc="-5" dirty="0">
                <a:latin typeface="Arial"/>
                <a:cs typeface="Arial"/>
              </a:rPr>
              <a:t>data?</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Which</a:t>
            </a:r>
            <a:r>
              <a:rPr sz="1000" spc="-10" dirty="0">
                <a:latin typeface="Arial"/>
                <a:cs typeface="Arial"/>
              </a:rPr>
              <a:t> </a:t>
            </a:r>
            <a:r>
              <a:rPr sz="1000" spc="-5" dirty="0">
                <a:latin typeface="Arial"/>
                <a:cs typeface="Arial"/>
              </a:rPr>
              <a:t>operations do </a:t>
            </a:r>
            <a:r>
              <a:rPr sz="1000" spc="-10" dirty="0">
                <a:latin typeface="Arial"/>
                <a:cs typeface="Arial"/>
              </a:rPr>
              <a:t>we</a:t>
            </a:r>
            <a:r>
              <a:rPr sz="1000" spc="-5" dirty="0">
                <a:latin typeface="Arial"/>
                <a:cs typeface="Arial"/>
              </a:rPr>
              <a:t> allow downloaded code</a:t>
            </a:r>
            <a:r>
              <a:rPr sz="1000" spc="-10" dirty="0">
                <a:latin typeface="Arial"/>
                <a:cs typeface="Arial"/>
              </a:rPr>
              <a:t> </a:t>
            </a:r>
            <a:r>
              <a:rPr sz="1000" spc="-5" dirty="0">
                <a:latin typeface="Arial"/>
                <a:cs typeface="Arial"/>
              </a:rPr>
              <a:t>to perform?</a:t>
            </a:r>
            <a:endParaRPr sz="1000" dirty="0">
              <a:latin typeface="Arial"/>
              <a:cs typeface="Arial"/>
            </a:endParaRPr>
          </a:p>
          <a:p>
            <a:pPr marL="567055" marR="230504" indent="-168275">
              <a:lnSpc>
                <a:spcPts val="1200"/>
              </a:lnSpc>
              <a:spcBef>
                <a:spcPts val="35"/>
              </a:spcBef>
              <a:buClr>
                <a:srgbClr val="3333B2"/>
              </a:buClr>
              <a:buChar char="►"/>
              <a:tabLst>
                <a:tab pos="567690" algn="l"/>
              </a:tabLst>
            </a:pPr>
            <a:r>
              <a:rPr sz="1000" spc="-5" dirty="0">
                <a:latin typeface="Arial"/>
                <a:cs typeface="Arial"/>
              </a:rPr>
              <a:t>Which QoS</a:t>
            </a:r>
            <a:r>
              <a:rPr sz="1000" dirty="0">
                <a:latin typeface="Arial"/>
                <a:cs typeface="Arial"/>
              </a:rPr>
              <a:t> </a:t>
            </a:r>
            <a:r>
              <a:rPr sz="1000" spc="-5" dirty="0">
                <a:latin typeface="Arial"/>
                <a:cs typeface="Arial"/>
              </a:rPr>
              <a:t>requirements</a:t>
            </a:r>
            <a:r>
              <a:rPr sz="1000" dirty="0">
                <a:latin typeface="Arial"/>
                <a:cs typeface="Arial"/>
              </a:rPr>
              <a:t> </a:t>
            </a:r>
            <a:r>
              <a:rPr sz="1000" spc="-5" dirty="0">
                <a:latin typeface="Arial"/>
                <a:cs typeface="Arial"/>
              </a:rPr>
              <a:t>do </a:t>
            </a:r>
            <a:r>
              <a:rPr sz="1000" spc="-10" dirty="0">
                <a:latin typeface="Arial"/>
                <a:cs typeface="Arial"/>
              </a:rPr>
              <a:t>we</a:t>
            </a:r>
            <a:r>
              <a:rPr sz="1000" dirty="0">
                <a:latin typeface="Arial"/>
                <a:cs typeface="Arial"/>
              </a:rPr>
              <a:t> </a:t>
            </a:r>
            <a:r>
              <a:rPr sz="1000" spc="-5" dirty="0">
                <a:latin typeface="Arial"/>
                <a:cs typeface="Arial"/>
              </a:rPr>
              <a:t>adjust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 </a:t>
            </a:r>
            <a:r>
              <a:rPr sz="1000" spc="-10" dirty="0">
                <a:latin typeface="Arial"/>
                <a:cs typeface="Arial"/>
              </a:rPr>
              <a:t>face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varying </a:t>
            </a:r>
            <a:r>
              <a:rPr sz="1000" spc="-265" dirty="0">
                <a:latin typeface="Arial"/>
                <a:cs typeface="Arial"/>
              </a:rPr>
              <a:t> </a:t>
            </a:r>
            <a:r>
              <a:rPr sz="1000" spc="-5" dirty="0">
                <a:latin typeface="Arial"/>
                <a:cs typeface="Arial"/>
              </a:rPr>
              <a:t>bandwidth?</a:t>
            </a:r>
            <a:endParaRPr sz="1000" dirty="0">
              <a:latin typeface="Arial"/>
              <a:cs typeface="Arial"/>
            </a:endParaRPr>
          </a:p>
          <a:p>
            <a:pPr marL="567055" indent="-168275">
              <a:lnSpc>
                <a:spcPts val="1150"/>
              </a:lnSpc>
              <a:buClr>
                <a:srgbClr val="3333B2"/>
              </a:buClr>
              <a:buChar char="►"/>
              <a:tabLst>
                <a:tab pos="567690" algn="l"/>
              </a:tabLst>
            </a:pPr>
            <a:r>
              <a:rPr sz="1000" spc="-5" dirty="0">
                <a:latin typeface="Arial"/>
                <a:cs typeface="Arial"/>
              </a:rPr>
              <a:t>What </a:t>
            </a:r>
            <a:r>
              <a:rPr sz="1000" spc="-15" dirty="0">
                <a:latin typeface="Arial"/>
                <a:cs typeface="Arial"/>
              </a:rPr>
              <a:t>level</a:t>
            </a:r>
            <a:r>
              <a:rPr sz="1000" dirty="0">
                <a:latin typeface="Arial"/>
                <a:cs typeface="Arial"/>
              </a:rPr>
              <a:t> </a:t>
            </a:r>
            <a:r>
              <a:rPr sz="1000" spc="-5" dirty="0">
                <a:latin typeface="Arial"/>
                <a:cs typeface="Arial"/>
              </a:rPr>
              <a:t>of secrecy</a:t>
            </a:r>
            <a:r>
              <a:rPr sz="1000" dirty="0">
                <a:latin typeface="Arial"/>
                <a:cs typeface="Arial"/>
              </a:rPr>
              <a:t> </a:t>
            </a:r>
            <a:r>
              <a:rPr sz="1000" spc="-5" dirty="0">
                <a:latin typeface="Arial"/>
                <a:cs typeface="Arial"/>
              </a:rPr>
              <a:t>do </a:t>
            </a:r>
            <a:r>
              <a:rPr sz="1000" spc="-10" dirty="0">
                <a:latin typeface="Arial"/>
                <a:cs typeface="Arial"/>
              </a:rPr>
              <a:t>we</a:t>
            </a:r>
            <a:r>
              <a:rPr sz="1000" dirty="0">
                <a:latin typeface="Arial"/>
                <a:cs typeface="Arial"/>
              </a:rPr>
              <a:t> </a:t>
            </a:r>
            <a:r>
              <a:rPr sz="1000" spc="-5" dirty="0">
                <a:latin typeface="Arial"/>
                <a:cs typeface="Arial"/>
              </a:rPr>
              <a:t>require</a:t>
            </a:r>
            <a:r>
              <a:rPr sz="1000" dirty="0">
                <a:latin typeface="Arial"/>
                <a:cs typeface="Arial"/>
              </a:rPr>
              <a:t> </a:t>
            </a:r>
            <a:r>
              <a:rPr sz="1000" spc="-15" dirty="0">
                <a:latin typeface="Arial"/>
                <a:cs typeface="Arial"/>
              </a:rPr>
              <a:t>for</a:t>
            </a:r>
            <a:r>
              <a:rPr sz="1000" spc="-5" dirty="0">
                <a:latin typeface="Arial"/>
                <a:cs typeface="Arial"/>
              </a:rPr>
              <a:t> communication?</a:t>
            </a:r>
            <a:endParaRPr sz="1000" dirty="0">
              <a:latin typeface="Arial"/>
              <a:cs typeface="Arial"/>
            </a:endParaRPr>
          </a:p>
          <a:p>
            <a:pPr>
              <a:lnSpc>
                <a:spcPct val="100000"/>
              </a:lnSpc>
              <a:spcBef>
                <a:spcPts val="10"/>
              </a:spcBef>
              <a:buClr>
                <a:srgbClr val="3333B2"/>
              </a:buClr>
              <a:buFont typeface="Arial"/>
              <a:buChar char="►"/>
            </a:pPr>
            <a:endParaRPr sz="1300" dirty="0">
              <a:latin typeface="Arial"/>
              <a:cs typeface="Arial"/>
            </a:endParaRPr>
          </a:p>
          <a:p>
            <a:pPr marL="289560">
              <a:lnSpc>
                <a:spcPct val="100000"/>
              </a:lnSpc>
            </a:pPr>
            <a:r>
              <a:rPr sz="1200" spc="-5" dirty="0">
                <a:solidFill>
                  <a:srgbClr val="3333B2"/>
                </a:solidFill>
                <a:latin typeface="Arial"/>
                <a:cs typeface="Arial"/>
              </a:rPr>
              <a:t>Implementing</a:t>
            </a:r>
            <a:r>
              <a:rPr sz="1200" spc="-15" dirty="0">
                <a:solidFill>
                  <a:srgbClr val="3333B2"/>
                </a:solidFill>
                <a:latin typeface="Arial"/>
                <a:cs typeface="Arial"/>
              </a:rPr>
              <a:t> </a:t>
            </a:r>
            <a:r>
              <a:rPr sz="1200" spc="-5" dirty="0">
                <a:solidFill>
                  <a:srgbClr val="3333B2"/>
                </a:solidFill>
                <a:latin typeface="Arial"/>
                <a:cs typeface="Arial"/>
              </a:rPr>
              <a:t>openness:</a:t>
            </a:r>
            <a:r>
              <a:rPr sz="1200" spc="70" dirty="0">
                <a:solidFill>
                  <a:srgbClr val="3333B2"/>
                </a:solidFill>
                <a:latin typeface="Arial"/>
                <a:cs typeface="Arial"/>
              </a:rPr>
              <a:t> </a:t>
            </a:r>
            <a:r>
              <a:rPr sz="1200" spc="-5" dirty="0">
                <a:solidFill>
                  <a:srgbClr val="3333B2"/>
                </a:solidFill>
                <a:latin typeface="Arial"/>
                <a:cs typeface="Arial"/>
              </a:rPr>
              <a:t>mechanisms</a:t>
            </a:r>
            <a:endParaRPr sz="1200" dirty="0">
              <a:latin typeface="Arial"/>
              <a:cs typeface="Arial"/>
            </a:endParaRPr>
          </a:p>
          <a:p>
            <a:pPr marL="567055" indent="-168275">
              <a:lnSpc>
                <a:spcPts val="1200"/>
              </a:lnSpc>
              <a:spcBef>
                <a:spcPts val="790"/>
              </a:spcBef>
              <a:buClr>
                <a:srgbClr val="3333B2"/>
              </a:buClr>
              <a:buChar char="►"/>
              <a:tabLst>
                <a:tab pos="567690" algn="l"/>
              </a:tabLst>
            </a:pPr>
            <a:r>
              <a:rPr sz="1000" spc="-5" dirty="0">
                <a:latin typeface="Arial"/>
                <a:cs typeface="Arial"/>
              </a:rPr>
              <a:t>Allow (dynamic) setting of caching</a:t>
            </a:r>
            <a:r>
              <a:rPr sz="1000" dirty="0">
                <a:latin typeface="Arial"/>
                <a:cs typeface="Arial"/>
              </a:rPr>
              <a:t> </a:t>
            </a:r>
            <a:r>
              <a:rPr sz="1000" spc="-5" dirty="0">
                <a:latin typeface="Arial"/>
                <a:cs typeface="Arial"/>
              </a:rPr>
              <a:t>policies</a:t>
            </a:r>
            <a:endParaRPr sz="1000" dirty="0">
              <a:latin typeface="Arial"/>
              <a:cs typeface="Arial"/>
            </a:endParaRPr>
          </a:p>
          <a:p>
            <a:pPr marL="567055" indent="-168275">
              <a:lnSpc>
                <a:spcPts val="1195"/>
              </a:lnSpc>
              <a:buClr>
                <a:srgbClr val="3333B2"/>
              </a:buClr>
              <a:buChar char="►"/>
              <a:tabLst>
                <a:tab pos="567690" algn="l"/>
              </a:tabLst>
            </a:pPr>
            <a:r>
              <a:rPr sz="1000" dirty="0">
                <a:latin typeface="Arial"/>
                <a:cs typeface="Arial"/>
              </a:rPr>
              <a:t>Support</a:t>
            </a:r>
            <a:r>
              <a:rPr sz="1000" spc="-10" dirty="0">
                <a:latin typeface="Arial"/>
                <a:cs typeface="Arial"/>
              </a:rPr>
              <a:t> </a:t>
            </a:r>
            <a:r>
              <a:rPr sz="1000" spc="-5" dirty="0">
                <a:latin typeface="Arial"/>
                <a:cs typeface="Arial"/>
              </a:rPr>
              <a:t>different </a:t>
            </a:r>
            <a:r>
              <a:rPr sz="1000" spc="-15" dirty="0">
                <a:latin typeface="Arial"/>
                <a:cs typeface="Arial"/>
              </a:rPr>
              <a:t>levels</a:t>
            </a:r>
            <a:r>
              <a:rPr sz="1000" spc="-5" dirty="0">
                <a:latin typeface="Arial"/>
                <a:cs typeface="Arial"/>
              </a:rPr>
              <a:t> of </a:t>
            </a:r>
            <a:r>
              <a:rPr sz="1000" dirty="0">
                <a:latin typeface="Arial"/>
                <a:cs typeface="Arial"/>
              </a:rPr>
              <a:t>trust</a:t>
            </a:r>
            <a:r>
              <a:rPr sz="1000" spc="-5" dirty="0">
                <a:latin typeface="Arial"/>
                <a:cs typeface="Arial"/>
              </a:rPr>
              <a:t> </a:t>
            </a:r>
            <a:r>
              <a:rPr sz="1000" spc="-15" dirty="0">
                <a:latin typeface="Arial"/>
                <a:cs typeface="Arial"/>
              </a:rPr>
              <a:t>for</a:t>
            </a:r>
            <a:r>
              <a:rPr sz="1000" spc="-5" dirty="0">
                <a:latin typeface="Arial"/>
                <a:cs typeface="Arial"/>
              </a:rPr>
              <a:t> mobile code</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Provide</a:t>
            </a:r>
            <a:r>
              <a:rPr sz="1000" spc="-10" dirty="0">
                <a:latin typeface="Arial"/>
                <a:cs typeface="Arial"/>
              </a:rPr>
              <a:t> </a:t>
            </a:r>
            <a:r>
              <a:rPr sz="1000" spc="-5" dirty="0">
                <a:latin typeface="Arial"/>
                <a:cs typeface="Arial"/>
              </a:rPr>
              <a:t>adjustable QoS</a:t>
            </a:r>
            <a:r>
              <a:rPr sz="1000" spc="-10" dirty="0">
                <a:latin typeface="Arial"/>
                <a:cs typeface="Arial"/>
              </a:rPr>
              <a:t> </a:t>
            </a:r>
            <a:r>
              <a:rPr sz="1000" spc="-5" dirty="0">
                <a:latin typeface="Arial"/>
                <a:cs typeface="Arial"/>
              </a:rPr>
              <a:t>parameters per data</a:t>
            </a:r>
            <a:r>
              <a:rPr sz="1000" spc="-10" dirty="0">
                <a:latin typeface="Arial"/>
                <a:cs typeface="Arial"/>
              </a:rPr>
              <a:t> </a:t>
            </a:r>
            <a:r>
              <a:rPr sz="1000" spc="-5" dirty="0">
                <a:latin typeface="Arial"/>
                <a:cs typeface="Arial"/>
              </a:rPr>
              <a:t>stream</a:t>
            </a:r>
            <a:endParaRPr sz="1000" dirty="0">
              <a:latin typeface="Arial"/>
              <a:cs typeface="Arial"/>
            </a:endParaRPr>
          </a:p>
          <a:p>
            <a:pPr marL="567055" indent="-168275">
              <a:lnSpc>
                <a:spcPts val="1200"/>
              </a:lnSpc>
              <a:buClr>
                <a:srgbClr val="3333B2"/>
              </a:buClr>
              <a:buChar char="►"/>
              <a:tabLst>
                <a:tab pos="567690" algn="l"/>
              </a:tabLst>
            </a:pPr>
            <a:r>
              <a:rPr sz="1000" spc="-10" dirty="0">
                <a:latin typeface="Arial"/>
                <a:cs typeface="Arial"/>
              </a:rPr>
              <a:t>Offer</a:t>
            </a:r>
            <a:r>
              <a:rPr sz="1000" spc="-15" dirty="0">
                <a:latin typeface="Arial"/>
                <a:cs typeface="Arial"/>
              </a:rPr>
              <a:t> </a:t>
            </a:r>
            <a:r>
              <a:rPr sz="1000" spc="-5" dirty="0">
                <a:latin typeface="Arial"/>
                <a:cs typeface="Arial"/>
              </a:rPr>
              <a:t>different</a:t>
            </a:r>
            <a:r>
              <a:rPr sz="1000" spc="-15" dirty="0">
                <a:latin typeface="Arial"/>
                <a:cs typeface="Arial"/>
              </a:rPr>
              <a:t> </a:t>
            </a:r>
            <a:r>
              <a:rPr sz="1000" dirty="0">
                <a:latin typeface="Arial"/>
                <a:cs typeface="Arial"/>
              </a:rPr>
              <a:t>encryption</a:t>
            </a:r>
            <a:r>
              <a:rPr sz="1000" spc="-15" dirty="0">
                <a:latin typeface="Arial"/>
                <a:cs typeface="Arial"/>
              </a:rPr>
              <a:t> </a:t>
            </a:r>
            <a:r>
              <a:rPr sz="1000" spc="-5" dirty="0">
                <a:latin typeface="Arial"/>
                <a:cs typeface="Arial"/>
              </a:rPr>
              <a:t>algorithms</a:t>
            </a:r>
            <a:endParaRPr sz="1000" dirty="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893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Separating policy from mechanism</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14</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131843" y="716"/>
            <a:ext cx="4095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open</a:t>
            </a:r>
            <a:endParaRPr sz="600">
              <a:latin typeface="Arial"/>
              <a:cs typeface="Arial"/>
            </a:endParaRPr>
          </a:p>
        </p:txBody>
      </p:sp>
      <p:sp>
        <p:nvSpPr>
          <p:cNvPr id="4" name="object 4"/>
          <p:cNvSpPr txBox="1"/>
          <p:nvPr/>
        </p:nvSpPr>
        <p:spPr>
          <a:xfrm>
            <a:off x="95300" y="188846"/>
            <a:ext cx="1606550"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On</a:t>
            </a:r>
            <a:r>
              <a:rPr sz="1400" spc="-15" dirty="0">
                <a:solidFill>
                  <a:srgbClr val="3333B2"/>
                </a:solidFill>
                <a:latin typeface="Arial"/>
                <a:cs typeface="Arial"/>
              </a:rPr>
              <a:t> </a:t>
            </a:r>
            <a:r>
              <a:rPr sz="1400" spc="15" dirty="0">
                <a:solidFill>
                  <a:srgbClr val="3333B2"/>
                </a:solidFill>
                <a:latin typeface="Arial"/>
                <a:cs typeface="Arial"/>
              </a:rPr>
              <a:t>strict</a:t>
            </a:r>
            <a:r>
              <a:rPr sz="1400" spc="-15" dirty="0">
                <a:solidFill>
                  <a:srgbClr val="3333B2"/>
                </a:solidFill>
                <a:latin typeface="Arial"/>
                <a:cs typeface="Arial"/>
              </a:rPr>
              <a:t> </a:t>
            </a:r>
            <a:r>
              <a:rPr sz="1400" spc="10" dirty="0">
                <a:solidFill>
                  <a:srgbClr val="3333B2"/>
                </a:solidFill>
                <a:latin typeface="Arial"/>
                <a:cs typeface="Arial"/>
              </a:rPr>
              <a:t>separation</a:t>
            </a:r>
            <a:endParaRPr sz="1400" dirty="0">
              <a:latin typeface="Arial"/>
              <a:cs typeface="Arial"/>
            </a:endParaRPr>
          </a:p>
        </p:txBody>
      </p:sp>
      <p:sp>
        <p:nvSpPr>
          <p:cNvPr id="5" name="object 5"/>
          <p:cNvSpPr txBox="1"/>
          <p:nvPr/>
        </p:nvSpPr>
        <p:spPr>
          <a:xfrm>
            <a:off x="342747" y="1070150"/>
            <a:ext cx="3870960" cy="1256030"/>
          </a:xfrm>
          <a:prstGeom prst="rect">
            <a:avLst/>
          </a:prstGeom>
        </p:spPr>
        <p:txBody>
          <a:bodyPr vert="horz" wrap="square" lIns="0" tIns="12065" rIns="0" bIns="0" rtlCol="0">
            <a:spAutoFit/>
          </a:bodyPr>
          <a:lstStyle/>
          <a:p>
            <a:pPr marL="17145">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12700" marR="10795" indent="63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stricter</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separation</a:t>
            </a:r>
            <a:r>
              <a:rPr sz="1000" dirty="0">
                <a:latin typeface="Arial"/>
                <a:cs typeface="Arial"/>
              </a:rPr>
              <a:t> </a:t>
            </a:r>
            <a:r>
              <a:rPr sz="1000" spc="-5" dirty="0">
                <a:latin typeface="Arial"/>
                <a:cs typeface="Arial"/>
              </a:rPr>
              <a:t>between</a:t>
            </a:r>
            <a:r>
              <a:rPr sz="1000" spc="5" dirty="0">
                <a:latin typeface="Arial"/>
                <a:cs typeface="Arial"/>
              </a:rPr>
              <a:t> </a:t>
            </a:r>
            <a:r>
              <a:rPr sz="1000" spc="-5" dirty="0">
                <a:latin typeface="Arial"/>
                <a:cs typeface="Arial"/>
              </a:rPr>
              <a:t>policy</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mechanism,</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more </a:t>
            </a:r>
            <a:r>
              <a:rPr sz="1000" spc="-265" dirty="0">
                <a:latin typeface="Arial"/>
                <a:cs typeface="Arial"/>
              </a:rPr>
              <a:t> </a:t>
            </a:r>
            <a:r>
              <a:rPr sz="1000" spc="-10" dirty="0">
                <a:latin typeface="Arial"/>
                <a:cs typeface="Arial"/>
              </a:rPr>
              <a:t>we</a:t>
            </a:r>
            <a:r>
              <a:rPr sz="1000" spc="-5" dirty="0">
                <a:latin typeface="Arial"/>
                <a:cs typeface="Arial"/>
              </a:rPr>
              <a:t> need</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make</a:t>
            </a:r>
            <a:r>
              <a:rPr sz="1000" dirty="0">
                <a:latin typeface="Arial"/>
                <a:cs typeface="Arial"/>
              </a:rPr>
              <a:t> </a:t>
            </a:r>
            <a:r>
              <a:rPr sz="1000" spc="-5" dirty="0">
                <a:latin typeface="Arial"/>
                <a:cs typeface="Arial"/>
              </a:rPr>
              <a:t>ensure</a:t>
            </a:r>
            <a:r>
              <a:rPr sz="1000" dirty="0">
                <a:latin typeface="Arial"/>
                <a:cs typeface="Arial"/>
              </a:rPr>
              <a:t> </a:t>
            </a:r>
            <a:r>
              <a:rPr sz="1000" spc="-5" dirty="0">
                <a:latin typeface="Arial"/>
                <a:cs typeface="Arial"/>
              </a:rPr>
              <a:t>proper</a:t>
            </a:r>
            <a:r>
              <a:rPr sz="1000" dirty="0">
                <a:latin typeface="Arial"/>
                <a:cs typeface="Arial"/>
              </a:rPr>
              <a:t> </a:t>
            </a:r>
            <a:r>
              <a:rPr sz="1000" spc="-5" dirty="0">
                <a:latin typeface="Arial"/>
                <a:cs typeface="Arial"/>
              </a:rPr>
              <a:t>mechanisms,</a:t>
            </a:r>
            <a:r>
              <a:rPr sz="1000" dirty="0">
                <a:latin typeface="Arial"/>
                <a:cs typeface="Arial"/>
              </a:rPr>
              <a:t> </a:t>
            </a:r>
            <a:r>
              <a:rPr sz="1000" spc="-5" dirty="0">
                <a:latin typeface="Arial"/>
                <a:cs typeface="Arial"/>
              </a:rPr>
              <a:t>potentially</a:t>
            </a:r>
            <a:r>
              <a:rPr sz="1000" dirty="0">
                <a:latin typeface="Arial"/>
                <a:cs typeface="Arial"/>
              </a:rPr>
              <a:t> </a:t>
            </a:r>
            <a:r>
              <a:rPr sz="1000" spc="-5" dirty="0">
                <a:latin typeface="Arial"/>
                <a:cs typeface="Arial"/>
              </a:rPr>
              <a:t>leading</a:t>
            </a:r>
            <a:r>
              <a:rPr sz="1000" dirty="0">
                <a:latin typeface="Arial"/>
                <a:cs typeface="Arial"/>
              </a:rPr>
              <a:t> </a:t>
            </a:r>
            <a:r>
              <a:rPr sz="1000" spc="-5" dirty="0">
                <a:latin typeface="Arial"/>
                <a:cs typeface="Arial"/>
              </a:rPr>
              <a:t>to </a:t>
            </a:r>
            <a:r>
              <a:rPr sz="1000" dirty="0">
                <a:latin typeface="Arial"/>
                <a:cs typeface="Arial"/>
              </a:rPr>
              <a:t> </a:t>
            </a:r>
            <a:r>
              <a:rPr sz="1000" spc="-10" dirty="0">
                <a:latin typeface="Arial"/>
                <a:cs typeface="Arial"/>
              </a:rPr>
              <a:t>many</a:t>
            </a:r>
            <a:r>
              <a:rPr sz="1000" spc="-5" dirty="0">
                <a:latin typeface="Arial"/>
                <a:cs typeface="Arial"/>
              </a:rPr>
              <a:t> configuration parameters and</a:t>
            </a:r>
            <a:r>
              <a:rPr sz="1000" dirty="0">
                <a:latin typeface="Arial"/>
                <a:cs typeface="Arial"/>
              </a:rPr>
              <a:t> </a:t>
            </a:r>
            <a:r>
              <a:rPr sz="1000" spc="-10" dirty="0">
                <a:latin typeface="Arial"/>
                <a:cs typeface="Arial"/>
              </a:rPr>
              <a:t>complex</a:t>
            </a:r>
            <a:r>
              <a:rPr sz="1000" spc="-5" dirty="0">
                <a:latin typeface="Arial"/>
                <a:cs typeface="Arial"/>
              </a:rPr>
              <a:t> management.</a:t>
            </a:r>
            <a:endParaRPr sz="1000" dirty="0">
              <a:latin typeface="Arial"/>
              <a:cs typeface="Arial"/>
            </a:endParaRPr>
          </a:p>
          <a:p>
            <a:pPr marL="17145">
              <a:lnSpc>
                <a:spcPct val="100000"/>
              </a:lnSpc>
              <a:spcBef>
                <a:spcPts val="645"/>
              </a:spcBef>
            </a:pPr>
            <a:r>
              <a:rPr sz="1200" spc="-5" dirty="0">
                <a:solidFill>
                  <a:srgbClr val="FA0000"/>
                </a:solidFill>
                <a:latin typeface="Arial"/>
                <a:cs typeface="Arial"/>
              </a:rPr>
              <a:t>Finding</a:t>
            </a:r>
            <a:r>
              <a:rPr sz="1200" spc="-25" dirty="0">
                <a:solidFill>
                  <a:srgbClr val="FA0000"/>
                </a:solidFill>
                <a:latin typeface="Arial"/>
                <a:cs typeface="Arial"/>
              </a:rPr>
              <a:t> </a:t>
            </a:r>
            <a:r>
              <a:rPr sz="1200" spc="-5" dirty="0">
                <a:solidFill>
                  <a:srgbClr val="FA0000"/>
                </a:solidFill>
                <a:latin typeface="Arial"/>
                <a:cs typeface="Arial"/>
              </a:rPr>
              <a:t>a</a:t>
            </a:r>
            <a:r>
              <a:rPr sz="1200" spc="-25" dirty="0">
                <a:solidFill>
                  <a:srgbClr val="FA0000"/>
                </a:solidFill>
                <a:latin typeface="Arial"/>
                <a:cs typeface="Arial"/>
              </a:rPr>
              <a:t> </a:t>
            </a:r>
            <a:r>
              <a:rPr sz="1200" spc="-5" dirty="0">
                <a:solidFill>
                  <a:srgbClr val="FA0000"/>
                </a:solidFill>
                <a:latin typeface="Arial"/>
                <a:cs typeface="Arial"/>
              </a:rPr>
              <a:t>balance</a:t>
            </a:r>
            <a:endParaRPr sz="1200" dirty="0">
              <a:latin typeface="Arial"/>
              <a:cs typeface="Arial"/>
            </a:endParaRPr>
          </a:p>
          <a:p>
            <a:pPr marL="17145" marR="5080">
              <a:lnSpc>
                <a:spcPct val="100000"/>
              </a:lnSpc>
              <a:spcBef>
                <a:spcPts val="190"/>
              </a:spcBef>
            </a:pPr>
            <a:r>
              <a:rPr sz="1000" spc="-5" dirty="0">
                <a:latin typeface="Arial"/>
                <a:cs typeface="Arial"/>
              </a:rPr>
              <a:t>Hard coding</a:t>
            </a:r>
            <a:r>
              <a:rPr sz="1000" dirty="0">
                <a:latin typeface="Arial"/>
                <a:cs typeface="Arial"/>
              </a:rPr>
              <a:t> </a:t>
            </a:r>
            <a:r>
              <a:rPr sz="1000" spc="-5" dirty="0">
                <a:latin typeface="Arial"/>
                <a:cs typeface="Arial"/>
              </a:rPr>
              <a:t>policies</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simplifies management</a:t>
            </a:r>
            <a:r>
              <a:rPr sz="1000" dirty="0">
                <a:latin typeface="Arial"/>
                <a:cs typeface="Arial"/>
              </a:rPr>
              <a:t> </a:t>
            </a:r>
            <a:r>
              <a:rPr sz="1000" spc="-5" dirty="0">
                <a:solidFill>
                  <a:srgbClr val="FA0000"/>
                </a:solidFill>
                <a:latin typeface="Arial"/>
                <a:cs typeface="Arial"/>
              </a:rPr>
              <a:t>and</a:t>
            </a:r>
            <a:r>
              <a:rPr sz="1000" dirty="0">
                <a:solidFill>
                  <a:srgbClr val="FA0000"/>
                </a:solidFill>
                <a:latin typeface="Arial"/>
                <a:cs typeface="Arial"/>
              </a:rPr>
              <a:t> </a:t>
            </a:r>
            <a:r>
              <a:rPr sz="1000" spc="-5" dirty="0">
                <a:latin typeface="Arial"/>
                <a:cs typeface="Arial"/>
              </a:rPr>
              <a:t>reduces </a:t>
            </a:r>
            <a:r>
              <a:rPr sz="1000" dirty="0">
                <a:latin typeface="Arial"/>
                <a:cs typeface="Arial"/>
              </a:rPr>
              <a:t> </a:t>
            </a:r>
            <a:r>
              <a:rPr sz="1000" spc="-5" dirty="0">
                <a:latin typeface="Arial"/>
                <a:cs typeface="Arial"/>
              </a:rPr>
              <a:t>complexity at</a:t>
            </a:r>
            <a:r>
              <a:rPr sz="1000" dirty="0">
                <a:latin typeface="Arial"/>
                <a:cs typeface="Arial"/>
              </a:rPr>
              <a:t> </a:t>
            </a:r>
            <a:r>
              <a:rPr sz="1000" spc="-5" dirty="0">
                <a:latin typeface="Arial"/>
                <a:cs typeface="Arial"/>
              </a:rPr>
              <a:t>the </a:t>
            </a:r>
            <a:r>
              <a:rPr sz="1000" dirty="0">
                <a:latin typeface="Arial"/>
                <a:cs typeface="Arial"/>
              </a:rPr>
              <a:t>price </a:t>
            </a:r>
            <a:r>
              <a:rPr sz="1000" spc="-5" dirty="0">
                <a:latin typeface="Arial"/>
                <a:cs typeface="Arial"/>
              </a:rPr>
              <a:t>of less</a:t>
            </a:r>
            <a:r>
              <a:rPr sz="1000" dirty="0">
                <a:latin typeface="Arial"/>
                <a:cs typeface="Arial"/>
              </a:rPr>
              <a:t> </a:t>
            </a:r>
            <a:r>
              <a:rPr sz="1000" spc="-15" dirty="0">
                <a:latin typeface="Arial"/>
                <a:cs typeface="Arial"/>
              </a:rPr>
              <a:t>flexibility.</a:t>
            </a:r>
            <a:r>
              <a:rPr sz="1000" spc="65" dirty="0">
                <a:latin typeface="Arial"/>
                <a:cs typeface="Arial"/>
              </a:rPr>
              <a:t> </a:t>
            </a:r>
            <a:r>
              <a:rPr sz="1000" spc="-5" dirty="0">
                <a:latin typeface="Arial"/>
                <a:cs typeface="Arial"/>
              </a:rPr>
              <a:t>There is</a:t>
            </a:r>
            <a:r>
              <a:rPr sz="1000" dirty="0">
                <a:latin typeface="Arial"/>
                <a:cs typeface="Arial"/>
              </a:rPr>
              <a:t> </a:t>
            </a:r>
            <a:r>
              <a:rPr sz="1000" spc="-5" dirty="0">
                <a:latin typeface="Arial"/>
                <a:cs typeface="Arial"/>
              </a:rPr>
              <a:t>no obvious</a:t>
            </a:r>
            <a:r>
              <a:rPr sz="1000" dirty="0">
                <a:latin typeface="Arial"/>
                <a:cs typeface="Arial"/>
              </a:rPr>
              <a:t> </a:t>
            </a:r>
            <a:r>
              <a:rPr sz="1000" spc="-5" dirty="0">
                <a:latin typeface="Arial"/>
                <a:cs typeface="Arial"/>
              </a:rPr>
              <a:t>solution.</a:t>
            </a:r>
            <a:endParaRPr sz="1000" dirty="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Scalability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dimensions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Being scala</a:t>
            </a:r>
            <a:r>
              <a:rPr sz="600" spc="-20" dirty="0">
                <a:solidFill>
                  <a:srgbClr val="262685"/>
                </a:solidFill>
                <a:latin typeface="Arial"/>
                <a:cs typeface="Arial"/>
                <a:hlinkClick r:id="rId3" action="ppaction://hlinksldjump"/>
              </a:rPr>
              <a:t>b</a:t>
            </a:r>
            <a:r>
              <a:rPr sz="600" spc="-5" dirty="0">
                <a:solidFill>
                  <a:srgbClr val="262685"/>
                </a:solidFill>
                <a:latin typeface="Arial"/>
                <a:cs typeface="Arial"/>
                <a:hlinkClick r:id="rId3" action="ppaction://hlinksldjump"/>
              </a:rPr>
              <a:t>le</a:t>
            </a:r>
            <a:endParaRPr sz="600">
              <a:latin typeface="Arial"/>
              <a:cs typeface="Arial"/>
            </a:endParaRPr>
          </a:p>
        </p:txBody>
      </p:sp>
      <p:sp>
        <p:nvSpPr>
          <p:cNvPr id="4" name="object 4"/>
          <p:cNvSpPr txBox="1"/>
          <p:nvPr/>
        </p:nvSpPr>
        <p:spPr>
          <a:xfrm>
            <a:off x="95300" y="188846"/>
            <a:ext cx="3980815" cy="99758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Scale</a:t>
            </a:r>
            <a:r>
              <a:rPr sz="1400" spc="-5" dirty="0">
                <a:solidFill>
                  <a:srgbClr val="3333B2"/>
                </a:solidFill>
                <a:latin typeface="Arial"/>
                <a:cs typeface="Arial"/>
              </a:rPr>
              <a:t> </a:t>
            </a:r>
            <a:r>
              <a:rPr sz="1400" spc="10" dirty="0">
                <a:solidFill>
                  <a:srgbClr val="3333B2"/>
                </a:solidFill>
                <a:latin typeface="Arial"/>
                <a:cs typeface="Arial"/>
              </a:rPr>
              <a:t>in</a:t>
            </a:r>
            <a:r>
              <a:rPr sz="1400" dirty="0">
                <a:solidFill>
                  <a:srgbClr val="3333B2"/>
                </a:solidFill>
                <a:latin typeface="Arial"/>
                <a:cs typeface="Arial"/>
              </a:rPr>
              <a:t>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marL="264160">
              <a:lnSpc>
                <a:spcPts val="1410"/>
              </a:lnSpc>
              <a:spcBef>
                <a:spcPts val="960"/>
              </a:spcBef>
            </a:pPr>
            <a:r>
              <a:rPr sz="1200" spc="-5" dirty="0">
                <a:solidFill>
                  <a:srgbClr val="3333B2"/>
                </a:solidFill>
                <a:latin typeface="Arial"/>
                <a:cs typeface="Arial"/>
              </a:rPr>
              <a:t>Observation</a:t>
            </a:r>
            <a:endParaRPr sz="1200" dirty="0">
              <a:latin typeface="Arial"/>
              <a:cs typeface="Arial"/>
            </a:endParaRPr>
          </a:p>
          <a:p>
            <a:pPr marL="264160" marR="5080">
              <a:lnSpc>
                <a:spcPts val="1200"/>
              </a:lnSpc>
              <a:spcBef>
                <a:spcPts val="10"/>
              </a:spcBef>
            </a:pPr>
            <a:r>
              <a:rPr sz="1000" spc="-10" dirty="0">
                <a:latin typeface="Arial"/>
                <a:cs typeface="Arial"/>
              </a:rPr>
              <a:t>Many</a:t>
            </a:r>
            <a:r>
              <a:rPr sz="1000" spc="-5" dirty="0">
                <a:latin typeface="Arial"/>
                <a:cs typeface="Arial"/>
              </a:rPr>
              <a:t> </a:t>
            </a:r>
            <a:r>
              <a:rPr sz="1000" spc="-10" dirty="0">
                <a:latin typeface="Arial"/>
                <a:cs typeface="Arial"/>
              </a:rPr>
              <a:t>developers</a:t>
            </a:r>
            <a:r>
              <a:rPr sz="1000" dirty="0">
                <a:latin typeface="Arial"/>
                <a:cs typeface="Arial"/>
              </a:rPr>
              <a:t> </a:t>
            </a:r>
            <a:r>
              <a:rPr sz="1000" spc="-5" dirty="0">
                <a:latin typeface="Arial"/>
                <a:cs typeface="Arial"/>
              </a:rPr>
              <a:t>of </a:t>
            </a:r>
            <a:r>
              <a:rPr sz="1000" dirty="0">
                <a:latin typeface="Arial"/>
                <a:cs typeface="Arial"/>
              </a:rPr>
              <a:t>modern </a:t>
            </a:r>
            <a:r>
              <a:rPr sz="1000" spc="-5" dirty="0">
                <a:latin typeface="Arial"/>
                <a:cs typeface="Arial"/>
              </a:rPr>
              <a:t>distributed systems</a:t>
            </a:r>
            <a:r>
              <a:rPr sz="1000" dirty="0">
                <a:latin typeface="Arial"/>
                <a:cs typeface="Arial"/>
              </a:rPr>
              <a:t> </a:t>
            </a:r>
            <a:r>
              <a:rPr sz="1000" spc="-5" dirty="0">
                <a:latin typeface="Arial"/>
                <a:cs typeface="Arial"/>
              </a:rPr>
              <a:t>easily</a:t>
            </a:r>
            <a:r>
              <a:rPr sz="1000" dirty="0">
                <a:latin typeface="Arial"/>
                <a:cs typeface="Arial"/>
              </a:rPr>
              <a:t> </a:t>
            </a:r>
            <a:r>
              <a:rPr sz="1000" spc="-5" dirty="0">
                <a:latin typeface="Arial"/>
                <a:cs typeface="Arial"/>
              </a:rPr>
              <a:t>use the </a:t>
            </a:r>
            <a:r>
              <a:rPr sz="1000" dirty="0">
                <a:latin typeface="Arial"/>
                <a:cs typeface="Arial"/>
              </a:rPr>
              <a:t> </a:t>
            </a:r>
            <a:r>
              <a:rPr sz="1000" spc="-5" dirty="0">
                <a:latin typeface="Arial"/>
                <a:cs typeface="Arial"/>
              </a:rPr>
              <a:t>adjective</a:t>
            </a:r>
            <a:r>
              <a:rPr sz="1000" dirty="0">
                <a:latin typeface="Arial"/>
                <a:cs typeface="Arial"/>
              </a:rPr>
              <a:t> </a:t>
            </a:r>
            <a:r>
              <a:rPr sz="1000" spc="-5" dirty="0">
                <a:latin typeface="Arial"/>
                <a:cs typeface="Arial"/>
              </a:rPr>
              <a:t>“scalable”</a:t>
            </a:r>
            <a:r>
              <a:rPr sz="1000" dirty="0">
                <a:latin typeface="Arial"/>
                <a:cs typeface="Arial"/>
              </a:rPr>
              <a:t> </a:t>
            </a:r>
            <a:r>
              <a:rPr sz="1000" spc="-5" dirty="0">
                <a:latin typeface="Arial"/>
                <a:cs typeface="Arial"/>
              </a:rPr>
              <a:t>without</a:t>
            </a:r>
            <a:r>
              <a:rPr sz="1000" dirty="0">
                <a:latin typeface="Arial"/>
                <a:cs typeface="Arial"/>
              </a:rPr>
              <a:t> </a:t>
            </a:r>
            <a:r>
              <a:rPr sz="1000" spc="-5" dirty="0">
                <a:latin typeface="Arial"/>
                <a:cs typeface="Arial"/>
              </a:rPr>
              <a:t>making</a:t>
            </a:r>
            <a:r>
              <a:rPr sz="1000" dirty="0">
                <a:latin typeface="Arial"/>
                <a:cs typeface="Arial"/>
              </a:rPr>
              <a:t> </a:t>
            </a:r>
            <a:r>
              <a:rPr sz="1000" spc="-5" dirty="0">
                <a:latin typeface="Arial"/>
                <a:cs typeface="Arial"/>
              </a:rPr>
              <a:t>clear</a:t>
            </a:r>
            <a:r>
              <a:rPr sz="1000" dirty="0">
                <a:latin typeface="Arial"/>
                <a:cs typeface="Arial"/>
              </a:rPr>
              <a:t> </a:t>
            </a:r>
            <a:r>
              <a:rPr sz="1000" spc="-15" dirty="0">
                <a:solidFill>
                  <a:srgbClr val="FA0000"/>
                </a:solidFill>
                <a:latin typeface="Arial"/>
                <a:cs typeface="Arial"/>
              </a:rPr>
              <a:t>why</a:t>
            </a:r>
            <a:r>
              <a:rPr sz="1000" dirty="0">
                <a:solidFill>
                  <a:srgbClr val="FA0000"/>
                </a:solidFill>
                <a:latin typeface="Arial"/>
                <a:cs typeface="Arial"/>
              </a:rPr>
              <a:t> </a:t>
            </a:r>
            <a:r>
              <a:rPr sz="1000" spc="-5" dirty="0">
                <a:latin typeface="Arial"/>
                <a:cs typeface="Arial"/>
              </a:rPr>
              <a:t>their</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actually </a:t>
            </a:r>
            <a:r>
              <a:rPr sz="1000" spc="-260" dirty="0">
                <a:latin typeface="Arial"/>
                <a:cs typeface="Arial"/>
              </a:rPr>
              <a:t> </a:t>
            </a:r>
            <a:r>
              <a:rPr sz="1000" spc="-5" dirty="0">
                <a:latin typeface="Arial"/>
                <a:cs typeface="Arial"/>
              </a:rPr>
              <a:t>scales.</a:t>
            </a:r>
            <a:endParaRPr sz="1000" dirty="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Scalability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dimensions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Being scala</a:t>
            </a:r>
            <a:r>
              <a:rPr sz="600" spc="-20" dirty="0">
                <a:solidFill>
                  <a:srgbClr val="262685"/>
                </a:solidFill>
                <a:latin typeface="Arial"/>
                <a:cs typeface="Arial"/>
                <a:hlinkClick r:id="rId3" action="ppaction://hlinksldjump"/>
              </a:rPr>
              <a:t>b</a:t>
            </a:r>
            <a:r>
              <a:rPr sz="600" spc="-5" dirty="0">
                <a:solidFill>
                  <a:srgbClr val="262685"/>
                </a:solidFill>
                <a:latin typeface="Arial"/>
                <a:cs typeface="Arial"/>
                <a:hlinkClick r:id="rId3" action="ppaction://hlinksldjump"/>
              </a:rPr>
              <a:t>le</a:t>
            </a:r>
            <a:endParaRPr sz="600">
              <a:latin typeface="Arial"/>
              <a:cs typeface="Arial"/>
            </a:endParaRPr>
          </a:p>
        </p:txBody>
      </p:sp>
      <p:sp>
        <p:nvSpPr>
          <p:cNvPr id="4" name="object 4"/>
          <p:cNvSpPr txBox="1"/>
          <p:nvPr/>
        </p:nvSpPr>
        <p:spPr>
          <a:xfrm>
            <a:off x="69900" y="188846"/>
            <a:ext cx="4031615" cy="1974214"/>
          </a:xfrm>
          <a:prstGeom prst="rect">
            <a:avLst/>
          </a:prstGeom>
        </p:spPr>
        <p:txBody>
          <a:bodyPr vert="horz" wrap="square" lIns="0" tIns="17145" rIns="0" bIns="0" rtlCol="0">
            <a:spAutoFit/>
          </a:bodyPr>
          <a:lstStyle/>
          <a:p>
            <a:pPr marR="1689735" algn="ctr">
              <a:lnSpc>
                <a:spcPct val="100000"/>
              </a:lnSpc>
              <a:spcBef>
                <a:spcPts val="135"/>
              </a:spcBef>
            </a:pPr>
            <a:r>
              <a:rPr sz="1400" spc="15" dirty="0">
                <a:solidFill>
                  <a:srgbClr val="3333B2"/>
                </a:solidFill>
                <a:latin typeface="Arial"/>
                <a:cs typeface="Arial"/>
              </a:rPr>
              <a:t>Scale</a:t>
            </a:r>
            <a:r>
              <a:rPr sz="1400" spc="-5" dirty="0">
                <a:solidFill>
                  <a:srgbClr val="3333B2"/>
                </a:solidFill>
                <a:latin typeface="Arial"/>
                <a:cs typeface="Arial"/>
              </a:rPr>
              <a:t> </a:t>
            </a:r>
            <a:r>
              <a:rPr sz="1400" spc="10" dirty="0">
                <a:solidFill>
                  <a:srgbClr val="3333B2"/>
                </a:solidFill>
                <a:latin typeface="Arial"/>
                <a:cs typeface="Arial"/>
              </a:rPr>
              <a:t>in</a:t>
            </a:r>
            <a:r>
              <a:rPr sz="1400" dirty="0">
                <a:solidFill>
                  <a:srgbClr val="3333B2"/>
                </a:solidFill>
                <a:latin typeface="Arial"/>
                <a:cs typeface="Arial"/>
              </a:rPr>
              <a:t> </a:t>
            </a:r>
            <a:r>
              <a:rPr sz="1400" spc="10" dirty="0">
                <a:solidFill>
                  <a:srgbClr val="3333B2"/>
                </a:solidFill>
                <a:latin typeface="Arial"/>
                <a:cs typeface="Arial"/>
              </a:rPr>
              <a:t>distributed</a:t>
            </a:r>
            <a:r>
              <a:rPr sz="1400"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marL="289560">
              <a:lnSpc>
                <a:spcPts val="1410"/>
              </a:lnSpc>
              <a:spcBef>
                <a:spcPts val="960"/>
              </a:spcBef>
            </a:pPr>
            <a:r>
              <a:rPr sz="1200" spc="-5" dirty="0">
                <a:solidFill>
                  <a:srgbClr val="3333B2"/>
                </a:solidFill>
                <a:latin typeface="Arial"/>
                <a:cs typeface="Arial"/>
              </a:rPr>
              <a:t>Observation</a:t>
            </a:r>
            <a:endParaRPr sz="1200" dirty="0">
              <a:latin typeface="Arial"/>
              <a:cs typeface="Arial"/>
            </a:endParaRPr>
          </a:p>
          <a:p>
            <a:pPr marL="289560" marR="30480">
              <a:lnSpc>
                <a:spcPts val="1200"/>
              </a:lnSpc>
              <a:spcBef>
                <a:spcPts val="10"/>
              </a:spcBef>
            </a:pPr>
            <a:r>
              <a:rPr sz="1000" spc="-10" dirty="0">
                <a:latin typeface="Arial"/>
                <a:cs typeface="Arial"/>
              </a:rPr>
              <a:t>Many</a:t>
            </a:r>
            <a:r>
              <a:rPr sz="1000" spc="-5" dirty="0">
                <a:latin typeface="Arial"/>
                <a:cs typeface="Arial"/>
              </a:rPr>
              <a:t> </a:t>
            </a:r>
            <a:r>
              <a:rPr sz="1000" spc="-10" dirty="0">
                <a:latin typeface="Arial"/>
                <a:cs typeface="Arial"/>
              </a:rPr>
              <a:t>developers</a:t>
            </a:r>
            <a:r>
              <a:rPr sz="1000" dirty="0">
                <a:latin typeface="Arial"/>
                <a:cs typeface="Arial"/>
              </a:rPr>
              <a:t> </a:t>
            </a:r>
            <a:r>
              <a:rPr sz="1000" spc="-5" dirty="0">
                <a:latin typeface="Arial"/>
                <a:cs typeface="Arial"/>
              </a:rPr>
              <a:t>of </a:t>
            </a:r>
            <a:r>
              <a:rPr sz="1000" dirty="0">
                <a:latin typeface="Arial"/>
                <a:cs typeface="Arial"/>
              </a:rPr>
              <a:t>modern </a:t>
            </a:r>
            <a:r>
              <a:rPr sz="1000" spc="-5" dirty="0">
                <a:latin typeface="Arial"/>
                <a:cs typeface="Arial"/>
              </a:rPr>
              <a:t>distributed systems</a:t>
            </a:r>
            <a:r>
              <a:rPr sz="1000" dirty="0">
                <a:latin typeface="Arial"/>
                <a:cs typeface="Arial"/>
              </a:rPr>
              <a:t> </a:t>
            </a:r>
            <a:r>
              <a:rPr sz="1000" spc="-5" dirty="0">
                <a:latin typeface="Arial"/>
                <a:cs typeface="Arial"/>
              </a:rPr>
              <a:t>easily</a:t>
            </a:r>
            <a:r>
              <a:rPr sz="1000" dirty="0">
                <a:latin typeface="Arial"/>
                <a:cs typeface="Arial"/>
              </a:rPr>
              <a:t> </a:t>
            </a:r>
            <a:r>
              <a:rPr sz="1000" spc="-5" dirty="0">
                <a:latin typeface="Arial"/>
                <a:cs typeface="Arial"/>
              </a:rPr>
              <a:t>use the </a:t>
            </a:r>
            <a:r>
              <a:rPr sz="1000" dirty="0">
                <a:latin typeface="Arial"/>
                <a:cs typeface="Arial"/>
              </a:rPr>
              <a:t> </a:t>
            </a:r>
            <a:r>
              <a:rPr sz="1000" spc="-5" dirty="0">
                <a:latin typeface="Arial"/>
                <a:cs typeface="Arial"/>
              </a:rPr>
              <a:t>adjective</a:t>
            </a:r>
            <a:r>
              <a:rPr sz="1000" dirty="0">
                <a:latin typeface="Arial"/>
                <a:cs typeface="Arial"/>
              </a:rPr>
              <a:t> </a:t>
            </a:r>
            <a:r>
              <a:rPr sz="1000" spc="-5" dirty="0">
                <a:latin typeface="Arial"/>
                <a:cs typeface="Arial"/>
              </a:rPr>
              <a:t>“scalable”</a:t>
            </a:r>
            <a:r>
              <a:rPr sz="1000" dirty="0">
                <a:latin typeface="Arial"/>
                <a:cs typeface="Arial"/>
              </a:rPr>
              <a:t> </a:t>
            </a:r>
            <a:r>
              <a:rPr sz="1000" spc="-5" dirty="0">
                <a:latin typeface="Arial"/>
                <a:cs typeface="Arial"/>
              </a:rPr>
              <a:t>without</a:t>
            </a:r>
            <a:r>
              <a:rPr sz="1000" dirty="0">
                <a:latin typeface="Arial"/>
                <a:cs typeface="Arial"/>
              </a:rPr>
              <a:t> </a:t>
            </a:r>
            <a:r>
              <a:rPr sz="1000" spc="-5" dirty="0">
                <a:latin typeface="Arial"/>
                <a:cs typeface="Arial"/>
              </a:rPr>
              <a:t>making</a:t>
            </a:r>
            <a:r>
              <a:rPr sz="1000" dirty="0">
                <a:latin typeface="Arial"/>
                <a:cs typeface="Arial"/>
              </a:rPr>
              <a:t> </a:t>
            </a:r>
            <a:r>
              <a:rPr sz="1000" spc="-5" dirty="0">
                <a:latin typeface="Arial"/>
                <a:cs typeface="Arial"/>
              </a:rPr>
              <a:t>clear</a:t>
            </a:r>
            <a:r>
              <a:rPr sz="1000" dirty="0">
                <a:latin typeface="Arial"/>
                <a:cs typeface="Arial"/>
              </a:rPr>
              <a:t> </a:t>
            </a:r>
            <a:r>
              <a:rPr sz="1000" spc="-15" dirty="0">
                <a:solidFill>
                  <a:srgbClr val="FA0000"/>
                </a:solidFill>
                <a:latin typeface="Arial"/>
                <a:cs typeface="Arial"/>
              </a:rPr>
              <a:t>why</a:t>
            </a:r>
            <a:r>
              <a:rPr sz="1000" dirty="0">
                <a:solidFill>
                  <a:srgbClr val="FA0000"/>
                </a:solidFill>
                <a:latin typeface="Arial"/>
                <a:cs typeface="Arial"/>
              </a:rPr>
              <a:t> </a:t>
            </a:r>
            <a:r>
              <a:rPr sz="1000" spc="-5" dirty="0">
                <a:latin typeface="Arial"/>
                <a:cs typeface="Arial"/>
              </a:rPr>
              <a:t>their</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actually </a:t>
            </a:r>
            <a:r>
              <a:rPr sz="1000" spc="-260" dirty="0">
                <a:latin typeface="Arial"/>
                <a:cs typeface="Arial"/>
              </a:rPr>
              <a:t> </a:t>
            </a:r>
            <a:r>
              <a:rPr sz="1000" spc="-5" dirty="0">
                <a:latin typeface="Arial"/>
                <a:cs typeface="Arial"/>
              </a:rPr>
              <a:t>scales.</a:t>
            </a:r>
            <a:endParaRPr sz="1000" dirty="0">
              <a:latin typeface="Arial"/>
              <a:cs typeface="Arial"/>
            </a:endParaRPr>
          </a:p>
          <a:p>
            <a:pPr marR="1689100" algn="ctr">
              <a:lnSpc>
                <a:spcPct val="100000"/>
              </a:lnSpc>
              <a:spcBef>
                <a:spcPts val="645"/>
              </a:spcBef>
            </a:pPr>
            <a:r>
              <a:rPr sz="1200" spc="-5" dirty="0">
                <a:solidFill>
                  <a:srgbClr val="3333B2"/>
                </a:solidFill>
                <a:latin typeface="Arial"/>
                <a:cs typeface="Arial"/>
              </a:rPr>
              <a:t>At</a:t>
            </a:r>
            <a:r>
              <a:rPr sz="1200" spc="-15" dirty="0">
                <a:solidFill>
                  <a:srgbClr val="3333B2"/>
                </a:solidFill>
                <a:latin typeface="Arial"/>
                <a:cs typeface="Arial"/>
              </a:rPr>
              <a:t> </a:t>
            </a:r>
            <a:r>
              <a:rPr sz="1200" spc="-5" dirty="0">
                <a:solidFill>
                  <a:srgbClr val="3333B2"/>
                </a:solidFill>
                <a:latin typeface="Arial"/>
                <a:cs typeface="Arial"/>
              </a:rPr>
              <a:t>least</a:t>
            </a:r>
            <a:r>
              <a:rPr sz="1200" spc="-15" dirty="0">
                <a:solidFill>
                  <a:srgbClr val="3333B2"/>
                </a:solidFill>
                <a:latin typeface="Arial"/>
                <a:cs typeface="Arial"/>
              </a:rPr>
              <a:t> </a:t>
            </a:r>
            <a:r>
              <a:rPr sz="1200" spc="-5" dirty="0">
                <a:solidFill>
                  <a:srgbClr val="3333B2"/>
                </a:solidFill>
                <a:latin typeface="Arial"/>
                <a:cs typeface="Arial"/>
              </a:rPr>
              <a:t>three</a:t>
            </a:r>
            <a:r>
              <a:rPr sz="1200" spc="-15" dirty="0">
                <a:solidFill>
                  <a:srgbClr val="3333B2"/>
                </a:solidFill>
                <a:latin typeface="Arial"/>
                <a:cs typeface="Arial"/>
              </a:rPr>
              <a:t> </a:t>
            </a:r>
            <a:r>
              <a:rPr sz="1200" spc="-5" dirty="0">
                <a:solidFill>
                  <a:srgbClr val="3333B2"/>
                </a:solidFill>
                <a:latin typeface="Arial"/>
                <a:cs typeface="Arial"/>
              </a:rPr>
              <a:t>components</a:t>
            </a:r>
            <a:endParaRPr sz="1200" dirty="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Number of</a:t>
            </a:r>
            <a:r>
              <a:rPr sz="1000" dirty="0">
                <a:latin typeface="Arial"/>
                <a:cs typeface="Arial"/>
              </a:rPr>
              <a:t> </a:t>
            </a:r>
            <a:r>
              <a:rPr sz="1000" spc="-5" dirty="0">
                <a:latin typeface="Arial"/>
                <a:cs typeface="Arial"/>
              </a:rPr>
              <a:t>users</a:t>
            </a:r>
            <a:r>
              <a:rPr sz="1000" dirty="0">
                <a:latin typeface="Arial"/>
                <a:cs typeface="Arial"/>
              </a:rPr>
              <a:t> </a:t>
            </a:r>
            <a:r>
              <a:rPr sz="1000" spc="-5" dirty="0">
                <a:latin typeface="Arial"/>
                <a:cs typeface="Arial"/>
              </a:rPr>
              <a:t>and/or</a:t>
            </a:r>
            <a:r>
              <a:rPr sz="1000" dirty="0">
                <a:latin typeface="Arial"/>
                <a:cs typeface="Arial"/>
              </a:rPr>
              <a:t> </a:t>
            </a:r>
            <a:r>
              <a:rPr sz="1000" spc="-5" dirty="0">
                <a:latin typeface="Arial"/>
                <a:cs typeface="Arial"/>
              </a:rPr>
              <a:t>processes </a:t>
            </a:r>
            <a:r>
              <a:rPr sz="1000" spc="-5" dirty="0">
                <a:solidFill>
                  <a:srgbClr val="FA0000"/>
                </a:solidFill>
                <a:latin typeface="Arial"/>
                <a:cs typeface="Arial"/>
              </a:rPr>
              <a:t>(size</a:t>
            </a:r>
            <a:r>
              <a:rPr sz="1000" dirty="0">
                <a:solidFill>
                  <a:srgbClr val="FA0000"/>
                </a:solidFill>
                <a:latin typeface="Arial"/>
                <a:cs typeface="Arial"/>
              </a:rPr>
              <a:t> </a:t>
            </a:r>
            <a:r>
              <a:rPr sz="1000" spc="-5" dirty="0">
                <a:solidFill>
                  <a:srgbClr val="FA0000"/>
                </a:solidFill>
                <a:latin typeface="Arial"/>
                <a:cs typeface="Arial"/>
              </a:rPr>
              <a:t>scalability)</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Maximum distance</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nodes</a:t>
            </a:r>
            <a:r>
              <a:rPr sz="1000" dirty="0">
                <a:latin typeface="Arial"/>
                <a:cs typeface="Arial"/>
              </a:rPr>
              <a:t> </a:t>
            </a:r>
            <a:r>
              <a:rPr sz="1000" spc="-5" dirty="0">
                <a:solidFill>
                  <a:srgbClr val="FA0000"/>
                </a:solidFill>
                <a:latin typeface="Arial"/>
                <a:cs typeface="Arial"/>
              </a:rPr>
              <a:t>(geographical</a:t>
            </a:r>
            <a:r>
              <a:rPr sz="1000" dirty="0">
                <a:solidFill>
                  <a:srgbClr val="FA0000"/>
                </a:solidFill>
                <a:latin typeface="Arial"/>
                <a:cs typeface="Arial"/>
              </a:rPr>
              <a:t> </a:t>
            </a:r>
            <a:r>
              <a:rPr sz="1000" spc="-5" dirty="0">
                <a:solidFill>
                  <a:srgbClr val="FA0000"/>
                </a:solidFill>
                <a:latin typeface="Arial"/>
                <a:cs typeface="Arial"/>
              </a:rPr>
              <a:t>scalability)</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Number of administrative</a:t>
            </a:r>
            <a:r>
              <a:rPr sz="1000" dirty="0">
                <a:latin typeface="Arial"/>
                <a:cs typeface="Arial"/>
              </a:rPr>
              <a:t> </a:t>
            </a:r>
            <a:r>
              <a:rPr sz="1000" spc="-5" dirty="0">
                <a:latin typeface="Arial"/>
                <a:cs typeface="Arial"/>
              </a:rPr>
              <a:t>domains </a:t>
            </a:r>
            <a:r>
              <a:rPr sz="1000" spc="-5" dirty="0">
                <a:solidFill>
                  <a:srgbClr val="FA0000"/>
                </a:solidFill>
                <a:latin typeface="Arial"/>
                <a:cs typeface="Arial"/>
              </a:rPr>
              <a:t>(administrative</a:t>
            </a:r>
            <a:r>
              <a:rPr sz="1000" dirty="0">
                <a:solidFill>
                  <a:srgbClr val="FA0000"/>
                </a:solidFill>
                <a:latin typeface="Arial"/>
                <a:cs typeface="Arial"/>
              </a:rPr>
              <a:t> </a:t>
            </a:r>
            <a:r>
              <a:rPr sz="1000" spc="-5" dirty="0">
                <a:solidFill>
                  <a:srgbClr val="FA0000"/>
                </a:solidFill>
                <a:latin typeface="Arial"/>
                <a:cs typeface="Arial"/>
              </a:rPr>
              <a:t>scalability)</a:t>
            </a:r>
            <a:endParaRPr sz="1000" dirty="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Scalability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dimensions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Being scala</a:t>
            </a:r>
            <a:r>
              <a:rPr sz="600" spc="-20" dirty="0">
                <a:solidFill>
                  <a:srgbClr val="262685"/>
                </a:solidFill>
                <a:latin typeface="Arial"/>
                <a:cs typeface="Arial"/>
                <a:hlinkClick r:id="rId3" action="ppaction://hlinksldjump"/>
              </a:rPr>
              <a:t>b</a:t>
            </a:r>
            <a:r>
              <a:rPr sz="600" spc="-5" dirty="0">
                <a:solidFill>
                  <a:srgbClr val="262685"/>
                </a:solidFill>
                <a:latin typeface="Arial"/>
                <a:cs typeface="Arial"/>
                <a:hlinkClick r:id="rId3" action="ppaction://hlinksldjump"/>
              </a:rPr>
              <a:t>le</a:t>
            </a:r>
            <a:endParaRPr sz="600">
              <a:latin typeface="Arial"/>
              <a:cs typeface="Arial"/>
            </a:endParaRPr>
          </a:p>
        </p:txBody>
      </p:sp>
      <p:sp>
        <p:nvSpPr>
          <p:cNvPr id="4" name="object 4"/>
          <p:cNvSpPr txBox="1"/>
          <p:nvPr/>
        </p:nvSpPr>
        <p:spPr>
          <a:xfrm>
            <a:off x="57200" y="188846"/>
            <a:ext cx="4206875" cy="2948940"/>
          </a:xfrm>
          <a:prstGeom prst="rect">
            <a:avLst/>
          </a:prstGeom>
        </p:spPr>
        <p:txBody>
          <a:bodyPr vert="horz" wrap="square" lIns="0" tIns="17145" rIns="0" bIns="0" rtlCol="0">
            <a:spAutoFit/>
          </a:bodyPr>
          <a:lstStyle/>
          <a:p>
            <a:pPr marR="1839595" algn="ctr">
              <a:lnSpc>
                <a:spcPct val="100000"/>
              </a:lnSpc>
              <a:spcBef>
                <a:spcPts val="135"/>
              </a:spcBef>
            </a:pPr>
            <a:r>
              <a:rPr sz="1400" spc="15" dirty="0">
                <a:solidFill>
                  <a:srgbClr val="3333B2"/>
                </a:solidFill>
                <a:latin typeface="Arial"/>
                <a:cs typeface="Arial"/>
              </a:rPr>
              <a:t>Scale</a:t>
            </a:r>
            <a:r>
              <a:rPr sz="1400" spc="-5" dirty="0">
                <a:solidFill>
                  <a:srgbClr val="3333B2"/>
                </a:solidFill>
                <a:latin typeface="Arial"/>
                <a:cs typeface="Arial"/>
              </a:rPr>
              <a:t> </a:t>
            </a:r>
            <a:r>
              <a:rPr sz="1400" spc="10" dirty="0">
                <a:solidFill>
                  <a:srgbClr val="3333B2"/>
                </a:solidFill>
                <a:latin typeface="Arial"/>
                <a:cs typeface="Arial"/>
              </a:rPr>
              <a:t>in</a:t>
            </a:r>
            <a:r>
              <a:rPr sz="1400" dirty="0">
                <a:solidFill>
                  <a:srgbClr val="3333B2"/>
                </a:solidFill>
                <a:latin typeface="Arial"/>
                <a:cs typeface="Arial"/>
              </a:rPr>
              <a:t> </a:t>
            </a:r>
            <a:r>
              <a:rPr sz="1400" spc="10" dirty="0">
                <a:solidFill>
                  <a:srgbClr val="3333B2"/>
                </a:solidFill>
                <a:latin typeface="Arial"/>
                <a:cs typeface="Arial"/>
              </a:rPr>
              <a:t>distributed</a:t>
            </a:r>
            <a:r>
              <a:rPr sz="1400"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marL="302260">
              <a:lnSpc>
                <a:spcPts val="1410"/>
              </a:lnSpc>
              <a:spcBef>
                <a:spcPts val="960"/>
              </a:spcBef>
            </a:pPr>
            <a:r>
              <a:rPr sz="1200" spc="-5" dirty="0">
                <a:solidFill>
                  <a:srgbClr val="3333B2"/>
                </a:solidFill>
                <a:latin typeface="Arial"/>
                <a:cs typeface="Arial"/>
              </a:rPr>
              <a:t>Observation</a:t>
            </a:r>
            <a:endParaRPr sz="1200" dirty="0">
              <a:latin typeface="Arial"/>
              <a:cs typeface="Arial"/>
            </a:endParaRPr>
          </a:p>
          <a:p>
            <a:pPr marL="302260" marR="192405">
              <a:lnSpc>
                <a:spcPts val="1200"/>
              </a:lnSpc>
              <a:spcBef>
                <a:spcPts val="10"/>
              </a:spcBef>
            </a:pPr>
            <a:r>
              <a:rPr sz="1000" spc="-10" dirty="0">
                <a:latin typeface="Arial"/>
                <a:cs typeface="Arial"/>
              </a:rPr>
              <a:t>Many</a:t>
            </a:r>
            <a:r>
              <a:rPr sz="1000" spc="-5" dirty="0">
                <a:latin typeface="Arial"/>
                <a:cs typeface="Arial"/>
              </a:rPr>
              <a:t> </a:t>
            </a:r>
            <a:r>
              <a:rPr sz="1000" spc="-10" dirty="0">
                <a:latin typeface="Arial"/>
                <a:cs typeface="Arial"/>
              </a:rPr>
              <a:t>developers</a:t>
            </a:r>
            <a:r>
              <a:rPr sz="1000" dirty="0">
                <a:latin typeface="Arial"/>
                <a:cs typeface="Arial"/>
              </a:rPr>
              <a:t> </a:t>
            </a:r>
            <a:r>
              <a:rPr sz="1000" spc="-5" dirty="0">
                <a:latin typeface="Arial"/>
                <a:cs typeface="Arial"/>
              </a:rPr>
              <a:t>of </a:t>
            </a:r>
            <a:r>
              <a:rPr sz="1000" dirty="0">
                <a:latin typeface="Arial"/>
                <a:cs typeface="Arial"/>
              </a:rPr>
              <a:t>modern </a:t>
            </a:r>
            <a:r>
              <a:rPr sz="1000" spc="-5" dirty="0">
                <a:latin typeface="Arial"/>
                <a:cs typeface="Arial"/>
              </a:rPr>
              <a:t>distributed systems</a:t>
            </a:r>
            <a:r>
              <a:rPr sz="1000" dirty="0">
                <a:latin typeface="Arial"/>
                <a:cs typeface="Arial"/>
              </a:rPr>
              <a:t> </a:t>
            </a:r>
            <a:r>
              <a:rPr sz="1000" spc="-5" dirty="0">
                <a:latin typeface="Arial"/>
                <a:cs typeface="Arial"/>
              </a:rPr>
              <a:t>easily</a:t>
            </a:r>
            <a:r>
              <a:rPr sz="1000" dirty="0">
                <a:latin typeface="Arial"/>
                <a:cs typeface="Arial"/>
              </a:rPr>
              <a:t> </a:t>
            </a:r>
            <a:r>
              <a:rPr sz="1000" spc="-5" dirty="0">
                <a:latin typeface="Arial"/>
                <a:cs typeface="Arial"/>
              </a:rPr>
              <a:t>use the </a:t>
            </a:r>
            <a:r>
              <a:rPr sz="1000" dirty="0">
                <a:latin typeface="Arial"/>
                <a:cs typeface="Arial"/>
              </a:rPr>
              <a:t> </a:t>
            </a:r>
            <a:r>
              <a:rPr sz="1000" spc="-5" dirty="0">
                <a:latin typeface="Arial"/>
                <a:cs typeface="Arial"/>
              </a:rPr>
              <a:t>adjective</a:t>
            </a:r>
            <a:r>
              <a:rPr sz="1000" dirty="0">
                <a:latin typeface="Arial"/>
                <a:cs typeface="Arial"/>
              </a:rPr>
              <a:t> </a:t>
            </a:r>
            <a:r>
              <a:rPr sz="1000" spc="-5" dirty="0">
                <a:latin typeface="Arial"/>
                <a:cs typeface="Arial"/>
              </a:rPr>
              <a:t>“scalable”</a:t>
            </a:r>
            <a:r>
              <a:rPr sz="1000" dirty="0">
                <a:latin typeface="Arial"/>
                <a:cs typeface="Arial"/>
              </a:rPr>
              <a:t> </a:t>
            </a:r>
            <a:r>
              <a:rPr sz="1000" spc="-5" dirty="0">
                <a:latin typeface="Arial"/>
                <a:cs typeface="Arial"/>
              </a:rPr>
              <a:t>without</a:t>
            </a:r>
            <a:r>
              <a:rPr sz="1000" dirty="0">
                <a:latin typeface="Arial"/>
                <a:cs typeface="Arial"/>
              </a:rPr>
              <a:t> </a:t>
            </a:r>
            <a:r>
              <a:rPr sz="1000" spc="-5" dirty="0">
                <a:latin typeface="Arial"/>
                <a:cs typeface="Arial"/>
              </a:rPr>
              <a:t>making</a:t>
            </a:r>
            <a:r>
              <a:rPr sz="1000" dirty="0">
                <a:latin typeface="Arial"/>
                <a:cs typeface="Arial"/>
              </a:rPr>
              <a:t> </a:t>
            </a:r>
            <a:r>
              <a:rPr sz="1000" spc="-5" dirty="0">
                <a:latin typeface="Arial"/>
                <a:cs typeface="Arial"/>
              </a:rPr>
              <a:t>clear</a:t>
            </a:r>
            <a:r>
              <a:rPr sz="1000" dirty="0">
                <a:latin typeface="Arial"/>
                <a:cs typeface="Arial"/>
              </a:rPr>
              <a:t> </a:t>
            </a:r>
            <a:r>
              <a:rPr sz="1000" spc="-15" dirty="0">
                <a:solidFill>
                  <a:srgbClr val="FA0000"/>
                </a:solidFill>
                <a:latin typeface="Arial"/>
                <a:cs typeface="Arial"/>
              </a:rPr>
              <a:t>why</a:t>
            </a:r>
            <a:r>
              <a:rPr sz="1000" dirty="0">
                <a:solidFill>
                  <a:srgbClr val="FA0000"/>
                </a:solidFill>
                <a:latin typeface="Arial"/>
                <a:cs typeface="Arial"/>
              </a:rPr>
              <a:t> </a:t>
            </a:r>
            <a:r>
              <a:rPr sz="1000" spc="-5" dirty="0">
                <a:latin typeface="Arial"/>
                <a:cs typeface="Arial"/>
              </a:rPr>
              <a:t>their</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actually </a:t>
            </a:r>
            <a:r>
              <a:rPr sz="1000" spc="-260" dirty="0">
                <a:latin typeface="Arial"/>
                <a:cs typeface="Arial"/>
              </a:rPr>
              <a:t> </a:t>
            </a:r>
            <a:r>
              <a:rPr sz="1000" spc="-5" dirty="0">
                <a:latin typeface="Arial"/>
                <a:cs typeface="Arial"/>
              </a:rPr>
              <a:t>scales.</a:t>
            </a:r>
            <a:endParaRPr sz="1000" dirty="0">
              <a:latin typeface="Arial"/>
              <a:cs typeface="Arial"/>
            </a:endParaRPr>
          </a:p>
          <a:p>
            <a:pPr marR="1838960" algn="ctr">
              <a:lnSpc>
                <a:spcPct val="100000"/>
              </a:lnSpc>
              <a:spcBef>
                <a:spcPts val="645"/>
              </a:spcBef>
            </a:pPr>
            <a:r>
              <a:rPr sz="1200" spc="-5" dirty="0">
                <a:solidFill>
                  <a:srgbClr val="3333B2"/>
                </a:solidFill>
                <a:latin typeface="Arial"/>
                <a:cs typeface="Arial"/>
              </a:rPr>
              <a:t>At</a:t>
            </a:r>
            <a:r>
              <a:rPr sz="1200" spc="-15" dirty="0">
                <a:solidFill>
                  <a:srgbClr val="3333B2"/>
                </a:solidFill>
                <a:latin typeface="Arial"/>
                <a:cs typeface="Arial"/>
              </a:rPr>
              <a:t> </a:t>
            </a:r>
            <a:r>
              <a:rPr sz="1200" spc="-5" dirty="0">
                <a:solidFill>
                  <a:srgbClr val="3333B2"/>
                </a:solidFill>
                <a:latin typeface="Arial"/>
                <a:cs typeface="Arial"/>
              </a:rPr>
              <a:t>least</a:t>
            </a:r>
            <a:r>
              <a:rPr sz="1200" spc="-15" dirty="0">
                <a:solidFill>
                  <a:srgbClr val="3333B2"/>
                </a:solidFill>
                <a:latin typeface="Arial"/>
                <a:cs typeface="Arial"/>
              </a:rPr>
              <a:t> </a:t>
            </a:r>
            <a:r>
              <a:rPr sz="1200" spc="-5" dirty="0">
                <a:solidFill>
                  <a:srgbClr val="3333B2"/>
                </a:solidFill>
                <a:latin typeface="Arial"/>
                <a:cs typeface="Arial"/>
              </a:rPr>
              <a:t>three</a:t>
            </a:r>
            <a:r>
              <a:rPr sz="1200" spc="-15" dirty="0">
                <a:solidFill>
                  <a:srgbClr val="3333B2"/>
                </a:solidFill>
                <a:latin typeface="Arial"/>
                <a:cs typeface="Arial"/>
              </a:rPr>
              <a:t> </a:t>
            </a:r>
            <a:r>
              <a:rPr sz="1200" spc="-5" dirty="0">
                <a:solidFill>
                  <a:srgbClr val="3333B2"/>
                </a:solidFill>
                <a:latin typeface="Arial"/>
                <a:cs typeface="Arial"/>
              </a:rPr>
              <a:t>components</a:t>
            </a:r>
            <a:endParaRPr sz="1200" dirty="0">
              <a:latin typeface="Arial"/>
              <a:cs typeface="Arial"/>
            </a:endParaRPr>
          </a:p>
          <a:p>
            <a:pPr marL="579755" indent="-168275">
              <a:lnSpc>
                <a:spcPct val="100000"/>
              </a:lnSpc>
              <a:spcBef>
                <a:spcPts val="770"/>
              </a:spcBef>
              <a:buClr>
                <a:srgbClr val="3333B2"/>
              </a:buClr>
              <a:buChar char="►"/>
              <a:tabLst>
                <a:tab pos="580390" algn="l"/>
              </a:tabLst>
            </a:pPr>
            <a:r>
              <a:rPr sz="1000" spc="-5" dirty="0">
                <a:latin typeface="Arial"/>
                <a:cs typeface="Arial"/>
              </a:rPr>
              <a:t>Number of</a:t>
            </a:r>
            <a:r>
              <a:rPr sz="1000" dirty="0">
                <a:latin typeface="Arial"/>
                <a:cs typeface="Arial"/>
              </a:rPr>
              <a:t> </a:t>
            </a:r>
            <a:r>
              <a:rPr sz="1000" spc="-5" dirty="0">
                <a:latin typeface="Arial"/>
                <a:cs typeface="Arial"/>
              </a:rPr>
              <a:t>users</a:t>
            </a:r>
            <a:r>
              <a:rPr sz="1000" dirty="0">
                <a:latin typeface="Arial"/>
                <a:cs typeface="Arial"/>
              </a:rPr>
              <a:t> </a:t>
            </a:r>
            <a:r>
              <a:rPr sz="1000" spc="-5" dirty="0">
                <a:latin typeface="Arial"/>
                <a:cs typeface="Arial"/>
              </a:rPr>
              <a:t>and/or</a:t>
            </a:r>
            <a:r>
              <a:rPr sz="1000" dirty="0">
                <a:latin typeface="Arial"/>
                <a:cs typeface="Arial"/>
              </a:rPr>
              <a:t> </a:t>
            </a:r>
            <a:r>
              <a:rPr sz="1000" spc="-5" dirty="0">
                <a:latin typeface="Arial"/>
                <a:cs typeface="Arial"/>
              </a:rPr>
              <a:t>processes </a:t>
            </a:r>
            <a:r>
              <a:rPr sz="1000" spc="-5" dirty="0">
                <a:solidFill>
                  <a:srgbClr val="FA0000"/>
                </a:solidFill>
                <a:latin typeface="Arial"/>
                <a:cs typeface="Arial"/>
              </a:rPr>
              <a:t>(size</a:t>
            </a:r>
            <a:r>
              <a:rPr sz="1000" dirty="0">
                <a:solidFill>
                  <a:srgbClr val="FA0000"/>
                </a:solidFill>
                <a:latin typeface="Arial"/>
                <a:cs typeface="Arial"/>
              </a:rPr>
              <a:t> </a:t>
            </a:r>
            <a:r>
              <a:rPr sz="1000" spc="-5" dirty="0">
                <a:solidFill>
                  <a:srgbClr val="FA0000"/>
                </a:solidFill>
                <a:latin typeface="Arial"/>
                <a:cs typeface="Arial"/>
              </a:rPr>
              <a:t>scalability)</a:t>
            </a:r>
            <a:endParaRPr sz="1000" dirty="0">
              <a:latin typeface="Arial"/>
              <a:cs typeface="Arial"/>
            </a:endParaRPr>
          </a:p>
          <a:p>
            <a:pPr marL="579755" indent="-168275">
              <a:lnSpc>
                <a:spcPct val="100000"/>
              </a:lnSpc>
              <a:spcBef>
                <a:spcPts val="595"/>
              </a:spcBef>
              <a:buClr>
                <a:srgbClr val="3333B2"/>
              </a:buClr>
              <a:buChar char="►"/>
              <a:tabLst>
                <a:tab pos="580390" algn="l"/>
              </a:tabLst>
            </a:pPr>
            <a:r>
              <a:rPr sz="1000" spc="-5" dirty="0">
                <a:latin typeface="Arial"/>
                <a:cs typeface="Arial"/>
              </a:rPr>
              <a:t>Maximum distance</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nodes</a:t>
            </a:r>
            <a:r>
              <a:rPr sz="1000" dirty="0">
                <a:latin typeface="Arial"/>
                <a:cs typeface="Arial"/>
              </a:rPr>
              <a:t> </a:t>
            </a:r>
            <a:r>
              <a:rPr sz="1000" spc="-5" dirty="0">
                <a:solidFill>
                  <a:srgbClr val="FA0000"/>
                </a:solidFill>
                <a:latin typeface="Arial"/>
                <a:cs typeface="Arial"/>
              </a:rPr>
              <a:t>(geographical</a:t>
            </a:r>
            <a:r>
              <a:rPr sz="1000" dirty="0">
                <a:solidFill>
                  <a:srgbClr val="FA0000"/>
                </a:solidFill>
                <a:latin typeface="Arial"/>
                <a:cs typeface="Arial"/>
              </a:rPr>
              <a:t> </a:t>
            </a:r>
            <a:r>
              <a:rPr sz="1000" spc="-5" dirty="0">
                <a:solidFill>
                  <a:srgbClr val="FA0000"/>
                </a:solidFill>
                <a:latin typeface="Arial"/>
                <a:cs typeface="Arial"/>
              </a:rPr>
              <a:t>scalability)</a:t>
            </a:r>
            <a:endParaRPr sz="1000" dirty="0">
              <a:latin typeface="Arial"/>
              <a:cs typeface="Arial"/>
            </a:endParaRPr>
          </a:p>
          <a:p>
            <a:pPr marL="579755" indent="-168275">
              <a:lnSpc>
                <a:spcPct val="100000"/>
              </a:lnSpc>
              <a:spcBef>
                <a:spcPts val="595"/>
              </a:spcBef>
              <a:buClr>
                <a:srgbClr val="3333B2"/>
              </a:buClr>
              <a:buChar char="►"/>
              <a:tabLst>
                <a:tab pos="580390" algn="l"/>
              </a:tabLst>
            </a:pPr>
            <a:r>
              <a:rPr sz="1000" spc="-5" dirty="0">
                <a:latin typeface="Arial"/>
                <a:cs typeface="Arial"/>
              </a:rPr>
              <a:t>Number of administrative</a:t>
            </a:r>
            <a:r>
              <a:rPr sz="1000" dirty="0">
                <a:latin typeface="Arial"/>
                <a:cs typeface="Arial"/>
              </a:rPr>
              <a:t> </a:t>
            </a:r>
            <a:r>
              <a:rPr sz="1000" spc="-5" dirty="0">
                <a:latin typeface="Arial"/>
                <a:cs typeface="Arial"/>
              </a:rPr>
              <a:t>domains </a:t>
            </a:r>
            <a:r>
              <a:rPr sz="1000" spc="-5" dirty="0">
                <a:solidFill>
                  <a:srgbClr val="FA0000"/>
                </a:solidFill>
                <a:latin typeface="Arial"/>
                <a:cs typeface="Arial"/>
              </a:rPr>
              <a:t>(administrative</a:t>
            </a:r>
            <a:r>
              <a:rPr sz="1000" dirty="0">
                <a:solidFill>
                  <a:srgbClr val="FA0000"/>
                </a:solidFill>
                <a:latin typeface="Arial"/>
                <a:cs typeface="Arial"/>
              </a:rPr>
              <a:t> </a:t>
            </a:r>
            <a:r>
              <a:rPr sz="1000" spc="-5" dirty="0">
                <a:solidFill>
                  <a:srgbClr val="FA0000"/>
                </a:solidFill>
                <a:latin typeface="Arial"/>
                <a:cs typeface="Arial"/>
              </a:rPr>
              <a:t>scalability)</a:t>
            </a:r>
            <a:endParaRPr sz="1000" dirty="0">
              <a:latin typeface="Arial"/>
              <a:cs typeface="Arial"/>
            </a:endParaRPr>
          </a:p>
          <a:p>
            <a:pPr>
              <a:lnSpc>
                <a:spcPct val="100000"/>
              </a:lnSpc>
              <a:spcBef>
                <a:spcPts val="5"/>
              </a:spcBef>
            </a:pPr>
            <a:endParaRPr sz="1300" dirty="0">
              <a:latin typeface="Arial"/>
              <a:cs typeface="Arial"/>
            </a:endParaRPr>
          </a:p>
          <a:p>
            <a:pPr marL="302260">
              <a:lnSpc>
                <a:spcPts val="1410"/>
              </a:lnSpc>
            </a:pPr>
            <a:r>
              <a:rPr sz="1200" spc="-5" dirty="0">
                <a:solidFill>
                  <a:srgbClr val="FA0000"/>
                </a:solidFill>
                <a:latin typeface="Arial"/>
                <a:cs typeface="Arial"/>
              </a:rPr>
              <a:t>Observation</a:t>
            </a:r>
            <a:endParaRPr sz="1200" dirty="0">
              <a:latin typeface="Arial"/>
              <a:cs typeface="Arial"/>
            </a:endParaRPr>
          </a:p>
          <a:p>
            <a:pPr marL="302260" marR="17780">
              <a:lnSpc>
                <a:spcPts val="1200"/>
              </a:lnSpc>
              <a:spcBef>
                <a:spcPts val="15"/>
              </a:spcBef>
            </a:pPr>
            <a:r>
              <a:rPr sz="1000" spc="-5" dirty="0">
                <a:latin typeface="Arial"/>
                <a:cs typeface="Arial"/>
              </a:rPr>
              <a:t>Most systems</a:t>
            </a:r>
            <a:r>
              <a:rPr sz="1000" dirty="0">
                <a:latin typeface="Arial"/>
                <a:cs typeface="Arial"/>
              </a:rPr>
              <a:t> </a:t>
            </a:r>
            <a:r>
              <a:rPr sz="1000" spc="-5" dirty="0">
                <a:latin typeface="Arial"/>
                <a:cs typeface="Arial"/>
              </a:rPr>
              <a:t>account</a:t>
            </a:r>
            <a:r>
              <a:rPr sz="1000" dirty="0">
                <a:latin typeface="Arial"/>
                <a:cs typeface="Arial"/>
              </a:rPr>
              <a:t> </a:t>
            </a:r>
            <a:r>
              <a:rPr sz="1000" spc="-25" dirty="0">
                <a:latin typeface="Arial"/>
                <a:cs typeface="Arial"/>
              </a:rPr>
              <a:t>only,</a:t>
            </a:r>
            <a:r>
              <a:rPr sz="1000" dirty="0">
                <a:latin typeface="Arial"/>
                <a:cs typeface="Arial"/>
              </a:rPr>
              <a:t> </a:t>
            </a:r>
            <a:r>
              <a:rPr sz="1000" spc="-5" dirty="0">
                <a:latin typeface="Arial"/>
                <a:cs typeface="Arial"/>
              </a:rPr>
              <a:t>to a</a:t>
            </a:r>
            <a:r>
              <a:rPr sz="1000" dirty="0">
                <a:latin typeface="Arial"/>
                <a:cs typeface="Arial"/>
              </a:rPr>
              <a:t> certain </a:t>
            </a:r>
            <a:r>
              <a:rPr sz="1000" spc="-10" dirty="0">
                <a:latin typeface="Arial"/>
                <a:cs typeface="Arial"/>
              </a:rPr>
              <a:t>extent,</a:t>
            </a:r>
            <a:r>
              <a:rPr sz="1000" dirty="0">
                <a:latin typeface="Arial"/>
                <a:cs typeface="Arial"/>
              </a:rPr>
              <a:t> </a:t>
            </a:r>
            <a:r>
              <a:rPr sz="1000" spc="-15" dirty="0">
                <a:latin typeface="Arial"/>
                <a:cs typeface="Arial"/>
              </a:rPr>
              <a:t>for</a:t>
            </a:r>
            <a:r>
              <a:rPr sz="1000" spc="-5" dirty="0">
                <a:latin typeface="Arial"/>
                <a:cs typeface="Arial"/>
              </a:rPr>
              <a:t> </a:t>
            </a:r>
            <a:r>
              <a:rPr sz="1000" spc="-10" dirty="0">
                <a:latin typeface="Arial"/>
                <a:cs typeface="Arial"/>
              </a:rPr>
              <a:t>size</a:t>
            </a:r>
            <a:r>
              <a:rPr sz="1000" dirty="0">
                <a:latin typeface="Arial"/>
                <a:cs typeface="Arial"/>
              </a:rPr>
              <a:t> </a:t>
            </a:r>
            <a:r>
              <a:rPr sz="1000" spc="-10" dirty="0">
                <a:latin typeface="Arial"/>
                <a:cs typeface="Arial"/>
              </a:rPr>
              <a:t>scalability. </a:t>
            </a:r>
            <a:r>
              <a:rPr sz="1000" spc="-5" dirty="0">
                <a:latin typeface="Arial"/>
                <a:cs typeface="Arial"/>
              </a:rPr>
              <a:t> Often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solution:</a:t>
            </a:r>
            <a:r>
              <a:rPr sz="1000" spc="70" dirty="0">
                <a:latin typeface="Arial"/>
                <a:cs typeface="Arial"/>
              </a:rPr>
              <a:t> </a:t>
            </a:r>
            <a:r>
              <a:rPr sz="1000" spc="-5" dirty="0">
                <a:latin typeface="Arial"/>
                <a:cs typeface="Arial"/>
              </a:rPr>
              <a:t>multiple</a:t>
            </a:r>
            <a:r>
              <a:rPr sz="1000" dirty="0">
                <a:latin typeface="Arial"/>
                <a:cs typeface="Arial"/>
              </a:rPr>
              <a:t> </a:t>
            </a:r>
            <a:r>
              <a:rPr sz="1000" spc="-5" dirty="0">
                <a:latin typeface="Arial"/>
                <a:cs typeface="Arial"/>
              </a:rPr>
              <a:t>powerful</a:t>
            </a:r>
            <a:r>
              <a:rPr sz="1000"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operating</a:t>
            </a:r>
            <a:r>
              <a:rPr sz="1000" spc="5" dirty="0">
                <a:latin typeface="Arial"/>
                <a:cs typeface="Arial"/>
              </a:rPr>
              <a:t> </a:t>
            </a:r>
            <a:r>
              <a:rPr sz="1000" spc="-5" dirty="0">
                <a:latin typeface="Arial"/>
                <a:cs typeface="Arial"/>
              </a:rPr>
              <a:t>independently</a:t>
            </a:r>
            <a:r>
              <a:rPr sz="1000" dirty="0">
                <a:latin typeface="Arial"/>
                <a:cs typeface="Arial"/>
              </a:rPr>
              <a:t> </a:t>
            </a:r>
            <a:r>
              <a:rPr sz="1000" spc="-5" dirty="0">
                <a:latin typeface="Arial"/>
                <a:cs typeface="Arial"/>
              </a:rPr>
              <a:t>in </a:t>
            </a:r>
            <a:r>
              <a:rPr sz="1000" spc="-265" dirty="0">
                <a:latin typeface="Arial"/>
                <a:cs typeface="Arial"/>
              </a:rPr>
              <a:t> </a:t>
            </a:r>
            <a:r>
              <a:rPr sz="1000" spc="-5" dirty="0">
                <a:latin typeface="Arial"/>
                <a:cs typeface="Arial"/>
              </a:rPr>
              <a:t>parallel.</a:t>
            </a:r>
            <a:r>
              <a:rPr sz="1000" spc="60" dirty="0">
                <a:latin typeface="Arial"/>
                <a:cs typeface="Arial"/>
              </a:rPr>
              <a:t> </a:t>
            </a:r>
            <a:r>
              <a:rPr sz="1000" spc="-45" dirty="0">
                <a:latin typeface="Arial"/>
                <a:cs typeface="Arial"/>
              </a:rPr>
              <a:t>Today,</a:t>
            </a:r>
            <a:r>
              <a:rPr sz="1000" spc="-5" dirty="0">
                <a:latin typeface="Arial"/>
                <a:cs typeface="Arial"/>
              </a:rPr>
              <a:t> the challenge still</a:t>
            </a:r>
            <a:r>
              <a:rPr sz="1000" dirty="0">
                <a:latin typeface="Arial"/>
                <a:cs typeface="Arial"/>
              </a:rPr>
              <a:t> </a:t>
            </a:r>
            <a:r>
              <a:rPr sz="1000" spc="-5" dirty="0">
                <a:latin typeface="Arial"/>
                <a:cs typeface="Arial"/>
              </a:rPr>
              <a:t>lies in geographical and </a:t>
            </a:r>
            <a:r>
              <a:rPr sz="1000" dirty="0">
                <a:latin typeface="Arial"/>
                <a:cs typeface="Arial"/>
              </a:rPr>
              <a:t> </a:t>
            </a:r>
            <a:r>
              <a:rPr sz="1000" spc="-5" dirty="0">
                <a:latin typeface="Arial"/>
                <a:cs typeface="Arial"/>
              </a:rPr>
              <a:t>administrative</a:t>
            </a:r>
            <a:r>
              <a:rPr sz="1000" spc="-10" dirty="0">
                <a:latin typeface="Arial"/>
                <a:cs typeface="Arial"/>
              </a:rPr>
              <a:t> scalability.</a:t>
            </a:r>
            <a:endParaRPr sz="1000" dirty="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Scalability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dimensions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16</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Being scala</a:t>
            </a:r>
            <a:r>
              <a:rPr sz="600" spc="-20" dirty="0">
                <a:solidFill>
                  <a:srgbClr val="262685"/>
                </a:solidFill>
                <a:latin typeface="Arial"/>
                <a:cs typeface="Arial"/>
                <a:hlinkClick r:id="rId3" action="ppaction://hlinksldjump"/>
              </a:rPr>
              <a:t>b</a:t>
            </a:r>
            <a:r>
              <a:rPr sz="600" spc="-5" dirty="0">
                <a:solidFill>
                  <a:srgbClr val="262685"/>
                </a:solidFill>
                <a:latin typeface="Arial"/>
                <a:cs typeface="Arial"/>
                <a:hlinkClick r:id="rId3" action="ppaction://hlinksldjump"/>
              </a:rPr>
              <a:t>le</a:t>
            </a:r>
            <a:endParaRPr sz="600">
              <a:latin typeface="Arial"/>
              <a:cs typeface="Arial"/>
            </a:endParaRPr>
          </a:p>
        </p:txBody>
      </p:sp>
      <p:sp>
        <p:nvSpPr>
          <p:cNvPr id="4" name="object 4"/>
          <p:cNvSpPr txBox="1"/>
          <p:nvPr/>
        </p:nvSpPr>
        <p:spPr>
          <a:xfrm>
            <a:off x="95300" y="188846"/>
            <a:ext cx="121793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Size</a:t>
            </a:r>
            <a:r>
              <a:rPr sz="1400" spc="-45" dirty="0">
                <a:solidFill>
                  <a:srgbClr val="3333B2"/>
                </a:solidFill>
                <a:latin typeface="Arial"/>
                <a:cs typeface="Arial"/>
              </a:rPr>
              <a:t> </a:t>
            </a:r>
            <a:r>
              <a:rPr sz="1400" spc="10" dirty="0">
                <a:solidFill>
                  <a:srgbClr val="3333B2"/>
                </a:solidFill>
                <a:latin typeface="Arial"/>
                <a:cs typeface="Arial"/>
              </a:rPr>
              <a:t>scalability</a:t>
            </a:r>
            <a:endParaRPr sz="1400" dirty="0">
              <a:latin typeface="Arial"/>
              <a:cs typeface="Arial"/>
            </a:endParaRPr>
          </a:p>
        </p:txBody>
      </p:sp>
      <p:sp>
        <p:nvSpPr>
          <p:cNvPr id="5" name="object 5"/>
          <p:cNvSpPr txBox="1"/>
          <p:nvPr/>
        </p:nvSpPr>
        <p:spPr>
          <a:xfrm>
            <a:off x="321894" y="1049843"/>
            <a:ext cx="3883660" cy="1213485"/>
          </a:xfrm>
          <a:prstGeom prst="rect">
            <a:avLst/>
          </a:prstGeom>
        </p:spPr>
        <p:txBody>
          <a:bodyPr vert="horz" wrap="square" lIns="0" tIns="22860" rIns="0" bIns="0" rtlCol="0">
            <a:spAutoFit/>
          </a:bodyPr>
          <a:lstStyle/>
          <a:p>
            <a:pPr marL="38100" marR="330200">
              <a:lnSpc>
                <a:spcPts val="1390"/>
              </a:lnSpc>
              <a:spcBef>
                <a:spcPts val="180"/>
              </a:spcBef>
            </a:pPr>
            <a:r>
              <a:rPr sz="1200" spc="-5" dirty="0">
                <a:solidFill>
                  <a:srgbClr val="3333B2"/>
                </a:solidFill>
                <a:latin typeface="Arial"/>
                <a:cs typeface="Arial"/>
              </a:rPr>
              <a:t>Root</a:t>
            </a:r>
            <a:r>
              <a:rPr sz="1200" spc="5" dirty="0">
                <a:solidFill>
                  <a:srgbClr val="3333B2"/>
                </a:solidFill>
                <a:latin typeface="Arial"/>
                <a:cs typeface="Arial"/>
              </a:rPr>
              <a:t> </a:t>
            </a:r>
            <a:r>
              <a:rPr sz="1200" spc="-5" dirty="0">
                <a:solidFill>
                  <a:srgbClr val="3333B2"/>
                </a:solidFill>
                <a:latin typeface="Arial"/>
                <a:cs typeface="Arial"/>
              </a:rPr>
              <a:t>causes</a:t>
            </a:r>
            <a:r>
              <a:rPr sz="1200" spc="5" dirty="0">
                <a:solidFill>
                  <a:srgbClr val="3333B2"/>
                </a:solidFill>
                <a:latin typeface="Arial"/>
                <a:cs typeface="Arial"/>
              </a:rPr>
              <a:t> </a:t>
            </a:r>
            <a:r>
              <a:rPr sz="1200" spc="-20" dirty="0">
                <a:solidFill>
                  <a:srgbClr val="3333B2"/>
                </a:solidFill>
                <a:latin typeface="Arial"/>
                <a:cs typeface="Arial"/>
              </a:rPr>
              <a:t>for</a:t>
            </a:r>
            <a:r>
              <a:rPr sz="1200" spc="10" dirty="0">
                <a:solidFill>
                  <a:srgbClr val="3333B2"/>
                </a:solidFill>
                <a:latin typeface="Arial"/>
                <a:cs typeface="Arial"/>
              </a:rPr>
              <a:t> </a:t>
            </a:r>
            <a:r>
              <a:rPr sz="1200" spc="-5" dirty="0">
                <a:solidFill>
                  <a:srgbClr val="3333B2"/>
                </a:solidFill>
                <a:latin typeface="Arial"/>
                <a:cs typeface="Arial"/>
              </a:rPr>
              <a:t>scalability</a:t>
            </a:r>
            <a:r>
              <a:rPr sz="1200" spc="5" dirty="0">
                <a:solidFill>
                  <a:srgbClr val="3333B2"/>
                </a:solidFill>
                <a:latin typeface="Arial"/>
                <a:cs typeface="Arial"/>
              </a:rPr>
              <a:t> </a:t>
            </a:r>
            <a:r>
              <a:rPr sz="1200" spc="-10" dirty="0">
                <a:solidFill>
                  <a:srgbClr val="3333B2"/>
                </a:solidFill>
                <a:latin typeface="Arial"/>
                <a:cs typeface="Arial"/>
              </a:rPr>
              <a:t>problems</a:t>
            </a:r>
            <a:r>
              <a:rPr sz="1200" spc="10" dirty="0">
                <a:solidFill>
                  <a:srgbClr val="3333B2"/>
                </a:solidFill>
                <a:latin typeface="Arial"/>
                <a:cs typeface="Arial"/>
              </a:rPr>
              <a:t> </a:t>
            </a:r>
            <a:r>
              <a:rPr sz="1200" spc="-5" dirty="0">
                <a:solidFill>
                  <a:srgbClr val="3333B2"/>
                </a:solidFill>
                <a:latin typeface="Arial"/>
                <a:cs typeface="Arial"/>
              </a:rPr>
              <a:t>with</a:t>
            </a:r>
            <a:r>
              <a:rPr sz="1200" spc="5" dirty="0">
                <a:solidFill>
                  <a:srgbClr val="3333B2"/>
                </a:solidFill>
                <a:latin typeface="Arial"/>
                <a:cs typeface="Arial"/>
              </a:rPr>
              <a:t> </a:t>
            </a:r>
            <a:r>
              <a:rPr sz="1200" spc="-10" dirty="0">
                <a:solidFill>
                  <a:srgbClr val="3333B2"/>
                </a:solidFill>
                <a:latin typeface="Arial"/>
                <a:cs typeface="Arial"/>
              </a:rPr>
              <a:t>centralized </a:t>
            </a:r>
            <a:r>
              <a:rPr sz="1200" spc="-320" dirty="0">
                <a:solidFill>
                  <a:srgbClr val="3333B2"/>
                </a:solidFill>
                <a:latin typeface="Arial"/>
                <a:cs typeface="Arial"/>
              </a:rPr>
              <a:t> </a:t>
            </a:r>
            <a:r>
              <a:rPr sz="1200" spc="-5" dirty="0">
                <a:solidFill>
                  <a:srgbClr val="3333B2"/>
                </a:solidFill>
                <a:latin typeface="Arial"/>
                <a:cs typeface="Arial"/>
              </a:rPr>
              <a:t>solutions</a:t>
            </a:r>
            <a:endParaRPr sz="1200" dirty="0">
              <a:latin typeface="Arial"/>
              <a:cs typeface="Arial"/>
            </a:endParaRPr>
          </a:p>
          <a:p>
            <a:pPr marL="314960" indent="-168275">
              <a:lnSpc>
                <a:spcPct val="100000"/>
              </a:lnSpc>
              <a:spcBef>
                <a:spcPts val="509"/>
              </a:spcBef>
              <a:buClr>
                <a:srgbClr val="3333B2"/>
              </a:buClr>
              <a:buChar char="►"/>
              <a:tabLst>
                <a:tab pos="315595" algn="l"/>
              </a:tabLst>
            </a:pPr>
            <a:r>
              <a:rPr sz="1000" spc="-5" dirty="0">
                <a:latin typeface="Arial"/>
                <a:cs typeface="Arial"/>
              </a:rPr>
              <a:t>The computational</a:t>
            </a:r>
            <a:r>
              <a:rPr sz="1000" dirty="0">
                <a:latin typeface="Arial"/>
                <a:cs typeface="Arial"/>
              </a:rPr>
              <a:t> </a:t>
            </a:r>
            <a:r>
              <a:rPr sz="1000" spc="-15" dirty="0">
                <a:latin typeface="Arial"/>
                <a:cs typeface="Arial"/>
              </a:rPr>
              <a:t>capacity,</a:t>
            </a:r>
            <a:r>
              <a:rPr sz="1000" spc="-5" dirty="0">
                <a:latin typeface="Arial"/>
                <a:cs typeface="Arial"/>
              </a:rPr>
              <a:t> limited</a:t>
            </a:r>
            <a:r>
              <a:rPr sz="1000" dirty="0">
                <a:latin typeface="Arial"/>
                <a:cs typeface="Arial"/>
              </a:rPr>
              <a:t> </a:t>
            </a:r>
            <a:r>
              <a:rPr sz="1000" spc="-15" dirty="0">
                <a:latin typeface="Arial"/>
                <a:cs typeface="Arial"/>
              </a:rPr>
              <a:t>by</a:t>
            </a:r>
            <a:r>
              <a:rPr sz="1000" spc="-5" dirty="0">
                <a:latin typeface="Arial"/>
                <a:cs typeface="Arial"/>
              </a:rPr>
              <a:t> the</a:t>
            </a:r>
            <a:r>
              <a:rPr sz="1000" dirty="0">
                <a:latin typeface="Arial"/>
                <a:cs typeface="Arial"/>
              </a:rPr>
              <a:t> </a:t>
            </a:r>
            <a:r>
              <a:rPr sz="1000" spc="-5" dirty="0">
                <a:latin typeface="Arial"/>
                <a:cs typeface="Arial"/>
              </a:rPr>
              <a:t>CPUs</a:t>
            </a:r>
            <a:endParaRPr sz="1000" dirty="0">
              <a:latin typeface="Arial"/>
              <a:cs typeface="Arial"/>
            </a:endParaRPr>
          </a:p>
          <a:p>
            <a:pPr marL="314960" marR="30480" indent="-168275">
              <a:lnSpc>
                <a:spcPct val="100000"/>
              </a:lnSpc>
              <a:spcBef>
                <a:spcPts val="595"/>
              </a:spcBef>
              <a:buClr>
                <a:srgbClr val="3333B2"/>
              </a:buClr>
              <a:buChar char="►"/>
              <a:tabLst>
                <a:tab pos="315595" algn="l"/>
              </a:tabLst>
            </a:pPr>
            <a:r>
              <a:rPr sz="1000" spc="-5" dirty="0">
                <a:latin typeface="Arial"/>
                <a:cs typeface="Arial"/>
              </a:rPr>
              <a:t>The storage</a:t>
            </a:r>
            <a:r>
              <a:rPr sz="1000" dirty="0">
                <a:latin typeface="Arial"/>
                <a:cs typeface="Arial"/>
              </a:rPr>
              <a:t> </a:t>
            </a:r>
            <a:r>
              <a:rPr sz="1000" spc="-15" dirty="0">
                <a:latin typeface="Arial"/>
                <a:cs typeface="Arial"/>
              </a:rPr>
              <a:t>capacity,</a:t>
            </a:r>
            <a:r>
              <a:rPr sz="1000" dirty="0">
                <a:latin typeface="Arial"/>
                <a:cs typeface="Arial"/>
              </a:rPr>
              <a:t> </a:t>
            </a:r>
            <a:r>
              <a:rPr sz="1000" spc="-5" dirty="0">
                <a:latin typeface="Arial"/>
                <a:cs typeface="Arial"/>
              </a:rPr>
              <a:t>including the</a:t>
            </a:r>
            <a:r>
              <a:rPr sz="1000" dirty="0">
                <a:latin typeface="Arial"/>
                <a:cs typeface="Arial"/>
              </a:rPr>
              <a:t> </a:t>
            </a:r>
            <a:r>
              <a:rPr sz="1000" spc="-10" dirty="0">
                <a:latin typeface="Arial"/>
                <a:cs typeface="Arial"/>
              </a:rPr>
              <a:t>transfer</a:t>
            </a:r>
            <a:r>
              <a:rPr sz="1000" dirty="0">
                <a:latin typeface="Arial"/>
                <a:cs typeface="Arial"/>
              </a:rPr>
              <a:t> </a:t>
            </a:r>
            <a:r>
              <a:rPr sz="1000" spc="-5" dirty="0">
                <a:latin typeface="Arial"/>
                <a:cs typeface="Arial"/>
              </a:rPr>
              <a:t>rate</a:t>
            </a:r>
            <a:r>
              <a:rPr sz="1000" dirty="0">
                <a:latin typeface="Arial"/>
                <a:cs typeface="Arial"/>
              </a:rPr>
              <a:t> </a:t>
            </a:r>
            <a:r>
              <a:rPr sz="1000" spc="-5" dirty="0">
                <a:latin typeface="Arial"/>
                <a:cs typeface="Arial"/>
              </a:rPr>
              <a:t>between CPUs </a:t>
            </a:r>
            <a:r>
              <a:rPr sz="1000" spc="-26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disks</a:t>
            </a:r>
            <a:endParaRPr sz="1000" dirty="0">
              <a:latin typeface="Arial"/>
              <a:cs typeface="Arial"/>
            </a:endParaRPr>
          </a:p>
          <a:p>
            <a:pPr marL="314960" indent="-168275">
              <a:lnSpc>
                <a:spcPct val="100000"/>
              </a:lnSpc>
              <a:spcBef>
                <a:spcPts val="590"/>
              </a:spcBef>
              <a:buClr>
                <a:srgbClr val="3333B2"/>
              </a:buClr>
              <a:buChar char="►"/>
              <a:tabLst>
                <a:tab pos="315595" algn="l"/>
              </a:tabLst>
            </a:pPr>
            <a:r>
              <a:rPr sz="1000" spc="-5" dirty="0">
                <a:latin typeface="Arial"/>
                <a:cs typeface="Arial"/>
              </a:rPr>
              <a:t>The network between the user and the centralized </a:t>
            </a:r>
            <a:r>
              <a:rPr sz="1000" dirty="0">
                <a:latin typeface="Arial"/>
                <a:cs typeface="Arial"/>
              </a:rPr>
              <a:t>service</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69385" algn="l"/>
              </a:tabLst>
            </a:pPr>
            <a:r>
              <a:rPr sz="600" spc="-5" dirty="0">
                <a:solidFill>
                  <a:srgbClr val="3333B2"/>
                </a:solidFill>
                <a:latin typeface="Arial"/>
                <a:cs typeface="Arial"/>
                <a:hlinkClick r:id="rId3" action="ppaction://hlinksldjump"/>
              </a:rPr>
              <a:t>Introduction:</a:t>
            </a:r>
            <a:r>
              <a:rPr sz="600" spc="-5"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r>
              <a:rPr sz="600" dirty="0">
                <a:solidFill>
                  <a:srgbClr val="3333B2"/>
                </a:solidFill>
                <a:latin typeface="Arial"/>
                <a:cs typeface="Arial"/>
              </a:rPr>
              <a:t>	</a:t>
            </a:r>
            <a:r>
              <a:rPr sz="600" spc="-5" dirty="0">
                <a:solidFill>
                  <a:srgbClr val="262685"/>
                </a:solidFill>
                <a:latin typeface="Arial"/>
                <a:cs typeface="Arial"/>
                <a:hlinkClick r:id="rId5" action="ppaction://hlinksldjump"/>
              </a:rPr>
              <a:t>Being scala</a:t>
            </a:r>
            <a:r>
              <a:rPr sz="600" spc="-20" dirty="0">
                <a:solidFill>
                  <a:srgbClr val="262685"/>
                </a:solidFill>
                <a:latin typeface="Arial"/>
                <a:cs typeface="Arial"/>
                <a:hlinkClick r:id="rId5" action="ppaction://hlinksldjump"/>
              </a:rPr>
              <a:t>b</a:t>
            </a:r>
            <a:r>
              <a:rPr sz="600" spc="-5" dirty="0">
                <a:solidFill>
                  <a:srgbClr val="262685"/>
                </a:solidFill>
                <a:latin typeface="Arial"/>
                <a:cs typeface="Arial"/>
                <a:hlinkClick r:id="rId5" action="ppaction://hlinksldjump"/>
              </a:rPr>
              <a:t>le</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Formal</a:t>
            </a:r>
            <a:r>
              <a:rPr spc="-65" dirty="0"/>
              <a:t> </a:t>
            </a:r>
            <a:r>
              <a:rPr spc="15" dirty="0"/>
              <a:t>analysis</a:t>
            </a:r>
          </a:p>
        </p:txBody>
      </p:sp>
      <p:sp>
        <p:nvSpPr>
          <p:cNvPr id="4" name="object 4"/>
          <p:cNvSpPr txBox="1"/>
          <p:nvPr/>
        </p:nvSpPr>
        <p:spPr>
          <a:xfrm>
            <a:off x="342290" y="416112"/>
            <a:ext cx="3917315" cy="384810"/>
          </a:xfrm>
          <a:prstGeom prst="rect">
            <a:avLst/>
          </a:prstGeom>
        </p:spPr>
        <p:txBody>
          <a:bodyPr vert="horz" wrap="square" lIns="0" tIns="22860" rIns="0" bIns="0" rtlCol="0">
            <a:spAutoFit/>
          </a:bodyPr>
          <a:lstStyle/>
          <a:p>
            <a:pPr marL="17145" marR="5080" indent="-5080">
              <a:lnSpc>
                <a:spcPts val="1390"/>
              </a:lnSpc>
              <a:spcBef>
                <a:spcPts val="180"/>
              </a:spcBef>
            </a:pPr>
            <a:r>
              <a:rPr sz="1200" spc="-10" dirty="0">
                <a:solidFill>
                  <a:srgbClr val="3333B2"/>
                </a:solidFill>
                <a:latin typeface="Arial"/>
                <a:cs typeface="Arial"/>
              </a:rPr>
              <a:t>A</a:t>
            </a:r>
            <a:r>
              <a:rPr sz="1200" spc="-5" dirty="0">
                <a:solidFill>
                  <a:srgbClr val="3333B2"/>
                </a:solidFill>
                <a:latin typeface="Arial"/>
                <a:cs typeface="Arial"/>
              </a:rPr>
              <a:t> </a:t>
            </a:r>
            <a:r>
              <a:rPr sz="1200" spc="-10" dirty="0">
                <a:solidFill>
                  <a:srgbClr val="3333B2"/>
                </a:solidFill>
                <a:latin typeface="Arial"/>
                <a:cs typeface="Arial"/>
              </a:rPr>
              <a:t>centralized</a:t>
            </a:r>
            <a:r>
              <a:rPr sz="1200" dirty="0">
                <a:solidFill>
                  <a:srgbClr val="3333B2"/>
                </a:solidFill>
                <a:latin typeface="Arial"/>
                <a:cs typeface="Arial"/>
              </a:rPr>
              <a:t> </a:t>
            </a:r>
            <a:r>
              <a:rPr sz="1200" spc="-5" dirty="0">
                <a:solidFill>
                  <a:srgbClr val="3333B2"/>
                </a:solidFill>
                <a:latin typeface="Arial"/>
                <a:cs typeface="Arial"/>
              </a:rPr>
              <a:t>service </a:t>
            </a:r>
            <a:r>
              <a:rPr sz="1200" spc="-10" dirty="0">
                <a:solidFill>
                  <a:srgbClr val="3333B2"/>
                </a:solidFill>
                <a:latin typeface="Arial"/>
                <a:cs typeface="Arial"/>
              </a:rPr>
              <a:t>can</a:t>
            </a:r>
            <a:r>
              <a:rPr sz="1200" dirty="0">
                <a:solidFill>
                  <a:srgbClr val="3333B2"/>
                </a:solidFill>
                <a:latin typeface="Arial"/>
                <a:cs typeface="Arial"/>
              </a:rPr>
              <a:t> </a:t>
            </a:r>
            <a:r>
              <a:rPr sz="1200" spc="-10" dirty="0">
                <a:solidFill>
                  <a:srgbClr val="3333B2"/>
                </a:solidFill>
                <a:latin typeface="Arial"/>
                <a:cs typeface="Arial"/>
              </a:rPr>
              <a:t>be</a:t>
            </a:r>
            <a:r>
              <a:rPr sz="1200" dirty="0">
                <a:solidFill>
                  <a:srgbClr val="3333B2"/>
                </a:solidFill>
                <a:latin typeface="Arial"/>
                <a:cs typeface="Arial"/>
              </a:rPr>
              <a:t> </a:t>
            </a:r>
            <a:r>
              <a:rPr sz="1200" spc="-10" dirty="0">
                <a:solidFill>
                  <a:srgbClr val="3333B2"/>
                </a:solidFill>
                <a:latin typeface="Arial"/>
                <a:cs typeface="Arial"/>
              </a:rPr>
              <a:t>modeled</a:t>
            </a:r>
            <a:r>
              <a:rPr sz="1200" spc="-5" dirty="0">
                <a:solidFill>
                  <a:srgbClr val="3333B2"/>
                </a:solidFill>
                <a:latin typeface="Arial"/>
                <a:cs typeface="Arial"/>
              </a:rPr>
              <a:t> </a:t>
            </a:r>
            <a:r>
              <a:rPr sz="1200" spc="-10" dirty="0">
                <a:solidFill>
                  <a:srgbClr val="3333B2"/>
                </a:solidFill>
                <a:latin typeface="Arial"/>
                <a:cs typeface="Arial"/>
              </a:rPr>
              <a:t>as</a:t>
            </a:r>
            <a:r>
              <a:rPr sz="1200" dirty="0">
                <a:solidFill>
                  <a:srgbClr val="3333B2"/>
                </a:solidFill>
                <a:latin typeface="Arial"/>
                <a:cs typeface="Arial"/>
              </a:rPr>
              <a:t> </a:t>
            </a:r>
            <a:r>
              <a:rPr sz="1200" spc="-10" dirty="0">
                <a:solidFill>
                  <a:srgbClr val="3333B2"/>
                </a:solidFill>
                <a:latin typeface="Arial"/>
                <a:cs typeface="Arial"/>
              </a:rPr>
              <a:t>a</a:t>
            </a:r>
            <a:r>
              <a:rPr sz="1200" dirty="0">
                <a:solidFill>
                  <a:srgbClr val="3333B2"/>
                </a:solidFill>
                <a:latin typeface="Arial"/>
                <a:cs typeface="Arial"/>
              </a:rPr>
              <a:t> </a:t>
            </a:r>
            <a:r>
              <a:rPr sz="1200" spc="-10" dirty="0">
                <a:solidFill>
                  <a:srgbClr val="3333B2"/>
                </a:solidFill>
                <a:latin typeface="Arial"/>
                <a:cs typeface="Arial"/>
              </a:rPr>
              <a:t>simple</a:t>
            </a:r>
            <a:r>
              <a:rPr sz="1200" spc="-5" dirty="0">
                <a:solidFill>
                  <a:srgbClr val="3333B2"/>
                </a:solidFill>
                <a:latin typeface="Arial"/>
                <a:cs typeface="Arial"/>
              </a:rPr>
              <a:t> </a:t>
            </a:r>
            <a:r>
              <a:rPr sz="1200" spc="-10" dirty="0">
                <a:solidFill>
                  <a:srgbClr val="3333B2"/>
                </a:solidFill>
                <a:latin typeface="Arial"/>
                <a:cs typeface="Arial"/>
              </a:rPr>
              <a:t>queuing </a:t>
            </a:r>
            <a:r>
              <a:rPr sz="1200" spc="-315" dirty="0">
                <a:solidFill>
                  <a:srgbClr val="3333B2"/>
                </a:solidFill>
                <a:latin typeface="Arial"/>
                <a:cs typeface="Arial"/>
              </a:rPr>
              <a:t> </a:t>
            </a:r>
            <a:r>
              <a:rPr sz="1200" spc="-5" dirty="0">
                <a:solidFill>
                  <a:srgbClr val="3333B2"/>
                </a:solidFill>
                <a:latin typeface="Arial"/>
                <a:cs typeface="Arial"/>
              </a:rPr>
              <a:t>system</a:t>
            </a:r>
            <a:endParaRPr sz="1200" dirty="0">
              <a:latin typeface="Arial"/>
              <a:cs typeface="Arial"/>
            </a:endParaRPr>
          </a:p>
        </p:txBody>
      </p:sp>
      <p:sp>
        <p:nvSpPr>
          <p:cNvPr id="5" name="object 5"/>
          <p:cNvSpPr txBox="1"/>
          <p:nvPr/>
        </p:nvSpPr>
        <p:spPr>
          <a:xfrm>
            <a:off x="1765291" y="1248887"/>
            <a:ext cx="2787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Queue</a:t>
            </a:r>
            <a:endParaRPr sz="650">
              <a:latin typeface="Arial"/>
              <a:cs typeface="Arial"/>
            </a:endParaRPr>
          </a:p>
        </p:txBody>
      </p:sp>
      <p:sp>
        <p:nvSpPr>
          <p:cNvPr id="6" name="object 6"/>
          <p:cNvSpPr txBox="1"/>
          <p:nvPr/>
        </p:nvSpPr>
        <p:spPr>
          <a:xfrm>
            <a:off x="2404759" y="1253062"/>
            <a:ext cx="3321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a:t>
            </a:r>
            <a:endParaRPr sz="650">
              <a:latin typeface="Arial"/>
              <a:cs typeface="Arial"/>
            </a:endParaRPr>
          </a:p>
        </p:txBody>
      </p:sp>
      <p:grpSp>
        <p:nvGrpSpPr>
          <p:cNvPr id="7" name="object 7"/>
          <p:cNvGrpSpPr/>
          <p:nvPr/>
        </p:nvGrpSpPr>
        <p:grpSpPr>
          <a:xfrm>
            <a:off x="1521058" y="805250"/>
            <a:ext cx="1553845" cy="424180"/>
            <a:chOff x="1521058" y="805250"/>
            <a:chExt cx="1553845" cy="424180"/>
          </a:xfrm>
        </p:grpSpPr>
        <p:sp>
          <p:nvSpPr>
            <p:cNvPr id="8" name="object 8"/>
            <p:cNvSpPr/>
            <p:nvPr/>
          </p:nvSpPr>
          <p:spPr>
            <a:xfrm>
              <a:off x="1521058" y="893737"/>
              <a:ext cx="598170" cy="239395"/>
            </a:xfrm>
            <a:custGeom>
              <a:avLst/>
              <a:gdLst/>
              <a:ahLst/>
              <a:cxnLst/>
              <a:rect l="l" t="t" r="r" b="b"/>
              <a:pathLst>
                <a:path w="598169" h="239394">
                  <a:moveTo>
                    <a:pt x="149398" y="0"/>
                  </a:moveTo>
                  <a:lnTo>
                    <a:pt x="597594" y="0"/>
                  </a:lnTo>
                  <a:lnTo>
                    <a:pt x="597594" y="239037"/>
                  </a:lnTo>
                  <a:lnTo>
                    <a:pt x="149398" y="239037"/>
                  </a:lnTo>
                </a:path>
                <a:path w="598169" h="239394">
                  <a:moveTo>
                    <a:pt x="537837" y="0"/>
                  </a:moveTo>
                  <a:lnTo>
                    <a:pt x="537837" y="239037"/>
                  </a:lnTo>
                </a:path>
                <a:path w="598169" h="239394">
                  <a:moveTo>
                    <a:pt x="478079" y="0"/>
                  </a:moveTo>
                  <a:lnTo>
                    <a:pt x="478079" y="239037"/>
                  </a:lnTo>
                </a:path>
                <a:path w="598169" h="239394">
                  <a:moveTo>
                    <a:pt x="418317" y="0"/>
                  </a:moveTo>
                  <a:lnTo>
                    <a:pt x="418317" y="239037"/>
                  </a:lnTo>
                </a:path>
                <a:path w="598169" h="239394">
                  <a:moveTo>
                    <a:pt x="358558" y="0"/>
                  </a:moveTo>
                  <a:lnTo>
                    <a:pt x="358558" y="239037"/>
                  </a:lnTo>
                </a:path>
                <a:path w="598169" h="239394">
                  <a:moveTo>
                    <a:pt x="298796" y="0"/>
                  </a:moveTo>
                  <a:lnTo>
                    <a:pt x="298796" y="239037"/>
                  </a:lnTo>
                </a:path>
                <a:path w="598169" h="239394">
                  <a:moveTo>
                    <a:pt x="0" y="119517"/>
                  </a:moveTo>
                  <a:lnTo>
                    <a:pt x="201658" y="119517"/>
                  </a:lnTo>
                </a:path>
              </a:pathLst>
            </a:custGeom>
            <a:ln w="5270">
              <a:solidFill>
                <a:srgbClr val="231F20"/>
              </a:solidFill>
            </a:ln>
          </p:spPr>
          <p:txBody>
            <a:bodyPr wrap="square" lIns="0" tIns="0" rIns="0" bIns="0" rtlCol="0"/>
            <a:lstStyle/>
            <a:p>
              <a:endParaRPr/>
            </a:p>
          </p:txBody>
        </p:sp>
        <p:sp>
          <p:nvSpPr>
            <p:cNvPr id="9" name="object 9"/>
            <p:cNvSpPr/>
            <p:nvPr/>
          </p:nvSpPr>
          <p:spPr>
            <a:xfrm>
              <a:off x="1685720" y="981379"/>
              <a:ext cx="74930" cy="64135"/>
            </a:xfrm>
            <a:custGeom>
              <a:avLst/>
              <a:gdLst/>
              <a:ahLst/>
              <a:cxnLst/>
              <a:rect l="l" t="t" r="r" b="b"/>
              <a:pathLst>
                <a:path w="74930" h="64134">
                  <a:moveTo>
                    <a:pt x="0" y="0"/>
                  </a:moveTo>
                  <a:lnTo>
                    <a:pt x="5975" y="15938"/>
                  </a:lnTo>
                  <a:lnTo>
                    <a:pt x="7967" y="31876"/>
                  </a:lnTo>
                  <a:lnTo>
                    <a:pt x="5975" y="47814"/>
                  </a:lnTo>
                  <a:lnTo>
                    <a:pt x="0" y="63753"/>
                  </a:lnTo>
                  <a:lnTo>
                    <a:pt x="74376" y="31874"/>
                  </a:lnTo>
                  <a:lnTo>
                    <a:pt x="0" y="0"/>
                  </a:lnTo>
                  <a:close/>
                </a:path>
              </a:pathLst>
            </a:custGeom>
            <a:solidFill>
              <a:srgbClr val="231F20"/>
            </a:solidFill>
          </p:spPr>
          <p:txBody>
            <a:bodyPr wrap="square" lIns="0" tIns="0" rIns="0" bIns="0" rtlCol="0"/>
            <a:lstStyle/>
            <a:p>
              <a:endParaRPr/>
            </a:p>
          </p:txBody>
        </p:sp>
        <p:sp>
          <p:nvSpPr>
            <p:cNvPr id="10" name="object 10"/>
            <p:cNvSpPr/>
            <p:nvPr/>
          </p:nvSpPr>
          <p:spPr>
            <a:xfrm>
              <a:off x="2118653" y="807885"/>
              <a:ext cx="659765" cy="418465"/>
            </a:xfrm>
            <a:custGeom>
              <a:avLst/>
              <a:gdLst/>
              <a:ahLst/>
              <a:cxnLst/>
              <a:rect l="l" t="t" r="r" b="b"/>
              <a:pathLst>
                <a:path w="659764" h="418465">
                  <a:moveTo>
                    <a:pt x="450437" y="0"/>
                  </a:moveTo>
                  <a:lnTo>
                    <a:pt x="498390" y="5525"/>
                  </a:lnTo>
                  <a:lnTo>
                    <a:pt x="542412" y="21262"/>
                  </a:lnTo>
                  <a:lnTo>
                    <a:pt x="581247" y="45955"/>
                  </a:lnTo>
                  <a:lnTo>
                    <a:pt x="613638" y="78348"/>
                  </a:lnTo>
                  <a:lnTo>
                    <a:pt x="638331" y="117183"/>
                  </a:lnTo>
                  <a:lnTo>
                    <a:pt x="654067" y="161205"/>
                  </a:lnTo>
                  <a:lnTo>
                    <a:pt x="659592" y="209156"/>
                  </a:lnTo>
                  <a:lnTo>
                    <a:pt x="654067" y="257109"/>
                  </a:lnTo>
                  <a:lnTo>
                    <a:pt x="638331" y="301132"/>
                  </a:lnTo>
                  <a:lnTo>
                    <a:pt x="613638" y="339968"/>
                  </a:lnTo>
                  <a:lnTo>
                    <a:pt x="581247" y="372361"/>
                  </a:lnTo>
                  <a:lnTo>
                    <a:pt x="542412" y="397055"/>
                  </a:lnTo>
                  <a:lnTo>
                    <a:pt x="498390" y="412792"/>
                  </a:lnTo>
                  <a:lnTo>
                    <a:pt x="450437" y="418317"/>
                  </a:lnTo>
                  <a:lnTo>
                    <a:pt x="402485" y="412792"/>
                  </a:lnTo>
                  <a:lnTo>
                    <a:pt x="358463" y="397055"/>
                  </a:lnTo>
                  <a:lnTo>
                    <a:pt x="319628" y="372361"/>
                  </a:lnTo>
                  <a:lnTo>
                    <a:pt x="287237" y="339968"/>
                  </a:lnTo>
                  <a:lnTo>
                    <a:pt x="262544" y="301132"/>
                  </a:lnTo>
                  <a:lnTo>
                    <a:pt x="246808" y="257109"/>
                  </a:lnTo>
                  <a:lnTo>
                    <a:pt x="241283" y="209156"/>
                  </a:lnTo>
                  <a:lnTo>
                    <a:pt x="246808" y="161205"/>
                  </a:lnTo>
                  <a:lnTo>
                    <a:pt x="262544" y="117183"/>
                  </a:lnTo>
                  <a:lnTo>
                    <a:pt x="287237" y="78348"/>
                  </a:lnTo>
                  <a:lnTo>
                    <a:pt x="319628" y="45955"/>
                  </a:lnTo>
                  <a:lnTo>
                    <a:pt x="358463" y="21262"/>
                  </a:lnTo>
                  <a:lnTo>
                    <a:pt x="402485" y="5525"/>
                  </a:lnTo>
                  <a:lnTo>
                    <a:pt x="450437" y="0"/>
                  </a:lnTo>
                  <a:close/>
                </a:path>
                <a:path w="659764" h="418465">
                  <a:moveTo>
                    <a:pt x="0" y="205369"/>
                  </a:moveTo>
                  <a:lnTo>
                    <a:pt x="201659" y="205369"/>
                  </a:lnTo>
                </a:path>
              </a:pathLst>
            </a:custGeom>
            <a:ln w="5270">
              <a:solidFill>
                <a:srgbClr val="231F20"/>
              </a:solidFill>
            </a:ln>
          </p:spPr>
          <p:txBody>
            <a:bodyPr wrap="square" lIns="0" tIns="0" rIns="0" bIns="0" rtlCol="0"/>
            <a:lstStyle/>
            <a:p>
              <a:endParaRPr/>
            </a:p>
          </p:txBody>
        </p:sp>
        <p:sp>
          <p:nvSpPr>
            <p:cNvPr id="11" name="object 11"/>
            <p:cNvSpPr/>
            <p:nvPr/>
          </p:nvSpPr>
          <p:spPr>
            <a:xfrm>
              <a:off x="2283324" y="981379"/>
              <a:ext cx="74930" cy="64135"/>
            </a:xfrm>
            <a:custGeom>
              <a:avLst/>
              <a:gdLst/>
              <a:ahLst/>
              <a:cxnLst/>
              <a:rect l="l" t="t" r="r" b="b"/>
              <a:pathLst>
                <a:path w="74930" h="64134">
                  <a:moveTo>
                    <a:pt x="0" y="0"/>
                  </a:moveTo>
                  <a:lnTo>
                    <a:pt x="5970" y="15938"/>
                  </a:lnTo>
                  <a:lnTo>
                    <a:pt x="7961" y="31876"/>
                  </a:lnTo>
                  <a:lnTo>
                    <a:pt x="5970" y="47814"/>
                  </a:lnTo>
                  <a:lnTo>
                    <a:pt x="0" y="63753"/>
                  </a:lnTo>
                  <a:lnTo>
                    <a:pt x="74377" y="31874"/>
                  </a:lnTo>
                  <a:lnTo>
                    <a:pt x="0" y="0"/>
                  </a:lnTo>
                  <a:close/>
                </a:path>
              </a:pathLst>
            </a:custGeom>
            <a:solidFill>
              <a:srgbClr val="231F20"/>
            </a:solidFill>
          </p:spPr>
          <p:txBody>
            <a:bodyPr wrap="square" lIns="0" tIns="0" rIns="0" bIns="0" rtlCol="0"/>
            <a:lstStyle/>
            <a:p>
              <a:endParaRPr/>
            </a:p>
          </p:txBody>
        </p:sp>
        <p:sp>
          <p:nvSpPr>
            <p:cNvPr id="12" name="object 12"/>
            <p:cNvSpPr/>
            <p:nvPr/>
          </p:nvSpPr>
          <p:spPr>
            <a:xfrm>
              <a:off x="2776021" y="1013254"/>
              <a:ext cx="261620" cy="0"/>
            </a:xfrm>
            <a:custGeom>
              <a:avLst/>
              <a:gdLst/>
              <a:ahLst/>
              <a:cxnLst/>
              <a:rect l="l" t="t" r="r" b="b"/>
              <a:pathLst>
                <a:path w="261619">
                  <a:moveTo>
                    <a:pt x="0" y="0"/>
                  </a:moveTo>
                  <a:lnTo>
                    <a:pt x="261416" y="0"/>
                  </a:lnTo>
                </a:path>
              </a:pathLst>
            </a:custGeom>
            <a:ln w="5270">
              <a:solidFill>
                <a:srgbClr val="231F2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3000439" y="981379"/>
              <a:ext cx="74377" cy="63753"/>
            </a:xfrm>
            <a:prstGeom prst="rect">
              <a:avLst/>
            </a:prstGeom>
          </p:spPr>
        </p:pic>
      </p:grpSp>
      <p:sp>
        <p:nvSpPr>
          <p:cNvPr id="14" name="object 14"/>
          <p:cNvSpPr txBox="1"/>
          <p:nvPr/>
        </p:nvSpPr>
        <p:spPr>
          <a:xfrm>
            <a:off x="1048874" y="940002"/>
            <a:ext cx="3816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Requests</a:t>
            </a:r>
            <a:endParaRPr sz="650">
              <a:latin typeface="Arial"/>
              <a:cs typeface="Arial"/>
            </a:endParaRPr>
          </a:p>
        </p:txBody>
      </p:sp>
      <p:sp>
        <p:nvSpPr>
          <p:cNvPr id="15" name="object 15"/>
          <p:cNvSpPr txBox="1"/>
          <p:nvPr/>
        </p:nvSpPr>
        <p:spPr>
          <a:xfrm>
            <a:off x="3156901" y="940002"/>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Response</a:t>
            </a:r>
            <a:endParaRPr sz="650">
              <a:latin typeface="Arial"/>
              <a:cs typeface="Arial"/>
            </a:endParaRPr>
          </a:p>
        </p:txBody>
      </p:sp>
      <p:sp>
        <p:nvSpPr>
          <p:cNvPr id="16" name="object 16"/>
          <p:cNvSpPr txBox="1"/>
          <p:nvPr/>
        </p:nvSpPr>
        <p:spPr>
          <a:xfrm>
            <a:off x="304190" y="1445321"/>
            <a:ext cx="3918585" cy="1275715"/>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Assumptions</a:t>
            </a:r>
            <a:r>
              <a:rPr sz="1200" spc="-20" dirty="0">
                <a:solidFill>
                  <a:srgbClr val="3333B2"/>
                </a:solidFill>
                <a:latin typeface="Arial"/>
                <a:cs typeface="Arial"/>
              </a:rPr>
              <a:t> </a:t>
            </a:r>
            <a:r>
              <a:rPr sz="1200" spc="-5" dirty="0">
                <a:solidFill>
                  <a:srgbClr val="3333B2"/>
                </a:solidFill>
                <a:latin typeface="Arial"/>
                <a:cs typeface="Arial"/>
              </a:rPr>
              <a:t>and</a:t>
            </a:r>
            <a:r>
              <a:rPr sz="1200" spc="-15" dirty="0">
                <a:solidFill>
                  <a:srgbClr val="3333B2"/>
                </a:solidFill>
                <a:latin typeface="Arial"/>
                <a:cs typeface="Arial"/>
              </a:rPr>
              <a:t> </a:t>
            </a:r>
            <a:r>
              <a:rPr sz="1200" spc="-5" dirty="0">
                <a:solidFill>
                  <a:srgbClr val="3333B2"/>
                </a:solidFill>
                <a:latin typeface="Arial"/>
                <a:cs typeface="Arial"/>
              </a:rPr>
              <a:t>notations</a:t>
            </a:r>
            <a:endParaRPr sz="1200" dirty="0">
              <a:latin typeface="Arial"/>
              <a:cs typeface="Arial"/>
            </a:endParaRPr>
          </a:p>
          <a:p>
            <a:pPr marL="332740" marR="43180" indent="-168275">
              <a:lnSpc>
                <a:spcPct val="100000"/>
              </a:lnSpc>
              <a:spcBef>
                <a:spcPts val="770"/>
              </a:spcBef>
              <a:buClr>
                <a:srgbClr val="3333B2"/>
              </a:buClr>
              <a:buChar char="►"/>
              <a:tabLst>
                <a:tab pos="333375" algn="l"/>
              </a:tabLst>
            </a:pPr>
            <a:r>
              <a:rPr sz="1000" spc="-5" dirty="0">
                <a:latin typeface="Arial"/>
                <a:cs typeface="Arial"/>
              </a:rPr>
              <a:t>The queue has infinite capacity </a:t>
            </a:r>
            <a:r>
              <a:rPr sz="1000" i="1" spc="-5" dirty="0">
                <a:latin typeface="メイリオ"/>
                <a:cs typeface="メイリオ"/>
              </a:rPr>
              <a:t>⇒ </a:t>
            </a:r>
            <a:r>
              <a:rPr sz="1000" spc="-5" dirty="0">
                <a:latin typeface="Arial"/>
                <a:cs typeface="Arial"/>
              </a:rPr>
              <a:t>arrival rate of requests is not </a:t>
            </a:r>
            <a:r>
              <a:rPr sz="1000" spc="-265" dirty="0">
                <a:latin typeface="Arial"/>
                <a:cs typeface="Arial"/>
              </a:rPr>
              <a:t> </a:t>
            </a:r>
            <a:r>
              <a:rPr sz="1000" spc="-5" dirty="0">
                <a:latin typeface="Arial"/>
                <a:cs typeface="Arial"/>
              </a:rPr>
              <a:t>influenced</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current</a:t>
            </a:r>
            <a:r>
              <a:rPr sz="1000" spc="5" dirty="0">
                <a:latin typeface="Arial"/>
                <a:cs typeface="Arial"/>
              </a:rPr>
              <a:t> </a:t>
            </a:r>
            <a:r>
              <a:rPr sz="1000" spc="-5" dirty="0">
                <a:latin typeface="Arial"/>
                <a:cs typeface="Arial"/>
              </a:rPr>
              <a:t>queue</a:t>
            </a:r>
            <a:r>
              <a:rPr sz="1000" dirty="0">
                <a:latin typeface="Arial"/>
                <a:cs typeface="Arial"/>
              </a:rPr>
              <a:t> </a:t>
            </a:r>
            <a:r>
              <a:rPr sz="1000" spc="-5" dirty="0">
                <a:latin typeface="Arial"/>
                <a:cs typeface="Arial"/>
              </a:rPr>
              <a:t>length</a:t>
            </a:r>
            <a:r>
              <a:rPr sz="1000" dirty="0">
                <a:latin typeface="Arial"/>
                <a:cs typeface="Arial"/>
              </a:rPr>
              <a:t> </a:t>
            </a:r>
            <a:r>
              <a:rPr sz="1000" spc="-5" dirty="0">
                <a:latin typeface="Arial"/>
                <a:cs typeface="Arial"/>
              </a:rPr>
              <a:t>or</a:t>
            </a:r>
            <a:r>
              <a:rPr sz="1000" spc="5" dirty="0">
                <a:latin typeface="Arial"/>
                <a:cs typeface="Arial"/>
              </a:rPr>
              <a:t> </a:t>
            </a:r>
            <a:r>
              <a:rPr sz="1000" spc="-5" dirty="0">
                <a:latin typeface="Arial"/>
                <a:cs typeface="Arial"/>
              </a:rPr>
              <a:t>what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being</a:t>
            </a:r>
            <a:r>
              <a:rPr sz="1000" spc="5" dirty="0">
                <a:latin typeface="Arial"/>
                <a:cs typeface="Arial"/>
              </a:rPr>
              <a:t> </a:t>
            </a:r>
            <a:r>
              <a:rPr sz="1000" spc="-5" dirty="0">
                <a:latin typeface="Arial"/>
                <a:cs typeface="Arial"/>
              </a:rPr>
              <a:t>processed.</a:t>
            </a:r>
            <a:endParaRPr sz="1000" dirty="0">
              <a:latin typeface="Arial"/>
              <a:cs typeface="Arial"/>
            </a:endParaRPr>
          </a:p>
          <a:p>
            <a:pPr marL="332740" indent="-168275">
              <a:lnSpc>
                <a:spcPts val="1190"/>
              </a:lnSpc>
              <a:buClr>
                <a:srgbClr val="3333B2"/>
              </a:buClr>
              <a:buChar char="►"/>
              <a:tabLst>
                <a:tab pos="333375" algn="l"/>
              </a:tabLst>
            </a:pPr>
            <a:r>
              <a:rPr sz="1000" spc="-5" dirty="0">
                <a:latin typeface="Arial"/>
                <a:cs typeface="Arial"/>
              </a:rPr>
              <a:t>Arrival</a:t>
            </a:r>
            <a:r>
              <a:rPr sz="1000" spc="-20" dirty="0">
                <a:latin typeface="Arial"/>
                <a:cs typeface="Arial"/>
              </a:rPr>
              <a:t> </a:t>
            </a:r>
            <a:r>
              <a:rPr sz="1000" spc="-5" dirty="0">
                <a:latin typeface="Arial"/>
                <a:cs typeface="Arial"/>
              </a:rPr>
              <a:t>rate</a:t>
            </a:r>
            <a:r>
              <a:rPr sz="1000" spc="-15" dirty="0">
                <a:latin typeface="Arial"/>
                <a:cs typeface="Arial"/>
              </a:rPr>
              <a:t> </a:t>
            </a:r>
            <a:r>
              <a:rPr sz="1000" spc="-5" dirty="0">
                <a:latin typeface="Arial"/>
                <a:cs typeface="Arial"/>
              </a:rPr>
              <a:t>requests:</a:t>
            </a:r>
            <a:r>
              <a:rPr sz="1000" spc="45" dirty="0">
                <a:latin typeface="Arial"/>
                <a:cs typeface="Arial"/>
              </a:rPr>
              <a:t> </a:t>
            </a:r>
            <a:r>
              <a:rPr sz="1000" i="1" spc="50" dirty="0">
                <a:latin typeface="Arial"/>
                <a:cs typeface="Arial"/>
              </a:rPr>
              <a:t>λ</a:t>
            </a:r>
            <a:endParaRPr sz="1000" dirty="0">
              <a:latin typeface="Arial"/>
              <a:cs typeface="Arial"/>
            </a:endParaRPr>
          </a:p>
          <a:p>
            <a:pPr marL="332740" indent="-168275">
              <a:lnSpc>
                <a:spcPts val="1200"/>
              </a:lnSpc>
              <a:buClr>
                <a:srgbClr val="3333B2"/>
              </a:buClr>
              <a:buChar char="►"/>
              <a:tabLst>
                <a:tab pos="333375" algn="l"/>
              </a:tabLst>
            </a:pPr>
            <a:r>
              <a:rPr sz="1000" spc="-5" dirty="0">
                <a:latin typeface="Arial"/>
                <a:cs typeface="Arial"/>
              </a:rPr>
              <a:t>Processing capacity</a:t>
            </a:r>
            <a:r>
              <a:rPr sz="1000" dirty="0">
                <a:latin typeface="Arial"/>
                <a:cs typeface="Arial"/>
              </a:rPr>
              <a:t> service:</a:t>
            </a:r>
            <a:r>
              <a:rPr sz="1000" spc="85" dirty="0">
                <a:latin typeface="Arial"/>
                <a:cs typeface="Arial"/>
              </a:rPr>
              <a:t> </a:t>
            </a:r>
            <a:r>
              <a:rPr sz="1000" i="1" spc="-5" dirty="0">
                <a:latin typeface="Arial"/>
                <a:cs typeface="Arial"/>
              </a:rPr>
              <a:t>µ</a:t>
            </a:r>
            <a:r>
              <a:rPr sz="1000" i="1" spc="85" dirty="0">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per second</a:t>
            </a:r>
            <a:endParaRPr sz="1000" dirty="0">
              <a:latin typeface="Arial"/>
              <a:cs typeface="Arial"/>
            </a:endParaRPr>
          </a:p>
          <a:p>
            <a:pPr>
              <a:lnSpc>
                <a:spcPct val="100000"/>
              </a:lnSpc>
              <a:spcBef>
                <a:spcPts val="30"/>
              </a:spcBef>
            </a:pPr>
            <a:endParaRPr sz="1200" dirty="0">
              <a:latin typeface="Arial"/>
              <a:cs typeface="Arial"/>
            </a:endParaRPr>
          </a:p>
          <a:p>
            <a:pPr marL="55244">
              <a:lnSpc>
                <a:spcPct val="100000"/>
              </a:lnSpc>
            </a:pPr>
            <a:r>
              <a:rPr sz="1200" spc="-15" dirty="0">
                <a:solidFill>
                  <a:srgbClr val="FA0000"/>
                </a:solidFill>
                <a:latin typeface="Arial"/>
                <a:cs typeface="Arial"/>
              </a:rPr>
              <a:t>Fraction</a:t>
            </a:r>
            <a:r>
              <a:rPr sz="1200" spc="-5" dirty="0">
                <a:solidFill>
                  <a:srgbClr val="FA0000"/>
                </a:solidFill>
                <a:latin typeface="Arial"/>
                <a:cs typeface="Arial"/>
              </a:rPr>
              <a:t> of</a:t>
            </a:r>
            <a:r>
              <a:rPr sz="1200" dirty="0">
                <a:solidFill>
                  <a:srgbClr val="FA0000"/>
                </a:solidFill>
                <a:latin typeface="Arial"/>
                <a:cs typeface="Arial"/>
              </a:rPr>
              <a:t> </a:t>
            </a:r>
            <a:r>
              <a:rPr sz="1200" spc="-5" dirty="0">
                <a:solidFill>
                  <a:srgbClr val="FA0000"/>
                </a:solidFill>
                <a:latin typeface="Arial"/>
                <a:cs typeface="Arial"/>
              </a:rPr>
              <a:t>time </a:t>
            </a:r>
            <a:r>
              <a:rPr sz="1200" spc="-10" dirty="0">
                <a:solidFill>
                  <a:srgbClr val="FA0000"/>
                </a:solidFill>
                <a:latin typeface="Arial"/>
                <a:cs typeface="Arial"/>
              </a:rPr>
              <a:t>having</a:t>
            </a:r>
            <a:r>
              <a:rPr sz="1200" dirty="0">
                <a:solidFill>
                  <a:srgbClr val="FA0000"/>
                </a:solidFill>
                <a:latin typeface="Arial"/>
                <a:cs typeface="Arial"/>
              </a:rPr>
              <a:t> </a:t>
            </a:r>
            <a:r>
              <a:rPr sz="1200" i="1" spc="-5" dirty="0">
                <a:solidFill>
                  <a:srgbClr val="FA0000"/>
                </a:solidFill>
                <a:latin typeface="Arial"/>
                <a:cs typeface="Arial"/>
              </a:rPr>
              <a:t>k</a:t>
            </a:r>
            <a:r>
              <a:rPr sz="1200" i="1" spc="120" dirty="0">
                <a:solidFill>
                  <a:srgbClr val="FA0000"/>
                </a:solidFill>
                <a:latin typeface="Arial"/>
                <a:cs typeface="Arial"/>
              </a:rPr>
              <a:t> </a:t>
            </a:r>
            <a:r>
              <a:rPr sz="1200" spc="-5" dirty="0">
                <a:solidFill>
                  <a:srgbClr val="FA0000"/>
                </a:solidFill>
                <a:latin typeface="Arial"/>
                <a:cs typeface="Arial"/>
              </a:rPr>
              <a:t>requests in</a:t>
            </a:r>
            <a:r>
              <a:rPr sz="1200" dirty="0">
                <a:solidFill>
                  <a:srgbClr val="FA0000"/>
                </a:solidFill>
                <a:latin typeface="Arial"/>
                <a:cs typeface="Arial"/>
              </a:rPr>
              <a:t> </a:t>
            </a:r>
            <a:r>
              <a:rPr sz="1200" spc="-5" dirty="0">
                <a:solidFill>
                  <a:srgbClr val="FA0000"/>
                </a:solidFill>
                <a:latin typeface="Arial"/>
                <a:cs typeface="Arial"/>
              </a:rPr>
              <a:t>the system</a:t>
            </a:r>
            <a:endParaRPr sz="1200" dirty="0">
              <a:latin typeface="Arial"/>
              <a:cs typeface="Arial"/>
            </a:endParaRPr>
          </a:p>
        </p:txBody>
      </p:sp>
      <p:sp>
        <p:nvSpPr>
          <p:cNvPr id="17" name="object 17"/>
          <p:cNvSpPr txBox="1"/>
          <p:nvPr/>
        </p:nvSpPr>
        <p:spPr>
          <a:xfrm>
            <a:off x="1756194" y="2912445"/>
            <a:ext cx="608330" cy="177800"/>
          </a:xfrm>
          <a:prstGeom prst="rect">
            <a:avLst/>
          </a:prstGeom>
        </p:spPr>
        <p:txBody>
          <a:bodyPr vert="horz" wrap="square" lIns="0" tIns="12065" rIns="0" bIns="0" rtlCol="0">
            <a:spAutoFit/>
          </a:bodyPr>
          <a:lstStyle/>
          <a:p>
            <a:pPr marL="38100">
              <a:lnSpc>
                <a:spcPct val="100000"/>
              </a:lnSpc>
              <a:spcBef>
                <a:spcPts val="95"/>
              </a:spcBef>
            </a:pPr>
            <a:r>
              <a:rPr sz="1000" i="1" spc="-5" dirty="0">
                <a:latin typeface="Arial"/>
                <a:cs typeface="Arial"/>
              </a:rPr>
              <a:t>p</a:t>
            </a:r>
            <a:r>
              <a:rPr sz="1050" i="1" spc="22" baseline="-15873" dirty="0">
                <a:latin typeface="Arial"/>
                <a:cs typeface="Arial"/>
              </a:rPr>
              <a:t>k </a:t>
            </a:r>
            <a:r>
              <a:rPr sz="1050" i="1" spc="-67" baseline="-15873" dirty="0">
                <a:latin typeface="Arial"/>
                <a:cs typeface="Arial"/>
              </a:rPr>
              <a:t> </a:t>
            </a:r>
            <a:r>
              <a:rPr sz="1000" spc="190" dirty="0">
                <a:latin typeface="Arial"/>
                <a:cs typeface="Arial"/>
              </a:rPr>
              <a:t>=</a:t>
            </a:r>
            <a:r>
              <a:rPr sz="1000" spc="-60" dirty="0">
                <a:latin typeface="Arial"/>
                <a:cs typeface="Arial"/>
              </a:rPr>
              <a:t> </a:t>
            </a:r>
            <a:r>
              <a:rPr sz="1500" spc="262" baseline="44444" dirty="0">
                <a:latin typeface="Arial"/>
                <a:cs typeface="Arial"/>
              </a:rPr>
              <a:t> </a:t>
            </a:r>
            <a:r>
              <a:rPr sz="1000" spc="-5" dirty="0">
                <a:latin typeface="Arial"/>
                <a:cs typeface="Arial"/>
              </a:rPr>
              <a:t>1</a:t>
            </a:r>
            <a:r>
              <a:rPr sz="1000" spc="-140" dirty="0">
                <a:latin typeface="Arial"/>
                <a:cs typeface="Arial"/>
              </a:rPr>
              <a:t> </a:t>
            </a:r>
            <a:r>
              <a:rPr sz="1000" i="1" spc="-30" dirty="0">
                <a:latin typeface="メイリオ"/>
                <a:cs typeface="メイリオ"/>
              </a:rPr>
              <a:t>−</a:t>
            </a:r>
            <a:endParaRPr sz="1000">
              <a:latin typeface="メイリオ"/>
              <a:cs typeface="メイリオ"/>
            </a:endParaRPr>
          </a:p>
        </p:txBody>
      </p:sp>
      <p:sp>
        <p:nvSpPr>
          <p:cNvPr id="18" name="object 18"/>
          <p:cNvSpPr/>
          <p:nvPr/>
        </p:nvSpPr>
        <p:spPr>
          <a:xfrm>
            <a:off x="2358720" y="3020047"/>
            <a:ext cx="86995" cy="0"/>
          </a:xfrm>
          <a:custGeom>
            <a:avLst/>
            <a:gdLst/>
            <a:ahLst/>
            <a:cxnLst/>
            <a:rect l="l" t="t" r="r" b="b"/>
            <a:pathLst>
              <a:path w="86994">
                <a:moveTo>
                  <a:pt x="0" y="0"/>
                </a:moveTo>
                <a:lnTo>
                  <a:pt x="86537" y="0"/>
                </a:lnTo>
              </a:path>
            </a:pathLst>
          </a:custGeom>
          <a:ln w="5054">
            <a:solidFill>
              <a:srgbClr val="000000"/>
            </a:solidFill>
          </a:ln>
        </p:spPr>
        <p:txBody>
          <a:bodyPr wrap="square" lIns="0" tIns="0" rIns="0" bIns="0" rtlCol="0"/>
          <a:lstStyle/>
          <a:p>
            <a:endParaRPr/>
          </a:p>
        </p:txBody>
      </p:sp>
      <p:sp>
        <p:nvSpPr>
          <p:cNvPr id="19" name="object 19"/>
          <p:cNvSpPr/>
          <p:nvPr/>
        </p:nvSpPr>
        <p:spPr>
          <a:xfrm>
            <a:off x="2591523" y="3020047"/>
            <a:ext cx="86995" cy="0"/>
          </a:xfrm>
          <a:custGeom>
            <a:avLst/>
            <a:gdLst/>
            <a:ahLst/>
            <a:cxnLst/>
            <a:rect l="l" t="t" r="r" b="b"/>
            <a:pathLst>
              <a:path w="86994">
                <a:moveTo>
                  <a:pt x="0" y="0"/>
                </a:moveTo>
                <a:lnTo>
                  <a:pt x="86537" y="0"/>
                </a:lnTo>
              </a:path>
            </a:pathLst>
          </a:custGeom>
          <a:ln w="5054">
            <a:solidFill>
              <a:srgbClr val="000000"/>
            </a:solidFill>
          </a:ln>
        </p:spPr>
        <p:txBody>
          <a:bodyPr wrap="square" lIns="0" tIns="0" rIns="0" bIns="0" rtlCol="0"/>
          <a:lstStyle/>
          <a:p>
            <a:endParaRPr/>
          </a:p>
        </p:txBody>
      </p:sp>
      <p:sp>
        <p:nvSpPr>
          <p:cNvPr id="20" name="object 20"/>
          <p:cNvSpPr txBox="1"/>
          <p:nvPr/>
        </p:nvSpPr>
        <p:spPr>
          <a:xfrm>
            <a:off x="2346782" y="2806173"/>
            <a:ext cx="334010" cy="370840"/>
          </a:xfrm>
          <a:prstGeom prst="rect">
            <a:avLst/>
          </a:prstGeom>
        </p:spPr>
        <p:txBody>
          <a:bodyPr vert="horz" wrap="square" lIns="0" tIns="32384" rIns="0" bIns="0" rtlCol="0">
            <a:spAutoFit/>
          </a:bodyPr>
          <a:lstStyle/>
          <a:p>
            <a:pPr marL="12700">
              <a:lnSpc>
                <a:spcPct val="100000"/>
              </a:lnSpc>
              <a:spcBef>
                <a:spcPts val="254"/>
              </a:spcBef>
              <a:tabLst>
                <a:tab pos="245110" algn="l"/>
              </a:tabLst>
            </a:pPr>
            <a:r>
              <a:rPr sz="1000" i="1" spc="50" dirty="0">
                <a:latin typeface="Arial"/>
                <a:cs typeface="Arial"/>
              </a:rPr>
              <a:t>λ	λ</a:t>
            </a:r>
            <a:endParaRPr sz="1000">
              <a:latin typeface="Arial"/>
              <a:cs typeface="Arial"/>
            </a:endParaRPr>
          </a:p>
          <a:p>
            <a:pPr marL="14604">
              <a:lnSpc>
                <a:spcPct val="100000"/>
              </a:lnSpc>
              <a:spcBef>
                <a:spcPts val="160"/>
              </a:spcBef>
              <a:tabLst>
                <a:tab pos="247650" algn="l"/>
              </a:tabLst>
            </a:pPr>
            <a:r>
              <a:rPr sz="1000" i="1" spc="-5" dirty="0">
                <a:latin typeface="Arial"/>
                <a:cs typeface="Arial"/>
              </a:rPr>
              <a:t>µ	µ</a:t>
            </a:r>
            <a:endParaRPr sz="1000">
              <a:latin typeface="Arial"/>
              <a:cs typeface="Arial"/>
            </a:endParaRPr>
          </a:p>
        </p:txBody>
      </p:sp>
      <p:sp>
        <p:nvSpPr>
          <p:cNvPr id="23" name="object 23"/>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Scalability</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dimensions</a:t>
            </a:r>
            <a:endParaRPr sz="600">
              <a:latin typeface="Arial"/>
              <a:cs typeface="Arial"/>
            </a:endParaRPr>
          </a:p>
        </p:txBody>
      </p:sp>
      <p:sp>
        <p:nvSpPr>
          <p:cNvPr id="24" name="object 2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17</a:t>
            </a:r>
            <a:r>
              <a:rPr spc="-40" dirty="0"/>
              <a:t> </a:t>
            </a:r>
            <a:r>
              <a:rPr spc="-5" dirty="0"/>
              <a:t>/</a:t>
            </a:r>
            <a:r>
              <a:rPr spc="-35" dirty="0"/>
              <a:t> </a:t>
            </a:r>
            <a:r>
              <a:rPr spc="-5" dirty="0"/>
              <a:t>56</a:t>
            </a:r>
          </a:p>
        </p:txBody>
      </p:sp>
      <p:sp>
        <p:nvSpPr>
          <p:cNvPr id="21" name="object 21"/>
          <p:cNvSpPr txBox="1"/>
          <p:nvPr/>
        </p:nvSpPr>
        <p:spPr>
          <a:xfrm>
            <a:off x="2447747" y="2809892"/>
            <a:ext cx="316230" cy="177800"/>
          </a:xfrm>
          <a:prstGeom prst="rect">
            <a:avLst/>
          </a:prstGeom>
        </p:spPr>
        <p:txBody>
          <a:bodyPr vert="horz" wrap="square" lIns="0" tIns="12065" rIns="0" bIns="0" rtlCol="0">
            <a:spAutoFit/>
          </a:bodyPr>
          <a:lstStyle/>
          <a:p>
            <a:pPr marL="12700">
              <a:lnSpc>
                <a:spcPct val="100000"/>
              </a:lnSpc>
              <a:spcBef>
                <a:spcPts val="95"/>
              </a:spcBef>
            </a:pPr>
            <a:r>
              <a:rPr sz="1000" spc="175" dirty="0">
                <a:latin typeface="Arial"/>
                <a:cs typeface="Arial"/>
              </a:rPr>
              <a:t>    </a:t>
            </a:r>
            <a:r>
              <a:rPr sz="1000" spc="85" dirty="0">
                <a:latin typeface="Arial"/>
                <a:cs typeface="Arial"/>
              </a:rPr>
              <a:t> </a:t>
            </a:r>
            <a:r>
              <a:rPr sz="1000" spc="175" dirty="0">
                <a:latin typeface="Arial"/>
                <a:cs typeface="Arial"/>
              </a:rPr>
              <a:t> </a:t>
            </a:r>
            <a:endParaRPr sz="1000">
              <a:latin typeface="Arial"/>
              <a:cs typeface="Arial"/>
            </a:endParaRPr>
          </a:p>
        </p:txBody>
      </p:sp>
      <p:sp>
        <p:nvSpPr>
          <p:cNvPr id="22" name="object 22"/>
          <p:cNvSpPr txBox="1"/>
          <p:nvPr/>
        </p:nvSpPr>
        <p:spPr>
          <a:xfrm>
            <a:off x="2738501" y="2873942"/>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endParaRPr sz="7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Being scala</a:t>
            </a:r>
            <a:r>
              <a:rPr sz="600" spc="-20" dirty="0">
                <a:solidFill>
                  <a:srgbClr val="262685"/>
                </a:solidFill>
                <a:latin typeface="Arial"/>
                <a:cs typeface="Arial"/>
                <a:hlinkClick r:id="rId5" action="ppaction://hlinksldjump"/>
              </a:rPr>
              <a:t>b</a:t>
            </a:r>
            <a:r>
              <a:rPr sz="600" spc="-5" dirty="0">
                <a:solidFill>
                  <a:srgbClr val="262685"/>
                </a:solidFill>
                <a:latin typeface="Arial"/>
                <a:cs typeface="Arial"/>
                <a:hlinkClick r:id="rId5" action="ppaction://hlinksldjump"/>
              </a:rPr>
              <a:t>le</a:t>
            </a:r>
            <a:endParaRPr sz="600">
              <a:latin typeface="Arial"/>
              <a:cs typeface="Arial"/>
            </a:endParaRPr>
          </a:p>
        </p:txBody>
      </p:sp>
      <p:sp>
        <p:nvSpPr>
          <p:cNvPr id="4" name="object 4"/>
          <p:cNvSpPr txBox="1"/>
          <p:nvPr/>
        </p:nvSpPr>
        <p:spPr>
          <a:xfrm>
            <a:off x="95300" y="188846"/>
            <a:ext cx="3928745" cy="597535"/>
          </a:xfrm>
          <a:prstGeom prst="rect">
            <a:avLst/>
          </a:prstGeom>
        </p:spPr>
        <p:txBody>
          <a:bodyPr vert="horz" wrap="square" lIns="0" tIns="17145" rIns="0" bIns="0" rtlCol="0">
            <a:spAutoFit/>
          </a:bodyPr>
          <a:lstStyle/>
          <a:p>
            <a:pPr marL="12700">
              <a:lnSpc>
                <a:spcPts val="1655"/>
              </a:lnSpc>
              <a:spcBef>
                <a:spcPts val="135"/>
              </a:spcBef>
            </a:pPr>
            <a:r>
              <a:rPr sz="1400" spc="15" dirty="0">
                <a:solidFill>
                  <a:srgbClr val="3333B2"/>
                </a:solidFill>
                <a:latin typeface="Arial"/>
                <a:cs typeface="Arial"/>
              </a:rPr>
              <a:t>Formal</a:t>
            </a:r>
            <a:r>
              <a:rPr sz="1400" spc="-40" dirty="0">
                <a:solidFill>
                  <a:srgbClr val="3333B2"/>
                </a:solidFill>
                <a:latin typeface="Arial"/>
                <a:cs typeface="Arial"/>
              </a:rPr>
              <a:t> </a:t>
            </a:r>
            <a:r>
              <a:rPr sz="1400" spc="15" dirty="0">
                <a:solidFill>
                  <a:srgbClr val="3333B2"/>
                </a:solidFill>
                <a:latin typeface="Arial"/>
                <a:cs typeface="Arial"/>
              </a:rPr>
              <a:t>analysis</a:t>
            </a:r>
            <a:endParaRPr sz="1400">
              <a:latin typeface="Arial"/>
              <a:cs typeface="Arial"/>
            </a:endParaRPr>
          </a:p>
          <a:p>
            <a:pPr marL="264160" marR="5080">
              <a:lnSpc>
                <a:spcPts val="1390"/>
              </a:lnSpc>
              <a:spcBef>
                <a:spcPts val="65"/>
              </a:spcBef>
            </a:pPr>
            <a:r>
              <a:rPr sz="1200" spc="-5" dirty="0">
                <a:solidFill>
                  <a:srgbClr val="3333B2"/>
                </a:solidFill>
                <a:latin typeface="Arial"/>
                <a:cs typeface="Arial"/>
              </a:rPr>
              <a:t>Utilization </a:t>
            </a:r>
            <a:r>
              <a:rPr sz="1200" i="1" spc="-5" dirty="0">
                <a:solidFill>
                  <a:srgbClr val="3333B2"/>
                </a:solidFill>
                <a:latin typeface="Arial"/>
                <a:cs typeface="Arial"/>
              </a:rPr>
              <a:t>U</a:t>
            </a:r>
            <a:r>
              <a:rPr sz="1200" i="1" spc="90" dirty="0">
                <a:solidFill>
                  <a:srgbClr val="3333B2"/>
                </a:solidFill>
                <a:latin typeface="Arial"/>
                <a:cs typeface="Arial"/>
              </a:rPr>
              <a:t> </a:t>
            </a:r>
            <a:r>
              <a:rPr sz="1200" spc="-5" dirty="0">
                <a:solidFill>
                  <a:srgbClr val="3333B2"/>
                </a:solidFill>
                <a:latin typeface="Arial"/>
                <a:cs typeface="Arial"/>
              </a:rPr>
              <a:t>of a</a:t>
            </a:r>
            <a:r>
              <a:rPr sz="1200" dirty="0">
                <a:solidFill>
                  <a:srgbClr val="3333B2"/>
                </a:solidFill>
                <a:latin typeface="Arial"/>
                <a:cs typeface="Arial"/>
              </a:rPr>
              <a:t> service</a:t>
            </a:r>
            <a:r>
              <a:rPr sz="1200" spc="-5" dirty="0">
                <a:solidFill>
                  <a:srgbClr val="3333B2"/>
                </a:solidFill>
                <a:latin typeface="Arial"/>
                <a:cs typeface="Arial"/>
              </a:rPr>
              <a:t> is</a:t>
            </a:r>
            <a:r>
              <a:rPr sz="1200" dirty="0">
                <a:solidFill>
                  <a:srgbClr val="3333B2"/>
                </a:solidFill>
                <a:latin typeface="Arial"/>
                <a:cs typeface="Arial"/>
              </a:rPr>
              <a:t> </a:t>
            </a:r>
            <a:r>
              <a:rPr sz="1200" spc="-5" dirty="0">
                <a:solidFill>
                  <a:srgbClr val="3333B2"/>
                </a:solidFill>
                <a:latin typeface="Arial"/>
                <a:cs typeface="Arial"/>
              </a:rPr>
              <a:t>the</a:t>
            </a:r>
            <a:r>
              <a:rPr sz="1200" dirty="0">
                <a:solidFill>
                  <a:srgbClr val="3333B2"/>
                </a:solidFill>
                <a:latin typeface="Arial"/>
                <a:cs typeface="Arial"/>
              </a:rPr>
              <a:t> </a:t>
            </a:r>
            <a:r>
              <a:rPr sz="1200" spc="-5" dirty="0">
                <a:solidFill>
                  <a:srgbClr val="3333B2"/>
                </a:solidFill>
                <a:latin typeface="Arial"/>
                <a:cs typeface="Arial"/>
              </a:rPr>
              <a:t>fraction of</a:t>
            </a:r>
            <a:r>
              <a:rPr sz="1200" dirty="0">
                <a:solidFill>
                  <a:srgbClr val="3333B2"/>
                </a:solidFill>
                <a:latin typeface="Arial"/>
                <a:cs typeface="Arial"/>
              </a:rPr>
              <a:t> </a:t>
            </a:r>
            <a:r>
              <a:rPr sz="1200" spc="-5" dirty="0">
                <a:solidFill>
                  <a:srgbClr val="3333B2"/>
                </a:solidFill>
                <a:latin typeface="Arial"/>
                <a:cs typeface="Arial"/>
              </a:rPr>
              <a:t>time that</a:t>
            </a:r>
            <a:r>
              <a:rPr sz="1200" dirty="0">
                <a:solidFill>
                  <a:srgbClr val="3333B2"/>
                </a:solidFill>
                <a:latin typeface="Arial"/>
                <a:cs typeface="Arial"/>
              </a:rPr>
              <a:t> </a:t>
            </a:r>
            <a:r>
              <a:rPr sz="1200" spc="-5" dirty="0">
                <a:solidFill>
                  <a:srgbClr val="3333B2"/>
                </a:solidFill>
                <a:latin typeface="Arial"/>
                <a:cs typeface="Arial"/>
              </a:rPr>
              <a:t>it is </a:t>
            </a:r>
            <a:r>
              <a:rPr sz="1200" spc="-315" dirty="0">
                <a:solidFill>
                  <a:srgbClr val="3333B2"/>
                </a:solidFill>
                <a:latin typeface="Arial"/>
                <a:cs typeface="Arial"/>
              </a:rPr>
              <a:t> </a:t>
            </a:r>
            <a:r>
              <a:rPr sz="1200" spc="-10" dirty="0">
                <a:solidFill>
                  <a:srgbClr val="3333B2"/>
                </a:solidFill>
                <a:latin typeface="Arial"/>
                <a:cs typeface="Arial"/>
              </a:rPr>
              <a:t>busy</a:t>
            </a:r>
            <a:endParaRPr sz="1200">
              <a:latin typeface="Arial"/>
              <a:cs typeface="Arial"/>
            </a:endParaRPr>
          </a:p>
        </p:txBody>
      </p:sp>
      <p:sp>
        <p:nvSpPr>
          <p:cNvPr id="5" name="object 5"/>
          <p:cNvSpPr txBox="1"/>
          <p:nvPr/>
        </p:nvSpPr>
        <p:spPr>
          <a:xfrm>
            <a:off x="1357414" y="1145015"/>
            <a:ext cx="206375" cy="137795"/>
          </a:xfrm>
          <a:prstGeom prst="rect">
            <a:avLst/>
          </a:prstGeom>
        </p:spPr>
        <p:txBody>
          <a:bodyPr vert="horz" wrap="square" lIns="0" tIns="17145" rIns="0" bIns="0" rtlCol="0">
            <a:spAutoFit/>
          </a:bodyPr>
          <a:lstStyle/>
          <a:p>
            <a:pPr marL="12700">
              <a:lnSpc>
                <a:spcPct val="100000"/>
              </a:lnSpc>
              <a:spcBef>
                <a:spcPts val="135"/>
              </a:spcBef>
            </a:pPr>
            <a:r>
              <a:rPr sz="700" i="1" spc="85" dirty="0">
                <a:latin typeface="Arial"/>
                <a:cs typeface="Arial"/>
              </a:rPr>
              <a:t>k</a:t>
            </a:r>
            <a:r>
              <a:rPr sz="700" i="1" spc="160" dirty="0">
                <a:latin typeface="Arial"/>
                <a:cs typeface="Arial"/>
              </a:rPr>
              <a:t>&gt;</a:t>
            </a:r>
            <a:r>
              <a:rPr sz="700" spc="20" dirty="0">
                <a:latin typeface="Arial"/>
                <a:cs typeface="Arial"/>
              </a:rPr>
              <a:t>0</a:t>
            </a:r>
            <a:endParaRPr sz="700">
              <a:latin typeface="Arial"/>
              <a:cs typeface="Arial"/>
            </a:endParaRPr>
          </a:p>
        </p:txBody>
      </p:sp>
      <p:sp>
        <p:nvSpPr>
          <p:cNvPr id="6" name="object 6"/>
          <p:cNvSpPr txBox="1"/>
          <p:nvPr/>
        </p:nvSpPr>
        <p:spPr>
          <a:xfrm>
            <a:off x="1382991" y="948066"/>
            <a:ext cx="312420" cy="244475"/>
          </a:xfrm>
          <a:prstGeom prst="rect">
            <a:avLst/>
          </a:prstGeom>
        </p:spPr>
        <p:txBody>
          <a:bodyPr vert="horz" wrap="square" lIns="0" tIns="17145" rIns="0" bIns="0" rtlCol="0">
            <a:spAutoFit/>
          </a:bodyPr>
          <a:lstStyle/>
          <a:p>
            <a:pPr marL="12700">
              <a:lnSpc>
                <a:spcPct val="100000"/>
              </a:lnSpc>
              <a:spcBef>
                <a:spcPts val="135"/>
              </a:spcBef>
            </a:pPr>
            <a:r>
              <a:rPr sz="1400" spc="20" dirty="0">
                <a:latin typeface="Times New Roman"/>
                <a:cs typeface="Times New Roman"/>
              </a:rPr>
              <a:t>∑ </a:t>
            </a:r>
            <a:r>
              <a:rPr sz="1400" spc="60" dirty="0">
                <a:latin typeface="Times New Roman"/>
                <a:cs typeface="Times New Roman"/>
              </a:rPr>
              <a:t> </a:t>
            </a:r>
            <a:r>
              <a:rPr sz="700" i="1" spc="15" dirty="0">
                <a:latin typeface="Arial"/>
                <a:cs typeface="Arial"/>
              </a:rPr>
              <a:t>k</a:t>
            </a:r>
            <a:endParaRPr sz="700">
              <a:latin typeface="Arial"/>
              <a:cs typeface="Arial"/>
            </a:endParaRPr>
          </a:p>
        </p:txBody>
      </p:sp>
      <p:sp>
        <p:nvSpPr>
          <p:cNvPr id="7" name="object 7"/>
          <p:cNvSpPr txBox="1"/>
          <p:nvPr/>
        </p:nvSpPr>
        <p:spPr>
          <a:xfrm>
            <a:off x="2343061" y="891062"/>
            <a:ext cx="95250" cy="177800"/>
          </a:xfrm>
          <a:prstGeom prst="rect">
            <a:avLst/>
          </a:prstGeom>
        </p:spPr>
        <p:txBody>
          <a:bodyPr vert="horz" wrap="square" lIns="0" tIns="12065" rIns="0" bIns="0" rtlCol="0">
            <a:spAutoFit/>
          </a:bodyPr>
          <a:lstStyle/>
          <a:p>
            <a:pPr marL="12700">
              <a:lnSpc>
                <a:spcPct val="100000"/>
              </a:lnSpc>
              <a:spcBef>
                <a:spcPts val="95"/>
              </a:spcBef>
            </a:pPr>
            <a:r>
              <a:rPr sz="1000" i="1" u="sng" spc="50" dirty="0">
                <a:uFill>
                  <a:solidFill>
                    <a:srgbClr val="000000"/>
                  </a:solidFill>
                </a:uFill>
                <a:latin typeface="Arial"/>
                <a:cs typeface="Arial"/>
              </a:rPr>
              <a:t>λ</a:t>
            </a:r>
            <a:endParaRPr sz="1000">
              <a:latin typeface="Arial"/>
              <a:cs typeface="Arial"/>
            </a:endParaRPr>
          </a:p>
        </p:txBody>
      </p:sp>
      <p:sp>
        <p:nvSpPr>
          <p:cNvPr id="8" name="object 8"/>
          <p:cNvSpPr txBox="1"/>
          <p:nvPr/>
        </p:nvSpPr>
        <p:spPr>
          <a:xfrm>
            <a:off x="2345461" y="1063515"/>
            <a:ext cx="98425"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µ</a:t>
            </a:r>
            <a:endParaRPr sz="1000">
              <a:latin typeface="Arial"/>
              <a:cs typeface="Arial"/>
            </a:endParaRPr>
          </a:p>
        </p:txBody>
      </p:sp>
      <p:sp>
        <p:nvSpPr>
          <p:cNvPr id="9" name="object 9"/>
          <p:cNvSpPr txBox="1"/>
          <p:nvPr/>
        </p:nvSpPr>
        <p:spPr>
          <a:xfrm>
            <a:off x="2114092" y="1033738"/>
            <a:ext cx="655320" cy="137795"/>
          </a:xfrm>
          <a:prstGeom prst="rect">
            <a:avLst/>
          </a:prstGeom>
        </p:spPr>
        <p:txBody>
          <a:bodyPr vert="horz" wrap="square" lIns="0" tIns="17145" rIns="0" bIns="0" rtlCol="0">
            <a:spAutoFit/>
          </a:bodyPr>
          <a:lstStyle/>
          <a:p>
            <a:pPr marL="12700">
              <a:lnSpc>
                <a:spcPct val="100000"/>
              </a:lnSpc>
              <a:spcBef>
                <a:spcPts val="135"/>
              </a:spcBef>
              <a:tabLst>
                <a:tab pos="595630" algn="l"/>
              </a:tabLst>
            </a:pPr>
            <a:r>
              <a:rPr sz="700" spc="20" dirty="0">
                <a:latin typeface="Arial"/>
                <a:cs typeface="Arial"/>
              </a:rPr>
              <a:t>0	</a:t>
            </a:r>
            <a:r>
              <a:rPr sz="700" i="1" spc="15" dirty="0">
                <a:latin typeface="Arial"/>
                <a:cs typeface="Arial"/>
              </a:rPr>
              <a:t>k</a:t>
            </a:r>
            <a:endParaRPr sz="700">
              <a:latin typeface="Arial"/>
              <a:cs typeface="Arial"/>
            </a:endParaRPr>
          </a:p>
        </p:txBody>
      </p:sp>
      <p:sp>
        <p:nvSpPr>
          <p:cNvPr id="10" name="object 10"/>
          <p:cNvSpPr txBox="1"/>
          <p:nvPr/>
        </p:nvSpPr>
        <p:spPr>
          <a:xfrm>
            <a:off x="1101928" y="976724"/>
            <a:ext cx="2332355" cy="177800"/>
          </a:xfrm>
          <a:prstGeom prst="rect">
            <a:avLst/>
          </a:prstGeom>
        </p:spPr>
        <p:txBody>
          <a:bodyPr vert="horz" wrap="square" lIns="0" tIns="12065" rIns="0" bIns="0" rtlCol="0">
            <a:spAutoFit/>
          </a:bodyPr>
          <a:lstStyle/>
          <a:p>
            <a:pPr marL="12700">
              <a:lnSpc>
                <a:spcPct val="100000"/>
              </a:lnSpc>
              <a:spcBef>
                <a:spcPts val="95"/>
              </a:spcBef>
              <a:tabLst>
                <a:tab pos="462915" algn="l"/>
                <a:tab pos="1382395" algn="l"/>
              </a:tabLst>
            </a:pPr>
            <a:r>
              <a:rPr sz="1000" i="1" spc="-5" dirty="0">
                <a:latin typeface="Arial"/>
                <a:cs typeface="Arial"/>
              </a:rPr>
              <a:t>U</a:t>
            </a:r>
            <a:r>
              <a:rPr sz="1000" i="1" spc="15" dirty="0">
                <a:latin typeface="Arial"/>
                <a:cs typeface="Arial"/>
              </a:rPr>
              <a:t> </a:t>
            </a:r>
            <a:r>
              <a:rPr sz="1000" spc="190" dirty="0">
                <a:latin typeface="Arial"/>
                <a:cs typeface="Arial"/>
              </a:rPr>
              <a:t>=</a:t>
            </a:r>
            <a:r>
              <a:rPr sz="1000" dirty="0">
                <a:latin typeface="Arial"/>
                <a:cs typeface="Arial"/>
              </a:rPr>
              <a:t>	</a:t>
            </a:r>
            <a:r>
              <a:rPr sz="1000" i="1" spc="-5" dirty="0">
                <a:latin typeface="Arial"/>
                <a:cs typeface="Arial"/>
              </a:rPr>
              <a:t>p</a:t>
            </a:r>
            <a:r>
              <a:rPr sz="1000" i="1" dirty="0">
                <a:latin typeface="Arial"/>
                <a:cs typeface="Arial"/>
              </a:rPr>
              <a:t>  </a:t>
            </a:r>
            <a:r>
              <a:rPr sz="1000" i="1" spc="-120"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p</a:t>
            </a:r>
            <a:r>
              <a:rPr sz="1000" i="1" dirty="0">
                <a:latin typeface="Arial"/>
                <a:cs typeface="Arial"/>
              </a:rPr>
              <a:t> </a:t>
            </a:r>
            <a:r>
              <a:rPr sz="1000" i="1" spc="125" dirty="0">
                <a:latin typeface="Arial"/>
                <a:cs typeface="Arial"/>
              </a:rPr>
              <a:t> </a:t>
            </a:r>
            <a:r>
              <a:rPr sz="1000" spc="190" dirty="0">
                <a:latin typeface="Arial"/>
                <a:cs typeface="Arial"/>
              </a:rPr>
              <a:t>=</a:t>
            </a:r>
            <a:r>
              <a:rPr sz="1000"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p</a:t>
            </a:r>
            <a:r>
              <a:rPr sz="1000" i="1" dirty="0">
                <a:latin typeface="Arial"/>
                <a:cs typeface="Arial"/>
              </a:rPr>
              <a:t>  </a:t>
            </a:r>
            <a:r>
              <a:rPr sz="1000" i="1" spc="-120" dirty="0">
                <a:latin typeface="Arial"/>
                <a:cs typeface="Arial"/>
              </a:rPr>
              <a:t> </a:t>
            </a:r>
            <a:r>
              <a:rPr sz="1000" spc="190" dirty="0">
                <a:latin typeface="Arial"/>
                <a:cs typeface="Arial"/>
              </a:rPr>
              <a:t>=</a:t>
            </a:r>
            <a:r>
              <a:rPr sz="1000" spc="-60" dirty="0">
                <a:latin typeface="Arial"/>
                <a:cs typeface="Arial"/>
              </a:rPr>
              <a:t> </a:t>
            </a:r>
            <a:r>
              <a:rPr sz="1000" spc="50" dirty="0">
                <a:latin typeface="Arial"/>
                <a:cs typeface="Arial"/>
              </a:rPr>
              <a:t>(</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65" dirty="0">
                <a:latin typeface="Arial"/>
                <a:cs typeface="Arial"/>
              </a:rPr>
              <a:t>U</a:t>
            </a:r>
            <a:r>
              <a:rPr sz="1000" spc="50" dirty="0">
                <a:latin typeface="Arial"/>
                <a:cs typeface="Arial"/>
              </a:rPr>
              <a:t>)</a:t>
            </a:r>
            <a:r>
              <a:rPr sz="1000" i="1" spc="-5" dirty="0">
                <a:latin typeface="Arial"/>
                <a:cs typeface="Arial"/>
              </a:rPr>
              <a:t>U</a:t>
            </a:r>
            <a:endParaRPr sz="1000">
              <a:latin typeface="Arial"/>
              <a:cs typeface="Arial"/>
            </a:endParaRPr>
          </a:p>
        </p:txBody>
      </p:sp>
      <p:sp>
        <p:nvSpPr>
          <p:cNvPr id="11" name="object 11"/>
          <p:cNvSpPr txBox="1"/>
          <p:nvPr/>
        </p:nvSpPr>
        <p:spPr>
          <a:xfrm>
            <a:off x="3418166" y="957360"/>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endParaRPr sz="700">
              <a:latin typeface="Arial"/>
              <a:cs typeface="Arial"/>
            </a:endParaRPr>
          </a:p>
        </p:txBody>
      </p:sp>
      <p:sp>
        <p:nvSpPr>
          <p:cNvPr id="12" name="object 12"/>
          <p:cNvSpPr txBox="1"/>
          <p:nvPr/>
        </p:nvSpPr>
        <p:spPr>
          <a:xfrm>
            <a:off x="342290" y="1407195"/>
            <a:ext cx="2865120" cy="207645"/>
          </a:xfrm>
          <a:prstGeom prst="rect">
            <a:avLst/>
          </a:prstGeom>
        </p:spPr>
        <p:txBody>
          <a:bodyPr vert="horz" wrap="square" lIns="0" tIns="12065" rIns="0" bIns="0" rtlCol="0">
            <a:spAutoFit/>
          </a:bodyPr>
          <a:lstStyle/>
          <a:p>
            <a:pPr marL="12700">
              <a:lnSpc>
                <a:spcPct val="100000"/>
              </a:lnSpc>
              <a:spcBef>
                <a:spcPts val="95"/>
              </a:spcBef>
            </a:pPr>
            <a:r>
              <a:rPr sz="1200" spc="-20" dirty="0">
                <a:solidFill>
                  <a:srgbClr val="3333B2"/>
                </a:solidFill>
                <a:latin typeface="Arial"/>
                <a:cs typeface="Arial"/>
              </a:rPr>
              <a:t>Average</a:t>
            </a:r>
            <a:r>
              <a:rPr sz="1200" spc="-5" dirty="0">
                <a:solidFill>
                  <a:srgbClr val="3333B2"/>
                </a:solidFill>
                <a:latin typeface="Arial"/>
                <a:cs typeface="Arial"/>
              </a:rPr>
              <a:t> </a:t>
            </a:r>
            <a:r>
              <a:rPr sz="1200" spc="-10" dirty="0">
                <a:solidFill>
                  <a:srgbClr val="3333B2"/>
                </a:solidFill>
                <a:latin typeface="Arial"/>
                <a:cs typeface="Arial"/>
              </a:rPr>
              <a:t>number</a:t>
            </a:r>
            <a:r>
              <a:rPr sz="1200" dirty="0">
                <a:solidFill>
                  <a:srgbClr val="3333B2"/>
                </a:solidFill>
                <a:latin typeface="Arial"/>
                <a:cs typeface="Arial"/>
              </a:rPr>
              <a:t> </a:t>
            </a:r>
            <a:r>
              <a:rPr sz="1200" spc="-5" dirty="0">
                <a:solidFill>
                  <a:srgbClr val="3333B2"/>
                </a:solidFill>
                <a:latin typeface="Arial"/>
                <a:cs typeface="Arial"/>
              </a:rPr>
              <a:t>of requests</a:t>
            </a:r>
            <a:r>
              <a:rPr sz="1200" dirty="0">
                <a:solidFill>
                  <a:srgbClr val="3333B2"/>
                </a:solidFill>
                <a:latin typeface="Arial"/>
                <a:cs typeface="Arial"/>
              </a:rPr>
              <a:t> </a:t>
            </a:r>
            <a:r>
              <a:rPr sz="1200" spc="-5" dirty="0">
                <a:solidFill>
                  <a:srgbClr val="3333B2"/>
                </a:solidFill>
                <a:latin typeface="Arial"/>
                <a:cs typeface="Arial"/>
              </a:rPr>
              <a:t>in the</a:t>
            </a:r>
            <a:r>
              <a:rPr sz="1200" dirty="0">
                <a:solidFill>
                  <a:srgbClr val="3333B2"/>
                </a:solidFill>
                <a:latin typeface="Arial"/>
                <a:cs typeface="Arial"/>
              </a:rPr>
              <a:t> </a:t>
            </a:r>
            <a:r>
              <a:rPr sz="1200" spc="-5" dirty="0">
                <a:solidFill>
                  <a:srgbClr val="3333B2"/>
                </a:solidFill>
                <a:latin typeface="Arial"/>
                <a:cs typeface="Arial"/>
              </a:rPr>
              <a:t>system</a:t>
            </a:r>
            <a:endParaRPr sz="1200">
              <a:latin typeface="Arial"/>
              <a:cs typeface="Arial"/>
            </a:endParaRPr>
          </a:p>
        </p:txBody>
      </p:sp>
      <p:sp>
        <p:nvSpPr>
          <p:cNvPr id="13" name="object 13"/>
          <p:cNvSpPr/>
          <p:nvPr/>
        </p:nvSpPr>
        <p:spPr>
          <a:xfrm>
            <a:off x="359994" y="1964055"/>
            <a:ext cx="101600" cy="0"/>
          </a:xfrm>
          <a:custGeom>
            <a:avLst/>
            <a:gdLst/>
            <a:ahLst/>
            <a:cxnLst/>
            <a:rect l="l" t="t" r="r" b="b"/>
            <a:pathLst>
              <a:path w="101600">
                <a:moveTo>
                  <a:pt x="0" y="0"/>
                </a:moveTo>
                <a:lnTo>
                  <a:pt x="101092" y="0"/>
                </a:lnTo>
              </a:path>
            </a:pathLst>
          </a:custGeom>
          <a:ln w="5054">
            <a:solidFill>
              <a:srgbClr val="000000"/>
            </a:solidFill>
          </a:ln>
        </p:spPr>
        <p:txBody>
          <a:bodyPr wrap="square" lIns="0" tIns="0" rIns="0" bIns="0" rtlCol="0"/>
          <a:lstStyle/>
          <a:p>
            <a:endParaRPr/>
          </a:p>
        </p:txBody>
      </p:sp>
      <p:sp>
        <p:nvSpPr>
          <p:cNvPr id="14" name="object 14"/>
          <p:cNvSpPr txBox="1"/>
          <p:nvPr/>
        </p:nvSpPr>
        <p:spPr>
          <a:xfrm>
            <a:off x="588975" y="2102252"/>
            <a:ext cx="2230120" cy="137795"/>
          </a:xfrm>
          <a:prstGeom prst="rect">
            <a:avLst/>
          </a:prstGeom>
        </p:spPr>
        <p:txBody>
          <a:bodyPr vert="horz" wrap="square" lIns="0" tIns="17145" rIns="0" bIns="0" rtlCol="0">
            <a:spAutoFit/>
          </a:bodyPr>
          <a:lstStyle/>
          <a:p>
            <a:pPr marL="12700">
              <a:lnSpc>
                <a:spcPct val="100000"/>
              </a:lnSpc>
              <a:spcBef>
                <a:spcPts val="135"/>
              </a:spcBef>
              <a:tabLst>
                <a:tab pos="612775" algn="l"/>
                <a:tab pos="2035810" algn="l"/>
              </a:tabLst>
            </a:pPr>
            <a:r>
              <a:rPr sz="700" i="1" spc="85" dirty="0">
                <a:latin typeface="Arial"/>
                <a:cs typeface="Arial"/>
              </a:rPr>
              <a:t>k</a:t>
            </a:r>
            <a:r>
              <a:rPr sz="700" i="1" spc="5" dirty="0">
                <a:latin typeface="メイリオ"/>
                <a:cs typeface="メイリオ"/>
              </a:rPr>
              <a:t>≥</a:t>
            </a:r>
            <a:r>
              <a:rPr sz="700" spc="20" dirty="0">
                <a:latin typeface="Arial"/>
                <a:cs typeface="Arial"/>
              </a:rPr>
              <a:t>0</a:t>
            </a:r>
            <a:r>
              <a:rPr sz="700" dirty="0">
                <a:latin typeface="Arial"/>
                <a:cs typeface="Arial"/>
              </a:rPr>
              <a:t>	</a:t>
            </a:r>
            <a:r>
              <a:rPr sz="700" i="1" spc="85" dirty="0">
                <a:latin typeface="Arial"/>
                <a:cs typeface="Arial"/>
              </a:rPr>
              <a:t>k</a:t>
            </a:r>
            <a:r>
              <a:rPr sz="700" i="1" spc="5" dirty="0">
                <a:latin typeface="メイリオ"/>
                <a:cs typeface="メイリオ"/>
              </a:rPr>
              <a:t>≥</a:t>
            </a:r>
            <a:r>
              <a:rPr sz="700" spc="20" dirty="0">
                <a:latin typeface="Arial"/>
                <a:cs typeface="Arial"/>
              </a:rPr>
              <a:t>0</a:t>
            </a:r>
            <a:r>
              <a:rPr sz="700" dirty="0">
                <a:latin typeface="Arial"/>
                <a:cs typeface="Arial"/>
              </a:rPr>
              <a:t>	</a:t>
            </a:r>
            <a:r>
              <a:rPr sz="700" i="1" spc="85" dirty="0">
                <a:latin typeface="Arial"/>
                <a:cs typeface="Arial"/>
              </a:rPr>
              <a:t>k</a:t>
            </a:r>
            <a:r>
              <a:rPr sz="700" i="1" spc="5" dirty="0">
                <a:latin typeface="メイリオ"/>
                <a:cs typeface="メイリオ"/>
              </a:rPr>
              <a:t>≥</a:t>
            </a:r>
            <a:r>
              <a:rPr sz="700" spc="20" dirty="0">
                <a:latin typeface="Arial"/>
                <a:cs typeface="Arial"/>
              </a:rPr>
              <a:t>0</a:t>
            </a:r>
            <a:endParaRPr sz="700">
              <a:latin typeface="Arial"/>
              <a:cs typeface="Arial"/>
            </a:endParaRPr>
          </a:p>
        </p:txBody>
      </p:sp>
      <p:sp>
        <p:nvSpPr>
          <p:cNvPr id="15" name="object 15"/>
          <p:cNvSpPr txBox="1"/>
          <p:nvPr/>
        </p:nvSpPr>
        <p:spPr>
          <a:xfrm>
            <a:off x="321894" y="1878277"/>
            <a:ext cx="3967479" cy="244475"/>
          </a:xfrm>
          <a:prstGeom prst="rect">
            <a:avLst/>
          </a:prstGeom>
        </p:spPr>
        <p:txBody>
          <a:bodyPr vert="horz" wrap="square" lIns="0" tIns="17145" rIns="0" bIns="0" rtlCol="0">
            <a:spAutoFit/>
          </a:bodyPr>
          <a:lstStyle/>
          <a:p>
            <a:pPr marL="38100">
              <a:lnSpc>
                <a:spcPct val="100000"/>
              </a:lnSpc>
              <a:spcBef>
                <a:spcPts val="135"/>
              </a:spcBef>
            </a:pPr>
            <a:r>
              <a:rPr sz="1000" i="1" spc="-5" dirty="0">
                <a:latin typeface="Arial"/>
                <a:cs typeface="Arial"/>
              </a:rPr>
              <a:t>N</a:t>
            </a:r>
            <a:r>
              <a:rPr sz="1000" i="1" spc="-35" dirty="0">
                <a:latin typeface="Arial"/>
                <a:cs typeface="Arial"/>
              </a:rPr>
              <a:t> </a:t>
            </a:r>
            <a:r>
              <a:rPr sz="1000" spc="190" dirty="0">
                <a:latin typeface="Arial"/>
                <a:cs typeface="Arial"/>
              </a:rPr>
              <a:t>=</a:t>
            </a:r>
            <a:r>
              <a:rPr sz="1000" spc="90"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k</a:t>
            </a:r>
            <a:r>
              <a:rPr sz="1000" i="1" spc="-100" dirty="0">
                <a:latin typeface="Arial"/>
                <a:cs typeface="Arial"/>
              </a:rPr>
              <a:t> </a:t>
            </a:r>
            <a:r>
              <a:rPr sz="1000" i="1" spc="5" dirty="0">
                <a:latin typeface="メイリオ"/>
                <a:cs typeface="メイリオ"/>
              </a:rPr>
              <a:t>·</a:t>
            </a:r>
            <a:r>
              <a:rPr sz="1000" i="1" spc="-5" dirty="0">
                <a:latin typeface="Arial"/>
                <a:cs typeface="Arial"/>
              </a:rPr>
              <a:t>p</a:t>
            </a:r>
            <a:r>
              <a:rPr sz="1050" i="1" spc="22" baseline="-15873" dirty="0">
                <a:latin typeface="Arial"/>
                <a:cs typeface="Arial"/>
              </a:rPr>
              <a:t>k</a:t>
            </a:r>
            <a:r>
              <a:rPr sz="1050" i="1" spc="142" baseline="-15873" dirty="0">
                <a:latin typeface="Arial"/>
                <a:cs typeface="Arial"/>
              </a:rPr>
              <a:t> </a:t>
            </a:r>
            <a:r>
              <a:rPr sz="1000" spc="190" dirty="0">
                <a:latin typeface="Arial"/>
                <a:cs typeface="Arial"/>
              </a:rPr>
              <a:t>=</a:t>
            </a:r>
            <a:r>
              <a:rPr sz="1000" spc="90"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k</a:t>
            </a:r>
            <a:r>
              <a:rPr sz="1000" i="1" spc="-100" dirty="0">
                <a:latin typeface="Arial"/>
                <a:cs typeface="Arial"/>
              </a:rPr>
              <a:t> </a:t>
            </a:r>
            <a:r>
              <a:rPr sz="1000" i="1" spc="5" dirty="0">
                <a:latin typeface="メイリオ"/>
                <a:cs typeface="メイリオ"/>
              </a:rPr>
              <a:t>·</a:t>
            </a:r>
            <a:r>
              <a:rPr sz="1000" spc="50" dirty="0">
                <a:latin typeface="Arial"/>
                <a:cs typeface="Arial"/>
              </a:rPr>
              <a:t>(</a:t>
            </a:r>
            <a:r>
              <a:rPr sz="1000" spc="75" dirty="0">
                <a:latin typeface="Arial"/>
                <a:cs typeface="Arial"/>
              </a:rPr>
              <a:t>1</a:t>
            </a:r>
            <a:r>
              <a:rPr sz="1000" i="1" spc="50" dirty="0">
                <a:latin typeface="メイリオ"/>
                <a:cs typeface="メイリオ"/>
              </a:rPr>
              <a:t>−</a:t>
            </a:r>
            <a:r>
              <a:rPr sz="1000" i="1" spc="65" dirty="0">
                <a:latin typeface="Arial"/>
                <a:cs typeface="Arial"/>
              </a:rPr>
              <a:t>U</a:t>
            </a:r>
            <a:r>
              <a:rPr sz="1000" spc="50" dirty="0">
                <a:latin typeface="Arial"/>
                <a:cs typeface="Arial"/>
              </a:rPr>
              <a:t>)</a:t>
            </a:r>
            <a:r>
              <a:rPr sz="1000" i="1" spc="65" dirty="0">
                <a:latin typeface="Arial"/>
                <a:cs typeface="Arial"/>
              </a:rPr>
              <a:t>U</a:t>
            </a:r>
            <a:r>
              <a:rPr sz="1050" i="1" spc="22" baseline="31746" dirty="0">
                <a:latin typeface="Arial"/>
                <a:cs typeface="Arial"/>
              </a:rPr>
              <a:t>k</a:t>
            </a:r>
            <a:r>
              <a:rPr sz="1050" i="1" spc="142" baseline="31746" dirty="0">
                <a:latin typeface="Arial"/>
                <a:cs typeface="Arial"/>
              </a:rPr>
              <a:t> </a:t>
            </a:r>
            <a:r>
              <a:rPr sz="1000" spc="190" dirty="0">
                <a:latin typeface="Arial"/>
                <a:cs typeface="Arial"/>
              </a:rPr>
              <a:t>=</a:t>
            </a:r>
            <a:r>
              <a:rPr sz="1000" spc="-114" dirty="0">
                <a:latin typeface="Arial"/>
                <a:cs typeface="Arial"/>
              </a:rPr>
              <a:t> </a:t>
            </a:r>
            <a:r>
              <a:rPr sz="1000" spc="50" dirty="0">
                <a:latin typeface="Arial"/>
                <a:cs typeface="Arial"/>
              </a:rPr>
              <a:t>(</a:t>
            </a:r>
            <a:r>
              <a:rPr sz="1000" spc="75" dirty="0">
                <a:latin typeface="Arial"/>
                <a:cs typeface="Arial"/>
              </a:rPr>
              <a:t>1</a:t>
            </a:r>
            <a:r>
              <a:rPr sz="1000" i="1" spc="50" dirty="0">
                <a:latin typeface="メイリオ"/>
                <a:cs typeface="メイリオ"/>
              </a:rPr>
              <a:t>−</a:t>
            </a:r>
            <a:r>
              <a:rPr sz="1000" i="1" spc="65" dirty="0">
                <a:latin typeface="Arial"/>
                <a:cs typeface="Arial"/>
              </a:rPr>
              <a:t>U</a:t>
            </a:r>
            <a:r>
              <a:rPr sz="1000" spc="50" dirty="0">
                <a:latin typeface="Arial"/>
                <a:cs typeface="Arial"/>
              </a:rPr>
              <a:t>)</a:t>
            </a:r>
            <a:r>
              <a:rPr sz="1000" spc="35" dirty="0">
                <a:latin typeface="Arial"/>
                <a:cs typeface="Arial"/>
              </a:rPr>
              <a:t> </a:t>
            </a:r>
            <a:r>
              <a:rPr sz="2100" spc="30" baseline="-7936" dirty="0">
                <a:latin typeface="Times New Roman"/>
                <a:cs typeface="Times New Roman"/>
              </a:rPr>
              <a:t>∑</a:t>
            </a:r>
            <a:r>
              <a:rPr sz="2100" spc="-60" baseline="-7936" dirty="0">
                <a:latin typeface="Times New Roman"/>
                <a:cs typeface="Times New Roman"/>
              </a:rPr>
              <a:t> </a:t>
            </a:r>
            <a:r>
              <a:rPr sz="1000" i="1" spc="-5" dirty="0">
                <a:latin typeface="Arial"/>
                <a:cs typeface="Arial"/>
              </a:rPr>
              <a:t>k</a:t>
            </a:r>
            <a:r>
              <a:rPr sz="1000" i="1" spc="-100" dirty="0">
                <a:latin typeface="Arial"/>
                <a:cs typeface="Arial"/>
              </a:rPr>
              <a:t> </a:t>
            </a:r>
            <a:r>
              <a:rPr sz="1000" i="1" spc="5" dirty="0">
                <a:latin typeface="メイリオ"/>
                <a:cs typeface="メイリオ"/>
              </a:rPr>
              <a:t>·</a:t>
            </a:r>
            <a:r>
              <a:rPr sz="1000" i="1" spc="65" dirty="0">
                <a:latin typeface="Arial"/>
                <a:cs typeface="Arial"/>
              </a:rPr>
              <a:t>U</a:t>
            </a:r>
            <a:r>
              <a:rPr sz="1050" i="1" spc="22" baseline="31746" dirty="0">
                <a:latin typeface="Arial"/>
                <a:cs typeface="Arial"/>
              </a:rPr>
              <a:t>k</a:t>
            </a:r>
            <a:r>
              <a:rPr sz="1050" i="1" spc="142" baseline="31746" dirty="0">
                <a:latin typeface="Arial"/>
                <a:cs typeface="Arial"/>
              </a:rPr>
              <a:t> </a:t>
            </a:r>
            <a:r>
              <a:rPr sz="1000" spc="190" dirty="0">
                <a:latin typeface="Arial"/>
                <a:cs typeface="Arial"/>
              </a:rPr>
              <a:t>=</a:t>
            </a:r>
            <a:r>
              <a:rPr sz="1000" spc="5" dirty="0">
                <a:latin typeface="Arial"/>
                <a:cs typeface="Arial"/>
              </a:rPr>
              <a:t> </a:t>
            </a:r>
            <a:r>
              <a:rPr sz="1500" u="sng" spc="75" baseline="36111" dirty="0">
                <a:uFill>
                  <a:solidFill>
                    <a:srgbClr val="000000"/>
                  </a:solidFill>
                </a:uFill>
                <a:latin typeface="Arial"/>
                <a:cs typeface="Arial"/>
              </a:rPr>
              <a:t>(</a:t>
            </a:r>
            <a:r>
              <a:rPr sz="1500" u="sng" spc="-7" baseline="36111" dirty="0">
                <a:uFill>
                  <a:solidFill>
                    <a:srgbClr val="000000"/>
                  </a:solidFill>
                </a:uFill>
                <a:latin typeface="Arial"/>
                <a:cs typeface="Arial"/>
              </a:rPr>
              <a:t>1</a:t>
            </a:r>
            <a:r>
              <a:rPr sz="1500" u="sng" spc="-209" baseline="36111" dirty="0">
                <a:uFill>
                  <a:solidFill>
                    <a:srgbClr val="000000"/>
                  </a:solidFill>
                </a:uFill>
                <a:latin typeface="Arial"/>
                <a:cs typeface="Arial"/>
              </a:rPr>
              <a:t> </a:t>
            </a:r>
            <a:r>
              <a:rPr sz="1500" i="1" u="sng" spc="157" baseline="36111" dirty="0">
                <a:uFill>
                  <a:solidFill>
                    <a:srgbClr val="000000"/>
                  </a:solidFill>
                </a:uFill>
                <a:latin typeface="メイリオ"/>
                <a:cs typeface="メイリオ"/>
              </a:rPr>
              <a:t>−</a:t>
            </a:r>
            <a:r>
              <a:rPr sz="1500" i="1" u="sng" spc="97" baseline="36111" dirty="0">
                <a:uFill>
                  <a:solidFill>
                    <a:srgbClr val="000000"/>
                  </a:solidFill>
                </a:uFill>
                <a:latin typeface="Arial"/>
                <a:cs typeface="Arial"/>
              </a:rPr>
              <a:t>U</a:t>
            </a:r>
            <a:r>
              <a:rPr sz="1500" u="sng" spc="75" baseline="36111" dirty="0">
                <a:uFill>
                  <a:solidFill>
                    <a:srgbClr val="000000"/>
                  </a:solidFill>
                </a:uFill>
                <a:latin typeface="Arial"/>
                <a:cs typeface="Arial"/>
              </a:rPr>
              <a:t>)</a:t>
            </a:r>
            <a:r>
              <a:rPr sz="1500" i="1" u="sng" spc="-7" baseline="36111" dirty="0">
                <a:uFill>
                  <a:solidFill>
                    <a:srgbClr val="000000"/>
                  </a:solidFill>
                </a:uFill>
                <a:latin typeface="Arial"/>
                <a:cs typeface="Arial"/>
              </a:rPr>
              <a:t>U</a:t>
            </a:r>
            <a:r>
              <a:rPr sz="1500" i="1" spc="120" baseline="36111" dirty="0">
                <a:latin typeface="Arial"/>
                <a:cs typeface="Arial"/>
              </a:rPr>
              <a:t> </a:t>
            </a:r>
            <a:r>
              <a:rPr sz="1000" spc="190" dirty="0">
                <a:latin typeface="Arial"/>
                <a:cs typeface="Arial"/>
              </a:rPr>
              <a:t>=</a:t>
            </a:r>
            <a:r>
              <a:rPr sz="1000" spc="5" dirty="0">
                <a:latin typeface="Arial"/>
                <a:cs typeface="Arial"/>
              </a:rPr>
              <a:t> </a:t>
            </a:r>
            <a:r>
              <a:rPr sz="1500" u="sng" spc="-7" baseline="36111" dirty="0">
                <a:uFill>
                  <a:solidFill>
                    <a:srgbClr val="000000"/>
                  </a:solidFill>
                </a:uFill>
                <a:latin typeface="Times New Roman"/>
                <a:cs typeface="Times New Roman"/>
              </a:rPr>
              <a:t> </a:t>
            </a:r>
            <a:r>
              <a:rPr sz="1500" u="sng" baseline="36111" dirty="0">
                <a:uFill>
                  <a:solidFill>
                    <a:srgbClr val="000000"/>
                  </a:solidFill>
                </a:uFill>
                <a:latin typeface="Times New Roman"/>
                <a:cs typeface="Times New Roman"/>
              </a:rPr>
              <a:t> </a:t>
            </a:r>
            <a:r>
              <a:rPr sz="1500" u="sng" spc="75" baseline="36111" dirty="0">
                <a:uFill>
                  <a:solidFill>
                    <a:srgbClr val="000000"/>
                  </a:solidFill>
                </a:uFill>
                <a:latin typeface="Times New Roman"/>
                <a:cs typeface="Times New Roman"/>
              </a:rPr>
              <a:t> </a:t>
            </a:r>
            <a:r>
              <a:rPr sz="1500" i="1" u="sng" spc="-7" baseline="36111" dirty="0">
                <a:uFill>
                  <a:solidFill>
                    <a:srgbClr val="000000"/>
                  </a:solidFill>
                </a:uFill>
                <a:latin typeface="Arial"/>
                <a:cs typeface="Arial"/>
              </a:rPr>
              <a:t>U</a:t>
            </a:r>
            <a:r>
              <a:rPr sz="1500" i="1" u="sng" spc="60" baseline="36111" dirty="0">
                <a:uFill>
                  <a:solidFill>
                    <a:srgbClr val="000000"/>
                  </a:solidFill>
                </a:uFill>
                <a:latin typeface="Arial"/>
                <a:cs typeface="Arial"/>
              </a:rPr>
              <a:t> </a:t>
            </a:r>
            <a:endParaRPr sz="1500" baseline="36111">
              <a:latin typeface="Arial"/>
              <a:cs typeface="Arial"/>
            </a:endParaRPr>
          </a:p>
        </p:txBody>
      </p:sp>
      <p:sp>
        <p:nvSpPr>
          <p:cNvPr id="16" name="object 16"/>
          <p:cNvSpPr txBox="1"/>
          <p:nvPr/>
        </p:nvSpPr>
        <p:spPr>
          <a:xfrm>
            <a:off x="3254590" y="2022556"/>
            <a:ext cx="1025525" cy="177800"/>
          </a:xfrm>
          <a:prstGeom prst="rect">
            <a:avLst/>
          </a:prstGeom>
        </p:spPr>
        <p:txBody>
          <a:bodyPr vert="horz" wrap="square" lIns="0" tIns="12065" rIns="0" bIns="0" rtlCol="0">
            <a:spAutoFit/>
          </a:bodyPr>
          <a:lstStyle/>
          <a:p>
            <a:pPr marL="38100">
              <a:lnSpc>
                <a:spcPct val="100000"/>
              </a:lnSpc>
              <a:spcBef>
                <a:spcPts val="95"/>
              </a:spcBef>
              <a:tabLst>
                <a:tab pos="691515" algn="l"/>
              </a:tabLst>
            </a:pPr>
            <a:r>
              <a:rPr sz="1000" spc="50" dirty="0">
                <a:latin typeface="Arial"/>
                <a:cs typeface="Arial"/>
              </a:rPr>
              <a:t>(</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65" dirty="0">
                <a:latin typeface="Arial"/>
                <a:cs typeface="Arial"/>
              </a:rPr>
              <a:t>U</a:t>
            </a:r>
            <a:r>
              <a:rPr sz="1000" spc="50" dirty="0">
                <a:latin typeface="Arial"/>
                <a:cs typeface="Arial"/>
              </a:rPr>
              <a:t>)</a:t>
            </a:r>
            <a:r>
              <a:rPr sz="1050" spc="30" baseline="23809" dirty="0">
                <a:latin typeface="Arial"/>
                <a:cs typeface="Arial"/>
              </a:rPr>
              <a:t>2</a:t>
            </a:r>
            <a:r>
              <a:rPr sz="1050" baseline="23809" dirty="0">
                <a:latin typeface="Arial"/>
                <a:cs typeface="Arial"/>
              </a:rPr>
              <a:t>	</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U</a:t>
            </a:r>
            <a:endParaRPr sz="1000">
              <a:latin typeface="Arial"/>
              <a:cs typeface="Arial"/>
            </a:endParaRPr>
          </a:p>
        </p:txBody>
      </p:sp>
      <p:sp>
        <p:nvSpPr>
          <p:cNvPr id="17" name="object 17"/>
          <p:cNvSpPr txBox="1"/>
          <p:nvPr/>
        </p:nvSpPr>
        <p:spPr>
          <a:xfrm>
            <a:off x="342290" y="2423754"/>
            <a:ext cx="1348105" cy="207645"/>
          </a:xfrm>
          <a:prstGeom prst="rect">
            <a:avLst/>
          </a:prstGeom>
        </p:spPr>
        <p:txBody>
          <a:bodyPr vert="horz" wrap="square" lIns="0" tIns="12065" rIns="0" bIns="0" rtlCol="0">
            <a:spAutoFit/>
          </a:bodyPr>
          <a:lstStyle/>
          <a:p>
            <a:pPr marL="12700">
              <a:lnSpc>
                <a:spcPct val="100000"/>
              </a:lnSpc>
              <a:spcBef>
                <a:spcPts val="95"/>
              </a:spcBef>
            </a:pPr>
            <a:r>
              <a:rPr sz="1200" spc="-20" dirty="0">
                <a:solidFill>
                  <a:srgbClr val="3333B2"/>
                </a:solidFill>
                <a:latin typeface="Arial"/>
                <a:cs typeface="Arial"/>
              </a:rPr>
              <a:t>Average</a:t>
            </a:r>
            <a:r>
              <a:rPr sz="1200" spc="-40" dirty="0">
                <a:solidFill>
                  <a:srgbClr val="3333B2"/>
                </a:solidFill>
                <a:latin typeface="Arial"/>
                <a:cs typeface="Arial"/>
              </a:rPr>
              <a:t> </a:t>
            </a:r>
            <a:r>
              <a:rPr sz="1200" spc="-5" dirty="0">
                <a:solidFill>
                  <a:srgbClr val="3333B2"/>
                </a:solidFill>
                <a:latin typeface="Arial"/>
                <a:cs typeface="Arial"/>
              </a:rPr>
              <a:t>throughput</a:t>
            </a:r>
            <a:endParaRPr sz="1200">
              <a:latin typeface="Arial"/>
              <a:cs typeface="Arial"/>
            </a:endParaRPr>
          </a:p>
        </p:txBody>
      </p:sp>
      <p:sp>
        <p:nvSpPr>
          <p:cNvPr id="18" name="object 18"/>
          <p:cNvSpPr/>
          <p:nvPr/>
        </p:nvSpPr>
        <p:spPr>
          <a:xfrm>
            <a:off x="1690420" y="3029000"/>
            <a:ext cx="15240" cy="15240"/>
          </a:xfrm>
          <a:custGeom>
            <a:avLst/>
            <a:gdLst/>
            <a:ahLst/>
            <a:cxnLst/>
            <a:rect l="l" t="t" r="r" b="b"/>
            <a:pathLst>
              <a:path w="15239" h="15239">
                <a:moveTo>
                  <a:pt x="14909" y="0"/>
                </a:moveTo>
                <a:lnTo>
                  <a:pt x="0" y="0"/>
                </a:lnTo>
                <a:lnTo>
                  <a:pt x="0" y="15049"/>
                </a:lnTo>
                <a:lnTo>
                  <a:pt x="14909" y="15049"/>
                </a:lnTo>
                <a:lnTo>
                  <a:pt x="14909" y="0"/>
                </a:lnTo>
                <a:close/>
              </a:path>
            </a:pathLst>
          </a:custGeom>
          <a:solidFill>
            <a:srgbClr val="000000"/>
          </a:solidFill>
        </p:spPr>
        <p:txBody>
          <a:bodyPr wrap="square" lIns="0" tIns="0" rIns="0" bIns="0" rtlCol="0"/>
          <a:lstStyle/>
          <a:p>
            <a:endParaRPr/>
          </a:p>
        </p:txBody>
      </p:sp>
      <p:sp>
        <p:nvSpPr>
          <p:cNvPr id="19" name="object 19"/>
          <p:cNvSpPr/>
          <p:nvPr/>
        </p:nvSpPr>
        <p:spPr>
          <a:xfrm>
            <a:off x="1819198" y="3029000"/>
            <a:ext cx="15240" cy="15240"/>
          </a:xfrm>
          <a:custGeom>
            <a:avLst/>
            <a:gdLst/>
            <a:ahLst/>
            <a:cxnLst/>
            <a:rect l="l" t="t" r="r" b="b"/>
            <a:pathLst>
              <a:path w="15239" h="15239">
                <a:moveTo>
                  <a:pt x="14909" y="0"/>
                </a:moveTo>
                <a:lnTo>
                  <a:pt x="0" y="0"/>
                </a:lnTo>
                <a:lnTo>
                  <a:pt x="0" y="15049"/>
                </a:lnTo>
                <a:lnTo>
                  <a:pt x="14909" y="15049"/>
                </a:lnTo>
                <a:lnTo>
                  <a:pt x="14909" y="0"/>
                </a:lnTo>
                <a:close/>
              </a:path>
            </a:pathLst>
          </a:custGeom>
          <a:solidFill>
            <a:srgbClr val="000000"/>
          </a:solidFill>
        </p:spPr>
        <p:txBody>
          <a:bodyPr wrap="square" lIns="0" tIns="0" rIns="0" bIns="0" rtlCol="0"/>
          <a:lstStyle/>
          <a:p>
            <a:endParaRPr/>
          </a:p>
        </p:txBody>
      </p:sp>
      <p:sp>
        <p:nvSpPr>
          <p:cNvPr id="20" name="object 20"/>
          <p:cNvSpPr txBox="1"/>
          <p:nvPr/>
        </p:nvSpPr>
        <p:spPr>
          <a:xfrm>
            <a:off x="1485455" y="3021868"/>
            <a:ext cx="1224280" cy="177800"/>
          </a:xfrm>
          <a:prstGeom prst="rect">
            <a:avLst/>
          </a:prstGeom>
        </p:spPr>
        <p:txBody>
          <a:bodyPr vert="horz" wrap="square" lIns="0" tIns="62865" rIns="0" bIns="0" rtlCol="0">
            <a:spAutoFit/>
          </a:bodyPr>
          <a:lstStyle/>
          <a:p>
            <a:pPr marL="38100">
              <a:lnSpc>
                <a:spcPct val="100000"/>
              </a:lnSpc>
              <a:spcBef>
                <a:spcPts val="495"/>
              </a:spcBef>
            </a:pPr>
            <a:r>
              <a:rPr sz="600" spc="-5" dirty="0">
                <a:latin typeface="Arial"/>
                <a:cs typeface="Arial"/>
              </a:rPr>
              <a:t>se</a:t>
            </a:r>
            <a:r>
              <a:rPr sz="600" spc="10" dirty="0">
                <a:latin typeface="Arial"/>
                <a:cs typeface="Arial"/>
              </a:rPr>
              <a:t>r</a:t>
            </a:r>
            <a:r>
              <a:rPr sz="600" spc="-290" dirty="0">
                <a:latin typeface="Arial"/>
                <a:cs typeface="Arial"/>
              </a:rPr>
              <a:t>v</a:t>
            </a:r>
            <a:r>
              <a:rPr sz="1500" spc="-22" baseline="50000" dirty="0">
                <a:latin typeface="Arial"/>
                <a:cs typeface="Arial"/>
              </a:rPr>
              <a:t> </a:t>
            </a:r>
            <a:r>
              <a:rPr sz="600" spc="-40" dirty="0">
                <a:latin typeface="Arial"/>
                <a:cs typeface="Arial"/>
              </a:rPr>
              <a:t>e</a:t>
            </a:r>
            <a:r>
              <a:rPr sz="1500" spc="-375" baseline="50000" dirty="0">
                <a:latin typeface="Arial"/>
                <a:cs typeface="Arial"/>
              </a:rPr>
              <a:t> </a:t>
            </a:r>
            <a:r>
              <a:rPr sz="600" spc="-5" dirty="0">
                <a:latin typeface="Arial"/>
                <a:cs typeface="Arial"/>
              </a:rPr>
              <a:t>r </a:t>
            </a:r>
            <a:r>
              <a:rPr sz="600" spc="-290" dirty="0">
                <a:latin typeface="Arial"/>
                <a:cs typeface="Arial"/>
              </a:rPr>
              <a:t>a</a:t>
            </a:r>
            <a:r>
              <a:rPr sz="1500" baseline="50000" dirty="0">
                <a:latin typeface="Arial"/>
                <a:cs typeface="Arial"/>
              </a:rPr>
              <a:t> </a:t>
            </a:r>
            <a:r>
              <a:rPr sz="600" spc="-5" dirty="0">
                <a:latin typeface="Arial"/>
                <a:cs typeface="Arial"/>
              </a:rPr>
              <a:t>t</a:t>
            </a:r>
            <a:r>
              <a:rPr sz="600" spc="-50" dirty="0">
                <a:latin typeface="Arial"/>
                <a:cs typeface="Arial"/>
              </a:rPr>
              <a:t> </a:t>
            </a:r>
            <a:r>
              <a:rPr sz="1500" spc="-345" baseline="50000" dirty="0">
                <a:latin typeface="Arial"/>
                <a:cs typeface="Arial"/>
              </a:rPr>
              <a:t> </a:t>
            </a:r>
            <a:r>
              <a:rPr sz="600" spc="-15" dirty="0">
                <a:latin typeface="Arial"/>
                <a:cs typeface="Arial"/>
              </a:rPr>
              <a:t>w</a:t>
            </a:r>
            <a:r>
              <a:rPr sz="600" spc="-5" dirty="0">
                <a:latin typeface="Arial"/>
                <a:cs typeface="Arial"/>
              </a:rPr>
              <a:t>o</a:t>
            </a:r>
            <a:r>
              <a:rPr sz="600" dirty="0">
                <a:latin typeface="Arial"/>
                <a:cs typeface="Arial"/>
              </a:rPr>
              <a:t>r</a:t>
            </a:r>
            <a:r>
              <a:rPr sz="600" spc="-5" dirty="0">
                <a:latin typeface="Arial"/>
                <a:cs typeface="Arial"/>
              </a:rPr>
              <a:t>k</a:t>
            </a:r>
            <a:r>
              <a:rPr sz="600" dirty="0">
                <a:latin typeface="Arial"/>
                <a:cs typeface="Arial"/>
              </a:rPr>
              <a:t>     </a:t>
            </a:r>
            <a:r>
              <a:rPr sz="600" spc="-5" dirty="0">
                <a:latin typeface="Arial"/>
                <a:cs typeface="Arial"/>
              </a:rPr>
              <a:t> </a:t>
            </a:r>
            <a:r>
              <a:rPr sz="1500" spc="254" baseline="50000" dirty="0">
                <a:latin typeface="Arial"/>
                <a:cs typeface="Arial"/>
              </a:rPr>
              <a:t> </a:t>
            </a:r>
            <a:r>
              <a:rPr sz="1500" spc="44" baseline="50000" dirty="0">
                <a:latin typeface="Arial"/>
                <a:cs typeface="Arial"/>
              </a:rPr>
              <a:t> </a:t>
            </a:r>
            <a:r>
              <a:rPr sz="600" spc="-5" dirty="0">
                <a:latin typeface="Arial"/>
                <a:cs typeface="Arial"/>
              </a:rPr>
              <a:t>se</a:t>
            </a:r>
            <a:r>
              <a:rPr sz="600" spc="10" dirty="0">
                <a:latin typeface="Arial"/>
                <a:cs typeface="Arial"/>
              </a:rPr>
              <a:t>r</a:t>
            </a:r>
            <a:r>
              <a:rPr sz="600" spc="-225" dirty="0">
                <a:latin typeface="Arial"/>
                <a:cs typeface="Arial"/>
              </a:rPr>
              <a:t>v</a:t>
            </a:r>
            <a:r>
              <a:rPr sz="1500" spc="-120" baseline="50000" dirty="0">
                <a:latin typeface="Arial"/>
                <a:cs typeface="Arial"/>
              </a:rPr>
              <a:t> </a:t>
            </a:r>
            <a:r>
              <a:rPr sz="600" spc="-90" dirty="0">
                <a:latin typeface="Arial"/>
                <a:cs typeface="Arial"/>
              </a:rPr>
              <a:t>e</a:t>
            </a:r>
            <a:r>
              <a:rPr sz="1500" spc="-292" baseline="50000" dirty="0">
                <a:latin typeface="Arial"/>
                <a:cs typeface="Arial"/>
              </a:rPr>
              <a:t> </a:t>
            </a:r>
            <a:r>
              <a:rPr sz="600" spc="-5" dirty="0">
                <a:latin typeface="Arial"/>
                <a:cs typeface="Arial"/>
              </a:rPr>
              <a:t>r idle</a:t>
            </a:r>
            <a:r>
              <a:rPr sz="600" dirty="0">
                <a:latin typeface="Arial"/>
                <a:cs typeface="Arial"/>
              </a:rPr>
              <a:t> </a:t>
            </a:r>
            <a:r>
              <a:rPr sz="600" spc="-25" dirty="0">
                <a:latin typeface="Arial"/>
                <a:cs typeface="Arial"/>
              </a:rPr>
              <a:t> </a:t>
            </a:r>
            <a:r>
              <a:rPr sz="1500" spc="254" baseline="50000" dirty="0">
                <a:latin typeface="Arial"/>
                <a:cs typeface="Arial"/>
              </a:rPr>
              <a:t> </a:t>
            </a:r>
            <a:endParaRPr sz="1500" baseline="50000">
              <a:latin typeface="Arial"/>
              <a:cs typeface="Arial"/>
            </a:endParaRPr>
          </a:p>
        </p:txBody>
      </p:sp>
      <p:sp>
        <p:nvSpPr>
          <p:cNvPr id="24" name="object 24"/>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Scalability</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dimensions</a:t>
            </a:r>
            <a:endParaRPr sz="600">
              <a:latin typeface="Arial"/>
              <a:cs typeface="Arial"/>
            </a:endParaRPr>
          </a:p>
        </p:txBody>
      </p:sp>
      <p:sp>
        <p:nvSpPr>
          <p:cNvPr id="25" name="object 2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18</a:t>
            </a:r>
            <a:r>
              <a:rPr spc="-40" dirty="0"/>
              <a:t> </a:t>
            </a:r>
            <a:r>
              <a:rPr spc="-5" dirty="0"/>
              <a:t>/</a:t>
            </a:r>
            <a:r>
              <a:rPr spc="-35" dirty="0"/>
              <a:t> </a:t>
            </a:r>
            <a:r>
              <a:rPr spc="-5" dirty="0"/>
              <a:t>56</a:t>
            </a:r>
          </a:p>
        </p:txBody>
      </p:sp>
      <p:sp>
        <p:nvSpPr>
          <p:cNvPr id="21" name="object 21"/>
          <p:cNvSpPr txBox="1"/>
          <p:nvPr/>
        </p:nvSpPr>
        <p:spPr>
          <a:xfrm>
            <a:off x="2828975" y="2737629"/>
            <a:ext cx="95250" cy="177800"/>
          </a:xfrm>
          <a:prstGeom prst="rect">
            <a:avLst/>
          </a:prstGeom>
        </p:spPr>
        <p:txBody>
          <a:bodyPr vert="horz" wrap="square" lIns="0" tIns="12065" rIns="0" bIns="0" rtlCol="0">
            <a:spAutoFit/>
          </a:bodyPr>
          <a:lstStyle/>
          <a:p>
            <a:pPr marL="12700">
              <a:lnSpc>
                <a:spcPct val="100000"/>
              </a:lnSpc>
              <a:spcBef>
                <a:spcPts val="95"/>
              </a:spcBef>
            </a:pPr>
            <a:r>
              <a:rPr sz="1000" i="1" u="sng" spc="50" dirty="0">
                <a:uFill>
                  <a:solidFill>
                    <a:srgbClr val="000000"/>
                  </a:solidFill>
                </a:uFill>
                <a:latin typeface="Arial"/>
                <a:cs typeface="Arial"/>
              </a:rPr>
              <a:t>λ</a:t>
            </a:r>
            <a:endParaRPr sz="1000">
              <a:latin typeface="Arial"/>
              <a:cs typeface="Arial"/>
            </a:endParaRPr>
          </a:p>
        </p:txBody>
      </p:sp>
      <p:sp>
        <p:nvSpPr>
          <p:cNvPr id="22" name="object 22"/>
          <p:cNvSpPr txBox="1"/>
          <p:nvPr/>
        </p:nvSpPr>
        <p:spPr>
          <a:xfrm>
            <a:off x="2831376" y="2910083"/>
            <a:ext cx="98425"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µ</a:t>
            </a:r>
            <a:endParaRPr sz="1000">
              <a:latin typeface="Arial"/>
              <a:cs typeface="Arial"/>
            </a:endParaRPr>
          </a:p>
        </p:txBody>
      </p:sp>
      <p:sp>
        <p:nvSpPr>
          <p:cNvPr id="23" name="object 23"/>
          <p:cNvSpPr txBox="1"/>
          <p:nvPr/>
        </p:nvSpPr>
        <p:spPr>
          <a:xfrm>
            <a:off x="1256258" y="2823278"/>
            <a:ext cx="2080260" cy="177800"/>
          </a:xfrm>
          <a:prstGeom prst="rect">
            <a:avLst/>
          </a:prstGeom>
        </p:spPr>
        <p:txBody>
          <a:bodyPr vert="horz" wrap="square" lIns="0" tIns="12065" rIns="0" bIns="0" rtlCol="0">
            <a:spAutoFit/>
          </a:bodyPr>
          <a:lstStyle/>
          <a:p>
            <a:pPr marL="12700">
              <a:lnSpc>
                <a:spcPct val="100000"/>
              </a:lnSpc>
              <a:spcBef>
                <a:spcPts val="95"/>
              </a:spcBef>
              <a:tabLst>
                <a:tab pos="376555" algn="l"/>
                <a:tab pos="758190" algn="l"/>
                <a:tab pos="1703705" algn="l"/>
              </a:tabLst>
            </a:pPr>
            <a:r>
              <a:rPr sz="1000" i="1" spc="-5" dirty="0">
                <a:latin typeface="Arial"/>
                <a:cs typeface="Arial"/>
              </a:rPr>
              <a:t>X</a:t>
            </a:r>
            <a:r>
              <a:rPr sz="1000" i="1" spc="65" dirty="0">
                <a:latin typeface="Arial"/>
                <a:cs typeface="Arial"/>
              </a:rPr>
              <a:t> </a:t>
            </a:r>
            <a:r>
              <a:rPr sz="1000" spc="190" dirty="0">
                <a:latin typeface="Arial"/>
                <a:cs typeface="Arial"/>
              </a:rPr>
              <a:t>=</a:t>
            </a:r>
            <a:r>
              <a:rPr sz="1000" dirty="0">
                <a:latin typeface="Arial"/>
                <a:cs typeface="Arial"/>
              </a:rPr>
              <a:t>	</a:t>
            </a:r>
            <a:r>
              <a:rPr sz="1000" i="1" spc="-5" dirty="0">
                <a:latin typeface="Arial"/>
                <a:cs typeface="Arial"/>
              </a:rPr>
              <a:t>U</a:t>
            </a:r>
            <a:r>
              <a:rPr sz="1000" i="1" spc="-65" dirty="0">
                <a:latin typeface="Arial"/>
                <a:cs typeface="Arial"/>
              </a:rPr>
              <a:t> </a:t>
            </a:r>
            <a:r>
              <a:rPr sz="1000" i="1" spc="-75" dirty="0">
                <a:latin typeface="メイリオ"/>
                <a:cs typeface="メイリオ"/>
              </a:rPr>
              <a:t>·</a:t>
            </a:r>
            <a:r>
              <a:rPr sz="1000" i="1" spc="-180" dirty="0">
                <a:latin typeface="メイリオ"/>
                <a:cs typeface="メイリオ"/>
              </a:rPr>
              <a:t> </a:t>
            </a:r>
            <a:r>
              <a:rPr sz="1000" i="1" spc="-5" dirty="0">
                <a:latin typeface="Arial"/>
                <a:cs typeface="Arial"/>
              </a:rPr>
              <a:t>µ</a:t>
            </a:r>
            <a:r>
              <a:rPr sz="1000" i="1" dirty="0">
                <a:latin typeface="Arial"/>
                <a:cs typeface="Arial"/>
              </a:rPr>
              <a:t>	</a:t>
            </a:r>
            <a:r>
              <a:rPr sz="1000" spc="300" dirty="0">
                <a:latin typeface="Arial"/>
                <a:cs typeface="Arial"/>
              </a:rPr>
              <a:t>+</a:t>
            </a:r>
            <a:r>
              <a:rPr sz="1000" spc="50" dirty="0">
                <a:latin typeface="Arial"/>
                <a:cs typeface="Arial"/>
              </a:rPr>
              <a:t>(</a:t>
            </a:r>
            <a:r>
              <a:rPr sz="1000" u="heavy" spc="-5" dirty="0">
                <a:uFill>
                  <a:solidFill>
                    <a:srgbClr val="000000"/>
                  </a:solidFill>
                </a:uFill>
                <a:latin typeface="Arial"/>
                <a:cs typeface="Arial"/>
              </a:rPr>
              <a:t>1</a:t>
            </a:r>
            <a:r>
              <a:rPr sz="1000" u="heavy" spc="-140" dirty="0">
                <a:uFill>
                  <a:solidFill>
                    <a:srgbClr val="000000"/>
                  </a:solidFill>
                </a:uFill>
                <a:latin typeface="Arial"/>
                <a:cs typeface="Arial"/>
              </a:rPr>
              <a:t> </a:t>
            </a:r>
            <a:r>
              <a:rPr sz="1000" i="1" u="heavy" spc="-30" dirty="0">
                <a:uFill>
                  <a:solidFill>
                    <a:srgbClr val="000000"/>
                  </a:solidFill>
                </a:uFill>
                <a:latin typeface="メイリオ"/>
                <a:cs typeface="メイリオ"/>
              </a:rPr>
              <a:t>−</a:t>
            </a:r>
            <a:r>
              <a:rPr sz="1000" i="1" spc="-204" dirty="0">
                <a:latin typeface="メイリオ"/>
                <a:cs typeface="メイリオ"/>
              </a:rPr>
              <a:t> </a:t>
            </a:r>
            <a:r>
              <a:rPr sz="1000" i="1" spc="-130" dirty="0">
                <a:latin typeface="Arial"/>
                <a:cs typeface="Arial"/>
              </a:rPr>
              <a:t>U</a:t>
            </a:r>
            <a:r>
              <a:rPr sz="1000" u="heavy" spc="-60" dirty="0">
                <a:uFill>
                  <a:solidFill>
                    <a:srgbClr val="000000"/>
                  </a:solidFill>
                </a:uFill>
                <a:latin typeface="Times New Roman"/>
                <a:cs typeface="Times New Roman"/>
              </a:rPr>
              <a:t> </a:t>
            </a:r>
            <a:r>
              <a:rPr sz="1000" u="heavy" spc="50" dirty="0">
                <a:uFill>
                  <a:solidFill>
                    <a:srgbClr val="000000"/>
                  </a:solidFill>
                </a:uFill>
                <a:latin typeface="Arial"/>
                <a:cs typeface="Arial"/>
              </a:rPr>
              <a:t>)</a:t>
            </a:r>
            <a:r>
              <a:rPr sz="1000" u="heavy" spc="-140" dirty="0">
                <a:uFill>
                  <a:solidFill>
                    <a:srgbClr val="000000"/>
                  </a:solidFill>
                </a:uFill>
                <a:latin typeface="Arial"/>
                <a:cs typeface="Arial"/>
              </a:rPr>
              <a:t> </a:t>
            </a:r>
            <a:r>
              <a:rPr sz="1000" i="1" u="heavy" spc="-75" dirty="0">
                <a:uFill>
                  <a:solidFill>
                    <a:srgbClr val="000000"/>
                  </a:solidFill>
                </a:uFill>
                <a:latin typeface="メイリオ"/>
                <a:cs typeface="メイリオ"/>
              </a:rPr>
              <a:t>·</a:t>
            </a:r>
            <a:r>
              <a:rPr sz="1000" i="1" spc="-204" dirty="0">
                <a:latin typeface="メイリオ"/>
                <a:cs typeface="メイリオ"/>
              </a:rPr>
              <a:t> </a:t>
            </a:r>
            <a:r>
              <a:rPr sz="1000" spc="-5" dirty="0">
                <a:latin typeface="Arial"/>
                <a:cs typeface="Arial"/>
              </a:rPr>
              <a:t>0</a:t>
            </a:r>
            <a:r>
              <a:rPr sz="1000" spc="-60" dirty="0">
                <a:latin typeface="Arial"/>
                <a:cs typeface="Arial"/>
              </a:rPr>
              <a:t> </a:t>
            </a:r>
            <a:r>
              <a:rPr sz="1000" spc="190" dirty="0">
                <a:latin typeface="Arial"/>
                <a:cs typeface="Arial"/>
              </a:rPr>
              <a:t>=</a:t>
            </a:r>
            <a:r>
              <a:rPr sz="1000" dirty="0">
                <a:latin typeface="Arial"/>
                <a:cs typeface="Arial"/>
              </a:rPr>
              <a:t>	</a:t>
            </a:r>
            <a:r>
              <a:rPr sz="1000" i="1" spc="-75" dirty="0">
                <a:latin typeface="メイリオ"/>
                <a:cs typeface="メイリオ"/>
              </a:rPr>
              <a:t>·</a:t>
            </a:r>
            <a:r>
              <a:rPr sz="1000" i="1" spc="-180" dirty="0">
                <a:latin typeface="メイリオ"/>
                <a:cs typeface="メイリオ"/>
              </a:rPr>
              <a:t> </a:t>
            </a:r>
            <a:r>
              <a:rPr sz="1000" i="1" spc="-5" dirty="0">
                <a:latin typeface="Arial"/>
                <a:cs typeface="Arial"/>
              </a:rPr>
              <a:t>µ</a:t>
            </a:r>
            <a:r>
              <a:rPr sz="1000" i="1" spc="25" dirty="0">
                <a:latin typeface="Arial"/>
                <a:cs typeface="Arial"/>
              </a:rPr>
              <a:t> </a:t>
            </a:r>
            <a:r>
              <a:rPr sz="1000" spc="190" dirty="0">
                <a:latin typeface="Arial"/>
                <a:cs typeface="Arial"/>
              </a:rPr>
              <a:t>=</a:t>
            </a:r>
            <a:r>
              <a:rPr sz="1000" spc="-60" dirty="0">
                <a:latin typeface="Arial"/>
                <a:cs typeface="Arial"/>
              </a:rPr>
              <a:t> </a:t>
            </a:r>
            <a:r>
              <a:rPr sz="1000" i="1" spc="50" dirty="0">
                <a:latin typeface="Arial"/>
                <a:cs typeface="Arial"/>
              </a:rPr>
              <a:t>λ</a:t>
            </a:r>
            <a:endParaRPr sz="10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Being scala</a:t>
            </a:r>
            <a:r>
              <a:rPr sz="600" spc="-20" dirty="0">
                <a:solidFill>
                  <a:srgbClr val="262685"/>
                </a:solidFill>
                <a:latin typeface="Arial"/>
                <a:cs typeface="Arial"/>
                <a:hlinkClick r:id="rId5" action="ppaction://hlinksldjump"/>
              </a:rPr>
              <a:t>b</a:t>
            </a:r>
            <a:r>
              <a:rPr sz="600" spc="-5" dirty="0">
                <a:solidFill>
                  <a:srgbClr val="262685"/>
                </a:solidFill>
                <a:latin typeface="Arial"/>
                <a:cs typeface="Arial"/>
                <a:hlinkClick r:id="rId5" action="ppaction://hlinksldjump"/>
              </a:rPr>
              <a:t>le</a:t>
            </a:r>
            <a:endParaRPr sz="600">
              <a:latin typeface="Arial"/>
              <a:cs typeface="Arial"/>
            </a:endParaRPr>
          </a:p>
        </p:txBody>
      </p:sp>
      <p:sp>
        <p:nvSpPr>
          <p:cNvPr id="4" name="object 4"/>
          <p:cNvSpPr txBox="1"/>
          <p:nvPr/>
        </p:nvSpPr>
        <p:spPr>
          <a:xfrm>
            <a:off x="95300" y="188846"/>
            <a:ext cx="4090670" cy="88836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Formal</a:t>
            </a:r>
            <a:r>
              <a:rPr sz="1400" spc="-40" dirty="0">
                <a:solidFill>
                  <a:srgbClr val="3333B2"/>
                </a:solidFill>
                <a:latin typeface="Arial"/>
                <a:cs typeface="Arial"/>
              </a:rPr>
              <a:t> </a:t>
            </a:r>
            <a:r>
              <a:rPr sz="1400" spc="15" dirty="0">
                <a:solidFill>
                  <a:srgbClr val="3333B2"/>
                </a:solidFill>
                <a:latin typeface="Arial"/>
                <a:cs typeface="Arial"/>
              </a:rPr>
              <a:t>analysis</a:t>
            </a:r>
            <a:endParaRPr sz="1400" dirty="0">
              <a:latin typeface="Arial"/>
              <a:cs typeface="Arial"/>
            </a:endParaRPr>
          </a:p>
          <a:p>
            <a:pPr>
              <a:lnSpc>
                <a:spcPct val="100000"/>
              </a:lnSpc>
              <a:spcBef>
                <a:spcPts val="30"/>
              </a:spcBef>
            </a:pPr>
            <a:endParaRPr sz="2000" dirty="0">
              <a:latin typeface="Arial"/>
              <a:cs typeface="Arial"/>
            </a:endParaRPr>
          </a:p>
          <a:p>
            <a:pPr marL="264160" marR="5080">
              <a:lnSpc>
                <a:spcPts val="1390"/>
              </a:lnSpc>
            </a:pPr>
            <a:r>
              <a:rPr sz="1200" spc="-5" dirty="0">
                <a:solidFill>
                  <a:srgbClr val="3333B2"/>
                </a:solidFill>
                <a:latin typeface="Arial"/>
                <a:cs typeface="Arial"/>
              </a:rPr>
              <a:t>Response time:</a:t>
            </a:r>
            <a:r>
              <a:rPr sz="1200" spc="80" dirty="0">
                <a:solidFill>
                  <a:srgbClr val="3333B2"/>
                </a:solidFill>
                <a:latin typeface="Arial"/>
                <a:cs typeface="Arial"/>
              </a:rPr>
              <a:t> </a:t>
            </a:r>
            <a:r>
              <a:rPr sz="1200" spc="-5" dirty="0">
                <a:solidFill>
                  <a:srgbClr val="3333B2"/>
                </a:solidFill>
                <a:latin typeface="Arial"/>
                <a:cs typeface="Arial"/>
              </a:rPr>
              <a:t>total</a:t>
            </a:r>
            <a:r>
              <a:rPr sz="1200" dirty="0">
                <a:solidFill>
                  <a:srgbClr val="3333B2"/>
                </a:solidFill>
                <a:latin typeface="Arial"/>
                <a:cs typeface="Arial"/>
              </a:rPr>
              <a:t> </a:t>
            </a:r>
            <a:r>
              <a:rPr sz="1200" spc="-5" dirty="0">
                <a:solidFill>
                  <a:srgbClr val="3333B2"/>
                </a:solidFill>
                <a:latin typeface="Arial"/>
                <a:cs typeface="Arial"/>
              </a:rPr>
              <a:t>time </a:t>
            </a:r>
            <a:r>
              <a:rPr sz="1200" spc="-10" dirty="0">
                <a:solidFill>
                  <a:srgbClr val="3333B2"/>
                </a:solidFill>
                <a:latin typeface="Arial"/>
                <a:cs typeface="Arial"/>
              </a:rPr>
              <a:t>take</a:t>
            </a:r>
            <a:r>
              <a:rPr sz="1200" dirty="0">
                <a:solidFill>
                  <a:srgbClr val="3333B2"/>
                </a:solidFill>
                <a:latin typeface="Arial"/>
                <a:cs typeface="Arial"/>
              </a:rPr>
              <a:t> </a:t>
            </a:r>
            <a:r>
              <a:rPr sz="1200" spc="-5" dirty="0">
                <a:solidFill>
                  <a:srgbClr val="3333B2"/>
                </a:solidFill>
                <a:latin typeface="Arial"/>
                <a:cs typeface="Arial"/>
              </a:rPr>
              <a:t>to</a:t>
            </a:r>
            <a:r>
              <a:rPr sz="1200" dirty="0">
                <a:solidFill>
                  <a:srgbClr val="3333B2"/>
                </a:solidFill>
                <a:latin typeface="Arial"/>
                <a:cs typeface="Arial"/>
              </a:rPr>
              <a:t> </a:t>
            </a:r>
            <a:r>
              <a:rPr sz="1200" spc="-5" dirty="0">
                <a:solidFill>
                  <a:srgbClr val="3333B2"/>
                </a:solidFill>
                <a:latin typeface="Arial"/>
                <a:cs typeface="Arial"/>
              </a:rPr>
              <a:t>process a</a:t>
            </a:r>
            <a:r>
              <a:rPr sz="1200" dirty="0">
                <a:solidFill>
                  <a:srgbClr val="3333B2"/>
                </a:solidFill>
                <a:latin typeface="Arial"/>
                <a:cs typeface="Arial"/>
              </a:rPr>
              <a:t> </a:t>
            </a:r>
            <a:r>
              <a:rPr sz="1200" spc="-5" dirty="0">
                <a:solidFill>
                  <a:srgbClr val="3333B2"/>
                </a:solidFill>
                <a:latin typeface="Arial"/>
                <a:cs typeface="Arial"/>
              </a:rPr>
              <a:t>request</a:t>
            </a:r>
            <a:r>
              <a:rPr sz="1200" dirty="0">
                <a:solidFill>
                  <a:srgbClr val="3333B2"/>
                </a:solidFill>
                <a:latin typeface="Arial"/>
                <a:cs typeface="Arial"/>
              </a:rPr>
              <a:t> </a:t>
            </a:r>
            <a:r>
              <a:rPr sz="1200" spc="-5" dirty="0">
                <a:solidFill>
                  <a:srgbClr val="3333B2"/>
                </a:solidFill>
                <a:latin typeface="Arial"/>
                <a:cs typeface="Arial"/>
              </a:rPr>
              <a:t>after </a:t>
            </a:r>
            <a:r>
              <a:rPr sz="1200" spc="-320" dirty="0">
                <a:solidFill>
                  <a:srgbClr val="3333B2"/>
                </a:solidFill>
                <a:latin typeface="Arial"/>
                <a:cs typeface="Arial"/>
              </a:rPr>
              <a:t> </a:t>
            </a:r>
            <a:r>
              <a:rPr sz="1200" spc="-5" dirty="0">
                <a:solidFill>
                  <a:srgbClr val="3333B2"/>
                </a:solidFill>
                <a:latin typeface="Arial"/>
                <a:cs typeface="Arial"/>
              </a:rPr>
              <a:t>submission</a:t>
            </a:r>
            <a:endParaRPr sz="1200" dirty="0">
              <a:latin typeface="Arial"/>
              <a:cs typeface="Arial"/>
            </a:endParaRPr>
          </a:p>
        </p:txBody>
      </p:sp>
      <p:sp>
        <p:nvSpPr>
          <p:cNvPr id="5" name="object 5"/>
          <p:cNvSpPr/>
          <p:nvPr/>
        </p:nvSpPr>
        <p:spPr>
          <a:xfrm>
            <a:off x="1734566" y="1204429"/>
            <a:ext cx="101600" cy="0"/>
          </a:xfrm>
          <a:custGeom>
            <a:avLst/>
            <a:gdLst/>
            <a:ahLst/>
            <a:cxnLst/>
            <a:rect l="l" t="t" r="r" b="b"/>
            <a:pathLst>
              <a:path w="101600">
                <a:moveTo>
                  <a:pt x="0" y="0"/>
                </a:moveTo>
                <a:lnTo>
                  <a:pt x="101092" y="0"/>
                </a:lnTo>
              </a:path>
            </a:pathLst>
          </a:custGeom>
          <a:ln w="5054">
            <a:solidFill>
              <a:srgbClr val="000000"/>
            </a:solidFill>
          </a:ln>
        </p:spPr>
        <p:txBody>
          <a:bodyPr wrap="square" lIns="0" tIns="0" rIns="0" bIns="0" rtlCol="0"/>
          <a:lstStyle/>
          <a:p>
            <a:endParaRPr/>
          </a:p>
        </p:txBody>
      </p:sp>
      <p:sp>
        <p:nvSpPr>
          <p:cNvPr id="6" name="object 6"/>
          <p:cNvSpPr txBox="1"/>
          <p:nvPr/>
        </p:nvSpPr>
        <p:spPr>
          <a:xfrm>
            <a:off x="1454238" y="1259984"/>
            <a:ext cx="535940" cy="177800"/>
          </a:xfrm>
          <a:prstGeom prst="rect">
            <a:avLst/>
          </a:prstGeom>
        </p:spPr>
        <p:txBody>
          <a:bodyPr vert="horz" wrap="square" lIns="0" tIns="12065" rIns="0" bIns="0" rtlCol="0">
            <a:spAutoFit/>
          </a:bodyPr>
          <a:lstStyle/>
          <a:p>
            <a:pPr marL="12700">
              <a:lnSpc>
                <a:spcPct val="100000"/>
              </a:lnSpc>
              <a:spcBef>
                <a:spcPts val="95"/>
              </a:spcBef>
              <a:tabLst>
                <a:tab pos="424180" algn="l"/>
              </a:tabLst>
            </a:pPr>
            <a:r>
              <a:rPr sz="1000" i="1" spc="-5" dirty="0">
                <a:latin typeface="Arial"/>
                <a:cs typeface="Arial"/>
              </a:rPr>
              <a:t>R</a:t>
            </a:r>
            <a:r>
              <a:rPr sz="1000" i="1" spc="-10" dirty="0">
                <a:latin typeface="Arial"/>
                <a:cs typeface="Arial"/>
              </a:rPr>
              <a:t> </a:t>
            </a:r>
            <a:r>
              <a:rPr sz="1000" spc="190" dirty="0">
                <a:latin typeface="Arial"/>
                <a:cs typeface="Arial"/>
              </a:rPr>
              <a:t>=</a:t>
            </a:r>
            <a:r>
              <a:rPr sz="1000" dirty="0">
                <a:latin typeface="Arial"/>
                <a:cs typeface="Arial"/>
              </a:rPr>
              <a:t>	</a:t>
            </a:r>
            <a:r>
              <a:rPr sz="1000" spc="190" dirty="0">
                <a:latin typeface="Arial"/>
                <a:cs typeface="Arial"/>
              </a:rPr>
              <a:t>=</a:t>
            </a:r>
            <a:endParaRPr sz="1000">
              <a:latin typeface="Arial"/>
              <a:cs typeface="Arial"/>
            </a:endParaRPr>
          </a:p>
        </p:txBody>
      </p:sp>
      <p:sp>
        <p:nvSpPr>
          <p:cNvPr id="12" name="object 12"/>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Scalability</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dimensions</a:t>
            </a:r>
            <a:endParaRPr sz="600">
              <a:latin typeface="Arial"/>
              <a:cs typeface="Arial"/>
            </a:endParaRPr>
          </a:p>
        </p:txBody>
      </p:sp>
      <p:sp>
        <p:nvSpPr>
          <p:cNvPr id="13" name="object 1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19</a:t>
            </a:r>
            <a:r>
              <a:rPr spc="-40" dirty="0"/>
              <a:t> </a:t>
            </a:r>
            <a:r>
              <a:rPr spc="-5" dirty="0"/>
              <a:t>/</a:t>
            </a:r>
            <a:r>
              <a:rPr spc="-35" dirty="0"/>
              <a:t> </a:t>
            </a:r>
            <a:r>
              <a:rPr spc="-5" dirty="0"/>
              <a:t>56</a:t>
            </a:r>
          </a:p>
        </p:txBody>
      </p:sp>
      <p:sp>
        <p:nvSpPr>
          <p:cNvPr id="7" name="object 7"/>
          <p:cNvSpPr txBox="1"/>
          <p:nvPr/>
        </p:nvSpPr>
        <p:spPr>
          <a:xfrm>
            <a:off x="1722437" y="1346776"/>
            <a:ext cx="916940" cy="177800"/>
          </a:xfrm>
          <a:prstGeom prst="rect">
            <a:avLst/>
          </a:prstGeom>
        </p:spPr>
        <p:txBody>
          <a:bodyPr vert="horz" wrap="square" lIns="0" tIns="12065" rIns="0" bIns="0" rtlCol="0">
            <a:spAutoFit/>
          </a:bodyPr>
          <a:lstStyle/>
          <a:p>
            <a:pPr marL="12700">
              <a:lnSpc>
                <a:spcPct val="100000"/>
              </a:lnSpc>
              <a:spcBef>
                <a:spcPts val="95"/>
              </a:spcBef>
              <a:tabLst>
                <a:tab pos="297815" algn="l"/>
                <a:tab pos="819150" algn="l"/>
              </a:tabLst>
            </a:pPr>
            <a:r>
              <a:rPr sz="1000" i="1" spc="-5" dirty="0">
                <a:latin typeface="Arial"/>
                <a:cs typeface="Arial"/>
              </a:rPr>
              <a:t>X	</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U</a:t>
            </a:r>
            <a:r>
              <a:rPr sz="1000" i="1" dirty="0">
                <a:latin typeface="Arial"/>
                <a:cs typeface="Arial"/>
              </a:rPr>
              <a:t>	</a:t>
            </a:r>
            <a:r>
              <a:rPr sz="1000" i="1" spc="-5" dirty="0">
                <a:latin typeface="Arial"/>
                <a:cs typeface="Arial"/>
              </a:rPr>
              <a:t>S</a:t>
            </a:r>
            <a:endParaRPr sz="1000">
              <a:latin typeface="Arial"/>
              <a:cs typeface="Arial"/>
            </a:endParaRPr>
          </a:p>
        </p:txBody>
      </p:sp>
      <p:sp>
        <p:nvSpPr>
          <p:cNvPr id="8" name="object 8"/>
          <p:cNvSpPr txBox="1"/>
          <p:nvPr/>
        </p:nvSpPr>
        <p:spPr>
          <a:xfrm>
            <a:off x="2355900" y="1259984"/>
            <a:ext cx="434975" cy="177800"/>
          </a:xfrm>
          <a:prstGeom prst="rect">
            <a:avLst/>
          </a:prstGeom>
        </p:spPr>
        <p:txBody>
          <a:bodyPr vert="horz" wrap="square" lIns="0" tIns="12065" rIns="0" bIns="0" rtlCol="0">
            <a:spAutoFit/>
          </a:bodyPr>
          <a:lstStyle/>
          <a:p>
            <a:pPr marL="12700">
              <a:lnSpc>
                <a:spcPct val="100000"/>
              </a:lnSpc>
              <a:spcBef>
                <a:spcPts val="95"/>
              </a:spcBef>
              <a:tabLst>
                <a:tab pos="323215" algn="l"/>
              </a:tabLst>
            </a:pPr>
            <a:r>
              <a:rPr sz="1000" i="1" spc="-5" dirty="0">
                <a:latin typeface="メイリオ"/>
                <a:cs typeface="メイリオ"/>
              </a:rPr>
              <a:t>⇒	</a:t>
            </a:r>
            <a:r>
              <a:rPr sz="1000" spc="190" dirty="0">
                <a:latin typeface="Arial"/>
                <a:cs typeface="Arial"/>
              </a:rPr>
              <a:t>=</a:t>
            </a:r>
            <a:endParaRPr sz="1000">
              <a:latin typeface="Arial"/>
              <a:cs typeface="Arial"/>
            </a:endParaRPr>
          </a:p>
        </p:txBody>
      </p:sp>
      <p:sp>
        <p:nvSpPr>
          <p:cNvPr id="9" name="object 9"/>
          <p:cNvSpPr txBox="1"/>
          <p:nvPr/>
        </p:nvSpPr>
        <p:spPr>
          <a:xfrm>
            <a:off x="1721866" y="1153699"/>
            <a:ext cx="1417320" cy="370840"/>
          </a:xfrm>
          <a:prstGeom prst="rect">
            <a:avLst/>
          </a:prstGeom>
        </p:spPr>
        <p:txBody>
          <a:bodyPr vert="horz" wrap="square" lIns="0" tIns="32384" rIns="0" bIns="0" rtlCol="0">
            <a:spAutoFit/>
          </a:bodyPr>
          <a:lstStyle/>
          <a:p>
            <a:pPr marL="12700">
              <a:lnSpc>
                <a:spcPct val="100000"/>
              </a:lnSpc>
              <a:spcBef>
                <a:spcPts val="254"/>
              </a:spcBef>
              <a:tabLst>
                <a:tab pos="298450" algn="l"/>
                <a:tab pos="815975" algn="l"/>
                <a:tab pos="1099185" algn="l"/>
              </a:tabLst>
            </a:pPr>
            <a:r>
              <a:rPr sz="1000" i="1" u="sng" spc="-5" dirty="0">
                <a:uFill>
                  <a:solidFill>
                    <a:srgbClr val="000000"/>
                  </a:solidFill>
                </a:uFill>
                <a:latin typeface="Arial"/>
                <a:cs typeface="Arial"/>
              </a:rPr>
              <a:t>N</a:t>
            </a:r>
            <a:r>
              <a:rPr sz="1000" i="1" spc="-5" dirty="0">
                <a:latin typeface="Arial"/>
                <a:cs typeface="Arial"/>
              </a:rPr>
              <a:t>	</a:t>
            </a:r>
            <a:r>
              <a:rPr sz="1000" i="1" u="sng" spc="-5" dirty="0">
                <a:uFill>
                  <a:solidFill>
                    <a:srgbClr val="000000"/>
                  </a:solidFill>
                </a:uFill>
                <a:latin typeface="Arial"/>
                <a:cs typeface="Arial"/>
              </a:rPr>
              <a:t>S</a:t>
            </a:r>
            <a:r>
              <a:rPr sz="1000" i="1" spc="-5" dirty="0">
                <a:latin typeface="Arial"/>
                <a:cs typeface="Arial"/>
              </a:rPr>
              <a:t>	</a:t>
            </a:r>
            <a:r>
              <a:rPr sz="1000" i="1" u="sng" spc="-5" dirty="0">
                <a:uFill>
                  <a:solidFill>
                    <a:srgbClr val="000000"/>
                  </a:solidFill>
                </a:uFill>
                <a:latin typeface="Arial"/>
                <a:cs typeface="Arial"/>
              </a:rPr>
              <a:t>R</a:t>
            </a:r>
            <a:r>
              <a:rPr sz="1000" i="1" spc="-5" dirty="0">
                <a:latin typeface="Arial"/>
                <a:cs typeface="Arial"/>
              </a:rPr>
              <a:t>	</a:t>
            </a:r>
            <a:r>
              <a:rPr sz="1000" u="sng" spc="-5" dirty="0">
                <a:uFill>
                  <a:solidFill>
                    <a:srgbClr val="000000"/>
                  </a:solidFill>
                </a:uFill>
                <a:latin typeface="Arial"/>
                <a:cs typeface="Arial"/>
              </a:rPr>
              <a:t>1</a:t>
            </a:r>
            <a:r>
              <a:rPr sz="1000" u="sng" spc="85" dirty="0">
                <a:uFill>
                  <a:solidFill>
                    <a:srgbClr val="000000"/>
                  </a:solidFill>
                </a:uFill>
                <a:latin typeface="Arial"/>
                <a:cs typeface="Arial"/>
              </a:rPr>
              <a:t> </a:t>
            </a:r>
            <a:endParaRPr sz="1000">
              <a:latin typeface="Arial"/>
              <a:cs typeface="Arial"/>
            </a:endParaRPr>
          </a:p>
          <a:p>
            <a:pPr marR="13970" algn="r">
              <a:lnSpc>
                <a:spcPct val="100000"/>
              </a:lnSpc>
              <a:spcBef>
                <a:spcPts val="160"/>
              </a:spcBef>
            </a:pP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U</a:t>
            </a:r>
            <a:endParaRPr sz="1000">
              <a:latin typeface="Arial"/>
              <a:cs typeface="Arial"/>
            </a:endParaRPr>
          </a:p>
        </p:txBody>
      </p:sp>
      <p:sp>
        <p:nvSpPr>
          <p:cNvPr id="10" name="object 10"/>
          <p:cNvSpPr txBox="1"/>
          <p:nvPr/>
        </p:nvSpPr>
        <p:spPr>
          <a:xfrm>
            <a:off x="317347" y="1561660"/>
            <a:ext cx="1978660" cy="177800"/>
          </a:xfrm>
          <a:prstGeom prst="rect">
            <a:avLst/>
          </a:prstGeom>
        </p:spPr>
        <p:txBody>
          <a:bodyPr vert="horz" wrap="square" lIns="0" tIns="12065" rIns="0" bIns="0" rtlCol="0">
            <a:spAutoFit/>
          </a:bodyPr>
          <a:lstStyle/>
          <a:p>
            <a:pPr marL="38100">
              <a:lnSpc>
                <a:spcPct val="100000"/>
              </a:lnSpc>
              <a:spcBef>
                <a:spcPts val="95"/>
              </a:spcBef>
            </a:pPr>
            <a:r>
              <a:rPr sz="1000" spc="-5" dirty="0">
                <a:latin typeface="Arial"/>
                <a:cs typeface="Arial"/>
              </a:rPr>
              <a:t>with</a:t>
            </a:r>
            <a:r>
              <a:rPr sz="1000" spc="-10" dirty="0">
                <a:latin typeface="Arial"/>
                <a:cs typeface="Arial"/>
              </a:rPr>
              <a:t> </a:t>
            </a:r>
            <a:r>
              <a:rPr sz="1000" i="1" spc="-5" dirty="0">
                <a:latin typeface="Arial"/>
                <a:cs typeface="Arial"/>
              </a:rPr>
              <a:t>S</a:t>
            </a:r>
            <a:r>
              <a:rPr sz="1000" i="1" spc="-20" dirty="0">
                <a:latin typeface="Arial"/>
                <a:cs typeface="Arial"/>
              </a:rPr>
              <a:t> </a:t>
            </a:r>
            <a:r>
              <a:rPr sz="1000" spc="190" dirty="0">
                <a:latin typeface="Arial"/>
                <a:cs typeface="Arial"/>
              </a:rPr>
              <a:t>=</a:t>
            </a:r>
            <a:r>
              <a:rPr sz="1000" spc="100" dirty="0">
                <a:latin typeface="Arial"/>
                <a:cs typeface="Arial"/>
              </a:rPr>
              <a:t> </a:t>
            </a:r>
            <a:r>
              <a:rPr sz="1050" u="sng" spc="30" baseline="31746" dirty="0">
                <a:uFill>
                  <a:solidFill>
                    <a:srgbClr val="000000"/>
                  </a:solidFill>
                </a:uFill>
                <a:latin typeface="Arial"/>
                <a:cs typeface="Arial"/>
              </a:rPr>
              <a:t>1</a:t>
            </a:r>
            <a:r>
              <a:rPr sz="1050" spc="44" baseline="31746" dirty="0">
                <a:latin typeface="Arial"/>
                <a:cs typeface="Arial"/>
              </a:rPr>
              <a:t> </a:t>
            </a:r>
            <a:r>
              <a:rPr sz="1000" spc="-5" dirty="0">
                <a:latin typeface="Arial"/>
                <a:cs typeface="Arial"/>
              </a:rPr>
              <a:t>being</a:t>
            </a:r>
            <a:r>
              <a:rPr sz="1000" spc="-10" dirty="0">
                <a:latin typeface="Arial"/>
                <a:cs typeface="Arial"/>
              </a:rPr>
              <a:t> </a:t>
            </a:r>
            <a:r>
              <a:rPr sz="1000" spc="-5" dirty="0">
                <a:latin typeface="Arial"/>
                <a:cs typeface="Arial"/>
              </a:rPr>
              <a:t>the</a:t>
            </a:r>
            <a:r>
              <a:rPr sz="1000" spc="-10" dirty="0">
                <a:latin typeface="Arial"/>
                <a:cs typeface="Arial"/>
              </a:rPr>
              <a:t> </a:t>
            </a:r>
            <a:r>
              <a:rPr sz="1000" dirty="0">
                <a:latin typeface="Arial"/>
                <a:cs typeface="Arial"/>
              </a:rPr>
              <a:t>service</a:t>
            </a:r>
            <a:r>
              <a:rPr sz="1000" spc="-10" dirty="0">
                <a:latin typeface="Arial"/>
                <a:cs typeface="Arial"/>
              </a:rPr>
              <a:t> </a:t>
            </a:r>
            <a:r>
              <a:rPr sz="1000" spc="-5" dirty="0">
                <a:latin typeface="Arial"/>
                <a:cs typeface="Arial"/>
              </a:rPr>
              <a:t>time.</a:t>
            </a:r>
            <a:endParaRPr sz="1000">
              <a:latin typeface="Arial"/>
              <a:cs typeface="Arial"/>
            </a:endParaRPr>
          </a:p>
        </p:txBody>
      </p:sp>
      <p:sp>
        <p:nvSpPr>
          <p:cNvPr id="11" name="object 11"/>
          <p:cNvSpPr txBox="1"/>
          <p:nvPr/>
        </p:nvSpPr>
        <p:spPr>
          <a:xfrm>
            <a:off x="321894" y="1583336"/>
            <a:ext cx="3923665" cy="1216660"/>
          </a:xfrm>
          <a:prstGeom prst="rect">
            <a:avLst/>
          </a:prstGeom>
        </p:spPr>
        <p:txBody>
          <a:bodyPr vert="horz" wrap="square" lIns="0" tIns="72390" rIns="0" bIns="0" rtlCol="0">
            <a:spAutoFit/>
          </a:bodyPr>
          <a:lstStyle/>
          <a:p>
            <a:pPr marL="555625">
              <a:lnSpc>
                <a:spcPct val="100000"/>
              </a:lnSpc>
              <a:spcBef>
                <a:spcPts val="570"/>
              </a:spcBef>
            </a:pPr>
            <a:r>
              <a:rPr sz="700" i="1" spc="20" dirty="0">
                <a:latin typeface="Arial"/>
                <a:cs typeface="Arial"/>
              </a:rPr>
              <a:t>µ</a:t>
            </a:r>
            <a:endParaRPr sz="700" dirty="0">
              <a:latin typeface="Arial"/>
              <a:cs typeface="Arial"/>
            </a:endParaRPr>
          </a:p>
          <a:p>
            <a:pPr marL="38100">
              <a:lnSpc>
                <a:spcPct val="100000"/>
              </a:lnSpc>
              <a:spcBef>
                <a:spcPts val="700"/>
              </a:spcBef>
            </a:pPr>
            <a:r>
              <a:rPr sz="1200" spc="-5" dirty="0">
                <a:solidFill>
                  <a:srgbClr val="3333B2"/>
                </a:solidFill>
                <a:latin typeface="Arial"/>
                <a:cs typeface="Arial"/>
              </a:rPr>
              <a:t>Observations</a:t>
            </a:r>
            <a:endParaRPr sz="1200" dirty="0">
              <a:latin typeface="Arial"/>
              <a:cs typeface="Arial"/>
            </a:endParaRPr>
          </a:p>
          <a:p>
            <a:pPr marL="314960" marR="41910" indent="-168275">
              <a:lnSpc>
                <a:spcPct val="100000"/>
              </a:lnSpc>
              <a:spcBef>
                <a:spcPts val="545"/>
              </a:spcBef>
              <a:buClr>
                <a:srgbClr val="3333B2"/>
              </a:buClr>
              <a:buChar char="►"/>
              <a:tabLst>
                <a:tab pos="315595" algn="l"/>
              </a:tabLst>
            </a:pPr>
            <a:r>
              <a:rPr sz="1000" spc="-5" dirty="0">
                <a:latin typeface="Arial"/>
                <a:cs typeface="Arial"/>
              </a:rPr>
              <a:t>If </a:t>
            </a:r>
            <a:r>
              <a:rPr sz="1000" i="1" spc="-5" dirty="0">
                <a:latin typeface="Arial"/>
                <a:cs typeface="Arial"/>
              </a:rPr>
              <a:t>U</a:t>
            </a:r>
            <a:r>
              <a:rPr sz="1000" i="1" dirty="0">
                <a:latin typeface="Arial"/>
                <a:cs typeface="Arial"/>
              </a:rPr>
              <a:t> </a:t>
            </a:r>
            <a:r>
              <a:rPr sz="1000" spc="-5" dirty="0">
                <a:latin typeface="Arial"/>
                <a:cs typeface="Arial"/>
              </a:rPr>
              <a:t>is small, response-to-service time is close to 1: a request is </a:t>
            </a:r>
            <a:r>
              <a:rPr sz="1000" spc="-265" dirty="0">
                <a:latin typeface="Arial"/>
                <a:cs typeface="Arial"/>
              </a:rPr>
              <a:t> </a:t>
            </a:r>
            <a:r>
              <a:rPr sz="1000" spc="-5" dirty="0">
                <a:latin typeface="Arial"/>
                <a:cs typeface="Arial"/>
              </a:rPr>
              <a:t>immediately</a:t>
            </a:r>
            <a:r>
              <a:rPr sz="1000" spc="-10" dirty="0">
                <a:latin typeface="Arial"/>
                <a:cs typeface="Arial"/>
              </a:rPr>
              <a:t> </a:t>
            </a:r>
            <a:r>
              <a:rPr sz="1000" spc="-5" dirty="0">
                <a:latin typeface="Arial"/>
                <a:cs typeface="Arial"/>
              </a:rPr>
              <a:t>processed</a:t>
            </a:r>
            <a:endParaRPr sz="1000" dirty="0">
              <a:latin typeface="Arial"/>
              <a:cs typeface="Arial"/>
            </a:endParaRPr>
          </a:p>
          <a:p>
            <a:pPr marL="314960" marR="30480" indent="-168275">
              <a:lnSpc>
                <a:spcPct val="100000"/>
              </a:lnSpc>
              <a:spcBef>
                <a:spcPts val="585"/>
              </a:spcBef>
              <a:buClr>
                <a:srgbClr val="3333B2"/>
              </a:buClr>
              <a:buChar char="►"/>
              <a:tabLst>
                <a:tab pos="315595" algn="l"/>
              </a:tabLst>
            </a:pPr>
            <a:r>
              <a:rPr sz="1000" spc="-5" dirty="0">
                <a:latin typeface="Arial"/>
                <a:cs typeface="Arial"/>
              </a:rPr>
              <a:t>If </a:t>
            </a:r>
            <a:r>
              <a:rPr sz="1000" i="1" spc="-5" dirty="0">
                <a:latin typeface="Arial"/>
                <a:cs typeface="Arial"/>
              </a:rPr>
              <a:t>U</a:t>
            </a:r>
            <a:r>
              <a:rPr sz="1000" i="1" spc="80" dirty="0">
                <a:latin typeface="Arial"/>
                <a:cs typeface="Arial"/>
              </a:rPr>
              <a:t> </a:t>
            </a:r>
            <a:r>
              <a:rPr sz="1000" spc="-5" dirty="0">
                <a:latin typeface="Arial"/>
                <a:cs typeface="Arial"/>
              </a:rPr>
              <a:t>goes</a:t>
            </a:r>
            <a:r>
              <a:rPr sz="1000" dirty="0">
                <a:latin typeface="Arial"/>
                <a:cs typeface="Arial"/>
              </a:rPr>
              <a:t> </a:t>
            </a:r>
            <a:r>
              <a:rPr sz="1000" spc="-5" dirty="0">
                <a:latin typeface="Arial"/>
                <a:cs typeface="Arial"/>
              </a:rPr>
              <a:t>up</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1, the</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comes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grinding</a:t>
            </a:r>
            <a:r>
              <a:rPr sz="1000" dirty="0">
                <a:latin typeface="Arial"/>
                <a:cs typeface="Arial"/>
              </a:rPr>
              <a:t> </a:t>
            </a:r>
            <a:r>
              <a:rPr sz="1000" spc="-5" dirty="0">
                <a:latin typeface="Arial"/>
                <a:cs typeface="Arial"/>
              </a:rPr>
              <a:t>halt.</a:t>
            </a:r>
            <a:r>
              <a:rPr sz="1000" spc="65" dirty="0">
                <a:latin typeface="Arial"/>
                <a:cs typeface="Arial"/>
              </a:rPr>
              <a:t> </a:t>
            </a:r>
            <a:r>
              <a:rPr sz="1000" spc="-5" dirty="0">
                <a:latin typeface="Arial"/>
                <a:cs typeface="Arial"/>
              </a:rPr>
              <a:t>Solution: </a:t>
            </a:r>
            <a:r>
              <a:rPr sz="1000" spc="-260" dirty="0">
                <a:latin typeface="Arial"/>
                <a:cs typeface="Arial"/>
              </a:rPr>
              <a:t> </a:t>
            </a:r>
            <a:r>
              <a:rPr sz="1000" spc="-5" dirty="0">
                <a:latin typeface="Arial"/>
                <a:cs typeface="Arial"/>
              </a:rPr>
              <a:t>decrease</a:t>
            </a:r>
            <a:r>
              <a:rPr sz="1000" spc="-10" dirty="0">
                <a:latin typeface="Arial"/>
                <a:cs typeface="Arial"/>
              </a:rPr>
              <a:t> </a:t>
            </a:r>
            <a:r>
              <a:rPr sz="1000" i="1" spc="20" dirty="0">
                <a:latin typeface="Arial"/>
                <a:cs typeface="Arial"/>
              </a:rPr>
              <a:t>S</a:t>
            </a:r>
            <a:r>
              <a:rPr sz="1000" spc="20" dirty="0">
                <a:latin typeface="Arial"/>
                <a:cs typeface="Arial"/>
              </a:rPr>
              <a:t>.</a:t>
            </a:r>
            <a:endParaRPr sz="1000" dirty="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Scalability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dimensions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20</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Being scala</a:t>
            </a:r>
            <a:r>
              <a:rPr sz="600" spc="-20" dirty="0">
                <a:solidFill>
                  <a:srgbClr val="262685"/>
                </a:solidFill>
                <a:latin typeface="Arial"/>
                <a:cs typeface="Arial"/>
                <a:hlinkClick r:id="rId3" action="ppaction://hlinksldjump"/>
              </a:rPr>
              <a:t>b</a:t>
            </a:r>
            <a:r>
              <a:rPr sz="600" spc="-5" dirty="0">
                <a:solidFill>
                  <a:srgbClr val="262685"/>
                </a:solidFill>
                <a:latin typeface="Arial"/>
                <a:cs typeface="Arial"/>
                <a:hlinkClick r:id="rId3" action="ppaction://hlinksldjump"/>
              </a:rPr>
              <a:t>le</a:t>
            </a:r>
            <a:endParaRPr sz="600">
              <a:latin typeface="Arial"/>
              <a:cs typeface="Arial"/>
            </a:endParaRPr>
          </a:p>
        </p:txBody>
      </p:sp>
      <p:sp>
        <p:nvSpPr>
          <p:cNvPr id="4" name="object 4"/>
          <p:cNvSpPr txBox="1"/>
          <p:nvPr/>
        </p:nvSpPr>
        <p:spPr>
          <a:xfrm>
            <a:off x="95300" y="188846"/>
            <a:ext cx="309626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Problems </a:t>
            </a:r>
            <a:r>
              <a:rPr sz="1400" spc="15" dirty="0">
                <a:solidFill>
                  <a:srgbClr val="3333B2"/>
                </a:solidFill>
                <a:latin typeface="Arial"/>
                <a:cs typeface="Arial"/>
              </a:rPr>
              <a:t>with</a:t>
            </a:r>
            <a:r>
              <a:rPr sz="1400" spc="10" dirty="0">
                <a:solidFill>
                  <a:srgbClr val="3333B2"/>
                </a:solidFill>
                <a:latin typeface="Arial"/>
                <a:cs typeface="Arial"/>
              </a:rPr>
              <a:t> geographical scalability</a:t>
            </a:r>
            <a:endParaRPr sz="1400" dirty="0">
              <a:latin typeface="Arial"/>
              <a:cs typeface="Arial"/>
            </a:endParaRPr>
          </a:p>
        </p:txBody>
      </p:sp>
      <p:sp>
        <p:nvSpPr>
          <p:cNvPr id="5" name="object 5"/>
          <p:cNvSpPr txBox="1"/>
          <p:nvPr/>
        </p:nvSpPr>
        <p:spPr>
          <a:xfrm>
            <a:off x="431304" y="1013706"/>
            <a:ext cx="3853179" cy="1696085"/>
          </a:xfrm>
          <a:prstGeom prst="rect">
            <a:avLst/>
          </a:prstGeom>
        </p:spPr>
        <p:txBody>
          <a:bodyPr vert="horz" wrap="square" lIns="0" tIns="12065" rIns="0" bIns="0" rtlCol="0">
            <a:spAutoFit/>
          </a:bodyPr>
          <a:lstStyle/>
          <a:p>
            <a:pPr marL="205740" marR="30480" indent="-168275">
              <a:lnSpc>
                <a:spcPct val="100000"/>
              </a:lnSpc>
              <a:spcBef>
                <a:spcPts val="95"/>
              </a:spcBef>
              <a:buClr>
                <a:srgbClr val="3333B2"/>
              </a:buClr>
              <a:buChar char="►"/>
              <a:tabLst>
                <a:tab pos="206375" algn="l"/>
              </a:tabLst>
            </a:pPr>
            <a:r>
              <a:rPr sz="1000" spc="-5" dirty="0">
                <a:latin typeface="Arial"/>
                <a:cs typeface="Arial"/>
              </a:rPr>
              <a:t>Cannot simply</a:t>
            </a:r>
            <a:r>
              <a:rPr sz="1000" dirty="0">
                <a:latin typeface="Arial"/>
                <a:cs typeface="Arial"/>
              </a:rPr>
              <a:t> </a:t>
            </a:r>
            <a:r>
              <a:rPr sz="1000" spc="-5" dirty="0">
                <a:latin typeface="Arial"/>
                <a:cs typeface="Arial"/>
              </a:rPr>
              <a:t>go from</a:t>
            </a:r>
            <a:r>
              <a:rPr sz="1000" dirty="0">
                <a:latin typeface="Arial"/>
                <a:cs typeface="Arial"/>
              </a:rPr>
              <a:t> </a:t>
            </a:r>
            <a:r>
              <a:rPr sz="1000" spc="-5" dirty="0">
                <a:latin typeface="Arial"/>
                <a:cs typeface="Arial"/>
              </a:rPr>
              <a:t>LAN to</a:t>
            </a:r>
            <a:r>
              <a:rPr sz="1000" dirty="0">
                <a:latin typeface="Arial"/>
                <a:cs typeface="Arial"/>
              </a:rPr>
              <a:t> </a:t>
            </a:r>
            <a:r>
              <a:rPr sz="1000" spc="-15" dirty="0">
                <a:latin typeface="Arial"/>
                <a:cs typeface="Arial"/>
              </a:rPr>
              <a:t>WAN:</a:t>
            </a:r>
            <a:r>
              <a:rPr sz="1000" spc="-5" dirty="0">
                <a:latin typeface="Arial"/>
                <a:cs typeface="Arial"/>
              </a:rPr>
              <a:t> </a:t>
            </a:r>
            <a:r>
              <a:rPr sz="1000" spc="-10" dirty="0">
                <a:latin typeface="Arial"/>
                <a:cs typeface="Arial"/>
              </a:rPr>
              <a:t>many</a:t>
            </a:r>
            <a:r>
              <a:rPr sz="1000" dirty="0">
                <a:latin typeface="Arial"/>
                <a:cs typeface="Arial"/>
              </a:rPr>
              <a:t> </a:t>
            </a:r>
            <a:r>
              <a:rPr sz="1000" spc="-5" dirty="0">
                <a:latin typeface="Arial"/>
                <a:cs typeface="Arial"/>
              </a:rPr>
              <a:t>distributed systems </a:t>
            </a:r>
            <a:r>
              <a:rPr sz="1000" dirty="0">
                <a:latin typeface="Arial"/>
                <a:cs typeface="Arial"/>
              </a:rPr>
              <a:t> </a:t>
            </a:r>
            <a:r>
              <a:rPr sz="1000" spc="-5" dirty="0">
                <a:latin typeface="Arial"/>
                <a:cs typeface="Arial"/>
              </a:rPr>
              <a:t>assume </a:t>
            </a:r>
            <a:r>
              <a:rPr sz="1000" spc="-5" dirty="0">
                <a:solidFill>
                  <a:srgbClr val="FA0000"/>
                </a:solidFill>
                <a:latin typeface="Arial"/>
                <a:cs typeface="Arial"/>
              </a:rPr>
              <a:t>synchronous</a:t>
            </a:r>
            <a:r>
              <a:rPr sz="1000" dirty="0">
                <a:solidFill>
                  <a:srgbClr val="FA0000"/>
                </a:solidFill>
                <a:latin typeface="Arial"/>
                <a:cs typeface="Arial"/>
              </a:rPr>
              <a:t> </a:t>
            </a:r>
            <a:r>
              <a:rPr sz="1000" spc="-5" dirty="0">
                <a:solidFill>
                  <a:srgbClr val="FA0000"/>
                </a:solidFill>
                <a:latin typeface="Arial"/>
                <a:cs typeface="Arial"/>
              </a:rPr>
              <a:t>client-server</a:t>
            </a:r>
            <a:r>
              <a:rPr sz="1000" dirty="0">
                <a:solidFill>
                  <a:srgbClr val="FA0000"/>
                </a:solidFill>
                <a:latin typeface="Arial"/>
                <a:cs typeface="Arial"/>
              </a:rPr>
              <a:t> </a:t>
            </a:r>
            <a:r>
              <a:rPr sz="1000" spc="-5" dirty="0">
                <a:solidFill>
                  <a:srgbClr val="FA0000"/>
                </a:solidFill>
                <a:latin typeface="Arial"/>
                <a:cs typeface="Arial"/>
              </a:rPr>
              <a:t>interactions</a:t>
            </a:r>
            <a:r>
              <a:rPr sz="1000" spc="-5" dirty="0">
                <a:latin typeface="Arial"/>
                <a:cs typeface="Arial"/>
              </a:rPr>
              <a:t>:</a:t>
            </a:r>
            <a:r>
              <a:rPr sz="1000" spc="7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sends </a:t>
            </a:r>
            <a:r>
              <a:rPr sz="1000" dirty="0">
                <a:latin typeface="Arial"/>
                <a:cs typeface="Arial"/>
              </a:rPr>
              <a:t> </a:t>
            </a:r>
            <a:r>
              <a:rPr sz="1000" spc="-5" dirty="0">
                <a:latin typeface="Arial"/>
                <a:cs typeface="Arial"/>
              </a:rPr>
              <a:t>request and</a:t>
            </a:r>
            <a:r>
              <a:rPr sz="1000" dirty="0">
                <a:latin typeface="Arial"/>
                <a:cs typeface="Arial"/>
              </a:rPr>
              <a:t> </a:t>
            </a:r>
            <a:r>
              <a:rPr sz="1000" spc="-5" dirty="0">
                <a:latin typeface="Arial"/>
                <a:cs typeface="Arial"/>
              </a:rPr>
              <a:t>waits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an </a:t>
            </a:r>
            <a:r>
              <a:rPr sz="1000" spc="-15" dirty="0">
                <a:latin typeface="Arial"/>
                <a:cs typeface="Arial"/>
              </a:rPr>
              <a:t>answer.</a:t>
            </a:r>
            <a:r>
              <a:rPr sz="1000" spc="65" dirty="0">
                <a:latin typeface="Arial"/>
                <a:cs typeface="Arial"/>
              </a:rPr>
              <a:t> </a:t>
            </a:r>
            <a:r>
              <a:rPr sz="1000" spc="-5" dirty="0">
                <a:solidFill>
                  <a:srgbClr val="0000FA"/>
                </a:solidFill>
                <a:latin typeface="Arial"/>
                <a:cs typeface="Arial"/>
              </a:rPr>
              <a:t>Latency</a:t>
            </a:r>
            <a:r>
              <a:rPr sz="1000" dirty="0">
                <a:solidFill>
                  <a:srgbClr val="0000FA"/>
                </a:solidFill>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easily prohibit</a:t>
            </a:r>
            <a:r>
              <a:rPr sz="1000" dirty="0">
                <a:latin typeface="Arial"/>
                <a:cs typeface="Arial"/>
              </a:rPr>
              <a:t> </a:t>
            </a:r>
            <a:r>
              <a:rPr sz="1000" spc="-5" dirty="0">
                <a:latin typeface="Arial"/>
                <a:cs typeface="Arial"/>
              </a:rPr>
              <a:t>this </a:t>
            </a:r>
            <a:r>
              <a:rPr sz="1000" spc="-260" dirty="0">
                <a:latin typeface="Arial"/>
                <a:cs typeface="Arial"/>
              </a:rPr>
              <a:t> </a:t>
            </a:r>
            <a:r>
              <a:rPr sz="1000" spc="-5" dirty="0">
                <a:latin typeface="Arial"/>
                <a:cs typeface="Arial"/>
              </a:rPr>
              <a:t>scheme.</a:t>
            </a:r>
            <a:endParaRPr sz="1000" dirty="0">
              <a:latin typeface="Arial"/>
              <a:cs typeface="Arial"/>
            </a:endParaRPr>
          </a:p>
          <a:p>
            <a:pPr marL="205740" marR="484505" indent="-168275">
              <a:lnSpc>
                <a:spcPct val="100000"/>
              </a:lnSpc>
              <a:spcBef>
                <a:spcPts val="580"/>
              </a:spcBef>
              <a:buClr>
                <a:srgbClr val="3333B2"/>
              </a:buClr>
              <a:buChar char="►"/>
              <a:tabLst>
                <a:tab pos="206375" algn="l"/>
              </a:tabLst>
            </a:pPr>
            <a:r>
              <a:rPr sz="1000" spc="-20" dirty="0">
                <a:latin typeface="Arial"/>
                <a:cs typeface="Arial"/>
              </a:rPr>
              <a:t>WAN</a:t>
            </a:r>
            <a:r>
              <a:rPr sz="1000" spc="-5" dirty="0">
                <a:latin typeface="Arial"/>
                <a:cs typeface="Arial"/>
              </a:rPr>
              <a:t> links are</a:t>
            </a:r>
            <a:r>
              <a:rPr sz="1000" dirty="0">
                <a:latin typeface="Arial"/>
                <a:cs typeface="Arial"/>
              </a:rPr>
              <a:t> </a:t>
            </a:r>
            <a:r>
              <a:rPr sz="1000" spc="-5" dirty="0">
                <a:latin typeface="Arial"/>
                <a:cs typeface="Arial"/>
              </a:rPr>
              <a:t>often inherently</a:t>
            </a:r>
            <a:r>
              <a:rPr sz="1000" dirty="0">
                <a:latin typeface="Arial"/>
                <a:cs typeface="Arial"/>
              </a:rPr>
              <a:t> </a:t>
            </a:r>
            <a:r>
              <a:rPr sz="1000" spc="-5" dirty="0">
                <a:solidFill>
                  <a:srgbClr val="0000FA"/>
                </a:solidFill>
                <a:latin typeface="Arial"/>
                <a:cs typeface="Arial"/>
              </a:rPr>
              <a:t>unreliable</a:t>
            </a:r>
            <a:r>
              <a:rPr sz="1000" spc="-5" dirty="0">
                <a:latin typeface="Arial"/>
                <a:cs typeface="Arial"/>
              </a:rPr>
              <a:t>:</a:t>
            </a:r>
            <a:r>
              <a:rPr sz="1000" spc="60" dirty="0">
                <a:latin typeface="Arial"/>
                <a:cs typeface="Arial"/>
              </a:rPr>
              <a:t> </a:t>
            </a:r>
            <a:r>
              <a:rPr sz="1000" spc="-5" dirty="0">
                <a:latin typeface="Arial"/>
                <a:cs typeface="Arial"/>
              </a:rPr>
              <a:t>simply moving </a:t>
            </a:r>
            <a:r>
              <a:rPr sz="1000" spc="-260" dirty="0">
                <a:latin typeface="Arial"/>
                <a:cs typeface="Arial"/>
              </a:rPr>
              <a:t> </a:t>
            </a:r>
            <a:r>
              <a:rPr sz="1000" spc="-5" dirty="0">
                <a:latin typeface="Arial"/>
                <a:cs typeface="Arial"/>
              </a:rPr>
              <a:t>streaming video from LAN to </a:t>
            </a:r>
            <a:r>
              <a:rPr sz="1000" spc="-20" dirty="0">
                <a:latin typeface="Arial"/>
                <a:cs typeface="Arial"/>
              </a:rPr>
              <a:t>WAN</a:t>
            </a:r>
            <a:r>
              <a:rPr sz="1000" spc="-5" dirty="0">
                <a:latin typeface="Arial"/>
                <a:cs typeface="Arial"/>
              </a:rPr>
              <a:t> is bound</a:t>
            </a:r>
            <a:r>
              <a:rPr sz="1000" dirty="0">
                <a:latin typeface="Arial"/>
                <a:cs typeface="Arial"/>
              </a:rPr>
              <a:t> </a:t>
            </a:r>
            <a:r>
              <a:rPr sz="1000" spc="-5" dirty="0">
                <a:latin typeface="Arial"/>
                <a:cs typeface="Arial"/>
              </a:rPr>
              <a:t>to </a:t>
            </a:r>
            <a:r>
              <a:rPr sz="1000" spc="-10" dirty="0">
                <a:latin typeface="Arial"/>
                <a:cs typeface="Arial"/>
              </a:rPr>
              <a:t>fail.</a:t>
            </a:r>
            <a:endParaRPr sz="1000" dirty="0">
              <a:latin typeface="Arial"/>
              <a:cs typeface="Arial"/>
            </a:endParaRPr>
          </a:p>
          <a:p>
            <a:pPr marL="205740" marR="149860" indent="-168275">
              <a:lnSpc>
                <a:spcPct val="100000"/>
              </a:lnSpc>
              <a:spcBef>
                <a:spcPts val="590"/>
              </a:spcBef>
              <a:buClr>
                <a:srgbClr val="3333B2"/>
              </a:buClr>
              <a:buChar char="►"/>
              <a:tabLst>
                <a:tab pos="206375" algn="l"/>
              </a:tabLst>
            </a:pPr>
            <a:r>
              <a:rPr sz="1000" spc="-10" dirty="0">
                <a:solidFill>
                  <a:srgbClr val="0000FA"/>
                </a:solidFill>
                <a:latin typeface="Arial"/>
                <a:cs typeface="Arial"/>
              </a:rPr>
              <a:t>Lack</a:t>
            </a:r>
            <a:r>
              <a:rPr sz="1000" spc="-5" dirty="0">
                <a:solidFill>
                  <a:srgbClr val="0000FA"/>
                </a:solidFill>
                <a:latin typeface="Arial"/>
                <a:cs typeface="Arial"/>
              </a:rPr>
              <a:t> of multipoint</a:t>
            </a:r>
            <a:r>
              <a:rPr sz="1000" dirty="0">
                <a:solidFill>
                  <a:srgbClr val="0000FA"/>
                </a:solidFill>
                <a:latin typeface="Arial"/>
                <a:cs typeface="Arial"/>
              </a:rPr>
              <a:t> </a:t>
            </a:r>
            <a:r>
              <a:rPr sz="1000" spc="-5" dirty="0">
                <a:solidFill>
                  <a:srgbClr val="0000FA"/>
                </a:solidFill>
                <a:latin typeface="Arial"/>
                <a:cs typeface="Arial"/>
              </a:rPr>
              <a:t>communication</a:t>
            </a:r>
            <a:r>
              <a:rPr sz="1000" spc="-5" dirty="0">
                <a:latin typeface="Arial"/>
                <a:cs typeface="Arial"/>
              </a:rPr>
              <a:t>, so</a:t>
            </a:r>
            <a:r>
              <a:rPr sz="1000" dirty="0">
                <a:latin typeface="Arial"/>
                <a:cs typeface="Arial"/>
              </a:rPr>
              <a:t> </a:t>
            </a:r>
            <a:r>
              <a:rPr sz="1000" spc="-5" dirty="0">
                <a:latin typeface="Arial"/>
                <a:cs typeface="Arial"/>
              </a:rPr>
              <a:t>that a</a:t>
            </a:r>
            <a:r>
              <a:rPr sz="1000" dirty="0">
                <a:latin typeface="Arial"/>
                <a:cs typeface="Arial"/>
              </a:rPr>
              <a:t> </a:t>
            </a:r>
            <a:r>
              <a:rPr sz="1000" spc="-5" dirty="0">
                <a:latin typeface="Arial"/>
                <a:cs typeface="Arial"/>
              </a:rPr>
              <a:t>simple search </a:t>
            </a:r>
            <a:r>
              <a:rPr sz="1000" dirty="0">
                <a:latin typeface="Arial"/>
                <a:cs typeface="Arial"/>
              </a:rPr>
              <a:t> </a:t>
            </a:r>
            <a:r>
              <a:rPr sz="1000" spc="-5" dirty="0">
                <a:latin typeface="Arial"/>
                <a:cs typeface="Arial"/>
              </a:rPr>
              <a:t>broadcast cannot</a:t>
            </a:r>
            <a:r>
              <a:rPr sz="1000" dirty="0">
                <a:latin typeface="Arial"/>
                <a:cs typeface="Arial"/>
              </a:rPr>
              <a:t> </a:t>
            </a:r>
            <a:r>
              <a:rPr sz="1000" spc="-5" dirty="0">
                <a:latin typeface="Arial"/>
                <a:cs typeface="Arial"/>
              </a:rPr>
              <a:t>be</a:t>
            </a:r>
            <a:r>
              <a:rPr sz="1000" dirty="0">
                <a:latin typeface="Arial"/>
                <a:cs typeface="Arial"/>
              </a:rPr>
              <a:t> </a:t>
            </a:r>
            <a:r>
              <a:rPr sz="1000" spc="-10" dirty="0">
                <a:latin typeface="Arial"/>
                <a:cs typeface="Arial"/>
              </a:rPr>
              <a:t>deployed.</a:t>
            </a:r>
            <a:r>
              <a:rPr sz="1000" spc="65" dirty="0">
                <a:latin typeface="Arial"/>
                <a:cs typeface="Arial"/>
              </a:rPr>
              <a:t> </a:t>
            </a:r>
            <a:r>
              <a:rPr sz="1000" spc="-5" dirty="0">
                <a:latin typeface="Arial"/>
                <a:cs typeface="Arial"/>
              </a:rPr>
              <a:t>Solution is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develop</a:t>
            </a:r>
            <a:r>
              <a:rPr sz="1000" spc="-5" dirty="0">
                <a:latin typeface="Arial"/>
                <a:cs typeface="Arial"/>
              </a:rPr>
              <a:t> separate </a:t>
            </a:r>
            <a:r>
              <a:rPr sz="1000" spc="-260" dirty="0">
                <a:latin typeface="Arial"/>
                <a:cs typeface="Arial"/>
              </a:rPr>
              <a:t> </a:t>
            </a:r>
            <a:r>
              <a:rPr sz="1000" spc="-5" dirty="0">
                <a:solidFill>
                  <a:srgbClr val="FA0000"/>
                </a:solidFill>
                <a:latin typeface="Arial"/>
                <a:cs typeface="Arial"/>
              </a:rPr>
              <a:t>naming </a:t>
            </a:r>
            <a:r>
              <a:rPr sz="1000" spc="-5" dirty="0">
                <a:latin typeface="Arial"/>
                <a:cs typeface="Arial"/>
              </a:rPr>
              <a:t>and </a:t>
            </a:r>
            <a:r>
              <a:rPr sz="1000" dirty="0">
                <a:solidFill>
                  <a:srgbClr val="FA0000"/>
                </a:solidFill>
                <a:latin typeface="Arial"/>
                <a:cs typeface="Arial"/>
              </a:rPr>
              <a:t>directory</a:t>
            </a:r>
            <a:r>
              <a:rPr sz="1000" spc="-5" dirty="0">
                <a:solidFill>
                  <a:srgbClr val="FA0000"/>
                </a:solidFill>
                <a:latin typeface="Arial"/>
                <a:cs typeface="Arial"/>
              </a:rPr>
              <a:t> </a:t>
            </a:r>
            <a:r>
              <a:rPr sz="1000" dirty="0">
                <a:solidFill>
                  <a:srgbClr val="FA0000"/>
                </a:solidFill>
                <a:latin typeface="Arial"/>
                <a:cs typeface="Arial"/>
              </a:rPr>
              <a:t>services</a:t>
            </a:r>
            <a:r>
              <a:rPr sz="1000" spc="-5" dirty="0">
                <a:solidFill>
                  <a:srgbClr val="FA0000"/>
                </a:solidFill>
                <a:latin typeface="Arial"/>
                <a:cs typeface="Arial"/>
              </a:rPr>
              <a:t> </a:t>
            </a:r>
            <a:r>
              <a:rPr sz="1000" spc="-5" dirty="0">
                <a:latin typeface="Arial"/>
                <a:cs typeface="Arial"/>
              </a:rPr>
              <a:t>(having their</a:t>
            </a:r>
            <a:r>
              <a:rPr sz="1000" dirty="0">
                <a:latin typeface="Arial"/>
                <a:cs typeface="Arial"/>
              </a:rPr>
              <a:t> </a:t>
            </a:r>
            <a:r>
              <a:rPr sz="1000" spc="-10" dirty="0">
                <a:latin typeface="Arial"/>
                <a:cs typeface="Arial"/>
              </a:rPr>
              <a:t>own</a:t>
            </a:r>
            <a:r>
              <a:rPr sz="1000" spc="-5" dirty="0">
                <a:latin typeface="Arial"/>
                <a:cs typeface="Arial"/>
              </a:rPr>
              <a:t> scalability </a:t>
            </a:r>
            <a:r>
              <a:rPr sz="1000" dirty="0">
                <a:latin typeface="Arial"/>
                <a:cs typeface="Arial"/>
              </a:rPr>
              <a:t> </a:t>
            </a:r>
            <a:r>
              <a:rPr sz="1000" spc="-5" dirty="0">
                <a:latin typeface="Arial"/>
                <a:cs typeface="Arial"/>
              </a:rPr>
              <a:t>problems).</a:t>
            </a:r>
            <a:endParaRPr sz="1000" dirty="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7216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Scalability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dimensions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56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69385" algn="l"/>
              </a:tabLst>
            </a:pPr>
            <a:r>
              <a:rPr sz="600" spc="-5" dirty="0">
                <a:solidFill>
                  <a:srgbClr val="3333B2"/>
                </a:solidFill>
                <a:latin typeface="Arial"/>
                <a:cs typeface="Arial"/>
                <a:hlinkClick r:id="rId4" action="ppaction://hlinksldjump"/>
              </a:rPr>
              <a:t>Introduction:</a:t>
            </a:r>
            <a:r>
              <a:rPr sz="600" spc="-5"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r>
              <a:rPr sz="600" dirty="0">
                <a:solidFill>
                  <a:srgbClr val="3333B2"/>
                </a:solidFill>
                <a:latin typeface="Arial"/>
                <a:cs typeface="Arial"/>
              </a:rPr>
              <a:t>	</a:t>
            </a:r>
            <a:r>
              <a:rPr sz="600" spc="-5" dirty="0">
                <a:solidFill>
                  <a:srgbClr val="262685"/>
                </a:solidFill>
                <a:latin typeface="Arial"/>
                <a:cs typeface="Arial"/>
                <a:hlinkClick r:id="rId3" action="ppaction://hlinksldjump"/>
              </a:rPr>
              <a:t>Being scala</a:t>
            </a:r>
            <a:r>
              <a:rPr sz="600" spc="-20" dirty="0">
                <a:solidFill>
                  <a:srgbClr val="262685"/>
                </a:solidFill>
                <a:latin typeface="Arial"/>
                <a:cs typeface="Arial"/>
                <a:hlinkClick r:id="rId3" action="ppaction://hlinksldjump"/>
              </a:rPr>
              <a:t>b</a:t>
            </a:r>
            <a:r>
              <a:rPr sz="600" spc="-5" dirty="0">
                <a:solidFill>
                  <a:srgbClr val="262685"/>
                </a:solidFill>
                <a:latin typeface="Arial"/>
                <a:cs typeface="Arial"/>
                <a:hlinkClick r:id="rId3" action="ppaction://hlinksldjump"/>
              </a:rPr>
              <a:t>le</a:t>
            </a:r>
            <a:endParaRPr sz="600">
              <a:latin typeface="Arial"/>
              <a:cs typeface="Arial"/>
            </a:endParaRPr>
          </a:p>
        </p:txBody>
      </p:sp>
      <p:sp>
        <p:nvSpPr>
          <p:cNvPr id="3" name="object 3"/>
          <p:cNvSpPr txBox="1">
            <a:spLocks noGrp="1"/>
          </p:cNvSpPr>
          <p:nvPr>
            <p:ph type="title"/>
          </p:nvPr>
        </p:nvSpPr>
        <p:spPr>
          <a:xfrm>
            <a:off x="95300" y="188846"/>
            <a:ext cx="3174365" cy="244475"/>
          </a:xfrm>
          <a:prstGeom prst="rect">
            <a:avLst/>
          </a:prstGeom>
        </p:spPr>
        <p:txBody>
          <a:bodyPr vert="horz" wrap="square" lIns="0" tIns="17145" rIns="0" bIns="0" rtlCol="0">
            <a:spAutoFit/>
          </a:bodyPr>
          <a:lstStyle/>
          <a:p>
            <a:pPr marL="12700">
              <a:lnSpc>
                <a:spcPct val="100000"/>
              </a:lnSpc>
              <a:spcBef>
                <a:spcPts val="135"/>
              </a:spcBef>
            </a:pPr>
            <a:r>
              <a:rPr spc="10" dirty="0"/>
              <a:t>Problems</a:t>
            </a:r>
            <a:r>
              <a:rPr dirty="0"/>
              <a:t> </a:t>
            </a:r>
            <a:r>
              <a:rPr spc="15" dirty="0"/>
              <a:t>with</a:t>
            </a:r>
            <a:r>
              <a:rPr spc="5" dirty="0"/>
              <a:t> </a:t>
            </a:r>
            <a:r>
              <a:rPr spc="10" dirty="0"/>
              <a:t>administrative</a:t>
            </a:r>
            <a:r>
              <a:rPr dirty="0"/>
              <a:t> </a:t>
            </a:r>
            <a:r>
              <a:rPr spc="10" dirty="0"/>
              <a:t>scalability</a:t>
            </a:r>
          </a:p>
        </p:txBody>
      </p:sp>
      <p:sp>
        <p:nvSpPr>
          <p:cNvPr id="4" name="object 4"/>
          <p:cNvSpPr txBox="1"/>
          <p:nvPr/>
        </p:nvSpPr>
        <p:spPr>
          <a:xfrm>
            <a:off x="309194" y="450136"/>
            <a:ext cx="3837940" cy="2827020"/>
          </a:xfrm>
          <a:prstGeom prst="rect">
            <a:avLst/>
          </a:prstGeom>
        </p:spPr>
        <p:txBody>
          <a:bodyPr vert="horz" wrap="square" lIns="0" tIns="12065" rIns="0" bIns="0" rtlCol="0">
            <a:spAutoFit/>
          </a:bodyPr>
          <a:lstStyle/>
          <a:p>
            <a:pPr marL="50800">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50800" marR="537845">
              <a:lnSpc>
                <a:spcPts val="1200"/>
              </a:lnSpc>
              <a:spcBef>
                <a:spcPts val="10"/>
              </a:spcBef>
            </a:pPr>
            <a:r>
              <a:rPr sz="1000" spc="-5" dirty="0">
                <a:latin typeface="Arial"/>
                <a:cs typeface="Arial"/>
              </a:rPr>
              <a:t>Conflicting</a:t>
            </a:r>
            <a:r>
              <a:rPr sz="1000" dirty="0">
                <a:latin typeface="Arial"/>
                <a:cs typeface="Arial"/>
              </a:rPr>
              <a:t> </a:t>
            </a:r>
            <a:r>
              <a:rPr sz="1000" spc="-5" dirty="0">
                <a:latin typeface="Arial"/>
                <a:cs typeface="Arial"/>
              </a:rPr>
              <a:t>policies</a:t>
            </a:r>
            <a:r>
              <a:rPr sz="1000" dirty="0">
                <a:latin typeface="Arial"/>
                <a:cs typeface="Arial"/>
              </a:rPr>
              <a:t> concerning</a:t>
            </a:r>
            <a:r>
              <a:rPr sz="1000" spc="5" dirty="0">
                <a:latin typeface="Arial"/>
                <a:cs typeface="Arial"/>
              </a:rPr>
              <a:t> </a:t>
            </a:r>
            <a:r>
              <a:rPr sz="1000" spc="-5" dirty="0">
                <a:latin typeface="Arial"/>
                <a:cs typeface="Arial"/>
              </a:rPr>
              <a:t>usage</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thus</a:t>
            </a:r>
            <a:r>
              <a:rPr sz="1000" dirty="0">
                <a:latin typeface="Arial"/>
                <a:cs typeface="Arial"/>
              </a:rPr>
              <a:t> </a:t>
            </a:r>
            <a:r>
              <a:rPr sz="1000" spc="-10" dirty="0">
                <a:latin typeface="Arial"/>
                <a:cs typeface="Arial"/>
              </a:rPr>
              <a:t>payment), </a:t>
            </a:r>
            <a:r>
              <a:rPr sz="1000" spc="-260" dirty="0">
                <a:latin typeface="Arial"/>
                <a:cs typeface="Arial"/>
              </a:rPr>
              <a:t> </a:t>
            </a:r>
            <a:r>
              <a:rPr sz="1000" spc="-5" dirty="0">
                <a:latin typeface="Arial"/>
                <a:cs typeface="Arial"/>
              </a:rPr>
              <a:t>management,</a:t>
            </a:r>
            <a:r>
              <a:rPr sz="1000" spc="-10" dirty="0">
                <a:latin typeface="Arial"/>
                <a:cs typeface="Arial"/>
              </a:rPr>
              <a:t> </a:t>
            </a:r>
            <a:r>
              <a:rPr sz="1000" spc="-5" dirty="0">
                <a:latin typeface="Arial"/>
                <a:cs typeface="Arial"/>
              </a:rPr>
              <a:t>and security</a:t>
            </a:r>
            <a:endParaRPr sz="1000" dirty="0">
              <a:latin typeface="Arial"/>
              <a:cs typeface="Arial"/>
            </a:endParaRPr>
          </a:p>
          <a:p>
            <a:pPr marL="50800">
              <a:lnSpc>
                <a:spcPct val="100000"/>
              </a:lnSpc>
              <a:spcBef>
                <a:spcPts val="595"/>
              </a:spcBef>
            </a:pPr>
            <a:r>
              <a:rPr sz="1200" spc="-5" dirty="0">
                <a:solidFill>
                  <a:srgbClr val="007C00"/>
                </a:solidFill>
                <a:latin typeface="Arial"/>
                <a:cs typeface="Arial"/>
              </a:rPr>
              <a:t>Examples</a:t>
            </a:r>
            <a:endParaRPr sz="1200" dirty="0">
              <a:latin typeface="Arial"/>
              <a:cs typeface="Arial"/>
            </a:endParaRPr>
          </a:p>
          <a:p>
            <a:pPr marL="327660" marR="280670" indent="-168275">
              <a:lnSpc>
                <a:spcPct val="100000"/>
              </a:lnSpc>
              <a:spcBef>
                <a:spcPts val="775"/>
              </a:spcBef>
              <a:buClr>
                <a:srgbClr val="007C00"/>
              </a:buClr>
              <a:buChar char="►"/>
              <a:tabLst>
                <a:tab pos="328295" algn="l"/>
              </a:tabLst>
            </a:pPr>
            <a:r>
              <a:rPr sz="1000" spc="-5" dirty="0">
                <a:solidFill>
                  <a:srgbClr val="FA0000"/>
                </a:solidFill>
                <a:latin typeface="Arial"/>
                <a:cs typeface="Arial"/>
              </a:rPr>
              <a:t>Computational</a:t>
            </a:r>
            <a:r>
              <a:rPr sz="1000" dirty="0">
                <a:solidFill>
                  <a:srgbClr val="FA0000"/>
                </a:solidFill>
                <a:latin typeface="Arial"/>
                <a:cs typeface="Arial"/>
              </a:rPr>
              <a:t> </a:t>
            </a:r>
            <a:r>
              <a:rPr sz="1000" spc="-5" dirty="0">
                <a:solidFill>
                  <a:srgbClr val="FA0000"/>
                </a:solidFill>
                <a:latin typeface="Arial"/>
                <a:cs typeface="Arial"/>
              </a:rPr>
              <a:t>grids</a:t>
            </a:r>
            <a:r>
              <a:rPr sz="1000" spc="-5" dirty="0">
                <a:latin typeface="Arial"/>
                <a:cs typeface="Arial"/>
              </a:rPr>
              <a:t>:</a:t>
            </a:r>
            <a:r>
              <a:rPr sz="1000" spc="65" dirty="0">
                <a:latin typeface="Arial"/>
                <a:cs typeface="Arial"/>
              </a:rPr>
              <a:t> </a:t>
            </a:r>
            <a:r>
              <a:rPr sz="1000" spc="-5" dirty="0">
                <a:latin typeface="Arial"/>
                <a:cs typeface="Arial"/>
              </a:rPr>
              <a:t>share</a:t>
            </a:r>
            <a:r>
              <a:rPr sz="1000" dirty="0">
                <a:latin typeface="Arial"/>
                <a:cs typeface="Arial"/>
              </a:rPr>
              <a:t> </a:t>
            </a:r>
            <a:r>
              <a:rPr sz="1000" spc="-10" dirty="0">
                <a:latin typeface="Arial"/>
                <a:cs typeface="Arial"/>
              </a:rPr>
              <a:t>expensive</a:t>
            </a:r>
            <a:r>
              <a:rPr sz="1000" dirty="0">
                <a:latin typeface="Arial"/>
                <a:cs typeface="Arial"/>
              </a:rPr>
              <a:t> </a:t>
            </a:r>
            <a:r>
              <a:rPr sz="1000" spc="-5" dirty="0">
                <a:latin typeface="Arial"/>
                <a:cs typeface="Arial"/>
              </a:rPr>
              <a:t>resources</a:t>
            </a:r>
            <a:r>
              <a:rPr sz="1000" dirty="0">
                <a:latin typeface="Arial"/>
                <a:cs typeface="Arial"/>
              </a:rPr>
              <a:t> </a:t>
            </a:r>
            <a:r>
              <a:rPr sz="1000" spc="-5" dirty="0">
                <a:latin typeface="Arial"/>
                <a:cs typeface="Arial"/>
              </a:rPr>
              <a:t>between </a:t>
            </a:r>
            <a:r>
              <a:rPr sz="1000" spc="-260" dirty="0">
                <a:latin typeface="Arial"/>
                <a:cs typeface="Arial"/>
              </a:rPr>
              <a:t> </a:t>
            </a:r>
            <a:r>
              <a:rPr sz="1000" spc="-5" dirty="0">
                <a:latin typeface="Arial"/>
                <a:cs typeface="Arial"/>
              </a:rPr>
              <a:t>different</a:t>
            </a:r>
            <a:r>
              <a:rPr sz="1000" spc="-10" dirty="0">
                <a:latin typeface="Arial"/>
                <a:cs typeface="Arial"/>
              </a:rPr>
              <a:t> </a:t>
            </a:r>
            <a:r>
              <a:rPr sz="1000" spc="-5" dirty="0">
                <a:latin typeface="Arial"/>
                <a:cs typeface="Arial"/>
              </a:rPr>
              <a:t>domains.</a:t>
            </a:r>
            <a:endParaRPr sz="1000" dirty="0">
              <a:latin typeface="Arial"/>
              <a:cs typeface="Arial"/>
            </a:endParaRPr>
          </a:p>
          <a:p>
            <a:pPr marL="327660" marR="30480" indent="-168275">
              <a:lnSpc>
                <a:spcPct val="100000"/>
              </a:lnSpc>
              <a:spcBef>
                <a:spcPts val="585"/>
              </a:spcBef>
              <a:buClr>
                <a:srgbClr val="007C00"/>
              </a:buClr>
              <a:buChar char="►"/>
              <a:tabLst>
                <a:tab pos="328295" algn="l"/>
              </a:tabLst>
            </a:pPr>
            <a:r>
              <a:rPr sz="1000" spc="-5" dirty="0">
                <a:solidFill>
                  <a:srgbClr val="FA0000"/>
                </a:solidFill>
                <a:latin typeface="Arial"/>
                <a:cs typeface="Arial"/>
              </a:rPr>
              <a:t>Shared equipment</a:t>
            </a:r>
            <a:r>
              <a:rPr sz="1000" spc="-5" dirty="0">
                <a:latin typeface="Arial"/>
                <a:cs typeface="Arial"/>
              </a:rPr>
              <a:t>:</a:t>
            </a:r>
            <a:r>
              <a:rPr sz="1000" spc="65" dirty="0">
                <a:latin typeface="Arial"/>
                <a:cs typeface="Arial"/>
              </a:rPr>
              <a:t> </a:t>
            </a:r>
            <a:r>
              <a:rPr sz="1000" spc="-10" dirty="0">
                <a:latin typeface="Arial"/>
                <a:cs typeface="Arial"/>
              </a:rPr>
              <a:t>how</a:t>
            </a:r>
            <a:r>
              <a:rPr sz="1000" dirty="0">
                <a:latin typeface="Arial"/>
                <a:cs typeface="Arial"/>
              </a:rPr>
              <a:t> </a:t>
            </a:r>
            <a:r>
              <a:rPr sz="1000" spc="-5" dirty="0">
                <a:latin typeface="Arial"/>
                <a:cs typeface="Arial"/>
              </a:rPr>
              <a:t>to control,</a:t>
            </a:r>
            <a:r>
              <a:rPr sz="1000" dirty="0">
                <a:latin typeface="Arial"/>
                <a:cs typeface="Arial"/>
              </a:rPr>
              <a:t> </a:t>
            </a:r>
            <a:r>
              <a:rPr sz="1000" spc="-5" dirty="0">
                <a:latin typeface="Arial"/>
                <a:cs typeface="Arial"/>
              </a:rPr>
              <a:t>manage,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use a</a:t>
            </a:r>
            <a:r>
              <a:rPr sz="1000" dirty="0">
                <a:latin typeface="Arial"/>
                <a:cs typeface="Arial"/>
              </a:rPr>
              <a:t> </a:t>
            </a:r>
            <a:r>
              <a:rPr sz="1000" spc="-5" dirty="0">
                <a:latin typeface="Arial"/>
                <a:cs typeface="Arial"/>
              </a:rPr>
              <a:t>shared </a:t>
            </a:r>
            <a:r>
              <a:rPr sz="1000" spc="-265" dirty="0">
                <a:latin typeface="Arial"/>
                <a:cs typeface="Arial"/>
              </a:rPr>
              <a:t> </a:t>
            </a:r>
            <a:r>
              <a:rPr sz="1000" spc="-5" dirty="0">
                <a:latin typeface="Arial"/>
                <a:cs typeface="Arial"/>
              </a:rPr>
              <a:t>radio telescope</a:t>
            </a:r>
            <a:r>
              <a:rPr sz="1000" dirty="0">
                <a:latin typeface="Arial"/>
                <a:cs typeface="Arial"/>
              </a:rPr>
              <a:t> </a:t>
            </a:r>
            <a:r>
              <a:rPr sz="1000" spc="-5" dirty="0">
                <a:latin typeface="Arial"/>
                <a:cs typeface="Arial"/>
              </a:rPr>
              <a:t>constructed</a:t>
            </a:r>
            <a:r>
              <a:rPr sz="1000"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large-scale</a:t>
            </a:r>
            <a:r>
              <a:rPr sz="1000" dirty="0">
                <a:latin typeface="Arial"/>
                <a:cs typeface="Arial"/>
              </a:rPr>
              <a:t> </a:t>
            </a:r>
            <a:r>
              <a:rPr sz="1000" spc="-5" dirty="0">
                <a:latin typeface="Arial"/>
                <a:cs typeface="Arial"/>
              </a:rPr>
              <a:t>shared</a:t>
            </a:r>
            <a:r>
              <a:rPr sz="1000" dirty="0">
                <a:latin typeface="Arial"/>
                <a:cs typeface="Arial"/>
              </a:rPr>
              <a:t> </a:t>
            </a:r>
            <a:r>
              <a:rPr sz="1000" spc="-5" dirty="0">
                <a:latin typeface="Arial"/>
                <a:cs typeface="Arial"/>
              </a:rPr>
              <a:t>sensor </a:t>
            </a:r>
            <a:r>
              <a:rPr sz="1000" dirty="0">
                <a:latin typeface="Arial"/>
                <a:cs typeface="Arial"/>
              </a:rPr>
              <a:t> </a:t>
            </a:r>
            <a:r>
              <a:rPr sz="1000" spc="-5" dirty="0">
                <a:latin typeface="Arial"/>
                <a:cs typeface="Arial"/>
              </a:rPr>
              <a:t>network?</a:t>
            </a:r>
            <a:endParaRPr sz="1000" dirty="0">
              <a:latin typeface="Arial"/>
              <a:cs typeface="Arial"/>
            </a:endParaRPr>
          </a:p>
          <a:p>
            <a:pPr>
              <a:lnSpc>
                <a:spcPct val="100000"/>
              </a:lnSpc>
              <a:spcBef>
                <a:spcPts val="40"/>
              </a:spcBef>
              <a:buFont typeface="Arial"/>
              <a:buChar char="►"/>
            </a:pPr>
            <a:endParaRPr sz="1050" dirty="0">
              <a:latin typeface="Arial"/>
              <a:cs typeface="Arial"/>
            </a:endParaRPr>
          </a:p>
          <a:p>
            <a:pPr marL="50800">
              <a:lnSpc>
                <a:spcPct val="100000"/>
              </a:lnSpc>
            </a:pPr>
            <a:r>
              <a:rPr sz="1200" spc="-5" dirty="0">
                <a:solidFill>
                  <a:srgbClr val="FA0000"/>
                </a:solidFill>
                <a:latin typeface="Arial"/>
                <a:cs typeface="Arial"/>
              </a:rPr>
              <a:t>Exception:</a:t>
            </a:r>
            <a:r>
              <a:rPr sz="1200" spc="70" dirty="0">
                <a:solidFill>
                  <a:srgbClr val="FA0000"/>
                </a:solidFill>
                <a:latin typeface="Arial"/>
                <a:cs typeface="Arial"/>
              </a:rPr>
              <a:t> </a:t>
            </a:r>
            <a:r>
              <a:rPr sz="1200" spc="-15" dirty="0">
                <a:solidFill>
                  <a:srgbClr val="FA0000"/>
                </a:solidFill>
                <a:latin typeface="Arial"/>
                <a:cs typeface="Arial"/>
              </a:rPr>
              <a:t>several</a:t>
            </a:r>
            <a:r>
              <a:rPr sz="1200" spc="-10" dirty="0">
                <a:solidFill>
                  <a:srgbClr val="FA0000"/>
                </a:solidFill>
                <a:latin typeface="Arial"/>
                <a:cs typeface="Arial"/>
              </a:rPr>
              <a:t> </a:t>
            </a:r>
            <a:r>
              <a:rPr sz="1200" spc="-5" dirty="0">
                <a:solidFill>
                  <a:srgbClr val="FA0000"/>
                </a:solidFill>
                <a:latin typeface="Arial"/>
                <a:cs typeface="Arial"/>
              </a:rPr>
              <a:t>peer-to-peer networks</a:t>
            </a:r>
            <a:endParaRPr sz="1200" dirty="0">
              <a:latin typeface="Arial"/>
              <a:cs typeface="Arial"/>
            </a:endParaRPr>
          </a:p>
          <a:p>
            <a:pPr marL="327660" indent="-168275">
              <a:lnSpc>
                <a:spcPts val="1200"/>
              </a:lnSpc>
              <a:spcBef>
                <a:spcPts val="770"/>
              </a:spcBef>
              <a:buClr>
                <a:srgbClr val="FA0000"/>
              </a:buClr>
              <a:buChar char="►"/>
              <a:tabLst>
                <a:tab pos="328295" algn="l"/>
              </a:tabLst>
            </a:pPr>
            <a:r>
              <a:rPr sz="1000" spc="-5" dirty="0">
                <a:latin typeface="Arial"/>
                <a:cs typeface="Arial"/>
              </a:rPr>
              <a:t>File-sharing systems</a:t>
            </a:r>
            <a:r>
              <a:rPr sz="1000" dirty="0">
                <a:latin typeface="Arial"/>
                <a:cs typeface="Arial"/>
              </a:rPr>
              <a:t> </a:t>
            </a:r>
            <a:r>
              <a:rPr sz="1000" spc="-5" dirty="0">
                <a:latin typeface="Arial"/>
                <a:cs typeface="Arial"/>
              </a:rPr>
              <a:t>(based,</a:t>
            </a:r>
            <a:r>
              <a:rPr sz="1000" dirty="0">
                <a:latin typeface="Arial"/>
                <a:cs typeface="Arial"/>
              </a:rPr>
              <a:t> </a:t>
            </a:r>
            <a:r>
              <a:rPr sz="1000" spc="-5" dirty="0">
                <a:latin typeface="Arial"/>
                <a:cs typeface="Arial"/>
              </a:rPr>
              <a:t>e.g.,</a:t>
            </a:r>
            <a:r>
              <a:rPr sz="1000" dirty="0">
                <a:latin typeface="Arial"/>
                <a:cs typeface="Arial"/>
              </a:rPr>
              <a:t> </a:t>
            </a:r>
            <a:r>
              <a:rPr sz="1000" spc="-5" dirty="0">
                <a:latin typeface="Arial"/>
                <a:cs typeface="Arial"/>
              </a:rPr>
              <a:t>on</a:t>
            </a:r>
            <a:r>
              <a:rPr sz="1000" dirty="0">
                <a:latin typeface="Arial"/>
                <a:cs typeface="Arial"/>
              </a:rPr>
              <a:t> </a:t>
            </a:r>
            <a:r>
              <a:rPr sz="1000" spc="-15" dirty="0">
                <a:latin typeface="Arial"/>
                <a:cs typeface="Arial"/>
              </a:rPr>
              <a:t>BitTorrent)</a:t>
            </a:r>
            <a:endParaRPr sz="1000" dirty="0">
              <a:latin typeface="Arial"/>
              <a:cs typeface="Arial"/>
            </a:endParaRPr>
          </a:p>
          <a:p>
            <a:pPr marL="327660" indent="-168275">
              <a:lnSpc>
                <a:spcPts val="1195"/>
              </a:lnSpc>
              <a:buClr>
                <a:srgbClr val="FA0000"/>
              </a:buClr>
              <a:buChar char="►"/>
              <a:tabLst>
                <a:tab pos="328295" algn="l"/>
              </a:tabLst>
            </a:pPr>
            <a:r>
              <a:rPr sz="1000" spc="-10" dirty="0">
                <a:latin typeface="Arial"/>
                <a:cs typeface="Arial"/>
              </a:rPr>
              <a:t>Peer-to-peer</a:t>
            </a:r>
            <a:r>
              <a:rPr sz="1000" spc="-15" dirty="0">
                <a:latin typeface="Arial"/>
                <a:cs typeface="Arial"/>
              </a:rPr>
              <a:t> </a:t>
            </a:r>
            <a:r>
              <a:rPr sz="1000" spc="-5" dirty="0">
                <a:latin typeface="Arial"/>
                <a:cs typeface="Arial"/>
              </a:rPr>
              <a:t>telephony</a:t>
            </a:r>
            <a:r>
              <a:rPr sz="1000" spc="-10" dirty="0">
                <a:latin typeface="Arial"/>
                <a:cs typeface="Arial"/>
              </a:rPr>
              <a:t> </a:t>
            </a:r>
            <a:r>
              <a:rPr sz="1000" spc="-5" dirty="0">
                <a:latin typeface="Arial"/>
                <a:cs typeface="Arial"/>
              </a:rPr>
              <a:t>(Skype)</a:t>
            </a:r>
            <a:endParaRPr sz="1000" dirty="0">
              <a:latin typeface="Arial"/>
              <a:cs typeface="Arial"/>
            </a:endParaRPr>
          </a:p>
          <a:p>
            <a:pPr marL="327660" indent="-168275">
              <a:lnSpc>
                <a:spcPts val="1200"/>
              </a:lnSpc>
              <a:buClr>
                <a:srgbClr val="FA0000"/>
              </a:buClr>
              <a:buChar char="►"/>
              <a:tabLst>
                <a:tab pos="328295" algn="l"/>
              </a:tabLst>
            </a:pPr>
            <a:r>
              <a:rPr sz="1000" spc="-10" dirty="0">
                <a:latin typeface="Arial"/>
                <a:cs typeface="Arial"/>
              </a:rPr>
              <a:t>Peer-assisted</a:t>
            </a:r>
            <a:r>
              <a:rPr sz="1000" dirty="0">
                <a:latin typeface="Arial"/>
                <a:cs typeface="Arial"/>
              </a:rPr>
              <a:t> </a:t>
            </a:r>
            <a:r>
              <a:rPr sz="1000" spc="-5" dirty="0">
                <a:latin typeface="Arial"/>
                <a:cs typeface="Arial"/>
              </a:rPr>
              <a:t>audio</a:t>
            </a:r>
            <a:r>
              <a:rPr sz="1000" dirty="0">
                <a:latin typeface="Arial"/>
                <a:cs typeface="Arial"/>
              </a:rPr>
              <a:t> </a:t>
            </a:r>
            <a:r>
              <a:rPr sz="1000" spc="-5" dirty="0">
                <a:latin typeface="Arial"/>
                <a:cs typeface="Arial"/>
              </a:rPr>
              <a:t>streaming</a:t>
            </a:r>
            <a:r>
              <a:rPr sz="1000" spc="5" dirty="0">
                <a:latin typeface="Arial"/>
                <a:cs typeface="Arial"/>
              </a:rPr>
              <a:t> </a:t>
            </a:r>
            <a:r>
              <a:rPr sz="1000" spc="-5" dirty="0">
                <a:latin typeface="Arial"/>
                <a:cs typeface="Arial"/>
              </a:rPr>
              <a:t>(Spotify)</a:t>
            </a:r>
            <a:endParaRPr sz="1000" dirty="0">
              <a:latin typeface="Arial"/>
              <a:cs typeface="Arial"/>
            </a:endParaRPr>
          </a:p>
          <a:p>
            <a:pPr marL="50800">
              <a:lnSpc>
                <a:spcPct val="100000"/>
              </a:lnSpc>
              <a:spcBef>
                <a:spcPts val="595"/>
              </a:spcBef>
            </a:pPr>
            <a:r>
              <a:rPr sz="1000" spc="-5" dirty="0">
                <a:latin typeface="Arial"/>
                <a:cs typeface="Arial"/>
              </a:rPr>
              <a:t>Note:</a:t>
            </a:r>
            <a:r>
              <a:rPr sz="1000" spc="60" dirty="0">
                <a:latin typeface="Arial"/>
                <a:cs typeface="Arial"/>
              </a:rPr>
              <a:t> </a:t>
            </a:r>
            <a:r>
              <a:rPr sz="1000" spc="-5" dirty="0">
                <a:solidFill>
                  <a:srgbClr val="0000FA"/>
                </a:solidFill>
                <a:latin typeface="Arial"/>
                <a:cs typeface="Arial"/>
              </a:rPr>
              <a:t>end</a:t>
            </a:r>
            <a:r>
              <a:rPr sz="1000" dirty="0">
                <a:solidFill>
                  <a:srgbClr val="0000FA"/>
                </a:solidFill>
                <a:latin typeface="Arial"/>
                <a:cs typeface="Arial"/>
              </a:rPr>
              <a:t> </a:t>
            </a:r>
            <a:r>
              <a:rPr sz="1000" spc="-5" dirty="0">
                <a:solidFill>
                  <a:srgbClr val="0000FA"/>
                </a:solidFill>
                <a:latin typeface="Arial"/>
                <a:cs typeface="Arial"/>
              </a:rPr>
              <a:t>users</a:t>
            </a:r>
            <a:r>
              <a:rPr sz="1000" dirty="0">
                <a:solidFill>
                  <a:srgbClr val="0000FA"/>
                </a:solidFill>
                <a:latin typeface="Arial"/>
                <a:cs typeface="Arial"/>
              </a:rPr>
              <a:t> </a:t>
            </a:r>
            <a:r>
              <a:rPr sz="1000" spc="-5" dirty="0">
                <a:latin typeface="Arial"/>
                <a:cs typeface="Arial"/>
              </a:rPr>
              <a:t>collaborate and</a:t>
            </a:r>
            <a:r>
              <a:rPr sz="1000" dirty="0">
                <a:latin typeface="Arial"/>
                <a:cs typeface="Arial"/>
              </a:rPr>
              <a:t> </a:t>
            </a:r>
            <a:r>
              <a:rPr sz="1000" spc="-5" dirty="0">
                <a:latin typeface="Arial"/>
                <a:cs typeface="Arial"/>
              </a:rPr>
              <a:t>not </a:t>
            </a:r>
            <a:r>
              <a:rPr sz="1000" spc="-5" dirty="0">
                <a:solidFill>
                  <a:srgbClr val="0000FA"/>
                </a:solidFill>
                <a:latin typeface="Arial"/>
                <a:cs typeface="Arial"/>
              </a:rPr>
              <a:t>administrative</a:t>
            </a:r>
            <a:r>
              <a:rPr sz="1000" dirty="0">
                <a:solidFill>
                  <a:srgbClr val="0000FA"/>
                </a:solidFill>
                <a:latin typeface="Arial"/>
                <a:cs typeface="Arial"/>
              </a:rPr>
              <a:t> </a:t>
            </a:r>
            <a:r>
              <a:rPr sz="1000" spc="-5" dirty="0">
                <a:solidFill>
                  <a:srgbClr val="0000FA"/>
                </a:solidFill>
                <a:latin typeface="Arial"/>
                <a:cs typeface="Arial"/>
              </a:rPr>
              <a:t>entities</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22</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95300" y="188846"/>
            <a:ext cx="18211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Techniques</a:t>
            </a:r>
            <a:r>
              <a:rPr sz="1400" spc="-35" dirty="0">
                <a:solidFill>
                  <a:srgbClr val="3333B2"/>
                </a:solidFill>
                <a:latin typeface="Arial"/>
                <a:cs typeface="Arial"/>
              </a:rPr>
              <a:t> </a:t>
            </a:r>
            <a:r>
              <a:rPr sz="1400" spc="-5" dirty="0">
                <a:solidFill>
                  <a:srgbClr val="3333B2"/>
                </a:solidFill>
                <a:latin typeface="Arial"/>
                <a:cs typeface="Arial"/>
              </a:rPr>
              <a:t>for</a:t>
            </a:r>
            <a:r>
              <a:rPr sz="1400" spc="-30" dirty="0">
                <a:solidFill>
                  <a:srgbClr val="3333B2"/>
                </a:solidFill>
                <a:latin typeface="Arial"/>
                <a:cs typeface="Arial"/>
              </a:rPr>
              <a:t> </a:t>
            </a:r>
            <a:r>
              <a:rPr sz="1400" spc="15" dirty="0">
                <a:solidFill>
                  <a:srgbClr val="3333B2"/>
                </a:solidFill>
                <a:latin typeface="Arial"/>
                <a:cs typeface="Arial"/>
              </a:rPr>
              <a:t>scaling</a:t>
            </a:r>
            <a:endParaRPr sz="1400">
              <a:latin typeface="Arial"/>
              <a:cs typeface="Arial"/>
            </a:endParaRPr>
          </a:p>
        </p:txBody>
      </p:sp>
      <p:sp>
        <p:nvSpPr>
          <p:cNvPr id="5" name="object 5"/>
          <p:cNvSpPr txBox="1"/>
          <p:nvPr/>
        </p:nvSpPr>
        <p:spPr>
          <a:xfrm>
            <a:off x="321894" y="1105018"/>
            <a:ext cx="2902585" cy="968375"/>
          </a:xfrm>
          <a:prstGeom prst="rect">
            <a:avLst/>
          </a:prstGeom>
        </p:spPr>
        <p:txBody>
          <a:bodyPr vert="horz" wrap="square" lIns="0" tIns="95250" rIns="0" bIns="0" rtlCol="0">
            <a:spAutoFit/>
          </a:bodyPr>
          <a:lstStyle/>
          <a:p>
            <a:pPr marL="38100">
              <a:lnSpc>
                <a:spcPct val="100000"/>
              </a:lnSpc>
              <a:spcBef>
                <a:spcPts val="750"/>
              </a:spcBef>
            </a:pPr>
            <a:r>
              <a:rPr sz="1200" spc="-5" dirty="0">
                <a:solidFill>
                  <a:srgbClr val="3333B2"/>
                </a:solidFill>
                <a:latin typeface="Arial"/>
                <a:cs typeface="Arial"/>
              </a:rPr>
              <a:t>Hide</a:t>
            </a:r>
            <a:r>
              <a:rPr sz="1200" spc="-20" dirty="0">
                <a:solidFill>
                  <a:srgbClr val="3333B2"/>
                </a:solidFill>
                <a:latin typeface="Arial"/>
                <a:cs typeface="Arial"/>
              </a:rPr>
              <a:t> </a:t>
            </a:r>
            <a:r>
              <a:rPr sz="1200" spc="-5" dirty="0">
                <a:solidFill>
                  <a:srgbClr val="3333B2"/>
                </a:solidFill>
                <a:latin typeface="Arial"/>
                <a:cs typeface="Arial"/>
              </a:rPr>
              <a:t>communication</a:t>
            </a:r>
            <a:r>
              <a:rPr sz="1200" spc="-20" dirty="0">
                <a:solidFill>
                  <a:srgbClr val="3333B2"/>
                </a:solidFill>
                <a:latin typeface="Arial"/>
                <a:cs typeface="Arial"/>
              </a:rPr>
              <a:t> </a:t>
            </a:r>
            <a:r>
              <a:rPr sz="1200" spc="-5" dirty="0">
                <a:solidFill>
                  <a:srgbClr val="3333B2"/>
                </a:solidFill>
                <a:latin typeface="Arial"/>
                <a:cs typeface="Arial"/>
              </a:rPr>
              <a:t>latencies</a:t>
            </a:r>
            <a:endParaRPr sz="1200">
              <a:latin typeface="Arial"/>
              <a:cs typeface="Arial"/>
            </a:endParaRPr>
          </a:p>
          <a:p>
            <a:pPr marL="314960" indent="-168275">
              <a:lnSpc>
                <a:spcPct val="100000"/>
              </a:lnSpc>
              <a:spcBef>
                <a:spcPts val="545"/>
              </a:spcBef>
              <a:buClr>
                <a:srgbClr val="3333B2"/>
              </a:buClr>
              <a:buChar char="►"/>
              <a:tabLst>
                <a:tab pos="315595" algn="l"/>
              </a:tabLst>
            </a:pPr>
            <a:r>
              <a:rPr sz="1000" spc="-10" dirty="0">
                <a:latin typeface="Arial"/>
                <a:cs typeface="Arial"/>
              </a:rPr>
              <a:t>Make </a:t>
            </a:r>
            <a:r>
              <a:rPr sz="1000" spc="-5" dirty="0">
                <a:latin typeface="Arial"/>
                <a:cs typeface="Arial"/>
              </a:rPr>
              <a:t>use of</a:t>
            </a:r>
            <a:r>
              <a:rPr sz="1000" spc="-10" dirty="0">
                <a:latin typeface="Arial"/>
                <a:cs typeface="Arial"/>
              </a:rPr>
              <a:t> </a:t>
            </a:r>
            <a:r>
              <a:rPr sz="1000" spc="-5" dirty="0">
                <a:solidFill>
                  <a:srgbClr val="0000FA"/>
                </a:solidFill>
                <a:latin typeface="Arial"/>
                <a:cs typeface="Arial"/>
              </a:rPr>
              <a:t>asynchronous communication</a:t>
            </a:r>
            <a:endParaRPr sz="1000">
              <a:latin typeface="Arial"/>
              <a:cs typeface="Arial"/>
            </a:endParaRPr>
          </a:p>
          <a:p>
            <a:pPr marL="314960" indent="-168275">
              <a:lnSpc>
                <a:spcPct val="100000"/>
              </a:lnSpc>
              <a:spcBef>
                <a:spcPts val="590"/>
              </a:spcBef>
              <a:buClr>
                <a:srgbClr val="3333B2"/>
              </a:buClr>
              <a:buChar char="►"/>
              <a:tabLst>
                <a:tab pos="315595" algn="l"/>
              </a:tabLst>
            </a:pPr>
            <a:r>
              <a:rPr sz="1000" spc="-15" dirty="0">
                <a:latin typeface="Arial"/>
                <a:cs typeface="Arial"/>
              </a:rPr>
              <a:t>Have</a:t>
            </a:r>
            <a:r>
              <a:rPr sz="1000" spc="-5" dirty="0">
                <a:latin typeface="Arial"/>
                <a:cs typeface="Arial"/>
              </a:rPr>
              <a:t> separate handler </a:t>
            </a:r>
            <a:r>
              <a:rPr sz="1000" spc="-15" dirty="0">
                <a:latin typeface="Arial"/>
                <a:cs typeface="Arial"/>
              </a:rPr>
              <a:t>for</a:t>
            </a:r>
            <a:r>
              <a:rPr sz="1000" spc="-5" dirty="0">
                <a:latin typeface="Arial"/>
                <a:cs typeface="Arial"/>
              </a:rPr>
              <a:t> incoming response</a:t>
            </a:r>
            <a:endParaRPr sz="1000">
              <a:latin typeface="Arial"/>
              <a:cs typeface="Arial"/>
            </a:endParaRPr>
          </a:p>
          <a:p>
            <a:pPr marL="314960" indent="-168275">
              <a:lnSpc>
                <a:spcPct val="100000"/>
              </a:lnSpc>
              <a:spcBef>
                <a:spcPts val="595"/>
              </a:spcBef>
              <a:buClr>
                <a:srgbClr val="3333B2"/>
              </a:buClr>
              <a:buChar char="►"/>
              <a:tabLst>
                <a:tab pos="315595" algn="l"/>
              </a:tabLst>
            </a:pPr>
            <a:r>
              <a:rPr sz="1000" spc="-5" dirty="0">
                <a:solidFill>
                  <a:srgbClr val="0000FA"/>
                </a:solidFill>
                <a:latin typeface="Arial"/>
                <a:cs typeface="Arial"/>
              </a:rPr>
              <a:t>Problem:</a:t>
            </a:r>
            <a:r>
              <a:rPr sz="1000" spc="60" dirty="0">
                <a:solidFill>
                  <a:srgbClr val="0000FA"/>
                </a:solidFill>
                <a:latin typeface="Arial"/>
                <a:cs typeface="Arial"/>
              </a:rPr>
              <a:t> </a:t>
            </a:r>
            <a:r>
              <a:rPr sz="1000" spc="-5" dirty="0">
                <a:latin typeface="Arial"/>
                <a:cs typeface="Arial"/>
              </a:rPr>
              <a:t>not </a:t>
            </a:r>
            <a:r>
              <a:rPr sz="1000" spc="-10" dirty="0">
                <a:latin typeface="Arial"/>
                <a:cs typeface="Arial"/>
              </a:rPr>
              <a:t>every</a:t>
            </a:r>
            <a:r>
              <a:rPr sz="1000" spc="-5" dirty="0">
                <a:latin typeface="Arial"/>
                <a:cs typeface="Arial"/>
              </a:rPr>
              <a:t> application fits this model</a:t>
            </a:r>
            <a:endParaRPr sz="10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Being scala</a:t>
            </a:r>
            <a:r>
              <a:rPr sz="600" spc="-20" dirty="0">
                <a:solidFill>
                  <a:srgbClr val="262685"/>
                </a:solidFill>
                <a:latin typeface="Arial"/>
                <a:cs typeface="Arial"/>
                <a:hlinkClick r:id="rId5" action="ppaction://hlinksldjump"/>
              </a:rPr>
              <a:t>b</a:t>
            </a:r>
            <a:r>
              <a:rPr sz="600" spc="-5" dirty="0">
                <a:solidFill>
                  <a:srgbClr val="262685"/>
                </a:solidFill>
                <a:latin typeface="Arial"/>
                <a:cs typeface="Arial"/>
                <a:hlinkClick r:id="rId5" action="ppaction://hlinksldjump"/>
              </a:rPr>
              <a:t>le</a:t>
            </a:r>
            <a:endParaRPr sz="600">
              <a:latin typeface="Arial"/>
              <a:cs typeface="Arial"/>
            </a:endParaRPr>
          </a:p>
        </p:txBody>
      </p:sp>
      <p:sp>
        <p:nvSpPr>
          <p:cNvPr id="4" name="object 4"/>
          <p:cNvSpPr txBox="1"/>
          <p:nvPr/>
        </p:nvSpPr>
        <p:spPr>
          <a:xfrm>
            <a:off x="95300" y="188846"/>
            <a:ext cx="3682365" cy="570230"/>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Techniques</a:t>
            </a:r>
            <a:r>
              <a:rPr sz="1400" spc="-25" dirty="0">
                <a:solidFill>
                  <a:srgbClr val="3333B2"/>
                </a:solidFill>
                <a:latin typeface="Arial"/>
                <a:cs typeface="Arial"/>
              </a:rPr>
              <a:t> </a:t>
            </a:r>
            <a:r>
              <a:rPr sz="1400" spc="-5" dirty="0">
                <a:solidFill>
                  <a:srgbClr val="3333B2"/>
                </a:solidFill>
                <a:latin typeface="Arial"/>
                <a:cs typeface="Arial"/>
              </a:rPr>
              <a:t>for</a:t>
            </a:r>
            <a:r>
              <a:rPr sz="1400" spc="-20" dirty="0">
                <a:solidFill>
                  <a:srgbClr val="3333B2"/>
                </a:solidFill>
                <a:latin typeface="Arial"/>
                <a:cs typeface="Arial"/>
              </a:rPr>
              <a:t> </a:t>
            </a:r>
            <a:r>
              <a:rPr sz="1400" spc="15" dirty="0">
                <a:solidFill>
                  <a:srgbClr val="3333B2"/>
                </a:solidFill>
                <a:latin typeface="Arial"/>
                <a:cs typeface="Arial"/>
              </a:rPr>
              <a:t>scaling</a:t>
            </a:r>
            <a:endParaRPr sz="1400">
              <a:latin typeface="Arial"/>
              <a:cs typeface="Arial"/>
            </a:endParaRPr>
          </a:p>
          <a:p>
            <a:pPr marL="264160">
              <a:lnSpc>
                <a:spcPct val="100000"/>
              </a:lnSpc>
              <a:spcBef>
                <a:spcPts val="1130"/>
              </a:spcBef>
            </a:pPr>
            <a:r>
              <a:rPr sz="1200" spc="-10" dirty="0">
                <a:solidFill>
                  <a:srgbClr val="3333B2"/>
                </a:solidFill>
                <a:latin typeface="Arial"/>
                <a:cs typeface="Arial"/>
              </a:rPr>
              <a:t>Facilitate</a:t>
            </a:r>
            <a:r>
              <a:rPr sz="1200" spc="-5" dirty="0">
                <a:solidFill>
                  <a:srgbClr val="3333B2"/>
                </a:solidFill>
                <a:latin typeface="Arial"/>
                <a:cs typeface="Arial"/>
              </a:rPr>
              <a:t> solution</a:t>
            </a:r>
            <a:r>
              <a:rPr sz="1200" dirty="0">
                <a:solidFill>
                  <a:srgbClr val="3333B2"/>
                </a:solidFill>
                <a:latin typeface="Arial"/>
                <a:cs typeface="Arial"/>
              </a:rPr>
              <a:t> </a:t>
            </a:r>
            <a:r>
              <a:rPr sz="1200" spc="-15" dirty="0">
                <a:solidFill>
                  <a:srgbClr val="3333B2"/>
                </a:solidFill>
                <a:latin typeface="Arial"/>
                <a:cs typeface="Arial"/>
              </a:rPr>
              <a:t>by</a:t>
            </a:r>
            <a:r>
              <a:rPr sz="1200" dirty="0">
                <a:solidFill>
                  <a:srgbClr val="3333B2"/>
                </a:solidFill>
                <a:latin typeface="Arial"/>
                <a:cs typeface="Arial"/>
              </a:rPr>
              <a:t> </a:t>
            </a:r>
            <a:r>
              <a:rPr sz="1200" spc="-10" dirty="0">
                <a:solidFill>
                  <a:srgbClr val="3333B2"/>
                </a:solidFill>
                <a:latin typeface="Arial"/>
                <a:cs typeface="Arial"/>
              </a:rPr>
              <a:t>moving</a:t>
            </a:r>
            <a:r>
              <a:rPr sz="1200" dirty="0">
                <a:solidFill>
                  <a:srgbClr val="3333B2"/>
                </a:solidFill>
                <a:latin typeface="Arial"/>
                <a:cs typeface="Arial"/>
              </a:rPr>
              <a:t> </a:t>
            </a:r>
            <a:r>
              <a:rPr sz="1200" spc="-5" dirty="0">
                <a:solidFill>
                  <a:srgbClr val="3333B2"/>
                </a:solidFill>
                <a:latin typeface="Arial"/>
                <a:cs typeface="Arial"/>
              </a:rPr>
              <a:t>computations</a:t>
            </a:r>
            <a:r>
              <a:rPr sz="1200" dirty="0">
                <a:solidFill>
                  <a:srgbClr val="3333B2"/>
                </a:solidFill>
                <a:latin typeface="Arial"/>
                <a:cs typeface="Arial"/>
              </a:rPr>
              <a:t> </a:t>
            </a:r>
            <a:r>
              <a:rPr sz="1200" spc="-5" dirty="0">
                <a:solidFill>
                  <a:srgbClr val="3333B2"/>
                </a:solidFill>
                <a:latin typeface="Arial"/>
                <a:cs typeface="Arial"/>
              </a:rPr>
              <a:t>to</a:t>
            </a:r>
            <a:r>
              <a:rPr sz="1200" dirty="0">
                <a:solidFill>
                  <a:srgbClr val="3333B2"/>
                </a:solidFill>
                <a:latin typeface="Arial"/>
                <a:cs typeface="Arial"/>
              </a:rPr>
              <a:t> </a:t>
            </a:r>
            <a:r>
              <a:rPr sz="1200" spc="-5" dirty="0">
                <a:solidFill>
                  <a:srgbClr val="3333B2"/>
                </a:solidFill>
                <a:latin typeface="Arial"/>
                <a:cs typeface="Arial"/>
              </a:rPr>
              <a:t>client</a:t>
            </a:r>
            <a:endParaRPr sz="1200">
              <a:latin typeface="Arial"/>
              <a:cs typeface="Arial"/>
            </a:endParaRPr>
          </a:p>
        </p:txBody>
      </p:sp>
      <p:grpSp>
        <p:nvGrpSpPr>
          <p:cNvPr id="5" name="object 5"/>
          <p:cNvGrpSpPr/>
          <p:nvPr/>
        </p:nvGrpSpPr>
        <p:grpSpPr>
          <a:xfrm>
            <a:off x="360368" y="1148181"/>
            <a:ext cx="3895090" cy="653415"/>
            <a:chOff x="360368" y="1148181"/>
            <a:chExt cx="3895090" cy="653415"/>
          </a:xfrm>
        </p:grpSpPr>
        <p:sp>
          <p:nvSpPr>
            <p:cNvPr id="6" name="object 6"/>
            <p:cNvSpPr/>
            <p:nvPr/>
          </p:nvSpPr>
          <p:spPr>
            <a:xfrm>
              <a:off x="3119543" y="1153452"/>
              <a:ext cx="1130935" cy="598170"/>
            </a:xfrm>
            <a:custGeom>
              <a:avLst/>
              <a:gdLst/>
              <a:ahLst/>
              <a:cxnLst/>
              <a:rect l="l" t="t" r="r" b="b"/>
              <a:pathLst>
                <a:path w="1130935" h="598169">
                  <a:moveTo>
                    <a:pt x="1130480" y="0"/>
                  </a:moveTo>
                  <a:lnTo>
                    <a:pt x="0" y="0"/>
                  </a:lnTo>
                  <a:lnTo>
                    <a:pt x="0" y="597600"/>
                  </a:lnTo>
                  <a:lnTo>
                    <a:pt x="1130480" y="597600"/>
                  </a:lnTo>
                  <a:lnTo>
                    <a:pt x="1130480" y="0"/>
                  </a:lnTo>
                  <a:close/>
                </a:path>
              </a:pathLst>
            </a:custGeom>
            <a:solidFill>
              <a:srgbClr val="E6E7E8"/>
            </a:solidFill>
          </p:spPr>
          <p:txBody>
            <a:bodyPr wrap="square" lIns="0" tIns="0" rIns="0" bIns="0" rtlCol="0"/>
            <a:lstStyle/>
            <a:p>
              <a:endParaRPr/>
            </a:p>
          </p:txBody>
        </p:sp>
        <p:sp>
          <p:nvSpPr>
            <p:cNvPr id="7" name="object 7"/>
            <p:cNvSpPr/>
            <p:nvPr/>
          </p:nvSpPr>
          <p:spPr>
            <a:xfrm>
              <a:off x="3119543" y="1153452"/>
              <a:ext cx="1130935" cy="598170"/>
            </a:xfrm>
            <a:custGeom>
              <a:avLst/>
              <a:gdLst/>
              <a:ahLst/>
              <a:cxnLst/>
              <a:rect l="l" t="t" r="r" b="b"/>
              <a:pathLst>
                <a:path w="1130935" h="598169">
                  <a:moveTo>
                    <a:pt x="0" y="597600"/>
                  </a:moveTo>
                  <a:lnTo>
                    <a:pt x="1130480" y="597600"/>
                  </a:lnTo>
                  <a:lnTo>
                    <a:pt x="1130480" y="0"/>
                  </a:lnTo>
                  <a:lnTo>
                    <a:pt x="0" y="0"/>
                  </a:lnTo>
                  <a:lnTo>
                    <a:pt x="0" y="597600"/>
                  </a:lnTo>
                  <a:close/>
                </a:path>
              </a:pathLst>
            </a:custGeom>
            <a:ln w="10541">
              <a:solidFill>
                <a:srgbClr val="231F20"/>
              </a:solidFill>
            </a:ln>
          </p:spPr>
          <p:txBody>
            <a:bodyPr wrap="square" lIns="0" tIns="0" rIns="0" bIns="0" rtlCol="0"/>
            <a:lstStyle/>
            <a:p>
              <a:endParaRPr/>
            </a:p>
          </p:txBody>
        </p:sp>
        <p:sp>
          <p:nvSpPr>
            <p:cNvPr id="8" name="object 8"/>
            <p:cNvSpPr/>
            <p:nvPr/>
          </p:nvSpPr>
          <p:spPr>
            <a:xfrm>
              <a:off x="3168696" y="1246872"/>
              <a:ext cx="295275" cy="424815"/>
            </a:xfrm>
            <a:custGeom>
              <a:avLst/>
              <a:gdLst/>
              <a:ahLst/>
              <a:cxnLst/>
              <a:rect l="l" t="t" r="r" b="b"/>
              <a:pathLst>
                <a:path w="295275" h="424814">
                  <a:moveTo>
                    <a:pt x="294917" y="0"/>
                  </a:moveTo>
                  <a:lnTo>
                    <a:pt x="0" y="0"/>
                  </a:lnTo>
                  <a:lnTo>
                    <a:pt x="0" y="424296"/>
                  </a:lnTo>
                  <a:lnTo>
                    <a:pt x="294917" y="424296"/>
                  </a:lnTo>
                  <a:lnTo>
                    <a:pt x="294917" y="0"/>
                  </a:lnTo>
                  <a:close/>
                </a:path>
              </a:pathLst>
            </a:custGeom>
            <a:solidFill>
              <a:srgbClr val="FFFFFF"/>
            </a:solidFill>
          </p:spPr>
          <p:txBody>
            <a:bodyPr wrap="square" lIns="0" tIns="0" rIns="0" bIns="0" rtlCol="0"/>
            <a:lstStyle/>
            <a:p>
              <a:endParaRPr/>
            </a:p>
          </p:txBody>
        </p:sp>
        <p:sp>
          <p:nvSpPr>
            <p:cNvPr id="9" name="object 9"/>
            <p:cNvSpPr/>
            <p:nvPr/>
          </p:nvSpPr>
          <p:spPr>
            <a:xfrm>
              <a:off x="3168696" y="1246872"/>
              <a:ext cx="295275" cy="424815"/>
            </a:xfrm>
            <a:custGeom>
              <a:avLst/>
              <a:gdLst/>
              <a:ahLst/>
              <a:cxnLst/>
              <a:rect l="l" t="t" r="r" b="b"/>
              <a:pathLst>
                <a:path w="295275" h="424814">
                  <a:moveTo>
                    <a:pt x="0" y="424296"/>
                  </a:moveTo>
                  <a:lnTo>
                    <a:pt x="294917" y="424296"/>
                  </a:lnTo>
                  <a:lnTo>
                    <a:pt x="294917" y="0"/>
                  </a:lnTo>
                  <a:lnTo>
                    <a:pt x="0" y="0"/>
                  </a:lnTo>
                  <a:lnTo>
                    <a:pt x="0" y="424296"/>
                  </a:lnTo>
                  <a:close/>
                </a:path>
              </a:pathLst>
            </a:custGeom>
            <a:ln w="5270">
              <a:solidFill>
                <a:srgbClr val="231F20"/>
              </a:solidFill>
            </a:ln>
          </p:spPr>
          <p:txBody>
            <a:bodyPr wrap="square" lIns="0" tIns="0" rIns="0" bIns="0" rtlCol="0"/>
            <a:lstStyle/>
            <a:p>
              <a:endParaRPr/>
            </a:p>
          </p:txBody>
        </p:sp>
        <p:sp>
          <p:nvSpPr>
            <p:cNvPr id="10" name="object 10"/>
            <p:cNvSpPr/>
            <p:nvPr/>
          </p:nvSpPr>
          <p:spPr>
            <a:xfrm>
              <a:off x="3709365" y="1246872"/>
              <a:ext cx="492125" cy="424815"/>
            </a:xfrm>
            <a:custGeom>
              <a:avLst/>
              <a:gdLst/>
              <a:ahLst/>
              <a:cxnLst/>
              <a:rect l="l" t="t" r="r" b="b"/>
              <a:pathLst>
                <a:path w="492125" h="424814">
                  <a:moveTo>
                    <a:pt x="491515" y="0"/>
                  </a:moveTo>
                  <a:lnTo>
                    <a:pt x="0" y="0"/>
                  </a:lnTo>
                  <a:lnTo>
                    <a:pt x="0" y="424296"/>
                  </a:lnTo>
                  <a:lnTo>
                    <a:pt x="491515" y="424296"/>
                  </a:lnTo>
                  <a:lnTo>
                    <a:pt x="491515" y="0"/>
                  </a:lnTo>
                  <a:close/>
                </a:path>
              </a:pathLst>
            </a:custGeom>
            <a:solidFill>
              <a:srgbClr val="FFFFFF"/>
            </a:solidFill>
          </p:spPr>
          <p:txBody>
            <a:bodyPr wrap="square" lIns="0" tIns="0" rIns="0" bIns="0" rtlCol="0"/>
            <a:lstStyle/>
            <a:p>
              <a:endParaRPr/>
            </a:p>
          </p:txBody>
        </p:sp>
        <p:sp>
          <p:nvSpPr>
            <p:cNvPr id="11" name="object 11"/>
            <p:cNvSpPr/>
            <p:nvPr/>
          </p:nvSpPr>
          <p:spPr>
            <a:xfrm>
              <a:off x="3463612" y="1246872"/>
              <a:ext cx="737870" cy="424815"/>
            </a:xfrm>
            <a:custGeom>
              <a:avLst/>
              <a:gdLst/>
              <a:ahLst/>
              <a:cxnLst/>
              <a:rect l="l" t="t" r="r" b="b"/>
              <a:pathLst>
                <a:path w="737870" h="424814">
                  <a:moveTo>
                    <a:pt x="245752" y="424296"/>
                  </a:moveTo>
                  <a:lnTo>
                    <a:pt x="737268" y="424296"/>
                  </a:lnTo>
                  <a:lnTo>
                    <a:pt x="737268" y="0"/>
                  </a:lnTo>
                  <a:lnTo>
                    <a:pt x="245752" y="0"/>
                  </a:lnTo>
                  <a:lnTo>
                    <a:pt x="245752" y="424296"/>
                  </a:lnTo>
                  <a:close/>
                </a:path>
                <a:path w="737870" h="424814">
                  <a:moveTo>
                    <a:pt x="0" y="212146"/>
                  </a:moveTo>
                  <a:lnTo>
                    <a:pt x="208374" y="212146"/>
                  </a:lnTo>
                </a:path>
              </a:pathLst>
            </a:custGeom>
            <a:ln w="5270">
              <a:solidFill>
                <a:srgbClr val="231F20"/>
              </a:solidFill>
            </a:ln>
          </p:spPr>
          <p:txBody>
            <a:bodyPr wrap="square" lIns="0" tIns="0" rIns="0" bIns="0" rtlCol="0"/>
            <a:lstStyle/>
            <a:p>
              <a:endParaRPr/>
            </a:p>
          </p:txBody>
        </p:sp>
        <p:sp>
          <p:nvSpPr>
            <p:cNvPr id="12" name="object 12"/>
            <p:cNvSpPr/>
            <p:nvPr/>
          </p:nvSpPr>
          <p:spPr>
            <a:xfrm>
              <a:off x="3634988" y="1427144"/>
              <a:ext cx="74930" cy="64135"/>
            </a:xfrm>
            <a:custGeom>
              <a:avLst/>
              <a:gdLst/>
              <a:ahLst/>
              <a:cxnLst/>
              <a:rect l="l" t="t" r="r" b="b"/>
              <a:pathLst>
                <a:path w="74929" h="64134">
                  <a:moveTo>
                    <a:pt x="0" y="0"/>
                  </a:moveTo>
                  <a:lnTo>
                    <a:pt x="5976" y="15937"/>
                  </a:lnTo>
                  <a:lnTo>
                    <a:pt x="7968" y="31875"/>
                  </a:lnTo>
                  <a:lnTo>
                    <a:pt x="5976" y="47813"/>
                  </a:lnTo>
                  <a:lnTo>
                    <a:pt x="0" y="63751"/>
                  </a:lnTo>
                  <a:lnTo>
                    <a:pt x="74377" y="31873"/>
                  </a:lnTo>
                  <a:lnTo>
                    <a:pt x="0" y="0"/>
                  </a:lnTo>
                  <a:close/>
                </a:path>
              </a:pathLst>
            </a:custGeom>
            <a:solidFill>
              <a:srgbClr val="231F20"/>
            </a:solidFill>
          </p:spPr>
          <p:txBody>
            <a:bodyPr wrap="square" lIns="0" tIns="0" rIns="0" bIns="0" rtlCol="0"/>
            <a:lstStyle/>
            <a:p>
              <a:endParaRPr/>
            </a:p>
          </p:txBody>
        </p:sp>
        <p:pic>
          <p:nvPicPr>
            <p:cNvPr id="13" name="object 13"/>
            <p:cNvPicPr/>
            <p:nvPr/>
          </p:nvPicPr>
          <p:blipFill>
            <a:blip r:embed="rId6" cstate="print"/>
            <a:stretch>
              <a:fillRect/>
            </a:stretch>
          </p:blipFill>
          <p:spPr>
            <a:xfrm>
              <a:off x="3239795" y="1671168"/>
              <a:ext cx="76359" cy="129922"/>
            </a:xfrm>
            <a:prstGeom prst="rect">
              <a:avLst/>
            </a:prstGeom>
          </p:spPr>
        </p:pic>
        <p:sp>
          <p:nvSpPr>
            <p:cNvPr id="14" name="object 14"/>
            <p:cNvSpPr/>
            <p:nvPr/>
          </p:nvSpPr>
          <p:spPr>
            <a:xfrm>
              <a:off x="3919436" y="1706036"/>
              <a:ext cx="36195" cy="92710"/>
            </a:xfrm>
            <a:custGeom>
              <a:avLst/>
              <a:gdLst/>
              <a:ahLst/>
              <a:cxnLst/>
              <a:rect l="l" t="t" r="r" b="b"/>
              <a:pathLst>
                <a:path w="36195" h="92710">
                  <a:moveTo>
                    <a:pt x="35681" y="92419"/>
                  </a:moveTo>
                  <a:lnTo>
                    <a:pt x="0" y="0"/>
                  </a:lnTo>
                </a:path>
              </a:pathLst>
            </a:custGeom>
            <a:ln w="5270">
              <a:solidFill>
                <a:srgbClr val="231F20"/>
              </a:solidFill>
            </a:ln>
          </p:spPr>
          <p:txBody>
            <a:bodyPr wrap="square" lIns="0" tIns="0" rIns="0" bIns="0" rtlCol="0"/>
            <a:lstStyle/>
            <a:p>
              <a:endParaRPr/>
            </a:p>
          </p:txBody>
        </p:sp>
        <p:sp>
          <p:nvSpPr>
            <p:cNvPr id="15" name="object 15"/>
            <p:cNvSpPr/>
            <p:nvPr/>
          </p:nvSpPr>
          <p:spPr>
            <a:xfrm>
              <a:off x="3903024" y="1671168"/>
              <a:ext cx="59690" cy="81280"/>
            </a:xfrm>
            <a:custGeom>
              <a:avLst/>
              <a:gdLst/>
              <a:ahLst/>
              <a:cxnLst/>
              <a:rect l="l" t="t" r="r" b="b"/>
              <a:pathLst>
                <a:path w="59689" h="81280">
                  <a:moveTo>
                    <a:pt x="2940" y="0"/>
                  </a:moveTo>
                  <a:lnTo>
                    <a:pt x="0" y="80864"/>
                  </a:lnTo>
                  <a:lnTo>
                    <a:pt x="12718" y="69548"/>
                  </a:lnTo>
                  <a:lnTo>
                    <a:pt x="26870" y="61949"/>
                  </a:lnTo>
                  <a:lnTo>
                    <a:pt x="42455" y="58066"/>
                  </a:lnTo>
                  <a:lnTo>
                    <a:pt x="59472" y="57900"/>
                  </a:lnTo>
                  <a:lnTo>
                    <a:pt x="2940" y="0"/>
                  </a:lnTo>
                  <a:close/>
                </a:path>
              </a:pathLst>
            </a:custGeom>
            <a:solidFill>
              <a:srgbClr val="231F20"/>
            </a:solidFill>
          </p:spPr>
          <p:txBody>
            <a:bodyPr wrap="square" lIns="0" tIns="0" rIns="0" bIns="0" rtlCol="0"/>
            <a:lstStyle/>
            <a:p>
              <a:endParaRPr/>
            </a:p>
          </p:txBody>
        </p:sp>
        <p:sp>
          <p:nvSpPr>
            <p:cNvPr id="16" name="object 16"/>
            <p:cNvSpPr/>
            <p:nvPr/>
          </p:nvSpPr>
          <p:spPr>
            <a:xfrm>
              <a:off x="365639" y="1153452"/>
              <a:ext cx="1489075" cy="601980"/>
            </a:xfrm>
            <a:custGeom>
              <a:avLst/>
              <a:gdLst/>
              <a:ahLst/>
              <a:cxnLst/>
              <a:rect l="l" t="t" r="r" b="b"/>
              <a:pathLst>
                <a:path w="1489075" h="601980">
                  <a:moveTo>
                    <a:pt x="1488515" y="0"/>
                  </a:moveTo>
                  <a:lnTo>
                    <a:pt x="0" y="0"/>
                  </a:lnTo>
                  <a:lnTo>
                    <a:pt x="0" y="601862"/>
                  </a:lnTo>
                  <a:lnTo>
                    <a:pt x="1488515" y="601862"/>
                  </a:lnTo>
                  <a:lnTo>
                    <a:pt x="1488515" y="0"/>
                  </a:lnTo>
                  <a:close/>
                </a:path>
              </a:pathLst>
            </a:custGeom>
            <a:solidFill>
              <a:srgbClr val="E6E7E8"/>
            </a:solidFill>
          </p:spPr>
          <p:txBody>
            <a:bodyPr wrap="square" lIns="0" tIns="0" rIns="0" bIns="0" rtlCol="0"/>
            <a:lstStyle/>
            <a:p>
              <a:endParaRPr/>
            </a:p>
          </p:txBody>
        </p:sp>
        <p:sp>
          <p:nvSpPr>
            <p:cNvPr id="17" name="object 17"/>
            <p:cNvSpPr/>
            <p:nvPr/>
          </p:nvSpPr>
          <p:spPr>
            <a:xfrm>
              <a:off x="365639" y="1153452"/>
              <a:ext cx="1489075" cy="601980"/>
            </a:xfrm>
            <a:custGeom>
              <a:avLst/>
              <a:gdLst/>
              <a:ahLst/>
              <a:cxnLst/>
              <a:rect l="l" t="t" r="r" b="b"/>
              <a:pathLst>
                <a:path w="1489075" h="601980">
                  <a:moveTo>
                    <a:pt x="0" y="601862"/>
                  </a:moveTo>
                  <a:lnTo>
                    <a:pt x="1488515" y="601862"/>
                  </a:lnTo>
                  <a:lnTo>
                    <a:pt x="1488515" y="0"/>
                  </a:lnTo>
                  <a:lnTo>
                    <a:pt x="0" y="0"/>
                  </a:lnTo>
                  <a:lnTo>
                    <a:pt x="0" y="601862"/>
                  </a:lnTo>
                  <a:close/>
                </a:path>
              </a:pathLst>
            </a:custGeom>
            <a:ln w="10541">
              <a:solidFill>
                <a:srgbClr val="231F20"/>
              </a:solidFill>
            </a:ln>
          </p:spPr>
          <p:txBody>
            <a:bodyPr wrap="square" lIns="0" tIns="0" rIns="0" bIns="0" rtlCol="0"/>
            <a:lstStyle/>
            <a:p>
              <a:endParaRPr/>
            </a:p>
          </p:txBody>
        </p:sp>
        <p:sp>
          <p:nvSpPr>
            <p:cNvPr id="18" name="object 18"/>
            <p:cNvSpPr/>
            <p:nvPr/>
          </p:nvSpPr>
          <p:spPr>
            <a:xfrm>
              <a:off x="1919398" y="1194690"/>
              <a:ext cx="835660" cy="466725"/>
            </a:xfrm>
            <a:custGeom>
              <a:avLst/>
              <a:gdLst/>
              <a:ahLst/>
              <a:cxnLst/>
              <a:rect l="l" t="t" r="r" b="b"/>
              <a:pathLst>
                <a:path w="835660" h="466725">
                  <a:moveTo>
                    <a:pt x="737269" y="84859"/>
                  </a:moveTo>
                  <a:lnTo>
                    <a:pt x="835572" y="84859"/>
                  </a:lnTo>
                  <a:lnTo>
                    <a:pt x="835572" y="0"/>
                  </a:lnTo>
                  <a:lnTo>
                    <a:pt x="737269" y="0"/>
                  </a:lnTo>
                  <a:lnTo>
                    <a:pt x="737269" y="84859"/>
                  </a:lnTo>
                  <a:close/>
                </a:path>
                <a:path w="835660" h="466725">
                  <a:moveTo>
                    <a:pt x="614392" y="148500"/>
                  </a:moveTo>
                  <a:lnTo>
                    <a:pt x="712695" y="148500"/>
                  </a:lnTo>
                  <a:lnTo>
                    <a:pt x="712695" y="63641"/>
                  </a:lnTo>
                  <a:lnTo>
                    <a:pt x="614392" y="63641"/>
                  </a:lnTo>
                  <a:lnTo>
                    <a:pt x="614392" y="148500"/>
                  </a:lnTo>
                  <a:close/>
                </a:path>
                <a:path w="835660" h="466725">
                  <a:moveTo>
                    <a:pt x="491516" y="212145"/>
                  </a:moveTo>
                  <a:lnTo>
                    <a:pt x="589819" y="212145"/>
                  </a:lnTo>
                  <a:lnTo>
                    <a:pt x="589819" y="127286"/>
                  </a:lnTo>
                  <a:lnTo>
                    <a:pt x="491516" y="127286"/>
                  </a:lnTo>
                  <a:lnTo>
                    <a:pt x="491516" y="212145"/>
                  </a:lnTo>
                  <a:close/>
                </a:path>
                <a:path w="835660" h="466725">
                  <a:moveTo>
                    <a:pt x="368639" y="275791"/>
                  </a:moveTo>
                  <a:lnTo>
                    <a:pt x="466942" y="275791"/>
                  </a:lnTo>
                  <a:lnTo>
                    <a:pt x="466942" y="190932"/>
                  </a:lnTo>
                  <a:lnTo>
                    <a:pt x="368639" y="190932"/>
                  </a:lnTo>
                  <a:lnTo>
                    <a:pt x="368639" y="275791"/>
                  </a:lnTo>
                  <a:close/>
                </a:path>
                <a:path w="835660" h="466725">
                  <a:moveTo>
                    <a:pt x="245763" y="339436"/>
                  </a:moveTo>
                  <a:lnTo>
                    <a:pt x="344066" y="339436"/>
                  </a:lnTo>
                  <a:lnTo>
                    <a:pt x="344066" y="254577"/>
                  </a:lnTo>
                  <a:lnTo>
                    <a:pt x="245763" y="254577"/>
                  </a:lnTo>
                  <a:lnTo>
                    <a:pt x="245763" y="339436"/>
                  </a:lnTo>
                  <a:close/>
                </a:path>
                <a:path w="835660" h="466725">
                  <a:moveTo>
                    <a:pt x="122876" y="403078"/>
                  </a:moveTo>
                  <a:lnTo>
                    <a:pt x="221179" y="403078"/>
                  </a:lnTo>
                  <a:lnTo>
                    <a:pt x="221179" y="318219"/>
                  </a:lnTo>
                  <a:lnTo>
                    <a:pt x="122876" y="318219"/>
                  </a:lnTo>
                  <a:lnTo>
                    <a:pt x="122876" y="403078"/>
                  </a:lnTo>
                  <a:close/>
                </a:path>
                <a:path w="835660" h="466725">
                  <a:moveTo>
                    <a:pt x="0" y="466723"/>
                  </a:moveTo>
                  <a:lnTo>
                    <a:pt x="98303" y="466723"/>
                  </a:lnTo>
                  <a:lnTo>
                    <a:pt x="98303" y="381864"/>
                  </a:lnTo>
                  <a:lnTo>
                    <a:pt x="0" y="381864"/>
                  </a:lnTo>
                  <a:lnTo>
                    <a:pt x="0" y="466723"/>
                  </a:lnTo>
                  <a:close/>
                </a:path>
              </a:pathLst>
            </a:custGeom>
            <a:ln w="5270">
              <a:solidFill>
                <a:srgbClr val="231F20"/>
              </a:solidFill>
            </a:ln>
          </p:spPr>
          <p:txBody>
            <a:bodyPr wrap="square" lIns="0" tIns="0" rIns="0" bIns="0" rtlCol="0"/>
            <a:lstStyle/>
            <a:p>
              <a:endParaRPr/>
            </a:p>
          </p:txBody>
        </p:sp>
        <p:sp>
          <p:nvSpPr>
            <p:cNvPr id="19" name="object 19"/>
            <p:cNvSpPr/>
            <p:nvPr/>
          </p:nvSpPr>
          <p:spPr>
            <a:xfrm>
              <a:off x="2779554" y="1237117"/>
              <a:ext cx="159385" cy="0"/>
            </a:xfrm>
            <a:custGeom>
              <a:avLst/>
              <a:gdLst/>
              <a:ahLst/>
              <a:cxnLst/>
              <a:rect l="l" t="t" r="r" b="b"/>
              <a:pathLst>
                <a:path w="159385">
                  <a:moveTo>
                    <a:pt x="0" y="0"/>
                  </a:moveTo>
                  <a:lnTo>
                    <a:pt x="159221" y="0"/>
                  </a:lnTo>
                </a:path>
              </a:pathLst>
            </a:custGeom>
            <a:ln w="5270">
              <a:solidFill>
                <a:srgbClr val="231F20"/>
              </a:solidFill>
            </a:ln>
          </p:spPr>
          <p:txBody>
            <a:bodyPr wrap="square" lIns="0" tIns="0" rIns="0" bIns="0" rtlCol="0"/>
            <a:lstStyle/>
            <a:p>
              <a:endParaRPr/>
            </a:p>
          </p:txBody>
        </p:sp>
        <p:sp>
          <p:nvSpPr>
            <p:cNvPr id="20" name="object 20"/>
            <p:cNvSpPr/>
            <p:nvPr/>
          </p:nvSpPr>
          <p:spPr>
            <a:xfrm>
              <a:off x="2901777" y="1205243"/>
              <a:ext cx="74930" cy="64135"/>
            </a:xfrm>
            <a:custGeom>
              <a:avLst/>
              <a:gdLst/>
              <a:ahLst/>
              <a:cxnLst/>
              <a:rect l="l" t="t" r="r" b="b"/>
              <a:pathLst>
                <a:path w="74930" h="64134">
                  <a:moveTo>
                    <a:pt x="0" y="0"/>
                  </a:moveTo>
                  <a:lnTo>
                    <a:pt x="5976" y="15937"/>
                  </a:lnTo>
                  <a:lnTo>
                    <a:pt x="7968" y="31875"/>
                  </a:lnTo>
                  <a:lnTo>
                    <a:pt x="5976" y="47812"/>
                  </a:lnTo>
                  <a:lnTo>
                    <a:pt x="0" y="63747"/>
                  </a:lnTo>
                  <a:lnTo>
                    <a:pt x="74377" y="31873"/>
                  </a:lnTo>
                  <a:lnTo>
                    <a:pt x="0" y="0"/>
                  </a:lnTo>
                  <a:close/>
                </a:path>
              </a:pathLst>
            </a:custGeom>
            <a:solidFill>
              <a:srgbClr val="231F20"/>
            </a:solidFill>
          </p:spPr>
          <p:txBody>
            <a:bodyPr wrap="square" lIns="0" tIns="0" rIns="0" bIns="0" rtlCol="0"/>
            <a:lstStyle/>
            <a:p>
              <a:endParaRPr/>
            </a:p>
          </p:txBody>
        </p:sp>
        <p:sp>
          <p:nvSpPr>
            <p:cNvPr id="21" name="object 21"/>
            <p:cNvSpPr/>
            <p:nvPr/>
          </p:nvSpPr>
          <p:spPr>
            <a:xfrm>
              <a:off x="2656667" y="1300763"/>
              <a:ext cx="159385" cy="0"/>
            </a:xfrm>
            <a:custGeom>
              <a:avLst/>
              <a:gdLst/>
              <a:ahLst/>
              <a:cxnLst/>
              <a:rect l="l" t="t" r="r" b="b"/>
              <a:pathLst>
                <a:path w="159385">
                  <a:moveTo>
                    <a:pt x="0" y="0"/>
                  </a:moveTo>
                  <a:lnTo>
                    <a:pt x="159232" y="0"/>
                  </a:lnTo>
                </a:path>
              </a:pathLst>
            </a:custGeom>
            <a:ln w="5270">
              <a:solidFill>
                <a:srgbClr val="231F20"/>
              </a:solidFill>
            </a:ln>
          </p:spPr>
          <p:txBody>
            <a:bodyPr wrap="square" lIns="0" tIns="0" rIns="0" bIns="0" rtlCol="0"/>
            <a:lstStyle/>
            <a:p>
              <a:endParaRPr/>
            </a:p>
          </p:txBody>
        </p:sp>
        <p:sp>
          <p:nvSpPr>
            <p:cNvPr id="22" name="object 22"/>
            <p:cNvSpPr/>
            <p:nvPr/>
          </p:nvSpPr>
          <p:spPr>
            <a:xfrm>
              <a:off x="2778900" y="1268885"/>
              <a:ext cx="74930" cy="64135"/>
            </a:xfrm>
            <a:custGeom>
              <a:avLst/>
              <a:gdLst/>
              <a:ahLst/>
              <a:cxnLst/>
              <a:rect l="l" t="t" r="r" b="b"/>
              <a:pathLst>
                <a:path w="74930" h="64134">
                  <a:moveTo>
                    <a:pt x="0" y="0"/>
                  </a:moveTo>
                  <a:lnTo>
                    <a:pt x="5976" y="15937"/>
                  </a:lnTo>
                  <a:lnTo>
                    <a:pt x="7968" y="31875"/>
                  </a:lnTo>
                  <a:lnTo>
                    <a:pt x="5976" y="47813"/>
                  </a:lnTo>
                  <a:lnTo>
                    <a:pt x="0" y="63751"/>
                  </a:lnTo>
                  <a:lnTo>
                    <a:pt x="74377" y="31878"/>
                  </a:lnTo>
                  <a:lnTo>
                    <a:pt x="0" y="0"/>
                  </a:lnTo>
                  <a:close/>
                </a:path>
              </a:pathLst>
            </a:custGeom>
            <a:solidFill>
              <a:srgbClr val="231F20"/>
            </a:solidFill>
          </p:spPr>
          <p:txBody>
            <a:bodyPr wrap="square" lIns="0" tIns="0" rIns="0" bIns="0" rtlCol="0"/>
            <a:lstStyle/>
            <a:p>
              <a:endParaRPr/>
            </a:p>
          </p:txBody>
        </p:sp>
        <p:sp>
          <p:nvSpPr>
            <p:cNvPr id="23" name="object 23"/>
            <p:cNvSpPr/>
            <p:nvPr/>
          </p:nvSpPr>
          <p:spPr>
            <a:xfrm>
              <a:off x="2533790" y="1364404"/>
              <a:ext cx="159385" cy="0"/>
            </a:xfrm>
            <a:custGeom>
              <a:avLst/>
              <a:gdLst/>
              <a:ahLst/>
              <a:cxnLst/>
              <a:rect l="l" t="t" r="r" b="b"/>
              <a:pathLst>
                <a:path w="159385">
                  <a:moveTo>
                    <a:pt x="0" y="0"/>
                  </a:moveTo>
                  <a:lnTo>
                    <a:pt x="159232" y="0"/>
                  </a:lnTo>
                </a:path>
              </a:pathLst>
            </a:custGeom>
            <a:ln w="5270">
              <a:solidFill>
                <a:srgbClr val="231F20"/>
              </a:solidFill>
            </a:ln>
          </p:spPr>
          <p:txBody>
            <a:bodyPr wrap="square" lIns="0" tIns="0" rIns="0" bIns="0" rtlCol="0"/>
            <a:lstStyle/>
            <a:p>
              <a:endParaRPr/>
            </a:p>
          </p:txBody>
        </p:sp>
        <p:sp>
          <p:nvSpPr>
            <p:cNvPr id="24" name="object 24"/>
            <p:cNvSpPr/>
            <p:nvPr/>
          </p:nvSpPr>
          <p:spPr>
            <a:xfrm>
              <a:off x="2656013" y="1332530"/>
              <a:ext cx="74930" cy="64135"/>
            </a:xfrm>
            <a:custGeom>
              <a:avLst/>
              <a:gdLst/>
              <a:ahLst/>
              <a:cxnLst/>
              <a:rect l="l" t="t" r="r" b="b"/>
              <a:pathLst>
                <a:path w="74930" h="64134">
                  <a:moveTo>
                    <a:pt x="0" y="0"/>
                  </a:moveTo>
                  <a:lnTo>
                    <a:pt x="5982" y="15937"/>
                  </a:lnTo>
                  <a:lnTo>
                    <a:pt x="7976" y="31875"/>
                  </a:lnTo>
                  <a:lnTo>
                    <a:pt x="5982" y="47813"/>
                  </a:lnTo>
                  <a:lnTo>
                    <a:pt x="0" y="63751"/>
                  </a:lnTo>
                  <a:lnTo>
                    <a:pt x="74377" y="31873"/>
                  </a:lnTo>
                  <a:lnTo>
                    <a:pt x="0" y="0"/>
                  </a:lnTo>
                  <a:close/>
                </a:path>
              </a:pathLst>
            </a:custGeom>
            <a:solidFill>
              <a:srgbClr val="231F20"/>
            </a:solidFill>
          </p:spPr>
          <p:txBody>
            <a:bodyPr wrap="square" lIns="0" tIns="0" rIns="0" bIns="0" rtlCol="0"/>
            <a:lstStyle/>
            <a:p>
              <a:endParaRPr/>
            </a:p>
          </p:txBody>
        </p:sp>
        <p:sp>
          <p:nvSpPr>
            <p:cNvPr id="25" name="object 25"/>
            <p:cNvSpPr/>
            <p:nvPr/>
          </p:nvSpPr>
          <p:spPr>
            <a:xfrm>
              <a:off x="2410914" y="1428050"/>
              <a:ext cx="159385" cy="0"/>
            </a:xfrm>
            <a:custGeom>
              <a:avLst/>
              <a:gdLst/>
              <a:ahLst/>
              <a:cxnLst/>
              <a:rect l="l" t="t" r="r" b="b"/>
              <a:pathLst>
                <a:path w="159385">
                  <a:moveTo>
                    <a:pt x="0" y="0"/>
                  </a:moveTo>
                  <a:lnTo>
                    <a:pt x="159221" y="0"/>
                  </a:lnTo>
                </a:path>
              </a:pathLst>
            </a:custGeom>
            <a:ln w="5270">
              <a:solidFill>
                <a:srgbClr val="231F20"/>
              </a:solidFill>
            </a:ln>
          </p:spPr>
          <p:txBody>
            <a:bodyPr wrap="square" lIns="0" tIns="0" rIns="0" bIns="0" rtlCol="0"/>
            <a:lstStyle/>
            <a:p>
              <a:endParaRPr/>
            </a:p>
          </p:txBody>
        </p:sp>
        <p:sp>
          <p:nvSpPr>
            <p:cNvPr id="26" name="object 26"/>
            <p:cNvSpPr/>
            <p:nvPr/>
          </p:nvSpPr>
          <p:spPr>
            <a:xfrm>
              <a:off x="2533137" y="1396176"/>
              <a:ext cx="74930" cy="64135"/>
            </a:xfrm>
            <a:custGeom>
              <a:avLst/>
              <a:gdLst/>
              <a:ahLst/>
              <a:cxnLst/>
              <a:rect l="l" t="t" r="r" b="b"/>
              <a:pathLst>
                <a:path w="74930" h="64134">
                  <a:moveTo>
                    <a:pt x="0" y="0"/>
                  </a:moveTo>
                  <a:lnTo>
                    <a:pt x="5976" y="15937"/>
                  </a:lnTo>
                  <a:lnTo>
                    <a:pt x="7968" y="31875"/>
                  </a:lnTo>
                  <a:lnTo>
                    <a:pt x="5976" y="47813"/>
                  </a:lnTo>
                  <a:lnTo>
                    <a:pt x="0" y="63751"/>
                  </a:lnTo>
                  <a:lnTo>
                    <a:pt x="74377" y="31873"/>
                  </a:lnTo>
                  <a:lnTo>
                    <a:pt x="0" y="0"/>
                  </a:lnTo>
                  <a:close/>
                </a:path>
              </a:pathLst>
            </a:custGeom>
            <a:solidFill>
              <a:srgbClr val="231F20"/>
            </a:solidFill>
          </p:spPr>
          <p:txBody>
            <a:bodyPr wrap="square" lIns="0" tIns="0" rIns="0" bIns="0" rtlCol="0"/>
            <a:lstStyle/>
            <a:p>
              <a:endParaRPr/>
            </a:p>
          </p:txBody>
        </p:sp>
        <p:sp>
          <p:nvSpPr>
            <p:cNvPr id="27" name="object 27"/>
            <p:cNvSpPr/>
            <p:nvPr/>
          </p:nvSpPr>
          <p:spPr>
            <a:xfrm>
              <a:off x="2288037" y="1491695"/>
              <a:ext cx="159385" cy="0"/>
            </a:xfrm>
            <a:custGeom>
              <a:avLst/>
              <a:gdLst/>
              <a:ahLst/>
              <a:cxnLst/>
              <a:rect l="l" t="t" r="r" b="b"/>
              <a:pathLst>
                <a:path w="159385">
                  <a:moveTo>
                    <a:pt x="0" y="0"/>
                  </a:moveTo>
                  <a:lnTo>
                    <a:pt x="159221" y="0"/>
                  </a:lnTo>
                </a:path>
              </a:pathLst>
            </a:custGeom>
            <a:ln w="5270">
              <a:solidFill>
                <a:srgbClr val="231F20"/>
              </a:solidFill>
            </a:ln>
          </p:spPr>
          <p:txBody>
            <a:bodyPr wrap="square" lIns="0" tIns="0" rIns="0" bIns="0" rtlCol="0"/>
            <a:lstStyle/>
            <a:p>
              <a:endParaRPr/>
            </a:p>
          </p:txBody>
        </p:sp>
        <p:sp>
          <p:nvSpPr>
            <p:cNvPr id="28" name="object 28"/>
            <p:cNvSpPr/>
            <p:nvPr/>
          </p:nvSpPr>
          <p:spPr>
            <a:xfrm>
              <a:off x="2410260" y="1459821"/>
              <a:ext cx="74930" cy="64135"/>
            </a:xfrm>
            <a:custGeom>
              <a:avLst/>
              <a:gdLst/>
              <a:ahLst/>
              <a:cxnLst/>
              <a:rect l="l" t="t" r="r" b="b"/>
              <a:pathLst>
                <a:path w="74930" h="64134">
                  <a:moveTo>
                    <a:pt x="0" y="0"/>
                  </a:moveTo>
                  <a:lnTo>
                    <a:pt x="5976" y="15937"/>
                  </a:lnTo>
                  <a:lnTo>
                    <a:pt x="7968" y="31875"/>
                  </a:lnTo>
                  <a:lnTo>
                    <a:pt x="5976" y="47812"/>
                  </a:lnTo>
                  <a:lnTo>
                    <a:pt x="0" y="63747"/>
                  </a:lnTo>
                  <a:lnTo>
                    <a:pt x="74377" y="31873"/>
                  </a:lnTo>
                  <a:lnTo>
                    <a:pt x="0" y="0"/>
                  </a:lnTo>
                  <a:close/>
                </a:path>
              </a:pathLst>
            </a:custGeom>
            <a:solidFill>
              <a:srgbClr val="231F20"/>
            </a:solidFill>
          </p:spPr>
          <p:txBody>
            <a:bodyPr wrap="square" lIns="0" tIns="0" rIns="0" bIns="0" rtlCol="0"/>
            <a:lstStyle/>
            <a:p>
              <a:endParaRPr/>
            </a:p>
          </p:txBody>
        </p:sp>
        <p:sp>
          <p:nvSpPr>
            <p:cNvPr id="29" name="object 29"/>
            <p:cNvSpPr/>
            <p:nvPr/>
          </p:nvSpPr>
          <p:spPr>
            <a:xfrm>
              <a:off x="2165161" y="1555341"/>
              <a:ext cx="159385" cy="0"/>
            </a:xfrm>
            <a:custGeom>
              <a:avLst/>
              <a:gdLst/>
              <a:ahLst/>
              <a:cxnLst/>
              <a:rect l="l" t="t" r="r" b="b"/>
              <a:pathLst>
                <a:path w="159385">
                  <a:moveTo>
                    <a:pt x="0" y="0"/>
                  </a:moveTo>
                  <a:lnTo>
                    <a:pt x="159221" y="0"/>
                  </a:lnTo>
                </a:path>
              </a:pathLst>
            </a:custGeom>
            <a:ln w="5270">
              <a:solidFill>
                <a:srgbClr val="231F20"/>
              </a:solidFill>
            </a:ln>
          </p:spPr>
          <p:txBody>
            <a:bodyPr wrap="square" lIns="0" tIns="0" rIns="0" bIns="0" rtlCol="0"/>
            <a:lstStyle/>
            <a:p>
              <a:endParaRPr/>
            </a:p>
          </p:txBody>
        </p:sp>
        <p:sp>
          <p:nvSpPr>
            <p:cNvPr id="30" name="object 30"/>
            <p:cNvSpPr/>
            <p:nvPr/>
          </p:nvSpPr>
          <p:spPr>
            <a:xfrm>
              <a:off x="2287384" y="1523462"/>
              <a:ext cx="74930" cy="64135"/>
            </a:xfrm>
            <a:custGeom>
              <a:avLst/>
              <a:gdLst/>
              <a:ahLst/>
              <a:cxnLst/>
              <a:rect l="l" t="t" r="r" b="b"/>
              <a:pathLst>
                <a:path w="74930" h="64134">
                  <a:moveTo>
                    <a:pt x="0" y="0"/>
                  </a:moveTo>
                  <a:lnTo>
                    <a:pt x="5976" y="15937"/>
                  </a:lnTo>
                  <a:lnTo>
                    <a:pt x="7968" y="31875"/>
                  </a:lnTo>
                  <a:lnTo>
                    <a:pt x="5976" y="47813"/>
                  </a:lnTo>
                  <a:lnTo>
                    <a:pt x="0" y="63751"/>
                  </a:lnTo>
                  <a:lnTo>
                    <a:pt x="74377" y="31878"/>
                  </a:lnTo>
                  <a:lnTo>
                    <a:pt x="0" y="0"/>
                  </a:lnTo>
                  <a:close/>
                </a:path>
              </a:pathLst>
            </a:custGeom>
            <a:solidFill>
              <a:srgbClr val="231F20"/>
            </a:solidFill>
          </p:spPr>
          <p:txBody>
            <a:bodyPr wrap="square" lIns="0" tIns="0" rIns="0" bIns="0" rtlCol="0"/>
            <a:lstStyle/>
            <a:p>
              <a:endParaRPr/>
            </a:p>
          </p:txBody>
        </p:sp>
        <p:sp>
          <p:nvSpPr>
            <p:cNvPr id="31" name="object 31"/>
            <p:cNvSpPr/>
            <p:nvPr/>
          </p:nvSpPr>
          <p:spPr>
            <a:xfrm>
              <a:off x="2042274" y="1618986"/>
              <a:ext cx="159385" cy="0"/>
            </a:xfrm>
            <a:custGeom>
              <a:avLst/>
              <a:gdLst/>
              <a:ahLst/>
              <a:cxnLst/>
              <a:rect l="l" t="t" r="r" b="b"/>
              <a:pathLst>
                <a:path w="159385">
                  <a:moveTo>
                    <a:pt x="0" y="0"/>
                  </a:moveTo>
                  <a:lnTo>
                    <a:pt x="159232" y="0"/>
                  </a:lnTo>
                </a:path>
              </a:pathLst>
            </a:custGeom>
            <a:ln w="5270">
              <a:solidFill>
                <a:srgbClr val="231F20"/>
              </a:solidFill>
            </a:ln>
          </p:spPr>
          <p:txBody>
            <a:bodyPr wrap="square" lIns="0" tIns="0" rIns="0" bIns="0" rtlCol="0"/>
            <a:lstStyle/>
            <a:p>
              <a:endParaRPr/>
            </a:p>
          </p:txBody>
        </p:sp>
        <p:sp>
          <p:nvSpPr>
            <p:cNvPr id="32" name="object 32"/>
            <p:cNvSpPr/>
            <p:nvPr/>
          </p:nvSpPr>
          <p:spPr>
            <a:xfrm>
              <a:off x="2164497" y="1587108"/>
              <a:ext cx="74930" cy="64135"/>
            </a:xfrm>
            <a:custGeom>
              <a:avLst/>
              <a:gdLst/>
              <a:ahLst/>
              <a:cxnLst/>
              <a:rect l="l" t="t" r="r" b="b"/>
              <a:pathLst>
                <a:path w="74930" h="64135">
                  <a:moveTo>
                    <a:pt x="0" y="0"/>
                  </a:moveTo>
                  <a:lnTo>
                    <a:pt x="5982" y="15937"/>
                  </a:lnTo>
                  <a:lnTo>
                    <a:pt x="7976" y="31875"/>
                  </a:lnTo>
                  <a:lnTo>
                    <a:pt x="5982" y="47813"/>
                  </a:lnTo>
                  <a:lnTo>
                    <a:pt x="0" y="63751"/>
                  </a:lnTo>
                  <a:lnTo>
                    <a:pt x="74387" y="31878"/>
                  </a:lnTo>
                  <a:lnTo>
                    <a:pt x="0" y="0"/>
                  </a:lnTo>
                  <a:close/>
                </a:path>
              </a:pathLst>
            </a:custGeom>
            <a:solidFill>
              <a:srgbClr val="231F20"/>
            </a:solidFill>
          </p:spPr>
          <p:txBody>
            <a:bodyPr wrap="square" lIns="0" tIns="0" rIns="0" bIns="0" rtlCol="0"/>
            <a:lstStyle/>
            <a:p>
              <a:endParaRPr/>
            </a:p>
          </p:txBody>
        </p:sp>
        <p:sp>
          <p:nvSpPr>
            <p:cNvPr id="33" name="object 33"/>
            <p:cNvSpPr/>
            <p:nvPr/>
          </p:nvSpPr>
          <p:spPr>
            <a:xfrm>
              <a:off x="1859641" y="1691298"/>
              <a:ext cx="1199515" cy="0"/>
            </a:xfrm>
            <a:custGeom>
              <a:avLst/>
              <a:gdLst/>
              <a:ahLst/>
              <a:cxnLst/>
              <a:rect l="l" t="t" r="r" b="b"/>
              <a:pathLst>
                <a:path w="1199514">
                  <a:moveTo>
                    <a:pt x="0" y="0"/>
                  </a:moveTo>
                  <a:lnTo>
                    <a:pt x="1199323" y="0"/>
                  </a:lnTo>
                </a:path>
              </a:pathLst>
            </a:custGeom>
            <a:ln w="15812">
              <a:solidFill>
                <a:srgbClr val="231F20"/>
              </a:solidFill>
            </a:ln>
          </p:spPr>
          <p:txBody>
            <a:bodyPr wrap="square" lIns="0" tIns="0" rIns="0" bIns="0" rtlCol="0"/>
            <a:lstStyle/>
            <a:p>
              <a:endParaRPr/>
            </a:p>
          </p:txBody>
        </p:sp>
        <p:pic>
          <p:nvPicPr>
            <p:cNvPr id="34" name="object 34"/>
            <p:cNvPicPr/>
            <p:nvPr/>
          </p:nvPicPr>
          <p:blipFill>
            <a:blip r:embed="rId7" cstate="print"/>
            <a:stretch>
              <a:fillRect/>
            </a:stretch>
          </p:blipFill>
          <p:spPr>
            <a:xfrm>
              <a:off x="3003898" y="1643860"/>
              <a:ext cx="110691" cy="94873"/>
            </a:xfrm>
            <a:prstGeom prst="rect">
              <a:avLst/>
            </a:prstGeom>
          </p:spPr>
        </p:pic>
      </p:grpSp>
      <p:sp>
        <p:nvSpPr>
          <p:cNvPr id="35" name="object 35"/>
          <p:cNvSpPr txBox="1"/>
          <p:nvPr/>
        </p:nvSpPr>
        <p:spPr>
          <a:xfrm>
            <a:off x="1935599" y="1183813"/>
            <a:ext cx="812165" cy="483234"/>
          </a:xfrm>
          <a:prstGeom prst="rect">
            <a:avLst/>
          </a:prstGeom>
        </p:spPr>
        <p:txBody>
          <a:bodyPr vert="horz" wrap="square" lIns="0" tIns="12065" rIns="0" bIns="0" rtlCol="0">
            <a:spAutoFit/>
          </a:bodyPr>
          <a:lstStyle/>
          <a:p>
            <a:pPr marL="746125">
              <a:lnSpc>
                <a:spcPts val="550"/>
              </a:lnSpc>
              <a:spcBef>
                <a:spcPts val="95"/>
              </a:spcBef>
            </a:pPr>
            <a:r>
              <a:rPr sz="500" spc="-5" dirty="0">
                <a:solidFill>
                  <a:srgbClr val="231F20"/>
                </a:solidFill>
                <a:latin typeface="Arial"/>
                <a:cs typeface="Arial"/>
              </a:rPr>
              <a:t>M</a:t>
            </a:r>
            <a:endParaRPr sz="500">
              <a:latin typeface="Arial"/>
              <a:cs typeface="Arial"/>
            </a:endParaRPr>
          </a:p>
          <a:p>
            <a:pPr marL="626110">
              <a:lnSpc>
                <a:spcPts val="500"/>
              </a:lnSpc>
            </a:pPr>
            <a:r>
              <a:rPr sz="500" spc="-5" dirty="0">
                <a:solidFill>
                  <a:srgbClr val="231F20"/>
                </a:solidFill>
                <a:latin typeface="Arial"/>
                <a:cs typeface="Arial"/>
              </a:rPr>
              <a:t>A</a:t>
            </a:r>
            <a:endParaRPr sz="500">
              <a:latin typeface="Arial"/>
              <a:cs typeface="Arial"/>
            </a:endParaRPr>
          </a:p>
          <a:p>
            <a:pPr marL="502920">
              <a:lnSpc>
                <a:spcPts val="500"/>
              </a:lnSpc>
            </a:pPr>
            <a:r>
              <a:rPr sz="500" spc="-5" dirty="0">
                <a:solidFill>
                  <a:srgbClr val="231F20"/>
                </a:solidFill>
                <a:latin typeface="Arial"/>
                <a:cs typeface="Arial"/>
              </a:rPr>
              <a:t>A</a:t>
            </a:r>
            <a:endParaRPr sz="500">
              <a:latin typeface="Arial"/>
              <a:cs typeface="Arial"/>
            </a:endParaRPr>
          </a:p>
          <a:p>
            <a:pPr marL="379095">
              <a:lnSpc>
                <a:spcPts val="500"/>
              </a:lnSpc>
            </a:pPr>
            <a:r>
              <a:rPr sz="500" spc="-5" dirty="0">
                <a:solidFill>
                  <a:srgbClr val="231F20"/>
                </a:solidFill>
                <a:latin typeface="Arial"/>
                <a:cs typeface="Arial"/>
              </a:rPr>
              <a:t>R</a:t>
            </a:r>
            <a:endParaRPr sz="500">
              <a:latin typeface="Arial"/>
              <a:cs typeface="Arial"/>
            </a:endParaRPr>
          </a:p>
          <a:p>
            <a:pPr marL="259715">
              <a:lnSpc>
                <a:spcPts val="500"/>
              </a:lnSpc>
            </a:pPr>
            <a:r>
              <a:rPr sz="500" spc="-5" dirty="0">
                <a:solidFill>
                  <a:srgbClr val="231F20"/>
                </a:solidFill>
                <a:latin typeface="Arial"/>
                <a:cs typeface="Arial"/>
              </a:rPr>
              <a:t>T</a:t>
            </a:r>
            <a:endParaRPr sz="500">
              <a:latin typeface="Arial"/>
              <a:cs typeface="Arial"/>
            </a:endParaRPr>
          </a:p>
          <a:p>
            <a:pPr marL="135890">
              <a:lnSpc>
                <a:spcPts val="500"/>
              </a:lnSpc>
            </a:pPr>
            <a:r>
              <a:rPr sz="500" spc="-5" dirty="0">
                <a:solidFill>
                  <a:srgbClr val="231F20"/>
                </a:solidFill>
                <a:latin typeface="Arial"/>
                <a:cs typeface="Arial"/>
              </a:rPr>
              <a:t>E</a:t>
            </a:r>
            <a:endParaRPr sz="500">
              <a:latin typeface="Arial"/>
              <a:cs typeface="Arial"/>
            </a:endParaRPr>
          </a:p>
          <a:p>
            <a:pPr marL="12700">
              <a:lnSpc>
                <a:spcPts val="550"/>
              </a:lnSpc>
            </a:pPr>
            <a:r>
              <a:rPr sz="500" spc="-5" dirty="0">
                <a:solidFill>
                  <a:srgbClr val="231F20"/>
                </a:solidFill>
                <a:latin typeface="Arial"/>
                <a:cs typeface="Arial"/>
              </a:rPr>
              <a:t>N</a:t>
            </a:r>
            <a:endParaRPr sz="500">
              <a:latin typeface="Arial"/>
              <a:cs typeface="Arial"/>
            </a:endParaRPr>
          </a:p>
        </p:txBody>
      </p:sp>
      <p:graphicFrame>
        <p:nvGraphicFramePr>
          <p:cNvPr id="36" name="object 36"/>
          <p:cNvGraphicFramePr>
            <a:graphicFrameLocks noGrp="1"/>
          </p:cNvGraphicFramePr>
          <p:nvPr/>
        </p:nvGraphicFramePr>
        <p:xfrm>
          <a:off x="426118" y="1201093"/>
          <a:ext cx="1338580" cy="487045"/>
        </p:xfrm>
        <a:graphic>
          <a:graphicData uri="http://schemas.openxmlformats.org/drawingml/2006/table">
            <a:tbl>
              <a:tblPr firstRow="1" bandRow="1">
                <a:tableStyleId>{2D5ABB26-0587-4C30-8999-92F81FD0307C}</a:tableStyleId>
              </a:tblPr>
              <a:tblGrid>
                <a:gridCol w="540385">
                  <a:extLst>
                    <a:ext uri="{9D8B030D-6E8A-4147-A177-3AD203B41FA5}">
                      <a16:colId xmlns:a16="http://schemas.microsoft.com/office/drawing/2014/main" val="20000"/>
                    </a:ext>
                  </a:extLst>
                </a:gridCol>
                <a:gridCol w="798195">
                  <a:extLst>
                    <a:ext uri="{9D8B030D-6E8A-4147-A177-3AD203B41FA5}">
                      <a16:colId xmlns:a16="http://schemas.microsoft.com/office/drawing/2014/main" val="20001"/>
                    </a:ext>
                  </a:extLst>
                </a:gridCol>
              </a:tblGrid>
              <a:tr h="116205">
                <a:tc rowSpan="3">
                  <a:txBody>
                    <a:bodyPr/>
                    <a:lstStyle/>
                    <a:p>
                      <a:pPr marL="24130" marR="40640" indent="1270">
                        <a:lnSpc>
                          <a:spcPct val="106900"/>
                        </a:lnSpc>
                        <a:spcBef>
                          <a:spcPts val="185"/>
                        </a:spcBef>
                      </a:pPr>
                      <a:r>
                        <a:rPr sz="550" spc="20" dirty="0">
                          <a:solidFill>
                            <a:srgbClr val="231F20"/>
                          </a:solidFill>
                          <a:latin typeface="Arial"/>
                          <a:cs typeface="Arial"/>
                        </a:rPr>
                        <a:t>FIRS</a:t>
                      </a:r>
                      <a:r>
                        <a:rPr sz="550" dirty="0">
                          <a:solidFill>
                            <a:srgbClr val="231F20"/>
                          </a:solidFill>
                          <a:latin typeface="Arial"/>
                          <a:cs typeface="Arial"/>
                        </a:rPr>
                        <a:t>T</a:t>
                      </a:r>
                      <a:r>
                        <a:rPr sz="550" spc="15" dirty="0">
                          <a:solidFill>
                            <a:srgbClr val="231F20"/>
                          </a:solidFill>
                          <a:latin typeface="Arial"/>
                          <a:cs typeface="Arial"/>
                        </a:rPr>
                        <a:t> </a:t>
                      </a:r>
                      <a:r>
                        <a:rPr sz="550" spc="20" dirty="0">
                          <a:solidFill>
                            <a:srgbClr val="231F20"/>
                          </a:solidFill>
                          <a:latin typeface="Arial"/>
                          <a:cs typeface="Arial"/>
                        </a:rPr>
                        <a:t>NAM</a:t>
                      </a:r>
                      <a:r>
                        <a:rPr sz="550" dirty="0">
                          <a:solidFill>
                            <a:srgbClr val="231F20"/>
                          </a:solidFill>
                          <a:latin typeface="Arial"/>
                          <a:cs typeface="Arial"/>
                        </a:rPr>
                        <a:t>E  </a:t>
                      </a:r>
                      <a:r>
                        <a:rPr sz="550" spc="30" dirty="0">
                          <a:solidFill>
                            <a:srgbClr val="231F20"/>
                          </a:solidFill>
                          <a:latin typeface="Arial"/>
                          <a:cs typeface="Arial"/>
                        </a:rPr>
                        <a:t>LAST </a:t>
                      </a:r>
                      <a:r>
                        <a:rPr sz="550" spc="35" dirty="0">
                          <a:solidFill>
                            <a:srgbClr val="231F20"/>
                          </a:solidFill>
                          <a:latin typeface="Arial"/>
                          <a:cs typeface="Arial"/>
                        </a:rPr>
                        <a:t>NAME </a:t>
                      </a:r>
                      <a:r>
                        <a:rPr sz="550" spc="-140" dirty="0">
                          <a:solidFill>
                            <a:srgbClr val="231F20"/>
                          </a:solidFill>
                          <a:latin typeface="Arial"/>
                          <a:cs typeface="Arial"/>
                        </a:rPr>
                        <a:t> </a:t>
                      </a:r>
                      <a:r>
                        <a:rPr sz="550" spc="25" dirty="0">
                          <a:solidFill>
                            <a:srgbClr val="231F20"/>
                          </a:solidFill>
                          <a:latin typeface="Arial"/>
                          <a:cs typeface="Arial"/>
                        </a:rPr>
                        <a:t>E-MAIL</a:t>
                      </a:r>
                      <a:endParaRPr sz="550">
                        <a:latin typeface="Arial"/>
                        <a:cs typeface="Arial"/>
                      </a:endParaRPr>
                    </a:p>
                  </a:txBody>
                  <a:tcPr marL="0" marR="0" marT="23495" marB="0">
                    <a:lnL w="6350">
                      <a:solidFill>
                        <a:srgbClr val="231F20"/>
                      </a:solidFill>
                      <a:prstDash val="solid"/>
                    </a:lnL>
                    <a:lnR w="6350">
                      <a:solidFill>
                        <a:srgbClr val="231F20"/>
                      </a:solidFill>
                      <a:prstDash val="solid"/>
                    </a:lnR>
                    <a:lnT w="6350">
                      <a:solidFill>
                        <a:srgbClr val="231F20"/>
                      </a:solidFill>
                      <a:prstDash val="solid"/>
                    </a:lnT>
                    <a:solidFill>
                      <a:srgbClr val="FFFFFF"/>
                    </a:solidFill>
                  </a:tcPr>
                </a:tc>
                <a:tc>
                  <a:txBody>
                    <a:bodyPr/>
                    <a:lstStyle/>
                    <a:p>
                      <a:pPr marL="24765">
                        <a:lnSpc>
                          <a:spcPct val="100000"/>
                        </a:lnSpc>
                        <a:spcBef>
                          <a:spcPts val="180"/>
                        </a:spcBef>
                      </a:pPr>
                      <a:r>
                        <a:rPr sz="500" spc="10" dirty="0">
                          <a:solidFill>
                            <a:srgbClr val="231F20"/>
                          </a:solidFill>
                          <a:latin typeface="Arial"/>
                          <a:cs typeface="Arial"/>
                        </a:rPr>
                        <a:t>MAARTEN</a:t>
                      </a:r>
                      <a:endParaRPr sz="500">
                        <a:latin typeface="Arial"/>
                        <a:cs typeface="Arial"/>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FFFFFF"/>
                    </a:solidFill>
                  </a:tcPr>
                </a:tc>
                <a:extLst>
                  <a:ext uri="{0D108BD9-81ED-4DB2-BD59-A6C34878D82A}">
                    <a16:rowId xmlns:a16="http://schemas.microsoft.com/office/drawing/2014/main" val="10000"/>
                  </a:ext>
                </a:extLst>
              </a:tr>
              <a:tr h="106045">
                <a:tc vMerge="1">
                  <a:txBody>
                    <a:bodyPr/>
                    <a:lstStyle/>
                    <a:p>
                      <a:endParaRPr/>
                    </a:p>
                  </a:txBody>
                  <a:tcPr marL="0" marR="0" marT="23495" marB="0">
                    <a:lnL w="6350">
                      <a:solidFill>
                        <a:srgbClr val="231F20"/>
                      </a:solidFill>
                      <a:prstDash val="solid"/>
                    </a:lnL>
                    <a:lnR w="6350">
                      <a:solidFill>
                        <a:srgbClr val="231F20"/>
                      </a:solidFill>
                      <a:prstDash val="solid"/>
                    </a:lnR>
                    <a:lnT w="6350">
                      <a:solidFill>
                        <a:srgbClr val="231F20"/>
                      </a:solidFill>
                      <a:prstDash val="solid"/>
                    </a:lnT>
                    <a:solidFill>
                      <a:srgbClr val="FFFFFF"/>
                    </a:solidFill>
                  </a:tcPr>
                </a:tc>
                <a:tc>
                  <a:txBody>
                    <a:bodyPr/>
                    <a:lstStyle/>
                    <a:p>
                      <a:pPr marL="23495">
                        <a:lnSpc>
                          <a:spcPct val="100000"/>
                        </a:lnSpc>
                        <a:spcBef>
                          <a:spcPts val="95"/>
                        </a:spcBef>
                      </a:pPr>
                      <a:r>
                        <a:rPr sz="500" spc="-30" dirty="0">
                          <a:solidFill>
                            <a:srgbClr val="231F20"/>
                          </a:solidFill>
                          <a:latin typeface="Arial"/>
                          <a:cs typeface="Arial"/>
                        </a:rPr>
                        <a:t>V</a:t>
                      </a:r>
                      <a:r>
                        <a:rPr sz="500" spc="15" dirty="0">
                          <a:solidFill>
                            <a:srgbClr val="231F20"/>
                          </a:solidFill>
                          <a:latin typeface="Arial"/>
                          <a:cs typeface="Arial"/>
                        </a:rPr>
                        <a:t>A</a:t>
                      </a:r>
                      <a:r>
                        <a:rPr sz="500" dirty="0">
                          <a:solidFill>
                            <a:srgbClr val="231F20"/>
                          </a:solidFill>
                          <a:latin typeface="Arial"/>
                          <a:cs typeface="Arial"/>
                        </a:rPr>
                        <a:t>N</a:t>
                      </a:r>
                      <a:r>
                        <a:rPr sz="500" spc="15" dirty="0">
                          <a:solidFill>
                            <a:srgbClr val="231F20"/>
                          </a:solidFill>
                          <a:latin typeface="Arial"/>
                          <a:cs typeface="Arial"/>
                        </a:rPr>
                        <a:t> STEE</a:t>
                      </a:r>
                      <a:r>
                        <a:rPr sz="500" dirty="0">
                          <a:solidFill>
                            <a:srgbClr val="231F20"/>
                          </a:solidFill>
                          <a:latin typeface="Arial"/>
                          <a:cs typeface="Arial"/>
                        </a:rPr>
                        <a:t>N</a:t>
                      </a:r>
                      <a:endParaRPr sz="500">
                        <a:latin typeface="Arial"/>
                        <a:cs typeface="Arial"/>
                      </a:endParaRPr>
                    </a:p>
                  </a:txBody>
                  <a:tcPr marL="0" marR="0" marT="1206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FFFFFF"/>
                    </a:solidFill>
                  </a:tcPr>
                </a:tc>
                <a:extLst>
                  <a:ext uri="{0D108BD9-81ED-4DB2-BD59-A6C34878D82A}">
                    <a16:rowId xmlns:a16="http://schemas.microsoft.com/office/drawing/2014/main" val="10001"/>
                  </a:ext>
                </a:extLst>
              </a:tr>
              <a:tr h="95250">
                <a:tc vMerge="1">
                  <a:txBody>
                    <a:bodyPr/>
                    <a:lstStyle/>
                    <a:p>
                      <a:endParaRPr/>
                    </a:p>
                  </a:txBody>
                  <a:tcPr marL="0" marR="0" marT="23495" marB="0">
                    <a:lnL w="6350">
                      <a:solidFill>
                        <a:srgbClr val="231F20"/>
                      </a:solidFill>
                      <a:prstDash val="solid"/>
                    </a:lnL>
                    <a:lnR w="6350">
                      <a:solidFill>
                        <a:srgbClr val="231F20"/>
                      </a:solidFill>
                      <a:prstDash val="solid"/>
                    </a:lnR>
                    <a:lnT w="6350">
                      <a:solidFill>
                        <a:srgbClr val="231F20"/>
                      </a:solidFill>
                      <a:prstDash val="solid"/>
                    </a:lnT>
                    <a:solidFill>
                      <a:srgbClr val="FFFFFF"/>
                    </a:solidFill>
                  </a:tcPr>
                </a:tc>
                <a:tc>
                  <a:txBody>
                    <a:bodyPr/>
                    <a:lstStyle/>
                    <a:p>
                      <a:pPr marL="24765">
                        <a:lnSpc>
                          <a:spcPts val="585"/>
                        </a:lnSpc>
                        <a:spcBef>
                          <a:spcPts val="65"/>
                        </a:spcBef>
                      </a:pPr>
                      <a:r>
                        <a:rPr sz="500" spc="5" dirty="0">
                          <a:solidFill>
                            <a:srgbClr val="231F20"/>
                          </a:solidFill>
                          <a:latin typeface="Arial"/>
                          <a:cs typeface="Arial"/>
                          <a:hlinkClick r:id="rId8"/>
                        </a:rPr>
                        <a:t>MVS@VAN-STEEN.NET</a:t>
                      </a:r>
                      <a:endParaRPr sz="500" dirty="0">
                        <a:latin typeface="Arial"/>
                        <a:cs typeface="Arial"/>
                      </a:endParaRPr>
                    </a:p>
                  </a:txBody>
                  <a:tcPr marL="0" marR="0" marT="825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FFFFFF"/>
                    </a:solidFill>
                  </a:tcPr>
                </a:tc>
                <a:extLst>
                  <a:ext uri="{0D108BD9-81ED-4DB2-BD59-A6C34878D82A}">
                    <a16:rowId xmlns:a16="http://schemas.microsoft.com/office/drawing/2014/main" val="10002"/>
                  </a:ext>
                </a:extLst>
              </a:tr>
              <a:tr h="169545">
                <a:tc gridSpan="2">
                  <a:txBody>
                    <a:bodyPr/>
                    <a:lstStyle/>
                    <a:p>
                      <a:pPr>
                        <a:lnSpc>
                          <a:spcPct val="100000"/>
                        </a:lnSpc>
                      </a:pPr>
                      <a:endParaRPr sz="700" dirty="0">
                        <a:latin typeface="Times New Roman"/>
                        <a:cs typeface="Times New Roman"/>
                      </a:endParaRPr>
                    </a:p>
                  </a:txBody>
                  <a:tcPr marL="0" marR="0" marT="0" marB="0">
                    <a:lnL w="6350">
                      <a:solidFill>
                        <a:srgbClr val="231F20"/>
                      </a:solidFill>
                      <a:prstDash val="solid"/>
                    </a:lnL>
                    <a:lnR w="6350">
                      <a:solidFill>
                        <a:srgbClr val="231F20"/>
                      </a:solidFill>
                      <a:prstDash val="solid"/>
                    </a:lnR>
                    <a:lnB w="6350">
                      <a:solidFill>
                        <a:srgbClr val="231F20"/>
                      </a:solidFill>
                      <a:prstDash val="solid"/>
                    </a:lnB>
                    <a:solidFill>
                      <a:srgbClr val="FFFFFF"/>
                    </a:solidFill>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37" name="object 37"/>
          <p:cNvSpPr txBox="1"/>
          <p:nvPr/>
        </p:nvSpPr>
        <p:spPr>
          <a:xfrm>
            <a:off x="3131774" y="996668"/>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38" name="object 38"/>
          <p:cNvSpPr txBox="1"/>
          <p:nvPr/>
        </p:nvSpPr>
        <p:spPr>
          <a:xfrm>
            <a:off x="1607893" y="996668"/>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39" name="object 39"/>
          <p:cNvSpPr txBox="1"/>
          <p:nvPr/>
        </p:nvSpPr>
        <p:spPr>
          <a:xfrm>
            <a:off x="3012260" y="1802404"/>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Check form</a:t>
            </a:r>
            <a:endParaRPr sz="650">
              <a:latin typeface="Arial"/>
              <a:cs typeface="Arial"/>
            </a:endParaRPr>
          </a:p>
        </p:txBody>
      </p:sp>
      <p:sp>
        <p:nvSpPr>
          <p:cNvPr id="40" name="object 40"/>
          <p:cNvSpPr txBox="1"/>
          <p:nvPr/>
        </p:nvSpPr>
        <p:spPr>
          <a:xfrm>
            <a:off x="3669617" y="1802404"/>
            <a:ext cx="582295" cy="212725"/>
          </a:xfrm>
          <a:prstGeom prst="rect">
            <a:avLst/>
          </a:prstGeom>
        </p:spPr>
        <p:txBody>
          <a:bodyPr vert="horz" wrap="square" lIns="0" tIns="27939" rIns="0" bIns="0" rtlCol="0">
            <a:spAutoFit/>
          </a:bodyPr>
          <a:lstStyle/>
          <a:p>
            <a:pPr marL="12700" marR="5080" indent="59690">
              <a:lnSpc>
                <a:spcPts val="680"/>
              </a:lnSpc>
              <a:spcBef>
                <a:spcPts val="219"/>
              </a:spcBef>
            </a:pPr>
            <a:r>
              <a:rPr sz="650" spc="5" dirty="0">
                <a:solidFill>
                  <a:srgbClr val="231F20"/>
                </a:solidFill>
                <a:latin typeface="Arial"/>
                <a:cs typeface="Arial"/>
              </a:rPr>
              <a:t>Process form  Server</a:t>
            </a:r>
            <a:endParaRPr sz="650">
              <a:latin typeface="Arial"/>
              <a:cs typeface="Arial"/>
            </a:endParaRPr>
          </a:p>
        </p:txBody>
      </p:sp>
      <p:grpSp>
        <p:nvGrpSpPr>
          <p:cNvPr id="41" name="object 41"/>
          <p:cNvGrpSpPr/>
          <p:nvPr/>
        </p:nvGrpSpPr>
        <p:grpSpPr>
          <a:xfrm>
            <a:off x="360241" y="2039671"/>
            <a:ext cx="3887470" cy="664845"/>
            <a:chOff x="360241" y="2039671"/>
            <a:chExt cx="3887470" cy="664845"/>
          </a:xfrm>
        </p:grpSpPr>
        <p:sp>
          <p:nvSpPr>
            <p:cNvPr id="42" name="object 42"/>
            <p:cNvSpPr/>
            <p:nvPr/>
          </p:nvSpPr>
          <p:spPr>
            <a:xfrm>
              <a:off x="3652433" y="2045068"/>
              <a:ext cx="589915" cy="598170"/>
            </a:xfrm>
            <a:custGeom>
              <a:avLst/>
              <a:gdLst/>
              <a:ahLst/>
              <a:cxnLst/>
              <a:rect l="l" t="t" r="r" b="b"/>
              <a:pathLst>
                <a:path w="589914" h="598169">
                  <a:moveTo>
                    <a:pt x="589818" y="0"/>
                  </a:moveTo>
                  <a:lnTo>
                    <a:pt x="0" y="0"/>
                  </a:lnTo>
                  <a:lnTo>
                    <a:pt x="0" y="597596"/>
                  </a:lnTo>
                  <a:lnTo>
                    <a:pt x="589818" y="597596"/>
                  </a:lnTo>
                  <a:lnTo>
                    <a:pt x="589818" y="0"/>
                  </a:lnTo>
                  <a:close/>
                </a:path>
              </a:pathLst>
            </a:custGeom>
            <a:solidFill>
              <a:srgbClr val="E6E7E8"/>
            </a:solidFill>
          </p:spPr>
          <p:txBody>
            <a:bodyPr wrap="square" lIns="0" tIns="0" rIns="0" bIns="0" rtlCol="0"/>
            <a:lstStyle/>
            <a:p>
              <a:endParaRPr/>
            </a:p>
          </p:txBody>
        </p:sp>
        <p:sp>
          <p:nvSpPr>
            <p:cNvPr id="43" name="object 43"/>
            <p:cNvSpPr/>
            <p:nvPr/>
          </p:nvSpPr>
          <p:spPr>
            <a:xfrm>
              <a:off x="3652433" y="2045068"/>
              <a:ext cx="589915" cy="598170"/>
            </a:xfrm>
            <a:custGeom>
              <a:avLst/>
              <a:gdLst/>
              <a:ahLst/>
              <a:cxnLst/>
              <a:rect l="l" t="t" r="r" b="b"/>
              <a:pathLst>
                <a:path w="589914" h="598169">
                  <a:moveTo>
                    <a:pt x="0" y="597596"/>
                  </a:moveTo>
                  <a:lnTo>
                    <a:pt x="589818" y="597596"/>
                  </a:lnTo>
                  <a:lnTo>
                    <a:pt x="589818" y="0"/>
                  </a:lnTo>
                  <a:lnTo>
                    <a:pt x="0" y="0"/>
                  </a:lnTo>
                  <a:lnTo>
                    <a:pt x="0" y="597596"/>
                  </a:lnTo>
                  <a:close/>
                </a:path>
              </a:pathLst>
            </a:custGeom>
            <a:ln w="10541">
              <a:solidFill>
                <a:srgbClr val="231F20"/>
              </a:solidFill>
            </a:ln>
          </p:spPr>
          <p:txBody>
            <a:bodyPr wrap="square" lIns="0" tIns="0" rIns="0" bIns="0" rtlCol="0"/>
            <a:lstStyle/>
            <a:p>
              <a:endParaRPr/>
            </a:p>
          </p:txBody>
        </p:sp>
        <p:sp>
          <p:nvSpPr>
            <p:cNvPr id="44" name="object 44"/>
            <p:cNvSpPr/>
            <p:nvPr/>
          </p:nvSpPr>
          <p:spPr>
            <a:xfrm>
              <a:off x="3701586" y="2149860"/>
              <a:ext cx="492125" cy="424815"/>
            </a:xfrm>
            <a:custGeom>
              <a:avLst/>
              <a:gdLst/>
              <a:ahLst/>
              <a:cxnLst/>
              <a:rect l="l" t="t" r="r" b="b"/>
              <a:pathLst>
                <a:path w="492125" h="424814">
                  <a:moveTo>
                    <a:pt x="491519" y="0"/>
                  </a:moveTo>
                  <a:lnTo>
                    <a:pt x="0" y="0"/>
                  </a:lnTo>
                  <a:lnTo>
                    <a:pt x="0" y="424296"/>
                  </a:lnTo>
                  <a:lnTo>
                    <a:pt x="491519" y="424296"/>
                  </a:lnTo>
                  <a:lnTo>
                    <a:pt x="491519" y="0"/>
                  </a:lnTo>
                  <a:close/>
                </a:path>
              </a:pathLst>
            </a:custGeom>
            <a:solidFill>
              <a:srgbClr val="FFFFFF"/>
            </a:solidFill>
          </p:spPr>
          <p:txBody>
            <a:bodyPr wrap="square" lIns="0" tIns="0" rIns="0" bIns="0" rtlCol="0"/>
            <a:lstStyle/>
            <a:p>
              <a:endParaRPr/>
            </a:p>
          </p:txBody>
        </p:sp>
        <p:sp>
          <p:nvSpPr>
            <p:cNvPr id="45" name="object 45"/>
            <p:cNvSpPr/>
            <p:nvPr/>
          </p:nvSpPr>
          <p:spPr>
            <a:xfrm>
              <a:off x="3701586" y="2149860"/>
              <a:ext cx="492125" cy="551815"/>
            </a:xfrm>
            <a:custGeom>
              <a:avLst/>
              <a:gdLst/>
              <a:ahLst/>
              <a:cxnLst/>
              <a:rect l="l" t="t" r="r" b="b"/>
              <a:pathLst>
                <a:path w="492125" h="551814">
                  <a:moveTo>
                    <a:pt x="0" y="424296"/>
                  </a:moveTo>
                  <a:lnTo>
                    <a:pt x="491519" y="424296"/>
                  </a:lnTo>
                  <a:lnTo>
                    <a:pt x="491519" y="0"/>
                  </a:lnTo>
                  <a:lnTo>
                    <a:pt x="0" y="0"/>
                  </a:lnTo>
                  <a:lnTo>
                    <a:pt x="0" y="424296"/>
                  </a:lnTo>
                  <a:close/>
                </a:path>
                <a:path w="492125" h="551814">
                  <a:moveTo>
                    <a:pt x="245752" y="551587"/>
                  </a:moveTo>
                  <a:lnTo>
                    <a:pt x="210071" y="459168"/>
                  </a:lnTo>
                </a:path>
              </a:pathLst>
            </a:custGeom>
            <a:ln w="5270">
              <a:solidFill>
                <a:srgbClr val="231F20"/>
              </a:solidFill>
            </a:ln>
          </p:spPr>
          <p:txBody>
            <a:bodyPr wrap="square" lIns="0" tIns="0" rIns="0" bIns="0" rtlCol="0"/>
            <a:lstStyle/>
            <a:p>
              <a:endParaRPr/>
            </a:p>
          </p:txBody>
        </p:sp>
        <p:sp>
          <p:nvSpPr>
            <p:cNvPr id="46" name="object 46"/>
            <p:cNvSpPr/>
            <p:nvPr/>
          </p:nvSpPr>
          <p:spPr>
            <a:xfrm>
              <a:off x="3895245" y="2574157"/>
              <a:ext cx="59690" cy="81280"/>
            </a:xfrm>
            <a:custGeom>
              <a:avLst/>
              <a:gdLst/>
              <a:ahLst/>
              <a:cxnLst/>
              <a:rect l="l" t="t" r="r" b="b"/>
              <a:pathLst>
                <a:path w="59689" h="81280">
                  <a:moveTo>
                    <a:pt x="2940" y="0"/>
                  </a:moveTo>
                  <a:lnTo>
                    <a:pt x="0" y="80869"/>
                  </a:lnTo>
                  <a:lnTo>
                    <a:pt x="12716" y="69552"/>
                  </a:lnTo>
                  <a:lnTo>
                    <a:pt x="26866" y="61952"/>
                  </a:lnTo>
                  <a:lnTo>
                    <a:pt x="42450" y="58068"/>
                  </a:lnTo>
                  <a:lnTo>
                    <a:pt x="59472" y="57901"/>
                  </a:lnTo>
                  <a:lnTo>
                    <a:pt x="2940" y="0"/>
                  </a:lnTo>
                  <a:close/>
                </a:path>
              </a:pathLst>
            </a:custGeom>
            <a:solidFill>
              <a:srgbClr val="231F20"/>
            </a:solidFill>
          </p:spPr>
          <p:txBody>
            <a:bodyPr wrap="square" lIns="0" tIns="0" rIns="0" bIns="0" rtlCol="0"/>
            <a:lstStyle/>
            <a:p>
              <a:endParaRPr/>
            </a:p>
          </p:txBody>
        </p:sp>
        <p:sp>
          <p:nvSpPr>
            <p:cNvPr id="47" name="object 47"/>
            <p:cNvSpPr/>
            <p:nvPr/>
          </p:nvSpPr>
          <p:spPr>
            <a:xfrm>
              <a:off x="365639" y="2045068"/>
              <a:ext cx="1980564" cy="598170"/>
            </a:xfrm>
            <a:custGeom>
              <a:avLst/>
              <a:gdLst/>
              <a:ahLst/>
              <a:cxnLst/>
              <a:rect l="l" t="t" r="r" b="b"/>
              <a:pathLst>
                <a:path w="1980564" h="598169">
                  <a:moveTo>
                    <a:pt x="1980031" y="0"/>
                  </a:moveTo>
                  <a:lnTo>
                    <a:pt x="0" y="0"/>
                  </a:lnTo>
                  <a:lnTo>
                    <a:pt x="0" y="597600"/>
                  </a:lnTo>
                  <a:lnTo>
                    <a:pt x="1980031" y="597600"/>
                  </a:lnTo>
                  <a:lnTo>
                    <a:pt x="1980031" y="0"/>
                  </a:lnTo>
                  <a:close/>
                </a:path>
              </a:pathLst>
            </a:custGeom>
            <a:solidFill>
              <a:srgbClr val="E6E7E8"/>
            </a:solidFill>
          </p:spPr>
          <p:txBody>
            <a:bodyPr wrap="square" lIns="0" tIns="0" rIns="0" bIns="0" rtlCol="0"/>
            <a:lstStyle/>
            <a:p>
              <a:endParaRPr/>
            </a:p>
          </p:txBody>
        </p:sp>
        <p:sp>
          <p:nvSpPr>
            <p:cNvPr id="48" name="object 48"/>
            <p:cNvSpPr/>
            <p:nvPr/>
          </p:nvSpPr>
          <p:spPr>
            <a:xfrm>
              <a:off x="365639" y="2045068"/>
              <a:ext cx="1980564" cy="598170"/>
            </a:xfrm>
            <a:custGeom>
              <a:avLst/>
              <a:gdLst/>
              <a:ahLst/>
              <a:cxnLst/>
              <a:rect l="l" t="t" r="r" b="b"/>
              <a:pathLst>
                <a:path w="1980564" h="598169">
                  <a:moveTo>
                    <a:pt x="0" y="597600"/>
                  </a:moveTo>
                  <a:lnTo>
                    <a:pt x="1980031" y="597600"/>
                  </a:lnTo>
                  <a:lnTo>
                    <a:pt x="1980031" y="0"/>
                  </a:lnTo>
                  <a:lnTo>
                    <a:pt x="0" y="0"/>
                  </a:lnTo>
                  <a:lnTo>
                    <a:pt x="0" y="597600"/>
                  </a:lnTo>
                  <a:close/>
                </a:path>
              </a:pathLst>
            </a:custGeom>
            <a:ln w="10541">
              <a:solidFill>
                <a:srgbClr val="231F20"/>
              </a:solidFill>
            </a:ln>
          </p:spPr>
          <p:txBody>
            <a:bodyPr wrap="square" lIns="0" tIns="0" rIns="0" bIns="0" rtlCol="0"/>
            <a:lstStyle/>
            <a:p>
              <a:endParaRPr/>
            </a:p>
          </p:txBody>
        </p:sp>
        <p:sp>
          <p:nvSpPr>
            <p:cNvPr id="49" name="object 49"/>
            <p:cNvSpPr/>
            <p:nvPr/>
          </p:nvSpPr>
          <p:spPr>
            <a:xfrm>
              <a:off x="404175" y="2078429"/>
              <a:ext cx="1351915" cy="488315"/>
            </a:xfrm>
            <a:custGeom>
              <a:avLst/>
              <a:gdLst/>
              <a:ahLst/>
              <a:cxnLst/>
              <a:rect l="l" t="t" r="r" b="b"/>
              <a:pathLst>
                <a:path w="1351914" h="488314">
                  <a:moveTo>
                    <a:pt x="1351672" y="0"/>
                  </a:moveTo>
                  <a:lnTo>
                    <a:pt x="0" y="0"/>
                  </a:lnTo>
                  <a:lnTo>
                    <a:pt x="0" y="487940"/>
                  </a:lnTo>
                  <a:lnTo>
                    <a:pt x="1351672" y="487940"/>
                  </a:lnTo>
                  <a:lnTo>
                    <a:pt x="1351672" y="0"/>
                  </a:lnTo>
                  <a:close/>
                </a:path>
              </a:pathLst>
            </a:custGeom>
            <a:solidFill>
              <a:srgbClr val="FFFFFF"/>
            </a:solidFill>
          </p:spPr>
          <p:txBody>
            <a:bodyPr wrap="square" lIns="0" tIns="0" rIns="0" bIns="0" rtlCol="0"/>
            <a:lstStyle/>
            <a:p>
              <a:endParaRPr/>
            </a:p>
          </p:txBody>
        </p:sp>
        <p:sp>
          <p:nvSpPr>
            <p:cNvPr id="50" name="object 50"/>
            <p:cNvSpPr/>
            <p:nvPr/>
          </p:nvSpPr>
          <p:spPr>
            <a:xfrm>
              <a:off x="404175" y="2078429"/>
              <a:ext cx="1351915" cy="488315"/>
            </a:xfrm>
            <a:custGeom>
              <a:avLst/>
              <a:gdLst/>
              <a:ahLst/>
              <a:cxnLst/>
              <a:rect l="l" t="t" r="r" b="b"/>
              <a:pathLst>
                <a:path w="1351914" h="488314">
                  <a:moveTo>
                    <a:pt x="0" y="487940"/>
                  </a:moveTo>
                  <a:lnTo>
                    <a:pt x="1351672" y="487940"/>
                  </a:lnTo>
                  <a:lnTo>
                    <a:pt x="1351672" y="0"/>
                  </a:lnTo>
                  <a:lnTo>
                    <a:pt x="0" y="0"/>
                  </a:lnTo>
                  <a:lnTo>
                    <a:pt x="0" y="487940"/>
                  </a:lnTo>
                  <a:close/>
                </a:path>
              </a:pathLst>
            </a:custGeom>
            <a:ln w="5270">
              <a:solidFill>
                <a:srgbClr val="231F20"/>
              </a:solidFill>
            </a:ln>
          </p:spPr>
          <p:txBody>
            <a:bodyPr wrap="square" lIns="0" tIns="0" rIns="0" bIns="0" rtlCol="0"/>
            <a:lstStyle/>
            <a:p>
              <a:endParaRPr/>
            </a:p>
          </p:txBody>
        </p:sp>
        <p:sp>
          <p:nvSpPr>
            <p:cNvPr id="51" name="object 51"/>
            <p:cNvSpPr/>
            <p:nvPr/>
          </p:nvSpPr>
          <p:spPr>
            <a:xfrm>
              <a:off x="1992573" y="2119765"/>
              <a:ext cx="295275" cy="424815"/>
            </a:xfrm>
            <a:custGeom>
              <a:avLst/>
              <a:gdLst/>
              <a:ahLst/>
              <a:cxnLst/>
              <a:rect l="l" t="t" r="r" b="b"/>
              <a:pathLst>
                <a:path w="295275" h="424814">
                  <a:moveTo>
                    <a:pt x="294912" y="0"/>
                  </a:moveTo>
                  <a:lnTo>
                    <a:pt x="0" y="0"/>
                  </a:lnTo>
                  <a:lnTo>
                    <a:pt x="0" y="424296"/>
                  </a:lnTo>
                  <a:lnTo>
                    <a:pt x="294912" y="424296"/>
                  </a:lnTo>
                  <a:lnTo>
                    <a:pt x="294912" y="0"/>
                  </a:lnTo>
                  <a:close/>
                </a:path>
              </a:pathLst>
            </a:custGeom>
            <a:solidFill>
              <a:srgbClr val="FFFFFF"/>
            </a:solidFill>
          </p:spPr>
          <p:txBody>
            <a:bodyPr wrap="square" lIns="0" tIns="0" rIns="0" bIns="0" rtlCol="0"/>
            <a:lstStyle/>
            <a:p>
              <a:endParaRPr/>
            </a:p>
          </p:txBody>
        </p:sp>
        <p:sp>
          <p:nvSpPr>
            <p:cNvPr id="52" name="object 52"/>
            <p:cNvSpPr/>
            <p:nvPr/>
          </p:nvSpPr>
          <p:spPr>
            <a:xfrm>
              <a:off x="1992573" y="2119765"/>
              <a:ext cx="295275" cy="424815"/>
            </a:xfrm>
            <a:custGeom>
              <a:avLst/>
              <a:gdLst/>
              <a:ahLst/>
              <a:cxnLst/>
              <a:rect l="l" t="t" r="r" b="b"/>
              <a:pathLst>
                <a:path w="295275" h="424814">
                  <a:moveTo>
                    <a:pt x="0" y="424296"/>
                  </a:moveTo>
                  <a:lnTo>
                    <a:pt x="294912" y="424296"/>
                  </a:lnTo>
                  <a:lnTo>
                    <a:pt x="294912" y="0"/>
                  </a:lnTo>
                  <a:lnTo>
                    <a:pt x="0" y="0"/>
                  </a:lnTo>
                  <a:lnTo>
                    <a:pt x="0" y="424296"/>
                  </a:lnTo>
                  <a:close/>
                </a:path>
              </a:pathLst>
            </a:custGeom>
            <a:ln w="5270">
              <a:solidFill>
                <a:srgbClr val="231F20"/>
              </a:solidFill>
            </a:ln>
          </p:spPr>
          <p:txBody>
            <a:bodyPr wrap="square" lIns="0" tIns="0" rIns="0" bIns="0" rtlCol="0"/>
            <a:lstStyle/>
            <a:p>
              <a:endParaRPr/>
            </a:p>
          </p:txBody>
        </p:sp>
        <p:pic>
          <p:nvPicPr>
            <p:cNvPr id="53" name="object 53"/>
            <p:cNvPicPr/>
            <p:nvPr/>
          </p:nvPicPr>
          <p:blipFill>
            <a:blip r:embed="rId9" cstate="print"/>
            <a:stretch>
              <a:fillRect/>
            </a:stretch>
          </p:blipFill>
          <p:spPr>
            <a:xfrm>
              <a:off x="2039090" y="2544061"/>
              <a:ext cx="76369" cy="129926"/>
            </a:xfrm>
            <a:prstGeom prst="rect">
              <a:avLst/>
            </a:prstGeom>
          </p:spPr>
        </p:pic>
        <p:sp>
          <p:nvSpPr>
            <p:cNvPr id="54" name="object 54"/>
            <p:cNvSpPr/>
            <p:nvPr/>
          </p:nvSpPr>
          <p:spPr>
            <a:xfrm>
              <a:off x="1755843" y="2311793"/>
              <a:ext cx="208915" cy="0"/>
            </a:xfrm>
            <a:custGeom>
              <a:avLst/>
              <a:gdLst/>
              <a:ahLst/>
              <a:cxnLst/>
              <a:rect l="l" t="t" r="r" b="b"/>
              <a:pathLst>
                <a:path w="208914">
                  <a:moveTo>
                    <a:pt x="0" y="0"/>
                  </a:moveTo>
                  <a:lnTo>
                    <a:pt x="208385" y="0"/>
                  </a:lnTo>
                </a:path>
              </a:pathLst>
            </a:custGeom>
            <a:ln w="5270">
              <a:solidFill>
                <a:srgbClr val="231F20"/>
              </a:solidFill>
            </a:ln>
          </p:spPr>
          <p:txBody>
            <a:bodyPr wrap="square" lIns="0" tIns="0" rIns="0" bIns="0" rtlCol="0"/>
            <a:lstStyle/>
            <a:p>
              <a:endParaRPr/>
            </a:p>
          </p:txBody>
        </p:sp>
        <p:sp>
          <p:nvSpPr>
            <p:cNvPr id="55" name="object 55"/>
            <p:cNvSpPr/>
            <p:nvPr/>
          </p:nvSpPr>
          <p:spPr>
            <a:xfrm>
              <a:off x="1927229" y="2279918"/>
              <a:ext cx="74930" cy="64135"/>
            </a:xfrm>
            <a:custGeom>
              <a:avLst/>
              <a:gdLst/>
              <a:ahLst/>
              <a:cxnLst/>
              <a:rect l="l" t="t" r="r" b="b"/>
              <a:pathLst>
                <a:path w="74930" h="64135">
                  <a:moveTo>
                    <a:pt x="0" y="0"/>
                  </a:moveTo>
                  <a:lnTo>
                    <a:pt x="5982" y="15938"/>
                  </a:lnTo>
                  <a:lnTo>
                    <a:pt x="7976" y="31876"/>
                  </a:lnTo>
                  <a:lnTo>
                    <a:pt x="5982" y="47815"/>
                  </a:lnTo>
                  <a:lnTo>
                    <a:pt x="0" y="63753"/>
                  </a:lnTo>
                  <a:lnTo>
                    <a:pt x="74387" y="31874"/>
                  </a:lnTo>
                  <a:lnTo>
                    <a:pt x="0" y="0"/>
                  </a:lnTo>
                  <a:close/>
                </a:path>
              </a:pathLst>
            </a:custGeom>
            <a:solidFill>
              <a:srgbClr val="231F20"/>
            </a:solidFill>
          </p:spPr>
          <p:txBody>
            <a:bodyPr wrap="square" lIns="0" tIns="0" rIns="0" bIns="0" rtlCol="0"/>
            <a:lstStyle/>
            <a:p>
              <a:endParaRPr/>
            </a:p>
          </p:txBody>
        </p:sp>
        <p:sp>
          <p:nvSpPr>
            <p:cNvPr id="56" name="object 56"/>
            <p:cNvSpPr/>
            <p:nvPr/>
          </p:nvSpPr>
          <p:spPr>
            <a:xfrm>
              <a:off x="2337717" y="2523149"/>
              <a:ext cx="1259205" cy="0"/>
            </a:xfrm>
            <a:custGeom>
              <a:avLst/>
              <a:gdLst/>
              <a:ahLst/>
              <a:cxnLst/>
              <a:rect l="l" t="t" r="r" b="b"/>
              <a:pathLst>
                <a:path w="1259204">
                  <a:moveTo>
                    <a:pt x="0" y="0"/>
                  </a:moveTo>
                  <a:lnTo>
                    <a:pt x="1259090" y="0"/>
                  </a:lnTo>
                </a:path>
              </a:pathLst>
            </a:custGeom>
            <a:ln w="15812">
              <a:solidFill>
                <a:srgbClr val="231F20"/>
              </a:solidFill>
            </a:ln>
          </p:spPr>
          <p:txBody>
            <a:bodyPr wrap="square" lIns="0" tIns="0" rIns="0" bIns="0" rtlCol="0"/>
            <a:lstStyle/>
            <a:p>
              <a:endParaRPr/>
            </a:p>
          </p:txBody>
        </p:sp>
        <p:pic>
          <p:nvPicPr>
            <p:cNvPr id="57" name="object 57"/>
            <p:cNvPicPr/>
            <p:nvPr/>
          </p:nvPicPr>
          <p:blipFill>
            <a:blip r:embed="rId7" cstate="print"/>
            <a:stretch>
              <a:fillRect/>
            </a:stretch>
          </p:blipFill>
          <p:spPr>
            <a:xfrm>
              <a:off x="3541752" y="2475714"/>
              <a:ext cx="110680" cy="94872"/>
            </a:xfrm>
            <a:prstGeom prst="rect">
              <a:avLst/>
            </a:prstGeom>
          </p:spPr>
        </p:pic>
      </p:grpSp>
      <p:grpSp>
        <p:nvGrpSpPr>
          <p:cNvPr id="58" name="object 58"/>
          <p:cNvGrpSpPr/>
          <p:nvPr/>
        </p:nvGrpSpPr>
        <p:grpSpPr>
          <a:xfrm>
            <a:off x="3204229" y="2252232"/>
            <a:ext cx="281940" cy="64135"/>
            <a:chOff x="3204229" y="2252232"/>
            <a:chExt cx="281940" cy="64135"/>
          </a:xfrm>
        </p:grpSpPr>
        <p:sp>
          <p:nvSpPr>
            <p:cNvPr id="59" name="object 59"/>
            <p:cNvSpPr/>
            <p:nvPr/>
          </p:nvSpPr>
          <p:spPr>
            <a:xfrm>
              <a:off x="3204229" y="2284110"/>
              <a:ext cx="244475" cy="0"/>
            </a:xfrm>
            <a:custGeom>
              <a:avLst/>
              <a:gdLst/>
              <a:ahLst/>
              <a:cxnLst/>
              <a:rect l="l" t="t" r="r" b="b"/>
              <a:pathLst>
                <a:path w="244475">
                  <a:moveTo>
                    <a:pt x="0" y="0"/>
                  </a:moveTo>
                  <a:lnTo>
                    <a:pt x="244466" y="0"/>
                  </a:lnTo>
                </a:path>
              </a:pathLst>
            </a:custGeom>
            <a:ln w="5270">
              <a:solidFill>
                <a:srgbClr val="231F20"/>
              </a:solidFill>
            </a:ln>
          </p:spPr>
          <p:txBody>
            <a:bodyPr wrap="square" lIns="0" tIns="0" rIns="0" bIns="0" rtlCol="0"/>
            <a:lstStyle/>
            <a:p>
              <a:endParaRPr/>
            </a:p>
          </p:txBody>
        </p:sp>
        <p:sp>
          <p:nvSpPr>
            <p:cNvPr id="60" name="object 60"/>
            <p:cNvSpPr/>
            <p:nvPr/>
          </p:nvSpPr>
          <p:spPr>
            <a:xfrm>
              <a:off x="3411697" y="2252232"/>
              <a:ext cx="74930" cy="64135"/>
            </a:xfrm>
            <a:custGeom>
              <a:avLst/>
              <a:gdLst/>
              <a:ahLst/>
              <a:cxnLst/>
              <a:rect l="l" t="t" r="r" b="b"/>
              <a:pathLst>
                <a:path w="74929" h="64135">
                  <a:moveTo>
                    <a:pt x="0" y="0"/>
                  </a:moveTo>
                  <a:lnTo>
                    <a:pt x="5976" y="15937"/>
                  </a:lnTo>
                  <a:lnTo>
                    <a:pt x="7968" y="31875"/>
                  </a:lnTo>
                  <a:lnTo>
                    <a:pt x="5976" y="47813"/>
                  </a:lnTo>
                  <a:lnTo>
                    <a:pt x="0" y="63751"/>
                  </a:lnTo>
                  <a:lnTo>
                    <a:pt x="74377" y="31878"/>
                  </a:lnTo>
                  <a:lnTo>
                    <a:pt x="0" y="0"/>
                  </a:lnTo>
                  <a:close/>
                </a:path>
              </a:pathLst>
            </a:custGeom>
            <a:solidFill>
              <a:srgbClr val="231F20"/>
            </a:solidFill>
          </p:spPr>
          <p:txBody>
            <a:bodyPr wrap="square" lIns="0" tIns="0" rIns="0" bIns="0" rtlCol="0"/>
            <a:lstStyle/>
            <a:p>
              <a:endParaRPr/>
            </a:p>
          </p:txBody>
        </p:sp>
      </p:grpSp>
      <p:sp>
        <p:nvSpPr>
          <p:cNvPr id="61" name="object 61"/>
          <p:cNvSpPr txBox="1"/>
          <p:nvPr/>
        </p:nvSpPr>
        <p:spPr>
          <a:xfrm>
            <a:off x="410593" y="2097886"/>
            <a:ext cx="493395" cy="293370"/>
          </a:xfrm>
          <a:prstGeom prst="rect">
            <a:avLst/>
          </a:prstGeom>
        </p:spPr>
        <p:txBody>
          <a:bodyPr vert="horz" wrap="square" lIns="0" tIns="10795" rIns="0" bIns="0" rtlCol="0">
            <a:spAutoFit/>
          </a:bodyPr>
          <a:lstStyle/>
          <a:p>
            <a:pPr marL="12700" marR="5080" indent="1270">
              <a:lnSpc>
                <a:spcPct val="106900"/>
              </a:lnSpc>
              <a:spcBef>
                <a:spcPts val="85"/>
              </a:spcBef>
            </a:pPr>
            <a:r>
              <a:rPr sz="550" spc="35" dirty="0">
                <a:solidFill>
                  <a:srgbClr val="231F20"/>
                </a:solidFill>
                <a:latin typeface="Arial"/>
                <a:cs typeface="Arial"/>
              </a:rPr>
              <a:t>F</a:t>
            </a:r>
            <a:r>
              <a:rPr sz="550" spc="25" dirty="0">
                <a:solidFill>
                  <a:srgbClr val="231F20"/>
                </a:solidFill>
                <a:latin typeface="Arial"/>
                <a:cs typeface="Arial"/>
              </a:rPr>
              <a:t>I</a:t>
            </a:r>
            <a:r>
              <a:rPr sz="550" spc="40" dirty="0">
                <a:solidFill>
                  <a:srgbClr val="231F20"/>
                </a:solidFill>
                <a:latin typeface="Arial"/>
                <a:cs typeface="Arial"/>
              </a:rPr>
              <a:t>RS</a:t>
            </a:r>
            <a:r>
              <a:rPr sz="550" spc="15" dirty="0">
                <a:solidFill>
                  <a:srgbClr val="231F20"/>
                </a:solidFill>
                <a:latin typeface="Arial"/>
                <a:cs typeface="Arial"/>
              </a:rPr>
              <a:t>T </a:t>
            </a:r>
            <a:r>
              <a:rPr sz="550" spc="40" dirty="0">
                <a:solidFill>
                  <a:srgbClr val="231F20"/>
                </a:solidFill>
                <a:latin typeface="Arial"/>
                <a:cs typeface="Arial"/>
              </a:rPr>
              <a:t>NAM</a:t>
            </a:r>
            <a:r>
              <a:rPr sz="550" spc="10" dirty="0">
                <a:solidFill>
                  <a:srgbClr val="231F20"/>
                </a:solidFill>
                <a:latin typeface="Arial"/>
                <a:cs typeface="Arial"/>
              </a:rPr>
              <a:t>E  </a:t>
            </a:r>
            <a:r>
              <a:rPr sz="550" spc="30" dirty="0">
                <a:solidFill>
                  <a:srgbClr val="231F20"/>
                </a:solidFill>
                <a:latin typeface="Arial"/>
                <a:cs typeface="Arial"/>
              </a:rPr>
              <a:t>LAST </a:t>
            </a:r>
            <a:r>
              <a:rPr sz="550" spc="35" dirty="0">
                <a:solidFill>
                  <a:srgbClr val="231F20"/>
                </a:solidFill>
                <a:latin typeface="Arial"/>
                <a:cs typeface="Arial"/>
              </a:rPr>
              <a:t>NAME </a:t>
            </a:r>
            <a:r>
              <a:rPr sz="550" spc="-140" dirty="0">
                <a:solidFill>
                  <a:srgbClr val="231F20"/>
                </a:solidFill>
                <a:latin typeface="Arial"/>
                <a:cs typeface="Arial"/>
              </a:rPr>
              <a:t> </a:t>
            </a:r>
            <a:r>
              <a:rPr sz="550" spc="25" dirty="0">
                <a:solidFill>
                  <a:srgbClr val="231F20"/>
                </a:solidFill>
                <a:latin typeface="Arial"/>
                <a:cs typeface="Arial"/>
              </a:rPr>
              <a:t>E-MAIL</a:t>
            </a:r>
            <a:endParaRPr sz="550">
              <a:latin typeface="Arial"/>
              <a:cs typeface="Arial"/>
            </a:endParaRPr>
          </a:p>
        </p:txBody>
      </p:sp>
      <p:sp>
        <p:nvSpPr>
          <p:cNvPr id="62" name="object 62"/>
          <p:cNvSpPr txBox="1"/>
          <p:nvPr/>
        </p:nvSpPr>
        <p:spPr>
          <a:xfrm>
            <a:off x="2056096" y="1888284"/>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63" name="object 63"/>
          <p:cNvSpPr txBox="1"/>
          <p:nvPr/>
        </p:nvSpPr>
        <p:spPr>
          <a:xfrm>
            <a:off x="1787173" y="2696676"/>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Check form</a:t>
            </a:r>
            <a:endParaRPr sz="650">
              <a:latin typeface="Arial"/>
              <a:cs typeface="Arial"/>
            </a:endParaRPr>
          </a:p>
        </p:txBody>
      </p:sp>
      <p:sp>
        <p:nvSpPr>
          <p:cNvPr id="64" name="object 64"/>
          <p:cNvSpPr txBox="1"/>
          <p:nvPr/>
        </p:nvSpPr>
        <p:spPr>
          <a:xfrm>
            <a:off x="3716292" y="2723942"/>
            <a:ext cx="5226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 form</a:t>
            </a:r>
            <a:endParaRPr sz="650">
              <a:latin typeface="Arial"/>
              <a:cs typeface="Arial"/>
            </a:endParaRPr>
          </a:p>
        </p:txBody>
      </p:sp>
      <p:sp>
        <p:nvSpPr>
          <p:cNvPr id="65" name="object 65"/>
          <p:cNvSpPr/>
          <p:nvPr/>
        </p:nvSpPr>
        <p:spPr>
          <a:xfrm>
            <a:off x="939543" y="2106462"/>
            <a:ext cx="786765" cy="297180"/>
          </a:xfrm>
          <a:custGeom>
            <a:avLst/>
            <a:gdLst/>
            <a:ahLst/>
            <a:cxnLst/>
            <a:rect l="l" t="t" r="r" b="b"/>
            <a:pathLst>
              <a:path w="786764" h="297180">
                <a:moveTo>
                  <a:pt x="0" y="84859"/>
                </a:moveTo>
                <a:lnTo>
                  <a:pt x="786428" y="84859"/>
                </a:lnTo>
                <a:lnTo>
                  <a:pt x="786428" y="0"/>
                </a:lnTo>
                <a:lnTo>
                  <a:pt x="0" y="0"/>
                </a:lnTo>
                <a:lnTo>
                  <a:pt x="0" y="84859"/>
                </a:lnTo>
                <a:close/>
              </a:path>
              <a:path w="786764" h="297180">
                <a:moveTo>
                  <a:pt x="0" y="190932"/>
                </a:moveTo>
                <a:lnTo>
                  <a:pt x="786428" y="190932"/>
                </a:lnTo>
                <a:lnTo>
                  <a:pt x="786428" y="106073"/>
                </a:lnTo>
                <a:lnTo>
                  <a:pt x="0" y="106073"/>
                </a:lnTo>
                <a:lnTo>
                  <a:pt x="0" y="190932"/>
                </a:lnTo>
                <a:close/>
              </a:path>
              <a:path w="786764" h="297180">
                <a:moveTo>
                  <a:pt x="0" y="297004"/>
                </a:moveTo>
                <a:lnTo>
                  <a:pt x="786428" y="297004"/>
                </a:lnTo>
                <a:lnTo>
                  <a:pt x="786428" y="212144"/>
                </a:lnTo>
                <a:lnTo>
                  <a:pt x="0" y="212144"/>
                </a:lnTo>
                <a:lnTo>
                  <a:pt x="0" y="297004"/>
                </a:lnTo>
                <a:close/>
              </a:path>
            </a:pathLst>
          </a:custGeom>
          <a:ln w="5270">
            <a:solidFill>
              <a:srgbClr val="231F20"/>
            </a:solidFill>
          </a:ln>
        </p:spPr>
        <p:txBody>
          <a:bodyPr wrap="square" lIns="0" tIns="0" rIns="0" bIns="0" rtlCol="0"/>
          <a:lstStyle/>
          <a:p>
            <a:endParaRPr/>
          </a:p>
        </p:txBody>
      </p:sp>
      <p:sp>
        <p:nvSpPr>
          <p:cNvPr id="66" name="object 66"/>
          <p:cNvSpPr txBox="1"/>
          <p:nvPr/>
        </p:nvSpPr>
        <p:spPr>
          <a:xfrm>
            <a:off x="942179" y="2065702"/>
            <a:ext cx="796290" cy="133985"/>
          </a:xfrm>
          <a:prstGeom prst="rect">
            <a:avLst/>
          </a:prstGeom>
          <a:solidFill>
            <a:srgbClr val="FFFFFF"/>
          </a:solidFill>
        </p:spPr>
        <p:txBody>
          <a:bodyPr vert="horz" wrap="square" lIns="0" tIns="41910" rIns="0" bIns="0" rtlCol="0">
            <a:spAutoFit/>
          </a:bodyPr>
          <a:lstStyle/>
          <a:p>
            <a:pPr marL="21590">
              <a:lnSpc>
                <a:spcPct val="100000"/>
              </a:lnSpc>
              <a:spcBef>
                <a:spcPts val="330"/>
              </a:spcBef>
            </a:pPr>
            <a:r>
              <a:rPr sz="500" spc="10" dirty="0">
                <a:solidFill>
                  <a:srgbClr val="231F20"/>
                </a:solidFill>
                <a:latin typeface="Arial"/>
                <a:cs typeface="Arial"/>
              </a:rPr>
              <a:t>MAARTEN</a:t>
            </a:r>
            <a:endParaRPr sz="500">
              <a:latin typeface="Arial"/>
              <a:cs typeface="Arial"/>
            </a:endParaRPr>
          </a:p>
        </p:txBody>
      </p:sp>
      <p:sp>
        <p:nvSpPr>
          <p:cNvPr id="70" name="object 70"/>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0" action="ppaction://hlinksldjump"/>
              </a:rPr>
              <a:t>Scaling</a:t>
            </a:r>
            <a:r>
              <a:rPr sz="600" spc="-30" dirty="0">
                <a:solidFill>
                  <a:srgbClr val="3333B2"/>
                </a:solidFill>
                <a:latin typeface="Arial"/>
                <a:cs typeface="Arial"/>
                <a:hlinkClick r:id="rId10" action="ppaction://hlinksldjump"/>
              </a:rPr>
              <a:t> </a:t>
            </a:r>
            <a:r>
              <a:rPr sz="600" spc="-5" dirty="0">
                <a:solidFill>
                  <a:srgbClr val="3333B2"/>
                </a:solidFill>
                <a:latin typeface="Arial"/>
                <a:cs typeface="Arial"/>
                <a:hlinkClick r:id="rId10" action="ppaction://hlinksldjump"/>
              </a:rPr>
              <a:t>techniques</a:t>
            </a:r>
            <a:endParaRPr sz="600">
              <a:latin typeface="Arial"/>
              <a:cs typeface="Arial"/>
            </a:endParaRPr>
          </a:p>
        </p:txBody>
      </p:sp>
      <p:sp>
        <p:nvSpPr>
          <p:cNvPr id="71" name="object 7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23</a:t>
            </a:r>
            <a:r>
              <a:rPr spc="-40" dirty="0"/>
              <a:t> </a:t>
            </a:r>
            <a:r>
              <a:rPr spc="-5" dirty="0"/>
              <a:t>/</a:t>
            </a:r>
            <a:r>
              <a:rPr spc="-35" dirty="0"/>
              <a:t> </a:t>
            </a:r>
            <a:r>
              <a:rPr spc="-5" dirty="0"/>
              <a:t>56</a:t>
            </a:r>
          </a:p>
        </p:txBody>
      </p:sp>
      <p:sp>
        <p:nvSpPr>
          <p:cNvPr id="67" name="object 67"/>
          <p:cNvSpPr txBox="1"/>
          <p:nvPr/>
        </p:nvSpPr>
        <p:spPr>
          <a:xfrm>
            <a:off x="942179" y="2310636"/>
            <a:ext cx="796290" cy="90805"/>
          </a:xfrm>
          <a:prstGeom prst="rect">
            <a:avLst/>
          </a:prstGeom>
          <a:solidFill>
            <a:srgbClr val="FFFFFF"/>
          </a:solidFill>
        </p:spPr>
        <p:txBody>
          <a:bodyPr vert="horz" wrap="square" lIns="0" tIns="6985" rIns="0" bIns="0" rtlCol="0">
            <a:spAutoFit/>
          </a:bodyPr>
          <a:lstStyle/>
          <a:p>
            <a:pPr marL="21590">
              <a:lnSpc>
                <a:spcPct val="100000"/>
              </a:lnSpc>
              <a:spcBef>
                <a:spcPts val="55"/>
              </a:spcBef>
            </a:pPr>
            <a:r>
              <a:rPr sz="500" spc="5" dirty="0">
                <a:solidFill>
                  <a:srgbClr val="231F20"/>
                </a:solidFill>
                <a:latin typeface="Arial"/>
                <a:cs typeface="Arial"/>
                <a:hlinkClick r:id="rId8"/>
              </a:rPr>
              <a:t>MVS@VAN-STEEN.NET</a:t>
            </a:r>
            <a:endParaRPr sz="500">
              <a:latin typeface="Arial"/>
              <a:cs typeface="Arial"/>
            </a:endParaRPr>
          </a:p>
        </p:txBody>
      </p:sp>
      <p:sp>
        <p:nvSpPr>
          <p:cNvPr id="68" name="object 68"/>
          <p:cNvSpPr txBox="1"/>
          <p:nvPr/>
        </p:nvSpPr>
        <p:spPr>
          <a:xfrm>
            <a:off x="942179" y="2204564"/>
            <a:ext cx="796290" cy="100965"/>
          </a:xfrm>
          <a:prstGeom prst="rect">
            <a:avLst/>
          </a:prstGeom>
          <a:solidFill>
            <a:srgbClr val="FFFFFF"/>
          </a:solidFill>
        </p:spPr>
        <p:txBody>
          <a:bodyPr vert="horz" wrap="square" lIns="0" tIns="9525" rIns="0" bIns="0" rtlCol="0">
            <a:spAutoFit/>
          </a:bodyPr>
          <a:lstStyle/>
          <a:p>
            <a:pPr marL="20955">
              <a:lnSpc>
                <a:spcPct val="100000"/>
              </a:lnSpc>
              <a:spcBef>
                <a:spcPts val="75"/>
              </a:spcBef>
            </a:pPr>
            <a:r>
              <a:rPr sz="500" spc="-35" dirty="0">
                <a:solidFill>
                  <a:srgbClr val="231F20"/>
                </a:solidFill>
                <a:latin typeface="Arial"/>
                <a:cs typeface="Arial"/>
              </a:rPr>
              <a:t>V</a:t>
            </a:r>
            <a:r>
              <a:rPr sz="500" spc="10" dirty="0">
                <a:solidFill>
                  <a:srgbClr val="231F20"/>
                </a:solidFill>
                <a:latin typeface="Arial"/>
                <a:cs typeface="Arial"/>
              </a:rPr>
              <a:t>A</a:t>
            </a:r>
            <a:r>
              <a:rPr sz="500" spc="-5" dirty="0">
                <a:solidFill>
                  <a:srgbClr val="231F20"/>
                </a:solidFill>
                <a:latin typeface="Arial"/>
                <a:cs typeface="Arial"/>
              </a:rPr>
              <a:t>N</a:t>
            </a:r>
            <a:r>
              <a:rPr sz="500" spc="15" dirty="0">
                <a:solidFill>
                  <a:srgbClr val="231F20"/>
                </a:solidFill>
                <a:latin typeface="Arial"/>
                <a:cs typeface="Arial"/>
              </a:rPr>
              <a:t> </a:t>
            </a:r>
            <a:r>
              <a:rPr sz="500" spc="10" dirty="0">
                <a:solidFill>
                  <a:srgbClr val="231F20"/>
                </a:solidFill>
                <a:latin typeface="Arial"/>
                <a:cs typeface="Arial"/>
              </a:rPr>
              <a:t>STEE</a:t>
            </a:r>
            <a:r>
              <a:rPr sz="500" spc="-5" dirty="0">
                <a:solidFill>
                  <a:srgbClr val="231F20"/>
                </a:solidFill>
                <a:latin typeface="Arial"/>
                <a:cs typeface="Arial"/>
              </a:rPr>
              <a:t>N</a:t>
            </a:r>
            <a:endParaRPr sz="500">
              <a:latin typeface="Arial"/>
              <a:cs typeface="Arial"/>
            </a:endParaRPr>
          </a:p>
        </p:txBody>
      </p:sp>
      <p:sp>
        <p:nvSpPr>
          <p:cNvPr id="69" name="object 69"/>
          <p:cNvSpPr txBox="1"/>
          <p:nvPr/>
        </p:nvSpPr>
        <p:spPr>
          <a:xfrm>
            <a:off x="2397474" y="2134713"/>
            <a:ext cx="807085" cy="302895"/>
          </a:xfrm>
          <a:prstGeom prst="rect">
            <a:avLst/>
          </a:prstGeom>
          <a:ln w="5270">
            <a:solidFill>
              <a:srgbClr val="231F20"/>
            </a:solidFill>
          </a:ln>
        </p:spPr>
        <p:txBody>
          <a:bodyPr vert="horz" wrap="square" lIns="0" tIns="39370" rIns="0" bIns="0" rtlCol="0">
            <a:spAutoFit/>
          </a:bodyPr>
          <a:lstStyle/>
          <a:p>
            <a:pPr marL="53340" marR="375920">
              <a:lnSpc>
                <a:spcPts val="560"/>
              </a:lnSpc>
              <a:spcBef>
                <a:spcPts val="310"/>
              </a:spcBef>
            </a:pPr>
            <a:r>
              <a:rPr sz="500" spc="10" dirty="0">
                <a:solidFill>
                  <a:srgbClr val="231F20"/>
                </a:solidFill>
                <a:latin typeface="Arial"/>
                <a:cs typeface="Arial"/>
              </a:rPr>
              <a:t>MAARTEN </a:t>
            </a:r>
            <a:r>
              <a:rPr sz="500" spc="15" dirty="0">
                <a:solidFill>
                  <a:srgbClr val="231F20"/>
                </a:solidFill>
                <a:latin typeface="Arial"/>
                <a:cs typeface="Arial"/>
              </a:rPr>
              <a:t> </a:t>
            </a:r>
            <a:r>
              <a:rPr sz="500" spc="-25" dirty="0">
                <a:solidFill>
                  <a:srgbClr val="231F20"/>
                </a:solidFill>
                <a:latin typeface="Arial"/>
                <a:cs typeface="Arial"/>
              </a:rPr>
              <a:t>V</a:t>
            </a:r>
            <a:r>
              <a:rPr sz="500" spc="10" dirty="0">
                <a:solidFill>
                  <a:srgbClr val="231F20"/>
                </a:solidFill>
                <a:latin typeface="Arial"/>
                <a:cs typeface="Arial"/>
              </a:rPr>
              <a:t>A</a:t>
            </a:r>
            <a:r>
              <a:rPr sz="500" spc="-5" dirty="0">
                <a:solidFill>
                  <a:srgbClr val="231F20"/>
                </a:solidFill>
                <a:latin typeface="Arial"/>
                <a:cs typeface="Arial"/>
              </a:rPr>
              <a:t>N</a:t>
            </a:r>
            <a:r>
              <a:rPr sz="500" spc="15" dirty="0">
                <a:solidFill>
                  <a:srgbClr val="231F20"/>
                </a:solidFill>
                <a:latin typeface="Arial"/>
                <a:cs typeface="Arial"/>
              </a:rPr>
              <a:t> </a:t>
            </a:r>
            <a:r>
              <a:rPr sz="500" spc="10" dirty="0">
                <a:solidFill>
                  <a:srgbClr val="231F20"/>
                </a:solidFill>
                <a:latin typeface="Arial"/>
                <a:cs typeface="Arial"/>
              </a:rPr>
              <a:t>STEE</a:t>
            </a:r>
            <a:r>
              <a:rPr sz="500" spc="-5" dirty="0">
                <a:solidFill>
                  <a:srgbClr val="231F20"/>
                </a:solidFill>
                <a:latin typeface="Arial"/>
                <a:cs typeface="Arial"/>
              </a:rPr>
              <a:t>N</a:t>
            </a:r>
            <a:endParaRPr sz="500">
              <a:latin typeface="Arial"/>
              <a:cs typeface="Arial"/>
            </a:endParaRPr>
          </a:p>
          <a:p>
            <a:pPr marL="53340">
              <a:lnSpc>
                <a:spcPts val="540"/>
              </a:lnSpc>
            </a:pPr>
            <a:r>
              <a:rPr sz="500" spc="5" dirty="0">
                <a:solidFill>
                  <a:srgbClr val="231F20"/>
                </a:solidFill>
                <a:latin typeface="Arial"/>
                <a:cs typeface="Arial"/>
                <a:hlinkClick r:id="rId8"/>
              </a:rPr>
              <a:t>MVS@VAN-STEEN.NET</a:t>
            </a:r>
            <a:endParaRPr sz="5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24</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95300" y="188846"/>
            <a:ext cx="18211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Techniques</a:t>
            </a:r>
            <a:r>
              <a:rPr sz="1400" spc="-35" dirty="0">
                <a:solidFill>
                  <a:srgbClr val="3333B2"/>
                </a:solidFill>
                <a:latin typeface="Arial"/>
                <a:cs typeface="Arial"/>
              </a:rPr>
              <a:t> </a:t>
            </a:r>
            <a:r>
              <a:rPr sz="1400" spc="-5" dirty="0">
                <a:solidFill>
                  <a:srgbClr val="3333B2"/>
                </a:solidFill>
                <a:latin typeface="Arial"/>
                <a:cs typeface="Arial"/>
              </a:rPr>
              <a:t>for</a:t>
            </a:r>
            <a:r>
              <a:rPr sz="1400" spc="-30" dirty="0">
                <a:solidFill>
                  <a:srgbClr val="3333B2"/>
                </a:solidFill>
                <a:latin typeface="Arial"/>
                <a:cs typeface="Arial"/>
              </a:rPr>
              <a:t> </a:t>
            </a:r>
            <a:r>
              <a:rPr sz="1400" spc="15" dirty="0">
                <a:solidFill>
                  <a:srgbClr val="3333B2"/>
                </a:solidFill>
                <a:latin typeface="Arial"/>
                <a:cs typeface="Arial"/>
              </a:rPr>
              <a:t>scaling</a:t>
            </a:r>
            <a:endParaRPr sz="1400">
              <a:latin typeface="Arial"/>
              <a:cs typeface="Arial"/>
            </a:endParaRPr>
          </a:p>
        </p:txBody>
      </p:sp>
      <p:sp>
        <p:nvSpPr>
          <p:cNvPr id="5" name="object 5"/>
          <p:cNvSpPr txBox="1"/>
          <p:nvPr/>
        </p:nvSpPr>
        <p:spPr>
          <a:xfrm>
            <a:off x="321894" y="1176728"/>
            <a:ext cx="3956685" cy="91376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Partition data</a:t>
            </a:r>
            <a:r>
              <a:rPr sz="1200" dirty="0">
                <a:solidFill>
                  <a:srgbClr val="3333B2"/>
                </a:solidFill>
                <a:latin typeface="Arial"/>
                <a:cs typeface="Arial"/>
              </a:rPr>
              <a:t> </a:t>
            </a:r>
            <a:r>
              <a:rPr sz="1200" spc="-5" dirty="0">
                <a:solidFill>
                  <a:srgbClr val="3333B2"/>
                </a:solidFill>
                <a:latin typeface="Arial"/>
                <a:cs typeface="Arial"/>
              </a:rPr>
              <a:t>and computations</a:t>
            </a:r>
            <a:r>
              <a:rPr sz="1200" dirty="0">
                <a:solidFill>
                  <a:srgbClr val="3333B2"/>
                </a:solidFill>
                <a:latin typeface="Arial"/>
                <a:cs typeface="Arial"/>
              </a:rPr>
              <a:t> </a:t>
            </a:r>
            <a:r>
              <a:rPr sz="1200" spc="-5" dirty="0">
                <a:solidFill>
                  <a:srgbClr val="3333B2"/>
                </a:solidFill>
                <a:latin typeface="Arial"/>
                <a:cs typeface="Arial"/>
              </a:rPr>
              <a:t>across multiple</a:t>
            </a:r>
            <a:r>
              <a:rPr sz="1200" dirty="0">
                <a:solidFill>
                  <a:srgbClr val="3333B2"/>
                </a:solidFill>
                <a:latin typeface="Arial"/>
                <a:cs typeface="Arial"/>
              </a:rPr>
              <a:t> </a:t>
            </a:r>
            <a:r>
              <a:rPr sz="1200" spc="-5" dirty="0">
                <a:solidFill>
                  <a:srgbClr val="3333B2"/>
                </a:solidFill>
                <a:latin typeface="Arial"/>
                <a:cs typeface="Arial"/>
              </a:rPr>
              <a:t>machines</a:t>
            </a:r>
            <a:endParaRPr sz="1200" dirty="0">
              <a:latin typeface="Arial"/>
              <a:cs typeface="Arial"/>
            </a:endParaRPr>
          </a:p>
          <a:p>
            <a:pPr marL="314960" indent="-168275">
              <a:lnSpc>
                <a:spcPct val="100000"/>
              </a:lnSpc>
              <a:spcBef>
                <a:spcPts val="770"/>
              </a:spcBef>
              <a:buClr>
                <a:srgbClr val="3333B2"/>
              </a:buClr>
              <a:buChar char="►"/>
              <a:tabLst>
                <a:tab pos="315595" algn="l"/>
              </a:tabLst>
            </a:pPr>
            <a:r>
              <a:rPr sz="1000" spc="-15" dirty="0">
                <a:latin typeface="Arial"/>
                <a:cs typeface="Arial"/>
              </a:rPr>
              <a:t>Move</a:t>
            </a:r>
            <a:r>
              <a:rPr sz="1000" spc="-5" dirty="0">
                <a:latin typeface="Arial"/>
                <a:cs typeface="Arial"/>
              </a:rPr>
              <a:t> computations to clients </a:t>
            </a:r>
            <a:r>
              <a:rPr sz="1000" spc="-15" dirty="0">
                <a:latin typeface="Arial"/>
                <a:cs typeface="Arial"/>
              </a:rPr>
              <a:t>(Java</a:t>
            </a:r>
            <a:r>
              <a:rPr sz="1000" spc="-5" dirty="0">
                <a:latin typeface="Arial"/>
                <a:cs typeface="Arial"/>
              </a:rPr>
              <a:t> applets)</a:t>
            </a:r>
            <a:endParaRPr sz="1000" dirty="0">
              <a:latin typeface="Arial"/>
              <a:cs typeface="Arial"/>
            </a:endParaRPr>
          </a:p>
          <a:p>
            <a:pPr marL="314960" indent="-168275">
              <a:lnSpc>
                <a:spcPct val="100000"/>
              </a:lnSpc>
              <a:spcBef>
                <a:spcPts val="595"/>
              </a:spcBef>
              <a:buClr>
                <a:srgbClr val="3333B2"/>
              </a:buClr>
              <a:buChar char="►"/>
              <a:tabLst>
                <a:tab pos="315595" algn="l"/>
              </a:tabLst>
            </a:pPr>
            <a:r>
              <a:rPr sz="1000" spc="-5" dirty="0">
                <a:latin typeface="Arial"/>
                <a:cs typeface="Arial"/>
              </a:rPr>
              <a:t>Decentralized</a:t>
            </a:r>
            <a:r>
              <a:rPr sz="1000" spc="-15" dirty="0">
                <a:latin typeface="Arial"/>
                <a:cs typeface="Arial"/>
              </a:rPr>
              <a:t> </a:t>
            </a:r>
            <a:r>
              <a:rPr sz="1000" spc="-5" dirty="0">
                <a:latin typeface="Arial"/>
                <a:cs typeface="Arial"/>
              </a:rPr>
              <a:t>naming</a:t>
            </a:r>
            <a:r>
              <a:rPr sz="1000" spc="-15" dirty="0">
                <a:latin typeface="Arial"/>
                <a:cs typeface="Arial"/>
              </a:rPr>
              <a:t> </a:t>
            </a:r>
            <a:r>
              <a:rPr sz="1000" dirty="0">
                <a:latin typeface="Arial"/>
                <a:cs typeface="Arial"/>
              </a:rPr>
              <a:t>services</a:t>
            </a:r>
            <a:r>
              <a:rPr sz="1000" spc="-15" dirty="0">
                <a:latin typeface="Arial"/>
                <a:cs typeface="Arial"/>
              </a:rPr>
              <a:t> </a:t>
            </a:r>
            <a:r>
              <a:rPr sz="1000" spc="-5" dirty="0">
                <a:latin typeface="Arial"/>
                <a:cs typeface="Arial"/>
              </a:rPr>
              <a:t>(DNS)</a:t>
            </a:r>
            <a:endParaRPr sz="1000" dirty="0">
              <a:latin typeface="Arial"/>
              <a:cs typeface="Arial"/>
            </a:endParaRPr>
          </a:p>
          <a:p>
            <a:pPr marL="314960" indent="-168275">
              <a:lnSpc>
                <a:spcPct val="100000"/>
              </a:lnSpc>
              <a:spcBef>
                <a:spcPts val="590"/>
              </a:spcBef>
              <a:buClr>
                <a:srgbClr val="3333B2"/>
              </a:buClr>
              <a:buChar char="►"/>
              <a:tabLst>
                <a:tab pos="315595" algn="l"/>
              </a:tabLst>
            </a:pPr>
            <a:r>
              <a:rPr sz="1000" spc="-5" dirty="0">
                <a:latin typeface="Arial"/>
                <a:cs typeface="Arial"/>
              </a:rPr>
              <a:t>Decentralized</a:t>
            </a:r>
            <a:r>
              <a:rPr sz="1000" spc="-15" dirty="0">
                <a:latin typeface="Arial"/>
                <a:cs typeface="Arial"/>
              </a:rPr>
              <a:t> </a:t>
            </a:r>
            <a:r>
              <a:rPr sz="1000" spc="-5" dirty="0">
                <a:latin typeface="Arial"/>
                <a:cs typeface="Arial"/>
              </a:rPr>
              <a:t>information</a:t>
            </a:r>
            <a:r>
              <a:rPr sz="1000" spc="-10" dirty="0">
                <a:latin typeface="Arial"/>
                <a:cs typeface="Arial"/>
              </a:rPr>
              <a:t> </a:t>
            </a:r>
            <a:r>
              <a:rPr sz="1000" spc="-5" dirty="0">
                <a:latin typeface="Arial"/>
                <a:cs typeface="Arial"/>
              </a:rPr>
              <a:t>systems</a:t>
            </a:r>
            <a:r>
              <a:rPr sz="1000" spc="-10" dirty="0">
                <a:latin typeface="Arial"/>
                <a:cs typeface="Arial"/>
              </a:rPr>
              <a:t> </a:t>
            </a:r>
            <a:r>
              <a:rPr sz="1000" spc="-5" dirty="0">
                <a:latin typeface="Arial"/>
                <a:cs typeface="Arial"/>
              </a:rPr>
              <a:t>(WWW)</a:t>
            </a:r>
            <a:endParaRPr sz="1000" dirty="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25</a:t>
            </a:r>
            <a:r>
              <a:rPr spc="-40" dirty="0"/>
              <a:t> </a:t>
            </a:r>
            <a:r>
              <a:rPr spc="-5" dirty="0"/>
              <a:t>/</a:t>
            </a:r>
            <a:r>
              <a:rPr spc="-35" dirty="0"/>
              <a:t> </a:t>
            </a:r>
            <a:r>
              <a:rPr spc="-5" dirty="0"/>
              <a:t>56</a:t>
            </a: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95300" y="188846"/>
            <a:ext cx="18211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Techniques</a:t>
            </a:r>
            <a:r>
              <a:rPr sz="1400" spc="-35" dirty="0">
                <a:solidFill>
                  <a:srgbClr val="3333B2"/>
                </a:solidFill>
                <a:latin typeface="Arial"/>
                <a:cs typeface="Arial"/>
              </a:rPr>
              <a:t> </a:t>
            </a:r>
            <a:r>
              <a:rPr sz="1400" spc="-5" dirty="0">
                <a:solidFill>
                  <a:srgbClr val="3333B2"/>
                </a:solidFill>
                <a:latin typeface="Arial"/>
                <a:cs typeface="Arial"/>
              </a:rPr>
              <a:t>for</a:t>
            </a:r>
            <a:r>
              <a:rPr sz="1400" spc="-30" dirty="0">
                <a:solidFill>
                  <a:srgbClr val="3333B2"/>
                </a:solidFill>
                <a:latin typeface="Arial"/>
                <a:cs typeface="Arial"/>
              </a:rPr>
              <a:t> </a:t>
            </a:r>
            <a:r>
              <a:rPr sz="1400" spc="15" dirty="0">
                <a:solidFill>
                  <a:srgbClr val="3333B2"/>
                </a:solidFill>
                <a:latin typeface="Arial"/>
                <a:cs typeface="Arial"/>
              </a:rPr>
              <a:t>scaling</a:t>
            </a:r>
            <a:endParaRPr sz="1400">
              <a:latin typeface="Arial"/>
              <a:cs typeface="Arial"/>
            </a:endParaRPr>
          </a:p>
        </p:txBody>
      </p:sp>
      <p:sp>
        <p:nvSpPr>
          <p:cNvPr id="5" name="object 5"/>
          <p:cNvSpPr txBox="1"/>
          <p:nvPr/>
        </p:nvSpPr>
        <p:spPr>
          <a:xfrm>
            <a:off x="321894" y="1009050"/>
            <a:ext cx="3938904" cy="1289685"/>
          </a:xfrm>
          <a:prstGeom prst="rect">
            <a:avLst/>
          </a:prstGeom>
        </p:spPr>
        <p:txBody>
          <a:bodyPr vert="horz" wrap="square" lIns="0" tIns="22860" rIns="0" bIns="0" rtlCol="0">
            <a:spAutoFit/>
          </a:bodyPr>
          <a:lstStyle/>
          <a:p>
            <a:pPr marL="38100" marR="30480">
              <a:lnSpc>
                <a:spcPts val="1390"/>
              </a:lnSpc>
              <a:spcBef>
                <a:spcPts val="180"/>
              </a:spcBef>
            </a:pPr>
            <a:r>
              <a:rPr sz="1200" spc="-5" dirty="0">
                <a:solidFill>
                  <a:srgbClr val="3333B2"/>
                </a:solidFill>
                <a:latin typeface="Arial"/>
                <a:cs typeface="Arial"/>
              </a:rPr>
              <a:t>Replication and</a:t>
            </a:r>
            <a:r>
              <a:rPr sz="1200" dirty="0">
                <a:solidFill>
                  <a:srgbClr val="3333B2"/>
                </a:solidFill>
                <a:latin typeface="Arial"/>
                <a:cs typeface="Arial"/>
              </a:rPr>
              <a:t> </a:t>
            </a:r>
            <a:r>
              <a:rPr sz="1200" spc="-5" dirty="0">
                <a:solidFill>
                  <a:srgbClr val="3333B2"/>
                </a:solidFill>
                <a:latin typeface="Arial"/>
                <a:cs typeface="Arial"/>
              </a:rPr>
              <a:t>caching:</a:t>
            </a:r>
            <a:r>
              <a:rPr sz="1200" spc="85" dirty="0">
                <a:solidFill>
                  <a:srgbClr val="3333B2"/>
                </a:solidFill>
                <a:latin typeface="Arial"/>
                <a:cs typeface="Arial"/>
              </a:rPr>
              <a:t> </a:t>
            </a:r>
            <a:r>
              <a:rPr sz="1200" spc="-10" dirty="0">
                <a:solidFill>
                  <a:srgbClr val="3333B2"/>
                </a:solidFill>
                <a:latin typeface="Arial"/>
                <a:cs typeface="Arial"/>
              </a:rPr>
              <a:t>Make</a:t>
            </a:r>
            <a:r>
              <a:rPr sz="1200" dirty="0">
                <a:solidFill>
                  <a:srgbClr val="3333B2"/>
                </a:solidFill>
                <a:latin typeface="Arial"/>
                <a:cs typeface="Arial"/>
              </a:rPr>
              <a:t> </a:t>
            </a:r>
            <a:r>
              <a:rPr sz="1200" spc="-5" dirty="0">
                <a:solidFill>
                  <a:srgbClr val="3333B2"/>
                </a:solidFill>
                <a:latin typeface="Arial"/>
                <a:cs typeface="Arial"/>
              </a:rPr>
              <a:t>copies</a:t>
            </a:r>
            <a:r>
              <a:rPr sz="1200" dirty="0">
                <a:solidFill>
                  <a:srgbClr val="3333B2"/>
                </a:solidFill>
                <a:latin typeface="Arial"/>
                <a:cs typeface="Arial"/>
              </a:rPr>
              <a:t> </a:t>
            </a:r>
            <a:r>
              <a:rPr sz="1200" spc="-5" dirty="0">
                <a:solidFill>
                  <a:srgbClr val="3333B2"/>
                </a:solidFill>
                <a:latin typeface="Arial"/>
                <a:cs typeface="Arial"/>
              </a:rPr>
              <a:t>of data</a:t>
            </a:r>
            <a:r>
              <a:rPr sz="1200" dirty="0">
                <a:solidFill>
                  <a:srgbClr val="3333B2"/>
                </a:solidFill>
                <a:latin typeface="Arial"/>
                <a:cs typeface="Arial"/>
              </a:rPr>
              <a:t> </a:t>
            </a:r>
            <a:r>
              <a:rPr sz="1200" spc="-15" dirty="0">
                <a:solidFill>
                  <a:srgbClr val="3333B2"/>
                </a:solidFill>
                <a:latin typeface="Arial"/>
                <a:cs typeface="Arial"/>
              </a:rPr>
              <a:t>available</a:t>
            </a:r>
            <a:r>
              <a:rPr sz="1200" dirty="0">
                <a:solidFill>
                  <a:srgbClr val="3333B2"/>
                </a:solidFill>
                <a:latin typeface="Arial"/>
                <a:cs typeface="Arial"/>
              </a:rPr>
              <a:t> </a:t>
            </a:r>
            <a:r>
              <a:rPr sz="1200" spc="-5" dirty="0">
                <a:solidFill>
                  <a:srgbClr val="3333B2"/>
                </a:solidFill>
                <a:latin typeface="Arial"/>
                <a:cs typeface="Arial"/>
              </a:rPr>
              <a:t>at </a:t>
            </a:r>
            <a:r>
              <a:rPr sz="1200" spc="-315" dirty="0">
                <a:solidFill>
                  <a:srgbClr val="3333B2"/>
                </a:solidFill>
                <a:latin typeface="Arial"/>
                <a:cs typeface="Arial"/>
              </a:rPr>
              <a:t> </a:t>
            </a:r>
            <a:r>
              <a:rPr sz="1200" spc="-10" dirty="0">
                <a:solidFill>
                  <a:srgbClr val="3333B2"/>
                </a:solidFill>
                <a:latin typeface="Arial"/>
                <a:cs typeface="Arial"/>
              </a:rPr>
              <a:t>different </a:t>
            </a:r>
            <a:r>
              <a:rPr sz="1200" spc="-5" dirty="0">
                <a:solidFill>
                  <a:srgbClr val="3333B2"/>
                </a:solidFill>
                <a:latin typeface="Arial"/>
                <a:cs typeface="Arial"/>
              </a:rPr>
              <a:t>machines</a:t>
            </a:r>
            <a:endParaRPr sz="1200" dirty="0">
              <a:latin typeface="Arial"/>
              <a:cs typeface="Arial"/>
            </a:endParaRPr>
          </a:p>
          <a:p>
            <a:pPr marL="314960" indent="-168275">
              <a:lnSpc>
                <a:spcPct val="100000"/>
              </a:lnSpc>
              <a:spcBef>
                <a:spcPts val="509"/>
              </a:spcBef>
              <a:buClr>
                <a:srgbClr val="3333B2"/>
              </a:buClr>
              <a:buChar char="►"/>
              <a:tabLst>
                <a:tab pos="315595" algn="l"/>
              </a:tabLst>
            </a:pPr>
            <a:r>
              <a:rPr sz="1000" spc="-5" dirty="0">
                <a:latin typeface="Arial"/>
                <a:cs typeface="Arial"/>
              </a:rPr>
              <a:t>Replicated file servers and databases</a:t>
            </a:r>
            <a:endParaRPr sz="1000" dirty="0">
              <a:latin typeface="Arial"/>
              <a:cs typeface="Arial"/>
            </a:endParaRPr>
          </a:p>
          <a:p>
            <a:pPr marL="314960" indent="-168275">
              <a:lnSpc>
                <a:spcPct val="100000"/>
              </a:lnSpc>
              <a:spcBef>
                <a:spcPts val="595"/>
              </a:spcBef>
              <a:buClr>
                <a:srgbClr val="3333B2"/>
              </a:buClr>
              <a:buChar char="►"/>
              <a:tabLst>
                <a:tab pos="315595" algn="l"/>
              </a:tabLst>
            </a:pPr>
            <a:r>
              <a:rPr sz="1000" spc="-5" dirty="0">
                <a:latin typeface="Arial"/>
                <a:cs typeface="Arial"/>
              </a:rPr>
              <a:t>Mirrored</a:t>
            </a:r>
            <a:r>
              <a:rPr sz="1000" spc="-25" dirty="0">
                <a:latin typeface="Arial"/>
                <a:cs typeface="Arial"/>
              </a:rPr>
              <a:t> </a:t>
            </a:r>
            <a:r>
              <a:rPr sz="1000" spc="-15" dirty="0">
                <a:latin typeface="Arial"/>
                <a:cs typeface="Arial"/>
              </a:rPr>
              <a:t>Web</a:t>
            </a:r>
            <a:r>
              <a:rPr sz="1000" spc="-20" dirty="0">
                <a:latin typeface="Arial"/>
                <a:cs typeface="Arial"/>
              </a:rPr>
              <a:t> </a:t>
            </a:r>
            <a:r>
              <a:rPr sz="1000" spc="-5" dirty="0">
                <a:latin typeface="Arial"/>
                <a:cs typeface="Arial"/>
              </a:rPr>
              <a:t>sites</a:t>
            </a:r>
            <a:endParaRPr sz="1000" dirty="0">
              <a:latin typeface="Arial"/>
              <a:cs typeface="Arial"/>
            </a:endParaRPr>
          </a:p>
          <a:p>
            <a:pPr marL="314960" indent="-168275">
              <a:lnSpc>
                <a:spcPct val="100000"/>
              </a:lnSpc>
              <a:spcBef>
                <a:spcPts val="595"/>
              </a:spcBef>
              <a:buClr>
                <a:srgbClr val="3333B2"/>
              </a:buClr>
              <a:buChar char="►"/>
              <a:tabLst>
                <a:tab pos="315595" algn="l"/>
              </a:tabLst>
            </a:pPr>
            <a:r>
              <a:rPr sz="1000" spc="-15" dirty="0">
                <a:latin typeface="Arial"/>
                <a:cs typeface="Arial"/>
              </a:rPr>
              <a:t>Web</a:t>
            </a:r>
            <a:r>
              <a:rPr sz="1000" spc="-10" dirty="0">
                <a:latin typeface="Arial"/>
                <a:cs typeface="Arial"/>
              </a:rPr>
              <a:t> </a:t>
            </a:r>
            <a:r>
              <a:rPr sz="1000" spc="-5" dirty="0">
                <a:latin typeface="Arial"/>
                <a:cs typeface="Arial"/>
              </a:rPr>
              <a:t>caches (in</a:t>
            </a:r>
            <a:r>
              <a:rPr sz="1000" spc="-10" dirty="0">
                <a:latin typeface="Arial"/>
                <a:cs typeface="Arial"/>
              </a:rPr>
              <a:t> </a:t>
            </a:r>
            <a:r>
              <a:rPr sz="1000" spc="-5" dirty="0">
                <a:latin typeface="Arial"/>
                <a:cs typeface="Arial"/>
              </a:rPr>
              <a:t>browsers and </a:t>
            </a:r>
            <a:r>
              <a:rPr sz="1000" spc="-10" dirty="0">
                <a:latin typeface="Arial"/>
                <a:cs typeface="Arial"/>
              </a:rPr>
              <a:t>proxies)</a:t>
            </a:r>
            <a:endParaRPr sz="1000" dirty="0">
              <a:latin typeface="Arial"/>
              <a:cs typeface="Arial"/>
            </a:endParaRPr>
          </a:p>
          <a:p>
            <a:pPr marL="314960" indent="-168275">
              <a:lnSpc>
                <a:spcPct val="100000"/>
              </a:lnSpc>
              <a:spcBef>
                <a:spcPts val="590"/>
              </a:spcBef>
              <a:buClr>
                <a:srgbClr val="3333B2"/>
              </a:buClr>
              <a:buChar char="►"/>
              <a:tabLst>
                <a:tab pos="315595" algn="l"/>
              </a:tabLst>
            </a:pPr>
            <a:r>
              <a:rPr sz="1000" spc="-5" dirty="0">
                <a:latin typeface="Arial"/>
                <a:cs typeface="Arial"/>
              </a:rPr>
              <a:t>File</a:t>
            </a:r>
            <a:r>
              <a:rPr sz="1000" spc="-10" dirty="0">
                <a:latin typeface="Arial"/>
                <a:cs typeface="Arial"/>
              </a:rPr>
              <a:t> </a:t>
            </a:r>
            <a:r>
              <a:rPr sz="1000" spc="-5" dirty="0">
                <a:latin typeface="Arial"/>
                <a:cs typeface="Arial"/>
              </a:rPr>
              <a:t>caching (at server and client)</a:t>
            </a:r>
            <a:endParaRPr sz="1000" dirty="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Scaling</a:t>
            </a:r>
            <a:r>
              <a:rPr sz="600" spc="-3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techniques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Being scala</a:t>
            </a:r>
            <a:r>
              <a:rPr sz="600" spc="-20" dirty="0">
                <a:solidFill>
                  <a:srgbClr val="262685"/>
                </a:solidFill>
                <a:latin typeface="Arial"/>
                <a:cs typeface="Arial"/>
                <a:hlinkClick r:id="rId5" action="ppaction://hlinksldjump"/>
              </a:rPr>
              <a:t>b</a:t>
            </a:r>
            <a:r>
              <a:rPr sz="600" spc="-5" dirty="0">
                <a:solidFill>
                  <a:srgbClr val="262685"/>
                </a:solidFill>
                <a:latin typeface="Arial"/>
                <a:cs typeface="Arial"/>
                <a:hlinkClick r:id="rId5" action="ppaction://hlinksldjump"/>
              </a:rPr>
              <a:t>le</a:t>
            </a:r>
            <a:endParaRPr sz="600">
              <a:latin typeface="Arial"/>
              <a:cs typeface="Arial"/>
            </a:endParaRPr>
          </a:p>
        </p:txBody>
      </p:sp>
      <p:sp>
        <p:nvSpPr>
          <p:cNvPr id="4" name="object 4"/>
          <p:cNvSpPr txBox="1"/>
          <p:nvPr/>
        </p:nvSpPr>
        <p:spPr>
          <a:xfrm>
            <a:off x="95300" y="188846"/>
            <a:ext cx="3497579" cy="71374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Scaling:</a:t>
            </a:r>
            <a:r>
              <a:rPr sz="1400" spc="95" dirty="0">
                <a:solidFill>
                  <a:srgbClr val="3333B2"/>
                </a:solidFill>
                <a:latin typeface="Arial"/>
                <a:cs typeface="Arial"/>
              </a:rPr>
              <a:t> </a:t>
            </a:r>
            <a:r>
              <a:rPr sz="1400" spc="15" dirty="0">
                <a:solidFill>
                  <a:srgbClr val="3333B2"/>
                </a:solidFill>
                <a:latin typeface="Arial"/>
                <a:cs typeface="Arial"/>
              </a:rPr>
              <a:t>The</a:t>
            </a:r>
            <a:r>
              <a:rPr sz="1400" spc="5" dirty="0">
                <a:solidFill>
                  <a:srgbClr val="3333B2"/>
                </a:solidFill>
                <a:latin typeface="Arial"/>
                <a:cs typeface="Arial"/>
              </a:rPr>
              <a:t> </a:t>
            </a:r>
            <a:r>
              <a:rPr sz="1400" spc="10" dirty="0">
                <a:solidFill>
                  <a:srgbClr val="3333B2"/>
                </a:solidFill>
                <a:latin typeface="Arial"/>
                <a:cs typeface="Arial"/>
              </a:rPr>
              <a:t>problem</a:t>
            </a:r>
            <a:r>
              <a:rPr sz="1400" dirty="0">
                <a:solidFill>
                  <a:srgbClr val="3333B2"/>
                </a:solidFill>
                <a:latin typeface="Arial"/>
                <a:cs typeface="Arial"/>
              </a:rPr>
              <a:t> </a:t>
            </a:r>
            <a:r>
              <a:rPr sz="1400" spc="15" dirty="0">
                <a:solidFill>
                  <a:srgbClr val="3333B2"/>
                </a:solidFill>
                <a:latin typeface="Arial"/>
                <a:cs typeface="Arial"/>
              </a:rPr>
              <a:t>with</a:t>
            </a:r>
            <a:r>
              <a:rPr sz="1400" spc="5" dirty="0">
                <a:solidFill>
                  <a:srgbClr val="3333B2"/>
                </a:solidFill>
                <a:latin typeface="Arial"/>
                <a:cs typeface="Arial"/>
              </a:rPr>
              <a:t> </a:t>
            </a:r>
            <a:r>
              <a:rPr sz="1400" spc="10" dirty="0">
                <a:solidFill>
                  <a:srgbClr val="3333B2"/>
                </a:solidFill>
                <a:latin typeface="Arial"/>
                <a:cs typeface="Arial"/>
              </a:rPr>
              <a:t>replication</a:t>
            </a:r>
            <a:endParaRPr sz="1400" dirty="0">
              <a:latin typeface="Arial"/>
              <a:cs typeface="Arial"/>
            </a:endParaRPr>
          </a:p>
          <a:p>
            <a:pPr>
              <a:lnSpc>
                <a:spcPct val="100000"/>
              </a:lnSpc>
              <a:spcBef>
                <a:spcPts val="20"/>
              </a:spcBef>
            </a:pPr>
            <a:endParaRPr sz="1950" dirty="0">
              <a:latin typeface="Arial"/>
              <a:cs typeface="Arial"/>
            </a:endParaRPr>
          </a:p>
          <a:p>
            <a:pPr marL="259079">
              <a:lnSpc>
                <a:spcPct val="100000"/>
              </a:lnSpc>
            </a:pPr>
            <a:r>
              <a:rPr sz="1200" spc="-5" dirty="0">
                <a:solidFill>
                  <a:srgbClr val="3333B2"/>
                </a:solidFill>
                <a:latin typeface="Arial"/>
                <a:cs typeface="Arial"/>
              </a:rPr>
              <a:t>Applying replication</a:t>
            </a:r>
            <a:r>
              <a:rPr sz="1200" dirty="0">
                <a:solidFill>
                  <a:srgbClr val="3333B2"/>
                </a:solidFill>
                <a:latin typeface="Arial"/>
                <a:cs typeface="Arial"/>
              </a:rPr>
              <a:t> </a:t>
            </a:r>
            <a:r>
              <a:rPr sz="1200" spc="-5" dirty="0">
                <a:solidFill>
                  <a:srgbClr val="3333B2"/>
                </a:solidFill>
                <a:latin typeface="Arial"/>
                <a:cs typeface="Arial"/>
              </a:rPr>
              <a:t>is </a:t>
            </a:r>
            <a:r>
              <a:rPr sz="1200" spc="-30" dirty="0">
                <a:solidFill>
                  <a:srgbClr val="3333B2"/>
                </a:solidFill>
                <a:latin typeface="Arial"/>
                <a:cs typeface="Arial"/>
              </a:rPr>
              <a:t>easy,</a:t>
            </a:r>
            <a:r>
              <a:rPr sz="1200" dirty="0">
                <a:solidFill>
                  <a:srgbClr val="3333B2"/>
                </a:solidFill>
                <a:latin typeface="Arial"/>
                <a:cs typeface="Arial"/>
              </a:rPr>
              <a:t> </a:t>
            </a:r>
            <a:r>
              <a:rPr sz="1200" spc="-10" dirty="0">
                <a:solidFill>
                  <a:srgbClr val="3333B2"/>
                </a:solidFill>
                <a:latin typeface="Arial"/>
                <a:cs typeface="Arial"/>
              </a:rPr>
              <a:t>except</a:t>
            </a:r>
            <a:r>
              <a:rPr sz="1200" dirty="0">
                <a:solidFill>
                  <a:srgbClr val="3333B2"/>
                </a:solidFill>
                <a:latin typeface="Arial"/>
                <a:cs typeface="Arial"/>
              </a:rPr>
              <a:t> </a:t>
            </a:r>
            <a:r>
              <a:rPr sz="1200" spc="-20" dirty="0">
                <a:solidFill>
                  <a:srgbClr val="3333B2"/>
                </a:solidFill>
                <a:latin typeface="Arial"/>
                <a:cs typeface="Arial"/>
              </a:rPr>
              <a:t>for</a:t>
            </a:r>
            <a:r>
              <a:rPr sz="1200" spc="-5" dirty="0">
                <a:solidFill>
                  <a:srgbClr val="3333B2"/>
                </a:solidFill>
                <a:latin typeface="Arial"/>
                <a:cs typeface="Arial"/>
              </a:rPr>
              <a:t> one</a:t>
            </a:r>
            <a:r>
              <a:rPr sz="1200" dirty="0">
                <a:solidFill>
                  <a:srgbClr val="3333B2"/>
                </a:solidFill>
                <a:latin typeface="Arial"/>
                <a:cs typeface="Arial"/>
              </a:rPr>
              <a:t> </a:t>
            </a:r>
            <a:r>
              <a:rPr sz="1200" spc="-5" dirty="0">
                <a:solidFill>
                  <a:srgbClr val="3333B2"/>
                </a:solidFill>
                <a:latin typeface="Arial"/>
                <a:cs typeface="Arial"/>
              </a:rPr>
              <a:t>thing</a:t>
            </a:r>
            <a:endParaRPr sz="1200" dirty="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82600" y="188846"/>
            <a:ext cx="4067175" cy="127000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Scaling:</a:t>
            </a:r>
            <a:r>
              <a:rPr sz="1400" spc="95" dirty="0">
                <a:solidFill>
                  <a:srgbClr val="3333B2"/>
                </a:solidFill>
                <a:latin typeface="Arial"/>
                <a:cs typeface="Arial"/>
              </a:rPr>
              <a:t> </a:t>
            </a:r>
            <a:r>
              <a:rPr sz="1400" spc="15" dirty="0">
                <a:solidFill>
                  <a:srgbClr val="3333B2"/>
                </a:solidFill>
                <a:latin typeface="Arial"/>
                <a:cs typeface="Arial"/>
              </a:rPr>
              <a:t>The</a:t>
            </a:r>
            <a:r>
              <a:rPr sz="1400" spc="5" dirty="0">
                <a:solidFill>
                  <a:srgbClr val="3333B2"/>
                </a:solidFill>
                <a:latin typeface="Arial"/>
                <a:cs typeface="Arial"/>
              </a:rPr>
              <a:t> </a:t>
            </a:r>
            <a:r>
              <a:rPr sz="1400" spc="10" dirty="0">
                <a:solidFill>
                  <a:srgbClr val="3333B2"/>
                </a:solidFill>
                <a:latin typeface="Arial"/>
                <a:cs typeface="Arial"/>
              </a:rPr>
              <a:t>problem</a:t>
            </a:r>
            <a:r>
              <a:rPr sz="1400" dirty="0">
                <a:solidFill>
                  <a:srgbClr val="3333B2"/>
                </a:solidFill>
                <a:latin typeface="Arial"/>
                <a:cs typeface="Arial"/>
              </a:rPr>
              <a:t> </a:t>
            </a:r>
            <a:r>
              <a:rPr sz="1400" spc="15" dirty="0">
                <a:solidFill>
                  <a:srgbClr val="3333B2"/>
                </a:solidFill>
                <a:latin typeface="Arial"/>
                <a:cs typeface="Arial"/>
              </a:rPr>
              <a:t>with</a:t>
            </a:r>
            <a:r>
              <a:rPr sz="1400" spc="5" dirty="0">
                <a:solidFill>
                  <a:srgbClr val="3333B2"/>
                </a:solidFill>
                <a:latin typeface="Arial"/>
                <a:cs typeface="Arial"/>
              </a:rPr>
              <a:t> </a:t>
            </a:r>
            <a:r>
              <a:rPr sz="1400" spc="10" dirty="0">
                <a:solidFill>
                  <a:srgbClr val="3333B2"/>
                </a:solidFill>
                <a:latin typeface="Arial"/>
                <a:cs typeface="Arial"/>
              </a:rPr>
              <a:t>replication</a:t>
            </a:r>
            <a:endParaRPr sz="1400">
              <a:latin typeface="Arial"/>
              <a:cs typeface="Arial"/>
            </a:endParaRPr>
          </a:p>
          <a:p>
            <a:pPr>
              <a:lnSpc>
                <a:spcPct val="100000"/>
              </a:lnSpc>
              <a:spcBef>
                <a:spcPts val="20"/>
              </a:spcBef>
            </a:pPr>
            <a:endParaRPr sz="1950">
              <a:latin typeface="Arial"/>
              <a:cs typeface="Arial"/>
            </a:endParaRPr>
          </a:p>
          <a:p>
            <a:pPr marL="271780">
              <a:lnSpc>
                <a:spcPct val="100000"/>
              </a:lnSpc>
            </a:pPr>
            <a:r>
              <a:rPr sz="1200" spc="-5" dirty="0">
                <a:solidFill>
                  <a:srgbClr val="3333B2"/>
                </a:solidFill>
                <a:latin typeface="Arial"/>
                <a:cs typeface="Arial"/>
              </a:rPr>
              <a:t>Applying replication</a:t>
            </a:r>
            <a:r>
              <a:rPr sz="1200" dirty="0">
                <a:solidFill>
                  <a:srgbClr val="3333B2"/>
                </a:solidFill>
                <a:latin typeface="Arial"/>
                <a:cs typeface="Arial"/>
              </a:rPr>
              <a:t> </a:t>
            </a:r>
            <a:r>
              <a:rPr sz="1200" spc="-5" dirty="0">
                <a:solidFill>
                  <a:srgbClr val="3333B2"/>
                </a:solidFill>
                <a:latin typeface="Arial"/>
                <a:cs typeface="Arial"/>
              </a:rPr>
              <a:t>is </a:t>
            </a:r>
            <a:r>
              <a:rPr sz="1200" spc="-30" dirty="0">
                <a:solidFill>
                  <a:srgbClr val="3333B2"/>
                </a:solidFill>
                <a:latin typeface="Arial"/>
                <a:cs typeface="Arial"/>
              </a:rPr>
              <a:t>easy,</a:t>
            </a:r>
            <a:r>
              <a:rPr sz="1200" dirty="0">
                <a:solidFill>
                  <a:srgbClr val="3333B2"/>
                </a:solidFill>
                <a:latin typeface="Arial"/>
                <a:cs typeface="Arial"/>
              </a:rPr>
              <a:t> </a:t>
            </a:r>
            <a:r>
              <a:rPr sz="1200" spc="-10" dirty="0">
                <a:solidFill>
                  <a:srgbClr val="3333B2"/>
                </a:solidFill>
                <a:latin typeface="Arial"/>
                <a:cs typeface="Arial"/>
              </a:rPr>
              <a:t>except</a:t>
            </a:r>
            <a:r>
              <a:rPr sz="1200" spc="-5" dirty="0">
                <a:solidFill>
                  <a:srgbClr val="3333B2"/>
                </a:solidFill>
                <a:latin typeface="Arial"/>
                <a:cs typeface="Arial"/>
              </a:rPr>
              <a:t> </a:t>
            </a:r>
            <a:r>
              <a:rPr sz="1200" spc="-20" dirty="0">
                <a:solidFill>
                  <a:srgbClr val="3333B2"/>
                </a:solidFill>
                <a:latin typeface="Arial"/>
                <a:cs typeface="Arial"/>
              </a:rPr>
              <a:t>for</a:t>
            </a:r>
            <a:r>
              <a:rPr sz="1200" dirty="0">
                <a:solidFill>
                  <a:srgbClr val="3333B2"/>
                </a:solidFill>
                <a:latin typeface="Arial"/>
                <a:cs typeface="Arial"/>
              </a:rPr>
              <a:t> </a:t>
            </a:r>
            <a:r>
              <a:rPr sz="1200" spc="-5" dirty="0">
                <a:solidFill>
                  <a:srgbClr val="3333B2"/>
                </a:solidFill>
                <a:latin typeface="Arial"/>
                <a:cs typeface="Arial"/>
              </a:rPr>
              <a:t>one</a:t>
            </a:r>
            <a:r>
              <a:rPr sz="1200" dirty="0">
                <a:solidFill>
                  <a:srgbClr val="3333B2"/>
                </a:solidFill>
                <a:latin typeface="Arial"/>
                <a:cs typeface="Arial"/>
              </a:rPr>
              <a:t> </a:t>
            </a:r>
            <a:r>
              <a:rPr sz="1200" spc="-5" dirty="0">
                <a:solidFill>
                  <a:srgbClr val="3333B2"/>
                </a:solidFill>
                <a:latin typeface="Arial"/>
                <a:cs typeface="Arial"/>
              </a:rPr>
              <a:t>thing</a:t>
            </a:r>
            <a:endParaRPr sz="1200">
              <a:latin typeface="Arial"/>
              <a:cs typeface="Arial"/>
            </a:endParaRPr>
          </a:p>
          <a:p>
            <a:pPr marL="554355" marR="43180" indent="-168275">
              <a:lnSpc>
                <a:spcPct val="100000"/>
              </a:lnSpc>
              <a:spcBef>
                <a:spcPts val="790"/>
              </a:spcBef>
              <a:buClr>
                <a:srgbClr val="3333B2"/>
              </a:buClr>
              <a:buChar char="►"/>
              <a:tabLst>
                <a:tab pos="554990" algn="l"/>
              </a:tabLst>
            </a:pPr>
            <a:r>
              <a:rPr sz="1000" spc="-10" dirty="0">
                <a:latin typeface="Arial"/>
                <a:cs typeface="Arial"/>
              </a:rPr>
              <a:t>Having</a:t>
            </a:r>
            <a:r>
              <a:rPr sz="1000" spc="-5" dirty="0">
                <a:latin typeface="Arial"/>
                <a:cs typeface="Arial"/>
              </a:rPr>
              <a:t> multiple</a:t>
            </a:r>
            <a:r>
              <a:rPr sz="1000" dirty="0">
                <a:latin typeface="Arial"/>
                <a:cs typeface="Arial"/>
              </a:rPr>
              <a:t> </a:t>
            </a:r>
            <a:r>
              <a:rPr sz="1000" spc="-5" dirty="0">
                <a:latin typeface="Arial"/>
                <a:cs typeface="Arial"/>
              </a:rPr>
              <a:t>copies (cached</a:t>
            </a:r>
            <a:r>
              <a:rPr sz="1000" dirty="0">
                <a:latin typeface="Arial"/>
                <a:cs typeface="Arial"/>
              </a:rPr>
              <a:t> </a:t>
            </a:r>
            <a:r>
              <a:rPr sz="1000" spc="-5" dirty="0">
                <a:latin typeface="Arial"/>
                <a:cs typeface="Arial"/>
              </a:rPr>
              <a:t>or replicated),</a:t>
            </a:r>
            <a:r>
              <a:rPr sz="1000" dirty="0">
                <a:latin typeface="Arial"/>
                <a:cs typeface="Arial"/>
              </a:rPr>
              <a:t> </a:t>
            </a:r>
            <a:r>
              <a:rPr sz="1000" spc="-5" dirty="0">
                <a:latin typeface="Arial"/>
                <a:cs typeface="Arial"/>
              </a:rPr>
              <a:t>leads to </a:t>
            </a:r>
            <a:r>
              <a:rPr sz="1000" dirty="0">
                <a:latin typeface="Arial"/>
                <a:cs typeface="Arial"/>
              </a:rPr>
              <a:t> </a:t>
            </a:r>
            <a:r>
              <a:rPr sz="1000" spc="-5" dirty="0">
                <a:solidFill>
                  <a:srgbClr val="FA0000"/>
                </a:solidFill>
                <a:latin typeface="Arial"/>
                <a:cs typeface="Arial"/>
              </a:rPr>
              <a:t>inconsistencies</a:t>
            </a:r>
            <a:r>
              <a:rPr sz="1000" spc="-5" dirty="0">
                <a:latin typeface="Arial"/>
                <a:cs typeface="Arial"/>
              </a:rPr>
              <a:t>:</a:t>
            </a:r>
            <a:r>
              <a:rPr sz="1000" spc="60" dirty="0">
                <a:latin typeface="Arial"/>
                <a:cs typeface="Arial"/>
              </a:rPr>
              <a:t> </a:t>
            </a:r>
            <a:r>
              <a:rPr sz="1000" spc="-5" dirty="0">
                <a:latin typeface="Arial"/>
                <a:cs typeface="Arial"/>
              </a:rPr>
              <a:t>modifying</a:t>
            </a:r>
            <a:r>
              <a:rPr sz="1000" dirty="0">
                <a:latin typeface="Arial"/>
                <a:cs typeface="Arial"/>
              </a:rPr>
              <a:t> </a:t>
            </a:r>
            <a:r>
              <a:rPr sz="1000" spc="-5" dirty="0">
                <a:latin typeface="Arial"/>
                <a:cs typeface="Arial"/>
              </a:rPr>
              <a:t>one</a:t>
            </a:r>
            <a:r>
              <a:rPr sz="1000" dirty="0">
                <a:latin typeface="Arial"/>
                <a:cs typeface="Arial"/>
              </a:rPr>
              <a:t> </a:t>
            </a:r>
            <a:r>
              <a:rPr sz="1000" spc="-10" dirty="0">
                <a:latin typeface="Arial"/>
                <a:cs typeface="Arial"/>
              </a:rPr>
              <a:t>copy</a:t>
            </a:r>
            <a:r>
              <a:rPr sz="1000" dirty="0">
                <a:latin typeface="Arial"/>
                <a:cs typeface="Arial"/>
              </a:rPr>
              <a:t> </a:t>
            </a:r>
            <a:r>
              <a:rPr sz="1000" spc="-10" dirty="0">
                <a:latin typeface="Arial"/>
                <a:cs typeface="Arial"/>
              </a:rPr>
              <a:t>makes</a:t>
            </a:r>
            <a:r>
              <a:rPr sz="1000" spc="-5" dirty="0">
                <a:latin typeface="Arial"/>
                <a:cs typeface="Arial"/>
              </a:rPr>
              <a:t> that</a:t>
            </a:r>
            <a:r>
              <a:rPr sz="1000" dirty="0">
                <a:latin typeface="Arial"/>
                <a:cs typeface="Arial"/>
              </a:rPr>
              <a:t> </a:t>
            </a:r>
            <a:r>
              <a:rPr sz="1000" spc="-10" dirty="0">
                <a:latin typeface="Arial"/>
                <a:cs typeface="Arial"/>
              </a:rPr>
              <a:t>copy</a:t>
            </a:r>
            <a:r>
              <a:rPr sz="1000" dirty="0">
                <a:latin typeface="Arial"/>
                <a:cs typeface="Arial"/>
              </a:rPr>
              <a:t> </a:t>
            </a:r>
            <a:r>
              <a:rPr sz="1000" spc="-5" dirty="0">
                <a:latin typeface="Arial"/>
                <a:cs typeface="Arial"/>
              </a:rPr>
              <a:t>different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the rest.</a:t>
            </a:r>
            <a:endParaRPr sz="10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82600" y="188846"/>
            <a:ext cx="4170045" cy="164973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Scaling:</a:t>
            </a:r>
            <a:r>
              <a:rPr sz="1400" spc="95" dirty="0">
                <a:solidFill>
                  <a:srgbClr val="3333B2"/>
                </a:solidFill>
                <a:latin typeface="Arial"/>
                <a:cs typeface="Arial"/>
              </a:rPr>
              <a:t> </a:t>
            </a:r>
            <a:r>
              <a:rPr sz="1400" spc="15" dirty="0">
                <a:solidFill>
                  <a:srgbClr val="3333B2"/>
                </a:solidFill>
                <a:latin typeface="Arial"/>
                <a:cs typeface="Arial"/>
              </a:rPr>
              <a:t>The</a:t>
            </a:r>
            <a:r>
              <a:rPr sz="1400" spc="5" dirty="0">
                <a:solidFill>
                  <a:srgbClr val="3333B2"/>
                </a:solidFill>
                <a:latin typeface="Arial"/>
                <a:cs typeface="Arial"/>
              </a:rPr>
              <a:t> </a:t>
            </a:r>
            <a:r>
              <a:rPr sz="1400" spc="10" dirty="0">
                <a:solidFill>
                  <a:srgbClr val="3333B2"/>
                </a:solidFill>
                <a:latin typeface="Arial"/>
                <a:cs typeface="Arial"/>
              </a:rPr>
              <a:t>problem</a:t>
            </a:r>
            <a:r>
              <a:rPr sz="1400" dirty="0">
                <a:solidFill>
                  <a:srgbClr val="3333B2"/>
                </a:solidFill>
                <a:latin typeface="Arial"/>
                <a:cs typeface="Arial"/>
              </a:rPr>
              <a:t> </a:t>
            </a:r>
            <a:r>
              <a:rPr sz="1400" spc="15" dirty="0">
                <a:solidFill>
                  <a:srgbClr val="3333B2"/>
                </a:solidFill>
                <a:latin typeface="Arial"/>
                <a:cs typeface="Arial"/>
              </a:rPr>
              <a:t>with</a:t>
            </a:r>
            <a:r>
              <a:rPr sz="1400" spc="5" dirty="0">
                <a:solidFill>
                  <a:srgbClr val="3333B2"/>
                </a:solidFill>
                <a:latin typeface="Arial"/>
                <a:cs typeface="Arial"/>
              </a:rPr>
              <a:t> </a:t>
            </a:r>
            <a:r>
              <a:rPr sz="1400" spc="10" dirty="0">
                <a:solidFill>
                  <a:srgbClr val="3333B2"/>
                </a:solidFill>
                <a:latin typeface="Arial"/>
                <a:cs typeface="Arial"/>
              </a:rPr>
              <a:t>replication</a:t>
            </a:r>
            <a:endParaRPr sz="1400">
              <a:latin typeface="Arial"/>
              <a:cs typeface="Arial"/>
            </a:endParaRPr>
          </a:p>
          <a:p>
            <a:pPr>
              <a:lnSpc>
                <a:spcPct val="100000"/>
              </a:lnSpc>
              <a:spcBef>
                <a:spcPts val="20"/>
              </a:spcBef>
            </a:pPr>
            <a:endParaRPr sz="1950">
              <a:latin typeface="Arial"/>
              <a:cs typeface="Arial"/>
            </a:endParaRPr>
          </a:p>
          <a:p>
            <a:pPr marL="271780">
              <a:lnSpc>
                <a:spcPct val="100000"/>
              </a:lnSpc>
            </a:pPr>
            <a:r>
              <a:rPr sz="1200" spc="-5" dirty="0">
                <a:solidFill>
                  <a:srgbClr val="3333B2"/>
                </a:solidFill>
                <a:latin typeface="Arial"/>
                <a:cs typeface="Arial"/>
              </a:rPr>
              <a:t>Applying replication</a:t>
            </a:r>
            <a:r>
              <a:rPr sz="1200" dirty="0">
                <a:solidFill>
                  <a:srgbClr val="3333B2"/>
                </a:solidFill>
                <a:latin typeface="Arial"/>
                <a:cs typeface="Arial"/>
              </a:rPr>
              <a:t> </a:t>
            </a:r>
            <a:r>
              <a:rPr sz="1200" spc="-5" dirty="0">
                <a:solidFill>
                  <a:srgbClr val="3333B2"/>
                </a:solidFill>
                <a:latin typeface="Arial"/>
                <a:cs typeface="Arial"/>
              </a:rPr>
              <a:t>is </a:t>
            </a:r>
            <a:r>
              <a:rPr sz="1200" spc="-30" dirty="0">
                <a:solidFill>
                  <a:srgbClr val="3333B2"/>
                </a:solidFill>
                <a:latin typeface="Arial"/>
                <a:cs typeface="Arial"/>
              </a:rPr>
              <a:t>easy,</a:t>
            </a:r>
            <a:r>
              <a:rPr sz="1200" dirty="0">
                <a:solidFill>
                  <a:srgbClr val="3333B2"/>
                </a:solidFill>
                <a:latin typeface="Arial"/>
                <a:cs typeface="Arial"/>
              </a:rPr>
              <a:t> </a:t>
            </a:r>
            <a:r>
              <a:rPr sz="1200" spc="-10" dirty="0">
                <a:solidFill>
                  <a:srgbClr val="3333B2"/>
                </a:solidFill>
                <a:latin typeface="Arial"/>
                <a:cs typeface="Arial"/>
              </a:rPr>
              <a:t>except</a:t>
            </a:r>
            <a:r>
              <a:rPr sz="1200" spc="-5" dirty="0">
                <a:solidFill>
                  <a:srgbClr val="3333B2"/>
                </a:solidFill>
                <a:latin typeface="Arial"/>
                <a:cs typeface="Arial"/>
              </a:rPr>
              <a:t> </a:t>
            </a:r>
            <a:r>
              <a:rPr sz="1200" spc="-20" dirty="0">
                <a:solidFill>
                  <a:srgbClr val="3333B2"/>
                </a:solidFill>
                <a:latin typeface="Arial"/>
                <a:cs typeface="Arial"/>
              </a:rPr>
              <a:t>for</a:t>
            </a:r>
            <a:r>
              <a:rPr sz="1200" dirty="0">
                <a:solidFill>
                  <a:srgbClr val="3333B2"/>
                </a:solidFill>
                <a:latin typeface="Arial"/>
                <a:cs typeface="Arial"/>
              </a:rPr>
              <a:t> </a:t>
            </a:r>
            <a:r>
              <a:rPr sz="1200" spc="-5" dirty="0">
                <a:solidFill>
                  <a:srgbClr val="3333B2"/>
                </a:solidFill>
                <a:latin typeface="Arial"/>
                <a:cs typeface="Arial"/>
              </a:rPr>
              <a:t>one</a:t>
            </a:r>
            <a:r>
              <a:rPr sz="1200" dirty="0">
                <a:solidFill>
                  <a:srgbClr val="3333B2"/>
                </a:solidFill>
                <a:latin typeface="Arial"/>
                <a:cs typeface="Arial"/>
              </a:rPr>
              <a:t> </a:t>
            </a:r>
            <a:r>
              <a:rPr sz="1200" spc="-5" dirty="0">
                <a:solidFill>
                  <a:srgbClr val="3333B2"/>
                </a:solidFill>
                <a:latin typeface="Arial"/>
                <a:cs typeface="Arial"/>
              </a:rPr>
              <a:t>thing</a:t>
            </a:r>
            <a:endParaRPr sz="1200">
              <a:latin typeface="Arial"/>
              <a:cs typeface="Arial"/>
            </a:endParaRPr>
          </a:p>
          <a:p>
            <a:pPr marL="554355" marR="146685" indent="-168275">
              <a:lnSpc>
                <a:spcPct val="100000"/>
              </a:lnSpc>
              <a:spcBef>
                <a:spcPts val="790"/>
              </a:spcBef>
              <a:buClr>
                <a:srgbClr val="3333B2"/>
              </a:buClr>
              <a:buChar char="►"/>
              <a:tabLst>
                <a:tab pos="554990" algn="l"/>
              </a:tabLst>
            </a:pPr>
            <a:r>
              <a:rPr sz="1000" spc="-10" dirty="0">
                <a:latin typeface="Arial"/>
                <a:cs typeface="Arial"/>
              </a:rPr>
              <a:t>Having</a:t>
            </a:r>
            <a:r>
              <a:rPr sz="1000" spc="-5" dirty="0">
                <a:latin typeface="Arial"/>
                <a:cs typeface="Arial"/>
              </a:rPr>
              <a:t> multiple</a:t>
            </a:r>
            <a:r>
              <a:rPr sz="1000" dirty="0">
                <a:latin typeface="Arial"/>
                <a:cs typeface="Arial"/>
              </a:rPr>
              <a:t> </a:t>
            </a:r>
            <a:r>
              <a:rPr sz="1000" spc="-5" dirty="0">
                <a:latin typeface="Arial"/>
                <a:cs typeface="Arial"/>
              </a:rPr>
              <a:t>copies (cached</a:t>
            </a:r>
            <a:r>
              <a:rPr sz="1000" dirty="0">
                <a:latin typeface="Arial"/>
                <a:cs typeface="Arial"/>
              </a:rPr>
              <a:t> </a:t>
            </a:r>
            <a:r>
              <a:rPr sz="1000" spc="-5" dirty="0">
                <a:latin typeface="Arial"/>
                <a:cs typeface="Arial"/>
              </a:rPr>
              <a:t>or replicated),</a:t>
            </a:r>
            <a:r>
              <a:rPr sz="1000" dirty="0">
                <a:latin typeface="Arial"/>
                <a:cs typeface="Arial"/>
              </a:rPr>
              <a:t> </a:t>
            </a:r>
            <a:r>
              <a:rPr sz="1000" spc="-5" dirty="0">
                <a:latin typeface="Arial"/>
                <a:cs typeface="Arial"/>
              </a:rPr>
              <a:t>leads to </a:t>
            </a:r>
            <a:r>
              <a:rPr sz="1000" dirty="0">
                <a:latin typeface="Arial"/>
                <a:cs typeface="Arial"/>
              </a:rPr>
              <a:t> </a:t>
            </a:r>
            <a:r>
              <a:rPr sz="1000" spc="-5" dirty="0">
                <a:solidFill>
                  <a:srgbClr val="FA0000"/>
                </a:solidFill>
                <a:latin typeface="Arial"/>
                <a:cs typeface="Arial"/>
              </a:rPr>
              <a:t>inconsistencies</a:t>
            </a:r>
            <a:r>
              <a:rPr sz="1000" spc="-5" dirty="0">
                <a:latin typeface="Arial"/>
                <a:cs typeface="Arial"/>
              </a:rPr>
              <a:t>:</a:t>
            </a:r>
            <a:r>
              <a:rPr sz="1000" spc="60" dirty="0">
                <a:latin typeface="Arial"/>
                <a:cs typeface="Arial"/>
              </a:rPr>
              <a:t> </a:t>
            </a:r>
            <a:r>
              <a:rPr sz="1000" spc="-5" dirty="0">
                <a:latin typeface="Arial"/>
                <a:cs typeface="Arial"/>
              </a:rPr>
              <a:t>modifying</a:t>
            </a:r>
            <a:r>
              <a:rPr sz="1000" dirty="0">
                <a:latin typeface="Arial"/>
                <a:cs typeface="Arial"/>
              </a:rPr>
              <a:t> </a:t>
            </a:r>
            <a:r>
              <a:rPr sz="1000" spc="-5" dirty="0">
                <a:latin typeface="Arial"/>
                <a:cs typeface="Arial"/>
              </a:rPr>
              <a:t>one</a:t>
            </a:r>
            <a:r>
              <a:rPr sz="1000" dirty="0">
                <a:latin typeface="Arial"/>
                <a:cs typeface="Arial"/>
              </a:rPr>
              <a:t> </a:t>
            </a:r>
            <a:r>
              <a:rPr sz="1000" spc="-10" dirty="0">
                <a:latin typeface="Arial"/>
                <a:cs typeface="Arial"/>
              </a:rPr>
              <a:t>copy</a:t>
            </a:r>
            <a:r>
              <a:rPr sz="1000" dirty="0">
                <a:latin typeface="Arial"/>
                <a:cs typeface="Arial"/>
              </a:rPr>
              <a:t> </a:t>
            </a:r>
            <a:r>
              <a:rPr sz="1000" spc="-10" dirty="0">
                <a:latin typeface="Arial"/>
                <a:cs typeface="Arial"/>
              </a:rPr>
              <a:t>makes</a:t>
            </a:r>
            <a:r>
              <a:rPr sz="1000" spc="-5" dirty="0">
                <a:latin typeface="Arial"/>
                <a:cs typeface="Arial"/>
              </a:rPr>
              <a:t> that</a:t>
            </a:r>
            <a:r>
              <a:rPr sz="1000" dirty="0">
                <a:latin typeface="Arial"/>
                <a:cs typeface="Arial"/>
              </a:rPr>
              <a:t> </a:t>
            </a:r>
            <a:r>
              <a:rPr sz="1000" spc="-10" dirty="0">
                <a:latin typeface="Arial"/>
                <a:cs typeface="Arial"/>
              </a:rPr>
              <a:t>copy</a:t>
            </a:r>
            <a:r>
              <a:rPr sz="1000" dirty="0">
                <a:latin typeface="Arial"/>
                <a:cs typeface="Arial"/>
              </a:rPr>
              <a:t> </a:t>
            </a:r>
            <a:r>
              <a:rPr sz="1000" spc="-5" dirty="0">
                <a:latin typeface="Arial"/>
                <a:cs typeface="Arial"/>
              </a:rPr>
              <a:t>different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the rest.</a:t>
            </a:r>
            <a:endParaRPr sz="1000">
              <a:latin typeface="Arial"/>
              <a:cs typeface="Arial"/>
            </a:endParaRPr>
          </a:p>
          <a:p>
            <a:pPr marL="554355" marR="43180" indent="-168275">
              <a:lnSpc>
                <a:spcPct val="100000"/>
              </a:lnSpc>
              <a:spcBef>
                <a:spcPts val="585"/>
              </a:spcBef>
              <a:buClr>
                <a:srgbClr val="3333B2"/>
              </a:buClr>
              <a:buChar char="►"/>
              <a:tabLst>
                <a:tab pos="554990" algn="l"/>
              </a:tabLst>
            </a:pPr>
            <a:r>
              <a:rPr sz="1000" spc="-10" dirty="0">
                <a:latin typeface="Arial"/>
                <a:cs typeface="Arial"/>
              </a:rPr>
              <a:t>Always</a:t>
            </a:r>
            <a:r>
              <a:rPr sz="1000" spc="-5" dirty="0">
                <a:latin typeface="Arial"/>
                <a:cs typeface="Arial"/>
              </a:rPr>
              <a:t> keeping copies</a:t>
            </a:r>
            <a:r>
              <a:rPr sz="1000" dirty="0">
                <a:latin typeface="Arial"/>
                <a:cs typeface="Arial"/>
              </a:rPr>
              <a:t> </a:t>
            </a:r>
            <a:r>
              <a:rPr sz="1000" spc="-5" dirty="0">
                <a:latin typeface="Arial"/>
                <a:cs typeface="Arial"/>
              </a:rPr>
              <a:t>consistent and in</a:t>
            </a:r>
            <a:r>
              <a:rPr sz="1000" dirty="0">
                <a:latin typeface="Arial"/>
                <a:cs typeface="Arial"/>
              </a:rPr>
              <a:t> </a:t>
            </a:r>
            <a:r>
              <a:rPr sz="1000" spc="-5" dirty="0">
                <a:latin typeface="Arial"/>
                <a:cs typeface="Arial"/>
              </a:rPr>
              <a:t>a general</a:t>
            </a:r>
            <a:r>
              <a:rPr sz="1000" dirty="0">
                <a:latin typeface="Arial"/>
                <a:cs typeface="Arial"/>
              </a:rPr>
              <a:t> </a:t>
            </a:r>
            <a:r>
              <a:rPr sz="1000" spc="-20" dirty="0">
                <a:latin typeface="Arial"/>
                <a:cs typeface="Arial"/>
              </a:rPr>
              <a:t>way</a:t>
            </a:r>
            <a:r>
              <a:rPr sz="1000" spc="-5" dirty="0">
                <a:latin typeface="Arial"/>
                <a:cs typeface="Arial"/>
              </a:rPr>
              <a:t> requires </a:t>
            </a:r>
            <a:r>
              <a:rPr sz="1000" spc="-265" dirty="0">
                <a:latin typeface="Arial"/>
                <a:cs typeface="Arial"/>
              </a:rPr>
              <a:t> </a:t>
            </a:r>
            <a:r>
              <a:rPr sz="1000" spc="-5" dirty="0">
                <a:solidFill>
                  <a:srgbClr val="FA0000"/>
                </a:solidFill>
                <a:latin typeface="Arial"/>
                <a:cs typeface="Arial"/>
              </a:rPr>
              <a:t>global synchronization </a:t>
            </a:r>
            <a:r>
              <a:rPr sz="1000" spc="-5" dirty="0">
                <a:latin typeface="Arial"/>
                <a:cs typeface="Arial"/>
              </a:rPr>
              <a:t>on each modification.</a:t>
            </a:r>
            <a:endParaRPr sz="10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82600" y="188846"/>
            <a:ext cx="4170045" cy="187769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Scaling:</a:t>
            </a:r>
            <a:r>
              <a:rPr sz="1400" spc="95" dirty="0">
                <a:solidFill>
                  <a:srgbClr val="3333B2"/>
                </a:solidFill>
                <a:latin typeface="Arial"/>
                <a:cs typeface="Arial"/>
              </a:rPr>
              <a:t> </a:t>
            </a:r>
            <a:r>
              <a:rPr sz="1400" spc="15" dirty="0">
                <a:solidFill>
                  <a:srgbClr val="3333B2"/>
                </a:solidFill>
                <a:latin typeface="Arial"/>
                <a:cs typeface="Arial"/>
              </a:rPr>
              <a:t>The</a:t>
            </a:r>
            <a:r>
              <a:rPr sz="1400" spc="5" dirty="0">
                <a:solidFill>
                  <a:srgbClr val="3333B2"/>
                </a:solidFill>
                <a:latin typeface="Arial"/>
                <a:cs typeface="Arial"/>
              </a:rPr>
              <a:t> </a:t>
            </a:r>
            <a:r>
              <a:rPr sz="1400" spc="10" dirty="0">
                <a:solidFill>
                  <a:srgbClr val="3333B2"/>
                </a:solidFill>
                <a:latin typeface="Arial"/>
                <a:cs typeface="Arial"/>
              </a:rPr>
              <a:t>problem</a:t>
            </a:r>
            <a:r>
              <a:rPr sz="1400" dirty="0">
                <a:solidFill>
                  <a:srgbClr val="3333B2"/>
                </a:solidFill>
                <a:latin typeface="Arial"/>
                <a:cs typeface="Arial"/>
              </a:rPr>
              <a:t> </a:t>
            </a:r>
            <a:r>
              <a:rPr sz="1400" spc="15" dirty="0">
                <a:solidFill>
                  <a:srgbClr val="3333B2"/>
                </a:solidFill>
                <a:latin typeface="Arial"/>
                <a:cs typeface="Arial"/>
              </a:rPr>
              <a:t>with</a:t>
            </a:r>
            <a:r>
              <a:rPr sz="1400" spc="5" dirty="0">
                <a:solidFill>
                  <a:srgbClr val="3333B2"/>
                </a:solidFill>
                <a:latin typeface="Arial"/>
                <a:cs typeface="Arial"/>
              </a:rPr>
              <a:t> </a:t>
            </a:r>
            <a:r>
              <a:rPr sz="1400" spc="10" dirty="0">
                <a:solidFill>
                  <a:srgbClr val="3333B2"/>
                </a:solidFill>
                <a:latin typeface="Arial"/>
                <a:cs typeface="Arial"/>
              </a:rPr>
              <a:t>replication</a:t>
            </a:r>
            <a:endParaRPr sz="1400">
              <a:latin typeface="Arial"/>
              <a:cs typeface="Arial"/>
            </a:endParaRPr>
          </a:p>
          <a:p>
            <a:pPr>
              <a:lnSpc>
                <a:spcPct val="100000"/>
              </a:lnSpc>
              <a:spcBef>
                <a:spcPts val="20"/>
              </a:spcBef>
            </a:pPr>
            <a:endParaRPr sz="1950">
              <a:latin typeface="Arial"/>
              <a:cs typeface="Arial"/>
            </a:endParaRPr>
          </a:p>
          <a:p>
            <a:pPr marL="271780">
              <a:lnSpc>
                <a:spcPct val="100000"/>
              </a:lnSpc>
            </a:pPr>
            <a:r>
              <a:rPr sz="1200" spc="-5" dirty="0">
                <a:solidFill>
                  <a:srgbClr val="3333B2"/>
                </a:solidFill>
                <a:latin typeface="Arial"/>
                <a:cs typeface="Arial"/>
              </a:rPr>
              <a:t>Applying replication</a:t>
            </a:r>
            <a:r>
              <a:rPr sz="1200" dirty="0">
                <a:solidFill>
                  <a:srgbClr val="3333B2"/>
                </a:solidFill>
                <a:latin typeface="Arial"/>
                <a:cs typeface="Arial"/>
              </a:rPr>
              <a:t> </a:t>
            </a:r>
            <a:r>
              <a:rPr sz="1200" spc="-5" dirty="0">
                <a:solidFill>
                  <a:srgbClr val="3333B2"/>
                </a:solidFill>
                <a:latin typeface="Arial"/>
                <a:cs typeface="Arial"/>
              </a:rPr>
              <a:t>is </a:t>
            </a:r>
            <a:r>
              <a:rPr sz="1200" spc="-30" dirty="0">
                <a:solidFill>
                  <a:srgbClr val="3333B2"/>
                </a:solidFill>
                <a:latin typeface="Arial"/>
                <a:cs typeface="Arial"/>
              </a:rPr>
              <a:t>easy,</a:t>
            </a:r>
            <a:r>
              <a:rPr sz="1200" dirty="0">
                <a:solidFill>
                  <a:srgbClr val="3333B2"/>
                </a:solidFill>
                <a:latin typeface="Arial"/>
                <a:cs typeface="Arial"/>
              </a:rPr>
              <a:t> </a:t>
            </a:r>
            <a:r>
              <a:rPr sz="1200" spc="-10" dirty="0">
                <a:solidFill>
                  <a:srgbClr val="3333B2"/>
                </a:solidFill>
                <a:latin typeface="Arial"/>
                <a:cs typeface="Arial"/>
              </a:rPr>
              <a:t>except</a:t>
            </a:r>
            <a:r>
              <a:rPr sz="1200" spc="-5" dirty="0">
                <a:solidFill>
                  <a:srgbClr val="3333B2"/>
                </a:solidFill>
                <a:latin typeface="Arial"/>
                <a:cs typeface="Arial"/>
              </a:rPr>
              <a:t> </a:t>
            </a:r>
            <a:r>
              <a:rPr sz="1200" spc="-20" dirty="0">
                <a:solidFill>
                  <a:srgbClr val="3333B2"/>
                </a:solidFill>
                <a:latin typeface="Arial"/>
                <a:cs typeface="Arial"/>
              </a:rPr>
              <a:t>for</a:t>
            </a:r>
            <a:r>
              <a:rPr sz="1200" dirty="0">
                <a:solidFill>
                  <a:srgbClr val="3333B2"/>
                </a:solidFill>
                <a:latin typeface="Arial"/>
                <a:cs typeface="Arial"/>
              </a:rPr>
              <a:t> </a:t>
            </a:r>
            <a:r>
              <a:rPr sz="1200" spc="-5" dirty="0">
                <a:solidFill>
                  <a:srgbClr val="3333B2"/>
                </a:solidFill>
                <a:latin typeface="Arial"/>
                <a:cs typeface="Arial"/>
              </a:rPr>
              <a:t>one</a:t>
            </a:r>
            <a:r>
              <a:rPr sz="1200" dirty="0">
                <a:solidFill>
                  <a:srgbClr val="3333B2"/>
                </a:solidFill>
                <a:latin typeface="Arial"/>
                <a:cs typeface="Arial"/>
              </a:rPr>
              <a:t> </a:t>
            </a:r>
            <a:r>
              <a:rPr sz="1200" spc="-5" dirty="0">
                <a:solidFill>
                  <a:srgbClr val="3333B2"/>
                </a:solidFill>
                <a:latin typeface="Arial"/>
                <a:cs typeface="Arial"/>
              </a:rPr>
              <a:t>thing</a:t>
            </a:r>
            <a:endParaRPr sz="1200">
              <a:latin typeface="Arial"/>
              <a:cs typeface="Arial"/>
            </a:endParaRPr>
          </a:p>
          <a:p>
            <a:pPr marL="554355" marR="146685" indent="-168275">
              <a:lnSpc>
                <a:spcPct val="100000"/>
              </a:lnSpc>
              <a:spcBef>
                <a:spcPts val="790"/>
              </a:spcBef>
              <a:buClr>
                <a:srgbClr val="3333B2"/>
              </a:buClr>
              <a:buChar char="►"/>
              <a:tabLst>
                <a:tab pos="554990" algn="l"/>
              </a:tabLst>
            </a:pPr>
            <a:r>
              <a:rPr sz="1000" spc="-10" dirty="0">
                <a:latin typeface="Arial"/>
                <a:cs typeface="Arial"/>
              </a:rPr>
              <a:t>Having</a:t>
            </a:r>
            <a:r>
              <a:rPr sz="1000" spc="-5" dirty="0">
                <a:latin typeface="Arial"/>
                <a:cs typeface="Arial"/>
              </a:rPr>
              <a:t> multiple</a:t>
            </a:r>
            <a:r>
              <a:rPr sz="1000" dirty="0">
                <a:latin typeface="Arial"/>
                <a:cs typeface="Arial"/>
              </a:rPr>
              <a:t> </a:t>
            </a:r>
            <a:r>
              <a:rPr sz="1000" spc="-5" dirty="0">
                <a:latin typeface="Arial"/>
                <a:cs typeface="Arial"/>
              </a:rPr>
              <a:t>copies (cached</a:t>
            </a:r>
            <a:r>
              <a:rPr sz="1000" dirty="0">
                <a:latin typeface="Arial"/>
                <a:cs typeface="Arial"/>
              </a:rPr>
              <a:t> </a:t>
            </a:r>
            <a:r>
              <a:rPr sz="1000" spc="-5" dirty="0">
                <a:latin typeface="Arial"/>
                <a:cs typeface="Arial"/>
              </a:rPr>
              <a:t>or replicated),</a:t>
            </a:r>
            <a:r>
              <a:rPr sz="1000" dirty="0">
                <a:latin typeface="Arial"/>
                <a:cs typeface="Arial"/>
              </a:rPr>
              <a:t> </a:t>
            </a:r>
            <a:r>
              <a:rPr sz="1000" spc="-5" dirty="0">
                <a:latin typeface="Arial"/>
                <a:cs typeface="Arial"/>
              </a:rPr>
              <a:t>leads to </a:t>
            </a:r>
            <a:r>
              <a:rPr sz="1000" dirty="0">
                <a:latin typeface="Arial"/>
                <a:cs typeface="Arial"/>
              </a:rPr>
              <a:t> </a:t>
            </a:r>
            <a:r>
              <a:rPr sz="1000" spc="-5" dirty="0">
                <a:solidFill>
                  <a:srgbClr val="FA0000"/>
                </a:solidFill>
                <a:latin typeface="Arial"/>
                <a:cs typeface="Arial"/>
              </a:rPr>
              <a:t>inconsistencies</a:t>
            </a:r>
            <a:r>
              <a:rPr sz="1000" spc="-5" dirty="0">
                <a:latin typeface="Arial"/>
                <a:cs typeface="Arial"/>
              </a:rPr>
              <a:t>:</a:t>
            </a:r>
            <a:r>
              <a:rPr sz="1000" spc="60" dirty="0">
                <a:latin typeface="Arial"/>
                <a:cs typeface="Arial"/>
              </a:rPr>
              <a:t> </a:t>
            </a:r>
            <a:r>
              <a:rPr sz="1000" spc="-5" dirty="0">
                <a:latin typeface="Arial"/>
                <a:cs typeface="Arial"/>
              </a:rPr>
              <a:t>modifying</a:t>
            </a:r>
            <a:r>
              <a:rPr sz="1000" dirty="0">
                <a:latin typeface="Arial"/>
                <a:cs typeface="Arial"/>
              </a:rPr>
              <a:t> </a:t>
            </a:r>
            <a:r>
              <a:rPr sz="1000" spc="-5" dirty="0">
                <a:latin typeface="Arial"/>
                <a:cs typeface="Arial"/>
              </a:rPr>
              <a:t>one</a:t>
            </a:r>
            <a:r>
              <a:rPr sz="1000" dirty="0">
                <a:latin typeface="Arial"/>
                <a:cs typeface="Arial"/>
              </a:rPr>
              <a:t> </a:t>
            </a:r>
            <a:r>
              <a:rPr sz="1000" spc="-10" dirty="0">
                <a:latin typeface="Arial"/>
                <a:cs typeface="Arial"/>
              </a:rPr>
              <a:t>copy</a:t>
            </a:r>
            <a:r>
              <a:rPr sz="1000" dirty="0">
                <a:latin typeface="Arial"/>
                <a:cs typeface="Arial"/>
              </a:rPr>
              <a:t> </a:t>
            </a:r>
            <a:r>
              <a:rPr sz="1000" spc="-10" dirty="0">
                <a:latin typeface="Arial"/>
                <a:cs typeface="Arial"/>
              </a:rPr>
              <a:t>makes</a:t>
            </a:r>
            <a:r>
              <a:rPr sz="1000" spc="-5" dirty="0">
                <a:latin typeface="Arial"/>
                <a:cs typeface="Arial"/>
              </a:rPr>
              <a:t> that</a:t>
            </a:r>
            <a:r>
              <a:rPr sz="1000" dirty="0">
                <a:latin typeface="Arial"/>
                <a:cs typeface="Arial"/>
              </a:rPr>
              <a:t> </a:t>
            </a:r>
            <a:r>
              <a:rPr sz="1000" spc="-10" dirty="0">
                <a:latin typeface="Arial"/>
                <a:cs typeface="Arial"/>
              </a:rPr>
              <a:t>copy</a:t>
            </a:r>
            <a:r>
              <a:rPr sz="1000" dirty="0">
                <a:latin typeface="Arial"/>
                <a:cs typeface="Arial"/>
              </a:rPr>
              <a:t> </a:t>
            </a:r>
            <a:r>
              <a:rPr sz="1000" spc="-5" dirty="0">
                <a:latin typeface="Arial"/>
                <a:cs typeface="Arial"/>
              </a:rPr>
              <a:t>different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the rest.</a:t>
            </a:r>
            <a:endParaRPr sz="1000">
              <a:latin typeface="Arial"/>
              <a:cs typeface="Arial"/>
            </a:endParaRPr>
          </a:p>
          <a:p>
            <a:pPr marL="554355" marR="43180" indent="-168275">
              <a:lnSpc>
                <a:spcPct val="100000"/>
              </a:lnSpc>
              <a:spcBef>
                <a:spcPts val="585"/>
              </a:spcBef>
              <a:buClr>
                <a:srgbClr val="3333B2"/>
              </a:buClr>
              <a:buChar char="►"/>
              <a:tabLst>
                <a:tab pos="554990" algn="l"/>
              </a:tabLst>
            </a:pPr>
            <a:r>
              <a:rPr sz="1000" spc="-10" dirty="0">
                <a:latin typeface="Arial"/>
                <a:cs typeface="Arial"/>
              </a:rPr>
              <a:t>Always</a:t>
            </a:r>
            <a:r>
              <a:rPr sz="1000" spc="-5" dirty="0">
                <a:latin typeface="Arial"/>
                <a:cs typeface="Arial"/>
              </a:rPr>
              <a:t> keeping copies</a:t>
            </a:r>
            <a:r>
              <a:rPr sz="1000" dirty="0">
                <a:latin typeface="Arial"/>
                <a:cs typeface="Arial"/>
              </a:rPr>
              <a:t> </a:t>
            </a:r>
            <a:r>
              <a:rPr sz="1000" spc="-5" dirty="0">
                <a:latin typeface="Arial"/>
                <a:cs typeface="Arial"/>
              </a:rPr>
              <a:t>consistent and in</a:t>
            </a:r>
            <a:r>
              <a:rPr sz="1000" dirty="0">
                <a:latin typeface="Arial"/>
                <a:cs typeface="Arial"/>
              </a:rPr>
              <a:t> </a:t>
            </a:r>
            <a:r>
              <a:rPr sz="1000" spc="-5" dirty="0">
                <a:latin typeface="Arial"/>
                <a:cs typeface="Arial"/>
              </a:rPr>
              <a:t>a general</a:t>
            </a:r>
            <a:r>
              <a:rPr sz="1000" dirty="0">
                <a:latin typeface="Arial"/>
                <a:cs typeface="Arial"/>
              </a:rPr>
              <a:t> </a:t>
            </a:r>
            <a:r>
              <a:rPr sz="1000" spc="-20" dirty="0">
                <a:latin typeface="Arial"/>
                <a:cs typeface="Arial"/>
              </a:rPr>
              <a:t>way</a:t>
            </a:r>
            <a:r>
              <a:rPr sz="1000" spc="-5" dirty="0">
                <a:latin typeface="Arial"/>
                <a:cs typeface="Arial"/>
              </a:rPr>
              <a:t> requires </a:t>
            </a:r>
            <a:r>
              <a:rPr sz="1000" spc="-265" dirty="0">
                <a:latin typeface="Arial"/>
                <a:cs typeface="Arial"/>
              </a:rPr>
              <a:t> </a:t>
            </a:r>
            <a:r>
              <a:rPr sz="1000" spc="-5" dirty="0">
                <a:solidFill>
                  <a:srgbClr val="FA0000"/>
                </a:solidFill>
                <a:latin typeface="Arial"/>
                <a:cs typeface="Arial"/>
              </a:rPr>
              <a:t>global synchronization </a:t>
            </a:r>
            <a:r>
              <a:rPr sz="1000" spc="-5" dirty="0">
                <a:latin typeface="Arial"/>
                <a:cs typeface="Arial"/>
              </a:rPr>
              <a:t>on each modification.</a:t>
            </a:r>
            <a:endParaRPr sz="1000">
              <a:latin typeface="Arial"/>
              <a:cs typeface="Arial"/>
            </a:endParaRPr>
          </a:p>
          <a:p>
            <a:pPr marL="554355" indent="-168275">
              <a:lnSpc>
                <a:spcPct val="100000"/>
              </a:lnSpc>
              <a:spcBef>
                <a:spcPts val="585"/>
              </a:spcBef>
              <a:buClr>
                <a:srgbClr val="3333B2"/>
              </a:buClr>
              <a:buChar char="►"/>
              <a:tabLst>
                <a:tab pos="554990" algn="l"/>
              </a:tabLst>
            </a:pPr>
            <a:r>
              <a:rPr sz="1000" spc="-5" dirty="0">
                <a:latin typeface="Arial"/>
                <a:cs typeface="Arial"/>
              </a:rPr>
              <a:t>Global</a:t>
            </a:r>
            <a:r>
              <a:rPr sz="1000" dirty="0">
                <a:latin typeface="Arial"/>
                <a:cs typeface="Arial"/>
              </a:rPr>
              <a:t> </a:t>
            </a:r>
            <a:r>
              <a:rPr sz="1000" spc="-5" dirty="0">
                <a:latin typeface="Arial"/>
                <a:cs typeface="Arial"/>
              </a:rPr>
              <a:t>synchronization</a:t>
            </a:r>
            <a:r>
              <a:rPr sz="1000" spc="5" dirty="0">
                <a:latin typeface="Arial"/>
                <a:cs typeface="Arial"/>
              </a:rPr>
              <a:t> </a:t>
            </a:r>
            <a:r>
              <a:rPr sz="1000" spc="-5" dirty="0">
                <a:latin typeface="Arial"/>
                <a:cs typeface="Arial"/>
              </a:rPr>
              <a:t>precludes</a:t>
            </a:r>
            <a:r>
              <a:rPr sz="1000" spc="5" dirty="0">
                <a:latin typeface="Arial"/>
                <a:cs typeface="Arial"/>
              </a:rPr>
              <a:t> </a:t>
            </a:r>
            <a:r>
              <a:rPr sz="1000" spc="-5" dirty="0">
                <a:latin typeface="Arial"/>
                <a:cs typeface="Arial"/>
              </a:rPr>
              <a:t>large-scale</a:t>
            </a:r>
            <a:r>
              <a:rPr sz="1000" spc="5" dirty="0">
                <a:latin typeface="Arial"/>
                <a:cs typeface="Arial"/>
              </a:rPr>
              <a:t> </a:t>
            </a:r>
            <a:r>
              <a:rPr sz="1000" spc="-5" dirty="0">
                <a:latin typeface="Arial"/>
                <a:cs typeface="Arial"/>
              </a:rPr>
              <a:t>solutions.</a:t>
            </a:r>
            <a:endParaRPr sz="10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62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Scaling</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techniques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Design goals</a:t>
            </a:r>
            <a:endParaRPr sz="600">
              <a:latin typeface="Arial"/>
              <a:cs typeface="Arial"/>
            </a:endParaRPr>
          </a:p>
        </p:txBody>
      </p:sp>
      <p:sp>
        <p:nvSpPr>
          <p:cNvPr id="3" name="object 3"/>
          <p:cNvSpPr txBox="1"/>
          <p:nvPr/>
        </p:nvSpPr>
        <p:spPr>
          <a:xfrm>
            <a:off x="4023740" y="716"/>
            <a:ext cx="5181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Being scala</a:t>
            </a:r>
            <a:r>
              <a:rPr sz="600" spc="-20" dirty="0">
                <a:solidFill>
                  <a:srgbClr val="262685"/>
                </a:solidFill>
                <a:latin typeface="Arial"/>
                <a:cs typeface="Arial"/>
                <a:hlinkClick r:id="rId6" action="ppaction://hlinksldjump"/>
              </a:rPr>
              <a:t>b</a:t>
            </a:r>
            <a:r>
              <a:rPr sz="600" spc="-5" dirty="0">
                <a:solidFill>
                  <a:srgbClr val="262685"/>
                </a:solidFill>
                <a:latin typeface="Arial"/>
                <a:cs typeface="Arial"/>
                <a:hlinkClick r:id="rId6" action="ppaction://hlinksldjump"/>
              </a:rPr>
              <a:t>le</a:t>
            </a:r>
            <a:endParaRPr sz="600">
              <a:latin typeface="Arial"/>
              <a:cs typeface="Arial"/>
            </a:endParaRPr>
          </a:p>
        </p:txBody>
      </p:sp>
      <p:sp>
        <p:nvSpPr>
          <p:cNvPr id="4" name="object 4"/>
          <p:cNvSpPr txBox="1"/>
          <p:nvPr/>
        </p:nvSpPr>
        <p:spPr>
          <a:xfrm>
            <a:off x="69900" y="188846"/>
            <a:ext cx="4195445" cy="2701290"/>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Scaling:</a:t>
            </a:r>
            <a:r>
              <a:rPr sz="1400" spc="95" dirty="0">
                <a:solidFill>
                  <a:srgbClr val="3333B2"/>
                </a:solidFill>
                <a:latin typeface="Arial"/>
                <a:cs typeface="Arial"/>
              </a:rPr>
              <a:t> </a:t>
            </a:r>
            <a:r>
              <a:rPr sz="1400" spc="15" dirty="0">
                <a:solidFill>
                  <a:srgbClr val="3333B2"/>
                </a:solidFill>
                <a:latin typeface="Arial"/>
                <a:cs typeface="Arial"/>
              </a:rPr>
              <a:t>The</a:t>
            </a:r>
            <a:r>
              <a:rPr sz="1400" spc="5" dirty="0">
                <a:solidFill>
                  <a:srgbClr val="3333B2"/>
                </a:solidFill>
                <a:latin typeface="Arial"/>
                <a:cs typeface="Arial"/>
              </a:rPr>
              <a:t> </a:t>
            </a:r>
            <a:r>
              <a:rPr sz="1400" spc="10" dirty="0">
                <a:solidFill>
                  <a:srgbClr val="3333B2"/>
                </a:solidFill>
                <a:latin typeface="Arial"/>
                <a:cs typeface="Arial"/>
              </a:rPr>
              <a:t>problem</a:t>
            </a:r>
            <a:r>
              <a:rPr sz="1400" dirty="0">
                <a:solidFill>
                  <a:srgbClr val="3333B2"/>
                </a:solidFill>
                <a:latin typeface="Arial"/>
                <a:cs typeface="Arial"/>
              </a:rPr>
              <a:t> </a:t>
            </a:r>
            <a:r>
              <a:rPr sz="1400" spc="15" dirty="0">
                <a:solidFill>
                  <a:srgbClr val="3333B2"/>
                </a:solidFill>
                <a:latin typeface="Arial"/>
                <a:cs typeface="Arial"/>
              </a:rPr>
              <a:t>with</a:t>
            </a:r>
            <a:r>
              <a:rPr sz="1400" spc="5" dirty="0">
                <a:solidFill>
                  <a:srgbClr val="3333B2"/>
                </a:solidFill>
                <a:latin typeface="Arial"/>
                <a:cs typeface="Arial"/>
              </a:rPr>
              <a:t> </a:t>
            </a:r>
            <a:r>
              <a:rPr sz="1400" spc="10" dirty="0">
                <a:solidFill>
                  <a:srgbClr val="3333B2"/>
                </a:solidFill>
                <a:latin typeface="Arial"/>
                <a:cs typeface="Arial"/>
              </a:rPr>
              <a:t>replication</a:t>
            </a:r>
            <a:endParaRPr sz="1400" dirty="0">
              <a:latin typeface="Arial"/>
              <a:cs typeface="Arial"/>
            </a:endParaRPr>
          </a:p>
          <a:p>
            <a:pPr>
              <a:lnSpc>
                <a:spcPct val="100000"/>
              </a:lnSpc>
              <a:spcBef>
                <a:spcPts val="20"/>
              </a:spcBef>
            </a:pPr>
            <a:endParaRPr sz="1950" dirty="0">
              <a:latin typeface="Arial"/>
              <a:cs typeface="Arial"/>
            </a:endParaRPr>
          </a:p>
          <a:p>
            <a:pPr marL="284480">
              <a:lnSpc>
                <a:spcPct val="100000"/>
              </a:lnSpc>
            </a:pPr>
            <a:r>
              <a:rPr sz="1200" spc="-5" dirty="0">
                <a:solidFill>
                  <a:srgbClr val="3333B2"/>
                </a:solidFill>
                <a:latin typeface="Arial"/>
                <a:cs typeface="Arial"/>
              </a:rPr>
              <a:t>Applying replication</a:t>
            </a:r>
            <a:r>
              <a:rPr sz="1200" dirty="0">
                <a:solidFill>
                  <a:srgbClr val="3333B2"/>
                </a:solidFill>
                <a:latin typeface="Arial"/>
                <a:cs typeface="Arial"/>
              </a:rPr>
              <a:t> </a:t>
            </a:r>
            <a:r>
              <a:rPr sz="1200" spc="-5" dirty="0">
                <a:solidFill>
                  <a:srgbClr val="3333B2"/>
                </a:solidFill>
                <a:latin typeface="Arial"/>
                <a:cs typeface="Arial"/>
              </a:rPr>
              <a:t>is </a:t>
            </a:r>
            <a:r>
              <a:rPr sz="1200" spc="-30" dirty="0">
                <a:solidFill>
                  <a:srgbClr val="3333B2"/>
                </a:solidFill>
                <a:latin typeface="Arial"/>
                <a:cs typeface="Arial"/>
              </a:rPr>
              <a:t>easy,</a:t>
            </a:r>
            <a:r>
              <a:rPr sz="1200" dirty="0">
                <a:solidFill>
                  <a:srgbClr val="3333B2"/>
                </a:solidFill>
                <a:latin typeface="Arial"/>
                <a:cs typeface="Arial"/>
              </a:rPr>
              <a:t> </a:t>
            </a:r>
            <a:r>
              <a:rPr sz="1200" spc="-10" dirty="0">
                <a:solidFill>
                  <a:srgbClr val="3333B2"/>
                </a:solidFill>
                <a:latin typeface="Arial"/>
                <a:cs typeface="Arial"/>
              </a:rPr>
              <a:t>except</a:t>
            </a:r>
            <a:r>
              <a:rPr sz="1200" spc="-5" dirty="0">
                <a:solidFill>
                  <a:srgbClr val="3333B2"/>
                </a:solidFill>
                <a:latin typeface="Arial"/>
                <a:cs typeface="Arial"/>
              </a:rPr>
              <a:t> </a:t>
            </a:r>
            <a:r>
              <a:rPr sz="1200" spc="-20" dirty="0">
                <a:solidFill>
                  <a:srgbClr val="3333B2"/>
                </a:solidFill>
                <a:latin typeface="Arial"/>
                <a:cs typeface="Arial"/>
              </a:rPr>
              <a:t>for</a:t>
            </a:r>
            <a:r>
              <a:rPr sz="1200" dirty="0">
                <a:solidFill>
                  <a:srgbClr val="3333B2"/>
                </a:solidFill>
                <a:latin typeface="Arial"/>
                <a:cs typeface="Arial"/>
              </a:rPr>
              <a:t> </a:t>
            </a:r>
            <a:r>
              <a:rPr sz="1200" spc="-5" dirty="0">
                <a:solidFill>
                  <a:srgbClr val="3333B2"/>
                </a:solidFill>
                <a:latin typeface="Arial"/>
                <a:cs typeface="Arial"/>
              </a:rPr>
              <a:t>one</a:t>
            </a:r>
            <a:r>
              <a:rPr sz="1200" dirty="0">
                <a:solidFill>
                  <a:srgbClr val="3333B2"/>
                </a:solidFill>
                <a:latin typeface="Arial"/>
                <a:cs typeface="Arial"/>
              </a:rPr>
              <a:t> </a:t>
            </a:r>
            <a:r>
              <a:rPr sz="1200" spc="-5" dirty="0">
                <a:solidFill>
                  <a:srgbClr val="3333B2"/>
                </a:solidFill>
                <a:latin typeface="Arial"/>
                <a:cs typeface="Arial"/>
              </a:rPr>
              <a:t>thing</a:t>
            </a:r>
            <a:endParaRPr sz="1200" dirty="0">
              <a:latin typeface="Arial"/>
              <a:cs typeface="Arial"/>
            </a:endParaRPr>
          </a:p>
          <a:p>
            <a:pPr marL="567055" marR="159385" indent="-168275">
              <a:lnSpc>
                <a:spcPct val="100000"/>
              </a:lnSpc>
              <a:spcBef>
                <a:spcPts val="790"/>
              </a:spcBef>
              <a:buClr>
                <a:srgbClr val="3333B2"/>
              </a:buClr>
              <a:buChar char="►"/>
              <a:tabLst>
                <a:tab pos="567690" algn="l"/>
              </a:tabLst>
            </a:pPr>
            <a:r>
              <a:rPr sz="1000" spc="-10" dirty="0">
                <a:latin typeface="Arial"/>
                <a:cs typeface="Arial"/>
              </a:rPr>
              <a:t>Having</a:t>
            </a:r>
            <a:r>
              <a:rPr sz="1000" spc="-5" dirty="0">
                <a:latin typeface="Arial"/>
                <a:cs typeface="Arial"/>
              </a:rPr>
              <a:t> multiple</a:t>
            </a:r>
            <a:r>
              <a:rPr sz="1000" dirty="0">
                <a:latin typeface="Arial"/>
                <a:cs typeface="Arial"/>
              </a:rPr>
              <a:t> </a:t>
            </a:r>
            <a:r>
              <a:rPr sz="1000" spc="-5" dirty="0">
                <a:latin typeface="Arial"/>
                <a:cs typeface="Arial"/>
              </a:rPr>
              <a:t>copies (cached</a:t>
            </a:r>
            <a:r>
              <a:rPr sz="1000" dirty="0">
                <a:latin typeface="Arial"/>
                <a:cs typeface="Arial"/>
              </a:rPr>
              <a:t> </a:t>
            </a:r>
            <a:r>
              <a:rPr sz="1000" spc="-5" dirty="0">
                <a:latin typeface="Arial"/>
                <a:cs typeface="Arial"/>
              </a:rPr>
              <a:t>or replicated),</a:t>
            </a:r>
            <a:r>
              <a:rPr sz="1000" dirty="0">
                <a:latin typeface="Arial"/>
                <a:cs typeface="Arial"/>
              </a:rPr>
              <a:t> </a:t>
            </a:r>
            <a:r>
              <a:rPr sz="1000" spc="-5" dirty="0">
                <a:latin typeface="Arial"/>
                <a:cs typeface="Arial"/>
              </a:rPr>
              <a:t>leads to </a:t>
            </a:r>
            <a:r>
              <a:rPr sz="1000" dirty="0">
                <a:latin typeface="Arial"/>
                <a:cs typeface="Arial"/>
              </a:rPr>
              <a:t> </a:t>
            </a:r>
            <a:r>
              <a:rPr sz="1000" spc="-5" dirty="0">
                <a:solidFill>
                  <a:srgbClr val="FA0000"/>
                </a:solidFill>
                <a:latin typeface="Arial"/>
                <a:cs typeface="Arial"/>
              </a:rPr>
              <a:t>inconsistencies</a:t>
            </a:r>
            <a:r>
              <a:rPr sz="1000" spc="-5" dirty="0">
                <a:latin typeface="Arial"/>
                <a:cs typeface="Arial"/>
              </a:rPr>
              <a:t>:</a:t>
            </a:r>
            <a:r>
              <a:rPr sz="1000" spc="60" dirty="0">
                <a:latin typeface="Arial"/>
                <a:cs typeface="Arial"/>
              </a:rPr>
              <a:t> </a:t>
            </a:r>
            <a:r>
              <a:rPr sz="1000" spc="-5" dirty="0">
                <a:latin typeface="Arial"/>
                <a:cs typeface="Arial"/>
              </a:rPr>
              <a:t>modifying</a:t>
            </a:r>
            <a:r>
              <a:rPr sz="1000" dirty="0">
                <a:latin typeface="Arial"/>
                <a:cs typeface="Arial"/>
              </a:rPr>
              <a:t> </a:t>
            </a:r>
            <a:r>
              <a:rPr sz="1000" spc="-5" dirty="0">
                <a:latin typeface="Arial"/>
                <a:cs typeface="Arial"/>
              </a:rPr>
              <a:t>one</a:t>
            </a:r>
            <a:r>
              <a:rPr sz="1000" dirty="0">
                <a:latin typeface="Arial"/>
                <a:cs typeface="Arial"/>
              </a:rPr>
              <a:t> </a:t>
            </a:r>
            <a:r>
              <a:rPr sz="1000" spc="-10" dirty="0">
                <a:latin typeface="Arial"/>
                <a:cs typeface="Arial"/>
              </a:rPr>
              <a:t>copy</a:t>
            </a:r>
            <a:r>
              <a:rPr sz="1000" dirty="0">
                <a:latin typeface="Arial"/>
                <a:cs typeface="Arial"/>
              </a:rPr>
              <a:t> </a:t>
            </a:r>
            <a:r>
              <a:rPr sz="1000" spc="-10" dirty="0">
                <a:latin typeface="Arial"/>
                <a:cs typeface="Arial"/>
              </a:rPr>
              <a:t>makes</a:t>
            </a:r>
            <a:r>
              <a:rPr sz="1000" spc="-5" dirty="0">
                <a:latin typeface="Arial"/>
                <a:cs typeface="Arial"/>
              </a:rPr>
              <a:t> that</a:t>
            </a:r>
            <a:r>
              <a:rPr sz="1000" dirty="0">
                <a:latin typeface="Arial"/>
                <a:cs typeface="Arial"/>
              </a:rPr>
              <a:t> </a:t>
            </a:r>
            <a:r>
              <a:rPr sz="1000" spc="-10" dirty="0">
                <a:latin typeface="Arial"/>
                <a:cs typeface="Arial"/>
              </a:rPr>
              <a:t>copy</a:t>
            </a:r>
            <a:r>
              <a:rPr sz="1000" dirty="0">
                <a:latin typeface="Arial"/>
                <a:cs typeface="Arial"/>
              </a:rPr>
              <a:t> </a:t>
            </a:r>
            <a:r>
              <a:rPr sz="1000" spc="-5" dirty="0">
                <a:latin typeface="Arial"/>
                <a:cs typeface="Arial"/>
              </a:rPr>
              <a:t>different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the rest.</a:t>
            </a:r>
            <a:endParaRPr sz="1000" dirty="0">
              <a:latin typeface="Arial"/>
              <a:cs typeface="Arial"/>
            </a:endParaRPr>
          </a:p>
          <a:p>
            <a:pPr marL="567055" marR="55880" indent="-168275">
              <a:lnSpc>
                <a:spcPct val="100000"/>
              </a:lnSpc>
              <a:spcBef>
                <a:spcPts val="585"/>
              </a:spcBef>
              <a:buClr>
                <a:srgbClr val="3333B2"/>
              </a:buClr>
              <a:buChar char="►"/>
              <a:tabLst>
                <a:tab pos="567690" algn="l"/>
              </a:tabLst>
            </a:pPr>
            <a:r>
              <a:rPr sz="1000" spc="-10" dirty="0">
                <a:latin typeface="Arial"/>
                <a:cs typeface="Arial"/>
              </a:rPr>
              <a:t>Always</a:t>
            </a:r>
            <a:r>
              <a:rPr sz="1000" spc="-5" dirty="0">
                <a:latin typeface="Arial"/>
                <a:cs typeface="Arial"/>
              </a:rPr>
              <a:t> keeping copies</a:t>
            </a:r>
            <a:r>
              <a:rPr sz="1000" dirty="0">
                <a:latin typeface="Arial"/>
                <a:cs typeface="Arial"/>
              </a:rPr>
              <a:t> </a:t>
            </a:r>
            <a:r>
              <a:rPr sz="1000" spc="-5" dirty="0">
                <a:latin typeface="Arial"/>
                <a:cs typeface="Arial"/>
              </a:rPr>
              <a:t>consistent and in</a:t>
            </a:r>
            <a:r>
              <a:rPr sz="1000" dirty="0">
                <a:latin typeface="Arial"/>
                <a:cs typeface="Arial"/>
              </a:rPr>
              <a:t> </a:t>
            </a:r>
            <a:r>
              <a:rPr sz="1000" spc="-5" dirty="0">
                <a:latin typeface="Arial"/>
                <a:cs typeface="Arial"/>
              </a:rPr>
              <a:t>a general</a:t>
            </a:r>
            <a:r>
              <a:rPr sz="1000" dirty="0">
                <a:latin typeface="Arial"/>
                <a:cs typeface="Arial"/>
              </a:rPr>
              <a:t> </a:t>
            </a:r>
            <a:r>
              <a:rPr sz="1000" spc="-20" dirty="0">
                <a:latin typeface="Arial"/>
                <a:cs typeface="Arial"/>
              </a:rPr>
              <a:t>way</a:t>
            </a:r>
            <a:r>
              <a:rPr sz="1000" spc="-5" dirty="0">
                <a:latin typeface="Arial"/>
                <a:cs typeface="Arial"/>
              </a:rPr>
              <a:t> requires </a:t>
            </a:r>
            <a:r>
              <a:rPr sz="1000" spc="-265" dirty="0">
                <a:latin typeface="Arial"/>
                <a:cs typeface="Arial"/>
              </a:rPr>
              <a:t> </a:t>
            </a:r>
            <a:r>
              <a:rPr sz="1000" spc="-5" dirty="0">
                <a:solidFill>
                  <a:srgbClr val="FA0000"/>
                </a:solidFill>
                <a:latin typeface="Arial"/>
                <a:cs typeface="Arial"/>
              </a:rPr>
              <a:t>global synchronization </a:t>
            </a:r>
            <a:r>
              <a:rPr sz="1000" spc="-5" dirty="0">
                <a:latin typeface="Arial"/>
                <a:cs typeface="Arial"/>
              </a:rPr>
              <a:t>on each modification.</a:t>
            </a:r>
            <a:endParaRPr sz="1000" dirty="0">
              <a:latin typeface="Arial"/>
              <a:cs typeface="Arial"/>
            </a:endParaRPr>
          </a:p>
          <a:p>
            <a:pPr marL="567055" indent="-168275">
              <a:lnSpc>
                <a:spcPct val="100000"/>
              </a:lnSpc>
              <a:spcBef>
                <a:spcPts val="585"/>
              </a:spcBef>
              <a:buClr>
                <a:srgbClr val="3333B2"/>
              </a:buClr>
              <a:buChar char="►"/>
              <a:tabLst>
                <a:tab pos="567690" algn="l"/>
              </a:tabLst>
            </a:pPr>
            <a:r>
              <a:rPr sz="1000" spc="-5" dirty="0">
                <a:latin typeface="Arial"/>
                <a:cs typeface="Arial"/>
              </a:rPr>
              <a:t>Global</a:t>
            </a:r>
            <a:r>
              <a:rPr sz="1000" spc="5" dirty="0">
                <a:latin typeface="Arial"/>
                <a:cs typeface="Arial"/>
              </a:rPr>
              <a:t> </a:t>
            </a:r>
            <a:r>
              <a:rPr sz="1000" spc="-5" dirty="0">
                <a:latin typeface="Arial"/>
                <a:cs typeface="Arial"/>
              </a:rPr>
              <a:t>synchronization</a:t>
            </a:r>
            <a:r>
              <a:rPr sz="1000" spc="5" dirty="0">
                <a:latin typeface="Arial"/>
                <a:cs typeface="Arial"/>
              </a:rPr>
              <a:t> </a:t>
            </a:r>
            <a:r>
              <a:rPr sz="1000" spc="-5" dirty="0">
                <a:latin typeface="Arial"/>
                <a:cs typeface="Arial"/>
              </a:rPr>
              <a:t>precludes</a:t>
            </a:r>
            <a:r>
              <a:rPr sz="1000" spc="10" dirty="0">
                <a:latin typeface="Arial"/>
                <a:cs typeface="Arial"/>
              </a:rPr>
              <a:t> </a:t>
            </a:r>
            <a:r>
              <a:rPr sz="1000" spc="-5" dirty="0">
                <a:latin typeface="Arial"/>
                <a:cs typeface="Arial"/>
              </a:rPr>
              <a:t>large-scale</a:t>
            </a:r>
            <a:r>
              <a:rPr sz="1000" spc="5" dirty="0">
                <a:latin typeface="Arial"/>
                <a:cs typeface="Arial"/>
              </a:rPr>
              <a:t> </a:t>
            </a:r>
            <a:r>
              <a:rPr sz="1000" spc="-5" dirty="0">
                <a:latin typeface="Arial"/>
                <a:cs typeface="Arial"/>
              </a:rPr>
              <a:t>solutions.</a:t>
            </a:r>
            <a:endParaRPr sz="1000" dirty="0">
              <a:latin typeface="Arial"/>
              <a:cs typeface="Arial"/>
            </a:endParaRPr>
          </a:p>
          <a:p>
            <a:pPr>
              <a:lnSpc>
                <a:spcPct val="100000"/>
              </a:lnSpc>
              <a:spcBef>
                <a:spcPts val="20"/>
              </a:spcBef>
            </a:pPr>
            <a:endParaRPr sz="1300" dirty="0">
              <a:latin typeface="Arial"/>
              <a:cs typeface="Arial"/>
            </a:endParaRPr>
          </a:p>
          <a:p>
            <a:pPr marL="289560">
              <a:lnSpc>
                <a:spcPts val="1410"/>
              </a:lnSpc>
            </a:pPr>
            <a:r>
              <a:rPr sz="1200" spc="-5" dirty="0">
                <a:solidFill>
                  <a:srgbClr val="3333B2"/>
                </a:solidFill>
                <a:latin typeface="Arial"/>
                <a:cs typeface="Arial"/>
              </a:rPr>
              <a:t>Observation</a:t>
            </a:r>
            <a:endParaRPr sz="1200" dirty="0">
              <a:latin typeface="Arial"/>
              <a:cs typeface="Arial"/>
            </a:endParaRPr>
          </a:p>
          <a:p>
            <a:pPr marL="289560" marR="42545">
              <a:lnSpc>
                <a:spcPts val="1200"/>
              </a:lnSpc>
              <a:spcBef>
                <a:spcPts val="10"/>
              </a:spcBef>
            </a:pPr>
            <a:r>
              <a:rPr sz="1000" spc="-5" dirty="0">
                <a:latin typeface="Arial"/>
                <a:cs typeface="Arial"/>
              </a:rPr>
              <a:t>If</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tolerate</a:t>
            </a:r>
            <a:r>
              <a:rPr sz="1000" dirty="0">
                <a:latin typeface="Arial"/>
                <a:cs typeface="Arial"/>
              </a:rPr>
              <a:t> </a:t>
            </a:r>
            <a:r>
              <a:rPr sz="1000" spc="-5" dirty="0">
                <a:latin typeface="Arial"/>
                <a:cs typeface="Arial"/>
              </a:rPr>
              <a:t>inconsistencies,</a:t>
            </a:r>
            <a:r>
              <a:rPr sz="1000" dirty="0">
                <a:latin typeface="Arial"/>
                <a:cs typeface="Arial"/>
              </a:rPr>
              <a:t> </a:t>
            </a:r>
            <a:r>
              <a:rPr sz="1000" spc="-10" dirty="0">
                <a:latin typeface="Arial"/>
                <a:cs typeface="Arial"/>
              </a:rPr>
              <a:t>we</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reduce</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need</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global </a:t>
            </a:r>
            <a:r>
              <a:rPr sz="1000" spc="-265" dirty="0">
                <a:latin typeface="Arial"/>
                <a:cs typeface="Arial"/>
              </a:rPr>
              <a:t> </a:t>
            </a:r>
            <a:r>
              <a:rPr sz="1000" spc="-5" dirty="0">
                <a:latin typeface="Arial"/>
                <a:cs typeface="Arial"/>
              </a:rPr>
              <a:t>synchronization, </a:t>
            </a:r>
            <a:r>
              <a:rPr sz="1000" spc="-10" dirty="0">
                <a:latin typeface="Arial"/>
                <a:cs typeface="Arial"/>
              </a:rPr>
              <a:t>but</a:t>
            </a:r>
            <a:r>
              <a:rPr sz="1000" dirty="0">
                <a:latin typeface="Arial"/>
                <a:cs typeface="Arial"/>
              </a:rPr>
              <a:t> </a:t>
            </a:r>
            <a:r>
              <a:rPr sz="1000" spc="-5" dirty="0">
                <a:solidFill>
                  <a:srgbClr val="0000FA"/>
                </a:solidFill>
                <a:latin typeface="Arial"/>
                <a:cs typeface="Arial"/>
              </a:rPr>
              <a:t>tolerating</a:t>
            </a:r>
            <a:r>
              <a:rPr sz="1000" dirty="0">
                <a:solidFill>
                  <a:srgbClr val="0000FA"/>
                </a:solidFill>
                <a:latin typeface="Arial"/>
                <a:cs typeface="Arial"/>
              </a:rPr>
              <a:t> </a:t>
            </a:r>
            <a:r>
              <a:rPr sz="1000" spc="-5" dirty="0">
                <a:solidFill>
                  <a:srgbClr val="0000FA"/>
                </a:solidFill>
                <a:latin typeface="Arial"/>
                <a:cs typeface="Arial"/>
              </a:rPr>
              <a:t>inconsistencies is</a:t>
            </a:r>
            <a:r>
              <a:rPr sz="1000" dirty="0">
                <a:solidFill>
                  <a:srgbClr val="0000FA"/>
                </a:solidFill>
                <a:latin typeface="Arial"/>
                <a:cs typeface="Arial"/>
              </a:rPr>
              <a:t> </a:t>
            </a:r>
            <a:r>
              <a:rPr sz="1000" spc="-5" dirty="0">
                <a:solidFill>
                  <a:srgbClr val="0000FA"/>
                </a:solidFill>
                <a:latin typeface="Arial"/>
                <a:cs typeface="Arial"/>
              </a:rPr>
              <a:t>application </a:t>
            </a:r>
            <a:r>
              <a:rPr sz="1000" dirty="0">
                <a:solidFill>
                  <a:srgbClr val="0000FA"/>
                </a:solidFill>
                <a:latin typeface="Arial"/>
                <a:cs typeface="Arial"/>
              </a:rPr>
              <a:t> </a:t>
            </a:r>
            <a:r>
              <a:rPr sz="1000" spc="-5" dirty="0">
                <a:solidFill>
                  <a:srgbClr val="0000FA"/>
                </a:solidFill>
                <a:latin typeface="Arial"/>
                <a:cs typeface="Arial"/>
              </a:rPr>
              <a:t>dependent</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95300" y="143590"/>
            <a:ext cx="4164329" cy="958850"/>
          </a:xfrm>
          <a:prstGeom prst="rect">
            <a:avLst/>
          </a:prstGeom>
        </p:spPr>
        <p:txBody>
          <a:bodyPr vert="horz" wrap="square" lIns="0" tIns="62230" rIns="0" bIns="0" rtlCol="0">
            <a:spAutoFit/>
          </a:bodyPr>
          <a:lstStyle/>
          <a:p>
            <a:pPr marL="127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641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64160" marR="50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95300" y="143590"/>
            <a:ext cx="4164329" cy="1215390"/>
          </a:xfrm>
          <a:prstGeom prst="rect">
            <a:avLst/>
          </a:prstGeom>
        </p:spPr>
        <p:txBody>
          <a:bodyPr vert="horz" wrap="square" lIns="0" tIns="62230" rIns="0" bIns="0" rtlCol="0">
            <a:spAutoFit/>
          </a:bodyPr>
          <a:lstStyle/>
          <a:p>
            <a:pPr marL="127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641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64160" marR="50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641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1465580"/>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1693545"/>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1920875"/>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homogeneous</a:t>
            </a:r>
            <a:endParaRPr sz="10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2148840"/>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homogeneous</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topology</a:t>
            </a:r>
            <a:r>
              <a:rPr sz="1000" spc="-10" dirty="0">
                <a:latin typeface="Arial"/>
                <a:cs typeface="Arial"/>
              </a:rPr>
              <a:t> </a:t>
            </a:r>
            <a:r>
              <a:rPr sz="1000" spc="-5" dirty="0">
                <a:latin typeface="Arial"/>
                <a:cs typeface="Arial"/>
              </a:rPr>
              <a:t>does</a:t>
            </a:r>
            <a:r>
              <a:rPr sz="1000" spc="-1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change</a:t>
            </a:r>
            <a:endParaRPr sz="10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2376805"/>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homogeneous</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topology</a:t>
            </a:r>
            <a:r>
              <a:rPr sz="1000" spc="-10" dirty="0">
                <a:latin typeface="Arial"/>
                <a:cs typeface="Arial"/>
              </a:rPr>
              <a:t> </a:t>
            </a:r>
            <a:r>
              <a:rPr sz="1000" spc="-5" dirty="0">
                <a:latin typeface="Arial"/>
                <a:cs typeface="Arial"/>
              </a:rPr>
              <a:t>does</a:t>
            </a:r>
            <a:r>
              <a:rPr sz="1000" spc="-1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change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Latency</a:t>
            </a:r>
            <a:r>
              <a:rPr sz="1000" spc="-25" dirty="0">
                <a:latin typeface="Arial"/>
                <a:cs typeface="Arial"/>
              </a:rPr>
              <a:t> </a:t>
            </a:r>
            <a:r>
              <a:rPr sz="1000" spc="-5" dirty="0">
                <a:latin typeface="Arial"/>
                <a:cs typeface="Arial"/>
              </a:rPr>
              <a:t>is</a:t>
            </a:r>
            <a:r>
              <a:rPr sz="1000" spc="-20" dirty="0">
                <a:latin typeface="Arial"/>
                <a:cs typeface="Arial"/>
              </a:rPr>
              <a:t> </a:t>
            </a:r>
            <a:r>
              <a:rPr sz="1000" spc="-10" dirty="0">
                <a:latin typeface="Arial"/>
                <a:cs typeface="Arial"/>
              </a:rPr>
              <a:t>zero</a:t>
            </a:r>
            <a:endParaRPr sz="10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2604135"/>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homogeneous</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topology</a:t>
            </a:r>
            <a:r>
              <a:rPr sz="1000" spc="-10" dirty="0">
                <a:latin typeface="Arial"/>
                <a:cs typeface="Arial"/>
              </a:rPr>
              <a:t> </a:t>
            </a:r>
            <a:r>
              <a:rPr sz="1000" spc="-5" dirty="0">
                <a:latin typeface="Arial"/>
                <a:cs typeface="Arial"/>
              </a:rPr>
              <a:t>does</a:t>
            </a:r>
            <a:r>
              <a:rPr sz="1000" spc="-1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change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Latency</a:t>
            </a:r>
            <a:r>
              <a:rPr sz="1000" spc="-25" dirty="0">
                <a:latin typeface="Arial"/>
                <a:cs typeface="Arial"/>
              </a:rPr>
              <a:t> </a:t>
            </a:r>
            <a:r>
              <a:rPr sz="1000" spc="-5" dirty="0">
                <a:latin typeface="Arial"/>
                <a:cs typeface="Arial"/>
              </a:rPr>
              <a:t>is</a:t>
            </a:r>
            <a:r>
              <a:rPr sz="1000" spc="-20" dirty="0">
                <a:latin typeface="Arial"/>
                <a:cs typeface="Arial"/>
              </a:rPr>
              <a:t> </a:t>
            </a:r>
            <a:r>
              <a:rPr sz="1000" spc="-10" dirty="0">
                <a:latin typeface="Arial"/>
                <a:cs typeface="Arial"/>
              </a:rPr>
              <a:t>zero</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Bandwidth</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infinite</a:t>
            </a:r>
            <a:endParaRPr sz="10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2832100"/>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homogeneous</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topology</a:t>
            </a:r>
            <a:r>
              <a:rPr sz="1000" spc="-10" dirty="0">
                <a:latin typeface="Arial"/>
                <a:cs typeface="Arial"/>
              </a:rPr>
              <a:t> </a:t>
            </a:r>
            <a:r>
              <a:rPr sz="1000" spc="-5" dirty="0">
                <a:latin typeface="Arial"/>
                <a:cs typeface="Arial"/>
              </a:rPr>
              <a:t>does</a:t>
            </a:r>
            <a:r>
              <a:rPr sz="1000" spc="-1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change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Latency</a:t>
            </a:r>
            <a:r>
              <a:rPr sz="1000" spc="-25" dirty="0">
                <a:latin typeface="Arial"/>
                <a:cs typeface="Arial"/>
              </a:rPr>
              <a:t> </a:t>
            </a:r>
            <a:r>
              <a:rPr sz="1000" spc="-5" dirty="0">
                <a:latin typeface="Arial"/>
                <a:cs typeface="Arial"/>
              </a:rPr>
              <a:t>is</a:t>
            </a:r>
            <a:r>
              <a:rPr sz="1000" spc="-20" dirty="0">
                <a:latin typeface="Arial"/>
                <a:cs typeface="Arial"/>
              </a:rPr>
              <a:t> </a:t>
            </a:r>
            <a:r>
              <a:rPr sz="1000" spc="-10" dirty="0">
                <a:latin typeface="Arial"/>
                <a:cs typeface="Arial"/>
              </a:rPr>
              <a:t>zero</a:t>
            </a:r>
            <a:endParaRPr sz="100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Bandwidth</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infinite</a:t>
            </a:r>
            <a:endParaRPr sz="1000">
              <a:latin typeface="Arial"/>
              <a:cs typeface="Arial"/>
            </a:endParaRPr>
          </a:p>
          <a:p>
            <a:pPr marL="567055" indent="-168275">
              <a:lnSpc>
                <a:spcPct val="100000"/>
              </a:lnSpc>
              <a:spcBef>
                <a:spcPts val="595"/>
              </a:spcBef>
              <a:buClr>
                <a:srgbClr val="3333B2"/>
              </a:buClr>
              <a:buChar char="►"/>
              <a:tabLst>
                <a:tab pos="567690" algn="l"/>
              </a:tabLst>
            </a:pPr>
            <a:r>
              <a:rPr sz="1000" spc="-15" dirty="0">
                <a:latin typeface="Arial"/>
                <a:cs typeface="Arial"/>
              </a:rPr>
              <a:t>Transport </a:t>
            </a:r>
            <a:r>
              <a:rPr sz="1000" spc="-5" dirty="0">
                <a:latin typeface="Arial"/>
                <a:cs typeface="Arial"/>
              </a:rPr>
              <a:t>cost</a:t>
            </a:r>
            <a:r>
              <a:rPr sz="1000" spc="-15" dirty="0">
                <a:latin typeface="Arial"/>
                <a:cs typeface="Arial"/>
              </a:rPr>
              <a:t> </a:t>
            </a:r>
            <a:r>
              <a:rPr sz="1000" spc="-5" dirty="0">
                <a:latin typeface="Arial"/>
                <a:cs typeface="Arial"/>
              </a:rPr>
              <a:t>is</a:t>
            </a:r>
            <a:r>
              <a:rPr sz="1000" spc="-15" dirty="0">
                <a:latin typeface="Arial"/>
                <a:cs typeface="Arial"/>
              </a:rPr>
              <a:t> </a:t>
            </a:r>
            <a:r>
              <a:rPr sz="1000" spc="-10" dirty="0">
                <a:latin typeface="Arial"/>
                <a:cs typeface="Arial"/>
              </a:rPr>
              <a:t>zero</a:t>
            </a:r>
            <a:endParaRPr sz="10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92201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Design goals</a:t>
            </a:r>
            <a:endParaRPr sz="600">
              <a:latin typeface="Arial"/>
              <a:cs typeface="Arial"/>
            </a:endParaRPr>
          </a:p>
        </p:txBody>
      </p:sp>
      <p:sp>
        <p:nvSpPr>
          <p:cNvPr id="3" name="object 3"/>
          <p:cNvSpPr txBox="1"/>
          <p:nvPr/>
        </p:nvSpPr>
        <p:spPr>
          <a:xfrm>
            <a:off x="4294606" y="716"/>
            <a:ext cx="2470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Pit</a:t>
            </a:r>
            <a:r>
              <a:rPr sz="600" spc="-25" dirty="0">
                <a:solidFill>
                  <a:srgbClr val="262685"/>
                </a:solidFill>
                <a:latin typeface="Arial"/>
                <a:cs typeface="Arial"/>
                <a:hlinkClick r:id="rId5" action="ppaction://hlinksldjump"/>
              </a:rPr>
              <a:t>f</a:t>
            </a:r>
            <a:r>
              <a:rPr sz="600" spc="-5" dirty="0">
                <a:solidFill>
                  <a:srgbClr val="262685"/>
                </a:solidFill>
                <a:latin typeface="Arial"/>
                <a:cs typeface="Arial"/>
                <a:hlinkClick r:id="rId5" action="ppaction://hlinksldjump"/>
              </a:rPr>
              <a:t>alls</a:t>
            </a:r>
            <a:endParaRPr sz="600">
              <a:latin typeface="Arial"/>
              <a:cs typeface="Arial"/>
            </a:endParaRPr>
          </a:p>
        </p:txBody>
      </p:sp>
      <p:sp>
        <p:nvSpPr>
          <p:cNvPr id="4" name="object 4"/>
          <p:cNvSpPr txBox="1"/>
          <p:nvPr/>
        </p:nvSpPr>
        <p:spPr>
          <a:xfrm>
            <a:off x="69900" y="143590"/>
            <a:ext cx="4215130" cy="3060065"/>
          </a:xfrm>
          <a:prstGeom prst="rect">
            <a:avLst/>
          </a:prstGeom>
        </p:spPr>
        <p:txBody>
          <a:bodyPr vert="horz" wrap="square" lIns="0" tIns="62230" rIns="0" bIns="0" rtlCol="0">
            <a:spAutoFit/>
          </a:bodyPr>
          <a:lstStyle/>
          <a:p>
            <a:pPr marL="38100">
              <a:lnSpc>
                <a:spcPct val="100000"/>
              </a:lnSpc>
              <a:spcBef>
                <a:spcPts val="490"/>
              </a:spcBef>
            </a:pPr>
            <a:r>
              <a:rPr sz="1400" spc="5" dirty="0">
                <a:solidFill>
                  <a:srgbClr val="3333B2"/>
                </a:solidFill>
                <a:latin typeface="Arial"/>
                <a:cs typeface="Arial"/>
              </a:rPr>
              <a:t>Developing </a:t>
            </a:r>
            <a:r>
              <a:rPr sz="1400" spc="10" dirty="0">
                <a:solidFill>
                  <a:srgbClr val="3333B2"/>
                </a:solidFill>
                <a:latin typeface="Arial"/>
                <a:cs typeface="Arial"/>
              </a:rPr>
              <a:t>distributed</a:t>
            </a:r>
            <a:r>
              <a:rPr sz="1400" spc="5" dirty="0">
                <a:solidFill>
                  <a:srgbClr val="3333B2"/>
                </a:solidFill>
                <a:latin typeface="Arial"/>
                <a:cs typeface="Arial"/>
              </a:rPr>
              <a:t> </a:t>
            </a:r>
            <a:r>
              <a:rPr sz="1400" spc="15" dirty="0">
                <a:solidFill>
                  <a:srgbClr val="3333B2"/>
                </a:solidFill>
                <a:latin typeface="Arial"/>
                <a:cs typeface="Arial"/>
              </a:rPr>
              <a:t>systems:</a:t>
            </a:r>
            <a:r>
              <a:rPr sz="1400" spc="105" dirty="0">
                <a:solidFill>
                  <a:srgbClr val="3333B2"/>
                </a:solidFill>
                <a:latin typeface="Arial"/>
                <a:cs typeface="Arial"/>
              </a:rPr>
              <a:t> </a:t>
            </a:r>
            <a:r>
              <a:rPr sz="1400" spc="5" dirty="0">
                <a:solidFill>
                  <a:srgbClr val="3333B2"/>
                </a:solidFill>
                <a:latin typeface="Arial"/>
                <a:cs typeface="Arial"/>
              </a:rPr>
              <a:t>Pitfalls</a:t>
            </a:r>
            <a:endParaRPr sz="1400" dirty="0">
              <a:latin typeface="Arial"/>
              <a:cs typeface="Arial"/>
            </a:endParaRPr>
          </a:p>
          <a:p>
            <a:pPr marL="289560">
              <a:lnSpc>
                <a:spcPts val="1410"/>
              </a:lnSpc>
              <a:spcBef>
                <a:spcPts val="300"/>
              </a:spcBef>
            </a:pPr>
            <a:r>
              <a:rPr sz="1200" spc="-5" dirty="0">
                <a:solidFill>
                  <a:srgbClr val="3333B2"/>
                </a:solidFill>
                <a:latin typeface="Arial"/>
                <a:cs typeface="Arial"/>
              </a:rPr>
              <a:t>Observation</a:t>
            </a:r>
            <a:endParaRPr sz="1200" dirty="0">
              <a:latin typeface="Arial"/>
              <a:cs typeface="Arial"/>
            </a:endParaRPr>
          </a:p>
          <a:p>
            <a:pPr marL="289560" marR="30480">
              <a:lnSpc>
                <a:spcPts val="1200"/>
              </a:lnSpc>
              <a:spcBef>
                <a:spcPts val="10"/>
              </a:spcBef>
            </a:pPr>
            <a:r>
              <a:rPr sz="1000" spc="-15" dirty="0">
                <a:latin typeface="Arial"/>
                <a:cs typeface="Arial"/>
              </a:rPr>
              <a:t>Many</a:t>
            </a:r>
            <a:r>
              <a:rPr sz="1000" spc="5" dirty="0">
                <a:latin typeface="Arial"/>
                <a:cs typeface="Arial"/>
              </a:rPr>
              <a:t> </a:t>
            </a:r>
            <a:r>
              <a:rPr sz="1000" spc="-10" dirty="0">
                <a:latin typeface="Arial"/>
                <a:cs typeface="Arial"/>
              </a:rPr>
              <a:t>distributed</a:t>
            </a:r>
            <a:r>
              <a:rPr sz="1000" spc="5" dirty="0">
                <a:latin typeface="Arial"/>
                <a:cs typeface="Arial"/>
              </a:rPr>
              <a:t> </a:t>
            </a:r>
            <a:r>
              <a:rPr sz="1000" spc="-10" dirty="0">
                <a:latin typeface="Arial"/>
                <a:cs typeface="Arial"/>
              </a:rPr>
              <a:t>systems</a:t>
            </a:r>
            <a:r>
              <a:rPr sz="1000" spc="5" dirty="0">
                <a:latin typeface="Arial"/>
                <a:cs typeface="Arial"/>
              </a:rPr>
              <a:t> </a:t>
            </a:r>
            <a:r>
              <a:rPr sz="1000" spc="-10" dirty="0">
                <a:latin typeface="Arial"/>
                <a:cs typeface="Arial"/>
              </a:rPr>
              <a:t>are</a:t>
            </a:r>
            <a:r>
              <a:rPr sz="1000" spc="5" dirty="0">
                <a:latin typeface="Arial"/>
                <a:cs typeface="Arial"/>
              </a:rPr>
              <a:t> </a:t>
            </a:r>
            <a:r>
              <a:rPr sz="1000" spc="-10" dirty="0">
                <a:latin typeface="Arial"/>
                <a:cs typeface="Arial"/>
              </a:rPr>
              <a:t>needlessly</a:t>
            </a:r>
            <a:r>
              <a:rPr sz="1000" spc="5" dirty="0">
                <a:latin typeface="Arial"/>
                <a:cs typeface="Arial"/>
              </a:rPr>
              <a:t> </a:t>
            </a:r>
            <a:r>
              <a:rPr sz="1000" spc="-15" dirty="0">
                <a:latin typeface="Arial"/>
                <a:cs typeface="Arial"/>
              </a:rPr>
              <a:t>complex</a:t>
            </a:r>
            <a:r>
              <a:rPr sz="1000" spc="10" dirty="0">
                <a:latin typeface="Arial"/>
                <a:cs typeface="Arial"/>
              </a:rPr>
              <a:t> </a:t>
            </a:r>
            <a:r>
              <a:rPr sz="1000" spc="-10" dirty="0">
                <a:latin typeface="Arial"/>
                <a:cs typeface="Arial"/>
              </a:rPr>
              <a:t>caused</a:t>
            </a:r>
            <a:r>
              <a:rPr sz="1000" spc="5" dirty="0">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mistakes </a:t>
            </a:r>
            <a:r>
              <a:rPr sz="1000" spc="-265" dirty="0">
                <a:latin typeface="Arial"/>
                <a:cs typeface="Arial"/>
              </a:rPr>
              <a:t> </a:t>
            </a:r>
            <a:r>
              <a:rPr sz="1000" spc="-5" dirty="0">
                <a:latin typeface="Arial"/>
                <a:cs typeface="Arial"/>
              </a:rPr>
              <a:t>that required</a:t>
            </a:r>
            <a:r>
              <a:rPr sz="1000" dirty="0">
                <a:latin typeface="Arial"/>
                <a:cs typeface="Arial"/>
              </a:rPr>
              <a:t> </a:t>
            </a:r>
            <a:r>
              <a:rPr sz="1000" spc="-5" dirty="0">
                <a:latin typeface="Arial"/>
                <a:cs typeface="Arial"/>
              </a:rPr>
              <a:t>patching</a:t>
            </a:r>
            <a:r>
              <a:rPr sz="1000" dirty="0">
                <a:latin typeface="Arial"/>
                <a:cs typeface="Arial"/>
              </a:rPr>
              <a:t> </a:t>
            </a:r>
            <a:r>
              <a:rPr sz="1000" spc="-5" dirty="0">
                <a:latin typeface="Arial"/>
                <a:cs typeface="Arial"/>
              </a:rPr>
              <a:t>later</a:t>
            </a:r>
            <a:r>
              <a:rPr sz="1000" dirty="0">
                <a:latin typeface="Arial"/>
                <a:cs typeface="Arial"/>
              </a:rPr>
              <a:t> </a:t>
            </a:r>
            <a:r>
              <a:rPr sz="1000" spc="-5" dirty="0">
                <a:latin typeface="Arial"/>
                <a:cs typeface="Arial"/>
              </a:rPr>
              <a:t>on.</a:t>
            </a:r>
            <a:r>
              <a:rPr sz="1000" spc="65" dirty="0">
                <a:latin typeface="Arial"/>
                <a:cs typeface="Arial"/>
              </a:rPr>
              <a:t> </a:t>
            </a:r>
            <a:r>
              <a:rPr sz="1000" spc="-10" dirty="0">
                <a:latin typeface="Arial"/>
                <a:cs typeface="Arial"/>
              </a:rPr>
              <a:t>Many</a:t>
            </a:r>
            <a:r>
              <a:rPr sz="1000" dirty="0">
                <a:latin typeface="Arial"/>
                <a:cs typeface="Arial"/>
              </a:rPr>
              <a:t> </a:t>
            </a:r>
            <a:r>
              <a:rPr sz="1000" spc="-10" dirty="0">
                <a:solidFill>
                  <a:srgbClr val="0000FA"/>
                </a:solidFill>
                <a:latin typeface="Arial"/>
                <a:cs typeface="Arial"/>
              </a:rPr>
              <a:t>false</a:t>
            </a:r>
            <a:r>
              <a:rPr sz="1000" dirty="0">
                <a:solidFill>
                  <a:srgbClr val="0000FA"/>
                </a:solidFill>
                <a:latin typeface="Arial"/>
                <a:cs typeface="Arial"/>
              </a:rPr>
              <a:t> </a:t>
            </a:r>
            <a:r>
              <a:rPr sz="1000" spc="-5" dirty="0">
                <a:solidFill>
                  <a:srgbClr val="0000FA"/>
                </a:solidFill>
                <a:latin typeface="Arial"/>
                <a:cs typeface="Arial"/>
              </a:rPr>
              <a:t>assumptions</a:t>
            </a:r>
            <a:r>
              <a:rPr sz="1000" dirty="0">
                <a:solidFill>
                  <a:srgbClr val="0000FA"/>
                </a:solidFill>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often </a:t>
            </a:r>
            <a:r>
              <a:rPr sz="1000" dirty="0">
                <a:latin typeface="Arial"/>
                <a:cs typeface="Arial"/>
              </a:rPr>
              <a:t> </a:t>
            </a:r>
            <a:r>
              <a:rPr sz="1000" spc="-10" dirty="0">
                <a:latin typeface="Arial"/>
                <a:cs typeface="Arial"/>
              </a:rPr>
              <a:t>made.</a:t>
            </a:r>
            <a:endParaRPr sz="1000" dirty="0">
              <a:latin typeface="Arial"/>
              <a:cs typeface="Arial"/>
            </a:endParaRPr>
          </a:p>
          <a:p>
            <a:pPr marL="289560">
              <a:lnSpc>
                <a:spcPct val="100000"/>
              </a:lnSpc>
              <a:spcBef>
                <a:spcPts val="535"/>
              </a:spcBef>
            </a:pPr>
            <a:r>
              <a:rPr sz="1200" spc="-15" dirty="0">
                <a:solidFill>
                  <a:srgbClr val="3333B2"/>
                </a:solidFill>
                <a:latin typeface="Arial"/>
                <a:cs typeface="Arial"/>
              </a:rPr>
              <a:t>False</a:t>
            </a:r>
            <a:r>
              <a:rPr sz="1200" spc="-10" dirty="0">
                <a:solidFill>
                  <a:srgbClr val="3333B2"/>
                </a:solidFill>
                <a:latin typeface="Arial"/>
                <a:cs typeface="Arial"/>
              </a:rPr>
              <a:t> </a:t>
            </a:r>
            <a:r>
              <a:rPr sz="1200" spc="-5" dirty="0">
                <a:solidFill>
                  <a:srgbClr val="3333B2"/>
                </a:solidFill>
                <a:latin typeface="Arial"/>
                <a:cs typeface="Arial"/>
              </a:rPr>
              <a:t>(and</a:t>
            </a:r>
            <a:r>
              <a:rPr sz="1200" spc="-10" dirty="0">
                <a:solidFill>
                  <a:srgbClr val="3333B2"/>
                </a:solidFill>
                <a:latin typeface="Arial"/>
                <a:cs typeface="Arial"/>
              </a:rPr>
              <a:t> </a:t>
            </a:r>
            <a:r>
              <a:rPr sz="1200" spc="-5" dirty="0">
                <a:solidFill>
                  <a:srgbClr val="3333B2"/>
                </a:solidFill>
                <a:latin typeface="Arial"/>
                <a:cs typeface="Arial"/>
              </a:rPr>
              <a:t>often</a:t>
            </a:r>
            <a:r>
              <a:rPr sz="1200" spc="-10" dirty="0">
                <a:solidFill>
                  <a:srgbClr val="3333B2"/>
                </a:solidFill>
                <a:latin typeface="Arial"/>
                <a:cs typeface="Arial"/>
              </a:rPr>
              <a:t> </a:t>
            </a:r>
            <a:r>
              <a:rPr sz="1200" spc="-5" dirty="0">
                <a:solidFill>
                  <a:srgbClr val="3333B2"/>
                </a:solidFill>
                <a:latin typeface="Arial"/>
                <a:cs typeface="Arial"/>
              </a:rPr>
              <a:t>hidden)</a:t>
            </a:r>
            <a:r>
              <a:rPr sz="1200" spc="-10" dirty="0">
                <a:solidFill>
                  <a:srgbClr val="3333B2"/>
                </a:solidFill>
                <a:latin typeface="Arial"/>
                <a:cs typeface="Arial"/>
              </a:rPr>
              <a:t> </a:t>
            </a:r>
            <a:r>
              <a:rPr sz="1200" spc="-5" dirty="0">
                <a:solidFill>
                  <a:srgbClr val="3333B2"/>
                </a:solidFill>
                <a:latin typeface="Arial"/>
                <a:cs typeface="Arial"/>
              </a:rPr>
              <a:t>assumptions</a:t>
            </a:r>
            <a:endParaRPr sz="1200" dirty="0">
              <a:latin typeface="Arial"/>
              <a:cs typeface="Arial"/>
            </a:endParaRPr>
          </a:p>
          <a:p>
            <a:pPr marL="567055" indent="-168275">
              <a:lnSpc>
                <a:spcPct val="100000"/>
              </a:lnSpc>
              <a:spcBef>
                <a:spcPts val="770"/>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reliable</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20"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secure</a:t>
            </a:r>
            <a:endParaRPr sz="1000" dirty="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homogeneous</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a:t>
            </a:r>
            <a:r>
              <a:rPr sz="1000" spc="-15" dirty="0">
                <a:latin typeface="Arial"/>
                <a:cs typeface="Arial"/>
              </a:rPr>
              <a:t> </a:t>
            </a:r>
            <a:r>
              <a:rPr sz="1000" spc="-5" dirty="0">
                <a:latin typeface="Arial"/>
                <a:cs typeface="Arial"/>
              </a:rPr>
              <a:t>topology</a:t>
            </a:r>
            <a:r>
              <a:rPr sz="1000" spc="-10" dirty="0">
                <a:latin typeface="Arial"/>
                <a:cs typeface="Arial"/>
              </a:rPr>
              <a:t> </a:t>
            </a:r>
            <a:r>
              <a:rPr sz="1000" spc="-5" dirty="0">
                <a:latin typeface="Arial"/>
                <a:cs typeface="Arial"/>
              </a:rPr>
              <a:t>does</a:t>
            </a:r>
            <a:r>
              <a:rPr sz="1000" spc="-1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change</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Latency</a:t>
            </a:r>
            <a:r>
              <a:rPr sz="1000" spc="-25" dirty="0">
                <a:latin typeface="Arial"/>
                <a:cs typeface="Arial"/>
              </a:rPr>
              <a:t> </a:t>
            </a:r>
            <a:r>
              <a:rPr sz="1000" spc="-5" dirty="0">
                <a:latin typeface="Arial"/>
                <a:cs typeface="Arial"/>
              </a:rPr>
              <a:t>is</a:t>
            </a:r>
            <a:r>
              <a:rPr sz="1000" spc="-20" dirty="0">
                <a:latin typeface="Arial"/>
                <a:cs typeface="Arial"/>
              </a:rPr>
              <a:t> </a:t>
            </a:r>
            <a:r>
              <a:rPr sz="1000" spc="-10" dirty="0">
                <a:latin typeface="Arial"/>
                <a:cs typeface="Arial"/>
              </a:rPr>
              <a:t>zero</a:t>
            </a:r>
            <a:endParaRPr sz="1000" dirty="0">
              <a:latin typeface="Arial"/>
              <a:cs typeface="Arial"/>
            </a:endParaRPr>
          </a:p>
          <a:p>
            <a:pPr marL="567055" indent="-168275">
              <a:lnSpc>
                <a:spcPct val="100000"/>
              </a:lnSpc>
              <a:spcBef>
                <a:spcPts val="590"/>
              </a:spcBef>
              <a:buClr>
                <a:srgbClr val="3333B2"/>
              </a:buClr>
              <a:buChar char="►"/>
              <a:tabLst>
                <a:tab pos="567690" algn="l"/>
              </a:tabLst>
            </a:pPr>
            <a:r>
              <a:rPr sz="1000" spc="-5" dirty="0">
                <a:latin typeface="Arial"/>
                <a:cs typeface="Arial"/>
              </a:rPr>
              <a:t>Bandwidth</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infinite</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15" dirty="0">
                <a:latin typeface="Arial"/>
                <a:cs typeface="Arial"/>
              </a:rPr>
              <a:t>Transport </a:t>
            </a:r>
            <a:r>
              <a:rPr sz="1000" spc="-5" dirty="0">
                <a:latin typeface="Arial"/>
                <a:cs typeface="Arial"/>
              </a:rPr>
              <a:t>cost</a:t>
            </a:r>
            <a:r>
              <a:rPr sz="1000" spc="-15" dirty="0">
                <a:latin typeface="Arial"/>
                <a:cs typeface="Arial"/>
              </a:rPr>
              <a:t> </a:t>
            </a:r>
            <a:r>
              <a:rPr sz="1000" spc="-5" dirty="0">
                <a:latin typeface="Arial"/>
                <a:cs typeface="Arial"/>
              </a:rPr>
              <a:t>is</a:t>
            </a:r>
            <a:r>
              <a:rPr sz="1000" spc="-15" dirty="0">
                <a:latin typeface="Arial"/>
                <a:cs typeface="Arial"/>
              </a:rPr>
              <a:t> </a:t>
            </a:r>
            <a:r>
              <a:rPr sz="1000" spc="-10" dirty="0">
                <a:latin typeface="Arial"/>
                <a:cs typeface="Arial"/>
              </a:rPr>
              <a:t>zero</a:t>
            </a:r>
            <a:endParaRPr sz="1000" dirty="0">
              <a:latin typeface="Arial"/>
              <a:cs typeface="Arial"/>
            </a:endParaRPr>
          </a:p>
          <a:p>
            <a:pPr marL="567055" indent="-168275">
              <a:lnSpc>
                <a:spcPct val="100000"/>
              </a:lnSpc>
              <a:spcBef>
                <a:spcPts val="595"/>
              </a:spcBef>
              <a:buClr>
                <a:srgbClr val="3333B2"/>
              </a:buClr>
              <a:buChar char="►"/>
              <a:tabLst>
                <a:tab pos="567690" algn="l"/>
              </a:tabLst>
            </a:pPr>
            <a:r>
              <a:rPr sz="1000" spc="-5" dirty="0">
                <a:latin typeface="Arial"/>
                <a:cs typeface="Arial"/>
              </a:rPr>
              <a:t>There</a:t>
            </a:r>
            <a:r>
              <a:rPr sz="1000" spc="-15"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one</a:t>
            </a:r>
            <a:r>
              <a:rPr sz="1000" spc="-15" dirty="0">
                <a:latin typeface="Arial"/>
                <a:cs typeface="Arial"/>
              </a:rPr>
              <a:t> </a:t>
            </a:r>
            <a:r>
              <a:rPr sz="1000" spc="-5" dirty="0">
                <a:latin typeface="Arial"/>
                <a:cs typeface="Arial"/>
              </a:rPr>
              <a:t>administrator</a:t>
            </a:r>
            <a:endParaRPr sz="1000" dirty="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28</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2799080" cy="244475"/>
          </a:xfrm>
          <a:prstGeom prst="rect">
            <a:avLst/>
          </a:prstGeom>
        </p:spPr>
        <p:txBody>
          <a:bodyPr vert="horz" wrap="square" lIns="0" tIns="17145" rIns="0" bIns="0" rtlCol="0">
            <a:spAutoFit/>
          </a:bodyPr>
          <a:lstStyle/>
          <a:p>
            <a:pPr marL="12700">
              <a:lnSpc>
                <a:spcPct val="100000"/>
              </a:lnSpc>
              <a:spcBef>
                <a:spcPts val="135"/>
              </a:spcBef>
            </a:pPr>
            <a:r>
              <a:rPr spc="15" dirty="0"/>
              <a:t>Three</a:t>
            </a:r>
            <a:r>
              <a:rPr dirty="0"/>
              <a:t> </a:t>
            </a:r>
            <a:r>
              <a:rPr spc="15" dirty="0"/>
              <a:t>types</a:t>
            </a:r>
            <a:r>
              <a:rPr spc="5" dirty="0"/>
              <a:t> </a:t>
            </a:r>
            <a:r>
              <a:rPr spc="10" dirty="0"/>
              <a:t>of</a:t>
            </a:r>
            <a:r>
              <a:rPr dirty="0"/>
              <a:t> </a:t>
            </a:r>
            <a:r>
              <a:rPr spc="10" dirty="0"/>
              <a:t>distributed</a:t>
            </a:r>
            <a:r>
              <a:rPr spc="5" dirty="0"/>
              <a:t> </a:t>
            </a:r>
            <a:r>
              <a:rPr spc="15" dirty="0"/>
              <a:t>systems</a:t>
            </a:r>
          </a:p>
        </p:txBody>
      </p:sp>
      <p:sp>
        <p:nvSpPr>
          <p:cNvPr id="4" name="object 4"/>
          <p:cNvSpPr txBox="1"/>
          <p:nvPr/>
        </p:nvSpPr>
        <p:spPr>
          <a:xfrm>
            <a:off x="431304" y="1362196"/>
            <a:ext cx="2985135" cy="708660"/>
          </a:xfrm>
          <a:prstGeom prst="rect">
            <a:avLst/>
          </a:prstGeom>
        </p:spPr>
        <p:txBody>
          <a:bodyPr vert="horz" wrap="square" lIns="0" tIns="88265" rIns="0" bIns="0" rtlCol="0">
            <a:spAutoFit/>
          </a:bodyPr>
          <a:lstStyle/>
          <a:p>
            <a:pPr marL="205740" indent="-168275">
              <a:lnSpc>
                <a:spcPct val="100000"/>
              </a:lnSpc>
              <a:spcBef>
                <a:spcPts val="695"/>
              </a:spcBef>
              <a:buClr>
                <a:srgbClr val="3333B2"/>
              </a:buClr>
              <a:buChar char="►"/>
              <a:tabLst>
                <a:tab pos="206375" algn="l"/>
              </a:tabLst>
            </a:pPr>
            <a:r>
              <a:rPr sz="1000" spc="-5" dirty="0">
                <a:latin typeface="Arial"/>
                <a:cs typeface="Arial"/>
              </a:rPr>
              <a:t>High performance distributed</a:t>
            </a:r>
            <a:r>
              <a:rPr sz="1000" dirty="0">
                <a:latin typeface="Arial"/>
                <a:cs typeface="Arial"/>
              </a:rPr>
              <a:t> </a:t>
            </a:r>
            <a:r>
              <a:rPr sz="1000" spc="-5" dirty="0">
                <a:latin typeface="Arial"/>
                <a:cs typeface="Arial"/>
              </a:rPr>
              <a:t>computing systems</a:t>
            </a:r>
            <a:endParaRPr sz="1000" dirty="0">
              <a:latin typeface="Arial"/>
              <a:cs typeface="Arial"/>
            </a:endParaRPr>
          </a:p>
          <a:p>
            <a:pPr marL="205740" indent="-168275">
              <a:lnSpc>
                <a:spcPct val="100000"/>
              </a:lnSpc>
              <a:spcBef>
                <a:spcPts val="590"/>
              </a:spcBef>
              <a:buClr>
                <a:srgbClr val="3333B2"/>
              </a:buClr>
              <a:buChar char="►"/>
              <a:tabLst>
                <a:tab pos="206375" algn="l"/>
              </a:tabLst>
            </a:pPr>
            <a:r>
              <a:rPr sz="1000" spc="-5" dirty="0">
                <a:latin typeface="Arial"/>
                <a:cs typeface="Arial"/>
              </a:rPr>
              <a:t>Distributed</a:t>
            </a:r>
            <a:r>
              <a:rPr sz="1000" spc="-15" dirty="0">
                <a:latin typeface="Arial"/>
                <a:cs typeface="Arial"/>
              </a:rPr>
              <a:t> </a:t>
            </a:r>
            <a:r>
              <a:rPr sz="1000" spc="-5" dirty="0">
                <a:latin typeface="Arial"/>
                <a:cs typeface="Arial"/>
              </a:rPr>
              <a:t>information</a:t>
            </a:r>
            <a:r>
              <a:rPr sz="1000" spc="-15" dirty="0">
                <a:latin typeface="Arial"/>
                <a:cs typeface="Arial"/>
              </a:rPr>
              <a:t> </a:t>
            </a:r>
            <a:r>
              <a:rPr sz="1000" spc="-5" dirty="0">
                <a:latin typeface="Arial"/>
                <a:cs typeface="Arial"/>
              </a:rPr>
              <a:t>systems</a:t>
            </a:r>
            <a:endParaRPr sz="1000" dirty="0">
              <a:latin typeface="Arial"/>
              <a:cs typeface="Arial"/>
            </a:endParaRPr>
          </a:p>
          <a:p>
            <a:pPr marL="205740" indent="-168275">
              <a:lnSpc>
                <a:spcPct val="100000"/>
              </a:lnSpc>
              <a:spcBef>
                <a:spcPts val="595"/>
              </a:spcBef>
              <a:buClr>
                <a:srgbClr val="3333B2"/>
              </a:buClr>
              <a:buChar char="►"/>
              <a:tabLst>
                <a:tab pos="206375" algn="l"/>
              </a:tabLst>
            </a:pPr>
            <a:r>
              <a:rPr sz="1000" spc="-5" dirty="0">
                <a:latin typeface="Arial"/>
                <a:cs typeface="Arial"/>
              </a:rPr>
              <a:t>Distributed</a:t>
            </a:r>
            <a:r>
              <a:rPr sz="1000" spc="-10" dirty="0">
                <a:latin typeface="Arial"/>
                <a:cs typeface="Arial"/>
              </a:rPr>
              <a:t> </a:t>
            </a:r>
            <a:r>
              <a:rPr sz="1000" spc="-5" dirty="0">
                <a:latin typeface="Arial"/>
                <a:cs typeface="Arial"/>
              </a:rPr>
              <a:t>systems </a:t>
            </a:r>
            <a:r>
              <a:rPr sz="1000" spc="-15" dirty="0">
                <a:latin typeface="Arial"/>
                <a:cs typeface="Arial"/>
              </a:rPr>
              <a:t>for</a:t>
            </a:r>
            <a:r>
              <a:rPr sz="1000" spc="-10" dirty="0">
                <a:latin typeface="Arial"/>
                <a:cs typeface="Arial"/>
              </a:rPr>
              <a:t> </a:t>
            </a:r>
            <a:r>
              <a:rPr sz="1000" spc="-5" dirty="0">
                <a:latin typeface="Arial"/>
                <a:cs typeface="Arial"/>
              </a:rPr>
              <a:t>pervasive computing</a:t>
            </a:r>
            <a:endParaRPr sz="1000" dirty="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High performance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computing</a:t>
            </a:r>
            <a:endParaRPr sz="600">
              <a:latin typeface="Arial"/>
              <a:cs typeface="Arial"/>
            </a:endParaRPr>
          </a:p>
        </p:txBody>
      </p:sp>
      <p:sp>
        <p:nvSpPr>
          <p:cNvPr id="4" name="object 4"/>
          <p:cNvSpPr txBox="1"/>
          <p:nvPr/>
        </p:nvSpPr>
        <p:spPr>
          <a:xfrm>
            <a:off x="95300" y="188846"/>
            <a:ext cx="15151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Parallel</a:t>
            </a:r>
            <a:r>
              <a:rPr sz="1400" spc="-25" dirty="0">
                <a:solidFill>
                  <a:srgbClr val="3333B2"/>
                </a:solidFill>
                <a:latin typeface="Arial"/>
                <a:cs typeface="Arial"/>
              </a:rPr>
              <a:t> </a:t>
            </a:r>
            <a:r>
              <a:rPr sz="1400" spc="15" dirty="0">
                <a:solidFill>
                  <a:srgbClr val="3333B2"/>
                </a:solidFill>
                <a:latin typeface="Arial"/>
                <a:cs typeface="Arial"/>
              </a:rPr>
              <a:t>computing</a:t>
            </a:r>
            <a:endParaRPr sz="1400" dirty="0">
              <a:latin typeface="Arial"/>
              <a:cs typeface="Arial"/>
            </a:endParaRPr>
          </a:p>
        </p:txBody>
      </p:sp>
      <p:sp>
        <p:nvSpPr>
          <p:cNvPr id="5" name="object 5"/>
          <p:cNvSpPr txBox="1"/>
          <p:nvPr/>
        </p:nvSpPr>
        <p:spPr>
          <a:xfrm>
            <a:off x="321894" y="807031"/>
            <a:ext cx="3495040" cy="881380"/>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38100" marR="71120">
              <a:lnSpc>
                <a:spcPts val="1200"/>
              </a:lnSpc>
              <a:spcBef>
                <a:spcPts val="10"/>
              </a:spcBef>
            </a:pPr>
            <a:r>
              <a:rPr sz="1000" spc="-5" dirty="0">
                <a:latin typeface="Arial"/>
                <a:cs typeface="Arial"/>
              </a:rPr>
              <a:t>High-performance</a:t>
            </a:r>
            <a:r>
              <a:rPr sz="1000" dirty="0">
                <a:latin typeface="Arial"/>
                <a:cs typeface="Arial"/>
              </a:rPr>
              <a:t> </a:t>
            </a:r>
            <a:r>
              <a:rPr sz="1000" spc="-5" dirty="0">
                <a:latin typeface="Arial"/>
                <a:cs typeface="Arial"/>
              </a:rPr>
              <a:t>distributed</a:t>
            </a:r>
            <a:r>
              <a:rPr sz="1000" spc="5" dirty="0">
                <a:latin typeface="Arial"/>
                <a:cs typeface="Arial"/>
              </a:rPr>
              <a:t> </a:t>
            </a:r>
            <a:r>
              <a:rPr sz="1000" spc="-5" dirty="0">
                <a:latin typeface="Arial"/>
                <a:cs typeface="Arial"/>
              </a:rPr>
              <a:t>computing</a:t>
            </a:r>
            <a:r>
              <a:rPr sz="1000" spc="5" dirty="0">
                <a:latin typeface="Arial"/>
                <a:cs typeface="Arial"/>
              </a:rPr>
              <a:t> </a:t>
            </a:r>
            <a:r>
              <a:rPr sz="1000" dirty="0">
                <a:latin typeface="Arial"/>
                <a:cs typeface="Arial"/>
              </a:rPr>
              <a:t>started</a:t>
            </a:r>
            <a:r>
              <a:rPr sz="1000" spc="5"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parallel </a:t>
            </a:r>
            <a:r>
              <a:rPr sz="1000" spc="-260" dirty="0">
                <a:latin typeface="Arial"/>
                <a:cs typeface="Arial"/>
              </a:rPr>
              <a:t> </a:t>
            </a:r>
            <a:r>
              <a:rPr sz="1000" spc="-5" dirty="0">
                <a:latin typeface="Arial"/>
                <a:cs typeface="Arial"/>
              </a:rPr>
              <a:t>computing</a:t>
            </a:r>
            <a:endParaRPr sz="1000" dirty="0">
              <a:latin typeface="Arial"/>
              <a:cs typeface="Arial"/>
            </a:endParaRPr>
          </a:p>
          <a:p>
            <a:pPr marL="38100">
              <a:lnSpc>
                <a:spcPct val="100000"/>
              </a:lnSpc>
              <a:spcBef>
                <a:spcPts val="650"/>
              </a:spcBef>
            </a:pPr>
            <a:r>
              <a:rPr sz="1200" spc="-5" dirty="0">
                <a:solidFill>
                  <a:srgbClr val="3333B2"/>
                </a:solidFill>
                <a:latin typeface="Arial"/>
                <a:cs typeface="Arial"/>
              </a:rPr>
              <a:t>Multiprocessor</a:t>
            </a:r>
            <a:r>
              <a:rPr sz="1200" spc="-10" dirty="0">
                <a:solidFill>
                  <a:srgbClr val="3333B2"/>
                </a:solidFill>
                <a:latin typeface="Arial"/>
                <a:cs typeface="Arial"/>
              </a:rPr>
              <a:t> </a:t>
            </a:r>
            <a:r>
              <a:rPr sz="1200" spc="-5" dirty="0">
                <a:solidFill>
                  <a:srgbClr val="3333B2"/>
                </a:solidFill>
                <a:latin typeface="Arial"/>
                <a:cs typeface="Arial"/>
              </a:rPr>
              <a:t>and multicore </a:t>
            </a:r>
            <a:r>
              <a:rPr sz="1200" spc="-10" dirty="0">
                <a:solidFill>
                  <a:srgbClr val="3333B2"/>
                </a:solidFill>
                <a:latin typeface="Arial"/>
                <a:cs typeface="Arial"/>
              </a:rPr>
              <a:t>versus</a:t>
            </a:r>
            <a:r>
              <a:rPr sz="1200" spc="-5" dirty="0">
                <a:solidFill>
                  <a:srgbClr val="3333B2"/>
                </a:solidFill>
                <a:latin typeface="Arial"/>
                <a:cs typeface="Arial"/>
              </a:rPr>
              <a:t> multicomputer</a:t>
            </a:r>
            <a:endParaRPr sz="1200" dirty="0">
              <a:latin typeface="Arial"/>
              <a:cs typeface="Arial"/>
            </a:endParaRPr>
          </a:p>
          <a:p>
            <a:pPr marL="442595">
              <a:lnSpc>
                <a:spcPct val="100000"/>
              </a:lnSpc>
              <a:spcBef>
                <a:spcPts val="50"/>
              </a:spcBef>
              <a:tabLst>
                <a:tab pos="2197735" algn="l"/>
              </a:tabLst>
            </a:pPr>
            <a:r>
              <a:rPr sz="650" spc="5" dirty="0">
                <a:solidFill>
                  <a:srgbClr val="231F20"/>
                </a:solidFill>
                <a:latin typeface="Arial"/>
                <a:cs typeface="Arial"/>
              </a:rPr>
              <a:t>Shared</a:t>
            </a:r>
            <a:r>
              <a:rPr sz="650" spc="10" dirty="0">
                <a:solidFill>
                  <a:srgbClr val="231F20"/>
                </a:solidFill>
                <a:latin typeface="Arial"/>
                <a:cs typeface="Arial"/>
              </a:rPr>
              <a:t> </a:t>
            </a:r>
            <a:r>
              <a:rPr sz="650" spc="5" dirty="0">
                <a:solidFill>
                  <a:srgbClr val="231F20"/>
                </a:solidFill>
                <a:latin typeface="Arial"/>
                <a:cs typeface="Arial"/>
              </a:rPr>
              <a:t>memory	</a:t>
            </a:r>
            <a:r>
              <a:rPr sz="975" spc="7" baseline="8547" dirty="0">
                <a:solidFill>
                  <a:srgbClr val="231F20"/>
                </a:solidFill>
                <a:latin typeface="Arial"/>
                <a:cs typeface="Arial"/>
              </a:rPr>
              <a:t>Private</a:t>
            </a:r>
            <a:r>
              <a:rPr sz="975" spc="-52" baseline="8547" dirty="0">
                <a:solidFill>
                  <a:srgbClr val="231F20"/>
                </a:solidFill>
                <a:latin typeface="Arial"/>
                <a:cs typeface="Arial"/>
              </a:rPr>
              <a:t> </a:t>
            </a:r>
            <a:r>
              <a:rPr sz="975" spc="7" baseline="8547" dirty="0">
                <a:solidFill>
                  <a:srgbClr val="231F20"/>
                </a:solidFill>
                <a:latin typeface="Arial"/>
                <a:cs typeface="Arial"/>
              </a:rPr>
              <a:t>memory</a:t>
            </a:r>
            <a:endParaRPr sz="975" baseline="8547" dirty="0">
              <a:latin typeface="Arial"/>
              <a:cs typeface="Arial"/>
            </a:endParaRPr>
          </a:p>
        </p:txBody>
      </p:sp>
      <p:grpSp>
        <p:nvGrpSpPr>
          <p:cNvPr id="6" name="object 6"/>
          <p:cNvGrpSpPr/>
          <p:nvPr/>
        </p:nvGrpSpPr>
        <p:grpSpPr>
          <a:xfrm>
            <a:off x="436956" y="1773807"/>
            <a:ext cx="1193800" cy="782955"/>
            <a:chOff x="436956" y="1773807"/>
            <a:chExt cx="1193800" cy="782955"/>
          </a:xfrm>
        </p:grpSpPr>
        <p:sp>
          <p:nvSpPr>
            <p:cNvPr id="7" name="object 7"/>
            <p:cNvSpPr/>
            <p:nvPr/>
          </p:nvSpPr>
          <p:spPr>
            <a:xfrm>
              <a:off x="527061" y="2169964"/>
              <a:ext cx="0" cy="85725"/>
            </a:xfrm>
            <a:custGeom>
              <a:avLst/>
              <a:gdLst/>
              <a:ahLst/>
              <a:cxnLst/>
              <a:rect l="l" t="t" r="r" b="b"/>
              <a:pathLst>
                <a:path h="85725">
                  <a:moveTo>
                    <a:pt x="0" y="0"/>
                  </a:moveTo>
                  <a:lnTo>
                    <a:pt x="0" y="85459"/>
                  </a:lnTo>
                </a:path>
              </a:pathLst>
            </a:custGeom>
            <a:ln w="21083">
              <a:solidFill>
                <a:srgbClr val="231F20"/>
              </a:solidFill>
            </a:ln>
          </p:spPr>
          <p:txBody>
            <a:bodyPr wrap="square" lIns="0" tIns="0" rIns="0" bIns="0" rtlCol="0"/>
            <a:lstStyle/>
            <a:p>
              <a:endParaRPr/>
            </a:p>
          </p:txBody>
        </p:sp>
        <p:sp>
          <p:nvSpPr>
            <p:cNvPr id="8" name="object 8"/>
            <p:cNvSpPr/>
            <p:nvPr/>
          </p:nvSpPr>
          <p:spPr>
            <a:xfrm>
              <a:off x="439814" y="2255423"/>
              <a:ext cx="170180" cy="179070"/>
            </a:xfrm>
            <a:custGeom>
              <a:avLst/>
              <a:gdLst/>
              <a:ahLst/>
              <a:cxnLst/>
              <a:rect l="l" t="t" r="r" b="b"/>
              <a:pathLst>
                <a:path w="170179" h="179069">
                  <a:moveTo>
                    <a:pt x="0" y="178600"/>
                  </a:moveTo>
                  <a:lnTo>
                    <a:pt x="169718" y="178600"/>
                  </a:lnTo>
                  <a:lnTo>
                    <a:pt x="169718" y="0"/>
                  </a:lnTo>
                  <a:lnTo>
                    <a:pt x="0" y="0"/>
                  </a:lnTo>
                  <a:lnTo>
                    <a:pt x="0" y="178600"/>
                  </a:lnTo>
                  <a:close/>
                </a:path>
              </a:pathLst>
            </a:custGeom>
            <a:ln w="5270">
              <a:solidFill>
                <a:srgbClr val="231F20"/>
              </a:solidFill>
            </a:ln>
          </p:spPr>
          <p:txBody>
            <a:bodyPr wrap="square" lIns="0" tIns="0" rIns="0" bIns="0" rtlCol="0"/>
            <a:lstStyle/>
            <a:p>
              <a:endParaRPr/>
            </a:p>
          </p:txBody>
        </p:sp>
        <p:sp>
          <p:nvSpPr>
            <p:cNvPr id="9" name="object 9"/>
            <p:cNvSpPr/>
            <p:nvPr/>
          </p:nvSpPr>
          <p:spPr>
            <a:xfrm>
              <a:off x="866497" y="2169964"/>
              <a:ext cx="0" cy="85725"/>
            </a:xfrm>
            <a:custGeom>
              <a:avLst/>
              <a:gdLst/>
              <a:ahLst/>
              <a:cxnLst/>
              <a:rect l="l" t="t" r="r" b="b"/>
              <a:pathLst>
                <a:path h="85725">
                  <a:moveTo>
                    <a:pt x="0" y="0"/>
                  </a:moveTo>
                  <a:lnTo>
                    <a:pt x="0" y="85459"/>
                  </a:lnTo>
                </a:path>
              </a:pathLst>
            </a:custGeom>
            <a:ln w="21083">
              <a:solidFill>
                <a:srgbClr val="231F20"/>
              </a:solidFill>
            </a:ln>
          </p:spPr>
          <p:txBody>
            <a:bodyPr wrap="square" lIns="0" tIns="0" rIns="0" bIns="0" rtlCol="0"/>
            <a:lstStyle/>
            <a:p>
              <a:endParaRPr/>
            </a:p>
          </p:txBody>
        </p:sp>
        <p:sp>
          <p:nvSpPr>
            <p:cNvPr id="10" name="object 10"/>
            <p:cNvSpPr/>
            <p:nvPr/>
          </p:nvSpPr>
          <p:spPr>
            <a:xfrm>
              <a:off x="708736" y="2463929"/>
              <a:ext cx="67310" cy="90170"/>
            </a:xfrm>
            <a:custGeom>
              <a:avLst/>
              <a:gdLst/>
              <a:ahLst/>
              <a:cxnLst/>
              <a:rect l="l" t="t" r="r" b="b"/>
              <a:pathLst>
                <a:path w="67309" h="90169">
                  <a:moveTo>
                    <a:pt x="0" y="89615"/>
                  </a:moveTo>
                  <a:lnTo>
                    <a:pt x="67211" y="0"/>
                  </a:lnTo>
                </a:path>
              </a:pathLst>
            </a:custGeom>
            <a:ln w="5270">
              <a:solidFill>
                <a:srgbClr val="231F20"/>
              </a:solidFill>
            </a:ln>
          </p:spPr>
          <p:txBody>
            <a:bodyPr wrap="square" lIns="0" tIns="0" rIns="0" bIns="0" rtlCol="0"/>
            <a:lstStyle/>
            <a:p>
              <a:endParaRPr/>
            </a:p>
          </p:txBody>
        </p:sp>
        <p:sp>
          <p:nvSpPr>
            <p:cNvPr id="11" name="object 11"/>
            <p:cNvSpPr/>
            <p:nvPr/>
          </p:nvSpPr>
          <p:spPr>
            <a:xfrm>
              <a:off x="728246" y="2434024"/>
              <a:ext cx="70485" cy="78740"/>
            </a:xfrm>
            <a:custGeom>
              <a:avLst/>
              <a:gdLst/>
              <a:ahLst/>
              <a:cxnLst/>
              <a:rect l="l" t="t" r="r" b="b"/>
              <a:pathLst>
                <a:path w="70484" h="78739">
                  <a:moveTo>
                    <a:pt x="70130" y="0"/>
                  </a:moveTo>
                  <a:lnTo>
                    <a:pt x="0" y="40377"/>
                  </a:lnTo>
                  <a:lnTo>
                    <a:pt x="16338" y="45158"/>
                  </a:lnTo>
                  <a:lnTo>
                    <a:pt x="30284" y="53127"/>
                  </a:lnTo>
                  <a:lnTo>
                    <a:pt x="41839" y="64285"/>
                  </a:lnTo>
                  <a:lnTo>
                    <a:pt x="51004" y="78629"/>
                  </a:lnTo>
                  <a:lnTo>
                    <a:pt x="70130" y="0"/>
                  </a:lnTo>
                  <a:close/>
                </a:path>
              </a:pathLst>
            </a:custGeom>
            <a:solidFill>
              <a:srgbClr val="231F20"/>
            </a:solidFill>
          </p:spPr>
          <p:txBody>
            <a:bodyPr wrap="square" lIns="0" tIns="0" rIns="0" bIns="0" rtlCol="0"/>
            <a:lstStyle/>
            <a:p>
              <a:endParaRPr/>
            </a:p>
          </p:txBody>
        </p:sp>
        <p:sp>
          <p:nvSpPr>
            <p:cNvPr id="12" name="object 12"/>
            <p:cNvSpPr/>
            <p:nvPr/>
          </p:nvSpPr>
          <p:spPr>
            <a:xfrm>
              <a:off x="779250" y="2255423"/>
              <a:ext cx="170180" cy="179070"/>
            </a:xfrm>
            <a:custGeom>
              <a:avLst/>
              <a:gdLst/>
              <a:ahLst/>
              <a:cxnLst/>
              <a:rect l="l" t="t" r="r" b="b"/>
              <a:pathLst>
                <a:path w="170180" h="179069">
                  <a:moveTo>
                    <a:pt x="0" y="178600"/>
                  </a:moveTo>
                  <a:lnTo>
                    <a:pt x="169718" y="178600"/>
                  </a:lnTo>
                  <a:lnTo>
                    <a:pt x="169718" y="0"/>
                  </a:lnTo>
                  <a:lnTo>
                    <a:pt x="0" y="0"/>
                  </a:lnTo>
                  <a:lnTo>
                    <a:pt x="0" y="178600"/>
                  </a:lnTo>
                  <a:close/>
                </a:path>
              </a:pathLst>
            </a:custGeom>
            <a:ln w="5270">
              <a:solidFill>
                <a:srgbClr val="231F20"/>
              </a:solidFill>
            </a:ln>
          </p:spPr>
          <p:txBody>
            <a:bodyPr wrap="square" lIns="0" tIns="0" rIns="0" bIns="0" rtlCol="0"/>
            <a:lstStyle/>
            <a:p>
              <a:endParaRPr/>
            </a:p>
          </p:txBody>
        </p:sp>
        <p:sp>
          <p:nvSpPr>
            <p:cNvPr id="13" name="object 13"/>
            <p:cNvSpPr/>
            <p:nvPr/>
          </p:nvSpPr>
          <p:spPr>
            <a:xfrm>
              <a:off x="1205934" y="2169964"/>
              <a:ext cx="0" cy="85725"/>
            </a:xfrm>
            <a:custGeom>
              <a:avLst/>
              <a:gdLst/>
              <a:ahLst/>
              <a:cxnLst/>
              <a:rect l="l" t="t" r="r" b="b"/>
              <a:pathLst>
                <a:path h="85725">
                  <a:moveTo>
                    <a:pt x="0" y="0"/>
                  </a:moveTo>
                  <a:lnTo>
                    <a:pt x="0" y="85459"/>
                  </a:lnTo>
                </a:path>
              </a:pathLst>
            </a:custGeom>
            <a:ln w="21083">
              <a:solidFill>
                <a:srgbClr val="231F20"/>
              </a:solidFill>
            </a:ln>
          </p:spPr>
          <p:txBody>
            <a:bodyPr wrap="square" lIns="0" tIns="0" rIns="0" bIns="0" rtlCol="0"/>
            <a:lstStyle/>
            <a:p>
              <a:endParaRPr/>
            </a:p>
          </p:txBody>
        </p:sp>
        <p:sp>
          <p:nvSpPr>
            <p:cNvPr id="14" name="object 14"/>
            <p:cNvSpPr/>
            <p:nvPr/>
          </p:nvSpPr>
          <p:spPr>
            <a:xfrm>
              <a:off x="1118686" y="2255423"/>
              <a:ext cx="170180" cy="179070"/>
            </a:xfrm>
            <a:custGeom>
              <a:avLst/>
              <a:gdLst/>
              <a:ahLst/>
              <a:cxnLst/>
              <a:rect l="l" t="t" r="r" b="b"/>
              <a:pathLst>
                <a:path w="170180" h="179069">
                  <a:moveTo>
                    <a:pt x="0" y="178600"/>
                  </a:moveTo>
                  <a:lnTo>
                    <a:pt x="169722" y="178600"/>
                  </a:lnTo>
                  <a:lnTo>
                    <a:pt x="169722" y="0"/>
                  </a:lnTo>
                  <a:lnTo>
                    <a:pt x="0" y="0"/>
                  </a:lnTo>
                  <a:lnTo>
                    <a:pt x="0" y="178600"/>
                  </a:lnTo>
                  <a:close/>
                </a:path>
              </a:pathLst>
            </a:custGeom>
            <a:ln w="5270">
              <a:solidFill>
                <a:srgbClr val="231F20"/>
              </a:solidFill>
            </a:ln>
          </p:spPr>
          <p:txBody>
            <a:bodyPr wrap="square" lIns="0" tIns="0" rIns="0" bIns="0" rtlCol="0"/>
            <a:lstStyle/>
            <a:p>
              <a:endParaRPr/>
            </a:p>
          </p:txBody>
        </p:sp>
        <p:sp>
          <p:nvSpPr>
            <p:cNvPr id="15" name="object 15"/>
            <p:cNvSpPr/>
            <p:nvPr/>
          </p:nvSpPr>
          <p:spPr>
            <a:xfrm>
              <a:off x="1545376" y="2169964"/>
              <a:ext cx="0" cy="85725"/>
            </a:xfrm>
            <a:custGeom>
              <a:avLst/>
              <a:gdLst/>
              <a:ahLst/>
              <a:cxnLst/>
              <a:rect l="l" t="t" r="r" b="b"/>
              <a:pathLst>
                <a:path h="85725">
                  <a:moveTo>
                    <a:pt x="0" y="0"/>
                  </a:moveTo>
                  <a:lnTo>
                    <a:pt x="0" y="85459"/>
                  </a:lnTo>
                </a:path>
              </a:pathLst>
            </a:custGeom>
            <a:ln w="21083">
              <a:solidFill>
                <a:srgbClr val="231F20"/>
              </a:solidFill>
            </a:ln>
          </p:spPr>
          <p:txBody>
            <a:bodyPr wrap="square" lIns="0" tIns="0" rIns="0" bIns="0" rtlCol="0"/>
            <a:lstStyle/>
            <a:p>
              <a:endParaRPr/>
            </a:p>
          </p:txBody>
        </p:sp>
        <p:sp>
          <p:nvSpPr>
            <p:cNvPr id="16" name="object 16"/>
            <p:cNvSpPr/>
            <p:nvPr/>
          </p:nvSpPr>
          <p:spPr>
            <a:xfrm>
              <a:off x="1458124" y="2255423"/>
              <a:ext cx="170180" cy="179070"/>
            </a:xfrm>
            <a:custGeom>
              <a:avLst/>
              <a:gdLst/>
              <a:ahLst/>
              <a:cxnLst/>
              <a:rect l="l" t="t" r="r" b="b"/>
              <a:pathLst>
                <a:path w="170180" h="179069">
                  <a:moveTo>
                    <a:pt x="0" y="178600"/>
                  </a:moveTo>
                  <a:lnTo>
                    <a:pt x="169722" y="178600"/>
                  </a:lnTo>
                  <a:lnTo>
                    <a:pt x="169722" y="0"/>
                  </a:lnTo>
                  <a:lnTo>
                    <a:pt x="0" y="0"/>
                  </a:lnTo>
                  <a:lnTo>
                    <a:pt x="0" y="178600"/>
                  </a:lnTo>
                  <a:close/>
                </a:path>
              </a:pathLst>
            </a:custGeom>
            <a:ln w="5270">
              <a:solidFill>
                <a:srgbClr val="231F20"/>
              </a:solidFill>
            </a:ln>
          </p:spPr>
          <p:txBody>
            <a:bodyPr wrap="square" lIns="0" tIns="0" rIns="0" bIns="0" rtlCol="0"/>
            <a:lstStyle/>
            <a:p>
              <a:endParaRPr/>
            </a:p>
          </p:txBody>
        </p:sp>
        <p:sp>
          <p:nvSpPr>
            <p:cNvPr id="17" name="object 17"/>
            <p:cNvSpPr/>
            <p:nvPr/>
          </p:nvSpPr>
          <p:spPr>
            <a:xfrm>
              <a:off x="1286392" y="1776665"/>
              <a:ext cx="170180" cy="179070"/>
            </a:xfrm>
            <a:custGeom>
              <a:avLst/>
              <a:gdLst/>
              <a:ahLst/>
              <a:cxnLst/>
              <a:rect l="l" t="t" r="r" b="b"/>
              <a:pathLst>
                <a:path w="170180" h="179069">
                  <a:moveTo>
                    <a:pt x="169718" y="0"/>
                  </a:moveTo>
                  <a:lnTo>
                    <a:pt x="0" y="0"/>
                  </a:lnTo>
                  <a:lnTo>
                    <a:pt x="0" y="178600"/>
                  </a:lnTo>
                  <a:lnTo>
                    <a:pt x="169718" y="178600"/>
                  </a:lnTo>
                  <a:lnTo>
                    <a:pt x="169718" y="0"/>
                  </a:lnTo>
                  <a:close/>
                </a:path>
              </a:pathLst>
            </a:custGeom>
            <a:solidFill>
              <a:srgbClr val="BCBEC0"/>
            </a:solidFill>
          </p:spPr>
          <p:txBody>
            <a:bodyPr wrap="square" lIns="0" tIns="0" rIns="0" bIns="0" rtlCol="0"/>
            <a:lstStyle/>
            <a:p>
              <a:endParaRPr/>
            </a:p>
          </p:txBody>
        </p:sp>
        <p:sp>
          <p:nvSpPr>
            <p:cNvPr id="18" name="object 18"/>
            <p:cNvSpPr/>
            <p:nvPr/>
          </p:nvSpPr>
          <p:spPr>
            <a:xfrm>
              <a:off x="1286392" y="1776665"/>
              <a:ext cx="170180" cy="179070"/>
            </a:xfrm>
            <a:custGeom>
              <a:avLst/>
              <a:gdLst/>
              <a:ahLst/>
              <a:cxnLst/>
              <a:rect l="l" t="t" r="r" b="b"/>
              <a:pathLst>
                <a:path w="170180" h="179069">
                  <a:moveTo>
                    <a:pt x="0" y="178600"/>
                  </a:moveTo>
                  <a:lnTo>
                    <a:pt x="169718" y="178600"/>
                  </a:lnTo>
                  <a:lnTo>
                    <a:pt x="169718" y="0"/>
                  </a:lnTo>
                  <a:lnTo>
                    <a:pt x="0" y="0"/>
                  </a:lnTo>
                  <a:lnTo>
                    <a:pt x="0" y="178600"/>
                  </a:lnTo>
                  <a:close/>
                </a:path>
              </a:pathLst>
            </a:custGeom>
            <a:ln w="5270">
              <a:solidFill>
                <a:srgbClr val="231F20"/>
              </a:solidFill>
            </a:ln>
          </p:spPr>
          <p:txBody>
            <a:bodyPr wrap="square" lIns="0" tIns="0" rIns="0" bIns="0" rtlCol="0"/>
            <a:lstStyle/>
            <a:p>
              <a:endParaRPr/>
            </a:p>
          </p:txBody>
        </p:sp>
        <p:sp>
          <p:nvSpPr>
            <p:cNvPr id="19" name="object 19"/>
            <p:cNvSpPr/>
            <p:nvPr/>
          </p:nvSpPr>
          <p:spPr>
            <a:xfrm>
              <a:off x="1366088" y="1955944"/>
              <a:ext cx="0" cy="88265"/>
            </a:xfrm>
            <a:custGeom>
              <a:avLst/>
              <a:gdLst/>
              <a:ahLst/>
              <a:cxnLst/>
              <a:rect l="l" t="t" r="r" b="b"/>
              <a:pathLst>
                <a:path h="88264">
                  <a:moveTo>
                    <a:pt x="0" y="0"/>
                  </a:moveTo>
                  <a:lnTo>
                    <a:pt x="0" y="88245"/>
                  </a:lnTo>
                </a:path>
              </a:pathLst>
            </a:custGeom>
            <a:ln w="21083">
              <a:solidFill>
                <a:srgbClr val="231F20"/>
              </a:solidFill>
            </a:ln>
          </p:spPr>
          <p:txBody>
            <a:bodyPr wrap="square" lIns="0" tIns="0" rIns="0" bIns="0" rtlCol="0"/>
            <a:lstStyle/>
            <a:p>
              <a:endParaRPr/>
            </a:p>
          </p:txBody>
        </p:sp>
        <p:sp>
          <p:nvSpPr>
            <p:cNvPr id="20" name="object 20"/>
            <p:cNvSpPr/>
            <p:nvPr/>
          </p:nvSpPr>
          <p:spPr>
            <a:xfrm>
              <a:off x="946956" y="1776665"/>
              <a:ext cx="170180" cy="179070"/>
            </a:xfrm>
            <a:custGeom>
              <a:avLst/>
              <a:gdLst/>
              <a:ahLst/>
              <a:cxnLst/>
              <a:rect l="l" t="t" r="r" b="b"/>
              <a:pathLst>
                <a:path w="170180" h="179069">
                  <a:moveTo>
                    <a:pt x="169718" y="0"/>
                  </a:moveTo>
                  <a:lnTo>
                    <a:pt x="0" y="0"/>
                  </a:lnTo>
                  <a:lnTo>
                    <a:pt x="0" y="178600"/>
                  </a:lnTo>
                  <a:lnTo>
                    <a:pt x="169718" y="178600"/>
                  </a:lnTo>
                  <a:lnTo>
                    <a:pt x="169718" y="0"/>
                  </a:lnTo>
                  <a:close/>
                </a:path>
              </a:pathLst>
            </a:custGeom>
            <a:solidFill>
              <a:srgbClr val="BCBEC0"/>
            </a:solidFill>
          </p:spPr>
          <p:txBody>
            <a:bodyPr wrap="square" lIns="0" tIns="0" rIns="0" bIns="0" rtlCol="0"/>
            <a:lstStyle/>
            <a:p>
              <a:endParaRPr/>
            </a:p>
          </p:txBody>
        </p:sp>
        <p:sp>
          <p:nvSpPr>
            <p:cNvPr id="21" name="object 21"/>
            <p:cNvSpPr/>
            <p:nvPr/>
          </p:nvSpPr>
          <p:spPr>
            <a:xfrm>
              <a:off x="946956" y="1776665"/>
              <a:ext cx="170180" cy="179070"/>
            </a:xfrm>
            <a:custGeom>
              <a:avLst/>
              <a:gdLst/>
              <a:ahLst/>
              <a:cxnLst/>
              <a:rect l="l" t="t" r="r" b="b"/>
              <a:pathLst>
                <a:path w="170180" h="179069">
                  <a:moveTo>
                    <a:pt x="0" y="178600"/>
                  </a:moveTo>
                  <a:lnTo>
                    <a:pt x="169718" y="178600"/>
                  </a:lnTo>
                  <a:lnTo>
                    <a:pt x="169718" y="0"/>
                  </a:lnTo>
                  <a:lnTo>
                    <a:pt x="0" y="0"/>
                  </a:lnTo>
                  <a:lnTo>
                    <a:pt x="0" y="178600"/>
                  </a:lnTo>
                  <a:close/>
                </a:path>
              </a:pathLst>
            </a:custGeom>
            <a:ln w="5270">
              <a:solidFill>
                <a:srgbClr val="231F20"/>
              </a:solidFill>
            </a:ln>
          </p:spPr>
          <p:txBody>
            <a:bodyPr wrap="square" lIns="0" tIns="0" rIns="0" bIns="0" rtlCol="0"/>
            <a:lstStyle/>
            <a:p>
              <a:endParaRPr/>
            </a:p>
          </p:txBody>
        </p:sp>
        <p:sp>
          <p:nvSpPr>
            <p:cNvPr id="22" name="object 22"/>
            <p:cNvSpPr/>
            <p:nvPr/>
          </p:nvSpPr>
          <p:spPr>
            <a:xfrm>
              <a:off x="1026651" y="1955944"/>
              <a:ext cx="0" cy="88265"/>
            </a:xfrm>
            <a:custGeom>
              <a:avLst/>
              <a:gdLst/>
              <a:ahLst/>
              <a:cxnLst/>
              <a:rect l="l" t="t" r="r" b="b"/>
              <a:pathLst>
                <a:path h="88264">
                  <a:moveTo>
                    <a:pt x="0" y="0"/>
                  </a:moveTo>
                  <a:lnTo>
                    <a:pt x="0" y="88245"/>
                  </a:lnTo>
                </a:path>
              </a:pathLst>
            </a:custGeom>
            <a:ln w="21083">
              <a:solidFill>
                <a:srgbClr val="231F20"/>
              </a:solidFill>
            </a:ln>
          </p:spPr>
          <p:txBody>
            <a:bodyPr wrap="square" lIns="0" tIns="0" rIns="0" bIns="0" rtlCol="0"/>
            <a:lstStyle/>
            <a:p>
              <a:endParaRPr/>
            </a:p>
          </p:txBody>
        </p:sp>
        <p:sp>
          <p:nvSpPr>
            <p:cNvPr id="23" name="object 23"/>
            <p:cNvSpPr/>
            <p:nvPr/>
          </p:nvSpPr>
          <p:spPr>
            <a:xfrm>
              <a:off x="607519" y="1776665"/>
              <a:ext cx="170180" cy="179070"/>
            </a:xfrm>
            <a:custGeom>
              <a:avLst/>
              <a:gdLst/>
              <a:ahLst/>
              <a:cxnLst/>
              <a:rect l="l" t="t" r="r" b="b"/>
              <a:pathLst>
                <a:path w="170179" h="179069">
                  <a:moveTo>
                    <a:pt x="169718" y="0"/>
                  </a:moveTo>
                  <a:lnTo>
                    <a:pt x="0" y="0"/>
                  </a:lnTo>
                  <a:lnTo>
                    <a:pt x="0" y="178600"/>
                  </a:lnTo>
                  <a:lnTo>
                    <a:pt x="169718" y="178600"/>
                  </a:lnTo>
                  <a:lnTo>
                    <a:pt x="169718" y="0"/>
                  </a:lnTo>
                  <a:close/>
                </a:path>
              </a:pathLst>
            </a:custGeom>
            <a:solidFill>
              <a:srgbClr val="BCBEC0"/>
            </a:solidFill>
          </p:spPr>
          <p:txBody>
            <a:bodyPr wrap="square" lIns="0" tIns="0" rIns="0" bIns="0" rtlCol="0"/>
            <a:lstStyle/>
            <a:p>
              <a:endParaRPr/>
            </a:p>
          </p:txBody>
        </p:sp>
        <p:sp>
          <p:nvSpPr>
            <p:cNvPr id="24" name="object 24"/>
            <p:cNvSpPr/>
            <p:nvPr/>
          </p:nvSpPr>
          <p:spPr>
            <a:xfrm>
              <a:off x="607519" y="1776665"/>
              <a:ext cx="170180" cy="179070"/>
            </a:xfrm>
            <a:custGeom>
              <a:avLst/>
              <a:gdLst/>
              <a:ahLst/>
              <a:cxnLst/>
              <a:rect l="l" t="t" r="r" b="b"/>
              <a:pathLst>
                <a:path w="170179" h="179069">
                  <a:moveTo>
                    <a:pt x="0" y="178600"/>
                  </a:moveTo>
                  <a:lnTo>
                    <a:pt x="169718" y="178600"/>
                  </a:lnTo>
                  <a:lnTo>
                    <a:pt x="169718" y="0"/>
                  </a:lnTo>
                  <a:lnTo>
                    <a:pt x="0" y="0"/>
                  </a:lnTo>
                  <a:lnTo>
                    <a:pt x="0" y="178600"/>
                  </a:lnTo>
                  <a:close/>
                </a:path>
              </a:pathLst>
            </a:custGeom>
            <a:ln w="5270">
              <a:solidFill>
                <a:srgbClr val="231F20"/>
              </a:solidFill>
            </a:ln>
          </p:spPr>
          <p:txBody>
            <a:bodyPr wrap="square" lIns="0" tIns="0" rIns="0" bIns="0" rtlCol="0"/>
            <a:lstStyle/>
            <a:p>
              <a:endParaRPr/>
            </a:p>
          </p:txBody>
        </p:sp>
        <p:sp>
          <p:nvSpPr>
            <p:cNvPr id="25" name="object 25"/>
            <p:cNvSpPr/>
            <p:nvPr/>
          </p:nvSpPr>
          <p:spPr>
            <a:xfrm>
              <a:off x="687214" y="1955944"/>
              <a:ext cx="0" cy="88265"/>
            </a:xfrm>
            <a:custGeom>
              <a:avLst/>
              <a:gdLst/>
              <a:ahLst/>
              <a:cxnLst/>
              <a:rect l="l" t="t" r="r" b="b"/>
              <a:pathLst>
                <a:path h="88264">
                  <a:moveTo>
                    <a:pt x="0" y="0"/>
                  </a:moveTo>
                  <a:lnTo>
                    <a:pt x="0" y="88245"/>
                  </a:lnTo>
                </a:path>
              </a:pathLst>
            </a:custGeom>
            <a:ln w="21083">
              <a:solidFill>
                <a:srgbClr val="231F20"/>
              </a:solidFill>
            </a:ln>
          </p:spPr>
          <p:txBody>
            <a:bodyPr wrap="square" lIns="0" tIns="0" rIns="0" bIns="0" rtlCol="0"/>
            <a:lstStyle/>
            <a:p>
              <a:endParaRPr/>
            </a:p>
          </p:txBody>
        </p:sp>
      </p:grpSp>
      <p:sp>
        <p:nvSpPr>
          <p:cNvPr id="26" name="object 26"/>
          <p:cNvSpPr txBox="1"/>
          <p:nvPr/>
        </p:nvSpPr>
        <p:spPr>
          <a:xfrm>
            <a:off x="446968" y="2554312"/>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Processor</a:t>
            </a:r>
            <a:endParaRPr sz="650">
              <a:latin typeface="Arial"/>
              <a:cs typeface="Arial"/>
            </a:endParaRPr>
          </a:p>
        </p:txBody>
      </p:sp>
      <p:sp>
        <p:nvSpPr>
          <p:cNvPr id="27" name="object 27"/>
          <p:cNvSpPr txBox="1"/>
          <p:nvPr/>
        </p:nvSpPr>
        <p:spPr>
          <a:xfrm>
            <a:off x="485686" y="2279462"/>
            <a:ext cx="79375" cy="127000"/>
          </a:xfrm>
          <a:prstGeom prst="rect">
            <a:avLst/>
          </a:prstGeom>
        </p:spPr>
        <p:txBody>
          <a:bodyPr vert="horz" wrap="square" lIns="0" tIns="13970" rIns="0" bIns="0" rtlCol="0">
            <a:spAutoFit/>
          </a:bodyPr>
          <a:lstStyle/>
          <a:p>
            <a:pPr marL="12700">
              <a:lnSpc>
                <a:spcPct val="100000"/>
              </a:lnSpc>
              <a:spcBef>
                <a:spcPts val="110"/>
              </a:spcBef>
            </a:pPr>
            <a:r>
              <a:rPr sz="650" spc="-15" dirty="0">
                <a:solidFill>
                  <a:srgbClr val="231F20"/>
                </a:solidFill>
                <a:latin typeface="Arial"/>
                <a:cs typeface="Arial"/>
              </a:rPr>
              <a:t>P</a:t>
            </a:r>
            <a:endParaRPr sz="650">
              <a:latin typeface="Arial"/>
              <a:cs typeface="Arial"/>
            </a:endParaRPr>
          </a:p>
        </p:txBody>
      </p:sp>
      <p:sp>
        <p:nvSpPr>
          <p:cNvPr id="28" name="object 28"/>
          <p:cNvSpPr txBox="1"/>
          <p:nvPr/>
        </p:nvSpPr>
        <p:spPr>
          <a:xfrm>
            <a:off x="1503996" y="2279462"/>
            <a:ext cx="79375" cy="127000"/>
          </a:xfrm>
          <a:prstGeom prst="rect">
            <a:avLst/>
          </a:prstGeom>
        </p:spPr>
        <p:txBody>
          <a:bodyPr vert="horz" wrap="square" lIns="0" tIns="13970" rIns="0" bIns="0" rtlCol="0">
            <a:spAutoFit/>
          </a:bodyPr>
          <a:lstStyle/>
          <a:p>
            <a:pPr marL="12700">
              <a:lnSpc>
                <a:spcPct val="100000"/>
              </a:lnSpc>
              <a:spcBef>
                <a:spcPts val="110"/>
              </a:spcBef>
            </a:pPr>
            <a:r>
              <a:rPr sz="650" spc="-15" dirty="0">
                <a:solidFill>
                  <a:srgbClr val="231F20"/>
                </a:solidFill>
                <a:latin typeface="Arial"/>
                <a:cs typeface="Arial"/>
              </a:rPr>
              <a:t>P</a:t>
            </a:r>
            <a:endParaRPr sz="650">
              <a:latin typeface="Arial"/>
              <a:cs typeface="Arial"/>
            </a:endParaRPr>
          </a:p>
        </p:txBody>
      </p:sp>
      <p:sp>
        <p:nvSpPr>
          <p:cNvPr id="29" name="object 29"/>
          <p:cNvSpPr/>
          <p:nvPr/>
        </p:nvSpPr>
        <p:spPr>
          <a:xfrm>
            <a:off x="439814" y="2044189"/>
            <a:ext cx="1195705" cy="126364"/>
          </a:xfrm>
          <a:custGeom>
            <a:avLst/>
            <a:gdLst/>
            <a:ahLst/>
            <a:cxnLst/>
            <a:rect l="l" t="t" r="r" b="b"/>
            <a:pathLst>
              <a:path w="1195705" h="126364">
                <a:moveTo>
                  <a:pt x="0" y="125775"/>
                </a:moveTo>
                <a:lnTo>
                  <a:pt x="1195201" y="125775"/>
                </a:lnTo>
                <a:lnTo>
                  <a:pt x="1195201" y="0"/>
                </a:lnTo>
                <a:lnTo>
                  <a:pt x="0" y="0"/>
                </a:lnTo>
                <a:lnTo>
                  <a:pt x="0" y="125775"/>
                </a:lnTo>
                <a:close/>
              </a:path>
            </a:pathLst>
          </a:custGeom>
          <a:ln w="5270">
            <a:solidFill>
              <a:srgbClr val="231F20"/>
            </a:solidFill>
          </a:ln>
        </p:spPr>
        <p:txBody>
          <a:bodyPr wrap="square" lIns="0" tIns="0" rIns="0" bIns="0" rtlCol="0"/>
          <a:lstStyle/>
          <a:p>
            <a:endParaRPr/>
          </a:p>
        </p:txBody>
      </p:sp>
      <p:sp>
        <p:nvSpPr>
          <p:cNvPr id="30" name="object 30"/>
          <p:cNvSpPr txBox="1"/>
          <p:nvPr/>
        </p:nvSpPr>
        <p:spPr>
          <a:xfrm>
            <a:off x="647742" y="1800700"/>
            <a:ext cx="771525" cy="605790"/>
          </a:xfrm>
          <a:prstGeom prst="rect">
            <a:avLst/>
          </a:prstGeom>
        </p:spPr>
        <p:txBody>
          <a:bodyPr vert="horz" wrap="square" lIns="0" tIns="13970" rIns="0" bIns="0" rtlCol="0">
            <a:spAutoFit/>
          </a:bodyPr>
          <a:lstStyle/>
          <a:p>
            <a:pPr algn="ctr">
              <a:lnSpc>
                <a:spcPct val="100000"/>
              </a:lnSpc>
              <a:spcBef>
                <a:spcPts val="110"/>
              </a:spcBef>
              <a:tabLst>
                <a:tab pos="339090" algn="l"/>
                <a:tab pos="678815" algn="l"/>
              </a:tabLst>
            </a:pPr>
            <a:r>
              <a:rPr sz="650" spc="-20" dirty="0">
                <a:solidFill>
                  <a:srgbClr val="231F20"/>
                </a:solidFill>
                <a:latin typeface="Arial"/>
                <a:cs typeface="Arial"/>
              </a:rPr>
              <a:t>M	M	M</a:t>
            </a:r>
            <a:endParaRPr sz="650">
              <a:latin typeface="Arial"/>
              <a:cs typeface="Arial"/>
            </a:endParaRPr>
          </a:p>
          <a:p>
            <a:pPr marL="150495" marR="171450" algn="ctr">
              <a:lnSpc>
                <a:spcPct val="238300"/>
              </a:lnSpc>
              <a:spcBef>
                <a:spcPts val="55"/>
              </a:spcBef>
              <a:tabLst>
                <a:tab pos="489584" algn="l"/>
              </a:tabLst>
            </a:pPr>
            <a:r>
              <a:rPr sz="650" spc="-10" dirty="0">
                <a:solidFill>
                  <a:srgbClr val="231F20"/>
                </a:solidFill>
                <a:latin typeface="Arial"/>
                <a:cs typeface="Arial"/>
              </a:rPr>
              <a:t>Interconnect  </a:t>
            </a:r>
            <a:r>
              <a:rPr sz="650" spc="-15" dirty="0">
                <a:solidFill>
                  <a:srgbClr val="231F20"/>
                </a:solidFill>
                <a:latin typeface="Arial"/>
                <a:cs typeface="Arial"/>
              </a:rPr>
              <a:t>P	P</a:t>
            </a:r>
            <a:endParaRPr sz="650">
              <a:latin typeface="Arial"/>
              <a:cs typeface="Arial"/>
            </a:endParaRPr>
          </a:p>
        </p:txBody>
      </p:sp>
      <p:grpSp>
        <p:nvGrpSpPr>
          <p:cNvPr id="31" name="object 31"/>
          <p:cNvGrpSpPr/>
          <p:nvPr/>
        </p:nvGrpSpPr>
        <p:grpSpPr>
          <a:xfrm>
            <a:off x="1926553" y="1760602"/>
            <a:ext cx="462280" cy="744855"/>
            <a:chOff x="1926553" y="1760602"/>
            <a:chExt cx="462280" cy="744855"/>
          </a:xfrm>
        </p:grpSpPr>
        <p:sp>
          <p:nvSpPr>
            <p:cNvPr id="32" name="object 32"/>
            <p:cNvSpPr/>
            <p:nvPr/>
          </p:nvSpPr>
          <p:spPr>
            <a:xfrm>
              <a:off x="1929188" y="1875104"/>
              <a:ext cx="239395" cy="628015"/>
            </a:xfrm>
            <a:custGeom>
              <a:avLst/>
              <a:gdLst/>
              <a:ahLst/>
              <a:cxnLst/>
              <a:rect l="l" t="t" r="r" b="b"/>
              <a:pathLst>
                <a:path w="239394" h="628014">
                  <a:moveTo>
                    <a:pt x="0" y="627481"/>
                  </a:moveTo>
                  <a:lnTo>
                    <a:pt x="4685" y="525591"/>
                  </a:lnTo>
                  <a:lnTo>
                    <a:pt x="12224" y="436547"/>
                  </a:lnTo>
                  <a:lnTo>
                    <a:pt x="22328" y="359366"/>
                  </a:lnTo>
                  <a:lnTo>
                    <a:pt x="34710" y="293063"/>
                  </a:lnTo>
                  <a:lnTo>
                    <a:pt x="49082" y="236653"/>
                  </a:lnTo>
                  <a:lnTo>
                    <a:pt x="65158" y="189150"/>
                  </a:lnTo>
                  <a:lnTo>
                    <a:pt x="82650" y="149571"/>
                  </a:lnTo>
                  <a:lnTo>
                    <a:pt x="120729" y="90244"/>
                  </a:lnTo>
                  <a:lnTo>
                    <a:pt x="161021" y="50791"/>
                  </a:lnTo>
                  <a:lnTo>
                    <a:pt x="201225" y="23336"/>
                  </a:lnTo>
                  <a:lnTo>
                    <a:pt x="220575" y="11645"/>
                  </a:lnTo>
                  <a:lnTo>
                    <a:pt x="239041" y="0"/>
                  </a:lnTo>
                </a:path>
              </a:pathLst>
            </a:custGeom>
            <a:ln w="5270">
              <a:solidFill>
                <a:srgbClr val="231F20"/>
              </a:solidFill>
            </a:ln>
          </p:spPr>
          <p:txBody>
            <a:bodyPr wrap="square" lIns="0" tIns="0" rIns="0" bIns="0" rtlCol="0"/>
            <a:lstStyle/>
            <a:p>
              <a:endParaRPr/>
            </a:p>
          </p:txBody>
        </p:sp>
        <p:sp>
          <p:nvSpPr>
            <p:cNvPr id="33" name="object 33"/>
            <p:cNvSpPr/>
            <p:nvPr/>
          </p:nvSpPr>
          <p:spPr>
            <a:xfrm>
              <a:off x="2119762" y="1854368"/>
              <a:ext cx="80010" cy="67945"/>
            </a:xfrm>
            <a:custGeom>
              <a:avLst/>
              <a:gdLst/>
              <a:ahLst/>
              <a:cxnLst/>
              <a:rect l="l" t="t" r="r" b="b"/>
              <a:pathLst>
                <a:path w="80010" h="67944">
                  <a:moveTo>
                    <a:pt x="79567" y="0"/>
                  </a:moveTo>
                  <a:lnTo>
                    <a:pt x="0" y="14737"/>
                  </a:lnTo>
                  <a:lnTo>
                    <a:pt x="13814" y="24683"/>
                  </a:lnTo>
                  <a:lnTo>
                    <a:pt x="24312" y="36839"/>
                  </a:lnTo>
                  <a:lnTo>
                    <a:pt x="31495" y="51206"/>
                  </a:lnTo>
                  <a:lnTo>
                    <a:pt x="35361" y="67783"/>
                  </a:lnTo>
                  <a:lnTo>
                    <a:pt x="79567" y="0"/>
                  </a:lnTo>
                  <a:close/>
                </a:path>
              </a:pathLst>
            </a:custGeom>
            <a:solidFill>
              <a:srgbClr val="231F20"/>
            </a:solidFill>
          </p:spPr>
          <p:txBody>
            <a:bodyPr wrap="square" lIns="0" tIns="0" rIns="0" bIns="0" rtlCol="0"/>
            <a:lstStyle/>
            <a:p>
              <a:endParaRPr/>
            </a:p>
          </p:txBody>
        </p:sp>
        <p:sp>
          <p:nvSpPr>
            <p:cNvPr id="34" name="object 34"/>
            <p:cNvSpPr/>
            <p:nvPr/>
          </p:nvSpPr>
          <p:spPr>
            <a:xfrm>
              <a:off x="2216405" y="1763238"/>
              <a:ext cx="170180" cy="170180"/>
            </a:xfrm>
            <a:custGeom>
              <a:avLst/>
              <a:gdLst/>
              <a:ahLst/>
              <a:cxnLst/>
              <a:rect l="l" t="t" r="r" b="b"/>
              <a:pathLst>
                <a:path w="170180" h="170180">
                  <a:moveTo>
                    <a:pt x="169718" y="0"/>
                  </a:moveTo>
                  <a:lnTo>
                    <a:pt x="0" y="0"/>
                  </a:lnTo>
                  <a:lnTo>
                    <a:pt x="0" y="169718"/>
                  </a:lnTo>
                  <a:lnTo>
                    <a:pt x="169718" y="169718"/>
                  </a:lnTo>
                  <a:lnTo>
                    <a:pt x="169718" y="0"/>
                  </a:lnTo>
                  <a:close/>
                </a:path>
              </a:pathLst>
            </a:custGeom>
            <a:solidFill>
              <a:srgbClr val="BCBEC0"/>
            </a:solidFill>
          </p:spPr>
          <p:txBody>
            <a:bodyPr wrap="square" lIns="0" tIns="0" rIns="0" bIns="0" rtlCol="0"/>
            <a:lstStyle/>
            <a:p>
              <a:endParaRPr/>
            </a:p>
          </p:txBody>
        </p:sp>
        <p:sp>
          <p:nvSpPr>
            <p:cNvPr id="35" name="object 35"/>
            <p:cNvSpPr/>
            <p:nvPr/>
          </p:nvSpPr>
          <p:spPr>
            <a:xfrm>
              <a:off x="2216405" y="1763238"/>
              <a:ext cx="170180" cy="424815"/>
            </a:xfrm>
            <a:custGeom>
              <a:avLst/>
              <a:gdLst/>
              <a:ahLst/>
              <a:cxnLst/>
              <a:rect l="l" t="t" r="r" b="b"/>
              <a:pathLst>
                <a:path w="170180" h="424814">
                  <a:moveTo>
                    <a:pt x="0" y="169718"/>
                  </a:moveTo>
                  <a:lnTo>
                    <a:pt x="169718" y="169718"/>
                  </a:lnTo>
                  <a:lnTo>
                    <a:pt x="169718" y="0"/>
                  </a:lnTo>
                  <a:lnTo>
                    <a:pt x="0" y="0"/>
                  </a:lnTo>
                  <a:lnTo>
                    <a:pt x="0" y="169718"/>
                  </a:lnTo>
                  <a:close/>
                </a:path>
                <a:path w="170180" h="424814">
                  <a:moveTo>
                    <a:pt x="0" y="424296"/>
                  </a:moveTo>
                  <a:lnTo>
                    <a:pt x="169718" y="424296"/>
                  </a:lnTo>
                  <a:lnTo>
                    <a:pt x="169718" y="254577"/>
                  </a:lnTo>
                  <a:lnTo>
                    <a:pt x="0" y="254577"/>
                  </a:lnTo>
                  <a:lnTo>
                    <a:pt x="0" y="424296"/>
                  </a:lnTo>
                  <a:close/>
                </a:path>
              </a:pathLst>
            </a:custGeom>
            <a:ln w="5270">
              <a:solidFill>
                <a:srgbClr val="231F20"/>
              </a:solidFill>
            </a:ln>
          </p:spPr>
          <p:txBody>
            <a:bodyPr wrap="square" lIns="0" tIns="0" rIns="0" bIns="0" rtlCol="0"/>
            <a:lstStyle/>
            <a:p>
              <a:endParaRPr/>
            </a:p>
          </p:txBody>
        </p:sp>
        <p:sp>
          <p:nvSpPr>
            <p:cNvPr id="36" name="object 36"/>
            <p:cNvSpPr/>
            <p:nvPr/>
          </p:nvSpPr>
          <p:spPr>
            <a:xfrm>
              <a:off x="2301265" y="1932956"/>
              <a:ext cx="0" cy="85090"/>
            </a:xfrm>
            <a:custGeom>
              <a:avLst/>
              <a:gdLst/>
              <a:ahLst/>
              <a:cxnLst/>
              <a:rect l="l" t="t" r="r" b="b"/>
              <a:pathLst>
                <a:path h="85089">
                  <a:moveTo>
                    <a:pt x="0" y="0"/>
                  </a:moveTo>
                  <a:lnTo>
                    <a:pt x="0" y="84859"/>
                  </a:lnTo>
                </a:path>
              </a:pathLst>
            </a:custGeom>
            <a:ln w="5270">
              <a:solidFill>
                <a:srgbClr val="231F20"/>
              </a:solidFill>
            </a:ln>
          </p:spPr>
          <p:txBody>
            <a:bodyPr wrap="square" lIns="0" tIns="0" rIns="0" bIns="0" rtlCol="0"/>
            <a:lstStyle/>
            <a:p>
              <a:endParaRPr/>
            </a:p>
          </p:txBody>
        </p:sp>
        <p:sp>
          <p:nvSpPr>
            <p:cNvPr id="37" name="object 37"/>
            <p:cNvSpPr/>
            <p:nvPr/>
          </p:nvSpPr>
          <p:spPr>
            <a:xfrm>
              <a:off x="2301265" y="2187534"/>
              <a:ext cx="0" cy="106045"/>
            </a:xfrm>
            <a:custGeom>
              <a:avLst/>
              <a:gdLst/>
              <a:ahLst/>
              <a:cxnLst/>
              <a:rect l="l" t="t" r="r" b="b"/>
              <a:pathLst>
                <a:path h="106044">
                  <a:moveTo>
                    <a:pt x="0" y="0"/>
                  </a:moveTo>
                  <a:lnTo>
                    <a:pt x="0" y="105891"/>
                  </a:lnTo>
                </a:path>
              </a:pathLst>
            </a:custGeom>
            <a:ln w="21083">
              <a:solidFill>
                <a:srgbClr val="231F20"/>
              </a:solidFill>
            </a:ln>
          </p:spPr>
          <p:txBody>
            <a:bodyPr wrap="square" lIns="0" tIns="0" rIns="0" bIns="0" rtlCol="0"/>
            <a:lstStyle/>
            <a:p>
              <a:endParaRPr/>
            </a:p>
          </p:txBody>
        </p:sp>
      </p:grpSp>
      <p:grpSp>
        <p:nvGrpSpPr>
          <p:cNvPr id="38" name="object 38"/>
          <p:cNvGrpSpPr/>
          <p:nvPr/>
        </p:nvGrpSpPr>
        <p:grpSpPr>
          <a:xfrm>
            <a:off x="2553211" y="1760602"/>
            <a:ext cx="175260" cy="533400"/>
            <a:chOff x="2553211" y="1760602"/>
            <a:chExt cx="175260" cy="533400"/>
          </a:xfrm>
        </p:grpSpPr>
        <p:sp>
          <p:nvSpPr>
            <p:cNvPr id="39" name="object 39"/>
            <p:cNvSpPr/>
            <p:nvPr/>
          </p:nvSpPr>
          <p:spPr>
            <a:xfrm>
              <a:off x="2555847" y="1763238"/>
              <a:ext cx="170180" cy="170180"/>
            </a:xfrm>
            <a:custGeom>
              <a:avLst/>
              <a:gdLst/>
              <a:ahLst/>
              <a:cxnLst/>
              <a:rect l="l" t="t" r="r" b="b"/>
              <a:pathLst>
                <a:path w="170180" h="170180">
                  <a:moveTo>
                    <a:pt x="169714" y="0"/>
                  </a:moveTo>
                  <a:lnTo>
                    <a:pt x="0" y="0"/>
                  </a:lnTo>
                  <a:lnTo>
                    <a:pt x="0" y="169718"/>
                  </a:lnTo>
                  <a:lnTo>
                    <a:pt x="169714" y="169718"/>
                  </a:lnTo>
                  <a:lnTo>
                    <a:pt x="169714" y="0"/>
                  </a:lnTo>
                  <a:close/>
                </a:path>
              </a:pathLst>
            </a:custGeom>
            <a:solidFill>
              <a:srgbClr val="BCBEC0"/>
            </a:solidFill>
          </p:spPr>
          <p:txBody>
            <a:bodyPr wrap="square" lIns="0" tIns="0" rIns="0" bIns="0" rtlCol="0"/>
            <a:lstStyle/>
            <a:p>
              <a:endParaRPr/>
            </a:p>
          </p:txBody>
        </p:sp>
        <p:sp>
          <p:nvSpPr>
            <p:cNvPr id="40" name="object 40"/>
            <p:cNvSpPr/>
            <p:nvPr/>
          </p:nvSpPr>
          <p:spPr>
            <a:xfrm>
              <a:off x="2555847" y="1763238"/>
              <a:ext cx="170180" cy="424815"/>
            </a:xfrm>
            <a:custGeom>
              <a:avLst/>
              <a:gdLst/>
              <a:ahLst/>
              <a:cxnLst/>
              <a:rect l="l" t="t" r="r" b="b"/>
              <a:pathLst>
                <a:path w="170180" h="424814">
                  <a:moveTo>
                    <a:pt x="0" y="169718"/>
                  </a:moveTo>
                  <a:lnTo>
                    <a:pt x="169714" y="169718"/>
                  </a:lnTo>
                  <a:lnTo>
                    <a:pt x="169714" y="0"/>
                  </a:lnTo>
                  <a:lnTo>
                    <a:pt x="0" y="0"/>
                  </a:lnTo>
                  <a:lnTo>
                    <a:pt x="0" y="169718"/>
                  </a:lnTo>
                  <a:close/>
                </a:path>
                <a:path w="170180" h="424814">
                  <a:moveTo>
                    <a:pt x="0" y="424296"/>
                  </a:moveTo>
                  <a:lnTo>
                    <a:pt x="169714" y="424296"/>
                  </a:lnTo>
                  <a:lnTo>
                    <a:pt x="169714" y="254577"/>
                  </a:lnTo>
                  <a:lnTo>
                    <a:pt x="0" y="254577"/>
                  </a:lnTo>
                  <a:lnTo>
                    <a:pt x="0" y="424296"/>
                  </a:lnTo>
                  <a:close/>
                </a:path>
              </a:pathLst>
            </a:custGeom>
            <a:ln w="5270">
              <a:solidFill>
                <a:srgbClr val="231F20"/>
              </a:solidFill>
            </a:ln>
          </p:spPr>
          <p:txBody>
            <a:bodyPr wrap="square" lIns="0" tIns="0" rIns="0" bIns="0" rtlCol="0"/>
            <a:lstStyle/>
            <a:p>
              <a:endParaRPr/>
            </a:p>
          </p:txBody>
        </p:sp>
        <p:sp>
          <p:nvSpPr>
            <p:cNvPr id="41" name="object 41"/>
            <p:cNvSpPr/>
            <p:nvPr/>
          </p:nvSpPr>
          <p:spPr>
            <a:xfrm>
              <a:off x="2640702" y="1932956"/>
              <a:ext cx="0" cy="85090"/>
            </a:xfrm>
            <a:custGeom>
              <a:avLst/>
              <a:gdLst/>
              <a:ahLst/>
              <a:cxnLst/>
              <a:rect l="l" t="t" r="r" b="b"/>
              <a:pathLst>
                <a:path h="85089">
                  <a:moveTo>
                    <a:pt x="0" y="0"/>
                  </a:moveTo>
                  <a:lnTo>
                    <a:pt x="0" y="84859"/>
                  </a:lnTo>
                </a:path>
              </a:pathLst>
            </a:custGeom>
            <a:ln w="5270">
              <a:solidFill>
                <a:srgbClr val="231F20"/>
              </a:solidFill>
            </a:ln>
          </p:spPr>
          <p:txBody>
            <a:bodyPr wrap="square" lIns="0" tIns="0" rIns="0" bIns="0" rtlCol="0"/>
            <a:lstStyle/>
            <a:p>
              <a:endParaRPr/>
            </a:p>
          </p:txBody>
        </p:sp>
        <p:sp>
          <p:nvSpPr>
            <p:cNvPr id="42" name="object 42"/>
            <p:cNvSpPr/>
            <p:nvPr/>
          </p:nvSpPr>
          <p:spPr>
            <a:xfrm>
              <a:off x="2640702" y="2187534"/>
              <a:ext cx="0" cy="106045"/>
            </a:xfrm>
            <a:custGeom>
              <a:avLst/>
              <a:gdLst/>
              <a:ahLst/>
              <a:cxnLst/>
              <a:rect l="l" t="t" r="r" b="b"/>
              <a:pathLst>
                <a:path h="106044">
                  <a:moveTo>
                    <a:pt x="0" y="0"/>
                  </a:moveTo>
                  <a:lnTo>
                    <a:pt x="0" y="105891"/>
                  </a:lnTo>
                </a:path>
              </a:pathLst>
            </a:custGeom>
            <a:ln w="21083">
              <a:solidFill>
                <a:srgbClr val="231F20"/>
              </a:solidFill>
            </a:ln>
          </p:spPr>
          <p:txBody>
            <a:bodyPr wrap="square" lIns="0" tIns="0" rIns="0" bIns="0" rtlCol="0"/>
            <a:lstStyle/>
            <a:p>
              <a:endParaRPr/>
            </a:p>
          </p:txBody>
        </p:sp>
      </p:grpSp>
      <p:grpSp>
        <p:nvGrpSpPr>
          <p:cNvPr id="43" name="object 43"/>
          <p:cNvGrpSpPr/>
          <p:nvPr/>
        </p:nvGrpSpPr>
        <p:grpSpPr>
          <a:xfrm>
            <a:off x="2892648" y="1760602"/>
            <a:ext cx="175260" cy="533400"/>
            <a:chOff x="2892648" y="1760602"/>
            <a:chExt cx="175260" cy="533400"/>
          </a:xfrm>
        </p:grpSpPr>
        <p:sp>
          <p:nvSpPr>
            <p:cNvPr id="44" name="object 44"/>
            <p:cNvSpPr/>
            <p:nvPr/>
          </p:nvSpPr>
          <p:spPr>
            <a:xfrm>
              <a:off x="2895284" y="1763238"/>
              <a:ext cx="170180" cy="170180"/>
            </a:xfrm>
            <a:custGeom>
              <a:avLst/>
              <a:gdLst/>
              <a:ahLst/>
              <a:cxnLst/>
              <a:rect l="l" t="t" r="r" b="b"/>
              <a:pathLst>
                <a:path w="170180" h="170180">
                  <a:moveTo>
                    <a:pt x="169718" y="0"/>
                  </a:moveTo>
                  <a:lnTo>
                    <a:pt x="0" y="0"/>
                  </a:lnTo>
                  <a:lnTo>
                    <a:pt x="0" y="169718"/>
                  </a:lnTo>
                  <a:lnTo>
                    <a:pt x="169718" y="169718"/>
                  </a:lnTo>
                  <a:lnTo>
                    <a:pt x="169718" y="0"/>
                  </a:lnTo>
                  <a:close/>
                </a:path>
              </a:pathLst>
            </a:custGeom>
            <a:solidFill>
              <a:srgbClr val="BCBEC0"/>
            </a:solidFill>
          </p:spPr>
          <p:txBody>
            <a:bodyPr wrap="square" lIns="0" tIns="0" rIns="0" bIns="0" rtlCol="0"/>
            <a:lstStyle/>
            <a:p>
              <a:endParaRPr/>
            </a:p>
          </p:txBody>
        </p:sp>
        <p:sp>
          <p:nvSpPr>
            <p:cNvPr id="45" name="object 45"/>
            <p:cNvSpPr/>
            <p:nvPr/>
          </p:nvSpPr>
          <p:spPr>
            <a:xfrm>
              <a:off x="2895284" y="1763238"/>
              <a:ext cx="170180" cy="424815"/>
            </a:xfrm>
            <a:custGeom>
              <a:avLst/>
              <a:gdLst/>
              <a:ahLst/>
              <a:cxnLst/>
              <a:rect l="l" t="t" r="r" b="b"/>
              <a:pathLst>
                <a:path w="170180" h="424814">
                  <a:moveTo>
                    <a:pt x="0" y="169718"/>
                  </a:moveTo>
                  <a:lnTo>
                    <a:pt x="169718" y="169718"/>
                  </a:lnTo>
                  <a:lnTo>
                    <a:pt x="169718" y="0"/>
                  </a:lnTo>
                  <a:lnTo>
                    <a:pt x="0" y="0"/>
                  </a:lnTo>
                  <a:lnTo>
                    <a:pt x="0" y="169718"/>
                  </a:lnTo>
                  <a:close/>
                </a:path>
                <a:path w="170180" h="424814">
                  <a:moveTo>
                    <a:pt x="0" y="424296"/>
                  </a:moveTo>
                  <a:lnTo>
                    <a:pt x="169718" y="424296"/>
                  </a:lnTo>
                  <a:lnTo>
                    <a:pt x="169718" y="254577"/>
                  </a:lnTo>
                  <a:lnTo>
                    <a:pt x="0" y="254577"/>
                  </a:lnTo>
                  <a:lnTo>
                    <a:pt x="0" y="424296"/>
                  </a:lnTo>
                  <a:close/>
                </a:path>
              </a:pathLst>
            </a:custGeom>
            <a:ln w="5270">
              <a:solidFill>
                <a:srgbClr val="231F20"/>
              </a:solidFill>
            </a:ln>
          </p:spPr>
          <p:txBody>
            <a:bodyPr wrap="square" lIns="0" tIns="0" rIns="0" bIns="0" rtlCol="0"/>
            <a:lstStyle/>
            <a:p>
              <a:endParaRPr/>
            </a:p>
          </p:txBody>
        </p:sp>
        <p:sp>
          <p:nvSpPr>
            <p:cNvPr id="46" name="object 46"/>
            <p:cNvSpPr/>
            <p:nvPr/>
          </p:nvSpPr>
          <p:spPr>
            <a:xfrm>
              <a:off x="2980139" y="1932956"/>
              <a:ext cx="0" cy="85090"/>
            </a:xfrm>
            <a:custGeom>
              <a:avLst/>
              <a:gdLst/>
              <a:ahLst/>
              <a:cxnLst/>
              <a:rect l="l" t="t" r="r" b="b"/>
              <a:pathLst>
                <a:path h="85089">
                  <a:moveTo>
                    <a:pt x="0" y="0"/>
                  </a:moveTo>
                  <a:lnTo>
                    <a:pt x="0" y="84859"/>
                  </a:lnTo>
                </a:path>
              </a:pathLst>
            </a:custGeom>
            <a:ln w="5270">
              <a:solidFill>
                <a:srgbClr val="231F20"/>
              </a:solidFill>
            </a:ln>
          </p:spPr>
          <p:txBody>
            <a:bodyPr wrap="square" lIns="0" tIns="0" rIns="0" bIns="0" rtlCol="0"/>
            <a:lstStyle/>
            <a:p>
              <a:endParaRPr/>
            </a:p>
          </p:txBody>
        </p:sp>
        <p:sp>
          <p:nvSpPr>
            <p:cNvPr id="47" name="object 47"/>
            <p:cNvSpPr/>
            <p:nvPr/>
          </p:nvSpPr>
          <p:spPr>
            <a:xfrm>
              <a:off x="2980139" y="2187534"/>
              <a:ext cx="0" cy="106045"/>
            </a:xfrm>
            <a:custGeom>
              <a:avLst/>
              <a:gdLst/>
              <a:ahLst/>
              <a:cxnLst/>
              <a:rect l="l" t="t" r="r" b="b"/>
              <a:pathLst>
                <a:path h="106044">
                  <a:moveTo>
                    <a:pt x="0" y="0"/>
                  </a:moveTo>
                  <a:lnTo>
                    <a:pt x="0" y="105891"/>
                  </a:lnTo>
                </a:path>
              </a:pathLst>
            </a:custGeom>
            <a:ln w="21083">
              <a:solidFill>
                <a:srgbClr val="231F20"/>
              </a:solidFill>
            </a:ln>
          </p:spPr>
          <p:txBody>
            <a:bodyPr wrap="square" lIns="0" tIns="0" rIns="0" bIns="0" rtlCol="0"/>
            <a:lstStyle/>
            <a:p>
              <a:endParaRPr/>
            </a:p>
          </p:txBody>
        </p:sp>
      </p:grpSp>
      <p:grpSp>
        <p:nvGrpSpPr>
          <p:cNvPr id="48" name="object 48"/>
          <p:cNvGrpSpPr/>
          <p:nvPr/>
        </p:nvGrpSpPr>
        <p:grpSpPr>
          <a:xfrm>
            <a:off x="3232089" y="1760602"/>
            <a:ext cx="175260" cy="533400"/>
            <a:chOff x="3232089" y="1760602"/>
            <a:chExt cx="175260" cy="533400"/>
          </a:xfrm>
        </p:grpSpPr>
        <p:sp>
          <p:nvSpPr>
            <p:cNvPr id="49" name="object 49"/>
            <p:cNvSpPr/>
            <p:nvPr/>
          </p:nvSpPr>
          <p:spPr>
            <a:xfrm>
              <a:off x="3234725" y="1763238"/>
              <a:ext cx="170180" cy="170180"/>
            </a:xfrm>
            <a:custGeom>
              <a:avLst/>
              <a:gdLst/>
              <a:ahLst/>
              <a:cxnLst/>
              <a:rect l="l" t="t" r="r" b="b"/>
              <a:pathLst>
                <a:path w="170179" h="170180">
                  <a:moveTo>
                    <a:pt x="169718" y="0"/>
                  </a:moveTo>
                  <a:lnTo>
                    <a:pt x="0" y="0"/>
                  </a:lnTo>
                  <a:lnTo>
                    <a:pt x="0" y="169718"/>
                  </a:lnTo>
                  <a:lnTo>
                    <a:pt x="169718" y="169718"/>
                  </a:lnTo>
                  <a:lnTo>
                    <a:pt x="169718" y="0"/>
                  </a:lnTo>
                  <a:close/>
                </a:path>
              </a:pathLst>
            </a:custGeom>
            <a:solidFill>
              <a:srgbClr val="BCBEC0"/>
            </a:solidFill>
          </p:spPr>
          <p:txBody>
            <a:bodyPr wrap="square" lIns="0" tIns="0" rIns="0" bIns="0" rtlCol="0"/>
            <a:lstStyle/>
            <a:p>
              <a:endParaRPr/>
            </a:p>
          </p:txBody>
        </p:sp>
        <p:sp>
          <p:nvSpPr>
            <p:cNvPr id="50" name="object 50"/>
            <p:cNvSpPr/>
            <p:nvPr/>
          </p:nvSpPr>
          <p:spPr>
            <a:xfrm>
              <a:off x="3234725" y="1763238"/>
              <a:ext cx="170180" cy="424815"/>
            </a:xfrm>
            <a:custGeom>
              <a:avLst/>
              <a:gdLst/>
              <a:ahLst/>
              <a:cxnLst/>
              <a:rect l="l" t="t" r="r" b="b"/>
              <a:pathLst>
                <a:path w="170179" h="424814">
                  <a:moveTo>
                    <a:pt x="0" y="169718"/>
                  </a:moveTo>
                  <a:lnTo>
                    <a:pt x="169718" y="169718"/>
                  </a:lnTo>
                  <a:lnTo>
                    <a:pt x="169718" y="0"/>
                  </a:lnTo>
                  <a:lnTo>
                    <a:pt x="0" y="0"/>
                  </a:lnTo>
                  <a:lnTo>
                    <a:pt x="0" y="169718"/>
                  </a:lnTo>
                  <a:close/>
                </a:path>
                <a:path w="170179" h="424814">
                  <a:moveTo>
                    <a:pt x="0" y="424296"/>
                  </a:moveTo>
                  <a:lnTo>
                    <a:pt x="169718" y="424296"/>
                  </a:lnTo>
                  <a:lnTo>
                    <a:pt x="169718" y="254577"/>
                  </a:lnTo>
                  <a:lnTo>
                    <a:pt x="0" y="254577"/>
                  </a:lnTo>
                  <a:lnTo>
                    <a:pt x="0" y="424296"/>
                  </a:lnTo>
                  <a:close/>
                </a:path>
              </a:pathLst>
            </a:custGeom>
            <a:ln w="5270">
              <a:solidFill>
                <a:srgbClr val="231F20"/>
              </a:solidFill>
            </a:ln>
          </p:spPr>
          <p:txBody>
            <a:bodyPr wrap="square" lIns="0" tIns="0" rIns="0" bIns="0" rtlCol="0"/>
            <a:lstStyle/>
            <a:p>
              <a:endParaRPr/>
            </a:p>
          </p:txBody>
        </p:sp>
        <p:sp>
          <p:nvSpPr>
            <p:cNvPr id="51" name="object 51"/>
            <p:cNvSpPr/>
            <p:nvPr/>
          </p:nvSpPr>
          <p:spPr>
            <a:xfrm>
              <a:off x="3319580" y="1932956"/>
              <a:ext cx="0" cy="85090"/>
            </a:xfrm>
            <a:custGeom>
              <a:avLst/>
              <a:gdLst/>
              <a:ahLst/>
              <a:cxnLst/>
              <a:rect l="l" t="t" r="r" b="b"/>
              <a:pathLst>
                <a:path h="85089">
                  <a:moveTo>
                    <a:pt x="0" y="0"/>
                  </a:moveTo>
                  <a:lnTo>
                    <a:pt x="0" y="84859"/>
                  </a:lnTo>
                </a:path>
              </a:pathLst>
            </a:custGeom>
            <a:ln w="5270">
              <a:solidFill>
                <a:srgbClr val="231F20"/>
              </a:solidFill>
            </a:ln>
          </p:spPr>
          <p:txBody>
            <a:bodyPr wrap="square" lIns="0" tIns="0" rIns="0" bIns="0" rtlCol="0"/>
            <a:lstStyle/>
            <a:p>
              <a:endParaRPr/>
            </a:p>
          </p:txBody>
        </p:sp>
        <p:sp>
          <p:nvSpPr>
            <p:cNvPr id="52" name="object 52"/>
            <p:cNvSpPr/>
            <p:nvPr/>
          </p:nvSpPr>
          <p:spPr>
            <a:xfrm>
              <a:off x="3319580" y="2187534"/>
              <a:ext cx="0" cy="106045"/>
            </a:xfrm>
            <a:custGeom>
              <a:avLst/>
              <a:gdLst/>
              <a:ahLst/>
              <a:cxnLst/>
              <a:rect l="l" t="t" r="r" b="b"/>
              <a:pathLst>
                <a:path h="106044">
                  <a:moveTo>
                    <a:pt x="0" y="0"/>
                  </a:moveTo>
                  <a:lnTo>
                    <a:pt x="0" y="105891"/>
                  </a:lnTo>
                </a:path>
              </a:pathLst>
            </a:custGeom>
            <a:ln w="21083">
              <a:solidFill>
                <a:srgbClr val="231F20"/>
              </a:solidFill>
            </a:ln>
          </p:spPr>
          <p:txBody>
            <a:bodyPr wrap="square" lIns="0" tIns="0" rIns="0" bIns="0" rtlCol="0"/>
            <a:lstStyle/>
            <a:p>
              <a:endParaRPr/>
            </a:p>
          </p:txBody>
        </p:sp>
      </p:grpSp>
      <p:sp>
        <p:nvSpPr>
          <p:cNvPr id="53" name="object 53"/>
          <p:cNvSpPr txBox="1"/>
          <p:nvPr/>
        </p:nvSpPr>
        <p:spPr>
          <a:xfrm>
            <a:off x="1789934" y="2533229"/>
            <a:ext cx="3302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Memory</a:t>
            </a:r>
            <a:endParaRPr sz="650">
              <a:latin typeface="Arial"/>
              <a:cs typeface="Arial"/>
            </a:endParaRPr>
          </a:p>
        </p:txBody>
      </p:sp>
      <p:sp>
        <p:nvSpPr>
          <p:cNvPr id="56" name="object 5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29</a:t>
            </a:r>
            <a:r>
              <a:rPr spc="-40" dirty="0"/>
              <a:t> </a:t>
            </a:r>
            <a:r>
              <a:rPr spc="-5" dirty="0"/>
              <a:t>/</a:t>
            </a:r>
            <a:r>
              <a:rPr spc="-35" dirty="0"/>
              <a:t> </a:t>
            </a:r>
            <a:r>
              <a:rPr spc="-5" dirty="0"/>
              <a:t>56</a:t>
            </a:r>
          </a:p>
        </p:txBody>
      </p:sp>
      <p:sp>
        <p:nvSpPr>
          <p:cNvPr id="54" name="object 54"/>
          <p:cNvSpPr txBox="1"/>
          <p:nvPr/>
        </p:nvSpPr>
        <p:spPr>
          <a:xfrm>
            <a:off x="2256633" y="1781252"/>
            <a:ext cx="1116965" cy="381635"/>
          </a:xfrm>
          <a:prstGeom prst="rect">
            <a:avLst/>
          </a:prstGeom>
        </p:spPr>
        <p:txBody>
          <a:bodyPr vert="horz" wrap="square" lIns="0" tIns="13970" rIns="0" bIns="0" rtlCol="0">
            <a:spAutoFit/>
          </a:bodyPr>
          <a:lstStyle/>
          <a:p>
            <a:pPr marL="12700">
              <a:lnSpc>
                <a:spcPct val="100000"/>
              </a:lnSpc>
              <a:spcBef>
                <a:spcPts val="110"/>
              </a:spcBef>
              <a:tabLst>
                <a:tab pos="351790" algn="l"/>
                <a:tab pos="691515" algn="l"/>
                <a:tab pos="1033780" algn="l"/>
              </a:tabLst>
            </a:pPr>
            <a:r>
              <a:rPr sz="650" spc="10" dirty="0">
                <a:solidFill>
                  <a:srgbClr val="231F20"/>
                </a:solidFill>
                <a:latin typeface="Arial"/>
                <a:cs typeface="Arial"/>
              </a:rPr>
              <a:t>M	M	M	M</a:t>
            </a:r>
            <a:endParaRPr sz="650">
              <a:latin typeface="Arial"/>
              <a:cs typeface="Arial"/>
            </a:endParaRPr>
          </a:p>
          <a:p>
            <a:pPr>
              <a:lnSpc>
                <a:spcPct val="100000"/>
              </a:lnSpc>
            </a:pPr>
            <a:endParaRPr sz="600">
              <a:latin typeface="Arial"/>
              <a:cs typeface="Arial"/>
            </a:endParaRPr>
          </a:p>
          <a:p>
            <a:pPr marL="17780">
              <a:lnSpc>
                <a:spcPct val="100000"/>
              </a:lnSpc>
              <a:spcBef>
                <a:spcPts val="535"/>
              </a:spcBef>
              <a:tabLst>
                <a:tab pos="357505" algn="l"/>
                <a:tab pos="696595" algn="l"/>
                <a:tab pos="1036319" algn="l"/>
              </a:tabLst>
            </a:pPr>
            <a:r>
              <a:rPr sz="650" spc="5" dirty="0">
                <a:solidFill>
                  <a:srgbClr val="231F20"/>
                </a:solidFill>
                <a:latin typeface="Arial"/>
                <a:cs typeface="Arial"/>
              </a:rPr>
              <a:t>P	P	P	P</a:t>
            </a:r>
            <a:endParaRPr sz="650">
              <a:latin typeface="Arial"/>
              <a:cs typeface="Arial"/>
            </a:endParaRPr>
          </a:p>
        </p:txBody>
      </p:sp>
      <p:sp>
        <p:nvSpPr>
          <p:cNvPr id="55" name="object 55"/>
          <p:cNvSpPr txBox="1"/>
          <p:nvPr/>
        </p:nvSpPr>
        <p:spPr>
          <a:xfrm>
            <a:off x="2227989" y="2293425"/>
            <a:ext cx="1165860" cy="126364"/>
          </a:xfrm>
          <a:prstGeom prst="rect">
            <a:avLst/>
          </a:prstGeom>
          <a:ln w="5270">
            <a:solidFill>
              <a:srgbClr val="231F20"/>
            </a:solidFill>
          </a:ln>
        </p:spPr>
        <p:txBody>
          <a:bodyPr vert="horz" wrap="square" lIns="0" tIns="13335" rIns="0" bIns="0" rtlCol="0">
            <a:spAutoFit/>
          </a:bodyPr>
          <a:lstStyle/>
          <a:p>
            <a:pPr marL="358140">
              <a:lnSpc>
                <a:spcPct val="100000"/>
              </a:lnSpc>
              <a:spcBef>
                <a:spcPts val="105"/>
              </a:spcBef>
            </a:pPr>
            <a:r>
              <a:rPr sz="650" spc="-10" dirty="0">
                <a:solidFill>
                  <a:srgbClr val="231F20"/>
                </a:solidFill>
                <a:latin typeface="Arial"/>
                <a:cs typeface="Arial"/>
              </a:rPr>
              <a:t>Interconnect</a:t>
            </a:r>
            <a:endParaRPr sz="65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30</a:t>
            </a:r>
            <a:r>
              <a:rPr spc="-40" dirty="0"/>
              <a:t> </a:t>
            </a:r>
            <a:r>
              <a:rPr spc="-5" dirty="0"/>
              <a:t>/</a:t>
            </a:r>
            <a:r>
              <a:rPr spc="-35" dirty="0"/>
              <a:t> </a:t>
            </a:r>
            <a:r>
              <a:rPr spc="-5" dirty="0"/>
              <a:t>56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116580" algn="l"/>
              </a:tabLst>
            </a:pPr>
            <a:r>
              <a:rPr sz="600" spc="-5" dirty="0">
                <a:solidFill>
                  <a:srgbClr val="3333B2"/>
                </a:solidFill>
                <a:latin typeface="Arial"/>
                <a:cs typeface="Arial"/>
                <a:hlinkClick r:id="rId3"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High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performance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computing</a:t>
            </a:r>
            <a:endParaRPr sz="600">
              <a:latin typeface="Arial"/>
              <a:cs typeface="Arial"/>
            </a:endParaRPr>
          </a:p>
        </p:txBody>
      </p:sp>
      <p:sp>
        <p:nvSpPr>
          <p:cNvPr id="3" name="object 3"/>
          <p:cNvSpPr txBox="1">
            <a:spLocks noGrp="1"/>
          </p:cNvSpPr>
          <p:nvPr>
            <p:ph type="title"/>
          </p:nvPr>
        </p:nvSpPr>
        <p:spPr>
          <a:xfrm>
            <a:off x="95300" y="188846"/>
            <a:ext cx="2936240" cy="244475"/>
          </a:xfrm>
          <a:prstGeom prst="rect">
            <a:avLst/>
          </a:prstGeom>
        </p:spPr>
        <p:txBody>
          <a:bodyPr vert="horz" wrap="square" lIns="0" tIns="17145" rIns="0" bIns="0" rtlCol="0">
            <a:spAutoFit/>
          </a:bodyPr>
          <a:lstStyle/>
          <a:p>
            <a:pPr marL="12700">
              <a:lnSpc>
                <a:spcPct val="100000"/>
              </a:lnSpc>
              <a:spcBef>
                <a:spcPts val="135"/>
              </a:spcBef>
            </a:pPr>
            <a:r>
              <a:rPr spc="10" dirty="0"/>
              <a:t>Distributed</a:t>
            </a:r>
            <a:r>
              <a:rPr dirty="0"/>
              <a:t> </a:t>
            </a:r>
            <a:r>
              <a:rPr spc="15" dirty="0"/>
              <a:t>shared</a:t>
            </a:r>
            <a:r>
              <a:rPr spc="5" dirty="0"/>
              <a:t> </a:t>
            </a:r>
            <a:r>
              <a:rPr spc="25" dirty="0"/>
              <a:t>memory</a:t>
            </a:r>
            <a:r>
              <a:rPr spc="5" dirty="0"/>
              <a:t> </a:t>
            </a:r>
            <a:r>
              <a:rPr spc="15" dirty="0"/>
              <a:t>systems</a:t>
            </a:r>
          </a:p>
        </p:txBody>
      </p:sp>
      <p:sp>
        <p:nvSpPr>
          <p:cNvPr id="4" name="object 4"/>
          <p:cNvSpPr txBox="1"/>
          <p:nvPr/>
        </p:nvSpPr>
        <p:spPr>
          <a:xfrm>
            <a:off x="344131" y="599602"/>
            <a:ext cx="3916679" cy="2431415"/>
          </a:xfrm>
          <a:prstGeom prst="rect">
            <a:avLst/>
          </a:prstGeom>
        </p:spPr>
        <p:txBody>
          <a:bodyPr vert="horz" wrap="square" lIns="0" tIns="12065" rIns="0" bIns="0" rtlCol="0">
            <a:spAutoFit/>
          </a:bodyPr>
          <a:lstStyle/>
          <a:p>
            <a:pPr marL="15240">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15240" marR="121920">
              <a:lnSpc>
                <a:spcPts val="1200"/>
              </a:lnSpc>
              <a:spcBef>
                <a:spcPts val="10"/>
              </a:spcBef>
            </a:pPr>
            <a:r>
              <a:rPr sz="1000" spc="-5" dirty="0">
                <a:latin typeface="Arial"/>
                <a:cs typeface="Arial"/>
              </a:rPr>
              <a:t>Multiprocessors are</a:t>
            </a:r>
            <a:r>
              <a:rPr sz="1000" dirty="0">
                <a:latin typeface="Arial"/>
                <a:cs typeface="Arial"/>
              </a:rPr>
              <a:t> </a:t>
            </a:r>
            <a:r>
              <a:rPr sz="1000" spc="-5" dirty="0">
                <a:latin typeface="Arial"/>
                <a:cs typeface="Arial"/>
              </a:rPr>
              <a:t>relatively easy</a:t>
            </a:r>
            <a:r>
              <a:rPr sz="1000" dirty="0">
                <a:latin typeface="Arial"/>
                <a:cs typeface="Arial"/>
              </a:rPr>
              <a:t> </a:t>
            </a:r>
            <a:r>
              <a:rPr sz="1000" spc="-5" dirty="0">
                <a:latin typeface="Arial"/>
                <a:cs typeface="Arial"/>
              </a:rPr>
              <a:t>to program</a:t>
            </a:r>
            <a:r>
              <a:rPr sz="1000" dirty="0">
                <a:latin typeface="Arial"/>
                <a:cs typeface="Arial"/>
              </a:rPr>
              <a:t> </a:t>
            </a:r>
            <a:r>
              <a:rPr sz="1000" spc="-5" dirty="0">
                <a:latin typeface="Arial"/>
                <a:cs typeface="Arial"/>
              </a:rPr>
              <a:t>in comparison</a:t>
            </a:r>
            <a:r>
              <a:rPr sz="1000" dirty="0">
                <a:latin typeface="Arial"/>
                <a:cs typeface="Arial"/>
              </a:rPr>
              <a:t> </a:t>
            </a:r>
            <a:r>
              <a:rPr sz="1000" spc="-5" dirty="0">
                <a:latin typeface="Arial"/>
                <a:cs typeface="Arial"/>
              </a:rPr>
              <a:t>to </a:t>
            </a:r>
            <a:r>
              <a:rPr sz="1000" dirty="0">
                <a:latin typeface="Arial"/>
                <a:cs typeface="Arial"/>
              </a:rPr>
              <a:t> </a:t>
            </a:r>
            <a:r>
              <a:rPr sz="1000" spc="-5" dirty="0">
                <a:latin typeface="Arial"/>
                <a:cs typeface="Arial"/>
              </a:rPr>
              <a:t>multicomputers, </a:t>
            </a:r>
            <a:r>
              <a:rPr sz="1000" spc="-10" dirty="0">
                <a:latin typeface="Arial"/>
                <a:cs typeface="Arial"/>
              </a:rPr>
              <a:t>yet</a:t>
            </a:r>
            <a:r>
              <a:rPr sz="1000" spc="-5" dirty="0">
                <a:latin typeface="Arial"/>
                <a:cs typeface="Arial"/>
              </a:rPr>
              <a:t> </a:t>
            </a:r>
            <a:r>
              <a:rPr sz="1000" spc="-15" dirty="0">
                <a:latin typeface="Arial"/>
                <a:cs typeface="Arial"/>
              </a:rPr>
              <a:t>have</a:t>
            </a:r>
            <a:r>
              <a:rPr sz="1000" spc="-5" dirty="0">
                <a:latin typeface="Arial"/>
                <a:cs typeface="Arial"/>
              </a:rPr>
              <a:t> problems when increasing the number of </a:t>
            </a:r>
            <a:r>
              <a:rPr sz="1000" dirty="0">
                <a:latin typeface="Arial"/>
                <a:cs typeface="Arial"/>
              </a:rPr>
              <a:t> </a:t>
            </a:r>
            <a:r>
              <a:rPr sz="1000" spc="-5" dirty="0">
                <a:latin typeface="Arial"/>
                <a:cs typeface="Arial"/>
              </a:rPr>
              <a:t>processors</a:t>
            </a:r>
            <a:r>
              <a:rPr sz="1000" spc="5" dirty="0">
                <a:latin typeface="Arial"/>
                <a:cs typeface="Arial"/>
              </a:rPr>
              <a:t> </a:t>
            </a:r>
            <a:r>
              <a:rPr sz="1000" spc="-5" dirty="0">
                <a:latin typeface="Arial"/>
                <a:cs typeface="Arial"/>
              </a:rPr>
              <a:t>(or</a:t>
            </a:r>
            <a:r>
              <a:rPr sz="1000" spc="5" dirty="0">
                <a:latin typeface="Arial"/>
                <a:cs typeface="Arial"/>
              </a:rPr>
              <a:t> </a:t>
            </a:r>
            <a:r>
              <a:rPr sz="1000" spc="-5" dirty="0">
                <a:latin typeface="Arial"/>
                <a:cs typeface="Arial"/>
              </a:rPr>
              <a:t>cores).</a:t>
            </a:r>
            <a:r>
              <a:rPr sz="1000" spc="75" dirty="0">
                <a:latin typeface="Arial"/>
                <a:cs typeface="Arial"/>
              </a:rPr>
              <a:t> </a:t>
            </a:r>
            <a:r>
              <a:rPr sz="1000" spc="-5" dirty="0">
                <a:solidFill>
                  <a:srgbClr val="0000FA"/>
                </a:solidFill>
                <a:latin typeface="Arial"/>
                <a:cs typeface="Arial"/>
              </a:rPr>
              <a:t>Solution</a:t>
            </a:r>
            <a:r>
              <a:rPr sz="1000" spc="-5" dirty="0">
                <a:latin typeface="Arial"/>
                <a:cs typeface="Arial"/>
              </a:rPr>
              <a:t>:</a:t>
            </a:r>
            <a:r>
              <a:rPr sz="1000" spc="75" dirty="0">
                <a:latin typeface="Arial"/>
                <a:cs typeface="Arial"/>
              </a:rPr>
              <a:t> </a:t>
            </a:r>
            <a:r>
              <a:rPr sz="1000" spc="-35" dirty="0">
                <a:latin typeface="Arial"/>
                <a:cs typeface="Arial"/>
              </a:rPr>
              <a:t>Try</a:t>
            </a:r>
            <a:r>
              <a:rPr sz="1000" spc="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implement</a:t>
            </a:r>
            <a:r>
              <a:rPr sz="1000" spc="5" dirty="0">
                <a:latin typeface="Arial"/>
                <a:cs typeface="Arial"/>
              </a:rPr>
              <a:t> </a:t>
            </a:r>
            <a:r>
              <a:rPr sz="1000" spc="-5" dirty="0">
                <a:latin typeface="Arial"/>
                <a:cs typeface="Arial"/>
              </a:rPr>
              <a:t>a</a:t>
            </a:r>
            <a:r>
              <a:rPr sz="1000" spc="10" dirty="0">
                <a:latin typeface="Arial"/>
                <a:cs typeface="Arial"/>
              </a:rPr>
              <a:t> </a:t>
            </a:r>
            <a:r>
              <a:rPr sz="1000" spc="-5" dirty="0">
                <a:solidFill>
                  <a:srgbClr val="FA0000"/>
                </a:solidFill>
                <a:latin typeface="Arial"/>
                <a:cs typeface="Arial"/>
              </a:rPr>
              <a:t>shared-memory </a:t>
            </a:r>
            <a:r>
              <a:rPr sz="1000" spc="-265" dirty="0">
                <a:solidFill>
                  <a:srgbClr val="FA0000"/>
                </a:solidFill>
                <a:latin typeface="Arial"/>
                <a:cs typeface="Arial"/>
              </a:rPr>
              <a:t> </a:t>
            </a:r>
            <a:r>
              <a:rPr sz="1000" spc="-5" dirty="0">
                <a:solidFill>
                  <a:srgbClr val="FA0000"/>
                </a:solidFill>
                <a:latin typeface="Arial"/>
                <a:cs typeface="Arial"/>
              </a:rPr>
              <a:t>model</a:t>
            </a:r>
            <a:r>
              <a:rPr sz="1000" spc="-10" dirty="0">
                <a:solidFill>
                  <a:srgbClr val="FA0000"/>
                </a:solidFill>
                <a:latin typeface="Arial"/>
                <a:cs typeface="Arial"/>
              </a:rPr>
              <a:t> </a:t>
            </a:r>
            <a:r>
              <a:rPr sz="1000" spc="-5" dirty="0">
                <a:latin typeface="Arial"/>
                <a:cs typeface="Arial"/>
              </a:rPr>
              <a:t>on top of a </a:t>
            </a:r>
            <a:r>
              <a:rPr sz="1000" spc="-10" dirty="0">
                <a:latin typeface="Arial"/>
                <a:cs typeface="Arial"/>
              </a:rPr>
              <a:t>multicomputer.</a:t>
            </a:r>
            <a:endParaRPr sz="1000" dirty="0">
              <a:latin typeface="Arial"/>
              <a:cs typeface="Arial"/>
            </a:endParaRPr>
          </a:p>
          <a:p>
            <a:pPr marL="15240">
              <a:lnSpc>
                <a:spcPct val="100000"/>
              </a:lnSpc>
              <a:spcBef>
                <a:spcPts val="640"/>
              </a:spcBef>
            </a:pPr>
            <a:r>
              <a:rPr sz="1200" spc="-5" dirty="0">
                <a:solidFill>
                  <a:srgbClr val="007C00"/>
                </a:solidFill>
                <a:latin typeface="Arial"/>
                <a:cs typeface="Arial"/>
              </a:rPr>
              <a:t>Example through</a:t>
            </a:r>
            <a:r>
              <a:rPr sz="1200" dirty="0">
                <a:solidFill>
                  <a:srgbClr val="007C00"/>
                </a:solidFill>
                <a:latin typeface="Arial"/>
                <a:cs typeface="Arial"/>
              </a:rPr>
              <a:t> virtual-memory</a:t>
            </a:r>
            <a:r>
              <a:rPr sz="1200" spc="-5" dirty="0">
                <a:solidFill>
                  <a:srgbClr val="007C00"/>
                </a:solidFill>
                <a:latin typeface="Arial"/>
                <a:cs typeface="Arial"/>
              </a:rPr>
              <a:t> techniques</a:t>
            </a:r>
            <a:endParaRPr sz="1200" dirty="0">
              <a:latin typeface="Arial"/>
              <a:cs typeface="Arial"/>
            </a:endParaRPr>
          </a:p>
          <a:p>
            <a:pPr marL="12700" marR="5080" indent="2540">
              <a:lnSpc>
                <a:spcPct val="100000"/>
              </a:lnSpc>
              <a:spcBef>
                <a:spcPts val="190"/>
              </a:spcBef>
            </a:pPr>
            <a:r>
              <a:rPr sz="1000" spc="-20" dirty="0">
                <a:latin typeface="Arial"/>
                <a:cs typeface="Arial"/>
              </a:rPr>
              <a:t>Map</a:t>
            </a:r>
            <a:r>
              <a:rPr sz="1000" dirty="0">
                <a:latin typeface="Arial"/>
                <a:cs typeface="Arial"/>
              </a:rPr>
              <a:t> </a:t>
            </a:r>
            <a:r>
              <a:rPr sz="1000" spc="-10" dirty="0">
                <a:latin typeface="Arial"/>
                <a:cs typeface="Arial"/>
              </a:rPr>
              <a:t>all</a:t>
            </a:r>
            <a:r>
              <a:rPr sz="1000" dirty="0">
                <a:latin typeface="Arial"/>
                <a:cs typeface="Arial"/>
              </a:rPr>
              <a:t> </a:t>
            </a:r>
            <a:r>
              <a:rPr sz="1000" spc="-15" dirty="0">
                <a:latin typeface="Arial"/>
                <a:cs typeface="Arial"/>
              </a:rPr>
              <a:t>main-memory</a:t>
            </a:r>
            <a:r>
              <a:rPr sz="1000" dirty="0">
                <a:latin typeface="Arial"/>
                <a:cs typeface="Arial"/>
              </a:rPr>
              <a:t> </a:t>
            </a:r>
            <a:r>
              <a:rPr sz="1000" spc="-15" dirty="0">
                <a:latin typeface="Arial"/>
                <a:cs typeface="Arial"/>
              </a:rPr>
              <a:t>pages</a:t>
            </a:r>
            <a:r>
              <a:rPr sz="1000" spc="5" dirty="0">
                <a:latin typeface="Arial"/>
                <a:cs typeface="Arial"/>
              </a:rPr>
              <a:t> </a:t>
            </a:r>
            <a:r>
              <a:rPr sz="1000" spc="-15" dirty="0">
                <a:latin typeface="Arial"/>
                <a:cs typeface="Arial"/>
              </a:rPr>
              <a:t>(from</a:t>
            </a:r>
            <a:r>
              <a:rPr sz="1000" dirty="0">
                <a:latin typeface="Arial"/>
                <a:cs typeface="Arial"/>
              </a:rPr>
              <a:t> </a:t>
            </a:r>
            <a:r>
              <a:rPr sz="1000" spc="-15" dirty="0">
                <a:latin typeface="Arial"/>
                <a:cs typeface="Arial"/>
              </a:rPr>
              <a:t>different</a:t>
            </a:r>
            <a:r>
              <a:rPr sz="1000" spc="5" dirty="0">
                <a:latin typeface="Arial"/>
                <a:cs typeface="Arial"/>
              </a:rPr>
              <a:t> </a:t>
            </a:r>
            <a:r>
              <a:rPr sz="1000" spc="-15" dirty="0">
                <a:latin typeface="Arial"/>
                <a:cs typeface="Arial"/>
              </a:rPr>
              <a:t>processors)</a:t>
            </a:r>
            <a:r>
              <a:rPr sz="1000" dirty="0">
                <a:latin typeface="Arial"/>
                <a:cs typeface="Arial"/>
              </a:rPr>
              <a:t> </a:t>
            </a:r>
            <a:r>
              <a:rPr sz="1000" spc="-10" dirty="0">
                <a:latin typeface="Arial"/>
                <a:cs typeface="Arial"/>
              </a:rPr>
              <a:t>into</a:t>
            </a:r>
            <a:r>
              <a:rPr sz="1000" spc="5" dirty="0">
                <a:latin typeface="Arial"/>
                <a:cs typeface="Arial"/>
              </a:rPr>
              <a:t> </a:t>
            </a:r>
            <a:r>
              <a:rPr sz="1000" spc="-15" dirty="0">
                <a:latin typeface="Arial"/>
                <a:cs typeface="Arial"/>
              </a:rPr>
              <a:t>one</a:t>
            </a:r>
            <a:r>
              <a:rPr sz="1000" dirty="0">
                <a:latin typeface="Arial"/>
                <a:cs typeface="Arial"/>
              </a:rPr>
              <a:t> </a:t>
            </a:r>
            <a:r>
              <a:rPr sz="1000" spc="-15" dirty="0">
                <a:solidFill>
                  <a:srgbClr val="0000FA"/>
                </a:solidFill>
                <a:latin typeface="Arial"/>
                <a:cs typeface="Arial"/>
              </a:rPr>
              <a:t>single </a:t>
            </a:r>
            <a:r>
              <a:rPr sz="1000" spc="-265" dirty="0">
                <a:solidFill>
                  <a:srgbClr val="0000FA"/>
                </a:solidFill>
                <a:latin typeface="Arial"/>
                <a:cs typeface="Arial"/>
              </a:rPr>
              <a:t> </a:t>
            </a:r>
            <a:r>
              <a:rPr sz="1000" dirty="0">
                <a:solidFill>
                  <a:srgbClr val="0000FA"/>
                </a:solidFill>
                <a:latin typeface="Arial"/>
                <a:cs typeface="Arial"/>
              </a:rPr>
              <a:t>virtual </a:t>
            </a:r>
            <a:r>
              <a:rPr sz="1000" spc="-5" dirty="0">
                <a:solidFill>
                  <a:srgbClr val="0000FA"/>
                </a:solidFill>
                <a:latin typeface="Arial"/>
                <a:cs typeface="Arial"/>
              </a:rPr>
              <a:t>address</a:t>
            </a:r>
            <a:r>
              <a:rPr sz="1000" dirty="0">
                <a:solidFill>
                  <a:srgbClr val="0000FA"/>
                </a:solidFill>
                <a:latin typeface="Arial"/>
                <a:cs typeface="Arial"/>
              </a:rPr>
              <a:t> </a:t>
            </a:r>
            <a:r>
              <a:rPr sz="1000" spc="-5" dirty="0">
                <a:solidFill>
                  <a:srgbClr val="0000FA"/>
                </a:solidFill>
                <a:latin typeface="Arial"/>
                <a:cs typeface="Arial"/>
              </a:rPr>
              <a:t>space</a:t>
            </a:r>
            <a:r>
              <a:rPr sz="1000" spc="-5" dirty="0">
                <a:latin typeface="Arial"/>
                <a:cs typeface="Arial"/>
              </a:rPr>
              <a:t>.</a:t>
            </a:r>
            <a:r>
              <a:rPr sz="1000" spc="65" dirty="0">
                <a:latin typeface="Arial"/>
                <a:cs typeface="Arial"/>
              </a:rPr>
              <a:t> </a:t>
            </a:r>
            <a:r>
              <a:rPr sz="1000" spc="-5" dirty="0">
                <a:latin typeface="Arial"/>
                <a:cs typeface="Arial"/>
              </a:rPr>
              <a:t>If</a:t>
            </a:r>
            <a:r>
              <a:rPr sz="1000" dirty="0">
                <a:latin typeface="Arial"/>
                <a:cs typeface="Arial"/>
              </a:rPr>
              <a:t> </a:t>
            </a:r>
            <a:r>
              <a:rPr sz="1000" spc="-5" dirty="0">
                <a:latin typeface="Arial"/>
                <a:cs typeface="Arial"/>
              </a:rPr>
              <a:t>process</a:t>
            </a:r>
            <a:r>
              <a:rPr sz="1000" spc="5"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processor</a:t>
            </a:r>
            <a:r>
              <a:rPr sz="1000" dirty="0">
                <a:latin typeface="Arial"/>
                <a:cs typeface="Arial"/>
              </a:rPr>
              <a:t> </a:t>
            </a:r>
            <a:r>
              <a:rPr sz="1000" i="1" spc="-5" dirty="0">
                <a:latin typeface="Arial"/>
                <a:cs typeface="Arial"/>
              </a:rPr>
              <a:t>A</a:t>
            </a:r>
            <a:r>
              <a:rPr sz="1000" i="1" dirty="0">
                <a:latin typeface="Arial"/>
                <a:cs typeface="Arial"/>
              </a:rPr>
              <a:t> </a:t>
            </a:r>
            <a:r>
              <a:rPr sz="1000" spc="-5" dirty="0">
                <a:latin typeface="Arial"/>
                <a:cs typeface="Arial"/>
              </a:rPr>
              <a:t>addresses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page</a:t>
            </a:r>
            <a:r>
              <a:rPr sz="1000" dirty="0">
                <a:latin typeface="Arial"/>
                <a:cs typeface="Arial"/>
              </a:rPr>
              <a:t> </a:t>
            </a:r>
            <a:r>
              <a:rPr sz="1000" i="1" spc="-5" dirty="0">
                <a:latin typeface="Arial"/>
                <a:cs typeface="Arial"/>
              </a:rPr>
              <a:t>P </a:t>
            </a:r>
            <a:r>
              <a:rPr sz="1000" i="1" dirty="0">
                <a:latin typeface="Arial"/>
                <a:cs typeface="Arial"/>
              </a:rPr>
              <a:t> </a:t>
            </a:r>
            <a:r>
              <a:rPr sz="1000" spc="-15" dirty="0">
                <a:latin typeface="Arial"/>
                <a:cs typeface="Arial"/>
              </a:rPr>
              <a:t>located </a:t>
            </a:r>
            <a:r>
              <a:rPr sz="1000" spc="-10" dirty="0">
                <a:latin typeface="Arial"/>
                <a:cs typeface="Arial"/>
              </a:rPr>
              <a:t>at </a:t>
            </a:r>
            <a:r>
              <a:rPr sz="1000" spc="-15" dirty="0">
                <a:latin typeface="Arial"/>
                <a:cs typeface="Arial"/>
              </a:rPr>
              <a:t>processor </a:t>
            </a:r>
            <a:r>
              <a:rPr sz="1000" i="1" spc="15" dirty="0">
                <a:latin typeface="Arial"/>
                <a:cs typeface="Arial"/>
              </a:rPr>
              <a:t>B</a:t>
            </a:r>
            <a:r>
              <a:rPr sz="1000" spc="15" dirty="0">
                <a:latin typeface="Arial"/>
                <a:cs typeface="Arial"/>
              </a:rPr>
              <a:t>,</a:t>
            </a:r>
            <a:r>
              <a:rPr sz="1000" spc="-5" dirty="0">
                <a:latin typeface="Arial"/>
                <a:cs typeface="Arial"/>
              </a:rPr>
              <a:t> </a:t>
            </a:r>
            <a:r>
              <a:rPr sz="1000" spc="-15" dirty="0">
                <a:latin typeface="Arial"/>
                <a:cs typeface="Arial"/>
              </a:rPr>
              <a:t>the</a:t>
            </a:r>
            <a:r>
              <a:rPr sz="1000" spc="-10" dirty="0">
                <a:latin typeface="Arial"/>
                <a:cs typeface="Arial"/>
              </a:rPr>
              <a:t> </a:t>
            </a:r>
            <a:r>
              <a:rPr sz="1000" spc="-20" dirty="0">
                <a:latin typeface="Arial"/>
                <a:cs typeface="Arial"/>
              </a:rPr>
              <a:t>OS</a:t>
            </a:r>
            <a:r>
              <a:rPr sz="1000" spc="-15" dirty="0">
                <a:latin typeface="Arial"/>
                <a:cs typeface="Arial"/>
              </a:rPr>
              <a:t> </a:t>
            </a:r>
            <a:r>
              <a:rPr sz="1000" spc="-10" dirty="0">
                <a:latin typeface="Arial"/>
                <a:cs typeface="Arial"/>
              </a:rPr>
              <a:t>at </a:t>
            </a:r>
            <a:r>
              <a:rPr sz="1000" i="1" spc="-5" dirty="0">
                <a:latin typeface="Arial"/>
                <a:cs typeface="Arial"/>
              </a:rPr>
              <a:t>A</a:t>
            </a:r>
            <a:r>
              <a:rPr sz="1000" i="1" spc="-10" dirty="0">
                <a:latin typeface="Arial"/>
                <a:cs typeface="Arial"/>
              </a:rPr>
              <a:t> </a:t>
            </a:r>
            <a:r>
              <a:rPr sz="1000" spc="-15" dirty="0">
                <a:solidFill>
                  <a:srgbClr val="0000FA"/>
                </a:solidFill>
                <a:latin typeface="Arial"/>
                <a:cs typeface="Arial"/>
              </a:rPr>
              <a:t>traps and</a:t>
            </a:r>
            <a:r>
              <a:rPr sz="1000" spc="-10" dirty="0">
                <a:solidFill>
                  <a:srgbClr val="0000FA"/>
                </a:solidFill>
                <a:latin typeface="Arial"/>
                <a:cs typeface="Arial"/>
              </a:rPr>
              <a:t> </a:t>
            </a:r>
            <a:r>
              <a:rPr sz="1000" spc="-20" dirty="0">
                <a:solidFill>
                  <a:srgbClr val="0000FA"/>
                </a:solidFill>
                <a:latin typeface="Arial"/>
                <a:cs typeface="Arial"/>
              </a:rPr>
              <a:t>fetches</a:t>
            </a:r>
            <a:r>
              <a:rPr sz="1000" spc="-10" dirty="0">
                <a:solidFill>
                  <a:srgbClr val="0000FA"/>
                </a:solidFill>
                <a:latin typeface="Arial"/>
                <a:cs typeface="Arial"/>
              </a:rPr>
              <a:t> </a:t>
            </a:r>
            <a:r>
              <a:rPr sz="1000" i="1" spc="-5" dirty="0">
                <a:solidFill>
                  <a:srgbClr val="0000FA"/>
                </a:solidFill>
                <a:latin typeface="Arial"/>
                <a:cs typeface="Arial"/>
              </a:rPr>
              <a:t>P</a:t>
            </a:r>
            <a:r>
              <a:rPr sz="1000" i="1" spc="55" dirty="0">
                <a:solidFill>
                  <a:srgbClr val="0000FA"/>
                </a:solidFill>
                <a:latin typeface="Arial"/>
                <a:cs typeface="Arial"/>
              </a:rPr>
              <a:t> </a:t>
            </a:r>
            <a:r>
              <a:rPr sz="1000" spc="-15" dirty="0">
                <a:latin typeface="Arial"/>
                <a:cs typeface="Arial"/>
              </a:rPr>
              <a:t>from</a:t>
            </a:r>
            <a:r>
              <a:rPr sz="1000" spc="-10" dirty="0">
                <a:latin typeface="Arial"/>
                <a:cs typeface="Arial"/>
              </a:rPr>
              <a:t> </a:t>
            </a:r>
            <a:r>
              <a:rPr sz="1000" i="1" spc="15" dirty="0">
                <a:latin typeface="Arial"/>
                <a:cs typeface="Arial"/>
              </a:rPr>
              <a:t>B</a:t>
            </a:r>
            <a:r>
              <a:rPr sz="1000" spc="15" dirty="0">
                <a:latin typeface="Arial"/>
                <a:cs typeface="Arial"/>
              </a:rPr>
              <a:t>,</a:t>
            </a:r>
            <a:r>
              <a:rPr sz="1000" spc="-5" dirty="0">
                <a:latin typeface="Arial"/>
                <a:cs typeface="Arial"/>
              </a:rPr>
              <a:t> </a:t>
            </a:r>
            <a:r>
              <a:rPr sz="1000" spc="-10" dirty="0">
                <a:latin typeface="Arial"/>
                <a:cs typeface="Arial"/>
              </a:rPr>
              <a:t>just</a:t>
            </a:r>
            <a:r>
              <a:rPr sz="1000" spc="-15" dirty="0">
                <a:latin typeface="Arial"/>
                <a:cs typeface="Arial"/>
              </a:rPr>
              <a:t> as </a:t>
            </a:r>
            <a:r>
              <a:rPr sz="1000" spc="-260" dirty="0">
                <a:latin typeface="Arial"/>
                <a:cs typeface="Arial"/>
              </a:rPr>
              <a:t> </a:t>
            </a:r>
            <a:r>
              <a:rPr sz="1000" spc="-5" dirty="0">
                <a:latin typeface="Arial"/>
                <a:cs typeface="Arial"/>
              </a:rPr>
              <a:t>it would if </a:t>
            </a:r>
            <a:r>
              <a:rPr sz="1000" i="1" spc="-5" dirty="0">
                <a:latin typeface="Arial"/>
                <a:cs typeface="Arial"/>
              </a:rPr>
              <a:t>P</a:t>
            </a:r>
            <a:r>
              <a:rPr sz="1000" i="1" spc="65" dirty="0">
                <a:latin typeface="Arial"/>
                <a:cs typeface="Arial"/>
              </a:rPr>
              <a:t> </a:t>
            </a:r>
            <a:r>
              <a:rPr sz="1000" spc="-5" dirty="0">
                <a:latin typeface="Arial"/>
                <a:cs typeface="Arial"/>
              </a:rPr>
              <a:t>had been located on local disk.</a:t>
            </a:r>
            <a:endParaRPr sz="1000" dirty="0">
              <a:latin typeface="Arial"/>
              <a:cs typeface="Arial"/>
            </a:endParaRPr>
          </a:p>
          <a:p>
            <a:pPr marL="15240">
              <a:lnSpc>
                <a:spcPts val="1410"/>
              </a:lnSpc>
              <a:spcBef>
                <a:spcPts val="680"/>
              </a:spcBef>
            </a:pPr>
            <a:r>
              <a:rPr sz="1200" spc="-10" dirty="0">
                <a:solidFill>
                  <a:srgbClr val="3333B2"/>
                </a:solidFill>
                <a:latin typeface="Arial"/>
                <a:cs typeface="Arial"/>
              </a:rPr>
              <a:t>Problem</a:t>
            </a:r>
            <a:endParaRPr sz="1200" dirty="0">
              <a:latin typeface="Arial"/>
              <a:cs typeface="Arial"/>
            </a:endParaRPr>
          </a:p>
          <a:p>
            <a:pPr marL="15240" marR="36195">
              <a:lnSpc>
                <a:spcPts val="1200"/>
              </a:lnSpc>
              <a:spcBef>
                <a:spcPts val="10"/>
              </a:spcBef>
            </a:pPr>
            <a:r>
              <a:rPr sz="1000" spc="-10" dirty="0">
                <a:latin typeface="Arial"/>
                <a:cs typeface="Arial"/>
              </a:rPr>
              <a:t>Performance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distributed</a:t>
            </a:r>
            <a:r>
              <a:rPr sz="1000" dirty="0">
                <a:latin typeface="Arial"/>
                <a:cs typeface="Arial"/>
              </a:rPr>
              <a:t> </a:t>
            </a:r>
            <a:r>
              <a:rPr sz="1000" spc="-5" dirty="0">
                <a:latin typeface="Arial"/>
                <a:cs typeface="Arial"/>
              </a:rPr>
              <a:t>shared</a:t>
            </a:r>
            <a:r>
              <a:rPr sz="1000" dirty="0">
                <a:latin typeface="Arial"/>
                <a:cs typeface="Arial"/>
              </a:rPr>
              <a:t> memory</a:t>
            </a:r>
            <a:r>
              <a:rPr sz="1000" spc="5" dirty="0">
                <a:latin typeface="Arial"/>
                <a:cs typeface="Arial"/>
              </a:rPr>
              <a:t> </a:t>
            </a:r>
            <a:r>
              <a:rPr sz="1000" spc="-5" dirty="0">
                <a:latin typeface="Arial"/>
                <a:cs typeface="Arial"/>
              </a:rPr>
              <a:t>could</a:t>
            </a:r>
            <a:r>
              <a:rPr sz="1000" dirty="0">
                <a:latin typeface="Arial"/>
                <a:cs typeface="Arial"/>
              </a:rPr>
              <a:t> </a:t>
            </a:r>
            <a:r>
              <a:rPr sz="1000" spc="-15" dirty="0">
                <a:latin typeface="Arial"/>
                <a:cs typeface="Arial"/>
              </a:rPr>
              <a:t>never</a:t>
            </a:r>
            <a:r>
              <a:rPr sz="1000" dirty="0">
                <a:latin typeface="Arial"/>
                <a:cs typeface="Arial"/>
              </a:rPr>
              <a:t> </a:t>
            </a:r>
            <a:r>
              <a:rPr sz="1000" spc="-5" dirty="0">
                <a:latin typeface="Arial"/>
                <a:cs typeface="Arial"/>
              </a:rPr>
              <a:t>compete</a:t>
            </a:r>
            <a:r>
              <a:rPr sz="1000" dirty="0">
                <a:latin typeface="Arial"/>
                <a:cs typeface="Arial"/>
              </a:rPr>
              <a:t> </a:t>
            </a:r>
            <a:r>
              <a:rPr sz="1000" spc="-5" dirty="0">
                <a:latin typeface="Arial"/>
                <a:cs typeface="Arial"/>
              </a:rPr>
              <a:t>with </a:t>
            </a:r>
            <a:r>
              <a:rPr sz="1000" spc="-260" dirty="0">
                <a:latin typeface="Arial"/>
                <a:cs typeface="Arial"/>
              </a:rPr>
              <a:t> </a:t>
            </a:r>
            <a:r>
              <a:rPr sz="1000" spc="-5" dirty="0">
                <a:latin typeface="Arial"/>
                <a:cs typeface="Arial"/>
              </a:rPr>
              <a:t>that of multiprocessors, and </a:t>
            </a:r>
            <a:r>
              <a:rPr sz="1000" spc="-10" dirty="0">
                <a:latin typeface="Arial"/>
                <a:cs typeface="Arial"/>
              </a:rPr>
              <a:t>failed</a:t>
            </a:r>
            <a:r>
              <a:rPr sz="1000" spc="-5" dirty="0">
                <a:latin typeface="Arial"/>
                <a:cs typeface="Arial"/>
              </a:rPr>
              <a:t> to</a:t>
            </a:r>
            <a:r>
              <a:rPr sz="1000" dirty="0">
                <a:latin typeface="Arial"/>
                <a:cs typeface="Arial"/>
              </a:rPr>
              <a:t> </a:t>
            </a:r>
            <a:r>
              <a:rPr sz="1000" spc="-5" dirty="0">
                <a:latin typeface="Arial"/>
                <a:cs typeface="Arial"/>
              </a:rPr>
              <a:t>meet the expectations of </a:t>
            </a:r>
            <a:r>
              <a:rPr sz="1000" dirty="0">
                <a:latin typeface="Arial"/>
                <a:cs typeface="Arial"/>
              </a:rPr>
              <a:t> </a:t>
            </a:r>
            <a:r>
              <a:rPr sz="1000" spc="-5" dirty="0">
                <a:latin typeface="Arial"/>
                <a:cs typeface="Arial"/>
              </a:rPr>
              <a:t>programmers.</a:t>
            </a:r>
            <a:r>
              <a:rPr sz="1000" spc="55" dirty="0">
                <a:latin typeface="Arial"/>
                <a:cs typeface="Arial"/>
              </a:rPr>
              <a:t> </a:t>
            </a:r>
            <a:r>
              <a:rPr sz="1000" spc="-5" dirty="0">
                <a:latin typeface="Arial"/>
                <a:cs typeface="Arial"/>
              </a:rPr>
              <a:t>It has been widely abandoned </a:t>
            </a:r>
            <a:r>
              <a:rPr sz="1000" spc="-15" dirty="0">
                <a:latin typeface="Arial"/>
                <a:cs typeface="Arial"/>
              </a:rPr>
              <a:t>by</a:t>
            </a:r>
            <a:r>
              <a:rPr sz="1000" spc="-5" dirty="0">
                <a:latin typeface="Arial"/>
                <a:cs typeface="Arial"/>
              </a:rPr>
              <a:t> </a:t>
            </a:r>
            <a:r>
              <a:rPr sz="1000" spc="-25" dirty="0">
                <a:latin typeface="Arial"/>
                <a:cs typeface="Arial"/>
              </a:rPr>
              <a:t>now.</a:t>
            </a:r>
            <a:endParaRPr sz="1000" dirty="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116580" algn="l"/>
              </a:tabLst>
            </a:pPr>
            <a:r>
              <a:rPr sz="600" spc="-5" dirty="0">
                <a:solidFill>
                  <a:srgbClr val="3333B2"/>
                </a:solidFill>
                <a:latin typeface="Arial"/>
                <a:cs typeface="Arial"/>
                <a:hlinkClick r:id="rId3"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High</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performance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computing</a:t>
            </a:r>
            <a:endParaRPr sz="600">
              <a:latin typeface="Arial"/>
              <a:cs typeface="Arial"/>
            </a:endParaRPr>
          </a:p>
        </p:txBody>
      </p:sp>
      <p:sp>
        <p:nvSpPr>
          <p:cNvPr id="3" name="object 3"/>
          <p:cNvSpPr txBox="1">
            <a:spLocks noGrp="1"/>
          </p:cNvSpPr>
          <p:nvPr>
            <p:ph type="title"/>
          </p:nvPr>
        </p:nvSpPr>
        <p:spPr>
          <a:xfrm>
            <a:off x="95300" y="188846"/>
            <a:ext cx="1494155" cy="244475"/>
          </a:xfrm>
          <a:prstGeom prst="rect">
            <a:avLst/>
          </a:prstGeom>
        </p:spPr>
        <p:txBody>
          <a:bodyPr vert="horz" wrap="square" lIns="0" tIns="17145" rIns="0" bIns="0" rtlCol="0">
            <a:spAutoFit/>
          </a:bodyPr>
          <a:lstStyle/>
          <a:p>
            <a:pPr marL="12700">
              <a:lnSpc>
                <a:spcPct val="100000"/>
              </a:lnSpc>
              <a:spcBef>
                <a:spcPts val="135"/>
              </a:spcBef>
            </a:pPr>
            <a:r>
              <a:rPr spc="15" dirty="0"/>
              <a:t>Cluster</a:t>
            </a:r>
            <a:r>
              <a:rPr spc="-55" dirty="0"/>
              <a:t> </a:t>
            </a:r>
            <a:r>
              <a:rPr spc="15" dirty="0"/>
              <a:t>computing</a:t>
            </a:r>
          </a:p>
        </p:txBody>
      </p:sp>
      <p:sp>
        <p:nvSpPr>
          <p:cNvPr id="4" name="object 4"/>
          <p:cNvSpPr txBox="1"/>
          <p:nvPr/>
        </p:nvSpPr>
        <p:spPr>
          <a:xfrm>
            <a:off x="334594" y="571561"/>
            <a:ext cx="3475990" cy="789305"/>
          </a:xfrm>
          <a:prstGeom prst="rect">
            <a:avLst/>
          </a:prstGeom>
        </p:spPr>
        <p:txBody>
          <a:bodyPr vert="horz" wrap="square" lIns="0" tIns="22860" rIns="0" bIns="0" rtlCol="0">
            <a:spAutoFit/>
          </a:bodyPr>
          <a:lstStyle/>
          <a:p>
            <a:pPr marL="25400" marR="17780">
              <a:lnSpc>
                <a:spcPts val="1390"/>
              </a:lnSpc>
              <a:spcBef>
                <a:spcPts val="180"/>
              </a:spcBef>
            </a:pPr>
            <a:r>
              <a:rPr sz="1200" spc="-5" dirty="0">
                <a:solidFill>
                  <a:srgbClr val="3333B2"/>
                </a:solidFill>
                <a:latin typeface="Arial"/>
                <a:cs typeface="Arial"/>
              </a:rPr>
              <a:t>Essentially a</a:t>
            </a:r>
            <a:r>
              <a:rPr sz="1200" dirty="0">
                <a:solidFill>
                  <a:srgbClr val="3333B2"/>
                </a:solidFill>
                <a:latin typeface="Arial"/>
                <a:cs typeface="Arial"/>
              </a:rPr>
              <a:t> </a:t>
            </a:r>
            <a:r>
              <a:rPr sz="1200" spc="-10" dirty="0">
                <a:solidFill>
                  <a:srgbClr val="3333B2"/>
                </a:solidFill>
                <a:latin typeface="Arial"/>
                <a:cs typeface="Arial"/>
              </a:rPr>
              <a:t>group</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high-end</a:t>
            </a:r>
            <a:r>
              <a:rPr sz="1200" dirty="0">
                <a:solidFill>
                  <a:srgbClr val="3333B2"/>
                </a:solidFill>
                <a:latin typeface="Arial"/>
                <a:cs typeface="Arial"/>
              </a:rPr>
              <a:t> </a:t>
            </a:r>
            <a:r>
              <a:rPr sz="1200" spc="-5" dirty="0">
                <a:solidFill>
                  <a:srgbClr val="3333B2"/>
                </a:solidFill>
                <a:latin typeface="Arial"/>
                <a:cs typeface="Arial"/>
              </a:rPr>
              <a:t>systems</a:t>
            </a:r>
            <a:r>
              <a:rPr sz="1200" dirty="0">
                <a:solidFill>
                  <a:srgbClr val="3333B2"/>
                </a:solidFill>
                <a:latin typeface="Arial"/>
                <a:cs typeface="Arial"/>
              </a:rPr>
              <a:t> </a:t>
            </a:r>
            <a:r>
              <a:rPr sz="1200" spc="-5" dirty="0">
                <a:solidFill>
                  <a:srgbClr val="3333B2"/>
                </a:solidFill>
                <a:latin typeface="Arial"/>
                <a:cs typeface="Arial"/>
              </a:rPr>
              <a:t>connected </a:t>
            </a:r>
            <a:r>
              <a:rPr sz="1200" spc="-320" dirty="0">
                <a:solidFill>
                  <a:srgbClr val="3333B2"/>
                </a:solidFill>
                <a:latin typeface="Arial"/>
                <a:cs typeface="Arial"/>
              </a:rPr>
              <a:t> </a:t>
            </a:r>
            <a:r>
              <a:rPr sz="1200" spc="-5" dirty="0">
                <a:solidFill>
                  <a:srgbClr val="3333B2"/>
                </a:solidFill>
                <a:latin typeface="Arial"/>
                <a:cs typeface="Arial"/>
              </a:rPr>
              <a:t>through</a:t>
            </a:r>
            <a:r>
              <a:rPr sz="1200" spc="-10" dirty="0">
                <a:solidFill>
                  <a:srgbClr val="3333B2"/>
                </a:solidFill>
                <a:latin typeface="Arial"/>
                <a:cs typeface="Arial"/>
              </a:rPr>
              <a:t> </a:t>
            </a:r>
            <a:r>
              <a:rPr sz="1200" spc="-5" dirty="0">
                <a:solidFill>
                  <a:srgbClr val="3333B2"/>
                </a:solidFill>
                <a:latin typeface="Arial"/>
                <a:cs typeface="Arial"/>
              </a:rPr>
              <a:t>a LAN</a:t>
            </a:r>
            <a:endParaRPr sz="1200" dirty="0">
              <a:latin typeface="Arial"/>
              <a:cs typeface="Arial"/>
            </a:endParaRPr>
          </a:p>
          <a:p>
            <a:pPr marL="302260" indent="-168275">
              <a:lnSpc>
                <a:spcPts val="1200"/>
              </a:lnSpc>
              <a:spcBef>
                <a:spcPts val="755"/>
              </a:spcBef>
              <a:buClr>
                <a:srgbClr val="3333B2"/>
              </a:buClr>
              <a:buChar char="►"/>
              <a:tabLst>
                <a:tab pos="302895" algn="l"/>
              </a:tabLst>
            </a:pPr>
            <a:r>
              <a:rPr sz="1000" spc="-5" dirty="0">
                <a:latin typeface="Arial"/>
                <a:cs typeface="Arial"/>
              </a:rPr>
              <a:t>Homogeneous:</a:t>
            </a:r>
            <a:r>
              <a:rPr sz="1000" spc="60" dirty="0">
                <a:latin typeface="Arial"/>
                <a:cs typeface="Arial"/>
              </a:rPr>
              <a:t> </a:t>
            </a:r>
            <a:r>
              <a:rPr sz="1000" spc="-5" dirty="0">
                <a:latin typeface="Arial"/>
                <a:cs typeface="Arial"/>
              </a:rPr>
              <a:t>same </a:t>
            </a:r>
            <a:r>
              <a:rPr sz="1000" spc="-10" dirty="0">
                <a:latin typeface="Arial"/>
                <a:cs typeface="Arial"/>
              </a:rPr>
              <a:t>OS,</a:t>
            </a:r>
            <a:r>
              <a:rPr sz="1000" spc="-5" dirty="0">
                <a:latin typeface="Arial"/>
                <a:cs typeface="Arial"/>
              </a:rPr>
              <a:t> near-identical hardware</a:t>
            </a:r>
            <a:endParaRPr sz="1000" dirty="0">
              <a:latin typeface="Arial"/>
              <a:cs typeface="Arial"/>
            </a:endParaRPr>
          </a:p>
          <a:p>
            <a:pPr marL="302260" indent="-168275">
              <a:lnSpc>
                <a:spcPts val="1200"/>
              </a:lnSpc>
              <a:buClr>
                <a:srgbClr val="3333B2"/>
              </a:buClr>
              <a:buChar char="►"/>
              <a:tabLst>
                <a:tab pos="302895" algn="l"/>
              </a:tabLst>
            </a:pPr>
            <a:r>
              <a:rPr sz="1000" spc="-5" dirty="0">
                <a:latin typeface="Arial"/>
                <a:cs typeface="Arial"/>
              </a:rPr>
              <a:t>Single</a:t>
            </a:r>
            <a:r>
              <a:rPr sz="1000" spc="-20" dirty="0">
                <a:latin typeface="Arial"/>
                <a:cs typeface="Arial"/>
              </a:rPr>
              <a:t> </a:t>
            </a:r>
            <a:r>
              <a:rPr sz="1000" spc="-5" dirty="0">
                <a:latin typeface="Arial"/>
                <a:cs typeface="Arial"/>
              </a:rPr>
              <a:t>managing</a:t>
            </a:r>
            <a:r>
              <a:rPr sz="1000" spc="-20" dirty="0">
                <a:latin typeface="Arial"/>
                <a:cs typeface="Arial"/>
              </a:rPr>
              <a:t> </a:t>
            </a:r>
            <a:r>
              <a:rPr sz="1000" spc="-5" dirty="0">
                <a:latin typeface="Arial"/>
                <a:cs typeface="Arial"/>
              </a:rPr>
              <a:t>node</a:t>
            </a:r>
            <a:endParaRPr sz="1000" dirty="0">
              <a:latin typeface="Arial"/>
              <a:cs typeface="Arial"/>
            </a:endParaRPr>
          </a:p>
        </p:txBody>
      </p:sp>
      <p:sp>
        <p:nvSpPr>
          <p:cNvPr id="5" name="object 5"/>
          <p:cNvSpPr/>
          <p:nvPr/>
        </p:nvSpPr>
        <p:spPr>
          <a:xfrm>
            <a:off x="789949" y="2124818"/>
            <a:ext cx="628015" cy="325120"/>
          </a:xfrm>
          <a:custGeom>
            <a:avLst/>
            <a:gdLst/>
            <a:ahLst/>
            <a:cxnLst/>
            <a:rect l="l" t="t" r="r" b="b"/>
            <a:pathLst>
              <a:path w="628015" h="325119">
                <a:moveTo>
                  <a:pt x="0" y="142303"/>
                </a:moveTo>
                <a:lnTo>
                  <a:pt x="620242" y="142303"/>
                </a:lnTo>
                <a:lnTo>
                  <a:pt x="620242" y="0"/>
                </a:lnTo>
                <a:lnTo>
                  <a:pt x="0" y="0"/>
                </a:lnTo>
                <a:lnTo>
                  <a:pt x="0" y="142303"/>
                </a:lnTo>
                <a:close/>
              </a:path>
              <a:path w="628015" h="325119">
                <a:moveTo>
                  <a:pt x="0" y="324576"/>
                </a:moveTo>
                <a:lnTo>
                  <a:pt x="627481" y="324576"/>
                </a:lnTo>
                <a:lnTo>
                  <a:pt x="627481" y="182272"/>
                </a:lnTo>
                <a:lnTo>
                  <a:pt x="0" y="182272"/>
                </a:lnTo>
                <a:lnTo>
                  <a:pt x="0" y="324576"/>
                </a:lnTo>
                <a:close/>
              </a:path>
            </a:pathLst>
          </a:custGeom>
          <a:ln w="5270">
            <a:solidFill>
              <a:srgbClr val="231F20"/>
            </a:solidFill>
          </a:ln>
        </p:spPr>
        <p:txBody>
          <a:bodyPr wrap="square" lIns="0" tIns="0" rIns="0" bIns="0" rtlCol="0"/>
          <a:lstStyle/>
          <a:p>
            <a:endParaRPr/>
          </a:p>
        </p:txBody>
      </p:sp>
      <p:sp>
        <p:nvSpPr>
          <p:cNvPr id="6" name="object 6"/>
          <p:cNvSpPr txBox="1"/>
          <p:nvPr/>
        </p:nvSpPr>
        <p:spPr>
          <a:xfrm>
            <a:off x="1652635" y="2309285"/>
            <a:ext cx="521970" cy="142875"/>
          </a:xfrm>
          <a:prstGeom prst="rect">
            <a:avLst/>
          </a:prstGeom>
          <a:ln w="5270">
            <a:solidFill>
              <a:srgbClr val="231F20"/>
            </a:solidFill>
          </a:ln>
        </p:spPr>
        <p:txBody>
          <a:bodyPr vert="horz" wrap="square" lIns="0" tIns="12065" rIns="0" bIns="0" rtlCol="0">
            <a:spAutoFit/>
          </a:bodyPr>
          <a:lstStyle/>
          <a:p>
            <a:pPr marL="94615">
              <a:lnSpc>
                <a:spcPct val="100000"/>
              </a:lnSpc>
              <a:spcBef>
                <a:spcPts val="95"/>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7" name="object 7"/>
          <p:cNvSpPr txBox="1"/>
          <p:nvPr/>
        </p:nvSpPr>
        <p:spPr>
          <a:xfrm>
            <a:off x="765343" y="2309059"/>
            <a:ext cx="676910" cy="127000"/>
          </a:xfrm>
          <a:prstGeom prst="rect">
            <a:avLst/>
          </a:prstGeom>
        </p:spPr>
        <p:txBody>
          <a:bodyPr vert="horz" wrap="square" lIns="0" tIns="13970" rIns="0" bIns="0" rtlCol="0">
            <a:spAutoFit/>
          </a:bodyPr>
          <a:lstStyle/>
          <a:p>
            <a:pPr marL="146685">
              <a:lnSpc>
                <a:spcPct val="100000"/>
              </a:lnSpc>
              <a:spcBef>
                <a:spcPts val="110"/>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8" name="object 8"/>
          <p:cNvSpPr txBox="1"/>
          <p:nvPr/>
        </p:nvSpPr>
        <p:spPr>
          <a:xfrm>
            <a:off x="2411587" y="2309285"/>
            <a:ext cx="521970" cy="142875"/>
          </a:xfrm>
          <a:prstGeom prst="rect">
            <a:avLst/>
          </a:prstGeom>
          <a:ln w="5270">
            <a:solidFill>
              <a:srgbClr val="231F20"/>
            </a:solidFill>
          </a:ln>
        </p:spPr>
        <p:txBody>
          <a:bodyPr vert="horz" wrap="square" lIns="0" tIns="12065" rIns="0" bIns="0" rtlCol="0">
            <a:spAutoFit/>
          </a:bodyPr>
          <a:lstStyle/>
          <a:p>
            <a:pPr marL="94615">
              <a:lnSpc>
                <a:spcPct val="100000"/>
              </a:lnSpc>
              <a:spcBef>
                <a:spcPts val="95"/>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9" name="object 9"/>
          <p:cNvSpPr txBox="1"/>
          <p:nvPr/>
        </p:nvSpPr>
        <p:spPr>
          <a:xfrm>
            <a:off x="3550015" y="2309285"/>
            <a:ext cx="521970" cy="142875"/>
          </a:xfrm>
          <a:prstGeom prst="rect">
            <a:avLst/>
          </a:prstGeom>
          <a:ln w="5270">
            <a:solidFill>
              <a:srgbClr val="231F20"/>
            </a:solidFill>
          </a:ln>
        </p:spPr>
        <p:txBody>
          <a:bodyPr vert="horz" wrap="square" lIns="0" tIns="12065" rIns="0" bIns="0" rtlCol="0">
            <a:spAutoFit/>
          </a:bodyPr>
          <a:lstStyle/>
          <a:p>
            <a:pPr marL="94615">
              <a:lnSpc>
                <a:spcPct val="100000"/>
              </a:lnSpc>
              <a:spcBef>
                <a:spcPts val="95"/>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grpSp>
        <p:nvGrpSpPr>
          <p:cNvPr id="10" name="object 10"/>
          <p:cNvGrpSpPr/>
          <p:nvPr/>
        </p:nvGrpSpPr>
        <p:grpSpPr>
          <a:xfrm>
            <a:off x="645716" y="1687239"/>
            <a:ext cx="3479165" cy="1155065"/>
            <a:chOff x="645716" y="1687239"/>
            <a:chExt cx="3479165" cy="1155065"/>
          </a:xfrm>
        </p:grpSpPr>
        <p:sp>
          <p:nvSpPr>
            <p:cNvPr id="11" name="object 11"/>
            <p:cNvSpPr/>
            <p:nvPr/>
          </p:nvSpPr>
          <p:spPr>
            <a:xfrm>
              <a:off x="760072" y="1692637"/>
              <a:ext cx="687705" cy="806450"/>
            </a:xfrm>
            <a:custGeom>
              <a:avLst/>
              <a:gdLst/>
              <a:ahLst/>
              <a:cxnLst/>
              <a:rect l="l" t="t" r="r" b="b"/>
              <a:pathLst>
                <a:path w="687705" h="806450">
                  <a:moveTo>
                    <a:pt x="0" y="806386"/>
                  </a:moveTo>
                  <a:lnTo>
                    <a:pt x="687240" y="806386"/>
                  </a:lnTo>
                  <a:lnTo>
                    <a:pt x="687240" y="0"/>
                  </a:lnTo>
                  <a:lnTo>
                    <a:pt x="0" y="0"/>
                  </a:lnTo>
                  <a:lnTo>
                    <a:pt x="0" y="806386"/>
                  </a:lnTo>
                  <a:close/>
                </a:path>
              </a:pathLst>
            </a:custGeom>
            <a:ln w="10541">
              <a:solidFill>
                <a:srgbClr val="231F20"/>
              </a:solidFill>
            </a:ln>
          </p:spPr>
          <p:txBody>
            <a:bodyPr wrap="square" lIns="0" tIns="0" rIns="0" bIns="0" rtlCol="0"/>
            <a:lstStyle/>
            <a:p>
              <a:endParaRPr/>
            </a:p>
          </p:txBody>
        </p:sp>
        <p:sp>
          <p:nvSpPr>
            <p:cNvPr id="12" name="object 12"/>
            <p:cNvSpPr/>
            <p:nvPr/>
          </p:nvSpPr>
          <p:spPr>
            <a:xfrm>
              <a:off x="988552" y="2499023"/>
              <a:ext cx="285115" cy="142875"/>
            </a:xfrm>
            <a:custGeom>
              <a:avLst/>
              <a:gdLst/>
              <a:ahLst/>
              <a:cxnLst/>
              <a:rect l="l" t="t" r="r" b="b"/>
              <a:pathLst>
                <a:path w="285115" h="142875">
                  <a:moveTo>
                    <a:pt x="284606" y="0"/>
                  </a:moveTo>
                  <a:lnTo>
                    <a:pt x="284606" y="142303"/>
                  </a:lnTo>
                </a:path>
                <a:path w="285115" h="142875">
                  <a:moveTo>
                    <a:pt x="0" y="0"/>
                  </a:moveTo>
                  <a:lnTo>
                    <a:pt x="0" y="142303"/>
                  </a:lnTo>
                </a:path>
              </a:pathLst>
            </a:custGeom>
            <a:ln w="21083">
              <a:solidFill>
                <a:srgbClr val="231F20"/>
              </a:solidFill>
            </a:ln>
          </p:spPr>
          <p:txBody>
            <a:bodyPr wrap="square" lIns="0" tIns="0" rIns="0" bIns="0" rtlCol="0"/>
            <a:lstStyle/>
            <a:p>
              <a:endParaRPr/>
            </a:p>
          </p:txBody>
        </p:sp>
        <p:sp>
          <p:nvSpPr>
            <p:cNvPr id="13" name="object 13"/>
            <p:cNvSpPr/>
            <p:nvPr/>
          </p:nvSpPr>
          <p:spPr>
            <a:xfrm>
              <a:off x="1605201" y="1692637"/>
              <a:ext cx="617220" cy="806450"/>
            </a:xfrm>
            <a:custGeom>
              <a:avLst/>
              <a:gdLst/>
              <a:ahLst/>
              <a:cxnLst/>
              <a:rect l="l" t="t" r="r" b="b"/>
              <a:pathLst>
                <a:path w="617219" h="806450">
                  <a:moveTo>
                    <a:pt x="0" y="806386"/>
                  </a:moveTo>
                  <a:lnTo>
                    <a:pt x="616648" y="806386"/>
                  </a:lnTo>
                  <a:lnTo>
                    <a:pt x="616648" y="0"/>
                  </a:lnTo>
                  <a:lnTo>
                    <a:pt x="0" y="0"/>
                  </a:lnTo>
                  <a:lnTo>
                    <a:pt x="0" y="806386"/>
                  </a:lnTo>
                  <a:close/>
                </a:path>
              </a:pathLst>
            </a:custGeom>
            <a:ln w="10541">
              <a:solidFill>
                <a:srgbClr val="231F20"/>
              </a:solidFill>
            </a:ln>
          </p:spPr>
          <p:txBody>
            <a:bodyPr wrap="square" lIns="0" tIns="0" rIns="0" bIns="0" rtlCol="0"/>
            <a:lstStyle/>
            <a:p>
              <a:endParaRPr/>
            </a:p>
          </p:txBody>
        </p:sp>
        <p:sp>
          <p:nvSpPr>
            <p:cNvPr id="14" name="object 14"/>
            <p:cNvSpPr/>
            <p:nvPr/>
          </p:nvSpPr>
          <p:spPr>
            <a:xfrm>
              <a:off x="2032111" y="2499023"/>
              <a:ext cx="0" cy="142875"/>
            </a:xfrm>
            <a:custGeom>
              <a:avLst/>
              <a:gdLst/>
              <a:ahLst/>
              <a:cxnLst/>
              <a:rect l="l" t="t" r="r" b="b"/>
              <a:pathLst>
                <a:path h="142875">
                  <a:moveTo>
                    <a:pt x="0" y="0"/>
                  </a:moveTo>
                  <a:lnTo>
                    <a:pt x="0" y="142303"/>
                  </a:lnTo>
                </a:path>
              </a:pathLst>
            </a:custGeom>
            <a:ln w="21083">
              <a:solidFill>
                <a:srgbClr val="231F20"/>
              </a:solidFill>
            </a:ln>
          </p:spPr>
          <p:txBody>
            <a:bodyPr wrap="square" lIns="0" tIns="0" rIns="0" bIns="0" rtlCol="0"/>
            <a:lstStyle/>
            <a:p>
              <a:endParaRPr/>
            </a:p>
          </p:txBody>
        </p:sp>
        <p:sp>
          <p:nvSpPr>
            <p:cNvPr id="15" name="object 15"/>
            <p:cNvSpPr/>
            <p:nvPr/>
          </p:nvSpPr>
          <p:spPr>
            <a:xfrm>
              <a:off x="2364153" y="1692637"/>
              <a:ext cx="617220" cy="806450"/>
            </a:xfrm>
            <a:custGeom>
              <a:avLst/>
              <a:gdLst/>
              <a:ahLst/>
              <a:cxnLst/>
              <a:rect l="l" t="t" r="r" b="b"/>
              <a:pathLst>
                <a:path w="617219" h="806450">
                  <a:moveTo>
                    <a:pt x="0" y="806386"/>
                  </a:moveTo>
                  <a:lnTo>
                    <a:pt x="616648" y="806386"/>
                  </a:lnTo>
                  <a:lnTo>
                    <a:pt x="616648" y="0"/>
                  </a:lnTo>
                  <a:lnTo>
                    <a:pt x="0" y="0"/>
                  </a:lnTo>
                  <a:lnTo>
                    <a:pt x="0" y="806386"/>
                  </a:lnTo>
                  <a:close/>
                </a:path>
              </a:pathLst>
            </a:custGeom>
            <a:ln w="10541">
              <a:solidFill>
                <a:srgbClr val="231F20"/>
              </a:solidFill>
            </a:ln>
          </p:spPr>
          <p:txBody>
            <a:bodyPr wrap="square" lIns="0" tIns="0" rIns="0" bIns="0" rtlCol="0"/>
            <a:lstStyle/>
            <a:p>
              <a:endParaRPr/>
            </a:p>
          </p:txBody>
        </p:sp>
        <p:sp>
          <p:nvSpPr>
            <p:cNvPr id="16" name="object 16"/>
            <p:cNvSpPr/>
            <p:nvPr/>
          </p:nvSpPr>
          <p:spPr>
            <a:xfrm>
              <a:off x="656511" y="2499023"/>
              <a:ext cx="2182495" cy="142875"/>
            </a:xfrm>
            <a:custGeom>
              <a:avLst/>
              <a:gdLst/>
              <a:ahLst/>
              <a:cxnLst/>
              <a:rect l="l" t="t" r="r" b="b"/>
              <a:pathLst>
                <a:path w="2182495" h="142875">
                  <a:moveTo>
                    <a:pt x="2134552" y="0"/>
                  </a:moveTo>
                  <a:lnTo>
                    <a:pt x="2134552" y="142303"/>
                  </a:lnTo>
                </a:path>
                <a:path w="2182495" h="142875">
                  <a:moveTo>
                    <a:pt x="521779" y="142303"/>
                  </a:moveTo>
                  <a:lnTo>
                    <a:pt x="2181986" y="142303"/>
                  </a:lnTo>
                </a:path>
                <a:path w="2182495" h="142875">
                  <a:moveTo>
                    <a:pt x="0" y="142303"/>
                  </a:moveTo>
                  <a:lnTo>
                    <a:pt x="426910" y="142303"/>
                  </a:lnTo>
                </a:path>
              </a:pathLst>
            </a:custGeom>
            <a:ln w="21083">
              <a:solidFill>
                <a:srgbClr val="231F20"/>
              </a:solidFill>
            </a:ln>
          </p:spPr>
          <p:txBody>
            <a:bodyPr wrap="square" lIns="0" tIns="0" rIns="0" bIns="0" rtlCol="0"/>
            <a:lstStyle/>
            <a:p>
              <a:endParaRPr/>
            </a:p>
          </p:txBody>
        </p:sp>
        <p:sp>
          <p:nvSpPr>
            <p:cNvPr id="17" name="object 17"/>
            <p:cNvSpPr/>
            <p:nvPr/>
          </p:nvSpPr>
          <p:spPr>
            <a:xfrm>
              <a:off x="3502581" y="1692637"/>
              <a:ext cx="617220" cy="806450"/>
            </a:xfrm>
            <a:custGeom>
              <a:avLst/>
              <a:gdLst/>
              <a:ahLst/>
              <a:cxnLst/>
              <a:rect l="l" t="t" r="r" b="b"/>
              <a:pathLst>
                <a:path w="617220" h="806450">
                  <a:moveTo>
                    <a:pt x="0" y="806386"/>
                  </a:moveTo>
                  <a:lnTo>
                    <a:pt x="616648" y="806386"/>
                  </a:lnTo>
                  <a:lnTo>
                    <a:pt x="616648" y="0"/>
                  </a:lnTo>
                  <a:lnTo>
                    <a:pt x="0" y="0"/>
                  </a:lnTo>
                  <a:lnTo>
                    <a:pt x="0" y="806386"/>
                  </a:lnTo>
                  <a:close/>
                </a:path>
              </a:pathLst>
            </a:custGeom>
            <a:ln w="10541">
              <a:solidFill>
                <a:srgbClr val="231F20"/>
              </a:solidFill>
            </a:ln>
          </p:spPr>
          <p:txBody>
            <a:bodyPr wrap="square" lIns="0" tIns="0" rIns="0" bIns="0" rtlCol="0"/>
            <a:lstStyle/>
            <a:p>
              <a:endParaRPr/>
            </a:p>
          </p:txBody>
        </p:sp>
        <p:sp>
          <p:nvSpPr>
            <p:cNvPr id="18" name="object 18"/>
            <p:cNvSpPr/>
            <p:nvPr/>
          </p:nvSpPr>
          <p:spPr>
            <a:xfrm>
              <a:off x="3716036" y="2499023"/>
              <a:ext cx="332105" cy="142875"/>
            </a:xfrm>
            <a:custGeom>
              <a:avLst/>
              <a:gdLst/>
              <a:ahLst/>
              <a:cxnLst/>
              <a:rect l="l" t="t" r="r" b="b"/>
              <a:pathLst>
                <a:path w="332104" h="142875">
                  <a:moveTo>
                    <a:pt x="213455" y="0"/>
                  </a:moveTo>
                  <a:lnTo>
                    <a:pt x="213455" y="142303"/>
                  </a:lnTo>
                </a:path>
                <a:path w="332104" h="142875">
                  <a:moveTo>
                    <a:pt x="0" y="142303"/>
                  </a:moveTo>
                  <a:lnTo>
                    <a:pt x="332041" y="142303"/>
                  </a:lnTo>
                </a:path>
              </a:pathLst>
            </a:custGeom>
            <a:ln w="21083">
              <a:solidFill>
                <a:srgbClr val="231F20"/>
              </a:solidFill>
            </a:ln>
          </p:spPr>
          <p:txBody>
            <a:bodyPr wrap="square" lIns="0" tIns="0" rIns="0" bIns="0" rtlCol="0"/>
            <a:lstStyle/>
            <a:p>
              <a:endParaRPr/>
            </a:p>
          </p:txBody>
        </p:sp>
        <p:sp>
          <p:nvSpPr>
            <p:cNvPr id="19" name="object 19"/>
            <p:cNvSpPr/>
            <p:nvPr/>
          </p:nvSpPr>
          <p:spPr>
            <a:xfrm>
              <a:off x="2838498" y="2641327"/>
              <a:ext cx="854075" cy="0"/>
            </a:xfrm>
            <a:custGeom>
              <a:avLst/>
              <a:gdLst/>
              <a:ahLst/>
              <a:cxnLst/>
              <a:rect l="l" t="t" r="r" b="b"/>
              <a:pathLst>
                <a:path w="854075">
                  <a:moveTo>
                    <a:pt x="0" y="0"/>
                  </a:moveTo>
                  <a:lnTo>
                    <a:pt x="853820" y="0"/>
                  </a:lnTo>
                  <a:lnTo>
                    <a:pt x="0" y="0"/>
                  </a:lnTo>
                  <a:close/>
                </a:path>
              </a:pathLst>
            </a:custGeom>
            <a:ln w="21083">
              <a:solidFill>
                <a:srgbClr val="231F20"/>
              </a:solidFill>
              <a:prstDash val="lgDash"/>
            </a:ln>
          </p:spPr>
          <p:txBody>
            <a:bodyPr wrap="square" lIns="0" tIns="0" rIns="0" bIns="0" rtlCol="0"/>
            <a:lstStyle/>
            <a:p>
              <a:endParaRPr/>
            </a:p>
          </p:txBody>
        </p:sp>
        <p:sp>
          <p:nvSpPr>
            <p:cNvPr id="20" name="object 20"/>
            <p:cNvSpPr/>
            <p:nvPr/>
          </p:nvSpPr>
          <p:spPr>
            <a:xfrm>
              <a:off x="1605201" y="2831065"/>
              <a:ext cx="2205990" cy="0"/>
            </a:xfrm>
            <a:custGeom>
              <a:avLst/>
              <a:gdLst/>
              <a:ahLst/>
              <a:cxnLst/>
              <a:rect l="l" t="t" r="r" b="b"/>
              <a:pathLst>
                <a:path w="2205990">
                  <a:moveTo>
                    <a:pt x="0" y="0"/>
                  </a:moveTo>
                  <a:lnTo>
                    <a:pt x="1019841" y="0"/>
                  </a:lnTo>
                </a:path>
                <a:path w="2205990">
                  <a:moveTo>
                    <a:pt x="1873662" y="0"/>
                  </a:moveTo>
                  <a:lnTo>
                    <a:pt x="2205704" y="0"/>
                  </a:lnTo>
                </a:path>
              </a:pathLst>
            </a:custGeom>
            <a:ln w="21083">
              <a:solidFill>
                <a:srgbClr val="231F20"/>
              </a:solidFill>
            </a:ln>
          </p:spPr>
          <p:txBody>
            <a:bodyPr wrap="square" lIns="0" tIns="0" rIns="0" bIns="0" rtlCol="0"/>
            <a:lstStyle/>
            <a:p>
              <a:endParaRPr/>
            </a:p>
          </p:txBody>
        </p:sp>
        <p:sp>
          <p:nvSpPr>
            <p:cNvPr id="21" name="object 21"/>
            <p:cNvSpPr/>
            <p:nvPr/>
          </p:nvSpPr>
          <p:spPr>
            <a:xfrm>
              <a:off x="2625043" y="2831065"/>
              <a:ext cx="854075" cy="0"/>
            </a:xfrm>
            <a:custGeom>
              <a:avLst/>
              <a:gdLst/>
              <a:ahLst/>
              <a:cxnLst/>
              <a:rect l="l" t="t" r="r" b="b"/>
              <a:pathLst>
                <a:path w="854075">
                  <a:moveTo>
                    <a:pt x="0" y="0"/>
                  </a:moveTo>
                  <a:lnTo>
                    <a:pt x="853810" y="0"/>
                  </a:lnTo>
                  <a:lnTo>
                    <a:pt x="0" y="0"/>
                  </a:lnTo>
                  <a:close/>
                </a:path>
              </a:pathLst>
            </a:custGeom>
            <a:ln w="21083">
              <a:solidFill>
                <a:srgbClr val="231F20"/>
              </a:solidFill>
              <a:prstDash val="lgDash"/>
            </a:ln>
          </p:spPr>
          <p:txBody>
            <a:bodyPr wrap="square" lIns="0" tIns="0" rIns="0" bIns="0" rtlCol="0"/>
            <a:lstStyle/>
            <a:p>
              <a:endParaRPr/>
            </a:p>
          </p:txBody>
        </p:sp>
      </p:grpSp>
      <p:sp>
        <p:nvSpPr>
          <p:cNvPr id="22" name="object 22"/>
          <p:cNvSpPr txBox="1"/>
          <p:nvPr/>
        </p:nvSpPr>
        <p:spPr>
          <a:xfrm>
            <a:off x="2849515" y="2639170"/>
            <a:ext cx="6864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Standard</a:t>
            </a:r>
            <a:r>
              <a:rPr sz="650" spc="-45" dirty="0">
                <a:solidFill>
                  <a:srgbClr val="231F20"/>
                </a:solidFill>
                <a:latin typeface="Arial"/>
                <a:cs typeface="Arial"/>
              </a:rPr>
              <a:t> </a:t>
            </a:r>
            <a:r>
              <a:rPr sz="650" spc="5" dirty="0">
                <a:solidFill>
                  <a:srgbClr val="231F20"/>
                </a:solidFill>
                <a:latin typeface="Arial"/>
                <a:cs typeface="Arial"/>
              </a:rPr>
              <a:t>network</a:t>
            </a:r>
            <a:endParaRPr sz="650">
              <a:latin typeface="Arial"/>
              <a:cs typeface="Arial"/>
            </a:endParaRPr>
          </a:p>
        </p:txBody>
      </p:sp>
      <p:sp>
        <p:nvSpPr>
          <p:cNvPr id="23" name="object 23"/>
          <p:cNvSpPr txBox="1"/>
          <p:nvPr/>
        </p:nvSpPr>
        <p:spPr>
          <a:xfrm>
            <a:off x="1652635" y="1740071"/>
            <a:ext cx="521970" cy="521970"/>
          </a:xfrm>
          <a:prstGeom prst="rect">
            <a:avLst/>
          </a:prstGeom>
          <a:ln w="5270">
            <a:solidFill>
              <a:srgbClr val="231F20"/>
            </a:solidFill>
          </a:ln>
        </p:spPr>
        <p:txBody>
          <a:bodyPr vert="horz" wrap="square" lIns="0" tIns="59690" rIns="0" bIns="0" rtlCol="0">
            <a:spAutoFit/>
          </a:bodyPr>
          <a:lstStyle/>
          <a:p>
            <a:pPr marL="42545" marR="34925" algn="ctr">
              <a:lnSpc>
                <a:spcPct val="100000"/>
              </a:lnSpc>
              <a:spcBef>
                <a:spcPts val="470"/>
              </a:spcBef>
            </a:pPr>
            <a:r>
              <a:rPr sz="650" spc="5" dirty="0">
                <a:solidFill>
                  <a:srgbClr val="231F20"/>
                </a:solidFill>
                <a:latin typeface="Arial"/>
                <a:cs typeface="Arial"/>
              </a:rPr>
              <a:t>Component  of</a:t>
            </a:r>
            <a:endParaRPr sz="650">
              <a:latin typeface="Arial"/>
              <a:cs typeface="Arial"/>
            </a:endParaRPr>
          </a:p>
          <a:p>
            <a:pPr marL="59055" marR="51435" algn="ctr">
              <a:lnSpc>
                <a:spcPct val="100000"/>
              </a:lnSpc>
              <a:spcBef>
                <a:spcPts val="15"/>
              </a:spcBef>
            </a:pPr>
            <a:r>
              <a:rPr sz="650" spc="5" dirty="0">
                <a:solidFill>
                  <a:srgbClr val="231F20"/>
                </a:solidFill>
                <a:latin typeface="Arial"/>
                <a:cs typeface="Arial"/>
              </a:rPr>
              <a:t>parallel </a:t>
            </a:r>
            <a:r>
              <a:rPr sz="650" spc="10" dirty="0">
                <a:solidFill>
                  <a:srgbClr val="231F20"/>
                </a:solidFill>
                <a:latin typeface="Arial"/>
                <a:cs typeface="Arial"/>
              </a:rPr>
              <a:t> </a:t>
            </a:r>
            <a:r>
              <a:rPr sz="650" spc="5" dirty="0">
                <a:solidFill>
                  <a:srgbClr val="231F20"/>
                </a:solidFill>
                <a:latin typeface="Arial"/>
                <a:cs typeface="Arial"/>
              </a:rPr>
              <a:t>application</a:t>
            </a:r>
            <a:endParaRPr sz="650">
              <a:latin typeface="Arial"/>
              <a:cs typeface="Arial"/>
            </a:endParaRPr>
          </a:p>
        </p:txBody>
      </p:sp>
      <p:sp>
        <p:nvSpPr>
          <p:cNvPr id="24" name="object 24"/>
          <p:cNvSpPr txBox="1"/>
          <p:nvPr/>
        </p:nvSpPr>
        <p:spPr>
          <a:xfrm>
            <a:off x="2411587" y="1740071"/>
            <a:ext cx="521970" cy="521970"/>
          </a:xfrm>
          <a:prstGeom prst="rect">
            <a:avLst/>
          </a:prstGeom>
          <a:ln w="5270">
            <a:solidFill>
              <a:srgbClr val="231F20"/>
            </a:solidFill>
          </a:ln>
        </p:spPr>
        <p:txBody>
          <a:bodyPr vert="horz" wrap="square" lIns="0" tIns="59690" rIns="0" bIns="0" rtlCol="0">
            <a:spAutoFit/>
          </a:bodyPr>
          <a:lstStyle/>
          <a:p>
            <a:pPr marL="42545" marR="34925" algn="ctr">
              <a:lnSpc>
                <a:spcPct val="100000"/>
              </a:lnSpc>
              <a:spcBef>
                <a:spcPts val="470"/>
              </a:spcBef>
            </a:pPr>
            <a:r>
              <a:rPr sz="650" spc="5" dirty="0">
                <a:solidFill>
                  <a:srgbClr val="231F20"/>
                </a:solidFill>
                <a:latin typeface="Arial"/>
                <a:cs typeface="Arial"/>
              </a:rPr>
              <a:t>Component  of</a:t>
            </a:r>
            <a:endParaRPr sz="650">
              <a:latin typeface="Arial"/>
              <a:cs typeface="Arial"/>
            </a:endParaRPr>
          </a:p>
          <a:p>
            <a:pPr marL="59055" marR="51435" algn="ctr">
              <a:lnSpc>
                <a:spcPct val="100000"/>
              </a:lnSpc>
              <a:spcBef>
                <a:spcPts val="15"/>
              </a:spcBef>
            </a:pPr>
            <a:r>
              <a:rPr sz="650" spc="5" dirty="0">
                <a:solidFill>
                  <a:srgbClr val="231F20"/>
                </a:solidFill>
                <a:latin typeface="Arial"/>
                <a:cs typeface="Arial"/>
              </a:rPr>
              <a:t>parallel </a:t>
            </a:r>
            <a:r>
              <a:rPr sz="650" spc="10" dirty="0">
                <a:solidFill>
                  <a:srgbClr val="231F20"/>
                </a:solidFill>
                <a:latin typeface="Arial"/>
                <a:cs typeface="Arial"/>
              </a:rPr>
              <a:t> </a:t>
            </a:r>
            <a:r>
              <a:rPr sz="650" spc="5" dirty="0">
                <a:solidFill>
                  <a:srgbClr val="231F20"/>
                </a:solidFill>
                <a:latin typeface="Arial"/>
                <a:cs typeface="Arial"/>
              </a:rPr>
              <a:t>application</a:t>
            </a:r>
            <a:endParaRPr sz="650">
              <a:latin typeface="Arial"/>
              <a:cs typeface="Arial"/>
            </a:endParaRPr>
          </a:p>
        </p:txBody>
      </p:sp>
      <p:sp>
        <p:nvSpPr>
          <p:cNvPr id="25" name="object 25"/>
          <p:cNvSpPr txBox="1"/>
          <p:nvPr/>
        </p:nvSpPr>
        <p:spPr>
          <a:xfrm>
            <a:off x="3550015" y="1740071"/>
            <a:ext cx="521970" cy="521970"/>
          </a:xfrm>
          <a:prstGeom prst="rect">
            <a:avLst/>
          </a:prstGeom>
          <a:ln w="5270">
            <a:solidFill>
              <a:srgbClr val="231F20"/>
            </a:solidFill>
          </a:ln>
        </p:spPr>
        <p:txBody>
          <a:bodyPr vert="horz" wrap="square" lIns="0" tIns="59690" rIns="0" bIns="0" rtlCol="0">
            <a:spAutoFit/>
          </a:bodyPr>
          <a:lstStyle/>
          <a:p>
            <a:pPr marL="42545" marR="34925" algn="ctr">
              <a:lnSpc>
                <a:spcPct val="100000"/>
              </a:lnSpc>
              <a:spcBef>
                <a:spcPts val="470"/>
              </a:spcBef>
            </a:pPr>
            <a:r>
              <a:rPr sz="650" spc="5" dirty="0">
                <a:solidFill>
                  <a:srgbClr val="231F20"/>
                </a:solidFill>
                <a:latin typeface="Arial"/>
                <a:cs typeface="Arial"/>
              </a:rPr>
              <a:t>Component  of</a:t>
            </a:r>
            <a:endParaRPr sz="650">
              <a:latin typeface="Arial"/>
              <a:cs typeface="Arial"/>
            </a:endParaRPr>
          </a:p>
          <a:p>
            <a:pPr marL="59055" marR="51435" algn="ctr">
              <a:lnSpc>
                <a:spcPct val="100000"/>
              </a:lnSpc>
              <a:spcBef>
                <a:spcPts val="15"/>
              </a:spcBef>
            </a:pPr>
            <a:r>
              <a:rPr sz="650" spc="5" dirty="0">
                <a:solidFill>
                  <a:srgbClr val="231F20"/>
                </a:solidFill>
                <a:latin typeface="Arial"/>
                <a:cs typeface="Arial"/>
              </a:rPr>
              <a:t>parallel </a:t>
            </a:r>
            <a:r>
              <a:rPr sz="650" spc="10" dirty="0">
                <a:solidFill>
                  <a:srgbClr val="231F20"/>
                </a:solidFill>
                <a:latin typeface="Arial"/>
                <a:cs typeface="Arial"/>
              </a:rPr>
              <a:t> </a:t>
            </a:r>
            <a:r>
              <a:rPr sz="650" spc="5" dirty="0">
                <a:solidFill>
                  <a:srgbClr val="231F20"/>
                </a:solidFill>
                <a:latin typeface="Arial"/>
                <a:cs typeface="Arial"/>
              </a:rPr>
              <a:t>application</a:t>
            </a:r>
            <a:endParaRPr sz="650">
              <a:latin typeface="Arial"/>
              <a:cs typeface="Arial"/>
            </a:endParaRPr>
          </a:p>
        </p:txBody>
      </p:sp>
      <p:sp>
        <p:nvSpPr>
          <p:cNvPr id="26" name="object 26"/>
          <p:cNvSpPr/>
          <p:nvPr/>
        </p:nvSpPr>
        <p:spPr>
          <a:xfrm>
            <a:off x="789949" y="1740071"/>
            <a:ext cx="626110" cy="332105"/>
          </a:xfrm>
          <a:custGeom>
            <a:avLst/>
            <a:gdLst/>
            <a:ahLst/>
            <a:cxnLst/>
            <a:rect l="l" t="t" r="r" b="b"/>
            <a:pathLst>
              <a:path w="626110" h="332105">
                <a:moveTo>
                  <a:pt x="0" y="332041"/>
                </a:moveTo>
                <a:lnTo>
                  <a:pt x="625513" y="332041"/>
                </a:lnTo>
                <a:lnTo>
                  <a:pt x="625513" y="0"/>
                </a:lnTo>
                <a:lnTo>
                  <a:pt x="0" y="0"/>
                </a:lnTo>
                <a:lnTo>
                  <a:pt x="0" y="332041"/>
                </a:lnTo>
                <a:close/>
              </a:path>
            </a:pathLst>
          </a:custGeom>
          <a:ln w="5270">
            <a:solidFill>
              <a:srgbClr val="231F20"/>
            </a:solidFill>
          </a:ln>
        </p:spPr>
        <p:txBody>
          <a:bodyPr wrap="square" lIns="0" tIns="0" rIns="0" bIns="0" rtlCol="0"/>
          <a:lstStyle/>
          <a:p>
            <a:endParaRPr/>
          </a:p>
        </p:txBody>
      </p:sp>
      <p:sp>
        <p:nvSpPr>
          <p:cNvPr id="27" name="object 27"/>
          <p:cNvSpPr txBox="1"/>
          <p:nvPr/>
        </p:nvSpPr>
        <p:spPr>
          <a:xfrm>
            <a:off x="765343" y="2125387"/>
            <a:ext cx="676910" cy="127000"/>
          </a:xfrm>
          <a:prstGeom prst="rect">
            <a:avLst/>
          </a:prstGeom>
        </p:spPr>
        <p:txBody>
          <a:bodyPr vert="horz" wrap="square" lIns="0" tIns="13970" rIns="0" bIns="0" rtlCol="0">
            <a:spAutoFit/>
          </a:bodyPr>
          <a:lstStyle/>
          <a:p>
            <a:pPr marL="130175">
              <a:lnSpc>
                <a:spcPct val="100000"/>
              </a:lnSpc>
              <a:spcBef>
                <a:spcPts val="110"/>
              </a:spcBef>
            </a:pPr>
            <a:r>
              <a:rPr sz="650" spc="5" dirty="0">
                <a:solidFill>
                  <a:srgbClr val="231F20"/>
                </a:solidFill>
                <a:latin typeface="Arial"/>
                <a:cs typeface="Arial"/>
              </a:rPr>
              <a:t>Parallel</a:t>
            </a:r>
            <a:r>
              <a:rPr sz="650" spc="-45" dirty="0">
                <a:solidFill>
                  <a:srgbClr val="231F20"/>
                </a:solidFill>
                <a:latin typeface="Arial"/>
                <a:cs typeface="Arial"/>
              </a:rPr>
              <a:t> </a:t>
            </a:r>
            <a:r>
              <a:rPr sz="650" spc="5" dirty="0">
                <a:solidFill>
                  <a:srgbClr val="231F20"/>
                </a:solidFill>
                <a:latin typeface="Arial"/>
                <a:cs typeface="Arial"/>
              </a:rPr>
              <a:t>libs</a:t>
            </a:r>
            <a:endParaRPr sz="650">
              <a:latin typeface="Arial"/>
              <a:cs typeface="Arial"/>
            </a:endParaRPr>
          </a:p>
        </p:txBody>
      </p:sp>
      <p:sp>
        <p:nvSpPr>
          <p:cNvPr id="28" name="object 28"/>
          <p:cNvSpPr txBox="1"/>
          <p:nvPr/>
        </p:nvSpPr>
        <p:spPr>
          <a:xfrm>
            <a:off x="765343" y="1766299"/>
            <a:ext cx="676910" cy="280035"/>
          </a:xfrm>
          <a:prstGeom prst="rect">
            <a:avLst/>
          </a:prstGeom>
        </p:spPr>
        <p:txBody>
          <a:bodyPr vert="horz" wrap="square" lIns="0" tIns="12065" rIns="0" bIns="0" rtlCol="0">
            <a:spAutoFit/>
          </a:bodyPr>
          <a:lstStyle/>
          <a:p>
            <a:pPr marL="135890" marR="73660" indent="-33655">
              <a:lnSpc>
                <a:spcPct val="128400"/>
              </a:lnSpc>
              <a:spcBef>
                <a:spcPts val="95"/>
              </a:spcBef>
            </a:pPr>
            <a:r>
              <a:rPr sz="650" spc="5" dirty="0">
                <a:solidFill>
                  <a:srgbClr val="231F20"/>
                </a:solidFill>
                <a:latin typeface="Arial"/>
                <a:cs typeface="Arial"/>
              </a:rPr>
              <a:t>Management  application</a:t>
            </a:r>
            <a:endParaRPr sz="650">
              <a:latin typeface="Arial"/>
              <a:cs typeface="Arial"/>
            </a:endParaRPr>
          </a:p>
        </p:txBody>
      </p:sp>
      <p:grpSp>
        <p:nvGrpSpPr>
          <p:cNvPr id="29" name="object 29"/>
          <p:cNvGrpSpPr/>
          <p:nvPr/>
        </p:nvGrpSpPr>
        <p:grpSpPr>
          <a:xfrm>
            <a:off x="1713245" y="2045760"/>
            <a:ext cx="1965960" cy="785495"/>
            <a:chOff x="1713245" y="2045760"/>
            <a:chExt cx="1965960" cy="785495"/>
          </a:xfrm>
        </p:grpSpPr>
        <p:sp>
          <p:nvSpPr>
            <p:cNvPr id="30" name="object 30"/>
            <p:cNvSpPr/>
            <p:nvPr/>
          </p:nvSpPr>
          <p:spPr>
            <a:xfrm>
              <a:off x="3075670" y="2048396"/>
              <a:ext cx="47625" cy="47625"/>
            </a:xfrm>
            <a:custGeom>
              <a:avLst/>
              <a:gdLst/>
              <a:ahLst/>
              <a:cxnLst/>
              <a:rect l="l" t="t" r="r" b="b"/>
              <a:pathLst>
                <a:path w="47625" h="47625">
                  <a:moveTo>
                    <a:pt x="23717" y="0"/>
                  </a:moveTo>
                  <a:lnTo>
                    <a:pt x="14483" y="1863"/>
                  </a:lnTo>
                  <a:lnTo>
                    <a:pt x="6945" y="6946"/>
                  </a:lnTo>
                  <a:lnTo>
                    <a:pt x="1863" y="14485"/>
                  </a:lnTo>
                  <a:lnTo>
                    <a:pt x="0" y="23717"/>
                  </a:lnTo>
                  <a:lnTo>
                    <a:pt x="1863" y="32948"/>
                  </a:lnTo>
                  <a:lnTo>
                    <a:pt x="6945" y="40487"/>
                  </a:lnTo>
                  <a:lnTo>
                    <a:pt x="14483" y="45570"/>
                  </a:lnTo>
                  <a:lnTo>
                    <a:pt x="23717" y="47434"/>
                  </a:lnTo>
                  <a:lnTo>
                    <a:pt x="32950" y="45570"/>
                  </a:lnTo>
                  <a:lnTo>
                    <a:pt x="40489" y="40487"/>
                  </a:lnTo>
                  <a:lnTo>
                    <a:pt x="45571" y="32948"/>
                  </a:lnTo>
                  <a:lnTo>
                    <a:pt x="47434" y="23717"/>
                  </a:lnTo>
                  <a:lnTo>
                    <a:pt x="45571" y="14485"/>
                  </a:lnTo>
                  <a:lnTo>
                    <a:pt x="40489" y="6946"/>
                  </a:lnTo>
                  <a:lnTo>
                    <a:pt x="32950" y="1863"/>
                  </a:lnTo>
                  <a:lnTo>
                    <a:pt x="23717" y="0"/>
                  </a:lnTo>
                  <a:close/>
                </a:path>
              </a:pathLst>
            </a:custGeom>
            <a:solidFill>
              <a:srgbClr val="231F20"/>
            </a:solidFill>
          </p:spPr>
          <p:txBody>
            <a:bodyPr wrap="square" lIns="0" tIns="0" rIns="0" bIns="0" rtlCol="0"/>
            <a:lstStyle/>
            <a:p>
              <a:endParaRPr/>
            </a:p>
          </p:txBody>
        </p:sp>
        <p:sp>
          <p:nvSpPr>
            <p:cNvPr id="31" name="object 31"/>
            <p:cNvSpPr/>
            <p:nvPr/>
          </p:nvSpPr>
          <p:spPr>
            <a:xfrm>
              <a:off x="3075670" y="2048396"/>
              <a:ext cx="47625" cy="47625"/>
            </a:xfrm>
            <a:custGeom>
              <a:avLst/>
              <a:gdLst/>
              <a:ahLst/>
              <a:cxnLst/>
              <a:rect l="l" t="t" r="r" b="b"/>
              <a:pathLst>
                <a:path w="47625" h="47625">
                  <a:moveTo>
                    <a:pt x="23717" y="47434"/>
                  </a:moveTo>
                  <a:lnTo>
                    <a:pt x="32950" y="45570"/>
                  </a:lnTo>
                  <a:lnTo>
                    <a:pt x="40489" y="40487"/>
                  </a:lnTo>
                  <a:lnTo>
                    <a:pt x="45571" y="32948"/>
                  </a:lnTo>
                  <a:lnTo>
                    <a:pt x="47434" y="23717"/>
                  </a:lnTo>
                  <a:lnTo>
                    <a:pt x="45571" y="14485"/>
                  </a:lnTo>
                  <a:lnTo>
                    <a:pt x="40489" y="6946"/>
                  </a:lnTo>
                  <a:lnTo>
                    <a:pt x="32950" y="1863"/>
                  </a:lnTo>
                  <a:lnTo>
                    <a:pt x="23717" y="0"/>
                  </a:lnTo>
                  <a:lnTo>
                    <a:pt x="14483" y="1863"/>
                  </a:lnTo>
                  <a:lnTo>
                    <a:pt x="6945" y="6946"/>
                  </a:lnTo>
                  <a:lnTo>
                    <a:pt x="1863" y="14485"/>
                  </a:lnTo>
                  <a:lnTo>
                    <a:pt x="0" y="23717"/>
                  </a:lnTo>
                  <a:lnTo>
                    <a:pt x="1863" y="32948"/>
                  </a:lnTo>
                  <a:lnTo>
                    <a:pt x="6945" y="40487"/>
                  </a:lnTo>
                  <a:lnTo>
                    <a:pt x="14483" y="45570"/>
                  </a:lnTo>
                  <a:lnTo>
                    <a:pt x="23717" y="47434"/>
                  </a:lnTo>
                  <a:close/>
                </a:path>
              </a:pathLst>
            </a:custGeom>
            <a:ln w="5270">
              <a:solidFill>
                <a:srgbClr val="231F20"/>
              </a:solidFill>
            </a:ln>
          </p:spPr>
          <p:txBody>
            <a:bodyPr wrap="square" lIns="0" tIns="0" rIns="0" bIns="0" rtlCol="0"/>
            <a:lstStyle/>
            <a:p>
              <a:endParaRPr/>
            </a:p>
          </p:txBody>
        </p:sp>
        <p:sp>
          <p:nvSpPr>
            <p:cNvPr id="32" name="object 32"/>
            <p:cNvSpPr/>
            <p:nvPr/>
          </p:nvSpPr>
          <p:spPr>
            <a:xfrm>
              <a:off x="3170539" y="2048396"/>
              <a:ext cx="47625" cy="47625"/>
            </a:xfrm>
            <a:custGeom>
              <a:avLst/>
              <a:gdLst/>
              <a:ahLst/>
              <a:cxnLst/>
              <a:rect l="l" t="t" r="r" b="b"/>
              <a:pathLst>
                <a:path w="47625" h="47625">
                  <a:moveTo>
                    <a:pt x="23717" y="0"/>
                  </a:moveTo>
                  <a:lnTo>
                    <a:pt x="14483" y="1863"/>
                  </a:lnTo>
                  <a:lnTo>
                    <a:pt x="6945" y="6946"/>
                  </a:lnTo>
                  <a:lnTo>
                    <a:pt x="1863" y="14485"/>
                  </a:lnTo>
                  <a:lnTo>
                    <a:pt x="0" y="23717"/>
                  </a:lnTo>
                  <a:lnTo>
                    <a:pt x="1863" y="32948"/>
                  </a:lnTo>
                  <a:lnTo>
                    <a:pt x="6945" y="40487"/>
                  </a:lnTo>
                  <a:lnTo>
                    <a:pt x="14483" y="45570"/>
                  </a:lnTo>
                  <a:lnTo>
                    <a:pt x="23717" y="47434"/>
                  </a:lnTo>
                  <a:lnTo>
                    <a:pt x="32950" y="45570"/>
                  </a:lnTo>
                  <a:lnTo>
                    <a:pt x="40489" y="40487"/>
                  </a:lnTo>
                  <a:lnTo>
                    <a:pt x="45571" y="32948"/>
                  </a:lnTo>
                  <a:lnTo>
                    <a:pt x="47434" y="23717"/>
                  </a:lnTo>
                  <a:lnTo>
                    <a:pt x="45571" y="14485"/>
                  </a:lnTo>
                  <a:lnTo>
                    <a:pt x="40489" y="6946"/>
                  </a:lnTo>
                  <a:lnTo>
                    <a:pt x="32950" y="1863"/>
                  </a:lnTo>
                  <a:lnTo>
                    <a:pt x="23717" y="0"/>
                  </a:lnTo>
                  <a:close/>
                </a:path>
              </a:pathLst>
            </a:custGeom>
            <a:solidFill>
              <a:srgbClr val="231F20"/>
            </a:solidFill>
          </p:spPr>
          <p:txBody>
            <a:bodyPr wrap="square" lIns="0" tIns="0" rIns="0" bIns="0" rtlCol="0"/>
            <a:lstStyle/>
            <a:p>
              <a:endParaRPr/>
            </a:p>
          </p:txBody>
        </p:sp>
        <p:sp>
          <p:nvSpPr>
            <p:cNvPr id="33" name="object 33"/>
            <p:cNvSpPr/>
            <p:nvPr/>
          </p:nvSpPr>
          <p:spPr>
            <a:xfrm>
              <a:off x="3170539" y="2048396"/>
              <a:ext cx="47625" cy="47625"/>
            </a:xfrm>
            <a:custGeom>
              <a:avLst/>
              <a:gdLst/>
              <a:ahLst/>
              <a:cxnLst/>
              <a:rect l="l" t="t" r="r" b="b"/>
              <a:pathLst>
                <a:path w="47625" h="47625">
                  <a:moveTo>
                    <a:pt x="23717" y="47434"/>
                  </a:moveTo>
                  <a:lnTo>
                    <a:pt x="32950" y="45570"/>
                  </a:lnTo>
                  <a:lnTo>
                    <a:pt x="40489" y="40487"/>
                  </a:lnTo>
                  <a:lnTo>
                    <a:pt x="45571" y="32948"/>
                  </a:lnTo>
                  <a:lnTo>
                    <a:pt x="47434" y="23717"/>
                  </a:lnTo>
                  <a:lnTo>
                    <a:pt x="45571" y="14485"/>
                  </a:lnTo>
                  <a:lnTo>
                    <a:pt x="40489" y="6946"/>
                  </a:lnTo>
                  <a:lnTo>
                    <a:pt x="32950" y="1863"/>
                  </a:lnTo>
                  <a:lnTo>
                    <a:pt x="23717" y="0"/>
                  </a:lnTo>
                  <a:lnTo>
                    <a:pt x="14483" y="1863"/>
                  </a:lnTo>
                  <a:lnTo>
                    <a:pt x="6945" y="6946"/>
                  </a:lnTo>
                  <a:lnTo>
                    <a:pt x="1863" y="14485"/>
                  </a:lnTo>
                  <a:lnTo>
                    <a:pt x="0" y="23717"/>
                  </a:lnTo>
                  <a:lnTo>
                    <a:pt x="1863" y="32948"/>
                  </a:lnTo>
                  <a:lnTo>
                    <a:pt x="6945" y="40487"/>
                  </a:lnTo>
                  <a:lnTo>
                    <a:pt x="14483" y="45570"/>
                  </a:lnTo>
                  <a:lnTo>
                    <a:pt x="23717" y="47434"/>
                  </a:lnTo>
                  <a:close/>
                </a:path>
              </a:pathLst>
            </a:custGeom>
            <a:ln w="5270">
              <a:solidFill>
                <a:srgbClr val="231F20"/>
              </a:solidFill>
            </a:ln>
          </p:spPr>
          <p:txBody>
            <a:bodyPr wrap="square" lIns="0" tIns="0" rIns="0" bIns="0" rtlCol="0"/>
            <a:lstStyle/>
            <a:p>
              <a:endParaRPr/>
            </a:p>
          </p:txBody>
        </p:sp>
        <p:sp>
          <p:nvSpPr>
            <p:cNvPr id="34" name="object 34"/>
            <p:cNvSpPr/>
            <p:nvPr/>
          </p:nvSpPr>
          <p:spPr>
            <a:xfrm>
              <a:off x="3265408" y="2048396"/>
              <a:ext cx="47625" cy="47625"/>
            </a:xfrm>
            <a:custGeom>
              <a:avLst/>
              <a:gdLst/>
              <a:ahLst/>
              <a:cxnLst/>
              <a:rect l="l" t="t" r="r" b="b"/>
              <a:pathLst>
                <a:path w="47625" h="47625">
                  <a:moveTo>
                    <a:pt x="23717" y="0"/>
                  </a:moveTo>
                  <a:lnTo>
                    <a:pt x="14483" y="1863"/>
                  </a:lnTo>
                  <a:lnTo>
                    <a:pt x="6945" y="6946"/>
                  </a:lnTo>
                  <a:lnTo>
                    <a:pt x="1863" y="14485"/>
                  </a:lnTo>
                  <a:lnTo>
                    <a:pt x="0" y="23717"/>
                  </a:lnTo>
                  <a:lnTo>
                    <a:pt x="1863" y="32948"/>
                  </a:lnTo>
                  <a:lnTo>
                    <a:pt x="6945" y="40487"/>
                  </a:lnTo>
                  <a:lnTo>
                    <a:pt x="14483" y="45570"/>
                  </a:lnTo>
                  <a:lnTo>
                    <a:pt x="23717" y="47434"/>
                  </a:lnTo>
                  <a:lnTo>
                    <a:pt x="32950" y="45570"/>
                  </a:lnTo>
                  <a:lnTo>
                    <a:pt x="40489" y="40487"/>
                  </a:lnTo>
                  <a:lnTo>
                    <a:pt x="45571" y="32948"/>
                  </a:lnTo>
                  <a:lnTo>
                    <a:pt x="47434" y="23717"/>
                  </a:lnTo>
                  <a:lnTo>
                    <a:pt x="45571" y="14485"/>
                  </a:lnTo>
                  <a:lnTo>
                    <a:pt x="40489" y="6946"/>
                  </a:lnTo>
                  <a:lnTo>
                    <a:pt x="32950" y="1863"/>
                  </a:lnTo>
                  <a:lnTo>
                    <a:pt x="23717" y="0"/>
                  </a:lnTo>
                  <a:close/>
                </a:path>
              </a:pathLst>
            </a:custGeom>
            <a:solidFill>
              <a:srgbClr val="231F20"/>
            </a:solidFill>
          </p:spPr>
          <p:txBody>
            <a:bodyPr wrap="square" lIns="0" tIns="0" rIns="0" bIns="0" rtlCol="0"/>
            <a:lstStyle/>
            <a:p>
              <a:endParaRPr/>
            </a:p>
          </p:txBody>
        </p:sp>
        <p:sp>
          <p:nvSpPr>
            <p:cNvPr id="35" name="object 35"/>
            <p:cNvSpPr/>
            <p:nvPr/>
          </p:nvSpPr>
          <p:spPr>
            <a:xfrm>
              <a:off x="3265408" y="2048396"/>
              <a:ext cx="47625" cy="47625"/>
            </a:xfrm>
            <a:custGeom>
              <a:avLst/>
              <a:gdLst/>
              <a:ahLst/>
              <a:cxnLst/>
              <a:rect l="l" t="t" r="r" b="b"/>
              <a:pathLst>
                <a:path w="47625" h="47625">
                  <a:moveTo>
                    <a:pt x="23717" y="47434"/>
                  </a:moveTo>
                  <a:lnTo>
                    <a:pt x="32950" y="45570"/>
                  </a:lnTo>
                  <a:lnTo>
                    <a:pt x="40489" y="40487"/>
                  </a:lnTo>
                  <a:lnTo>
                    <a:pt x="45571" y="32948"/>
                  </a:lnTo>
                  <a:lnTo>
                    <a:pt x="47434" y="23717"/>
                  </a:lnTo>
                  <a:lnTo>
                    <a:pt x="45571" y="14485"/>
                  </a:lnTo>
                  <a:lnTo>
                    <a:pt x="40489" y="6946"/>
                  </a:lnTo>
                  <a:lnTo>
                    <a:pt x="32950" y="1863"/>
                  </a:lnTo>
                  <a:lnTo>
                    <a:pt x="23717" y="0"/>
                  </a:lnTo>
                  <a:lnTo>
                    <a:pt x="14483" y="1863"/>
                  </a:lnTo>
                  <a:lnTo>
                    <a:pt x="6945" y="6946"/>
                  </a:lnTo>
                  <a:lnTo>
                    <a:pt x="1863" y="14485"/>
                  </a:lnTo>
                  <a:lnTo>
                    <a:pt x="0" y="23717"/>
                  </a:lnTo>
                  <a:lnTo>
                    <a:pt x="1863" y="32948"/>
                  </a:lnTo>
                  <a:lnTo>
                    <a:pt x="6945" y="40487"/>
                  </a:lnTo>
                  <a:lnTo>
                    <a:pt x="14483" y="45570"/>
                  </a:lnTo>
                  <a:lnTo>
                    <a:pt x="23717" y="47434"/>
                  </a:lnTo>
                  <a:close/>
                </a:path>
              </a:pathLst>
            </a:custGeom>
            <a:ln w="5270">
              <a:solidFill>
                <a:srgbClr val="231F20"/>
              </a:solidFill>
            </a:ln>
          </p:spPr>
          <p:txBody>
            <a:bodyPr wrap="square" lIns="0" tIns="0" rIns="0" bIns="0" rtlCol="0"/>
            <a:lstStyle/>
            <a:p>
              <a:endParaRPr/>
            </a:p>
          </p:txBody>
        </p:sp>
        <p:sp>
          <p:nvSpPr>
            <p:cNvPr id="36" name="object 36"/>
            <p:cNvSpPr/>
            <p:nvPr/>
          </p:nvSpPr>
          <p:spPr>
            <a:xfrm>
              <a:off x="3360277" y="2048396"/>
              <a:ext cx="47625" cy="47625"/>
            </a:xfrm>
            <a:custGeom>
              <a:avLst/>
              <a:gdLst/>
              <a:ahLst/>
              <a:cxnLst/>
              <a:rect l="l" t="t" r="r" b="b"/>
              <a:pathLst>
                <a:path w="47625" h="47625">
                  <a:moveTo>
                    <a:pt x="23717" y="0"/>
                  </a:moveTo>
                  <a:lnTo>
                    <a:pt x="14483" y="1863"/>
                  </a:lnTo>
                  <a:lnTo>
                    <a:pt x="6945" y="6946"/>
                  </a:lnTo>
                  <a:lnTo>
                    <a:pt x="1863" y="14485"/>
                  </a:lnTo>
                  <a:lnTo>
                    <a:pt x="0" y="23717"/>
                  </a:lnTo>
                  <a:lnTo>
                    <a:pt x="1863" y="32948"/>
                  </a:lnTo>
                  <a:lnTo>
                    <a:pt x="6945" y="40487"/>
                  </a:lnTo>
                  <a:lnTo>
                    <a:pt x="14483" y="45570"/>
                  </a:lnTo>
                  <a:lnTo>
                    <a:pt x="23717" y="47434"/>
                  </a:lnTo>
                  <a:lnTo>
                    <a:pt x="32950" y="45570"/>
                  </a:lnTo>
                  <a:lnTo>
                    <a:pt x="40489" y="40487"/>
                  </a:lnTo>
                  <a:lnTo>
                    <a:pt x="45571" y="32948"/>
                  </a:lnTo>
                  <a:lnTo>
                    <a:pt x="47434" y="23717"/>
                  </a:lnTo>
                  <a:lnTo>
                    <a:pt x="45571" y="14485"/>
                  </a:lnTo>
                  <a:lnTo>
                    <a:pt x="40489" y="6946"/>
                  </a:lnTo>
                  <a:lnTo>
                    <a:pt x="32950" y="1863"/>
                  </a:lnTo>
                  <a:lnTo>
                    <a:pt x="23717" y="0"/>
                  </a:lnTo>
                  <a:close/>
                </a:path>
              </a:pathLst>
            </a:custGeom>
            <a:solidFill>
              <a:srgbClr val="231F20"/>
            </a:solidFill>
          </p:spPr>
          <p:txBody>
            <a:bodyPr wrap="square" lIns="0" tIns="0" rIns="0" bIns="0" rtlCol="0"/>
            <a:lstStyle/>
            <a:p>
              <a:endParaRPr/>
            </a:p>
          </p:txBody>
        </p:sp>
        <p:sp>
          <p:nvSpPr>
            <p:cNvPr id="37" name="object 37"/>
            <p:cNvSpPr/>
            <p:nvPr/>
          </p:nvSpPr>
          <p:spPr>
            <a:xfrm>
              <a:off x="3360277" y="2048396"/>
              <a:ext cx="47625" cy="47625"/>
            </a:xfrm>
            <a:custGeom>
              <a:avLst/>
              <a:gdLst/>
              <a:ahLst/>
              <a:cxnLst/>
              <a:rect l="l" t="t" r="r" b="b"/>
              <a:pathLst>
                <a:path w="47625" h="47625">
                  <a:moveTo>
                    <a:pt x="23717" y="47434"/>
                  </a:moveTo>
                  <a:lnTo>
                    <a:pt x="32950" y="45570"/>
                  </a:lnTo>
                  <a:lnTo>
                    <a:pt x="40489" y="40487"/>
                  </a:lnTo>
                  <a:lnTo>
                    <a:pt x="45571" y="32948"/>
                  </a:lnTo>
                  <a:lnTo>
                    <a:pt x="47434" y="23717"/>
                  </a:lnTo>
                  <a:lnTo>
                    <a:pt x="45571" y="14485"/>
                  </a:lnTo>
                  <a:lnTo>
                    <a:pt x="40489" y="6946"/>
                  </a:lnTo>
                  <a:lnTo>
                    <a:pt x="32950" y="1863"/>
                  </a:lnTo>
                  <a:lnTo>
                    <a:pt x="23717" y="0"/>
                  </a:lnTo>
                  <a:lnTo>
                    <a:pt x="14483" y="1863"/>
                  </a:lnTo>
                  <a:lnTo>
                    <a:pt x="6945" y="6946"/>
                  </a:lnTo>
                  <a:lnTo>
                    <a:pt x="1863" y="14485"/>
                  </a:lnTo>
                  <a:lnTo>
                    <a:pt x="0" y="23717"/>
                  </a:lnTo>
                  <a:lnTo>
                    <a:pt x="1863" y="32948"/>
                  </a:lnTo>
                  <a:lnTo>
                    <a:pt x="6945" y="40487"/>
                  </a:lnTo>
                  <a:lnTo>
                    <a:pt x="14483" y="45570"/>
                  </a:lnTo>
                  <a:lnTo>
                    <a:pt x="23717" y="47434"/>
                  </a:lnTo>
                  <a:close/>
                </a:path>
              </a:pathLst>
            </a:custGeom>
            <a:ln w="5270">
              <a:solidFill>
                <a:srgbClr val="231F20"/>
              </a:solidFill>
            </a:ln>
          </p:spPr>
          <p:txBody>
            <a:bodyPr wrap="square" lIns="0" tIns="0" rIns="0" bIns="0" rtlCol="0"/>
            <a:lstStyle/>
            <a:p>
              <a:endParaRPr/>
            </a:p>
          </p:txBody>
        </p:sp>
        <p:pic>
          <p:nvPicPr>
            <p:cNvPr id="38" name="object 38"/>
            <p:cNvPicPr/>
            <p:nvPr/>
          </p:nvPicPr>
          <p:blipFill>
            <a:blip r:embed="rId6" cstate="print"/>
            <a:stretch>
              <a:fillRect/>
            </a:stretch>
          </p:blipFill>
          <p:spPr>
            <a:xfrm>
              <a:off x="2472197" y="2499023"/>
              <a:ext cx="68517" cy="332041"/>
            </a:xfrm>
            <a:prstGeom prst="rect">
              <a:avLst/>
            </a:prstGeom>
          </p:spPr>
        </p:pic>
        <p:pic>
          <p:nvPicPr>
            <p:cNvPr id="39" name="object 39"/>
            <p:cNvPicPr/>
            <p:nvPr/>
          </p:nvPicPr>
          <p:blipFill>
            <a:blip r:embed="rId6" cstate="print"/>
            <a:stretch>
              <a:fillRect/>
            </a:stretch>
          </p:blipFill>
          <p:spPr>
            <a:xfrm>
              <a:off x="1713245" y="2499023"/>
              <a:ext cx="68517" cy="332041"/>
            </a:xfrm>
            <a:prstGeom prst="rect">
              <a:avLst/>
            </a:prstGeom>
          </p:spPr>
        </p:pic>
        <p:pic>
          <p:nvPicPr>
            <p:cNvPr id="40" name="object 40"/>
            <p:cNvPicPr/>
            <p:nvPr/>
          </p:nvPicPr>
          <p:blipFill>
            <a:blip r:embed="rId7" cstate="print"/>
            <a:stretch>
              <a:fillRect/>
            </a:stretch>
          </p:blipFill>
          <p:spPr>
            <a:xfrm>
              <a:off x="3610625" y="2499023"/>
              <a:ext cx="68517" cy="332041"/>
            </a:xfrm>
            <a:prstGeom prst="rect">
              <a:avLst/>
            </a:prstGeom>
          </p:spPr>
        </p:pic>
      </p:grpSp>
      <p:sp>
        <p:nvSpPr>
          <p:cNvPr id="41" name="object 41"/>
          <p:cNvSpPr txBox="1"/>
          <p:nvPr/>
        </p:nvSpPr>
        <p:spPr>
          <a:xfrm>
            <a:off x="3020026" y="2828908"/>
            <a:ext cx="7753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High-speed</a:t>
            </a:r>
            <a:r>
              <a:rPr sz="650" spc="-45" dirty="0">
                <a:solidFill>
                  <a:srgbClr val="231F20"/>
                </a:solidFill>
                <a:latin typeface="Arial"/>
                <a:cs typeface="Arial"/>
              </a:rPr>
              <a:t> </a:t>
            </a:r>
            <a:r>
              <a:rPr sz="650" spc="5" dirty="0">
                <a:solidFill>
                  <a:srgbClr val="231F20"/>
                </a:solidFill>
                <a:latin typeface="Arial"/>
                <a:cs typeface="Arial"/>
              </a:rPr>
              <a:t>network</a:t>
            </a:r>
            <a:endParaRPr sz="650">
              <a:latin typeface="Arial"/>
              <a:cs typeface="Arial"/>
            </a:endParaRPr>
          </a:p>
        </p:txBody>
      </p:sp>
      <p:sp>
        <p:nvSpPr>
          <p:cNvPr id="42" name="object 42"/>
          <p:cNvSpPr txBox="1"/>
          <p:nvPr/>
        </p:nvSpPr>
        <p:spPr>
          <a:xfrm>
            <a:off x="471824" y="2639170"/>
            <a:ext cx="607060" cy="227329"/>
          </a:xfrm>
          <a:prstGeom prst="rect">
            <a:avLst/>
          </a:prstGeom>
        </p:spPr>
        <p:txBody>
          <a:bodyPr vert="horz" wrap="square" lIns="0" tIns="13970" rIns="0" bIns="0" rtlCol="0">
            <a:spAutoFit/>
          </a:bodyPr>
          <a:lstStyle/>
          <a:p>
            <a:pPr marL="155575" marR="5080" indent="-143510">
              <a:lnSpc>
                <a:spcPct val="100000"/>
              </a:lnSpc>
              <a:spcBef>
                <a:spcPts val="110"/>
              </a:spcBef>
            </a:pPr>
            <a:r>
              <a:rPr sz="650" spc="5" dirty="0">
                <a:solidFill>
                  <a:srgbClr val="231F20"/>
                </a:solidFill>
                <a:latin typeface="Arial"/>
                <a:cs typeface="Arial"/>
              </a:rPr>
              <a:t>Remote access  network</a:t>
            </a:r>
            <a:endParaRPr sz="650">
              <a:latin typeface="Arial"/>
              <a:cs typeface="Arial"/>
            </a:endParaRPr>
          </a:p>
        </p:txBody>
      </p:sp>
      <p:sp>
        <p:nvSpPr>
          <p:cNvPr id="43" name="object 43"/>
          <p:cNvSpPr txBox="1"/>
          <p:nvPr/>
        </p:nvSpPr>
        <p:spPr>
          <a:xfrm>
            <a:off x="850868" y="1521719"/>
            <a:ext cx="4946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Master node</a:t>
            </a:r>
            <a:endParaRPr sz="650">
              <a:latin typeface="Arial"/>
              <a:cs typeface="Arial"/>
            </a:endParaRPr>
          </a:p>
        </p:txBody>
      </p:sp>
      <p:sp>
        <p:nvSpPr>
          <p:cNvPr id="44" name="object 44"/>
          <p:cNvSpPr txBox="1"/>
          <p:nvPr/>
        </p:nvSpPr>
        <p:spPr>
          <a:xfrm>
            <a:off x="1624231" y="1524457"/>
            <a:ext cx="5791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Compute</a:t>
            </a:r>
            <a:r>
              <a:rPr sz="650" spc="-45"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45" name="object 45"/>
          <p:cNvSpPr txBox="1"/>
          <p:nvPr/>
        </p:nvSpPr>
        <p:spPr>
          <a:xfrm>
            <a:off x="2383184" y="1524457"/>
            <a:ext cx="5791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Compute</a:t>
            </a:r>
            <a:r>
              <a:rPr sz="650" spc="-45"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46" name="object 46"/>
          <p:cNvSpPr txBox="1"/>
          <p:nvPr/>
        </p:nvSpPr>
        <p:spPr>
          <a:xfrm>
            <a:off x="3521613" y="1524457"/>
            <a:ext cx="5791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Compute</a:t>
            </a:r>
            <a:r>
              <a:rPr sz="650" spc="-45"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47" name="object 47"/>
          <p:cNvSpPr txBox="1"/>
          <p:nvPr/>
        </p:nvSpPr>
        <p:spPr>
          <a:xfrm>
            <a:off x="66713" y="3327684"/>
            <a:ext cx="6375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8" action="ppaction://hlinksldjump"/>
              </a:rPr>
              <a:t>Cluster</a:t>
            </a:r>
            <a:r>
              <a:rPr sz="600" spc="-3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computing</a:t>
            </a:r>
            <a:endParaRPr sz="600">
              <a:latin typeface="Arial"/>
              <a:cs typeface="Arial"/>
            </a:endParaRPr>
          </a:p>
        </p:txBody>
      </p:sp>
      <p:sp>
        <p:nvSpPr>
          <p:cNvPr id="48" name="object 48"/>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541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G</a:t>
            </a:r>
            <a:r>
              <a:rPr sz="600"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id computing</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32</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High 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4" name="object 4"/>
          <p:cNvSpPr txBox="1"/>
          <p:nvPr/>
        </p:nvSpPr>
        <p:spPr>
          <a:xfrm>
            <a:off x="95300" y="188846"/>
            <a:ext cx="1263650"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Grid</a:t>
            </a:r>
            <a:r>
              <a:rPr sz="1400" spc="-55" dirty="0">
                <a:solidFill>
                  <a:srgbClr val="3333B2"/>
                </a:solidFill>
                <a:latin typeface="Arial"/>
                <a:cs typeface="Arial"/>
              </a:rPr>
              <a:t> </a:t>
            </a:r>
            <a:r>
              <a:rPr sz="1400" spc="15" dirty="0">
                <a:solidFill>
                  <a:srgbClr val="3333B2"/>
                </a:solidFill>
                <a:latin typeface="Arial"/>
                <a:cs typeface="Arial"/>
              </a:rPr>
              <a:t>computing</a:t>
            </a:r>
            <a:endParaRPr sz="1400" dirty="0">
              <a:latin typeface="Arial"/>
              <a:cs typeface="Arial"/>
            </a:endParaRPr>
          </a:p>
        </p:txBody>
      </p:sp>
      <p:sp>
        <p:nvSpPr>
          <p:cNvPr id="5" name="object 5"/>
          <p:cNvSpPr txBox="1"/>
          <p:nvPr/>
        </p:nvSpPr>
        <p:spPr>
          <a:xfrm>
            <a:off x="304495" y="887638"/>
            <a:ext cx="3973829" cy="1737360"/>
          </a:xfrm>
          <a:prstGeom prst="rect">
            <a:avLst/>
          </a:prstGeom>
        </p:spPr>
        <p:txBody>
          <a:bodyPr vert="horz" wrap="square" lIns="0" tIns="12065" rIns="0" bIns="0" rtlCol="0">
            <a:spAutoFit/>
          </a:bodyPr>
          <a:lstStyle/>
          <a:p>
            <a:pPr marL="50800">
              <a:lnSpc>
                <a:spcPct val="100000"/>
              </a:lnSpc>
              <a:spcBef>
                <a:spcPts val="95"/>
              </a:spcBef>
            </a:pPr>
            <a:r>
              <a:rPr sz="1200" spc="-5" dirty="0">
                <a:solidFill>
                  <a:srgbClr val="3333B2"/>
                </a:solidFill>
                <a:latin typeface="Arial"/>
                <a:cs typeface="Arial"/>
              </a:rPr>
              <a:t>The </a:t>
            </a:r>
            <a:r>
              <a:rPr sz="1200" spc="-15" dirty="0">
                <a:solidFill>
                  <a:srgbClr val="3333B2"/>
                </a:solidFill>
                <a:latin typeface="Arial"/>
                <a:cs typeface="Arial"/>
              </a:rPr>
              <a:t>next</a:t>
            </a:r>
            <a:r>
              <a:rPr sz="1200" spc="-5" dirty="0">
                <a:solidFill>
                  <a:srgbClr val="3333B2"/>
                </a:solidFill>
                <a:latin typeface="Arial"/>
                <a:cs typeface="Arial"/>
              </a:rPr>
              <a:t> step:</a:t>
            </a:r>
            <a:r>
              <a:rPr sz="1200" spc="80" dirty="0">
                <a:solidFill>
                  <a:srgbClr val="3333B2"/>
                </a:solidFill>
                <a:latin typeface="Arial"/>
                <a:cs typeface="Arial"/>
              </a:rPr>
              <a:t> </a:t>
            </a:r>
            <a:r>
              <a:rPr sz="1200" spc="-5" dirty="0">
                <a:solidFill>
                  <a:srgbClr val="3333B2"/>
                </a:solidFill>
                <a:latin typeface="Arial"/>
                <a:cs typeface="Arial"/>
              </a:rPr>
              <a:t>lots of</a:t>
            </a:r>
            <a:r>
              <a:rPr sz="1200" dirty="0">
                <a:solidFill>
                  <a:srgbClr val="3333B2"/>
                </a:solidFill>
                <a:latin typeface="Arial"/>
                <a:cs typeface="Arial"/>
              </a:rPr>
              <a:t> </a:t>
            </a:r>
            <a:r>
              <a:rPr sz="1200" spc="-5" dirty="0">
                <a:solidFill>
                  <a:srgbClr val="3333B2"/>
                </a:solidFill>
                <a:latin typeface="Arial"/>
                <a:cs typeface="Arial"/>
              </a:rPr>
              <a:t>nodes from </a:t>
            </a:r>
            <a:r>
              <a:rPr sz="1200" spc="-10" dirty="0">
                <a:solidFill>
                  <a:srgbClr val="3333B2"/>
                </a:solidFill>
                <a:latin typeface="Arial"/>
                <a:cs typeface="Arial"/>
              </a:rPr>
              <a:t>everywhere</a:t>
            </a:r>
            <a:endParaRPr sz="1200" dirty="0">
              <a:latin typeface="Arial"/>
              <a:cs typeface="Arial"/>
            </a:endParaRPr>
          </a:p>
          <a:p>
            <a:pPr marL="332105" indent="-168275">
              <a:lnSpc>
                <a:spcPct val="100000"/>
              </a:lnSpc>
              <a:spcBef>
                <a:spcPts val="775"/>
              </a:spcBef>
              <a:buClr>
                <a:srgbClr val="3333B2"/>
              </a:buClr>
              <a:buChar char="►"/>
              <a:tabLst>
                <a:tab pos="332740" algn="l"/>
              </a:tabLst>
            </a:pPr>
            <a:r>
              <a:rPr sz="1000" spc="-5" dirty="0">
                <a:latin typeface="Arial"/>
                <a:cs typeface="Arial"/>
              </a:rPr>
              <a:t>Heterogeneous</a:t>
            </a:r>
            <a:endParaRPr sz="1000" dirty="0">
              <a:latin typeface="Arial"/>
              <a:cs typeface="Arial"/>
            </a:endParaRPr>
          </a:p>
          <a:p>
            <a:pPr marL="332105" indent="-168275">
              <a:lnSpc>
                <a:spcPct val="100000"/>
              </a:lnSpc>
              <a:spcBef>
                <a:spcPts val="595"/>
              </a:spcBef>
              <a:buClr>
                <a:srgbClr val="3333B2"/>
              </a:buClr>
              <a:buChar char="►"/>
              <a:tabLst>
                <a:tab pos="332740" algn="l"/>
              </a:tabLst>
            </a:pPr>
            <a:r>
              <a:rPr sz="1000" spc="-5" dirty="0">
                <a:latin typeface="Arial"/>
                <a:cs typeface="Arial"/>
              </a:rPr>
              <a:t>Dispersed across</a:t>
            </a:r>
            <a:r>
              <a:rPr sz="1000" dirty="0">
                <a:latin typeface="Arial"/>
                <a:cs typeface="Arial"/>
              </a:rPr>
              <a:t> </a:t>
            </a:r>
            <a:r>
              <a:rPr sz="1000" spc="-15" dirty="0">
                <a:latin typeface="Arial"/>
                <a:cs typeface="Arial"/>
              </a:rPr>
              <a:t>several</a:t>
            </a:r>
            <a:r>
              <a:rPr sz="1000" dirty="0">
                <a:latin typeface="Arial"/>
                <a:cs typeface="Arial"/>
              </a:rPr>
              <a:t> </a:t>
            </a:r>
            <a:r>
              <a:rPr sz="1000" spc="-5" dirty="0">
                <a:latin typeface="Arial"/>
                <a:cs typeface="Arial"/>
              </a:rPr>
              <a:t>organizations</a:t>
            </a:r>
            <a:endParaRPr sz="1000" dirty="0">
              <a:latin typeface="Arial"/>
              <a:cs typeface="Arial"/>
            </a:endParaRPr>
          </a:p>
          <a:p>
            <a:pPr marL="332105" indent="-168275">
              <a:lnSpc>
                <a:spcPct val="100000"/>
              </a:lnSpc>
              <a:spcBef>
                <a:spcPts val="595"/>
              </a:spcBef>
              <a:buClr>
                <a:srgbClr val="3333B2"/>
              </a:buClr>
              <a:buChar char="►"/>
              <a:tabLst>
                <a:tab pos="332740" algn="l"/>
              </a:tabLst>
            </a:pPr>
            <a:r>
              <a:rPr sz="1000" spc="-5" dirty="0">
                <a:latin typeface="Arial"/>
                <a:cs typeface="Arial"/>
              </a:rPr>
              <a:t>Can</a:t>
            </a:r>
            <a:r>
              <a:rPr sz="1000" spc="-10" dirty="0">
                <a:latin typeface="Arial"/>
                <a:cs typeface="Arial"/>
              </a:rPr>
              <a:t> </a:t>
            </a:r>
            <a:r>
              <a:rPr sz="1000" spc="-5" dirty="0">
                <a:latin typeface="Arial"/>
                <a:cs typeface="Arial"/>
              </a:rPr>
              <a:t>easily span a</a:t>
            </a:r>
            <a:r>
              <a:rPr sz="1000" spc="-10" dirty="0">
                <a:latin typeface="Arial"/>
                <a:cs typeface="Arial"/>
              </a:rPr>
              <a:t> </a:t>
            </a:r>
            <a:r>
              <a:rPr sz="1000" spc="-5" dirty="0">
                <a:latin typeface="Arial"/>
                <a:cs typeface="Arial"/>
              </a:rPr>
              <a:t>wide-area network</a:t>
            </a:r>
            <a:endParaRPr sz="1000" dirty="0">
              <a:latin typeface="Arial"/>
              <a:cs typeface="Arial"/>
            </a:endParaRPr>
          </a:p>
          <a:p>
            <a:pPr>
              <a:lnSpc>
                <a:spcPct val="100000"/>
              </a:lnSpc>
              <a:spcBef>
                <a:spcPts val="5"/>
              </a:spcBef>
            </a:pPr>
            <a:endParaRPr sz="1300" dirty="0">
              <a:latin typeface="Arial"/>
              <a:cs typeface="Arial"/>
            </a:endParaRPr>
          </a:p>
          <a:p>
            <a:pPr marL="55244">
              <a:lnSpc>
                <a:spcPts val="1410"/>
              </a:lnSpc>
            </a:pPr>
            <a:r>
              <a:rPr sz="1200" spc="-5" dirty="0">
                <a:solidFill>
                  <a:srgbClr val="FA0000"/>
                </a:solidFill>
                <a:latin typeface="Arial"/>
                <a:cs typeface="Arial"/>
              </a:rPr>
              <a:t>Note</a:t>
            </a:r>
            <a:endParaRPr sz="1200" dirty="0">
              <a:latin typeface="Arial"/>
              <a:cs typeface="Arial"/>
            </a:endParaRPr>
          </a:p>
          <a:p>
            <a:pPr marL="55244" marR="17780" indent="-4445" algn="just">
              <a:lnSpc>
                <a:spcPts val="1200"/>
              </a:lnSpc>
              <a:spcBef>
                <a:spcPts val="15"/>
              </a:spcBef>
            </a:pPr>
            <a:r>
              <a:rPr sz="1000" spc="-70" dirty="0">
                <a:latin typeface="Arial"/>
                <a:cs typeface="Arial"/>
              </a:rPr>
              <a:t>To </a:t>
            </a:r>
            <a:r>
              <a:rPr sz="1000" spc="-15" dirty="0">
                <a:latin typeface="Arial"/>
                <a:cs typeface="Arial"/>
              </a:rPr>
              <a:t>allow </a:t>
            </a:r>
            <a:r>
              <a:rPr sz="1000" spc="-20" dirty="0">
                <a:latin typeface="Arial"/>
                <a:cs typeface="Arial"/>
              </a:rPr>
              <a:t>for </a:t>
            </a:r>
            <a:r>
              <a:rPr sz="1000" spc="-10" dirty="0">
                <a:latin typeface="Arial"/>
                <a:cs typeface="Arial"/>
              </a:rPr>
              <a:t>collaborations, grids generally use </a:t>
            </a:r>
            <a:r>
              <a:rPr sz="1000" dirty="0">
                <a:solidFill>
                  <a:srgbClr val="FA0000"/>
                </a:solidFill>
                <a:latin typeface="Arial"/>
                <a:cs typeface="Arial"/>
              </a:rPr>
              <a:t>virtual </a:t>
            </a:r>
            <a:r>
              <a:rPr sz="1000" spc="-10" dirty="0">
                <a:solidFill>
                  <a:srgbClr val="FA0000"/>
                </a:solidFill>
                <a:latin typeface="Arial"/>
                <a:cs typeface="Arial"/>
              </a:rPr>
              <a:t>organizations</a:t>
            </a:r>
            <a:r>
              <a:rPr sz="1000" spc="-10" dirty="0">
                <a:latin typeface="Arial"/>
                <a:cs typeface="Arial"/>
              </a:rPr>
              <a:t>. In </a:t>
            </a:r>
            <a:r>
              <a:rPr sz="1000" spc="-5" dirty="0">
                <a:latin typeface="Arial"/>
                <a:cs typeface="Arial"/>
              </a:rPr>
              <a:t> </a:t>
            </a:r>
            <a:r>
              <a:rPr sz="1000" spc="-10" dirty="0">
                <a:latin typeface="Arial"/>
                <a:cs typeface="Arial"/>
              </a:rPr>
              <a:t>essence, </a:t>
            </a:r>
            <a:r>
              <a:rPr sz="1000" spc="-5" dirty="0">
                <a:latin typeface="Arial"/>
                <a:cs typeface="Arial"/>
              </a:rPr>
              <a:t>this is a grouping of users (or </a:t>
            </a:r>
            <a:r>
              <a:rPr sz="1000" dirty="0">
                <a:latin typeface="Arial"/>
                <a:cs typeface="Arial"/>
              </a:rPr>
              <a:t>better: </a:t>
            </a:r>
            <a:r>
              <a:rPr sz="1000" spc="-5" dirty="0">
                <a:latin typeface="Arial"/>
                <a:cs typeface="Arial"/>
              </a:rPr>
              <a:t>their IDs) that will </a:t>
            </a:r>
            <a:r>
              <a:rPr sz="1000" spc="-10" dirty="0">
                <a:latin typeface="Arial"/>
                <a:cs typeface="Arial"/>
              </a:rPr>
              <a:t>allow </a:t>
            </a:r>
            <a:r>
              <a:rPr sz="1000" spc="-265" dirty="0">
                <a:latin typeface="Arial"/>
                <a:cs typeface="Arial"/>
              </a:rPr>
              <a:t> </a:t>
            </a:r>
            <a:r>
              <a:rPr sz="1000" spc="-15" dirty="0">
                <a:latin typeface="Arial"/>
                <a:cs typeface="Arial"/>
              </a:rPr>
              <a:t>for</a:t>
            </a:r>
            <a:r>
              <a:rPr sz="1000" spc="-5" dirty="0">
                <a:latin typeface="Arial"/>
                <a:cs typeface="Arial"/>
              </a:rPr>
              <a:t> authorization on resource allocation.</a:t>
            </a:r>
            <a:endParaRPr sz="1000" dirty="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116580" algn="l"/>
              </a:tabLst>
            </a:pPr>
            <a:r>
              <a:rPr sz="600" spc="-5" dirty="0">
                <a:solidFill>
                  <a:srgbClr val="3333B2"/>
                </a:solidFill>
                <a:latin typeface="Arial"/>
                <a:cs typeface="Arial"/>
                <a:hlinkClick r:id="rId3"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High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performance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computing</a:t>
            </a:r>
            <a:endParaRPr sz="600">
              <a:latin typeface="Arial"/>
              <a:cs typeface="Arial"/>
            </a:endParaRPr>
          </a:p>
        </p:txBody>
      </p:sp>
      <p:sp>
        <p:nvSpPr>
          <p:cNvPr id="3" name="object 3"/>
          <p:cNvSpPr txBox="1">
            <a:spLocks noGrp="1"/>
          </p:cNvSpPr>
          <p:nvPr>
            <p:ph type="title"/>
          </p:nvPr>
        </p:nvSpPr>
        <p:spPr>
          <a:xfrm>
            <a:off x="95300" y="188846"/>
            <a:ext cx="2501900" cy="244475"/>
          </a:xfrm>
          <a:prstGeom prst="rect">
            <a:avLst/>
          </a:prstGeom>
        </p:spPr>
        <p:txBody>
          <a:bodyPr vert="horz" wrap="square" lIns="0" tIns="17145" rIns="0" bIns="0" rtlCol="0">
            <a:spAutoFit/>
          </a:bodyPr>
          <a:lstStyle/>
          <a:p>
            <a:pPr marL="12700">
              <a:lnSpc>
                <a:spcPct val="100000"/>
              </a:lnSpc>
              <a:spcBef>
                <a:spcPts val="135"/>
              </a:spcBef>
            </a:pPr>
            <a:r>
              <a:rPr spc="15" dirty="0"/>
              <a:t>Architecture</a:t>
            </a:r>
            <a:r>
              <a:rPr spc="-15" dirty="0"/>
              <a:t> </a:t>
            </a:r>
            <a:r>
              <a:rPr spc="-5" dirty="0"/>
              <a:t>for</a:t>
            </a:r>
            <a:r>
              <a:rPr spc="-15" dirty="0"/>
              <a:t> </a:t>
            </a:r>
            <a:r>
              <a:rPr spc="15" dirty="0"/>
              <a:t>grid</a:t>
            </a:r>
            <a:r>
              <a:rPr spc="-10" dirty="0"/>
              <a:t> </a:t>
            </a:r>
            <a:r>
              <a:rPr spc="15" dirty="0"/>
              <a:t>computing</a:t>
            </a:r>
          </a:p>
        </p:txBody>
      </p:sp>
      <p:grpSp>
        <p:nvGrpSpPr>
          <p:cNvPr id="4" name="object 4"/>
          <p:cNvGrpSpPr/>
          <p:nvPr/>
        </p:nvGrpSpPr>
        <p:grpSpPr>
          <a:xfrm>
            <a:off x="1230162" y="1399932"/>
            <a:ext cx="64135" cy="179705"/>
            <a:chOff x="1230162" y="1399932"/>
            <a:chExt cx="64135" cy="179705"/>
          </a:xfrm>
        </p:grpSpPr>
        <p:sp>
          <p:nvSpPr>
            <p:cNvPr id="5" name="object 5"/>
            <p:cNvSpPr/>
            <p:nvPr/>
          </p:nvSpPr>
          <p:spPr>
            <a:xfrm>
              <a:off x="1262040" y="1399932"/>
              <a:ext cx="0" cy="142240"/>
            </a:xfrm>
            <a:custGeom>
              <a:avLst/>
              <a:gdLst/>
              <a:ahLst/>
              <a:cxnLst/>
              <a:rect l="l" t="t" r="r" b="b"/>
              <a:pathLst>
                <a:path h="142240">
                  <a:moveTo>
                    <a:pt x="0" y="0"/>
                  </a:moveTo>
                  <a:lnTo>
                    <a:pt x="0" y="141899"/>
                  </a:lnTo>
                </a:path>
              </a:pathLst>
            </a:custGeom>
            <a:ln w="5270">
              <a:solidFill>
                <a:srgbClr val="231F20"/>
              </a:solidFill>
            </a:ln>
          </p:spPr>
          <p:txBody>
            <a:bodyPr wrap="square" lIns="0" tIns="0" rIns="0" bIns="0" rtlCol="0"/>
            <a:lstStyle/>
            <a:p>
              <a:endParaRPr/>
            </a:p>
          </p:txBody>
        </p:sp>
        <p:sp>
          <p:nvSpPr>
            <p:cNvPr id="6" name="object 6"/>
            <p:cNvSpPr/>
            <p:nvPr/>
          </p:nvSpPr>
          <p:spPr>
            <a:xfrm>
              <a:off x="1230162" y="1504836"/>
              <a:ext cx="64135" cy="74930"/>
            </a:xfrm>
            <a:custGeom>
              <a:avLst/>
              <a:gdLst/>
              <a:ahLst/>
              <a:cxnLst/>
              <a:rect l="l" t="t" r="r" b="b"/>
              <a:pathLst>
                <a:path w="64134" h="74930">
                  <a:moveTo>
                    <a:pt x="63751" y="0"/>
                  </a:moveTo>
                  <a:lnTo>
                    <a:pt x="47813" y="5975"/>
                  </a:lnTo>
                  <a:lnTo>
                    <a:pt x="31875" y="7967"/>
                  </a:lnTo>
                  <a:lnTo>
                    <a:pt x="15937" y="5975"/>
                  </a:lnTo>
                  <a:lnTo>
                    <a:pt x="0" y="0"/>
                  </a:lnTo>
                  <a:lnTo>
                    <a:pt x="31878" y="74375"/>
                  </a:lnTo>
                  <a:lnTo>
                    <a:pt x="63751" y="0"/>
                  </a:lnTo>
                  <a:close/>
                </a:path>
              </a:pathLst>
            </a:custGeom>
            <a:solidFill>
              <a:srgbClr val="231F20"/>
            </a:solidFill>
          </p:spPr>
          <p:txBody>
            <a:bodyPr wrap="square" lIns="0" tIns="0" rIns="0" bIns="0" rtlCol="0"/>
            <a:lstStyle/>
            <a:p>
              <a:endParaRPr/>
            </a:p>
          </p:txBody>
        </p:sp>
      </p:grpSp>
      <p:grpSp>
        <p:nvGrpSpPr>
          <p:cNvPr id="7" name="object 7"/>
          <p:cNvGrpSpPr/>
          <p:nvPr/>
        </p:nvGrpSpPr>
        <p:grpSpPr>
          <a:xfrm>
            <a:off x="991123" y="1728614"/>
            <a:ext cx="64135" cy="179705"/>
            <a:chOff x="991123" y="1728614"/>
            <a:chExt cx="64135" cy="179705"/>
          </a:xfrm>
        </p:grpSpPr>
        <p:sp>
          <p:nvSpPr>
            <p:cNvPr id="8" name="object 8"/>
            <p:cNvSpPr/>
            <p:nvPr/>
          </p:nvSpPr>
          <p:spPr>
            <a:xfrm>
              <a:off x="1022998" y="1728614"/>
              <a:ext cx="0" cy="142240"/>
            </a:xfrm>
            <a:custGeom>
              <a:avLst/>
              <a:gdLst/>
              <a:ahLst/>
              <a:cxnLst/>
              <a:rect l="l" t="t" r="r" b="b"/>
              <a:pathLst>
                <a:path h="142239">
                  <a:moveTo>
                    <a:pt x="0" y="0"/>
                  </a:moveTo>
                  <a:lnTo>
                    <a:pt x="0" y="141899"/>
                  </a:lnTo>
                </a:path>
              </a:pathLst>
            </a:custGeom>
            <a:ln w="5270">
              <a:solidFill>
                <a:srgbClr val="231F20"/>
              </a:solidFill>
            </a:ln>
          </p:spPr>
          <p:txBody>
            <a:bodyPr wrap="square" lIns="0" tIns="0" rIns="0" bIns="0" rtlCol="0"/>
            <a:lstStyle/>
            <a:p>
              <a:endParaRPr/>
            </a:p>
          </p:txBody>
        </p:sp>
        <p:sp>
          <p:nvSpPr>
            <p:cNvPr id="9" name="object 9"/>
            <p:cNvSpPr/>
            <p:nvPr/>
          </p:nvSpPr>
          <p:spPr>
            <a:xfrm>
              <a:off x="991123" y="1833517"/>
              <a:ext cx="64135" cy="74930"/>
            </a:xfrm>
            <a:custGeom>
              <a:avLst/>
              <a:gdLst/>
              <a:ahLst/>
              <a:cxnLst/>
              <a:rect l="l" t="t" r="r" b="b"/>
              <a:pathLst>
                <a:path w="64134" h="74930">
                  <a:moveTo>
                    <a:pt x="63748" y="0"/>
                  </a:moveTo>
                  <a:lnTo>
                    <a:pt x="47810" y="5975"/>
                  </a:lnTo>
                  <a:lnTo>
                    <a:pt x="31873" y="7967"/>
                  </a:lnTo>
                  <a:lnTo>
                    <a:pt x="15936" y="5975"/>
                  </a:lnTo>
                  <a:lnTo>
                    <a:pt x="0" y="0"/>
                  </a:lnTo>
                  <a:lnTo>
                    <a:pt x="31874" y="74376"/>
                  </a:lnTo>
                  <a:lnTo>
                    <a:pt x="63748" y="0"/>
                  </a:lnTo>
                  <a:close/>
                </a:path>
              </a:pathLst>
            </a:custGeom>
            <a:solidFill>
              <a:srgbClr val="231F20"/>
            </a:solidFill>
          </p:spPr>
          <p:txBody>
            <a:bodyPr wrap="square" lIns="0" tIns="0" rIns="0" bIns="0" rtlCol="0"/>
            <a:lstStyle/>
            <a:p>
              <a:endParaRPr/>
            </a:p>
          </p:txBody>
        </p:sp>
      </p:grpSp>
      <p:grpSp>
        <p:nvGrpSpPr>
          <p:cNvPr id="10" name="object 10"/>
          <p:cNvGrpSpPr/>
          <p:nvPr/>
        </p:nvGrpSpPr>
        <p:grpSpPr>
          <a:xfrm>
            <a:off x="1341348" y="1725756"/>
            <a:ext cx="790575" cy="511175"/>
            <a:chOff x="1341348" y="1725756"/>
            <a:chExt cx="790575" cy="511175"/>
          </a:xfrm>
        </p:grpSpPr>
        <p:sp>
          <p:nvSpPr>
            <p:cNvPr id="11" name="object 11"/>
            <p:cNvSpPr/>
            <p:nvPr/>
          </p:nvSpPr>
          <p:spPr>
            <a:xfrm>
              <a:off x="1501088" y="1728614"/>
              <a:ext cx="0" cy="142240"/>
            </a:xfrm>
            <a:custGeom>
              <a:avLst/>
              <a:gdLst/>
              <a:ahLst/>
              <a:cxnLst/>
              <a:rect l="l" t="t" r="r" b="b"/>
              <a:pathLst>
                <a:path h="142239">
                  <a:moveTo>
                    <a:pt x="0" y="0"/>
                  </a:moveTo>
                  <a:lnTo>
                    <a:pt x="0" y="141899"/>
                  </a:lnTo>
                </a:path>
              </a:pathLst>
            </a:custGeom>
            <a:ln w="5270">
              <a:solidFill>
                <a:srgbClr val="231F20"/>
              </a:solidFill>
            </a:ln>
          </p:spPr>
          <p:txBody>
            <a:bodyPr wrap="square" lIns="0" tIns="0" rIns="0" bIns="0" rtlCol="0"/>
            <a:lstStyle/>
            <a:p>
              <a:endParaRPr/>
            </a:p>
          </p:txBody>
        </p:sp>
        <p:sp>
          <p:nvSpPr>
            <p:cNvPr id="12" name="object 12"/>
            <p:cNvSpPr/>
            <p:nvPr/>
          </p:nvSpPr>
          <p:spPr>
            <a:xfrm>
              <a:off x="1469213" y="1833517"/>
              <a:ext cx="64135" cy="74930"/>
            </a:xfrm>
            <a:custGeom>
              <a:avLst/>
              <a:gdLst/>
              <a:ahLst/>
              <a:cxnLst/>
              <a:rect l="l" t="t" r="r" b="b"/>
              <a:pathLst>
                <a:path w="64134" h="74930">
                  <a:moveTo>
                    <a:pt x="63751" y="0"/>
                  </a:moveTo>
                  <a:lnTo>
                    <a:pt x="47813" y="5975"/>
                  </a:lnTo>
                  <a:lnTo>
                    <a:pt x="31875" y="7967"/>
                  </a:lnTo>
                  <a:lnTo>
                    <a:pt x="15937" y="5975"/>
                  </a:lnTo>
                  <a:lnTo>
                    <a:pt x="0" y="0"/>
                  </a:lnTo>
                  <a:lnTo>
                    <a:pt x="31875" y="74376"/>
                  </a:lnTo>
                  <a:lnTo>
                    <a:pt x="63751" y="0"/>
                  </a:lnTo>
                  <a:close/>
                </a:path>
              </a:pathLst>
            </a:custGeom>
            <a:solidFill>
              <a:srgbClr val="231F20"/>
            </a:solidFill>
          </p:spPr>
          <p:txBody>
            <a:bodyPr wrap="square" lIns="0" tIns="0" rIns="0" bIns="0" rtlCol="0"/>
            <a:lstStyle/>
            <a:p>
              <a:endParaRPr/>
            </a:p>
          </p:txBody>
        </p:sp>
        <p:sp>
          <p:nvSpPr>
            <p:cNvPr id="13" name="object 13"/>
            <p:cNvSpPr/>
            <p:nvPr/>
          </p:nvSpPr>
          <p:spPr>
            <a:xfrm>
              <a:off x="1501088" y="2057291"/>
              <a:ext cx="0" cy="142240"/>
            </a:xfrm>
            <a:custGeom>
              <a:avLst/>
              <a:gdLst/>
              <a:ahLst/>
              <a:cxnLst/>
              <a:rect l="l" t="t" r="r" b="b"/>
              <a:pathLst>
                <a:path h="142239">
                  <a:moveTo>
                    <a:pt x="0" y="0"/>
                  </a:moveTo>
                  <a:lnTo>
                    <a:pt x="0" y="141900"/>
                  </a:lnTo>
                </a:path>
              </a:pathLst>
            </a:custGeom>
            <a:ln w="5270">
              <a:solidFill>
                <a:srgbClr val="231F20"/>
              </a:solidFill>
            </a:ln>
          </p:spPr>
          <p:txBody>
            <a:bodyPr wrap="square" lIns="0" tIns="0" rIns="0" bIns="0" rtlCol="0"/>
            <a:lstStyle/>
            <a:p>
              <a:endParaRPr/>
            </a:p>
          </p:txBody>
        </p:sp>
        <p:sp>
          <p:nvSpPr>
            <p:cNvPr id="14" name="object 14"/>
            <p:cNvSpPr/>
            <p:nvPr/>
          </p:nvSpPr>
          <p:spPr>
            <a:xfrm>
              <a:off x="1469213" y="2162195"/>
              <a:ext cx="64135" cy="74930"/>
            </a:xfrm>
            <a:custGeom>
              <a:avLst/>
              <a:gdLst/>
              <a:ahLst/>
              <a:cxnLst/>
              <a:rect l="l" t="t" r="r" b="b"/>
              <a:pathLst>
                <a:path w="64134" h="74930">
                  <a:moveTo>
                    <a:pt x="63751" y="0"/>
                  </a:moveTo>
                  <a:lnTo>
                    <a:pt x="47813" y="5977"/>
                  </a:lnTo>
                  <a:lnTo>
                    <a:pt x="31875" y="7970"/>
                  </a:lnTo>
                  <a:lnTo>
                    <a:pt x="15937" y="5977"/>
                  </a:lnTo>
                  <a:lnTo>
                    <a:pt x="0" y="0"/>
                  </a:lnTo>
                  <a:lnTo>
                    <a:pt x="31875" y="74379"/>
                  </a:lnTo>
                  <a:lnTo>
                    <a:pt x="63751" y="0"/>
                  </a:lnTo>
                  <a:close/>
                </a:path>
              </a:pathLst>
            </a:custGeom>
            <a:solidFill>
              <a:srgbClr val="231F20"/>
            </a:solidFill>
          </p:spPr>
          <p:txBody>
            <a:bodyPr wrap="square" lIns="0" tIns="0" rIns="0" bIns="0" rtlCol="0"/>
            <a:lstStyle/>
            <a:p>
              <a:endParaRPr/>
            </a:p>
          </p:txBody>
        </p:sp>
        <p:sp>
          <p:nvSpPr>
            <p:cNvPr id="15" name="object 15"/>
            <p:cNvSpPr/>
            <p:nvPr/>
          </p:nvSpPr>
          <p:spPr>
            <a:xfrm>
              <a:off x="1344206" y="1907893"/>
              <a:ext cx="784860" cy="149225"/>
            </a:xfrm>
            <a:custGeom>
              <a:avLst/>
              <a:gdLst/>
              <a:ahLst/>
              <a:cxnLst/>
              <a:rect l="l" t="t" r="r" b="b"/>
              <a:pathLst>
                <a:path w="784860" h="149225">
                  <a:moveTo>
                    <a:pt x="0" y="149027"/>
                  </a:moveTo>
                  <a:lnTo>
                    <a:pt x="784353" y="149027"/>
                  </a:lnTo>
                  <a:lnTo>
                    <a:pt x="784353" y="0"/>
                  </a:lnTo>
                  <a:lnTo>
                    <a:pt x="0" y="0"/>
                  </a:lnTo>
                  <a:lnTo>
                    <a:pt x="0" y="149027"/>
                  </a:lnTo>
                  <a:close/>
                </a:path>
              </a:pathLst>
            </a:custGeom>
            <a:ln w="5270">
              <a:solidFill>
                <a:srgbClr val="231F20"/>
              </a:solidFill>
            </a:ln>
          </p:spPr>
          <p:txBody>
            <a:bodyPr wrap="square" lIns="0" tIns="0" rIns="0" bIns="0" rtlCol="0"/>
            <a:lstStyle/>
            <a:p>
              <a:endParaRPr/>
            </a:p>
          </p:txBody>
        </p:sp>
      </p:grpSp>
      <p:grpSp>
        <p:nvGrpSpPr>
          <p:cNvPr id="16" name="object 16"/>
          <p:cNvGrpSpPr/>
          <p:nvPr/>
        </p:nvGrpSpPr>
        <p:grpSpPr>
          <a:xfrm>
            <a:off x="991123" y="2057291"/>
            <a:ext cx="64135" cy="179705"/>
            <a:chOff x="991123" y="2057291"/>
            <a:chExt cx="64135" cy="179705"/>
          </a:xfrm>
        </p:grpSpPr>
        <p:sp>
          <p:nvSpPr>
            <p:cNvPr id="17" name="object 17"/>
            <p:cNvSpPr/>
            <p:nvPr/>
          </p:nvSpPr>
          <p:spPr>
            <a:xfrm>
              <a:off x="1022998" y="2057291"/>
              <a:ext cx="0" cy="142240"/>
            </a:xfrm>
            <a:custGeom>
              <a:avLst/>
              <a:gdLst/>
              <a:ahLst/>
              <a:cxnLst/>
              <a:rect l="l" t="t" r="r" b="b"/>
              <a:pathLst>
                <a:path h="142239">
                  <a:moveTo>
                    <a:pt x="0" y="0"/>
                  </a:moveTo>
                  <a:lnTo>
                    <a:pt x="0" y="141900"/>
                  </a:lnTo>
                </a:path>
              </a:pathLst>
            </a:custGeom>
            <a:ln w="5270">
              <a:solidFill>
                <a:srgbClr val="231F20"/>
              </a:solidFill>
            </a:ln>
          </p:spPr>
          <p:txBody>
            <a:bodyPr wrap="square" lIns="0" tIns="0" rIns="0" bIns="0" rtlCol="0"/>
            <a:lstStyle/>
            <a:p>
              <a:endParaRPr/>
            </a:p>
          </p:txBody>
        </p:sp>
        <p:sp>
          <p:nvSpPr>
            <p:cNvPr id="18" name="object 18"/>
            <p:cNvSpPr/>
            <p:nvPr/>
          </p:nvSpPr>
          <p:spPr>
            <a:xfrm>
              <a:off x="991123" y="2162195"/>
              <a:ext cx="64135" cy="74930"/>
            </a:xfrm>
            <a:custGeom>
              <a:avLst/>
              <a:gdLst/>
              <a:ahLst/>
              <a:cxnLst/>
              <a:rect l="l" t="t" r="r" b="b"/>
              <a:pathLst>
                <a:path w="64134" h="74930">
                  <a:moveTo>
                    <a:pt x="63748" y="0"/>
                  </a:moveTo>
                  <a:lnTo>
                    <a:pt x="47810" y="5977"/>
                  </a:lnTo>
                  <a:lnTo>
                    <a:pt x="31873" y="7970"/>
                  </a:lnTo>
                  <a:lnTo>
                    <a:pt x="15936" y="5977"/>
                  </a:lnTo>
                  <a:lnTo>
                    <a:pt x="0" y="0"/>
                  </a:lnTo>
                  <a:lnTo>
                    <a:pt x="31874" y="74379"/>
                  </a:lnTo>
                  <a:lnTo>
                    <a:pt x="63748" y="0"/>
                  </a:lnTo>
                  <a:close/>
                </a:path>
              </a:pathLst>
            </a:custGeom>
            <a:solidFill>
              <a:srgbClr val="231F20"/>
            </a:solidFill>
          </p:spPr>
          <p:txBody>
            <a:bodyPr wrap="square" lIns="0" tIns="0" rIns="0" bIns="0" rtlCol="0"/>
            <a:lstStyle/>
            <a:p>
              <a:endParaRPr/>
            </a:p>
          </p:txBody>
        </p:sp>
      </p:grpSp>
      <p:sp>
        <p:nvSpPr>
          <p:cNvPr id="19" name="object 19"/>
          <p:cNvSpPr txBox="1"/>
          <p:nvPr/>
        </p:nvSpPr>
        <p:spPr>
          <a:xfrm>
            <a:off x="869861" y="1250534"/>
            <a:ext cx="781050" cy="149860"/>
          </a:xfrm>
          <a:prstGeom prst="rect">
            <a:avLst/>
          </a:prstGeom>
          <a:ln w="5270">
            <a:solidFill>
              <a:srgbClr val="231F20"/>
            </a:solidFill>
          </a:ln>
        </p:spPr>
        <p:txBody>
          <a:bodyPr vert="horz" wrap="square" lIns="0" tIns="12065" rIns="0" bIns="0" rtlCol="0">
            <a:spAutoFit/>
          </a:bodyPr>
          <a:lstStyle/>
          <a:p>
            <a:pPr marL="142240">
              <a:lnSpc>
                <a:spcPct val="100000"/>
              </a:lnSpc>
              <a:spcBef>
                <a:spcPts val="95"/>
              </a:spcBef>
            </a:pPr>
            <a:r>
              <a:rPr sz="650" spc="5" dirty="0">
                <a:solidFill>
                  <a:srgbClr val="231F20"/>
                </a:solidFill>
                <a:latin typeface="Arial"/>
                <a:cs typeface="Arial"/>
              </a:rPr>
              <a:t>Applications</a:t>
            </a:r>
            <a:endParaRPr sz="650">
              <a:latin typeface="Arial"/>
              <a:cs typeface="Arial"/>
            </a:endParaRPr>
          </a:p>
        </p:txBody>
      </p:sp>
      <p:sp>
        <p:nvSpPr>
          <p:cNvPr id="20" name="object 20"/>
          <p:cNvSpPr txBox="1"/>
          <p:nvPr/>
        </p:nvSpPr>
        <p:spPr>
          <a:xfrm>
            <a:off x="869861" y="1582576"/>
            <a:ext cx="781050" cy="142875"/>
          </a:xfrm>
          <a:prstGeom prst="rect">
            <a:avLst/>
          </a:prstGeom>
          <a:ln w="5270">
            <a:solidFill>
              <a:srgbClr val="231F20"/>
            </a:solidFill>
          </a:ln>
        </p:spPr>
        <p:txBody>
          <a:bodyPr vert="horz" wrap="square" lIns="0" tIns="12065" rIns="0" bIns="0" rtlCol="0">
            <a:spAutoFit/>
          </a:bodyPr>
          <a:lstStyle/>
          <a:p>
            <a:pPr marL="94615">
              <a:lnSpc>
                <a:spcPct val="100000"/>
              </a:lnSpc>
              <a:spcBef>
                <a:spcPts val="95"/>
              </a:spcBef>
            </a:pPr>
            <a:r>
              <a:rPr sz="650" spc="5" dirty="0">
                <a:solidFill>
                  <a:srgbClr val="231F20"/>
                </a:solidFill>
                <a:latin typeface="Arial"/>
                <a:cs typeface="Arial"/>
              </a:rPr>
              <a:t>Collective</a:t>
            </a:r>
            <a:r>
              <a:rPr sz="650" spc="-40" dirty="0">
                <a:solidFill>
                  <a:srgbClr val="231F20"/>
                </a:solidFill>
                <a:latin typeface="Arial"/>
                <a:cs typeface="Arial"/>
              </a:rPr>
              <a:t> </a:t>
            </a:r>
            <a:r>
              <a:rPr sz="650" spc="5" dirty="0">
                <a:solidFill>
                  <a:srgbClr val="231F20"/>
                </a:solidFill>
                <a:latin typeface="Arial"/>
                <a:cs typeface="Arial"/>
              </a:rPr>
              <a:t>layer</a:t>
            </a:r>
            <a:endParaRPr sz="650">
              <a:latin typeface="Arial"/>
              <a:cs typeface="Arial"/>
            </a:endParaRPr>
          </a:p>
        </p:txBody>
      </p:sp>
      <p:sp>
        <p:nvSpPr>
          <p:cNvPr id="21" name="object 21"/>
          <p:cNvSpPr txBox="1"/>
          <p:nvPr/>
        </p:nvSpPr>
        <p:spPr>
          <a:xfrm>
            <a:off x="869861" y="2236575"/>
            <a:ext cx="781050" cy="152400"/>
          </a:xfrm>
          <a:prstGeom prst="rect">
            <a:avLst/>
          </a:prstGeom>
          <a:ln w="5270">
            <a:solidFill>
              <a:srgbClr val="231F20"/>
            </a:solidFill>
          </a:ln>
        </p:spPr>
        <p:txBody>
          <a:bodyPr vert="horz" wrap="square" lIns="0" tIns="22225" rIns="0" bIns="0" rtlCol="0">
            <a:spAutoFit/>
          </a:bodyPr>
          <a:lstStyle/>
          <a:p>
            <a:pPr marL="165735">
              <a:lnSpc>
                <a:spcPct val="100000"/>
              </a:lnSpc>
              <a:spcBef>
                <a:spcPts val="175"/>
              </a:spcBef>
            </a:pPr>
            <a:r>
              <a:rPr sz="650" spc="5" dirty="0">
                <a:solidFill>
                  <a:srgbClr val="231F20"/>
                </a:solidFill>
                <a:latin typeface="Arial"/>
                <a:cs typeface="Arial"/>
              </a:rPr>
              <a:t>Fabric</a:t>
            </a:r>
            <a:r>
              <a:rPr sz="650" spc="-40" dirty="0">
                <a:solidFill>
                  <a:srgbClr val="231F20"/>
                </a:solidFill>
                <a:latin typeface="Arial"/>
                <a:cs typeface="Arial"/>
              </a:rPr>
              <a:t> </a:t>
            </a:r>
            <a:r>
              <a:rPr sz="650" spc="5" dirty="0">
                <a:solidFill>
                  <a:srgbClr val="231F20"/>
                </a:solidFill>
                <a:latin typeface="Arial"/>
                <a:cs typeface="Arial"/>
              </a:rPr>
              <a:t>layer</a:t>
            </a:r>
            <a:endParaRPr sz="650">
              <a:latin typeface="Arial"/>
              <a:cs typeface="Arial"/>
            </a:endParaRPr>
          </a:p>
        </p:txBody>
      </p:sp>
      <p:sp>
        <p:nvSpPr>
          <p:cNvPr id="22" name="object 22"/>
          <p:cNvSpPr txBox="1"/>
          <p:nvPr/>
        </p:nvSpPr>
        <p:spPr>
          <a:xfrm>
            <a:off x="365639" y="1907893"/>
            <a:ext cx="789305" cy="149225"/>
          </a:xfrm>
          <a:prstGeom prst="rect">
            <a:avLst/>
          </a:prstGeom>
          <a:ln w="5270">
            <a:solidFill>
              <a:srgbClr val="231F20"/>
            </a:solidFill>
          </a:ln>
        </p:spPr>
        <p:txBody>
          <a:bodyPr vert="horz" wrap="square" lIns="0" tIns="26669" rIns="0" bIns="0" rtlCol="0">
            <a:spAutoFit/>
          </a:bodyPr>
          <a:lstStyle/>
          <a:p>
            <a:pPr marL="27940">
              <a:lnSpc>
                <a:spcPct val="100000"/>
              </a:lnSpc>
              <a:spcBef>
                <a:spcPts val="209"/>
              </a:spcBef>
            </a:pPr>
            <a:r>
              <a:rPr sz="650" spc="5" dirty="0">
                <a:solidFill>
                  <a:srgbClr val="231F20"/>
                </a:solidFill>
                <a:latin typeface="Arial"/>
                <a:cs typeface="Arial"/>
              </a:rPr>
              <a:t>Connectivity</a:t>
            </a:r>
            <a:r>
              <a:rPr sz="650" spc="-40" dirty="0">
                <a:solidFill>
                  <a:srgbClr val="231F20"/>
                </a:solidFill>
                <a:latin typeface="Arial"/>
                <a:cs typeface="Arial"/>
              </a:rPr>
              <a:t> </a:t>
            </a:r>
            <a:r>
              <a:rPr sz="650" spc="5" dirty="0">
                <a:solidFill>
                  <a:srgbClr val="231F20"/>
                </a:solidFill>
                <a:latin typeface="Arial"/>
                <a:cs typeface="Arial"/>
              </a:rPr>
              <a:t>layer</a:t>
            </a:r>
            <a:endParaRPr sz="650">
              <a:latin typeface="Arial"/>
              <a:cs typeface="Arial"/>
            </a:endParaRPr>
          </a:p>
        </p:txBody>
      </p:sp>
      <p:sp>
        <p:nvSpPr>
          <p:cNvPr id="23" name="object 23"/>
          <p:cNvSpPr/>
          <p:nvPr/>
        </p:nvSpPr>
        <p:spPr>
          <a:xfrm>
            <a:off x="1154468" y="1985769"/>
            <a:ext cx="189865" cy="0"/>
          </a:xfrm>
          <a:custGeom>
            <a:avLst/>
            <a:gdLst/>
            <a:ahLst/>
            <a:cxnLst/>
            <a:rect l="l" t="t" r="r" b="b"/>
            <a:pathLst>
              <a:path w="189865">
                <a:moveTo>
                  <a:pt x="0" y="0"/>
                </a:moveTo>
                <a:lnTo>
                  <a:pt x="189737" y="0"/>
                </a:lnTo>
              </a:path>
            </a:pathLst>
          </a:custGeom>
          <a:ln w="5270">
            <a:solidFill>
              <a:srgbClr val="231F20"/>
            </a:solidFill>
          </a:ln>
        </p:spPr>
        <p:txBody>
          <a:bodyPr wrap="square" lIns="0" tIns="0" rIns="0" bIns="0" rtlCol="0"/>
          <a:lstStyle/>
          <a:p>
            <a:endParaRPr/>
          </a:p>
        </p:txBody>
      </p:sp>
      <p:sp>
        <p:nvSpPr>
          <p:cNvPr id="24" name="object 24"/>
          <p:cNvSpPr txBox="1"/>
          <p:nvPr/>
        </p:nvSpPr>
        <p:spPr>
          <a:xfrm>
            <a:off x="2049602" y="466717"/>
            <a:ext cx="1941195" cy="736600"/>
          </a:xfrm>
          <a:prstGeom prst="rect">
            <a:avLst/>
          </a:prstGeom>
        </p:spPr>
        <p:txBody>
          <a:bodyPr vert="horz" wrap="square" lIns="0" tIns="76835" rIns="0" bIns="0" rtlCol="0">
            <a:spAutoFit/>
          </a:bodyPr>
          <a:lstStyle/>
          <a:p>
            <a:pPr marL="12700">
              <a:lnSpc>
                <a:spcPct val="100000"/>
              </a:lnSpc>
              <a:spcBef>
                <a:spcPts val="605"/>
              </a:spcBef>
            </a:pPr>
            <a:r>
              <a:rPr sz="1200" spc="-5" dirty="0">
                <a:solidFill>
                  <a:srgbClr val="3333B2"/>
                </a:solidFill>
                <a:latin typeface="Arial"/>
                <a:cs typeface="Arial"/>
              </a:rPr>
              <a:t>The</a:t>
            </a:r>
            <a:r>
              <a:rPr sz="1200" spc="-45" dirty="0">
                <a:solidFill>
                  <a:srgbClr val="3333B2"/>
                </a:solidFill>
                <a:latin typeface="Arial"/>
                <a:cs typeface="Arial"/>
              </a:rPr>
              <a:t> </a:t>
            </a:r>
            <a:r>
              <a:rPr sz="1200" spc="-15" dirty="0">
                <a:solidFill>
                  <a:srgbClr val="3333B2"/>
                </a:solidFill>
                <a:latin typeface="Arial"/>
                <a:cs typeface="Arial"/>
              </a:rPr>
              <a:t>layers</a:t>
            </a:r>
            <a:endParaRPr sz="1200" dirty="0">
              <a:latin typeface="Arial"/>
              <a:cs typeface="Arial"/>
            </a:endParaRPr>
          </a:p>
          <a:p>
            <a:pPr marL="257175" marR="5080" indent="-240665">
              <a:lnSpc>
                <a:spcPct val="101499"/>
              </a:lnSpc>
              <a:spcBef>
                <a:spcPts val="365"/>
              </a:spcBef>
            </a:pPr>
            <a:r>
              <a:rPr sz="900" spc="-10" dirty="0">
                <a:solidFill>
                  <a:srgbClr val="3333B2"/>
                </a:solidFill>
                <a:latin typeface="Arial"/>
                <a:cs typeface="Arial"/>
              </a:rPr>
              <a:t>Fabric:</a:t>
            </a:r>
            <a:r>
              <a:rPr sz="900" spc="55" dirty="0">
                <a:solidFill>
                  <a:srgbClr val="3333B2"/>
                </a:solidFill>
                <a:latin typeface="Arial"/>
                <a:cs typeface="Arial"/>
              </a:rPr>
              <a:t> </a:t>
            </a:r>
            <a:r>
              <a:rPr sz="900" spc="-5" dirty="0">
                <a:latin typeface="Arial"/>
                <a:cs typeface="Arial"/>
              </a:rPr>
              <a:t>Provides</a:t>
            </a:r>
            <a:r>
              <a:rPr sz="900" spc="-10" dirty="0">
                <a:latin typeface="Arial"/>
                <a:cs typeface="Arial"/>
              </a:rPr>
              <a:t> </a:t>
            </a:r>
            <a:r>
              <a:rPr sz="900" spc="-5" dirty="0">
                <a:latin typeface="Arial"/>
                <a:cs typeface="Arial"/>
              </a:rPr>
              <a:t>interfaces</a:t>
            </a:r>
            <a:r>
              <a:rPr sz="900" spc="-10" dirty="0">
                <a:latin typeface="Arial"/>
                <a:cs typeface="Arial"/>
              </a:rPr>
              <a:t> </a:t>
            </a:r>
            <a:r>
              <a:rPr sz="900" spc="-5" dirty="0">
                <a:latin typeface="Arial"/>
                <a:cs typeface="Arial"/>
              </a:rPr>
              <a:t>to</a:t>
            </a:r>
            <a:r>
              <a:rPr sz="900" spc="-10" dirty="0">
                <a:latin typeface="Arial"/>
                <a:cs typeface="Arial"/>
              </a:rPr>
              <a:t> </a:t>
            </a:r>
            <a:r>
              <a:rPr sz="900" spc="-5" dirty="0">
                <a:latin typeface="Arial"/>
                <a:cs typeface="Arial"/>
              </a:rPr>
              <a:t>local </a:t>
            </a:r>
            <a:r>
              <a:rPr sz="900" dirty="0">
                <a:latin typeface="Arial"/>
                <a:cs typeface="Arial"/>
              </a:rPr>
              <a:t> </a:t>
            </a:r>
            <a:r>
              <a:rPr sz="900" spc="-5" dirty="0">
                <a:latin typeface="Arial"/>
                <a:cs typeface="Arial"/>
              </a:rPr>
              <a:t>resources</a:t>
            </a:r>
            <a:r>
              <a:rPr sz="900" spc="-15" dirty="0">
                <a:latin typeface="Arial"/>
                <a:cs typeface="Arial"/>
              </a:rPr>
              <a:t> </a:t>
            </a:r>
            <a:r>
              <a:rPr sz="900" spc="-10" dirty="0">
                <a:latin typeface="Arial"/>
                <a:cs typeface="Arial"/>
              </a:rPr>
              <a:t>(for </a:t>
            </a:r>
            <a:r>
              <a:rPr sz="900" dirty="0">
                <a:latin typeface="Arial"/>
                <a:cs typeface="Arial"/>
              </a:rPr>
              <a:t>querying</a:t>
            </a:r>
            <a:r>
              <a:rPr sz="900" spc="-10" dirty="0">
                <a:latin typeface="Arial"/>
                <a:cs typeface="Arial"/>
              </a:rPr>
              <a:t> </a:t>
            </a:r>
            <a:r>
              <a:rPr sz="900" spc="-5" dirty="0">
                <a:latin typeface="Arial"/>
                <a:cs typeface="Arial"/>
              </a:rPr>
              <a:t>state</a:t>
            </a:r>
            <a:r>
              <a:rPr sz="900" spc="-15" dirty="0">
                <a:latin typeface="Arial"/>
                <a:cs typeface="Arial"/>
              </a:rPr>
              <a:t> </a:t>
            </a:r>
            <a:r>
              <a:rPr sz="900" spc="-5" dirty="0">
                <a:latin typeface="Arial"/>
                <a:cs typeface="Arial"/>
              </a:rPr>
              <a:t>and </a:t>
            </a:r>
            <a:r>
              <a:rPr sz="900" spc="-235" dirty="0">
                <a:latin typeface="Arial"/>
                <a:cs typeface="Arial"/>
              </a:rPr>
              <a:t> </a:t>
            </a:r>
            <a:r>
              <a:rPr sz="900" spc="-5" dirty="0">
                <a:latin typeface="Arial"/>
                <a:cs typeface="Arial"/>
              </a:rPr>
              <a:t>capabilities,</a:t>
            </a:r>
            <a:r>
              <a:rPr sz="900" spc="-10" dirty="0">
                <a:latin typeface="Arial"/>
                <a:cs typeface="Arial"/>
              </a:rPr>
              <a:t> </a:t>
            </a:r>
            <a:r>
              <a:rPr sz="900" spc="-5" dirty="0">
                <a:latin typeface="Arial"/>
                <a:cs typeface="Arial"/>
              </a:rPr>
              <a:t>locking,</a:t>
            </a:r>
            <a:r>
              <a:rPr sz="900" spc="-10" dirty="0">
                <a:latin typeface="Arial"/>
                <a:cs typeface="Arial"/>
              </a:rPr>
              <a:t> </a:t>
            </a:r>
            <a:r>
              <a:rPr sz="900" spc="-5" dirty="0">
                <a:latin typeface="Arial"/>
                <a:cs typeface="Arial"/>
              </a:rPr>
              <a:t>etc.)</a:t>
            </a:r>
            <a:endParaRPr sz="900" dirty="0">
              <a:latin typeface="Arial"/>
              <a:cs typeface="Arial"/>
            </a:endParaRPr>
          </a:p>
        </p:txBody>
      </p:sp>
      <p:sp>
        <p:nvSpPr>
          <p:cNvPr id="29" name="object 29"/>
          <p:cNvSpPr txBox="1"/>
          <p:nvPr/>
        </p:nvSpPr>
        <p:spPr>
          <a:xfrm>
            <a:off x="66713" y="3331252"/>
            <a:ext cx="541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G</a:t>
            </a:r>
            <a:r>
              <a:rPr sz="600" dirty="0">
                <a:solidFill>
                  <a:srgbClr val="3333B2"/>
                </a:solidFill>
                <a:latin typeface="Arial"/>
                <a:cs typeface="Arial"/>
                <a:hlinkClick r:id="rId6" action="ppaction://hlinksldjump"/>
              </a:rPr>
              <a:t>r</a:t>
            </a:r>
            <a:r>
              <a:rPr sz="600" spc="-5" dirty="0">
                <a:solidFill>
                  <a:srgbClr val="3333B2"/>
                </a:solidFill>
                <a:latin typeface="Arial"/>
                <a:cs typeface="Arial"/>
                <a:hlinkClick r:id="rId6" action="ppaction://hlinksldjump"/>
              </a:rPr>
              <a:t>id computing</a:t>
            </a:r>
            <a:endParaRPr sz="600">
              <a:latin typeface="Arial"/>
              <a:cs typeface="Arial"/>
            </a:endParaRPr>
          </a:p>
        </p:txBody>
      </p:sp>
      <p:sp>
        <p:nvSpPr>
          <p:cNvPr id="30" name="object 3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33</a:t>
            </a:r>
            <a:r>
              <a:rPr spc="-40" dirty="0"/>
              <a:t> </a:t>
            </a:r>
            <a:r>
              <a:rPr spc="-5" dirty="0"/>
              <a:t>/</a:t>
            </a:r>
            <a:r>
              <a:rPr spc="-35" dirty="0"/>
              <a:t> </a:t>
            </a:r>
            <a:r>
              <a:rPr spc="-5" dirty="0"/>
              <a:t>56</a:t>
            </a:r>
          </a:p>
        </p:txBody>
      </p:sp>
      <p:sp>
        <p:nvSpPr>
          <p:cNvPr id="25" name="object 25"/>
          <p:cNvSpPr txBox="1"/>
          <p:nvPr/>
        </p:nvSpPr>
        <p:spPr>
          <a:xfrm>
            <a:off x="2054313" y="1231018"/>
            <a:ext cx="2124075" cy="579755"/>
          </a:xfrm>
          <a:prstGeom prst="rect">
            <a:avLst/>
          </a:prstGeom>
        </p:spPr>
        <p:txBody>
          <a:bodyPr vert="horz" wrap="square" lIns="0" tIns="10160" rIns="0" bIns="0" rtlCol="0">
            <a:spAutoFit/>
          </a:bodyPr>
          <a:lstStyle/>
          <a:p>
            <a:pPr marL="252729" marR="5080" indent="-240665">
              <a:lnSpc>
                <a:spcPct val="101499"/>
              </a:lnSpc>
              <a:spcBef>
                <a:spcPts val="80"/>
              </a:spcBef>
            </a:pPr>
            <a:r>
              <a:rPr sz="900" spc="-5" dirty="0">
                <a:solidFill>
                  <a:srgbClr val="3333B2"/>
                </a:solidFill>
                <a:latin typeface="Arial"/>
                <a:cs typeface="Arial"/>
              </a:rPr>
              <a:t>Connectivity:</a:t>
            </a:r>
            <a:r>
              <a:rPr sz="900" spc="60" dirty="0">
                <a:solidFill>
                  <a:srgbClr val="3333B2"/>
                </a:solidFill>
                <a:latin typeface="Arial"/>
                <a:cs typeface="Arial"/>
              </a:rPr>
              <a:t> </a:t>
            </a:r>
            <a:r>
              <a:rPr sz="900" spc="-5" dirty="0">
                <a:latin typeface="Arial"/>
                <a:cs typeface="Arial"/>
              </a:rPr>
              <a:t>Communication/transaction </a:t>
            </a:r>
            <a:r>
              <a:rPr sz="900" spc="-235" dirty="0">
                <a:latin typeface="Arial"/>
                <a:cs typeface="Arial"/>
              </a:rPr>
              <a:t> </a:t>
            </a:r>
            <a:r>
              <a:rPr sz="900" spc="-5" dirty="0">
                <a:latin typeface="Arial"/>
                <a:cs typeface="Arial"/>
              </a:rPr>
              <a:t>protocols, e.g., </a:t>
            </a:r>
            <a:r>
              <a:rPr sz="900" spc="-15" dirty="0">
                <a:latin typeface="Arial"/>
                <a:cs typeface="Arial"/>
              </a:rPr>
              <a:t>for </a:t>
            </a:r>
            <a:r>
              <a:rPr sz="900" spc="-5" dirty="0">
                <a:latin typeface="Arial"/>
                <a:cs typeface="Arial"/>
              </a:rPr>
              <a:t>moving data </a:t>
            </a:r>
            <a:r>
              <a:rPr sz="900" dirty="0">
                <a:latin typeface="Arial"/>
                <a:cs typeface="Arial"/>
              </a:rPr>
              <a:t> </a:t>
            </a:r>
            <a:r>
              <a:rPr sz="900" spc="-5" dirty="0">
                <a:latin typeface="Arial"/>
                <a:cs typeface="Arial"/>
              </a:rPr>
              <a:t>between</a:t>
            </a:r>
            <a:r>
              <a:rPr sz="900" spc="-10" dirty="0">
                <a:latin typeface="Arial"/>
                <a:cs typeface="Arial"/>
              </a:rPr>
              <a:t> </a:t>
            </a:r>
            <a:r>
              <a:rPr sz="900" spc="-5" dirty="0">
                <a:latin typeface="Arial"/>
                <a:cs typeface="Arial"/>
              </a:rPr>
              <a:t>resources.</a:t>
            </a:r>
            <a:r>
              <a:rPr sz="900" spc="45" dirty="0">
                <a:latin typeface="Arial"/>
                <a:cs typeface="Arial"/>
              </a:rPr>
              <a:t> </a:t>
            </a:r>
            <a:r>
              <a:rPr sz="900" spc="-5" dirty="0">
                <a:latin typeface="Arial"/>
                <a:cs typeface="Arial"/>
              </a:rPr>
              <a:t>Also</a:t>
            </a:r>
            <a:r>
              <a:rPr sz="900" spc="-10" dirty="0">
                <a:latin typeface="Arial"/>
                <a:cs typeface="Arial"/>
              </a:rPr>
              <a:t> </a:t>
            </a:r>
            <a:r>
              <a:rPr sz="900" spc="-5" dirty="0">
                <a:latin typeface="Arial"/>
                <a:cs typeface="Arial"/>
              </a:rPr>
              <a:t>various </a:t>
            </a:r>
            <a:r>
              <a:rPr sz="900" dirty="0">
                <a:latin typeface="Arial"/>
                <a:cs typeface="Arial"/>
              </a:rPr>
              <a:t> </a:t>
            </a:r>
            <a:r>
              <a:rPr sz="900" spc="-5" dirty="0">
                <a:latin typeface="Arial"/>
                <a:cs typeface="Arial"/>
              </a:rPr>
              <a:t>authentication</a:t>
            </a:r>
            <a:r>
              <a:rPr sz="900" spc="-10" dirty="0">
                <a:latin typeface="Arial"/>
                <a:cs typeface="Arial"/>
              </a:rPr>
              <a:t> </a:t>
            </a:r>
            <a:r>
              <a:rPr sz="900" spc="-5" dirty="0">
                <a:latin typeface="Arial"/>
                <a:cs typeface="Arial"/>
              </a:rPr>
              <a:t>protocols.</a:t>
            </a:r>
            <a:endParaRPr sz="900" dirty="0">
              <a:latin typeface="Arial"/>
              <a:cs typeface="Arial"/>
            </a:endParaRPr>
          </a:p>
        </p:txBody>
      </p:sp>
      <p:sp>
        <p:nvSpPr>
          <p:cNvPr id="26" name="object 26"/>
          <p:cNvSpPr txBox="1"/>
          <p:nvPr/>
        </p:nvSpPr>
        <p:spPr>
          <a:xfrm>
            <a:off x="1400975" y="1838345"/>
            <a:ext cx="2689860" cy="162560"/>
          </a:xfrm>
          <a:prstGeom prst="rect">
            <a:avLst/>
          </a:prstGeom>
        </p:spPr>
        <p:txBody>
          <a:bodyPr vert="horz" wrap="square" lIns="0" tIns="12065" rIns="0" bIns="0" rtlCol="0">
            <a:spAutoFit/>
          </a:bodyPr>
          <a:lstStyle/>
          <a:p>
            <a:pPr marL="38100">
              <a:lnSpc>
                <a:spcPct val="100000"/>
              </a:lnSpc>
              <a:spcBef>
                <a:spcPts val="95"/>
              </a:spcBef>
            </a:pPr>
            <a:r>
              <a:rPr sz="975" spc="7" baseline="-29914" dirty="0">
                <a:solidFill>
                  <a:srgbClr val="231F20"/>
                </a:solidFill>
                <a:latin typeface="Arial"/>
                <a:cs typeface="Arial"/>
              </a:rPr>
              <a:t>Resource</a:t>
            </a:r>
            <a:r>
              <a:rPr sz="975" baseline="-29914" dirty="0">
                <a:solidFill>
                  <a:srgbClr val="231F20"/>
                </a:solidFill>
                <a:latin typeface="Arial"/>
                <a:cs typeface="Arial"/>
              </a:rPr>
              <a:t> </a:t>
            </a:r>
            <a:r>
              <a:rPr sz="975" spc="7" baseline="-29914" dirty="0">
                <a:solidFill>
                  <a:srgbClr val="231F20"/>
                </a:solidFill>
                <a:latin typeface="Arial"/>
                <a:cs typeface="Arial"/>
              </a:rPr>
              <a:t>layer </a:t>
            </a:r>
            <a:r>
              <a:rPr sz="975" spc="165" baseline="-29914" dirty="0">
                <a:solidFill>
                  <a:srgbClr val="231F20"/>
                </a:solidFill>
                <a:latin typeface="Arial"/>
                <a:cs typeface="Arial"/>
              </a:rPr>
              <a:t> </a:t>
            </a:r>
            <a:r>
              <a:rPr sz="900" spc="-5" dirty="0">
                <a:solidFill>
                  <a:srgbClr val="3333B2"/>
                </a:solidFill>
                <a:latin typeface="Arial"/>
                <a:cs typeface="Arial"/>
              </a:rPr>
              <a:t>Resource:</a:t>
            </a:r>
            <a:r>
              <a:rPr sz="900" spc="300" dirty="0">
                <a:solidFill>
                  <a:srgbClr val="3333B2"/>
                </a:solidFill>
                <a:latin typeface="Arial"/>
                <a:cs typeface="Arial"/>
              </a:rPr>
              <a:t> </a:t>
            </a:r>
            <a:r>
              <a:rPr sz="900" spc="-5" dirty="0">
                <a:latin typeface="Arial"/>
                <a:cs typeface="Arial"/>
              </a:rPr>
              <a:t>Manages a</a:t>
            </a:r>
            <a:r>
              <a:rPr sz="900" dirty="0">
                <a:latin typeface="Arial"/>
                <a:cs typeface="Arial"/>
              </a:rPr>
              <a:t> </a:t>
            </a:r>
            <a:r>
              <a:rPr sz="900" spc="-5" dirty="0">
                <a:latin typeface="Arial"/>
                <a:cs typeface="Arial"/>
              </a:rPr>
              <a:t>single resource,</a:t>
            </a:r>
            <a:endParaRPr sz="900" dirty="0">
              <a:latin typeface="Arial"/>
              <a:cs typeface="Arial"/>
            </a:endParaRPr>
          </a:p>
        </p:txBody>
      </p:sp>
      <p:sp>
        <p:nvSpPr>
          <p:cNvPr id="27" name="object 27"/>
          <p:cNvSpPr txBox="1"/>
          <p:nvPr/>
        </p:nvSpPr>
        <p:spPr>
          <a:xfrm>
            <a:off x="2294394" y="1977524"/>
            <a:ext cx="1923414" cy="301625"/>
          </a:xfrm>
          <a:prstGeom prst="rect">
            <a:avLst/>
          </a:prstGeom>
        </p:spPr>
        <p:txBody>
          <a:bodyPr vert="horz" wrap="square" lIns="0" tIns="10160" rIns="0" bIns="0" rtlCol="0">
            <a:spAutoFit/>
          </a:bodyPr>
          <a:lstStyle/>
          <a:p>
            <a:pPr marL="12700" marR="5080">
              <a:lnSpc>
                <a:spcPct val="101499"/>
              </a:lnSpc>
              <a:spcBef>
                <a:spcPts val="80"/>
              </a:spcBef>
            </a:pPr>
            <a:r>
              <a:rPr sz="900" spc="-10" dirty="0">
                <a:latin typeface="Arial"/>
                <a:cs typeface="Arial"/>
              </a:rPr>
              <a:t>such as creating processes or reading </a:t>
            </a:r>
            <a:r>
              <a:rPr sz="900" spc="-235" dirty="0">
                <a:latin typeface="Arial"/>
                <a:cs typeface="Arial"/>
              </a:rPr>
              <a:t> </a:t>
            </a:r>
            <a:r>
              <a:rPr sz="900" spc="-5" dirty="0">
                <a:latin typeface="Arial"/>
                <a:cs typeface="Arial"/>
              </a:rPr>
              <a:t>data.</a:t>
            </a:r>
            <a:endParaRPr sz="900" dirty="0">
              <a:latin typeface="Arial"/>
              <a:cs typeface="Arial"/>
            </a:endParaRPr>
          </a:p>
        </p:txBody>
      </p:sp>
      <p:sp>
        <p:nvSpPr>
          <p:cNvPr id="28" name="object 28"/>
          <p:cNvSpPr txBox="1"/>
          <p:nvPr/>
        </p:nvSpPr>
        <p:spPr>
          <a:xfrm>
            <a:off x="2054313" y="2306480"/>
            <a:ext cx="2094864" cy="769620"/>
          </a:xfrm>
          <a:prstGeom prst="rect">
            <a:avLst/>
          </a:prstGeom>
        </p:spPr>
        <p:txBody>
          <a:bodyPr vert="horz" wrap="square" lIns="0" tIns="10160" rIns="0" bIns="0" rtlCol="0">
            <a:spAutoFit/>
          </a:bodyPr>
          <a:lstStyle/>
          <a:p>
            <a:pPr marL="252729" marR="129539" indent="-240665" algn="just">
              <a:lnSpc>
                <a:spcPct val="101499"/>
              </a:lnSpc>
              <a:spcBef>
                <a:spcPts val="80"/>
              </a:spcBef>
            </a:pPr>
            <a:r>
              <a:rPr sz="900" spc="-5" dirty="0">
                <a:solidFill>
                  <a:srgbClr val="3333B2"/>
                </a:solidFill>
                <a:latin typeface="Arial"/>
                <a:cs typeface="Arial"/>
              </a:rPr>
              <a:t>Collective:</a:t>
            </a:r>
            <a:r>
              <a:rPr sz="900" dirty="0">
                <a:solidFill>
                  <a:srgbClr val="3333B2"/>
                </a:solidFill>
                <a:latin typeface="Arial"/>
                <a:cs typeface="Arial"/>
              </a:rPr>
              <a:t> </a:t>
            </a:r>
            <a:r>
              <a:rPr sz="900" spc="-5" dirty="0">
                <a:latin typeface="Arial"/>
                <a:cs typeface="Arial"/>
              </a:rPr>
              <a:t>Handles access to multiple </a:t>
            </a:r>
            <a:r>
              <a:rPr sz="900" spc="-235" dirty="0">
                <a:latin typeface="Arial"/>
                <a:cs typeface="Arial"/>
              </a:rPr>
              <a:t> </a:t>
            </a:r>
            <a:r>
              <a:rPr sz="900" spc="-5" dirty="0">
                <a:latin typeface="Arial"/>
                <a:cs typeface="Arial"/>
              </a:rPr>
              <a:t>resources: </a:t>
            </a:r>
            <a:r>
              <a:rPr sz="900" spc="-15" dirty="0">
                <a:latin typeface="Arial"/>
                <a:cs typeface="Arial"/>
              </a:rPr>
              <a:t>discovery, </a:t>
            </a:r>
            <a:r>
              <a:rPr sz="900" spc="-5" dirty="0">
                <a:latin typeface="Arial"/>
                <a:cs typeface="Arial"/>
              </a:rPr>
              <a:t>scheduling, </a:t>
            </a:r>
            <a:r>
              <a:rPr sz="900" dirty="0">
                <a:latin typeface="Arial"/>
                <a:cs typeface="Arial"/>
              </a:rPr>
              <a:t> </a:t>
            </a:r>
            <a:r>
              <a:rPr sz="900" spc="-5" dirty="0">
                <a:latin typeface="Arial"/>
                <a:cs typeface="Arial"/>
              </a:rPr>
              <a:t>replication.</a:t>
            </a:r>
            <a:endParaRPr sz="900" dirty="0">
              <a:latin typeface="Arial"/>
              <a:cs typeface="Arial"/>
            </a:endParaRPr>
          </a:p>
          <a:p>
            <a:pPr marL="252729" marR="5080" indent="-240665" algn="just">
              <a:lnSpc>
                <a:spcPct val="101499"/>
              </a:lnSpc>
              <a:spcBef>
                <a:spcPts val="395"/>
              </a:spcBef>
            </a:pPr>
            <a:r>
              <a:rPr sz="900" spc="-5" dirty="0">
                <a:solidFill>
                  <a:srgbClr val="3333B2"/>
                </a:solidFill>
                <a:latin typeface="Arial"/>
                <a:cs typeface="Arial"/>
              </a:rPr>
              <a:t>Application:</a:t>
            </a:r>
            <a:r>
              <a:rPr sz="900" dirty="0">
                <a:solidFill>
                  <a:srgbClr val="3333B2"/>
                </a:solidFill>
                <a:latin typeface="Arial"/>
                <a:cs typeface="Arial"/>
              </a:rPr>
              <a:t> </a:t>
            </a:r>
            <a:r>
              <a:rPr sz="900" spc="-5" dirty="0">
                <a:latin typeface="Arial"/>
                <a:cs typeface="Arial"/>
              </a:rPr>
              <a:t>Contains actual grid </a:t>
            </a:r>
            <a:r>
              <a:rPr sz="900" dirty="0">
                <a:latin typeface="Arial"/>
                <a:cs typeface="Arial"/>
              </a:rPr>
              <a:t> </a:t>
            </a:r>
            <a:r>
              <a:rPr sz="900" spc="-5" dirty="0">
                <a:latin typeface="Arial"/>
                <a:cs typeface="Arial"/>
              </a:rPr>
              <a:t>applications in</a:t>
            </a:r>
            <a:r>
              <a:rPr sz="900" dirty="0">
                <a:latin typeface="Arial"/>
                <a:cs typeface="Arial"/>
              </a:rPr>
              <a:t> </a:t>
            </a:r>
            <a:r>
              <a:rPr sz="900" spc="-5" dirty="0">
                <a:latin typeface="Arial"/>
                <a:cs typeface="Arial"/>
              </a:rPr>
              <a:t>a</a:t>
            </a:r>
            <a:r>
              <a:rPr sz="900" dirty="0">
                <a:latin typeface="Arial"/>
                <a:cs typeface="Arial"/>
              </a:rPr>
              <a:t> </a:t>
            </a:r>
            <a:r>
              <a:rPr sz="900" spc="-5" dirty="0">
                <a:latin typeface="Arial"/>
                <a:cs typeface="Arial"/>
              </a:rPr>
              <a:t>single</a:t>
            </a:r>
            <a:r>
              <a:rPr sz="900" dirty="0">
                <a:latin typeface="Arial"/>
                <a:cs typeface="Arial"/>
              </a:rPr>
              <a:t> </a:t>
            </a:r>
            <a:r>
              <a:rPr sz="900" spc="-5" dirty="0">
                <a:latin typeface="Arial"/>
                <a:cs typeface="Arial"/>
              </a:rPr>
              <a:t>organization.</a:t>
            </a:r>
            <a:endParaRPr sz="900" dirty="0">
              <a:latin typeface="Arial"/>
              <a:cs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High performance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computing</a:t>
            </a:r>
            <a:endParaRPr sz="600">
              <a:latin typeface="Arial"/>
              <a:cs typeface="Arial"/>
            </a:endParaRPr>
          </a:p>
        </p:txBody>
      </p:sp>
      <p:sp>
        <p:nvSpPr>
          <p:cNvPr id="4" name="object 4"/>
          <p:cNvSpPr txBox="1"/>
          <p:nvPr/>
        </p:nvSpPr>
        <p:spPr>
          <a:xfrm>
            <a:off x="95300" y="188846"/>
            <a:ext cx="139255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Cloud</a:t>
            </a:r>
            <a:r>
              <a:rPr sz="1400" spc="-45" dirty="0">
                <a:solidFill>
                  <a:srgbClr val="3333B2"/>
                </a:solidFill>
                <a:latin typeface="Arial"/>
                <a:cs typeface="Arial"/>
              </a:rPr>
              <a:t> </a:t>
            </a:r>
            <a:r>
              <a:rPr sz="1400" spc="15" dirty="0">
                <a:solidFill>
                  <a:srgbClr val="3333B2"/>
                </a:solidFill>
                <a:latin typeface="Arial"/>
                <a:cs typeface="Arial"/>
              </a:rPr>
              <a:t>computing</a:t>
            </a:r>
            <a:endParaRPr sz="1400" dirty="0">
              <a:latin typeface="Arial"/>
              <a:cs typeface="Arial"/>
            </a:endParaRPr>
          </a:p>
        </p:txBody>
      </p:sp>
      <p:grpSp>
        <p:nvGrpSpPr>
          <p:cNvPr id="5" name="object 5"/>
          <p:cNvGrpSpPr/>
          <p:nvPr/>
        </p:nvGrpSpPr>
        <p:grpSpPr>
          <a:xfrm>
            <a:off x="806238" y="979888"/>
            <a:ext cx="2456815" cy="1500505"/>
            <a:chOff x="806238" y="979888"/>
            <a:chExt cx="2456815" cy="1500505"/>
          </a:xfrm>
        </p:grpSpPr>
        <p:sp>
          <p:nvSpPr>
            <p:cNvPr id="6" name="object 6"/>
            <p:cNvSpPr/>
            <p:nvPr/>
          </p:nvSpPr>
          <p:spPr>
            <a:xfrm>
              <a:off x="809413" y="2066209"/>
              <a:ext cx="2450465" cy="410845"/>
            </a:xfrm>
            <a:custGeom>
              <a:avLst/>
              <a:gdLst/>
              <a:ahLst/>
              <a:cxnLst/>
              <a:rect l="l" t="t" r="r" b="b"/>
              <a:pathLst>
                <a:path w="2450465" h="410844">
                  <a:moveTo>
                    <a:pt x="2450155" y="0"/>
                  </a:moveTo>
                  <a:lnTo>
                    <a:pt x="319586" y="0"/>
                  </a:lnTo>
                  <a:lnTo>
                    <a:pt x="0" y="252823"/>
                  </a:lnTo>
                  <a:lnTo>
                    <a:pt x="2130573" y="252823"/>
                  </a:lnTo>
                  <a:lnTo>
                    <a:pt x="2130573" y="410848"/>
                  </a:lnTo>
                  <a:lnTo>
                    <a:pt x="2450155" y="158015"/>
                  </a:lnTo>
                  <a:lnTo>
                    <a:pt x="2450155" y="0"/>
                  </a:lnTo>
                  <a:close/>
                </a:path>
              </a:pathLst>
            </a:custGeom>
            <a:solidFill>
              <a:srgbClr val="939598"/>
            </a:solidFill>
          </p:spPr>
          <p:txBody>
            <a:bodyPr wrap="square" lIns="0" tIns="0" rIns="0" bIns="0" rtlCol="0"/>
            <a:lstStyle/>
            <a:p>
              <a:endParaRPr/>
            </a:p>
          </p:txBody>
        </p:sp>
        <p:sp>
          <p:nvSpPr>
            <p:cNvPr id="7" name="object 7"/>
            <p:cNvSpPr/>
            <p:nvPr/>
          </p:nvSpPr>
          <p:spPr>
            <a:xfrm>
              <a:off x="809413" y="2066209"/>
              <a:ext cx="2450465" cy="410845"/>
            </a:xfrm>
            <a:custGeom>
              <a:avLst/>
              <a:gdLst/>
              <a:ahLst/>
              <a:cxnLst/>
              <a:rect l="l" t="t" r="r" b="b"/>
              <a:pathLst>
                <a:path w="2450465" h="410844">
                  <a:moveTo>
                    <a:pt x="319586" y="0"/>
                  </a:moveTo>
                  <a:lnTo>
                    <a:pt x="0" y="252823"/>
                  </a:lnTo>
                  <a:lnTo>
                    <a:pt x="2130573" y="252823"/>
                  </a:lnTo>
                  <a:lnTo>
                    <a:pt x="2130573" y="410848"/>
                  </a:lnTo>
                  <a:lnTo>
                    <a:pt x="2450155" y="158015"/>
                  </a:lnTo>
                  <a:lnTo>
                    <a:pt x="2450155" y="0"/>
                  </a:lnTo>
                  <a:lnTo>
                    <a:pt x="319586" y="0"/>
                  </a:lnTo>
                  <a:close/>
                </a:path>
                <a:path w="2450465" h="410844">
                  <a:moveTo>
                    <a:pt x="2130573" y="252823"/>
                  </a:moveTo>
                  <a:lnTo>
                    <a:pt x="2450155" y="0"/>
                  </a:lnTo>
                </a:path>
              </a:pathLst>
            </a:custGeom>
            <a:ln w="5976">
              <a:solidFill>
                <a:srgbClr val="231F20"/>
              </a:solidFill>
            </a:ln>
          </p:spPr>
          <p:txBody>
            <a:bodyPr wrap="square" lIns="0" tIns="0" rIns="0" bIns="0" rtlCol="0"/>
            <a:lstStyle/>
            <a:p>
              <a:endParaRPr/>
            </a:p>
          </p:txBody>
        </p:sp>
        <p:sp>
          <p:nvSpPr>
            <p:cNvPr id="8" name="object 8"/>
            <p:cNvSpPr/>
            <p:nvPr/>
          </p:nvSpPr>
          <p:spPr>
            <a:xfrm>
              <a:off x="809413" y="2319033"/>
              <a:ext cx="2131060" cy="158115"/>
            </a:xfrm>
            <a:custGeom>
              <a:avLst/>
              <a:gdLst/>
              <a:ahLst/>
              <a:cxnLst/>
              <a:rect l="l" t="t" r="r" b="b"/>
              <a:pathLst>
                <a:path w="2131060" h="158114">
                  <a:moveTo>
                    <a:pt x="2130567" y="0"/>
                  </a:moveTo>
                  <a:lnTo>
                    <a:pt x="0" y="0"/>
                  </a:lnTo>
                  <a:lnTo>
                    <a:pt x="0" y="158024"/>
                  </a:lnTo>
                  <a:lnTo>
                    <a:pt x="2130567" y="158024"/>
                  </a:lnTo>
                  <a:lnTo>
                    <a:pt x="2130567" y="0"/>
                  </a:lnTo>
                  <a:close/>
                </a:path>
              </a:pathLst>
            </a:custGeom>
            <a:solidFill>
              <a:srgbClr val="939598"/>
            </a:solidFill>
          </p:spPr>
          <p:txBody>
            <a:bodyPr wrap="square" lIns="0" tIns="0" rIns="0" bIns="0" rtlCol="0"/>
            <a:lstStyle/>
            <a:p>
              <a:endParaRPr/>
            </a:p>
          </p:txBody>
        </p:sp>
        <p:sp>
          <p:nvSpPr>
            <p:cNvPr id="9" name="object 9"/>
            <p:cNvSpPr/>
            <p:nvPr/>
          </p:nvSpPr>
          <p:spPr>
            <a:xfrm>
              <a:off x="809413" y="1715116"/>
              <a:ext cx="2450465" cy="403860"/>
            </a:xfrm>
            <a:custGeom>
              <a:avLst/>
              <a:gdLst/>
              <a:ahLst/>
              <a:cxnLst/>
              <a:rect l="l" t="t" r="r" b="b"/>
              <a:pathLst>
                <a:path w="2450465" h="403860">
                  <a:moveTo>
                    <a:pt x="2450155" y="0"/>
                  </a:moveTo>
                  <a:lnTo>
                    <a:pt x="319586" y="0"/>
                  </a:lnTo>
                  <a:lnTo>
                    <a:pt x="0" y="248236"/>
                  </a:lnTo>
                  <a:lnTo>
                    <a:pt x="2130573" y="248236"/>
                  </a:lnTo>
                  <a:lnTo>
                    <a:pt x="2130573" y="403382"/>
                  </a:lnTo>
                  <a:lnTo>
                    <a:pt x="2450155" y="155146"/>
                  </a:lnTo>
                  <a:lnTo>
                    <a:pt x="2450155" y="0"/>
                  </a:lnTo>
                  <a:close/>
                </a:path>
              </a:pathLst>
            </a:custGeom>
            <a:solidFill>
              <a:srgbClr val="BCBEC0"/>
            </a:solidFill>
          </p:spPr>
          <p:txBody>
            <a:bodyPr wrap="square" lIns="0" tIns="0" rIns="0" bIns="0" rtlCol="0"/>
            <a:lstStyle/>
            <a:p>
              <a:endParaRPr/>
            </a:p>
          </p:txBody>
        </p:sp>
        <p:sp>
          <p:nvSpPr>
            <p:cNvPr id="10" name="object 10"/>
            <p:cNvSpPr/>
            <p:nvPr/>
          </p:nvSpPr>
          <p:spPr>
            <a:xfrm>
              <a:off x="809413" y="1715116"/>
              <a:ext cx="2450465" cy="403860"/>
            </a:xfrm>
            <a:custGeom>
              <a:avLst/>
              <a:gdLst/>
              <a:ahLst/>
              <a:cxnLst/>
              <a:rect l="l" t="t" r="r" b="b"/>
              <a:pathLst>
                <a:path w="2450465" h="403860">
                  <a:moveTo>
                    <a:pt x="319586" y="0"/>
                  </a:moveTo>
                  <a:lnTo>
                    <a:pt x="0" y="248236"/>
                  </a:lnTo>
                  <a:lnTo>
                    <a:pt x="2130573" y="248236"/>
                  </a:lnTo>
                  <a:lnTo>
                    <a:pt x="2130573" y="403382"/>
                  </a:lnTo>
                  <a:lnTo>
                    <a:pt x="2450155" y="155146"/>
                  </a:lnTo>
                  <a:lnTo>
                    <a:pt x="2450155" y="0"/>
                  </a:lnTo>
                  <a:lnTo>
                    <a:pt x="319586" y="0"/>
                  </a:lnTo>
                  <a:close/>
                </a:path>
                <a:path w="2450465" h="403860">
                  <a:moveTo>
                    <a:pt x="2130573" y="248236"/>
                  </a:moveTo>
                  <a:lnTo>
                    <a:pt x="2450155" y="0"/>
                  </a:lnTo>
                </a:path>
              </a:pathLst>
            </a:custGeom>
            <a:ln w="5976">
              <a:solidFill>
                <a:srgbClr val="231F20"/>
              </a:solidFill>
            </a:ln>
          </p:spPr>
          <p:txBody>
            <a:bodyPr wrap="square" lIns="0" tIns="0" rIns="0" bIns="0" rtlCol="0"/>
            <a:lstStyle/>
            <a:p>
              <a:endParaRPr/>
            </a:p>
          </p:txBody>
        </p:sp>
        <p:sp>
          <p:nvSpPr>
            <p:cNvPr id="11" name="object 11"/>
            <p:cNvSpPr/>
            <p:nvPr/>
          </p:nvSpPr>
          <p:spPr>
            <a:xfrm>
              <a:off x="809413" y="1963352"/>
              <a:ext cx="2131060" cy="155575"/>
            </a:xfrm>
            <a:custGeom>
              <a:avLst/>
              <a:gdLst/>
              <a:ahLst/>
              <a:cxnLst/>
              <a:rect l="l" t="t" r="r" b="b"/>
              <a:pathLst>
                <a:path w="2131060" h="155575">
                  <a:moveTo>
                    <a:pt x="2130567" y="0"/>
                  </a:moveTo>
                  <a:lnTo>
                    <a:pt x="0" y="0"/>
                  </a:lnTo>
                  <a:lnTo>
                    <a:pt x="0" y="155146"/>
                  </a:lnTo>
                  <a:lnTo>
                    <a:pt x="2130567" y="155146"/>
                  </a:lnTo>
                  <a:lnTo>
                    <a:pt x="2130567" y="0"/>
                  </a:lnTo>
                  <a:close/>
                </a:path>
              </a:pathLst>
            </a:custGeom>
            <a:solidFill>
              <a:srgbClr val="BCBEC0"/>
            </a:solidFill>
          </p:spPr>
          <p:txBody>
            <a:bodyPr wrap="square" lIns="0" tIns="0" rIns="0" bIns="0" rtlCol="0"/>
            <a:lstStyle/>
            <a:p>
              <a:endParaRPr/>
            </a:p>
          </p:txBody>
        </p:sp>
        <p:sp>
          <p:nvSpPr>
            <p:cNvPr id="12" name="object 12"/>
            <p:cNvSpPr/>
            <p:nvPr/>
          </p:nvSpPr>
          <p:spPr>
            <a:xfrm>
              <a:off x="809413" y="1349078"/>
              <a:ext cx="2450465" cy="411480"/>
            </a:xfrm>
            <a:custGeom>
              <a:avLst/>
              <a:gdLst/>
              <a:ahLst/>
              <a:cxnLst/>
              <a:rect l="l" t="t" r="r" b="b"/>
              <a:pathLst>
                <a:path w="2450465" h="411480">
                  <a:moveTo>
                    <a:pt x="2450155" y="0"/>
                  </a:moveTo>
                  <a:lnTo>
                    <a:pt x="319586" y="0"/>
                  </a:lnTo>
                  <a:lnTo>
                    <a:pt x="0" y="252836"/>
                  </a:lnTo>
                  <a:lnTo>
                    <a:pt x="2130573" y="252836"/>
                  </a:lnTo>
                  <a:lnTo>
                    <a:pt x="2130573" y="410856"/>
                  </a:lnTo>
                  <a:lnTo>
                    <a:pt x="2450155" y="158025"/>
                  </a:lnTo>
                  <a:lnTo>
                    <a:pt x="2450155" y="0"/>
                  </a:lnTo>
                  <a:close/>
                </a:path>
              </a:pathLst>
            </a:custGeom>
            <a:solidFill>
              <a:srgbClr val="D1D3D4"/>
            </a:solidFill>
          </p:spPr>
          <p:txBody>
            <a:bodyPr wrap="square" lIns="0" tIns="0" rIns="0" bIns="0" rtlCol="0"/>
            <a:lstStyle/>
            <a:p>
              <a:endParaRPr/>
            </a:p>
          </p:txBody>
        </p:sp>
        <p:sp>
          <p:nvSpPr>
            <p:cNvPr id="13" name="object 13"/>
            <p:cNvSpPr/>
            <p:nvPr/>
          </p:nvSpPr>
          <p:spPr>
            <a:xfrm>
              <a:off x="809413" y="1349078"/>
              <a:ext cx="2450465" cy="411480"/>
            </a:xfrm>
            <a:custGeom>
              <a:avLst/>
              <a:gdLst/>
              <a:ahLst/>
              <a:cxnLst/>
              <a:rect l="l" t="t" r="r" b="b"/>
              <a:pathLst>
                <a:path w="2450465" h="411480">
                  <a:moveTo>
                    <a:pt x="319586" y="0"/>
                  </a:moveTo>
                  <a:lnTo>
                    <a:pt x="0" y="252836"/>
                  </a:lnTo>
                  <a:lnTo>
                    <a:pt x="2130573" y="252836"/>
                  </a:lnTo>
                  <a:lnTo>
                    <a:pt x="2130573" y="410856"/>
                  </a:lnTo>
                  <a:lnTo>
                    <a:pt x="2450155" y="158025"/>
                  </a:lnTo>
                  <a:lnTo>
                    <a:pt x="2450155" y="0"/>
                  </a:lnTo>
                  <a:lnTo>
                    <a:pt x="319586" y="0"/>
                  </a:lnTo>
                  <a:close/>
                </a:path>
                <a:path w="2450465" h="411480">
                  <a:moveTo>
                    <a:pt x="2130573" y="252836"/>
                  </a:moveTo>
                  <a:lnTo>
                    <a:pt x="2450155" y="0"/>
                  </a:lnTo>
                </a:path>
              </a:pathLst>
            </a:custGeom>
            <a:ln w="5976">
              <a:solidFill>
                <a:srgbClr val="231F20"/>
              </a:solidFill>
            </a:ln>
          </p:spPr>
          <p:txBody>
            <a:bodyPr wrap="square" lIns="0" tIns="0" rIns="0" bIns="0" rtlCol="0"/>
            <a:lstStyle/>
            <a:p>
              <a:endParaRPr/>
            </a:p>
          </p:txBody>
        </p:sp>
        <p:sp>
          <p:nvSpPr>
            <p:cNvPr id="14" name="object 14"/>
            <p:cNvSpPr/>
            <p:nvPr/>
          </p:nvSpPr>
          <p:spPr>
            <a:xfrm>
              <a:off x="809413" y="1601915"/>
              <a:ext cx="2131060" cy="158115"/>
            </a:xfrm>
            <a:custGeom>
              <a:avLst/>
              <a:gdLst/>
              <a:ahLst/>
              <a:cxnLst/>
              <a:rect l="l" t="t" r="r" b="b"/>
              <a:pathLst>
                <a:path w="2131060" h="158114">
                  <a:moveTo>
                    <a:pt x="2130567" y="0"/>
                  </a:moveTo>
                  <a:lnTo>
                    <a:pt x="0" y="0"/>
                  </a:lnTo>
                  <a:lnTo>
                    <a:pt x="0" y="158020"/>
                  </a:lnTo>
                  <a:lnTo>
                    <a:pt x="2130567" y="158020"/>
                  </a:lnTo>
                  <a:lnTo>
                    <a:pt x="2130567" y="0"/>
                  </a:lnTo>
                  <a:close/>
                </a:path>
              </a:pathLst>
            </a:custGeom>
            <a:solidFill>
              <a:srgbClr val="D1D3D4"/>
            </a:solidFill>
          </p:spPr>
          <p:txBody>
            <a:bodyPr wrap="square" lIns="0" tIns="0" rIns="0" bIns="0" rtlCol="0"/>
            <a:lstStyle/>
            <a:p>
              <a:endParaRPr/>
            </a:p>
          </p:txBody>
        </p:sp>
        <p:sp>
          <p:nvSpPr>
            <p:cNvPr id="15" name="object 15"/>
            <p:cNvSpPr/>
            <p:nvPr/>
          </p:nvSpPr>
          <p:spPr>
            <a:xfrm>
              <a:off x="809413" y="983063"/>
              <a:ext cx="2450465" cy="418465"/>
            </a:xfrm>
            <a:custGeom>
              <a:avLst/>
              <a:gdLst/>
              <a:ahLst/>
              <a:cxnLst/>
              <a:rect l="l" t="t" r="r" b="b"/>
              <a:pathLst>
                <a:path w="2450465" h="418465">
                  <a:moveTo>
                    <a:pt x="2450155" y="0"/>
                  </a:moveTo>
                  <a:lnTo>
                    <a:pt x="319586" y="0"/>
                  </a:lnTo>
                  <a:lnTo>
                    <a:pt x="0" y="257421"/>
                  </a:lnTo>
                  <a:lnTo>
                    <a:pt x="2130573" y="257421"/>
                  </a:lnTo>
                  <a:lnTo>
                    <a:pt x="2130573" y="418309"/>
                  </a:lnTo>
                  <a:lnTo>
                    <a:pt x="2450155" y="160887"/>
                  </a:lnTo>
                  <a:lnTo>
                    <a:pt x="2450155" y="0"/>
                  </a:lnTo>
                  <a:close/>
                </a:path>
              </a:pathLst>
            </a:custGeom>
            <a:solidFill>
              <a:srgbClr val="E6E7E8"/>
            </a:solidFill>
          </p:spPr>
          <p:txBody>
            <a:bodyPr wrap="square" lIns="0" tIns="0" rIns="0" bIns="0" rtlCol="0"/>
            <a:lstStyle/>
            <a:p>
              <a:endParaRPr/>
            </a:p>
          </p:txBody>
        </p:sp>
        <p:sp>
          <p:nvSpPr>
            <p:cNvPr id="16" name="object 16"/>
            <p:cNvSpPr/>
            <p:nvPr/>
          </p:nvSpPr>
          <p:spPr>
            <a:xfrm>
              <a:off x="809413" y="983063"/>
              <a:ext cx="2450465" cy="418465"/>
            </a:xfrm>
            <a:custGeom>
              <a:avLst/>
              <a:gdLst/>
              <a:ahLst/>
              <a:cxnLst/>
              <a:rect l="l" t="t" r="r" b="b"/>
              <a:pathLst>
                <a:path w="2450465" h="418465">
                  <a:moveTo>
                    <a:pt x="319586" y="0"/>
                  </a:moveTo>
                  <a:lnTo>
                    <a:pt x="0" y="257421"/>
                  </a:lnTo>
                  <a:lnTo>
                    <a:pt x="2130573" y="257421"/>
                  </a:lnTo>
                  <a:lnTo>
                    <a:pt x="2130573" y="418309"/>
                  </a:lnTo>
                  <a:lnTo>
                    <a:pt x="2450155" y="160887"/>
                  </a:lnTo>
                  <a:lnTo>
                    <a:pt x="2450155" y="0"/>
                  </a:lnTo>
                  <a:lnTo>
                    <a:pt x="319586" y="0"/>
                  </a:lnTo>
                  <a:close/>
                </a:path>
                <a:path w="2450465" h="418465">
                  <a:moveTo>
                    <a:pt x="2130573" y="257421"/>
                  </a:moveTo>
                  <a:lnTo>
                    <a:pt x="2450155" y="0"/>
                  </a:lnTo>
                </a:path>
              </a:pathLst>
            </a:custGeom>
            <a:ln w="5976">
              <a:solidFill>
                <a:srgbClr val="231F20"/>
              </a:solidFill>
            </a:ln>
          </p:spPr>
          <p:txBody>
            <a:bodyPr wrap="square" lIns="0" tIns="0" rIns="0" bIns="0" rtlCol="0"/>
            <a:lstStyle/>
            <a:p>
              <a:endParaRPr/>
            </a:p>
          </p:txBody>
        </p:sp>
        <p:sp>
          <p:nvSpPr>
            <p:cNvPr id="17" name="object 17"/>
            <p:cNvSpPr/>
            <p:nvPr/>
          </p:nvSpPr>
          <p:spPr>
            <a:xfrm>
              <a:off x="809413" y="1240482"/>
              <a:ext cx="2131060" cy="161290"/>
            </a:xfrm>
            <a:custGeom>
              <a:avLst/>
              <a:gdLst/>
              <a:ahLst/>
              <a:cxnLst/>
              <a:rect l="l" t="t" r="r" b="b"/>
              <a:pathLst>
                <a:path w="2131060" h="161290">
                  <a:moveTo>
                    <a:pt x="2130567" y="0"/>
                  </a:moveTo>
                  <a:lnTo>
                    <a:pt x="0" y="0"/>
                  </a:lnTo>
                  <a:lnTo>
                    <a:pt x="0" y="160890"/>
                  </a:lnTo>
                  <a:lnTo>
                    <a:pt x="2130567" y="160890"/>
                  </a:lnTo>
                  <a:lnTo>
                    <a:pt x="2130567" y="0"/>
                  </a:lnTo>
                  <a:close/>
                </a:path>
              </a:pathLst>
            </a:custGeom>
            <a:solidFill>
              <a:srgbClr val="E6E7E8"/>
            </a:solidFill>
          </p:spPr>
          <p:txBody>
            <a:bodyPr wrap="square" lIns="0" tIns="0" rIns="0" bIns="0" rtlCol="0"/>
            <a:lstStyle/>
            <a:p>
              <a:endParaRPr/>
            </a:p>
          </p:txBody>
        </p:sp>
      </p:grpSp>
      <p:sp>
        <p:nvSpPr>
          <p:cNvPr id="18" name="object 18"/>
          <p:cNvSpPr txBox="1"/>
          <p:nvPr/>
        </p:nvSpPr>
        <p:spPr>
          <a:xfrm>
            <a:off x="809413" y="1240482"/>
            <a:ext cx="2131060" cy="161290"/>
          </a:xfrm>
          <a:prstGeom prst="rect">
            <a:avLst/>
          </a:prstGeom>
          <a:ln w="5976">
            <a:solidFill>
              <a:srgbClr val="231F20"/>
            </a:solidFill>
          </a:ln>
        </p:spPr>
        <p:txBody>
          <a:bodyPr vert="horz" wrap="square" lIns="0" tIns="26669" rIns="0" bIns="0" rtlCol="0">
            <a:spAutoFit/>
          </a:bodyPr>
          <a:lstStyle/>
          <a:p>
            <a:pPr marL="273685" algn="ctr">
              <a:lnSpc>
                <a:spcPct val="100000"/>
              </a:lnSpc>
              <a:spcBef>
                <a:spcPts val="209"/>
              </a:spcBef>
            </a:pPr>
            <a:r>
              <a:rPr sz="650" spc="5" dirty="0">
                <a:solidFill>
                  <a:srgbClr val="231F20"/>
                </a:solidFill>
                <a:latin typeface="Arial"/>
                <a:cs typeface="Arial"/>
              </a:rPr>
              <a:t>Application</a:t>
            </a:r>
            <a:endParaRPr sz="650">
              <a:latin typeface="Arial"/>
              <a:cs typeface="Arial"/>
            </a:endParaRPr>
          </a:p>
        </p:txBody>
      </p:sp>
      <p:sp>
        <p:nvSpPr>
          <p:cNvPr id="19" name="object 19"/>
          <p:cNvSpPr txBox="1"/>
          <p:nvPr/>
        </p:nvSpPr>
        <p:spPr>
          <a:xfrm>
            <a:off x="809413" y="1963352"/>
            <a:ext cx="2131060" cy="155575"/>
          </a:xfrm>
          <a:prstGeom prst="rect">
            <a:avLst/>
          </a:prstGeom>
          <a:ln w="5976">
            <a:solidFill>
              <a:srgbClr val="231F20"/>
            </a:solidFill>
          </a:ln>
        </p:spPr>
        <p:txBody>
          <a:bodyPr vert="horz" wrap="square" lIns="0" tIns="22225" rIns="0" bIns="0" rtlCol="0">
            <a:spAutoFit/>
          </a:bodyPr>
          <a:lstStyle/>
          <a:p>
            <a:pPr marL="947419">
              <a:lnSpc>
                <a:spcPct val="100000"/>
              </a:lnSpc>
              <a:spcBef>
                <a:spcPts val="175"/>
              </a:spcBef>
            </a:pPr>
            <a:r>
              <a:rPr sz="650" spc="5" dirty="0">
                <a:solidFill>
                  <a:srgbClr val="231F20"/>
                </a:solidFill>
                <a:latin typeface="Arial"/>
                <a:cs typeface="Arial"/>
              </a:rPr>
              <a:t>Infrastructure</a:t>
            </a:r>
            <a:endParaRPr sz="650">
              <a:latin typeface="Arial"/>
              <a:cs typeface="Arial"/>
            </a:endParaRPr>
          </a:p>
        </p:txBody>
      </p:sp>
      <p:sp>
        <p:nvSpPr>
          <p:cNvPr id="20" name="object 20"/>
          <p:cNvSpPr txBox="1"/>
          <p:nvPr/>
        </p:nvSpPr>
        <p:spPr>
          <a:xfrm>
            <a:off x="1117724" y="1801052"/>
            <a:ext cx="1469390" cy="127000"/>
          </a:xfrm>
          <a:prstGeom prst="rect">
            <a:avLst/>
          </a:prstGeom>
        </p:spPr>
        <p:txBody>
          <a:bodyPr vert="horz" wrap="square" lIns="0" tIns="13970" rIns="0" bIns="0" rtlCol="0">
            <a:spAutoFit/>
          </a:bodyPr>
          <a:lstStyle/>
          <a:p>
            <a:pPr marL="12700">
              <a:lnSpc>
                <a:spcPct val="100000"/>
              </a:lnSpc>
              <a:spcBef>
                <a:spcPts val="110"/>
              </a:spcBef>
            </a:pPr>
            <a:r>
              <a:rPr sz="650" i="1" spc="5" dirty="0">
                <a:solidFill>
                  <a:srgbClr val="231F20"/>
                </a:solidFill>
                <a:latin typeface="Arial"/>
                <a:cs typeface="Arial"/>
              </a:rPr>
              <a:t>Computation</a:t>
            </a:r>
            <a:r>
              <a:rPr sz="650" i="1" spc="-10" dirty="0">
                <a:solidFill>
                  <a:srgbClr val="231F20"/>
                </a:solidFill>
                <a:latin typeface="Arial"/>
                <a:cs typeface="Arial"/>
              </a:rPr>
              <a:t> </a:t>
            </a:r>
            <a:r>
              <a:rPr sz="650" i="1" spc="5" dirty="0">
                <a:solidFill>
                  <a:srgbClr val="231F20"/>
                </a:solidFill>
                <a:latin typeface="Arial"/>
                <a:cs typeface="Arial"/>
              </a:rPr>
              <a:t>(VM),</a:t>
            </a:r>
            <a:r>
              <a:rPr sz="650" i="1" spc="-5" dirty="0">
                <a:solidFill>
                  <a:srgbClr val="231F20"/>
                </a:solidFill>
                <a:latin typeface="Arial"/>
                <a:cs typeface="Arial"/>
              </a:rPr>
              <a:t> </a:t>
            </a:r>
            <a:r>
              <a:rPr sz="650" i="1" spc="5" dirty="0">
                <a:solidFill>
                  <a:srgbClr val="231F20"/>
                </a:solidFill>
                <a:latin typeface="Arial"/>
                <a:cs typeface="Arial"/>
              </a:rPr>
              <a:t>storage</a:t>
            </a:r>
            <a:r>
              <a:rPr sz="650" i="1" spc="-10" dirty="0">
                <a:solidFill>
                  <a:srgbClr val="231F20"/>
                </a:solidFill>
                <a:latin typeface="Arial"/>
                <a:cs typeface="Arial"/>
              </a:rPr>
              <a:t> </a:t>
            </a:r>
            <a:r>
              <a:rPr sz="650" i="1" spc="5" dirty="0">
                <a:solidFill>
                  <a:srgbClr val="231F20"/>
                </a:solidFill>
                <a:latin typeface="Arial"/>
                <a:cs typeface="Arial"/>
              </a:rPr>
              <a:t>(block,</a:t>
            </a:r>
            <a:r>
              <a:rPr sz="650" i="1" spc="-5" dirty="0">
                <a:solidFill>
                  <a:srgbClr val="231F20"/>
                </a:solidFill>
                <a:latin typeface="Arial"/>
                <a:cs typeface="Arial"/>
              </a:rPr>
              <a:t> </a:t>
            </a:r>
            <a:r>
              <a:rPr sz="650" i="1" dirty="0">
                <a:solidFill>
                  <a:srgbClr val="231F20"/>
                </a:solidFill>
                <a:latin typeface="Arial"/>
                <a:cs typeface="Arial"/>
              </a:rPr>
              <a:t>file)</a:t>
            </a:r>
            <a:endParaRPr sz="650">
              <a:latin typeface="Arial"/>
              <a:cs typeface="Arial"/>
            </a:endParaRPr>
          </a:p>
        </p:txBody>
      </p:sp>
      <p:sp>
        <p:nvSpPr>
          <p:cNvPr id="21" name="object 21"/>
          <p:cNvSpPr txBox="1"/>
          <p:nvPr/>
        </p:nvSpPr>
        <p:spPr>
          <a:xfrm>
            <a:off x="809413" y="2319033"/>
            <a:ext cx="2131060" cy="158115"/>
          </a:xfrm>
          <a:prstGeom prst="rect">
            <a:avLst/>
          </a:prstGeom>
          <a:ln w="5976">
            <a:solidFill>
              <a:srgbClr val="231F20"/>
            </a:solidFill>
          </a:ln>
        </p:spPr>
        <p:txBody>
          <a:bodyPr vert="horz" wrap="square" lIns="0" tIns="43180" rIns="0" bIns="0" rtlCol="0">
            <a:spAutoFit/>
          </a:bodyPr>
          <a:lstStyle/>
          <a:p>
            <a:pPr marL="276860" algn="ctr">
              <a:lnSpc>
                <a:spcPct val="100000"/>
              </a:lnSpc>
              <a:spcBef>
                <a:spcPts val="340"/>
              </a:spcBef>
            </a:pPr>
            <a:r>
              <a:rPr sz="650" spc="5" dirty="0">
                <a:solidFill>
                  <a:srgbClr val="231F20"/>
                </a:solidFill>
                <a:latin typeface="Arial"/>
                <a:cs typeface="Arial"/>
              </a:rPr>
              <a:t>Hardware</a:t>
            </a:r>
            <a:endParaRPr sz="650">
              <a:latin typeface="Arial"/>
              <a:cs typeface="Arial"/>
            </a:endParaRPr>
          </a:p>
        </p:txBody>
      </p:sp>
      <p:sp>
        <p:nvSpPr>
          <p:cNvPr id="22" name="object 22"/>
          <p:cNvSpPr txBox="1"/>
          <p:nvPr/>
        </p:nvSpPr>
        <p:spPr>
          <a:xfrm>
            <a:off x="809413" y="1601915"/>
            <a:ext cx="2131060" cy="158115"/>
          </a:xfrm>
          <a:prstGeom prst="rect">
            <a:avLst/>
          </a:prstGeom>
          <a:ln w="5976">
            <a:solidFill>
              <a:srgbClr val="231F20"/>
            </a:solidFill>
          </a:ln>
        </p:spPr>
        <p:txBody>
          <a:bodyPr vert="horz" wrap="square" lIns="0" tIns="19685" rIns="0" bIns="0" rtlCol="0">
            <a:spAutoFit/>
          </a:bodyPr>
          <a:lstStyle/>
          <a:p>
            <a:pPr marL="278130" algn="ctr">
              <a:lnSpc>
                <a:spcPct val="100000"/>
              </a:lnSpc>
              <a:spcBef>
                <a:spcPts val="155"/>
              </a:spcBef>
            </a:pPr>
            <a:r>
              <a:rPr sz="650" spc="5" dirty="0">
                <a:solidFill>
                  <a:srgbClr val="231F20"/>
                </a:solidFill>
                <a:latin typeface="Arial"/>
                <a:cs typeface="Arial"/>
              </a:rPr>
              <a:t>Platforms</a:t>
            </a:r>
            <a:endParaRPr sz="650">
              <a:latin typeface="Arial"/>
              <a:cs typeface="Arial"/>
            </a:endParaRPr>
          </a:p>
        </p:txBody>
      </p:sp>
      <p:sp>
        <p:nvSpPr>
          <p:cNvPr id="23" name="object 23"/>
          <p:cNvSpPr txBox="1"/>
          <p:nvPr/>
        </p:nvSpPr>
        <p:spPr>
          <a:xfrm>
            <a:off x="1217385" y="1390405"/>
            <a:ext cx="1497330" cy="220979"/>
          </a:xfrm>
          <a:prstGeom prst="rect">
            <a:avLst/>
          </a:prstGeom>
        </p:spPr>
        <p:txBody>
          <a:bodyPr vert="horz" wrap="square" lIns="0" tIns="21590" rIns="0" bIns="0" rtlCol="0">
            <a:spAutoFit/>
          </a:bodyPr>
          <a:lstStyle/>
          <a:p>
            <a:pPr marL="366395" marR="5080" indent="-354330">
              <a:lnSpc>
                <a:spcPts val="740"/>
              </a:lnSpc>
              <a:spcBef>
                <a:spcPts val="170"/>
              </a:spcBef>
            </a:pPr>
            <a:r>
              <a:rPr sz="650" i="1" spc="5" dirty="0">
                <a:solidFill>
                  <a:srgbClr val="231F20"/>
                </a:solidFill>
                <a:latin typeface="Arial"/>
                <a:cs typeface="Arial"/>
              </a:rPr>
              <a:t>Software</a:t>
            </a:r>
            <a:r>
              <a:rPr sz="650" i="1" spc="-20" dirty="0">
                <a:solidFill>
                  <a:srgbClr val="231F20"/>
                </a:solidFill>
                <a:latin typeface="Arial"/>
                <a:cs typeface="Arial"/>
              </a:rPr>
              <a:t> </a:t>
            </a:r>
            <a:r>
              <a:rPr sz="650" i="1" spc="5" dirty="0">
                <a:solidFill>
                  <a:srgbClr val="231F20"/>
                </a:solidFill>
                <a:latin typeface="Arial"/>
                <a:cs typeface="Arial"/>
              </a:rPr>
              <a:t>framework</a:t>
            </a:r>
            <a:r>
              <a:rPr sz="650" i="1" spc="-20" dirty="0">
                <a:solidFill>
                  <a:srgbClr val="231F20"/>
                </a:solidFill>
                <a:latin typeface="Arial"/>
                <a:cs typeface="Arial"/>
              </a:rPr>
              <a:t> </a:t>
            </a:r>
            <a:r>
              <a:rPr sz="650" i="1" spc="5" dirty="0">
                <a:solidFill>
                  <a:srgbClr val="231F20"/>
                </a:solidFill>
                <a:latin typeface="Arial"/>
                <a:cs typeface="Arial"/>
              </a:rPr>
              <a:t>(Java/Python/.Net) </a:t>
            </a:r>
            <a:r>
              <a:rPr sz="650" i="1" spc="-165" dirty="0">
                <a:solidFill>
                  <a:srgbClr val="231F20"/>
                </a:solidFill>
                <a:latin typeface="Arial"/>
                <a:cs typeface="Arial"/>
              </a:rPr>
              <a:t> </a:t>
            </a:r>
            <a:r>
              <a:rPr sz="650" i="1" spc="5" dirty="0">
                <a:solidFill>
                  <a:srgbClr val="231F20"/>
                </a:solidFill>
                <a:latin typeface="Arial"/>
                <a:cs typeface="Arial"/>
              </a:rPr>
              <a:t>Storage</a:t>
            </a:r>
            <a:r>
              <a:rPr sz="650" i="1" spc="-5" dirty="0">
                <a:solidFill>
                  <a:srgbClr val="231F20"/>
                </a:solidFill>
                <a:latin typeface="Arial"/>
                <a:cs typeface="Arial"/>
              </a:rPr>
              <a:t> </a:t>
            </a:r>
            <a:r>
              <a:rPr sz="650" i="1" spc="5" dirty="0">
                <a:solidFill>
                  <a:srgbClr val="231F20"/>
                </a:solidFill>
                <a:latin typeface="Arial"/>
                <a:cs typeface="Arial"/>
              </a:rPr>
              <a:t>(databases)</a:t>
            </a:r>
            <a:endParaRPr sz="650">
              <a:latin typeface="Arial"/>
              <a:cs typeface="Arial"/>
            </a:endParaRPr>
          </a:p>
        </p:txBody>
      </p:sp>
      <p:sp>
        <p:nvSpPr>
          <p:cNvPr id="24" name="object 24"/>
          <p:cNvSpPr txBox="1"/>
          <p:nvPr/>
        </p:nvSpPr>
        <p:spPr>
          <a:xfrm>
            <a:off x="531242" y="2014271"/>
            <a:ext cx="216535" cy="522605"/>
          </a:xfrm>
          <a:prstGeom prst="rect">
            <a:avLst/>
          </a:prstGeom>
        </p:spPr>
        <p:txBody>
          <a:bodyPr vert="vert270" wrap="square" lIns="0" tIns="0" rIns="0" bIns="0" rtlCol="0">
            <a:spAutoFit/>
          </a:bodyPr>
          <a:lstStyle/>
          <a:p>
            <a:pPr algn="ctr">
              <a:lnSpc>
                <a:spcPts val="745"/>
              </a:lnSpc>
            </a:pPr>
            <a:r>
              <a:rPr sz="650" spc="5" dirty="0">
                <a:solidFill>
                  <a:srgbClr val="231F20"/>
                </a:solidFill>
                <a:latin typeface="Arial"/>
                <a:cs typeface="Arial"/>
              </a:rPr>
              <a:t>Infrastructure</a:t>
            </a:r>
            <a:endParaRPr sz="650">
              <a:latin typeface="Arial"/>
              <a:cs typeface="Arial"/>
            </a:endParaRPr>
          </a:p>
          <a:p>
            <a:pPr marL="29209" algn="ctr">
              <a:lnSpc>
                <a:spcPct val="100000"/>
              </a:lnSpc>
              <a:spcBef>
                <a:spcPts val="55"/>
              </a:spcBef>
            </a:pPr>
            <a:r>
              <a:rPr sz="650" spc="5" dirty="0">
                <a:solidFill>
                  <a:srgbClr val="231F20"/>
                </a:solidFill>
                <a:latin typeface="Arial"/>
                <a:cs typeface="Arial"/>
              </a:rPr>
              <a:t>aa</a:t>
            </a:r>
            <a:r>
              <a:rPr sz="650" spc="-40" dirty="0">
                <a:solidFill>
                  <a:srgbClr val="231F20"/>
                </a:solidFill>
                <a:latin typeface="Arial"/>
                <a:cs typeface="Arial"/>
              </a:rPr>
              <a:t> </a:t>
            </a:r>
            <a:r>
              <a:rPr sz="650" spc="5" dirty="0">
                <a:solidFill>
                  <a:srgbClr val="231F20"/>
                </a:solidFill>
                <a:latin typeface="Arial"/>
                <a:cs typeface="Arial"/>
              </a:rPr>
              <a:t>Svc</a:t>
            </a:r>
            <a:endParaRPr sz="650">
              <a:latin typeface="Arial"/>
              <a:cs typeface="Arial"/>
            </a:endParaRPr>
          </a:p>
        </p:txBody>
      </p:sp>
      <p:sp>
        <p:nvSpPr>
          <p:cNvPr id="25" name="object 25"/>
          <p:cNvSpPr txBox="1"/>
          <p:nvPr/>
        </p:nvSpPr>
        <p:spPr>
          <a:xfrm>
            <a:off x="534277" y="1541353"/>
            <a:ext cx="216535" cy="339725"/>
          </a:xfrm>
          <a:prstGeom prst="rect">
            <a:avLst/>
          </a:prstGeom>
        </p:spPr>
        <p:txBody>
          <a:bodyPr vert="vert270" wrap="square" lIns="0" tIns="0" rIns="0" bIns="0" rtlCol="0">
            <a:spAutoFit/>
          </a:bodyPr>
          <a:lstStyle/>
          <a:p>
            <a:pPr marL="12700">
              <a:lnSpc>
                <a:spcPts val="745"/>
              </a:lnSpc>
            </a:pPr>
            <a:r>
              <a:rPr sz="650" dirty="0">
                <a:solidFill>
                  <a:srgbClr val="231F20"/>
                </a:solidFill>
                <a:latin typeface="Arial"/>
                <a:cs typeface="Arial"/>
              </a:rPr>
              <a:t>Platform</a:t>
            </a:r>
            <a:endParaRPr sz="650">
              <a:latin typeface="Arial"/>
              <a:cs typeface="Arial"/>
            </a:endParaRPr>
          </a:p>
          <a:p>
            <a:pPr marL="44450">
              <a:lnSpc>
                <a:spcPct val="100000"/>
              </a:lnSpc>
              <a:spcBef>
                <a:spcPts val="55"/>
              </a:spcBef>
            </a:pPr>
            <a:r>
              <a:rPr sz="650" dirty="0">
                <a:solidFill>
                  <a:srgbClr val="231F20"/>
                </a:solidFill>
                <a:latin typeface="Arial"/>
                <a:cs typeface="Arial"/>
              </a:rPr>
              <a:t>aa Svc</a:t>
            </a:r>
            <a:endParaRPr sz="650">
              <a:latin typeface="Arial"/>
              <a:cs typeface="Arial"/>
            </a:endParaRPr>
          </a:p>
        </p:txBody>
      </p:sp>
      <p:sp>
        <p:nvSpPr>
          <p:cNvPr id="26" name="object 26"/>
          <p:cNvSpPr txBox="1"/>
          <p:nvPr/>
        </p:nvSpPr>
        <p:spPr>
          <a:xfrm>
            <a:off x="534277" y="1011775"/>
            <a:ext cx="218440" cy="358775"/>
          </a:xfrm>
          <a:prstGeom prst="rect">
            <a:avLst/>
          </a:prstGeom>
        </p:spPr>
        <p:txBody>
          <a:bodyPr vert="vert270" wrap="square" lIns="0" tIns="0" rIns="0" bIns="0" rtlCol="0">
            <a:spAutoFit/>
          </a:bodyPr>
          <a:lstStyle/>
          <a:p>
            <a:pPr marL="12700">
              <a:lnSpc>
                <a:spcPts val="725"/>
              </a:lnSpc>
            </a:pPr>
            <a:r>
              <a:rPr sz="650" dirty="0">
                <a:solidFill>
                  <a:srgbClr val="231F20"/>
                </a:solidFill>
                <a:latin typeface="Arial"/>
                <a:cs typeface="Arial"/>
              </a:rPr>
              <a:t>Software</a:t>
            </a:r>
            <a:endParaRPr sz="650">
              <a:latin typeface="Arial"/>
              <a:cs typeface="Arial"/>
            </a:endParaRPr>
          </a:p>
          <a:p>
            <a:pPr marL="53975">
              <a:lnSpc>
                <a:spcPts val="880"/>
              </a:lnSpc>
            </a:pPr>
            <a:r>
              <a:rPr sz="750" dirty="0">
                <a:solidFill>
                  <a:srgbClr val="231F20"/>
                </a:solidFill>
                <a:latin typeface="Arial"/>
                <a:cs typeface="Arial"/>
              </a:rPr>
              <a:t>aa</a:t>
            </a:r>
            <a:r>
              <a:rPr sz="750" spc="-5" dirty="0">
                <a:solidFill>
                  <a:srgbClr val="231F20"/>
                </a:solidFill>
                <a:latin typeface="Arial"/>
                <a:cs typeface="Arial"/>
              </a:rPr>
              <a:t> </a:t>
            </a:r>
            <a:r>
              <a:rPr sz="750" dirty="0">
                <a:solidFill>
                  <a:srgbClr val="231F20"/>
                </a:solidFill>
                <a:latin typeface="Arial"/>
                <a:cs typeface="Arial"/>
              </a:rPr>
              <a:t>Svc</a:t>
            </a:r>
            <a:endParaRPr sz="750">
              <a:latin typeface="Arial"/>
              <a:cs typeface="Arial"/>
            </a:endParaRPr>
          </a:p>
        </p:txBody>
      </p:sp>
      <p:sp>
        <p:nvSpPr>
          <p:cNvPr id="27" name="object 27"/>
          <p:cNvSpPr/>
          <p:nvPr/>
        </p:nvSpPr>
        <p:spPr>
          <a:xfrm>
            <a:off x="510613" y="1461140"/>
            <a:ext cx="299085" cy="448309"/>
          </a:xfrm>
          <a:custGeom>
            <a:avLst/>
            <a:gdLst/>
            <a:ahLst/>
            <a:cxnLst/>
            <a:rect l="l" t="t" r="r" b="b"/>
            <a:pathLst>
              <a:path w="299084" h="448310">
                <a:moveTo>
                  <a:pt x="0" y="0"/>
                </a:moveTo>
                <a:lnTo>
                  <a:pt x="298800" y="0"/>
                </a:lnTo>
              </a:path>
              <a:path w="299084" h="448310">
                <a:moveTo>
                  <a:pt x="0" y="448202"/>
                </a:moveTo>
                <a:lnTo>
                  <a:pt x="298800" y="448202"/>
                </a:lnTo>
              </a:path>
            </a:pathLst>
          </a:custGeom>
          <a:ln w="10538">
            <a:solidFill>
              <a:srgbClr val="231F20"/>
            </a:solidFill>
            <a:prstDash val="lgDash"/>
          </a:ln>
        </p:spPr>
        <p:txBody>
          <a:bodyPr wrap="square" lIns="0" tIns="0" rIns="0" bIns="0" rtlCol="0"/>
          <a:lstStyle/>
          <a:p>
            <a:endParaRPr/>
          </a:p>
        </p:txBody>
      </p:sp>
      <p:sp>
        <p:nvSpPr>
          <p:cNvPr id="28" name="object 28"/>
          <p:cNvSpPr txBox="1"/>
          <p:nvPr/>
        </p:nvSpPr>
        <p:spPr>
          <a:xfrm>
            <a:off x="3369661" y="1328949"/>
            <a:ext cx="742950" cy="220979"/>
          </a:xfrm>
          <a:prstGeom prst="rect">
            <a:avLst/>
          </a:prstGeom>
        </p:spPr>
        <p:txBody>
          <a:bodyPr vert="horz" wrap="square" lIns="0" tIns="13970" rIns="0" bIns="0" rtlCol="0">
            <a:spAutoFit/>
          </a:bodyPr>
          <a:lstStyle/>
          <a:p>
            <a:pPr marL="12700">
              <a:lnSpc>
                <a:spcPts val="760"/>
              </a:lnSpc>
              <a:spcBef>
                <a:spcPts val="110"/>
              </a:spcBef>
            </a:pPr>
            <a:r>
              <a:rPr sz="650" spc="10" dirty="0">
                <a:solidFill>
                  <a:srgbClr val="231F20"/>
                </a:solidFill>
                <a:latin typeface="Arial"/>
                <a:cs typeface="Arial"/>
              </a:rPr>
              <a:t>MS</a:t>
            </a:r>
            <a:r>
              <a:rPr sz="650" spc="-40" dirty="0">
                <a:solidFill>
                  <a:srgbClr val="231F20"/>
                </a:solidFill>
                <a:latin typeface="Arial"/>
                <a:cs typeface="Arial"/>
              </a:rPr>
              <a:t> </a:t>
            </a:r>
            <a:r>
              <a:rPr sz="650" spc="5" dirty="0">
                <a:solidFill>
                  <a:srgbClr val="231F20"/>
                </a:solidFill>
                <a:latin typeface="Arial"/>
                <a:cs typeface="Arial"/>
              </a:rPr>
              <a:t>Azure</a:t>
            </a:r>
            <a:endParaRPr sz="650">
              <a:latin typeface="Arial"/>
              <a:cs typeface="Arial"/>
            </a:endParaRPr>
          </a:p>
          <a:p>
            <a:pPr marL="12700">
              <a:lnSpc>
                <a:spcPts val="760"/>
              </a:lnSpc>
            </a:pPr>
            <a:r>
              <a:rPr sz="650" spc="5" dirty="0">
                <a:solidFill>
                  <a:srgbClr val="231F20"/>
                </a:solidFill>
                <a:latin typeface="Arial"/>
                <a:cs typeface="Arial"/>
              </a:rPr>
              <a:t>Google</a:t>
            </a:r>
            <a:r>
              <a:rPr sz="650" spc="-35" dirty="0">
                <a:solidFill>
                  <a:srgbClr val="231F20"/>
                </a:solidFill>
                <a:latin typeface="Arial"/>
                <a:cs typeface="Arial"/>
              </a:rPr>
              <a:t> </a:t>
            </a:r>
            <a:r>
              <a:rPr sz="650" spc="5" dirty="0">
                <a:solidFill>
                  <a:srgbClr val="231F20"/>
                </a:solidFill>
                <a:latin typeface="Arial"/>
                <a:cs typeface="Arial"/>
              </a:rPr>
              <a:t>App</a:t>
            </a:r>
            <a:r>
              <a:rPr sz="650" dirty="0">
                <a:solidFill>
                  <a:srgbClr val="231F20"/>
                </a:solidFill>
                <a:latin typeface="Arial"/>
                <a:cs typeface="Arial"/>
              </a:rPr>
              <a:t> </a:t>
            </a:r>
            <a:r>
              <a:rPr sz="650" spc="5" dirty="0">
                <a:solidFill>
                  <a:srgbClr val="231F20"/>
                </a:solidFill>
                <a:latin typeface="Arial"/>
                <a:cs typeface="Arial"/>
              </a:rPr>
              <a:t>engine</a:t>
            </a:r>
            <a:endParaRPr sz="650">
              <a:latin typeface="Arial"/>
              <a:cs typeface="Arial"/>
            </a:endParaRPr>
          </a:p>
        </p:txBody>
      </p:sp>
      <p:sp>
        <p:nvSpPr>
          <p:cNvPr id="34" name="object 34"/>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Cloud</a:t>
            </a:r>
            <a:r>
              <a:rPr sz="600" spc="-3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computing</a:t>
            </a:r>
            <a:endParaRPr sz="600">
              <a:latin typeface="Arial"/>
              <a:cs typeface="Arial"/>
            </a:endParaRPr>
          </a:p>
        </p:txBody>
      </p:sp>
      <p:sp>
        <p:nvSpPr>
          <p:cNvPr id="35" name="object 3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34</a:t>
            </a:r>
            <a:r>
              <a:rPr spc="-40" dirty="0"/>
              <a:t> </a:t>
            </a:r>
            <a:r>
              <a:rPr spc="-5" dirty="0"/>
              <a:t>/</a:t>
            </a:r>
            <a:r>
              <a:rPr spc="-35" dirty="0"/>
              <a:t> </a:t>
            </a:r>
            <a:r>
              <a:rPr spc="-5" dirty="0"/>
              <a:t>56</a:t>
            </a:r>
          </a:p>
        </p:txBody>
      </p:sp>
      <p:sp>
        <p:nvSpPr>
          <p:cNvPr id="29" name="object 29"/>
          <p:cNvSpPr txBox="1"/>
          <p:nvPr/>
        </p:nvSpPr>
        <p:spPr>
          <a:xfrm>
            <a:off x="3366519" y="1702197"/>
            <a:ext cx="522605" cy="246379"/>
          </a:xfrm>
          <a:prstGeom prst="rect">
            <a:avLst/>
          </a:prstGeom>
        </p:spPr>
        <p:txBody>
          <a:bodyPr vert="horz" wrap="square" lIns="0" tIns="12065" rIns="0" bIns="0" rtlCol="0">
            <a:spAutoFit/>
          </a:bodyPr>
          <a:lstStyle/>
          <a:p>
            <a:pPr marL="12700" marR="5080" indent="-635">
              <a:lnSpc>
                <a:spcPct val="111500"/>
              </a:lnSpc>
              <a:spcBef>
                <a:spcPts val="95"/>
              </a:spcBef>
            </a:pPr>
            <a:r>
              <a:rPr sz="650" spc="5" dirty="0">
                <a:solidFill>
                  <a:srgbClr val="231F20"/>
                </a:solidFill>
                <a:latin typeface="Arial"/>
                <a:cs typeface="Arial"/>
              </a:rPr>
              <a:t>Amazon S3 </a:t>
            </a:r>
            <a:r>
              <a:rPr sz="650" spc="10" dirty="0">
                <a:solidFill>
                  <a:srgbClr val="231F20"/>
                </a:solidFill>
                <a:latin typeface="Arial"/>
                <a:cs typeface="Arial"/>
              </a:rPr>
              <a:t> </a:t>
            </a:r>
            <a:r>
              <a:rPr sz="650" spc="5" dirty="0">
                <a:solidFill>
                  <a:srgbClr val="231F20"/>
                </a:solidFill>
                <a:latin typeface="Arial"/>
                <a:cs typeface="Arial"/>
              </a:rPr>
              <a:t>Amazon</a:t>
            </a:r>
            <a:r>
              <a:rPr sz="650" dirty="0">
                <a:solidFill>
                  <a:srgbClr val="231F20"/>
                </a:solidFill>
                <a:latin typeface="Arial"/>
                <a:cs typeface="Arial"/>
              </a:rPr>
              <a:t> </a:t>
            </a:r>
            <a:r>
              <a:rPr sz="650" spc="5" dirty="0">
                <a:solidFill>
                  <a:srgbClr val="231F20"/>
                </a:solidFill>
                <a:latin typeface="Arial"/>
                <a:cs typeface="Arial"/>
              </a:rPr>
              <a:t>EC2</a:t>
            </a:r>
            <a:endParaRPr sz="650">
              <a:latin typeface="Arial"/>
              <a:cs typeface="Arial"/>
            </a:endParaRPr>
          </a:p>
        </p:txBody>
      </p:sp>
      <p:sp>
        <p:nvSpPr>
          <p:cNvPr id="30" name="object 30"/>
          <p:cNvSpPr txBox="1"/>
          <p:nvPr/>
        </p:nvSpPr>
        <p:spPr>
          <a:xfrm>
            <a:off x="3366103" y="2179295"/>
            <a:ext cx="48005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Datacenters</a:t>
            </a:r>
            <a:endParaRPr sz="650">
              <a:latin typeface="Arial"/>
              <a:cs typeface="Arial"/>
            </a:endParaRPr>
          </a:p>
        </p:txBody>
      </p:sp>
      <p:sp>
        <p:nvSpPr>
          <p:cNvPr id="31" name="object 31"/>
          <p:cNvSpPr txBox="1"/>
          <p:nvPr/>
        </p:nvSpPr>
        <p:spPr>
          <a:xfrm>
            <a:off x="1345077" y="2159481"/>
            <a:ext cx="1176655" cy="127000"/>
          </a:xfrm>
          <a:prstGeom prst="rect">
            <a:avLst/>
          </a:prstGeom>
        </p:spPr>
        <p:txBody>
          <a:bodyPr vert="horz" wrap="square" lIns="0" tIns="13970" rIns="0" bIns="0" rtlCol="0">
            <a:spAutoFit/>
          </a:bodyPr>
          <a:lstStyle/>
          <a:p>
            <a:pPr marL="12700">
              <a:lnSpc>
                <a:spcPct val="100000"/>
              </a:lnSpc>
              <a:spcBef>
                <a:spcPts val="110"/>
              </a:spcBef>
            </a:pPr>
            <a:r>
              <a:rPr sz="650" i="1" spc="5" dirty="0">
                <a:solidFill>
                  <a:srgbClr val="231F20"/>
                </a:solidFill>
                <a:latin typeface="Arial"/>
                <a:cs typeface="Arial"/>
              </a:rPr>
              <a:t>CPU,</a:t>
            </a:r>
            <a:r>
              <a:rPr sz="650" i="1" spc="-20" dirty="0">
                <a:solidFill>
                  <a:srgbClr val="231F20"/>
                </a:solidFill>
                <a:latin typeface="Arial"/>
                <a:cs typeface="Arial"/>
              </a:rPr>
              <a:t> </a:t>
            </a:r>
            <a:r>
              <a:rPr sz="650" i="1" dirty="0">
                <a:solidFill>
                  <a:srgbClr val="231F20"/>
                </a:solidFill>
                <a:latin typeface="Arial"/>
                <a:cs typeface="Arial"/>
              </a:rPr>
              <a:t>memory,</a:t>
            </a:r>
            <a:r>
              <a:rPr sz="650" i="1" spc="-15" dirty="0">
                <a:solidFill>
                  <a:srgbClr val="231F20"/>
                </a:solidFill>
                <a:latin typeface="Arial"/>
                <a:cs typeface="Arial"/>
              </a:rPr>
              <a:t> </a:t>
            </a:r>
            <a:r>
              <a:rPr sz="650" i="1" spc="5" dirty="0">
                <a:solidFill>
                  <a:srgbClr val="231F20"/>
                </a:solidFill>
                <a:latin typeface="Arial"/>
                <a:cs typeface="Arial"/>
              </a:rPr>
              <a:t>disk,</a:t>
            </a:r>
            <a:r>
              <a:rPr sz="650" i="1" spc="-20" dirty="0">
                <a:solidFill>
                  <a:srgbClr val="231F20"/>
                </a:solidFill>
                <a:latin typeface="Arial"/>
                <a:cs typeface="Arial"/>
              </a:rPr>
              <a:t> </a:t>
            </a:r>
            <a:r>
              <a:rPr sz="650" i="1" spc="5" dirty="0">
                <a:solidFill>
                  <a:srgbClr val="231F20"/>
                </a:solidFill>
                <a:latin typeface="Arial"/>
                <a:cs typeface="Arial"/>
              </a:rPr>
              <a:t>bandwidth</a:t>
            </a:r>
            <a:endParaRPr sz="650">
              <a:latin typeface="Arial"/>
              <a:cs typeface="Arial"/>
            </a:endParaRPr>
          </a:p>
        </p:txBody>
      </p:sp>
      <p:sp>
        <p:nvSpPr>
          <p:cNvPr id="32" name="object 32"/>
          <p:cNvSpPr txBox="1"/>
          <p:nvPr/>
        </p:nvSpPr>
        <p:spPr>
          <a:xfrm>
            <a:off x="1215036" y="1035673"/>
            <a:ext cx="1570355" cy="127000"/>
          </a:xfrm>
          <a:prstGeom prst="rect">
            <a:avLst/>
          </a:prstGeom>
        </p:spPr>
        <p:txBody>
          <a:bodyPr vert="horz" wrap="square" lIns="0" tIns="13970" rIns="0" bIns="0" rtlCol="0">
            <a:spAutoFit/>
          </a:bodyPr>
          <a:lstStyle/>
          <a:p>
            <a:pPr marL="12700">
              <a:lnSpc>
                <a:spcPct val="100000"/>
              </a:lnSpc>
              <a:spcBef>
                <a:spcPts val="110"/>
              </a:spcBef>
            </a:pPr>
            <a:r>
              <a:rPr sz="650" i="1" dirty="0">
                <a:solidFill>
                  <a:srgbClr val="231F20"/>
                </a:solidFill>
                <a:latin typeface="Arial"/>
                <a:cs typeface="Arial"/>
              </a:rPr>
              <a:t>Web</a:t>
            </a:r>
            <a:r>
              <a:rPr sz="650" i="1" spc="-10" dirty="0">
                <a:solidFill>
                  <a:srgbClr val="231F20"/>
                </a:solidFill>
                <a:latin typeface="Arial"/>
                <a:cs typeface="Arial"/>
              </a:rPr>
              <a:t> </a:t>
            </a:r>
            <a:r>
              <a:rPr sz="650" i="1" spc="5" dirty="0">
                <a:solidFill>
                  <a:srgbClr val="231F20"/>
                </a:solidFill>
                <a:latin typeface="Arial"/>
                <a:cs typeface="Arial"/>
              </a:rPr>
              <a:t>services,</a:t>
            </a:r>
            <a:r>
              <a:rPr sz="650" i="1" spc="-10" dirty="0">
                <a:solidFill>
                  <a:srgbClr val="231F20"/>
                </a:solidFill>
                <a:latin typeface="Arial"/>
                <a:cs typeface="Arial"/>
              </a:rPr>
              <a:t> </a:t>
            </a:r>
            <a:r>
              <a:rPr sz="650" i="1" spc="5" dirty="0">
                <a:solidFill>
                  <a:srgbClr val="231F20"/>
                </a:solidFill>
                <a:latin typeface="Arial"/>
                <a:cs typeface="Arial"/>
              </a:rPr>
              <a:t>multimedia,</a:t>
            </a:r>
            <a:r>
              <a:rPr sz="650" i="1" spc="-5" dirty="0">
                <a:solidFill>
                  <a:srgbClr val="231F20"/>
                </a:solidFill>
                <a:latin typeface="Arial"/>
                <a:cs typeface="Arial"/>
              </a:rPr>
              <a:t> </a:t>
            </a:r>
            <a:r>
              <a:rPr sz="650" i="1" spc="5" dirty="0">
                <a:solidFill>
                  <a:srgbClr val="231F20"/>
                </a:solidFill>
                <a:latin typeface="Arial"/>
                <a:cs typeface="Arial"/>
              </a:rPr>
              <a:t>business</a:t>
            </a:r>
            <a:r>
              <a:rPr sz="650" i="1" spc="-10" dirty="0">
                <a:solidFill>
                  <a:srgbClr val="231F20"/>
                </a:solidFill>
                <a:latin typeface="Arial"/>
                <a:cs typeface="Arial"/>
              </a:rPr>
              <a:t> </a:t>
            </a:r>
            <a:r>
              <a:rPr sz="650" i="1" spc="5" dirty="0">
                <a:solidFill>
                  <a:srgbClr val="231F20"/>
                </a:solidFill>
                <a:latin typeface="Arial"/>
                <a:cs typeface="Arial"/>
              </a:rPr>
              <a:t>apps</a:t>
            </a:r>
            <a:endParaRPr sz="650">
              <a:latin typeface="Arial"/>
              <a:cs typeface="Arial"/>
            </a:endParaRPr>
          </a:p>
        </p:txBody>
      </p:sp>
      <p:sp>
        <p:nvSpPr>
          <p:cNvPr id="33" name="object 33"/>
          <p:cNvSpPr txBox="1"/>
          <p:nvPr/>
        </p:nvSpPr>
        <p:spPr>
          <a:xfrm>
            <a:off x="3366127" y="916626"/>
            <a:ext cx="605155" cy="315595"/>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Google docs </a:t>
            </a:r>
            <a:r>
              <a:rPr sz="650" spc="10" dirty="0">
                <a:solidFill>
                  <a:srgbClr val="231F20"/>
                </a:solidFill>
                <a:latin typeface="Arial"/>
                <a:cs typeface="Arial"/>
              </a:rPr>
              <a:t> </a:t>
            </a:r>
            <a:r>
              <a:rPr sz="650" spc="5" dirty="0">
                <a:solidFill>
                  <a:srgbClr val="231F20"/>
                </a:solidFill>
                <a:latin typeface="Arial"/>
                <a:cs typeface="Arial"/>
              </a:rPr>
              <a:t>Gmail </a:t>
            </a:r>
            <a:r>
              <a:rPr sz="650" spc="10" dirty="0">
                <a:solidFill>
                  <a:srgbClr val="231F20"/>
                </a:solidFill>
                <a:latin typeface="Arial"/>
                <a:cs typeface="Arial"/>
              </a:rPr>
              <a:t> </a:t>
            </a:r>
            <a:r>
              <a:rPr sz="650" spc="-60" dirty="0">
                <a:solidFill>
                  <a:srgbClr val="231F20"/>
                </a:solidFill>
                <a:latin typeface="Arial"/>
                <a:cs typeface="Arial"/>
              </a:rPr>
              <a:t>Y</a:t>
            </a:r>
            <a:r>
              <a:rPr sz="650" spc="5" dirty="0">
                <a:solidFill>
                  <a:srgbClr val="231F20"/>
                </a:solidFill>
                <a:latin typeface="Arial"/>
                <a:cs typeface="Arial"/>
              </a:rPr>
              <a:t>ou</a:t>
            </a:r>
            <a:r>
              <a:rPr sz="650" spc="-20" dirty="0">
                <a:solidFill>
                  <a:srgbClr val="231F20"/>
                </a:solidFill>
                <a:latin typeface="Arial"/>
                <a:cs typeface="Arial"/>
              </a:rPr>
              <a:t>T</a:t>
            </a:r>
            <a:r>
              <a:rPr sz="650" spc="5" dirty="0">
                <a:solidFill>
                  <a:srgbClr val="231F20"/>
                </a:solidFill>
                <a:latin typeface="Arial"/>
                <a:cs typeface="Arial"/>
              </a:rPr>
              <a:t>ube,</a:t>
            </a:r>
            <a:r>
              <a:rPr sz="650" dirty="0">
                <a:solidFill>
                  <a:srgbClr val="231F20"/>
                </a:solidFill>
                <a:latin typeface="Arial"/>
                <a:cs typeface="Arial"/>
              </a:rPr>
              <a:t> </a:t>
            </a:r>
            <a:r>
              <a:rPr sz="650" spc="5" dirty="0">
                <a:solidFill>
                  <a:srgbClr val="231F20"/>
                </a:solidFill>
                <a:latin typeface="Arial"/>
                <a:cs typeface="Arial"/>
              </a:rPr>
              <a:t>Flickr</a:t>
            </a:r>
            <a:endParaRPr sz="650">
              <a:latin typeface="Arial"/>
              <a:cs typeface="Aria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Cloud</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35</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High 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4" name="object 4"/>
          <p:cNvSpPr txBox="1"/>
          <p:nvPr/>
        </p:nvSpPr>
        <p:spPr>
          <a:xfrm>
            <a:off x="82600" y="188846"/>
            <a:ext cx="4241165" cy="267716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Cloud</a:t>
            </a:r>
            <a:r>
              <a:rPr sz="1400" spc="-25" dirty="0">
                <a:solidFill>
                  <a:srgbClr val="3333B2"/>
                </a:solidFill>
                <a:latin typeface="Arial"/>
                <a:cs typeface="Arial"/>
              </a:rPr>
              <a:t> </a:t>
            </a:r>
            <a:r>
              <a:rPr sz="1400" spc="15" dirty="0">
                <a:solidFill>
                  <a:srgbClr val="3333B2"/>
                </a:solidFill>
                <a:latin typeface="Arial"/>
                <a:cs typeface="Arial"/>
              </a:rPr>
              <a:t>computing</a:t>
            </a:r>
            <a:endParaRPr sz="1400" dirty="0">
              <a:latin typeface="Arial"/>
              <a:cs typeface="Arial"/>
            </a:endParaRPr>
          </a:p>
          <a:p>
            <a:pPr>
              <a:lnSpc>
                <a:spcPct val="100000"/>
              </a:lnSpc>
              <a:spcBef>
                <a:spcPts val="35"/>
              </a:spcBef>
            </a:pPr>
            <a:endParaRPr sz="1700" dirty="0">
              <a:latin typeface="Arial"/>
              <a:cs typeface="Arial"/>
            </a:endParaRPr>
          </a:p>
          <a:p>
            <a:pPr marL="276860">
              <a:lnSpc>
                <a:spcPct val="100000"/>
              </a:lnSpc>
              <a:spcBef>
                <a:spcPts val="5"/>
              </a:spcBef>
            </a:pPr>
            <a:r>
              <a:rPr sz="1200" spc="-10" dirty="0">
                <a:solidFill>
                  <a:srgbClr val="3333B2"/>
                </a:solidFill>
                <a:latin typeface="Arial"/>
                <a:cs typeface="Arial"/>
              </a:rPr>
              <a:t>Make</a:t>
            </a:r>
            <a:r>
              <a:rPr sz="1200" spc="-15" dirty="0">
                <a:solidFill>
                  <a:srgbClr val="3333B2"/>
                </a:solidFill>
                <a:latin typeface="Arial"/>
                <a:cs typeface="Arial"/>
              </a:rPr>
              <a:t> </a:t>
            </a:r>
            <a:r>
              <a:rPr sz="1200" spc="-5" dirty="0">
                <a:solidFill>
                  <a:srgbClr val="3333B2"/>
                </a:solidFill>
                <a:latin typeface="Arial"/>
                <a:cs typeface="Arial"/>
              </a:rPr>
              <a:t>a</a:t>
            </a:r>
            <a:r>
              <a:rPr sz="1200" spc="-10" dirty="0">
                <a:solidFill>
                  <a:srgbClr val="3333B2"/>
                </a:solidFill>
                <a:latin typeface="Arial"/>
                <a:cs typeface="Arial"/>
              </a:rPr>
              <a:t> </a:t>
            </a:r>
            <a:r>
              <a:rPr sz="1200" spc="-5" dirty="0">
                <a:solidFill>
                  <a:srgbClr val="3333B2"/>
                </a:solidFill>
                <a:latin typeface="Arial"/>
                <a:cs typeface="Arial"/>
              </a:rPr>
              <a:t>distinction</a:t>
            </a:r>
            <a:r>
              <a:rPr sz="1200" spc="-10" dirty="0">
                <a:solidFill>
                  <a:srgbClr val="3333B2"/>
                </a:solidFill>
                <a:latin typeface="Arial"/>
                <a:cs typeface="Arial"/>
              </a:rPr>
              <a:t> </a:t>
            </a:r>
            <a:r>
              <a:rPr sz="1200" spc="-5" dirty="0">
                <a:solidFill>
                  <a:srgbClr val="3333B2"/>
                </a:solidFill>
                <a:latin typeface="Arial"/>
                <a:cs typeface="Arial"/>
              </a:rPr>
              <a:t>between</a:t>
            </a:r>
            <a:r>
              <a:rPr sz="1200" spc="-10" dirty="0">
                <a:solidFill>
                  <a:srgbClr val="3333B2"/>
                </a:solidFill>
                <a:latin typeface="Arial"/>
                <a:cs typeface="Arial"/>
              </a:rPr>
              <a:t> </a:t>
            </a:r>
            <a:r>
              <a:rPr sz="1200" spc="-15" dirty="0">
                <a:solidFill>
                  <a:srgbClr val="3333B2"/>
                </a:solidFill>
                <a:latin typeface="Arial"/>
                <a:cs typeface="Arial"/>
              </a:rPr>
              <a:t>four</a:t>
            </a:r>
            <a:r>
              <a:rPr sz="1200" spc="-10" dirty="0">
                <a:solidFill>
                  <a:srgbClr val="3333B2"/>
                </a:solidFill>
                <a:latin typeface="Arial"/>
                <a:cs typeface="Arial"/>
              </a:rPr>
              <a:t> </a:t>
            </a:r>
            <a:r>
              <a:rPr sz="1200" spc="-15" dirty="0">
                <a:solidFill>
                  <a:srgbClr val="3333B2"/>
                </a:solidFill>
                <a:latin typeface="Arial"/>
                <a:cs typeface="Arial"/>
              </a:rPr>
              <a:t>layers</a:t>
            </a:r>
            <a:endParaRPr sz="1200" dirty="0">
              <a:latin typeface="Arial"/>
              <a:cs typeface="Arial"/>
            </a:endParaRPr>
          </a:p>
          <a:p>
            <a:pPr marL="554355" marR="334010" indent="-168275">
              <a:lnSpc>
                <a:spcPct val="100000"/>
              </a:lnSpc>
              <a:spcBef>
                <a:spcPts val="775"/>
              </a:spcBef>
              <a:buClr>
                <a:srgbClr val="3333B2"/>
              </a:buClr>
              <a:buChar char="►"/>
              <a:tabLst>
                <a:tab pos="554990" algn="l"/>
              </a:tabLst>
            </a:pPr>
            <a:r>
              <a:rPr sz="1000" spc="-5" dirty="0">
                <a:solidFill>
                  <a:srgbClr val="FA0000"/>
                </a:solidFill>
                <a:latin typeface="Arial"/>
                <a:cs typeface="Arial"/>
              </a:rPr>
              <a:t>Hardware</a:t>
            </a:r>
            <a:r>
              <a:rPr sz="1000" spc="-5" dirty="0">
                <a:latin typeface="Arial"/>
                <a:cs typeface="Arial"/>
              </a:rPr>
              <a:t>:</a:t>
            </a:r>
            <a:r>
              <a:rPr sz="1000" spc="55" dirty="0">
                <a:latin typeface="Arial"/>
                <a:cs typeface="Arial"/>
              </a:rPr>
              <a:t> </a:t>
            </a:r>
            <a:r>
              <a:rPr sz="1000" spc="-5" dirty="0">
                <a:latin typeface="Arial"/>
                <a:cs typeface="Arial"/>
              </a:rPr>
              <a:t>Processors, routers, </a:t>
            </a:r>
            <a:r>
              <a:rPr sz="1000" spc="-10" dirty="0">
                <a:latin typeface="Arial"/>
                <a:cs typeface="Arial"/>
              </a:rPr>
              <a:t>power</a:t>
            </a:r>
            <a:r>
              <a:rPr sz="1000" spc="-5" dirty="0">
                <a:latin typeface="Arial"/>
                <a:cs typeface="Arial"/>
              </a:rPr>
              <a:t> and cooling systems. </a:t>
            </a:r>
            <a:r>
              <a:rPr sz="1000" spc="-260" dirty="0">
                <a:latin typeface="Arial"/>
                <a:cs typeface="Arial"/>
              </a:rPr>
              <a:t> </a:t>
            </a:r>
            <a:r>
              <a:rPr sz="1000" spc="-5" dirty="0">
                <a:latin typeface="Arial"/>
                <a:cs typeface="Arial"/>
              </a:rPr>
              <a:t>Customers</a:t>
            </a:r>
            <a:r>
              <a:rPr sz="1000" spc="-10" dirty="0">
                <a:latin typeface="Arial"/>
                <a:cs typeface="Arial"/>
              </a:rPr>
              <a:t> </a:t>
            </a:r>
            <a:r>
              <a:rPr sz="1000" dirty="0">
                <a:latin typeface="Arial"/>
                <a:cs typeface="Arial"/>
              </a:rPr>
              <a:t>normally</a:t>
            </a:r>
            <a:r>
              <a:rPr sz="1000" spc="-5" dirty="0">
                <a:latin typeface="Arial"/>
                <a:cs typeface="Arial"/>
              </a:rPr>
              <a:t> </a:t>
            </a:r>
            <a:r>
              <a:rPr sz="1000" spc="-15" dirty="0">
                <a:latin typeface="Arial"/>
                <a:cs typeface="Arial"/>
              </a:rPr>
              <a:t>never</a:t>
            </a:r>
            <a:r>
              <a:rPr sz="1000" spc="-5" dirty="0">
                <a:latin typeface="Arial"/>
                <a:cs typeface="Arial"/>
              </a:rPr>
              <a:t> get to see</a:t>
            </a:r>
            <a:r>
              <a:rPr sz="1000" spc="-10" dirty="0">
                <a:latin typeface="Arial"/>
                <a:cs typeface="Arial"/>
              </a:rPr>
              <a:t> </a:t>
            </a:r>
            <a:r>
              <a:rPr sz="1000" spc="-5" dirty="0">
                <a:latin typeface="Arial"/>
                <a:cs typeface="Arial"/>
              </a:rPr>
              <a:t>these.</a:t>
            </a:r>
            <a:endParaRPr sz="1000" dirty="0">
              <a:latin typeface="Arial"/>
              <a:cs typeface="Arial"/>
            </a:endParaRPr>
          </a:p>
          <a:p>
            <a:pPr marL="554355" marR="67310" indent="-168275">
              <a:lnSpc>
                <a:spcPct val="100000"/>
              </a:lnSpc>
              <a:spcBef>
                <a:spcPts val="590"/>
              </a:spcBef>
              <a:buClr>
                <a:srgbClr val="3333B2"/>
              </a:buClr>
              <a:buChar char="►"/>
              <a:tabLst>
                <a:tab pos="554990" algn="l"/>
              </a:tabLst>
            </a:pPr>
            <a:r>
              <a:rPr sz="1000" spc="-5" dirty="0">
                <a:solidFill>
                  <a:srgbClr val="FA0000"/>
                </a:solidFill>
                <a:latin typeface="Arial"/>
                <a:cs typeface="Arial"/>
              </a:rPr>
              <a:t>Infrastructure</a:t>
            </a:r>
            <a:r>
              <a:rPr sz="1000" spc="-5" dirty="0">
                <a:latin typeface="Arial"/>
                <a:cs typeface="Arial"/>
              </a:rPr>
              <a:t>:</a:t>
            </a:r>
            <a:r>
              <a:rPr sz="1000" spc="65" dirty="0">
                <a:latin typeface="Arial"/>
                <a:cs typeface="Arial"/>
              </a:rPr>
              <a:t> </a:t>
            </a:r>
            <a:r>
              <a:rPr sz="1000" spc="-10" dirty="0">
                <a:latin typeface="Arial"/>
                <a:cs typeface="Arial"/>
              </a:rPr>
              <a:t>Deploys</a:t>
            </a:r>
            <a:r>
              <a:rPr sz="1000" dirty="0">
                <a:latin typeface="Arial"/>
                <a:cs typeface="Arial"/>
              </a:rPr>
              <a:t> virtualization</a:t>
            </a:r>
            <a:r>
              <a:rPr sz="1000" spc="5" dirty="0">
                <a:latin typeface="Arial"/>
                <a:cs typeface="Arial"/>
              </a:rPr>
              <a:t> </a:t>
            </a:r>
            <a:r>
              <a:rPr sz="1000" spc="-5" dirty="0">
                <a:latin typeface="Arial"/>
                <a:cs typeface="Arial"/>
              </a:rPr>
              <a:t>techniques.</a:t>
            </a:r>
            <a:r>
              <a:rPr sz="1000" spc="65" dirty="0">
                <a:latin typeface="Arial"/>
                <a:cs typeface="Arial"/>
              </a:rPr>
              <a:t> </a:t>
            </a:r>
            <a:r>
              <a:rPr sz="1000" spc="-10" dirty="0">
                <a:latin typeface="Arial"/>
                <a:cs typeface="Arial"/>
              </a:rPr>
              <a:t>Evolves</a:t>
            </a:r>
            <a:r>
              <a:rPr sz="1000" dirty="0">
                <a:latin typeface="Arial"/>
                <a:cs typeface="Arial"/>
              </a:rPr>
              <a:t> </a:t>
            </a:r>
            <a:r>
              <a:rPr sz="1000" spc="-5" dirty="0">
                <a:latin typeface="Arial"/>
                <a:cs typeface="Arial"/>
              </a:rPr>
              <a:t>around </a:t>
            </a:r>
            <a:r>
              <a:rPr sz="1000" spc="-260" dirty="0">
                <a:latin typeface="Arial"/>
                <a:cs typeface="Arial"/>
              </a:rPr>
              <a:t> </a:t>
            </a:r>
            <a:r>
              <a:rPr sz="1000" spc="-5" dirty="0">
                <a:latin typeface="Arial"/>
                <a:cs typeface="Arial"/>
              </a:rPr>
              <a:t>allocating and</a:t>
            </a:r>
            <a:r>
              <a:rPr sz="1000" dirty="0">
                <a:latin typeface="Arial"/>
                <a:cs typeface="Arial"/>
              </a:rPr>
              <a:t> </a:t>
            </a:r>
            <a:r>
              <a:rPr sz="1000" spc="-5" dirty="0">
                <a:latin typeface="Arial"/>
                <a:cs typeface="Arial"/>
              </a:rPr>
              <a:t>managing</a:t>
            </a:r>
            <a:r>
              <a:rPr sz="1000" dirty="0">
                <a:latin typeface="Arial"/>
                <a:cs typeface="Arial"/>
              </a:rPr>
              <a:t> virtual</a:t>
            </a:r>
            <a:r>
              <a:rPr sz="1000" spc="-5" dirty="0">
                <a:latin typeface="Arial"/>
                <a:cs typeface="Arial"/>
              </a:rPr>
              <a:t> storage</a:t>
            </a:r>
            <a:r>
              <a:rPr sz="1000" dirty="0">
                <a:latin typeface="Arial"/>
                <a:cs typeface="Arial"/>
              </a:rPr>
              <a:t> </a:t>
            </a:r>
            <a:r>
              <a:rPr sz="1000" spc="-10" dirty="0">
                <a:latin typeface="Arial"/>
                <a:cs typeface="Arial"/>
              </a:rPr>
              <a:t>devices</a:t>
            </a:r>
            <a:r>
              <a:rPr sz="1000" dirty="0">
                <a:latin typeface="Arial"/>
                <a:cs typeface="Arial"/>
              </a:rPr>
              <a:t> </a:t>
            </a:r>
            <a:r>
              <a:rPr sz="1000" spc="-5" dirty="0">
                <a:latin typeface="Arial"/>
                <a:cs typeface="Arial"/>
              </a:rPr>
              <a:t>and</a:t>
            </a:r>
            <a:r>
              <a:rPr sz="1000" dirty="0">
                <a:latin typeface="Arial"/>
                <a:cs typeface="Arial"/>
              </a:rPr>
              <a:t> virtual </a:t>
            </a:r>
            <a:r>
              <a:rPr sz="1000" spc="5" dirty="0">
                <a:latin typeface="Arial"/>
                <a:cs typeface="Arial"/>
              </a:rPr>
              <a:t> </a:t>
            </a:r>
            <a:r>
              <a:rPr sz="1000" spc="-5" dirty="0">
                <a:latin typeface="Arial"/>
                <a:cs typeface="Arial"/>
              </a:rPr>
              <a:t>servers.</a:t>
            </a:r>
            <a:endParaRPr sz="1000" dirty="0">
              <a:latin typeface="Arial"/>
              <a:cs typeface="Arial"/>
            </a:endParaRPr>
          </a:p>
          <a:p>
            <a:pPr marL="554355" marR="43180" indent="-168275">
              <a:lnSpc>
                <a:spcPct val="100000"/>
              </a:lnSpc>
              <a:spcBef>
                <a:spcPts val="585"/>
              </a:spcBef>
              <a:buClr>
                <a:srgbClr val="3333B2"/>
              </a:buClr>
              <a:buChar char="►"/>
              <a:tabLst>
                <a:tab pos="554990" algn="l"/>
              </a:tabLst>
            </a:pPr>
            <a:r>
              <a:rPr sz="1000" spc="-10" dirty="0">
                <a:solidFill>
                  <a:srgbClr val="FA0000"/>
                </a:solidFill>
                <a:latin typeface="Arial"/>
                <a:cs typeface="Arial"/>
              </a:rPr>
              <a:t>Platform</a:t>
            </a:r>
            <a:r>
              <a:rPr sz="1000" spc="-10" dirty="0">
                <a:latin typeface="Arial"/>
                <a:cs typeface="Arial"/>
              </a:rPr>
              <a:t>:</a:t>
            </a:r>
            <a:r>
              <a:rPr sz="1000" spc="70" dirty="0">
                <a:latin typeface="Arial"/>
                <a:cs typeface="Arial"/>
              </a:rPr>
              <a:t> </a:t>
            </a:r>
            <a:r>
              <a:rPr sz="1000" spc="-10" dirty="0">
                <a:latin typeface="Arial"/>
                <a:cs typeface="Arial"/>
              </a:rPr>
              <a:t>Provides</a:t>
            </a:r>
            <a:r>
              <a:rPr sz="1000" spc="5" dirty="0">
                <a:latin typeface="Arial"/>
                <a:cs typeface="Arial"/>
              </a:rPr>
              <a:t> </a:t>
            </a:r>
            <a:r>
              <a:rPr sz="1000" spc="-10" dirty="0">
                <a:latin typeface="Arial"/>
                <a:cs typeface="Arial"/>
              </a:rPr>
              <a:t>higher-level</a:t>
            </a:r>
            <a:r>
              <a:rPr sz="1000" spc="5" dirty="0">
                <a:latin typeface="Arial"/>
                <a:cs typeface="Arial"/>
              </a:rPr>
              <a:t> </a:t>
            </a:r>
            <a:r>
              <a:rPr sz="1000" spc="-10" dirty="0">
                <a:latin typeface="Arial"/>
                <a:cs typeface="Arial"/>
              </a:rPr>
              <a:t>abstractions</a:t>
            </a:r>
            <a:r>
              <a:rPr sz="1000" spc="5" dirty="0">
                <a:latin typeface="Arial"/>
                <a:cs typeface="Arial"/>
              </a:rPr>
              <a:t> </a:t>
            </a:r>
            <a:r>
              <a:rPr sz="1000" spc="-15" dirty="0">
                <a:latin typeface="Arial"/>
                <a:cs typeface="Arial"/>
              </a:rPr>
              <a:t>for</a:t>
            </a:r>
            <a:r>
              <a:rPr sz="1000" spc="10" dirty="0">
                <a:latin typeface="Arial"/>
                <a:cs typeface="Arial"/>
              </a:rPr>
              <a:t> </a:t>
            </a:r>
            <a:r>
              <a:rPr sz="1000" spc="-10" dirty="0">
                <a:latin typeface="Arial"/>
                <a:cs typeface="Arial"/>
              </a:rPr>
              <a:t>storage</a:t>
            </a:r>
            <a:r>
              <a:rPr sz="1000" spc="5" dirty="0">
                <a:latin typeface="Arial"/>
                <a:cs typeface="Arial"/>
              </a:rPr>
              <a:t> </a:t>
            </a:r>
            <a:r>
              <a:rPr sz="1000" spc="-10" dirty="0">
                <a:latin typeface="Arial"/>
                <a:cs typeface="Arial"/>
              </a:rPr>
              <a:t>and</a:t>
            </a:r>
            <a:r>
              <a:rPr sz="1000" spc="5" dirty="0">
                <a:latin typeface="Arial"/>
                <a:cs typeface="Arial"/>
              </a:rPr>
              <a:t> </a:t>
            </a:r>
            <a:r>
              <a:rPr sz="1000" spc="-5" dirty="0">
                <a:latin typeface="Arial"/>
                <a:cs typeface="Arial"/>
              </a:rPr>
              <a:t>such. </a:t>
            </a:r>
            <a:r>
              <a:rPr sz="1000" spc="-265" dirty="0">
                <a:latin typeface="Arial"/>
                <a:cs typeface="Arial"/>
              </a:rPr>
              <a:t> </a:t>
            </a:r>
            <a:r>
              <a:rPr sz="1000" spc="-5" dirty="0">
                <a:latin typeface="Arial"/>
                <a:cs typeface="Arial"/>
              </a:rPr>
              <a:t>Example:</a:t>
            </a:r>
            <a:r>
              <a:rPr sz="1000" spc="60" dirty="0">
                <a:latin typeface="Arial"/>
                <a:cs typeface="Arial"/>
              </a:rPr>
              <a:t> </a:t>
            </a:r>
            <a:r>
              <a:rPr sz="1000" spc="-5" dirty="0">
                <a:latin typeface="Arial"/>
                <a:cs typeface="Arial"/>
              </a:rPr>
              <a:t>Amazon</a:t>
            </a:r>
            <a:r>
              <a:rPr sz="1000" dirty="0">
                <a:latin typeface="Arial"/>
                <a:cs typeface="Arial"/>
              </a:rPr>
              <a:t> </a:t>
            </a:r>
            <a:r>
              <a:rPr sz="1000" spc="-5" dirty="0">
                <a:latin typeface="Arial"/>
                <a:cs typeface="Arial"/>
              </a:rPr>
              <a:t>S3 storage</a:t>
            </a:r>
            <a:r>
              <a:rPr sz="1000" dirty="0">
                <a:latin typeface="Arial"/>
                <a:cs typeface="Arial"/>
              </a:rPr>
              <a:t> </a:t>
            </a:r>
            <a:r>
              <a:rPr sz="1000" spc="-5" dirty="0">
                <a:latin typeface="Arial"/>
                <a:cs typeface="Arial"/>
              </a:rPr>
              <a:t>system </a:t>
            </a:r>
            <a:r>
              <a:rPr sz="1000" spc="-10" dirty="0">
                <a:latin typeface="Arial"/>
                <a:cs typeface="Arial"/>
              </a:rPr>
              <a:t>offers</a:t>
            </a:r>
            <a:r>
              <a:rPr sz="1000" dirty="0">
                <a:latin typeface="Arial"/>
                <a:cs typeface="Arial"/>
              </a:rPr>
              <a:t> </a:t>
            </a:r>
            <a:r>
              <a:rPr sz="1000" spc="-5" dirty="0">
                <a:latin typeface="Arial"/>
                <a:cs typeface="Arial"/>
              </a:rPr>
              <a:t>an API</a:t>
            </a:r>
            <a:r>
              <a:rPr sz="1000" dirty="0">
                <a:latin typeface="Arial"/>
                <a:cs typeface="Arial"/>
              </a:rPr>
              <a:t> </a:t>
            </a:r>
            <a:r>
              <a:rPr sz="1000" spc="-15" dirty="0">
                <a:latin typeface="Arial"/>
                <a:cs typeface="Arial"/>
              </a:rPr>
              <a:t>for</a:t>
            </a:r>
            <a:r>
              <a:rPr sz="1000" spc="-5" dirty="0">
                <a:latin typeface="Arial"/>
                <a:cs typeface="Arial"/>
              </a:rPr>
              <a:t> (locally </a:t>
            </a:r>
            <a:r>
              <a:rPr sz="1000" dirty="0">
                <a:latin typeface="Arial"/>
                <a:cs typeface="Arial"/>
              </a:rPr>
              <a:t> </a:t>
            </a:r>
            <a:r>
              <a:rPr sz="1000" spc="-5" dirty="0">
                <a:latin typeface="Arial"/>
                <a:cs typeface="Arial"/>
              </a:rPr>
              <a:t>created) files</a:t>
            </a:r>
            <a:r>
              <a:rPr sz="1000" dirty="0">
                <a:latin typeface="Arial"/>
                <a:cs typeface="Arial"/>
              </a:rPr>
              <a:t> </a:t>
            </a:r>
            <a:r>
              <a:rPr sz="1000" spc="-5" dirty="0">
                <a:latin typeface="Arial"/>
                <a:cs typeface="Arial"/>
              </a:rPr>
              <a:t>to be</a:t>
            </a:r>
            <a:r>
              <a:rPr sz="1000" dirty="0">
                <a:latin typeface="Arial"/>
                <a:cs typeface="Arial"/>
              </a:rPr>
              <a:t> </a:t>
            </a:r>
            <a:r>
              <a:rPr sz="1000" spc="-5" dirty="0">
                <a:latin typeface="Arial"/>
                <a:cs typeface="Arial"/>
              </a:rPr>
              <a:t>organized and</a:t>
            </a:r>
            <a:r>
              <a:rPr sz="1000" dirty="0">
                <a:latin typeface="Arial"/>
                <a:cs typeface="Arial"/>
              </a:rPr>
              <a:t> </a:t>
            </a:r>
            <a:r>
              <a:rPr sz="1000" spc="-5" dirty="0">
                <a:latin typeface="Arial"/>
                <a:cs typeface="Arial"/>
              </a:rPr>
              <a:t>stored in</a:t>
            </a:r>
            <a:r>
              <a:rPr sz="1000" dirty="0">
                <a:latin typeface="Arial"/>
                <a:cs typeface="Arial"/>
              </a:rPr>
              <a:t> </a:t>
            </a:r>
            <a:r>
              <a:rPr sz="1000" spc="-5" dirty="0">
                <a:latin typeface="Arial"/>
                <a:cs typeface="Arial"/>
              </a:rPr>
              <a:t>so-called </a:t>
            </a:r>
            <a:r>
              <a:rPr sz="1000" spc="-10" dirty="0">
                <a:solidFill>
                  <a:srgbClr val="0000FA"/>
                </a:solidFill>
                <a:latin typeface="Arial"/>
                <a:cs typeface="Arial"/>
              </a:rPr>
              <a:t>buckets</a:t>
            </a:r>
            <a:r>
              <a:rPr sz="1000" spc="-10" dirty="0">
                <a:latin typeface="Arial"/>
                <a:cs typeface="Arial"/>
              </a:rPr>
              <a:t>.</a:t>
            </a:r>
            <a:endParaRPr sz="1000" dirty="0">
              <a:latin typeface="Arial"/>
              <a:cs typeface="Arial"/>
            </a:endParaRPr>
          </a:p>
          <a:p>
            <a:pPr marL="554355" marR="46355" indent="-168275">
              <a:lnSpc>
                <a:spcPct val="100000"/>
              </a:lnSpc>
              <a:spcBef>
                <a:spcPts val="585"/>
              </a:spcBef>
              <a:buClr>
                <a:srgbClr val="3333B2"/>
              </a:buClr>
              <a:buChar char="►"/>
              <a:tabLst>
                <a:tab pos="554990" algn="l"/>
              </a:tabLst>
            </a:pPr>
            <a:r>
              <a:rPr sz="1000" spc="-5" dirty="0">
                <a:solidFill>
                  <a:srgbClr val="FA0000"/>
                </a:solidFill>
                <a:latin typeface="Arial"/>
                <a:cs typeface="Arial"/>
              </a:rPr>
              <a:t>Application</a:t>
            </a:r>
            <a:r>
              <a:rPr sz="1000" spc="-5" dirty="0">
                <a:latin typeface="Arial"/>
                <a:cs typeface="Arial"/>
              </a:rPr>
              <a:t>:</a:t>
            </a:r>
            <a:r>
              <a:rPr sz="1000" spc="60" dirty="0">
                <a:latin typeface="Arial"/>
                <a:cs typeface="Arial"/>
              </a:rPr>
              <a:t> </a:t>
            </a:r>
            <a:r>
              <a:rPr sz="1000" spc="-5" dirty="0">
                <a:latin typeface="Arial"/>
                <a:cs typeface="Arial"/>
              </a:rPr>
              <a:t>Actual</a:t>
            </a:r>
            <a:r>
              <a:rPr sz="1000" dirty="0">
                <a:latin typeface="Arial"/>
                <a:cs typeface="Arial"/>
              </a:rPr>
              <a:t> </a:t>
            </a:r>
            <a:r>
              <a:rPr sz="1000" spc="-5" dirty="0">
                <a:latin typeface="Arial"/>
                <a:cs typeface="Arial"/>
              </a:rPr>
              <a:t>applications,</a:t>
            </a:r>
            <a:r>
              <a:rPr sz="1000" dirty="0">
                <a:latin typeface="Arial"/>
                <a:cs typeface="Arial"/>
              </a:rPr>
              <a:t> </a:t>
            </a:r>
            <a:r>
              <a:rPr sz="1000" spc="-5" dirty="0">
                <a:latin typeface="Arial"/>
                <a:cs typeface="Arial"/>
              </a:rPr>
              <a:t>such as</a:t>
            </a:r>
            <a:r>
              <a:rPr sz="1000" dirty="0">
                <a:latin typeface="Arial"/>
                <a:cs typeface="Arial"/>
              </a:rPr>
              <a:t> </a:t>
            </a:r>
            <a:r>
              <a:rPr sz="1000" spc="-5" dirty="0">
                <a:latin typeface="Arial"/>
                <a:cs typeface="Arial"/>
              </a:rPr>
              <a:t>office suites</a:t>
            </a:r>
            <a:r>
              <a:rPr sz="1000" dirty="0">
                <a:latin typeface="Arial"/>
                <a:cs typeface="Arial"/>
              </a:rPr>
              <a:t> </a:t>
            </a:r>
            <a:r>
              <a:rPr sz="1000" spc="-10" dirty="0">
                <a:latin typeface="Arial"/>
                <a:cs typeface="Arial"/>
              </a:rPr>
              <a:t>(text </a:t>
            </a:r>
            <a:r>
              <a:rPr sz="1000" spc="-5" dirty="0">
                <a:latin typeface="Arial"/>
                <a:cs typeface="Arial"/>
              </a:rPr>
              <a:t> processors,</a:t>
            </a:r>
            <a:r>
              <a:rPr sz="1000" spc="10" dirty="0">
                <a:latin typeface="Arial"/>
                <a:cs typeface="Arial"/>
              </a:rPr>
              <a:t> </a:t>
            </a:r>
            <a:r>
              <a:rPr sz="1000" spc="-5" dirty="0">
                <a:latin typeface="Arial"/>
                <a:cs typeface="Arial"/>
              </a:rPr>
              <a:t>spreadsheet</a:t>
            </a:r>
            <a:r>
              <a:rPr sz="1000" spc="10" dirty="0">
                <a:latin typeface="Arial"/>
                <a:cs typeface="Arial"/>
              </a:rPr>
              <a:t> </a:t>
            </a:r>
            <a:r>
              <a:rPr sz="1000" spc="-5" dirty="0">
                <a:latin typeface="Arial"/>
                <a:cs typeface="Arial"/>
              </a:rPr>
              <a:t>applications,</a:t>
            </a:r>
            <a:r>
              <a:rPr sz="1000" spc="10" dirty="0">
                <a:latin typeface="Arial"/>
                <a:cs typeface="Arial"/>
              </a:rPr>
              <a:t> </a:t>
            </a:r>
            <a:r>
              <a:rPr sz="1000" spc="-5" dirty="0">
                <a:latin typeface="Arial"/>
                <a:cs typeface="Arial"/>
              </a:rPr>
              <a:t>presentation</a:t>
            </a:r>
            <a:r>
              <a:rPr sz="1000" spc="15" dirty="0">
                <a:latin typeface="Arial"/>
                <a:cs typeface="Arial"/>
              </a:rPr>
              <a:t> </a:t>
            </a:r>
            <a:r>
              <a:rPr sz="1000" spc="-5" dirty="0">
                <a:latin typeface="Arial"/>
                <a:cs typeface="Arial"/>
              </a:rPr>
              <a:t>applications). </a:t>
            </a:r>
            <a:r>
              <a:rPr sz="1000" spc="-265" dirty="0">
                <a:latin typeface="Arial"/>
                <a:cs typeface="Arial"/>
              </a:rPr>
              <a:t> </a:t>
            </a:r>
            <a:r>
              <a:rPr sz="1000" spc="-10" dirty="0">
                <a:latin typeface="Arial"/>
                <a:cs typeface="Arial"/>
              </a:rPr>
              <a:t>Comparable</a:t>
            </a:r>
            <a:r>
              <a:rPr sz="1000" spc="-5" dirty="0">
                <a:latin typeface="Arial"/>
                <a:cs typeface="Arial"/>
              </a:rPr>
              <a:t> to the suite of</a:t>
            </a:r>
            <a:r>
              <a:rPr sz="1000" dirty="0">
                <a:latin typeface="Arial"/>
                <a:cs typeface="Arial"/>
              </a:rPr>
              <a:t> </a:t>
            </a:r>
            <a:r>
              <a:rPr sz="1000" spc="-5" dirty="0">
                <a:latin typeface="Arial"/>
                <a:cs typeface="Arial"/>
              </a:rPr>
              <a:t>apps shipped with OSes.</a:t>
            </a:r>
            <a:endParaRPr sz="1000" dirty="0">
              <a:latin typeface="Arial"/>
              <a:cs typeface="Arial"/>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Cloud</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endParaRPr sz="6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36</a:t>
            </a:r>
            <a:r>
              <a:rPr spc="-40" dirty="0"/>
              <a:t> </a:t>
            </a:r>
            <a:r>
              <a:rPr spc="-5" dirty="0"/>
              <a:t>/</a:t>
            </a:r>
            <a:r>
              <a:rPr spc="-35" dirty="0"/>
              <a:t> </a:t>
            </a:r>
            <a:r>
              <a:rPr spc="-5" dirty="0"/>
              <a:t>56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116580" algn="l"/>
              </a:tabLst>
            </a:pPr>
            <a:r>
              <a:rPr sz="600" spc="-5" dirty="0">
                <a:solidFill>
                  <a:srgbClr val="3333B2"/>
                </a:solidFill>
                <a:latin typeface="Arial"/>
                <a:cs typeface="Arial"/>
                <a:hlinkClick r:id="rId4"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High</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3" name="object 3"/>
          <p:cNvSpPr txBox="1">
            <a:spLocks noGrp="1"/>
          </p:cNvSpPr>
          <p:nvPr>
            <p:ph type="title"/>
          </p:nvPr>
        </p:nvSpPr>
        <p:spPr>
          <a:xfrm>
            <a:off x="95300" y="188846"/>
            <a:ext cx="2759710" cy="244475"/>
          </a:xfrm>
          <a:prstGeom prst="rect">
            <a:avLst/>
          </a:prstGeom>
        </p:spPr>
        <p:txBody>
          <a:bodyPr vert="horz" wrap="square" lIns="0" tIns="17145" rIns="0" bIns="0" rtlCol="0">
            <a:spAutoFit/>
          </a:bodyPr>
          <a:lstStyle/>
          <a:p>
            <a:pPr marL="12700">
              <a:lnSpc>
                <a:spcPct val="100000"/>
              </a:lnSpc>
              <a:spcBef>
                <a:spcPts val="135"/>
              </a:spcBef>
            </a:pPr>
            <a:r>
              <a:rPr spc="10" dirty="0"/>
              <a:t>Is</a:t>
            </a:r>
            <a:r>
              <a:rPr spc="5" dirty="0"/>
              <a:t> </a:t>
            </a:r>
            <a:r>
              <a:rPr spc="15" dirty="0"/>
              <a:t>cloud</a:t>
            </a:r>
            <a:r>
              <a:rPr spc="5" dirty="0"/>
              <a:t> </a:t>
            </a:r>
            <a:r>
              <a:rPr spc="15" dirty="0"/>
              <a:t>computing</a:t>
            </a:r>
            <a:r>
              <a:rPr spc="5" dirty="0"/>
              <a:t> cost-effective?</a:t>
            </a:r>
          </a:p>
        </p:txBody>
      </p:sp>
      <p:sp>
        <p:nvSpPr>
          <p:cNvPr id="4" name="object 4"/>
          <p:cNvSpPr txBox="1"/>
          <p:nvPr/>
        </p:nvSpPr>
        <p:spPr>
          <a:xfrm>
            <a:off x="329590" y="481797"/>
            <a:ext cx="3943985" cy="1557655"/>
          </a:xfrm>
          <a:prstGeom prst="rect">
            <a:avLst/>
          </a:prstGeom>
        </p:spPr>
        <p:txBody>
          <a:bodyPr vert="horz" wrap="square" lIns="0" tIns="12065" rIns="0" bIns="0" rtlCol="0">
            <a:spAutoFit/>
          </a:bodyPr>
          <a:lstStyle/>
          <a:p>
            <a:pPr marL="29845">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29845" marR="17780" indent="-4445">
              <a:lnSpc>
                <a:spcPts val="1200"/>
              </a:lnSpc>
              <a:spcBef>
                <a:spcPts val="10"/>
              </a:spcBef>
            </a:pPr>
            <a:r>
              <a:rPr sz="1000" spc="-15" dirty="0">
                <a:latin typeface="Arial"/>
                <a:cs typeface="Arial"/>
              </a:rPr>
              <a:t>An </a:t>
            </a:r>
            <a:r>
              <a:rPr sz="1000" spc="-10" dirty="0">
                <a:latin typeface="Arial"/>
                <a:cs typeface="Arial"/>
              </a:rPr>
              <a:t>important </a:t>
            </a:r>
            <a:r>
              <a:rPr sz="1000" spc="-15" dirty="0">
                <a:latin typeface="Arial"/>
                <a:cs typeface="Arial"/>
              </a:rPr>
              <a:t>reason</a:t>
            </a:r>
            <a:r>
              <a:rPr sz="1000" spc="-10" dirty="0">
                <a:latin typeface="Arial"/>
                <a:cs typeface="Arial"/>
              </a:rPr>
              <a:t> </a:t>
            </a:r>
            <a:r>
              <a:rPr sz="1000" spc="-25" dirty="0">
                <a:latin typeface="Arial"/>
                <a:cs typeface="Arial"/>
              </a:rPr>
              <a:t>for</a:t>
            </a:r>
            <a:r>
              <a:rPr sz="1000" spc="-10" dirty="0">
                <a:latin typeface="Arial"/>
                <a:cs typeface="Arial"/>
              </a:rPr>
              <a:t> </a:t>
            </a:r>
            <a:r>
              <a:rPr sz="1000" spc="-15" dirty="0">
                <a:latin typeface="Arial"/>
                <a:cs typeface="Arial"/>
              </a:rPr>
              <a:t>the</a:t>
            </a:r>
            <a:r>
              <a:rPr sz="1000" spc="-10" dirty="0">
                <a:latin typeface="Arial"/>
                <a:cs typeface="Arial"/>
              </a:rPr>
              <a:t> </a:t>
            </a:r>
            <a:r>
              <a:rPr sz="1000" spc="-15" dirty="0">
                <a:latin typeface="Arial"/>
                <a:cs typeface="Arial"/>
              </a:rPr>
              <a:t>success </a:t>
            </a:r>
            <a:r>
              <a:rPr sz="1000" spc="-10" dirty="0">
                <a:latin typeface="Arial"/>
                <a:cs typeface="Arial"/>
              </a:rPr>
              <a:t>of </a:t>
            </a:r>
            <a:r>
              <a:rPr sz="1000" spc="-15" dirty="0">
                <a:latin typeface="Arial"/>
                <a:cs typeface="Arial"/>
              </a:rPr>
              <a:t>cloud</a:t>
            </a:r>
            <a:r>
              <a:rPr sz="1000" spc="-10" dirty="0">
                <a:latin typeface="Arial"/>
                <a:cs typeface="Arial"/>
              </a:rPr>
              <a:t> </a:t>
            </a:r>
            <a:r>
              <a:rPr sz="1000" spc="-15" dirty="0">
                <a:latin typeface="Arial"/>
                <a:cs typeface="Arial"/>
              </a:rPr>
              <a:t>computing</a:t>
            </a:r>
            <a:r>
              <a:rPr sz="1000" spc="-10" dirty="0">
                <a:latin typeface="Arial"/>
                <a:cs typeface="Arial"/>
              </a:rPr>
              <a:t> is that it</a:t>
            </a:r>
            <a:r>
              <a:rPr sz="1000" spc="-15" dirty="0">
                <a:latin typeface="Arial"/>
                <a:cs typeface="Arial"/>
              </a:rPr>
              <a:t> allows </a:t>
            </a:r>
            <a:r>
              <a:rPr sz="1000" spc="-260" dirty="0">
                <a:latin typeface="Arial"/>
                <a:cs typeface="Arial"/>
              </a:rPr>
              <a:t> </a:t>
            </a:r>
            <a:r>
              <a:rPr sz="1000" spc="-5" dirty="0">
                <a:latin typeface="Arial"/>
                <a:cs typeface="Arial"/>
              </a:rPr>
              <a:t>organizations to</a:t>
            </a:r>
            <a:r>
              <a:rPr sz="1000" dirty="0">
                <a:latin typeface="Arial"/>
                <a:cs typeface="Arial"/>
              </a:rPr>
              <a:t> </a:t>
            </a:r>
            <a:r>
              <a:rPr sz="1000" spc="-5" dirty="0">
                <a:solidFill>
                  <a:srgbClr val="0000FA"/>
                </a:solidFill>
                <a:latin typeface="Arial"/>
                <a:cs typeface="Arial"/>
              </a:rPr>
              <a:t>outsource</a:t>
            </a:r>
            <a:r>
              <a:rPr sz="1000" dirty="0">
                <a:solidFill>
                  <a:srgbClr val="0000FA"/>
                </a:solidFill>
                <a:latin typeface="Arial"/>
                <a:cs typeface="Arial"/>
              </a:rPr>
              <a:t> </a:t>
            </a:r>
            <a:r>
              <a:rPr sz="1000" spc="-5" dirty="0">
                <a:latin typeface="Arial"/>
                <a:cs typeface="Arial"/>
              </a:rPr>
              <a:t>their</a:t>
            </a:r>
            <a:r>
              <a:rPr sz="1000" dirty="0">
                <a:latin typeface="Arial"/>
                <a:cs typeface="Arial"/>
              </a:rPr>
              <a:t> </a:t>
            </a:r>
            <a:r>
              <a:rPr sz="1000" spc="-5" dirty="0">
                <a:latin typeface="Arial"/>
                <a:cs typeface="Arial"/>
              </a:rPr>
              <a:t>IT infrastructure:</a:t>
            </a:r>
            <a:r>
              <a:rPr sz="1000" spc="65" dirty="0">
                <a:latin typeface="Arial"/>
                <a:cs typeface="Arial"/>
              </a:rPr>
              <a:t> </a:t>
            </a:r>
            <a:r>
              <a:rPr sz="1000" spc="-5" dirty="0">
                <a:latin typeface="Arial"/>
                <a:cs typeface="Arial"/>
              </a:rPr>
              <a:t>hardware</a:t>
            </a:r>
            <a:r>
              <a:rPr sz="1000" dirty="0">
                <a:latin typeface="Arial"/>
                <a:cs typeface="Arial"/>
              </a:rPr>
              <a:t> </a:t>
            </a:r>
            <a:r>
              <a:rPr sz="1000" spc="-5" dirty="0">
                <a:latin typeface="Arial"/>
                <a:cs typeface="Arial"/>
              </a:rPr>
              <a:t>and </a:t>
            </a:r>
            <a:r>
              <a:rPr sz="1000" dirty="0">
                <a:latin typeface="Arial"/>
                <a:cs typeface="Arial"/>
              </a:rPr>
              <a:t> </a:t>
            </a:r>
            <a:r>
              <a:rPr sz="1000" spc="-5" dirty="0">
                <a:latin typeface="Arial"/>
                <a:cs typeface="Arial"/>
              </a:rPr>
              <a:t>software.</a:t>
            </a:r>
            <a:r>
              <a:rPr sz="1000" spc="60" dirty="0">
                <a:latin typeface="Arial"/>
                <a:cs typeface="Arial"/>
              </a:rPr>
              <a:t> </a:t>
            </a:r>
            <a:r>
              <a:rPr sz="1000" spc="-5" dirty="0">
                <a:latin typeface="Arial"/>
                <a:cs typeface="Arial"/>
              </a:rPr>
              <a:t>Essential question:</a:t>
            </a:r>
            <a:r>
              <a:rPr sz="1000" spc="65" dirty="0">
                <a:latin typeface="Arial"/>
                <a:cs typeface="Arial"/>
              </a:rPr>
              <a:t> </a:t>
            </a:r>
            <a:r>
              <a:rPr sz="1000" spc="-5" dirty="0">
                <a:solidFill>
                  <a:srgbClr val="FA0000"/>
                </a:solidFill>
                <a:latin typeface="Arial"/>
                <a:cs typeface="Arial"/>
              </a:rPr>
              <a:t>is outsourcing also cheaper</a:t>
            </a:r>
            <a:r>
              <a:rPr sz="1000" spc="-5" dirty="0">
                <a:latin typeface="Arial"/>
                <a:cs typeface="Arial"/>
              </a:rPr>
              <a:t>?</a:t>
            </a:r>
            <a:endParaRPr sz="1000" dirty="0">
              <a:latin typeface="Arial"/>
              <a:cs typeface="Arial"/>
            </a:endParaRPr>
          </a:p>
          <a:p>
            <a:pPr marL="25400">
              <a:lnSpc>
                <a:spcPct val="100000"/>
              </a:lnSpc>
              <a:spcBef>
                <a:spcPts val="645"/>
              </a:spcBef>
            </a:pPr>
            <a:r>
              <a:rPr sz="1200" spc="-5" dirty="0">
                <a:solidFill>
                  <a:srgbClr val="3333B2"/>
                </a:solidFill>
                <a:latin typeface="Arial"/>
                <a:cs typeface="Arial"/>
              </a:rPr>
              <a:t>Approach</a:t>
            </a:r>
            <a:endParaRPr sz="1200" dirty="0">
              <a:latin typeface="Arial"/>
              <a:cs typeface="Arial"/>
            </a:endParaRPr>
          </a:p>
          <a:p>
            <a:pPr marL="307340" marR="282575" indent="-168275">
              <a:lnSpc>
                <a:spcPct val="100000"/>
              </a:lnSpc>
              <a:spcBef>
                <a:spcPts val="770"/>
              </a:spcBef>
              <a:buClr>
                <a:srgbClr val="3333B2"/>
              </a:buClr>
              <a:buChar char="►"/>
              <a:tabLst>
                <a:tab pos="307975" algn="l"/>
              </a:tabLst>
            </a:pPr>
            <a:r>
              <a:rPr sz="1000" spc="-5" dirty="0">
                <a:latin typeface="Arial"/>
                <a:cs typeface="Arial"/>
              </a:rPr>
              <a:t>Consider</a:t>
            </a:r>
            <a:r>
              <a:rPr sz="1000" dirty="0">
                <a:latin typeface="Arial"/>
                <a:cs typeface="Arial"/>
              </a:rPr>
              <a:t> </a:t>
            </a:r>
            <a:r>
              <a:rPr sz="1000" dirty="0">
                <a:solidFill>
                  <a:srgbClr val="FA0000"/>
                </a:solidFill>
                <a:latin typeface="Arial"/>
                <a:cs typeface="Arial"/>
              </a:rPr>
              <a:t>enterprise </a:t>
            </a:r>
            <a:r>
              <a:rPr sz="1000" spc="-5" dirty="0">
                <a:solidFill>
                  <a:srgbClr val="FA0000"/>
                </a:solidFill>
                <a:latin typeface="Arial"/>
                <a:cs typeface="Arial"/>
              </a:rPr>
              <a:t>applications</a:t>
            </a:r>
            <a:r>
              <a:rPr sz="1000" spc="-5" dirty="0">
                <a:latin typeface="Arial"/>
                <a:cs typeface="Arial"/>
              </a:rPr>
              <a:t>,</a:t>
            </a:r>
            <a:r>
              <a:rPr sz="1000" spc="5" dirty="0">
                <a:latin typeface="Arial"/>
                <a:cs typeface="Arial"/>
              </a:rPr>
              <a:t> </a:t>
            </a:r>
            <a:r>
              <a:rPr sz="1000" spc="-5" dirty="0">
                <a:latin typeface="Arial"/>
                <a:cs typeface="Arial"/>
              </a:rPr>
              <a:t>modeled</a:t>
            </a:r>
            <a:r>
              <a:rPr sz="1000" dirty="0">
                <a:latin typeface="Arial"/>
                <a:cs typeface="Arial"/>
              </a:rPr>
              <a:t> </a:t>
            </a:r>
            <a:r>
              <a:rPr sz="1000" spc="-5" dirty="0">
                <a:latin typeface="Arial"/>
                <a:cs typeface="Arial"/>
              </a:rPr>
              <a:t>as</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collection</a:t>
            </a:r>
            <a:r>
              <a:rPr sz="1000" spc="5" dirty="0">
                <a:latin typeface="Arial"/>
                <a:cs typeface="Arial"/>
              </a:rPr>
              <a:t> </a:t>
            </a:r>
            <a:r>
              <a:rPr sz="1000" spc="-5" dirty="0">
                <a:latin typeface="Arial"/>
                <a:cs typeface="Arial"/>
              </a:rPr>
              <a:t>of </a:t>
            </a:r>
            <a:r>
              <a:rPr sz="1000" spc="-265" dirty="0">
                <a:latin typeface="Arial"/>
                <a:cs typeface="Arial"/>
              </a:rPr>
              <a:t> </a:t>
            </a:r>
            <a:r>
              <a:rPr sz="1000" spc="-5" dirty="0">
                <a:solidFill>
                  <a:srgbClr val="FA0000"/>
                </a:solidFill>
                <a:latin typeface="Arial"/>
                <a:cs typeface="Arial"/>
              </a:rPr>
              <a:t>components</a:t>
            </a:r>
            <a:r>
              <a:rPr sz="1000" spc="-5" dirty="0">
                <a:latin typeface="Arial"/>
                <a:cs typeface="Arial"/>
              </a:rPr>
              <a:t>, each component</a:t>
            </a:r>
            <a:r>
              <a:rPr sz="1000" dirty="0">
                <a:latin typeface="Arial"/>
                <a:cs typeface="Arial"/>
              </a:rPr>
              <a:t> </a:t>
            </a:r>
            <a:r>
              <a:rPr sz="1000" i="1" dirty="0">
                <a:latin typeface="Arial"/>
                <a:cs typeface="Arial"/>
              </a:rPr>
              <a:t>C</a:t>
            </a:r>
            <a:r>
              <a:rPr sz="1050" i="1" baseline="-15873" dirty="0">
                <a:latin typeface="Arial"/>
                <a:cs typeface="Arial"/>
              </a:rPr>
              <a:t>i</a:t>
            </a:r>
            <a:r>
              <a:rPr sz="1050" i="1" spc="15" baseline="-15873" dirty="0">
                <a:latin typeface="Arial"/>
                <a:cs typeface="Arial"/>
              </a:rPr>
              <a:t> </a:t>
            </a:r>
            <a:r>
              <a:rPr sz="1000" spc="-5" dirty="0">
                <a:latin typeface="Arial"/>
                <a:cs typeface="Arial"/>
              </a:rPr>
              <a:t>requiring </a:t>
            </a:r>
            <a:r>
              <a:rPr sz="1000" i="1" dirty="0">
                <a:latin typeface="Arial"/>
                <a:cs typeface="Arial"/>
              </a:rPr>
              <a:t>N</a:t>
            </a:r>
            <a:r>
              <a:rPr sz="1050" i="1" baseline="-15873" dirty="0">
                <a:latin typeface="Arial"/>
                <a:cs typeface="Arial"/>
              </a:rPr>
              <a:t>i</a:t>
            </a:r>
            <a:r>
              <a:rPr sz="1050" i="1" spc="7" baseline="-15873" dirty="0">
                <a:latin typeface="Arial"/>
                <a:cs typeface="Arial"/>
              </a:rPr>
              <a:t> </a:t>
            </a:r>
            <a:r>
              <a:rPr sz="1000" spc="-5" dirty="0">
                <a:latin typeface="Arial"/>
                <a:cs typeface="Arial"/>
              </a:rPr>
              <a:t>servers.</a:t>
            </a:r>
            <a:endParaRPr sz="1000" dirty="0">
              <a:latin typeface="Arial"/>
              <a:cs typeface="Arial"/>
            </a:endParaRPr>
          </a:p>
          <a:p>
            <a:pPr marL="307340" indent="-168275">
              <a:lnSpc>
                <a:spcPct val="100000"/>
              </a:lnSpc>
              <a:spcBef>
                <a:spcPts val="590"/>
              </a:spcBef>
              <a:buClr>
                <a:srgbClr val="3333B2"/>
              </a:buClr>
              <a:buChar char="►"/>
              <a:tabLst>
                <a:tab pos="307975" algn="l"/>
              </a:tabLst>
            </a:pPr>
            <a:r>
              <a:rPr sz="1000" spc="-5" dirty="0">
                <a:latin typeface="Arial"/>
                <a:cs typeface="Arial"/>
              </a:rPr>
              <a:t>Application</a:t>
            </a:r>
            <a:r>
              <a:rPr sz="1000" dirty="0">
                <a:latin typeface="Arial"/>
                <a:cs typeface="Arial"/>
              </a:rPr>
              <a:t> </a:t>
            </a:r>
            <a:r>
              <a:rPr sz="1000" spc="-10" dirty="0">
                <a:latin typeface="Arial"/>
                <a:cs typeface="Arial"/>
              </a:rPr>
              <a:t>now</a:t>
            </a:r>
            <a:r>
              <a:rPr sz="1000" dirty="0">
                <a:latin typeface="Arial"/>
                <a:cs typeface="Arial"/>
              </a:rPr>
              <a:t> </a:t>
            </a:r>
            <a:r>
              <a:rPr sz="1000" spc="-5" dirty="0">
                <a:latin typeface="Arial"/>
                <a:cs typeface="Arial"/>
              </a:rPr>
              <a:t>becomes</a:t>
            </a:r>
            <a:r>
              <a:rPr sz="1000" spc="5" dirty="0">
                <a:latin typeface="Arial"/>
                <a:cs typeface="Arial"/>
              </a:rPr>
              <a:t> </a:t>
            </a:r>
            <a:r>
              <a:rPr sz="1000" spc="-5" dirty="0">
                <a:latin typeface="Arial"/>
                <a:cs typeface="Arial"/>
              </a:rPr>
              <a:t>a</a:t>
            </a:r>
            <a:r>
              <a:rPr sz="1000" dirty="0">
                <a:latin typeface="Arial"/>
                <a:cs typeface="Arial"/>
              </a:rPr>
              <a:t> </a:t>
            </a:r>
            <a:r>
              <a:rPr sz="1000" spc="-5" dirty="0">
                <a:solidFill>
                  <a:srgbClr val="0000FA"/>
                </a:solidFill>
                <a:latin typeface="Arial"/>
                <a:cs typeface="Arial"/>
              </a:rPr>
              <a:t>directed</a:t>
            </a:r>
            <a:r>
              <a:rPr sz="1000" spc="5" dirty="0">
                <a:solidFill>
                  <a:srgbClr val="0000FA"/>
                </a:solidFill>
                <a:latin typeface="Arial"/>
                <a:cs typeface="Arial"/>
              </a:rPr>
              <a:t> </a:t>
            </a:r>
            <a:r>
              <a:rPr sz="1000" spc="-10" dirty="0">
                <a:solidFill>
                  <a:srgbClr val="0000FA"/>
                </a:solidFill>
                <a:latin typeface="Arial"/>
                <a:cs typeface="Arial"/>
              </a:rPr>
              <a:t>graph</a:t>
            </a:r>
            <a:r>
              <a:rPr sz="1000" spc="-10" dirty="0">
                <a:latin typeface="Arial"/>
                <a:cs typeface="Arial"/>
              </a:rPr>
              <a:t>,</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vertex</a:t>
            </a:r>
            <a:endParaRPr sz="1000" dirty="0">
              <a:latin typeface="Arial"/>
              <a:cs typeface="Arial"/>
            </a:endParaRPr>
          </a:p>
        </p:txBody>
      </p:sp>
      <p:sp>
        <p:nvSpPr>
          <p:cNvPr id="5" name="object 5"/>
          <p:cNvSpPr txBox="1"/>
          <p:nvPr/>
        </p:nvSpPr>
        <p:spPr>
          <a:xfrm>
            <a:off x="598995" y="2040526"/>
            <a:ext cx="3494404" cy="177800"/>
          </a:xfrm>
          <a:prstGeom prst="rect">
            <a:avLst/>
          </a:prstGeom>
        </p:spPr>
        <p:txBody>
          <a:bodyPr vert="horz" wrap="square" lIns="0" tIns="12065" rIns="0" bIns="0" rtlCol="0">
            <a:spAutoFit/>
          </a:bodyPr>
          <a:lstStyle/>
          <a:p>
            <a:pPr marL="38100">
              <a:lnSpc>
                <a:spcPct val="100000"/>
              </a:lnSpc>
              <a:spcBef>
                <a:spcPts val="95"/>
              </a:spcBef>
            </a:pPr>
            <a:r>
              <a:rPr sz="1000" spc="-5" dirty="0">
                <a:latin typeface="Arial"/>
                <a:cs typeface="Arial"/>
              </a:rPr>
              <a:t>representing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component,</a:t>
            </a:r>
            <a:r>
              <a:rPr sz="1000" spc="5"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an</a:t>
            </a:r>
            <a:r>
              <a:rPr sz="1000" spc="5" dirty="0">
                <a:latin typeface="Arial"/>
                <a:cs typeface="Arial"/>
              </a:rPr>
              <a:t> </a:t>
            </a:r>
            <a:r>
              <a:rPr sz="1000" spc="-5" dirty="0">
                <a:latin typeface="Arial"/>
                <a:cs typeface="Arial"/>
              </a:rPr>
              <a:t>arc</a:t>
            </a:r>
            <a:r>
              <a:rPr sz="1000" dirty="0">
                <a:latin typeface="Arial"/>
                <a:cs typeface="Arial"/>
              </a:rPr>
              <a:t> </a:t>
            </a:r>
            <a:r>
              <a:rPr sz="1000" i="1" spc="-360" dirty="0">
                <a:latin typeface="メイリオ"/>
                <a:cs typeface="メイリオ"/>
              </a:rPr>
              <a:t>(</a:t>
            </a:r>
            <a:r>
              <a:rPr sz="1500" i="1" spc="-540" baseline="38888" dirty="0">
                <a:latin typeface="メイリオ"/>
                <a:cs typeface="メイリオ"/>
              </a:rPr>
              <a:t>−</a:t>
            </a:r>
            <a:r>
              <a:rPr sz="1000" i="1" spc="-360" dirty="0">
                <a:latin typeface="Arial"/>
                <a:cs typeface="Arial"/>
              </a:rPr>
              <a:t>i</a:t>
            </a:r>
            <a:r>
              <a:rPr sz="1500" i="1" spc="-540" baseline="38888" dirty="0">
                <a:latin typeface="メイリオ"/>
                <a:cs typeface="メイリオ"/>
              </a:rPr>
              <a:t>→</a:t>
            </a:r>
            <a:r>
              <a:rPr sz="1000" i="1" spc="-360" dirty="0">
                <a:latin typeface="Arial"/>
                <a:cs typeface="Arial"/>
              </a:rPr>
              <a:t>,</a:t>
            </a:r>
            <a:r>
              <a:rPr sz="1000" i="1" spc="-165" dirty="0">
                <a:latin typeface="Arial"/>
                <a:cs typeface="Arial"/>
              </a:rPr>
              <a:t> </a:t>
            </a:r>
            <a:r>
              <a:rPr sz="1000" i="1" spc="15" dirty="0">
                <a:latin typeface="Arial"/>
                <a:cs typeface="Arial"/>
              </a:rPr>
              <a:t>j</a:t>
            </a:r>
            <a:r>
              <a:rPr sz="1000" i="1" spc="15" dirty="0">
                <a:latin typeface="メイリオ"/>
                <a:cs typeface="メイリオ"/>
              </a:rPr>
              <a:t>)</a:t>
            </a:r>
            <a:r>
              <a:rPr sz="1000" i="1" spc="-60" dirty="0">
                <a:latin typeface="メイリオ"/>
                <a:cs typeface="メイリオ"/>
              </a:rPr>
              <a:t> </a:t>
            </a:r>
            <a:r>
              <a:rPr sz="1000" spc="-5" dirty="0">
                <a:latin typeface="Arial"/>
                <a:cs typeface="Arial"/>
              </a:rPr>
              <a:t>representing</a:t>
            </a:r>
            <a:r>
              <a:rPr sz="1000" dirty="0">
                <a:latin typeface="Arial"/>
                <a:cs typeface="Arial"/>
              </a:rPr>
              <a:t> </a:t>
            </a:r>
            <a:r>
              <a:rPr sz="1000" spc="-5" dirty="0">
                <a:latin typeface="Arial"/>
                <a:cs typeface="Arial"/>
              </a:rPr>
              <a:t>data</a:t>
            </a:r>
            <a:endParaRPr sz="1000" dirty="0">
              <a:latin typeface="Arial"/>
              <a:cs typeface="Arial"/>
            </a:endParaRPr>
          </a:p>
        </p:txBody>
      </p:sp>
      <p:sp>
        <p:nvSpPr>
          <p:cNvPr id="6" name="object 6"/>
          <p:cNvSpPr txBox="1"/>
          <p:nvPr/>
        </p:nvSpPr>
        <p:spPr>
          <a:xfrm>
            <a:off x="431304" y="2116436"/>
            <a:ext cx="3855085" cy="1000125"/>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fl</a:t>
            </a:r>
            <a:r>
              <a:rPr sz="1000" spc="-20" dirty="0">
                <a:latin typeface="Arial"/>
                <a:cs typeface="Arial"/>
              </a:rPr>
              <a:t>o</a:t>
            </a:r>
            <a:r>
              <a:rPr sz="1000" spc="-5" dirty="0">
                <a:latin typeface="Arial"/>
                <a:cs typeface="Arial"/>
              </a:rPr>
              <a:t>wing from </a:t>
            </a:r>
            <a:r>
              <a:rPr sz="1000" i="1" spc="-5" dirty="0">
                <a:latin typeface="Arial"/>
                <a:cs typeface="Arial"/>
              </a:rPr>
              <a:t>C</a:t>
            </a:r>
            <a:r>
              <a:rPr sz="1050" i="1" spc="7" baseline="-15873" dirty="0">
                <a:latin typeface="Arial"/>
                <a:cs typeface="Arial"/>
              </a:rPr>
              <a:t>i</a:t>
            </a:r>
            <a:r>
              <a:rPr sz="1050" i="1" baseline="-15873" dirty="0">
                <a:latin typeface="Arial"/>
                <a:cs typeface="Arial"/>
              </a:rPr>
              <a:t>  </a:t>
            </a:r>
            <a:r>
              <a:rPr sz="1000" spc="-5" dirty="0">
                <a:latin typeface="Arial"/>
                <a:cs typeface="Arial"/>
              </a:rPr>
              <a:t>to </a:t>
            </a:r>
            <a:r>
              <a:rPr sz="1000" i="1" spc="-5" dirty="0">
                <a:latin typeface="Arial"/>
                <a:cs typeface="Arial"/>
              </a:rPr>
              <a:t>C</a:t>
            </a:r>
            <a:r>
              <a:rPr sz="1050" i="1" spc="7" baseline="-15873" dirty="0">
                <a:latin typeface="Arial"/>
                <a:cs typeface="Arial"/>
              </a:rPr>
              <a:t>j</a:t>
            </a:r>
            <a:r>
              <a:rPr sz="1050" i="1" spc="-127" baseline="-15873" dirty="0">
                <a:latin typeface="Arial"/>
                <a:cs typeface="Arial"/>
              </a:rPr>
              <a:t> </a:t>
            </a:r>
            <a:r>
              <a:rPr sz="1000" spc="-5" dirty="0">
                <a:latin typeface="Arial"/>
                <a:cs typeface="Arial"/>
              </a:rPr>
              <a:t>.</a:t>
            </a:r>
            <a:endParaRPr sz="1000" dirty="0">
              <a:latin typeface="Arial"/>
              <a:cs typeface="Arial"/>
            </a:endParaRPr>
          </a:p>
          <a:p>
            <a:pPr marL="205740" indent="-168275">
              <a:lnSpc>
                <a:spcPct val="100000"/>
              </a:lnSpc>
              <a:spcBef>
                <a:spcPts val="590"/>
              </a:spcBef>
              <a:buClr>
                <a:srgbClr val="3333B2"/>
              </a:buClr>
              <a:buChar char="►"/>
              <a:tabLst>
                <a:tab pos="206375" algn="l"/>
              </a:tabLst>
            </a:pPr>
            <a:r>
              <a:rPr sz="1000" spc="-50" dirty="0">
                <a:latin typeface="Arial"/>
                <a:cs typeface="Arial"/>
              </a:rPr>
              <a:t>Two</a:t>
            </a:r>
            <a:r>
              <a:rPr sz="1000" spc="-10" dirty="0">
                <a:latin typeface="Arial"/>
                <a:cs typeface="Arial"/>
              </a:rPr>
              <a:t> </a:t>
            </a:r>
            <a:r>
              <a:rPr sz="1000" spc="-5" dirty="0">
                <a:latin typeface="Arial"/>
                <a:cs typeface="Arial"/>
              </a:rPr>
              <a:t>associated</a:t>
            </a:r>
            <a:r>
              <a:rPr sz="1000" spc="-10" dirty="0">
                <a:latin typeface="Arial"/>
                <a:cs typeface="Arial"/>
              </a:rPr>
              <a:t> </a:t>
            </a:r>
            <a:r>
              <a:rPr sz="1000" spc="-5" dirty="0">
                <a:latin typeface="Arial"/>
                <a:cs typeface="Arial"/>
              </a:rPr>
              <a:t>weights</a:t>
            </a:r>
            <a:r>
              <a:rPr sz="1000" spc="-10" dirty="0">
                <a:latin typeface="Arial"/>
                <a:cs typeface="Arial"/>
              </a:rPr>
              <a:t> </a:t>
            </a:r>
            <a:r>
              <a:rPr sz="1000" spc="-5" dirty="0">
                <a:latin typeface="Arial"/>
                <a:cs typeface="Arial"/>
              </a:rPr>
              <a:t>per</a:t>
            </a:r>
            <a:r>
              <a:rPr sz="1000" spc="-10" dirty="0">
                <a:latin typeface="Arial"/>
                <a:cs typeface="Arial"/>
              </a:rPr>
              <a:t> </a:t>
            </a:r>
            <a:r>
              <a:rPr sz="1000" spc="-5" dirty="0">
                <a:latin typeface="Arial"/>
                <a:cs typeface="Arial"/>
              </a:rPr>
              <a:t>arc:</a:t>
            </a:r>
            <a:endParaRPr sz="1000" dirty="0">
              <a:latin typeface="Arial"/>
              <a:cs typeface="Arial"/>
            </a:endParaRPr>
          </a:p>
          <a:p>
            <a:pPr marL="482600" marR="30480" lvl="1" indent="-168275">
              <a:lnSpc>
                <a:spcPct val="100000"/>
              </a:lnSpc>
              <a:spcBef>
                <a:spcPts val="495"/>
              </a:spcBef>
              <a:buClr>
                <a:srgbClr val="3333B2"/>
              </a:buClr>
              <a:buFont typeface="Arial"/>
              <a:buChar char="►"/>
              <a:tabLst>
                <a:tab pos="483234" algn="l"/>
              </a:tabLst>
            </a:pPr>
            <a:r>
              <a:rPr sz="1000" i="1" spc="20" dirty="0">
                <a:latin typeface="Arial"/>
                <a:cs typeface="Arial"/>
              </a:rPr>
              <a:t>T</a:t>
            </a:r>
            <a:r>
              <a:rPr sz="1050" i="1" spc="30" baseline="-15873" dirty="0">
                <a:latin typeface="Arial"/>
                <a:cs typeface="Arial"/>
              </a:rPr>
              <a:t>i,j</a:t>
            </a:r>
            <a:r>
              <a:rPr sz="1050" i="1" spc="37" baseline="-15873" dirty="0">
                <a:latin typeface="Arial"/>
                <a:cs typeface="Arial"/>
              </a:rPr>
              <a:t> </a:t>
            </a:r>
            <a:r>
              <a:rPr sz="1000" spc="-5" dirty="0">
                <a:latin typeface="Arial"/>
                <a:cs typeface="Arial"/>
              </a:rPr>
              <a:t>is the </a:t>
            </a:r>
            <a:r>
              <a:rPr sz="1000" spc="-10" dirty="0">
                <a:latin typeface="Arial"/>
                <a:cs typeface="Arial"/>
              </a:rPr>
              <a:t>number </a:t>
            </a:r>
            <a:r>
              <a:rPr sz="1000" spc="-5" dirty="0">
                <a:latin typeface="Arial"/>
                <a:cs typeface="Arial"/>
              </a:rPr>
              <a:t>of transactions per time unit that causes a </a:t>
            </a:r>
            <a:r>
              <a:rPr sz="1000" spc="-270" dirty="0">
                <a:latin typeface="Arial"/>
                <a:cs typeface="Arial"/>
              </a:rPr>
              <a:t> </a:t>
            </a:r>
            <a:r>
              <a:rPr sz="1000" spc="-5" dirty="0">
                <a:latin typeface="Arial"/>
                <a:cs typeface="Arial"/>
              </a:rPr>
              <a:t>data</a:t>
            </a:r>
            <a:r>
              <a:rPr sz="1000" spc="-10" dirty="0">
                <a:latin typeface="Arial"/>
                <a:cs typeface="Arial"/>
              </a:rPr>
              <a:t> flow</a:t>
            </a:r>
            <a:r>
              <a:rPr sz="1000" spc="-5" dirty="0">
                <a:latin typeface="Arial"/>
                <a:cs typeface="Arial"/>
              </a:rPr>
              <a:t> from </a:t>
            </a:r>
            <a:r>
              <a:rPr sz="1000" i="1" dirty="0">
                <a:latin typeface="Arial"/>
                <a:cs typeface="Arial"/>
              </a:rPr>
              <a:t>C</a:t>
            </a:r>
            <a:r>
              <a:rPr sz="1050" i="1" baseline="-15873" dirty="0">
                <a:latin typeface="Arial"/>
                <a:cs typeface="Arial"/>
              </a:rPr>
              <a:t>i  </a:t>
            </a:r>
            <a:r>
              <a:rPr sz="1000" spc="-5" dirty="0">
                <a:latin typeface="Arial"/>
                <a:cs typeface="Arial"/>
              </a:rPr>
              <a:t>to </a:t>
            </a:r>
            <a:r>
              <a:rPr sz="1000" i="1" dirty="0">
                <a:latin typeface="Arial"/>
                <a:cs typeface="Arial"/>
              </a:rPr>
              <a:t>C</a:t>
            </a:r>
            <a:r>
              <a:rPr sz="1050" i="1" baseline="-15873" dirty="0">
                <a:latin typeface="Arial"/>
                <a:cs typeface="Arial"/>
              </a:rPr>
              <a:t>j</a:t>
            </a:r>
            <a:r>
              <a:rPr sz="1050" i="1" spc="-127" baseline="-15873" dirty="0">
                <a:latin typeface="Arial"/>
                <a:cs typeface="Arial"/>
              </a:rPr>
              <a:t> </a:t>
            </a:r>
            <a:r>
              <a:rPr sz="1000" spc="-5" dirty="0">
                <a:latin typeface="Arial"/>
                <a:cs typeface="Arial"/>
              </a:rPr>
              <a:t>.</a:t>
            </a:r>
            <a:endParaRPr sz="1000" dirty="0">
              <a:latin typeface="Arial"/>
              <a:cs typeface="Arial"/>
            </a:endParaRPr>
          </a:p>
          <a:p>
            <a:pPr marL="482600" lvl="1" indent="-168275">
              <a:lnSpc>
                <a:spcPts val="1190"/>
              </a:lnSpc>
              <a:buClr>
                <a:srgbClr val="3333B2"/>
              </a:buClr>
              <a:buFont typeface="Arial"/>
              <a:buChar char="►"/>
              <a:tabLst>
                <a:tab pos="483234" algn="l"/>
              </a:tabLst>
            </a:pPr>
            <a:r>
              <a:rPr sz="1000" i="1" spc="20" dirty="0">
                <a:latin typeface="Arial"/>
                <a:cs typeface="Arial"/>
              </a:rPr>
              <a:t>S</a:t>
            </a:r>
            <a:r>
              <a:rPr sz="1050" i="1" spc="30" baseline="-15873" dirty="0">
                <a:latin typeface="Arial"/>
                <a:cs typeface="Arial"/>
              </a:rPr>
              <a:t>i,j</a:t>
            </a:r>
            <a:r>
              <a:rPr sz="1050" i="1" spc="292" baseline="-15873"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the total</a:t>
            </a:r>
            <a:r>
              <a:rPr sz="1000" dirty="0">
                <a:latin typeface="Arial"/>
                <a:cs typeface="Arial"/>
              </a:rPr>
              <a:t> </a:t>
            </a:r>
            <a:r>
              <a:rPr sz="1000" spc="-5" dirty="0">
                <a:latin typeface="Arial"/>
                <a:cs typeface="Arial"/>
              </a:rPr>
              <a:t>amount of</a:t>
            </a:r>
            <a:r>
              <a:rPr sz="1000" dirty="0">
                <a:latin typeface="Arial"/>
                <a:cs typeface="Arial"/>
              </a:rPr>
              <a:t> </a:t>
            </a:r>
            <a:r>
              <a:rPr sz="1000" spc="-5" dirty="0">
                <a:latin typeface="Arial"/>
                <a:cs typeface="Arial"/>
              </a:rPr>
              <a:t>data associated</a:t>
            </a:r>
            <a:r>
              <a:rPr sz="1000" dirty="0">
                <a:latin typeface="Arial"/>
                <a:cs typeface="Arial"/>
              </a:rPr>
              <a:t> </a:t>
            </a:r>
            <a:r>
              <a:rPr sz="1000" spc="-5" dirty="0">
                <a:latin typeface="Arial"/>
                <a:cs typeface="Arial"/>
              </a:rPr>
              <a:t>with </a:t>
            </a:r>
            <a:r>
              <a:rPr sz="1000" i="1" spc="20" dirty="0">
                <a:latin typeface="Arial"/>
                <a:cs typeface="Arial"/>
              </a:rPr>
              <a:t>T</a:t>
            </a:r>
            <a:r>
              <a:rPr sz="1050" i="1" spc="30" baseline="-15873" dirty="0">
                <a:latin typeface="Arial"/>
                <a:cs typeface="Arial"/>
              </a:rPr>
              <a:t>i,j</a:t>
            </a:r>
            <a:r>
              <a:rPr sz="1050" i="1" spc="-127" baseline="-15873" dirty="0">
                <a:latin typeface="Arial"/>
                <a:cs typeface="Arial"/>
              </a:rPr>
              <a:t> </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Cloud</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37</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High 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4" name="object 4"/>
          <p:cNvSpPr txBox="1"/>
          <p:nvPr/>
        </p:nvSpPr>
        <p:spPr>
          <a:xfrm>
            <a:off x="82600" y="188846"/>
            <a:ext cx="4216400" cy="2444115"/>
          </a:xfrm>
          <a:prstGeom prst="rect">
            <a:avLst/>
          </a:prstGeom>
        </p:spPr>
        <p:txBody>
          <a:bodyPr vert="horz" wrap="square" lIns="0" tIns="17145" rIns="0" bIns="0" rtlCol="0">
            <a:spAutoFit/>
          </a:bodyPr>
          <a:lstStyle/>
          <a:p>
            <a:pPr marL="25400">
              <a:lnSpc>
                <a:spcPct val="100000"/>
              </a:lnSpc>
              <a:spcBef>
                <a:spcPts val="135"/>
              </a:spcBef>
            </a:pPr>
            <a:r>
              <a:rPr sz="1400" spc="10" dirty="0">
                <a:solidFill>
                  <a:srgbClr val="3333B2"/>
                </a:solidFill>
                <a:latin typeface="Arial"/>
                <a:cs typeface="Arial"/>
              </a:rPr>
              <a:t>Is</a:t>
            </a:r>
            <a:r>
              <a:rPr sz="1400" spc="5" dirty="0">
                <a:solidFill>
                  <a:srgbClr val="3333B2"/>
                </a:solidFill>
                <a:latin typeface="Arial"/>
                <a:cs typeface="Arial"/>
              </a:rPr>
              <a:t> </a:t>
            </a:r>
            <a:r>
              <a:rPr sz="1400" spc="15" dirty="0">
                <a:solidFill>
                  <a:srgbClr val="3333B2"/>
                </a:solidFill>
                <a:latin typeface="Arial"/>
                <a:cs typeface="Arial"/>
              </a:rPr>
              <a:t>cloud</a:t>
            </a:r>
            <a:r>
              <a:rPr sz="1400" spc="5" dirty="0">
                <a:solidFill>
                  <a:srgbClr val="3333B2"/>
                </a:solidFill>
                <a:latin typeface="Arial"/>
                <a:cs typeface="Arial"/>
              </a:rPr>
              <a:t> </a:t>
            </a:r>
            <a:r>
              <a:rPr sz="1400" spc="15" dirty="0">
                <a:solidFill>
                  <a:srgbClr val="3333B2"/>
                </a:solidFill>
                <a:latin typeface="Arial"/>
                <a:cs typeface="Arial"/>
              </a:rPr>
              <a:t>computing</a:t>
            </a:r>
            <a:r>
              <a:rPr sz="1400" spc="5" dirty="0">
                <a:solidFill>
                  <a:srgbClr val="3333B2"/>
                </a:solidFill>
                <a:latin typeface="Arial"/>
                <a:cs typeface="Arial"/>
              </a:rPr>
              <a:t> cost-effective?</a:t>
            </a:r>
            <a:endParaRPr sz="1400" dirty="0">
              <a:latin typeface="Arial"/>
              <a:cs typeface="Arial"/>
            </a:endParaRPr>
          </a:p>
          <a:p>
            <a:pPr>
              <a:lnSpc>
                <a:spcPct val="100000"/>
              </a:lnSpc>
            </a:pPr>
            <a:endParaRPr sz="1800" dirty="0">
              <a:latin typeface="Arial"/>
              <a:cs typeface="Arial"/>
            </a:endParaRPr>
          </a:p>
          <a:p>
            <a:pPr marL="276860">
              <a:lnSpc>
                <a:spcPct val="100000"/>
              </a:lnSpc>
              <a:spcBef>
                <a:spcPts val="1135"/>
              </a:spcBef>
            </a:pPr>
            <a:r>
              <a:rPr sz="1200" spc="-10" dirty="0">
                <a:solidFill>
                  <a:srgbClr val="3333B2"/>
                </a:solidFill>
                <a:latin typeface="Arial"/>
                <a:cs typeface="Arial"/>
              </a:rPr>
              <a:t>Migration</a:t>
            </a:r>
            <a:r>
              <a:rPr sz="1200" spc="-30" dirty="0">
                <a:solidFill>
                  <a:srgbClr val="3333B2"/>
                </a:solidFill>
                <a:latin typeface="Arial"/>
                <a:cs typeface="Arial"/>
              </a:rPr>
              <a:t> </a:t>
            </a:r>
            <a:r>
              <a:rPr sz="1200" spc="-5" dirty="0">
                <a:solidFill>
                  <a:srgbClr val="3333B2"/>
                </a:solidFill>
                <a:latin typeface="Arial"/>
                <a:cs typeface="Arial"/>
              </a:rPr>
              <a:t>plan</a:t>
            </a:r>
            <a:endParaRPr sz="1200" dirty="0">
              <a:latin typeface="Arial"/>
              <a:cs typeface="Arial"/>
            </a:endParaRPr>
          </a:p>
          <a:p>
            <a:pPr marL="276860" marR="43180">
              <a:lnSpc>
                <a:spcPct val="100000"/>
              </a:lnSpc>
              <a:spcBef>
                <a:spcPts val="190"/>
              </a:spcBef>
            </a:pPr>
            <a:r>
              <a:rPr sz="1000" spc="-5" dirty="0">
                <a:latin typeface="Arial"/>
                <a:cs typeface="Arial"/>
              </a:rPr>
              <a:t>Figure out </a:t>
            </a:r>
            <a:r>
              <a:rPr sz="1000" spc="-15" dirty="0">
                <a:latin typeface="Arial"/>
                <a:cs typeface="Arial"/>
              </a:rPr>
              <a:t>for </a:t>
            </a:r>
            <a:r>
              <a:rPr sz="1000" spc="-5" dirty="0">
                <a:latin typeface="Arial"/>
                <a:cs typeface="Arial"/>
              </a:rPr>
              <a:t>each component </a:t>
            </a:r>
            <a:r>
              <a:rPr sz="1000" i="1" dirty="0">
                <a:latin typeface="Arial"/>
                <a:cs typeface="Arial"/>
              </a:rPr>
              <a:t>C</a:t>
            </a:r>
            <a:r>
              <a:rPr sz="1050" i="1" baseline="-15873" dirty="0">
                <a:latin typeface="Arial"/>
                <a:cs typeface="Arial"/>
              </a:rPr>
              <a:t>i </a:t>
            </a:r>
            <a:r>
              <a:rPr sz="1000" spc="-5" dirty="0">
                <a:latin typeface="Arial"/>
                <a:cs typeface="Arial"/>
              </a:rPr>
              <a:t>, </a:t>
            </a:r>
            <a:r>
              <a:rPr sz="1000" spc="-10" dirty="0">
                <a:latin typeface="Arial"/>
                <a:cs typeface="Arial"/>
              </a:rPr>
              <a:t>how many </a:t>
            </a:r>
            <a:r>
              <a:rPr sz="1000" i="1" dirty="0">
                <a:latin typeface="Arial"/>
                <a:cs typeface="Arial"/>
              </a:rPr>
              <a:t>n</a:t>
            </a:r>
            <a:r>
              <a:rPr sz="1050" i="1" baseline="-15873" dirty="0">
                <a:latin typeface="Arial"/>
                <a:cs typeface="Arial"/>
              </a:rPr>
              <a:t>i</a:t>
            </a:r>
            <a:r>
              <a:rPr sz="1050" i="1" spc="7" baseline="-15873" dirty="0">
                <a:latin typeface="Arial"/>
                <a:cs typeface="Arial"/>
              </a:rPr>
              <a:t> </a:t>
            </a:r>
            <a:r>
              <a:rPr sz="1000" spc="-5" dirty="0">
                <a:latin typeface="Arial"/>
                <a:cs typeface="Arial"/>
              </a:rPr>
              <a:t>of its </a:t>
            </a:r>
            <a:r>
              <a:rPr sz="1000" i="1" dirty="0">
                <a:latin typeface="Arial"/>
                <a:cs typeface="Arial"/>
              </a:rPr>
              <a:t>N</a:t>
            </a:r>
            <a:r>
              <a:rPr sz="1050" i="1" baseline="-15873" dirty="0">
                <a:latin typeface="Arial"/>
                <a:cs typeface="Arial"/>
              </a:rPr>
              <a:t>i</a:t>
            </a:r>
            <a:r>
              <a:rPr sz="1050" i="1" spc="284" baseline="-15873" dirty="0">
                <a:latin typeface="Arial"/>
                <a:cs typeface="Arial"/>
              </a:rPr>
              <a:t> </a:t>
            </a:r>
            <a:r>
              <a:rPr sz="1000" spc="-5" dirty="0">
                <a:latin typeface="Arial"/>
                <a:cs typeface="Arial"/>
              </a:rPr>
              <a:t>servers </a:t>
            </a:r>
            <a:r>
              <a:rPr sz="1000" dirty="0">
                <a:latin typeface="Arial"/>
                <a:cs typeface="Arial"/>
              </a:rPr>
              <a:t> </a:t>
            </a:r>
            <a:r>
              <a:rPr sz="1000" spc="-5" dirty="0">
                <a:latin typeface="Arial"/>
                <a:cs typeface="Arial"/>
              </a:rPr>
              <a:t>should </a:t>
            </a:r>
            <a:r>
              <a:rPr sz="1000" spc="-10" dirty="0">
                <a:latin typeface="Arial"/>
                <a:cs typeface="Arial"/>
              </a:rPr>
              <a:t>migrate,</a:t>
            </a:r>
            <a:r>
              <a:rPr sz="1000" dirty="0">
                <a:latin typeface="Arial"/>
                <a:cs typeface="Arial"/>
              </a:rPr>
              <a:t> </a:t>
            </a:r>
            <a:r>
              <a:rPr sz="1000" spc="-5" dirty="0">
                <a:latin typeface="Arial"/>
                <a:cs typeface="Arial"/>
              </a:rPr>
              <a:t>such</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the monetary</a:t>
            </a:r>
            <a:r>
              <a:rPr sz="1000" dirty="0">
                <a:latin typeface="Arial"/>
                <a:cs typeface="Arial"/>
              </a:rPr>
              <a:t> </a:t>
            </a:r>
            <a:r>
              <a:rPr sz="1000" spc="-5" dirty="0">
                <a:latin typeface="Arial"/>
                <a:cs typeface="Arial"/>
              </a:rPr>
              <a:t>benefits</a:t>
            </a:r>
            <a:r>
              <a:rPr sz="1000" dirty="0">
                <a:latin typeface="Arial"/>
                <a:cs typeface="Arial"/>
              </a:rPr>
              <a:t> </a:t>
            </a:r>
            <a:r>
              <a:rPr sz="1000" spc="-5" dirty="0">
                <a:latin typeface="Arial"/>
                <a:cs typeface="Arial"/>
              </a:rPr>
              <a:t>reduced</a:t>
            </a:r>
            <a:r>
              <a:rPr sz="1000" dirty="0">
                <a:latin typeface="Arial"/>
                <a:cs typeface="Arial"/>
              </a:rPr>
              <a:t> </a:t>
            </a:r>
            <a:r>
              <a:rPr sz="1000" spc="-15" dirty="0">
                <a:latin typeface="Arial"/>
                <a:cs typeface="Arial"/>
              </a:rPr>
              <a:t>by</a:t>
            </a:r>
            <a:r>
              <a:rPr sz="1000" spc="-5" dirty="0">
                <a:latin typeface="Arial"/>
                <a:cs typeface="Arial"/>
              </a:rPr>
              <a:t> additional </a:t>
            </a:r>
            <a:r>
              <a:rPr sz="1000" spc="-260" dirty="0">
                <a:latin typeface="Arial"/>
                <a:cs typeface="Arial"/>
              </a:rPr>
              <a:t> </a:t>
            </a:r>
            <a:r>
              <a:rPr sz="1000" spc="-5" dirty="0">
                <a:latin typeface="Arial"/>
                <a:cs typeface="Arial"/>
              </a:rPr>
              <a:t>costs </a:t>
            </a:r>
            <a:r>
              <a:rPr sz="1000" spc="-15" dirty="0">
                <a:latin typeface="Arial"/>
                <a:cs typeface="Arial"/>
              </a:rPr>
              <a:t>for</a:t>
            </a:r>
            <a:r>
              <a:rPr sz="1000" spc="-5" dirty="0">
                <a:latin typeface="Arial"/>
                <a:cs typeface="Arial"/>
              </a:rPr>
              <a:t> </a:t>
            </a:r>
            <a:r>
              <a:rPr sz="1000" dirty="0">
                <a:latin typeface="Arial"/>
                <a:cs typeface="Arial"/>
              </a:rPr>
              <a:t>Internet</a:t>
            </a:r>
            <a:r>
              <a:rPr sz="1000" spc="-5" dirty="0">
                <a:latin typeface="Arial"/>
                <a:cs typeface="Arial"/>
              </a:rPr>
              <a:t> communication, are maximal.</a:t>
            </a:r>
            <a:endParaRPr sz="1000" dirty="0">
              <a:latin typeface="Arial"/>
              <a:cs typeface="Arial"/>
            </a:endParaRPr>
          </a:p>
          <a:p>
            <a:pPr marL="276860">
              <a:lnSpc>
                <a:spcPct val="100000"/>
              </a:lnSpc>
              <a:spcBef>
                <a:spcPts val="685"/>
              </a:spcBef>
            </a:pPr>
            <a:r>
              <a:rPr sz="1200" spc="-5" dirty="0">
                <a:solidFill>
                  <a:srgbClr val="3333B2"/>
                </a:solidFill>
                <a:latin typeface="Arial"/>
                <a:cs typeface="Arial"/>
              </a:rPr>
              <a:t>Requirements</a:t>
            </a:r>
            <a:r>
              <a:rPr sz="1200" spc="-15" dirty="0">
                <a:solidFill>
                  <a:srgbClr val="3333B2"/>
                </a:solidFill>
                <a:latin typeface="Arial"/>
                <a:cs typeface="Arial"/>
              </a:rPr>
              <a:t> </a:t>
            </a:r>
            <a:r>
              <a:rPr sz="1200" spc="-10" dirty="0">
                <a:solidFill>
                  <a:srgbClr val="3333B2"/>
                </a:solidFill>
                <a:latin typeface="Arial"/>
                <a:cs typeface="Arial"/>
              </a:rPr>
              <a:t>migration </a:t>
            </a:r>
            <a:r>
              <a:rPr sz="1200" spc="-5" dirty="0">
                <a:solidFill>
                  <a:srgbClr val="3333B2"/>
                </a:solidFill>
                <a:latin typeface="Arial"/>
                <a:cs typeface="Arial"/>
              </a:rPr>
              <a:t>plan</a:t>
            </a:r>
            <a:endParaRPr sz="1200" dirty="0">
              <a:latin typeface="Arial"/>
              <a:cs typeface="Arial"/>
            </a:endParaRPr>
          </a:p>
          <a:p>
            <a:pPr marL="554355" indent="-175895">
              <a:lnSpc>
                <a:spcPct val="100000"/>
              </a:lnSpc>
              <a:spcBef>
                <a:spcPts val="785"/>
              </a:spcBef>
              <a:buClr>
                <a:srgbClr val="3333B2"/>
              </a:buClr>
              <a:buAutoNum type="arabicPeriod"/>
              <a:tabLst>
                <a:tab pos="554990" algn="l"/>
              </a:tabLst>
            </a:pPr>
            <a:r>
              <a:rPr sz="1000" spc="-15" dirty="0">
                <a:latin typeface="Arial"/>
                <a:cs typeface="Arial"/>
              </a:rPr>
              <a:t>Policy </a:t>
            </a:r>
            <a:r>
              <a:rPr sz="1000" spc="-5" dirty="0">
                <a:latin typeface="Arial"/>
                <a:cs typeface="Arial"/>
              </a:rPr>
              <a:t>constraints</a:t>
            </a:r>
            <a:r>
              <a:rPr sz="1000" spc="-10" dirty="0">
                <a:latin typeface="Arial"/>
                <a:cs typeface="Arial"/>
              </a:rPr>
              <a:t> </a:t>
            </a:r>
            <a:r>
              <a:rPr sz="1000" spc="-5" dirty="0">
                <a:latin typeface="Arial"/>
                <a:cs typeface="Arial"/>
              </a:rPr>
              <a:t>are</a:t>
            </a:r>
            <a:r>
              <a:rPr sz="1000" spc="-10" dirty="0">
                <a:latin typeface="Arial"/>
                <a:cs typeface="Arial"/>
              </a:rPr>
              <a:t> </a:t>
            </a:r>
            <a:r>
              <a:rPr sz="1000" spc="-5" dirty="0">
                <a:latin typeface="Arial"/>
                <a:cs typeface="Arial"/>
              </a:rPr>
              <a:t>met.</a:t>
            </a:r>
            <a:endParaRPr sz="1000" dirty="0">
              <a:latin typeface="Arial"/>
              <a:cs typeface="Arial"/>
            </a:endParaRPr>
          </a:p>
          <a:p>
            <a:pPr marL="554355" indent="-175895">
              <a:lnSpc>
                <a:spcPct val="100000"/>
              </a:lnSpc>
              <a:spcBef>
                <a:spcPts val="595"/>
              </a:spcBef>
              <a:buClr>
                <a:srgbClr val="3333B2"/>
              </a:buClr>
              <a:buAutoNum type="arabicPeriod"/>
              <a:tabLst>
                <a:tab pos="554990" algn="l"/>
              </a:tabLst>
            </a:pPr>
            <a:r>
              <a:rPr sz="1000" spc="-5" dirty="0">
                <a:latin typeface="Arial"/>
                <a:cs typeface="Arial"/>
              </a:rPr>
              <a:t>Additional</a:t>
            </a:r>
            <a:r>
              <a:rPr sz="1000" dirty="0">
                <a:latin typeface="Arial"/>
                <a:cs typeface="Arial"/>
              </a:rPr>
              <a:t> </a:t>
            </a:r>
            <a:r>
              <a:rPr sz="1000" spc="-5" dirty="0">
                <a:latin typeface="Arial"/>
                <a:cs typeface="Arial"/>
              </a:rPr>
              <a:t>latencies</a:t>
            </a:r>
            <a:r>
              <a:rPr sz="1000" dirty="0">
                <a:latin typeface="Arial"/>
                <a:cs typeface="Arial"/>
              </a:rPr>
              <a:t> </a:t>
            </a:r>
            <a:r>
              <a:rPr sz="1000" spc="-5" dirty="0">
                <a:latin typeface="Arial"/>
                <a:cs typeface="Arial"/>
              </a:rPr>
              <a:t>do</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violate</a:t>
            </a:r>
            <a:r>
              <a:rPr sz="1000" dirty="0">
                <a:latin typeface="Arial"/>
                <a:cs typeface="Arial"/>
              </a:rPr>
              <a:t> </a:t>
            </a:r>
            <a:r>
              <a:rPr sz="1000" spc="-5" dirty="0">
                <a:latin typeface="Arial"/>
                <a:cs typeface="Arial"/>
              </a:rPr>
              <a:t>specific</a:t>
            </a:r>
            <a:r>
              <a:rPr sz="1000" spc="5" dirty="0">
                <a:latin typeface="Arial"/>
                <a:cs typeface="Arial"/>
              </a:rPr>
              <a:t> </a:t>
            </a:r>
            <a:r>
              <a:rPr sz="1000" spc="-10" dirty="0">
                <a:latin typeface="Arial"/>
                <a:cs typeface="Arial"/>
              </a:rPr>
              <a:t>delay</a:t>
            </a:r>
            <a:r>
              <a:rPr sz="1000" dirty="0">
                <a:latin typeface="Arial"/>
                <a:cs typeface="Arial"/>
              </a:rPr>
              <a:t> </a:t>
            </a:r>
            <a:r>
              <a:rPr sz="1000" spc="-5" dirty="0">
                <a:latin typeface="Arial"/>
                <a:cs typeface="Arial"/>
              </a:rPr>
              <a:t>constraints.</a:t>
            </a:r>
            <a:endParaRPr sz="1000" dirty="0">
              <a:latin typeface="Arial"/>
              <a:cs typeface="Arial"/>
            </a:endParaRPr>
          </a:p>
          <a:p>
            <a:pPr marL="554355" marR="43180" indent="-175260">
              <a:lnSpc>
                <a:spcPct val="100000"/>
              </a:lnSpc>
              <a:spcBef>
                <a:spcPts val="595"/>
              </a:spcBef>
              <a:buClr>
                <a:srgbClr val="3333B2"/>
              </a:buClr>
              <a:buAutoNum type="arabicPeriod"/>
              <a:tabLst>
                <a:tab pos="554990" algn="l"/>
              </a:tabLst>
            </a:pPr>
            <a:r>
              <a:rPr sz="1000" spc="-10" dirty="0">
                <a:latin typeface="Arial"/>
                <a:cs typeface="Arial"/>
              </a:rPr>
              <a:t>All </a:t>
            </a:r>
            <a:r>
              <a:rPr sz="1000" spc="-15" dirty="0">
                <a:latin typeface="Arial"/>
                <a:cs typeface="Arial"/>
              </a:rPr>
              <a:t>transactions</a:t>
            </a:r>
            <a:r>
              <a:rPr sz="1000" spc="-5" dirty="0">
                <a:latin typeface="Arial"/>
                <a:cs typeface="Arial"/>
              </a:rPr>
              <a:t> </a:t>
            </a:r>
            <a:r>
              <a:rPr sz="1000" spc="-15" dirty="0">
                <a:latin typeface="Arial"/>
                <a:cs typeface="Arial"/>
              </a:rPr>
              <a:t>continue</a:t>
            </a:r>
            <a:r>
              <a:rPr sz="1000" spc="-10" dirty="0">
                <a:latin typeface="Arial"/>
                <a:cs typeface="Arial"/>
              </a:rPr>
              <a:t> to</a:t>
            </a:r>
            <a:r>
              <a:rPr sz="1000" spc="-5" dirty="0">
                <a:latin typeface="Arial"/>
                <a:cs typeface="Arial"/>
              </a:rPr>
              <a:t> </a:t>
            </a:r>
            <a:r>
              <a:rPr sz="1000" spc="-15" dirty="0">
                <a:latin typeface="Arial"/>
                <a:cs typeface="Arial"/>
              </a:rPr>
              <a:t>operate</a:t>
            </a:r>
            <a:r>
              <a:rPr sz="1000" spc="-10" dirty="0">
                <a:latin typeface="Arial"/>
                <a:cs typeface="Arial"/>
              </a:rPr>
              <a:t> correctly;</a:t>
            </a:r>
            <a:r>
              <a:rPr sz="1000" spc="-5" dirty="0">
                <a:latin typeface="Arial"/>
                <a:cs typeface="Arial"/>
              </a:rPr>
              <a:t> </a:t>
            </a:r>
            <a:r>
              <a:rPr sz="1000" spc="-15" dirty="0">
                <a:latin typeface="Arial"/>
                <a:cs typeface="Arial"/>
              </a:rPr>
              <a:t>requests</a:t>
            </a:r>
            <a:r>
              <a:rPr sz="1000" spc="-10" dirty="0">
                <a:latin typeface="Arial"/>
                <a:cs typeface="Arial"/>
              </a:rPr>
              <a:t> </a:t>
            </a:r>
            <a:r>
              <a:rPr sz="1000" spc="-15" dirty="0">
                <a:latin typeface="Arial"/>
                <a:cs typeface="Arial"/>
              </a:rPr>
              <a:t>or</a:t>
            </a:r>
            <a:r>
              <a:rPr sz="1000" spc="-5" dirty="0">
                <a:latin typeface="Arial"/>
                <a:cs typeface="Arial"/>
              </a:rPr>
              <a:t> </a:t>
            </a:r>
            <a:r>
              <a:rPr sz="1000" spc="-15" dirty="0">
                <a:latin typeface="Arial"/>
                <a:cs typeface="Arial"/>
              </a:rPr>
              <a:t>data</a:t>
            </a:r>
            <a:r>
              <a:rPr sz="1000" spc="-10" dirty="0">
                <a:latin typeface="Arial"/>
                <a:cs typeface="Arial"/>
              </a:rPr>
              <a:t> </a:t>
            </a:r>
            <a:r>
              <a:rPr sz="1000" spc="-15" dirty="0">
                <a:latin typeface="Arial"/>
                <a:cs typeface="Arial"/>
              </a:rPr>
              <a:t>are </a:t>
            </a:r>
            <a:r>
              <a:rPr sz="1000" spc="-26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lost during a transaction.</a:t>
            </a:r>
            <a:endParaRPr sz="1000" dirty="0">
              <a:latin typeface="Arial"/>
              <a:cs typeface="Arial"/>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Cloud</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38</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High 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4" name="object 4"/>
          <p:cNvSpPr txBox="1"/>
          <p:nvPr/>
        </p:nvSpPr>
        <p:spPr>
          <a:xfrm>
            <a:off x="95300" y="188846"/>
            <a:ext cx="159512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Computing</a:t>
            </a:r>
            <a:r>
              <a:rPr sz="1400" spc="-50" dirty="0">
                <a:solidFill>
                  <a:srgbClr val="3333B2"/>
                </a:solidFill>
                <a:latin typeface="Arial"/>
                <a:cs typeface="Arial"/>
              </a:rPr>
              <a:t> </a:t>
            </a:r>
            <a:r>
              <a:rPr sz="1400" spc="15" dirty="0">
                <a:solidFill>
                  <a:srgbClr val="3333B2"/>
                </a:solidFill>
                <a:latin typeface="Arial"/>
                <a:cs typeface="Arial"/>
              </a:rPr>
              <a:t>benefits</a:t>
            </a:r>
            <a:endParaRPr sz="1400" dirty="0">
              <a:latin typeface="Arial"/>
              <a:cs typeface="Arial"/>
            </a:endParaRPr>
          </a:p>
        </p:txBody>
      </p:sp>
      <p:sp>
        <p:nvSpPr>
          <p:cNvPr id="5" name="object 5"/>
          <p:cNvSpPr txBox="1"/>
          <p:nvPr/>
        </p:nvSpPr>
        <p:spPr>
          <a:xfrm>
            <a:off x="321894" y="1024049"/>
            <a:ext cx="3746500" cy="137160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Monetary</a:t>
            </a:r>
            <a:r>
              <a:rPr sz="1200" spc="-30" dirty="0">
                <a:solidFill>
                  <a:srgbClr val="3333B2"/>
                </a:solidFill>
                <a:latin typeface="Arial"/>
                <a:cs typeface="Arial"/>
              </a:rPr>
              <a:t> </a:t>
            </a:r>
            <a:r>
              <a:rPr sz="1200" spc="-10" dirty="0">
                <a:solidFill>
                  <a:srgbClr val="3333B2"/>
                </a:solidFill>
                <a:latin typeface="Arial"/>
                <a:cs typeface="Arial"/>
              </a:rPr>
              <a:t>savings</a:t>
            </a:r>
            <a:endParaRPr sz="1200" dirty="0">
              <a:latin typeface="Arial"/>
              <a:cs typeface="Arial"/>
            </a:endParaRPr>
          </a:p>
          <a:p>
            <a:pPr marL="314960" indent="-168275">
              <a:lnSpc>
                <a:spcPct val="100000"/>
              </a:lnSpc>
              <a:spcBef>
                <a:spcPts val="790"/>
              </a:spcBef>
              <a:buClr>
                <a:srgbClr val="3333B2"/>
              </a:buClr>
              <a:buFont typeface="Arial"/>
              <a:buChar char="►"/>
              <a:tabLst>
                <a:tab pos="315595" algn="l"/>
              </a:tabLst>
            </a:pPr>
            <a:r>
              <a:rPr sz="1000" i="1" spc="5" dirty="0">
                <a:latin typeface="Arial"/>
                <a:cs typeface="Arial"/>
              </a:rPr>
              <a:t>B</a:t>
            </a:r>
            <a:r>
              <a:rPr sz="1050" i="1" spc="7" baseline="-11904" dirty="0">
                <a:latin typeface="Arial"/>
                <a:cs typeface="Arial"/>
              </a:rPr>
              <a:t>c</a:t>
            </a:r>
            <a:r>
              <a:rPr sz="1050" i="1" spc="-165" baseline="-11904"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benefits of migrating</a:t>
            </a:r>
            <a:r>
              <a:rPr sz="1000" dirty="0">
                <a:latin typeface="Arial"/>
                <a:cs typeface="Arial"/>
              </a:rPr>
              <a:t> </a:t>
            </a:r>
            <a:r>
              <a:rPr sz="1000" spc="-5" dirty="0">
                <a:latin typeface="Arial"/>
                <a:cs typeface="Arial"/>
              </a:rPr>
              <a:t>a compute-intensive component</a:t>
            </a:r>
            <a:endParaRPr sz="1000" dirty="0">
              <a:latin typeface="Arial"/>
              <a:cs typeface="Arial"/>
            </a:endParaRPr>
          </a:p>
          <a:p>
            <a:pPr marL="314960" indent="-168275">
              <a:lnSpc>
                <a:spcPct val="100000"/>
              </a:lnSpc>
              <a:spcBef>
                <a:spcPts val="590"/>
              </a:spcBef>
              <a:buClr>
                <a:srgbClr val="3333B2"/>
              </a:buClr>
              <a:buFont typeface="Arial"/>
              <a:buChar char="►"/>
              <a:tabLst>
                <a:tab pos="315595" algn="l"/>
              </a:tabLst>
            </a:pPr>
            <a:r>
              <a:rPr sz="1000" i="1" spc="5" dirty="0">
                <a:latin typeface="Arial"/>
                <a:cs typeface="Arial"/>
              </a:rPr>
              <a:t>M</a:t>
            </a:r>
            <a:r>
              <a:rPr sz="1050" i="1" spc="7" baseline="-11904" dirty="0">
                <a:latin typeface="Arial"/>
                <a:cs typeface="Arial"/>
              </a:rPr>
              <a:t>c</a:t>
            </a:r>
            <a:r>
              <a:rPr sz="1050" i="1" spc="-165" baseline="-11904"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total number of migrated compute-intensive components</a:t>
            </a:r>
            <a:endParaRPr sz="1000" dirty="0">
              <a:latin typeface="Arial"/>
              <a:cs typeface="Arial"/>
            </a:endParaRPr>
          </a:p>
          <a:p>
            <a:pPr marL="314960" indent="-168275">
              <a:lnSpc>
                <a:spcPct val="100000"/>
              </a:lnSpc>
              <a:spcBef>
                <a:spcPts val="595"/>
              </a:spcBef>
              <a:buClr>
                <a:srgbClr val="3333B2"/>
              </a:buClr>
              <a:buFont typeface="Arial"/>
              <a:buChar char="►"/>
              <a:tabLst>
                <a:tab pos="315595" algn="l"/>
              </a:tabLst>
            </a:pPr>
            <a:r>
              <a:rPr sz="1000" i="1" spc="5" dirty="0">
                <a:latin typeface="Arial"/>
                <a:cs typeface="Arial"/>
              </a:rPr>
              <a:t>B</a:t>
            </a:r>
            <a:r>
              <a:rPr sz="1050" i="1" spc="7" baseline="-11904" dirty="0">
                <a:latin typeface="Arial"/>
                <a:cs typeface="Arial"/>
              </a:rPr>
              <a:t>s</a:t>
            </a:r>
            <a:r>
              <a:rPr sz="1050" i="1" spc="-187" baseline="-11904"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benefits of migrating a storage-intensive component</a:t>
            </a:r>
            <a:endParaRPr sz="1000" dirty="0">
              <a:latin typeface="Arial"/>
              <a:cs typeface="Arial"/>
            </a:endParaRPr>
          </a:p>
          <a:p>
            <a:pPr marL="38100" marR="97155" indent="109220">
              <a:lnSpc>
                <a:spcPct val="149400"/>
              </a:lnSpc>
              <a:buClr>
                <a:srgbClr val="3333B2"/>
              </a:buClr>
              <a:buFont typeface="Arial"/>
              <a:buChar char="►"/>
              <a:tabLst>
                <a:tab pos="315595" algn="l"/>
              </a:tabLst>
            </a:pPr>
            <a:r>
              <a:rPr sz="1000" i="1" spc="-5" dirty="0">
                <a:latin typeface="Arial"/>
                <a:cs typeface="Arial"/>
              </a:rPr>
              <a:t>M</a:t>
            </a:r>
            <a:r>
              <a:rPr sz="1050" i="1" spc="22" baseline="-11904" dirty="0">
                <a:latin typeface="Arial"/>
                <a:cs typeface="Arial"/>
              </a:rPr>
              <a:t>s</a:t>
            </a:r>
            <a:r>
              <a:rPr sz="1050" i="1" spc="-187" baseline="-11904"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total </a:t>
            </a:r>
            <a:r>
              <a:rPr sz="1000" spc="-15" dirty="0">
                <a:latin typeface="Arial"/>
                <a:cs typeface="Arial"/>
              </a:rPr>
              <a:t>n</a:t>
            </a:r>
            <a:r>
              <a:rPr sz="1000" spc="-5" dirty="0">
                <a:latin typeface="Arial"/>
                <a:cs typeface="Arial"/>
              </a:rPr>
              <a:t>umber of mi</a:t>
            </a:r>
            <a:r>
              <a:rPr sz="1000" spc="-15" dirty="0">
                <a:latin typeface="Arial"/>
                <a:cs typeface="Arial"/>
              </a:rPr>
              <a:t>gr</a:t>
            </a:r>
            <a:r>
              <a:rPr sz="1000" spc="-5" dirty="0">
                <a:latin typeface="Arial"/>
                <a:cs typeface="Arial"/>
              </a:rPr>
              <a:t>ated sto</a:t>
            </a:r>
            <a:r>
              <a:rPr sz="1000" spc="-15" dirty="0">
                <a:latin typeface="Arial"/>
                <a:cs typeface="Arial"/>
              </a:rPr>
              <a:t>r</a:t>
            </a:r>
            <a:r>
              <a:rPr sz="1000" spc="-5" dirty="0">
                <a:latin typeface="Arial"/>
                <a:cs typeface="Arial"/>
              </a:rPr>
              <a:t>age-intensi</a:t>
            </a:r>
            <a:r>
              <a:rPr sz="1000" spc="-30" dirty="0">
                <a:latin typeface="Arial"/>
                <a:cs typeface="Arial"/>
              </a:rPr>
              <a:t>v</a:t>
            </a:r>
            <a:r>
              <a:rPr sz="1000" spc="-5" dirty="0">
                <a:latin typeface="Arial"/>
                <a:cs typeface="Arial"/>
              </a:rPr>
              <a:t>e components  O</a:t>
            </a:r>
            <a:r>
              <a:rPr sz="1000" spc="-25" dirty="0">
                <a:latin typeface="Arial"/>
                <a:cs typeface="Arial"/>
              </a:rPr>
              <a:t>b</a:t>
            </a:r>
            <a:r>
              <a:rPr sz="1000" spc="-5" dirty="0">
                <a:latin typeface="Arial"/>
                <a:cs typeface="Arial"/>
              </a:rPr>
              <a:t>viousl</a:t>
            </a:r>
            <a:r>
              <a:rPr sz="1000" spc="-105" dirty="0">
                <a:latin typeface="Arial"/>
                <a:cs typeface="Arial"/>
              </a:rPr>
              <a:t>y</a:t>
            </a:r>
            <a:r>
              <a:rPr sz="1000" spc="-5" dirty="0">
                <a:latin typeface="Arial"/>
                <a:cs typeface="Arial"/>
              </a:rPr>
              <a:t>, total benefits are:</a:t>
            </a:r>
            <a:r>
              <a:rPr sz="1000" spc="60" dirty="0">
                <a:latin typeface="Arial"/>
                <a:cs typeface="Arial"/>
              </a:rPr>
              <a:t> </a:t>
            </a:r>
            <a:r>
              <a:rPr sz="1000" i="1" spc="-5" dirty="0">
                <a:latin typeface="Arial"/>
                <a:cs typeface="Arial"/>
              </a:rPr>
              <a:t>B</a:t>
            </a:r>
            <a:r>
              <a:rPr sz="1050" i="1" spc="22" baseline="-11904" dirty="0">
                <a:latin typeface="Arial"/>
                <a:cs typeface="Arial"/>
              </a:rPr>
              <a:t>c</a:t>
            </a:r>
            <a:r>
              <a:rPr sz="1050" i="1" spc="44" baseline="-11904"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M</a:t>
            </a:r>
            <a:r>
              <a:rPr sz="1050" i="1" spc="22" baseline="-11904" dirty="0">
                <a:latin typeface="Arial"/>
                <a:cs typeface="Arial"/>
              </a:rPr>
              <a:t>c</a:t>
            </a:r>
            <a:r>
              <a:rPr sz="1050" i="1" spc="44" baseline="-11904" dirty="0">
                <a:latin typeface="Arial"/>
                <a:cs typeface="Arial"/>
              </a:rPr>
              <a:t> </a:t>
            </a:r>
            <a:r>
              <a:rPr sz="1000" spc="190" dirty="0">
                <a:latin typeface="Arial"/>
                <a:cs typeface="Arial"/>
              </a:rPr>
              <a:t>+</a:t>
            </a:r>
            <a:r>
              <a:rPr sz="1000" spc="-140" dirty="0">
                <a:latin typeface="Arial"/>
                <a:cs typeface="Arial"/>
              </a:rPr>
              <a:t> </a:t>
            </a:r>
            <a:r>
              <a:rPr sz="1000" i="1" spc="-5" dirty="0">
                <a:latin typeface="Arial"/>
                <a:cs typeface="Arial"/>
              </a:rPr>
              <a:t>B</a:t>
            </a:r>
            <a:r>
              <a:rPr sz="1050" i="1" spc="22" baseline="-11904" dirty="0">
                <a:latin typeface="Arial"/>
                <a:cs typeface="Arial"/>
              </a:rPr>
              <a:t>s </a:t>
            </a:r>
            <a:r>
              <a:rPr sz="1000" i="1" spc="-75" dirty="0">
                <a:latin typeface="メイリオ"/>
                <a:cs typeface="メイリオ"/>
              </a:rPr>
              <a:t>·</a:t>
            </a:r>
            <a:r>
              <a:rPr sz="1000" i="1" spc="-204" dirty="0">
                <a:latin typeface="メイリオ"/>
                <a:cs typeface="メイリオ"/>
              </a:rPr>
              <a:t> </a:t>
            </a:r>
            <a:r>
              <a:rPr sz="1000" i="1" spc="-5" dirty="0">
                <a:latin typeface="Arial"/>
                <a:cs typeface="Arial"/>
              </a:rPr>
              <a:t>M</a:t>
            </a:r>
            <a:r>
              <a:rPr sz="1050" i="1" spc="22" baseline="-11904" dirty="0">
                <a:latin typeface="Arial"/>
                <a:cs typeface="Arial"/>
              </a:rPr>
              <a:t>s</a:t>
            </a:r>
            <a:endParaRPr sz="1050" baseline="-11904" dirty="0">
              <a:latin typeface="Arial"/>
              <a:cs typeface="Arial"/>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Cloud</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39</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High 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4" name="object 4"/>
          <p:cNvSpPr txBox="1"/>
          <p:nvPr/>
        </p:nvSpPr>
        <p:spPr>
          <a:xfrm>
            <a:off x="95300" y="188846"/>
            <a:ext cx="112395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Internet</a:t>
            </a:r>
            <a:r>
              <a:rPr sz="1400" spc="-45" dirty="0">
                <a:solidFill>
                  <a:srgbClr val="3333B2"/>
                </a:solidFill>
                <a:latin typeface="Arial"/>
                <a:cs typeface="Arial"/>
              </a:rPr>
              <a:t> </a:t>
            </a:r>
            <a:r>
              <a:rPr sz="1400" spc="15" dirty="0">
                <a:solidFill>
                  <a:srgbClr val="3333B2"/>
                </a:solidFill>
                <a:latin typeface="Arial"/>
                <a:cs typeface="Arial"/>
              </a:rPr>
              <a:t>costs</a:t>
            </a:r>
            <a:endParaRPr sz="1400" dirty="0">
              <a:latin typeface="Arial"/>
              <a:cs typeface="Arial"/>
            </a:endParaRPr>
          </a:p>
        </p:txBody>
      </p:sp>
      <p:sp>
        <p:nvSpPr>
          <p:cNvPr id="5" name="object 5"/>
          <p:cNvSpPr txBox="1"/>
          <p:nvPr/>
        </p:nvSpPr>
        <p:spPr>
          <a:xfrm>
            <a:off x="304495" y="950425"/>
            <a:ext cx="3978910" cy="1318260"/>
          </a:xfrm>
          <a:prstGeom prst="rect">
            <a:avLst/>
          </a:prstGeom>
        </p:spPr>
        <p:txBody>
          <a:bodyPr vert="horz" wrap="square" lIns="0" tIns="109220" rIns="0" bIns="0" rtlCol="0">
            <a:spAutoFit/>
          </a:bodyPr>
          <a:lstStyle/>
          <a:p>
            <a:pPr marL="50800">
              <a:lnSpc>
                <a:spcPct val="100000"/>
              </a:lnSpc>
              <a:spcBef>
                <a:spcPts val="860"/>
              </a:spcBef>
            </a:pPr>
            <a:r>
              <a:rPr sz="1200" spc="-25" dirty="0">
                <a:solidFill>
                  <a:srgbClr val="3333B2"/>
                </a:solidFill>
                <a:latin typeface="Arial"/>
                <a:cs typeface="Arial"/>
              </a:rPr>
              <a:t>Traffic</a:t>
            </a:r>
            <a:r>
              <a:rPr sz="1200" spc="-20" dirty="0">
                <a:solidFill>
                  <a:srgbClr val="3333B2"/>
                </a:solidFill>
                <a:latin typeface="Arial"/>
                <a:cs typeface="Arial"/>
              </a:rPr>
              <a:t> </a:t>
            </a:r>
            <a:r>
              <a:rPr sz="1200" spc="-5" dirty="0">
                <a:solidFill>
                  <a:srgbClr val="3333B2"/>
                </a:solidFill>
                <a:latin typeface="Arial"/>
                <a:cs typeface="Arial"/>
              </a:rPr>
              <a:t>to/from</a:t>
            </a:r>
            <a:r>
              <a:rPr sz="1200" spc="-20" dirty="0">
                <a:solidFill>
                  <a:srgbClr val="3333B2"/>
                </a:solidFill>
                <a:latin typeface="Arial"/>
                <a:cs typeface="Arial"/>
              </a:rPr>
              <a:t> </a:t>
            </a:r>
            <a:r>
              <a:rPr sz="1200" spc="-5" dirty="0">
                <a:solidFill>
                  <a:srgbClr val="3333B2"/>
                </a:solidFill>
                <a:latin typeface="Arial"/>
                <a:cs typeface="Arial"/>
              </a:rPr>
              <a:t>the</a:t>
            </a:r>
            <a:r>
              <a:rPr sz="1200" spc="-15" dirty="0">
                <a:solidFill>
                  <a:srgbClr val="3333B2"/>
                </a:solidFill>
                <a:latin typeface="Arial"/>
                <a:cs typeface="Arial"/>
              </a:rPr>
              <a:t> </a:t>
            </a:r>
            <a:r>
              <a:rPr sz="1200" spc="-5" dirty="0">
                <a:solidFill>
                  <a:srgbClr val="3333B2"/>
                </a:solidFill>
                <a:latin typeface="Arial"/>
                <a:cs typeface="Arial"/>
              </a:rPr>
              <a:t>cloud</a:t>
            </a:r>
            <a:endParaRPr sz="1200" dirty="0">
              <a:latin typeface="Arial"/>
              <a:cs typeface="Arial"/>
            </a:endParaRPr>
          </a:p>
          <a:p>
            <a:pPr marL="823594">
              <a:lnSpc>
                <a:spcPts val="1620"/>
              </a:lnSpc>
              <a:spcBef>
                <a:spcPts val="955"/>
              </a:spcBef>
            </a:pPr>
            <a:r>
              <a:rPr sz="1500" i="1" spc="-187" baseline="11111" dirty="0">
                <a:latin typeface="Arial"/>
                <a:cs typeface="Arial"/>
              </a:rPr>
              <a:t>T</a:t>
            </a:r>
            <a:r>
              <a:rPr sz="1500" i="1" spc="-7" baseline="11111" dirty="0">
                <a:latin typeface="Arial"/>
                <a:cs typeface="Arial"/>
              </a:rPr>
              <a:t>r</a:t>
            </a:r>
            <a:r>
              <a:rPr sz="700" i="1" spc="15" dirty="0">
                <a:latin typeface="Arial"/>
                <a:cs typeface="Arial"/>
              </a:rPr>
              <a:t>loca</a:t>
            </a:r>
            <a:r>
              <a:rPr sz="700" i="1" spc="65" dirty="0">
                <a:latin typeface="Arial"/>
                <a:cs typeface="Arial"/>
              </a:rPr>
              <a:t>l</a:t>
            </a:r>
            <a:r>
              <a:rPr sz="700" i="1" spc="5" dirty="0">
                <a:latin typeface="Arial"/>
                <a:cs typeface="Arial"/>
              </a:rPr>
              <a:t>,</a:t>
            </a:r>
            <a:r>
              <a:rPr sz="700" i="1" spc="15" dirty="0">
                <a:latin typeface="Arial"/>
                <a:cs typeface="Arial"/>
              </a:rPr>
              <a:t>inet</a:t>
            </a:r>
            <a:r>
              <a:rPr sz="700" i="1" dirty="0">
                <a:latin typeface="Arial"/>
                <a:cs typeface="Arial"/>
              </a:rPr>
              <a:t> </a:t>
            </a:r>
            <a:r>
              <a:rPr sz="700" i="1" spc="-55" dirty="0">
                <a:latin typeface="Arial"/>
                <a:cs typeface="Arial"/>
              </a:rPr>
              <a:t> </a:t>
            </a:r>
            <a:r>
              <a:rPr sz="1500" spc="284" baseline="11111" dirty="0">
                <a:latin typeface="Arial"/>
                <a:cs typeface="Arial"/>
              </a:rPr>
              <a:t>=</a:t>
            </a:r>
            <a:r>
              <a:rPr sz="1500" spc="-89" baseline="11111" dirty="0">
                <a:latin typeface="Arial"/>
                <a:cs typeface="Arial"/>
              </a:rPr>
              <a:t> </a:t>
            </a:r>
            <a:r>
              <a:rPr sz="1400" spc="15" dirty="0">
                <a:latin typeface="Times New Roman"/>
                <a:cs typeface="Times New Roman"/>
              </a:rPr>
              <a:t>∑</a:t>
            </a:r>
            <a:r>
              <a:rPr sz="1500" spc="75" baseline="11111" dirty="0">
                <a:latin typeface="Arial"/>
                <a:cs typeface="Arial"/>
              </a:rPr>
              <a:t>(</a:t>
            </a:r>
            <a:r>
              <a:rPr sz="1500" i="1" spc="-7" baseline="11111" dirty="0">
                <a:latin typeface="Arial"/>
                <a:cs typeface="Arial"/>
              </a:rPr>
              <a:t>T</a:t>
            </a:r>
            <a:r>
              <a:rPr sz="700" i="1" spc="15" dirty="0">
                <a:latin typeface="Arial"/>
                <a:cs typeface="Arial"/>
              </a:rPr>
              <a:t>use</a:t>
            </a:r>
            <a:r>
              <a:rPr sz="700" i="1" spc="90" dirty="0">
                <a:latin typeface="Arial"/>
                <a:cs typeface="Arial"/>
              </a:rPr>
              <a:t>r</a:t>
            </a:r>
            <a:r>
              <a:rPr sz="700" i="1" spc="5" dirty="0">
                <a:latin typeface="Arial"/>
                <a:cs typeface="Arial"/>
              </a:rPr>
              <a:t>,i</a:t>
            </a:r>
            <a:r>
              <a:rPr sz="700" i="1" spc="-85" dirty="0">
                <a:latin typeface="Arial"/>
                <a:cs typeface="Arial"/>
              </a:rPr>
              <a:t> </a:t>
            </a:r>
            <a:r>
              <a:rPr sz="1500" i="1" spc="-7" baseline="11111" dirty="0">
                <a:latin typeface="Arial"/>
                <a:cs typeface="Arial"/>
              </a:rPr>
              <a:t>S</a:t>
            </a:r>
            <a:r>
              <a:rPr sz="700" i="1" spc="15" dirty="0">
                <a:latin typeface="Arial"/>
                <a:cs typeface="Arial"/>
              </a:rPr>
              <a:t>use</a:t>
            </a:r>
            <a:r>
              <a:rPr sz="700" i="1" spc="90" dirty="0">
                <a:latin typeface="Arial"/>
                <a:cs typeface="Arial"/>
              </a:rPr>
              <a:t>r</a:t>
            </a:r>
            <a:r>
              <a:rPr sz="700" i="1" spc="5" dirty="0">
                <a:latin typeface="Arial"/>
                <a:cs typeface="Arial"/>
              </a:rPr>
              <a:t>,i</a:t>
            </a:r>
            <a:r>
              <a:rPr sz="700" i="1" spc="55" dirty="0">
                <a:latin typeface="Arial"/>
                <a:cs typeface="Arial"/>
              </a:rPr>
              <a:t> </a:t>
            </a:r>
            <a:r>
              <a:rPr sz="1500" spc="284" baseline="11111" dirty="0">
                <a:latin typeface="Arial"/>
                <a:cs typeface="Arial"/>
              </a:rPr>
              <a:t>+</a:t>
            </a:r>
            <a:r>
              <a:rPr sz="1500" spc="-209" baseline="11111" dirty="0">
                <a:latin typeface="Arial"/>
                <a:cs typeface="Arial"/>
              </a:rPr>
              <a:t> </a:t>
            </a:r>
            <a:r>
              <a:rPr sz="1500" i="1" spc="-7" baseline="11111" dirty="0">
                <a:latin typeface="Arial"/>
                <a:cs typeface="Arial"/>
              </a:rPr>
              <a:t>T</a:t>
            </a:r>
            <a:r>
              <a:rPr sz="700" i="1" spc="65" dirty="0">
                <a:latin typeface="Arial"/>
                <a:cs typeface="Arial"/>
              </a:rPr>
              <a:t>i</a:t>
            </a:r>
            <a:r>
              <a:rPr sz="700" i="1" spc="5" dirty="0">
                <a:latin typeface="Arial"/>
                <a:cs typeface="Arial"/>
              </a:rPr>
              <a:t>,</a:t>
            </a:r>
            <a:r>
              <a:rPr sz="700" i="1" spc="15" dirty="0">
                <a:latin typeface="Arial"/>
                <a:cs typeface="Arial"/>
              </a:rPr>
              <a:t>user</a:t>
            </a:r>
            <a:r>
              <a:rPr sz="700" i="1" spc="-65" dirty="0">
                <a:latin typeface="Arial"/>
                <a:cs typeface="Arial"/>
              </a:rPr>
              <a:t> </a:t>
            </a:r>
            <a:r>
              <a:rPr sz="1500" i="1" spc="-7" baseline="11111" dirty="0">
                <a:latin typeface="Arial"/>
                <a:cs typeface="Arial"/>
              </a:rPr>
              <a:t>S</a:t>
            </a:r>
            <a:r>
              <a:rPr sz="700" i="1" spc="65" dirty="0">
                <a:latin typeface="Arial"/>
                <a:cs typeface="Arial"/>
              </a:rPr>
              <a:t>i</a:t>
            </a:r>
            <a:r>
              <a:rPr sz="700" i="1" spc="5" dirty="0">
                <a:latin typeface="Arial"/>
                <a:cs typeface="Arial"/>
              </a:rPr>
              <a:t>,</a:t>
            </a:r>
            <a:r>
              <a:rPr sz="700" i="1" spc="15" dirty="0">
                <a:latin typeface="Arial"/>
                <a:cs typeface="Arial"/>
              </a:rPr>
              <a:t>user</a:t>
            </a:r>
            <a:r>
              <a:rPr sz="700" i="1" spc="-65" dirty="0">
                <a:latin typeface="Arial"/>
                <a:cs typeface="Arial"/>
              </a:rPr>
              <a:t> </a:t>
            </a:r>
            <a:r>
              <a:rPr sz="1500" spc="75" baseline="11111" dirty="0">
                <a:latin typeface="Arial"/>
                <a:cs typeface="Arial"/>
              </a:rPr>
              <a:t>)</a:t>
            </a:r>
            <a:endParaRPr sz="1500" baseline="11111" dirty="0">
              <a:latin typeface="Arial"/>
              <a:cs typeface="Arial"/>
            </a:endParaRPr>
          </a:p>
          <a:p>
            <a:pPr marR="904240" algn="ctr">
              <a:lnSpc>
                <a:spcPts val="780"/>
              </a:lnSpc>
            </a:pPr>
            <a:r>
              <a:rPr sz="700" i="1" spc="10" dirty="0">
                <a:latin typeface="Arial"/>
                <a:cs typeface="Arial"/>
              </a:rPr>
              <a:t>C</a:t>
            </a:r>
            <a:r>
              <a:rPr sz="900" i="1" spc="15" baseline="-18518" dirty="0">
                <a:latin typeface="Arial"/>
                <a:cs typeface="Arial"/>
              </a:rPr>
              <a:t>i</a:t>
            </a:r>
            <a:endParaRPr sz="900" baseline="-18518" dirty="0">
              <a:latin typeface="Arial"/>
              <a:cs typeface="Arial"/>
            </a:endParaRPr>
          </a:p>
          <a:p>
            <a:pPr>
              <a:lnSpc>
                <a:spcPct val="100000"/>
              </a:lnSpc>
              <a:spcBef>
                <a:spcPts val="15"/>
              </a:spcBef>
            </a:pPr>
            <a:endParaRPr sz="1400" dirty="0">
              <a:latin typeface="Arial"/>
              <a:cs typeface="Arial"/>
            </a:endParaRPr>
          </a:p>
          <a:p>
            <a:pPr marL="332105" indent="-168275">
              <a:lnSpc>
                <a:spcPct val="100000"/>
              </a:lnSpc>
              <a:buClr>
                <a:srgbClr val="3333B2"/>
              </a:buClr>
              <a:buFont typeface="Arial"/>
              <a:buChar char="►"/>
              <a:tabLst>
                <a:tab pos="332740" algn="l"/>
              </a:tabLst>
            </a:pPr>
            <a:r>
              <a:rPr sz="1000" i="1" spc="20" dirty="0">
                <a:latin typeface="Arial"/>
                <a:cs typeface="Arial"/>
              </a:rPr>
              <a:t>T</a:t>
            </a:r>
            <a:r>
              <a:rPr sz="1050" i="1" spc="30" baseline="-15873" dirty="0">
                <a:latin typeface="Arial"/>
                <a:cs typeface="Arial"/>
              </a:rPr>
              <a:t>user,i</a:t>
            </a:r>
            <a:r>
              <a:rPr sz="1050" i="1" spc="-127" baseline="-15873" dirty="0">
                <a:latin typeface="Arial"/>
                <a:cs typeface="Arial"/>
              </a:rPr>
              <a:t> </a:t>
            </a:r>
            <a:r>
              <a:rPr sz="1000" spc="-5" dirty="0">
                <a:latin typeface="Arial"/>
                <a:cs typeface="Arial"/>
              </a:rPr>
              <a:t>:</a:t>
            </a:r>
            <a:r>
              <a:rPr sz="1000" spc="70" dirty="0">
                <a:latin typeface="Arial"/>
                <a:cs typeface="Arial"/>
              </a:rPr>
              <a:t> </a:t>
            </a:r>
            <a:r>
              <a:rPr sz="1000" spc="-10" dirty="0">
                <a:latin typeface="Arial"/>
                <a:cs typeface="Arial"/>
              </a:rPr>
              <a:t>transaction</a:t>
            </a:r>
            <a:r>
              <a:rPr sz="1000" dirty="0">
                <a:latin typeface="Arial"/>
                <a:cs typeface="Arial"/>
              </a:rPr>
              <a:t> </a:t>
            </a:r>
            <a:r>
              <a:rPr sz="1000" spc="-10" dirty="0">
                <a:latin typeface="Arial"/>
                <a:cs typeface="Arial"/>
              </a:rPr>
              <a:t>per</a:t>
            </a:r>
            <a:r>
              <a:rPr sz="1000" dirty="0">
                <a:latin typeface="Arial"/>
                <a:cs typeface="Arial"/>
              </a:rPr>
              <a:t> </a:t>
            </a:r>
            <a:r>
              <a:rPr sz="1000" spc="-10" dirty="0">
                <a:latin typeface="Arial"/>
                <a:cs typeface="Arial"/>
              </a:rPr>
              <a:t>time</a:t>
            </a:r>
            <a:r>
              <a:rPr sz="1000" spc="5" dirty="0">
                <a:latin typeface="Arial"/>
                <a:cs typeface="Arial"/>
              </a:rPr>
              <a:t> </a:t>
            </a:r>
            <a:r>
              <a:rPr sz="1000" spc="-10" dirty="0">
                <a:latin typeface="Arial"/>
                <a:cs typeface="Arial"/>
              </a:rPr>
              <a:t>unit</a:t>
            </a:r>
            <a:r>
              <a:rPr sz="1000" dirty="0">
                <a:latin typeface="Arial"/>
                <a:cs typeface="Arial"/>
              </a:rPr>
              <a:t> </a:t>
            </a:r>
            <a:r>
              <a:rPr sz="1000" spc="-10" dirty="0">
                <a:latin typeface="Arial"/>
                <a:cs typeface="Arial"/>
              </a:rPr>
              <a:t>causing</a:t>
            </a:r>
            <a:r>
              <a:rPr sz="1000" dirty="0">
                <a:latin typeface="Arial"/>
                <a:cs typeface="Arial"/>
              </a:rPr>
              <a:t> </a:t>
            </a:r>
            <a:r>
              <a:rPr sz="1000" spc="-10" dirty="0">
                <a:latin typeface="Arial"/>
                <a:cs typeface="Arial"/>
              </a:rPr>
              <a:t>data</a:t>
            </a:r>
            <a:r>
              <a:rPr sz="1000" dirty="0">
                <a:latin typeface="Arial"/>
                <a:cs typeface="Arial"/>
              </a:rPr>
              <a:t> </a:t>
            </a:r>
            <a:r>
              <a:rPr sz="1000" spc="-15" dirty="0">
                <a:latin typeface="Arial"/>
                <a:cs typeface="Arial"/>
              </a:rPr>
              <a:t>flow</a:t>
            </a:r>
            <a:r>
              <a:rPr sz="1000" dirty="0">
                <a:latin typeface="Arial"/>
                <a:cs typeface="Arial"/>
              </a:rPr>
              <a:t> </a:t>
            </a:r>
            <a:r>
              <a:rPr sz="1000" spc="-10" dirty="0">
                <a:latin typeface="Arial"/>
                <a:cs typeface="Arial"/>
              </a:rPr>
              <a:t>from</a:t>
            </a:r>
            <a:r>
              <a:rPr sz="1000" dirty="0">
                <a:latin typeface="Arial"/>
                <a:cs typeface="Arial"/>
              </a:rPr>
              <a:t> </a:t>
            </a:r>
            <a:r>
              <a:rPr sz="1000" spc="-10" dirty="0">
                <a:latin typeface="Arial"/>
                <a:cs typeface="Arial"/>
              </a:rPr>
              <a:t>user</a:t>
            </a:r>
            <a:r>
              <a:rPr sz="1000" dirty="0">
                <a:latin typeface="Arial"/>
                <a:cs typeface="Arial"/>
              </a:rPr>
              <a:t> </a:t>
            </a:r>
            <a:r>
              <a:rPr sz="1000" spc="-10" dirty="0">
                <a:latin typeface="Arial"/>
                <a:cs typeface="Arial"/>
              </a:rPr>
              <a:t>to</a:t>
            </a:r>
            <a:r>
              <a:rPr sz="1000" dirty="0">
                <a:latin typeface="Arial"/>
                <a:cs typeface="Arial"/>
              </a:rPr>
              <a:t> </a:t>
            </a:r>
            <a:r>
              <a:rPr sz="1000" i="1" dirty="0">
                <a:latin typeface="Arial"/>
                <a:cs typeface="Arial"/>
              </a:rPr>
              <a:t>C</a:t>
            </a:r>
            <a:r>
              <a:rPr sz="1050" i="1" baseline="-15873" dirty="0">
                <a:latin typeface="Arial"/>
                <a:cs typeface="Arial"/>
              </a:rPr>
              <a:t>i</a:t>
            </a:r>
            <a:endParaRPr sz="1050" baseline="-15873" dirty="0">
              <a:latin typeface="Arial"/>
              <a:cs typeface="Arial"/>
            </a:endParaRPr>
          </a:p>
          <a:p>
            <a:pPr marL="332105" indent="-168275">
              <a:lnSpc>
                <a:spcPct val="100000"/>
              </a:lnSpc>
              <a:spcBef>
                <a:spcPts val="595"/>
              </a:spcBef>
              <a:buClr>
                <a:srgbClr val="3333B2"/>
              </a:buClr>
              <a:buFont typeface="Arial"/>
              <a:buChar char="►"/>
              <a:tabLst>
                <a:tab pos="332740" algn="l"/>
              </a:tabLst>
            </a:pPr>
            <a:r>
              <a:rPr sz="1000" i="1" spc="20" dirty="0">
                <a:latin typeface="Arial"/>
                <a:cs typeface="Arial"/>
              </a:rPr>
              <a:t>S</a:t>
            </a:r>
            <a:r>
              <a:rPr sz="1050" i="1" spc="30" baseline="-15873" dirty="0">
                <a:latin typeface="Arial"/>
                <a:cs typeface="Arial"/>
              </a:rPr>
              <a:t>user,i</a:t>
            </a:r>
            <a:r>
              <a:rPr sz="1050" i="1" spc="-127" baseline="-15873" dirty="0">
                <a:latin typeface="Arial"/>
                <a:cs typeface="Arial"/>
              </a:rPr>
              <a:t> </a:t>
            </a:r>
            <a:r>
              <a:rPr sz="1000" spc="-5" dirty="0">
                <a:latin typeface="Arial"/>
                <a:cs typeface="Arial"/>
              </a:rPr>
              <a:t>:</a:t>
            </a:r>
            <a:r>
              <a:rPr sz="1000" spc="65" dirty="0">
                <a:latin typeface="Arial"/>
                <a:cs typeface="Arial"/>
              </a:rPr>
              <a:t> </a:t>
            </a:r>
            <a:r>
              <a:rPr sz="1000" spc="-5" dirty="0">
                <a:latin typeface="Arial"/>
                <a:cs typeface="Arial"/>
              </a:rPr>
              <a:t>amount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data</a:t>
            </a:r>
            <a:r>
              <a:rPr sz="1000" dirty="0">
                <a:latin typeface="Arial"/>
                <a:cs typeface="Arial"/>
              </a:rPr>
              <a:t> </a:t>
            </a:r>
            <a:r>
              <a:rPr sz="1000" spc="-5" dirty="0">
                <a:latin typeface="Arial"/>
                <a:cs typeface="Arial"/>
              </a:rPr>
              <a:t>associated</a:t>
            </a:r>
            <a:r>
              <a:rPr sz="1000" dirty="0">
                <a:latin typeface="Arial"/>
                <a:cs typeface="Arial"/>
              </a:rPr>
              <a:t> </a:t>
            </a:r>
            <a:r>
              <a:rPr sz="1000" spc="-5" dirty="0">
                <a:latin typeface="Arial"/>
                <a:cs typeface="Arial"/>
              </a:rPr>
              <a:t>with</a:t>
            </a:r>
            <a:r>
              <a:rPr sz="1000" dirty="0">
                <a:latin typeface="Arial"/>
                <a:cs typeface="Arial"/>
              </a:rPr>
              <a:t> </a:t>
            </a:r>
            <a:r>
              <a:rPr sz="1000" i="1" spc="20" dirty="0">
                <a:latin typeface="Arial"/>
                <a:cs typeface="Arial"/>
              </a:rPr>
              <a:t>T</a:t>
            </a:r>
            <a:r>
              <a:rPr sz="1050" i="1" spc="30" baseline="-15873" dirty="0">
                <a:latin typeface="Arial"/>
                <a:cs typeface="Arial"/>
              </a:rPr>
              <a:t>user,i</a:t>
            </a:r>
            <a:endParaRPr sz="1050" baseline="-15873" dirty="0">
              <a:latin typeface="Arial"/>
              <a:cs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0" name="object 20"/>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Cloud</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endParaRPr sz="600">
              <a:latin typeface="Arial"/>
              <a:cs typeface="Arial"/>
            </a:endParaRPr>
          </a:p>
        </p:txBody>
      </p:sp>
      <p:sp>
        <p:nvSpPr>
          <p:cNvPr id="21" name="object 2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40</a:t>
            </a:r>
            <a:r>
              <a:rPr spc="-40" dirty="0"/>
              <a:t> </a:t>
            </a:r>
            <a:r>
              <a:rPr spc="-5" dirty="0"/>
              <a:t>/</a:t>
            </a:r>
            <a:r>
              <a:rPr spc="-35" dirty="0"/>
              <a:t> </a:t>
            </a:r>
            <a:r>
              <a:rPr spc="-5" dirty="0"/>
              <a:t>56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116580" algn="l"/>
              </a:tabLst>
            </a:pPr>
            <a:r>
              <a:rPr sz="600" spc="-5" dirty="0">
                <a:solidFill>
                  <a:srgbClr val="3333B2"/>
                </a:solidFill>
                <a:latin typeface="Arial"/>
                <a:cs typeface="Arial"/>
                <a:hlinkClick r:id="rId4"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High</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performance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distributed</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computing</a:t>
            </a:r>
            <a:endParaRPr sz="600">
              <a:latin typeface="Arial"/>
              <a:cs typeface="Arial"/>
            </a:endParaRPr>
          </a:p>
        </p:txBody>
      </p:sp>
      <p:sp>
        <p:nvSpPr>
          <p:cNvPr id="3" name="object 3"/>
          <p:cNvSpPr txBox="1">
            <a:spLocks noGrp="1"/>
          </p:cNvSpPr>
          <p:nvPr>
            <p:ph type="title"/>
          </p:nvPr>
        </p:nvSpPr>
        <p:spPr>
          <a:xfrm>
            <a:off x="95300" y="188846"/>
            <a:ext cx="2855595" cy="244475"/>
          </a:xfrm>
          <a:prstGeom prst="rect">
            <a:avLst/>
          </a:prstGeom>
        </p:spPr>
        <p:txBody>
          <a:bodyPr vert="horz" wrap="square" lIns="0" tIns="17145" rIns="0" bIns="0" rtlCol="0">
            <a:spAutoFit/>
          </a:bodyPr>
          <a:lstStyle/>
          <a:p>
            <a:pPr marL="12700">
              <a:lnSpc>
                <a:spcPct val="100000"/>
              </a:lnSpc>
              <a:spcBef>
                <a:spcPts val="135"/>
              </a:spcBef>
            </a:pPr>
            <a:r>
              <a:rPr spc="15" dirty="0"/>
              <a:t>Rate</a:t>
            </a:r>
            <a:r>
              <a:rPr spc="5" dirty="0"/>
              <a:t> </a:t>
            </a:r>
            <a:r>
              <a:rPr spc="10" dirty="0"/>
              <a:t>of transactions</a:t>
            </a:r>
            <a:r>
              <a:rPr spc="5" dirty="0"/>
              <a:t> </a:t>
            </a:r>
            <a:r>
              <a:rPr spc="10" dirty="0"/>
              <a:t>after migration</a:t>
            </a:r>
          </a:p>
        </p:txBody>
      </p:sp>
      <p:sp>
        <p:nvSpPr>
          <p:cNvPr id="4" name="object 4"/>
          <p:cNvSpPr txBox="1"/>
          <p:nvPr/>
        </p:nvSpPr>
        <p:spPr>
          <a:xfrm>
            <a:off x="334594" y="491862"/>
            <a:ext cx="3902075" cy="1195705"/>
          </a:xfrm>
          <a:prstGeom prst="rect">
            <a:avLst/>
          </a:prstGeom>
        </p:spPr>
        <p:txBody>
          <a:bodyPr vert="horz" wrap="square" lIns="0" tIns="95250" rIns="0" bIns="0" rtlCol="0">
            <a:spAutoFit/>
          </a:bodyPr>
          <a:lstStyle/>
          <a:p>
            <a:pPr marL="25400">
              <a:lnSpc>
                <a:spcPct val="100000"/>
              </a:lnSpc>
              <a:spcBef>
                <a:spcPts val="750"/>
              </a:spcBef>
            </a:pPr>
            <a:r>
              <a:rPr sz="1200" spc="-5" dirty="0">
                <a:solidFill>
                  <a:srgbClr val="3333B2"/>
                </a:solidFill>
                <a:latin typeface="Arial"/>
                <a:cs typeface="Arial"/>
              </a:rPr>
              <a:t>Some</a:t>
            </a:r>
            <a:r>
              <a:rPr sz="1200" spc="-35" dirty="0">
                <a:solidFill>
                  <a:srgbClr val="3333B2"/>
                </a:solidFill>
                <a:latin typeface="Arial"/>
                <a:cs typeface="Arial"/>
              </a:rPr>
              <a:t> </a:t>
            </a:r>
            <a:r>
              <a:rPr sz="1200" spc="-5" dirty="0">
                <a:solidFill>
                  <a:srgbClr val="3333B2"/>
                </a:solidFill>
                <a:latin typeface="Arial"/>
                <a:cs typeface="Arial"/>
              </a:rPr>
              <a:t>notations</a:t>
            </a:r>
            <a:endParaRPr sz="1200" dirty="0">
              <a:latin typeface="Arial"/>
              <a:cs typeface="Arial"/>
            </a:endParaRPr>
          </a:p>
          <a:p>
            <a:pPr marL="302260" indent="-168275">
              <a:lnSpc>
                <a:spcPct val="100000"/>
              </a:lnSpc>
              <a:spcBef>
                <a:spcPts val="545"/>
              </a:spcBef>
              <a:buClr>
                <a:srgbClr val="3333B2"/>
              </a:buClr>
              <a:buFont typeface="Arial"/>
              <a:buChar char="►"/>
              <a:tabLst>
                <a:tab pos="302895" algn="l"/>
              </a:tabLst>
            </a:pPr>
            <a:r>
              <a:rPr sz="1000" i="1" spc="15" dirty="0">
                <a:latin typeface="Arial"/>
                <a:cs typeface="Arial"/>
              </a:rPr>
              <a:t>C</a:t>
            </a:r>
            <a:r>
              <a:rPr sz="1050" i="1" spc="22" baseline="-15873" dirty="0">
                <a:latin typeface="Arial"/>
                <a:cs typeface="Arial"/>
              </a:rPr>
              <a:t>i,local</a:t>
            </a:r>
            <a:r>
              <a:rPr sz="1050" i="1" spc="-127" baseline="-15873"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set</a:t>
            </a:r>
            <a:r>
              <a:rPr sz="1000" dirty="0">
                <a:latin typeface="Arial"/>
                <a:cs typeface="Arial"/>
              </a:rPr>
              <a:t> </a:t>
            </a:r>
            <a:r>
              <a:rPr sz="1000" spc="-5" dirty="0">
                <a:latin typeface="Arial"/>
                <a:cs typeface="Arial"/>
              </a:rPr>
              <a:t>of servers</a:t>
            </a:r>
            <a:r>
              <a:rPr sz="1000" dirty="0">
                <a:latin typeface="Arial"/>
                <a:cs typeface="Arial"/>
              </a:rPr>
              <a:t> </a:t>
            </a:r>
            <a:r>
              <a:rPr sz="1000" spc="-5" dirty="0">
                <a:latin typeface="Arial"/>
                <a:cs typeface="Arial"/>
              </a:rPr>
              <a:t>of </a:t>
            </a:r>
            <a:r>
              <a:rPr sz="1000" i="1" dirty="0">
                <a:latin typeface="Arial"/>
                <a:cs typeface="Arial"/>
              </a:rPr>
              <a:t>C</a:t>
            </a:r>
            <a:r>
              <a:rPr sz="1050" i="1" baseline="-15873" dirty="0">
                <a:latin typeface="Arial"/>
                <a:cs typeface="Arial"/>
              </a:rPr>
              <a:t>i</a:t>
            </a:r>
            <a:r>
              <a:rPr sz="1050" i="1" spc="15" baseline="-15873"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continue </a:t>
            </a:r>
            <a:r>
              <a:rPr sz="1000" spc="-15" dirty="0">
                <a:latin typeface="Arial"/>
                <a:cs typeface="Arial"/>
              </a:rPr>
              <a:t>locally.</a:t>
            </a:r>
            <a:endParaRPr sz="1000" dirty="0">
              <a:latin typeface="Arial"/>
              <a:cs typeface="Arial"/>
            </a:endParaRPr>
          </a:p>
          <a:p>
            <a:pPr marL="302260" indent="-168275">
              <a:lnSpc>
                <a:spcPct val="100000"/>
              </a:lnSpc>
              <a:spcBef>
                <a:spcPts val="590"/>
              </a:spcBef>
              <a:buClr>
                <a:srgbClr val="3333B2"/>
              </a:buClr>
              <a:buFont typeface="Arial"/>
              <a:buChar char="►"/>
              <a:tabLst>
                <a:tab pos="302895" algn="l"/>
              </a:tabLst>
            </a:pPr>
            <a:r>
              <a:rPr sz="1000" i="1" spc="20" dirty="0">
                <a:latin typeface="Arial"/>
                <a:cs typeface="Arial"/>
              </a:rPr>
              <a:t>C</a:t>
            </a:r>
            <a:r>
              <a:rPr sz="1050" i="1" spc="30" baseline="-15873" dirty="0">
                <a:latin typeface="Arial"/>
                <a:cs typeface="Arial"/>
              </a:rPr>
              <a:t>i,cloud</a:t>
            </a:r>
            <a:r>
              <a:rPr sz="1050" i="1" spc="-112" baseline="-15873"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set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servers of</a:t>
            </a:r>
            <a:r>
              <a:rPr sz="1000" dirty="0">
                <a:latin typeface="Arial"/>
                <a:cs typeface="Arial"/>
              </a:rPr>
              <a:t> </a:t>
            </a:r>
            <a:r>
              <a:rPr sz="1000" i="1" dirty="0">
                <a:latin typeface="Arial"/>
                <a:cs typeface="Arial"/>
              </a:rPr>
              <a:t>C</a:t>
            </a:r>
            <a:r>
              <a:rPr sz="1050" i="1" baseline="-15873" dirty="0">
                <a:latin typeface="Arial"/>
                <a:cs typeface="Arial"/>
              </a:rPr>
              <a:t>i</a:t>
            </a:r>
            <a:r>
              <a:rPr sz="1050" i="1" spc="15" baseline="-15873" dirty="0">
                <a:latin typeface="Arial"/>
                <a:cs typeface="Arial"/>
              </a:rPr>
              <a:t> </a:t>
            </a:r>
            <a:r>
              <a:rPr sz="1000" spc="-5" dirty="0">
                <a:latin typeface="Arial"/>
                <a:cs typeface="Arial"/>
              </a:rPr>
              <a:t>that are</a:t>
            </a:r>
            <a:r>
              <a:rPr sz="1000" dirty="0">
                <a:latin typeface="Arial"/>
                <a:cs typeface="Arial"/>
              </a:rPr>
              <a:t> </a:t>
            </a:r>
            <a:r>
              <a:rPr sz="1000" spc="-5" dirty="0">
                <a:latin typeface="Arial"/>
                <a:cs typeface="Arial"/>
              </a:rPr>
              <a:t>placed in</a:t>
            </a:r>
            <a:r>
              <a:rPr sz="1000" dirty="0">
                <a:latin typeface="Arial"/>
                <a:cs typeface="Arial"/>
              </a:rPr>
              <a:t> </a:t>
            </a:r>
            <a:r>
              <a:rPr sz="1000" spc="-5" dirty="0">
                <a:latin typeface="Arial"/>
                <a:cs typeface="Arial"/>
              </a:rPr>
              <a:t>the cloud.</a:t>
            </a:r>
            <a:endParaRPr sz="1000" dirty="0">
              <a:latin typeface="Arial"/>
              <a:cs typeface="Arial"/>
            </a:endParaRPr>
          </a:p>
          <a:p>
            <a:pPr marL="25400" marR="17780" indent="109220">
              <a:lnSpc>
                <a:spcPct val="149400"/>
              </a:lnSpc>
              <a:buClr>
                <a:srgbClr val="3333B2"/>
              </a:buClr>
              <a:buChar char="►"/>
              <a:tabLst>
                <a:tab pos="302895" algn="l"/>
              </a:tabLst>
            </a:pPr>
            <a:r>
              <a:rPr sz="1000" spc="-5" dirty="0">
                <a:latin typeface="Arial"/>
                <a:cs typeface="Arial"/>
              </a:rPr>
              <a:t>Assume</a:t>
            </a:r>
            <a:r>
              <a:rPr sz="1000" dirty="0">
                <a:latin typeface="Arial"/>
                <a:cs typeface="Arial"/>
              </a:rPr>
              <a:t> </a:t>
            </a:r>
            <a:r>
              <a:rPr sz="1000" spc="-5" dirty="0">
                <a:latin typeface="Arial"/>
                <a:cs typeface="Arial"/>
              </a:rPr>
              <a:t>traffic</a:t>
            </a:r>
            <a:r>
              <a:rPr sz="1000" dirty="0">
                <a:latin typeface="Arial"/>
                <a:cs typeface="Arial"/>
              </a:rPr>
              <a:t> </a:t>
            </a:r>
            <a:r>
              <a:rPr sz="1000" spc="-5" dirty="0">
                <a:latin typeface="Arial"/>
                <a:cs typeface="Arial"/>
              </a:rPr>
              <a:t>distribution</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a:t>
            </a:r>
            <a:r>
              <a:rPr sz="1000" spc="5"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cloud</a:t>
            </a:r>
            <a:r>
              <a:rPr sz="1000" dirty="0">
                <a:latin typeface="Arial"/>
                <a:cs typeface="Arial"/>
              </a:rPr>
              <a:t> </a:t>
            </a:r>
            <a:r>
              <a:rPr sz="1000" spc="-5" dirty="0">
                <a:latin typeface="Arial"/>
                <a:cs typeface="Arial"/>
              </a:rPr>
              <a:t>server </a:t>
            </a:r>
            <a:r>
              <a:rPr sz="1000" spc="-260" dirty="0">
                <a:latin typeface="Arial"/>
                <a:cs typeface="Arial"/>
              </a:rPr>
              <a:t> </a:t>
            </a:r>
            <a:r>
              <a:rPr sz="1000" spc="-5" dirty="0">
                <a:latin typeface="Arial"/>
                <a:cs typeface="Arial"/>
              </a:rPr>
              <a:t>Note that </a:t>
            </a:r>
            <a:r>
              <a:rPr sz="1000" i="1" spc="-5" dirty="0">
                <a:latin typeface="メイリオ"/>
                <a:cs typeface="メイリオ"/>
              </a:rPr>
              <a:t>|</a:t>
            </a:r>
            <a:r>
              <a:rPr sz="1000" i="1" spc="-5" dirty="0">
                <a:latin typeface="Arial"/>
                <a:cs typeface="Arial"/>
              </a:rPr>
              <a:t>C</a:t>
            </a:r>
            <a:r>
              <a:rPr sz="1050" i="1" spc="-7" baseline="-15873" dirty="0">
                <a:latin typeface="Arial"/>
                <a:cs typeface="Arial"/>
              </a:rPr>
              <a:t>i,cloud</a:t>
            </a:r>
            <a:r>
              <a:rPr sz="1050" i="1" spc="-112" baseline="-15873" dirty="0">
                <a:latin typeface="Arial"/>
                <a:cs typeface="Arial"/>
              </a:rPr>
              <a:t> </a:t>
            </a:r>
            <a:r>
              <a:rPr sz="1000" i="1" spc="-165" dirty="0">
                <a:latin typeface="メイリオ"/>
                <a:cs typeface="メイリオ"/>
              </a:rPr>
              <a:t>|</a:t>
            </a:r>
            <a:r>
              <a:rPr sz="1000" i="1" spc="-114" dirty="0">
                <a:latin typeface="メイリオ"/>
                <a:cs typeface="メイリオ"/>
              </a:rPr>
              <a:t> </a:t>
            </a:r>
            <a:r>
              <a:rPr sz="1000" spc="190" dirty="0">
                <a:latin typeface="Arial"/>
                <a:cs typeface="Arial"/>
              </a:rPr>
              <a:t>=</a:t>
            </a:r>
            <a:r>
              <a:rPr sz="1000" spc="-60" dirty="0">
                <a:latin typeface="Arial"/>
                <a:cs typeface="Arial"/>
              </a:rPr>
              <a:t> </a:t>
            </a:r>
            <a:r>
              <a:rPr sz="1000" i="1" dirty="0">
                <a:latin typeface="Arial"/>
                <a:cs typeface="Arial"/>
              </a:rPr>
              <a:t>n</a:t>
            </a:r>
            <a:r>
              <a:rPr sz="1050" i="1" baseline="-15873" dirty="0">
                <a:latin typeface="Arial"/>
                <a:cs typeface="Arial"/>
              </a:rPr>
              <a:t>i</a:t>
            </a:r>
            <a:r>
              <a:rPr sz="1050" i="1" spc="-127" baseline="-15873" dirty="0">
                <a:latin typeface="Arial"/>
                <a:cs typeface="Arial"/>
              </a:rPr>
              <a:t> </a:t>
            </a:r>
            <a:r>
              <a:rPr sz="1000" spc="-5" dirty="0">
                <a:latin typeface="Arial"/>
                <a:cs typeface="Arial"/>
              </a:rPr>
              <a:t>.</a:t>
            </a:r>
            <a:r>
              <a:rPr sz="1000" spc="65" dirty="0">
                <a:latin typeface="Arial"/>
                <a:cs typeface="Arial"/>
              </a:rPr>
              <a:t> </a:t>
            </a:r>
            <a:r>
              <a:rPr sz="1000" spc="-5" dirty="0">
                <a:latin typeface="Arial"/>
                <a:cs typeface="Arial"/>
              </a:rPr>
              <a:t>Let </a:t>
            </a:r>
            <a:r>
              <a:rPr sz="1000" i="1" dirty="0">
                <a:latin typeface="Arial"/>
                <a:cs typeface="Arial"/>
              </a:rPr>
              <a:t>f</a:t>
            </a:r>
            <a:r>
              <a:rPr sz="1050" i="1" baseline="-15873" dirty="0">
                <a:latin typeface="Arial"/>
                <a:cs typeface="Arial"/>
              </a:rPr>
              <a:t>i</a:t>
            </a:r>
            <a:r>
              <a:rPr sz="1050" i="1" spc="209" baseline="-15873" dirty="0">
                <a:latin typeface="Arial"/>
                <a:cs typeface="Arial"/>
              </a:rPr>
              <a:t> </a:t>
            </a:r>
            <a:r>
              <a:rPr sz="1000" spc="190" dirty="0">
                <a:latin typeface="Arial"/>
                <a:cs typeface="Arial"/>
              </a:rPr>
              <a:t>=</a:t>
            </a:r>
            <a:r>
              <a:rPr sz="1000" spc="-55" dirty="0">
                <a:latin typeface="Arial"/>
                <a:cs typeface="Arial"/>
              </a:rPr>
              <a:t> </a:t>
            </a:r>
            <a:r>
              <a:rPr sz="1000" i="1" dirty="0">
                <a:latin typeface="Arial"/>
                <a:cs typeface="Arial"/>
              </a:rPr>
              <a:t>n</a:t>
            </a:r>
            <a:r>
              <a:rPr sz="1050" i="1" baseline="-15873" dirty="0">
                <a:latin typeface="Arial"/>
                <a:cs typeface="Arial"/>
              </a:rPr>
              <a:t>i</a:t>
            </a:r>
            <a:r>
              <a:rPr sz="1050" i="1" spc="-127" baseline="-15873" dirty="0">
                <a:latin typeface="Arial"/>
                <a:cs typeface="Arial"/>
              </a:rPr>
              <a:t> </a:t>
            </a:r>
            <a:r>
              <a:rPr sz="1000" i="1" spc="75" dirty="0">
                <a:latin typeface="Arial"/>
                <a:cs typeface="Arial"/>
              </a:rPr>
              <a:t>/N</a:t>
            </a:r>
            <a:r>
              <a:rPr sz="1050" i="1" spc="112" baseline="-15873" dirty="0">
                <a:latin typeface="Arial"/>
                <a:cs typeface="Arial"/>
              </a:rPr>
              <a:t>i</a:t>
            </a:r>
            <a:r>
              <a:rPr sz="1050" i="1" spc="-127" baseline="-15873" dirty="0">
                <a:latin typeface="Arial"/>
                <a:cs typeface="Arial"/>
              </a:rPr>
              <a:t> </a:t>
            </a:r>
            <a:r>
              <a:rPr sz="1000" spc="-5" dirty="0">
                <a:latin typeface="Arial"/>
                <a:cs typeface="Arial"/>
              </a:rPr>
              <a:t>, and</a:t>
            </a:r>
            <a:r>
              <a:rPr sz="1000" dirty="0">
                <a:latin typeface="Arial"/>
                <a:cs typeface="Arial"/>
              </a:rPr>
              <a:t> </a:t>
            </a:r>
            <a:r>
              <a:rPr sz="1000" i="1" dirty="0">
                <a:latin typeface="Arial"/>
                <a:cs typeface="Arial"/>
              </a:rPr>
              <a:t>s</a:t>
            </a:r>
            <a:r>
              <a:rPr sz="1050" i="1" baseline="-15873" dirty="0">
                <a:latin typeface="Arial"/>
                <a:cs typeface="Arial"/>
              </a:rPr>
              <a:t>i</a:t>
            </a:r>
            <a:r>
              <a:rPr sz="1050" i="1" spc="7" baseline="-15873" dirty="0">
                <a:latin typeface="Arial"/>
                <a:cs typeface="Arial"/>
              </a:rPr>
              <a:t> </a:t>
            </a:r>
            <a:r>
              <a:rPr sz="1000" spc="-5" dirty="0">
                <a:latin typeface="Arial"/>
                <a:cs typeface="Arial"/>
              </a:rPr>
              <a:t>a server of</a:t>
            </a:r>
            <a:r>
              <a:rPr sz="1000" dirty="0">
                <a:latin typeface="Arial"/>
                <a:cs typeface="Arial"/>
              </a:rPr>
              <a:t> </a:t>
            </a:r>
            <a:r>
              <a:rPr sz="1000" i="1" dirty="0">
                <a:latin typeface="Arial"/>
                <a:cs typeface="Arial"/>
              </a:rPr>
              <a:t>C</a:t>
            </a:r>
            <a:r>
              <a:rPr sz="1050" i="1" baseline="-15873" dirty="0">
                <a:latin typeface="Arial"/>
                <a:cs typeface="Arial"/>
              </a:rPr>
              <a:t>i</a:t>
            </a:r>
            <a:r>
              <a:rPr sz="1050" i="1" spc="-127" baseline="-15873" dirty="0">
                <a:latin typeface="Arial"/>
                <a:cs typeface="Arial"/>
              </a:rPr>
              <a:t> </a:t>
            </a:r>
            <a:r>
              <a:rPr sz="1000" spc="-5" dirty="0">
                <a:latin typeface="Arial"/>
                <a:cs typeface="Arial"/>
              </a:rPr>
              <a:t>.</a:t>
            </a:r>
            <a:endParaRPr sz="1000" dirty="0">
              <a:latin typeface="Arial"/>
              <a:cs typeface="Arial"/>
            </a:endParaRPr>
          </a:p>
        </p:txBody>
      </p:sp>
      <p:sp>
        <p:nvSpPr>
          <p:cNvPr id="5" name="object 5"/>
          <p:cNvSpPr txBox="1"/>
          <p:nvPr/>
        </p:nvSpPr>
        <p:spPr>
          <a:xfrm>
            <a:off x="620674" y="2527512"/>
            <a:ext cx="100965" cy="137795"/>
          </a:xfrm>
          <a:prstGeom prst="rect">
            <a:avLst/>
          </a:prstGeom>
        </p:spPr>
        <p:txBody>
          <a:bodyPr vert="horz" wrap="square" lIns="0" tIns="17145" rIns="0" bIns="0" rtlCol="0">
            <a:spAutoFit/>
          </a:bodyPr>
          <a:lstStyle/>
          <a:p>
            <a:pPr marL="12700">
              <a:lnSpc>
                <a:spcPct val="100000"/>
              </a:lnSpc>
              <a:spcBef>
                <a:spcPts val="135"/>
              </a:spcBef>
            </a:pPr>
            <a:r>
              <a:rPr sz="700" i="1" spc="65" dirty="0">
                <a:latin typeface="Arial"/>
                <a:cs typeface="Arial"/>
              </a:rPr>
              <a:t>i</a:t>
            </a:r>
            <a:r>
              <a:rPr sz="700" i="1" spc="5" dirty="0">
                <a:latin typeface="Arial"/>
                <a:cs typeface="Arial"/>
              </a:rPr>
              <a:t>,j</a:t>
            </a:r>
            <a:endParaRPr sz="700">
              <a:latin typeface="Arial"/>
              <a:cs typeface="Arial"/>
            </a:endParaRPr>
          </a:p>
        </p:txBody>
      </p:sp>
      <p:sp>
        <p:nvSpPr>
          <p:cNvPr id="6" name="object 6"/>
          <p:cNvSpPr txBox="1"/>
          <p:nvPr/>
        </p:nvSpPr>
        <p:spPr>
          <a:xfrm>
            <a:off x="517956" y="2458979"/>
            <a:ext cx="370205" cy="177800"/>
          </a:xfrm>
          <a:prstGeom prst="rect">
            <a:avLst/>
          </a:prstGeom>
        </p:spPr>
        <p:txBody>
          <a:bodyPr vert="horz" wrap="square" lIns="0" tIns="12065" rIns="0" bIns="0" rtlCol="0">
            <a:spAutoFit/>
          </a:bodyPr>
          <a:lstStyle/>
          <a:p>
            <a:pPr marL="38100">
              <a:lnSpc>
                <a:spcPct val="100000"/>
              </a:lnSpc>
              <a:spcBef>
                <a:spcPts val="95"/>
              </a:spcBef>
            </a:pPr>
            <a:r>
              <a:rPr sz="1000" i="1" spc="30" dirty="0">
                <a:latin typeface="Arial"/>
                <a:cs typeface="Arial"/>
              </a:rPr>
              <a:t>T</a:t>
            </a:r>
            <a:r>
              <a:rPr sz="1050" i="1" spc="44" baseline="31746" dirty="0">
                <a:latin typeface="メイリオ"/>
                <a:cs typeface="メイリオ"/>
              </a:rPr>
              <a:t>∗</a:t>
            </a:r>
            <a:r>
              <a:rPr sz="1050" i="1" spc="187" baseline="31746" dirty="0">
                <a:latin typeface="メイリオ"/>
                <a:cs typeface="メイリオ"/>
              </a:rPr>
              <a:t> </a:t>
            </a:r>
            <a:r>
              <a:rPr sz="1000" spc="190" dirty="0">
                <a:latin typeface="Arial"/>
                <a:cs typeface="Arial"/>
              </a:rPr>
              <a:t>=</a:t>
            </a:r>
            <a:endParaRPr sz="1000">
              <a:latin typeface="Arial"/>
              <a:cs typeface="Arial"/>
            </a:endParaRPr>
          </a:p>
        </p:txBody>
      </p:sp>
      <p:sp>
        <p:nvSpPr>
          <p:cNvPr id="7" name="object 7"/>
          <p:cNvSpPr txBox="1"/>
          <p:nvPr/>
        </p:nvSpPr>
        <p:spPr>
          <a:xfrm>
            <a:off x="865238" y="2085726"/>
            <a:ext cx="125095" cy="177800"/>
          </a:xfrm>
          <a:prstGeom prst="rect">
            <a:avLst/>
          </a:prstGeom>
        </p:spPr>
        <p:txBody>
          <a:bodyPr vert="horz" wrap="square" lIns="0" tIns="12065" rIns="0" bIns="0" rtlCol="0">
            <a:spAutoFit/>
          </a:bodyPr>
          <a:lstStyle/>
          <a:p>
            <a:pPr marL="12700">
              <a:lnSpc>
                <a:spcPct val="100000"/>
              </a:lnSpc>
              <a:spcBef>
                <a:spcPts val="95"/>
              </a:spcBef>
            </a:pPr>
            <a:r>
              <a:rPr sz="1000" spc="-710" dirty="0">
                <a:latin typeface="Arial"/>
                <a:cs typeface="Arial"/>
              </a:rPr>
              <a:t></a:t>
            </a:r>
            <a:endParaRPr sz="1000">
              <a:latin typeface="Arial"/>
              <a:cs typeface="Arial"/>
            </a:endParaRPr>
          </a:p>
        </p:txBody>
      </p:sp>
      <p:sp>
        <p:nvSpPr>
          <p:cNvPr id="8" name="object 8"/>
          <p:cNvSpPr txBox="1"/>
          <p:nvPr/>
        </p:nvSpPr>
        <p:spPr>
          <a:xfrm>
            <a:off x="865238" y="2275514"/>
            <a:ext cx="125095" cy="177800"/>
          </a:xfrm>
          <a:prstGeom prst="rect">
            <a:avLst/>
          </a:prstGeom>
        </p:spPr>
        <p:txBody>
          <a:bodyPr vert="horz" wrap="square" lIns="0" tIns="12065" rIns="0" bIns="0" rtlCol="0">
            <a:spAutoFit/>
          </a:bodyPr>
          <a:lstStyle/>
          <a:p>
            <a:pPr marL="12700">
              <a:lnSpc>
                <a:spcPct val="100000"/>
              </a:lnSpc>
              <a:spcBef>
                <a:spcPts val="95"/>
              </a:spcBef>
            </a:pPr>
            <a:r>
              <a:rPr sz="1000" b="1" spc="-710" dirty="0">
                <a:latin typeface="Arial"/>
                <a:cs typeface="Arial"/>
              </a:rPr>
              <a:t></a:t>
            </a:r>
            <a:endParaRPr sz="1000">
              <a:latin typeface="Arial"/>
              <a:cs typeface="Arial"/>
            </a:endParaRPr>
          </a:p>
        </p:txBody>
      </p:sp>
      <p:sp>
        <p:nvSpPr>
          <p:cNvPr id="9" name="object 9"/>
          <p:cNvSpPr txBox="1"/>
          <p:nvPr/>
        </p:nvSpPr>
        <p:spPr>
          <a:xfrm>
            <a:off x="865238" y="2313475"/>
            <a:ext cx="137795" cy="177800"/>
          </a:xfrm>
          <a:prstGeom prst="rect">
            <a:avLst/>
          </a:prstGeom>
        </p:spPr>
        <p:txBody>
          <a:bodyPr vert="horz" wrap="square" lIns="0" tIns="12065" rIns="0" bIns="0" rtlCol="0">
            <a:spAutoFit/>
          </a:bodyPr>
          <a:lstStyle/>
          <a:p>
            <a:pPr marL="12700">
              <a:lnSpc>
                <a:spcPct val="100000"/>
              </a:lnSpc>
              <a:spcBef>
                <a:spcPts val="95"/>
              </a:spcBef>
            </a:pPr>
            <a:r>
              <a:rPr sz="1000" spc="175" dirty="0">
                <a:latin typeface="Arial"/>
                <a:cs typeface="Arial"/>
              </a:rPr>
              <a:t></a:t>
            </a:r>
            <a:endParaRPr sz="1000">
              <a:latin typeface="Arial"/>
              <a:cs typeface="Arial"/>
            </a:endParaRPr>
          </a:p>
        </p:txBody>
      </p:sp>
      <p:sp>
        <p:nvSpPr>
          <p:cNvPr id="10" name="object 10"/>
          <p:cNvSpPr txBox="1"/>
          <p:nvPr/>
        </p:nvSpPr>
        <p:spPr>
          <a:xfrm>
            <a:off x="865238" y="2617144"/>
            <a:ext cx="125095" cy="177800"/>
          </a:xfrm>
          <a:prstGeom prst="rect">
            <a:avLst/>
          </a:prstGeom>
        </p:spPr>
        <p:txBody>
          <a:bodyPr vert="horz" wrap="square" lIns="0" tIns="12065" rIns="0" bIns="0" rtlCol="0">
            <a:spAutoFit/>
          </a:bodyPr>
          <a:lstStyle/>
          <a:p>
            <a:pPr marL="12700">
              <a:lnSpc>
                <a:spcPct val="100000"/>
              </a:lnSpc>
              <a:spcBef>
                <a:spcPts val="95"/>
              </a:spcBef>
            </a:pPr>
            <a:r>
              <a:rPr sz="1000" spc="-710" dirty="0">
                <a:latin typeface="Arial"/>
                <a:cs typeface="Arial"/>
              </a:rPr>
              <a:t></a:t>
            </a:r>
            <a:endParaRPr sz="1000">
              <a:latin typeface="Arial"/>
              <a:cs typeface="Arial"/>
            </a:endParaRPr>
          </a:p>
        </p:txBody>
      </p:sp>
      <p:sp>
        <p:nvSpPr>
          <p:cNvPr id="11" name="object 11"/>
          <p:cNvSpPr txBox="1"/>
          <p:nvPr/>
        </p:nvSpPr>
        <p:spPr>
          <a:xfrm>
            <a:off x="865238" y="2655092"/>
            <a:ext cx="137795" cy="177800"/>
          </a:xfrm>
          <a:prstGeom prst="rect">
            <a:avLst/>
          </a:prstGeom>
        </p:spPr>
        <p:txBody>
          <a:bodyPr vert="horz" wrap="square" lIns="0" tIns="12065" rIns="0" bIns="0" rtlCol="0">
            <a:spAutoFit/>
          </a:bodyPr>
          <a:lstStyle/>
          <a:p>
            <a:pPr marL="12700">
              <a:lnSpc>
                <a:spcPct val="100000"/>
              </a:lnSpc>
              <a:spcBef>
                <a:spcPts val="95"/>
              </a:spcBef>
            </a:pPr>
            <a:r>
              <a:rPr sz="1000" spc="175" dirty="0">
                <a:latin typeface="Arial"/>
                <a:cs typeface="Arial"/>
              </a:rPr>
              <a:t></a:t>
            </a:r>
            <a:endParaRPr sz="1000">
              <a:latin typeface="Arial"/>
              <a:cs typeface="Arial"/>
            </a:endParaRPr>
          </a:p>
        </p:txBody>
      </p:sp>
      <p:sp>
        <p:nvSpPr>
          <p:cNvPr id="12" name="object 12"/>
          <p:cNvSpPr txBox="1"/>
          <p:nvPr/>
        </p:nvSpPr>
        <p:spPr>
          <a:xfrm>
            <a:off x="977595" y="2190501"/>
            <a:ext cx="988694" cy="177800"/>
          </a:xfrm>
          <a:prstGeom prst="rect">
            <a:avLst/>
          </a:prstGeom>
        </p:spPr>
        <p:txBody>
          <a:bodyPr vert="horz" wrap="square" lIns="0" tIns="12065" rIns="0" bIns="0" rtlCol="0">
            <a:spAutoFit/>
          </a:bodyPr>
          <a:lstStyle/>
          <a:p>
            <a:pPr marL="12700">
              <a:lnSpc>
                <a:spcPct val="100000"/>
              </a:lnSpc>
              <a:spcBef>
                <a:spcPts val="95"/>
              </a:spcBef>
            </a:pPr>
            <a:r>
              <a:rPr sz="1000" spc="50" dirty="0">
                <a:latin typeface="Arial"/>
                <a:cs typeface="Arial"/>
              </a:rPr>
              <a:t>(</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f </a:t>
            </a:r>
            <a:r>
              <a:rPr sz="1000" spc="5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spc="50" dirty="0">
                <a:latin typeface="Arial"/>
                <a:cs typeface="Arial"/>
              </a:rPr>
              <a:t>(</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f </a:t>
            </a:r>
            <a:r>
              <a:rPr sz="1000" spc="5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T</a:t>
            </a:r>
            <a:endParaRPr sz="1000">
              <a:latin typeface="Arial"/>
              <a:cs typeface="Arial"/>
            </a:endParaRPr>
          </a:p>
        </p:txBody>
      </p:sp>
      <p:sp>
        <p:nvSpPr>
          <p:cNvPr id="13" name="object 13"/>
          <p:cNvSpPr txBox="1"/>
          <p:nvPr/>
        </p:nvSpPr>
        <p:spPr>
          <a:xfrm>
            <a:off x="952195" y="2372695"/>
            <a:ext cx="812800" cy="177800"/>
          </a:xfrm>
          <a:prstGeom prst="rect">
            <a:avLst/>
          </a:prstGeom>
        </p:spPr>
        <p:txBody>
          <a:bodyPr vert="horz" wrap="square" lIns="0" tIns="12065" rIns="0" bIns="0" rtlCol="0">
            <a:spAutoFit/>
          </a:bodyPr>
          <a:lstStyle/>
          <a:p>
            <a:pPr marL="38100">
              <a:lnSpc>
                <a:spcPct val="100000"/>
              </a:lnSpc>
              <a:spcBef>
                <a:spcPts val="95"/>
              </a:spcBef>
            </a:pPr>
            <a:r>
              <a:rPr sz="1000" spc="50" dirty="0">
                <a:latin typeface="Arial"/>
                <a:cs typeface="Arial"/>
              </a:rPr>
              <a:t>(</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10" dirty="0">
                <a:latin typeface="Arial"/>
                <a:cs typeface="Arial"/>
              </a:rPr>
              <a:t>f</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i="1" spc="-10" dirty="0">
                <a:latin typeface="Arial"/>
                <a:cs typeface="Arial"/>
              </a:rPr>
              <a:t>f</a:t>
            </a:r>
            <a:r>
              <a:rPr sz="1050" i="1" spc="7" baseline="-15873" dirty="0">
                <a:latin typeface="Arial"/>
                <a:cs typeface="Arial"/>
              </a:rPr>
              <a:t>j</a:t>
            </a:r>
            <a:r>
              <a:rPr sz="1050" i="1" spc="82" baseline="-15873"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T</a:t>
            </a:r>
            <a:r>
              <a:rPr sz="1050" i="1" spc="97" baseline="-15873" dirty="0">
                <a:latin typeface="Arial"/>
                <a:cs typeface="Arial"/>
              </a:rPr>
              <a:t>i</a:t>
            </a:r>
            <a:r>
              <a:rPr sz="1050" i="1" spc="7" baseline="-15873" dirty="0">
                <a:latin typeface="Arial"/>
                <a:cs typeface="Arial"/>
              </a:rPr>
              <a:t>,j</a:t>
            </a:r>
            <a:endParaRPr sz="1050" baseline="-15873" dirty="0">
              <a:latin typeface="Arial"/>
              <a:cs typeface="Arial"/>
            </a:endParaRPr>
          </a:p>
        </p:txBody>
      </p:sp>
      <p:sp>
        <p:nvSpPr>
          <p:cNvPr id="14" name="object 14"/>
          <p:cNvSpPr txBox="1"/>
          <p:nvPr/>
        </p:nvSpPr>
        <p:spPr>
          <a:xfrm>
            <a:off x="865238" y="2579184"/>
            <a:ext cx="194310" cy="177800"/>
          </a:xfrm>
          <a:prstGeom prst="rect">
            <a:avLst/>
          </a:prstGeom>
        </p:spPr>
        <p:txBody>
          <a:bodyPr vert="horz" wrap="square" lIns="0" tIns="12065" rIns="0" bIns="0" rtlCol="0">
            <a:spAutoFit/>
          </a:bodyPr>
          <a:lstStyle/>
          <a:p>
            <a:pPr marL="12700">
              <a:lnSpc>
                <a:spcPct val="100000"/>
              </a:lnSpc>
              <a:spcBef>
                <a:spcPts val="95"/>
              </a:spcBef>
            </a:pPr>
            <a:r>
              <a:rPr sz="1000" b="1" spc="175" dirty="0">
                <a:latin typeface="Arial"/>
                <a:cs typeface="Arial"/>
              </a:rPr>
              <a:t></a:t>
            </a:r>
            <a:r>
              <a:rPr sz="1000" b="1" spc="-130" dirty="0">
                <a:latin typeface="Arial"/>
                <a:cs typeface="Arial"/>
              </a:rPr>
              <a:t> </a:t>
            </a:r>
            <a:r>
              <a:rPr sz="700" i="1" spc="-120" dirty="0">
                <a:latin typeface="Arial"/>
                <a:cs typeface="Arial"/>
              </a:rPr>
              <a:t>i</a:t>
            </a:r>
            <a:endParaRPr sz="700">
              <a:latin typeface="Arial"/>
              <a:cs typeface="Arial"/>
            </a:endParaRPr>
          </a:p>
        </p:txBody>
      </p:sp>
      <p:sp>
        <p:nvSpPr>
          <p:cNvPr id="15" name="object 15"/>
          <p:cNvSpPr txBox="1"/>
          <p:nvPr/>
        </p:nvSpPr>
        <p:spPr>
          <a:xfrm>
            <a:off x="977595" y="2554889"/>
            <a:ext cx="686435"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f</a:t>
            </a:r>
            <a:r>
              <a:rPr sz="1000" i="1" spc="135" dirty="0">
                <a:latin typeface="Arial"/>
                <a:cs typeface="Arial"/>
              </a:rPr>
              <a:t> </a:t>
            </a:r>
            <a:r>
              <a:rPr sz="1000" i="1" spc="-75" dirty="0">
                <a:latin typeface="メイリオ"/>
                <a:cs typeface="メイリオ"/>
              </a:rPr>
              <a:t>·</a:t>
            </a:r>
            <a:r>
              <a:rPr sz="1000" i="1" spc="-204" dirty="0">
                <a:latin typeface="メイリオ"/>
                <a:cs typeface="メイリオ"/>
              </a:rPr>
              <a:t> </a:t>
            </a:r>
            <a:r>
              <a:rPr sz="1000" spc="50" dirty="0">
                <a:latin typeface="Arial"/>
                <a:cs typeface="Arial"/>
              </a:rPr>
              <a:t>(</a:t>
            </a: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f </a:t>
            </a:r>
            <a:r>
              <a:rPr sz="1000" spc="50" dirty="0">
                <a:latin typeface="Arial"/>
                <a:cs typeface="Arial"/>
              </a:rPr>
              <a:t>)</a:t>
            </a:r>
            <a:r>
              <a:rPr sz="1000" spc="-140"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T</a:t>
            </a:r>
            <a:endParaRPr sz="1000">
              <a:latin typeface="Arial"/>
              <a:cs typeface="Arial"/>
            </a:endParaRPr>
          </a:p>
        </p:txBody>
      </p:sp>
      <p:sp>
        <p:nvSpPr>
          <p:cNvPr id="16" name="object 16"/>
          <p:cNvSpPr txBox="1"/>
          <p:nvPr/>
        </p:nvSpPr>
        <p:spPr>
          <a:xfrm>
            <a:off x="1406309" y="2611903"/>
            <a:ext cx="333375" cy="137795"/>
          </a:xfrm>
          <a:prstGeom prst="rect">
            <a:avLst/>
          </a:prstGeom>
        </p:spPr>
        <p:txBody>
          <a:bodyPr vert="horz" wrap="square" lIns="0" tIns="17145" rIns="0" bIns="0" rtlCol="0">
            <a:spAutoFit/>
          </a:bodyPr>
          <a:lstStyle/>
          <a:p>
            <a:pPr marL="12700">
              <a:lnSpc>
                <a:spcPct val="100000"/>
              </a:lnSpc>
              <a:spcBef>
                <a:spcPts val="135"/>
              </a:spcBef>
              <a:tabLst>
                <a:tab pos="244475" algn="l"/>
              </a:tabLst>
            </a:pPr>
            <a:r>
              <a:rPr sz="700" i="1" spc="5" dirty="0">
                <a:latin typeface="Arial"/>
                <a:cs typeface="Arial"/>
              </a:rPr>
              <a:t>j	</a:t>
            </a:r>
            <a:r>
              <a:rPr sz="700" i="1" spc="65" dirty="0">
                <a:latin typeface="Arial"/>
                <a:cs typeface="Arial"/>
              </a:rPr>
              <a:t>i</a:t>
            </a:r>
            <a:r>
              <a:rPr sz="700" i="1" spc="5" dirty="0">
                <a:latin typeface="Arial"/>
                <a:cs typeface="Arial"/>
              </a:rPr>
              <a:t>,j</a:t>
            </a:r>
            <a:endParaRPr sz="700">
              <a:latin typeface="Arial"/>
              <a:cs typeface="Arial"/>
            </a:endParaRPr>
          </a:p>
        </p:txBody>
      </p:sp>
      <p:sp>
        <p:nvSpPr>
          <p:cNvPr id="17" name="object 17"/>
          <p:cNvSpPr txBox="1"/>
          <p:nvPr/>
        </p:nvSpPr>
        <p:spPr>
          <a:xfrm>
            <a:off x="977595" y="2737083"/>
            <a:ext cx="384175"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f</a:t>
            </a:r>
            <a:r>
              <a:rPr sz="1000" i="1" spc="135"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f</a:t>
            </a:r>
            <a:r>
              <a:rPr sz="1000" i="1" spc="135"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T</a:t>
            </a:r>
            <a:endParaRPr sz="1000">
              <a:latin typeface="Arial"/>
              <a:cs typeface="Arial"/>
            </a:endParaRPr>
          </a:p>
        </p:txBody>
      </p:sp>
      <p:sp>
        <p:nvSpPr>
          <p:cNvPr id="18" name="object 18"/>
          <p:cNvSpPr txBox="1"/>
          <p:nvPr/>
        </p:nvSpPr>
        <p:spPr>
          <a:xfrm>
            <a:off x="1012774" y="2794097"/>
            <a:ext cx="424180" cy="137795"/>
          </a:xfrm>
          <a:prstGeom prst="rect">
            <a:avLst/>
          </a:prstGeom>
        </p:spPr>
        <p:txBody>
          <a:bodyPr vert="horz" wrap="square" lIns="0" tIns="17145" rIns="0" bIns="0" rtlCol="0">
            <a:spAutoFit/>
          </a:bodyPr>
          <a:lstStyle/>
          <a:p>
            <a:pPr marL="12700">
              <a:lnSpc>
                <a:spcPct val="100000"/>
              </a:lnSpc>
              <a:spcBef>
                <a:spcPts val="135"/>
              </a:spcBef>
              <a:tabLst>
                <a:tab pos="335280" algn="l"/>
              </a:tabLst>
            </a:pPr>
            <a:r>
              <a:rPr sz="700" i="1" spc="5" dirty="0">
                <a:latin typeface="Arial"/>
                <a:cs typeface="Arial"/>
              </a:rPr>
              <a:t>i    </a:t>
            </a:r>
            <a:r>
              <a:rPr sz="700" i="1" spc="-30" dirty="0">
                <a:latin typeface="Arial"/>
                <a:cs typeface="Arial"/>
              </a:rPr>
              <a:t> </a:t>
            </a:r>
            <a:r>
              <a:rPr sz="700" i="1" spc="5" dirty="0">
                <a:latin typeface="Arial"/>
                <a:cs typeface="Arial"/>
              </a:rPr>
              <a:t>j</a:t>
            </a:r>
            <a:r>
              <a:rPr sz="700" i="1" dirty="0">
                <a:latin typeface="Arial"/>
                <a:cs typeface="Arial"/>
              </a:rPr>
              <a:t>	</a:t>
            </a:r>
            <a:r>
              <a:rPr sz="700" i="1" spc="65" dirty="0">
                <a:latin typeface="Arial"/>
                <a:cs typeface="Arial"/>
              </a:rPr>
              <a:t>i</a:t>
            </a:r>
            <a:r>
              <a:rPr sz="700" i="1" spc="5" dirty="0">
                <a:latin typeface="Arial"/>
                <a:cs typeface="Arial"/>
              </a:rPr>
              <a:t>,j</a:t>
            </a:r>
            <a:endParaRPr sz="700">
              <a:latin typeface="Arial"/>
              <a:cs typeface="Arial"/>
            </a:endParaRPr>
          </a:p>
        </p:txBody>
      </p:sp>
      <p:sp>
        <p:nvSpPr>
          <p:cNvPr id="19" name="object 19"/>
          <p:cNvSpPr txBox="1"/>
          <p:nvPr/>
        </p:nvSpPr>
        <p:spPr>
          <a:xfrm>
            <a:off x="1240370" y="2184254"/>
            <a:ext cx="2857500" cy="754380"/>
          </a:xfrm>
          <a:prstGeom prst="rect">
            <a:avLst/>
          </a:prstGeom>
        </p:spPr>
        <p:txBody>
          <a:bodyPr vert="horz" wrap="square" lIns="0" tIns="42545" rIns="0" bIns="0" rtlCol="0">
            <a:spAutoFit/>
          </a:bodyPr>
          <a:lstStyle/>
          <a:p>
            <a:pPr marL="38100" algn="just">
              <a:lnSpc>
                <a:spcPct val="100000"/>
              </a:lnSpc>
              <a:spcBef>
                <a:spcPts val="335"/>
              </a:spcBef>
              <a:tabLst>
                <a:tab pos="480695" algn="l"/>
              </a:tabLst>
            </a:pPr>
            <a:r>
              <a:rPr sz="700" i="1" spc="5" dirty="0">
                <a:latin typeface="Arial"/>
                <a:cs typeface="Arial"/>
              </a:rPr>
              <a:t>i	j       </a:t>
            </a:r>
            <a:r>
              <a:rPr sz="700" i="1" spc="75" dirty="0">
                <a:latin typeface="Arial"/>
                <a:cs typeface="Arial"/>
              </a:rPr>
              <a:t> </a:t>
            </a:r>
            <a:r>
              <a:rPr sz="700" i="1" spc="25" dirty="0">
                <a:latin typeface="Arial"/>
                <a:cs typeface="Arial"/>
              </a:rPr>
              <a:t>i,j    </a:t>
            </a:r>
            <a:r>
              <a:rPr sz="700" i="1" spc="35" dirty="0">
                <a:latin typeface="Arial"/>
                <a:cs typeface="Arial"/>
              </a:rPr>
              <a:t> </a:t>
            </a:r>
            <a:r>
              <a:rPr sz="1500" spc="-7" baseline="11111" dirty="0">
                <a:latin typeface="Arial"/>
                <a:cs typeface="Arial"/>
              </a:rPr>
              <a:t>when </a:t>
            </a:r>
            <a:r>
              <a:rPr sz="1500" i="1" baseline="11111" dirty="0">
                <a:latin typeface="Arial"/>
                <a:cs typeface="Arial"/>
              </a:rPr>
              <a:t>s</a:t>
            </a:r>
            <a:r>
              <a:rPr sz="700" i="1" dirty="0">
                <a:latin typeface="Arial"/>
                <a:cs typeface="Arial"/>
              </a:rPr>
              <a:t>i</a:t>
            </a:r>
            <a:r>
              <a:rPr sz="700" i="1" spc="14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22" baseline="11111" dirty="0">
                <a:latin typeface="Arial"/>
                <a:cs typeface="Arial"/>
              </a:rPr>
              <a:t>C</a:t>
            </a:r>
            <a:r>
              <a:rPr sz="700" i="1" spc="15" dirty="0">
                <a:latin typeface="Arial"/>
                <a:cs typeface="Arial"/>
              </a:rPr>
              <a:t>i,local</a:t>
            </a:r>
            <a:r>
              <a:rPr sz="700" i="1" spc="195" dirty="0">
                <a:latin typeface="Arial"/>
                <a:cs typeface="Arial"/>
              </a:rPr>
              <a:t> </a:t>
            </a:r>
            <a:r>
              <a:rPr sz="1500" spc="-7" baseline="11111" dirty="0">
                <a:latin typeface="Arial"/>
                <a:cs typeface="Arial"/>
              </a:rPr>
              <a:t>and </a:t>
            </a:r>
            <a:r>
              <a:rPr sz="1500" i="1" baseline="11111" dirty="0">
                <a:latin typeface="Arial"/>
                <a:cs typeface="Arial"/>
              </a:rPr>
              <a:t>s</a:t>
            </a:r>
            <a:r>
              <a:rPr sz="700" i="1" dirty="0">
                <a:latin typeface="Arial"/>
                <a:cs typeface="Arial"/>
              </a:rPr>
              <a:t>j</a:t>
            </a:r>
            <a:r>
              <a:rPr sz="700" i="1" spc="140"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22" baseline="11111" dirty="0">
                <a:latin typeface="Arial"/>
                <a:cs typeface="Arial"/>
              </a:rPr>
              <a:t>C</a:t>
            </a:r>
            <a:r>
              <a:rPr sz="700" i="1" spc="15" dirty="0">
                <a:latin typeface="Arial"/>
                <a:cs typeface="Arial"/>
              </a:rPr>
              <a:t>j,local</a:t>
            </a:r>
            <a:endParaRPr sz="700" dirty="0">
              <a:latin typeface="Arial"/>
              <a:cs typeface="Arial"/>
            </a:endParaRPr>
          </a:p>
          <a:p>
            <a:pPr marL="929005" marR="68580" algn="just">
              <a:lnSpc>
                <a:spcPct val="119600"/>
              </a:lnSpc>
            </a:pPr>
            <a:r>
              <a:rPr sz="1500" spc="-7" baseline="11111" dirty="0">
                <a:latin typeface="Arial"/>
                <a:cs typeface="Arial"/>
              </a:rPr>
              <a:t>when </a:t>
            </a:r>
            <a:r>
              <a:rPr sz="1500" i="1" spc="-7" baseline="11111" dirty="0">
                <a:latin typeface="Arial"/>
                <a:cs typeface="Arial"/>
              </a:rPr>
              <a:t>s</a:t>
            </a:r>
            <a:r>
              <a:rPr sz="700" i="1" spc="5" dirty="0">
                <a:latin typeface="Arial"/>
                <a:cs typeface="Arial"/>
              </a:rPr>
              <a:t>i</a:t>
            </a:r>
            <a:r>
              <a:rPr sz="700" i="1" dirty="0">
                <a:latin typeface="Arial"/>
                <a:cs typeface="Arial"/>
              </a:rPr>
              <a:t> </a:t>
            </a:r>
            <a:r>
              <a:rPr sz="700" i="1" spc="-5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7" baseline="11111" dirty="0">
                <a:latin typeface="Arial"/>
                <a:cs typeface="Arial"/>
              </a:rPr>
              <a:t>C</a:t>
            </a:r>
            <a:r>
              <a:rPr sz="700" i="1" spc="65" dirty="0">
                <a:latin typeface="Arial"/>
                <a:cs typeface="Arial"/>
              </a:rPr>
              <a:t>i</a:t>
            </a:r>
            <a:r>
              <a:rPr sz="700" i="1" spc="5" dirty="0">
                <a:latin typeface="Arial"/>
                <a:cs typeface="Arial"/>
              </a:rPr>
              <a:t>,</a:t>
            </a:r>
            <a:r>
              <a:rPr sz="700" i="1" spc="15" dirty="0">
                <a:latin typeface="Arial"/>
                <a:cs typeface="Arial"/>
              </a:rPr>
              <a:t>local</a:t>
            </a:r>
            <a:r>
              <a:rPr sz="700" i="1" dirty="0">
                <a:latin typeface="Arial"/>
                <a:cs typeface="Arial"/>
              </a:rPr>
              <a:t>  </a:t>
            </a:r>
            <a:r>
              <a:rPr sz="1500" spc="-7" baseline="11111" dirty="0">
                <a:latin typeface="Arial"/>
                <a:cs typeface="Arial"/>
              </a:rPr>
              <a:t>and </a:t>
            </a:r>
            <a:r>
              <a:rPr sz="1500" i="1" spc="-7" baseline="11111" dirty="0">
                <a:latin typeface="Arial"/>
                <a:cs typeface="Arial"/>
              </a:rPr>
              <a:t>s</a:t>
            </a:r>
            <a:r>
              <a:rPr sz="700" i="1" spc="5" dirty="0">
                <a:latin typeface="Arial"/>
                <a:cs typeface="Arial"/>
              </a:rPr>
              <a:t>j</a:t>
            </a:r>
            <a:r>
              <a:rPr sz="700" i="1" dirty="0">
                <a:latin typeface="Arial"/>
                <a:cs typeface="Arial"/>
              </a:rPr>
              <a:t> </a:t>
            </a:r>
            <a:r>
              <a:rPr sz="700" i="1" spc="-5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7" baseline="11111" dirty="0">
                <a:latin typeface="Arial"/>
                <a:cs typeface="Arial"/>
              </a:rPr>
              <a:t>C</a:t>
            </a:r>
            <a:r>
              <a:rPr sz="700" i="1" spc="65" dirty="0">
                <a:latin typeface="Arial"/>
                <a:cs typeface="Arial"/>
              </a:rPr>
              <a:t>j</a:t>
            </a:r>
            <a:r>
              <a:rPr sz="700" i="1" spc="5" dirty="0">
                <a:latin typeface="Arial"/>
                <a:cs typeface="Arial"/>
              </a:rPr>
              <a:t>,</a:t>
            </a:r>
            <a:r>
              <a:rPr sz="700" i="1" spc="15" dirty="0">
                <a:latin typeface="Arial"/>
                <a:cs typeface="Arial"/>
              </a:rPr>
              <a:t>cloud  </a:t>
            </a:r>
            <a:r>
              <a:rPr sz="1500" spc="-7" baseline="11111" dirty="0">
                <a:latin typeface="Arial"/>
                <a:cs typeface="Arial"/>
              </a:rPr>
              <a:t>when </a:t>
            </a:r>
            <a:r>
              <a:rPr sz="1500" i="1" spc="-7" baseline="11111" dirty="0">
                <a:latin typeface="Arial"/>
                <a:cs typeface="Arial"/>
              </a:rPr>
              <a:t>s</a:t>
            </a:r>
            <a:r>
              <a:rPr sz="700" i="1" spc="5" dirty="0">
                <a:latin typeface="Arial"/>
                <a:cs typeface="Arial"/>
              </a:rPr>
              <a:t>i</a:t>
            </a:r>
            <a:r>
              <a:rPr sz="700" i="1" dirty="0">
                <a:latin typeface="Arial"/>
                <a:cs typeface="Arial"/>
              </a:rPr>
              <a:t> </a:t>
            </a:r>
            <a:r>
              <a:rPr sz="700" i="1" spc="-5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7" baseline="11111" dirty="0">
                <a:latin typeface="Arial"/>
                <a:cs typeface="Arial"/>
              </a:rPr>
              <a:t>C</a:t>
            </a:r>
            <a:r>
              <a:rPr sz="700" i="1" spc="65" dirty="0">
                <a:latin typeface="Arial"/>
                <a:cs typeface="Arial"/>
              </a:rPr>
              <a:t>i</a:t>
            </a:r>
            <a:r>
              <a:rPr sz="700" i="1" spc="5" dirty="0">
                <a:latin typeface="Arial"/>
                <a:cs typeface="Arial"/>
              </a:rPr>
              <a:t>,</a:t>
            </a:r>
            <a:r>
              <a:rPr sz="700" i="1" spc="15" dirty="0">
                <a:latin typeface="Arial"/>
                <a:cs typeface="Arial"/>
              </a:rPr>
              <a:t>cloud</a:t>
            </a:r>
            <a:r>
              <a:rPr sz="700" i="1" dirty="0">
                <a:latin typeface="Arial"/>
                <a:cs typeface="Arial"/>
              </a:rPr>
              <a:t> </a:t>
            </a:r>
            <a:r>
              <a:rPr sz="700" i="1" spc="5" dirty="0">
                <a:latin typeface="Arial"/>
                <a:cs typeface="Arial"/>
              </a:rPr>
              <a:t> </a:t>
            </a:r>
            <a:r>
              <a:rPr sz="1500" spc="-7" baseline="11111" dirty="0">
                <a:latin typeface="Arial"/>
                <a:cs typeface="Arial"/>
              </a:rPr>
              <a:t>and </a:t>
            </a:r>
            <a:r>
              <a:rPr sz="1500" i="1" spc="-7" baseline="11111" dirty="0">
                <a:latin typeface="Arial"/>
                <a:cs typeface="Arial"/>
              </a:rPr>
              <a:t>s</a:t>
            </a:r>
            <a:r>
              <a:rPr sz="700" i="1" spc="5" dirty="0">
                <a:latin typeface="Arial"/>
                <a:cs typeface="Arial"/>
              </a:rPr>
              <a:t>j</a:t>
            </a:r>
            <a:r>
              <a:rPr sz="700" i="1" dirty="0">
                <a:latin typeface="Arial"/>
                <a:cs typeface="Arial"/>
              </a:rPr>
              <a:t> </a:t>
            </a:r>
            <a:r>
              <a:rPr sz="700" i="1" spc="-5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7" baseline="11111" dirty="0">
                <a:latin typeface="Arial"/>
                <a:cs typeface="Arial"/>
              </a:rPr>
              <a:t>C</a:t>
            </a:r>
            <a:r>
              <a:rPr sz="700" i="1" spc="65" dirty="0">
                <a:latin typeface="Arial"/>
                <a:cs typeface="Arial"/>
              </a:rPr>
              <a:t>j</a:t>
            </a:r>
            <a:r>
              <a:rPr sz="700" i="1" spc="5" dirty="0">
                <a:latin typeface="Arial"/>
                <a:cs typeface="Arial"/>
              </a:rPr>
              <a:t>,</a:t>
            </a:r>
            <a:r>
              <a:rPr sz="700" i="1" spc="10" dirty="0">
                <a:latin typeface="Arial"/>
                <a:cs typeface="Arial"/>
              </a:rPr>
              <a:t>local  </a:t>
            </a:r>
            <a:r>
              <a:rPr sz="1500" spc="-7" baseline="11111" dirty="0">
                <a:latin typeface="Arial"/>
                <a:cs typeface="Arial"/>
              </a:rPr>
              <a:t>when </a:t>
            </a:r>
            <a:r>
              <a:rPr sz="1500" i="1" spc="-7" baseline="11111" dirty="0">
                <a:latin typeface="Arial"/>
                <a:cs typeface="Arial"/>
              </a:rPr>
              <a:t>s</a:t>
            </a:r>
            <a:r>
              <a:rPr sz="700" i="1" spc="5" dirty="0">
                <a:latin typeface="Arial"/>
                <a:cs typeface="Arial"/>
              </a:rPr>
              <a:t>i</a:t>
            </a:r>
            <a:r>
              <a:rPr sz="700" i="1" dirty="0">
                <a:latin typeface="Arial"/>
                <a:cs typeface="Arial"/>
              </a:rPr>
              <a:t> </a:t>
            </a:r>
            <a:r>
              <a:rPr sz="700" i="1" spc="-5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7" baseline="11111" dirty="0">
                <a:latin typeface="Arial"/>
                <a:cs typeface="Arial"/>
              </a:rPr>
              <a:t>C</a:t>
            </a:r>
            <a:r>
              <a:rPr sz="700" i="1" spc="65" dirty="0">
                <a:latin typeface="Arial"/>
                <a:cs typeface="Arial"/>
              </a:rPr>
              <a:t>i</a:t>
            </a:r>
            <a:r>
              <a:rPr sz="700" i="1" spc="5" dirty="0">
                <a:latin typeface="Arial"/>
                <a:cs typeface="Arial"/>
              </a:rPr>
              <a:t>,</a:t>
            </a:r>
            <a:r>
              <a:rPr sz="700" i="1" spc="15" dirty="0">
                <a:latin typeface="Arial"/>
                <a:cs typeface="Arial"/>
              </a:rPr>
              <a:t>cloud</a:t>
            </a:r>
            <a:r>
              <a:rPr sz="700" i="1" dirty="0">
                <a:latin typeface="Arial"/>
                <a:cs typeface="Arial"/>
              </a:rPr>
              <a:t> </a:t>
            </a:r>
            <a:r>
              <a:rPr sz="700" i="1" spc="5" dirty="0">
                <a:latin typeface="Arial"/>
                <a:cs typeface="Arial"/>
              </a:rPr>
              <a:t> </a:t>
            </a:r>
            <a:r>
              <a:rPr sz="1500" spc="-7" baseline="11111" dirty="0">
                <a:latin typeface="Arial"/>
                <a:cs typeface="Arial"/>
              </a:rPr>
              <a:t>and </a:t>
            </a:r>
            <a:r>
              <a:rPr sz="1500" i="1" spc="-7" baseline="11111" dirty="0">
                <a:latin typeface="Arial"/>
                <a:cs typeface="Arial"/>
              </a:rPr>
              <a:t>s</a:t>
            </a:r>
            <a:r>
              <a:rPr sz="700" i="1" spc="5" dirty="0">
                <a:latin typeface="Arial"/>
                <a:cs typeface="Arial"/>
              </a:rPr>
              <a:t>j</a:t>
            </a:r>
            <a:r>
              <a:rPr sz="700" i="1" dirty="0">
                <a:latin typeface="Arial"/>
                <a:cs typeface="Arial"/>
              </a:rPr>
              <a:t> </a:t>
            </a:r>
            <a:r>
              <a:rPr sz="700" i="1" spc="-55" dirty="0">
                <a:latin typeface="Arial"/>
                <a:cs typeface="Arial"/>
              </a:rPr>
              <a:t> </a:t>
            </a:r>
            <a:r>
              <a:rPr sz="1500" i="1" spc="-217" baseline="11111" dirty="0">
                <a:latin typeface="メイリオ"/>
                <a:cs typeface="メイリオ"/>
              </a:rPr>
              <a:t>∈</a:t>
            </a:r>
            <a:r>
              <a:rPr sz="1500" i="1" spc="-179" baseline="11111" dirty="0">
                <a:latin typeface="メイリオ"/>
                <a:cs typeface="メイリオ"/>
              </a:rPr>
              <a:t> </a:t>
            </a:r>
            <a:r>
              <a:rPr sz="1500" i="1" spc="-7" baseline="11111" dirty="0">
                <a:latin typeface="Arial"/>
                <a:cs typeface="Arial"/>
              </a:rPr>
              <a:t>C</a:t>
            </a:r>
            <a:r>
              <a:rPr sz="700" i="1" spc="65" dirty="0">
                <a:latin typeface="Arial"/>
                <a:cs typeface="Arial"/>
              </a:rPr>
              <a:t>j</a:t>
            </a:r>
            <a:r>
              <a:rPr sz="700" i="1" spc="5" dirty="0">
                <a:latin typeface="Arial"/>
                <a:cs typeface="Arial"/>
              </a:rPr>
              <a:t>,</a:t>
            </a:r>
            <a:r>
              <a:rPr sz="700" i="1" spc="15" dirty="0">
                <a:latin typeface="Arial"/>
                <a:cs typeface="Arial"/>
              </a:rPr>
              <a:t>cloud</a:t>
            </a:r>
            <a:endParaRPr sz="700" dirty="0">
              <a:latin typeface="Arial"/>
              <a:cs typeface="Arial"/>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8" name="object 18"/>
          <p:cNvSpPr txBox="1"/>
          <p:nvPr/>
        </p:nvSpPr>
        <p:spPr>
          <a:xfrm>
            <a:off x="66713" y="3331252"/>
            <a:ext cx="594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Cloud</a:t>
            </a:r>
            <a:r>
              <a:rPr sz="600" spc="-3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computing</a:t>
            </a:r>
            <a:endParaRPr sz="600">
              <a:latin typeface="Arial"/>
              <a:cs typeface="Arial"/>
            </a:endParaRPr>
          </a:p>
        </p:txBody>
      </p:sp>
      <p:sp>
        <p:nvSpPr>
          <p:cNvPr id="19" name="object 1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41</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170746" y="716"/>
            <a:ext cx="137096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High performance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computing</a:t>
            </a:r>
            <a:endParaRPr sz="600">
              <a:latin typeface="Arial"/>
              <a:cs typeface="Arial"/>
            </a:endParaRPr>
          </a:p>
        </p:txBody>
      </p:sp>
      <p:sp>
        <p:nvSpPr>
          <p:cNvPr id="4" name="object 4"/>
          <p:cNvSpPr txBox="1"/>
          <p:nvPr/>
        </p:nvSpPr>
        <p:spPr>
          <a:xfrm>
            <a:off x="95300" y="188846"/>
            <a:ext cx="1744980"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Overall</a:t>
            </a:r>
            <a:r>
              <a:rPr sz="1400" spc="-15" dirty="0">
                <a:solidFill>
                  <a:srgbClr val="3333B2"/>
                </a:solidFill>
                <a:latin typeface="Arial"/>
                <a:cs typeface="Arial"/>
              </a:rPr>
              <a:t> </a:t>
            </a:r>
            <a:r>
              <a:rPr sz="1400" spc="15" dirty="0">
                <a:solidFill>
                  <a:srgbClr val="3333B2"/>
                </a:solidFill>
                <a:latin typeface="Arial"/>
                <a:cs typeface="Arial"/>
              </a:rPr>
              <a:t>Internet</a:t>
            </a:r>
            <a:r>
              <a:rPr sz="1400" spc="-15" dirty="0">
                <a:solidFill>
                  <a:srgbClr val="3333B2"/>
                </a:solidFill>
                <a:latin typeface="Arial"/>
                <a:cs typeface="Arial"/>
              </a:rPr>
              <a:t> </a:t>
            </a:r>
            <a:r>
              <a:rPr sz="1400" spc="15" dirty="0">
                <a:solidFill>
                  <a:srgbClr val="3333B2"/>
                </a:solidFill>
                <a:latin typeface="Arial"/>
                <a:cs typeface="Arial"/>
              </a:rPr>
              <a:t>costs</a:t>
            </a:r>
            <a:endParaRPr sz="1400">
              <a:latin typeface="Arial"/>
              <a:cs typeface="Arial"/>
            </a:endParaRPr>
          </a:p>
        </p:txBody>
      </p:sp>
      <p:sp>
        <p:nvSpPr>
          <p:cNvPr id="5" name="object 5"/>
          <p:cNvSpPr txBox="1"/>
          <p:nvPr/>
        </p:nvSpPr>
        <p:spPr>
          <a:xfrm>
            <a:off x="309194" y="627031"/>
            <a:ext cx="2995930" cy="1053465"/>
          </a:xfrm>
          <a:prstGeom prst="rect">
            <a:avLst/>
          </a:prstGeom>
        </p:spPr>
        <p:txBody>
          <a:bodyPr vert="horz" wrap="square" lIns="0" tIns="95250" rIns="0" bIns="0" rtlCol="0">
            <a:spAutoFit/>
          </a:bodyPr>
          <a:lstStyle/>
          <a:p>
            <a:pPr marL="50800">
              <a:lnSpc>
                <a:spcPct val="100000"/>
              </a:lnSpc>
              <a:spcBef>
                <a:spcPts val="750"/>
              </a:spcBef>
            </a:pPr>
            <a:r>
              <a:rPr sz="1200" spc="-5" dirty="0">
                <a:solidFill>
                  <a:srgbClr val="3333B2"/>
                </a:solidFill>
                <a:latin typeface="Arial"/>
                <a:cs typeface="Arial"/>
              </a:rPr>
              <a:t>Notations</a:t>
            </a:r>
            <a:endParaRPr sz="1200">
              <a:latin typeface="Arial"/>
              <a:cs typeface="Arial"/>
            </a:endParaRPr>
          </a:p>
          <a:p>
            <a:pPr marL="327660" indent="-168275">
              <a:lnSpc>
                <a:spcPts val="1200"/>
              </a:lnSpc>
              <a:spcBef>
                <a:spcPts val="545"/>
              </a:spcBef>
              <a:buClr>
                <a:srgbClr val="3333B2"/>
              </a:buClr>
              <a:buFont typeface="Arial"/>
              <a:buChar char="►"/>
              <a:tabLst>
                <a:tab pos="328295" algn="l"/>
              </a:tabLst>
            </a:pPr>
            <a:r>
              <a:rPr sz="1000" i="1" spc="10" dirty="0">
                <a:latin typeface="Arial"/>
                <a:cs typeface="Arial"/>
              </a:rPr>
              <a:t>cost</a:t>
            </a:r>
            <a:r>
              <a:rPr sz="1050" i="1" spc="15" baseline="-15873" dirty="0">
                <a:latin typeface="Arial"/>
                <a:cs typeface="Arial"/>
              </a:rPr>
              <a:t>local,inet</a:t>
            </a:r>
            <a:r>
              <a:rPr sz="1050" i="1" spc="-120" baseline="-15873" dirty="0">
                <a:latin typeface="Arial"/>
                <a:cs typeface="Arial"/>
              </a:rPr>
              <a:t> </a:t>
            </a:r>
            <a:r>
              <a:rPr sz="1000" spc="-5" dirty="0">
                <a:latin typeface="Arial"/>
                <a:cs typeface="Arial"/>
              </a:rPr>
              <a:t>:</a:t>
            </a:r>
            <a:r>
              <a:rPr sz="1000" spc="65" dirty="0">
                <a:latin typeface="Arial"/>
                <a:cs typeface="Arial"/>
              </a:rPr>
              <a:t> </a:t>
            </a:r>
            <a:r>
              <a:rPr sz="1000" spc="-5" dirty="0">
                <a:latin typeface="Arial"/>
                <a:cs typeface="Arial"/>
              </a:rPr>
              <a:t>per</a:t>
            </a:r>
            <a:r>
              <a:rPr sz="1000" dirty="0">
                <a:latin typeface="Arial"/>
                <a:cs typeface="Arial"/>
              </a:rPr>
              <a:t> </a:t>
            </a:r>
            <a:r>
              <a:rPr sz="1000" spc="-5" dirty="0">
                <a:latin typeface="Arial"/>
                <a:cs typeface="Arial"/>
              </a:rPr>
              <a:t>unit</a:t>
            </a:r>
            <a:r>
              <a:rPr sz="1000" dirty="0">
                <a:latin typeface="Arial"/>
                <a:cs typeface="Arial"/>
              </a:rPr>
              <a:t> Internet </a:t>
            </a:r>
            <a:r>
              <a:rPr sz="1000" spc="-5" dirty="0">
                <a:latin typeface="Arial"/>
                <a:cs typeface="Arial"/>
              </a:rPr>
              <a:t>costs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part</a:t>
            </a:r>
            <a:endParaRPr sz="1000">
              <a:latin typeface="Arial"/>
              <a:cs typeface="Arial"/>
            </a:endParaRPr>
          </a:p>
          <a:p>
            <a:pPr marL="327660" indent="-168275">
              <a:lnSpc>
                <a:spcPts val="1200"/>
              </a:lnSpc>
              <a:buClr>
                <a:srgbClr val="3333B2"/>
              </a:buClr>
              <a:buFont typeface="Arial"/>
              <a:buChar char="►"/>
              <a:tabLst>
                <a:tab pos="328295" algn="l"/>
              </a:tabLst>
            </a:pPr>
            <a:r>
              <a:rPr sz="1000" i="1" spc="-5" dirty="0">
                <a:latin typeface="Arial"/>
                <a:cs typeface="Arial"/>
              </a:rPr>
              <a:t>cost</a:t>
            </a:r>
            <a:r>
              <a:rPr sz="1050" i="1" spc="22" baseline="-15873" dirty="0">
                <a:latin typeface="Arial"/>
                <a:cs typeface="Arial"/>
              </a:rPr>
              <a:t>clou</a:t>
            </a:r>
            <a:r>
              <a:rPr sz="1050" i="1" spc="135" baseline="-15873" dirty="0">
                <a:latin typeface="Arial"/>
                <a:cs typeface="Arial"/>
              </a:rPr>
              <a:t>d</a:t>
            </a:r>
            <a:r>
              <a:rPr sz="1050" i="1" spc="7" baseline="-15873" dirty="0">
                <a:latin typeface="Arial"/>
                <a:cs typeface="Arial"/>
              </a:rPr>
              <a:t>,</a:t>
            </a:r>
            <a:r>
              <a:rPr sz="1050" i="1" spc="22" baseline="-15873" dirty="0">
                <a:latin typeface="Arial"/>
                <a:cs typeface="Arial"/>
              </a:rPr>
              <a:t>inet</a:t>
            </a:r>
            <a:r>
              <a:rPr sz="1050" i="1" spc="-120" baseline="-15873"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per unit Inte</a:t>
            </a:r>
            <a:r>
              <a:rPr sz="1000" spc="15" dirty="0">
                <a:latin typeface="Arial"/>
                <a:cs typeface="Arial"/>
              </a:rPr>
              <a:t>r</a:t>
            </a:r>
            <a:r>
              <a:rPr sz="1000" spc="-5" dirty="0">
                <a:latin typeface="Arial"/>
                <a:cs typeface="Arial"/>
              </a:rPr>
              <a:t>net costs to cloud</a:t>
            </a:r>
            <a:endParaRPr sz="1000">
              <a:latin typeface="Arial"/>
              <a:cs typeface="Arial"/>
            </a:endParaRPr>
          </a:p>
          <a:p>
            <a:pPr>
              <a:lnSpc>
                <a:spcPct val="100000"/>
              </a:lnSpc>
              <a:spcBef>
                <a:spcPts val="10"/>
              </a:spcBef>
            </a:pPr>
            <a:endParaRPr sz="1400">
              <a:latin typeface="Arial"/>
              <a:cs typeface="Arial"/>
            </a:endParaRPr>
          </a:p>
          <a:p>
            <a:pPr marL="50800">
              <a:lnSpc>
                <a:spcPct val="100000"/>
              </a:lnSpc>
            </a:pPr>
            <a:r>
              <a:rPr sz="1200" spc="-5" dirty="0">
                <a:solidFill>
                  <a:srgbClr val="3333B2"/>
                </a:solidFill>
                <a:latin typeface="Arial"/>
                <a:cs typeface="Arial"/>
              </a:rPr>
              <a:t>Costs and traffic </a:t>
            </a:r>
            <a:r>
              <a:rPr sz="1200" spc="-10" dirty="0">
                <a:solidFill>
                  <a:srgbClr val="3333B2"/>
                </a:solidFill>
                <a:latin typeface="Arial"/>
                <a:cs typeface="Arial"/>
              </a:rPr>
              <a:t>before</a:t>
            </a:r>
            <a:r>
              <a:rPr sz="1200" spc="-5" dirty="0">
                <a:solidFill>
                  <a:srgbClr val="3333B2"/>
                </a:solidFill>
                <a:latin typeface="Arial"/>
                <a:cs typeface="Arial"/>
              </a:rPr>
              <a:t> and after </a:t>
            </a:r>
            <a:r>
              <a:rPr sz="1200" spc="-10" dirty="0">
                <a:solidFill>
                  <a:srgbClr val="3333B2"/>
                </a:solidFill>
                <a:latin typeface="Arial"/>
                <a:cs typeface="Arial"/>
              </a:rPr>
              <a:t>migration</a:t>
            </a:r>
            <a:endParaRPr sz="1200">
              <a:latin typeface="Arial"/>
              <a:cs typeface="Arial"/>
            </a:endParaRPr>
          </a:p>
        </p:txBody>
      </p:sp>
      <p:sp>
        <p:nvSpPr>
          <p:cNvPr id="6" name="object 6"/>
          <p:cNvSpPr txBox="1"/>
          <p:nvPr/>
        </p:nvSpPr>
        <p:spPr>
          <a:xfrm>
            <a:off x="1223136" y="1955551"/>
            <a:ext cx="11620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Times New Roman"/>
                <a:cs typeface="Times New Roman"/>
              </a:rPr>
              <a:t>∑</a:t>
            </a:r>
            <a:endParaRPr sz="1000">
              <a:latin typeface="Times New Roman"/>
              <a:cs typeface="Times New Roman"/>
            </a:endParaRPr>
          </a:p>
        </p:txBody>
      </p:sp>
      <p:sp>
        <p:nvSpPr>
          <p:cNvPr id="7" name="object 7"/>
          <p:cNvSpPr txBox="1"/>
          <p:nvPr/>
        </p:nvSpPr>
        <p:spPr>
          <a:xfrm>
            <a:off x="948944" y="2114444"/>
            <a:ext cx="651510" cy="137795"/>
          </a:xfrm>
          <a:prstGeom prst="rect">
            <a:avLst/>
          </a:prstGeom>
        </p:spPr>
        <p:txBody>
          <a:bodyPr vert="horz" wrap="square" lIns="0" tIns="17145" rIns="0" bIns="0" rtlCol="0">
            <a:spAutoFit/>
          </a:bodyPr>
          <a:lstStyle/>
          <a:p>
            <a:pPr marL="38100">
              <a:lnSpc>
                <a:spcPct val="100000"/>
              </a:lnSpc>
              <a:spcBef>
                <a:spcPts val="135"/>
              </a:spcBef>
            </a:pPr>
            <a:r>
              <a:rPr sz="1050" i="1" spc="30" baseline="15873" dirty="0">
                <a:latin typeface="Arial"/>
                <a:cs typeface="Arial"/>
              </a:rPr>
              <a:t>C</a:t>
            </a:r>
            <a:r>
              <a:rPr sz="600" i="1" spc="45" dirty="0">
                <a:latin typeface="Arial"/>
                <a:cs typeface="Arial"/>
              </a:rPr>
              <a:t>i</a:t>
            </a:r>
            <a:r>
              <a:rPr sz="600" i="1" spc="-5" dirty="0">
                <a:latin typeface="Arial"/>
                <a:cs typeface="Arial"/>
              </a:rPr>
              <a:t>,local</a:t>
            </a:r>
            <a:r>
              <a:rPr sz="600" i="1" spc="-70" dirty="0">
                <a:latin typeface="Arial"/>
                <a:cs typeface="Arial"/>
              </a:rPr>
              <a:t> </a:t>
            </a:r>
            <a:r>
              <a:rPr sz="1050" i="1" spc="7" baseline="15873" dirty="0">
                <a:latin typeface="Arial"/>
                <a:cs typeface="Arial"/>
              </a:rPr>
              <a:t>,</a:t>
            </a:r>
            <a:r>
              <a:rPr sz="1050" i="1" spc="37" baseline="15873" dirty="0">
                <a:latin typeface="Arial"/>
                <a:cs typeface="Arial"/>
              </a:rPr>
              <a:t>C</a:t>
            </a:r>
            <a:r>
              <a:rPr sz="600" i="1" spc="45" dirty="0">
                <a:latin typeface="Arial"/>
                <a:cs typeface="Arial"/>
              </a:rPr>
              <a:t>j</a:t>
            </a:r>
            <a:r>
              <a:rPr sz="600" i="1" spc="-5" dirty="0">
                <a:latin typeface="Arial"/>
                <a:cs typeface="Arial"/>
              </a:rPr>
              <a:t>,local</a:t>
            </a:r>
            <a:endParaRPr sz="600">
              <a:latin typeface="Arial"/>
              <a:cs typeface="Arial"/>
            </a:endParaRPr>
          </a:p>
        </p:txBody>
      </p:sp>
      <p:sp>
        <p:nvSpPr>
          <p:cNvPr id="8" name="object 8"/>
          <p:cNvSpPr txBox="1"/>
          <p:nvPr/>
        </p:nvSpPr>
        <p:spPr>
          <a:xfrm>
            <a:off x="2706179" y="1955551"/>
            <a:ext cx="11620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Times New Roman"/>
                <a:cs typeface="Times New Roman"/>
              </a:rPr>
              <a:t>∑</a:t>
            </a:r>
            <a:endParaRPr sz="1000">
              <a:latin typeface="Times New Roman"/>
              <a:cs typeface="Times New Roman"/>
            </a:endParaRPr>
          </a:p>
        </p:txBody>
      </p:sp>
      <p:sp>
        <p:nvSpPr>
          <p:cNvPr id="9" name="object 9"/>
          <p:cNvSpPr txBox="1"/>
          <p:nvPr/>
        </p:nvSpPr>
        <p:spPr>
          <a:xfrm>
            <a:off x="2585415" y="2114444"/>
            <a:ext cx="344805" cy="137795"/>
          </a:xfrm>
          <a:prstGeom prst="rect">
            <a:avLst/>
          </a:prstGeom>
        </p:spPr>
        <p:txBody>
          <a:bodyPr vert="horz" wrap="square" lIns="0" tIns="17145" rIns="0" bIns="0" rtlCol="0">
            <a:spAutoFit/>
          </a:bodyPr>
          <a:lstStyle/>
          <a:p>
            <a:pPr marL="38100">
              <a:lnSpc>
                <a:spcPct val="100000"/>
              </a:lnSpc>
              <a:spcBef>
                <a:spcPts val="135"/>
              </a:spcBef>
            </a:pPr>
            <a:r>
              <a:rPr sz="1050" i="1" spc="7" baseline="15873" dirty="0">
                <a:latin typeface="Arial"/>
                <a:cs typeface="Arial"/>
              </a:rPr>
              <a:t>C</a:t>
            </a:r>
            <a:r>
              <a:rPr sz="600" i="1" spc="5" dirty="0">
                <a:latin typeface="Arial"/>
                <a:cs typeface="Arial"/>
              </a:rPr>
              <a:t>j,local</a:t>
            </a:r>
            <a:endParaRPr sz="600">
              <a:latin typeface="Arial"/>
              <a:cs typeface="Arial"/>
            </a:endParaRPr>
          </a:p>
        </p:txBody>
      </p:sp>
      <p:sp>
        <p:nvSpPr>
          <p:cNvPr id="10" name="object 10"/>
          <p:cNvSpPr txBox="1"/>
          <p:nvPr/>
        </p:nvSpPr>
        <p:spPr>
          <a:xfrm>
            <a:off x="1536763" y="1988177"/>
            <a:ext cx="2976245" cy="177800"/>
          </a:xfrm>
          <a:prstGeom prst="rect">
            <a:avLst/>
          </a:prstGeom>
        </p:spPr>
        <p:txBody>
          <a:bodyPr vert="horz" wrap="square" lIns="0" tIns="12065" rIns="0" bIns="0" rtlCol="0">
            <a:spAutoFit/>
          </a:bodyPr>
          <a:lstStyle/>
          <a:p>
            <a:pPr marL="38100">
              <a:lnSpc>
                <a:spcPct val="100000"/>
              </a:lnSpc>
              <a:spcBef>
                <a:spcPts val="95"/>
              </a:spcBef>
              <a:tabLst>
                <a:tab pos="1367155" algn="l"/>
              </a:tabLst>
            </a:pPr>
            <a:r>
              <a:rPr sz="1500" spc="-75" baseline="19444" dirty="0">
                <a:latin typeface="Arial"/>
                <a:cs typeface="Arial"/>
              </a:rPr>
              <a:t>(</a:t>
            </a:r>
            <a:r>
              <a:rPr sz="1500" i="1" spc="-75" baseline="19444" dirty="0">
                <a:latin typeface="Arial"/>
                <a:cs typeface="Arial"/>
              </a:rPr>
              <a:t>T</a:t>
            </a:r>
            <a:r>
              <a:rPr sz="700" i="1" spc="-50" dirty="0">
                <a:latin typeface="Arial"/>
                <a:cs typeface="Arial"/>
              </a:rPr>
              <a:t>i</a:t>
            </a:r>
            <a:r>
              <a:rPr sz="1050" i="1" spc="-75" baseline="55555" dirty="0">
                <a:latin typeface="メイリオ"/>
                <a:cs typeface="メイリオ"/>
              </a:rPr>
              <a:t>∗</a:t>
            </a:r>
            <a:r>
              <a:rPr sz="700" i="1" spc="-50" dirty="0">
                <a:latin typeface="Arial"/>
                <a:cs typeface="Arial"/>
              </a:rPr>
              <a:t>,j</a:t>
            </a:r>
            <a:r>
              <a:rPr sz="700" i="1" spc="-85" dirty="0">
                <a:latin typeface="Arial"/>
                <a:cs typeface="Arial"/>
              </a:rPr>
              <a:t> </a:t>
            </a:r>
            <a:r>
              <a:rPr sz="1500" i="1" spc="-112" baseline="19444" dirty="0">
                <a:latin typeface="Arial"/>
                <a:cs typeface="Arial"/>
              </a:rPr>
              <a:t>S</a:t>
            </a:r>
            <a:r>
              <a:rPr sz="700" i="1" spc="-75" dirty="0">
                <a:latin typeface="Arial"/>
                <a:cs typeface="Arial"/>
              </a:rPr>
              <a:t>i</a:t>
            </a:r>
            <a:r>
              <a:rPr sz="1050" i="1" spc="-112" baseline="55555" dirty="0">
                <a:latin typeface="メイリオ"/>
                <a:cs typeface="メイリオ"/>
              </a:rPr>
              <a:t>∗</a:t>
            </a:r>
            <a:r>
              <a:rPr sz="700" i="1" spc="-75" dirty="0">
                <a:latin typeface="Arial"/>
                <a:cs typeface="Arial"/>
              </a:rPr>
              <a:t>,j</a:t>
            </a:r>
            <a:r>
              <a:rPr sz="700" i="1" spc="65" dirty="0">
                <a:latin typeface="Arial"/>
                <a:cs typeface="Arial"/>
              </a:rPr>
              <a:t> </a:t>
            </a:r>
            <a:r>
              <a:rPr sz="1500" spc="284" baseline="19444" dirty="0">
                <a:latin typeface="Arial"/>
                <a:cs typeface="Arial"/>
              </a:rPr>
              <a:t>+</a:t>
            </a:r>
            <a:r>
              <a:rPr sz="1500" spc="-195" baseline="19444" dirty="0">
                <a:latin typeface="Arial"/>
                <a:cs typeface="Arial"/>
              </a:rPr>
              <a:t> </a:t>
            </a:r>
            <a:r>
              <a:rPr sz="1500" i="1" spc="-112" baseline="19444" dirty="0">
                <a:latin typeface="Arial"/>
                <a:cs typeface="Arial"/>
              </a:rPr>
              <a:t>T</a:t>
            </a:r>
            <a:r>
              <a:rPr sz="700" i="1" spc="-75" dirty="0">
                <a:latin typeface="Arial"/>
                <a:cs typeface="Arial"/>
              </a:rPr>
              <a:t>j</a:t>
            </a:r>
            <a:r>
              <a:rPr sz="1050" i="1" spc="-112" baseline="55555" dirty="0">
                <a:latin typeface="メイリオ"/>
                <a:cs typeface="メイリオ"/>
              </a:rPr>
              <a:t>∗</a:t>
            </a:r>
            <a:r>
              <a:rPr sz="700" i="1" spc="-75" dirty="0">
                <a:latin typeface="Arial"/>
                <a:cs typeface="Arial"/>
              </a:rPr>
              <a:t>,i</a:t>
            </a:r>
            <a:r>
              <a:rPr sz="700" i="1" spc="-80" dirty="0">
                <a:latin typeface="Arial"/>
                <a:cs typeface="Arial"/>
              </a:rPr>
              <a:t> </a:t>
            </a:r>
            <a:r>
              <a:rPr sz="1500" i="1" spc="-112" baseline="19444" dirty="0">
                <a:latin typeface="Arial"/>
                <a:cs typeface="Arial"/>
              </a:rPr>
              <a:t>S</a:t>
            </a:r>
            <a:r>
              <a:rPr sz="700" i="1" spc="-75" dirty="0">
                <a:latin typeface="Arial"/>
                <a:cs typeface="Arial"/>
              </a:rPr>
              <a:t>j</a:t>
            </a:r>
            <a:r>
              <a:rPr sz="1050" i="1" spc="-112" baseline="55555" dirty="0">
                <a:latin typeface="メイリオ"/>
                <a:cs typeface="メイリオ"/>
              </a:rPr>
              <a:t>∗</a:t>
            </a:r>
            <a:r>
              <a:rPr sz="700" i="1" spc="-75" dirty="0">
                <a:latin typeface="Arial"/>
                <a:cs typeface="Arial"/>
              </a:rPr>
              <a:t>,i</a:t>
            </a:r>
            <a:r>
              <a:rPr sz="700" i="1" spc="-85" dirty="0">
                <a:latin typeface="Arial"/>
                <a:cs typeface="Arial"/>
              </a:rPr>
              <a:t> </a:t>
            </a:r>
            <a:r>
              <a:rPr sz="1500" spc="75" baseline="19444" dirty="0">
                <a:latin typeface="Arial"/>
                <a:cs typeface="Arial"/>
              </a:rPr>
              <a:t>)</a:t>
            </a:r>
            <a:r>
              <a:rPr sz="1500" spc="-195" baseline="19444" dirty="0">
                <a:latin typeface="Arial"/>
                <a:cs typeface="Arial"/>
              </a:rPr>
              <a:t> </a:t>
            </a:r>
            <a:r>
              <a:rPr sz="1500" spc="284" baseline="19444" dirty="0">
                <a:latin typeface="Arial"/>
                <a:cs typeface="Arial"/>
              </a:rPr>
              <a:t>+	</a:t>
            </a:r>
            <a:r>
              <a:rPr sz="1500" spc="-75" baseline="19444" dirty="0">
                <a:latin typeface="Arial"/>
                <a:cs typeface="Arial"/>
              </a:rPr>
              <a:t>(</a:t>
            </a:r>
            <a:r>
              <a:rPr sz="1500" i="1" spc="-75" baseline="19444" dirty="0">
                <a:latin typeface="Arial"/>
                <a:cs typeface="Arial"/>
              </a:rPr>
              <a:t>T</a:t>
            </a:r>
            <a:r>
              <a:rPr sz="700" i="1" spc="-50" dirty="0">
                <a:latin typeface="Arial"/>
                <a:cs typeface="Arial"/>
              </a:rPr>
              <a:t>u</a:t>
            </a:r>
            <a:r>
              <a:rPr sz="1050" i="1" spc="-75" baseline="55555" dirty="0">
                <a:latin typeface="メイリオ"/>
                <a:cs typeface="メイリオ"/>
              </a:rPr>
              <a:t>∗</a:t>
            </a:r>
            <a:r>
              <a:rPr sz="700" i="1" spc="-50" dirty="0">
                <a:latin typeface="Arial"/>
                <a:cs typeface="Arial"/>
              </a:rPr>
              <a:t>ser</a:t>
            </a:r>
            <a:r>
              <a:rPr sz="700" i="1" spc="-114" dirty="0">
                <a:latin typeface="Arial"/>
                <a:cs typeface="Arial"/>
              </a:rPr>
              <a:t> </a:t>
            </a:r>
            <a:r>
              <a:rPr sz="700" i="1" spc="5" dirty="0">
                <a:latin typeface="Arial"/>
                <a:cs typeface="Arial"/>
              </a:rPr>
              <a:t>,j</a:t>
            </a:r>
            <a:r>
              <a:rPr sz="700" i="1" spc="-80" dirty="0">
                <a:latin typeface="Arial"/>
                <a:cs typeface="Arial"/>
              </a:rPr>
              <a:t> </a:t>
            </a:r>
            <a:r>
              <a:rPr sz="1500" i="1" spc="-97" baseline="19444" dirty="0">
                <a:latin typeface="Arial"/>
                <a:cs typeface="Arial"/>
              </a:rPr>
              <a:t>S</a:t>
            </a:r>
            <a:r>
              <a:rPr sz="700" i="1" spc="-65" dirty="0">
                <a:latin typeface="Arial"/>
                <a:cs typeface="Arial"/>
              </a:rPr>
              <a:t>u</a:t>
            </a:r>
            <a:r>
              <a:rPr sz="1050" i="1" spc="-97" baseline="55555" dirty="0">
                <a:latin typeface="メイリオ"/>
                <a:cs typeface="メイリオ"/>
              </a:rPr>
              <a:t>∗</a:t>
            </a:r>
            <a:r>
              <a:rPr sz="700" i="1" spc="-65" dirty="0">
                <a:latin typeface="Arial"/>
                <a:cs typeface="Arial"/>
              </a:rPr>
              <a:t>ser</a:t>
            </a:r>
            <a:r>
              <a:rPr sz="700" i="1" spc="-114" dirty="0">
                <a:latin typeface="Arial"/>
                <a:cs typeface="Arial"/>
              </a:rPr>
              <a:t> </a:t>
            </a:r>
            <a:r>
              <a:rPr sz="700" i="1" spc="5" dirty="0">
                <a:latin typeface="Arial"/>
                <a:cs typeface="Arial"/>
              </a:rPr>
              <a:t>,j</a:t>
            </a:r>
            <a:r>
              <a:rPr sz="700" i="1" spc="65" dirty="0">
                <a:latin typeface="Arial"/>
                <a:cs typeface="Arial"/>
              </a:rPr>
              <a:t> </a:t>
            </a:r>
            <a:r>
              <a:rPr sz="1500" spc="284" baseline="19444" dirty="0">
                <a:latin typeface="Arial"/>
                <a:cs typeface="Arial"/>
              </a:rPr>
              <a:t>+</a:t>
            </a:r>
            <a:r>
              <a:rPr sz="1500" spc="-202" baseline="19444" dirty="0">
                <a:latin typeface="Arial"/>
                <a:cs typeface="Arial"/>
              </a:rPr>
              <a:t> </a:t>
            </a:r>
            <a:r>
              <a:rPr sz="1500" i="1" spc="-60" baseline="19444" dirty="0">
                <a:latin typeface="Arial"/>
                <a:cs typeface="Arial"/>
              </a:rPr>
              <a:t>T</a:t>
            </a:r>
            <a:r>
              <a:rPr sz="700" i="1" spc="-40" dirty="0">
                <a:latin typeface="Arial"/>
                <a:cs typeface="Arial"/>
              </a:rPr>
              <a:t>j</a:t>
            </a:r>
            <a:r>
              <a:rPr sz="1050" i="1" spc="-60" baseline="55555" dirty="0">
                <a:latin typeface="メイリオ"/>
                <a:cs typeface="メイリオ"/>
              </a:rPr>
              <a:t>∗</a:t>
            </a:r>
            <a:r>
              <a:rPr sz="700" i="1" spc="-40" dirty="0">
                <a:latin typeface="Arial"/>
                <a:cs typeface="Arial"/>
              </a:rPr>
              <a:t>,user</a:t>
            </a:r>
            <a:r>
              <a:rPr sz="700" i="1" spc="-65" dirty="0">
                <a:latin typeface="Arial"/>
                <a:cs typeface="Arial"/>
              </a:rPr>
              <a:t> </a:t>
            </a:r>
            <a:r>
              <a:rPr sz="1500" i="1" spc="-60" baseline="19444" dirty="0">
                <a:latin typeface="Arial"/>
                <a:cs typeface="Arial"/>
              </a:rPr>
              <a:t>S</a:t>
            </a:r>
            <a:r>
              <a:rPr sz="700" i="1" spc="-40" dirty="0">
                <a:latin typeface="Arial"/>
                <a:cs typeface="Arial"/>
              </a:rPr>
              <a:t>j</a:t>
            </a:r>
            <a:r>
              <a:rPr sz="1050" i="1" spc="-60" baseline="55555" dirty="0">
                <a:latin typeface="メイリオ"/>
                <a:cs typeface="メイリオ"/>
              </a:rPr>
              <a:t>∗</a:t>
            </a:r>
            <a:r>
              <a:rPr sz="700" i="1" spc="-40" dirty="0">
                <a:latin typeface="Arial"/>
                <a:cs typeface="Arial"/>
              </a:rPr>
              <a:t>,user</a:t>
            </a:r>
            <a:r>
              <a:rPr sz="700" i="1" spc="-60" dirty="0">
                <a:latin typeface="Arial"/>
                <a:cs typeface="Arial"/>
              </a:rPr>
              <a:t> </a:t>
            </a:r>
            <a:r>
              <a:rPr sz="1500" spc="75" baseline="19444" dirty="0">
                <a:latin typeface="Arial"/>
                <a:cs typeface="Arial"/>
              </a:rPr>
              <a:t>)</a:t>
            </a:r>
            <a:endParaRPr sz="1500" baseline="19444">
              <a:latin typeface="Arial"/>
              <a:cs typeface="Arial"/>
            </a:endParaRPr>
          </a:p>
        </p:txBody>
      </p:sp>
      <p:sp>
        <p:nvSpPr>
          <p:cNvPr id="11" name="object 11"/>
          <p:cNvSpPr txBox="1"/>
          <p:nvPr/>
        </p:nvSpPr>
        <p:spPr>
          <a:xfrm>
            <a:off x="321894" y="1988177"/>
            <a:ext cx="703580" cy="468630"/>
          </a:xfrm>
          <a:prstGeom prst="rect">
            <a:avLst/>
          </a:prstGeom>
        </p:spPr>
        <p:txBody>
          <a:bodyPr vert="horz" wrap="square" lIns="0" tIns="12065" rIns="0" bIns="0" rtlCol="0">
            <a:spAutoFit/>
          </a:bodyPr>
          <a:lstStyle/>
          <a:p>
            <a:pPr marL="38100">
              <a:lnSpc>
                <a:spcPct val="100000"/>
              </a:lnSpc>
              <a:spcBef>
                <a:spcPts val="95"/>
              </a:spcBef>
            </a:pPr>
            <a:r>
              <a:rPr sz="1500" i="1" spc="-44" baseline="19444" dirty="0">
                <a:latin typeface="Arial"/>
                <a:cs typeface="Arial"/>
              </a:rPr>
              <a:t>Tr</a:t>
            </a:r>
            <a:r>
              <a:rPr sz="700" i="1" spc="-30" dirty="0">
                <a:latin typeface="Arial"/>
                <a:cs typeface="Arial"/>
              </a:rPr>
              <a:t>l</a:t>
            </a:r>
            <a:r>
              <a:rPr sz="1050" i="1" spc="-44" baseline="55555" dirty="0">
                <a:latin typeface="メイリオ"/>
                <a:cs typeface="メイリオ"/>
              </a:rPr>
              <a:t>∗</a:t>
            </a:r>
            <a:r>
              <a:rPr sz="700" i="1" spc="-30" dirty="0">
                <a:latin typeface="Arial"/>
                <a:cs typeface="Arial"/>
              </a:rPr>
              <a:t>ocal,inet</a:t>
            </a:r>
            <a:r>
              <a:rPr sz="700" i="1" spc="105" dirty="0">
                <a:latin typeface="Arial"/>
                <a:cs typeface="Arial"/>
              </a:rPr>
              <a:t> </a:t>
            </a:r>
            <a:r>
              <a:rPr sz="1500" spc="284" baseline="19444" dirty="0">
                <a:latin typeface="Arial"/>
                <a:cs typeface="Arial"/>
              </a:rPr>
              <a:t>=</a:t>
            </a:r>
            <a:endParaRPr sz="1500" baseline="19444">
              <a:latin typeface="Arial"/>
              <a:cs typeface="Arial"/>
            </a:endParaRPr>
          </a:p>
          <a:p>
            <a:pPr marL="38100">
              <a:lnSpc>
                <a:spcPct val="100000"/>
              </a:lnSpc>
              <a:spcBef>
                <a:spcPts val="1095"/>
              </a:spcBef>
            </a:pPr>
            <a:r>
              <a:rPr sz="1500" i="1" spc="-187" baseline="19444" dirty="0">
                <a:latin typeface="Arial"/>
                <a:cs typeface="Arial"/>
              </a:rPr>
              <a:t>T</a:t>
            </a:r>
            <a:r>
              <a:rPr sz="1500" i="1" spc="-7" baseline="19444" dirty="0">
                <a:latin typeface="Arial"/>
                <a:cs typeface="Arial"/>
              </a:rPr>
              <a:t>r</a:t>
            </a:r>
            <a:r>
              <a:rPr sz="700" i="1" spc="-245" dirty="0">
                <a:latin typeface="Arial"/>
                <a:cs typeface="Arial"/>
              </a:rPr>
              <a:t>c</a:t>
            </a:r>
            <a:r>
              <a:rPr sz="1050" i="1" spc="-277" baseline="55555" dirty="0">
                <a:latin typeface="メイリオ"/>
                <a:cs typeface="メイリオ"/>
              </a:rPr>
              <a:t>∗</a:t>
            </a:r>
            <a:r>
              <a:rPr sz="700" i="1" spc="15" dirty="0">
                <a:latin typeface="Arial"/>
                <a:cs typeface="Arial"/>
              </a:rPr>
              <a:t>loud</a:t>
            </a:r>
            <a:r>
              <a:rPr sz="700" i="1" spc="-125" dirty="0">
                <a:latin typeface="Arial"/>
                <a:cs typeface="Arial"/>
              </a:rPr>
              <a:t> </a:t>
            </a:r>
            <a:r>
              <a:rPr sz="700" i="1" spc="5" dirty="0">
                <a:latin typeface="Arial"/>
                <a:cs typeface="Arial"/>
              </a:rPr>
              <a:t>,</a:t>
            </a:r>
            <a:r>
              <a:rPr sz="700" i="1" spc="15" dirty="0">
                <a:latin typeface="Arial"/>
                <a:cs typeface="Arial"/>
              </a:rPr>
              <a:t>inet</a:t>
            </a:r>
            <a:r>
              <a:rPr sz="700" i="1" spc="-80" dirty="0">
                <a:latin typeface="Arial"/>
                <a:cs typeface="Arial"/>
              </a:rPr>
              <a:t> </a:t>
            </a:r>
            <a:r>
              <a:rPr sz="1500" spc="284" baseline="19444" dirty="0">
                <a:latin typeface="Arial"/>
                <a:cs typeface="Arial"/>
              </a:rPr>
              <a:t>=</a:t>
            </a:r>
            <a:endParaRPr sz="1500" baseline="19444">
              <a:latin typeface="Arial"/>
              <a:cs typeface="Arial"/>
            </a:endParaRPr>
          </a:p>
        </p:txBody>
      </p:sp>
      <p:sp>
        <p:nvSpPr>
          <p:cNvPr id="12" name="object 12"/>
          <p:cNvSpPr txBox="1"/>
          <p:nvPr/>
        </p:nvSpPr>
        <p:spPr>
          <a:xfrm>
            <a:off x="1249260" y="2246889"/>
            <a:ext cx="11620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Times New Roman"/>
                <a:cs typeface="Times New Roman"/>
              </a:rPr>
              <a:t>∑</a:t>
            </a:r>
            <a:endParaRPr sz="1000">
              <a:latin typeface="Times New Roman"/>
              <a:cs typeface="Times New Roman"/>
            </a:endParaRPr>
          </a:p>
        </p:txBody>
      </p:sp>
      <p:sp>
        <p:nvSpPr>
          <p:cNvPr id="13" name="object 13"/>
          <p:cNvSpPr txBox="1"/>
          <p:nvPr/>
        </p:nvSpPr>
        <p:spPr>
          <a:xfrm>
            <a:off x="2771470" y="2246889"/>
            <a:ext cx="11620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Times New Roman"/>
                <a:cs typeface="Times New Roman"/>
              </a:rPr>
              <a:t>∑</a:t>
            </a:r>
            <a:endParaRPr sz="1000">
              <a:latin typeface="Times New Roman"/>
              <a:cs typeface="Times New Roman"/>
            </a:endParaRPr>
          </a:p>
        </p:txBody>
      </p:sp>
      <p:sp>
        <p:nvSpPr>
          <p:cNvPr id="14" name="object 14"/>
          <p:cNvSpPr txBox="1"/>
          <p:nvPr/>
        </p:nvSpPr>
        <p:spPr>
          <a:xfrm>
            <a:off x="936244" y="2405782"/>
            <a:ext cx="2084070" cy="137795"/>
          </a:xfrm>
          <a:prstGeom prst="rect">
            <a:avLst/>
          </a:prstGeom>
        </p:spPr>
        <p:txBody>
          <a:bodyPr vert="horz" wrap="square" lIns="0" tIns="17145" rIns="0" bIns="0" rtlCol="0">
            <a:spAutoFit/>
          </a:bodyPr>
          <a:lstStyle/>
          <a:p>
            <a:pPr marL="50800">
              <a:lnSpc>
                <a:spcPct val="100000"/>
              </a:lnSpc>
              <a:spcBef>
                <a:spcPts val="135"/>
              </a:spcBef>
              <a:tabLst>
                <a:tab pos="1739264" algn="l"/>
              </a:tabLst>
            </a:pPr>
            <a:r>
              <a:rPr sz="1050" i="1" spc="7" baseline="15873" dirty="0">
                <a:latin typeface="Arial"/>
                <a:cs typeface="Arial"/>
              </a:rPr>
              <a:t>C</a:t>
            </a:r>
            <a:r>
              <a:rPr sz="600" i="1" spc="5" dirty="0">
                <a:latin typeface="Arial"/>
                <a:cs typeface="Arial"/>
              </a:rPr>
              <a:t>i,cloud</a:t>
            </a:r>
            <a:r>
              <a:rPr sz="600" i="1" spc="-50" dirty="0">
                <a:latin typeface="Arial"/>
                <a:cs typeface="Arial"/>
              </a:rPr>
              <a:t> </a:t>
            </a:r>
            <a:r>
              <a:rPr sz="1050" i="1" spc="7" baseline="15873" dirty="0">
                <a:latin typeface="Arial"/>
                <a:cs typeface="Arial"/>
              </a:rPr>
              <a:t>,C</a:t>
            </a:r>
            <a:r>
              <a:rPr sz="600" i="1" spc="5" dirty="0">
                <a:latin typeface="Arial"/>
                <a:cs typeface="Arial"/>
              </a:rPr>
              <a:t>j,cloud	</a:t>
            </a:r>
            <a:r>
              <a:rPr sz="1050" i="1" spc="7" baseline="15873" dirty="0">
                <a:latin typeface="Arial"/>
                <a:cs typeface="Arial"/>
              </a:rPr>
              <a:t>C</a:t>
            </a:r>
            <a:r>
              <a:rPr sz="600" i="1" spc="5" dirty="0">
                <a:latin typeface="Arial"/>
                <a:cs typeface="Arial"/>
              </a:rPr>
              <a:t>j,cloud</a:t>
            </a:r>
            <a:endParaRPr sz="600">
              <a:latin typeface="Arial"/>
              <a:cs typeface="Arial"/>
            </a:endParaRPr>
          </a:p>
        </p:txBody>
      </p:sp>
      <p:sp>
        <p:nvSpPr>
          <p:cNvPr id="15" name="object 15"/>
          <p:cNvSpPr txBox="1"/>
          <p:nvPr/>
        </p:nvSpPr>
        <p:spPr>
          <a:xfrm>
            <a:off x="1576285" y="2279515"/>
            <a:ext cx="3027680" cy="177800"/>
          </a:xfrm>
          <a:prstGeom prst="rect">
            <a:avLst/>
          </a:prstGeom>
        </p:spPr>
        <p:txBody>
          <a:bodyPr vert="horz" wrap="square" lIns="0" tIns="12065" rIns="0" bIns="0" rtlCol="0">
            <a:spAutoFit/>
          </a:bodyPr>
          <a:lstStyle/>
          <a:p>
            <a:pPr marL="50800">
              <a:lnSpc>
                <a:spcPct val="100000"/>
              </a:lnSpc>
              <a:spcBef>
                <a:spcPts val="95"/>
              </a:spcBef>
              <a:tabLst>
                <a:tab pos="1405890" algn="l"/>
              </a:tabLst>
            </a:pPr>
            <a:r>
              <a:rPr sz="1500" spc="-75" baseline="19444" dirty="0">
                <a:latin typeface="Arial"/>
                <a:cs typeface="Arial"/>
              </a:rPr>
              <a:t>(</a:t>
            </a:r>
            <a:r>
              <a:rPr sz="1500" i="1" spc="-75" baseline="19444" dirty="0">
                <a:latin typeface="Arial"/>
                <a:cs typeface="Arial"/>
              </a:rPr>
              <a:t>T</a:t>
            </a:r>
            <a:r>
              <a:rPr sz="700" i="1" spc="-50" dirty="0">
                <a:latin typeface="Arial"/>
                <a:cs typeface="Arial"/>
              </a:rPr>
              <a:t>i</a:t>
            </a:r>
            <a:r>
              <a:rPr sz="1050" i="1" spc="-75" baseline="55555" dirty="0">
                <a:latin typeface="メイリオ"/>
                <a:cs typeface="メイリオ"/>
              </a:rPr>
              <a:t>∗</a:t>
            </a:r>
            <a:r>
              <a:rPr sz="700" i="1" spc="-50" dirty="0">
                <a:latin typeface="Arial"/>
                <a:cs typeface="Arial"/>
              </a:rPr>
              <a:t>,j</a:t>
            </a:r>
            <a:r>
              <a:rPr sz="700" i="1" spc="-85" dirty="0">
                <a:latin typeface="Arial"/>
                <a:cs typeface="Arial"/>
              </a:rPr>
              <a:t> </a:t>
            </a:r>
            <a:r>
              <a:rPr sz="1500" i="1" spc="-112" baseline="19444" dirty="0">
                <a:latin typeface="Arial"/>
                <a:cs typeface="Arial"/>
              </a:rPr>
              <a:t>S</a:t>
            </a:r>
            <a:r>
              <a:rPr sz="700" i="1" spc="-75" dirty="0">
                <a:latin typeface="Arial"/>
                <a:cs typeface="Arial"/>
              </a:rPr>
              <a:t>i</a:t>
            </a:r>
            <a:r>
              <a:rPr sz="1050" i="1" spc="-112" baseline="55555" dirty="0">
                <a:latin typeface="メイリオ"/>
                <a:cs typeface="メイリオ"/>
              </a:rPr>
              <a:t>∗</a:t>
            </a:r>
            <a:r>
              <a:rPr sz="700" i="1" spc="-75" dirty="0">
                <a:latin typeface="Arial"/>
                <a:cs typeface="Arial"/>
              </a:rPr>
              <a:t>,j</a:t>
            </a:r>
            <a:r>
              <a:rPr sz="700" i="1" spc="65" dirty="0">
                <a:latin typeface="Arial"/>
                <a:cs typeface="Arial"/>
              </a:rPr>
              <a:t> </a:t>
            </a:r>
            <a:r>
              <a:rPr sz="1500" spc="284" baseline="19444" dirty="0">
                <a:latin typeface="Arial"/>
                <a:cs typeface="Arial"/>
              </a:rPr>
              <a:t>+</a:t>
            </a:r>
            <a:r>
              <a:rPr sz="1500" spc="-195" baseline="19444" dirty="0">
                <a:latin typeface="Arial"/>
                <a:cs typeface="Arial"/>
              </a:rPr>
              <a:t> </a:t>
            </a:r>
            <a:r>
              <a:rPr sz="1500" i="1" spc="-112" baseline="19444" dirty="0">
                <a:latin typeface="Arial"/>
                <a:cs typeface="Arial"/>
              </a:rPr>
              <a:t>T</a:t>
            </a:r>
            <a:r>
              <a:rPr sz="700" i="1" spc="-75" dirty="0">
                <a:latin typeface="Arial"/>
                <a:cs typeface="Arial"/>
              </a:rPr>
              <a:t>j</a:t>
            </a:r>
            <a:r>
              <a:rPr sz="1050" i="1" spc="-112" baseline="55555" dirty="0">
                <a:latin typeface="メイリオ"/>
                <a:cs typeface="メイリオ"/>
              </a:rPr>
              <a:t>∗</a:t>
            </a:r>
            <a:r>
              <a:rPr sz="700" i="1" spc="-75" dirty="0">
                <a:latin typeface="Arial"/>
                <a:cs typeface="Arial"/>
              </a:rPr>
              <a:t>,i</a:t>
            </a:r>
            <a:r>
              <a:rPr sz="700" i="1" spc="-80" dirty="0">
                <a:latin typeface="Arial"/>
                <a:cs typeface="Arial"/>
              </a:rPr>
              <a:t> </a:t>
            </a:r>
            <a:r>
              <a:rPr sz="1500" i="1" spc="-112" baseline="19444" dirty="0">
                <a:latin typeface="Arial"/>
                <a:cs typeface="Arial"/>
              </a:rPr>
              <a:t>S</a:t>
            </a:r>
            <a:r>
              <a:rPr sz="700" i="1" spc="-75" dirty="0">
                <a:latin typeface="Arial"/>
                <a:cs typeface="Arial"/>
              </a:rPr>
              <a:t>j</a:t>
            </a:r>
            <a:r>
              <a:rPr sz="1050" i="1" spc="-112" baseline="55555" dirty="0">
                <a:latin typeface="メイリオ"/>
                <a:cs typeface="メイリオ"/>
              </a:rPr>
              <a:t>∗</a:t>
            </a:r>
            <a:r>
              <a:rPr sz="700" i="1" spc="-75" dirty="0">
                <a:latin typeface="Arial"/>
                <a:cs typeface="Arial"/>
              </a:rPr>
              <a:t>,i</a:t>
            </a:r>
            <a:r>
              <a:rPr sz="700" i="1" spc="-85" dirty="0">
                <a:latin typeface="Arial"/>
                <a:cs typeface="Arial"/>
              </a:rPr>
              <a:t> </a:t>
            </a:r>
            <a:r>
              <a:rPr sz="1500" spc="75" baseline="19444" dirty="0">
                <a:latin typeface="Arial"/>
                <a:cs typeface="Arial"/>
              </a:rPr>
              <a:t>)</a:t>
            </a:r>
            <a:r>
              <a:rPr sz="1500" spc="-195" baseline="19444" dirty="0">
                <a:latin typeface="Arial"/>
                <a:cs typeface="Arial"/>
              </a:rPr>
              <a:t> </a:t>
            </a:r>
            <a:r>
              <a:rPr sz="1500" spc="284" baseline="19444" dirty="0">
                <a:latin typeface="Arial"/>
                <a:cs typeface="Arial"/>
              </a:rPr>
              <a:t>+	</a:t>
            </a:r>
            <a:r>
              <a:rPr sz="1500" spc="-75" baseline="19444" dirty="0">
                <a:latin typeface="Arial"/>
                <a:cs typeface="Arial"/>
              </a:rPr>
              <a:t>(</a:t>
            </a:r>
            <a:r>
              <a:rPr sz="1500" i="1" spc="-75" baseline="19444" dirty="0">
                <a:latin typeface="Arial"/>
                <a:cs typeface="Arial"/>
              </a:rPr>
              <a:t>T</a:t>
            </a:r>
            <a:r>
              <a:rPr sz="700" i="1" spc="-50" dirty="0">
                <a:latin typeface="Arial"/>
                <a:cs typeface="Arial"/>
              </a:rPr>
              <a:t>u</a:t>
            </a:r>
            <a:r>
              <a:rPr sz="1050" i="1" spc="-75" baseline="55555" dirty="0">
                <a:latin typeface="メイリオ"/>
                <a:cs typeface="メイリオ"/>
              </a:rPr>
              <a:t>∗</a:t>
            </a:r>
            <a:r>
              <a:rPr sz="700" i="1" spc="-50" dirty="0">
                <a:latin typeface="Arial"/>
                <a:cs typeface="Arial"/>
              </a:rPr>
              <a:t>ser</a:t>
            </a:r>
            <a:r>
              <a:rPr sz="700" i="1" spc="-114" dirty="0">
                <a:latin typeface="Arial"/>
                <a:cs typeface="Arial"/>
              </a:rPr>
              <a:t> </a:t>
            </a:r>
            <a:r>
              <a:rPr sz="700" i="1" spc="5" dirty="0">
                <a:latin typeface="Arial"/>
                <a:cs typeface="Arial"/>
              </a:rPr>
              <a:t>,j</a:t>
            </a:r>
            <a:r>
              <a:rPr sz="700" i="1" spc="-80" dirty="0">
                <a:latin typeface="Arial"/>
                <a:cs typeface="Arial"/>
              </a:rPr>
              <a:t> </a:t>
            </a:r>
            <a:r>
              <a:rPr sz="1500" i="1" spc="-97" baseline="19444" dirty="0">
                <a:latin typeface="Arial"/>
                <a:cs typeface="Arial"/>
              </a:rPr>
              <a:t>S</a:t>
            </a:r>
            <a:r>
              <a:rPr sz="700" i="1" spc="-65" dirty="0">
                <a:latin typeface="Arial"/>
                <a:cs typeface="Arial"/>
              </a:rPr>
              <a:t>u</a:t>
            </a:r>
            <a:r>
              <a:rPr sz="1050" i="1" spc="-97" baseline="55555" dirty="0">
                <a:latin typeface="メイリオ"/>
                <a:cs typeface="メイリオ"/>
              </a:rPr>
              <a:t>∗</a:t>
            </a:r>
            <a:r>
              <a:rPr sz="700" i="1" spc="-65" dirty="0">
                <a:latin typeface="Arial"/>
                <a:cs typeface="Arial"/>
              </a:rPr>
              <a:t>ser</a:t>
            </a:r>
            <a:r>
              <a:rPr sz="700" i="1" spc="-114" dirty="0">
                <a:latin typeface="Arial"/>
                <a:cs typeface="Arial"/>
              </a:rPr>
              <a:t> </a:t>
            </a:r>
            <a:r>
              <a:rPr sz="700" i="1" spc="5" dirty="0">
                <a:latin typeface="Arial"/>
                <a:cs typeface="Arial"/>
              </a:rPr>
              <a:t>,j</a:t>
            </a:r>
            <a:r>
              <a:rPr sz="700" i="1" spc="65" dirty="0">
                <a:latin typeface="Arial"/>
                <a:cs typeface="Arial"/>
              </a:rPr>
              <a:t> </a:t>
            </a:r>
            <a:r>
              <a:rPr sz="1500" spc="284" baseline="19444" dirty="0">
                <a:latin typeface="Arial"/>
                <a:cs typeface="Arial"/>
              </a:rPr>
              <a:t>+</a:t>
            </a:r>
            <a:r>
              <a:rPr sz="1500" spc="-202" baseline="19444" dirty="0">
                <a:latin typeface="Arial"/>
                <a:cs typeface="Arial"/>
              </a:rPr>
              <a:t> </a:t>
            </a:r>
            <a:r>
              <a:rPr sz="1500" i="1" spc="-60" baseline="19444" dirty="0">
                <a:latin typeface="Arial"/>
                <a:cs typeface="Arial"/>
              </a:rPr>
              <a:t>T</a:t>
            </a:r>
            <a:r>
              <a:rPr sz="700" i="1" spc="-40" dirty="0">
                <a:latin typeface="Arial"/>
                <a:cs typeface="Arial"/>
              </a:rPr>
              <a:t>j</a:t>
            </a:r>
            <a:r>
              <a:rPr sz="1050" i="1" spc="-60" baseline="55555" dirty="0">
                <a:latin typeface="メイリオ"/>
                <a:cs typeface="メイリオ"/>
              </a:rPr>
              <a:t>∗</a:t>
            </a:r>
            <a:r>
              <a:rPr sz="700" i="1" spc="-40" dirty="0">
                <a:latin typeface="Arial"/>
                <a:cs typeface="Arial"/>
              </a:rPr>
              <a:t>,user</a:t>
            </a:r>
            <a:r>
              <a:rPr sz="700" i="1" spc="-65" dirty="0">
                <a:latin typeface="Arial"/>
                <a:cs typeface="Arial"/>
              </a:rPr>
              <a:t> </a:t>
            </a:r>
            <a:r>
              <a:rPr sz="1500" i="1" spc="-60" baseline="19444" dirty="0">
                <a:latin typeface="Arial"/>
                <a:cs typeface="Arial"/>
              </a:rPr>
              <a:t>S</a:t>
            </a:r>
            <a:r>
              <a:rPr sz="700" i="1" spc="-40" dirty="0">
                <a:latin typeface="Arial"/>
                <a:cs typeface="Arial"/>
              </a:rPr>
              <a:t>j</a:t>
            </a:r>
            <a:r>
              <a:rPr sz="1050" i="1" spc="-60" baseline="55555" dirty="0">
                <a:latin typeface="メイリオ"/>
                <a:cs typeface="メイリオ"/>
              </a:rPr>
              <a:t>∗</a:t>
            </a:r>
            <a:r>
              <a:rPr sz="700" i="1" spc="-40" dirty="0">
                <a:latin typeface="Arial"/>
                <a:cs typeface="Arial"/>
              </a:rPr>
              <a:t>,user</a:t>
            </a:r>
            <a:r>
              <a:rPr sz="700" i="1" spc="-60" dirty="0">
                <a:latin typeface="Arial"/>
                <a:cs typeface="Arial"/>
              </a:rPr>
              <a:t> </a:t>
            </a:r>
            <a:r>
              <a:rPr sz="1500" spc="75" baseline="19444" dirty="0">
                <a:latin typeface="Arial"/>
                <a:cs typeface="Arial"/>
              </a:rPr>
              <a:t>)</a:t>
            </a:r>
            <a:endParaRPr sz="1500" baseline="19444">
              <a:latin typeface="Arial"/>
              <a:cs typeface="Arial"/>
            </a:endParaRPr>
          </a:p>
        </p:txBody>
      </p:sp>
      <p:sp>
        <p:nvSpPr>
          <p:cNvPr id="16" name="object 16"/>
          <p:cNvSpPr txBox="1"/>
          <p:nvPr/>
        </p:nvSpPr>
        <p:spPr>
          <a:xfrm>
            <a:off x="347294" y="2528905"/>
            <a:ext cx="321310"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costs</a:t>
            </a:r>
            <a:endParaRPr sz="1000">
              <a:latin typeface="Arial"/>
              <a:cs typeface="Arial"/>
            </a:endParaRPr>
          </a:p>
        </p:txBody>
      </p:sp>
      <p:sp>
        <p:nvSpPr>
          <p:cNvPr id="17" name="object 17"/>
          <p:cNvSpPr txBox="1"/>
          <p:nvPr/>
        </p:nvSpPr>
        <p:spPr>
          <a:xfrm>
            <a:off x="850531" y="2553022"/>
            <a:ext cx="3327400" cy="177800"/>
          </a:xfrm>
          <a:prstGeom prst="rect">
            <a:avLst/>
          </a:prstGeom>
        </p:spPr>
        <p:txBody>
          <a:bodyPr vert="horz" wrap="square" lIns="0" tIns="12065" rIns="0" bIns="0" rtlCol="0">
            <a:spAutoFit/>
          </a:bodyPr>
          <a:lstStyle/>
          <a:p>
            <a:pPr marL="38100">
              <a:lnSpc>
                <a:spcPct val="100000"/>
              </a:lnSpc>
              <a:spcBef>
                <a:spcPts val="95"/>
              </a:spcBef>
            </a:pPr>
            <a:r>
              <a:rPr sz="1500" spc="37" baseline="11111" dirty="0">
                <a:latin typeface="Arial"/>
                <a:cs typeface="Arial"/>
              </a:rPr>
              <a:t>=</a:t>
            </a:r>
            <a:r>
              <a:rPr sz="1500" i="1" spc="37" baseline="11111" dirty="0">
                <a:latin typeface="Arial"/>
                <a:cs typeface="Arial"/>
              </a:rPr>
              <a:t>cost</a:t>
            </a:r>
            <a:r>
              <a:rPr sz="700" i="1" spc="25" dirty="0">
                <a:latin typeface="Arial"/>
                <a:cs typeface="Arial"/>
              </a:rPr>
              <a:t>local,inet</a:t>
            </a:r>
            <a:r>
              <a:rPr sz="700" i="1" spc="-80" dirty="0">
                <a:latin typeface="Arial"/>
                <a:cs typeface="Arial"/>
              </a:rPr>
              <a:t> </a:t>
            </a:r>
            <a:r>
              <a:rPr sz="1500" spc="-37" baseline="11111" dirty="0">
                <a:latin typeface="Arial"/>
                <a:cs typeface="Arial"/>
              </a:rPr>
              <a:t>(</a:t>
            </a:r>
            <a:r>
              <a:rPr sz="1500" i="1" spc="-37" baseline="11111" dirty="0">
                <a:latin typeface="Arial"/>
                <a:cs typeface="Arial"/>
              </a:rPr>
              <a:t>Tr</a:t>
            </a:r>
            <a:r>
              <a:rPr sz="1050" i="1" spc="-37" baseline="-11904" dirty="0">
                <a:latin typeface="Arial"/>
                <a:cs typeface="Arial"/>
              </a:rPr>
              <a:t>l</a:t>
            </a:r>
            <a:r>
              <a:rPr sz="1050" i="1" spc="-37" baseline="43650" dirty="0">
                <a:latin typeface="メイリオ"/>
                <a:cs typeface="メイリオ"/>
              </a:rPr>
              <a:t>∗</a:t>
            </a:r>
            <a:r>
              <a:rPr sz="1050" i="1" spc="-37" baseline="-11904" dirty="0">
                <a:latin typeface="Arial"/>
                <a:cs typeface="Arial"/>
              </a:rPr>
              <a:t>ocal,inet</a:t>
            </a:r>
            <a:r>
              <a:rPr sz="1050" i="1" spc="97" baseline="-11904" dirty="0">
                <a:latin typeface="Arial"/>
                <a:cs typeface="Arial"/>
              </a:rPr>
              <a:t> </a:t>
            </a:r>
            <a:r>
              <a:rPr sz="1500" i="1" spc="-44" baseline="11111" dirty="0">
                <a:latin typeface="メイリオ"/>
                <a:cs typeface="メイリオ"/>
              </a:rPr>
              <a:t>−</a:t>
            </a:r>
            <a:r>
              <a:rPr sz="1500" i="1" spc="-307" baseline="11111" dirty="0">
                <a:latin typeface="メイリオ"/>
                <a:cs typeface="メイリオ"/>
              </a:rPr>
              <a:t> </a:t>
            </a:r>
            <a:r>
              <a:rPr sz="1500" i="1" spc="7" baseline="11111" dirty="0">
                <a:latin typeface="Arial"/>
                <a:cs typeface="Arial"/>
              </a:rPr>
              <a:t>Tr</a:t>
            </a:r>
            <a:r>
              <a:rPr sz="700" i="1" spc="5" dirty="0">
                <a:latin typeface="Arial"/>
                <a:cs typeface="Arial"/>
              </a:rPr>
              <a:t>local,inet</a:t>
            </a:r>
            <a:r>
              <a:rPr sz="700" i="1" spc="-80" dirty="0">
                <a:latin typeface="Arial"/>
                <a:cs typeface="Arial"/>
              </a:rPr>
              <a:t> </a:t>
            </a:r>
            <a:r>
              <a:rPr sz="1500" spc="75" baseline="11111" dirty="0">
                <a:latin typeface="Arial"/>
                <a:cs typeface="Arial"/>
              </a:rPr>
              <a:t>)</a:t>
            </a:r>
            <a:r>
              <a:rPr sz="1500" spc="-202" baseline="11111" dirty="0">
                <a:latin typeface="Arial"/>
                <a:cs typeface="Arial"/>
              </a:rPr>
              <a:t> </a:t>
            </a:r>
            <a:r>
              <a:rPr sz="1500" spc="284" baseline="11111" dirty="0">
                <a:latin typeface="Arial"/>
                <a:cs typeface="Arial"/>
              </a:rPr>
              <a:t>+</a:t>
            </a:r>
            <a:r>
              <a:rPr sz="1500" spc="-209" baseline="11111" dirty="0">
                <a:latin typeface="Arial"/>
                <a:cs typeface="Arial"/>
              </a:rPr>
              <a:t> </a:t>
            </a:r>
            <a:r>
              <a:rPr sz="1500" i="1" spc="22" baseline="11111" dirty="0">
                <a:latin typeface="Arial"/>
                <a:cs typeface="Arial"/>
              </a:rPr>
              <a:t>cost</a:t>
            </a:r>
            <a:r>
              <a:rPr sz="700" i="1" spc="15" dirty="0">
                <a:latin typeface="Arial"/>
                <a:cs typeface="Arial"/>
              </a:rPr>
              <a:t>cloud,inet</a:t>
            </a:r>
            <a:r>
              <a:rPr sz="700" i="1" spc="-80" dirty="0">
                <a:latin typeface="Arial"/>
                <a:cs typeface="Arial"/>
              </a:rPr>
              <a:t> </a:t>
            </a:r>
            <a:r>
              <a:rPr sz="1500" i="1" spc="-89" baseline="11111" dirty="0">
                <a:latin typeface="Arial"/>
                <a:cs typeface="Arial"/>
              </a:rPr>
              <a:t>Tr</a:t>
            </a:r>
            <a:r>
              <a:rPr sz="1050" i="1" spc="-89" baseline="-11904" dirty="0">
                <a:latin typeface="Arial"/>
                <a:cs typeface="Arial"/>
              </a:rPr>
              <a:t>c</a:t>
            </a:r>
            <a:r>
              <a:rPr sz="1050" i="1" spc="-89" baseline="43650" dirty="0">
                <a:latin typeface="メイリオ"/>
                <a:cs typeface="メイリオ"/>
              </a:rPr>
              <a:t>∗</a:t>
            </a:r>
            <a:r>
              <a:rPr sz="1050" i="1" spc="-89" baseline="-11904" dirty="0">
                <a:latin typeface="Arial"/>
                <a:cs typeface="Arial"/>
              </a:rPr>
              <a:t>loud</a:t>
            </a:r>
            <a:r>
              <a:rPr sz="1050" i="1" spc="-179" baseline="-11904" dirty="0">
                <a:latin typeface="Arial"/>
                <a:cs typeface="Arial"/>
              </a:rPr>
              <a:t> </a:t>
            </a:r>
            <a:r>
              <a:rPr sz="1050" i="1" spc="15" baseline="-11904" dirty="0">
                <a:latin typeface="Arial"/>
                <a:cs typeface="Arial"/>
              </a:rPr>
              <a:t>,inet</a:t>
            </a:r>
            <a:endParaRPr sz="1050" baseline="-11904">
              <a:latin typeface="Arial"/>
              <a:cs typeface="Arial"/>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457783" y="716"/>
            <a:ext cx="1083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Distributed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information systems</a:t>
            </a:r>
            <a:endParaRPr sz="600">
              <a:latin typeface="Arial"/>
              <a:cs typeface="Arial"/>
            </a:endParaRPr>
          </a:p>
        </p:txBody>
      </p:sp>
      <p:sp>
        <p:nvSpPr>
          <p:cNvPr id="4" name="object 4"/>
          <p:cNvSpPr txBox="1"/>
          <p:nvPr/>
        </p:nvSpPr>
        <p:spPr>
          <a:xfrm>
            <a:off x="95300" y="188846"/>
            <a:ext cx="3926840" cy="258508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Integrating</a:t>
            </a:r>
            <a:r>
              <a:rPr sz="1400" spc="-75" dirty="0">
                <a:solidFill>
                  <a:srgbClr val="3333B2"/>
                </a:solidFill>
                <a:latin typeface="Arial"/>
                <a:cs typeface="Arial"/>
              </a:rPr>
              <a:t> </a:t>
            </a:r>
            <a:r>
              <a:rPr sz="1400" spc="15" dirty="0">
                <a:solidFill>
                  <a:srgbClr val="3333B2"/>
                </a:solidFill>
                <a:latin typeface="Arial"/>
                <a:cs typeface="Arial"/>
              </a:rPr>
              <a:t>applications</a:t>
            </a:r>
            <a:endParaRPr sz="1400" dirty="0">
              <a:latin typeface="Arial"/>
              <a:cs typeface="Arial"/>
            </a:endParaRPr>
          </a:p>
          <a:p>
            <a:pPr>
              <a:lnSpc>
                <a:spcPct val="100000"/>
              </a:lnSpc>
              <a:spcBef>
                <a:spcPts val="45"/>
              </a:spcBef>
            </a:pPr>
            <a:endParaRPr sz="2450" dirty="0">
              <a:latin typeface="Arial"/>
              <a:cs typeface="Arial"/>
            </a:endParaRPr>
          </a:p>
          <a:p>
            <a:pPr marL="264160">
              <a:lnSpc>
                <a:spcPts val="1410"/>
              </a:lnSpc>
            </a:pPr>
            <a:r>
              <a:rPr sz="1200" spc="-5" dirty="0">
                <a:solidFill>
                  <a:srgbClr val="3333B2"/>
                </a:solidFill>
                <a:latin typeface="Arial"/>
                <a:cs typeface="Arial"/>
              </a:rPr>
              <a:t>Situation</a:t>
            </a:r>
            <a:endParaRPr sz="1200" dirty="0">
              <a:latin typeface="Arial"/>
              <a:cs typeface="Arial"/>
            </a:endParaRPr>
          </a:p>
          <a:p>
            <a:pPr marL="264160" marR="73660">
              <a:lnSpc>
                <a:spcPts val="1200"/>
              </a:lnSpc>
              <a:spcBef>
                <a:spcPts val="15"/>
              </a:spcBef>
            </a:pPr>
            <a:r>
              <a:rPr sz="1000" spc="-5" dirty="0">
                <a:latin typeface="Arial"/>
                <a:cs typeface="Arial"/>
              </a:rPr>
              <a:t>Organizations</a:t>
            </a:r>
            <a:r>
              <a:rPr sz="1000" dirty="0">
                <a:latin typeface="Arial"/>
                <a:cs typeface="Arial"/>
              </a:rPr>
              <a:t> </a:t>
            </a:r>
            <a:r>
              <a:rPr sz="1000" spc="-5" dirty="0">
                <a:latin typeface="Arial"/>
                <a:cs typeface="Arial"/>
              </a:rPr>
              <a:t>confronted</a:t>
            </a:r>
            <a:r>
              <a:rPr sz="1000" spc="5" dirty="0">
                <a:latin typeface="Arial"/>
                <a:cs typeface="Arial"/>
              </a:rPr>
              <a:t> </a:t>
            </a:r>
            <a:r>
              <a:rPr sz="1000" spc="-5" dirty="0">
                <a:latin typeface="Arial"/>
                <a:cs typeface="Arial"/>
              </a:rPr>
              <a:t>with</a:t>
            </a:r>
            <a:r>
              <a:rPr sz="1000" spc="5" dirty="0">
                <a:latin typeface="Arial"/>
                <a:cs typeface="Arial"/>
              </a:rPr>
              <a:t> </a:t>
            </a:r>
            <a:r>
              <a:rPr sz="1000" spc="-10" dirty="0">
                <a:latin typeface="Arial"/>
                <a:cs typeface="Arial"/>
              </a:rPr>
              <a:t>many</a:t>
            </a:r>
            <a:r>
              <a:rPr sz="1000" spc="5" dirty="0">
                <a:latin typeface="Arial"/>
                <a:cs typeface="Arial"/>
              </a:rPr>
              <a:t> </a:t>
            </a:r>
            <a:r>
              <a:rPr sz="1000" spc="-5" dirty="0">
                <a:solidFill>
                  <a:srgbClr val="0000FA"/>
                </a:solidFill>
                <a:latin typeface="Arial"/>
                <a:cs typeface="Arial"/>
              </a:rPr>
              <a:t>networked</a:t>
            </a:r>
            <a:r>
              <a:rPr sz="1000" spc="5" dirty="0">
                <a:solidFill>
                  <a:srgbClr val="0000FA"/>
                </a:solidFill>
                <a:latin typeface="Arial"/>
                <a:cs typeface="Arial"/>
              </a:rPr>
              <a:t> </a:t>
            </a:r>
            <a:r>
              <a:rPr sz="1000" spc="-5" dirty="0">
                <a:solidFill>
                  <a:srgbClr val="0000FA"/>
                </a:solidFill>
                <a:latin typeface="Arial"/>
                <a:cs typeface="Arial"/>
              </a:rPr>
              <a:t>applications</a:t>
            </a:r>
            <a:r>
              <a:rPr sz="1000" spc="-5" dirty="0">
                <a:latin typeface="Arial"/>
                <a:cs typeface="Arial"/>
              </a:rPr>
              <a:t>,</a:t>
            </a:r>
            <a:r>
              <a:rPr sz="1000" dirty="0">
                <a:latin typeface="Arial"/>
                <a:cs typeface="Arial"/>
              </a:rPr>
              <a:t> </a:t>
            </a:r>
            <a:r>
              <a:rPr sz="1000" spc="-10" dirty="0">
                <a:latin typeface="Arial"/>
                <a:cs typeface="Arial"/>
              </a:rPr>
              <a:t>but </a:t>
            </a:r>
            <a:r>
              <a:rPr sz="1000" spc="-260" dirty="0">
                <a:latin typeface="Arial"/>
                <a:cs typeface="Arial"/>
              </a:rPr>
              <a:t> </a:t>
            </a:r>
            <a:r>
              <a:rPr sz="1000" spc="-10" dirty="0">
                <a:latin typeface="Arial"/>
                <a:cs typeface="Arial"/>
              </a:rPr>
              <a:t>achieving</a:t>
            </a:r>
            <a:r>
              <a:rPr sz="1000" spc="-5" dirty="0">
                <a:latin typeface="Arial"/>
                <a:cs typeface="Arial"/>
              </a:rPr>
              <a:t> interoperability </a:t>
            </a:r>
            <a:r>
              <a:rPr sz="1000" spc="-10" dirty="0">
                <a:latin typeface="Arial"/>
                <a:cs typeface="Arial"/>
              </a:rPr>
              <a:t>was</a:t>
            </a:r>
            <a:r>
              <a:rPr sz="1000" spc="-5" dirty="0">
                <a:latin typeface="Arial"/>
                <a:cs typeface="Arial"/>
              </a:rPr>
              <a:t> painful.</a:t>
            </a:r>
            <a:endParaRPr sz="1000" dirty="0">
              <a:latin typeface="Arial"/>
              <a:cs typeface="Arial"/>
            </a:endParaRPr>
          </a:p>
          <a:p>
            <a:pPr marL="264160">
              <a:lnSpc>
                <a:spcPct val="100000"/>
              </a:lnSpc>
              <a:spcBef>
                <a:spcPts val="645"/>
              </a:spcBef>
            </a:pPr>
            <a:r>
              <a:rPr sz="1200" spc="-5" dirty="0">
                <a:solidFill>
                  <a:srgbClr val="3333B2"/>
                </a:solidFill>
                <a:latin typeface="Arial"/>
                <a:cs typeface="Arial"/>
              </a:rPr>
              <a:t>Basic</a:t>
            </a:r>
            <a:r>
              <a:rPr sz="1200" spc="-35" dirty="0">
                <a:solidFill>
                  <a:srgbClr val="3333B2"/>
                </a:solidFill>
                <a:latin typeface="Arial"/>
                <a:cs typeface="Arial"/>
              </a:rPr>
              <a:t> </a:t>
            </a:r>
            <a:r>
              <a:rPr sz="1200" spc="-5" dirty="0">
                <a:solidFill>
                  <a:srgbClr val="3333B2"/>
                </a:solidFill>
                <a:latin typeface="Arial"/>
                <a:cs typeface="Arial"/>
              </a:rPr>
              <a:t>approach</a:t>
            </a:r>
            <a:endParaRPr sz="1200" dirty="0">
              <a:latin typeface="Arial"/>
              <a:cs typeface="Arial"/>
            </a:endParaRPr>
          </a:p>
          <a:p>
            <a:pPr marL="264160" marR="5080" indent="-4445">
              <a:lnSpc>
                <a:spcPct val="100000"/>
              </a:lnSpc>
              <a:spcBef>
                <a:spcPts val="175"/>
              </a:spcBef>
            </a:pPr>
            <a:r>
              <a:rPr sz="1000" spc="-5" dirty="0">
                <a:latin typeface="Arial"/>
                <a:cs typeface="Arial"/>
              </a:rPr>
              <a:t>A networked application</a:t>
            </a:r>
            <a:r>
              <a:rPr sz="1000" dirty="0">
                <a:latin typeface="Arial"/>
                <a:cs typeface="Arial"/>
              </a:rPr>
              <a:t> </a:t>
            </a:r>
            <a:r>
              <a:rPr sz="1000" spc="-5" dirty="0">
                <a:latin typeface="Arial"/>
                <a:cs typeface="Arial"/>
              </a:rPr>
              <a:t>is one</a:t>
            </a:r>
            <a:r>
              <a:rPr sz="1000" dirty="0">
                <a:latin typeface="Arial"/>
                <a:cs typeface="Arial"/>
              </a:rPr>
              <a:t> </a:t>
            </a:r>
            <a:r>
              <a:rPr sz="1000" spc="-5" dirty="0">
                <a:latin typeface="Arial"/>
                <a:cs typeface="Arial"/>
              </a:rPr>
              <a:t>that </a:t>
            </a:r>
            <a:r>
              <a:rPr sz="1000" dirty="0">
                <a:latin typeface="Arial"/>
                <a:cs typeface="Arial"/>
              </a:rPr>
              <a:t>runs </a:t>
            </a:r>
            <a:r>
              <a:rPr sz="1000" spc="-5" dirty="0">
                <a:latin typeface="Arial"/>
                <a:cs typeface="Arial"/>
              </a:rPr>
              <a:t>on a </a:t>
            </a:r>
            <a:r>
              <a:rPr sz="1000" spc="-5" dirty="0">
                <a:solidFill>
                  <a:srgbClr val="FA0000"/>
                </a:solidFill>
                <a:latin typeface="Arial"/>
                <a:cs typeface="Arial"/>
              </a:rPr>
              <a:t>server</a:t>
            </a:r>
            <a:r>
              <a:rPr sz="1000" dirty="0">
                <a:solidFill>
                  <a:srgbClr val="FA0000"/>
                </a:solidFill>
                <a:latin typeface="Arial"/>
                <a:cs typeface="Arial"/>
              </a:rPr>
              <a:t> </a:t>
            </a:r>
            <a:r>
              <a:rPr sz="1000" spc="-5" dirty="0">
                <a:latin typeface="Arial"/>
                <a:cs typeface="Arial"/>
              </a:rPr>
              <a:t>making its </a:t>
            </a:r>
            <a:r>
              <a:rPr sz="1000" dirty="0">
                <a:latin typeface="Arial"/>
                <a:cs typeface="Arial"/>
              </a:rPr>
              <a:t> services</a:t>
            </a:r>
            <a:r>
              <a:rPr sz="1000" spc="-5" dirty="0">
                <a:latin typeface="Arial"/>
                <a:cs typeface="Arial"/>
              </a:rPr>
              <a:t> </a:t>
            </a:r>
            <a:r>
              <a:rPr sz="1000" spc="-10" dirty="0">
                <a:latin typeface="Arial"/>
                <a:cs typeface="Arial"/>
              </a:rPr>
              <a:t>available</a:t>
            </a:r>
            <a:r>
              <a:rPr sz="1000" dirty="0">
                <a:latin typeface="Arial"/>
                <a:cs typeface="Arial"/>
              </a:rPr>
              <a:t> </a:t>
            </a:r>
            <a:r>
              <a:rPr sz="1000" spc="-5" dirty="0">
                <a:latin typeface="Arial"/>
                <a:cs typeface="Arial"/>
              </a:rPr>
              <a:t>to remote</a:t>
            </a:r>
            <a:r>
              <a:rPr sz="1000" dirty="0">
                <a:latin typeface="Arial"/>
                <a:cs typeface="Arial"/>
              </a:rPr>
              <a:t> </a:t>
            </a:r>
            <a:r>
              <a:rPr sz="1000" spc="-5" dirty="0">
                <a:solidFill>
                  <a:srgbClr val="FA0000"/>
                </a:solidFill>
                <a:latin typeface="Arial"/>
                <a:cs typeface="Arial"/>
              </a:rPr>
              <a:t>clients</a:t>
            </a:r>
            <a:r>
              <a:rPr sz="1000" spc="-5" dirty="0">
                <a:latin typeface="Arial"/>
                <a:cs typeface="Arial"/>
              </a:rPr>
              <a:t>.</a:t>
            </a:r>
            <a:r>
              <a:rPr sz="1000" spc="65" dirty="0">
                <a:latin typeface="Arial"/>
                <a:cs typeface="Arial"/>
              </a:rPr>
              <a:t> </a:t>
            </a:r>
            <a:r>
              <a:rPr sz="1000" spc="-5" dirty="0">
                <a:latin typeface="Arial"/>
                <a:cs typeface="Arial"/>
              </a:rPr>
              <a:t>Simple integration:</a:t>
            </a:r>
            <a:r>
              <a:rPr sz="1000" spc="65" dirty="0">
                <a:latin typeface="Arial"/>
                <a:cs typeface="Arial"/>
              </a:rPr>
              <a:t> </a:t>
            </a:r>
            <a:r>
              <a:rPr sz="1000" spc="-5" dirty="0">
                <a:latin typeface="Arial"/>
                <a:cs typeface="Arial"/>
              </a:rPr>
              <a:t>clients </a:t>
            </a:r>
            <a:r>
              <a:rPr sz="1000" dirty="0">
                <a:latin typeface="Arial"/>
                <a:cs typeface="Arial"/>
              </a:rPr>
              <a:t> </a:t>
            </a:r>
            <a:r>
              <a:rPr sz="1000" spc="-5" dirty="0">
                <a:latin typeface="Arial"/>
                <a:cs typeface="Arial"/>
              </a:rPr>
              <a:t>combine</a:t>
            </a:r>
            <a:r>
              <a:rPr sz="1000" dirty="0">
                <a:latin typeface="Arial"/>
                <a:cs typeface="Arial"/>
              </a:rPr>
              <a:t> </a:t>
            </a:r>
            <a:r>
              <a:rPr sz="1000" spc="-5" dirty="0">
                <a:latin typeface="Arial"/>
                <a:cs typeface="Arial"/>
              </a:rPr>
              <a:t>requests</a:t>
            </a:r>
            <a:r>
              <a:rPr sz="1000" spc="5" dirty="0">
                <a:latin typeface="Arial"/>
                <a:cs typeface="Arial"/>
              </a:rPr>
              <a:t> </a:t>
            </a:r>
            <a:r>
              <a:rPr sz="1000" spc="-15" dirty="0">
                <a:latin typeface="Arial"/>
                <a:cs typeface="Arial"/>
              </a:rPr>
              <a:t>for</a:t>
            </a:r>
            <a:r>
              <a:rPr sz="1000" spc="5" dirty="0">
                <a:latin typeface="Arial"/>
                <a:cs typeface="Arial"/>
              </a:rPr>
              <a:t> </a:t>
            </a:r>
            <a:r>
              <a:rPr sz="1000" spc="-5" dirty="0">
                <a:latin typeface="Arial"/>
                <a:cs typeface="Arial"/>
              </a:rPr>
              <a:t>(different)</a:t>
            </a:r>
            <a:r>
              <a:rPr sz="1000" spc="5" dirty="0">
                <a:latin typeface="Arial"/>
                <a:cs typeface="Arial"/>
              </a:rPr>
              <a:t> </a:t>
            </a:r>
            <a:r>
              <a:rPr sz="1000" spc="-5" dirty="0">
                <a:latin typeface="Arial"/>
                <a:cs typeface="Arial"/>
              </a:rPr>
              <a:t>applications;</a:t>
            </a:r>
            <a:r>
              <a:rPr sz="1000" dirty="0">
                <a:latin typeface="Arial"/>
                <a:cs typeface="Arial"/>
              </a:rPr>
              <a:t> </a:t>
            </a:r>
            <a:r>
              <a:rPr sz="1000" spc="-5" dirty="0">
                <a:latin typeface="Arial"/>
                <a:cs typeface="Arial"/>
              </a:rPr>
              <a:t>send</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off;</a:t>
            </a:r>
            <a:r>
              <a:rPr sz="1000" spc="5" dirty="0">
                <a:latin typeface="Arial"/>
                <a:cs typeface="Arial"/>
              </a:rPr>
              <a:t> </a:t>
            </a:r>
            <a:r>
              <a:rPr sz="1000" spc="-5" dirty="0">
                <a:latin typeface="Arial"/>
                <a:cs typeface="Arial"/>
              </a:rPr>
              <a:t>collect </a:t>
            </a:r>
            <a:r>
              <a:rPr sz="1000" spc="-265" dirty="0">
                <a:latin typeface="Arial"/>
                <a:cs typeface="Arial"/>
              </a:rPr>
              <a:t> </a:t>
            </a:r>
            <a:r>
              <a:rPr sz="1000" spc="-5" dirty="0">
                <a:latin typeface="Arial"/>
                <a:cs typeface="Arial"/>
              </a:rPr>
              <a:t>responses, and present a coherent result</a:t>
            </a:r>
            <a:r>
              <a:rPr sz="1000" dirty="0">
                <a:latin typeface="Arial"/>
                <a:cs typeface="Arial"/>
              </a:rPr>
              <a:t> </a:t>
            </a:r>
            <a:r>
              <a:rPr sz="1000" spc="-5" dirty="0">
                <a:latin typeface="Arial"/>
                <a:cs typeface="Arial"/>
              </a:rPr>
              <a:t>to the </a:t>
            </a:r>
            <a:r>
              <a:rPr sz="1000" spc="-15" dirty="0">
                <a:latin typeface="Arial"/>
                <a:cs typeface="Arial"/>
              </a:rPr>
              <a:t>user.</a:t>
            </a:r>
            <a:endParaRPr sz="1000" dirty="0">
              <a:latin typeface="Arial"/>
              <a:cs typeface="Arial"/>
            </a:endParaRPr>
          </a:p>
          <a:p>
            <a:pPr marL="264160">
              <a:lnSpc>
                <a:spcPct val="100000"/>
              </a:lnSpc>
              <a:spcBef>
                <a:spcPts val="680"/>
              </a:spcBef>
            </a:pPr>
            <a:r>
              <a:rPr sz="1200" spc="-15" dirty="0">
                <a:solidFill>
                  <a:srgbClr val="3333B2"/>
                </a:solidFill>
                <a:latin typeface="Arial"/>
                <a:cs typeface="Arial"/>
              </a:rPr>
              <a:t>Next</a:t>
            </a:r>
            <a:r>
              <a:rPr sz="1200" spc="-45" dirty="0">
                <a:solidFill>
                  <a:srgbClr val="3333B2"/>
                </a:solidFill>
                <a:latin typeface="Arial"/>
                <a:cs typeface="Arial"/>
              </a:rPr>
              <a:t> </a:t>
            </a:r>
            <a:r>
              <a:rPr sz="1200" spc="-5" dirty="0">
                <a:solidFill>
                  <a:srgbClr val="3333B2"/>
                </a:solidFill>
                <a:latin typeface="Arial"/>
                <a:cs typeface="Arial"/>
              </a:rPr>
              <a:t>step</a:t>
            </a:r>
            <a:endParaRPr sz="1200" dirty="0">
              <a:latin typeface="Arial"/>
              <a:cs typeface="Arial"/>
            </a:endParaRPr>
          </a:p>
          <a:p>
            <a:pPr marL="264160" marR="74930" indent="-4445">
              <a:lnSpc>
                <a:spcPct val="100000"/>
              </a:lnSpc>
              <a:spcBef>
                <a:spcPts val="170"/>
              </a:spcBef>
            </a:pPr>
            <a:r>
              <a:rPr sz="1000" spc="-5" dirty="0">
                <a:latin typeface="Arial"/>
                <a:cs typeface="Arial"/>
              </a:rPr>
              <a:t>Allow</a:t>
            </a:r>
            <a:r>
              <a:rPr sz="1000" spc="5" dirty="0">
                <a:latin typeface="Arial"/>
                <a:cs typeface="Arial"/>
              </a:rPr>
              <a:t> </a:t>
            </a:r>
            <a:r>
              <a:rPr sz="1000" spc="-5" dirty="0">
                <a:latin typeface="Arial"/>
                <a:cs typeface="Arial"/>
              </a:rPr>
              <a:t>direct</a:t>
            </a:r>
            <a:r>
              <a:rPr sz="1000" spc="10" dirty="0">
                <a:latin typeface="Arial"/>
                <a:cs typeface="Arial"/>
              </a:rPr>
              <a:t> </a:t>
            </a:r>
            <a:r>
              <a:rPr sz="1000" spc="-5" dirty="0">
                <a:latin typeface="Arial"/>
                <a:cs typeface="Arial"/>
              </a:rPr>
              <a:t>application-to-application</a:t>
            </a:r>
            <a:r>
              <a:rPr sz="1000" spc="5" dirty="0">
                <a:latin typeface="Arial"/>
                <a:cs typeface="Arial"/>
              </a:rPr>
              <a:t> </a:t>
            </a:r>
            <a:r>
              <a:rPr sz="1000" spc="-5" dirty="0">
                <a:latin typeface="Arial"/>
                <a:cs typeface="Arial"/>
              </a:rPr>
              <a:t>communication,</a:t>
            </a:r>
            <a:r>
              <a:rPr sz="1000" spc="10" dirty="0">
                <a:latin typeface="Arial"/>
                <a:cs typeface="Arial"/>
              </a:rPr>
              <a:t> </a:t>
            </a:r>
            <a:r>
              <a:rPr sz="1000" spc="-5" dirty="0">
                <a:latin typeface="Arial"/>
                <a:cs typeface="Arial"/>
              </a:rPr>
              <a:t>leading</a:t>
            </a:r>
            <a:r>
              <a:rPr sz="1000" spc="10" dirty="0">
                <a:latin typeface="Arial"/>
                <a:cs typeface="Arial"/>
              </a:rPr>
              <a:t> </a:t>
            </a:r>
            <a:r>
              <a:rPr sz="1000" spc="-5" dirty="0">
                <a:latin typeface="Arial"/>
                <a:cs typeface="Arial"/>
              </a:rPr>
              <a:t>to </a:t>
            </a:r>
            <a:r>
              <a:rPr sz="1000" spc="-265" dirty="0">
                <a:latin typeface="Arial"/>
                <a:cs typeface="Arial"/>
              </a:rPr>
              <a:t> </a:t>
            </a:r>
            <a:r>
              <a:rPr sz="1000" dirty="0">
                <a:solidFill>
                  <a:srgbClr val="FA0000"/>
                </a:solidFill>
                <a:latin typeface="Arial"/>
                <a:cs typeface="Arial"/>
              </a:rPr>
              <a:t>Enterprise</a:t>
            </a:r>
            <a:r>
              <a:rPr sz="1000" spc="-10" dirty="0">
                <a:solidFill>
                  <a:srgbClr val="FA0000"/>
                </a:solidFill>
                <a:latin typeface="Arial"/>
                <a:cs typeface="Arial"/>
              </a:rPr>
              <a:t> </a:t>
            </a:r>
            <a:r>
              <a:rPr sz="1000" spc="-5" dirty="0">
                <a:solidFill>
                  <a:srgbClr val="FA0000"/>
                </a:solidFill>
                <a:latin typeface="Arial"/>
                <a:cs typeface="Arial"/>
              </a:rPr>
              <a:t>Application Integration</a:t>
            </a:r>
            <a:r>
              <a:rPr sz="1000" spc="-5" dirty="0">
                <a:latin typeface="Arial"/>
                <a:cs typeface="Arial"/>
              </a:rPr>
              <a:t>.</a:t>
            </a:r>
            <a:endParaRPr sz="1000" dirty="0">
              <a:latin typeface="Arial"/>
              <a:cs typeface="Arial"/>
            </a:endParaRPr>
          </a:p>
        </p:txBody>
      </p:sp>
      <p:sp>
        <p:nvSpPr>
          <p:cNvPr id="5" name="object 5"/>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3" action="ppaction://hlinksldjump"/>
              </a:rPr>
              <a:t>Types</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3" name="object 3"/>
          <p:cNvSpPr txBox="1"/>
          <p:nvPr/>
        </p:nvSpPr>
        <p:spPr>
          <a:xfrm>
            <a:off x="3457783" y="716"/>
            <a:ext cx="1083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Distributed</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information systems</a:t>
            </a:r>
            <a:endParaRPr sz="600">
              <a:latin typeface="Arial"/>
              <a:cs typeface="Arial"/>
            </a:endParaRPr>
          </a:p>
        </p:txBody>
      </p:sp>
      <p:sp>
        <p:nvSpPr>
          <p:cNvPr id="4" name="object 4"/>
          <p:cNvSpPr txBox="1"/>
          <p:nvPr/>
        </p:nvSpPr>
        <p:spPr>
          <a:xfrm>
            <a:off x="95300" y="154837"/>
            <a:ext cx="2879725" cy="488950"/>
          </a:xfrm>
          <a:prstGeom prst="rect">
            <a:avLst/>
          </a:prstGeom>
        </p:spPr>
        <p:txBody>
          <a:bodyPr vert="horz" wrap="square" lIns="0" tIns="50800" rIns="0" bIns="0" rtlCol="0">
            <a:spAutoFit/>
          </a:bodyPr>
          <a:lstStyle/>
          <a:p>
            <a:pPr marL="12700">
              <a:lnSpc>
                <a:spcPct val="100000"/>
              </a:lnSpc>
              <a:spcBef>
                <a:spcPts val="400"/>
              </a:spcBef>
            </a:pPr>
            <a:r>
              <a:rPr sz="1400" spc="15" dirty="0">
                <a:solidFill>
                  <a:srgbClr val="3333B2"/>
                </a:solidFill>
                <a:latin typeface="Arial"/>
                <a:cs typeface="Arial"/>
              </a:rPr>
              <a:t>Example</a:t>
            </a:r>
            <a:r>
              <a:rPr sz="1400" dirty="0">
                <a:solidFill>
                  <a:srgbClr val="3333B2"/>
                </a:solidFill>
                <a:latin typeface="Arial"/>
                <a:cs typeface="Arial"/>
              </a:rPr>
              <a:t> </a:t>
            </a:r>
            <a:r>
              <a:rPr sz="1400" spc="15" dirty="0">
                <a:solidFill>
                  <a:srgbClr val="3333B2"/>
                </a:solidFill>
                <a:latin typeface="Arial"/>
                <a:cs typeface="Arial"/>
              </a:rPr>
              <a:t>EAI:</a:t>
            </a:r>
            <a:r>
              <a:rPr sz="1400" spc="5" dirty="0">
                <a:solidFill>
                  <a:srgbClr val="3333B2"/>
                </a:solidFill>
                <a:latin typeface="Arial"/>
                <a:cs typeface="Arial"/>
              </a:rPr>
              <a:t> </a:t>
            </a:r>
            <a:r>
              <a:rPr sz="1400" spc="15" dirty="0">
                <a:solidFill>
                  <a:srgbClr val="3333B2"/>
                </a:solidFill>
                <a:latin typeface="Arial"/>
                <a:cs typeface="Arial"/>
              </a:rPr>
              <a:t>(nested)</a:t>
            </a:r>
            <a:r>
              <a:rPr sz="1400" dirty="0">
                <a:solidFill>
                  <a:srgbClr val="3333B2"/>
                </a:solidFill>
                <a:latin typeface="Arial"/>
                <a:cs typeface="Arial"/>
              </a:rPr>
              <a:t> </a:t>
            </a:r>
            <a:r>
              <a:rPr sz="1400" spc="10" dirty="0">
                <a:solidFill>
                  <a:srgbClr val="3333B2"/>
                </a:solidFill>
                <a:latin typeface="Arial"/>
                <a:cs typeface="Arial"/>
              </a:rPr>
              <a:t>transactions</a:t>
            </a:r>
            <a:endParaRPr sz="1400">
              <a:latin typeface="Arial"/>
              <a:cs typeface="Arial"/>
            </a:endParaRPr>
          </a:p>
          <a:p>
            <a:pPr marL="259715">
              <a:lnSpc>
                <a:spcPct val="100000"/>
              </a:lnSpc>
              <a:spcBef>
                <a:spcPts val="225"/>
              </a:spcBef>
            </a:pPr>
            <a:r>
              <a:rPr sz="1200" spc="-20" dirty="0">
                <a:solidFill>
                  <a:srgbClr val="3333B2"/>
                </a:solidFill>
                <a:latin typeface="Arial"/>
                <a:cs typeface="Arial"/>
              </a:rPr>
              <a:t>Transaction</a:t>
            </a:r>
            <a:endParaRPr sz="1200">
              <a:latin typeface="Arial"/>
              <a:cs typeface="Arial"/>
            </a:endParaRPr>
          </a:p>
        </p:txBody>
      </p:sp>
      <p:sp>
        <p:nvSpPr>
          <p:cNvPr id="5" name="object 5"/>
          <p:cNvSpPr/>
          <p:nvPr/>
        </p:nvSpPr>
        <p:spPr>
          <a:xfrm>
            <a:off x="827836" y="1007262"/>
            <a:ext cx="34290" cy="0"/>
          </a:xfrm>
          <a:custGeom>
            <a:avLst/>
            <a:gdLst/>
            <a:ahLst/>
            <a:cxnLst/>
            <a:rect l="l" t="t" r="r" b="b"/>
            <a:pathLst>
              <a:path w="34290">
                <a:moveTo>
                  <a:pt x="0" y="0"/>
                </a:moveTo>
                <a:lnTo>
                  <a:pt x="34163" y="0"/>
                </a:lnTo>
              </a:path>
            </a:pathLst>
          </a:custGeom>
          <a:ln w="5054">
            <a:solidFill>
              <a:srgbClr val="000000"/>
            </a:solidFill>
          </a:ln>
        </p:spPr>
        <p:txBody>
          <a:bodyPr wrap="square" lIns="0" tIns="0" rIns="0" bIns="0" rtlCol="0"/>
          <a:lstStyle/>
          <a:p>
            <a:endParaRPr/>
          </a:p>
        </p:txBody>
      </p:sp>
      <p:sp>
        <p:nvSpPr>
          <p:cNvPr id="6" name="object 6"/>
          <p:cNvSpPr/>
          <p:nvPr/>
        </p:nvSpPr>
        <p:spPr>
          <a:xfrm>
            <a:off x="709866" y="1165428"/>
            <a:ext cx="34290" cy="0"/>
          </a:xfrm>
          <a:custGeom>
            <a:avLst/>
            <a:gdLst/>
            <a:ahLst/>
            <a:cxnLst/>
            <a:rect l="l" t="t" r="r" b="b"/>
            <a:pathLst>
              <a:path w="34290">
                <a:moveTo>
                  <a:pt x="0" y="0"/>
                </a:moveTo>
                <a:lnTo>
                  <a:pt x="34163" y="0"/>
                </a:lnTo>
              </a:path>
            </a:pathLst>
          </a:custGeom>
          <a:ln w="5054">
            <a:solidFill>
              <a:srgbClr val="000000"/>
            </a:solidFill>
          </a:ln>
        </p:spPr>
        <p:txBody>
          <a:bodyPr wrap="square" lIns="0" tIns="0" rIns="0" bIns="0" rtlCol="0"/>
          <a:lstStyle/>
          <a:p>
            <a:endParaRPr/>
          </a:p>
        </p:txBody>
      </p:sp>
      <p:sp>
        <p:nvSpPr>
          <p:cNvPr id="7" name="object 7"/>
          <p:cNvSpPr/>
          <p:nvPr/>
        </p:nvSpPr>
        <p:spPr>
          <a:xfrm>
            <a:off x="869403" y="1323581"/>
            <a:ext cx="34290" cy="0"/>
          </a:xfrm>
          <a:custGeom>
            <a:avLst/>
            <a:gdLst/>
            <a:ahLst/>
            <a:cxnLst/>
            <a:rect l="l" t="t" r="r" b="b"/>
            <a:pathLst>
              <a:path w="34290">
                <a:moveTo>
                  <a:pt x="0" y="0"/>
                </a:moveTo>
                <a:lnTo>
                  <a:pt x="34163" y="0"/>
                </a:lnTo>
              </a:path>
            </a:pathLst>
          </a:custGeom>
          <a:ln w="5054">
            <a:solidFill>
              <a:srgbClr val="000000"/>
            </a:solidFill>
          </a:ln>
        </p:spPr>
        <p:txBody>
          <a:bodyPr wrap="square" lIns="0" tIns="0" rIns="0" bIns="0" rtlCol="0"/>
          <a:lstStyle/>
          <a:p>
            <a:endParaRPr/>
          </a:p>
        </p:txBody>
      </p:sp>
      <p:graphicFrame>
        <p:nvGraphicFramePr>
          <p:cNvPr id="8" name="object 8"/>
          <p:cNvGraphicFramePr>
            <a:graphicFrameLocks noGrp="1"/>
          </p:cNvGraphicFramePr>
          <p:nvPr/>
        </p:nvGraphicFramePr>
        <p:xfrm>
          <a:off x="376897" y="725500"/>
          <a:ext cx="3849370" cy="962660"/>
        </p:xfrm>
        <a:graphic>
          <a:graphicData uri="http://schemas.openxmlformats.org/drawingml/2006/table">
            <a:tbl>
              <a:tblPr firstRow="1" bandRow="1">
                <a:tableStyleId>{2D5ABB26-0587-4C30-8999-92F81FD0307C}</a:tableStyleId>
              </a:tblPr>
              <a:tblGrid>
                <a:gridCol w="1424305">
                  <a:extLst>
                    <a:ext uri="{9D8B030D-6E8A-4147-A177-3AD203B41FA5}">
                      <a16:colId xmlns:a16="http://schemas.microsoft.com/office/drawing/2014/main" val="20000"/>
                    </a:ext>
                  </a:extLst>
                </a:gridCol>
                <a:gridCol w="2425065">
                  <a:extLst>
                    <a:ext uri="{9D8B030D-6E8A-4147-A177-3AD203B41FA5}">
                      <a16:colId xmlns:a16="http://schemas.microsoft.com/office/drawing/2014/main" val="20001"/>
                    </a:ext>
                  </a:extLst>
                </a:gridCol>
              </a:tblGrid>
              <a:tr h="165100">
                <a:tc>
                  <a:txBody>
                    <a:bodyPr/>
                    <a:lstStyle/>
                    <a:p>
                      <a:pPr marL="78105">
                        <a:lnSpc>
                          <a:spcPts val="1045"/>
                        </a:lnSpc>
                      </a:pPr>
                      <a:r>
                        <a:rPr sz="900" b="1" spc="-5" dirty="0">
                          <a:latin typeface="Arial"/>
                          <a:cs typeface="Arial"/>
                        </a:rPr>
                        <a:t>Primitive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1045"/>
                        </a:lnSpc>
                      </a:pPr>
                      <a:r>
                        <a:rPr sz="900" b="1" spc="-5" dirty="0">
                          <a:latin typeface="Arial"/>
                          <a:cs typeface="Arial"/>
                        </a:rPr>
                        <a:t>Description</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65100">
                <a:tc>
                  <a:txBody>
                    <a:bodyPr/>
                    <a:lstStyle/>
                    <a:p>
                      <a:pPr marL="78105">
                        <a:lnSpc>
                          <a:spcPct val="100000"/>
                        </a:lnSpc>
                        <a:spcBef>
                          <a:spcPts val="15"/>
                        </a:spcBef>
                      </a:pPr>
                      <a:r>
                        <a:rPr sz="900" i="1" spc="-5" dirty="0">
                          <a:latin typeface="Arial"/>
                          <a:cs typeface="Arial"/>
                        </a:rPr>
                        <a:t>BEGIN</a:t>
                      </a:r>
                      <a:r>
                        <a:rPr sz="900" i="1" spc="90" dirty="0">
                          <a:latin typeface="Arial"/>
                          <a:cs typeface="Arial"/>
                        </a:rPr>
                        <a:t> </a:t>
                      </a:r>
                      <a:r>
                        <a:rPr sz="900" i="1" spc="-5" dirty="0">
                          <a:latin typeface="Arial"/>
                          <a:cs typeface="Arial"/>
                        </a:rPr>
                        <a:t>TRANSACTION</a:t>
                      </a:r>
                      <a:endParaRPr sz="900">
                        <a:latin typeface="Arial"/>
                        <a:cs typeface="Arial"/>
                      </a:endParaRPr>
                    </a:p>
                  </a:txBody>
                  <a:tcPr marL="0" marR="0" marT="190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5"/>
                        </a:spcBef>
                      </a:pPr>
                      <a:r>
                        <a:rPr sz="900" dirty="0">
                          <a:latin typeface="Arial"/>
                          <a:cs typeface="Arial"/>
                        </a:rPr>
                        <a:t>Mark</a:t>
                      </a:r>
                      <a:r>
                        <a:rPr sz="900" spc="-15" dirty="0">
                          <a:latin typeface="Arial"/>
                          <a:cs typeface="Arial"/>
                        </a:rPr>
                        <a:t> </a:t>
                      </a:r>
                      <a:r>
                        <a:rPr sz="900" spc="-5" dirty="0">
                          <a:latin typeface="Arial"/>
                          <a:cs typeface="Arial"/>
                        </a:rPr>
                        <a:t>the</a:t>
                      </a:r>
                      <a:r>
                        <a:rPr sz="900" spc="-10" dirty="0">
                          <a:latin typeface="Arial"/>
                          <a:cs typeface="Arial"/>
                        </a:rPr>
                        <a:t> </a:t>
                      </a:r>
                      <a:r>
                        <a:rPr sz="900" spc="5" dirty="0">
                          <a:latin typeface="Arial"/>
                          <a:cs typeface="Arial"/>
                        </a:rPr>
                        <a:t>start</a:t>
                      </a:r>
                      <a:r>
                        <a:rPr sz="900" spc="-15" dirty="0">
                          <a:latin typeface="Arial"/>
                          <a:cs typeface="Arial"/>
                        </a:rPr>
                        <a:t> </a:t>
                      </a:r>
                      <a:r>
                        <a:rPr sz="900" spc="-5" dirty="0">
                          <a:latin typeface="Arial"/>
                          <a:cs typeface="Arial"/>
                        </a:rPr>
                        <a:t>of</a:t>
                      </a:r>
                      <a:r>
                        <a:rPr sz="900" spc="-10" dirty="0">
                          <a:latin typeface="Arial"/>
                          <a:cs typeface="Arial"/>
                        </a:rPr>
                        <a:t> </a:t>
                      </a:r>
                      <a:r>
                        <a:rPr sz="900" spc="-5" dirty="0">
                          <a:latin typeface="Arial"/>
                          <a:cs typeface="Arial"/>
                        </a:rPr>
                        <a:t>a</a:t>
                      </a:r>
                      <a:r>
                        <a:rPr sz="900" spc="-15" dirty="0">
                          <a:latin typeface="Arial"/>
                          <a:cs typeface="Arial"/>
                        </a:rPr>
                        <a:t> </a:t>
                      </a:r>
                      <a:r>
                        <a:rPr sz="900" spc="-5" dirty="0">
                          <a:latin typeface="Arial"/>
                          <a:cs typeface="Arial"/>
                        </a:rPr>
                        <a:t>transaction</a:t>
                      </a:r>
                      <a:endParaRPr sz="900">
                        <a:latin typeface="Arial"/>
                        <a:cs typeface="Arial"/>
                      </a:endParaRPr>
                    </a:p>
                  </a:txBody>
                  <a:tcPr marL="0" marR="0" marT="190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58115">
                <a:tc>
                  <a:txBody>
                    <a:bodyPr/>
                    <a:lstStyle/>
                    <a:p>
                      <a:pPr marL="78105">
                        <a:lnSpc>
                          <a:spcPts val="1045"/>
                        </a:lnSpc>
                      </a:pPr>
                      <a:r>
                        <a:rPr sz="900" i="1" spc="-5" dirty="0">
                          <a:latin typeface="Arial"/>
                          <a:cs typeface="Arial"/>
                        </a:rPr>
                        <a:t>END</a:t>
                      </a:r>
                      <a:r>
                        <a:rPr sz="900" i="1" spc="60" dirty="0">
                          <a:latin typeface="Arial"/>
                          <a:cs typeface="Arial"/>
                        </a:rPr>
                        <a:t> </a:t>
                      </a:r>
                      <a:r>
                        <a:rPr sz="900" i="1" spc="-5" dirty="0">
                          <a:latin typeface="Arial"/>
                          <a:cs typeface="Arial"/>
                        </a:rPr>
                        <a:t>TRANSACTION</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15" dirty="0">
                          <a:latin typeface="Arial"/>
                          <a:cs typeface="Arial"/>
                        </a:rPr>
                        <a:t>Terminate</a:t>
                      </a:r>
                      <a:r>
                        <a:rPr sz="900" spc="-5" dirty="0">
                          <a:latin typeface="Arial"/>
                          <a:cs typeface="Arial"/>
                        </a:rPr>
                        <a:t> the transaction and</a:t>
                      </a:r>
                      <a:r>
                        <a:rPr sz="900" dirty="0">
                          <a:latin typeface="Arial"/>
                          <a:cs typeface="Arial"/>
                        </a:rPr>
                        <a:t> </a:t>
                      </a:r>
                      <a:r>
                        <a:rPr sz="900" spc="5" dirty="0">
                          <a:latin typeface="Arial"/>
                          <a:cs typeface="Arial"/>
                        </a:rPr>
                        <a:t>try</a:t>
                      </a:r>
                      <a:r>
                        <a:rPr sz="900" spc="-5" dirty="0">
                          <a:latin typeface="Arial"/>
                          <a:cs typeface="Arial"/>
                        </a:rPr>
                        <a:t> to commit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58115">
                <a:tc>
                  <a:txBody>
                    <a:bodyPr/>
                    <a:lstStyle/>
                    <a:p>
                      <a:pPr marL="78105">
                        <a:lnSpc>
                          <a:spcPts val="1045"/>
                        </a:lnSpc>
                      </a:pPr>
                      <a:r>
                        <a:rPr sz="900" i="1" spc="-10" dirty="0">
                          <a:latin typeface="Arial"/>
                          <a:cs typeface="Arial"/>
                        </a:rPr>
                        <a:t>ABORT</a:t>
                      </a:r>
                      <a:r>
                        <a:rPr sz="900" i="1" spc="140" dirty="0">
                          <a:latin typeface="Arial"/>
                          <a:cs typeface="Arial"/>
                        </a:rPr>
                        <a:t> </a:t>
                      </a:r>
                      <a:r>
                        <a:rPr sz="900" i="1" spc="-5" dirty="0">
                          <a:latin typeface="Arial"/>
                          <a:cs typeface="Arial"/>
                        </a:rPr>
                        <a:t>TRANSACTION</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Kill the</a:t>
                      </a:r>
                      <a:r>
                        <a:rPr sz="900" dirty="0">
                          <a:latin typeface="Arial"/>
                          <a:cs typeface="Arial"/>
                        </a:rPr>
                        <a:t> </a:t>
                      </a:r>
                      <a:r>
                        <a:rPr sz="900" spc="-5" dirty="0">
                          <a:latin typeface="Arial"/>
                          <a:cs typeface="Arial"/>
                        </a:rPr>
                        <a:t>transaction</a:t>
                      </a:r>
                      <a:r>
                        <a:rPr sz="900" dirty="0">
                          <a:latin typeface="Arial"/>
                          <a:cs typeface="Arial"/>
                        </a:rPr>
                        <a:t> </a:t>
                      </a:r>
                      <a:r>
                        <a:rPr sz="900" spc="-5" dirty="0">
                          <a:latin typeface="Arial"/>
                          <a:cs typeface="Arial"/>
                        </a:rPr>
                        <a:t>and</a:t>
                      </a:r>
                      <a:r>
                        <a:rPr sz="900" dirty="0">
                          <a:latin typeface="Arial"/>
                          <a:cs typeface="Arial"/>
                        </a:rPr>
                        <a:t> </a:t>
                      </a:r>
                      <a:r>
                        <a:rPr sz="900" spc="-5" dirty="0">
                          <a:latin typeface="Arial"/>
                          <a:cs typeface="Arial"/>
                        </a:rPr>
                        <a:t>restore the</a:t>
                      </a:r>
                      <a:r>
                        <a:rPr sz="900" dirty="0">
                          <a:latin typeface="Arial"/>
                          <a:cs typeface="Arial"/>
                        </a:rPr>
                        <a:t> </a:t>
                      </a:r>
                      <a:r>
                        <a:rPr sz="900" spc="-5" dirty="0">
                          <a:latin typeface="Arial"/>
                          <a:cs typeface="Arial"/>
                        </a:rPr>
                        <a:t>old</a:t>
                      </a:r>
                      <a:r>
                        <a:rPr sz="900" dirty="0">
                          <a:latin typeface="Arial"/>
                          <a:cs typeface="Arial"/>
                        </a:rPr>
                        <a:t> </a:t>
                      </a:r>
                      <a:r>
                        <a:rPr sz="900" spc="-10" dirty="0">
                          <a:latin typeface="Arial"/>
                          <a:cs typeface="Arial"/>
                        </a:rPr>
                        <a:t>values</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58115">
                <a:tc>
                  <a:txBody>
                    <a:bodyPr/>
                    <a:lstStyle/>
                    <a:p>
                      <a:pPr marL="78105">
                        <a:lnSpc>
                          <a:spcPts val="1045"/>
                        </a:lnSpc>
                      </a:pPr>
                      <a:r>
                        <a:rPr sz="900" i="1" spc="-5" dirty="0">
                          <a:latin typeface="Arial"/>
                          <a:cs typeface="Arial"/>
                        </a:rPr>
                        <a:t>READ</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Read data from a file, a </a:t>
                      </a:r>
                      <a:r>
                        <a:rPr sz="900" spc="-10" dirty="0">
                          <a:latin typeface="Arial"/>
                          <a:cs typeface="Arial"/>
                        </a:rPr>
                        <a:t>table,</a:t>
                      </a:r>
                      <a:r>
                        <a:rPr sz="900" spc="-5" dirty="0">
                          <a:latin typeface="Arial"/>
                          <a:cs typeface="Arial"/>
                        </a:rPr>
                        <a:t> or otherwise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58115">
                <a:tc>
                  <a:txBody>
                    <a:bodyPr/>
                    <a:lstStyle/>
                    <a:p>
                      <a:pPr marL="78105">
                        <a:lnSpc>
                          <a:spcPts val="1045"/>
                        </a:lnSpc>
                      </a:pPr>
                      <a:r>
                        <a:rPr sz="900" i="1" spc="-5" dirty="0">
                          <a:latin typeface="Arial"/>
                          <a:cs typeface="Arial"/>
                        </a:rPr>
                        <a:t>WRITE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dirty="0">
                          <a:latin typeface="Arial"/>
                          <a:cs typeface="Arial"/>
                        </a:rPr>
                        <a:t>Write</a:t>
                      </a:r>
                      <a:r>
                        <a:rPr sz="900" spc="-10" dirty="0">
                          <a:latin typeface="Arial"/>
                          <a:cs typeface="Arial"/>
                        </a:rPr>
                        <a:t> </a:t>
                      </a:r>
                      <a:r>
                        <a:rPr sz="900" spc="-5" dirty="0">
                          <a:latin typeface="Arial"/>
                          <a:cs typeface="Arial"/>
                        </a:rPr>
                        <a:t>data to a</a:t>
                      </a:r>
                      <a:r>
                        <a:rPr sz="900" spc="-10" dirty="0">
                          <a:latin typeface="Arial"/>
                          <a:cs typeface="Arial"/>
                        </a:rPr>
                        <a:t> </a:t>
                      </a:r>
                      <a:r>
                        <a:rPr sz="900" spc="-5" dirty="0">
                          <a:latin typeface="Arial"/>
                          <a:cs typeface="Arial"/>
                        </a:rPr>
                        <a:t>file, a </a:t>
                      </a:r>
                      <a:r>
                        <a:rPr sz="900" spc="-10" dirty="0">
                          <a:latin typeface="Arial"/>
                          <a:cs typeface="Arial"/>
                        </a:rPr>
                        <a:t>table, </a:t>
                      </a:r>
                      <a:r>
                        <a:rPr sz="900" spc="-5" dirty="0">
                          <a:latin typeface="Arial"/>
                          <a:cs typeface="Arial"/>
                        </a:rPr>
                        <a:t>or otherwise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grpSp>
        <p:nvGrpSpPr>
          <p:cNvPr id="9" name="object 9"/>
          <p:cNvGrpSpPr/>
          <p:nvPr/>
        </p:nvGrpSpPr>
        <p:grpSpPr>
          <a:xfrm>
            <a:off x="496730" y="2537299"/>
            <a:ext cx="964565" cy="228600"/>
            <a:chOff x="496730" y="2537299"/>
            <a:chExt cx="964565" cy="228600"/>
          </a:xfrm>
        </p:grpSpPr>
        <p:sp>
          <p:nvSpPr>
            <p:cNvPr id="10" name="object 10"/>
            <p:cNvSpPr/>
            <p:nvPr/>
          </p:nvSpPr>
          <p:spPr>
            <a:xfrm>
              <a:off x="1132799" y="2566362"/>
              <a:ext cx="326390" cy="197485"/>
            </a:xfrm>
            <a:custGeom>
              <a:avLst/>
              <a:gdLst/>
              <a:ahLst/>
              <a:cxnLst/>
              <a:rect l="l" t="t" r="r" b="b"/>
              <a:pathLst>
                <a:path w="326390" h="197485">
                  <a:moveTo>
                    <a:pt x="326269" y="0"/>
                  </a:moveTo>
                  <a:lnTo>
                    <a:pt x="0" y="0"/>
                  </a:lnTo>
                  <a:lnTo>
                    <a:pt x="0" y="157748"/>
                  </a:lnTo>
                  <a:lnTo>
                    <a:pt x="14038" y="175003"/>
                  </a:lnTo>
                  <a:lnTo>
                    <a:pt x="51031" y="187327"/>
                  </a:lnTo>
                  <a:lnTo>
                    <a:pt x="103293" y="194723"/>
                  </a:lnTo>
                  <a:lnTo>
                    <a:pt x="163137" y="197188"/>
                  </a:lnTo>
                  <a:lnTo>
                    <a:pt x="222977" y="194723"/>
                  </a:lnTo>
                  <a:lnTo>
                    <a:pt x="275237" y="187327"/>
                  </a:lnTo>
                  <a:lnTo>
                    <a:pt x="312230" y="175003"/>
                  </a:lnTo>
                  <a:lnTo>
                    <a:pt x="326269" y="157748"/>
                  </a:lnTo>
                  <a:lnTo>
                    <a:pt x="326269" y="0"/>
                  </a:lnTo>
                  <a:close/>
                </a:path>
              </a:pathLst>
            </a:custGeom>
            <a:solidFill>
              <a:srgbClr val="BCBEC0"/>
            </a:solidFill>
          </p:spPr>
          <p:txBody>
            <a:bodyPr wrap="square" lIns="0" tIns="0" rIns="0" bIns="0" rtlCol="0"/>
            <a:lstStyle/>
            <a:p>
              <a:endParaRPr/>
            </a:p>
          </p:txBody>
        </p:sp>
        <p:sp>
          <p:nvSpPr>
            <p:cNvPr id="11" name="object 11"/>
            <p:cNvSpPr/>
            <p:nvPr/>
          </p:nvSpPr>
          <p:spPr>
            <a:xfrm>
              <a:off x="1132799" y="2566362"/>
              <a:ext cx="326390" cy="197485"/>
            </a:xfrm>
            <a:custGeom>
              <a:avLst/>
              <a:gdLst/>
              <a:ahLst/>
              <a:cxnLst/>
              <a:rect l="l" t="t" r="r" b="b"/>
              <a:pathLst>
                <a:path w="326390" h="197485">
                  <a:moveTo>
                    <a:pt x="0" y="0"/>
                  </a:moveTo>
                  <a:lnTo>
                    <a:pt x="326269" y="0"/>
                  </a:lnTo>
                  <a:lnTo>
                    <a:pt x="326269" y="25152"/>
                  </a:lnTo>
                  <a:lnTo>
                    <a:pt x="326269" y="78691"/>
                  </a:lnTo>
                  <a:lnTo>
                    <a:pt x="326269" y="132322"/>
                  </a:lnTo>
                  <a:lnTo>
                    <a:pt x="326269" y="157748"/>
                  </a:lnTo>
                  <a:lnTo>
                    <a:pt x="312230" y="175003"/>
                  </a:lnTo>
                  <a:lnTo>
                    <a:pt x="275237" y="187327"/>
                  </a:lnTo>
                  <a:lnTo>
                    <a:pt x="222977" y="194723"/>
                  </a:lnTo>
                  <a:lnTo>
                    <a:pt x="163137" y="197188"/>
                  </a:lnTo>
                  <a:lnTo>
                    <a:pt x="103293" y="194723"/>
                  </a:lnTo>
                  <a:lnTo>
                    <a:pt x="51031" y="187327"/>
                  </a:lnTo>
                  <a:lnTo>
                    <a:pt x="14038" y="175003"/>
                  </a:lnTo>
                  <a:lnTo>
                    <a:pt x="0" y="157748"/>
                  </a:lnTo>
                  <a:lnTo>
                    <a:pt x="0" y="132035"/>
                  </a:lnTo>
                  <a:lnTo>
                    <a:pt x="0" y="77927"/>
                  </a:lnTo>
                  <a:lnTo>
                    <a:pt x="0" y="24293"/>
                  </a:lnTo>
                  <a:lnTo>
                    <a:pt x="0" y="0"/>
                  </a:lnTo>
                  <a:close/>
                </a:path>
              </a:pathLst>
            </a:custGeom>
            <a:ln w="4445">
              <a:solidFill>
                <a:srgbClr val="231F20"/>
              </a:solidFill>
            </a:ln>
          </p:spPr>
          <p:txBody>
            <a:bodyPr wrap="square" lIns="0" tIns="0" rIns="0" bIns="0" rtlCol="0"/>
            <a:lstStyle/>
            <a:p>
              <a:endParaRPr/>
            </a:p>
          </p:txBody>
        </p:sp>
        <p:sp>
          <p:nvSpPr>
            <p:cNvPr id="12" name="object 12"/>
            <p:cNvSpPr/>
            <p:nvPr/>
          </p:nvSpPr>
          <p:spPr>
            <a:xfrm>
              <a:off x="1132799" y="2539522"/>
              <a:ext cx="326390" cy="53975"/>
            </a:xfrm>
            <a:custGeom>
              <a:avLst/>
              <a:gdLst/>
              <a:ahLst/>
              <a:cxnLst/>
              <a:rect l="l" t="t" r="r" b="b"/>
              <a:pathLst>
                <a:path w="326390" h="53975">
                  <a:moveTo>
                    <a:pt x="163137" y="0"/>
                  </a:moveTo>
                  <a:lnTo>
                    <a:pt x="99741" y="2114"/>
                  </a:lnTo>
                  <a:lnTo>
                    <a:pt x="47874" y="7876"/>
                  </a:lnTo>
                  <a:lnTo>
                    <a:pt x="12854" y="16409"/>
                  </a:lnTo>
                  <a:lnTo>
                    <a:pt x="0" y="26839"/>
                  </a:lnTo>
                  <a:lnTo>
                    <a:pt x="12854" y="37269"/>
                  </a:lnTo>
                  <a:lnTo>
                    <a:pt x="47874" y="45801"/>
                  </a:lnTo>
                  <a:lnTo>
                    <a:pt x="99741" y="51561"/>
                  </a:lnTo>
                  <a:lnTo>
                    <a:pt x="163137" y="53676"/>
                  </a:lnTo>
                  <a:lnTo>
                    <a:pt x="226533" y="51561"/>
                  </a:lnTo>
                  <a:lnTo>
                    <a:pt x="278397" y="45801"/>
                  </a:lnTo>
                  <a:lnTo>
                    <a:pt x="313415" y="37269"/>
                  </a:lnTo>
                  <a:lnTo>
                    <a:pt x="326269" y="26839"/>
                  </a:lnTo>
                  <a:lnTo>
                    <a:pt x="313415" y="16409"/>
                  </a:lnTo>
                  <a:lnTo>
                    <a:pt x="278397" y="7876"/>
                  </a:lnTo>
                  <a:lnTo>
                    <a:pt x="226533" y="2114"/>
                  </a:lnTo>
                  <a:lnTo>
                    <a:pt x="163137" y="0"/>
                  </a:lnTo>
                  <a:close/>
                </a:path>
              </a:pathLst>
            </a:custGeom>
            <a:solidFill>
              <a:srgbClr val="FFFFFF"/>
            </a:solidFill>
          </p:spPr>
          <p:txBody>
            <a:bodyPr wrap="square" lIns="0" tIns="0" rIns="0" bIns="0" rtlCol="0"/>
            <a:lstStyle/>
            <a:p>
              <a:endParaRPr/>
            </a:p>
          </p:txBody>
        </p:sp>
        <p:sp>
          <p:nvSpPr>
            <p:cNvPr id="13" name="object 13"/>
            <p:cNvSpPr/>
            <p:nvPr/>
          </p:nvSpPr>
          <p:spPr>
            <a:xfrm>
              <a:off x="1132799" y="2539522"/>
              <a:ext cx="326390" cy="53975"/>
            </a:xfrm>
            <a:custGeom>
              <a:avLst/>
              <a:gdLst/>
              <a:ahLst/>
              <a:cxnLst/>
              <a:rect l="l" t="t" r="r" b="b"/>
              <a:pathLst>
                <a:path w="326390" h="53975">
                  <a:moveTo>
                    <a:pt x="163137" y="0"/>
                  </a:moveTo>
                  <a:lnTo>
                    <a:pt x="226533" y="2114"/>
                  </a:lnTo>
                  <a:lnTo>
                    <a:pt x="278397" y="7876"/>
                  </a:lnTo>
                  <a:lnTo>
                    <a:pt x="313415" y="16409"/>
                  </a:lnTo>
                  <a:lnTo>
                    <a:pt x="326269" y="26839"/>
                  </a:lnTo>
                  <a:lnTo>
                    <a:pt x="313415" y="37269"/>
                  </a:lnTo>
                  <a:lnTo>
                    <a:pt x="278397" y="45801"/>
                  </a:lnTo>
                  <a:lnTo>
                    <a:pt x="226533" y="51561"/>
                  </a:lnTo>
                  <a:lnTo>
                    <a:pt x="163137" y="53676"/>
                  </a:lnTo>
                  <a:lnTo>
                    <a:pt x="99741" y="51561"/>
                  </a:lnTo>
                  <a:lnTo>
                    <a:pt x="47874" y="45801"/>
                  </a:lnTo>
                  <a:lnTo>
                    <a:pt x="12854" y="37269"/>
                  </a:lnTo>
                  <a:lnTo>
                    <a:pt x="0" y="26839"/>
                  </a:lnTo>
                  <a:lnTo>
                    <a:pt x="12854" y="16409"/>
                  </a:lnTo>
                  <a:lnTo>
                    <a:pt x="47874" y="7876"/>
                  </a:lnTo>
                  <a:lnTo>
                    <a:pt x="99741" y="2114"/>
                  </a:lnTo>
                  <a:lnTo>
                    <a:pt x="163137" y="0"/>
                  </a:lnTo>
                  <a:close/>
                </a:path>
              </a:pathLst>
            </a:custGeom>
            <a:ln w="4445">
              <a:solidFill>
                <a:srgbClr val="231F20"/>
              </a:solidFill>
            </a:ln>
          </p:spPr>
          <p:txBody>
            <a:bodyPr wrap="square" lIns="0" tIns="0" rIns="0" bIns="0" rtlCol="0"/>
            <a:lstStyle/>
            <a:p>
              <a:endParaRPr/>
            </a:p>
          </p:txBody>
        </p:sp>
        <p:sp>
          <p:nvSpPr>
            <p:cNvPr id="14" name="object 14"/>
            <p:cNvSpPr/>
            <p:nvPr/>
          </p:nvSpPr>
          <p:spPr>
            <a:xfrm>
              <a:off x="498953" y="2566362"/>
              <a:ext cx="326390" cy="197485"/>
            </a:xfrm>
            <a:custGeom>
              <a:avLst/>
              <a:gdLst/>
              <a:ahLst/>
              <a:cxnLst/>
              <a:rect l="l" t="t" r="r" b="b"/>
              <a:pathLst>
                <a:path w="326390" h="197485">
                  <a:moveTo>
                    <a:pt x="326276" y="0"/>
                  </a:moveTo>
                  <a:lnTo>
                    <a:pt x="0" y="0"/>
                  </a:lnTo>
                  <a:lnTo>
                    <a:pt x="0" y="157748"/>
                  </a:lnTo>
                  <a:lnTo>
                    <a:pt x="14039" y="175003"/>
                  </a:lnTo>
                  <a:lnTo>
                    <a:pt x="51032" y="187327"/>
                  </a:lnTo>
                  <a:lnTo>
                    <a:pt x="103294" y="194723"/>
                  </a:lnTo>
                  <a:lnTo>
                    <a:pt x="163137" y="197188"/>
                  </a:lnTo>
                  <a:lnTo>
                    <a:pt x="222980" y="194723"/>
                  </a:lnTo>
                  <a:lnTo>
                    <a:pt x="275242" y="187327"/>
                  </a:lnTo>
                  <a:lnTo>
                    <a:pt x="312236" y="175003"/>
                  </a:lnTo>
                  <a:lnTo>
                    <a:pt x="326276" y="157748"/>
                  </a:lnTo>
                  <a:lnTo>
                    <a:pt x="326276" y="0"/>
                  </a:lnTo>
                  <a:close/>
                </a:path>
              </a:pathLst>
            </a:custGeom>
            <a:solidFill>
              <a:srgbClr val="BCBEC0"/>
            </a:solidFill>
          </p:spPr>
          <p:txBody>
            <a:bodyPr wrap="square" lIns="0" tIns="0" rIns="0" bIns="0" rtlCol="0"/>
            <a:lstStyle/>
            <a:p>
              <a:endParaRPr/>
            </a:p>
          </p:txBody>
        </p:sp>
        <p:sp>
          <p:nvSpPr>
            <p:cNvPr id="15" name="object 15"/>
            <p:cNvSpPr/>
            <p:nvPr/>
          </p:nvSpPr>
          <p:spPr>
            <a:xfrm>
              <a:off x="498953" y="2566362"/>
              <a:ext cx="326390" cy="197485"/>
            </a:xfrm>
            <a:custGeom>
              <a:avLst/>
              <a:gdLst/>
              <a:ahLst/>
              <a:cxnLst/>
              <a:rect l="l" t="t" r="r" b="b"/>
              <a:pathLst>
                <a:path w="326390" h="197485">
                  <a:moveTo>
                    <a:pt x="0" y="0"/>
                  </a:moveTo>
                  <a:lnTo>
                    <a:pt x="326276" y="0"/>
                  </a:lnTo>
                  <a:lnTo>
                    <a:pt x="326276" y="25152"/>
                  </a:lnTo>
                  <a:lnTo>
                    <a:pt x="326276" y="78691"/>
                  </a:lnTo>
                  <a:lnTo>
                    <a:pt x="326276" y="132322"/>
                  </a:lnTo>
                  <a:lnTo>
                    <a:pt x="326276" y="157748"/>
                  </a:lnTo>
                  <a:lnTo>
                    <a:pt x="312236" y="175003"/>
                  </a:lnTo>
                  <a:lnTo>
                    <a:pt x="275242" y="187327"/>
                  </a:lnTo>
                  <a:lnTo>
                    <a:pt x="222980" y="194723"/>
                  </a:lnTo>
                  <a:lnTo>
                    <a:pt x="163137" y="197188"/>
                  </a:lnTo>
                  <a:lnTo>
                    <a:pt x="103294" y="194723"/>
                  </a:lnTo>
                  <a:lnTo>
                    <a:pt x="51032" y="187327"/>
                  </a:lnTo>
                  <a:lnTo>
                    <a:pt x="14039" y="175003"/>
                  </a:lnTo>
                  <a:lnTo>
                    <a:pt x="0" y="157748"/>
                  </a:lnTo>
                  <a:lnTo>
                    <a:pt x="0" y="132035"/>
                  </a:lnTo>
                  <a:lnTo>
                    <a:pt x="0" y="77927"/>
                  </a:lnTo>
                  <a:lnTo>
                    <a:pt x="0" y="24293"/>
                  </a:lnTo>
                  <a:lnTo>
                    <a:pt x="0" y="0"/>
                  </a:lnTo>
                  <a:close/>
                </a:path>
              </a:pathLst>
            </a:custGeom>
            <a:ln w="4445">
              <a:solidFill>
                <a:srgbClr val="231F20"/>
              </a:solidFill>
            </a:ln>
          </p:spPr>
          <p:txBody>
            <a:bodyPr wrap="square" lIns="0" tIns="0" rIns="0" bIns="0" rtlCol="0"/>
            <a:lstStyle/>
            <a:p>
              <a:endParaRPr/>
            </a:p>
          </p:txBody>
        </p:sp>
        <p:sp>
          <p:nvSpPr>
            <p:cNvPr id="16" name="object 16"/>
            <p:cNvSpPr/>
            <p:nvPr/>
          </p:nvSpPr>
          <p:spPr>
            <a:xfrm>
              <a:off x="498953" y="2539522"/>
              <a:ext cx="326390" cy="53975"/>
            </a:xfrm>
            <a:custGeom>
              <a:avLst/>
              <a:gdLst/>
              <a:ahLst/>
              <a:cxnLst/>
              <a:rect l="l" t="t" r="r" b="b"/>
              <a:pathLst>
                <a:path w="326390" h="53975">
                  <a:moveTo>
                    <a:pt x="163137" y="0"/>
                  </a:moveTo>
                  <a:lnTo>
                    <a:pt x="99741" y="2114"/>
                  </a:lnTo>
                  <a:lnTo>
                    <a:pt x="47874" y="7876"/>
                  </a:lnTo>
                  <a:lnTo>
                    <a:pt x="12854" y="16409"/>
                  </a:lnTo>
                  <a:lnTo>
                    <a:pt x="0" y="26839"/>
                  </a:lnTo>
                  <a:lnTo>
                    <a:pt x="12854" y="37269"/>
                  </a:lnTo>
                  <a:lnTo>
                    <a:pt x="47874" y="45801"/>
                  </a:lnTo>
                  <a:lnTo>
                    <a:pt x="99741" y="51561"/>
                  </a:lnTo>
                  <a:lnTo>
                    <a:pt x="163137" y="53676"/>
                  </a:lnTo>
                  <a:lnTo>
                    <a:pt x="226535" y="51561"/>
                  </a:lnTo>
                  <a:lnTo>
                    <a:pt x="278402" y="45801"/>
                  </a:lnTo>
                  <a:lnTo>
                    <a:pt x="313421" y="37269"/>
                  </a:lnTo>
                  <a:lnTo>
                    <a:pt x="326276" y="26839"/>
                  </a:lnTo>
                  <a:lnTo>
                    <a:pt x="313421" y="16409"/>
                  </a:lnTo>
                  <a:lnTo>
                    <a:pt x="278402" y="7876"/>
                  </a:lnTo>
                  <a:lnTo>
                    <a:pt x="226535" y="2114"/>
                  </a:lnTo>
                  <a:lnTo>
                    <a:pt x="163137" y="0"/>
                  </a:lnTo>
                  <a:close/>
                </a:path>
              </a:pathLst>
            </a:custGeom>
            <a:solidFill>
              <a:srgbClr val="FFFFFF"/>
            </a:solidFill>
          </p:spPr>
          <p:txBody>
            <a:bodyPr wrap="square" lIns="0" tIns="0" rIns="0" bIns="0" rtlCol="0"/>
            <a:lstStyle/>
            <a:p>
              <a:endParaRPr/>
            </a:p>
          </p:txBody>
        </p:sp>
        <p:sp>
          <p:nvSpPr>
            <p:cNvPr id="17" name="object 17"/>
            <p:cNvSpPr/>
            <p:nvPr/>
          </p:nvSpPr>
          <p:spPr>
            <a:xfrm>
              <a:off x="498953" y="2539522"/>
              <a:ext cx="326390" cy="53975"/>
            </a:xfrm>
            <a:custGeom>
              <a:avLst/>
              <a:gdLst/>
              <a:ahLst/>
              <a:cxnLst/>
              <a:rect l="l" t="t" r="r" b="b"/>
              <a:pathLst>
                <a:path w="326390" h="53975">
                  <a:moveTo>
                    <a:pt x="163137" y="0"/>
                  </a:moveTo>
                  <a:lnTo>
                    <a:pt x="226535" y="2114"/>
                  </a:lnTo>
                  <a:lnTo>
                    <a:pt x="278402" y="7876"/>
                  </a:lnTo>
                  <a:lnTo>
                    <a:pt x="313421" y="16409"/>
                  </a:lnTo>
                  <a:lnTo>
                    <a:pt x="326276" y="26839"/>
                  </a:lnTo>
                  <a:lnTo>
                    <a:pt x="313421" y="37269"/>
                  </a:lnTo>
                  <a:lnTo>
                    <a:pt x="278402" y="45801"/>
                  </a:lnTo>
                  <a:lnTo>
                    <a:pt x="226535" y="51561"/>
                  </a:lnTo>
                  <a:lnTo>
                    <a:pt x="163137" y="53676"/>
                  </a:lnTo>
                  <a:lnTo>
                    <a:pt x="99741" y="51561"/>
                  </a:lnTo>
                  <a:lnTo>
                    <a:pt x="47874" y="45801"/>
                  </a:lnTo>
                  <a:lnTo>
                    <a:pt x="12854" y="37269"/>
                  </a:lnTo>
                  <a:lnTo>
                    <a:pt x="0" y="26839"/>
                  </a:lnTo>
                  <a:lnTo>
                    <a:pt x="12854" y="16409"/>
                  </a:lnTo>
                  <a:lnTo>
                    <a:pt x="47874" y="7876"/>
                  </a:lnTo>
                  <a:lnTo>
                    <a:pt x="99741" y="2114"/>
                  </a:lnTo>
                  <a:lnTo>
                    <a:pt x="163137" y="0"/>
                  </a:lnTo>
                  <a:close/>
                </a:path>
              </a:pathLst>
            </a:custGeom>
            <a:ln w="4445">
              <a:solidFill>
                <a:srgbClr val="231F20"/>
              </a:solidFill>
            </a:ln>
          </p:spPr>
          <p:txBody>
            <a:bodyPr wrap="square" lIns="0" tIns="0" rIns="0" bIns="0" rtlCol="0"/>
            <a:lstStyle/>
            <a:p>
              <a:endParaRPr/>
            </a:p>
          </p:txBody>
        </p:sp>
      </p:grpSp>
      <p:sp>
        <p:nvSpPr>
          <p:cNvPr id="18" name="object 18"/>
          <p:cNvSpPr txBox="1"/>
          <p:nvPr/>
        </p:nvSpPr>
        <p:spPr>
          <a:xfrm>
            <a:off x="329344" y="2779334"/>
            <a:ext cx="535940" cy="111125"/>
          </a:xfrm>
          <a:prstGeom prst="rect">
            <a:avLst/>
          </a:prstGeom>
        </p:spPr>
        <p:txBody>
          <a:bodyPr vert="horz" wrap="square" lIns="0" tIns="13970" rIns="0" bIns="0" rtlCol="0">
            <a:spAutoFit/>
          </a:bodyPr>
          <a:lstStyle/>
          <a:p>
            <a:pPr marL="12700">
              <a:lnSpc>
                <a:spcPct val="100000"/>
              </a:lnSpc>
              <a:spcBef>
                <a:spcPts val="110"/>
              </a:spcBef>
            </a:pPr>
            <a:r>
              <a:rPr sz="550" dirty="0">
                <a:solidFill>
                  <a:srgbClr val="231F20"/>
                </a:solidFill>
                <a:latin typeface="Arial"/>
                <a:cs typeface="Arial"/>
              </a:rPr>
              <a:t>Airline </a:t>
            </a:r>
            <a:r>
              <a:rPr sz="550" spc="5" dirty="0">
                <a:solidFill>
                  <a:srgbClr val="231F20"/>
                </a:solidFill>
                <a:latin typeface="Arial"/>
                <a:cs typeface="Arial"/>
              </a:rPr>
              <a:t>database</a:t>
            </a:r>
            <a:endParaRPr sz="550">
              <a:latin typeface="Arial"/>
              <a:cs typeface="Arial"/>
            </a:endParaRPr>
          </a:p>
        </p:txBody>
      </p:sp>
      <p:sp>
        <p:nvSpPr>
          <p:cNvPr id="19" name="object 19"/>
          <p:cNvSpPr txBox="1"/>
          <p:nvPr/>
        </p:nvSpPr>
        <p:spPr>
          <a:xfrm>
            <a:off x="1071054" y="2787227"/>
            <a:ext cx="504190" cy="111125"/>
          </a:xfrm>
          <a:prstGeom prst="rect">
            <a:avLst/>
          </a:prstGeom>
        </p:spPr>
        <p:txBody>
          <a:bodyPr vert="horz" wrap="square" lIns="0" tIns="13970" rIns="0" bIns="0" rtlCol="0">
            <a:spAutoFit/>
          </a:bodyPr>
          <a:lstStyle/>
          <a:p>
            <a:pPr marL="12700">
              <a:lnSpc>
                <a:spcPct val="100000"/>
              </a:lnSpc>
              <a:spcBef>
                <a:spcPts val="110"/>
              </a:spcBef>
            </a:pPr>
            <a:r>
              <a:rPr sz="550" dirty="0">
                <a:solidFill>
                  <a:srgbClr val="231F20"/>
                </a:solidFill>
                <a:latin typeface="Arial"/>
                <a:cs typeface="Arial"/>
              </a:rPr>
              <a:t>Hotel </a:t>
            </a:r>
            <a:r>
              <a:rPr sz="550" spc="5" dirty="0">
                <a:solidFill>
                  <a:srgbClr val="231F20"/>
                </a:solidFill>
                <a:latin typeface="Arial"/>
                <a:cs typeface="Arial"/>
              </a:rPr>
              <a:t>database</a:t>
            </a:r>
            <a:endParaRPr sz="550">
              <a:latin typeface="Arial"/>
              <a:cs typeface="Arial"/>
            </a:endParaRPr>
          </a:p>
        </p:txBody>
      </p:sp>
      <p:sp>
        <p:nvSpPr>
          <p:cNvPr id="20" name="object 20"/>
          <p:cNvSpPr/>
          <p:nvPr/>
        </p:nvSpPr>
        <p:spPr>
          <a:xfrm>
            <a:off x="418987" y="2436262"/>
            <a:ext cx="504190" cy="50800"/>
          </a:xfrm>
          <a:custGeom>
            <a:avLst/>
            <a:gdLst/>
            <a:ahLst/>
            <a:cxnLst/>
            <a:rect l="l" t="t" r="r" b="b"/>
            <a:pathLst>
              <a:path w="504190" h="50800">
                <a:moveTo>
                  <a:pt x="0" y="25197"/>
                </a:moveTo>
                <a:lnTo>
                  <a:pt x="503990" y="25197"/>
                </a:lnTo>
              </a:path>
              <a:path w="504190" h="50800">
                <a:moveTo>
                  <a:pt x="0" y="0"/>
                </a:moveTo>
                <a:lnTo>
                  <a:pt x="0" y="50399"/>
                </a:lnTo>
              </a:path>
              <a:path w="504190" h="50800">
                <a:moveTo>
                  <a:pt x="503990" y="0"/>
                </a:moveTo>
                <a:lnTo>
                  <a:pt x="503990" y="50399"/>
                </a:lnTo>
              </a:path>
            </a:pathLst>
          </a:custGeom>
          <a:ln w="4445">
            <a:solidFill>
              <a:srgbClr val="231F20"/>
            </a:solidFill>
          </a:ln>
        </p:spPr>
        <p:txBody>
          <a:bodyPr wrap="square" lIns="0" tIns="0" rIns="0" bIns="0" rtlCol="0"/>
          <a:lstStyle/>
          <a:p>
            <a:endParaRPr/>
          </a:p>
        </p:txBody>
      </p:sp>
      <p:sp>
        <p:nvSpPr>
          <p:cNvPr id="21" name="object 21"/>
          <p:cNvSpPr/>
          <p:nvPr/>
        </p:nvSpPr>
        <p:spPr>
          <a:xfrm>
            <a:off x="1039354" y="2437005"/>
            <a:ext cx="504190" cy="50800"/>
          </a:xfrm>
          <a:custGeom>
            <a:avLst/>
            <a:gdLst/>
            <a:ahLst/>
            <a:cxnLst/>
            <a:rect l="l" t="t" r="r" b="b"/>
            <a:pathLst>
              <a:path w="504190" h="50800">
                <a:moveTo>
                  <a:pt x="0" y="25197"/>
                </a:moveTo>
                <a:lnTo>
                  <a:pt x="503991" y="25197"/>
                </a:lnTo>
              </a:path>
              <a:path w="504190" h="50800">
                <a:moveTo>
                  <a:pt x="0" y="0"/>
                </a:moveTo>
                <a:lnTo>
                  <a:pt x="0" y="50399"/>
                </a:lnTo>
              </a:path>
              <a:path w="504190" h="50800">
                <a:moveTo>
                  <a:pt x="503991" y="0"/>
                </a:moveTo>
                <a:lnTo>
                  <a:pt x="503991" y="50399"/>
                </a:lnTo>
              </a:path>
            </a:pathLst>
          </a:custGeom>
          <a:ln w="4445">
            <a:solidFill>
              <a:srgbClr val="231F20"/>
            </a:solidFill>
          </a:ln>
        </p:spPr>
        <p:txBody>
          <a:bodyPr wrap="square" lIns="0" tIns="0" rIns="0" bIns="0" rtlCol="0"/>
          <a:lstStyle/>
          <a:p>
            <a:endParaRPr/>
          </a:p>
        </p:txBody>
      </p:sp>
      <p:sp>
        <p:nvSpPr>
          <p:cNvPr id="22" name="object 22"/>
          <p:cNvSpPr/>
          <p:nvPr/>
        </p:nvSpPr>
        <p:spPr>
          <a:xfrm>
            <a:off x="417702" y="2197422"/>
            <a:ext cx="1121410" cy="50800"/>
          </a:xfrm>
          <a:custGeom>
            <a:avLst/>
            <a:gdLst/>
            <a:ahLst/>
            <a:cxnLst/>
            <a:rect l="l" t="t" r="r" b="b"/>
            <a:pathLst>
              <a:path w="1121410" h="50800">
                <a:moveTo>
                  <a:pt x="0" y="25203"/>
                </a:moveTo>
                <a:lnTo>
                  <a:pt x="1121375" y="25203"/>
                </a:lnTo>
              </a:path>
              <a:path w="1121410" h="50800">
                <a:moveTo>
                  <a:pt x="0" y="0"/>
                </a:moveTo>
                <a:lnTo>
                  <a:pt x="0" y="50399"/>
                </a:lnTo>
              </a:path>
              <a:path w="1121410" h="50800">
                <a:moveTo>
                  <a:pt x="1121375" y="0"/>
                </a:moveTo>
                <a:lnTo>
                  <a:pt x="1121375" y="50399"/>
                </a:lnTo>
              </a:path>
            </a:pathLst>
          </a:custGeom>
          <a:ln w="4445">
            <a:solidFill>
              <a:srgbClr val="231F20"/>
            </a:solidFill>
          </a:ln>
        </p:spPr>
        <p:txBody>
          <a:bodyPr wrap="square" lIns="0" tIns="0" rIns="0" bIns="0" rtlCol="0"/>
          <a:lstStyle/>
          <a:p>
            <a:endParaRPr/>
          </a:p>
        </p:txBody>
      </p:sp>
      <p:sp>
        <p:nvSpPr>
          <p:cNvPr id="23" name="object 23"/>
          <p:cNvSpPr txBox="1"/>
          <p:nvPr/>
        </p:nvSpPr>
        <p:spPr>
          <a:xfrm>
            <a:off x="347294" y="1908464"/>
            <a:ext cx="1369060" cy="29400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Issue:</a:t>
            </a:r>
            <a:r>
              <a:rPr sz="1200" spc="40" dirty="0">
                <a:solidFill>
                  <a:srgbClr val="3333B2"/>
                </a:solidFill>
                <a:latin typeface="Arial"/>
                <a:cs typeface="Arial"/>
              </a:rPr>
              <a:t> </a:t>
            </a:r>
            <a:r>
              <a:rPr sz="1200" spc="-5" dirty="0">
                <a:solidFill>
                  <a:srgbClr val="3333B2"/>
                </a:solidFill>
                <a:latin typeface="Arial"/>
                <a:cs typeface="Arial"/>
              </a:rPr>
              <a:t>all-or-nothing</a:t>
            </a:r>
            <a:endParaRPr sz="1200">
              <a:latin typeface="Arial"/>
              <a:cs typeface="Arial"/>
            </a:endParaRPr>
          </a:p>
          <a:p>
            <a:pPr marL="351155">
              <a:lnSpc>
                <a:spcPct val="100000"/>
              </a:lnSpc>
              <a:spcBef>
                <a:spcPts val="15"/>
              </a:spcBef>
            </a:pPr>
            <a:r>
              <a:rPr sz="550" spc="5" dirty="0">
                <a:solidFill>
                  <a:srgbClr val="231F20"/>
                </a:solidFill>
                <a:latin typeface="Arial"/>
                <a:cs typeface="Arial"/>
              </a:rPr>
              <a:t>Nested</a:t>
            </a:r>
            <a:r>
              <a:rPr sz="550" spc="-25" dirty="0">
                <a:solidFill>
                  <a:srgbClr val="231F20"/>
                </a:solidFill>
                <a:latin typeface="Arial"/>
                <a:cs typeface="Arial"/>
              </a:rPr>
              <a:t> </a:t>
            </a:r>
            <a:r>
              <a:rPr sz="550" dirty="0">
                <a:solidFill>
                  <a:srgbClr val="231F20"/>
                </a:solidFill>
                <a:latin typeface="Arial"/>
                <a:cs typeface="Arial"/>
              </a:rPr>
              <a:t>transaction</a:t>
            </a:r>
            <a:endParaRPr sz="550">
              <a:latin typeface="Arial"/>
              <a:cs typeface="Arial"/>
            </a:endParaRPr>
          </a:p>
        </p:txBody>
      </p:sp>
      <p:sp>
        <p:nvSpPr>
          <p:cNvPr id="24" name="object 24"/>
          <p:cNvSpPr txBox="1"/>
          <p:nvPr/>
        </p:nvSpPr>
        <p:spPr>
          <a:xfrm>
            <a:off x="425730" y="2331399"/>
            <a:ext cx="1120140" cy="111125"/>
          </a:xfrm>
          <a:prstGeom prst="rect">
            <a:avLst/>
          </a:prstGeom>
        </p:spPr>
        <p:txBody>
          <a:bodyPr vert="horz" wrap="square" lIns="0" tIns="13970" rIns="0" bIns="0" rtlCol="0">
            <a:spAutoFit/>
          </a:bodyPr>
          <a:lstStyle/>
          <a:p>
            <a:pPr marL="12700">
              <a:lnSpc>
                <a:spcPct val="100000"/>
              </a:lnSpc>
              <a:spcBef>
                <a:spcPts val="110"/>
              </a:spcBef>
              <a:tabLst>
                <a:tab pos="632460" algn="l"/>
              </a:tabLst>
            </a:pPr>
            <a:r>
              <a:rPr sz="550" dirty="0">
                <a:solidFill>
                  <a:srgbClr val="231F20"/>
                </a:solidFill>
                <a:latin typeface="Arial"/>
                <a:cs typeface="Arial"/>
              </a:rPr>
              <a:t>Subtransaction	Subtransaction</a:t>
            </a:r>
            <a:endParaRPr sz="550">
              <a:latin typeface="Arial"/>
              <a:cs typeface="Arial"/>
            </a:endParaRPr>
          </a:p>
        </p:txBody>
      </p:sp>
      <p:grpSp>
        <p:nvGrpSpPr>
          <p:cNvPr id="25" name="object 25"/>
          <p:cNvGrpSpPr/>
          <p:nvPr/>
        </p:nvGrpSpPr>
        <p:grpSpPr>
          <a:xfrm>
            <a:off x="843051" y="2709911"/>
            <a:ext cx="274320" cy="302895"/>
            <a:chOff x="843051" y="2709911"/>
            <a:chExt cx="274320" cy="302895"/>
          </a:xfrm>
        </p:grpSpPr>
        <p:sp>
          <p:nvSpPr>
            <p:cNvPr id="26" name="object 26"/>
            <p:cNvSpPr/>
            <p:nvPr/>
          </p:nvSpPr>
          <p:spPr>
            <a:xfrm>
              <a:off x="991312" y="2728826"/>
              <a:ext cx="100965" cy="277495"/>
            </a:xfrm>
            <a:custGeom>
              <a:avLst/>
              <a:gdLst/>
              <a:ahLst/>
              <a:cxnLst/>
              <a:rect l="l" t="t" r="r" b="b"/>
              <a:pathLst>
                <a:path w="100965" h="277494">
                  <a:moveTo>
                    <a:pt x="0" y="277200"/>
                  </a:moveTo>
                  <a:lnTo>
                    <a:pt x="15750" y="148839"/>
                  </a:lnTo>
                  <a:lnTo>
                    <a:pt x="50400" y="63001"/>
                  </a:lnTo>
                  <a:lnTo>
                    <a:pt x="85050" y="14962"/>
                  </a:lnTo>
                  <a:lnTo>
                    <a:pt x="100801" y="0"/>
                  </a:lnTo>
                </a:path>
              </a:pathLst>
            </a:custGeom>
            <a:ln w="4445">
              <a:solidFill>
                <a:srgbClr val="231F20"/>
              </a:solidFill>
            </a:ln>
          </p:spPr>
          <p:txBody>
            <a:bodyPr wrap="square" lIns="0" tIns="0" rIns="0" bIns="0" rtlCol="0"/>
            <a:lstStyle/>
            <a:p>
              <a:endParaRPr/>
            </a:p>
          </p:txBody>
        </p:sp>
        <p:sp>
          <p:nvSpPr>
            <p:cNvPr id="27" name="object 27"/>
            <p:cNvSpPr/>
            <p:nvPr/>
          </p:nvSpPr>
          <p:spPr>
            <a:xfrm>
              <a:off x="1051022" y="2709911"/>
              <a:ext cx="66675" cy="59690"/>
            </a:xfrm>
            <a:custGeom>
              <a:avLst/>
              <a:gdLst/>
              <a:ahLst/>
              <a:cxnLst/>
              <a:rect l="l" t="t" r="r" b="b"/>
              <a:pathLst>
                <a:path w="66675" h="59689">
                  <a:moveTo>
                    <a:pt x="66313" y="0"/>
                  </a:moveTo>
                  <a:lnTo>
                    <a:pt x="0" y="16130"/>
                  </a:lnTo>
                  <a:lnTo>
                    <a:pt x="12097" y="23859"/>
                  </a:lnTo>
                  <a:lnTo>
                    <a:pt x="21507" y="33604"/>
                  </a:lnTo>
                  <a:lnTo>
                    <a:pt x="28228" y="45366"/>
                  </a:lnTo>
                  <a:lnTo>
                    <a:pt x="32260" y="59146"/>
                  </a:lnTo>
                  <a:lnTo>
                    <a:pt x="66313" y="0"/>
                  </a:lnTo>
                  <a:close/>
                </a:path>
              </a:pathLst>
            </a:custGeom>
            <a:solidFill>
              <a:srgbClr val="231F20"/>
            </a:solidFill>
          </p:spPr>
          <p:txBody>
            <a:bodyPr wrap="square" lIns="0" tIns="0" rIns="0" bIns="0" rtlCol="0"/>
            <a:lstStyle/>
            <a:p>
              <a:endParaRPr/>
            </a:p>
          </p:txBody>
        </p:sp>
        <p:sp>
          <p:nvSpPr>
            <p:cNvPr id="28" name="object 28"/>
            <p:cNvSpPr/>
            <p:nvPr/>
          </p:nvSpPr>
          <p:spPr>
            <a:xfrm>
              <a:off x="868273" y="2733275"/>
              <a:ext cx="100965" cy="277495"/>
            </a:xfrm>
            <a:custGeom>
              <a:avLst/>
              <a:gdLst/>
              <a:ahLst/>
              <a:cxnLst/>
              <a:rect l="l" t="t" r="r" b="b"/>
              <a:pathLst>
                <a:path w="100965" h="277494">
                  <a:moveTo>
                    <a:pt x="100801" y="277197"/>
                  </a:moveTo>
                  <a:lnTo>
                    <a:pt x="85050" y="148836"/>
                  </a:lnTo>
                  <a:lnTo>
                    <a:pt x="50400" y="62999"/>
                  </a:lnTo>
                  <a:lnTo>
                    <a:pt x="15750" y="14962"/>
                  </a:lnTo>
                  <a:lnTo>
                    <a:pt x="0" y="0"/>
                  </a:lnTo>
                </a:path>
              </a:pathLst>
            </a:custGeom>
            <a:ln w="4445">
              <a:solidFill>
                <a:srgbClr val="231F20"/>
              </a:solidFill>
            </a:ln>
          </p:spPr>
          <p:txBody>
            <a:bodyPr wrap="square" lIns="0" tIns="0" rIns="0" bIns="0" rtlCol="0"/>
            <a:lstStyle/>
            <a:p>
              <a:endParaRPr/>
            </a:p>
          </p:txBody>
        </p:sp>
        <p:sp>
          <p:nvSpPr>
            <p:cNvPr id="29" name="object 29"/>
            <p:cNvSpPr/>
            <p:nvPr/>
          </p:nvSpPr>
          <p:spPr>
            <a:xfrm>
              <a:off x="843051" y="2714360"/>
              <a:ext cx="66675" cy="59690"/>
            </a:xfrm>
            <a:custGeom>
              <a:avLst/>
              <a:gdLst/>
              <a:ahLst/>
              <a:cxnLst/>
              <a:rect l="l" t="t" r="r" b="b"/>
              <a:pathLst>
                <a:path w="66675" h="59689">
                  <a:moveTo>
                    <a:pt x="0" y="0"/>
                  </a:moveTo>
                  <a:lnTo>
                    <a:pt x="34053" y="59142"/>
                  </a:lnTo>
                  <a:lnTo>
                    <a:pt x="38085" y="45363"/>
                  </a:lnTo>
                  <a:lnTo>
                    <a:pt x="44806" y="33601"/>
                  </a:lnTo>
                  <a:lnTo>
                    <a:pt x="54216" y="23857"/>
                  </a:lnTo>
                  <a:lnTo>
                    <a:pt x="66314" y="16130"/>
                  </a:lnTo>
                  <a:lnTo>
                    <a:pt x="0" y="0"/>
                  </a:lnTo>
                  <a:close/>
                </a:path>
              </a:pathLst>
            </a:custGeom>
            <a:solidFill>
              <a:srgbClr val="231F20"/>
            </a:solidFill>
          </p:spPr>
          <p:txBody>
            <a:bodyPr wrap="square" lIns="0" tIns="0" rIns="0" bIns="0" rtlCol="0"/>
            <a:lstStyle/>
            <a:p>
              <a:endParaRPr/>
            </a:p>
          </p:txBody>
        </p:sp>
      </p:grpSp>
      <p:sp>
        <p:nvSpPr>
          <p:cNvPr id="30" name="object 30"/>
          <p:cNvSpPr txBox="1"/>
          <p:nvPr/>
        </p:nvSpPr>
        <p:spPr>
          <a:xfrm>
            <a:off x="299007" y="3025733"/>
            <a:ext cx="1238250" cy="111125"/>
          </a:xfrm>
          <a:prstGeom prst="rect">
            <a:avLst/>
          </a:prstGeom>
        </p:spPr>
        <p:txBody>
          <a:bodyPr vert="horz" wrap="square" lIns="0" tIns="13970" rIns="0" bIns="0" rtlCol="0">
            <a:spAutoFit/>
          </a:bodyPr>
          <a:lstStyle/>
          <a:p>
            <a:pPr marL="12700">
              <a:lnSpc>
                <a:spcPct val="100000"/>
              </a:lnSpc>
              <a:spcBef>
                <a:spcPts val="110"/>
              </a:spcBef>
            </a:pPr>
            <a:r>
              <a:rPr sz="550" spc="-10" dirty="0">
                <a:solidFill>
                  <a:srgbClr val="231F20"/>
                </a:solidFill>
                <a:latin typeface="Arial"/>
                <a:cs typeface="Arial"/>
              </a:rPr>
              <a:t>Two</a:t>
            </a:r>
            <a:r>
              <a:rPr sz="550" dirty="0">
                <a:solidFill>
                  <a:srgbClr val="231F20"/>
                </a:solidFill>
                <a:latin typeface="Arial"/>
                <a:cs typeface="Arial"/>
              </a:rPr>
              <a:t> different (independent) </a:t>
            </a:r>
            <a:r>
              <a:rPr sz="550" spc="5" dirty="0">
                <a:solidFill>
                  <a:srgbClr val="231F20"/>
                </a:solidFill>
                <a:latin typeface="Arial"/>
                <a:cs typeface="Arial"/>
              </a:rPr>
              <a:t>databases</a:t>
            </a:r>
            <a:endParaRPr sz="550">
              <a:latin typeface="Arial"/>
              <a:cs typeface="Arial"/>
            </a:endParaRPr>
          </a:p>
        </p:txBody>
      </p:sp>
      <p:sp>
        <p:nvSpPr>
          <p:cNvPr id="32" name="object 32"/>
          <p:cNvSpPr txBox="1"/>
          <p:nvPr/>
        </p:nvSpPr>
        <p:spPr>
          <a:xfrm>
            <a:off x="66713" y="3331252"/>
            <a:ext cx="11677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Distributed transaction processing</a:t>
            </a:r>
            <a:endParaRPr sz="600">
              <a:latin typeface="Arial"/>
              <a:cs typeface="Arial"/>
            </a:endParaRPr>
          </a:p>
        </p:txBody>
      </p:sp>
      <p:sp>
        <p:nvSpPr>
          <p:cNvPr id="33" name="object 3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43</a:t>
            </a:r>
            <a:r>
              <a:rPr spc="-40" dirty="0"/>
              <a:t> </a:t>
            </a:r>
            <a:r>
              <a:rPr spc="-5" dirty="0"/>
              <a:t>/</a:t>
            </a:r>
            <a:r>
              <a:rPr spc="-35" dirty="0"/>
              <a:t> </a:t>
            </a:r>
            <a:r>
              <a:rPr spc="-5" dirty="0"/>
              <a:t>56</a:t>
            </a:r>
          </a:p>
        </p:txBody>
      </p:sp>
      <p:sp>
        <p:nvSpPr>
          <p:cNvPr id="31" name="object 31"/>
          <p:cNvSpPr txBox="1"/>
          <p:nvPr/>
        </p:nvSpPr>
        <p:spPr>
          <a:xfrm>
            <a:off x="1857171" y="2306530"/>
            <a:ext cx="2264410" cy="858519"/>
          </a:xfrm>
          <a:prstGeom prst="rect">
            <a:avLst/>
          </a:prstGeom>
        </p:spPr>
        <p:txBody>
          <a:bodyPr vert="horz" wrap="square" lIns="0" tIns="12065" rIns="0" bIns="0" rtlCol="0">
            <a:spAutoFit/>
          </a:bodyPr>
          <a:lstStyle/>
          <a:p>
            <a:pPr marL="195580" indent="-158115">
              <a:lnSpc>
                <a:spcPct val="100000"/>
              </a:lnSpc>
              <a:spcBef>
                <a:spcPts val="95"/>
              </a:spcBef>
              <a:buClr>
                <a:srgbClr val="3333B2"/>
              </a:buClr>
              <a:buFont typeface="Arial"/>
              <a:buChar char="►"/>
              <a:tabLst>
                <a:tab pos="196215" algn="l"/>
              </a:tabLst>
            </a:pPr>
            <a:r>
              <a:rPr sz="900" b="1" spc="-5" dirty="0">
                <a:latin typeface="Arial"/>
                <a:cs typeface="Arial"/>
              </a:rPr>
              <a:t>Atomic</a:t>
            </a:r>
            <a:r>
              <a:rPr sz="900" spc="-5" dirty="0">
                <a:latin typeface="Arial"/>
                <a:cs typeface="Arial"/>
              </a:rPr>
              <a:t>:</a:t>
            </a:r>
            <a:r>
              <a:rPr sz="900" spc="55" dirty="0">
                <a:latin typeface="Arial"/>
                <a:cs typeface="Arial"/>
              </a:rPr>
              <a:t> </a:t>
            </a:r>
            <a:r>
              <a:rPr sz="900" spc="-5" dirty="0">
                <a:latin typeface="Arial"/>
                <a:cs typeface="Arial"/>
              </a:rPr>
              <a:t>happens indivisibly (seemingly)</a:t>
            </a:r>
            <a:endParaRPr sz="900">
              <a:latin typeface="Arial"/>
              <a:cs typeface="Arial"/>
            </a:endParaRPr>
          </a:p>
          <a:p>
            <a:pPr marL="195580" marR="211454" indent="-158115">
              <a:lnSpc>
                <a:spcPct val="101499"/>
              </a:lnSpc>
              <a:buClr>
                <a:srgbClr val="3333B2"/>
              </a:buClr>
              <a:buFont typeface="Arial"/>
              <a:buChar char="►"/>
              <a:tabLst>
                <a:tab pos="196215" algn="l"/>
              </a:tabLst>
            </a:pPr>
            <a:r>
              <a:rPr sz="900" b="1" spc="-5" dirty="0">
                <a:latin typeface="Arial"/>
                <a:cs typeface="Arial"/>
              </a:rPr>
              <a:t>Consistent</a:t>
            </a:r>
            <a:r>
              <a:rPr sz="900" spc="-5" dirty="0">
                <a:latin typeface="Arial"/>
                <a:cs typeface="Arial"/>
              </a:rPr>
              <a:t>:</a:t>
            </a:r>
            <a:r>
              <a:rPr sz="900" spc="55" dirty="0">
                <a:latin typeface="Arial"/>
                <a:cs typeface="Arial"/>
              </a:rPr>
              <a:t> </a:t>
            </a:r>
            <a:r>
              <a:rPr sz="900" spc="-5" dirty="0">
                <a:latin typeface="Arial"/>
                <a:cs typeface="Arial"/>
              </a:rPr>
              <a:t>does not violate system </a:t>
            </a:r>
            <a:r>
              <a:rPr sz="900" spc="-235" dirty="0">
                <a:latin typeface="Arial"/>
                <a:cs typeface="Arial"/>
              </a:rPr>
              <a:t> </a:t>
            </a:r>
            <a:r>
              <a:rPr sz="900" spc="-5" dirty="0">
                <a:latin typeface="Arial"/>
                <a:cs typeface="Arial"/>
              </a:rPr>
              <a:t>invariants</a:t>
            </a:r>
            <a:endParaRPr sz="900">
              <a:latin typeface="Arial"/>
              <a:cs typeface="Arial"/>
            </a:endParaRPr>
          </a:p>
          <a:p>
            <a:pPr marL="195580" indent="-158115">
              <a:lnSpc>
                <a:spcPct val="100000"/>
              </a:lnSpc>
              <a:spcBef>
                <a:spcPts val="15"/>
              </a:spcBef>
              <a:buClr>
                <a:srgbClr val="3333B2"/>
              </a:buClr>
              <a:buFont typeface="Arial"/>
              <a:buChar char="►"/>
              <a:tabLst>
                <a:tab pos="196215" algn="l"/>
              </a:tabLst>
            </a:pPr>
            <a:r>
              <a:rPr sz="900" b="1" spc="-5" dirty="0">
                <a:latin typeface="Arial"/>
                <a:cs typeface="Arial"/>
              </a:rPr>
              <a:t>Isolated</a:t>
            </a:r>
            <a:r>
              <a:rPr sz="900" spc="-5" dirty="0">
                <a:latin typeface="Arial"/>
                <a:cs typeface="Arial"/>
              </a:rPr>
              <a:t>:</a:t>
            </a:r>
            <a:r>
              <a:rPr sz="900" spc="40" dirty="0">
                <a:latin typeface="Arial"/>
                <a:cs typeface="Arial"/>
              </a:rPr>
              <a:t> </a:t>
            </a:r>
            <a:r>
              <a:rPr sz="900" spc="-5" dirty="0">
                <a:latin typeface="Arial"/>
                <a:cs typeface="Arial"/>
              </a:rPr>
              <a:t>not</a:t>
            </a:r>
            <a:r>
              <a:rPr sz="900" spc="-10" dirty="0">
                <a:latin typeface="Arial"/>
                <a:cs typeface="Arial"/>
              </a:rPr>
              <a:t> </a:t>
            </a:r>
            <a:r>
              <a:rPr sz="900" spc="-5" dirty="0">
                <a:latin typeface="Arial"/>
                <a:cs typeface="Arial"/>
              </a:rPr>
              <a:t>mutual</a:t>
            </a:r>
            <a:r>
              <a:rPr sz="900" spc="-15" dirty="0">
                <a:latin typeface="Arial"/>
                <a:cs typeface="Arial"/>
              </a:rPr>
              <a:t> </a:t>
            </a:r>
            <a:r>
              <a:rPr sz="900" spc="-5" dirty="0">
                <a:latin typeface="Arial"/>
                <a:cs typeface="Arial"/>
              </a:rPr>
              <a:t>interference</a:t>
            </a:r>
            <a:endParaRPr sz="900">
              <a:latin typeface="Arial"/>
              <a:cs typeface="Arial"/>
            </a:endParaRPr>
          </a:p>
          <a:p>
            <a:pPr marL="195580" marR="168275" indent="-158115">
              <a:lnSpc>
                <a:spcPct val="101499"/>
              </a:lnSpc>
              <a:buClr>
                <a:srgbClr val="3333B2"/>
              </a:buClr>
              <a:buFont typeface="Arial"/>
              <a:buChar char="►"/>
              <a:tabLst>
                <a:tab pos="196215" algn="l"/>
              </a:tabLst>
            </a:pPr>
            <a:r>
              <a:rPr sz="900" b="1" spc="-5" dirty="0">
                <a:latin typeface="Arial"/>
                <a:cs typeface="Arial"/>
              </a:rPr>
              <a:t>Durable</a:t>
            </a:r>
            <a:r>
              <a:rPr sz="900" spc="-5" dirty="0">
                <a:latin typeface="Arial"/>
                <a:cs typeface="Arial"/>
              </a:rPr>
              <a:t>:</a:t>
            </a:r>
            <a:r>
              <a:rPr sz="900" spc="45" dirty="0">
                <a:latin typeface="Arial"/>
                <a:cs typeface="Arial"/>
              </a:rPr>
              <a:t> </a:t>
            </a:r>
            <a:r>
              <a:rPr sz="900" spc="-5" dirty="0">
                <a:latin typeface="Arial"/>
                <a:cs typeface="Arial"/>
              </a:rPr>
              <a:t>commit means</a:t>
            </a:r>
            <a:r>
              <a:rPr sz="900" spc="-10" dirty="0">
                <a:latin typeface="Arial"/>
                <a:cs typeface="Arial"/>
              </a:rPr>
              <a:t> </a:t>
            </a:r>
            <a:r>
              <a:rPr sz="900" spc="-5" dirty="0">
                <a:latin typeface="Arial"/>
                <a:cs typeface="Arial"/>
              </a:rPr>
              <a:t>changes</a:t>
            </a:r>
            <a:r>
              <a:rPr sz="900" spc="-10" dirty="0">
                <a:latin typeface="Arial"/>
                <a:cs typeface="Arial"/>
              </a:rPr>
              <a:t> </a:t>
            </a:r>
            <a:r>
              <a:rPr sz="900" spc="-5" dirty="0">
                <a:latin typeface="Arial"/>
                <a:cs typeface="Arial"/>
              </a:rPr>
              <a:t>are </a:t>
            </a:r>
            <a:r>
              <a:rPr sz="900" spc="-235" dirty="0">
                <a:latin typeface="Arial"/>
                <a:cs typeface="Arial"/>
              </a:rPr>
              <a:t> </a:t>
            </a:r>
            <a:r>
              <a:rPr sz="900" dirty="0">
                <a:latin typeface="Arial"/>
                <a:cs typeface="Arial"/>
              </a:rPr>
              <a:t>permanent</a:t>
            </a:r>
            <a:endParaRPr sz="900">
              <a:latin typeface="Arial"/>
              <a:cs typeface="Arial"/>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3" action="ppaction://hlinksldjump"/>
              </a:rPr>
              <a:t>Types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3" name="object 3"/>
          <p:cNvSpPr txBox="1"/>
          <p:nvPr/>
        </p:nvSpPr>
        <p:spPr>
          <a:xfrm>
            <a:off x="3457783" y="716"/>
            <a:ext cx="1083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Distributed</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information systems</a:t>
            </a:r>
            <a:endParaRPr sz="600">
              <a:latin typeface="Arial"/>
              <a:cs typeface="Arial"/>
            </a:endParaRPr>
          </a:p>
        </p:txBody>
      </p:sp>
      <p:sp>
        <p:nvSpPr>
          <p:cNvPr id="4" name="object 4"/>
          <p:cNvSpPr txBox="1"/>
          <p:nvPr/>
        </p:nvSpPr>
        <p:spPr>
          <a:xfrm>
            <a:off x="95300" y="188846"/>
            <a:ext cx="304990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TPM:</a:t>
            </a:r>
            <a:r>
              <a:rPr sz="1400" spc="-5" dirty="0">
                <a:solidFill>
                  <a:srgbClr val="3333B2"/>
                </a:solidFill>
                <a:latin typeface="Arial"/>
                <a:cs typeface="Arial"/>
              </a:rPr>
              <a:t> Transaction</a:t>
            </a:r>
            <a:r>
              <a:rPr sz="1400" dirty="0">
                <a:solidFill>
                  <a:srgbClr val="3333B2"/>
                </a:solidFill>
                <a:latin typeface="Arial"/>
                <a:cs typeface="Arial"/>
              </a:rPr>
              <a:t> </a:t>
            </a:r>
            <a:r>
              <a:rPr sz="1400" spc="15" dirty="0">
                <a:solidFill>
                  <a:srgbClr val="3333B2"/>
                </a:solidFill>
                <a:latin typeface="Arial"/>
                <a:cs typeface="Arial"/>
              </a:rPr>
              <a:t>Processing</a:t>
            </a:r>
            <a:r>
              <a:rPr sz="1400" dirty="0">
                <a:solidFill>
                  <a:srgbClr val="3333B2"/>
                </a:solidFill>
                <a:latin typeface="Arial"/>
                <a:cs typeface="Arial"/>
              </a:rPr>
              <a:t> </a:t>
            </a:r>
            <a:r>
              <a:rPr sz="1400" spc="15" dirty="0">
                <a:solidFill>
                  <a:srgbClr val="3333B2"/>
                </a:solidFill>
                <a:latin typeface="Arial"/>
                <a:cs typeface="Arial"/>
              </a:rPr>
              <a:t>Monitor</a:t>
            </a:r>
            <a:endParaRPr sz="1400">
              <a:latin typeface="Arial"/>
              <a:cs typeface="Arial"/>
            </a:endParaRPr>
          </a:p>
        </p:txBody>
      </p:sp>
      <p:pic>
        <p:nvPicPr>
          <p:cNvPr id="5" name="object 5"/>
          <p:cNvPicPr/>
          <p:nvPr/>
        </p:nvPicPr>
        <p:blipFill>
          <a:blip r:embed="rId5" cstate="print"/>
          <a:stretch>
            <a:fillRect/>
          </a:stretch>
        </p:blipFill>
        <p:spPr>
          <a:xfrm>
            <a:off x="2824816" y="1337231"/>
            <a:ext cx="74366" cy="63753"/>
          </a:xfrm>
          <a:prstGeom prst="rect">
            <a:avLst/>
          </a:prstGeom>
        </p:spPr>
      </p:pic>
      <p:grpSp>
        <p:nvGrpSpPr>
          <p:cNvPr id="6" name="object 6"/>
          <p:cNvGrpSpPr/>
          <p:nvPr/>
        </p:nvGrpSpPr>
        <p:grpSpPr>
          <a:xfrm>
            <a:off x="2222809" y="768872"/>
            <a:ext cx="683895" cy="488315"/>
            <a:chOff x="2222809" y="768872"/>
            <a:chExt cx="683895" cy="488315"/>
          </a:xfrm>
        </p:grpSpPr>
        <p:sp>
          <p:nvSpPr>
            <p:cNvPr id="7" name="object 7"/>
            <p:cNvSpPr/>
            <p:nvPr/>
          </p:nvSpPr>
          <p:spPr>
            <a:xfrm>
              <a:off x="2399318" y="890832"/>
              <a:ext cx="470534" cy="358775"/>
            </a:xfrm>
            <a:custGeom>
              <a:avLst/>
              <a:gdLst/>
              <a:ahLst/>
              <a:cxnLst/>
              <a:rect l="l" t="t" r="r" b="b"/>
              <a:pathLst>
                <a:path w="470535" h="358775">
                  <a:moveTo>
                    <a:pt x="0" y="358566"/>
                  </a:moveTo>
                  <a:lnTo>
                    <a:pt x="99273" y="138747"/>
                  </a:lnTo>
                  <a:lnTo>
                    <a:pt x="257943" y="33689"/>
                  </a:lnTo>
                  <a:lnTo>
                    <a:pt x="405126" y="1428"/>
                  </a:lnTo>
                  <a:lnTo>
                    <a:pt x="469938" y="0"/>
                  </a:lnTo>
                </a:path>
              </a:pathLst>
            </a:custGeom>
            <a:ln w="5270">
              <a:solidFill>
                <a:srgbClr val="231F20"/>
              </a:solidFill>
            </a:ln>
          </p:spPr>
          <p:txBody>
            <a:bodyPr wrap="square" lIns="0" tIns="0" rIns="0" bIns="0" rtlCol="0"/>
            <a:lstStyle/>
            <a:p>
              <a:endParaRPr/>
            </a:p>
          </p:txBody>
        </p:sp>
        <p:pic>
          <p:nvPicPr>
            <p:cNvPr id="8" name="object 8"/>
            <p:cNvPicPr/>
            <p:nvPr/>
          </p:nvPicPr>
          <p:blipFill>
            <a:blip r:embed="rId6" cstate="print"/>
            <a:stretch>
              <a:fillRect/>
            </a:stretch>
          </p:blipFill>
          <p:spPr>
            <a:xfrm>
              <a:off x="2830044" y="856363"/>
              <a:ext cx="76485" cy="63583"/>
            </a:xfrm>
            <a:prstGeom prst="rect">
              <a:avLst/>
            </a:prstGeom>
          </p:spPr>
        </p:pic>
        <p:sp>
          <p:nvSpPr>
            <p:cNvPr id="9" name="object 9"/>
            <p:cNvSpPr/>
            <p:nvPr/>
          </p:nvSpPr>
          <p:spPr>
            <a:xfrm>
              <a:off x="2253030" y="771508"/>
              <a:ext cx="646430" cy="448309"/>
            </a:xfrm>
            <a:custGeom>
              <a:avLst/>
              <a:gdLst/>
              <a:ahLst/>
              <a:cxnLst/>
              <a:rect l="l" t="t" r="r" b="b"/>
              <a:pathLst>
                <a:path w="646430" h="448309">
                  <a:moveTo>
                    <a:pt x="646152" y="0"/>
                  </a:moveTo>
                  <a:lnTo>
                    <a:pt x="280858" y="70031"/>
                  </a:lnTo>
                  <a:lnTo>
                    <a:pt x="88113" y="224099"/>
                  </a:lnTo>
                  <a:lnTo>
                    <a:pt x="12850" y="378167"/>
                  </a:lnTo>
                  <a:lnTo>
                    <a:pt x="0" y="448199"/>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7" cstate="print"/>
            <a:stretch>
              <a:fillRect/>
            </a:stretch>
          </p:blipFill>
          <p:spPr>
            <a:xfrm>
              <a:off x="2222809" y="1181356"/>
              <a:ext cx="63688" cy="75698"/>
            </a:xfrm>
            <a:prstGeom prst="rect">
              <a:avLst/>
            </a:prstGeom>
          </p:spPr>
        </p:pic>
      </p:grpSp>
      <p:grpSp>
        <p:nvGrpSpPr>
          <p:cNvPr id="11" name="object 11"/>
          <p:cNvGrpSpPr/>
          <p:nvPr/>
        </p:nvGrpSpPr>
        <p:grpSpPr>
          <a:xfrm>
            <a:off x="2222777" y="1630374"/>
            <a:ext cx="674370" cy="488315"/>
            <a:chOff x="2222777" y="1630374"/>
            <a:chExt cx="674370" cy="488315"/>
          </a:xfrm>
        </p:grpSpPr>
        <p:sp>
          <p:nvSpPr>
            <p:cNvPr id="12" name="object 12"/>
            <p:cNvSpPr/>
            <p:nvPr/>
          </p:nvSpPr>
          <p:spPr>
            <a:xfrm>
              <a:off x="2396967" y="1638029"/>
              <a:ext cx="462915" cy="358775"/>
            </a:xfrm>
            <a:custGeom>
              <a:avLst/>
              <a:gdLst/>
              <a:ahLst/>
              <a:cxnLst/>
              <a:rect l="l" t="t" r="r" b="b"/>
              <a:pathLst>
                <a:path w="462914" h="358775">
                  <a:moveTo>
                    <a:pt x="0" y="0"/>
                  </a:moveTo>
                  <a:lnTo>
                    <a:pt x="97680" y="219816"/>
                  </a:lnTo>
                  <a:lnTo>
                    <a:pt x="253802" y="324871"/>
                  </a:lnTo>
                  <a:lnTo>
                    <a:pt x="398620" y="357130"/>
                  </a:lnTo>
                  <a:lnTo>
                    <a:pt x="462391" y="358558"/>
                  </a:lnTo>
                </a:path>
              </a:pathLst>
            </a:custGeom>
            <a:ln w="5270">
              <a:solidFill>
                <a:srgbClr val="231F20"/>
              </a:solidFill>
            </a:ln>
          </p:spPr>
          <p:txBody>
            <a:bodyPr wrap="square" lIns="0" tIns="0" rIns="0" bIns="0" rtlCol="0"/>
            <a:lstStyle/>
            <a:p>
              <a:endParaRPr/>
            </a:p>
          </p:txBody>
        </p:sp>
        <p:pic>
          <p:nvPicPr>
            <p:cNvPr id="13" name="object 13"/>
            <p:cNvPicPr/>
            <p:nvPr/>
          </p:nvPicPr>
          <p:blipFill>
            <a:blip r:embed="rId8" cstate="print"/>
            <a:stretch>
              <a:fillRect/>
            </a:stretch>
          </p:blipFill>
          <p:spPr>
            <a:xfrm>
              <a:off x="2820114" y="1967526"/>
              <a:ext cx="76517" cy="63574"/>
            </a:xfrm>
            <a:prstGeom prst="rect">
              <a:avLst/>
            </a:prstGeom>
          </p:spPr>
        </p:pic>
        <p:sp>
          <p:nvSpPr>
            <p:cNvPr id="14" name="object 14"/>
            <p:cNvSpPr/>
            <p:nvPr/>
          </p:nvSpPr>
          <p:spPr>
            <a:xfrm>
              <a:off x="2253030" y="1667716"/>
              <a:ext cx="636270" cy="448309"/>
            </a:xfrm>
            <a:custGeom>
              <a:avLst/>
              <a:gdLst/>
              <a:ahLst/>
              <a:cxnLst/>
              <a:rect l="l" t="t" r="r" b="b"/>
              <a:pathLst>
                <a:path w="636269" h="448310">
                  <a:moveTo>
                    <a:pt x="635780" y="448202"/>
                  </a:moveTo>
                  <a:lnTo>
                    <a:pt x="276348" y="378170"/>
                  </a:lnTo>
                  <a:lnTo>
                    <a:pt x="86698" y="224101"/>
                  </a:lnTo>
                  <a:lnTo>
                    <a:pt x="12643" y="70031"/>
                  </a:lnTo>
                  <a:lnTo>
                    <a:pt x="0" y="0"/>
                  </a:lnTo>
                </a:path>
              </a:pathLst>
            </a:custGeom>
            <a:ln w="5270">
              <a:solidFill>
                <a:srgbClr val="231F20"/>
              </a:solidFill>
            </a:ln>
          </p:spPr>
          <p:txBody>
            <a:bodyPr wrap="square" lIns="0" tIns="0" rIns="0" bIns="0" rtlCol="0"/>
            <a:lstStyle/>
            <a:p>
              <a:endParaRPr/>
            </a:p>
          </p:txBody>
        </p:sp>
        <p:pic>
          <p:nvPicPr>
            <p:cNvPr id="15" name="object 15"/>
            <p:cNvPicPr/>
            <p:nvPr/>
          </p:nvPicPr>
          <p:blipFill>
            <a:blip r:embed="rId9" cstate="print"/>
            <a:stretch>
              <a:fillRect/>
            </a:stretch>
          </p:blipFill>
          <p:spPr>
            <a:xfrm>
              <a:off x="2222777" y="1630374"/>
              <a:ext cx="63699" cy="75676"/>
            </a:xfrm>
            <a:prstGeom prst="rect">
              <a:avLst/>
            </a:prstGeom>
          </p:spPr>
        </p:pic>
      </p:grpSp>
      <p:grpSp>
        <p:nvGrpSpPr>
          <p:cNvPr id="16" name="object 16"/>
          <p:cNvGrpSpPr/>
          <p:nvPr/>
        </p:nvGrpSpPr>
        <p:grpSpPr>
          <a:xfrm>
            <a:off x="2480873" y="1486634"/>
            <a:ext cx="418465" cy="64135"/>
            <a:chOff x="2480873" y="1486634"/>
            <a:chExt cx="418465" cy="64135"/>
          </a:xfrm>
        </p:grpSpPr>
        <p:sp>
          <p:nvSpPr>
            <p:cNvPr id="17" name="object 17"/>
            <p:cNvSpPr/>
            <p:nvPr/>
          </p:nvSpPr>
          <p:spPr>
            <a:xfrm>
              <a:off x="2518252" y="1518507"/>
              <a:ext cx="381000" cy="0"/>
            </a:xfrm>
            <a:custGeom>
              <a:avLst/>
              <a:gdLst/>
              <a:ahLst/>
              <a:cxnLst/>
              <a:rect l="l" t="t" r="r" b="b"/>
              <a:pathLst>
                <a:path w="381000">
                  <a:moveTo>
                    <a:pt x="380930" y="0"/>
                  </a:moveTo>
                  <a:lnTo>
                    <a:pt x="0" y="0"/>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10" cstate="print"/>
            <a:stretch>
              <a:fillRect/>
            </a:stretch>
          </p:blipFill>
          <p:spPr>
            <a:xfrm>
              <a:off x="2480873" y="1486634"/>
              <a:ext cx="74377" cy="63751"/>
            </a:xfrm>
            <a:prstGeom prst="rect">
              <a:avLst/>
            </a:prstGeom>
          </p:spPr>
        </p:pic>
      </p:grpSp>
      <p:sp>
        <p:nvSpPr>
          <p:cNvPr id="19" name="object 19"/>
          <p:cNvSpPr txBox="1"/>
          <p:nvPr/>
        </p:nvSpPr>
        <p:spPr>
          <a:xfrm>
            <a:off x="2899182" y="681867"/>
            <a:ext cx="559435" cy="379730"/>
          </a:xfrm>
          <a:prstGeom prst="rect">
            <a:avLst/>
          </a:prstGeom>
          <a:ln w="5270">
            <a:solidFill>
              <a:srgbClr val="231F20"/>
            </a:solidFill>
          </a:ln>
        </p:spPr>
        <p:txBody>
          <a:bodyPr vert="horz" wrap="square" lIns="0" tIns="4445" rIns="0" bIns="0" rtlCol="0">
            <a:spAutoFit/>
          </a:bodyPr>
          <a:lstStyle/>
          <a:p>
            <a:pPr>
              <a:lnSpc>
                <a:spcPct val="100000"/>
              </a:lnSpc>
              <a:spcBef>
                <a:spcPts val="35"/>
              </a:spcBef>
            </a:pPr>
            <a:endParaRPr sz="700">
              <a:latin typeface="Times New Roman"/>
              <a:cs typeface="Times New Roman"/>
            </a:endParaRPr>
          </a:p>
          <a:p>
            <a:pPr marL="155575">
              <a:lnSpc>
                <a:spcPct val="100000"/>
              </a:lnSpc>
              <a:spcBef>
                <a:spcPts val="5"/>
              </a:spcBef>
            </a:pPr>
            <a:r>
              <a:rPr sz="650" spc="5" dirty="0">
                <a:solidFill>
                  <a:srgbClr val="231F20"/>
                </a:solidFill>
                <a:latin typeface="Arial"/>
                <a:cs typeface="Arial"/>
              </a:rPr>
              <a:t>Server</a:t>
            </a:r>
            <a:endParaRPr sz="650">
              <a:latin typeface="Arial"/>
              <a:cs typeface="Arial"/>
            </a:endParaRPr>
          </a:p>
        </p:txBody>
      </p:sp>
      <p:sp>
        <p:nvSpPr>
          <p:cNvPr id="20" name="object 20"/>
          <p:cNvSpPr txBox="1"/>
          <p:nvPr/>
        </p:nvSpPr>
        <p:spPr>
          <a:xfrm>
            <a:off x="2899182" y="1251083"/>
            <a:ext cx="559435" cy="379730"/>
          </a:xfrm>
          <a:prstGeom prst="rect">
            <a:avLst/>
          </a:prstGeom>
          <a:ln w="5270">
            <a:solidFill>
              <a:srgbClr val="231F20"/>
            </a:solidFill>
          </a:ln>
        </p:spPr>
        <p:txBody>
          <a:bodyPr vert="horz" wrap="square" lIns="0" tIns="4445" rIns="0" bIns="0" rtlCol="0">
            <a:spAutoFit/>
          </a:bodyPr>
          <a:lstStyle/>
          <a:p>
            <a:pPr>
              <a:lnSpc>
                <a:spcPct val="100000"/>
              </a:lnSpc>
              <a:spcBef>
                <a:spcPts val="35"/>
              </a:spcBef>
            </a:pPr>
            <a:endParaRPr sz="700">
              <a:latin typeface="Times New Roman"/>
              <a:cs typeface="Times New Roman"/>
            </a:endParaRPr>
          </a:p>
          <a:p>
            <a:pPr marL="155575">
              <a:lnSpc>
                <a:spcPct val="100000"/>
              </a:lnSpc>
              <a:spcBef>
                <a:spcPts val="5"/>
              </a:spcBef>
            </a:pPr>
            <a:r>
              <a:rPr sz="650" spc="5" dirty="0">
                <a:solidFill>
                  <a:srgbClr val="231F20"/>
                </a:solidFill>
                <a:latin typeface="Arial"/>
                <a:cs typeface="Arial"/>
              </a:rPr>
              <a:t>Server</a:t>
            </a:r>
            <a:endParaRPr sz="650">
              <a:latin typeface="Arial"/>
              <a:cs typeface="Arial"/>
            </a:endParaRPr>
          </a:p>
        </p:txBody>
      </p:sp>
      <p:sp>
        <p:nvSpPr>
          <p:cNvPr id="21" name="object 21"/>
          <p:cNvSpPr txBox="1"/>
          <p:nvPr/>
        </p:nvSpPr>
        <p:spPr>
          <a:xfrm>
            <a:off x="2899182" y="1820297"/>
            <a:ext cx="55943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750">
              <a:latin typeface="Times New Roman"/>
              <a:cs typeface="Times New Roman"/>
            </a:endParaRPr>
          </a:p>
          <a:p>
            <a:pPr marL="149860">
              <a:lnSpc>
                <a:spcPct val="100000"/>
              </a:lnSpc>
            </a:pPr>
            <a:r>
              <a:rPr sz="650" spc="5" dirty="0">
                <a:solidFill>
                  <a:srgbClr val="231F20"/>
                </a:solidFill>
                <a:latin typeface="Arial"/>
                <a:cs typeface="Arial"/>
              </a:rPr>
              <a:t>Server</a:t>
            </a:r>
            <a:endParaRPr sz="650">
              <a:latin typeface="Arial"/>
              <a:cs typeface="Arial"/>
            </a:endParaRPr>
          </a:p>
        </p:txBody>
      </p:sp>
      <p:sp>
        <p:nvSpPr>
          <p:cNvPr id="22" name="object 22"/>
          <p:cNvSpPr txBox="1"/>
          <p:nvPr/>
        </p:nvSpPr>
        <p:spPr>
          <a:xfrm>
            <a:off x="568547" y="1251079"/>
            <a:ext cx="56959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50">
              <a:latin typeface="Times New Roman"/>
              <a:cs typeface="Times New Roman"/>
            </a:endParaRPr>
          </a:p>
          <a:p>
            <a:pPr marL="82550" marR="74930" indent="93345">
              <a:lnSpc>
                <a:spcPct val="100000"/>
              </a:lnSpc>
              <a:spcBef>
                <a:spcPts val="5"/>
              </a:spcBef>
            </a:pPr>
            <a:r>
              <a:rPr sz="650" spc="5" dirty="0">
                <a:solidFill>
                  <a:srgbClr val="231F20"/>
                </a:solidFill>
                <a:latin typeface="Arial"/>
                <a:cs typeface="Arial"/>
              </a:rPr>
              <a:t>Client </a:t>
            </a:r>
            <a:r>
              <a:rPr sz="650" spc="10" dirty="0">
                <a:solidFill>
                  <a:srgbClr val="231F20"/>
                </a:solidFill>
                <a:latin typeface="Arial"/>
                <a:cs typeface="Arial"/>
              </a:rPr>
              <a:t> </a:t>
            </a:r>
            <a:r>
              <a:rPr sz="650" spc="5" dirty="0">
                <a:solidFill>
                  <a:srgbClr val="231F20"/>
                </a:solidFill>
                <a:latin typeface="Arial"/>
                <a:cs typeface="Arial"/>
              </a:rPr>
              <a:t>application</a:t>
            </a:r>
            <a:endParaRPr sz="650">
              <a:latin typeface="Arial"/>
              <a:cs typeface="Arial"/>
            </a:endParaRPr>
          </a:p>
        </p:txBody>
      </p:sp>
      <p:sp>
        <p:nvSpPr>
          <p:cNvPr id="23" name="object 23"/>
          <p:cNvSpPr txBox="1"/>
          <p:nvPr/>
        </p:nvSpPr>
        <p:spPr>
          <a:xfrm>
            <a:off x="1363670" y="1112263"/>
            <a:ext cx="3816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Requests</a:t>
            </a:r>
            <a:endParaRPr sz="650">
              <a:latin typeface="Arial"/>
              <a:cs typeface="Arial"/>
            </a:endParaRPr>
          </a:p>
        </p:txBody>
      </p:sp>
      <p:sp>
        <p:nvSpPr>
          <p:cNvPr id="24" name="object 24"/>
          <p:cNvSpPr/>
          <p:nvPr/>
        </p:nvSpPr>
        <p:spPr>
          <a:xfrm>
            <a:off x="1434227" y="1286659"/>
            <a:ext cx="166370" cy="308610"/>
          </a:xfrm>
          <a:custGeom>
            <a:avLst/>
            <a:gdLst/>
            <a:ahLst/>
            <a:cxnLst/>
            <a:rect l="l" t="t" r="r" b="b"/>
            <a:pathLst>
              <a:path w="166369" h="308609">
                <a:moveTo>
                  <a:pt x="83010" y="308320"/>
                </a:moveTo>
                <a:lnTo>
                  <a:pt x="115324" y="296204"/>
                </a:lnTo>
                <a:lnTo>
                  <a:pt x="141711" y="263165"/>
                </a:lnTo>
                <a:lnTo>
                  <a:pt x="159501" y="214163"/>
                </a:lnTo>
                <a:lnTo>
                  <a:pt x="166024" y="154157"/>
                </a:lnTo>
                <a:lnTo>
                  <a:pt x="159501" y="94154"/>
                </a:lnTo>
                <a:lnTo>
                  <a:pt x="141711" y="45153"/>
                </a:lnTo>
                <a:lnTo>
                  <a:pt x="115324" y="12115"/>
                </a:lnTo>
                <a:lnTo>
                  <a:pt x="83010" y="0"/>
                </a:lnTo>
                <a:lnTo>
                  <a:pt x="50699" y="12115"/>
                </a:lnTo>
                <a:lnTo>
                  <a:pt x="24313" y="45153"/>
                </a:lnTo>
                <a:lnTo>
                  <a:pt x="6523" y="94154"/>
                </a:lnTo>
                <a:lnTo>
                  <a:pt x="0" y="154157"/>
                </a:lnTo>
                <a:lnTo>
                  <a:pt x="6523" y="214163"/>
                </a:lnTo>
                <a:lnTo>
                  <a:pt x="24313" y="263165"/>
                </a:lnTo>
                <a:lnTo>
                  <a:pt x="50699" y="296204"/>
                </a:lnTo>
                <a:lnTo>
                  <a:pt x="83010" y="308320"/>
                </a:lnTo>
              </a:path>
            </a:pathLst>
          </a:custGeom>
          <a:ln w="10541">
            <a:solidFill>
              <a:srgbClr val="231F20"/>
            </a:solidFill>
          </a:ln>
        </p:spPr>
        <p:txBody>
          <a:bodyPr wrap="square" lIns="0" tIns="0" rIns="0" bIns="0" rtlCol="0"/>
          <a:lstStyle/>
          <a:p>
            <a:endParaRPr/>
          </a:p>
        </p:txBody>
      </p:sp>
      <p:sp>
        <p:nvSpPr>
          <p:cNvPr id="25" name="object 25"/>
          <p:cNvSpPr txBox="1"/>
          <p:nvPr/>
        </p:nvSpPr>
        <p:spPr>
          <a:xfrm>
            <a:off x="1396743" y="1628398"/>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Reply</a:t>
            </a:r>
            <a:endParaRPr sz="650">
              <a:latin typeface="Arial"/>
              <a:cs typeface="Arial"/>
            </a:endParaRPr>
          </a:p>
        </p:txBody>
      </p:sp>
      <p:sp>
        <p:nvSpPr>
          <p:cNvPr id="26" name="object 26"/>
          <p:cNvSpPr txBox="1"/>
          <p:nvPr/>
        </p:nvSpPr>
        <p:spPr>
          <a:xfrm>
            <a:off x="2523586" y="1041195"/>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Request</a:t>
            </a:r>
            <a:endParaRPr sz="650">
              <a:latin typeface="Arial"/>
              <a:cs typeface="Arial"/>
            </a:endParaRPr>
          </a:p>
        </p:txBody>
      </p:sp>
      <p:sp>
        <p:nvSpPr>
          <p:cNvPr id="27" name="object 27"/>
          <p:cNvSpPr txBox="1"/>
          <p:nvPr/>
        </p:nvSpPr>
        <p:spPr>
          <a:xfrm>
            <a:off x="2517628" y="1736456"/>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Request</a:t>
            </a:r>
            <a:endParaRPr sz="650">
              <a:latin typeface="Arial"/>
              <a:cs typeface="Arial"/>
            </a:endParaRPr>
          </a:p>
        </p:txBody>
      </p:sp>
      <p:sp>
        <p:nvSpPr>
          <p:cNvPr id="28" name="object 28"/>
          <p:cNvSpPr txBox="1"/>
          <p:nvPr/>
        </p:nvSpPr>
        <p:spPr>
          <a:xfrm>
            <a:off x="2055863" y="891796"/>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Reply</a:t>
            </a:r>
            <a:endParaRPr sz="650">
              <a:latin typeface="Arial"/>
              <a:cs typeface="Arial"/>
            </a:endParaRPr>
          </a:p>
        </p:txBody>
      </p:sp>
      <p:sp>
        <p:nvSpPr>
          <p:cNvPr id="29" name="object 29"/>
          <p:cNvSpPr/>
          <p:nvPr/>
        </p:nvSpPr>
        <p:spPr>
          <a:xfrm>
            <a:off x="1564672" y="1488252"/>
            <a:ext cx="47625" cy="47625"/>
          </a:xfrm>
          <a:custGeom>
            <a:avLst/>
            <a:gdLst/>
            <a:ahLst/>
            <a:cxnLst/>
            <a:rect l="l" t="t" r="r" b="b"/>
            <a:pathLst>
              <a:path w="47625" h="47625">
                <a:moveTo>
                  <a:pt x="0" y="47434"/>
                </a:moveTo>
                <a:lnTo>
                  <a:pt x="47434" y="47434"/>
                </a:lnTo>
                <a:lnTo>
                  <a:pt x="47434" y="0"/>
                </a:lnTo>
                <a:lnTo>
                  <a:pt x="0" y="0"/>
                </a:lnTo>
                <a:lnTo>
                  <a:pt x="0" y="47434"/>
                </a:lnTo>
                <a:close/>
              </a:path>
            </a:pathLst>
          </a:custGeom>
          <a:ln w="3175">
            <a:solidFill>
              <a:srgbClr val="FFFFFF"/>
            </a:solidFill>
          </a:ln>
        </p:spPr>
        <p:txBody>
          <a:bodyPr wrap="square" lIns="0" tIns="0" rIns="0" bIns="0" rtlCol="0"/>
          <a:lstStyle/>
          <a:p>
            <a:endParaRPr/>
          </a:p>
        </p:txBody>
      </p:sp>
      <p:graphicFrame>
        <p:nvGraphicFramePr>
          <p:cNvPr id="30" name="object 30"/>
          <p:cNvGraphicFramePr>
            <a:graphicFrameLocks noGrp="1"/>
          </p:cNvGraphicFramePr>
          <p:nvPr/>
        </p:nvGraphicFramePr>
        <p:xfrm>
          <a:off x="1173650" y="1246953"/>
          <a:ext cx="1687194" cy="379094"/>
        </p:xfrm>
        <a:graphic>
          <a:graphicData uri="http://schemas.openxmlformats.org/drawingml/2006/table">
            <a:tbl>
              <a:tblPr firstRow="1" bandRow="1">
                <a:tableStyleId>{2D5ABB26-0587-4C30-8999-92F81FD0307C}</a:tableStyleId>
              </a:tblPr>
              <a:tblGrid>
                <a:gridCol w="737870">
                  <a:extLst>
                    <a:ext uri="{9D8B030D-6E8A-4147-A177-3AD203B41FA5}">
                      <a16:colId xmlns:a16="http://schemas.microsoft.com/office/drawing/2014/main" val="20000"/>
                    </a:ext>
                  </a:extLst>
                </a:gridCol>
                <a:gridCol w="568960">
                  <a:extLst>
                    <a:ext uri="{9D8B030D-6E8A-4147-A177-3AD203B41FA5}">
                      <a16:colId xmlns:a16="http://schemas.microsoft.com/office/drawing/2014/main" val="20001"/>
                    </a:ext>
                  </a:extLst>
                </a:gridCol>
                <a:gridCol w="380364">
                  <a:extLst>
                    <a:ext uri="{9D8B030D-6E8A-4147-A177-3AD203B41FA5}">
                      <a16:colId xmlns:a16="http://schemas.microsoft.com/office/drawing/2014/main" val="20002"/>
                    </a:ext>
                  </a:extLst>
                </a:gridCol>
              </a:tblGrid>
              <a:tr h="119380">
                <a:tc rowSpan="2">
                  <a:txBody>
                    <a:bodyPr/>
                    <a:lstStyle/>
                    <a:p>
                      <a:pPr>
                        <a:lnSpc>
                          <a:spcPct val="100000"/>
                        </a:lnSpc>
                      </a:pPr>
                      <a:endParaRPr sz="800">
                        <a:latin typeface="Times New Roman"/>
                        <a:cs typeface="Times New Roman"/>
                      </a:endParaRPr>
                    </a:p>
                  </a:txBody>
                  <a:tcPr marL="0" marR="0" marT="0" marB="0">
                    <a:lnR w="6350">
                      <a:solidFill>
                        <a:srgbClr val="231F20"/>
                      </a:solidFill>
                      <a:prstDash val="solid"/>
                    </a:lnR>
                    <a:lnB w="57150">
                      <a:solidFill>
                        <a:srgbClr val="FFFFFF"/>
                      </a:solidFill>
                      <a:prstDash val="solid"/>
                    </a:lnB>
                  </a:tcPr>
                </a:tc>
                <a:tc rowSpan="3">
                  <a:txBody>
                    <a:bodyPr/>
                    <a:lstStyle/>
                    <a:p>
                      <a:pPr>
                        <a:lnSpc>
                          <a:spcPct val="100000"/>
                        </a:lnSpc>
                      </a:pPr>
                      <a:endParaRPr sz="600">
                        <a:latin typeface="Times New Roman"/>
                        <a:cs typeface="Times New Roman"/>
                      </a:endParaRPr>
                    </a:p>
                    <a:p>
                      <a:pPr marL="58419">
                        <a:lnSpc>
                          <a:spcPct val="100000"/>
                        </a:lnSpc>
                        <a:spcBef>
                          <a:spcPts val="370"/>
                        </a:spcBef>
                      </a:pPr>
                      <a:r>
                        <a:rPr sz="650" dirty="0">
                          <a:solidFill>
                            <a:srgbClr val="231F20"/>
                          </a:solidFill>
                          <a:latin typeface="Arial"/>
                          <a:cs typeface="Arial"/>
                        </a:rPr>
                        <a:t>TP</a:t>
                      </a:r>
                      <a:r>
                        <a:rPr sz="650" spc="-10" dirty="0">
                          <a:solidFill>
                            <a:srgbClr val="231F20"/>
                          </a:solidFill>
                          <a:latin typeface="Arial"/>
                          <a:cs typeface="Arial"/>
                        </a:rPr>
                        <a:t> </a:t>
                      </a:r>
                      <a:r>
                        <a:rPr sz="650" dirty="0">
                          <a:solidFill>
                            <a:srgbClr val="231F20"/>
                          </a:solidFill>
                          <a:latin typeface="Arial"/>
                          <a:cs typeface="Arial"/>
                        </a:rPr>
                        <a:t>monitor</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41910">
                        <a:lnSpc>
                          <a:spcPts val="685"/>
                        </a:lnSpc>
                      </a:pPr>
                      <a:r>
                        <a:rPr sz="650" spc="5" dirty="0">
                          <a:solidFill>
                            <a:srgbClr val="231F20"/>
                          </a:solidFill>
                          <a:latin typeface="Arial"/>
                          <a:cs typeface="Arial"/>
                        </a:rPr>
                        <a:t>Request</a:t>
                      </a:r>
                      <a:endParaRPr sz="650">
                        <a:latin typeface="Arial"/>
                        <a:cs typeface="Arial"/>
                      </a:endParaRPr>
                    </a:p>
                  </a:txBody>
                  <a:tcPr marL="0" marR="0" marT="0" marB="0">
                    <a:lnL w="6350">
                      <a:solidFill>
                        <a:srgbClr val="231F20"/>
                      </a:solidFill>
                      <a:prstDash val="solid"/>
                    </a:lnL>
                    <a:lnB w="6350">
                      <a:solidFill>
                        <a:srgbClr val="231F20"/>
                      </a:solidFill>
                      <a:prstDash val="solid"/>
                    </a:lnB>
                  </a:tcPr>
                </a:tc>
                <a:extLst>
                  <a:ext uri="{0D108BD9-81ED-4DB2-BD59-A6C34878D82A}">
                    <a16:rowId xmlns:a16="http://schemas.microsoft.com/office/drawing/2014/main" val="10000"/>
                  </a:ext>
                </a:extLst>
              </a:tr>
              <a:tr h="149225">
                <a:tc vMerge="1">
                  <a:txBody>
                    <a:bodyPr/>
                    <a:lstStyle/>
                    <a:p>
                      <a:endParaRPr/>
                    </a:p>
                  </a:txBody>
                  <a:tcPr marL="0" marR="0" marT="0" marB="0">
                    <a:lnR w="6350">
                      <a:solidFill>
                        <a:srgbClr val="231F20"/>
                      </a:solidFill>
                      <a:prstDash val="solid"/>
                    </a:lnR>
                    <a:lnB w="57150">
                      <a:solidFill>
                        <a:srgbClr val="FFFFFF"/>
                      </a:solidFill>
                      <a:prstDash val="solid"/>
                    </a:lnB>
                  </a:tcPr>
                </a:tc>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rowSpan="2">
                  <a:txBody>
                    <a:bodyPr/>
                    <a:lstStyle/>
                    <a:p>
                      <a:pPr>
                        <a:lnSpc>
                          <a:spcPct val="100000"/>
                        </a:lnSpc>
                      </a:pPr>
                      <a:endParaRPr sz="600">
                        <a:latin typeface="Times New Roman"/>
                        <a:cs typeface="Times New Roman"/>
                      </a:endParaRPr>
                    </a:p>
                    <a:p>
                      <a:pPr>
                        <a:lnSpc>
                          <a:spcPct val="100000"/>
                        </a:lnSpc>
                        <a:spcBef>
                          <a:spcPts val="10"/>
                        </a:spcBef>
                      </a:pPr>
                      <a:endParaRPr sz="550">
                        <a:latin typeface="Times New Roman"/>
                        <a:cs typeface="Times New Roman"/>
                      </a:endParaRPr>
                    </a:p>
                    <a:p>
                      <a:pPr marL="90170">
                        <a:lnSpc>
                          <a:spcPts val="610"/>
                        </a:lnSpc>
                      </a:pPr>
                      <a:r>
                        <a:rPr sz="650" spc="5" dirty="0">
                          <a:solidFill>
                            <a:srgbClr val="231F20"/>
                          </a:solidFill>
                          <a:latin typeface="Arial"/>
                          <a:cs typeface="Arial"/>
                        </a:rPr>
                        <a:t>Reply</a:t>
                      </a:r>
                      <a:endParaRPr sz="650">
                        <a:latin typeface="Arial"/>
                        <a:cs typeface="Arial"/>
                      </a:endParaRPr>
                    </a:p>
                  </a:txBody>
                  <a:tcPr marL="0" marR="0" marT="0" marB="0">
                    <a:lnL w="6350">
                      <a:solidFill>
                        <a:srgbClr val="231F20"/>
                      </a:solidFill>
                      <a:prstDash val="solid"/>
                    </a:lnL>
                    <a:lnT w="6350">
                      <a:solidFill>
                        <a:srgbClr val="231F20"/>
                      </a:solidFill>
                      <a:prstDash val="solid"/>
                    </a:lnT>
                  </a:tcPr>
                </a:tc>
                <a:extLst>
                  <a:ext uri="{0D108BD9-81ED-4DB2-BD59-A6C34878D82A}">
                    <a16:rowId xmlns:a16="http://schemas.microsoft.com/office/drawing/2014/main" val="10001"/>
                  </a:ext>
                </a:extLst>
              </a:tr>
              <a:tr h="110489">
                <a:tc>
                  <a:txBody>
                    <a:bodyPr/>
                    <a:lstStyle/>
                    <a:p>
                      <a:pPr>
                        <a:lnSpc>
                          <a:spcPct val="100000"/>
                        </a:lnSpc>
                      </a:pPr>
                      <a:endParaRPr sz="500">
                        <a:latin typeface="Times New Roman"/>
                        <a:cs typeface="Times New Roman"/>
                      </a:endParaRPr>
                    </a:p>
                  </a:txBody>
                  <a:tcPr marL="0" marR="0" marT="0" marB="0">
                    <a:lnR w="6350">
                      <a:solidFill>
                        <a:srgbClr val="231F20"/>
                      </a:solidFill>
                      <a:prstDash val="solid"/>
                    </a:lnR>
                    <a:lnT w="57150">
                      <a:solidFill>
                        <a:srgbClr val="FFFFFF"/>
                      </a:solidFill>
                      <a:prstDash val="solid"/>
                    </a:lnT>
                  </a:tcPr>
                </a:tc>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vMerge="1">
                  <a:txBody>
                    <a:bodyPr/>
                    <a:lstStyle/>
                    <a:p>
                      <a:endParaRPr/>
                    </a:p>
                  </a:txBody>
                  <a:tcPr marL="0" marR="0" marT="0" marB="0">
                    <a:lnL w="6350">
                      <a:solidFill>
                        <a:srgbClr val="231F20"/>
                      </a:solidFill>
                      <a:prstDash val="solid"/>
                    </a:lnL>
                    <a:lnT w="6350">
                      <a:solidFill>
                        <a:srgbClr val="231F20"/>
                      </a:solidFill>
                      <a:prstDash val="solid"/>
                    </a:lnT>
                  </a:tcPr>
                </a:tc>
                <a:extLst>
                  <a:ext uri="{0D108BD9-81ED-4DB2-BD59-A6C34878D82A}">
                    <a16:rowId xmlns:a16="http://schemas.microsoft.com/office/drawing/2014/main" val="10002"/>
                  </a:ext>
                </a:extLst>
              </a:tr>
            </a:tbl>
          </a:graphicData>
        </a:graphic>
      </p:graphicFrame>
      <p:sp>
        <p:nvSpPr>
          <p:cNvPr id="31" name="object 31"/>
          <p:cNvSpPr txBox="1"/>
          <p:nvPr/>
        </p:nvSpPr>
        <p:spPr>
          <a:xfrm>
            <a:off x="2140232" y="1967279"/>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Reply</a:t>
            </a:r>
            <a:endParaRPr sz="650">
              <a:latin typeface="Arial"/>
              <a:cs typeface="Arial"/>
            </a:endParaRPr>
          </a:p>
        </p:txBody>
      </p:sp>
      <p:sp>
        <p:nvSpPr>
          <p:cNvPr id="32" name="object 32"/>
          <p:cNvSpPr txBox="1"/>
          <p:nvPr/>
        </p:nvSpPr>
        <p:spPr>
          <a:xfrm>
            <a:off x="787758" y="1035467"/>
            <a:ext cx="462915" cy="127000"/>
          </a:xfrm>
          <a:prstGeom prst="rect">
            <a:avLst/>
          </a:prstGeom>
        </p:spPr>
        <p:txBody>
          <a:bodyPr vert="horz" wrap="square" lIns="0" tIns="13970" rIns="0" bIns="0" rtlCol="0">
            <a:spAutoFit/>
          </a:bodyPr>
          <a:lstStyle/>
          <a:p>
            <a:pPr marL="12700">
              <a:lnSpc>
                <a:spcPct val="100000"/>
              </a:lnSpc>
              <a:spcBef>
                <a:spcPts val="110"/>
              </a:spcBef>
            </a:pPr>
            <a:r>
              <a:rPr sz="650" dirty="0">
                <a:solidFill>
                  <a:srgbClr val="231F20"/>
                </a:solidFill>
                <a:latin typeface="Arial"/>
                <a:cs typeface="Arial"/>
              </a:rPr>
              <a:t>Transaction</a:t>
            </a:r>
            <a:endParaRPr sz="650">
              <a:latin typeface="Arial"/>
              <a:cs typeface="Arial"/>
            </a:endParaRPr>
          </a:p>
        </p:txBody>
      </p:sp>
      <p:grpSp>
        <p:nvGrpSpPr>
          <p:cNvPr id="33" name="object 33"/>
          <p:cNvGrpSpPr/>
          <p:nvPr/>
        </p:nvGrpSpPr>
        <p:grpSpPr>
          <a:xfrm>
            <a:off x="3458024" y="744976"/>
            <a:ext cx="579755" cy="271145"/>
            <a:chOff x="3458024" y="744976"/>
            <a:chExt cx="579755" cy="271145"/>
          </a:xfrm>
        </p:grpSpPr>
        <p:sp>
          <p:nvSpPr>
            <p:cNvPr id="34" name="object 34"/>
            <p:cNvSpPr/>
            <p:nvPr/>
          </p:nvSpPr>
          <p:spPr>
            <a:xfrm>
              <a:off x="3647762" y="779435"/>
              <a:ext cx="387350" cy="234315"/>
            </a:xfrm>
            <a:custGeom>
              <a:avLst/>
              <a:gdLst/>
              <a:ahLst/>
              <a:cxnLst/>
              <a:rect l="l" t="t" r="r" b="b"/>
              <a:pathLst>
                <a:path w="387350" h="234315">
                  <a:moveTo>
                    <a:pt x="386865" y="0"/>
                  </a:moveTo>
                  <a:lnTo>
                    <a:pt x="0" y="0"/>
                  </a:lnTo>
                  <a:lnTo>
                    <a:pt x="0" y="187050"/>
                  </a:lnTo>
                  <a:lnTo>
                    <a:pt x="16644" y="207506"/>
                  </a:lnTo>
                  <a:lnTo>
                    <a:pt x="60505" y="222118"/>
                  </a:lnTo>
                  <a:lnTo>
                    <a:pt x="122469" y="230886"/>
                  </a:lnTo>
                  <a:lnTo>
                    <a:pt x="193427" y="233809"/>
                  </a:lnTo>
                  <a:lnTo>
                    <a:pt x="264386" y="230886"/>
                  </a:lnTo>
                  <a:lnTo>
                    <a:pt x="326354" y="222118"/>
                  </a:lnTo>
                  <a:lnTo>
                    <a:pt x="370218" y="207506"/>
                  </a:lnTo>
                  <a:lnTo>
                    <a:pt x="386865" y="187050"/>
                  </a:lnTo>
                  <a:lnTo>
                    <a:pt x="386865" y="0"/>
                  </a:lnTo>
                  <a:close/>
                </a:path>
              </a:pathLst>
            </a:custGeom>
            <a:solidFill>
              <a:srgbClr val="BCBEC0"/>
            </a:solidFill>
          </p:spPr>
          <p:txBody>
            <a:bodyPr wrap="square" lIns="0" tIns="0" rIns="0" bIns="0" rtlCol="0"/>
            <a:lstStyle/>
            <a:p>
              <a:endParaRPr/>
            </a:p>
          </p:txBody>
        </p:sp>
        <p:sp>
          <p:nvSpPr>
            <p:cNvPr id="35" name="object 35"/>
            <p:cNvSpPr/>
            <p:nvPr/>
          </p:nvSpPr>
          <p:spPr>
            <a:xfrm>
              <a:off x="3647762" y="779435"/>
              <a:ext cx="387350" cy="234315"/>
            </a:xfrm>
            <a:custGeom>
              <a:avLst/>
              <a:gdLst/>
              <a:ahLst/>
              <a:cxnLst/>
              <a:rect l="l" t="t" r="r" b="b"/>
              <a:pathLst>
                <a:path w="387350" h="234315">
                  <a:moveTo>
                    <a:pt x="0" y="0"/>
                  </a:moveTo>
                  <a:lnTo>
                    <a:pt x="386865" y="0"/>
                  </a:lnTo>
                  <a:lnTo>
                    <a:pt x="386865" y="29823"/>
                  </a:lnTo>
                  <a:lnTo>
                    <a:pt x="386865" y="93307"/>
                  </a:lnTo>
                  <a:lnTo>
                    <a:pt x="386865" y="156899"/>
                  </a:lnTo>
                  <a:lnTo>
                    <a:pt x="386865" y="187050"/>
                  </a:lnTo>
                  <a:lnTo>
                    <a:pt x="370218" y="207506"/>
                  </a:lnTo>
                  <a:lnTo>
                    <a:pt x="326354" y="222118"/>
                  </a:lnTo>
                  <a:lnTo>
                    <a:pt x="264386" y="230886"/>
                  </a:lnTo>
                  <a:lnTo>
                    <a:pt x="193427" y="233809"/>
                  </a:lnTo>
                  <a:lnTo>
                    <a:pt x="122469" y="230886"/>
                  </a:lnTo>
                  <a:lnTo>
                    <a:pt x="60505" y="222118"/>
                  </a:lnTo>
                  <a:lnTo>
                    <a:pt x="16644" y="207506"/>
                  </a:lnTo>
                  <a:lnTo>
                    <a:pt x="0" y="187050"/>
                  </a:lnTo>
                  <a:lnTo>
                    <a:pt x="0" y="156556"/>
                  </a:lnTo>
                  <a:lnTo>
                    <a:pt x="0" y="92398"/>
                  </a:lnTo>
                  <a:lnTo>
                    <a:pt x="0" y="28804"/>
                  </a:lnTo>
                  <a:lnTo>
                    <a:pt x="0" y="0"/>
                  </a:lnTo>
                  <a:close/>
                </a:path>
              </a:pathLst>
            </a:custGeom>
            <a:ln w="5270">
              <a:solidFill>
                <a:srgbClr val="231F20"/>
              </a:solidFill>
            </a:ln>
          </p:spPr>
          <p:txBody>
            <a:bodyPr wrap="square" lIns="0" tIns="0" rIns="0" bIns="0" rtlCol="0"/>
            <a:lstStyle/>
            <a:p>
              <a:endParaRPr/>
            </a:p>
          </p:txBody>
        </p:sp>
        <p:sp>
          <p:nvSpPr>
            <p:cNvPr id="36" name="object 36"/>
            <p:cNvSpPr/>
            <p:nvPr/>
          </p:nvSpPr>
          <p:spPr>
            <a:xfrm>
              <a:off x="3647762" y="747611"/>
              <a:ext cx="387350" cy="64135"/>
            </a:xfrm>
            <a:custGeom>
              <a:avLst/>
              <a:gdLst/>
              <a:ahLst/>
              <a:cxnLst/>
              <a:rect l="l" t="t" r="r" b="b"/>
              <a:pathLst>
                <a:path w="387350" h="64134">
                  <a:moveTo>
                    <a:pt x="193427" y="0"/>
                  </a:moveTo>
                  <a:lnTo>
                    <a:pt x="118258" y="2507"/>
                  </a:lnTo>
                  <a:lnTo>
                    <a:pt x="56761" y="9338"/>
                  </a:lnTo>
                  <a:lnTo>
                    <a:pt x="15241" y="19455"/>
                  </a:lnTo>
                  <a:lnTo>
                    <a:pt x="0" y="31823"/>
                  </a:lnTo>
                  <a:lnTo>
                    <a:pt x="15241" y="44184"/>
                  </a:lnTo>
                  <a:lnTo>
                    <a:pt x="56761" y="54299"/>
                  </a:lnTo>
                  <a:lnTo>
                    <a:pt x="118258" y="61128"/>
                  </a:lnTo>
                  <a:lnTo>
                    <a:pt x="193427" y="63636"/>
                  </a:lnTo>
                  <a:lnTo>
                    <a:pt x="268602" y="61128"/>
                  </a:lnTo>
                  <a:lnTo>
                    <a:pt x="330101" y="54299"/>
                  </a:lnTo>
                  <a:lnTo>
                    <a:pt x="371623" y="44184"/>
                  </a:lnTo>
                  <a:lnTo>
                    <a:pt x="386865" y="31823"/>
                  </a:lnTo>
                  <a:lnTo>
                    <a:pt x="371623" y="19455"/>
                  </a:lnTo>
                  <a:lnTo>
                    <a:pt x="330101" y="9338"/>
                  </a:lnTo>
                  <a:lnTo>
                    <a:pt x="268602" y="2507"/>
                  </a:lnTo>
                  <a:lnTo>
                    <a:pt x="193427" y="0"/>
                  </a:lnTo>
                  <a:close/>
                </a:path>
              </a:pathLst>
            </a:custGeom>
            <a:solidFill>
              <a:srgbClr val="FFFFFF"/>
            </a:solidFill>
          </p:spPr>
          <p:txBody>
            <a:bodyPr wrap="square" lIns="0" tIns="0" rIns="0" bIns="0" rtlCol="0"/>
            <a:lstStyle/>
            <a:p>
              <a:endParaRPr/>
            </a:p>
          </p:txBody>
        </p:sp>
        <p:sp>
          <p:nvSpPr>
            <p:cNvPr id="37" name="object 37"/>
            <p:cNvSpPr/>
            <p:nvPr/>
          </p:nvSpPr>
          <p:spPr>
            <a:xfrm>
              <a:off x="3647762" y="747611"/>
              <a:ext cx="387350" cy="64135"/>
            </a:xfrm>
            <a:custGeom>
              <a:avLst/>
              <a:gdLst/>
              <a:ahLst/>
              <a:cxnLst/>
              <a:rect l="l" t="t" r="r" b="b"/>
              <a:pathLst>
                <a:path w="387350" h="64134">
                  <a:moveTo>
                    <a:pt x="193427" y="0"/>
                  </a:moveTo>
                  <a:lnTo>
                    <a:pt x="268602" y="2507"/>
                  </a:lnTo>
                  <a:lnTo>
                    <a:pt x="330101" y="9338"/>
                  </a:lnTo>
                  <a:lnTo>
                    <a:pt x="371623" y="19455"/>
                  </a:lnTo>
                  <a:lnTo>
                    <a:pt x="386865" y="31823"/>
                  </a:lnTo>
                  <a:lnTo>
                    <a:pt x="371623" y="44184"/>
                  </a:lnTo>
                  <a:lnTo>
                    <a:pt x="330101" y="54299"/>
                  </a:lnTo>
                  <a:lnTo>
                    <a:pt x="268602" y="61128"/>
                  </a:lnTo>
                  <a:lnTo>
                    <a:pt x="193427" y="63636"/>
                  </a:lnTo>
                  <a:lnTo>
                    <a:pt x="118258" y="61128"/>
                  </a:lnTo>
                  <a:lnTo>
                    <a:pt x="56761" y="54299"/>
                  </a:lnTo>
                  <a:lnTo>
                    <a:pt x="15241" y="44184"/>
                  </a:lnTo>
                  <a:lnTo>
                    <a:pt x="0" y="31823"/>
                  </a:lnTo>
                  <a:lnTo>
                    <a:pt x="15241" y="19455"/>
                  </a:lnTo>
                  <a:lnTo>
                    <a:pt x="56761" y="9338"/>
                  </a:lnTo>
                  <a:lnTo>
                    <a:pt x="118258" y="2507"/>
                  </a:lnTo>
                  <a:lnTo>
                    <a:pt x="193427" y="0"/>
                  </a:lnTo>
                  <a:close/>
                </a:path>
              </a:pathLst>
            </a:custGeom>
            <a:ln w="5270">
              <a:solidFill>
                <a:srgbClr val="231F20"/>
              </a:solidFill>
            </a:ln>
          </p:spPr>
          <p:txBody>
            <a:bodyPr wrap="square" lIns="0" tIns="0" rIns="0" bIns="0" rtlCol="0"/>
            <a:lstStyle/>
            <a:p>
              <a:endParaRPr/>
            </a:p>
          </p:txBody>
        </p:sp>
        <p:sp>
          <p:nvSpPr>
            <p:cNvPr id="38" name="object 38"/>
            <p:cNvSpPr/>
            <p:nvPr/>
          </p:nvSpPr>
          <p:spPr>
            <a:xfrm>
              <a:off x="3458024" y="871605"/>
              <a:ext cx="189865" cy="0"/>
            </a:xfrm>
            <a:custGeom>
              <a:avLst/>
              <a:gdLst/>
              <a:ahLst/>
              <a:cxnLst/>
              <a:rect l="l" t="t" r="r" b="b"/>
              <a:pathLst>
                <a:path w="189864">
                  <a:moveTo>
                    <a:pt x="189737" y="0"/>
                  </a:moveTo>
                  <a:lnTo>
                    <a:pt x="0" y="0"/>
                  </a:lnTo>
                  <a:lnTo>
                    <a:pt x="189737" y="0"/>
                  </a:lnTo>
                  <a:close/>
                </a:path>
              </a:pathLst>
            </a:custGeom>
            <a:solidFill>
              <a:srgbClr val="231F20"/>
            </a:solidFill>
          </p:spPr>
          <p:txBody>
            <a:bodyPr wrap="square" lIns="0" tIns="0" rIns="0" bIns="0" rtlCol="0"/>
            <a:lstStyle/>
            <a:p>
              <a:endParaRPr/>
            </a:p>
          </p:txBody>
        </p:sp>
        <p:sp>
          <p:nvSpPr>
            <p:cNvPr id="39" name="object 39"/>
            <p:cNvSpPr/>
            <p:nvPr/>
          </p:nvSpPr>
          <p:spPr>
            <a:xfrm>
              <a:off x="3458024" y="871605"/>
              <a:ext cx="189865" cy="0"/>
            </a:xfrm>
            <a:custGeom>
              <a:avLst/>
              <a:gdLst/>
              <a:ahLst/>
              <a:cxnLst/>
              <a:rect l="l" t="t" r="r" b="b"/>
              <a:pathLst>
                <a:path w="189864">
                  <a:moveTo>
                    <a:pt x="0" y="0"/>
                  </a:moveTo>
                  <a:lnTo>
                    <a:pt x="189737" y="0"/>
                  </a:lnTo>
                  <a:lnTo>
                    <a:pt x="0" y="0"/>
                  </a:lnTo>
                  <a:close/>
                </a:path>
              </a:pathLst>
            </a:custGeom>
            <a:ln w="5270">
              <a:solidFill>
                <a:srgbClr val="231F20"/>
              </a:solidFill>
            </a:ln>
          </p:spPr>
          <p:txBody>
            <a:bodyPr wrap="square" lIns="0" tIns="0" rIns="0" bIns="0" rtlCol="0"/>
            <a:lstStyle/>
            <a:p>
              <a:endParaRPr/>
            </a:p>
          </p:txBody>
        </p:sp>
      </p:grpSp>
      <p:grpSp>
        <p:nvGrpSpPr>
          <p:cNvPr id="40" name="object 40"/>
          <p:cNvGrpSpPr/>
          <p:nvPr/>
        </p:nvGrpSpPr>
        <p:grpSpPr>
          <a:xfrm>
            <a:off x="3457423" y="1290472"/>
            <a:ext cx="580390" cy="271145"/>
            <a:chOff x="3457423" y="1290472"/>
            <a:chExt cx="580390" cy="271145"/>
          </a:xfrm>
        </p:grpSpPr>
        <p:sp>
          <p:nvSpPr>
            <p:cNvPr id="41" name="object 41"/>
            <p:cNvSpPr/>
            <p:nvPr/>
          </p:nvSpPr>
          <p:spPr>
            <a:xfrm>
              <a:off x="3647762" y="1324928"/>
              <a:ext cx="387350" cy="234315"/>
            </a:xfrm>
            <a:custGeom>
              <a:avLst/>
              <a:gdLst/>
              <a:ahLst/>
              <a:cxnLst/>
              <a:rect l="l" t="t" r="r" b="b"/>
              <a:pathLst>
                <a:path w="387350" h="234315">
                  <a:moveTo>
                    <a:pt x="386865" y="0"/>
                  </a:moveTo>
                  <a:lnTo>
                    <a:pt x="0" y="0"/>
                  </a:lnTo>
                  <a:lnTo>
                    <a:pt x="0" y="187048"/>
                  </a:lnTo>
                  <a:lnTo>
                    <a:pt x="16644" y="207507"/>
                  </a:lnTo>
                  <a:lnTo>
                    <a:pt x="60505" y="222120"/>
                  </a:lnTo>
                  <a:lnTo>
                    <a:pt x="122469" y="230889"/>
                  </a:lnTo>
                  <a:lnTo>
                    <a:pt x="193427" y="233812"/>
                  </a:lnTo>
                  <a:lnTo>
                    <a:pt x="264386" y="230889"/>
                  </a:lnTo>
                  <a:lnTo>
                    <a:pt x="326354" y="222120"/>
                  </a:lnTo>
                  <a:lnTo>
                    <a:pt x="370218" y="207507"/>
                  </a:lnTo>
                  <a:lnTo>
                    <a:pt x="386865" y="187048"/>
                  </a:lnTo>
                  <a:lnTo>
                    <a:pt x="386865" y="0"/>
                  </a:lnTo>
                  <a:close/>
                </a:path>
              </a:pathLst>
            </a:custGeom>
            <a:solidFill>
              <a:srgbClr val="BCBEC0"/>
            </a:solidFill>
          </p:spPr>
          <p:txBody>
            <a:bodyPr wrap="square" lIns="0" tIns="0" rIns="0" bIns="0" rtlCol="0"/>
            <a:lstStyle/>
            <a:p>
              <a:endParaRPr/>
            </a:p>
          </p:txBody>
        </p:sp>
        <p:sp>
          <p:nvSpPr>
            <p:cNvPr id="42" name="object 42"/>
            <p:cNvSpPr/>
            <p:nvPr/>
          </p:nvSpPr>
          <p:spPr>
            <a:xfrm>
              <a:off x="3647762" y="1324928"/>
              <a:ext cx="387350" cy="234315"/>
            </a:xfrm>
            <a:custGeom>
              <a:avLst/>
              <a:gdLst/>
              <a:ahLst/>
              <a:cxnLst/>
              <a:rect l="l" t="t" r="r" b="b"/>
              <a:pathLst>
                <a:path w="387350" h="234315">
                  <a:moveTo>
                    <a:pt x="0" y="0"/>
                  </a:moveTo>
                  <a:lnTo>
                    <a:pt x="386865" y="0"/>
                  </a:lnTo>
                  <a:lnTo>
                    <a:pt x="386865" y="29823"/>
                  </a:lnTo>
                  <a:lnTo>
                    <a:pt x="386865" y="93306"/>
                  </a:lnTo>
                  <a:lnTo>
                    <a:pt x="386865" y="156898"/>
                  </a:lnTo>
                  <a:lnTo>
                    <a:pt x="386865" y="187048"/>
                  </a:lnTo>
                  <a:lnTo>
                    <a:pt x="370218" y="207507"/>
                  </a:lnTo>
                  <a:lnTo>
                    <a:pt x="326354" y="222120"/>
                  </a:lnTo>
                  <a:lnTo>
                    <a:pt x="264386" y="230889"/>
                  </a:lnTo>
                  <a:lnTo>
                    <a:pt x="193427" y="233812"/>
                  </a:lnTo>
                  <a:lnTo>
                    <a:pt x="122469" y="230889"/>
                  </a:lnTo>
                  <a:lnTo>
                    <a:pt x="60505" y="222120"/>
                  </a:lnTo>
                  <a:lnTo>
                    <a:pt x="16644" y="207507"/>
                  </a:lnTo>
                  <a:lnTo>
                    <a:pt x="0" y="187048"/>
                  </a:lnTo>
                  <a:lnTo>
                    <a:pt x="0" y="156557"/>
                  </a:lnTo>
                  <a:lnTo>
                    <a:pt x="0" y="92400"/>
                  </a:lnTo>
                  <a:lnTo>
                    <a:pt x="0" y="28804"/>
                  </a:lnTo>
                  <a:lnTo>
                    <a:pt x="0" y="0"/>
                  </a:lnTo>
                  <a:close/>
                </a:path>
              </a:pathLst>
            </a:custGeom>
            <a:ln w="5270">
              <a:solidFill>
                <a:srgbClr val="231F20"/>
              </a:solidFill>
            </a:ln>
          </p:spPr>
          <p:txBody>
            <a:bodyPr wrap="square" lIns="0" tIns="0" rIns="0" bIns="0" rtlCol="0"/>
            <a:lstStyle/>
            <a:p>
              <a:endParaRPr/>
            </a:p>
          </p:txBody>
        </p:sp>
        <p:sp>
          <p:nvSpPr>
            <p:cNvPr id="43" name="object 43"/>
            <p:cNvSpPr/>
            <p:nvPr/>
          </p:nvSpPr>
          <p:spPr>
            <a:xfrm>
              <a:off x="3647762" y="1293107"/>
              <a:ext cx="387350" cy="64135"/>
            </a:xfrm>
            <a:custGeom>
              <a:avLst/>
              <a:gdLst/>
              <a:ahLst/>
              <a:cxnLst/>
              <a:rect l="l" t="t" r="r" b="b"/>
              <a:pathLst>
                <a:path w="387350" h="64134">
                  <a:moveTo>
                    <a:pt x="193427" y="0"/>
                  </a:moveTo>
                  <a:lnTo>
                    <a:pt x="118258" y="2507"/>
                  </a:lnTo>
                  <a:lnTo>
                    <a:pt x="56761" y="9337"/>
                  </a:lnTo>
                  <a:lnTo>
                    <a:pt x="15241" y="19454"/>
                  </a:lnTo>
                  <a:lnTo>
                    <a:pt x="0" y="31821"/>
                  </a:lnTo>
                  <a:lnTo>
                    <a:pt x="15241" y="44187"/>
                  </a:lnTo>
                  <a:lnTo>
                    <a:pt x="56761" y="54304"/>
                  </a:lnTo>
                  <a:lnTo>
                    <a:pt x="118258" y="61134"/>
                  </a:lnTo>
                  <a:lnTo>
                    <a:pt x="193427" y="63641"/>
                  </a:lnTo>
                  <a:lnTo>
                    <a:pt x="268602" y="61134"/>
                  </a:lnTo>
                  <a:lnTo>
                    <a:pt x="330101" y="54304"/>
                  </a:lnTo>
                  <a:lnTo>
                    <a:pt x="371623" y="44187"/>
                  </a:lnTo>
                  <a:lnTo>
                    <a:pt x="386865" y="31821"/>
                  </a:lnTo>
                  <a:lnTo>
                    <a:pt x="371623" y="19454"/>
                  </a:lnTo>
                  <a:lnTo>
                    <a:pt x="330101" y="9337"/>
                  </a:lnTo>
                  <a:lnTo>
                    <a:pt x="268602" y="2507"/>
                  </a:lnTo>
                  <a:lnTo>
                    <a:pt x="193427" y="0"/>
                  </a:lnTo>
                  <a:close/>
                </a:path>
              </a:pathLst>
            </a:custGeom>
            <a:solidFill>
              <a:srgbClr val="FFFFFF"/>
            </a:solidFill>
          </p:spPr>
          <p:txBody>
            <a:bodyPr wrap="square" lIns="0" tIns="0" rIns="0" bIns="0" rtlCol="0"/>
            <a:lstStyle/>
            <a:p>
              <a:endParaRPr/>
            </a:p>
          </p:txBody>
        </p:sp>
        <p:sp>
          <p:nvSpPr>
            <p:cNvPr id="44" name="object 44"/>
            <p:cNvSpPr/>
            <p:nvPr/>
          </p:nvSpPr>
          <p:spPr>
            <a:xfrm>
              <a:off x="3647762" y="1293107"/>
              <a:ext cx="387350" cy="64135"/>
            </a:xfrm>
            <a:custGeom>
              <a:avLst/>
              <a:gdLst/>
              <a:ahLst/>
              <a:cxnLst/>
              <a:rect l="l" t="t" r="r" b="b"/>
              <a:pathLst>
                <a:path w="387350" h="64134">
                  <a:moveTo>
                    <a:pt x="193427" y="0"/>
                  </a:moveTo>
                  <a:lnTo>
                    <a:pt x="268602" y="2507"/>
                  </a:lnTo>
                  <a:lnTo>
                    <a:pt x="330101" y="9337"/>
                  </a:lnTo>
                  <a:lnTo>
                    <a:pt x="371623" y="19454"/>
                  </a:lnTo>
                  <a:lnTo>
                    <a:pt x="386865" y="31821"/>
                  </a:lnTo>
                  <a:lnTo>
                    <a:pt x="371623" y="44187"/>
                  </a:lnTo>
                  <a:lnTo>
                    <a:pt x="330101" y="54304"/>
                  </a:lnTo>
                  <a:lnTo>
                    <a:pt x="268602" y="61134"/>
                  </a:lnTo>
                  <a:lnTo>
                    <a:pt x="193427" y="63641"/>
                  </a:lnTo>
                  <a:lnTo>
                    <a:pt x="118258" y="61134"/>
                  </a:lnTo>
                  <a:lnTo>
                    <a:pt x="56761" y="54304"/>
                  </a:lnTo>
                  <a:lnTo>
                    <a:pt x="15241" y="44187"/>
                  </a:lnTo>
                  <a:lnTo>
                    <a:pt x="0" y="31821"/>
                  </a:lnTo>
                  <a:lnTo>
                    <a:pt x="15241" y="19454"/>
                  </a:lnTo>
                  <a:lnTo>
                    <a:pt x="56761" y="9337"/>
                  </a:lnTo>
                  <a:lnTo>
                    <a:pt x="118258" y="2507"/>
                  </a:lnTo>
                  <a:lnTo>
                    <a:pt x="193427" y="0"/>
                  </a:lnTo>
                  <a:close/>
                </a:path>
              </a:pathLst>
            </a:custGeom>
            <a:ln w="5270">
              <a:solidFill>
                <a:srgbClr val="231F20"/>
              </a:solidFill>
            </a:ln>
          </p:spPr>
          <p:txBody>
            <a:bodyPr wrap="square" lIns="0" tIns="0" rIns="0" bIns="0" rtlCol="0"/>
            <a:lstStyle/>
            <a:p>
              <a:endParaRPr/>
            </a:p>
          </p:txBody>
        </p:sp>
        <p:sp>
          <p:nvSpPr>
            <p:cNvPr id="45" name="object 45"/>
            <p:cNvSpPr/>
            <p:nvPr/>
          </p:nvSpPr>
          <p:spPr>
            <a:xfrm>
              <a:off x="3457423" y="1446092"/>
              <a:ext cx="189865" cy="0"/>
            </a:xfrm>
            <a:custGeom>
              <a:avLst/>
              <a:gdLst/>
              <a:ahLst/>
              <a:cxnLst/>
              <a:rect l="l" t="t" r="r" b="b"/>
              <a:pathLst>
                <a:path w="189864">
                  <a:moveTo>
                    <a:pt x="189737" y="0"/>
                  </a:moveTo>
                  <a:lnTo>
                    <a:pt x="0" y="0"/>
                  </a:lnTo>
                  <a:lnTo>
                    <a:pt x="189737" y="0"/>
                  </a:lnTo>
                  <a:close/>
                </a:path>
              </a:pathLst>
            </a:custGeom>
            <a:solidFill>
              <a:srgbClr val="231F20"/>
            </a:solidFill>
          </p:spPr>
          <p:txBody>
            <a:bodyPr wrap="square" lIns="0" tIns="0" rIns="0" bIns="0" rtlCol="0"/>
            <a:lstStyle/>
            <a:p>
              <a:endParaRPr/>
            </a:p>
          </p:txBody>
        </p:sp>
        <p:sp>
          <p:nvSpPr>
            <p:cNvPr id="46" name="object 46"/>
            <p:cNvSpPr/>
            <p:nvPr/>
          </p:nvSpPr>
          <p:spPr>
            <a:xfrm>
              <a:off x="3457423" y="1446092"/>
              <a:ext cx="189865" cy="0"/>
            </a:xfrm>
            <a:custGeom>
              <a:avLst/>
              <a:gdLst/>
              <a:ahLst/>
              <a:cxnLst/>
              <a:rect l="l" t="t" r="r" b="b"/>
              <a:pathLst>
                <a:path w="189864">
                  <a:moveTo>
                    <a:pt x="0" y="0"/>
                  </a:moveTo>
                  <a:lnTo>
                    <a:pt x="189737" y="0"/>
                  </a:lnTo>
                  <a:lnTo>
                    <a:pt x="0" y="0"/>
                  </a:lnTo>
                  <a:close/>
                </a:path>
              </a:pathLst>
            </a:custGeom>
            <a:ln w="5270">
              <a:solidFill>
                <a:srgbClr val="231F20"/>
              </a:solidFill>
            </a:ln>
          </p:spPr>
          <p:txBody>
            <a:bodyPr wrap="square" lIns="0" tIns="0" rIns="0" bIns="0" rtlCol="0"/>
            <a:lstStyle/>
            <a:p>
              <a:endParaRPr/>
            </a:p>
          </p:txBody>
        </p:sp>
      </p:grpSp>
      <p:grpSp>
        <p:nvGrpSpPr>
          <p:cNvPr id="47" name="object 47"/>
          <p:cNvGrpSpPr/>
          <p:nvPr/>
        </p:nvGrpSpPr>
        <p:grpSpPr>
          <a:xfrm>
            <a:off x="3458024" y="1883399"/>
            <a:ext cx="579755" cy="271145"/>
            <a:chOff x="3458024" y="1883399"/>
            <a:chExt cx="579755" cy="271145"/>
          </a:xfrm>
        </p:grpSpPr>
        <p:sp>
          <p:nvSpPr>
            <p:cNvPr id="48" name="object 48"/>
            <p:cNvSpPr/>
            <p:nvPr/>
          </p:nvSpPr>
          <p:spPr>
            <a:xfrm>
              <a:off x="3647762" y="1917859"/>
              <a:ext cx="387350" cy="234315"/>
            </a:xfrm>
            <a:custGeom>
              <a:avLst/>
              <a:gdLst/>
              <a:ahLst/>
              <a:cxnLst/>
              <a:rect l="l" t="t" r="r" b="b"/>
              <a:pathLst>
                <a:path w="387350" h="234314">
                  <a:moveTo>
                    <a:pt x="386865" y="0"/>
                  </a:moveTo>
                  <a:lnTo>
                    <a:pt x="0" y="0"/>
                  </a:lnTo>
                  <a:lnTo>
                    <a:pt x="0" y="187044"/>
                  </a:lnTo>
                  <a:lnTo>
                    <a:pt x="16644" y="207502"/>
                  </a:lnTo>
                  <a:lnTo>
                    <a:pt x="60505" y="222114"/>
                  </a:lnTo>
                  <a:lnTo>
                    <a:pt x="122469" y="230881"/>
                  </a:lnTo>
                  <a:lnTo>
                    <a:pt x="193427" y="233803"/>
                  </a:lnTo>
                  <a:lnTo>
                    <a:pt x="264386" y="230881"/>
                  </a:lnTo>
                  <a:lnTo>
                    <a:pt x="326354" y="222114"/>
                  </a:lnTo>
                  <a:lnTo>
                    <a:pt x="370218" y="207502"/>
                  </a:lnTo>
                  <a:lnTo>
                    <a:pt x="386865" y="187044"/>
                  </a:lnTo>
                  <a:lnTo>
                    <a:pt x="386865" y="0"/>
                  </a:lnTo>
                  <a:close/>
                </a:path>
              </a:pathLst>
            </a:custGeom>
            <a:solidFill>
              <a:srgbClr val="BCBEC0"/>
            </a:solidFill>
          </p:spPr>
          <p:txBody>
            <a:bodyPr wrap="square" lIns="0" tIns="0" rIns="0" bIns="0" rtlCol="0"/>
            <a:lstStyle/>
            <a:p>
              <a:endParaRPr/>
            </a:p>
          </p:txBody>
        </p:sp>
        <p:sp>
          <p:nvSpPr>
            <p:cNvPr id="49" name="object 49"/>
            <p:cNvSpPr/>
            <p:nvPr/>
          </p:nvSpPr>
          <p:spPr>
            <a:xfrm>
              <a:off x="3647762" y="1917859"/>
              <a:ext cx="387350" cy="234315"/>
            </a:xfrm>
            <a:custGeom>
              <a:avLst/>
              <a:gdLst/>
              <a:ahLst/>
              <a:cxnLst/>
              <a:rect l="l" t="t" r="r" b="b"/>
              <a:pathLst>
                <a:path w="387350" h="234314">
                  <a:moveTo>
                    <a:pt x="0" y="0"/>
                  </a:moveTo>
                  <a:lnTo>
                    <a:pt x="386865" y="0"/>
                  </a:lnTo>
                  <a:lnTo>
                    <a:pt x="386865" y="29822"/>
                  </a:lnTo>
                  <a:lnTo>
                    <a:pt x="386865" y="93304"/>
                  </a:lnTo>
                  <a:lnTo>
                    <a:pt x="386865" y="156895"/>
                  </a:lnTo>
                  <a:lnTo>
                    <a:pt x="386865" y="187044"/>
                  </a:lnTo>
                  <a:lnTo>
                    <a:pt x="370218" y="207502"/>
                  </a:lnTo>
                  <a:lnTo>
                    <a:pt x="326354" y="222114"/>
                  </a:lnTo>
                  <a:lnTo>
                    <a:pt x="264386" y="230881"/>
                  </a:lnTo>
                  <a:lnTo>
                    <a:pt x="193427" y="233803"/>
                  </a:lnTo>
                  <a:lnTo>
                    <a:pt x="122469" y="230881"/>
                  </a:lnTo>
                  <a:lnTo>
                    <a:pt x="60505" y="222114"/>
                  </a:lnTo>
                  <a:lnTo>
                    <a:pt x="16644" y="207502"/>
                  </a:lnTo>
                  <a:lnTo>
                    <a:pt x="0" y="187044"/>
                  </a:lnTo>
                  <a:lnTo>
                    <a:pt x="0" y="156554"/>
                  </a:lnTo>
                  <a:lnTo>
                    <a:pt x="0" y="92398"/>
                  </a:lnTo>
                  <a:lnTo>
                    <a:pt x="0" y="28804"/>
                  </a:lnTo>
                  <a:lnTo>
                    <a:pt x="0" y="0"/>
                  </a:lnTo>
                  <a:close/>
                </a:path>
              </a:pathLst>
            </a:custGeom>
            <a:ln w="5270">
              <a:solidFill>
                <a:srgbClr val="231F20"/>
              </a:solidFill>
            </a:ln>
          </p:spPr>
          <p:txBody>
            <a:bodyPr wrap="square" lIns="0" tIns="0" rIns="0" bIns="0" rtlCol="0"/>
            <a:lstStyle/>
            <a:p>
              <a:endParaRPr/>
            </a:p>
          </p:txBody>
        </p:sp>
        <p:sp>
          <p:nvSpPr>
            <p:cNvPr id="50" name="object 50"/>
            <p:cNvSpPr/>
            <p:nvPr/>
          </p:nvSpPr>
          <p:spPr>
            <a:xfrm>
              <a:off x="3647762" y="1886034"/>
              <a:ext cx="387350" cy="64135"/>
            </a:xfrm>
            <a:custGeom>
              <a:avLst/>
              <a:gdLst/>
              <a:ahLst/>
              <a:cxnLst/>
              <a:rect l="l" t="t" r="r" b="b"/>
              <a:pathLst>
                <a:path w="387350" h="64135">
                  <a:moveTo>
                    <a:pt x="193427" y="0"/>
                  </a:moveTo>
                  <a:lnTo>
                    <a:pt x="118258" y="2507"/>
                  </a:lnTo>
                  <a:lnTo>
                    <a:pt x="56761" y="9339"/>
                  </a:lnTo>
                  <a:lnTo>
                    <a:pt x="15241" y="19457"/>
                  </a:lnTo>
                  <a:lnTo>
                    <a:pt x="0" y="31825"/>
                  </a:lnTo>
                  <a:lnTo>
                    <a:pt x="15241" y="44190"/>
                  </a:lnTo>
                  <a:lnTo>
                    <a:pt x="56761" y="54307"/>
                  </a:lnTo>
                  <a:lnTo>
                    <a:pt x="118258" y="61137"/>
                  </a:lnTo>
                  <a:lnTo>
                    <a:pt x="193427" y="63645"/>
                  </a:lnTo>
                  <a:lnTo>
                    <a:pt x="268602" y="61137"/>
                  </a:lnTo>
                  <a:lnTo>
                    <a:pt x="330101" y="54307"/>
                  </a:lnTo>
                  <a:lnTo>
                    <a:pt x="371623" y="44190"/>
                  </a:lnTo>
                  <a:lnTo>
                    <a:pt x="386865" y="31825"/>
                  </a:lnTo>
                  <a:lnTo>
                    <a:pt x="371623" y="19457"/>
                  </a:lnTo>
                  <a:lnTo>
                    <a:pt x="330101" y="9339"/>
                  </a:lnTo>
                  <a:lnTo>
                    <a:pt x="268602" y="2507"/>
                  </a:lnTo>
                  <a:lnTo>
                    <a:pt x="193427" y="0"/>
                  </a:lnTo>
                  <a:close/>
                </a:path>
              </a:pathLst>
            </a:custGeom>
            <a:solidFill>
              <a:srgbClr val="FFFFFF"/>
            </a:solidFill>
          </p:spPr>
          <p:txBody>
            <a:bodyPr wrap="square" lIns="0" tIns="0" rIns="0" bIns="0" rtlCol="0"/>
            <a:lstStyle/>
            <a:p>
              <a:endParaRPr/>
            </a:p>
          </p:txBody>
        </p:sp>
        <p:sp>
          <p:nvSpPr>
            <p:cNvPr id="51" name="object 51"/>
            <p:cNvSpPr/>
            <p:nvPr/>
          </p:nvSpPr>
          <p:spPr>
            <a:xfrm>
              <a:off x="3647762" y="1886034"/>
              <a:ext cx="387350" cy="64135"/>
            </a:xfrm>
            <a:custGeom>
              <a:avLst/>
              <a:gdLst/>
              <a:ahLst/>
              <a:cxnLst/>
              <a:rect l="l" t="t" r="r" b="b"/>
              <a:pathLst>
                <a:path w="387350" h="64135">
                  <a:moveTo>
                    <a:pt x="193427" y="0"/>
                  </a:moveTo>
                  <a:lnTo>
                    <a:pt x="268602" y="2507"/>
                  </a:lnTo>
                  <a:lnTo>
                    <a:pt x="330101" y="9339"/>
                  </a:lnTo>
                  <a:lnTo>
                    <a:pt x="371623" y="19457"/>
                  </a:lnTo>
                  <a:lnTo>
                    <a:pt x="386865" y="31825"/>
                  </a:lnTo>
                  <a:lnTo>
                    <a:pt x="371623" y="44190"/>
                  </a:lnTo>
                  <a:lnTo>
                    <a:pt x="330101" y="54307"/>
                  </a:lnTo>
                  <a:lnTo>
                    <a:pt x="268602" y="61137"/>
                  </a:lnTo>
                  <a:lnTo>
                    <a:pt x="193427" y="63645"/>
                  </a:lnTo>
                  <a:lnTo>
                    <a:pt x="118258" y="61137"/>
                  </a:lnTo>
                  <a:lnTo>
                    <a:pt x="56761" y="54307"/>
                  </a:lnTo>
                  <a:lnTo>
                    <a:pt x="15241" y="44190"/>
                  </a:lnTo>
                  <a:lnTo>
                    <a:pt x="0" y="31825"/>
                  </a:lnTo>
                  <a:lnTo>
                    <a:pt x="15241" y="19457"/>
                  </a:lnTo>
                  <a:lnTo>
                    <a:pt x="56761" y="9339"/>
                  </a:lnTo>
                  <a:lnTo>
                    <a:pt x="118258" y="2507"/>
                  </a:lnTo>
                  <a:lnTo>
                    <a:pt x="193427" y="0"/>
                  </a:lnTo>
                  <a:close/>
                </a:path>
              </a:pathLst>
            </a:custGeom>
            <a:ln w="5270">
              <a:solidFill>
                <a:srgbClr val="231F20"/>
              </a:solidFill>
            </a:ln>
          </p:spPr>
          <p:txBody>
            <a:bodyPr wrap="square" lIns="0" tIns="0" rIns="0" bIns="0" rtlCol="0"/>
            <a:lstStyle/>
            <a:p>
              <a:endParaRPr/>
            </a:p>
          </p:txBody>
        </p:sp>
        <p:sp>
          <p:nvSpPr>
            <p:cNvPr id="52" name="object 52"/>
            <p:cNvSpPr/>
            <p:nvPr/>
          </p:nvSpPr>
          <p:spPr>
            <a:xfrm>
              <a:off x="3458024" y="2010035"/>
              <a:ext cx="189865" cy="0"/>
            </a:xfrm>
            <a:custGeom>
              <a:avLst/>
              <a:gdLst/>
              <a:ahLst/>
              <a:cxnLst/>
              <a:rect l="l" t="t" r="r" b="b"/>
              <a:pathLst>
                <a:path w="189864">
                  <a:moveTo>
                    <a:pt x="189737" y="0"/>
                  </a:moveTo>
                  <a:lnTo>
                    <a:pt x="0" y="0"/>
                  </a:lnTo>
                  <a:lnTo>
                    <a:pt x="189737" y="0"/>
                  </a:lnTo>
                  <a:close/>
                </a:path>
              </a:pathLst>
            </a:custGeom>
            <a:solidFill>
              <a:srgbClr val="231F20"/>
            </a:solidFill>
          </p:spPr>
          <p:txBody>
            <a:bodyPr wrap="square" lIns="0" tIns="0" rIns="0" bIns="0" rtlCol="0"/>
            <a:lstStyle/>
            <a:p>
              <a:endParaRPr/>
            </a:p>
          </p:txBody>
        </p:sp>
        <p:sp>
          <p:nvSpPr>
            <p:cNvPr id="53" name="object 53"/>
            <p:cNvSpPr/>
            <p:nvPr/>
          </p:nvSpPr>
          <p:spPr>
            <a:xfrm>
              <a:off x="3458024" y="2010035"/>
              <a:ext cx="189865" cy="0"/>
            </a:xfrm>
            <a:custGeom>
              <a:avLst/>
              <a:gdLst/>
              <a:ahLst/>
              <a:cxnLst/>
              <a:rect l="l" t="t" r="r" b="b"/>
              <a:pathLst>
                <a:path w="189864">
                  <a:moveTo>
                    <a:pt x="0" y="0"/>
                  </a:moveTo>
                  <a:lnTo>
                    <a:pt x="189737" y="0"/>
                  </a:lnTo>
                  <a:lnTo>
                    <a:pt x="0" y="0"/>
                  </a:lnTo>
                  <a:close/>
                </a:path>
              </a:pathLst>
            </a:custGeom>
            <a:ln w="5270">
              <a:solidFill>
                <a:srgbClr val="231F20"/>
              </a:solidFill>
            </a:ln>
          </p:spPr>
          <p:txBody>
            <a:bodyPr wrap="square" lIns="0" tIns="0" rIns="0" bIns="0" rtlCol="0"/>
            <a:lstStyle/>
            <a:p>
              <a:endParaRPr/>
            </a:p>
          </p:txBody>
        </p:sp>
      </p:grpSp>
      <p:pic>
        <p:nvPicPr>
          <p:cNvPr id="54" name="object 54"/>
          <p:cNvPicPr/>
          <p:nvPr/>
        </p:nvPicPr>
        <p:blipFill>
          <a:blip r:embed="rId11" cstate="print"/>
          <a:stretch>
            <a:fillRect/>
          </a:stretch>
        </p:blipFill>
        <p:spPr>
          <a:xfrm>
            <a:off x="1833666" y="1337231"/>
            <a:ext cx="74377" cy="63753"/>
          </a:xfrm>
          <a:prstGeom prst="rect">
            <a:avLst/>
          </a:prstGeom>
        </p:spPr>
      </p:pic>
      <p:grpSp>
        <p:nvGrpSpPr>
          <p:cNvPr id="55" name="object 55"/>
          <p:cNvGrpSpPr/>
          <p:nvPr/>
        </p:nvGrpSpPr>
        <p:grpSpPr>
          <a:xfrm>
            <a:off x="1136267" y="1150941"/>
            <a:ext cx="734695" cy="400050"/>
            <a:chOff x="1136267" y="1150941"/>
            <a:chExt cx="734695" cy="400050"/>
          </a:xfrm>
        </p:grpSpPr>
        <p:sp>
          <p:nvSpPr>
            <p:cNvPr id="56" name="object 56"/>
            <p:cNvSpPr/>
            <p:nvPr/>
          </p:nvSpPr>
          <p:spPr>
            <a:xfrm>
              <a:off x="1185196" y="1156212"/>
              <a:ext cx="285115" cy="166370"/>
            </a:xfrm>
            <a:custGeom>
              <a:avLst/>
              <a:gdLst/>
              <a:ahLst/>
              <a:cxnLst/>
              <a:rect l="l" t="t" r="r" b="b"/>
              <a:pathLst>
                <a:path w="285115" h="166369">
                  <a:moveTo>
                    <a:pt x="0" y="0"/>
                  </a:moveTo>
                  <a:lnTo>
                    <a:pt x="284606" y="166018"/>
                  </a:lnTo>
                  <a:lnTo>
                    <a:pt x="0" y="0"/>
                  </a:lnTo>
                  <a:close/>
                </a:path>
              </a:pathLst>
            </a:custGeom>
            <a:solidFill>
              <a:srgbClr val="231F20"/>
            </a:solidFill>
          </p:spPr>
          <p:txBody>
            <a:bodyPr wrap="square" lIns="0" tIns="0" rIns="0" bIns="0" rtlCol="0"/>
            <a:lstStyle/>
            <a:p>
              <a:endParaRPr/>
            </a:p>
          </p:txBody>
        </p:sp>
        <p:sp>
          <p:nvSpPr>
            <p:cNvPr id="57" name="object 57"/>
            <p:cNvSpPr/>
            <p:nvPr/>
          </p:nvSpPr>
          <p:spPr>
            <a:xfrm>
              <a:off x="1185196" y="1156212"/>
              <a:ext cx="285115" cy="166370"/>
            </a:xfrm>
            <a:custGeom>
              <a:avLst/>
              <a:gdLst/>
              <a:ahLst/>
              <a:cxnLst/>
              <a:rect l="l" t="t" r="r" b="b"/>
              <a:pathLst>
                <a:path w="285115" h="166369">
                  <a:moveTo>
                    <a:pt x="0" y="0"/>
                  </a:moveTo>
                  <a:lnTo>
                    <a:pt x="284606" y="166018"/>
                  </a:lnTo>
                  <a:lnTo>
                    <a:pt x="0" y="0"/>
                  </a:lnTo>
                  <a:close/>
                </a:path>
              </a:pathLst>
            </a:custGeom>
            <a:ln w="10541">
              <a:solidFill>
                <a:srgbClr val="231F20"/>
              </a:solidFill>
            </a:ln>
          </p:spPr>
          <p:txBody>
            <a:bodyPr wrap="square" lIns="0" tIns="0" rIns="0" bIns="0" rtlCol="0"/>
            <a:lstStyle/>
            <a:p>
              <a:endParaRPr/>
            </a:p>
          </p:txBody>
        </p:sp>
        <p:sp>
          <p:nvSpPr>
            <p:cNvPr id="58" name="object 58"/>
            <p:cNvSpPr/>
            <p:nvPr/>
          </p:nvSpPr>
          <p:spPr>
            <a:xfrm>
              <a:off x="1564672" y="1345948"/>
              <a:ext cx="47625" cy="47625"/>
            </a:xfrm>
            <a:custGeom>
              <a:avLst/>
              <a:gdLst/>
              <a:ahLst/>
              <a:cxnLst/>
              <a:rect l="l" t="t" r="r" b="b"/>
              <a:pathLst>
                <a:path w="47625" h="47625">
                  <a:moveTo>
                    <a:pt x="47434" y="0"/>
                  </a:moveTo>
                  <a:lnTo>
                    <a:pt x="0" y="0"/>
                  </a:lnTo>
                  <a:lnTo>
                    <a:pt x="0" y="47434"/>
                  </a:lnTo>
                  <a:lnTo>
                    <a:pt x="47434" y="47434"/>
                  </a:lnTo>
                  <a:lnTo>
                    <a:pt x="47434" y="0"/>
                  </a:lnTo>
                  <a:close/>
                </a:path>
              </a:pathLst>
            </a:custGeom>
            <a:solidFill>
              <a:srgbClr val="FFFFFF"/>
            </a:solidFill>
          </p:spPr>
          <p:txBody>
            <a:bodyPr wrap="square" lIns="0" tIns="0" rIns="0" bIns="0" rtlCol="0"/>
            <a:lstStyle/>
            <a:p>
              <a:endParaRPr/>
            </a:p>
          </p:txBody>
        </p:sp>
        <p:sp>
          <p:nvSpPr>
            <p:cNvPr id="59" name="object 59"/>
            <p:cNvSpPr/>
            <p:nvPr/>
          </p:nvSpPr>
          <p:spPr>
            <a:xfrm>
              <a:off x="1564672" y="1345948"/>
              <a:ext cx="47625" cy="47625"/>
            </a:xfrm>
            <a:custGeom>
              <a:avLst/>
              <a:gdLst/>
              <a:ahLst/>
              <a:cxnLst/>
              <a:rect l="l" t="t" r="r" b="b"/>
              <a:pathLst>
                <a:path w="47625" h="47625">
                  <a:moveTo>
                    <a:pt x="0" y="47434"/>
                  </a:moveTo>
                  <a:lnTo>
                    <a:pt x="47434" y="47434"/>
                  </a:lnTo>
                  <a:lnTo>
                    <a:pt x="47434" y="0"/>
                  </a:lnTo>
                  <a:lnTo>
                    <a:pt x="0" y="0"/>
                  </a:lnTo>
                  <a:lnTo>
                    <a:pt x="0" y="47434"/>
                  </a:lnTo>
                  <a:close/>
                </a:path>
              </a:pathLst>
            </a:custGeom>
            <a:ln w="3175">
              <a:solidFill>
                <a:srgbClr val="FFFFFF"/>
              </a:solidFill>
            </a:ln>
          </p:spPr>
          <p:txBody>
            <a:bodyPr wrap="square" lIns="0" tIns="0" rIns="0" bIns="0" rtlCol="0"/>
            <a:lstStyle/>
            <a:p>
              <a:endParaRPr/>
            </a:p>
          </p:txBody>
        </p:sp>
        <p:sp>
          <p:nvSpPr>
            <p:cNvPr id="60" name="object 60"/>
            <p:cNvSpPr/>
            <p:nvPr/>
          </p:nvSpPr>
          <p:spPr>
            <a:xfrm>
              <a:off x="1136267" y="1369110"/>
              <a:ext cx="734695" cy="0"/>
            </a:xfrm>
            <a:custGeom>
              <a:avLst/>
              <a:gdLst/>
              <a:ahLst/>
              <a:cxnLst/>
              <a:rect l="l" t="t" r="r" b="b"/>
              <a:pathLst>
                <a:path w="734694">
                  <a:moveTo>
                    <a:pt x="0" y="0"/>
                  </a:moveTo>
                  <a:lnTo>
                    <a:pt x="734398" y="0"/>
                  </a:lnTo>
                </a:path>
              </a:pathLst>
            </a:custGeom>
            <a:ln w="5270">
              <a:solidFill>
                <a:srgbClr val="231F20"/>
              </a:solidFill>
            </a:ln>
          </p:spPr>
          <p:txBody>
            <a:bodyPr wrap="square" lIns="0" tIns="0" rIns="0" bIns="0" rtlCol="0"/>
            <a:lstStyle/>
            <a:p>
              <a:endParaRPr/>
            </a:p>
          </p:txBody>
        </p:sp>
        <p:pic>
          <p:nvPicPr>
            <p:cNvPr id="61" name="object 61"/>
            <p:cNvPicPr/>
            <p:nvPr/>
          </p:nvPicPr>
          <p:blipFill>
            <a:blip r:embed="rId12" cstate="print"/>
            <a:stretch>
              <a:fillRect/>
            </a:stretch>
          </p:blipFill>
          <p:spPr>
            <a:xfrm>
              <a:off x="1136267" y="1486634"/>
              <a:ext cx="74380" cy="63751"/>
            </a:xfrm>
            <a:prstGeom prst="rect">
              <a:avLst/>
            </a:prstGeom>
          </p:spPr>
        </p:pic>
      </p:grpSp>
      <p:sp>
        <p:nvSpPr>
          <p:cNvPr id="62" name="object 62"/>
          <p:cNvSpPr txBox="1"/>
          <p:nvPr/>
        </p:nvSpPr>
        <p:spPr>
          <a:xfrm>
            <a:off x="347294" y="2387483"/>
            <a:ext cx="3900170" cy="6572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2700" marR="5080">
              <a:lnSpc>
                <a:spcPts val="1200"/>
              </a:lnSpc>
              <a:spcBef>
                <a:spcPts val="10"/>
              </a:spcBef>
            </a:pPr>
            <a:r>
              <a:rPr sz="1000" spc="-5" dirty="0">
                <a:latin typeface="Arial"/>
                <a:cs typeface="Arial"/>
              </a:rPr>
              <a:t>In</a:t>
            </a:r>
            <a:r>
              <a:rPr sz="1000" dirty="0">
                <a:latin typeface="Arial"/>
                <a:cs typeface="Arial"/>
              </a:rPr>
              <a:t> </a:t>
            </a:r>
            <a:r>
              <a:rPr sz="1000" spc="-10" dirty="0">
                <a:latin typeface="Arial"/>
                <a:cs typeface="Arial"/>
              </a:rPr>
              <a:t>many</a:t>
            </a:r>
            <a:r>
              <a:rPr sz="1000" dirty="0">
                <a:latin typeface="Arial"/>
                <a:cs typeface="Arial"/>
              </a:rPr>
              <a:t> </a:t>
            </a:r>
            <a:r>
              <a:rPr sz="1000" spc="-5" dirty="0">
                <a:latin typeface="Arial"/>
                <a:cs typeface="Arial"/>
              </a:rPr>
              <a:t>cases,</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data</a:t>
            </a:r>
            <a:r>
              <a:rPr sz="1000" dirty="0">
                <a:latin typeface="Arial"/>
                <a:cs typeface="Arial"/>
              </a:rPr>
              <a:t> </a:t>
            </a:r>
            <a:r>
              <a:rPr sz="1000" spc="-15" dirty="0">
                <a:latin typeface="Arial"/>
                <a:cs typeface="Arial"/>
              </a:rPr>
              <a:t>involved</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transaction</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distributed</a:t>
            </a:r>
            <a:r>
              <a:rPr sz="1000" spc="5" dirty="0">
                <a:latin typeface="Arial"/>
                <a:cs typeface="Arial"/>
              </a:rPr>
              <a:t> </a:t>
            </a:r>
            <a:r>
              <a:rPr sz="1000" spc="-5" dirty="0">
                <a:latin typeface="Arial"/>
                <a:cs typeface="Arial"/>
              </a:rPr>
              <a:t>across </a:t>
            </a:r>
            <a:r>
              <a:rPr sz="1000" spc="-265" dirty="0">
                <a:latin typeface="Arial"/>
                <a:cs typeface="Arial"/>
              </a:rPr>
              <a:t> </a:t>
            </a:r>
            <a:r>
              <a:rPr sz="1000" spc="-15" dirty="0">
                <a:latin typeface="Arial"/>
                <a:cs typeface="Arial"/>
              </a:rPr>
              <a:t>several</a:t>
            </a:r>
            <a:r>
              <a:rPr sz="1000" spc="-5" dirty="0">
                <a:latin typeface="Arial"/>
                <a:cs typeface="Arial"/>
              </a:rPr>
              <a:t> servers.</a:t>
            </a:r>
            <a:r>
              <a:rPr sz="1000" spc="65" dirty="0">
                <a:latin typeface="Arial"/>
                <a:cs typeface="Arial"/>
              </a:rPr>
              <a:t> </a:t>
            </a:r>
            <a:r>
              <a:rPr sz="1000" spc="-5" dirty="0">
                <a:latin typeface="Arial"/>
                <a:cs typeface="Arial"/>
              </a:rPr>
              <a:t>A </a:t>
            </a:r>
            <a:r>
              <a:rPr sz="1000" spc="-5" dirty="0">
                <a:solidFill>
                  <a:srgbClr val="FA0000"/>
                </a:solidFill>
                <a:latin typeface="Arial"/>
                <a:cs typeface="Arial"/>
              </a:rPr>
              <a:t>TP</a:t>
            </a:r>
            <a:r>
              <a:rPr sz="1000" dirty="0">
                <a:solidFill>
                  <a:srgbClr val="FA0000"/>
                </a:solidFill>
                <a:latin typeface="Arial"/>
                <a:cs typeface="Arial"/>
              </a:rPr>
              <a:t> </a:t>
            </a:r>
            <a:r>
              <a:rPr sz="1000" spc="-5" dirty="0">
                <a:solidFill>
                  <a:srgbClr val="FA0000"/>
                </a:solidFill>
                <a:latin typeface="Arial"/>
                <a:cs typeface="Arial"/>
              </a:rPr>
              <a:t>Monitor </a:t>
            </a:r>
            <a:r>
              <a:rPr sz="1000" spc="-5" dirty="0">
                <a:latin typeface="Arial"/>
                <a:cs typeface="Arial"/>
              </a:rPr>
              <a:t>is</a:t>
            </a:r>
            <a:r>
              <a:rPr sz="1000" dirty="0">
                <a:latin typeface="Arial"/>
                <a:cs typeface="Arial"/>
              </a:rPr>
              <a:t> </a:t>
            </a:r>
            <a:r>
              <a:rPr sz="1000" spc="-5" dirty="0">
                <a:latin typeface="Arial"/>
                <a:cs typeface="Arial"/>
              </a:rPr>
              <a:t>responsible</a:t>
            </a:r>
            <a:r>
              <a:rPr sz="1000" dirty="0">
                <a:latin typeface="Arial"/>
                <a:cs typeface="Arial"/>
              </a:rPr>
              <a:t> </a:t>
            </a:r>
            <a:r>
              <a:rPr sz="1000" spc="-15" dirty="0">
                <a:latin typeface="Arial"/>
                <a:cs typeface="Arial"/>
              </a:rPr>
              <a:t>for</a:t>
            </a:r>
            <a:r>
              <a:rPr sz="1000" spc="-5" dirty="0">
                <a:latin typeface="Arial"/>
                <a:cs typeface="Arial"/>
              </a:rPr>
              <a:t> coordinating</a:t>
            </a:r>
            <a:r>
              <a:rPr sz="1000" dirty="0">
                <a:latin typeface="Arial"/>
                <a:cs typeface="Arial"/>
              </a:rPr>
              <a:t> </a:t>
            </a:r>
            <a:r>
              <a:rPr sz="1000" spc="-5" dirty="0">
                <a:latin typeface="Arial"/>
                <a:cs typeface="Arial"/>
              </a:rPr>
              <a:t>the </a:t>
            </a:r>
            <a:r>
              <a:rPr sz="1000" dirty="0">
                <a:latin typeface="Arial"/>
                <a:cs typeface="Arial"/>
              </a:rPr>
              <a:t> </a:t>
            </a:r>
            <a:r>
              <a:rPr sz="1000" spc="-10" dirty="0">
                <a:latin typeface="Arial"/>
                <a:cs typeface="Arial"/>
              </a:rPr>
              <a:t>execution </a:t>
            </a:r>
            <a:r>
              <a:rPr sz="1000" spc="-5" dirty="0">
                <a:latin typeface="Arial"/>
                <a:cs typeface="Arial"/>
              </a:rPr>
              <a:t>of a transaction.</a:t>
            </a:r>
            <a:endParaRPr sz="1000">
              <a:latin typeface="Arial"/>
              <a:cs typeface="Arial"/>
            </a:endParaRPr>
          </a:p>
        </p:txBody>
      </p:sp>
      <p:sp>
        <p:nvSpPr>
          <p:cNvPr id="63" name="object 63"/>
          <p:cNvSpPr txBox="1"/>
          <p:nvPr/>
        </p:nvSpPr>
        <p:spPr>
          <a:xfrm>
            <a:off x="66713" y="3331252"/>
            <a:ext cx="11677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3" action="ppaction://hlinksldjump"/>
              </a:rPr>
              <a:t>Distributed transaction processing</a:t>
            </a:r>
            <a:endParaRPr sz="600">
              <a:latin typeface="Arial"/>
              <a:cs typeface="Arial"/>
            </a:endParaRPr>
          </a:p>
        </p:txBody>
      </p:sp>
      <p:sp>
        <p:nvSpPr>
          <p:cNvPr id="64" name="object 6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44</a:t>
            </a:r>
            <a:r>
              <a:rPr spc="-40" dirty="0"/>
              <a:t> </a:t>
            </a:r>
            <a:r>
              <a:rPr spc="-5" dirty="0"/>
              <a:t>/</a:t>
            </a:r>
            <a:r>
              <a:rPr spc="-35" dirty="0"/>
              <a:t> </a:t>
            </a:r>
            <a:r>
              <a:rPr spc="-5" dirty="0"/>
              <a:t>56</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457783" y="716"/>
            <a:ext cx="1083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Distributed</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information systems</a:t>
            </a:r>
            <a:endParaRPr sz="600">
              <a:latin typeface="Arial"/>
              <a:cs typeface="Arial"/>
            </a:endParaRPr>
          </a:p>
        </p:txBody>
      </p:sp>
      <p:sp>
        <p:nvSpPr>
          <p:cNvPr id="4" name="object 4"/>
          <p:cNvSpPr txBox="1"/>
          <p:nvPr/>
        </p:nvSpPr>
        <p:spPr>
          <a:xfrm>
            <a:off x="95300" y="188846"/>
            <a:ext cx="164973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Middleware</a:t>
            </a:r>
            <a:r>
              <a:rPr sz="1400" spc="-20" dirty="0">
                <a:solidFill>
                  <a:srgbClr val="3333B2"/>
                </a:solidFill>
                <a:latin typeface="Arial"/>
                <a:cs typeface="Arial"/>
              </a:rPr>
              <a:t> </a:t>
            </a:r>
            <a:r>
              <a:rPr sz="1400" spc="15" dirty="0">
                <a:solidFill>
                  <a:srgbClr val="3333B2"/>
                </a:solidFill>
                <a:latin typeface="Arial"/>
                <a:cs typeface="Arial"/>
              </a:rPr>
              <a:t>and</a:t>
            </a:r>
            <a:r>
              <a:rPr sz="1400" spc="-20" dirty="0">
                <a:solidFill>
                  <a:srgbClr val="3333B2"/>
                </a:solidFill>
                <a:latin typeface="Arial"/>
                <a:cs typeface="Arial"/>
              </a:rPr>
              <a:t> </a:t>
            </a:r>
            <a:r>
              <a:rPr sz="1400" spc="15" dirty="0">
                <a:solidFill>
                  <a:srgbClr val="3333B2"/>
                </a:solidFill>
                <a:latin typeface="Arial"/>
                <a:cs typeface="Arial"/>
              </a:rPr>
              <a:t>EAI</a:t>
            </a:r>
            <a:endParaRPr sz="1400">
              <a:latin typeface="Arial"/>
              <a:cs typeface="Arial"/>
            </a:endParaRPr>
          </a:p>
        </p:txBody>
      </p:sp>
      <p:sp>
        <p:nvSpPr>
          <p:cNvPr id="5" name="object 5"/>
          <p:cNvSpPr txBox="1"/>
          <p:nvPr/>
        </p:nvSpPr>
        <p:spPr>
          <a:xfrm>
            <a:off x="1069286" y="1176731"/>
            <a:ext cx="56959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50">
              <a:latin typeface="Times New Roman"/>
              <a:cs typeface="Times New Roman"/>
            </a:endParaRPr>
          </a:p>
          <a:p>
            <a:pPr marL="82550" marR="60960" indent="-14604">
              <a:lnSpc>
                <a:spcPct val="100000"/>
              </a:lnSpc>
              <a:spcBef>
                <a:spcPts val="5"/>
              </a:spcBef>
            </a:pPr>
            <a:r>
              <a:rPr sz="650" spc="5" dirty="0">
                <a:solidFill>
                  <a:srgbClr val="231F20"/>
                </a:solidFill>
                <a:latin typeface="Arial"/>
                <a:cs typeface="Arial"/>
              </a:rPr>
              <a:t>Server-side  application</a:t>
            </a:r>
            <a:endParaRPr sz="650">
              <a:latin typeface="Arial"/>
              <a:cs typeface="Arial"/>
            </a:endParaRPr>
          </a:p>
        </p:txBody>
      </p:sp>
      <p:sp>
        <p:nvSpPr>
          <p:cNvPr id="6" name="object 6"/>
          <p:cNvSpPr txBox="1"/>
          <p:nvPr/>
        </p:nvSpPr>
        <p:spPr>
          <a:xfrm>
            <a:off x="2017976" y="1176731"/>
            <a:ext cx="56959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50">
              <a:latin typeface="Times New Roman"/>
              <a:cs typeface="Times New Roman"/>
            </a:endParaRPr>
          </a:p>
          <a:p>
            <a:pPr marL="82550" marR="60960" indent="-14604">
              <a:lnSpc>
                <a:spcPct val="100000"/>
              </a:lnSpc>
              <a:spcBef>
                <a:spcPts val="5"/>
              </a:spcBef>
            </a:pPr>
            <a:r>
              <a:rPr sz="650" spc="5" dirty="0">
                <a:solidFill>
                  <a:srgbClr val="231F20"/>
                </a:solidFill>
                <a:latin typeface="Arial"/>
                <a:cs typeface="Arial"/>
              </a:rPr>
              <a:t>Server-side  application</a:t>
            </a:r>
            <a:endParaRPr sz="650">
              <a:latin typeface="Arial"/>
              <a:cs typeface="Arial"/>
            </a:endParaRPr>
          </a:p>
        </p:txBody>
      </p:sp>
      <p:sp>
        <p:nvSpPr>
          <p:cNvPr id="7" name="object 7"/>
          <p:cNvSpPr txBox="1"/>
          <p:nvPr/>
        </p:nvSpPr>
        <p:spPr>
          <a:xfrm>
            <a:off x="2966666" y="1176731"/>
            <a:ext cx="56959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50">
              <a:latin typeface="Times New Roman"/>
              <a:cs typeface="Times New Roman"/>
            </a:endParaRPr>
          </a:p>
          <a:p>
            <a:pPr marL="82550" marR="60960" indent="-14604">
              <a:lnSpc>
                <a:spcPct val="100000"/>
              </a:lnSpc>
              <a:spcBef>
                <a:spcPts val="5"/>
              </a:spcBef>
            </a:pPr>
            <a:r>
              <a:rPr sz="650" spc="5" dirty="0">
                <a:solidFill>
                  <a:srgbClr val="231F20"/>
                </a:solidFill>
                <a:latin typeface="Arial"/>
                <a:cs typeface="Arial"/>
              </a:rPr>
              <a:t>Server-side  application</a:t>
            </a:r>
            <a:endParaRPr sz="650">
              <a:latin typeface="Arial"/>
              <a:cs typeface="Arial"/>
            </a:endParaRPr>
          </a:p>
        </p:txBody>
      </p:sp>
      <p:grpSp>
        <p:nvGrpSpPr>
          <p:cNvPr id="8" name="object 8"/>
          <p:cNvGrpSpPr/>
          <p:nvPr/>
        </p:nvGrpSpPr>
        <p:grpSpPr>
          <a:xfrm>
            <a:off x="3055199" y="1556207"/>
            <a:ext cx="392430" cy="339725"/>
            <a:chOff x="3055199" y="1556207"/>
            <a:chExt cx="392430" cy="339725"/>
          </a:xfrm>
        </p:grpSpPr>
        <p:sp>
          <p:nvSpPr>
            <p:cNvPr id="9" name="object 9"/>
            <p:cNvSpPr/>
            <p:nvPr/>
          </p:nvSpPr>
          <p:spPr>
            <a:xfrm>
              <a:off x="3057835" y="1659183"/>
              <a:ext cx="387350" cy="234315"/>
            </a:xfrm>
            <a:custGeom>
              <a:avLst/>
              <a:gdLst/>
              <a:ahLst/>
              <a:cxnLst/>
              <a:rect l="l" t="t" r="r" b="b"/>
              <a:pathLst>
                <a:path w="387350" h="234314">
                  <a:moveTo>
                    <a:pt x="386875" y="0"/>
                  </a:moveTo>
                  <a:lnTo>
                    <a:pt x="0" y="0"/>
                  </a:lnTo>
                  <a:lnTo>
                    <a:pt x="0" y="187049"/>
                  </a:lnTo>
                  <a:lnTo>
                    <a:pt x="16646" y="207505"/>
                  </a:lnTo>
                  <a:lnTo>
                    <a:pt x="60510" y="222118"/>
                  </a:lnTo>
                  <a:lnTo>
                    <a:pt x="122478" y="230886"/>
                  </a:lnTo>
                  <a:lnTo>
                    <a:pt x="193437" y="233808"/>
                  </a:lnTo>
                  <a:lnTo>
                    <a:pt x="264392" y="230886"/>
                  </a:lnTo>
                  <a:lnTo>
                    <a:pt x="326361" y="222118"/>
                  </a:lnTo>
                  <a:lnTo>
                    <a:pt x="370227" y="207505"/>
                  </a:lnTo>
                  <a:lnTo>
                    <a:pt x="386875" y="187049"/>
                  </a:lnTo>
                  <a:lnTo>
                    <a:pt x="386875" y="0"/>
                  </a:lnTo>
                  <a:close/>
                </a:path>
              </a:pathLst>
            </a:custGeom>
            <a:solidFill>
              <a:srgbClr val="BCBEC0"/>
            </a:solidFill>
          </p:spPr>
          <p:txBody>
            <a:bodyPr wrap="square" lIns="0" tIns="0" rIns="0" bIns="0" rtlCol="0"/>
            <a:lstStyle/>
            <a:p>
              <a:endParaRPr/>
            </a:p>
          </p:txBody>
        </p:sp>
        <p:sp>
          <p:nvSpPr>
            <p:cNvPr id="10" name="object 10"/>
            <p:cNvSpPr/>
            <p:nvPr/>
          </p:nvSpPr>
          <p:spPr>
            <a:xfrm>
              <a:off x="3057835" y="1659183"/>
              <a:ext cx="387350" cy="234315"/>
            </a:xfrm>
            <a:custGeom>
              <a:avLst/>
              <a:gdLst/>
              <a:ahLst/>
              <a:cxnLst/>
              <a:rect l="l" t="t" r="r" b="b"/>
              <a:pathLst>
                <a:path w="387350" h="234314">
                  <a:moveTo>
                    <a:pt x="0" y="0"/>
                  </a:moveTo>
                  <a:lnTo>
                    <a:pt x="386875" y="0"/>
                  </a:lnTo>
                  <a:lnTo>
                    <a:pt x="386875" y="29825"/>
                  </a:lnTo>
                  <a:lnTo>
                    <a:pt x="386875" y="93308"/>
                  </a:lnTo>
                  <a:lnTo>
                    <a:pt x="386875" y="156900"/>
                  </a:lnTo>
                  <a:lnTo>
                    <a:pt x="386875" y="187049"/>
                  </a:lnTo>
                  <a:lnTo>
                    <a:pt x="370227" y="207505"/>
                  </a:lnTo>
                  <a:lnTo>
                    <a:pt x="326361" y="222118"/>
                  </a:lnTo>
                  <a:lnTo>
                    <a:pt x="264392" y="230886"/>
                  </a:lnTo>
                  <a:lnTo>
                    <a:pt x="193437" y="233808"/>
                  </a:lnTo>
                  <a:lnTo>
                    <a:pt x="122478" y="230886"/>
                  </a:lnTo>
                  <a:lnTo>
                    <a:pt x="60510" y="222118"/>
                  </a:lnTo>
                  <a:lnTo>
                    <a:pt x="16646" y="207505"/>
                  </a:lnTo>
                  <a:lnTo>
                    <a:pt x="0" y="187049"/>
                  </a:lnTo>
                  <a:lnTo>
                    <a:pt x="0" y="156558"/>
                  </a:lnTo>
                  <a:lnTo>
                    <a:pt x="0" y="92400"/>
                  </a:lnTo>
                  <a:lnTo>
                    <a:pt x="0" y="28804"/>
                  </a:lnTo>
                  <a:lnTo>
                    <a:pt x="0" y="0"/>
                  </a:lnTo>
                  <a:close/>
                </a:path>
              </a:pathLst>
            </a:custGeom>
            <a:ln w="5270">
              <a:solidFill>
                <a:srgbClr val="231F20"/>
              </a:solidFill>
            </a:ln>
          </p:spPr>
          <p:txBody>
            <a:bodyPr wrap="square" lIns="0" tIns="0" rIns="0" bIns="0" rtlCol="0"/>
            <a:lstStyle/>
            <a:p>
              <a:endParaRPr/>
            </a:p>
          </p:txBody>
        </p:sp>
        <p:sp>
          <p:nvSpPr>
            <p:cNvPr id="11" name="object 11"/>
            <p:cNvSpPr/>
            <p:nvPr/>
          </p:nvSpPr>
          <p:spPr>
            <a:xfrm>
              <a:off x="3057835" y="1627359"/>
              <a:ext cx="387350" cy="64135"/>
            </a:xfrm>
            <a:custGeom>
              <a:avLst/>
              <a:gdLst/>
              <a:ahLst/>
              <a:cxnLst/>
              <a:rect l="l" t="t" r="r" b="b"/>
              <a:pathLst>
                <a:path w="387350" h="64135">
                  <a:moveTo>
                    <a:pt x="193437" y="0"/>
                  </a:moveTo>
                  <a:lnTo>
                    <a:pt x="118267" y="2507"/>
                  </a:lnTo>
                  <a:lnTo>
                    <a:pt x="56767" y="9338"/>
                  </a:lnTo>
                  <a:lnTo>
                    <a:pt x="15242" y="19456"/>
                  </a:lnTo>
                  <a:lnTo>
                    <a:pt x="0" y="31824"/>
                  </a:lnTo>
                  <a:lnTo>
                    <a:pt x="15242" y="44191"/>
                  </a:lnTo>
                  <a:lnTo>
                    <a:pt x="56767" y="54308"/>
                  </a:lnTo>
                  <a:lnTo>
                    <a:pt x="118267" y="61138"/>
                  </a:lnTo>
                  <a:lnTo>
                    <a:pt x="193437" y="63645"/>
                  </a:lnTo>
                  <a:lnTo>
                    <a:pt x="268608" y="61138"/>
                  </a:lnTo>
                  <a:lnTo>
                    <a:pt x="330108" y="54308"/>
                  </a:lnTo>
                  <a:lnTo>
                    <a:pt x="371632" y="44191"/>
                  </a:lnTo>
                  <a:lnTo>
                    <a:pt x="386875" y="31824"/>
                  </a:lnTo>
                  <a:lnTo>
                    <a:pt x="371632" y="19456"/>
                  </a:lnTo>
                  <a:lnTo>
                    <a:pt x="330108" y="9338"/>
                  </a:lnTo>
                  <a:lnTo>
                    <a:pt x="268608" y="2507"/>
                  </a:lnTo>
                  <a:lnTo>
                    <a:pt x="193437" y="0"/>
                  </a:lnTo>
                  <a:close/>
                </a:path>
              </a:pathLst>
            </a:custGeom>
            <a:solidFill>
              <a:srgbClr val="FFFFFF"/>
            </a:solidFill>
          </p:spPr>
          <p:txBody>
            <a:bodyPr wrap="square" lIns="0" tIns="0" rIns="0" bIns="0" rtlCol="0"/>
            <a:lstStyle/>
            <a:p>
              <a:endParaRPr/>
            </a:p>
          </p:txBody>
        </p:sp>
        <p:sp>
          <p:nvSpPr>
            <p:cNvPr id="12" name="object 12"/>
            <p:cNvSpPr/>
            <p:nvPr/>
          </p:nvSpPr>
          <p:spPr>
            <a:xfrm>
              <a:off x="3057835" y="1627359"/>
              <a:ext cx="387350" cy="64135"/>
            </a:xfrm>
            <a:custGeom>
              <a:avLst/>
              <a:gdLst/>
              <a:ahLst/>
              <a:cxnLst/>
              <a:rect l="l" t="t" r="r" b="b"/>
              <a:pathLst>
                <a:path w="387350" h="64135">
                  <a:moveTo>
                    <a:pt x="193437" y="0"/>
                  </a:moveTo>
                  <a:lnTo>
                    <a:pt x="268608" y="2507"/>
                  </a:lnTo>
                  <a:lnTo>
                    <a:pt x="330108" y="9338"/>
                  </a:lnTo>
                  <a:lnTo>
                    <a:pt x="371632" y="19456"/>
                  </a:lnTo>
                  <a:lnTo>
                    <a:pt x="386875" y="31824"/>
                  </a:lnTo>
                  <a:lnTo>
                    <a:pt x="371632" y="44191"/>
                  </a:lnTo>
                  <a:lnTo>
                    <a:pt x="330108" y="54308"/>
                  </a:lnTo>
                  <a:lnTo>
                    <a:pt x="268608" y="61138"/>
                  </a:lnTo>
                  <a:lnTo>
                    <a:pt x="193437" y="63645"/>
                  </a:lnTo>
                  <a:lnTo>
                    <a:pt x="118267" y="61138"/>
                  </a:lnTo>
                  <a:lnTo>
                    <a:pt x="56767" y="54308"/>
                  </a:lnTo>
                  <a:lnTo>
                    <a:pt x="15242" y="44191"/>
                  </a:lnTo>
                  <a:lnTo>
                    <a:pt x="0" y="31824"/>
                  </a:lnTo>
                  <a:lnTo>
                    <a:pt x="15242" y="19456"/>
                  </a:lnTo>
                  <a:lnTo>
                    <a:pt x="56767" y="9338"/>
                  </a:lnTo>
                  <a:lnTo>
                    <a:pt x="118267" y="2507"/>
                  </a:lnTo>
                  <a:lnTo>
                    <a:pt x="193437" y="0"/>
                  </a:lnTo>
                  <a:close/>
                </a:path>
              </a:pathLst>
            </a:custGeom>
            <a:ln w="5270">
              <a:solidFill>
                <a:srgbClr val="231F20"/>
              </a:solidFill>
            </a:ln>
          </p:spPr>
          <p:txBody>
            <a:bodyPr wrap="square" lIns="0" tIns="0" rIns="0" bIns="0" rtlCol="0"/>
            <a:lstStyle/>
            <a:p>
              <a:endParaRPr/>
            </a:p>
          </p:txBody>
        </p:sp>
        <p:sp>
          <p:nvSpPr>
            <p:cNvPr id="13" name="object 13"/>
            <p:cNvSpPr/>
            <p:nvPr/>
          </p:nvSpPr>
          <p:spPr>
            <a:xfrm>
              <a:off x="3251273" y="1556207"/>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grpSp>
      <p:grpSp>
        <p:nvGrpSpPr>
          <p:cNvPr id="14" name="object 14"/>
          <p:cNvGrpSpPr/>
          <p:nvPr/>
        </p:nvGrpSpPr>
        <p:grpSpPr>
          <a:xfrm>
            <a:off x="2106520" y="1556207"/>
            <a:ext cx="392430" cy="339725"/>
            <a:chOff x="2106520" y="1556207"/>
            <a:chExt cx="392430" cy="339725"/>
          </a:xfrm>
        </p:grpSpPr>
        <p:sp>
          <p:nvSpPr>
            <p:cNvPr id="15" name="object 15"/>
            <p:cNvSpPr/>
            <p:nvPr/>
          </p:nvSpPr>
          <p:spPr>
            <a:xfrm>
              <a:off x="2109156" y="1659183"/>
              <a:ext cx="387350" cy="234315"/>
            </a:xfrm>
            <a:custGeom>
              <a:avLst/>
              <a:gdLst/>
              <a:ahLst/>
              <a:cxnLst/>
              <a:rect l="l" t="t" r="r" b="b"/>
              <a:pathLst>
                <a:path w="387350" h="234314">
                  <a:moveTo>
                    <a:pt x="386865" y="0"/>
                  </a:moveTo>
                  <a:lnTo>
                    <a:pt x="0" y="0"/>
                  </a:lnTo>
                  <a:lnTo>
                    <a:pt x="0" y="187049"/>
                  </a:lnTo>
                  <a:lnTo>
                    <a:pt x="16644" y="207505"/>
                  </a:lnTo>
                  <a:lnTo>
                    <a:pt x="60505" y="222118"/>
                  </a:lnTo>
                  <a:lnTo>
                    <a:pt x="122469" y="230886"/>
                  </a:lnTo>
                  <a:lnTo>
                    <a:pt x="193427" y="233808"/>
                  </a:lnTo>
                  <a:lnTo>
                    <a:pt x="264386" y="230886"/>
                  </a:lnTo>
                  <a:lnTo>
                    <a:pt x="326354" y="222118"/>
                  </a:lnTo>
                  <a:lnTo>
                    <a:pt x="370218" y="207505"/>
                  </a:lnTo>
                  <a:lnTo>
                    <a:pt x="386865" y="187049"/>
                  </a:lnTo>
                  <a:lnTo>
                    <a:pt x="386865" y="0"/>
                  </a:lnTo>
                  <a:close/>
                </a:path>
              </a:pathLst>
            </a:custGeom>
            <a:solidFill>
              <a:srgbClr val="BCBEC0"/>
            </a:solidFill>
          </p:spPr>
          <p:txBody>
            <a:bodyPr wrap="square" lIns="0" tIns="0" rIns="0" bIns="0" rtlCol="0"/>
            <a:lstStyle/>
            <a:p>
              <a:endParaRPr/>
            </a:p>
          </p:txBody>
        </p:sp>
        <p:sp>
          <p:nvSpPr>
            <p:cNvPr id="16" name="object 16"/>
            <p:cNvSpPr/>
            <p:nvPr/>
          </p:nvSpPr>
          <p:spPr>
            <a:xfrm>
              <a:off x="2109156" y="1659183"/>
              <a:ext cx="387350" cy="234315"/>
            </a:xfrm>
            <a:custGeom>
              <a:avLst/>
              <a:gdLst/>
              <a:ahLst/>
              <a:cxnLst/>
              <a:rect l="l" t="t" r="r" b="b"/>
              <a:pathLst>
                <a:path w="387350" h="234314">
                  <a:moveTo>
                    <a:pt x="0" y="0"/>
                  </a:moveTo>
                  <a:lnTo>
                    <a:pt x="386865" y="0"/>
                  </a:lnTo>
                  <a:lnTo>
                    <a:pt x="386865" y="29825"/>
                  </a:lnTo>
                  <a:lnTo>
                    <a:pt x="386865" y="93308"/>
                  </a:lnTo>
                  <a:lnTo>
                    <a:pt x="386865" y="156900"/>
                  </a:lnTo>
                  <a:lnTo>
                    <a:pt x="386865" y="187049"/>
                  </a:lnTo>
                  <a:lnTo>
                    <a:pt x="370218" y="207505"/>
                  </a:lnTo>
                  <a:lnTo>
                    <a:pt x="326354" y="222118"/>
                  </a:lnTo>
                  <a:lnTo>
                    <a:pt x="264386" y="230886"/>
                  </a:lnTo>
                  <a:lnTo>
                    <a:pt x="193427" y="233808"/>
                  </a:lnTo>
                  <a:lnTo>
                    <a:pt x="122469" y="230886"/>
                  </a:lnTo>
                  <a:lnTo>
                    <a:pt x="60505" y="222118"/>
                  </a:lnTo>
                  <a:lnTo>
                    <a:pt x="16644" y="207505"/>
                  </a:lnTo>
                  <a:lnTo>
                    <a:pt x="0" y="187049"/>
                  </a:lnTo>
                  <a:lnTo>
                    <a:pt x="0" y="156558"/>
                  </a:lnTo>
                  <a:lnTo>
                    <a:pt x="0" y="92400"/>
                  </a:lnTo>
                  <a:lnTo>
                    <a:pt x="0" y="28804"/>
                  </a:lnTo>
                  <a:lnTo>
                    <a:pt x="0" y="0"/>
                  </a:lnTo>
                  <a:close/>
                </a:path>
              </a:pathLst>
            </a:custGeom>
            <a:ln w="5270">
              <a:solidFill>
                <a:srgbClr val="231F20"/>
              </a:solidFill>
            </a:ln>
          </p:spPr>
          <p:txBody>
            <a:bodyPr wrap="square" lIns="0" tIns="0" rIns="0" bIns="0" rtlCol="0"/>
            <a:lstStyle/>
            <a:p>
              <a:endParaRPr/>
            </a:p>
          </p:txBody>
        </p:sp>
        <p:sp>
          <p:nvSpPr>
            <p:cNvPr id="17" name="object 17"/>
            <p:cNvSpPr/>
            <p:nvPr/>
          </p:nvSpPr>
          <p:spPr>
            <a:xfrm>
              <a:off x="2109156" y="1627359"/>
              <a:ext cx="387350" cy="64135"/>
            </a:xfrm>
            <a:custGeom>
              <a:avLst/>
              <a:gdLst/>
              <a:ahLst/>
              <a:cxnLst/>
              <a:rect l="l" t="t" r="r" b="b"/>
              <a:pathLst>
                <a:path w="387350" h="64135">
                  <a:moveTo>
                    <a:pt x="193427" y="0"/>
                  </a:moveTo>
                  <a:lnTo>
                    <a:pt x="118258" y="2507"/>
                  </a:lnTo>
                  <a:lnTo>
                    <a:pt x="56761" y="9338"/>
                  </a:lnTo>
                  <a:lnTo>
                    <a:pt x="15241" y="19456"/>
                  </a:lnTo>
                  <a:lnTo>
                    <a:pt x="0" y="31824"/>
                  </a:lnTo>
                  <a:lnTo>
                    <a:pt x="15241" y="44191"/>
                  </a:lnTo>
                  <a:lnTo>
                    <a:pt x="56761" y="54308"/>
                  </a:lnTo>
                  <a:lnTo>
                    <a:pt x="118258" y="61138"/>
                  </a:lnTo>
                  <a:lnTo>
                    <a:pt x="193427" y="63645"/>
                  </a:lnTo>
                  <a:lnTo>
                    <a:pt x="268602" y="61138"/>
                  </a:lnTo>
                  <a:lnTo>
                    <a:pt x="330101" y="54308"/>
                  </a:lnTo>
                  <a:lnTo>
                    <a:pt x="371623" y="44191"/>
                  </a:lnTo>
                  <a:lnTo>
                    <a:pt x="386865" y="31824"/>
                  </a:lnTo>
                  <a:lnTo>
                    <a:pt x="371623" y="19456"/>
                  </a:lnTo>
                  <a:lnTo>
                    <a:pt x="330101" y="9338"/>
                  </a:lnTo>
                  <a:lnTo>
                    <a:pt x="268602" y="2507"/>
                  </a:lnTo>
                  <a:lnTo>
                    <a:pt x="193427" y="0"/>
                  </a:lnTo>
                  <a:close/>
                </a:path>
              </a:pathLst>
            </a:custGeom>
            <a:solidFill>
              <a:srgbClr val="FFFFFF"/>
            </a:solidFill>
          </p:spPr>
          <p:txBody>
            <a:bodyPr wrap="square" lIns="0" tIns="0" rIns="0" bIns="0" rtlCol="0"/>
            <a:lstStyle/>
            <a:p>
              <a:endParaRPr/>
            </a:p>
          </p:txBody>
        </p:sp>
        <p:sp>
          <p:nvSpPr>
            <p:cNvPr id="18" name="object 18"/>
            <p:cNvSpPr/>
            <p:nvPr/>
          </p:nvSpPr>
          <p:spPr>
            <a:xfrm>
              <a:off x="2109156" y="1627359"/>
              <a:ext cx="387350" cy="64135"/>
            </a:xfrm>
            <a:custGeom>
              <a:avLst/>
              <a:gdLst/>
              <a:ahLst/>
              <a:cxnLst/>
              <a:rect l="l" t="t" r="r" b="b"/>
              <a:pathLst>
                <a:path w="387350" h="64135">
                  <a:moveTo>
                    <a:pt x="193427" y="0"/>
                  </a:moveTo>
                  <a:lnTo>
                    <a:pt x="268602" y="2507"/>
                  </a:lnTo>
                  <a:lnTo>
                    <a:pt x="330101" y="9338"/>
                  </a:lnTo>
                  <a:lnTo>
                    <a:pt x="371623" y="19456"/>
                  </a:lnTo>
                  <a:lnTo>
                    <a:pt x="386865" y="31824"/>
                  </a:lnTo>
                  <a:lnTo>
                    <a:pt x="371623" y="44191"/>
                  </a:lnTo>
                  <a:lnTo>
                    <a:pt x="330101" y="54308"/>
                  </a:lnTo>
                  <a:lnTo>
                    <a:pt x="268602" y="61138"/>
                  </a:lnTo>
                  <a:lnTo>
                    <a:pt x="193427" y="63645"/>
                  </a:lnTo>
                  <a:lnTo>
                    <a:pt x="118258" y="61138"/>
                  </a:lnTo>
                  <a:lnTo>
                    <a:pt x="56761" y="54308"/>
                  </a:lnTo>
                  <a:lnTo>
                    <a:pt x="15241" y="44191"/>
                  </a:lnTo>
                  <a:lnTo>
                    <a:pt x="0" y="31824"/>
                  </a:lnTo>
                  <a:lnTo>
                    <a:pt x="15241" y="19456"/>
                  </a:lnTo>
                  <a:lnTo>
                    <a:pt x="56761" y="9338"/>
                  </a:lnTo>
                  <a:lnTo>
                    <a:pt x="118258" y="2507"/>
                  </a:lnTo>
                  <a:lnTo>
                    <a:pt x="193427" y="0"/>
                  </a:lnTo>
                  <a:close/>
                </a:path>
              </a:pathLst>
            </a:custGeom>
            <a:ln w="5270">
              <a:solidFill>
                <a:srgbClr val="231F20"/>
              </a:solidFill>
            </a:ln>
          </p:spPr>
          <p:txBody>
            <a:bodyPr wrap="square" lIns="0" tIns="0" rIns="0" bIns="0" rtlCol="0"/>
            <a:lstStyle/>
            <a:p>
              <a:endParaRPr/>
            </a:p>
          </p:txBody>
        </p:sp>
        <p:sp>
          <p:nvSpPr>
            <p:cNvPr id="19" name="object 19"/>
            <p:cNvSpPr/>
            <p:nvPr/>
          </p:nvSpPr>
          <p:spPr>
            <a:xfrm>
              <a:off x="2302583" y="1556207"/>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grpSp>
      <p:grpSp>
        <p:nvGrpSpPr>
          <p:cNvPr id="20" name="object 20"/>
          <p:cNvGrpSpPr/>
          <p:nvPr/>
        </p:nvGrpSpPr>
        <p:grpSpPr>
          <a:xfrm>
            <a:off x="1157826" y="1556207"/>
            <a:ext cx="392430" cy="339725"/>
            <a:chOff x="1157826" y="1556207"/>
            <a:chExt cx="392430" cy="339725"/>
          </a:xfrm>
        </p:grpSpPr>
        <p:sp>
          <p:nvSpPr>
            <p:cNvPr id="21" name="object 21"/>
            <p:cNvSpPr/>
            <p:nvPr/>
          </p:nvSpPr>
          <p:spPr>
            <a:xfrm>
              <a:off x="1160461" y="1659183"/>
              <a:ext cx="387350" cy="234315"/>
            </a:xfrm>
            <a:custGeom>
              <a:avLst/>
              <a:gdLst/>
              <a:ahLst/>
              <a:cxnLst/>
              <a:rect l="l" t="t" r="r" b="b"/>
              <a:pathLst>
                <a:path w="387350" h="234314">
                  <a:moveTo>
                    <a:pt x="386871" y="0"/>
                  </a:moveTo>
                  <a:lnTo>
                    <a:pt x="0" y="0"/>
                  </a:lnTo>
                  <a:lnTo>
                    <a:pt x="0" y="187049"/>
                  </a:lnTo>
                  <a:lnTo>
                    <a:pt x="16646" y="207505"/>
                  </a:lnTo>
                  <a:lnTo>
                    <a:pt x="60508" y="222118"/>
                  </a:lnTo>
                  <a:lnTo>
                    <a:pt x="122474" y="230886"/>
                  </a:lnTo>
                  <a:lnTo>
                    <a:pt x="193431" y="233808"/>
                  </a:lnTo>
                  <a:lnTo>
                    <a:pt x="264390" y="230886"/>
                  </a:lnTo>
                  <a:lnTo>
                    <a:pt x="326359" y="222118"/>
                  </a:lnTo>
                  <a:lnTo>
                    <a:pt x="370224" y="207505"/>
                  </a:lnTo>
                  <a:lnTo>
                    <a:pt x="386871" y="187049"/>
                  </a:lnTo>
                  <a:lnTo>
                    <a:pt x="386871" y="0"/>
                  </a:lnTo>
                  <a:close/>
                </a:path>
              </a:pathLst>
            </a:custGeom>
            <a:solidFill>
              <a:srgbClr val="BCBEC0"/>
            </a:solidFill>
          </p:spPr>
          <p:txBody>
            <a:bodyPr wrap="square" lIns="0" tIns="0" rIns="0" bIns="0" rtlCol="0"/>
            <a:lstStyle/>
            <a:p>
              <a:endParaRPr/>
            </a:p>
          </p:txBody>
        </p:sp>
        <p:sp>
          <p:nvSpPr>
            <p:cNvPr id="22" name="object 22"/>
            <p:cNvSpPr/>
            <p:nvPr/>
          </p:nvSpPr>
          <p:spPr>
            <a:xfrm>
              <a:off x="1160461" y="1659183"/>
              <a:ext cx="387350" cy="234315"/>
            </a:xfrm>
            <a:custGeom>
              <a:avLst/>
              <a:gdLst/>
              <a:ahLst/>
              <a:cxnLst/>
              <a:rect l="l" t="t" r="r" b="b"/>
              <a:pathLst>
                <a:path w="387350" h="234314">
                  <a:moveTo>
                    <a:pt x="0" y="0"/>
                  </a:moveTo>
                  <a:lnTo>
                    <a:pt x="386871" y="0"/>
                  </a:lnTo>
                  <a:lnTo>
                    <a:pt x="386871" y="29825"/>
                  </a:lnTo>
                  <a:lnTo>
                    <a:pt x="386871" y="93308"/>
                  </a:lnTo>
                  <a:lnTo>
                    <a:pt x="386871" y="156900"/>
                  </a:lnTo>
                  <a:lnTo>
                    <a:pt x="386871" y="187049"/>
                  </a:lnTo>
                  <a:lnTo>
                    <a:pt x="370224" y="207505"/>
                  </a:lnTo>
                  <a:lnTo>
                    <a:pt x="326359" y="222118"/>
                  </a:lnTo>
                  <a:lnTo>
                    <a:pt x="264390" y="230886"/>
                  </a:lnTo>
                  <a:lnTo>
                    <a:pt x="193431" y="233808"/>
                  </a:lnTo>
                  <a:lnTo>
                    <a:pt x="122474" y="230886"/>
                  </a:lnTo>
                  <a:lnTo>
                    <a:pt x="60508" y="222118"/>
                  </a:lnTo>
                  <a:lnTo>
                    <a:pt x="16646" y="207505"/>
                  </a:lnTo>
                  <a:lnTo>
                    <a:pt x="0" y="187049"/>
                  </a:lnTo>
                  <a:lnTo>
                    <a:pt x="0" y="156558"/>
                  </a:lnTo>
                  <a:lnTo>
                    <a:pt x="0" y="92400"/>
                  </a:lnTo>
                  <a:lnTo>
                    <a:pt x="0" y="28804"/>
                  </a:lnTo>
                  <a:lnTo>
                    <a:pt x="0" y="0"/>
                  </a:lnTo>
                  <a:close/>
                </a:path>
              </a:pathLst>
            </a:custGeom>
            <a:ln w="5270">
              <a:solidFill>
                <a:srgbClr val="231F20"/>
              </a:solidFill>
            </a:ln>
          </p:spPr>
          <p:txBody>
            <a:bodyPr wrap="square" lIns="0" tIns="0" rIns="0" bIns="0" rtlCol="0"/>
            <a:lstStyle/>
            <a:p>
              <a:endParaRPr/>
            </a:p>
          </p:txBody>
        </p:sp>
        <p:sp>
          <p:nvSpPr>
            <p:cNvPr id="23" name="object 23"/>
            <p:cNvSpPr/>
            <p:nvPr/>
          </p:nvSpPr>
          <p:spPr>
            <a:xfrm>
              <a:off x="1160461" y="1627359"/>
              <a:ext cx="387350" cy="64135"/>
            </a:xfrm>
            <a:custGeom>
              <a:avLst/>
              <a:gdLst/>
              <a:ahLst/>
              <a:cxnLst/>
              <a:rect l="l" t="t" r="r" b="b"/>
              <a:pathLst>
                <a:path w="387350" h="64135">
                  <a:moveTo>
                    <a:pt x="193431" y="0"/>
                  </a:moveTo>
                  <a:lnTo>
                    <a:pt x="118263" y="2507"/>
                  </a:lnTo>
                  <a:lnTo>
                    <a:pt x="56765" y="9338"/>
                  </a:lnTo>
                  <a:lnTo>
                    <a:pt x="15242" y="19456"/>
                  </a:lnTo>
                  <a:lnTo>
                    <a:pt x="0" y="31824"/>
                  </a:lnTo>
                  <a:lnTo>
                    <a:pt x="15242" y="44191"/>
                  </a:lnTo>
                  <a:lnTo>
                    <a:pt x="56765" y="54308"/>
                  </a:lnTo>
                  <a:lnTo>
                    <a:pt x="118263" y="61138"/>
                  </a:lnTo>
                  <a:lnTo>
                    <a:pt x="193431" y="63645"/>
                  </a:lnTo>
                  <a:lnTo>
                    <a:pt x="268605" y="61138"/>
                  </a:lnTo>
                  <a:lnTo>
                    <a:pt x="330106" y="54308"/>
                  </a:lnTo>
                  <a:lnTo>
                    <a:pt x="371629" y="44191"/>
                  </a:lnTo>
                  <a:lnTo>
                    <a:pt x="386871" y="31824"/>
                  </a:lnTo>
                  <a:lnTo>
                    <a:pt x="371629" y="19456"/>
                  </a:lnTo>
                  <a:lnTo>
                    <a:pt x="330106" y="9338"/>
                  </a:lnTo>
                  <a:lnTo>
                    <a:pt x="268605" y="2507"/>
                  </a:lnTo>
                  <a:lnTo>
                    <a:pt x="193431" y="0"/>
                  </a:lnTo>
                  <a:close/>
                </a:path>
              </a:pathLst>
            </a:custGeom>
            <a:solidFill>
              <a:srgbClr val="FFFFFF"/>
            </a:solidFill>
          </p:spPr>
          <p:txBody>
            <a:bodyPr wrap="square" lIns="0" tIns="0" rIns="0" bIns="0" rtlCol="0"/>
            <a:lstStyle/>
            <a:p>
              <a:endParaRPr/>
            </a:p>
          </p:txBody>
        </p:sp>
        <p:sp>
          <p:nvSpPr>
            <p:cNvPr id="24" name="object 24"/>
            <p:cNvSpPr/>
            <p:nvPr/>
          </p:nvSpPr>
          <p:spPr>
            <a:xfrm>
              <a:off x="1160461" y="1627359"/>
              <a:ext cx="387350" cy="64135"/>
            </a:xfrm>
            <a:custGeom>
              <a:avLst/>
              <a:gdLst/>
              <a:ahLst/>
              <a:cxnLst/>
              <a:rect l="l" t="t" r="r" b="b"/>
              <a:pathLst>
                <a:path w="387350" h="64135">
                  <a:moveTo>
                    <a:pt x="193431" y="0"/>
                  </a:moveTo>
                  <a:lnTo>
                    <a:pt x="268605" y="2507"/>
                  </a:lnTo>
                  <a:lnTo>
                    <a:pt x="330106" y="9338"/>
                  </a:lnTo>
                  <a:lnTo>
                    <a:pt x="371629" y="19456"/>
                  </a:lnTo>
                  <a:lnTo>
                    <a:pt x="386871" y="31824"/>
                  </a:lnTo>
                  <a:lnTo>
                    <a:pt x="371629" y="44191"/>
                  </a:lnTo>
                  <a:lnTo>
                    <a:pt x="330106" y="54308"/>
                  </a:lnTo>
                  <a:lnTo>
                    <a:pt x="268605" y="61138"/>
                  </a:lnTo>
                  <a:lnTo>
                    <a:pt x="193431" y="63645"/>
                  </a:lnTo>
                  <a:lnTo>
                    <a:pt x="118263" y="61138"/>
                  </a:lnTo>
                  <a:lnTo>
                    <a:pt x="56765" y="54308"/>
                  </a:lnTo>
                  <a:lnTo>
                    <a:pt x="15242" y="44191"/>
                  </a:lnTo>
                  <a:lnTo>
                    <a:pt x="0" y="31824"/>
                  </a:lnTo>
                  <a:lnTo>
                    <a:pt x="15242" y="19456"/>
                  </a:lnTo>
                  <a:lnTo>
                    <a:pt x="56765" y="9338"/>
                  </a:lnTo>
                  <a:lnTo>
                    <a:pt x="118263" y="2507"/>
                  </a:lnTo>
                  <a:lnTo>
                    <a:pt x="193431" y="0"/>
                  </a:lnTo>
                  <a:close/>
                </a:path>
              </a:pathLst>
            </a:custGeom>
            <a:ln w="5270">
              <a:solidFill>
                <a:srgbClr val="231F20"/>
              </a:solidFill>
            </a:ln>
          </p:spPr>
          <p:txBody>
            <a:bodyPr wrap="square" lIns="0" tIns="0" rIns="0" bIns="0" rtlCol="0"/>
            <a:lstStyle/>
            <a:p>
              <a:endParaRPr/>
            </a:p>
          </p:txBody>
        </p:sp>
        <p:sp>
          <p:nvSpPr>
            <p:cNvPr id="25" name="object 25"/>
            <p:cNvSpPr/>
            <p:nvPr/>
          </p:nvSpPr>
          <p:spPr>
            <a:xfrm>
              <a:off x="1353893" y="1556207"/>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grpSp>
      <p:sp>
        <p:nvSpPr>
          <p:cNvPr id="26" name="object 26"/>
          <p:cNvSpPr txBox="1"/>
          <p:nvPr/>
        </p:nvSpPr>
        <p:spPr>
          <a:xfrm>
            <a:off x="2492321" y="465213"/>
            <a:ext cx="56959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50">
              <a:latin typeface="Times New Roman"/>
              <a:cs typeface="Times New Roman"/>
            </a:endParaRPr>
          </a:p>
          <a:p>
            <a:pPr marL="82550" marR="74930" indent="93345">
              <a:lnSpc>
                <a:spcPct val="100000"/>
              </a:lnSpc>
              <a:spcBef>
                <a:spcPts val="5"/>
              </a:spcBef>
            </a:pPr>
            <a:r>
              <a:rPr sz="650" spc="5" dirty="0">
                <a:solidFill>
                  <a:srgbClr val="231F20"/>
                </a:solidFill>
                <a:latin typeface="Arial"/>
                <a:cs typeface="Arial"/>
              </a:rPr>
              <a:t>Client </a:t>
            </a:r>
            <a:r>
              <a:rPr sz="650" spc="10" dirty="0">
                <a:solidFill>
                  <a:srgbClr val="231F20"/>
                </a:solidFill>
                <a:latin typeface="Arial"/>
                <a:cs typeface="Arial"/>
              </a:rPr>
              <a:t> </a:t>
            </a:r>
            <a:r>
              <a:rPr sz="650" spc="5" dirty="0">
                <a:solidFill>
                  <a:srgbClr val="231F20"/>
                </a:solidFill>
                <a:latin typeface="Arial"/>
                <a:cs typeface="Arial"/>
              </a:rPr>
              <a:t>application</a:t>
            </a:r>
            <a:endParaRPr sz="650">
              <a:latin typeface="Arial"/>
              <a:cs typeface="Arial"/>
            </a:endParaRPr>
          </a:p>
        </p:txBody>
      </p:sp>
      <p:sp>
        <p:nvSpPr>
          <p:cNvPr id="27" name="object 27"/>
          <p:cNvSpPr txBox="1"/>
          <p:nvPr/>
        </p:nvSpPr>
        <p:spPr>
          <a:xfrm>
            <a:off x="1543631" y="465213"/>
            <a:ext cx="569595" cy="379730"/>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50">
              <a:latin typeface="Times New Roman"/>
              <a:cs typeface="Times New Roman"/>
            </a:endParaRPr>
          </a:p>
          <a:p>
            <a:pPr marL="82550" marR="74930" indent="93345">
              <a:lnSpc>
                <a:spcPct val="100000"/>
              </a:lnSpc>
              <a:spcBef>
                <a:spcPts val="5"/>
              </a:spcBef>
            </a:pPr>
            <a:r>
              <a:rPr sz="650" spc="5" dirty="0">
                <a:solidFill>
                  <a:srgbClr val="231F20"/>
                </a:solidFill>
                <a:latin typeface="Arial"/>
                <a:cs typeface="Arial"/>
              </a:rPr>
              <a:t>Client </a:t>
            </a:r>
            <a:r>
              <a:rPr sz="650" spc="10" dirty="0">
                <a:solidFill>
                  <a:srgbClr val="231F20"/>
                </a:solidFill>
                <a:latin typeface="Arial"/>
                <a:cs typeface="Arial"/>
              </a:rPr>
              <a:t> </a:t>
            </a:r>
            <a:r>
              <a:rPr sz="650" spc="5" dirty="0">
                <a:solidFill>
                  <a:srgbClr val="231F20"/>
                </a:solidFill>
                <a:latin typeface="Arial"/>
                <a:cs typeface="Arial"/>
              </a:rPr>
              <a:t>application</a:t>
            </a:r>
            <a:endParaRPr sz="650">
              <a:latin typeface="Arial"/>
              <a:cs typeface="Arial"/>
            </a:endParaRPr>
          </a:p>
        </p:txBody>
      </p:sp>
      <p:sp>
        <p:nvSpPr>
          <p:cNvPr id="28" name="object 28"/>
          <p:cNvSpPr/>
          <p:nvPr/>
        </p:nvSpPr>
        <p:spPr>
          <a:xfrm>
            <a:off x="1828238" y="844689"/>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sp>
        <p:nvSpPr>
          <p:cNvPr id="29" name="object 29"/>
          <p:cNvSpPr/>
          <p:nvPr/>
        </p:nvSpPr>
        <p:spPr>
          <a:xfrm>
            <a:off x="2776928" y="844689"/>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sp>
        <p:nvSpPr>
          <p:cNvPr id="30" name="object 30"/>
          <p:cNvSpPr/>
          <p:nvPr/>
        </p:nvSpPr>
        <p:spPr>
          <a:xfrm>
            <a:off x="1353893" y="1081862"/>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sp>
        <p:nvSpPr>
          <p:cNvPr id="31" name="object 31"/>
          <p:cNvSpPr/>
          <p:nvPr/>
        </p:nvSpPr>
        <p:spPr>
          <a:xfrm>
            <a:off x="2302583" y="1081862"/>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sp>
        <p:nvSpPr>
          <p:cNvPr id="32" name="object 32"/>
          <p:cNvSpPr/>
          <p:nvPr/>
        </p:nvSpPr>
        <p:spPr>
          <a:xfrm>
            <a:off x="3251273" y="1081862"/>
            <a:ext cx="0" cy="95250"/>
          </a:xfrm>
          <a:custGeom>
            <a:avLst/>
            <a:gdLst/>
            <a:ahLst/>
            <a:cxnLst/>
            <a:rect l="l" t="t" r="r" b="b"/>
            <a:pathLst>
              <a:path h="95250">
                <a:moveTo>
                  <a:pt x="0" y="0"/>
                </a:moveTo>
                <a:lnTo>
                  <a:pt x="0" y="94868"/>
                </a:lnTo>
              </a:path>
            </a:pathLst>
          </a:custGeom>
          <a:ln w="5270">
            <a:solidFill>
              <a:srgbClr val="231F20"/>
            </a:solidFill>
          </a:ln>
        </p:spPr>
        <p:txBody>
          <a:bodyPr wrap="square" lIns="0" tIns="0" rIns="0" bIns="0" rtlCol="0"/>
          <a:lstStyle/>
          <a:p>
            <a:endParaRPr/>
          </a:p>
        </p:txBody>
      </p:sp>
      <p:sp>
        <p:nvSpPr>
          <p:cNvPr id="33" name="object 33"/>
          <p:cNvSpPr txBox="1"/>
          <p:nvPr/>
        </p:nvSpPr>
        <p:spPr>
          <a:xfrm>
            <a:off x="974417" y="939558"/>
            <a:ext cx="2656840" cy="142875"/>
          </a:xfrm>
          <a:prstGeom prst="rect">
            <a:avLst/>
          </a:prstGeom>
          <a:ln w="5270">
            <a:solidFill>
              <a:srgbClr val="231F20"/>
            </a:solidFill>
          </a:ln>
        </p:spPr>
        <p:txBody>
          <a:bodyPr vert="horz" wrap="square" lIns="0" tIns="12065" rIns="0" bIns="0" rtlCol="0">
            <a:spAutoFit/>
          </a:bodyPr>
          <a:lstStyle/>
          <a:p>
            <a:pPr marL="807720">
              <a:lnSpc>
                <a:spcPct val="100000"/>
              </a:lnSpc>
              <a:spcBef>
                <a:spcPts val="95"/>
              </a:spcBef>
            </a:pPr>
            <a:r>
              <a:rPr sz="650" spc="5" dirty="0">
                <a:solidFill>
                  <a:srgbClr val="231F20"/>
                </a:solidFill>
                <a:latin typeface="Arial"/>
                <a:cs typeface="Arial"/>
              </a:rPr>
              <a:t>Communication</a:t>
            </a:r>
            <a:r>
              <a:rPr sz="650" spc="-25" dirty="0">
                <a:solidFill>
                  <a:srgbClr val="231F20"/>
                </a:solidFill>
                <a:latin typeface="Arial"/>
                <a:cs typeface="Arial"/>
              </a:rPr>
              <a:t> </a:t>
            </a:r>
            <a:r>
              <a:rPr sz="650" spc="5" dirty="0">
                <a:solidFill>
                  <a:srgbClr val="231F20"/>
                </a:solidFill>
                <a:latin typeface="Arial"/>
                <a:cs typeface="Arial"/>
              </a:rPr>
              <a:t>middleware</a:t>
            </a:r>
            <a:endParaRPr sz="650">
              <a:latin typeface="Arial"/>
              <a:cs typeface="Arial"/>
            </a:endParaRPr>
          </a:p>
        </p:txBody>
      </p:sp>
      <p:sp>
        <p:nvSpPr>
          <p:cNvPr id="35" name="object 35"/>
          <p:cNvSpPr txBox="1"/>
          <p:nvPr/>
        </p:nvSpPr>
        <p:spPr>
          <a:xfrm>
            <a:off x="66713" y="3331252"/>
            <a:ext cx="113284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3333B2"/>
                </a:solidFill>
                <a:latin typeface="Arial"/>
                <a:cs typeface="Arial"/>
                <a:hlinkClick r:id="rId6" action="ppaction://hlinksldjump"/>
              </a:rPr>
              <a:t>Enterprise</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application</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integration</a:t>
            </a:r>
            <a:endParaRPr sz="600">
              <a:latin typeface="Arial"/>
              <a:cs typeface="Arial"/>
            </a:endParaRPr>
          </a:p>
        </p:txBody>
      </p:sp>
      <p:sp>
        <p:nvSpPr>
          <p:cNvPr id="36" name="object 3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45</a:t>
            </a:r>
            <a:r>
              <a:rPr spc="-40" dirty="0"/>
              <a:t> </a:t>
            </a:r>
            <a:r>
              <a:rPr spc="-5" dirty="0"/>
              <a:t>/</a:t>
            </a:r>
            <a:r>
              <a:rPr spc="-35" dirty="0"/>
              <a:t> </a:t>
            </a:r>
            <a:r>
              <a:rPr spc="-5" dirty="0"/>
              <a:t>56</a:t>
            </a:r>
          </a:p>
        </p:txBody>
      </p:sp>
      <p:sp>
        <p:nvSpPr>
          <p:cNvPr id="34" name="object 34"/>
          <p:cNvSpPr txBox="1"/>
          <p:nvPr/>
        </p:nvSpPr>
        <p:spPr>
          <a:xfrm>
            <a:off x="347294" y="1987319"/>
            <a:ext cx="3875404" cy="1295400"/>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Middleware</a:t>
            </a:r>
            <a:r>
              <a:rPr sz="1200" spc="-5" dirty="0">
                <a:solidFill>
                  <a:srgbClr val="3333B2"/>
                </a:solidFill>
                <a:latin typeface="Arial"/>
                <a:cs typeface="Arial"/>
              </a:rPr>
              <a:t> </a:t>
            </a:r>
            <a:r>
              <a:rPr sz="1200" spc="-10" dirty="0">
                <a:solidFill>
                  <a:srgbClr val="3333B2"/>
                </a:solidFill>
                <a:latin typeface="Arial"/>
                <a:cs typeface="Arial"/>
              </a:rPr>
              <a:t>offers</a:t>
            </a:r>
            <a:r>
              <a:rPr sz="1200" dirty="0">
                <a:solidFill>
                  <a:srgbClr val="3333B2"/>
                </a:solidFill>
                <a:latin typeface="Arial"/>
                <a:cs typeface="Arial"/>
              </a:rPr>
              <a:t> </a:t>
            </a:r>
            <a:r>
              <a:rPr sz="1200" spc="-5" dirty="0">
                <a:solidFill>
                  <a:srgbClr val="3333B2"/>
                </a:solidFill>
                <a:latin typeface="Arial"/>
                <a:cs typeface="Arial"/>
              </a:rPr>
              <a:t>communication </a:t>
            </a:r>
            <a:r>
              <a:rPr sz="1200" spc="-10" dirty="0">
                <a:solidFill>
                  <a:srgbClr val="3333B2"/>
                </a:solidFill>
                <a:latin typeface="Arial"/>
                <a:cs typeface="Arial"/>
              </a:rPr>
              <a:t>facilities</a:t>
            </a:r>
            <a:r>
              <a:rPr sz="1200" dirty="0">
                <a:solidFill>
                  <a:srgbClr val="3333B2"/>
                </a:solidFill>
                <a:latin typeface="Arial"/>
                <a:cs typeface="Arial"/>
              </a:rPr>
              <a:t> </a:t>
            </a:r>
            <a:r>
              <a:rPr sz="1200" spc="-20" dirty="0">
                <a:solidFill>
                  <a:srgbClr val="3333B2"/>
                </a:solidFill>
                <a:latin typeface="Arial"/>
                <a:cs typeface="Arial"/>
              </a:rPr>
              <a:t>for</a:t>
            </a:r>
            <a:r>
              <a:rPr sz="1200" dirty="0">
                <a:solidFill>
                  <a:srgbClr val="3333B2"/>
                </a:solidFill>
                <a:latin typeface="Arial"/>
                <a:cs typeface="Arial"/>
              </a:rPr>
              <a:t> </a:t>
            </a:r>
            <a:r>
              <a:rPr sz="1200" spc="-5" dirty="0">
                <a:solidFill>
                  <a:srgbClr val="3333B2"/>
                </a:solidFill>
                <a:latin typeface="Arial"/>
                <a:cs typeface="Arial"/>
              </a:rPr>
              <a:t>integration</a:t>
            </a:r>
            <a:endParaRPr sz="1200" dirty="0">
              <a:latin typeface="Arial"/>
              <a:cs typeface="Arial"/>
            </a:endParaRPr>
          </a:p>
          <a:p>
            <a:pPr marL="271145" marR="146685" indent="-259079">
              <a:lnSpc>
                <a:spcPct val="100000"/>
              </a:lnSpc>
              <a:spcBef>
                <a:spcPts val="790"/>
              </a:spcBef>
            </a:pPr>
            <a:r>
              <a:rPr sz="1000" spc="-5" dirty="0">
                <a:solidFill>
                  <a:srgbClr val="3333B2"/>
                </a:solidFill>
                <a:latin typeface="Arial"/>
                <a:cs typeface="Arial"/>
              </a:rPr>
              <a:t>Remote Procedure</a:t>
            </a:r>
            <a:r>
              <a:rPr sz="1000" dirty="0">
                <a:solidFill>
                  <a:srgbClr val="3333B2"/>
                </a:solidFill>
                <a:latin typeface="Arial"/>
                <a:cs typeface="Arial"/>
              </a:rPr>
              <a:t> </a:t>
            </a:r>
            <a:r>
              <a:rPr sz="1000" spc="-5" dirty="0">
                <a:solidFill>
                  <a:srgbClr val="3333B2"/>
                </a:solidFill>
                <a:latin typeface="Arial"/>
                <a:cs typeface="Arial"/>
              </a:rPr>
              <a:t>Call</a:t>
            </a:r>
            <a:r>
              <a:rPr sz="1000" dirty="0">
                <a:solidFill>
                  <a:srgbClr val="3333B2"/>
                </a:solidFill>
                <a:latin typeface="Arial"/>
                <a:cs typeface="Arial"/>
              </a:rPr>
              <a:t> </a:t>
            </a:r>
            <a:r>
              <a:rPr sz="1000" spc="-5" dirty="0">
                <a:solidFill>
                  <a:srgbClr val="3333B2"/>
                </a:solidFill>
                <a:latin typeface="Arial"/>
                <a:cs typeface="Arial"/>
              </a:rPr>
              <a:t>(RPC):</a:t>
            </a:r>
            <a:r>
              <a:rPr sz="1000" spc="5" dirty="0">
                <a:solidFill>
                  <a:srgbClr val="3333B2"/>
                </a:solidFill>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sent</a:t>
            </a:r>
            <a:r>
              <a:rPr sz="1000" dirty="0">
                <a:latin typeface="Arial"/>
                <a:cs typeface="Arial"/>
              </a:rPr>
              <a:t> </a:t>
            </a:r>
            <a:r>
              <a:rPr sz="1000" spc="-5" dirty="0">
                <a:latin typeface="Arial"/>
                <a:cs typeface="Arial"/>
              </a:rPr>
              <a:t>through</a:t>
            </a:r>
            <a:r>
              <a:rPr sz="1000" dirty="0">
                <a:latin typeface="Arial"/>
                <a:cs typeface="Arial"/>
              </a:rPr>
              <a:t> </a:t>
            </a:r>
            <a:r>
              <a:rPr sz="1000" spc="-5" dirty="0">
                <a:latin typeface="Arial"/>
                <a:cs typeface="Arial"/>
              </a:rPr>
              <a:t>local </a:t>
            </a:r>
            <a:r>
              <a:rPr sz="1000" dirty="0">
                <a:latin typeface="Arial"/>
                <a:cs typeface="Arial"/>
              </a:rPr>
              <a:t> </a:t>
            </a:r>
            <a:r>
              <a:rPr sz="1000" spc="-5" dirty="0">
                <a:latin typeface="Arial"/>
                <a:cs typeface="Arial"/>
              </a:rPr>
              <a:t>procedure call,</a:t>
            </a:r>
            <a:r>
              <a:rPr sz="1000" dirty="0">
                <a:latin typeface="Arial"/>
                <a:cs typeface="Arial"/>
              </a:rPr>
              <a:t> </a:t>
            </a:r>
            <a:r>
              <a:rPr sz="1000" spc="-5" dirty="0">
                <a:latin typeface="Arial"/>
                <a:cs typeface="Arial"/>
              </a:rPr>
              <a:t>packaged as</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processed, responded </a:t>
            </a:r>
            <a:r>
              <a:rPr sz="1000" spc="-260" dirty="0">
                <a:latin typeface="Arial"/>
                <a:cs typeface="Arial"/>
              </a:rPr>
              <a:t> </a:t>
            </a:r>
            <a:r>
              <a:rPr sz="1000" spc="-5" dirty="0">
                <a:latin typeface="Arial"/>
                <a:cs typeface="Arial"/>
              </a:rPr>
              <a:t>through message, and result </a:t>
            </a:r>
            <a:r>
              <a:rPr sz="1000" dirty="0">
                <a:latin typeface="Arial"/>
                <a:cs typeface="Arial"/>
              </a:rPr>
              <a:t>returned</a:t>
            </a:r>
            <a:r>
              <a:rPr sz="1000" spc="-5" dirty="0">
                <a:latin typeface="Arial"/>
                <a:cs typeface="Arial"/>
              </a:rPr>
              <a:t> as </a:t>
            </a:r>
            <a:r>
              <a:rPr sz="1000" dirty="0">
                <a:latin typeface="Arial"/>
                <a:cs typeface="Arial"/>
              </a:rPr>
              <a:t>return</a:t>
            </a:r>
            <a:r>
              <a:rPr sz="1000" spc="-5" dirty="0">
                <a:latin typeface="Arial"/>
                <a:cs typeface="Arial"/>
              </a:rPr>
              <a:t> from</a:t>
            </a:r>
            <a:r>
              <a:rPr sz="1000" dirty="0">
                <a:latin typeface="Arial"/>
                <a:cs typeface="Arial"/>
              </a:rPr>
              <a:t> </a:t>
            </a:r>
            <a:r>
              <a:rPr sz="1000" spc="-5" dirty="0">
                <a:latin typeface="Arial"/>
                <a:cs typeface="Arial"/>
              </a:rPr>
              <a:t>call.</a:t>
            </a:r>
            <a:endParaRPr sz="1000" dirty="0">
              <a:latin typeface="Arial"/>
              <a:cs typeface="Arial"/>
            </a:endParaRPr>
          </a:p>
          <a:p>
            <a:pPr marL="271145" marR="5080" indent="-259079">
              <a:lnSpc>
                <a:spcPct val="100000"/>
              </a:lnSpc>
              <a:spcBef>
                <a:spcPts val="580"/>
              </a:spcBef>
            </a:pPr>
            <a:r>
              <a:rPr sz="1000" spc="-5" dirty="0">
                <a:solidFill>
                  <a:srgbClr val="3333B2"/>
                </a:solidFill>
                <a:latin typeface="Arial"/>
                <a:cs typeface="Arial"/>
              </a:rPr>
              <a:t>Message</a:t>
            </a:r>
            <a:r>
              <a:rPr sz="1000" dirty="0">
                <a:solidFill>
                  <a:srgbClr val="3333B2"/>
                </a:solidFill>
                <a:latin typeface="Arial"/>
                <a:cs typeface="Arial"/>
              </a:rPr>
              <a:t> </a:t>
            </a:r>
            <a:r>
              <a:rPr sz="1000" spc="-5" dirty="0">
                <a:solidFill>
                  <a:srgbClr val="3333B2"/>
                </a:solidFill>
                <a:latin typeface="Arial"/>
                <a:cs typeface="Arial"/>
              </a:rPr>
              <a:t>Oriented</a:t>
            </a:r>
            <a:r>
              <a:rPr sz="1000" spc="5" dirty="0">
                <a:solidFill>
                  <a:srgbClr val="3333B2"/>
                </a:solidFill>
                <a:latin typeface="Arial"/>
                <a:cs typeface="Arial"/>
              </a:rPr>
              <a:t> </a:t>
            </a:r>
            <a:r>
              <a:rPr sz="1000" spc="-10" dirty="0">
                <a:solidFill>
                  <a:srgbClr val="3333B2"/>
                </a:solidFill>
                <a:latin typeface="Arial"/>
                <a:cs typeface="Arial"/>
              </a:rPr>
              <a:t>Middleware</a:t>
            </a:r>
            <a:r>
              <a:rPr sz="1000" spc="5" dirty="0">
                <a:solidFill>
                  <a:srgbClr val="3333B2"/>
                </a:solidFill>
                <a:latin typeface="Arial"/>
                <a:cs typeface="Arial"/>
              </a:rPr>
              <a:t> </a:t>
            </a:r>
            <a:r>
              <a:rPr sz="1000" spc="-5" dirty="0">
                <a:solidFill>
                  <a:srgbClr val="3333B2"/>
                </a:solidFill>
                <a:latin typeface="Arial"/>
                <a:cs typeface="Arial"/>
              </a:rPr>
              <a:t>(MOM):</a:t>
            </a:r>
            <a:r>
              <a:rPr sz="1000" spc="15" dirty="0">
                <a:solidFill>
                  <a:srgbClr val="3333B2"/>
                </a:solidFill>
                <a:latin typeface="Arial"/>
                <a:cs typeface="Arial"/>
              </a:rPr>
              <a:t> </a:t>
            </a:r>
            <a:r>
              <a:rPr sz="1000" spc="-5" dirty="0">
                <a:latin typeface="Arial"/>
                <a:cs typeface="Arial"/>
              </a:rPr>
              <a:t>Messages</a:t>
            </a:r>
            <a:r>
              <a:rPr sz="1000" spc="5" dirty="0">
                <a:latin typeface="Arial"/>
                <a:cs typeface="Arial"/>
              </a:rPr>
              <a:t> </a:t>
            </a:r>
            <a:r>
              <a:rPr sz="1000" spc="-5" dirty="0">
                <a:latin typeface="Arial"/>
                <a:cs typeface="Arial"/>
              </a:rPr>
              <a:t>are</a:t>
            </a:r>
            <a:r>
              <a:rPr sz="1000" spc="5" dirty="0">
                <a:latin typeface="Arial"/>
                <a:cs typeface="Arial"/>
              </a:rPr>
              <a:t> </a:t>
            </a:r>
            <a:r>
              <a:rPr sz="1000" spc="-5" dirty="0">
                <a:latin typeface="Arial"/>
                <a:cs typeface="Arial"/>
              </a:rPr>
              <a:t>sent</a:t>
            </a:r>
            <a:r>
              <a:rPr sz="1000" spc="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logical </a:t>
            </a:r>
            <a:r>
              <a:rPr sz="1000" spc="-265" dirty="0">
                <a:latin typeface="Arial"/>
                <a:cs typeface="Arial"/>
              </a:rPr>
              <a:t> </a:t>
            </a:r>
            <a:r>
              <a:rPr sz="1000" spc="-5" dirty="0">
                <a:latin typeface="Arial"/>
                <a:cs typeface="Arial"/>
              </a:rPr>
              <a:t>contact point (</a:t>
            </a:r>
            <a:r>
              <a:rPr sz="1000" spc="-5" dirty="0">
                <a:solidFill>
                  <a:srgbClr val="0000FA"/>
                </a:solidFill>
                <a:latin typeface="Arial"/>
                <a:cs typeface="Arial"/>
              </a:rPr>
              <a:t>published</a:t>
            </a:r>
            <a:r>
              <a:rPr sz="1000" spc="-5" dirty="0">
                <a:latin typeface="Arial"/>
                <a:cs typeface="Arial"/>
              </a:rPr>
              <a:t>),</a:t>
            </a:r>
            <a:r>
              <a:rPr sz="1000" dirty="0">
                <a:latin typeface="Arial"/>
                <a:cs typeface="Arial"/>
              </a:rPr>
              <a:t> </a:t>
            </a:r>
            <a:r>
              <a:rPr sz="1000" spc="-5" dirty="0">
                <a:latin typeface="Arial"/>
                <a:cs typeface="Arial"/>
              </a:rPr>
              <a:t>and </a:t>
            </a:r>
            <a:r>
              <a:rPr sz="1000" spc="-10" dirty="0">
                <a:latin typeface="Arial"/>
                <a:cs typeface="Arial"/>
              </a:rPr>
              <a:t>forwarded</a:t>
            </a:r>
            <a:r>
              <a:rPr sz="1000" spc="-5" dirty="0">
                <a:latin typeface="Arial"/>
                <a:cs typeface="Arial"/>
              </a:rPr>
              <a:t> to</a:t>
            </a:r>
            <a:r>
              <a:rPr sz="1000" dirty="0">
                <a:latin typeface="Arial"/>
                <a:cs typeface="Arial"/>
              </a:rPr>
              <a:t> </a:t>
            </a:r>
            <a:r>
              <a:rPr sz="1000" spc="-5" dirty="0">
                <a:solidFill>
                  <a:srgbClr val="0000FA"/>
                </a:solidFill>
                <a:latin typeface="Arial"/>
                <a:cs typeface="Arial"/>
              </a:rPr>
              <a:t>subscribed </a:t>
            </a:r>
            <a:r>
              <a:rPr sz="1000" dirty="0">
                <a:solidFill>
                  <a:srgbClr val="0000FA"/>
                </a:solidFill>
                <a:latin typeface="Arial"/>
                <a:cs typeface="Arial"/>
              </a:rPr>
              <a:t> </a:t>
            </a:r>
            <a:r>
              <a:rPr sz="1000" spc="-5" dirty="0">
                <a:latin typeface="Arial"/>
                <a:cs typeface="Arial"/>
              </a:rPr>
              <a:t>applications.</a:t>
            </a:r>
            <a:endParaRPr sz="1000" dirty="0">
              <a:latin typeface="Arial"/>
              <a:cs typeface="Arial"/>
            </a:endParaRP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3284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3333B2"/>
                </a:solidFill>
                <a:latin typeface="Arial"/>
                <a:cs typeface="Arial"/>
                <a:hlinkClick r:id="rId3" action="ppaction://hlinksldjump"/>
              </a:rPr>
              <a:t>Enterprise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application</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integration</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46</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457783" y="716"/>
            <a:ext cx="1083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Distributed</a:t>
            </a:r>
            <a:r>
              <a:rPr sz="600" spc="-1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information systems</a:t>
            </a:r>
            <a:endParaRPr sz="600">
              <a:latin typeface="Arial"/>
              <a:cs typeface="Arial"/>
            </a:endParaRPr>
          </a:p>
        </p:txBody>
      </p:sp>
      <p:sp>
        <p:nvSpPr>
          <p:cNvPr id="4" name="object 4"/>
          <p:cNvSpPr txBox="1"/>
          <p:nvPr/>
        </p:nvSpPr>
        <p:spPr>
          <a:xfrm>
            <a:off x="95300" y="188846"/>
            <a:ext cx="235839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How</a:t>
            </a:r>
            <a:r>
              <a:rPr sz="1400" spc="-15" dirty="0">
                <a:solidFill>
                  <a:srgbClr val="3333B2"/>
                </a:solidFill>
                <a:latin typeface="Arial"/>
                <a:cs typeface="Arial"/>
              </a:rPr>
              <a:t> </a:t>
            </a:r>
            <a:r>
              <a:rPr sz="1400" spc="10" dirty="0">
                <a:solidFill>
                  <a:srgbClr val="3333B2"/>
                </a:solidFill>
                <a:latin typeface="Arial"/>
                <a:cs typeface="Arial"/>
              </a:rPr>
              <a:t>to</a:t>
            </a:r>
            <a:r>
              <a:rPr sz="1400" spc="-15" dirty="0">
                <a:solidFill>
                  <a:srgbClr val="3333B2"/>
                </a:solidFill>
                <a:latin typeface="Arial"/>
                <a:cs typeface="Arial"/>
              </a:rPr>
              <a:t> </a:t>
            </a:r>
            <a:r>
              <a:rPr sz="1400" spc="10" dirty="0">
                <a:solidFill>
                  <a:srgbClr val="3333B2"/>
                </a:solidFill>
                <a:latin typeface="Arial"/>
                <a:cs typeface="Arial"/>
              </a:rPr>
              <a:t>integrate</a:t>
            </a:r>
            <a:r>
              <a:rPr sz="1400" spc="-15" dirty="0">
                <a:solidFill>
                  <a:srgbClr val="3333B2"/>
                </a:solidFill>
                <a:latin typeface="Arial"/>
                <a:cs typeface="Arial"/>
              </a:rPr>
              <a:t> </a:t>
            </a:r>
            <a:r>
              <a:rPr sz="1400" spc="15" dirty="0">
                <a:solidFill>
                  <a:srgbClr val="3333B2"/>
                </a:solidFill>
                <a:latin typeface="Arial"/>
                <a:cs typeface="Arial"/>
              </a:rPr>
              <a:t>applications</a:t>
            </a:r>
            <a:endParaRPr sz="1400" dirty="0">
              <a:latin typeface="Arial"/>
              <a:cs typeface="Arial"/>
            </a:endParaRPr>
          </a:p>
        </p:txBody>
      </p:sp>
      <p:sp>
        <p:nvSpPr>
          <p:cNvPr id="5" name="object 5"/>
          <p:cNvSpPr txBox="1"/>
          <p:nvPr/>
        </p:nvSpPr>
        <p:spPr>
          <a:xfrm>
            <a:off x="321894" y="894048"/>
            <a:ext cx="3953510" cy="1898014"/>
          </a:xfrm>
          <a:prstGeom prst="rect">
            <a:avLst/>
          </a:prstGeom>
        </p:spPr>
        <p:txBody>
          <a:bodyPr vert="horz" wrap="square" lIns="0" tIns="75565" rIns="0" bIns="0" rtlCol="0">
            <a:spAutoFit/>
          </a:bodyPr>
          <a:lstStyle/>
          <a:p>
            <a:pPr marL="38100">
              <a:lnSpc>
                <a:spcPct val="100000"/>
              </a:lnSpc>
              <a:spcBef>
                <a:spcPts val="595"/>
              </a:spcBef>
            </a:pPr>
            <a:r>
              <a:rPr sz="1000" spc="-5" dirty="0">
                <a:solidFill>
                  <a:srgbClr val="3333B2"/>
                </a:solidFill>
                <a:latin typeface="Arial"/>
                <a:cs typeface="Arial"/>
              </a:rPr>
              <a:t>File transfer:</a:t>
            </a:r>
            <a:r>
              <a:rPr sz="1000" spc="260" dirty="0">
                <a:solidFill>
                  <a:srgbClr val="3333B2"/>
                </a:solidFill>
                <a:latin typeface="Arial"/>
                <a:cs typeface="Arial"/>
              </a:rPr>
              <a:t> </a:t>
            </a:r>
            <a:r>
              <a:rPr sz="1000" spc="-15" dirty="0">
                <a:latin typeface="Arial"/>
                <a:cs typeface="Arial"/>
              </a:rPr>
              <a:t>Technically</a:t>
            </a:r>
            <a:r>
              <a:rPr sz="1000" spc="-5" dirty="0">
                <a:latin typeface="Arial"/>
                <a:cs typeface="Arial"/>
              </a:rPr>
              <a:t> simple,</a:t>
            </a:r>
            <a:r>
              <a:rPr sz="1000" dirty="0">
                <a:latin typeface="Arial"/>
                <a:cs typeface="Arial"/>
              </a:rPr>
              <a:t> </a:t>
            </a:r>
            <a:r>
              <a:rPr sz="1000" spc="-10" dirty="0">
                <a:latin typeface="Arial"/>
                <a:cs typeface="Arial"/>
              </a:rPr>
              <a:t>but</a:t>
            </a:r>
            <a:r>
              <a:rPr sz="1000" spc="-5" dirty="0">
                <a:latin typeface="Arial"/>
                <a:cs typeface="Arial"/>
              </a:rPr>
              <a:t> not </a:t>
            </a:r>
            <a:r>
              <a:rPr sz="1000" spc="-10" dirty="0">
                <a:latin typeface="Arial"/>
                <a:cs typeface="Arial"/>
              </a:rPr>
              <a:t>flexible:</a:t>
            </a:r>
            <a:endParaRPr sz="1000" dirty="0">
              <a:latin typeface="Arial"/>
              <a:cs typeface="Arial"/>
            </a:endParaRPr>
          </a:p>
          <a:p>
            <a:pPr marL="574040" indent="-168275">
              <a:lnSpc>
                <a:spcPts val="1200"/>
              </a:lnSpc>
              <a:spcBef>
                <a:spcPts val="490"/>
              </a:spcBef>
              <a:buClr>
                <a:srgbClr val="3333B2"/>
              </a:buClr>
              <a:buChar char="►"/>
              <a:tabLst>
                <a:tab pos="574675" algn="l"/>
              </a:tabLst>
            </a:pPr>
            <a:r>
              <a:rPr sz="1000" spc="-5" dirty="0">
                <a:latin typeface="Arial"/>
                <a:cs typeface="Arial"/>
              </a:rPr>
              <a:t>Figure</a:t>
            </a:r>
            <a:r>
              <a:rPr sz="1000" spc="-15" dirty="0">
                <a:latin typeface="Arial"/>
                <a:cs typeface="Arial"/>
              </a:rPr>
              <a:t> </a:t>
            </a:r>
            <a:r>
              <a:rPr sz="1000" spc="-5" dirty="0">
                <a:latin typeface="Arial"/>
                <a:cs typeface="Arial"/>
              </a:rPr>
              <a:t>out</a:t>
            </a:r>
            <a:r>
              <a:rPr sz="1000" spc="-10" dirty="0">
                <a:latin typeface="Arial"/>
                <a:cs typeface="Arial"/>
              </a:rPr>
              <a:t> </a:t>
            </a:r>
            <a:r>
              <a:rPr sz="1000" spc="-5" dirty="0">
                <a:latin typeface="Arial"/>
                <a:cs typeface="Arial"/>
              </a:rPr>
              <a:t>file</a:t>
            </a:r>
            <a:r>
              <a:rPr sz="1000" spc="-10" dirty="0">
                <a:latin typeface="Arial"/>
                <a:cs typeface="Arial"/>
              </a:rPr>
              <a:t> </a:t>
            </a:r>
            <a:r>
              <a:rPr sz="1000" spc="-5" dirty="0">
                <a:latin typeface="Arial"/>
                <a:cs typeface="Arial"/>
              </a:rPr>
              <a:t>format</a:t>
            </a:r>
            <a:r>
              <a:rPr sz="1000" spc="-15" dirty="0">
                <a:latin typeface="Arial"/>
                <a:cs typeface="Arial"/>
              </a:rPr>
              <a:t> </a:t>
            </a:r>
            <a:r>
              <a:rPr sz="1000" spc="-5" dirty="0">
                <a:latin typeface="Arial"/>
                <a:cs typeface="Arial"/>
              </a:rPr>
              <a:t>and</a:t>
            </a:r>
            <a:r>
              <a:rPr sz="1000" spc="-10" dirty="0">
                <a:latin typeface="Arial"/>
                <a:cs typeface="Arial"/>
              </a:rPr>
              <a:t> layout</a:t>
            </a:r>
            <a:endParaRPr sz="1000" dirty="0">
              <a:latin typeface="Arial"/>
              <a:cs typeface="Arial"/>
            </a:endParaRPr>
          </a:p>
          <a:p>
            <a:pPr marL="574040" indent="-168275">
              <a:lnSpc>
                <a:spcPts val="1195"/>
              </a:lnSpc>
              <a:buClr>
                <a:srgbClr val="3333B2"/>
              </a:buClr>
              <a:buChar char="►"/>
              <a:tabLst>
                <a:tab pos="574675" algn="l"/>
              </a:tabLst>
            </a:pPr>
            <a:r>
              <a:rPr sz="1000" spc="-5" dirty="0">
                <a:latin typeface="Arial"/>
                <a:cs typeface="Arial"/>
              </a:rPr>
              <a:t>Figure</a:t>
            </a:r>
            <a:r>
              <a:rPr sz="1000" spc="-15" dirty="0">
                <a:latin typeface="Arial"/>
                <a:cs typeface="Arial"/>
              </a:rPr>
              <a:t> </a:t>
            </a:r>
            <a:r>
              <a:rPr sz="1000" spc="-5" dirty="0">
                <a:latin typeface="Arial"/>
                <a:cs typeface="Arial"/>
              </a:rPr>
              <a:t>out</a:t>
            </a:r>
            <a:r>
              <a:rPr sz="1000" spc="-10" dirty="0">
                <a:latin typeface="Arial"/>
                <a:cs typeface="Arial"/>
              </a:rPr>
              <a:t> </a:t>
            </a:r>
            <a:r>
              <a:rPr sz="1000" spc="-5" dirty="0">
                <a:latin typeface="Arial"/>
                <a:cs typeface="Arial"/>
              </a:rPr>
              <a:t>file</a:t>
            </a:r>
            <a:r>
              <a:rPr sz="1000" spc="-15" dirty="0">
                <a:latin typeface="Arial"/>
                <a:cs typeface="Arial"/>
              </a:rPr>
              <a:t> </a:t>
            </a:r>
            <a:r>
              <a:rPr sz="1000" spc="-5" dirty="0">
                <a:latin typeface="Arial"/>
                <a:cs typeface="Arial"/>
              </a:rPr>
              <a:t>management</a:t>
            </a:r>
            <a:endParaRPr sz="1000" dirty="0">
              <a:latin typeface="Arial"/>
              <a:cs typeface="Arial"/>
            </a:endParaRPr>
          </a:p>
          <a:p>
            <a:pPr marL="574040" indent="-168275">
              <a:lnSpc>
                <a:spcPts val="1200"/>
              </a:lnSpc>
              <a:buClr>
                <a:srgbClr val="3333B2"/>
              </a:buClr>
              <a:buChar char="►"/>
              <a:tabLst>
                <a:tab pos="574675" algn="l"/>
              </a:tabLst>
            </a:pPr>
            <a:r>
              <a:rPr sz="1000" spc="-5" dirty="0">
                <a:latin typeface="Arial"/>
                <a:cs typeface="Arial"/>
              </a:rPr>
              <a:t>Update propagation,</a:t>
            </a:r>
            <a:r>
              <a:rPr sz="1000" dirty="0">
                <a:latin typeface="Arial"/>
                <a:cs typeface="Arial"/>
              </a:rPr>
              <a:t> </a:t>
            </a:r>
            <a:r>
              <a:rPr sz="1000" spc="-5" dirty="0">
                <a:latin typeface="Arial"/>
                <a:cs typeface="Arial"/>
              </a:rPr>
              <a:t>and update</a:t>
            </a:r>
            <a:r>
              <a:rPr sz="1000" dirty="0">
                <a:latin typeface="Arial"/>
                <a:cs typeface="Arial"/>
              </a:rPr>
              <a:t> </a:t>
            </a:r>
            <a:r>
              <a:rPr sz="1000" spc="-5" dirty="0">
                <a:latin typeface="Arial"/>
                <a:cs typeface="Arial"/>
              </a:rPr>
              <a:t>notifications.</a:t>
            </a:r>
            <a:endParaRPr sz="1000" dirty="0">
              <a:latin typeface="Arial"/>
              <a:cs typeface="Arial"/>
            </a:endParaRPr>
          </a:p>
          <a:p>
            <a:pPr marL="296545" marR="30480" indent="-259079">
              <a:lnSpc>
                <a:spcPct val="100000"/>
              </a:lnSpc>
              <a:spcBef>
                <a:spcPts val="595"/>
              </a:spcBef>
            </a:pPr>
            <a:r>
              <a:rPr sz="1000" spc="-5" dirty="0">
                <a:solidFill>
                  <a:srgbClr val="3333B2"/>
                </a:solidFill>
                <a:latin typeface="Arial"/>
                <a:cs typeface="Arial"/>
              </a:rPr>
              <a:t>Shared</a:t>
            </a:r>
            <a:r>
              <a:rPr sz="1000" dirty="0">
                <a:solidFill>
                  <a:srgbClr val="3333B2"/>
                </a:solidFill>
                <a:latin typeface="Arial"/>
                <a:cs typeface="Arial"/>
              </a:rPr>
              <a:t> </a:t>
            </a:r>
            <a:r>
              <a:rPr sz="1000" spc="-5" dirty="0">
                <a:solidFill>
                  <a:srgbClr val="3333B2"/>
                </a:solidFill>
                <a:latin typeface="Arial"/>
                <a:cs typeface="Arial"/>
              </a:rPr>
              <a:t>database:</a:t>
            </a:r>
            <a:r>
              <a:rPr sz="1000" spc="5" dirty="0">
                <a:solidFill>
                  <a:srgbClr val="3333B2"/>
                </a:solidFill>
                <a:latin typeface="Arial"/>
                <a:cs typeface="Arial"/>
              </a:rPr>
              <a:t> </a:t>
            </a:r>
            <a:r>
              <a:rPr sz="1000" spc="-5" dirty="0">
                <a:latin typeface="Arial"/>
                <a:cs typeface="Arial"/>
              </a:rPr>
              <a:t>Much</a:t>
            </a:r>
            <a:r>
              <a:rPr sz="1000" dirty="0">
                <a:latin typeface="Arial"/>
                <a:cs typeface="Arial"/>
              </a:rPr>
              <a:t> </a:t>
            </a:r>
            <a:r>
              <a:rPr sz="1000" spc="-5" dirty="0">
                <a:latin typeface="Arial"/>
                <a:cs typeface="Arial"/>
              </a:rPr>
              <a:t>more</a:t>
            </a:r>
            <a:r>
              <a:rPr sz="1000" dirty="0">
                <a:latin typeface="Arial"/>
                <a:cs typeface="Arial"/>
              </a:rPr>
              <a:t> </a:t>
            </a:r>
            <a:r>
              <a:rPr sz="1000" spc="-10" dirty="0">
                <a:latin typeface="Arial"/>
                <a:cs typeface="Arial"/>
              </a:rPr>
              <a:t>flexible,</a:t>
            </a:r>
            <a:r>
              <a:rPr sz="1000" dirty="0">
                <a:latin typeface="Arial"/>
                <a:cs typeface="Arial"/>
              </a:rPr>
              <a:t> </a:t>
            </a:r>
            <a:r>
              <a:rPr sz="1000" spc="-10" dirty="0">
                <a:latin typeface="Arial"/>
                <a:cs typeface="Arial"/>
              </a:rPr>
              <a:t>but</a:t>
            </a:r>
            <a:r>
              <a:rPr sz="1000" dirty="0">
                <a:latin typeface="Arial"/>
                <a:cs typeface="Arial"/>
              </a:rPr>
              <a:t> </a:t>
            </a:r>
            <a:r>
              <a:rPr sz="1000" spc="-5" dirty="0">
                <a:latin typeface="Arial"/>
                <a:cs typeface="Arial"/>
              </a:rPr>
              <a:t>still</a:t>
            </a:r>
            <a:r>
              <a:rPr sz="1000" dirty="0">
                <a:latin typeface="Arial"/>
                <a:cs typeface="Arial"/>
              </a:rPr>
              <a:t> </a:t>
            </a:r>
            <a:r>
              <a:rPr sz="1000" spc="-5" dirty="0">
                <a:latin typeface="Arial"/>
                <a:cs typeface="Arial"/>
              </a:rPr>
              <a:t>requires</a:t>
            </a:r>
            <a:r>
              <a:rPr sz="1000" dirty="0">
                <a:latin typeface="Arial"/>
                <a:cs typeface="Arial"/>
              </a:rPr>
              <a:t> </a:t>
            </a:r>
            <a:r>
              <a:rPr sz="1000" spc="-5" dirty="0">
                <a:latin typeface="Arial"/>
                <a:cs typeface="Arial"/>
              </a:rPr>
              <a:t>common</a:t>
            </a:r>
            <a:r>
              <a:rPr sz="1000" dirty="0">
                <a:latin typeface="Arial"/>
                <a:cs typeface="Arial"/>
              </a:rPr>
              <a:t> </a:t>
            </a:r>
            <a:r>
              <a:rPr sz="1000" spc="-5" dirty="0">
                <a:latin typeface="Arial"/>
                <a:cs typeface="Arial"/>
              </a:rPr>
              <a:t>data </a:t>
            </a:r>
            <a:r>
              <a:rPr sz="1000" spc="-265" dirty="0">
                <a:latin typeface="Arial"/>
                <a:cs typeface="Arial"/>
              </a:rPr>
              <a:t> </a:t>
            </a:r>
            <a:r>
              <a:rPr sz="1000" spc="-5" dirty="0">
                <a:latin typeface="Arial"/>
                <a:cs typeface="Arial"/>
              </a:rPr>
              <a:t>scheme</a:t>
            </a:r>
            <a:r>
              <a:rPr sz="1000" spc="-10" dirty="0">
                <a:latin typeface="Arial"/>
                <a:cs typeface="Arial"/>
              </a:rPr>
              <a:t> next</a:t>
            </a:r>
            <a:r>
              <a:rPr sz="1000" spc="-5" dirty="0">
                <a:latin typeface="Arial"/>
                <a:cs typeface="Arial"/>
              </a:rPr>
              <a:t> to </a:t>
            </a:r>
            <a:r>
              <a:rPr sz="1000" dirty="0">
                <a:latin typeface="Arial"/>
                <a:cs typeface="Arial"/>
              </a:rPr>
              <a:t>risk</a:t>
            </a:r>
            <a:r>
              <a:rPr sz="1000" spc="-5" dirty="0">
                <a:latin typeface="Arial"/>
                <a:cs typeface="Arial"/>
              </a:rPr>
              <a:t> of bottleneck.</a:t>
            </a:r>
            <a:endParaRPr sz="1000" dirty="0">
              <a:latin typeface="Arial"/>
              <a:cs typeface="Arial"/>
            </a:endParaRPr>
          </a:p>
          <a:p>
            <a:pPr marL="296545" marR="383540" indent="-259079">
              <a:lnSpc>
                <a:spcPct val="100000"/>
              </a:lnSpc>
              <a:spcBef>
                <a:spcPts val="590"/>
              </a:spcBef>
            </a:pPr>
            <a:r>
              <a:rPr sz="1000" spc="-5" dirty="0">
                <a:solidFill>
                  <a:srgbClr val="3333B2"/>
                </a:solidFill>
                <a:latin typeface="Arial"/>
                <a:cs typeface="Arial"/>
              </a:rPr>
              <a:t>Remote</a:t>
            </a:r>
            <a:r>
              <a:rPr sz="1000" dirty="0">
                <a:solidFill>
                  <a:srgbClr val="3333B2"/>
                </a:solidFill>
                <a:latin typeface="Arial"/>
                <a:cs typeface="Arial"/>
              </a:rPr>
              <a:t> </a:t>
            </a:r>
            <a:r>
              <a:rPr sz="1000" spc="-5" dirty="0">
                <a:solidFill>
                  <a:srgbClr val="3333B2"/>
                </a:solidFill>
                <a:latin typeface="Arial"/>
                <a:cs typeface="Arial"/>
              </a:rPr>
              <a:t>procedure</a:t>
            </a:r>
            <a:r>
              <a:rPr sz="1000" dirty="0">
                <a:solidFill>
                  <a:srgbClr val="3333B2"/>
                </a:solidFill>
                <a:latin typeface="Arial"/>
                <a:cs typeface="Arial"/>
              </a:rPr>
              <a:t> </a:t>
            </a:r>
            <a:r>
              <a:rPr sz="1000" spc="-5" dirty="0">
                <a:solidFill>
                  <a:srgbClr val="3333B2"/>
                </a:solidFill>
                <a:latin typeface="Arial"/>
                <a:cs typeface="Arial"/>
              </a:rPr>
              <a:t>call:</a:t>
            </a:r>
            <a:r>
              <a:rPr sz="1000" spc="5" dirty="0">
                <a:solidFill>
                  <a:srgbClr val="3333B2"/>
                </a:solidFill>
                <a:latin typeface="Arial"/>
                <a:cs typeface="Arial"/>
              </a:rPr>
              <a:t> </a:t>
            </a:r>
            <a:r>
              <a:rPr sz="1000" spc="-10" dirty="0">
                <a:latin typeface="Arial"/>
                <a:cs typeface="Arial"/>
              </a:rPr>
              <a:t>Effective</a:t>
            </a:r>
            <a:r>
              <a:rPr sz="1000" dirty="0">
                <a:latin typeface="Arial"/>
                <a:cs typeface="Arial"/>
              </a:rPr>
              <a:t> </a:t>
            </a:r>
            <a:r>
              <a:rPr sz="1000" spc="-5" dirty="0">
                <a:latin typeface="Arial"/>
                <a:cs typeface="Arial"/>
              </a:rPr>
              <a:t>when</a:t>
            </a:r>
            <a:r>
              <a:rPr sz="1000"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series</a:t>
            </a:r>
            <a:r>
              <a:rPr sz="1000" dirty="0">
                <a:latin typeface="Arial"/>
                <a:cs typeface="Arial"/>
              </a:rPr>
              <a:t> </a:t>
            </a:r>
            <a:r>
              <a:rPr sz="1000" spc="-5" dirty="0">
                <a:latin typeface="Arial"/>
                <a:cs typeface="Arial"/>
              </a:rPr>
              <a:t>of </a:t>
            </a:r>
            <a:r>
              <a:rPr sz="1000" spc="-265" dirty="0">
                <a:latin typeface="Arial"/>
                <a:cs typeface="Arial"/>
              </a:rPr>
              <a:t> </a:t>
            </a:r>
            <a:r>
              <a:rPr sz="1000" spc="-5" dirty="0">
                <a:latin typeface="Arial"/>
                <a:cs typeface="Arial"/>
              </a:rPr>
              <a:t>actions</a:t>
            </a:r>
            <a:r>
              <a:rPr sz="1000" spc="-10" dirty="0">
                <a:latin typeface="Arial"/>
                <a:cs typeface="Arial"/>
              </a:rPr>
              <a:t> </a:t>
            </a:r>
            <a:r>
              <a:rPr sz="1000" spc="-5" dirty="0">
                <a:latin typeface="Arial"/>
                <a:cs typeface="Arial"/>
              </a:rPr>
              <a:t>is needed.</a:t>
            </a:r>
            <a:endParaRPr sz="1000" dirty="0">
              <a:latin typeface="Arial"/>
              <a:cs typeface="Arial"/>
            </a:endParaRPr>
          </a:p>
          <a:p>
            <a:pPr marL="296545" marR="73025" indent="-259079">
              <a:lnSpc>
                <a:spcPct val="100000"/>
              </a:lnSpc>
              <a:spcBef>
                <a:spcPts val="590"/>
              </a:spcBef>
            </a:pPr>
            <a:r>
              <a:rPr sz="1000" spc="-5" dirty="0">
                <a:solidFill>
                  <a:srgbClr val="3333B2"/>
                </a:solidFill>
                <a:latin typeface="Arial"/>
                <a:cs typeface="Arial"/>
              </a:rPr>
              <a:t>Messaging:</a:t>
            </a:r>
            <a:r>
              <a:rPr sz="1000" spc="10" dirty="0">
                <a:solidFill>
                  <a:srgbClr val="3333B2"/>
                </a:solidFill>
                <a:latin typeface="Arial"/>
                <a:cs typeface="Arial"/>
              </a:rPr>
              <a:t> </a:t>
            </a:r>
            <a:r>
              <a:rPr sz="1000" spc="-5" dirty="0">
                <a:latin typeface="Arial"/>
                <a:cs typeface="Arial"/>
              </a:rPr>
              <a:t>RPCs require</a:t>
            </a:r>
            <a:r>
              <a:rPr sz="1000" dirty="0">
                <a:latin typeface="Arial"/>
                <a:cs typeface="Arial"/>
              </a:rPr>
              <a:t> </a:t>
            </a:r>
            <a:r>
              <a:rPr sz="1000" spc="-5" dirty="0">
                <a:latin typeface="Arial"/>
                <a:cs typeface="Arial"/>
              </a:rPr>
              <a:t>caller</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callee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up</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running</a:t>
            </a:r>
            <a:r>
              <a:rPr sz="1000" dirty="0">
                <a:latin typeface="Arial"/>
                <a:cs typeface="Arial"/>
              </a:rPr>
              <a:t> </a:t>
            </a:r>
            <a:r>
              <a:rPr sz="1000" spc="-5" dirty="0">
                <a:latin typeface="Arial"/>
                <a:cs typeface="Arial"/>
              </a:rPr>
              <a:t>at </a:t>
            </a:r>
            <a:r>
              <a:rPr sz="1000" dirty="0">
                <a:latin typeface="Arial"/>
                <a:cs typeface="Arial"/>
              </a:rPr>
              <a:t> </a:t>
            </a:r>
            <a:r>
              <a:rPr sz="1000" spc="-5" dirty="0">
                <a:latin typeface="Arial"/>
                <a:cs typeface="Arial"/>
              </a:rPr>
              <a:t>the same time.</a:t>
            </a:r>
            <a:r>
              <a:rPr sz="1000" spc="60" dirty="0">
                <a:latin typeface="Arial"/>
                <a:cs typeface="Arial"/>
              </a:rPr>
              <a:t> </a:t>
            </a:r>
            <a:r>
              <a:rPr sz="1000" spc="-5" dirty="0">
                <a:latin typeface="Arial"/>
                <a:cs typeface="Arial"/>
              </a:rPr>
              <a:t>Messaging</a:t>
            </a:r>
            <a:r>
              <a:rPr sz="1000" dirty="0">
                <a:latin typeface="Arial"/>
                <a:cs typeface="Arial"/>
              </a:rPr>
              <a:t> </a:t>
            </a:r>
            <a:r>
              <a:rPr sz="1000" spc="-5" dirty="0">
                <a:latin typeface="Arial"/>
                <a:cs typeface="Arial"/>
              </a:rPr>
              <a:t>allows decoupling in</a:t>
            </a:r>
            <a:r>
              <a:rPr sz="1000" dirty="0">
                <a:latin typeface="Arial"/>
                <a:cs typeface="Arial"/>
              </a:rPr>
              <a:t> </a:t>
            </a:r>
            <a:r>
              <a:rPr sz="1000" spc="-5" dirty="0">
                <a:latin typeface="Arial"/>
                <a:cs typeface="Arial"/>
              </a:rPr>
              <a:t>time and space.</a:t>
            </a:r>
            <a:endParaRPr sz="1000" dirty="0">
              <a:latin typeface="Arial"/>
              <a:cs typeface="Arial"/>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4188460" cy="1383665"/>
          </a:xfrm>
          <a:prstGeom prst="rect">
            <a:avLst/>
          </a:prstGeom>
        </p:spPr>
        <p:txBody>
          <a:bodyPr vert="horz" wrap="square" lIns="0" tIns="17145" rIns="0" bIns="0" rtlCol="0">
            <a:spAutoFit/>
          </a:bodyPr>
          <a:lstStyle/>
          <a:p>
            <a:pPr marR="1739264" algn="ctr">
              <a:lnSpc>
                <a:spcPct val="100000"/>
              </a:lnSpc>
              <a:spcBef>
                <a:spcPts val="135"/>
              </a:spcBef>
            </a:pPr>
            <a:r>
              <a:rPr sz="1400" spc="10" dirty="0">
                <a:solidFill>
                  <a:srgbClr val="3333B2"/>
                </a:solidFill>
                <a:latin typeface="Arial"/>
                <a:cs typeface="Arial"/>
              </a:rPr>
              <a:t>Distributed</a:t>
            </a:r>
            <a:r>
              <a:rPr sz="1400" spc="-5" dirty="0">
                <a:solidFill>
                  <a:srgbClr val="3333B2"/>
                </a:solidFill>
                <a:latin typeface="Arial"/>
                <a:cs typeface="Arial"/>
              </a:rPr>
              <a:t> </a:t>
            </a:r>
            <a:r>
              <a:rPr sz="1400" spc="10" dirty="0">
                <a:solidFill>
                  <a:srgbClr val="3333B2"/>
                </a:solidFill>
                <a:latin typeface="Arial"/>
                <a:cs typeface="Arial"/>
              </a:rPr>
              <a:t>pervasive</a:t>
            </a:r>
            <a:r>
              <a:rPr sz="1400" spc="-5" dirty="0">
                <a:solidFill>
                  <a:srgbClr val="3333B2"/>
                </a:solidFill>
                <a:latin typeface="Arial"/>
                <a:cs typeface="Arial"/>
              </a:rPr>
              <a:t> </a:t>
            </a:r>
            <a:r>
              <a:rPr sz="1400" spc="15" dirty="0">
                <a:solidFill>
                  <a:srgbClr val="3333B2"/>
                </a:solidFill>
                <a:latin typeface="Arial"/>
                <a:cs typeface="Arial"/>
              </a:rPr>
              <a:t>systems</a:t>
            </a:r>
            <a:endParaRPr sz="1400">
              <a:latin typeface="Arial"/>
              <a:cs typeface="Arial"/>
            </a:endParaRPr>
          </a:p>
          <a:p>
            <a:pPr>
              <a:lnSpc>
                <a:spcPct val="100000"/>
              </a:lnSpc>
              <a:spcBef>
                <a:spcPts val="25"/>
              </a:spcBef>
            </a:pPr>
            <a:endParaRPr sz="1600">
              <a:latin typeface="Arial"/>
              <a:cs typeface="Arial"/>
            </a:endParaRPr>
          </a:p>
          <a:p>
            <a:pPr marL="264160">
              <a:lnSpc>
                <a:spcPts val="1410"/>
              </a:lnSpc>
              <a:spcBef>
                <a:spcPts val="5"/>
              </a:spcBef>
            </a:pPr>
            <a:r>
              <a:rPr sz="1200" spc="-5" dirty="0">
                <a:solidFill>
                  <a:srgbClr val="3333B2"/>
                </a:solidFill>
                <a:latin typeface="Arial"/>
                <a:cs typeface="Arial"/>
              </a:rPr>
              <a:t>Observation</a:t>
            </a:r>
            <a:endParaRPr sz="1200">
              <a:latin typeface="Arial"/>
              <a:cs typeface="Arial"/>
            </a:endParaRPr>
          </a:p>
          <a:p>
            <a:pPr marL="264160" marR="5080">
              <a:lnSpc>
                <a:spcPts val="1200"/>
              </a:lnSpc>
              <a:spcBef>
                <a:spcPts val="10"/>
              </a:spcBef>
            </a:pPr>
            <a:r>
              <a:rPr sz="1000" spc="-5" dirty="0">
                <a:latin typeface="Arial"/>
                <a:cs typeface="Arial"/>
              </a:rPr>
              <a:t>Emerging next-generation</a:t>
            </a:r>
            <a:r>
              <a:rPr sz="1000" dirty="0">
                <a:latin typeface="Arial"/>
                <a:cs typeface="Arial"/>
              </a:rPr>
              <a:t> </a:t>
            </a:r>
            <a:r>
              <a:rPr sz="1000" spc="-5" dirty="0">
                <a:latin typeface="Arial"/>
                <a:cs typeface="Arial"/>
              </a:rPr>
              <a:t>of distributed</a:t>
            </a:r>
            <a:r>
              <a:rPr sz="1000" dirty="0">
                <a:latin typeface="Arial"/>
                <a:cs typeface="Arial"/>
              </a:rPr>
              <a:t> </a:t>
            </a:r>
            <a:r>
              <a:rPr sz="1000" spc="-5" dirty="0">
                <a:latin typeface="Arial"/>
                <a:cs typeface="Arial"/>
              </a:rPr>
              <a:t>systems in</a:t>
            </a:r>
            <a:r>
              <a:rPr sz="1000" dirty="0">
                <a:latin typeface="Arial"/>
                <a:cs typeface="Arial"/>
              </a:rPr>
              <a:t> </a:t>
            </a:r>
            <a:r>
              <a:rPr sz="1000" spc="-5" dirty="0">
                <a:latin typeface="Arial"/>
                <a:cs typeface="Arial"/>
              </a:rPr>
              <a:t>which nodes</a:t>
            </a:r>
            <a:r>
              <a:rPr sz="1000" dirty="0">
                <a:latin typeface="Arial"/>
                <a:cs typeface="Arial"/>
              </a:rPr>
              <a:t> </a:t>
            </a:r>
            <a:r>
              <a:rPr sz="1000" spc="-5" dirty="0">
                <a:latin typeface="Arial"/>
                <a:cs typeface="Arial"/>
              </a:rPr>
              <a:t>are </a:t>
            </a:r>
            <a:r>
              <a:rPr sz="1000" dirty="0">
                <a:latin typeface="Arial"/>
                <a:cs typeface="Arial"/>
              </a:rPr>
              <a:t> </a:t>
            </a:r>
            <a:r>
              <a:rPr sz="1000" spc="-5" dirty="0">
                <a:latin typeface="Arial"/>
                <a:cs typeface="Arial"/>
              </a:rPr>
              <a:t>small, mobile,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embedded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larger</a:t>
            </a:r>
            <a:r>
              <a:rPr sz="1000" dirty="0">
                <a:latin typeface="Arial"/>
                <a:cs typeface="Arial"/>
              </a:rPr>
              <a:t> </a:t>
            </a:r>
            <a:r>
              <a:rPr sz="1000" spc="-5" dirty="0">
                <a:latin typeface="Arial"/>
                <a:cs typeface="Arial"/>
              </a:rPr>
              <a:t>system, characterized </a:t>
            </a:r>
            <a:r>
              <a:rPr sz="1000" dirty="0">
                <a:latin typeface="Arial"/>
                <a:cs typeface="Arial"/>
              </a:rPr>
              <a:t> </a:t>
            </a:r>
            <a:r>
              <a:rPr sz="1000" spc="-25" dirty="0">
                <a:latin typeface="Arial"/>
                <a:cs typeface="Arial"/>
              </a:rPr>
              <a:t>by</a:t>
            </a:r>
            <a:r>
              <a:rPr sz="1000" spc="-5" dirty="0">
                <a:latin typeface="Arial"/>
                <a:cs typeface="Arial"/>
              </a:rPr>
              <a:t> </a:t>
            </a:r>
            <a:r>
              <a:rPr sz="1000" spc="-10" dirty="0">
                <a:latin typeface="Arial"/>
                <a:cs typeface="Arial"/>
              </a:rPr>
              <a:t>the</a:t>
            </a:r>
            <a:r>
              <a:rPr sz="1000" dirty="0">
                <a:latin typeface="Arial"/>
                <a:cs typeface="Arial"/>
              </a:rPr>
              <a:t> </a:t>
            </a:r>
            <a:r>
              <a:rPr sz="1000" spc="-20" dirty="0">
                <a:latin typeface="Arial"/>
                <a:cs typeface="Arial"/>
              </a:rPr>
              <a:t>fact</a:t>
            </a:r>
            <a:r>
              <a:rPr sz="1000"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the</a:t>
            </a:r>
            <a:r>
              <a:rPr sz="1000" dirty="0">
                <a:latin typeface="Arial"/>
                <a:cs typeface="Arial"/>
              </a:rPr>
              <a:t> </a:t>
            </a:r>
            <a:r>
              <a:rPr sz="1000" spc="-15" dirty="0">
                <a:latin typeface="Arial"/>
                <a:cs typeface="Arial"/>
              </a:rPr>
              <a:t>system</a:t>
            </a:r>
            <a:r>
              <a:rPr sz="1000" spc="-5" dirty="0">
                <a:latin typeface="Arial"/>
                <a:cs typeface="Arial"/>
              </a:rPr>
              <a:t> </a:t>
            </a:r>
            <a:r>
              <a:rPr sz="1000" spc="-10" dirty="0">
                <a:solidFill>
                  <a:srgbClr val="FA0000"/>
                </a:solidFill>
                <a:latin typeface="Arial"/>
                <a:cs typeface="Arial"/>
              </a:rPr>
              <a:t>naturally</a:t>
            </a:r>
            <a:r>
              <a:rPr sz="1000" dirty="0">
                <a:solidFill>
                  <a:srgbClr val="FA0000"/>
                </a:solidFill>
                <a:latin typeface="Arial"/>
                <a:cs typeface="Arial"/>
              </a:rPr>
              <a:t> </a:t>
            </a:r>
            <a:r>
              <a:rPr sz="1000" spc="-15" dirty="0">
                <a:solidFill>
                  <a:srgbClr val="FA0000"/>
                </a:solidFill>
                <a:latin typeface="Arial"/>
                <a:cs typeface="Arial"/>
              </a:rPr>
              <a:t>blends</a:t>
            </a:r>
            <a:r>
              <a:rPr sz="1000" dirty="0">
                <a:solidFill>
                  <a:srgbClr val="FA0000"/>
                </a:solidFill>
                <a:latin typeface="Arial"/>
                <a:cs typeface="Arial"/>
              </a:rPr>
              <a:t> </a:t>
            </a:r>
            <a:r>
              <a:rPr sz="1000" spc="-10" dirty="0">
                <a:solidFill>
                  <a:srgbClr val="FA0000"/>
                </a:solidFill>
                <a:latin typeface="Arial"/>
                <a:cs typeface="Arial"/>
              </a:rPr>
              <a:t>into</a:t>
            </a:r>
            <a:r>
              <a:rPr sz="1000" dirty="0">
                <a:solidFill>
                  <a:srgbClr val="FA0000"/>
                </a:solidFill>
                <a:latin typeface="Arial"/>
                <a:cs typeface="Arial"/>
              </a:rPr>
              <a:t> </a:t>
            </a:r>
            <a:r>
              <a:rPr sz="1000" spc="-10" dirty="0">
                <a:solidFill>
                  <a:srgbClr val="FA0000"/>
                </a:solidFill>
                <a:latin typeface="Arial"/>
                <a:cs typeface="Arial"/>
              </a:rPr>
              <a:t>the</a:t>
            </a:r>
            <a:r>
              <a:rPr sz="1000" dirty="0">
                <a:solidFill>
                  <a:srgbClr val="FA0000"/>
                </a:solidFill>
                <a:latin typeface="Arial"/>
                <a:cs typeface="Arial"/>
              </a:rPr>
              <a:t> </a:t>
            </a:r>
            <a:r>
              <a:rPr sz="1000" spc="-20" dirty="0">
                <a:solidFill>
                  <a:srgbClr val="FA0000"/>
                </a:solidFill>
                <a:latin typeface="Arial"/>
                <a:cs typeface="Arial"/>
              </a:rPr>
              <a:t>user’s</a:t>
            </a:r>
            <a:r>
              <a:rPr sz="1000" spc="-5" dirty="0">
                <a:solidFill>
                  <a:srgbClr val="FA0000"/>
                </a:solidFill>
                <a:latin typeface="Arial"/>
                <a:cs typeface="Arial"/>
              </a:rPr>
              <a:t> </a:t>
            </a:r>
            <a:r>
              <a:rPr sz="1000" spc="-15" dirty="0">
                <a:solidFill>
                  <a:srgbClr val="FA0000"/>
                </a:solidFill>
                <a:latin typeface="Arial"/>
                <a:cs typeface="Arial"/>
              </a:rPr>
              <a:t>environment</a:t>
            </a:r>
            <a:r>
              <a:rPr sz="1000" spc="-15" dirty="0">
                <a:latin typeface="Arial"/>
                <a:cs typeface="Arial"/>
              </a:rPr>
              <a:t>.</a:t>
            </a:r>
            <a:endParaRPr sz="1000">
              <a:latin typeface="Arial"/>
              <a:cs typeface="Arial"/>
            </a:endParaRPr>
          </a:p>
          <a:p>
            <a:pPr marR="1689100" algn="ctr">
              <a:lnSpc>
                <a:spcPct val="100000"/>
              </a:lnSpc>
              <a:spcBef>
                <a:spcPts val="645"/>
              </a:spcBef>
            </a:pPr>
            <a:r>
              <a:rPr sz="1200" spc="-5" dirty="0">
                <a:solidFill>
                  <a:srgbClr val="3333B2"/>
                </a:solidFill>
                <a:latin typeface="Arial"/>
                <a:cs typeface="Arial"/>
              </a:rPr>
              <a:t>Three</a:t>
            </a:r>
            <a:r>
              <a:rPr sz="1200" spc="-25" dirty="0">
                <a:solidFill>
                  <a:srgbClr val="3333B2"/>
                </a:solidFill>
                <a:latin typeface="Arial"/>
                <a:cs typeface="Arial"/>
              </a:rPr>
              <a:t> </a:t>
            </a:r>
            <a:r>
              <a:rPr sz="1200" spc="-5" dirty="0">
                <a:solidFill>
                  <a:srgbClr val="3333B2"/>
                </a:solidFill>
                <a:latin typeface="Arial"/>
                <a:cs typeface="Arial"/>
              </a:rPr>
              <a:t>(overlapping)</a:t>
            </a:r>
            <a:r>
              <a:rPr sz="1200" spc="-25" dirty="0">
                <a:solidFill>
                  <a:srgbClr val="3333B2"/>
                </a:solidFill>
                <a:latin typeface="Arial"/>
                <a:cs typeface="Arial"/>
              </a:rPr>
              <a:t> </a:t>
            </a:r>
            <a:r>
              <a:rPr sz="1200" spc="-5" dirty="0">
                <a:solidFill>
                  <a:srgbClr val="3333B2"/>
                </a:solidFill>
                <a:latin typeface="Arial"/>
                <a:cs typeface="Arial"/>
              </a:rPr>
              <a:t>subtypes</a:t>
            </a:r>
            <a:endParaRPr sz="1200">
              <a:latin typeface="Arial"/>
              <a:cs typeface="Arial"/>
            </a:endParaRP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82600" y="188846"/>
            <a:ext cx="4239260" cy="1939925"/>
          </a:xfrm>
          <a:prstGeom prst="rect">
            <a:avLst/>
          </a:prstGeom>
        </p:spPr>
        <p:txBody>
          <a:bodyPr vert="horz" wrap="square" lIns="0" tIns="17145" rIns="0" bIns="0" rtlCol="0">
            <a:spAutoFit/>
          </a:bodyPr>
          <a:lstStyle/>
          <a:p>
            <a:pPr marR="1764664" algn="ctr">
              <a:lnSpc>
                <a:spcPct val="100000"/>
              </a:lnSpc>
              <a:spcBef>
                <a:spcPts val="135"/>
              </a:spcBef>
            </a:pPr>
            <a:r>
              <a:rPr sz="1400" spc="10" dirty="0">
                <a:solidFill>
                  <a:srgbClr val="3333B2"/>
                </a:solidFill>
                <a:latin typeface="Arial"/>
                <a:cs typeface="Arial"/>
              </a:rPr>
              <a:t>Distributed</a:t>
            </a:r>
            <a:r>
              <a:rPr sz="1400" spc="-5" dirty="0">
                <a:solidFill>
                  <a:srgbClr val="3333B2"/>
                </a:solidFill>
                <a:latin typeface="Arial"/>
                <a:cs typeface="Arial"/>
              </a:rPr>
              <a:t> </a:t>
            </a:r>
            <a:r>
              <a:rPr sz="1400" spc="10" dirty="0">
                <a:solidFill>
                  <a:srgbClr val="3333B2"/>
                </a:solidFill>
                <a:latin typeface="Arial"/>
                <a:cs typeface="Arial"/>
              </a:rPr>
              <a:t>pervasive</a:t>
            </a:r>
            <a:r>
              <a:rPr sz="1400" dirty="0">
                <a:solidFill>
                  <a:srgbClr val="3333B2"/>
                </a:solidFill>
                <a:latin typeface="Arial"/>
                <a:cs typeface="Arial"/>
              </a:rPr>
              <a:t> </a:t>
            </a:r>
            <a:r>
              <a:rPr sz="1400" spc="15" dirty="0">
                <a:solidFill>
                  <a:srgbClr val="3333B2"/>
                </a:solidFill>
                <a:latin typeface="Arial"/>
                <a:cs typeface="Arial"/>
              </a:rPr>
              <a:t>systems</a:t>
            </a:r>
            <a:endParaRPr sz="1400">
              <a:latin typeface="Arial"/>
              <a:cs typeface="Arial"/>
            </a:endParaRPr>
          </a:p>
          <a:p>
            <a:pPr>
              <a:lnSpc>
                <a:spcPct val="100000"/>
              </a:lnSpc>
              <a:spcBef>
                <a:spcPts val="25"/>
              </a:spcBef>
            </a:pPr>
            <a:endParaRPr sz="1600">
              <a:latin typeface="Arial"/>
              <a:cs typeface="Arial"/>
            </a:endParaRPr>
          </a:p>
          <a:p>
            <a:pPr marL="276860">
              <a:lnSpc>
                <a:spcPts val="1410"/>
              </a:lnSpc>
              <a:spcBef>
                <a:spcPts val="5"/>
              </a:spcBef>
            </a:pPr>
            <a:r>
              <a:rPr sz="1200" spc="-5" dirty="0">
                <a:solidFill>
                  <a:srgbClr val="3333B2"/>
                </a:solidFill>
                <a:latin typeface="Arial"/>
                <a:cs typeface="Arial"/>
              </a:rPr>
              <a:t>Observation</a:t>
            </a:r>
            <a:endParaRPr sz="1200">
              <a:latin typeface="Arial"/>
              <a:cs typeface="Arial"/>
            </a:endParaRPr>
          </a:p>
          <a:p>
            <a:pPr marL="276860" marR="43180">
              <a:lnSpc>
                <a:spcPts val="1200"/>
              </a:lnSpc>
              <a:spcBef>
                <a:spcPts val="10"/>
              </a:spcBef>
            </a:pPr>
            <a:r>
              <a:rPr sz="1000" spc="-5" dirty="0">
                <a:latin typeface="Arial"/>
                <a:cs typeface="Arial"/>
              </a:rPr>
              <a:t>Emerging next-generation</a:t>
            </a:r>
            <a:r>
              <a:rPr sz="1000" dirty="0">
                <a:latin typeface="Arial"/>
                <a:cs typeface="Arial"/>
              </a:rPr>
              <a:t> </a:t>
            </a:r>
            <a:r>
              <a:rPr sz="1000" spc="-5" dirty="0">
                <a:latin typeface="Arial"/>
                <a:cs typeface="Arial"/>
              </a:rPr>
              <a:t>of distributed</a:t>
            </a:r>
            <a:r>
              <a:rPr sz="1000" dirty="0">
                <a:latin typeface="Arial"/>
                <a:cs typeface="Arial"/>
              </a:rPr>
              <a:t> </a:t>
            </a:r>
            <a:r>
              <a:rPr sz="1000" spc="-5" dirty="0">
                <a:latin typeface="Arial"/>
                <a:cs typeface="Arial"/>
              </a:rPr>
              <a:t>systems in</a:t>
            </a:r>
            <a:r>
              <a:rPr sz="1000" dirty="0">
                <a:latin typeface="Arial"/>
                <a:cs typeface="Arial"/>
              </a:rPr>
              <a:t> </a:t>
            </a:r>
            <a:r>
              <a:rPr sz="1000" spc="-5" dirty="0">
                <a:latin typeface="Arial"/>
                <a:cs typeface="Arial"/>
              </a:rPr>
              <a:t>which nodes</a:t>
            </a:r>
            <a:r>
              <a:rPr sz="1000" dirty="0">
                <a:latin typeface="Arial"/>
                <a:cs typeface="Arial"/>
              </a:rPr>
              <a:t> </a:t>
            </a:r>
            <a:r>
              <a:rPr sz="1000" spc="-5" dirty="0">
                <a:latin typeface="Arial"/>
                <a:cs typeface="Arial"/>
              </a:rPr>
              <a:t>are </a:t>
            </a:r>
            <a:r>
              <a:rPr sz="1000" dirty="0">
                <a:latin typeface="Arial"/>
                <a:cs typeface="Arial"/>
              </a:rPr>
              <a:t> </a:t>
            </a:r>
            <a:r>
              <a:rPr sz="1000" spc="-5" dirty="0">
                <a:latin typeface="Arial"/>
                <a:cs typeface="Arial"/>
              </a:rPr>
              <a:t>small, mobile,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embedded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larger</a:t>
            </a:r>
            <a:r>
              <a:rPr sz="1000" dirty="0">
                <a:latin typeface="Arial"/>
                <a:cs typeface="Arial"/>
              </a:rPr>
              <a:t> </a:t>
            </a:r>
            <a:r>
              <a:rPr sz="1000" spc="-5" dirty="0">
                <a:latin typeface="Arial"/>
                <a:cs typeface="Arial"/>
              </a:rPr>
              <a:t>system, characterized </a:t>
            </a:r>
            <a:r>
              <a:rPr sz="1000" dirty="0">
                <a:latin typeface="Arial"/>
                <a:cs typeface="Arial"/>
              </a:rPr>
              <a:t> </a:t>
            </a:r>
            <a:r>
              <a:rPr sz="1000" spc="-25" dirty="0">
                <a:latin typeface="Arial"/>
                <a:cs typeface="Arial"/>
              </a:rPr>
              <a:t>by</a:t>
            </a:r>
            <a:r>
              <a:rPr sz="1000" spc="-5" dirty="0">
                <a:latin typeface="Arial"/>
                <a:cs typeface="Arial"/>
              </a:rPr>
              <a:t> </a:t>
            </a:r>
            <a:r>
              <a:rPr sz="1000" spc="-10" dirty="0">
                <a:latin typeface="Arial"/>
                <a:cs typeface="Arial"/>
              </a:rPr>
              <a:t>the</a:t>
            </a:r>
            <a:r>
              <a:rPr sz="1000" dirty="0">
                <a:latin typeface="Arial"/>
                <a:cs typeface="Arial"/>
              </a:rPr>
              <a:t> </a:t>
            </a:r>
            <a:r>
              <a:rPr sz="1000" spc="-20" dirty="0">
                <a:latin typeface="Arial"/>
                <a:cs typeface="Arial"/>
              </a:rPr>
              <a:t>fact</a:t>
            </a:r>
            <a:r>
              <a:rPr sz="1000"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the</a:t>
            </a:r>
            <a:r>
              <a:rPr sz="1000" dirty="0">
                <a:latin typeface="Arial"/>
                <a:cs typeface="Arial"/>
              </a:rPr>
              <a:t> </a:t>
            </a:r>
            <a:r>
              <a:rPr sz="1000" spc="-15" dirty="0">
                <a:latin typeface="Arial"/>
                <a:cs typeface="Arial"/>
              </a:rPr>
              <a:t>system</a:t>
            </a:r>
            <a:r>
              <a:rPr sz="1000" spc="-5" dirty="0">
                <a:latin typeface="Arial"/>
                <a:cs typeface="Arial"/>
              </a:rPr>
              <a:t> </a:t>
            </a:r>
            <a:r>
              <a:rPr sz="1000" spc="-10" dirty="0">
                <a:solidFill>
                  <a:srgbClr val="FA0000"/>
                </a:solidFill>
                <a:latin typeface="Arial"/>
                <a:cs typeface="Arial"/>
              </a:rPr>
              <a:t>naturally</a:t>
            </a:r>
            <a:r>
              <a:rPr sz="1000" dirty="0">
                <a:solidFill>
                  <a:srgbClr val="FA0000"/>
                </a:solidFill>
                <a:latin typeface="Arial"/>
                <a:cs typeface="Arial"/>
              </a:rPr>
              <a:t> </a:t>
            </a:r>
            <a:r>
              <a:rPr sz="1000" spc="-15" dirty="0">
                <a:solidFill>
                  <a:srgbClr val="FA0000"/>
                </a:solidFill>
                <a:latin typeface="Arial"/>
                <a:cs typeface="Arial"/>
              </a:rPr>
              <a:t>blends</a:t>
            </a:r>
            <a:r>
              <a:rPr sz="1000" dirty="0">
                <a:solidFill>
                  <a:srgbClr val="FA0000"/>
                </a:solidFill>
                <a:latin typeface="Arial"/>
                <a:cs typeface="Arial"/>
              </a:rPr>
              <a:t> </a:t>
            </a:r>
            <a:r>
              <a:rPr sz="1000" spc="-10" dirty="0">
                <a:solidFill>
                  <a:srgbClr val="FA0000"/>
                </a:solidFill>
                <a:latin typeface="Arial"/>
                <a:cs typeface="Arial"/>
              </a:rPr>
              <a:t>into</a:t>
            </a:r>
            <a:r>
              <a:rPr sz="1000" dirty="0">
                <a:solidFill>
                  <a:srgbClr val="FA0000"/>
                </a:solidFill>
                <a:latin typeface="Arial"/>
                <a:cs typeface="Arial"/>
              </a:rPr>
              <a:t> </a:t>
            </a:r>
            <a:r>
              <a:rPr sz="1000" spc="-10" dirty="0">
                <a:solidFill>
                  <a:srgbClr val="FA0000"/>
                </a:solidFill>
                <a:latin typeface="Arial"/>
                <a:cs typeface="Arial"/>
              </a:rPr>
              <a:t>the</a:t>
            </a:r>
            <a:r>
              <a:rPr sz="1000" dirty="0">
                <a:solidFill>
                  <a:srgbClr val="FA0000"/>
                </a:solidFill>
                <a:latin typeface="Arial"/>
                <a:cs typeface="Arial"/>
              </a:rPr>
              <a:t> </a:t>
            </a:r>
            <a:r>
              <a:rPr sz="1000" spc="-20" dirty="0">
                <a:solidFill>
                  <a:srgbClr val="FA0000"/>
                </a:solidFill>
                <a:latin typeface="Arial"/>
                <a:cs typeface="Arial"/>
              </a:rPr>
              <a:t>user’s</a:t>
            </a:r>
            <a:r>
              <a:rPr sz="1000" spc="-5" dirty="0">
                <a:solidFill>
                  <a:srgbClr val="FA0000"/>
                </a:solidFill>
                <a:latin typeface="Arial"/>
                <a:cs typeface="Arial"/>
              </a:rPr>
              <a:t> </a:t>
            </a:r>
            <a:r>
              <a:rPr sz="1000" spc="-15" dirty="0">
                <a:solidFill>
                  <a:srgbClr val="FA0000"/>
                </a:solidFill>
                <a:latin typeface="Arial"/>
                <a:cs typeface="Arial"/>
              </a:rPr>
              <a:t>environment</a:t>
            </a:r>
            <a:r>
              <a:rPr sz="1000" spc="-15" dirty="0">
                <a:latin typeface="Arial"/>
                <a:cs typeface="Arial"/>
              </a:rPr>
              <a:t>.</a:t>
            </a:r>
            <a:endParaRPr sz="1000">
              <a:latin typeface="Arial"/>
              <a:cs typeface="Arial"/>
            </a:endParaRPr>
          </a:p>
          <a:p>
            <a:pPr marR="1714500" algn="ctr">
              <a:lnSpc>
                <a:spcPct val="100000"/>
              </a:lnSpc>
              <a:spcBef>
                <a:spcPts val="645"/>
              </a:spcBef>
            </a:pPr>
            <a:r>
              <a:rPr sz="1200" spc="-5" dirty="0">
                <a:solidFill>
                  <a:srgbClr val="3333B2"/>
                </a:solidFill>
                <a:latin typeface="Arial"/>
                <a:cs typeface="Arial"/>
              </a:rPr>
              <a:t>Three</a:t>
            </a:r>
            <a:r>
              <a:rPr sz="1200" spc="-25" dirty="0">
                <a:solidFill>
                  <a:srgbClr val="3333B2"/>
                </a:solidFill>
                <a:latin typeface="Arial"/>
                <a:cs typeface="Arial"/>
              </a:rPr>
              <a:t> </a:t>
            </a:r>
            <a:r>
              <a:rPr sz="1200" spc="-5" dirty="0">
                <a:solidFill>
                  <a:srgbClr val="3333B2"/>
                </a:solidFill>
                <a:latin typeface="Arial"/>
                <a:cs typeface="Arial"/>
              </a:rPr>
              <a:t>(overlapping)</a:t>
            </a:r>
            <a:r>
              <a:rPr sz="1200" spc="-25" dirty="0">
                <a:solidFill>
                  <a:srgbClr val="3333B2"/>
                </a:solidFill>
                <a:latin typeface="Arial"/>
                <a:cs typeface="Arial"/>
              </a:rPr>
              <a:t> </a:t>
            </a:r>
            <a:r>
              <a:rPr sz="1200" spc="-5" dirty="0">
                <a:solidFill>
                  <a:srgbClr val="3333B2"/>
                </a:solidFill>
                <a:latin typeface="Arial"/>
                <a:cs typeface="Arial"/>
              </a:rPr>
              <a:t>subtypes</a:t>
            </a:r>
            <a:endParaRPr sz="1200">
              <a:latin typeface="Arial"/>
              <a:cs typeface="Arial"/>
            </a:endParaRPr>
          </a:p>
          <a:p>
            <a:pPr marL="554355" marR="215265" indent="-168275">
              <a:lnSpc>
                <a:spcPct val="100000"/>
              </a:lnSpc>
              <a:spcBef>
                <a:spcPts val="785"/>
              </a:spcBef>
              <a:buClr>
                <a:srgbClr val="3333B2"/>
              </a:buClr>
              <a:buChar char="►"/>
              <a:tabLst>
                <a:tab pos="554990" algn="l"/>
              </a:tabLst>
            </a:pPr>
            <a:r>
              <a:rPr sz="1000" spc="-5" dirty="0">
                <a:solidFill>
                  <a:srgbClr val="0000FA"/>
                </a:solidFill>
                <a:latin typeface="Arial"/>
                <a:cs typeface="Arial"/>
              </a:rPr>
              <a:t>Ubiquitous computing systems</a:t>
            </a:r>
            <a:r>
              <a:rPr sz="1000" spc="-5" dirty="0">
                <a:latin typeface="Arial"/>
                <a:cs typeface="Arial"/>
              </a:rPr>
              <a:t>:</a:t>
            </a:r>
            <a:r>
              <a:rPr sz="1000" spc="65" dirty="0">
                <a:latin typeface="Arial"/>
                <a:cs typeface="Arial"/>
              </a:rPr>
              <a:t> </a:t>
            </a:r>
            <a:r>
              <a:rPr sz="1000" spc="-5" dirty="0">
                <a:latin typeface="Arial"/>
                <a:cs typeface="Arial"/>
              </a:rPr>
              <a:t>pervasive</a:t>
            </a:r>
            <a:r>
              <a:rPr sz="1000" dirty="0">
                <a:latin typeface="Arial"/>
                <a:cs typeface="Arial"/>
              </a:rPr>
              <a:t> </a:t>
            </a:r>
            <a:r>
              <a:rPr sz="1000" spc="-5" dirty="0">
                <a:latin typeface="Arial"/>
                <a:cs typeface="Arial"/>
              </a:rPr>
              <a:t>and </a:t>
            </a:r>
            <a:r>
              <a:rPr sz="1000" spc="-5" dirty="0">
                <a:solidFill>
                  <a:srgbClr val="FA0000"/>
                </a:solidFill>
                <a:latin typeface="Arial"/>
                <a:cs typeface="Arial"/>
              </a:rPr>
              <a:t>continuously </a:t>
            </a:r>
            <a:r>
              <a:rPr sz="1000" dirty="0">
                <a:solidFill>
                  <a:srgbClr val="FA0000"/>
                </a:solidFill>
                <a:latin typeface="Arial"/>
                <a:cs typeface="Arial"/>
              </a:rPr>
              <a:t> </a:t>
            </a:r>
            <a:r>
              <a:rPr sz="1000" spc="-5" dirty="0">
                <a:solidFill>
                  <a:srgbClr val="FA0000"/>
                </a:solidFill>
                <a:latin typeface="Arial"/>
                <a:cs typeface="Arial"/>
              </a:rPr>
              <a:t>present</a:t>
            </a:r>
            <a:r>
              <a:rPr sz="1000" spc="-5" dirty="0">
                <a:latin typeface="Arial"/>
                <a:cs typeface="Arial"/>
              </a:rPr>
              <a:t>, i.e.,</a:t>
            </a:r>
            <a:r>
              <a:rPr sz="1000"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continuous interaction</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system </a:t>
            </a:r>
            <a:r>
              <a:rPr sz="1000" spc="-265" dirty="0">
                <a:latin typeface="Arial"/>
                <a:cs typeface="Arial"/>
              </a:rPr>
              <a:t> </a:t>
            </a:r>
            <a:r>
              <a:rPr sz="1000" spc="-5" dirty="0">
                <a:latin typeface="Arial"/>
                <a:cs typeface="Arial"/>
              </a:rPr>
              <a:t>and</a:t>
            </a:r>
            <a:r>
              <a:rPr sz="1000" spc="-10" dirty="0">
                <a:latin typeface="Arial"/>
                <a:cs typeface="Arial"/>
              </a:rPr>
              <a:t> </a:t>
            </a:r>
            <a:r>
              <a:rPr sz="1000" spc="-15" dirty="0">
                <a:latin typeface="Arial"/>
                <a:cs typeface="Arial"/>
              </a:rPr>
              <a:t>user.</a:t>
            </a:r>
            <a:endParaRPr sz="1000">
              <a:latin typeface="Arial"/>
              <a:cs typeface="Arial"/>
            </a:endParaRP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82600" y="188846"/>
            <a:ext cx="4239260" cy="2319020"/>
          </a:xfrm>
          <a:prstGeom prst="rect">
            <a:avLst/>
          </a:prstGeom>
        </p:spPr>
        <p:txBody>
          <a:bodyPr vert="horz" wrap="square" lIns="0" tIns="17145" rIns="0" bIns="0" rtlCol="0">
            <a:spAutoFit/>
          </a:bodyPr>
          <a:lstStyle/>
          <a:p>
            <a:pPr marR="1764664" algn="ctr">
              <a:lnSpc>
                <a:spcPct val="100000"/>
              </a:lnSpc>
              <a:spcBef>
                <a:spcPts val="135"/>
              </a:spcBef>
            </a:pPr>
            <a:r>
              <a:rPr sz="1400" spc="10" dirty="0">
                <a:solidFill>
                  <a:srgbClr val="3333B2"/>
                </a:solidFill>
                <a:latin typeface="Arial"/>
                <a:cs typeface="Arial"/>
              </a:rPr>
              <a:t>Distributed</a:t>
            </a:r>
            <a:r>
              <a:rPr sz="1400" spc="-5" dirty="0">
                <a:solidFill>
                  <a:srgbClr val="3333B2"/>
                </a:solidFill>
                <a:latin typeface="Arial"/>
                <a:cs typeface="Arial"/>
              </a:rPr>
              <a:t> </a:t>
            </a:r>
            <a:r>
              <a:rPr sz="1400" spc="10" dirty="0">
                <a:solidFill>
                  <a:srgbClr val="3333B2"/>
                </a:solidFill>
                <a:latin typeface="Arial"/>
                <a:cs typeface="Arial"/>
              </a:rPr>
              <a:t>pervasive</a:t>
            </a:r>
            <a:r>
              <a:rPr sz="1400" dirty="0">
                <a:solidFill>
                  <a:srgbClr val="3333B2"/>
                </a:solidFill>
                <a:latin typeface="Arial"/>
                <a:cs typeface="Arial"/>
              </a:rPr>
              <a:t> </a:t>
            </a:r>
            <a:r>
              <a:rPr sz="1400" spc="15" dirty="0">
                <a:solidFill>
                  <a:srgbClr val="3333B2"/>
                </a:solidFill>
                <a:latin typeface="Arial"/>
                <a:cs typeface="Arial"/>
              </a:rPr>
              <a:t>systems</a:t>
            </a:r>
            <a:endParaRPr sz="1400">
              <a:latin typeface="Arial"/>
              <a:cs typeface="Arial"/>
            </a:endParaRPr>
          </a:p>
          <a:p>
            <a:pPr>
              <a:lnSpc>
                <a:spcPct val="100000"/>
              </a:lnSpc>
              <a:spcBef>
                <a:spcPts val="25"/>
              </a:spcBef>
            </a:pPr>
            <a:endParaRPr sz="1600">
              <a:latin typeface="Arial"/>
              <a:cs typeface="Arial"/>
            </a:endParaRPr>
          </a:p>
          <a:p>
            <a:pPr marL="276860">
              <a:lnSpc>
                <a:spcPts val="1410"/>
              </a:lnSpc>
              <a:spcBef>
                <a:spcPts val="5"/>
              </a:spcBef>
            </a:pPr>
            <a:r>
              <a:rPr sz="1200" spc="-5" dirty="0">
                <a:solidFill>
                  <a:srgbClr val="3333B2"/>
                </a:solidFill>
                <a:latin typeface="Arial"/>
                <a:cs typeface="Arial"/>
              </a:rPr>
              <a:t>Observation</a:t>
            </a:r>
            <a:endParaRPr sz="1200">
              <a:latin typeface="Arial"/>
              <a:cs typeface="Arial"/>
            </a:endParaRPr>
          </a:p>
          <a:p>
            <a:pPr marL="276860" marR="43180">
              <a:lnSpc>
                <a:spcPts val="1200"/>
              </a:lnSpc>
              <a:spcBef>
                <a:spcPts val="10"/>
              </a:spcBef>
            </a:pPr>
            <a:r>
              <a:rPr sz="1000" spc="-5" dirty="0">
                <a:latin typeface="Arial"/>
                <a:cs typeface="Arial"/>
              </a:rPr>
              <a:t>Emerging next-generation</a:t>
            </a:r>
            <a:r>
              <a:rPr sz="1000" dirty="0">
                <a:latin typeface="Arial"/>
                <a:cs typeface="Arial"/>
              </a:rPr>
              <a:t> </a:t>
            </a:r>
            <a:r>
              <a:rPr sz="1000" spc="-5" dirty="0">
                <a:latin typeface="Arial"/>
                <a:cs typeface="Arial"/>
              </a:rPr>
              <a:t>of distributed</a:t>
            </a:r>
            <a:r>
              <a:rPr sz="1000" dirty="0">
                <a:latin typeface="Arial"/>
                <a:cs typeface="Arial"/>
              </a:rPr>
              <a:t> </a:t>
            </a:r>
            <a:r>
              <a:rPr sz="1000" spc="-5" dirty="0">
                <a:latin typeface="Arial"/>
                <a:cs typeface="Arial"/>
              </a:rPr>
              <a:t>systems in</a:t>
            </a:r>
            <a:r>
              <a:rPr sz="1000" dirty="0">
                <a:latin typeface="Arial"/>
                <a:cs typeface="Arial"/>
              </a:rPr>
              <a:t> </a:t>
            </a:r>
            <a:r>
              <a:rPr sz="1000" spc="-5" dirty="0">
                <a:latin typeface="Arial"/>
                <a:cs typeface="Arial"/>
              </a:rPr>
              <a:t>which nodes</a:t>
            </a:r>
            <a:r>
              <a:rPr sz="1000" dirty="0">
                <a:latin typeface="Arial"/>
                <a:cs typeface="Arial"/>
              </a:rPr>
              <a:t> </a:t>
            </a:r>
            <a:r>
              <a:rPr sz="1000" spc="-5" dirty="0">
                <a:latin typeface="Arial"/>
                <a:cs typeface="Arial"/>
              </a:rPr>
              <a:t>are </a:t>
            </a:r>
            <a:r>
              <a:rPr sz="1000" dirty="0">
                <a:latin typeface="Arial"/>
                <a:cs typeface="Arial"/>
              </a:rPr>
              <a:t> </a:t>
            </a:r>
            <a:r>
              <a:rPr sz="1000" spc="-5" dirty="0">
                <a:latin typeface="Arial"/>
                <a:cs typeface="Arial"/>
              </a:rPr>
              <a:t>small, mobile,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embedded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larger</a:t>
            </a:r>
            <a:r>
              <a:rPr sz="1000" dirty="0">
                <a:latin typeface="Arial"/>
                <a:cs typeface="Arial"/>
              </a:rPr>
              <a:t> </a:t>
            </a:r>
            <a:r>
              <a:rPr sz="1000" spc="-5" dirty="0">
                <a:latin typeface="Arial"/>
                <a:cs typeface="Arial"/>
              </a:rPr>
              <a:t>system, characterized </a:t>
            </a:r>
            <a:r>
              <a:rPr sz="1000" dirty="0">
                <a:latin typeface="Arial"/>
                <a:cs typeface="Arial"/>
              </a:rPr>
              <a:t> </a:t>
            </a:r>
            <a:r>
              <a:rPr sz="1000" spc="-25" dirty="0">
                <a:latin typeface="Arial"/>
                <a:cs typeface="Arial"/>
              </a:rPr>
              <a:t>by</a:t>
            </a:r>
            <a:r>
              <a:rPr sz="1000" spc="-5" dirty="0">
                <a:latin typeface="Arial"/>
                <a:cs typeface="Arial"/>
              </a:rPr>
              <a:t> </a:t>
            </a:r>
            <a:r>
              <a:rPr sz="1000" spc="-10" dirty="0">
                <a:latin typeface="Arial"/>
                <a:cs typeface="Arial"/>
              </a:rPr>
              <a:t>the</a:t>
            </a:r>
            <a:r>
              <a:rPr sz="1000" dirty="0">
                <a:latin typeface="Arial"/>
                <a:cs typeface="Arial"/>
              </a:rPr>
              <a:t> </a:t>
            </a:r>
            <a:r>
              <a:rPr sz="1000" spc="-20" dirty="0">
                <a:latin typeface="Arial"/>
                <a:cs typeface="Arial"/>
              </a:rPr>
              <a:t>fact</a:t>
            </a:r>
            <a:r>
              <a:rPr sz="1000"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the</a:t>
            </a:r>
            <a:r>
              <a:rPr sz="1000" dirty="0">
                <a:latin typeface="Arial"/>
                <a:cs typeface="Arial"/>
              </a:rPr>
              <a:t> </a:t>
            </a:r>
            <a:r>
              <a:rPr sz="1000" spc="-15" dirty="0">
                <a:latin typeface="Arial"/>
                <a:cs typeface="Arial"/>
              </a:rPr>
              <a:t>system</a:t>
            </a:r>
            <a:r>
              <a:rPr sz="1000" spc="-5" dirty="0">
                <a:latin typeface="Arial"/>
                <a:cs typeface="Arial"/>
              </a:rPr>
              <a:t> </a:t>
            </a:r>
            <a:r>
              <a:rPr sz="1000" spc="-10" dirty="0">
                <a:solidFill>
                  <a:srgbClr val="FA0000"/>
                </a:solidFill>
                <a:latin typeface="Arial"/>
                <a:cs typeface="Arial"/>
              </a:rPr>
              <a:t>naturally</a:t>
            </a:r>
            <a:r>
              <a:rPr sz="1000" dirty="0">
                <a:solidFill>
                  <a:srgbClr val="FA0000"/>
                </a:solidFill>
                <a:latin typeface="Arial"/>
                <a:cs typeface="Arial"/>
              </a:rPr>
              <a:t> </a:t>
            </a:r>
            <a:r>
              <a:rPr sz="1000" spc="-15" dirty="0">
                <a:solidFill>
                  <a:srgbClr val="FA0000"/>
                </a:solidFill>
                <a:latin typeface="Arial"/>
                <a:cs typeface="Arial"/>
              </a:rPr>
              <a:t>blends</a:t>
            </a:r>
            <a:r>
              <a:rPr sz="1000" dirty="0">
                <a:solidFill>
                  <a:srgbClr val="FA0000"/>
                </a:solidFill>
                <a:latin typeface="Arial"/>
                <a:cs typeface="Arial"/>
              </a:rPr>
              <a:t> </a:t>
            </a:r>
            <a:r>
              <a:rPr sz="1000" spc="-10" dirty="0">
                <a:solidFill>
                  <a:srgbClr val="FA0000"/>
                </a:solidFill>
                <a:latin typeface="Arial"/>
                <a:cs typeface="Arial"/>
              </a:rPr>
              <a:t>into</a:t>
            </a:r>
            <a:r>
              <a:rPr sz="1000" dirty="0">
                <a:solidFill>
                  <a:srgbClr val="FA0000"/>
                </a:solidFill>
                <a:latin typeface="Arial"/>
                <a:cs typeface="Arial"/>
              </a:rPr>
              <a:t> </a:t>
            </a:r>
            <a:r>
              <a:rPr sz="1000" spc="-10" dirty="0">
                <a:solidFill>
                  <a:srgbClr val="FA0000"/>
                </a:solidFill>
                <a:latin typeface="Arial"/>
                <a:cs typeface="Arial"/>
              </a:rPr>
              <a:t>the</a:t>
            </a:r>
            <a:r>
              <a:rPr sz="1000" dirty="0">
                <a:solidFill>
                  <a:srgbClr val="FA0000"/>
                </a:solidFill>
                <a:latin typeface="Arial"/>
                <a:cs typeface="Arial"/>
              </a:rPr>
              <a:t> </a:t>
            </a:r>
            <a:r>
              <a:rPr sz="1000" spc="-20" dirty="0">
                <a:solidFill>
                  <a:srgbClr val="FA0000"/>
                </a:solidFill>
                <a:latin typeface="Arial"/>
                <a:cs typeface="Arial"/>
              </a:rPr>
              <a:t>user’s</a:t>
            </a:r>
            <a:r>
              <a:rPr sz="1000" spc="-5" dirty="0">
                <a:solidFill>
                  <a:srgbClr val="FA0000"/>
                </a:solidFill>
                <a:latin typeface="Arial"/>
                <a:cs typeface="Arial"/>
              </a:rPr>
              <a:t> </a:t>
            </a:r>
            <a:r>
              <a:rPr sz="1000" spc="-15" dirty="0">
                <a:solidFill>
                  <a:srgbClr val="FA0000"/>
                </a:solidFill>
                <a:latin typeface="Arial"/>
                <a:cs typeface="Arial"/>
              </a:rPr>
              <a:t>environment</a:t>
            </a:r>
            <a:r>
              <a:rPr sz="1000" spc="-15" dirty="0">
                <a:latin typeface="Arial"/>
                <a:cs typeface="Arial"/>
              </a:rPr>
              <a:t>.</a:t>
            </a:r>
            <a:endParaRPr sz="1000">
              <a:latin typeface="Arial"/>
              <a:cs typeface="Arial"/>
            </a:endParaRPr>
          </a:p>
          <a:p>
            <a:pPr marR="1714500" algn="ctr">
              <a:lnSpc>
                <a:spcPct val="100000"/>
              </a:lnSpc>
              <a:spcBef>
                <a:spcPts val="645"/>
              </a:spcBef>
            </a:pPr>
            <a:r>
              <a:rPr sz="1200" spc="-5" dirty="0">
                <a:solidFill>
                  <a:srgbClr val="3333B2"/>
                </a:solidFill>
                <a:latin typeface="Arial"/>
                <a:cs typeface="Arial"/>
              </a:rPr>
              <a:t>Three</a:t>
            </a:r>
            <a:r>
              <a:rPr sz="1200" spc="-25" dirty="0">
                <a:solidFill>
                  <a:srgbClr val="3333B2"/>
                </a:solidFill>
                <a:latin typeface="Arial"/>
                <a:cs typeface="Arial"/>
              </a:rPr>
              <a:t> </a:t>
            </a:r>
            <a:r>
              <a:rPr sz="1200" spc="-5" dirty="0">
                <a:solidFill>
                  <a:srgbClr val="3333B2"/>
                </a:solidFill>
                <a:latin typeface="Arial"/>
                <a:cs typeface="Arial"/>
              </a:rPr>
              <a:t>(overlapping)</a:t>
            </a:r>
            <a:r>
              <a:rPr sz="1200" spc="-25" dirty="0">
                <a:solidFill>
                  <a:srgbClr val="3333B2"/>
                </a:solidFill>
                <a:latin typeface="Arial"/>
                <a:cs typeface="Arial"/>
              </a:rPr>
              <a:t> </a:t>
            </a:r>
            <a:r>
              <a:rPr sz="1200" spc="-5" dirty="0">
                <a:solidFill>
                  <a:srgbClr val="3333B2"/>
                </a:solidFill>
                <a:latin typeface="Arial"/>
                <a:cs typeface="Arial"/>
              </a:rPr>
              <a:t>subtypes</a:t>
            </a:r>
            <a:endParaRPr sz="1200">
              <a:latin typeface="Arial"/>
              <a:cs typeface="Arial"/>
            </a:endParaRPr>
          </a:p>
          <a:p>
            <a:pPr marL="554355" marR="215265" indent="-168275">
              <a:lnSpc>
                <a:spcPct val="100000"/>
              </a:lnSpc>
              <a:spcBef>
                <a:spcPts val="785"/>
              </a:spcBef>
              <a:buClr>
                <a:srgbClr val="3333B2"/>
              </a:buClr>
              <a:buChar char="►"/>
              <a:tabLst>
                <a:tab pos="554990" algn="l"/>
              </a:tabLst>
            </a:pPr>
            <a:r>
              <a:rPr sz="1000" spc="-5" dirty="0">
                <a:solidFill>
                  <a:srgbClr val="0000FA"/>
                </a:solidFill>
                <a:latin typeface="Arial"/>
                <a:cs typeface="Arial"/>
              </a:rPr>
              <a:t>Ubiquitous computing systems</a:t>
            </a:r>
            <a:r>
              <a:rPr sz="1000" spc="-5" dirty="0">
                <a:latin typeface="Arial"/>
                <a:cs typeface="Arial"/>
              </a:rPr>
              <a:t>:</a:t>
            </a:r>
            <a:r>
              <a:rPr sz="1000" spc="65" dirty="0">
                <a:latin typeface="Arial"/>
                <a:cs typeface="Arial"/>
              </a:rPr>
              <a:t> </a:t>
            </a:r>
            <a:r>
              <a:rPr sz="1000" spc="-5" dirty="0">
                <a:latin typeface="Arial"/>
                <a:cs typeface="Arial"/>
              </a:rPr>
              <a:t>pervasive</a:t>
            </a:r>
            <a:r>
              <a:rPr sz="1000" dirty="0">
                <a:latin typeface="Arial"/>
                <a:cs typeface="Arial"/>
              </a:rPr>
              <a:t> </a:t>
            </a:r>
            <a:r>
              <a:rPr sz="1000" spc="-5" dirty="0">
                <a:latin typeface="Arial"/>
                <a:cs typeface="Arial"/>
              </a:rPr>
              <a:t>and </a:t>
            </a:r>
            <a:r>
              <a:rPr sz="1000" spc="-5" dirty="0">
                <a:solidFill>
                  <a:srgbClr val="FA0000"/>
                </a:solidFill>
                <a:latin typeface="Arial"/>
                <a:cs typeface="Arial"/>
              </a:rPr>
              <a:t>continuously </a:t>
            </a:r>
            <a:r>
              <a:rPr sz="1000" dirty="0">
                <a:solidFill>
                  <a:srgbClr val="FA0000"/>
                </a:solidFill>
                <a:latin typeface="Arial"/>
                <a:cs typeface="Arial"/>
              </a:rPr>
              <a:t> </a:t>
            </a:r>
            <a:r>
              <a:rPr sz="1000" spc="-5" dirty="0">
                <a:solidFill>
                  <a:srgbClr val="FA0000"/>
                </a:solidFill>
                <a:latin typeface="Arial"/>
                <a:cs typeface="Arial"/>
              </a:rPr>
              <a:t>present</a:t>
            </a:r>
            <a:r>
              <a:rPr sz="1000" spc="-5" dirty="0">
                <a:latin typeface="Arial"/>
                <a:cs typeface="Arial"/>
              </a:rPr>
              <a:t>, i.e.,</a:t>
            </a:r>
            <a:r>
              <a:rPr sz="1000"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continuous interaction</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system </a:t>
            </a:r>
            <a:r>
              <a:rPr sz="1000" spc="-265" dirty="0">
                <a:latin typeface="Arial"/>
                <a:cs typeface="Arial"/>
              </a:rPr>
              <a:t> </a:t>
            </a:r>
            <a:r>
              <a:rPr sz="1000" spc="-5" dirty="0">
                <a:latin typeface="Arial"/>
                <a:cs typeface="Arial"/>
              </a:rPr>
              <a:t>and</a:t>
            </a:r>
            <a:r>
              <a:rPr sz="1000" spc="-10" dirty="0">
                <a:latin typeface="Arial"/>
                <a:cs typeface="Arial"/>
              </a:rPr>
              <a:t> </a:t>
            </a:r>
            <a:r>
              <a:rPr sz="1000" spc="-15" dirty="0">
                <a:latin typeface="Arial"/>
                <a:cs typeface="Arial"/>
              </a:rPr>
              <a:t>user.</a:t>
            </a:r>
            <a:endParaRPr sz="1000">
              <a:latin typeface="Arial"/>
              <a:cs typeface="Arial"/>
            </a:endParaRPr>
          </a:p>
          <a:p>
            <a:pPr marL="554355" marR="65405" indent="-168275">
              <a:lnSpc>
                <a:spcPct val="100000"/>
              </a:lnSpc>
              <a:spcBef>
                <a:spcPts val="585"/>
              </a:spcBef>
              <a:buClr>
                <a:srgbClr val="3333B2"/>
              </a:buClr>
              <a:buChar char="►"/>
              <a:tabLst>
                <a:tab pos="554990" algn="l"/>
              </a:tabLst>
            </a:pPr>
            <a:r>
              <a:rPr sz="1000" spc="-15" dirty="0">
                <a:solidFill>
                  <a:srgbClr val="0000FA"/>
                </a:solidFill>
                <a:latin typeface="Arial"/>
                <a:cs typeface="Arial"/>
              </a:rPr>
              <a:t>Mobile</a:t>
            </a:r>
            <a:r>
              <a:rPr sz="1000" spc="-5" dirty="0">
                <a:solidFill>
                  <a:srgbClr val="0000FA"/>
                </a:solidFill>
                <a:latin typeface="Arial"/>
                <a:cs typeface="Arial"/>
              </a:rPr>
              <a:t> </a:t>
            </a:r>
            <a:r>
              <a:rPr sz="1000" spc="-15" dirty="0">
                <a:solidFill>
                  <a:srgbClr val="0000FA"/>
                </a:solidFill>
                <a:latin typeface="Arial"/>
                <a:cs typeface="Arial"/>
              </a:rPr>
              <a:t>computing</a:t>
            </a:r>
            <a:r>
              <a:rPr sz="1000" dirty="0">
                <a:solidFill>
                  <a:srgbClr val="0000FA"/>
                </a:solidFill>
                <a:latin typeface="Arial"/>
                <a:cs typeface="Arial"/>
              </a:rPr>
              <a:t> </a:t>
            </a:r>
            <a:r>
              <a:rPr sz="1000" spc="-15" dirty="0">
                <a:solidFill>
                  <a:srgbClr val="0000FA"/>
                </a:solidFill>
                <a:latin typeface="Arial"/>
                <a:cs typeface="Arial"/>
              </a:rPr>
              <a:t>systems</a:t>
            </a:r>
            <a:r>
              <a:rPr sz="1000" spc="-15" dirty="0">
                <a:latin typeface="Arial"/>
                <a:cs typeface="Arial"/>
              </a:rPr>
              <a:t>:</a:t>
            </a:r>
            <a:r>
              <a:rPr sz="1000" spc="70" dirty="0">
                <a:latin typeface="Arial"/>
                <a:cs typeface="Arial"/>
              </a:rPr>
              <a:t> </a:t>
            </a:r>
            <a:r>
              <a:rPr sz="1000" spc="-15" dirty="0">
                <a:latin typeface="Arial"/>
                <a:cs typeface="Arial"/>
              </a:rPr>
              <a:t>pervasive,</a:t>
            </a:r>
            <a:r>
              <a:rPr sz="1000" spc="-5" dirty="0">
                <a:latin typeface="Arial"/>
                <a:cs typeface="Arial"/>
              </a:rPr>
              <a:t> </a:t>
            </a:r>
            <a:r>
              <a:rPr sz="1000" spc="-20" dirty="0">
                <a:latin typeface="Arial"/>
                <a:cs typeface="Arial"/>
              </a:rPr>
              <a:t>but</a:t>
            </a:r>
            <a:r>
              <a:rPr sz="1000" dirty="0">
                <a:latin typeface="Arial"/>
                <a:cs typeface="Arial"/>
              </a:rPr>
              <a:t> </a:t>
            </a:r>
            <a:r>
              <a:rPr sz="1000" spc="-15" dirty="0">
                <a:latin typeface="Arial"/>
                <a:cs typeface="Arial"/>
              </a:rPr>
              <a:t>emphasis</a:t>
            </a:r>
            <a:r>
              <a:rPr sz="1000" dirty="0">
                <a:latin typeface="Arial"/>
                <a:cs typeface="Arial"/>
              </a:rPr>
              <a:t> </a:t>
            </a:r>
            <a:r>
              <a:rPr sz="1000" spc="-10" dirty="0">
                <a:latin typeface="Arial"/>
                <a:cs typeface="Arial"/>
              </a:rPr>
              <a:t>is</a:t>
            </a:r>
            <a:r>
              <a:rPr sz="1000" dirty="0">
                <a:latin typeface="Arial"/>
                <a:cs typeface="Arial"/>
              </a:rPr>
              <a:t> </a:t>
            </a:r>
            <a:r>
              <a:rPr sz="1000" spc="-15" dirty="0">
                <a:latin typeface="Arial"/>
                <a:cs typeface="Arial"/>
              </a:rPr>
              <a:t>on</a:t>
            </a:r>
            <a:r>
              <a:rPr sz="1000" dirty="0">
                <a:latin typeface="Arial"/>
                <a:cs typeface="Arial"/>
              </a:rPr>
              <a:t> </a:t>
            </a:r>
            <a:r>
              <a:rPr sz="1000" spc="-15" dirty="0">
                <a:latin typeface="Arial"/>
                <a:cs typeface="Arial"/>
              </a:rPr>
              <a:t>the</a:t>
            </a:r>
            <a:r>
              <a:rPr sz="1000" dirty="0">
                <a:latin typeface="Arial"/>
                <a:cs typeface="Arial"/>
              </a:rPr>
              <a:t> </a:t>
            </a:r>
            <a:r>
              <a:rPr sz="1000" spc="-20" dirty="0">
                <a:latin typeface="Arial"/>
                <a:cs typeface="Arial"/>
              </a:rPr>
              <a:t>fact </a:t>
            </a:r>
            <a:r>
              <a:rPr sz="1000" spc="-260" dirty="0">
                <a:latin typeface="Arial"/>
                <a:cs typeface="Arial"/>
              </a:rPr>
              <a:t> </a:t>
            </a:r>
            <a:r>
              <a:rPr sz="1000" spc="-5" dirty="0">
                <a:latin typeface="Arial"/>
                <a:cs typeface="Arial"/>
              </a:rPr>
              <a:t>that </a:t>
            </a:r>
            <a:r>
              <a:rPr sz="1000" spc="-10" dirty="0">
                <a:latin typeface="Arial"/>
                <a:cs typeface="Arial"/>
              </a:rPr>
              <a:t>devices</a:t>
            </a:r>
            <a:r>
              <a:rPr sz="1000" spc="-5" dirty="0">
                <a:latin typeface="Arial"/>
                <a:cs typeface="Arial"/>
              </a:rPr>
              <a:t> are </a:t>
            </a:r>
            <a:r>
              <a:rPr sz="1000" spc="-5" dirty="0">
                <a:solidFill>
                  <a:srgbClr val="FA0000"/>
                </a:solidFill>
                <a:latin typeface="Arial"/>
                <a:cs typeface="Arial"/>
              </a:rPr>
              <a:t>inherently mobile</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82600" y="188846"/>
            <a:ext cx="4239260" cy="2698750"/>
          </a:xfrm>
          <a:prstGeom prst="rect">
            <a:avLst/>
          </a:prstGeom>
        </p:spPr>
        <p:txBody>
          <a:bodyPr vert="horz" wrap="square" lIns="0" tIns="17145" rIns="0" bIns="0" rtlCol="0">
            <a:spAutoFit/>
          </a:bodyPr>
          <a:lstStyle/>
          <a:p>
            <a:pPr marR="1764664" algn="ctr">
              <a:lnSpc>
                <a:spcPct val="100000"/>
              </a:lnSpc>
              <a:spcBef>
                <a:spcPts val="135"/>
              </a:spcBef>
            </a:pPr>
            <a:r>
              <a:rPr sz="1400" spc="10" dirty="0">
                <a:solidFill>
                  <a:srgbClr val="3333B2"/>
                </a:solidFill>
                <a:latin typeface="Arial"/>
                <a:cs typeface="Arial"/>
              </a:rPr>
              <a:t>Distributed</a:t>
            </a:r>
            <a:r>
              <a:rPr sz="1400" spc="-5" dirty="0">
                <a:solidFill>
                  <a:srgbClr val="3333B2"/>
                </a:solidFill>
                <a:latin typeface="Arial"/>
                <a:cs typeface="Arial"/>
              </a:rPr>
              <a:t> </a:t>
            </a:r>
            <a:r>
              <a:rPr sz="1400" spc="10" dirty="0">
                <a:solidFill>
                  <a:srgbClr val="3333B2"/>
                </a:solidFill>
                <a:latin typeface="Arial"/>
                <a:cs typeface="Arial"/>
              </a:rPr>
              <a:t>pervasive</a:t>
            </a:r>
            <a:r>
              <a:rPr sz="1400"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a:lnSpc>
                <a:spcPct val="100000"/>
              </a:lnSpc>
              <a:spcBef>
                <a:spcPts val="25"/>
              </a:spcBef>
            </a:pPr>
            <a:endParaRPr sz="1600" dirty="0">
              <a:latin typeface="Arial"/>
              <a:cs typeface="Arial"/>
            </a:endParaRPr>
          </a:p>
          <a:p>
            <a:pPr marL="27686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276860" marR="43180">
              <a:lnSpc>
                <a:spcPts val="1200"/>
              </a:lnSpc>
              <a:spcBef>
                <a:spcPts val="10"/>
              </a:spcBef>
            </a:pPr>
            <a:r>
              <a:rPr sz="1000" spc="-5" dirty="0">
                <a:latin typeface="Arial"/>
                <a:cs typeface="Arial"/>
              </a:rPr>
              <a:t>Emerging next-generation</a:t>
            </a:r>
            <a:r>
              <a:rPr sz="1000" dirty="0">
                <a:latin typeface="Arial"/>
                <a:cs typeface="Arial"/>
              </a:rPr>
              <a:t> </a:t>
            </a:r>
            <a:r>
              <a:rPr sz="1000" spc="-5" dirty="0">
                <a:latin typeface="Arial"/>
                <a:cs typeface="Arial"/>
              </a:rPr>
              <a:t>of distributed</a:t>
            </a:r>
            <a:r>
              <a:rPr sz="1000" dirty="0">
                <a:latin typeface="Arial"/>
                <a:cs typeface="Arial"/>
              </a:rPr>
              <a:t> </a:t>
            </a:r>
            <a:r>
              <a:rPr sz="1000" spc="-5" dirty="0">
                <a:latin typeface="Arial"/>
                <a:cs typeface="Arial"/>
              </a:rPr>
              <a:t>systems in</a:t>
            </a:r>
            <a:r>
              <a:rPr sz="1000" dirty="0">
                <a:latin typeface="Arial"/>
                <a:cs typeface="Arial"/>
              </a:rPr>
              <a:t> </a:t>
            </a:r>
            <a:r>
              <a:rPr sz="1000" spc="-5" dirty="0">
                <a:latin typeface="Arial"/>
                <a:cs typeface="Arial"/>
              </a:rPr>
              <a:t>which nodes</a:t>
            </a:r>
            <a:r>
              <a:rPr sz="1000" dirty="0">
                <a:latin typeface="Arial"/>
                <a:cs typeface="Arial"/>
              </a:rPr>
              <a:t> </a:t>
            </a:r>
            <a:r>
              <a:rPr sz="1000" spc="-5" dirty="0">
                <a:latin typeface="Arial"/>
                <a:cs typeface="Arial"/>
              </a:rPr>
              <a:t>are </a:t>
            </a:r>
            <a:r>
              <a:rPr sz="1000" dirty="0">
                <a:latin typeface="Arial"/>
                <a:cs typeface="Arial"/>
              </a:rPr>
              <a:t> </a:t>
            </a:r>
            <a:r>
              <a:rPr sz="1000" spc="-5" dirty="0">
                <a:latin typeface="Arial"/>
                <a:cs typeface="Arial"/>
              </a:rPr>
              <a:t>small, mobile,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embedded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larger</a:t>
            </a:r>
            <a:r>
              <a:rPr sz="1000" dirty="0">
                <a:latin typeface="Arial"/>
                <a:cs typeface="Arial"/>
              </a:rPr>
              <a:t> </a:t>
            </a:r>
            <a:r>
              <a:rPr sz="1000" spc="-5" dirty="0">
                <a:latin typeface="Arial"/>
                <a:cs typeface="Arial"/>
              </a:rPr>
              <a:t>system, characterized </a:t>
            </a:r>
            <a:r>
              <a:rPr sz="1000" dirty="0">
                <a:latin typeface="Arial"/>
                <a:cs typeface="Arial"/>
              </a:rPr>
              <a:t> </a:t>
            </a:r>
            <a:r>
              <a:rPr sz="1000" spc="-25" dirty="0">
                <a:latin typeface="Arial"/>
                <a:cs typeface="Arial"/>
              </a:rPr>
              <a:t>by</a:t>
            </a:r>
            <a:r>
              <a:rPr sz="1000" spc="-5" dirty="0">
                <a:latin typeface="Arial"/>
                <a:cs typeface="Arial"/>
              </a:rPr>
              <a:t> </a:t>
            </a:r>
            <a:r>
              <a:rPr sz="1000" spc="-10" dirty="0">
                <a:latin typeface="Arial"/>
                <a:cs typeface="Arial"/>
              </a:rPr>
              <a:t>the</a:t>
            </a:r>
            <a:r>
              <a:rPr sz="1000" dirty="0">
                <a:latin typeface="Arial"/>
                <a:cs typeface="Arial"/>
              </a:rPr>
              <a:t> </a:t>
            </a:r>
            <a:r>
              <a:rPr sz="1000" spc="-20" dirty="0">
                <a:latin typeface="Arial"/>
                <a:cs typeface="Arial"/>
              </a:rPr>
              <a:t>fact</a:t>
            </a:r>
            <a:r>
              <a:rPr sz="1000"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the</a:t>
            </a:r>
            <a:r>
              <a:rPr sz="1000" dirty="0">
                <a:latin typeface="Arial"/>
                <a:cs typeface="Arial"/>
              </a:rPr>
              <a:t> </a:t>
            </a:r>
            <a:r>
              <a:rPr sz="1000" spc="-15" dirty="0">
                <a:latin typeface="Arial"/>
                <a:cs typeface="Arial"/>
              </a:rPr>
              <a:t>system</a:t>
            </a:r>
            <a:r>
              <a:rPr sz="1000" spc="-5" dirty="0">
                <a:latin typeface="Arial"/>
                <a:cs typeface="Arial"/>
              </a:rPr>
              <a:t> </a:t>
            </a:r>
            <a:r>
              <a:rPr sz="1000" spc="-10" dirty="0">
                <a:solidFill>
                  <a:srgbClr val="FA0000"/>
                </a:solidFill>
                <a:latin typeface="Arial"/>
                <a:cs typeface="Arial"/>
              </a:rPr>
              <a:t>naturally</a:t>
            </a:r>
            <a:r>
              <a:rPr sz="1000" dirty="0">
                <a:solidFill>
                  <a:srgbClr val="FA0000"/>
                </a:solidFill>
                <a:latin typeface="Arial"/>
                <a:cs typeface="Arial"/>
              </a:rPr>
              <a:t> </a:t>
            </a:r>
            <a:r>
              <a:rPr sz="1000" spc="-15" dirty="0">
                <a:solidFill>
                  <a:srgbClr val="FA0000"/>
                </a:solidFill>
                <a:latin typeface="Arial"/>
                <a:cs typeface="Arial"/>
              </a:rPr>
              <a:t>blends</a:t>
            </a:r>
            <a:r>
              <a:rPr sz="1000" dirty="0">
                <a:solidFill>
                  <a:srgbClr val="FA0000"/>
                </a:solidFill>
                <a:latin typeface="Arial"/>
                <a:cs typeface="Arial"/>
              </a:rPr>
              <a:t> </a:t>
            </a:r>
            <a:r>
              <a:rPr sz="1000" spc="-10" dirty="0">
                <a:solidFill>
                  <a:srgbClr val="FA0000"/>
                </a:solidFill>
                <a:latin typeface="Arial"/>
                <a:cs typeface="Arial"/>
              </a:rPr>
              <a:t>into</a:t>
            </a:r>
            <a:r>
              <a:rPr sz="1000" dirty="0">
                <a:solidFill>
                  <a:srgbClr val="FA0000"/>
                </a:solidFill>
                <a:latin typeface="Arial"/>
                <a:cs typeface="Arial"/>
              </a:rPr>
              <a:t> </a:t>
            </a:r>
            <a:r>
              <a:rPr sz="1000" spc="-10" dirty="0">
                <a:solidFill>
                  <a:srgbClr val="FA0000"/>
                </a:solidFill>
                <a:latin typeface="Arial"/>
                <a:cs typeface="Arial"/>
              </a:rPr>
              <a:t>the</a:t>
            </a:r>
            <a:r>
              <a:rPr sz="1000" dirty="0">
                <a:solidFill>
                  <a:srgbClr val="FA0000"/>
                </a:solidFill>
                <a:latin typeface="Arial"/>
                <a:cs typeface="Arial"/>
              </a:rPr>
              <a:t> </a:t>
            </a:r>
            <a:r>
              <a:rPr sz="1000" spc="-20" dirty="0">
                <a:solidFill>
                  <a:srgbClr val="FA0000"/>
                </a:solidFill>
                <a:latin typeface="Arial"/>
                <a:cs typeface="Arial"/>
              </a:rPr>
              <a:t>user’s</a:t>
            </a:r>
            <a:r>
              <a:rPr sz="1000" spc="-5" dirty="0">
                <a:solidFill>
                  <a:srgbClr val="FA0000"/>
                </a:solidFill>
                <a:latin typeface="Arial"/>
                <a:cs typeface="Arial"/>
              </a:rPr>
              <a:t> </a:t>
            </a:r>
            <a:r>
              <a:rPr sz="1000" spc="-15" dirty="0">
                <a:solidFill>
                  <a:srgbClr val="FA0000"/>
                </a:solidFill>
                <a:latin typeface="Arial"/>
                <a:cs typeface="Arial"/>
              </a:rPr>
              <a:t>environment</a:t>
            </a:r>
            <a:r>
              <a:rPr sz="1000" spc="-15" dirty="0">
                <a:latin typeface="Arial"/>
                <a:cs typeface="Arial"/>
              </a:rPr>
              <a:t>.</a:t>
            </a:r>
            <a:endParaRPr sz="1000" dirty="0">
              <a:latin typeface="Arial"/>
              <a:cs typeface="Arial"/>
            </a:endParaRPr>
          </a:p>
          <a:p>
            <a:pPr marR="1714500" algn="ctr">
              <a:lnSpc>
                <a:spcPct val="100000"/>
              </a:lnSpc>
              <a:spcBef>
                <a:spcPts val="645"/>
              </a:spcBef>
            </a:pPr>
            <a:r>
              <a:rPr sz="1200" spc="-5" dirty="0">
                <a:solidFill>
                  <a:srgbClr val="3333B2"/>
                </a:solidFill>
                <a:latin typeface="Arial"/>
                <a:cs typeface="Arial"/>
              </a:rPr>
              <a:t>Three</a:t>
            </a:r>
            <a:r>
              <a:rPr sz="1200" spc="-25" dirty="0">
                <a:solidFill>
                  <a:srgbClr val="3333B2"/>
                </a:solidFill>
                <a:latin typeface="Arial"/>
                <a:cs typeface="Arial"/>
              </a:rPr>
              <a:t> </a:t>
            </a:r>
            <a:r>
              <a:rPr sz="1200" spc="-5" dirty="0">
                <a:solidFill>
                  <a:srgbClr val="3333B2"/>
                </a:solidFill>
                <a:latin typeface="Arial"/>
                <a:cs typeface="Arial"/>
              </a:rPr>
              <a:t>(overlapping)</a:t>
            </a:r>
            <a:r>
              <a:rPr sz="1200" spc="-25" dirty="0">
                <a:solidFill>
                  <a:srgbClr val="3333B2"/>
                </a:solidFill>
                <a:latin typeface="Arial"/>
                <a:cs typeface="Arial"/>
              </a:rPr>
              <a:t> </a:t>
            </a:r>
            <a:r>
              <a:rPr sz="1200" spc="-5" dirty="0">
                <a:solidFill>
                  <a:srgbClr val="3333B2"/>
                </a:solidFill>
                <a:latin typeface="Arial"/>
                <a:cs typeface="Arial"/>
              </a:rPr>
              <a:t>subtypes</a:t>
            </a:r>
            <a:endParaRPr sz="1200" dirty="0">
              <a:latin typeface="Arial"/>
              <a:cs typeface="Arial"/>
            </a:endParaRPr>
          </a:p>
          <a:p>
            <a:pPr marL="554355" marR="215265" indent="-168275">
              <a:lnSpc>
                <a:spcPct val="100000"/>
              </a:lnSpc>
              <a:spcBef>
                <a:spcPts val="785"/>
              </a:spcBef>
              <a:buClr>
                <a:srgbClr val="3333B2"/>
              </a:buClr>
              <a:buChar char="►"/>
              <a:tabLst>
                <a:tab pos="554990" algn="l"/>
              </a:tabLst>
            </a:pPr>
            <a:r>
              <a:rPr sz="1000" spc="-5" dirty="0">
                <a:solidFill>
                  <a:srgbClr val="0000FA"/>
                </a:solidFill>
                <a:latin typeface="Arial"/>
                <a:cs typeface="Arial"/>
              </a:rPr>
              <a:t>Ubiquitous computing systems</a:t>
            </a:r>
            <a:r>
              <a:rPr sz="1000" spc="-5" dirty="0">
                <a:latin typeface="Arial"/>
                <a:cs typeface="Arial"/>
              </a:rPr>
              <a:t>:</a:t>
            </a:r>
            <a:r>
              <a:rPr sz="1000" spc="65" dirty="0">
                <a:latin typeface="Arial"/>
                <a:cs typeface="Arial"/>
              </a:rPr>
              <a:t> </a:t>
            </a:r>
            <a:r>
              <a:rPr sz="1000" spc="-5" dirty="0">
                <a:latin typeface="Arial"/>
                <a:cs typeface="Arial"/>
              </a:rPr>
              <a:t>pervasive</a:t>
            </a:r>
            <a:r>
              <a:rPr sz="1000" dirty="0">
                <a:latin typeface="Arial"/>
                <a:cs typeface="Arial"/>
              </a:rPr>
              <a:t> </a:t>
            </a:r>
            <a:r>
              <a:rPr sz="1000" spc="-5" dirty="0">
                <a:latin typeface="Arial"/>
                <a:cs typeface="Arial"/>
              </a:rPr>
              <a:t>and </a:t>
            </a:r>
            <a:r>
              <a:rPr sz="1000" spc="-5" dirty="0">
                <a:solidFill>
                  <a:srgbClr val="FA0000"/>
                </a:solidFill>
                <a:latin typeface="Arial"/>
                <a:cs typeface="Arial"/>
              </a:rPr>
              <a:t>continuously </a:t>
            </a:r>
            <a:r>
              <a:rPr sz="1000" dirty="0">
                <a:solidFill>
                  <a:srgbClr val="FA0000"/>
                </a:solidFill>
                <a:latin typeface="Arial"/>
                <a:cs typeface="Arial"/>
              </a:rPr>
              <a:t> </a:t>
            </a:r>
            <a:r>
              <a:rPr sz="1000" spc="-5" dirty="0">
                <a:solidFill>
                  <a:srgbClr val="FA0000"/>
                </a:solidFill>
                <a:latin typeface="Arial"/>
                <a:cs typeface="Arial"/>
              </a:rPr>
              <a:t>present</a:t>
            </a:r>
            <a:r>
              <a:rPr sz="1000" spc="-5" dirty="0">
                <a:latin typeface="Arial"/>
                <a:cs typeface="Arial"/>
              </a:rPr>
              <a:t>, i.e.,</a:t>
            </a:r>
            <a:r>
              <a:rPr sz="1000"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continuous interaction</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system </a:t>
            </a:r>
            <a:r>
              <a:rPr sz="1000" spc="-265" dirty="0">
                <a:latin typeface="Arial"/>
                <a:cs typeface="Arial"/>
              </a:rPr>
              <a:t> </a:t>
            </a:r>
            <a:r>
              <a:rPr sz="1000" spc="-5" dirty="0">
                <a:latin typeface="Arial"/>
                <a:cs typeface="Arial"/>
              </a:rPr>
              <a:t>and</a:t>
            </a:r>
            <a:r>
              <a:rPr sz="1000" spc="-10" dirty="0">
                <a:latin typeface="Arial"/>
                <a:cs typeface="Arial"/>
              </a:rPr>
              <a:t> </a:t>
            </a:r>
            <a:r>
              <a:rPr sz="1000" spc="-15" dirty="0">
                <a:latin typeface="Arial"/>
                <a:cs typeface="Arial"/>
              </a:rPr>
              <a:t>user.</a:t>
            </a:r>
            <a:endParaRPr sz="1000" dirty="0">
              <a:latin typeface="Arial"/>
              <a:cs typeface="Arial"/>
            </a:endParaRPr>
          </a:p>
          <a:p>
            <a:pPr marL="554355" marR="65405" indent="-168275">
              <a:lnSpc>
                <a:spcPct val="100000"/>
              </a:lnSpc>
              <a:spcBef>
                <a:spcPts val="585"/>
              </a:spcBef>
              <a:buClr>
                <a:srgbClr val="3333B2"/>
              </a:buClr>
              <a:buChar char="►"/>
              <a:tabLst>
                <a:tab pos="554990" algn="l"/>
              </a:tabLst>
            </a:pPr>
            <a:r>
              <a:rPr sz="1000" spc="-15" dirty="0">
                <a:solidFill>
                  <a:srgbClr val="0000FA"/>
                </a:solidFill>
                <a:latin typeface="Arial"/>
                <a:cs typeface="Arial"/>
              </a:rPr>
              <a:t>Mobile</a:t>
            </a:r>
            <a:r>
              <a:rPr sz="1000" spc="-5" dirty="0">
                <a:solidFill>
                  <a:srgbClr val="0000FA"/>
                </a:solidFill>
                <a:latin typeface="Arial"/>
                <a:cs typeface="Arial"/>
              </a:rPr>
              <a:t> </a:t>
            </a:r>
            <a:r>
              <a:rPr sz="1000" spc="-15" dirty="0">
                <a:solidFill>
                  <a:srgbClr val="0000FA"/>
                </a:solidFill>
                <a:latin typeface="Arial"/>
                <a:cs typeface="Arial"/>
              </a:rPr>
              <a:t>computing</a:t>
            </a:r>
            <a:r>
              <a:rPr sz="1000" dirty="0">
                <a:solidFill>
                  <a:srgbClr val="0000FA"/>
                </a:solidFill>
                <a:latin typeface="Arial"/>
                <a:cs typeface="Arial"/>
              </a:rPr>
              <a:t> </a:t>
            </a:r>
            <a:r>
              <a:rPr sz="1000" spc="-15" dirty="0">
                <a:solidFill>
                  <a:srgbClr val="0000FA"/>
                </a:solidFill>
                <a:latin typeface="Arial"/>
                <a:cs typeface="Arial"/>
              </a:rPr>
              <a:t>systems</a:t>
            </a:r>
            <a:r>
              <a:rPr sz="1000" spc="-15" dirty="0">
                <a:latin typeface="Arial"/>
                <a:cs typeface="Arial"/>
              </a:rPr>
              <a:t>:</a:t>
            </a:r>
            <a:r>
              <a:rPr sz="1000" spc="70" dirty="0">
                <a:latin typeface="Arial"/>
                <a:cs typeface="Arial"/>
              </a:rPr>
              <a:t> </a:t>
            </a:r>
            <a:r>
              <a:rPr sz="1000" spc="-15" dirty="0">
                <a:latin typeface="Arial"/>
                <a:cs typeface="Arial"/>
              </a:rPr>
              <a:t>pervasive,</a:t>
            </a:r>
            <a:r>
              <a:rPr sz="1000" spc="-5" dirty="0">
                <a:latin typeface="Arial"/>
                <a:cs typeface="Arial"/>
              </a:rPr>
              <a:t> </a:t>
            </a:r>
            <a:r>
              <a:rPr sz="1000" spc="-20" dirty="0">
                <a:latin typeface="Arial"/>
                <a:cs typeface="Arial"/>
              </a:rPr>
              <a:t>but</a:t>
            </a:r>
            <a:r>
              <a:rPr sz="1000" dirty="0">
                <a:latin typeface="Arial"/>
                <a:cs typeface="Arial"/>
              </a:rPr>
              <a:t> </a:t>
            </a:r>
            <a:r>
              <a:rPr sz="1000" spc="-15" dirty="0">
                <a:latin typeface="Arial"/>
                <a:cs typeface="Arial"/>
              </a:rPr>
              <a:t>emphasis</a:t>
            </a:r>
            <a:r>
              <a:rPr sz="1000" dirty="0">
                <a:latin typeface="Arial"/>
                <a:cs typeface="Arial"/>
              </a:rPr>
              <a:t> </a:t>
            </a:r>
            <a:r>
              <a:rPr sz="1000" spc="-10" dirty="0">
                <a:latin typeface="Arial"/>
                <a:cs typeface="Arial"/>
              </a:rPr>
              <a:t>is</a:t>
            </a:r>
            <a:r>
              <a:rPr sz="1000" dirty="0">
                <a:latin typeface="Arial"/>
                <a:cs typeface="Arial"/>
              </a:rPr>
              <a:t> </a:t>
            </a:r>
            <a:r>
              <a:rPr sz="1000" spc="-15" dirty="0">
                <a:latin typeface="Arial"/>
                <a:cs typeface="Arial"/>
              </a:rPr>
              <a:t>on</a:t>
            </a:r>
            <a:r>
              <a:rPr sz="1000" dirty="0">
                <a:latin typeface="Arial"/>
                <a:cs typeface="Arial"/>
              </a:rPr>
              <a:t> </a:t>
            </a:r>
            <a:r>
              <a:rPr sz="1000" spc="-15" dirty="0">
                <a:latin typeface="Arial"/>
                <a:cs typeface="Arial"/>
              </a:rPr>
              <a:t>the</a:t>
            </a:r>
            <a:r>
              <a:rPr sz="1000" dirty="0">
                <a:latin typeface="Arial"/>
                <a:cs typeface="Arial"/>
              </a:rPr>
              <a:t> </a:t>
            </a:r>
            <a:r>
              <a:rPr sz="1000" spc="-20" dirty="0">
                <a:latin typeface="Arial"/>
                <a:cs typeface="Arial"/>
              </a:rPr>
              <a:t>fact </a:t>
            </a:r>
            <a:r>
              <a:rPr sz="1000" spc="-260" dirty="0">
                <a:latin typeface="Arial"/>
                <a:cs typeface="Arial"/>
              </a:rPr>
              <a:t> </a:t>
            </a:r>
            <a:r>
              <a:rPr sz="1000" spc="-5" dirty="0">
                <a:latin typeface="Arial"/>
                <a:cs typeface="Arial"/>
              </a:rPr>
              <a:t>that </a:t>
            </a:r>
            <a:r>
              <a:rPr sz="1000" spc="-10" dirty="0">
                <a:latin typeface="Arial"/>
                <a:cs typeface="Arial"/>
              </a:rPr>
              <a:t>devices</a:t>
            </a:r>
            <a:r>
              <a:rPr sz="1000" spc="-5" dirty="0">
                <a:latin typeface="Arial"/>
                <a:cs typeface="Arial"/>
              </a:rPr>
              <a:t> are </a:t>
            </a:r>
            <a:r>
              <a:rPr sz="1000" spc="-5" dirty="0">
                <a:solidFill>
                  <a:srgbClr val="FA0000"/>
                </a:solidFill>
                <a:latin typeface="Arial"/>
                <a:cs typeface="Arial"/>
              </a:rPr>
              <a:t>inherently mobile</a:t>
            </a:r>
            <a:r>
              <a:rPr sz="1000" spc="-5" dirty="0">
                <a:latin typeface="Arial"/>
                <a:cs typeface="Arial"/>
              </a:rPr>
              <a:t>.</a:t>
            </a:r>
            <a:endParaRPr sz="1000" dirty="0">
              <a:latin typeface="Arial"/>
              <a:cs typeface="Arial"/>
            </a:endParaRPr>
          </a:p>
          <a:p>
            <a:pPr marL="554355" marR="66675" indent="-168275">
              <a:lnSpc>
                <a:spcPct val="100000"/>
              </a:lnSpc>
              <a:spcBef>
                <a:spcPts val="590"/>
              </a:spcBef>
              <a:buClr>
                <a:srgbClr val="3333B2"/>
              </a:buClr>
              <a:buChar char="►"/>
              <a:tabLst>
                <a:tab pos="554990" algn="l"/>
              </a:tabLst>
            </a:pPr>
            <a:r>
              <a:rPr sz="1000" spc="-10" dirty="0">
                <a:solidFill>
                  <a:srgbClr val="0000FA"/>
                </a:solidFill>
                <a:latin typeface="Arial"/>
                <a:cs typeface="Arial"/>
              </a:rPr>
              <a:t>Sensor (and actuator) networks</a:t>
            </a:r>
            <a:r>
              <a:rPr sz="1000" spc="-10" dirty="0">
                <a:latin typeface="Arial"/>
                <a:cs typeface="Arial"/>
              </a:rPr>
              <a:t>:</a:t>
            </a:r>
            <a:r>
              <a:rPr sz="1000" spc="-5" dirty="0">
                <a:latin typeface="Arial"/>
                <a:cs typeface="Arial"/>
              </a:rPr>
              <a:t> </a:t>
            </a:r>
            <a:r>
              <a:rPr sz="1000" spc="-15" dirty="0">
                <a:latin typeface="Arial"/>
                <a:cs typeface="Arial"/>
              </a:rPr>
              <a:t>pervasive, </a:t>
            </a:r>
            <a:r>
              <a:rPr sz="1000" spc="-10" dirty="0">
                <a:latin typeface="Arial"/>
                <a:cs typeface="Arial"/>
              </a:rPr>
              <a:t>with emphasis on the </a:t>
            </a:r>
            <a:r>
              <a:rPr sz="1000" spc="-265" dirty="0">
                <a:latin typeface="Arial"/>
                <a:cs typeface="Arial"/>
              </a:rPr>
              <a:t> </a:t>
            </a:r>
            <a:r>
              <a:rPr sz="1000" spc="-5" dirty="0">
                <a:latin typeface="Arial"/>
                <a:cs typeface="Arial"/>
              </a:rPr>
              <a:t>actual (collaborative)</a:t>
            </a:r>
            <a:r>
              <a:rPr sz="1000" dirty="0">
                <a:latin typeface="Arial"/>
                <a:cs typeface="Arial"/>
              </a:rPr>
              <a:t> </a:t>
            </a:r>
            <a:r>
              <a:rPr sz="1000" spc="-5" dirty="0">
                <a:solidFill>
                  <a:srgbClr val="FA0000"/>
                </a:solidFill>
                <a:latin typeface="Arial"/>
                <a:cs typeface="Arial"/>
              </a:rPr>
              <a:t>sensing </a:t>
            </a:r>
            <a:r>
              <a:rPr sz="1000" spc="-5" dirty="0">
                <a:latin typeface="Arial"/>
                <a:cs typeface="Arial"/>
              </a:rPr>
              <a:t>and</a:t>
            </a:r>
            <a:r>
              <a:rPr sz="1000" dirty="0">
                <a:latin typeface="Arial"/>
                <a:cs typeface="Arial"/>
              </a:rPr>
              <a:t> </a:t>
            </a:r>
            <a:r>
              <a:rPr sz="1000" spc="-5" dirty="0">
                <a:solidFill>
                  <a:srgbClr val="FA0000"/>
                </a:solidFill>
                <a:latin typeface="Arial"/>
                <a:cs typeface="Arial"/>
              </a:rPr>
              <a:t>actuation</a:t>
            </a:r>
            <a:r>
              <a:rPr sz="1000" dirty="0">
                <a:solidFill>
                  <a:srgbClr val="FA0000"/>
                </a:solidFill>
                <a:latin typeface="Arial"/>
                <a:cs typeface="Arial"/>
              </a:rPr>
              <a:t> </a:t>
            </a:r>
            <a:r>
              <a:rPr sz="1000" spc="-5" dirty="0">
                <a:latin typeface="Arial"/>
                <a:cs typeface="Arial"/>
              </a:rPr>
              <a:t>of the</a:t>
            </a:r>
            <a:r>
              <a:rPr sz="1000" dirty="0">
                <a:latin typeface="Arial"/>
                <a:cs typeface="Arial"/>
              </a:rPr>
              <a:t> </a:t>
            </a:r>
            <a:r>
              <a:rPr sz="1000" spc="-5" dirty="0">
                <a:latin typeface="Arial"/>
                <a:cs typeface="Arial"/>
              </a:rPr>
              <a:t>environment.</a:t>
            </a:r>
            <a:endParaRPr sz="1000" dirty="0">
              <a:latin typeface="Arial"/>
              <a:cs typeface="Arial"/>
            </a:endParaRP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4165600" cy="243078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Ubiquitous</a:t>
            </a:r>
            <a:r>
              <a:rPr sz="1400" spc="-30"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a:lnSpc>
                <a:spcPct val="100000"/>
              </a:lnSpc>
            </a:pPr>
            <a:endParaRPr sz="1800" dirty="0">
              <a:latin typeface="Arial"/>
              <a:cs typeface="Arial"/>
            </a:endParaRPr>
          </a:p>
          <a:p>
            <a:pPr marL="264160">
              <a:lnSpc>
                <a:spcPct val="100000"/>
              </a:lnSpc>
              <a:spcBef>
                <a:spcPts val="1210"/>
              </a:spcBef>
            </a:pPr>
            <a:r>
              <a:rPr sz="1200" spc="-5" dirty="0">
                <a:solidFill>
                  <a:srgbClr val="3333B2"/>
                </a:solidFill>
                <a:latin typeface="Arial"/>
                <a:cs typeface="Arial"/>
              </a:rPr>
              <a:t>Core</a:t>
            </a:r>
            <a:r>
              <a:rPr sz="1200" spc="-40" dirty="0">
                <a:solidFill>
                  <a:srgbClr val="3333B2"/>
                </a:solidFill>
                <a:latin typeface="Arial"/>
                <a:cs typeface="Arial"/>
              </a:rPr>
              <a:t> </a:t>
            </a:r>
            <a:r>
              <a:rPr sz="1200" spc="-5" dirty="0">
                <a:solidFill>
                  <a:srgbClr val="3333B2"/>
                </a:solidFill>
                <a:latin typeface="Arial"/>
                <a:cs typeface="Arial"/>
              </a:rPr>
              <a:t>elements</a:t>
            </a:r>
            <a:endParaRPr sz="1200" dirty="0">
              <a:latin typeface="Arial"/>
              <a:cs typeface="Arial"/>
            </a:endParaRPr>
          </a:p>
          <a:p>
            <a:pPr marL="541655" marR="5080" indent="-175260">
              <a:lnSpc>
                <a:spcPct val="100000"/>
              </a:lnSpc>
              <a:spcBef>
                <a:spcPts val="545"/>
              </a:spcBef>
              <a:buClr>
                <a:srgbClr val="3333B2"/>
              </a:buClr>
              <a:buAutoNum type="arabicPeriod"/>
              <a:tabLst>
                <a:tab pos="542290" algn="l"/>
              </a:tabLst>
            </a:pPr>
            <a:r>
              <a:rPr sz="1000" spc="-15" dirty="0">
                <a:latin typeface="Arial"/>
                <a:cs typeface="Arial"/>
              </a:rPr>
              <a:t>(</a:t>
            </a:r>
            <a:r>
              <a:rPr sz="1000" b="1" spc="-15" dirty="0">
                <a:latin typeface="Arial"/>
                <a:cs typeface="Arial"/>
              </a:rPr>
              <a:t>Distribution</a:t>
            </a:r>
            <a:r>
              <a:rPr sz="1000" spc="-15" dirty="0">
                <a:latin typeface="Arial"/>
                <a:cs typeface="Arial"/>
              </a:rPr>
              <a:t>)</a:t>
            </a:r>
            <a:r>
              <a:rPr sz="1000" spc="5" dirty="0">
                <a:latin typeface="Arial"/>
                <a:cs typeface="Arial"/>
              </a:rPr>
              <a:t> </a:t>
            </a:r>
            <a:r>
              <a:rPr sz="1000" spc="-20" dirty="0">
                <a:latin typeface="Arial"/>
                <a:cs typeface="Arial"/>
              </a:rPr>
              <a:t>Devices</a:t>
            </a:r>
            <a:r>
              <a:rPr sz="1000" spc="10" dirty="0">
                <a:latin typeface="Arial"/>
                <a:cs typeface="Arial"/>
              </a:rPr>
              <a:t> </a:t>
            </a:r>
            <a:r>
              <a:rPr sz="1000" spc="-10" dirty="0">
                <a:latin typeface="Arial"/>
                <a:cs typeface="Arial"/>
              </a:rPr>
              <a:t>are</a:t>
            </a:r>
            <a:r>
              <a:rPr sz="1000" spc="10" dirty="0">
                <a:latin typeface="Arial"/>
                <a:cs typeface="Arial"/>
              </a:rPr>
              <a:t> </a:t>
            </a:r>
            <a:r>
              <a:rPr sz="1000" spc="-15" dirty="0">
                <a:latin typeface="Arial"/>
                <a:cs typeface="Arial"/>
              </a:rPr>
              <a:t>networked,</a:t>
            </a:r>
            <a:r>
              <a:rPr sz="1000" spc="10" dirty="0">
                <a:latin typeface="Arial"/>
                <a:cs typeface="Arial"/>
              </a:rPr>
              <a:t> </a:t>
            </a:r>
            <a:r>
              <a:rPr sz="1000" spc="-10" dirty="0">
                <a:latin typeface="Arial"/>
                <a:cs typeface="Arial"/>
              </a:rPr>
              <a:t>distributed,</a:t>
            </a:r>
            <a:r>
              <a:rPr sz="1000" spc="10" dirty="0">
                <a:latin typeface="Arial"/>
                <a:cs typeface="Arial"/>
              </a:rPr>
              <a:t> </a:t>
            </a:r>
            <a:r>
              <a:rPr sz="1000" spc="-15" dirty="0">
                <a:latin typeface="Arial"/>
                <a:cs typeface="Arial"/>
              </a:rPr>
              <a:t>and</a:t>
            </a:r>
            <a:r>
              <a:rPr sz="1000" spc="10" dirty="0">
                <a:latin typeface="Arial"/>
                <a:cs typeface="Arial"/>
              </a:rPr>
              <a:t> </a:t>
            </a:r>
            <a:r>
              <a:rPr sz="1000" spc="-15" dirty="0">
                <a:latin typeface="Arial"/>
                <a:cs typeface="Arial"/>
              </a:rPr>
              <a:t>accessible </a:t>
            </a:r>
            <a:r>
              <a:rPr sz="1000" spc="-260" dirty="0">
                <a:latin typeface="Arial"/>
                <a:cs typeface="Arial"/>
              </a:rPr>
              <a:t> </a:t>
            </a:r>
            <a:r>
              <a:rPr sz="1000" spc="-5" dirty="0">
                <a:latin typeface="Arial"/>
                <a:cs typeface="Arial"/>
              </a:rPr>
              <a:t>in</a:t>
            </a:r>
            <a:r>
              <a:rPr sz="1000" spc="-10" dirty="0">
                <a:latin typeface="Arial"/>
                <a:cs typeface="Arial"/>
              </a:rPr>
              <a:t> </a:t>
            </a:r>
            <a:r>
              <a:rPr sz="1000" spc="-5" dirty="0">
                <a:latin typeface="Arial"/>
                <a:cs typeface="Arial"/>
              </a:rPr>
              <a:t>a transparent manner</a:t>
            </a:r>
            <a:endParaRPr sz="1000" dirty="0">
              <a:latin typeface="Arial"/>
              <a:cs typeface="Arial"/>
            </a:endParaRPr>
          </a:p>
          <a:p>
            <a:pPr marL="541655" marR="204470" indent="-175260">
              <a:lnSpc>
                <a:spcPts val="1200"/>
              </a:lnSpc>
              <a:spcBef>
                <a:spcPts val="30"/>
              </a:spcBef>
              <a:buClr>
                <a:srgbClr val="3333B2"/>
              </a:buClr>
              <a:buAutoNum type="arabicPeriod"/>
              <a:tabLst>
                <a:tab pos="542290" algn="l"/>
              </a:tabLst>
            </a:pPr>
            <a:r>
              <a:rPr sz="1000" spc="-5" dirty="0">
                <a:latin typeface="Arial"/>
                <a:cs typeface="Arial"/>
              </a:rPr>
              <a:t>(</a:t>
            </a:r>
            <a:r>
              <a:rPr sz="1000" b="1" spc="-5" dirty="0">
                <a:latin typeface="Arial"/>
                <a:cs typeface="Arial"/>
              </a:rPr>
              <a:t>Interaction</a:t>
            </a:r>
            <a:r>
              <a:rPr sz="1000" spc="-5" dirty="0">
                <a:latin typeface="Arial"/>
                <a:cs typeface="Arial"/>
              </a:rPr>
              <a:t>)</a:t>
            </a:r>
            <a:r>
              <a:rPr sz="1000" dirty="0">
                <a:latin typeface="Arial"/>
                <a:cs typeface="Arial"/>
              </a:rPr>
              <a:t> </a:t>
            </a:r>
            <a:r>
              <a:rPr sz="1000" spc="-5" dirty="0">
                <a:latin typeface="Arial"/>
                <a:cs typeface="Arial"/>
              </a:rPr>
              <a:t>Interaction</a:t>
            </a:r>
            <a:r>
              <a:rPr sz="1000" dirty="0">
                <a:latin typeface="Arial"/>
                <a:cs typeface="Arial"/>
              </a:rPr>
              <a:t> </a:t>
            </a:r>
            <a:r>
              <a:rPr sz="1000" spc="-5" dirty="0">
                <a:latin typeface="Arial"/>
                <a:cs typeface="Arial"/>
              </a:rPr>
              <a:t>between</a:t>
            </a:r>
            <a:r>
              <a:rPr sz="1000" spc="5" dirty="0">
                <a:latin typeface="Arial"/>
                <a:cs typeface="Arial"/>
              </a:rPr>
              <a:t> </a:t>
            </a:r>
            <a:r>
              <a:rPr sz="1000" spc="-5" dirty="0">
                <a:latin typeface="Arial"/>
                <a:cs typeface="Arial"/>
              </a:rPr>
              <a:t>users</a:t>
            </a:r>
            <a:r>
              <a:rPr sz="1000" dirty="0">
                <a:latin typeface="Arial"/>
                <a:cs typeface="Arial"/>
              </a:rPr>
              <a:t> </a:t>
            </a:r>
            <a:r>
              <a:rPr sz="1000" spc="-5" dirty="0">
                <a:latin typeface="Arial"/>
                <a:cs typeface="Arial"/>
              </a:rPr>
              <a:t>and</a:t>
            </a:r>
            <a:r>
              <a:rPr sz="1000" spc="5" dirty="0">
                <a:latin typeface="Arial"/>
                <a:cs typeface="Arial"/>
              </a:rPr>
              <a:t> </a:t>
            </a:r>
            <a:r>
              <a:rPr sz="1000" spc="-10" dirty="0">
                <a:latin typeface="Arial"/>
                <a:cs typeface="Arial"/>
              </a:rPr>
              <a:t>devices</a:t>
            </a:r>
            <a:r>
              <a:rPr sz="1000"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highly </a:t>
            </a:r>
            <a:r>
              <a:rPr sz="1000" spc="-265" dirty="0">
                <a:latin typeface="Arial"/>
                <a:cs typeface="Arial"/>
              </a:rPr>
              <a:t> </a:t>
            </a:r>
            <a:r>
              <a:rPr sz="1000" spc="-5" dirty="0">
                <a:latin typeface="Arial"/>
                <a:cs typeface="Arial"/>
              </a:rPr>
              <a:t>unobtrusive</a:t>
            </a:r>
            <a:endParaRPr sz="1000" dirty="0">
              <a:latin typeface="Arial"/>
              <a:cs typeface="Arial"/>
            </a:endParaRPr>
          </a:p>
          <a:p>
            <a:pPr marL="541655" indent="-175895">
              <a:lnSpc>
                <a:spcPts val="1150"/>
              </a:lnSpc>
              <a:buClr>
                <a:srgbClr val="3333B2"/>
              </a:buClr>
              <a:buAutoNum type="arabicPeriod"/>
              <a:tabLst>
                <a:tab pos="542290" algn="l"/>
              </a:tabLst>
            </a:pPr>
            <a:r>
              <a:rPr sz="1000" spc="-5" dirty="0">
                <a:latin typeface="Arial"/>
                <a:cs typeface="Arial"/>
              </a:rPr>
              <a:t>(</a:t>
            </a:r>
            <a:r>
              <a:rPr sz="1000" b="1" spc="-5" dirty="0">
                <a:latin typeface="Arial"/>
                <a:cs typeface="Arial"/>
              </a:rPr>
              <a:t>Context awareness</a:t>
            </a:r>
            <a:r>
              <a:rPr sz="1000" spc="-5" dirty="0">
                <a:latin typeface="Arial"/>
                <a:cs typeface="Arial"/>
              </a:rPr>
              <a:t>)</a:t>
            </a:r>
            <a:r>
              <a:rPr sz="1000" dirty="0">
                <a:latin typeface="Arial"/>
                <a:cs typeface="Arial"/>
              </a:rPr>
              <a:t> </a:t>
            </a:r>
            <a:r>
              <a:rPr sz="1000" spc="-5" dirty="0">
                <a:latin typeface="Arial"/>
                <a:cs typeface="Arial"/>
              </a:rPr>
              <a:t>The system</a:t>
            </a:r>
            <a:r>
              <a:rPr sz="1000" dirty="0">
                <a:latin typeface="Arial"/>
                <a:cs typeface="Arial"/>
              </a:rPr>
              <a:t> </a:t>
            </a:r>
            <a:r>
              <a:rPr sz="1000" spc="-5" dirty="0">
                <a:latin typeface="Arial"/>
                <a:cs typeface="Arial"/>
              </a:rPr>
              <a:t>is </a:t>
            </a:r>
            <a:r>
              <a:rPr sz="1000" spc="-10" dirty="0">
                <a:latin typeface="Arial"/>
                <a:cs typeface="Arial"/>
              </a:rPr>
              <a:t>aware</a:t>
            </a:r>
            <a:r>
              <a:rPr sz="1000" dirty="0">
                <a:latin typeface="Arial"/>
                <a:cs typeface="Arial"/>
              </a:rPr>
              <a:t> </a:t>
            </a:r>
            <a:r>
              <a:rPr sz="1000" spc="-5" dirty="0">
                <a:latin typeface="Arial"/>
                <a:cs typeface="Arial"/>
              </a:rPr>
              <a:t>of a</a:t>
            </a:r>
            <a:r>
              <a:rPr sz="1000" dirty="0">
                <a:latin typeface="Arial"/>
                <a:cs typeface="Arial"/>
              </a:rPr>
              <a:t> </a:t>
            </a:r>
            <a:r>
              <a:rPr sz="1000" spc="-15" dirty="0">
                <a:latin typeface="Arial"/>
                <a:cs typeface="Arial"/>
              </a:rPr>
              <a:t>user’s</a:t>
            </a:r>
            <a:r>
              <a:rPr sz="1000" spc="-5" dirty="0">
                <a:latin typeface="Arial"/>
                <a:cs typeface="Arial"/>
              </a:rPr>
              <a:t> </a:t>
            </a:r>
            <a:r>
              <a:rPr sz="1000" spc="-10" dirty="0">
                <a:latin typeface="Arial"/>
                <a:cs typeface="Arial"/>
              </a:rPr>
              <a:t>context</a:t>
            </a:r>
            <a:r>
              <a:rPr sz="1000" dirty="0">
                <a:latin typeface="Arial"/>
                <a:cs typeface="Arial"/>
              </a:rPr>
              <a:t> </a:t>
            </a:r>
            <a:r>
              <a:rPr sz="1000" spc="-5" dirty="0">
                <a:latin typeface="Arial"/>
                <a:cs typeface="Arial"/>
              </a:rPr>
              <a:t>in</a:t>
            </a:r>
            <a:endParaRPr sz="1000" dirty="0">
              <a:latin typeface="Arial"/>
              <a:cs typeface="Arial"/>
            </a:endParaRPr>
          </a:p>
          <a:p>
            <a:pPr marL="541655">
              <a:lnSpc>
                <a:spcPts val="1195"/>
              </a:lnSpc>
            </a:pPr>
            <a:r>
              <a:rPr sz="1000" spc="-5" dirty="0">
                <a:latin typeface="Arial"/>
                <a:cs typeface="Arial"/>
              </a:rPr>
              <a:t>order</a:t>
            </a:r>
            <a:r>
              <a:rPr sz="1000" spc="-15" dirty="0">
                <a:latin typeface="Arial"/>
                <a:cs typeface="Arial"/>
              </a:rPr>
              <a:t> </a:t>
            </a:r>
            <a:r>
              <a:rPr sz="1000" spc="-5" dirty="0">
                <a:latin typeface="Arial"/>
                <a:cs typeface="Arial"/>
              </a:rPr>
              <a:t>to</a:t>
            </a:r>
            <a:r>
              <a:rPr sz="1000" spc="-15" dirty="0">
                <a:latin typeface="Arial"/>
                <a:cs typeface="Arial"/>
              </a:rPr>
              <a:t> </a:t>
            </a:r>
            <a:r>
              <a:rPr sz="1000" spc="-5" dirty="0">
                <a:latin typeface="Arial"/>
                <a:cs typeface="Arial"/>
              </a:rPr>
              <a:t>optimize</a:t>
            </a:r>
            <a:r>
              <a:rPr sz="1000" spc="-15" dirty="0">
                <a:latin typeface="Arial"/>
                <a:cs typeface="Arial"/>
              </a:rPr>
              <a:t> </a:t>
            </a:r>
            <a:r>
              <a:rPr sz="1000" spc="-5" dirty="0">
                <a:latin typeface="Arial"/>
                <a:cs typeface="Arial"/>
              </a:rPr>
              <a:t>interaction</a:t>
            </a:r>
            <a:endParaRPr sz="1000" dirty="0">
              <a:latin typeface="Arial"/>
              <a:cs typeface="Arial"/>
            </a:endParaRPr>
          </a:p>
          <a:p>
            <a:pPr marL="541655" marR="288290" indent="-175260">
              <a:lnSpc>
                <a:spcPts val="1200"/>
              </a:lnSpc>
              <a:spcBef>
                <a:spcPts val="35"/>
              </a:spcBef>
              <a:buClr>
                <a:srgbClr val="3333B2"/>
              </a:buClr>
              <a:buAutoNum type="arabicPeriod" startAt="4"/>
              <a:tabLst>
                <a:tab pos="542290" algn="l"/>
              </a:tabLst>
            </a:pPr>
            <a:r>
              <a:rPr sz="1000" spc="-10" dirty="0">
                <a:latin typeface="Arial"/>
                <a:cs typeface="Arial"/>
              </a:rPr>
              <a:t>(</a:t>
            </a:r>
            <a:r>
              <a:rPr sz="1000" b="1" spc="-10" dirty="0">
                <a:latin typeface="Arial"/>
                <a:cs typeface="Arial"/>
              </a:rPr>
              <a:t>Autonomy</a:t>
            </a:r>
            <a:r>
              <a:rPr sz="1000" spc="-10" dirty="0">
                <a:latin typeface="Arial"/>
                <a:cs typeface="Arial"/>
              </a:rPr>
              <a:t>)</a:t>
            </a:r>
            <a:r>
              <a:rPr sz="1000" spc="-5" dirty="0">
                <a:latin typeface="Arial"/>
                <a:cs typeface="Arial"/>
              </a:rPr>
              <a:t> </a:t>
            </a:r>
            <a:r>
              <a:rPr sz="1000" spc="-10" dirty="0">
                <a:latin typeface="Arial"/>
                <a:cs typeface="Arial"/>
              </a:rPr>
              <a:t>Devices</a:t>
            </a:r>
            <a:r>
              <a:rPr sz="1000" dirty="0">
                <a:latin typeface="Arial"/>
                <a:cs typeface="Arial"/>
              </a:rPr>
              <a:t> </a:t>
            </a:r>
            <a:r>
              <a:rPr sz="1000" spc="-5" dirty="0">
                <a:latin typeface="Arial"/>
                <a:cs typeface="Arial"/>
              </a:rPr>
              <a:t>operate</a:t>
            </a:r>
            <a:r>
              <a:rPr sz="1000" dirty="0">
                <a:latin typeface="Arial"/>
                <a:cs typeface="Arial"/>
              </a:rPr>
              <a:t> </a:t>
            </a:r>
            <a:r>
              <a:rPr sz="1000" spc="-5" dirty="0">
                <a:latin typeface="Arial"/>
                <a:cs typeface="Arial"/>
              </a:rPr>
              <a:t>autonomously</a:t>
            </a:r>
            <a:r>
              <a:rPr sz="1000" dirty="0">
                <a:latin typeface="Arial"/>
                <a:cs typeface="Arial"/>
              </a:rPr>
              <a:t> </a:t>
            </a:r>
            <a:r>
              <a:rPr sz="1000" spc="-5" dirty="0">
                <a:latin typeface="Arial"/>
                <a:cs typeface="Arial"/>
              </a:rPr>
              <a:t>without</a:t>
            </a:r>
            <a:r>
              <a:rPr sz="1000" dirty="0">
                <a:latin typeface="Arial"/>
                <a:cs typeface="Arial"/>
              </a:rPr>
              <a:t> </a:t>
            </a:r>
            <a:r>
              <a:rPr sz="1000" spc="-5" dirty="0">
                <a:latin typeface="Arial"/>
                <a:cs typeface="Arial"/>
              </a:rPr>
              <a:t>human </a:t>
            </a:r>
            <a:r>
              <a:rPr sz="1000" spc="-265" dirty="0">
                <a:latin typeface="Arial"/>
                <a:cs typeface="Arial"/>
              </a:rPr>
              <a:t> </a:t>
            </a:r>
            <a:r>
              <a:rPr sz="1000" spc="-5" dirty="0">
                <a:latin typeface="Arial"/>
                <a:cs typeface="Arial"/>
              </a:rPr>
              <a:t>intervention, and are thus highly</a:t>
            </a:r>
            <a:r>
              <a:rPr sz="1000" dirty="0">
                <a:latin typeface="Arial"/>
                <a:cs typeface="Arial"/>
              </a:rPr>
              <a:t> </a:t>
            </a:r>
            <a:r>
              <a:rPr sz="1000" spc="-5" dirty="0">
                <a:latin typeface="Arial"/>
                <a:cs typeface="Arial"/>
              </a:rPr>
              <a:t>self-managed</a:t>
            </a:r>
            <a:endParaRPr sz="1000" dirty="0">
              <a:latin typeface="Arial"/>
              <a:cs typeface="Arial"/>
            </a:endParaRPr>
          </a:p>
          <a:p>
            <a:pPr marL="541655" indent="-175895">
              <a:lnSpc>
                <a:spcPts val="1150"/>
              </a:lnSpc>
              <a:buClr>
                <a:srgbClr val="3333B2"/>
              </a:buClr>
              <a:buAutoNum type="arabicPeriod" startAt="4"/>
              <a:tabLst>
                <a:tab pos="542290" algn="l"/>
              </a:tabLst>
            </a:pPr>
            <a:r>
              <a:rPr sz="1000" spc="-10" dirty="0">
                <a:latin typeface="Arial"/>
                <a:cs typeface="Arial"/>
              </a:rPr>
              <a:t>(</a:t>
            </a:r>
            <a:r>
              <a:rPr sz="1000" b="1" spc="-10" dirty="0">
                <a:latin typeface="Arial"/>
                <a:cs typeface="Arial"/>
              </a:rPr>
              <a:t>Intelligence</a:t>
            </a:r>
            <a:r>
              <a:rPr sz="1000" spc="-10" dirty="0">
                <a:latin typeface="Arial"/>
                <a:cs typeface="Arial"/>
              </a:rPr>
              <a:t>)</a:t>
            </a:r>
            <a:r>
              <a:rPr sz="1000" spc="-5" dirty="0">
                <a:latin typeface="Arial"/>
                <a:cs typeface="Arial"/>
              </a:rPr>
              <a:t> </a:t>
            </a:r>
            <a:r>
              <a:rPr sz="1000" spc="-15" dirty="0">
                <a:latin typeface="Arial"/>
                <a:cs typeface="Arial"/>
              </a:rPr>
              <a:t>The</a:t>
            </a:r>
            <a:r>
              <a:rPr sz="1000" dirty="0">
                <a:latin typeface="Arial"/>
                <a:cs typeface="Arial"/>
              </a:rPr>
              <a:t> </a:t>
            </a:r>
            <a:r>
              <a:rPr sz="1000" spc="-15" dirty="0">
                <a:latin typeface="Arial"/>
                <a:cs typeface="Arial"/>
              </a:rPr>
              <a:t>system</a:t>
            </a:r>
            <a:r>
              <a:rPr sz="1000" dirty="0">
                <a:latin typeface="Arial"/>
                <a:cs typeface="Arial"/>
              </a:rPr>
              <a:t> </a:t>
            </a:r>
            <a:r>
              <a:rPr sz="1000" spc="-15" dirty="0">
                <a:latin typeface="Arial"/>
                <a:cs typeface="Arial"/>
              </a:rPr>
              <a:t>as</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whole</a:t>
            </a:r>
            <a:r>
              <a:rPr sz="1000" dirty="0">
                <a:latin typeface="Arial"/>
                <a:cs typeface="Arial"/>
              </a:rPr>
              <a:t> </a:t>
            </a:r>
            <a:r>
              <a:rPr sz="1000" spc="-15" dirty="0">
                <a:latin typeface="Arial"/>
                <a:cs typeface="Arial"/>
              </a:rPr>
              <a:t>can</a:t>
            </a:r>
            <a:r>
              <a:rPr sz="1000" dirty="0">
                <a:latin typeface="Arial"/>
                <a:cs typeface="Arial"/>
              </a:rPr>
              <a:t> </a:t>
            </a:r>
            <a:r>
              <a:rPr sz="1000" spc="-10" dirty="0">
                <a:latin typeface="Arial"/>
                <a:cs typeface="Arial"/>
              </a:rPr>
              <a:t>handle</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wide</a:t>
            </a:r>
            <a:r>
              <a:rPr sz="1000" dirty="0">
                <a:latin typeface="Arial"/>
                <a:cs typeface="Arial"/>
              </a:rPr>
              <a:t> </a:t>
            </a:r>
            <a:r>
              <a:rPr sz="1000" spc="-15" dirty="0">
                <a:latin typeface="Arial"/>
                <a:cs typeface="Arial"/>
              </a:rPr>
              <a:t>range</a:t>
            </a:r>
            <a:r>
              <a:rPr sz="1000" dirty="0">
                <a:latin typeface="Arial"/>
                <a:cs typeface="Arial"/>
              </a:rPr>
              <a:t> </a:t>
            </a:r>
            <a:r>
              <a:rPr sz="1000" spc="-10" dirty="0">
                <a:latin typeface="Arial"/>
                <a:cs typeface="Arial"/>
              </a:rPr>
              <a:t>of</a:t>
            </a:r>
            <a:endParaRPr sz="1000" dirty="0">
              <a:latin typeface="Arial"/>
              <a:cs typeface="Arial"/>
            </a:endParaRPr>
          </a:p>
          <a:p>
            <a:pPr marL="541655">
              <a:lnSpc>
                <a:spcPts val="1200"/>
              </a:lnSpc>
            </a:pPr>
            <a:r>
              <a:rPr sz="1000" spc="-5" dirty="0">
                <a:latin typeface="Arial"/>
                <a:cs typeface="Arial"/>
              </a:rPr>
              <a:t>dynamic</a:t>
            </a:r>
            <a:r>
              <a:rPr sz="1000" spc="-10" dirty="0">
                <a:latin typeface="Arial"/>
                <a:cs typeface="Arial"/>
              </a:rPr>
              <a:t> </a:t>
            </a:r>
            <a:r>
              <a:rPr sz="1000" spc="-5" dirty="0">
                <a:latin typeface="Arial"/>
                <a:cs typeface="Arial"/>
              </a:rPr>
              <a:t>actions</a:t>
            </a:r>
            <a:r>
              <a:rPr sz="1000" spc="-1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interactions</a:t>
            </a:r>
            <a:endParaRPr sz="1000" dirty="0">
              <a:latin typeface="Arial"/>
              <a:cs typeface="Arial"/>
            </a:endParaRPr>
          </a:p>
        </p:txBody>
      </p:sp>
      <p:sp>
        <p:nvSpPr>
          <p:cNvPr id="5" name="object 5"/>
          <p:cNvSpPr txBox="1"/>
          <p:nvPr/>
        </p:nvSpPr>
        <p:spPr>
          <a:xfrm>
            <a:off x="66713" y="3327684"/>
            <a:ext cx="10553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6" action="ppaction://hlinksldjump"/>
              </a:rPr>
              <a:t>Ubiquitous</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computing systems</a:t>
            </a:r>
            <a:endParaRPr sz="600">
              <a:latin typeface="Arial"/>
              <a:cs typeface="Arial"/>
            </a:endParaRPr>
          </a:p>
        </p:txBody>
      </p:sp>
      <p:sp>
        <p:nvSpPr>
          <p:cNvPr id="6" name="object 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56</a:t>
            </a:r>
            <a:endParaRPr sz="600">
              <a:latin typeface="Arial"/>
              <a:cs typeface="Arial"/>
            </a:endParaRP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66713" y="3331252"/>
            <a:ext cx="9201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Mobile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49</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6" action="ppaction://hlinksldjump"/>
              </a:rPr>
              <a:t>Pervasive</a:t>
            </a:r>
            <a:r>
              <a:rPr sz="600" spc="-3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systems</a:t>
            </a:r>
            <a:endParaRPr sz="600">
              <a:latin typeface="Arial"/>
              <a:cs typeface="Arial"/>
            </a:endParaRPr>
          </a:p>
        </p:txBody>
      </p:sp>
      <p:sp>
        <p:nvSpPr>
          <p:cNvPr id="4" name="object 4"/>
          <p:cNvSpPr txBox="1"/>
          <p:nvPr/>
        </p:nvSpPr>
        <p:spPr>
          <a:xfrm>
            <a:off x="95300" y="188846"/>
            <a:ext cx="145351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Mobile</a:t>
            </a:r>
            <a:r>
              <a:rPr sz="1400" spc="-50" dirty="0">
                <a:solidFill>
                  <a:srgbClr val="3333B2"/>
                </a:solidFill>
                <a:latin typeface="Arial"/>
                <a:cs typeface="Arial"/>
              </a:rPr>
              <a:t> </a:t>
            </a:r>
            <a:r>
              <a:rPr sz="1400" spc="15" dirty="0">
                <a:solidFill>
                  <a:srgbClr val="3333B2"/>
                </a:solidFill>
                <a:latin typeface="Arial"/>
                <a:cs typeface="Arial"/>
              </a:rPr>
              <a:t>computing</a:t>
            </a:r>
            <a:endParaRPr sz="1400" dirty="0">
              <a:latin typeface="Arial"/>
              <a:cs typeface="Arial"/>
            </a:endParaRPr>
          </a:p>
        </p:txBody>
      </p:sp>
      <p:sp>
        <p:nvSpPr>
          <p:cNvPr id="5" name="object 5"/>
          <p:cNvSpPr txBox="1"/>
          <p:nvPr/>
        </p:nvSpPr>
        <p:spPr>
          <a:xfrm>
            <a:off x="321894" y="800944"/>
            <a:ext cx="3964940" cy="892175"/>
          </a:xfrm>
          <a:prstGeom prst="rect">
            <a:avLst/>
          </a:prstGeom>
        </p:spPr>
        <p:txBody>
          <a:bodyPr vert="horz" wrap="square" lIns="0" tIns="95250" rIns="0" bIns="0" rtlCol="0">
            <a:spAutoFit/>
          </a:bodyPr>
          <a:lstStyle/>
          <a:p>
            <a:pPr marL="38100">
              <a:lnSpc>
                <a:spcPct val="100000"/>
              </a:lnSpc>
              <a:spcBef>
                <a:spcPts val="750"/>
              </a:spcBef>
            </a:pPr>
            <a:r>
              <a:rPr sz="1200" spc="-5" dirty="0">
                <a:solidFill>
                  <a:srgbClr val="3333B2"/>
                </a:solidFill>
                <a:latin typeface="Arial"/>
                <a:cs typeface="Arial"/>
              </a:rPr>
              <a:t>Distinctive</a:t>
            </a:r>
            <a:r>
              <a:rPr sz="1200" spc="-40" dirty="0">
                <a:solidFill>
                  <a:srgbClr val="3333B2"/>
                </a:solidFill>
                <a:latin typeface="Arial"/>
                <a:cs typeface="Arial"/>
              </a:rPr>
              <a:t> </a:t>
            </a:r>
            <a:r>
              <a:rPr sz="1200" spc="-10" dirty="0">
                <a:solidFill>
                  <a:srgbClr val="3333B2"/>
                </a:solidFill>
                <a:latin typeface="Arial"/>
                <a:cs typeface="Arial"/>
              </a:rPr>
              <a:t>features</a:t>
            </a:r>
            <a:endParaRPr sz="1200" dirty="0">
              <a:latin typeface="Arial"/>
              <a:cs typeface="Arial"/>
            </a:endParaRPr>
          </a:p>
          <a:p>
            <a:pPr marL="314960" marR="57150" indent="-168275">
              <a:lnSpc>
                <a:spcPct val="100000"/>
              </a:lnSpc>
              <a:spcBef>
                <a:spcPts val="545"/>
              </a:spcBef>
              <a:buClr>
                <a:srgbClr val="3333B2"/>
              </a:buClr>
              <a:buChar char="►"/>
              <a:tabLst>
                <a:tab pos="315595" algn="l"/>
              </a:tabLst>
            </a:pPr>
            <a:r>
              <a:rPr sz="1000" spc="-5" dirty="0">
                <a:latin typeface="Arial"/>
                <a:cs typeface="Arial"/>
              </a:rPr>
              <a:t>A</a:t>
            </a:r>
            <a:r>
              <a:rPr sz="1000" dirty="0">
                <a:latin typeface="Arial"/>
                <a:cs typeface="Arial"/>
              </a:rPr>
              <a:t> </a:t>
            </a:r>
            <a:r>
              <a:rPr sz="1000" spc="-5" dirty="0">
                <a:latin typeface="Arial"/>
                <a:cs typeface="Arial"/>
              </a:rPr>
              <a:t>myriad</a:t>
            </a:r>
            <a:r>
              <a:rPr sz="1000" spc="5"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different</a:t>
            </a:r>
            <a:r>
              <a:rPr sz="1000" dirty="0">
                <a:latin typeface="Arial"/>
                <a:cs typeface="Arial"/>
              </a:rPr>
              <a:t> </a:t>
            </a:r>
            <a:r>
              <a:rPr sz="1000" spc="-5" dirty="0">
                <a:latin typeface="Arial"/>
                <a:cs typeface="Arial"/>
              </a:rPr>
              <a:t>mobile</a:t>
            </a:r>
            <a:r>
              <a:rPr sz="1000" spc="5" dirty="0">
                <a:latin typeface="Arial"/>
                <a:cs typeface="Arial"/>
              </a:rPr>
              <a:t> </a:t>
            </a:r>
            <a:r>
              <a:rPr sz="1000" spc="-10" dirty="0">
                <a:latin typeface="Arial"/>
                <a:cs typeface="Arial"/>
              </a:rPr>
              <a:t>devices</a:t>
            </a:r>
            <a:r>
              <a:rPr sz="1000" spc="5" dirty="0">
                <a:latin typeface="Arial"/>
                <a:cs typeface="Arial"/>
              </a:rPr>
              <a:t> </a:t>
            </a:r>
            <a:r>
              <a:rPr sz="1000" spc="-5" dirty="0">
                <a:latin typeface="Arial"/>
                <a:cs typeface="Arial"/>
              </a:rPr>
              <a:t>(smartphones,</a:t>
            </a:r>
            <a:r>
              <a:rPr sz="1000" dirty="0">
                <a:latin typeface="Arial"/>
                <a:cs typeface="Arial"/>
              </a:rPr>
              <a:t> </a:t>
            </a:r>
            <a:r>
              <a:rPr sz="1000" spc="-10" dirty="0">
                <a:latin typeface="Arial"/>
                <a:cs typeface="Arial"/>
              </a:rPr>
              <a:t>tablets,</a:t>
            </a:r>
            <a:r>
              <a:rPr sz="1000" spc="5" dirty="0">
                <a:latin typeface="Arial"/>
                <a:cs typeface="Arial"/>
              </a:rPr>
              <a:t> </a:t>
            </a:r>
            <a:r>
              <a:rPr sz="1000" spc="-5" dirty="0">
                <a:latin typeface="Arial"/>
                <a:cs typeface="Arial"/>
              </a:rPr>
              <a:t>GPS </a:t>
            </a:r>
            <a:r>
              <a:rPr sz="1000" spc="-260" dirty="0">
                <a:latin typeface="Arial"/>
                <a:cs typeface="Arial"/>
              </a:rPr>
              <a:t> </a:t>
            </a:r>
            <a:r>
              <a:rPr sz="1000" spc="-10" dirty="0">
                <a:latin typeface="Arial"/>
                <a:cs typeface="Arial"/>
              </a:rPr>
              <a:t>devices, </a:t>
            </a:r>
            <a:r>
              <a:rPr sz="1000" spc="-5" dirty="0">
                <a:latin typeface="Arial"/>
                <a:cs typeface="Arial"/>
              </a:rPr>
              <a:t>remote controls, </a:t>
            </a:r>
            <a:r>
              <a:rPr sz="1000" spc="-10" dirty="0">
                <a:latin typeface="Arial"/>
                <a:cs typeface="Arial"/>
              </a:rPr>
              <a:t>active</a:t>
            </a:r>
            <a:r>
              <a:rPr sz="1000" spc="-5" dirty="0">
                <a:latin typeface="Arial"/>
                <a:cs typeface="Arial"/>
              </a:rPr>
              <a:t> badges.</a:t>
            </a:r>
            <a:endParaRPr sz="1000" dirty="0">
              <a:latin typeface="Arial"/>
              <a:cs typeface="Arial"/>
            </a:endParaRPr>
          </a:p>
          <a:p>
            <a:pPr marL="314960" indent="-168275">
              <a:lnSpc>
                <a:spcPct val="100000"/>
              </a:lnSpc>
              <a:spcBef>
                <a:spcPts val="585"/>
              </a:spcBef>
              <a:buClr>
                <a:srgbClr val="3333B2"/>
              </a:buClr>
              <a:buChar char="►"/>
              <a:tabLst>
                <a:tab pos="315595" algn="l"/>
              </a:tabLst>
            </a:pPr>
            <a:r>
              <a:rPr sz="1000" spc="-10" dirty="0">
                <a:latin typeface="Arial"/>
                <a:cs typeface="Arial"/>
              </a:rPr>
              <a:t>Mobile</a:t>
            </a:r>
            <a:r>
              <a:rPr sz="1000" dirty="0">
                <a:latin typeface="Arial"/>
                <a:cs typeface="Arial"/>
              </a:rPr>
              <a:t> </a:t>
            </a:r>
            <a:r>
              <a:rPr sz="1000" spc="-10" dirty="0">
                <a:latin typeface="Arial"/>
                <a:cs typeface="Arial"/>
              </a:rPr>
              <a:t>implies</a:t>
            </a:r>
            <a:r>
              <a:rPr sz="1000" dirty="0">
                <a:latin typeface="Arial"/>
                <a:cs typeface="Arial"/>
              </a:rPr>
              <a:t> </a:t>
            </a:r>
            <a:r>
              <a:rPr sz="1000" spc="-10" dirty="0">
                <a:latin typeface="Arial"/>
                <a:cs typeface="Arial"/>
              </a:rPr>
              <a:t>that</a:t>
            </a:r>
            <a:r>
              <a:rPr sz="1000" spc="5" dirty="0">
                <a:latin typeface="Arial"/>
                <a:cs typeface="Arial"/>
              </a:rPr>
              <a:t> </a:t>
            </a:r>
            <a:r>
              <a:rPr sz="1000" spc="-10" dirty="0">
                <a:latin typeface="Arial"/>
                <a:cs typeface="Arial"/>
              </a:rPr>
              <a:t>a</a:t>
            </a:r>
            <a:r>
              <a:rPr sz="1000" dirty="0">
                <a:latin typeface="Arial"/>
                <a:cs typeface="Arial"/>
              </a:rPr>
              <a:t> </a:t>
            </a:r>
            <a:r>
              <a:rPr sz="1000" spc="-20" dirty="0">
                <a:latin typeface="Arial"/>
                <a:cs typeface="Arial"/>
              </a:rPr>
              <a:t>device’s</a:t>
            </a:r>
            <a:r>
              <a:rPr sz="1000" spc="5" dirty="0">
                <a:latin typeface="Arial"/>
                <a:cs typeface="Arial"/>
              </a:rPr>
              <a:t> </a:t>
            </a:r>
            <a:r>
              <a:rPr sz="1000" spc="-10" dirty="0">
                <a:latin typeface="Arial"/>
                <a:cs typeface="Arial"/>
              </a:rPr>
              <a:t>location</a:t>
            </a:r>
            <a:r>
              <a:rPr sz="1000" dirty="0">
                <a:latin typeface="Arial"/>
                <a:cs typeface="Arial"/>
              </a:rPr>
              <a:t> </a:t>
            </a:r>
            <a:r>
              <a:rPr sz="1000" spc="-5" dirty="0">
                <a:latin typeface="Arial"/>
                <a:cs typeface="Arial"/>
              </a:rPr>
              <a:t>is</a:t>
            </a:r>
            <a:r>
              <a:rPr sz="1000" spc="5" dirty="0">
                <a:latin typeface="Arial"/>
                <a:cs typeface="Arial"/>
              </a:rPr>
              <a:t> </a:t>
            </a:r>
            <a:r>
              <a:rPr sz="1000" spc="-15" dirty="0">
                <a:latin typeface="Arial"/>
                <a:cs typeface="Arial"/>
              </a:rPr>
              <a:t>expected</a:t>
            </a:r>
            <a:r>
              <a:rPr sz="1000" dirty="0">
                <a:latin typeface="Arial"/>
                <a:cs typeface="Arial"/>
              </a:rPr>
              <a:t> </a:t>
            </a:r>
            <a:r>
              <a:rPr sz="1000" spc="-10" dirty="0">
                <a:latin typeface="Arial"/>
                <a:cs typeface="Arial"/>
              </a:rPr>
              <a:t>to</a:t>
            </a:r>
            <a:r>
              <a:rPr sz="1000" dirty="0">
                <a:latin typeface="Arial"/>
                <a:cs typeface="Arial"/>
              </a:rPr>
              <a:t> </a:t>
            </a:r>
            <a:r>
              <a:rPr sz="1000" spc="-10" dirty="0">
                <a:latin typeface="Arial"/>
                <a:cs typeface="Arial"/>
              </a:rPr>
              <a:t>change</a:t>
            </a:r>
            <a:r>
              <a:rPr sz="1000" spc="5" dirty="0">
                <a:latin typeface="Arial"/>
                <a:cs typeface="Arial"/>
              </a:rPr>
              <a:t> </a:t>
            </a:r>
            <a:r>
              <a:rPr sz="1000" spc="-20" dirty="0">
                <a:latin typeface="Arial"/>
                <a:cs typeface="Arial"/>
              </a:rPr>
              <a:t>over</a:t>
            </a:r>
            <a:endParaRPr sz="1000" dirty="0">
              <a:latin typeface="Arial"/>
              <a:cs typeface="Arial"/>
            </a:endParaRPr>
          </a:p>
        </p:txBody>
      </p:sp>
      <p:sp>
        <p:nvSpPr>
          <p:cNvPr id="6" name="object 6"/>
          <p:cNvSpPr txBox="1"/>
          <p:nvPr/>
        </p:nvSpPr>
        <p:spPr>
          <a:xfrm>
            <a:off x="624395" y="1667362"/>
            <a:ext cx="334772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time</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change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services,</a:t>
            </a:r>
            <a:r>
              <a:rPr sz="1000" spc="5" dirty="0">
                <a:latin typeface="Arial"/>
                <a:cs typeface="Arial"/>
              </a:rPr>
              <a:t> </a:t>
            </a:r>
            <a:r>
              <a:rPr sz="1000" spc="-10" dirty="0">
                <a:latin typeface="Arial"/>
                <a:cs typeface="Arial"/>
              </a:rPr>
              <a:t>reachability,</a:t>
            </a:r>
            <a:r>
              <a:rPr sz="1000" dirty="0">
                <a:latin typeface="Arial"/>
                <a:cs typeface="Arial"/>
              </a:rPr>
              <a:t> </a:t>
            </a:r>
            <a:r>
              <a:rPr sz="1000" spc="-5" dirty="0">
                <a:latin typeface="Arial"/>
                <a:cs typeface="Arial"/>
              </a:rPr>
              <a:t>etc.</a:t>
            </a:r>
            <a:r>
              <a:rPr sz="1000" spc="65" dirty="0">
                <a:latin typeface="Arial"/>
                <a:cs typeface="Arial"/>
              </a:rPr>
              <a:t> </a:t>
            </a:r>
            <a:r>
              <a:rPr sz="1000" spc="-15" dirty="0">
                <a:latin typeface="Arial"/>
                <a:cs typeface="Arial"/>
              </a:rPr>
              <a:t>Keyword:</a:t>
            </a:r>
            <a:endParaRPr sz="1000" dirty="0">
              <a:latin typeface="Arial"/>
              <a:cs typeface="Arial"/>
            </a:endParaRPr>
          </a:p>
        </p:txBody>
      </p:sp>
      <p:sp>
        <p:nvSpPr>
          <p:cNvPr id="7" name="object 7"/>
          <p:cNvSpPr txBox="1"/>
          <p:nvPr/>
        </p:nvSpPr>
        <p:spPr>
          <a:xfrm>
            <a:off x="431304" y="1743297"/>
            <a:ext cx="3784600" cy="481330"/>
          </a:xfrm>
          <a:prstGeom prst="rect">
            <a:avLst/>
          </a:prstGeom>
        </p:spPr>
        <p:txBody>
          <a:bodyPr vert="horz" wrap="square" lIns="0" tIns="87630" rIns="0" bIns="0" rtlCol="0">
            <a:spAutoFit/>
          </a:bodyPr>
          <a:lstStyle/>
          <a:p>
            <a:pPr marL="205740">
              <a:lnSpc>
                <a:spcPct val="100000"/>
              </a:lnSpc>
              <a:spcBef>
                <a:spcPts val="690"/>
              </a:spcBef>
            </a:pPr>
            <a:r>
              <a:rPr sz="1000" spc="-5" dirty="0">
                <a:solidFill>
                  <a:srgbClr val="FA0000"/>
                </a:solidFill>
                <a:latin typeface="Arial"/>
                <a:cs typeface="Arial"/>
              </a:rPr>
              <a:t>discovery</a:t>
            </a:r>
            <a:r>
              <a:rPr sz="1000" spc="-5" dirty="0">
                <a:latin typeface="Arial"/>
                <a:cs typeface="Arial"/>
              </a:rPr>
              <a:t>.</a:t>
            </a:r>
            <a:endParaRPr sz="1000" dirty="0">
              <a:latin typeface="Arial"/>
              <a:cs typeface="Arial"/>
            </a:endParaRPr>
          </a:p>
          <a:p>
            <a:pPr marL="205740" indent="-168275">
              <a:lnSpc>
                <a:spcPct val="100000"/>
              </a:lnSpc>
              <a:spcBef>
                <a:spcPts val="595"/>
              </a:spcBef>
              <a:buClr>
                <a:srgbClr val="3333B2"/>
              </a:buClr>
              <a:buChar char="►"/>
              <a:tabLst>
                <a:tab pos="206375" algn="l"/>
              </a:tabLst>
            </a:pPr>
            <a:r>
              <a:rPr sz="1000" spc="-5" dirty="0">
                <a:latin typeface="Arial"/>
                <a:cs typeface="Arial"/>
              </a:rPr>
              <a:t>Communication </a:t>
            </a:r>
            <a:r>
              <a:rPr sz="1000" spc="-15" dirty="0">
                <a:latin typeface="Arial"/>
                <a:cs typeface="Arial"/>
              </a:rPr>
              <a:t>may</a:t>
            </a:r>
            <a:r>
              <a:rPr sz="1000" dirty="0">
                <a:latin typeface="Arial"/>
                <a:cs typeface="Arial"/>
              </a:rPr>
              <a:t> </a:t>
            </a:r>
            <a:r>
              <a:rPr sz="1000" spc="-5" dirty="0">
                <a:latin typeface="Arial"/>
                <a:cs typeface="Arial"/>
              </a:rPr>
              <a:t>become</a:t>
            </a:r>
            <a:r>
              <a:rPr sz="1000" dirty="0">
                <a:latin typeface="Arial"/>
                <a:cs typeface="Arial"/>
              </a:rPr>
              <a:t> </a:t>
            </a:r>
            <a:r>
              <a:rPr sz="1000" spc="-5" dirty="0">
                <a:latin typeface="Arial"/>
                <a:cs typeface="Arial"/>
              </a:rPr>
              <a:t>more</a:t>
            </a:r>
            <a:r>
              <a:rPr sz="1000" dirty="0">
                <a:latin typeface="Arial"/>
                <a:cs typeface="Arial"/>
              </a:rPr>
              <a:t> </a:t>
            </a:r>
            <a:r>
              <a:rPr sz="1000" spc="-5" dirty="0">
                <a:latin typeface="Arial"/>
                <a:cs typeface="Arial"/>
              </a:rPr>
              <a:t>difficult:</a:t>
            </a:r>
            <a:r>
              <a:rPr sz="1000" spc="70" dirty="0">
                <a:latin typeface="Arial"/>
                <a:cs typeface="Arial"/>
              </a:rPr>
              <a:t> </a:t>
            </a:r>
            <a:r>
              <a:rPr sz="1000" spc="-5" dirty="0">
                <a:latin typeface="Arial"/>
                <a:cs typeface="Arial"/>
              </a:rPr>
              <a:t>no </a:t>
            </a:r>
            <a:r>
              <a:rPr sz="1000" spc="-10" dirty="0">
                <a:latin typeface="Arial"/>
                <a:cs typeface="Arial"/>
              </a:rPr>
              <a:t>stable</a:t>
            </a:r>
            <a:r>
              <a:rPr sz="1000" dirty="0">
                <a:latin typeface="Arial"/>
                <a:cs typeface="Arial"/>
              </a:rPr>
              <a:t> </a:t>
            </a:r>
            <a:r>
              <a:rPr sz="1000" spc="-5" dirty="0">
                <a:latin typeface="Arial"/>
                <a:cs typeface="Arial"/>
              </a:rPr>
              <a:t>route,</a:t>
            </a:r>
            <a:r>
              <a:rPr sz="1000" dirty="0">
                <a:latin typeface="Arial"/>
                <a:cs typeface="Arial"/>
              </a:rPr>
              <a:t> </a:t>
            </a:r>
            <a:r>
              <a:rPr sz="1000" spc="-10" dirty="0">
                <a:latin typeface="Arial"/>
                <a:cs typeface="Arial"/>
              </a:rPr>
              <a:t>but</a:t>
            </a:r>
            <a:endParaRPr sz="1000" dirty="0">
              <a:latin typeface="Arial"/>
              <a:cs typeface="Arial"/>
            </a:endParaRPr>
          </a:p>
        </p:txBody>
      </p:sp>
      <p:sp>
        <p:nvSpPr>
          <p:cNvPr id="8" name="object 8"/>
          <p:cNvSpPr txBox="1"/>
          <p:nvPr/>
        </p:nvSpPr>
        <p:spPr>
          <a:xfrm>
            <a:off x="624395" y="2198781"/>
            <a:ext cx="3505835" cy="329565"/>
          </a:xfrm>
          <a:prstGeom prst="rect">
            <a:avLst/>
          </a:prstGeom>
        </p:spPr>
        <p:txBody>
          <a:bodyPr vert="horz" wrap="square" lIns="0" tIns="12065" rIns="0" bIns="0" rtlCol="0">
            <a:spAutoFit/>
          </a:bodyPr>
          <a:lstStyle/>
          <a:p>
            <a:pPr marL="12700" marR="5080">
              <a:lnSpc>
                <a:spcPct val="100000"/>
              </a:lnSpc>
              <a:spcBef>
                <a:spcPts val="95"/>
              </a:spcBef>
            </a:pPr>
            <a:r>
              <a:rPr sz="1000" spc="-5" dirty="0">
                <a:latin typeface="Arial"/>
                <a:cs typeface="Arial"/>
              </a:rPr>
              <a:t>also</a:t>
            </a:r>
            <a:r>
              <a:rPr sz="1000" spc="5" dirty="0">
                <a:latin typeface="Arial"/>
                <a:cs typeface="Arial"/>
              </a:rPr>
              <a:t> </a:t>
            </a:r>
            <a:r>
              <a:rPr sz="1000" spc="-5" dirty="0">
                <a:latin typeface="Arial"/>
                <a:cs typeface="Arial"/>
              </a:rPr>
              <a:t>perhaps</a:t>
            </a:r>
            <a:r>
              <a:rPr sz="1000" spc="5" dirty="0">
                <a:latin typeface="Arial"/>
                <a:cs typeface="Arial"/>
              </a:rPr>
              <a:t> </a:t>
            </a:r>
            <a:r>
              <a:rPr sz="1000" spc="-5" dirty="0">
                <a:latin typeface="Arial"/>
                <a:cs typeface="Arial"/>
              </a:rPr>
              <a:t>no</a:t>
            </a:r>
            <a:r>
              <a:rPr sz="1000" spc="5" dirty="0">
                <a:latin typeface="Arial"/>
                <a:cs typeface="Arial"/>
              </a:rPr>
              <a:t> </a:t>
            </a:r>
            <a:r>
              <a:rPr sz="1000" spc="-5" dirty="0">
                <a:latin typeface="Arial"/>
                <a:cs typeface="Arial"/>
              </a:rPr>
              <a:t>guaranteed</a:t>
            </a:r>
            <a:r>
              <a:rPr sz="1000" spc="5" dirty="0">
                <a:latin typeface="Arial"/>
                <a:cs typeface="Arial"/>
              </a:rPr>
              <a:t> </a:t>
            </a:r>
            <a:r>
              <a:rPr sz="1000" spc="-5" dirty="0">
                <a:latin typeface="Arial"/>
                <a:cs typeface="Arial"/>
              </a:rPr>
              <a:t>connectivity</a:t>
            </a:r>
            <a:r>
              <a:rPr sz="1000" spc="5" dirty="0">
                <a:latin typeface="Arial"/>
                <a:cs typeface="Arial"/>
              </a:rPr>
              <a:t> </a:t>
            </a:r>
            <a:r>
              <a:rPr sz="1000" i="1" spc="-5" dirty="0">
                <a:latin typeface="メイリオ"/>
                <a:cs typeface="メイリオ"/>
              </a:rPr>
              <a:t>⇒</a:t>
            </a:r>
            <a:r>
              <a:rPr sz="1000" i="1" spc="-55" dirty="0">
                <a:latin typeface="メイリオ"/>
                <a:cs typeface="メイリオ"/>
              </a:rPr>
              <a:t> </a:t>
            </a:r>
            <a:r>
              <a:rPr sz="1000" spc="-5" dirty="0">
                <a:solidFill>
                  <a:srgbClr val="FA0000"/>
                </a:solidFill>
                <a:latin typeface="Arial"/>
                <a:cs typeface="Arial"/>
              </a:rPr>
              <a:t>disruption-tolerant </a:t>
            </a:r>
            <a:r>
              <a:rPr sz="1000" spc="-265" dirty="0">
                <a:solidFill>
                  <a:srgbClr val="FA0000"/>
                </a:solidFill>
                <a:latin typeface="Arial"/>
                <a:cs typeface="Arial"/>
              </a:rPr>
              <a:t> </a:t>
            </a:r>
            <a:r>
              <a:rPr sz="1000" spc="-5" dirty="0">
                <a:solidFill>
                  <a:srgbClr val="FA0000"/>
                </a:solidFill>
                <a:latin typeface="Arial"/>
                <a:cs typeface="Arial"/>
              </a:rPr>
              <a:t>networking</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9201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Mobile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computing</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50</a:t>
            </a:r>
            <a:r>
              <a:rPr spc="-40" dirty="0"/>
              <a:t> </a:t>
            </a:r>
            <a:r>
              <a:rPr spc="-5" dirty="0"/>
              <a:t>/</a:t>
            </a:r>
            <a:r>
              <a:rPr spc="-35" dirty="0"/>
              <a:t> </a:t>
            </a:r>
            <a:r>
              <a:rPr spc="-5" dirty="0"/>
              <a:t>56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34129" algn="l"/>
              </a:tabLst>
            </a:pPr>
            <a:r>
              <a:rPr sz="600" spc="-5" dirty="0">
                <a:solidFill>
                  <a:srgbClr val="3333B2"/>
                </a:solidFill>
                <a:latin typeface="Arial"/>
                <a:cs typeface="Arial"/>
                <a:hlinkClick r:id="rId4"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5" action="ppaction://hlinksldjump"/>
              </a:rPr>
              <a:t>Types</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of</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r>
              <a:rPr sz="600" spc="-5" dirty="0">
                <a:solidFill>
                  <a:srgbClr val="3333B2"/>
                </a:solidFill>
                <a:latin typeface="Arial"/>
                <a:cs typeface="Arial"/>
              </a:rPr>
              <a:t>	</a:t>
            </a:r>
            <a:r>
              <a:rPr sz="600" spc="-10" dirty="0">
                <a:solidFill>
                  <a:srgbClr val="262685"/>
                </a:solidFill>
                <a:latin typeface="Arial"/>
                <a:cs typeface="Arial"/>
                <a:hlinkClick r:id="rId6" action="ppaction://hlinksldjump"/>
              </a:rPr>
              <a:t>Pervasive</a:t>
            </a:r>
            <a:r>
              <a:rPr sz="600" spc="-2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1356360" cy="244475"/>
          </a:xfrm>
          <a:prstGeom prst="rect">
            <a:avLst/>
          </a:prstGeom>
        </p:spPr>
        <p:txBody>
          <a:bodyPr vert="horz" wrap="square" lIns="0" tIns="17145" rIns="0" bIns="0" rtlCol="0">
            <a:spAutoFit/>
          </a:bodyPr>
          <a:lstStyle/>
          <a:p>
            <a:pPr marL="12700">
              <a:lnSpc>
                <a:spcPct val="100000"/>
              </a:lnSpc>
              <a:spcBef>
                <a:spcPts val="135"/>
              </a:spcBef>
            </a:pPr>
            <a:r>
              <a:rPr spc="10" dirty="0"/>
              <a:t>Mobility</a:t>
            </a:r>
            <a:r>
              <a:rPr spc="-50" dirty="0"/>
              <a:t> </a:t>
            </a:r>
            <a:r>
              <a:rPr spc="20" dirty="0"/>
              <a:t>patterns</a:t>
            </a:r>
          </a:p>
        </p:txBody>
      </p:sp>
      <p:sp>
        <p:nvSpPr>
          <p:cNvPr id="4" name="object 4"/>
          <p:cNvSpPr txBox="1"/>
          <p:nvPr/>
        </p:nvSpPr>
        <p:spPr>
          <a:xfrm>
            <a:off x="315950" y="598764"/>
            <a:ext cx="3970654" cy="2459355"/>
          </a:xfrm>
          <a:prstGeom prst="rect">
            <a:avLst/>
          </a:prstGeom>
        </p:spPr>
        <p:txBody>
          <a:bodyPr vert="horz" wrap="square" lIns="0" tIns="12065" rIns="0" bIns="0" rtlCol="0">
            <a:spAutoFit/>
          </a:bodyPr>
          <a:lstStyle/>
          <a:p>
            <a:pPr marL="43815">
              <a:lnSpc>
                <a:spcPts val="1410"/>
              </a:lnSpc>
              <a:spcBef>
                <a:spcPts val="95"/>
              </a:spcBef>
            </a:pPr>
            <a:r>
              <a:rPr sz="1200" spc="-5" dirty="0">
                <a:solidFill>
                  <a:srgbClr val="3333B2"/>
                </a:solidFill>
                <a:latin typeface="Arial"/>
                <a:cs typeface="Arial"/>
              </a:rPr>
              <a:t>Issue</a:t>
            </a:r>
            <a:endParaRPr sz="1200" dirty="0">
              <a:latin typeface="Arial"/>
              <a:cs typeface="Arial"/>
            </a:endParaRPr>
          </a:p>
          <a:p>
            <a:pPr marL="43815" marR="30480" indent="-6350">
              <a:lnSpc>
                <a:spcPts val="1200"/>
              </a:lnSpc>
              <a:spcBef>
                <a:spcPts val="10"/>
              </a:spcBef>
            </a:pPr>
            <a:r>
              <a:rPr sz="1000" spc="-15" dirty="0">
                <a:latin typeface="Arial"/>
                <a:cs typeface="Arial"/>
              </a:rPr>
              <a:t>What</a:t>
            </a:r>
            <a:r>
              <a:rPr sz="1000" dirty="0">
                <a:latin typeface="Arial"/>
                <a:cs typeface="Arial"/>
              </a:rPr>
              <a:t> </a:t>
            </a:r>
            <a:r>
              <a:rPr sz="1000" spc="-10" dirty="0">
                <a:latin typeface="Arial"/>
                <a:cs typeface="Arial"/>
              </a:rPr>
              <a:t>is</a:t>
            </a:r>
            <a:r>
              <a:rPr sz="1000" dirty="0">
                <a:latin typeface="Arial"/>
                <a:cs typeface="Arial"/>
              </a:rPr>
              <a:t> </a:t>
            </a:r>
            <a:r>
              <a:rPr sz="1000" spc="-15" dirty="0">
                <a:latin typeface="Arial"/>
                <a:cs typeface="Arial"/>
              </a:rPr>
              <a:t>the</a:t>
            </a:r>
            <a:r>
              <a:rPr sz="1000" dirty="0">
                <a:latin typeface="Arial"/>
                <a:cs typeface="Arial"/>
              </a:rPr>
              <a:t> </a:t>
            </a:r>
            <a:r>
              <a:rPr sz="1000" spc="-10" dirty="0">
                <a:latin typeface="Arial"/>
                <a:cs typeface="Arial"/>
              </a:rPr>
              <a:t>relationship</a:t>
            </a:r>
            <a:r>
              <a:rPr sz="1000" dirty="0">
                <a:latin typeface="Arial"/>
                <a:cs typeface="Arial"/>
              </a:rPr>
              <a:t> </a:t>
            </a:r>
            <a:r>
              <a:rPr sz="1000" spc="-15" dirty="0">
                <a:latin typeface="Arial"/>
                <a:cs typeface="Arial"/>
              </a:rPr>
              <a:t>between</a:t>
            </a:r>
            <a:r>
              <a:rPr sz="1000" dirty="0">
                <a:latin typeface="Arial"/>
                <a:cs typeface="Arial"/>
              </a:rPr>
              <a:t> </a:t>
            </a:r>
            <a:r>
              <a:rPr sz="1000" spc="-15" dirty="0">
                <a:latin typeface="Arial"/>
                <a:cs typeface="Arial"/>
              </a:rPr>
              <a:t>information</a:t>
            </a:r>
            <a:r>
              <a:rPr sz="1000" dirty="0">
                <a:latin typeface="Arial"/>
                <a:cs typeface="Arial"/>
              </a:rPr>
              <a:t> </a:t>
            </a:r>
            <a:r>
              <a:rPr sz="1000" spc="-15" dirty="0">
                <a:latin typeface="Arial"/>
                <a:cs typeface="Arial"/>
              </a:rPr>
              <a:t>dissemination</a:t>
            </a:r>
            <a:r>
              <a:rPr sz="1000" dirty="0">
                <a:latin typeface="Arial"/>
                <a:cs typeface="Arial"/>
              </a:rPr>
              <a:t> </a:t>
            </a:r>
            <a:r>
              <a:rPr sz="1000" spc="-15" dirty="0">
                <a:latin typeface="Arial"/>
                <a:cs typeface="Arial"/>
              </a:rPr>
              <a:t>and</a:t>
            </a:r>
            <a:r>
              <a:rPr sz="1000" dirty="0">
                <a:latin typeface="Arial"/>
                <a:cs typeface="Arial"/>
              </a:rPr>
              <a:t> </a:t>
            </a:r>
            <a:r>
              <a:rPr sz="1000" spc="-15" dirty="0">
                <a:latin typeface="Arial"/>
                <a:cs typeface="Arial"/>
              </a:rPr>
              <a:t>human </a:t>
            </a:r>
            <a:r>
              <a:rPr sz="1000" spc="-260" dirty="0">
                <a:latin typeface="Arial"/>
                <a:cs typeface="Arial"/>
              </a:rPr>
              <a:t> </a:t>
            </a:r>
            <a:r>
              <a:rPr sz="1000" spc="-5" dirty="0">
                <a:latin typeface="Arial"/>
                <a:cs typeface="Arial"/>
              </a:rPr>
              <a:t>mobility?</a:t>
            </a:r>
            <a:r>
              <a:rPr sz="1000" spc="60" dirty="0">
                <a:latin typeface="Arial"/>
                <a:cs typeface="Arial"/>
              </a:rPr>
              <a:t> </a:t>
            </a:r>
            <a:r>
              <a:rPr sz="1000" spc="-5" dirty="0">
                <a:solidFill>
                  <a:srgbClr val="0000FA"/>
                </a:solidFill>
                <a:latin typeface="Arial"/>
                <a:cs typeface="Arial"/>
              </a:rPr>
              <a:t>Basic</a:t>
            </a:r>
            <a:r>
              <a:rPr sz="1000" dirty="0">
                <a:solidFill>
                  <a:srgbClr val="0000FA"/>
                </a:solidFill>
                <a:latin typeface="Arial"/>
                <a:cs typeface="Arial"/>
              </a:rPr>
              <a:t> </a:t>
            </a:r>
            <a:r>
              <a:rPr sz="1000" spc="-5" dirty="0">
                <a:solidFill>
                  <a:srgbClr val="0000FA"/>
                </a:solidFill>
                <a:latin typeface="Arial"/>
                <a:cs typeface="Arial"/>
              </a:rPr>
              <a:t>idea</a:t>
            </a:r>
            <a:r>
              <a:rPr sz="1000" spc="-5" dirty="0">
                <a:latin typeface="Arial"/>
                <a:cs typeface="Arial"/>
              </a:rPr>
              <a:t>:</a:t>
            </a:r>
            <a:r>
              <a:rPr sz="1000" spc="6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encounter allows</a:t>
            </a:r>
            <a:r>
              <a:rPr sz="1000" dirty="0">
                <a:latin typeface="Arial"/>
                <a:cs typeface="Arial"/>
              </a:rPr>
              <a:t> </a:t>
            </a:r>
            <a:r>
              <a:rPr sz="1000" spc="-15" dirty="0">
                <a:latin typeface="Arial"/>
                <a:cs typeface="Arial"/>
              </a:rPr>
              <a:t>for</a:t>
            </a:r>
            <a:r>
              <a:rPr sz="1000" spc="-5" dirty="0">
                <a:latin typeface="Arial"/>
                <a:cs typeface="Arial"/>
              </a:rPr>
              <a:t> the</a:t>
            </a:r>
            <a:r>
              <a:rPr sz="1000" dirty="0">
                <a:latin typeface="Arial"/>
                <a:cs typeface="Arial"/>
              </a:rPr>
              <a:t> </a:t>
            </a:r>
            <a:r>
              <a:rPr sz="1000" spc="-10" dirty="0">
                <a:latin typeface="Arial"/>
                <a:cs typeface="Arial"/>
              </a:rPr>
              <a:t>exchange</a:t>
            </a:r>
            <a:r>
              <a:rPr sz="1000" spc="-5" dirty="0">
                <a:latin typeface="Arial"/>
                <a:cs typeface="Arial"/>
              </a:rPr>
              <a:t> of </a:t>
            </a:r>
            <a:r>
              <a:rPr sz="1000" dirty="0">
                <a:latin typeface="Arial"/>
                <a:cs typeface="Arial"/>
              </a:rPr>
              <a:t> </a:t>
            </a:r>
            <a:r>
              <a:rPr sz="1000" spc="-5" dirty="0">
                <a:latin typeface="Arial"/>
                <a:cs typeface="Arial"/>
              </a:rPr>
              <a:t>information </a:t>
            </a:r>
            <a:r>
              <a:rPr sz="1000" spc="-10" dirty="0">
                <a:latin typeface="Arial"/>
                <a:cs typeface="Arial"/>
              </a:rPr>
              <a:t>(</a:t>
            </a:r>
            <a:r>
              <a:rPr sz="1000" spc="-10" dirty="0">
                <a:solidFill>
                  <a:srgbClr val="FA0000"/>
                </a:solidFill>
                <a:latin typeface="Arial"/>
                <a:cs typeface="Arial"/>
              </a:rPr>
              <a:t>pocket-switched</a:t>
            </a:r>
            <a:r>
              <a:rPr sz="1000" spc="-5" dirty="0">
                <a:solidFill>
                  <a:srgbClr val="FA0000"/>
                </a:solidFill>
                <a:latin typeface="Arial"/>
                <a:cs typeface="Arial"/>
              </a:rPr>
              <a:t> networks</a:t>
            </a:r>
            <a:r>
              <a:rPr sz="1000" spc="-5" dirty="0">
                <a:latin typeface="Arial"/>
                <a:cs typeface="Arial"/>
              </a:rPr>
              <a:t>).</a:t>
            </a:r>
            <a:endParaRPr sz="1000" dirty="0">
              <a:latin typeface="Arial"/>
              <a:cs typeface="Arial"/>
            </a:endParaRPr>
          </a:p>
          <a:p>
            <a:pPr marL="38735">
              <a:lnSpc>
                <a:spcPct val="100000"/>
              </a:lnSpc>
              <a:spcBef>
                <a:spcPts val="645"/>
              </a:spcBef>
            </a:pPr>
            <a:r>
              <a:rPr sz="1200" spc="-5" dirty="0">
                <a:solidFill>
                  <a:srgbClr val="3333B2"/>
                </a:solidFill>
                <a:latin typeface="Arial"/>
                <a:cs typeface="Arial"/>
              </a:rPr>
              <a:t>A</a:t>
            </a:r>
            <a:r>
              <a:rPr sz="1200" spc="-25" dirty="0">
                <a:solidFill>
                  <a:srgbClr val="3333B2"/>
                </a:solidFill>
                <a:latin typeface="Arial"/>
                <a:cs typeface="Arial"/>
              </a:rPr>
              <a:t> </a:t>
            </a:r>
            <a:r>
              <a:rPr sz="1200" spc="-5" dirty="0">
                <a:solidFill>
                  <a:srgbClr val="3333B2"/>
                </a:solidFill>
                <a:latin typeface="Arial"/>
                <a:cs typeface="Arial"/>
              </a:rPr>
              <a:t>successful</a:t>
            </a:r>
            <a:r>
              <a:rPr sz="1200" spc="-25" dirty="0">
                <a:solidFill>
                  <a:srgbClr val="3333B2"/>
                </a:solidFill>
                <a:latin typeface="Arial"/>
                <a:cs typeface="Arial"/>
              </a:rPr>
              <a:t> </a:t>
            </a:r>
            <a:r>
              <a:rPr sz="1200" spc="-5" dirty="0">
                <a:solidFill>
                  <a:srgbClr val="3333B2"/>
                </a:solidFill>
                <a:latin typeface="Arial"/>
                <a:cs typeface="Arial"/>
              </a:rPr>
              <a:t>strategy</a:t>
            </a:r>
            <a:endParaRPr sz="1200" dirty="0">
              <a:latin typeface="Arial"/>
              <a:cs typeface="Arial"/>
            </a:endParaRPr>
          </a:p>
          <a:p>
            <a:pPr marL="320675" indent="-168275">
              <a:lnSpc>
                <a:spcPct val="100000"/>
              </a:lnSpc>
              <a:spcBef>
                <a:spcPts val="790"/>
              </a:spcBef>
              <a:buClr>
                <a:srgbClr val="3333B2"/>
              </a:buClr>
              <a:buChar char="►"/>
              <a:tabLst>
                <a:tab pos="321310" algn="l"/>
              </a:tabLst>
            </a:pPr>
            <a:r>
              <a:rPr sz="1000" spc="-10" dirty="0">
                <a:latin typeface="Arial"/>
                <a:cs typeface="Arial"/>
              </a:rPr>
              <a:t>Alice’s</a:t>
            </a:r>
            <a:r>
              <a:rPr sz="1000" spc="-5" dirty="0">
                <a:latin typeface="Arial"/>
                <a:cs typeface="Arial"/>
              </a:rPr>
              <a:t> world</a:t>
            </a:r>
            <a:r>
              <a:rPr sz="1000" dirty="0">
                <a:latin typeface="Arial"/>
                <a:cs typeface="Arial"/>
              </a:rPr>
              <a:t> </a:t>
            </a:r>
            <a:r>
              <a:rPr sz="1000" spc="-5" dirty="0">
                <a:latin typeface="Arial"/>
                <a:cs typeface="Arial"/>
              </a:rPr>
              <a:t>consists of</a:t>
            </a:r>
            <a:r>
              <a:rPr sz="1000" dirty="0">
                <a:latin typeface="Arial"/>
                <a:cs typeface="Arial"/>
              </a:rPr>
              <a:t> </a:t>
            </a:r>
            <a:r>
              <a:rPr sz="1000" spc="-5" dirty="0">
                <a:solidFill>
                  <a:srgbClr val="FA0000"/>
                </a:solidFill>
                <a:latin typeface="Arial"/>
                <a:cs typeface="Arial"/>
              </a:rPr>
              <a:t>friends </a:t>
            </a:r>
            <a:r>
              <a:rPr sz="1000" spc="-5" dirty="0">
                <a:latin typeface="Arial"/>
                <a:cs typeface="Arial"/>
              </a:rPr>
              <a:t>and</a:t>
            </a:r>
            <a:r>
              <a:rPr sz="1000" dirty="0">
                <a:latin typeface="Arial"/>
                <a:cs typeface="Arial"/>
              </a:rPr>
              <a:t> </a:t>
            </a:r>
            <a:r>
              <a:rPr sz="1000" spc="-5" dirty="0">
                <a:solidFill>
                  <a:srgbClr val="FA0000"/>
                </a:solidFill>
                <a:latin typeface="Arial"/>
                <a:cs typeface="Arial"/>
              </a:rPr>
              <a:t>strangers</a:t>
            </a:r>
            <a:r>
              <a:rPr sz="1000" spc="-5" dirty="0">
                <a:latin typeface="Arial"/>
                <a:cs typeface="Arial"/>
              </a:rPr>
              <a:t>.</a:t>
            </a:r>
            <a:endParaRPr sz="1000" dirty="0">
              <a:latin typeface="Arial"/>
              <a:cs typeface="Arial"/>
            </a:endParaRPr>
          </a:p>
          <a:p>
            <a:pPr marL="320675" marR="300990" indent="-168275">
              <a:lnSpc>
                <a:spcPct val="100000"/>
              </a:lnSpc>
              <a:spcBef>
                <a:spcPts val="590"/>
              </a:spcBef>
              <a:buClr>
                <a:srgbClr val="3333B2"/>
              </a:buClr>
              <a:buChar char="►"/>
              <a:tabLst>
                <a:tab pos="321310" algn="l"/>
              </a:tabLst>
            </a:pPr>
            <a:r>
              <a:rPr sz="1000" spc="-5" dirty="0">
                <a:latin typeface="Arial"/>
                <a:cs typeface="Arial"/>
              </a:rPr>
              <a:t>If Alice</a:t>
            </a:r>
            <a:r>
              <a:rPr sz="1000" dirty="0">
                <a:latin typeface="Arial"/>
                <a:cs typeface="Arial"/>
              </a:rPr>
              <a:t> </a:t>
            </a:r>
            <a:r>
              <a:rPr sz="1000" spc="-5" dirty="0">
                <a:latin typeface="Arial"/>
                <a:cs typeface="Arial"/>
              </a:rPr>
              <a:t>wants to</a:t>
            </a:r>
            <a:r>
              <a:rPr sz="1000" dirty="0">
                <a:latin typeface="Arial"/>
                <a:cs typeface="Arial"/>
              </a:rPr>
              <a:t> </a:t>
            </a:r>
            <a:r>
              <a:rPr sz="1000" spc="-5" dirty="0">
                <a:latin typeface="Arial"/>
                <a:cs typeface="Arial"/>
              </a:rPr>
              <a:t>get a</a:t>
            </a:r>
            <a:r>
              <a:rPr sz="1000" dirty="0">
                <a:latin typeface="Arial"/>
                <a:cs typeface="Arial"/>
              </a:rPr>
              <a:t> </a:t>
            </a:r>
            <a:r>
              <a:rPr sz="1000" spc="-5" dirty="0">
                <a:latin typeface="Arial"/>
                <a:cs typeface="Arial"/>
              </a:rPr>
              <a:t>message to</a:t>
            </a:r>
            <a:r>
              <a:rPr sz="1000" dirty="0">
                <a:latin typeface="Arial"/>
                <a:cs typeface="Arial"/>
              </a:rPr>
              <a:t> </a:t>
            </a:r>
            <a:r>
              <a:rPr sz="1000" spc="-5" dirty="0">
                <a:latin typeface="Arial"/>
                <a:cs typeface="Arial"/>
              </a:rPr>
              <a:t>Bob:</a:t>
            </a:r>
            <a:r>
              <a:rPr sz="1000" spc="60" dirty="0">
                <a:latin typeface="Arial"/>
                <a:cs typeface="Arial"/>
              </a:rPr>
              <a:t> </a:t>
            </a:r>
            <a:r>
              <a:rPr sz="1000" spc="-5" dirty="0">
                <a:latin typeface="Arial"/>
                <a:cs typeface="Arial"/>
              </a:rPr>
              <a:t>hand</a:t>
            </a:r>
            <a:r>
              <a:rPr sz="1000" dirty="0">
                <a:latin typeface="Arial"/>
                <a:cs typeface="Arial"/>
              </a:rPr>
              <a:t> </a:t>
            </a:r>
            <a:r>
              <a:rPr sz="1000" spc="-5" dirty="0">
                <a:latin typeface="Arial"/>
                <a:cs typeface="Arial"/>
              </a:rPr>
              <a:t>it out</a:t>
            </a:r>
            <a:r>
              <a:rPr sz="1000" dirty="0">
                <a:latin typeface="Arial"/>
                <a:cs typeface="Arial"/>
              </a:rPr>
              <a:t> </a:t>
            </a:r>
            <a:r>
              <a:rPr sz="1000" spc="-5" dirty="0">
                <a:latin typeface="Arial"/>
                <a:cs typeface="Arial"/>
              </a:rPr>
              <a:t>to all</a:t>
            </a:r>
            <a:r>
              <a:rPr sz="1000" dirty="0">
                <a:latin typeface="Arial"/>
                <a:cs typeface="Arial"/>
              </a:rPr>
              <a:t> </a:t>
            </a:r>
            <a:r>
              <a:rPr sz="1000" spc="-5" dirty="0">
                <a:latin typeface="Arial"/>
                <a:cs typeface="Arial"/>
              </a:rPr>
              <a:t>her </a:t>
            </a:r>
            <a:r>
              <a:rPr sz="1000" spc="-265" dirty="0">
                <a:latin typeface="Arial"/>
                <a:cs typeface="Arial"/>
              </a:rPr>
              <a:t> </a:t>
            </a:r>
            <a:r>
              <a:rPr sz="1000" spc="-5" dirty="0">
                <a:latin typeface="Arial"/>
                <a:cs typeface="Arial"/>
              </a:rPr>
              <a:t>friends</a:t>
            </a:r>
            <a:endParaRPr sz="1000" dirty="0">
              <a:latin typeface="Arial"/>
              <a:cs typeface="Arial"/>
            </a:endParaRPr>
          </a:p>
          <a:p>
            <a:pPr marL="320675" indent="-168275">
              <a:lnSpc>
                <a:spcPct val="100000"/>
              </a:lnSpc>
              <a:spcBef>
                <a:spcPts val="590"/>
              </a:spcBef>
              <a:buClr>
                <a:srgbClr val="3333B2"/>
              </a:buClr>
              <a:buChar char="►"/>
              <a:tabLst>
                <a:tab pos="321310" algn="l"/>
              </a:tabLst>
            </a:pPr>
            <a:r>
              <a:rPr sz="1000" spc="-10" dirty="0">
                <a:latin typeface="Arial"/>
                <a:cs typeface="Arial"/>
              </a:rPr>
              <a:t>Friend</a:t>
            </a:r>
            <a:r>
              <a:rPr sz="1000" spc="-5" dirty="0">
                <a:latin typeface="Arial"/>
                <a:cs typeface="Arial"/>
              </a:rPr>
              <a:t> passes message</a:t>
            </a:r>
            <a:r>
              <a:rPr sz="1000" dirty="0">
                <a:latin typeface="Arial"/>
                <a:cs typeface="Arial"/>
              </a:rPr>
              <a:t> </a:t>
            </a:r>
            <a:r>
              <a:rPr sz="1000" spc="-5" dirty="0">
                <a:latin typeface="Arial"/>
                <a:cs typeface="Arial"/>
              </a:rPr>
              <a:t>to Bob</a:t>
            </a:r>
            <a:r>
              <a:rPr sz="1000" dirty="0">
                <a:latin typeface="Arial"/>
                <a:cs typeface="Arial"/>
              </a:rPr>
              <a:t> </a:t>
            </a:r>
            <a:r>
              <a:rPr sz="1000" spc="-5" dirty="0">
                <a:latin typeface="Arial"/>
                <a:cs typeface="Arial"/>
              </a:rPr>
              <a:t>at first</a:t>
            </a:r>
            <a:r>
              <a:rPr sz="1000" dirty="0">
                <a:latin typeface="Arial"/>
                <a:cs typeface="Arial"/>
              </a:rPr>
              <a:t> </a:t>
            </a:r>
            <a:r>
              <a:rPr sz="1000" spc="-5" dirty="0">
                <a:latin typeface="Arial"/>
                <a:cs typeface="Arial"/>
              </a:rPr>
              <a:t>encounter</a:t>
            </a:r>
            <a:endParaRPr sz="1000" dirty="0">
              <a:latin typeface="Arial"/>
              <a:cs typeface="Arial"/>
            </a:endParaRPr>
          </a:p>
          <a:p>
            <a:pPr>
              <a:lnSpc>
                <a:spcPct val="100000"/>
              </a:lnSpc>
              <a:spcBef>
                <a:spcPts val="15"/>
              </a:spcBef>
            </a:pPr>
            <a:endParaRPr sz="1300" dirty="0">
              <a:latin typeface="Arial"/>
              <a:cs typeface="Arial"/>
            </a:endParaRPr>
          </a:p>
          <a:p>
            <a:pPr marL="43815">
              <a:lnSpc>
                <a:spcPts val="1410"/>
              </a:lnSpc>
            </a:pPr>
            <a:r>
              <a:rPr sz="1200" spc="-5" dirty="0">
                <a:solidFill>
                  <a:srgbClr val="FA0000"/>
                </a:solidFill>
                <a:latin typeface="Arial"/>
                <a:cs typeface="Arial"/>
              </a:rPr>
              <a:t>Observation</a:t>
            </a:r>
            <a:endParaRPr sz="1200" dirty="0">
              <a:latin typeface="Arial"/>
              <a:cs typeface="Arial"/>
            </a:endParaRPr>
          </a:p>
          <a:p>
            <a:pPr marL="43815" marR="135890" indent="-4445">
              <a:lnSpc>
                <a:spcPts val="1200"/>
              </a:lnSpc>
              <a:spcBef>
                <a:spcPts val="15"/>
              </a:spcBef>
            </a:pPr>
            <a:r>
              <a:rPr sz="1000" spc="-5" dirty="0">
                <a:latin typeface="Arial"/>
                <a:cs typeface="Arial"/>
              </a:rPr>
              <a:t>This</a:t>
            </a:r>
            <a:r>
              <a:rPr sz="1000" dirty="0">
                <a:latin typeface="Arial"/>
                <a:cs typeface="Arial"/>
              </a:rPr>
              <a:t> </a:t>
            </a:r>
            <a:r>
              <a:rPr sz="1000" spc="-5" dirty="0">
                <a:latin typeface="Arial"/>
                <a:cs typeface="Arial"/>
              </a:rPr>
              <a:t>strategy</a:t>
            </a:r>
            <a:r>
              <a:rPr sz="1000" dirty="0">
                <a:latin typeface="Arial"/>
                <a:cs typeface="Arial"/>
              </a:rPr>
              <a:t> </a:t>
            </a:r>
            <a:r>
              <a:rPr sz="1000" spc="-5" dirty="0">
                <a:latin typeface="Arial"/>
                <a:cs typeface="Arial"/>
              </a:rPr>
              <a:t>works</a:t>
            </a:r>
            <a:r>
              <a:rPr sz="1000" spc="5" dirty="0">
                <a:latin typeface="Arial"/>
                <a:cs typeface="Arial"/>
              </a:rPr>
              <a:t> </a:t>
            </a:r>
            <a:r>
              <a:rPr sz="1000" spc="-5" dirty="0">
                <a:latin typeface="Arial"/>
                <a:cs typeface="Arial"/>
              </a:rPr>
              <a:t>because</a:t>
            </a:r>
            <a:r>
              <a:rPr sz="1000" dirty="0">
                <a:latin typeface="Arial"/>
                <a:cs typeface="Arial"/>
              </a:rPr>
              <a:t> </a:t>
            </a:r>
            <a:r>
              <a:rPr sz="1000" spc="-5" dirty="0">
                <a:latin typeface="Arial"/>
                <a:cs typeface="Arial"/>
              </a:rPr>
              <a:t>(apparently)</a:t>
            </a:r>
            <a:r>
              <a:rPr sz="1000" dirty="0">
                <a:latin typeface="Arial"/>
                <a:cs typeface="Arial"/>
              </a:rPr>
              <a:t> </a:t>
            </a:r>
            <a:r>
              <a:rPr sz="1000" spc="-5" dirty="0">
                <a:latin typeface="Arial"/>
                <a:cs typeface="Arial"/>
              </a:rPr>
              <a:t>there</a:t>
            </a:r>
            <a:r>
              <a:rPr sz="1000" spc="5"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relatively</a:t>
            </a:r>
            <a:r>
              <a:rPr sz="1000" spc="5" dirty="0">
                <a:latin typeface="Arial"/>
                <a:cs typeface="Arial"/>
              </a:rPr>
              <a:t> </a:t>
            </a:r>
            <a:r>
              <a:rPr sz="1000" spc="-5" dirty="0">
                <a:latin typeface="Arial"/>
                <a:cs typeface="Arial"/>
              </a:rPr>
              <a:t>closed </a:t>
            </a:r>
            <a:r>
              <a:rPr sz="1000" spc="-265" dirty="0">
                <a:latin typeface="Arial"/>
                <a:cs typeface="Arial"/>
              </a:rPr>
              <a:t> </a:t>
            </a:r>
            <a:r>
              <a:rPr sz="1000" spc="-5" dirty="0">
                <a:solidFill>
                  <a:srgbClr val="FA0000"/>
                </a:solidFill>
                <a:latin typeface="Arial"/>
                <a:cs typeface="Arial"/>
              </a:rPr>
              <a:t>communities</a:t>
            </a:r>
            <a:r>
              <a:rPr sz="1000" spc="-10" dirty="0">
                <a:solidFill>
                  <a:srgbClr val="FA0000"/>
                </a:solidFill>
                <a:latin typeface="Arial"/>
                <a:cs typeface="Arial"/>
              </a:rPr>
              <a:t> </a:t>
            </a:r>
            <a:r>
              <a:rPr sz="1000" spc="-5" dirty="0">
                <a:latin typeface="Arial"/>
                <a:cs typeface="Arial"/>
              </a:rPr>
              <a:t>of friends.</a:t>
            </a:r>
            <a:endParaRPr sz="1000" dirty="0">
              <a:latin typeface="Arial"/>
              <a:cs typeface="Arial"/>
            </a:endParaRP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66713" y="3331252"/>
            <a:ext cx="9201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Mobile</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computing</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systems</a:t>
            </a:r>
            <a:endParaRPr sz="6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51</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173482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Community</a:t>
            </a:r>
            <a:r>
              <a:rPr sz="1400" spc="-55" dirty="0">
                <a:solidFill>
                  <a:srgbClr val="3333B2"/>
                </a:solidFill>
                <a:latin typeface="Arial"/>
                <a:cs typeface="Arial"/>
              </a:rPr>
              <a:t> </a:t>
            </a:r>
            <a:r>
              <a:rPr sz="1400" spc="15" dirty="0">
                <a:solidFill>
                  <a:srgbClr val="3333B2"/>
                </a:solidFill>
                <a:latin typeface="Arial"/>
                <a:cs typeface="Arial"/>
              </a:rPr>
              <a:t>detection</a:t>
            </a:r>
            <a:endParaRPr sz="1400">
              <a:latin typeface="Arial"/>
              <a:cs typeface="Arial"/>
            </a:endParaRPr>
          </a:p>
        </p:txBody>
      </p:sp>
      <p:sp>
        <p:nvSpPr>
          <p:cNvPr id="5" name="object 5"/>
          <p:cNvSpPr txBox="1"/>
          <p:nvPr/>
        </p:nvSpPr>
        <p:spPr>
          <a:xfrm>
            <a:off x="321894" y="918601"/>
            <a:ext cx="3804920" cy="1028700"/>
          </a:xfrm>
          <a:prstGeom prst="rect">
            <a:avLst/>
          </a:prstGeom>
        </p:spPr>
        <p:txBody>
          <a:bodyPr vert="horz" wrap="square" lIns="0" tIns="12065" rIns="0" bIns="0" rtlCol="0">
            <a:spAutoFit/>
          </a:bodyPr>
          <a:lstStyle/>
          <a:p>
            <a:pPr marL="38100">
              <a:lnSpc>
                <a:spcPts val="1420"/>
              </a:lnSpc>
              <a:spcBef>
                <a:spcPts val="95"/>
              </a:spcBef>
            </a:pPr>
            <a:r>
              <a:rPr sz="1200" spc="-5" dirty="0">
                <a:solidFill>
                  <a:srgbClr val="3333B2"/>
                </a:solidFill>
                <a:latin typeface="Arial"/>
                <a:cs typeface="Arial"/>
              </a:rPr>
              <a:t>Issue</a:t>
            </a:r>
            <a:endParaRPr sz="1200">
              <a:latin typeface="Arial"/>
              <a:cs typeface="Arial"/>
            </a:endParaRPr>
          </a:p>
          <a:p>
            <a:pPr marL="38100">
              <a:lnSpc>
                <a:spcPts val="1180"/>
              </a:lnSpc>
            </a:pPr>
            <a:r>
              <a:rPr sz="1000" spc="-10" dirty="0">
                <a:latin typeface="Arial"/>
                <a:cs typeface="Arial"/>
              </a:rPr>
              <a:t>How</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detect</a:t>
            </a:r>
            <a:r>
              <a:rPr sz="1000" dirty="0">
                <a:latin typeface="Arial"/>
                <a:cs typeface="Arial"/>
              </a:rPr>
              <a:t> </a:t>
            </a:r>
            <a:r>
              <a:rPr sz="1000" spc="-10" dirty="0">
                <a:latin typeface="Arial"/>
                <a:cs typeface="Arial"/>
              </a:rPr>
              <a:t>your</a:t>
            </a:r>
            <a:r>
              <a:rPr sz="1000" dirty="0">
                <a:latin typeface="Arial"/>
                <a:cs typeface="Arial"/>
              </a:rPr>
              <a:t> </a:t>
            </a:r>
            <a:r>
              <a:rPr sz="1000" spc="-5" dirty="0">
                <a:latin typeface="Arial"/>
                <a:cs typeface="Arial"/>
              </a:rPr>
              <a:t>community</a:t>
            </a:r>
            <a:r>
              <a:rPr sz="1000" dirty="0">
                <a:latin typeface="Arial"/>
                <a:cs typeface="Arial"/>
              </a:rPr>
              <a:t> </a:t>
            </a:r>
            <a:r>
              <a:rPr sz="1000" spc="-5" dirty="0">
                <a:latin typeface="Arial"/>
                <a:cs typeface="Arial"/>
              </a:rPr>
              <a:t>without</a:t>
            </a:r>
            <a:r>
              <a:rPr sz="1000" dirty="0">
                <a:latin typeface="Arial"/>
                <a:cs typeface="Arial"/>
              </a:rPr>
              <a:t> </a:t>
            </a:r>
            <a:r>
              <a:rPr sz="1000" spc="-10" dirty="0">
                <a:latin typeface="Arial"/>
                <a:cs typeface="Arial"/>
              </a:rPr>
              <a:t>having</a:t>
            </a:r>
            <a:r>
              <a:rPr sz="1000" dirty="0">
                <a:latin typeface="Arial"/>
                <a:cs typeface="Arial"/>
              </a:rPr>
              <a:t> </a:t>
            </a:r>
            <a:r>
              <a:rPr sz="1000" spc="-5" dirty="0">
                <a:latin typeface="Arial"/>
                <a:cs typeface="Arial"/>
              </a:rPr>
              <a:t>global</a:t>
            </a:r>
            <a:r>
              <a:rPr sz="1000" dirty="0">
                <a:latin typeface="Arial"/>
                <a:cs typeface="Arial"/>
              </a:rPr>
              <a:t> </a:t>
            </a:r>
            <a:r>
              <a:rPr sz="1000" spc="-5" dirty="0">
                <a:latin typeface="Arial"/>
                <a:cs typeface="Arial"/>
              </a:rPr>
              <a:t>knowledge?</a:t>
            </a:r>
            <a:endParaRPr sz="1000">
              <a:latin typeface="Arial"/>
              <a:cs typeface="Arial"/>
            </a:endParaRPr>
          </a:p>
          <a:p>
            <a:pPr marL="38100">
              <a:lnSpc>
                <a:spcPct val="100000"/>
              </a:lnSpc>
              <a:spcBef>
                <a:spcPts val="690"/>
              </a:spcBef>
            </a:pPr>
            <a:r>
              <a:rPr sz="1200" spc="-5" dirty="0">
                <a:solidFill>
                  <a:srgbClr val="3333B2"/>
                </a:solidFill>
                <a:latin typeface="Arial"/>
                <a:cs typeface="Arial"/>
              </a:rPr>
              <a:t>Gradually</a:t>
            </a:r>
            <a:r>
              <a:rPr sz="1200" spc="-20" dirty="0">
                <a:solidFill>
                  <a:srgbClr val="3333B2"/>
                </a:solidFill>
                <a:latin typeface="Arial"/>
                <a:cs typeface="Arial"/>
              </a:rPr>
              <a:t> </a:t>
            </a:r>
            <a:r>
              <a:rPr sz="1200" spc="-10" dirty="0">
                <a:solidFill>
                  <a:srgbClr val="3333B2"/>
                </a:solidFill>
                <a:latin typeface="Arial"/>
                <a:cs typeface="Arial"/>
              </a:rPr>
              <a:t>build</a:t>
            </a:r>
            <a:r>
              <a:rPr sz="1200" spc="-20" dirty="0">
                <a:solidFill>
                  <a:srgbClr val="3333B2"/>
                </a:solidFill>
                <a:latin typeface="Arial"/>
                <a:cs typeface="Arial"/>
              </a:rPr>
              <a:t> </a:t>
            </a:r>
            <a:r>
              <a:rPr sz="1200" spc="-10" dirty="0">
                <a:solidFill>
                  <a:srgbClr val="3333B2"/>
                </a:solidFill>
                <a:latin typeface="Arial"/>
                <a:cs typeface="Arial"/>
              </a:rPr>
              <a:t>your</a:t>
            </a:r>
            <a:r>
              <a:rPr sz="1200" spc="-15" dirty="0">
                <a:solidFill>
                  <a:srgbClr val="3333B2"/>
                </a:solidFill>
                <a:latin typeface="Arial"/>
                <a:cs typeface="Arial"/>
              </a:rPr>
              <a:t> </a:t>
            </a:r>
            <a:r>
              <a:rPr sz="1200" spc="-5" dirty="0">
                <a:solidFill>
                  <a:srgbClr val="3333B2"/>
                </a:solidFill>
                <a:latin typeface="Arial"/>
                <a:cs typeface="Arial"/>
              </a:rPr>
              <a:t>list</a:t>
            </a:r>
            <a:endParaRPr sz="1200">
              <a:latin typeface="Arial"/>
              <a:cs typeface="Arial"/>
            </a:endParaRPr>
          </a:p>
          <a:p>
            <a:pPr marL="314960" marR="30480" indent="-175260">
              <a:lnSpc>
                <a:spcPct val="100000"/>
              </a:lnSpc>
              <a:spcBef>
                <a:spcPts val="780"/>
              </a:spcBef>
            </a:pPr>
            <a:r>
              <a:rPr sz="1000" spc="-5" dirty="0">
                <a:solidFill>
                  <a:srgbClr val="3333B2"/>
                </a:solidFill>
                <a:latin typeface="Arial"/>
                <a:cs typeface="Arial"/>
              </a:rPr>
              <a:t>1.</a:t>
            </a:r>
            <a:r>
              <a:rPr sz="1000" spc="15" dirty="0">
                <a:solidFill>
                  <a:srgbClr val="3333B2"/>
                </a:solidFill>
                <a:latin typeface="Arial"/>
                <a:cs typeface="Arial"/>
              </a:rPr>
              <a:t> </a:t>
            </a:r>
            <a:r>
              <a:rPr sz="1000" spc="-5" dirty="0">
                <a:latin typeface="Arial"/>
                <a:cs typeface="Arial"/>
              </a:rPr>
              <a:t>Node</a:t>
            </a:r>
            <a:r>
              <a:rPr sz="1000" dirty="0">
                <a:latin typeface="Arial"/>
                <a:cs typeface="Arial"/>
              </a:rPr>
              <a:t> </a:t>
            </a:r>
            <a:r>
              <a:rPr sz="1000" i="1" spc="-5" dirty="0">
                <a:latin typeface="Arial"/>
                <a:cs typeface="Arial"/>
              </a:rPr>
              <a:t>i</a:t>
            </a:r>
            <a:r>
              <a:rPr sz="1000" i="1" spc="85" dirty="0">
                <a:latin typeface="Arial"/>
                <a:cs typeface="Arial"/>
              </a:rPr>
              <a:t> </a:t>
            </a:r>
            <a:r>
              <a:rPr sz="1000" spc="-5" dirty="0">
                <a:latin typeface="Arial"/>
                <a:cs typeface="Arial"/>
              </a:rPr>
              <a:t>maintains</a:t>
            </a:r>
            <a:r>
              <a:rPr sz="1000" dirty="0">
                <a:latin typeface="Arial"/>
                <a:cs typeface="Arial"/>
              </a:rPr>
              <a:t> </a:t>
            </a:r>
            <a:r>
              <a:rPr sz="1000" spc="-10" dirty="0">
                <a:solidFill>
                  <a:srgbClr val="FA0000"/>
                </a:solidFill>
                <a:latin typeface="Arial"/>
                <a:cs typeface="Arial"/>
              </a:rPr>
              <a:t>familiar</a:t>
            </a:r>
            <a:r>
              <a:rPr sz="1000" spc="5" dirty="0">
                <a:solidFill>
                  <a:srgbClr val="FA0000"/>
                </a:solidFill>
                <a:latin typeface="Arial"/>
                <a:cs typeface="Arial"/>
              </a:rPr>
              <a:t> </a:t>
            </a:r>
            <a:r>
              <a:rPr sz="1000" spc="-5" dirty="0">
                <a:solidFill>
                  <a:srgbClr val="FA0000"/>
                </a:solidFill>
                <a:latin typeface="Arial"/>
                <a:cs typeface="Arial"/>
              </a:rPr>
              <a:t>set</a:t>
            </a:r>
            <a:r>
              <a:rPr sz="1000" dirty="0">
                <a:solidFill>
                  <a:srgbClr val="FA0000"/>
                </a:solidFill>
                <a:latin typeface="Arial"/>
                <a:cs typeface="Arial"/>
              </a:rPr>
              <a:t> </a:t>
            </a:r>
            <a:r>
              <a:rPr sz="1000" i="1" dirty="0">
                <a:latin typeface="Arial"/>
                <a:cs typeface="Arial"/>
              </a:rPr>
              <a:t>F</a:t>
            </a:r>
            <a:r>
              <a:rPr sz="1050" i="1" baseline="-15873" dirty="0">
                <a:latin typeface="Arial"/>
                <a:cs typeface="Arial"/>
              </a:rPr>
              <a:t>i</a:t>
            </a:r>
            <a:r>
              <a:rPr sz="1050" i="1" spc="15" baseline="-15873" dirty="0">
                <a:latin typeface="Arial"/>
                <a:cs typeface="Arial"/>
              </a:rPr>
              <a:t> </a:t>
            </a:r>
            <a:r>
              <a:rPr sz="1000" spc="-5" dirty="0">
                <a:latin typeface="Arial"/>
                <a:cs typeface="Arial"/>
              </a:rPr>
              <a:t>and</a:t>
            </a:r>
            <a:r>
              <a:rPr sz="1000" dirty="0">
                <a:latin typeface="Arial"/>
                <a:cs typeface="Arial"/>
              </a:rPr>
              <a:t> </a:t>
            </a:r>
            <a:r>
              <a:rPr sz="1000" spc="-5" dirty="0">
                <a:solidFill>
                  <a:srgbClr val="FA0000"/>
                </a:solidFill>
                <a:latin typeface="Arial"/>
                <a:cs typeface="Arial"/>
              </a:rPr>
              <a:t>community</a:t>
            </a:r>
            <a:r>
              <a:rPr sz="1000" dirty="0">
                <a:solidFill>
                  <a:srgbClr val="FA0000"/>
                </a:solidFill>
                <a:latin typeface="Arial"/>
                <a:cs typeface="Arial"/>
              </a:rPr>
              <a:t> </a:t>
            </a:r>
            <a:r>
              <a:rPr sz="1000" spc="-5" dirty="0">
                <a:solidFill>
                  <a:srgbClr val="FA0000"/>
                </a:solidFill>
                <a:latin typeface="Arial"/>
                <a:cs typeface="Arial"/>
              </a:rPr>
              <a:t>set</a:t>
            </a:r>
            <a:r>
              <a:rPr sz="1000" dirty="0">
                <a:solidFill>
                  <a:srgbClr val="FA0000"/>
                </a:solidFill>
                <a:latin typeface="Arial"/>
                <a:cs typeface="Arial"/>
              </a:rPr>
              <a:t> </a:t>
            </a:r>
            <a:r>
              <a:rPr sz="1000" i="1" dirty="0">
                <a:latin typeface="Arial"/>
                <a:cs typeface="Arial"/>
              </a:rPr>
              <a:t>C</a:t>
            </a:r>
            <a:r>
              <a:rPr sz="1050" i="1" baseline="-15873" dirty="0">
                <a:latin typeface="Arial"/>
                <a:cs typeface="Arial"/>
              </a:rPr>
              <a:t>i</a:t>
            </a:r>
            <a:r>
              <a:rPr sz="1050" i="1" spc="-120" baseline="-15873"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initially </a:t>
            </a:r>
            <a:r>
              <a:rPr sz="1000" spc="-265" dirty="0">
                <a:latin typeface="Arial"/>
                <a:cs typeface="Arial"/>
              </a:rPr>
              <a:t> </a:t>
            </a:r>
            <a:r>
              <a:rPr sz="1000" spc="-5" dirty="0">
                <a:latin typeface="Arial"/>
                <a:cs typeface="Arial"/>
              </a:rPr>
              <a:t>both</a:t>
            </a:r>
            <a:r>
              <a:rPr sz="1000" spc="-10" dirty="0">
                <a:latin typeface="Arial"/>
                <a:cs typeface="Arial"/>
              </a:rPr>
              <a:t> </a:t>
            </a:r>
            <a:r>
              <a:rPr sz="1000" spc="-20" dirty="0">
                <a:latin typeface="Arial"/>
                <a:cs typeface="Arial"/>
              </a:rPr>
              <a:t>empty.</a:t>
            </a:r>
            <a:endParaRPr sz="1000">
              <a:latin typeface="Arial"/>
              <a:cs typeface="Arial"/>
            </a:endParaRPr>
          </a:p>
        </p:txBody>
      </p:sp>
      <p:sp>
        <p:nvSpPr>
          <p:cNvPr id="6" name="object 6"/>
          <p:cNvSpPr txBox="1"/>
          <p:nvPr/>
        </p:nvSpPr>
        <p:spPr>
          <a:xfrm>
            <a:off x="2121484" y="2034828"/>
            <a:ext cx="215265" cy="137795"/>
          </a:xfrm>
          <a:prstGeom prst="rect">
            <a:avLst/>
          </a:prstGeom>
        </p:spPr>
        <p:txBody>
          <a:bodyPr vert="horz" wrap="square" lIns="0" tIns="17145" rIns="0" bIns="0" rtlCol="0">
            <a:spAutoFit/>
          </a:bodyPr>
          <a:lstStyle/>
          <a:p>
            <a:pPr marL="38100">
              <a:lnSpc>
                <a:spcPct val="100000"/>
              </a:lnSpc>
              <a:spcBef>
                <a:spcPts val="135"/>
              </a:spcBef>
            </a:pPr>
            <a:r>
              <a:rPr sz="700" i="1" spc="-105" dirty="0">
                <a:latin typeface="メイリオ"/>
                <a:cs typeface="メイリオ"/>
              </a:rPr>
              <a:t>|</a:t>
            </a:r>
            <a:r>
              <a:rPr sz="700" i="1" spc="20" dirty="0">
                <a:latin typeface="Arial"/>
                <a:cs typeface="Arial"/>
              </a:rPr>
              <a:t>F</a:t>
            </a:r>
            <a:r>
              <a:rPr sz="900" i="1" spc="-7" baseline="-18518" dirty="0">
                <a:latin typeface="Arial"/>
                <a:cs typeface="Arial"/>
              </a:rPr>
              <a:t>j</a:t>
            </a:r>
            <a:r>
              <a:rPr sz="900" i="1" spc="-104" baseline="-18518" dirty="0">
                <a:latin typeface="Arial"/>
                <a:cs typeface="Arial"/>
              </a:rPr>
              <a:t> </a:t>
            </a:r>
            <a:r>
              <a:rPr sz="700" i="1" spc="-105" dirty="0">
                <a:latin typeface="メイリオ"/>
                <a:cs typeface="メイリオ"/>
              </a:rPr>
              <a:t>|</a:t>
            </a:r>
            <a:endParaRPr sz="700">
              <a:latin typeface="メイリオ"/>
              <a:cs typeface="メイリオ"/>
            </a:endParaRPr>
          </a:p>
        </p:txBody>
      </p:sp>
      <p:sp>
        <p:nvSpPr>
          <p:cNvPr id="7" name="object 7"/>
          <p:cNvSpPr txBox="1"/>
          <p:nvPr/>
        </p:nvSpPr>
        <p:spPr>
          <a:xfrm>
            <a:off x="424192" y="1956503"/>
            <a:ext cx="2231390" cy="177800"/>
          </a:xfrm>
          <a:prstGeom prst="rect">
            <a:avLst/>
          </a:prstGeom>
        </p:spPr>
        <p:txBody>
          <a:bodyPr vert="horz" wrap="square" lIns="0" tIns="12065" rIns="0" bIns="0" rtlCol="0">
            <a:spAutoFit/>
          </a:bodyPr>
          <a:lstStyle/>
          <a:p>
            <a:pPr marL="38100">
              <a:lnSpc>
                <a:spcPct val="100000"/>
              </a:lnSpc>
              <a:spcBef>
                <a:spcPts val="95"/>
              </a:spcBef>
            </a:pPr>
            <a:r>
              <a:rPr sz="1000" spc="-5" dirty="0">
                <a:solidFill>
                  <a:srgbClr val="3333B2"/>
                </a:solidFill>
                <a:latin typeface="Arial"/>
                <a:cs typeface="Arial"/>
              </a:rPr>
              <a:t>2. </a:t>
            </a:r>
            <a:r>
              <a:rPr sz="1000" spc="-10" dirty="0">
                <a:solidFill>
                  <a:srgbClr val="3333B2"/>
                </a:solidFill>
                <a:latin typeface="Arial"/>
                <a:cs typeface="Arial"/>
              </a:rPr>
              <a:t> </a:t>
            </a:r>
            <a:r>
              <a:rPr sz="1000" spc="-5" dirty="0">
                <a:latin typeface="Arial"/>
                <a:cs typeface="Arial"/>
              </a:rPr>
              <a:t>Node </a:t>
            </a:r>
            <a:r>
              <a:rPr sz="900" i="1" spc="-5" dirty="0">
                <a:latin typeface="Arial"/>
                <a:cs typeface="Arial"/>
              </a:rPr>
              <a:t>i</a:t>
            </a:r>
            <a:r>
              <a:rPr sz="900" i="1" spc="100" dirty="0">
                <a:latin typeface="Arial"/>
                <a:cs typeface="Arial"/>
              </a:rPr>
              <a:t> </a:t>
            </a:r>
            <a:r>
              <a:rPr sz="1000" spc="-5" dirty="0">
                <a:latin typeface="Arial"/>
                <a:cs typeface="Arial"/>
              </a:rPr>
              <a:t>adds </a:t>
            </a:r>
            <a:r>
              <a:rPr sz="900" i="1" spc="-5" dirty="0">
                <a:latin typeface="Arial"/>
                <a:cs typeface="Arial"/>
              </a:rPr>
              <a:t>j</a:t>
            </a:r>
            <a:r>
              <a:rPr sz="900" i="1" spc="100" dirty="0">
                <a:latin typeface="Arial"/>
                <a:cs typeface="Arial"/>
              </a:rPr>
              <a:t> </a:t>
            </a:r>
            <a:r>
              <a:rPr sz="1000" spc="-5" dirty="0">
                <a:latin typeface="Arial"/>
                <a:cs typeface="Arial"/>
              </a:rPr>
              <a:t>to </a:t>
            </a:r>
            <a:r>
              <a:rPr sz="1000" i="1" spc="-5" dirty="0">
                <a:latin typeface="Arial"/>
                <a:cs typeface="Arial"/>
              </a:rPr>
              <a:t>C</a:t>
            </a:r>
            <a:r>
              <a:rPr sz="1050" i="1" spc="7" baseline="-15873" dirty="0">
                <a:latin typeface="Arial"/>
                <a:cs typeface="Arial"/>
              </a:rPr>
              <a:t>i</a:t>
            </a:r>
            <a:r>
              <a:rPr sz="1050" i="1" baseline="-15873" dirty="0">
                <a:latin typeface="Arial"/>
                <a:cs typeface="Arial"/>
              </a:rPr>
              <a:t>  </a:t>
            </a:r>
            <a:r>
              <a:rPr sz="1000" spc="-5" dirty="0">
                <a:latin typeface="Arial"/>
                <a:cs typeface="Arial"/>
              </a:rPr>
              <a:t>when</a:t>
            </a:r>
            <a:r>
              <a:rPr sz="1000" spc="114" dirty="0">
                <a:latin typeface="Arial"/>
                <a:cs typeface="Arial"/>
              </a:rPr>
              <a:t> </a:t>
            </a:r>
            <a:r>
              <a:rPr sz="1050" i="1" u="sng" spc="-157" baseline="47619" dirty="0">
                <a:uFill>
                  <a:solidFill>
                    <a:srgbClr val="000000"/>
                  </a:solidFill>
                </a:uFill>
                <a:latin typeface="メイリオ"/>
                <a:cs typeface="メイリオ"/>
              </a:rPr>
              <a:t>|</a:t>
            </a:r>
            <a:r>
              <a:rPr sz="1050" i="1" u="sng" spc="30" baseline="47619" dirty="0">
                <a:uFill>
                  <a:solidFill>
                    <a:srgbClr val="000000"/>
                  </a:solidFill>
                </a:uFill>
                <a:latin typeface="Arial"/>
                <a:cs typeface="Arial"/>
              </a:rPr>
              <a:t>F</a:t>
            </a:r>
            <a:r>
              <a:rPr sz="900" i="1" u="sng" spc="-7" baseline="41666" dirty="0">
                <a:uFill>
                  <a:solidFill>
                    <a:srgbClr val="000000"/>
                  </a:solidFill>
                </a:uFill>
                <a:latin typeface="Arial"/>
                <a:cs typeface="Arial"/>
              </a:rPr>
              <a:t>j</a:t>
            </a:r>
            <a:r>
              <a:rPr sz="900" i="1" u="sng" spc="-104" baseline="41666" dirty="0">
                <a:uFill>
                  <a:solidFill>
                    <a:srgbClr val="000000"/>
                  </a:solidFill>
                </a:uFill>
                <a:latin typeface="Arial"/>
                <a:cs typeface="Arial"/>
              </a:rPr>
              <a:t> </a:t>
            </a:r>
            <a:r>
              <a:rPr sz="1050" i="1" u="sng" spc="-112" baseline="47619" dirty="0">
                <a:uFill>
                  <a:solidFill>
                    <a:srgbClr val="000000"/>
                  </a:solidFill>
                </a:uFill>
                <a:latin typeface="メイリオ"/>
                <a:cs typeface="メイリオ"/>
              </a:rPr>
              <a:t>∩</a:t>
            </a:r>
            <a:r>
              <a:rPr sz="1050" i="1" u="sng" spc="37" baseline="47619" dirty="0">
                <a:uFill>
                  <a:solidFill>
                    <a:srgbClr val="000000"/>
                  </a:solidFill>
                </a:uFill>
                <a:latin typeface="Arial"/>
                <a:cs typeface="Arial"/>
              </a:rPr>
              <a:t>C</a:t>
            </a:r>
            <a:r>
              <a:rPr sz="900" i="1" u="sng" spc="-7" baseline="41666" dirty="0">
                <a:uFill>
                  <a:solidFill>
                    <a:srgbClr val="000000"/>
                  </a:solidFill>
                </a:uFill>
                <a:latin typeface="Arial"/>
                <a:cs typeface="Arial"/>
              </a:rPr>
              <a:t>i</a:t>
            </a:r>
            <a:r>
              <a:rPr sz="900" i="1" u="sng" spc="-104" baseline="41666" dirty="0">
                <a:uFill>
                  <a:solidFill>
                    <a:srgbClr val="000000"/>
                  </a:solidFill>
                </a:uFill>
                <a:latin typeface="Arial"/>
                <a:cs typeface="Arial"/>
              </a:rPr>
              <a:t> </a:t>
            </a:r>
            <a:r>
              <a:rPr sz="1050" i="1" u="sng" spc="-157" baseline="47619" dirty="0">
                <a:uFill>
                  <a:solidFill>
                    <a:srgbClr val="000000"/>
                  </a:solidFill>
                </a:uFill>
                <a:latin typeface="メイリオ"/>
                <a:cs typeface="メイリオ"/>
              </a:rPr>
              <a:t>|</a:t>
            </a:r>
            <a:r>
              <a:rPr sz="1050" i="1" spc="150" baseline="47619" dirty="0">
                <a:latin typeface="メイリオ"/>
                <a:cs typeface="メイリオ"/>
              </a:rPr>
              <a:t> </a:t>
            </a:r>
            <a:r>
              <a:rPr sz="1000" i="1" spc="190" dirty="0">
                <a:latin typeface="Arial"/>
                <a:cs typeface="Arial"/>
              </a:rPr>
              <a:t>&gt;</a:t>
            </a:r>
            <a:r>
              <a:rPr sz="1000" i="1" spc="-60" dirty="0">
                <a:latin typeface="Arial"/>
                <a:cs typeface="Arial"/>
              </a:rPr>
              <a:t> </a:t>
            </a:r>
            <a:r>
              <a:rPr sz="1000" i="1" spc="50" dirty="0">
                <a:latin typeface="Arial"/>
                <a:cs typeface="Arial"/>
              </a:rPr>
              <a:t>λ</a:t>
            </a:r>
            <a:endParaRPr sz="1000">
              <a:latin typeface="Arial"/>
              <a:cs typeface="Arial"/>
            </a:endParaRPr>
          </a:p>
        </p:txBody>
      </p:sp>
      <p:sp>
        <p:nvSpPr>
          <p:cNvPr id="8" name="object 8"/>
          <p:cNvSpPr txBox="1"/>
          <p:nvPr/>
        </p:nvSpPr>
        <p:spPr>
          <a:xfrm>
            <a:off x="334594" y="2071021"/>
            <a:ext cx="3161665" cy="481330"/>
          </a:xfrm>
          <a:prstGeom prst="rect">
            <a:avLst/>
          </a:prstGeom>
        </p:spPr>
        <p:txBody>
          <a:bodyPr vert="horz" wrap="square" lIns="0" tIns="88265" rIns="0" bIns="0" rtlCol="0">
            <a:spAutoFit/>
          </a:bodyPr>
          <a:lstStyle/>
          <a:p>
            <a:pPr marL="127635">
              <a:lnSpc>
                <a:spcPct val="100000"/>
              </a:lnSpc>
              <a:spcBef>
                <a:spcPts val="695"/>
              </a:spcBef>
            </a:pPr>
            <a:r>
              <a:rPr sz="1000" spc="-5" dirty="0">
                <a:solidFill>
                  <a:srgbClr val="3333B2"/>
                </a:solidFill>
                <a:latin typeface="Arial"/>
                <a:cs typeface="Arial"/>
              </a:rPr>
              <a:t>3. </a:t>
            </a:r>
            <a:r>
              <a:rPr sz="1000" spc="-10" dirty="0">
                <a:solidFill>
                  <a:srgbClr val="3333B2"/>
                </a:solidFill>
                <a:latin typeface="Arial"/>
                <a:cs typeface="Arial"/>
              </a:rPr>
              <a:t> </a:t>
            </a:r>
            <a:r>
              <a:rPr sz="1000" spc="-5" dirty="0">
                <a:latin typeface="Arial"/>
                <a:cs typeface="Arial"/>
              </a:rPr>
              <a:t>Merge </a:t>
            </a:r>
            <a:r>
              <a:rPr sz="1000" spc="-10" dirty="0">
                <a:latin typeface="Arial"/>
                <a:cs typeface="Arial"/>
              </a:rPr>
              <a:t>t</a:t>
            </a:r>
            <a:r>
              <a:rPr sz="1000" spc="-15" dirty="0">
                <a:latin typeface="Arial"/>
                <a:cs typeface="Arial"/>
              </a:rPr>
              <a:t>w</a:t>
            </a:r>
            <a:r>
              <a:rPr sz="1000" spc="-5" dirty="0">
                <a:latin typeface="Arial"/>
                <a:cs typeface="Arial"/>
              </a:rPr>
              <a:t>o com</a:t>
            </a:r>
            <a:r>
              <a:rPr sz="1000" spc="-15" dirty="0">
                <a:latin typeface="Arial"/>
                <a:cs typeface="Arial"/>
              </a:rPr>
              <a:t>m</a:t>
            </a:r>
            <a:r>
              <a:rPr sz="1000" spc="-5" dirty="0">
                <a:latin typeface="Arial"/>
                <a:cs typeface="Arial"/>
              </a:rPr>
              <a:t>unities when </a:t>
            </a:r>
            <a:r>
              <a:rPr sz="1000" i="1" spc="-165" dirty="0">
                <a:latin typeface="メイリオ"/>
                <a:cs typeface="メイリオ"/>
              </a:rPr>
              <a:t>|</a:t>
            </a:r>
            <a:r>
              <a:rPr sz="1000" i="1" spc="-5" dirty="0">
                <a:latin typeface="Arial"/>
                <a:cs typeface="Arial"/>
              </a:rPr>
              <a:t>C</a:t>
            </a:r>
            <a:r>
              <a:rPr sz="1050" i="1" spc="7" baseline="-15873" dirty="0">
                <a:latin typeface="Arial"/>
                <a:cs typeface="Arial"/>
              </a:rPr>
              <a:t>i</a:t>
            </a:r>
            <a:r>
              <a:rPr sz="1050" i="1" spc="82" baseline="-15873" dirty="0">
                <a:latin typeface="Arial"/>
                <a:cs typeface="Arial"/>
              </a:rPr>
              <a:t> </a:t>
            </a:r>
            <a:r>
              <a:rPr sz="1000" i="1" spc="-10" dirty="0">
                <a:latin typeface="メイリオ"/>
                <a:cs typeface="メイリオ"/>
              </a:rPr>
              <a:t>∩</a:t>
            </a:r>
            <a:r>
              <a:rPr sz="1000" i="1" spc="-5" dirty="0">
                <a:latin typeface="Arial"/>
                <a:cs typeface="Arial"/>
              </a:rPr>
              <a:t>C</a:t>
            </a:r>
            <a:r>
              <a:rPr sz="1050" i="1" spc="7" baseline="-15873" dirty="0">
                <a:latin typeface="Arial"/>
                <a:cs typeface="Arial"/>
              </a:rPr>
              <a:t>j</a:t>
            </a:r>
            <a:r>
              <a:rPr sz="1050" i="1" spc="-127" baseline="-15873" dirty="0">
                <a:latin typeface="Arial"/>
                <a:cs typeface="Arial"/>
              </a:rPr>
              <a:t> </a:t>
            </a:r>
            <a:r>
              <a:rPr sz="1000" i="1" spc="-165" dirty="0">
                <a:latin typeface="メイリオ"/>
                <a:cs typeface="メイリオ"/>
              </a:rPr>
              <a:t>|</a:t>
            </a:r>
            <a:r>
              <a:rPr sz="1000" i="1" spc="-120" dirty="0">
                <a:latin typeface="メイリオ"/>
                <a:cs typeface="メイリオ"/>
              </a:rPr>
              <a:t> </a:t>
            </a:r>
            <a:r>
              <a:rPr sz="1000" i="1" spc="190" dirty="0">
                <a:latin typeface="Arial"/>
                <a:cs typeface="Arial"/>
              </a:rPr>
              <a:t>&gt;</a:t>
            </a:r>
            <a:r>
              <a:rPr sz="1000" i="1" spc="-60" dirty="0">
                <a:latin typeface="Arial"/>
                <a:cs typeface="Arial"/>
              </a:rPr>
              <a:t> </a:t>
            </a:r>
            <a:r>
              <a:rPr sz="1000" i="1" spc="-15" dirty="0">
                <a:latin typeface="Arial"/>
                <a:cs typeface="Arial"/>
              </a:rPr>
              <a:t>γ</a:t>
            </a:r>
            <a:r>
              <a:rPr sz="1000" i="1" spc="-165" dirty="0">
                <a:latin typeface="メイリオ"/>
                <a:cs typeface="メイリオ"/>
              </a:rPr>
              <a:t>|</a:t>
            </a:r>
            <a:r>
              <a:rPr sz="1000" i="1" spc="-5" dirty="0">
                <a:latin typeface="Arial"/>
                <a:cs typeface="Arial"/>
              </a:rPr>
              <a:t>C</a:t>
            </a:r>
            <a:r>
              <a:rPr sz="1050" i="1" spc="7" baseline="-15873" dirty="0">
                <a:latin typeface="Arial"/>
                <a:cs typeface="Arial"/>
              </a:rPr>
              <a:t>i</a:t>
            </a:r>
            <a:r>
              <a:rPr sz="1050" i="1" spc="82" baseline="-15873" dirty="0">
                <a:latin typeface="Arial"/>
                <a:cs typeface="Arial"/>
              </a:rPr>
              <a:t> </a:t>
            </a:r>
            <a:r>
              <a:rPr sz="1000" i="1" spc="-10" dirty="0">
                <a:latin typeface="メイリオ"/>
                <a:cs typeface="メイリオ"/>
              </a:rPr>
              <a:t>∪</a:t>
            </a:r>
            <a:r>
              <a:rPr sz="1000" i="1" spc="-5" dirty="0">
                <a:latin typeface="Arial"/>
                <a:cs typeface="Arial"/>
              </a:rPr>
              <a:t>C</a:t>
            </a:r>
            <a:r>
              <a:rPr sz="1050" i="1" spc="7" baseline="-15873" dirty="0">
                <a:latin typeface="Arial"/>
                <a:cs typeface="Arial"/>
              </a:rPr>
              <a:t>j</a:t>
            </a:r>
            <a:r>
              <a:rPr sz="1050" i="1" spc="-127" baseline="-15873" dirty="0">
                <a:latin typeface="Arial"/>
                <a:cs typeface="Arial"/>
              </a:rPr>
              <a:t> </a:t>
            </a:r>
            <a:r>
              <a:rPr sz="1000" i="1" spc="-165" dirty="0">
                <a:latin typeface="メイリオ"/>
                <a:cs typeface="メイリオ"/>
              </a:rPr>
              <a:t>|</a:t>
            </a:r>
            <a:endParaRPr sz="1000">
              <a:latin typeface="メイリオ"/>
              <a:cs typeface="メイリオ"/>
            </a:endParaRPr>
          </a:p>
          <a:p>
            <a:pPr marL="25400">
              <a:lnSpc>
                <a:spcPct val="100000"/>
              </a:lnSpc>
              <a:spcBef>
                <a:spcPts val="590"/>
              </a:spcBef>
            </a:pPr>
            <a:r>
              <a:rPr sz="1000" spc="-5" dirty="0">
                <a:latin typeface="Arial"/>
                <a:cs typeface="Arial"/>
              </a:rPr>
              <a:t>Experiments </a:t>
            </a:r>
            <a:r>
              <a:rPr sz="1000" spc="-10" dirty="0">
                <a:latin typeface="Arial"/>
                <a:cs typeface="Arial"/>
              </a:rPr>
              <a:t>show</a:t>
            </a:r>
            <a:r>
              <a:rPr sz="1000" spc="-5" dirty="0">
                <a:latin typeface="Arial"/>
                <a:cs typeface="Arial"/>
              </a:rPr>
              <a:t> that </a:t>
            </a:r>
            <a:r>
              <a:rPr sz="1000" i="1" spc="50" dirty="0">
                <a:latin typeface="Arial"/>
                <a:cs typeface="Arial"/>
              </a:rPr>
              <a:t>λ</a:t>
            </a:r>
            <a:r>
              <a:rPr sz="1000" i="1" spc="70" dirty="0">
                <a:latin typeface="Arial"/>
                <a:cs typeface="Arial"/>
              </a:rPr>
              <a:t> </a:t>
            </a:r>
            <a:r>
              <a:rPr sz="1000" spc="190" dirty="0">
                <a:latin typeface="Arial"/>
                <a:cs typeface="Arial"/>
              </a:rPr>
              <a:t>=</a:t>
            </a:r>
            <a:r>
              <a:rPr sz="1000" spc="-60" dirty="0">
                <a:latin typeface="Arial"/>
                <a:cs typeface="Arial"/>
              </a:rPr>
              <a:t> </a:t>
            </a:r>
            <a:r>
              <a:rPr sz="1000" i="1" spc="-95" dirty="0">
                <a:latin typeface="Arial"/>
                <a:cs typeface="Arial"/>
              </a:rPr>
              <a:t>γ</a:t>
            </a:r>
            <a:r>
              <a:rPr sz="1000" i="1" spc="25"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0</a:t>
            </a:r>
            <a:r>
              <a:rPr sz="1000" i="1" spc="-5" dirty="0">
                <a:latin typeface="Arial"/>
                <a:cs typeface="Arial"/>
              </a:rPr>
              <a:t>.</a:t>
            </a:r>
            <a:r>
              <a:rPr sz="1000" spc="-5" dirty="0">
                <a:latin typeface="Arial"/>
                <a:cs typeface="Arial"/>
              </a:rPr>
              <a:t>6</a:t>
            </a:r>
            <a:r>
              <a:rPr sz="1000" dirty="0">
                <a:latin typeface="Arial"/>
                <a:cs typeface="Arial"/>
              </a:rPr>
              <a:t> </a:t>
            </a:r>
            <a:r>
              <a:rPr sz="1000" spc="-5" dirty="0">
                <a:latin typeface="Arial"/>
                <a:cs typeface="Arial"/>
              </a:rPr>
              <a:t>is good.</a:t>
            </a:r>
            <a:endParaRPr sz="1000">
              <a:latin typeface="Arial"/>
              <a:cs typeface="Arial"/>
            </a:endParaRP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3" action="ppaction://hlinksldjump"/>
              </a:rPr>
              <a:t>Types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Pervasive</a:t>
            </a:r>
            <a:r>
              <a:rPr sz="600" spc="-3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systems</a:t>
            </a:r>
            <a:endParaRPr sz="600">
              <a:latin typeface="Arial"/>
              <a:cs typeface="Arial"/>
            </a:endParaRPr>
          </a:p>
        </p:txBody>
      </p:sp>
      <p:sp>
        <p:nvSpPr>
          <p:cNvPr id="4" name="object 4"/>
          <p:cNvSpPr txBox="1"/>
          <p:nvPr/>
        </p:nvSpPr>
        <p:spPr>
          <a:xfrm>
            <a:off x="95300" y="188846"/>
            <a:ext cx="3676650" cy="772160"/>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How</a:t>
            </a:r>
            <a:r>
              <a:rPr sz="1400" spc="-10" dirty="0">
                <a:solidFill>
                  <a:srgbClr val="3333B2"/>
                </a:solidFill>
                <a:latin typeface="Arial"/>
                <a:cs typeface="Arial"/>
              </a:rPr>
              <a:t> </a:t>
            </a:r>
            <a:r>
              <a:rPr sz="1400" spc="15" dirty="0">
                <a:solidFill>
                  <a:srgbClr val="3333B2"/>
                </a:solidFill>
                <a:latin typeface="Arial"/>
                <a:cs typeface="Arial"/>
              </a:rPr>
              <a:t>mobile</a:t>
            </a:r>
            <a:r>
              <a:rPr sz="1400" spc="-10" dirty="0">
                <a:solidFill>
                  <a:srgbClr val="3333B2"/>
                </a:solidFill>
                <a:latin typeface="Arial"/>
                <a:cs typeface="Arial"/>
              </a:rPr>
              <a:t> </a:t>
            </a:r>
            <a:r>
              <a:rPr sz="1400" spc="15" dirty="0">
                <a:solidFill>
                  <a:srgbClr val="3333B2"/>
                </a:solidFill>
                <a:latin typeface="Arial"/>
                <a:cs typeface="Arial"/>
              </a:rPr>
              <a:t>are</a:t>
            </a:r>
            <a:r>
              <a:rPr sz="1400" spc="-5" dirty="0">
                <a:solidFill>
                  <a:srgbClr val="3333B2"/>
                </a:solidFill>
                <a:latin typeface="Arial"/>
                <a:cs typeface="Arial"/>
              </a:rPr>
              <a:t> </a:t>
            </a:r>
            <a:r>
              <a:rPr sz="1400" spc="15" dirty="0">
                <a:solidFill>
                  <a:srgbClr val="3333B2"/>
                </a:solidFill>
                <a:latin typeface="Arial"/>
                <a:cs typeface="Arial"/>
              </a:rPr>
              <a:t>people?</a:t>
            </a:r>
            <a:endParaRPr sz="1400">
              <a:latin typeface="Arial"/>
              <a:cs typeface="Arial"/>
            </a:endParaRPr>
          </a:p>
          <a:p>
            <a:pPr marL="264160">
              <a:lnSpc>
                <a:spcPct val="100000"/>
              </a:lnSpc>
              <a:spcBef>
                <a:spcPts val="1345"/>
              </a:spcBef>
            </a:pPr>
            <a:r>
              <a:rPr sz="1200" spc="-5" dirty="0">
                <a:solidFill>
                  <a:srgbClr val="3333B2"/>
                </a:solidFill>
                <a:latin typeface="Arial"/>
                <a:cs typeface="Arial"/>
              </a:rPr>
              <a:t>Experimental</a:t>
            </a:r>
            <a:r>
              <a:rPr sz="1200" spc="-20" dirty="0">
                <a:solidFill>
                  <a:srgbClr val="3333B2"/>
                </a:solidFill>
                <a:latin typeface="Arial"/>
                <a:cs typeface="Arial"/>
              </a:rPr>
              <a:t> </a:t>
            </a:r>
            <a:r>
              <a:rPr sz="1200" spc="-5" dirty="0">
                <a:solidFill>
                  <a:srgbClr val="3333B2"/>
                </a:solidFill>
                <a:latin typeface="Arial"/>
                <a:cs typeface="Arial"/>
              </a:rPr>
              <a:t>results</a:t>
            </a:r>
            <a:endParaRPr sz="1200">
              <a:latin typeface="Arial"/>
              <a:cs typeface="Arial"/>
            </a:endParaRPr>
          </a:p>
          <a:p>
            <a:pPr marL="260350">
              <a:lnSpc>
                <a:spcPct val="100000"/>
              </a:lnSpc>
              <a:spcBef>
                <a:spcPts val="175"/>
              </a:spcBef>
            </a:pPr>
            <a:r>
              <a:rPr sz="1000" spc="-25" dirty="0">
                <a:latin typeface="Arial"/>
                <a:cs typeface="Arial"/>
              </a:rPr>
              <a:t>Tracing</a:t>
            </a:r>
            <a:r>
              <a:rPr sz="1000" dirty="0">
                <a:latin typeface="Arial"/>
                <a:cs typeface="Arial"/>
              </a:rPr>
              <a:t> </a:t>
            </a:r>
            <a:r>
              <a:rPr sz="1000" spc="-5" dirty="0">
                <a:latin typeface="Arial"/>
                <a:cs typeface="Arial"/>
              </a:rPr>
              <a:t>100,000</a:t>
            </a:r>
            <a:r>
              <a:rPr sz="1000" spc="5" dirty="0">
                <a:latin typeface="Arial"/>
                <a:cs typeface="Arial"/>
              </a:rPr>
              <a:t> </a:t>
            </a:r>
            <a:r>
              <a:rPr sz="1000" spc="-5" dirty="0">
                <a:latin typeface="Arial"/>
                <a:cs typeface="Arial"/>
              </a:rPr>
              <a:t>cell-phone</a:t>
            </a:r>
            <a:r>
              <a:rPr sz="1000" spc="5" dirty="0">
                <a:latin typeface="Arial"/>
                <a:cs typeface="Arial"/>
              </a:rPr>
              <a:t> </a:t>
            </a:r>
            <a:r>
              <a:rPr sz="1000" spc="-5" dirty="0">
                <a:latin typeface="Arial"/>
                <a:cs typeface="Arial"/>
              </a:rPr>
              <a:t>users</a:t>
            </a:r>
            <a:r>
              <a:rPr sz="1000" spc="5" dirty="0">
                <a:latin typeface="Arial"/>
                <a:cs typeface="Arial"/>
              </a:rPr>
              <a:t> </a:t>
            </a:r>
            <a:r>
              <a:rPr sz="1000" spc="-5" dirty="0">
                <a:latin typeface="Arial"/>
                <a:cs typeface="Arial"/>
              </a:rPr>
              <a:t>during</a:t>
            </a:r>
            <a:r>
              <a:rPr sz="1000" spc="5" dirty="0">
                <a:latin typeface="Arial"/>
                <a:cs typeface="Arial"/>
              </a:rPr>
              <a:t> </a:t>
            </a:r>
            <a:r>
              <a:rPr sz="1000" spc="-5" dirty="0">
                <a:latin typeface="Arial"/>
                <a:cs typeface="Arial"/>
              </a:rPr>
              <a:t>six</a:t>
            </a:r>
            <a:r>
              <a:rPr sz="1000" spc="5" dirty="0">
                <a:latin typeface="Arial"/>
                <a:cs typeface="Arial"/>
              </a:rPr>
              <a:t> </a:t>
            </a:r>
            <a:r>
              <a:rPr sz="1000" spc="-5" dirty="0">
                <a:latin typeface="Arial"/>
                <a:cs typeface="Arial"/>
              </a:rPr>
              <a:t>months</a:t>
            </a:r>
            <a:r>
              <a:rPr sz="1000" spc="5" dirty="0">
                <a:latin typeface="Arial"/>
                <a:cs typeface="Arial"/>
              </a:rPr>
              <a:t> </a:t>
            </a:r>
            <a:r>
              <a:rPr sz="1000" spc="-5" dirty="0">
                <a:latin typeface="Arial"/>
                <a:cs typeface="Arial"/>
              </a:rPr>
              <a:t>leads</a:t>
            </a:r>
            <a:r>
              <a:rPr sz="1000" spc="5" dirty="0">
                <a:latin typeface="Arial"/>
                <a:cs typeface="Arial"/>
              </a:rPr>
              <a:t> </a:t>
            </a:r>
            <a:r>
              <a:rPr sz="1000" spc="-5" dirty="0">
                <a:latin typeface="Arial"/>
                <a:cs typeface="Arial"/>
              </a:rPr>
              <a:t>to:</a:t>
            </a:r>
            <a:endParaRPr sz="1000">
              <a:latin typeface="Arial"/>
              <a:cs typeface="Arial"/>
            </a:endParaRPr>
          </a:p>
        </p:txBody>
      </p:sp>
      <p:grpSp>
        <p:nvGrpSpPr>
          <p:cNvPr id="5" name="object 5"/>
          <p:cNvGrpSpPr/>
          <p:nvPr/>
        </p:nvGrpSpPr>
        <p:grpSpPr>
          <a:xfrm>
            <a:off x="1281927" y="1154818"/>
            <a:ext cx="2323465" cy="1314450"/>
            <a:chOff x="1281927" y="1154818"/>
            <a:chExt cx="2323465" cy="1314450"/>
          </a:xfrm>
        </p:grpSpPr>
        <p:sp>
          <p:nvSpPr>
            <p:cNvPr id="6" name="object 6"/>
            <p:cNvSpPr/>
            <p:nvPr/>
          </p:nvSpPr>
          <p:spPr>
            <a:xfrm>
              <a:off x="1287324" y="1160216"/>
              <a:ext cx="2312670" cy="1303655"/>
            </a:xfrm>
            <a:custGeom>
              <a:avLst/>
              <a:gdLst/>
              <a:ahLst/>
              <a:cxnLst/>
              <a:rect l="l" t="t" r="r" b="b"/>
              <a:pathLst>
                <a:path w="2312670" h="1303655">
                  <a:moveTo>
                    <a:pt x="0" y="0"/>
                  </a:moveTo>
                  <a:lnTo>
                    <a:pt x="708" y="137"/>
                  </a:lnTo>
                  <a:lnTo>
                    <a:pt x="1424" y="263"/>
                  </a:lnTo>
                  <a:lnTo>
                    <a:pt x="2836" y="516"/>
                  </a:lnTo>
                  <a:lnTo>
                    <a:pt x="45391" y="8559"/>
                  </a:lnTo>
                  <a:lnTo>
                    <a:pt x="94584" y="18678"/>
                  </a:lnTo>
                  <a:lnTo>
                    <a:pt x="140532" y="28945"/>
                  </a:lnTo>
                  <a:lnTo>
                    <a:pt x="185575" y="39771"/>
                  </a:lnTo>
                  <a:lnTo>
                    <a:pt x="234433" y="52357"/>
                  </a:lnTo>
                  <a:lnTo>
                    <a:pt x="280023" y="64879"/>
                  </a:lnTo>
                  <a:lnTo>
                    <a:pt x="329438" y="79278"/>
                  </a:lnTo>
                  <a:lnTo>
                    <a:pt x="377960" y="94204"/>
                  </a:lnTo>
                  <a:lnTo>
                    <a:pt x="423212" y="108814"/>
                  </a:lnTo>
                  <a:lnTo>
                    <a:pt x="472282" y="125343"/>
                  </a:lnTo>
                  <a:lnTo>
                    <a:pt x="518094" y="141386"/>
                  </a:lnTo>
                  <a:lnTo>
                    <a:pt x="562995" y="157640"/>
                  </a:lnTo>
                  <a:lnTo>
                    <a:pt x="611727" y="175834"/>
                  </a:lnTo>
                  <a:lnTo>
                    <a:pt x="657190" y="193279"/>
                  </a:lnTo>
                  <a:lnTo>
                    <a:pt x="706469" y="212664"/>
                  </a:lnTo>
                  <a:lnTo>
                    <a:pt x="754853" y="232144"/>
                  </a:lnTo>
                  <a:lnTo>
                    <a:pt x="799979" y="250664"/>
                  </a:lnTo>
                  <a:lnTo>
                    <a:pt x="848921" y="271125"/>
                  </a:lnTo>
                  <a:lnTo>
                    <a:pt x="894595" y="290541"/>
                  </a:lnTo>
                  <a:lnTo>
                    <a:pt x="944096" y="311908"/>
                  </a:lnTo>
                  <a:lnTo>
                    <a:pt x="992690" y="333211"/>
                  </a:lnTo>
                  <a:lnTo>
                    <a:pt x="1038027" y="353365"/>
                  </a:lnTo>
                  <a:lnTo>
                    <a:pt x="1087179" y="375512"/>
                  </a:lnTo>
                  <a:lnTo>
                    <a:pt x="1133064" y="396489"/>
                  </a:lnTo>
                  <a:lnTo>
                    <a:pt x="1178053" y="417328"/>
                  </a:lnTo>
                  <a:lnTo>
                    <a:pt x="1226869" y="440265"/>
                  </a:lnTo>
                  <a:lnTo>
                    <a:pt x="1272416" y="462012"/>
                  </a:lnTo>
                  <a:lnTo>
                    <a:pt x="1321780" y="485982"/>
                  </a:lnTo>
                  <a:lnTo>
                    <a:pt x="1370237" y="509963"/>
                  </a:lnTo>
                  <a:lnTo>
                    <a:pt x="1415447" y="532786"/>
                  </a:lnTo>
                  <a:lnTo>
                    <a:pt x="1464463" y="558093"/>
                  </a:lnTo>
                  <a:lnTo>
                    <a:pt x="1510221" y="582329"/>
                  </a:lnTo>
                  <a:lnTo>
                    <a:pt x="1555084" y="606720"/>
                  </a:lnTo>
                  <a:lnTo>
                    <a:pt x="1603762" y="634033"/>
                  </a:lnTo>
                  <a:lnTo>
                    <a:pt x="1649173" y="660406"/>
                  </a:lnTo>
                  <a:lnTo>
                    <a:pt x="1698410" y="690143"/>
                  </a:lnTo>
                  <a:lnTo>
                    <a:pt x="1744379" y="719152"/>
                  </a:lnTo>
                  <a:lnTo>
                    <a:pt x="1789452" y="748942"/>
                  </a:lnTo>
                  <a:lnTo>
                    <a:pt x="1838341" y="783027"/>
                  </a:lnTo>
                  <a:lnTo>
                    <a:pt x="1883973" y="816758"/>
                  </a:lnTo>
                  <a:lnTo>
                    <a:pt x="1933421" y="855773"/>
                  </a:lnTo>
                  <a:lnTo>
                    <a:pt x="1981963" y="896965"/>
                  </a:lnTo>
                  <a:lnTo>
                    <a:pt x="2027247" y="938425"/>
                  </a:lnTo>
                  <a:lnTo>
                    <a:pt x="2076347" y="987239"/>
                  </a:lnTo>
                  <a:lnTo>
                    <a:pt x="2122189" y="1037045"/>
                  </a:lnTo>
                  <a:lnTo>
                    <a:pt x="2167126" y="1090491"/>
                  </a:lnTo>
                  <a:lnTo>
                    <a:pt x="2215888" y="1154495"/>
                  </a:lnTo>
                  <a:lnTo>
                    <a:pt x="2261383" y="1220796"/>
                  </a:lnTo>
                  <a:lnTo>
                    <a:pt x="2262174" y="1222019"/>
                  </a:lnTo>
                  <a:lnTo>
                    <a:pt x="2262975" y="1223234"/>
                  </a:lnTo>
                  <a:lnTo>
                    <a:pt x="2264556" y="1225688"/>
                  </a:lnTo>
                  <a:lnTo>
                    <a:pt x="2267729" y="1230608"/>
                  </a:lnTo>
                  <a:lnTo>
                    <a:pt x="2274085" y="1240573"/>
                  </a:lnTo>
                  <a:lnTo>
                    <a:pt x="2286777" y="1260959"/>
                  </a:lnTo>
                  <a:lnTo>
                    <a:pt x="2287567" y="1262243"/>
                  </a:lnTo>
                  <a:lnTo>
                    <a:pt x="2288368" y="1263541"/>
                  </a:lnTo>
                  <a:lnTo>
                    <a:pt x="2301060" y="1284631"/>
                  </a:lnTo>
                  <a:lnTo>
                    <a:pt x="2302651" y="1287312"/>
                  </a:lnTo>
                  <a:lnTo>
                    <a:pt x="2305824" y="1292706"/>
                  </a:lnTo>
                  <a:lnTo>
                    <a:pt x="2306615" y="1294056"/>
                  </a:lnTo>
                  <a:lnTo>
                    <a:pt x="2307405" y="1295415"/>
                  </a:lnTo>
                  <a:lnTo>
                    <a:pt x="2308997" y="1298136"/>
                  </a:lnTo>
                  <a:lnTo>
                    <a:pt x="2309788" y="1299508"/>
                  </a:lnTo>
                  <a:lnTo>
                    <a:pt x="2310589" y="1300875"/>
                  </a:lnTo>
                  <a:lnTo>
                    <a:pt x="2311379" y="1302246"/>
                  </a:lnTo>
                  <a:lnTo>
                    <a:pt x="2312170" y="1303617"/>
                  </a:lnTo>
                </a:path>
              </a:pathLst>
            </a:custGeom>
            <a:ln w="10541">
              <a:solidFill>
                <a:srgbClr val="000000"/>
              </a:solidFill>
            </a:ln>
          </p:spPr>
          <p:txBody>
            <a:bodyPr wrap="square" lIns="0" tIns="0" rIns="0" bIns="0" rtlCol="0"/>
            <a:lstStyle/>
            <a:p>
              <a:endParaRPr/>
            </a:p>
          </p:txBody>
        </p:sp>
        <p:sp>
          <p:nvSpPr>
            <p:cNvPr id="7" name="object 7"/>
            <p:cNvSpPr/>
            <p:nvPr/>
          </p:nvSpPr>
          <p:spPr>
            <a:xfrm>
              <a:off x="1287324" y="2435298"/>
              <a:ext cx="701040" cy="28575"/>
            </a:xfrm>
            <a:custGeom>
              <a:avLst/>
              <a:gdLst/>
              <a:ahLst/>
              <a:cxnLst/>
              <a:rect l="l" t="t" r="r" b="b"/>
              <a:pathLst>
                <a:path w="701039" h="28575">
                  <a:moveTo>
                    <a:pt x="0" y="28534"/>
                  </a:moveTo>
                  <a:lnTo>
                    <a:pt x="0" y="0"/>
                  </a:lnTo>
                </a:path>
                <a:path w="701039" h="28575">
                  <a:moveTo>
                    <a:pt x="489588" y="28534"/>
                  </a:moveTo>
                  <a:lnTo>
                    <a:pt x="489588" y="0"/>
                  </a:lnTo>
                </a:path>
                <a:path w="701039" h="28575">
                  <a:moveTo>
                    <a:pt x="700440" y="28534"/>
                  </a:moveTo>
                  <a:lnTo>
                    <a:pt x="700440" y="0"/>
                  </a:lnTo>
                </a:path>
              </a:pathLst>
            </a:custGeom>
            <a:ln w="5270">
              <a:solidFill>
                <a:srgbClr val="000000"/>
              </a:solidFill>
            </a:ln>
          </p:spPr>
          <p:txBody>
            <a:bodyPr wrap="square" lIns="0" tIns="0" rIns="0" bIns="0" rtlCol="0"/>
            <a:lstStyle/>
            <a:p>
              <a:endParaRPr/>
            </a:p>
          </p:txBody>
        </p:sp>
      </p:grpSp>
      <p:sp>
        <p:nvSpPr>
          <p:cNvPr id="8" name="object 8"/>
          <p:cNvSpPr txBox="1"/>
          <p:nvPr/>
        </p:nvSpPr>
        <p:spPr>
          <a:xfrm>
            <a:off x="1745008" y="2460663"/>
            <a:ext cx="311785" cy="127000"/>
          </a:xfrm>
          <a:prstGeom prst="rect">
            <a:avLst/>
          </a:prstGeom>
        </p:spPr>
        <p:txBody>
          <a:bodyPr vert="horz" wrap="square" lIns="0" tIns="13970" rIns="0" bIns="0" rtlCol="0">
            <a:spAutoFit/>
          </a:bodyPr>
          <a:lstStyle/>
          <a:p>
            <a:pPr marL="12700">
              <a:lnSpc>
                <a:spcPct val="100000"/>
              </a:lnSpc>
              <a:spcBef>
                <a:spcPts val="110"/>
              </a:spcBef>
              <a:tabLst>
                <a:tab pos="204470" algn="l"/>
              </a:tabLst>
            </a:pPr>
            <a:r>
              <a:rPr sz="650" spc="5" dirty="0">
                <a:latin typeface="Arial"/>
                <a:cs typeface="Arial"/>
              </a:rPr>
              <a:t>5	10</a:t>
            </a:r>
            <a:endParaRPr sz="650">
              <a:latin typeface="Arial"/>
              <a:cs typeface="Arial"/>
            </a:endParaRPr>
          </a:p>
        </p:txBody>
      </p:sp>
      <p:sp>
        <p:nvSpPr>
          <p:cNvPr id="9" name="object 9"/>
          <p:cNvSpPr/>
          <p:nvPr/>
        </p:nvSpPr>
        <p:spPr>
          <a:xfrm>
            <a:off x="2477353" y="2435298"/>
            <a:ext cx="211454" cy="28575"/>
          </a:xfrm>
          <a:custGeom>
            <a:avLst/>
            <a:gdLst/>
            <a:ahLst/>
            <a:cxnLst/>
            <a:rect l="l" t="t" r="r" b="b"/>
            <a:pathLst>
              <a:path w="211455" h="28575">
                <a:moveTo>
                  <a:pt x="0" y="28534"/>
                </a:moveTo>
                <a:lnTo>
                  <a:pt x="0" y="0"/>
                </a:lnTo>
              </a:path>
              <a:path w="211455" h="28575">
                <a:moveTo>
                  <a:pt x="210851" y="28534"/>
                </a:moveTo>
                <a:lnTo>
                  <a:pt x="210851" y="0"/>
                </a:lnTo>
              </a:path>
            </a:pathLst>
          </a:custGeom>
          <a:ln w="5270">
            <a:solidFill>
              <a:srgbClr val="000000"/>
            </a:solidFill>
          </a:ln>
        </p:spPr>
        <p:txBody>
          <a:bodyPr wrap="square" lIns="0" tIns="0" rIns="0" bIns="0" rtlCol="0"/>
          <a:lstStyle/>
          <a:p>
            <a:endParaRPr/>
          </a:p>
        </p:txBody>
      </p:sp>
      <p:sp>
        <p:nvSpPr>
          <p:cNvPr id="10" name="object 10"/>
          <p:cNvSpPr txBox="1"/>
          <p:nvPr/>
        </p:nvSpPr>
        <p:spPr>
          <a:xfrm>
            <a:off x="2426547" y="2460663"/>
            <a:ext cx="35814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50  </a:t>
            </a:r>
            <a:r>
              <a:rPr sz="650" spc="140" dirty="0">
                <a:latin typeface="Arial"/>
                <a:cs typeface="Arial"/>
              </a:rPr>
              <a:t> </a:t>
            </a:r>
            <a:r>
              <a:rPr sz="650" spc="5" dirty="0">
                <a:latin typeface="Arial"/>
                <a:cs typeface="Arial"/>
              </a:rPr>
              <a:t>100</a:t>
            </a:r>
            <a:endParaRPr sz="650">
              <a:latin typeface="Arial"/>
              <a:cs typeface="Arial"/>
            </a:endParaRPr>
          </a:p>
        </p:txBody>
      </p:sp>
      <p:sp>
        <p:nvSpPr>
          <p:cNvPr id="11" name="object 11"/>
          <p:cNvSpPr/>
          <p:nvPr/>
        </p:nvSpPr>
        <p:spPr>
          <a:xfrm>
            <a:off x="1239153" y="1005063"/>
            <a:ext cx="2408555" cy="1489075"/>
          </a:xfrm>
          <a:custGeom>
            <a:avLst/>
            <a:gdLst/>
            <a:ahLst/>
            <a:cxnLst/>
            <a:rect l="l" t="t" r="r" b="b"/>
            <a:pathLst>
              <a:path w="2408554" h="1489075">
                <a:moveTo>
                  <a:pt x="1938638" y="1458769"/>
                </a:moveTo>
                <a:lnTo>
                  <a:pt x="1938638" y="1430235"/>
                </a:lnTo>
              </a:path>
              <a:path w="2408554" h="1489075">
                <a:moveTo>
                  <a:pt x="2149490" y="1458769"/>
                </a:moveTo>
                <a:lnTo>
                  <a:pt x="2149490" y="1430235"/>
                </a:lnTo>
              </a:path>
              <a:path w="2408554" h="1489075">
                <a:moveTo>
                  <a:pt x="259023" y="1458769"/>
                </a:moveTo>
                <a:lnTo>
                  <a:pt x="259023" y="1449736"/>
                </a:lnTo>
              </a:path>
              <a:path w="2408554" h="1489075">
                <a:moveTo>
                  <a:pt x="382362" y="1458769"/>
                </a:moveTo>
                <a:lnTo>
                  <a:pt x="382362" y="1449736"/>
                </a:lnTo>
              </a:path>
              <a:path w="2408554" h="1489075">
                <a:moveTo>
                  <a:pt x="469876" y="1458769"/>
                </a:moveTo>
                <a:lnTo>
                  <a:pt x="469876" y="1449736"/>
                </a:lnTo>
              </a:path>
              <a:path w="2408554" h="1489075">
                <a:moveTo>
                  <a:pt x="593214" y="1458769"/>
                </a:moveTo>
                <a:lnTo>
                  <a:pt x="593214" y="1449736"/>
                </a:lnTo>
              </a:path>
              <a:path w="2408554" h="1489075">
                <a:moveTo>
                  <a:pt x="640109" y="1458769"/>
                </a:moveTo>
                <a:lnTo>
                  <a:pt x="640109" y="1449736"/>
                </a:lnTo>
              </a:path>
              <a:path w="2408554" h="1489075">
                <a:moveTo>
                  <a:pt x="680726" y="1458769"/>
                </a:moveTo>
                <a:lnTo>
                  <a:pt x="680726" y="1449736"/>
                </a:lnTo>
              </a:path>
              <a:path w="2408554" h="1489075">
                <a:moveTo>
                  <a:pt x="716557" y="1458769"/>
                </a:moveTo>
                <a:lnTo>
                  <a:pt x="716557" y="1449736"/>
                </a:lnTo>
              </a:path>
              <a:path w="2408554" h="1489075">
                <a:moveTo>
                  <a:pt x="959463" y="1458769"/>
                </a:moveTo>
                <a:lnTo>
                  <a:pt x="959463" y="1449736"/>
                </a:lnTo>
              </a:path>
              <a:path w="2408554" h="1489075">
                <a:moveTo>
                  <a:pt x="1082804" y="1458769"/>
                </a:moveTo>
                <a:lnTo>
                  <a:pt x="1082804" y="1449736"/>
                </a:lnTo>
              </a:path>
              <a:path w="2408554" h="1489075">
                <a:moveTo>
                  <a:pt x="1170315" y="1458769"/>
                </a:moveTo>
                <a:lnTo>
                  <a:pt x="1170315" y="1449736"/>
                </a:lnTo>
              </a:path>
              <a:path w="2408554" h="1489075">
                <a:moveTo>
                  <a:pt x="1293655" y="1458769"/>
                </a:moveTo>
                <a:lnTo>
                  <a:pt x="1293655" y="1449736"/>
                </a:lnTo>
              </a:path>
              <a:path w="2408554" h="1489075">
                <a:moveTo>
                  <a:pt x="1340552" y="1458769"/>
                </a:moveTo>
                <a:lnTo>
                  <a:pt x="1340552" y="1449736"/>
                </a:lnTo>
              </a:path>
              <a:path w="2408554" h="1489075">
                <a:moveTo>
                  <a:pt x="1381167" y="1458769"/>
                </a:moveTo>
                <a:lnTo>
                  <a:pt x="1381167" y="1449736"/>
                </a:lnTo>
              </a:path>
              <a:path w="2408554" h="1489075">
                <a:moveTo>
                  <a:pt x="1416996" y="1458769"/>
                </a:moveTo>
                <a:lnTo>
                  <a:pt x="1416996" y="1449736"/>
                </a:lnTo>
              </a:path>
              <a:path w="2408554" h="1489075">
                <a:moveTo>
                  <a:pt x="1659902" y="1458769"/>
                </a:moveTo>
                <a:lnTo>
                  <a:pt x="1659902" y="1449736"/>
                </a:lnTo>
              </a:path>
              <a:path w="2408554" h="1489075">
                <a:moveTo>
                  <a:pt x="1783243" y="1458769"/>
                </a:moveTo>
                <a:lnTo>
                  <a:pt x="1783243" y="1449736"/>
                </a:lnTo>
              </a:path>
              <a:path w="2408554" h="1489075">
                <a:moveTo>
                  <a:pt x="1870754" y="1458769"/>
                </a:moveTo>
                <a:lnTo>
                  <a:pt x="1870754" y="1449736"/>
                </a:lnTo>
              </a:path>
              <a:path w="2408554" h="1489075">
                <a:moveTo>
                  <a:pt x="1994094" y="1458769"/>
                </a:moveTo>
                <a:lnTo>
                  <a:pt x="1994094" y="1449736"/>
                </a:lnTo>
              </a:path>
              <a:path w="2408554" h="1489075">
                <a:moveTo>
                  <a:pt x="2040991" y="1458769"/>
                </a:moveTo>
                <a:lnTo>
                  <a:pt x="2040991" y="1449736"/>
                </a:lnTo>
              </a:path>
              <a:path w="2408554" h="1489075">
                <a:moveTo>
                  <a:pt x="2081606" y="1458769"/>
                </a:moveTo>
                <a:lnTo>
                  <a:pt x="2081606" y="1449736"/>
                </a:lnTo>
              </a:path>
              <a:path w="2408554" h="1489075">
                <a:moveTo>
                  <a:pt x="2117445" y="1458769"/>
                </a:moveTo>
                <a:lnTo>
                  <a:pt x="2117445" y="1449736"/>
                </a:lnTo>
              </a:path>
              <a:path w="2408554" h="1489075">
                <a:moveTo>
                  <a:pt x="2360341" y="1458769"/>
                </a:moveTo>
                <a:lnTo>
                  <a:pt x="2360341" y="1449736"/>
                </a:lnTo>
              </a:path>
              <a:path w="2408554" h="1489075">
                <a:moveTo>
                  <a:pt x="0" y="1458769"/>
                </a:moveTo>
                <a:lnTo>
                  <a:pt x="2408514" y="1458769"/>
                </a:lnTo>
              </a:path>
              <a:path w="2408554" h="1489075">
                <a:moveTo>
                  <a:pt x="48171" y="1108417"/>
                </a:moveTo>
                <a:lnTo>
                  <a:pt x="76705" y="1108417"/>
                </a:lnTo>
              </a:path>
              <a:path w="2408554" h="1489075">
                <a:moveTo>
                  <a:pt x="48171" y="748863"/>
                </a:moveTo>
                <a:lnTo>
                  <a:pt x="76705" y="748863"/>
                </a:lnTo>
              </a:path>
              <a:path w="2408554" h="1489075">
                <a:moveTo>
                  <a:pt x="48171" y="389321"/>
                </a:moveTo>
                <a:lnTo>
                  <a:pt x="76705" y="389321"/>
                </a:lnTo>
              </a:path>
              <a:path w="2408554" h="1489075">
                <a:moveTo>
                  <a:pt x="48171" y="1273952"/>
                </a:moveTo>
                <a:lnTo>
                  <a:pt x="57204" y="1273952"/>
                </a:lnTo>
              </a:path>
              <a:path w="2408554" h="1489075">
                <a:moveTo>
                  <a:pt x="48171" y="1223158"/>
                </a:moveTo>
                <a:lnTo>
                  <a:pt x="57204" y="1223158"/>
                </a:lnTo>
              </a:path>
              <a:path w="2408554" h="1489075">
                <a:moveTo>
                  <a:pt x="48171" y="1192643"/>
                </a:moveTo>
                <a:lnTo>
                  <a:pt x="57204" y="1192643"/>
                </a:lnTo>
              </a:path>
              <a:path w="2408554" h="1489075">
                <a:moveTo>
                  <a:pt x="48171" y="1170758"/>
                </a:moveTo>
                <a:lnTo>
                  <a:pt x="57204" y="1170758"/>
                </a:lnTo>
              </a:path>
              <a:path w="2408554" h="1489075">
                <a:moveTo>
                  <a:pt x="48171" y="1153682"/>
                </a:moveTo>
                <a:lnTo>
                  <a:pt x="57204" y="1153682"/>
                </a:lnTo>
              </a:path>
              <a:path w="2408554" h="1489075">
                <a:moveTo>
                  <a:pt x="48171" y="1139682"/>
                </a:moveTo>
                <a:lnTo>
                  <a:pt x="57204" y="1139682"/>
                </a:lnTo>
              </a:path>
              <a:path w="2408554" h="1489075">
                <a:moveTo>
                  <a:pt x="48171" y="1127816"/>
                </a:moveTo>
                <a:lnTo>
                  <a:pt x="57204" y="1127816"/>
                </a:lnTo>
              </a:path>
              <a:path w="2408554" h="1489075">
                <a:moveTo>
                  <a:pt x="48171" y="1117513"/>
                </a:moveTo>
                <a:lnTo>
                  <a:pt x="57204" y="1117513"/>
                </a:lnTo>
              </a:path>
              <a:path w="2408554" h="1489075">
                <a:moveTo>
                  <a:pt x="48171" y="914410"/>
                </a:moveTo>
                <a:lnTo>
                  <a:pt x="57204" y="914410"/>
                </a:lnTo>
              </a:path>
              <a:path w="2408554" h="1489075">
                <a:moveTo>
                  <a:pt x="48171" y="863615"/>
                </a:moveTo>
                <a:lnTo>
                  <a:pt x="57204" y="863615"/>
                </a:lnTo>
              </a:path>
              <a:path w="2408554" h="1489075">
                <a:moveTo>
                  <a:pt x="48171" y="833100"/>
                </a:moveTo>
                <a:lnTo>
                  <a:pt x="57204" y="833100"/>
                </a:lnTo>
              </a:path>
              <a:path w="2408554" h="1489075">
                <a:moveTo>
                  <a:pt x="48171" y="811215"/>
                </a:moveTo>
                <a:lnTo>
                  <a:pt x="57204" y="811215"/>
                </a:lnTo>
              </a:path>
              <a:path w="2408554" h="1489075">
                <a:moveTo>
                  <a:pt x="48171" y="794139"/>
                </a:moveTo>
                <a:lnTo>
                  <a:pt x="57204" y="794139"/>
                </a:lnTo>
              </a:path>
              <a:path w="2408554" h="1489075">
                <a:moveTo>
                  <a:pt x="48171" y="780132"/>
                </a:moveTo>
                <a:lnTo>
                  <a:pt x="57204" y="780132"/>
                </a:lnTo>
              </a:path>
              <a:path w="2408554" h="1489075">
                <a:moveTo>
                  <a:pt x="48171" y="768260"/>
                </a:moveTo>
                <a:lnTo>
                  <a:pt x="57204" y="768260"/>
                </a:lnTo>
              </a:path>
              <a:path w="2408554" h="1489075">
                <a:moveTo>
                  <a:pt x="48171" y="757963"/>
                </a:moveTo>
                <a:lnTo>
                  <a:pt x="57204" y="757963"/>
                </a:lnTo>
              </a:path>
              <a:path w="2408554" h="1489075">
                <a:moveTo>
                  <a:pt x="48171" y="554857"/>
                </a:moveTo>
                <a:lnTo>
                  <a:pt x="57204" y="554857"/>
                </a:lnTo>
              </a:path>
              <a:path w="2408554" h="1489075">
                <a:moveTo>
                  <a:pt x="48171" y="504060"/>
                </a:moveTo>
                <a:lnTo>
                  <a:pt x="57204" y="504060"/>
                </a:lnTo>
              </a:path>
              <a:path w="2408554" h="1489075">
                <a:moveTo>
                  <a:pt x="48171" y="473543"/>
                </a:moveTo>
                <a:lnTo>
                  <a:pt x="57204" y="473543"/>
                </a:lnTo>
              </a:path>
              <a:path w="2408554" h="1489075">
                <a:moveTo>
                  <a:pt x="48171" y="451660"/>
                </a:moveTo>
                <a:lnTo>
                  <a:pt x="57204" y="451660"/>
                </a:lnTo>
              </a:path>
              <a:path w="2408554" h="1489075">
                <a:moveTo>
                  <a:pt x="48171" y="434584"/>
                </a:moveTo>
                <a:lnTo>
                  <a:pt x="57204" y="434584"/>
                </a:lnTo>
              </a:path>
              <a:path w="2408554" h="1489075">
                <a:moveTo>
                  <a:pt x="48171" y="420585"/>
                </a:moveTo>
                <a:lnTo>
                  <a:pt x="57204" y="420585"/>
                </a:lnTo>
              </a:path>
              <a:path w="2408554" h="1489075">
                <a:moveTo>
                  <a:pt x="48171" y="408716"/>
                </a:moveTo>
                <a:lnTo>
                  <a:pt x="57204" y="408716"/>
                </a:lnTo>
              </a:path>
              <a:path w="2408554" h="1489075">
                <a:moveTo>
                  <a:pt x="48171" y="398418"/>
                </a:moveTo>
                <a:lnTo>
                  <a:pt x="57204" y="398418"/>
                </a:lnTo>
              </a:path>
              <a:path w="2408554" h="1489075">
                <a:moveTo>
                  <a:pt x="48171" y="195303"/>
                </a:moveTo>
                <a:lnTo>
                  <a:pt x="57204" y="195303"/>
                </a:lnTo>
              </a:path>
              <a:path w="2408554" h="1489075">
                <a:moveTo>
                  <a:pt x="48171" y="144517"/>
                </a:moveTo>
                <a:lnTo>
                  <a:pt x="57204" y="144517"/>
                </a:lnTo>
              </a:path>
              <a:path w="2408554" h="1489075">
                <a:moveTo>
                  <a:pt x="48171" y="114000"/>
                </a:moveTo>
                <a:lnTo>
                  <a:pt x="57204" y="114000"/>
                </a:lnTo>
              </a:path>
              <a:path w="2408554" h="1489075">
                <a:moveTo>
                  <a:pt x="48171" y="92107"/>
                </a:moveTo>
                <a:lnTo>
                  <a:pt x="57204" y="92107"/>
                </a:lnTo>
              </a:path>
              <a:path w="2408554" h="1489075">
                <a:moveTo>
                  <a:pt x="48171" y="29767"/>
                </a:moveTo>
                <a:lnTo>
                  <a:pt x="76705" y="29767"/>
                </a:lnTo>
              </a:path>
              <a:path w="2408554" h="1489075">
                <a:moveTo>
                  <a:pt x="48171" y="75041"/>
                </a:moveTo>
                <a:lnTo>
                  <a:pt x="57204" y="75041"/>
                </a:lnTo>
              </a:path>
              <a:path w="2408554" h="1489075">
                <a:moveTo>
                  <a:pt x="48171" y="61032"/>
                </a:moveTo>
                <a:lnTo>
                  <a:pt x="57204" y="61032"/>
                </a:lnTo>
              </a:path>
              <a:path w="2408554" h="1489075">
                <a:moveTo>
                  <a:pt x="48171" y="49163"/>
                </a:moveTo>
                <a:lnTo>
                  <a:pt x="57204" y="49163"/>
                </a:lnTo>
              </a:path>
              <a:path w="2408554" h="1489075">
                <a:moveTo>
                  <a:pt x="48171" y="38864"/>
                </a:moveTo>
                <a:lnTo>
                  <a:pt x="57204" y="38864"/>
                </a:lnTo>
              </a:path>
              <a:path w="2408554" h="1489075">
                <a:moveTo>
                  <a:pt x="48171" y="1488536"/>
                </a:moveTo>
                <a:lnTo>
                  <a:pt x="48171" y="0"/>
                </a:lnTo>
              </a:path>
            </a:pathLst>
          </a:custGeom>
          <a:ln w="5270">
            <a:solidFill>
              <a:srgbClr val="000000"/>
            </a:solidFill>
          </a:ln>
        </p:spPr>
        <p:txBody>
          <a:bodyPr wrap="square" lIns="0" tIns="0" rIns="0" bIns="0" rtlCol="0"/>
          <a:lstStyle/>
          <a:p>
            <a:endParaRPr/>
          </a:p>
        </p:txBody>
      </p:sp>
      <p:sp>
        <p:nvSpPr>
          <p:cNvPr id="12" name="object 12"/>
          <p:cNvSpPr txBox="1"/>
          <p:nvPr/>
        </p:nvSpPr>
        <p:spPr>
          <a:xfrm>
            <a:off x="1025702" y="1648096"/>
            <a:ext cx="254635" cy="127000"/>
          </a:xfrm>
          <a:prstGeom prst="rect">
            <a:avLst/>
          </a:prstGeom>
        </p:spPr>
        <p:txBody>
          <a:bodyPr vert="horz" wrap="square" lIns="0" tIns="13970" rIns="0" bIns="0" rtlCol="0">
            <a:spAutoFit/>
          </a:bodyPr>
          <a:lstStyle/>
          <a:p>
            <a:pPr marL="38100">
              <a:lnSpc>
                <a:spcPct val="100000"/>
              </a:lnSpc>
              <a:spcBef>
                <a:spcPts val="110"/>
              </a:spcBef>
            </a:pPr>
            <a:r>
              <a:rPr sz="975" spc="7" baseline="-34188" dirty="0">
                <a:latin typeface="Arial"/>
                <a:cs typeface="Arial"/>
              </a:rPr>
              <a:t>10</a:t>
            </a:r>
            <a:r>
              <a:rPr sz="975" spc="-52" baseline="-34188" dirty="0">
                <a:latin typeface="Arial"/>
                <a:cs typeface="Arial"/>
              </a:rPr>
              <a:t> </a:t>
            </a:r>
            <a:r>
              <a:rPr sz="550" spc="10" dirty="0">
                <a:latin typeface="Arial"/>
                <a:cs typeface="Arial"/>
              </a:rPr>
              <a:t>-4</a:t>
            </a:r>
            <a:endParaRPr sz="550">
              <a:latin typeface="Arial"/>
              <a:cs typeface="Arial"/>
            </a:endParaRPr>
          </a:p>
        </p:txBody>
      </p:sp>
      <p:sp>
        <p:nvSpPr>
          <p:cNvPr id="18" name="object 18"/>
          <p:cNvSpPr txBox="1"/>
          <p:nvPr/>
        </p:nvSpPr>
        <p:spPr>
          <a:xfrm>
            <a:off x="66713" y="3331252"/>
            <a:ext cx="9201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Mobile</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computing</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19" name="object 1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52</a:t>
            </a:r>
            <a:r>
              <a:rPr spc="-40" dirty="0"/>
              <a:t> </a:t>
            </a:r>
            <a:r>
              <a:rPr spc="-5" dirty="0"/>
              <a:t>/</a:t>
            </a:r>
            <a:r>
              <a:rPr spc="-35" dirty="0"/>
              <a:t> </a:t>
            </a:r>
            <a:r>
              <a:rPr spc="-5" dirty="0"/>
              <a:t>56</a:t>
            </a:r>
          </a:p>
        </p:txBody>
      </p:sp>
      <p:sp>
        <p:nvSpPr>
          <p:cNvPr id="13" name="object 13"/>
          <p:cNvSpPr txBox="1"/>
          <p:nvPr/>
        </p:nvSpPr>
        <p:spPr>
          <a:xfrm>
            <a:off x="1025702" y="2006655"/>
            <a:ext cx="254635" cy="127000"/>
          </a:xfrm>
          <a:prstGeom prst="rect">
            <a:avLst/>
          </a:prstGeom>
        </p:spPr>
        <p:txBody>
          <a:bodyPr vert="horz" wrap="square" lIns="0" tIns="13970" rIns="0" bIns="0" rtlCol="0">
            <a:spAutoFit/>
          </a:bodyPr>
          <a:lstStyle/>
          <a:p>
            <a:pPr marL="38100">
              <a:lnSpc>
                <a:spcPct val="100000"/>
              </a:lnSpc>
              <a:spcBef>
                <a:spcPts val="110"/>
              </a:spcBef>
            </a:pPr>
            <a:r>
              <a:rPr sz="975" spc="7" baseline="-34188" dirty="0">
                <a:latin typeface="Arial"/>
                <a:cs typeface="Arial"/>
              </a:rPr>
              <a:t>10</a:t>
            </a:r>
            <a:r>
              <a:rPr sz="975" spc="-52" baseline="-34188" dirty="0">
                <a:latin typeface="Arial"/>
                <a:cs typeface="Arial"/>
              </a:rPr>
              <a:t> </a:t>
            </a:r>
            <a:r>
              <a:rPr sz="550" spc="10" dirty="0">
                <a:latin typeface="Arial"/>
                <a:cs typeface="Arial"/>
              </a:rPr>
              <a:t>-6</a:t>
            </a:r>
            <a:endParaRPr sz="550">
              <a:latin typeface="Arial"/>
              <a:cs typeface="Arial"/>
            </a:endParaRPr>
          </a:p>
        </p:txBody>
      </p:sp>
      <p:sp>
        <p:nvSpPr>
          <p:cNvPr id="14" name="object 14"/>
          <p:cNvSpPr txBox="1"/>
          <p:nvPr/>
        </p:nvSpPr>
        <p:spPr>
          <a:xfrm>
            <a:off x="1013319" y="967794"/>
            <a:ext cx="280035" cy="448945"/>
          </a:xfrm>
          <a:prstGeom prst="rect">
            <a:avLst/>
          </a:prstGeom>
        </p:spPr>
        <p:txBody>
          <a:bodyPr vert="horz" wrap="square" lIns="0" tIns="13970" rIns="0" bIns="0" rtlCol="0">
            <a:spAutoFit/>
          </a:bodyPr>
          <a:lstStyle/>
          <a:p>
            <a:pPr marL="26670" algn="ctr">
              <a:lnSpc>
                <a:spcPct val="100000"/>
              </a:lnSpc>
              <a:spcBef>
                <a:spcPts val="110"/>
              </a:spcBef>
            </a:pPr>
            <a:r>
              <a:rPr sz="650" spc="5" dirty="0">
                <a:latin typeface="Arial"/>
                <a:cs typeface="Arial"/>
              </a:rPr>
              <a:t>1</a:t>
            </a:r>
            <a:endParaRPr sz="650">
              <a:latin typeface="Arial"/>
              <a:cs typeface="Arial"/>
            </a:endParaRPr>
          </a:p>
          <a:p>
            <a:pPr>
              <a:lnSpc>
                <a:spcPct val="100000"/>
              </a:lnSpc>
            </a:pPr>
            <a:endParaRPr sz="600">
              <a:latin typeface="Arial"/>
              <a:cs typeface="Arial"/>
            </a:endParaRPr>
          </a:p>
          <a:p>
            <a:pPr>
              <a:lnSpc>
                <a:spcPct val="100000"/>
              </a:lnSpc>
            </a:pPr>
            <a:endParaRPr sz="600">
              <a:latin typeface="Arial"/>
              <a:cs typeface="Arial"/>
            </a:endParaRPr>
          </a:p>
          <a:p>
            <a:pPr algn="ctr">
              <a:lnSpc>
                <a:spcPct val="100000"/>
              </a:lnSpc>
              <a:spcBef>
                <a:spcPts val="380"/>
              </a:spcBef>
            </a:pPr>
            <a:r>
              <a:rPr sz="975" spc="7" baseline="-34188" dirty="0">
                <a:latin typeface="Arial"/>
                <a:cs typeface="Arial"/>
              </a:rPr>
              <a:t>10</a:t>
            </a:r>
            <a:r>
              <a:rPr sz="975" spc="-52" baseline="-34188" dirty="0">
                <a:latin typeface="Arial"/>
                <a:cs typeface="Arial"/>
              </a:rPr>
              <a:t> </a:t>
            </a:r>
            <a:r>
              <a:rPr sz="550" spc="10" dirty="0">
                <a:latin typeface="Arial"/>
                <a:cs typeface="Arial"/>
              </a:rPr>
              <a:t>-2</a:t>
            </a:r>
            <a:endParaRPr sz="550">
              <a:latin typeface="Arial"/>
              <a:cs typeface="Arial"/>
            </a:endParaRPr>
          </a:p>
        </p:txBody>
      </p:sp>
      <p:sp>
        <p:nvSpPr>
          <p:cNvPr id="15" name="object 15"/>
          <p:cNvSpPr txBox="1"/>
          <p:nvPr/>
        </p:nvSpPr>
        <p:spPr>
          <a:xfrm>
            <a:off x="2938085" y="2433045"/>
            <a:ext cx="575310" cy="283210"/>
          </a:xfrm>
          <a:prstGeom prst="rect">
            <a:avLst/>
          </a:prstGeom>
        </p:spPr>
        <p:txBody>
          <a:bodyPr vert="horz" wrap="square" lIns="0" tIns="41910" rIns="0" bIns="0" rtlCol="0">
            <a:spAutoFit/>
          </a:bodyPr>
          <a:lstStyle/>
          <a:p>
            <a:pPr marR="5080" algn="r">
              <a:lnSpc>
                <a:spcPct val="100000"/>
              </a:lnSpc>
              <a:spcBef>
                <a:spcPts val="330"/>
              </a:spcBef>
            </a:pPr>
            <a:r>
              <a:rPr sz="650" spc="5" dirty="0">
                <a:latin typeface="Arial"/>
                <a:cs typeface="Arial"/>
              </a:rPr>
              <a:t>500</a:t>
            </a:r>
            <a:r>
              <a:rPr sz="650" spc="165" dirty="0">
                <a:latin typeface="Arial"/>
                <a:cs typeface="Arial"/>
              </a:rPr>
              <a:t> </a:t>
            </a:r>
            <a:r>
              <a:rPr sz="650" spc="5" dirty="0">
                <a:latin typeface="Arial"/>
                <a:cs typeface="Arial"/>
              </a:rPr>
              <a:t>1000</a:t>
            </a:r>
            <a:endParaRPr sz="650">
              <a:latin typeface="Arial"/>
              <a:cs typeface="Arial"/>
            </a:endParaRPr>
          </a:p>
          <a:p>
            <a:pPr marR="43815" algn="r">
              <a:lnSpc>
                <a:spcPct val="100000"/>
              </a:lnSpc>
              <a:spcBef>
                <a:spcPts val="235"/>
              </a:spcBef>
            </a:pPr>
            <a:r>
              <a:rPr sz="650" spc="5" dirty="0">
                <a:latin typeface="Arial"/>
                <a:cs typeface="Arial"/>
              </a:rPr>
              <a:t>Displacement</a:t>
            </a:r>
            <a:endParaRPr sz="650">
              <a:latin typeface="Arial"/>
              <a:cs typeface="Arial"/>
            </a:endParaRPr>
          </a:p>
        </p:txBody>
      </p:sp>
      <p:sp>
        <p:nvSpPr>
          <p:cNvPr id="16" name="object 16"/>
          <p:cNvSpPr txBox="1"/>
          <p:nvPr/>
        </p:nvSpPr>
        <p:spPr>
          <a:xfrm>
            <a:off x="937752" y="1586576"/>
            <a:ext cx="109855" cy="419100"/>
          </a:xfrm>
          <a:prstGeom prst="rect">
            <a:avLst/>
          </a:prstGeom>
        </p:spPr>
        <p:txBody>
          <a:bodyPr vert="vert270" wrap="square" lIns="0" tIns="0" rIns="0" bIns="0" rtlCol="0">
            <a:spAutoFit/>
          </a:bodyPr>
          <a:lstStyle/>
          <a:p>
            <a:pPr marL="12700">
              <a:lnSpc>
                <a:spcPts val="745"/>
              </a:lnSpc>
            </a:pPr>
            <a:r>
              <a:rPr sz="650" dirty="0">
                <a:latin typeface="Arial"/>
                <a:cs typeface="Arial"/>
              </a:rPr>
              <a:t>Probability</a:t>
            </a:r>
            <a:endParaRPr sz="650">
              <a:latin typeface="Arial"/>
              <a:cs typeface="Arial"/>
            </a:endParaRPr>
          </a:p>
        </p:txBody>
      </p:sp>
      <p:sp>
        <p:nvSpPr>
          <p:cNvPr id="17" name="object 17"/>
          <p:cNvSpPr txBox="1"/>
          <p:nvPr/>
        </p:nvSpPr>
        <p:spPr>
          <a:xfrm>
            <a:off x="347294" y="2759537"/>
            <a:ext cx="3872229" cy="329565"/>
          </a:xfrm>
          <a:prstGeom prst="rect">
            <a:avLst/>
          </a:prstGeom>
        </p:spPr>
        <p:txBody>
          <a:bodyPr vert="horz" wrap="square" lIns="0" tIns="12065" rIns="0" bIns="0" rtlCol="0">
            <a:spAutoFit/>
          </a:bodyPr>
          <a:lstStyle/>
          <a:p>
            <a:pPr marL="12700" marR="5080">
              <a:lnSpc>
                <a:spcPct val="100000"/>
              </a:lnSpc>
              <a:spcBef>
                <a:spcPts val="95"/>
              </a:spcBef>
            </a:pPr>
            <a:r>
              <a:rPr sz="1000" spc="-10" dirty="0">
                <a:solidFill>
                  <a:srgbClr val="0000FA"/>
                </a:solidFill>
                <a:latin typeface="Arial"/>
                <a:cs typeface="Arial"/>
              </a:rPr>
              <a:t>Moreover</a:t>
            </a:r>
            <a:r>
              <a:rPr sz="1000" spc="-10" dirty="0">
                <a:latin typeface="Arial"/>
                <a:cs typeface="Arial"/>
              </a:rPr>
              <a:t>:</a:t>
            </a:r>
            <a:r>
              <a:rPr sz="1000" spc="65" dirty="0">
                <a:latin typeface="Arial"/>
                <a:cs typeface="Arial"/>
              </a:rPr>
              <a:t> </a:t>
            </a:r>
            <a:r>
              <a:rPr sz="1000" spc="-5" dirty="0">
                <a:latin typeface="Arial"/>
                <a:cs typeface="Arial"/>
              </a:rPr>
              <a:t>people</a:t>
            </a:r>
            <a:r>
              <a:rPr sz="1000" dirty="0">
                <a:latin typeface="Arial"/>
                <a:cs typeface="Arial"/>
              </a:rPr>
              <a:t> </a:t>
            </a:r>
            <a:r>
              <a:rPr sz="1000" spc="-5" dirty="0">
                <a:latin typeface="Arial"/>
                <a:cs typeface="Arial"/>
              </a:rPr>
              <a:t>tend</a:t>
            </a:r>
            <a:r>
              <a:rPr sz="1000" dirty="0">
                <a:latin typeface="Arial"/>
                <a:cs typeface="Arial"/>
              </a:rPr>
              <a:t> </a:t>
            </a:r>
            <a:r>
              <a:rPr sz="1000" spc="-5" dirty="0">
                <a:latin typeface="Arial"/>
                <a:cs typeface="Arial"/>
              </a:rPr>
              <a:t>to</a:t>
            </a:r>
            <a:r>
              <a:rPr sz="1000" dirty="0">
                <a:latin typeface="Arial"/>
                <a:cs typeface="Arial"/>
              </a:rPr>
              <a:t> return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a:t>
            </a:r>
            <a:r>
              <a:rPr sz="1000" dirty="0">
                <a:latin typeface="Arial"/>
                <a:cs typeface="Arial"/>
              </a:rPr>
              <a:t> </a:t>
            </a:r>
            <a:r>
              <a:rPr sz="1000" spc="-5" dirty="0">
                <a:latin typeface="Arial"/>
                <a:cs typeface="Arial"/>
              </a:rPr>
              <a:t>place</a:t>
            </a:r>
            <a:r>
              <a:rPr sz="1000"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24,</a:t>
            </a:r>
            <a:r>
              <a:rPr sz="1000" dirty="0">
                <a:latin typeface="Arial"/>
                <a:cs typeface="Arial"/>
              </a:rPr>
              <a:t> </a:t>
            </a:r>
            <a:r>
              <a:rPr sz="1000" spc="-5" dirty="0">
                <a:latin typeface="Arial"/>
                <a:cs typeface="Arial"/>
              </a:rPr>
              <a:t>48,</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72 </a:t>
            </a:r>
            <a:r>
              <a:rPr sz="1000" spc="-260" dirty="0">
                <a:latin typeface="Arial"/>
                <a:cs typeface="Arial"/>
              </a:rPr>
              <a:t> </a:t>
            </a:r>
            <a:r>
              <a:rPr sz="1000" spc="-5" dirty="0">
                <a:latin typeface="Arial"/>
                <a:cs typeface="Arial"/>
              </a:rPr>
              <a:t>hours</a:t>
            </a:r>
            <a:r>
              <a:rPr sz="1000" spc="-10" dirty="0">
                <a:latin typeface="Arial"/>
                <a:cs typeface="Arial"/>
              </a:rPr>
              <a:t> </a:t>
            </a:r>
            <a:r>
              <a:rPr sz="1000" i="1" spc="-5" dirty="0">
                <a:latin typeface="メイリオ"/>
                <a:cs typeface="メイリオ"/>
              </a:rPr>
              <a:t>⇒</a:t>
            </a:r>
            <a:r>
              <a:rPr sz="1000" i="1" spc="-65" dirty="0">
                <a:latin typeface="メイリオ"/>
                <a:cs typeface="メイリオ"/>
              </a:rPr>
              <a:t> </a:t>
            </a:r>
            <a:r>
              <a:rPr sz="1000" spc="-15" dirty="0">
                <a:latin typeface="Arial"/>
                <a:cs typeface="Arial"/>
              </a:rPr>
              <a:t>we’re</a:t>
            </a:r>
            <a:r>
              <a:rPr sz="1000" spc="-5" dirty="0">
                <a:latin typeface="Arial"/>
                <a:cs typeface="Arial"/>
              </a:rPr>
              <a:t> not that mobile.</a:t>
            </a:r>
            <a:endParaRPr sz="1000">
              <a:latin typeface="Arial"/>
              <a:cs typeface="Arial"/>
            </a:endParaRP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5911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Sensor</a:t>
            </a:r>
            <a:r>
              <a:rPr sz="600" spc="-4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networks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53</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138366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Sensor</a:t>
            </a:r>
            <a:r>
              <a:rPr sz="1400" spc="-45" dirty="0">
                <a:solidFill>
                  <a:srgbClr val="3333B2"/>
                </a:solidFill>
                <a:latin typeface="Arial"/>
                <a:cs typeface="Arial"/>
              </a:rPr>
              <a:t> </a:t>
            </a:r>
            <a:r>
              <a:rPr sz="1400" spc="15" dirty="0">
                <a:solidFill>
                  <a:srgbClr val="3333B2"/>
                </a:solidFill>
                <a:latin typeface="Arial"/>
                <a:cs typeface="Arial"/>
              </a:rPr>
              <a:t>networks</a:t>
            </a:r>
            <a:endParaRPr sz="1400">
              <a:latin typeface="Arial"/>
              <a:cs typeface="Arial"/>
            </a:endParaRPr>
          </a:p>
        </p:txBody>
      </p:sp>
      <p:sp>
        <p:nvSpPr>
          <p:cNvPr id="5" name="object 5"/>
          <p:cNvSpPr txBox="1"/>
          <p:nvPr/>
        </p:nvSpPr>
        <p:spPr>
          <a:xfrm>
            <a:off x="317982" y="1127655"/>
            <a:ext cx="3559175" cy="1036319"/>
          </a:xfrm>
          <a:prstGeom prst="rect">
            <a:avLst/>
          </a:prstGeom>
        </p:spPr>
        <p:txBody>
          <a:bodyPr vert="horz" wrap="square" lIns="0" tIns="12065" rIns="0" bIns="0" rtlCol="0">
            <a:spAutoFit/>
          </a:bodyPr>
          <a:lstStyle/>
          <a:p>
            <a:pPr marL="41910">
              <a:lnSpc>
                <a:spcPts val="1410"/>
              </a:lnSpc>
              <a:spcBef>
                <a:spcPts val="95"/>
              </a:spcBef>
            </a:pPr>
            <a:r>
              <a:rPr sz="1200" spc="-5" dirty="0">
                <a:solidFill>
                  <a:srgbClr val="3333B2"/>
                </a:solidFill>
                <a:latin typeface="Arial"/>
                <a:cs typeface="Arial"/>
              </a:rPr>
              <a:t>Characteristics</a:t>
            </a:r>
            <a:endParaRPr sz="1200">
              <a:latin typeface="Arial"/>
              <a:cs typeface="Arial"/>
            </a:endParaRPr>
          </a:p>
          <a:p>
            <a:pPr marL="38100">
              <a:lnSpc>
                <a:spcPts val="1170"/>
              </a:lnSpc>
            </a:pPr>
            <a:r>
              <a:rPr sz="1000" spc="-5" dirty="0">
                <a:latin typeface="Arial"/>
                <a:cs typeface="Arial"/>
              </a:rPr>
              <a:t>The </a:t>
            </a:r>
            <a:r>
              <a:rPr sz="1000" spc="-5" dirty="0">
                <a:solidFill>
                  <a:srgbClr val="0000FA"/>
                </a:solidFill>
                <a:latin typeface="Arial"/>
                <a:cs typeface="Arial"/>
              </a:rPr>
              <a:t>nodes </a:t>
            </a:r>
            <a:r>
              <a:rPr sz="1000" spc="-5" dirty="0">
                <a:latin typeface="Arial"/>
                <a:cs typeface="Arial"/>
              </a:rPr>
              <a:t>to</a:t>
            </a:r>
            <a:r>
              <a:rPr sz="1000" dirty="0">
                <a:latin typeface="Arial"/>
                <a:cs typeface="Arial"/>
              </a:rPr>
              <a:t> </a:t>
            </a:r>
            <a:r>
              <a:rPr sz="1000" spc="-5" dirty="0">
                <a:latin typeface="Arial"/>
                <a:cs typeface="Arial"/>
              </a:rPr>
              <a:t>which sensors are</a:t>
            </a:r>
            <a:r>
              <a:rPr sz="1000" dirty="0">
                <a:latin typeface="Arial"/>
                <a:cs typeface="Arial"/>
              </a:rPr>
              <a:t> </a:t>
            </a:r>
            <a:r>
              <a:rPr sz="1000" spc="-5" dirty="0">
                <a:latin typeface="Arial"/>
                <a:cs typeface="Arial"/>
              </a:rPr>
              <a:t>attached are:</a:t>
            </a:r>
            <a:endParaRPr sz="1000">
              <a:latin typeface="Arial"/>
              <a:cs typeface="Arial"/>
            </a:endParaRPr>
          </a:p>
          <a:p>
            <a:pPr marL="318770" indent="-168275">
              <a:lnSpc>
                <a:spcPct val="100000"/>
              </a:lnSpc>
              <a:spcBef>
                <a:spcPts val="590"/>
              </a:spcBef>
              <a:buClr>
                <a:srgbClr val="3333B2"/>
              </a:buClr>
              <a:buChar char="►"/>
              <a:tabLst>
                <a:tab pos="319405" algn="l"/>
              </a:tabLst>
            </a:pPr>
            <a:r>
              <a:rPr sz="1000" spc="-10" dirty="0">
                <a:latin typeface="Arial"/>
                <a:cs typeface="Arial"/>
              </a:rPr>
              <a:t>Many</a:t>
            </a:r>
            <a:r>
              <a:rPr sz="1000" spc="-30" dirty="0">
                <a:latin typeface="Arial"/>
                <a:cs typeface="Arial"/>
              </a:rPr>
              <a:t> </a:t>
            </a:r>
            <a:r>
              <a:rPr sz="1000" spc="-5" dirty="0">
                <a:latin typeface="Arial"/>
                <a:cs typeface="Arial"/>
              </a:rPr>
              <a:t>(10s-1000s)</a:t>
            </a:r>
            <a:endParaRPr sz="1000">
              <a:latin typeface="Arial"/>
              <a:cs typeface="Arial"/>
            </a:endParaRPr>
          </a:p>
          <a:p>
            <a:pPr marL="318770" indent="-168275">
              <a:lnSpc>
                <a:spcPct val="100000"/>
              </a:lnSpc>
              <a:spcBef>
                <a:spcPts val="595"/>
              </a:spcBef>
              <a:buClr>
                <a:srgbClr val="3333B2"/>
              </a:buClr>
              <a:buChar char="►"/>
              <a:tabLst>
                <a:tab pos="319405" algn="l"/>
              </a:tabLst>
            </a:pPr>
            <a:r>
              <a:rPr sz="1000" spc="-5" dirty="0">
                <a:latin typeface="Arial"/>
                <a:cs typeface="Arial"/>
              </a:rPr>
              <a:t>Simple</a:t>
            </a:r>
            <a:r>
              <a:rPr sz="1000" spc="10" dirty="0">
                <a:latin typeface="Arial"/>
                <a:cs typeface="Arial"/>
              </a:rPr>
              <a:t> </a:t>
            </a:r>
            <a:r>
              <a:rPr sz="1000" spc="-5" dirty="0">
                <a:latin typeface="Arial"/>
                <a:cs typeface="Arial"/>
              </a:rPr>
              <a:t>(small</a:t>
            </a:r>
            <a:r>
              <a:rPr sz="1000" spc="10" dirty="0">
                <a:latin typeface="Arial"/>
                <a:cs typeface="Arial"/>
              </a:rPr>
              <a:t> </a:t>
            </a:r>
            <a:r>
              <a:rPr sz="1000" spc="-5" dirty="0">
                <a:latin typeface="Arial"/>
                <a:cs typeface="Arial"/>
              </a:rPr>
              <a:t>memory/compute/communication</a:t>
            </a:r>
            <a:r>
              <a:rPr sz="1000" spc="10" dirty="0">
                <a:latin typeface="Arial"/>
                <a:cs typeface="Arial"/>
              </a:rPr>
              <a:t> </a:t>
            </a:r>
            <a:r>
              <a:rPr sz="1000" spc="-5" dirty="0">
                <a:latin typeface="Arial"/>
                <a:cs typeface="Arial"/>
              </a:rPr>
              <a:t>capacity)</a:t>
            </a:r>
            <a:endParaRPr sz="1000">
              <a:latin typeface="Arial"/>
              <a:cs typeface="Arial"/>
            </a:endParaRPr>
          </a:p>
          <a:p>
            <a:pPr marL="318770" indent="-168275">
              <a:lnSpc>
                <a:spcPct val="100000"/>
              </a:lnSpc>
              <a:spcBef>
                <a:spcPts val="595"/>
              </a:spcBef>
              <a:buClr>
                <a:srgbClr val="3333B2"/>
              </a:buClr>
              <a:buChar char="►"/>
              <a:tabLst>
                <a:tab pos="319405" algn="l"/>
              </a:tabLst>
            </a:pPr>
            <a:r>
              <a:rPr sz="1000" spc="-5" dirty="0">
                <a:latin typeface="Arial"/>
                <a:cs typeface="Arial"/>
              </a:rPr>
              <a:t>Often</a:t>
            </a:r>
            <a:r>
              <a:rPr sz="1000" spc="-10" dirty="0">
                <a:latin typeface="Arial"/>
                <a:cs typeface="Arial"/>
              </a:rPr>
              <a:t> </a:t>
            </a:r>
            <a:r>
              <a:rPr sz="1000" spc="-5" dirty="0">
                <a:latin typeface="Arial"/>
                <a:cs typeface="Arial"/>
              </a:rPr>
              <a:t>battery-powered (or </a:t>
            </a:r>
            <a:r>
              <a:rPr sz="1000" spc="-20" dirty="0">
                <a:latin typeface="Arial"/>
                <a:cs typeface="Arial"/>
              </a:rPr>
              <a:t>even</a:t>
            </a:r>
            <a:r>
              <a:rPr sz="1000" spc="-5" dirty="0">
                <a:latin typeface="Arial"/>
                <a:cs typeface="Arial"/>
              </a:rPr>
              <a:t> </a:t>
            </a:r>
            <a:r>
              <a:rPr sz="1000" dirty="0">
                <a:latin typeface="Arial"/>
                <a:cs typeface="Arial"/>
              </a:rPr>
              <a:t>battery-less)</a:t>
            </a:r>
            <a:endParaRPr sz="1000">
              <a:latin typeface="Arial"/>
              <a:cs typeface="Arial"/>
            </a:endParaRP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3" action="ppaction://hlinksldjump"/>
              </a:rPr>
              <a:t>Types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of</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Pervasive</a:t>
            </a:r>
            <a:r>
              <a:rPr sz="600" spc="-3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systems</a:t>
            </a:r>
            <a:endParaRPr sz="600">
              <a:latin typeface="Arial"/>
              <a:cs typeface="Arial"/>
            </a:endParaRPr>
          </a:p>
        </p:txBody>
      </p:sp>
      <p:grpSp>
        <p:nvGrpSpPr>
          <p:cNvPr id="4" name="object 4"/>
          <p:cNvGrpSpPr/>
          <p:nvPr/>
        </p:nvGrpSpPr>
        <p:grpSpPr>
          <a:xfrm>
            <a:off x="787314" y="944658"/>
            <a:ext cx="3038475" cy="855344"/>
            <a:chOff x="787314" y="944658"/>
            <a:chExt cx="3038475" cy="855344"/>
          </a:xfrm>
        </p:grpSpPr>
        <p:sp>
          <p:nvSpPr>
            <p:cNvPr id="5" name="object 5"/>
            <p:cNvSpPr/>
            <p:nvPr/>
          </p:nvSpPr>
          <p:spPr>
            <a:xfrm>
              <a:off x="1090882" y="1340106"/>
              <a:ext cx="387350" cy="234315"/>
            </a:xfrm>
            <a:custGeom>
              <a:avLst/>
              <a:gdLst/>
              <a:ahLst/>
              <a:cxnLst/>
              <a:rect l="l" t="t" r="r" b="b"/>
              <a:pathLst>
                <a:path w="387350" h="234315">
                  <a:moveTo>
                    <a:pt x="386871" y="0"/>
                  </a:moveTo>
                  <a:lnTo>
                    <a:pt x="0" y="0"/>
                  </a:lnTo>
                  <a:lnTo>
                    <a:pt x="0" y="187050"/>
                  </a:lnTo>
                  <a:lnTo>
                    <a:pt x="16646" y="207507"/>
                  </a:lnTo>
                  <a:lnTo>
                    <a:pt x="60510" y="222119"/>
                  </a:lnTo>
                  <a:lnTo>
                    <a:pt x="122478" y="230886"/>
                  </a:lnTo>
                  <a:lnTo>
                    <a:pt x="193435" y="233808"/>
                  </a:lnTo>
                  <a:lnTo>
                    <a:pt x="264393" y="230886"/>
                  </a:lnTo>
                  <a:lnTo>
                    <a:pt x="326361" y="222119"/>
                  </a:lnTo>
                  <a:lnTo>
                    <a:pt x="370225" y="207507"/>
                  </a:lnTo>
                  <a:lnTo>
                    <a:pt x="386871" y="187050"/>
                  </a:lnTo>
                  <a:lnTo>
                    <a:pt x="386871" y="0"/>
                  </a:lnTo>
                  <a:close/>
                </a:path>
              </a:pathLst>
            </a:custGeom>
            <a:solidFill>
              <a:srgbClr val="BCBEC0"/>
            </a:solidFill>
          </p:spPr>
          <p:txBody>
            <a:bodyPr wrap="square" lIns="0" tIns="0" rIns="0" bIns="0" rtlCol="0"/>
            <a:lstStyle/>
            <a:p>
              <a:endParaRPr/>
            </a:p>
          </p:txBody>
        </p:sp>
        <p:sp>
          <p:nvSpPr>
            <p:cNvPr id="6" name="object 6"/>
            <p:cNvSpPr/>
            <p:nvPr/>
          </p:nvSpPr>
          <p:spPr>
            <a:xfrm>
              <a:off x="1090882" y="1340106"/>
              <a:ext cx="387350" cy="234315"/>
            </a:xfrm>
            <a:custGeom>
              <a:avLst/>
              <a:gdLst/>
              <a:ahLst/>
              <a:cxnLst/>
              <a:rect l="l" t="t" r="r" b="b"/>
              <a:pathLst>
                <a:path w="387350" h="234315">
                  <a:moveTo>
                    <a:pt x="0" y="0"/>
                  </a:moveTo>
                  <a:lnTo>
                    <a:pt x="386871" y="0"/>
                  </a:lnTo>
                  <a:lnTo>
                    <a:pt x="386871" y="29825"/>
                  </a:lnTo>
                  <a:lnTo>
                    <a:pt x="386871" y="93308"/>
                  </a:lnTo>
                  <a:lnTo>
                    <a:pt x="386871" y="156900"/>
                  </a:lnTo>
                  <a:lnTo>
                    <a:pt x="386871" y="187050"/>
                  </a:lnTo>
                  <a:lnTo>
                    <a:pt x="370225" y="207507"/>
                  </a:lnTo>
                  <a:lnTo>
                    <a:pt x="326361" y="222119"/>
                  </a:lnTo>
                  <a:lnTo>
                    <a:pt x="264393" y="230886"/>
                  </a:lnTo>
                  <a:lnTo>
                    <a:pt x="193435" y="233808"/>
                  </a:lnTo>
                  <a:lnTo>
                    <a:pt x="122478" y="230886"/>
                  </a:lnTo>
                  <a:lnTo>
                    <a:pt x="60510" y="222119"/>
                  </a:lnTo>
                  <a:lnTo>
                    <a:pt x="16646" y="207507"/>
                  </a:lnTo>
                  <a:lnTo>
                    <a:pt x="0" y="187050"/>
                  </a:lnTo>
                  <a:lnTo>
                    <a:pt x="0" y="156558"/>
                  </a:lnTo>
                  <a:lnTo>
                    <a:pt x="0" y="92400"/>
                  </a:lnTo>
                  <a:lnTo>
                    <a:pt x="0" y="28804"/>
                  </a:lnTo>
                  <a:lnTo>
                    <a:pt x="0" y="0"/>
                  </a:lnTo>
                  <a:close/>
                </a:path>
              </a:pathLst>
            </a:custGeom>
            <a:ln w="5270">
              <a:solidFill>
                <a:srgbClr val="231F20"/>
              </a:solidFill>
            </a:ln>
          </p:spPr>
          <p:txBody>
            <a:bodyPr wrap="square" lIns="0" tIns="0" rIns="0" bIns="0" rtlCol="0"/>
            <a:lstStyle/>
            <a:p>
              <a:endParaRPr/>
            </a:p>
          </p:txBody>
        </p:sp>
        <p:sp>
          <p:nvSpPr>
            <p:cNvPr id="7" name="object 7"/>
            <p:cNvSpPr/>
            <p:nvPr/>
          </p:nvSpPr>
          <p:spPr>
            <a:xfrm>
              <a:off x="1090882" y="1308286"/>
              <a:ext cx="387350" cy="64135"/>
            </a:xfrm>
            <a:custGeom>
              <a:avLst/>
              <a:gdLst/>
              <a:ahLst/>
              <a:cxnLst/>
              <a:rect l="l" t="t" r="r" b="b"/>
              <a:pathLst>
                <a:path w="387350" h="64134">
                  <a:moveTo>
                    <a:pt x="193435" y="0"/>
                  </a:moveTo>
                  <a:lnTo>
                    <a:pt x="118265" y="2507"/>
                  </a:lnTo>
                  <a:lnTo>
                    <a:pt x="56766" y="9338"/>
                  </a:lnTo>
                  <a:lnTo>
                    <a:pt x="15242" y="19455"/>
                  </a:lnTo>
                  <a:lnTo>
                    <a:pt x="0" y="31820"/>
                  </a:lnTo>
                  <a:lnTo>
                    <a:pt x="15242" y="44187"/>
                  </a:lnTo>
                  <a:lnTo>
                    <a:pt x="56766" y="54303"/>
                  </a:lnTo>
                  <a:lnTo>
                    <a:pt x="118265" y="61134"/>
                  </a:lnTo>
                  <a:lnTo>
                    <a:pt x="193435" y="63641"/>
                  </a:lnTo>
                  <a:lnTo>
                    <a:pt x="268607" y="61134"/>
                  </a:lnTo>
                  <a:lnTo>
                    <a:pt x="330106" y="54303"/>
                  </a:lnTo>
                  <a:lnTo>
                    <a:pt x="371629" y="44187"/>
                  </a:lnTo>
                  <a:lnTo>
                    <a:pt x="386871" y="31820"/>
                  </a:lnTo>
                  <a:lnTo>
                    <a:pt x="371629" y="19455"/>
                  </a:lnTo>
                  <a:lnTo>
                    <a:pt x="330106" y="9338"/>
                  </a:lnTo>
                  <a:lnTo>
                    <a:pt x="268607" y="2507"/>
                  </a:lnTo>
                  <a:lnTo>
                    <a:pt x="193435" y="0"/>
                  </a:lnTo>
                  <a:close/>
                </a:path>
              </a:pathLst>
            </a:custGeom>
            <a:solidFill>
              <a:srgbClr val="FFFFFF"/>
            </a:solidFill>
          </p:spPr>
          <p:txBody>
            <a:bodyPr wrap="square" lIns="0" tIns="0" rIns="0" bIns="0" rtlCol="0"/>
            <a:lstStyle/>
            <a:p>
              <a:endParaRPr/>
            </a:p>
          </p:txBody>
        </p:sp>
        <p:sp>
          <p:nvSpPr>
            <p:cNvPr id="8" name="object 8"/>
            <p:cNvSpPr/>
            <p:nvPr/>
          </p:nvSpPr>
          <p:spPr>
            <a:xfrm>
              <a:off x="1090882" y="1308286"/>
              <a:ext cx="387350" cy="64135"/>
            </a:xfrm>
            <a:custGeom>
              <a:avLst/>
              <a:gdLst/>
              <a:ahLst/>
              <a:cxnLst/>
              <a:rect l="l" t="t" r="r" b="b"/>
              <a:pathLst>
                <a:path w="387350" h="64134">
                  <a:moveTo>
                    <a:pt x="193435" y="0"/>
                  </a:moveTo>
                  <a:lnTo>
                    <a:pt x="268607" y="2507"/>
                  </a:lnTo>
                  <a:lnTo>
                    <a:pt x="330106" y="9338"/>
                  </a:lnTo>
                  <a:lnTo>
                    <a:pt x="371629" y="19455"/>
                  </a:lnTo>
                  <a:lnTo>
                    <a:pt x="386871" y="31820"/>
                  </a:lnTo>
                  <a:lnTo>
                    <a:pt x="371629" y="44187"/>
                  </a:lnTo>
                  <a:lnTo>
                    <a:pt x="330106" y="54303"/>
                  </a:lnTo>
                  <a:lnTo>
                    <a:pt x="268607" y="61134"/>
                  </a:lnTo>
                  <a:lnTo>
                    <a:pt x="193435" y="63641"/>
                  </a:lnTo>
                  <a:lnTo>
                    <a:pt x="118265" y="61134"/>
                  </a:lnTo>
                  <a:lnTo>
                    <a:pt x="56766" y="54303"/>
                  </a:lnTo>
                  <a:lnTo>
                    <a:pt x="15242" y="44187"/>
                  </a:lnTo>
                  <a:lnTo>
                    <a:pt x="0" y="31820"/>
                  </a:lnTo>
                  <a:lnTo>
                    <a:pt x="15242" y="19455"/>
                  </a:lnTo>
                  <a:lnTo>
                    <a:pt x="56766" y="9338"/>
                  </a:lnTo>
                  <a:lnTo>
                    <a:pt x="118265" y="2507"/>
                  </a:lnTo>
                  <a:lnTo>
                    <a:pt x="193435" y="0"/>
                  </a:lnTo>
                  <a:close/>
                </a:path>
              </a:pathLst>
            </a:custGeom>
            <a:ln w="5270">
              <a:solidFill>
                <a:srgbClr val="231F20"/>
              </a:solidFill>
            </a:ln>
          </p:spPr>
          <p:txBody>
            <a:bodyPr wrap="square" lIns="0" tIns="0" rIns="0" bIns="0" rtlCol="0"/>
            <a:lstStyle/>
            <a:p>
              <a:endParaRPr/>
            </a:p>
          </p:txBody>
        </p:sp>
        <p:sp>
          <p:nvSpPr>
            <p:cNvPr id="9" name="object 9"/>
            <p:cNvSpPr/>
            <p:nvPr/>
          </p:nvSpPr>
          <p:spPr>
            <a:xfrm>
              <a:off x="789950" y="1165982"/>
              <a:ext cx="759460" cy="546100"/>
            </a:xfrm>
            <a:custGeom>
              <a:avLst/>
              <a:gdLst/>
              <a:ahLst/>
              <a:cxnLst/>
              <a:rect l="l" t="t" r="r" b="b"/>
              <a:pathLst>
                <a:path w="759460" h="546100">
                  <a:moveTo>
                    <a:pt x="0" y="545496"/>
                  </a:moveTo>
                  <a:lnTo>
                    <a:pt x="758951" y="545496"/>
                  </a:lnTo>
                  <a:lnTo>
                    <a:pt x="758951" y="0"/>
                  </a:lnTo>
                  <a:lnTo>
                    <a:pt x="0" y="0"/>
                  </a:lnTo>
                  <a:lnTo>
                    <a:pt x="0" y="545496"/>
                  </a:lnTo>
                  <a:close/>
                </a:path>
              </a:pathLst>
            </a:custGeom>
            <a:ln w="5270">
              <a:solidFill>
                <a:srgbClr val="231F20"/>
              </a:solidFill>
            </a:ln>
          </p:spPr>
          <p:txBody>
            <a:bodyPr wrap="square" lIns="0" tIns="0" rIns="0" bIns="0" rtlCol="0"/>
            <a:lstStyle/>
            <a:p>
              <a:endParaRPr/>
            </a:p>
          </p:txBody>
        </p:sp>
        <p:pic>
          <p:nvPicPr>
            <p:cNvPr id="10" name="object 10"/>
            <p:cNvPicPr/>
            <p:nvPr/>
          </p:nvPicPr>
          <p:blipFill>
            <a:blip r:embed="rId5" cstate="print"/>
            <a:stretch>
              <a:fillRect/>
            </a:stretch>
          </p:blipFill>
          <p:spPr>
            <a:xfrm>
              <a:off x="1566830" y="944658"/>
              <a:ext cx="2258782" cy="854924"/>
            </a:xfrm>
            <a:prstGeom prst="rect">
              <a:avLst/>
            </a:prstGeom>
          </p:spPr>
        </p:pic>
      </p:grpSp>
      <p:sp>
        <p:nvSpPr>
          <p:cNvPr id="11" name="object 11"/>
          <p:cNvSpPr txBox="1"/>
          <p:nvPr/>
        </p:nvSpPr>
        <p:spPr>
          <a:xfrm>
            <a:off x="95300" y="188846"/>
            <a:ext cx="3408045" cy="95948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Sensor</a:t>
            </a:r>
            <a:r>
              <a:rPr sz="1400" spc="5" dirty="0">
                <a:solidFill>
                  <a:srgbClr val="3333B2"/>
                </a:solidFill>
                <a:latin typeface="Arial"/>
                <a:cs typeface="Arial"/>
              </a:rPr>
              <a:t> </a:t>
            </a:r>
            <a:r>
              <a:rPr sz="1400" spc="15" dirty="0">
                <a:solidFill>
                  <a:srgbClr val="3333B2"/>
                </a:solidFill>
                <a:latin typeface="Arial"/>
                <a:cs typeface="Arial"/>
              </a:rPr>
              <a:t>networks</a:t>
            </a:r>
            <a:r>
              <a:rPr sz="1400" spc="5" dirty="0">
                <a:solidFill>
                  <a:srgbClr val="3333B2"/>
                </a:solidFill>
                <a:latin typeface="Arial"/>
                <a:cs typeface="Arial"/>
              </a:rPr>
              <a:t> </a:t>
            </a:r>
            <a:r>
              <a:rPr sz="1400" spc="15" dirty="0">
                <a:solidFill>
                  <a:srgbClr val="3333B2"/>
                </a:solidFill>
                <a:latin typeface="Arial"/>
                <a:cs typeface="Arial"/>
              </a:rPr>
              <a:t>as</a:t>
            </a:r>
            <a:r>
              <a:rPr sz="1400" spc="10" dirty="0">
                <a:solidFill>
                  <a:srgbClr val="3333B2"/>
                </a:solidFill>
                <a:latin typeface="Arial"/>
                <a:cs typeface="Arial"/>
              </a:rPr>
              <a:t> distributed</a:t>
            </a:r>
            <a:r>
              <a:rPr sz="1400" spc="5" dirty="0">
                <a:solidFill>
                  <a:srgbClr val="3333B2"/>
                </a:solidFill>
                <a:latin typeface="Arial"/>
                <a:cs typeface="Arial"/>
              </a:rPr>
              <a:t> </a:t>
            </a:r>
            <a:r>
              <a:rPr sz="1400" spc="15" dirty="0">
                <a:solidFill>
                  <a:srgbClr val="3333B2"/>
                </a:solidFill>
                <a:latin typeface="Arial"/>
                <a:cs typeface="Arial"/>
              </a:rPr>
              <a:t>databases</a:t>
            </a:r>
            <a:endParaRPr sz="1400">
              <a:latin typeface="Arial"/>
              <a:cs typeface="Arial"/>
            </a:endParaRPr>
          </a:p>
          <a:p>
            <a:pPr marL="259715">
              <a:lnSpc>
                <a:spcPct val="100000"/>
              </a:lnSpc>
              <a:spcBef>
                <a:spcPts val="850"/>
              </a:spcBef>
            </a:pPr>
            <a:r>
              <a:rPr sz="1200" spc="-150" dirty="0">
                <a:solidFill>
                  <a:srgbClr val="3333B2"/>
                </a:solidFill>
                <a:latin typeface="Arial"/>
                <a:cs typeface="Arial"/>
              </a:rPr>
              <a:t>T</a:t>
            </a:r>
            <a:r>
              <a:rPr sz="1200" spc="-20" dirty="0">
                <a:solidFill>
                  <a:srgbClr val="3333B2"/>
                </a:solidFill>
                <a:latin typeface="Arial"/>
                <a:cs typeface="Arial"/>
              </a:rPr>
              <a:t>w</a:t>
            </a:r>
            <a:r>
              <a:rPr sz="1200" spc="-5" dirty="0">
                <a:solidFill>
                  <a:srgbClr val="3333B2"/>
                </a:solidFill>
                <a:latin typeface="Arial"/>
                <a:cs typeface="Arial"/>
              </a:rPr>
              <a:t>o </a:t>
            </a:r>
            <a:r>
              <a:rPr sz="1200" spc="-45" dirty="0">
                <a:solidFill>
                  <a:srgbClr val="3333B2"/>
                </a:solidFill>
                <a:latin typeface="Arial"/>
                <a:cs typeface="Arial"/>
              </a:rPr>
              <a:t>e</a:t>
            </a:r>
            <a:r>
              <a:rPr sz="1200" spc="-5" dirty="0">
                <a:solidFill>
                  <a:srgbClr val="3333B2"/>
                </a:solidFill>
                <a:latin typeface="Arial"/>
                <a:cs typeface="Arial"/>
              </a:rPr>
              <a:t>xtremes</a:t>
            </a:r>
            <a:endParaRPr sz="1200">
              <a:latin typeface="Arial"/>
              <a:cs typeface="Arial"/>
            </a:endParaRPr>
          </a:p>
          <a:p>
            <a:pPr marR="184785" algn="r">
              <a:lnSpc>
                <a:spcPct val="100000"/>
              </a:lnSpc>
              <a:spcBef>
                <a:spcPts val="620"/>
              </a:spcBef>
            </a:pPr>
            <a:r>
              <a:rPr sz="650" spc="5" dirty="0">
                <a:solidFill>
                  <a:srgbClr val="231F20"/>
                </a:solidFill>
                <a:latin typeface="Arial"/>
                <a:cs typeface="Arial"/>
              </a:rPr>
              <a:t>Sensor</a:t>
            </a:r>
            <a:r>
              <a:rPr sz="650" spc="-35" dirty="0">
                <a:solidFill>
                  <a:srgbClr val="231F20"/>
                </a:solidFill>
                <a:latin typeface="Arial"/>
                <a:cs typeface="Arial"/>
              </a:rPr>
              <a:t> </a:t>
            </a:r>
            <a:r>
              <a:rPr sz="650" spc="5" dirty="0">
                <a:solidFill>
                  <a:srgbClr val="231F20"/>
                </a:solidFill>
                <a:latin typeface="Arial"/>
                <a:cs typeface="Arial"/>
              </a:rPr>
              <a:t>network</a:t>
            </a:r>
            <a:endParaRPr sz="650">
              <a:latin typeface="Arial"/>
              <a:cs typeface="Arial"/>
            </a:endParaRPr>
          </a:p>
          <a:p>
            <a:pPr>
              <a:lnSpc>
                <a:spcPct val="100000"/>
              </a:lnSpc>
            </a:pPr>
            <a:endParaRPr sz="600">
              <a:latin typeface="Arial"/>
              <a:cs typeface="Arial"/>
            </a:endParaRPr>
          </a:p>
          <a:p>
            <a:pPr marL="812800">
              <a:lnSpc>
                <a:spcPct val="100000"/>
              </a:lnSpc>
              <a:spcBef>
                <a:spcPts val="475"/>
              </a:spcBef>
            </a:pPr>
            <a:r>
              <a:rPr sz="650" spc="5" dirty="0">
                <a:solidFill>
                  <a:srgbClr val="231F20"/>
                </a:solidFill>
                <a:latin typeface="Arial"/>
                <a:cs typeface="Arial"/>
              </a:rPr>
              <a:t>Operator's</a:t>
            </a:r>
            <a:r>
              <a:rPr sz="650" spc="-40" dirty="0">
                <a:solidFill>
                  <a:srgbClr val="231F20"/>
                </a:solidFill>
                <a:latin typeface="Arial"/>
                <a:cs typeface="Arial"/>
              </a:rPr>
              <a:t> </a:t>
            </a:r>
            <a:r>
              <a:rPr sz="650" spc="5" dirty="0">
                <a:solidFill>
                  <a:srgbClr val="231F20"/>
                </a:solidFill>
                <a:latin typeface="Arial"/>
                <a:cs typeface="Arial"/>
              </a:rPr>
              <a:t>site</a:t>
            </a:r>
            <a:endParaRPr sz="650">
              <a:latin typeface="Arial"/>
              <a:cs typeface="Arial"/>
            </a:endParaRPr>
          </a:p>
        </p:txBody>
      </p:sp>
      <p:grpSp>
        <p:nvGrpSpPr>
          <p:cNvPr id="12" name="object 12"/>
          <p:cNvGrpSpPr/>
          <p:nvPr/>
        </p:nvGrpSpPr>
        <p:grpSpPr>
          <a:xfrm>
            <a:off x="795562" y="2072779"/>
            <a:ext cx="3020060" cy="859790"/>
            <a:chOff x="795562" y="2072779"/>
            <a:chExt cx="3020060" cy="859790"/>
          </a:xfrm>
        </p:grpSpPr>
        <p:sp>
          <p:nvSpPr>
            <p:cNvPr id="13" name="object 13"/>
            <p:cNvSpPr/>
            <p:nvPr/>
          </p:nvSpPr>
          <p:spPr>
            <a:xfrm>
              <a:off x="1586170" y="2462974"/>
              <a:ext cx="560705" cy="0"/>
            </a:xfrm>
            <a:custGeom>
              <a:avLst/>
              <a:gdLst/>
              <a:ahLst/>
              <a:cxnLst/>
              <a:rect l="l" t="t" r="r" b="b"/>
              <a:pathLst>
                <a:path w="560705">
                  <a:moveTo>
                    <a:pt x="0" y="0"/>
                  </a:moveTo>
                  <a:lnTo>
                    <a:pt x="560216" y="0"/>
                  </a:lnTo>
                </a:path>
              </a:pathLst>
            </a:custGeom>
            <a:ln w="5270">
              <a:solidFill>
                <a:srgbClr val="231F20"/>
              </a:solidFill>
            </a:ln>
          </p:spPr>
          <p:txBody>
            <a:bodyPr wrap="square" lIns="0" tIns="0" rIns="0" bIns="0" rtlCol="0"/>
            <a:lstStyle/>
            <a:p>
              <a:endParaRPr/>
            </a:p>
          </p:txBody>
        </p:sp>
        <p:pic>
          <p:nvPicPr>
            <p:cNvPr id="14" name="object 14"/>
            <p:cNvPicPr/>
            <p:nvPr/>
          </p:nvPicPr>
          <p:blipFill>
            <a:blip r:embed="rId6" cstate="print"/>
            <a:stretch>
              <a:fillRect/>
            </a:stretch>
          </p:blipFill>
          <p:spPr>
            <a:xfrm>
              <a:off x="2109398" y="2431096"/>
              <a:ext cx="74377" cy="63751"/>
            </a:xfrm>
            <a:prstGeom prst="rect">
              <a:avLst/>
            </a:prstGeom>
          </p:spPr>
        </p:pic>
        <p:sp>
          <p:nvSpPr>
            <p:cNvPr id="15" name="object 15"/>
            <p:cNvSpPr/>
            <p:nvPr/>
          </p:nvSpPr>
          <p:spPr>
            <a:xfrm>
              <a:off x="1616051" y="2642000"/>
              <a:ext cx="568325" cy="635"/>
            </a:xfrm>
            <a:custGeom>
              <a:avLst/>
              <a:gdLst/>
              <a:ahLst/>
              <a:cxnLst/>
              <a:rect l="l" t="t" r="r" b="b"/>
              <a:pathLst>
                <a:path w="568325" h="635">
                  <a:moveTo>
                    <a:pt x="567724" y="252"/>
                  </a:moveTo>
                  <a:lnTo>
                    <a:pt x="516100" y="170"/>
                  </a:lnTo>
                  <a:lnTo>
                    <a:pt x="464483" y="103"/>
                  </a:lnTo>
                  <a:lnTo>
                    <a:pt x="412873" y="52"/>
                  </a:lnTo>
                  <a:lnTo>
                    <a:pt x="361267" y="18"/>
                  </a:lnTo>
                  <a:lnTo>
                    <a:pt x="309663" y="0"/>
                  </a:lnTo>
                  <a:lnTo>
                    <a:pt x="258060" y="0"/>
                  </a:lnTo>
                  <a:lnTo>
                    <a:pt x="206457" y="16"/>
                  </a:lnTo>
                  <a:lnTo>
                    <a:pt x="154851" y="49"/>
                  </a:lnTo>
                  <a:lnTo>
                    <a:pt x="103240" y="99"/>
                  </a:lnTo>
                  <a:lnTo>
                    <a:pt x="51624" y="167"/>
                  </a:lnTo>
                  <a:lnTo>
                    <a:pt x="0" y="252"/>
                  </a:lnTo>
                </a:path>
              </a:pathLst>
            </a:custGeom>
            <a:ln w="5270">
              <a:solidFill>
                <a:srgbClr val="231F20"/>
              </a:solidFill>
            </a:ln>
          </p:spPr>
          <p:txBody>
            <a:bodyPr wrap="square" lIns="0" tIns="0" rIns="0" bIns="0" rtlCol="0"/>
            <a:lstStyle/>
            <a:p>
              <a:endParaRPr/>
            </a:p>
          </p:txBody>
        </p:sp>
        <p:pic>
          <p:nvPicPr>
            <p:cNvPr id="16" name="object 16"/>
            <p:cNvPicPr/>
            <p:nvPr/>
          </p:nvPicPr>
          <p:blipFill>
            <a:blip r:embed="rId7" cstate="print"/>
            <a:stretch>
              <a:fillRect/>
            </a:stretch>
          </p:blipFill>
          <p:spPr>
            <a:xfrm>
              <a:off x="1578671" y="2610309"/>
              <a:ext cx="74438" cy="63751"/>
            </a:xfrm>
            <a:prstGeom prst="rect">
              <a:avLst/>
            </a:prstGeom>
          </p:spPr>
        </p:pic>
        <p:pic>
          <p:nvPicPr>
            <p:cNvPr id="17" name="object 17"/>
            <p:cNvPicPr/>
            <p:nvPr/>
          </p:nvPicPr>
          <p:blipFill>
            <a:blip r:embed="rId8" cstate="print"/>
            <a:stretch>
              <a:fillRect/>
            </a:stretch>
          </p:blipFill>
          <p:spPr>
            <a:xfrm>
              <a:off x="1971975" y="2497314"/>
              <a:ext cx="218726" cy="289877"/>
            </a:xfrm>
            <a:prstGeom prst="rect">
              <a:avLst/>
            </a:prstGeom>
          </p:spPr>
        </p:pic>
        <p:pic>
          <p:nvPicPr>
            <p:cNvPr id="18" name="object 18"/>
            <p:cNvPicPr/>
            <p:nvPr/>
          </p:nvPicPr>
          <p:blipFill>
            <a:blip r:embed="rId9" cstate="print"/>
            <a:stretch>
              <a:fillRect/>
            </a:stretch>
          </p:blipFill>
          <p:spPr>
            <a:xfrm>
              <a:off x="2218217" y="2072779"/>
              <a:ext cx="1596853" cy="859281"/>
            </a:xfrm>
            <a:prstGeom prst="rect">
              <a:avLst/>
            </a:prstGeom>
          </p:spPr>
        </p:pic>
        <p:sp>
          <p:nvSpPr>
            <p:cNvPr id="19" name="object 19"/>
            <p:cNvSpPr/>
            <p:nvPr/>
          </p:nvSpPr>
          <p:spPr>
            <a:xfrm>
              <a:off x="798197" y="2297546"/>
              <a:ext cx="759460" cy="546100"/>
            </a:xfrm>
            <a:custGeom>
              <a:avLst/>
              <a:gdLst/>
              <a:ahLst/>
              <a:cxnLst/>
              <a:rect l="l" t="t" r="r" b="b"/>
              <a:pathLst>
                <a:path w="759460" h="546100">
                  <a:moveTo>
                    <a:pt x="0" y="545492"/>
                  </a:moveTo>
                  <a:lnTo>
                    <a:pt x="758951" y="545492"/>
                  </a:lnTo>
                  <a:lnTo>
                    <a:pt x="758951" y="0"/>
                  </a:lnTo>
                  <a:lnTo>
                    <a:pt x="0" y="0"/>
                  </a:lnTo>
                  <a:lnTo>
                    <a:pt x="0" y="545492"/>
                  </a:lnTo>
                  <a:close/>
                </a:path>
              </a:pathLst>
            </a:custGeom>
            <a:ln w="5270">
              <a:solidFill>
                <a:srgbClr val="231F20"/>
              </a:solidFill>
            </a:ln>
          </p:spPr>
          <p:txBody>
            <a:bodyPr wrap="square" lIns="0" tIns="0" rIns="0" bIns="0" rtlCol="0"/>
            <a:lstStyle/>
            <a:p>
              <a:endParaRPr/>
            </a:p>
          </p:txBody>
        </p:sp>
      </p:grpSp>
      <p:sp>
        <p:nvSpPr>
          <p:cNvPr id="20" name="object 20"/>
          <p:cNvSpPr txBox="1"/>
          <p:nvPr/>
        </p:nvSpPr>
        <p:spPr>
          <a:xfrm>
            <a:off x="904083" y="2096928"/>
            <a:ext cx="1136650" cy="340360"/>
          </a:xfrm>
          <a:prstGeom prst="rect">
            <a:avLst/>
          </a:prstGeom>
        </p:spPr>
        <p:txBody>
          <a:bodyPr vert="horz" wrap="square" lIns="0" tIns="4445" rIns="0" bIns="0" rtlCol="0">
            <a:spAutoFit/>
          </a:bodyPr>
          <a:lstStyle/>
          <a:p>
            <a:pPr>
              <a:lnSpc>
                <a:spcPct val="100000"/>
              </a:lnSpc>
              <a:spcBef>
                <a:spcPts val="35"/>
              </a:spcBef>
            </a:pPr>
            <a:endParaRPr sz="450">
              <a:latin typeface="Times New Roman"/>
              <a:cs typeface="Times New Roman"/>
            </a:endParaRPr>
          </a:p>
          <a:p>
            <a:pPr marL="12700">
              <a:lnSpc>
                <a:spcPct val="100000"/>
              </a:lnSpc>
            </a:pPr>
            <a:r>
              <a:rPr sz="650" spc="5" dirty="0">
                <a:solidFill>
                  <a:srgbClr val="231F20"/>
                </a:solidFill>
                <a:latin typeface="Arial"/>
                <a:cs typeface="Arial"/>
              </a:rPr>
              <a:t>Operator's</a:t>
            </a:r>
            <a:r>
              <a:rPr sz="650" spc="-40" dirty="0">
                <a:solidFill>
                  <a:srgbClr val="231F20"/>
                </a:solidFill>
                <a:latin typeface="Arial"/>
                <a:cs typeface="Arial"/>
              </a:rPr>
              <a:t> </a:t>
            </a:r>
            <a:r>
              <a:rPr sz="650" spc="5" dirty="0">
                <a:solidFill>
                  <a:srgbClr val="231F20"/>
                </a:solidFill>
                <a:latin typeface="Arial"/>
                <a:cs typeface="Arial"/>
              </a:rPr>
              <a:t>site</a:t>
            </a:r>
            <a:endParaRPr sz="650">
              <a:latin typeface="Arial"/>
              <a:cs typeface="Arial"/>
            </a:endParaRPr>
          </a:p>
          <a:p>
            <a:pPr marR="5080" algn="r">
              <a:lnSpc>
                <a:spcPct val="100000"/>
              </a:lnSpc>
              <a:spcBef>
                <a:spcPts val="459"/>
              </a:spcBef>
            </a:pPr>
            <a:r>
              <a:rPr sz="650" spc="5" dirty="0">
                <a:solidFill>
                  <a:srgbClr val="231F20"/>
                </a:solidFill>
                <a:latin typeface="Arial"/>
                <a:cs typeface="Arial"/>
              </a:rPr>
              <a:t>Query</a:t>
            </a:r>
            <a:endParaRPr sz="650">
              <a:latin typeface="Arial"/>
              <a:cs typeface="Arial"/>
            </a:endParaRPr>
          </a:p>
        </p:txBody>
      </p:sp>
      <p:sp>
        <p:nvSpPr>
          <p:cNvPr id="24" name="object 24"/>
          <p:cNvSpPr txBox="1"/>
          <p:nvPr/>
        </p:nvSpPr>
        <p:spPr>
          <a:xfrm>
            <a:off x="66713" y="3331252"/>
            <a:ext cx="5911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0" action="ppaction://hlinksldjump"/>
              </a:rPr>
              <a:t>Sensor</a:t>
            </a:r>
            <a:r>
              <a:rPr sz="600" spc="-40" dirty="0">
                <a:solidFill>
                  <a:srgbClr val="3333B2"/>
                </a:solidFill>
                <a:latin typeface="Arial"/>
                <a:cs typeface="Arial"/>
                <a:hlinkClick r:id="rId10" action="ppaction://hlinksldjump"/>
              </a:rPr>
              <a:t> </a:t>
            </a:r>
            <a:r>
              <a:rPr sz="600" spc="-5" dirty="0">
                <a:solidFill>
                  <a:srgbClr val="3333B2"/>
                </a:solidFill>
                <a:latin typeface="Arial"/>
                <a:cs typeface="Arial"/>
                <a:hlinkClick r:id="rId10" action="ppaction://hlinksldjump"/>
              </a:rPr>
              <a:t>networks</a:t>
            </a:r>
            <a:endParaRPr sz="600">
              <a:latin typeface="Arial"/>
              <a:cs typeface="Arial"/>
            </a:endParaRPr>
          </a:p>
        </p:txBody>
      </p:sp>
      <p:sp>
        <p:nvSpPr>
          <p:cNvPr id="25" name="object 2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54</a:t>
            </a:r>
            <a:r>
              <a:rPr spc="-40" dirty="0"/>
              <a:t> </a:t>
            </a:r>
            <a:r>
              <a:rPr spc="-5" dirty="0"/>
              <a:t>/</a:t>
            </a:r>
            <a:r>
              <a:rPr spc="-35" dirty="0"/>
              <a:t> </a:t>
            </a:r>
            <a:r>
              <a:rPr spc="-5" dirty="0"/>
              <a:t>56</a:t>
            </a:r>
          </a:p>
        </p:txBody>
      </p:sp>
      <p:sp>
        <p:nvSpPr>
          <p:cNvPr id="21" name="object 21"/>
          <p:cNvSpPr txBox="1"/>
          <p:nvPr/>
        </p:nvSpPr>
        <p:spPr>
          <a:xfrm>
            <a:off x="2701024" y="1907241"/>
            <a:ext cx="6115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Sensor network</a:t>
            </a:r>
            <a:endParaRPr sz="650">
              <a:latin typeface="Arial"/>
              <a:cs typeface="Arial"/>
            </a:endParaRPr>
          </a:p>
        </p:txBody>
      </p:sp>
      <p:sp>
        <p:nvSpPr>
          <p:cNvPr id="22" name="object 22"/>
          <p:cNvSpPr txBox="1"/>
          <p:nvPr/>
        </p:nvSpPr>
        <p:spPr>
          <a:xfrm>
            <a:off x="1682751" y="2672522"/>
            <a:ext cx="386715" cy="327025"/>
          </a:xfrm>
          <a:prstGeom prst="rect">
            <a:avLst/>
          </a:prstGeom>
        </p:spPr>
        <p:txBody>
          <a:bodyPr vert="horz" wrap="square" lIns="0" tIns="13970" rIns="0" bIns="0" rtlCol="0">
            <a:spAutoFit/>
          </a:bodyPr>
          <a:lstStyle/>
          <a:p>
            <a:pPr marL="12065" marR="5080" algn="ctr">
              <a:lnSpc>
                <a:spcPct val="100000"/>
              </a:lnSpc>
              <a:spcBef>
                <a:spcPts val="110"/>
              </a:spcBef>
            </a:pPr>
            <a:r>
              <a:rPr sz="650" spc="5" dirty="0">
                <a:solidFill>
                  <a:srgbClr val="231F20"/>
                </a:solidFill>
                <a:latin typeface="Arial"/>
                <a:cs typeface="Arial"/>
              </a:rPr>
              <a:t>Sensors </a:t>
            </a:r>
            <a:r>
              <a:rPr sz="650" spc="10" dirty="0">
                <a:solidFill>
                  <a:srgbClr val="231F20"/>
                </a:solidFill>
                <a:latin typeface="Arial"/>
                <a:cs typeface="Arial"/>
              </a:rPr>
              <a:t> </a:t>
            </a:r>
            <a:r>
              <a:rPr sz="650" spc="5" dirty="0">
                <a:solidFill>
                  <a:srgbClr val="231F20"/>
                </a:solidFill>
                <a:latin typeface="Arial"/>
                <a:cs typeface="Arial"/>
              </a:rPr>
              <a:t>send</a:t>
            </a:r>
            <a:r>
              <a:rPr sz="650" dirty="0">
                <a:solidFill>
                  <a:srgbClr val="231F20"/>
                </a:solidFill>
                <a:latin typeface="Arial"/>
                <a:cs typeface="Arial"/>
              </a:rPr>
              <a:t> </a:t>
            </a:r>
            <a:r>
              <a:rPr sz="650" spc="5" dirty="0">
                <a:solidFill>
                  <a:srgbClr val="231F20"/>
                </a:solidFill>
                <a:latin typeface="Arial"/>
                <a:cs typeface="Arial"/>
              </a:rPr>
              <a:t>only  answers</a:t>
            </a:r>
            <a:endParaRPr sz="650">
              <a:latin typeface="Arial"/>
              <a:cs typeface="Arial"/>
            </a:endParaRPr>
          </a:p>
        </p:txBody>
      </p:sp>
      <p:sp>
        <p:nvSpPr>
          <p:cNvPr id="23" name="object 23"/>
          <p:cNvSpPr txBox="1"/>
          <p:nvPr/>
        </p:nvSpPr>
        <p:spPr>
          <a:xfrm>
            <a:off x="1640998" y="1499552"/>
            <a:ext cx="788670" cy="658495"/>
          </a:xfrm>
          <a:prstGeom prst="rect">
            <a:avLst/>
          </a:prstGeom>
        </p:spPr>
        <p:txBody>
          <a:bodyPr vert="horz" wrap="square" lIns="0" tIns="21590" rIns="0" bIns="0" rtlCol="0">
            <a:spAutoFit/>
          </a:bodyPr>
          <a:lstStyle/>
          <a:p>
            <a:pPr marL="12065" marR="233679" indent="-635" algn="ctr">
              <a:lnSpc>
                <a:spcPts val="740"/>
              </a:lnSpc>
              <a:spcBef>
                <a:spcPts val="170"/>
              </a:spcBef>
            </a:pPr>
            <a:r>
              <a:rPr sz="650" spc="5" dirty="0">
                <a:solidFill>
                  <a:srgbClr val="231F20"/>
                </a:solidFill>
                <a:latin typeface="Arial"/>
                <a:cs typeface="Arial"/>
              </a:rPr>
              <a:t>Sensor  data </a:t>
            </a:r>
            <a:r>
              <a:rPr sz="650" spc="10" dirty="0">
                <a:solidFill>
                  <a:srgbClr val="231F20"/>
                </a:solidFill>
                <a:latin typeface="Arial"/>
                <a:cs typeface="Arial"/>
              </a:rPr>
              <a:t> </a:t>
            </a:r>
            <a:r>
              <a:rPr sz="650" spc="5" dirty="0">
                <a:solidFill>
                  <a:srgbClr val="231F20"/>
                </a:solidFill>
                <a:latin typeface="Arial"/>
                <a:cs typeface="Arial"/>
              </a:rPr>
              <a:t>is</a:t>
            </a:r>
            <a:r>
              <a:rPr sz="650" spc="-45" dirty="0">
                <a:solidFill>
                  <a:srgbClr val="231F20"/>
                </a:solidFill>
                <a:latin typeface="Arial"/>
                <a:cs typeface="Arial"/>
              </a:rPr>
              <a:t> </a:t>
            </a:r>
            <a:r>
              <a:rPr sz="650" spc="5" dirty="0">
                <a:solidFill>
                  <a:srgbClr val="231F20"/>
                </a:solidFill>
                <a:latin typeface="Arial"/>
                <a:cs typeface="Arial"/>
              </a:rPr>
              <a:t>sent</a:t>
            </a:r>
            <a:r>
              <a:rPr sz="650" spc="-40" dirty="0">
                <a:solidFill>
                  <a:srgbClr val="231F20"/>
                </a:solidFill>
                <a:latin typeface="Arial"/>
                <a:cs typeface="Arial"/>
              </a:rPr>
              <a:t> </a:t>
            </a:r>
            <a:r>
              <a:rPr sz="650" spc="5" dirty="0">
                <a:solidFill>
                  <a:srgbClr val="231F20"/>
                </a:solidFill>
                <a:latin typeface="Arial"/>
                <a:cs typeface="Arial"/>
              </a:rPr>
              <a:t>directly </a:t>
            </a:r>
            <a:r>
              <a:rPr sz="650" spc="-165" dirty="0">
                <a:solidFill>
                  <a:srgbClr val="231F20"/>
                </a:solidFill>
                <a:latin typeface="Arial"/>
                <a:cs typeface="Arial"/>
              </a:rPr>
              <a:t> </a:t>
            </a:r>
            <a:r>
              <a:rPr sz="650" spc="5" dirty="0">
                <a:solidFill>
                  <a:srgbClr val="231F20"/>
                </a:solidFill>
                <a:latin typeface="Arial"/>
                <a:cs typeface="Arial"/>
              </a:rPr>
              <a:t>to</a:t>
            </a:r>
            <a:r>
              <a:rPr sz="650" spc="-15" dirty="0">
                <a:solidFill>
                  <a:srgbClr val="231F20"/>
                </a:solidFill>
                <a:latin typeface="Arial"/>
                <a:cs typeface="Arial"/>
              </a:rPr>
              <a:t> </a:t>
            </a:r>
            <a:r>
              <a:rPr sz="650" spc="5" dirty="0">
                <a:solidFill>
                  <a:srgbClr val="231F20"/>
                </a:solidFill>
                <a:latin typeface="Arial"/>
                <a:cs typeface="Arial"/>
              </a:rPr>
              <a:t>operator</a:t>
            </a:r>
            <a:endParaRPr sz="650">
              <a:latin typeface="Arial"/>
              <a:cs typeface="Arial"/>
            </a:endParaRPr>
          </a:p>
          <a:p>
            <a:pPr marL="156845" marR="5080" algn="ctr">
              <a:lnSpc>
                <a:spcPct val="100000"/>
              </a:lnSpc>
              <a:spcBef>
                <a:spcPts val="330"/>
              </a:spcBef>
            </a:pPr>
            <a:r>
              <a:rPr sz="650" spc="5" dirty="0">
                <a:solidFill>
                  <a:srgbClr val="231F20"/>
                </a:solidFill>
                <a:latin typeface="Arial"/>
                <a:cs typeface="Arial"/>
              </a:rPr>
              <a:t>Each  sensor </a:t>
            </a:r>
            <a:r>
              <a:rPr sz="650" spc="10" dirty="0">
                <a:solidFill>
                  <a:srgbClr val="231F20"/>
                </a:solidFill>
                <a:latin typeface="Arial"/>
                <a:cs typeface="Arial"/>
              </a:rPr>
              <a:t> </a:t>
            </a:r>
            <a:r>
              <a:rPr sz="650" spc="5" dirty="0">
                <a:solidFill>
                  <a:srgbClr val="231F20"/>
                </a:solidFill>
                <a:latin typeface="Arial"/>
                <a:cs typeface="Arial"/>
              </a:rPr>
              <a:t>can</a:t>
            </a:r>
            <a:r>
              <a:rPr sz="650" spc="-35" dirty="0">
                <a:solidFill>
                  <a:srgbClr val="231F20"/>
                </a:solidFill>
                <a:latin typeface="Arial"/>
                <a:cs typeface="Arial"/>
              </a:rPr>
              <a:t> </a:t>
            </a:r>
            <a:r>
              <a:rPr sz="650" spc="5" dirty="0">
                <a:solidFill>
                  <a:srgbClr val="231F20"/>
                </a:solidFill>
                <a:latin typeface="Arial"/>
                <a:cs typeface="Arial"/>
              </a:rPr>
              <a:t>process</a:t>
            </a:r>
            <a:r>
              <a:rPr sz="650" spc="-35" dirty="0">
                <a:solidFill>
                  <a:srgbClr val="231F20"/>
                </a:solidFill>
                <a:latin typeface="Arial"/>
                <a:cs typeface="Arial"/>
              </a:rPr>
              <a:t> </a:t>
            </a:r>
            <a:r>
              <a:rPr sz="650" spc="5" dirty="0">
                <a:solidFill>
                  <a:srgbClr val="231F20"/>
                </a:solidFill>
                <a:latin typeface="Arial"/>
                <a:cs typeface="Arial"/>
              </a:rPr>
              <a:t>and </a:t>
            </a:r>
            <a:r>
              <a:rPr sz="650" spc="-165" dirty="0">
                <a:solidFill>
                  <a:srgbClr val="231F20"/>
                </a:solidFill>
                <a:latin typeface="Arial"/>
                <a:cs typeface="Arial"/>
              </a:rPr>
              <a:t> </a:t>
            </a:r>
            <a:r>
              <a:rPr sz="650" spc="5" dirty="0">
                <a:solidFill>
                  <a:srgbClr val="231F20"/>
                </a:solidFill>
                <a:latin typeface="Arial"/>
                <a:cs typeface="Arial"/>
              </a:rPr>
              <a:t>store</a:t>
            </a:r>
            <a:r>
              <a:rPr sz="650" spc="-10" dirty="0">
                <a:solidFill>
                  <a:srgbClr val="231F20"/>
                </a:solidFill>
                <a:latin typeface="Arial"/>
                <a:cs typeface="Arial"/>
              </a:rPr>
              <a:t> </a:t>
            </a:r>
            <a:r>
              <a:rPr sz="650" spc="5" dirty="0">
                <a:solidFill>
                  <a:srgbClr val="231F20"/>
                </a:solidFill>
                <a:latin typeface="Arial"/>
                <a:cs typeface="Arial"/>
              </a:rPr>
              <a:t>data</a:t>
            </a:r>
            <a:endParaRPr sz="650">
              <a:latin typeface="Arial"/>
              <a:cs typeface="Arial"/>
            </a:endParaRP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5911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Sensor</a:t>
            </a:r>
            <a:r>
              <a:rPr sz="600" spc="-4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networks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55</a:t>
            </a:r>
            <a:r>
              <a:rPr spc="-40" dirty="0"/>
              <a:t> </a:t>
            </a:r>
            <a:r>
              <a:rPr spc="-5" dirty="0"/>
              <a:t>/</a:t>
            </a:r>
            <a:r>
              <a:rPr spc="-35" dirty="0"/>
              <a:t> </a:t>
            </a:r>
            <a:r>
              <a:rPr spc="-5" dirty="0"/>
              <a:t>56</a:t>
            </a:r>
          </a:p>
        </p:txBody>
      </p:sp>
      <p:sp>
        <p:nvSpPr>
          <p:cNvPr id="2" name="object 2"/>
          <p:cNvSpPr txBox="1"/>
          <p:nvPr/>
        </p:nvSpPr>
        <p:spPr>
          <a:xfrm>
            <a:off x="66713" y="716"/>
            <a:ext cx="1435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r>
              <a:rPr sz="600" spc="15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endParaRPr sz="600">
              <a:latin typeface="Arial"/>
              <a:cs typeface="Arial"/>
            </a:endParaRPr>
          </a:p>
        </p:txBody>
      </p:sp>
      <p:sp>
        <p:nvSpPr>
          <p:cNvPr id="3" name="object 3"/>
          <p:cNvSpPr txBox="1"/>
          <p:nvPr/>
        </p:nvSpPr>
        <p:spPr>
          <a:xfrm>
            <a:off x="3888452" y="716"/>
            <a:ext cx="6534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Pervasive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175768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Duty-cycled</a:t>
            </a:r>
            <a:r>
              <a:rPr sz="1400" spc="-45" dirty="0">
                <a:solidFill>
                  <a:srgbClr val="3333B2"/>
                </a:solidFill>
                <a:latin typeface="Arial"/>
                <a:cs typeface="Arial"/>
              </a:rPr>
              <a:t> </a:t>
            </a:r>
            <a:r>
              <a:rPr sz="1400" spc="15" dirty="0">
                <a:solidFill>
                  <a:srgbClr val="3333B2"/>
                </a:solidFill>
                <a:latin typeface="Arial"/>
                <a:cs typeface="Arial"/>
              </a:rPr>
              <a:t>networks</a:t>
            </a:r>
            <a:endParaRPr sz="1400">
              <a:latin typeface="Arial"/>
              <a:cs typeface="Arial"/>
            </a:endParaRPr>
          </a:p>
        </p:txBody>
      </p:sp>
      <p:sp>
        <p:nvSpPr>
          <p:cNvPr id="5" name="object 5"/>
          <p:cNvSpPr txBox="1"/>
          <p:nvPr/>
        </p:nvSpPr>
        <p:spPr>
          <a:xfrm>
            <a:off x="292328" y="847976"/>
            <a:ext cx="3778250" cy="1811655"/>
          </a:xfrm>
          <a:prstGeom prst="rect">
            <a:avLst/>
          </a:prstGeom>
        </p:spPr>
        <p:txBody>
          <a:bodyPr vert="horz" wrap="square" lIns="0" tIns="12065" rIns="0" bIns="0" rtlCol="0">
            <a:spAutoFit/>
          </a:bodyPr>
          <a:lstStyle/>
          <a:p>
            <a:pPr marL="67310">
              <a:lnSpc>
                <a:spcPts val="1410"/>
              </a:lnSpc>
              <a:spcBef>
                <a:spcPts val="95"/>
              </a:spcBef>
            </a:pPr>
            <a:r>
              <a:rPr sz="1200" spc="-5" dirty="0">
                <a:solidFill>
                  <a:srgbClr val="3333B2"/>
                </a:solidFill>
                <a:latin typeface="Arial"/>
                <a:cs typeface="Arial"/>
              </a:rPr>
              <a:t>Issue</a:t>
            </a:r>
            <a:endParaRPr sz="1200">
              <a:latin typeface="Arial"/>
              <a:cs typeface="Arial"/>
            </a:endParaRPr>
          </a:p>
          <a:p>
            <a:pPr marL="67310" marR="55880">
              <a:lnSpc>
                <a:spcPts val="1200"/>
              </a:lnSpc>
              <a:spcBef>
                <a:spcPts val="10"/>
              </a:spcBef>
            </a:pPr>
            <a:r>
              <a:rPr sz="1000" spc="-10" dirty="0">
                <a:latin typeface="Arial"/>
                <a:cs typeface="Arial"/>
              </a:rPr>
              <a:t>Many</a:t>
            </a:r>
            <a:r>
              <a:rPr sz="1000" spc="-5" dirty="0">
                <a:latin typeface="Arial"/>
                <a:cs typeface="Arial"/>
              </a:rPr>
              <a:t> sensor networks</a:t>
            </a:r>
            <a:r>
              <a:rPr sz="1000" dirty="0">
                <a:latin typeface="Arial"/>
                <a:cs typeface="Arial"/>
              </a:rPr>
              <a:t> </a:t>
            </a:r>
            <a:r>
              <a:rPr sz="1000" spc="-5" dirty="0">
                <a:latin typeface="Arial"/>
                <a:cs typeface="Arial"/>
              </a:rPr>
              <a:t>need to operate</a:t>
            </a:r>
            <a:r>
              <a:rPr sz="1000" dirty="0">
                <a:latin typeface="Arial"/>
                <a:cs typeface="Arial"/>
              </a:rPr>
              <a:t> </a:t>
            </a:r>
            <a:r>
              <a:rPr sz="1000" spc="-5" dirty="0">
                <a:latin typeface="Arial"/>
                <a:cs typeface="Arial"/>
              </a:rPr>
              <a:t>on a </a:t>
            </a:r>
            <a:r>
              <a:rPr sz="1000" dirty="0">
                <a:latin typeface="Arial"/>
                <a:cs typeface="Arial"/>
              </a:rPr>
              <a:t>strict </a:t>
            </a:r>
            <a:r>
              <a:rPr sz="1000" spc="-5" dirty="0">
                <a:latin typeface="Arial"/>
                <a:cs typeface="Arial"/>
              </a:rPr>
              <a:t>energy budget: </a:t>
            </a:r>
            <a:r>
              <a:rPr sz="1000" spc="-260" dirty="0">
                <a:latin typeface="Arial"/>
                <a:cs typeface="Arial"/>
              </a:rPr>
              <a:t> </a:t>
            </a:r>
            <a:r>
              <a:rPr sz="1000" spc="-5" dirty="0">
                <a:latin typeface="Arial"/>
                <a:cs typeface="Arial"/>
              </a:rPr>
              <a:t>introduce</a:t>
            </a:r>
            <a:r>
              <a:rPr sz="1000" spc="-10" dirty="0">
                <a:latin typeface="Arial"/>
                <a:cs typeface="Arial"/>
              </a:rPr>
              <a:t> </a:t>
            </a:r>
            <a:r>
              <a:rPr sz="1000" spc="-5" dirty="0">
                <a:solidFill>
                  <a:srgbClr val="FA0000"/>
                </a:solidFill>
                <a:latin typeface="Arial"/>
                <a:cs typeface="Arial"/>
              </a:rPr>
              <a:t>duty cycles</a:t>
            </a:r>
            <a:endParaRPr sz="1000">
              <a:latin typeface="Arial"/>
              <a:cs typeface="Arial"/>
            </a:endParaRPr>
          </a:p>
          <a:p>
            <a:pPr marL="67310">
              <a:lnSpc>
                <a:spcPts val="1410"/>
              </a:lnSpc>
              <a:spcBef>
                <a:spcPts val="650"/>
              </a:spcBef>
            </a:pPr>
            <a:r>
              <a:rPr sz="1200" spc="-5" dirty="0">
                <a:solidFill>
                  <a:srgbClr val="3333B2"/>
                </a:solidFill>
                <a:latin typeface="Arial"/>
                <a:cs typeface="Arial"/>
              </a:rPr>
              <a:t>Definition</a:t>
            </a:r>
            <a:endParaRPr sz="1200">
              <a:latin typeface="Arial"/>
              <a:cs typeface="Arial"/>
            </a:endParaRPr>
          </a:p>
          <a:p>
            <a:pPr marL="63500">
              <a:lnSpc>
                <a:spcPts val="1170"/>
              </a:lnSpc>
            </a:pPr>
            <a:r>
              <a:rPr sz="1000" spc="-5" dirty="0">
                <a:latin typeface="Arial"/>
                <a:cs typeface="Arial"/>
              </a:rPr>
              <a:t>A node</a:t>
            </a:r>
            <a:r>
              <a:rPr sz="1000" dirty="0">
                <a:latin typeface="Arial"/>
                <a:cs typeface="Arial"/>
              </a:rPr>
              <a:t> </a:t>
            </a:r>
            <a:r>
              <a:rPr sz="1000" spc="-5" dirty="0">
                <a:latin typeface="Arial"/>
                <a:cs typeface="Arial"/>
              </a:rPr>
              <a:t>is</a:t>
            </a:r>
            <a:r>
              <a:rPr sz="1000" dirty="0">
                <a:latin typeface="Arial"/>
                <a:cs typeface="Arial"/>
              </a:rPr>
              <a:t> </a:t>
            </a:r>
            <a:r>
              <a:rPr sz="1000" spc="-10" dirty="0">
                <a:solidFill>
                  <a:srgbClr val="0000FA"/>
                </a:solidFill>
                <a:latin typeface="Arial"/>
                <a:cs typeface="Arial"/>
              </a:rPr>
              <a:t>active</a:t>
            </a:r>
            <a:r>
              <a:rPr sz="1000" dirty="0">
                <a:solidFill>
                  <a:srgbClr val="0000FA"/>
                </a:solidFill>
                <a:latin typeface="Arial"/>
                <a:cs typeface="Arial"/>
              </a:rPr>
              <a:t> </a:t>
            </a:r>
            <a:r>
              <a:rPr sz="1000" spc="-5" dirty="0">
                <a:latin typeface="Arial"/>
                <a:cs typeface="Arial"/>
              </a:rPr>
              <a:t>during</a:t>
            </a:r>
            <a:r>
              <a:rPr sz="1000" dirty="0">
                <a:latin typeface="Arial"/>
                <a:cs typeface="Arial"/>
              </a:rPr>
              <a:t> </a:t>
            </a:r>
            <a:r>
              <a:rPr sz="1000" i="1" spc="-5" dirty="0">
                <a:latin typeface="Arial"/>
                <a:cs typeface="Arial"/>
              </a:rPr>
              <a:t>T</a:t>
            </a:r>
            <a:r>
              <a:rPr sz="1200" spc="-7" baseline="-17361" dirty="0">
                <a:latin typeface="Arial"/>
                <a:cs typeface="Arial"/>
              </a:rPr>
              <a:t>active</a:t>
            </a:r>
            <a:r>
              <a:rPr sz="1200" spc="157" baseline="-17361" dirty="0">
                <a:latin typeface="Arial"/>
                <a:cs typeface="Arial"/>
              </a:rPr>
              <a:t> </a:t>
            </a:r>
            <a:r>
              <a:rPr sz="1000" spc="-5" dirty="0">
                <a:latin typeface="Arial"/>
                <a:cs typeface="Arial"/>
              </a:rPr>
              <a:t>time</a:t>
            </a:r>
            <a:r>
              <a:rPr sz="1000" dirty="0">
                <a:latin typeface="Arial"/>
                <a:cs typeface="Arial"/>
              </a:rPr>
              <a:t> </a:t>
            </a:r>
            <a:r>
              <a:rPr sz="1000" spc="-5" dirty="0">
                <a:latin typeface="Arial"/>
                <a:cs typeface="Arial"/>
              </a:rPr>
              <a:t>units,</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then</a:t>
            </a:r>
            <a:r>
              <a:rPr sz="1000" dirty="0">
                <a:latin typeface="Arial"/>
                <a:cs typeface="Arial"/>
              </a:rPr>
              <a:t> </a:t>
            </a:r>
            <a:r>
              <a:rPr sz="1000" spc="-5" dirty="0">
                <a:solidFill>
                  <a:srgbClr val="0000FA"/>
                </a:solidFill>
                <a:latin typeface="Arial"/>
                <a:cs typeface="Arial"/>
              </a:rPr>
              <a:t>suspended </a:t>
            </a:r>
            <a:r>
              <a:rPr sz="1000" spc="-15" dirty="0">
                <a:latin typeface="Arial"/>
                <a:cs typeface="Arial"/>
              </a:rPr>
              <a:t>for</a:t>
            </a:r>
            <a:endParaRPr sz="1000">
              <a:latin typeface="Arial"/>
              <a:cs typeface="Arial"/>
            </a:endParaRPr>
          </a:p>
          <a:p>
            <a:pPr marL="67310">
              <a:lnSpc>
                <a:spcPts val="1200"/>
              </a:lnSpc>
            </a:pPr>
            <a:r>
              <a:rPr sz="1000" i="1" spc="-5" dirty="0">
                <a:latin typeface="Arial"/>
                <a:cs typeface="Arial"/>
              </a:rPr>
              <a:t>T</a:t>
            </a:r>
            <a:r>
              <a:rPr sz="1200" spc="-7" baseline="-17361" dirty="0">
                <a:latin typeface="Arial"/>
                <a:cs typeface="Arial"/>
              </a:rPr>
              <a:t>suspended</a:t>
            </a:r>
            <a:r>
              <a:rPr sz="1200" spc="150" baseline="-17361" dirty="0">
                <a:latin typeface="Arial"/>
                <a:cs typeface="Arial"/>
              </a:rPr>
              <a:t> </a:t>
            </a:r>
            <a:r>
              <a:rPr sz="1000" spc="-5" dirty="0">
                <a:latin typeface="Arial"/>
                <a:cs typeface="Arial"/>
              </a:rPr>
              <a:t>units,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become</a:t>
            </a:r>
            <a:r>
              <a:rPr sz="1000" dirty="0">
                <a:latin typeface="Arial"/>
                <a:cs typeface="Arial"/>
              </a:rPr>
              <a:t> </a:t>
            </a:r>
            <a:r>
              <a:rPr sz="1000" spc="-10" dirty="0">
                <a:latin typeface="Arial"/>
                <a:cs typeface="Arial"/>
              </a:rPr>
              <a:t>active</a:t>
            </a:r>
            <a:r>
              <a:rPr sz="1000" spc="-5" dirty="0">
                <a:latin typeface="Arial"/>
                <a:cs typeface="Arial"/>
              </a:rPr>
              <a:t> again.</a:t>
            </a:r>
            <a:r>
              <a:rPr sz="1000" spc="65" dirty="0">
                <a:latin typeface="Arial"/>
                <a:cs typeface="Arial"/>
              </a:rPr>
              <a:t> </a:t>
            </a:r>
            <a:r>
              <a:rPr sz="1000" spc="-5" dirty="0">
                <a:solidFill>
                  <a:srgbClr val="FA0000"/>
                </a:solidFill>
                <a:latin typeface="Arial"/>
                <a:cs typeface="Arial"/>
              </a:rPr>
              <a:t>Duty</a:t>
            </a:r>
            <a:r>
              <a:rPr sz="1000" dirty="0">
                <a:solidFill>
                  <a:srgbClr val="FA0000"/>
                </a:solidFill>
                <a:latin typeface="Arial"/>
                <a:cs typeface="Arial"/>
              </a:rPr>
              <a:t> </a:t>
            </a:r>
            <a:r>
              <a:rPr sz="1000" spc="-5" dirty="0">
                <a:solidFill>
                  <a:srgbClr val="FA0000"/>
                </a:solidFill>
                <a:latin typeface="Arial"/>
                <a:cs typeface="Arial"/>
              </a:rPr>
              <a:t>cycle</a:t>
            </a:r>
            <a:r>
              <a:rPr sz="1000" dirty="0">
                <a:solidFill>
                  <a:srgbClr val="FA0000"/>
                </a:solidFill>
                <a:latin typeface="Arial"/>
                <a:cs typeface="Arial"/>
              </a:rPr>
              <a:t> </a:t>
            </a:r>
            <a:r>
              <a:rPr sz="1000" i="1" spc="70" dirty="0">
                <a:latin typeface="Arial"/>
                <a:cs typeface="Arial"/>
              </a:rPr>
              <a:t>τ</a:t>
            </a:r>
            <a:r>
              <a:rPr sz="1000" spc="70" dirty="0">
                <a:latin typeface="Arial"/>
                <a:cs typeface="Arial"/>
              </a:rPr>
              <a:t>:</a:t>
            </a:r>
            <a:endParaRPr sz="1000">
              <a:latin typeface="Arial"/>
              <a:cs typeface="Arial"/>
            </a:endParaRPr>
          </a:p>
          <a:p>
            <a:pPr marL="229870" algn="ctr">
              <a:lnSpc>
                <a:spcPct val="100000"/>
              </a:lnSpc>
              <a:spcBef>
                <a:spcPts val="1245"/>
              </a:spcBef>
              <a:tabLst>
                <a:tab pos="821690" algn="l"/>
                <a:tab pos="1523365" algn="l"/>
              </a:tabLst>
            </a:pPr>
            <a:r>
              <a:rPr sz="1500" i="1" spc="89" baseline="-25000" dirty="0">
                <a:latin typeface="Arial"/>
                <a:cs typeface="Arial"/>
              </a:rPr>
              <a:t>τ</a:t>
            </a:r>
            <a:r>
              <a:rPr sz="1500" i="1" spc="37" baseline="-25000" dirty="0">
                <a:latin typeface="Arial"/>
                <a:cs typeface="Arial"/>
              </a:rPr>
              <a:t> </a:t>
            </a:r>
            <a:r>
              <a:rPr sz="1500" spc="284" baseline="-25000" dirty="0">
                <a:latin typeface="Arial"/>
                <a:cs typeface="Arial"/>
              </a:rPr>
              <a:t>=</a:t>
            </a:r>
            <a:r>
              <a:rPr sz="1500" u="sng" spc="284" baseline="13888" dirty="0">
                <a:uFill>
                  <a:solidFill>
                    <a:srgbClr val="000000"/>
                  </a:solidFill>
                </a:uFill>
                <a:latin typeface="Times New Roman"/>
                <a:cs typeface="Times New Roman"/>
              </a:rPr>
              <a:t>	</a:t>
            </a:r>
            <a:r>
              <a:rPr sz="1500" i="1" u="sng" spc="-7" baseline="13888" dirty="0">
                <a:uFill>
                  <a:solidFill>
                    <a:srgbClr val="000000"/>
                  </a:solidFill>
                </a:uFill>
                <a:latin typeface="Arial"/>
                <a:cs typeface="Arial"/>
              </a:rPr>
              <a:t>T</a:t>
            </a:r>
            <a:r>
              <a:rPr sz="800" u="sng" spc="-5" dirty="0">
                <a:uFill>
                  <a:solidFill>
                    <a:srgbClr val="000000"/>
                  </a:solidFill>
                </a:uFill>
                <a:latin typeface="Arial"/>
                <a:cs typeface="Arial"/>
              </a:rPr>
              <a:t>active	</a:t>
            </a:r>
            <a:endParaRPr sz="800">
              <a:latin typeface="Arial"/>
              <a:cs typeface="Arial"/>
            </a:endParaRPr>
          </a:p>
          <a:p>
            <a:pPr marL="1592580">
              <a:lnSpc>
                <a:spcPct val="100000"/>
              </a:lnSpc>
              <a:spcBef>
                <a:spcPts val="160"/>
              </a:spcBef>
            </a:pPr>
            <a:r>
              <a:rPr sz="1500" i="1" spc="-7" baseline="13888" dirty="0">
                <a:latin typeface="Arial"/>
                <a:cs typeface="Arial"/>
              </a:rPr>
              <a:t>T</a:t>
            </a:r>
            <a:r>
              <a:rPr sz="800" spc="-5" dirty="0">
                <a:latin typeface="Arial"/>
                <a:cs typeface="Arial"/>
              </a:rPr>
              <a:t>acti</a:t>
            </a:r>
            <a:r>
              <a:rPr sz="800" spc="-25" dirty="0">
                <a:latin typeface="Arial"/>
                <a:cs typeface="Arial"/>
              </a:rPr>
              <a:t>v</a:t>
            </a:r>
            <a:r>
              <a:rPr sz="800" spc="-5" dirty="0">
                <a:latin typeface="Arial"/>
                <a:cs typeface="Arial"/>
              </a:rPr>
              <a:t>e</a:t>
            </a:r>
            <a:r>
              <a:rPr sz="800" spc="-35" dirty="0">
                <a:latin typeface="Arial"/>
                <a:cs typeface="Arial"/>
              </a:rPr>
              <a:t> </a:t>
            </a:r>
            <a:r>
              <a:rPr sz="1500" spc="284" baseline="13888" dirty="0">
                <a:latin typeface="Arial"/>
                <a:cs typeface="Arial"/>
              </a:rPr>
              <a:t>+</a:t>
            </a:r>
            <a:r>
              <a:rPr sz="1500" spc="-209" baseline="13888" dirty="0">
                <a:latin typeface="Arial"/>
                <a:cs typeface="Arial"/>
              </a:rPr>
              <a:t> </a:t>
            </a:r>
            <a:r>
              <a:rPr sz="1500" i="1" spc="-7" baseline="13888" dirty="0">
                <a:latin typeface="Arial"/>
                <a:cs typeface="Arial"/>
              </a:rPr>
              <a:t>T</a:t>
            </a:r>
            <a:r>
              <a:rPr sz="800" spc="-5" dirty="0">
                <a:latin typeface="Arial"/>
                <a:cs typeface="Arial"/>
              </a:rPr>
              <a:t>suspended</a:t>
            </a:r>
            <a:endParaRPr sz="800">
              <a:latin typeface="Arial"/>
              <a:cs typeface="Arial"/>
            </a:endParaRPr>
          </a:p>
          <a:p>
            <a:pPr marL="63500">
              <a:lnSpc>
                <a:spcPct val="100000"/>
              </a:lnSpc>
              <a:spcBef>
                <a:spcPts val="810"/>
              </a:spcBef>
            </a:pPr>
            <a:r>
              <a:rPr sz="1000" spc="-20" dirty="0">
                <a:latin typeface="Arial"/>
                <a:cs typeface="Arial"/>
              </a:rPr>
              <a:t>Typical</a:t>
            </a:r>
            <a:r>
              <a:rPr sz="1000" spc="-5" dirty="0">
                <a:latin typeface="Arial"/>
                <a:cs typeface="Arial"/>
              </a:rPr>
              <a:t> duty</a:t>
            </a:r>
            <a:r>
              <a:rPr sz="1000" dirty="0">
                <a:latin typeface="Arial"/>
                <a:cs typeface="Arial"/>
              </a:rPr>
              <a:t> </a:t>
            </a:r>
            <a:r>
              <a:rPr sz="1000" spc="-5" dirty="0">
                <a:latin typeface="Arial"/>
                <a:cs typeface="Arial"/>
              </a:rPr>
              <a:t>cycles are</a:t>
            </a:r>
            <a:r>
              <a:rPr sz="1000" dirty="0">
                <a:latin typeface="Arial"/>
                <a:cs typeface="Arial"/>
              </a:rPr>
              <a:t> </a:t>
            </a:r>
            <a:r>
              <a:rPr sz="1000" spc="-5" dirty="0">
                <a:latin typeface="Arial"/>
                <a:cs typeface="Arial"/>
              </a:rPr>
              <a:t>10</a:t>
            </a:r>
            <a:r>
              <a:rPr sz="1000" spc="-140" dirty="0">
                <a:latin typeface="Arial"/>
                <a:cs typeface="Arial"/>
              </a:rPr>
              <a:t> </a:t>
            </a:r>
            <a:r>
              <a:rPr sz="1000" i="1" spc="-30" dirty="0">
                <a:latin typeface="メイリオ"/>
                <a:cs typeface="メイリオ"/>
              </a:rPr>
              <a:t>−</a:t>
            </a:r>
            <a:r>
              <a:rPr sz="1000" i="1" spc="-204" dirty="0">
                <a:latin typeface="メイリオ"/>
                <a:cs typeface="メイリオ"/>
              </a:rPr>
              <a:t> </a:t>
            </a:r>
            <a:r>
              <a:rPr sz="1000" spc="-20" dirty="0">
                <a:latin typeface="Arial"/>
                <a:cs typeface="Arial"/>
              </a:rPr>
              <a:t>30%,</a:t>
            </a:r>
            <a:r>
              <a:rPr sz="1000" dirty="0">
                <a:latin typeface="Arial"/>
                <a:cs typeface="Arial"/>
              </a:rPr>
              <a:t> </a:t>
            </a:r>
            <a:r>
              <a:rPr sz="1000" spc="-10" dirty="0">
                <a:latin typeface="Arial"/>
                <a:cs typeface="Arial"/>
              </a:rPr>
              <a:t>but</a:t>
            </a:r>
            <a:r>
              <a:rPr sz="1000" spc="-5" dirty="0">
                <a:latin typeface="Arial"/>
                <a:cs typeface="Arial"/>
              </a:rPr>
              <a:t> can</a:t>
            </a:r>
            <a:r>
              <a:rPr sz="1000" dirty="0">
                <a:latin typeface="Arial"/>
                <a:cs typeface="Arial"/>
              </a:rPr>
              <a:t> </a:t>
            </a:r>
            <a:r>
              <a:rPr sz="1000" spc="-5" dirty="0">
                <a:latin typeface="Arial"/>
                <a:cs typeface="Arial"/>
              </a:rPr>
              <a:t>also</a:t>
            </a:r>
            <a:r>
              <a:rPr sz="1000" dirty="0">
                <a:latin typeface="Arial"/>
                <a:cs typeface="Arial"/>
              </a:rPr>
              <a:t> </a:t>
            </a:r>
            <a:r>
              <a:rPr sz="1000" spc="-5" dirty="0">
                <a:latin typeface="Arial"/>
                <a:cs typeface="Arial"/>
              </a:rPr>
              <a:t>be </a:t>
            </a:r>
            <a:r>
              <a:rPr sz="1000" spc="-10" dirty="0">
                <a:latin typeface="Arial"/>
                <a:cs typeface="Arial"/>
              </a:rPr>
              <a:t>lower</a:t>
            </a:r>
            <a:r>
              <a:rPr sz="1000" dirty="0">
                <a:latin typeface="Arial"/>
                <a:cs typeface="Arial"/>
              </a:rPr>
              <a:t> </a:t>
            </a:r>
            <a:r>
              <a:rPr sz="1000" spc="-5" dirty="0">
                <a:latin typeface="Arial"/>
                <a:cs typeface="Arial"/>
              </a:rPr>
              <a:t>than </a:t>
            </a:r>
            <a:r>
              <a:rPr sz="1000" spc="-25" dirty="0">
                <a:latin typeface="Arial"/>
                <a:cs typeface="Arial"/>
              </a:rPr>
              <a:t>1%.</a:t>
            </a:r>
            <a:endParaRPr sz="1000">
              <a:latin typeface="Arial"/>
              <a:cs typeface="Arial"/>
            </a:endParaRP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5911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Sensor</a:t>
            </a:r>
            <a:r>
              <a:rPr sz="600" spc="-4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networks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56</a:t>
            </a:r>
            <a:r>
              <a:rPr spc="-40" dirty="0"/>
              <a:t> </a:t>
            </a:r>
            <a:r>
              <a:rPr spc="-5" dirty="0"/>
              <a:t>/</a:t>
            </a:r>
            <a:r>
              <a:rPr spc="-35" dirty="0"/>
              <a:t> </a:t>
            </a:r>
            <a:r>
              <a:rPr spc="-5" dirty="0"/>
              <a:t>56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34129" algn="l"/>
              </a:tabLst>
            </a:pPr>
            <a:r>
              <a:rPr sz="600" spc="-5" dirty="0">
                <a:solidFill>
                  <a:srgbClr val="3333B2"/>
                </a:solidFill>
                <a:latin typeface="Arial"/>
                <a:cs typeface="Arial"/>
                <a:hlinkClick r:id="rId3" action="ppaction://hlinksldjump"/>
              </a:rPr>
              <a:t>Introduction:</a:t>
            </a:r>
            <a:r>
              <a:rPr sz="600" spc="175" dirty="0">
                <a:solidFill>
                  <a:srgbClr val="3333B2"/>
                </a:solidFill>
                <a:latin typeface="Arial"/>
                <a:cs typeface="Arial"/>
              </a:rPr>
              <a:t> </a:t>
            </a:r>
            <a:r>
              <a:rPr sz="600" spc="-20" dirty="0">
                <a:solidFill>
                  <a:srgbClr val="3333B2"/>
                </a:solidFill>
                <a:latin typeface="Arial"/>
                <a:cs typeface="Arial"/>
                <a:hlinkClick r:id="rId4" action="ppaction://hlinksldjump"/>
              </a:rPr>
              <a:t>Types</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of</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distributed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systems</a:t>
            </a:r>
            <a:r>
              <a:rPr sz="600" spc="-5" dirty="0">
                <a:solidFill>
                  <a:srgbClr val="3333B2"/>
                </a:solidFill>
                <a:latin typeface="Arial"/>
                <a:cs typeface="Arial"/>
              </a:rPr>
              <a:t>	</a:t>
            </a:r>
            <a:r>
              <a:rPr sz="600" spc="-10" dirty="0">
                <a:solidFill>
                  <a:srgbClr val="262685"/>
                </a:solidFill>
                <a:latin typeface="Arial"/>
                <a:cs typeface="Arial"/>
                <a:hlinkClick r:id="rId5" action="ppaction://hlinksldjump"/>
              </a:rPr>
              <a:t>Pervasive</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3056890" cy="244475"/>
          </a:xfrm>
          <a:prstGeom prst="rect">
            <a:avLst/>
          </a:prstGeom>
        </p:spPr>
        <p:txBody>
          <a:bodyPr vert="horz" wrap="square" lIns="0" tIns="17145" rIns="0" bIns="0" rtlCol="0">
            <a:spAutoFit/>
          </a:bodyPr>
          <a:lstStyle/>
          <a:p>
            <a:pPr marL="12700">
              <a:lnSpc>
                <a:spcPct val="100000"/>
              </a:lnSpc>
              <a:spcBef>
                <a:spcPts val="135"/>
              </a:spcBef>
            </a:pPr>
            <a:r>
              <a:rPr spc="5" dirty="0"/>
              <a:t>Keeping</a:t>
            </a:r>
            <a:r>
              <a:rPr dirty="0"/>
              <a:t> </a:t>
            </a:r>
            <a:r>
              <a:rPr spc="15" dirty="0"/>
              <a:t>duty-cycled</a:t>
            </a:r>
            <a:r>
              <a:rPr dirty="0"/>
              <a:t> </a:t>
            </a:r>
            <a:r>
              <a:rPr spc="15" dirty="0"/>
              <a:t>networks</a:t>
            </a:r>
            <a:r>
              <a:rPr dirty="0"/>
              <a:t> </a:t>
            </a:r>
            <a:r>
              <a:rPr spc="10" dirty="0"/>
              <a:t>in</a:t>
            </a:r>
            <a:r>
              <a:rPr dirty="0"/>
              <a:t> </a:t>
            </a:r>
            <a:r>
              <a:rPr spc="15" dirty="0"/>
              <a:t>sync</a:t>
            </a:r>
          </a:p>
        </p:txBody>
      </p:sp>
      <p:sp>
        <p:nvSpPr>
          <p:cNvPr id="4" name="object 4"/>
          <p:cNvSpPr txBox="1"/>
          <p:nvPr/>
        </p:nvSpPr>
        <p:spPr>
          <a:xfrm>
            <a:off x="321894" y="540827"/>
            <a:ext cx="3964304" cy="2578735"/>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Issue</a:t>
            </a:r>
            <a:endParaRPr sz="1200">
              <a:latin typeface="Arial"/>
              <a:cs typeface="Arial"/>
            </a:endParaRPr>
          </a:p>
          <a:p>
            <a:pPr marL="38100" marR="30480">
              <a:lnSpc>
                <a:spcPts val="1200"/>
              </a:lnSpc>
              <a:spcBef>
                <a:spcPts val="10"/>
              </a:spcBef>
            </a:pPr>
            <a:r>
              <a:rPr sz="1000" spc="-10" dirty="0">
                <a:latin typeface="Arial"/>
                <a:cs typeface="Arial"/>
              </a:rPr>
              <a:t>If</a:t>
            </a:r>
            <a:r>
              <a:rPr sz="1000" spc="-5" dirty="0">
                <a:latin typeface="Arial"/>
                <a:cs typeface="Arial"/>
              </a:rPr>
              <a:t> </a:t>
            </a:r>
            <a:r>
              <a:rPr sz="1000" spc="-10" dirty="0">
                <a:latin typeface="Arial"/>
                <a:cs typeface="Arial"/>
              </a:rPr>
              <a:t>duty</a:t>
            </a:r>
            <a:r>
              <a:rPr sz="1000" spc="-5" dirty="0">
                <a:latin typeface="Arial"/>
                <a:cs typeface="Arial"/>
              </a:rPr>
              <a:t> </a:t>
            </a:r>
            <a:r>
              <a:rPr sz="1000" spc="-10" dirty="0">
                <a:latin typeface="Arial"/>
                <a:cs typeface="Arial"/>
              </a:rPr>
              <a:t>cycles</a:t>
            </a:r>
            <a:r>
              <a:rPr sz="1000" spc="-5" dirty="0">
                <a:latin typeface="Arial"/>
                <a:cs typeface="Arial"/>
              </a:rPr>
              <a:t> </a:t>
            </a:r>
            <a:r>
              <a:rPr sz="1000" spc="-15" dirty="0">
                <a:latin typeface="Arial"/>
                <a:cs typeface="Arial"/>
              </a:rPr>
              <a:t>are</a:t>
            </a:r>
            <a:r>
              <a:rPr sz="1000" dirty="0">
                <a:latin typeface="Arial"/>
                <a:cs typeface="Arial"/>
              </a:rPr>
              <a:t> </a:t>
            </a:r>
            <a:r>
              <a:rPr sz="1000" spc="-30" dirty="0">
                <a:latin typeface="Arial"/>
                <a:cs typeface="Arial"/>
              </a:rPr>
              <a:t>low,</a:t>
            </a:r>
            <a:r>
              <a:rPr sz="1000" spc="-5" dirty="0">
                <a:latin typeface="Arial"/>
                <a:cs typeface="Arial"/>
              </a:rPr>
              <a:t> </a:t>
            </a:r>
            <a:r>
              <a:rPr sz="1000" spc="-15" dirty="0">
                <a:latin typeface="Arial"/>
                <a:cs typeface="Arial"/>
              </a:rPr>
              <a:t>sensor</a:t>
            </a:r>
            <a:r>
              <a:rPr sz="1000" spc="-5" dirty="0">
                <a:latin typeface="Arial"/>
                <a:cs typeface="Arial"/>
              </a:rPr>
              <a:t> </a:t>
            </a:r>
            <a:r>
              <a:rPr sz="1000" spc="-15" dirty="0">
                <a:latin typeface="Arial"/>
                <a:cs typeface="Arial"/>
              </a:rPr>
              <a:t>nodes</a:t>
            </a:r>
            <a:r>
              <a:rPr sz="1000" spc="-5" dirty="0">
                <a:latin typeface="Arial"/>
                <a:cs typeface="Arial"/>
              </a:rPr>
              <a:t> </a:t>
            </a:r>
            <a:r>
              <a:rPr sz="1000" spc="-25" dirty="0">
                <a:latin typeface="Arial"/>
                <a:cs typeface="Arial"/>
              </a:rPr>
              <a:t>may</a:t>
            </a:r>
            <a:r>
              <a:rPr sz="1000" dirty="0">
                <a:latin typeface="Arial"/>
                <a:cs typeface="Arial"/>
              </a:rPr>
              <a:t> </a:t>
            </a:r>
            <a:r>
              <a:rPr sz="1000" spc="-10" dirty="0">
                <a:latin typeface="Arial"/>
                <a:cs typeface="Arial"/>
              </a:rPr>
              <a:t>not</a:t>
            </a:r>
            <a:r>
              <a:rPr sz="1000" spc="-5" dirty="0">
                <a:latin typeface="Arial"/>
                <a:cs typeface="Arial"/>
              </a:rPr>
              <a:t> </a:t>
            </a:r>
            <a:r>
              <a:rPr sz="1000" spc="-25" dirty="0">
                <a:latin typeface="Arial"/>
                <a:cs typeface="Arial"/>
              </a:rPr>
              <a:t>wake</a:t>
            </a:r>
            <a:r>
              <a:rPr sz="1000" spc="-5" dirty="0">
                <a:latin typeface="Arial"/>
                <a:cs typeface="Arial"/>
              </a:rPr>
              <a:t> </a:t>
            </a:r>
            <a:r>
              <a:rPr sz="1000" spc="-15" dirty="0">
                <a:latin typeface="Arial"/>
                <a:cs typeface="Arial"/>
              </a:rPr>
              <a:t>up</a:t>
            </a:r>
            <a:r>
              <a:rPr sz="1000" spc="-5" dirty="0">
                <a:latin typeface="Arial"/>
                <a:cs typeface="Arial"/>
              </a:rPr>
              <a:t> </a:t>
            </a:r>
            <a:r>
              <a:rPr sz="1000" spc="-10" dirty="0">
                <a:latin typeface="Arial"/>
                <a:cs typeface="Arial"/>
              </a:rPr>
              <a:t>at</a:t>
            </a:r>
            <a:r>
              <a:rPr sz="1000" dirty="0">
                <a:latin typeface="Arial"/>
                <a:cs typeface="Arial"/>
              </a:rPr>
              <a:t> </a:t>
            </a:r>
            <a:r>
              <a:rPr sz="1000" spc="-10" dirty="0">
                <a:latin typeface="Arial"/>
                <a:cs typeface="Arial"/>
              </a:rPr>
              <a:t>the</a:t>
            </a:r>
            <a:r>
              <a:rPr sz="1000" spc="-5" dirty="0">
                <a:latin typeface="Arial"/>
                <a:cs typeface="Arial"/>
              </a:rPr>
              <a:t> </a:t>
            </a:r>
            <a:r>
              <a:rPr sz="1000" spc="-15" dirty="0">
                <a:latin typeface="Arial"/>
                <a:cs typeface="Arial"/>
              </a:rPr>
              <a:t>same</a:t>
            </a:r>
            <a:r>
              <a:rPr sz="1000" spc="-5" dirty="0">
                <a:latin typeface="Arial"/>
                <a:cs typeface="Arial"/>
              </a:rPr>
              <a:t> </a:t>
            </a:r>
            <a:r>
              <a:rPr sz="1000" spc="-10" dirty="0">
                <a:latin typeface="Arial"/>
                <a:cs typeface="Arial"/>
              </a:rPr>
              <a:t>time </a:t>
            </a:r>
            <a:r>
              <a:rPr sz="1000" spc="-260" dirty="0">
                <a:latin typeface="Arial"/>
                <a:cs typeface="Arial"/>
              </a:rPr>
              <a:t> </a:t>
            </a:r>
            <a:r>
              <a:rPr sz="1000" spc="-5" dirty="0">
                <a:latin typeface="Arial"/>
                <a:cs typeface="Arial"/>
              </a:rPr>
              <a:t>anymore and</a:t>
            </a:r>
            <a:r>
              <a:rPr sz="1000" dirty="0">
                <a:latin typeface="Arial"/>
                <a:cs typeface="Arial"/>
              </a:rPr>
              <a:t> </a:t>
            </a:r>
            <a:r>
              <a:rPr sz="1000" spc="-5" dirty="0">
                <a:latin typeface="Arial"/>
                <a:cs typeface="Arial"/>
              </a:rPr>
              <a:t>become</a:t>
            </a:r>
            <a:r>
              <a:rPr sz="1000" dirty="0">
                <a:latin typeface="Arial"/>
                <a:cs typeface="Arial"/>
              </a:rPr>
              <a:t> </a:t>
            </a:r>
            <a:r>
              <a:rPr sz="1000" spc="-5" dirty="0">
                <a:latin typeface="Arial"/>
                <a:cs typeface="Arial"/>
              </a:rPr>
              <a:t>permanently</a:t>
            </a:r>
            <a:r>
              <a:rPr sz="1000" dirty="0">
                <a:latin typeface="Arial"/>
                <a:cs typeface="Arial"/>
              </a:rPr>
              <a:t> </a:t>
            </a:r>
            <a:r>
              <a:rPr sz="1000" spc="-5" dirty="0">
                <a:solidFill>
                  <a:srgbClr val="0000FA"/>
                </a:solidFill>
                <a:latin typeface="Arial"/>
                <a:cs typeface="Arial"/>
              </a:rPr>
              <a:t>disconnected</a:t>
            </a:r>
            <a:r>
              <a:rPr sz="1000" spc="-5" dirty="0">
                <a:latin typeface="Arial"/>
                <a:cs typeface="Arial"/>
              </a:rPr>
              <a:t>:</a:t>
            </a:r>
            <a:r>
              <a:rPr sz="1000" spc="70" dirty="0">
                <a:latin typeface="Arial"/>
                <a:cs typeface="Arial"/>
              </a:rPr>
              <a:t> </a:t>
            </a:r>
            <a:r>
              <a:rPr sz="1000" spc="-10" dirty="0">
                <a:latin typeface="Arial"/>
                <a:cs typeface="Arial"/>
              </a:rPr>
              <a:t>they</a:t>
            </a:r>
            <a:r>
              <a:rPr sz="1000" spc="-5" dirty="0">
                <a:latin typeface="Arial"/>
                <a:cs typeface="Arial"/>
              </a:rPr>
              <a:t> are</a:t>
            </a:r>
            <a:r>
              <a:rPr sz="1000" dirty="0">
                <a:latin typeface="Arial"/>
                <a:cs typeface="Arial"/>
              </a:rPr>
              <a:t> </a:t>
            </a:r>
            <a:r>
              <a:rPr sz="1000" spc="-10" dirty="0">
                <a:latin typeface="Arial"/>
                <a:cs typeface="Arial"/>
              </a:rPr>
              <a:t>active </a:t>
            </a:r>
            <a:r>
              <a:rPr sz="1000" spc="-5" dirty="0">
                <a:latin typeface="Arial"/>
                <a:cs typeface="Arial"/>
              </a:rPr>
              <a:t> during</a:t>
            </a:r>
            <a:r>
              <a:rPr sz="1000" spc="-10" dirty="0">
                <a:latin typeface="Arial"/>
                <a:cs typeface="Arial"/>
              </a:rPr>
              <a:t> </a:t>
            </a:r>
            <a:r>
              <a:rPr sz="1000" spc="-5" dirty="0">
                <a:latin typeface="Arial"/>
                <a:cs typeface="Arial"/>
              </a:rPr>
              <a:t>different, nonoverlapping time slots.</a:t>
            </a:r>
            <a:endParaRPr sz="1000">
              <a:latin typeface="Arial"/>
              <a:cs typeface="Arial"/>
            </a:endParaRPr>
          </a:p>
          <a:p>
            <a:pPr marL="38100">
              <a:lnSpc>
                <a:spcPct val="100000"/>
              </a:lnSpc>
              <a:spcBef>
                <a:spcPts val="645"/>
              </a:spcBef>
            </a:pPr>
            <a:r>
              <a:rPr sz="1200" spc="-5" dirty="0">
                <a:solidFill>
                  <a:srgbClr val="3333B2"/>
                </a:solidFill>
                <a:latin typeface="Arial"/>
                <a:cs typeface="Arial"/>
              </a:rPr>
              <a:t>Solution</a:t>
            </a:r>
            <a:endParaRPr sz="1200">
              <a:latin typeface="Arial"/>
              <a:cs typeface="Arial"/>
            </a:endParaRPr>
          </a:p>
          <a:p>
            <a:pPr marL="314960" indent="-168275">
              <a:lnSpc>
                <a:spcPts val="1200"/>
              </a:lnSpc>
              <a:spcBef>
                <a:spcPts val="540"/>
              </a:spcBef>
              <a:buClr>
                <a:srgbClr val="3333B2"/>
              </a:buClr>
              <a:buChar char="►"/>
              <a:tabLst>
                <a:tab pos="315595" algn="l"/>
              </a:tabLst>
            </a:pPr>
            <a:r>
              <a:rPr sz="1000" spc="-5" dirty="0">
                <a:latin typeface="Arial"/>
                <a:cs typeface="Arial"/>
              </a:rPr>
              <a:t>Each node</a:t>
            </a:r>
            <a:r>
              <a:rPr sz="1000" dirty="0">
                <a:latin typeface="Arial"/>
                <a:cs typeface="Arial"/>
              </a:rPr>
              <a:t> </a:t>
            </a:r>
            <a:r>
              <a:rPr sz="1000" i="1" spc="-5" dirty="0">
                <a:latin typeface="Arial"/>
                <a:cs typeface="Arial"/>
              </a:rPr>
              <a:t>A </a:t>
            </a:r>
            <a:r>
              <a:rPr sz="1000" spc="-5" dirty="0">
                <a:latin typeface="Arial"/>
                <a:cs typeface="Arial"/>
              </a:rPr>
              <a:t>adopts</a:t>
            </a:r>
            <a:r>
              <a:rPr sz="1000" dirty="0">
                <a:latin typeface="Arial"/>
                <a:cs typeface="Arial"/>
              </a:rPr>
              <a:t> </a:t>
            </a:r>
            <a:r>
              <a:rPr sz="1000" spc="-5" dirty="0">
                <a:latin typeface="Arial"/>
                <a:cs typeface="Arial"/>
              </a:rPr>
              <a:t>a </a:t>
            </a:r>
            <a:r>
              <a:rPr sz="1000" spc="-5" dirty="0">
                <a:solidFill>
                  <a:srgbClr val="0000FA"/>
                </a:solidFill>
                <a:latin typeface="Arial"/>
                <a:cs typeface="Arial"/>
              </a:rPr>
              <a:t>cluster</a:t>
            </a:r>
            <a:r>
              <a:rPr sz="1000" dirty="0">
                <a:solidFill>
                  <a:srgbClr val="0000FA"/>
                </a:solidFill>
                <a:latin typeface="Arial"/>
                <a:cs typeface="Arial"/>
              </a:rPr>
              <a:t> </a:t>
            </a:r>
            <a:r>
              <a:rPr sz="1000" spc="-5" dirty="0">
                <a:solidFill>
                  <a:srgbClr val="0000FA"/>
                </a:solidFill>
                <a:latin typeface="Arial"/>
                <a:cs typeface="Arial"/>
              </a:rPr>
              <a:t>ID </a:t>
            </a:r>
            <a:r>
              <a:rPr sz="1000" i="1" spc="20" dirty="0">
                <a:latin typeface="Arial"/>
                <a:cs typeface="Arial"/>
              </a:rPr>
              <a:t>C</a:t>
            </a:r>
            <a:r>
              <a:rPr sz="1050" i="1" spc="30" baseline="-15873" dirty="0">
                <a:latin typeface="Arial"/>
                <a:cs typeface="Arial"/>
              </a:rPr>
              <a:t>A</a:t>
            </a:r>
            <a:r>
              <a:rPr sz="1000" spc="20" dirty="0">
                <a:latin typeface="Arial"/>
                <a:cs typeface="Arial"/>
              </a:rPr>
              <a:t>,</a:t>
            </a:r>
            <a:r>
              <a:rPr sz="1000" dirty="0">
                <a:latin typeface="Arial"/>
                <a:cs typeface="Arial"/>
              </a:rPr>
              <a:t> </a:t>
            </a:r>
            <a:r>
              <a:rPr sz="1000" spc="-5" dirty="0">
                <a:latin typeface="Arial"/>
                <a:cs typeface="Arial"/>
              </a:rPr>
              <a:t>being a</a:t>
            </a:r>
            <a:r>
              <a:rPr sz="1000" dirty="0">
                <a:latin typeface="Arial"/>
                <a:cs typeface="Arial"/>
              </a:rPr>
              <a:t> </a:t>
            </a:r>
            <a:r>
              <a:rPr sz="1000" spc="-15" dirty="0">
                <a:latin typeface="Arial"/>
                <a:cs typeface="Arial"/>
              </a:rPr>
              <a:t>number.</a:t>
            </a:r>
            <a:endParaRPr sz="1000">
              <a:latin typeface="Arial"/>
              <a:cs typeface="Arial"/>
            </a:endParaRPr>
          </a:p>
          <a:p>
            <a:pPr marL="314960" indent="-168275">
              <a:lnSpc>
                <a:spcPts val="1195"/>
              </a:lnSpc>
              <a:buClr>
                <a:srgbClr val="3333B2"/>
              </a:buClr>
              <a:buChar char="►"/>
              <a:tabLst>
                <a:tab pos="315595" algn="l"/>
              </a:tabLst>
            </a:pPr>
            <a:r>
              <a:rPr sz="1000" spc="-5" dirty="0">
                <a:latin typeface="Arial"/>
                <a:cs typeface="Arial"/>
              </a:rPr>
              <a:t>Let</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send</a:t>
            </a:r>
            <a:r>
              <a:rPr sz="1000" dirty="0">
                <a:latin typeface="Arial"/>
                <a:cs typeface="Arial"/>
              </a:rPr>
              <a:t> </a:t>
            </a:r>
            <a:r>
              <a:rPr sz="1000" spc="-5" dirty="0">
                <a:latin typeface="Arial"/>
                <a:cs typeface="Arial"/>
              </a:rPr>
              <a:t>a</a:t>
            </a:r>
            <a:r>
              <a:rPr sz="1000" spc="5" dirty="0">
                <a:latin typeface="Arial"/>
                <a:cs typeface="Arial"/>
              </a:rPr>
              <a:t> </a:t>
            </a:r>
            <a:r>
              <a:rPr sz="1000" spc="-5" dirty="0">
                <a:solidFill>
                  <a:srgbClr val="0000FA"/>
                </a:solidFill>
                <a:latin typeface="Arial"/>
                <a:cs typeface="Arial"/>
              </a:rPr>
              <a:t>join</a:t>
            </a:r>
            <a:r>
              <a:rPr sz="1000" dirty="0">
                <a:solidFill>
                  <a:srgbClr val="0000FA"/>
                </a:solidFill>
                <a:latin typeface="Arial"/>
                <a:cs typeface="Arial"/>
              </a:rPr>
              <a:t> </a:t>
            </a:r>
            <a:r>
              <a:rPr sz="1000" spc="-5" dirty="0">
                <a:solidFill>
                  <a:srgbClr val="0000FA"/>
                </a:solidFill>
                <a:latin typeface="Arial"/>
                <a:cs typeface="Arial"/>
              </a:rPr>
              <a:t>message</a:t>
            </a:r>
            <a:r>
              <a:rPr sz="1000" dirty="0">
                <a:solidFill>
                  <a:srgbClr val="0000FA"/>
                </a:solidFill>
                <a:latin typeface="Arial"/>
                <a:cs typeface="Arial"/>
              </a:rPr>
              <a:t> </a:t>
            </a:r>
            <a:r>
              <a:rPr sz="1000" spc="-5" dirty="0">
                <a:latin typeface="Arial"/>
                <a:cs typeface="Arial"/>
              </a:rPr>
              <a:t>during</a:t>
            </a:r>
            <a:r>
              <a:rPr sz="1000" dirty="0">
                <a:latin typeface="Arial"/>
                <a:cs typeface="Arial"/>
              </a:rPr>
              <a:t> </a:t>
            </a:r>
            <a:r>
              <a:rPr sz="1000" spc="-5" dirty="0">
                <a:latin typeface="Arial"/>
                <a:cs typeface="Arial"/>
              </a:rPr>
              <a:t>its</a:t>
            </a:r>
            <a:r>
              <a:rPr sz="1000" spc="5" dirty="0">
                <a:latin typeface="Arial"/>
                <a:cs typeface="Arial"/>
              </a:rPr>
              <a:t> </a:t>
            </a:r>
            <a:r>
              <a:rPr sz="1000" spc="-5" dirty="0">
                <a:latin typeface="Arial"/>
                <a:cs typeface="Arial"/>
              </a:rPr>
              <a:t>suspended</a:t>
            </a:r>
            <a:r>
              <a:rPr sz="1000" dirty="0">
                <a:latin typeface="Arial"/>
                <a:cs typeface="Arial"/>
              </a:rPr>
              <a:t> </a:t>
            </a:r>
            <a:r>
              <a:rPr sz="1000" spc="-5" dirty="0">
                <a:latin typeface="Arial"/>
                <a:cs typeface="Arial"/>
              </a:rPr>
              <a:t>period.</a:t>
            </a:r>
            <a:endParaRPr sz="1000">
              <a:latin typeface="Arial"/>
              <a:cs typeface="Arial"/>
            </a:endParaRPr>
          </a:p>
          <a:p>
            <a:pPr marL="314960" marR="30480" indent="-168275">
              <a:lnSpc>
                <a:spcPts val="1200"/>
              </a:lnSpc>
              <a:spcBef>
                <a:spcPts val="40"/>
              </a:spcBef>
              <a:buClr>
                <a:srgbClr val="3333B2"/>
              </a:buClr>
              <a:buChar char="►"/>
              <a:tabLst>
                <a:tab pos="315595" algn="l"/>
              </a:tabLst>
            </a:pPr>
            <a:r>
              <a:rPr sz="1000" spc="-10" dirty="0">
                <a:latin typeface="Arial"/>
                <a:cs typeface="Arial"/>
              </a:rPr>
              <a:t>When</a:t>
            </a:r>
            <a:r>
              <a:rPr sz="1000" spc="-5" dirty="0">
                <a:latin typeface="Arial"/>
                <a:cs typeface="Arial"/>
              </a:rPr>
              <a:t> </a:t>
            </a:r>
            <a:r>
              <a:rPr sz="1000" i="1" spc="-5" dirty="0">
                <a:latin typeface="Arial"/>
                <a:cs typeface="Arial"/>
              </a:rPr>
              <a:t>A </a:t>
            </a:r>
            <a:r>
              <a:rPr sz="1000" spc="-10" dirty="0">
                <a:latin typeface="Arial"/>
                <a:cs typeface="Arial"/>
              </a:rPr>
              <a:t>receives</a:t>
            </a:r>
            <a:r>
              <a:rPr sz="1000" spc="-5" dirty="0">
                <a:latin typeface="Arial"/>
                <a:cs typeface="Arial"/>
              </a:rPr>
              <a:t> a join </a:t>
            </a:r>
            <a:r>
              <a:rPr sz="1000" spc="-10" dirty="0">
                <a:latin typeface="Arial"/>
                <a:cs typeface="Arial"/>
              </a:rPr>
              <a:t>message</a:t>
            </a:r>
            <a:r>
              <a:rPr sz="1000" dirty="0">
                <a:latin typeface="Arial"/>
                <a:cs typeface="Arial"/>
              </a:rPr>
              <a:t> </a:t>
            </a:r>
            <a:r>
              <a:rPr sz="1000" spc="-5" dirty="0">
                <a:latin typeface="Arial"/>
                <a:cs typeface="Arial"/>
              </a:rPr>
              <a:t>from </a:t>
            </a:r>
            <a:r>
              <a:rPr sz="1000" i="1" spc="-5" dirty="0">
                <a:latin typeface="Arial"/>
                <a:cs typeface="Arial"/>
              </a:rPr>
              <a:t>B</a:t>
            </a:r>
            <a:r>
              <a:rPr sz="1000" i="1" spc="40" dirty="0">
                <a:latin typeface="Arial"/>
                <a:cs typeface="Arial"/>
              </a:rPr>
              <a:t> </a:t>
            </a:r>
            <a:r>
              <a:rPr sz="1000" spc="-5" dirty="0">
                <a:latin typeface="Arial"/>
                <a:cs typeface="Arial"/>
              </a:rPr>
              <a:t>and </a:t>
            </a:r>
            <a:r>
              <a:rPr sz="1000" i="1" spc="5" dirty="0">
                <a:latin typeface="Arial"/>
                <a:cs typeface="Arial"/>
              </a:rPr>
              <a:t>C</a:t>
            </a:r>
            <a:r>
              <a:rPr sz="1050" i="1" spc="7" baseline="-15873" dirty="0">
                <a:latin typeface="Arial"/>
                <a:cs typeface="Arial"/>
              </a:rPr>
              <a:t>A</a:t>
            </a:r>
            <a:r>
              <a:rPr sz="1050" i="1" spc="112" baseline="-15873" dirty="0">
                <a:latin typeface="Arial"/>
                <a:cs typeface="Arial"/>
              </a:rPr>
              <a:t> </a:t>
            </a:r>
            <a:r>
              <a:rPr sz="1000" i="1" spc="190" dirty="0">
                <a:latin typeface="Arial"/>
                <a:cs typeface="Arial"/>
              </a:rPr>
              <a:t>&lt;</a:t>
            </a:r>
            <a:r>
              <a:rPr sz="1000" i="1" spc="-60" dirty="0">
                <a:latin typeface="Arial"/>
                <a:cs typeface="Arial"/>
              </a:rPr>
              <a:t> </a:t>
            </a:r>
            <a:r>
              <a:rPr sz="1000" i="1" spc="5" dirty="0">
                <a:latin typeface="Arial"/>
                <a:cs typeface="Arial"/>
              </a:rPr>
              <a:t>C</a:t>
            </a:r>
            <a:r>
              <a:rPr sz="1050" i="1" spc="7" baseline="-15873" dirty="0">
                <a:latin typeface="Arial"/>
                <a:cs typeface="Arial"/>
              </a:rPr>
              <a:t>B</a:t>
            </a:r>
            <a:r>
              <a:rPr sz="1050" i="1" spc="-172" baseline="-15873"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it sends a </a:t>
            </a:r>
            <a:r>
              <a:rPr sz="1000" spc="-265" dirty="0">
                <a:latin typeface="Arial"/>
                <a:cs typeface="Arial"/>
              </a:rPr>
              <a:t> </a:t>
            </a:r>
            <a:r>
              <a:rPr sz="1000" spc="-5" dirty="0">
                <a:latin typeface="Arial"/>
                <a:cs typeface="Arial"/>
              </a:rPr>
              <a:t>join message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its</a:t>
            </a:r>
            <a:r>
              <a:rPr sz="1000" dirty="0">
                <a:latin typeface="Arial"/>
                <a:cs typeface="Arial"/>
              </a:rPr>
              <a:t> </a:t>
            </a:r>
            <a:r>
              <a:rPr sz="1000" spc="-5" dirty="0">
                <a:latin typeface="Arial"/>
                <a:cs typeface="Arial"/>
              </a:rPr>
              <a:t>neighbors</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cluster </a:t>
            </a:r>
            <a:r>
              <a:rPr sz="1000" i="1" spc="20" dirty="0">
                <a:latin typeface="Arial"/>
                <a:cs typeface="Arial"/>
              </a:rPr>
              <a:t>C</a:t>
            </a:r>
            <a:r>
              <a:rPr sz="1050" i="1" spc="30" baseline="-15873" dirty="0">
                <a:latin typeface="Arial"/>
                <a:cs typeface="Arial"/>
              </a:rPr>
              <a:t>A</a:t>
            </a:r>
            <a:r>
              <a:rPr sz="1000" spc="20" dirty="0">
                <a:latin typeface="Arial"/>
                <a:cs typeface="Arial"/>
              </a:rPr>
              <a:t>)</a:t>
            </a:r>
            <a:r>
              <a:rPr sz="1000" dirty="0">
                <a:latin typeface="Arial"/>
                <a:cs typeface="Arial"/>
              </a:rPr>
              <a:t> </a:t>
            </a:r>
            <a:r>
              <a:rPr sz="1000" spc="-10" dirty="0">
                <a:latin typeface="Arial"/>
                <a:cs typeface="Arial"/>
              </a:rPr>
              <a:t>before</a:t>
            </a:r>
            <a:r>
              <a:rPr sz="1000" dirty="0">
                <a:latin typeface="Arial"/>
                <a:cs typeface="Arial"/>
              </a:rPr>
              <a:t> </a:t>
            </a:r>
            <a:r>
              <a:rPr sz="1000" spc="-5" dirty="0">
                <a:latin typeface="Arial"/>
                <a:cs typeface="Arial"/>
              </a:rPr>
              <a:t>joining</a:t>
            </a:r>
            <a:r>
              <a:rPr sz="1000" dirty="0">
                <a:latin typeface="Arial"/>
                <a:cs typeface="Arial"/>
              </a:rPr>
              <a:t> </a:t>
            </a:r>
            <a:r>
              <a:rPr sz="1000" i="1" spc="15" dirty="0">
                <a:latin typeface="Arial"/>
                <a:cs typeface="Arial"/>
              </a:rPr>
              <a:t>B</a:t>
            </a:r>
            <a:r>
              <a:rPr sz="1000" spc="15" dirty="0">
                <a:latin typeface="Arial"/>
                <a:cs typeface="Arial"/>
              </a:rPr>
              <a:t>.</a:t>
            </a:r>
            <a:endParaRPr sz="1000">
              <a:latin typeface="Arial"/>
              <a:cs typeface="Arial"/>
            </a:endParaRPr>
          </a:p>
          <a:p>
            <a:pPr marL="314960" indent="-168275">
              <a:lnSpc>
                <a:spcPts val="1150"/>
              </a:lnSpc>
              <a:buClr>
                <a:srgbClr val="3333B2"/>
              </a:buClr>
              <a:buChar char="►"/>
              <a:tabLst>
                <a:tab pos="315595" algn="l"/>
              </a:tabLst>
            </a:pPr>
            <a:r>
              <a:rPr sz="1000" spc="-5" dirty="0">
                <a:latin typeface="Arial"/>
                <a:cs typeface="Arial"/>
              </a:rPr>
              <a:t>When </a:t>
            </a:r>
            <a:r>
              <a:rPr sz="1000" i="1" spc="10" dirty="0">
                <a:latin typeface="Arial"/>
                <a:cs typeface="Arial"/>
              </a:rPr>
              <a:t>C</a:t>
            </a:r>
            <a:r>
              <a:rPr sz="1050" i="1" spc="15" baseline="-15873" dirty="0">
                <a:latin typeface="Arial"/>
                <a:cs typeface="Arial"/>
              </a:rPr>
              <a:t>A</a:t>
            </a:r>
            <a:r>
              <a:rPr sz="1050" i="1" spc="120" baseline="-15873" dirty="0">
                <a:latin typeface="Arial"/>
                <a:cs typeface="Arial"/>
              </a:rPr>
              <a:t> </a:t>
            </a:r>
            <a:r>
              <a:rPr sz="1000" i="1" spc="190" dirty="0">
                <a:latin typeface="Arial"/>
                <a:cs typeface="Arial"/>
              </a:rPr>
              <a:t>&gt;</a:t>
            </a:r>
            <a:r>
              <a:rPr sz="1000" i="1" spc="-60" dirty="0">
                <a:latin typeface="Arial"/>
                <a:cs typeface="Arial"/>
              </a:rPr>
              <a:t> </a:t>
            </a:r>
            <a:r>
              <a:rPr sz="1000" i="1" spc="10" dirty="0">
                <a:latin typeface="Arial"/>
                <a:cs typeface="Arial"/>
              </a:rPr>
              <a:t>C</a:t>
            </a:r>
            <a:r>
              <a:rPr sz="1050" i="1" spc="15" baseline="-15873" dirty="0">
                <a:latin typeface="Arial"/>
                <a:cs typeface="Arial"/>
              </a:rPr>
              <a:t>B</a:t>
            </a:r>
            <a:r>
              <a:rPr sz="1050" i="1" spc="254" baseline="-15873"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sends</a:t>
            </a:r>
            <a:r>
              <a:rPr sz="1000" dirty="0">
                <a:latin typeface="Arial"/>
                <a:cs typeface="Arial"/>
              </a:rPr>
              <a:t> </a:t>
            </a:r>
            <a:r>
              <a:rPr sz="1000" spc="-5" dirty="0">
                <a:latin typeface="Arial"/>
                <a:cs typeface="Arial"/>
              </a:rPr>
              <a:t>a join</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to </a:t>
            </a:r>
            <a:r>
              <a:rPr sz="1000" i="1" spc="-5" dirty="0">
                <a:latin typeface="Arial"/>
                <a:cs typeface="Arial"/>
              </a:rPr>
              <a:t>B</a:t>
            </a:r>
            <a:r>
              <a:rPr sz="1000" i="1" spc="45" dirty="0">
                <a:latin typeface="Arial"/>
                <a:cs typeface="Arial"/>
              </a:rPr>
              <a:t> </a:t>
            </a:r>
            <a:r>
              <a:rPr sz="1000" spc="-5" dirty="0">
                <a:latin typeface="Arial"/>
                <a:cs typeface="Arial"/>
              </a:rPr>
              <a:t>during</a:t>
            </a:r>
            <a:r>
              <a:rPr sz="1000" dirty="0">
                <a:latin typeface="Arial"/>
                <a:cs typeface="Arial"/>
              </a:rPr>
              <a:t> </a:t>
            </a:r>
            <a:r>
              <a:rPr sz="1000" i="1" spc="-10" dirty="0">
                <a:latin typeface="Arial"/>
                <a:cs typeface="Arial"/>
              </a:rPr>
              <a:t>B</a:t>
            </a:r>
            <a:r>
              <a:rPr sz="1000" spc="-10" dirty="0">
                <a:latin typeface="Arial"/>
                <a:cs typeface="Arial"/>
              </a:rPr>
              <a:t>’s</a:t>
            </a:r>
            <a:r>
              <a:rPr sz="1000" spc="-5" dirty="0">
                <a:latin typeface="Arial"/>
                <a:cs typeface="Arial"/>
              </a:rPr>
              <a:t> </a:t>
            </a:r>
            <a:r>
              <a:rPr sz="1000" spc="-10" dirty="0">
                <a:latin typeface="Arial"/>
                <a:cs typeface="Arial"/>
              </a:rPr>
              <a:t>active</a:t>
            </a:r>
            <a:endParaRPr sz="1000">
              <a:latin typeface="Arial"/>
              <a:cs typeface="Arial"/>
            </a:endParaRPr>
          </a:p>
          <a:p>
            <a:pPr marL="314960">
              <a:lnSpc>
                <a:spcPts val="1200"/>
              </a:lnSpc>
            </a:pPr>
            <a:r>
              <a:rPr sz="1000" spc="-5" dirty="0">
                <a:latin typeface="Arial"/>
                <a:cs typeface="Arial"/>
              </a:rPr>
              <a:t>period.</a:t>
            </a:r>
            <a:endParaRPr sz="1000">
              <a:latin typeface="Arial"/>
              <a:cs typeface="Arial"/>
            </a:endParaRPr>
          </a:p>
          <a:p>
            <a:pPr>
              <a:lnSpc>
                <a:spcPct val="100000"/>
              </a:lnSpc>
            </a:pPr>
            <a:endParaRPr sz="1300">
              <a:latin typeface="Arial"/>
              <a:cs typeface="Arial"/>
            </a:endParaRPr>
          </a:p>
          <a:p>
            <a:pPr marL="38100">
              <a:lnSpc>
                <a:spcPts val="1410"/>
              </a:lnSpc>
            </a:pPr>
            <a:r>
              <a:rPr sz="1200" spc="-5" dirty="0">
                <a:solidFill>
                  <a:srgbClr val="FA0000"/>
                </a:solidFill>
                <a:latin typeface="Arial"/>
                <a:cs typeface="Arial"/>
              </a:rPr>
              <a:t>Note</a:t>
            </a:r>
            <a:endParaRPr sz="1200">
              <a:latin typeface="Arial"/>
              <a:cs typeface="Arial"/>
            </a:endParaRPr>
          </a:p>
          <a:p>
            <a:pPr marL="34925" marR="30480" indent="2540">
              <a:lnSpc>
                <a:spcPts val="1200"/>
              </a:lnSpc>
              <a:spcBef>
                <a:spcPts val="15"/>
              </a:spcBef>
            </a:pPr>
            <a:r>
              <a:rPr sz="1000" spc="-5" dirty="0">
                <a:latin typeface="Arial"/>
                <a:cs typeface="Arial"/>
              </a:rPr>
              <a:t>Once a join message reaches a whole </a:t>
            </a:r>
            <a:r>
              <a:rPr sz="1000" spc="-10" dirty="0">
                <a:latin typeface="Arial"/>
                <a:cs typeface="Arial"/>
              </a:rPr>
              <a:t>cluster, </a:t>
            </a:r>
            <a:r>
              <a:rPr sz="1000" spc="-5" dirty="0">
                <a:latin typeface="Arial"/>
                <a:cs typeface="Arial"/>
              </a:rPr>
              <a:t>merging </a:t>
            </a:r>
            <a:r>
              <a:rPr sz="1000" spc="-10" dirty="0">
                <a:latin typeface="Arial"/>
                <a:cs typeface="Arial"/>
              </a:rPr>
              <a:t>two </a:t>
            </a:r>
            <a:r>
              <a:rPr sz="1000" spc="-5" dirty="0">
                <a:latin typeface="Arial"/>
                <a:cs typeface="Arial"/>
              </a:rPr>
              <a:t>clusters is </a:t>
            </a:r>
            <a:r>
              <a:rPr sz="1000" spc="-265" dirty="0">
                <a:latin typeface="Arial"/>
                <a:cs typeface="Arial"/>
              </a:rPr>
              <a:t> </a:t>
            </a:r>
            <a:r>
              <a:rPr sz="1000" spc="-5" dirty="0">
                <a:latin typeface="Arial"/>
                <a:cs typeface="Arial"/>
              </a:rPr>
              <a:t>very </a:t>
            </a:r>
            <a:r>
              <a:rPr sz="1000" spc="-10" dirty="0">
                <a:latin typeface="Arial"/>
                <a:cs typeface="Arial"/>
              </a:rPr>
              <a:t>fast.</a:t>
            </a:r>
            <a:r>
              <a:rPr sz="1000" spc="60" dirty="0">
                <a:latin typeface="Arial"/>
                <a:cs typeface="Arial"/>
              </a:rPr>
              <a:t> </a:t>
            </a:r>
            <a:r>
              <a:rPr sz="1000" spc="-5" dirty="0">
                <a:latin typeface="Arial"/>
                <a:cs typeface="Arial"/>
              </a:rPr>
              <a:t>Merging means:</a:t>
            </a:r>
            <a:r>
              <a:rPr sz="1000" spc="60" dirty="0">
                <a:latin typeface="Arial"/>
                <a:cs typeface="Arial"/>
              </a:rPr>
              <a:t> </a:t>
            </a:r>
            <a:r>
              <a:rPr sz="1000" spc="-5" dirty="0">
                <a:latin typeface="Arial"/>
                <a:cs typeface="Arial"/>
              </a:rPr>
              <a:t>re-adjust </a:t>
            </a:r>
            <a:r>
              <a:rPr sz="1000" spc="-10" dirty="0">
                <a:latin typeface="Arial"/>
                <a:cs typeface="Arial"/>
              </a:rPr>
              <a:t>clocks.</a:t>
            </a:r>
            <a:endParaRPr sz="10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TotalTime>
  <Words>30555</Words>
  <Application>Microsoft Office PowerPoint</Application>
  <PresentationFormat>Custom</PresentationFormat>
  <Paragraphs>2018</Paragraphs>
  <Slides>80</Slides>
  <Notes>68</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80</vt:i4>
      </vt:variant>
    </vt:vector>
  </HeadingPairs>
  <TitlesOfParts>
    <vt:vector size="90" baseType="lpstr">
      <vt:lpstr>メイリオ</vt:lpstr>
      <vt:lpstr>Arial</vt:lpstr>
      <vt:lpstr>Calibri</vt:lpstr>
      <vt:lpstr>Inter</vt:lpstr>
      <vt:lpstr>KaTeX_Main</vt:lpstr>
      <vt:lpstr>KaTeX_Math</vt:lpstr>
      <vt:lpstr>KaTeX_Size1</vt:lpstr>
      <vt:lpstr>KaTeX_Size2</vt:lpstr>
      <vt:lpstr>Times New Roman</vt:lpstr>
      <vt:lpstr>Office Theme</vt:lpstr>
      <vt:lpstr>PowerPoint Presentation</vt:lpstr>
      <vt:lpstr>PowerPoint Presentation</vt:lpstr>
      <vt:lpstr>PowerPoint Presentation</vt:lpstr>
      <vt:lpstr>Distributed System</vt:lpstr>
      <vt:lpstr>Collection of autonomous nodes</vt:lpstr>
      <vt:lpstr>PowerPoint Presentation</vt:lpstr>
      <vt:lpstr>Coherent system</vt:lpstr>
      <vt:lpstr>Middleware: the OS of distributed systems</vt:lpstr>
      <vt:lpstr>What do we want to achieve?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Formal analysis</vt:lpstr>
      <vt:lpstr>PowerPoint Presentation</vt:lpstr>
      <vt:lpstr>PowerPoint Presentation</vt:lpstr>
      <vt:lpstr>PowerPoint Presentation</vt:lpstr>
      <vt:lpstr>Problems with administrative scalability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Three types of distributed systems</vt:lpstr>
      <vt:lpstr>PowerPoint Presentation</vt:lpstr>
      <vt:lpstr>Distributed shared memory systems</vt:lpstr>
      <vt:lpstr>Cluster computing</vt:lpstr>
      <vt:lpstr>PowerPoint Presentation</vt:lpstr>
      <vt:lpstr>Architecture for grid computing</vt:lpstr>
      <vt:lpstr>PowerPoint Presentation</vt:lpstr>
      <vt:lpstr>PowerPoint Presentation</vt:lpstr>
      <vt:lpstr>Is cloud computing cost-effective?</vt:lpstr>
      <vt:lpstr>PowerPoint Presentation</vt:lpstr>
      <vt:lpstr>PowerPoint Presentation</vt:lpstr>
      <vt:lpstr>PowerPoint Presentation</vt:lpstr>
      <vt:lpstr>Rate of transactions after migration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Mobility patterns</vt:lpstr>
      <vt:lpstr>PowerPoint Presentation</vt:lpstr>
      <vt:lpstr>PowerPoint Presentation</vt:lpstr>
      <vt:lpstr>PowerPoint Presentation</vt:lpstr>
      <vt:lpstr>PowerPoint Presentation</vt:lpstr>
      <vt:lpstr>PowerPoint Presentation</vt:lpstr>
      <vt:lpstr>Keeping duty-cycled networks in sync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37</cp:revision>
  <dcterms:created xsi:type="dcterms:W3CDTF">2022-03-20T07:17:45Z</dcterms:created>
  <dcterms:modified xsi:type="dcterms:W3CDTF">2025-07-04T18:45:23Z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