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24818" autoAdjust="0"/>
  </p:normalViewPr>
  <p:slideViewPr>
    <p:cSldViewPr>
      <p:cViewPr varScale="1">
        <p:scale>
          <a:sx n="52" d="100"/>
          <a:sy n="52" d="100"/>
        </p:scale>
        <p:origin x="4188" y="60"/>
      </p:cViewPr>
      <p:guideLst>
        <p:guide orient="horz" pos="2880"/>
        <p:guide pos="2160"/>
      </p:guideLst>
    </p:cSldViewPr>
  </p:slideViewPr>
  <p:notesTextViewPr>
    <p:cViewPr>
      <p:scale>
        <a:sx n="100" d="100"/>
        <a:sy n="100" d="100"/>
      </p:scale>
      <p:origin x="0" y="-46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B8B6A283-51E3-480E-8B2D-DAD0DDD7F811}" type="datetimeFigureOut">
              <a:rPr lang="en-US" smtClean="0"/>
              <a:t>11/11/2025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E08CC395-58C4-4FFE-8721-532C035AB119}" type="slidenum">
              <a:rPr lang="en-US" smtClean="0"/>
              <a:t>‹#›</a:t>
            </a:fld>
            <a:endParaRPr lang="en-US"/>
          </a:p>
        </p:txBody>
      </p:sp>
    </p:spTree>
    <p:extLst>
      <p:ext uri="{BB962C8B-B14F-4D97-AF65-F5344CB8AC3E}">
        <p14:creationId xmlns:p14="http://schemas.microsoft.com/office/powerpoint/2010/main" val="3343685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Bối cảnh</a:t>
            </a:r>
          </a:p>
          <a:p>
            <a:r>
              <a:rPr lang="vi-VN" dirty="0"/>
              <a:t>Trong hệ thống phân tán, dữ liệu thường được </a:t>
            </a:r>
            <a:r>
              <a:rPr lang="vi-VN" b="1" dirty="0"/>
              <a:t>nhân bản (replication)</a:t>
            </a:r>
            <a:r>
              <a:rPr lang="vi-VN" dirty="0"/>
              <a:t> tại nhiều máy chủ/nút khác nhau để:</a:t>
            </a:r>
          </a:p>
          <a:p>
            <a:pPr>
              <a:buFont typeface="Arial" panose="020B0604020202020204" pitchFamily="34" charset="0"/>
              <a:buChar char="•"/>
            </a:pPr>
            <a:r>
              <a:rPr lang="vi-VN" dirty="0"/>
              <a:t>tăng </a:t>
            </a:r>
            <a:r>
              <a:rPr lang="vi-VN" b="1" dirty="0"/>
              <a:t>độ sẵn sàng (availability)</a:t>
            </a:r>
            <a:r>
              <a:rPr lang="vi-VN" dirty="0"/>
              <a:t>,</a:t>
            </a:r>
          </a:p>
          <a:p>
            <a:pPr>
              <a:buFont typeface="Arial" panose="020B0604020202020204" pitchFamily="34" charset="0"/>
              <a:buChar char="•"/>
            </a:pPr>
            <a:r>
              <a:rPr lang="vi-VN" dirty="0"/>
              <a:t>cải thiện </a:t>
            </a:r>
            <a:r>
              <a:rPr lang="vi-VN" b="1" dirty="0"/>
              <a:t>hiệu năng đọc</a:t>
            </a:r>
            <a:r>
              <a:rPr lang="vi-VN" dirty="0"/>
              <a:t> (vì có thể đọc từ bản sao gần nhất),</a:t>
            </a:r>
          </a:p>
          <a:p>
            <a:pPr>
              <a:buFont typeface="Arial" panose="020B0604020202020204" pitchFamily="34" charset="0"/>
              <a:buChar char="•"/>
            </a:pPr>
            <a:r>
              <a:rPr lang="vi-VN" dirty="0"/>
              <a:t>tăng </a:t>
            </a:r>
            <a:r>
              <a:rPr lang="vi-VN" b="1" dirty="0"/>
              <a:t>khả năng chịu lỗi</a:t>
            </a:r>
            <a:r>
              <a:rPr lang="vi-VN" dirty="0"/>
              <a:t>.</a:t>
            </a:r>
          </a:p>
          <a:p>
            <a:r>
              <a:rPr lang="vi-VN" dirty="0"/>
              <a:t>Tuy nhiên, khi có nhiều bản sao (replicas), vấn đề lớn xuất hiện: </a:t>
            </a:r>
            <a:r>
              <a:rPr lang="vi-VN" b="1" dirty="0"/>
              <a:t>làm sao đảm bảo tất cả bản sao đều nhất quán (consistency)?</a:t>
            </a:r>
            <a:endParaRPr lang="vi-VN" dirty="0"/>
          </a:p>
          <a:p>
            <a:endParaRPr lang="en-US" b="1" dirty="0"/>
          </a:p>
          <a:p>
            <a:r>
              <a:rPr lang="vi-VN" b="1" dirty="0"/>
              <a:t>Main issue (Vấn đề chính)</a:t>
            </a:r>
          </a:p>
          <a:p>
            <a:r>
              <a:rPr lang="vi-VN" i="1" dirty="0"/>
              <a:t>"To keep replicas consistent, we generally need to ensure that all conflicting operations are done in the same order everywhere."</a:t>
            </a:r>
            <a:endParaRPr lang="vi-VN" dirty="0"/>
          </a:p>
          <a:p>
            <a:r>
              <a:rPr lang="vi-VN" dirty="0"/>
              <a:t>=&gt; Để giữ cho các bản sao </a:t>
            </a:r>
            <a:r>
              <a:rPr lang="vi-VN" b="1" dirty="0"/>
              <a:t>nhất quán</a:t>
            </a:r>
            <a:r>
              <a:rPr lang="vi-VN" dirty="0"/>
              <a:t>, hệ thống phải đảm bảo rằng các </a:t>
            </a:r>
            <a:r>
              <a:rPr lang="vi-VN" b="1" dirty="0"/>
              <a:t>hoạt động gây xung đột</a:t>
            </a:r>
            <a:r>
              <a:rPr lang="vi-VN" dirty="0"/>
              <a:t> được thực hiện theo </a:t>
            </a:r>
            <a:r>
              <a:rPr lang="vi-VN" b="1" dirty="0"/>
              <a:t>cùng một thứ tự</a:t>
            </a:r>
            <a:r>
              <a:rPr lang="vi-VN" dirty="0"/>
              <a:t> trên tất cả các bản sao.</a:t>
            </a:r>
          </a:p>
          <a:p>
            <a:r>
              <a:rPr lang="vi-VN" dirty="0"/>
              <a:t>Trong thế giới giao dịch (transactions), có hai loại xung đột chính:</a:t>
            </a:r>
          </a:p>
          <a:p>
            <a:pPr>
              <a:buFont typeface="+mj-lt"/>
              <a:buAutoNum type="arabicPeriod"/>
            </a:pPr>
            <a:r>
              <a:rPr lang="vi-VN" b="1" dirty="0"/>
              <a:t>Read–write conflict</a:t>
            </a:r>
            <a:br>
              <a:rPr lang="vi-VN" dirty="0"/>
            </a:br>
            <a:r>
              <a:rPr lang="vi-VN" dirty="0"/>
              <a:t>Khi một tiến trình đang đọc giá trị thì tiến trình khác </a:t>
            </a:r>
            <a:r>
              <a:rPr lang="vi-VN" b="1" dirty="0"/>
              <a:t>đồng thời</a:t>
            </a:r>
            <a:r>
              <a:rPr lang="vi-VN" dirty="0"/>
              <a:t> ghi lên giá trị đó.</a:t>
            </a:r>
          </a:p>
          <a:p>
            <a:pPr>
              <a:buFont typeface="+mj-lt"/>
              <a:buAutoNum type="arabicPeriod"/>
            </a:pPr>
            <a:r>
              <a:rPr lang="en-US" dirty="0"/>
              <a:t>N</a:t>
            </a:r>
            <a:r>
              <a:rPr lang="vi-VN" dirty="0"/>
              <a:t>guy cơ: tiến trình đọc có thể thấy dữ liệu cũ → mất tính nhất quán.</a:t>
            </a:r>
          </a:p>
          <a:p>
            <a:pPr>
              <a:buFont typeface="+mj-lt"/>
              <a:buAutoNum type="arabicPeriod"/>
            </a:pPr>
            <a:r>
              <a:rPr lang="vi-VN" b="1" dirty="0"/>
              <a:t>Write–write conflict</a:t>
            </a:r>
            <a:br>
              <a:rPr lang="vi-VN" dirty="0"/>
            </a:br>
            <a:r>
              <a:rPr lang="vi-VN" dirty="0"/>
              <a:t>Hai tiến trình cùng lúc thực hiện </a:t>
            </a:r>
            <a:r>
              <a:rPr lang="vi-VN" b="1" dirty="0"/>
              <a:t>ghi lên cùng một dữ liệu</a:t>
            </a:r>
            <a:r>
              <a:rPr lang="vi-VN" dirty="0"/>
              <a:t>.</a:t>
            </a:r>
          </a:p>
          <a:p>
            <a:pPr>
              <a:buFont typeface="+mj-lt"/>
              <a:buAutoNum type="arabicPeriod"/>
            </a:pPr>
            <a:r>
              <a:rPr lang="vi-VN" dirty="0"/>
              <a:t>Nguy cơ: không biết giá trị cuối cùng là gì (ghi của ai thắng?).</a:t>
            </a:r>
          </a:p>
          <a:p>
            <a:r>
              <a:rPr lang="vi-VN" dirty="0"/>
              <a:t>=&gt; Để nhất quán, hệ thống buộc phải </a:t>
            </a:r>
            <a:r>
              <a:rPr lang="vi-VN" b="1" dirty="0"/>
              <a:t>đồng bộ hóa (synchronization)</a:t>
            </a:r>
            <a:r>
              <a:rPr lang="vi-VN" dirty="0"/>
              <a:t> các bản sao và áp đặt </a:t>
            </a:r>
            <a:r>
              <a:rPr lang="vi-VN" b="1" dirty="0"/>
              <a:t>thứ tự toàn cục (global ordering)</a:t>
            </a:r>
            <a:r>
              <a:rPr lang="vi-VN" dirty="0"/>
              <a:t> lên các thao tác gây xung đột.</a:t>
            </a:r>
          </a:p>
          <a:p>
            <a:endParaRPr lang="en-US" b="1" dirty="0"/>
          </a:p>
          <a:p>
            <a:r>
              <a:rPr lang="vi-VN" b="1" dirty="0"/>
              <a:t>Issue (Vấn đề hiệu năng &amp; khả năng mở rộng)</a:t>
            </a:r>
          </a:p>
          <a:p>
            <a:r>
              <a:rPr lang="vi-VN" i="1" dirty="0"/>
              <a:t>"Guaranteeing global ordering on conflicting operations may be a costly operation, downgrading scalability."</a:t>
            </a:r>
            <a:endParaRPr lang="vi-VN" dirty="0"/>
          </a:p>
          <a:p>
            <a:r>
              <a:rPr lang="vi-VN" dirty="0"/>
              <a:t>Đảm bảo </a:t>
            </a:r>
            <a:r>
              <a:rPr lang="vi-VN" b="1" dirty="0"/>
              <a:t>thứ tự toàn cục</a:t>
            </a:r>
            <a:r>
              <a:rPr lang="vi-VN" dirty="0"/>
              <a:t> trên nhiều bản sao đòi hỏi:</a:t>
            </a:r>
          </a:p>
          <a:p>
            <a:pPr>
              <a:buFont typeface="Arial" panose="020B0604020202020204" pitchFamily="34" charset="0"/>
              <a:buChar char="•"/>
            </a:pPr>
            <a:r>
              <a:rPr lang="vi-VN" dirty="0"/>
              <a:t>Giao tiếp mạng nhiều chiều (broadcast hoặc consensus—ví dụ: Paxos, Raft).</a:t>
            </a:r>
          </a:p>
          <a:p>
            <a:pPr>
              <a:buFont typeface="Arial" panose="020B0604020202020204" pitchFamily="34" charset="0"/>
              <a:buChar char="•"/>
            </a:pPr>
            <a:r>
              <a:rPr lang="vi-VN" dirty="0"/>
              <a:t>Chờ phản hồi từ nhiều node trước khi commit.</a:t>
            </a:r>
          </a:p>
          <a:p>
            <a:r>
              <a:rPr lang="en-US" dirty="0"/>
              <a:t>=&gt; </a:t>
            </a:r>
            <a:r>
              <a:rPr lang="vi-VN" dirty="0"/>
              <a:t>Điều này làm giảm </a:t>
            </a:r>
            <a:r>
              <a:rPr lang="vi-VN" b="1" dirty="0"/>
              <a:t>performance (hiệu năng)</a:t>
            </a:r>
            <a:r>
              <a:rPr lang="vi-VN" dirty="0"/>
              <a:t> và </a:t>
            </a:r>
            <a:r>
              <a:rPr lang="vi-VN" b="1" dirty="0"/>
              <a:t>scalability (khả năng mở rộng)</a:t>
            </a:r>
            <a:r>
              <a:rPr lang="vi-VN" dirty="0"/>
              <a:t>.</a:t>
            </a:r>
          </a:p>
          <a:p>
            <a:r>
              <a:rPr lang="vi-VN" b="1" dirty="0"/>
              <a:t>Càng nhiều node = càng nhiều overhead để duy trì thứ tự.</a:t>
            </a:r>
            <a:br>
              <a:rPr lang="vi-VN" dirty="0"/>
            </a:br>
            <a:r>
              <a:rPr lang="vi-VN" dirty="0"/>
              <a:t>=&gt; Hệ thống trở nên chậm hơn, không mở rộng tốt.</a:t>
            </a:r>
          </a:p>
          <a:p>
            <a:endParaRPr lang="en-US" b="1" dirty="0"/>
          </a:p>
          <a:p>
            <a:r>
              <a:rPr lang="vi-VN" b="1" dirty="0"/>
              <a:t>Solution (Giải pháp)</a:t>
            </a:r>
          </a:p>
          <a:p>
            <a:r>
              <a:rPr lang="vi-VN" i="1" dirty="0"/>
              <a:t>"Solution: weaken consistency requirements so that hopefully global synchronization can be avoided."</a:t>
            </a:r>
            <a:endParaRPr lang="vi-VN" dirty="0"/>
          </a:p>
          <a:p>
            <a:r>
              <a:rPr lang="vi-VN" dirty="0"/>
              <a:t>Thay vì ép buộc </a:t>
            </a:r>
            <a:r>
              <a:rPr lang="vi-VN" b="1" dirty="0"/>
              <a:t>strong consistency</a:t>
            </a:r>
            <a:r>
              <a:rPr lang="vi-VN" dirty="0"/>
              <a:t> (tất cả bản sao giống nhau tại mọi thời điểm), ta có thể sử dụng </a:t>
            </a:r>
            <a:r>
              <a:rPr lang="vi-VN" b="1" dirty="0"/>
              <a:t>weaker consistency models</a:t>
            </a:r>
            <a:r>
              <a:rPr lang="vi-VN" dirty="0"/>
              <a:t>, ví dụ:</a:t>
            </a:r>
          </a:p>
          <a:p>
            <a:r>
              <a:rPr lang="vi-VN" dirty="0"/>
              <a:t>Loại consistency</a:t>
            </a:r>
            <a:r>
              <a:rPr lang="en-US" dirty="0"/>
              <a:t>	</a:t>
            </a:r>
            <a:r>
              <a:rPr lang="vi-VN" dirty="0"/>
              <a:t>Đặc điểm</a:t>
            </a:r>
            <a:endParaRPr lang="en-US" dirty="0"/>
          </a:p>
          <a:p>
            <a:r>
              <a:rPr lang="vi-VN" b="1" dirty="0"/>
              <a:t>Eventual consistency</a:t>
            </a:r>
            <a:r>
              <a:rPr lang="en-US" b="1" dirty="0"/>
              <a:t>	</a:t>
            </a:r>
            <a:r>
              <a:rPr lang="vi-VN" dirty="0"/>
              <a:t>Các bản sao sẽ </a:t>
            </a:r>
            <a:r>
              <a:rPr lang="vi-VN" i="1" dirty="0"/>
              <a:t>eventually</a:t>
            </a:r>
            <a:r>
              <a:rPr lang="vi-VN" dirty="0"/>
              <a:t> giống nhau, không yêu cầu đồng bộ tức thời.</a:t>
            </a:r>
            <a:endParaRPr lang="en-US" dirty="0"/>
          </a:p>
          <a:p>
            <a:r>
              <a:rPr lang="vi-VN" b="1" dirty="0"/>
              <a:t>Causal consistency</a:t>
            </a:r>
            <a:r>
              <a:rPr lang="en-US" b="1" dirty="0"/>
              <a:t>	</a:t>
            </a:r>
            <a:r>
              <a:rPr lang="vi-VN" dirty="0"/>
              <a:t>Chỉ cần duy trì thứ tự với các thao tác có quan hệ nhân quả.</a:t>
            </a:r>
            <a:endParaRPr lang="en-US" dirty="0"/>
          </a:p>
          <a:p>
            <a:r>
              <a:rPr lang="vi-VN" b="1" dirty="0"/>
              <a:t>Session consistency</a:t>
            </a:r>
            <a:r>
              <a:rPr lang="en-US" b="1" dirty="0"/>
              <a:t>	</a:t>
            </a:r>
            <a:r>
              <a:rPr lang="vi-VN" dirty="0"/>
              <a:t>Bảo đảm nhất quán trong phạm vi phiên làm việc của người dùng.</a:t>
            </a:r>
          </a:p>
          <a:p>
            <a:endParaRPr lang="en-US" dirty="0"/>
          </a:p>
          <a:p>
            <a:r>
              <a:rPr lang="vi-VN" dirty="0"/>
              <a:t>Ý tưởng chung:</a:t>
            </a:r>
            <a:br>
              <a:rPr lang="vi-VN" dirty="0"/>
            </a:br>
            <a:r>
              <a:rPr lang="en-US" dirty="0"/>
              <a:t>=&gt; </a:t>
            </a:r>
            <a:r>
              <a:rPr lang="vi-VN" dirty="0"/>
              <a:t>Giảm yêu cầu nhất quán → giảm đồng bộ toàn hệ thống → tăng hiệu năng và khả năng mở rộng.</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2</a:t>
            </a:fld>
            <a:endParaRPr lang="en-US"/>
          </a:p>
        </p:txBody>
      </p:sp>
    </p:spTree>
    <p:extLst>
      <p:ext uri="{BB962C8B-B14F-4D97-AF65-F5344CB8AC3E}">
        <p14:creationId xmlns:p14="http://schemas.microsoft.com/office/powerpoint/2010/main" val="251001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a:t>
            </a:r>
            <a:r>
              <a:rPr lang="vi-VN" b="1" dirty="0"/>
              <a:t>Consistency Model là gì?</a:t>
            </a:r>
          </a:p>
          <a:p>
            <a:r>
              <a:rPr lang="vi-VN" i="1" dirty="0"/>
              <a:t>"A contract between a (distributed) data store and processes, in which the data store specifies precisely what the results of read and write operations are in the presence of concurrency."</a:t>
            </a:r>
            <a:endParaRPr lang="vi-VN" dirty="0"/>
          </a:p>
          <a:p>
            <a:r>
              <a:rPr lang="vi-VN" dirty="0"/>
              <a:t>Nghĩa là:</a:t>
            </a:r>
          </a:p>
          <a:p>
            <a:pPr>
              <a:buFont typeface="Arial" panose="020B0604020202020204" pitchFamily="34" charset="0"/>
              <a:buChar char="•"/>
            </a:pPr>
            <a:r>
              <a:rPr lang="vi-VN" b="1" dirty="0"/>
              <a:t>Consistency model (mô hình nhất quán)</a:t>
            </a:r>
            <a:r>
              <a:rPr lang="vi-VN" dirty="0"/>
              <a:t> là </a:t>
            </a:r>
            <a:r>
              <a:rPr lang="vi-VN" b="1" dirty="0"/>
              <a:t>một hợp đồng</a:t>
            </a:r>
            <a:r>
              <a:rPr lang="vi-VN" dirty="0"/>
              <a:t> giữa hệ thống lưu trữ phân tán và các tiến trình truy cập dữ liệu.</a:t>
            </a:r>
          </a:p>
          <a:p>
            <a:pPr>
              <a:buFont typeface="Arial" panose="020B0604020202020204" pitchFamily="34" charset="0"/>
              <a:buChar char="•"/>
            </a:pPr>
            <a:r>
              <a:rPr lang="vi-VN" dirty="0"/>
              <a:t>Hợp đồng này </a:t>
            </a:r>
            <a:r>
              <a:rPr lang="vi-VN" b="1" dirty="0"/>
              <a:t>quy định rõ ràng</a:t>
            </a:r>
            <a:r>
              <a:rPr lang="vi-VN" dirty="0"/>
              <a:t>: khi có nhiều tiến trình </a:t>
            </a:r>
            <a:r>
              <a:rPr lang="vi-VN" b="1" dirty="0"/>
              <a:t>cùng đọc và ghi dữ liệu song song</a:t>
            </a:r>
            <a:r>
              <a:rPr lang="vi-VN" dirty="0"/>
              <a:t>, thì </a:t>
            </a:r>
            <a:r>
              <a:rPr lang="vi-VN" i="1" dirty="0"/>
              <a:t>kết quả đọc</a:t>
            </a:r>
            <a:r>
              <a:rPr lang="vi-VN" dirty="0"/>
              <a:t> và </a:t>
            </a:r>
            <a:r>
              <a:rPr lang="vi-VN" i="1" dirty="0"/>
              <a:t>trạng thái dữ liệu cuối cùng</a:t>
            </a:r>
            <a:r>
              <a:rPr lang="vi-VN" dirty="0"/>
              <a:t> phải như thế nào.</a:t>
            </a:r>
          </a:p>
          <a:p>
            <a:r>
              <a:rPr lang="en-US" dirty="0"/>
              <a:t>=&gt; </a:t>
            </a:r>
            <a:r>
              <a:rPr lang="vi-VN" dirty="0"/>
              <a:t>Đây là “cam kết” về hành vi của hệ thống:</a:t>
            </a:r>
          </a:p>
          <a:p>
            <a:r>
              <a:rPr lang="vi-VN" i="1" dirty="0"/>
              <a:t>“Nếu tiến trình thực hiện các thao tác như thế, hệ thống đảm bảo dữ liệu sẽ hiển thị như thế này.”</a:t>
            </a:r>
            <a:endParaRPr lang="vi-VN" dirty="0"/>
          </a:p>
          <a:p>
            <a:endParaRPr lang="en-US" b="1" dirty="0"/>
          </a:p>
          <a:p>
            <a:r>
              <a:rPr lang="en-US" b="1" dirty="0"/>
              <a:t>2. </a:t>
            </a:r>
            <a:r>
              <a:rPr lang="vi-VN" b="1" dirty="0"/>
              <a:t>Tại sao cần Consistency Model?</a:t>
            </a:r>
          </a:p>
          <a:p>
            <a:r>
              <a:rPr lang="vi-VN" dirty="0"/>
              <a:t>Trong hệ thống phân tán, dữ liệu không nằm ở một chỗ duy nhất – nó có </a:t>
            </a:r>
            <a:r>
              <a:rPr lang="vi-VN" b="1" dirty="0"/>
              <a:t>nhiều bản sao (replicas)</a:t>
            </a:r>
            <a:r>
              <a:rPr lang="vi-VN" dirty="0"/>
              <a:t> lưu trên nhiều máy khác nhau.</a:t>
            </a:r>
            <a:br>
              <a:rPr lang="vi-VN" dirty="0"/>
            </a:br>
            <a:r>
              <a:rPr lang="vi-VN" dirty="0"/>
              <a:t>Các tiến trình có thể đọc/ghi từ </a:t>
            </a:r>
            <a:r>
              <a:rPr lang="vi-VN" b="1" dirty="0"/>
              <a:t>bản sao gần nhất</a:t>
            </a:r>
            <a:r>
              <a:rPr lang="vi-VN" dirty="0"/>
              <a:t>, gây ra khả năng không nhất quán nếu không có quy định rõ ràng.</a:t>
            </a:r>
          </a:p>
          <a:p>
            <a:r>
              <a:rPr lang="vi-VN" dirty="0"/>
              <a:t>→ Do đó, cần một mô hình nhất quán để:</a:t>
            </a:r>
          </a:p>
          <a:p>
            <a:pPr>
              <a:buFont typeface="Arial" panose="020B0604020202020204" pitchFamily="34" charset="0"/>
              <a:buChar char="•"/>
            </a:pPr>
            <a:r>
              <a:rPr lang="vi-VN" dirty="0"/>
              <a:t>xác định </a:t>
            </a:r>
            <a:r>
              <a:rPr lang="vi-VN" b="1" dirty="0"/>
              <a:t>tiến trình được phép thấy giá trị nào</a:t>
            </a:r>
            <a:r>
              <a:rPr lang="vi-VN" dirty="0"/>
              <a:t> sau mỗi thao tác,</a:t>
            </a:r>
          </a:p>
          <a:p>
            <a:pPr>
              <a:buFont typeface="Arial" panose="020B0604020202020204" pitchFamily="34" charset="0"/>
              <a:buChar char="•"/>
            </a:pPr>
            <a:r>
              <a:rPr lang="vi-VN" dirty="0"/>
              <a:t>mô tả </a:t>
            </a:r>
            <a:r>
              <a:rPr lang="vi-VN" b="1" dirty="0"/>
              <a:t>cách hệ thống xử lý dữ liệu khi có concurrent access</a:t>
            </a:r>
            <a:r>
              <a:rPr lang="vi-VN" dirty="0"/>
              <a:t>.</a:t>
            </a:r>
          </a:p>
          <a:p>
            <a:endParaRPr lang="en-US" b="1" dirty="0"/>
          </a:p>
          <a:p>
            <a:r>
              <a:rPr lang="en-US" b="1" dirty="0"/>
              <a:t>3. </a:t>
            </a:r>
            <a:r>
              <a:rPr lang="vi-VN" b="1" dirty="0"/>
              <a:t>Essential: "A data store is a distributed collection of storages"</a:t>
            </a:r>
          </a:p>
          <a:p>
            <a:r>
              <a:rPr lang="vi-VN" dirty="0"/>
              <a:t>Phần Essential nhấn mạnh:</a:t>
            </a:r>
          </a:p>
          <a:p>
            <a:r>
              <a:rPr lang="vi-VN" i="1" dirty="0"/>
              <a:t>Hệ thống lưu trữ dữ liệu trong distributed system thực chất là một tập hợp các storage ở nhiều máy khác nhau.</a:t>
            </a:r>
            <a:endParaRPr lang="vi-VN" dirty="0"/>
          </a:p>
          <a:p>
            <a:r>
              <a:rPr lang="vi-VN" dirty="0"/>
              <a:t>Ở hình minh hoạ:</a:t>
            </a:r>
          </a:p>
          <a:p>
            <a:pPr>
              <a:buFont typeface="Arial" panose="020B0604020202020204" pitchFamily="34" charset="0"/>
              <a:buChar char="•"/>
            </a:pPr>
            <a:r>
              <a:rPr lang="vi-VN" dirty="0"/>
              <a:t>Một </a:t>
            </a:r>
            <a:r>
              <a:rPr lang="vi-VN" b="1" dirty="0"/>
              <a:t>data store phân tán</a:t>
            </a:r>
            <a:r>
              <a:rPr lang="vi-VN" dirty="0"/>
              <a:t> gồm nhiều </a:t>
            </a:r>
            <a:r>
              <a:rPr lang="vi-VN" b="1" dirty="0"/>
              <a:t>local storage</a:t>
            </a:r>
            <a:r>
              <a:rPr lang="vi-VN" dirty="0"/>
              <a:t>, mỗi storage chứa bản sao của dữ liệu.</a:t>
            </a:r>
          </a:p>
          <a:p>
            <a:pPr>
              <a:buFont typeface="Arial" panose="020B0604020202020204" pitchFamily="34" charset="0"/>
              <a:buChar char="•"/>
            </a:pPr>
            <a:r>
              <a:rPr lang="vi-VN" dirty="0"/>
              <a:t>Mỗi </a:t>
            </a:r>
            <a:r>
              <a:rPr lang="vi-VN" i="1" dirty="0"/>
              <a:t>process</a:t>
            </a:r>
            <a:r>
              <a:rPr lang="vi-VN" dirty="0"/>
              <a:t> truy cập dữ liệu thông qua bản sao cục bộ (</a:t>
            </a:r>
            <a:r>
              <a:rPr lang="vi-VN" b="1" dirty="0"/>
              <a:t>local copy</a:t>
            </a:r>
            <a:r>
              <a:rPr lang="vi-VN" dirty="0"/>
              <a:t>).</a:t>
            </a:r>
          </a:p>
          <a:p>
            <a:r>
              <a:rPr lang="vi-VN" dirty="0"/>
              <a:t>Điều này dẫn tới câu hỏi quan trọng:</a:t>
            </a:r>
          </a:p>
          <a:p>
            <a:r>
              <a:rPr lang="vi-VN" dirty="0"/>
              <a:t>Khi một tiến trình ghi dữ liệu tại một local copy, các bản sao khác phải xử lý thay đổi này như thế nào?</a:t>
            </a:r>
          </a:p>
          <a:p>
            <a:r>
              <a:rPr lang="vi-VN" dirty="0"/>
              <a:t>→ Đây chính là lý do cần các mô hình nhất quán dữ liệu (</a:t>
            </a:r>
            <a:r>
              <a:rPr lang="vi-VN" i="1" dirty="0"/>
              <a:t>strong consistency, sequential consistency, causal consistency, eventual consistency, …</a:t>
            </a:r>
            <a:r>
              <a:rPr lang="vi-VN" dirty="0"/>
              <a:t>).</a:t>
            </a:r>
          </a:p>
          <a:p>
            <a:endParaRPr lang="en-US" b="1" dirty="0"/>
          </a:p>
          <a:p>
            <a:r>
              <a:rPr lang="vi-VN" b="1" dirty="0"/>
              <a:t>Ví dụ minh hoạ (để sinh viên dễ hiểu)</a:t>
            </a:r>
          </a:p>
          <a:p>
            <a:r>
              <a:rPr lang="vi-VN" dirty="0"/>
              <a:t>Giả sử có 3 máy chủ lưu trữ chung một dữ liệu biến X.</a:t>
            </a:r>
          </a:p>
          <a:p>
            <a:r>
              <a:rPr lang="vi-VN" dirty="0"/>
              <a:t>Thời điểm</a:t>
            </a:r>
            <a:r>
              <a:rPr lang="en-US" dirty="0"/>
              <a:t>	</a:t>
            </a:r>
            <a:r>
              <a:rPr lang="vi-VN" dirty="0"/>
              <a:t>Operation</a:t>
            </a:r>
            <a:r>
              <a:rPr lang="en-US" dirty="0"/>
              <a:t>		</a:t>
            </a:r>
            <a:r>
              <a:rPr lang="vi-VN" dirty="0"/>
              <a:t>Trên máy</a:t>
            </a:r>
            <a:endParaRPr lang="en-US" dirty="0"/>
          </a:p>
          <a:p>
            <a:r>
              <a:rPr lang="vi-VN" dirty="0"/>
              <a:t>T1</a:t>
            </a:r>
            <a:r>
              <a:rPr lang="en-US" dirty="0"/>
              <a:t>	</a:t>
            </a:r>
            <a:r>
              <a:rPr lang="vi-VN" dirty="0"/>
              <a:t>Write X = 10</a:t>
            </a:r>
            <a:r>
              <a:rPr lang="en-US" dirty="0"/>
              <a:t>		</a:t>
            </a:r>
            <a:r>
              <a:rPr lang="vi-VN" dirty="0"/>
              <a:t>Node A</a:t>
            </a:r>
            <a:endParaRPr lang="en-US" dirty="0"/>
          </a:p>
          <a:p>
            <a:r>
              <a:rPr lang="vi-VN" dirty="0"/>
              <a:t>T2</a:t>
            </a:r>
            <a:r>
              <a:rPr lang="en-US" dirty="0"/>
              <a:t>	</a:t>
            </a:r>
            <a:r>
              <a:rPr lang="vi-VN" dirty="0"/>
              <a:t>Process khác Read X</a:t>
            </a:r>
            <a:r>
              <a:rPr lang="en-US" dirty="0"/>
              <a:t>	</a:t>
            </a:r>
            <a:r>
              <a:rPr lang="vi-VN" dirty="0"/>
              <a:t>Node B</a:t>
            </a:r>
          </a:p>
          <a:p>
            <a:r>
              <a:rPr lang="vi-VN" dirty="0"/>
              <a:t>→ Nếu không có mô hình nhất quán, Node B có thể đọc giá trị cũ (ví dụ X = 5).</a:t>
            </a:r>
          </a:p>
          <a:p>
            <a:r>
              <a:rPr lang="vi-VN" dirty="0"/>
              <a:t>Consistency model sẽ </a:t>
            </a:r>
            <a:r>
              <a:rPr lang="vi-VN" b="1" dirty="0"/>
              <a:t>quy định</a:t>
            </a:r>
            <a:r>
              <a:rPr lang="vi-VN" dirty="0"/>
              <a:t> xem Node B được phép đọc giá trị nào:</a:t>
            </a:r>
          </a:p>
          <a:p>
            <a:r>
              <a:rPr lang="vi-VN" dirty="0"/>
              <a:t>Consistency model</a:t>
            </a:r>
            <a:r>
              <a:rPr lang="en-US" dirty="0"/>
              <a:t>	</a:t>
            </a:r>
            <a:r>
              <a:rPr lang="vi-VN" dirty="0"/>
              <a:t>Process B sẽ thấy gì?</a:t>
            </a:r>
            <a:endParaRPr lang="en-US" dirty="0"/>
          </a:p>
          <a:p>
            <a:r>
              <a:rPr lang="vi-VN" dirty="0"/>
              <a:t>Strong consistency</a:t>
            </a:r>
            <a:r>
              <a:rPr lang="en-US" dirty="0"/>
              <a:t>	</a:t>
            </a:r>
            <a:r>
              <a:rPr lang="vi-VN" dirty="0"/>
              <a:t>luôn thấy X = 10</a:t>
            </a:r>
            <a:endParaRPr lang="en-US" dirty="0"/>
          </a:p>
          <a:p>
            <a:r>
              <a:rPr lang="vi-VN" dirty="0"/>
              <a:t>Eventual consistency</a:t>
            </a:r>
            <a:r>
              <a:rPr lang="en-US" dirty="0"/>
              <a:t>	</a:t>
            </a:r>
            <a:r>
              <a:rPr lang="vi-VN" dirty="0"/>
              <a:t>có thể thấy X = 5 một lúc, nhưng cuối cùng sẽ thấy X = 10</a:t>
            </a:r>
          </a:p>
          <a:p>
            <a:endParaRPr lang="en-US" b="1" dirty="0"/>
          </a:p>
          <a:p>
            <a:r>
              <a:rPr lang="vi-VN" b="1" dirty="0"/>
              <a:t>Kết luận</a:t>
            </a:r>
          </a:p>
          <a:p>
            <a:pPr>
              <a:buFont typeface="Arial" panose="020B0604020202020204" pitchFamily="34" charset="0"/>
              <a:buChar char="•"/>
            </a:pPr>
            <a:r>
              <a:rPr lang="vi-VN" dirty="0"/>
              <a:t>Slide này giới thiệu ý tưởng nền tảng của </a:t>
            </a:r>
            <a:r>
              <a:rPr lang="vi-VN" b="1" dirty="0"/>
              <a:t>nhất quán dữ liệu trong hệ phân tán</a:t>
            </a:r>
            <a:r>
              <a:rPr lang="vi-VN" dirty="0"/>
              <a:t>.</a:t>
            </a:r>
          </a:p>
          <a:p>
            <a:pPr>
              <a:buFont typeface="Arial" panose="020B0604020202020204" pitchFamily="34" charset="0"/>
              <a:buChar char="•"/>
            </a:pPr>
            <a:r>
              <a:rPr lang="vi-VN" dirty="0"/>
              <a:t>Nhất quán dữ liệu là </a:t>
            </a:r>
            <a:r>
              <a:rPr lang="vi-VN" b="1" dirty="0"/>
              <a:t>hợp đồng</a:t>
            </a:r>
            <a:r>
              <a:rPr lang="vi-VN" dirty="0"/>
              <a:t> giữa hệ thống &amp; tiến trình, xác định kết quả hợp lệ của thao tác đọc/ghi khi có concurrency.</a:t>
            </a:r>
          </a:p>
          <a:p>
            <a:pPr>
              <a:buFont typeface="Arial" panose="020B0604020202020204" pitchFamily="34" charset="0"/>
              <a:buChar char="•"/>
            </a:pPr>
            <a:r>
              <a:rPr lang="vi-VN" dirty="0"/>
              <a:t>Vì dữ liệu được </a:t>
            </a:r>
            <a:r>
              <a:rPr lang="vi-VN" b="1" dirty="0"/>
              <a:t>nhân bản phân tán</a:t>
            </a:r>
            <a:r>
              <a:rPr lang="vi-VN" dirty="0"/>
              <a:t>, nên cần mô hình nhất quán để điều phối hoạt động giữa các bản sao.</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3</a:t>
            </a:fld>
            <a:endParaRPr lang="en-US"/>
          </a:p>
        </p:txBody>
      </p:sp>
    </p:spTree>
    <p:extLst>
      <p:ext uri="{BB962C8B-B14F-4D97-AF65-F5344CB8AC3E}">
        <p14:creationId xmlns:p14="http://schemas.microsoft.com/office/powerpoint/2010/main" val="2618104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Continuous Consistency</a:t>
            </a:r>
          </a:p>
          <a:p>
            <a:r>
              <a:rPr lang="vi-VN" b="1" dirty="0"/>
              <a:t>Ý nghĩa của “Continuous Consistency”</a:t>
            </a:r>
          </a:p>
          <a:p>
            <a:r>
              <a:rPr lang="vi-VN" dirty="0"/>
              <a:t>Trong các mô hình nhất quán truyền thống (strong consistency, sequential, eventual...), hệ thống thường chỉ quan tâm đến việc </a:t>
            </a:r>
            <a:r>
              <a:rPr lang="vi-VN" b="1" dirty="0"/>
              <a:t>replicas có giống nhau hay không</a:t>
            </a:r>
            <a:r>
              <a:rPr lang="vi-VN" dirty="0"/>
              <a:t> – tức là nhất quán theo kiểu </a:t>
            </a:r>
            <a:r>
              <a:rPr lang="vi-VN" i="1" dirty="0"/>
              <a:t>đúng / sai (binary consistency)</a:t>
            </a:r>
            <a:r>
              <a:rPr lang="vi-VN" dirty="0"/>
              <a:t>.</a:t>
            </a:r>
          </a:p>
          <a:p>
            <a:r>
              <a:rPr lang="vi-VN" dirty="0"/>
              <a:t>Tuy nhiên, trong thực tế nhiều ứng dụng không nhất thiết phải yêu cầu các bản sao </a:t>
            </a:r>
            <a:r>
              <a:rPr lang="vi-VN" b="1" dirty="0"/>
              <a:t>giống nhau tuyệt đối</a:t>
            </a:r>
            <a:r>
              <a:rPr lang="vi-VN" dirty="0"/>
              <a:t> tại mọi thời điểm (ví dụ: hệ thống bán hàng thời gian thực, dữ liệu thống kê, IoT, ứng dụng mạng xã hội,…).</a:t>
            </a:r>
          </a:p>
          <a:p>
            <a:r>
              <a:rPr lang="en-US" dirty="0"/>
              <a:t>=&gt;</a:t>
            </a:r>
            <a:r>
              <a:rPr lang="vi-VN" dirty="0"/>
              <a:t> Vì vậy, ta có một hướng tiếp cận khác gọi là:</a:t>
            </a:r>
            <a:r>
              <a:rPr lang="en-US" dirty="0"/>
              <a:t> </a:t>
            </a:r>
            <a:r>
              <a:rPr lang="vi-VN" b="1" dirty="0"/>
              <a:t>Continuous consistency — Nhất quán liên tục</a:t>
            </a:r>
          </a:p>
          <a:p>
            <a:r>
              <a:rPr lang="en-US" dirty="0"/>
              <a:t>=&gt;</a:t>
            </a:r>
            <a:r>
              <a:rPr lang="vi-VN" dirty="0"/>
              <a:t> Chúng ta có thể đo lường </a:t>
            </a:r>
            <a:r>
              <a:rPr lang="vi-VN" b="1" dirty="0"/>
              <a:t>mức độ khác nhau</a:t>
            </a:r>
            <a:r>
              <a:rPr lang="vi-VN" dirty="0"/>
              <a:t> giữa các bản sao, thay vì yêu cầu phải giống hệt nhau.</a:t>
            </a:r>
          </a:p>
          <a:p>
            <a:r>
              <a:rPr lang="vi-VN" dirty="0"/>
              <a:t>Thay vì hỏi:</a:t>
            </a:r>
          </a:p>
          <a:p>
            <a:r>
              <a:rPr lang="vi-VN" dirty="0"/>
              <a:t>“Các replica có giống nhau không?”</a:t>
            </a:r>
          </a:p>
          <a:p>
            <a:r>
              <a:rPr lang="vi-VN" dirty="0"/>
              <a:t>Ta hỏi:</a:t>
            </a:r>
          </a:p>
          <a:p>
            <a:r>
              <a:rPr lang="vi-VN" dirty="0"/>
              <a:t>“Chúng khác nhau </a:t>
            </a:r>
            <a:r>
              <a:rPr lang="vi-VN" b="1" dirty="0"/>
              <a:t>bao nhiêu</a:t>
            </a:r>
            <a:r>
              <a:rPr lang="vi-VN" dirty="0"/>
              <a:t>, và mức khác nhau này có chấp nhận được không?”</a:t>
            </a:r>
          </a:p>
          <a:p>
            <a:endParaRPr lang="en-US" b="1" dirty="0"/>
          </a:p>
          <a:p>
            <a:endParaRPr lang="en-US" b="1" dirty="0"/>
          </a:p>
          <a:p>
            <a:r>
              <a:rPr lang="vi-VN" b="1" dirty="0"/>
              <a:t>liệt kê 3 dạng khác nhau có thể tồn tại giữa các replica</a:t>
            </a:r>
          </a:p>
          <a:p>
            <a:pPr>
              <a:buFont typeface="+mj-lt"/>
              <a:buAutoNum type="arabicPeriod"/>
            </a:pPr>
            <a:r>
              <a:rPr lang="vi-VN" b="1" dirty="0"/>
              <a:t>replicas may differ in their numerical value</a:t>
            </a:r>
            <a:endParaRPr lang="vi-VN" dirty="0"/>
          </a:p>
          <a:p>
            <a:pPr marL="457200" lvl="1" indent="0">
              <a:buFont typeface="+mj-lt"/>
              <a:buNone/>
            </a:pPr>
            <a:r>
              <a:rPr lang="en-US" dirty="0"/>
              <a:t>- </a:t>
            </a:r>
            <a:r>
              <a:rPr lang="vi-VN" dirty="0"/>
              <a:t>Các bản sao có thể có </a:t>
            </a:r>
            <a:r>
              <a:rPr lang="vi-VN" b="1" dirty="0"/>
              <a:t>giá trị số khác nhau</a:t>
            </a:r>
            <a:r>
              <a:rPr lang="vi-VN" dirty="0"/>
              <a:t>.</a:t>
            </a:r>
            <a:br>
              <a:rPr lang="vi-VN" dirty="0"/>
            </a:br>
            <a:r>
              <a:rPr lang="vi-VN" dirty="0"/>
              <a:t>Ví dụ: tổng số sản phẩm tồn kho ở replica A = 100, ở replica B = 98.</a:t>
            </a:r>
          </a:p>
          <a:p>
            <a:pPr>
              <a:buFont typeface="+mj-lt"/>
              <a:buAutoNum type="arabicPeriod"/>
            </a:pPr>
            <a:r>
              <a:rPr lang="vi-VN" b="1" dirty="0"/>
              <a:t>replicas may differ in their relative staleness</a:t>
            </a:r>
            <a:endParaRPr lang="vi-VN" dirty="0"/>
          </a:p>
          <a:p>
            <a:pPr marL="457200" lvl="1" indent="0">
              <a:buFont typeface="+mj-lt"/>
              <a:buNone/>
            </a:pPr>
            <a:r>
              <a:rPr lang="en-US" dirty="0"/>
              <a:t>- </a:t>
            </a:r>
            <a:r>
              <a:rPr lang="vi-VN" dirty="0"/>
              <a:t>Các bản sao có thể </a:t>
            </a:r>
            <a:r>
              <a:rPr lang="vi-VN" b="1" dirty="0"/>
              <a:t>lỗi thời ở mức độ khác nhau</a:t>
            </a:r>
            <a:r>
              <a:rPr lang="vi-VN" dirty="0"/>
              <a:t> (cập nhật chậm hơn).</a:t>
            </a:r>
            <a:br>
              <a:rPr lang="vi-VN" dirty="0"/>
            </a:br>
            <a:r>
              <a:rPr lang="vi-VN" dirty="0"/>
              <a:t>Ví dụ: replica A mới cập nhật 1 giây trước, replica B cập nhật cách đây 10 giây.</a:t>
            </a:r>
          </a:p>
          <a:p>
            <a:pPr>
              <a:buFont typeface="+mj-lt"/>
              <a:buAutoNum type="arabicPeriod"/>
            </a:pPr>
            <a:r>
              <a:rPr lang="vi-VN" b="1" dirty="0"/>
              <a:t>there may be differences with respect to (number and order) of performed update operations</a:t>
            </a:r>
            <a:endParaRPr lang="vi-VN" dirty="0"/>
          </a:p>
          <a:p>
            <a:pPr marL="457200" lvl="1" indent="0">
              <a:buFont typeface="+mj-lt"/>
              <a:buNone/>
            </a:pPr>
            <a:r>
              <a:rPr lang="en-US" dirty="0"/>
              <a:t>- </a:t>
            </a:r>
            <a:r>
              <a:rPr lang="vi-VN" dirty="0"/>
              <a:t>Các bản sao có thể </a:t>
            </a:r>
            <a:r>
              <a:rPr lang="vi-VN" b="1" dirty="0"/>
              <a:t>khác nhau về số lượng cập nhật đã thực hiện</a:t>
            </a:r>
            <a:r>
              <a:rPr lang="vi-VN" dirty="0"/>
              <a:t>, hoặc </a:t>
            </a:r>
            <a:r>
              <a:rPr lang="vi-VN" b="1" dirty="0"/>
              <a:t>khác về thứ tự áp dụng các cập nhật</a:t>
            </a:r>
            <a:r>
              <a:rPr lang="vi-VN" dirty="0"/>
              <a:t>.</a:t>
            </a:r>
            <a:br>
              <a:rPr lang="vi-VN" dirty="0"/>
            </a:br>
            <a:r>
              <a:rPr lang="vi-VN" dirty="0"/>
              <a:t>Ví dụ: replica A thực hiện update U1 → U2, replica B lại thực hiện U2 → U1 → gây ra giá trị cuối khác nhau.</a:t>
            </a:r>
          </a:p>
          <a:p>
            <a:endParaRPr lang="en-US" b="1" dirty="0"/>
          </a:p>
          <a:p>
            <a:r>
              <a:rPr lang="vi-VN" b="1" dirty="0"/>
              <a:t>Conit (Consistency Unit) là gì?</a:t>
            </a:r>
          </a:p>
          <a:p>
            <a:r>
              <a:rPr lang="vi-VN" b="1" dirty="0"/>
              <a:t>Conit (consistency unit)</a:t>
            </a:r>
            <a:r>
              <a:rPr lang="vi-VN" dirty="0"/>
              <a:t> là đơn vị đo nhất quán.</a:t>
            </a:r>
          </a:p>
          <a:p>
            <a:r>
              <a:rPr lang="vi-VN" dirty="0"/>
              <a:t>Nó định nghĩa </a:t>
            </a:r>
            <a:r>
              <a:rPr lang="vi-VN" i="1" dirty="0"/>
              <a:t>phạm vi dữ liệu</a:t>
            </a:r>
            <a:r>
              <a:rPr lang="vi-VN" dirty="0"/>
              <a:t> mà ta muốn đo mức độ nhất quán liên tục.</a:t>
            </a:r>
          </a:p>
          <a:p>
            <a:r>
              <a:rPr lang="en-US" dirty="0"/>
              <a:t>* </a:t>
            </a:r>
            <a:r>
              <a:rPr lang="vi-VN" dirty="0"/>
              <a:t>Hiểu đơn giản:</a:t>
            </a:r>
          </a:p>
          <a:p>
            <a:pPr>
              <a:buFont typeface="Arial" panose="020B0604020202020204" pitchFamily="34" charset="0"/>
              <a:buChar char="•"/>
            </a:pPr>
            <a:r>
              <a:rPr lang="vi-VN" dirty="0"/>
              <a:t>Conit cho biết </a:t>
            </a:r>
            <a:r>
              <a:rPr lang="vi-VN" b="1" dirty="0"/>
              <a:t>dữ liệu nào</a:t>
            </a:r>
            <a:r>
              <a:rPr lang="vi-VN" dirty="0"/>
              <a:t> đang được theo dõi về độ nhất quán.</a:t>
            </a:r>
          </a:p>
          <a:p>
            <a:pPr>
              <a:buFont typeface="Arial" panose="020B0604020202020204" pitchFamily="34" charset="0"/>
              <a:buChar char="•"/>
            </a:pPr>
            <a:r>
              <a:rPr lang="vi-VN" dirty="0"/>
              <a:t>Có thể là </a:t>
            </a:r>
            <a:r>
              <a:rPr lang="vi-VN" i="1" dirty="0"/>
              <a:t>một bản ghi, một object, một dòng dữ liệu hoặc một key–value</a:t>
            </a:r>
            <a:r>
              <a:rPr lang="vi-VN" dirty="0"/>
              <a:t>.</a:t>
            </a:r>
          </a:p>
          <a:p>
            <a:r>
              <a:rPr lang="vi-VN" dirty="0"/>
              <a:t>Ví dụ về conit:</a:t>
            </a:r>
          </a:p>
          <a:p>
            <a:r>
              <a:rPr lang="vi-VN" dirty="0"/>
              <a:t>Conit được định nghĩa theo</a:t>
            </a:r>
            <a:r>
              <a:rPr lang="en-US" dirty="0"/>
              <a:t>		</a:t>
            </a:r>
            <a:r>
              <a:rPr lang="vi-VN" dirty="0"/>
              <a:t>Ví dụ</a:t>
            </a:r>
            <a:endParaRPr lang="en-US" dirty="0"/>
          </a:p>
          <a:p>
            <a:r>
              <a:rPr lang="vi-VN" dirty="0"/>
              <a:t>theo giá trị</a:t>
            </a:r>
            <a:r>
              <a:rPr lang="en-US" dirty="0"/>
              <a:t>			</a:t>
            </a:r>
            <a:r>
              <a:rPr lang="vi-VN" dirty="0"/>
              <a:t>Số lượng tồn kho sản phẩm</a:t>
            </a:r>
            <a:endParaRPr lang="en-US" dirty="0"/>
          </a:p>
          <a:p>
            <a:r>
              <a:rPr lang="vi-VN" dirty="0"/>
              <a:t>theo thời gian</a:t>
            </a:r>
            <a:r>
              <a:rPr lang="en-US" dirty="0"/>
              <a:t>			</a:t>
            </a:r>
            <a:r>
              <a:rPr lang="vi-VN" dirty="0"/>
              <a:t>Không được chậm quá 3 giây so với bản sao mới nhất</a:t>
            </a:r>
            <a:endParaRPr lang="en-US" dirty="0"/>
          </a:p>
          <a:p>
            <a:r>
              <a:rPr lang="vi-VN" dirty="0"/>
              <a:t>theo số phiên cập nhật</a:t>
            </a:r>
            <a:r>
              <a:rPr lang="en-US" dirty="0"/>
              <a:t>		</a:t>
            </a:r>
            <a:r>
              <a:rPr lang="vi-VN" dirty="0"/>
              <a:t>Cho phép lệch tối đa 2 update</a:t>
            </a:r>
          </a:p>
          <a:p>
            <a:endParaRPr lang="en-US" b="1" dirty="0"/>
          </a:p>
          <a:p>
            <a:r>
              <a:rPr lang="vi-VN" b="1" dirty="0"/>
              <a:t>Ví dụ dễ hiểu</a:t>
            </a:r>
          </a:p>
          <a:p>
            <a:r>
              <a:rPr lang="vi-VN" dirty="0"/>
              <a:t>Trong hệ thống bán hàng phân tán:</a:t>
            </a:r>
          </a:p>
          <a:p>
            <a:pPr>
              <a:buFont typeface="Arial" panose="020B0604020202020204" pitchFamily="34" charset="0"/>
              <a:buChar char="•"/>
            </a:pPr>
            <a:r>
              <a:rPr lang="vi-VN" dirty="0"/>
              <a:t>Replica A: tồn kho = </a:t>
            </a:r>
            <a:r>
              <a:rPr lang="vi-VN" b="1" dirty="0"/>
              <a:t>50</a:t>
            </a:r>
            <a:endParaRPr lang="vi-VN" dirty="0"/>
          </a:p>
          <a:p>
            <a:pPr>
              <a:buFont typeface="Arial" panose="020B0604020202020204" pitchFamily="34" charset="0"/>
              <a:buChar char="•"/>
            </a:pPr>
            <a:r>
              <a:rPr lang="vi-VN" dirty="0"/>
              <a:t>Replica B: tồn kho = </a:t>
            </a:r>
            <a:r>
              <a:rPr lang="vi-VN" b="1" dirty="0"/>
              <a:t>48</a:t>
            </a:r>
            <a:endParaRPr lang="vi-VN" dirty="0"/>
          </a:p>
          <a:p>
            <a:r>
              <a:rPr lang="vi-VN" dirty="0"/>
              <a:t>Nếu ta đặt ngưỡng sai lệch cho conit: |A − B| ≤ 5</a:t>
            </a:r>
          </a:p>
          <a:p>
            <a:r>
              <a:rPr lang="vi-VN" dirty="0"/>
              <a:t>⇒ Hệ thống </a:t>
            </a:r>
            <a:r>
              <a:rPr lang="vi-VN" b="1" dirty="0"/>
              <a:t>chấp nhận được</a:t>
            </a:r>
            <a:r>
              <a:rPr lang="vi-VN" dirty="0"/>
              <a:t>, vì khác biệt chỉ là 2 đơn vị, không cần đồng bộ ngay.</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4</a:t>
            </a:fld>
            <a:endParaRPr lang="en-US"/>
          </a:p>
        </p:txBody>
      </p:sp>
    </p:spTree>
    <p:extLst>
      <p:ext uri="{BB962C8B-B14F-4D97-AF65-F5344CB8AC3E}">
        <p14:creationId xmlns:p14="http://schemas.microsoft.com/office/powerpoint/2010/main" val="32895471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Slide này minh họa </a:t>
            </a:r>
            <a:r>
              <a:rPr lang="vi-VN" b="1" dirty="0"/>
              <a:t>tính nhất quán liên tục (continuous consistency)</a:t>
            </a:r>
            <a:r>
              <a:rPr lang="vi-VN" dirty="0"/>
              <a:t> giữa hai bản sao dữ liệu (</a:t>
            </a:r>
            <a:r>
              <a:rPr lang="vi-VN" i="1" dirty="0"/>
              <a:t>replica A</a:t>
            </a:r>
            <a:r>
              <a:rPr lang="vi-VN" dirty="0"/>
              <a:t> và </a:t>
            </a:r>
            <a:r>
              <a:rPr lang="vi-VN" i="1" dirty="0"/>
              <a:t>replica B</a:t>
            </a:r>
            <a:r>
              <a:rPr lang="vi-VN" dirty="0"/>
              <a:t>) theo đơn vị đo gọi là </a:t>
            </a:r>
            <a:r>
              <a:rPr lang="vi-VN" b="1" dirty="0"/>
              <a:t>conit</a:t>
            </a:r>
            <a:r>
              <a:rPr lang="vi-VN" dirty="0"/>
              <a:t>.</a:t>
            </a:r>
          </a:p>
          <a:p>
            <a:r>
              <a:rPr lang="vi-VN" b="1" dirty="0"/>
              <a:t>Conit (Consistency Unit):</a:t>
            </a:r>
          </a:p>
          <a:p>
            <a:r>
              <a:rPr lang="vi-VN" i="1" dirty="0"/>
              <a:t>Là đơn vị xác định phạm vi dữ liệu được đo mức độ nhất quán giữa các replica.</a:t>
            </a:r>
            <a:endParaRPr lang="vi-VN" dirty="0"/>
          </a:p>
          <a:p>
            <a:r>
              <a:rPr lang="vi-VN" dirty="0"/>
              <a:t>Trong ví dụ này, conit bao gồm </a:t>
            </a:r>
            <a:r>
              <a:rPr lang="vi-VN" b="1" dirty="0"/>
              <a:t>ba biến dữ liệu</a:t>
            </a:r>
            <a:r>
              <a:rPr lang="vi-VN" dirty="0"/>
              <a:t>:</a:t>
            </a:r>
          </a:p>
          <a:p>
            <a:pPr>
              <a:buFont typeface="Arial" panose="020B0604020202020204" pitchFamily="34" charset="0"/>
              <a:buChar char="•"/>
            </a:pPr>
            <a:r>
              <a:rPr lang="vi-VN" dirty="0"/>
              <a:t>d (distance)</a:t>
            </a:r>
          </a:p>
          <a:p>
            <a:pPr>
              <a:buFont typeface="Arial" panose="020B0604020202020204" pitchFamily="34" charset="0"/>
              <a:buChar char="•"/>
            </a:pPr>
            <a:r>
              <a:rPr lang="vi-VN" dirty="0"/>
              <a:t>g (gas)</a:t>
            </a:r>
          </a:p>
          <a:p>
            <a:pPr>
              <a:buFont typeface="Arial" panose="020B0604020202020204" pitchFamily="34" charset="0"/>
              <a:buChar char="•"/>
            </a:pPr>
            <a:r>
              <a:rPr lang="vi-VN" dirty="0"/>
              <a:t>p (price)</a:t>
            </a:r>
          </a:p>
          <a:p>
            <a:endParaRPr lang="en-US" b="1" dirty="0"/>
          </a:p>
          <a:p>
            <a:r>
              <a:rPr lang="vi-VN" b="1" dirty="0"/>
              <a:t>Ý tưởng của "Continuous Consistency"</a:t>
            </a:r>
          </a:p>
          <a:p>
            <a:r>
              <a:rPr lang="vi-VN" dirty="0"/>
              <a:t>Thay vì yêu cầu </a:t>
            </a:r>
            <a:r>
              <a:rPr lang="vi-VN" b="1" dirty="0"/>
              <a:t>tất cả bản sao phải đồng nhất tuyệt đối</a:t>
            </a:r>
            <a:r>
              <a:rPr lang="vi-VN" dirty="0"/>
              <a:t>, ta cho phép sự khác nhau nhưng </a:t>
            </a:r>
            <a:r>
              <a:rPr lang="vi-VN" b="1" dirty="0"/>
              <a:t>có thể đo lường</a:t>
            </a:r>
            <a:r>
              <a:rPr lang="vi-VN" dirty="0"/>
              <a:t> được.</a:t>
            </a:r>
            <a:br>
              <a:rPr lang="vi-VN" dirty="0"/>
            </a:br>
            <a:r>
              <a:rPr lang="vi-VN" dirty="0"/>
              <a:t>Ở đây ta đo dựa trên:</a:t>
            </a:r>
          </a:p>
          <a:p>
            <a:pPr>
              <a:buFont typeface="+mj-lt"/>
              <a:buAutoNum type="arabicPeriod"/>
            </a:pPr>
            <a:r>
              <a:rPr lang="vi-VN" b="1" dirty="0"/>
              <a:t>Sai khác về số thứ tự thực hiện updates (order deviation)</a:t>
            </a:r>
            <a:endParaRPr lang="vi-VN" dirty="0"/>
          </a:p>
          <a:p>
            <a:pPr>
              <a:buFont typeface="+mj-lt"/>
              <a:buAutoNum type="arabicPeriod"/>
            </a:pPr>
            <a:r>
              <a:rPr lang="vi-VN" b="1" dirty="0"/>
              <a:t>Sai khác về giá trị dữ liệu (numerical deviation)</a:t>
            </a:r>
            <a:endParaRPr lang="vi-VN" dirty="0"/>
          </a:p>
          <a:p>
            <a:pPr>
              <a:buFont typeface="+mj-lt"/>
              <a:buAutoNum type="arabicPeriod"/>
            </a:pPr>
            <a:r>
              <a:rPr lang="vi-VN" b="1" dirty="0"/>
              <a:t>Sai khác về mức độ cập nhật được biết bởi mỗi replica (vector clock)</a:t>
            </a:r>
            <a:endParaRPr lang="vi-VN" dirty="0"/>
          </a:p>
          <a:p>
            <a:endParaRPr lang="en-US" b="1" dirty="0"/>
          </a:p>
          <a:p>
            <a:r>
              <a:rPr lang="vi-VN" b="1" dirty="0"/>
              <a:t>Phân tích ví dụ trong slide</a:t>
            </a:r>
          </a:p>
          <a:p>
            <a:r>
              <a:rPr lang="en-US" b="1" dirty="0"/>
              <a:t>- </a:t>
            </a:r>
            <a:r>
              <a:rPr lang="vi-VN" b="1" dirty="0"/>
              <a:t>Replica A</a:t>
            </a:r>
          </a:p>
          <a:p>
            <a:r>
              <a:rPr lang="vi-VN" dirty="0"/>
              <a:t>Giá trị hiện tại trong conit</a:t>
            </a:r>
            <a:endParaRPr lang="en-US" dirty="0"/>
          </a:p>
          <a:p>
            <a:r>
              <a:rPr lang="vi-VN" dirty="0"/>
              <a:t>d = 558 (distance)</a:t>
            </a:r>
            <a:endParaRPr lang="en-US" dirty="0"/>
          </a:p>
          <a:p>
            <a:r>
              <a:rPr lang="vi-VN" dirty="0"/>
              <a:t>g = 95 (gas)</a:t>
            </a:r>
            <a:endParaRPr lang="en-US" dirty="0"/>
          </a:p>
          <a:p>
            <a:r>
              <a:rPr lang="vi-VN" dirty="0"/>
              <a:t>p = 78 (price)</a:t>
            </a:r>
          </a:p>
          <a:p>
            <a:r>
              <a:rPr lang="vi-VN" dirty="0"/>
              <a:t>Replica A đã thực hiện/chấp nhận các update sau:</a:t>
            </a:r>
          </a:p>
          <a:p>
            <a:r>
              <a:rPr lang="vi-VN" dirty="0"/>
              <a:t>Operation</a:t>
            </a:r>
            <a:r>
              <a:rPr lang="en-US" dirty="0"/>
              <a:t>	</a:t>
            </a:r>
            <a:r>
              <a:rPr lang="vi-VN" dirty="0"/>
              <a:t>Ý nghĩa</a:t>
            </a:r>
            <a:r>
              <a:rPr lang="en-US" dirty="0"/>
              <a:t>		</a:t>
            </a:r>
            <a:r>
              <a:rPr lang="vi-VN" dirty="0"/>
              <a:t>Kết quả</a:t>
            </a:r>
            <a:endParaRPr lang="en-US" dirty="0"/>
          </a:p>
          <a:p>
            <a:r>
              <a:rPr lang="vi-VN" dirty="0"/>
              <a:t>&lt;5, B&gt;</a:t>
            </a:r>
            <a:r>
              <a:rPr lang="en-US" dirty="0"/>
              <a:t>	</a:t>
            </a:r>
            <a:r>
              <a:rPr lang="vi-VN" dirty="0"/>
              <a:t>cập nhật g = g + 45</a:t>
            </a:r>
            <a:r>
              <a:rPr lang="en-US" dirty="0"/>
              <a:t>	</a:t>
            </a:r>
            <a:r>
              <a:rPr lang="vi-VN" dirty="0"/>
              <a:t>g = 45</a:t>
            </a:r>
            <a:endParaRPr lang="en-US" dirty="0"/>
          </a:p>
          <a:p>
            <a:r>
              <a:rPr lang="vi-VN" dirty="0"/>
              <a:t>&lt;8, A&gt;</a:t>
            </a:r>
            <a:r>
              <a:rPr lang="en-US" dirty="0"/>
              <a:t>	</a:t>
            </a:r>
            <a:r>
              <a:rPr lang="vi-VN" dirty="0"/>
              <a:t>cập nhật g = g + 50</a:t>
            </a:r>
            <a:r>
              <a:rPr lang="en-US" dirty="0"/>
              <a:t>	</a:t>
            </a:r>
            <a:r>
              <a:rPr lang="vi-VN" dirty="0"/>
              <a:t>g = 95</a:t>
            </a:r>
            <a:endParaRPr lang="en-US" dirty="0"/>
          </a:p>
          <a:p>
            <a:r>
              <a:rPr lang="vi-VN" dirty="0"/>
              <a:t>&lt;9, A&gt;</a:t>
            </a:r>
            <a:r>
              <a:rPr lang="en-US" dirty="0"/>
              <a:t>	</a:t>
            </a:r>
            <a:r>
              <a:rPr lang="vi-VN" dirty="0"/>
              <a:t>cập nhật p = p + 78</a:t>
            </a:r>
            <a:r>
              <a:rPr lang="en-US" dirty="0"/>
              <a:t>	</a:t>
            </a:r>
            <a:r>
              <a:rPr lang="vi-VN" dirty="0"/>
              <a:t>p = 78</a:t>
            </a:r>
            <a:endParaRPr lang="en-US" dirty="0"/>
          </a:p>
          <a:p>
            <a:r>
              <a:rPr lang="vi-VN" dirty="0"/>
              <a:t>&lt;10, A&gt;</a:t>
            </a:r>
            <a:r>
              <a:rPr lang="en-US" dirty="0"/>
              <a:t>	</a:t>
            </a:r>
            <a:r>
              <a:rPr lang="vi-VN" dirty="0"/>
              <a:t>cập nhật d = d + 558</a:t>
            </a:r>
            <a:r>
              <a:rPr lang="en-US" dirty="0"/>
              <a:t>	</a:t>
            </a:r>
            <a:r>
              <a:rPr lang="vi-VN" dirty="0"/>
              <a:t>d = 558</a:t>
            </a:r>
          </a:p>
          <a:p>
            <a:r>
              <a:rPr lang="en-US" dirty="0"/>
              <a:t>=&gt;</a:t>
            </a:r>
            <a:r>
              <a:rPr lang="vi-VN" dirty="0"/>
              <a:t> Vector clock A = </a:t>
            </a:r>
            <a:r>
              <a:rPr lang="vi-VN" b="1" dirty="0"/>
              <a:t>(11, 5)</a:t>
            </a:r>
            <a:br>
              <a:rPr lang="vi-VN" dirty="0"/>
            </a:br>
            <a:r>
              <a:rPr lang="en-US" dirty="0"/>
              <a:t>=&gt;</a:t>
            </a:r>
            <a:r>
              <a:rPr lang="vi-VN" dirty="0"/>
              <a:t> Order deviation = </a:t>
            </a:r>
            <a:r>
              <a:rPr lang="vi-VN" b="1" dirty="0"/>
              <a:t>3</a:t>
            </a:r>
            <a:br>
              <a:rPr lang="vi-VN" dirty="0"/>
            </a:br>
            <a:r>
              <a:rPr lang="en-US" dirty="0"/>
              <a:t>=&gt;</a:t>
            </a:r>
            <a:r>
              <a:rPr lang="vi-VN" dirty="0"/>
              <a:t> Numerical deviation = </a:t>
            </a:r>
            <a:r>
              <a:rPr lang="vi-VN" b="1" dirty="0"/>
              <a:t>(2, 482)</a:t>
            </a:r>
            <a:endParaRPr lang="vi-VN" dirty="0"/>
          </a:p>
          <a:p>
            <a:r>
              <a:rPr lang="en-US" b="1" dirty="0"/>
              <a:t>- </a:t>
            </a:r>
            <a:r>
              <a:rPr lang="vi-VN" b="1" dirty="0"/>
              <a:t>Replica B</a:t>
            </a:r>
          </a:p>
          <a:p>
            <a:r>
              <a:rPr lang="vi-VN" dirty="0"/>
              <a:t>Giá trị hiện tại trong conit</a:t>
            </a:r>
            <a:endParaRPr lang="en-US" dirty="0"/>
          </a:p>
          <a:p>
            <a:r>
              <a:rPr lang="vi-VN" dirty="0"/>
              <a:t>d = 412</a:t>
            </a:r>
            <a:endParaRPr lang="en-US" dirty="0"/>
          </a:p>
          <a:p>
            <a:r>
              <a:rPr lang="vi-VN" dirty="0"/>
              <a:t>g = 45</a:t>
            </a:r>
            <a:endParaRPr lang="en-US" dirty="0"/>
          </a:p>
          <a:p>
            <a:r>
              <a:rPr lang="vi-VN" dirty="0"/>
              <a:t>p = 70</a:t>
            </a:r>
          </a:p>
          <a:p>
            <a:r>
              <a:rPr lang="vi-VN" dirty="0"/>
              <a:t>Replica B chỉ biết ít cập nhật hơn:</a:t>
            </a:r>
          </a:p>
          <a:p>
            <a:r>
              <a:rPr lang="vi-VN" dirty="0"/>
              <a:t>Operation</a:t>
            </a:r>
            <a:r>
              <a:rPr lang="en-US" dirty="0"/>
              <a:t>	</a:t>
            </a:r>
            <a:r>
              <a:rPr lang="vi-VN" dirty="0"/>
              <a:t>Ý nghĩa</a:t>
            </a:r>
            <a:r>
              <a:rPr lang="en-US" dirty="0"/>
              <a:t>		</a:t>
            </a:r>
            <a:r>
              <a:rPr lang="vi-VN" dirty="0"/>
              <a:t>Kết quả</a:t>
            </a:r>
            <a:endParaRPr lang="en-US" dirty="0"/>
          </a:p>
          <a:p>
            <a:r>
              <a:rPr lang="vi-VN" dirty="0"/>
              <a:t>&lt;5, B&gt;</a:t>
            </a:r>
            <a:r>
              <a:rPr lang="en-US" dirty="0"/>
              <a:t>	</a:t>
            </a:r>
            <a:r>
              <a:rPr lang="vi-VN" dirty="0"/>
              <a:t>cập nhật g = g + 45</a:t>
            </a:r>
            <a:r>
              <a:rPr lang="en-US" dirty="0"/>
              <a:t>	</a:t>
            </a:r>
            <a:r>
              <a:rPr lang="vi-VN" dirty="0"/>
              <a:t>g = 45</a:t>
            </a:r>
            <a:endParaRPr lang="en-US" dirty="0"/>
          </a:p>
          <a:p>
            <a:r>
              <a:rPr lang="vi-VN" dirty="0"/>
              <a:t>&lt;6, B&gt;</a:t>
            </a:r>
            <a:r>
              <a:rPr lang="en-US" dirty="0"/>
              <a:t>	</a:t>
            </a:r>
            <a:r>
              <a:rPr lang="vi-VN" dirty="0"/>
              <a:t>cập nhật p = p + 70</a:t>
            </a:r>
            <a:r>
              <a:rPr lang="en-US" dirty="0"/>
              <a:t>	</a:t>
            </a:r>
            <a:r>
              <a:rPr lang="vi-VN" dirty="0"/>
              <a:t>p = 70</a:t>
            </a:r>
            <a:endParaRPr lang="en-US" dirty="0"/>
          </a:p>
          <a:p>
            <a:r>
              <a:rPr lang="vi-VN" dirty="0"/>
              <a:t>&lt;7, B&gt;</a:t>
            </a:r>
            <a:r>
              <a:rPr lang="en-US" dirty="0"/>
              <a:t>	</a:t>
            </a:r>
            <a:r>
              <a:rPr lang="vi-VN" dirty="0"/>
              <a:t>cập nhật d = d + 412</a:t>
            </a:r>
            <a:r>
              <a:rPr lang="en-US" dirty="0"/>
              <a:t>	</a:t>
            </a:r>
            <a:r>
              <a:rPr lang="vi-VN" dirty="0"/>
              <a:t>d = 412</a:t>
            </a:r>
          </a:p>
          <a:p>
            <a:r>
              <a:rPr lang="en-US" dirty="0"/>
              <a:t>=&gt;</a:t>
            </a:r>
            <a:r>
              <a:rPr lang="vi-VN" dirty="0"/>
              <a:t> Vector clock B = </a:t>
            </a:r>
            <a:r>
              <a:rPr lang="vi-VN" b="1" dirty="0"/>
              <a:t>(0, 8)</a:t>
            </a:r>
            <a:br>
              <a:rPr lang="vi-VN" dirty="0"/>
            </a:br>
            <a:r>
              <a:rPr lang="en-US" dirty="0"/>
              <a:t>=&gt;</a:t>
            </a:r>
            <a:r>
              <a:rPr lang="vi-VN" dirty="0"/>
              <a:t> Order deviation = </a:t>
            </a:r>
            <a:r>
              <a:rPr lang="vi-VN" b="1" dirty="0"/>
              <a:t>1</a:t>
            </a:r>
            <a:br>
              <a:rPr lang="vi-VN" dirty="0"/>
            </a:br>
            <a:r>
              <a:rPr lang="en-US" dirty="0"/>
              <a:t>=&gt;</a:t>
            </a:r>
            <a:r>
              <a:rPr lang="vi-VN" dirty="0"/>
              <a:t> Numerical deviation = </a:t>
            </a:r>
            <a:r>
              <a:rPr lang="vi-VN" b="1" dirty="0"/>
              <a:t>(3, 686)</a:t>
            </a:r>
            <a:endParaRPr lang="vi-VN" dirty="0"/>
          </a:p>
          <a:p>
            <a:endParaRPr lang="en-US" b="1" dirty="0"/>
          </a:p>
          <a:p>
            <a:r>
              <a:rPr lang="vi-VN" b="1" dirty="0"/>
              <a:t>Giải thích các chỉ số</a:t>
            </a:r>
          </a:p>
          <a:p>
            <a:r>
              <a:rPr lang="vi-VN" dirty="0"/>
              <a:t>Chỉ số</a:t>
            </a:r>
            <a:r>
              <a:rPr lang="en-US" dirty="0"/>
              <a:t>				</a:t>
            </a:r>
            <a:r>
              <a:rPr lang="vi-VN" dirty="0"/>
              <a:t>Ý nghĩa</a:t>
            </a:r>
            <a:endParaRPr lang="en-US" dirty="0"/>
          </a:p>
          <a:p>
            <a:r>
              <a:rPr lang="vi-VN" b="1" dirty="0"/>
              <a:t>Vector clock (clock A = (11,5), clock B = (0,8))</a:t>
            </a:r>
            <a:r>
              <a:rPr lang="en-US" b="1" dirty="0"/>
              <a:t>	</a:t>
            </a:r>
            <a:r>
              <a:rPr lang="vi-VN" dirty="0"/>
              <a:t>A và B lưu thông tin về số update đã biết từ chính mình và từ replica kia.</a:t>
            </a:r>
            <a:endParaRPr lang="en-US" dirty="0"/>
          </a:p>
          <a:p>
            <a:r>
              <a:rPr lang="vi-VN" b="1" dirty="0"/>
              <a:t>Order deviation = 3 vs 1</a:t>
            </a:r>
            <a:r>
              <a:rPr lang="en-US" b="1" dirty="0"/>
              <a:t>			</a:t>
            </a:r>
            <a:r>
              <a:rPr lang="vi-VN" dirty="0"/>
              <a:t>Cho biết mức độ sai lệch về thứ tự cập nhật giữa hai replica.</a:t>
            </a:r>
            <a:endParaRPr lang="en-US" dirty="0"/>
          </a:p>
          <a:p>
            <a:r>
              <a:rPr lang="vi-VN" b="1" dirty="0"/>
              <a:t>Numerical deviation (2, 482)</a:t>
            </a:r>
            <a:r>
              <a:rPr lang="en-US" b="1" dirty="0"/>
              <a:t>		</a:t>
            </a:r>
            <a:r>
              <a:rPr lang="vi-VN" dirty="0"/>
              <a:t>Cho biết sự sai khác về giá trị dữ liệu của conit (giá trị ở các replica khác nhau bao nhiêu).</a:t>
            </a:r>
          </a:p>
          <a:p>
            <a:endParaRPr lang="en-US" b="1" dirty="0"/>
          </a:p>
          <a:p>
            <a:r>
              <a:rPr lang="vi-VN" b="1" dirty="0"/>
              <a:t>Điểm quan trọng</a:t>
            </a:r>
            <a:r>
              <a:rPr lang="en-US" b="1" dirty="0"/>
              <a:t>:</a:t>
            </a:r>
            <a:endParaRPr lang="vi-VN" b="1" dirty="0"/>
          </a:p>
          <a:p>
            <a:r>
              <a:rPr lang="vi-VN" b="1" dirty="0"/>
              <a:t>Replica A đã nhận một số update từ B và đã commit (permanent update), không thể rollback</a:t>
            </a:r>
            <a:r>
              <a:rPr lang="vi-VN" dirty="0"/>
              <a:t>.</a:t>
            </a:r>
          </a:p>
          <a:p>
            <a:r>
              <a:rPr lang="en-US" dirty="0"/>
              <a:t>- </a:t>
            </a:r>
            <a:r>
              <a:rPr lang="vi-VN" dirty="0"/>
              <a:t>"Each replica has a vector clock (known time @ A, known time @ B)"</a:t>
            </a:r>
            <a:br>
              <a:rPr lang="vi-VN" dirty="0"/>
            </a:br>
            <a:r>
              <a:rPr lang="en-US" dirty="0"/>
              <a:t>- </a:t>
            </a:r>
            <a:r>
              <a:rPr lang="vi-VN" dirty="0"/>
              <a:t>"B sends A operation [(5, B): g ← g + 45]; A has made this operation permanent"</a:t>
            </a:r>
          </a:p>
          <a:p>
            <a:r>
              <a:rPr lang="vi-VN" dirty="0"/>
              <a:t>Nghĩa là:</a:t>
            </a:r>
          </a:p>
          <a:p>
            <a:pPr>
              <a:buFont typeface="Arial" panose="020B0604020202020204" pitchFamily="34" charset="0"/>
              <a:buChar char="•"/>
            </a:pPr>
            <a:r>
              <a:rPr lang="vi-VN" dirty="0"/>
              <a:t>Update (5,B) được gửi từ Replica B sang Replica A</a:t>
            </a:r>
          </a:p>
          <a:p>
            <a:pPr>
              <a:buFont typeface="Arial" panose="020B0604020202020204" pitchFamily="34" charset="0"/>
              <a:buChar char="•"/>
            </a:pPr>
            <a:r>
              <a:rPr lang="vi-VN" dirty="0"/>
              <a:t>Replica A đã áp dụng update đó vào dữ liệu của mình</a:t>
            </a:r>
          </a:p>
          <a:p>
            <a:pPr>
              <a:buFont typeface="Arial" panose="020B0604020202020204" pitchFamily="34" charset="0"/>
              <a:buChar char="•"/>
            </a:pPr>
            <a:r>
              <a:rPr lang="vi-VN" dirty="0"/>
              <a:t>Do A đã commit update này, hệ thống </a:t>
            </a:r>
            <a:r>
              <a:rPr lang="vi-VN" b="1" dirty="0"/>
              <a:t>không thể đảo ngược (rollback)</a:t>
            </a:r>
            <a:endParaRPr lang="vi-VN" dirty="0"/>
          </a:p>
          <a:p>
            <a:endParaRPr lang="en-US" dirty="0"/>
          </a:p>
          <a:p>
            <a:endParaRPr lang="en-US" dirty="0"/>
          </a:p>
          <a:p>
            <a:r>
              <a:rPr lang="en-US" b="1" dirty="0"/>
              <a:t>Ý </a:t>
            </a:r>
            <a:r>
              <a:rPr lang="en-US" b="1" dirty="0" err="1"/>
              <a:t>nghĩa</a:t>
            </a:r>
            <a:r>
              <a:rPr lang="en-US" b="1" dirty="0"/>
              <a:t> </a:t>
            </a:r>
            <a:r>
              <a:rPr lang="en-US" b="1" dirty="0" err="1"/>
              <a:t>thực</a:t>
            </a:r>
            <a:r>
              <a:rPr lang="en-US" b="1" dirty="0"/>
              <a:t> </a:t>
            </a:r>
            <a:r>
              <a:rPr lang="en-US" b="1" dirty="0" err="1"/>
              <a:t>tế</a:t>
            </a:r>
            <a:endParaRPr lang="en-US" b="1" dirty="0"/>
          </a:p>
          <a:p>
            <a:r>
              <a:rPr lang="en-US" dirty="0" err="1"/>
              <a:t>Mô</a:t>
            </a:r>
            <a:r>
              <a:rPr lang="en-US" dirty="0"/>
              <a:t> </a:t>
            </a:r>
            <a:r>
              <a:rPr lang="en-US" dirty="0" err="1"/>
              <a:t>hình</a:t>
            </a:r>
            <a:r>
              <a:rPr lang="en-US" dirty="0"/>
              <a:t> </a:t>
            </a:r>
            <a:r>
              <a:rPr lang="en-US" dirty="0" err="1"/>
              <a:t>này</a:t>
            </a:r>
            <a:r>
              <a:rPr lang="en-US" dirty="0"/>
              <a:t> </a:t>
            </a:r>
            <a:r>
              <a:rPr lang="en-US" dirty="0" err="1"/>
              <a:t>phù</a:t>
            </a:r>
            <a:r>
              <a:rPr lang="en-US" dirty="0"/>
              <a:t> </a:t>
            </a:r>
            <a:r>
              <a:rPr lang="en-US" dirty="0" err="1"/>
              <a:t>hợp</a:t>
            </a:r>
            <a:r>
              <a:rPr lang="en-US" dirty="0"/>
              <a:t> </a:t>
            </a:r>
            <a:r>
              <a:rPr lang="en-US" dirty="0" err="1"/>
              <a:t>với</a:t>
            </a:r>
            <a:r>
              <a:rPr lang="en-US" dirty="0"/>
              <a:t>:</a:t>
            </a:r>
          </a:p>
          <a:p>
            <a:pPr>
              <a:buFont typeface="Arial" panose="020B0604020202020204" pitchFamily="34" charset="0"/>
              <a:buChar char="•"/>
            </a:pPr>
            <a:r>
              <a:rPr lang="en-US" dirty="0" err="1"/>
              <a:t>hệ</a:t>
            </a:r>
            <a:r>
              <a:rPr lang="en-US" dirty="0"/>
              <a:t> </a:t>
            </a:r>
            <a:r>
              <a:rPr lang="en-US" dirty="0" err="1"/>
              <a:t>thống</a:t>
            </a:r>
            <a:r>
              <a:rPr lang="en-US" dirty="0"/>
              <a:t> </a:t>
            </a:r>
            <a:r>
              <a:rPr lang="en-US" dirty="0" err="1"/>
              <a:t>giám</a:t>
            </a:r>
            <a:r>
              <a:rPr lang="en-US" dirty="0"/>
              <a:t> </a:t>
            </a:r>
            <a:r>
              <a:rPr lang="en-US" dirty="0" err="1"/>
              <a:t>sát</a:t>
            </a:r>
            <a:r>
              <a:rPr lang="en-US" dirty="0"/>
              <a:t> </a:t>
            </a:r>
            <a:r>
              <a:rPr lang="en-US" dirty="0" err="1"/>
              <a:t>dữ</a:t>
            </a:r>
            <a:r>
              <a:rPr lang="en-US" dirty="0"/>
              <a:t> </a:t>
            </a:r>
            <a:r>
              <a:rPr lang="en-US" dirty="0" err="1"/>
              <a:t>liệu</a:t>
            </a:r>
            <a:r>
              <a:rPr lang="en-US" dirty="0"/>
              <a:t> IoT</a:t>
            </a:r>
          </a:p>
          <a:p>
            <a:pPr>
              <a:buFont typeface="Arial" panose="020B0604020202020204" pitchFamily="34" charset="0"/>
              <a:buChar char="•"/>
            </a:pPr>
            <a:r>
              <a:rPr lang="en-US" dirty="0" err="1"/>
              <a:t>ứng</a:t>
            </a:r>
            <a:r>
              <a:rPr lang="en-US" dirty="0"/>
              <a:t> </a:t>
            </a:r>
            <a:r>
              <a:rPr lang="en-US" dirty="0" err="1"/>
              <a:t>dụng</a:t>
            </a:r>
            <a:r>
              <a:rPr lang="en-US" dirty="0"/>
              <a:t> </a:t>
            </a:r>
            <a:r>
              <a:rPr lang="en-US" dirty="0" err="1"/>
              <a:t>mạng</a:t>
            </a:r>
            <a:r>
              <a:rPr lang="en-US" dirty="0"/>
              <a:t> </a:t>
            </a:r>
            <a:r>
              <a:rPr lang="en-US" dirty="0" err="1"/>
              <a:t>xã</a:t>
            </a:r>
            <a:r>
              <a:rPr lang="en-US" dirty="0"/>
              <a:t> </a:t>
            </a:r>
            <a:r>
              <a:rPr lang="en-US" dirty="0" err="1"/>
              <a:t>hội</a:t>
            </a:r>
            <a:r>
              <a:rPr lang="en-US" dirty="0"/>
              <a:t> (like/share count </a:t>
            </a:r>
            <a:r>
              <a:rPr lang="en-US" dirty="0" err="1"/>
              <a:t>không</a:t>
            </a:r>
            <a:r>
              <a:rPr lang="en-US" dirty="0"/>
              <a:t> </a:t>
            </a:r>
            <a:r>
              <a:rPr lang="en-US" dirty="0" err="1"/>
              <a:t>cần</a:t>
            </a:r>
            <a:r>
              <a:rPr lang="en-US" dirty="0"/>
              <a:t> </a:t>
            </a:r>
            <a:r>
              <a:rPr lang="en-US" dirty="0" err="1"/>
              <a:t>đồng</a:t>
            </a:r>
            <a:r>
              <a:rPr lang="en-US" dirty="0"/>
              <a:t> </a:t>
            </a:r>
            <a:r>
              <a:rPr lang="en-US" dirty="0" err="1"/>
              <a:t>bộ</a:t>
            </a:r>
            <a:r>
              <a:rPr lang="en-US" dirty="0"/>
              <a:t> </a:t>
            </a:r>
            <a:r>
              <a:rPr lang="en-US" dirty="0" err="1"/>
              <a:t>tức</a:t>
            </a:r>
            <a:r>
              <a:rPr lang="en-US" dirty="0"/>
              <a:t> </a:t>
            </a:r>
            <a:r>
              <a:rPr lang="en-US" dirty="0" err="1"/>
              <a:t>thời</a:t>
            </a:r>
            <a:r>
              <a:rPr lang="en-US" dirty="0"/>
              <a:t>)</a:t>
            </a:r>
          </a:p>
          <a:p>
            <a:pPr>
              <a:buFont typeface="Arial" panose="020B0604020202020204" pitchFamily="34" charset="0"/>
              <a:buChar char="•"/>
            </a:pPr>
            <a:r>
              <a:rPr lang="en-US" dirty="0" err="1"/>
              <a:t>hệ</a:t>
            </a:r>
            <a:r>
              <a:rPr lang="en-US" dirty="0"/>
              <a:t> </a:t>
            </a:r>
            <a:r>
              <a:rPr lang="en-US" dirty="0" err="1"/>
              <a:t>thống</a:t>
            </a:r>
            <a:r>
              <a:rPr lang="en-US" dirty="0"/>
              <a:t> e-commerce </a:t>
            </a:r>
            <a:r>
              <a:rPr lang="en-US" dirty="0" err="1"/>
              <a:t>phân</a:t>
            </a:r>
            <a:r>
              <a:rPr lang="en-US" dirty="0"/>
              <a:t> </a:t>
            </a:r>
            <a:r>
              <a:rPr lang="en-US" dirty="0" err="1"/>
              <a:t>tán</a:t>
            </a:r>
            <a:r>
              <a:rPr lang="en-US" dirty="0"/>
              <a:t> </a:t>
            </a:r>
            <a:r>
              <a:rPr lang="en-US" dirty="0" err="1"/>
              <a:t>theo</a:t>
            </a:r>
            <a:r>
              <a:rPr lang="en-US" dirty="0"/>
              <a:t> </a:t>
            </a:r>
            <a:r>
              <a:rPr lang="en-US" dirty="0" err="1"/>
              <a:t>vùng</a:t>
            </a:r>
            <a:r>
              <a:rPr lang="en-US" dirty="0"/>
              <a:t> </a:t>
            </a:r>
            <a:r>
              <a:rPr lang="en-US" dirty="0" err="1"/>
              <a:t>địa</a:t>
            </a:r>
            <a:r>
              <a:rPr lang="en-US" dirty="0"/>
              <a:t> </a:t>
            </a:r>
            <a:r>
              <a:rPr lang="en-US" dirty="0" err="1"/>
              <a:t>lý</a:t>
            </a:r>
            <a:endParaRPr lang="en-US" dirty="0"/>
          </a:p>
          <a:p>
            <a:r>
              <a:rPr lang="en-US" dirty="0"/>
              <a:t>=&gt; </a:t>
            </a:r>
            <a:r>
              <a:rPr lang="en-US" dirty="0" err="1"/>
              <a:t>Không</a:t>
            </a:r>
            <a:r>
              <a:rPr lang="en-US" dirty="0"/>
              <a:t> </a:t>
            </a:r>
            <a:r>
              <a:rPr lang="en-US" dirty="0" err="1"/>
              <a:t>cần</a:t>
            </a:r>
            <a:r>
              <a:rPr lang="en-US" dirty="0"/>
              <a:t> </a:t>
            </a:r>
            <a:r>
              <a:rPr lang="en-US" i="1" dirty="0"/>
              <a:t>strong consistency</a:t>
            </a:r>
            <a:r>
              <a:rPr lang="en-US" dirty="0"/>
              <a:t>, </a:t>
            </a:r>
            <a:r>
              <a:rPr lang="en-US" dirty="0" err="1"/>
              <a:t>chỉ</a:t>
            </a:r>
            <a:r>
              <a:rPr lang="en-US" dirty="0"/>
              <a:t> </a:t>
            </a:r>
            <a:r>
              <a:rPr lang="en-US" dirty="0" err="1"/>
              <a:t>cần</a:t>
            </a:r>
            <a:r>
              <a:rPr lang="en-US" dirty="0"/>
              <a:t> </a:t>
            </a:r>
            <a:r>
              <a:rPr lang="en-US" b="1" dirty="0" err="1"/>
              <a:t>nhất</a:t>
            </a:r>
            <a:r>
              <a:rPr lang="en-US" b="1" dirty="0"/>
              <a:t> </a:t>
            </a:r>
            <a:r>
              <a:rPr lang="en-US" b="1" dirty="0" err="1"/>
              <a:t>quán</a:t>
            </a:r>
            <a:r>
              <a:rPr lang="en-US" b="1" dirty="0"/>
              <a:t> </a:t>
            </a:r>
            <a:r>
              <a:rPr lang="en-US" b="1" dirty="0" err="1"/>
              <a:t>đủ</a:t>
            </a:r>
            <a:r>
              <a:rPr lang="en-US" b="1" dirty="0"/>
              <a:t> (good enough consistency)</a:t>
            </a:r>
            <a:r>
              <a:rPr lang="en-US" dirty="0"/>
              <a:t>.</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5</a:t>
            </a:fld>
            <a:endParaRPr lang="en-US"/>
          </a:p>
        </p:txBody>
      </p:sp>
    </p:spTree>
    <p:extLst>
      <p:ext uri="{BB962C8B-B14F-4D97-AF65-F5344CB8AC3E}">
        <p14:creationId xmlns:p14="http://schemas.microsoft.com/office/powerpoint/2010/main" val="47205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Slide này tiếp tục ví dụ trước đó về </a:t>
            </a:r>
            <a:r>
              <a:rPr lang="vi-VN" b="1" dirty="0"/>
              <a:t>Conit (Consistency Unit)</a:t>
            </a:r>
            <a:r>
              <a:rPr lang="vi-VN" dirty="0"/>
              <a:t> – đơn vị đo mức độ nhất quán liên tục giữa các replica trong hệ thống phân tán.</a:t>
            </a:r>
          </a:p>
          <a:p>
            <a:r>
              <a:rPr lang="vi-VN" dirty="0"/>
              <a:t>Ở đây, conit chứa ba biến dữ liệu:</a:t>
            </a:r>
          </a:p>
          <a:p>
            <a:r>
              <a:rPr lang="vi-VN" b="1" dirty="0"/>
              <a:t>g (gas), p (price), d (distance)</a:t>
            </a:r>
            <a:endParaRPr lang="vi-VN" dirty="0"/>
          </a:p>
          <a:p>
            <a:r>
              <a:rPr lang="vi-VN" dirty="0"/>
              <a:t>Mục tiêu của slide là làm rõ hai loại sai lệch giữa replica A và replica B:</a:t>
            </a:r>
          </a:p>
          <a:p>
            <a:pPr>
              <a:buFont typeface="+mj-lt"/>
              <a:buAutoNum type="arabicPeriod"/>
            </a:pPr>
            <a:r>
              <a:rPr lang="vi-VN" b="1" dirty="0"/>
              <a:t>Order deviation</a:t>
            </a:r>
            <a:r>
              <a:rPr lang="vi-VN" dirty="0"/>
              <a:t> – sai khác về số </a:t>
            </a:r>
            <a:r>
              <a:rPr lang="vi-VN" i="1" dirty="0"/>
              <a:t>operation</a:t>
            </a:r>
            <a:r>
              <a:rPr lang="vi-VN" dirty="0"/>
              <a:t> đã thực hiện (thứ tự cập nhật).</a:t>
            </a:r>
          </a:p>
          <a:p>
            <a:pPr>
              <a:buFont typeface="+mj-lt"/>
              <a:buAutoNum type="arabicPeriod"/>
            </a:pPr>
            <a:r>
              <a:rPr lang="vi-VN" b="1" dirty="0"/>
              <a:t>Numerical deviation</a:t>
            </a:r>
            <a:r>
              <a:rPr lang="vi-VN" dirty="0"/>
              <a:t> – sai khác về </a:t>
            </a:r>
            <a:r>
              <a:rPr lang="vi-VN" i="1" dirty="0"/>
              <a:t>giá trị dữ liệu</a:t>
            </a:r>
            <a:r>
              <a:rPr lang="vi-VN" dirty="0"/>
              <a:t> giữa các replica.</a:t>
            </a:r>
          </a:p>
          <a:p>
            <a:endParaRPr lang="en-US" dirty="0"/>
          </a:p>
          <a:p>
            <a:r>
              <a:rPr lang="vi-VN" b="1" dirty="0"/>
              <a:t>Giải thích</a:t>
            </a:r>
            <a:r>
              <a:rPr lang="en-US" b="1" dirty="0"/>
              <a:t> </a:t>
            </a:r>
            <a:r>
              <a:rPr lang="vi-VN" b="1" dirty="0"/>
              <a:t>phía dưới slide</a:t>
            </a:r>
          </a:p>
          <a:p>
            <a:r>
              <a:rPr lang="en-US" b="1" dirty="0"/>
              <a:t>1. "</a:t>
            </a:r>
            <a:r>
              <a:rPr lang="vi-VN" b="1" dirty="0"/>
              <a:t>A has three pending operations ⇒ order deviation = 3"</a:t>
            </a:r>
          </a:p>
          <a:p>
            <a:pPr>
              <a:buFont typeface="Arial" panose="020B0604020202020204" pitchFamily="34" charset="0"/>
              <a:buChar char="•"/>
            </a:pPr>
            <a:r>
              <a:rPr lang="vi-VN" dirty="0"/>
              <a:t>Pending operations = các operation </a:t>
            </a:r>
            <a:r>
              <a:rPr lang="vi-VN" b="1" dirty="0"/>
              <a:t>A đã thực hiện nhưng B chưa biết</a:t>
            </a:r>
            <a:r>
              <a:rPr lang="vi-VN" dirty="0"/>
              <a:t>.</a:t>
            </a:r>
          </a:p>
          <a:p>
            <a:pPr>
              <a:buFont typeface="Arial" panose="020B0604020202020204" pitchFamily="34" charset="0"/>
              <a:buChar char="•"/>
            </a:pPr>
            <a:r>
              <a:rPr lang="vi-VN" dirty="0"/>
              <a:t>Nhìn vào vector clock A = (11,5) và B = (0,8):</a:t>
            </a:r>
          </a:p>
          <a:p>
            <a:pPr marL="742950" lvl="1" indent="-285750">
              <a:buFont typeface="Arial" panose="020B0604020202020204" pitchFamily="34" charset="0"/>
              <a:buChar char="•"/>
            </a:pPr>
            <a:r>
              <a:rPr lang="vi-VN" dirty="0"/>
              <a:t>A biết </a:t>
            </a:r>
            <a:r>
              <a:rPr lang="vi-VN" b="1" dirty="0"/>
              <a:t>11 updates của chính A</a:t>
            </a:r>
            <a:r>
              <a:rPr lang="vi-VN" dirty="0"/>
              <a:t>, B mới biết </a:t>
            </a:r>
            <a:r>
              <a:rPr lang="vi-VN" b="1" dirty="0"/>
              <a:t>8</a:t>
            </a:r>
            <a:endParaRPr lang="vi-VN" dirty="0"/>
          </a:p>
          <a:p>
            <a:pPr marL="742950" lvl="1" indent="-285750">
              <a:buFont typeface="Arial" panose="020B0604020202020204" pitchFamily="34" charset="0"/>
              <a:buChar char="•"/>
            </a:pPr>
            <a:r>
              <a:rPr lang="vi-VN" dirty="0"/>
              <a:t>Vậy B còn thiếu </a:t>
            </a:r>
            <a:r>
              <a:rPr lang="vi-VN" b="1" dirty="0"/>
              <a:t>3 operation</a:t>
            </a:r>
            <a:r>
              <a:rPr lang="vi-VN" dirty="0"/>
              <a:t> từ phía A</a:t>
            </a:r>
          </a:p>
          <a:p>
            <a:r>
              <a:rPr lang="en-US" dirty="0"/>
              <a:t>=&gt; </a:t>
            </a:r>
            <a:r>
              <a:rPr lang="vi-VN" dirty="0"/>
              <a:t>Do đó, </a:t>
            </a:r>
            <a:r>
              <a:rPr lang="vi-VN" b="1" dirty="0"/>
              <a:t>order deviation = 3</a:t>
            </a:r>
            <a:endParaRPr lang="vi-VN" dirty="0"/>
          </a:p>
          <a:p>
            <a:r>
              <a:rPr lang="en-US" dirty="0"/>
              <a:t>=&gt;</a:t>
            </a:r>
            <a:r>
              <a:rPr lang="vi-VN" dirty="0"/>
              <a:t> Nghĩa là: hai replica đã thực hiện số lượng cập nhật khác nhau → chưa đồng bộ.</a:t>
            </a:r>
          </a:p>
          <a:p>
            <a:r>
              <a:rPr lang="en-US" b="1" dirty="0"/>
              <a:t>2. "</a:t>
            </a:r>
            <a:r>
              <a:rPr lang="vi-VN" b="1" dirty="0"/>
              <a:t>A missed two operations from B; max diff is 70 + 412 units ⇒ (2, 482)"</a:t>
            </a:r>
          </a:p>
          <a:p>
            <a:pPr>
              <a:buFont typeface="Arial" panose="020B0604020202020204" pitchFamily="34" charset="0"/>
              <a:buChar char="•"/>
            </a:pPr>
            <a:r>
              <a:rPr lang="vi-VN" dirty="0"/>
              <a:t>A bỏ lỡ </a:t>
            </a:r>
            <a:r>
              <a:rPr lang="vi-VN" b="1" dirty="0"/>
              <a:t>hai operation từ B</a:t>
            </a:r>
            <a:r>
              <a:rPr lang="vi-VN" dirty="0"/>
              <a:t>:</a:t>
            </a:r>
          </a:p>
          <a:p>
            <a:pPr rtl="0">
              <a:buFont typeface="Arial" panose="020B0604020202020204" pitchFamily="34" charset="0"/>
              <a:buChar char="•"/>
            </a:pPr>
            <a:r>
              <a:rPr lang="vi-VN" dirty="0"/>
              <a:t>&lt;6,B&gt; p = p + 70 &lt;7,B&gt; d = d + 412 </a:t>
            </a:r>
          </a:p>
          <a:p>
            <a:pPr>
              <a:buFont typeface="Arial" panose="020B0604020202020204" pitchFamily="34" charset="0"/>
              <a:buChar char="•"/>
            </a:pPr>
            <a:r>
              <a:rPr lang="vi-VN" dirty="0"/>
              <a:t>Numerical deviation = mức sai lệch lớn nhất về giá trị dữ liệu giữa hai replica.</a:t>
            </a:r>
          </a:p>
          <a:p>
            <a:pPr>
              <a:buFont typeface="Arial" panose="020B0604020202020204" pitchFamily="34" charset="0"/>
              <a:buChar char="•"/>
            </a:pPr>
            <a:r>
              <a:rPr lang="vi-VN" dirty="0"/>
              <a:t>B có:</a:t>
            </a:r>
          </a:p>
          <a:p>
            <a:pPr rtl="0">
              <a:buFont typeface="Arial" panose="020B0604020202020204" pitchFamily="34" charset="0"/>
              <a:buChar char="•"/>
            </a:pPr>
            <a:r>
              <a:rPr lang="vi-VN" dirty="0"/>
              <a:t>p = 70 (B tăng thêm 70) d = 412 (B tăng thêm 412) </a:t>
            </a:r>
          </a:p>
          <a:p>
            <a:pPr>
              <a:buFont typeface="Arial" panose="020B0604020202020204" pitchFamily="34" charset="0"/>
              <a:buChar char="•"/>
            </a:pPr>
            <a:r>
              <a:rPr lang="vi-VN" dirty="0"/>
              <a:t>Tổng chênh lệch = </a:t>
            </a:r>
            <a:r>
              <a:rPr lang="vi-VN" b="1" dirty="0"/>
              <a:t>70 + 412 = 482</a:t>
            </a:r>
            <a:endParaRPr lang="vi-VN" dirty="0"/>
          </a:p>
          <a:p>
            <a:r>
              <a:rPr lang="en-US" dirty="0"/>
              <a:t>=&gt; </a:t>
            </a:r>
            <a:r>
              <a:rPr lang="vi-VN" dirty="0"/>
              <a:t>Vì vậy numerical deviation = </a:t>
            </a:r>
            <a:r>
              <a:rPr lang="vi-VN" b="1" dirty="0"/>
              <a:t>(2, 482)</a:t>
            </a:r>
            <a:br>
              <a:rPr lang="vi-VN" dirty="0"/>
            </a:br>
            <a:r>
              <a:rPr lang="vi-VN" dirty="0"/>
              <a:t>(</a:t>
            </a:r>
            <a:r>
              <a:rPr lang="vi-VN" i="1" dirty="0"/>
              <a:t>2 là số operation bị missed, 482 là sai lệch giá trị dữ liệu</a:t>
            </a:r>
            <a:r>
              <a:rPr lang="vi-VN" dirty="0"/>
              <a:t>)</a:t>
            </a:r>
          </a:p>
          <a:p>
            <a:endParaRPr lang="en-US" b="1" dirty="0"/>
          </a:p>
          <a:p>
            <a:r>
              <a:rPr lang="vi-VN" b="1" dirty="0"/>
              <a:t>Ý nghĩa quan trọng</a:t>
            </a:r>
          </a:p>
          <a:p>
            <a:r>
              <a:rPr lang="vi-VN" dirty="0"/>
              <a:t>Giá trị đo được</a:t>
            </a:r>
            <a:r>
              <a:rPr lang="en-US" dirty="0"/>
              <a:t>	</a:t>
            </a:r>
            <a:r>
              <a:rPr lang="vi-VN" dirty="0"/>
              <a:t>Ý nghĩa</a:t>
            </a:r>
            <a:endParaRPr lang="en-US" dirty="0"/>
          </a:p>
          <a:p>
            <a:r>
              <a:rPr lang="vi-VN" dirty="0"/>
              <a:t>Vector clock</a:t>
            </a:r>
            <a:r>
              <a:rPr lang="en-US" dirty="0"/>
              <a:t>		</a:t>
            </a:r>
            <a:r>
              <a:rPr lang="vi-VN" dirty="0"/>
              <a:t>Replica biết bao nhiêu update của chính nó và của replica kia</a:t>
            </a:r>
            <a:endParaRPr lang="en-US" dirty="0"/>
          </a:p>
          <a:p>
            <a:r>
              <a:rPr lang="vi-VN" dirty="0"/>
              <a:t>Order deviation</a:t>
            </a:r>
            <a:r>
              <a:rPr lang="en-US" dirty="0"/>
              <a:t>	</a:t>
            </a:r>
            <a:r>
              <a:rPr lang="vi-VN" dirty="0"/>
              <a:t>Sai khác về số lượng update được áp dụng</a:t>
            </a:r>
            <a:endParaRPr lang="en-US" dirty="0"/>
          </a:p>
          <a:p>
            <a:r>
              <a:rPr lang="vi-VN" dirty="0"/>
              <a:t>Numerical deviation</a:t>
            </a:r>
            <a:r>
              <a:rPr lang="en-US" dirty="0"/>
              <a:t>	</a:t>
            </a:r>
            <a:r>
              <a:rPr lang="vi-VN" dirty="0"/>
              <a:t>Sai khác về giá trị dữ liệu giữa các replica</a:t>
            </a:r>
          </a:p>
          <a:p>
            <a:endParaRPr lang="en-US" dirty="0"/>
          </a:p>
          <a:p>
            <a:r>
              <a:rPr lang="en-US" i="1" dirty="0"/>
              <a:t>*</a:t>
            </a:r>
            <a:r>
              <a:rPr lang="vi-VN" i="1" dirty="0"/>
              <a:t>Continuous consistency </a:t>
            </a:r>
            <a:r>
              <a:rPr lang="vi-VN" b="1" i="1" dirty="0"/>
              <a:t>không yêu cầu perfect consistency</a:t>
            </a:r>
            <a:r>
              <a:rPr lang="vi-VN" i="1" dirty="0"/>
              <a:t>, mà đo mức lệch giữa các replica để kiểm soát.</a:t>
            </a:r>
          </a:p>
          <a:p>
            <a:r>
              <a:rPr lang="vi-VN" i="1" dirty="0"/>
              <a:t>Điều này cực kỳ hữu ích trong hệ thống:</a:t>
            </a:r>
          </a:p>
          <a:p>
            <a:pPr>
              <a:buFont typeface="Arial" panose="020B0604020202020204" pitchFamily="34" charset="0"/>
              <a:buChar char="•"/>
            </a:pPr>
            <a:r>
              <a:rPr lang="vi-VN" i="1" dirty="0"/>
              <a:t>IoT</a:t>
            </a:r>
          </a:p>
          <a:p>
            <a:pPr>
              <a:buFont typeface="Arial" panose="020B0604020202020204" pitchFamily="34" charset="0"/>
              <a:buChar char="•"/>
            </a:pPr>
            <a:r>
              <a:rPr lang="vi-VN" i="1" dirty="0"/>
              <a:t>ứng dụng thống kê,</a:t>
            </a:r>
          </a:p>
          <a:p>
            <a:pPr>
              <a:buFont typeface="Arial" panose="020B0604020202020204" pitchFamily="34" charset="0"/>
              <a:buChar char="•"/>
            </a:pPr>
            <a:r>
              <a:rPr lang="vi-VN" i="1" dirty="0"/>
              <a:t>hệ thống thương mại điện tử theo vùng địa lý,</a:t>
            </a:r>
          </a:p>
          <a:p>
            <a:pPr>
              <a:buFont typeface="Arial" panose="020B0604020202020204" pitchFamily="34" charset="0"/>
              <a:buChar char="•"/>
            </a:pPr>
            <a:r>
              <a:rPr lang="vi-VN" i="1" dirty="0"/>
              <a:t>mạng xã hội (like/share count)</a:t>
            </a:r>
          </a:p>
          <a:p>
            <a:r>
              <a:rPr lang="en-US" i="1" dirty="0"/>
              <a:t>=&gt;</a:t>
            </a:r>
            <a:r>
              <a:rPr lang="vi-VN" i="1" dirty="0"/>
              <a:t> Chúng không cần nhất quán tuyệt đối ngay lập tức (strong consistency), chỉ cần “nhất quán đủ mức cần thiết”.</a:t>
            </a:r>
          </a:p>
          <a:p>
            <a:endParaRPr lang="en-US" b="1" dirty="0"/>
          </a:p>
          <a:p>
            <a:r>
              <a:rPr lang="vi-VN" b="1" dirty="0"/>
              <a:t>Kết luận slide</a:t>
            </a:r>
          </a:p>
          <a:p>
            <a:r>
              <a:rPr lang="vi-VN" dirty="0"/>
              <a:t>Replica A và B không giống nhau, nhưng ta </a:t>
            </a:r>
            <a:r>
              <a:rPr lang="vi-VN" b="1" dirty="0"/>
              <a:t>đo lường được</a:t>
            </a:r>
            <a:r>
              <a:rPr lang="vi-VN" dirty="0"/>
              <a:t> mức lệch về giá trị và thứ tự update → đó chính là Continuous Consistency.</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6</a:t>
            </a:fld>
            <a:endParaRPr lang="en-US"/>
          </a:p>
        </p:txBody>
      </p:sp>
    </p:spTree>
    <p:extLst>
      <p:ext uri="{BB962C8B-B14F-4D97-AF65-F5344CB8AC3E}">
        <p14:creationId xmlns:p14="http://schemas.microsoft.com/office/powerpoint/2010/main" val="3126503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1. Ý nghĩa các ký hiệu</a:t>
            </a:r>
          </a:p>
          <a:p>
            <a:r>
              <a:rPr lang="vi-VN" dirty="0"/>
              <a:t>Slide đưa ra quy ước chung để mô tả các thao tác </a:t>
            </a:r>
            <a:r>
              <a:rPr lang="vi-VN" b="1" dirty="0"/>
              <a:t>đọc (read)</a:t>
            </a:r>
            <a:r>
              <a:rPr lang="vi-VN" dirty="0"/>
              <a:t> và </a:t>
            </a:r>
            <a:r>
              <a:rPr lang="vi-VN" b="1" dirty="0"/>
              <a:t>ghi (write)</a:t>
            </a:r>
            <a:r>
              <a:rPr lang="vi-VN" dirty="0"/>
              <a:t> trong hệ thống phân tán.</a:t>
            </a:r>
          </a:p>
          <a:p>
            <a:endParaRPr lang="en-US" b="1" dirty="0"/>
          </a:p>
          <a:p>
            <a:r>
              <a:rPr lang="vi-VN" b="1" dirty="0"/>
              <a:t>Ký hiệu thao tác ghi:</a:t>
            </a:r>
          </a:p>
          <a:p>
            <a:pPr rtl="0"/>
            <a:r>
              <a:rPr lang="vi-VN" dirty="0"/>
              <a:t>Wi(x)a </a:t>
            </a:r>
          </a:p>
          <a:p>
            <a:r>
              <a:rPr lang="vi-VN" dirty="0"/>
              <a:t>Giải thích:</a:t>
            </a:r>
          </a:p>
          <a:p>
            <a:pPr>
              <a:buFont typeface="Arial" panose="020B0604020202020204" pitchFamily="34" charset="0"/>
              <a:buChar char="•"/>
            </a:pPr>
            <a:r>
              <a:rPr lang="vi-VN" dirty="0"/>
              <a:t>Wi : tiến trình </a:t>
            </a:r>
            <a:r>
              <a:rPr lang="vi-VN" b="1" dirty="0"/>
              <a:t>Pi</a:t>
            </a:r>
            <a:r>
              <a:rPr lang="vi-VN" dirty="0"/>
              <a:t> thực hiện thao tác</a:t>
            </a:r>
          </a:p>
          <a:p>
            <a:pPr>
              <a:buFont typeface="Arial" panose="020B0604020202020204" pitchFamily="34" charset="0"/>
              <a:buChar char="•"/>
            </a:pPr>
            <a:r>
              <a:rPr lang="vi-VN" dirty="0"/>
              <a:t>x : biến hoặc mục dữ liệu (data item)</a:t>
            </a:r>
          </a:p>
          <a:p>
            <a:pPr>
              <a:buFont typeface="Arial" panose="020B0604020202020204" pitchFamily="34" charset="0"/>
              <a:buChar char="•"/>
            </a:pPr>
            <a:r>
              <a:rPr lang="vi-VN" dirty="0"/>
              <a:t>a : giá trị mới được ghi vào biến x</a:t>
            </a:r>
          </a:p>
          <a:p>
            <a:r>
              <a:rPr lang="en-US" dirty="0"/>
              <a:t>=&gt;</a:t>
            </a:r>
            <a:r>
              <a:rPr lang="vi-VN" dirty="0"/>
              <a:t> Nghĩa là: </a:t>
            </a:r>
            <a:r>
              <a:rPr lang="vi-VN" b="1" dirty="0"/>
              <a:t>Process Pi ghi giá trị a vào x</a:t>
            </a:r>
            <a:endParaRPr lang="vi-VN" dirty="0"/>
          </a:p>
          <a:p>
            <a:endParaRPr lang="en-US" b="1" dirty="0"/>
          </a:p>
          <a:p>
            <a:r>
              <a:rPr lang="vi-VN" b="1" dirty="0"/>
              <a:t>Ký hiệu thao tác đọc:</a:t>
            </a:r>
          </a:p>
          <a:p>
            <a:pPr rtl="0"/>
            <a:r>
              <a:rPr lang="vi-VN" dirty="0"/>
              <a:t>Ri(x)b </a:t>
            </a:r>
          </a:p>
          <a:p>
            <a:r>
              <a:rPr lang="vi-VN" dirty="0"/>
              <a:t>Giải thích:</a:t>
            </a:r>
          </a:p>
          <a:p>
            <a:pPr>
              <a:buFont typeface="Arial" panose="020B0604020202020204" pitchFamily="34" charset="0"/>
              <a:buChar char="•"/>
            </a:pPr>
            <a:r>
              <a:rPr lang="vi-VN" dirty="0"/>
              <a:t>Ri : tiến trình </a:t>
            </a:r>
            <a:r>
              <a:rPr lang="vi-VN" b="1" dirty="0"/>
              <a:t>Pi</a:t>
            </a:r>
            <a:r>
              <a:rPr lang="vi-VN" dirty="0"/>
              <a:t> thực hiện thao tác đọc</a:t>
            </a:r>
          </a:p>
          <a:p>
            <a:pPr>
              <a:buFont typeface="Arial" panose="020B0604020202020204" pitchFamily="34" charset="0"/>
              <a:buChar char="•"/>
            </a:pPr>
            <a:r>
              <a:rPr lang="vi-VN" dirty="0"/>
              <a:t>b : giá trị mà Pi đọc được từ dữ liệu x</a:t>
            </a:r>
          </a:p>
          <a:p>
            <a:r>
              <a:rPr lang="en-US" dirty="0"/>
              <a:t>=&gt;</a:t>
            </a:r>
            <a:r>
              <a:rPr lang="vi-VN" dirty="0"/>
              <a:t> Nghĩa là: </a:t>
            </a:r>
            <a:r>
              <a:rPr lang="vi-VN" b="1" dirty="0"/>
              <a:t>Process Pi đọc được giá trị b của x</a:t>
            </a:r>
            <a:endParaRPr lang="vi-VN" dirty="0"/>
          </a:p>
          <a:p>
            <a:endParaRPr lang="en-US" b="1" dirty="0"/>
          </a:p>
          <a:p>
            <a:r>
              <a:rPr lang="vi-VN" b="1" dirty="0"/>
              <a:t>Trạng thái ban đầu:</a:t>
            </a:r>
          </a:p>
          <a:p>
            <a:r>
              <a:rPr lang="vi-VN" b="1" dirty="0"/>
              <a:t>Tất cả dữ liệu ban đầu đều có giá trị NIL</a:t>
            </a:r>
            <a:endParaRPr lang="vi-VN" dirty="0"/>
          </a:p>
          <a:p>
            <a:r>
              <a:rPr lang="vi-VN" dirty="0"/>
              <a:t>Điều này có nghĩa là trước khi có bất kỳ thao tác ghi nào, mọi lần đọc sẽ nhận giá trị rỗng (NIL).</a:t>
            </a:r>
          </a:p>
          <a:p>
            <a:endParaRPr lang="en-US" b="1" dirty="0"/>
          </a:p>
          <a:p>
            <a:r>
              <a:rPr lang="vi-VN" b="1" dirty="0"/>
              <a:t>2. Phần "Possible behavior" – mô tả diễn tiến theo thời gian</a:t>
            </a:r>
          </a:p>
          <a:p>
            <a:r>
              <a:rPr lang="vi-VN" dirty="0"/>
              <a:t>Slide mô tả một ví dụ có hai tiến trình chạy song song (trục thời gian chạy từ trái → phải).</a:t>
            </a:r>
          </a:p>
          <a:p>
            <a:r>
              <a:rPr lang="vi-VN" dirty="0"/>
              <a:t>Tiến trình</a:t>
            </a:r>
            <a:r>
              <a:rPr lang="en-US" dirty="0"/>
              <a:t>	</a:t>
            </a:r>
            <a:r>
              <a:rPr lang="vi-VN" dirty="0"/>
              <a:t>Các thao tác xảy ra theo thời gian</a:t>
            </a:r>
            <a:endParaRPr lang="en-US" dirty="0"/>
          </a:p>
          <a:p>
            <a:r>
              <a:rPr lang="vi-VN" b="1" dirty="0"/>
              <a:t>P1</a:t>
            </a:r>
            <a:r>
              <a:rPr lang="en-US" b="1" dirty="0"/>
              <a:t>	</a:t>
            </a:r>
            <a:r>
              <a:rPr lang="vi-VN" dirty="0"/>
              <a:t>W(x)a </a:t>
            </a:r>
            <a:r>
              <a:rPr lang="vi-VN" i="1" dirty="0"/>
              <a:t>(ghi x = a)</a:t>
            </a:r>
            <a:endParaRPr lang="en-US" i="1" dirty="0"/>
          </a:p>
          <a:p>
            <a:r>
              <a:rPr lang="vi-VN" b="1" dirty="0"/>
              <a:t>P2</a:t>
            </a:r>
            <a:r>
              <a:rPr lang="en-US" b="1" dirty="0"/>
              <a:t>	</a:t>
            </a:r>
            <a:r>
              <a:rPr lang="vi-VN" dirty="0"/>
              <a:t>R(x)NIL → R(x)a</a:t>
            </a:r>
          </a:p>
          <a:p>
            <a:endParaRPr lang="en-US" b="1" dirty="0"/>
          </a:p>
          <a:p>
            <a:r>
              <a:rPr lang="en-US" b="1" dirty="0"/>
              <a:t>* </a:t>
            </a:r>
            <a:r>
              <a:rPr lang="vi-VN" b="1" dirty="0"/>
              <a:t>Diễn giải:</a:t>
            </a:r>
          </a:p>
          <a:p>
            <a:pPr>
              <a:buFont typeface="+mj-lt"/>
              <a:buAutoNum type="arabicPeriod"/>
            </a:pPr>
            <a:r>
              <a:rPr lang="vi-VN" b="1" dirty="0"/>
              <a:t>P1</a:t>
            </a:r>
            <a:r>
              <a:rPr lang="vi-VN" dirty="0"/>
              <a:t> ghi giá trị </a:t>
            </a:r>
            <a:r>
              <a:rPr lang="vi-VN" b="1" dirty="0"/>
              <a:t>a</a:t>
            </a:r>
            <a:r>
              <a:rPr lang="vi-VN" dirty="0"/>
              <a:t> vào biến </a:t>
            </a:r>
            <a:r>
              <a:rPr lang="vi-VN" b="1" dirty="0"/>
              <a:t>x</a:t>
            </a:r>
            <a:r>
              <a:rPr lang="vi-VN" dirty="0"/>
              <a:t> → W(x)a</a:t>
            </a:r>
          </a:p>
          <a:p>
            <a:pPr>
              <a:buFont typeface="+mj-lt"/>
              <a:buAutoNum type="arabicPeriod"/>
            </a:pPr>
            <a:r>
              <a:rPr lang="vi-VN" b="1" dirty="0"/>
              <a:t>P2</a:t>
            </a:r>
            <a:r>
              <a:rPr lang="vi-VN" dirty="0"/>
              <a:t> đọc </a:t>
            </a:r>
            <a:r>
              <a:rPr lang="vi-VN" b="1" dirty="0"/>
              <a:t>trước khi</a:t>
            </a:r>
            <a:r>
              <a:rPr lang="vi-VN" dirty="0"/>
              <a:t> thao tác ghi của P1 hoàn thành → nhận NIL</a:t>
            </a:r>
          </a:p>
          <a:p>
            <a:pPr>
              <a:buFont typeface="+mj-lt"/>
              <a:buAutoNum type="arabicPeriod"/>
            </a:pPr>
            <a:r>
              <a:rPr lang="vi-VN" dirty="0"/>
              <a:t>Sau đó </a:t>
            </a:r>
            <a:r>
              <a:rPr lang="vi-VN" b="1" dirty="0"/>
              <a:t>P2</a:t>
            </a:r>
            <a:r>
              <a:rPr lang="vi-VN" dirty="0"/>
              <a:t> đọc lại </a:t>
            </a:r>
            <a:r>
              <a:rPr lang="vi-VN" b="1" dirty="0"/>
              <a:t>x lần nữa</a:t>
            </a:r>
            <a:r>
              <a:rPr lang="vi-VN" dirty="0"/>
              <a:t> → và lúc này đọc được giá trị </a:t>
            </a:r>
            <a:r>
              <a:rPr lang="vi-VN" b="1" dirty="0"/>
              <a:t>a</a:t>
            </a:r>
            <a:endParaRPr lang="vi-VN" dirty="0"/>
          </a:p>
          <a:p>
            <a:r>
              <a:rPr lang="vi-VN" b="1" dirty="0"/>
              <a:t>3. Ý nghĩa về mặt consistency (nhất quán dữ liệu)</a:t>
            </a:r>
          </a:p>
          <a:p>
            <a:endParaRPr lang="en-US" dirty="0"/>
          </a:p>
          <a:p>
            <a:r>
              <a:rPr lang="vi-VN" dirty="0"/>
              <a:t>Ví dụ này thể hiện rằng:</a:t>
            </a:r>
          </a:p>
          <a:p>
            <a:pPr>
              <a:buFont typeface="Arial" panose="020B0604020202020204" pitchFamily="34" charset="0"/>
              <a:buChar char="•"/>
            </a:pPr>
            <a:r>
              <a:rPr lang="vi-VN" dirty="0"/>
              <a:t>Kết quả của </a:t>
            </a:r>
            <a:r>
              <a:rPr lang="vi-VN" b="1" dirty="0"/>
              <a:t>thao tác đọc phụ thuộc vào thời điểm thực hiện</a:t>
            </a:r>
            <a:r>
              <a:rPr lang="vi-VN" dirty="0"/>
              <a:t> trong hệ thống phân tán.</a:t>
            </a:r>
          </a:p>
          <a:p>
            <a:pPr>
              <a:buFont typeface="Arial" panose="020B0604020202020204" pitchFamily="34" charset="0"/>
              <a:buChar char="•"/>
            </a:pPr>
            <a:r>
              <a:rPr lang="vi-VN" dirty="0"/>
              <a:t>Nếu một tiến trình đọc </a:t>
            </a:r>
            <a:r>
              <a:rPr lang="vi-VN" b="1" dirty="0"/>
              <a:t>trước khi</a:t>
            </a:r>
            <a:r>
              <a:rPr lang="vi-VN" dirty="0"/>
              <a:t> tiến trình khác hoàn tất thao tác ghi → có thể thấy giá trị cũ (NIL).</a:t>
            </a:r>
          </a:p>
          <a:p>
            <a:pPr>
              <a:buFont typeface="Arial" panose="020B0604020202020204" pitchFamily="34" charset="0"/>
              <a:buChar char="•"/>
            </a:pPr>
            <a:r>
              <a:rPr lang="vi-VN" dirty="0"/>
              <a:t>Không có đảm bảo rằng mọi tiến trình sẽ quan sát cùng một giá trị tại cùng một thời điểm.</a:t>
            </a:r>
          </a:p>
          <a:p>
            <a:r>
              <a:rPr lang="en-US" dirty="0"/>
              <a:t>=&gt;</a:t>
            </a:r>
            <a:r>
              <a:rPr lang="vi-VN" dirty="0"/>
              <a:t> Đây là nền tảng để dẫn đến các mô hình consistency như:</a:t>
            </a:r>
          </a:p>
          <a:p>
            <a:pPr>
              <a:buFont typeface="Arial" panose="020B0604020202020204" pitchFamily="34" charset="0"/>
              <a:buChar char="•"/>
            </a:pPr>
            <a:r>
              <a:rPr lang="vi-VN" b="1" dirty="0"/>
              <a:t>Strict consistency</a:t>
            </a:r>
            <a:endParaRPr lang="vi-VN" dirty="0"/>
          </a:p>
          <a:p>
            <a:pPr>
              <a:buFont typeface="Arial" panose="020B0604020202020204" pitchFamily="34" charset="0"/>
              <a:buChar char="•"/>
            </a:pPr>
            <a:r>
              <a:rPr lang="vi-VN" b="1" dirty="0"/>
              <a:t>Sequential consistency</a:t>
            </a:r>
            <a:endParaRPr lang="vi-VN" dirty="0"/>
          </a:p>
          <a:p>
            <a:pPr>
              <a:buFont typeface="Arial" panose="020B0604020202020204" pitchFamily="34" charset="0"/>
              <a:buChar char="•"/>
            </a:pPr>
            <a:r>
              <a:rPr lang="vi-VN" b="1" dirty="0"/>
              <a:t>Causal consistency</a:t>
            </a:r>
            <a:endParaRPr lang="vi-VN" dirty="0"/>
          </a:p>
          <a:p>
            <a:pPr>
              <a:buFont typeface="Arial" panose="020B0604020202020204" pitchFamily="34" charset="0"/>
              <a:buChar char="•"/>
            </a:pPr>
            <a:r>
              <a:rPr lang="vi-VN" b="1" dirty="0"/>
              <a:t>Eventual consistency</a:t>
            </a:r>
            <a:endParaRPr lang="vi-VN" dirty="0"/>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7</a:t>
            </a:fld>
            <a:endParaRPr lang="en-US"/>
          </a:p>
        </p:txBody>
      </p:sp>
    </p:spTree>
    <p:extLst>
      <p:ext uri="{BB962C8B-B14F-4D97-AF65-F5344CB8AC3E}">
        <p14:creationId xmlns:p14="http://schemas.microsoft.com/office/powerpoint/2010/main" val="1401277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Sequential Consistency (Nhất quán tuần tự)</a:t>
            </a:r>
          </a:p>
          <a:p>
            <a:endParaRPr lang="en-US" b="1" dirty="0"/>
          </a:p>
          <a:p>
            <a:r>
              <a:rPr lang="vi-VN" b="1" dirty="0"/>
              <a:t>1. Definition (định nghĩa trên slide)</a:t>
            </a:r>
          </a:p>
          <a:p>
            <a:r>
              <a:rPr lang="vi-VN" i="1" dirty="0"/>
              <a:t>“The result of any execution is the same as if the operations of all processes were executed in some sequential order, and the operations of each individual process appear in this sequence in the order specified by its program.”</a:t>
            </a:r>
            <a:endParaRPr lang="vi-VN" dirty="0"/>
          </a:p>
          <a:p>
            <a:r>
              <a:rPr lang="vi-VN" dirty="0"/>
              <a:t>Giải thích:</a:t>
            </a:r>
          </a:p>
          <a:p>
            <a:pPr>
              <a:buFont typeface="Arial" panose="020B0604020202020204" pitchFamily="34" charset="0"/>
              <a:buChar char="•"/>
            </a:pPr>
            <a:r>
              <a:rPr lang="vi-VN" dirty="0"/>
              <a:t>Sequential consistency yêu cầu hệ thống phải hành xử như thể </a:t>
            </a:r>
            <a:r>
              <a:rPr lang="vi-VN" b="1" dirty="0"/>
              <a:t>mọi thao tác của tất cả các tiến trình</a:t>
            </a:r>
            <a:r>
              <a:rPr lang="vi-VN" dirty="0"/>
              <a:t> được thực thi trong </a:t>
            </a:r>
            <a:r>
              <a:rPr lang="vi-VN" b="1" dirty="0"/>
              <a:t>một thứ tự tuần tự</a:t>
            </a:r>
            <a:r>
              <a:rPr lang="vi-VN" dirty="0"/>
              <a:t> (sequential order) nào đó.</a:t>
            </a:r>
          </a:p>
          <a:p>
            <a:pPr>
              <a:buFont typeface="Arial" panose="020B0604020202020204" pitchFamily="34" charset="0"/>
              <a:buChar char="•"/>
            </a:pPr>
            <a:r>
              <a:rPr lang="vi-VN" dirty="0"/>
              <a:t>Tuy nhiên, </a:t>
            </a:r>
            <a:r>
              <a:rPr lang="vi-VN" b="1" dirty="0"/>
              <a:t>thứ tự này không cần phản ánh thời gian thực (physical time)</a:t>
            </a:r>
            <a:r>
              <a:rPr lang="vi-VN" dirty="0"/>
              <a:t> — chỉ cần tồn tại </a:t>
            </a:r>
            <a:r>
              <a:rPr lang="vi-VN" i="1" dirty="0"/>
              <a:t>một thứ tự hợp lệ</a:t>
            </a:r>
            <a:r>
              <a:rPr lang="vi-VN" dirty="0"/>
              <a:t>.</a:t>
            </a:r>
          </a:p>
          <a:p>
            <a:pPr>
              <a:buFont typeface="Arial" panose="020B0604020202020204" pitchFamily="34" charset="0"/>
              <a:buChar char="•"/>
            </a:pPr>
            <a:r>
              <a:rPr lang="vi-VN" dirty="0"/>
              <a:t>Quan trọng nhất:</a:t>
            </a:r>
          </a:p>
          <a:p>
            <a:pPr marL="742950" lvl="1" indent="-285750">
              <a:buFont typeface="Arial" panose="020B0604020202020204" pitchFamily="34" charset="0"/>
              <a:buChar char="•"/>
            </a:pPr>
            <a:r>
              <a:rPr lang="vi-VN" dirty="0"/>
              <a:t>Mỗi tiến trình </a:t>
            </a:r>
            <a:r>
              <a:rPr lang="vi-VN" b="1" dirty="0"/>
              <a:t>giữ đúng thứ tự thao tác của chính nó</a:t>
            </a:r>
            <a:r>
              <a:rPr lang="vi-VN" dirty="0"/>
              <a:t> (program order).</a:t>
            </a:r>
          </a:p>
          <a:p>
            <a:pPr marL="742950" lvl="1" indent="-285750">
              <a:buFont typeface="Arial" panose="020B0604020202020204" pitchFamily="34" charset="0"/>
              <a:buChar char="•"/>
            </a:pPr>
            <a:r>
              <a:rPr lang="vi-VN" dirty="0"/>
              <a:t>Các thao tác giữa các tiến trình </a:t>
            </a:r>
            <a:r>
              <a:rPr lang="vi-VN" b="1" dirty="0"/>
              <a:t>có thể xen kẽ</a:t>
            </a:r>
            <a:r>
              <a:rPr lang="vi-VN" dirty="0"/>
              <a:t>, nhưng phải dẫn đến một thứ tự nhất quán.</a:t>
            </a:r>
          </a:p>
          <a:p>
            <a:r>
              <a:rPr lang="en-US" dirty="0"/>
              <a:t>=&gt;</a:t>
            </a:r>
            <a:r>
              <a:rPr lang="vi-VN" dirty="0"/>
              <a:t> Sequential consistency cho phép nhiều thứ tự khác nhau, </a:t>
            </a:r>
            <a:r>
              <a:rPr lang="vi-VN" b="1" dirty="0"/>
              <a:t>chỉ cần hợp lý và không mâu thuẫn</a:t>
            </a:r>
            <a:r>
              <a:rPr lang="vi-VN" dirty="0"/>
              <a:t>.</a:t>
            </a:r>
          </a:p>
          <a:p>
            <a:endParaRPr lang="en-US" b="1" dirty="0"/>
          </a:p>
          <a:p>
            <a:r>
              <a:rPr lang="vi-VN" b="1" dirty="0"/>
              <a:t>2. Hình minh họa trên slide</a:t>
            </a:r>
          </a:p>
          <a:p>
            <a:r>
              <a:rPr lang="vi-VN" dirty="0"/>
              <a:t>Slide đưa ra 2 ví dụ:</a:t>
            </a:r>
          </a:p>
          <a:p>
            <a:r>
              <a:rPr lang="vi-VN" b="1" dirty="0"/>
              <a:t>(a) A sequentially consistent data store (hệ thống đạt sequential consistency)</a:t>
            </a:r>
          </a:p>
          <a:p>
            <a:pPr rtl="0"/>
            <a:r>
              <a:rPr lang="vi-VN" dirty="0"/>
              <a:t>P1: W(x)a → ghi x = a</a:t>
            </a:r>
            <a:endParaRPr lang="en-US" dirty="0"/>
          </a:p>
          <a:p>
            <a:pPr rtl="0"/>
            <a:r>
              <a:rPr lang="vi-VN" dirty="0"/>
              <a:t>P2: W(x)b → ghi x = b</a:t>
            </a:r>
            <a:endParaRPr lang="en-US" dirty="0"/>
          </a:p>
          <a:p>
            <a:pPr rtl="0"/>
            <a:r>
              <a:rPr lang="vi-VN" dirty="0"/>
              <a:t>P3: R(x)b R(x)a</a:t>
            </a:r>
            <a:endParaRPr lang="en-US" dirty="0"/>
          </a:p>
          <a:p>
            <a:pPr rtl="0"/>
            <a:r>
              <a:rPr lang="vi-VN" dirty="0"/>
              <a:t>P4: R(x)b R(x)a </a:t>
            </a:r>
          </a:p>
          <a:p>
            <a:r>
              <a:rPr lang="vi-VN" dirty="0"/>
              <a:t>Diễn giải:</a:t>
            </a:r>
          </a:p>
          <a:p>
            <a:pPr>
              <a:buFont typeface="Arial" panose="020B0604020202020204" pitchFamily="34" charset="0"/>
              <a:buChar char="•"/>
            </a:pPr>
            <a:r>
              <a:rPr lang="vi-VN" dirty="0"/>
              <a:t>Tiến trình P1 viết a vào x</a:t>
            </a:r>
          </a:p>
          <a:p>
            <a:pPr>
              <a:buFont typeface="Arial" panose="020B0604020202020204" pitchFamily="34" charset="0"/>
              <a:buChar char="•"/>
            </a:pPr>
            <a:r>
              <a:rPr lang="vi-VN" dirty="0"/>
              <a:t>Tiến trình P2 viết b vào x</a:t>
            </a:r>
          </a:p>
          <a:p>
            <a:pPr>
              <a:buFont typeface="Arial" panose="020B0604020202020204" pitchFamily="34" charset="0"/>
              <a:buChar char="•"/>
            </a:pPr>
            <a:r>
              <a:rPr lang="vi-VN" dirty="0"/>
              <a:t>Các tiến trình P3 và P4 đọc lần lượt được b rồi đến a</a:t>
            </a:r>
          </a:p>
          <a:p>
            <a:r>
              <a:rPr lang="vi-VN" dirty="0"/>
              <a:t>Một thứ tự tuần tự hợp lệ là:</a:t>
            </a:r>
          </a:p>
          <a:p>
            <a:pPr rtl="0"/>
            <a:r>
              <a:rPr lang="vi-VN" dirty="0"/>
              <a:t>W(x)b → W(x)a </a:t>
            </a:r>
          </a:p>
          <a:p>
            <a:r>
              <a:rPr lang="vi-VN" dirty="0"/>
              <a:t>Và trong thứ tự đó:</a:t>
            </a:r>
          </a:p>
          <a:p>
            <a:pPr>
              <a:buFont typeface="Arial" panose="020B0604020202020204" pitchFamily="34" charset="0"/>
              <a:buChar char="•"/>
            </a:pPr>
            <a:r>
              <a:rPr lang="vi-VN" dirty="0"/>
              <a:t>Tất cả các thao tác đọc đều nhất quán với thứ tự này</a:t>
            </a:r>
          </a:p>
          <a:p>
            <a:pPr>
              <a:buFont typeface="Arial" panose="020B0604020202020204" pitchFamily="34" charset="0"/>
              <a:buChar char="•"/>
            </a:pPr>
            <a:r>
              <a:rPr lang="vi-VN" dirty="0"/>
              <a:t>P3 và P4 đọc giống nhau theo thứ tự đó</a:t>
            </a:r>
          </a:p>
          <a:p>
            <a:r>
              <a:rPr lang="vi-VN" dirty="0"/>
              <a:t>=&gt; ĐẠT sequential consistency</a:t>
            </a:r>
          </a:p>
          <a:p>
            <a:r>
              <a:rPr lang="vi-VN" b="1" dirty="0"/>
              <a:t>(b) Not sequentially consistent (không đạt sequential consistency)</a:t>
            </a:r>
          </a:p>
          <a:p>
            <a:pPr rtl="0"/>
            <a:r>
              <a:rPr lang="vi-VN" dirty="0"/>
              <a:t>P1: W(x)a</a:t>
            </a:r>
            <a:endParaRPr lang="en-US" dirty="0"/>
          </a:p>
          <a:p>
            <a:pPr rtl="0"/>
            <a:r>
              <a:rPr lang="vi-VN" dirty="0"/>
              <a:t>P2: W(x)b</a:t>
            </a:r>
            <a:endParaRPr lang="en-US" dirty="0"/>
          </a:p>
          <a:p>
            <a:pPr rtl="0"/>
            <a:r>
              <a:rPr lang="vi-VN" dirty="0"/>
              <a:t>P3: R(x)b R(x)a</a:t>
            </a:r>
            <a:endParaRPr lang="en-US" dirty="0"/>
          </a:p>
          <a:p>
            <a:pPr rtl="0"/>
            <a:r>
              <a:rPr lang="vi-VN" dirty="0"/>
              <a:t>P4: R(x)a R(x)b </a:t>
            </a:r>
          </a:p>
          <a:p>
            <a:r>
              <a:rPr lang="vi-VN" dirty="0"/>
              <a:t>Diễn giải:</a:t>
            </a:r>
          </a:p>
          <a:p>
            <a:pPr>
              <a:buFont typeface="Arial" panose="020B0604020202020204" pitchFamily="34" charset="0"/>
              <a:buChar char="•"/>
            </a:pPr>
            <a:r>
              <a:rPr lang="vi-VN" dirty="0"/>
              <a:t>P3 đọc b rồi sau đó đọc a</a:t>
            </a:r>
          </a:p>
          <a:p>
            <a:pPr>
              <a:buFont typeface="Arial" panose="020B0604020202020204" pitchFamily="34" charset="0"/>
              <a:buChar char="•"/>
            </a:pPr>
            <a:r>
              <a:rPr lang="vi-VN" dirty="0"/>
              <a:t>P4 lại đọc a rồi đọc b</a:t>
            </a:r>
          </a:p>
          <a:p>
            <a:r>
              <a:rPr lang="en-US" dirty="0"/>
              <a:t>=&gt;</a:t>
            </a:r>
            <a:r>
              <a:rPr lang="vi-VN" dirty="0"/>
              <a:t> Không thể tồn tại một thứ tự tuần tự nào mà cả P3 và P4 đều hợp lý.</a:t>
            </a:r>
          </a:p>
          <a:p>
            <a:r>
              <a:rPr lang="en-US" dirty="0"/>
              <a:t>=&gt;</a:t>
            </a:r>
            <a:r>
              <a:rPr lang="vi-VN" dirty="0"/>
              <a:t> Thể hiện </a:t>
            </a:r>
            <a:r>
              <a:rPr lang="vi-VN" b="1" dirty="0"/>
              <a:t>xung đột về quan sát kết quả</a:t>
            </a:r>
            <a:r>
              <a:rPr lang="vi-VN" dirty="0"/>
              <a:t>, dẫn đến vi phạm sequential consistency.</a:t>
            </a:r>
          </a:p>
          <a:p>
            <a:r>
              <a:rPr lang="en-US" dirty="0"/>
              <a:t>=&gt; </a:t>
            </a:r>
            <a:r>
              <a:rPr lang="vi-VN" dirty="0"/>
              <a:t>KHÔNG ĐẠT sequential consistency vì các replica thể hiện thứ tự hoạt động khác nhau.</a:t>
            </a:r>
          </a:p>
          <a:p>
            <a:endParaRPr lang="en-US" b="1" dirty="0"/>
          </a:p>
          <a:p>
            <a:r>
              <a:rPr lang="vi-VN" b="1" dirty="0"/>
              <a:t>3. Kết luận</a:t>
            </a:r>
          </a:p>
          <a:p>
            <a:r>
              <a:rPr lang="vi-VN" dirty="0"/>
              <a:t>Thuộc tính</a:t>
            </a:r>
            <a:r>
              <a:rPr lang="en-US" dirty="0"/>
              <a:t>		</a:t>
            </a:r>
            <a:r>
              <a:rPr lang="vi-VN" dirty="0"/>
              <a:t>Sequential Consistency yêu cầu</a:t>
            </a:r>
            <a:endParaRPr lang="en-US" dirty="0"/>
          </a:p>
          <a:p>
            <a:r>
              <a:rPr lang="vi-VN" dirty="0"/>
              <a:t>Thứ tự của mỗi tiến trình</a:t>
            </a:r>
            <a:r>
              <a:rPr lang="en-US" dirty="0"/>
              <a:t>	</a:t>
            </a:r>
            <a:r>
              <a:rPr lang="vi-VN" dirty="0"/>
              <a:t>Phải giữ nguyên</a:t>
            </a:r>
            <a:endParaRPr lang="en-US" dirty="0"/>
          </a:p>
          <a:p>
            <a:r>
              <a:rPr lang="vi-VN" dirty="0"/>
              <a:t>Thứ tự giữa các tiến trình</a:t>
            </a:r>
            <a:r>
              <a:rPr lang="en-US" dirty="0"/>
              <a:t>	</a:t>
            </a:r>
            <a:r>
              <a:rPr lang="vi-VN" dirty="0"/>
              <a:t>Có thể khác nhau, miễn là hợp lý và nhất quán</a:t>
            </a:r>
            <a:endParaRPr lang="en-US" dirty="0"/>
          </a:p>
          <a:p>
            <a:r>
              <a:rPr lang="vi-VN" dirty="0"/>
              <a:t>Đảm bảo physical time?</a:t>
            </a:r>
            <a:r>
              <a:rPr lang="en-US" dirty="0"/>
              <a:t>	</a:t>
            </a:r>
            <a:r>
              <a:rPr lang="vi-VN" dirty="0"/>
              <a:t>Không cần</a:t>
            </a:r>
            <a:endParaRPr lang="en-US" dirty="0"/>
          </a:p>
          <a:p>
            <a:r>
              <a:rPr lang="vi-VN" dirty="0"/>
              <a:t>Đảm bảo thứ tự chung?</a:t>
            </a:r>
            <a:r>
              <a:rPr lang="en-US" dirty="0"/>
              <a:t>	</a:t>
            </a:r>
            <a:r>
              <a:rPr lang="vi-VN" dirty="0"/>
              <a:t>Có thể tồn tại một thứ tự tuần tự hợp lệ</a:t>
            </a:r>
          </a:p>
          <a:p>
            <a:r>
              <a:rPr lang="vi-VN" b="1" dirty="0"/>
              <a:t>Sequential consistency tập trung vào thứ tự logic, không phải thời gian vật lý.</a:t>
            </a:r>
            <a:endParaRPr lang="vi-VN" dirty="0"/>
          </a:p>
          <a:p>
            <a:endParaRPr lang="en-US" b="1" dirty="0"/>
          </a:p>
          <a:p>
            <a:r>
              <a:rPr lang="vi-VN" b="1" dirty="0"/>
              <a:t>Ví dụ thực tế</a:t>
            </a:r>
          </a:p>
          <a:p>
            <a:r>
              <a:rPr lang="vi-VN" dirty="0"/>
              <a:t>Ứng dụng mạng xã hội (comment, reaction):</a:t>
            </a:r>
          </a:p>
          <a:p>
            <a:pPr>
              <a:buFont typeface="Arial" panose="020B0604020202020204" pitchFamily="34" charset="0"/>
              <a:buChar char="•"/>
            </a:pPr>
            <a:r>
              <a:rPr lang="vi-VN" dirty="0"/>
              <a:t>Không yêu cầu mọi người trên toàn thế giới thấy thứ tự like/comment giống nhau tại cùng thời điểm</a:t>
            </a:r>
          </a:p>
          <a:p>
            <a:pPr>
              <a:buFont typeface="Arial" panose="020B0604020202020204" pitchFamily="34" charset="0"/>
              <a:buChar char="•"/>
            </a:pPr>
            <a:r>
              <a:rPr lang="vi-VN" dirty="0"/>
              <a:t>Chỉ cần mỗi người dùng thấy sự thay đổi </a:t>
            </a:r>
            <a:r>
              <a:rPr lang="vi-VN" b="1" dirty="0"/>
              <a:t>hợp lý và không mâu thuẫn</a:t>
            </a:r>
            <a:endParaRPr lang="vi-VN" dirty="0"/>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8</a:t>
            </a:fld>
            <a:endParaRPr lang="en-US"/>
          </a:p>
        </p:txBody>
      </p:sp>
    </p:spTree>
    <p:extLst>
      <p:ext uri="{BB962C8B-B14F-4D97-AF65-F5344CB8AC3E}">
        <p14:creationId xmlns:p14="http://schemas.microsoft.com/office/powerpoint/2010/main" val="1204608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Example – Sequential consistency</a:t>
            </a:r>
          </a:p>
          <a:p>
            <a:endParaRPr lang="en-US" b="1" dirty="0"/>
          </a:p>
          <a:p>
            <a:r>
              <a:rPr lang="vi-VN" b="1" dirty="0"/>
              <a:t>Bối cảnh của slide</a:t>
            </a:r>
          </a:p>
          <a:p>
            <a:pPr>
              <a:buFont typeface="Arial" panose="020B0604020202020204" pitchFamily="34" charset="0"/>
              <a:buChar char="•"/>
            </a:pPr>
            <a:r>
              <a:rPr lang="vi-VN" dirty="0"/>
              <a:t>Có </a:t>
            </a:r>
            <a:r>
              <a:rPr lang="vi-VN" b="1" dirty="0"/>
              <a:t>3 tiến trình chạy song song</a:t>
            </a:r>
            <a:r>
              <a:rPr lang="vi-VN" dirty="0"/>
              <a:t>, ban đầu các biến x, y, z đều có giá trị </a:t>
            </a:r>
            <a:r>
              <a:rPr lang="vi-VN" b="1" dirty="0"/>
              <a:t>0</a:t>
            </a:r>
            <a:r>
              <a:rPr lang="vi-VN" dirty="0"/>
              <a:t>.</a:t>
            </a:r>
          </a:p>
          <a:p>
            <a:pPr>
              <a:buFont typeface="Arial" panose="020B0604020202020204" pitchFamily="34" charset="0"/>
              <a:buChar char="•"/>
            </a:pPr>
            <a:r>
              <a:rPr lang="vi-VN" dirty="0"/>
              <a:t>Mỗi tiến trình ghi giá trị 1 vào một biến khác nhau, sau đó in (print) ra giá trị hai biến còn lại.</a:t>
            </a:r>
          </a:p>
          <a:p>
            <a:r>
              <a:rPr lang="vi-VN" dirty="0"/>
              <a:t>Process</a:t>
            </a:r>
            <a:r>
              <a:rPr lang="en-US" dirty="0"/>
              <a:t>	</a:t>
            </a:r>
            <a:r>
              <a:rPr lang="vi-VN" dirty="0"/>
              <a:t>Mã lệnh thực thi</a:t>
            </a:r>
            <a:endParaRPr lang="en-US" dirty="0"/>
          </a:p>
          <a:p>
            <a:r>
              <a:rPr lang="vi-VN" b="1" dirty="0"/>
              <a:t>P1</a:t>
            </a:r>
            <a:r>
              <a:rPr lang="en-US" b="1" dirty="0"/>
              <a:t>	</a:t>
            </a:r>
            <a:r>
              <a:rPr lang="vi-VN" dirty="0"/>
              <a:t>x ← 1 ; print(y, z)</a:t>
            </a:r>
            <a:endParaRPr lang="en-US" dirty="0"/>
          </a:p>
          <a:p>
            <a:r>
              <a:rPr lang="vi-VN" b="1" dirty="0"/>
              <a:t>P2</a:t>
            </a:r>
            <a:r>
              <a:rPr lang="en-US" b="1" dirty="0"/>
              <a:t>	</a:t>
            </a:r>
            <a:r>
              <a:rPr lang="vi-VN" dirty="0"/>
              <a:t>y ← 1 ; print(x, z)</a:t>
            </a:r>
            <a:endParaRPr lang="en-US" dirty="0"/>
          </a:p>
          <a:p>
            <a:r>
              <a:rPr lang="vi-VN" b="1" dirty="0"/>
              <a:t>P3</a:t>
            </a:r>
            <a:r>
              <a:rPr lang="en-US" b="1" dirty="0"/>
              <a:t>	</a:t>
            </a:r>
            <a:r>
              <a:rPr lang="vi-VN" dirty="0"/>
              <a:t>z ← 1 ; print(x, y)</a:t>
            </a:r>
          </a:p>
          <a:p>
            <a:r>
              <a:rPr lang="en-US" dirty="0"/>
              <a:t>=&gt;</a:t>
            </a:r>
            <a:r>
              <a:rPr lang="vi-VN" dirty="0"/>
              <a:t> Tất cả cùng chia sẻ bộ nhớ (shared variables x, y, z).</a:t>
            </a:r>
          </a:p>
          <a:p>
            <a:endParaRPr lang="en-US" b="1" dirty="0"/>
          </a:p>
          <a:p>
            <a:r>
              <a:rPr lang="vi-VN" b="1" dirty="0"/>
              <a:t>Mục tiêu của ví dụ</a:t>
            </a:r>
          </a:p>
          <a:p>
            <a:r>
              <a:rPr lang="vi-VN" dirty="0"/>
              <a:t>Minh họa rằng:</a:t>
            </a:r>
          </a:p>
          <a:p>
            <a:pPr>
              <a:buFont typeface="Arial" panose="020B0604020202020204" pitchFamily="34" charset="0"/>
              <a:buChar char="•"/>
            </a:pPr>
            <a:r>
              <a:rPr lang="vi-VN" dirty="0"/>
              <a:t>Trong sequential consistency, nhiều </a:t>
            </a:r>
            <a:r>
              <a:rPr lang="vi-VN" b="1" dirty="0"/>
              <a:t>thứ tự xen kẽ của các lệnh</a:t>
            </a:r>
            <a:r>
              <a:rPr lang="vi-VN" dirty="0"/>
              <a:t> giữa các tiến trình là hợp lệ.</a:t>
            </a:r>
          </a:p>
          <a:p>
            <a:pPr>
              <a:buFont typeface="Arial" panose="020B0604020202020204" pitchFamily="34" charset="0"/>
              <a:buChar char="•"/>
            </a:pPr>
            <a:r>
              <a:rPr lang="vi-VN" dirty="0"/>
              <a:t>Nhưng </a:t>
            </a:r>
            <a:r>
              <a:rPr lang="vi-VN" b="1" dirty="0"/>
              <a:t>mỗi execution phải tuân theo thứ tự lệnh bên trong mỗi process</a:t>
            </a:r>
            <a:r>
              <a:rPr lang="vi-VN" dirty="0"/>
              <a:t>.</a:t>
            </a:r>
          </a:p>
          <a:p>
            <a:endParaRPr lang="en-US" b="1" dirty="0"/>
          </a:p>
          <a:p>
            <a:r>
              <a:rPr lang="en-US" b="1" dirty="0"/>
              <a:t>- </a:t>
            </a:r>
            <a:r>
              <a:rPr lang="vi-VN" b="1" dirty="0"/>
              <a:t>Đọc hiểu signature và output</a:t>
            </a:r>
          </a:p>
          <a:p>
            <a:r>
              <a:rPr lang="en-US" b="1" dirty="0"/>
              <a:t>	+ </a:t>
            </a:r>
            <a:r>
              <a:rPr lang="vi-VN" b="1" dirty="0"/>
              <a:t>Ký hiệu "prints 001011", "signature 001011"</a:t>
            </a:r>
          </a:p>
          <a:p>
            <a:pPr lvl="3">
              <a:buFont typeface="Arial" panose="020B0604020202020204" pitchFamily="34" charset="0"/>
              <a:buChar char="•"/>
            </a:pPr>
            <a:r>
              <a:rPr lang="vi-VN" dirty="0"/>
              <a:t>Mỗi tiến trình có một </a:t>
            </a:r>
            <a:r>
              <a:rPr lang="vi-VN" b="1" dirty="0"/>
              <a:t>print()</a:t>
            </a:r>
            <a:endParaRPr lang="vi-VN" dirty="0"/>
          </a:p>
          <a:p>
            <a:pPr lvl="3">
              <a:buFont typeface="Arial" panose="020B0604020202020204" pitchFamily="34" charset="0"/>
              <a:buChar char="•"/>
            </a:pPr>
            <a:r>
              <a:rPr lang="vi-VN" dirty="0"/>
              <a:t>Kết quả in ra là chuỗi các bit 0/1 theo thứ tự thực hiện print của P1, P2, P3</a:t>
            </a:r>
          </a:p>
          <a:p>
            <a:pPr lvl="3">
              <a:buFont typeface="Arial" panose="020B0604020202020204" pitchFamily="34" charset="0"/>
              <a:buChar char="•"/>
            </a:pPr>
            <a:r>
              <a:rPr lang="vi-VN" dirty="0"/>
              <a:t>Mỗi print output gồm 2 bit (vì print(y,z), print(x,z), print(x,y))</a:t>
            </a:r>
          </a:p>
          <a:p>
            <a:r>
              <a:rPr lang="en-US" dirty="0"/>
              <a:t>	=&gt; </a:t>
            </a:r>
            <a:r>
              <a:rPr lang="vi-VN" dirty="0"/>
              <a:t>Signature = [ output P1 | output P2 | output P3 ]</a:t>
            </a:r>
            <a:br>
              <a:rPr lang="vi-VN" dirty="0"/>
            </a:br>
            <a:r>
              <a:rPr lang="en-US" dirty="0"/>
              <a:t>	</a:t>
            </a:r>
            <a:r>
              <a:rPr lang="vi-VN" dirty="0"/>
              <a:t>(tức là nối chuỗi kết quả print của từng tiến trình)</a:t>
            </a:r>
          </a:p>
          <a:p>
            <a:endParaRPr lang="en-US" b="1" dirty="0"/>
          </a:p>
          <a:p>
            <a:pPr marL="171450" indent="-171450">
              <a:buFontTx/>
              <a:buChar char="-"/>
            </a:pPr>
            <a:r>
              <a:rPr lang="vi-VN" b="1" dirty="0"/>
              <a:t>Đi qua từng execution</a:t>
            </a:r>
            <a:endParaRPr lang="en-US" b="1" dirty="0"/>
          </a:p>
          <a:p>
            <a:pPr marL="0" indent="0">
              <a:buFontTx/>
              <a:buNone/>
            </a:pPr>
            <a:r>
              <a:rPr lang="en-US" b="1" dirty="0"/>
              <a:t>+ </a:t>
            </a:r>
            <a:r>
              <a:rPr lang="vi-VN" b="1" dirty="0"/>
              <a:t>Execution 1 (thứ tự xen kẽ 1)</a:t>
            </a:r>
          </a:p>
          <a:p>
            <a:pPr rtl="0"/>
            <a:r>
              <a:rPr lang="en-US" dirty="0"/>
              <a:t>	. </a:t>
            </a:r>
            <a:r>
              <a:rPr lang="vi-VN" dirty="0"/>
              <a:t>P1: x ← 1;</a:t>
            </a:r>
            <a:endParaRPr lang="en-US" dirty="0"/>
          </a:p>
          <a:p>
            <a:pPr rtl="0"/>
            <a:r>
              <a:rPr lang="en-US" dirty="0"/>
              <a:t>	. </a:t>
            </a:r>
            <a:r>
              <a:rPr lang="vi-VN" dirty="0"/>
              <a:t>P1: print(y,z); → (0,0)</a:t>
            </a:r>
            <a:endParaRPr lang="en-US" dirty="0"/>
          </a:p>
          <a:p>
            <a:pPr rtl="0"/>
            <a:r>
              <a:rPr lang="en-US" dirty="0"/>
              <a:t>	. </a:t>
            </a:r>
            <a:r>
              <a:rPr lang="vi-VN" dirty="0"/>
              <a:t>P2: y ← 1;</a:t>
            </a:r>
            <a:endParaRPr lang="en-US" dirty="0"/>
          </a:p>
          <a:p>
            <a:pPr rtl="0"/>
            <a:r>
              <a:rPr lang="en-US" dirty="0"/>
              <a:t>	. </a:t>
            </a:r>
            <a:r>
              <a:rPr lang="vi-VN" dirty="0"/>
              <a:t>P2: print(x,z); → (1,0)</a:t>
            </a:r>
            <a:endParaRPr lang="en-US" dirty="0"/>
          </a:p>
          <a:p>
            <a:pPr rtl="0"/>
            <a:r>
              <a:rPr lang="en-US" dirty="0"/>
              <a:t>	. </a:t>
            </a:r>
            <a:r>
              <a:rPr lang="vi-VN" dirty="0"/>
              <a:t>P3: z ← 1;</a:t>
            </a:r>
            <a:endParaRPr lang="en-US" dirty="0"/>
          </a:p>
          <a:p>
            <a:pPr rtl="0"/>
            <a:r>
              <a:rPr lang="en-US" dirty="0"/>
              <a:t>	. </a:t>
            </a:r>
            <a:r>
              <a:rPr lang="vi-VN" dirty="0"/>
              <a:t>P3: print(x,y); → (1,1) </a:t>
            </a:r>
          </a:p>
          <a:p>
            <a:r>
              <a:rPr lang="en-US" dirty="0"/>
              <a:t>	=&gt; </a:t>
            </a:r>
            <a:r>
              <a:rPr lang="vi-VN" dirty="0"/>
              <a:t>Prints: </a:t>
            </a:r>
            <a:r>
              <a:rPr lang="vi-VN" b="1" dirty="0"/>
              <a:t>00 10 11</a:t>
            </a:r>
            <a:br>
              <a:rPr lang="vi-VN" dirty="0"/>
            </a:br>
            <a:r>
              <a:rPr lang="en-US" dirty="0"/>
              <a:t>	=&gt; </a:t>
            </a:r>
            <a:r>
              <a:rPr lang="vi-VN" dirty="0"/>
              <a:t>Signature: </a:t>
            </a:r>
            <a:r>
              <a:rPr lang="vi-VN" b="1" dirty="0"/>
              <a:t>001011</a:t>
            </a:r>
            <a:endParaRPr lang="vi-VN" dirty="0"/>
          </a:p>
          <a:p>
            <a:r>
              <a:rPr lang="en-US" dirty="0"/>
              <a:t>	. </a:t>
            </a:r>
            <a:r>
              <a:rPr lang="vi-VN" dirty="0"/>
              <a:t>Hợp lệ theo sequential consistency vì:</a:t>
            </a:r>
          </a:p>
          <a:p>
            <a:pPr lvl="3">
              <a:buFont typeface="Arial" panose="020B0604020202020204" pitchFamily="34" charset="0"/>
              <a:buChar char="•"/>
            </a:pPr>
            <a:r>
              <a:rPr lang="vi-VN" dirty="0"/>
              <a:t>mỗi tiến trình giữ đúng thứ tự của nó</a:t>
            </a:r>
          </a:p>
          <a:p>
            <a:pPr lvl="3">
              <a:buFont typeface="Arial" panose="020B0604020202020204" pitchFamily="34" charset="0"/>
              <a:buChar char="•"/>
            </a:pPr>
            <a:r>
              <a:rPr lang="vi-VN" dirty="0"/>
              <a:t>có thể sắp xếp execution theo một thứ tự tuần tự phù hợp</a:t>
            </a:r>
          </a:p>
          <a:p>
            <a:r>
              <a:rPr lang="en-US" b="1" dirty="0"/>
              <a:t>+ </a:t>
            </a:r>
            <a:r>
              <a:rPr lang="vi-VN" b="1" dirty="0"/>
              <a:t>Execution 2</a:t>
            </a:r>
          </a:p>
          <a:p>
            <a:pPr rtl="0"/>
            <a:r>
              <a:rPr lang="en-US" dirty="0"/>
              <a:t>	</a:t>
            </a:r>
            <a:r>
              <a:rPr lang="vi-VN" dirty="0"/>
              <a:t>P1: x ← 1;</a:t>
            </a:r>
            <a:endParaRPr lang="en-US" dirty="0"/>
          </a:p>
          <a:p>
            <a:pPr rtl="0"/>
            <a:r>
              <a:rPr lang="en-US" dirty="0"/>
              <a:t>	</a:t>
            </a:r>
            <a:r>
              <a:rPr lang="vi-VN" dirty="0"/>
              <a:t>P2: y ← 1;</a:t>
            </a:r>
            <a:endParaRPr lang="en-US" dirty="0"/>
          </a:p>
          <a:p>
            <a:pPr rtl="0"/>
            <a:r>
              <a:rPr lang="en-US" dirty="0"/>
              <a:t>	</a:t>
            </a:r>
            <a:r>
              <a:rPr lang="vi-VN" dirty="0"/>
              <a:t>P2: print(x,z); → (1,0)</a:t>
            </a:r>
            <a:endParaRPr lang="en-US" dirty="0"/>
          </a:p>
          <a:p>
            <a:pPr rtl="0"/>
            <a:r>
              <a:rPr lang="en-US" dirty="0"/>
              <a:t>	</a:t>
            </a:r>
            <a:r>
              <a:rPr lang="vi-VN" dirty="0"/>
              <a:t>P1: print(y,z); → (1,0)</a:t>
            </a:r>
            <a:endParaRPr lang="en-US" dirty="0"/>
          </a:p>
          <a:p>
            <a:pPr rtl="0"/>
            <a:r>
              <a:rPr lang="en-US" dirty="0"/>
              <a:t>	</a:t>
            </a:r>
            <a:r>
              <a:rPr lang="vi-VN" dirty="0"/>
              <a:t>P3: z ← 1;</a:t>
            </a:r>
            <a:endParaRPr lang="en-US" dirty="0"/>
          </a:p>
          <a:p>
            <a:pPr rtl="0"/>
            <a:r>
              <a:rPr lang="en-US" dirty="0"/>
              <a:t>	</a:t>
            </a:r>
            <a:r>
              <a:rPr lang="vi-VN" dirty="0"/>
              <a:t>P3: print(x,y); → (1,1) </a:t>
            </a:r>
          </a:p>
          <a:p>
            <a:r>
              <a:rPr lang="en-US" dirty="0"/>
              <a:t>	=&gt; </a:t>
            </a:r>
            <a:r>
              <a:rPr lang="vi-VN" dirty="0"/>
              <a:t>Prints: </a:t>
            </a:r>
            <a:r>
              <a:rPr lang="vi-VN" b="1" dirty="0"/>
              <a:t>10 10 11</a:t>
            </a:r>
            <a:br>
              <a:rPr lang="vi-VN" dirty="0"/>
            </a:br>
            <a:r>
              <a:rPr lang="en-US" dirty="0"/>
              <a:t>	=&gt;</a:t>
            </a:r>
            <a:r>
              <a:rPr lang="vi-VN" dirty="0"/>
              <a:t> Signature: </a:t>
            </a:r>
            <a:r>
              <a:rPr lang="vi-VN" b="1" dirty="0"/>
              <a:t>101011</a:t>
            </a:r>
            <a:endParaRPr lang="vi-VN" dirty="0"/>
          </a:p>
          <a:p>
            <a:r>
              <a:rPr lang="en-US" dirty="0"/>
              <a:t>	. </a:t>
            </a:r>
            <a:r>
              <a:rPr lang="vi-VN" dirty="0"/>
              <a:t>Vẫn sequentially consistent</a:t>
            </a:r>
            <a:r>
              <a:rPr lang="en-US" dirty="0"/>
              <a:t> =&gt; </a:t>
            </a:r>
            <a:r>
              <a:rPr lang="vi-VN" dirty="0"/>
              <a:t>vì ta có thể đặt thứ tự tuần tự như:</a:t>
            </a:r>
            <a:r>
              <a:rPr lang="en-US" dirty="0"/>
              <a:t> </a:t>
            </a:r>
            <a:r>
              <a:rPr lang="vi-VN" dirty="0"/>
              <a:t>x ← 1 → y ← 1 → print(x,z) → print(y,z) → z ← 1 → print(x,y)</a:t>
            </a:r>
          </a:p>
          <a:p>
            <a:r>
              <a:rPr lang="en-US" b="1" dirty="0"/>
              <a:t>+ </a:t>
            </a:r>
            <a:r>
              <a:rPr lang="vi-VN" b="1" dirty="0"/>
              <a:t>Execution 3</a:t>
            </a:r>
          </a:p>
          <a:p>
            <a:pPr rtl="0"/>
            <a:r>
              <a:rPr lang="en-US" dirty="0"/>
              <a:t>	</a:t>
            </a:r>
            <a:r>
              <a:rPr lang="vi-VN" dirty="0"/>
              <a:t>P2: y ← 1;</a:t>
            </a:r>
            <a:endParaRPr lang="en-US" dirty="0"/>
          </a:p>
          <a:p>
            <a:pPr rtl="0"/>
            <a:r>
              <a:rPr lang="en-US" dirty="0"/>
              <a:t>	</a:t>
            </a:r>
            <a:r>
              <a:rPr lang="vi-VN" dirty="0"/>
              <a:t>P3: z ← 1;</a:t>
            </a:r>
            <a:endParaRPr lang="en-US" dirty="0"/>
          </a:p>
          <a:p>
            <a:pPr rtl="0"/>
            <a:r>
              <a:rPr lang="en-US" dirty="0"/>
              <a:t>	</a:t>
            </a:r>
            <a:r>
              <a:rPr lang="vi-VN" dirty="0"/>
              <a:t>P3: print(x,y); → (0,1)</a:t>
            </a:r>
            <a:endParaRPr lang="en-US" dirty="0"/>
          </a:p>
          <a:p>
            <a:pPr rtl="0"/>
            <a:r>
              <a:rPr lang="en-US" dirty="0"/>
              <a:t>	</a:t>
            </a:r>
            <a:r>
              <a:rPr lang="vi-VN" dirty="0"/>
              <a:t>P1: x ← 1; </a:t>
            </a:r>
            <a:endParaRPr lang="en-US" dirty="0"/>
          </a:p>
          <a:p>
            <a:pPr rtl="0"/>
            <a:r>
              <a:rPr lang="en-US" dirty="0"/>
              <a:t>	</a:t>
            </a:r>
            <a:r>
              <a:rPr lang="vi-VN" dirty="0"/>
              <a:t>P1: print(y,z); → (1,1)</a:t>
            </a:r>
            <a:endParaRPr lang="en-US" dirty="0"/>
          </a:p>
          <a:p>
            <a:pPr rtl="0"/>
            <a:r>
              <a:rPr lang="en-US" dirty="0"/>
              <a:t>	</a:t>
            </a:r>
            <a:r>
              <a:rPr lang="vi-VN" dirty="0"/>
              <a:t>P2: print(x,z); → (1,1) </a:t>
            </a:r>
          </a:p>
          <a:p>
            <a:r>
              <a:rPr lang="en-US" dirty="0"/>
              <a:t>	=&gt; </a:t>
            </a:r>
            <a:r>
              <a:rPr lang="vi-VN" dirty="0"/>
              <a:t>Prints: </a:t>
            </a:r>
            <a:r>
              <a:rPr lang="vi-VN" b="1" dirty="0"/>
              <a:t>01 11 11</a:t>
            </a:r>
            <a:br>
              <a:rPr lang="vi-VN" dirty="0"/>
            </a:br>
            <a:r>
              <a:rPr lang="en-US" dirty="0"/>
              <a:t>	=&gt; </a:t>
            </a:r>
            <a:r>
              <a:rPr lang="vi-VN" dirty="0"/>
              <a:t>Signature: </a:t>
            </a:r>
            <a:r>
              <a:rPr lang="vi-VN" b="1" dirty="0"/>
              <a:t>110101</a:t>
            </a:r>
            <a:endParaRPr lang="vi-VN" dirty="0"/>
          </a:p>
          <a:p>
            <a:r>
              <a:rPr lang="en-US" dirty="0"/>
              <a:t>	. </a:t>
            </a:r>
            <a:r>
              <a:rPr lang="vi-VN" dirty="0"/>
              <a:t>Vẫn sequentially consistent.</a:t>
            </a:r>
          </a:p>
          <a:p>
            <a:r>
              <a:rPr lang="en-US" b="1" dirty="0"/>
              <a:t>+ </a:t>
            </a:r>
            <a:r>
              <a:rPr lang="vi-VN" b="1" dirty="0"/>
              <a:t>Execution 4</a:t>
            </a:r>
          </a:p>
          <a:p>
            <a:pPr rtl="0"/>
            <a:r>
              <a:rPr lang="en-US" dirty="0"/>
              <a:t>	</a:t>
            </a:r>
            <a:r>
              <a:rPr lang="vi-VN" dirty="0"/>
              <a:t>P2: y ← 1;</a:t>
            </a:r>
            <a:endParaRPr lang="en-US" dirty="0"/>
          </a:p>
          <a:p>
            <a:pPr rtl="0"/>
            <a:r>
              <a:rPr lang="en-US" dirty="0"/>
              <a:t>	</a:t>
            </a:r>
            <a:r>
              <a:rPr lang="vi-VN" dirty="0"/>
              <a:t>P1: x ← 1;</a:t>
            </a:r>
            <a:endParaRPr lang="en-US" dirty="0"/>
          </a:p>
          <a:p>
            <a:pPr rtl="0"/>
            <a:r>
              <a:rPr lang="en-US" dirty="0"/>
              <a:t>	</a:t>
            </a:r>
            <a:r>
              <a:rPr lang="vi-VN" dirty="0"/>
              <a:t>P3: z ← 1;</a:t>
            </a:r>
            <a:endParaRPr lang="en-US" dirty="0"/>
          </a:p>
          <a:p>
            <a:pPr rtl="0"/>
            <a:r>
              <a:rPr lang="en-US" dirty="0"/>
              <a:t>	</a:t>
            </a:r>
            <a:r>
              <a:rPr lang="vi-VN" dirty="0"/>
              <a:t>P2: print(x,z); → (1,1)</a:t>
            </a:r>
            <a:endParaRPr lang="en-US" dirty="0"/>
          </a:p>
          <a:p>
            <a:pPr rtl="0"/>
            <a:r>
              <a:rPr lang="en-US" dirty="0"/>
              <a:t>	</a:t>
            </a:r>
            <a:r>
              <a:rPr lang="vi-VN" dirty="0"/>
              <a:t>P1: print(y,z); → (1,1)</a:t>
            </a:r>
            <a:endParaRPr lang="en-US" dirty="0"/>
          </a:p>
          <a:p>
            <a:pPr rtl="0"/>
            <a:r>
              <a:rPr lang="en-US" dirty="0"/>
              <a:t>	</a:t>
            </a:r>
            <a:r>
              <a:rPr lang="vi-VN" dirty="0"/>
              <a:t>P3: print(x,y); → (1,1) </a:t>
            </a:r>
          </a:p>
          <a:p>
            <a:r>
              <a:rPr lang="en-US" dirty="0"/>
              <a:t>	=&gt;</a:t>
            </a:r>
            <a:r>
              <a:rPr lang="vi-VN" dirty="0"/>
              <a:t> Prints: </a:t>
            </a:r>
            <a:r>
              <a:rPr lang="vi-VN" b="1" dirty="0"/>
              <a:t>11 11 11</a:t>
            </a:r>
            <a:br>
              <a:rPr lang="vi-VN" dirty="0"/>
            </a:br>
            <a:r>
              <a:rPr lang="en-US" dirty="0"/>
              <a:t>	=&gt;</a:t>
            </a:r>
            <a:r>
              <a:rPr lang="vi-VN" dirty="0"/>
              <a:t> Signature: </a:t>
            </a:r>
            <a:r>
              <a:rPr lang="vi-VN" b="1" dirty="0"/>
              <a:t>111111</a:t>
            </a:r>
            <a:endParaRPr lang="vi-VN" dirty="0"/>
          </a:p>
          <a:p>
            <a:r>
              <a:rPr lang="en-US" dirty="0"/>
              <a:t>	. </a:t>
            </a:r>
            <a:r>
              <a:rPr lang="vi-VN" dirty="0"/>
              <a:t>Tất cả print đều đọc giá trị 1 vì tất cả update đã hoàn thành trước print.</a:t>
            </a:r>
          </a:p>
          <a:p>
            <a:endParaRPr lang="en-US" b="1" dirty="0"/>
          </a:p>
          <a:p>
            <a:r>
              <a:rPr lang="vi-VN" b="1" dirty="0"/>
              <a:t>Ý nghĩa quan trọng của ví dụ</a:t>
            </a:r>
          </a:p>
          <a:p>
            <a:r>
              <a:rPr lang="vi-VN" dirty="0"/>
              <a:t>Sequential consistency đảm bảo</a:t>
            </a:r>
            <a:r>
              <a:rPr lang="en-US" dirty="0"/>
              <a:t>		</a:t>
            </a:r>
            <a:r>
              <a:rPr lang="vi-VN" dirty="0"/>
              <a:t>Sequential consistency </a:t>
            </a:r>
            <a:r>
              <a:rPr lang="vi-VN" b="1" dirty="0"/>
              <a:t>không yêu cầu</a:t>
            </a:r>
            <a:endParaRPr lang="en-US" b="1" dirty="0"/>
          </a:p>
          <a:p>
            <a:r>
              <a:rPr lang="vi-VN" dirty="0"/>
              <a:t>Có một thứ tự tuần tự hợp lệ</a:t>
            </a:r>
            <a:r>
              <a:rPr lang="en-US" dirty="0"/>
              <a:t>			</a:t>
            </a:r>
            <a:r>
              <a:rPr lang="vi-VN" dirty="0"/>
              <a:t>Tất cả tiến trình phải thấy thứ tự giống nhau theo </a:t>
            </a:r>
            <a:r>
              <a:rPr lang="vi-VN" i="1" dirty="0"/>
              <a:t>real time</a:t>
            </a:r>
            <a:endParaRPr lang="en-US" i="1" dirty="0"/>
          </a:p>
          <a:p>
            <a:r>
              <a:rPr lang="vi-VN" dirty="0"/>
              <a:t>Mỗi process giữ đúng thứ tự lệnh của chính nó</a:t>
            </a:r>
            <a:r>
              <a:rPr lang="en-US" dirty="0"/>
              <a:t>	</a:t>
            </a:r>
            <a:r>
              <a:rPr lang="vi-VN" dirty="0"/>
              <a:t>Thứ tự giữa các tiến trình phải đúng theo thời gian thực</a:t>
            </a:r>
            <a:endParaRPr lang="en-US" dirty="0"/>
          </a:p>
          <a:p>
            <a:r>
              <a:rPr lang="vi-VN" dirty="0"/>
              <a:t>Hệ thống hành xử như một bộ nhớ chia sẻ</a:t>
            </a:r>
            <a:r>
              <a:rPr lang="en-US" dirty="0"/>
              <a:t>		</a:t>
            </a:r>
            <a:r>
              <a:rPr lang="vi-VN" dirty="0"/>
              <a:t>Không yêu cầu global clock hoặc đồng bộ tuyệt đối</a:t>
            </a:r>
          </a:p>
          <a:p>
            <a:endParaRPr lang="en-US" b="1" dirty="0"/>
          </a:p>
          <a:p>
            <a:r>
              <a:rPr lang="vi-VN" b="1" dirty="0"/>
              <a:t>Sinh viên cần nắm được</a:t>
            </a:r>
          </a:p>
          <a:p>
            <a:pPr>
              <a:buFont typeface="Arial" panose="020B0604020202020204" pitchFamily="34" charset="0"/>
              <a:buChar char="•"/>
            </a:pPr>
            <a:r>
              <a:rPr lang="vi-VN" dirty="0"/>
              <a:t>Sequential consistency cho phép xen kẽ các lệnh giữa các tiến trình </a:t>
            </a:r>
            <a:r>
              <a:rPr lang="vi-VN" b="1" dirty="0"/>
              <a:t>miễn không làm thay đổi thứ tự bên trong từng process</a:t>
            </a:r>
            <a:r>
              <a:rPr lang="vi-VN" dirty="0"/>
              <a:t>.</a:t>
            </a:r>
          </a:p>
          <a:p>
            <a:pPr>
              <a:buFont typeface="Arial" panose="020B0604020202020204" pitchFamily="34" charset="0"/>
              <a:buChar char="•"/>
            </a:pPr>
            <a:r>
              <a:rPr lang="vi-VN" dirty="0"/>
              <a:t>Ví dụ này chứng minh rằng rất nhiều execution khác nhau vẫn có thể hợp lệ.</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10</a:t>
            </a:fld>
            <a:endParaRPr lang="en-US"/>
          </a:p>
        </p:txBody>
      </p:sp>
    </p:spTree>
    <p:extLst>
      <p:ext uri="{BB962C8B-B14F-4D97-AF65-F5344CB8AC3E}">
        <p14:creationId xmlns:p14="http://schemas.microsoft.com/office/powerpoint/2010/main" val="12325919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"How tricky can it get?"</a:t>
            </a:r>
          </a:p>
          <a:p>
            <a:r>
              <a:rPr lang="vi-VN" dirty="0"/>
              <a:t>Slide này muốn làm rõ rằng </a:t>
            </a:r>
            <a:r>
              <a:rPr lang="vi-VN" b="1" dirty="0"/>
              <a:t>Sequential Consistency tưởng dễ… nhưng thực tế lại rất khó đảm bảo</a:t>
            </a:r>
            <a:r>
              <a:rPr lang="vi-VN" dirty="0"/>
              <a:t>, đặc biệt khi có nhiều tiến trình thực hiện </a:t>
            </a:r>
            <a:r>
              <a:rPr lang="vi-VN" b="1" dirty="0"/>
              <a:t>đọc và ghi lẫn nhau vào các biến khác nhau</a:t>
            </a:r>
            <a:r>
              <a:rPr lang="vi-VN" dirty="0"/>
              <a:t>.</a:t>
            </a:r>
          </a:p>
          <a:p>
            <a:endParaRPr lang="en-US" b="1" dirty="0"/>
          </a:p>
          <a:p>
            <a:r>
              <a:rPr lang="en-US" b="1" dirty="0"/>
              <a:t>- </a:t>
            </a:r>
            <a:r>
              <a:rPr lang="vi-VN" b="1" dirty="0"/>
              <a:t>Seemingly okay (nhìn có vẻ đơn giản)</a:t>
            </a:r>
          </a:p>
          <a:p>
            <a:r>
              <a:rPr lang="vi-VN" dirty="0"/>
              <a:t>Ta có hai tiến trình:</a:t>
            </a:r>
          </a:p>
          <a:p>
            <a:r>
              <a:rPr lang="vi-VN" dirty="0"/>
              <a:t>Process</a:t>
            </a:r>
            <a:r>
              <a:rPr lang="en-US" dirty="0"/>
              <a:t>	</a:t>
            </a:r>
            <a:r>
              <a:rPr lang="vi-VN" dirty="0"/>
              <a:t>Operations</a:t>
            </a:r>
            <a:endParaRPr lang="en-US" dirty="0"/>
          </a:p>
          <a:p>
            <a:r>
              <a:rPr lang="vi-VN" b="1" dirty="0"/>
              <a:t>P1</a:t>
            </a:r>
            <a:r>
              <a:rPr lang="en-US" b="1" dirty="0"/>
              <a:t>	</a:t>
            </a:r>
            <a:r>
              <a:rPr lang="vi-VN" dirty="0"/>
              <a:t>W(x)a → W(y)a → R(x)a</a:t>
            </a:r>
            <a:endParaRPr lang="en-US" dirty="0"/>
          </a:p>
          <a:p>
            <a:r>
              <a:rPr lang="vi-VN" b="1" dirty="0"/>
              <a:t>P2</a:t>
            </a:r>
            <a:r>
              <a:rPr lang="en-US" b="1" dirty="0"/>
              <a:t>	</a:t>
            </a:r>
            <a:r>
              <a:rPr lang="vi-VN" dirty="0"/>
              <a:t>W(y)b → W(x)b → R(y)b</a:t>
            </a:r>
          </a:p>
          <a:p>
            <a:r>
              <a:rPr lang="vi-VN" dirty="0"/>
              <a:t>Ý nghĩa:</a:t>
            </a:r>
          </a:p>
          <a:p>
            <a:pPr>
              <a:buFont typeface="Arial" panose="020B0604020202020204" pitchFamily="34" charset="0"/>
              <a:buChar char="•"/>
            </a:pPr>
            <a:r>
              <a:rPr lang="vi-VN" b="1" dirty="0"/>
              <a:t>P1</a:t>
            </a:r>
            <a:r>
              <a:rPr lang="vi-VN" dirty="0"/>
              <a:t> ghi a vào x, rồi ghi a vào y, rồi đọc x.</a:t>
            </a:r>
          </a:p>
          <a:p>
            <a:pPr>
              <a:buFont typeface="Arial" panose="020B0604020202020204" pitchFamily="34" charset="0"/>
              <a:buChar char="•"/>
            </a:pPr>
            <a:r>
              <a:rPr lang="vi-VN" b="1" dirty="0"/>
              <a:t>P2</a:t>
            </a:r>
            <a:r>
              <a:rPr lang="vi-VN" dirty="0"/>
              <a:t> ghi b vào y, rồi ghi b vào x, rồi đọc y.</a:t>
            </a:r>
          </a:p>
          <a:p>
            <a:r>
              <a:rPr lang="vi-VN" dirty="0"/>
              <a:t>Thoạt nhìn, có vẻ như chỉ cần đảm bảo:</a:t>
            </a:r>
          </a:p>
          <a:p>
            <a:pPr>
              <a:buFont typeface="Arial" panose="020B0604020202020204" pitchFamily="34" charset="0"/>
              <a:buChar char="•"/>
            </a:pPr>
            <a:r>
              <a:rPr lang="vi-VN" dirty="0"/>
              <a:t>P1 giữ đúng thứ tự của nó</a:t>
            </a:r>
          </a:p>
          <a:p>
            <a:pPr>
              <a:buFont typeface="Arial" panose="020B0604020202020204" pitchFamily="34" charset="0"/>
              <a:buChar char="•"/>
            </a:pPr>
            <a:r>
              <a:rPr lang="vi-VN" dirty="0"/>
              <a:t>P2 giữ đúng thứ tự của nó</a:t>
            </a:r>
          </a:p>
          <a:p>
            <a:r>
              <a:rPr lang="vi-VN" dirty="0"/>
              <a:t>và xen kẽ giữa P1 và P2 theo một thứ tự nào đó → sẽ đạt sequential consistency.</a:t>
            </a:r>
          </a:p>
          <a:p>
            <a:r>
              <a:rPr lang="en-US" b="1" dirty="0"/>
              <a:t>- </a:t>
            </a:r>
            <a:r>
              <a:rPr lang="vi-VN" b="1" dirty="0"/>
              <a:t>But not really (nhưng thực tế không đơn giản)</a:t>
            </a:r>
          </a:p>
          <a:p>
            <a:r>
              <a:rPr lang="en-US" dirty="0"/>
              <a:t>+ </a:t>
            </a:r>
            <a:r>
              <a:rPr lang="vi-VN" dirty="0"/>
              <a:t>Vấn đề xuất hiện khi ta phải tìm </a:t>
            </a:r>
            <a:r>
              <a:rPr lang="vi-VN" b="1" dirty="0"/>
              <a:t>một thứ tự tuần tự hợp lệ</a:t>
            </a:r>
            <a:r>
              <a:rPr lang="vi-VN" dirty="0"/>
              <a:t> phù hợp với </a:t>
            </a:r>
            <a:r>
              <a:rPr lang="vi-VN" i="1" dirty="0"/>
              <a:t>cả hai tiến trình cùng lúc</a:t>
            </a:r>
            <a:r>
              <a:rPr lang="vi-VN" dirty="0"/>
              <a:t>.</a:t>
            </a:r>
          </a:p>
          <a:p>
            <a:r>
              <a:rPr lang="vi-VN" dirty="0"/>
              <a:t>Bảng dưới trong slide liệt kê nhiều cách </a:t>
            </a:r>
            <a:r>
              <a:rPr lang="vi-VN" b="1" dirty="0"/>
              <a:t>xếp thứ tự các thao tác ghi của P1 và P2</a:t>
            </a:r>
            <a:r>
              <a:rPr lang="vi-VN" dirty="0"/>
              <a:t>, và kết quả đọc tương ứng:</a:t>
            </a:r>
          </a:p>
          <a:p>
            <a:r>
              <a:rPr lang="vi-VN" dirty="0"/>
              <a:t>Ordering of operations (thứ tự ghi)</a:t>
            </a:r>
            <a:r>
              <a:rPr lang="en-US" dirty="0"/>
              <a:t>	</a:t>
            </a:r>
            <a:r>
              <a:rPr lang="vi-VN" dirty="0"/>
              <a:t>Result (kết quả đọc)</a:t>
            </a:r>
            <a:endParaRPr lang="en-US" dirty="0"/>
          </a:p>
          <a:p>
            <a:r>
              <a:rPr lang="vi-VN" dirty="0"/>
              <a:t>W1(x)a ; W1(y)a ; W2(y)b ; W2(x)b</a:t>
            </a:r>
            <a:r>
              <a:rPr lang="en-US" dirty="0"/>
              <a:t>	</a:t>
            </a:r>
            <a:r>
              <a:rPr lang="vi-VN" dirty="0"/>
              <a:t>R1(x)b R2(y)b</a:t>
            </a:r>
            <a:endParaRPr lang="en-US" dirty="0"/>
          </a:p>
          <a:p>
            <a:r>
              <a:rPr lang="vi-VN" dirty="0"/>
              <a:t>W1(x)a ; W2(y)b ; W1(y)a ; W2(x)b</a:t>
            </a:r>
            <a:r>
              <a:rPr lang="en-US" dirty="0"/>
              <a:t>	</a:t>
            </a:r>
            <a:r>
              <a:rPr lang="vi-VN" dirty="0"/>
              <a:t>R1(x)b R2(y)a</a:t>
            </a:r>
            <a:endParaRPr lang="en-US" dirty="0"/>
          </a:p>
          <a:p>
            <a:r>
              <a:rPr lang="vi-VN" dirty="0"/>
              <a:t>W1(x)a ; W2(y)b ; W2(x)b ; W1(y)a</a:t>
            </a:r>
            <a:r>
              <a:rPr lang="en-US" dirty="0"/>
              <a:t>	</a:t>
            </a:r>
            <a:r>
              <a:rPr lang="vi-VN" dirty="0"/>
              <a:t>R1(x)b R2(y)a</a:t>
            </a:r>
            <a:endParaRPr lang="en-US" dirty="0"/>
          </a:p>
          <a:p>
            <a:r>
              <a:rPr lang="vi-VN" dirty="0"/>
              <a:t>W2(y)b ; W1(x)a ; W1(y)a ; W2(x)b</a:t>
            </a:r>
            <a:r>
              <a:rPr lang="en-US" dirty="0"/>
              <a:t>	</a:t>
            </a:r>
            <a:r>
              <a:rPr lang="vi-VN" dirty="0"/>
              <a:t>R1(x)b R2(y)a</a:t>
            </a:r>
            <a:endParaRPr lang="en-US" dirty="0"/>
          </a:p>
          <a:p>
            <a:r>
              <a:rPr lang="vi-VN" dirty="0"/>
              <a:t>W2(y)b ; W1(x)a ; W2(x)b ; W1(y)a</a:t>
            </a:r>
            <a:r>
              <a:rPr lang="en-US" dirty="0"/>
              <a:t>	</a:t>
            </a:r>
            <a:r>
              <a:rPr lang="vi-VN" dirty="0"/>
              <a:t>R1(x)b R2(y)a</a:t>
            </a:r>
            <a:endParaRPr lang="en-US" dirty="0"/>
          </a:p>
          <a:p>
            <a:r>
              <a:rPr lang="vi-VN" dirty="0"/>
              <a:t>W2(y)b ; W2(x)b ; W1(x)a ; W1(y)a</a:t>
            </a:r>
            <a:r>
              <a:rPr lang="en-US" dirty="0"/>
              <a:t>	</a:t>
            </a:r>
            <a:r>
              <a:rPr lang="vi-VN" dirty="0"/>
              <a:t>R1(x)a R2(y)a</a:t>
            </a:r>
          </a:p>
          <a:p>
            <a:r>
              <a:rPr lang="vi-VN" dirty="0"/>
              <a:t>Một số THÔNG ĐIỂM quan trọng:</a:t>
            </a:r>
          </a:p>
          <a:p>
            <a:pPr>
              <a:buFont typeface="Arial" panose="020B0604020202020204" pitchFamily="34" charset="0"/>
              <a:buChar char="•"/>
            </a:pPr>
            <a:r>
              <a:rPr lang="vi-VN" dirty="0"/>
              <a:t>R1(x) phụ thuộc vào thao tác ghi cuối cùng lên x trong thứ tự tuần tự.</a:t>
            </a:r>
          </a:p>
          <a:p>
            <a:pPr>
              <a:buFont typeface="Arial" panose="020B0604020202020204" pitchFamily="34" charset="0"/>
              <a:buChar char="•"/>
            </a:pPr>
            <a:r>
              <a:rPr lang="vi-VN" dirty="0"/>
              <a:t>R2(y) phụ thuộc vào thao tác ghi cuối cùng lên y.</a:t>
            </a:r>
          </a:p>
          <a:p>
            <a:r>
              <a:rPr lang="en-US" dirty="0"/>
              <a:t>=&gt;</a:t>
            </a:r>
            <a:r>
              <a:rPr lang="vi-VN" dirty="0"/>
              <a:t> Một số thứ tự </a:t>
            </a:r>
            <a:r>
              <a:rPr lang="vi-VN" b="1" dirty="0"/>
              <a:t>cho kết quả hợp lý</a:t>
            </a:r>
            <a:r>
              <a:rPr lang="vi-VN" dirty="0"/>
              <a:t>, một số </a:t>
            </a:r>
            <a:r>
              <a:rPr lang="vi-VN" b="1" dirty="0"/>
              <a:t>không hợp lý</a:t>
            </a:r>
            <a:r>
              <a:rPr lang="vi-VN" dirty="0"/>
              <a:t> theo sequential consistency.</a:t>
            </a:r>
          </a:p>
          <a:p>
            <a:endParaRPr lang="en-US" b="1" dirty="0"/>
          </a:p>
          <a:p>
            <a:r>
              <a:rPr lang="en-US" b="1" dirty="0"/>
              <a:t>- </a:t>
            </a:r>
            <a:r>
              <a:rPr lang="vi-VN" b="1" dirty="0"/>
              <a:t>Mấu chốt của slide này</a:t>
            </a:r>
          </a:p>
          <a:p>
            <a:r>
              <a:rPr lang="vi-VN" dirty="0"/>
              <a:t>Sequential consistency yêu cầu rằng:</a:t>
            </a:r>
          </a:p>
          <a:p>
            <a:r>
              <a:rPr lang="vi-VN" b="1" dirty="0"/>
              <a:t>Tồn tại một thứ tự tuần tự của tất cả các thao tác sao cho mỗi tiến trình thấy đúng thứ tự chương trình của chính nó.</a:t>
            </a:r>
            <a:endParaRPr lang="vi-VN" dirty="0"/>
          </a:p>
          <a:p>
            <a:r>
              <a:rPr lang="vi-VN" dirty="0"/>
              <a:t>Nhưng như bảng cho thấy:</a:t>
            </a:r>
          </a:p>
          <a:p>
            <a:pPr>
              <a:buFont typeface="Arial" panose="020B0604020202020204" pitchFamily="34" charset="0"/>
              <a:buChar char="•"/>
            </a:pPr>
            <a:r>
              <a:rPr lang="vi-VN" dirty="0"/>
              <a:t>Có nhiều thứ tự liên quan (permutations)</a:t>
            </a:r>
          </a:p>
          <a:p>
            <a:pPr>
              <a:buFont typeface="Arial" panose="020B0604020202020204" pitchFamily="34" charset="0"/>
              <a:buChar char="•"/>
            </a:pPr>
            <a:r>
              <a:rPr lang="vi-VN" dirty="0"/>
              <a:t>Không phải mọi thứ tự đều làm cho kết quả đọc phù hợp</a:t>
            </a:r>
          </a:p>
          <a:p>
            <a:pPr>
              <a:buFont typeface="Arial" panose="020B0604020202020204" pitchFamily="34" charset="0"/>
              <a:buChar char="•"/>
            </a:pPr>
            <a:r>
              <a:rPr lang="vi-VN" dirty="0"/>
              <a:t>Rất dễ dẫn đến kết quả không nhất quán</a:t>
            </a:r>
          </a:p>
          <a:p>
            <a:endParaRPr lang="en-US" b="1" dirty="0"/>
          </a:p>
          <a:p>
            <a:r>
              <a:rPr lang="vi-VN" b="1" dirty="0"/>
              <a:t>Rút ra bài học</a:t>
            </a:r>
          </a:p>
          <a:p>
            <a:r>
              <a:rPr lang="vi-VN" dirty="0"/>
              <a:t>Điều sinh viên thường nghĩ</a:t>
            </a:r>
            <a:r>
              <a:rPr lang="en-US" dirty="0"/>
              <a:t>			</a:t>
            </a:r>
            <a:r>
              <a:rPr lang="vi-VN" dirty="0"/>
              <a:t>Thực tế</a:t>
            </a:r>
            <a:endParaRPr lang="en-US" dirty="0"/>
          </a:p>
          <a:p>
            <a:r>
              <a:rPr lang="vi-VN" dirty="0"/>
              <a:t>Chỉ cần giữ thứ tự lệnh trong từng tiến trình là đủ</a:t>
            </a:r>
            <a:r>
              <a:rPr lang="en-US" dirty="0"/>
              <a:t>	</a:t>
            </a:r>
            <a:r>
              <a:rPr lang="vi-VN" dirty="0"/>
              <a:t>Chưa đủ — phải đảm bảo cả thứ tự toàn cục phù hợp</a:t>
            </a:r>
            <a:endParaRPr lang="en-US" dirty="0"/>
          </a:p>
          <a:p>
            <a:r>
              <a:rPr lang="vi-VN" dirty="0"/>
              <a:t>Sequential consistency dễ đạt</a:t>
            </a:r>
            <a:r>
              <a:rPr lang="en-US" dirty="0"/>
              <a:t>		</a:t>
            </a:r>
            <a:r>
              <a:rPr lang="vi-VN" dirty="0"/>
              <a:t>Rất khó trên hệ phân tán thực (nhiều phép xen kẽ hợp lệ hoặc không hợp lệ)</a:t>
            </a:r>
            <a:endParaRPr lang="en-US" dirty="0"/>
          </a:p>
          <a:p>
            <a:r>
              <a:rPr lang="vi-VN" dirty="0"/>
              <a:t>Có một thứ tự đúng duy nhấ</a:t>
            </a:r>
            <a:r>
              <a:rPr lang="en-US" dirty="0"/>
              <a:t>t			</a:t>
            </a:r>
            <a:r>
              <a:rPr lang="vi-VN" dirty="0"/>
              <a:t>Nhiều thứ tự khả dĩ</a:t>
            </a:r>
          </a:p>
          <a:p>
            <a:endParaRPr lang="en-US" b="1" dirty="0"/>
          </a:p>
          <a:p>
            <a:r>
              <a:rPr lang="vi-VN" b="1" dirty="0"/>
              <a:t>Ví dụ trực quan</a:t>
            </a:r>
          </a:p>
          <a:p>
            <a:pPr>
              <a:buFont typeface="Arial" panose="020B0604020202020204" pitchFamily="34" charset="0"/>
              <a:buChar char="•"/>
            </a:pPr>
            <a:r>
              <a:rPr lang="vi-VN" dirty="0"/>
              <a:t>P1 ghi a lên x rồi y</a:t>
            </a:r>
          </a:p>
          <a:p>
            <a:pPr>
              <a:buFont typeface="Arial" panose="020B0604020202020204" pitchFamily="34" charset="0"/>
              <a:buChar char="•"/>
            </a:pPr>
            <a:r>
              <a:rPr lang="vi-VN" dirty="0"/>
              <a:t>P2 ghi b lên y rồi x</a:t>
            </a:r>
          </a:p>
          <a:p>
            <a:r>
              <a:rPr lang="en-US" dirty="0"/>
              <a:t>=&gt;</a:t>
            </a:r>
            <a:r>
              <a:rPr lang="vi-VN" dirty="0"/>
              <a:t> Ai ghi cuối cùng lên biến nào sẽ quyết định giá trị đọc được.</a:t>
            </a:r>
          </a:p>
          <a:p>
            <a:r>
              <a:rPr lang="vi-VN" dirty="0"/>
              <a:t>Chỉ cần </a:t>
            </a:r>
            <a:r>
              <a:rPr lang="vi-VN" b="1" dirty="0"/>
              <a:t>hoán đổi thứ tự hai thao tác</a:t>
            </a:r>
            <a:r>
              <a:rPr lang="vi-VN" dirty="0"/>
              <a:t>, kết quả đọc đã khác.</a:t>
            </a:r>
          </a:p>
          <a:p>
            <a:endParaRPr lang="en-US" b="1" dirty="0"/>
          </a:p>
          <a:p>
            <a:r>
              <a:rPr lang="vi-VN" b="1" dirty="0"/>
              <a:t>Kết luận slide</a:t>
            </a:r>
          </a:p>
          <a:p>
            <a:r>
              <a:rPr lang="vi-VN" b="1" dirty="0"/>
              <a:t>Sequential consistency không phải là yêu cầu “ghi theo thứ tự”, mà là “phải tồn tại một thứ tự hợp lệ duy nhất mà tất cả tiến trình có thể giải thích được.”</a:t>
            </a:r>
            <a:endParaRPr lang="vi-VN" dirty="0"/>
          </a:p>
          <a:p>
            <a:r>
              <a:rPr lang="vi-VN" dirty="0"/>
              <a:t>Do đó:</a:t>
            </a:r>
          </a:p>
          <a:p>
            <a:pPr>
              <a:buFont typeface="Arial" panose="020B0604020202020204" pitchFamily="34" charset="0"/>
              <a:buChar char="•"/>
            </a:pPr>
            <a:r>
              <a:rPr lang="vi-VN" dirty="0"/>
              <a:t>Sequential consistency khó đạt trong hệ phân tán thực tế</a:t>
            </a:r>
          </a:p>
          <a:p>
            <a:pPr>
              <a:buFont typeface="Arial" panose="020B0604020202020204" pitchFamily="34" charset="0"/>
              <a:buChar char="•"/>
            </a:pPr>
            <a:r>
              <a:rPr lang="vi-VN" dirty="0"/>
              <a:t>Cần các cơ chế phức tạp để kiểm soát thứ tự thao tác (ví dụ: synchronization, barriers, logical clocks)</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12</a:t>
            </a:fld>
            <a:endParaRPr lang="en-US"/>
          </a:p>
        </p:txBody>
      </p:sp>
    </p:spTree>
    <p:extLst>
      <p:ext uri="{BB962C8B-B14F-4D97-AF65-F5344CB8AC3E}">
        <p14:creationId xmlns:p14="http://schemas.microsoft.com/office/powerpoint/2010/main" val="4127643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Linearizability (tính tuyến tính)</a:t>
            </a:r>
          </a:p>
          <a:p>
            <a:r>
              <a:rPr lang="vi-VN" b="1" dirty="0"/>
              <a:t>1. Linearizability là gì?</a:t>
            </a:r>
          </a:p>
          <a:p>
            <a:r>
              <a:rPr lang="vi-VN" dirty="0"/>
              <a:t>Slide đưa định nghĩa:</a:t>
            </a:r>
          </a:p>
          <a:p>
            <a:r>
              <a:rPr lang="vi-VN" b="1" dirty="0"/>
              <a:t>Each operation should appear to take effect instantaneously at some moment between its start and completion.</a:t>
            </a:r>
            <a:endParaRPr lang="vi-VN" dirty="0"/>
          </a:p>
          <a:p>
            <a:r>
              <a:rPr lang="vi-VN" dirty="0"/>
              <a:t>Diễn giải:</a:t>
            </a:r>
          </a:p>
          <a:p>
            <a:pPr>
              <a:buFont typeface="Arial" panose="020B0604020202020204" pitchFamily="34" charset="0"/>
              <a:buChar char="•"/>
            </a:pPr>
            <a:r>
              <a:rPr lang="vi-VN" dirty="0"/>
              <a:t>Linearizability yêu cầu rằng </a:t>
            </a:r>
            <a:r>
              <a:rPr lang="vi-VN" b="1" dirty="0"/>
              <a:t>mỗi thao tác đọc/ghi phải có một “thời điểm hiệu lực” duy nhất</a:t>
            </a:r>
            <a:r>
              <a:rPr lang="vi-VN" dirty="0"/>
              <a:t> nằm </a:t>
            </a:r>
            <a:r>
              <a:rPr lang="vi-VN" i="1" dirty="0"/>
              <a:t>giữa thời điểm bắt đầu và kết thúc của thao tác đó</a:t>
            </a:r>
            <a:r>
              <a:rPr lang="vi-VN" dirty="0"/>
              <a:t>.</a:t>
            </a:r>
          </a:p>
          <a:p>
            <a:pPr>
              <a:buFont typeface="Arial" panose="020B0604020202020204" pitchFamily="34" charset="0"/>
              <a:buChar char="•"/>
            </a:pPr>
            <a:r>
              <a:rPr lang="vi-VN" dirty="0"/>
              <a:t>Nghĩa là, kết quả của hệ thống phải </a:t>
            </a:r>
            <a:r>
              <a:rPr lang="vi-VN" b="1" dirty="0"/>
              <a:t>tôn trọng thời gian thực (real-time ordering)</a:t>
            </a:r>
            <a:r>
              <a:rPr lang="vi-VN" dirty="0"/>
              <a:t>.</a:t>
            </a:r>
          </a:p>
          <a:p>
            <a:r>
              <a:rPr lang="en-US" dirty="0"/>
              <a:t>=&gt;</a:t>
            </a:r>
            <a:r>
              <a:rPr lang="vi-VN" dirty="0"/>
              <a:t> Không chỉ đảm bảo thứ tự logic (như Sequential Consistency), mà còn phải đảm bảo thứ tự theo dòng thời gian thực tế.</a:t>
            </a:r>
          </a:p>
          <a:p>
            <a:r>
              <a:rPr lang="vi-VN" b="1" dirty="0"/>
              <a:t>Khác nhau giữa </a:t>
            </a:r>
            <a:r>
              <a:rPr lang="vi-VN" b="1" i="1" dirty="0"/>
              <a:t>Sequential Consistency</a:t>
            </a:r>
            <a:r>
              <a:rPr lang="vi-VN" b="1" dirty="0"/>
              <a:t> và </a:t>
            </a:r>
            <a:r>
              <a:rPr lang="vi-VN" b="1" i="1" dirty="0"/>
              <a:t>Linearizability</a:t>
            </a:r>
            <a:endParaRPr lang="vi-VN" b="1" dirty="0"/>
          </a:p>
          <a:p>
            <a:r>
              <a:rPr lang="vi-VN" dirty="0"/>
              <a:t>Sequential Consistency</a:t>
            </a:r>
            <a:r>
              <a:rPr lang="en-US" dirty="0"/>
              <a:t>		</a:t>
            </a:r>
            <a:r>
              <a:rPr lang="vi-VN" dirty="0"/>
              <a:t>Linearizability</a:t>
            </a:r>
            <a:endParaRPr lang="en-US" dirty="0"/>
          </a:p>
          <a:p>
            <a:r>
              <a:rPr lang="vi-VN" dirty="0"/>
              <a:t>Không quan tâm đến thời gian thực</a:t>
            </a:r>
            <a:r>
              <a:rPr lang="en-US" dirty="0"/>
              <a:t>	</a:t>
            </a:r>
            <a:r>
              <a:rPr lang="vi-VN" dirty="0"/>
              <a:t>Quan tâm đến thời gian thực</a:t>
            </a:r>
            <a:endParaRPr lang="en-US" dirty="0"/>
          </a:p>
          <a:p>
            <a:r>
              <a:rPr lang="vi-VN" dirty="0"/>
              <a:t>Chỉ cần tồn tại 1 thứ tự tuần tự hợp lệ</a:t>
            </a:r>
            <a:r>
              <a:rPr lang="en-US" dirty="0"/>
              <a:t>	</a:t>
            </a:r>
            <a:r>
              <a:rPr lang="vi-VN" dirty="0"/>
              <a:t>Thứ tự phải tương ứng với thời điểm thực hiện</a:t>
            </a:r>
            <a:endParaRPr lang="en-US" dirty="0"/>
          </a:p>
          <a:p>
            <a:r>
              <a:rPr lang="vi-VN" dirty="0"/>
              <a:t>Logic ordering</a:t>
            </a:r>
            <a:r>
              <a:rPr lang="en-US" dirty="0"/>
              <a:t>			</a:t>
            </a:r>
            <a:r>
              <a:rPr lang="vi-VN" dirty="0"/>
              <a:t>Real-time ordering</a:t>
            </a:r>
          </a:p>
          <a:p>
            <a:r>
              <a:rPr lang="en-US" dirty="0"/>
              <a:t>=&gt; </a:t>
            </a:r>
            <a:r>
              <a:rPr lang="vi-VN" dirty="0"/>
              <a:t>Linearizability mạnh hơn Sequential Consistency</a:t>
            </a:r>
            <a:br>
              <a:rPr lang="vi-VN" dirty="0"/>
            </a:br>
            <a:r>
              <a:rPr lang="en-US" dirty="0"/>
              <a:t>=&gt;</a:t>
            </a:r>
            <a:r>
              <a:rPr lang="vi-VN" dirty="0"/>
              <a:t> Mọi hệ thống </a:t>
            </a:r>
            <a:r>
              <a:rPr lang="vi-VN" b="1" dirty="0"/>
              <a:t>Linearizable</a:t>
            </a:r>
            <a:r>
              <a:rPr lang="vi-VN" dirty="0"/>
              <a:t> đều Sequential consistent, nhưng ngược lại thì </a:t>
            </a:r>
            <a:r>
              <a:rPr lang="vi-VN" b="1" dirty="0"/>
              <a:t>không đúng</a:t>
            </a:r>
            <a:r>
              <a:rPr lang="vi-VN" dirty="0"/>
              <a:t>.</a:t>
            </a:r>
          </a:p>
          <a:p>
            <a:endParaRPr lang="en-US" b="1" dirty="0"/>
          </a:p>
          <a:p>
            <a:r>
              <a:rPr lang="vi-VN" b="1" dirty="0"/>
              <a:t>2. Ý nghĩa vùng màu xám trong slide</a:t>
            </a:r>
          </a:p>
          <a:p>
            <a:r>
              <a:rPr lang="vi-VN" i="1" dirty="0"/>
              <a:t>"Operations complete within a given time (shaded area)"</a:t>
            </a:r>
            <a:endParaRPr lang="vi-VN" dirty="0"/>
          </a:p>
          <a:p>
            <a:r>
              <a:rPr lang="vi-VN" dirty="0"/>
              <a:t>Hai thao tác W(x)a, W(y)a của </a:t>
            </a:r>
            <a:r>
              <a:rPr lang="vi-VN" b="1" dirty="0"/>
              <a:t>P1</a:t>
            </a:r>
            <a:r>
              <a:rPr lang="vi-VN" dirty="0"/>
              <a:t> và W(y)b, W(x)b của </a:t>
            </a:r>
            <a:r>
              <a:rPr lang="vi-VN" b="1" dirty="0"/>
              <a:t>P2</a:t>
            </a:r>
            <a:r>
              <a:rPr lang="vi-VN" dirty="0"/>
              <a:t> diễn ra trong khoảng thời gian được bôi xám — nghĩa là, </a:t>
            </a:r>
            <a:r>
              <a:rPr lang="vi-VN" b="1" dirty="0"/>
              <a:t>chúng xảy ra gần như đồng thời trong thời gian thực</a:t>
            </a:r>
            <a:r>
              <a:rPr lang="vi-VN" dirty="0"/>
              <a:t>.</a:t>
            </a:r>
          </a:p>
          <a:p>
            <a:pPr rtl="0"/>
            <a:r>
              <a:rPr lang="vi-VN" dirty="0"/>
              <a:t>P1: [ W(x)a ] [ W(y)a ] R(x)b</a:t>
            </a:r>
            <a:endParaRPr lang="en-US" dirty="0"/>
          </a:p>
          <a:p>
            <a:pPr rtl="0"/>
            <a:r>
              <a:rPr lang="vi-VN" dirty="0"/>
              <a:t>P2: [ W(y)b ] [ W(x)b ] R(y)a </a:t>
            </a:r>
          </a:p>
          <a:p>
            <a:pPr>
              <a:buFont typeface="Arial" panose="020B0604020202020204" pitchFamily="34" charset="0"/>
              <a:buChar char="•"/>
            </a:pPr>
            <a:r>
              <a:rPr lang="vi-VN" dirty="0"/>
              <a:t>Các thao tác viết (writes) chồng lấp nhau theo thời gian </a:t>
            </a:r>
            <a:r>
              <a:rPr lang="en-US" dirty="0"/>
              <a:t>=&gt;</a:t>
            </a:r>
            <a:r>
              <a:rPr lang="vi-VN" dirty="0"/>
              <a:t> điều này tác động lên cách xác định thứ tự hợp lệ.</a:t>
            </a:r>
          </a:p>
          <a:p>
            <a:r>
              <a:rPr lang="vi-VN" dirty="0"/>
              <a:t>Linearizability yêu cầu:</a:t>
            </a:r>
          </a:p>
          <a:p>
            <a:r>
              <a:rPr lang="en-US" dirty="0"/>
              <a:t>=&gt;</a:t>
            </a:r>
            <a:r>
              <a:rPr lang="vi-VN" dirty="0"/>
              <a:t> Thứ tự global ordering phải </a:t>
            </a:r>
            <a:r>
              <a:rPr lang="vi-VN" b="1" dirty="0"/>
              <a:t>tôn trọng thời gian thực</a:t>
            </a:r>
            <a:r>
              <a:rPr lang="vi-VN" dirty="0"/>
              <a:t> của các thao tác bôi xám.</a:t>
            </a:r>
          </a:p>
          <a:p>
            <a:r>
              <a:rPr lang="vi-VN" b="1" dirty="0"/>
              <a:t>3. "With better results" — Tại sao kết quả tốt hơn?</a:t>
            </a:r>
          </a:p>
          <a:p>
            <a:r>
              <a:rPr lang="vi-VN" dirty="0"/>
              <a:t>Bảng phía dưới liệt kê các thứ tự khả dĩ (ordering of operations), nhưng không phải tất cả thứ tự đều hợp lệ như Sequential Consistency.</a:t>
            </a:r>
          </a:p>
          <a:p>
            <a:r>
              <a:rPr lang="vi-VN" dirty="0"/>
              <a:t>Chỉ những thứ tự </a:t>
            </a:r>
            <a:r>
              <a:rPr lang="vi-VN" b="1" dirty="0"/>
              <a:t>không vi phạm thời gian thực của thao tác</a:t>
            </a:r>
            <a:r>
              <a:rPr lang="vi-VN" dirty="0"/>
              <a:t> mới hợp lệ.</a:t>
            </a:r>
          </a:p>
          <a:p>
            <a:r>
              <a:rPr lang="vi-VN" dirty="0"/>
              <a:t>Ordering of operations (chấp nhận được theo thời gian thực)</a:t>
            </a:r>
            <a:r>
              <a:rPr lang="en-US" dirty="0"/>
              <a:t>	</a:t>
            </a:r>
            <a:r>
              <a:rPr lang="vi-VN" dirty="0"/>
              <a:t>Result</a:t>
            </a:r>
            <a:endParaRPr lang="en-US" dirty="0"/>
          </a:p>
          <a:p>
            <a:r>
              <a:rPr lang="vi-VN" dirty="0"/>
              <a:t>W1(x)a ; W2(y)b ; W1(y)a ; W2(x)b</a:t>
            </a:r>
            <a:r>
              <a:rPr lang="en-US" dirty="0"/>
              <a:t>			</a:t>
            </a:r>
            <a:r>
              <a:rPr lang="vi-VN" dirty="0"/>
              <a:t>R1(x)b , R2(y)a</a:t>
            </a:r>
            <a:endParaRPr lang="en-US" dirty="0"/>
          </a:p>
          <a:p>
            <a:r>
              <a:rPr lang="vi-VN" dirty="0"/>
              <a:t>W1(x)a ; W2(y)b ; W2(x)b ; W1(y)a</a:t>
            </a:r>
            <a:r>
              <a:rPr lang="en-US" dirty="0"/>
              <a:t>			</a:t>
            </a:r>
            <a:r>
              <a:rPr lang="vi-VN" dirty="0"/>
              <a:t>R1(x)b , R2(y)a</a:t>
            </a:r>
            <a:endParaRPr lang="en-US" dirty="0"/>
          </a:p>
          <a:p>
            <a:r>
              <a:rPr lang="vi-VN" dirty="0"/>
              <a:t>W2(y)b ; W1(x)a ; W1(y)a ; W2(x)b</a:t>
            </a:r>
            <a:r>
              <a:rPr lang="en-US" dirty="0"/>
              <a:t>			</a:t>
            </a:r>
            <a:r>
              <a:rPr lang="vi-VN" dirty="0"/>
              <a:t>R1(x)b , R2(y)a</a:t>
            </a:r>
            <a:endParaRPr lang="en-US" dirty="0"/>
          </a:p>
          <a:p>
            <a:r>
              <a:rPr lang="vi-VN" dirty="0"/>
              <a:t>W2(y)b ; W1(x)a ; W2(x)b ; W1(y)a</a:t>
            </a:r>
            <a:r>
              <a:rPr lang="en-US" dirty="0"/>
              <a:t>			</a:t>
            </a:r>
            <a:r>
              <a:rPr lang="vi-VN" dirty="0"/>
              <a:t>R1(x)b , R2(y)a</a:t>
            </a:r>
          </a:p>
          <a:p>
            <a:r>
              <a:rPr lang="vi-VN" dirty="0"/>
              <a:t>Tất cả đều dẫn đến:</a:t>
            </a:r>
          </a:p>
          <a:p>
            <a:pPr>
              <a:buFont typeface="Arial" panose="020B0604020202020204" pitchFamily="34" charset="0"/>
              <a:buChar char="•"/>
            </a:pPr>
            <a:r>
              <a:rPr lang="vi-VN" dirty="0"/>
              <a:t>R1(x) đọc được b → vì W(x)b diễn ra sau W(x)a</a:t>
            </a:r>
          </a:p>
          <a:p>
            <a:pPr>
              <a:buFont typeface="Arial" panose="020B0604020202020204" pitchFamily="34" charset="0"/>
              <a:buChar char="•"/>
            </a:pPr>
            <a:r>
              <a:rPr lang="vi-VN" dirty="0"/>
              <a:t>R2(y) đọc được a → vì W(y)a diễn ra sau W(y)b</a:t>
            </a:r>
          </a:p>
          <a:p>
            <a:r>
              <a:rPr lang="en-US" dirty="0"/>
              <a:t>=&gt;</a:t>
            </a:r>
            <a:r>
              <a:rPr lang="vi-VN" dirty="0"/>
              <a:t> </a:t>
            </a:r>
            <a:r>
              <a:rPr lang="vi-VN" b="1" dirty="0"/>
              <a:t>Kết quả ổn định, không bị mâu thuẫn</a:t>
            </a:r>
            <a:br>
              <a:rPr lang="vi-VN" dirty="0"/>
            </a:br>
            <a:r>
              <a:rPr lang="en-US" dirty="0"/>
              <a:t>=&gt;</a:t>
            </a:r>
            <a:r>
              <a:rPr lang="vi-VN" dirty="0"/>
              <a:t> Linearizability </a:t>
            </a:r>
            <a:r>
              <a:rPr lang="vi-VN" b="1" dirty="0"/>
              <a:t>giảm bớt số thứ tự hợp lệ</a:t>
            </a:r>
            <a:r>
              <a:rPr lang="vi-VN" dirty="0"/>
              <a:t>, dẫn đến hệ thống nhất quán hơn.</a:t>
            </a:r>
          </a:p>
          <a:p>
            <a:endParaRPr lang="en-US" b="1" dirty="0"/>
          </a:p>
          <a:p>
            <a:r>
              <a:rPr lang="vi-VN" b="1" dirty="0"/>
              <a:t>Tóm tắt để sinh viên dễ nhớ</a:t>
            </a:r>
          </a:p>
          <a:p>
            <a:r>
              <a:rPr lang="en-US" dirty="0"/>
              <a:t>		</a:t>
            </a:r>
            <a:r>
              <a:rPr lang="vi-VN" dirty="0"/>
              <a:t>Sequential Consistency</a:t>
            </a:r>
            <a:r>
              <a:rPr lang="en-US" dirty="0"/>
              <a:t>	</a:t>
            </a:r>
            <a:r>
              <a:rPr lang="vi-VN" dirty="0"/>
              <a:t>Linearizability</a:t>
            </a:r>
            <a:endParaRPr lang="en-US" dirty="0"/>
          </a:p>
          <a:p>
            <a:r>
              <a:rPr lang="vi-VN" dirty="0"/>
              <a:t>Dựa vào logic</a:t>
            </a:r>
            <a:r>
              <a:rPr lang="en-US" dirty="0"/>
              <a:t>		</a:t>
            </a:r>
            <a:r>
              <a:rPr lang="en-US" dirty="0" err="1"/>
              <a:t>Có</a:t>
            </a:r>
            <a:r>
              <a:rPr lang="en-US" dirty="0"/>
              <a:t>		</a:t>
            </a:r>
            <a:r>
              <a:rPr lang="en-US" dirty="0" err="1"/>
              <a:t>Có</a:t>
            </a:r>
            <a:r>
              <a:rPr lang="en-US" dirty="0"/>
              <a:t>			</a:t>
            </a:r>
          </a:p>
          <a:p>
            <a:r>
              <a:rPr lang="en-US" dirty="0"/>
              <a:t>D</a:t>
            </a:r>
            <a:r>
              <a:rPr lang="vi-VN" dirty="0"/>
              <a:t>ựa theo thời gian thực</a:t>
            </a:r>
            <a:r>
              <a:rPr lang="en-US" dirty="0"/>
              <a:t>	</a:t>
            </a:r>
            <a:r>
              <a:rPr lang="en-US" dirty="0" err="1"/>
              <a:t>Không</a:t>
            </a:r>
            <a:r>
              <a:rPr lang="en-US" dirty="0"/>
              <a:t>		</a:t>
            </a:r>
            <a:r>
              <a:rPr lang="en-US" dirty="0" err="1"/>
              <a:t>Có</a:t>
            </a:r>
            <a:endParaRPr lang="en-US" dirty="0"/>
          </a:p>
          <a:p>
            <a:r>
              <a:rPr lang="vi-VN" dirty="0"/>
              <a:t>Mạnh hơn</a:t>
            </a:r>
            <a:r>
              <a:rPr lang="en-US" dirty="0"/>
              <a:t>		</a:t>
            </a:r>
            <a:r>
              <a:rPr lang="en-US" dirty="0" err="1"/>
              <a:t>Không</a:t>
            </a:r>
            <a:r>
              <a:rPr lang="en-US" dirty="0"/>
              <a:t>		</a:t>
            </a:r>
            <a:r>
              <a:rPr lang="en-US" dirty="0" err="1"/>
              <a:t>Có</a:t>
            </a:r>
            <a:endParaRPr lang="en-US" dirty="0"/>
          </a:p>
          <a:p>
            <a:r>
              <a:rPr lang="vi-VN" dirty="0"/>
              <a:t>Dễ triển khai</a:t>
            </a:r>
            <a:r>
              <a:rPr lang="en-US" dirty="0"/>
              <a:t>		</a:t>
            </a:r>
            <a:r>
              <a:rPr lang="en-US" dirty="0" err="1"/>
              <a:t>Dễ</a:t>
            </a:r>
            <a:r>
              <a:rPr lang="en-US" dirty="0"/>
              <a:t> </a:t>
            </a:r>
            <a:r>
              <a:rPr lang="en-US" dirty="0" err="1"/>
              <a:t>Hơn</a:t>
            </a:r>
            <a:r>
              <a:rPr lang="en-US" dirty="0"/>
              <a:t>		</a:t>
            </a:r>
            <a:r>
              <a:rPr lang="en-US" dirty="0" err="1"/>
              <a:t>Khó</a:t>
            </a:r>
            <a:r>
              <a:rPr lang="en-US" dirty="0"/>
              <a:t> </a:t>
            </a:r>
            <a:r>
              <a:rPr lang="en-US" dirty="0" err="1"/>
              <a:t>hơn</a:t>
            </a:r>
            <a:r>
              <a:rPr lang="en-US" dirty="0"/>
              <a:t> (</a:t>
            </a:r>
            <a:r>
              <a:rPr lang="en-US" dirty="0" err="1"/>
              <a:t>tốn</a:t>
            </a:r>
            <a:r>
              <a:rPr lang="en-US" dirty="0"/>
              <a:t> </a:t>
            </a:r>
            <a:r>
              <a:rPr lang="en-US" dirty="0" err="1"/>
              <a:t>đồng</a:t>
            </a:r>
            <a:r>
              <a:rPr lang="en-US" dirty="0"/>
              <a:t> </a:t>
            </a:r>
            <a:r>
              <a:rPr lang="en-US" dirty="0" err="1"/>
              <a:t>bộ</a:t>
            </a:r>
            <a:r>
              <a:rPr lang="en-US" dirty="0"/>
              <a:t>)</a:t>
            </a:r>
            <a:endParaRPr lang="vi-VN" dirty="0"/>
          </a:p>
          <a:p>
            <a:r>
              <a:rPr lang="en-US" b="1" dirty="0"/>
              <a:t>=&gt; </a:t>
            </a:r>
            <a:r>
              <a:rPr lang="vi-VN" b="1" dirty="0"/>
              <a:t>Linearizability = Sequential Consistency + Real-time constraints</a:t>
            </a:r>
            <a:endParaRPr lang="vi-VN" dirty="0"/>
          </a:p>
          <a:p>
            <a:endParaRPr lang="en-US" b="1" dirty="0"/>
          </a:p>
          <a:p>
            <a:r>
              <a:rPr lang="vi-VN" b="1" dirty="0"/>
              <a:t>Kết luận slide</a:t>
            </a:r>
          </a:p>
          <a:p>
            <a:pPr>
              <a:buFont typeface="Arial" panose="020B0604020202020204" pitchFamily="34" charset="0"/>
              <a:buChar char="•"/>
            </a:pPr>
            <a:r>
              <a:rPr lang="vi-VN" dirty="0"/>
              <a:t>Ví dụ trước cho thấy Sequential consistency có thể tạo ra nhiều kết quả hợp lệ (nhưng khó kiểm soát).</a:t>
            </a:r>
          </a:p>
          <a:p>
            <a:pPr>
              <a:buFont typeface="Arial" panose="020B0604020202020204" pitchFamily="34" charset="0"/>
              <a:buChar char="•"/>
            </a:pPr>
            <a:r>
              <a:rPr lang="vi-VN" dirty="0"/>
              <a:t>Linearizability giúp </a:t>
            </a:r>
            <a:r>
              <a:rPr lang="vi-VN" b="1" dirty="0"/>
              <a:t>giảm bớt sự mơ hồ</a:t>
            </a:r>
            <a:r>
              <a:rPr lang="vi-VN" dirty="0"/>
              <a:t> bằng cách ràng buộc theo thời gian thực.</a:t>
            </a:r>
          </a:p>
          <a:p>
            <a:pPr>
              <a:buFont typeface="Arial" panose="020B0604020202020204" pitchFamily="34" charset="0"/>
              <a:buChar char="•"/>
            </a:pPr>
            <a:r>
              <a:rPr lang="vi-VN" dirty="0"/>
              <a:t>Đây là mô hình consistency </a:t>
            </a:r>
            <a:r>
              <a:rPr lang="vi-VN" b="1" dirty="0"/>
              <a:t>mạnh nhất và trực quan nhất</a:t>
            </a:r>
            <a:r>
              <a:rPr lang="vi-VN" dirty="0"/>
              <a:t> cho lập trình viên.</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13</a:t>
            </a:fld>
            <a:endParaRPr lang="en-US"/>
          </a:p>
        </p:txBody>
      </p:sp>
    </p:spTree>
    <p:extLst>
      <p:ext uri="{BB962C8B-B14F-4D97-AF65-F5344CB8AC3E}">
        <p14:creationId xmlns:p14="http://schemas.microsoft.com/office/powerpoint/2010/main" val="1989553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Causal Consistency (Nhất quán nhân quả)</a:t>
            </a:r>
          </a:p>
          <a:p>
            <a:r>
              <a:rPr lang="vi-VN" b="1" dirty="0"/>
              <a:t>Định nghĩa (Definition)</a:t>
            </a:r>
          </a:p>
          <a:p>
            <a:r>
              <a:rPr lang="vi-VN" i="1" dirty="0"/>
              <a:t>Writes that are potentially causally related must be seen by all processes in the same order. Concurrent writes may be seen in a different order by different processes.</a:t>
            </a:r>
            <a:endParaRPr lang="vi-VN" dirty="0"/>
          </a:p>
          <a:p>
            <a:r>
              <a:rPr lang="vi-VN" dirty="0"/>
              <a:t>Dịch và giải thích:</a:t>
            </a:r>
          </a:p>
          <a:p>
            <a:pPr>
              <a:buFont typeface="Arial" panose="020B0604020202020204" pitchFamily="34" charset="0"/>
              <a:buChar char="•"/>
            </a:pPr>
            <a:r>
              <a:rPr lang="vi-VN" dirty="0"/>
              <a:t>Nếu hai thao tác ghi (</a:t>
            </a:r>
            <a:r>
              <a:rPr lang="vi-VN" b="1" dirty="0"/>
              <a:t>writes</a:t>
            </a:r>
            <a:r>
              <a:rPr lang="vi-VN" dirty="0"/>
              <a:t>) có mối quan hệ </a:t>
            </a:r>
            <a:r>
              <a:rPr lang="vi-VN" b="1" dirty="0"/>
              <a:t>nhân quả (causal relationship)</a:t>
            </a:r>
            <a:r>
              <a:rPr lang="vi-VN" dirty="0"/>
              <a:t>, thì tất cả các tiến trình trong hệ thống phải nhìn thấy chúng </a:t>
            </a:r>
            <a:r>
              <a:rPr lang="vi-VN" b="1" dirty="0"/>
              <a:t>theo cùng một thứ tự</a:t>
            </a:r>
            <a:r>
              <a:rPr lang="vi-VN" dirty="0"/>
              <a:t>.</a:t>
            </a:r>
          </a:p>
          <a:p>
            <a:pPr>
              <a:buFont typeface="Arial" panose="020B0604020202020204" pitchFamily="34" charset="0"/>
              <a:buChar char="•"/>
            </a:pPr>
            <a:r>
              <a:rPr lang="vi-VN" dirty="0"/>
              <a:t>Nếu hai thao tác ghi </a:t>
            </a:r>
            <a:r>
              <a:rPr lang="vi-VN" b="1" dirty="0"/>
              <a:t>không liên quan nhân quả</a:t>
            </a:r>
            <a:r>
              <a:rPr lang="vi-VN" dirty="0"/>
              <a:t> (độc lập / concurrent), thì các tiến trình khác nhau có thể nhìn thấy chúng theo các thứ tự khác nhau.</a:t>
            </a:r>
          </a:p>
          <a:p>
            <a:r>
              <a:rPr lang="en-US" b="1" dirty="0" err="1"/>
              <a:t>Lưu</a:t>
            </a:r>
            <a:r>
              <a:rPr lang="en-US" b="1" dirty="0"/>
              <a:t> ý </a:t>
            </a:r>
            <a:r>
              <a:rPr lang="vi-VN" b="1" dirty="0"/>
              <a:t>Quan trọng:</a:t>
            </a:r>
          </a:p>
          <a:p>
            <a:r>
              <a:rPr lang="vi-VN" dirty="0"/>
              <a:t>Causal consistency chỉ bắt buộc thứ tự nhất quán </a:t>
            </a:r>
            <a:r>
              <a:rPr lang="vi-VN" i="1" dirty="0"/>
              <a:t>khi có quan hệ nhân quả</a:t>
            </a:r>
            <a:r>
              <a:rPr lang="vi-VN" dirty="0"/>
              <a:t>.</a:t>
            </a:r>
          </a:p>
          <a:p>
            <a:r>
              <a:rPr lang="vi-VN" dirty="0"/>
              <a:t>Nếu không liên quan </a:t>
            </a:r>
            <a:r>
              <a:rPr lang="en-US" dirty="0"/>
              <a:t>=&gt;</a:t>
            </a:r>
            <a:r>
              <a:rPr lang="vi-VN" dirty="0"/>
              <a:t> thứ tự không quan trọng.</a:t>
            </a:r>
          </a:p>
          <a:p>
            <a:r>
              <a:rPr lang="en-US" b="1" dirty="0"/>
              <a:t>- </a:t>
            </a:r>
            <a:r>
              <a:rPr lang="vi-VN" b="1" dirty="0"/>
              <a:t>Quan hệ nhân quả là gì?</a:t>
            </a:r>
          </a:p>
          <a:p>
            <a:r>
              <a:rPr lang="vi-VN" dirty="0"/>
              <a:t>Một ghi W1(x)a </a:t>
            </a:r>
            <a:r>
              <a:rPr lang="vi-VN" b="1" dirty="0"/>
              <a:t>có quan hệ nhân quả</a:t>
            </a:r>
            <a:r>
              <a:rPr lang="vi-VN" dirty="0"/>
              <a:t> với ghi W2(x)b nếu:</a:t>
            </a:r>
          </a:p>
          <a:p>
            <a:pPr>
              <a:buFont typeface="Arial" panose="020B0604020202020204" pitchFamily="34" charset="0"/>
              <a:buChar char="•"/>
            </a:pPr>
            <a:r>
              <a:rPr lang="vi-VN" dirty="0"/>
              <a:t>Một tiến trình </a:t>
            </a:r>
            <a:r>
              <a:rPr lang="vi-VN" b="1" dirty="0"/>
              <a:t>đọc</a:t>
            </a:r>
            <a:r>
              <a:rPr lang="vi-VN" dirty="0"/>
              <a:t> giá trị được tạo ra từ W1(x)a, và sau đó</a:t>
            </a:r>
          </a:p>
          <a:p>
            <a:pPr>
              <a:buFont typeface="Arial" panose="020B0604020202020204" pitchFamily="34" charset="0"/>
              <a:buChar char="•"/>
            </a:pPr>
            <a:r>
              <a:rPr lang="vi-VN" dirty="0"/>
              <a:t>thực hiện W2(x)b.</a:t>
            </a:r>
          </a:p>
          <a:p>
            <a:r>
              <a:rPr lang="vi-VN" dirty="0"/>
              <a:t>Tức là: W1 → W2 theo dòng phụ thuộc chương trình.</a:t>
            </a:r>
          </a:p>
          <a:p>
            <a:endParaRPr lang="en-US" b="1" dirty="0"/>
          </a:p>
          <a:p>
            <a:r>
              <a:rPr lang="vi-VN" b="1" dirty="0"/>
              <a:t>Phân tích ví dụ trong slide</a:t>
            </a:r>
          </a:p>
          <a:p>
            <a:r>
              <a:rPr lang="vi-VN" b="1" dirty="0"/>
              <a:t>(a) Vi phạm causal consistency</a:t>
            </a:r>
          </a:p>
          <a:p>
            <a:pPr rtl="0"/>
            <a:r>
              <a:rPr lang="vi-VN" dirty="0"/>
              <a:t>P1: W(x)a → ghi x = a</a:t>
            </a:r>
            <a:endParaRPr lang="en-US" dirty="0"/>
          </a:p>
          <a:p>
            <a:pPr rtl="0"/>
            <a:r>
              <a:rPr lang="vi-VN" dirty="0"/>
              <a:t>P2: R(x)a W(x)b → đọc được a, rồi ghi x=b</a:t>
            </a:r>
            <a:endParaRPr lang="en-US" dirty="0"/>
          </a:p>
          <a:p>
            <a:pPr rtl="0"/>
            <a:r>
              <a:rPr lang="vi-VN" dirty="0"/>
              <a:t>P3: R(x)b R(x)a → đọc b rồi lại đọc a (sai logic nhân quả)</a:t>
            </a:r>
            <a:endParaRPr lang="en-US" dirty="0"/>
          </a:p>
          <a:p>
            <a:pPr rtl="0"/>
            <a:r>
              <a:rPr lang="vi-VN" dirty="0"/>
              <a:t>P4: R(x)a R(x)b </a:t>
            </a:r>
          </a:p>
          <a:p>
            <a:r>
              <a:rPr lang="vi-VN" dirty="0"/>
              <a:t>Giải thích:</a:t>
            </a:r>
          </a:p>
          <a:p>
            <a:pPr>
              <a:buFont typeface="Arial" panose="020B0604020202020204" pitchFamily="34" charset="0"/>
              <a:buChar char="•"/>
            </a:pPr>
            <a:r>
              <a:rPr lang="vi-VN" dirty="0"/>
              <a:t>P2 đọc giá trị a từ W(x)a của P1 → tạo quan hệ nhân quả:</a:t>
            </a:r>
            <a:br>
              <a:rPr lang="vi-VN" dirty="0"/>
            </a:br>
            <a:r>
              <a:rPr lang="en-US" dirty="0"/>
              <a:t>=&gt; </a:t>
            </a:r>
            <a:r>
              <a:rPr lang="vi-VN" dirty="0"/>
              <a:t>W(x)a → W(x)b</a:t>
            </a:r>
          </a:p>
          <a:p>
            <a:pPr>
              <a:buFont typeface="Arial" panose="020B0604020202020204" pitchFamily="34" charset="0"/>
              <a:buChar char="•"/>
            </a:pPr>
            <a:r>
              <a:rPr lang="vi-VN" dirty="0"/>
              <a:t>Vì vậy, </a:t>
            </a:r>
            <a:r>
              <a:rPr lang="vi-VN" b="1" dirty="0"/>
              <a:t>mọi tiến trình khác phải thấy W(x)a xảy ra trước W(x)b</a:t>
            </a:r>
            <a:r>
              <a:rPr lang="vi-VN" dirty="0"/>
              <a:t>.</a:t>
            </a:r>
          </a:p>
          <a:p>
            <a:r>
              <a:rPr lang="vi-VN" dirty="0"/>
              <a:t>Nhưng:</a:t>
            </a:r>
          </a:p>
          <a:p>
            <a:pPr>
              <a:buFont typeface="Arial" panose="020B0604020202020204" pitchFamily="34" charset="0"/>
              <a:buChar char="•"/>
            </a:pPr>
            <a:r>
              <a:rPr lang="vi-VN" dirty="0"/>
              <a:t>P3 thấy b trước, rồi lại thấy a</a:t>
            </a:r>
            <a:br>
              <a:rPr lang="vi-VN" dirty="0"/>
            </a:br>
            <a:r>
              <a:rPr lang="en-US" dirty="0"/>
              <a:t>=&gt; </a:t>
            </a:r>
            <a:r>
              <a:rPr lang="vi-VN" dirty="0"/>
              <a:t>tức là đảo ngược thứ tự nhân quả → </a:t>
            </a:r>
            <a:r>
              <a:rPr lang="vi-VN" b="1" dirty="0"/>
              <a:t>vi phạm causal consistency</a:t>
            </a:r>
            <a:r>
              <a:rPr lang="vi-VN" dirty="0"/>
              <a:t>.</a:t>
            </a:r>
          </a:p>
          <a:p>
            <a:r>
              <a:rPr lang="vi-VN" b="1" dirty="0"/>
              <a:t>(b) Đúng causal consistency</a:t>
            </a:r>
          </a:p>
          <a:p>
            <a:pPr rtl="0"/>
            <a:r>
              <a:rPr lang="vi-VN" dirty="0"/>
              <a:t>P1: W(x)a</a:t>
            </a:r>
            <a:endParaRPr lang="en-US" dirty="0"/>
          </a:p>
          <a:p>
            <a:pPr rtl="0"/>
            <a:r>
              <a:rPr lang="vi-VN" dirty="0"/>
              <a:t>P2: W(x)b</a:t>
            </a:r>
            <a:endParaRPr lang="en-US" dirty="0"/>
          </a:p>
          <a:p>
            <a:pPr rtl="0"/>
            <a:r>
              <a:rPr lang="vi-VN" dirty="0"/>
              <a:t>P3: R(x)b R(x)a</a:t>
            </a:r>
            <a:endParaRPr lang="en-US" dirty="0"/>
          </a:p>
          <a:p>
            <a:pPr rtl="0"/>
            <a:r>
              <a:rPr lang="vi-VN" dirty="0"/>
              <a:t>P4: R(x)a R(x)b </a:t>
            </a:r>
          </a:p>
          <a:p>
            <a:r>
              <a:rPr lang="vi-VN" dirty="0"/>
              <a:t>Giải thích:</a:t>
            </a:r>
          </a:p>
          <a:p>
            <a:pPr>
              <a:buFont typeface="Arial" panose="020B0604020202020204" pitchFamily="34" charset="0"/>
              <a:buChar char="•"/>
            </a:pPr>
            <a:r>
              <a:rPr lang="vi-VN" dirty="0"/>
              <a:t>P2 thực hiện W(x)b, nhưng không có lệnh đọc nào trước đó từ W(x)a</a:t>
            </a:r>
          </a:p>
          <a:p>
            <a:pPr>
              <a:buFont typeface="Arial" panose="020B0604020202020204" pitchFamily="34" charset="0"/>
              <a:buNone/>
            </a:pPr>
            <a:r>
              <a:rPr lang="vi-VN" dirty="0"/>
              <a:t>=&gt; W(x)a và W(x)b </a:t>
            </a:r>
            <a:r>
              <a:rPr lang="vi-VN" b="1" dirty="0"/>
              <a:t>không có quan hệ nhân quả</a:t>
            </a:r>
            <a:endParaRPr lang="vi-VN" dirty="0"/>
          </a:p>
          <a:p>
            <a:pPr>
              <a:buFont typeface="Arial" panose="020B0604020202020204" pitchFamily="34" charset="0"/>
              <a:buChar char="•"/>
            </a:pPr>
            <a:r>
              <a:rPr lang="vi-VN" dirty="0"/>
              <a:t>Chúng độc lập → các tiến trình P3 và P4 có thể nhìn thấy thứ tự khác nhau:</a:t>
            </a:r>
          </a:p>
          <a:p>
            <a:r>
              <a:rPr lang="vi-VN" dirty="0"/>
              <a:t>Tiến trình</a:t>
            </a:r>
            <a:r>
              <a:rPr lang="en-US" dirty="0"/>
              <a:t>	</a:t>
            </a:r>
            <a:r>
              <a:rPr lang="vi-VN" dirty="0"/>
              <a:t>Thứ tự thấy</a:t>
            </a:r>
            <a:endParaRPr lang="en-US" dirty="0"/>
          </a:p>
          <a:p>
            <a:r>
              <a:rPr lang="vi-VN" dirty="0"/>
              <a:t>P3</a:t>
            </a:r>
            <a:r>
              <a:rPr lang="en-US" dirty="0"/>
              <a:t>	</a:t>
            </a:r>
            <a:r>
              <a:rPr lang="vi-VN" dirty="0"/>
              <a:t>b trước a</a:t>
            </a:r>
            <a:endParaRPr lang="en-US" dirty="0"/>
          </a:p>
          <a:p>
            <a:r>
              <a:rPr lang="vi-VN" dirty="0"/>
              <a:t>P4</a:t>
            </a:r>
            <a:r>
              <a:rPr lang="en-US" dirty="0"/>
              <a:t>	</a:t>
            </a:r>
            <a:r>
              <a:rPr lang="vi-VN" dirty="0"/>
              <a:t>a trước b</a:t>
            </a:r>
          </a:p>
          <a:p>
            <a:r>
              <a:rPr lang="vi-VN" dirty="0"/>
              <a:t>Và điều này là hoàn toàn hợp lệ trong </a:t>
            </a:r>
            <a:r>
              <a:rPr lang="vi-VN" b="1" dirty="0"/>
              <a:t>Causal consistency</a:t>
            </a:r>
            <a:r>
              <a:rPr lang="vi-VN" dirty="0"/>
              <a:t>.</a:t>
            </a:r>
          </a:p>
          <a:p>
            <a:endParaRPr lang="en-US" b="1" dirty="0"/>
          </a:p>
          <a:p>
            <a:r>
              <a:rPr lang="vi-VN" b="1" dirty="0"/>
              <a:t>Tóm tắt để sinh viên dễ nhớ</a:t>
            </a:r>
          </a:p>
          <a:p>
            <a:r>
              <a:rPr lang="vi-VN" dirty="0"/>
              <a:t>Mô hình</a:t>
            </a:r>
            <a:r>
              <a:rPr lang="en-US" dirty="0"/>
              <a:t>		</a:t>
            </a:r>
            <a:r>
              <a:rPr lang="vi-VN" dirty="0"/>
              <a:t>Bắt buộc thứ tự?</a:t>
            </a:r>
            <a:r>
              <a:rPr lang="en-US" dirty="0"/>
              <a:t>				</a:t>
            </a:r>
            <a:r>
              <a:rPr lang="vi-VN" dirty="0"/>
              <a:t>Dựa trên</a:t>
            </a:r>
            <a:endParaRPr lang="en-US" dirty="0"/>
          </a:p>
          <a:p>
            <a:r>
              <a:rPr lang="vi-VN" b="1" dirty="0"/>
              <a:t>Sequential consistency</a:t>
            </a:r>
            <a:r>
              <a:rPr lang="en-US" b="1" dirty="0"/>
              <a:t>	</a:t>
            </a:r>
            <a:r>
              <a:rPr lang="vi-VN" dirty="0"/>
              <a:t>Tất cả tiến trình phải thấy cùng một thứ tự</a:t>
            </a:r>
            <a:r>
              <a:rPr lang="en-US" dirty="0"/>
              <a:t>			</a:t>
            </a:r>
            <a:r>
              <a:rPr lang="vi-VN" dirty="0"/>
              <a:t>Thứ tự logic</a:t>
            </a:r>
            <a:endParaRPr lang="en-US" dirty="0"/>
          </a:p>
          <a:p>
            <a:r>
              <a:rPr lang="vi-VN" b="1" dirty="0"/>
              <a:t>Causal consistency</a:t>
            </a:r>
            <a:r>
              <a:rPr lang="en-US" b="1" dirty="0"/>
              <a:t>	</a:t>
            </a:r>
            <a:r>
              <a:rPr lang="vi-VN" dirty="0"/>
              <a:t>Chỉ bắt buộc nếu có quan hệ nhân quả</a:t>
            </a:r>
            <a:r>
              <a:rPr lang="en-US" dirty="0"/>
              <a:t>			</a:t>
            </a:r>
            <a:r>
              <a:rPr lang="vi-VN" dirty="0"/>
              <a:t>Quan hệ nhân quả giữa operations</a:t>
            </a:r>
            <a:endParaRPr lang="en-US" dirty="0"/>
          </a:p>
          <a:p>
            <a:r>
              <a:rPr lang="vi-VN" b="1" dirty="0"/>
              <a:t>Linearizability</a:t>
            </a:r>
            <a:r>
              <a:rPr lang="en-US" b="1" dirty="0"/>
              <a:t>	</a:t>
            </a:r>
            <a:r>
              <a:rPr lang="vi-VN" dirty="0"/>
              <a:t>Tất cả tiến trình thấy cùng thứ tự và phải theo thời gian thực</a:t>
            </a:r>
            <a:r>
              <a:rPr lang="en-US" dirty="0"/>
              <a:t>	</a:t>
            </a:r>
            <a:r>
              <a:rPr lang="vi-VN" dirty="0"/>
              <a:t>Real-time ordering</a:t>
            </a:r>
          </a:p>
          <a:p>
            <a:endParaRPr lang="en-US" b="1" dirty="0"/>
          </a:p>
          <a:p>
            <a:r>
              <a:rPr lang="vi-VN" b="1" dirty="0"/>
              <a:t>Ví dụ trực quan (đời thực)</a:t>
            </a:r>
          </a:p>
          <a:p>
            <a:pPr>
              <a:buFont typeface="Arial" panose="020B0604020202020204" pitchFamily="34" charset="0"/>
              <a:buChar char="•"/>
            </a:pPr>
            <a:r>
              <a:rPr lang="vi-VN" dirty="0"/>
              <a:t>Người A đăng bài “Hello”</a:t>
            </a:r>
          </a:p>
          <a:p>
            <a:pPr>
              <a:buFont typeface="Arial" panose="020B0604020202020204" pitchFamily="34" charset="0"/>
              <a:buChar char="•"/>
            </a:pPr>
            <a:r>
              <a:rPr lang="vi-VN" dirty="0"/>
              <a:t>Người B reply: “Hi!”</a:t>
            </a:r>
          </a:p>
          <a:p>
            <a:r>
              <a:rPr lang="en-US" dirty="0"/>
              <a:t>=&gt;</a:t>
            </a:r>
            <a:r>
              <a:rPr lang="vi-VN" dirty="0"/>
              <a:t> Các user khác phải thấy bài </a:t>
            </a:r>
            <a:r>
              <a:rPr lang="vi-VN" b="1" dirty="0"/>
              <a:t>Hello</a:t>
            </a:r>
            <a:r>
              <a:rPr lang="vi-VN" dirty="0"/>
              <a:t> trước, rồi mới thấy reply </a:t>
            </a:r>
            <a:r>
              <a:rPr lang="vi-VN" b="1" dirty="0"/>
              <a:t>Hi!</a:t>
            </a:r>
            <a:endParaRPr lang="vi-VN" dirty="0"/>
          </a:p>
          <a:p>
            <a:r>
              <a:rPr lang="vi-VN" dirty="0"/>
              <a:t>Nhưng nếu:</a:t>
            </a:r>
          </a:p>
          <a:p>
            <a:pPr>
              <a:buFont typeface="Arial" panose="020B0604020202020204" pitchFamily="34" charset="0"/>
              <a:buChar char="•"/>
            </a:pPr>
            <a:r>
              <a:rPr lang="vi-VN" dirty="0"/>
              <a:t>Người C đăng status mới (không liên quan gì đến A và B)</a:t>
            </a:r>
          </a:p>
          <a:p>
            <a:r>
              <a:rPr lang="en-US" dirty="0"/>
              <a:t>=&gt;</a:t>
            </a:r>
            <a:r>
              <a:rPr lang="vi-VN" dirty="0"/>
              <a:t> Thứ tự xuất hiện status của C có thể khác nhau giữa các user</a:t>
            </a:r>
            <a:br>
              <a:rPr lang="vi-VN" dirty="0"/>
            </a:br>
            <a:r>
              <a:rPr lang="vi-VN" dirty="0"/>
              <a:t>(không ảnh hưởng đến ý nghĩa).</a:t>
            </a:r>
          </a:p>
          <a:p>
            <a:endParaRPr lang="en-US" b="1" dirty="0"/>
          </a:p>
          <a:p>
            <a:r>
              <a:rPr lang="vi-VN" b="1" dirty="0"/>
              <a:t>Kết luận slide</a:t>
            </a:r>
          </a:p>
          <a:p>
            <a:r>
              <a:rPr lang="vi-VN" dirty="0"/>
              <a:t>Causal consistency </a:t>
            </a:r>
            <a:r>
              <a:rPr lang="vi-VN" b="1" dirty="0"/>
              <a:t>đảm bảo tính hợp lý trong thứ tự các sự kiện</a:t>
            </a:r>
            <a:r>
              <a:rPr lang="vi-VN" dirty="0"/>
              <a:t>, theo mối quan hệ nhân quả, không cần thứ tự tuyệt đối.</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14</a:t>
            </a:fld>
            <a:endParaRPr lang="en-US"/>
          </a:p>
        </p:txBody>
      </p:sp>
    </p:spTree>
    <p:extLst>
      <p:ext uri="{BB962C8B-B14F-4D97-AF65-F5344CB8AC3E}">
        <p14:creationId xmlns:p14="http://schemas.microsoft.com/office/powerpoint/2010/main" val="170044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Entry Consistency (Nhất quán theo điểm vào)</a:t>
            </a:r>
            <a:endParaRPr lang="vi-VN" b="1" dirty="0"/>
          </a:p>
          <a:p>
            <a:r>
              <a:rPr lang="vi-VN" b="1" dirty="0"/>
              <a:t>Mục tiêu của Entry Consistency</a:t>
            </a:r>
          </a:p>
          <a:p>
            <a:r>
              <a:rPr lang="vi-VN" dirty="0"/>
              <a:t>Entry consistency là một mô hình nhất quán trong hệ thống phân tán, đặc biệt dùng trong môi trường </a:t>
            </a:r>
            <a:r>
              <a:rPr lang="vi-VN" b="1" dirty="0"/>
              <a:t>replication (nhân bản dữ liệu)</a:t>
            </a:r>
            <a:r>
              <a:rPr lang="vi-VN" dirty="0"/>
              <a:t>.</a:t>
            </a:r>
          </a:p>
          <a:p>
            <a:r>
              <a:rPr lang="vi-VN" dirty="0"/>
              <a:t>Ý tưởng chính:</a:t>
            </a:r>
          </a:p>
          <a:p>
            <a:r>
              <a:rPr lang="vi-VN" dirty="0"/>
              <a:t>Không cần biết từng thao tác đọc/ghi được phản ánh ngay lập tức trên tất cả các bản sao.</a:t>
            </a:r>
            <a:br>
              <a:rPr lang="vi-VN" dirty="0"/>
            </a:br>
            <a:r>
              <a:rPr lang="vi-VN" dirty="0"/>
              <a:t>Điều quan trọng là </a:t>
            </a:r>
            <a:r>
              <a:rPr lang="vi-VN" b="1" dirty="0"/>
              <a:t>kết quả cuối cùng của cả chuỗi thao tác phải nhất quán</a:t>
            </a:r>
            <a:r>
              <a:rPr lang="vi-VN" dirty="0"/>
              <a:t>.</a:t>
            </a:r>
          </a:p>
          <a:p>
            <a:endParaRPr lang="en-US" b="1" dirty="0"/>
          </a:p>
          <a:p>
            <a:r>
              <a:rPr lang="vi-VN" b="1" dirty="0"/>
              <a:t>Ba nguyên tắc chính</a:t>
            </a:r>
            <a:r>
              <a:rPr lang="en-US" b="1" dirty="0"/>
              <a:t>:</a:t>
            </a:r>
            <a:endParaRPr lang="vi-VN" b="1" dirty="0"/>
          </a:p>
          <a:p>
            <a:r>
              <a:rPr lang="en-US" b="1" dirty="0"/>
              <a:t>1. </a:t>
            </a:r>
            <a:r>
              <a:rPr lang="vi-VN" b="1" i="1" dirty="0"/>
              <a:t>Accesses to locks are sequentially consistent</a:t>
            </a:r>
            <a:endParaRPr lang="vi-VN" b="1" dirty="0"/>
          </a:p>
          <a:p>
            <a:r>
              <a:rPr lang="vi-VN" dirty="0"/>
              <a:t>(Các thao tác trên </a:t>
            </a:r>
            <a:r>
              <a:rPr lang="vi-VN" b="1" dirty="0"/>
              <a:t>lock</a:t>
            </a:r>
            <a:r>
              <a:rPr lang="vi-VN" dirty="0"/>
              <a:t> phải tuân theo thứ tự tuần tự)</a:t>
            </a:r>
          </a:p>
          <a:p>
            <a:pPr>
              <a:buFont typeface="Arial" panose="020B0604020202020204" pitchFamily="34" charset="0"/>
              <a:buChar char="•"/>
            </a:pPr>
            <a:r>
              <a:rPr lang="vi-VN" dirty="0"/>
              <a:t>Tất cả các tiến trình phải nhìn thấy các thao tác với khóa theo cùng một thứ tự.</a:t>
            </a:r>
          </a:p>
          <a:p>
            <a:pPr>
              <a:buFont typeface="Arial" panose="020B0604020202020204" pitchFamily="34" charset="0"/>
              <a:buChar char="•"/>
            </a:pPr>
            <a:r>
              <a:rPr lang="vi-VN" dirty="0"/>
              <a:t>Khóa trở thành </a:t>
            </a:r>
            <a:r>
              <a:rPr lang="vi-VN" b="1" dirty="0"/>
              <a:t>điểm đồng bộ hóa chung</a:t>
            </a:r>
            <a:r>
              <a:rPr lang="vi-VN" dirty="0"/>
              <a:t> giữa các bản sao dữ liệu.</a:t>
            </a:r>
          </a:p>
          <a:p>
            <a:r>
              <a:rPr lang="en-US" dirty="0"/>
              <a:t>=&gt; </a:t>
            </a:r>
            <a:r>
              <a:rPr lang="vi-VN" dirty="0"/>
              <a:t>Chỉ cần đảm bảo lock nhất quán → dữ liệu được bảo vệ bởi lock sẽ an toàn.</a:t>
            </a:r>
          </a:p>
          <a:p>
            <a:r>
              <a:rPr lang="en-US" b="1" dirty="0"/>
              <a:t>2. </a:t>
            </a:r>
            <a:r>
              <a:rPr lang="vi-VN" b="1" i="1" dirty="0"/>
              <a:t>No access to a lock is allowed until all previous writes have completed everywhere</a:t>
            </a:r>
            <a:endParaRPr lang="vi-VN" b="1" dirty="0"/>
          </a:p>
          <a:p>
            <a:r>
              <a:rPr lang="vi-VN" dirty="0"/>
              <a:t>(Không được lấy lock nếu các thao tác ghi trước đó chưa hoàn tất trên toàn hệ thống)</a:t>
            </a:r>
          </a:p>
          <a:p>
            <a:pPr>
              <a:buFont typeface="Arial" panose="020B0604020202020204" pitchFamily="34" charset="0"/>
              <a:buChar char="•"/>
            </a:pPr>
            <a:r>
              <a:rPr lang="vi-VN" dirty="0"/>
              <a:t>Hệ thống phải đảm bảo tất cả bản sao (replica) đều đã cập nhật xong dữ liệu.</a:t>
            </a:r>
          </a:p>
          <a:p>
            <a:pPr>
              <a:buFont typeface="Arial" panose="020B0604020202020204" pitchFamily="34" charset="0"/>
              <a:buChar char="•"/>
            </a:pPr>
            <a:r>
              <a:rPr lang="vi-VN" dirty="0"/>
              <a:t>Nhờ đó, tiến trình tiếp theo khi lấy lock </a:t>
            </a:r>
            <a:r>
              <a:rPr lang="vi-VN" b="1" dirty="0"/>
              <a:t>luôn làm việc trên dữ liệu mới nhất</a:t>
            </a:r>
            <a:r>
              <a:rPr lang="vi-VN" dirty="0"/>
              <a:t>.</a:t>
            </a:r>
          </a:p>
          <a:p>
            <a:r>
              <a:rPr lang="en-US" dirty="0"/>
              <a:t>=&gt; </a:t>
            </a:r>
            <a:r>
              <a:rPr lang="vi-VN" dirty="0"/>
              <a:t>Đảm bảo: </a:t>
            </a:r>
            <a:r>
              <a:rPr lang="vi-VN" i="1" dirty="0"/>
              <a:t>"Ai dùng lock cũng phải thấy dữ liệu cập nhật mới nhất."</a:t>
            </a:r>
            <a:endParaRPr lang="vi-VN" dirty="0"/>
          </a:p>
          <a:p>
            <a:r>
              <a:rPr lang="en-US" b="1" dirty="0"/>
              <a:t>3. </a:t>
            </a:r>
            <a:r>
              <a:rPr lang="vi-VN" b="1" i="1" dirty="0"/>
              <a:t>No data access is allowed until all previous accesses to locks have been performed</a:t>
            </a:r>
            <a:endParaRPr lang="vi-VN" b="1" dirty="0"/>
          </a:p>
          <a:p>
            <a:r>
              <a:rPr lang="vi-VN" dirty="0"/>
              <a:t>(Không được truy cập dữ liệu nếu chưa lấy lock thành công)</a:t>
            </a:r>
          </a:p>
          <a:p>
            <a:pPr>
              <a:buFont typeface="Arial" panose="020B0604020202020204" pitchFamily="34" charset="0"/>
              <a:buChar char="•"/>
            </a:pPr>
            <a:r>
              <a:rPr lang="vi-VN" dirty="0"/>
              <a:t>Chỉ tiến trình </a:t>
            </a:r>
            <a:r>
              <a:rPr lang="vi-VN" b="1" dirty="0"/>
              <a:t>nắm giữ lock</a:t>
            </a:r>
            <a:r>
              <a:rPr lang="vi-VN" dirty="0"/>
              <a:t> mới có quyền đọc/ghi dữ liệu liên quan.</a:t>
            </a:r>
          </a:p>
          <a:p>
            <a:pPr>
              <a:buFont typeface="Arial" panose="020B0604020202020204" pitchFamily="34" charset="0"/>
              <a:buChar char="•"/>
            </a:pPr>
            <a:r>
              <a:rPr lang="vi-VN" dirty="0"/>
              <a:t>Điều này giúp tránh truy cập đồng thời gây xung đột.</a:t>
            </a:r>
          </a:p>
          <a:p>
            <a:r>
              <a:rPr lang="en-US" dirty="0"/>
              <a:t>=&gt; </a:t>
            </a:r>
            <a:r>
              <a:rPr lang="vi-VN" dirty="0"/>
              <a:t>Không có lock → không được đọc/ghi.</a:t>
            </a:r>
          </a:p>
          <a:p>
            <a:endParaRPr lang="en-US" b="1" dirty="0"/>
          </a:p>
          <a:p>
            <a:r>
              <a:rPr lang="vi-VN" b="1" dirty="0"/>
              <a:t>Basic idea (Ý tưởng nền tảng)</a:t>
            </a:r>
          </a:p>
          <a:p>
            <a:r>
              <a:rPr lang="vi-VN" dirty="0"/>
              <a:t>"Không cần quan tâm từng thao tác đọc/ghi có được thấy ngay bởi tiến trình khác hay không.</a:t>
            </a:r>
            <a:br>
              <a:rPr lang="vi-VN" dirty="0"/>
            </a:br>
            <a:r>
              <a:rPr lang="vi-VN" dirty="0"/>
              <a:t>Chỉ cần đảm bảo </a:t>
            </a:r>
            <a:r>
              <a:rPr lang="vi-VN" b="1" dirty="0"/>
              <a:t>kết quả cuối cùng của cả chuỗi thao tác khi giải phóng lock là nhất quán.</a:t>
            </a:r>
            <a:r>
              <a:rPr lang="vi-VN" dirty="0"/>
              <a:t>"</a:t>
            </a:r>
          </a:p>
          <a:p>
            <a:r>
              <a:rPr lang="vi-VN" dirty="0"/>
              <a:t>Nói cách khác:</a:t>
            </a:r>
          </a:p>
          <a:p>
            <a:pPr>
              <a:buFont typeface="Arial" panose="020B0604020202020204" pitchFamily="34" charset="0"/>
              <a:buChar char="•"/>
            </a:pPr>
            <a:r>
              <a:rPr lang="vi-VN" dirty="0"/>
              <a:t>Trong lúc một tiến trình đang giữ lock, nó có thể đọc/ghi thoải mái ở local replica.</a:t>
            </a:r>
          </a:p>
          <a:p>
            <a:pPr>
              <a:buFont typeface="Arial" panose="020B0604020202020204" pitchFamily="34" charset="0"/>
              <a:buChar char="•"/>
            </a:pPr>
            <a:r>
              <a:rPr lang="vi-VN" dirty="0"/>
              <a:t>Chỉ khi </a:t>
            </a:r>
            <a:r>
              <a:rPr lang="vi-VN" b="1" dirty="0"/>
              <a:t>release lock</a:t>
            </a:r>
            <a:r>
              <a:rPr lang="vi-VN" dirty="0"/>
              <a:t>, hệ thống mới đồng bộ dữ liệu đến các bản sao khác.</a:t>
            </a:r>
          </a:p>
          <a:p>
            <a:endParaRPr lang="en-US" b="1" dirty="0"/>
          </a:p>
          <a:p>
            <a:r>
              <a:rPr lang="vi-VN" b="1" dirty="0"/>
              <a:t>Ví dụ minh họa (ngắn gọn)</a:t>
            </a:r>
          </a:p>
          <a:p>
            <a:pPr>
              <a:buFont typeface="+mj-lt"/>
              <a:buAutoNum type="arabicPeriod"/>
            </a:pPr>
            <a:r>
              <a:rPr lang="vi-VN" dirty="0"/>
              <a:t>Tiến trình P1 lấy lock L.</a:t>
            </a:r>
          </a:p>
          <a:p>
            <a:pPr>
              <a:buFont typeface="+mj-lt"/>
              <a:buAutoNum type="arabicPeriod"/>
            </a:pPr>
            <a:r>
              <a:rPr lang="vi-VN" dirty="0"/>
              <a:t>P1 thực hiện 5 thao tác ghi dữ liệu (chưa cần đồng bộ ngay).</a:t>
            </a:r>
          </a:p>
          <a:p>
            <a:pPr>
              <a:buFont typeface="+mj-lt"/>
              <a:buAutoNum type="arabicPeriod"/>
            </a:pPr>
            <a:r>
              <a:rPr lang="vi-VN" dirty="0"/>
              <a:t>P1 release lock L → hệ thống lúc này mới đồng bộ dữ liệu ra các replica khác.</a:t>
            </a:r>
          </a:p>
          <a:p>
            <a:r>
              <a:rPr lang="vi-VN" dirty="0"/>
              <a:t>⇒ Các tiến trình khác không cần nhìn thấy từng cập nhật một, </a:t>
            </a:r>
            <a:r>
              <a:rPr lang="vi-VN" b="1" dirty="0"/>
              <a:t>chỉ cần thấy hiệu ứng sau cùng</a:t>
            </a:r>
            <a:r>
              <a:rPr lang="vi-VN" dirty="0"/>
              <a:t>.</a:t>
            </a:r>
          </a:p>
          <a:p>
            <a:endParaRPr lang="en-US" b="1" dirty="0"/>
          </a:p>
          <a:p>
            <a:r>
              <a:rPr lang="vi-VN" b="1" dirty="0"/>
              <a:t>Tóm tắt</a:t>
            </a:r>
          </a:p>
          <a:p>
            <a:r>
              <a:rPr lang="vi-VN" dirty="0"/>
              <a:t>Đặc tính</a:t>
            </a:r>
            <a:r>
              <a:rPr lang="en-US" dirty="0"/>
              <a:t>			</a:t>
            </a:r>
            <a:r>
              <a:rPr lang="vi-VN" dirty="0"/>
              <a:t>Ý nghĩa</a:t>
            </a:r>
            <a:endParaRPr lang="en-US" dirty="0"/>
          </a:p>
          <a:p>
            <a:r>
              <a:rPr lang="vi-VN" dirty="0"/>
              <a:t>Lock nhất quán</a:t>
            </a:r>
            <a:r>
              <a:rPr lang="en-US" dirty="0"/>
              <a:t>		</a:t>
            </a:r>
            <a:r>
              <a:rPr lang="vi-VN" dirty="0"/>
              <a:t>Mọi tiến trình thấy thứ tự thao tác lock giống nhau</a:t>
            </a:r>
            <a:endParaRPr lang="en-US" dirty="0"/>
          </a:p>
          <a:p>
            <a:r>
              <a:rPr lang="vi-VN" dirty="0"/>
              <a:t>Không lấy lock nếu dữ liệu chưa đồng bộ</a:t>
            </a:r>
            <a:r>
              <a:rPr lang="en-US" dirty="0"/>
              <a:t>	</a:t>
            </a:r>
            <a:r>
              <a:rPr lang="vi-VN" dirty="0"/>
              <a:t>Đảm bảo đọc được dữ liệu mới</a:t>
            </a:r>
            <a:endParaRPr lang="en-US" dirty="0"/>
          </a:p>
          <a:p>
            <a:r>
              <a:rPr lang="vi-VN" dirty="0"/>
              <a:t>Không đọc/ghi nếu chưa có lock</a:t>
            </a:r>
            <a:r>
              <a:rPr lang="en-US" dirty="0"/>
              <a:t>	</a:t>
            </a:r>
            <a:r>
              <a:rPr lang="vi-VN" dirty="0"/>
              <a:t>Tránh xung đột cập nhật</a:t>
            </a:r>
          </a:p>
          <a:p>
            <a:r>
              <a:rPr lang="en-US" dirty="0"/>
              <a:t>=&gt;</a:t>
            </a:r>
            <a:r>
              <a:rPr lang="vi-VN" dirty="0"/>
              <a:t> Entry consistency là mô hình hiệu quả vì </a:t>
            </a:r>
            <a:r>
              <a:rPr lang="vi-VN" b="1" dirty="0"/>
              <a:t>chỉ đồng bộ dữ liệu liên quan đến lock</a:t>
            </a:r>
            <a:r>
              <a:rPr lang="vi-VN" dirty="0"/>
              <a:t>, thay vì toàn bộ data store.</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16</a:t>
            </a:fld>
            <a:endParaRPr lang="en-US"/>
          </a:p>
        </p:txBody>
      </p:sp>
    </p:spTree>
    <p:extLst>
      <p:ext uri="{BB962C8B-B14F-4D97-AF65-F5344CB8AC3E}">
        <p14:creationId xmlns:p14="http://schemas.microsoft.com/office/powerpoint/2010/main" val="978184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A valid event sequence for entry consistency</a:t>
            </a:r>
            <a:endParaRPr lang="vi-VN" b="1" dirty="0"/>
          </a:p>
          <a:p>
            <a:r>
              <a:rPr lang="vi-VN" b="1" dirty="0"/>
              <a:t>Nội dung chính của slide</a:t>
            </a:r>
          </a:p>
          <a:p>
            <a:r>
              <a:rPr lang="vi-VN" dirty="0"/>
              <a:t>Slide này đưa ra một </a:t>
            </a:r>
            <a:r>
              <a:rPr lang="vi-VN" b="1" dirty="0"/>
              <a:t>chuỗi sự kiện hợp lệ</a:t>
            </a:r>
            <a:r>
              <a:rPr lang="vi-VN" dirty="0"/>
              <a:t> (valid event sequence) minh họa cách hoạt động của mô hình nhất quán </a:t>
            </a:r>
            <a:r>
              <a:rPr lang="vi-VN" b="1" dirty="0"/>
              <a:t>Entry Consistency</a:t>
            </a:r>
            <a:r>
              <a:rPr lang="vi-VN" dirty="0"/>
              <a:t>.</a:t>
            </a:r>
          </a:p>
          <a:p>
            <a:r>
              <a:rPr lang="vi-VN" dirty="0"/>
              <a:t>Entry Consistency yêu cầu: trước khi truy cập dữ liệu (đọc hoặc ghi), tiến trình phải </a:t>
            </a:r>
            <a:r>
              <a:rPr lang="vi-VN" b="1" dirty="0"/>
              <a:t>lấy lock</a:t>
            </a:r>
            <a:r>
              <a:rPr lang="vi-VN" dirty="0"/>
              <a:t> tương ứng; và sau khi thao tác xong phải </a:t>
            </a:r>
            <a:r>
              <a:rPr lang="vi-VN" b="1" dirty="0"/>
              <a:t>giải phóng lock</a:t>
            </a:r>
            <a:r>
              <a:rPr lang="vi-VN" dirty="0"/>
              <a:t>.</a:t>
            </a:r>
          </a:p>
          <a:p>
            <a:endParaRPr lang="en-US" b="1" dirty="0"/>
          </a:p>
          <a:p>
            <a:r>
              <a:rPr lang="vi-VN" b="1" dirty="0"/>
              <a:t>Phân tích ví dụ trên slide</a:t>
            </a:r>
          </a:p>
          <a:p>
            <a:r>
              <a:rPr lang="en-US" b="1" dirty="0"/>
              <a:t>- </a:t>
            </a:r>
            <a:r>
              <a:rPr lang="vi-VN" b="1" dirty="0"/>
              <a:t>Chuỗi sự kiện</a:t>
            </a:r>
          </a:p>
          <a:p>
            <a:r>
              <a:rPr lang="vi-VN" dirty="0"/>
              <a:t>Tiến trình</a:t>
            </a:r>
            <a:r>
              <a:rPr lang="en-US" dirty="0"/>
              <a:t>	</a:t>
            </a:r>
            <a:r>
              <a:rPr lang="vi-VN" dirty="0"/>
              <a:t>Chuỗi thao tác</a:t>
            </a:r>
            <a:endParaRPr lang="en-US" dirty="0"/>
          </a:p>
          <a:p>
            <a:r>
              <a:rPr lang="vi-VN" b="1" dirty="0"/>
              <a:t>P1</a:t>
            </a:r>
            <a:r>
              <a:rPr lang="en-US" b="1" dirty="0"/>
              <a:t>	</a:t>
            </a:r>
            <a:r>
              <a:rPr lang="vi-VN" dirty="0"/>
              <a:t>L(x) → W(x)a → L(y) → W(y)b → U(x) → U(y)</a:t>
            </a:r>
            <a:endParaRPr lang="en-US" dirty="0"/>
          </a:p>
          <a:p>
            <a:r>
              <a:rPr lang="vi-VN" b="1" dirty="0"/>
              <a:t>P2</a:t>
            </a:r>
            <a:r>
              <a:rPr lang="vi-VN" dirty="0"/>
              <a:t>             L(x) → R(x)a → R(y)NIL</a:t>
            </a:r>
            <a:endParaRPr lang="en-US" dirty="0"/>
          </a:p>
          <a:p>
            <a:r>
              <a:rPr lang="vi-VN" b="1" dirty="0"/>
              <a:t>P3</a:t>
            </a:r>
            <a:r>
              <a:rPr lang="vi-VN" dirty="0"/>
              <a:t>                        L(y) → R(y)b</a:t>
            </a:r>
          </a:p>
          <a:p>
            <a:r>
              <a:rPr lang="en-US" dirty="0"/>
              <a:t>+ </a:t>
            </a:r>
            <a:r>
              <a:rPr lang="vi-VN" dirty="0"/>
              <a:t>Giải thích ký hiệu:</a:t>
            </a:r>
          </a:p>
          <a:p>
            <a:pPr lvl="1">
              <a:buFont typeface="Arial" panose="020B0604020202020204" pitchFamily="34" charset="0"/>
              <a:buChar char="•"/>
            </a:pPr>
            <a:r>
              <a:rPr lang="vi-VN" b="1" dirty="0"/>
              <a:t>L(x)</a:t>
            </a:r>
            <a:r>
              <a:rPr lang="vi-VN" dirty="0"/>
              <a:t>: lock biến dữ liệu x</a:t>
            </a:r>
          </a:p>
          <a:p>
            <a:pPr lvl="1">
              <a:buFont typeface="Arial" panose="020B0604020202020204" pitchFamily="34" charset="0"/>
              <a:buChar char="•"/>
            </a:pPr>
            <a:r>
              <a:rPr lang="vi-VN" b="1" dirty="0"/>
              <a:t>U(x)</a:t>
            </a:r>
            <a:r>
              <a:rPr lang="vi-VN" dirty="0"/>
              <a:t>: unlock biến x</a:t>
            </a:r>
          </a:p>
          <a:p>
            <a:pPr lvl="1">
              <a:buFont typeface="Arial" panose="020B0604020202020204" pitchFamily="34" charset="0"/>
              <a:buChar char="•"/>
            </a:pPr>
            <a:r>
              <a:rPr lang="vi-VN" b="1" dirty="0"/>
              <a:t>W(x)a</a:t>
            </a:r>
            <a:r>
              <a:rPr lang="vi-VN" dirty="0"/>
              <a:t>: ghi giá trị </a:t>
            </a:r>
            <a:r>
              <a:rPr lang="vi-VN" i="1" dirty="0"/>
              <a:t>a</a:t>
            </a:r>
            <a:r>
              <a:rPr lang="vi-VN" dirty="0"/>
              <a:t> vào x</a:t>
            </a:r>
          </a:p>
          <a:p>
            <a:pPr lvl="1">
              <a:buFont typeface="Arial" panose="020B0604020202020204" pitchFamily="34" charset="0"/>
              <a:buChar char="•"/>
            </a:pPr>
            <a:r>
              <a:rPr lang="vi-VN" b="1" dirty="0"/>
              <a:t>R(x)a</a:t>
            </a:r>
            <a:r>
              <a:rPr lang="vi-VN" dirty="0"/>
              <a:t>: đọc giá trị </a:t>
            </a:r>
            <a:r>
              <a:rPr lang="vi-VN" i="1" dirty="0"/>
              <a:t>a</a:t>
            </a:r>
            <a:r>
              <a:rPr lang="vi-VN" dirty="0"/>
              <a:t> từ x</a:t>
            </a:r>
          </a:p>
          <a:p>
            <a:pPr lvl="1">
              <a:buFont typeface="Arial" panose="020B0604020202020204" pitchFamily="34" charset="0"/>
              <a:buChar char="•"/>
            </a:pPr>
            <a:r>
              <a:rPr lang="vi-VN" b="1" dirty="0"/>
              <a:t>NIL</a:t>
            </a:r>
            <a:r>
              <a:rPr lang="vi-VN" dirty="0"/>
              <a:t>: chưa có giá trị nào được ghi (dữ liệu chưa tồn tại hoặc chưa đồng bộ)</a:t>
            </a:r>
          </a:p>
          <a:p>
            <a:r>
              <a:rPr lang="en-US" b="1" dirty="0"/>
              <a:t>- </a:t>
            </a:r>
            <a:r>
              <a:rPr lang="vi-VN" b="1" dirty="0"/>
              <a:t>Điều gì đang xảy ra?</a:t>
            </a:r>
          </a:p>
          <a:p>
            <a:pPr lvl="1">
              <a:buFont typeface="+mj-lt"/>
              <a:buAutoNum type="arabicPeriod"/>
            </a:pPr>
            <a:r>
              <a:rPr lang="vi-VN" b="1" dirty="0"/>
              <a:t>P1</a:t>
            </a:r>
            <a:r>
              <a:rPr lang="vi-VN" dirty="0"/>
              <a:t> lấy lock x → ghi a vào x.</a:t>
            </a:r>
          </a:p>
          <a:p>
            <a:pPr lvl="1">
              <a:buFont typeface="+mj-lt"/>
              <a:buAutoNum type="arabicPeriod"/>
            </a:pPr>
            <a:r>
              <a:rPr lang="vi-VN" dirty="0"/>
              <a:t>Sau đó P1 lấy lock y → ghi b vào y.</a:t>
            </a:r>
          </a:p>
          <a:p>
            <a:pPr lvl="1">
              <a:buFont typeface="+mj-lt"/>
              <a:buAutoNum type="arabicPeriod"/>
            </a:pPr>
            <a:r>
              <a:rPr lang="vi-VN" dirty="0"/>
              <a:t>P1 unlock x và y.</a:t>
            </a:r>
            <a:br>
              <a:rPr lang="vi-VN" dirty="0"/>
            </a:br>
            <a:r>
              <a:rPr lang="vi-VN" dirty="0"/>
              <a:t>→ Lúc này, dữ liệu mới (x=a, y=b) có thể được đồng bộ cho tiến trình khác.</a:t>
            </a:r>
          </a:p>
          <a:p>
            <a:pPr lvl="1">
              <a:buFont typeface="+mj-lt"/>
              <a:buAutoNum type="arabicPeriod"/>
            </a:pPr>
            <a:r>
              <a:rPr lang="vi-VN" b="1" dirty="0"/>
              <a:t>P2</a:t>
            </a:r>
            <a:r>
              <a:rPr lang="vi-VN" dirty="0"/>
              <a:t> sau đó mới được phép lấy lock x → đọc x=a.</a:t>
            </a:r>
          </a:p>
          <a:p>
            <a:pPr lvl="1">
              <a:buFont typeface="+mj-lt"/>
              <a:buAutoNum type="arabicPeriod"/>
            </a:pPr>
            <a:r>
              <a:rPr lang="vi-VN" dirty="0"/>
              <a:t>Nhưng P2 đọc y trước khi P1 unlock y, nên giá trị đọc là </a:t>
            </a:r>
            <a:r>
              <a:rPr lang="vi-VN" b="1" dirty="0"/>
              <a:t>NIL</a:t>
            </a:r>
            <a:r>
              <a:rPr lang="vi-VN" dirty="0"/>
              <a:t> (chưa thấy giá trị mới).</a:t>
            </a:r>
          </a:p>
          <a:p>
            <a:pPr lvl="1">
              <a:buFont typeface="+mj-lt"/>
              <a:buAutoNum type="arabicPeriod"/>
            </a:pPr>
            <a:r>
              <a:rPr lang="vi-VN" b="1" dirty="0"/>
              <a:t>P3</a:t>
            </a:r>
            <a:r>
              <a:rPr lang="vi-VN" dirty="0"/>
              <a:t> lấy lock y sau P1 unlock → đọc được y=b.</a:t>
            </a:r>
          </a:p>
          <a:p>
            <a:r>
              <a:rPr lang="en-US" dirty="0"/>
              <a:t>	=&gt;</a:t>
            </a:r>
            <a:r>
              <a:rPr lang="vi-VN" dirty="0"/>
              <a:t> Đây là một chuỗi sự kiện </a:t>
            </a:r>
            <a:r>
              <a:rPr lang="vi-VN" b="1" dirty="0"/>
              <a:t>hợp lệ</a:t>
            </a:r>
            <a:r>
              <a:rPr lang="vi-VN" dirty="0"/>
              <a:t> theo entry consistency.</a:t>
            </a:r>
          </a:p>
          <a:p>
            <a:endParaRPr lang="en-US" b="1" dirty="0"/>
          </a:p>
          <a:p>
            <a:r>
              <a:rPr lang="en-US" b="1" dirty="0"/>
              <a:t>- </a:t>
            </a:r>
            <a:r>
              <a:rPr lang="vi-VN" b="1" dirty="0"/>
              <a:t>Ý nghĩa quan trọng của ví dụ</a:t>
            </a:r>
          </a:p>
          <a:p>
            <a:r>
              <a:rPr lang="vi-VN" dirty="0"/>
              <a:t>Slide muốn nhấn mạnh:</a:t>
            </a:r>
          </a:p>
          <a:p>
            <a:r>
              <a:rPr lang="vi-VN" dirty="0"/>
              <a:t>Việc đọc/ghi không diễn ra ngẫu nhiên, mà phải được điều khiển thông qua lock.</a:t>
            </a:r>
          </a:p>
          <a:p>
            <a:pPr lvl="1">
              <a:buFont typeface="Arial" panose="020B0604020202020204" pitchFamily="34" charset="0"/>
              <a:buChar char="•"/>
            </a:pPr>
            <a:r>
              <a:rPr lang="vi-VN" dirty="0"/>
              <a:t>Nếu tiến trình chưa lấy được lock, nó </a:t>
            </a:r>
            <a:r>
              <a:rPr lang="vi-VN" b="1" dirty="0"/>
              <a:t>không được phép</a:t>
            </a:r>
            <a:r>
              <a:rPr lang="vi-VN" dirty="0"/>
              <a:t> truy cập dữ liệu liên quan.</a:t>
            </a:r>
          </a:p>
          <a:p>
            <a:pPr lvl="1">
              <a:buFont typeface="Arial" panose="020B0604020202020204" pitchFamily="34" charset="0"/>
              <a:buChar char="•"/>
            </a:pPr>
            <a:r>
              <a:rPr lang="vi-VN" dirty="0"/>
              <a:t>Điều này giúp đảm bảo tính nhất quán </a:t>
            </a:r>
            <a:r>
              <a:rPr lang="vi-VN" i="1" dirty="0"/>
              <a:t>theo nhóm các thao tác</a:t>
            </a:r>
            <a:r>
              <a:rPr lang="vi-VN" dirty="0"/>
              <a:t> (grouping operations).</a:t>
            </a:r>
          </a:p>
          <a:p>
            <a:endParaRPr lang="en-US" b="1" dirty="0"/>
          </a:p>
          <a:p>
            <a:r>
              <a:rPr lang="vi-VN" b="1" dirty="0"/>
              <a:t>Observation (nhận xét từ slide)</a:t>
            </a:r>
          </a:p>
          <a:p>
            <a:r>
              <a:rPr lang="vi-VN" dirty="0"/>
              <a:t>Entry consistency implies that we need to lock and unlock data (implicitly or not).</a:t>
            </a:r>
          </a:p>
          <a:p>
            <a:r>
              <a:rPr lang="vi-VN" dirty="0"/>
              <a:t>Tức là:</a:t>
            </a:r>
          </a:p>
          <a:p>
            <a:pPr lvl="1">
              <a:buFont typeface="Arial" panose="020B0604020202020204" pitchFamily="34" charset="0"/>
              <a:buChar char="•"/>
            </a:pPr>
            <a:r>
              <a:rPr lang="vi-VN" dirty="0"/>
              <a:t>Lập trình viên phải quản lý khóa để đảm bảo nhất quán.</a:t>
            </a:r>
          </a:p>
          <a:p>
            <a:pPr lvl="1">
              <a:buFont typeface="Arial" panose="020B0604020202020204" pitchFamily="34" charset="0"/>
              <a:buChar char="•"/>
            </a:pPr>
            <a:r>
              <a:rPr lang="vi-VN" dirty="0"/>
              <a:t>Lock có thể </a:t>
            </a:r>
            <a:r>
              <a:rPr lang="vi-VN" i="1" dirty="0"/>
              <a:t>tự động</a:t>
            </a:r>
            <a:r>
              <a:rPr lang="vi-VN" dirty="0"/>
              <a:t> (implicitly) hoặc </a:t>
            </a:r>
            <a:r>
              <a:rPr lang="vi-VN" i="1" dirty="0"/>
              <a:t>lập trình viên điều khiển trực tiếp</a:t>
            </a:r>
            <a:r>
              <a:rPr lang="vi-VN" dirty="0"/>
              <a:t> (explicitly).</a:t>
            </a:r>
          </a:p>
          <a:p>
            <a:endParaRPr lang="en-US" b="1" dirty="0"/>
          </a:p>
          <a:p>
            <a:r>
              <a:rPr lang="vi-VN" b="1" dirty="0"/>
              <a:t>Question trên slide</a:t>
            </a:r>
          </a:p>
          <a:p>
            <a:r>
              <a:rPr lang="vi-VN" dirty="0"/>
              <a:t>What would be a convenient way of making this consistency more or less transparent to programmers?</a:t>
            </a:r>
          </a:p>
          <a:p>
            <a:r>
              <a:rPr lang="vi-VN" dirty="0"/>
              <a:t>Ý của slide:</a:t>
            </a:r>
            <a:br>
              <a:rPr lang="vi-VN" dirty="0"/>
            </a:br>
            <a:r>
              <a:rPr lang="en-US" dirty="0"/>
              <a:t>	</a:t>
            </a:r>
            <a:r>
              <a:rPr lang="vi-VN" dirty="0"/>
              <a:t>Làm sao để lập trình viên </a:t>
            </a:r>
            <a:r>
              <a:rPr lang="vi-VN" b="1" dirty="0"/>
              <a:t>không phải tự quản lý lock</a:t>
            </a:r>
            <a:r>
              <a:rPr lang="vi-VN" dirty="0"/>
              <a:t> thủ công nữa?</a:t>
            </a:r>
          </a:p>
          <a:p>
            <a:r>
              <a:rPr lang="vi-VN" dirty="0"/>
              <a:t>Ví dụ:</a:t>
            </a:r>
          </a:p>
          <a:p>
            <a:pPr lvl="1">
              <a:buFont typeface="Arial" panose="020B0604020202020204" pitchFamily="34" charset="0"/>
              <a:buChar char="•"/>
            </a:pPr>
            <a:r>
              <a:rPr lang="vi-VN" dirty="0"/>
              <a:t>Dùng </a:t>
            </a:r>
            <a:r>
              <a:rPr lang="vi-VN" b="1" dirty="0"/>
              <a:t>middleware</a:t>
            </a:r>
            <a:r>
              <a:rPr lang="vi-VN" dirty="0"/>
              <a:t> tự động gán lock theo biến dữ liệu.</a:t>
            </a:r>
          </a:p>
          <a:p>
            <a:pPr lvl="1">
              <a:buFont typeface="Arial" panose="020B0604020202020204" pitchFamily="34" charset="0"/>
              <a:buChar char="•"/>
            </a:pPr>
            <a:r>
              <a:rPr lang="vi-VN" dirty="0"/>
              <a:t>Ngôn ngữ lập trình cung cấp các cấu trúc như synchronized (Java), transaction API.</a:t>
            </a:r>
          </a:p>
          <a:p>
            <a:endParaRPr lang="en-US" b="1" dirty="0"/>
          </a:p>
          <a:p>
            <a:r>
              <a:rPr lang="vi-VN" b="1" dirty="0"/>
              <a:t>Kết luận</a:t>
            </a:r>
          </a:p>
          <a:p>
            <a:r>
              <a:rPr lang="vi-VN" dirty="0"/>
              <a:t>Entry Consistency đảm bảo</a:t>
            </a:r>
            <a:r>
              <a:rPr lang="en-US" dirty="0"/>
              <a:t>			</a:t>
            </a:r>
            <a:r>
              <a:rPr lang="vi-VN" dirty="0"/>
              <a:t>Bằng cách</a:t>
            </a:r>
            <a:endParaRPr lang="en-US" dirty="0"/>
          </a:p>
          <a:p>
            <a:r>
              <a:rPr lang="vi-VN" dirty="0"/>
              <a:t>Dữ liệu được cập nhật theo nhóm thao tác</a:t>
            </a:r>
            <a:r>
              <a:rPr lang="en-US" dirty="0"/>
              <a:t>		</a:t>
            </a:r>
            <a:r>
              <a:rPr lang="vi-VN" dirty="0"/>
              <a:t>Lấy lock trước khi đọc/ghi</a:t>
            </a:r>
            <a:endParaRPr lang="en-US" dirty="0"/>
          </a:p>
          <a:p>
            <a:r>
              <a:rPr lang="vi-VN" dirty="0"/>
              <a:t>Các replica không bị xung đột cập nhật</a:t>
            </a:r>
            <a:r>
              <a:rPr lang="en-US" dirty="0"/>
              <a:t>		</a:t>
            </a:r>
            <a:r>
              <a:rPr lang="vi-VN" dirty="0"/>
              <a:t>Unlock để cho phép đồng bộ</a:t>
            </a:r>
            <a:endParaRPr lang="en-US" dirty="0"/>
          </a:p>
          <a:p>
            <a:r>
              <a:rPr lang="vi-VN" dirty="0"/>
              <a:t>Không yêu cầu mọi thao tác được propagate ngay</a:t>
            </a:r>
            <a:r>
              <a:rPr lang="en-US" dirty="0"/>
              <a:t>	</a:t>
            </a:r>
            <a:r>
              <a:rPr lang="vi-VN" dirty="0"/>
              <a:t>Chỉ propagate khi unlock</a:t>
            </a:r>
          </a:p>
          <a:p>
            <a:r>
              <a:rPr lang="en-US" dirty="0"/>
              <a:t>=&gt;</a:t>
            </a:r>
            <a:r>
              <a:rPr lang="vi-VN" dirty="0"/>
              <a:t> Tiến trình chỉ cần lock–update–unlock, hệ thống đảm bảo phần còn lại.</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17</a:t>
            </a:fld>
            <a:endParaRPr lang="en-US"/>
          </a:p>
        </p:txBody>
      </p:sp>
    </p:spTree>
    <p:extLst>
      <p:ext uri="{BB962C8B-B14F-4D97-AF65-F5344CB8AC3E}">
        <p14:creationId xmlns:p14="http://schemas.microsoft.com/office/powerpoint/2010/main" val="24857075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Consistency for mobile users</a:t>
            </a:r>
            <a:endParaRPr lang="vi-VN" b="1" dirty="0"/>
          </a:p>
          <a:p>
            <a:r>
              <a:rPr lang="en-US" b="1" dirty="0"/>
              <a:t>- </a:t>
            </a:r>
            <a:r>
              <a:rPr lang="vi-VN" b="1" dirty="0"/>
              <a:t>Bối cảnh của slide</a:t>
            </a:r>
          </a:p>
          <a:p>
            <a:r>
              <a:rPr lang="vi-VN" dirty="0"/>
              <a:t>Slide mô tả tình huống phổ biến khi </a:t>
            </a:r>
            <a:r>
              <a:rPr lang="vi-VN" b="1" dirty="0"/>
              <a:t>người dùng di động (mobile user)</a:t>
            </a:r>
            <a:r>
              <a:rPr lang="vi-VN" dirty="0"/>
              <a:t> truy cập hệ thống phân tán tại hai vị trí địa lý khác nhau (location A và location B).</a:t>
            </a:r>
            <a:br>
              <a:rPr lang="vi-VN" dirty="0"/>
            </a:br>
            <a:r>
              <a:rPr lang="vi-VN" dirty="0"/>
              <a:t>Ví dụ: bạn dùng laptop làm việc với cơ sở dữ liệu phân tán.</a:t>
            </a:r>
          </a:p>
          <a:p>
            <a:endParaRPr lang="en-US" b="1" dirty="0"/>
          </a:p>
          <a:p>
            <a:r>
              <a:rPr lang="en-US" b="1" dirty="0"/>
              <a:t>- </a:t>
            </a:r>
            <a:r>
              <a:rPr lang="vi-VN" b="1" dirty="0"/>
              <a:t>Nội dung chính</a:t>
            </a:r>
          </a:p>
          <a:p>
            <a:r>
              <a:rPr lang="vi-VN" dirty="0"/>
              <a:t>Khi bạn di chuyển giữa các vị trí khác nhau (A → B), dữ liệu bạn thấy không phải lúc nào cũng nhất quán, do các bản sao (replica) chưa đồng bộ kịp thời.</a:t>
            </a:r>
          </a:p>
          <a:p>
            <a:r>
              <a:rPr lang="vi-VN" dirty="0"/>
              <a:t>Slide đưa ra mô tả:</a:t>
            </a:r>
          </a:p>
          <a:p>
            <a:pPr>
              <a:buFont typeface="+mj-lt"/>
              <a:buAutoNum type="arabicPeriod"/>
            </a:pPr>
            <a:r>
              <a:rPr lang="vi-VN" b="1" dirty="0"/>
              <a:t>Tại location A:</a:t>
            </a:r>
            <a:endParaRPr lang="vi-VN" dirty="0"/>
          </a:p>
          <a:p>
            <a:pPr marL="457200" lvl="1" indent="0">
              <a:buFont typeface="+mj-lt"/>
              <a:buNone/>
            </a:pPr>
            <a:r>
              <a:rPr lang="en-US" dirty="0"/>
              <a:t>- </a:t>
            </a:r>
            <a:r>
              <a:rPr lang="vi-VN" dirty="0"/>
              <a:t>Bạn đọc và cập nhật dữ liệu.</a:t>
            </a:r>
          </a:p>
          <a:p>
            <a:pPr marL="457200" lvl="1" indent="0">
              <a:buFont typeface="+mj-lt"/>
              <a:buNone/>
            </a:pPr>
            <a:r>
              <a:rPr lang="en-US" dirty="0"/>
              <a:t>- </a:t>
            </a:r>
            <a:r>
              <a:rPr lang="vi-VN" dirty="0"/>
              <a:t>Dữ liệu bạn cập nhật có thể vẫn chỉ ở server gần A.</a:t>
            </a:r>
          </a:p>
          <a:p>
            <a:pPr>
              <a:buFont typeface="+mj-lt"/>
              <a:buAutoNum type="arabicPeriod"/>
            </a:pPr>
            <a:r>
              <a:rPr lang="vi-VN" b="1" dirty="0"/>
              <a:t>Tại location B:</a:t>
            </a:r>
            <a:endParaRPr lang="vi-VN" dirty="0"/>
          </a:p>
          <a:p>
            <a:pPr marL="457200" lvl="1" indent="0">
              <a:buFont typeface="+mj-lt"/>
              <a:buNone/>
            </a:pPr>
            <a:r>
              <a:rPr lang="en-US" dirty="0"/>
              <a:t>- </a:t>
            </a:r>
            <a:r>
              <a:rPr lang="vi-VN" dirty="0"/>
              <a:t>Bạn tiếp tục làm việc với hệ thống.</a:t>
            </a:r>
          </a:p>
          <a:p>
            <a:pPr marL="457200" lvl="1" indent="0">
              <a:buFont typeface="+mj-lt"/>
              <a:buNone/>
            </a:pPr>
            <a:r>
              <a:rPr lang="en-US" dirty="0"/>
              <a:t>- </a:t>
            </a:r>
            <a:r>
              <a:rPr lang="vi-VN" dirty="0"/>
              <a:t>Nhưng nếu bạn không truy cập đúng server đã dùng ở A → có thể gặp lỗi không nhất quán.</a:t>
            </a:r>
          </a:p>
          <a:p>
            <a:endParaRPr lang="en-US" b="1" dirty="0"/>
          </a:p>
          <a:p>
            <a:r>
              <a:rPr lang="en-US" b="1" dirty="0"/>
              <a:t>- </a:t>
            </a:r>
            <a:r>
              <a:rPr lang="vi-VN" b="1" dirty="0"/>
              <a:t>Các trường hợp không nhất quán (inconsistencies)</a:t>
            </a:r>
          </a:p>
          <a:p>
            <a:r>
              <a:rPr lang="vi-VN" dirty="0"/>
              <a:t>Tình huống</a:t>
            </a:r>
            <a:r>
              <a:rPr lang="en-US" dirty="0"/>
              <a:t>				</a:t>
            </a:r>
            <a:r>
              <a:rPr lang="vi-VN" dirty="0"/>
              <a:t>Giải thích</a:t>
            </a:r>
            <a:endParaRPr lang="en-US" dirty="0"/>
          </a:p>
          <a:p>
            <a:r>
              <a:rPr lang="vi-VN" dirty="0"/>
              <a:t>Update tại A chưa được chuyển tới B</a:t>
            </a:r>
            <a:r>
              <a:rPr lang="en-US" dirty="0"/>
              <a:t>		</a:t>
            </a:r>
            <a:r>
              <a:rPr lang="vi-VN" dirty="0"/>
              <a:t>Bạn thấy dữ liệu </a:t>
            </a:r>
            <a:r>
              <a:rPr lang="vi-VN" b="1" dirty="0"/>
              <a:t>cũ hơn</a:t>
            </a:r>
            <a:r>
              <a:rPr lang="vi-VN" dirty="0"/>
              <a:t> so với những gì bạn đã cập nhật tại A.</a:t>
            </a:r>
            <a:endParaRPr lang="en-US" dirty="0"/>
          </a:p>
          <a:p>
            <a:r>
              <a:rPr lang="vi-VN" dirty="0"/>
              <a:t>Tại B bạn có thể đọc dữ liệu mới hơn dữ liệu tại A</a:t>
            </a:r>
            <a:r>
              <a:rPr lang="en-US" dirty="0"/>
              <a:t>	</a:t>
            </a:r>
            <a:r>
              <a:rPr lang="vi-VN" dirty="0"/>
              <a:t>Có nơi đã cập nhật dữ liệu mà bạn chưa thấy ở A.</a:t>
            </a:r>
            <a:endParaRPr lang="en-US" dirty="0"/>
          </a:p>
          <a:p>
            <a:r>
              <a:rPr lang="vi-VN" dirty="0"/>
              <a:t>Update tại B gây xung đột với update ở A</a:t>
            </a:r>
            <a:r>
              <a:rPr lang="en-US" dirty="0"/>
              <a:t>	</a:t>
            </a:r>
            <a:r>
              <a:rPr lang="vi-VN" dirty="0"/>
              <a:t>Hai thay đổi khác nhau trên cùng một dữ liệu → gây conflict.</a:t>
            </a:r>
          </a:p>
          <a:p>
            <a:r>
              <a:rPr lang="en-US" dirty="0"/>
              <a:t>=&gt;</a:t>
            </a:r>
            <a:r>
              <a:rPr lang="vi-VN" dirty="0"/>
              <a:t> Đây là vấn đề quen thuộc trong </a:t>
            </a:r>
            <a:r>
              <a:rPr lang="vi-VN" b="1" dirty="0"/>
              <a:t>mobile computing và edge computing</a:t>
            </a:r>
            <a:r>
              <a:rPr lang="vi-VN" dirty="0"/>
              <a:t>.</a:t>
            </a:r>
          </a:p>
          <a:p>
            <a:endParaRPr lang="en-US" b="1" dirty="0"/>
          </a:p>
          <a:p>
            <a:r>
              <a:rPr lang="en-US" b="1" dirty="0"/>
              <a:t>- </a:t>
            </a:r>
            <a:r>
              <a:rPr lang="vi-VN" b="1" dirty="0"/>
              <a:t>Ý nghĩa của đoạn Note (quan trọng nhất slide)</a:t>
            </a:r>
          </a:p>
          <a:p>
            <a:r>
              <a:rPr lang="vi-VN" dirty="0"/>
              <a:t>Điều bạn thực sự cần là:</a:t>
            </a:r>
            <a:br>
              <a:rPr lang="vi-VN" dirty="0"/>
            </a:br>
            <a:r>
              <a:rPr lang="vi-VN" b="1" dirty="0"/>
              <a:t>Những dữ liệu bạn đã đọc/ghi tại A phải tiếp tục nhất quán khi bạn làm việc tại B.</a:t>
            </a:r>
            <a:r>
              <a:rPr lang="en-US" b="1" dirty="0"/>
              <a:t> </a:t>
            </a:r>
            <a:r>
              <a:rPr lang="vi-VN" dirty="0"/>
              <a:t>Tức là:</a:t>
            </a:r>
          </a:p>
          <a:p>
            <a:pPr>
              <a:buFont typeface="Arial" panose="020B0604020202020204" pitchFamily="34" charset="0"/>
              <a:buChar char="•"/>
            </a:pPr>
            <a:r>
              <a:rPr lang="vi-VN" dirty="0"/>
              <a:t>Hệ thống không cần phải </a:t>
            </a:r>
            <a:r>
              <a:rPr lang="vi-VN" i="1" dirty="0"/>
              <a:t>global consistency</a:t>
            </a:r>
            <a:r>
              <a:rPr lang="vi-VN" dirty="0"/>
              <a:t> (nhất quán tuyệt đối cho tất cả người dùng),</a:t>
            </a:r>
          </a:p>
          <a:p>
            <a:pPr>
              <a:buFont typeface="Arial" panose="020B0604020202020204" pitchFamily="34" charset="0"/>
              <a:buChar char="•"/>
            </a:pPr>
            <a:r>
              <a:rPr lang="vi-VN" dirty="0"/>
              <a:t>Mà chỉ cần </a:t>
            </a:r>
            <a:r>
              <a:rPr lang="vi-VN" b="1" dirty="0"/>
              <a:t>client-centric consistency</a:t>
            </a:r>
            <a:r>
              <a:rPr lang="vi-VN" dirty="0"/>
              <a:t>: đảm bảo dữ liệu nhất quán </a:t>
            </a:r>
            <a:r>
              <a:rPr lang="vi-VN" i="1" dirty="0"/>
              <a:t>đối với riêng bạn</a:t>
            </a:r>
            <a:r>
              <a:rPr lang="vi-VN" dirty="0"/>
              <a:t>.</a:t>
            </a:r>
          </a:p>
          <a:p>
            <a:r>
              <a:rPr lang="vi-VN" b="1" dirty="0"/>
              <a:t>Tóm lại</a:t>
            </a:r>
          </a:p>
          <a:p>
            <a:r>
              <a:rPr lang="vi-VN" dirty="0"/>
              <a:t>Nếu mục tiêu là </a:t>
            </a:r>
            <a:r>
              <a:rPr lang="vi-VN" i="1" dirty="0"/>
              <a:t>server-centric consistency</a:t>
            </a:r>
            <a:r>
              <a:rPr lang="en-US" i="1" dirty="0"/>
              <a:t>			</a:t>
            </a:r>
            <a:r>
              <a:rPr lang="vi-VN" dirty="0"/>
              <a:t>Nếu mục tiêu là </a:t>
            </a:r>
            <a:r>
              <a:rPr lang="vi-VN" i="1" dirty="0"/>
              <a:t>client-centric consistency</a:t>
            </a:r>
            <a:endParaRPr lang="en-US" i="1" dirty="0"/>
          </a:p>
          <a:p>
            <a:r>
              <a:rPr lang="vi-VN" dirty="0"/>
              <a:t>Tất cả người dùng phải thấy cùng một phiên bản dữ liệu</a:t>
            </a:r>
            <a:r>
              <a:rPr lang="en-US" dirty="0"/>
              <a:t>		</a:t>
            </a:r>
            <a:r>
              <a:rPr lang="vi-VN" dirty="0"/>
              <a:t>Chỉ cần dữ liệu nhất quán cho người dùng hiện tại</a:t>
            </a:r>
            <a:endParaRPr lang="en-US" dirty="0"/>
          </a:p>
          <a:p>
            <a:r>
              <a:rPr lang="vi-VN" dirty="0"/>
              <a:t>Cực kỳ khó trong môi trường phân tán, đặc biệt là người dùng di động</a:t>
            </a:r>
            <a:r>
              <a:rPr lang="en-US" dirty="0"/>
              <a:t>	</a:t>
            </a:r>
            <a:r>
              <a:rPr lang="vi-VN" dirty="0"/>
              <a:t>Thực tế hơn, dễ triển khai hơn</a:t>
            </a:r>
            <a:endParaRPr lang="en-US" dirty="0"/>
          </a:p>
          <a:p>
            <a:r>
              <a:rPr lang="vi-VN" dirty="0"/>
              <a:t>Hiệu năng thấp do phải đồng bộ toàn cầu</a:t>
            </a:r>
            <a:r>
              <a:rPr lang="en-US" dirty="0"/>
              <a:t>			</a:t>
            </a:r>
            <a:r>
              <a:rPr lang="vi-VN" dirty="0"/>
              <a:t>Hiệu năng tốt hơn, chỉ đồng bộ những gì user đã thấy</a:t>
            </a:r>
          </a:p>
          <a:p>
            <a:endParaRPr lang="en-US" b="1" dirty="0"/>
          </a:p>
          <a:p>
            <a:r>
              <a:rPr lang="en-US" b="1" dirty="0"/>
              <a:t>- </a:t>
            </a:r>
            <a:r>
              <a:rPr lang="vi-VN" b="1" dirty="0"/>
              <a:t>Kết luận slide</a:t>
            </a:r>
          </a:p>
          <a:p>
            <a:pPr>
              <a:buFont typeface="Arial" panose="020B0604020202020204" pitchFamily="34" charset="0"/>
              <a:buChar char="•"/>
            </a:pPr>
            <a:r>
              <a:rPr lang="vi-VN" dirty="0"/>
              <a:t>Mobile users truy cập vào nhiều replica → </a:t>
            </a:r>
            <a:r>
              <a:rPr lang="vi-VN" b="1" dirty="0"/>
              <a:t>có thể thấy các phiên bản dữ liệu khác nhau</a:t>
            </a:r>
            <a:r>
              <a:rPr lang="vi-VN" dirty="0"/>
              <a:t>.</a:t>
            </a:r>
          </a:p>
          <a:p>
            <a:pPr>
              <a:buFont typeface="Arial" panose="020B0604020202020204" pitchFamily="34" charset="0"/>
              <a:buChar char="•"/>
            </a:pPr>
            <a:r>
              <a:rPr lang="vi-VN" dirty="0"/>
              <a:t>Điều họ cần không phải là hệ thống phải đồng bộ hoàn toàn,</a:t>
            </a:r>
          </a:p>
          <a:p>
            <a:pPr>
              <a:buFont typeface="Arial" panose="020B0604020202020204" pitchFamily="34" charset="0"/>
              <a:buChar char="•"/>
            </a:pPr>
            <a:r>
              <a:rPr lang="vi-VN" dirty="0"/>
              <a:t>Mà là đảm bảo rằng: </a:t>
            </a:r>
            <a:r>
              <a:rPr lang="vi-VN" i="1" dirty="0"/>
              <a:t>những gì họ đã làm trước đó vẫn đúng khi họ tiếp tục làm việc.</a:t>
            </a:r>
            <a:endParaRPr lang="vi-VN" dirty="0"/>
          </a:p>
          <a:p>
            <a:r>
              <a:rPr lang="en-US" dirty="0"/>
              <a:t>=&gt;</a:t>
            </a:r>
            <a:r>
              <a:rPr lang="vi-VN" dirty="0"/>
              <a:t> Đây là khái niệm cơ sở dẫn tới </a:t>
            </a:r>
            <a:r>
              <a:rPr lang="vi-VN" b="1" dirty="0"/>
              <a:t>client-centric consistency models</a:t>
            </a:r>
            <a:r>
              <a:rPr lang="vi-VN" dirty="0"/>
              <a:t> (eventual consistency, read-your-writes, monotonic reads...).</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18</a:t>
            </a:fld>
            <a:endParaRPr lang="en-US"/>
          </a:p>
        </p:txBody>
      </p:sp>
    </p:spTree>
    <p:extLst>
      <p:ext uri="{BB962C8B-B14F-4D97-AF65-F5344CB8AC3E}">
        <p14:creationId xmlns:p14="http://schemas.microsoft.com/office/powerpoint/2010/main" val="217344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Basic architecture – Client-centric consistency for mobile users</a:t>
            </a:r>
            <a:endParaRPr lang="vi-VN" dirty="0"/>
          </a:p>
          <a:p>
            <a:r>
              <a:rPr lang="vi-VN" b="1" dirty="0"/>
              <a:t>Giải thích slide</a:t>
            </a:r>
          </a:p>
          <a:p>
            <a:r>
              <a:rPr lang="vi-VN" dirty="0"/>
              <a:t>Slide mô tả </a:t>
            </a:r>
            <a:r>
              <a:rPr lang="vi-VN" b="1" dirty="0"/>
              <a:t>kiến trúc cơ bản</a:t>
            </a:r>
            <a:r>
              <a:rPr lang="vi-VN" dirty="0"/>
              <a:t> khi một </a:t>
            </a:r>
            <a:r>
              <a:rPr lang="vi-VN" b="1" dirty="0"/>
              <a:t>người dùng di động (mobile user)</a:t>
            </a:r>
            <a:r>
              <a:rPr lang="vi-VN" dirty="0"/>
              <a:t> truy cập vào các bản sao (replica) khác nhau của cơ sở dữ liệu phân tán.</a:t>
            </a:r>
          </a:p>
          <a:p>
            <a:endParaRPr lang="en-US" b="1" dirty="0"/>
          </a:p>
          <a:p>
            <a:r>
              <a:rPr lang="vi-VN" b="1" dirty="0"/>
              <a:t>Nội dung chính của slide</a:t>
            </a:r>
          </a:p>
          <a:p>
            <a:pPr>
              <a:buFont typeface="Arial" panose="020B0604020202020204" pitchFamily="34" charset="0"/>
              <a:buChar char="•"/>
            </a:pPr>
            <a:r>
              <a:rPr lang="vi-VN" dirty="0"/>
              <a:t>Hệ thống có </a:t>
            </a:r>
            <a:r>
              <a:rPr lang="vi-VN" b="1" dirty="0"/>
              <a:t>nhiều bản sao dữ liệu (replicas)</a:t>
            </a:r>
            <a:r>
              <a:rPr lang="vi-VN" dirty="0"/>
              <a:t> đặt tại nhiều vị trí địa lý khác nhau.</a:t>
            </a:r>
          </a:p>
          <a:p>
            <a:pPr>
              <a:buFont typeface="Arial" panose="020B0604020202020204" pitchFamily="34" charset="0"/>
              <a:buChar char="•"/>
            </a:pPr>
            <a:r>
              <a:rPr lang="vi-VN" dirty="0"/>
              <a:t>Người dùng sử dụng thiết bị di động (laptop, tablet, smartphone) để </a:t>
            </a:r>
            <a:r>
              <a:rPr lang="vi-VN" b="1" dirty="0"/>
              <a:t>đọc và ghi dữ liệu</a:t>
            </a:r>
            <a:r>
              <a:rPr lang="vi-VN" dirty="0"/>
              <a:t> vào hệ thống.</a:t>
            </a:r>
          </a:p>
          <a:p>
            <a:pPr>
              <a:buFont typeface="Arial" panose="020B0604020202020204" pitchFamily="34" charset="0"/>
              <a:buChar char="•"/>
            </a:pPr>
            <a:r>
              <a:rPr lang="vi-VN" dirty="0"/>
              <a:t>Khi người dùng </a:t>
            </a:r>
            <a:r>
              <a:rPr lang="vi-VN" b="1" dirty="0"/>
              <a:t>di chuyển sang vị trí khác</a:t>
            </a:r>
            <a:r>
              <a:rPr lang="vi-VN" dirty="0"/>
              <a:t>, thiết bị sẽ </a:t>
            </a:r>
            <a:r>
              <a:rPr lang="vi-VN" i="1" dirty="0"/>
              <a:t>tự động kết nối</a:t>
            </a:r>
            <a:r>
              <a:rPr lang="vi-VN" dirty="0"/>
              <a:t> đến một replica khác gần vị trí mới hơn (được thể hiện bằng mũi tên trên slide).</a:t>
            </a:r>
          </a:p>
          <a:p>
            <a:endParaRPr lang="en-US" dirty="0"/>
          </a:p>
          <a:p>
            <a:r>
              <a:rPr lang="vi-VN" b="1" dirty="0"/>
              <a:t>Điểm quan trọng nhất:</a:t>
            </a:r>
            <a:br>
              <a:rPr lang="vi-VN" dirty="0"/>
            </a:br>
            <a:r>
              <a:rPr lang="en-US" dirty="0"/>
              <a:t>=&gt;</a:t>
            </a:r>
            <a:r>
              <a:rPr lang="vi-VN" dirty="0"/>
              <a:t> Các replica cần duy trì </a:t>
            </a:r>
            <a:r>
              <a:rPr lang="vi-VN" b="1" dirty="0"/>
              <a:t>client-centric consistency</a:t>
            </a:r>
            <a:r>
              <a:rPr lang="vi-VN" dirty="0"/>
              <a:t> (tính nhất quán theo phía client), không nhất thiết phải đồng bộ tuyệt đối giữa tất cả các replica.</a:t>
            </a:r>
          </a:p>
          <a:p>
            <a:endParaRPr lang="en-US" b="1" dirty="0"/>
          </a:p>
          <a:p>
            <a:r>
              <a:rPr lang="vi-VN" b="1" dirty="0"/>
              <a:t>Client-centric consistency là gì?</a:t>
            </a:r>
          </a:p>
          <a:p>
            <a:pPr>
              <a:buFont typeface="Arial" panose="020B0604020202020204" pitchFamily="34" charset="0"/>
              <a:buChar char="•"/>
            </a:pPr>
            <a:r>
              <a:rPr lang="vi-VN" dirty="0"/>
              <a:t>Thay vì đảm bảo </a:t>
            </a:r>
            <a:r>
              <a:rPr lang="vi-VN" b="1" dirty="0"/>
              <a:t>nhất quán tuyệt đối toàn hệ thống</a:t>
            </a:r>
            <a:r>
              <a:rPr lang="vi-VN" dirty="0"/>
              <a:t>, hệ thống chỉ cần đảm bảo rằng:</a:t>
            </a:r>
          </a:p>
          <a:p>
            <a:pPr>
              <a:buFont typeface="Arial" panose="020B0604020202020204" pitchFamily="34" charset="0"/>
              <a:buChar char="•"/>
            </a:pPr>
            <a:r>
              <a:rPr lang="vi-VN" i="1" dirty="0"/>
              <a:t>Những dữ liệu mà người dùng đã đọc hoặc ghi ở replica trước đó phải tiếp tục đúng và nhất quán khi người dùng chuyển sang replica khác.</a:t>
            </a:r>
            <a:endParaRPr lang="vi-VN" dirty="0"/>
          </a:p>
          <a:p>
            <a:r>
              <a:rPr lang="vi-VN" dirty="0"/>
              <a:t>=&gt; Điều này phù hợp với người dùng di động, vì họ không quan tâm đến dữ liệu của người khác, họ chỉ cần dữ liệu </a:t>
            </a:r>
            <a:r>
              <a:rPr lang="vi-VN" b="1" dirty="0"/>
              <a:t>của riêng họ</a:t>
            </a:r>
            <a:r>
              <a:rPr lang="vi-VN" dirty="0"/>
              <a:t> là nhất quán.</a:t>
            </a:r>
          </a:p>
          <a:p>
            <a:endParaRPr lang="en-US" b="1" dirty="0"/>
          </a:p>
          <a:p>
            <a:r>
              <a:rPr lang="vi-VN" b="1" dirty="0"/>
              <a:t>Ý nghĩa mô hình trong hình vẽ</a:t>
            </a:r>
          </a:p>
          <a:p>
            <a:r>
              <a:rPr lang="vi-VN" dirty="0"/>
              <a:t>Thành phần</a:t>
            </a:r>
            <a:r>
              <a:rPr lang="en-US" dirty="0"/>
              <a:t>				</a:t>
            </a:r>
            <a:r>
              <a:rPr lang="vi-VN" dirty="0"/>
              <a:t>Vai trò</a:t>
            </a:r>
            <a:endParaRPr lang="en-US" dirty="0"/>
          </a:p>
          <a:p>
            <a:r>
              <a:rPr lang="vi-VN" b="1" dirty="0"/>
              <a:t>Portable computer (Laptop)</a:t>
            </a:r>
            <a:r>
              <a:rPr lang="en-US" b="1" dirty="0"/>
              <a:t>		</a:t>
            </a:r>
            <a:r>
              <a:rPr lang="vi-VN" dirty="0"/>
              <a:t>Thiết bị của người dùng, gửi yêu cầu đọc/ghi dữ liệu</a:t>
            </a:r>
            <a:endParaRPr lang="en-US" dirty="0"/>
          </a:p>
          <a:p>
            <a:r>
              <a:rPr lang="vi-VN" b="1" dirty="0"/>
              <a:t>Distributed and replicated database</a:t>
            </a:r>
            <a:r>
              <a:rPr lang="en-US" b="1" dirty="0"/>
              <a:t>		</a:t>
            </a:r>
            <a:r>
              <a:rPr lang="vi-VN" dirty="0"/>
              <a:t>Cơ sở dữ liệu được nhân bản ở nhiều vị trí</a:t>
            </a:r>
            <a:endParaRPr lang="en-US" dirty="0"/>
          </a:p>
          <a:p>
            <a:r>
              <a:rPr lang="vi-VN" b="1" dirty="0"/>
              <a:t>Wide-area network</a:t>
            </a:r>
            <a:r>
              <a:rPr lang="en-US" b="1" dirty="0"/>
              <a:t>			</a:t>
            </a:r>
            <a:r>
              <a:rPr lang="vi-VN" dirty="0"/>
              <a:t>Mạng kết nối giữa các replica (WAN/Internet)</a:t>
            </a:r>
            <a:endParaRPr lang="en-US" dirty="0"/>
          </a:p>
          <a:p>
            <a:r>
              <a:rPr lang="vi-VN" b="1" dirty="0"/>
              <a:t>Client transparently connects to other replica</a:t>
            </a:r>
            <a:r>
              <a:rPr lang="en-US" b="1" dirty="0"/>
              <a:t>	</a:t>
            </a:r>
            <a:r>
              <a:rPr lang="vi-VN" dirty="0"/>
              <a:t>Việc chuyển replica là </a:t>
            </a:r>
            <a:r>
              <a:rPr lang="vi-VN" i="1" dirty="0"/>
              <a:t>ẩn</a:t>
            </a:r>
            <a:r>
              <a:rPr lang="vi-VN" dirty="0"/>
              <a:t> đối với người dùng (transparent)</a:t>
            </a:r>
          </a:p>
          <a:p>
            <a:endParaRPr lang="en-US" b="1" dirty="0"/>
          </a:p>
          <a:p>
            <a:r>
              <a:rPr lang="en-US" b="1" dirty="0"/>
              <a:t>* </a:t>
            </a:r>
            <a:r>
              <a:rPr lang="vi-VN" b="1" dirty="0"/>
              <a:t>Tại sao không dùng global consistency?</a:t>
            </a:r>
          </a:p>
          <a:p>
            <a:pPr lvl="1">
              <a:buFont typeface="Arial" panose="020B0604020202020204" pitchFamily="34" charset="0"/>
              <a:buChar char="•"/>
            </a:pPr>
            <a:r>
              <a:rPr lang="vi-VN" dirty="0"/>
              <a:t>Vì người dùng di động có thể kết nối mạng yếu, không ổn định.</a:t>
            </a:r>
          </a:p>
          <a:p>
            <a:pPr lvl="1">
              <a:buFont typeface="Arial" panose="020B0604020202020204" pitchFamily="34" charset="0"/>
              <a:buChar char="•"/>
            </a:pPr>
            <a:r>
              <a:rPr lang="vi-VN" dirty="0"/>
              <a:t>Đồng bộ tuyệt đối giữa mọi replica → </a:t>
            </a:r>
            <a:r>
              <a:rPr lang="vi-VN" b="1" dirty="0"/>
              <a:t>tốn chi phí và chậm</a:t>
            </a:r>
            <a:r>
              <a:rPr lang="vi-VN" dirty="0"/>
              <a:t>.</a:t>
            </a:r>
          </a:p>
          <a:p>
            <a:pPr lvl="1">
              <a:buFont typeface="Arial" panose="020B0604020202020204" pitchFamily="34" charset="0"/>
              <a:buChar char="•"/>
            </a:pPr>
            <a:r>
              <a:rPr lang="vi-VN" dirty="0"/>
              <a:t>Client-centric consistency vẫn đảm bảo trải nghiệm nhất quán từ phía </a:t>
            </a:r>
            <a:r>
              <a:rPr lang="vi-VN" b="1" dirty="0"/>
              <a:t>người dùng</a:t>
            </a:r>
            <a:r>
              <a:rPr lang="vi-VN" dirty="0"/>
              <a:t> mà không cần đồng bộ toàn hệ thống.</a:t>
            </a:r>
          </a:p>
          <a:p>
            <a:endParaRPr lang="en-US" b="1" dirty="0"/>
          </a:p>
          <a:p>
            <a:r>
              <a:rPr lang="vi-VN" b="1" dirty="0"/>
              <a:t>Ví dụ minh hoạ</a:t>
            </a:r>
          </a:p>
          <a:p>
            <a:pPr>
              <a:buFont typeface="+mj-lt"/>
              <a:buAutoNum type="arabicPeriod"/>
            </a:pPr>
            <a:r>
              <a:rPr lang="vi-VN" dirty="0"/>
              <a:t>Bạn cập nhật dữ liệu khách hàng tại Hà Nội (replica A).</a:t>
            </a:r>
          </a:p>
          <a:p>
            <a:pPr>
              <a:buFont typeface="+mj-lt"/>
              <a:buAutoNum type="arabicPeriod"/>
            </a:pPr>
            <a:r>
              <a:rPr lang="vi-VN" dirty="0"/>
              <a:t>Bạn bay vào TP.HCM, hệ thống tự chuyển sang replica B.</a:t>
            </a:r>
          </a:p>
          <a:p>
            <a:pPr>
              <a:buFont typeface="+mj-lt"/>
              <a:buAutoNum type="arabicPeriod"/>
            </a:pPr>
            <a:r>
              <a:rPr lang="vi-VN" dirty="0"/>
              <a:t>Khi truy cập dữ liệu, bạn </a:t>
            </a:r>
            <a:r>
              <a:rPr lang="vi-VN" b="1" dirty="0"/>
              <a:t>phải thấy đúng những gì bạn đã cập nhật ở A</a:t>
            </a:r>
            <a:r>
              <a:rPr lang="vi-VN" dirty="0"/>
              <a:t>, kể cả khi replica B chưa đồng bộ toàn bộ dữ liệu từ A.</a:t>
            </a:r>
          </a:p>
          <a:p>
            <a:pPr marL="0" indent="0">
              <a:buFont typeface="Symbol" panose="05050102010706020507" pitchFamily="18" charset="2"/>
              <a:buNone/>
            </a:pPr>
            <a:r>
              <a:rPr lang="en-US" dirty="0"/>
              <a:t>=&gt;</a:t>
            </a:r>
            <a:r>
              <a:rPr lang="vi-VN" dirty="0"/>
              <a:t>Đó chính là </a:t>
            </a:r>
            <a:r>
              <a:rPr lang="vi-VN" b="1" dirty="0"/>
              <a:t>client-centric consistency</a:t>
            </a:r>
            <a:r>
              <a:rPr lang="vi-VN" dirty="0"/>
              <a:t>.</a:t>
            </a:r>
            <a:endParaRPr lang="en-US" dirty="0"/>
          </a:p>
          <a:p>
            <a:pPr marL="0" indent="0">
              <a:buFont typeface="Symbol" panose="05050102010706020507" pitchFamily="18" charset="2"/>
              <a:buNone/>
            </a:pPr>
            <a:endParaRPr lang="en-US" b="1" dirty="0"/>
          </a:p>
          <a:p>
            <a:pPr marL="0" indent="0">
              <a:buFont typeface="Symbol" panose="05050102010706020507" pitchFamily="18" charset="2"/>
              <a:buNone/>
            </a:pPr>
            <a:r>
              <a:rPr lang="vi-VN" b="1" dirty="0"/>
              <a:t>Kết luận slide</a:t>
            </a:r>
          </a:p>
          <a:p>
            <a:pPr>
              <a:buFont typeface="Arial" panose="020B0604020202020204" pitchFamily="34" charset="0"/>
              <a:buChar char="•"/>
            </a:pPr>
            <a:r>
              <a:rPr lang="vi-VN" dirty="0"/>
              <a:t>Mobile user có thể di chuyển và kết nối đến nhiều replica khác nhau.</a:t>
            </a:r>
          </a:p>
          <a:p>
            <a:pPr>
              <a:buFont typeface="Arial" panose="020B0604020202020204" pitchFamily="34" charset="0"/>
              <a:buChar char="•"/>
            </a:pPr>
            <a:r>
              <a:rPr lang="vi-VN" dirty="0"/>
              <a:t>Hệ thống phải đảm bảo trải nghiệm nhất quán cho </a:t>
            </a:r>
            <a:r>
              <a:rPr lang="vi-VN" b="1" dirty="0"/>
              <a:t>chính người dùng đó</a:t>
            </a:r>
            <a:r>
              <a:rPr lang="vi-VN" dirty="0"/>
              <a:t>, không cần nhất quán chung toàn hệ thống.</a:t>
            </a:r>
          </a:p>
          <a:p>
            <a:r>
              <a:rPr lang="vi-VN" b="1" dirty="0"/>
              <a:t>"Consistency for me, not necessarily for everyone."</a:t>
            </a:r>
            <a:endParaRPr lang="vi-VN" dirty="0"/>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19</a:t>
            </a:fld>
            <a:endParaRPr lang="en-US"/>
          </a:p>
        </p:txBody>
      </p:sp>
    </p:spTree>
    <p:extLst>
      <p:ext uri="{BB962C8B-B14F-4D97-AF65-F5344CB8AC3E}">
        <p14:creationId xmlns:p14="http://schemas.microsoft.com/office/powerpoint/2010/main" val="1163556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Client–centric consistency model – Monotonic Reads</a:t>
            </a:r>
            <a:endParaRPr lang="vi-VN" b="1" dirty="0"/>
          </a:p>
          <a:p>
            <a:r>
              <a:rPr lang="vi-VN" b="1" dirty="0"/>
              <a:t>Ý nghĩa của mô hình </a:t>
            </a:r>
            <a:r>
              <a:rPr lang="vi-VN" b="1" i="1" dirty="0"/>
              <a:t>Monotonic Reads</a:t>
            </a:r>
            <a:endParaRPr lang="vi-VN" b="1" dirty="0"/>
          </a:p>
          <a:p>
            <a:r>
              <a:rPr lang="en-US" b="1" dirty="0"/>
              <a:t>- </a:t>
            </a:r>
            <a:r>
              <a:rPr lang="vi-VN" b="1" dirty="0"/>
              <a:t>Định nghĩa trên slide:</a:t>
            </a:r>
            <a:endParaRPr lang="vi-VN" dirty="0"/>
          </a:p>
          <a:p>
            <a:r>
              <a:rPr lang="vi-VN" dirty="0"/>
              <a:t>Nếu một process P đọc giá trị của dữ liệu x tại một thời điểm, thì mọi lần đọc tiếp theo của P trên cùng dữ liệu x sẽ </a:t>
            </a:r>
            <a:r>
              <a:rPr lang="vi-VN" i="1" dirty="0"/>
              <a:t>luôn trả về giá trị đó hoặc giá trị mới hơn</a:t>
            </a:r>
            <a:r>
              <a:rPr lang="vi-VN" dirty="0"/>
              <a:t>.</a:t>
            </a:r>
          </a:p>
          <a:p>
            <a:r>
              <a:rPr lang="en-US" dirty="0"/>
              <a:t>=&gt;</a:t>
            </a:r>
            <a:r>
              <a:rPr lang="vi-VN" dirty="0"/>
              <a:t> Nghĩa là: bạn sẽ </a:t>
            </a:r>
            <a:r>
              <a:rPr lang="vi-VN" b="1" dirty="0"/>
              <a:t>không bao giờ đọc lại một giá trị cũ hơn</a:t>
            </a:r>
            <a:r>
              <a:rPr lang="vi-VN" dirty="0"/>
              <a:t> giá trị mà bạn đã đọc trước đó.</a:t>
            </a:r>
          </a:p>
          <a:p>
            <a:r>
              <a:rPr lang="en-US" b="1" dirty="0"/>
              <a:t> - </a:t>
            </a:r>
            <a:r>
              <a:rPr lang="vi-VN" b="1" dirty="0"/>
              <a:t>Khi nào mô hình này quan trọng?</a:t>
            </a:r>
          </a:p>
          <a:p>
            <a:pPr lvl="1">
              <a:buFont typeface="Arial" panose="020B0604020202020204" pitchFamily="34" charset="0"/>
              <a:buChar char="•"/>
            </a:pPr>
            <a:r>
              <a:rPr lang="vi-VN" dirty="0"/>
              <a:t>Người dùng di động truy cập dữ liệu tại </a:t>
            </a:r>
            <a:r>
              <a:rPr lang="vi-VN" i="1" dirty="0"/>
              <a:t>nhiều replica khác nhau</a:t>
            </a:r>
            <a:r>
              <a:rPr lang="vi-VN" dirty="0"/>
              <a:t> khi họ di chuyển.</a:t>
            </a:r>
          </a:p>
          <a:p>
            <a:pPr lvl="1">
              <a:buFont typeface="Arial" panose="020B0604020202020204" pitchFamily="34" charset="0"/>
              <a:buChar char="•"/>
            </a:pPr>
            <a:r>
              <a:rPr lang="vi-VN" dirty="0"/>
              <a:t>Hệ thống có </a:t>
            </a:r>
            <a:r>
              <a:rPr lang="vi-VN" b="1" dirty="0"/>
              <a:t>replication + eventual consistency</a:t>
            </a:r>
            <a:r>
              <a:rPr lang="vi-VN" dirty="0"/>
              <a:t> ⇒ dữ liệu có thể chưa đồng bộ ngay tại mọi bản sao.</a:t>
            </a:r>
          </a:p>
          <a:p>
            <a:pPr lvl="1">
              <a:buFont typeface="Arial" panose="020B0604020202020204" pitchFamily="34" charset="0"/>
              <a:buChar char="•"/>
            </a:pPr>
            <a:r>
              <a:rPr lang="vi-VN" dirty="0"/>
              <a:t>Monotonic reads đảm bảo trải nghiệm nhất quán theo </a:t>
            </a:r>
            <a:r>
              <a:rPr lang="vi-VN" i="1" dirty="0"/>
              <a:t>thời gian</a:t>
            </a:r>
            <a:r>
              <a:rPr lang="vi-VN" dirty="0"/>
              <a:t> đối với riêng người dùng đó.</a:t>
            </a:r>
          </a:p>
          <a:p>
            <a:endParaRPr lang="en-US" b="1" dirty="0"/>
          </a:p>
          <a:p>
            <a:r>
              <a:rPr lang="en-US" b="1" dirty="0"/>
              <a:t>- </a:t>
            </a:r>
            <a:r>
              <a:rPr lang="vi-VN" b="1" dirty="0"/>
              <a:t>Giải thích hình minh hoạ trong slide:</a:t>
            </a:r>
          </a:p>
          <a:p>
            <a:r>
              <a:rPr lang="vi-VN" dirty="0"/>
              <a:t>Slide minh họa hai tình huống:</a:t>
            </a:r>
          </a:p>
          <a:p>
            <a:r>
              <a:rPr lang="en-US" b="1" dirty="0"/>
              <a:t>(</a:t>
            </a:r>
            <a:r>
              <a:rPr lang="vi-VN" b="1" dirty="0"/>
              <a:t>a) Monotonic-read consistent data store</a:t>
            </a:r>
          </a:p>
          <a:p>
            <a:r>
              <a:rPr lang="vi-VN" dirty="0"/>
              <a:t>Replica L1 (local copy 1)</a:t>
            </a:r>
            <a:r>
              <a:rPr lang="en-US" dirty="0"/>
              <a:t>		</a:t>
            </a:r>
            <a:r>
              <a:rPr lang="vi-VN" dirty="0"/>
              <a:t>Replica L2 (local copy 2)</a:t>
            </a:r>
            <a:endParaRPr lang="en-US" dirty="0"/>
          </a:p>
          <a:p>
            <a:r>
              <a:rPr lang="vi-VN" dirty="0"/>
              <a:t>W₁(x₁) — ghi giá trị x₁</a:t>
            </a:r>
            <a:r>
              <a:rPr lang="en-US" dirty="0"/>
              <a:t>		</a:t>
            </a:r>
            <a:r>
              <a:rPr lang="vi-VN" dirty="0"/>
              <a:t>W₂(x₂) — cập nhật giá trị x₂ (mới hơn)</a:t>
            </a:r>
            <a:endParaRPr lang="en-US" dirty="0"/>
          </a:p>
          <a:p>
            <a:r>
              <a:rPr lang="vi-VN" dirty="0"/>
              <a:t>R₁(x₁) — đọc giá trị x₁</a:t>
            </a:r>
            <a:r>
              <a:rPr lang="en-US" dirty="0"/>
              <a:t>		</a:t>
            </a:r>
            <a:r>
              <a:rPr lang="vi-VN" dirty="0"/>
              <a:t>R₁(x₂) — đọc giá trị mới x₂</a:t>
            </a:r>
          </a:p>
          <a:p>
            <a:r>
              <a:rPr lang="en-US" dirty="0"/>
              <a:t>=&gt;</a:t>
            </a:r>
            <a:r>
              <a:rPr lang="vi-VN" dirty="0"/>
              <a:t> Process P đọc x₁ ở bản sao L1, sau đó đọc tiếp ở bản sao L2 và thấy x₂ (</a:t>
            </a:r>
            <a:r>
              <a:rPr lang="vi-VN" b="1" dirty="0"/>
              <a:t>mới hơn</a:t>
            </a:r>
            <a:r>
              <a:rPr lang="vi-VN" dirty="0"/>
              <a:t>) ⇒ </a:t>
            </a:r>
            <a:r>
              <a:rPr lang="vi-VN" b="1" dirty="0"/>
              <a:t>thỏa mãn monotonic reads</a:t>
            </a:r>
            <a:r>
              <a:rPr lang="vi-VN" dirty="0"/>
              <a:t>.</a:t>
            </a:r>
          </a:p>
          <a:p>
            <a:r>
              <a:rPr lang="en-US" b="1" dirty="0"/>
              <a:t>(</a:t>
            </a:r>
            <a:r>
              <a:rPr lang="vi-VN" b="1" dirty="0"/>
              <a:t>b) Không đảm bảo monotonic reads</a:t>
            </a:r>
          </a:p>
          <a:p>
            <a:r>
              <a:rPr lang="vi-VN" dirty="0"/>
              <a:t>Replica L1</a:t>
            </a:r>
            <a:r>
              <a:rPr lang="en-US" dirty="0"/>
              <a:t>			</a:t>
            </a:r>
            <a:r>
              <a:rPr lang="vi-VN" dirty="0"/>
              <a:t>Replica L2</a:t>
            </a:r>
            <a:endParaRPr lang="en-US" dirty="0"/>
          </a:p>
          <a:p>
            <a:r>
              <a:rPr lang="vi-VN" dirty="0"/>
              <a:t>W₁(x₁) — ghi x₁</a:t>
            </a:r>
            <a:r>
              <a:rPr lang="en-US" dirty="0"/>
              <a:t>		</a:t>
            </a:r>
            <a:r>
              <a:rPr lang="vi-VN" dirty="0"/>
              <a:t>W₂(x₂) — cập nhật x₂ (mới hơn)</a:t>
            </a:r>
            <a:endParaRPr lang="en-US" dirty="0"/>
          </a:p>
          <a:p>
            <a:r>
              <a:rPr lang="vi-VN" dirty="0"/>
              <a:t>R₁(x₂) — đọc x₂ (tại replica mới hơn)</a:t>
            </a:r>
            <a:r>
              <a:rPr lang="en-US" dirty="0"/>
              <a:t>	</a:t>
            </a:r>
            <a:r>
              <a:rPr lang="vi-VN" dirty="0"/>
              <a:t>R₁(x₁) — đọc x₁ (tại replica cũ hơn</a:t>
            </a:r>
            <a:r>
              <a:rPr lang="en-US" dirty="0"/>
              <a:t>)</a:t>
            </a:r>
          </a:p>
          <a:p>
            <a:r>
              <a:rPr lang="en-US" dirty="0"/>
              <a:t>=&gt; </a:t>
            </a:r>
            <a:r>
              <a:rPr lang="vi-VN" dirty="0"/>
              <a:t>Người dùng đọc x₂ trước (giá trị mới hơn), sau đó đọc lại x₁ (giá trị cũ hơn) khi chuyển sang replica khác ⇒ </a:t>
            </a:r>
            <a:r>
              <a:rPr lang="vi-VN" b="1" dirty="0"/>
              <a:t>Vi phạm monotonic reads</a:t>
            </a:r>
            <a:r>
              <a:rPr lang="vi-VN" dirty="0"/>
              <a:t>.</a:t>
            </a:r>
          </a:p>
          <a:p>
            <a:endParaRPr lang="en-US" b="1" dirty="0"/>
          </a:p>
          <a:p>
            <a:r>
              <a:rPr lang="en-US" b="1" dirty="0"/>
              <a:t>- </a:t>
            </a:r>
            <a:r>
              <a:rPr lang="vi-VN" b="1" dirty="0"/>
              <a:t>Ví dụ thực tế</a:t>
            </a:r>
          </a:p>
          <a:p>
            <a:pPr>
              <a:buFont typeface="Arial" panose="020B0604020202020204" pitchFamily="34" charset="0"/>
              <a:buChar char="•"/>
            </a:pPr>
            <a:r>
              <a:rPr lang="vi-VN" dirty="0"/>
              <a:t>Bạn mở Gmail bằng laptop tại Hà Nội → thấy email mới (x₂).</a:t>
            </a:r>
          </a:p>
          <a:p>
            <a:pPr>
              <a:buFont typeface="Arial" panose="020B0604020202020204" pitchFamily="34" charset="0"/>
              <a:buChar char="•"/>
            </a:pPr>
            <a:r>
              <a:rPr lang="vi-VN" dirty="0"/>
              <a:t>Bay vào TP.HCM, mở Gmail bằng điện thoại → Gmail kết nối sang server khác và hiển thị dữ liệu cũ (x₁).</a:t>
            </a:r>
          </a:p>
          <a:p>
            <a:r>
              <a:rPr lang="en-US" dirty="0"/>
              <a:t>=&gt;</a:t>
            </a:r>
            <a:r>
              <a:rPr lang="vi-VN" dirty="0"/>
              <a:t> Điều này gây khó chịu vì người dùng cảm giác dữ liệu “quay về quá khứ”.</a:t>
            </a:r>
          </a:p>
          <a:p>
            <a:r>
              <a:rPr lang="vi-VN" dirty="0"/>
              <a:t>Monotonic reads đảm bảo rằng điều đó </a:t>
            </a:r>
            <a:r>
              <a:rPr lang="vi-VN" b="1" dirty="0"/>
              <a:t>không xảy ra</a:t>
            </a:r>
            <a:r>
              <a:rPr lang="vi-VN" dirty="0"/>
              <a:t>.</a:t>
            </a:r>
          </a:p>
          <a:p>
            <a:endParaRPr lang="en-US" b="1" dirty="0"/>
          </a:p>
          <a:p>
            <a:r>
              <a:rPr lang="en-US" b="1" dirty="0"/>
              <a:t>- </a:t>
            </a:r>
            <a:r>
              <a:rPr lang="vi-VN" b="1" dirty="0"/>
              <a:t>Kết luận slide</a:t>
            </a:r>
          </a:p>
          <a:p>
            <a:r>
              <a:rPr lang="vi-VN" dirty="0"/>
              <a:t>Không có monotonic reads</a:t>
            </a:r>
            <a:r>
              <a:rPr lang="en-US" dirty="0"/>
              <a:t>				</a:t>
            </a:r>
            <a:r>
              <a:rPr lang="vi-VN" dirty="0"/>
              <a:t>Có monotonic reads</a:t>
            </a:r>
            <a:endParaRPr lang="en-US" dirty="0"/>
          </a:p>
          <a:p>
            <a:r>
              <a:rPr lang="vi-VN" dirty="0"/>
              <a:t>Người dùng có thể thấy dữ liệu cũ hơn giá trị đã thấy trước đó</a:t>
            </a:r>
            <a:r>
              <a:rPr lang="en-US" dirty="0"/>
              <a:t>	</a:t>
            </a:r>
            <a:r>
              <a:rPr lang="vi-VN" dirty="0"/>
              <a:t>Luôn đọc giá trị bằng hoặc mới hơn giá trị đã đọc trước</a:t>
            </a:r>
            <a:endParaRPr lang="en-US" dirty="0"/>
          </a:p>
          <a:p>
            <a:r>
              <a:rPr lang="vi-VN" dirty="0"/>
              <a:t>Ảnh hưởng trải nghiệm người dùng</a:t>
            </a:r>
            <a:r>
              <a:rPr lang="en-US" dirty="0"/>
              <a:t>			</a:t>
            </a:r>
            <a:r>
              <a:rPr lang="vi-VN" dirty="0"/>
              <a:t>Trải nghiệm nhất quán và hợp lý theo thời gian</a:t>
            </a:r>
            <a:endParaRPr lang="en-US" dirty="0"/>
          </a:p>
          <a:p>
            <a:r>
              <a:rPr lang="vi-VN" dirty="0"/>
              <a:t>Không phù hợp cho mobile/replicated DB</a:t>
            </a:r>
            <a:r>
              <a:rPr lang="en-US" dirty="0"/>
              <a:t>			</a:t>
            </a:r>
            <a:r>
              <a:rPr lang="vi-VN" dirty="0"/>
              <a:t>Thường dùng trong client-centric consistency</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20</a:t>
            </a:fld>
            <a:endParaRPr lang="en-US"/>
          </a:p>
        </p:txBody>
      </p:sp>
    </p:spTree>
    <p:extLst>
      <p:ext uri="{BB962C8B-B14F-4D97-AF65-F5344CB8AC3E}">
        <p14:creationId xmlns:p14="http://schemas.microsoft.com/office/powerpoint/2010/main" val="3752701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Client-centric consistency: notation (ký hiệu)</a:t>
            </a:r>
            <a:endParaRPr lang="vi-VN" b="1" dirty="0"/>
          </a:p>
          <a:p>
            <a:r>
              <a:rPr lang="vi-VN" b="1" dirty="0"/>
              <a:t>Mục đích của slide</a:t>
            </a:r>
          </a:p>
          <a:p>
            <a:r>
              <a:rPr lang="vi-VN" dirty="0"/>
              <a:t>Slide giới thiệu </a:t>
            </a:r>
            <a:r>
              <a:rPr lang="vi-VN" b="1" dirty="0"/>
              <a:t>quy ước ký hiệu</a:t>
            </a:r>
            <a:r>
              <a:rPr lang="vi-VN" dirty="0"/>
              <a:t> (notation) dùng để mô tả các phép ghi (write) trong mô hình client-centric consistency.</a:t>
            </a:r>
            <a:br>
              <a:rPr lang="vi-VN" dirty="0"/>
            </a:br>
            <a:r>
              <a:rPr lang="vi-VN" dirty="0"/>
              <a:t>Việc hiểu đúng ký hiệu giúp ta phân tích được thứ tự các phiên bản dữ liệu và kiểm tra xem mô hình nhất quán (monotonic reads, read-your-writes, …) có được đảm bảo hay không.</a:t>
            </a:r>
          </a:p>
          <a:p>
            <a:r>
              <a:rPr lang="vi-VN" b="1" dirty="0"/>
              <a:t>Giải thích từng ký hiệu</a:t>
            </a:r>
          </a:p>
          <a:p>
            <a:r>
              <a:rPr lang="en-US" b="1" dirty="0"/>
              <a:t>1. </a:t>
            </a:r>
            <a:r>
              <a:rPr lang="vi-VN" b="1" dirty="0"/>
              <a:t>W₁(x₂)</a:t>
            </a:r>
          </a:p>
          <a:p>
            <a:r>
              <a:rPr lang="vi-VN" dirty="0"/>
              <a:t>Là phép ghi (write) được thực hiện bởi process </a:t>
            </a:r>
            <a:r>
              <a:rPr lang="vi-VN" b="1" dirty="0"/>
              <a:t>P₁</a:t>
            </a:r>
            <a:r>
              <a:rPr lang="vi-VN" dirty="0"/>
              <a:t>, tạo ra </a:t>
            </a:r>
            <a:r>
              <a:rPr lang="vi-VN" b="1" dirty="0"/>
              <a:t>phiên bản x₂ của dữ liệu x</a:t>
            </a:r>
            <a:r>
              <a:rPr lang="vi-VN" dirty="0"/>
              <a:t>.</a:t>
            </a:r>
          </a:p>
          <a:p>
            <a:r>
              <a:rPr lang="en-US" dirty="0"/>
              <a:t>=&gt; </a:t>
            </a:r>
            <a:r>
              <a:rPr lang="vi-VN" dirty="0"/>
              <a:t>Nói cách khác: P₁ ghi dữ liệu và kết quả sinh ra version mới x₂.</a:t>
            </a:r>
          </a:p>
          <a:p>
            <a:r>
              <a:rPr lang="vi-VN" dirty="0"/>
              <a:t>Ví dụ:</a:t>
            </a:r>
          </a:p>
          <a:p>
            <a:pPr>
              <a:buFont typeface="Arial" panose="020B0604020202020204" pitchFamily="34" charset="0"/>
              <a:buChar char="•"/>
            </a:pPr>
            <a:r>
              <a:rPr lang="vi-VN" dirty="0"/>
              <a:t>P₁ sửa file document → tạo ra version 2 của file ⇒ ký hiệu: W₁(x₂)</a:t>
            </a:r>
          </a:p>
          <a:p>
            <a:r>
              <a:rPr lang="en-US" b="1" dirty="0"/>
              <a:t>2. </a:t>
            </a:r>
            <a:r>
              <a:rPr lang="vi-VN" b="1" dirty="0"/>
              <a:t>W₁(xᵢ ; xⱼ)</a:t>
            </a:r>
          </a:p>
          <a:p>
            <a:r>
              <a:rPr lang="vi-VN" dirty="0"/>
              <a:t>P₁ tạo ra phiên bản xⱼ </a:t>
            </a:r>
            <a:r>
              <a:rPr lang="vi-VN" b="1" dirty="0"/>
              <a:t>dựa trên phiên bản trước đó xᵢ</a:t>
            </a:r>
            <a:r>
              <a:rPr lang="vi-VN" dirty="0"/>
              <a:t>.</a:t>
            </a:r>
          </a:p>
          <a:p>
            <a:r>
              <a:rPr lang="vi-VN" dirty="0"/>
              <a:t>Nghĩa là phép ghi này </a:t>
            </a:r>
            <a:r>
              <a:rPr lang="vi-VN" b="1" dirty="0"/>
              <a:t>kế thừa trạng thái của xᵢ</a:t>
            </a:r>
            <a:r>
              <a:rPr lang="vi-VN" dirty="0"/>
              <a:t>, sau đó tạo ra phiên bản mới xⱼ.</a:t>
            </a:r>
          </a:p>
          <a:p>
            <a:r>
              <a:rPr lang="vi-VN" dirty="0"/>
              <a:t>Ý nghĩa: có quan hệ nhân quả (causality) vì phiên bản xⱼ phụ thuộc vào xᵢ.</a:t>
            </a:r>
          </a:p>
          <a:p>
            <a:r>
              <a:rPr lang="vi-VN" dirty="0"/>
              <a:t>Ví dụ:</a:t>
            </a:r>
          </a:p>
          <a:p>
            <a:pPr>
              <a:buFont typeface="Arial" panose="020B0604020202020204" pitchFamily="34" charset="0"/>
              <a:buChar char="•"/>
            </a:pPr>
            <a:r>
              <a:rPr lang="vi-VN" dirty="0"/>
              <a:t>Đọc version x₁ → chỉnh sửa → tạo version x₂</a:t>
            </a:r>
          </a:p>
          <a:p>
            <a:pPr>
              <a:buFont typeface="Arial" panose="020B0604020202020204" pitchFamily="34" charset="0"/>
              <a:buChar char="•"/>
            </a:pPr>
            <a:r>
              <a:rPr lang="vi-VN" dirty="0"/>
              <a:t>Ký hiệu: W₁(x₁ ; x₂) (x₂ sinh ra từ x₁)</a:t>
            </a:r>
          </a:p>
          <a:p>
            <a:r>
              <a:rPr lang="en-US" b="1" dirty="0"/>
              <a:t>3. </a:t>
            </a:r>
            <a:r>
              <a:rPr lang="vi-VN" b="1" dirty="0"/>
              <a:t>W₁(xᵢ | xⱼ)</a:t>
            </a:r>
          </a:p>
          <a:p>
            <a:r>
              <a:rPr lang="vi-VN" dirty="0"/>
              <a:t>P₁ tạo ra phiên bản xⱼ </a:t>
            </a:r>
            <a:r>
              <a:rPr lang="vi-VN" b="1" dirty="0"/>
              <a:t>độc lập hoặc đồng thời (concurrent)</a:t>
            </a:r>
            <a:r>
              <a:rPr lang="vi-VN" dirty="0"/>
              <a:t> với phiên bản xᵢ.</a:t>
            </a:r>
          </a:p>
          <a:p>
            <a:r>
              <a:rPr lang="vi-VN" dirty="0"/>
              <a:t>Ý nghĩa: không có quan hệ trước–sau, hai phiên bản được tạo song song.</a:t>
            </a:r>
          </a:p>
          <a:p>
            <a:r>
              <a:rPr lang="vi-VN" dirty="0"/>
              <a:t>Ví dụ:</a:t>
            </a:r>
          </a:p>
          <a:p>
            <a:pPr>
              <a:buFont typeface="Arial" panose="020B0604020202020204" pitchFamily="34" charset="0"/>
              <a:buChar char="•"/>
            </a:pPr>
            <a:r>
              <a:rPr lang="vi-VN" dirty="0"/>
              <a:t>P₁ sửa tài liệu offline → tạo version x₂</a:t>
            </a:r>
          </a:p>
          <a:p>
            <a:pPr>
              <a:buFont typeface="Arial" panose="020B0604020202020204" pitchFamily="34" charset="0"/>
              <a:buChar char="•"/>
            </a:pPr>
            <a:r>
              <a:rPr lang="vi-VN" dirty="0"/>
              <a:t>Trong khi đó một người khác cũng sửa → tạo version x₃</a:t>
            </a:r>
          </a:p>
          <a:p>
            <a:pPr>
              <a:buFont typeface="Arial" panose="020B0604020202020204" pitchFamily="34" charset="0"/>
              <a:buChar char="•"/>
            </a:pPr>
            <a:r>
              <a:rPr lang="vi-VN" dirty="0"/>
              <a:t>Không ai dựa trên version của ai ⇒ conflict</a:t>
            </a:r>
          </a:p>
          <a:p>
            <a:r>
              <a:rPr lang="vi-VN" dirty="0"/>
              <a:t>→ Ký hiệu: W₁(x₂ | x₃)</a:t>
            </a:r>
          </a:p>
          <a:p>
            <a:endParaRPr lang="en-US" b="1" dirty="0"/>
          </a:p>
          <a:p>
            <a:r>
              <a:rPr lang="vi-VN" b="1" dirty="0"/>
              <a:t>Tại sao cần phân biệt?</a:t>
            </a:r>
          </a:p>
          <a:p>
            <a:r>
              <a:rPr lang="vi-VN" dirty="0"/>
              <a:t>Trong các mô hình nhất quán client-centric, điều quan trọng là:</a:t>
            </a:r>
          </a:p>
          <a:p>
            <a:pPr>
              <a:buFont typeface="Arial" panose="020B0604020202020204" pitchFamily="34" charset="0"/>
              <a:buChar char="•"/>
            </a:pPr>
            <a:r>
              <a:rPr lang="vi-VN" dirty="0"/>
              <a:t>Xác định </a:t>
            </a:r>
            <a:r>
              <a:rPr lang="vi-VN" b="1" dirty="0"/>
              <a:t>phiên bản nào mới hơn</a:t>
            </a:r>
            <a:endParaRPr lang="vi-VN" dirty="0"/>
          </a:p>
          <a:p>
            <a:pPr>
              <a:buFont typeface="Arial" panose="020B0604020202020204" pitchFamily="34" charset="0"/>
              <a:buChar char="•"/>
            </a:pPr>
            <a:r>
              <a:rPr lang="vi-VN" dirty="0"/>
              <a:t>Xác định </a:t>
            </a:r>
            <a:r>
              <a:rPr lang="vi-VN" b="1" dirty="0"/>
              <a:t>thứ tự nhân quả giữa các phiên bản</a:t>
            </a:r>
            <a:endParaRPr lang="vi-VN" dirty="0"/>
          </a:p>
          <a:p>
            <a:pPr>
              <a:buFont typeface="Arial" panose="020B0604020202020204" pitchFamily="34" charset="0"/>
              <a:buChar char="•"/>
            </a:pPr>
            <a:r>
              <a:rPr lang="vi-VN" dirty="0"/>
              <a:t>Tránh các trường hợp đọc phải phiên bản cũ (inconsistent read)</a:t>
            </a:r>
          </a:p>
          <a:p>
            <a:r>
              <a:rPr lang="vi-VN" dirty="0"/>
              <a:t>Việc dùng notation như trên giúp mô tả và phân tích các scenario một cách chính xác và ngắn gọn.</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21</a:t>
            </a:fld>
            <a:endParaRPr lang="en-US"/>
          </a:p>
        </p:txBody>
      </p:sp>
    </p:spTree>
    <p:extLst>
      <p:ext uri="{BB962C8B-B14F-4D97-AF65-F5344CB8AC3E}">
        <p14:creationId xmlns:p14="http://schemas.microsoft.com/office/powerpoint/2010/main" val="18507605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Client-centric consistency model – Monotonic Reads (ví dụ)</a:t>
            </a:r>
            <a:endParaRPr lang="vi-VN" b="1" dirty="0"/>
          </a:p>
          <a:p>
            <a:r>
              <a:rPr lang="vi-VN" b="1" dirty="0"/>
              <a:t>Mục tiêu của slide</a:t>
            </a:r>
          </a:p>
          <a:p>
            <a:r>
              <a:rPr lang="vi-VN" dirty="0"/>
              <a:t>Slide này đưa ra </a:t>
            </a:r>
            <a:r>
              <a:rPr lang="vi-VN" b="1" dirty="0"/>
              <a:t>các ví dụ thực tế</a:t>
            </a:r>
            <a:r>
              <a:rPr lang="vi-VN" dirty="0"/>
              <a:t> để giúp sinh viên hình dung rõ hơn mô hình nhất quán </a:t>
            </a:r>
            <a:r>
              <a:rPr lang="vi-VN" b="1" dirty="0"/>
              <a:t>Monotonic Reads</a:t>
            </a:r>
            <a:r>
              <a:rPr lang="vi-VN" dirty="0"/>
              <a:t>.</a:t>
            </a:r>
          </a:p>
          <a:p>
            <a:r>
              <a:rPr lang="vi-VN" b="1" dirty="0"/>
              <a:t>Nhắc lại khái niệm Monotonic Reads</a:t>
            </a:r>
          </a:p>
          <a:p>
            <a:r>
              <a:rPr lang="vi-VN" dirty="0"/>
              <a:t>Nếu người dùng đã đọc một phiên bản dữ liệu nào đó, thì những lần đọc tiếp theo sẽ </a:t>
            </a:r>
            <a:r>
              <a:rPr lang="vi-VN" b="1" dirty="0"/>
              <a:t>không bao giờ trả về phiên bản cũ hơn</a:t>
            </a:r>
            <a:r>
              <a:rPr lang="vi-VN" dirty="0"/>
              <a:t> phiên bản đã đọc trước đó.</a:t>
            </a:r>
          </a:p>
          <a:p>
            <a:r>
              <a:rPr lang="en-US" dirty="0"/>
              <a:t>=&gt;</a:t>
            </a:r>
            <a:r>
              <a:rPr lang="vi-VN" dirty="0"/>
              <a:t> Hệ thống đảm bảo: </a:t>
            </a:r>
            <a:r>
              <a:rPr lang="vi-VN" i="1" dirty="0"/>
              <a:t>dữ liệu bạn đọc luôn tiến về phía trước (không “quay ngược thời gian”)</a:t>
            </a:r>
            <a:r>
              <a:rPr lang="vi-VN" dirty="0"/>
              <a:t>.</a:t>
            </a:r>
          </a:p>
          <a:p>
            <a:endParaRPr lang="en-US" b="1" dirty="0"/>
          </a:p>
          <a:p>
            <a:r>
              <a:rPr lang="vi-VN" b="1" dirty="0"/>
              <a:t>Giải thích ví dụ trên slide</a:t>
            </a:r>
          </a:p>
          <a:p>
            <a:r>
              <a:rPr lang="vi-VN" b="1" dirty="0"/>
              <a:t>Ví dụ 1: Đồng bộ lịch cá nhân (Calendar synchronization)</a:t>
            </a:r>
          </a:p>
          <a:p>
            <a:r>
              <a:rPr lang="vi-VN" i="1" dirty="0"/>
              <a:t>Automatically reading your personal calendar updates from different servers...</a:t>
            </a:r>
            <a:endParaRPr lang="vi-VN" dirty="0"/>
          </a:p>
          <a:p>
            <a:pPr>
              <a:buFont typeface="Arial" panose="020B0604020202020204" pitchFamily="34" charset="0"/>
              <a:buChar char="•"/>
            </a:pPr>
            <a:r>
              <a:rPr lang="vi-VN" dirty="0"/>
              <a:t>Bạn cập nhật lịch làm việc trên điện thoại.</a:t>
            </a:r>
          </a:p>
          <a:p>
            <a:pPr>
              <a:buFont typeface="Arial" panose="020B0604020202020204" pitchFamily="34" charset="0"/>
              <a:buChar char="•"/>
            </a:pPr>
            <a:r>
              <a:rPr lang="vi-VN" dirty="0"/>
              <a:t>Sau đó bạn mở lịch trên laptop ở một vị trí khác → laptop truy cập vào một replica khác.</a:t>
            </a:r>
          </a:p>
          <a:p>
            <a:pPr>
              <a:buFont typeface="Arial" panose="020B0604020202020204" pitchFamily="34" charset="0"/>
              <a:buChar char="•"/>
            </a:pPr>
            <a:r>
              <a:rPr lang="vi-VN" dirty="0"/>
              <a:t>Mô hình Monotonic Reads đảm bảo rằng bạn luôn thấy </a:t>
            </a:r>
            <a:r>
              <a:rPr lang="vi-VN" b="1" dirty="0"/>
              <a:t>tất cả cập nhật mới nhất</a:t>
            </a:r>
            <a:r>
              <a:rPr lang="vi-VN" dirty="0"/>
              <a:t>, dù bạn truy cập vào server nào.</a:t>
            </a:r>
          </a:p>
          <a:p>
            <a:r>
              <a:rPr lang="en-US" dirty="0"/>
              <a:t>=&gt; </a:t>
            </a:r>
            <a:r>
              <a:rPr lang="vi-VN" dirty="0"/>
              <a:t>Không xảy ra trường hợp: bạn thấy lịch cũ hơn so với những gì bạn đã cập nhật trước đó.</a:t>
            </a:r>
          </a:p>
          <a:p>
            <a:r>
              <a:rPr lang="vi-VN" b="1" dirty="0"/>
              <a:t>Ví dụ 2: Đọc email đến trong khi di chuyển (mobile email access)</a:t>
            </a:r>
          </a:p>
          <a:p>
            <a:r>
              <a:rPr lang="vi-VN" i="1" dirty="0"/>
              <a:t>Reading incoming mail while you are on the move...</a:t>
            </a:r>
            <a:endParaRPr lang="vi-VN" dirty="0"/>
          </a:p>
          <a:p>
            <a:pPr>
              <a:buFont typeface="Arial" panose="020B0604020202020204" pitchFamily="34" charset="0"/>
              <a:buChar char="•"/>
            </a:pPr>
            <a:r>
              <a:rPr lang="vi-VN" dirty="0"/>
              <a:t>Khi bạn di chuyển, thiết bị liên tục kết nối đến các mail servers khác nhau (khách sạn, sân bay, văn phòng...).</a:t>
            </a:r>
          </a:p>
          <a:p>
            <a:pPr>
              <a:buFont typeface="Arial" panose="020B0604020202020204" pitchFamily="34" charset="0"/>
              <a:buChar char="•"/>
            </a:pPr>
            <a:r>
              <a:rPr lang="vi-VN" dirty="0"/>
              <a:t>Monotonic Reads đảm bảo rằng:</a:t>
            </a:r>
          </a:p>
          <a:p>
            <a:pPr marL="742950" lvl="1" indent="-285750">
              <a:buFont typeface="Arial" panose="020B0604020202020204" pitchFamily="34" charset="0"/>
              <a:buChar char="•"/>
            </a:pPr>
            <a:r>
              <a:rPr lang="vi-VN" dirty="0"/>
              <a:t>Nếu server mới chưa có dữ liệu mới nhất, nó phải </a:t>
            </a:r>
            <a:r>
              <a:rPr lang="vi-VN" b="1" dirty="0"/>
              <a:t>đồng bộ ít nhất</a:t>
            </a:r>
            <a:r>
              <a:rPr lang="vi-VN" dirty="0"/>
              <a:t> những email bạn đã thấy từ server trước đó.</a:t>
            </a:r>
          </a:p>
          <a:p>
            <a:r>
              <a:rPr lang="en-US" dirty="0"/>
              <a:t>=&gt;</a:t>
            </a:r>
            <a:r>
              <a:rPr lang="vi-VN" dirty="0"/>
              <a:t> Bạn sẽ </a:t>
            </a:r>
            <a:r>
              <a:rPr lang="vi-VN" b="1" dirty="0"/>
              <a:t>không bỏ lỡ email nào</a:t>
            </a:r>
            <a:r>
              <a:rPr lang="vi-VN" dirty="0"/>
              <a:t>, và cũng </a:t>
            </a:r>
            <a:r>
              <a:rPr lang="vi-VN" b="1" dirty="0"/>
              <a:t>không thấy email cũ xuất hiện lại</a:t>
            </a:r>
            <a:r>
              <a:rPr lang="vi-VN" dirty="0"/>
              <a:t> sau khi đã thấy email mới.</a:t>
            </a:r>
          </a:p>
          <a:p>
            <a:endParaRPr lang="en-US" b="1" dirty="0"/>
          </a:p>
          <a:p>
            <a:r>
              <a:rPr lang="vi-VN" b="1" dirty="0"/>
              <a:t>Kết luận slide</a:t>
            </a:r>
          </a:p>
          <a:p>
            <a:r>
              <a:rPr lang="vi-VN" dirty="0"/>
              <a:t>Không có Monotonic Reads</a:t>
            </a:r>
            <a:r>
              <a:rPr lang="en-US" dirty="0"/>
              <a:t>			</a:t>
            </a:r>
            <a:r>
              <a:rPr lang="vi-VN" dirty="0"/>
              <a:t>Có Monotonic Reads</a:t>
            </a:r>
            <a:endParaRPr lang="en-US" dirty="0"/>
          </a:p>
          <a:p>
            <a:r>
              <a:rPr lang="vi-VN" dirty="0"/>
              <a:t>Có thể thấy dữ liệu cũ hơn dữ liệu đã đọc trước đó</a:t>
            </a:r>
            <a:r>
              <a:rPr lang="en-US" dirty="0"/>
              <a:t>	</a:t>
            </a:r>
            <a:r>
              <a:rPr lang="vi-VN" dirty="0"/>
              <a:t>Luôn thấy dữ liệu bằng hoặc mới hơn</a:t>
            </a:r>
            <a:endParaRPr lang="en-US" dirty="0"/>
          </a:p>
          <a:p>
            <a:r>
              <a:rPr lang="vi-VN" dirty="0"/>
              <a:t>Người dùng cảm thấy dữ liệu “loạn”, không tin cậy</a:t>
            </a:r>
            <a:r>
              <a:rPr lang="en-US" dirty="0"/>
              <a:t>	</a:t>
            </a:r>
            <a:r>
              <a:rPr lang="vi-VN" dirty="0"/>
              <a:t>Trải nghiệm nhất quán và hợp lý</a:t>
            </a:r>
            <a:endParaRPr lang="en-US" dirty="0"/>
          </a:p>
          <a:p>
            <a:r>
              <a:rPr lang="vi-VN" dirty="0"/>
              <a:t>Email/lịch có thể biến mất rồi xuất hiện lại</a:t>
            </a:r>
            <a:r>
              <a:rPr lang="en-US" dirty="0"/>
              <a:t>		</a:t>
            </a:r>
            <a:r>
              <a:rPr lang="vi-VN" dirty="0"/>
              <a:t>Email/lịch luôn đi theo </a:t>
            </a:r>
            <a:r>
              <a:rPr lang="vi-VN" b="1" dirty="0"/>
              <a:t>chrono–logical</a:t>
            </a:r>
            <a:r>
              <a:rPr lang="vi-VN" dirty="0"/>
              <a:t> từ cũ → mới</a:t>
            </a:r>
          </a:p>
          <a:p>
            <a:r>
              <a:rPr lang="vi-VN" dirty="0"/>
              <a:t>Monotonic Reads là một mô hình nhất quán phù hợp cho người dùng </a:t>
            </a:r>
            <a:r>
              <a:rPr lang="vi-VN" b="1" dirty="0"/>
              <a:t>di động</a:t>
            </a:r>
            <a:r>
              <a:rPr lang="vi-VN" dirty="0"/>
              <a:t> vì nó đảm bảo tính liên tục trong trải nghiệm dữ liệu.</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22</a:t>
            </a:fld>
            <a:endParaRPr lang="en-US"/>
          </a:p>
        </p:txBody>
      </p:sp>
    </p:spTree>
    <p:extLst>
      <p:ext uri="{BB962C8B-B14F-4D97-AF65-F5344CB8AC3E}">
        <p14:creationId xmlns:p14="http://schemas.microsoft.com/office/powerpoint/2010/main" val="803726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Monotonic Writes</a:t>
            </a:r>
            <a:endParaRPr lang="vi-VN" b="1" dirty="0"/>
          </a:p>
          <a:p>
            <a:endParaRPr lang="en-US" b="1" dirty="0"/>
          </a:p>
          <a:p>
            <a:r>
              <a:rPr lang="vi-VN" b="1" dirty="0"/>
              <a:t>Định nghĩa (Definition)</a:t>
            </a:r>
          </a:p>
          <a:p>
            <a:r>
              <a:rPr lang="vi-VN" i="1" dirty="0"/>
              <a:t>Một process thực hiện ghi (write) lên dữ liệu x, thì mọi phép ghi kế tiếp của chính process đó lên x chỉ được thực hiện </a:t>
            </a:r>
            <a:r>
              <a:rPr lang="vi-VN" b="1" i="1" dirty="0"/>
              <a:t>sau khi</a:t>
            </a:r>
            <a:r>
              <a:rPr lang="vi-VN" i="1" dirty="0"/>
              <a:t> phép ghi trước đó đã hoàn tất.</a:t>
            </a:r>
            <a:endParaRPr lang="vi-VN" dirty="0"/>
          </a:p>
          <a:p>
            <a:r>
              <a:rPr lang="en-US" dirty="0"/>
              <a:t>=&gt; </a:t>
            </a:r>
            <a:r>
              <a:rPr lang="vi-VN" dirty="0"/>
              <a:t>Nghĩa là các phép ghi của </a:t>
            </a:r>
            <a:r>
              <a:rPr lang="vi-VN" b="1" dirty="0"/>
              <a:t>cùng một client</a:t>
            </a:r>
            <a:r>
              <a:rPr lang="vi-VN" dirty="0"/>
              <a:t> phải được thực hiện </a:t>
            </a:r>
            <a:r>
              <a:rPr lang="vi-VN" b="1" dirty="0"/>
              <a:t>theo đúng thứ tự thời gian</a:t>
            </a:r>
            <a:r>
              <a:rPr lang="vi-VN" dirty="0"/>
              <a:t>, dù client di chuyển giữa các replica khác nhau.</a:t>
            </a:r>
          </a:p>
          <a:p>
            <a:r>
              <a:rPr lang="en-US" dirty="0"/>
              <a:t>=&gt; </a:t>
            </a:r>
            <a:r>
              <a:rPr lang="vi-VN" dirty="0"/>
              <a:t>Đây là "write ordering consistency".</a:t>
            </a:r>
          </a:p>
          <a:p>
            <a:endParaRPr lang="en-US" b="1" dirty="0"/>
          </a:p>
          <a:p>
            <a:r>
              <a:rPr lang="vi-VN" b="1" dirty="0"/>
              <a:t>Ý nghĩa thực tế</a:t>
            </a:r>
          </a:p>
          <a:p>
            <a:pPr>
              <a:buFont typeface="Arial" panose="020B0604020202020204" pitchFamily="34" charset="0"/>
              <a:buChar char="•"/>
            </a:pPr>
            <a:r>
              <a:rPr lang="vi-VN" dirty="0"/>
              <a:t>Đảm bảo rằng nếu bạn cập nhật dữ liệu nhiều lần (ví dụ sửa hồ sơ cá nhân 3 lần), thì hệ thống </a:t>
            </a:r>
            <a:r>
              <a:rPr lang="vi-VN" b="1" dirty="0"/>
              <a:t>không bao giờ áp dụng bản cập nhật thứ 3 lên trước bản thứ 2 hoặc bản thứ nhất</a:t>
            </a:r>
            <a:r>
              <a:rPr lang="vi-VN" dirty="0"/>
              <a:t>.</a:t>
            </a:r>
          </a:p>
          <a:p>
            <a:pPr>
              <a:buFont typeface="Arial" panose="020B0604020202020204" pitchFamily="34" charset="0"/>
              <a:buChar char="•"/>
            </a:pPr>
            <a:r>
              <a:rPr lang="vi-VN" dirty="0"/>
              <a:t>Hữu ích trong các ứng dụng kiểu:</a:t>
            </a:r>
          </a:p>
          <a:p>
            <a:pPr marL="742950" lvl="1" indent="-285750">
              <a:buFont typeface="Arial" panose="020B0604020202020204" pitchFamily="34" charset="0"/>
              <a:buChar char="•"/>
            </a:pPr>
            <a:r>
              <a:rPr lang="vi-VN" dirty="0"/>
              <a:t>Update profile</a:t>
            </a:r>
          </a:p>
          <a:p>
            <a:pPr marL="742950" lvl="1" indent="-285750">
              <a:buFont typeface="Arial" panose="020B0604020202020204" pitchFamily="34" charset="0"/>
              <a:buChar char="•"/>
            </a:pPr>
            <a:r>
              <a:rPr lang="vi-VN" dirty="0"/>
              <a:t>Update bank account balance</a:t>
            </a:r>
          </a:p>
          <a:p>
            <a:pPr marL="742950" lvl="1" indent="-285750">
              <a:buFont typeface="Arial" panose="020B0604020202020204" pitchFamily="34" charset="0"/>
              <a:buChar char="•"/>
            </a:pPr>
            <a:r>
              <a:rPr lang="vi-VN" dirty="0"/>
              <a:t>Version control systems</a:t>
            </a:r>
          </a:p>
          <a:p>
            <a:r>
              <a:rPr lang="en-US" dirty="0"/>
              <a:t>=&gt;</a:t>
            </a:r>
            <a:r>
              <a:rPr lang="vi-VN" dirty="0"/>
              <a:t> Tránh trường hợp bản update cũ "ghi đè" bản update mới.</a:t>
            </a:r>
          </a:p>
          <a:p>
            <a:endParaRPr lang="en-US" b="1" dirty="0"/>
          </a:p>
          <a:p>
            <a:r>
              <a:rPr lang="vi-VN" b="1" dirty="0"/>
              <a:t>Giải thích 4 trường hợp (a), (b), (c), (d)</a:t>
            </a:r>
          </a:p>
          <a:p>
            <a:r>
              <a:rPr lang="vi-VN" dirty="0"/>
              <a:t>Trong slide:</a:t>
            </a:r>
          </a:p>
          <a:p>
            <a:pPr>
              <a:buFont typeface="Arial" panose="020B0604020202020204" pitchFamily="34" charset="0"/>
              <a:buChar char="•"/>
            </a:pPr>
            <a:r>
              <a:rPr lang="vi-VN" dirty="0"/>
              <a:t>W₁(x₁) = process P1 tạo phiên bản x₁</a:t>
            </a:r>
          </a:p>
          <a:p>
            <a:pPr>
              <a:buFont typeface="Arial" panose="020B0604020202020204" pitchFamily="34" charset="0"/>
              <a:buChar char="•"/>
            </a:pPr>
            <a:r>
              <a:rPr lang="vi-VN" dirty="0"/>
              <a:t>W₂(x₁ ; x₂) = process P2 tạo phiên bản x₂ dựa trên x₁</a:t>
            </a:r>
          </a:p>
          <a:p>
            <a:pPr>
              <a:buFont typeface="Arial" panose="020B0604020202020204" pitchFamily="34" charset="0"/>
              <a:buChar char="•"/>
            </a:pPr>
            <a:r>
              <a:rPr lang="vi-VN" dirty="0"/>
              <a:t>W₁(x₂ ; x₃) = process P1 tạo phiên bản x₃ dựa trên x₂</a:t>
            </a:r>
          </a:p>
          <a:p>
            <a:pPr>
              <a:buFont typeface="Arial" panose="020B0604020202020204" pitchFamily="34" charset="0"/>
              <a:buChar char="•"/>
            </a:pPr>
            <a:r>
              <a:rPr lang="en-US" dirty="0"/>
              <a:t> </a:t>
            </a:r>
            <a:r>
              <a:rPr lang="vi-VN" dirty="0"/>
              <a:t>| = concurrent (song song, không biết phụ thuộc)</a:t>
            </a:r>
          </a:p>
          <a:p>
            <a:endParaRPr lang="en-US" b="1" dirty="0"/>
          </a:p>
          <a:p>
            <a:r>
              <a:rPr lang="en-US" b="1" dirty="0"/>
              <a:t>(</a:t>
            </a:r>
            <a:r>
              <a:rPr lang="vi-VN" b="1" dirty="0"/>
              <a:t>a) Monotonic-write consistent data store</a:t>
            </a:r>
          </a:p>
          <a:p>
            <a:pPr rtl="0"/>
            <a:r>
              <a:rPr lang="vi-VN" dirty="0"/>
              <a:t>L1: W₁(x₁) </a:t>
            </a:r>
            <a:endParaRPr lang="en-US" dirty="0"/>
          </a:p>
          <a:p>
            <a:pPr rtl="0"/>
            <a:r>
              <a:rPr lang="vi-VN" dirty="0"/>
              <a:t>L2: W₂(x₁;x₂) W₁(x₂;x₃) </a:t>
            </a:r>
          </a:p>
          <a:p>
            <a:r>
              <a:rPr lang="en-US" dirty="0"/>
              <a:t>=&gt;</a:t>
            </a:r>
            <a:r>
              <a:rPr lang="vi-VN" dirty="0"/>
              <a:t> P1 ghi x₁ → sau đó P2 ghi dựa trên x₁ tạo x₂ → P1 ghi tiếp tạo x₃ dựa trên x₂.</a:t>
            </a:r>
          </a:p>
          <a:p>
            <a:r>
              <a:rPr lang="en-US" dirty="0"/>
              <a:t>=&gt; </a:t>
            </a:r>
            <a:r>
              <a:rPr lang="vi-VN" dirty="0"/>
              <a:t>Thứ tự ghi của P1 được giữ nguyên → hợp lệ</a:t>
            </a:r>
            <a:endParaRPr lang="en-US" dirty="0"/>
          </a:p>
          <a:p>
            <a:endParaRPr lang="en-US" b="1" dirty="0"/>
          </a:p>
          <a:p>
            <a:r>
              <a:rPr lang="en-US" b="1" dirty="0"/>
              <a:t>(</a:t>
            </a:r>
            <a:r>
              <a:rPr lang="vi-VN" b="1" dirty="0"/>
              <a:t>b) Không đảm bảo monotonic writes</a:t>
            </a:r>
          </a:p>
          <a:p>
            <a:pPr rtl="0"/>
            <a:r>
              <a:rPr lang="vi-VN" dirty="0"/>
              <a:t>L1: W₁(x₁) </a:t>
            </a:r>
            <a:endParaRPr lang="en-US" dirty="0"/>
          </a:p>
          <a:p>
            <a:pPr rtl="0"/>
            <a:r>
              <a:rPr lang="vi-VN" dirty="0"/>
              <a:t>L2: W₂(x₁|x₂) W₁(x₁;x₃) </a:t>
            </a:r>
          </a:p>
          <a:p>
            <a:r>
              <a:rPr lang="vi-VN" dirty="0"/>
              <a:t>Ở đây W₂(x₁ | x₂) nghĩa là P2 tạo x₂ nhưng </a:t>
            </a:r>
            <a:r>
              <a:rPr lang="vi-VN" b="1" dirty="0"/>
              <a:t>không dựa trên x₁</a:t>
            </a:r>
            <a:r>
              <a:rPr lang="vi-VN" dirty="0"/>
              <a:t>, mà là song song / phụ thuộc khác.</a:t>
            </a:r>
          </a:p>
          <a:p>
            <a:r>
              <a:rPr lang="en-US" dirty="0"/>
              <a:t>=&gt;</a:t>
            </a:r>
            <a:r>
              <a:rPr lang="vi-VN" dirty="0"/>
              <a:t> Sau đó P1 tạo x₃ </a:t>
            </a:r>
            <a:r>
              <a:rPr lang="vi-VN" b="1" dirty="0"/>
              <a:t>vẫn dựa trên x₁</a:t>
            </a:r>
            <a:r>
              <a:rPr lang="vi-VN" dirty="0"/>
              <a:t> (bỏ qua x₂).</a:t>
            </a:r>
            <a:br>
              <a:rPr lang="vi-VN" dirty="0"/>
            </a:br>
            <a:r>
              <a:rPr lang="en-US" dirty="0"/>
              <a:t>=&gt; </a:t>
            </a:r>
            <a:r>
              <a:rPr lang="vi-VN" dirty="0"/>
              <a:t>P1 đã thực hiện ghi mới mà </a:t>
            </a:r>
            <a:r>
              <a:rPr lang="vi-VN" b="1" dirty="0"/>
              <a:t>không biết</a:t>
            </a:r>
            <a:r>
              <a:rPr lang="vi-VN" dirty="0"/>
              <a:t> bản cập nhật x₂ tồn tại → VI PHẠM</a:t>
            </a:r>
            <a:endParaRPr lang="en-US" dirty="0"/>
          </a:p>
          <a:p>
            <a:endParaRPr lang="en-US" b="1" dirty="0"/>
          </a:p>
          <a:p>
            <a:r>
              <a:rPr lang="en-US" b="1" dirty="0"/>
              <a:t>(</a:t>
            </a:r>
            <a:r>
              <a:rPr lang="vi-VN" b="1" dirty="0"/>
              <a:t>c) Cũng không đảm bảo monotonic writes</a:t>
            </a:r>
          </a:p>
          <a:p>
            <a:pPr rtl="0"/>
            <a:r>
              <a:rPr lang="vi-VN" dirty="0"/>
              <a:t>L1: W₁(x₁)</a:t>
            </a:r>
            <a:endParaRPr lang="en-US" dirty="0"/>
          </a:p>
          <a:p>
            <a:pPr rtl="0"/>
            <a:r>
              <a:rPr lang="vi-VN" dirty="0"/>
              <a:t>L2: W₂(x₁|x₂) W₁(x₂;x₃) </a:t>
            </a:r>
          </a:p>
          <a:p>
            <a:r>
              <a:rPr lang="vi-VN" dirty="0"/>
              <a:t>P1 ghi x₁ → P2 tạo x₂ nhưng concurrent với x₁</a:t>
            </a:r>
            <a:br>
              <a:rPr lang="vi-VN" dirty="0"/>
            </a:br>
            <a:r>
              <a:rPr lang="vi-VN" dirty="0"/>
              <a:t>P1 ghi x₃ dựa trên x₂ (nhưng thứ tự dependency bị sai)</a:t>
            </a:r>
          </a:p>
          <a:p>
            <a:r>
              <a:rPr lang="en-US" dirty="0"/>
              <a:t>=&gt;</a:t>
            </a:r>
            <a:r>
              <a:rPr lang="vi-VN" dirty="0"/>
              <a:t> Không đảm bảo rằng </a:t>
            </a:r>
            <a:r>
              <a:rPr lang="vi-VN" b="1" dirty="0"/>
              <a:t>ghi sau của P1 diễn ra sau ghi trước</a:t>
            </a:r>
            <a:r>
              <a:rPr lang="vi-VN" dirty="0"/>
              <a:t> → VI PHẠM</a:t>
            </a:r>
            <a:endParaRPr lang="en-US" dirty="0"/>
          </a:p>
          <a:p>
            <a:endParaRPr lang="en-US" b="1" dirty="0"/>
          </a:p>
          <a:p>
            <a:r>
              <a:rPr lang="en-US" b="1" dirty="0"/>
              <a:t>(</a:t>
            </a:r>
            <a:r>
              <a:rPr lang="vi-VN" b="1" dirty="0"/>
              <a:t>d) Hợp lệ (Monotonic-write consistent)</a:t>
            </a:r>
          </a:p>
          <a:p>
            <a:pPr rtl="0"/>
            <a:r>
              <a:rPr lang="vi-VN" dirty="0"/>
              <a:t>L1: W₁(x₁)</a:t>
            </a:r>
            <a:endParaRPr lang="en-US" dirty="0"/>
          </a:p>
          <a:p>
            <a:pPr rtl="0"/>
            <a:r>
              <a:rPr lang="vi-VN" dirty="0"/>
              <a:t>L2: W₂(x₁|x₂) W₁(x₁;x₃) </a:t>
            </a:r>
          </a:p>
          <a:p>
            <a:pPr>
              <a:buFont typeface="Arial" panose="020B0604020202020204" pitchFamily="34" charset="0"/>
              <a:buChar char="•"/>
            </a:pPr>
            <a:r>
              <a:rPr lang="vi-VN" dirty="0"/>
              <a:t>P2 tạo x₂ độc lập.</a:t>
            </a:r>
          </a:p>
          <a:p>
            <a:pPr>
              <a:buFont typeface="Arial" panose="020B0604020202020204" pitchFamily="34" charset="0"/>
              <a:buChar char="•"/>
            </a:pPr>
            <a:r>
              <a:rPr lang="vi-VN" dirty="0"/>
              <a:t>P1 tạo x₃ dựa trên x₁ (ghi đè x₂ cũng không sao).</a:t>
            </a:r>
          </a:p>
          <a:p>
            <a:r>
              <a:rPr lang="en-US" dirty="0"/>
              <a:t>=&gt;</a:t>
            </a:r>
            <a:r>
              <a:rPr lang="vi-VN" dirty="0"/>
              <a:t> P1 vẫn giữ thứ tự ghi của chính mình → hợp lệ</a:t>
            </a:r>
            <a:endParaRPr lang="en-US" dirty="0"/>
          </a:p>
          <a:p>
            <a:r>
              <a:rPr lang="vi-VN" dirty="0"/>
              <a:t>Mặc dù x₁ "ghi đè" x₂, nhưng monotonic writes không yêu cầu thứ tự giữa các process khác nhau, chỉ yêu cầu thứ tự đúng trong </a:t>
            </a:r>
            <a:r>
              <a:rPr lang="vi-VN" b="1" dirty="0"/>
              <a:t>cùng một process</a:t>
            </a:r>
            <a:r>
              <a:rPr lang="vi-VN" dirty="0"/>
              <a:t>.</a:t>
            </a:r>
          </a:p>
          <a:p>
            <a:endParaRPr lang="en-US" b="1" dirty="0"/>
          </a:p>
          <a:p>
            <a:r>
              <a:rPr lang="vi-VN" b="1" dirty="0"/>
              <a:t>Tóm lại</a:t>
            </a:r>
          </a:p>
          <a:p>
            <a:r>
              <a:rPr lang="vi-VN" dirty="0"/>
              <a:t>Case</a:t>
            </a:r>
            <a:r>
              <a:rPr lang="en-US" dirty="0"/>
              <a:t>	</a:t>
            </a:r>
            <a:r>
              <a:rPr lang="vi-VN" dirty="0"/>
              <a:t>Monotonic writes?</a:t>
            </a:r>
            <a:r>
              <a:rPr lang="en-US" dirty="0"/>
              <a:t>	</a:t>
            </a:r>
            <a:r>
              <a:rPr lang="vi-VN" dirty="0"/>
              <a:t>Lý do</a:t>
            </a:r>
            <a:endParaRPr lang="en-US" dirty="0"/>
          </a:p>
          <a:p>
            <a:pPr marL="0" indent="0">
              <a:buFontTx/>
              <a:buNone/>
            </a:pPr>
            <a:r>
              <a:rPr lang="en-US" dirty="0"/>
              <a:t>(a)	</a:t>
            </a:r>
            <a:r>
              <a:rPr lang="en-US" dirty="0" err="1"/>
              <a:t>Có</a:t>
            </a:r>
            <a:r>
              <a:rPr lang="en-US" dirty="0"/>
              <a:t>		T</a:t>
            </a:r>
            <a:r>
              <a:rPr lang="vi-VN" dirty="0"/>
              <a:t>hứ tự ghi của P1 được duy trì</a:t>
            </a:r>
            <a:endParaRPr lang="en-US" dirty="0"/>
          </a:p>
          <a:p>
            <a:pPr marL="0" indent="0">
              <a:buFontTx/>
              <a:buNone/>
            </a:pPr>
            <a:r>
              <a:rPr lang="en-US" dirty="0"/>
              <a:t>(b)	</a:t>
            </a:r>
            <a:r>
              <a:rPr lang="en-US" dirty="0" err="1"/>
              <a:t>Không</a:t>
            </a:r>
            <a:r>
              <a:rPr lang="en-US" dirty="0"/>
              <a:t>		P</a:t>
            </a:r>
            <a:r>
              <a:rPr lang="vi-VN" dirty="0"/>
              <a:t>1 ghi dựa trên version cũ</a:t>
            </a:r>
            <a:endParaRPr lang="en-US" dirty="0"/>
          </a:p>
          <a:p>
            <a:pPr marL="0" indent="0">
              <a:buFontTx/>
              <a:buNone/>
            </a:pPr>
            <a:r>
              <a:rPr lang="vi-VN" dirty="0"/>
              <a:t>(</a:t>
            </a:r>
            <a:r>
              <a:rPr lang="en-US" dirty="0"/>
              <a:t>c</a:t>
            </a:r>
            <a:r>
              <a:rPr lang="vi-VN" dirty="0"/>
              <a:t>)</a:t>
            </a:r>
            <a:r>
              <a:rPr lang="en-US" dirty="0"/>
              <a:t> 	</a:t>
            </a:r>
            <a:r>
              <a:rPr lang="en-US" dirty="0" err="1"/>
              <a:t>Không</a:t>
            </a:r>
            <a:r>
              <a:rPr lang="en-US" dirty="0"/>
              <a:t>		</a:t>
            </a:r>
            <a:r>
              <a:rPr lang="vi-VN" dirty="0"/>
              <a:t>Thứ tự logic giữa các ghi bị rối</a:t>
            </a:r>
            <a:endParaRPr lang="en-US" dirty="0"/>
          </a:p>
          <a:p>
            <a:pPr marL="0" indent="0">
              <a:buFontTx/>
              <a:buNone/>
            </a:pPr>
            <a:r>
              <a:rPr lang="vi-VN" dirty="0"/>
              <a:t>(d)</a:t>
            </a:r>
            <a:r>
              <a:rPr lang="en-US" dirty="0"/>
              <a:t>	</a:t>
            </a:r>
            <a:r>
              <a:rPr lang="en-US" dirty="0" err="1"/>
              <a:t>Có</a:t>
            </a:r>
            <a:r>
              <a:rPr lang="en-US" dirty="0"/>
              <a:t>		</a:t>
            </a:r>
            <a:r>
              <a:rPr lang="vi-VN" dirty="0"/>
              <a:t>P1 duy trì thứ tự ghi, dù có overwrite</a:t>
            </a:r>
          </a:p>
          <a:p>
            <a:endParaRPr lang="en-US" b="1" dirty="0"/>
          </a:p>
          <a:p>
            <a:r>
              <a:rPr lang="vi-VN" b="1" dirty="0"/>
              <a:t>Kết luận</a:t>
            </a:r>
          </a:p>
          <a:p>
            <a:r>
              <a:rPr lang="vi-VN" b="1" dirty="0"/>
              <a:t>Monotonic writes đảm bảo sự nhất quán theo trình tự ghi của mỗi người dùng, ngay cả khi hệ thống có nhiều replica và người dùng di chuyển giữa chúng.</a:t>
            </a:r>
            <a:endParaRPr lang="vi-VN" dirty="0"/>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23</a:t>
            </a:fld>
            <a:endParaRPr lang="en-US"/>
          </a:p>
        </p:txBody>
      </p:sp>
    </p:spTree>
    <p:extLst>
      <p:ext uri="{BB962C8B-B14F-4D97-AF65-F5344CB8AC3E}">
        <p14:creationId xmlns:p14="http://schemas.microsoft.com/office/powerpoint/2010/main" val="569627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Monotonic Writes – Examples (Ví dụ)</a:t>
            </a:r>
            <a:endParaRPr lang="vi-VN" b="1" dirty="0"/>
          </a:p>
          <a:p>
            <a:r>
              <a:rPr lang="vi-VN" b="1" dirty="0"/>
              <a:t>Nhắc lại định nghĩa Monotonic Writes</a:t>
            </a:r>
          </a:p>
          <a:p>
            <a:r>
              <a:rPr lang="vi-VN" dirty="0"/>
              <a:t>Nếu một client (process) thực hiện nhiều thao tác ghi (write) lên cùng một dữ liệu, thì hệ thống phải đảm bảo các ghi đó </a:t>
            </a:r>
            <a:r>
              <a:rPr lang="vi-VN" b="1" dirty="0"/>
              <a:t>được áp dụng theo đúng thứ tự thời gian</a:t>
            </a:r>
            <a:r>
              <a:rPr lang="vi-VN" dirty="0"/>
              <a:t>.</a:t>
            </a:r>
          </a:p>
          <a:p>
            <a:r>
              <a:rPr lang="en-US" dirty="0"/>
              <a:t>=&gt;</a:t>
            </a:r>
            <a:r>
              <a:rPr lang="vi-VN" dirty="0"/>
              <a:t> Không được để ghi </a:t>
            </a:r>
            <a:r>
              <a:rPr lang="vi-VN" i="1" dirty="0"/>
              <a:t>cũ hơn</a:t>
            </a:r>
            <a:r>
              <a:rPr lang="vi-VN" dirty="0"/>
              <a:t> ghi đè lên ghi </a:t>
            </a:r>
            <a:r>
              <a:rPr lang="vi-VN" i="1" dirty="0"/>
              <a:t>mới hơn</a:t>
            </a:r>
            <a:r>
              <a:rPr lang="vi-VN" dirty="0"/>
              <a:t> tại bất kỳ replica nào.</a:t>
            </a:r>
          </a:p>
          <a:p>
            <a:endParaRPr lang="en-US" b="1" dirty="0"/>
          </a:p>
          <a:p>
            <a:r>
              <a:rPr lang="vi-VN" b="1" dirty="0"/>
              <a:t>Giải thích nội dung trên slide</a:t>
            </a:r>
          </a:p>
          <a:p>
            <a:r>
              <a:rPr lang="vi-VN" dirty="0"/>
              <a:t>Slide đưa ra </a:t>
            </a:r>
            <a:r>
              <a:rPr lang="vi-VN" b="1" dirty="0"/>
              <a:t>hai ví dụ thực tế</a:t>
            </a:r>
            <a:r>
              <a:rPr lang="vi-VN" dirty="0"/>
              <a:t> để minh họa ứng dụng của mô hình </a:t>
            </a:r>
            <a:r>
              <a:rPr lang="vi-VN" i="1" dirty="0"/>
              <a:t>monotonic writes</a:t>
            </a:r>
            <a:r>
              <a:rPr lang="vi-VN" dirty="0"/>
              <a:t>.</a:t>
            </a:r>
          </a:p>
          <a:p>
            <a:r>
              <a:rPr lang="en-US" b="1" dirty="0"/>
              <a:t>- </a:t>
            </a:r>
            <a:r>
              <a:rPr lang="vi-VN" b="1" dirty="0"/>
              <a:t>Ví dụ 1: Cập nhật chương trình tại một server</a:t>
            </a:r>
          </a:p>
          <a:p>
            <a:r>
              <a:rPr lang="vi-VN" i="1" dirty="0"/>
              <a:t>Updating a program at server S₂, and ensuring that all components on which compilation and linking depend are also placed at S₂.</a:t>
            </a:r>
            <a:endParaRPr lang="vi-VN" dirty="0"/>
          </a:p>
          <a:p>
            <a:r>
              <a:rPr lang="vi-VN" dirty="0"/>
              <a:t>Giải thích:</a:t>
            </a:r>
          </a:p>
          <a:p>
            <a:pPr>
              <a:buFont typeface="Arial" panose="020B0604020202020204" pitchFamily="34" charset="0"/>
              <a:buChar char="•"/>
            </a:pPr>
            <a:r>
              <a:rPr lang="vi-VN" dirty="0"/>
              <a:t>Khi bạn cập nhật một chương trình trên server S₂, chương trình có thể phụ thuộc vào nhiều file hoặc thư viện khác.</a:t>
            </a:r>
          </a:p>
          <a:p>
            <a:pPr>
              <a:buFont typeface="Arial" panose="020B0604020202020204" pitchFamily="34" charset="0"/>
              <a:buChar char="•"/>
            </a:pPr>
            <a:r>
              <a:rPr lang="vi-VN" dirty="0"/>
              <a:t>Monotonic writes đảm bảo rằng:</a:t>
            </a:r>
          </a:p>
          <a:p>
            <a:pPr marL="742950" lvl="1" indent="-285750">
              <a:buFont typeface="Arial" panose="020B0604020202020204" pitchFamily="34" charset="0"/>
              <a:buChar char="•"/>
            </a:pPr>
            <a:r>
              <a:rPr lang="vi-VN" dirty="0"/>
              <a:t>Các cập nhật trước đó (ví dụ: update thư viện, cấu hình) </a:t>
            </a:r>
            <a:r>
              <a:rPr lang="vi-VN" b="1" dirty="0"/>
              <a:t>đã được áp dụng đầy đủ</a:t>
            </a:r>
            <a:r>
              <a:rPr lang="vi-VN" dirty="0"/>
              <a:t> trước khi chương trình mới được cập nhật.</a:t>
            </a:r>
          </a:p>
          <a:p>
            <a:pPr marL="742950" lvl="1" indent="-285750">
              <a:buFont typeface="Arial" panose="020B0604020202020204" pitchFamily="34" charset="0"/>
              <a:buChar char="•"/>
            </a:pPr>
            <a:r>
              <a:rPr lang="vi-VN" dirty="0"/>
              <a:t>Không xảy ra tình trạng bản cập nhật mới dựa trên thư viện cũ.</a:t>
            </a:r>
          </a:p>
          <a:p>
            <a:r>
              <a:rPr lang="en-US" dirty="0"/>
              <a:t>* </a:t>
            </a:r>
            <a:r>
              <a:rPr lang="vi-VN" dirty="0"/>
              <a:t>Ý nghĩa: thứ tự cập nhật phải được duy trì để tránh lỗi build hoặc lỗi chạy chương trình.</a:t>
            </a:r>
          </a:p>
          <a:p>
            <a:endParaRPr lang="en-US" b="1" dirty="0"/>
          </a:p>
          <a:p>
            <a:r>
              <a:rPr lang="en-US" b="1" dirty="0"/>
              <a:t>- </a:t>
            </a:r>
            <a:r>
              <a:rPr lang="vi-VN" b="1" dirty="0"/>
              <a:t>Ví dụ 2: Quản lý version của các file được replicate</a:t>
            </a:r>
          </a:p>
          <a:p>
            <a:r>
              <a:rPr lang="vi-VN" i="1" dirty="0"/>
              <a:t>Maintaining versions of replicated files in the correct order everywhere (propagate the previous version to the server where the newest version is installed).</a:t>
            </a:r>
            <a:endParaRPr lang="vi-VN" dirty="0"/>
          </a:p>
          <a:p>
            <a:r>
              <a:rPr lang="vi-VN" dirty="0"/>
              <a:t>Giải thích:</a:t>
            </a:r>
          </a:p>
          <a:p>
            <a:pPr>
              <a:buFont typeface="Arial" panose="020B0604020202020204" pitchFamily="34" charset="0"/>
              <a:buChar char="•"/>
            </a:pPr>
            <a:r>
              <a:rPr lang="vi-VN" dirty="0"/>
              <a:t>Một file lưu ở nhiều server khác nhau (replication).</a:t>
            </a:r>
          </a:p>
          <a:p>
            <a:pPr>
              <a:buFont typeface="Arial" panose="020B0604020202020204" pitchFamily="34" charset="0"/>
              <a:buChar char="•"/>
            </a:pPr>
            <a:r>
              <a:rPr lang="vi-VN" dirty="0"/>
              <a:t>Khi tạo version mới, version cũ </a:t>
            </a:r>
            <a:r>
              <a:rPr lang="vi-VN" b="1" dirty="0"/>
              <a:t>phải được propagate trước</a:t>
            </a:r>
            <a:r>
              <a:rPr lang="vi-VN" dirty="0"/>
              <a:t> đến tất cả server liên quan.</a:t>
            </a:r>
          </a:p>
          <a:p>
            <a:pPr>
              <a:buFont typeface="Arial" panose="020B0604020202020204" pitchFamily="34" charset="0"/>
              <a:buChar char="•"/>
            </a:pPr>
            <a:r>
              <a:rPr lang="vi-VN" dirty="0"/>
              <a:t>Monotonic writes đảm bảo rằng:</a:t>
            </a:r>
          </a:p>
          <a:p>
            <a:pPr>
              <a:buFont typeface="Arial" panose="020B0604020202020204" pitchFamily="34" charset="0"/>
              <a:buChar char="•"/>
            </a:pPr>
            <a:r>
              <a:rPr lang="vi-VN" dirty="0"/>
              <a:t>Mọi server đều nhận phiên bản cũ trước, rồi mới nhận phiên bản mới hơn.</a:t>
            </a:r>
          </a:p>
          <a:p>
            <a:r>
              <a:rPr lang="en-US" dirty="0"/>
              <a:t>* </a:t>
            </a:r>
            <a:r>
              <a:rPr lang="vi-VN" dirty="0"/>
              <a:t>Tránh scenario nguy hiểm:</a:t>
            </a:r>
            <a:br>
              <a:rPr lang="vi-VN" dirty="0"/>
            </a:br>
            <a:r>
              <a:rPr lang="vi-VN" dirty="0"/>
              <a:t>Server A có version v3, server B lại có version v1 → v2 → v3 chưa đến, và việc cập nhật ngược lại có thể làm mất dữ liệu.</a:t>
            </a:r>
          </a:p>
          <a:p>
            <a:endParaRPr lang="en-US" b="1" dirty="0"/>
          </a:p>
          <a:p>
            <a:r>
              <a:rPr lang="vi-VN" b="1" dirty="0"/>
              <a:t>Tóm lại</a:t>
            </a:r>
          </a:p>
          <a:p>
            <a:r>
              <a:rPr lang="vi-VN" dirty="0"/>
              <a:t>Monotonic Writes đảm bảo điều gì?Mọi phép ghi của cùng một client xảy ra theo đúng thứ tựKhông để version cũ hơn ghi đè version mới hơnQuan trọng trong các hệ thống replication và deployment</a:t>
            </a:r>
          </a:p>
          <a:p>
            <a:endParaRPr lang="en-US" b="1" dirty="0"/>
          </a:p>
          <a:p>
            <a:r>
              <a:rPr lang="vi-VN" b="1" dirty="0"/>
              <a:t>Ý nghĩa trong thực tế</a:t>
            </a:r>
          </a:p>
          <a:p>
            <a:r>
              <a:rPr lang="vi-VN" dirty="0"/>
              <a:t>Mô hình này đặc biệt quan trọng trong:</a:t>
            </a:r>
          </a:p>
          <a:p>
            <a:pPr>
              <a:buFont typeface="Arial" panose="020B0604020202020204" pitchFamily="34" charset="0"/>
              <a:buChar char="•"/>
            </a:pPr>
            <a:r>
              <a:rPr lang="vi-VN" dirty="0"/>
              <a:t>Hệ thống quản lý mã nguồn (Git, SVN)</a:t>
            </a:r>
          </a:p>
          <a:p>
            <a:pPr>
              <a:buFont typeface="Arial" panose="020B0604020202020204" pitchFamily="34" charset="0"/>
              <a:buChar char="•"/>
            </a:pPr>
            <a:r>
              <a:rPr lang="vi-VN" dirty="0"/>
              <a:t>Triển khai phần mềm phân tán (CI/CD)</a:t>
            </a:r>
          </a:p>
          <a:p>
            <a:pPr>
              <a:buFont typeface="Arial" panose="020B0604020202020204" pitchFamily="34" charset="0"/>
              <a:buChar char="•"/>
            </a:pPr>
            <a:r>
              <a:rPr lang="vi-VN" dirty="0"/>
              <a:t>Đồng bộ dữ liệu nhiều server (Dropbox, Google Drive, OneDrive)</a:t>
            </a:r>
          </a:p>
          <a:p>
            <a:r>
              <a:rPr lang="en-US" dirty="0"/>
              <a:t>=&gt;</a:t>
            </a:r>
            <a:r>
              <a:rPr lang="vi-VN" dirty="0"/>
              <a:t> Giúp đảm bảo </a:t>
            </a:r>
            <a:r>
              <a:rPr lang="vi-VN" b="1" dirty="0"/>
              <a:t>tính toàn vẹn của dữ liệu và logic cập nhật</a:t>
            </a:r>
            <a:r>
              <a:rPr lang="vi-VN" dirty="0"/>
              <a:t>, tránh lỗi do cập nhật sai thứ tự.</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24</a:t>
            </a:fld>
            <a:endParaRPr lang="en-US"/>
          </a:p>
        </p:txBody>
      </p:sp>
    </p:spTree>
    <p:extLst>
      <p:ext uri="{BB962C8B-B14F-4D97-AF65-F5344CB8AC3E}">
        <p14:creationId xmlns:p14="http://schemas.microsoft.com/office/powerpoint/2010/main" val="13850366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25</a:t>
            </a:fld>
            <a:endParaRPr lang="en-US"/>
          </a:p>
        </p:txBody>
      </p:sp>
    </p:spTree>
    <p:extLst>
      <p:ext uri="{BB962C8B-B14F-4D97-AF65-F5344CB8AC3E}">
        <p14:creationId xmlns:p14="http://schemas.microsoft.com/office/powerpoint/2010/main" val="28967398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Khái niệm: Read-Your-Writes Consistency (Nhất quán đọc–sau–ghi)</a:t>
            </a:r>
          </a:p>
          <a:p>
            <a:r>
              <a:rPr lang="en-US" b="1" dirty="0"/>
              <a:t>- </a:t>
            </a:r>
            <a:r>
              <a:rPr lang="vi-VN" b="1" dirty="0"/>
              <a:t>Định nghĩa</a:t>
            </a:r>
            <a:r>
              <a:rPr lang="vi-VN" dirty="0"/>
              <a:t>:</a:t>
            </a:r>
            <a:br>
              <a:rPr lang="vi-VN" dirty="0"/>
            </a:br>
            <a:r>
              <a:rPr lang="vi-VN" dirty="0"/>
              <a:t>Khi một quá trình (client) thực hiện thao tác </a:t>
            </a:r>
            <a:r>
              <a:rPr lang="vi-VN" i="1" dirty="0"/>
              <a:t>ghi (write)</a:t>
            </a:r>
            <a:r>
              <a:rPr lang="vi-VN" dirty="0"/>
              <a:t> lên dữ liệu </a:t>
            </a:r>
            <a:r>
              <a:rPr lang="vi-VN" b="1" dirty="0"/>
              <a:t>x</a:t>
            </a:r>
            <a:r>
              <a:rPr lang="vi-VN" dirty="0"/>
              <a:t>, thì mọi lần </a:t>
            </a:r>
            <a:r>
              <a:rPr lang="vi-VN" i="1" dirty="0"/>
              <a:t>đọc (read)</a:t>
            </a:r>
            <a:r>
              <a:rPr lang="vi-VN" dirty="0"/>
              <a:t> tiếp theo trên </a:t>
            </a:r>
            <a:r>
              <a:rPr lang="vi-VN" b="1" dirty="0"/>
              <a:t>cùng dữ liệu x</a:t>
            </a:r>
            <a:r>
              <a:rPr lang="vi-VN" dirty="0"/>
              <a:t> bởi chính quá trình đó </a:t>
            </a:r>
            <a:r>
              <a:rPr lang="vi-VN" b="1" dirty="0"/>
              <a:t>đều phải thấy kết quả của lần ghi trước</a:t>
            </a:r>
            <a:r>
              <a:rPr lang="vi-VN" dirty="0"/>
              <a:t>.</a:t>
            </a:r>
          </a:p>
          <a:p>
            <a:r>
              <a:rPr lang="en-US" dirty="0"/>
              <a:t>=&gt;</a:t>
            </a:r>
            <a:r>
              <a:rPr lang="vi-VN" dirty="0"/>
              <a:t> Nghĩa là: </a:t>
            </a:r>
            <a:r>
              <a:rPr lang="vi-VN" i="1" dirty="0"/>
              <a:t>Bạn đã ghi cái gì thì khi bạn đọc lại phải thấy đúng cái đó (ít nhất là như vậy).</a:t>
            </a:r>
            <a:endParaRPr lang="vi-VN" dirty="0"/>
          </a:p>
          <a:p>
            <a:r>
              <a:rPr lang="vi-VN" dirty="0"/>
              <a:t>Mô hình này đảm bảo </a:t>
            </a:r>
            <a:r>
              <a:rPr lang="vi-VN" b="1" dirty="0"/>
              <a:t>trải nghiệm nhất quán cho người dùng</a:t>
            </a:r>
            <a:r>
              <a:rPr lang="vi-VN" dirty="0"/>
              <a:t>, đặc biệt trong môi trường replicated database (database có nhiều bản sao).</a:t>
            </a:r>
          </a:p>
          <a:p>
            <a:endParaRPr lang="en-US" b="1" dirty="0"/>
          </a:p>
          <a:p>
            <a:r>
              <a:rPr lang="en-US" b="1" dirty="0"/>
              <a:t>- </a:t>
            </a:r>
            <a:r>
              <a:rPr lang="vi-VN" b="1" dirty="0"/>
              <a:t>Ví dụ trên slide</a:t>
            </a:r>
          </a:p>
          <a:p>
            <a:r>
              <a:rPr lang="vi-VN" b="1" dirty="0"/>
              <a:t>(a) Data store cung cấp read-your-writes consistency</a:t>
            </a:r>
          </a:p>
          <a:p>
            <a:pPr rtl="0"/>
            <a:r>
              <a:rPr lang="vi-VN" dirty="0"/>
              <a:t>L1: W1(x1) → Process P1 ghi giá trị x1</a:t>
            </a:r>
            <a:endParaRPr lang="en-US" dirty="0"/>
          </a:p>
          <a:p>
            <a:pPr rtl="0"/>
            <a:r>
              <a:rPr lang="vi-VN" dirty="0"/>
              <a:t>L2: W2(x1 → x2) R1(x2) </a:t>
            </a:r>
          </a:p>
          <a:p>
            <a:r>
              <a:rPr lang="en-US" dirty="0"/>
              <a:t>=&gt; </a:t>
            </a:r>
            <a:r>
              <a:rPr lang="vi-VN" dirty="0"/>
              <a:t>P1 ghi x1</a:t>
            </a:r>
            <a:br>
              <a:rPr lang="vi-VN" dirty="0"/>
            </a:br>
            <a:r>
              <a:rPr lang="en-US" dirty="0"/>
              <a:t>=&gt; </a:t>
            </a:r>
            <a:r>
              <a:rPr lang="vi-VN" dirty="0"/>
              <a:t>Sau đó P1 đọc lại → thấy x2 (do có update mới hơn của P2)</a:t>
            </a:r>
          </a:p>
          <a:p>
            <a:r>
              <a:rPr lang="vi-VN" dirty="0"/>
              <a:t>Điều quan trọng:</a:t>
            </a:r>
          </a:p>
          <a:p>
            <a:pPr>
              <a:buFont typeface="Arial" panose="020B0604020202020204" pitchFamily="34" charset="0"/>
              <a:buChar char="•"/>
            </a:pPr>
            <a:r>
              <a:rPr lang="vi-VN" dirty="0"/>
              <a:t>Lần đọc của P1 phải </a:t>
            </a:r>
            <a:r>
              <a:rPr lang="vi-VN" b="1" dirty="0"/>
              <a:t>thấy được hiệu ứng của những ghi mà P1 đã thực hiện trước đó</a:t>
            </a:r>
            <a:r>
              <a:rPr lang="vi-VN" dirty="0"/>
              <a:t>, hoặc giá trị mới hơn (nếu đã có replica khác cập nhật).</a:t>
            </a:r>
          </a:p>
          <a:p>
            <a:r>
              <a:rPr lang="vi-VN" dirty="0"/>
              <a:t>→ ĐẠT read-your-writes consistency.</a:t>
            </a:r>
          </a:p>
          <a:p>
            <a:r>
              <a:rPr lang="vi-VN" b="1" dirty="0"/>
              <a:t>(b) Data store KHÔNG cung cấp read-your-writes consistency</a:t>
            </a:r>
          </a:p>
          <a:p>
            <a:pPr rtl="0"/>
            <a:r>
              <a:rPr lang="vi-VN" dirty="0"/>
              <a:t>L1: W1(x1) </a:t>
            </a:r>
            <a:endParaRPr lang="en-US" dirty="0"/>
          </a:p>
          <a:p>
            <a:pPr rtl="0"/>
            <a:r>
              <a:rPr lang="vi-VN" dirty="0"/>
              <a:t>L2: W2(x1|x2) R1(x2) (ví dụ này mô tả rằng P2 ghi x2 song song) </a:t>
            </a:r>
          </a:p>
          <a:p>
            <a:r>
              <a:rPr lang="vi-VN" dirty="0"/>
              <a:t>Trường hợp này:</a:t>
            </a:r>
          </a:p>
          <a:p>
            <a:pPr>
              <a:buFont typeface="Arial" panose="020B0604020202020204" pitchFamily="34" charset="0"/>
              <a:buChar char="•"/>
            </a:pPr>
            <a:r>
              <a:rPr lang="vi-VN" dirty="0"/>
              <a:t>P1 ghi x1,</a:t>
            </a:r>
          </a:p>
          <a:p>
            <a:pPr>
              <a:buFont typeface="Arial" panose="020B0604020202020204" pitchFamily="34" charset="0"/>
              <a:buChar char="•"/>
            </a:pPr>
            <a:r>
              <a:rPr lang="vi-VN" dirty="0"/>
              <a:t>nhưng lần đọc tiếp theo </a:t>
            </a:r>
            <a:r>
              <a:rPr lang="vi-VN" b="1" dirty="0"/>
              <a:t>không đảm bảo rằng nó sẽ thấy x1</a:t>
            </a:r>
            <a:r>
              <a:rPr lang="vi-VN" dirty="0"/>
              <a:t>.</a:t>
            </a:r>
          </a:p>
          <a:p>
            <a:pPr>
              <a:buFont typeface="Arial" panose="020B0604020202020204" pitchFamily="34" charset="0"/>
              <a:buChar char="•"/>
            </a:pPr>
            <a:r>
              <a:rPr lang="vi-VN" dirty="0"/>
              <a:t>Có thể P1 thấy giá trị cũ hoặc bị ghi đè bởi các replica chưa đồng bộ.</a:t>
            </a:r>
          </a:p>
          <a:p>
            <a:r>
              <a:rPr lang="vi-VN" dirty="0"/>
              <a:t>→</a:t>
            </a:r>
            <a:r>
              <a:rPr lang="en-US" dirty="0"/>
              <a:t> </a:t>
            </a:r>
            <a:r>
              <a:rPr lang="vi-VN" dirty="0"/>
              <a:t>KHÔNG đảm bảo read-your-writes consistency.</a:t>
            </a:r>
          </a:p>
          <a:p>
            <a:endParaRPr lang="en-US" b="1" dirty="0"/>
          </a:p>
          <a:p>
            <a:r>
              <a:rPr lang="en-US" b="1" dirty="0" err="1"/>
              <a:t>Ví</a:t>
            </a:r>
            <a:r>
              <a:rPr lang="en-US" b="1" dirty="0"/>
              <a:t> </a:t>
            </a:r>
            <a:r>
              <a:rPr lang="en-US" b="1" dirty="0" err="1"/>
              <a:t>dụ</a:t>
            </a:r>
            <a:r>
              <a:rPr lang="en-US" b="1" dirty="0"/>
              <a:t> </a:t>
            </a:r>
            <a:r>
              <a:rPr lang="en-US" b="1" dirty="0" err="1"/>
              <a:t>thực</a:t>
            </a:r>
            <a:r>
              <a:rPr lang="en-US" b="1" dirty="0"/>
              <a:t> </a:t>
            </a:r>
            <a:r>
              <a:rPr lang="en-US" b="1" dirty="0" err="1"/>
              <a:t>tế</a:t>
            </a:r>
            <a:endParaRPr lang="vi-VN" b="1" dirty="0"/>
          </a:p>
          <a:p>
            <a:r>
              <a:rPr lang="vi-VN" dirty="0"/>
              <a:t>Tưởng tượng bạn viết một bài post trên Facebook:</a:t>
            </a:r>
          </a:p>
          <a:p>
            <a:pPr>
              <a:buFont typeface="Arial" panose="020B0604020202020204" pitchFamily="34" charset="0"/>
              <a:buChar char="•"/>
            </a:pPr>
            <a:r>
              <a:rPr lang="vi-VN" dirty="0"/>
              <a:t>Sau khi bấm “Post”, bạn chuyển sang thiết bị khác đọc lại trang cá nhân.</a:t>
            </a:r>
          </a:p>
          <a:p>
            <a:pPr>
              <a:buFont typeface="Arial" panose="020B0604020202020204" pitchFamily="34" charset="0"/>
              <a:buChar char="•"/>
            </a:pPr>
            <a:r>
              <a:rPr lang="vi-VN" b="1" dirty="0"/>
              <a:t>Read-Your-Writes consistency</a:t>
            </a:r>
            <a:r>
              <a:rPr lang="vi-VN" dirty="0"/>
              <a:t> đảm bảo rằng bạn thấy được bài post vừa đăng.</a:t>
            </a:r>
          </a:p>
          <a:p>
            <a:r>
              <a:rPr lang="vi-VN" dirty="0"/>
              <a:t>Nếu bạn không thấy bài post thì hệ thống </a:t>
            </a:r>
            <a:r>
              <a:rPr lang="vi-VN" b="1" dirty="0"/>
              <a:t>không đảm bảo</a:t>
            </a:r>
            <a:r>
              <a:rPr lang="vi-VN" dirty="0"/>
              <a:t> mô hình này.</a:t>
            </a:r>
          </a:p>
          <a:p>
            <a:endParaRPr lang="en-US" b="1" dirty="0"/>
          </a:p>
          <a:p>
            <a:r>
              <a:rPr lang="vi-VN" b="1" dirty="0"/>
              <a:t>Ý nghĩa trong hệ thống phân tán</a:t>
            </a:r>
          </a:p>
          <a:p>
            <a:r>
              <a:rPr lang="vi-VN" dirty="0"/>
              <a:t>Mô hình nhất quán</a:t>
            </a:r>
            <a:r>
              <a:rPr lang="en-US" dirty="0"/>
              <a:t>	</a:t>
            </a:r>
            <a:r>
              <a:rPr lang="vi-VN" dirty="0"/>
              <a:t>Đảm bảo điều gì?</a:t>
            </a:r>
            <a:endParaRPr lang="en-US" dirty="0"/>
          </a:p>
          <a:p>
            <a:r>
              <a:rPr lang="vi-VN" b="1" dirty="0"/>
              <a:t>Read-Your-Writes</a:t>
            </a:r>
            <a:r>
              <a:rPr lang="en-US" b="1" dirty="0"/>
              <a:t>	</a:t>
            </a:r>
            <a:r>
              <a:rPr lang="vi-VN" dirty="0"/>
              <a:t>Đọc luôn thấy đúng cập nhật trước đó của chính mình</a:t>
            </a:r>
            <a:endParaRPr lang="en-US" dirty="0"/>
          </a:p>
          <a:p>
            <a:r>
              <a:rPr lang="vi-VN" dirty="0"/>
              <a:t>Dùng trong</a:t>
            </a:r>
            <a:r>
              <a:rPr lang="en-US" dirty="0"/>
              <a:t>		</a:t>
            </a:r>
            <a:r>
              <a:rPr lang="vi-VN" dirty="0"/>
              <a:t>Web app, Email client, cloud file sync, social network</a:t>
            </a:r>
          </a:p>
          <a:p>
            <a:r>
              <a:rPr lang="en-US" dirty="0"/>
              <a:t>** </a:t>
            </a:r>
            <a:r>
              <a:rPr lang="vi-VN" dirty="0"/>
              <a:t>Đặc biệt quan trọng cho </a:t>
            </a:r>
            <a:r>
              <a:rPr lang="vi-VN" b="1" dirty="0"/>
              <a:t>trải nghiệm người dùng</a:t>
            </a:r>
            <a:r>
              <a:rPr lang="vi-VN" dirty="0"/>
              <a:t>:</a:t>
            </a:r>
          </a:p>
          <a:p>
            <a:pPr>
              <a:buFont typeface="Arial" panose="020B0604020202020204" pitchFamily="34" charset="0"/>
              <a:buChar char="•"/>
            </a:pPr>
            <a:r>
              <a:rPr lang="vi-VN" dirty="0"/>
              <a:t>Khi bạn cập nhật hồ sơ cá nhân (profile update)</a:t>
            </a:r>
          </a:p>
          <a:p>
            <a:pPr>
              <a:buFont typeface="Arial" panose="020B0604020202020204" pitchFamily="34" charset="0"/>
              <a:buChar char="•"/>
            </a:pPr>
            <a:r>
              <a:rPr lang="vi-VN" dirty="0"/>
              <a:t>Đồng bộ ghi chú trên nhiều thiết bị (Google Keep, Evernote)</a:t>
            </a:r>
          </a:p>
          <a:p>
            <a:pPr>
              <a:buFont typeface="Arial" panose="020B0604020202020204" pitchFamily="34" charset="0"/>
              <a:buChar char="•"/>
            </a:pPr>
            <a:r>
              <a:rPr lang="vi-VN" dirty="0"/>
              <a:t>Viết email rồi xem lại trên thiết bị khác</a:t>
            </a:r>
          </a:p>
          <a:p>
            <a:endParaRPr lang="en-US" b="1" dirty="0"/>
          </a:p>
          <a:p>
            <a:r>
              <a:rPr lang="vi-VN" b="1" dirty="0"/>
              <a:t>Tóm lại</a:t>
            </a:r>
          </a:p>
          <a:p>
            <a:r>
              <a:rPr lang="vi-VN" dirty="0"/>
              <a:t>Read-Your-Writes Consistency đảm bảo rằng </a:t>
            </a:r>
            <a:r>
              <a:rPr lang="vi-VN" b="1" dirty="0"/>
              <a:t>một user không bao giờ nhìn thấy dữ liệu cũ hơn dữ liệu mà họ vừa ghi</a:t>
            </a:r>
            <a:r>
              <a:rPr lang="vi-VN" dirty="0"/>
              <a:t>.</a:t>
            </a:r>
          </a:p>
          <a:p>
            <a:endParaRPr lang="en-US" dirty="0"/>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26</a:t>
            </a:fld>
            <a:endParaRPr lang="en-US"/>
          </a:p>
        </p:txBody>
      </p:sp>
    </p:spTree>
    <p:extLst>
      <p:ext uri="{BB962C8B-B14F-4D97-AF65-F5344CB8AC3E}">
        <p14:creationId xmlns:p14="http://schemas.microsoft.com/office/powerpoint/2010/main" val="34546953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Khái niệm: Writes-Follow-Reads Consistency</a:t>
            </a:r>
          </a:p>
          <a:p>
            <a:r>
              <a:rPr lang="vi-VN" dirty="0"/>
              <a:t>(</a:t>
            </a:r>
            <a:r>
              <a:rPr lang="vi-VN" i="1" dirty="0"/>
              <a:t>Nhất quán ghi-sau-đọc</a:t>
            </a:r>
            <a:r>
              <a:rPr lang="vi-VN" dirty="0"/>
              <a:t>)</a:t>
            </a:r>
          </a:p>
          <a:p>
            <a:r>
              <a:rPr lang="en-US" b="1" dirty="0"/>
              <a:t>- </a:t>
            </a:r>
            <a:r>
              <a:rPr lang="vi-VN" b="1" dirty="0"/>
              <a:t>Định nghĩa</a:t>
            </a:r>
            <a:r>
              <a:rPr lang="vi-VN" dirty="0"/>
              <a:t>:</a:t>
            </a:r>
            <a:br>
              <a:rPr lang="vi-VN" dirty="0"/>
            </a:br>
            <a:r>
              <a:rPr lang="vi-VN" dirty="0"/>
              <a:t>Nếu một quá trình (client/process) </a:t>
            </a:r>
            <a:r>
              <a:rPr lang="vi-VN" b="1" dirty="0"/>
              <a:t>đọc giá trị x</a:t>
            </a:r>
            <a:r>
              <a:rPr lang="vi-VN" dirty="0"/>
              <a:t> tại thời điểm trước đó, thì </a:t>
            </a:r>
            <a:r>
              <a:rPr lang="vi-VN" b="1" dirty="0"/>
              <a:t>bất kỳ thao tác ghi (write)</a:t>
            </a:r>
            <a:r>
              <a:rPr lang="vi-VN" dirty="0"/>
              <a:t> tiếp theo của chính quá trình đó lên cùng dữ liệu </a:t>
            </a:r>
            <a:r>
              <a:rPr lang="vi-VN" b="1" dirty="0"/>
              <a:t>x</a:t>
            </a:r>
            <a:r>
              <a:rPr lang="vi-VN" dirty="0"/>
              <a:t> phải được dựa trên </a:t>
            </a:r>
            <a:r>
              <a:rPr lang="vi-VN" i="1" dirty="0"/>
              <a:t>giá trị đã đọc hoặc giá trị mới hơn</a:t>
            </a:r>
            <a:r>
              <a:rPr lang="vi-VN" dirty="0"/>
              <a:t>.</a:t>
            </a:r>
          </a:p>
          <a:p>
            <a:r>
              <a:rPr lang="en-US" dirty="0"/>
              <a:t>=&gt;</a:t>
            </a:r>
            <a:r>
              <a:rPr lang="vi-VN" dirty="0"/>
              <a:t> Nghĩa là: </a:t>
            </a:r>
            <a:r>
              <a:rPr lang="vi-VN" i="1" dirty="0"/>
              <a:t>Bạn chỉ được ghi nếu bạn đã thấy phiên bản mới nhất (hoặc ít nhất là phiên bản bạn vừa đọc).</a:t>
            </a:r>
            <a:endParaRPr lang="vi-VN" dirty="0"/>
          </a:p>
          <a:p>
            <a:endParaRPr lang="en-US" b="1" dirty="0"/>
          </a:p>
          <a:p>
            <a:r>
              <a:rPr lang="en-US" b="1" dirty="0"/>
              <a:t>- </a:t>
            </a:r>
            <a:r>
              <a:rPr lang="vi-VN" b="1" dirty="0"/>
              <a:t>Giải thích trực quan</a:t>
            </a:r>
          </a:p>
          <a:p>
            <a:pPr>
              <a:buFont typeface="Arial" panose="020B0604020202020204" pitchFamily="34" charset="0"/>
              <a:buChar char="•"/>
            </a:pPr>
            <a:r>
              <a:rPr lang="vi-VN" dirty="0"/>
              <a:t>Client đọc giá trị của biến x → sau đó thay đổi và ghi lại x.</a:t>
            </a:r>
          </a:p>
          <a:p>
            <a:pPr>
              <a:buFont typeface="Arial" panose="020B0604020202020204" pitchFamily="34" charset="0"/>
              <a:buChar char="•"/>
            </a:pPr>
            <a:r>
              <a:rPr lang="vi-VN" dirty="0"/>
              <a:t>Hệ thống phải đảm bảo rằng </a:t>
            </a:r>
            <a:r>
              <a:rPr lang="vi-VN" b="1" dirty="0"/>
              <a:t>ghi dựa trên giá trị đã được đọc</a:t>
            </a:r>
            <a:r>
              <a:rPr lang="vi-VN" dirty="0"/>
              <a:t>, tránh mất cập nhật (lost update).</a:t>
            </a:r>
          </a:p>
          <a:p>
            <a:r>
              <a:rPr lang="vi-VN" b="1" dirty="0"/>
              <a:t>Nếu hệ thống đúng theo writes-follow-reads:</a:t>
            </a:r>
          </a:p>
          <a:p>
            <a:r>
              <a:rPr lang="vi-VN" dirty="0"/>
              <a:t>→ Bạn đọc bản mới nhất → chỉnh sửa đúng version đó → ghi trở lại.</a:t>
            </a:r>
          </a:p>
          <a:p>
            <a:r>
              <a:rPr lang="vi-VN" b="1" dirty="0"/>
              <a:t>Nếu hệ thống không đảm bảo mô hình này:</a:t>
            </a:r>
          </a:p>
          <a:p>
            <a:r>
              <a:rPr lang="vi-VN" dirty="0"/>
              <a:t>→ Bạn đọc bản A (cũ), nhưng lại ghi dựa trên bản A trong khi hệ thống đã có bản B mới hơn → gây xung đột và mất dữ liệu.</a:t>
            </a:r>
          </a:p>
          <a:p>
            <a:endParaRPr lang="en-US" b="1" dirty="0"/>
          </a:p>
          <a:p>
            <a:r>
              <a:rPr lang="en-US" b="1" dirty="0"/>
              <a:t>- </a:t>
            </a:r>
            <a:r>
              <a:rPr lang="vi-VN" b="1" dirty="0"/>
              <a:t>Ví dụ trên slide</a:t>
            </a:r>
          </a:p>
          <a:p>
            <a:r>
              <a:rPr lang="vi-VN" b="1" dirty="0"/>
              <a:t>(a) Data store cung cấp writes-follow-reads</a:t>
            </a:r>
          </a:p>
          <a:p>
            <a:pPr rtl="0"/>
            <a:r>
              <a:rPr lang="vi-VN" dirty="0"/>
              <a:t>L1: W1(x1) R2(x1)</a:t>
            </a:r>
            <a:endParaRPr lang="en-US" dirty="0"/>
          </a:p>
          <a:p>
            <a:pPr rtl="0"/>
            <a:r>
              <a:rPr lang="vi-VN" dirty="0"/>
              <a:t>L2: W3(x1 → x2) W2(x2 → x3) </a:t>
            </a:r>
          </a:p>
          <a:p>
            <a:pPr>
              <a:buFont typeface="Arial" panose="020B0604020202020204" pitchFamily="34" charset="0"/>
              <a:buChar char="•"/>
            </a:pPr>
            <a:r>
              <a:rPr lang="vi-VN" dirty="0"/>
              <a:t>P2 đọc giá trị x1 (phiên bản hiện tại)</a:t>
            </a:r>
          </a:p>
          <a:p>
            <a:pPr>
              <a:buFont typeface="Arial" panose="020B0604020202020204" pitchFamily="34" charset="0"/>
              <a:buChar char="•"/>
            </a:pPr>
            <a:r>
              <a:rPr lang="vi-VN" dirty="0"/>
              <a:t>Sau đó ghi lên x (dựa trên x1 hoặc phiên bản mới hơn x2/x3)</a:t>
            </a:r>
            <a:br>
              <a:rPr lang="vi-VN" dirty="0"/>
            </a:br>
            <a:r>
              <a:rPr lang="vi-VN" dirty="0"/>
              <a:t>→ Hợp lệ.</a:t>
            </a:r>
          </a:p>
          <a:p>
            <a:r>
              <a:rPr lang="vi-VN" b="1" dirty="0"/>
              <a:t>(b) Data store KHÔNG cung cấp writes-follow-reads</a:t>
            </a:r>
          </a:p>
          <a:p>
            <a:pPr rtl="0"/>
            <a:r>
              <a:rPr lang="vi-VN" dirty="0"/>
              <a:t>L1: W1(x1) R2(x1)</a:t>
            </a:r>
            <a:endParaRPr lang="en-US" dirty="0"/>
          </a:p>
          <a:p>
            <a:pPr rtl="0"/>
            <a:r>
              <a:rPr lang="vi-VN" dirty="0"/>
              <a:t>L2: W3(x1 | x2) W2(x1 | x3) </a:t>
            </a:r>
          </a:p>
          <a:p>
            <a:pPr>
              <a:buFont typeface="Arial" panose="020B0604020202020204" pitchFamily="34" charset="0"/>
              <a:buChar char="•"/>
            </a:pPr>
            <a:r>
              <a:rPr lang="vi-VN" dirty="0"/>
              <a:t>P2 đọc x1 (cũ)</a:t>
            </a:r>
          </a:p>
          <a:p>
            <a:pPr>
              <a:buFont typeface="Arial" panose="020B0604020202020204" pitchFamily="34" charset="0"/>
              <a:buChar char="•"/>
            </a:pPr>
            <a:r>
              <a:rPr lang="vi-VN" dirty="0"/>
              <a:t>Nhưng khi ghi lại, P2 ghi dựa trên bản cũ (x1), bỏ qua bản x2/x3 mới hơn</a:t>
            </a:r>
            <a:br>
              <a:rPr lang="vi-VN" dirty="0"/>
            </a:br>
            <a:r>
              <a:rPr lang="vi-VN" dirty="0"/>
              <a:t>→ Vi phạm writes-follow-reads.</a:t>
            </a:r>
          </a:p>
          <a:p>
            <a:endParaRPr lang="en-US" b="1" dirty="0"/>
          </a:p>
          <a:p>
            <a:r>
              <a:rPr lang="en-US" b="1" dirty="0"/>
              <a:t>- </a:t>
            </a:r>
            <a:r>
              <a:rPr lang="vi-VN" b="1" dirty="0"/>
              <a:t>Ví dụ thực tế (từ slide)</a:t>
            </a:r>
          </a:p>
          <a:p>
            <a:r>
              <a:rPr lang="vi-VN" b="1" dirty="0"/>
              <a:t>Chỉ thấy phản hồi (ví dụ: comments, reactions) nếu bạn có post gốc.</a:t>
            </a:r>
            <a:br>
              <a:rPr lang="vi-VN" dirty="0"/>
            </a:br>
            <a:r>
              <a:rPr lang="vi-VN" dirty="0"/>
              <a:t>Đọc nội dung trước → hệ thống cho phép ghi thêm phản hồi.</a:t>
            </a:r>
          </a:p>
          <a:p>
            <a:r>
              <a:rPr lang="vi-VN" dirty="0"/>
              <a:t>Ví dụ đời sống:</a:t>
            </a:r>
          </a:p>
          <a:p>
            <a:pPr>
              <a:buFont typeface="Arial" panose="020B0604020202020204" pitchFamily="34" charset="0"/>
              <a:buChar char="•"/>
            </a:pPr>
            <a:r>
              <a:rPr lang="vi-VN" dirty="0"/>
              <a:t>Bạn mở bài viết blog và xem nội dung (read).</a:t>
            </a:r>
          </a:p>
          <a:p>
            <a:pPr>
              <a:buFont typeface="Arial" panose="020B0604020202020204" pitchFamily="34" charset="0"/>
              <a:buChar char="•"/>
            </a:pPr>
            <a:r>
              <a:rPr lang="vi-VN" dirty="0"/>
              <a:t>Sau đó bạn thêm bình luận (write).</a:t>
            </a:r>
          </a:p>
          <a:p>
            <a:pPr>
              <a:buFont typeface="Arial" panose="020B0604020202020204" pitchFamily="34" charset="0"/>
              <a:buChar char="•"/>
            </a:pPr>
            <a:r>
              <a:rPr lang="vi-VN" dirty="0"/>
              <a:t>Hệ thống phải đảm bảo rằng bạn đang comment vào bản mới nhất của bài viết.</a:t>
            </a:r>
          </a:p>
          <a:p>
            <a:endParaRPr lang="en-US" b="1" dirty="0"/>
          </a:p>
          <a:p>
            <a:r>
              <a:rPr lang="en-US" b="1" dirty="0"/>
              <a:t>- </a:t>
            </a:r>
            <a:r>
              <a:rPr lang="vi-VN" b="1" dirty="0"/>
              <a:t>Tóm tắt nhanh</a:t>
            </a:r>
          </a:p>
          <a:p>
            <a:r>
              <a:rPr lang="vi-VN" dirty="0"/>
              <a:t>Mô hình nhất quán</a:t>
            </a:r>
            <a:r>
              <a:rPr lang="en-US" dirty="0"/>
              <a:t>	</a:t>
            </a:r>
            <a:r>
              <a:rPr lang="vi-VN" dirty="0"/>
              <a:t>Đảm bảo điều gì?</a:t>
            </a:r>
            <a:endParaRPr lang="en-US" dirty="0"/>
          </a:p>
          <a:p>
            <a:r>
              <a:rPr lang="vi-VN" b="1" dirty="0"/>
              <a:t>Read-Your-Writes</a:t>
            </a:r>
            <a:r>
              <a:rPr lang="en-US" b="1" dirty="0"/>
              <a:t>	</a:t>
            </a:r>
            <a:r>
              <a:rPr lang="vi-VN" dirty="0"/>
              <a:t>Đọc lại thấy đúng dữ liệu mình đã ghi trước đó</a:t>
            </a:r>
            <a:endParaRPr lang="en-US" dirty="0"/>
          </a:p>
          <a:p>
            <a:r>
              <a:rPr lang="vi-VN" b="1" dirty="0"/>
              <a:t>Writes-Follow-Reads</a:t>
            </a:r>
            <a:r>
              <a:rPr lang="en-US" b="1" dirty="0"/>
              <a:t>	</a:t>
            </a:r>
            <a:r>
              <a:rPr lang="vi-VN" dirty="0"/>
              <a:t>Sau khi đọc, lần ghi tiếp theo phải dựa trên phiên bản đã đọc hoặc mới hơn</a:t>
            </a:r>
            <a:endParaRPr lang="en-US" dirty="0"/>
          </a:p>
          <a:p>
            <a:r>
              <a:rPr lang="vi-VN" b="1" dirty="0"/>
              <a:t>Ứng dụng điển hình</a:t>
            </a:r>
            <a:r>
              <a:rPr lang="en-US" b="1" dirty="0"/>
              <a:t>	</a:t>
            </a:r>
            <a:r>
              <a:rPr lang="vi-VN" dirty="0"/>
              <a:t>Hệ thống collaboration, comment, versioning</a:t>
            </a:r>
          </a:p>
          <a:p>
            <a:endParaRPr lang="en-US" dirty="0"/>
          </a:p>
          <a:p>
            <a:r>
              <a:rPr lang="en-US" dirty="0"/>
              <a:t>- </a:t>
            </a:r>
            <a:r>
              <a:rPr lang="vi-VN" b="1" dirty="0"/>
              <a:t>Mục tiêu cuối cùng của mô hình này:</a:t>
            </a:r>
          </a:p>
          <a:p>
            <a:r>
              <a:rPr lang="vi-VN" b="1" dirty="0"/>
              <a:t>Tránh mất cập nhật (lost update) và ghi đè sai dữ liệu.</a:t>
            </a:r>
            <a:endParaRPr lang="vi-VN" dirty="0"/>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27</a:t>
            </a:fld>
            <a:endParaRPr lang="en-US"/>
          </a:p>
        </p:txBody>
      </p:sp>
    </p:spTree>
    <p:extLst>
      <p:ext uri="{BB962C8B-B14F-4D97-AF65-F5344CB8AC3E}">
        <p14:creationId xmlns:p14="http://schemas.microsoft.com/office/powerpoint/2010/main" val="34414281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Replica Placement (Vị trí đặt bản sao dữ liệu)</a:t>
            </a:r>
          </a:p>
          <a:p>
            <a:r>
              <a:rPr lang="vi-VN" b="1" dirty="0"/>
              <a:t>Mục tiêu chính (Essence)</a:t>
            </a:r>
          </a:p>
          <a:p>
            <a:r>
              <a:rPr lang="vi-VN" dirty="0"/>
              <a:t>Trong hệ thống phân tán có </a:t>
            </a:r>
            <a:r>
              <a:rPr lang="vi-VN" b="1" dirty="0"/>
              <a:t>N vị trí có thể đặt bản sao (replica)</a:t>
            </a:r>
            <a:r>
              <a:rPr lang="vi-VN" dirty="0"/>
              <a:t>, ta cần chọn ra </a:t>
            </a:r>
            <a:r>
              <a:rPr lang="vi-VN" b="1" dirty="0"/>
              <a:t>K vị trí tốt nhất</a:t>
            </a:r>
            <a:r>
              <a:rPr lang="vi-VN" dirty="0"/>
              <a:t> để đặt replica nhằm tối ưu hiệu năng (giảm độ trễ truy cập, giảm tải mạng).</a:t>
            </a:r>
          </a:p>
          <a:p>
            <a:r>
              <a:rPr lang="vi-VN" dirty="0"/>
              <a:t>→ Đây là bài toán tối ưu hóa: </a:t>
            </a:r>
            <a:r>
              <a:rPr lang="vi-VN" i="1" dirty="0"/>
              <a:t>đặt bản sao ở đâu để người dùng truy cập nhanh nhất và ít tốn chi phí nhất?</a:t>
            </a:r>
            <a:endParaRPr lang="vi-VN" dirty="0"/>
          </a:p>
          <a:p>
            <a:endParaRPr lang="en-US" b="1" dirty="0"/>
          </a:p>
          <a:p>
            <a:r>
              <a:rPr lang="vi-VN" b="1" dirty="0"/>
              <a:t>Các phương pháp lựa chọn vị trí replica (trong slide)</a:t>
            </a:r>
          </a:p>
          <a:p>
            <a:r>
              <a:rPr lang="en-US" b="1" dirty="0"/>
              <a:t>1. </a:t>
            </a:r>
            <a:r>
              <a:rPr lang="vi-VN" b="1" dirty="0"/>
              <a:t>Chọn vị trí dựa trên khoảng cách trung bình đến client nhỏ nhất</a:t>
            </a:r>
          </a:p>
          <a:p>
            <a:r>
              <a:rPr lang="vi-VN" dirty="0"/>
              <a:t>Chọn vị trí đầu tiên sao cho </a:t>
            </a:r>
            <a:r>
              <a:rPr lang="vi-VN" b="1" dirty="0"/>
              <a:t>khoảng cách trung bình từ server đến các client là nhỏ nhất</a:t>
            </a:r>
            <a:r>
              <a:rPr lang="vi-VN" dirty="0"/>
              <a:t>, sau đó tiếp tục chọn các vị trí tiếp theo tốt nhất.</a:t>
            </a:r>
          </a:p>
          <a:p>
            <a:pPr>
              <a:buFont typeface="Arial" panose="020B0604020202020204" pitchFamily="34" charset="0"/>
              <a:buChar char="•"/>
            </a:pPr>
            <a:r>
              <a:rPr lang="vi-VN" dirty="0"/>
              <a:t>Mục tiêu: giảm latency (độ trễ truy cập).</a:t>
            </a:r>
          </a:p>
          <a:p>
            <a:pPr>
              <a:buFont typeface="Arial" panose="020B0604020202020204" pitchFamily="34" charset="0"/>
              <a:buChar char="•"/>
            </a:pPr>
            <a:r>
              <a:rPr lang="vi-VN" dirty="0"/>
              <a:t>Ưu điểm: kết quả tối ưu.</a:t>
            </a:r>
          </a:p>
          <a:p>
            <a:pPr>
              <a:buFont typeface="Arial" panose="020B0604020202020204" pitchFamily="34" charset="0"/>
              <a:buChar char="•"/>
            </a:pPr>
            <a:r>
              <a:rPr lang="vi-VN" dirty="0"/>
              <a:t>Nhược điểm: </a:t>
            </a:r>
            <a:r>
              <a:rPr lang="vi-VN" b="1" dirty="0"/>
              <a:t>Rất tốn chi phí tính toán (computationally expensive)</a:t>
            </a:r>
            <a:r>
              <a:rPr lang="vi-VN" dirty="0"/>
              <a:t> vì phải đánh giá tất cả các vị trí và tính toán khoảng cách trung bình.</a:t>
            </a:r>
          </a:p>
          <a:p>
            <a:r>
              <a:rPr lang="en-US" b="1" dirty="0"/>
              <a:t>2. </a:t>
            </a:r>
            <a:r>
              <a:rPr lang="vi-VN" b="1" dirty="0"/>
              <a:t>Dựa trên Autonomous System (AS)</a:t>
            </a:r>
            <a:endParaRPr lang="en-US" b="1" dirty="0"/>
          </a:p>
          <a:p>
            <a:r>
              <a:rPr lang="en-US" b="1" dirty="0"/>
              <a:t>--------------------------------------------------</a:t>
            </a:r>
          </a:p>
          <a:p>
            <a:r>
              <a:rPr lang="en-US" b="1" dirty="0" err="1"/>
              <a:t>Câu</a:t>
            </a:r>
            <a:r>
              <a:rPr lang="en-US" b="1" dirty="0"/>
              <a:t> </a:t>
            </a:r>
            <a:r>
              <a:rPr lang="en-US" b="1" dirty="0" err="1"/>
              <a:t>hỏi</a:t>
            </a:r>
            <a:r>
              <a:rPr lang="en-US" b="1" dirty="0"/>
              <a:t>: </a:t>
            </a:r>
            <a:r>
              <a:rPr lang="en-US" b="1" dirty="0" err="1"/>
              <a:t>mạng</a:t>
            </a:r>
            <a:r>
              <a:rPr lang="en-US" b="1" dirty="0"/>
              <a:t> </a:t>
            </a:r>
            <a:r>
              <a:rPr lang="en-US" b="1" dirty="0" err="1"/>
              <a:t>tự</a:t>
            </a:r>
            <a:r>
              <a:rPr lang="en-US" b="1" dirty="0"/>
              <a:t> </a:t>
            </a:r>
            <a:r>
              <a:rPr lang="en-US" b="1" dirty="0" err="1"/>
              <a:t>trị</a:t>
            </a:r>
            <a:r>
              <a:rPr lang="en-US" b="1" dirty="0"/>
              <a:t> (AS) </a:t>
            </a:r>
            <a:r>
              <a:rPr lang="en-US" b="1" dirty="0" err="1"/>
              <a:t>là</a:t>
            </a:r>
            <a:r>
              <a:rPr lang="en-US" b="1" dirty="0"/>
              <a:t> </a:t>
            </a:r>
            <a:r>
              <a:rPr lang="en-US" b="1" dirty="0" err="1"/>
              <a:t>gì</a:t>
            </a:r>
            <a:r>
              <a:rPr lang="en-US" b="1" dirty="0"/>
              <a:t>?</a:t>
            </a:r>
          </a:p>
          <a:p>
            <a:r>
              <a:rPr lang="vi-VN" b="1" dirty="0"/>
              <a:t>Hệ thống tự trị (Autonomous System – AS)</a:t>
            </a:r>
            <a:r>
              <a:rPr lang="vi-VN" dirty="0"/>
              <a:t> là </a:t>
            </a:r>
            <a:r>
              <a:rPr lang="vi-VN" b="1" dirty="0"/>
              <a:t>một tập hợp các mạng IP và router</a:t>
            </a:r>
            <a:r>
              <a:rPr lang="vi-VN" dirty="0"/>
              <a:t> nằm dưới sự quản lý chung của </a:t>
            </a:r>
            <a:r>
              <a:rPr lang="vi-VN" b="1" dirty="0"/>
              <a:t>một tổ chức hoặc nhà cung cấp dịch vụ mạng (ISP)</a:t>
            </a:r>
            <a:r>
              <a:rPr lang="vi-VN" dirty="0"/>
              <a:t> và sử dụng </a:t>
            </a:r>
            <a:r>
              <a:rPr lang="vi-VN" b="1" dirty="0"/>
              <a:t>một chính sách định tuyến thống nhất</a:t>
            </a:r>
            <a:r>
              <a:rPr lang="vi-VN" dirty="0"/>
              <a:t> khi trao đổi dữ liệu với bên ngoài.</a:t>
            </a:r>
          </a:p>
          <a:p>
            <a:r>
              <a:rPr lang="vi-VN" dirty="0"/>
              <a:t>Nói ngắn gọn:</a:t>
            </a:r>
          </a:p>
          <a:p>
            <a:r>
              <a:rPr lang="vi-VN" b="1" dirty="0"/>
              <a:t>AS = một vùng mạng lớn do một đơn vị quản lý và điều hành, sử dụng một chính sách định tuyến riêng.</a:t>
            </a:r>
            <a:endParaRPr lang="vi-VN" dirty="0"/>
          </a:p>
          <a:p>
            <a:r>
              <a:rPr lang="en-US" b="1" dirty="0"/>
              <a:t>--------------------------------------------------</a:t>
            </a:r>
            <a:endParaRPr lang="vi-VN" b="1" dirty="0"/>
          </a:p>
          <a:p>
            <a:r>
              <a:rPr lang="vi-VN" dirty="0"/>
              <a:t>Chọn server đặt trong K hệ thống tự trị (AS) lớn nhất, và chọn máy chủ có kết nối tốt nhất tại mỗi AS.</a:t>
            </a:r>
          </a:p>
          <a:p>
            <a:pPr>
              <a:buFont typeface="Arial" panose="020B0604020202020204" pitchFamily="34" charset="0"/>
              <a:buChar char="•"/>
            </a:pPr>
            <a:r>
              <a:rPr lang="vi-VN" dirty="0"/>
              <a:t>AS (Autonomous System) là nhóm các mạng dùng chung routing (ví dụ như ISP lớn).</a:t>
            </a:r>
          </a:p>
          <a:p>
            <a:pPr>
              <a:buFont typeface="Arial" panose="020B0604020202020204" pitchFamily="34" charset="0"/>
              <a:buChar char="•"/>
            </a:pPr>
            <a:r>
              <a:rPr lang="vi-VN" dirty="0"/>
              <a:t>Ưu điểm: tối ưu về mặt kết nối mạng (network connectivity).</a:t>
            </a:r>
          </a:p>
          <a:p>
            <a:pPr>
              <a:buFont typeface="Arial" panose="020B0604020202020204" pitchFamily="34" charset="0"/>
              <a:buChar char="•"/>
            </a:pPr>
            <a:r>
              <a:rPr lang="vi-VN" dirty="0"/>
              <a:t>Nhược điểm: </a:t>
            </a:r>
            <a:r>
              <a:rPr lang="vi-VN" b="1" dirty="0"/>
              <a:t>Cũng rất tốn chi phí phân tích (computationally expensive)</a:t>
            </a:r>
            <a:r>
              <a:rPr lang="vi-VN" dirty="0"/>
              <a:t> vì phải đánh giá cấu trúc mạng.</a:t>
            </a:r>
          </a:p>
          <a:p>
            <a:r>
              <a:rPr lang="en-US" b="1" dirty="0"/>
              <a:t>3. </a:t>
            </a:r>
            <a:r>
              <a:rPr lang="vi-VN" b="1" dirty="0"/>
              <a:t>Sử dụng không gian hình học d-chiều (Geometric space)</a:t>
            </a:r>
          </a:p>
          <a:p>
            <a:r>
              <a:rPr lang="vi-VN" dirty="0"/>
              <a:t>Biểu diễn các node (client hoặc server) trong không gian d chiều → Khoảng cách biểu diễn độ trễ.</a:t>
            </a:r>
            <a:br>
              <a:rPr lang="vi-VN" dirty="0"/>
            </a:br>
            <a:r>
              <a:rPr lang="vi-VN" dirty="0"/>
              <a:t>Chọn </a:t>
            </a:r>
            <a:r>
              <a:rPr lang="vi-VN" b="1" dirty="0"/>
              <a:t>K vùng có mật độ node cao</a:t>
            </a:r>
            <a:r>
              <a:rPr lang="vi-VN" dirty="0"/>
              <a:t> và đặt server trong mỗi vùng.</a:t>
            </a:r>
          </a:p>
          <a:p>
            <a:pPr>
              <a:buFont typeface="Arial" panose="020B0604020202020204" pitchFamily="34" charset="0"/>
              <a:buChar char="•"/>
            </a:pPr>
            <a:r>
              <a:rPr lang="vi-VN" dirty="0"/>
              <a:t>Ý tưởng: nơi có nhiều client → đặt replica gần đó.</a:t>
            </a:r>
          </a:p>
          <a:p>
            <a:pPr>
              <a:buFont typeface="Arial" panose="020B0604020202020204" pitchFamily="34" charset="0"/>
              <a:buChar char="•"/>
            </a:pPr>
            <a:r>
              <a:rPr lang="vi-VN" dirty="0"/>
              <a:t>Ưu điểm: </a:t>
            </a:r>
            <a:r>
              <a:rPr lang="vi-VN" b="1" dirty="0"/>
              <a:t>rẻ về mặt tính toán (computationally cheap)</a:t>
            </a:r>
            <a:r>
              <a:rPr lang="vi-VN" dirty="0"/>
              <a:t>.</a:t>
            </a:r>
          </a:p>
          <a:p>
            <a:pPr>
              <a:buFont typeface="Arial" panose="020B0604020202020204" pitchFamily="34" charset="0"/>
              <a:buChar char="•"/>
            </a:pPr>
            <a:r>
              <a:rPr lang="vi-VN" dirty="0"/>
              <a:t>Nhược điểm: không đảm bảo chính xác tuyệt đối nhưng hiệu quả trong thực tế.</a:t>
            </a:r>
          </a:p>
          <a:p>
            <a:endParaRPr lang="en-US" b="1" dirty="0"/>
          </a:p>
          <a:p>
            <a:r>
              <a:rPr lang="vi-VN" b="1" dirty="0"/>
              <a:t>Tóm tắt so sánh</a:t>
            </a:r>
          </a:p>
          <a:p>
            <a:r>
              <a:rPr lang="vi-VN" dirty="0"/>
              <a:t>Phương pháp</a:t>
            </a:r>
            <a:r>
              <a:rPr lang="en-US" dirty="0"/>
              <a:t>				</a:t>
            </a:r>
            <a:r>
              <a:rPr lang="vi-VN" dirty="0"/>
              <a:t>Chiến lược</a:t>
            </a:r>
            <a:r>
              <a:rPr lang="en-US" dirty="0"/>
              <a:t>			</a:t>
            </a:r>
            <a:r>
              <a:rPr lang="vi-VN" dirty="0"/>
              <a:t>Chi phí tính toán</a:t>
            </a:r>
            <a:endParaRPr lang="en-US" dirty="0"/>
          </a:p>
          <a:p>
            <a:r>
              <a:rPr lang="vi-VN" dirty="0"/>
              <a:t>Chọn vị trí có khoảng cách trung bình nhỏ nhất</a:t>
            </a:r>
            <a:r>
              <a:rPr lang="en-US" dirty="0"/>
              <a:t>	</a:t>
            </a:r>
            <a:r>
              <a:rPr lang="vi-VN" dirty="0"/>
              <a:t>Tối ưu độ trễ cho tất cả client</a:t>
            </a:r>
            <a:r>
              <a:rPr lang="en-US" dirty="0"/>
              <a:t>		</a:t>
            </a:r>
            <a:r>
              <a:rPr lang="vi-VN" dirty="0"/>
              <a:t>Rất tốn kém</a:t>
            </a:r>
            <a:endParaRPr lang="en-US" dirty="0"/>
          </a:p>
          <a:p>
            <a:r>
              <a:rPr lang="vi-VN" dirty="0"/>
              <a:t>Chọn theo AS lớn nhất</a:t>
            </a:r>
            <a:r>
              <a:rPr lang="en-US" dirty="0"/>
              <a:t>			</a:t>
            </a:r>
            <a:r>
              <a:rPr lang="vi-VN" dirty="0"/>
              <a:t>Tối ưu theo cấu trúc mạng</a:t>
            </a:r>
            <a:r>
              <a:rPr lang="en-US" dirty="0"/>
              <a:t>		</a:t>
            </a:r>
            <a:r>
              <a:rPr lang="vi-VN" dirty="0"/>
              <a:t>Rất tốn kém</a:t>
            </a:r>
            <a:endParaRPr lang="en-US" dirty="0"/>
          </a:p>
          <a:p>
            <a:r>
              <a:rPr lang="vi-VN" dirty="0"/>
              <a:t>Dựa trên không gian hình học d-chiều</a:t>
            </a:r>
            <a:r>
              <a:rPr lang="en-US" dirty="0"/>
              <a:t>		</a:t>
            </a:r>
            <a:r>
              <a:rPr lang="vi-VN" dirty="0"/>
              <a:t>Tìm vùng tập trung client và đặt replica</a:t>
            </a:r>
            <a:r>
              <a:rPr lang="en-US" dirty="0"/>
              <a:t>	</a:t>
            </a:r>
            <a:r>
              <a:rPr lang="vi-VN" dirty="0"/>
              <a:t>Rẻ (thực tế thường dùng)</a:t>
            </a:r>
          </a:p>
          <a:p>
            <a:endParaRPr lang="en-US" b="1" dirty="0"/>
          </a:p>
          <a:p>
            <a:r>
              <a:rPr lang="vi-VN" b="1" dirty="0"/>
              <a:t>Kết luận</a:t>
            </a:r>
            <a:r>
              <a:rPr lang="en-US" b="1" dirty="0"/>
              <a:t>:</a:t>
            </a:r>
            <a:endParaRPr lang="vi-VN" b="1" dirty="0"/>
          </a:p>
          <a:p>
            <a:r>
              <a:rPr lang="vi-VN" dirty="0"/>
              <a:t>"Replica placement là một bài toán trade-off giữa </a:t>
            </a:r>
            <a:r>
              <a:rPr lang="vi-VN" b="1" dirty="0"/>
              <a:t>tối ưu chất lượng truy cập</a:t>
            </a:r>
            <a:r>
              <a:rPr lang="vi-VN" dirty="0"/>
              <a:t> và </a:t>
            </a:r>
            <a:r>
              <a:rPr lang="vi-VN" b="1" dirty="0"/>
              <a:t>chi phí tính toán</a:t>
            </a:r>
            <a:r>
              <a:rPr lang="vi-VN" dirty="0"/>
              <a:t>.</a:t>
            </a:r>
            <a:br>
              <a:rPr lang="vi-VN" dirty="0"/>
            </a:br>
            <a:r>
              <a:rPr lang="vi-VN" dirty="0"/>
              <a:t>Các kỹ thuật tối ưu cao thì tốn chi phí phân tích, kỹ thuật đơn giản hơn thì nhanh và đủ tốt."</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31</a:t>
            </a:fld>
            <a:endParaRPr lang="en-US"/>
          </a:p>
        </p:txBody>
      </p:sp>
    </p:spTree>
    <p:extLst>
      <p:ext uri="{BB962C8B-B14F-4D97-AF65-F5344CB8AC3E}">
        <p14:creationId xmlns:p14="http://schemas.microsoft.com/office/powerpoint/2010/main" val="26106378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Content replication – Distinguish different processes</a:t>
            </a:r>
            <a:endParaRPr lang="vi-VN" b="1" dirty="0"/>
          </a:p>
          <a:p>
            <a:r>
              <a:rPr lang="vi-VN" b="1" dirty="0"/>
              <a:t>Nội dung chính của slide</a:t>
            </a:r>
          </a:p>
          <a:p>
            <a:r>
              <a:rPr lang="vi-VN" dirty="0"/>
              <a:t>Slide nói về </a:t>
            </a:r>
            <a:r>
              <a:rPr lang="vi-VN" b="1" dirty="0"/>
              <a:t>phân loại các loại replica (bản sao dữ liệu)</a:t>
            </a:r>
            <a:r>
              <a:rPr lang="vi-VN" dirty="0"/>
              <a:t> trong hệ thống phân tán.</a:t>
            </a:r>
          </a:p>
          <a:p>
            <a:endParaRPr lang="en-US" b="1" dirty="0"/>
          </a:p>
          <a:p>
            <a:r>
              <a:rPr lang="vi-VN" b="1" dirty="0"/>
              <a:t>Mục tiêu:</a:t>
            </a:r>
          </a:p>
          <a:p>
            <a:r>
              <a:rPr lang="vi-VN" dirty="0"/>
              <a:t>Hiểu được </a:t>
            </a:r>
            <a:r>
              <a:rPr lang="vi-VN" i="1" dirty="0"/>
              <a:t>quá trình nào (process/machine)</a:t>
            </a:r>
            <a:r>
              <a:rPr lang="vi-VN" dirty="0"/>
              <a:t> có khả năng lưu trữ (hosting) một bản sao của dữ liệu phân tán.</a:t>
            </a:r>
          </a:p>
          <a:p>
            <a:endParaRPr lang="en-US" b="1" dirty="0"/>
          </a:p>
          <a:p>
            <a:r>
              <a:rPr lang="vi-VN" b="1" dirty="0"/>
              <a:t>Khái niệm “Replica”</a:t>
            </a:r>
          </a:p>
          <a:p>
            <a:r>
              <a:rPr lang="vi-VN" dirty="0"/>
              <a:t>Replica = một bản sao của dữ liệu/đối tượng được lưu trên một node trong hệ thống phân tán.</a:t>
            </a:r>
          </a:p>
          <a:p>
            <a:r>
              <a:rPr lang="vi-VN" dirty="0"/>
              <a:t>Việc tạo nhiều replica giúp:</a:t>
            </a:r>
          </a:p>
          <a:p>
            <a:pPr>
              <a:buFont typeface="Arial" panose="020B0604020202020204" pitchFamily="34" charset="0"/>
              <a:buChar char="•"/>
            </a:pPr>
            <a:r>
              <a:rPr lang="vi-VN" dirty="0"/>
              <a:t>Tăng độ sẵn sàng (availability)</a:t>
            </a:r>
          </a:p>
          <a:p>
            <a:pPr>
              <a:buFont typeface="Arial" panose="020B0604020202020204" pitchFamily="34" charset="0"/>
              <a:buChar char="•"/>
            </a:pPr>
            <a:r>
              <a:rPr lang="vi-VN" dirty="0"/>
              <a:t>Tăng hiệu năng (giảm latency khi truy cập từ gần nhất)</a:t>
            </a:r>
          </a:p>
          <a:p>
            <a:pPr>
              <a:buFont typeface="Arial" panose="020B0604020202020204" pitchFamily="34" charset="0"/>
              <a:buChar char="•"/>
            </a:pPr>
            <a:r>
              <a:rPr lang="vi-VN" dirty="0"/>
              <a:t>Chịu lỗi tốt hơn (fault-tolerance)</a:t>
            </a:r>
          </a:p>
          <a:p>
            <a:endParaRPr lang="en-US" b="1" dirty="0"/>
          </a:p>
          <a:p>
            <a:r>
              <a:rPr lang="vi-VN" b="1" dirty="0"/>
              <a:t>Phân loại process có khả năng lưu replica</a:t>
            </a:r>
          </a:p>
          <a:p>
            <a:r>
              <a:rPr lang="vi-VN" dirty="0"/>
              <a:t>Loại replica</a:t>
            </a:r>
            <a:r>
              <a:rPr lang="en-US" dirty="0"/>
              <a:t>					</a:t>
            </a:r>
            <a:r>
              <a:rPr lang="vi-VN" dirty="0"/>
              <a:t>Mô tả</a:t>
            </a:r>
            <a:r>
              <a:rPr lang="en-US" dirty="0"/>
              <a:t>							</a:t>
            </a:r>
            <a:r>
              <a:rPr lang="vi-VN" dirty="0"/>
              <a:t>Ví dụ</a:t>
            </a:r>
            <a:endParaRPr lang="en-US" dirty="0"/>
          </a:p>
          <a:p>
            <a:r>
              <a:rPr lang="vi-VN" b="1" dirty="0"/>
              <a:t>Permanent replica</a:t>
            </a:r>
            <a:r>
              <a:rPr lang="vi-VN" dirty="0"/>
              <a:t> (Replica thường trú)</a:t>
            </a:r>
            <a:r>
              <a:rPr lang="en-US" dirty="0"/>
              <a:t>			</a:t>
            </a:r>
            <a:r>
              <a:rPr lang="vi-VN" dirty="0"/>
              <a:t>Replica luôn luôn tồn tại trên node — cố định, không bị xóa.</a:t>
            </a:r>
            <a:r>
              <a:rPr lang="en-US" dirty="0"/>
              <a:t>			</a:t>
            </a:r>
            <a:r>
              <a:rPr lang="vi-VN" dirty="0"/>
              <a:t>Database chính của hệ thống tại data center.</a:t>
            </a:r>
            <a:endParaRPr lang="en-US" dirty="0"/>
          </a:p>
          <a:p>
            <a:r>
              <a:rPr lang="vi-VN" b="1" dirty="0"/>
              <a:t>Server-initiated replica</a:t>
            </a:r>
            <a:r>
              <a:rPr lang="vi-VN" dirty="0"/>
              <a:t> (Replica do server tạo)</a:t>
            </a:r>
            <a:r>
              <a:rPr lang="en-US" dirty="0"/>
              <a:t>		</a:t>
            </a:r>
            <a:r>
              <a:rPr lang="vi-VN" dirty="0"/>
              <a:t>Server chủ động tạo thêm replica trên các server khác khi cần thiết (ví dụ để load balancing).</a:t>
            </a:r>
            <a:r>
              <a:rPr lang="en-US" dirty="0"/>
              <a:t>	</a:t>
            </a:r>
            <a:r>
              <a:rPr lang="vi-VN" dirty="0"/>
              <a:t>CDN tự động copy nội dung sang server gần người dùng.</a:t>
            </a:r>
            <a:endParaRPr lang="en-US" dirty="0"/>
          </a:p>
          <a:p>
            <a:r>
              <a:rPr lang="vi-VN" b="1" dirty="0"/>
              <a:t>Client-initiated replica</a:t>
            </a:r>
            <a:r>
              <a:rPr lang="vi-VN" dirty="0"/>
              <a:t> (Replica do client tạo — </a:t>
            </a:r>
            <a:r>
              <a:rPr lang="vi-VN" i="1" dirty="0"/>
              <a:t>client cache</a:t>
            </a:r>
            <a:r>
              <a:rPr lang="vi-VN" dirty="0"/>
              <a:t>)</a:t>
            </a:r>
            <a:r>
              <a:rPr lang="en-US" dirty="0"/>
              <a:t>	</a:t>
            </a:r>
            <a:r>
              <a:rPr lang="vi-VN" dirty="0"/>
              <a:t>Do phía client yêu cầu, tạo replica tạm thời trên thiết bị client hoặc proxy để tăng tốc truy cập.</a:t>
            </a:r>
            <a:r>
              <a:rPr lang="en-US" dirty="0"/>
              <a:t>	</a:t>
            </a:r>
            <a:r>
              <a:rPr lang="vi-VN" dirty="0"/>
              <a:t>Cache trình duyệt, ứng dụng mobile tải dữ liệu về lưu offline.</a:t>
            </a:r>
          </a:p>
          <a:p>
            <a:endParaRPr lang="en-US" b="1" dirty="0"/>
          </a:p>
          <a:p>
            <a:r>
              <a:rPr lang="vi-VN" b="1" dirty="0"/>
              <a:t>Tóm lại</a:t>
            </a:r>
          </a:p>
          <a:p>
            <a:r>
              <a:rPr lang="vi-VN" dirty="0"/>
              <a:t>Ai quyết định tạo replica?</a:t>
            </a:r>
            <a:r>
              <a:rPr lang="en-US" dirty="0"/>
              <a:t>		</a:t>
            </a:r>
            <a:r>
              <a:rPr lang="vi-VN" dirty="0"/>
              <a:t>Replica loại gì?</a:t>
            </a:r>
            <a:endParaRPr lang="en-US" dirty="0"/>
          </a:p>
          <a:p>
            <a:r>
              <a:rPr lang="vi-VN" dirty="0"/>
              <a:t>Hệ thống quyết định (luôn tồn tại)</a:t>
            </a:r>
            <a:r>
              <a:rPr lang="en-US" dirty="0"/>
              <a:t>	</a:t>
            </a:r>
            <a:r>
              <a:rPr lang="vi-VN" dirty="0"/>
              <a:t>Permanent replica</a:t>
            </a:r>
            <a:endParaRPr lang="en-US" dirty="0"/>
          </a:p>
          <a:p>
            <a:r>
              <a:rPr lang="vi-VN" dirty="0"/>
              <a:t>Server quyết định (tạo thêm khi cần)</a:t>
            </a:r>
            <a:r>
              <a:rPr lang="en-US" dirty="0"/>
              <a:t>	</a:t>
            </a:r>
            <a:r>
              <a:rPr lang="vi-VN" dirty="0"/>
              <a:t>Server-initiated replica</a:t>
            </a:r>
            <a:endParaRPr lang="en-US" dirty="0"/>
          </a:p>
          <a:p>
            <a:r>
              <a:rPr lang="vi-VN" dirty="0"/>
              <a:t>Client quyết định (thường lưu cache)</a:t>
            </a:r>
            <a:r>
              <a:rPr lang="en-US" dirty="0"/>
              <a:t>	</a:t>
            </a:r>
            <a:r>
              <a:rPr lang="vi-VN" dirty="0"/>
              <a:t>Client-initiated replica</a:t>
            </a:r>
          </a:p>
          <a:p>
            <a:endParaRPr lang="en-US" b="1" dirty="0"/>
          </a:p>
          <a:p>
            <a:r>
              <a:rPr lang="vi-VN" b="1" dirty="0"/>
              <a:t>Ý nghĩa thực tế</a:t>
            </a:r>
          </a:p>
          <a:p>
            <a:pPr>
              <a:buFont typeface="Arial" panose="020B0604020202020204" pitchFamily="34" charset="0"/>
              <a:buChar char="•"/>
            </a:pPr>
            <a:r>
              <a:rPr lang="vi-VN" dirty="0"/>
              <a:t>Khi thiết kế hệ thống phân tán, bạn cần xác định </a:t>
            </a:r>
            <a:r>
              <a:rPr lang="vi-VN" b="1" dirty="0"/>
              <a:t>nên đặt replica ở đâu và ai quản lý nó</a:t>
            </a:r>
            <a:r>
              <a:rPr lang="vi-VN" dirty="0"/>
              <a:t>.</a:t>
            </a:r>
          </a:p>
          <a:p>
            <a:pPr>
              <a:buFont typeface="Arial" panose="020B0604020202020204" pitchFamily="34" charset="0"/>
              <a:buChar char="•"/>
            </a:pPr>
            <a:r>
              <a:rPr lang="vi-VN" dirty="0"/>
              <a:t>Điều này ảnh hưởng đến performance, tính nhất quán (</a:t>
            </a:r>
            <a:r>
              <a:rPr lang="vi-VN" i="1" dirty="0"/>
              <a:t>consistency</a:t>
            </a:r>
            <a:r>
              <a:rPr lang="vi-VN" dirty="0"/>
              <a:t>) và chi phí vận hành.</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32</a:t>
            </a:fld>
            <a:endParaRPr lang="en-US"/>
          </a:p>
        </p:txBody>
      </p:sp>
    </p:spTree>
    <p:extLst>
      <p:ext uri="{BB962C8B-B14F-4D97-AF65-F5344CB8AC3E}">
        <p14:creationId xmlns:p14="http://schemas.microsoft.com/office/powerpoint/2010/main" val="27189167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Content replication – Logical organization of replicas</a:t>
            </a:r>
            <a:endParaRPr lang="vi-VN" b="1" dirty="0"/>
          </a:p>
          <a:p>
            <a:r>
              <a:rPr lang="en-US" b="1" dirty="0"/>
              <a:t>- </a:t>
            </a:r>
            <a:r>
              <a:rPr lang="vi-VN" b="1" dirty="0"/>
              <a:t>Nội dung chính của slide</a:t>
            </a:r>
          </a:p>
          <a:p>
            <a:r>
              <a:rPr lang="vi-VN" dirty="0"/>
              <a:t>Slide mô tả </a:t>
            </a:r>
            <a:r>
              <a:rPr lang="vi-VN" b="1" dirty="0"/>
              <a:t>cách tổ chức các bản sao dữ liệu (replicas)</a:t>
            </a:r>
            <a:r>
              <a:rPr lang="vi-VN" dirty="0"/>
              <a:t> trong hệ thống phân tán thành </a:t>
            </a:r>
            <a:r>
              <a:rPr lang="vi-VN" b="1" dirty="0"/>
              <a:t>ba vòng tròn đồng tâm</a:t>
            </a:r>
            <a:r>
              <a:rPr lang="vi-VN" dirty="0"/>
              <a:t> (three concentric rings).</a:t>
            </a:r>
          </a:p>
          <a:p>
            <a:r>
              <a:rPr lang="vi-VN" dirty="0"/>
              <a:t>Mỗi vòng tương ứng với </a:t>
            </a:r>
            <a:r>
              <a:rPr lang="vi-VN" b="1" dirty="0"/>
              <a:t>một loại replica</a:t>
            </a:r>
            <a:r>
              <a:rPr lang="vi-VN" dirty="0"/>
              <a:t>, từ “cố định” đến “tạm thời”:</a:t>
            </a:r>
          </a:p>
          <a:p>
            <a:endParaRPr lang="en-US" b="1" dirty="0"/>
          </a:p>
          <a:p>
            <a:r>
              <a:rPr lang="en-US" b="1" dirty="0"/>
              <a:t>- </a:t>
            </a:r>
            <a:r>
              <a:rPr lang="vi-VN" b="1" dirty="0"/>
              <a:t>Ba vòng đồng tâm biểu diễn các loại replica</a:t>
            </a:r>
          </a:p>
          <a:p>
            <a:r>
              <a:rPr lang="vi-VN" dirty="0"/>
              <a:t>Vị trí trong vòng tròn</a:t>
            </a:r>
            <a:r>
              <a:rPr lang="en-US" dirty="0"/>
              <a:t>	</a:t>
            </a:r>
            <a:r>
              <a:rPr lang="vi-VN" dirty="0"/>
              <a:t>Loại replica</a:t>
            </a:r>
            <a:r>
              <a:rPr lang="en-US" dirty="0"/>
              <a:t>			</a:t>
            </a:r>
            <a:r>
              <a:rPr lang="vi-VN" dirty="0"/>
              <a:t>Đặc điểm</a:t>
            </a:r>
            <a:r>
              <a:rPr lang="en-US" dirty="0"/>
              <a:t>				</a:t>
            </a:r>
            <a:r>
              <a:rPr lang="vi-VN" dirty="0"/>
              <a:t>Ví dụ thực tế</a:t>
            </a:r>
            <a:endParaRPr lang="en-US" dirty="0"/>
          </a:p>
          <a:p>
            <a:r>
              <a:rPr lang="vi-VN" b="1" dirty="0"/>
              <a:t>Vòng trong cùng</a:t>
            </a:r>
            <a:r>
              <a:rPr lang="en-US" b="1" dirty="0"/>
              <a:t>	</a:t>
            </a:r>
            <a:r>
              <a:rPr lang="vi-VN" b="1" dirty="0"/>
              <a:t>Permanent replicas</a:t>
            </a:r>
            <a:r>
              <a:rPr lang="en-US" b="1" dirty="0"/>
              <a:t>		</a:t>
            </a:r>
            <a:r>
              <a:rPr lang="vi-VN" dirty="0"/>
              <a:t>Luôn luôn tồn tại, lưu trữ lâu dài</a:t>
            </a:r>
            <a:r>
              <a:rPr lang="en-US" dirty="0"/>
              <a:t>		</a:t>
            </a:r>
            <a:r>
              <a:rPr lang="vi-VN" dirty="0"/>
              <a:t>Database chính trong data center</a:t>
            </a:r>
            <a:endParaRPr lang="en-US" dirty="0"/>
          </a:p>
          <a:p>
            <a:r>
              <a:rPr lang="vi-VN" b="1" dirty="0"/>
              <a:t>Vòng giữa</a:t>
            </a:r>
            <a:r>
              <a:rPr lang="en-US" b="1" dirty="0"/>
              <a:t>		</a:t>
            </a:r>
            <a:r>
              <a:rPr lang="vi-VN" b="1" dirty="0"/>
              <a:t>Server-initiated replicas</a:t>
            </a:r>
            <a:r>
              <a:rPr lang="en-US" b="1" dirty="0"/>
              <a:t>		</a:t>
            </a:r>
            <a:r>
              <a:rPr lang="vi-VN" dirty="0"/>
              <a:t>Server tự động tạo để tối ưu hiệu năng, cân bằng tải</a:t>
            </a:r>
            <a:r>
              <a:rPr lang="en-US" dirty="0"/>
              <a:t>	</a:t>
            </a:r>
            <a:r>
              <a:rPr lang="vi-VN" dirty="0"/>
              <a:t>CDN copy data sang server gần người dùng</a:t>
            </a:r>
            <a:endParaRPr lang="en-US" dirty="0"/>
          </a:p>
          <a:p>
            <a:r>
              <a:rPr lang="vi-VN" b="1" dirty="0"/>
              <a:t>Vòng ngoài cùng</a:t>
            </a:r>
            <a:r>
              <a:rPr lang="en-US" b="1" dirty="0"/>
              <a:t>	</a:t>
            </a:r>
            <a:r>
              <a:rPr lang="vi-VN" b="1" dirty="0"/>
              <a:t>Client-initiated replicas (client cache)</a:t>
            </a:r>
            <a:r>
              <a:rPr lang="en-US" b="1" dirty="0"/>
              <a:t>	</a:t>
            </a:r>
            <a:r>
              <a:rPr lang="vi-VN" dirty="0"/>
              <a:t>Chỉ tồn tại khi client cần → mang tính tạm thời</a:t>
            </a:r>
            <a:r>
              <a:rPr lang="en-US" dirty="0"/>
              <a:t>	</a:t>
            </a:r>
            <a:r>
              <a:rPr lang="vi-VN" dirty="0"/>
              <a:t>Cache trên trình duyệt hoặc mobile app</a:t>
            </a:r>
          </a:p>
          <a:p>
            <a:endParaRPr lang="en-US" b="1" dirty="0"/>
          </a:p>
          <a:p>
            <a:r>
              <a:rPr lang="en-US" b="1" dirty="0"/>
              <a:t>- </a:t>
            </a:r>
            <a:r>
              <a:rPr lang="vi-VN" b="1" dirty="0"/>
              <a:t>Ý nghĩa của mũi tên trên hình</a:t>
            </a:r>
          </a:p>
          <a:p>
            <a:pPr>
              <a:buFont typeface="Arial" panose="020B0604020202020204" pitchFamily="34" charset="0"/>
              <a:buChar char="•"/>
            </a:pPr>
            <a:r>
              <a:rPr lang="vi-VN" b="1" dirty="0"/>
              <a:t>Mũi tên liền nét (solid arrow)</a:t>
            </a:r>
            <a:r>
              <a:rPr lang="vi-VN" dirty="0"/>
              <a:t> → quá trình replication </a:t>
            </a:r>
            <a:r>
              <a:rPr lang="vi-VN" i="1" dirty="0"/>
              <a:t>do server chủ động tạo ra</a:t>
            </a:r>
            <a:br>
              <a:rPr lang="vi-VN" dirty="0"/>
            </a:br>
            <a:r>
              <a:rPr lang="vi-VN" dirty="0"/>
              <a:t>→ server copy dữ liệu sang node khác nếu thấy cần thiết.</a:t>
            </a:r>
          </a:p>
          <a:p>
            <a:pPr>
              <a:buFont typeface="Arial" panose="020B0604020202020204" pitchFamily="34" charset="0"/>
              <a:buChar char="•"/>
            </a:pPr>
            <a:r>
              <a:rPr lang="vi-VN" b="1" dirty="0"/>
              <a:t>Mũi tên nét đứt (dashed arrow)</a:t>
            </a:r>
            <a:r>
              <a:rPr lang="vi-VN" dirty="0"/>
              <a:t> → quá trình replication </a:t>
            </a:r>
            <a:r>
              <a:rPr lang="vi-VN" i="1" dirty="0"/>
              <a:t>do client yêu cầu</a:t>
            </a:r>
            <a:br>
              <a:rPr lang="vi-VN" dirty="0"/>
            </a:br>
            <a:r>
              <a:rPr lang="vi-VN" dirty="0"/>
              <a:t>→ ví dụ: ứng dụng mobile tải data về cache để sử dụng offline.</a:t>
            </a:r>
          </a:p>
          <a:p>
            <a:endParaRPr lang="en-US" b="1" dirty="0"/>
          </a:p>
          <a:p>
            <a:r>
              <a:rPr lang="en-US" b="1" dirty="0"/>
              <a:t>- </a:t>
            </a:r>
            <a:r>
              <a:rPr lang="vi-VN" b="1" dirty="0"/>
              <a:t>Thông điệp của slide</a:t>
            </a:r>
          </a:p>
          <a:p>
            <a:r>
              <a:rPr lang="vi-VN" dirty="0"/>
              <a:t>Các bản sao dữ liệu không phải giống nhau về vai trò.</a:t>
            </a:r>
            <a:br>
              <a:rPr lang="vi-VN" dirty="0"/>
            </a:br>
            <a:r>
              <a:rPr lang="vi-VN" dirty="0"/>
              <a:t>Chúng được tổ chức thành các lớp — từ bản sao cố định (permanent) đến bản sao tạm thời tạo bởi server hoặc client.</a:t>
            </a:r>
          </a:p>
          <a:p>
            <a:r>
              <a:rPr lang="vi-VN" dirty="0"/>
              <a:t>Ý tưởng của "vòng đồng tâm" → Loại replica càng ra ngoài thì </a:t>
            </a:r>
            <a:r>
              <a:rPr lang="vi-VN" b="1" dirty="0"/>
              <a:t>mức độ tạm thời càng cao</a:t>
            </a:r>
            <a:r>
              <a:rPr lang="vi-VN" dirty="0"/>
              <a:t> và </a:t>
            </a:r>
            <a:r>
              <a:rPr lang="vi-VN" b="1" dirty="0"/>
              <a:t>độ tin cậy / ổn định càng thấp</a:t>
            </a:r>
            <a:r>
              <a:rPr lang="vi-VN" dirty="0"/>
              <a:t>.</a:t>
            </a:r>
          </a:p>
          <a:p>
            <a:endParaRPr lang="en-US" b="1" dirty="0"/>
          </a:p>
          <a:p>
            <a:r>
              <a:rPr lang="en-US" b="1" dirty="0"/>
              <a:t>- </a:t>
            </a:r>
            <a:r>
              <a:rPr lang="vi-VN" b="1" dirty="0"/>
              <a:t>Liên hệ thực tế (dễ nhớ)</a:t>
            </a:r>
          </a:p>
          <a:p>
            <a:r>
              <a:rPr lang="vi-VN" dirty="0"/>
              <a:t>Hãy tưởng tượng dữ liệu như một quyển sách:</a:t>
            </a:r>
          </a:p>
          <a:p>
            <a:pPr>
              <a:buFont typeface="Arial" panose="020B0604020202020204" pitchFamily="34" charset="0"/>
              <a:buChar char="•"/>
            </a:pPr>
            <a:r>
              <a:rPr lang="vi-VN" b="1" dirty="0"/>
              <a:t>Permanent replica</a:t>
            </a:r>
            <a:r>
              <a:rPr lang="vi-VN" dirty="0"/>
              <a:t> = bản chính trong thư viện quốc gia</a:t>
            </a:r>
          </a:p>
          <a:p>
            <a:pPr>
              <a:buFont typeface="Arial" panose="020B0604020202020204" pitchFamily="34" charset="0"/>
              <a:buChar char="•"/>
            </a:pPr>
            <a:r>
              <a:rPr lang="vi-VN" b="1" dirty="0"/>
              <a:t>Server-initiated replica</a:t>
            </a:r>
            <a:r>
              <a:rPr lang="vi-VN" dirty="0"/>
              <a:t> = thư viện tỉnh mượn về 1 số bản để phục vụ nhu cầu người đọc</a:t>
            </a:r>
          </a:p>
          <a:p>
            <a:pPr>
              <a:buFont typeface="Arial" panose="020B0604020202020204" pitchFamily="34" charset="0"/>
              <a:buChar char="•"/>
            </a:pPr>
            <a:r>
              <a:rPr lang="vi-VN" b="1" dirty="0"/>
              <a:t>Client-initiated replica</a:t>
            </a:r>
            <a:r>
              <a:rPr lang="vi-VN" dirty="0"/>
              <a:t> = người đọc photo lại chương cần thiết để dùng tạm thời</a:t>
            </a:r>
          </a:p>
          <a:p>
            <a:endParaRPr lang="en-US" b="1"/>
          </a:p>
          <a:p>
            <a:r>
              <a:rPr lang="en-US" b="1"/>
              <a:t>- </a:t>
            </a:r>
            <a:r>
              <a:rPr lang="vi-VN" b="1" dirty="0"/>
              <a:t>Kết luận</a:t>
            </a:r>
          </a:p>
          <a:p>
            <a:r>
              <a:rPr lang="vi-VN" dirty="0"/>
              <a:t>Slide này giúp bạn hình dung </a:t>
            </a:r>
            <a:r>
              <a:rPr lang="vi-VN" b="1" dirty="0"/>
              <a:t>cấu trúc tổ chức replica trong hệ thống phân tán</a:t>
            </a:r>
            <a:r>
              <a:rPr lang="vi-VN" dirty="0"/>
              <a:t>:</a:t>
            </a:r>
          </a:p>
          <a:p>
            <a:pPr>
              <a:buFont typeface="Arial" panose="020B0604020202020204" pitchFamily="34" charset="0"/>
              <a:buChar char="•"/>
            </a:pPr>
            <a:r>
              <a:rPr lang="vi-VN" dirty="0"/>
              <a:t>Trung tâm: dữ liệu gốc, ổn định</a:t>
            </a:r>
          </a:p>
          <a:p>
            <a:pPr>
              <a:buFont typeface="Arial" panose="020B0604020202020204" pitchFamily="34" charset="0"/>
              <a:buChar char="•"/>
            </a:pPr>
            <a:r>
              <a:rPr lang="vi-VN" dirty="0"/>
              <a:t>Bao quanh: bản sao do hệ thống tạo để tối ưu hiệu năng</a:t>
            </a:r>
          </a:p>
          <a:p>
            <a:pPr>
              <a:buFont typeface="Arial" panose="020B0604020202020204" pitchFamily="34" charset="0"/>
              <a:buChar char="•"/>
            </a:pPr>
            <a:r>
              <a:rPr lang="vi-VN" dirty="0"/>
              <a:t>Ngoài cùng: bản sao do người dùng yêu cầu (cache)</a:t>
            </a:r>
          </a:p>
          <a:p>
            <a:r>
              <a:rPr lang="vi-VN" dirty="0"/>
              <a:t>→ Đây là nền tảng quan trọng để hiểu các chiến lược </a:t>
            </a:r>
            <a:r>
              <a:rPr lang="vi-VN" i="1" dirty="0"/>
              <a:t>replica management</a:t>
            </a:r>
            <a:r>
              <a:rPr lang="vi-VN" dirty="0"/>
              <a:t> và </a:t>
            </a:r>
            <a:r>
              <a:rPr lang="vi-VN" i="1" dirty="0"/>
              <a:t>consistency</a:t>
            </a:r>
            <a:r>
              <a:rPr lang="vi-VN" dirty="0"/>
              <a:t> trong các slide tiếp theo.</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33</a:t>
            </a:fld>
            <a:endParaRPr lang="en-US"/>
          </a:p>
        </p:txBody>
      </p:sp>
    </p:spTree>
    <p:extLst>
      <p:ext uri="{BB962C8B-B14F-4D97-AF65-F5344CB8AC3E}">
        <p14:creationId xmlns:p14="http://schemas.microsoft.com/office/powerpoint/2010/main" val="19870265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Server-initiated replicas</a:t>
            </a:r>
            <a:endParaRPr lang="vi-VN" b="1" dirty="0"/>
          </a:p>
          <a:p>
            <a:r>
              <a:rPr lang="vi-VN" b="1" dirty="0"/>
              <a:t>Ý tưởng chính:</a:t>
            </a:r>
          </a:p>
          <a:p>
            <a:r>
              <a:rPr lang="vi-VN" dirty="0"/>
              <a:t>Các </a:t>
            </a:r>
            <a:r>
              <a:rPr lang="vi-VN" b="1" dirty="0"/>
              <a:t>server</a:t>
            </a:r>
            <a:r>
              <a:rPr lang="vi-VN" dirty="0"/>
              <a:t> tự động quyết định có nên tạo thêm bản sao dữ liệu (replica) hay không dựa trên </a:t>
            </a:r>
            <a:r>
              <a:rPr lang="vi-VN" b="1" dirty="0"/>
              <a:t>số lượng truy cập (access count)</a:t>
            </a:r>
            <a:r>
              <a:rPr lang="vi-VN" dirty="0"/>
              <a:t> từ client.</a:t>
            </a:r>
          </a:p>
          <a:p>
            <a:endParaRPr lang="en-US" b="1" dirty="0"/>
          </a:p>
          <a:p>
            <a:r>
              <a:rPr lang="vi-VN" b="1" dirty="0"/>
              <a:t>Giải thích hình minh hoạ</a:t>
            </a:r>
          </a:p>
          <a:p>
            <a:pPr>
              <a:buFont typeface="Arial" panose="020B0604020202020204" pitchFamily="34" charset="0"/>
              <a:buChar char="•"/>
            </a:pPr>
            <a:r>
              <a:rPr lang="vi-VN" dirty="0"/>
              <a:t>Server </a:t>
            </a:r>
            <a:r>
              <a:rPr lang="vi-VN" b="1" dirty="0"/>
              <a:t>Q</a:t>
            </a:r>
            <a:r>
              <a:rPr lang="vi-VN" dirty="0"/>
              <a:t> đang giữ </a:t>
            </a:r>
            <a:r>
              <a:rPr lang="vi-VN" b="1" dirty="0"/>
              <a:t>file F</a:t>
            </a:r>
            <a:r>
              <a:rPr lang="vi-VN" dirty="0"/>
              <a:t> (bản sao dữ liệu).</a:t>
            </a:r>
          </a:p>
          <a:p>
            <a:pPr>
              <a:buFont typeface="Arial" panose="020B0604020202020204" pitchFamily="34" charset="0"/>
              <a:buChar char="•"/>
            </a:pPr>
            <a:r>
              <a:rPr lang="vi-VN" dirty="0"/>
              <a:t>Clients </a:t>
            </a:r>
            <a:r>
              <a:rPr lang="vi-VN" b="1" dirty="0"/>
              <a:t>C1</a:t>
            </a:r>
            <a:r>
              <a:rPr lang="vi-VN" dirty="0"/>
              <a:t> và </a:t>
            </a:r>
            <a:r>
              <a:rPr lang="vi-VN" b="1" dirty="0"/>
              <a:t>C2</a:t>
            </a:r>
            <a:r>
              <a:rPr lang="vi-VN" dirty="0"/>
              <a:t> gửi yêu cầu truy cập file F.</a:t>
            </a:r>
          </a:p>
          <a:p>
            <a:pPr>
              <a:buFont typeface="Arial" panose="020B0604020202020204" pitchFamily="34" charset="0"/>
              <a:buChar char="•"/>
            </a:pPr>
            <a:r>
              <a:rPr lang="vi-VN" dirty="0"/>
              <a:t>Server </a:t>
            </a:r>
            <a:r>
              <a:rPr lang="vi-VN" b="1" dirty="0"/>
              <a:t>P</a:t>
            </a:r>
            <a:r>
              <a:rPr lang="vi-VN" dirty="0"/>
              <a:t> là server gần C1 và C2 nhất (xét về khoảng cách mạng).</a:t>
            </a:r>
          </a:p>
          <a:p>
            <a:pPr>
              <a:buFont typeface="Arial" panose="020B0604020202020204" pitchFamily="34" charset="0"/>
              <a:buChar char="•"/>
            </a:pPr>
            <a:r>
              <a:rPr lang="vi-VN" dirty="0"/>
              <a:t>Để giảm tải cho mạng, mọi truy cập từ C1 và C2 đều được tính như truy cập đến từ </a:t>
            </a:r>
            <a:r>
              <a:rPr lang="vi-VN" b="1" dirty="0"/>
              <a:t>P</a:t>
            </a:r>
            <a:r>
              <a:rPr lang="vi-VN" dirty="0"/>
              <a:t>, thay vì tính từng client riêng lẻ.</a:t>
            </a:r>
          </a:p>
          <a:p>
            <a:r>
              <a:rPr lang="en-US" dirty="0"/>
              <a:t>=&gt;</a:t>
            </a:r>
            <a:r>
              <a:rPr lang="vi-VN" dirty="0"/>
              <a:t> Server Q </a:t>
            </a:r>
            <a:r>
              <a:rPr lang="vi-VN" b="1" dirty="0"/>
              <a:t>đếm số lượng truy cập</a:t>
            </a:r>
            <a:r>
              <a:rPr lang="vi-VN" dirty="0"/>
              <a:t> đến file F, nhưng tính theo server gần client nhất, không phải theo từng client rời rạc → giúp hệ thống:</a:t>
            </a:r>
          </a:p>
          <a:p>
            <a:pPr>
              <a:buFont typeface="Arial" panose="020B0604020202020204" pitchFamily="34" charset="0"/>
              <a:buChar char="•"/>
            </a:pPr>
            <a:r>
              <a:rPr lang="vi-VN" dirty="0"/>
              <a:t>giảm độ phức tạp</a:t>
            </a:r>
          </a:p>
          <a:p>
            <a:pPr>
              <a:buFont typeface="Arial" panose="020B0604020202020204" pitchFamily="34" charset="0"/>
              <a:buChar char="•"/>
            </a:pPr>
            <a:r>
              <a:rPr lang="vi-VN" dirty="0"/>
              <a:t>dễ xác định nhu cầu replica theo vùng địa lý</a:t>
            </a:r>
          </a:p>
          <a:p>
            <a:endParaRPr lang="en-US" b="1" dirty="0"/>
          </a:p>
          <a:p>
            <a:r>
              <a:rPr lang="en-US" b="1" dirty="0"/>
              <a:t>3 </a:t>
            </a:r>
            <a:r>
              <a:rPr lang="vi-VN" b="1" dirty="0"/>
              <a:t>ngưỡng ra quyết định (ở dòng dưới slide)</a:t>
            </a:r>
          </a:p>
          <a:p>
            <a:r>
              <a:rPr lang="vi-VN" dirty="0"/>
              <a:t>Điều kiện</a:t>
            </a:r>
            <a:r>
              <a:rPr lang="en-US" dirty="0"/>
              <a:t>			</a:t>
            </a:r>
            <a:r>
              <a:rPr lang="vi-VN" dirty="0"/>
              <a:t>Ý nghĩa hành động</a:t>
            </a:r>
            <a:endParaRPr lang="en-US" dirty="0"/>
          </a:p>
          <a:p>
            <a:r>
              <a:rPr lang="vi-VN" b="1" dirty="0"/>
              <a:t>Số truy cập &lt; D (drop threshold)</a:t>
            </a:r>
            <a:r>
              <a:rPr lang="en-US" b="1" dirty="0"/>
              <a:t>	</a:t>
            </a:r>
            <a:r>
              <a:rPr lang="vi-VN" dirty="0"/>
              <a:t>Xoá replica tại server đó (không còn nhu cầu)</a:t>
            </a:r>
            <a:endParaRPr lang="en-US" dirty="0"/>
          </a:p>
          <a:p>
            <a:r>
              <a:rPr lang="vi-VN" b="1" dirty="0"/>
              <a:t>Số truy cập &gt; R (replication threshold)</a:t>
            </a:r>
            <a:r>
              <a:rPr lang="en-US" b="1" dirty="0"/>
              <a:t>	</a:t>
            </a:r>
            <a:r>
              <a:rPr lang="vi-VN" dirty="0"/>
              <a:t>Tạo thêm replica mới (nhu cầu tăng cao)</a:t>
            </a:r>
            <a:endParaRPr lang="en-US" dirty="0"/>
          </a:p>
          <a:p>
            <a:r>
              <a:rPr lang="vi-VN" b="1" dirty="0"/>
              <a:t>D ≤ số truy cập ≤ R</a:t>
            </a:r>
            <a:r>
              <a:rPr lang="en-US" b="1" dirty="0"/>
              <a:t>		</a:t>
            </a:r>
            <a:r>
              <a:rPr lang="vi-VN" i="1" dirty="0"/>
              <a:t>Không cần thêm replica mới</a:t>
            </a:r>
            <a:r>
              <a:rPr lang="vi-VN" dirty="0"/>
              <a:t>, nhưng có thể </a:t>
            </a:r>
            <a:r>
              <a:rPr lang="vi-VN" b="1" dirty="0"/>
              <a:t>di chuyển (migrate)</a:t>
            </a:r>
            <a:r>
              <a:rPr lang="vi-VN" dirty="0"/>
              <a:t> replica đến server khác gần client hơn</a:t>
            </a:r>
          </a:p>
          <a:p>
            <a:r>
              <a:rPr lang="en-US" dirty="0"/>
              <a:t>=&gt;</a:t>
            </a:r>
            <a:r>
              <a:rPr lang="vi-VN" dirty="0"/>
              <a:t> Đây chính là </a:t>
            </a:r>
            <a:r>
              <a:rPr lang="vi-VN" b="1" dirty="0"/>
              <a:t>server-initiated replication strategy</a:t>
            </a:r>
            <a:r>
              <a:rPr lang="vi-VN" dirty="0"/>
              <a:t>.</a:t>
            </a:r>
          </a:p>
          <a:p>
            <a:endParaRPr lang="en-US" b="1" dirty="0"/>
          </a:p>
          <a:p>
            <a:r>
              <a:rPr lang="vi-VN" b="1" dirty="0"/>
              <a:t>Mục tiêu của chiến lược</a:t>
            </a:r>
          </a:p>
          <a:p>
            <a:pPr>
              <a:buFont typeface="Arial" panose="020B0604020202020204" pitchFamily="34" charset="0"/>
              <a:buChar char="•"/>
            </a:pPr>
            <a:r>
              <a:rPr lang="vi-VN" dirty="0"/>
              <a:t>Đặt bản sao dữ liệu </a:t>
            </a:r>
            <a:r>
              <a:rPr lang="vi-VN" b="1" dirty="0"/>
              <a:t>gần nơi có nhiều truy cập nhất</a:t>
            </a:r>
            <a:endParaRPr lang="vi-VN" dirty="0"/>
          </a:p>
          <a:p>
            <a:pPr>
              <a:buFont typeface="Arial" panose="020B0604020202020204" pitchFamily="34" charset="0"/>
              <a:buChar char="•"/>
            </a:pPr>
            <a:r>
              <a:rPr lang="vi-VN" dirty="0"/>
              <a:t>Giảm </a:t>
            </a:r>
            <a:r>
              <a:rPr lang="vi-VN" b="1" dirty="0"/>
              <a:t>latency</a:t>
            </a:r>
            <a:r>
              <a:rPr lang="vi-VN" dirty="0"/>
              <a:t>, tăng tốc độ truy cập</a:t>
            </a:r>
          </a:p>
          <a:p>
            <a:pPr>
              <a:buFont typeface="Arial" panose="020B0604020202020204" pitchFamily="34" charset="0"/>
              <a:buChar char="•"/>
            </a:pPr>
            <a:r>
              <a:rPr lang="vi-VN" dirty="0"/>
              <a:t>Giảm </a:t>
            </a:r>
            <a:r>
              <a:rPr lang="vi-VN" b="1" dirty="0"/>
              <a:t>traffic không cần thiết</a:t>
            </a:r>
            <a:r>
              <a:rPr lang="vi-VN" dirty="0"/>
              <a:t> giữa các server</a:t>
            </a:r>
          </a:p>
          <a:p>
            <a:endParaRPr lang="en-US" b="1" dirty="0"/>
          </a:p>
          <a:p>
            <a:r>
              <a:rPr lang="vi-VN" b="1" dirty="0"/>
              <a:t>Ví dụ đời thực dễ hiểu</a:t>
            </a:r>
          </a:p>
          <a:p>
            <a:r>
              <a:rPr lang="vi-VN" dirty="0"/>
              <a:t>Giống như hệ thống </a:t>
            </a:r>
            <a:r>
              <a:rPr lang="vi-VN" b="1" dirty="0"/>
              <a:t>CDN của Netflix hoặc Youtube</a:t>
            </a:r>
            <a:r>
              <a:rPr lang="vi-VN" dirty="0"/>
              <a:t>:</a:t>
            </a:r>
          </a:p>
          <a:p>
            <a:pPr>
              <a:buFont typeface="Arial" panose="020B0604020202020204" pitchFamily="34" charset="0"/>
              <a:buChar char="•"/>
            </a:pPr>
            <a:r>
              <a:rPr lang="vi-VN" dirty="0"/>
              <a:t>Nếu một video được nhiều người xem ở Việt Nam → tạo thêm bản sao tại server ở Việt Nam.</a:t>
            </a:r>
          </a:p>
          <a:p>
            <a:pPr>
              <a:buFont typeface="Arial" panose="020B0604020202020204" pitchFamily="34" charset="0"/>
              <a:buChar char="•"/>
            </a:pPr>
            <a:r>
              <a:rPr lang="vi-VN" dirty="0"/>
              <a:t>Nếu sau một thời gian ít người xem → xoá bản sao để tiết kiệm tài nguyên.</a:t>
            </a:r>
          </a:p>
          <a:p>
            <a:endParaRPr lang="en-US" b="1" dirty="0"/>
          </a:p>
          <a:p>
            <a:r>
              <a:rPr lang="vi-VN" b="1" dirty="0"/>
              <a:t>Tóm tắt cho slide</a:t>
            </a:r>
          </a:p>
          <a:p>
            <a:r>
              <a:rPr lang="vi-VN" dirty="0"/>
              <a:t>Server chủ động quyết định tạo, di chuyển hoặc xoá replica dựa trên </a:t>
            </a:r>
            <a:r>
              <a:rPr lang="vi-VN" b="1" dirty="0"/>
              <a:t>số lượng truy cập</a:t>
            </a:r>
            <a:r>
              <a:rPr lang="vi-VN" dirty="0"/>
              <a:t> được thống kê theo vùng (tức là theo server gần client nhất).</a:t>
            </a:r>
          </a:p>
          <a:p>
            <a:endParaRPr lang="en-US" dirty="0"/>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34</a:t>
            </a:fld>
            <a:endParaRPr lang="en-US"/>
          </a:p>
        </p:txBody>
      </p:sp>
    </p:spTree>
    <p:extLst>
      <p:ext uri="{BB962C8B-B14F-4D97-AF65-F5344CB8AC3E}">
        <p14:creationId xmlns:p14="http://schemas.microsoft.com/office/powerpoint/2010/main" val="12050999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Content Distribution (Phân phối nội dung)</a:t>
            </a:r>
            <a:endParaRPr lang="vi-VN" b="1" dirty="0"/>
          </a:p>
          <a:p>
            <a:r>
              <a:rPr lang="vi-VN" dirty="0"/>
              <a:t>Khi có nhiều bản sao dữ liệu (replicas), hệ thống phải quyết định cách </a:t>
            </a:r>
            <a:r>
              <a:rPr lang="vi-VN" b="1" dirty="0"/>
              <a:t>lan truyền update</a:t>
            </a:r>
            <a:r>
              <a:rPr lang="vi-VN" dirty="0"/>
              <a:t> từ nơi cập nhật đến các bản sao khác.</a:t>
            </a:r>
          </a:p>
          <a:p>
            <a:endParaRPr lang="en-US" dirty="0"/>
          </a:p>
          <a:p>
            <a:r>
              <a:rPr lang="vi-VN" dirty="0"/>
              <a:t>Trong slide, ta chỉ xét kiến trúc </a:t>
            </a:r>
            <a:r>
              <a:rPr lang="vi-VN" b="1" dirty="0"/>
              <a:t>client–server</a:t>
            </a:r>
            <a:r>
              <a:rPr lang="vi-VN" dirty="0"/>
              <a:t>.</a:t>
            </a:r>
          </a:p>
          <a:p>
            <a:r>
              <a:rPr lang="vi-VN" b="1" dirty="0"/>
              <a:t>Ba phương thức phân phối update</a:t>
            </a:r>
          </a:p>
          <a:p>
            <a:pPr marL="228600" indent="-228600">
              <a:buAutoNum type="arabicPeriod"/>
            </a:pPr>
            <a:r>
              <a:rPr lang="vi-VN" b="1" dirty="0"/>
              <a:t>notification / invalidation</a:t>
            </a:r>
            <a:r>
              <a:rPr lang="vi-VN" dirty="0"/>
              <a:t> </a:t>
            </a:r>
            <a:r>
              <a:rPr lang="vi-VN" i="1" dirty="0"/>
              <a:t>(thông báo / vô hiệu hoá)</a:t>
            </a:r>
            <a:endParaRPr lang="en-US" i="1" dirty="0"/>
          </a:p>
          <a:p>
            <a:pPr marL="171450" indent="-171450">
              <a:buFontTx/>
              <a:buChar char="-"/>
            </a:pPr>
            <a:r>
              <a:rPr lang="en-US" dirty="0" err="1"/>
              <a:t>Cách</a:t>
            </a:r>
            <a:r>
              <a:rPr lang="en-US" dirty="0"/>
              <a:t> </a:t>
            </a:r>
            <a:r>
              <a:rPr lang="en-US" dirty="0" err="1"/>
              <a:t>thực</a:t>
            </a:r>
            <a:r>
              <a:rPr lang="en-US" dirty="0"/>
              <a:t> </a:t>
            </a:r>
            <a:r>
              <a:rPr lang="en-US" dirty="0" err="1"/>
              <a:t>hiện</a:t>
            </a:r>
            <a:r>
              <a:rPr lang="en-US" dirty="0"/>
              <a:t>: </a:t>
            </a:r>
            <a:r>
              <a:rPr lang="vi-VN" dirty="0"/>
              <a:t>Chỉ gửi thông báo rằng dữ liệu đã thay đổi → các bản sao phải fetch lại data nếu cần</a:t>
            </a:r>
            <a:endParaRPr lang="en-US" dirty="0"/>
          </a:p>
          <a:p>
            <a:pPr marL="171450" indent="-171450">
              <a:buFontTx/>
              <a:buChar char="-"/>
            </a:pPr>
            <a:r>
              <a:rPr lang="en-US" dirty="0" err="1"/>
              <a:t>Đặc</a:t>
            </a:r>
            <a:r>
              <a:rPr lang="en-US" dirty="0"/>
              <a:t> </a:t>
            </a:r>
            <a:r>
              <a:rPr lang="en-US" dirty="0" err="1"/>
              <a:t>trưng</a:t>
            </a:r>
            <a:r>
              <a:rPr lang="en-US" dirty="0"/>
              <a:t>: </a:t>
            </a:r>
            <a:r>
              <a:rPr lang="vi-VN" dirty="0"/>
              <a:t>Rất nhẹ, không truyền data ngay</a:t>
            </a:r>
            <a:endParaRPr lang="en-US" dirty="0"/>
          </a:p>
          <a:p>
            <a:pPr marL="171450" indent="-171450">
              <a:buFontTx/>
              <a:buChar char="-"/>
            </a:pPr>
            <a:r>
              <a:rPr lang="en-US" dirty="0" err="1"/>
              <a:t>Trường</a:t>
            </a:r>
            <a:r>
              <a:rPr lang="en-US" dirty="0"/>
              <a:t> </a:t>
            </a:r>
            <a:r>
              <a:rPr lang="en-US" dirty="0" err="1"/>
              <a:t>hợp</a:t>
            </a:r>
            <a:r>
              <a:rPr lang="en-US" dirty="0"/>
              <a:t> </a:t>
            </a:r>
            <a:r>
              <a:rPr lang="en-US" dirty="0" err="1"/>
              <a:t>áp</a:t>
            </a:r>
            <a:r>
              <a:rPr lang="en-US" dirty="0"/>
              <a:t> </a:t>
            </a:r>
            <a:r>
              <a:rPr lang="en-US" dirty="0" err="1"/>
              <a:t>dụng</a:t>
            </a:r>
            <a:r>
              <a:rPr lang="en-US" dirty="0"/>
              <a:t>: </a:t>
            </a:r>
            <a:r>
              <a:rPr lang="vi-VN" dirty="0"/>
              <a:t>Hệ thống cache (browser cache, CDN cache)</a:t>
            </a:r>
            <a:endParaRPr lang="en-US" dirty="0"/>
          </a:p>
          <a:p>
            <a:pPr marL="0" indent="0">
              <a:buFontTx/>
              <a:buNone/>
            </a:pPr>
            <a:r>
              <a:rPr lang="vi-VN" b="1" dirty="0"/>
              <a:t>2. passive replication</a:t>
            </a:r>
            <a:r>
              <a:rPr lang="vi-VN" dirty="0"/>
              <a:t> </a:t>
            </a:r>
            <a:r>
              <a:rPr lang="vi-VN" i="1" dirty="0"/>
              <a:t>(truyền state/data)</a:t>
            </a:r>
            <a:endParaRPr lang="en-US" i="1" dirty="0"/>
          </a:p>
          <a:p>
            <a:pPr marL="171450" indent="-171450">
              <a:buFontTx/>
              <a:buChar char="-"/>
            </a:pPr>
            <a:r>
              <a:rPr lang="en-US" i="1" dirty="0" err="1"/>
              <a:t>Cách</a:t>
            </a:r>
            <a:r>
              <a:rPr lang="en-US" i="1" dirty="0"/>
              <a:t> </a:t>
            </a:r>
            <a:r>
              <a:rPr lang="en-US" i="1" dirty="0" err="1"/>
              <a:t>thực</a:t>
            </a:r>
            <a:r>
              <a:rPr lang="en-US" i="1" dirty="0"/>
              <a:t> </a:t>
            </a:r>
            <a:r>
              <a:rPr lang="en-US" i="1" dirty="0" err="1"/>
              <a:t>hiện</a:t>
            </a:r>
            <a:r>
              <a:rPr lang="en-US" i="1" dirty="0"/>
              <a:t>: </a:t>
            </a:r>
            <a:r>
              <a:rPr lang="vi-VN" dirty="0"/>
              <a:t>Server chính thực hiện update → sau đó gửi </a:t>
            </a:r>
            <a:r>
              <a:rPr lang="vi-VN" b="1" dirty="0"/>
              <a:t>kết quả cuối (state/data)</a:t>
            </a:r>
            <a:r>
              <a:rPr lang="vi-VN" dirty="0"/>
              <a:t> tới replica</a:t>
            </a:r>
            <a:endParaRPr lang="en-US" dirty="0"/>
          </a:p>
          <a:p>
            <a:pPr marL="171450" indent="-171450">
              <a:buFontTx/>
              <a:buChar char="-"/>
            </a:pPr>
            <a:r>
              <a:rPr lang="en-US" dirty="0" err="1"/>
              <a:t>Đặc</a:t>
            </a:r>
            <a:r>
              <a:rPr lang="en-US" dirty="0"/>
              <a:t> </a:t>
            </a:r>
            <a:r>
              <a:rPr lang="en-US" dirty="0" err="1"/>
              <a:t>trưng</a:t>
            </a:r>
            <a:r>
              <a:rPr lang="en-US" dirty="0"/>
              <a:t>: </a:t>
            </a:r>
            <a:r>
              <a:rPr lang="vi-VN" dirty="0"/>
              <a:t>Replica chỉ nhận data, không tự xử lý update</a:t>
            </a:r>
            <a:endParaRPr lang="en-US" dirty="0"/>
          </a:p>
          <a:p>
            <a:pPr marL="171450" indent="-171450">
              <a:buFontTx/>
              <a:buChar char="-"/>
            </a:pPr>
            <a:r>
              <a:rPr lang="en-US" dirty="0" err="1"/>
              <a:t>Trường</a:t>
            </a:r>
            <a:r>
              <a:rPr lang="en-US" dirty="0"/>
              <a:t> </a:t>
            </a:r>
            <a:r>
              <a:rPr lang="en-US" dirty="0" err="1"/>
              <a:t>hợp</a:t>
            </a:r>
            <a:r>
              <a:rPr lang="en-US" dirty="0"/>
              <a:t> </a:t>
            </a:r>
            <a:r>
              <a:rPr lang="en-US" dirty="0" err="1"/>
              <a:t>áp</a:t>
            </a:r>
            <a:r>
              <a:rPr lang="en-US" dirty="0"/>
              <a:t> </a:t>
            </a:r>
            <a:r>
              <a:rPr lang="en-US" dirty="0" err="1"/>
              <a:t>dụng</a:t>
            </a:r>
            <a:r>
              <a:rPr lang="en-US" dirty="0"/>
              <a:t>: </a:t>
            </a:r>
            <a:r>
              <a:rPr lang="vi-VN" dirty="0"/>
              <a:t>Database replication, log shipping</a:t>
            </a:r>
            <a:endParaRPr lang="en-US" dirty="0"/>
          </a:p>
          <a:p>
            <a:pPr marL="0" indent="0">
              <a:buFontTx/>
              <a:buNone/>
            </a:pPr>
            <a:r>
              <a:rPr lang="vi-VN" b="1" dirty="0"/>
              <a:t>3. active replication</a:t>
            </a:r>
            <a:r>
              <a:rPr lang="vi-VN" dirty="0"/>
              <a:t> </a:t>
            </a:r>
            <a:r>
              <a:rPr lang="vi-VN" i="1" dirty="0"/>
              <a:t>(truyền operation)</a:t>
            </a:r>
            <a:endParaRPr lang="en-US" i="1" dirty="0"/>
          </a:p>
          <a:p>
            <a:pPr marL="171450" indent="-171450">
              <a:buFontTx/>
              <a:buChar char="-"/>
            </a:pPr>
            <a:r>
              <a:rPr lang="en-US" i="1" dirty="0" err="1"/>
              <a:t>Cách</a:t>
            </a:r>
            <a:r>
              <a:rPr lang="en-US" i="1" dirty="0"/>
              <a:t> </a:t>
            </a:r>
            <a:r>
              <a:rPr lang="en-US" i="1" dirty="0" err="1"/>
              <a:t>thực</a:t>
            </a:r>
            <a:r>
              <a:rPr lang="en-US" i="1" dirty="0"/>
              <a:t> </a:t>
            </a:r>
            <a:r>
              <a:rPr lang="en-US" i="1" dirty="0" err="1"/>
              <a:t>hiện</a:t>
            </a:r>
            <a:r>
              <a:rPr lang="en-US" i="1" dirty="0"/>
              <a:t>: </a:t>
            </a:r>
            <a:r>
              <a:rPr lang="vi-VN" dirty="0"/>
              <a:t>Gửi </a:t>
            </a:r>
            <a:r>
              <a:rPr lang="vi-VN" b="1" dirty="0"/>
              <a:t>operation (câu lệnh update)</a:t>
            </a:r>
            <a:r>
              <a:rPr lang="vi-VN" dirty="0"/>
              <a:t> đến tất cả replica → mỗi replica tự xử lý</a:t>
            </a:r>
            <a:endParaRPr lang="en-US" dirty="0"/>
          </a:p>
          <a:p>
            <a:pPr marL="171450" indent="-171450">
              <a:buFontTx/>
              <a:buChar char="-"/>
            </a:pPr>
            <a:r>
              <a:rPr lang="en-US" dirty="0" err="1"/>
              <a:t>Đặc</a:t>
            </a:r>
            <a:r>
              <a:rPr lang="en-US" dirty="0"/>
              <a:t> </a:t>
            </a:r>
            <a:r>
              <a:rPr lang="en-US" dirty="0" err="1"/>
              <a:t>trưng</a:t>
            </a:r>
            <a:r>
              <a:rPr lang="en-US" dirty="0"/>
              <a:t>: </a:t>
            </a:r>
            <a:r>
              <a:rPr lang="vi-VN" dirty="0"/>
              <a:t>Yêu cầu replicas đồng bộ thứ tự operations</a:t>
            </a:r>
            <a:endParaRPr lang="en-US" dirty="0"/>
          </a:p>
          <a:p>
            <a:pPr marL="171450" indent="-171450">
              <a:buFontTx/>
              <a:buChar char="-"/>
            </a:pPr>
            <a:r>
              <a:rPr lang="en-US" dirty="0" err="1"/>
              <a:t>Trường</a:t>
            </a:r>
            <a:r>
              <a:rPr lang="en-US" dirty="0"/>
              <a:t> </a:t>
            </a:r>
            <a:r>
              <a:rPr lang="en-US" dirty="0" err="1"/>
              <a:t>hợp</a:t>
            </a:r>
            <a:r>
              <a:rPr lang="en-US" dirty="0"/>
              <a:t> </a:t>
            </a:r>
            <a:r>
              <a:rPr lang="en-US" dirty="0" err="1"/>
              <a:t>áp</a:t>
            </a:r>
            <a:r>
              <a:rPr lang="en-US" dirty="0"/>
              <a:t> </a:t>
            </a:r>
            <a:r>
              <a:rPr lang="en-US" dirty="0" err="1"/>
              <a:t>dụng</a:t>
            </a:r>
            <a:r>
              <a:rPr lang="en-US" dirty="0"/>
              <a:t>: </a:t>
            </a:r>
            <a:r>
              <a:rPr lang="vi-VN" dirty="0"/>
              <a:t>Các hệ thống yêu cầu tính nhất quán cao, như Paxos, Raft</a:t>
            </a:r>
          </a:p>
          <a:p>
            <a:endParaRPr lang="en-US" b="1" dirty="0"/>
          </a:p>
          <a:p>
            <a:r>
              <a:rPr lang="vi-VN" b="1" dirty="0"/>
              <a:t>Minh họa đơn giản</a:t>
            </a:r>
          </a:p>
          <a:p>
            <a:r>
              <a:rPr lang="vi-VN" dirty="0"/>
              <a:t>Ví dụ: server A cập nhật giá sản phẩm từ 100 → 120</a:t>
            </a:r>
          </a:p>
          <a:p>
            <a:r>
              <a:rPr lang="vi-VN" dirty="0"/>
              <a:t>Phương thức</a:t>
            </a:r>
            <a:r>
              <a:rPr lang="en-US" dirty="0"/>
              <a:t>		</a:t>
            </a:r>
            <a:r>
              <a:rPr lang="vi-VN" dirty="0"/>
              <a:t>Nội dung gửi đi</a:t>
            </a:r>
            <a:endParaRPr lang="en-US" dirty="0"/>
          </a:p>
          <a:p>
            <a:r>
              <a:rPr lang="vi-VN" dirty="0"/>
              <a:t>Notification / Invalidation</a:t>
            </a:r>
            <a:r>
              <a:rPr lang="en-US" dirty="0"/>
              <a:t>	</a:t>
            </a:r>
            <a:r>
              <a:rPr lang="vi-VN" dirty="0"/>
              <a:t>"Giá sản phẩm đã thay đổi, bản sao của bạn không hợp lệ nữa“</a:t>
            </a:r>
            <a:endParaRPr lang="en-US" dirty="0"/>
          </a:p>
          <a:p>
            <a:r>
              <a:rPr lang="vi-VN" dirty="0"/>
              <a:t>Passive replication</a:t>
            </a:r>
            <a:r>
              <a:rPr lang="en-US" dirty="0"/>
              <a:t>	</a:t>
            </a:r>
            <a:r>
              <a:rPr lang="vi-VN" dirty="0"/>
              <a:t>Gửi giá mới </a:t>
            </a:r>
            <a:r>
              <a:rPr lang="vi-VN" b="1" dirty="0"/>
              <a:t>120</a:t>
            </a:r>
            <a:r>
              <a:rPr lang="vi-VN" dirty="0"/>
              <a:t> đến các replica</a:t>
            </a:r>
            <a:endParaRPr lang="en-US" dirty="0"/>
          </a:p>
          <a:p>
            <a:r>
              <a:rPr lang="vi-VN" dirty="0"/>
              <a:t>Active replication</a:t>
            </a:r>
            <a:r>
              <a:rPr lang="en-US" dirty="0"/>
              <a:t>	</a:t>
            </a:r>
            <a:r>
              <a:rPr lang="vi-VN" dirty="0"/>
              <a:t>Gửi câu lệnh </a:t>
            </a:r>
            <a:r>
              <a:rPr lang="vi-VN" b="1" dirty="0"/>
              <a:t>update price = 120</a:t>
            </a:r>
            <a:r>
              <a:rPr lang="vi-VN" dirty="0"/>
              <a:t> đến các replica</a:t>
            </a:r>
          </a:p>
          <a:p>
            <a:endParaRPr lang="en-US" b="1" dirty="0"/>
          </a:p>
          <a:p>
            <a:r>
              <a:rPr lang="vi-VN" b="1" dirty="0"/>
              <a:t>Note (rất quan trọng trong slide)</a:t>
            </a:r>
          </a:p>
          <a:p>
            <a:r>
              <a:rPr lang="vi-VN" dirty="0"/>
              <a:t>Không có phương pháp nào là tốt nhất trong mọi trường hợp.</a:t>
            </a:r>
          </a:p>
          <a:p>
            <a:r>
              <a:rPr lang="vi-VN" dirty="0"/>
              <a:t>Tuỳ thuộc vào:</a:t>
            </a:r>
          </a:p>
          <a:p>
            <a:pPr>
              <a:buFont typeface="Arial" panose="020B0604020202020204" pitchFamily="34" charset="0"/>
              <a:buChar char="•"/>
            </a:pPr>
            <a:r>
              <a:rPr lang="vi-VN" b="1" dirty="0"/>
              <a:t>băng thông mạng</a:t>
            </a:r>
            <a:endParaRPr lang="vi-VN" dirty="0"/>
          </a:p>
          <a:p>
            <a:pPr>
              <a:buFont typeface="Arial" panose="020B0604020202020204" pitchFamily="34" charset="0"/>
              <a:buChar char="•"/>
            </a:pPr>
            <a:r>
              <a:rPr lang="vi-VN" b="1" dirty="0"/>
              <a:t>tỉ lệ đọc/ghi (read-to-write ratio)</a:t>
            </a:r>
            <a:endParaRPr lang="vi-VN" dirty="0"/>
          </a:p>
          <a:p>
            <a:r>
              <a:rPr lang="en-US" dirty="0"/>
              <a:t>=&gt; </a:t>
            </a:r>
            <a:r>
              <a:rPr lang="vi-VN" dirty="0"/>
              <a:t>Nếu hệ thống chủ yếu đọc (read-heavy) → có thể dùng cache + invalidation</a:t>
            </a:r>
            <a:br>
              <a:rPr lang="vi-VN" dirty="0"/>
            </a:br>
            <a:r>
              <a:rPr lang="en-US" dirty="0"/>
              <a:t>=&gt; </a:t>
            </a:r>
            <a:r>
              <a:rPr lang="vi-VN" dirty="0"/>
              <a:t>Nếu hệ thống ghi nhiều (write-heavy) và yêu cầu strongest consistency → active replication</a:t>
            </a:r>
          </a:p>
          <a:p>
            <a:endParaRPr lang="en-US" b="1" dirty="0"/>
          </a:p>
          <a:p>
            <a:r>
              <a:rPr lang="vi-VN" b="1" dirty="0"/>
              <a:t>Tóm lại cho slide</a:t>
            </a:r>
          </a:p>
          <a:p>
            <a:r>
              <a:rPr lang="vi-VN" dirty="0"/>
              <a:t>Ba cách để phân phối update giữa các bản sao:</a:t>
            </a:r>
          </a:p>
          <a:p>
            <a:pPr>
              <a:buFont typeface="Arial" panose="020B0604020202020204" pitchFamily="34" charset="0"/>
              <a:buChar char="•"/>
            </a:pPr>
            <a:r>
              <a:rPr lang="vi-VN" dirty="0"/>
              <a:t>gửi thông báo thay đổi (notification/invalidation),</a:t>
            </a:r>
          </a:p>
          <a:p>
            <a:pPr>
              <a:buFont typeface="Arial" panose="020B0604020202020204" pitchFamily="34" charset="0"/>
              <a:buChar char="•"/>
            </a:pPr>
            <a:r>
              <a:rPr lang="vi-VN" dirty="0"/>
              <a:t>gửi state (passive replication),</a:t>
            </a:r>
          </a:p>
          <a:p>
            <a:pPr>
              <a:buFont typeface="Arial" panose="020B0604020202020204" pitchFamily="34" charset="0"/>
              <a:buChar char="•"/>
            </a:pPr>
            <a:r>
              <a:rPr lang="vi-VN" dirty="0"/>
              <a:t>gửi operation (active replication).</a:t>
            </a:r>
          </a:p>
          <a:p>
            <a:r>
              <a:rPr lang="vi-VN" dirty="0"/>
              <a:t>Không có cách nào là tốt nhất — chọn theo đặc điểm hệ thống.</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35</a:t>
            </a:fld>
            <a:endParaRPr lang="en-US"/>
          </a:p>
        </p:txBody>
      </p:sp>
    </p:spTree>
    <p:extLst>
      <p:ext uri="{BB962C8B-B14F-4D97-AF65-F5344CB8AC3E}">
        <p14:creationId xmlns:p14="http://schemas.microsoft.com/office/powerpoint/2010/main" val="3514565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Content distribution: Client/Server system</a:t>
            </a:r>
            <a:endParaRPr lang="vi-VN" b="1" dirty="0"/>
          </a:p>
          <a:p>
            <a:r>
              <a:rPr lang="vi-VN" b="1" dirty="0"/>
              <a:t>So sánh Push-based và Pull-based replication</a:t>
            </a:r>
          </a:p>
          <a:p>
            <a:endParaRPr lang="en-US" b="1" dirty="0"/>
          </a:p>
          <a:p>
            <a:r>
              <a:rPr lang="en-US" b="1" dirty="0"/>
              <a:t>1. </a:t>
            </a:r>
            <a:r>
              <a:rPr lang="vi-VN" b="1" dirty="0"/>
              <a:t>Push-based (server-initiated approach)</a:t>
            </a:r>
          </a:p>
          <a:p>
            <a:r>
              <a:rPr lang="vi-VN" dirty="0"/>
              <a:t>Server chủ động </a:t>
            </a:r>
            <a:r>
              <a:rPr lang="vi-VN" b="1" dirty="0"/>
              <a:t>đẩy</a:t>
            </a:r>
            <a:r>
              <a:rPr lang="vi-VN" dirty="0"/>
              <a:t> (push) bản cập nhật đến các replica hoặc cache, </a:t>
            </a:r>
            <a:r>
              <a:rPr lang="vi-VN" b="1" dirty="0"/>
              <a:t>dù client có yêu cầu hay không</a:t>
            </a:r>
            <a:r>
              <a:rPr lang="vi-VN" dirty="0"/>
              <a:t>.</a:t>
            </a:r>
          </a:p>
          <a:p>
            <a:pPr>
              <a:buFont typeface="Arial" panose="020B0604020202020204" pitchFamily="34" charset="0"/>
              <a:buChar char="•"/>
            </a:pPr>
            <a:r>
              <a:rPr lang="vi-VN" dirty="0"/>
              <a:t>Server phải </a:t>
            </a:r>
            <a:r>
              <a:rPr lang="vi-VN" b="1" dirty="0"/>
              <a:t>quản lý danh sách</a:t>
            </a:r>
            <a:r>
              <a:rPr lang="vi-VN" dirty="0"/>
              <a:t> các cache/replica.</a:t>
            </a:r>
          </a:p>
          <a:p>
            <a:pPr>
              <a:buFont typeface="Arial" panose="020B0604020202020204" pitchFamily="34" charset="0"/>
              <a:buChar char="•"/>
            </a:pPr>
            <a:r>
              <a:rPr lang="vi-VN" dirty="0"/>
              <a:t>Khi dữ liệu thay đổi → server ngay lập tức gửi update đến các client đang lưu bản sao.</a:t>
            </a:r>
          </a:p>
          <a:p>
            <a:r>
              <a:rPr lang="vi-VN" dirty="0"/>
              <a:t>Ví dụ:</a:t>
            </a:r>
          </a:p>
          <a:p>
            <a:pPr>
              <a:buFont typeface="Arial" panose="020B0604020202020204" pitchFamily="34" charset="0"/>
              <a:buChar char="•"/>
            </a:pPr>
            <a:r>
              <a:rPr lang="vi-VN" dirty="0"/>
              <a:t>Server web + CDN cache: khi nội dung thay đổi, server gửi thông báo </a:t>
            </a:r>
            <a:r>
              <a:rPr lang="vi-VN" b="1" dirty="0"/>
              <a:t>invalidation</a:t>
            </a:r>
            <a:r>
              <a:rPr lang="vi-VN" dirty="0"/>
              <a:t> đến cache.</a:t>
            </a:r>
          </a:p>
          <a:p>
            <a:endParaRPr lang="en-US" b="1" dirty="0"/>
          </a:p>
          <a:p>
            <a:r>
              <a:rPr lang="en-US" b="1" dirty="0"/>
              <a:t>2. </a:t>
            </a:r>
            <a:r>
              <a:rPr lang="vi-VN" b="1" dirty="0"/>
              <a:t>Pull-based (client-initiated approach)</a:t>
            </a:r>
          </a:p>
          <a:p>
            <a:r>
              <a:rPr lang="vi-VN" dirty="0"/>
              <a:t>Client </a:t>
            </a:r>
            <a:r>
              <a:rPr lang="vi-VN" b="1" dirty="0"/>
              <a:t>tự hỏi</a:t>
            </a:r>
            <a:r>
              <a:rPr lang="vi-VN" dirty="0"/>
              <a:t> (polling) để kiểm tra xem có bản cập nhật mới hay không.</a:t>
            </a:r>
          </a:p>
          <a:p>
            <a:pPr>
              <a:buFont typeface="Arial" panose="020B0604020202020204" pitchFamily="34" charset="0"/>
              <a:buChar char="•"/>
            </a:pPr>
            <a:r>
              <a:rPr lang="vi-VN" dirty="0"/>
              <a:t>Server không cần biết cache của client.</a:t>
            </a:r>
          </a:p>
          <a:p>
            <a:pPr>
              <a:buFont typeface="Arial" panose="020B0604020202020204" pitchFamily="34" charset="0"/>
              <a:buChar char="•"/>
            </a:pPr>
            <a:r>
              <a:rPr lang="vi-VN" dirty="0"/>
              <a:t>Client chỉ fetch update </a:t>
            </a:r>
            <a:r>
              <a:rPr lang="vi-VN" b="1" dirty="0"/>
              <a:t>khi cần</a:t>
            </a:r>
            <a:r>
              <a:rPr lang="vi-VN" dirty="0"/>
              <a:t> hoặc khi phát hiện đã cũ.</a:t>
            </a:r>
          </a:p>
          <a:p>
            <a:r>
              <a:rPr lang="vi-VN" dirty="0"/>
              <a:t>Ví dụ:</a:t>
            </a:r>
          </a:p>
          <a:p>
            <a:pPr>
              <a:buFont typeface="Arial" panose="020B0604020202020204" pitchFamily="34" charset="0"/>
              <a:buChar char="•"/>
            </a:pPr>
            <a:r>
              <a:rPr lang="vi-VN" dirty="0"/>
              <a:t>Trình duyệt người dùng vào website → trình duyệt hỏi server xem trang đã thay đổi chưa.</a:t>
            </a:r>
          </a:p>
          <a:p>
            <a:endParaRPr lang="en-US" b="1" dirty="0"/>
          </a:p>
          <a:p>
            <a:r>
              <a:rPr lang="vi-VN" b="1" dirty="0"/>
              <a:t>Bảng so sánh trong slide</a:t>
            </a:r>
          </a:p>
          <a:p>
            <a:r>
              <a:rPr lang="vi-VN" dirty="0"/>
              <a:t>Issue</a:t>
            </a:r>
            <a:r>
              <a:rPr lang="en-US" dirty="0"/>
              <a:t>			</a:t>
            </a:r>
            <a:r>
              <a:rPr lang="vi-VN" dirty="0"/>
              <a:t>Push-based (Server chủ động)</a:t>
            </a:r>
            <a:r>
              <a:rPr lang="en-US" dirty="0"/>
              <a:t>		</a:t>
            </a:r>
            <a:r>
              <a:rPr lang="vi-VN" dirty="0"/>
              <a:t>Pull-based (Client chủ động)</a:t>
            </a:r>
            <a:endParaRPr lang="en-US" dirty="0"/>
          </a:p>
          <a:p>
            <a:pPr marL="228600" indent="-228600">
              <a:buAutoNum type="arabicPeriod"/>
            </a:pPr>
            <a:r>
              <a:rPr lang="vi-VN" dirty="0"/>
              <a:t>State at server</a:t>
            </a:r>
            <a:r>
              <a:rPr lang="en-US" dirty="0"/>
              <a:t>		</a:t>
            </a:r>
            <a:r>
              <a:rPr lang="vi-VN" dirty="0"/>
              <a:t>Server phải lưu danh sách client cache</a:t>
            </a:r>
            <a:r>
              <a:rPr lang="en-US" dirty="0"/>
              <a:t>		</a:t>
            </a:r>
            <a:r>
              <a:rPr lang="vi-VN" dirty="0"/>
              <a:t>Không cần lưu gì</a:t>
            </a:r>
            <a:endParaRPr lang="en-US" dirty="0"/>
          </a:p>
          <a:p>
            <a:pPr marL="228600" indent="-228600">
              <a:buAutoNum type="arabicPeriod"/>
            </a:pPr>
            <a:r>
              <a:rPr lang="vi-VN" dirty="0"/>
              <a:t>Messages to be exchanged</a:t>
            </a:r>
            <a:r>
              <a:rPr lang="en-US" dirty="0"/>
              <a:t>	</a:t>
            </a:r>
            <a:r>
              <a:rPr lang="vi-VN" dirty="0"/>
              <a:t>Update (và đôi khi fetch) được server gửi tự động</a:t>
            </a:r>
            <a:r>
              <a:rPr lang="en-US" dirty="0"/>
              <a:t>	</a:t>
            </a:r>
            <a:r>
              <a:rPr lang="vi-VN" dirty="0"/>
              <a:t>Client phải poll → rồi update</a:t>
            </a:r>
            <a:endParaRPr lang="en-US" dirty="0"/>
          </a:p>
          <a:p>
            <a:pPr marL="228600" indent="-228600">
              <a:buAutoNum type="arabicPeriod"/>
            </a:pPr>
            <a:r>
              <a:rPr lang="vi-VN" dirty="0"/>
              <a:t>Response time at client</a:t>
            </a:r>
            <a:r>
              <a:rPr lang="en-US" dirty="0"/>
              <a:t>		</a:t>
            </a:r>
            <a:r>
              <a:rPr lang="vi-VN" dirty="0"/>
              <a:t>Gần như </a:t>
            </a:r>
            <a:r>
              <a:rPr lang="vi-VN" b="1" dirty="0"/>
              <a:t>ngay lập tức</a:t>
            </a:r>
            <a:r>
              <a:rPr lang="vi-VN" dirty="0"/>
              <a:t> (real-time)</a:t>
            </a:r>
            <a:r>
              <a:rPr lang="en-US" dirty="0"/>
              <a:t>		</a:t>
            </a:r>
            <a:r>
              <a:rPr lang="vi-VN" dirty="0"/>
              <a:t>Phụ thuộc vào thời điểm </a:t>
            </a:r>
            <a:r>
              <a:rPr lang="vi-VN" b="1" dirty="0"/>
              <a:t>poll</a:t>
            </a:r>
            <a:r>
              <a:rPr lang="vi-VN" dirty="0"/>
              <a:t> hoặc fetch-update time</a:t>
            </a:r>
          </a:p>
          <a:p>
            <a:endParaRPr lang="en-US" b="1" dirty="0"/>
          </a:p>
          <a:p>
            <a:r>
              <a:rPr lang="vi-VN" b="1" dirty="0"/>
              <a:t>Giải thích ý nghĩa 3 dòng (theo slide)</a:t>
            </a:r>
          </a:p>
          <a:p>
            <a:pPr>
              <a:buFont typeface="+mj-lt"/>
              <a:buAutoNum type="arabicPeriod"/>
            </a:pPr>
            <a:r>
              <a:rPr lang="vi-VN" b="1" dirty="0"/>
              <a:t>State at server (trạng thái lưu tại server)</a:t>
            </a:r>
            <a:endParaRPr lang="vi-VN" dirty="0"/>
          </a:p>
          <a:p>
            <a:pPr marL="457200" lvl="1" indent="0">
              <a:buFont typeface="+mj-lt"/>
              <a:buNone/>
            </a:pPr>
            <a:r>
              <a:rPr lang="en-US" dirty="0"/>
              <a:t>- </a:t>
            </a:r>
            <a:r>
              <a:rPr lang="vi-VN" dirty="0"/>
              <a:t>Push: phải theo dõi ai đang lưu cache.</a:t>
            </a:r>
          </a:p>
          <a:p>
            <a:pPr marL="457200" lvl="1" indent="0">
              <a:buFont typeface="+mj-lt"/>
              <a:buNone/>
            </a:pPr>
            <a:r>
              <a:rPr lang="en-US" dirty="0"/>
              <a:t>- </a:t>
            </a:r>
            <a:r>
              <a:rPr lang="vi-VN" dirty="0"/>
              <a:t>Pull: không cần theo dõi → nhẹ hơn.</a:t>
            </a:r>
          </a:p>
          <a:p>
            <a:pPr>
              <a:buFont typeface="+mj-lt"/>
              <a:buAutoNum type="arabicPeriod"/>
            </a:pPr>
            <a:r>
              <a:rPr lang="vi-VN" b="1" dirty="0"/>
              <a:t>Messages to be exchanged (thông điệp trao đổi)</a:t>
            </a:r>
            <a:endParaRPr lang="vi-VN" dirty="0"/>
          </a:p>
          <a:p>
            <a:pPr marL="457200" lvl="1" indent="0">
              <a:buFont typeface="+mj-lt"/>
              <a:buNone/>
            </a:pPr>
            <a:r>
              <a:rPr lang="en-US" dirty="0"/>
              <a:t>- </a:t>
            </a:r>
            <a:r>
              <a:rPr lang="vi-VN" dirty="0"/>
              <a:t>Push: server gửi update.</a:t>
            </a:r>
          </a:p>
          <a:p>
            <a:pPr marL="457200" lvl="1" indent="0">
              <a:buFont typeface="+mj-lt"/>
              <a:buNone/>
            </a:pPr>
            <a:r>
              <a:rPr lang="en-US" dirty="0"/>
              <a:t>- </a:t>
            </a:r>
            <a:r>
              <a:rPr lang="vi-VN" dirty="0"/>
              <a:t>Pull: client phải poll → gửi yêu cầu kiểm tra.</a:t>
            </a:r>
          </a:p>
          <a:p>
            <a:pPr>
              <a:buFont typeface="+mj-lt"/>
              <a:buAutoNum type="arabicPeriod"/>
            </a:pPr>
            <a:r>
              <a:rPr lang="vi-VN" b="1" dirty="0"/>
              <a:t>Response time at client (thời gian client nhận bản cập nhật)</a:t>
            </a:r>
            <a:endParaRPr lang="vi-VN" dirty="0"/>
          </a:p>
          <a:p>
            <a:pPr marL="457200" lvl="1" indent="0">
              <a:buFont typeface="+mj-lt"/>
              <a:buNone/>
            </a:pPr>
            <a:r>
              <a:rPr lang="en-US" dirty="0"/>
              <a:t>- </a:t>
            </a:r>
            <a:r>
              <a:rPr lang="vi-VN" dirty="0"/>
              <a:t>Push: nhanh, ngay khi dữ liệu thay đổi.</a:t>
            </a:r>
          </a:p>
          <a:p>
            <a:pPr marL="457200" lvl="1" indent="0">
              <a:buFont typeface="+mj-lt"/>
              <a:buNone/>
            </a:pPr>
            <a:r>
              <a:rPr lang="en-US" dirty="0"/>
              <a:t>- </a:t>
            </a:r>
            <a:r>
              <a:rPr lang="vi-VN" dirty="0"/>
              <a:t>Pull: có thể trễ — phải đợi đến chu kỳ poll (ví dụ: mỗi 5 giây).</a:t>
            </a:r>
          </a:p>
          <a:p>
            <a:endParaRPr lang="en-US" b="1" dirty="0"/>
          </a:p>
          <a:p>
            <a:r>
              <a:rPr lang="vi-VN" b="1" dirty="0"/>
              <a:t>Khi nào dùng cái nào?</a:t>
            </a:r>
          </a:p>
          <a:p>
            <a:r>
              <a:rPr lang="vi-VN" dirty="0"/>
              <a:t>Tình huống</a:t>
            </a:r>
            <a:r>
              <a:rPr lang="en-US" dirty="0"/>
              <a:t>					</a:t>
            </a:r>
            <a:r>
              <a:rPr lang="vi-VN" dirty="0"/>
              <a:t>Nên dùng</a:t>
            </a:r>
            <a:endParaRPr lang="en-US" dirty="0"/>
          </a:p>
          <a:p>
            <a:r>
              <a:rPr lang="vi-VN" dirty="0"/>
              <a:t>Dữ liệu thay đổi thường xuyên + cần realtime</a:t>
            </a:r>
            <a:r>
              <a:rPr lang="en-US" dirty="0"/>
              <a:t>		</a:t>
            </a:r>
            <a:r>
              <a:rPr lang="vi-VN" dirty="0"/>
              <a:t>Push-based</a:t>
            </a:r>
            <a:endParaRPr lang="en-US" dirty="0"/>
          </a:p>
          <a:p>
            <a:r>
              <a:rPr lang="vi-VN" dirty="0"/>
              <a:t>Client đọc ít + replicates nhiều → server không muốn theo dõi</a:t>
            </a:r>
            <a:r>
              <a:rPr lang="en-US" dirty="0"/>
              <a:t>	</a:t>
            </a:r>
            <a:r>
              <a:rPr lang="vi-VN" dirty="0"/>
              <a:t>Pull-based</a:t>
            </a:r>
          </a:p>
          <a:p>
            <a:endParaRPr lang="en-US" b="1" dirty="0"/>
          </a:p>
          <a:p>
            <a:r>
              <a:rPr lang="vi-VN" b="1" dirty="0"/>
              <a:t>Ví dụ đời thực để sinh viên dễ hình dung:</a:t>
            </a:r>
          </a:p>
          <a:p>
            <a:r>
              <a:rPr lang="vi-VN" dirty="0"/>
              <a:t>Hệ thống</a:t>
            </a:r>
            <a:r>
              <a:rPr lang="en-US" dirty="0"/>
              <a:t>			</a:t>
            </a:r>
            <a:r>
              <a:rPr lang="vi-VN" dirty="0"/>
              <a:t>Cách áp dụng</a:t>
            </a:r>
            <a:endParaRPr lang="en-US" dirty="0"/>
          </a:p>
          <a:p>
            <a:r>
              <a:rPr lang="vi-VN" dirty="0"/>
              <a:t>Facebook Newsfeed real-time</a:t>
            </a:r>
            <a:r>
              <a:rPr lang="en-US" dirty="0"/>
              <a:t>	</a:t>
            </a:r>
            <a:r>
              <a:rPr lang="vi-VN" dirty="0"/>
              <a:t>Push-based (server đẩy nội dung đến app)</a:t>
            </a:r>
            <a:endParaRPr lang="en-US" dirty="0"/>
          </a:p>
          <a:p>
            <a:r>
              <a:rPr lang="vi-VN" dirty="0"/>
              <a:t>Gmail: nhấn "Check mail" để xem thư mới</a:t>
            </a:r>
            <a:r>
              <a:rPr lang="en-US" dirty="0"/>
              <a:t>	</a:t>
            </a:r>
            <a:r>
              <a:rPr lang="vi-VN" dirty="0"/>
              <a:t>Pull-based (client hỏi server)</a:t>
            </a:r>
          </a:p>
          <a:p>
            <a:endParaRPr lang="en-US" b="1" dirty="0"/>
          </a:p>
          <a:p>
            <a:r>
              <a:rPr lang="vi-VN" b="1" dirty="0"/>
              <a:t>Tóm tắt cho slide</a:t>
            </a:r>
          </a:p>
          <a:p>
            <a:r>
              <a:rPr lang="vi-VN" b="1" dirty="0"/>
              <a:t>Push-based</a:t>
            </a:r>
            <a:r>
              <a:rPr lang="vi-VN" dirty="0"/>
              <a:t>: nhanh, realtime nhưng server phải quản lý cache.</a:t>
            </a:r>
            <a:br>
              <a:rPr lang="vi-VN" dirty="0"/>
            </a:br>
            <a:r>
              <a:rPr lang="vi-VN" b="1" dirty="0"/>
              <a:t>Pull-based</a:t>
            </a:r>
            <a:r>
              <a:rPr lang="vi-VN" dirty="0"/>
              <a:t>: đơn giản, server nhẹ hơn nhưng client nhận update chậm hơn.</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36</a:t>
            </a:fld>
            <a:endParaRPr lang="en-US"/>
          </a:p>
        </p:txBody>
      </p:sp>
    </p:spTree>
    <p:extLst>
      <p:ext uri="{BB962C8B-B14F-4D97-AF65-F5344CB8AC3E}">
        <p14:creationId xmlns:p14="http://schemas.microsoft.com/office/powerpoint/2010/main" val="11083798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Content distribution — Leases</a:t>
            </a:r>
            <a:endParaRPr lang="vi-VN" b="1" dirty="0"/>
          </a:p>
          <a:p>
            <a:endParaRPr lang="en-US" b="1" dirty="0"/>
          </a:p>
          <a:p>
            <a:r>
              <a:rPr lang="vi-VN" b="1" dirty="0"/>
              <a:t>Ý tưởng chính của slide</a:t>
            </a:r>
          </a:p>
          <a:p>
            <a:r>
              <a:rPr lang="vi-VN" dirty="0"/>
              <a:t>Slide này nói về một cơ chế giúp </a:t>
            </a:r>
            <a:r>
              <a:rPr lang="vi-VN" b="1" dirty="0"/>
              <a:t>cân bằng giữa push và pull</a:t>
            </a:r>
            <a:r>
              <a:rPr lang="vi-VN" dirty="0"/>
              <a:t> khi cập nhật nội dung đến các replica/clients: </a:t>
            </a:r>
            <a:r>
              <a:rPr lang="vi-VN" b="1" dirty="0"/>
              <a:t>Leases</a:t>
            </a:r>
            <a:r>
              <a:rPr lang="vi-VN" dirty="0"/>
              <a:t>.</a:t>
            </a:r>
          </a:p>
          <a:p>
            <a:r>
              <a:rPr lang="vi-VN" b="1" dirty="0"/>
              <a:t>Lease = một hợp đồng tạm thời</a:t>
            </a:r>
            <a:r>
              <a:rPr lang="vi-VN" dirty="0"/>
              <a:t>, trong đó server cam kết sẽ </a:t>
            </a:r>
            <a:r>
              <a:rPr lang="vi-VN" i="1" dirty="0"/>
              <a:t>push update</a:t>
            </a:r>
            <a:r>
              <a:rPr lang="vi-VN" dirty="0"/>
              <a:t> đến client </a:t>
            </a:r>
            <a:r>
              <a:rPr lang="vi-VN" b="1" dirty="0"/>
              <a:t>trong một khoảng thời gian xác định</a:t>
            </a:r>
            <a:r>
              <a:rPr lang="vi-VN" dirty="0"/>
              <a:t>.</a:t>
            </a:r>
            <a:br>
              <a:rPr lang="vi-VN" dirty="0"/>
            </a:br>
            <a:r>
              <a:rPr lang="vi-VN" dirty="0"/>
              <a:t>Sau khi lease hết hạn, nếu client vẫn muốn cập nhật, client phải </a:t>
            </a:r>
            <a:r>
              <a:rPr lang="vi-VN" b="1" dirty="0"/>
              <a:t>renew (= pull &amp; yêu cầu lại)</a:t>
            </a:r>
            <a:r>
              <a:rPr lang="vi-VN" dirty="0"/>
              <a:t>.</a:t>
            </a:r>
          </a:p>
          <a:p>
            <a:r>
              <a:rPr lang="en-US" dirty="0"/>
              <a:t>=&gt;</a:t>
            </a:r>
            <a:r>
              <a:rPr lang="vi-VN" dirty="0"/>
              <a:t> Vì vậy, </a:t>
            </a:r>
            <a:r>
              <a:rPr lang="vi-VN" i="1" dirty="0"/>
              <a:t>lease = kết hợp push và pull một cách thông minh</a:t>
            </a:r>
            <a:r>
              <a:rPr lang="vi-VN" dirty="0"/>
              <a:t>.</a:t>
            </a:r>
          </a:p>
          <a:p>
            <a:endParaRPr lang="en-US" b="1" dirty="0"/>
          </a:p>
          <a:p>
            <a:r>
              <a:rPr lang="vi-VN" b="1" dirty="0"/>
              <a:t>Leases giúp gì?</a:t>
            </a:r>
          </a:p>
          <a:p>
            <a:r>
              <a:rPr lang="vi-VN" dirty="0"/>
              <a:t>Thay vì push hoặc pull cố định, </a:t>
            </a:r>
            <a:r>
              <a:rPr lang="vi-VN" b="1" dirty="0"/>
              <a:t>lease cho phép hệ thống chuyển đổi động giữa push và pull</a:t>
            </a:r>
            <a:r>
              <a:rPr lang="vi-VN" dirty="0"/>
              <a:t> để:</a:t>
            </a:r>
          </a:p>
          <a:p>
            <a:pPr>
              <a:buFont typeface="Arial" panose="020B0604020202020204" pitchFamily="34" charset="0"/>
              <a:buChar char="•"/>
            </a:pPr>
            <a:r>
              <a:rPr lang="vi-VN" dirty="0"/>
              <a:t>Tiết kiệm bandwidth</a:t>
            </a:r>
          </a:p>
          <a:p>
            <a:pPr>
              <a:buFont typeface="Arial" panose="020B0604020202020204" pitchFamily="34" charset="0"/>
              <a:buChar char="•"/>
            </a:pPr>
            <a:r>
              <a:rPr lang="vi-VN" dirty="0"/>
              <a:t>Giảm tải cho server</a:t>
            </a:r>
          </a:p>
          <a:p>
            <a:pPr>
              <a:buFont typeface="Arial" panose="020B0604020202020204" pitchFamily="34" charset="0"/>
              <a:buChar char="•"/>
            </a:pPr>
            <a:r>
              <a:rPr lang="vi-VN" dirty="0"/>
              <a:t>Vẫn đảm bảo consistency (nhất quán)</a:t>
            </a:r>
          </a:p>
          <a:p>
            <a:endParaRPr lang="en-US" b="1" dirty="0"/>
          </a:p>
          <a:p>
            <a:r>
              <a:rPr lang="vi-VN" b="1" dirty="0"/>
              <a:t>Adaptive leases — thời hạn lease có thể thay đổi dựa trên hành vi hệ thống</a:t>
            </a:r>
          </a:p>
          <a:p>
            <a:r>
              <a:rPr lang="en-US" b="1" dirty="0"/>
              <a:t>1. </a:t>
            </a:r>
            <a:r>
              <a:rPr lang="vi-VN" b="1" dirty="0"/>
              <a:t>Age-based leases</a:t>
            </a:r>
          </a:p>
          <a:p>
            <a:r>
              <a:rPr lang="vi-VN" dirty="0"/>
              <a:t>Nếu một đối tượng (object) lâu rồi chưa thay đổi → khả năng thay đổi tiếp trong tương lai gần là thấp.</a:t>
            </a:r>
          </a:p>
          <a:p>
            <a:r>
              <a:rPr lang="en-US" dirty="0"/>
              <a:t>=&gt;</a:t>
            </a:r>
            <a:r>
              <a:rPr lang="vi-VN" dirty="0"/>
              <a:t> Server cấp </a:t>
            </a:r>
            <a:r>
              <a:rPr lang="vi-VN" b="1" dirty="0"/>
              <a:t>lease dài</a:t>
            </a:r>
            <a:r>
              <a:rPr lang="vi-VN" dirty="0"/>
              <a:t> → không phải renew thường xuyên</a:t>
            </a:r>
            <a:r>
              <a:rPr lang="en-US" dirty="0"/>
              <a:t> </a:t>
            </a:r>
            <a:r>
              <a:rPr lang="vi-VN" dirty="0"/>
              <a:t>→ Giảm số lần pull từ client → giảm chi phí.</a:t>
            </a:r>
          </a:p>
          <a:p>
            <a:r>
              <a:rPr lang="en-US" b="1" dirty="0"/>
              <a:t>2.</a:t>
            </a:r>
            <a:r>
              <a:rPr lang="vi-VN" b="1" dirty="0"/>
              <a:t> Renewal-frequency based leases</a:t>
            </a:r>
          </a:p>
          <a:p>
            <a:r>
              <a:rPr lang="vi-VN" dirty="0"/>
              <a:t>Client nào thường xuyên yêu cầu cập nhật thì server cấp </a:t>
            </a:r>
            <a:r>
              <a:rPr lang="vi-VN" b="1" dirty="0"/>
              <a:t>lease dài hơn</a:t>
            </a:r>
            <a:r>
              <a:rPr lang="vi-VN" dirty="0"/>
              <a:t> cho đối tượng đó.</a:t>
            </a:r>
          </a:p>
          <a:p>
            <a:r>
              <a:rPr lang="en-US" dirty="0"/>
              <a:t>=&gt;</a:t>
            </a:r>
            <a:r>
              <a:rPr lang="vi-VN" dirty="0"/>
              <a:t> Vì hệ thống biết rằng client này sẽ cần dữ liệu, nên cấp lease dài để server </a:t>
            </a:r>
            <a:r>
              <a:rPr lang="vi-VN" b="1" dirty="0"/>
              <a:t>push luôn</a:t>
            </a:r>
            <a:r>
              <a:rPr lang="vi-VN" dirty="0"/>
              <a:t> khi có update, tránh để client phải poll liên tục.</a:t>
            </a:r>
          </a:p>
          <a:p>
            <a:r>
              <a:rPr lang="en-US" b="1" dirty="0"/>
              <a:t>3.</a:t>
            </a:r>
            <a:r>
              <a:rPr lang="vi-VN" b="1" dirty="0"/>
              <a:t> State-based leases</a:t>
            </a:r>
          </a:p>
          <a:p>
            <a:r>
              <a:rPr lang="vi-VN" dirty="0"/>
              <a:t>Nếu server đang quá tải thì </a:t>
            </a:r>
            <a:r>
              <a:rPr lang="vi-VN" b="1" dirty="0"/>
              <a:t>giảm thời gian lease</a:t>
            </a:r>
            <a:r>
              <a:rPr lang="vi-VN" dirty="0"/>
              <a:t>.</a:t>
            </a:r>
          </a:p>
          <a:p>
            <a:r>
              <a:rPr lang="en-US" dirty="0"/>
              <a:t>=&gt;</a:t>
            </a:r>
            <a:r>
              <a:rPr lang="vi-VN" dirty="0"/>
              <a:t> Điều này giúp giảm số client được push update, tránh tạo thêm áp lực lên server.</a:t>
            </a:r>
          </a:p>
          <a:p>
            <a:endParaRPr lang="en-US" b="1" dirty="0"/>
          </a:p>
          <a:p>
            <a:r>
              <a:rPr lang="vi-VN" b="1" dirty="0"/>
              <a:t>Câu hỏi trong slide:</a:t>
            </a:r>
          </a:p>
          <a:p>
            <a:r>
              <a:rPr lang="vi-VN" dirty="0"/>
              <a:t>“Why are we doing all this?”</a:t>
            </a:r>
          </a:p>
          <a:p>
            <a:r>
              <a:rPr lang="vi-VN" b="1" dirty="0"/>
              <a:t>Trả lời</a:t>
            </a:r>
            <a:r>
              <a:rPr lang="en-US" b="1" dirty="0"/>
              <a:t>:</a:t>
            </a:r>
            <a:endParaRPr lang="vi-VN" b="1" dirty="0"/>
          </a:p>
          <a:p>
            <a:r>
              <a:rPr lang="en-US" dirty="0"/>
              <a:t>=&gt;</a:t>
            </a:r>
            <a:r>
              <a:rPr lang="vi-VN" dirty="0"/>
              <a:t> Vì chúng ta muốn </a:t>
            </a:r>
            <a:r>
              <a:rPr lang="vi-VN" b="1" dirty="0"/>
              <a:t>tối ưu trade-off giữa performance và consistency</a:t>
            </a:r>
            <a:r>
              <a:rPr lang="vi-VN" dirty="0"/>
              <a:t>.</a:t>
            </a:r>
          </a:p>
          <a:p>
            <a:pPr>
              <a:buFont typeface="Arial" panose="020B0604020202020204" pitchFamily="34" charset="0"/>
              <a:buChar char="•"/>
            </a:pPr>
            <a:r>
              <a:rPr lang="vi-VN" dirty="0"/>
              <a:t>Push-only → server quá tải.</a:t>
            </a:r>
          </a:p>
          <a:p>
            <a:pPr>
              <a:buFont typeface="Arial" panose="020B0604020202020204" pitchFamily="34" charset="0"/>
              <a:buChar char="•"/>
            </a:pPr>
            <a:r>
              <a:rPr lang="vi-VN" dirty="0"/>
              <a:t>Pull-only → client nhận dữ liệu trễ.</a:t>
            </a:r>
          </a:p>
          <a:p>
            <a:pPr>
              <a:buFont typeface="Arial" panose="020B0604020202020204" pitchFamily="34" charset="0"/>
              <a:buChar char="•"/>
            </a:pPr>
            <a:r>
              <a:rPr lang="vi-VN" dirty="0"/>
              <a:t>Lease = push trong một thời gian tối ưu, sau đó quay lại pull nếu cần.</a:t>
            </a:r>
          </a:p>
          <a:p>
            <a:r>
              <a:rPr lang="en-US" dirty="0"/>
              <a:t>=&gt;</a:t>
            </a:r>
            <a:r>
              <a:rPr lang="vi-VN" dirty="0"/>
              <a:t> </a:t>
            </a:r>
            <a:r>
              <a:rPr lang="vi-VN" b="1" dirty="0"/>
              <a:t>Adaptive leases giúp hệ thống tự động cân bằng tài nguyên và đảm bảo tính nhất quán.</a:t>
            </a:r>
            <a:endParaRPr lang="vi-VN" dirty="0"/>
          </a:p>
          <a:p>
            <a:endParaRPr lang="en-US" b="1" dirty="0"/>
          </a:p>
          <a:p>
            <a:r>
              <a:rPr lang="vi-VN" b="1" dirty="0"/>
              <a:t>Tóm tắt slide</a:t>
            </a:r>
          </a:p>
          <a:p>
            <a:r>
              <a:rPr lang="vi-VN" dirty="0"/>
              <a:t>Mục tiêu</a:t>
            </a:r>
            <a:r>
              <a:rPr lang="en-US" dirty="0"/>
              <a:t>				</a:t>
            </a:r>
            <a:r>
              <a:rPr lang="vi-VN" dirty="0"/>
              <a:t>Cách làm</a:t>
            </a:r>
            <a:endParaRPr lang="en-US" dirty="0"/>
          </a:p>
          <a:p>
            <a:r>
              <a:rPr lang="vi-VN" dirty="0"/>
              <a:t>Giảm tần suất renew lease</a:t>
            </a:r>
            <a:r>
              <a:rPr lang="en-US" dirty="0"/>
              <a:t>			</a:t>
            </a:r>
            <a:r>
              <a:rPr lang="vi-VN" dirty="0"/>
              <a:t>Age-based leases</a:t>
            </a:r>
            <a:endParaRPr lang="en-US" dirty="0"/>
          </a:p>
          <a:p>
            <a:r>
              <a:rPr lang="vi-VN" dirty="0"/>
              <a:t>Giảm số lần poll khi client truy cập thường xuyên</a:t>
            </a:r>
            <a:r>
              <a:rPr lang="en-US" dirty="0"/>
              <a:t>	</a:t>
            </a:r>
            <a:r>
              <a:rPr lang="vi-VN" dirty="0"/>
              <a:t>Renewal-frequency leases</a:t>
            </a:r>
            <a:endParaRPr lang="en-US" dirty="0"/>
          </a:p>
          <a:p>
            <a:r>
              <a:rPr lang="vi-VN" dirty="0"/>
              <a:t>Tránh quá tải server</a:t>
            </a:r>
            <a:r>
              <a:rPr lang="en-US" dirty="0"/>
              <a:t>			</a:t>
            </a:r>
            <a:r>
              <a:rPr lang="vi-VN" dirty="0"/>
              <a:t>State-based leases</a:t>
            </a:r>
          </a:p>
          <a:p>
            <a:endParaRPr lang="en-US" i="1" dirty="0"/>
          </a:p>
          <a:p>
            <a:r>
              <a:rPr lang="vi-VN" i="1" dirty="0"/>
              <a:t>Lease là cách thông minh để chuyển đổi giữa push và pull mà không cần cố định một chiến lược.</a:t>
            </a:r>
            <a:endParaRPr lang="vi-VN" dirty="0"/>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41</a:t>
            </a:fld>
            <a:endParaRPr lang="en-US"/>
          </a:p>
        </p:txBody>
      </p:sp>
    </p:spTree>
    <p:extLst>
      <p:ext uri="{BB962C8B-B14F-4D97-AF65-F5344CB8AC3E}">
        <p14:creationId xmlns:p14="http://schemas.microsoft.com/office/powerpoint/2010/main" val="28117465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Continuous consistency — Numerical errors</a:t>
            </a:r>
          </a:p>
          <a:p>
            <a:r>
              <a:rPr lang="vi-VN" dirty="0"/>
              <a:t>Trong mô hình </a:t>
            </a:r>
            <a:r>
              <a:rPr lang="vi-VN" b="1" dirty="0"/>
              <a:t>continuous consistency</a:t>
            </a:r>
            <a:r>
              <a:rPr lang="vi-VN" dirty="0"/>
              <a:t> (nhất quán liên tục), hệ thống không yêu cầu tất cả bản sao dữ liệu (replicas) phải giống nhau tuyệt đối ở mọi thời điểm, mà cho phép tồn tại </a:t>
            </a:r>
            <a:r>
              <a:rPr lang="vi-VN" b="1" dirty="0"/>
              <a:t>độ lệch có kiểm soát</a:t>
            </a:r>
            <a:r>
              <a:rPr lang="vi-VN" dirty="0"/>
              <a:t> (bounded deviation).</a:t>
            </a:r>
            <a:br>
              <a:rPr lang="vi-VN" dirty="0"/>
            </a:br>
            <a:r>
              <a:rPr lang="vi-VN" dirty="0"/>
              <a:t>Slide này đi sâu vào việc </a:t>
            </a:r>
            <a:r>
              <a:rPr lang="vi-VN" b="1" dirty="0"/>
              <a:t>định lượng sai lệch số học (numerical deviation)</a:t>
            </a:r>
            <a:r>
              <a:rPr lang="vi-VN" dirty="0"/>
              <a:t> giữa các replica.</a:t>
            </a:r>
          </a:p>
          <a:p>
            <a:endParaRPr lang="en-US" b="1" dirty="0"/>
          </a:p>
          <a:p>
            <a:r>
              <a:rPr lang="vi-VN" b="1" dirty="0"/>
              <a:t>Nội dung chính của slide</a:t>
            </a:r>
          </a:p>
          <a:p>
            <a:endParaRPr lang="en-US" b="1" dirty="0"/>
          </a:p>
          <a:p>
            <a:r>
              <a:rPr lang="en-US" b="1" dirty="0"/>
              <a:t>- </a:t>
            </a:r>
            <a:r>
              <a:rPr lang="vi-VN" b="1" dirty="0"/>
              <a:t>Mỗi server có một log các phép ghi (writes)</a:t>
            </a:r>
          </a:p>
          <a:p>
            <a:pPr>
              <a:buFont typeface="Arial" panose="020B0604020202020204" pitchFamily="34" charset="0"/>
              <a:buChar char="•"/>
            </a:pPr>
            <a:r>
              <a:rPr lang="vi-VN" dirty="0"/>
              <a:t>Mỗi server Si giữ một </a:t>
            </a:r>
            <a:r>
              <a:rPr lang="vi-VN" b="1" dirty="0"/>
              <a:t>log Li</a:t>
            </a:r>
            <a:r>
              <a:rPr lang="vi-VN" dirty="0"/>
              <a:t>, chứa danh sách các thao tác ghi mà nó đã xử lý.</a:t>
            </a:r>
          </a:p>
          <a:p>
            <a:pPr>
              <a:buFont typeface="Arial" panose="020B0604020202020204" pitchFamily="34" charset="0"/>
              <a:buChar char="•"/>
            </a:pPr>
            <a:r>
              <a:rPr lang="vi-VN" dirty="0"/>
              <a:t>Log giúp theo dõi </a:t>
            </a:r>
            <a:r>
              <a:rPr lang="vi-VN" b="1" dirty="0"/>
              <a:t>server nào đã thực hiện ghi gì và từ đâu đến</a:t>
            </a:r>
            <a:r>
              <a:rPr lang="vi-VN" dirty="0"/>
              <a:t>.</a:t>
            </a:r>
          </a:p>
          <a:p>
            <a:r>
              <a:rPr lang="en-US" b="1" dirty="0"/>
              <a:t>- </a:t>
            </a:r>
            <a:r>
              <a:rPr lang="vi-VN" b="1" dirty="0"/>
              <a:t>Giá trị của một phép ghi (val(W))</a:t>
            </a:r>
          </a:p>
          <a:p>
            <a:pPr>
              <a:buFont typeface="Arial" panose="020B0604020202020204" pitchFamily="34" charset="0"/>
              <a:buChar char="•"/>
            </a:pPr>
            <a:r>
              <a:rPr lang="vi-VN" dirty="0"/>
              <a:t>val(W) biểu diễn </a:t>
            </a:r>
            <a:r>
              <a:rPr lang="vi-VN" b="1" dirty="0"/>
              <a:t>mức thay đổi giá trị của dữ liệu x</a:t>
            </a:r>
            <a:r>
              <a:rPr lang="vi-VN" dirty="0"/>
              <a:t> sau phép ghi W.</a:t>
            </a:r>
          </a:p>
          <a:p>
            <a:r>
              <a:rPr lang="en-US" dirty="0"/>
              <a:t>*</a:t>
            </a:r>
            <a:r>
              <a:rPr lang="vi-VN" dirty="0"/>
              <a:t>Ví dụ:</a:t>
            </a:r>
          </a:p>
          <a:p>
            <a:r>
              <a:rPr lang="vi-VN" dirty="0"/>
              <a:t>Trước</a:t>
            </a:r>
            <a:r>
              <a:rPr lang="en-US" dirty="0"/>
              <a:t>	</a:t>
            </a:r>
            <a:r>
              <a:rPr lang="vi-VN" dirty="0"/>
              <a:t>ghi W: x = x + 5</a:t>
            </a:r>
            <a:r>
              <a:rPr lang="en-US" dirty="0"/>
              <a:t>	</a:t>
            </a:r>
            <a:r>
              <a:rPr lang="vi-VN" dirty="0"/>
              <a:t>Sau</a:t>
            </a:r>
            <a:endParaRPr lang="en-US" dirty="0"/>
          </a:p>
          <a:p>
            <a:r>
              <a:rPr lang="vi-VN" dirty="0"/>
              <a:t>x = 10</a:t>
            </a:r>
            <a:r>
              <a:rPr lang="en-US" dirty="0"/>
              <a:t>	</a:t>
            </a:r>
            <a:r>
              <a:rPr lang="vi-VN" dirty="0"/>
              <a:t>val(W) = +5</a:t>
            </a:r>
            <a:r>
              <a:rPr lang="en-US" dirty="0"/>
              <a:t>		</a:t>
            </a:r>
            <a:r>
              <a:rPr lang="vi-VN" dirty="0"/>
              <a:t>x = 15</a:t>
            </a:r>
          </a:p>
          <a:p>
            <a:r>
              <a:rPr lang="en-US" dirty="0"/>
              <a:t>** </a:t>
            </a:r>
            <a:r>
              <a:rPr lang="vi-VN" dirty="0"/>
              <a:t>Điểm quan trọng:</a:t>
            </a:r>
            <a:r>
              <a:rPr lang="en-US" dirty="0"/>
              <a:t> </a:t>
            </a:r>
            <a:r>
              <a:rPr lang="vi-VN" dirty="0"/>
              <a:t>val(W) luôn là một số dương (val(W) &gt; 0).</a:t>
            </a:r>
          </a:p>
          <a:p>
            <a:endParaRPr lang="en-US" b="1" dirty="0"/>
          </a:p>
          <a:p>
            <a:r>
              <a:rPr lang="en-US" b="1" dirty="0"/>
              <a:t>- </a:t>
            </a:r>
            <a:r>
              <a:rPr lang="vi-VN" b="1" dirty="0"/>
              <a:t>origin(W): nơi phép ghi bắt đầu</a:t>
            </a:r>
          </a:p>
          <a:p>
            <a:pPr>
              <a:buFont typeface="Arial" panose="020B0604020202020204" pitchFamily="34" charset="0"/>
              <a:buChar char="•"/>
            </a:pPr>
            <a:r>
              <a:rPr lang="vi-VN" dirty="0"/>
              <a:t>Một phép ghi ban đầu được gửi đến một replica nào đó (origin server).</a:t>
            </a:r>
          </a:p>
          <a:p>
            <a:pPr>
              <a:buFont typeface="Arial" panose="020B0604020202020204" pitchFamily="34" charset="0"/>
              <a:buChar char="•"/>
            </a:pPr>
            <a:r>
              <a:rPr lang="vi-VN" dirty="0"/>
              <a:t>Sau đó, phép ghi này sẽ được lan truyền sang các replica khác.</a:t>
            </a:r>
          </a:p>
          <a:p>
            <a:endParaRPr lang="en-US" b="1" dirty="0"/>
          </a:p>
          <a:p>
            <a:r>
              <a:rPr lang="en-US" b="1" dirty="0"/>
              <a:t>- </a:t>
            </a:r>
            <a:r>
              <a:rPr lang="vi-VN" b="1" dirty="0"/>
              <a:t>TW[i, j] — tổng các phép ghi tại server Si có nguồn từ Sj</a:t>
            </a:r>
          </a:p>
          <a:p>
            <a:r>
              <a:rPr lang="vi-VN" dirty="0"/>
              <a:t>TW[i, j] = tổng tất cả val(W) của các phép ghi W được thực thi tại server Si </a:t>
            </a:r>
            <a:r>
              <a:rPr lang="vi-VN" b="1" dirty="0"/>
              <a:t>mà có nguồn gốc từ server Sj</a:t>
            </a:r>
            <a:r>
              <a:rPr lang="vi-VN" dirty="0"/>
              <a:t>.</a:t>
            </a:r>
          </a:p>
          <a:p>
            <a:r>
              <a:rPr lang="vi-VN" dirty="0"/>
              <a:t>Công thức trong slide:</a:t>
            </a:r>
          </a:p>
          <a:p>
            <a:r>
              <a:rPr lang="vi-VN" dirty="0"/>
              <a:t>TW[i,j]=∑{val(W)∣origin(W)=Sj &amp; W∈Li}</a:t>
            </a:r>
            <a:endParaRPr lang="en-US" dirty="0"/>
          </a:p>
          <a:p>
            <a:r>
              <a:rPr lang="vi-VN" dirty="0"/>
              <a:t>Diễn giải:</a:t>
            </a:r>
          </a:p>
          <a:p>
            <a:pPr>
              <a:buFont typeface="Arial" panose="020B0604020202020204" pitchFamily="34" charset="0"/>
              <a:buChar char="•"/>
            </a:pPr>
            <a:r>
              <a:rPr lang="vi-VN" dirty="0"/>
              <a:t>Server </a:t>
            </a:r>
            <a:r>
              <a:rPr lang="vi-VN" b="1" dirty="0"/>
              <a:t>Si</a:t>
            </a:r>
            <a:r>
              <a:rPr lang="vi-VN" dirty="0"/>
              <a:t> tính tổng giá trị thay đổi do các phép ghi </a:t>
            </a:r>
            <a:r>
              <a:rPr lang="vi-VN" b="1" dirty="0"/>
              <a:t>bắt nguồn từ Sj</a:t>
            </a:r>
            <a:r>
              <a:rPr lang="vi-VN" dirty="0"/>
              <a:t>.</a:t>
            </a:r>
          </a:p>
          <a:p>
            <a:pPr>
              <a:buFont typeface="Arial" panose="020B0604020202020204" pitchFamily="34" charset="0"/>
              <a:buChar char="•"/>
            </a:pPr>
            <a:r>
              <a:rPr lang="vi-VN" dirty="0"/>
              <a:t>Điều này giúp Si </a:t>
            </a:r>
            <a:r>
              <a:rPr lang="vi-VN" b="1" dirty="0"/>
              <a:t>đo phần sai lệch</a:t>
            </a:r>
            <a:r>
              <a:rPr lang="vi-VN" dirty="0"/>
              <a:t> so với Sj.</a:t>
            </a:r>
          </a:p>
          <a:p>
            <a:r>
              <a:rPr lang="en-US" b="1" dirty="0"/>
              <a:t>* </a:t>
            </a:r>
            <a:r>
              <a:rPr lang="vi-VN" b="1" dirty="0"/>
              <a:t>Tại sao phải tính TW[i, j]?</a:t>
            </a:r>
          </a:p>
          <a:p>
            <a:r>
              <a:rPr lang="vi-VN" dirty="0"/>
              <a:t>Vì chúng ta muốn:</a:t>
            </a:r>
          </a:p>
          <a:p>
            <a:pPr>
              <a:buFont typeface="Arial" panose="020B0604020202020204" pitchFamily="34" charset="0"/>
              <a:buChar char="•"/>
            </a:pPr>
            <a:r>
              <a:rPr lang="vi-VN" b="1" dirty="0"/>
              <a:t>Đo sai lệch dữ liệu giữa các replica</a:t>
            </a:r>
            <a:r>
              <a:rPr lang="vi-VN" dirty="0"/>
              <a:t> (numerical deviation).</a:t>
            </a:r>
          </a:p>
          <a:p>
            <a:pPr>
              <a:buFont typeface="Arial" panose="020B0604020202020204" pitchFamily="34" charset="0"/>
              <a:buChar char="•"/>
            </a:pPr>
            <a:r>
              <a:rPr lang="vi-VN" dirty="0"/>
              <a:t>Nếu sai lệch vượt ngưỡng cho phép → kích hoạt đồng bộ (synchronization).</a:t>
            </a:r>
          </a:p>
          <a:p>
            <a:r>
              <a:rPr lang="vi-VN" dirty="0"/>
              <a:t>Continuous consistency không yêu cầu mọi replica giống nhau ngay lập tức, nhưng phải </a:t>
            </a:r>
            <a:r>
              <a:rPr lang="vi-VN" b="1" dirty="0"/>
              <a:t>giới hạn sai lệch</a:t>
            </a:r>
            <a:r>
              <a:rPr lang="vi-VN" dirty="0"/>
              <a:t>.</a:t>
            </a:r>
          </a:p>
          <a:p>
            <a:endParaRPr lang="en-US" b="1" dirty="0"/>
          </a:p>
          <a:p>
            <a:r>
              <a:rPr lang="en-US" b="1" dirty="0"/>
              <a:t>- </a:t>
            </a:r>
            <a:r>
              <a:rPr lang="vi-VN" b="1" dirty="0"/>
              <a:t>Ví dụ minh họa</a:t>
            </a:r>
          </a:p>
          <a:p>
            <a:r>
              <a:rPr lang="vi-VN" dirty="0"/>
              <a:t>Giả sử có 3 replica (S1, S2, S3) và một biến counter.</a:t>
            </a:r>
          </a:p>
          <a:p>
            <a:pPr>
              <a:buFont typeface="Arial" panose="020B0604020202020204" pitchFamily="34" charset="0"/>
              <a:buChar char="•"/>
            </a:pPr>
            <a:r>
              <a:rPr lang="vi-VN" dirty="0"/>
              <a:t>Tại S1: tăng counter lên 5 → val(W1) = +5</a:t>
            </a:r>
          </a:p>
          <a:p>
            <a:pPr>
              <a:buFont typeface="Arial" panose="020B0604020202020204" pitchFamily="34" charset="0"/>
              <a:buChar char="•"/>
            </a:pPr>
            <a:r>
              <a:rPr lang="vi-VN" dirty="0"/>
              <a:t>Tại S2: tăng counter lên 3 → val(W2) = +3</a:t>
            </a:r>
          </a:p>
          <a:p>
            <a:r>
              <a:rPr lang="vi-VN" dirty="0"/>
              <a:t>Nếu tại thời điểm này S3 chỉ nhận được update từ S1:</a:t>
            </a:r>
          </a:p>
          <a:p>
            <a:r>
              <a:rPr lang="vi-VN" dirty="0"/>
              <a:t>Server</a:t>
            </a:r>
            <a:r>
              <a:rPr lang="en-US" dirty="0"/>
              <a:t>	</a:t>
            </a:r>
            <a:r>
              <a:rPr lang="vi-VN" dirty="0"/>
              <a:t>Giá trị counter</a:t>
            </a:r>
            <a:endParaRPr lang="en-US" dirty="0"/>
          </a:p>
          <a:p>
            <a:r>
              <a:rPr lang="vi-VN" dirty="0"/>
              <a:t>S1</a:t>
            </a:r>
            <a:r>
              <a:rPr lang="en-US" dirty="0"/>
              <a:t>	</a:t>
            </a:r>
            <a:r>
              <a:rPr lang="vi-VN" dirty="0"/>
              <a:t>5</a:t>
            </a:r>
            <a:endParaRPr lang="en-US" dirty="0"/>
          </a:p>
          <a:p>
            <a:r>
              <a:rPr lang="vi-VN" dirty="0"/>
              <a:t>S2</a:t>
            </a:r>
            <a:r>
              <a:rPr lang="en-US" dirty="0"/>
              <a:t>	</a:t>
            </a:r>
            <a:r>
              <a:rPr lang="vi-VN" dirty="0"/>
              <a:t>3</a:t>
            </a:r>
            <a:endParaRPr lang="en-US" dirty="0"/>
          </a:p>
          <a:p>
            <a:r>
              <a:rPr lang="vi-VN" dirty="0"/>
              <a:t>S3</a:t>
            </a:r>
            <a:r>
              <a:rPr lang="en-US" dirty="0"/>
              <a:t>	</a:t>
            </a:r>
            <a:r>
              <a:rPr lang="vi-VN" dirty="0"/>
              <a:t>5</a:t>
            </a:r>
          </a:p>
          <a:p>
            <a:r>
              <a:rPr lang="vi-VN" dirty="0"/>
              <a:t>→ Sai lệch giữa S3 và S2 = 2</a:t>
            </a:r>
            <a:br>
              <a:rPr lang="vi-VN" dirty="0"/>
            </a:br>
            <a:r>
              <a:rPr lang="vi-VN" dirty="0"/>
              <a:t>→ Đó là </a:t>
            </a:r>
            <a:r>
              <a:rPr lang="vi-VN" b="1" dirty="0"/>
              <a:t>numerical deviation</a:t>
            </a:r>
            <a:r>
              <a:rPr lang="vi-VN" dirty="0"/>
              <a:t> giữa replica.</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42</a:t>
            </a:fld>
            <a:endParaRPr lang="en-US"/>
          </a:p>
        </p:txBody>
      </p:sp>
    </p:spTree>
    <p:extLst>
      <p:ext uri="{BB962C8B-B14F-4D97-AF65-F5344CB8AC3E}">
        <p14:creationId xmlns:p14="http://schemas.microsoft.com/office/powerpoint/2010/main" val="40760756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Slide này trình bày </a:t>
            </a:r>
            <a:r>
              <a:rPr lang="vi-VN" b="1" dirty="0"/>
              <a:t>cách tính giá trị thực của dữ liệu x và giá trị tại từng replica</a:t>
            </a:r>
            <a:r>
              <a:rPr lang="vi-VN" dirty="0"/>
              <a:t>, dựa trên tổng các phép ghi (writes) đã được thực hiện.</a:t>
            </a:r>
          </a:p>
          <a:p>
            <a:endParaRPr lang="en-US" b="1" dirty="0"/>
          </a:p>
          <a:p>
            <a:r>
              <a:rPr lang="vi-VN" b="1" dirty="0"/>
              <a:t>Ghi chú quan trọng (Note)</a:t>
            </a:r>
          </a:p>
          <a:p>
            <a:r>
              <a:rPr lang="vi-VN" b="1" dirty="0"/>
              <a:t>Actual value v(t) of x:</a:t>
            </a:r>
            <a:endParaRPr lang="vi-VN" dirty="0"/>
          </a:p>
          <a:p>
            <a:r>
              <a:rPr lang="en-US" dirty="0"/>
              <a:t>	</a:t>
            </a:r>
            <a:r>
              <a:rPr lang="vi-VN" dirty="0"/>
              <a:t>v(t)=v</a:t>
            </a:r>
            <a:r>
              <a:rPr lang="en-US" dirty="0"/>
              <a:t>_</a:t>
            </a:r>
            <a:r>
              <a:rPr lang="vi-VN" dirty="0"/>
              <a:t>init+∑</a:t>
            </a:r>
            <a:r>
              <a:rPr lang="en-US" dirty="0"/>
              <a:t>_{</a:t>
            </a:r>
            <a:r>
              <a:rPr lang="vi-VN" dirty="0"/>
              <a:t>k=1</a:t>
            </a:r>
            <a:r>
              <a:rPr lang="en-US" dirty="0"/>
              <a:t>}^</a:t>
            </a:r>
            <a:r>
              <a:rPr lang="vi-VN" dirty="0"/>
              <a:t>N</a:t>
            </a:r>
            <a:r>
              <a:rPr lang="en-US" dirty="0"/>
              <a:t> </a:t>
            </a:r>
            <a:r>
              <a:rPr lang="vi-VN" dirty="0"/>
              <a:t>TW[k,k]</a:t>
            </a:r>
            <a:endParaRPr lang="en-US" dirty="0"/>
          </a:p>
          <a:p>
            <a:r>
              <a:rPr lang="vi-VN" dirty="0"/>
              <a:t>Giải thích:</a:t>
            </a:r>
          </a:p>
          <a:p>
            <a:pPr>
              <a:buFont typeface="Arial" panose="020B0604020202020204" pitchFamily="34" charset="0"/>
              <a:buChar char="•"/>
            </a:pPr>
            <a:r>
              <a:rPr lang="vi-VN" dirty="0"/>
              <a:t>V</a:t>
            </a:r>
            <a:r>
              <a:rPr lang="en-US" dirty="0"/>
              <a:t>_</a:t>
            </a:r>
            <a:r>
              <a:rPr lang="vi-VN" dirty="0"/>
              <a:t>init​: giá trị ban đầu của dữ liệu x.</a:t>
            </a:r>
          </a:p>
          <a:p>
            <a:pPr>
              <a:buFont typeface="Arial" panose="020B0604020202020204" pitchFamily="34" charset="0"/>
              <a:buChar char="•"/>
            </a:pPr>
            <a:r>
              <a:rPr lang="vi-VN" dirty="0"/>
              <a:t>TW[k,k]: tổng các giá trị cập nhật </a:t>
            </a:r>
            <a:r>
              <a:rPr lang="vi-VN" b="1" dirty="0"/>
              <a:t>do chính server Sk​</a:t>
            </a:r>
            <a:r>
              <a:rPr lang="vi-VN" dirty="0"/>
              <a:t> tạo ra và áp dụng lên chính nó (origin = k).</a:t>
            </a:r>
          </a:p>
          <a:p>
            <a:pPr>
              <a:buFont typeface="Arial" panose="020B0604020202020204" pitchFamily="34" charset="0"/>
              <a:buChar char="•"/>
            </a:pPr>
            <a:r>
              <a:rPr lang="vi-VN" dirty="0"/>
              <a:t>∑</a:t>
            </a:r>
            <a:r>
              <a:rPr lang="en-US" dirty="0"/>
              <a:t>_{</a:t>
            </a:r>
            <a:r>
              <a:rPr lang="vi-VN" dirty="0"/>
              <a:t>k=1</a:t>
            </a:r>
            <a:r>
              <a:rPr lang="en-US" dirty="0"/>
              <a:t>}^</a:t>
            </a:r>
            <a:r>
              <a:rPr lang="vi-VN" dirty="0"/>
              <a:t>N​: cộng tổng tất cả các cập nhật từ tất cả N replicas.</a:t>
            </a:r>
          </a:p>
          <a:p>
            <a:r>
              <a:rPr lang="en-US" dirty="0"/>
              <a:t>=&gt;</a:t>
            </a:r>
            <a:r>
              <a:rPr lang="vi-VN" dirty="0"/>
              <a:t> Đây là </a:t>
            </a:r>
            <a:r>
              <a:rPr lang="vi-VN" b="1" dirty="0"/>
              <a:t>giá trị chuẩn (chính xác)</a:t>
            </a:r>
            <a:r>
              <a:rPr lang="vi-VN" dirty="0"/>
              <a:t> của dữ liệu x nếu mọi cập nhật đều được thực hiện đầy đủ tại mọi replica.</a:t>
            </a:r>
          </a:p>
          <a:p>
            <a:endParaRPr lang="en-US" b="1" dirty="0"/>
          </a:p>
          <a:p>
            <a:r>
              <a:rPr lang="vi-VN" b="1" dirty="0"/>
              <a:t>Giá trị của x tại một server Si​</a:t>
            </a:r>
          </a:p>
          <a:p>
            <a:r>
              <a:rPr lang="vi-VN" dirty="0"/>
              <a:t>V</a:t>
            </a:r>
            <a:r>
              <a:rPr lang="en-US" dirty="0"/>
              <a:t>_</a:t>
            </a:r>
            <a:r>
              <a:rPr lang="vi-VN" dirty="0"/>
              <a:t>i=v</a:t>
            </a:r>
            <a:r>
              <a:rPr lang="en-US" dirty="0"/>
              <a:t>_</a:t>
            </a:r>
            <a:r>
              <a:rPr lang="vi-VN" dirty="0"/>
              <a:t>init+∑</a:t>
            </a:r>
            <a:r>
              <a:rPr lang="en-US" dirty="0"/>
              <a:t>_{</a:t>
            </a:r>
            <a:r>
              <a:rPr lang="vi-VN" dirty="0"/>
              <a:t>k=1</a:t>
            </a:r>
            <a:r>
              <a:rPr lang="en-US" dirty="0"/>
              <a:t>}^</a:t>
            </a:r>
            <a:r>
              <a:rPr lang="vi-VN" dirty="0"/>
              <a:t>N</a:t>
            </a:r>
            <a:r>
              <a:rPr lang="en-US" dirty="0"/>
              <a:t> </a:t>
            </a:r>
            <a:r>
              <a:rPr lang="vi-VN" dirty="0"/>
              <a:t>TW[i,k]</a:t>
            </a:r>
            <a:endParaRPr lang="en-US" dirty="0"/>
          </a:p>
          <a:p>
            <a:r>
              <a:rPr lang="vi-VN" dirty="0"/>
              <a:t>Giải thích:</a:t>
            </a:r>
          </a:p>
          <a:p>
            <a:pPr>
              <a:buFont typeface="Arial" panose="020B0604020202020204" pitchFamily="34" charset="0"/>
              <a:buChar char="•"/>
            </a:pPr>
            <a:r>
              <a:rPr lang="vi-VN" dirty="0"/>
              <a:t>v_i​: giá trị dữ liệu x </a:t>
            </a:r>
            <a:r>
              <a:rPr lang="vi-VN" b="1" dirty="0"/>
              <a:t>tại replica S_i​</a:t>
            </a:r>
            <a:r>
              <a:rPr lang="vi-VN" dirty="0"/>
              <a:t>.</a:t>
            </a:r>
          </a:p>
          <a:p>
            <a:pPr>
              <a:buFont typeface="Arial" panose="020B0604020202020204" pitchFamily="34" charset="0"/>
              <a:buChar char="•"/>
            </a:pPr>
            <a:r>
              <a:rPr lang="vi-VN" dirty="0"/>
              <a:t>TW[i,k]: tổng giá trị cập nhật </a:t>
            </a:r>
            <a:r>
              <a:rPr lang="vi-VN" b="1" dirty="0"/>
              <a:t>mà S_i​ đã nhận được có nguồn từ S_k​</a:t>
            </a:r>
            <a:r>
              <a:rPr lang="vi-VN" dirty="0"/>
              <a:t>.</a:t>
            </a:r>
          </a:p>
          <a:p>
            <a:r>
              <a:rPr lang="en-US" dirty="0"/>
              <a:t>=&gt;</a:t>
            </a:r>
            <a:r>
              <a:rPr lang="vi-VN" dirty="0"/>
              <a:t> Nếu replica chưa nhận được tất cả cập nhật từ một server khác, giá trị của x tại replica này sẽ </a:t>
            </a:r>
            <a:r>
              <a:rPr lang="vi-VN" b="1" dirty="0"/>
              <a:t>nhỏ hơn</a:t>
            </a:r>
            <a:r>
              <a:rPr lang="vi-VN" dirty="0"/>
              <a:t> giá trị thực tế v(t).</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43</a:t>
            </a:fld>
            <a:endParaRPr lang="en-US"/>
          </a:p>
        </p:txBody>
      </p:sp>
    </p:spTree>
    <p:extLst>
      <p:ext uri="{BB962C8B-B14F-4D97-AF65-F5344CB8AC3E}">
        <p14:creationId xmlns:p14="http://schemas.microsoft.com/office/powerpoint/2010/main" val="8398522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Continuous Consistency: Numerical Errors (Sai số trong tính nhất quán liên tục)</a:t>
            </a:r>
            <a:endParaRPr lang="vi-VN" dirty="0"/>
          </a:p>
          <a:p>
            <a:r>
              <a:rPr lang="vi-VN" dirty="0"/>
              <a:t>Trong mô hình </a:t>
            </a:r>
            <a:r>
              <a:rPr lang="vi-VN" b="1" dirty="0"/>
              <a:t>consistency liên tục</a:t>
            </a:r>
            <a:r>
              <a:rPr lang="vi-VN" dirty="0"/>
              <a:t>, hệ thống chấp nhận rằng các bản sao (replicas) có thể không giống nhau ở mọi thời điểm, miễn là độ sai khác nằm trong mức cho phép.</a:t>
            </a:r>
          </a:p>
          <a:p>
            <a:endParaRPr lang="en-US" b="1" dirty="0"/>
          </a:p>
          <a:p>
            <a:r>
              <a:rPr lang="vi-VN" b="1" dirty="0"/>
              <a:t>Vấn đề (Problem)</a:t>
            </a:r>
          </a:p>
          <a:p>
            <a:r>
              <a:rPr lang="vi-VN" dirty="0"/>
              <a:t>Chúng ta cần đảm bảo rằng sai số giữa giá trị thực của dữ liệu và giá trị tại mỗi replica là nhỏ hơn một ngưỡng cho phép.</a:t>
            </a:r>
          </a:p>
          <a:p>
            <a:r>
              <a:rPr lang="vi-VN" dirty="0"/>
              <a:t>Cụ thể:</a:t>
            </a:r>
          </a:p>
          <a:p>
            <a:r>
              <a:rPr lang="en-US" dirty="0"/>
              <a:t>	</a:t>
            </a:r>
            <a:r>
              <a:rPr lang="vi-VN" dirty="0"/>
              <a:t>v(t)−vi&lt;</a:t>
            </a:r>
            <a:r>
              <a:rPr lang="el-GR" dirty="0"/>
              <a:t>δ</a:t>
            </a:r>
            <a:r>
              <a:rPr lang="vi-VN" dirty="0"/>
              <a:t>i</a:t>
            </a:r>
            <a:endParaRPr lang="en-US" dirty="0"/>
          </a:p>
          <a:p>
            <a:r>
              <a:rPr lang="vi-VN" dirty="0"/>
              <a:t>Trong đó:</a:t>
            </a:r>
          </a:p>
          <a:p>
            <a:r>
              <a:rPr lang="vi-VN" dirty="0"/>
              <a:t>Ký hiệu</a:t>
            </a:r>
            <a:r>
              <a:rPr lang="en-US" dirty="0"/>
              <a:t>	</a:t>
            </a:r>
            <a:r>
              <a:rPr lang="vi-VN" dirty="0"/>
              <a:t>Ý nghĩa</a:t>
            </a:r>
            <a:endParaRPr lang="en-US" dirty="0"/>
          </a:p>
          <a:p>
            <a:r>
              <a:rPr lang="vi-VN" dirty="0"/>
              <a:t>v(t)</a:t>
            </a:r>
            <a:r>
              <a:rPr lang="en-US" dirty="0"/>
              <a:t>	</a:t>
            </a:r>
            <a:r>
              <a:rPr lang="vi-VN" dirty="0"/>
              <a:t>Giá trị đúng (thực tế) của dữ liệu x (bao gồm tất cả các cập nhật từ mọi replica)</a:t>
            </a:r>
            <a:endParaRPr lang="en-US" dirty="0"/>
          </a:p>
          <a:p>
            <a:r>
              <a:rPr lang="vi-VN" dirty="0"/>
              <a:t>Vi</a:t>
            </a:r>
            <a:r>
              <a:rPr lang="en-US" dirty="0"/>
              <a:t>	</a:t>
            </a:r>
            <a:r>
              <a:rPr lang="vi-VN" dirty="0"/>
              <a:t>​Giá trị hiện tại của dữ liệu tại replica Si</a:t>
            </a:r>
            <a:endParaRPr lang="en-US" dirty="0"/>
          </a:p>
          <a:p>
            <a:r>
              <a:rPr lang="vi-VN" dirty="0"/>
              <a:t>​</a:t>
            </a:r>
            <a:r>
              <a:rPr lang="el-GR" dirty="0"/>
              <a:t>δ</a:t>
            </a:r>
            <a:r>
              <a:rPr lang="vi-VN" dirty="0"/>
              <a:t>i</a:t>
            </a:r>
            <a:r>
              <a:rPr lang="en-US" dirty="0"/>
              <a:t>	</a:t>
            </a:r>
            <a:r>
              <a:rPr lang="vi-VN" dirty="0"/>
              <a:t>​Ngưỡng sai số cho phép đối với replica S_i​</a:t>
            </a:r>
          </a:p>
          <a:p>
            <a:r>
              <a:rPr lang="en-US" dirty="0"/>
              <a:t>=&gt;</a:t>
            </a:r>
            <a:r>
              <a:rPr lang="vi-VN" dirty="0"/>
              <a:t> Mục tiêu là </a:t>
            </a:r>
            <a:r>
              <a:rPr lang="vi-VN" b="1" dirty="0"/>
              <a:t>replica có thể chậm hơn một chút, nhưng độ trễ phải được kiểm soát</a:t>
            </a:r>
            <a:r>
              <a:rPr lang="vi-VN" dirty="0"/>
              <a:t>.</a:t>
            </a:r>
          </a:p>
          <a:p>
            <a:endParaRPr lang="en-US" b="1" dirty="0"/>
          </a:p>
          <a:p>
            <a:r>
              <a:rPr lang="vi-VN" b="1" dirty="0"/>
              <a:t>Cách tiếp cận (Approach)</a:t>
            </a:r>
          </a:p>
          <a:p>
            <a:r>
              <a:rPr lang="vi-VN" dirty="0"/>
              <a:t>Mỗi server S_k​ duy trì một </a:t>
            </a:r>
            <a:r>
              <a:rPr lang="vi-VN" b="1" dirty="0"/>
              <a:t>view</a:t>
            </a:r>
            <a:r>
              <a:rPr lang="vi-VN" dirty="0"/>
              <a:t>: TWk[i,j]</a:t>
            </a:r>
          </a:p>
          <a:p>
            <a:pPr>
              <a:buFont typeface="Arial" panose="020B0604020202020204" pitchFamily="34" charset="0"/>
              <a:buChar char="•"/>
            </a:pPr>
            <a:r>
              <a:rPr lang="vi-VN" dirty="0"/>
              <a:t>Đây là </a:t>
            </a:r>
            <a:r>
              <a:rPr lang="vi-VN" i="1" dirty="0"/>
              <a:t>những gì server S_k​ nghĩ</a:t>
            </a:r>
            <a:r>
              <a:rPr lang="vi-VN" dirty="0"/>
              <a:t> về tổng cập nhật từ server S_j​ mà replica S_i​ đã áp dụng.</a:t>
            </a:r>
          </a:p>
          <a:p>
            <a:pPr>
              <a:buFont typeface="Arial" panose="020B0604020202020204" pitchFamily="34" charset="0"/>
              <a:buChar char="•"/>
            </a:pPr>
            <a:r>
              <a:rPr lang="vi-VN" dirty="0"/>
              <a:t>Khi có cập nhật mới, thông tin này được </a:t>
            </a:r>
            <a:r>
              <a:rPr lang="vi-VN" b="1" dirty="0"/>
              <a:t>lan truyền bằng cơ chế gossip</a:t>
            </a:r>
            <a:r>
              <a:rPr lang="vi-VN" dirty="0"/>
              <a:t> (trao đổi thông tin định kỳ, tương tự như lan tin đồn).</a:t>
            </a:r>
          </a:p>
          <a:p>
            <a:r>
              <a:rPr lang="en-US" dirty="0"/>
              <a:t>=&gt;</a:t>
            </a:r>
            <a:r>
              <a:rPr lang="vi-VN" dirty="0"/>
              <a:t> Không cần tất cả server đồng bộ ngay lập tức, chỉ cần </a:t>
            </a:r>
            <a:r>
              <a:rPr lang="vi-VN" i="1" dirty="0"/>
              <a:t>chia sẻ dần dần</a:t>
            </a:r>
            <a:r>
              <a:rPr lang="vi-VN" dirty="0"/>
              <a:t>, giúp giảm tải hệ thống.</a:t>
            </a:r>
          </a:p>
          <a:p>
            <a:endParaRPr lang="en-US" b="1" dirty="0"/>
          </a:p>
          <a:p>
            <a:r>
              <a:rPr lang="vi-VN" b="1" dirty="0"/>
              <a:t>Ghi chú (Note)</a:t>
            </a:r>
          </a:p>
          <a:p>
            <a:r>
              <a:rPr lang="en-US" dirty="0"/>
              <a:t>	</a:t>
            </a:r>
            <a:r>
              <a:rPr lang="vi-VN" dirty="0"/>
              <a:t>0≤TWk[i,j]≤TW[i,j]≤TW[j,j] </a:t>
            </a:r>
            <a:endParaRPr lang="en-US" dirty="0"/>
          </a:p>
          <a:p>
            <a:r>
              <a:rPr lang="vi-VN" dirty="0"/>
              <a:t>Giải thích:</a:t>
            </a:r>
          </a:p>
          <a:p>
            <a:r>
              <a:rPr lang="vi-VN" dirty="0"/>
              <a:t>Thành phần</a:t>
            </a:r>
            <a:r>
              <a:rPr lang="en-US" dirty="0"/>
              <a:t>	</a:t>
            </a:r>
            <a:r>
              <a:rPr lang="vi-VN" dirty="0"/>
              <a:t>Ý nghĩa</a:t>
            </a:r>
            <a:endParaRPr lang="en-US" dirty="0"/>
          </a:p>
          <a:p>
            <a:r>
              <a:rPr lang="vi-VN" dirty="0"/>
              <a:t>TW[i,j]</a:t>
            </a:r>
            <a:r>
              <a:rPr lang="en-US" dirty="0"/>
              <a:t>	</a:t>
            </a:r>
            <a:r>
              <a:rPr lang="vi-VN" dirty="0"/>
              <a:t>Tổng cập nhật từ server S_j​ mà server S_i​ đã nhận được</a:t>
            </a:r>
            <a:endParaRPr lang="en-US" dirty="0"/>
          </a:p>
          <a:p>
            <a:r>
              <a:rPr lang="vi-VN" dirty="0"/>
              <a:t>TW_k[i,j]</a:t>
            </a:r>
            <a:r>
              <a:rPr lang="en-US" dirty="0"/>
              <a:t>	</a:t>
            </a:r>
            <a:r>
              <a:rPr lang="vi-VN" dirty="0"/>
              <a:t>Giá trị mà server S_k​ </a:t>
            </a:r>
            <a:r>
              <a:rPr lang="vi-VN" b="1" dirty="0"/>
              <a:t>đang tin là</a:t>
            </a:r>
            <a:r>
              <a:rPr lang="vi-VN" dirty="0"/>
              <a:t> TW[i,j]</a:t>
            </a:r>
            <a:endParaRPr lang="en-US" dirty="0"/>
          </a:p>
          <a:p>
            <a:r>
              <a:rPr lang="vi-VN" dirty="0"/>
              <a:t>TW[j,j]</a:t>
            </a:r>
            <a:r>
              <a:rPr lang="en-US" dirty="0"/>
              <a:t>	</a:t>
            </a:r>
            <a:r>
              <a:rPr lang="vi-VN" dirty="0"/>
              <a:t>Tổng cập nhật mà server S_j​ đã tự thực hiện trên dữ liệu</a:t>
            </a:r>
          </a:p>
          <a:p>
            <a:r>
              <a:rPr lang="en-US" dirty="0"/>
              <a:t>=&gt;</a:t>
            </a:r>
            <a:r>
              <a:rPr lang="vi-VN" dirty="0"/>
              <a:t> Tức là thông tin mỗi server nắm giữ luôn </a:t>
            </a:r>
            <a:r>
              <a:rPr lang="vi-VN" b="1" dirty="0"/>
              <a:t>không vượt quá</a:t>
            </a:r>
            <a:r>
              <a:rPr lang="vi-VN" dirty="0"/>
              <a:t> giá trị thực tế.</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46</a:t>
            </a:fld>
            <a:endParaRPr lang="en-US"/>
          </a:p>
        </p:txBody>
      </p:sp>
    </p:spTree>
    <p:extLst>
      <p:ext uri="{BB962C8B-B14F-4D97-AF65-F5344CB8AC3E}">
        <p14:creationId xmlns:p14="http://schemas.microsoft.com/office/powerpoint/2010/main" val="17420152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Continuous consistency – Numerical errors (part: Solution)</a:t>
            </a:r>
            <a:endParaRPr lang="vi-VN" b="1" dirty="0"/>
          </a:p>
          <a:p>
            <a:endParaRPr lang="en-US" b="1" dirty="0"/>
          </a:p>
          <a:p>
            <a:r>
              <a:rPr lang="vi-VN" b="1" dirty="0"/>
              <a:t>Mục tiêu của slide</a:t>
            </a:r>
          </a:p>
          <a:p>
            <a:r>
              <a:rPr lang="vi-VN" dirty="0"/>
              <a:t>Slide này mô tả </a:t>
            </a:r>
            <a:r>
              <a:rPr lang="vi-VN" b="1" dirty="0"/>
              <a:t>cách hệ thống xử lý khi sai số giữa các replica trở nên quá lớn</a:t>
            </a:r>
            <a:r>
              <a:rPr lang="vi-VN" dirty="0"/>
              <a:t> trong mô hình </a:t>
            </a:r>
            <a:r>
              <a:rPr lang="vi-VN" i="1" dirty="0"/>
              <a:t>continuous consistency</a:t>
            </a:r>
            <a:r>
              <a:rPr lang="vi-VN" dirty="0"/>
              <a:t>.</a:t>
            </a:r>
          </a:p>
          <a:p>
            <a:r>
              <a:rPr lang="vi-VN" dirty="0"/>
              <a:t>Ở slide trước, ta có yêu cầu:</a:t>
            </a:r>
          </a:p>
          <a:p>
            <a:r>
              <a:rPr lang="vi-VN" dirty="0"/>
              <a:t>v(t)−vi&lt;</a:t>
            </a:r>
            <a:r>
              <a:rPr lang="el-GR" dirty="0"/>
              <a:t>δ</a:t>
            </a:r>
            <a:r>
              <a:rPr lang="vi-VN" dirty="0"/>
              <a:t>→ Mỗi replica S_i​ phải luôn “gần đúng” với giá trị thực tế, trong mức sai số cho phép </a:t>
            </a:r>
            <a:r>
              <a:rPr lang="el-GR" dirty="0"/>
              <a:t>δ</a:t>
            </a:r>
            <a:r>
              <a:rPr lang="en-US" dirty="0"/>
              <a:t>_</a:t>
            </a:r>
            <a:r>
              <a:rPr lang="vi-VN" dirty="0"/>
              <a:t>i​.</a:t>
            </a:r>
          </a:p>
          <a:p>
            <a:endParaRPr lang="en-US" b="1" dirty="0"/>
          </a:p>
          <a:p>
            <a:r>
              <a:rPr lang="vi-VN" b="1" dirty="0"/>
              <a:t>Nội dung slide</a:t>
            </a:r>
          </a:p>
          <a:p>
            <a:r>
              <a:rPr lang="vi-VN" b="1" dirty="0"/>
              <a:t>Solution (Giải pháp)</a:t>
            </a:r>
            <a:endParaRPr lang="vi-VN" dirty="0"/>
          </a:p>
          <a:p>
            <a:r>
              <a:rPr lang="vi-VN" dirty="0"/>
              <a:t>Server S_k​ sẽ gửi các update trong log của nó đến server S_i​ </a:t>
            </a:r>
            <a:r>
              <a:rPr lang="vi-VN" b="1" dirty="0"/>
              <a:t>khi nó phát hiện rằng sai số giữa hai bên đang tăng quá mức</a:t>
            </a:r>
            <a:r>
              <a:rPr lang="vi-VN" dirty="0"/>
              <a:t>.</a:t>
            </a:r>
          </a:p>
          <a:p>
            <a:r>
              <a:rPr lang="vi-VN" dirty="0"/>
              <a:t>Điều kiện cụ thể:</a:t>
            </a:r>
          </a:p>
          <a:p>
            <a:r>
              <a:rPr lang="vi-VN" dirty="0"/>
              <a:t>TW[k,k]−TWk[i,k]&gt;</a:t>
            </a:r>
            <a:r>
              <a:rPr lang="el-GR" dirty="0"/>
              <a:t>δ</a:t>
            </a:r>
            <a:r>
              <a:rPr lang="vi-VN" dirty="0"/>
              <a:t>i/(N−1)</a:t>
            </a:r>
            <a:endParaRPr lang="en-US" dirty="0"/>
          </a:p>
          <a:p>
            <a:r>
              <a:rPr lang="vi-VN" dirty="0"/>
              <a:t>Trong đó:</a:t>
            </a:r>
          </a:p>
          <a:p>
            <a:r>
              <a:rPr lang="vi-VN" dirty="0"/>
              <a:t>Ký hiệu</a:t>
            </a:r>
            <a:r>
              <a:rPr lang="en-US" dirty="0"/>
              <a:t>	</a:t>
            </a:r>
            <a:r>
              <a:rPr lang="vi-VN" dirty="0"/>
              <a:t>Ý nghĩa</a:t>
            </a:r>
            <a:endParaRPr lang="en-US" dirty="0"/>
          </a:p>
          <a:p>
            <a:r>
              <a:rPr lang="vi-VN" dirty="0"/>
              <a:t>TW[k,k]</a:t>
            </a:r>
            <a:r>
              <a:rPr lang="en-US" dirty="0"/>
              <a:t>	</a:t>
            </a:r>
            <a:r>
              <a:rPr lang="vi-VN" dirty="0"/>
              <a:t>Tổng giá trị cập nhật mà server S_k​ đã thực hiện lên data</a:t>
            </a:r>
            <a:endParaRPr lang="en-US" dirty="0"/>
          </a:p>
          <a:p>
            <a:r>
              <a:rPr lang="vi-VN" dirty="0"/>
              <a:t>TW_k[i,k]</a:t>
            </a:r>
            <a:r>
              <a:rPr lang="en-US" dirty="0"/>
              <a:t>	</a:t>
            </a:r>
            <a:r>
              <a:rPr lang="vi-VN" dirty="0"/>
              <a:t>Giá trị mà S_k​ tin rằng S_i​ đã nhận từ S_k</a:t>
            </a:r>
            <a:endParaRPr lang="en-US" dirty="0"/>
          </a:p>
          <a:p>
            <a:r>
              <a:rPr lang="vi-VN" dirty="0"/>
              <a:t>N</a:t>
            </a:r>
            <a:r>
              <a:rPr lang="en-US" dirty="0"/>
              <a:t>	</a:t>
            </a:r>
            <a:r>
              <a:rPr lang="vi-VN" dirty="0"/>
              <a:t>Số lượng replica trong hệ thống</a:t>
            </a:r>
            <a:endParaRPr lang="en-US" dirty="0"/>
          </a:p>
          <a:p>
            <a:r>
              <a:rPr lang="el-GR" dirty="0"/>
              <a:t>Δ</a:t>
            </a:r>
            <a:r>
              <a:rPr lang="en-US" dirty="0"/>
              <a:t>	</a:t>
            </a:r>
            <a:r>
              <a:rPr lang="vi-VN" dirty="0"/>
              <a:t>​Sai số cho phép của replica S_i​</a:t>
            </a:r>
          </a:p>
          <a:p>
            <a:r>
              <a:rPr lang="vi-VN" dirty="0"/>
              <a:t>Nếu chênh lệch </a:t>
            </a:r>
            <a:r>
              <a:rPr lang="vi-VN" b="1" dirty="0"/>
              <a:t>giữa những gì S_k​ đã thực hiện và những gì nó nghĩ S_i​ biết</a:t>
            </a:r>
            <a:r>
              <a:rPr lang="vi-VN" dirty="0"/>
              <a:t> vượt quá một phần sai số cho phép, S_k​ sẽ đẩy update sang S_</a:t>
            </a:r>
            <a:r>
              <a:rPr lang="en-US" dirty="0" err="1"/>
              <a:t>i</a:t>
            </a:r>
            <a:r>
              <a:rPr lang="vi-VN" dirty="0"/>
              <a:t>​.</a:t>
            </a:r>
          </a:p>
          <a:p>
            <a:endParaRPr lang="en-US" b="1" dirty="0"/>
          </a:p>
          <a:p>
            <a:r>
              <a:rPr lang="vi-VN" b="1" dirty="0"/>
              <a:t>Question trong slide</a:t>
            </a:r>
          </a:p>
          <a:p>
            <a:r>
              <a:rPr lang="vi-VN" dirty="0"/>
              <a:t>"Tại sao lại chia sai số cho (N − 1)?"</a:t>
            </a:r>
          </a:p>
          <a:p>
            <a:r>
              <a:rPr lang="vi-VN" dirty="0"/>
              <a:t>Câu hỏi này ám chỉ: hệ thống đang </a:t>
            </a:r>
            <a:r>
              <a:rPr lang="vi-VN" b="1" dirty="0"/>
              <a:t>pessimistic (bi quan)</a:t>
            </a:r>
            <a:r>
              <a:rPr lang="en-US" b="1" dirty="0"/>
              <a:t>	</a:t>
            </a:r>
            <a:r>
              <a:rPr lang="vi-VN" dirty="0"/>
              <a:t>—</a:t>
            </a:r>
            <a:r>
              <a:rPr lang="en-US" dirty="0"/>
              <a:t>	</a:t>
            </a:r>
            <a:r>
              <a:rPr lang="vi-VN" dirty="0"/>
              <a:t>giả sử rằng </a:t>
            </a:r>
            <a:r>
              <a:rPr lang="vi-VN" b="1" dirty="0"/>
              <a:t>tất cả các replica còn lại</a:t>
            </a:r>
            <a:r>
              <a:rPr lang="vi-VN" dirty="0"/>
              <a:t> đều có thể gây ra sai số.</a:t>
            </a:r>
          </a:p>
          <a:p>
            <a:r>
              <a:rPr lang="vi-VN" dirty="0"/>
              <a:t>Vì vậy, để đảm bảo sai số tổng thể &lt; </a:t>
            </a:r>
            <a:r>
              <a:rPr lang="el-GR" dirty="0"/>
              <a:t>δ</a:t>
            </a:r>
            <a:r>
              <a:rPr lang="vi-VN" dirty="0"/>
              <a:t>i​, mỗi replica chỉ được gây ra tối đa:</a:t>
            </a:r>
          </a:p>
          <a:p>
            <a:r>
              <a:rPr lang="el-GR" dirty="0"/>
              <a:t>Δ</a:t>
            </a:r>
            <a:r>
              <a:rPr lang="en-US" dirty="0"/>
              <a:t>_</a:t>
            </a:r>
            <a:r>
              <a:rPr lang="vi-VN" dirty="0"/>
              <a:t>i/(N−1) → Cách tính này giúp </a:t>
            </a:r>
            <a:r>
              <a:rPr lang="vi-VN" b="1" dirty="0"/>
              <a:t>phân bổ sai số cho các replica còn lại</a:t>
            </a:r>
            <a:r>
              <a:rPr lang="vi-VN" dirty="0"/>
              <a:t> để tổng sai số không vượt ngưỡng.</a:t>
            </a:r>
          </a:p>
          <a:p>
            <a:endParaRPr lang="en-US" b="1" dirty="0"/>
          </a:p>
          <a:p>
            <a:r>
              <a:rPr lang="vi-VN" b="1" dirty="0"/>
              <a:t>Note (Ghi chú)</a:t>
            </a:r>
          </a:p>
          <a:p>
            <a:r>
              <a:rPr lang="vi-VN" dirty="0"/>
              <a:t>Ta cũng có thể áp dụng tương tự để kiểm soát </a:t>
            </a:r>
            <a:r>
              <a:rPr lang="vi-VN" b="1" dirty="0"/>
              <a:t>độ cũ của dữ liệu</a:t>
            </a:r>
            <a:r>
              <a:rPr lang="vi-VN" dirty="0"/>
              <a:t> (staleness).</a:t>
            </a:r>
          </a:p>
          <a:p>
            <a:r>
              <a:rPr lang="vi-VN" dirty="0"/>
              <a:t>Ý nghĩa: không chỉ kiểm tra sai số về mặt giá trị số (numerical deviation) mà còn có thể kiểm soát sự chậm trễ về mặt thời gian.</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49</a:t>
            </a:fld>
            <a:endParaRPr lang="en-US"/>
          </a:p>
        </p:txBody>
      </p:sp>
    </p:spTree>
    <p:extLst>
      <p:ext uri="{BB962C8B-B14F-4D97-AF65-F5344CB8AC3E}">
        <p14:creationId xmlns:p14="http://schemas.microsoft.com/office/powerpoint/2010/main" val="7449287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Primary-based protocols – Primary-backup protocol</a:t>
            </a:r>
            <a:endParaRPr lang="vi-VN" b="1" dirty="0"/>
          </a:p>
          <a:p>
            <a:r>
              <a:rPr lang="vi-VN" b="1" dirty="0"/>
              <a:t>Ý tưởng chính</a:t>
            </a:r>
          </a:p>
          <a:p>
            <a:r>
              <a:rPr lang="vi-VN" dirty="0"/>
              <a:t>Đây là </a:t>
            </a:r>
            <a:r>
              <a:rPr lang="vi-VN" b="1" dirty="0"/>
              <a:t>một giao thức đảm bảo tính nhất quán</a:t>
            </a:r>
            <a:r>
              <a:rPr lang="vi-VN" dirty="0"/>
              <a:t> trong hệ thống có nhiều bản sao (replicas).</a:t>
            </a:r>
            <a:br>
              <a:rPr lang="vi-VN" dirty="0"/>
            </a:br>
            <a:r>
              <a:rPr lang="vi-VN" dirty="0"/>
              <a:t>→ Có </a:t>
            </a:r>
            <a:r>
              <a:rPr lang="vi-VN" b="1" dirty="0"/>
              <a:t>một server đóng vai trò </a:t>
            </a:r>
            <a:r>
              <a:rPr lang="vi-VN" b="1" i="1" dirty="0"/>
              <a:t>Primary</a:t>
            </a:r>
            <a:r>
              <a:rPr lang="vi-VN" dirty="0"/>
              <a:t> (chính) xử lý tất cả các </a:t>
            </a:r>
            <a:r>
              <a:rPr lang="vi-VN" b="1" dirty="0"/>
              <a:t>operation ghi (write)</a:t>
            </a:r>
            <a:r>
              <a:rPr lang="vi-VN" dirty="0"/>
              <a:t>.</a:t>
            </a:r>
          </a:p>
          <a:p>
            <a:r>
              <a:rPr lang="vi-VN" dirty="0"/>
              <a:t>Các bản sao còn lại là </a:t>
            </a:r>
            <a:r>
              <a:rPr lang="vi-VN" b="1" dirty="0"/>
              <a:t>Backup servers</a:t>
            </a:r>
            <a:r>
              <a:rPr lang="vi-VN" dirty="0"/>
              <a:t>, chỉ sao chép theo lệnh của Primary.</a:t>
            </a:r>
          </a:p>
          <a:p>
            <a:endParaRPr lang="en-US" b="1" dirty="0"/>
          </a:p>
          <a:p>
            <a:r>
              <a:rPr lang="vi-VN" b="1" dirty="0"/>
              <a:t>Quy trình hoạt động (theo số W1, W2, … trong hình)</a:t>
            </a:r>
          </a:p>
          <a:p>
            <a:r>
              <a:rPr lang="vi-VN" dirty="0"/>
              <a:t>Bước</a:t>
            </a:r>
            <a:r>
              <a:rPr lang="en-US" dirty="0"/>
              <a:t>			</a:t>
            </a:r>
            <a:r>
              <a:rPr lang="vi-VN" dirty="0"/>
              <a:t>Mô tả</a:t>
            </a:r>
            <a:endParaRPr lang="en-US" dirty="0"/>
          </a:p>
          <a:p>
            <a:r>
              <a:rPr lang="vi-VN" b="1" dirty="0"/>
              <a:t>W1 – Write request</a:t>
            </a:r>
            <a:r>
              <a:rPr lang="en-US" b="1" dirty="0"/>
              <a:t>		</a:t>
            </a:r>
            <a:r>
              <a:rPr lang="vi-VN" dirty="0"/>
              <a:t>Client gửi yêu cầu ghi đến một replica gần nhất (có thể là backup).</a:t>
            </a:r>
            <a:endParaRPr lang="en-US" dirty="0"/>
          </a:p>
          <a:p>
            <a:r>
              <a:rPr lang="vi-VN" b="1" dirty="0"/>
              <a:t>W2 – Forward request to primary</a:t>
            </a:r>
            <a:r>
              <a:rPr lang="en-US" b="1" dirty="0"/>
              <a:t>	</a:t>
            </a:r>
            <a:r>
              <a:rPr lang="vi-VN" dirty="0"/>
              <a:t>Replica nhận yêu cầu chuyển tiếp (forward) yêu cầu đó đến Primary server.</a:t>
            </a:r>
            <a:endParaRPr lang="en-US" dirty="0"/>
          </a:p>
          <a:p>
            <a:r>
              <a:rPr lang="vi-VN" b="1" dirty="0"/>
              <a:t>W3 – Tell backups to update</a:t>
            </a:r>
            <a:r>
              <a:rPr lang="en-US" b="1" dirty="0"/>
              <a:t>	</a:t>
            </a:r>
            <a:r>
              <a:rPr lang="vi-VN" dirty="0"/>
              <a:t>Primary server cập nhật dữ liệu trước, sau đó gửi lệnh cho các backup replicas cập nhật.</a:t>
            </a:r>
            <a:endParaRPr lang="en-US" dirty="0"/>
          </a:p>
          <a:p>
            <a:r>
              <a:rPr lang="vi-VN" b="1" dirty="0"/>
              <a:t>W4 – Acknowledge update</a:t>
            </a:r>
            <a:r>
              <a:rPr lang="en-US" b="1" dirty="0"/>
              <a:t>		</a:t>
            </a:r>
            <a:r>
              <a:rPr lang="vi-VN" dirty="0"/>
              <a:t>Các backup replicas cập nhật xong thì trả về xác nhận (ACK) cho Primary.</a:t>
            </a:r>
            <a:endParaRPr lang="en-US" dirty="0"/>
          </a:p>
          <a:p>
            <a:r>
              <a:rPr lang="vi-VN" b="1" dirty="0"/>
              <a:t>W5 – Acknowledge write completed</a:t>
            </a:r>
            <a:r>
              <a:rPr lang="en-US" b="1" dirty="0"/>
              <a:t>	</a:t>
            </a:r>
            <a:r>
              <a:rPr lang="vi-VN" dirty="0"/>
              <a:t>Primary gửi thông báo lại cho client rằng thao tác ghi đã hoàn thành.</a:t>
            </a:r>
          </a:p>
          <a:p>
            <a:r>
              <a:rPr lang="en-US" dirty="0"/>
              <a:t>=&gt;</a:t>
            </a:r>
            <a:r>
              <a:rPr lang="vi-VN" dirty="0"/>
              <a:t> Chỉ khi tất cả các backup cập nhật thành công thì write mới được xem là </a:t>
            </a:r>
            <a:r>
              <a:rPr lang="vi-VN" i="1" dirty="0"/>
              <a:t>completed</a:t>
            </a:r>
            <a:r>
              <a:rPr lang="vi-VN" dirty="0"/>
              <a:t>.</a:t>
            </a:r>
          </a:p>
          <a:p>
            <a:endParaRPr lang="en-US" b="1" dirty="0"/>
          </a:p>
          <a:p>
            <a:r>
              <a:rPr lang="vi-VN" b="1" dirty="0"/>
              <a:t>Đối với thao tác đọc (Read)</a:t>
            </a:r>
          </a:p>
          <a:p>
            <a:r>
              <a:rPr lang="vi-VN" dirty="0"/>
              <a:t>Bước</a:t>
            </a:r>
            <a:r>
              <a:rPr lang="en-US" dirty="0"/>
              <a:t>		</a:t>
            </a:r>
            <a:r>
              <a:rPr lang="vi-VN" dirty="0"/>
              <a:t>Mô tả</a:t>
            </a:r>
            <a:endParaRPr lang="en-US" dirty="0"/>
          </a:p>
          <a:p>
            <a:r>
              <a:rPr lang="vi-VN" b="1" dirty="0"/>
              <a:t>R1 – Read request</a:t>
            </a:r>
            <a:r>
              <a:rPr lang="en-US" b="1" dirty="0"/>
              <a:t>	</a:t>
            </a:r>
            <a:r>
              <a:rPr lang="vi-VN" dirty="0"/>
              <a:t>Client gửi yêu cầu đọc dữ liệu đến một replica (thường là Primary hoặc replica được chỉ định).</a:t>
            </a:r>
            <a:endParaRPr lang="en-US" dirty="0"/>
          </a:p>
          <a:p>
            <a:r>
              <a:rPr lang="vi-VN" b="1" dirty="0"/>
              <a:t>R2 – Response to read</a:t>
            </a:r>
            <a:r>
              <a:rPr lang="en-US" b="1" dirty="0"/>
              <a:t>	</a:t>
            </a:r>
            <a:r>
              <a:rPr lang="vi-VN" dirty="0"/>
              <a:t>Replica trả về dữ liệu cho client.</a:t>
            </a:r>
          </a:p>
          <a:p>
            <a:r>
              <a:rPr lang="vi-VN" i="1" dirty="0"/>
              <a:t>Thông thường để đảm bảo nhất quán, read được ưu tiên từ Primary.</a:t>
            </a:r>
            <a:endParaRPr lang="vi-VN" dirty="0"/>
          </a:p>
          <a:p>
            <a:endParaRPr lang="en-US" b="1" dirty="0"/>
          </a:p>
          <a:p>
            <a:r>
              <a:rPr lang="vi-VN" b="1" dirty="0"/>
              <a:t>Khi nào dùng giao thức này?</a:t>
            </a:r>
          </a:p>
          <a:p>
            <a:r>
              <a:rPr lang="vi-VN" dirty="0"/>
              <a:t>Giao thức </a:t>
            </a:r>
            <a:r>
              <a:rPr lang="vi-VN" b="1" dirty="0"/>
              <a:t>Primary–Backup</a:t>
            </a:r>
            <a:r>
              <a:rPr lang="vi-VN" dirty="0"/>
              <a:t> thường dùng trong database phân tán hoặc hệ thống file </a:t>
            </a:r>
            <a:r>
              <a:rPr lang="vi-VN" b="1" dirty="0"/>
              <a:t>có yêu cầu cao về tính toàn vẹn và chịu lỗi (fault tolerance).</a:t>
            </a:r>
            <a:endParaRPr lang="vi-VN" dirty="0"/>
          </a:p>
          <a:p>
            <a:pPr>
              <a:buFont typeface="Arial" panose="020B0604020202020204" pitchFamily="34" charset="0"/>
              <a:buChar char="•"/>
            </a:pPr>
            <a:r>
              <a:rPr lang="vi-VN" dirty="0"/>
              <a:t>Thường đặt các server trong cùng LAN để giảm độ trễ giao tiếp.</a:t>
            </a:r>
          </a:p>
          <a:p>
            <a:pPr>
              <a:buFont typeface="Arial" panose="020B0604020202020204" pitchFamily="34" charset="0"/>
              <a:buChar char="•"/>
            </a:pPr>
            <a:r>
              <a:rPr lang="vi-VN" dirty="0"/>
              <a:t>Phù hợp cho </a:t>
            </a:r>
            <a:r>
              <a:rPr lang="vi-VN" b="1" dirty="0"/>
              <a:t>môi trường write nhiều, cần đảm bảo tính nhất quán chặt chẽ</a:t>
            </a:r>
            <a:r>
              <a:rPr lang="vi-VN" dirty="0"/>
              <a:t>.</a:t>
            </a:r>
          </a:p>
          <a:p>
            <a:endParaRPr lang="en-US" b="1" dirty="0"/>
          </a:p>
          <a:p>
            <a:r>
              <a:rPr lang="vi-VN" b="1" dirty="0"/>
              <a:t>Ưu điểm</a:t>
            </a:r>
          </a:p>
          <a:p>
            <a:r>
              <a:rPr lang="vi-VN" dirty="0"/>
              <a:t>Ưu điểm</a:t>
            </a:r>
            <a:r>
              <a:rPr lang="en-US" dirty="0"/>
              <a:t>			</a:t>
            </a:r>
            <a:r>
              <a:rPr lang="vi-VN" dirty="0"/>
              <a:t>Giải thích</a:t>
            </a:r>
            <a:endParaRPr lang="en-US" dirty="0"/>
          </a:p>
          <a:p>
            <a:r>
              <a:rPr lang="vi-VN" dirty="0"/>
              <a:t>Đơn giản và rõ r</a:t>
            </a:r>
            <a:r>
              <a:rPr lang="en-US" dirty="0"/>
              <a:t>à</a:t>
            </a:r>
            <a:r>
              <a:rPr lang="vi-VN" dirty="0"/>
              <a:t>ng</a:t>
            </a:r>
            <a:r>
              <a:rPr lang="en-US" dirty="0"/>
              <a:t>		</a:t>
            </a:r>
            <a:r>
              <a:rPr lang="vi-VN" dirty="0"/>
              <a:t>Primary kiểm soát mọi cập nhật nên dễ duy trì nhất quán.</a:t>
            </a:r>
            <a:endParaRPr lang="en-US" dirty="0"/>
          </a:p>
          <a:p>
            <a:r>
              <a:rPr lang="vi-VN" dirty="0"/>
              <a:t>Hỗ trợ fault tolerance</a:t>
            </a:r>
            <a:r>
              <a:rPr lang="en-US" dirty="0"/>
              <a:t>		</a:t>
            </a:r>
            <a:r>
              <a:rPr lang="vi-VN" dirty="0"/>
              <a:t>Nếu Primary hỏng, một Backup có thể được chọn lên thay thế.</a:t>
            </a:r>
            <a:endParaRPr lang="en-US" dirty="0"/>
          </a:p>
          <a:p>
            <a:r>
              <a:rPr lang="vi-VN" dirty="0"/>
              <a:t>Đảm bảo </a:t>
            </a:r>
            <a:r>
              <a:rPr lang="vi-VN" i="1" dirty="0"/>
              <a:t>sequential consistency</a:t>
            </a:r>
            <a:r>
              <a:rPr lang="en-US" i="1" dirty="0"/>
              <a:t>	</a:t>
            </a:r>
            <a:r>
              <a:rPr lang="vi-VN" dirty="0"/>
              <a:t>Tất cả write đều đi qua Primary, nên thứ tự write được giữ nguyên.</a:t>
            </a:r>
          </a:p>
          <a:p>
            <a:endParaRPr lang="en-US" b="1" dirty="0"/>
          </a:p>
          <a:p>
            <a:r>
              <a:rPr lang="vi-VN" b="1" dirty="0"/>
              <a:t>Nhược điểm</a:t>
            </a:r>
          </a:p>
          <a:p>
            <a:r>
              <a:rPr lang="vi-VN" dirty="0"/>
              <a:t>Nhược điểm</a:t>
            </a:r>
            <a:r>
              <a:rPr lang="en-US" dirty="0"/>
              <a:t>			</a:t>
            </a:r>
            <a:r>
              <a:rPr lang="vi-VN" dirty="0"/>
              <a:t>Giải thích</a:t>
            </a:r>
            <a:endParaRPr lang="en-US" dirty="0"/>
          </a:p>
          <a:p>
            <a:r>
              <a:rPr lang="vi-VN" dirty="0"/>
              <a:t>Điểm lỗi duy nhất (single point of failure)</a:t>
            </a:r>
            <a:r>
              <a:rPr lang="en-US" dirty="0"/>
              <a:t>	</a:t>
            </a:r>
            <a:r>
              <a:rPr lang="vi-VN" dirty="0"/>
              <a:t>Nếu Primary hỏng nhưng chưa failover → hệ thống dừng.</a:t>
            </a:r>
            <a:endParaRPr lang="en-US" dirty="0"/>
          </a:p>
          <a:p>
            <a:r>
              <a:rPr lang="vi-VN" dirty="0"/>
              <a:t>Write chậm hơn</a:t>
            </a:r>
            <a:r>
              <a:rPr lang="en-US" dirty="0"/>
              <a:t>		</a:t>
            </a:r>
            <a:r>
              <a:rPr lang="vi-VN" dirty="0"/>
              <a:t>Vì phải đồng bộ với Backup trước khi báo hoàn thành.</a:t>
            </a:r>
            <a:endParaRPr lang="en-US" dirty="0"/>
          </a:p>
          <a:p>
            <a:r>
              <a:rPr lang="vi-VN" dirty="0"/>
              <a:t>Primary có thể quá tải</a:t>
            </a:r>
            <a:r>
              <a:rPr lang="en-US" dirty="0"/>
              <a:t>		</a:t>
            </a:r>
            <a:r>
              <a:rPr lang="vi-VN" dirty="0"/>
              <a:t>Tất cả write đều dồn vào Primary.</a:t>
            </a:r>
          </a:p>
          <a:p>
            <a:endParaRPr lang="en-US" b="1" dirty="0"/>
          </a:p>
          <a:p>
            <a:r>
              <a:rPr lang="vi-VN" b="1" dirty="0"/>
              <a:t>Tóm tắt</a:t>
            </a:r>
          </a:p>
          <a:p>
            <a:pPr>
              <a:buFont typeface="Arial" panose="020B0604020202020204" pitchFamily="34" charset="0"/>
              <a:buChar char="•"/>
            </a:pPr>
            <a:r>
              <a:rPr lang="vi-VN" dirty="0"/>
              <a:t>Client chỉ ghi thông qua Primary.</a:t>
            </a:r>
          </a:p>
          <a:p>
            <a:pPr>
              <a:buFont typeface="Arial" panose="020B0604020202020204" pitchFamily="34" charset="0"/>
              <a:buChar char="•"/>
            </a:pPr>
            <a:r>
              <a:rPr lang="vi-VN" dirty="0"/>
              <a:t>Primary cập nhật xong mới yêu cầu backup cập nhật.</a:t>
            </a:r>
          </a:p>
          <a:p>
            <a:pPr>
              <a:buFont typeface="Arial" panose="020B0604020202020204" pitchFamily="34" charset="0"/>
              <a:buChar char="•"/>
            </a:pPr>
            <a:r>
              <a:rPr lang="vi-VN" dirty="0"/>
              <a:t>Đảm bảo backup luôn đồng bộ với Primary → nhất quán dữ liệu.</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51</a:t>
            </a:fld>
            <a:endParaRPr lang="en-US"/>
          </a:p>
        </p:txBody>
      </p:sp>
    </p:spTree>
    <p:extLst>
      <p:ext uri="{BB962C8B-B14F-4D97-AF65-F5344CB8AC3E}">
        <p14:creationId xmlns:p14="http://schemas.microsoft.com/office/powerpoint/2010/main" val="22320463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t>Primary-backup protocol with local writes</a:t>
            </a:r>
            <a:endParaRPr lang="vi-VN" b="1" dirty="0"/>
          </a:p>
          <a:p>
            <a:endParaRPr lang="en-US" b="1" dirty="0"/>
          </a:p>
          <a:p>
            <a:r>
              <a:rPr lang="vi-VN" b="1" dirty="0"/>
              <a:t>1. Ý tưởng chung</a:t>
            </a:r>
          </a:p>
          <a:p>
            <a:r>
              <a:rPr lang="vi-VN" dirty="0"/>
              <a:t>Đây là biến thể của mô hình </a:t>
            </a:r>
            <a:r>
              <a:rPr lang="vi-VN" b="1" dirty="0"/>
              <a:t>Primary–Backup Protocol</a:t>
            </a:r>
            <a:r>
              <a:rPr lang="vi-VN" dirty="0"/>
              <a:t>, nhưng có thêm tính năng </a:t>
            </a:r>
            <a:r>
              <a:rPr lang="vi-VN" b="1" dirty="0"/>
              <a:t>local writes</a:t>
            </a:r>
            <a:r>
              <a:rPr lang="vi-VN" dirty="0"/>
              <a:t>.</a:t>
            </a:r>
          </a:p>
          <a:p>
            <a:r>
              <a:rPr lang="en-US" dirty="0"/>
              <a:t>=&gt; </a:t>
            </a:r>
            <a:r>
              <a:rPr lang="vi-VN" dirty="0"/>
              <a:t>Mỗi dữ liệu (item </a:t>
            </a:r>
            <a:r>
              <a:rPr lang="vi-VN" i="1" dirty="0"/>
              <a:t>x</a:t>
            </a:r>
            <a:r>
              <a:rPr lang="vi-VN" dirty="0"/>
              <a:t>) vẫn có </a:t>
            </a:r>
            <a:r>
              <a:rPr lang="vi-VN" b="1" dirty="0"/>
              <a:t>một primary server chịu trách nhiệm chính</a:t>
            </a:r>
            <a:r>
              <a:rPr lang="vi-VN" dirty="0"/>
              <a:t> cho các thao tác ghi (write).</a:t>
            </a:r>
            <a:br>
              <a:rPr lang="vi-VN" dirty="0"/>
            </a:br>
            <a:r>
              <a:rPr lang="en-US" dirty="0"/>
              <a:t>=&gt; </a:t>
            </a:r>
            <a:r>
              <a:rPr lang="vi-VN" dirty="0"/>
              <a:t>Tuy nhiên, primary có thể được </a:t>
            </a:r>
            <a:r>
              <a:rPr lang="vi-VN" b="1" dirty="0"/>
              <a:t>di chuyển</a:t>
            </a:r>
            <a:r>
              <a:rPr lang="vi-VN" dirty="0"/>
              <a:t> sang server khác nếu cần (đặc biệt trong môi trường mobile/disconnected computing).</a:t>
            </a:r>
          </a:p>
          <a:p>
            <a:endParaRPr lang="en-US" b="1" dirty="0"/>
          </a:p>
          <a:p>
            <a:r>
              <a:rPr lang="vi-VN" b="1" dirty="0"/>
              <a:t>2. Diễn giải theo luồng hoạt động (W1 → W5, R1 → R2)</a:t>
            </a:r>
          </a:p>
          <a:p>
            <a:r>
              <a:rPr lang="vi-VN" dirty="0"/>
              <a:t>Bước</a:t>
            </a:r>
            <a:r>
              <a:rPr lang="en-US" dirty="0"/>
              <a:t>			</a:t>
            </a:r>
            <a:r>
              <a:rPr lang="vi-VN" dirty="0"/>
              <a:t>Sự kiện diễn ra</a:t>
            </a:r>
            <a:endParaRPr lang="en-US" dirty="0"/>
          </a:p>
          <a:p>
            <a:r>
              <a:rPr lang="vi-VN" b="1" dirty="0"/>
              <a:t>W1 – Write request</a:t>
            </a:r>
            <a:r>
              <a:rPr lang="en-US" b="1" dirty="0"/>
              <a:t>		</a:t>
            </a:r>
            <a:r>
              <a:rPr lang="vi-VN" dirty="0"/>
              <a:t>Client gửi yêu cầu ghi dữ liệu </a:t>
            </a:r>
            <a:r>
              <a:rPr lang="vi-VN" i="1" dirty="0"/>
              <a:t>x</a:t>
            </a:r>
            <a:r>
              <a:rPr lang="vi-VN" dirty="0"/>
              <a:t> tới server mà nó đang kết nối (new primary).</a:t>
            </a:r>
            <a:endParaRPr lang="en-US" dirty="0"/>
          </a:p>
          <a:p>
            <a:r>
              <a:rPr lang="vi-VN" b="1" dirty="0"/>
              <a:t>W2 – Move item x to new primary</a:t>
            </a:r>
            <a:r>
              <a:rPr lang="en-US" b="1" dirty="0"/>
              <a:t>	</a:t>
            </a:r>
            <a:r>
              <a:rPr lang="vi-VN" dirty="0"/>
              <a:t>Hệ thống di chuyển item </a:t>
            </a:r>
            <a:r>
              <a:rPr lang="vi-VN" i="1" dirty="0"/>
              <a:t>x</a:t>
            </a:r>
            <a:r>
              <a:rPr lang="vi-VN" dirty="0"/>
              <a:t> từ primary cũ sang primary mới.</a:t>
            </a:r>
            <a:endParaRPr lang="en-US" dirty="0"/>
          </a:p>
          <a:p>
            <a:r>
              <a:rPr lang="vi-VN" b="1" dirty="0"/>
              <a:t>W3 – Acknowledge write completed</a:t>
            </a:r>
            <a:r>
              <a:rPr lang="en-US" b="1" dirty="0"/>
              <a:t>	</a:t>
            </a:r>
            <a:r>
              <a:rPr lang="vi-VN" dirty="0"/>
              <a:t>Primary mới ghi dữ liệu và phản hồi rằng ghi thành công.</a:t>
            </a:r>
            <a:endParaRPr lang="en-US" dirty="0"/>
          </a:p>
          <a:p>
            <a:r>
              <a:rPr lang="vi-VN" b="1" dirty="0"/>
              <a:t>W4 – Tell backups to update</a:t>
            </a:r>
            <a:r>
              <a:rPr lang="en-US" b="1" dirty="0"/>
              <a:t>	</a:t>
            </a:r>
            <a:r>
              <a:rPr lang="vi-VN" dirty="0"/>
              <a:t>Primary mới gửi bản cập nhật tới tất cả các backup server.</a:t>
            </a:r>
            <a:endParaRPr lang="en-US" dirty="0"/>
          </a:p>
          <a:p>
            <a:r>
              <a:rPr lang="vi-VN" b="1" dirty="0"/>
              <a:t>W5 – Acknowledge update</a:t>
            </a:r>
            <a:r>
              <a:rPr lang="en-US" b="1" dirty="0"/>
              <a:t>		</a:t>
            </a:r>
            <a:r>
              <a:rPr lang="vi-VN" dirty="0"/>
              <a:t>Backup server thông báo lại rằng cập nhật xong.</a:t>
            </a:r>
          </a:p>
          <a:p>
            <a:endParaRPr lang="en-US" dirty="0"/>
          </a:p>
          <a:p>
            <a:r>
              <a:rPr lang="vi-VN" dirty="0"/>
              <a:t>Song song, thao tác đọc:</a:t>
            </a:r>
          </a:p>
          <a:p>
            <a:pPr>
              <a:buFont typeface="Arial" panose="020B0604020202020204" pitchFamily="34" charset="0"/>
              <a:buChar char="•"/>
            </a:pPr>
            <a:r>
              <a:rPr lang="vi-VN" b="1" dirty="0"/>
              <a:t>R1</a:t>
            </a:r>
            <a:r>
              <a:rPr lang="vi-VN" dirty="0"/>
              <a:t>: Client gửi request đọc dữ liệu.</a:t>
            </a:r>
          </a:p>
          <a:p>
            <a:pPr>
              <a:buFont typeface="Arial" panose="020B0604020202020204" pitchFamily="34" charset="0"/>
              <a:buChar char="•"/>
            </a:pPr>
            <a:r>
              <a:rPr lang="vi-VN" b="1" dirty="0"/>
              <a:t>R2</a:t>
            </a:r>
            <a:r>
              <a:rPr lang="vi-VN" dirty="0"/>
              <a:t>: Server trả về kết quả đọc.</a:t>
            </a:r>
          </a:p>
          <a:p>
            <a:endParaRPr lang="en-US" b="1" dirty="0"/>
          </a:p>
          <a:p>
            <a:r>
              <a:rPr lang="vi-VN" b="1" dirty="0"/>
              <a:t>3. Tại sao cần "local writes"?</a:t>
            </a:r>
          </a:p>
          <a:p>
            <a:r>
              <a:rPr lang="vi-VN" dirty="0"/>
              <a:t>Trong môi trường </a:t>
            </a:r>
            <a:r>
              <a:rPr lang="vi-VN" b="1" dirty="0"/>
              <a:t>mobile computing hoặc offline mode</a:t>
            </a:r>
            <a:r>
              <a:rPr lang="vi-VN" dirty="0"/>
              <a:t>:</a:t>
            </a:r>
          </a:p>
          <a:p>
            <a:pPr>
              <a:buFont typeface="Arial" panose="020B0604020202020204" pitchFamily="34" charset="0"/>
              <a:buChar char="•"/>
            </a:pPr>
            <a:r>
              <a:rPr lang="vi-VN" dirty="0"/>
              <a:t>Người dùng có thể rời khỏi mạng hoặc di chuyển sang mạng khác.</a:t>
            </a:r>
          </a:p>
          <a:p>
            <a:pPr>
              <a:buFont typeface="Arial" panose="020B0604020202020204" pitchFamily="34" charset="0"/>
              <a:buChar char="•"/>
            </a:pPr>
            <a:r>
              <a:rPr lang="vi-VN" dirty="0"/>
              <a:t>Họ vẫn cần chỉnh sửa dữ liệu (ghi) → phải cho phép ghi </a:t>
            </a:r>
            <a:r>
              <a:rPr lang="vi-VN" b="1" dirty="0"/>
              <a:t>local</a:t>
            </a:r>
            <a:r>
              <a:rPr lang="vi-VN" dirty="0"/>
              <a:t>.</a:t>
            </a:r>
          </a:p>
          <a:p>
            <a:pPr>
              <a:buFont typeface="Arial" panose="020B0604020202020204" pitchFamily="34" charset="0"/>
              <a:buChar char="•"/>
            </a:pPr>
            <a:r>
              <a:rPr lang="vi-VN" dirty="0"/>
              <a:t>Khi kết nối trở lại, hệ thống </a:t>
            </a:r>
            <a:r>
              <a:rPr lang="vi-VN" b="1" dirty="0"/>
              <a:t>đồng bộ dữ liệu với primary mới</a:t>
            </a:r>
            <a:r>
              <a:rPr lang="vi-VN" dirty="0"/>
              <a:t> và cập nhật các bản backup.</a:t>
            </a:r>
          </a:p>
          <a:p>
            <a:r>
              <a:rPr lang="en-US" dirty="0"/>
              <a:t>* </a:t>
            </a:r>
            <a:r>
              <a:rPr lang="vi-VN" dirty="0"/>
              <a:t>Ví dụ thực tế:</a:t>
            </a:r>
          </a:p>
          <a:p>
            <a:r>
              <a:rPr lang="vi-VN" dirty="0"/>
              <a:t>Người dùng sử dụng laptop trên máy bay, chỉnh sửa tài liệu.</a:t>
            </a:r>
            <a:br>
              <a:rPr lang="vi-VN" dirty="0"/>
            </a:br>
            <a:r>
              <a:rPr lang="vi-VN" dirty="0"/>
              <a:t>Không có kết nối mạng → laptop tạm thời đóng vai trò “primary”.</a:t>
            </a:r>
            <a:br>
              <a:rPr lang="vi-VN" dirty="0"/>
            </a:br>
            <a:r>
              <a:rPr lang="vi-VN" dirty="0"/>
              <a:t>Khi máy bay hạ cánh → dữ liệu được đồng bộ về server.</a:t>
            </a:r>
          </a:p>
          <a:p>
            <a:endParaRPr lang="en-US" b="1" dirty="0"/>
          </a:p>
          <a:p>
            <a:r>
              <a:rPr lang="vi-VN" b="1" dirty="0"/>
              <a:t>4. Lợi ích chính</a:t>
            </a:r>
          </a:p>
          <a:p>
            <a:r>
              <a:rPr lang="vi-VN" dirty="0"/>
              <a:t>Lợi ích</a:t>
            </a:r>
            <a:r>
              <a:rPr lang="en-US" dirty="0"/>
              <a:t>			</a:t>
            </a:r>
            <a:r>
              <a:rPr lang="vi-VN" dirty="0"/>
              <a:t>Mô tả</a:t>
            </a:r>
            <a:endParaRPr lang="en-US" dirty="0"/>
          </a:p>
          <a:p>
            <a:r>
              <a:rPr lang="vi-VN" dirty="0"/>
              <a:t>Hỗ trợ làm việc ngoại tuyến</a:t>
            </a:r>
            <a:r>
              <a:rPr lang="en-US" dirty="0"/>
              <a:t>		</a:t>
            </a:r>
            <a:r>
              <a:rPr lang="vi-VN" dirty="0"/>
              <a:t>Không cần luôn luôn kết nối tới primary server.</a:t>
            </a:r>
            <a:endParaRPr lang="en-US" dirty="0"/>
          </a:p>
          <a:p>
            <a:r>
              <a:rPr lang="vi-VN" dirty="0"/>
              <a:t>Linh hoạt trong thay đổi primary</a:t>
            </a:r>
            <a:r>
              <a:rPr lang="en-US" dirty="0"/>
              <a:t>	</a:t>
            </a:r>
            <a:r>
              <a:rPr lang="vi-VN" dirty="0"/>
              <a:t>Cho phép chuyển quyền primary sang server mới gần user hơn.</a:t>
            </a:r>
            <a:endParaRPr lang="en-US" dirty="0"/>
          </a:p>
          <a:p>
            <a:r>
              <a:rPr lang="vi-VN" dirty="0"/>
              <a:t>Tăng hiệu năng</a:t>
            </a:r>
            <a:r>
              <a:rPr lang="en-US" dirty="0"/>
              <a:t>		</a:t>
            </a:r>
            <a:r>
              <a:rPr lang="vi-VN" dirty="0"/>
              <a:t>Giảm latency vì ghi local trước, đồng bộ sau.</a:t>
            </a:r>
          </a:p>
          <a:p>
            <a:endParaRPr lang="en-US" b="1" dirty="0"/>
          </a:p>
          <a:p>
            <a:r>
              <a:rPr lang="vi-VN" b="1" dirty="0"/>
              <a:t>5. Điểm cần lưu ý</a:t>
            </a:r>
          </a:p>
          <a:p>
            <a:pPr>
              <a:buFont typeface="Arial" panose="020B0604020202020204" pitchFamily="34" charset="0"/>
              <a:buChar char="•"/>
            </a:pPr>
            <a:r>
              <a:rPr lang="vi-VN" dirty="0"/>
              <a:t>Cần cơ chế giải quyết xung đột nếu nhiều primary tạm thời phát sinh (conflict resolution).</a:t>
            </a:r>
          </a:p>
          <a:p>
            <a:pPr>
              <a:buFont typeface="Arial" panose="020B0604020202020204" pitchFamily="34" charset="0"/>
              <a:buChar char="•"/>
            </a:pPr>
            <a:r>
              <a:rPr lang="vi-VN" dirty="0"/>
              <a:t>Đảm bảo consistency sau khi đồng bộ.</a:t>
            </a:r>
          </a:p>
          <a:p>
            <a:endParaRPr lang="en-US" b="1" dirty="0"/>
          </a:p>
          <a:p>
            <a:r>
              <a:rPr lang="vi-VN" b="1" dirty="0"/>
              <a:t>Kết luận</a:t>
            </a:r>
          </a:p>
          <a:p>
            <a:r>
              <a:rPr lang="vi-VN" dirty="0"/>
              <a:t>Primary-backup với local writes giúp khách hàng </a:t>
            </a:r>
            <a:r>
              <a:rPr lang="vi-VN" b="1" dirty="0"/>
              <a:t>vẫn có thể ghi dữ liệu khi mất kết nối</a:t>
            </a:r>
            <a:r>
              <a:rPr lang="vi-VN" dirty="0"/>
              <a:t>, và hệ thống sẽ đồng bộ lại khi kết nối trở lại.</a:t>
            </a:r>
          </a:p>
          <a:p>
            <a:r>
              <a:rPr lang="vi-VN" dirty="0"/>
              <a:t>Đây là mô hình thích hợp cho:</a:t>
            </a:r>
          </a:p>
          <a:p>
            <a:pPr>
              <a:buFont typeface="Arial" panose="020B0604020202020204" pitchFamily="34" charset="0"/>
              <a:buChar char="•"/>
            </a:pPr>
            <a:r>
              <a:rPr lang="vi-VN" dirty="0"/>
              <a:t>thiết bị di động,</a:t>
            </a:r>
          </a:p>
          <a:p>
            <a:pPr>
              <a:buFont typeface="Arial" panose="020B0604020202020204" pitchFamily="34" charset="0"/>
              <a:buChar char="•"/>
            </a:pPr>
            <a:r>
              <a:rPr lang="vi-VN" dirty="0"/>
              <a:t>ứng dụng làm việc offline (Google Drive offline mode, Dropbox sync).</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53</a:t>
            </a:fld>
            <a:endParaRPr lang="en-US"/>
          </a:p>
        </p:txBody>
      </p:sp>
    </p:spTree>
    <p:extLst>
      <p:ext uri="{BB962C8B-B14F-4D97-AF65-F5344CB8AC3E}">
        <p14:creationId xmlns:p14="http://schemas.microsoft.com/office/powerpoint/2010/main" val="3216656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Replicated-write protocols (Quorum-based protocols)</a:t>
            </a:r>
          </a:p>
          <a:p>
            <a:r>
              <a:rPr lang="vi-VN" b="1" dirty="0"/>
              <a:t>1. Ý tưởng tổng quan</a:t>
            </a:r>
          </a:p>
          <a:p>
            <a:r>
              <a:rPr lang="vi-VN" dirty="0"/>
              <a:t>Khi dữ liệu được </a:t>
            </a:r>
            <a:r>
              <a:rPr lang="vi-VN" b="1" dirty="0"/>
              <a:t>replicate (nhân bản) trên nhiều server</a:t>
            </a:r>
            <a:r>
              <a:rPr lang="vi-VN" dirty="0"/>
              <a:t>, ta phải đảm bảo rằng các thao tác đọc/ghi vẫn </a:t>
            </a:r>
            <a:r>
              <a:rPr lang="vi-VN" b="1" dirty="0"/>
              <a:t>nhất quán (consistency)</a:t>
            </a:r>
            <a:r>
              <a:rPr lang="vi-VN" dirty="0"/>
              <a:t>.</a:t>
            </a:r>
          </a:p>
          <a:p>
            <a:r>
              <a:rPr lang="en-US" dirty="0"/>
              <a:t>=&gt; </a:t>
            </a:r>
            <a:r>
              <a:rPr lang="vi-VN" dirty="0"/>
              <a:t>Giải pháp: sử dụng </a:t>
            </a:r>
            <a:r>
              <a:rPr lang="vi-VN" b="1" dirty="0"/>
              <a:t>Quorum-based protocol (giao thức dựa trên bỏ phiếu)</a:t>
            </a:r>
            <a:endParaRPr lang="vi-VN" dirty="0"/>
          </a:p>
          <a:p>
            <a:r>
              <a:rPr lang="vi-VN" dirty="0"/>
              <a:t>Mỗi thao tác đọc hoặc ghi phải được thực hiện trên </a:t>
            </a:r>
            <a:r>
              <a:rPr lang="vi-VN" b="1" dirty="0"/>
              <a:t>một tập con đủ lớn</a:t>
            </a:r>
            <a:r>
              <a:rPr lang="vi-VN" dirty="0"/>
              <a:t> của các bản sao, gọi là quorum.</a:t>
            </a:r>
          </a:p>
          <a:p>
            <a:endParaRPr lang="en-US" b="1" dirty="0"/>
          </a:p>
          <a:p>
            <a:r>
              <a:rPr lang="vi-VN" b="1" dirty="0"/>
              <a:t>2. Hai loại quorum quan trọng</a:t>
            </a:r>
          </a:p>
          <a:p>
            <a:r>
              <a:rPr lang="vi-VN" dirty="0"/>
              <a:t>Loại quorum</a:t>
            </a:r>
            <a:r>
              <a:rPr lang="en-US" dirty="0"/>
              <a:t>		</a:t>
            </a:r>
            <a:r>
              <a:rPr lang="vi-VN" dirty="0"/>
              <a:t>Ký hiệu</a:t>
            </a:r>
            <a:r>
              <a:rPr lang="en-US" dirty="0"/>
              <a:t>	</a:t>
            </a:r>
            <a:r>
              <a:rPr lang="vi-VN" dirty="0"/>
              <a:t>Ý nghĩa</a:t>
            </a:r>
            <a:endParaRPr lang="en-US" dirty="0"/>
          </a:p>
          <a:p>
            <a:r>
              <a:rPr lang="vi-VN" b="1" dirty="0"/>
              <a:t>Read quorum</a:t>
            </a:r>
            <a:r>
              <a:rPr lang="en-US" b="1" dirty="0"/>
              <a:t>		</a:t>
            </a:r>
            <a:r>
              <a:rPr lang="vi-VN" dirty="0"/>
              <a:t>N_R</a:t>
            </a:r>
            <a:r>
              <a:rPr lang="en-US" dirty="0"/>
              <a:t>	</a:t>
            </a:r>
            <a:r>
              <a:rPr lang="vi-VN" dirty="0"/>
              <a:t>​số bản sao tối thiểu cần đọc để đảm bảo đọc đúng giá trị mới nhất</a:t>
            </a:r>
            <a:endParaRPr lang="en-US" dirty="0"/>
          </a:p>
          <a:p>
            <a:r>
              <a:rPr lang="vi-VN" b="1" dirty="0"/>
              <a:t>Write quorum</a:t>
            </a:r>
            <a:r>
              <a:rPr lang="en-US" b="1" dirty="0"/>
              <a:t>	</a:t>
            </a:r>
            <a:r>
              <a:rPr lang="vi-VN" dirty="0"/>
              <a:t>N_W</a:t>
            </a:r>
            <a:r>
              <a:rPr lang="en-US" dirty="0"/>
              <a:t>	</a:t>
            </a:r>
            <a:r>
              <a:rPr lang="vi-VN" dirty="0"/>
              <a:t>​số bản sao tối thiểu phải cập nhật khi ghi dữ liệu</a:t>
            </a:r>
          </a:p>
          <a:p>
            <a:endParaRPr lang="en-US" dirty="0"/>
          </a:p>
          <a:p>
            <a:r>
              <a:rPr lang="vi-VN" dirty="0"/>
              <a:t>Để đảm bảo nhất quán, phải thỏa điều kiện:</a:t>
            </a:r>
          </a:p>
          <a:p>
            <a:pPr>
              <a:buFont typeface="+mj-lt"/>
              <a:buAutoNum type="arabicPeriod"/>
            </a:pPr>
            <a:r>
              <a:rPr lang="vi-VN" dirty="0"/>
              <a:t>N</a:t>
            </a:r>
            <a:r>
              <a:rPr lang="en-US" dirty="0"/>
              <a:t>_</a:t>
            </a:r>
            <a:r>
              <a:rPr lang="vi-VN" dirty="0"/>
              <a:t>R+N</a:t>
            </a:r>
            <a:r>
              <a:rPr lang="en-US" dirty="0"/>
              <a:t>_</a:t>
            </a:r>
            <a:r>
              <a:rPr lang="vi-VN" dirty="0"/>
              <a:t>W&gt;N</a:t>
            </a:r>
            <a:r>
              <a:rPr lang="en-US" dirty="0"/>
              <a:t> </a:t>
            </a:r>
            <a:r>
              <a:rPr lang="vi-VN" dirty="0"/>
              <a:t>→ đảm bảo tập đọc và viết </a:t>
            </a:r>
            <a:r>
              <a:rPr lang="vi-VN" b="1" dirty="0"/>
              <a:t>luôn giao nhau</a:t>
            </a:r>
            <a:r>
              <a:rPr lang="vi-VN" dirty="0"/>
              <a:t> ở ít nhất 1 replica.</a:t>
            </a:r>
          </a:p>
          <a:p>
            <a:pPr>
              <a:buFont typeface="+mj-lt"/>
              <a:buAutoNum type="arabicPeriod"/>
            </a:pPr>
            <a:r>
              <a:rPr lang="vi-VN" dirty="0"/>
              <a:t>N</a:t>
            </a:r>
            <a:r>
              <a:rPr lang="en-US" dirty="0"/>
              <a:t>_</a:t>
            </a:r>
            <a:r>
              <a:rPr lang="vi-VN" dirty="0"/>
              <a:t>W&gt;N</a:t>
            </a:r>
            <a:r>
              <a:rPr lang="en-US" dirty="0"/>
              <a:t>/</a:t>
            </a:r>
            <a:r>
              <a:rPr lang="vi-VN" dirty="0"/>
              <a:t>2​  → đảm bảo </a:t>
            </a:r>
            <a:r>
              <a:rPr lang="vi-VN" b="1" dirty="0"/>
              <a:t>không có 2 ghi đồng thời xung đột</a:t>
            </a:r>
            <a:r>
              <a:rPr lang="vi-VN" dirty="0"/>
              <a:t>.</a:t>
            </a:r>
          </a:p>
          <a:p>
            <a:endParaRPr lang="en-US" b="1" dirty="0"/>
          </a:p>
          <a:p>
            <a:r>
              <a:rPr lang="vi-VN" b="1" dirty="0"/>
              <a:t>3. Ba ví dụ trên slide</a:t>
            </a:r>
          </a:p>
          <a:p>
            <a:r>
              <a:rPr lang="vi-VN" b="1" dirty="0"/>
              <a:t>(a) Chọn đúng read quorum và write quorum</a:t>
            </a:r>
          </a:p>
          <a:p>
            <a:pPr>
              <a:buFont typeface="Arial" panose="020B0604020202020204" pitchFamily="34" charset="0"/>
              <a:buChar char="•"/>
            </a:pPr>
            <a:r>
              <a:rPr lang="vi-VN" dirty="0"/>
              <a:t>N</a:t>
            </a:r>
            <a:r>
              <a:rPr lang="en-US" dirty="0"/>
              <a:t>_</a:t>
            </a:r>
            <a:r>
              <a:rPr lang="vi-VN" dirty="0"/>
              <a:t>R=3, N_W = 10 với tổng N=12</a:t>
            </a:r>
          </a:p>
          <a:p>
            <a:pPr>
              <a:buFont typeface="Arial" panose="020B0604020202020204" pitchFamily="34" charset="0"/>
              <a:buChar char="•"/>
            </a:pPr>
            <a:r>
              <a:rPr lang="vi-VN" dirty="0"/>
              <a:t>3+10&gt;12 </a:t>
            </a:r>
            <a:r>
              <a:rPr lang="en-US" dirty="0"/>
              <a:t>=&gt; </a:t>
            </a:r>
            <a:r>
              <a:rPr lang="vi-VN" dirty="0"/>
              <a:t>hợp lệ</a:t>
            </a:r>
          </a:p>
          <a:p>
            <a:r>
              <a:rPr lang="vi-VN" dirty="0"/>
              <a:t>→ Đảm bảo đọc và ghi luôn chạm ít nhất một bản sao chung.</a:t>
            </a:r>
          </a:p>
          <a:p>
            <a:r>
              <a:rPr lang="vi-VN" b="1" dirty="0"/>
              <a:t>(b) Lựa chọn có nguy cơ gây xung đột ghi-ghi</a:t>
            </a:r>
          </a:p>
          <a:p>
            <a:pPr>
              <a:buFont typeface="Arial" panose="020B0604020202020204" pitchFamily="34" charset="0"/>
              <a:buChar char="•"/>
            </a:pPr>
            <a:r>
              <a:rPr lang="vi-VN" dirty="0"/>
              <a:t>N_R = 7, N_W = 6</a:t>
            </a:r>
          </a:p>
          <a:p>
            <a:pPr>
              <a:buFont typeface="Arial" panose="020B0604020202020204" pitchFamily="34" charset="0"/>
              <a:buChar char="•"/>
            </a:pPr>
            <a:r>
              <a:rPr lang="vi-VN" dirty="0"/>
              <a:t>7+6=13&gt;12</a:t>
            </a:r>
            <a:r>
              <a:rPr lang="en-US" dirty="0"/>
              <a:t> =&gt; </a:t>
            </a:r>
            <a:r>
              <a:rPr lang="vi-VN" dirty="0"/>
              <a:t>vẫn hợp lệ</a:t>
            </a:r>
            <a:br>
              <a:rPr lang="vi-VN" dirty="0"/>
            </a:br>
            <a:r>
              <a:rPr lang="en-US" dirty="0"/>
              <a:t>=&gt; </a:t>
            </a:r>
            <a:r>
              <a:rPr lang="vi-VN" dirty="0"/>
              <a:t>Nhưng N_W = 6 </a:t>
            </a:r>
            <a:r>
              <a:rPr lang="vi-VN" b="1" dirty="0"/>
              <a:t>chỉ bằng nửa số server</a:t>
            </a:r>
            <a:r>
              <a:rPr lang="vi-VN" dirty="0"/>
              <a:t>, nên nguy cơ hai thao tác ghi xảy ra trên hai nhóm khác nhau → xung đột có thể xảy ra.</a:t>
            </a:r>
          </a:p>
          <a:p>
            <a:r>
              <a:rPr lang="vi-VN" dirty="0"/>
              <a:t>Đây là cấu hình "rủi ro" mặc dù toán học vẫn hợp lệ.</a:t>
            </a:r>
          </a:p>
          <a:p>
            <a:r>
              <a:rPr lang="vi-VN" b="1" dirty="0"/>
              <a:t>(c) ROWA (Read One Write All) — cấu hình siêu an toàn</a:t>
            </a:r>
          </a:p>
          <a:p>
            <a:pPr>
              <a:buFont typeface="Arial" panose="020B0604020202020204" pitchFamily="34" charset="0"/>
              <a:buChar char="•"/>
            </a:pPr>
            <a:r>
              <a:rPr lang="vi-VN" dirty="0"/>
              <a:t>N_R = 1: đọc chỉ cần từ </a:t>
            </a:r>
            <a:r>
              <a:rPr lang="vi-VN" b="1" dirty="0"/>
              <a:t>1 bản sao</a:t>
            </a:r>
            <a:endParaRPr lang="vi-VN" dirty="0"/>
          </a:p>
          <a:p>
            <a:pPr>
              <a:buFont typeface="Arial" panose="020B0604020202020204" pitchFamily="34" charset="0"/>
              <a:buChar char="•"/>
            </a:pPr>
            <a:r>
              <a:rPr lang="vi-VN" dirty="0"/>
              <a:t>N_W = 12: ghi lên </a:t>
            </a:r>
            <a:r>
              <a:rPr lang="vi-VN" b="1" dirty="0"/>
              <a:t>tất cả bản sao</a:t>
            </a:r>
            <a:endParaRPr lang="vi-VN" dirty="0"/>
          </a:p>
          <a:p>
            <a:r>
              <a:rPr lang="vi-VN" dirty="0"/>
              <a:t>→ Không thể có xung đột vì mọi bản sao đều được cập nhật khi ghi.</a:t>
            </a:r>
          </a:p>
          <a:p>
            <a:r>
              <a:rPr lang="vi-VN" dirty="0"/>
              <a:t>Đây là cấu hình phổ biến trong hệ thống read-heavy (nhiều đọc, ít ghi).</a:t>
            </a:r>
          </a:p>
          <a:p>
            <a:endParaRPr lang="en-US" b="1" dirty="0"/>
          </a:p>
          <a:p>
            <a:r>
              <a:rPr lang="vi-VN" b="1" dirty="0"/>
              <a:t>4. Tóm tắt</a:t>
            </a:r>
          </a:p>
          <a:p>
            <a:r>
              <a:rPr lang="vi-VN" dirty="0"/>
              <a:t>Trường hợp</a:t>
            </a:r>
            <a:r>
              <a:rPr lang="en-US" dirty="0"/>
              <a:t>			</a:t>
            </a:r>
            <a:r>
              <a:rPr lang="vi-VN" dirty="0"/>
              <a:t>Ưu điểm</a:t>
            </a:r>
            <a:r>
              <a:rPr lang="en-US" dirty="0"/>
              <a:t>			</a:t>
            </a:r>
            <a:r>
              <a:rPr lang="vi-VN" dirty="0"/>
              <a:t>Nhược điểm</a:t>
            </a:r>
            <a:endParaRPr lang="en-US" dirty="0"/>
          </a:p>
          <a:p>
            <a:pPr marL="228600" indent="-228600">
              <a:buAutoNum type="alphaLcParenBoth"/>
            </a:pPr>
            <a:r>
              <a:rPr lang="vi-VN" dirty="0"/>
              <a:t>Read quorum nhỏ + Write quorum lớn</a:t>
            </a:r>
            <a:r>
              <a:rPr lang="en-US" dirty="0"/>
              <a:t>	</a:t>
            </a:r>
            <a:r>
              <a:rPr lang="vi-VN" dirty="0"/>
              <a:t>Cân bằng, đảm bảo consistency</a:t>
            </a:r>
            <a:r>
              <a:rPr lang="en-US" dirty="0"/>
              <a:t>	</a:t>
            </a:r>
            <a:r>
              <a:rPr lang="vi-VN" dirty="0"/>
              <a:t>Ghi tốn tài nguyên</a:t>
            </a:r>
            <a:endParaRPr lang="en-US" dirty="0"/>
          </a:p>
          <a:p>
            <a:pPr marL="228600" indent="-228600">
              <a:buAutoNum type="alphaLcParenBoth"/>
            </a:pPr>
            <a:r>
              <a:rPr lang="vi-VN" dirty="0"/>
              <a:t>Quorum chưa tối ưu</a:t>
            </a:r>
            <a:r>
              <a:rPr lang="en-US" dirty="0"/>
              <a:t>		</a:t>
            </a:r>
            <a:r>
              <a:rPr lang="vi-VN" dirty="0"/>
              <a:t>Có thể nhanh hơn</a:t>
            </a:r>
            <a:r>
              <a:rPr lang="en-US" dirty="0"/>
              <a:t>		</a:t>
            </a:r>
            <a:r>
              <a:rPr lang="vi-VN" dirty="0"/>
              <a:t>Nguy cơ xung đột ghi-ghi</a:t>
            </a:r>
            <a:endParaRPr lang="en-US" dirty="0"/>
          </a:p>
          <a:p>
            <a:pPr marL="228600" indent="-228600">
              <a:buAutoNum type="alphaLcParenBoth"/>
            </a:pPr>
            <a:r>
              <a:rPr lang="vi-VN" dirty="0"/>
              <a:t>ROWA (Read-one Write-all)</a:t>
            </a:r>
            <a:r>
              <a:rPr lang="en-US" dirty="0"/>
              <a:t>	</a:t>
            </a:r>
            <a:r>
              <a:rPr lang="vi-VN" dirty="0"/>
              <a:t>Đọc rất nhanh, đơn giản</a:t>
            </a:r>
            <a:r>
              <a:rPr lang="en-US" dirty="0"/>
              <a:t>		</a:t>
            </a:r>
            <a:r>
              <a:rPr lang="vi-VN" dirty="0"/>
              <a:t>Ghi chậm (phải cập nhật mọi replica)</a:t>
            </a:r>
          </a:p>
          <a:p>
            <a:endParaRPr lang="en-US" b="1"/>
          </a:p>
          <a:p>
            <a:r>
              <a:rPr lang="vi-VN" b="1"/>
              <a:t>Thông </a:t>
            </a:r>
            <a:r>
              <a:rPr lang="vi-VN" b="1" dirty="0"/>
              <a:t>điệp chính</a:t>
            </a:r>
          </a:p>
          <a:p>
            <a:r>
              <a:rPr lang="vi-VN" dirty="0"/>
              <a:t>Mục tiêu của quorum là đảm bảo mọi thao tác đọc/ghi đều nhất quán, bằng cách yêu cầu </a:t>
            </a:r>
            <a:r>
              <a:rPr lang="vi-VN" b="1" dirty="0"/>
              <a:t>ít nhất một replica chung giữa các thao tác đọc và ghi</a:t>
            </a:r>
            <a:r>
              <a:rPr lang="vi-VN" dirty="0"/>
              <a:t>.</a:t>
            </a:r>
          </a:p>
          <a:p>
            <a:endParaRPr lang="en-US" dirty="0"/>
          </a:p>
        </p:txBody>
      </p:sp>
      <p:sp>
        <p:nvSpPr>
          <p:cNvPr id="4" name="Slide Number Placeholder 3"/>
          <p:cNvSpPr>
            <a:spLocks noGrp="1"/>
          </p:cNvSpPr>
          <p:nvPr>
            <p:ph type="sldNum" sz="quarter" idx="5"/>
          </p:nvPr>
        </p:nvSpPr>
        <p:spPr/>
        <p:txBody>
          <a:bodyPr/>
          <a:lstStyle/>
          <a:p>
            <a:fld id="{E08CC395-58C4-4FFE-8721-532C035AB119}" type="slidenum">
              <a:rPr lang="en-US" smtClean="0"/>
              <a:t>54</a:t>
            </a:fld>
            <a:endParaRPr lang="en-US"/>
          </a:p>
        </p:txBody>
      </p:sp>
    </p:spTree>
    <p:extLst>
      <p:ext uri="{BB962C8B-B14F-4D97-AF65-F5344CB8AC3E}">
        <p14:creationId xmlns:p14="http://schemas.microsoft.com/office/powerpoint/2010/main" val="4044920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37</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200" b="0" i="0">
                <a:solidFill>
                  <a:srgbClr val="3333B2"/>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37</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7" name="Holder 7"/>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37</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5" name="Holder 5"/>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37</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4" name="Holder 4"/>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37</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5300" y="188846"/>
            <a:ext cx="1594485" cy="244475"/>
          </a:xfrm>
          <a:prstGeom prst="rect">
            <a:avLst/>
          </a:prstGeom>
        </p:spPr>
        <p:txBody>
          <a:bodyPr wrap="square" lIns="0" tIns="0" rIns="0" bIns="0">
            <a:spAutoFit/>
          </a:bodyPr>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a:xfrm>
            <a:off x="261238" y="1208580"/>
            <a:ext cx="2220595" cy="953135"/>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6" name="Holder 6"/>
          <p:cNvSpPr>
            <a:spLocks noGrp="1"/>
          </p:cNvSpPr>
          <p:nvPr>
            <p:ph type="sldNum" sz="quarter" idx="7"/>
          </p:nvPr>
        </p:nvSpPr>
        <p:spPr>
          <a:xfrm>
            <a:off x="4258348" y="3331252"/>
            <a:ext cx="283210" cy="119379"/>
          </a:xfrm>
          <a:prstGeom prst="rect">
            <a:avLst/>
          </a:prstGeom>
        </p:spPr>
        <p:txBody>
          <a:bodyPr wrap="square" lIns="0" tIns="0" rIns="0" bIns="0">
            <a:spAutoFit/>
          </a:bodyPr>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37</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 Target="slide3.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slide" Target="slide4.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slide" Target="slide5.xml"/><Relationship Id="rId5" Type="http://schemas.openxmlformats.org/officeDocument/2006/relationships/slide" Target="slide4.xml"/><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slide" Target="slide5.xml"/><Relationship Id="rId5" Type="http://schemas.openxmlformats.org/officeDocument/2006/relationships/slide" Target="slide4.xml"/><Relationship Id="rId4" Type="http://schemas.openxmlformats.org/officeDocument/2006/relationships/slide" Target="slide3.xml"/></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slide" Target="slide7.xml"/><Relationship Id="rId4" Type="http://schemas.openxmlformats.org/officeDocument/2006/relationships/slide" Target="slide3.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slide" Target="slide7.xml"/><Relationship Id="rId4" Type="http://schemas.openxmlformats.org/officeDocument/2006/relationships/slide" Target="slide3.xml"/></Relationships>
</file>

<file path=ppt/slides/_rels/slide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7.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slide" Target="slide7.xml"/><Relationship Id="rId4" Type="http://schemas.openxmlformats.org/officeDocument/2006/relationships/slide" Target="slide3.xml"/></Relationships>
</file>

<file path=ppt/slides/_rels/slide1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7.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slide" Target="slide7.xml"/><Relationship Id="rId4" Type="http://schemas.openxmlformats.org/officeDocument/2006/relationships/slide" Target="slide3.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3.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slide" Target="slide14.xml"/><Relationship Id="rId5" Type="http://schemas.openxmlformats.org/officeDocument/2006/relationships/slide" Target="slide7.xml"/><Relationship Id="rId4" Type="http://schemas.openxmlformats.org/officeDocument/2006/relationships/slide" Target="slide3.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5.xml"/><Relationship Id="rId1" Type="http://schemas.openxmlformats.org/officeDocument/2006/relationships/slideLayout" Target="../slideLayouts/slideLayout5.xml"/><Relationship Id="rId5" Type="http://schemas.openxmlformats.org/officeDocument/2006/relationships/slide" Target="slide7.xml"/><Relationship Id="rId4" Type="http://schemas.openxmlformats.org/officeDocument/2006/relationships/slide" Target="slide3.xml"/></Relationships>
</file>

<file path=ppt/slides/_rels/slide16.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slide" Target="slide7.xml"/><Relationship Id="rId5" Type="http://schemas.openxmlformats.org/officeDocument/2006/relationships/slide" Target="slide3.xml"/><Relationship Id="rId4" Type="http://schemas.openxmlformats.org/officeDocument/2006/relationships/slide" Target="slide2.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slide" Target="slide15.xml"/><Relationship Id="rId5" Type="http://schemas.openxmlformats.org/officeDocument/2006/relationships/slide" Target="slide7.xml"/><Relationship Id="rId4" Type="http://schemas.openxmlformats.org/officeDocument/2006/relationships/slide" Target="slide3.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slide" Target="slide18.xml"/></Relationships>
</file>

<file path=ppt/slides/_rels/slide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slide" Target="slide18.xml"/></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slide" Target="slide20.xml"/><Relationship Id="rId4" Type="http://schemas.openxmlformats.org/officeDocument/2006/relationships/slide" Target="slide18.xml"/></Relationships>
</file>

<file path=ppt/slides/_rels/slide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slide" Target="slide20.xml"/><Relationship Id="rId4" Type="http://schemas.openxmlformats.org/officeDocument/2006/relationships/slide" Target="slide18.xml"/></Relationships>
</file>

<file path=ppt/slides/_rels/slide2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slide" Target="slide20.xml"/><Relationship Id="rId4" Type="http://schemas.openxmlformats.org/officeDocument/2006/relationships/slide" Target="slide18.xml"/></Relationships>
</file>

<file path=ppt/slides/_rels/slide2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slide" Target="slide18.xml"/></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18.xml"/></Relationships>
</file>

<file path=ppt/slides/_rels/slide2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slide" Target="slide25.xml"/><Relationship Id="rId4" Type="http://schemas.openxmlformats.org/officeDocument/2006/relationships/slide" Target="slide18.xml"/></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slide" Target="slide25.xml"/><Relationship Id="rId4" Type="http://schemas.openxmlformats.org/officeDocument/2006/relationships/slide" Target="slide18.xml"/></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slide" Target="slide27.xml"/><Relationship Id="rId4" Type="http://schemas.openxmlformats.org/officeDocument/2006/relationships/slide" Target="slide18.xml"/></Relationships>
</file>

<file path=ppt/slides/_rels/slide28.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slide" Target="slide28.xml"/></Relationships>
</file>

<file path=ppt/slides/_rels/slide32.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slide" Target="slide28.xml"/><Relationship Id="rId4" Type="http://schemas.openxmlformats.org/officeDocument/2006/relationships/slide" Target="slide2.xml"/></Relationships>
</file>

<file path=ppt/slides/_rels/slide3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 Target="slide2.xml"/><Relationship Id="rId7"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slide" Target="slide32.xml"/><Relationship Id="rId4" Type="http://schemas.openxmlformats.org/officeDocument/2006/relationships/slide" Target="slide28.xml"/><Relationship Id="rId9" Type="http://schemas.openxmlformats.org/officeDocument/2006/relationships/image" Target="../media/image8.png"/></Relationships>
</file>

<file path=ppt/slides/_rels/slide3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 Target="slide2.xml"/><Relationship Id="rId7" Type="http://schemas.openxmlformats.org/officeDocument/2006/relationships/image" Target="../media/image10.png"/><Relationship Id="rId12" Type="http://schemas.openxmlformats.org/officeDocument/2006/relationships/slide" Target="slide34.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slide" Target="slide32.xml"/><Relationship Id="rId10" Type="http://schemas.openxmlformats.org/officeDocument/2006/relationships/image" Target="../media/image13.png"/><Relationship Id="rId4" Type="http://schemas.openxmlformats.org/officeDocument/2006/relationships/slide" Target="slide28.xml"/><Relationship Id="rId9"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8.xml"/><Relationship Id="rId1" Type="http://schemas.openxmlformats.org/officeDocument/2006/relationships/slideLayout" Target="../slideLayouts/slideLayout5.xml"/><Relationship Id="rId5" Type="http://schemas.openxmlformats.org/officeDocument/2006/relationships/slide" Target="slide35.xml"/><Relationship Id="rId4" Type="http://schemas.openxmlformats.org/officeDocument/2006/relationships/slide" Target="slide28.xml"/></Relationships>
</file>

<file path=ppt/slides/_rels/slide36.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slide" Target="slide35.xml"/><Relationship Id="rId5" Type="http://schemas.openxmlformats.org/officeDocument/2006/relationships/slide" Target="slide28.xml"/><Relationship Id="rId4" Type="http://schemas.openxmlformats.org/officeDocument/2006/relationships/slide" Target="slide2.xml"/></Relationships>
</file>

<file path=ppt/slides/_rels/slide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6.xml"/><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28.xml"/></Relationships>
</file>

<file path=ppt/slides/_rels/slide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6.xml"/><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28.xml"/></Relationships>
</file>

<file path=ppt/slides/_rels/slide3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6.xml"/><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28.xml"/></Relationships>
</file>

<file path=ppt/slides/_rels/slide4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6.xml"/><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28.xml"/></Relationships>
</file>

<file path=ppt/slides/_rels/slide41.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slide" Target="slide35.xml"/><Relationship Id="rId5" Type="http://schemas.openxmlformats.org/officeDocument/2006/relationships/slide" Target="slide28.xml"/><Relationship Id="rId4" Type="http://schemas.openxmlformats.org/officeDocument/2006/relationships/slide" Target="slide2.xml"/></Relationships>
</file>

<file path=ppt/slides/_rels/slide42.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slide" Target="slide2.xml"/></Relationships>
</file>

<file path=ppt/slides/_rels/slide43.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slide" Target="slide2.xml"/></Relationships>
</file>

<file path=ppt/slides/_rels/slide4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2.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slide" Target="slide2.xml"/></Relationships>
</file>

<file path=ppt/slides/_rels/slide4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2.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2.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slide" Target="slide2.xml"/></Relationships>
</file>

<file path=ppt/slides/_rels/slide50.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slide" Target="slide42.xml"/><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slide" Target="slide2.xml"/><Relationship Id="rId16" Type="http://schemas.openxmlformats.org/officeDocument/2006/relationships/image" Target="../media/image26.png"/><Relationship Id="rId1" Type="http://schemas.openxmlformats.org/officeDocument/2006/relationships/slideLayout" Target="../slideLayouts/slideLayout5.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slide" Target="slide50.xml"/><Relationship Id="rId9" Type="http://schemas.openxmlformats.org/officeDocument/2006/relationships/image" Target="../media/image19.png"/><Relationship Id="rId14" Type="http://schemas.openxmlformats.org/officeDocument/2006/relationships/image" Target="../media/image24.png"/></Relationships>
</file>

<file path=ppt/slides/_rels/slide5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slide" Target="slide2.xml"/><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35.xml"/><Relationship Id="rId16"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slide" Target="slide50.xml"/><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slide" Target="slide42.xml"/><Relationship Id="rId9" Type="http://schemas.openxmlformats.org/officeDocument/2006/relationships/image" Target="../media/image18.png"/><Relationship Id="rId14" Type="http://schemas.openxmlformats.org/officeDocument/2006/relationships/image" Target="../media/image23.png"/></Relationships>
</file>

<file path=ppt/slides/_rels/slide5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slide" Target="slide52.xml"/><Relationship Id="rId3" Type="http://schemas.openxmlformats.org/officeDocument/2006/relationships/slide" Target="slide42.xml"/><Relationship Id="rId7" Type="http://schemas.openxmlformats.org/officeDocument/2006/relationships/image" Target="../media/image27.png"/><Relationship Id="rId12" Type="http://schemas.openxmlformats.org/officeDocument/2006/relationships/image" Target="../media/image30.png"/><Relationship Id="rId2" Type="http://schemas.openxmlformats.org/officeDocument/2006/relationships/slide" Target="slide2.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4.png"/><Relationship Id="rId5" Type="http://schemas.openxmlformats.org/officeDocument/2006/relationships/image" Target="../media/image15.png"/><Relationship Id="rId10" Type="http://schemas.openxmlformats.org/officeDocument/2006/relationships/image" Target="../media/image29.png"/><Relationship Id="rId4" Type="http://schemas.openxmlformats.org/officeDocument/2006/relationships/slide" Target="slide50.xml"/><Relationship Id="rId9" Type="http://schemas.openxmlformats.org/officeDocument/2006/relationships/image" Target="../media/image18.png"/></Relationships>
</file>

<file path=ppt/slides/_rels/slide53.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0.png"/><Relationship Id="rId3" Type="http://schemas.openxmlformats.org/officeDocument/2006/relationships/slide" Target="slide2.xml"/><Relationship Id="rId7" Type="http://schemas.openxmlformats.org/officeDocument/2006/relationships/image" Target="../media/image16.png"/><Relationship Id="rId12"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9.png"/><Relationship Id="rId5" Type="http://schemas.openxmlformats.org/officeDocument/2006/relationships/slide" Target="slide50.xml"/><Relationship Id="rId10" Type="http://schemas.openxmlformats.org/officeDocument/2006/relationships/image" Target="../media/image18.png"/><Relationship Id="rId4" Type="http://schemas.openxmlformats.org/officeDocument/2006/relationships/slide" Target="slide42.xml"/><Relationship Id="rId9" Type="http://schemas.openxmlformats.org/officeDocument/2006/relationships/image" Target="../media/image28.png"/><Relationship Id="rId14" Type="http://schemas.openxmlformats.org/officeDocument/2006/relationships/slide" Target="slide52.xml"/></Relationships>
</file>

<file path=ppt/slides/_rels/slide5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54.xml"/><Relationship Id="rId4" Type="http://schemas.openxmlformats.org/officeDocument/2006/relationships/slide" Target="slide4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2303" y="597138"/>
            <a:ext cx="1783714" cy="244475"/>
          </a:xfrm>
          <a:prstGeom prst="rect">
            <a:avLst/>
          </a:prstGeom>
        </p:spPr>
        <p:txBody>
          <a:bodyPr vert="horz" wrap="square" lIns="0" tIns="17145" rIns="0" bIns="0" rtlCol="0">
            <a:spAutoFit/>
          </a:bodyPr>
          <a:lstStyle/>
          <a:p>
            <a:pPr marL="12700">
              <a:lnSpc>
                <a:spcPct val="100000"/>
              </a:lnSpc>
              <a:spcBef>
                <a:spcPts val="135"/>
              </a:spcBef>
            </a:pPr>
            <a:r>
              <a:rPr b="1" spc="10" dirty="0">
                <a:latin typeface="Arial"/>
                <a:cs typeface="Arial"/>
              </a:rPr>
              <a:t>Distributed</a:t>
            </a:r>
            <a:r>
              <a:rPr b="1" spc="-40" dirty="0">
                <a:latin typeface="Arial"/>
                <a:cs typeface="Arial"/>
              </a:rPr>
              <a:t> </a:t>
            </a:r>
            <a:r>
              <a:rPr b="1" spc="20" dirty="0">
                <a:latin typeface="Arial"/>
                <a:cs typeface="Arial"/>
              </a:rPr>
              <a:t>Systems</a:t>
            </a:r>
          </a:p>
        </p:txBody>
      </p:sp>
      <p:sp>
        <p:nvSpPr>
          <p:cNvPr id="3" name="object 3"/>
          <p:cNvSpPr txBox="1"/>
          <p:nvPr/>
        </p:nvSpPr>
        <p:spPr>
          <a:xfrm>
            <a:off x="1948929" y="880547"/>
            <a:ext cx="715010"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3333B2"/>
                </a:solidFill>
                <a:latin typeface="Arial"/>
                <a:cs typeface="Arial"/>
              </a:rPr>
              <a:t>(3rd</a:t>
            </a:r>
            <a:r>
              <a:rPr sz="1000" spc="-50" dirty="0">
                <a:solidFill>
                  <a:srgbClr val="3333B2"/>
                </a:solidFill>
                <a:latin typeface="Arial"/>
                <a:cs typeface="Arial"/>
              </a:rPr>
              <a:t> </a:t>
            </a:r>
            <a:r>
              <a:rPr sz="1000" spc="-5" dirty="0">
                <a:solidFill>
                  <a:srgbClr val="3333B2"/>
                </a:solidFill>
                <a:latin typeface="Arial"/>
                <a:cs typeface="Arial"/>
              </a:rPr>
              <a:t>Edition)</a:t>
            </a:r>
            <a:endParaRPr sz="1000">
              <a:latin typeface="Arial"/>
              <a:cs typeface="Arial"/>
            </a:endParaRPr>
          </a:p>
        </p:txBody>
      </p:sp>
      <p:sp>
        <p:nvSpPr>
          <p:cNvPr id="4" name="object 4"/>
          <p:cNvSpPr txBox="1"/>
          <p:nvPr/>
        </p:nvSpPr>
        <p:spPr>
          <a:xfrm>
            <a:off x="634695" y="2243770"/>
            <a:ext cx="3338829" cy="521334"/>
          </a:xfrm>
          <a:prstGeom prst="rect">
            <a:avLst/>
          </a:prstGeom>
        </p:spPr>
        <p:txBody>
          <a:bodyPr vert="horz" wrap="square" lIns="0" tIns="17145" rIns="0" bIns="0" rtlCol="0">
            <a:spAutoFit/>
          </a:bodyPr>
          <a:lstStyle/>
          <a:p>
            <a:pPr algn="ctr">
              <a:lnSpc>
                <a:spcPct val="100000"/>
              </a:lnSpc>
              <a:spcBef>
                <a:spcPts val="135"/>
              </a:spcBef>
            </a:pPr>
            <a:r>
              <a:rPr sz="1400" spc="15" dirty="0">
                <a:latin typeface="Arial"/>
                <a:cs typeface="Arial"/>
              </a:rPr>
              <a:t>Chapter</a:t>
            </a:r>
            <a:r>
              <a:rPr sz="1400" spc="-5" dirty="0">
                <a:latin typeface="Arial"/>
                <a:cs typeface="Arial"/>
              </a:rPr>
              <a:t> </a:t>
            </a:r>
            <a:r>
              <a:rPr sz="1400" spc="15" dirty="0">
                <a:latin typeface="Arial"/>
                <a:cs typeface="Arial"/>
              </a:rPr>
              <a:t>07:</a:t>
            </a:r>
            <a:r>
              <a:rPr sz="1400" spc="90" dirty="0">
                <a:latin typeface="Arial"/>
                <a:cs typeface="Arial"/>
              </a:rPr>
              <a:t> </a:t>
            </a:r>
            <a:r>
              <a:rPr sz="1400" spc="15" dirty="0">
                <a:latin typeface="Arial"/>
                <a:cs typeface="Arial"/>
              </a:rPr>
              <a:t>Consistency</a:t>
            </a:r>
            <a:r>
              <a:rPr sz="1400" spc="-5" dirty="0">
                <a:latin typeface="Arial"/>
                <a:cs typeface="Arial"/>
              </a:rPr>
              <a:t> </a:t>
            </a:r>
            <a:r>
              <a:rPr sz="1400" spc="15" dirty="0">
                <a:latin typeface="Arial"/>
                <a:cs typeface="Arial"/>
              </a:rPr>
              <a:t>and</a:t>
            </a:r>
            <a:r>
              <a:rPr sz="1400" spc="-5" dirty="0">
                <a:latin typeface="Arial"/>
                <a:cs typeface="Arial"/>
              </a:rPr>
              <a:t> </a:t>
            </a:r>
            <a:r>
              <a:rPr sz="1400" spc="15" dirty="0">
                <a:latin typeface="Arial"/>
                <a:cs typeface="Arial"/>
              </a:rPr>
              <a:t>Replication</a:t>
            </a:r>
            <a:endParaRPr sz="1400" dirty="0">
              <a:latin typeface="Arial"/>
              <a:cs typeface="Arial"/>
            </a:endParaRPr>
          </a:p>
          <a:p>
            <a:pPr algn="ctr">
              <a:lnSpc>
                <a:spcPct val="100000"/>
              </a:lnSpc>
              <a:spcBef>
                <a:spcPts val="869"/>
              </a:spcBef>
            </a:pPr>
            <a:r>
              <a:rPr sz="1100" spc="-20" dirty="0">
                <a:latin typeface="Arial"/>
                <a:cs typeface="Arial"/>
              </a:rPr>
              <a:t>Version:</a:t>
            </a:r>
            <a:r>
              <a:rPr sz="1100" spc="60" dirty="0">
                <a:latin typeface="Arial"/>
                <a:cs typeface="Arial"/>
              </a:rPr>
              <a:t> </a:t>
            </a:r>
            <a:r>
              <a:rPr sz="1100" spc="-10" dirty="0">
                <a:latin typeface="Arial"/>
                <a:cs typeface="Arial"/>
              </a:rPr>
              <a:t>March </a:t>
            </a:r>
            <a:r>
              <a:rPr sz="1100" spc="-5" dirty="0">
                <a:latin typeface="Arial"/>
                <a:cs typeface="Arial"/>
              </a:rPr>
              <a:t>20,</a:t>
            </a:r>
            <a:r>
              <a:rPr sz="1100" spc="-10" dirty="0">
                <a:latin typeface="Arial"/>
                <a:cs typeface="Arial"/>
              </a:rPr>
              <a:t> 2022</a:t>
            </a:r>
            <a:endParaRPr sz="1100" dirty="0">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2</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14116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65" dirty="0">
                <a:solidFill>
                  <a:srgbClr val="3333B2"/>
                </a:solidFill>
                <a:latin typeface="Arial"/>
                <a:cs typeface="Arial"/>
              </a:rPr>
              <a:t> </a:t>
            </a: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3" name="object 3"/>
          <p:cNvSpPr txBox="1"/>
          <p:nvPr/>
        </p:nvSpPr>
        <p:spPr>
          <a:xfrm>
            <a:off x="3741859" y="716"/>
            <a:ext cx="79946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Reasons</a:t>
            </a:r>
            <a:r>
              <a:rPr sz="600" spc="-15" dirty="0">
                <a:solidFill>
                  <a:srgbClr val="262685"/>
                </a:solidFill>
                <a:latin typeface="Arial"/>
                <a:cs typeface="Arial"/>
                <a:hlinkClick r:id="rId3" action="ppaction://hlinksldjump"/>
              </a:rPr>
              <a:t> </a:t>
            </a:r>
            <a:r>
              <a:rPr sz="600" spc="-10" dirty="0">
                <a:solidFill>
                  <a:srgbClr val="262685"/>
                </a:solidFill>
                <a:latin typeface="Arial"/>
                <a:cs typeface="Arial"/>
                <a:hlinkClick r:id="rId3" action="ppaction://hlinksldjump"/>
              </a:rPr>
              <a:t>for</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replication</a:t>
            </a:r>
            <a:endParaRPr sz="600">
              <a:latin typeface="Arial"/>
              <a:cs typeface="Arial"/>
            </a:endParaRPr>
          </a:p>
        </p:txBody>
      </p:sp>
      <p:sp>
        <p:nvSpPr>
          <p:cNvPr id="4" name="object 4"/>
          <p:cNvSpPr txBox="1"/>
          <p:nvPr/>
        </p:nvSpPr>
        <p:spPr>
          <a:xfrm>
            <a:off x="69900" y="188846"/>
            <a:ext cx="4205605" cy="2675890"/>
          </a:xfrm>
          <a:prstGeom prst="rect">
            <a:avLst/>
          </a:prstGeom>
        </p:spPr>
        <p:txBody>
          <a:bodyPr vert="horz" wrap="square" lIns="0" tIns="17145" rIns="0" bIns="0" rtlCol="0">
            <a:spAutoFit/>
          </a:bodyPr>
          <a:lstStyle/>
          <a:p>
            <a:pPr marL="38100">
              <a:lnSpc>
                <a:spcPct val="100000"/>
              </a:lnSpc>
              <a:spcBef>
                <a:spcPts val="135"/>
              </a:spcBef>
            </a:pPr>
            <a:r>
              <a:rPr sz="1400" spc="10" dirty="0">
                <a:solidFill>
                  <a:srgbClr val="3333B2"/>
                </a:solidFill>
                <a:latin typeface="Arial"/>
                <a:cs typeface="Arial"/>
              </a:rPr>
              <a:t>Performance</a:t>
            </a:r>
            <a:r>
              <a:rPr sz="1400" spc="-10" dirty="0">
                <a:solidFill>
                  <a:srgbClr val="3333B2"/>
                </a:solidFill>
                <a:latin typeface="Arial"/>
                <a:cs typeface="Arial"/>
              </a:rPr>
              <a:t> </a:t>
            </a:r>
            <a:r>
              <a:rPr sz="1400" spc="15" dirty="0">
                <a:solidFill>
                  <a:srgbClr val="3333B2"/>
                </a:solidFill>
                <a:latin typeface="Arial"/>
                <a:cs typeface="Arial"/>
              </a:rPr>
              <a:t>and</a:t>
            </a:r>
            <a:r>
              <a:rPr sz="1400" spc="-10" dirty="0">
                <a:solidFill>
                  <a:srgbClr val="3333B2"/>
                </a:solidFill>
                <a:latin typeface="Arial"/>
                <a:cs typeface="Arial"/>
              </a:rPr>
              <a:t> </a:t>
            </a:r>
            <a:r>
              <a:rPr sz="1400" spc="10" dirty="0">
                <a:solidFill>
                  <a:srgbClr val="3333B2"/>
                </a:solidFill>
                <a:latin typeface="Arial"/>
                <a:cs typeface="Arial"/>
              </a:rPr>
              <a:t>scalability</a:t>
            </a:r>
            <a:endParaRPr sz="1400" dirty="0">
              <a:latin typeface="Arial"/>
              <a:cs typeface="Arial"/>
            </a:endParaRPr>
          </a:p>
          <a:p>
            <a:pPr>
              <a:lnSpc>
                <a:spcPct val="100000"/>
              </a:lnSpc>
              <a:spcBef>
                <a:spcPts val="30"/>
              </a:spcBef>
            </a:pPr>
            <a:endParaRPr sz="2050" dirty="0">
              <a:latin typeface="Arial"/>
              <a:cs typeface="Arial"/>
            </a:endParaRPr>
          </a:p>
          <a:p>
            <a:pPr marL="289560">
              <a:lnSpc>
                <a:spcPts val="1410"/>
              </a:lnSpc>
            </a:pPr>
            <a:r>
              <a:rPr sz="1200" spc="-5" dirty="0">
                <a:solidFill>
                  <a:srgbClr val="3333B2"/>
                </a:solidFill>
                <a:latin typeface="Arial"/>
                <a:cs typeface="Arial"/>
              </a:rPr>
              <a:t>Main</a:t>
            </a:r>
            <a:r>
              <a:rPr sz="1200" spc="-40" dirty="0">
                <a:solidFill>
                  <a:srgbClr val="3333B2"/>
                </a:solidFill>
                <a:latin typeface="Arial"/>
                <a:cs typeface="Arial"/>
              </a:rPr>
              <a:t> </a:t>
            </a:r>
            <a:r>
              <a:rPr sz="1200" spc="-5" dirty="0">
                <a:solidFill>
                  <a:srgbClr val="3333B2"/>
                </a:solidFill>
                <a:latin typeface="Arial"/>
                <a:cs typeface="Arial"/>
              </a:rPr>
              <a:t>issue</a:t>
            </a:r>
            <a:endParaRPr sz="1200" dirty="0">
              <a:latin typeface="Arial"/>
              <a:cs typeface="Arial"/>
            </a:endParaRPr>
          </a:p>
          <a:p>
            <a:pPr marL="289560" marR="268605" indent="-4445">
              <a:lnSpc>
                <a:spcPts val="1200"/>
              </a:lnSpc>
              <a:spcBef>
                <a:spcPts val="10"/>
              </a:spcBef>
            </a:pPr>
            <a:r>
              <a:rPr sz="1000" spc="-65" dirty="0">
                <a:latin typeface="Arial"/>
                <a:cs typeface="Arial"/>
              </a:rPr>
              <a:t>To</a:t>
            </a:r>
            <a:r>
              <a:rPr sz="1000" spc="-60" dirty="0">
                <a:latin typeface="Arial"/>
                <a:cs typeface="Arial"/>
              </a:rPr>
              <a:t> </a:t>
            </a:r>
            <a:r>
              <a:rPr sz="1000" spc="-10" dirty="0">
                <a:latin typeface="Arial"/>
                <a:cs typeface="Arial"/>
              </a:rPr>
              <a:t>keep </a:t>
            </a:r>
            <a:r>
              <a:rPr sz="1000" spc="-5" dirty="0">
                <a:latin typeface="Arial"/>
                <a:cs typeface="Arial"/>
              </a:rPr>
              <a:t>replicas consistent, </a:t>
            </a:r>
            <a:r>
              <a:rPr sz="1000" spc="-10" dirty="0">
                <a:latin typeface="Arial"/>
                <a:cs typeface="Arial"/>
              </a:rPr>
              <a:t>we </a:t>
            </a:r>
            <a:r>
              <a:rPr sz="1000" spc="-5" dirty="0">
                <a:latin typeface="Arial"/>
                <a:cs typeface="Arial"/>
              </a:rPr>
              <a:t>generally need to ensure that all </a:t>
            </a:r>
            <a:r>
              <a:rPr sz="1000" dirty="0">
                <a:latin typeface="Arial"/>
                <a:cs typeface="Arial"/>
              </a:rPr>
              <a:t> </a:t>
            </a:r>
            <a:r>
              <a:rPr sz="1000" spc="-5" dirty="0">
                <a:solidFill>
                  <a:srgbClr val="0000FA"/>
                </a:solidFill>
                <a:latin typeface="Arial"/>
                <a:cs typeface="Arial"/>
              </a:rPr>
              <a:t>conflicting </a:t>
            </a:r>
            <a:r>
              <a:rPr sz="1000" spc="-5" dirty="0">
                <a:latin typeface="Arial"/>
                <a:cs typeface="Arial"/>
              </a:rPr>
              <a:t>operations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done in</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the same</a:t>
            </a:r>
            <a:r>
              <a:rPr sz="1000" dirty="0">
                <a:latin typeface="Arial"/>
                <a:cs typeface="Arial"/>
              </a:rPr>
              <a:t> </a:t>
            </a:r>
            <a:r>
              <a:rPr sz="1000" spc="-5" dirty="0">
                <a:latin typeface="Arial"/>
                <a:cs typeface="Arial"/>
              </a:rPr>
              <a:t>order</a:t>
            </a:r>
            <a:r>
              <a:rPr sz="1000" dirty="0">
                <a:latin typeface="Arial"/>
                <a:cs typeface="Arial"/>
              </a:rPr>
              <a:t> </a:t>
            </a:r>
            <a:r>
              <a:rPr sz="1000" spc="-5" dirty="0">
                <a:latin typeface="Arial"/>
                <a:cs typeface="Arial"/>
              </a:rPr>
              <a:t>everywhere</a:t>
            </a:r>
            <a:endParaRPr sz="1000" dirty="0">
              <a:latin typeface="Arial"/>
              <a:cs typeface="Arial"/>
            </a:endParaRPr>
          </a:p>
          <a:p>
            <a:pPr marL="289560">
              <a:lnSpc>
                <a:spcPct val="100000"/>
              </a:lnSpc>
              <a:spcBef>
                <a:spcPts val="650"/>
              </a:spcBef>
            </a:pPr>
            <a:r>
              <a:rPr sz="1200" spc="-5" dirty="0">
                <a:solidFill>
                  <a:srgbClr val="3333B2"/>
                </a:solidFill>
                <a:latin typeface="Arial"/>
                <a:cs typeface="Arial"/>
              </a:rPr>
              <a:t>Conflicting operations:</a:t>
            </a:r>
            <a:r>
              <a:rPr sz="1200" spc="75" dirty="0">
                <a:solidFill>
                  <a:srgbClr val="3333B2"/>
                </a:solidFill>
                <a:latin typeface="Arial"/>
                <a:cs typeface="Arial"/>
              </a:rPr>
              <a:t> </a:t>
            </a:r>
            <a:r>
              <a:rPr sz="1200" spc="-20" dirty="0">
                <a:solidFill>
                  <a:srgbClr val="3333B2"/>
                </a:solidFill>
                <a:latin typeface="Arial"/>
                <a:cs typeface="Arial"/>
              </a:rPr>
              <a:t>From</a:t>
            </a:r>
            <a:r>
              <a:rPr sz="1200" dirty="0">
                <a:solidFill>
                  <a:srgbClr val="3333B2"/>
                </a:solidFill>
                <a:latin typeface="Arial"/>
                <a:cs typeface="Arial"/>
              </a:rPr>
              <a:t> </a:t>
            </a:r>
            <a:r>
              <a:rPr sz="1200" spc="-5" dirty="0">
                <a:solidFill>
                  <a:srgbClr val="3333B2"/>
                </a:solidFill>
                <a:latin typeface="Arial"/>
                <a:cs typeface="Arial"/>
              </a:rPr>
              <a:t>the world of</a:t>
            </a:r>
            <a:r>
              <a:rPr sz="1200" dirty="0">
                <a:solidFill>
                  <a:srgbClr val="3333B2"/>
                </a:solidFill>
                <a:latin typeface="Arial"/>
                <a:cs typeface="Arial"/>
              </a:rPr>
              <a:t> </a:t>
            </a:r>
            <a:r>
              <a:rPr sz="1200" spc="-5" dirty="0">
                <a:solidFill>
                  <a:srgbClr val="3333B2"/>
                </a:solidFill>
                <a:latin typeface="Arial"/>
                <a:cs typeface="Arial"/>
              </a:rPr>
              <a:t>transactions</a:t>
            </a:r>
            <a:endParaRPr sz="1200" dirty="0">
              <a:latin typeface="Arial"/>
              <a:cs typeface="Arial"/>
            </a:endParaRPr>
          </a:p>
          <a:p>
            <a:pPr marL="567055" marR="139065" indent="-168275">
              <a:lnSpc>
                <a:spcPct val="100000"/>
              </a:lnSpc>
              <a:spcBef>
                <a:spcPts val="790"/>
              </a:spcBef>
              <a:buClr>
                <a:srgbClr val="3333B2"/>
              </a:buClr>
              <a:buChar char="►"/>
              <a:tabLst>
                <a:tab pos="567690" algn="l"/>
              </a:tabLst>
            </a:pPr>
            <a:r>
              <a:rPr sz="1000" spc="-5" dirty="0">
                <a:solidFill>
                  <a:srgbClr val="0000FA"/>
                </a:solidFill>
                <a:latin typeface="Arial"/>
                <a:cs typeface="Arial"/>
              </a:rPr>
              <a:t>Read–write conflict</a:t>
            </a:r>
            <a:r>
              <a:rPr sz="1000" spc="-5" dirty="0">
                <a:latin typeface="Arial"/>
                <a:cs typeface="Arial"/>
              </a:rPr>
              <a:t>:</a:t>
            </a:r>
            <a:r>
              <a:rPr sz="1000" spc="7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read</a:t>
            </a:r>
            <a:r>
              <a:rPr sz="1000" dirty="0">
                <a:latin typeface="Arial"/>
                <a:cs typeface="Arial"/>
              </a:rPr>
              <a:t> </a:t>
            </a:r>
            <a:r>
              <a:rPr sz="1000" spc="-5" dirty="0">
                <a:latin typeface="Arial"/>
                <a:cs typeface="Arial"/>
              </a:rPr>
              <a:t>operation</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a</a:t>
            </a:r>
            <a:r>
              <a:rPr sz="1000" dirty="0">
                <a:latin typeface="Arial"/>
                <a:cs typeface="Arial"/>
              </a:rPr>
              <a:t> write </a:t>
            </a:r>
            <a:r>
              <a:rPr sz="1000" spc="-5" dirty="0">
                <a:latin typeface="Arial"/>
                <a:cs typeface="Arial"/>
              </a:rPr>
              <a:t>operation</a:t>
            </a:r>
            <a:r>
              <a:rPr sz="1000" dirty="0">
                <a:latin typeface="Arial"/>
                <a:cs typeface="Arial"/>
              </a:rPr>
              <a:t> </a:t>
            </a:r>
            <a:r>
              <a:rPr sz="1000" spc="-5" dirty="0">
                <a:latin typeface="Arial"/>
                <a:cs typeface="Arial"/>
              </a:rPr>
              <a:t>act </a:t>
            </a:r>
            <a:r>
              <a:rPr sz="1000" spc="-265" dirty="0">
                <a:latin typeface="Arial"/>
                <a:cs typeface="Arial"/>
              </a:rPr>
              <a:t> </a:t>
            </a:r>
            <a:r>
              <a:rPr sz="1000" spc="-5" dirty="0">
                <a:latin typeface="Arial"/>
                <a:cs typeface="Arial"/>
              </a:rPr>
              <a:t>concurrently</a:t>
            </a:r>
            <a:endParaRPr sz="1000" dirty="0">
              <a:latin typeface="Arial"/>
              <a:cs typeface="Arial"/>
            </a:endParaRPr>
          </a:p>
          <a:p>
            <a:pPr marL="567055" indent="-168275">
              <a:lnSpc>
                <a:spcPts val="1190"/>
              </a:lnSpc>
              <a:buClr>
                <a:srgbClr val="3333B2"/>
              </a:buClr>
              <a:buChar char="►"/>
              <a:tabLst>
                <a:tab pos="567690" algn="l"/>
              </a:tabLst>
            </a:pPr>
            <a:r>
              <a:rPr sz="1000" dirty="0">
                <a:solidFill>
                  <a:srgbClr val="0000FA"/>
                </a:solidFill>
                <a:latin typeface="Arial"/>
                <a:cs typeface="Arial"/>
              </a:rPr>
              <a:t>Write–write</a:t>
            </a:r>
            <a:r>
              <a:rPr sz="1000" spc="-5" dirty="0">
                <a:solidFill>
                  <a:srgbClr val="0000FA"/>
                </a:solidFill>
                <a:latin typeface="Arial"/>
                <a:cs typeface="Arial"/>
              </a:rPr>
              <a:t> conflict</a:t>
            </a:r>
            <a:r>
              <a:rPr sz="1000" spc="-5" dirty="0">
                <a:latin typeface="Arial"/>
                <a:cs typeface="Arial"/>
              </a:rPr>
              <a:t>:</a:t>
            </a:r>
            <a:r>
              <a:rPr sz="1000" spc="60" dirty="0">
                <a:latin typeface="Arial"/>
                <a:cs typeface="Arial"/>
              </a:rPr>
              <a:t> </a:t>
            </a:r>
            <a:r>
              <a:rPr sz="1000" spc="-10" dirty="0">
                <a:latin typeface="Arial"/>
                <a:cs typeface="Arial"/>
              </a:rPr>
              <a:t>two</a:t>
            </a:r>
            <a:r>
              <a:rPr sz="1000" spc="-5" dirty="0">
                <a:latin typeface="Arial"/>
                <a:cs typeface="Arial"/>
              </a:rPr>
              <a:t> concurrent </a:t>
            </a:r>
            <a:r>
              <a:rPr sz="1000" dirty="0">
                <a:latin typeface="Arial"/>
                <a:cs typeface="Arial"/>
              </a:rPr>
              <a:t>write</a:t>
            </a:r>
            <a:r>
              <a:rPr sz="1000" spc="-5" dirty="0">
                <a:latin typeface="Arial"/>
                <a:cs typeface="Arial"/>
              </a:rPr>
              <a:t> operations</a:t>
            </a:r>
            <a:endParaRPr sz="1000" dirty="0">
              <a:latin typeface="Arial"/>
              <a:cs typeface="Arial"/>
            </a:endParaRPr>
          </a:p>
          <a:p>
            <a:pPr>
              <a:lnSpc>
                <a:spcPct val="100000"/>
              </a:lnSpc>
            </a:pPr>
            <a:endParaRPr sz="1300" dirty="0">
              <a:latin typeface="Arial"/>
              <a:cs typeface="Arial"/>
            </a:endParaRPr>
          </a:p>
          <a:p>
            <a:pPr marL="289560">
              <a:lnSpc>
                <a:spcPts val="1410"/>
              </a:lnSpc>
            </a:pPr>
            <a:r>
              <a:rPr sz="1200" spc="-5" dirty="0">
                <a:solidFill>
                  <a:srgbClr val="3333B2"/>
                </a:solidFill>
                <a:latin typeface="Arial"/>
                <a:cs typeface="Arial"/>
              </a:rPr>
              <a:t>Issue</a:t>
            </a:r>
            <a:endParaRPr sz="1200" dirty="0">
              <a:latin typeface="Arial"/>
              <a:cs typeface="Arial"/>
            </a:endParaRPr>
          </a:p>
          <a:p>
            <a:pPr marL="289560" marR="17780">
              <a:lnSpc>
                <a:spcPts val="1200"/>
              </a:lnSpc>
              <a:spcBef>
                <a:spcPts val="15"/>
              </a:spcBef>
            </a:pPr>
            <a:r>
              <a:rPr sz="1000" spc="-15" dirty="0">
                <a:latin typeface="Arial"/>
                <a:cs typeface="Arial"/>
              </a:rPr>
              <a:t>Guaranteeing</a:t>
            </a:r>
            <a:r>
              <a:rPr sz="1000" dirty="0">
                <a:latin typeface="Arial"/>
                <a:cs typeface="Arial"/>
              </a:rPr>
              <a:t> </a:t>
            </a:r>
            <a:r>
              <a:rPr sz="1000" spc="-10" dirty="0">
                <a:latin typeface="Arial"/>
                <a:cs typeface="Arial"/>
              </a:rPr>
              <a:t>global</a:t>
            </a:r>
            <a:r>
              <a:rPr sz="1000" dirty="0">
                <a:latin typeface="Arial"/>
                <a:cs typeface="Arial"/>
              </a:rPr>
              <a:t> </a:t>
            </a:r>
            <a:r>
              <a:rPr sz="1000" spc="-10" dirty="0">
                <a:latin typeface="Arial"/>
                <a:cs typeface="Arial"/>
              </a:rPr>
              <a:t>ordering</a:t>
            </a:r>
            <a:r>
              <a:rPr sz="1000" spc="5" dirty="0">
                <a:latin typeface="Arial"/>
                <a:cs typeface="Arial"/>
              </a:rPr>
              <a:t> </a:t>
            </a:r>
            <a:r>
              <a:rPr sz="1000" spc="-15" dirty="0">
                <a:latin typeface="Arial"/>
                <a:cs typeface="Arial"/>
              </a:rPr>
              <a:t>on</a:t>
            </a:r>
            <a:r>
              <a:rPr sz="1000" dirty="0">
                <a:latin typeface="Arial"/>
                <a:cs typeface="Arial"/>
              </a:rPr>
              <a:t> </a:t>
            </a:r>
            <a:r>
              <a:rPr sz="1000" spc="-10" dirty="0">
                <a:latin typeface="Arial"/>
                <a:cs typeface="Arial"/>
              </a:rPr>
              <a:t>conflicting</a:t>
            </a:r>
            <a:r>
              <a:rPr sz="1000" spc="5" dirty="0">
                <a:latin typeface="Arial"/>
                <a:cs typeface="Arial"/>
              </a:rPr>
              <a:t> </a:t>
            </a:r>
            <a:r>
              <a:rPr sz="1000" spc="-15" dirty="0">
                <a:latin typeface="Arial"/>
                <a:cs typeface="Arial"/>
              </a:rPr>
              <a:t>operations</a:t>
            </a:r>
            <a:r>
              <a:rPr sz="1000" dirty="0">
                <a:latin typeface="Arial"/>
                <a:cs typeface="Arial"/>
              </a:rPr>
              <a:t> </a:t>
            </a:r>
            <a:r>
              <a:rPr sz="1000" spc="-25" dirty="0">
                <a:latin typeface="Arial"/>
                <a:cs typeface="Arial"/>
              </a:rPr>
              <a:t>may</a:t>
            </a:r>
            <a:r>
              <a:rPr sz="1000" spc="5" dirty="0">
                <a:latin typeface="Arial"/>
                <a:cs typeface="Arial"/>
              </a:rPr>
              <a:t> </a:t>
            </a:r>
            <a:r>
              <a:rPr sz="1000" spc="-15" dirty="0">
                <a:latin typeface="Arial"/>
                <a:cs typeface="Arial"/>
              </a:rPr>
              <a:t>be</a:t>
            </a:r>
            <a:r>
              <a:rPr sz="1000" dirty="0">
                <a:latin typeface="Arial"/>
                <a:cs typeface="Arial"/>
              </a:rPr>
              <a:t> </a:t>
            </a:r>
            <a:r>
              <a:rPr sz="1000" spc="-15" dirty="0">
                <a:latin typeface="Arial"/>
                <a:cs typeface="Arial"/>
              </a:rPr>
              <a:t>a</a:t>
            </a:r>
            <a:r>
              <a:rPr sz="1000" spc="5" dirty="0">
                <a:latin typeface="Arial"/>
                <a:cs typeface="Arial"/>
              </a:rPr>
              <a:t> </a:t>
            </a:r>
            <a:r>
              <a:rPr sz="1000" spc="-10" dirty="0">
                <a:latin typeface="Arial"/>
                <a:cs typeface="Arial"/>
              </a:rPr>
              <a:t>costly </a:t>
            </a:r>
            <a:r>
              <a:rPr sz="1000" spc="-265" dirty="0">
                <a:latin typeface="Arial"/>
                <a:cs typeface="Arial"/>
              </a:rPr>
              <a:t> </a:t>
            </a:r>
            <a:r>
              <a:rPr sz="1000" spc="-5" dirty="0">
                <a:latin typeface="Arial"/>
                <a:cs typeface="Arial"/>
              </a:rPr>
              <a:t>operation,</a:t>
            </a:r>
            <a:r>
              <a:rPr sz="1000" dirty="0">
                <a:latin typeface="Arial"/>
                <a:cs typeface="Arial"/>
              </a:rPr>
              <a:t> </a:t>
            </a:r>
            <a:r>
              <a:rPr sz="1000" spc="-10" dirty="0">
                <a:latin typeface="Arial"/>
                <a:cs typeface="Arial"/>
              </a:rPr>
              <a:t>downgrading</a:t>
            </a:r>
            <a:r>
              <a:rPr sz="1000" dirty="0">
                <a:latin typeface="Arial"/>
                <a:cs typeface="Arial"/>
              </a:rPr>
              <a:t> </a:t>
            </a:r>
            <a:r>
              <a:rPr sz="1000" spc="-5" dirty="0">
                <a:latin typeface="Arial"/>
                <a:cs typeface="Arial"/>
              </a:rPr>
              <a:t>scalability</a:t>
            </a:r>
            <a:r>
              <a:rPr sz="1000" spc="5" dirty="0">
                <a:latin typeface="Arial"/>
                <a:cs typeface="Arial"/>
              </a:rPr>
              <a:t> </a:t>
            </a:r>
            <a:r>
              <a:rPr sz="1000" spc="-5" dirty="0">
                <a:solidFill>
                  <a:srgbClr val="FA0000"/>
                </a:solidFill>
                <a:latin typeface="Arial"/>
                <a:cs typeface="Arial"/>
              </a:rPr>
              <a:t>Solution:</a:t>
            </a:r>
            <a:r>
              <a:rPr sz="1000" spc="65" dirty="0">
                <a:solidFill>
                  <a:srgbClr val="FA0000"/>
                </a:solidFill>
                <a:latin typeface="Arial"/>
                <a:cs typeface="Arial"/>
              </a:rPr>
              <a:t> </a:t>
            </a:r>
            <a:r>
              <a:rPr sz="1000" spc="-10" dirty="0">
                <a:latin typeface="Arial"/>
                <a:cs typeface="Arial"/>
              </a:rPr>
              <a:t>weaken</a:t>
            </a:r>
            <a:r>
              <a:rPr sz="1000" spc="5" dirty="0">
                <a:latin typeface="Arial"/>
                <a:cs typeface="Arial"/>
              </a:rPr>
              <a:t> </a:t>
            </a:r>
            <a:r>
              <a:rPr sz="1000" spc="-5" dirty="0">
                <a:latin typeface="Arial"/>
                <a:cs typeface="Arial"/>
              </a:rPr>
              <a:t>consistency </a:t>
            </a:r>
            <a:r>
              <a:rPr sz="1000" dirty="0">
                <a:latin typeface="Arial"/>
                <a:cs typeface="Arial"/>
              </a:rPr>
              <a:t> </a:t>
            </a:r>
            <a:r>
              <a:rPr sz="1000" spc="-5" dirty="0">
                <a:latin typeface="Arial"/>
                <a:cs typeface="Arial"/>
              </a:rPr>
              <a:t>requirements</a:t>
            </a:r>
            <a:r>
              <a:rPr sz="1000" dirty="0">
                <a:latin typeface="Arial"/>
                <a:cs typeface="Arial"/>
              </a:rPr>
              <a:t> </a:t>
            </a:r>
            <a:r>
              <a:rPr sz="1000" spc="-5" dirty="0">
                <a:latin typeface="Arial"/>
                <a:cs typeface="Arial"/>
              </a:rPr>
              <a:t>so</a:t>
            </a:r>
            <a:r>
              <a:rPr sz="1000" spc="5"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hopefully</a:t>
            </a:r>
            <a:r>
              <a:rPr sz="1000" spc="5" dirty="0">
                <a:latin typeface="Arial"/>
                <a:cs typeface="Arial"/>
              </a:rPr>
              <a:t> </a:t>
            </a:r>
            <a:r>
              <a:rPr sz="1000" spc="-5" dirty="0">
                <a:latin typeface="Arial"/>
                <a:cs typeface="Arial"/>
              </a:rPr>
              <a:t>global</a:t>
            </a:r>
            <a:r>
              <a:rPr sz="1000" dirty="0">
                <a:latin typeface="Arial"/>
                <a:cs typeface="Arial"/>
              </a:rPr>
              <a:t> </a:t>
            </a:r>
            <a:r>
              <a:rPr sz="1000" spc="-5" dirty="0">
                <a:latin typeface="Arial"/>
                <a:cs typeface="Arial"/>
              </a:rPr>
              <a:t>synchronization</a:t>
            </a:r>
            <a:r>
              <a:rPr sz="1000" spc="5" dirty="0">
                <a:latin typeface="Arial"/>
                <a:cs typeface="Arial"/>
              </a:rPr>
              <a:t> </a:t>
            </a:r>
            <a:r>
              <a:rPr sz="1000" spc="-5" dirty="0">
                <a:latin typeface="Arial"/>
                <a:cs typeface="Arial"/>
              </a:rPr>
              <a:t>can</a:t>
            </a:r>
            <a:r>
              <a:rPr sz="1000" spc="5" dirty="0">
                <a:latin typeface="Arial"/>
                <a:cs typeface="Arial"/>
              </a:rPr>
              <a:t> </a:t>
            </a:r>
            <a:r>
              <a:rPr sz="1000" spc="-5" dirty="0">
                <a:latin typeface="Arial"/>
                <a:cs typeface="Arial"/>
              </a:rPr>
              <a:t>be</a:t>
            </a:r>
            <a:r>
              <a:rPr sz="1000" spc="5" dirty="0">
                <a:latin typeface="Arial"/>
                <a:cs typeface="Arial"/>
              </a:rPr>
              <a:t> </a:t>
            </a:r>
            <a:r>
              <a:rPr sz="1000" spc="-10" dirty="0">
                <a:latin typeface="Arial"/>
                <a:cs typeface="Arial"/>
              </a:rPr>
              <a:t>avoided</a:t>
            </a:r>
            <a:endParaRPr sz="1000" dirty="0">
              <a:latin typeface="Arial"/>
              <a:cs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Data-centric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a:spLocks noGrp="1"/>
          </p:cNvSpPr>
          <p:nvPr>
            <p:ph type="title"/>
          </p:nvPr>
        </p:nvSpPr>
        <p:spPr>
          <a:xfrm>
            <a:off x="95300" y="188846"/>
            <a:ext cx="2650490" cy="244475"/>
          </a:xfrm>
          <a:prstGeom prst="rect">
            <a:avLst/>
          </a:prstGeom>
        </p:spPr>
        <p:txBody>
          <a:bodyPr vert="horz" wrap="square" lIns="0" tIns="17145" rIns="0" bIns="0" rtlCol="0">
            <a:spAutoFit/>
          </a:bodyPr>
          <a:lstStyle/>
          <a:p>
            <a:pPr marL="12700">
              <a:lnSpc>
                <a:spcPct val="100000"/>
              </a:lnSpc>
              <a:spcBef>
                <a:spcPts val="135"/>
              </a:spcBef>
            </a:pPr>
            <a:r>
              <a:rPr spc="15" dirty="0"/>
              <a:t>Data-centric</a:t>
            </a:r>
            <a:r>
              <a:rPr spc="-15" dirty="0"/>
              <a:t> </a:t>
            </a:r>
            <a:r>
              <a:rPr spc="15" dirty="0"/>
              <a:t>consistency</a:t>
            </a:r>
            <a:r>
              <a:rPr spc="-15" dirty="0"/>
              <a:t> </a:t>
            </a:r>
            <a:r>
              <a:rPr spc="15" dirty="0"/>
              <a:t>models</a:t>
            </a:r>
          </a:p>
        </p:txBody>
      </p:sp>
      <p:sp>
        <p:nvSpPr>
          <p:cNvPr id="4" name="object 4"/>
          <p:cNvSpPr txBox="1"/>
          <p:nvPr/>
        </p:nvSpPr>
        <p:spPr>
          <a:xfrm>
            <a:off x="1635328" y="2800225"/>
            <a:ext cx="8274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Distributed</a:t>
            </a:r>
            <a:r>
              <a:rPr sz="650" spc="-30" dirty="0">
                <a:solidFill>
                  <a:srgbClr val="231F20"/>
                </a:solidFill>
                <a:latin typeface="Arial"/>
                <a:cs typeface="Arial"/>
              </a:rPr>
              <a:t> </a:t>
            </a:r>
            <a:r>
              <a:rPr sz="650" spc="5" dirty="0">
                <a:solidFill>
                  <a:srgbClr val="231F20"/>
                </a:solidFill>
                <a:latin typeface="Arial"/>
                <a:cs typeface="Arial"/>
              </a:rPr>
              <a:t>data</a:t>
            </a:r>
            <a:r>
              <a:rPr sz="650" spc="-30" dirty="0">
                <a:solidFill>
                  <a:srgbClr val="231F20"/>
                </a:solidFill>
                <a:latin typeface="Arial"/>
                <a:cs typeface="Arial"/>
              </a:rPr>
              <a:t> </a:t>
            </a:r>
            <a:r>
              <a:rPr sz="650" spc="5" dirty="0">
                <a:solidFill>
                  <a:srgbClr val="231F20"/>
                </a:solidFill>
                <a:latin typeface="Arial"/>
                <a:cs typeface="Arial"/>
              </a:rPr>
              <a:t>store</a:t>
            </a:r>
            <a:endParaRPr sz="650">
              <a:latin typeface="Arial"/>
              <a:cs typeface="Arial"/>
            </a:endParaRPr>
          </a:p>
        </p:txBody>
      </p:sp>
      <p:grpSp>
        <p:nvGrpSpPr>
          <p:cNvPr id="5" name="object 5"/>
          <p:cNvGrpSpPr/>
          <p:nvPr/>
        </p:nvGrpSpPr>
        <p:grpSpPr>
          <a:xfrm>
            <a:off x="1196964" y="1923296"/>
            <a:ext cx="1739264" cy="884555"/>
            <a:chOff x="1196964" y="1923296"/>
            <a:chExt cx="1739264" cy="884555"/>
          </a:xfrm>
        </p:grpSpPr>
        <p:sp>
          <p:nvSpPr>
            <p:cNvPr id="6" name="object 6"/>
            <p:cNvSpPr/>
            <p:nvPr/>
          </p:nvSpPr>
          <p:spPr>
            <a:xfrm>
              <a:off x="2033545" y="2671187"/>
              <a:ext cx="67310" cy="133985"/>
            </a:xfrm>
            <a:custGeom>
              <a:avLst/>
              <a:gdLst/>
              <a:ahLst/>
              <a:cxnLst/>
              <a:rect l="l" t="t" r="r" b="b"/>
              <a:pathLst>
                <a:path w="67310" h="133985">
                  <a:moveTo>
                    <a:pt x="66766" y="133520"/>
                  </a:moveTo>
                  <a:lnTo>
                    <a:pt x="0" y="0"/>
                  </a:lnTo>
                </a:path>
              </a:pathLst>
            </a:custGeom>
            <a:ln w="5270">
              <a:solidFill>
                <a:srgbClr val="231F20"/>
              </a:solidFill>
            </a:ln>
          </p:spPr>
          <p:txBody>
            <a:bodyPr wrap="square" lIns="0" tIns="0" rIns="0" bIns="0" rtlCol="0"/>
            <a:lstStyle/>
            <a:p>
              <a:endParaRPr/>
            </a:p>
          </p:txBody>
        </p:sp>
        <p:sp>
          <p:nvSpPr>
            <p:cNvPr id="7" name="object 7"/>
            <p:cNvSpPr/>
            <p:nvPr/>
          </p:nvSpPr>
          <p:spPr>
            <a:xfrm>
              <a:off x="1319351" y="2583507"/>
              <a:ext cx="1404620" cy="0"/>
            </a:xfrm>
            <a:custGeom>
              <a:avLst/>
              <a:gdLst/>
              <a:ahLst/>
              <a:cxnLst/>
              <a:rect l="l" t="t" r="r" b="b"/>
              <a:pathLst>
                <a:path w="1404620">
                  <a:moveTo>
                    <a:pt x="0" y="0"/>
                  </a:moveTo>
                  <a:lnTo>
                    <a:pt x="1404365" y="0"/>
                  </a:lnTo>
                </a:path>
              </a:pathLst>
            </a:custGeom>
            <a:ln w="15812">
              <a:solidFill>
                <a:srgbClr val="231F20"/>
              </a:solidFill>
            </a:ln>
          </p:spPr>
          <p:txBody>
            <a:bodyPr wrap="square" lIns="0" tIns="0" rIns="0" bIns="0" rtlCol="0"/>
            <a:lstStyle/>
            <a:p>
              <a:endParaRPr/>
            </a:p>
          </p:txBody>
        </p:sp>
        <p:sp>
          <p:nvSpPr>
            <p:cNvPr id="8" name="object 8"/>
            <p:cNvSpPr/>
            <p:nvPr/>
          </p:nvSpPr>
          <p:spPr>
            <a:xfrm>
              <a:off x="1297490" y="2324710"/>
              <a:ext cx="283210" cy="75565"/>
            </a:xfrm>
            <a:custGeom>
              <a:avLst/>
              <a:gdLst/>
              <a:ahLst/>
              <a:cxnLst/>
              <a:rect l="l" t="t" r="r" b="b"/>
              <a:pathLst>
                <a:path w="283209" h="75564">
                  <a:moveTo>
                    <a:pt x="141376" y="0"/>
                  </a:moveTo>
                  <a:lnTo>
                    <a:pt x="196318" y="2969"/>
                  </a:lnTo>
                  <a:lnTo>
                    <a:pt x="241266" y="11059"/>
                  </a:lnTo>
                  <a:lnTo>
                    <a:pt x="271614" y="23043"/>
                  </a:lnTo>
                  <a:lnTo>
                    <a:pt x="282754" y="37695"/>
                  </a:lnTo>
                  <a:lnTo>
                    <a:pt x="271614" y="52344"/>
                  </a:lnTo>
                  <a:lnTo>
                    <a:pt x="241266" y="64329"/>
                  </a:lnTo>
                  <a:lnTo>
                    <a:pt x="196318" y="72421"/>
                  </a:lnTo>
                  <a:lnTo>
                    <a:pt x="141376" y="75392"/>
                  </a:lnTo>
                  <a:lnTo>
                    <a:pt x="86436" y="72421"/>
                  </a:lnTo>
                  <a:lnTo>
                    <a:pt x="41488" y="64329"/>
                  </a:lnTo>
                  <a:lnTo>
                    <a:pt x="11140" y="52344"/>
                  </a:lnTo>
                  <a:lnTo>
                    <a:pt x="0" y="37695"/>
                  </a:lnTo>
                  <a:lnTo>
                    <a:pt x="11140" y="23043"/>
                  </a:lnTo>
                  <a:lnTo>
                    <a:pt x="41488" y="11059"/>
                  </a:lnTo>
                  <a:lnTo>
                    <a:pt x="86436" y="2969"/>
                  </a:lnTo>
                  <a:lnTo>
                    <a:pt x="141376" y="0"/>
                  </a:lnTo>
                  <a:close/>
                </a:path>
              </a:pathLst>
            </a:custGeom>
            <a:ln w="5270">
              <a:solidFill>
                <a:srgbClr val="231F20"/>
              </a:solidFill>
            </a:ln>
          </p:spPr>
          <p:txBody>
            <a:bodyPr wrap="square" lIns="0" tIns="0" rIns="0" bIns="0" rtlCol="0"/>
            <a:lstStyle/>
            <a:p>
              <a:endParaRPr/>
            </a:p>
          </p:txBody>
        </p:sp>
        <p:sp>
          <p:nvSpPr>
            <p:cNvPr id="9" name="object 9"/>
            <p:cNvSpPr/>
            <p:nvPr/>
          </p:nvSpPr>
          <p:spPr>
            <a:xfrm>
              <a:off x="1297490" y="2363431"/>
              <a:ext cx="283210" cy="157480"/>
            </a:xfrm>
            <a:custGeom>
              <a:avLst/>
              <a:gdLst/>
              <a:ahLst/>
              <a:cxnLst/>
              <a:rect l="l" t="t" r="r" b="b"/>
              <a:pathLst>
                <a:path w="283209" h="157480">
                  <a:moveTo>
                    <a:pt x="282754" y="0"/>
                  </a:moveTo>
                  <a:lnTo>
                    <a:pt x="271614" y="14649"/>
                  </a:lnTo>
                  <a:lnTo>
                    <a:pt x="241266" y="26637"/>
                  </a:lnTo>
                  <a:lnTo>
                    <a:pt x="196318" y="34733"/>
                  </a:lnTo>
                  <a:lnTo>
                    <a:pt x="141376" y="37705"/>
                  </a:lnTo>
                  <a:lnTo>
                    <a:pt x="86436" y="34733"/>
                  </a:lnTo>
                  <a:lnTo>
                    <a:pt x="41488" y="26637"/>
                  </a:lnTo>
                  <a:lnTo>
                    <a:pt x="11140" y="14649"/>
                  </a:lnTo>
                  <a:lnTo>
                    <a:pt x="0" y="0"/>
                  </a:lnTo>
                  <a:lnTo>
                    <a:pt x="4" y="119385"/>
                  </a:lnTo>
                  <a:lnTo>
                    <a:pt x="12153" y="135879"/>
                  </a:lnTo>
                  <a:lnTo>
                    <a:pt x="44184" y="147660"/>
                  </a:lnTo>
                  <a:lnTo>
                    <a:pt x="89468" y="154729"/>
                  </a:lnTo>
                  <a:lnTo>
                    <a:pt x="141379" y="157085"/>
                  </a:lnTo>
                  <a:lnTo>
                    <a:pt x="193290" y="154729"/>
                  </a:lnTo>
                  <a:lnTo>
                    <a:pt x="238575" y="147660"/>
                  </a:lnTo>
                  <a:lnTo>
                    <a:pt x="270605" y="135879"/>
                  </a:lnTo>
                  <a:lnTo>
                    <a:pt x="282754" y="119385"/>
                  </a:lnTo>
                  <a:lnTo>
                    <a:pt x="282754" y="0"/>
                  </a:lnTo>
                  <a:close/>
                </a:path>
              </a:pathLst>
            </a:custGeom>
            <a:solidFill>
              <a:srgbClr val="BCBEC0"/>
            </a:solidFill>
          </p:spPr>
          <p:txBody>
            <a:bodyPr wrap="square" lIns="0" tIns="0" rIns="0" bIns="0" rtlCol="0"/>
            <a:lstStyle/>
            <a:p>
              <a:endParaRPr/>
            </a:p>
          </p:txBody>
        </p:sp>
        <p:sp>
          <p:nvSpPr>
            <p:cNvPr id="10" name="object 10"/>
            <p:cNvSpPr/>
            <p:nvPr/>
          </p:nvSpPr>
          <p:spPr>
            <a:xfrm>
              <a:off x="1297490" y="2363431"/>
              <a:ext cx="283210" cy="157480"/>
            </a:xfrm>
            <a:custGeom>
              <a:avLst/>
              <a:gdLst/>
              <a:ahLst/>
              <a:cxnLst/>
              <a:rect l="l" t="t" r="r" b="b"/>
              <a:pathLst>
                <a:path w="283209" h="157480">
                  <a:moveTo>
                    <a:pt x="282754" y="119385"/>
                  </a:moveTo>
                  <a:lnTo>
                    <a:pt x="270605" y="135879"/>
                  </a:lnTo>
                  <a:lnTo>
                    <a:pt x="238575" y="147660"/>
                  </a:lnTo>
                  <a:lnTo>
                    <a:pt x="193290" y="154729"/>
                  </a:lnTo>
                  <a:lnTo>
                    <a:pt x="141379" y="157085"/>
                  </a:lnTo>
                  <a:lnTo>
                    <a:pt x="89468" y="154729"/>
                  </a:lnTo>
                  <a:lnTo>
                    <a:pt x="44184" y="147660"/>
                  </a:lnTo>
                  <a:lnTo>
                    <a:pt x="12153" y="135879"/>
                  </a:lnTo>
                  <a:lnTo>
                    <a:pt x="4" y="119385"/>
                  </a:lnTo>
                  <a:lnTo>
                    <a:pt x="0" y="0"/>
                  </a:lnTo>
                  <a:lnTo>
                    <a:pt x="11140" y="14649"/>
                  </a:lnTo>
                  <a:lnTo>
                    <a:pt x="41488" y="26637"/>
                  </a:lnTo>
                  <a:lnTo>
                    <a:pt x="86436" y="34733"/>
                  </a:lnTo>
                  <a:lnTo>
                    <a:pt x="141376" y="37705"/>
                  </a:lnTo>
                  <a:lnTo>
                    <a:pt x="196318" y="34733"/>
                  </a:lnTo>
                  <a:lnTo>
                    <a:pt x="241266" y="26637"/>
                  </a:lnTo>
                  <a:lnTo>
                    <a:pt x="271614" y="14649"/>
                  </a:lnTo>
                  <a:lnTo>
                    <a:pt x="282754" y="0"/>
                  </a:lnTo>
                  <a:lnTo>
                    <a:pt x="282754" y="119385"/>
                  </a:lnTo>
                  <a:close/>
                </a:path>
              </a:pathLst>
            </a:custGeom>
            <a:ln w="5270">
              <a:solidFill>
                <a:srgbClr val="231F20"/>
              </a:solidFill>
            </a:ln>
          </p:spPr>
          <p:txBody>
            <a:bodyPr wrap="square" lIns="0" tIns="0" rIns="0" bIns="0" rtlCol="0"/>
            <a:lstStyle/>
            <a:p>
              <a:endParaRPr/>
            </a:p>
          </p:txBody>
        </p:sp>
        <p:pic>
          <p:nvPicPr>
            <p:cNvPr id="11" name="object 11"/>
            <p:cNvPicPr/>
            <p:nvPr/>
          </p:nvPicPr>
          <p:blipFill>
            <a:blip r:embed="rId5" cstate="print"/>
            <a:stretch>
              <a:fillRect/>
            </a:stretch>
          </p:blipFill>
          <p:spPr>
            <a:xfrm>
              <a:off x="1316716" y="1923518"/>
              <a:ext cx="244312" cy="438887"/>
            </a:xfrm>
            <a:prstGeom prst="rect">
              <a:avLst/>
            </a:prstGeom>
          </p:spPr>
        </p:pic>
        <p:sp>
          <p:nvSpPr>
            <p:cNvPr id="12" name="object 12"/>
            <p:cNvSpPr/>
            <p:nvPr/>
          </p:nvSpPr>
          <p:spPr>
            <a:xfrm>
              <a:off x="1438867" y="2523753"/>
              <a:ext cx="0" cy="60325"/>
            </a:xfrm>
            <a:custGeom>
              <a:avLst/>
              <a:gdLst/>
              <a:ahLst/>
              <a:cxnLst/>
              <a:rect l="l" t="t" r="r" b="b"/>
              <a:pathLst>
                <a:path h="60325">
                  <a:moveTo>
                    <a:pt x="0" y="59753"/>
                  </a:moveTo>
                  <a:lnTo>
                    <a:pt x="0" y="0"/>
                  </a:lnTo>
                </a:path>
              </a:pathLst>
            </a:custGeom>
            <a:ln w="15812">
              <a:solidFill>
                <a:srgbClr val="231F20"/>
              </a:solidFill>
            </a:ln>
          </p:spPr>
          <p:txBody>
            <a:bodyPr wrap="square" lIns="0" tIns="0" rIns="0" bIns="0" rtlCol="0"/>
            <a:lstStyle/>
            <a:p>
              <a:endParaRPr/>
            </a:p>
          </p:txBody>
        </p:sp>
        <p:sp>
          <p:nvSpPr>
            <p:cNvPr id="13" name="object 13"/>
            <p:cNvSpPr/>
            <p:nvPr/>
          </p:nvSpPr>
          <p:spPr>
            <a:xfrm>
              <a:off x="1888170" y="2324710"/>
              <a:ext cx="283210" cy="75565"/>
            </a:xfrm>
            <a:custGeom>
              <a:avLst/>
              <a:gdLst/>
              <a:ahLst/>
              <a:cxnLst/>
              <a:rect l="l" t="t" r="r" b="b"/>
              <a:pathLst>
                <a:path w="283210" h="75564">
                  <a:moveTo>
                    <a:pt x="141381" y="0"/>
                  </a:moveTo>
                  <a:lnTo>
                    <a:pt x="196319" y="2969"/>
                  </a:lnTo>
                  <a:lnTo>
                    <a:pt x="241268" y="11059"/>
                  </a:lnTo>
                  <a:lnTo>
                    <a:pt x="271617" y="23043"/>
                  </a:lnTo>
                  <a:lnTo>
                    <a:pt x="282758" y="37695"/>
                  </a:lnTo>
                  <a:lnTo>
                    <a:pt x="271617" y="52344"/>
                  </a:lnTo>
                  <a:lnTo>
                    <a:pt x="241268" y="64329"/>
                  </a:lnTo>
                  <a:lnTo>
                    <a:pt x="196319" y="72421"/>
                  </a:lnTo>
                  <a:lnTo>
                    <a:pt x="141381" y="75392"/>
                  </a:lnTo>
                  <a:lnTo>
                    <a:pt x="86440" y="72421"/>
                  </a:lnTo>
                  <a:lnTo>
                    <a:pt x="41490" y="64329"/>
                  </a:lnTo>
                  <a:lnTo>
                    <a:pt x="11140" y="52344"/>
                  </a:lnTo>
                  <a:lnTo>
                    <a:pt x="0" y="37695"/>
                  </a:lnTo>
                  <a:lnTo>
                    <a:pt x="11140" y="23043"/>
                  </a:lnTo>
                  <a:lnTo>
                    <a:pt x="41490" y="11059"/>
                  </a:lnTo>
                  <a:lnTo>
                    <a:pt x="86440" y="2969"/>
                  </a:lnTo>
                  <a:lnTo>
                    <a:pt x="141381" y="0"/>
                  </a:lnTo>
                  <a:close/>
                </a:path>
              </a:pathLst>
            </a:custGeom>
            <a:ln w="5270">
              <a:solidFill>
                <a:srgbClr val="231F20"/>
              </a:solidFill>
            </a:ln>
          </p:spPr>
          <p:txBody>
            <a:bodyPr wrap="square" lIns="0" tIns="0" rIns="0" bIns="0" rtlCol="0"/>
            <a:lstStyle/>
            <a:p>
              <a:endParaRPr/>
            </a:p>
          </p:txBody>
        </p:sp>
        <p:sp>
          <p:nvSpPr>
            <p:cNvPr id="14" name="object 14"/>
            <p:cNvSpPr/>
            <p:nvPr/>
          </p:nvSpPr>
          <p:spPr>
            <a:xfrm>
              <a:off x="1888170" y="2363431"/>
              <a:ext cx="283210" cy="157480"/>
            </a:xfrm>
            <a:custGeom>
              <a:avLst/>
              <a:gdLst/>
              <a:ahLst/>
              <a:cxnLst/>
              <a:rect l="l" t="t" r="r" b="b"/>
              <a:pathLst>
                <a:path w="283210" h="157480">
                  <a:moveTo>
                    <a:pt x="282758" y="0"/>
                  </a:moveTo>
                  <a:lnTo>
                    <a:pt x="271617" y="14649"/>
                  </a:lnTo>
                  <a:lnTo>
                    <a:pt x="241268" y="26637"/>
                  </a:lnTo>
                  <a:lnTo>
                    <a:pt x="196319" y="34733"/>
                  </a:lnTo>
                  <a:lnTo>
                    <a:pt x="141381" y="37705"/>
                  </a:lnTo>
                  <a:lnTo>
                    <a:pt x="86440" y="34733"/>
                  </a:lnTo>
                  <a:lnTo>
                    <a:pt x="41490" y="26637"/>
                  </a:lnTo>
                  <a:lnTo>
                    <a:pt x="11140" y="14649"/>
                  </a:lnTo>
                  <a:lnTo>
                    <a:pt x="0" y="0"/>
                  </a:lnTo>
                  <a:lnTo>
                    <a:pt x="4" y="119385"/>
                  </a:lnTo>
                  <a:lnTo>
                    <a:pt x="12153" y="135879"/>
                  </a:lnTo>
                  <a:lnTo>
                    <a:pt x="44184" y="147660"/>
                  </a:lnTo>
                  <a:lnTo>
                    <a:pt x="89469" y="154729"/>
                  </a:lnTo>
                  <a:lnTo>
                    <a:pt x="141381" y="157085"/>
                  </a:lnTo>
                  <a:lnTo>
                    <a:pt x="193293" y="154729"/>
                  </a:lnTo>
                  <a:lnTo>
                    <a:pt x="238577" y="147660"/>
                  </a:lnTo>
                  <a:lnTo>
                    <a:pt x="270608" y="135879"/>
                  </a:lnTo>
                  <a:lnTo>
                    <a:pt x="282758" y="119385"/>
                  </a:lnTo>
                  <a:lnTo>
                    <a:pt x="282758" y="0"/>
                  </a:lnTo>
                  <a:close/>
                </a:path>
              </a:pathLst>
            </a:custGeom>
            <a:solidFill>
              <a:srgbClr val="BCBEC0"/>
            </a:solidFill>
          </p:spPr>
          <p:txBody>
            <a:bodyPr wrap="square" lIns="0" tIns="0" rIns="0" bIns="0" rtlCol="0"/>
            <a:lstStyle/>
            <a:p>
              <a:endParaRPr/>
            </a:p>
          </p:txBody>
        </p:sp>
        <p:sp>
          <p:nvSpPr>
            <p:cNvPr id="15" name="object 15"/>
            <p:cNvSpPr/>
            <p:nvPr/>
          </p:nvSpPr>
          <p:spPr>
            <a:xfrm>
              <a:off x="1888170" y="2363431"/>
              <a:ext cx="283210" cy="157480"/>
            </a:xfrm>
            <a:custGeom>
              <a:avLst/>
              <a:gdLst/>
              <a:ahLst/>
              <a:cxnLst/>
              <a:rect l="l" t="t" r="r" b="b"/>
              <a:pathLst>
                <a:path w="283210" h="157480">
                  <a:moveTo>
                    <a:pt x="282758" y="119385"/>
                  </a:moveTo>
                  <a:lnTo>
                    <a:pt x="270608" y="135879"/>
                  </a:lnTo>
                  <a:lnTo>
                    <a:pt x="238577" y="147660"/>
                  </a:lnTo>
                  <a:lnTo>
                    <a:pt x="193293" y="154729"/>
                  </a:lnTo>
                  <a:lnTo>
                    <a:pt x="141381" y="157085"/>
                  </a:lnTo>
                  <a:lnTo>
                    <a:pt x="89469" y="154729"/>
                  </a:lnTo>
                  <a:lnTo>
                    <a:pt x="44184" y="147660"/>
                  </a:lnTo>
                  <a:lnTo>
                    <a:pt x="12153" y="135879"/>
                  </a:lnTo>
                  <a:lnTo>
                    <a:pt x="4" y="119385"/>
                  </a:lnTo>
                  <a:lnTo>
                    <a:pt x="0" y="0"/>
                  </a:lnTo>
                  <a:lnTo>
                    <a:pt x="11140" y="14649"/>
                  </a:lnTo>
                  <a:lnTo>
                    <a:pt x="41490" y="26637"/>
                  </a:lnTo>
                  <a:lnTo>
                    <a:pt x="86440" y="34733"/>
                  </a:lnTo>
                  <a:lnTo>
                    <a:pt x="141381" y="37705"/>
                  </a:lnTo>
                  <a:lnTo>
                    <a:pt x="196319" y="34733"/>
                  </a:lnTo>
                  <a:lnTo>
                    <a:pt x="241268" y="26637"/>
                  </a:lnTo>
                  <a:lnTo>
                    <a:pt x="271617" y="14649"/>
                  </a:lnTo>
                  <a:lnTo>
                    <a:pt x="282758" y="0"/>
                  </a:lnTo>
                  <a:lnTo>
                    <a:pt x="282758" y="119385"/>
                  </a:lnTo>
                  <a:close/>
                </a:path>
              </a:pathLst>
            </a:custGeom>
            <a:ln w="5270">
              <a:solidFill>
                <a:srgbClr val="231F20"/>
              </a:solidFill>
            </a:ln>
          </p:spPr>
          <p:txBody>
            <a:bodyPr wrap="square" lIns="0" tIns="0" rIns="0" bIns="0" rtlCol="0"/>
            <a:lstStyle/>
            <a:p>
              <a:endParaRPr/>
            </a:p>
          </p:txBody>
        </p:sp>
        <p:sp>
          <p:nvSpPr>
            <p:cNvPr id="16" name="object 16"/>
            <p:cNvSpPr/>
            <p:nvPr/>
          </p:nvSpPr>
          <p:spPr>
            <a:xfrm>
              <a:off x="2036464" y="2523753"/>
              <a:ext cx="0" cy="60325"/>
            </a:xfrm>
            <a:custGeom>
              <a:avLst/>
              <a:gdLst/>
              <a:ahLst/>
              <a:cxnLst/>
              <a:rect l="l" t="t" r="r" b="b"/>
              <a:pathLst>
                <a:path h="60325">
                  <a:moveTo>
                    <a:pt x="0" y="59753"/>
                  </a:moveTo>
                  <a:lnTo>
                    <a:pt x="0" y="0"/>
                  </a:lnTo>
                </a:path>
              </a:pathLst>
            </a:custGeom>
            <a:ln w="15812">
              <a:solidFill>
                <a:srgbClr val="231F20"/>
              </a:solidFill>
            </a:ln>
          </p:spPr>
          <p:txBody>
            <a:bodyPr wrap="square" lIns="0" tIns="0" rIns="0" bIns="0" rtlCol="0"/>
            <a:lstStyle/>
            <a:p>
              <a:endParaRPr/>
            </a:p>
          </p:txBody>
        </p:sp>
        <p:sp>
          <p:nvSpPr>
            <p:cNvPr id="17" name="object 17"/>
            <p:cNvSpPr/>
            <p:nvPr/>
          </p:nvSpPr>
          <p:spPr>
            <a:xfrm>
              <a:off x="2483235" y="2325306"/>
              <a:ext cx="283210" cy="75565"/>
            </a:xfrm>
            <a:custGeom>
              <a:avLst/>
              <a:gdLst/>
              <a:ahLst/>
              <a:cxnLst/>
              <a:rect l="l" t="t" r="r" b="b"/>
              <a:pathLst>
                <a:path w="283210" h="75564">
                  <a:moveTo>
                    <a:pt x="141375" y="0"/>
                  </a:moveTo>
                  <a:lnTo>
                    <a:pt x="196315" y="2970"/>
                  </a:lnTo>
                  <a:lnTo>
                    <a:pt x="241263" y="11062"/>
                  </a:lnTo>
                  <a:lnTo>
                    <a:pt x="271611" y="23048"/>
                  </a:lnTo>
                  <a:lnTo>
                    <a:pt x="282751" y="37700"/>
                  </a:lnTo>
                  <a:lnTo>
                    <a:pt x="271611" y="52349"/>
                  </a:lnTo>
                  <a:lnTo>
                    <a:pt x="241263" y="64333"/>
                  </a:lnTo>
                  <a:lnTo>
                    <a:pt x="196315" y="72426"/>
                  </a:lnTo>
                  <a:lnTo>
                    <a:pt x="141375" y="75396"/>
                  </a:lnTo>
                  <a:lnTo>
                    <a:pt x="86436" y="72426"/>
                  </a:lnTo>
                  <a:lnTo>
                    <a:pt x="41488" y="64333"/>
                  </a:lnTo>
                  <a:lnTo>
                    <a:pt x="11140" y="52349"/>
                  </a:lnTo>
                  <a:lnTo>
                    <a:pt x="0" y="37700"/>
                  </a:lnTo>
                  <a:lnTo>
                    <a:pt x="11140" y="23048"/>
                  </a:lnTo>
                  <a:lnTo>
                    <a:pt x="41488" y="11062"/>
                  </a:lnTo>
                  <a:lnTo>
                    <a:pt x="86436" y="2970"/>
                  </a:lnTo>
                  <a:lnTo>
                    <a:pt x="141375" y="0"/>
                  </a:lnTo>
                  <a:close/>
                </a:path>
              </a:pathLst>
            </a:custGeom>
            <a:ln w="5270">
              <a:solidFill>
                <a:srgbClr val="231F20"/>
              </a:solidFill>
            </a:ln>
          </p:spPr>
          <p:txBody>
            <a:bodyPr wrap="square" lIns="0" tIns="0" rIns="0" bIns="0" rtlCol="0"/>
            <a:lstStyle/>
            <a:p>
              <a:endParaRPr/>
            </a:p>
          </p:txBody>
        </p:sp>
        <p:sp>
          <p:nvSpPr>
            <p:cNvPr id="18" name="object 18"/>
            <p:cNvSpPr/>
            <p:nvPr/>
          </p:nvSpPr>
          <p:spPr>
            <a:xfrm>
              <a:off x="2483235" y="2364032"/>
              <a:ext cx="283210" cy="157480"/>
            </a:xfrm>
            <a:custGeom>
              <a:avLst/>
              <a:gdLst/>
              <a:ahLst/>
              <a:cxnLst/>
              <a:rect l="l" t="t" r="r" b="b"/>
              <a:pathLst>
                <a:path w="283210" h="157480">
                  <a:moveTo>
                    <a:pt x="282751" y="0"/>
                  </a:moveTo>
                  <a:lnTo>
                    <a:pt x="271611" y="14650"/>
                  </a:lnTo>
                  <a:lnTo>
                    <a:pt x="241263" y="26638"/>
                  </a:lnTo>
                  <a:lnTo>
                    <a:pt x="196315" y="34733"/>
                  </a:lnTo>
                  <a:lnTo>
                    <a:pt x="141375" y="37705"/>
                  </a:lnTo>
                  <a:lnTo>
                    <a:pt x="86436" y="34733"/>
                  </a:lnTo>
                  <a:lnTo>
                    <a:pt x="41488" y="26638"/>
                  </a:lnTo>
                  <a:lnTo>
                    <a:pt x="11140" y="14650"/>
                  </a:lnTo>
                  <a:lnTo>
                    <a:pt x="0" y="0"/>
                  </a:lnTo>
                  <a:lnTo>
                    <a:pt x="0" y="119389"/>
                  </a:lnTo>
                  <a:lnTo>
                    <a:pt x="12149" y="135882"/>
                  </a:lnTo>
                  <a:lnTo>
                    <a:pt x="44179" y="147662"/>
                  </a:lnTo>
                  <a:lnTo>
                    <a:pt x="89464" y="154731"/>
                  </a:lnTo>
                  <a:lnTo>
                    <a:pt x="141375" y="157087"/>
                  </a:lnTo>
                  <a:lnTo>
                    <a:pt x="193287" y="154731"/>
                  </a:lnTo>
                  <a:lnTo>
                    <a:pt x="238571" y="147662"/>
                  </a:lnTo>
                  <a:lnTo>
                    <a:pt x="270602" y="135882"/>
                  </a:lnTo>
                  <a:lnTo>
                    <a:pt x="282751" y="119389"/>
                  </a:lnTo>
                  <a:lnTo>
                    <a:pt x="282751" y="0"/>
                  </a:lnTo>
                  <a:close/>
                </a:path>
              </a:pathLst>
            </a:custGeom>
            <a:solidFill>
              <a:srgbClr val="BCBEC0"/>
            </a:solidFill>
          </p:spPr>
          <p:txBody>
            <a:bodyPr wrap="square" lIns="0" tIns="0" rIns="0" bIns="0" rtlCol="0"/>
            <a:lstStyle/>
            <a:p>
              <a:endParaRPr/>
            </a:p>
          </p:txBody>
        </p:sp>
        <p:sp>
          <p:nvSpPr>
            <p:cNvPr id="19" name="object 19"/>
            <p:cNvSpPr/>
            <p:nvPr/>
          </p:nvSpPr>
          <p:spPr>
            <a:xfrm>
              <a:off x="2483235" y="2364032"/>
              <a:ext cx="283210" cy="157480"/>
            </a:xfrm>
            <a:custGeom>
              <a:avLst/>
              <a:gdLst/>
              <a:ahLst/>
              <a:cxnLst/>
              <a:rect l="l" t="t" r="r" b="b"/>
              <a:pathLst>
                <a:path w="283210" h="157480">
                  <a:moveTo>
                    <a:pt x="282751" y="119389"/>
                  </a:moveTo>
                  <a:lnTo>
                    <a:pt x="270602" y="135882"/>
                  </a:lnTo>
                  <a:lnTo>
                    <a:pt x="238571" y="147662"/>
                  </a:lnTo>
                  <a:lnTo>
                    <a:pt x="193287" y="154731"/>
                  </a:lnTo>
                  <a:lnTo>
                    <a:pt x="141375" y="157087"/>
                  </a:lnTo>
                  <a:lnTo>
                    <a:pt x="89464" y="154731"/>
                  </a:lnTo>
                  <a:lnTo>
                    <a:pt x="44179" y="147662"/>
                  </a:lnTo>
                  <a:lnTo>
                    <a:pt x="12149" y="135882"/>
                  </a:lnTo>
                  <a:lnTo>
                    <a:pt x="0" y="119389"/>
                  </a:lnTo>
                  <a:lnTo>
                    <a:pt x="0" y="0"/>
                  </a:lnTo>
                  <a:lnTo>
                    <a:pt x="11140" y="14650"/>
                  </a:lnTo>
                  <a:lnTo>
                    <a:pt x="41488" y="26638"/>
                  </a:lnTo>
                  <a:lnTo>
                    <a:pt x="86436" y="34733"/>
                  </a:lnTo>
                  <a:lnTo>
                    <a:pt x="141375" y="37705"/>
                  </a:lnTo>
                  <a:lnTo>
                    <a:pt x="196315" y="34733"/>
                  </a:lnTo>
                  <a:lnTo>
                    <a:pt x="241263" y="26638"/>
                  </a:lnTo>
                  <a:lnTo>
                    <a:pt x="271611" y="14650"/>
                  </a:lnTo>
                  <a:lnTo>
                    <a:pt x="282751" y="0"/>
                  </a:lnTo>
                  <a:lnTo>
                    <a:pt x="282751" y="119389"/>
                  </a:lnTo>
                  <a:close/>
                </a:path>
              </a:pathLst>
            </a:custGeom>
            <a:ln w="5270">
              <a:solidFill>
                <a:srgbClr val="231F20"/>
              </a:solidFill>
            </a:ln>
          </p:spPr>
          <p:txBody>
            <a:bodyPr wrap="square" lIns="0" tIns="0" rIns="0" bIns="0" rtlCol="0"/>
            <a:lstStyle/>
            <a:p>
              <a:endParaRPr/>
            </a:p>
          </p:txBody>
        </p:sp>
        <p:sp>
          <p:nvSpPr>
            <p:cNvPr id="20" name="object 20"/>
            <p:cNvSpPr/>
            <p:nvPr/>
          </p:nvSpPr>
          <p:spPr>
            <a:xfrm>
              <a:off x="2634076" y="2523753"/>
              <a:ext cx="0" cy="60325"/>
            </a:xfrm>
            <a:custGeom>
              <a:avLst/>
              <a:gdLst/>
              <a:ahLst/>
              <a:cxnLst/>
              <a:rect l="l" t="t" r="r" b="b"/>
              <a:pathLst>
                <a:path h="60325">
                  <a:moveTo>
                    <a:pt x="0" y="59753"/>
                  </a:moveTo>
                  <a:lnTo>
                    <a:pt x="0" y="0"/>
                  </a:lnTo>
                </a:path>
              </a:pathLst>
            </a:custGeom>
            <a:ln w="15812">
              <a:solidFill>
                <a:srgbClr val="231F20"/>
              </a:solidFill>
            </a:ln>
          </p:spPr>
          <p:txBody>
            <a:bodyPr wrap="square" lIns="0" tIns="0" rIns="0" bIns="0" rtlCol="0"/>
            <a:lstStyle/>
            <a:p>
              <a:endParaRPr/>
            </a:p>
          </p:txBody>
        </p:sp>
        <p:sp>
          <p:nvSpPr>
            <p:cNvPr id="21" name="object 21"/>
            <p:cNvSpPr/>
            <p:nvPr/>
          </p:nvSpPr>
          <p:spPr>
            <a:xfrm>
              <a:off x="1199822" y="1926154"/>
              <a:ext cx="1733550" cy="744855"/>
            </a:xfrm>
            <a:custGeom>
              <a:avLst/>
              <a:gdLst/>
              <a:ahLst/>
              <a:cxnLst/>
              <a:rect l="l" t="t" r="r" b="b"/>
              <a:pathLst>
                <a:path w="1733550" h="744855">
                  <a:moveTo>
                    <a:pt x="866519" y="358561"/>
                  </a:moveTo>
                  <a:lnTo>
                    <a:pt x="945195" y="358866"/>
                  </a:lnTo>
                  <a:lnTo>
                    <a:pt x="1021931" y="359762"/>
                  </a:lnTo>
                  <a:lnTo>
                    <a:pt x="1096417" y="361222"/>
                  </a:lnTo>
                  <a:lnTo>
                    <a:pt x="1168344" y="363221"/>
                  </a:lnTo>
                  <a:lnTo>
                    <a:pt x="1237402" y="365732"/>
                  </a:lnTo>
                  <a:lnTo>
                    <a:pt x="1303281" y="368727"/>
                  </a:lnTo>
                  <a:lnTo>
                    <a:pt x="1365671" y="372182"/>
                  </a:lnTo>
                  <a:lnTo>
                    <a:pt x="1424261" y="376068"/>
                  </a:lnTo>
                  <a:lnTo>
                    <a:pt x="1478743" y="380359"/>
                  </a:lnTo>
                  <a:lnTo>
                    <a:pt x="1528805" y="385029"/>
                  </a:lnTo>
                  <a:lnTo>
                    <a:pt x="1574139" y="390051"/>
                  </a:lnTo>
                  <a:lnTo>
                    <a:pt x="1614434" y="395399"/>
                  </a:lnTo>
                  <a:lnTo>
                    <a:pt x="1678666" y="406965"/>
                  </a:lnTo>
                  <a:lnTo>
                    <a:pt x="1719025" y="419514"/>
                  </a:lnTo>
                  <a:lnTo>
                    <a:pt x="1733028" y="432834"/>
                  </a:lnTo>
                  <a:lnTo>
                    <a:pt x="1729476" y="439580"/>
                  </a:lnTo>
                  <a:lnTo>
                    <a:pt x="1678666" y="458712"/>
                  </a:lnTo>
                  <a:lnTo>
                    <a:pt x="1614434" y="470279"/>
                  </a:lnTo>
                  <a:lnTo>
                    <a:pt x="1574139" y="475628"/>
                  </a:lnTo>
                  <a:lnTo>
                    <a:pt x="1528805" y="480650"/>
                  </a:lnTo>
                  <a:lnTo>
                    <a:pt x="1478743" y="485320"/>
                  </a:lnTo>
                  <a:lnTo>
                    <a:pt x="1424261" y="489611"/>
                  </a:lnTo>
                  <a:lnTo>
                    <a:pt x="1365671" y="493497"/>
                  </a:lnTo>
                  <a:lnTo>
                    <a:pt x="1303281" y="496951"/>
                  </a:lnTo>
                  <a:lnTo>
                    <a:pt x="1237402" y="499946"/>
                  </a:lnTo>
                  <a:lnTo>
                    <a:pt x="1168344" y="502456"/>
                  </a:lnTo>
                  <a:lnTo>
                    <a:pt x="1096417" y="504455"/>
                  </a:lnTo>
                  <a:lnTo>
                    <a:pt x="1021931" y="505915"/>
                  </a:lnTo>
                  <a:lnTo>
                    <a:pt x="945195" y="506811"/>
                  </a:lnTo>
                  <a:lnTo>
                    <a:pt x="866519" y="507115"/>
                  </a:lnTo>
                  <a:lnTo>
                    <a:pt x="787842" y="506811"/>
                  </a:lnTo>
                  <a:lnTo>
                    <a:pt x="711104" y="505915"/>
                  </a:lnTo>
                  <a:lnTo>
                    <a:pt x="636616" y="504455"/>
                  </a:lnTo>
                  <a:lnTo>
                    <a:pt x="564687" y="502456"/>
                  </a:lnTo>
                  <a:lnTo>
                    <a:pt x="495628" y="499946"/>
                  </a:lnTo>
                  <a:lnTo>
                    <a:pt x="429748" y="496951"/>
                  </a:lnTo>
                  <a:lnTo>
                    <a:pt x="367358" y="493497"/>
                  </a:lnTo>
                  <a:lnTo>
                    <a:pt x="308767" y="489611"/>
                  </a:lnTo>
                  <a:lnTo>
                    <a:pt x="254285" y="485320"/>
                  </a:lnTo>
                  <a:lnTo>
                    <a:pt x="204222" y="480650"/>
                  </a:lnTo>
                  <a:lnTo>
                    <a:pt x="158889" y="475628"/>
                  </a:lnTo>
                  <a:lnTo>
                    <a:pt x="118594" y="470279"/>
                  </a:lnTo>
                  <a:lnTo>
                    <a:pt x="54361" y="458712"/>
                  </a:lnTo>
                  <a:lnTo>
                    <a:pt x="14003" y="446159"/>
                  </a:lnTo>
                  <a:lnTo>
                    <a:pt x="0" y="432834"/>
                  </a:lnTo>
                  <a:lnTo>
                    <a:pt x="3552" y="426091"/>
                  </a:lnTo>
                  <a:lnTo>
                    <a:pt x="54361" y="406965"/>
                  </a:lnTo>
                  <a:lnTo>
                    <a:pt x="118594" y="395399"/>
                  </a:lnTo>
                  <a:lnTo>
                    <a:pt x="158889" y="390051"/>
                  </a:lnTo>
                  <a:lnTo>
                    <a:pt x="204222" y="385029"/>
                  </a:lnTo>
                  <a:lnTo>
                    <a:pt x="254285" y="380359"/>
                  </a:lnTo>
                  <a:lnTo>
                    <a:pt x="308767" y="376068"/>
                  </a:lnTo>
                  <a:lnTo>
                    <a:pt x="367358" y="372182"/>
                  </a:lnTo>
                  <a:lnTo>
                    <a:pt x="429748" y="368727"/>
                  </a:lnTo>
                  <a:lnTo>
                    <a:pt x="495628" y="365732"/>
                  </a:lnTo>
                  <a:lnTo>
                    <a:pt x="564687" y="363221"/>
                  </a:lnTo>
                  <a:lnTo>
                    <a:pt x="636616" y="361222"/>
                  </a:lnTo>
                  <a:lnTo>
                    <a:pt x="711104" y="359762"/>
                  </a:lnTo>
                  <a:lnTo>
                    <a:pt x="787842" y="358866"/>
                  </a:lnTo>
                  <a:lnTo>
                    <a:pt x="866519" y="358561"/>
                  </a:lnTo>
                  <a:close/>
                </a:path>
                <a:path w="1733550" h="744855">
                  <a:moveTo>
                    <a:pt x="1733049" y="670093"/>
                  </a:moveTo>
                  <a:lnTo>
                    <a:pt x="1679484" y="698075"/>
                  </a:lnTo>
                  <a:lnTo>
                    <a:pt x="1617076" y="709598"/>
                  </a:lnTo>
                  <a:lnTo>
                    <a:pt x="1578292" y="714741"/>
                  </a:lnTo>
                  <a:lnTo>
                    <a:pt x="1534960" y="719474"/>
                  </a:lnTo>
                  <a:lnTo>
                    <a:pt x="1487459" y="723795"/>
                  </a:lnTo>
                  <a:lnTo>
                    <a:pt x="1436168" y="727704"/>
                  </a:lnTo>
                  <a:lnTo>
                    <a:pt x="1381466" y="731202"/>
                  </a:lnTo>
                  <a:lnTo>
                    <a:pt x="1323732" y="734288"/>
                  </a:lnTo>
                  <a:lnTo>
                    <a:pt x="1263345" y="736963"/>
                  </a:lnTo>
                  <a:lnTo>
                    <a:pt x="1200684" y="739226"/>
                  </a:lnTo>
                  <a:lnTo>
                    <a:pt x="1136128" y="741078"/>
                  </a:lnTo>
                  <a:lnTo>
                    <a:pt x="1070056" y="742518"/>
                  </a:lnTo>
                  <a:lnTo>
                    <a:pt x="1002847" y="743547"/>
                  </a:lnTo>
                  <a:lnTo>
                    <a:pt x="934881" y="744164"/>
                  </a:lnTo>
                  <a:lnTo>
                    <a:pt x="866535" y="744370"/>
                  </a:lnTo>
                  <a:lnTo>
                    <a:pt x="798189" y="744164"/>
                  </a:lnTo>
                  <a:lnTo>
                    <a:pt x="730222" y="743547"/>
                  </a:lnTo>
                  <a:lnTo>
                    <a:pt x="663013" y="742518"/>
                  </a:lnTo>
                  <a:lnTo>
                    <a:pt x="596941" y="741078"/>
                  </a:lnTo>
                  <a:lnTo>
                    <a:pt x="532385" y="739226"/>
                  </a:lnTo>
                  <a:lnTo>
                    <a:pt x="469724" y="736963"/>
                  </a:lnTo>
                  <a:lnTo>
                    <a:pt x="409337" y="734288"/>
                  </a:lnTo>
                  <a:lnTo>
                    <a:pt x="351603" y="731202"/>
                  </a:lnTo>
                  <a:lnTo>
                    <a:pt x="296901" y="727704"/>
                  </a:lnTo>
                  <a:lnTo>
                    <a:pt x="245610" y="723795"/>
                  </a:lnTo>
                  <a:lnTo>
                    <a:pt x="198109" y="719474"/>
                  </a:lnTo>
                  <a:lnTo>
                    <a:pt x="154777" y="714741"/>
                  </a:lnTo>
                  <a:lnTo>
                    <a:pt x="115993" y="709598"/>
                  </a:lnTo>
                  <a:lnTo>
                    <a:pt x="53585" y="698075"/>
                  </a:lnTo>
                  <a:lnTo>
                    <a:pt x="13917" y="684907"/>
                  </a:lnTo>
                  <a:lnTo>
                    <a:pt x="0" y="434860"/>
                  </a:lnTo>
                  <a:lnTo>
                    <a:pt x="3552" y="441606"/>
                  </a:lnTo>
                  <a:lnTo>
                    <a:pt x="14003" y="448185"/>
                  </a:lnTo>
                  <a:lnTo>
                    <a:pt x="54361" y="460737"/>
                  </a:lnTo>
                  <a:lnTo>
                    <a:pt x="118594" y="472305"/>
                  </a:lnTo>
                  <a:lnTo>
                    <a:pt x="158889" y="477653"/>
                  </a:lnTo>
                  <a:lnTo>
                    <a:pt x="204222" y="482676"/>
                  </a:lnTo>
                  <a:lnTo>
                    <a:pt x="254285" y="487346"/>
                  </a:lnTo>
                  <a:lnTo>
                    <a:pt x="308767" y="491637"/>
                  </a:lnTo>
                  <a:lnTo>
                    <a:pt x="367358" y="495523"/>
                  </a:lnTo>
                  <a:lnTo>
                    <a:pt x="429748" y="498977"/>
                  </a:lnTo>
                  <a:lnTo>
                    <a:pt x="495628" y="501972"/>
                  </a:lnTo>
                  <a:lnTo>
                    <a:pt x="564687" y="504482"/>
                  </a:lnTo>
                  <a:lnTo>
                    <a:pt x="636616" y="506481"/>
                  </a:lnTo>
                  <a:lnTo>
                    <a:pt x="711104" y="507941"/>
                  </a:lnTo>
                  <a:lnTo>
                    <a:pt x="787842" y="508837"/>
                  </a:lnTo>
                  <a:lnTo>
                    <a:pt x="866519" y="509141"/>
                  </a:lnTo>
                  <a:lnTo>
                    <a:pt x="945196" y="508837"/>
                  </a:lnTo>
                  <a:lnTo>
                    <a:pt x="1021933" y="507941"/>
                  </a:lnTo>
                  <a:lnTo>
                    <a:pt x="1096421" y="506481"/>
                  </a:lnTo>
                  <a:lnTo>
                    <a:pt x="1168349" y="504482"/>
                  </a:lnTo>
                  <a:lnTo>
                    <a:pt x="1237407" y="501972"/>
                  </a:lnTo>
                  <a:lnTo>
                    <a:pt x="1303286" y="498977"/>
                  </a:lnTo>
                  <a:lnTo>
                    <a:pt x="1365675" y="495523"/>
                  </a:lnTo>
                  <a:lnTo>
                    <a:pt x="1424266" y="491637"/>
                  </a:lnTo>
                  <a:lnTo>
                    <a:pt x="1478747" y="487346"/>
                  </a:lnTo>
                  <a:lnTo>
                    <a:pt x="1528809" y="482676"/>
                  </a:lnTo>
                  <a:lnTo>
                    <a:pt x="1574142" y="477653"/>
                  </a:lnTo>
                  <a:lnTo>
                    <a:pt x="1614436" y="472305"/>
                  </a:lnTo>
                  <a:lnTo>
                    <a:pt x="1678668" y="460737"/>
                  </a:lnTo>
                  <a:lnTo>
                    <a:pt x="1719025" y="448185"/>
                  </a:lnTo>
                  <a:lnTo>
                    <a:pt x="1733028" y="434860"/>
                  </a:lnTo>
                  <a:lnTo>
                    <a:pt x="1733049" y="670093"/>
                  </a:lnTo>
                  <a:close/>
                </a:path>
                <a:path w="1733550" h="744855">
                  <a:moveTo>
                    <a:pt x="1305275" y="239642"/>
                  </a:moveTo>
                  <a:lnTo>
                    <a:pt x="1544316" y="239642"/>
                  </a:lnTo>
                  <a:lnTo>
                    <a:pt x="1544316" y="600"/>
                  </a:lnTo>
                  <a:lnTo>
                    <a:pt x="1305275" y="600"/>
                  </a:lnTo>
                  <a:lnTo>
                    <a:pt x="1305275" y="239642"/>
                  </a:lnTo>
                  <a:close/>
                </a:path>
                <a:path w="1733550" h="744855">
                  <a:moveTo>
                    <a:pt x="710208" y="239041"/>
                  </a:moveTo>
                  <a:lnTo>
                    <a:pt x="949246" y="239041"/>
                  </a:lnTo>
                  <a:lnTo>
                    <a:pt x="949246" y="0"/>
                  </a:lnTo>
                  <a:lnTo>
                    <a:pt x="710208" y="0"/>
                  </a:lnTo>
                  <a:lnTo>
                    <a:pt x="710208" y="239041"/>
                  </a:lnTo>
                  <a:close/>
                </a:path>
              </a:pathLst>
            </a:custGeom>
            <a:ln w="5270">
              <a:solidFill>
                <a:srgbClr val="231F20"/>
              </a:solidFill>
            </a:ln>
          </p:spPr>
          <p:txBody>
            <a:bodyPr wrap="square" lIns="0" tIns="0" rIns="0" bIns="0" rtlCol="0"/>
            <a:lstStyle/>
            <a:p>
              <a:endParaRPr/>
            </a:p>
          </p:txBody>
        </p:sp>
      </p:grpSp>
      <p:sp>
        <p:nvSpPr>
          <p:cNvPr id="22" name="object 22"/>
          <p:cNvSpPr txBox="1"/>
          <p:nvPr/>
        </p:nvSpPr>
        <p:spPr>
          <a:xfrm>
            <a:off x="343128" y="572271"/>
            <a:ext cx="3895725" cy="1628775"/>
          </a:xfrm>
          <a:prstGeom prst="rect">
            <a:avLst/>
          </a:prstGeom>
        </p:spPr>
        <p:txBody>
          <a:bodyPr vert="horz" wrap="square" lIns="0" tIns="40005" rIns="0" bIns="0" rtlCol="0">
            <a:spAutoFit/>
          </a:bodyPr>
          <a:lstStyle/>
          <a:p>
            <a:pPr marL="16510">
              <a:lnSpc>
                <a:spcPct val="100000"/>
              </a:lnSpc>
              <a:spcBef>
                <a:spcPts val="315"/>
              </a:spcBef>
            </a:pPr>
            <a:r>
              <a:rPr sz="1200" spc="-5" dirty="0">
                <a:solidFill>
                  <a:srgbClr val="3333B2"/>
                </a:solidFill>
                <a:latin typeface="Arial"/>
                <a:cs typeface="Arial"/>
              </a:rPr>
              <a:t>Consistency</a:t>
            </a:r>
            <a:r>
              <a:rPr sz="1200" spc="-35" dirty="0">
                <a:solidFill>
                  <a:srgbClr val="3333B2"/>
                </a:solidFill>
                <a:latin typeface="Arial"/>
                <a:cs typeface="Arial"/>
              </a:rPr>
              <a:t> </a:t>
            </a:r>
            <a:r>
              <a:rPr sz="1200" spc="-5" dirty="0">
                <a:solidFill>
                  <a:srgbClr val="3333B2"/>
                </a:solidFill>
                <a:latin typeface="Arial"/>
                <a:cs typeface="Arial"/>
              </a:rPr>
              <a:t>model</a:t>
            </a:r>
            <a:endParaRPr sz="1200" dirty="0">
              <a:latin typeface="Arial"/>
              <a:cs typeface="Arial"/>
            </a:endParaRPr>
          </a:p>
          <a:p>
            <a:pPr marL="16510" marR="5080" indent="-4445">
              <a:lnSpc>
                <a:spcPct val="100000"/>
              </a:lnSpc>
              <a:spcBef>
                <a:spcPts val="180"/>
              </a:spcBef>
            </a:pPr>
            <a:r>
              <a:rPr sz="1000" spc="-5" dirty="0">
                <a:latin typeface="Arial"/>
                <a:cs typeface="Arial"/>
              </a:rPr>
              <a:t>A contract</a:t>
            </a:r>
            <a:r>
              <a:rPr sz="1000" dirty="0">
                <a:latin typeface="Arial"/>
                <a:cs typeface="Arial"/>
              </a:rPr>
              <a:t> </a:t>
            </a:r>
            <a:r>
              <a:rPr sz="1000" spc="-5" dirty="0">
                <a:latin typeface="Arial"/>
                <a:cs typeface="Arial"/>
              </a:rPr>
              <a:t>between</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(distributed)</a:t>
            </a:r>
            <a:r>
              <a:rPr sz="1000" dirty="0">
                <a:latin typeface="Arial"/>
                <a:cs typeface="Arial"/>
              </a:rPr>
              <a:t> </a:t>
            </a:r>
            <a:r>
              <a:rPr sz="1000" spc="-5" dirty="0">
                <a:latin typeface="Arial"/>
                <a:cs typeface="Arial"/>
              </a:rPr>
              <a:t>data store</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processes,</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which </a:t>
            </a:r>
            <a:r>
              <a:rPr sz="1000" spc="-265" dirty="0">
                <a:latin typeface="Arial"/>
                <a:cs typeface="Arial"/>
              </a:rPr>
              <a:t> </a:t>
            </a:r>
            <a:r>
              <a:rPr sz="1000" spc="-5" dirty="0">
                <a:latin typeface="Arial"/>
                <a:cs typeface="Arial"/>
              </a:rPr>
              <a:t>the data</a:t>
            </a:r>
            <a:r>
              <a:rPr sz="1000" dirty="0">
                <a:latin typeface="Arial"/>
                <a:cs typeface="Arial"/>
              </a:rPr>
              <a:t> </a:t>
            </a:r>
            <a:r>
              <a:rPr sz="1000" spc="-5" dirty="0">
                <a:latin typeface="Arial"/>
                <a:cs typeface="Arial"/>
              </a:rPr>
              <a:t>store</a:t>
            </a:r>
            <a:r>
              <a:rPr sz="1000" dirty="0">
                <a:latin typeface="Arial"/>
                <a:cs typeface="Arial"/>
              </a:rPr>
              <a:t> </a:t>
            </a:r>
            <a:r>
              <a:rPr sz="1000" spc="-5" dirty="0">
                <a:latin typeface="Arial"/>
                <a:cs typeface="Arial"/>
              </a:rPr>
              <a:t>specifies</a:t>
            </a:r>
            <a:r>
              <a:rPr sz="1000" dirty="0">
                <a:latin typeface="Arial"/>
                <a:cs typeface="Arial"/>
              </a:rPr>
              <a:t> </a:t>
            </a:r>
            <a:r>
              <a:rPr sz="1000" spc="-5" dirty="0">
                <a:latin typeface="Arial"/>
                <a:cs typeface="Arial"/>
              </a:rPr>
              <a:t>precisely</a:t>
            </a:r>
            <a:r>
              <a:rPr sz="1000" dirty="0">
                <a:latin typeface="Arial"/>
                <a:cs typeface="Arial"/>
              </a:rPr>
              <a:t> </a:t>
            </a:r>
            <a:r>
              <a:rPr sz="1000" spc="-5" dirty="0">
                <a:latin typeface="Arial"/>
                <a:cs typeface="Arial"/>
              </a:rPr>
              <a:t>what</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results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read</a:t>
            </a:r>
            <a:r>
              <a:rPr sz="1000" dirty="0">
                <a:latin typeface="Arial"/>
                <a:cs typeface="Arial"/>
              </a:rPr>
              <a:t> </a:t>
            </a:r>
            <a:r>
              <a:rPr sz="1000" spc="-5" dirty="0">
                <a:latin typeface="Arial"/>
                <a:cs typeface="Arial"/>
              </a:rPr>
              <a:t>and</a:t>
            </a:r>
            <a:r>
              <a:rPr sz="1000" dirty="0">
                <a:latin typeface="Arial"/>
                <a:cs typeface="Arial"/>
              </a:rPr>
              <a:t> write </a:t>
            </a:r>
            <a:r>
              <a:rPr sz="1000" spc="5" dirty="0">
                <a:latin typeface="Arial"/>
                <a:cs typeface="Arial"/>
              </a:rPr>
              <a:t> </a:t>
            </a:r>
            <a:r>
              <a:rPr sz="1000" spc="-5" dirty="0">
                <a:latin typeface="Arial"/>
                <a:cs typeface="Arial"/>
              </a:rPr>
              <a:t>operations are in the presence of</a:t>
            </a:r>
            <a:r>
              <a:rPr sz="1000" dirty="0">
                <a:latin typeface="Arial"/>
                <a:cs typeface="Arial"/>
              </a:rPr>
              <a:t> </a:t>
            </a:r>
            <a:r>
              <a:rPr sz="1000" spc="-15" dirty="0">
                <a:latin typeface="Arial"/>
                <a:cs typeface="Arial"/>
              </a:rPr>
              <a:t>concurrency.</a:t>
            </a:r>
            <a:endParaRPr sz="1000" dirty="0">
              <a:latin typeface="Arial"/>
              <a:cs typeface="Arial"/>
            </a:endParaRPr>
          </a:p>
          <a:p>
            <a:pPr marL="16510">
              <a:lnSpc>
                <a:spcPts val="1410"/>
              </a:lnSpc>
              <a:spcBef>
                <a:spcPts val="685"/>
              </a:spcBef>
            </a:pPr>
            <a:r>
              <a:rPr sz="1200" spc="-5" dirty="0">
                <a:solidFill>
                  <a:srgbClr val="FA0000"/>
                </a:solidFill>
                <a:latin typeface="Arial"/>
                <a:cs typeface="Arial"/>
              </a:rPr>
              <a:t>Essential</a:t>
            </a:r>
            <a:endParaRPr sz="1200" dirty="0">
              <a:latin typeface="Arial"/>
              <a:cs typeface="Arial"/>
            </a:endParaRPr>
          </a:p>
          <a:p>
            <a:pPr marL="12700">
              <a:lnSpc>
                <a:spcPts val="1170"/>
              </a:lnSpc>
            </a:pPr>
            <a:r>
              <a:rPr sz="1000" spc="-5" dirty="0">
                <a:latin typeface="Arial"/>
                <a:cs typeface="Arial"/>
              </a:rPr>
              <a:t>A data</a:t>
            </a:r>
            <a:r>
              <a:rPr sz="1000" dirty="0">
                <a:latin typeface="Arial"/>
                <a:cs typeface="Arial"/>
              </a:rPr>
              <a:t> </a:t>
            </a:r>
            <a:r>
              <a:rPr sz="1000" spc="-5" dirty="0">
                <a:latin typeface="Arial"/>
                <a:cs typeface="Arial"/>
              </a:rPr>
              <a:t>store is</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distributed collection</a:t>
            </a:r>
            <a:r>
              <a:rPr sz="1000" dirty="0">
                <a:latin typeface="Arial"/>
                <a:cs typeface="Arial"/>
              </a:rPr>
              <a:t> </a:t>
            </a:r>
            <a:r>
              <a:rPr sz="1000" spc="-5" dirty="0">
                <a:latin typeface="Arial"/>
                <a:cs typeface="Arial"/>
              </a:rPr>
              <a:t>of storages:</a:t>
            </a:r>
            <a:endParaRPr sz="1000" dirty="0">
              <a:latin typeface="Arial"/>
              <a:cs typeface="Arial"/>
            </a:endParaRPr>
          </a:p>
          <a:p>
            <a:pPr marL="934085">
              <a:lnSpc>
                <a:spcPct val="100000"/>
              </a:lnSpc>
              <a:spcBef>
                <a:spcPts val="865"/>
              </a:spcBef>
              <a:tabLst>
                <a:tab pos="1528445" algn="l"/>
                <a:tab pos="2123440" algn="l"/>
              </a:tabLst>
            </a:pPr>
            <a:r>
              <a:rPr sz="650" spc="5" dirty="0">
                <a:solidFill>
                  <a:srgbClr val="231F20"/>
                </a:solidFill>
                <a:latin typeface="Arial"/>
                <a:cs typeface="Arial"/>
              </a:rPr>
              <a:t>Process	Process	Process</a:t>
            </a:r>
            <a:endParaRPr sz="650" dirty="0">
              <a:latin typeface="Arial"/>
              <a:cs typeface="Arial"/>
            </a:endParaRPr>
          </a:p>
          <a:p>
            <a:pPr>
              <a:lnSpc>
                <a:spcPct val="100000"/>
              </a:lnSpc>
            </a:pPr>
            <a:endParaRPr sz="700" dirty="0">
              <a:latin typeface="Arial"/>
              <a:cs typeface="Arial"/>
            </a:endParaRPr>
          </a:p>
          <a:p>
            <a:pPr>
              <a:lnSpc>
                <a:spcPct val="100000"/>
              </a:lnSpc>
              <a:spcBef>
                <a:spcPts val="50"/>
              </a:spcBef>
            </a:pPr>
            <a:endParaRPr sz="550" dirty="0">
              <a:latin typeface="Arial"/>
              <a:cs typeface="Arial"/>
            </a:endParaRPr>
          </a:p>
          <a:p>
            <a:pPr marR="808355" algn="r">
              <a:lnSpc>
                <a:spcPct val="100000"/>
              </a:lnSpc>
              <a:spcBef>
                <a:spcPts val="5"/>
              </a:spcBef>
            </a:pPr>
            <a:r>
              <a:rPr sz="650" spc="5" dirty="0">
                <a:solidFill>
                  <a:srgbClr val="231F20"/>
                </a:solidFill>
                <a:latin typeface="Arial"/>
                <a:cs typeface="Arial"/>
              </a:rPr>
              <a:t>Local</a:t>
            </a:r>
            <a:r>
              <a:rPr sz="650" spc="-40" dirty="0">
                <a:solidFill>
                  <a:srgbClr val="231F20"/>
                </a:solidFill>
                <a:latin typeface="Arial"/>
                <a:cs typeface="Arial"/>
              </a:rPr>
              <a:t> </a:t>
            </a:r>
            <a:r>
              <a:rPr sz="650" spc="5" dirty="0">
                <a:solidFill>
                  <a:srgbClr val="231F20"/>
                </a:solidFill>
                <a:latin typeface="Arial"/>
                <a:cs typeface="Arial"/>
              </a:rPr>
              <a:t>copy</a:t>
            </a:r>
            <a:endParaRPr sz="650" dirty="0">
              <a:latin typeface="Arial"/>
              <a:cs typeface="Arial"/>
            </a:endParaRPr>
          </a:p>
        </p:txBody>
      </p:sp>
      <p:grpSp>
        <p:nvGrpSpPr>
          <p:cNvPr id="23" name="object 23"/>
          <p:cNvGrpSpPr/>
          <p:nvPr/>
        </p:nvGrpSpPr>
        <p:grpSpPr>
          <a:xfrm>
            <a:off x="1997672" y="2165195"/>
            <a:ext cx="1012825" cy="198120"/>
            <a:chOff x="1997672" y="2165195"/>
            <a:chExt cx="1012825" cy="198120"/>
          </a:xfrm>
        </p:grpSpPr>
        <p:sp>
          <p:nvSpPr>
            <p:cNvPr id="24" name="object 24"/>
            <p:cNvSpPr/>
            <p:nvPr/>
          </p:nvSpPr>
          <p:spPr>
            <a:xfrm>
              <a:off x="2757364" y="2195071"/>
              <a:ext cx="250825" cy="153035"/>
            </a:xfrm>
            <a:custGeom>
              <a:avLst/>
              <a:gdLst/>
              <a:ahLst/>
              <a:cxnLst/>
              <a:rect l="l" t="t" r="r" b="b"/>
              <a:pathLst>
                <a:path w="250825" h="153035">
                  <a:moveTo>
                    <a:pt x="250201" y="0"/>
                  </a:moveTo>
                  <a:lnTo>
                    <a:pt x="0" y="152852"/>
                  </a:lnTo>
                </a:path>
              </a:pathLst>
            </a:custGeom>
            <a:ln w="5270">
              <a:solidFill>
                <a:srgbClr val="231F20"/>
              </a:solidFill>
            </a:ln>
          </p:spPr>
          <p:txBody>
            <a:bodyPr wrap="square" lIns="0" tIns="0" rIns="0" bIns="0" rtlCol="0"/>
            <a:lstStyle/>
            <a:p>
              <a:endParaRPr/>
            </a:p>
          </p:txBody>
        </p:sp>
        <p:pic>
          <p:nvPicPr>
            <p:cNvPr id="25" name="object 25"/>
            <p:cNvPicPr/>
            <p:nvPr/>
          </p:nvPicPr>
          <p:blipFill>
            <a:blip r:embed="rId6" cstate="print"/>
            <a:stretch>
              <a:fillRect/>
            </a:stretch>
          </p:blipFill>
          <p:spPr>
            <a:xfrm>
              <a:off x="1997672" y="2165195"/>
              <a:ext cx="63753" cy="197210"/>
            </a:xfrm>
            <a:prstGeom prst="rect">
              <a:avLst/>
            </a:prstGeom>
          </p:spPr>
        </p:pic>
        <p:pic>
          <p:nvPicPr>
            <p:cNvPr id="26" name="object 26"/>
            <p:cNvPicPr/>
            <p:nvPr/>
          </p:nvPicPr>
          <p:blipFill>
            <a:blip r:embed="rId7" cstate="print"/>
            <a:stretch>
              <a:fillRect/>
            </a:stretch>
          </p:blipFill>
          <p:spPr>
            <a:xfrm>
              <a:off x="2592734" y="2165792"/>
              <a:ext cx="63751" cy="197215"/>
            </a:xfrm>
            <a:prstGeom prst="rect">
              <a:avLst/>
            </a:prstGeom>
          </p:spPr>
        </p:pic>
      </p:grpSp>
      <p:sp>
        <p:nvSpPr>
          <p:cNvPr id="27" name="object 27"/>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3</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4</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Data-centric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714985" y="716"/>
            <a:ext cx="826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Continuous</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consistency</a:t>
            </a:r>
            <a:endParaRPr sz="600">
              <a:latin typeface="Arial"/>
              <a:cs typeface="Arial"/>
            </a:endParaRPr>
          </a:p>
        </p:txBody>
      </p:sp>
      <p:sp>
        <p:nvSpPr>
          <p:cNvPr id="4" name="object 4"/>
          <p:cNvSpPr txBox="1"/>
          <p:nvPr/>
        </p:nvSpPr>
        <p:spPr>
          <a:xfrm>
            <a:off x="95300" y="188846"/>
            <a:ext cx="198818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Continuous</a:t>
            </a:r>
            <a:r>
              <a:rPr sz="1400" spc="-65" dirty="0">
                <a:solidFill>
                  <a:srgbClr val="3333B2"/>
                </a:solidFill>
                <a:latin typeface="Arial"/>
                <a:cs typeface="Arial"/>
              </a:rPr>
              <a:t> </a:t>
            </a:r>
            <a:r>
              <a:rPr sz="1400" spc="15" dirty="0">
                <a:solidFill>
                  <a:srgbClr val="3333B2"/>
                </a:solidFill>
                <a:latin typeface="Arial"/>
                <a:cs typeface="Arial"/>
              </a:rPr>
              <a:t>Consistency</a:t>
            </a:r>
            <a:endParaRPr sz="1400" dirty="0">
              <a:latin typeface="Arial"/>
              <a:cs typeface="Arial"/>
            </a:endParaRPr>
          </a:p>
        </p:txBody>
      </p:sp>
      <p:sp>
        <p:nvSpPr>
          <p:cNvPr id="5" name="object 5"/>
          <p:cNvSpPr txBox="1"/>
          <p:nvPr/>
        </p:nvSpPr>
        <p:spPr>
          <a:xfrm>
            <a:off x="276669" y="948128"/>
            <a:ext cx="4010025" cy="1586230"/>
          </a:xfrm>
          <a:prstGeom prst="rect">
            <a:avLst/>
          </a:prstGeom>
        </p:spPr>
        <p:txBody>
          <a:bodyPr vert="horz" wrap="square" lIns="0" tIns="12065" rIns="0" bIns="0" rtlCol="0">
            <a:spAutoFit/>
          </a:bodyPr>
          <a:lstStyle/>
          <a:p>
            <a:pPr marL="76200">
              <a:lnSpc>
                <a:spcPct val="100000"/>
              </a:lnSpc>
              <a:spcBef>
                <a:spcPts val="95"/>
              </a:spcBef>
            </a:pPr>
            <a:r>
              <a:rPr sz="1200" spc="-25" dirty="0">
                <a:solidFill>
                  <a:srgbClr val="3333B2"/>
                </a:solidFill>
                <a:latin typeface="Arial"/>
                <a:cs typeface="Arial"/>
              </a:rPr>
              <a:t>We</a:t>
            </a:r>
            <a:r>
              <a:rPr sz="1200" spc="-5" dirty="0">
                <a:solidFill>
                  <a:srgbClr val="3333B2"/>
                </a:solidFill>
                <a:latin typeface="Arial"/>
                <a:cs typeface="Arial"/>
              </a:rPr>
              <a:t> can actually talk about a </a:t>
            </a:r>
            <a:r>
              <a:rPr sz="1200" spc="-5" dirty="0">
                <a:solidFill>
                  <a:srgbClr val="0000FA"/>
                </a:solidFill>
                <a:latin typeface="Arial"/>
                <a:cs typeface="Arial"/>
              </a:rPr>
              <a:t>degree of consistency</a:t>
            </a:r>
            <a:endParaRPr sz="1200" dirty="0">
              <a:latin typeface="Arial"/>
              <a:cs typeface="Arial"/>
            </a:endParaRPr>
          </a:p>
          <a:p>
            <a:pPr marL="360045" indent="-168275">
              <a:lnSpc>
                <a:spcPts val="1200"/>
              </a:lnSpc>
              <a:spcBef>
                <a:spcPts val="790"/>
              </a:spcBef>
              <a:buClr>
                <a:srgbClr val="3333B2"/>
              </a:buClr>
              <a:buChar char="►"/>
              <a:tabLst>
                <a:tab pos="360680" algn="l"/>
              </a:tabLst>
            </a:pPr>
            <a:r>
              <a:rPr sz="1000" spc="-5" dirty="0">
                <a:latin typeface="Arial"/>
                <a:cs typeface="Arial"/>
              </a:rPr>
              <a:t>replicas </a:t>
            </a:r>
            <a:r>
              <a:rPr sz="1000" spc="-15" dirty="0">
                <a:latin typeface="Arial"/>
                <a:cs typeface="Arial"/>
              </a:rPr>
              <a:t>may</a:t>
            </a:r>
            <a:r>
              <a:rPr sz="1000" dirty="0">
                <a:latin typeface="Arial"/>
                <a:cs typeface="Arial"/>
              </a:rPr>
              <a:t> </a:t>
            </a:r>
            <a:r>
              <a:rPr sz="1000" spc="-10" dirty="0">
                <a:latin typeface="Arial"/>
                <a:cs typeface="Arial"/>
              </a:rPr>
              <a:t>differ</a:t>
            </a:r>
            <a:r>
              <a:rPr sz="1000" spc="-5" dirty="0">
                <a:latin typeface="Arial"/>
                <a:cs typeface="Arial"/>
              </a:rPr>
              <a:t> in</a:t>
            </a:r>
            <a:r>
              <a:rPr sz="1000" dirty="0">
                <a:latin typeface="Arial"/>
                <a:cs typeface="Arial"/>
              </a:rPr>
              <a:t> </a:t>
            </a:r>
            <a:r>
              <a:rPr sz="1000" spc="-5" dirty="0">
                <a:latin typeface="Arial"/>
                <a:cs typeface="Arial"/>
              </a:rPr>
              <a:t>their</a:t>
            </a:r>
            <a:r>
              <a:rPr sz="1000" dirty="0">
                <a:latin typeface="Arial"/>
                <a:cs typeface="Arial"/>
              </a:rPr>
              <a:t> </a:t>
            </a:r>
            <a:r>
              <a:rPr sz="1000" spc="-5" dirty="0">
                <a:solidFill>
                  <a:srgbClr val="0000FA"/>
                </a:solidFill>
                <a:latin typeface="Arial"/>
                <a:cs typeface="Arial"/>
              </a:rPr>
              <a:t>numerical </a:t>
            </a:r>
            <a:r>
              <a:rPr sz="1000" spc="-10" dirty="0">
                <a:solidFill>
                  <a:srgbClr val="0000FA"/>
                </a:solidFill>
                <a:latin typeface="Arial"/>
                <a:cs typeface="Arial"/>
              </a:rPr>
              <a:t>value</a:t>
            </a:r>
            <a:endParaRPr sz="1000" dirty="0">
              <a:latin typeface="Arial"/>
              <a:cs typeface="Arial"/>
            </a:endParaRPr>
          </a:p>
          <a:p>
            <a:pPr marL="360045" indent="-168275">
              <a:lnSpc>
                <a:spcPts val="1195"/>
              </a:lnSpc>
              <a:buClr>
                <a:srgbClr val="3333B2"/>
              </a:buClr>
              <a:buChar char="►"/>
              <a:tabLst>
                <a:tab pos="360680" algn="l"/>
              </a:tabLst>
            </a:pPr>
            <a:r>
              <a:rPr sz="1000" spc="-5" dirty="0">
                <a:latin typeface="Arial"/>
                <a:cs typeface="Arial"/>
              </a:rPr>
              <a:t>replicas </a:t>
            </a:r>
            <a:r>
              <a:rPr sz="1000" spc="-15" dirty="0">
                <a:latin typeface="Arial"/>
                <a:cs typeface="Arial"/>
              </a:rPr>
              <a:t>may</a:t>
            </a:r>
            <a:r>
              <a:rPr sz="1000" spc="-5" dirty="0">
                <a:latin typeface="Arial"/>
                <a:cs typeface="Arial"/>
              </a:rPr>
              <a:t> </a:t>
            </a:r>
            <a:r>
              <a:rPr sz="1000" spc="-10" dirty="0">
                <a:latin typeface="Arial"/>
                <a:cs typeface="Arial"/>
              </a:rPr>
              <a:t>differ</a:t>
            </a:r>
            <a:r>
              <a:rPr sz="1000" spc="-5" dirty="0">
                <a:latin typeface="Arial"/>
                <a:cs typeface="Arial"/>
              </a:rPr>
              <a:t> in</a:t>
            </a:r>
            <a:r>
              <a:rPr sz="1000" dirty="0">
                <a:latin typeface="Arial"/>
                <a:cs typeface="Arial"/>
              </a:rPr>
              <a:t> </a:t>
            </a:r>
            <a:r>
              <a:rPr sz="1000" spc="-5" dirty="0">
                <a:latin typeface="Arial"/>
                <a:cs typeface="Arial"/>
              </a:rPr>
              <a:t>their relative </a:t>
            </a:r>
            <a:r>
              <a:rPr sz="1000" spc="-5" dirty="0">
                <a:solidFill>
                  <a:srgbClr val="0000FA"/>
                </a:solidFill>
                <a:latin typeface="Arial"/>
                <a:cs typeface="Arial"/>
              </a:rPr>
              <a:t>staleness</a:t>
            </a:r>
            <a:endParaRPr sz="1000" dirty="0">
              <a:latin typeface="Arial"/>
              <a:cs typeface="Arial"/>
            </a:endParaRPr>
          </a:p>
          <a:p>
            <a:pPr marL="360045" marR="140970" indent="-168275">
              <a:lnSpc>
                <a:spcPts val="1200"/>
              </a:lnSpc>
              <a:spcBef>
                <a:spcPts val="35"/>
              </a:spcBef>
              <a:buClr>
                <a:srgbClr val="3333B2"/>
              </a:buClr>
              <a:buChar char="►"/>
              <a:tabLst>
                <a:tab pos="360680" algn="l"/>
              </a:tabLst>
            </a:pPr>
            <a:r>
              <a:rPr sz="1000" spc="-5" dirty="0">
                <a:latin typeface="Arial"/>
                <a:cs typeface="Arial"/>
              </a:rPr>
              <a:t>there </a:t>
            </a:r>
            <a:r>
              <a:rPr sz="1000" spc="-15" dirty="0">
                <a:latin typeface="Arial"/>
                <a:cs typeface="Arial"/>
              </a:rPr>
              <a:t>may</a:t>
            </a:r>
            <a:r>
              <a:rPr sz="1000" spc="-5" dirty="0">
                <a:latin typeface="Arial"/>
                <a:cs typeface="Arial"/>
              </a:rPr>
              <a:t> be</a:t>
            </a:r>
            <a:r>
              <a:rPr sz="1000" dirty="0">
                <a:latin typeface="Arial"/>
                <a:cs typeface="Arial"/>
              </a:rPr>
              <a:t> </a:t>
            </a:r>
            <a:r>
              <a:rPr sz="1000" spc="-5" dirty="0">
                <a:latin typeface="Arial"/>
                <a:cs typeface="Arial"/>
              </a:rPr>
              <a:t>differences with</a:t>
            </a:r>
            <a:r>
              <a:rPr sz="1000" dirty="0">
                <a:latin typeface="Arial"/>
                <a:cs typeface="Arial"/>
              </a:rPr>
              <a:t> </a:t>
            </a:r>
            <a:r>
              <a:rPr sz="1000" spc="-5" dirty="0">
                <a:latin typeface="Arial"/>
                <a:cs typeface="Arial"/>
              </a:rPr>
              <a:t>respect to</a:t>
            </a:r>
            <a:r>
              <a:rPr sz="1000" dirty="0">
                <a:latin typeface="Arial"/>
                <a:cs typeface="Arial"/>
              </a:rPr>
              <a:t> </a:t>
            </a:r>
            <a:r>
              <a:rPr sz="1000" spc="-5" dirty="0">
                <a:latin typeface="Arial"/>
                <a:cs typeface="Arial"/>
              </a:rPr>
              <a:t>(number and</a:t>
            </a:r>
            <a:r>
              <a:rPr sz="1000" dirty="0">
                <a:latin typeface="Arial"/>
                <a:cs typeface="Arial"/>
              </a:rPr>
              <a:t> </a:t>
            </a:r>
            <a:r>
              <a:rPr sz="1000" spc="-5" dirty="0">
                <a:latin typeface="Arial"/>
                <a:cs typeface="Arial"/>
              </a:rPr>
              <a:t>order) of </a:t>
            </a:r>
            <a:r>
              <a:rPr sz="1000" spc="-265" dirty="0">
                <a:latin typeface="Arial"/>
                <a:cs typeface="Arial"/>
              </a:rPr>
              <a:t> </a:t>
            </a:r>
            <a:r>
              <a:rPr sz="1000" spc="-5" dirty="0">
                <a:solidFill>
                  <a:srgbClr val="0000FA"/>
                </a:solidFill>
                <a:latin typeface="Arial"/>
                <a:cs typeface="Arial"/>
              </a:rPr>
              <a:t>performed</a:t>
            </a:r>
            <a:r>
              <a:rPr sz="1000" spc="-10" dirty="0">
                <a:solidFill>
                  <a:srgbClr val="0000FA"/>
                </a:solidFill>
                <a:latin typeface="Arial"/>
                <a:cs typeface="Arial"/>
              </a:rPr>
              <a:t> </a:t>
            </a:r>
            <a:r>
              <a:rPr sz="1000" spc="-5" dirty="0">
                <a:solidFill>
                  <a:srgbClr val="0000FA"/>
                </a:solidFill>
                <a:latin typeface="Arial"/>
                <a:cs typeface="Arial"/>
              </a:rPr>
              <a:t>update operations</a:t>
            </a:r>
            <a:endParaRPr sz="1000" dirty="0">
              <a:latin typeface="Arial"/>
              <a:cs typeface="Arial"/>
            </a:endParaRPr>
          </a:p>
          <a:p>
            <a:pPr>
              <a:lnSpc>
                <a:spcPct val="100000"/>
              </a:lnSpc>
              <a:spcBef>
                <a:spcPts val="15"/>
              </a:spcBef>
            </a:pPr>
            <a:endParaRPr sz="1250" dirty="0">
              <a:latin typeface="Arial"/>
              <a:cs typeface="Arial"/>
            </a:endParaRPr>
          </a:p>
          <a:p>
            <a:pPr marL="83185">
              <a:lnSpc>
                <a:spcPts val="1410"/>
              </a:lnSpc>
            </a:pPr>
            <a:r>
              <a:rPr sz="1200" spc="-5" dirty="0">
                <a:solidFill>
                  <a:srgbClr val="FA0000"/>
                </a:solidFill>
                <a:latin typeface="Arial"/>
                <a:cs typeface="Arial"/>
              </a:rPr>
              <a:t>Conit</a:t>
            </a:r>
            <a:endParaRPr sz="1200" dirty="0">
              <a:latin typeface="Arial"/>
              <a:cs typeface="Arial"/>
            </a:endParaRPr>
          </a:p>
          <a:p>
            <a:pPr marL="83185" marR="30480">
              <a:lnSpc>
                <a:spcPts val="1200"/>
              </a:lnSpc>
              <a:spcBef>
                <a:spcPts val="15"/>
              </a:spcBef>
            </a:pPr>
            <a:r>
              <a:rPr sz="1000" spc="-15" dirty="0">
                <a:latin typeface="Arial"/>
                <a:cs typeface="Arial"/>
              </a:rPr>
              <a:t>Consistency</a:t>
            </a:r>
            <a:r>
              <a:rPr sz="1000" spc="-5" dirty="0">
                <a:latin typeface="Arial"/>
                <a:cs typeface="Arial"/>
              </a:rPr>
              <a:t> </a:t>
            </a:r>
            <a:r>
              <a:rPr sz="1000" spc="-10" dirty="0">
                <a:latin typeface="Arial"/>
                <a:cs typeface="Arial"/>
              </a:rPr>
              <a:t>unit</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10" dirty="0">
                <a:latin typeface="Arial"/>
                <a:cs typeface="Arial"/>
              </a:rPr>
              <a:t>specifies</a:t>
            </a:r>
            <a:r>
              <a:rPr sz="1000" spc="-5" dirty="0">
                <a:latin typeface="Arial"/>
                <a:cs typeface="Arial"/>
              </a:rPr>
              <a:t> </a:t>
            </a:r>
            <a:r>
              <a:rPr sz="1000" spc="-10" dirty="0">
                <a:latin typeface="Arial"/>
                <a:cs typeface="Arial"/>
              </a:rPr>
              <a:t>the</a:t>
            </a:r>
            <a:r>
              <a:rPr sz="1000" dirty="0">
                <a:latin typeface="Arial"/>
                <a:cs typeface="Arial"/>
              </a:rPr>
              <a:t> </a:t>
            </a:r>
            <a:r>
              <a:rPr sz="1000" spc="-15" dirty="0">
                <a:solidFill>
                  <a:srgbClr val="0000FA"/>
                </a:solidFill>
                <a:latin typeface="Arial"/>
                <a:cs typeface="Arial"/>
              </a:rPr>
              <a:t>data</a:t>
            </a:r>
            <a:r>
              <a:rPr sz="1000" dirty="0">
                <a:solidFill>
                  <a:srgbClr val="0000FA"/>
                </a:solidFill>
                <a:latin typeface="Arial"/>
                <a:cs typeface="Arial"/>
              </a:rPr>
              <a:t> </a:t>
            </a:r>
            <a:r>
              <a:rPr sz="1000" spc="-10" dirty="0">
                <a:solidFill>
                  <a:srgbClr val="0000FA"/>
                </a:solidFill>
                <a:latin typeface="Arial"/>
                <a:cs typeface="Arial"/>
              </a:rPr>
              <a:t>unit</a:t>
            </a:r>
            <a:r>
              <a:rPr sz="1000" dirty="0">
                <a:solidFill>
                  <a:srgbClr val="0000FA"/>
                </a:solidFill>
                <a:latin typeface="Arial"/>
                <a:cs typeface="Arial"/>
              </a:rPr>
              <a:t> </a:t>
            </a:r>
            <a:r>
              <a:rPr sz="1000" spc="-25" dirty="0">
                <a:latin typeface="Arial"/>
                <a:cs typeface="Arial"/>
              </a:rPr>
              <a:t>over</a:t>
            </a:r>
            <a:r>
              <a:rPr sz="1000" spc="-5" dirty="0">
                <a:latin typeface="Arial"/>
                <a:cs typeface="Arial"/>
              </a:rPr>
              <a:t> </a:t>
            </a:r>
            <a:r>
              <a:rPr sz="1000" spc="-15" dirty="0">
                <a:latin typeface="Arial"/>
                <a:cs typeface="Arial"/>
              </a:rPr>
              <a:t>which</a:t>
            </a:r>
            <a:r>
              <a:rPr sz="1000" dirty="0">
                <a:latin typeface="Arial"/>
                <a:cs typeface="Arial"/>
              </a:rPr>
              <a:t> </a:t>
            </a:r>
            <a:r>
              <a:rPr sz="1000" spc="-10" dirty="0">
                <a:latin typeface="Arial"/>
                <a:cs typeface="Arial"/>
              </a:rPr>
              <a:t>consistency</a:t>
            </a:r>
            <a:r>
              <a:rPr sz="1000" dirty="0">
                <a:latin typeface="Arial"/>
                <a:cs typeface="Arial"/>
              </a:rPr>
              <a:t> </a:t>
            </a:r>
            <a:r>
              <a:rPr sz="1000" spc="-10" dirty="0">
                <a:latin typeface="Arial"/>
                <a:cs typeface="Arial"/>
              </a:rPr>
              <a:t>is</a:t>
            </a:r>
            <a:r>
              <a:rPr sz="1000" spc="-5" dirty="0">
                <a:latin typeface="Arial"/>
                <a:cs typeface="Arial"/>
              </a:rPr>
              <a:t> </a:t>
            </a:r>
            <a:r>
              <a:rPr sz="1000" spc="-10" dirty="0">
                <a:latin typeface="Arial"/>
                <a:cs typeface="Arial"/>
              </a:rPr>
              <a:t>to </a:t>
            </a:r>
            <a:r>
              <a:rPr sz="1000" spc="-260" dirty="0">
                <a:latin typeface="Arial"/>
                <a:cs typeface="Arial"/>
              </a:rPr>
              <a:t> </a:t>
            </a:r>
            <a:r>
              <a:rPr sz="1000" spc="-5" dirty="0">
                <a:latin typeface="Arial"/>
                <a:cs typeface="Arial"/>
              </a:rPr>
              <a:t>be</a:t>
            </a:r>
            <a:r>
              <a:rPr sz="1000" spc="-10" dirty="0">
                <a:latin typeface="Arial"/>
                <a:cs typeface="Arial"/>
              </a:rPr>
              <a:t> </a:t>
            </a:r>
            <a:r>
              <a:rPr sz="1000" spc="-5" dirty="0">
                <a:latin typeface="Arial"/>
                <a:cs typeface="Arial"/>
              </a:rPr>
              <a:t>measured.</a:t>
            </a:r>
            <a:endParaRPr sz="1000" dirty="0">
              <a:latin typeface="Arial"/>
              <a:cs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Data-centric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714985" y="716"/>
            <a:ext cx="826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Continuous</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consistency</a:t>
            </a:r>
            <a:endParaRPr sz="600">
              <a:latin typeface="Arial"/>
              <a:cs typeface="Arial"/>
            </a:endParaRPr>
          </a:p>
        </p:txBody>
      </p:sp>
      <p:sp>
        <p:nvSpPr>
          <p:cNvPr id="4" name="object 4"/>
          <p:cNvSpPr txBox="1"/>
          <p:nvPr/>
        </p:nvSpPr>
        <p:spPr>
          <a:xfrm>
            <a:off x="95300" y="164982"/>
            <a:ext cx="1273175" cy="380365"/>
          </a:xfrm>
          <a:prstGeom prst="rect">
            <a:avLst/>
          </a:prstGeom>
        </p:spPr>
        <p:txBody>
          <a:bodyPr vert="horz" wrap="square" lIns="0" tIns="40640" rIns="0" bIns="0" rtlCol="0">
            <a:spAutoFit/>
          </a:bodyPr>
          <a:lstStyle/>
          <a:p>
            <a:pPr marL="12700">
              <a:lnSpc>
                <a:spcPct val="100000"/>
              </a:lnSpc>
              <a:spcBef>
                <a:spcPts val="320"/>
              </a:spcBef>
            </a:pPr>
            <a:r>
              <a:rPr sz="1400" spc="15" dirty="0">
                <a:solidFill>
                  <a:srgbClr val="3333B2"/>
                </a:solidFill>
                <a:latin typeface="Arial"/>
                <a:cs typeface="Arial"/>
              </a:rPr>
              <a:t>Example:</a:t>
            </a:r>
            <a:r>
              <a:rPr sz="1400" spc="40" dirty="0">
                <a:solidFill>
                  <a:srgbClr val="3333B2"/>
                </a:solidFill>
                <a:latin typeface="Arial"/>
                <a:cs typeface="Arial"/>
              </a:rPr>
              <a:t> </a:t>
            </a:r>
            <a:r>
              <a:rPr sz="1400" spc="15" dirty="0">
                <a:solidFill>
                  <a:srgbClr val="3333B2"/>
                </a:solidFill>
                <a:latin typeface="Arial"/>
                <a:cs typeface="Arial"/>
              </a:rPr>
              <a:t>Conit</a:t>
            </a:r>
            <a:endParaRPr sz="1400">
              <a:latin typeface="Arial"/>
              <a:cs typeface="Arial"/>
            </a:endParaRPr>
          </a:p>
          <a:p>
            <a:pPr marL="707390">
              <a:lnSpc>
                <a:spcPct val="100000"/>
              </a:lnSpc>
              <a:spcBef>
                <a:spcPts val="110"/>
              </a:spcBef>
            </a:pPr>
            <a:r>
              <a:rPr sz="650" spc="5" dirty="0">
                <a:solidFill>
                  <a:srgbClr val="231F20"/>
                </a:solidFill>
                <a:latin typeface="Arial"/>
                <a:cs typeface="Arial"/>
              </a:rPr>
              <a:t>Replica</a:t>
            </a:r>
            <a:r>
              <a:rPr sz="650" spc="-35" dirty="0">
                <a:solidFill>
                  <a:srgbClr val="231F20"/>
                </a:solidFill>
                <a:latin typeface="Arial"/>
                <a:cs typeface="Arial"/>
              </a:rPr>
              <a:t> </a:t>
            </a:r>
            <a:r>
              <a:rPr sz="650" spc="5" dirty="0">
                <a:solidFill>
                  <a:srgbClr val="231F20"/>
                </a:solidFill>
                <a:latin typeface="Arial"/>
                <a:cs typeface="Arial"/>
              </a:rPr>
              <a:t>A</a:t>
            </a:r>
            <a:endParaRPr sz="650">
              <a:latin typeface="Arial"/>
              <a:cs typeface="Arial"/>
            </a:endParaRPr>
          </a:p>
        </p:txBody>
      </p:sp>
      <p:sp>
        <p:nvSpPr>
          <p:cNvPr id="5" name="object 5"/>
          <p:cNvSpPr/>
          <p:nvPr/>
        </p:nvSpPr>
        <p:spPr>
          <a:xfrm>
            <a:off x="2485332" y="574694"/>
            <a:ext cx="1312545" cy="1315085"/>
          </a:xfrm>
          <a:custGeom>
            <a:avLst/>
            <a:gdLst/>
            <a:ahLst/>
            <a:cxnLst/>
            <a:rect l="l" t="t" r="r" b="b"/>
            <a:pathLst>
              <a:path w="1312545" h="1315085">
                <a:moveTo>
                  <a:pt x="0" y="1314715"/>
                </a:moveTo>
                <a:lnTo>
                  <a:pt x="1312038" y="1314715"/>
                </a:lnTo>
                <a:lnTo>
                  <a:pt x="1312038" y="0"/>
                </a:lnTo>
                <a:lnTo>
                  <a:pt x="0" y="0"/>
                </a:lnTo>
                <a:lnTo>
                  <a:pt x="0" y="1314715"/>
                </a:lnTo>
                <a:close/>
              </a:path>
            </a:pathLst>
          </a:custGeom>
          <a:ln w="10541">
            <a:solidFill>
              <a:srgbClr val="231F20"/>
            </a:solidFill>
          </a:ln>
        </p:spPr>
        <p:txBody>
          <a:bodyPr wrap="square" lIns="0" tIns="0" rIns="0" bIns="0" rtlCol="0"/>
          <a:lstStyle/>
          <a:p>
            <a:endParaRPr/>
          </a:p>
        </p:txBody>
      </p:sp>
      <p:sp>
        <p:nvSpPr>
          <p:cNvPr id="6" name="object 6"/>
          <p:cNvSpPr/>
          <p:nvPr/>
        </p:nvSpPr>
        <p:spPr>
          <a:xfrm>
            <a:off x="810801" y="574694"/>
            <a:ext cx="1312545" cy="1315085"/>
          </a:xfrm>
          <a:custGeom>
            <a:avLst/>
            <a:gdLst/>
            <a:ahLst/>
            <a:cxnLst/>
            <a:rect l="l" t="t" r="r" b="b"/>
            <a:pathLst>
              <a:path w="1312545" h="1315085">
                <a:moveTo>
                  <a:pt x="0" y="1314715"/>
                </a:moveTo>
                <a:lnTo>
                  <a:pt x="1312038" y="1314715"/>
                </a:lnTo>
                <a:lnTo>
                  <a:pt x="1312038" y="0"/>
                </a:lnTo>
                <a:lnTo>
                  <a:pt x="0" y="0"/>
                </a:lnTo>
                <a:lnTo>
                  <a:pt x="0" y="1314715"/>
                </a:lnTo>
                <a:close/>
              </a:path>
            </a:pathLst>
          </a:custGeom>
          <a:ln w="10541">
            <a:solidFill>
              <a:srgbClr val="231F20"/>
            </a:solidFill>
          </a:ln>
        </p:spPr>
        <p:txBody>
          <a:bodyPr wrap="square" lIns="0" tIns="0" rIns="0" bIns="0" rtlCol="0"/>
          <a:lstStyle/>
          <a:p>
            <a:endParaRPr/>
          </a:p>
        </p:txBody>
      </p:sp>
      <p:sp>
        <p:nvSpPr>
          <p:cNvPr id="7" name="object 7"/>
          <p:cNvSpPr txBox="1"/>
          <p:nvPr/>
        </p:nvSpPr>
        <p:spPr>
          <a:xfrm>
            <a:off x="1689862" y="1325764"/>
            <a:ext cx="308610" cy="101600"/>
          </a:xfrm>
          <a:prstGeom prst="rect">
            <a:avLst/>
          </a:prstGeom>
        </p:spPr>
        <p:txBody>
          <a:bodyPr vert="horz" wrap="square" lIns="0" tIns="12065" rIns="0" bIns="0" rtlCol="0">
            <a:spAutoFit/>
          </a:bodyPr>
          <a:lstStyle/>
          <a:p>
            <a:pPr marL="12700">
              <a:lnSpc>
                <a:spcPct val="100000"/>
              </a:lnSpc>
              <a:spcBef>
                <a:spcPts val="95"/>
              </a:spcBef>
            </a:pP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g</a:t>
            </a:r>
            <a:r>
              <a:rPr sz="500" spc="-15" dirty="0">
                <a:solidFill>
                  <a:srgbClr val="231F20"/>
                </a:solidFill>
                <a:latin typeface="Arial"/>
                <a:cs typeface="Arial"/>
              </a:rPr>
              <a:t> </a:t>
            </a:r>
            <a:r>
              <a:rPr sz="500" spc="-5" dirty="0">
                <a:solidFill>
                  <a:srgbClr val="231F20"/>
                </a:solidFill>
                <a:latin typeface="Arial"/>
                <a:cs typeface="Arial"/>
              </a:rPr>
              <a:t>=</a:t>
            </a:r>
            <a:r>
              <a:rPr sz="500" spc="240" dirty="0">
                <a:solidFill>
                  <a:srgbClr val="231F20"/>
                </a:solidFill>
                <a:latin typeface="Arial"/>
                <a:cs typeface="Arial"/>
              </a:rPr>
              <a:t> </a:t>
            </a:r>
            <a:r>
              <a:rPr sz="500" spc="-5" dirty="0">
                <a:solidFill>
                  <a:srgbClr val="231F20"/>
                </a:solidFill>
                <a:latin typeface="Arial"/>
                <a:cs typeface="Arial"/>
              </a:rPr>
              <a:t>95</a:t>
            </a:r>
            <a:r>
              <a:rPr sz="500" spc="-15"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sp>
        <p:nvSpPr>
          <p:cNvPr id="8" name="object 8"/>
          <p:cNvSpPr txBox="1"/>
          <p:nvPr/>
        </p:nvSpPr>
        <p:spPr>
          <a:xfrm>
            <a:off x="1690830" y="1472737"/>
            <a:ext cx="308610" cy="101600"/>
          </a:xfrm>
          <a:prstGeom prst="rect">
            <a:avLst/>
          </a:prstGeom>
        </p:spPr>
        <p:txBody>
          <a:bodyPr vert="horz" wrap="square" lIns="0" tIns="12065" rIns="0" bIns="0" rtlCol="0">
            <a:spAutoFit/>
          </a:bodyPr>
          <a:lstStyle/>
          <a:p>
            <a:pPr marL="12700">
              <a:lnSpc>
                <a:spcPct val="100000"/>
              </a:lnSpc>
              <a:spcBef>
                <a:spcPts val="95"/>
              </a:spcBef>
            </a:pP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p</a:t>
            </a:r>
            <a:r>
              <a:rPr sz="500" spc="-15" dirty="0">
                <a:solidFill>
                  <a:srgbClr val="231F20"/>
                </a:solidFill>
                <a:latin typeface="Arial"/>
                <a:cs typeface="Arial"/>
              </a:rPr>
              <a:t> </a:t>
            </a:r>
            <a:r>
              <a:rPr sz="500" spc="-5" dirty="0">
                <a:solidFill>
                  <a:srgbClr val="231F20"/>
                </a:solidFill>
                <a:latin typeface="Arial"/>
                <a:cs typeface="Arial"/>
              </a:rPr>
              <a:t>=</a:t>
            </a:r>
            <a:r>
              <a:rPr sz="500" spc="240" dirty="0">
                <a:solidFill>
                  <a:srgbClr val="231F20"/>
                </a:solidFill>
                <a:latin typeface="Arial"/>
                <a:cs typeface="Arial"/>
              </a:rPr>
              <a:t> </a:t>
            </a:r>
            <a:r>
              <a:rPr sz="500" spc="-5" dirty="0">
                <a:solidFill>
                  <a:srgbClr val="231F20"/>
                </a:solidFill>
                <a:latin typeface="Arial"/>
                <a:cs typeface="Arial"/>
              </a:rPr>
              <a:t>78</a:t>
            </a:r>
            <a:r>
              <a:rPr sz="500" spc="-15"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sp>
        <p:nvSpPr>
          <p:cNvPr id="9" name="object 9"/>
          <p:cNvSpPr txBox="1"/>
          <p:nvPr/>
        </p:nvSpPr>
        <p:spPr>
          <a:xfrm>
            <a:off x="1688775" y="1621604"/>
            <a:ext cx="308610" cy="101600"/>
          </a:xfrm>
          <a:prstGeom prst="rect">
            <a:avLst/>
          </a:prstGeom>
        </p:spPr>
        <p:txBody>
          <a:bodyPr vert="horz" wrap="square" lIns="0" tIns="12065" rIns="0" bIns="0" rtlCol="0">
            <a:spAutoFit/>
          </a:bodyPr>
          <a:lstStyle/>
          <a:p>
            <a:pPr marL="12700">
              <a:lnSpc>
                <a:spcPct val="100000"/>
              </a:lnSpc>
              <a:spcBef>
                <a:spcPts val="95"/>
              </a:spcBef>
            </a:pP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d</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558</a:t>
            </a:r>
            <a:r>
              <a:rPr sz="500" spc="-20"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graphicFrame>
        <p:nvGraphicFramePr>
          <p:cNvPr id="10" name="object 10"/>
          <p:cNvGraphicFramePr>
            <a:graphicFrameLocks noGrp="1"/>
          </p:cNvGraphicFramePr>
          <p:nvPr/>
        </p:nvGraphicFramePr>
        <p:xfrm>
          <a:off x="926258" y="1169652"/>
          <a:ext cx="697230" cy="568960"/>
        </p:xfrm>
        <a:graphic>
          <a:graphicData uri="http://schemas.openxmlformats.org/drawingml/2006/table">
            <a:tbl>
              <a:tblPr firstRow="1" bandRow="1">
                <a:tableStyleId>{2D5ABB26-0587-4C30-8999-92F81FD0307C}</a:tableStyleId>
              </a:tblPr>
              <a:tblGrid>
                <a:gridCol w="26543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tblGrid>
              <a:tr h="132715">
                <a:tc>
                  <a:txBody>
                    <a:bodyPr/>
                    <a:lstStyle/>
                    <a:p>
                      <a:pPr marL="1905" algn="ctr">
                        <a:lnSpc>
                          <a:spcPct val="100000"/>
                        </a:lnSpc>
                        <a:spcBef>
                          <a:spcPts val="95"/>
                        </a:spcBef>
                      </a:pPr>
                      <a:r>
                        <a:rPr sz="500" spc="-5" dirty="0">
                          <a:solidFill>
                            <a:srgbClr val="231F20"/>
                          </a:solidFill>
                          <a:latin typeface="Arial"/>
                          <a:cs typeface="Arial"/>
                        </a:rPr>
                        <a:t>&lt;</a:t>
                      </a:r>
                      <a:r>
                        <a:rPr sz="500" spc="95" dirty="0">
                          <a:solidFill>
                            <a:srgbClr val="231F20"/>
                          </a:solidFill>
                          <a:latin typeface="Arial"/>
                          <a:cs typeface="Arial"/>
                        </a:rPr>
                        <a:t> </a:t>
                      </a:r>
                      <a:r>
                        <a:rPr sz="500" spc="-5" dirty="0">
                          <a:solidFill>
                            <a:srgbClr val="231F20"/>
                          </a:solidFill>
                          <a:latin typeface="Arial"/>
                          <a:cs typeface="Arial"/>
                        </a:rPr>
                        <a:t>5,</a:t>
                      </a:r>
                      <a:r>
                        <a:rPr sz="500" spc="-25" dirty="0">
                          <a:solidFill>
                            <a:srgbClr val="231F20"/>
                          </a:solidFill>
                          <a:latin typeface="Arial"/>
                          <a:cs typeface="Arial"/>
                        </a:rPr>
                        <a:t> </a:t>
                      </a:r>
                      <a:r>
                        <a:rPr sz="500" spc="-5" dirty="0">
                          <a:solidFill>
                            <a:srgbClr val="231F20"/>
                          </a:solidFill>
                          <a:latin typeface="Arial"/>
                          <a:cs typeface="Arial"/>
                        </a:rPr>
                        <a:t>B&gt;</a:t>
                      </a:r>
                      <a:endParaRPr sz="500">
                        <a:latin typeface="Arial"/>
                        <a:cs typeface="Arial"/>
                      </a:endParaRPr>
                    </a:p>
                  </a:txBody>
                  <a:tcPr marL="0" marR="0" marT="1206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D1D3D4"/>
                    </a:solidFill>
                  </a:tcPr>
                </a:tc>
                <a:tc>
                  <a:txBody>
                    <a:bodyPr/>
                    <a:lstStyle/>
                    <a:p>
                      <a:pPr marL="40005">
                        <a:lnSpc>
                          <a:spcPct val="100000"/>
                        </a:lnSpc>
                        <a:spcBef>
                          <a:spcPts val="95"/>
                        </a:spcBef>
                      </a:pPr>
                      <a:r>
                        <a:rPr sz="500" spc="-5" dirty="0">
                          <a:solidFill>
                            <a:srgbClr val="231F20"/>
                          </a:solidFill>
                          <a:latin typeface="Arial"/>
                          <a:cs typeface="Arial"/>
                        </a:rPr>
                        <a:t>g</a:t>
                      </a:r>
                      <a:r>
                        <a:rPr sz="500" spc="-20" dirty="0">
                          <a:solidFill>
                            <a:srgbClr val="231F20"/>
                          </a:solidFill>
                          <a:latin typeface="Arial"/>
                          <a:cs typeface="Arial"/>
                        </a:rPr>
                        <a:t> </a:t>
                      </a:r>
                      <a:r>
                        <a:rPr sz="500" spc="315" dirty="0">
                          <a:solidFill>
                            <a:srgbClr val="231F20"/>
                          </a:solidFill>
                          <a:latin typeface="Symbol"/>
                          <a:cs typeface="Symbol"/>
                        </a:rPr>
                        <a:t>�</a:t>
                      </a:r>
                      <a:r>
                        <a:rPr sz="500" spc="-5" dirty="0">
                          <a:solidFill>
                            <a:srgbClr val="231F20"/>
                          </a:solidFill>
                          <a:latin typeface="Times New Roman"/>
                          <a:cs typeface="Times New Roman"/>
                        </a:rPr>
                        <a:t> </a:t>
                      </a:r>
                      <a:r>
                        <a:rPr sz="500" spc="-5" dirty="0">
                          <a:solidFill>
                            <a:srgbClr val="231F20"/>
                          </a:solidFill>
                          <a:latin typeface="Arial"/>
                          <a:cs typeface="Arial"/>
                        </a:rPr>
                        <a:t>g</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45</a:t>
                      </a:r>
                      <a:endParaRPr sz="500">
                        <a:latin typeface="Arial"/>
                        <a:cs typeface="Arial"/>
                      </a:endParaRPr>
                    </a:p>
                  </a:txBody>
                  <a:tcPr marL="0" marR="0" marT="1206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D1D3D4"/>
                    </a:solidFill>
                  </a:tcPr>
                </a:tc>
                <a:extLst>
                  <a:ext uri="{0D108BD9-81ED-4DB2-BD59-A6C34878D82A}">
                    <a16:rowId xmlns:a16="http://schemas.microsoft.com/office/drawing/2014/main" val="10000"/>
                  </a:ext>
                </a:extLst>
              </a:tr>
              <a:tr h="151765">
                <a:tc>
                  <a:txBody>
                    <a:bodyPr/>
                    <a:lstStyle/>
                    <a:p>
                      <a:pPr algn="ctr">
                        <a:lnSpc>
                          <a:spcPct val="100000"/>
                        </a:lnSpc>
                        <a:spcBef>
                          <a:spcPts val="245"/>
                        </a:spcBef>
                      </a:pPr>
                      <a:r>
                        <a:rPr sz="500" dirty="0">
                          <a:solidFill>
                            <a:srgbClr val="231F20"/>
                          </a:solidFill>
                          <a:latin typeface="Arial"/>
                          <a:cs typeface="Arial"/>
                        </a:rPr>
                        <a:t>&lt; </a:t>
                      </a:r>
                      <a:r>
                        <a:rPr sz="500" spc="-5" dirty="0">
                          <a:solidFill>
                            <a:srgbClr val="231F20"/>
                          </a:solidFill>
                          <a:latin typeface="Arial"/>
                          <a:cs typeface="Arial"/>
                        </a:rPr>
                        <a:t> </a:t>
                      </a:r>
                      <a:r>
                        <a:rPr sz="500" dirty="0">
                          <a:solidFill>
                            <a:srgbClr val="231F20"/>
                          </a:solidFill>
                          <a:latin typeface="Arial"/>
                          <a:cs typeface="Arial"/>
                        </a:rPr>
                        <a:t>8,</a:t>
                      </a:r>
                      <a:r>
                        <a:rPr sz="500" spc="-30" dirty="0">
                          <a:solidFill>
                            <a:srgbClr val="231F20"/>
                          </a:solidFill>
                          <a:latin typeface="Arial"/>
                          <a:cs typeface="Arial"/>
                        </a:rPr>
                        <a:t> </a:t>
                      </a:r>
                      <a:r>
                        <a:rPr sz="500" dirty="0">
                          <a:solidFill>
                            <a:srgbClr val="231F20"/>
                          </a:solidFill>
                          <a:latin typeface="Arial"/>
                          <a:cs typeface="Arial"/>
                        </a:rPr>
                        <a:t>A&gt;</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37465">
                        <a:lnSpc>
                          <a:spcPct val="100000"/>
                        </a:lnSpc>
                        <a:spcBef>
                          <a:spcPts val="245"/>
                        </a:spcBef>
                      </a:pPr>
                      <a:r>
                        <a:rPr sz="500" spc="-5" dirty="0">
                          <a:solidFill>
                            <a:srgbClr val="231F20"/>
                          </a:solidFill>
                          <a:latin typeface="Arial"/>
                          <a:cs typeface="Arial"/>
                        </a:rPr>
                        <a:t>g</a:t>
                      </a:r>
                      <a:r>
                        <a:rPr sz="500" spc="-20" dirty="0">
                          <a:solidFill>
                            <a:srgbClr val="231F20"/>
                          </a:solidFill>
                          <a:latin typeface="Arial"/>
                          <a:cs typeface="Arial"/>
                        </a:rPr>
                        <a:t> </a:t>
                      </a:r>
                      <a:r>
                        <a:rPr sz="500" spc="315" dirty="0">
                          <a:solidFill>
                            <a:srgbClr val="231F20"/>
                          </a:solidFill>
                          <a:latin typeface="Symbol"/>
                          <a:cs typeface="Symbol"/>
                        </a:rPr>
                        <a:t>�</a:t>
                      </a:r>
                      <a:r>
                        <a:rPr sz="500" spc="-5" dirty="0">
                          <a:solidFill>
                            <a:srgbClr val="231F20"/>
                          </a:solidFill>
                          <a:latin typeface="Times New Roman"/>
                          <a:cs typeface="Times New Roman"/>
                        </a:rPr>
                        <a:t> </a:t>
                      </a:r>
                      <a:r>
                        <a:rPr sz="500" spc="-5" dirty="0">
                          <a:solidFill>
                            <a:srgbClr val="231F20"/>
                          </a:solidFill>
                          <a:latin typeface="Arial"/>
                          <a:cs typeface="Arial"/>
                        </a:rPr>
                        <a:t>g</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50</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151765">
                <a:tc>
                  <a:txBody>
                    <a:bodyPr/>
                    <a:lstStyle/>
                    <a:p>
                      <a:pPr algn="ctr">
                        <a:lnSpc>
                          <a:spcPct val="100000"/>
                        </a:lnSpc>
                        <a:spcBef>
                          <a:spcPts val="245"/>
                        </a:spcBef>
                      </a:pPr>
                      <a:r>
                        <a:rPr sz="500" dirty="0">
                          <a:solidFill>
                            <a:srgbClr val="231F20"/>
                          </a:solidFill>
                          <a:latin typeface="Arial"/>
                          <a:cs typeface="Arial"/>
                        </a:rPr>
                        <a:t>&lt; </a:t>
                      </a:r>
                      <a:r>
                        <a:rPr sz="500" spc="-5" dirty="0">
                          <a:solidFill>
                            <a:srgbClr val="231F20"/>
                          </a:solidFill>
                          <a:latin typeface="Arial"/>
                          <a:cs typeface="Arial"/>
                        </a:rPr>
                        <a:t> </a:t>
                      </a:r>
                      <a:r>
                        <a:rPr sz="500" dirty="0">
                          <a:solidFill>
                            <a:srgbClr val="231F20"/>
                          </a:solidFill>
                          <a:latin typeface="Arial"/>
                          <a:cs typeface="Arial"/>
                        </a:rPr>
                        <a:t>9,</a:t>
                      </a:r>
                      <a:r>
                        <a:rPr sz="500" spc="-30" dirty="0">
                          <a:solidFill>
                            <a:srgbClr val="231F20"/>
                          </a:solidFill>
                          <a:latin typeface="Arial"/>
                          <a:cs typeface="Arial"/>
                        </a:rPr>
                        <a:t> </a:t>
                      </a:r>
                      <a:r>
                        <a:rPr sz="500" dirty="0">
                          <a:solidFill>
                            <a:srgbClr val="231F20"/>
                          </a:solidFill>
                          <a:latin typeface="Arial"/>
                          <a:cs typeface="Arial"/>
                        </a:rPr>
                        <a:t>A&gt;</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37465">
                        <a:lnSpc>
                          <a:spcPct val="100000"/>
                        </a:lnSpc>
                        <a:spcBef>
                          <a:spcPts val="245"/>
                        </a:spcBef>
                      </a:pPr>
                      <a:r>
                        <a:rPr sz="500" spc="-5" dirty="0">
                          <a:solidFill>
                            <a:srgbClr val="231F20"/>
                          </a:solidFill>
                          <a:latin typeface="Arial"/>
                          <a:cs typeface="Arial"/>
                        </a:rPr>
                        <a:t>p</a:t>
                      </a:r>
                      <a:r>
                        <a:rPr sz="500" spc="-20" dirty="0">
                          <a:solidFill>
                            <a:srgbClr val="231F20"/>
                          </a:solidFill>
                          <a:latin typeface="Arial"/>
                          <a:cs typeface="Arial"/>
                        </a:rPr>
                        <a:t> </a:t>
                      </a:r>
                      <a:r>
                        <a:rPr sz="500" spc="315" dirty="0">
                          <a:solidFill>
                            <a:srgbClr val="231F20"/>
                          </a:solidFill>
                          <a:latin typeface="Symbol"/>
                          <a:cs typeface="Symbol"/>
                        </a:rPr>
                        <a:t>�</a:t>
                      </a:r>
                      <a:r>
                        <a:rPr sz="500" spc="-5" dirty="0">
                          <a:solidFill>
                            <a:srgbClr val="231F20"/>
                          </a:solidFill>
                          <a:latin typeface="Times New Roman"/>
                          <a:cs typeface="Times New Roman"/>
                        </a:rPr>
                        <a:t> </a:t>
                      </a:r>
                      <a:r>
                        <a:rPr sz="500" spc="-5" dirty="0">
                          <a:solidFill>
                            <a:srgbClr val="231F20"/>
                          </a:solidFill>
                          <a:latin typeface="Arial"/>
                          <a:cs typeface="Arial"/>
                        </a:rPr>
                        <a:t>p</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78</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r h="132715">
                <a:tc>
                  <a:txBody>
                    <a:bodyPr/>
                    <a:lstStyle/>
                    <a:p>
                      <a:pPr algn="ctr">
                        <a:lnSpc>
                          <a:spcPct val="100000"/>
                        </a:lnSpc>
                        <a:spcBef>
                          <a:spcPts val="245"/>
                        </a:spcBef>
                      </a:pPr>
                      <a:r>
                        <a:rPr sz="500" dirty="0">
                          <a:solidFill>
                            <a:srgbClr val="231F20"/>
                          </a:solidFill>
                          <a:latin typeface="Arial"/>
                          <a:cs typeface="Arial"/>
                        </a:rPr>
                        <a:t>&lt;10,</a:t>
                      </a:r>
                      <a:r>
                        <a:rPr sz="500" spc="-30" dirty="0">
                          <a:solidFill>
                            <a:srgbClr val="231F20"/>
                          </a:solidFill>
                          <a:latin typeface="Arial"/>
                          <a:cs typeface="Arial"/>
                        </a:rPr>
                        <a:t> </a:t>
                      </a:r>
                      <a:r>
                        <a:rPr sz="500" dirty="0">
                          <a:solidFill>
                            <a:srgbClr val="231F20"/>
                          </a:solidFill>
                          <a:latin typeface="Arial"/>
                          <a:cs typeface="Arial"/>
                        </a:rPr>
                        <a:t>A&gt;</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37465">
                        <a:lnSpc>
                          <a:spcPct val="100000"/>
                        </a:lnSpc>
                        <a:spcBef>
                          <a:spcPts val="245"/>
                        </a:spcBef>
                      </a:pPr>
                      <a:r>
                        <a:rPr sz="500" spc="-5" dirty="0">
                          <a:solidFill>
                            <a:srgbClr val="231F20"/>
                          </a:solidFill>
                          <a:latin typeface="Arial"/>
                          <a:cs typeface="Arial"/>
                        </a:rPr>
                        <a:t>d</a:t>
                      </a:r>
                      <a:r>
                        <a:rPr sz="500" spc="-20" dirty="0">
                          <a:solidFill>
                            <a:srgbClr val="231F20"/>
                          </a:solidFill>
                          <a:latin typeface="Arial"/>
                          <a:cs typeface="Arial"/>
                        </a:rPr>
                        <a:t> </a:t>
                      </a:r>
                      <a:r>
                        <a:rPr sz="500" spc="315" dirty="0">
                          <a:solidFill>
                            <a:srgbClr val="231F20"/>
                          </a:solidFill>
                          <a:latin typeface="Symbol"/>
                          <a:cs typeface="Symbol"/>
                        </a:rPr>
                        <a:t>�</a:t>
                      </a:r>
                      <a:r>
                        <a:rPr sz="500" dirty="0">
                          <a:solidFill>
                            <a:srgbClr val="231F20"/>
                          </a:solidFill>
                          <a:latin typeface="Times New Roman"/>
                          <a:cs typeface="Times New Roman"/>
                        </a:rPr>
                        <a:t> </a:t>
                      </a:r>
                      <a:r>
                        <a:rPr sz="500" spc="-5" dirty="0">
                          <a:solidFill>
                            <a:srgbClr val="231F20"/>
                          </a:solidFill>
                          <a:latin typeface="Arial"/>
                          <a:cs typeface="Arial"/>
                        </a:rPr>
                        <a:t>d</a:t>
                      </a:r>
                      <a:r>
                        <a:rPr sz="500" spc="-20" dirty="0">
                          <a:solidFill>
                            <a:srgbClr val="231F20"/>
                          </a:solidFill>
                          <a:latin typeface="Arial"/>
                          <a:cs typeface="Arial"/>
                        </a:rPr>
                        <a:t> </a:t>
                      </a:r>
                      <a:r>
                        <a:rPr sz="500" spc="-5" dirty="0">
                          <a:solidFill>
                            <a:srgbClr val="231F20"/>
                          </a:solidFill>
                          <a:latin typeface="Arial"/>
                          <a:cs typeface="Arial"/>
                        </a:rPr>
                        <a:t>+</a:t>
                      </a:r>
                      <a:r>
                        <a:rPr sz="500" spc="-15" dirty="0">
                          <a:solidFill>
                            <a:srgbClr val="231F20"/>
                          </a:solidFill>
                          <a:latin typeface="Arial"/>
                          <a:cs typeface="Arial"/>
                        </a:rPr>
                        <a:t> </a:t>
                      </a:r>
                      <a:r>
                        <a:rPr sz="500" spc="-5" dirty="0">
                          <a:solidFill>
                            <a:srgbClr val="231F20"/>
                          </a:solidFill>
                          <a:latin typeface="Arial"/>
                          <a:cs typeface="Arial"/>
                        </a:rPr>
                        <a:t>558</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3"/>
                  </a:ext>
                </a:extLst>
              </a:tr>
            </a:tbl>
          </a:graphicData>
        </a:graphic>
      </p:graphicFrame>
      <p:sp>
        <p:nvSpPr>
          <p:cNvPr id="11" name="object 11"/>
          <p:cNvSpPr txBox="1"/>
          <p:nvPr/>
        </p:nvSpPr>
        <p:spPr>
          <a:xfrm>
            <a:off x="970957" y="1037805"/>
            <a:ext cx="3962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Operation</a:t>
            </a:r>
            <a:endParaRPr sz="650">
              <a:latin typeface="Arial"/>
              <a:cs typeface="Arial"/>
            </a:endParaRPr>
          </a:p>
        </p:txBody>
      </p:sp>
      <p:sp>
        <p:nvSpPr>
          <p:cNvPr id="12" name="object 12"/>
          <p:cNvSpPr txBox="1"/>
          <p:nvPr/>
        </p:nvSpPr>
        <p:spPr>
          <a:xfrm>
            <a:off x="1690121" y="1008524"/>
            <a:ext cx="309245" cy="267335"/>
          </a:xfrm>
          <a:prstGeom prst="rect">
            <a:avLst/>
          </a:prstGeom>
        </p:spPr>
        <p:txBody>
          <a:bodyPr vert="horz" wrap="square" lIns="0" tIns="50800" rIns="0" bIns="0" rtlCol="0">
            <a:spAutoFit/>
          </a:bodyPr>
          <a:lstStyle/>
          <a:p>
            <a:pPr marL="12700">
              <a:lnSpc>
                <a:spcPct val="100000"/>
              </a:lnSpc>
              <a:spcBef>
                <a:spcPts val="400"/>
              </a:spcBef>
            </a:pPr>
            <a:r>
              <a:rPr sz="650" spc="5" dirty="0">
                <a:solidFill>
                  <a:srgbClr val="231F20"/>
                </a:solidFill>
                <a:latin typeface="Arial"/>
                <a:cs typeface="Arial"/>
              </a:rPr>
              <a:t>Result</a:t>
            </a:r>
            <a:endParaRPr sz="650">
              <a:latin typeface="Arial"/>
              <a:cs typeface="Arial"/>
            </a:endParaRPr>
          </a:p>
          <a:p>
            <a:pPr marL="13335">
              <a:lnSpc>
                <a:spcPct val="100000"/>
              </a:lnSpc>
              <a:spcBef>
                <a:spcPts val="220"/>
              </a:spcBef>
            </a:pP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g</a:t>
            </a:r>
            <a:r>
              <a:rPr sz="500" spc="-15" dirty="0">
                <a:solidFill>
                  <a:srgbClr val="231F20"/>
                </a:solidFill>
                <a:latin typeface="Arial"/>
                <a:cs typeface="Arial"/>
              </a:rPr>
              <a:t> </a:t>
            </a:r>
            <a:r>
              <a:rPr sz="500" spc="-5" dirty="0">
                <a:solidFill>
                  <a:srgbClr val="231F20"/>
                </a:solidFill>
                <a:latin typeface="Arial"/>
                <a:cs typeface="Arial"/>
              </a:rPr>
              <a:t>=</a:t>
            </a:r>
            <a:r>
              <a:rPr sz="500" spc="240" dirty="0">
                <a:solidFill>
                  <a:srgbClr val="231F20"/>
                </a:solidFill>
                <a:latin typeface="Arial"/>
                <a:cs typeface="Arial"/>
              </a:rPr>
              <a:t> </a:t>
            </a:r>
            <a:r>
              <a:rPr sz="500" spc="-5" dirty="0">
                <a:solidFill>
                  <a:srgbClr val="231F20"/>
                </a:solidFill>
                <a:latin typeface="Arial"/>
                <a:cs typeface="Arial"/>
              </a:rPr>
              <a:t>45</a:t>
            </a:r>
            <a:r>
              <a:rPr sz="500" spc="-15"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sp>
        <p:nvSpPr>
          <p:cNvPr id="13" name="object 13"/>
          <p:cNvSpPr/>
          <p:nvPr/>
        </p:nvSpPr>
        <p:spPr>
          <a:xfrm>
            <a:off x="869135" y="1052771"/>
            <a:ext cx="1196340" cy="777240"/>
          </a:xfrm>
          <a:custGeom>
            <a:avLst/>
            <a:gdLst/>
            <a:ahLst/>
            <a:cxnLst/>
            <a:rect l="l" t="t" r="r" b="b"/>
            <a:pathLst>
              <a:path w="1196339" h="777239">
                <a:moveTo>
                  <a:pt x="0" y="776880"/>
                </a:moveTo>
                <a:lnTo>
                  <a:pt x="1196308" y="776880"/>
                </a:lnTo>
                <a:lnTo>
                  <a:pt x="1196308" y="0"/>
                </a:lnTo>
                <a:lnTo>
                  <a:pt x="0" y="0"/>
                </a:lnTo>
                <a:lnTo>
                  <a:pt x="0" y="776880"/>
                </a:lnTo>
                <a:close/>
              </a:path>
            </a:pathLst>
          </a:custGeom>
          <a:ln w="5270">
            <a:solidFill>
              <a:srgbClr val="231F20"/>
            </a:solidFill>
          </a:ln>
        </p:spPr>
        <p:txBody>
          <a:bodyPr wrap="square" lIns="0" tIns="0" rIns="0" bIns="0" rtlCol="0"/>
          <a:lstStyle/>
          <a:p>
            <a:endParaRPr/>
          </a:p>
        </p:txBody>
      </p:sp>
      <p:sp>
        <p:nvSpPr>
          <p:cNvPr id="14" name="object 14"/>
          <p:cNvSpPr txBox="1"/>
          <p:nvPr/>
        </p:nvSpPr>
        <p:spPr>
          <a:xfrm>
            <a:off x="1167935" y="634453"/>
            <a:ext cx="896619" cy="358775"/>
          </a:xfrm>
          <a:prstGeom prst="rect">
            <a:avLst/>
          </a:prstGeom>
          <a:ln w="5270">
            <a:solidFill>
              <a:srgbClr val="231F20"/>
            </a:solidFill>
          </a:ln>
        </p:spPr>
        <p:txBody>
          <a:bodyPr vert="horz" wrap="square" lIns="0" tIns="45720" rIns="0" bIns="0" rtlCol="0">
            <a:spAutoFit/>
          </a:bodyPr>
          <a:lstStyle/>
          <a:p>
            <a:pPr marL="78105" marR="48260">
              <a:lnSpc>
                <a:spcPts val="740"/>
              </a:lnSpc>
              <a:spcBef>
                <a:spcPts val="360"/>
              </a:spcBef>
            </a:pPr>
            <a:r>
              <a:rPr sz="650" spc="5" dirty="0">
                <a:solidFill>
                  <a:srgbClr val="231F20"/>
                </a:solidFill>
                <a:latin typeface="Arial"/>
                <a:cs typeface="Arial"/>
              </a:rPr>
              <a:t>d</a:t>
            </a:r>
            <a:r>
              <a:rPr sz="650" spc="-10" dirty="0">
                <a:solidFill>
                  <a:srgbClr val="231F20"/>
                </a:solidFill>
                <a:latin typeface="Arial"/>
                <a:cs typeface="Arial"/>
              </a:rPr>
              <a:t> </a:t>
            </a:r>
            <a:r>
              <a:rPr sz="650" spc="5"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558 </a:t>
            </a:r>
            <a:r>
              <a:rPr sz="650" spc="155" dirty="0">
                <a:solidFill>
                  <a:srgbClr val="231F20"/>
                </a:solidFill>
                <a:latin typeface="Arial"/>
                <a:cs typeface="Arial"/>
              </a:rPr>
              <a:t> </a:t>
            </a:r>
            <a:r>
              <a:rPr sz="650"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distance </a:t>
            </a:r>
            <a:r>
              <a:rPr sz="650" spc="-170" dirty="0">
                <a:solidFill>
                  <a:srgbClr val="231F20"/>
                </a:solidFill>
                <a:latin typeface="Arial"/>
                <a:cs typeface="Arial"/>
              </a:rPr>
              <a:t> </a:t>
            </a:r>
            <a:r>
              <a:rPr sz="650" spc="5" dirty="0">
                <a:solidFill>
                  <a:srgbClr val="231F20"/>
                </a:solidFill>
                <a:latin typeface="Arial"/>
                <a:cs typeface="Arial"/>
              </a:rPr>
              <a:t>g</a:t>
            </a:r>
            <a:r>
              <a:rPr sz="650" spc="-5" dirty="0">
                <a:solidFill>
                  <a:srgbClr val="231F20"/>
                </a:solidFill>
                <a:latin typeface="Arial"/>
                <a:cs typeface="Arial"/>
              </a:rPr>
              <a:t> </a:t>
            </a:r>
            <a:r>
              <a:rPr sz="650" spc="5" dirty="0">
                <a:solidFill>
                  <a:srgbClr val="231F20"/>
                </a:solidFill>
                <a:latin typeface="Arial"/>
                <a:cs typeface="Arial"/>
              </a:rPr>
              <a:t>=</a:t>
            </a:r>
            <a:r>
              <a:rPr sz="650" spc="175" dirty="0">
                <a:solidFill>
                  <a:srgbClr val="231F20"/>
                </a:solidFill>
                <a:latin typeface="Arial"/>
                <a:cs typeface="Arial"/>
              </a:rPr>
              <a:t> </a:t>
            </a:r>
            <a:r>
              <a:rPr sz="650" spc="5" dirty="0">
                <a:solidFill>
                  <a:srgbClr val="231F20"/>
                </a:solidFill>
                <a:latin typeface="Arial"/>
                <a:cs typeface="Arial"/>
              </a:rPr>
              <a:t>95</a:t>
            </a:r>
            <a:r>
              <a:rPr sz="650" spc="170" dirty="0">
                <a:solidFill>
                  <a:srgbClr val="231F20"/>
                </a:solidFill>
                <a:latin typeface="Arial"/>
                <a:cs typeface="Arial"/>
              </a:rPr>
              <a:t> </a:t>
            </a:r>
            <a:r>
              <a:rPr sz="650" dirty="0">
                <a:solidFill>
                  <a:srgbClr val="231F20"/>
                </a:solidFill>
                <a:latin typeface="Arial"/>
                <a:cs typeface="Arial"/>
              </a:rPr>
              <a:t>//</a:t>
            </a:r>
            <a:r>
              <a:rPr sz="650" spc="-5" dirty="0">
                <a:solidFill>
                  <a:srgbClr val="231F20"/>
                </a:solidFill>
                <a:latin typeface="Arial"/>
                <a:cs typeface="Arial"/>
              </a:rPr>
              <a:t> </a:t>
            </a:r>
            <a:r>
              <a:rPr sz="650" spc="5" dirty="0">
                <a:solidFill>
                  <a:srgbClr val="231F20"/>
                </a:solidFill>
                <a:latin typeface="Arial"/>
                <a:cs typeface="Arial"/>
              </a:rPr>
              <a:t>gas</a:t>
            </a:r>
            <a:endParaRPr sz="650">
              <a:latin typeface="Arial"/>
              <a:cs typeface="Arial"/>
            </a:endParaRPr>
          </a:p>
          <a:p>
            <a:pPr marL="78105">
              <a:lnSpc>
                <a:spcPts val="725"/>
              </a:lnSpc>
            </a:pPr>
            <a:r>
              <a:rPr sz="650" spc="5" dirty="0">
                <a:solidFill>
                  <a:srgbClr val="231F20"/>
                </a:solidFill>
                <a:latin typeface="Arial"/>
                <a:cs typeface="Arial"/>
              </a:rPr>
              <a:t>p</a:t>
            </a:r>
            <a:r>
              <a:rPr sz="650" spc="-10" dirty="0">
                <a:solidFill>
                  <a:srgbClr val="231F20"/>
                </a:solidFill>
                <a:latin typeface="Arial"/>
                <a:cs typeface="Arial"/>
              </a:rPr>
              <a:t> </a:t>
            </a:r>
            <a:r>
              <a:rPr sz="650" spc="5" dirty="0">
                <a:solidFill>
                  <a:srgbClr val="231F20"/>
                </a:solidFill>
                <a:latin typeface="Arial"/>
                <a:cs typeface="Arial"/>
              </a:rPr>
              <a:t>= </a:t>
            </a:r>
            <a:r>
              <a:rPr sz="650" spc="165" dirty="0">
                <a:solidFill>
                  <a:srgbClr val="231F20"/>
                </a:solidFill>
                <a:latin typeface="Arial"/>
                <a:cs typeface="Arial"/>
              </a:rPr>
              <a:t> </a:t>
            </a:r>
            <a:r>
              <a:rPr sz="650" spc="5" dirty="0">
                <a:solidFill>
                  <a:srgbClr val="231F20"/>
                </a:solidFill>
                <a:latin typeface="Arial"/>
                <a:cs typeface="Arial"/>
              </a:rPr>
              <a:t>78  </a:t>
            </a:r>
            <a:r>
              <a:rPr sz="650" spc="155" dirty="0">
                <a:solidFill>
                  <a:srgbClr val="231F20"/>
                </a:solidFill>
                <a:latin typeface="Arial"/>
                <a:cs typeface="Arial"/>
              </a:rPr>
              <a:t> </a:t>
            </a:r>
            <a:r>
              <a:rPr sz="650"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price</a:t>
            </a:r>
            <a:endParaRPr sz="650">
              <a:latin typeface="Arial"/>
              <a:cs typeface="Arial"/>
            </a:endParaRPr>
          </a:p>
        </p:txBody>
      </p:sp>
      <p:sp>
        <p:nvSpPr>
          <p:cNvPr id="15" name="object 15"/>
          <p:cNvSpPr txBox="1"/>
          <p:nvPr/>
        </p:nvSpPr>
        <p:spPr>
          <a:xfrm>
            <a:off x="917153" y="748180"/>
            <a:ext cx="2222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Conit</a:t>
            </a:r>
            <a:endParaRPr sz="650">
              <a:latin typeface="Arial"/>
              <a:cs typeface="Arial"/>
            </a:endParaRPr>
          </a:p>
        </p:txBody>
      </p:sp>
      <p:sp>
        <p:nvSpPr>
          <p:cNvPr id="16" name="object 16"/>
          <p:cNvSpPr txBox="1"/>
          <p:nvPr/>
        </p:nvSpPr>
        <p:spPr>
          <a:xfrm>
            <a:off x="3364390" y="1325764"/>
            <a:ext cx="326390" cy="101600"/>
          </a:xfrm>
          <a:prstGeom prst="rect">
            <a:avLst/>
          </a:prstGeom>
        </p:spPr>
        <p:txBody>
          <a:bodyPr vert="horz" wrap="square" lIns="0" tIns="12065" rIns="0" bIns="0" rtlCol="0">
            <a:spAutoFit/>
          </a:bodyPr>
          <a:lstStyle/>
          <a:p>
            <a:pPr marL="12700">
              <a:lnSpc>
                <a:spcPct val="100000"/>
              </a:lnSpc>
              <a:spcBef>
                <a:spcPts val="95"/>
              </a:spcBef>
            </a:pPr>
            <a:r>
              <a:rPr sz="500" spc="-5" dirty="0">
                <a:solidFill>
                  <a:srgbClr val="231F20"/>
                </a:solidFill>
                <a:latin typeface="Arial"/>
                <a:cs typeface="Arial"/>
              </a:rPr>
              <a:t>[</a:t>
            </a:r>
            <a:r>
              <a:rPr sz="500" spc="-15" dirty="0">
                <a:solidFill>
                  <a:srgbClr val="231F20"/>
                </a:solidFill>
                <a:latin typeface="Arial"/>
                <a:cs typeface="Arial"/>
              </a:rPr>
              <a:t> </a:t>
            </a:r>
            <a:r>
              <a:rPr sz="500" spc="-5" dirty="0">
                <a:solidFill>
                  <a:srgbClr val="231F20"/>
                </a:solidFill>
                <a:latin typeface="Arial"/>
                <a:cs typeface="Arial"/>
              </a:rPr>
              <a:t>p</a:t>
            </a:r>
            <a:r>
              <a:rPr sz="500" spc="-15" dirty="0">
                <a:solidFill>
                  <a:srgbClr val="231F20"/>
                </a:solidFill>
                <a:latin typeface="Arial"/>
                <a:cs typeface="Arial"/>
              </a:rPr>
              <a:t> </a:t>
            </a:r>
            <a:r>
              <a:rPr sz="500" spc="-5" dirty="0">
                <a:solidFill>
                  <a:srgbClr val="231F20"/>
                </a:solidFill>
                <a:latin typeface="Arial"/>
                <a:cs typeface="Arial"/>
              </a:rPr>
              <a:t>=</a:t>
            </a:r>
            <a:r>
              <a:rPr sz="500" spc="370" dirty="0">
                <a:solidFill>
                  <a:srgbClr val="231F20"/>
                </a:solidFill>
                <a:latin typeface="Arial"/>
                <a:cs typeface="Arial"/>
              </a:rPr>
              <a:t> </a:t>
            </a:r>
            <a:r>
              <a:rPr sz="500" spc="-5" dirty="0">
                <a:solidFill>
                  <a:srgbClr val="231F20"/>
                </a:solidFill>
                <a:latin typeface="Arial"/>
                <a:cs typeface="Arial"/>
              </a:rPr>
              <a:t>70</a:t>
            </a:r>
            <a:r>
              <a:rPr sz="500" spc="-15"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sp>
        <p:nvSpPr>
          <p:cNvPr id="17" name="object 17"/>
          <p:cNvSpPr txBox="1"/>
          <p:nvPr/>
        </p:nvSpPr>
        <p:spPr>
          <a:xfrm>
            <a:off x="3363139" y="1472774"/>
            <a:ext cx="326390" cy="101600"/>
          </a:xfrm>
          <a:prstGeom prst="rect">
            <a:avLst/>
          </a:prstGeom>
        </p:spPr>
        <p:txBody>
          <a:bodyPr vert="horz" wrap="square" lIns="0" tIns="12065" rIns="0" bIns="0" rtlCol="0">
            <a:spAutoFit/>
          </a:bodyPr>
          <a:lstStyle/>
          <a:p>
            <a:pPr marL="12700">
              <a:lnSpc>
                <a:spcPct val="100000"/>
              </a:lnSpc>
              <a:spcBef>
                <a:spcPts val="95"/>
              </a:spcBef>
            </a:pP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d</a:t>
            </a:r>
            <a:r>
              <a:rPr sz="500" spc="-15" dirty="0">
                <a:solidFill>
                  <a:srgbClr val="231F20"/>
                </a:solidFill>
                <a:latin typeface="Arial"/>
                <a:cs typeface="Arial"/>
              </a:rPr>
              <a:t> </a:t>
            </a:r>
            <a:r>
              <a:rPr sz="500" spc="-5" dirty="0">
                <a:solidFill>
                  <a:srgbClr val="231F20"/>
                </a:solidFill>
                <a:latin typeface="Arial"/>
                <a:cs typeface="Arial"/>
              </a:rPr>
              <a:t>=</a:t>
            </a:r>
            <a:r>
              <a:rPr sz="500" spc="110" dirty="0">
                <a:solidFill>
                  <a:srgbClr val="231F20"/>
                </a:solidFill>
                <a:latin typeface="Arial"/>
                <a:cs typeface="Arial"/>
              </a:rPr>
              <a:t> </a:t>
            </a:r>
            <a:r>
              <a:rPr sz="500" spc="-5" dirty="0">
                <a:solidFill>
                  <a:srgbClr val="231F20"/>
                </a:solidFill>
                <a:latin typeface="Arial"/>
                <a:cs typeface="Arial"/>
              </a:rPr>
              <a:t>412</a:t>
            </a:r>
            <a:r>
              <a:rPr sz="500" spc="-20"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graphicFrame>
        <p:nvGraphicFramePr>
          <p:cNvPr id="18" name="object 18"/>
          <p:cNvGraphicFramePr>
            <a:graphicFrameLocks noGrp="1"/>
          </p:cNvGraphicFramePr>
          <p:nvPr/>
        </p:nvGraphicFramePr>
        <p:xfrm>
          <a:off x="2600166" y="1169652"/>
          <a:ext cx="695960" cy="412115"/>
        </p:xfrm>
        <a:graphic>
          <a:graphicData uri="http://schemas.openxmlformats.org/drawingml/2006/table">
            <a:tbl>
              <a:tblPr firstRow="1" bandRow="1">
                <a:tableStyleId>{2D5ABB26-0587-4C30-8999-92F81FD0307C}</a:tableStyleId>
              </a:tblPr>
              <a:tblGrid>
                <a:gridCol w="265430">
                  <a:extLst>
                    <a:ext uri="{9D8B030D-6E8A-4147-A177-3AD203B41FA5}">
                      <a16:colId xmlns:a16="http://schemas.microsoft.com/office/drawing/2014/main" val="20000"/>
                    </a:ext>
                  </a:extLst>
                </a:gridCol>
                <a:gridCol w="430530">
                  <a:extLst>
                    <a:ext uri="{9D8B030D-6E8A-4147-A177-3AD203B41FA5}">
                      <a16:colId xmlns:a16="http://schemas.microsoft.com/office/drawing/2014/main" val="20001"/>
                    </a:ext>
                  </a:extLst>
                </a:gridCol>
              </a:tblGrid>
              <a:tr h="132715">
                <a:tc>
                  <a:txBody>
                    <a:bodyPr/>
                    <a:lstStyle/>
                    <a:p>
                      <a:pPr marR="12065" algn="r">
                        <a:lnSpc>
                          <a:spcPct val="100000"/>
                        </a:lnSpc>
                        <a:spcBef>
                          <a:spcPts val="95"/>
                        </a:spcBef>
                      </a:pPr>
                      <a:r>
                        <a:rPr sz="500" spc="-5" dirty="0">
                          <a:solidFill>
                            <a:srgbClr val="231F20"/>
                          </a:solidFill>
                          <a:latin typeface="Arial"/>
                          <a:cs typeface="Arial"/>
                        </a:rPr>
                        <a:t>&lt;</a:t>
                      </a:r>
                      <a:r>
                        <a:rPr sz="500" spc="95" dirty="0">
                          <a:solidFill>
                            <a:srgbClr val="231F20"/>
                          </a:solidFill>
                          <a:latin typeface="Arial"/>
                          <a:cs typeface="Arial"/>
                        </a:rPr>
                        <a:t> </a:t>
                      </a:r>
                      <a:r>
                        <a:rPr sz="500" spc="-5" dirty="0">
                          <a:solidFill>
                            <a:srgbClr val="231F20"/>
                          </a:solidFill>
                          <a:latin typeface="Arial"/>
                          <a:cs typeface="Arial"/>
                        </a:rPr>
                        <a:t>5,</a:t>
                      </a:r>
                      <a:r>
                        <a:rPr sz="500" spc="-25" dirty="0">
                          <a:solidFill>
                            <a:srgbClr val="231F20"/>
                          </a:solidFill>
                          <a:latin typeface="Arial"/>
                          <a:cs typeface="Arial"/>
                        </a:rPr>
                        <a:t> </a:t>
                      </a:r>
                      <a:r>
                        <a:rPr sz="500" spc="-5" dirty="0">
                          <a:solidFill>
                            <a:srgbClr val="231F20"/>
                          </a:solidFill>
                          <a:latin typeface="Arial"/>
                          <a:cs typeface="Arial"/>
                        </a:rPr>
                        <a:t>B&gt;</a:t>
                      </a:r>
                      <a:endParaRPr sz="500">
                        <a:latin typeface="Arial"/>
                        <a:cs typeface="Arial"/>
                      </a:endParaRPr>
                    </a:p>
                  </a:txBody>
                  <a:tcPr marL="0" marR="0" marT="1206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D1D3D4"/>
                    </a:solidFill>
                  </a:tcPr>
                </a:tc>
                <a:tc>
                  <a:txBody>
                    <a:bodyPr/>
                    <a:lstStyle/>
                    <a:p>
                      <a:pPr marR="33020" algn="ctr">
                        <a:lnSpc>
                          <a:spcPct val="100000"/>
                        </a:lnSpc>
                        <a:spcBef>
                          <a:spcPts val="95"/>
                        </a:spcBef>
                      </a:pPr>
                      <a:r>
                        <a:rPr sz="500" spc="-5" dirty="0">
                          <a:solidFill>
                            <a:srgbClr val="231F20"/>
                          </a:solidFill>
                          <a:latin typeface="Arial"/>
                          <a:cs typeface="Arial"/>
                        </a:rPr>
                        <a:t>g</a:t>
                      </a:r>
                      <a:r>
                        <a:rPr sz="500" spc="-20" dirty="0">
                          <a:solidFill>
                            <a:srgbClr val="231F20"/>
                          </a:solidFill>
                          <a:latin typeface="Arial"/>
                          <a:cs typeface="Arial"/>
                        </a:rPr>
                        <a:t> </a:t>
                      </a:r>
                      <a:r>
                        <a:rPr sz="500" spc="315" dirty="0">
                          <a:solidFill>
                            <a:srgbClr val="231F20"/>
                          </a:solidFill>
                          <a:latin typeface="Symbol"/>
                          <a:cs typeface="Symbol"/>
                        </a:rPr>
                        <a:t>�</a:t>
                      </a:r>
                      <a:r>
                        <a:rPr sz="500" spc="-5" dirty="0">
                          <a:solidFill>
                            <a:srgbClr val="231F20"/>
                          </a:solidFill>
                          <a:latin typeface="Times New Roman"/>
                          <a:cs typeface="Times New Roman"/>
                        </a:rPr>
                        <a:t> </a:t>
                      </a:r>
                      <a:r>
                        <a:rPr sz="500" spc="-5" dirty="0">
                          <a:solidFill>
                            <a:srgbClr val="231F20"/>
                          </a:solidFill>
                          <a:latin typeface="Arial"/>
                          <a:cs typeface="Arial"/>
                        </a:rPr>
                        <a:t>g</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45</a:t>
                      </a:r>
                      <a:endParaRPr sz="500">
                        <a:latin typeface="Arial"/>
                        <a:cs typeface="Arial"/>
                      </a:endParaRPr>
                    </a:p>
                  </a:txBody>
                  <a:tcPr marL="0" marR="0" marT="1206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D1D3D4"/>
                    </a:solidFill>
                  </a:tcPr>
                </a:tc>
                <a:extLst>
                  <a:ext uri="{0D108BD9-81ED-4DB2-BD59-A6C34878D82A}">
                    <a16:rowId xmlns:a16="http://schemas.microsoft.com/office/drawing/2014/main" val="10000"/>
                  </a:ext>
                </a:extLst>
              </a:tr>
              <a:tr h="149225">
                <a:tc>
                  <a:txBody>
                    <a:bodyPr/>
                    <a:lstStyle/>
                    <a:p>
                      <a:pPr marR="12065" algn="r">
                        <a:lnSpc>
                          <a:spcPct val="100000"/>
                        </a:lnSpc>
                        <a:spcBef>
                          <a:spcPts val="245"/>
                        </a:spcBef>
                      </a:pPr>
                      <a:r>
                        <a:rPr sz="500" spc="-5" dirty="0">
                          <a:solidFill>
                            <a:srgbClr val="231F20"/>
                          </a:solidFill>
                          <a:latin typeface="Arial"/>
                          <a:cs typeface="Arial"/>
                        </a:rPr>
                        <a:t>&lt;</a:t>
                      </a:r>
                      <a:r>
                        <a:rPr sz="500" spc="95" dirty="0">
                          <a:solidFill>
                            <a:srgbClr val="231F20"/>
                          </a:solidFill>
                          <a:latin typeface="Arial"/>
                          <a:cs typeface="Arial"/>
                        </a:rPr>
                        <a:t> </a:t>
                      </a:r>
                      <a:r>
                        <a:rPr sz="500" spc="-5" dirty="0">
                          <a:solidFill>
                            <a:srgbClr val="231F20"/>
                          </a:solidFill>
                          <a:latin typeface="Arial"/>
                          <a:cs typeface="Arial"/>
                        </a:rPr>
                        <a:t>6,</a:t>
                      </a:r>
                      <a:r>
                        <a:rPr sz="500" spc="-25" dirty="0">
                          <a:solidFill>
                            <a:srgbClr val="231F20"/>
                          </a:solidFill>
                          <a:latin typeface="Arial"/>
                          <a:cs typeface="Arial"/>
                        </a:rPr>
                        <a:t> </a:t>
                      </a:r>
                      <a:r>
                        <a:rPr sz="500" spc="-5" dirty="0">
                          <a:solidFill>
                            <a:srgbClr val="231F20"/>
                          </a:solidFill>
                          <a:latin typeface="Arial"/>
                          <a:cs typeface="Arial"/>
                        </a:rPr>
                        <a:t>B&gt;</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D1D3D4"/>
                    </a:solidFill>
                  </a:tcPr>
                </a:tc>
                <a:tc>
                  <a:txBody>
                    <a:bodyPr/>
                    <a:lstStyle/>
                    <a:p>
                      <a:pPr marR="35560" algn="ctr">
                        <a:lnSpc>
                          <a:spcPct val="100000"/>
                        </a:lnSpc>
                        <a:spcBef>
                          <a:spcPts val="245"/>
                        </a:spcBef>
                      </a:pPr>
                      <a:r>
                        <a:rPr sz="500" spc="-5" dirty="0">
                          <a:solidFill>
                            <a:srgbClr val="231F20"/>
                          </a:solidFill>
                          <a:latin typeface="Arial"/>
                          <a:cs typeface="Arial"/>
                        </a:rPr>
                        <a:t>p</a:t>
                      </a:r>
                      <a:r>
                        <a:rPr sz="500" spc="-20" dirty="0">
                          <a:solidFill>
                            <a:srgbClr val="231F20"/>
                          </a:solidFill>
                          <a:latin typeface="Arial"/>
                          <a:cs typeface="Arial"/>
                        </a:rPr>
                        <a:t> </a:t>
                      </a:r>
                      <a:r>
                        <a:rPr sz="500" spc="315" dirty="0">
                          <a:solidFill>
                            <a:srgbClr val="231F20"/>
                          </a:solidFill>
                          <a:latin typeface="Symbol"/>
                          <a:cs typeface="Symbol"/>
                        </a:rPr>
                        <a:t>�</a:t>
                      </a:r>
                      <a:r>
                        <a:rPr sz="500" spc="-5" dirty="0">
                          <a:solidFill>
                            <a:srgbClr val="231F20"/>
                          </a:solidFill>
                          <a:latin typeface="Times New Roman"/>
                          <a:cs typeface="Times New Roman"/>
                        </a:rPr>
                        <a:t> </a:t>
                      </a:r>
                      <a:r>
                        <a:rPr sz="500" spc="-5" dirty="0">
                          <a:solidFill>
                            <a:srgbClr val="231F20"/>
                          </a:solidFill>
                          <a:latin typeface="Arial"/>
                          <a:cs typeface="Arial"/>
                        </a:rPr>
                        <a:t>p</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70</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D1D3D4"/>
                    </a:solidFill>
                  </a:tcPr>
                </a:tc>
                <a:extLst>
                  <a:ext uri="{0D108BD9-81ED-4DB2-BD59-A6C34878D82A}">
                    <a16:rowId xmlns:a16="http://schemas.microsoft.com/office/drawing/2014/main" val="10001"/>
                  </a:ext>
                </a:extLst>
              </a:tr>
              <a:tr h="130175">
                <a:tc>
                  <a:txBody>
                    <a:bodyPr/>
                    <a:lstStyle/>
                    <a:p>
                      <a:pPr marR="13335" algn="r">
                        <a:lnSpc>
                          <a:spcPct val="100000"/>
                        </a:lnSpc>
                        <a:spcBef>
                          <a:spcPts val="225"/>
                        </a:spcBef>
                      </a:pPr>
                      <a:r>
                        <a:rPr sz="500" spc="-5" dirty="0">
                          <a:solidFill>
                            <a:srgbClr val="231F20"/>
                          </a:solidFill>
                          <a:latin typeface="Arial"/>
                          <a:cs typeface="Arial"/>
                        </a:rPr>
                        <a:t>&lt;</a:t>
                      </a:r>
                      <a:r>
                        <a:rPr sz="500" spc="95" dirty="0">
                          <a:solidFill>
                            <a:srgbClr val="231F20"/>
                          </a:solidFill>
                          <a:latin typeface="Arial"/>
                          <a:cs typeface="Arial"/>
                        </a:rPr>
                        <a:t> </a:t>
                      </a:r>
                      <a:r>
                        <a:rPr sz="500" spc="-5" dirty="0">
                          <a:solidFill>
                            <a:srgbClr val="231F20"/>
                          </a:solidFill>
                          <a:latin typeface="Arial"/>
                          <a:cs typeface="Arial"/>
                        </a:rPr>
                        <a:t>7,</a:t>
                      </a:r>
                      <a:r>
                        <a:rPr sz="500" spc="-25" dirty="0">
                          <a:solidFill>
                            <a:srgbClr val="231F20"/>
                          </a:solidFill>
                          <a:latin typeface="Arial"/>
                          <a:cs typeface="Arial"/>
                        </a:rPr>
                        <a:t> </a:t>
                      </a:r>
                      <a:r>
                        <a:rPr sz="500" spc="-5" dirty="0">
                          <a:solidFill>
                            <a:srgbClr val="231F20"/>
                          </a:solidFill>
                          <a:latin typeface="Arial"/>
                          <a:cs typeface="Arial"/>
                        </a:rPr>
                        <a:t>B&gt;</a:t>
                      </a:r>
                      <a:endParaRPr sz="500">
                        <a:latin typeface="Arial"/>
                        <a:cs typeface="Arial"/>
                      </a:endParaRPr>
                    </a:p>
                  </a:txBody>
                  <a:tcPr marL="0" marR="0" marT="285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R="3175" algn="ctr">
                        <a:lnSpc>
                          <a:spcPct val="100000"/>
                        </a:lnSpc>
                        <a:spcBef>
                          <a:spcPts val="225"/>
                        </a:spcBef>
                      </a:pPr>
                      <a:r>
                        <a:rPr sz="500" spc="-5" dirty="0">
                          <a:solidFill>
                            <a:srgbClr val="231F20"/>
                          </a:solidFill>
                          <a:latin typeface="Arial"/>
                          <a:cs typeface="Arial"/>
                        </a:rPr>
                        <a:t>d</a:t>
                      </a:r>
                      <a:r>
                        <a:rPr sz="500" spc="-20" dirty="0">
                          <a:solidFill>
                            <a:srgbClr val="231F20"/>
                          </a:solidFill>
                          <a:latin typeface="Arial"/>
                          <a:cs typeface="Arial"/>
                        </a:rPr>
                        <a:t> </a:t>
                      </a:r>
                      <a:r>
                        <a:rPr sz="500" spc="315" dirty="0">
                          <a:solidFill>
                            <a:srgbClr val="231F20"/>
                          </a:solidFill>
                          <a:latin typeface="Symbol"/>
                          <a:cs typeface="Symbol"/>
                        </a:rPr>
                        <a:t>�</a:t>
                      </a:r>
                      <a:r>
                        <a:rPr sz="500" spc="-5" dirty="0">
                          <a:solidFill>
                            <a:srgbClr val="231F20"/>
                          </a:solidFill>
                          <a:latin typeface="Times New Roman"/>
                          <a:cs typeface="Times New Roman"/>
                        </a:rPr>
                        <a:t> </a:t>
                      </a:r>
                      <a:r>
                        <a:rPr sz="500" spc="-5" dirty="0">
                          <a:solidFill>
                            <a:srgbClr val="231F20"/>
                          </a:solidFill>
                          <a:latin typeface="Arial"/>
                          <a:cs typeface="Arial"/>
                        </a:rPr>
                        <a:t>d</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412</a:t>
                      </a:r>
                      <a:endParaRPr sz="500">
                        <a:latin typeface="Arial"/>
                        <a:cs typeface="Arial"/>
                      </a:endParaRPr>
                    </a:p>
                  </a:txBody>
                  <a:tcPr marL="0" marR="0" marT="285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bl>
          </a:graphicData>
        </a:graphic>
      </p:graphicFrame>
      <p:sp>
        <p:nvSpPr>
          <p:cNvPr id="19" name="object 19"/>
          <p:cNvSpPr txBox="1"/>
          <p:nvPr/>
        </p:nvSpPr>
        <p:spPr>
          <a:xfrm>
            <a:off x="2645487" y="1037809"/>
            <a:ext cx="3962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Operation</a:t>
            </a:r>
            <a:endParaRPr sz="650">
              <a:latin typeface="Arial"/>
              <a:cs typeface="Arial"/>
            </a:endParaRPr>
          </a:p>
        </p:txBody>
      </p:sp>
      <p:sp>
        <p:nvSpPr>
          <p:cNvPr id="20" name="object 20"/>
          <p:cNvSpPr txBox="1"/>
          <p:nvPr/>
        </p:nvSpPr>
        <p:spPr>
          <a:xfrm>
            <a:off x="3364651" y="1008534"/>
            <a:ext cx="327025" cy="266700"/>
          </a:xfrm>
          <a:prstGeom prst="rect">
            <a:avLst/>
          </a:prstGeom>
        </p:spPr>
        <p:txBody>
          <a:bodyPr vert="horz" wrap="square" lIns="0" tIns="50800" rIns="0" bIns="0" rtlCol="0">
            <a:spAutoFit/>
          </a:bodyPr>
          <a:lstStyle/>
          <a:p>
            <a:pPr marL="12700">
              <a:lnSpc>
                <a:spcPct val="100000"/>
              </a:lnSpc>
              <a:spcBef>
                <a:spcPts val="400"/>
              </a:spcBef>
            </a:pPr>
            <a:r>
              <a:rPr sz="650" spc="5" dirty="0">
                <a:solidFill>
                  <a:srgbClr val="231F20"/>
                </a:solidFill>
                <a:latin typeface="Arial"/>
                <a:cs typeface="Arial"/>
              </a:rPr>
              <a:t>Result</a:t>
            </a:r>
            <a:endParaRPr sz="650">
              <a:latin typeface="Arial"/>
              <a:cs typeface="Arial"/>
            </a:endParaRPr>
          </a:p>
          <a:p>
            <a:pPr marL="13335">
              <a:lnSpc>
                <a:spcPct val="100000"/>
              </a:lnSpc>
              <a:spcBef>
                <a:spcPts val="220"/>
              </a:spcBef>
            </a:pPr>
            <a:r>
              <a:rPr sz="500" spc="-5" dirty="0">
                <a:solidFill>
                  <a:srgbClr val="231F20"/>
                </a:solidFill>
                <a:latin typeface="Arial"/>
                <a:cs typeface="Arial"/>
              </a:rPr>
              <a:t>[</a:t>
            </a:r>
            <a:r>
              <a:rPr sz="500" spc="-15" dirty="0">
                <a:solidFill>
                  <a:srgbClr val="231F20"/>
                </a:solidFill>
                <a:latin typeface="Arial"/>
                <a:cs typeface="Arial"/>
              </a:rPr>
              <a:t> </a:t>
            </a:r>
            <a:r>
              <a:rPr sz="500" spc="-5" dirty="0">
                <a:solidFill>
                  <a:srgbClr val="231F20"/>
                </a:solidFill>
                <a:latin typeface="Arial"/>
                <a:cs typeface="Arial"/>
              </a:rPr>
              <a:t>g</a:t>
            </a:r>
            <a:r>
              <a:rPr sz="500" spc="-15" dirty="0">
                <a:solidFill>
                  <a:srgbClr val="231F20"/>
                </a:solidFill>
                <a:latin typeface="Arial"/>
                <a:cs typeface="Arial"/>
              </a:rPr>
              <a:t> </a:t>
            </a:r>
            <a:r>
              <a:rPr sz="500" spc="-5" dirty="0">
                <a:solidFill>
                  <a:srgbClr val="231F20"/>
                </a:solidFill>
                <a:latin typeface="Arial"/>
                <a:cs typeface="Arial"/>
              </a:rPr>
              <a:t>=</a:t>
            </a:r>
            <a:r>
              <a:rPr sz="500" spc="370" dirty="0">
                <a:solidFill>
                  <a:srgbClr val="231F20"/>
                </a:solidFill>
                <a:latin typeface="Arial"/>
                <a:cs typeface="Arial"/>
              </a:rPr>
              <a:t> </a:t>
            </a:r>
            <a:r>
              <a:rPr sz="500" spc="-5" dirty="0">
                <a:solidFill>
                  <a:srgbClr val="231F20"/>
                </a:solidFill>
                <a:latin typeface="Arial"/>
                <a:cs typeface="Arial"/>
              </a:rPr>
              <a:t>45</a:t>
            </a:r>
            <a:r>
              <a:rPr sz="500" spc="-15"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sp>
        <p:nvSpPr>
          <p:cNvPr id="21" name="object 21"/>
          <p:cNvSpPr/>
          <p:nvPr/>
        </p:nvSpPr>
        <p:spPr>
          <a:xfrm>
            <a:off x="2543666" y="1052771"/>
            <a:ext cx="1196340" cy="777240"/>
          </a:xfrm>
          <a:custGeom>
            <a:avLst/>
            <a:gdLst/>
            <a:ahLst/>
            <a:cxnLst/>
            <a:rect l="l" t="t" r="r" b="b"/>
            <a:pathLst>
              <a:path w="1196339" h="777239">
                <a:moveTo>
                  <a:pt x="0" y="776880"/>
                </a:moveTo>
                <a:lnTo>
                  <a:pt x="1196308" y="776880"/>
                </a:lnTo>
                <a:lnTo>
                  <a:pt x="1196308" y="0"/>
                </a:lnTo>
                <a:lnTo>
                  <a:pt x="0" y="0"/>
                </a:lnTo>
                <a:lnTo>
                  <a:pt x="0" y="776880"/>
                </a:lnTo>
                <a:close/>
              </a:path>
            </a:pathLst>
          </a:custGeom>
          <a:ln w="5270">
            <a:solidFill>
              <a:srgbClr val="231F20"/>
            </a:solidFill>
          </a:ln>
        </p:spPr>
        <p:txBody>
          <a:bodyPr wrap="square" lIns="0" tIns="0" rIns="0" bIns="0" rtlCol="0"/>
          <a:lstStyle/>
          <a:p>
            <a:endParaRPr/>
          </a:p>
        </p:txBody>
      </p:sp>
      <p:sp>
        <p:nvSpPr>
          <p:cNvPr id="22" name="object 22"/>
          <p:cNvSpPr txBox="1"/>
          <p:nvPr/>
        </p:nvSpPr>
        <p:spPr>
          <a:xfrm>
            <a:off x="2841207" y="634453"/>
            <a:ext cx="897890" cy="358775"/>
          </a:xfrm>
          <a:prstGeom prst="rect">
            <a:avLst/>
          </a:prstGeom>
          <a:ln w="5270">
            <a:solidFill>
              <a:srgbClr val="231F20"/>
            </a:solidFill>
          </a:ln>
        </p:spPr>
        <p:txBody>
          <a:bodyPr vert="horz" wrap="square" lIns="0" tIns="45720" rIns="0" bIns="0" rtlCol="0">
            <a:spAutoFit/>
          </a:bodyPr>
          <a:lstStyle/>
          <a:p>
            <a:pPr marL="78105" marR="49530">
              <a:lnSpc>
                <a:spcPts val="740"/>
              </a:lnSpc>
              <a:spcBef>
                <a:spcPts val="360"/>
              </a:spcBef>
            </a:pPr>
            <a:r>
              <a:rPr sz="650" spc="5" dirty="0">
                <a:solidFill>
                  <a:srgbClr val="231F20"/>
                </a:solidFill>
                <a:latin typeface="Arial"/>
                <a:cs typeface="Arial"/>
              </a:rPr>
              <a:t>d</a:t>
            </a:r>
            <a:r>
              <a:rPr sz="650" spc="-10" dirty="0">
                <a:solidFill>
                  <a:srgbClr val="231F20"/>
                </a:solidFill>
                <a:latin typeface="Arial"/>
                <a:cs typeface="Arial"/>
              </a:rPr>
              <a:t> </a:t>
            </a:r>
            <a:r>
              <a:rPr sz="650" spc="5"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412 </a:t>
            </a:r>
            <a:r>
              <a:rPr sz="650" spc="155" dirty="0">
                <a:solidFill>
                  <a:srgbClr val="231F20"/>
                </a:solidFill>
                <a:latin typeface="Arial"/>
                <a:cs typeface="Arial"/>
              </a:rPr>
              <a:t> </a:t>
            </a:r>
            <a:r>
              <a:rPr sz="650"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distance </a:t>
            </a:r>
            <a:r>
              <a:rPr sz="650" spc="-170" dirty="0">
                <a:solidFill>
                  <a:srgbClr val="231F20"/>
                </a:solidFill>
                <a:latin typeface="Arial"/>
                <a:cs typeface="Arial"/>
              </a:rPr>
              <a:t> </a:t>
            </a:r>
            <a:r>
              <a:rPr sz="650" spc="5" dirty="0">
                <a:solidFill>
                  <a:srgbClr val="231F20"/>
                </a:solidFill>
                <a:latin typeface="Arial"/>
                <a:cs typeface="Arial"/>
              </a:rPr>
              <a:t>g</a:t>
            </a:r>
            <a:r>
              <a:rPr sz="650" spc="-5" dirty="0">
                <a:solidFill>
                  <a:srgbClr val="231F20"/>
                </a:solidFill>
                <a:latin typeface="Arial"/>
                <a:cs typeface="Arial"/>
              </a:rPr>
              <a:t> </a:t>
            </a:r>
            <a:r>
              <a:rPr sz="650" spc="5" dirty="0">
                <a:solidFill>
                  <a:srgbClr val="231F20"/>
                </a:solidFill>
                <a:latin typeface="Arial"/>
                <a:cs typeface="Arial"/>
              </a:rPr>
              <a:t>=</a:t>
            </a:r>
            <a:r>
              <a:rPr sz="650" spc="175" dirty="0">
                <a:solidFill>
                  <a:srgbClr val="231F20"/>
                </a:solidFill>
                <a:latin typeface="Arial"/>
                <a:cs typeface="Arial"/>
              </a:rPr>
              <a:t> </a:t>
            </a:r>
            <a:r>
              <a:rPr sz="650" spc="5" dirty="0">
                <a:solidFill>
                  <a:srgbClr val="231F20"/>
                </a:solidFill>
                <a:latin typeface="Arial"/>
                <a:cs typeface="Arial"/>
              </a:rPr>
              <a:t>45</a:t>
            </a:r>
            <a:r>
              <a:rPr sz="650" spc="170" dirty="0">
                <a:solidFill>
                  <a:srgbClr val="231F20"/>
                </a:solidFill>
                <a:latin typeface="Arial"/>
                <a:cs typeface="Arial"/>
              </a:rPr>
              <a:t> </a:t>
            </a:r>
            <a:r>
              <a:rPr sz="650" dirty="0">
                <a:solidFill>
                  <a:srgbClr val="231F20"/>
                </a:solidFill>
                <a:latin typeface="Arial"/>
                <a:cs typeface="Arial"/>
              </a:rPr>
              <a:t>//</a:t>
            </a:r>
            <a:r>
              <a:rPr sz="650" spc="-5" dirty="0">
                <a:solidFill>
                  <a:srgbClr val="231F20"/>
                </a:solidFill>
                <a:latin typeface="Arial"/>
                <a:cs typeface="Arial"/>
              </a:rPr>
              <a:t> </a:t>
            </a:r>
            <a:r>
              <a:rPr sz="650" spc="5" dirty="0">
                <a:solidFill>
                  <a:srgbClr val="231F20"/>
                </a:solidFill>
                <a:latin typeface="Arial"/>
                <a:cs typeface="Arial"/>
              </a:rPr>
              <a:t>gas</a:t>
            </a:r>
            <a:endParaRPr sz="650">
              <a:latin typeface="Arial"/>
              <a:cs typeface="Arial"/>
            </a:endParaRPr>
          </a:p>
          <a:p>
            <a:pPr marL="78105">
              <a:lnSpc>
                <a:spcPts val="725"/>
              </a:lnSpc>
            </a:pPr>
            <a:r>
              <a:rPr sz="650" spc="5" dirty="0">
                <a:solidFill>
                  <a:srgbClr val="231F20"/>
                </a:solidFill>
                <a:latin typeface="Arial"/>
                <a:cs typeface="Arial"/>
              </a:rPr>
              <a:t>p</a:t>
            </a:r>
            <a:r>
              <a:rPr sz="650" spc="-10" dirty="0">
                <a:solidFill>
                  <a:srgbClr val="231F20"/>
                </a:solidFill>
                <a:latin typeface="Arial"/>
                <a:cs typeface="Arial"/>
              </a:rPr>
              <a:t> </a:t>
            </a:r>
            <a:r>
              <a:rPr sz="650" spc="5" dirty="0">
                <a:solidFill>
                  <a:srgbClr val="231F20"/>
                </a:solidFill>
                <a:latin typeface="Arial"/>
                <a:cs typeface="Arial"/>
              </a:rPr>
              <a:t>= </a:t>
            </a:r>
            <a:r>
              <a:rPr sz="650" spc="165" dirty="0">
                <a:solidFill>
                  <a:srgbClr val="231F20"/>
                </a:solidFill>
                <a:latin typeface="Arial"/>
                <a:cs typeface="Arial"/>
              </a:rPr>
              <a:t> </a:t>
            </a:r>
            <a:r>
              <a:rPr sz="650" spc="5" dirty="0">
                <a:solidFill>
                  <a:srgbClr val="231F20"/>
                </a:solidFill>
                <a:latin typeface="Arial"/>
                <a:cs typeface="Arial"/>
              </a:rPr>
              <a:t>70  </a:t>
            </a:r>
            <a:r>
              <a:rPr sz="650" spc="155" dirty="0">
                <a:solidFill>
                  <a:srgbClr val="231F20"/>
                </a:solidFill>
                <a:latin typeface="Arial"/>
                <a:cs typeface="Arial"/>
              </a:rPr>
              <a:t> </a:t>
            </a:r>
            <a:r>
              <a:rPr sz="650"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price</a:t>
            </a:r>
            <a:endParaRPr sz="650">
              <a:latin typeface="Arial"/>
              <a:cs typeface="Arial"/>
            </a:endParaRPr>
          </a:p>
        </p:txBody>
      </p:sp>
      <p:sp>
        <p:nvSpPr>
          <p:cNvPr id="31" name="object 31"/>
          <p:cNvSpPr txBox="1"/>
          <p:nvPr/>
        </p:nvSpPr>
        <p:spPr>
          <a:xfrm>
            <a:off x="66713" y="3331252"/>
            <a:ext cx="7137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6" action="ppaction://hlinksldjump"/>
              </a:rPr>
              <a:t>The</a:t>
            </a:r>
            <a:r>
              <a:rPr sz="600" spc="-15"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notion</a:t>
            </a:r>
            <a:r>
              <a:rPr sz="600" spc="-1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of</a:t>
            </a:r>
            <a:r>
              <a:rPr sz="600" spc="-15"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a</a:t>
            </a:r>
            <a:r>
              <a:rPr sz="600" spc="-1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conit</a:t>
            </a:r>
            <a:endParaRPr sz="600">
              <a:latin typeface="Arial"/>
              <a:cs typeface="Arial"/>
            </a:endParaRPr>
          </a:p>
        </p:txBody>
      </p:sp>
      <p:sp>
        <p:nvSpPr>
          <p:cNvPr id="32" name="object 32"/>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5</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3" name="object 23"/>
          <p:cNvSpPr txBox="1"/>
          <p:nvPr/>
        </p:nvSpPr>
        <p:spPr>
          <a:xfrm>
            <a:off x="2585358" y="751606"/>
            <a:ext cx="2222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Conit</a:t>
            </a:r>
            <a:endParaRPr sz="650">
              <a:latin typeface="Arial"/>
              <a:cs typeface="Arial"/>
            </a:endParaRPr>
          </a:p>
        </p:txBody>
      </p:sp>
      <p:sp>
        <p:nvSpPr>
          <p:cNvPr id="24" name="object 24"/>
          <p:cNvSpPr txBox="1"/>
          <p:nvPr/>
        </p:nvSpPr>
        <p:spPr>
          <a:xfrm>
            <a:off x="792629" y="1893181"/>
            <a:ext cx="601980" cy="266700"/>
          </a:xfrm>
          <a:prstGeom prst="rect">
            <a:avLst/>
          </a:prstGeom>
        </p:spPr>
        <p:txBody>
          <a:bodyPr vert="horz" wrap="square" lIns="0" tIns="12065" rIns="0" bIns="0" rtlCol="0">
            <a:spAutoFit/>
          </a:bodyPr>
          <a:lstStyle/>
          <a:p>
            <a:pPr marL="12700" marR="5080" indent="3175">
              <a:lnSpc>
                <a:spcPct val="121700"/>
              </a:lnSpc>
              <a:spcBef>
                <a:spcPts val="95"/>
              </a:spcBef>
            </a:pPr>
            <a:r>
              <a:rPr sz="650" spc="-35" dirty="0">
                <a:solidFill>
                  <a:srgbClr val="231F20"/>
                </a:solidFill>
                <a:latin typeface="Arial"/>
                <a:cs typeface="Arial"/>
              </a:rPr>
              <a:t>V</a:t>
            </a:r>
            <a:r>
              <a:rPr sz="650" spc="5" dirty="0">
                <a:solidFill>
                  <a:srgbClr val="231F20"/>
                </a:solidFill>
                <a:latin typeface="Arial"/>
                <a:cs typeface="Arial"/>
              </a:rPr>
              <a:t>ector</a:t>
            </a:r>
            <a:r>
              <a:rPr sz="650" dirty="0">
                <a:solidFill>
                  <a:srgbClr val="231F20"/>
                </a:solidFill>
                <a:latin typeface="Arial"/>
                <a:cs typeface="Arial"/>
              </a:rPr>
              <a:t> </a:t>
            </a:r>
            <a:r>
              <a:rPr sz="650" spc="5" dirty="0">
                <a:solidFill>
                  <a:srgbClr val="231F20"/>
                </a:solidFill>
                <a:latin typeface="Arial"/>
                <a:cs typeface="Arial"/>
              </a:rPr>
              <a:t>clock</a:t>
            </a:r>
            <a:r>
              <a:rPr sz="650" spc="-35" dirty="0">
                <a:solidFill>
                  <a:srgbClr val="231F20"/>
                </a:solidFill>
                <a:latin typeface="Arial"/>
                <a:cs typeface="Arial"/>
              </a:rPr>
              <a:t> </a:t>
            </a:r>
            <a:r>
              <a:rPr sz="650" spc="5" dirty="0">
                <a:solidFill>
                  <a:srgbClr val="231F20"/>
                </a:solidFill>
                <a:latin typeface="Arial"/>
                <a:cs typeface="Arial"/>
              </a:rPr>
              <a:t>A  Order</a:t>
            </a:r>
            <a:r>
              <a:rPr sz="650" dirty="0">
                <a:solidFill>
                  <a:srgbClr val="231F20"/>
                </a:solidFill>
                <a:latin typeface="Arial"/>
                <a:cs typeface="Arial"/>
              </a:rPr>
              <a:t> </a:t>
            </a:r>
            <a:r>
              <a:rPr sz="650" spc="5" dirty="0">
                <a:solidFill>
                  <a:srgbClr val="231F20"/>
                </a:solidFill>
                <a:latin typeface="Arial"/>
                <a:cs typeface="Arial"/>
              </a:rPr>
              <a:t>deviation</a:t>
            </a:r>
            <a:endParaRPr sz="650">
              <a:latin typeface="Arial"/>
              <a:cs typeface="Arial"/>
            </a:endParaRPr>
          </a:p>
        </p:txBody>
      </p:sp>
      <p:sp>
        <p:nvSpPr>
          <p:cNvPr id="25" name="object 25"/>
          <p:cNvSpPr txBox="1"/>
          <p:nvPr/>
        </p:nvSpPr>
        <p:spPr>
          <a:xfrm>
            <a:off x="1568838" y="1895964"/>
            <a:ext cx="335915" cy="263525"/>
          </a:xfrm>
          <a:prstGeom prst="rect">
            <a:avLst/>
          </a:prstGeom>
        </p:spPr>
        <p:txBody>
          <a:bodyPr vert="horz" wrap="square" lIns="0" tIns="31750" rIns="0" bIns="0" rtlCol="0">
            <a:spAutoFit/>
          </a:bodyPr>
          <a:lstStyle/>
          <a:p>
            <a:pPr marL="12700">
              <a:lnSpc>
                <a:spcPct val="100000"/>
              </a:lnSpc>
              <a:spcBef>
                <a:spcPts val="250"/>
              </a:spcBef>
            </a:pPr>
            <a:r>
              <a:rPr sz="650" spc="5" dirty="0">
                <a:solidFill>
                  <a:srgbClr val="231F20"/>
                </a:solidFill>
                <a:latin typeface="Arial"/>
                <a:cs typeface="Arial"/>
              </a:rPr>
              <a:t>=</a:t>
            </a:r>
            <a:r>
              <a:rPr sz="650" spc="-35" dirty="0">
                <a:solidFill>
                  <a:srgbClr val="231F20"/>
                </a:solidFill>
                <a:latin typeface="Arial"/>
                <a:cs typeface="Arial"/>
              </a:rPr>
              <a:t> </a:t>
            </a:r>
            <a:r>
              <a:rPr sz="650" spc="-10" dirty="0">
                <a:solidFill>
                  <a:srgbClr val="231F20"/>
                </a:solidFill>
                <a:latin typeface="Arial"/>
                <a:cs typeface="Arial"/>
              </a:rPr>
              <a:t>(11,</a:t>
            </a:r>
            <a:r>
              <a:rPr sz="650" spc="-30" dirty="0">
                <a:solidFill>
                  <a:srgbClr val="231F20"/>
                </a:solidFill>
                <a:latin typeface="Arial"/>
                <a:cs typeface="Arial"/>
              </a:rPr>
              <a:t> </a:t>
            </a:r>
            <a:r>
              <a:rPr sz="650" spc="5" dirty="0">
                <a:solidFill>
                  <a:srgbClr val="231F20"/>
                </a:solidFill>
                <a:latin typeface="Arial"/>
                <a:cs typeface="Arial"/>
              </a:rPr>
              <a:t>5)</a:t>
            </a:r>
            <a:endParaRPr sz="650">
              <a:latin typeface="Arial"/>
              <a:cs typeface="Arial"/>
            </a:endParaRPr>
          </a:p>
          <a:p>
            <a:pPr marL="12700">
              <a:lnSpc>
                <a:spcPct val="100000"/>
              </a:lnSpc>
              <a:spcBef>
                <a:spcPts val="155"/>
              </a:spcBef>
            </a:pPr>
            <a:r>
              <a:rPr sz="650" spc="5" dirty="0">
                <a:solidFill>
                  <a:srgbClr val="231F20"/>
                </a:solidFill>
                <a:latin typeface="Arial"/>
                <a:cs typeface="Arial"/>
              </a:rPr>
              <a:t>=</a:t>
            </a:r>
            <a:r>
              <a:rPr sz="650" spc="-45" dirty="0">
                <a:solidFill>
                  <a:srgbClr val="231F20"/>
                </a:solidFill>
                <a:latin typeface="Arial"/>
                <a:cs typeface="Arial"/>
              </a:rPr>
              <a:t> </a:t>
            </a:r>
            <a:r>
              <a:rPr sz="650" spc="5" dirty="0">
                <a:solidFill>
                  <a:srgbClr val="231F20"/>
                </a:solidFill>
                <a:latin typeface="Arial"/>
                <a:cs typeface="Arial"/>
              </a:rPr>
              <a:t>3</a:t>
            </a:r>
            <a:endParaRPr sz="650">
              <a:latin typeface="Arial"/>
              <a:cs typeface="Arial"/>
            </a:endParaRPr>
          </a:p>
        </p:txBody>
      </p:sp>
      <p:sp>
        <p:nvSpPr>
          <p:cNvPr id="26" name="object 26"/>
          <p:cNvSpPr txBox="1"/>
          <p:nvPr/>
        </p:nvSpPr>
        <p:spPr>
          <a:xfrm>
            <a:off x="2472083" y="418532"/>
            <a:ext cx="3867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Replica B</a:t>
            </a:r>
            <a:endParaRPr sz="650">
              <a:latin typeface="Arial"/>
              <a:cs typeface="Arial"/>
            </a:endParaRPr>
          </a:p>
        </p:txBody>
      </p:sp>
      <p:sp>
        <p:nvSpPr>
          <p:cNvPr id="27" name="object 27"/>
          <p:cNvSpPr txBox="1"/>
          <p:nvPr/>
        </p:nvSpPr>
        <p:spPr>
          <a:xfrm>
            <a:off x="2465910" y="1893186"/>
            <a:ext cx="601980" cy="266700"/>
          </a:xfrm>
          <a:prstGeom prst="rect">
            <a:avLst/>
          </a:prstGeom>
        </p:spPr>
        <p:txBody>
          <a:bodyPr vert="horz" wrap="square" lIns="0" tIns="12065" rIns="0" bIns="0" rtlCol="0">
            <a:spAutoFit/>
          </a:bodyPr>
          <a:lstStyle/>
          <a:p>
            <a:pPr marL="12700" marR="5080" indent="3175">
              <a:lnSpc>
                <a:spcPct val="121700"/>
              </a:lnSpc>
              <a:spcBef>
                <a:spcPts val="95"/>
              </a:spcBef>
            </a:pPr>
            <a:r>
              <a:rPr sz="650" dirty="0">
                <a:solidFill>
                  <a:srgbClr val="231F20"/>
                </a:solidFill>
                <a:latin typeface="Arial"/>
                <a:cs typeface="Arial"/>
              </a:rPr>
              <a:t>Vector </a:t>
            </a:r>
            <a:r>
              <a:rPr sz="650" spc="5" dirty="0">
                <a:solidFill>
                  <a:srgbClr val="231F20"/>
                </a:solidFill>
                <a:latin typeface="Arial"/>
                <a:cs typeface="Arial"/>
              </a:rPr>
              <a:t>clock B </a:t>
            </a:r>
            <a:r>
              <a:rPr sz="650" spc="10" dirty="0">
                <a:solidFill>
                  <a:srgbClr val="231F20"/>
                </a:solidFill>
                <a:latin typeface="Arial"/>
                <a:cs typeface="Arial"/>
              </a:rPr>
              <a:t> </a:t>
            </a:r>
            <a:r>
              <a:rPr sz="650" spc="5" dirty="0">
                <a:solidFill>
                  <a:srgbClr val="231F20"/>
                </a:solidFill>
                <a:latin typeface="Arial"/>
                <a:cs typeface="Arial"/>
              </a:rPr>
              <a:t>Order</a:t>
            </a:r>
            <a:r>
              <a:rPr sz="650" dirty="0">
                <a:solidFill>
                  <a:srgbClr val="231F20"/>
                </a:solidFill>
                <a:latin typeface="Arial"/>
                <a:cs typeface="Arial"/>
              </a:rPr>
              <a:t> </a:t>
            </a:r>
            <a:r>
              <a:rPr sz="650" spc="5" dirty="0">
                <a:solidFill>
                  <a:srgbClr val="231F20"/>
                </a:solidFill>
                <a:latin typeface="Arial"/>
                <a:cs typeface="Arial"/>
              </a:rPr>
              <a:t>deviation</a:t>
            </a:r>
            <a:endParaRPr sz="650">
              <a:latin typeface="Arial"/>
              <a:cs typeface="Arial"/>
            </a:endParaRPr>
          </a:p>
        </p:txBody>
      </p:sp>
      <p:sp>
        <p:nvSpPr>
          <p:cNvPr id="28" name="object 28"/>
          <p:cNvSpPr txBox="1"/>
          <p:nvPr/>
        </p:nvSpPr>
        <p:spPr>
          <a:xfrm>
            <a:off x="3242119" y="1895970"/>
            <a:ext cx="295275" cy="263525"/>
          </a:xfrm>
          <a:prstGeom prst="rect">
            <a:avLst/>
          </a:prstGeom>
        </p:spPr>
        <p:txBody>
          <a:bodyPr vert="horz" wrap="square" lIns="0" tIns="31750" rIns="0" bIns="0" rtlCol="0">
            <a:spAutoFit/>
          </a:bodyPr>
          <a:lstStyle/>
          <a:p>
            <a:pPr marL="12700">
              <a:lnSpc>
                <a:spcPct val="100000"/>
              </a:lnSpc>
              <a:spcBef>
                <a:spcPts val="250"/>
              </a:spcBef>
            </a:pPr>
            <a:r>
              <a:rPr sz="650" spc="5" dirty="0">
                <a:solidFill>
                  <a:srgbClr val="231F20"/>
                </a:solidFill>
                <a:latin typeface="Arial"/>
                <a:cs typeface="Arial"/>
              </a:rPr>
              <a:t>=</a:t>
            </a:r>
            <a:r>
              <a:rPr sz="650" spc="-40" dirty="0">
                <a:solidFill>
                  <a:srgbClr val="231F20"/>
                </a:solidFill>
                <a:latin typeface="Arial"/>
                <a:cs typeface="Arial"/>
              </a:rPr>
              <a:t> </a:t>
            </a:r>
            <a:r>
              <a:rPr sz="650" spc="5" dirty="0">
                <a:solidFill>
                  <a:srgbClr val="231F20"/>
                </a:solidFill>
                <a:latin typeface="Arial"/>
                <a:cs typeface="Arial"/>
              </a:rPr>
              <a:t>(0,</a:t>
            </a:r>
            <a:r>
              <a:rPr sz="650" spc="-35" dirty="0">
                <a:solidFill>
                  <a:srgbClr val="231F20"/>
                </a:solidFill>
                <a:latin typeface="Arial"/>
                <a:cs typeface="Arial"/>
              </a:rPr>
              <a:t> </a:t>
            </a:r>
            <a:r>
              <a:rPr sz="650" spc="5" dirty="0">
                <a:solidFill>
                  <a:srgbClr val="231F20"/>
                </a:solidFill>
                <a:latin typeface="Arial"/>
                <a:cs typeface="Arial"/>
              </a:rPr>
              <a:t>8)</a:t>
            </a:r>
            <a:endParaRPr sz="650">
              <a:latin typeface="Arial"/>
              <a:cs typeface="Arial"/>
            </a:endParaRPr>
          </a:p>
          <a:p>
            <a:pPr marL="12700">
              <a:lnSpc>
                <a:spcPct val="100000"/>
              </a:lnSpc>
              <a:spcBef>
                <a:spcPts val="155"/>
              </a:spcBef>
            </a:pPr>
            <a:r>
              <a:rPr sz="650" spc="5" dirty="0">
                <a:solidFill>
                  <a:srgbClr val="231F20"/>
                </a:solidFill>
                <a:latin typeface="Arial"/>
                <a:cs typeface="Arial"/>
              </a:rPr>
              <a:t>=</a:t>
            </a:r>
            <a:r>
              <a:rPr sz="650" spc="-45" dirty="0">
                <a:solidFill>
                  <a:srgbClr val="231F20"/>
                </a:solidFill>
                <a:latin typeface="Arial"/>
                <a:cs typeface="Arial"/>
              </a:rPr>
              <a:t> </a:t>
            </a:r>
            <a:r>
              <a:rPr sz="650" spc="5" dirty="0">
                <a:solidFill>
                  <a:srgbClr val="231F20"/>
                </a:solidFill>
                <a:latin typeface="Arial"/>
                <a:cs typeface="Arial"/>
              </a:rPr>
              <a:t>1</a:t>
            </a:r>
            <a:endParaRPr sz="650">
              <a:latin typeface="Arial"/>
              <a:cs typeface="Arial"/>
            </a:endParaRPr>
          </a:p>
        </p:txBody>
      </p:sp>
      <p:sp>
        <p:nvSpPr>
          <p:cNvPr id="29" name="object 29"/>
          <p:cNvSpPr txBox="1"/>
          <p:nvPr/>
        </p:nvSpPr>
        <p:spPr>
          <a:xfrm>
            <a:off x="790270" y="2152579"/>
            <a:ext cx="2843530" cy="127000"/>
          </a:xfrm>
          <a:prstGeom prst="rect">
            <a:avLst/>
          </a:prstGeom>
        </p:spPr>
        <p:txBody>
          <a:bodyPr vert="horz" wrap="square" lIns="0" tIns="13970" rIns="0" bIns="0" rtlCol="0">
            <a:spAutoFit/>
          </a:bodyPr>
          <a:lstStyle/>
          <a:p>
            <a:pPr marL="12700">
              <a:lnSpc>
                <a:spcPct val="100000"/>
              </a:lnSpc>
              <a:spcBef>
                <a:spcPts val="110"/>
              </a:spcBef>
              <a:tabLst>
                <a:tab pos="1685289" algn="l"/>
              </a:tabLst>
            </a:pPr>
            <a:r>
              <a:rPr sz="650" spc="5" dirty="0">
                <a:solidFill>
                  <a:srgbClr val="231F20"/>
                </a:solidFill>
                <a:latin typeface="Arial"/>
                <a:cs typeface="Arial"/>
              </a:rPr>
              <a:t>Numerical deviation</a:t>
            </a:r>
            <a:r>
              <a:rPr sz="650" spc="125" dirty="0">
                <a:solidFill>
                  <a:srgbClr val="231F20"/>
                </a:solidFill>
                <a:latin typeface="Arial"/>
                <a:cs typeface="Arial"/>
              </a:rPr>
              <a:t> </a:t>
            </a:r>
            <a:r>
              <a:rPr sz="650" spc="5" dirty="0">
                <a:solidFill>
                  <a:srgbClr val="231F20"/>
                </a:solidFill>
                <a:latin typeface="Arial"/>
                <a:cs typeface="Arial"/>
              </a:rPr>
              <a:t>= (2, 482)	Numerical</a:t>
            </a:r>
            <a:r>
              <a:rPr sz="650" spc="-10" dirty="0">
                <a:solidFill>
                  <a:srgbClr val="231F20"/>
                </a:solidFill>
                <a:latin typeface="Arial"/>
                <a:cs typeface="Arial"/>
              </a:rPr>
              <a:t> </a:t>
            </a:r>
            <a:r>
              <a:rPr sz="650" spc="5" dirty="0">
                <a:solidFill>
                  <a:srgbClr val="231F20"/>
                </a:solidFill>
                <a:latin typeface="Arial"/>
                <a:cs typeface="Arial"/>
              </a:rPr>
              <a:t>deviation</a:t>
            </a:r>
            <a:r>
              <a:rPr sz="650" spc="120" dirty="0">
                <a:solidFill>
                  <a:srgbClr val="231F20"/>
                </a:solidFill>
                <a:latin typeface="Arial"/>
                <a:cs typeface="Arial"/>
              </a:rPr>
              <a:t> </a:t>
            </a:r>
            <a:r>
              <a:rPr sz="650" spc="5"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(3,</a:t>
            </a:r>
            <a:r>
              <a:rPr sz="650" spc="-10" dirty="0">
                <a:solidFill>
                  <a:srgbClr val="231F20"/>
                </a:solidFill>
                <a:latin typeface="Arial"/>
                <a:cs typeface="Arial"/>
              </a:rPr>
              <a:t> </a:t>
            </a:r>
            <a:r>
              <a:rPr sz="650" spc="5" dirty="0">
                <a:solidFill>
                  <a:srgbClr val="231F20"/>
                </a:solidFill>
                <a:latin typeface="Arial"/>
                <a:cs typeface="Arial"/>
              </a:rPr>
              <a:t>686)</a:t>
            </a:r>
            <a:endParaRPr sz="650">
              <a:latin typeface="Arial"/>
              <a:cs typeface="Arial"/>
            </a:endParaRPr>
          </a:p>
        </p:txBody>
      </p:sp>
      <p:sp>
        <p:nvSpPr>
          <p:cNvPr id="30" name="object 30"/>
          <p:cNvSpPr txBox="1"/>
          <p:nvPr/>
        </p:nvSpPr>
        <p:spPr>
          <a:xfrm>
            <a:off x="296494" y="2356254"/>
            <a:ext cx="4013835" cy="915669"/>
          </a:xfrm>
          <a:prstGeom prst="rect">
            <a:avLst/>
          </a:prstGeom>
        </p:spPr>
        <p:txBody>
          <a:bodyPr vert="horz" wrap="square" lIns="0" tIns="12065" rIns="0" bIns="0" rtlCol="0">
            <a:spAutoFit/>
          </a:bodyPr>
          <a:lstStyle/>
          <a:p>
            <a:pPr marL="63500">
              <a:lnSpc>
                <a:spcPct val="100000"/>
              </a:lnSpc>
              <a:spcBef>
                <a:spcPts val="95"/>
              </a:spcBef>
            </a:pPr>
            <a:r>
              <a:rPr sz="1200" spc="-5" dirty="0">
                <a:solidFill>
                  <a:srgbClr val="3333B2"/>
                </a:solidFill>
                <a:latin typeface="Arial"/>
                <a:cs typeface="Arial"/>
              </a:rPr>
              <a:t>Conit (contains the </a:t>
            </a:r>
            <a:r>
              <a:rPr sz="1200" spc="-10" dirty="0">
                <a:solidFill>
                  <a:srgbClr val="3333B2"/>
                </a:solidFill>
                <a:latin typeface="Arial"/>
                <a:cs typeface="Arial"/>
              </a:rPr>
              <a:t>variables</a:t>
            </a:r>
            <a:r>
              <a:rPr sz="1200" spc="-5" dirty="0">
                <a:solidFill>
                  <a:srgbClr val="3333B2"/>
                </a:solidFill>
                <a:latin typeface="Arial"/>
                <a:cs typeface="Arial"/>
              </a:rPr>
              <a:t> </a:t>
            </a:r>
            <a:r>
              <a:rPr sz="1200" i="1" spc="25" dirty="0">
                <a:solidFill>
                  <a:srgbClr val="3333B2"/>
                </a:solidFill>
                <a:latin typeface="Arial"/>
                <a:cs typeface="Arial"/>
              </a:rPr>
              <a:t>g</a:t>
            </a:r>
            <a:r>
              <a:rPr sz="1200" spc="25" dirty="0">
                <a:solidFill>
                  <a:srgbClr val="3333B2"/>
                </a:solidFill>
                <a:latin typeface="Arial"/>
                <a:cs typeface="Arial"/>
              </a:rPr>
              <a:t>,</a:t>
            </a:r>
            <a:r>
              <a:rPr sz="1200" spc="-5" dirty="0">
                <a:solidFill>
                  <a:srgbClr val="3333B2"/>
                </a:solidFill>
                <a:latin typeface="Arial"/>
                <a:cs typeface="Arial"/>
              </a:rPr>
              <a:t> </a:t>
            </a:r>
            <a:r>
              <a:rPr sz="1200" i="1" spc="10" dirty="0">
                <a:solidFill>
                  <a:srgbClr val="3333B2"/>
                </a:solidFill>
                <a:latin typeface="Arial"/>
                <a:cs typeface="Arial"/>
              </a:rPr>
              <a:t>p</a:t>
            </a:r>
            <a:r>
              <a:rPr sz="1200" spc="10" dirty="0">
                <a:solidFill>
                  <a:srgbClr val="3333B2"/>
                </a:solidFill>
                <a:latin typeface="Arial"/>
                <a:cs typeface="Arial"/>
              </a:rPr>
              <a:t>,</a:t>
            </a:r>
            <a:r>
              <a:rPr sz="1200" spc="-5" dirty="0">
                <a:solidFill>
                  <a:srgbClr val="3333B2"/>
                </a:solidFill>
                <a:latin typeface="Arial"/>
                <a:cs typeface="Arial"/>
              </a:rPr>
              <a:t> and </a:t>
            </a:r>
            <a:r>
              <a:rPr sz="1200" i="1" spc="-5" dirty="0">
                <a:solidFill>
                  <a:srgbClr val="3333B2"/>
                </a:solidFill>
                <a:latin typeface="Arial"/>
                <a:cs typeface="Arial"/>
              </a:rPr>
              <a:t>d</a:t>
            </a:r>
            <a:r>
              <a:rPr sz="1200" i="1" spc="-220" dirty="0">
                <a:solidFill>
                  <a:srgbClr val="3333B2"/>
                </a:solidFill>
                <a:latin typeface="Arial"/>
                <a:cs typeface="Arial"/>
              </a:rPr>
              <a:t> </a:t>
            </a:r>
            <a:r>
              <a:rPr sz="1200" spc="-5" dirty="0">
                <a:solidFill>
                  <a:srgbClr val="3333B2"/>
                </a:solidFill>
                <a:latin typeface="Arial"/>
                <a:cs typeface="Arial"/>
              </a:rPr>
              <a:t>)</a:t>
            </a:r>
            <a:endParaRPr sz="1200">
              <a:latin typeface="Arial"/>
              <a:cs typeface="Arial"/>
            </a:endParaRPr>
          </a:p>
          <a:p>
            <a:pPr marL="334010" marR="55880" indent="-161290">
              <a:lnSpc>
                <a:spcPct val="100000"/>
              </a:lnSpc>
              <a:spcBef>
                <a:spcPts val="790"/>
              </a:spcBef>
              <a:buClr>
                <a:srgbClr val="3333B2"/>
              </a:buClr>
              <a:buChar char="►"/>
              <a:tabLst>
                <a:tab pos="340995" algn="l"/>
              </a:tabLst>
            </a:pPr>
            <a:r>
              <a:rPr sz="1000" spc="-10" dirty="0">
                <a:latin typeface="Arial"/>
                <a:cs typeface="Arial"/>
              </a:rPr>
              <a:t>Each</a:t>
            </a:r>
            <a:r>
              <a:rPr sz="1000" spc="-5" dirty="0">
                <a:latin typeface="Arial"/>
                <a:cs typeface="Arial"/>
              </a:rPr>
              <a:t> replica </a:t>
            </a:r>
            <a:r>
              <a:rPr sz="1000" spc="-10" dirty="0">
                <a:latin typeface="Arial"/>
                <a:cs typeface="Arial"/>
              </a:rPr>
              <a:t>has</a:t>
            </a:r>
            <a:r>
              <a:rPr sz="1000" spc="-5" dirty="0">
                <a:latin typeface="Arial"/>
                <a:cs typeface="Arial"/>
              </a:rPr>
              <a:t> </a:t>
            </a:r>
            <a:r>
              <a:rPr sz="1000" spc="-10" dirty="0">
                <a:latin typeface="Arial"/>
                <a:cs typeface="Arial"/>
              </a:rPr>
              <a:t>a</a:t>
            </a:r>
            <a:r>
              <a:rPr sz="1000" spc="-5" dirty="0">
                <a:latin typeface="Arial"/>
                <a:cs typeface="Arial"/>
              </a:rPr>
              <a:t> </a:t>
            </a:r>
            <a:r>
              <a:rPr sz="1000" spc="-10" dirty="0">
                <a:solidFill>
                  <a:srgbClr val="0000FA"/>
                </a:solidFill>
                <a:latin typeface="Arial"/>
                <a:cs typeface="Arial"/>
              </a:rPr>
              <a:t>vector</a:t>
            </a:r>
            <a:r>
              <a:rPr sz="1000" spc="-5" dirty="0">
                <a:solidFill>
                  <a:srgbClr val="0000FA"/>
                </a:solidFill>
                <a:latin typeface="Arial"/>
                <a:cs typeface="Arial"/>
              </a:rPr>
              <a:t> </a:t>
            </a:r>
            <a:r>
              <a:rPr sz="1000" spc="-10" dirty="0">
                <a:solidFill>
                  <a:srgbClr val="0000FA"/>
                </a:solidFill>
                <a:latin typeface="Arial"/>
                <a:cs typeface="Arial"/>
              </a:rPr>
              <a:t>clock</a:t>
            </a:r>
            <a:r>
              <a:rPr sz="1000" spc="-10" dirty="0">
                <a:latin typeface="Arial"/>
                <a:cs typeface="Arial"/>
              </a:rPr>
              <a:t>:</a:t>
            </a:r>
            <a:r>
              <a:rPr sz="1000" spc="60" dirty="0">
                <a:latin typeface="Arial"/>
                <a:cs typeface="Arial"/>
              </a:rPr>
              <a:t> </a:t>
            </a:r>
            <a:r>
              <a:rPr sz="1000" spc="-10" dirty="0">
                <a:solidFill>
                  <a:srgbClr val="FA0000"/>
                </a:solidFill>
                <a:latin typeface="Arial"/>
                <a:cs typeface="Arial"/>
              </a:rPr>
              <a:t>([known]</a:t>
            </a:r>
            <a:r>
              <a:rPr sz="1000" dirty="0">
                <a:solidFill>
                  <a:srgbClr val="FA0000"/>
                </a:solidFill>
                <a:latin typeface="Arial"/>
                <a:cs typeface="Arial"/>
              </a:rPr>
              <a:t> </a:t>
            </a:r>
            <a:r>
              <a:rPr sz="1000" spc="-5" dirty="0">
                <a:solidFill>
                  <a:srgbClr val="FA0000"/>
                </a:solidFill>
                <a:latin typeface="Arial"/>
                <a:cs typeface="Arial"/>
              </a:rPr>
              <a:t>time </a:t>
            </a:r>
            <a:r>
              <a:rPr sz="1000" spc="-10" dirty="0">
                <a:solidFill>
                  <a:srgbClr val="FA0000"/>
                </a:solidFill>
                <a:latin typeface="Arial"/>
                <a:cs typeface="Arial"/>
              </a:rPr>
              <a:t>@</a:t>
            </a:r>
            <a:r>
              <a:rPr sz="1000" spc="-5" dirty="0">
                <a:solidFill>
                  <a:srgbClr val="FA0000"/>
                </a:solidFill>
                <a:latin typeface="Arial"/>
                <a:cs typeface="Arial"/>
              </a:rPr>
              <a:t> A, </a:t>
            </a:r>
            <a:r>
              <a:rPr sz="1000" spc="-10" dirty="0">
                <a:solidFill>
                  <a:srgbClr val="FA0000"/>
                </a:solidFill>
                <a:latin typeface="Arial"/>
                <a:cs typeface="Arial"/>
              </a:rPr>
              <a:t>[known]</a:t>
            </a:r>
            <a:r>
              <a:rPr sz="1000" spc="-5" dirty="0">
                <a:solidFill>
                  <a:srgbClr val="FA0000"/>
                </a:solidFill>
                <a:latin typeface="Arial"/>
                <a:cs typeface="Arial"/>
              </a:rPr>
              <a:t> time </a:t>
            </a:r>
            <a:r>
              <a:rPr sz="1000" spc="-260" dirty="0">
                <a:solidFill>
                  <a:srgbClr val="FA0000"/>
                </a:solidFill>
                <a:latin typeface="Arial"/>
                <a:cs typeface="Arial"/>
              </a:rPr>
              <a:t> </a:t>
            </a:r>
            <a:r>
              <a:rPr sz="1000" spc="-5" dirty="0">
                <a:solidFill>
                  <a:srgbClr val="FA0000"/>
                </a:solidFill>
                <a:latin typeface="Arial"/>
                <a:cs typeface="Arial"/>
              </a:rPr>
              <a:t>@</a:t>
            </a:r>
            <a:r>
              <a:rPr sz="1000" spc="-10" dirty="0">
                <a:solidFill>
                  <a:srgbClr val="FA0000"/>
                </a:solidFill>
                <a:latin typeface="Arial"/>
                <a:cs typeface="Arial"/>
              </a:rPr>
              <a:t> </a:t>
            </a:r>
            <a:r>
              <a:rPr sz="1000" spc="-5" dirty="0">
                <a:solidFill>
                  <a:srgbClr val="FA0000"/>
                </a:solidFill>
                <a:latin typeface="Arial"/>
                <a:cs typeface="Arial"/>
              </a:rPr>
              <a:t>B)</a:t>
            </a:r>
            <a:endParaRPr sz="1000">
              <a:latin typeface="Arial"/>
              <a:cs typeface="Arial"/>
            </a:endParaRPr>
          </a:p>
          <a:p>
            <a:pPr marL="340360" marR="414655" indent="-168275">
              <a:lnSpc>
                <a:spcPts val="1200"/>
              </a:lnSpc>
              <a:spcBef>
                <a:spcPts val="30"/>
              </a:spcBef>
              <a:buClr>
                <a:srgbClr val="3333B2"/>
              </a:buClr>
              <a:buFont typeface="Arial"/>
              <a:buChar char="►"/>
              <a:tabLst>
                <a:tab pos="340995" algn="l"/>
              </a:tabLst>
            </a:pPr>
            <a:r>
              <a:rPr sz="1000" i="1" spc="-5" dirty="0">
                <a:latin typeface="Arial"/>
                <a:cs typeface="Arial"/>
              </a:rPr>
              <a:t>B</a:t>
            </a:r>
            <a:r>
              <a:rPr sz="1000" i="1" spc="40" dirty="0">
                <a:latin typeface="Arial"/>
                <a:cs typeface="Arial"/>
              </a:rPr>
              <a:t> </a:t>
            </a:r>
            <a:r>
              <a:rPr sz="1000" spc="-5" dirty="0">
                <a:latin typeface="Arial"/>
                <a:cs typeface="Arial"/>
              </a:rPr>
              <a:t>sends </a:t>
            </a:r>
            <a:r>
              <a:rPr sz="1000" i="1" spc="-5" dirty="0">
                <a:latin typeface="Arial"/>
                <a:cs typeface="Arial"/>
              </a:rPr>
              <a:t>A </a:t>
            </a:r>
            <a:r>
              <a:rPr sz="1000" spc="-5" dirty="0">
                <a:latin typeface="Arial"/>
                <a:cs typeface="Arial"/>
              </a:rPr>
              <a:t>operation</a:t>
            </a:r>
            <a:r>
              <a:rPr sz="1000" dirty="0">
                <a:latin typeface="Arial"/>
                <a:cs typeface="Arial"/>
              </a:rPr>
              <a:t> </a:t>
            </a:r>
            <a:r>
              <a:rPr sz="1000" spc="-20" dirty="0">
                <a:latin typeface="Arial"/>
                <a:cs typeface="Arial"/>
              </a:rPr>
              <a:t>[</a:t>
            </a:r>
            <a:r>
              <a:rPr sz="1000" i="1" spc="-20" dirty="0">
                <a:latin typeface="メイリオ"/>
                <a:cs typeface="メイリオ"/>
              </a:rPr>
              <a:t>(</a:t>
            </a:r>
            <a:r>
              <a:rPr sz="1000" spc="-20" dirty="0">
                <a:latin typeface="Arial"/>
                <a:cs typeface="Arial"/>
              </a:rPr>
              <a:t>5</a:t>
            </a:r>
            <a:r>
              <a:rPr sz="1000" i="1" spc="-20" dirty="0">
                <a:latin typeface="Arial"/>
                <a:cs typeface="Arial"/>
              </a:rPr>
              <a:t>,</a:t>
            </a:r>
            <a:r>
              <a:rPr sz="1000" i="1" spc="-170" dirty="0">
                <a:latin typeface="Arial"/>
                <a:cs typeface="Arial"/>
              </a:rPr>
              <a:t> </a:t>
            </a:r>
            <a:r>
              <a:rPr sz="1000" i="1" spc="-10" dirty="0">
                <a:latin typeface="Arial"/>
                <a:cs typeface="Arial"/>
              </a:rPr>
              <a:t>B</a:t>
            </a:r>
            <a:r>
              <a:rPr sz="1000" i="1" spc="-10" dirty="0">
                <a:latin typeface="メイリオ"/>
                <a:cs typeface="メイリオ"/>
              </a:rPr>
              <a:t>)</a:t>
            </a:r>
            <a:r>
              <a:rPr sz="1000" i="1" spc="-120" dirty="0">
                <a:latin typeface="メイリオ"/>
                <a:cs typeface="メイリオ"/>
              </a:rPr>
              <a:t> </a:t>
            </a:r>
            <a:r>
              <a:rPr sz="1000" spc="-5" dirty="0">
                <a:latin typeface="Arial"/>
                <a:cs typeface="Arial"/>
              </a:rPr>
              <a:t>:</a:t>
            </a:r>
            <a:r>
              <a:rPr sz="1000" spc="-60" dirty="0">
                <a:latin typeface="Arial"/>
                <a:cs typeface="Arial"/>
              </a:rPr>
              <a:t> </a:t>
            </a:r>
            <a:r>
              <a:rPr sz="1000" i="1" spc="-5" dirty="0">
                <a:latin typeface="Arial"/>
                <a:cs typeface="Arial"/>
              </a:rPr>
              <a:t>g</a:t>
            </a:r>
            <a:r>
              <a:rPr sz="1000" i="1" dirty="0">
                <a:latin typeface="Arial"/>
                <a:cs typeface="Arial"/>
              </a:rPr>
              <a:t> </a:t>
            </a:r>
            <a:r>
              <a:rPr sz="1000" i="1" spc="-5" dirty="0">
                <a:latin typeface="メイリオ"/>
                <a:cs typeface="メイリオ"/>
              </a:rPr>
              <a:t>←</a:t>
            </a:r>
            <a:r>
              <a:rPr sz="1000" i="1" spc="-120" dirty="0">
                <a:latin typeface="メイリオ"/>
                <a:cs typeface="メイリオ"/>
              </a:rPr>
              <a:t> </a:t>
            </a:r>
            <a:r>
              <a:rPr sz="1000" i="1" spc="-5" dirty="0">
                <a:latin typeface="Arial"/>
                <a:cs typeface="Arial"/>
              </a:rPr>
              <a:t>d</a:t>
            </a:r>
            <a:r>
              <a:rPr sz="1000" i="1" spc="-45" dirty="0">
                <a:latin typeface="Arial"/>
                <a:cs typeface="Arial"/>
              </a:rPr>
              <a:t> </a:t>
            </a:r>
            <a:r>
              <a:rPr sz="1000" spc="190" dirty="0">
                <a:latin typeface="Arial"/>
                <a:cs typeface="Arial"/>
              </a:rPr>
              <a:t>+</a:t>
            </a:r>
            <a:r>
              <a:rPr sz="1000" spc="-140" dirty="0">
                <a:latin typeface="Arial"/>
                <a:cs typeface="Arial"/>
              </a:rPr>
              <a:t> </a:t>
            </a:r>
            <a:r>
              <a:rPr sz="1000" i="1" spc="10" dirty="0">
                <a:latin typeface="Arial"/>
                <a:cs typeface="Arial"/>
              </a:rPr>
              <a:t>45</a:t>
            </a:r>
            <a:r>
              <a:rPr sz="1000" spc="10" dirty="0">
                <a:latin typeface="Arial"/>
                <a:cs typeface="Arial"/>
              </a:rPr>
              <a:t>];</a:t>
            </a:r>
            <a:r>
              <a:rPr sz="1000" spc="-5" dirty="0">
                <a:latin typeface="Arial"/>
                <a:cs typeface="Arial"/>
              </a:rPr>
              <a:t> </a:t>
            </a:r>
            <a:r>
              <a:rPr sz="1000" i="1" spc="-5" dirty="0">
                <a:latin typeface="Arial"/>
                <a:cs typeface="Arial"/>
              </a:rPr>
              <a:t>A</a:t>
            </a:r>
            <a:r>
              <a:rPr sz="1000" i="1" dirty="0">
                <a:latin typeface="Arial"/>
                <a:cs typeface="Arial"/>
              </a:rPr>
              <a:t> </a:t>
            </a:r>
            <a:r>
              <a:rPr sz="1000" spc="-5" dirty="0">
                <a:latin typeface="Arial"/>
                <a:cs typeface="Arial"/>
              </a:rPr>
              <a:t>has made this </a:t>
            </a:r>
            <a:r>
              <a:rPr sz="1000" spc="-260" dirty="0">
                <a:latin typeface="Arial"/>
                <a:cs typeface="Arial"/>
              </a:rPr>
              <a:t> </a:t>
            </a:r>
            <a:r>
              <a:rPr sz="1000" spc="-5" dirty="0">
                <a:latin typeface="Arial"/>
                <a:cs typeface="Arial"/>
              </a:rPr>
              <a:t>operation</a:t>
            </a:r>
            <a:r>
              <a:rPr sz="1000" spc="-10" dirty="0">
                <a:latin typeface="Arial"/>
                <a:cs typeface="Arial"/>
              </a:rPr>
              <a:t> </a:t>
            </a:r>
            <a:r>
              <a:rPr sz="1000" dirty="0">
                <a:solidFill>
                  <a:srgbClr val="0000FA"/>
                </a:solidFill>
                <a:latin typeface="Arial"/>
                <a:cs typeface="Arial"/>
              </a:rPr>
              <a:t>permanent</a:t>
            </a:r>
            <a:r>
              <a:rPr sz="1000" spc="-5" dirty="0">
                <a:solidFill>
                  <a:srgbClr val="0000FA"/>
                </a:solidFill>
                <a:latin typeface="Arial"/>
                <a:cs typeface="Arial"/>
              </a:rPr>
              <a:t> </a:t>
            </a:r>
            <a:r>
              <a:rPr sz="1000" spc="-5" dirty="0">
                <a:latin typeface="Arial"/>
                <a:cs typeface="Arial"/>
              </a:rPr>
              <a:t>(cannot be rolled </a:t>
            </a:r>
            <a:r>
              <a:rPr sz="1000" spc="-10" dirty="0">
                <a:latin typeface="Arial"/>
                <a:cs typeface="Arial"/>
              </a:rPr>
              <a:t>back)</a:t>
            </a:r>
            <a:endParaRPr sz="1000">
              <a:latin typeface="Arial"/>
              <a:cs typeface="Aria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Data-centric</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714985" y="716"/>
            <a:ext cx="826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Continuous</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consistency</a:t>
            </a:r>
            <a:endParaRPr sz="600">
              <a:latin typeface="Arial"/>
              <a:cs typeface="Arial"/>
            </a:endParaRPr>
          </a:p>
        </p:txBody>
      </p:sp>
      <p:sp>
        <p:nvSpPr>
          <p:cNvPr id="4" name="object 4"/>
          <p:cNvSpPr txBox="1"/>
          <p:nvPr/>
        </p:nvSpPr>
        <p:spPr>
          <a:xfrm>
            <a:off x="95300" y="113917"/>
            <a:ext cx="1273175" cy="455295"/>
          </a:xfrm>
          <a:prstGeom prst="rect">
            <a:avLst/>
          </a:prstGeom>
        </p:spPr>
        <p:txBody>
          <a:bodyPr vert="horz" wrap="square" lIns="0" tIns="92075" rIns="0" bIns="0" rtlCol="0">
            <a:spAutoFit/>
          </a:bodyPr>
          <a:lstStyle/>
          <a:p>
            <a:pPr marL="12700">
              <a:lnSpc>
                <a:spcPct val="100000"/>
              </a:lnSpc>
              <a:spcBef>
                <a:spcPts val="725"/>
              </a:spcBef>
            </a:pPr>
            <a:r>
              <a:rPr sz="1400" spc="15" dirty="0">
                <a:solidFill>
                  <a:srgbClr val="3333B2"/>
                </a:solidFill>
                <a:latin typeface="Arial"/>
                <a:cs typeface="Arial"/>
              </a:rPr>
              <a:t>Example:</a:t>
            </a:r>
            <a:r>
              <a:rPr sz="1400" spc="40" dirty="0">
                <a:solidFill>
                  <a:srgbClr val="3333B2"/>
                </a:solidFill>
                <a:latin typeface="Arial"/>
                <a:cs typeface="Arial"/>
              </a:rPr>
              <a:t> </a:t>
            </a:r>
            <a:r>
              <a:rPr sz="1400" spc="15" dirty="0">
                <a:solidFill>
                  <a:srgbClr val="3333B2"/>
                </a:solidFill>
                <a:latin typeface="Arial"/>
                <a:cs typeface="Arial"/>
              </a:rPr>
              <a:t>Conit</a:t>
            </a:r>
            <a:endParaRPr sz="1400">
              <a:latin typeface="Arial"/>
              <a:cs typeface="Arial"/>
            </a:endParaRPr>
          </a:p>
          <a:p>
            <a:pPr marL="707390">
              <a:lnSpc>
                <a:spcPct val="100000"/>
              </a:lnSpc>
              <a:spcBef>
                <a:spcPts val="290"/>
              </a:spcBef>
            </a:pPr>
            <a:r>
              <a:rPr sz="650" spc="5" dirty="0">
                <a:solidFill>
                  <a:srgbClr val="231F20"/>
                </a:solidFill>
                <a:latin typeface="Arial"/>
                <a:cs typeface="Arial"/>
              </a:rPr>
              <a:t>Replica</a:t>
            </a:r>
            <a:r>
              <a:rPr sz="650" spc="-35" dirty="0">
                <a:solidFill>
                  <a:srgbClr val="231F20"/>
                </a:solidFill>
                <a:latin typeface="Arial"/>
                <a:cs typeface="Arial"/>
              </a:rPr>
              <a:t> </a:t>
            </a:r>
            <a:r>
              <a:rPr sz="650" spc="5" dirty="0">
                <a:solidFill>
                  <a:srgbClr val="231F20"/>
                </a:solidFill>
                <a:latin typeface="Arial"/>
                <a:cs typeface="Arial"/>
              </a:rPr>
              <a:t>A</a:t>
            </a:r>
            <a:endParaRPr sz="650">
              <a:latin typeface="Arial"/>
              <a:cs typeface="Arial"/>
            </a:endParaRPr>
          </a:p>
        </p:txBody>
      </p:sp>
      <p:sp>
        <p:nvSpPr>
          <p:cNvPr id="5" name="object 5"/>
          <p:cNvSpPr/>
          <p:nvPr/>
        </p:nvSpPr>
        <p:spPr>
          <a:xfrm>
            <a:off x="2485332" y="598329"/>
            <a:ext cx="1312545" cy="1315085"/>
          </a:xfrm>
          <a:custGeom>
            <a:avLst/>
            <a:gdLst/>
            <a:ahLst/>
            <a:cxnLst/>
            <a:rect l="l" t="t" r="r" b="b"/>
            <a:pathLst>
              <a:path w="1312545" h="1315085">
                <a:moveTo>
                  <a:pt x="0" y="1314715"/>
                </a:moveTo>
                <a:lnTo>
                  <a:pt x="1312038" y="1314715"/>
                </a:lnTo>
                <a:lnTo>
                  <a:pt x="1312038" y="0"/>
                </a:lnTo>
                <a:lnTo>
                  <a:pt x="0" y="0"/>
                </a:lnTo>
                <a:lnTo>
                  <a:pt x="0" y="1314715"/>
                </a:lnTo>
                <a:close/>
              </a:path>
            </a:pathLst>
          </a:custGeom>
          <a:ln w="10541">
            <a:solidFill>
              <a:srgbClr val="231F20"/>
            </a:solidFill>
          </a:ln>
        </p:spPr>
        <p:txBody>
          <a:bodyPr wrap="square" lIns="0" tIns="0" rIns="0" bIns="0" rtlCol="0"/>
          <a:lstStyle/>
          <a:p>
            <a:endParaRPr/>
          </a:p>
        </p:txBody>
      </p:sp>
      <p:sp>
        <p:nvSpPr>
          <p:cNvPr id="6" name="object 6"/>
          <p:cNvSpPr/>
          <p:nvPr/>
        </p:nvSpPr>
        <p:spPr>
          <a:xfrm>
            <a:off x="810801" y="598329"/>
            <a:ext cx="1312545" cy="1315085"/>
          </a:xfrm>
          <a:custGeom>
            <a:avLst/>
            <a:gdLst/>
            <a:ahLst/>
            <a:cxnLst/>
            <a:rect l="l" t="t" r="r" b="b"/>
            <a:pathLst>
              <a:path w="1312545" h="1315085">
                <a:moveTo>
                  <a:pt x="0" y="1314715"/>
                </a:moveTo>
                <a:lnTo>
                  <a:pt x="1312038" y="1314715"/>
                </a:lnTo>
                <a:lnTo>
                  <a:pt x="1312038" y="0"/>
                </a:lnTo>
                <a:lnTo>
                  <a:pt x="0" y="0"/>
                </a:lnTo>
                <a:lnTo>
                  <a:pt x="0" y="1314715"/>
                </a:lnTo>
                <a:close/>
              </a:path>
            </a:pathLst>
          </a:custGeom>
          <a:ln w="10541">
            <a:solidFill>
              <a:srgbClr val="231F20"/>
            </a:solidFill>
          </a:ln>
        </p:spPr>
        <p:txBody>
          <a:bodyPr wrap="square" lIns="0" tIns="0" rIns="0" bIns="0" rtlCol="0"/>
          <a:lstStyle/>
          <a:p>
            <a:endParaRPr/>
          </a:p>
        </p:txBody>
      </p:sp>
      <p:sp>
        <p:nvSpPr>
          <p:cNvPr id="7" name="object 7"/>
          <p:cNvSpPr txBox="1"/>
          <p:nvPr/>
        </p:nvSpPr>
        <p:spPr>
          <a:xfrm>
            <a:off x="1689862" y="1349398"/>
            <a:ext cx="308610" cy="101600"/>
          </a:xfrm>
          <a:prstGeom prst="rect">
            <a:avLst/>
          </a:prstGeom>
        </p:spPr>
        <p:txBody>
          <a:bodyPr vert="horz" wrap="square" lIns="0" tIns="12065" rIns="0" bIns="0" rtlCol="0">
            <a:spAutoFit/>
          </a:bodyPr>
          <a:lstStyle/>
          <a:p>
            <a:pPr marL="12700">
              <a:lnSpc>
                <a:spcPct val="100000"/>
              </a:lnSpc>
              <a:spcBef>
                <a:spcPts val="95"/>
              </a:spcBef>
            </a:pP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g</a:t>
            </a:r>
            <a:r>
              <a:rPr sz="500" spc="-15" dirty="0">
                <a:solidFill>
                  <a:srgbClr val="231F20"/>
                </a:solidFill>
                <a:latin typeface="Arial"/>
                <a:cs typeface="Arial"/>
              </a:rPr>
              <a:t> </a:t>
            </a:r>
            <a:r>
              <a:rPr sz="500" spc="-5" dirty="0">
                <a:solidFill>
                  <a:srgbClr val="231F20"/>
                </a:solidFill>
                <a:latin typeface="Arial"/>
                <a:cs typeface="Arial"/>
              </a:rPr>
              <a:t>=</a:t>
            </a:r>
            <a:r>
              <a:rPr sz="500" spc="240" dirty="0">
                <a:solidFill>
                  <a:srgbClr val="231F20"/>
                </a:solidFill>
                <a:latin typeface="Arial"/>
                <a:cs typeface="Arial"/>
              </a:rPr>
              <a:t> </a:t>
            </a:r>
            <a:r>
              <a:rPr sz="500" spc="-5" dirty="0">
                <a:solidFill>
                  <a:srgbClr val="231F20"/>
                </a:solidFill>
                <a:latin typeface="Arial"/>
                <a:cs typeface="Arial"/>
              </a:rPr>
              <a:t>95</a:t>
            </a:r>
            <a:r>
              <a:rPr sz="500" spc="-15"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sp>
        <p:nvSpPr>
          <p:cNvPr id="8" name="object 8"/>
          <p:cNvSpPr txBox="1"/>
          <p:nvPr/>
        </p:nvSpPr>
        <p:spPr>
          <a:xfrm>
            <a:off x="1690830" y="1496372"/>
            <a:ext cx="308610" cy="101600"/>
          </a:xfrm>
          <a:prstGeom prst="rect">
            <a:avLst/>
          </a:prstGeom>
        </p:spPr>
        <p:txBody>
          <a:bodyPr vert="horz" wrap="square" lIns="0" tIns="12065" rIns="0" bIns="0" rtlCol="0">
            <a:spAutoFit/>
          </a:bodyPr>
          <a:lstStyle/>
          <a:p>
            <a:pPr marL="12700">
              <a:lnSpc>
                <a:spcPct val="100000"/>
              </a:lnSpc>
              <a:spcBef>
                <a:spcPts val="95"/>
              </a:spcBef>
            </a:pP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p</a:t>
            </a:r>
            <a:r>
              <a:rPr sz="500" spc="-15" dirty="0">
                <a:solidFill>
                  <a:srgbClr val="231F20"/>
                </a:solidFill>
                <a:latin typeface="Arial"/>
                <a:cs typeface="Arial"/>
              </a:rPr>
              <a:t> </a:t>
            </a:r>
            <a:r>
              <a:rPr sz="500" spc="-5" dirty="0">
                <a:solidFill>
                  <a:srgbClr val="231F20"/>
                </a:solidFill>
                <a:latin typeface="Arial"/>
                <a:cs typeface="Arial"/>
              </a:rPr>
              <a:t>=</a:t>
            </a:r>
            <a:r>
              <a:rPr sz="500" spc="240" dirty="0">
                <a:solidFill>
                  <a:srgbClr val="231F20"/>
                </a:solidFill>
                <a:latin typeface="Arial"/>
                <a:cs typeface="Arial"/>
              </a:rPr>
              <a:t> </a:t>
            </a:r>
            <a:r>
              <a:rPr sz="500" spc="-5" dirty="0">
                <a:solidFill>
                  <a:srgbClr val="231F20"/>
                </a:solidFill>
                <a:latin typeface="Arial"/>
                <a:cs typeface="Arial"/>
              </a:rPr>
              <a:t>78</a:t>
            </a:r>
            <a:r>
              <a:rPr sz="500" spc="-15"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sp>
        <p:nvSpPr>
          <p:cNvPr id="9" name="object 9"/>
          <p:cNvSpPr txBox="1"/>
          <p:nvPr/>
        </p:nvSpPr>
        <p:spPr>
          <a:xfrm>
            <a:off x="1688775" y="1645239"/>
            <a:ext cx="308610" cy="101600"/>
          </a:xfrm>
          <a:prstGeom prst="rect">
            <a:avLst/>
          </a:prstGeom>
        </p:spPr>
        <p:txBody>
          <a:bodyPr vert="horz" wrap="square" lIns="0" tIns="12065" rIns="0" bIns="0" rtlCol="0">
            <a:spAutoFit/>
          </a:bodyPr>
          <a:lstStyle/>
          <a:p>
            <a:pPr marL="12700">
              <a:lnSpc>
                <a:spcPct val="100000"/>
              </a:lnSpc>
              <a:spcBef>
                <a:spcPts val="95"/>
              </a:spcBef>
            </a:pP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d</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558</a:t>
            </a:r>
            <a:r>
              <a:rPr sz="500" spc="-20"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graphicFrame>
        <p:nvGraphicFramePr>
          <p:cNvPr id="10" name="object 10"/>
          <p:cNvGraphicFramePr>
            <a:graphicFrameLocks noGrp="1"/>
          </p:cNvGraphicFramePr>
          <p:nvPr/>
        </p:nvGraphicFramePr>
        <p:xfrm>
          <a:off x="926258" y="1193287"/>
          <a:ext cx="697230" cy="568960"/>
        </p:xfrm>
        <a:graphic>
          <a:graphicData uri="http://schemas.openxmlformats.org/drawingml/2006/table">
            <a:tbl>
              <a:tblPr firstRow="1" bandRow="1">
                <a:tableStyleId>{2D5ABB26-0587-4C30-8999-92F81FD0307C}</a:tableStyleId>
              </a:tblPr>
              <a:tblGrid>
                <a:gridCol w="26543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tblGrid>
              <a:tr h="132715">
                <a:tc>
                  <a:txBody>
                    <a:bodyPr/>
                    <a:lstStyle/>
                    <a:p>
                      <a:pPr marL="1905" algn="ctr">
                        <a:lnSpc>
                          <a:spcPct val="100000"/>
                        </a:lnSpc>
                        <a:spcBef>
                          <a:spcPts val="95"/>
                        </a:spcBef>
                      </a:pPr>
                      <a:r>
                        <a:rPr sz="500" spc="-5" dirty="0">
                          <a:solidFill>
                            <a:srgbClr val="231F20"/>
                          </a:solidFill>
                          <a:latin typeface="Arial"/>
                          <a:cs typeface="Arial"/>
                        </a:rPr>
                        <a:t>&lt;</a:t>
                      </a:r>
                      <a:r>
                        <a:rPr sz="500" spc="95" dirty="0">
                          <a:solidFill>
                            <a:srgbClr val="231F20"/>
                          </a:solidFill>
                          <a:latin typeface="Arial"/>
                          <a:cs typeface="Arial"/>
                        </a:rPr>
                        <a:t> </a:t>
                      </a:r>
                      <a:r>
                        <a:rPr sz="500" spc="-5" dirty="0">
                          <a:solidFill>
                            <a:srgbClr val="231F20"/>
                          </a:solidFill>
                          <a:latin typeface="Arial"/>
                          <a:cs typeface="Arial"/>
                        </a:rPr>
                        <a:t>5,</a:t>
                      </a:r>
                      <a:r>
                        <a:rPr sz="500" spc="-25" dirty="0">
                          <a:solidFill>
                            <a:srgbClr val="231F20"/>
                          </a:solidFill>
                          <a:latin typeface="Arial"/>
                          <a:cs typeface="Arial"/>
                        </a:rPr>
                        <a:t> </a:t>
                      </a:r>
                      <a:r>
                        <a:rPr sz="500" spc="-5" dirty="0">
                          <a:solidFill>
                            <a:srgbClr val="231F20"/>
                          </a:solidFill>
                          <a:latin typeface="Arial"/>
                          <a:cs typeface="Arial"/>
                        </a:rPr>
                        <a:t>B&gt;</a:t>
                      </a:r>
                      <a:endParaRPr sz="500">
                        <a:latin typeface="Arial"/>
                        <a:cs typeface="Arial"/>
                      </a:endParaRPr>
                    </a:p>
                  </a:txBody>
                  <a:tcPr marL="0" marR="0" marT="1206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D1D3D4"/>
                    </a:solidFill>
                  </a:tcPr>
                </a:tc>
                <a:tc>
                  <a:txBody>
                    <a:bodyPr/>
                    <a:lstStyle/>
                    <a:p>
                      <a:pPr marL="40005">
                        <a:lnSpc>
                          <a:spcPct val="100000"/>
                        </a:lnSpc>
                        <a:spcBef>
                          <a:spcPts val="95"/>
                        </a:spcBef>
                      </a:pPr>
                      <a:r>
                        <a:rPr sz="500" spc="-5" dirty="0">
                          <a:solidFill>
                            <a:srgbClr val="231F20"/>
                          </a:solidFill>
                          <a:latin typeface="Arial"/>
                          <a:cs typeface="Arial"/>
                        </a:rPr>
                        <a:t>g</a:t>
                      </a:r>
                      <a:r>
                        <a:rPr sz="500" spc="-20" dirty="0">
                          <a:solidFill>
                            <a:srgbClr val="231F20"/>
                          </a:solidFill>
                          <a:latin typeface="Arial"/>
                          <a:cs typeface="Arial"/>
                        </a:rPr>
                        <a:t> </a:t>
                      </a:r>
                      <a:r>
                        <a:rPr sz="500" spc="315" dirty="0">
                          <a:solidFill>
                            <a:srgbClr val="231F20"/>
                          </a:solidFill>
                          <a:latin typeface="Symbol"/>
                          <a:cs typeface="Symbol"/>
                        </a:rPr>
                        <a:t>�</a:t>
                      </a:r>
                      <a:r>
                        <a:rPr sz="500" spc="-5" dirty="0">
                          <a:solidFill>
                            <a:srgbClr val="231F20"/>
                          </a:solidFill>
                          <a:latin typeface="Times New Roman"/>
                          <a:cs typeface="Times New Roman"/>
                        </a:rPr>
                        <a:t> </a:t>
                      </a:r>
                      <a:r>
                        <a:rPr sz="500" spc="-5" dirty="0">
                          <a:solidFill>
                            <a:srgbClr val="231F20"/>
                          </a:solidFill>
                          <a:latin typeface="Arial"/>
                          <a:cs typeface="Arial"/>
                        </a:rPr>
                        <a:t>g</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45</a:t>
                      </a:r>
                      <a:endParaRPr sz="500">
                        <a:latin typeface="Arial"/>
                        <a:cs typeface="Arial"/>
                      </a:endParaRPr>
                    </a:p>
                  </a:txBody>
                  <a:tcPr marL="0" marR="0" marT="1206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D1D3D4"/>
                    </a:solidFill>
                  </a:tcPr>
                </a:tc>
                <a:extLst>
                  <a:ext uri="{0D108BD9-81ED-4DB2-BD59-A6C34878D82A}">
                    <a16:rowId xmlns:a16="http://schemas.microsoft.com/office/drawing/2014/main" val="10000"/>
                  </a:ext>
                </a:extLst>
              </a:tr>
              <a:tr h="151765">
                <a:tc>
                  <a:txBody>
                    <a:bodyPr/>
                    <a:lstStyle/>
                    <a:p>
                      <a:pPr algn="ctr">
                        <a:lnSpc>
                          <a:spcPct val="100000"/>
                        </a:lnSpc>
                        <a:spcBef>
                          <a:spcPts val="245"/>
                        </a:spcBef>
                      </a:pPr>
                      <a:r>
                        <a:rPr sz="500" dirty="0">
                          <a:solidFill>
                            <a:srgbClr val="231F20"/>
                          </a:solidFill>
                          <a:latin typeface="Arial"/>
                          <a:cs typeface="Arial"/>
                        </a:rPr>
                        <a:t>&lt; </a:t>
                      </a:r>
                      <a:r>
                        <a:rPr sz="500" spc="-5" dirty="0">
                          <a:solidFill>
                            <a:srgbClr val="231F20"/>
                          </a:solidFill>
                          <a:latin typeface="Arial"/>
                          <a:cs typeface="Arial"/>
                        </a:rPr>
                        <a:t> </a:t>
                      </a:r>
                      <a:r>
                        <a:rPr sz="500" dirty="0">
                          <a:solidFill>
                            <a:srgbClr val="231F20"/>
                          </a:solidFill>
                          <a:latin typeface="Arial"/>
                          <a:cs typeface="Arial"/>
                        </a:rPr>
                        <a:t>8,</a:t>
                      </a:r>
                      <a:r>
                        <a:rPr sz="500" spc="-30" dirty="0">
                          <a:solidFill>
                            <a:srgbClr val="231F20"/>
                          </a:solidFill>
                          <a:latin typeface="Arial"/>
                          <a:cs typeface="Arial"/>
                        </a:rPr>
                        <a:t> </a:t>
                      </a:r>
                      <a:r>
                        <a:rPr sz="500" dirty="0">
                          <a:solidFill>
                            <a:srgbClr val="231F20"/>
                          </a:solidFill>
                          <a:latin typeface="Arial"/>
                          <a:cs typeface="Arial"/>
                        </a:rPr>
                        <a:t>A&gt;</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37465">
                        <a:lnSpc>
                          <a:spcPct val="100000"/>
                        </a:lnSpc>
                        <a:spcBef>
                          <a:spcPts val="245"/>
                        </a:spcBef>
                      </a:pPr>
                      <a:r>
                        <a:rPr sz="500" spc="-5" dirty="0">
                          <a:solidFill>
                            <a:srgbClr val="231F20"/>
                          </a:solidFill>
                          <a:latin typeface="Arial"/>
                          <a:cs typeface="Arial"/>
                        </a:rPr>
                        <a:t>g</a:t>
                      </a:r>
                      <a:r>
                        <a:rPr sz="500" spc="-20" dirty="0">
                          <a:solidFill>
                            <a:srgbClr val="231F20"/>
                          </a:solidFill>
                          <a:latin typeface="Arial"/>
                          <a:cs typeface="Arial"/>
                        </a:rPr>
                        <a:t> </a:t>
                      </a:r>
                      <a:r>
                        <a:rPr sz="500" spc="315" dirty="0">
                          <a:solidFill>
                            <a:srgbClr val="231F20"/>
                          </a:solidFill>
                          <a:latin typeface="Symbol"/>
                          <a:cs typeface="Symbol"/>
                        </a:rPr>
                        <a:t>�</a:t>
                      </a:r>
                      <a:r>
                        <a:rPr sz="500" spc="-5" dirty="0">
                          <a:solidFill>
                            <a:srgbClr val="231F20"/>
                          </a:solidFill>
                          <a:latin typeface="Times New Roman"/>
                          <a:cs typeface="Times New Roman"/>
                        </a:rPr>
                        <a:t> </a:t>
                      </a:r>
                      <a:r>
                        <a:rPr sz="500" spc="-5" dirty="0">
                          <a:solidFill>
                            <a:srgbClr val="231F20"/>
                          </a:solidFill>
                          <a:latin typeface="Arial"/>
                          <a:cs typeface="Arial"/>
                        </a:rPr>
                        <a:t>g</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50</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151765">
                <a:tc>
                  <a:txBody>
                    <a:bodyPr/>
                    <a:lstStyle/>
                    <a:p>
                      <a:pPr algn="ctr">
                        <a:lnSpc>
                          <a:spcPct val="100000"/>
                        </a:lnSpc>
                        <a:spcBef>
                          <a:spcPts val="245"/>
                        </a:spcBef>
                      </a:pPr>
                      <a:r>
                        <a:rPr sz="500" dirty="0">
                          <a:solidFill>
                            <a:srgbClr val="231F20"/>
                          </a:solidFill>
                          <a:latin typeface="Arial"/>
                          <a:cs typeface="Arial"/>
                        </a:rPr>
                        <a:t>&lt; </a:t>
                      </a:r>
                      <a:r>
                        <a:rPr sz="500" spc="-5" dirty="0">
                          <a:solidFill>
                            <a:srgbClr val="231F20"/>
                          </a:solidFill>
                          <a:latin typeface="Arial"/>
                          <a:cs typeface="Arial"/>
                        </a:rPr>
                        <a:t> </a:t>
                      </a:r>
                      <a:r>
                        <a:rPr sz="500" dirty="0">
                          <a:solidFill>
                            <a:srgbClr val="231F20"/>
                          </a:solidFill>
                          <a:latin typeface="Arial"/>
                          <a:cs typeface="Arial"/>
                        </a:rPr>
                        <a:t>9,</a:t>
                      </a:r>
                      <a:r>
                        <a:rPr sz="500" spc="-30" dirty="0">
                          <a:solidFill>
                            <a:srgbClr val="231F20"/>
                          </a:solidFill>
                          <a:latin typeface="Arial"/>
                          <a:cs typeface="Arial"/>
                        </a:rPr>
                        <a:t> </a:t>
                      </a:r>
                      <a:r>
                        <a:rPr sz="500" dirty="0">
                          <a:solidFill>
                            <a:srgbClr val="231F20"/>
                          </a:solidFill>
                          <a:latin typeface="Arial"/>
                          <a:cs typeface="Arial"/>
                        </a:rPr>
                        <a:t>A&gt;</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37465">
                        <a:lnSpc>
                          <a:spcPct val="100000"/>
                        </a:lnSpc>
                        <a:spcBef>
                          <a:spcPts val="245"/>
                        </a:spcBef>
                      </a:pPr>
                      <a:r>
                        <a:rPr sz="500" spc="-5" dirty="0">
                          <a:solidFill>
                            <a:srgbClr val="231F20"/>
                          </a:solidFill>
                          <a:latin typeface="Arial"/>
                          <a:cs typeface="Arial"/>
                        </a:rPr>
                        <a:t>p</a:t>
                      </a:r>
                      <a:r>
                        <a:rPr sz="500" spc="-20" dirty="0">
                          <a:solidFill>
                            <a:srgbClr val="231F20"/>
                          </a:solidFill>
                          <a:latin typeface="Arial"/>
                          <a:cs typeface="Arial"/>
                        </a:rPr>
                        <a:t> </a:t>
                      </a:r>
                      <a:r>
                        <a:rPr sz="500" spc="315" dirty="0">
                          <a:solidFill>
                            <a:srgbClr val="231F20"/>
                          </a:solidFill>
                          <a:latin typeface="Symbol"/>
                          <a:cs typeface="Symbol"/>
                        </a:rPr>
                        <a:t>�</a:t>
                      </a:r>
                      <a:r>
                        <a:rPr sz="500" spc="-5" dirty="0">
                          <a:solidFill>
                            <a:srgbClr val="231F20"/>
                          </a:solidFill>
                          <a:latin typeface="Times New Roman"/>
                          <a:cs typeface="Times New Roman"/>
                        </a:rPr>
                        <a:t> </a:t>
                      </a:r>
                      <a:r>
                        <a:rPr sz="500" spc="-5" dirty="0">
                          <a:solidFill>
                            <a:srgbClr val="231F20"/>
                          </a:solidFill>
                          <a:latin typeface="Arial"/>
                          <a:cs typeface="Arial"/>
                        </a:rPr>
                        <a:t>p</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78</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r h="132715">
                <a:tc>
                  <a:txBody>
                    <a:bodyPr/>
                    <a:lstStyle/>
                    <a:p>
                      <a:pPr algn="ctr">
                        <a:lnSpc>
                          <a:spcPct val="100000"/>
                        </a:lnSpc>
                        <a:spcBef>
                          <a:spcPts val="245"/>
                        </a:spcBef>
                      </a:pPr>
                      <a:r>
                        <a:rPr sz="500" dirty="0">
                          <a:solidFill>
                            <a:srgbClr val="231F20"/>
                          </a:solidFill>
                          <a:latin typeface="Arial"/>
                          <a:cs typeface="Arial"/>
                        </a:rPr>
                        <a:t>&lt;10,</a:t>
                      </a:r>
                      <a:r>
                        <a:rPr sz="500" spc="-30" dirty="0">
                          <a:solidFill>
                            <a:srgbClr val="231F20"/>
                          </a:solidFill>
                          <a:latin typeface="Arial"/>
                          <a:cs typeface="Arial"/>
                        </a:rPr>
                        <a:t> </a:t>
                      </a:r>
                      <a:r>
                        <a:rPr sz="500" dirty="0">
                          <a:solidFill>
                            <a:srgbClr val="231F20"/>
                          </a:solidFill>
                          <a:latin typeface="Arial"/>
                          <a:cs typeface="Arial"/>
                        </a:rPr>
                        <a:t>A&gt;</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37465">
                        <a:lnSpc>
                          <a:spcPct val="100000"/>
                        </a:lnSpc>
                        <a:spcBef>
                          <a:spcPts val="245"/>
                        </a:spcBef>
                      </a:pPr>
                      <a:r>
                        <a:rPr sz="500" spc="-5" dirty="0">
                          <a:solidFill>
                            <a:srgbClr val="231F20"/>
                          </a:solidFill>
                          <a:latin typeface="Arial"/>
                          <a:cs typeface="Arial"/>
                        </a:rPr>
                        <a:t>d</a:t>
                      </a:r>
                      <a:r>
                        <a:rPr sz="500" spc="-20" dirty="0">
                          <a:solidFill>
                            <a:srgbClr val="231F20"/>
                          </a:solidFill>
                          <a:latin typeface="Arial"/>
                          <a:cs typeface="Arial"/>
                        </a:rPr>
                        <a:t> </a:t>
                      </a:r>
                      <a:r>
                        <a:rPr sz="500" spc="315" dirty="0">
                          <a:solidFill>
                            <a:srgbClr val="231F20"/>
                          </a:solidFill>
                          <a:latin typeface="Symbol"/>
                          <a:cs typeface="Symbol"/>
                        </a:rPr>
                        <a:t>�</a:t>
                      </a:r>
                      <a:r>
                        <a:rPr sz="500" dirty="0">
                          <a:solidFill>
                            <a:srgbClr val="231F20"/>
                          </a:solidFill>
                          <a:latin typeface="Times New Roman"/>
                          <a:cs typeface="Times New Roman"/>
                        </a:rPr>
                        <a:t> </a:t>
                      </a:r>
                      <a:r>
                        <a:rPr sz="500" spc="-5" dirty="0">
                          <a:solidFill>
                            <a:srgbClr val="231F20"/>
                          </a:solidFill>
                          <a:latin typeface="Arial"/>
                          <a:cs typeface="Arial"/>
                        </a:rPr>
                        <a:t>d</a:t>
                      </a:r>
                      <a:r>
                        <a:rPr sz="500" spc="-20" dirty="0">
                          <a:solidFill>
                            <a:srgbClr val="231F20"/>
                          </a:solidFill>
                          <a:latin typeface="Arial"/>
                          <a:cs typeface="Arial"/>
                        </a:rPr>
                        <a:t> </a:t>
                      </a:r>
                      <a:r>
                        <a:rPr sz="500" spc="-5" dirty="0">
                          <a:solidFill>
                            <a:srgbClr val="231F20"/>
                          </a:solidFill>
                          <a:latin typeface="Arial"/>
                          <a:cs typeface="Arial"/>
                        </a:rPr>
                        <a:t>+</a:t>
                      </a:r>
                      <a:r>
                        <a:rPr sz="500" spc="-15" dirty="0">
                          <a:solidFill>
                            <a:srgbClr val="231F20"/>
                          </a:solidFill>
                          <a:latin typeface="Arial"/>
                          <a:cs typeface="Arial"/>
                        </a:rPr>
                        <a:t> </a:t>
                      </a:r>
                      <a:r>
                        <a:rPr sz="500" spc="-5" dirty="0">
                          <a:solidFill>
                            <a:srgbClr val="231F20"/>
                          </a:solidFill>
                          <a:latin typeface="Arial"/>
                          <a:cs typeface="Arial"/>
                        </a:rPr>
                        <a:t>558</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3"/>
                  </a:ext>
                </a:extLst>
              </a:tr>
            </a:tbl>
          </a:graphicData>
        </a:graphic>
      </p:graphicFrame>
      <p:sp>
        <p:nvSpPr>
          <p:cNvPr id="11" name="object 11"/>
          <p:cNvSpPr txBox="1"/>
          <p:nvPr/>
        </p:nvSpPr>
        <p:spPr>
          <a:xfrm>
            <a:off x="970957" y="1061439"/>
            <a:ext cx="3962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Operation</a:t>
            </a:r>
            <a:endParaRPr sz="650">
              <a:latin typeface="Arial"/>
              <a:cs typeface="Arial"/>
            </a:endParaRPr>
          </a:p>
        </p:txBody>
      </p:sp>
      <p:sp>
        <p:nvSpPr>
          <p:cNvPr id="12" name="object 12"/>
          <p:cNvSpPr txBox="1"/>
          <p:nvPr/>
        </p:nvSpPr>
        <p:spPr>
          <a:xfrm>
            <a:off x="1690121" y="1032159"/>
            <a:ext cx="309245" cy="267335"/>
          </a:xfrm>
          <a:prstGeom prst="rect">
            <a:avLst/>
          </a:prstGeom>
        </p:spPr>
        <p:txBody>
          <a:bodyPr vert="horz" wrap="square" lIns="0" tIns="50800" rIns="0" bIns="0" rtlCol="0">
            <a:spAutoFit/>
          </a:bodyPr>
          <a:lstStyle/>
          <a:p>
            <a:pPr marL="12700">
              <a:lnSpc>
                <a:spcPct val="100000"/>
              </a:lnSpc>
              <a:spcBef>
                <a:spcPts val="400"/>
              </a:spcBef>
            </a:pPr>
            <a:r>
              <a:rPr sz="650" spc="5" dirty="0">
                <a:solidFill>
                  <a:srgbClr val="231F20"/>
                </a:solidFill>
                <a:latin typeface="Arial"/>
                <a:cs typeface="Arial"/>
              </a:rPr>
              <a:t>Result</a:t>
            </a:r>
            <a:endParaRPr sz="650">
              <a:latin typeface="Arial"/>
              <a:cs typeface="Arial"/>
            </a:endParaRPr>
          </a:p>
          <a:p>
            <a:pPr marL="13335">
              <a:lnSpc>
                <a:spcPct val="100000"/>
              </a:lnSpc>
              <a:spcBef>
                <a:spcPts val="220"/>
              </a:spcBef>
            </a:pP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g</a:t>
            </a:r>
            <a:r>
              <a:rPr sz="500" spc="-15" dirty="0">
                <a:solidFill>
                  <a:srgbClr val="231F20"/>
                </a:solidFill>
                <a:latin typeface="Arial"/>
                <a:cs typeface="Arial"/>
              </a:rPr>
              <a:t> </a:t>
            </a:r>
            <a:r>
              <a:rPr sz="500" spc="-5" dirty="0">
                <a:solidFill>
                  <a:srgbClr val="231F20"/>
                </a:solidFill>
                <a:latin typeface="Arial"/>
                <a:cs typeface="Arial"/>
              </a:rPr>
              <a:t>=</a:t>
            </a:r>
            <a:r>
              <a:rPr sz="500" spc="240" dirty="0">
                <a:solidFill>
                  <a:srgbClr val="231F20"/>
                </a:solidFill>
                <a:latin typeface="Arial"/>
                <a:cs typeface="Arial"/>
              </a:rPr>
              <a:t> </a:t>
            </a:r>
            <a:r>
              <a:rPr sz="500" spc="-5" dirty="0">
                <a:solidFill>
                  <a:srgbClr val="231F20"/>
                </a:solidFill>
                <a:latin typeface="Arial"/>
                <a:cs typeface="Arial"/>
              </a:rPr>
              <a:t>45</a:t>
            </a:r>
            <a:r>
              <a:rPr sz="500" spc="-15"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sp>
        <p:nvSpPr>
          <p:cNvPr id="13" name="object 13"/>
          <p:cNvSpPr/>
          <p:nvPr/>
        </p:nvSpPr>
        <p:spPr>
          <a:xfrm>
            <a:off x="869135" y="1076406"/>
            <a:ext cx="1196340" cy="777240"/>
          </a:xfrm>
          <a:custGeom>
            <a:avLst/>
            <a:gdLst/>
            <a:ahLst/>
            <a:cxnLst/>
            <a:rect l="l" t="t" r="r" b="b"/>
            <a:pathLst>
              <a:path w="1196339" h="777239">
                <a:moveTo>
                  <a:pt x="0" y="776880"/>
                </a:moveTo>
                <a:lnTo>
                  <a:pt x="1196308" y="776880"/>
                </a:lnTo>
                <a:lnTo>
                  <a:pt x="1196308" y="0"/>
                </a:lnTo>
                <a:lnTo>
                  <a:pt x="0" y="0"/>
                </a:lnTo>
                <a:lnTo>
                  <a:pt x="0" y="776880"/>
                </a:lnTo>
                <a:close/>
              </a:path>
            </a:pathLst>
          </a:custGeom>
          <a:ln w="5270">
            <a:solidFill>
              <a:srgbClr val="231F20"/>
            </a:solidFill>
          </a:ln>
        </p:spPr>
        <p:txBody>
          <a:bodyPr wrap="square" lIns="0" tIns="0" rIns="0" bIns="0" rtlCol="0"/>
          <a:lstStyle/>
          <a:p>
            <a:endParaRPr/>
          </a:p>
        </p:txBody>
      </p:sp>
      <p:sp>
        <p:nvSpPr>
          <p:cNvPr id="14" name="object 14"/>
          <p:cNvSpPr txBox="1"/>
          <p:nvPr/>
        </p:nvSpPr>
        <p:spPr>
          <a:xfrm>
            <a:off x="1167935" y="658088"/>
            <a:ext cx="896619" cy="358775"/>
          </a:xfrm>
          <a:prstGeom prst="rect">
            <a:avLst/>
          </a:prstGeom>
          <a:ln w="5270">
            <a:solidFill>
              <a:srgbClr val="231F20"/>
            </a:solidFill>
          </a:ln>
        </p:spPr>
        <p:txBody>
          <a:bodyPr vert="horz" wrap="square" lIns="0" tIns="45720" rIns="0" bIns="0" rtlCol="0">
            <a:spAutoFit/>
          </a:bodyPr>
          <a:lstStyle/>
          <a:p>
            <a:pPr marL="78105" marR="48260">
              <a:lnSpc>
                <a:spcPts val="740"/>
              </a:lnSpc>
              <a:spcBef>
                <a:spcPts val="360"/>
              </a:spcBef>
            </a:pPr>
            <a:r>
              <a:rPr sz="650" spc="5" dirty="0">
                <a:solidFill>
                  <a:srgbClr val="231F20"/>
                </a:solidFill>
                <a:latin typeface="Arial"/>
                <a:cs typeface="Arial"/>
              </a:rPr>
              <a:t>d</a:t>
            </a:r>
            <a:r>
              <a:rPr sz="650" spc="-10" dirty="0">
                <a:solidFill>
                  <a:srgbClr val="231F20"/>
                </a:solidFill>
                <a:latin typeface="Arial"/>
                <a:cs typeface="Arial"/>
              </a:rPr>
              <a:t> </a:t>
            </a:r>
            <a:r>
              <a:rPr sz="650" spc="5"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558 </a:t>
            </a:r>
            <a:r>
              <a:rPr sz="650" spc="155" dirty="0">
                <a:solidFill>
                  <a:srgbClr val="231F20"/>
                </a:solidFill>
                <a:latin typeface="Arial"/>
                <a:cs typeface="Arial"/>
              </a:rPr>
              <a:t> </a:t>
            </a:r>
            <a:r>
              <a:rPr sz="650"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distance </a:t>
            </a:r>
            <a:r>
              <a:rPr sz="650" spc="-170" dirty="0">
                <a:solidFill>
                  <a:srgbClr val="231F20"/>
                </a:solidFill>
                <a:latin typeface="Arial"/>
                <a:cs typeface="Arial"/>
              </a:rPr>
              <a:t> </a:t>
            </a:r>
            <a:r>
              <a:rPr sz="650" spc="5" dirty="0">
                <a:solidFill>
                  <a:srgbClr val="231F20"/>
                </a:solidFill>
                <a:latin typeface="Arial"/>
                <a:cs typeface="Arial"/>
              </a:rPr>
              <a:t>g</a:t>
            </a:r>
            <a:r>
              <a:rPr sz="650" spc="-5" dirty="0">
                <a:solidFill>
                  <a:srgbClr val="231F20"/>
                </a:solidFill>
                <a:latin typeface="Arial"/>
                <a:cs typeface="Arial"/>
              </a:rPr>
              <a:t> </a:t>
            </a:r>
            <a:r>
              <a:rPr sz="650" spc="5" dirty="0">
                <a:solidFill>
                  <a:srgbClr val="231F20"/>
                </a:solidFill>
                <a:latin typeface="Arial"/>
                <a:cs typeface="Arial"/>
              </a:rPr>
              <a:t>=</a:t>
            </a:r>
            <a:r>
              <a:rPr sz="650" spc="175" dirty="0">
                <a:solidFill>
                  <a:srgbClr val="231F20"/>
                </a:solidFill>
                <a:latin typeface="Arial"/>
                <a:cs typeface="Arial"/>
              </a:rPr>
              <a:t> </a:t>
            </a:r>
            <a:r>
              <a:rPr sz="650" spc="5" dirty="0">
                <a:solidFill>
                  <a:srgbClr val="231F20"/>
                </a:solidFill>
                <a:latin typeface="Arial"/>
                <a:cs typeface="Arial"/>
              </a:rPr>
              <a:t>95</a:t>
            </a:r>
            <a:r>
              <a:rPr sz="650" spc="170" dirty="0">
                <a:solidFill>
                  <a:srgbClr val="231F20"/>
                </a:solidFill>
                <a:latin typeface="Arial"/>
                <a:cs typeface="Arial"/>
              </a:rPr>
              <a:t> </a:t>
            </a:r>
            <a:r>
              <a:rPr sz="650" dirty="0">
                <a:solidFill>
                  <a:srgbClr val="231F20"/>
                </a:solidFill>
                <a:latin typeface="Arial"/>
                <a:cs typeface="Arial"/>
              </a:rPr>
              <a:t>//</a:t>
            </a:r>
            <a:r>
              <a:rPr sz="650" spc="-5" dirty="0">
                <a:solidFill>
                  <a:srgbClr val="231F20"/>
                </a:solidFill>
                <a:latin typeface="Arial"/>
                <a:cs typeface="Arial"/>
              </a:rPr>
              <a:t> </a:t>
            </a:r>
            <a:r>
              <a:rPr sz="650" spc="5" dirty="0">
                <a:solidFill>
                  <a:srgbClr val="231F20"/>
                </a:solidFill>
                <a:latin typeface="Arial"/>
                <a:cs typeface="Arial"/>
              </a:rPr>
              <a:t>gas</a:t>
            </a:r>
            <a:endParaRPr sz="650">
              <a:latin typeface="Arial"/>
              <a:cs typeface="Arial"/>
            </a:endParaRPr>
          </a:p>
          <a:p>
            <a:pPr marL="78105">
              <a:lnSpc>
                <a:spcPts val="725"/>
              </a:lnSpc>
            </a:pPr>
            <a:r>
              <a:rPr sz="650" spc="5" dirty="0">
                <a:solidFill>
                  <a:srgbClr val="231F20"/>
                </a:solidFill>
                <a:latin typeface="Arial"/>
                <a:cs typeface="Arial"/>
              </a:rPr>
              <a:t>p</a:t>
            </a:r>
            <a:r>
              <a:rPr sz="650" spc="-10" dirty="0">
                <a:solidFill>
                  <a:srgbClr val="231F20"/>
                </a:solidFill>
                <a:latin typeface="Arial"/>
                <a:cs typeface="Arial"/>
              </a:rPr>
              <a:t> </a:t>
            </a:r>
            <a:r>
              <a:rPr sz="650" spc="5" dirty="0">
                <a:solidFill>
                  <a:srgbClr val="231F20"/>
                </a:solidFill>
                <a:latin typeface="Arial"/>
                <a:cs typeface="Arial"/>
              </a:rPr>
              <a:t>= </a:t>
            </a:r>
            <a:r>
              <a:rPr sz="650" spc="165" dirty="0">
                <a:solidFill>
                  <a:srgbClr val="231F20"/>
                </a:solidFill>
                <a:latin typeface="Arial"/>
                <a:cs typeface="Arial"/>
              </a:rPr>
              <a:t> </a:t>
            </a:r>
            <a:r>
              <a:rPr sz="650" spc="5" dirty="0">
                <a:solidFill>
                  <a:srgbClr val="231F20"/>
                </a:solidFill>
                <a:latin typeface="Arial"/>
                <a:cs typeface="Arial"/>
              </a:rPr>
              <a:t>78  </a:t>
            </a:r>
            <a:r>
              <a:rPr sz="650" spc="155" dirty="0">
                <a:solidFill>
                  <a:srgbClr val="231F20"/>
                </a:solidFill>
                <a:latin typeface="Arial"/>
                <a:cs typeface="Arial"/>
              </a:rPr>
              <a:t> </a:t>
            </a:r>
            <a:r>
              <a:rPr sz="650"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price</a:t>
            </a:r>
            <a:endParaRPr sz="650">
              <a:latin typeface="Arial"/>
              <a:cs typeface="Arial"/>
            </a:endParaRPr>
          </a:p>
        </p:txBody>
      </p:sp>
      <p:sp>
        <p:nvSpPr>
          <p:cNvPr id="15" name="object 15"/>
          <p:cNvSpPr txBox="1"/>
          <p:nvPr/>
        </p:nvSpPr>
        <p:spPr>
          <a:xfrm>
            <a:off x="917153" y="771814"/>
            <a:ext cx="2222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Conit</a:t>
            </a:r>
            <a:endParaRPr sz="650">
              <a:latin typeface="Arial"/>
              <a:cs typeface="Arial"/>
            </a:endParaRPr>
          </a:p>
        </p:txBody>
      </p:sp>
      <p:sp>
        <p:nvSpPr>
          <p:cNvPr id="16" name="object 16"/>
          <p:cNvSpPr txBox="1"/>
          <p:nvPr/>
        </p:nvSpPr>
        <p:spPr>
          <a:xfrm>
            <a:off x="3364390" y="1349398"/>
            <a:ext cx="326390" cy="101600"/>
          </a:xfrm>
          <a:prstGeom prst="rect">
            <a:avLst/>
          </a:prstGeom>
        </p:spPr>
        <p:txBody>
          <a:bodyPr vert="horz" wrap="square" lIns="0" tIns="12065" rIns="0" bIns="0" rtlCol="0">
            <a:spAutoFit/>
          </a:bodyPr>
          <a:lstStyle/>
          <a:p>
            <a:pPr marL="12700">
              <a:lnSpc>
                <a:spcPct val="100000"/>
              </a:lnSpc>
              <a:spcBef>
                <a:spcPts val="95"/>
              </a:spcBef>
            </a:pPr>
            <a:r>
              <a:rPr sz="500" spc="-5" dirty="0">
                <a:solidFill>
                  <a:srgbClr val="231F20"/>
                </a:solidFill>
                <a:latin typeface="Arial"/>
                <a:cs typeface="Arial"/>
              </a:rPr>
              <a:t>[</a:t>
            </a:r>
            <a:r>
              <a:rPr sz="500" spc="-15" dirty="0">
                <a:solidFill>
                  <a:srgbClr val="231F20"/>
                </a:solidFill>
                <a:latin typeface="Arial"/>
                <a:cs typeface="Arial"/>
              </a:rPr>
              <a:t> </a:t>
            </a:r>
            <a:r>
              <a:rPr sz="500" spc="-5" dirty="0">
                <a:solidFill>
                  <a:srgbClr val="231F20"/>
                </a:solidFill>
                <a:latin typeface="Arial"/>
                <a:cs typeface="Arial"/>
              </a:rPr>
              <a:t>p</a:t>
            </a:r>
            <a:r>
              <a:rPr sz="500" spc="-15" dirty="0">
                <a:solidFill>
                  <a:srgbClr val="231F20"/>
                </a:solidFill>
                <a:latin typeface="Arial"/>
                <a:cs typeface="Arial"/>
              </a:rPr>
              <a:t> </a:t>
            </a:r>
            <a:r>
              <a:rPr sz="500" spc="-5" dirty="0">
                <a:solidFill>
                  <a:srgbClr val="231F20"/>
                </a:solidFill>
                <a:latin typeface="Arial"/>
                <a:cs typeface="Arial"/>
              </a:rPr>
              <a:t>=</a:t>
            </a:r>
            <a:r>
              <a:rPr sz="500" spc="370" dirty="0">
                <a:solidFill>
                  <a:srgbClr val="231F20"/>
                </a:solidFill>
                <a:latin typeface="Arial"/>
                <a:cs typeface="Arial"/>
              </a:rPr>
              <a:t> </a:t>
            </a:r>
            <a:r>
              <a:rPr sz="500" spc="-5" dirty="0">
                <a:solidFill>
                  <a:srgbClr val="231F20"/>
                </a:solidFill>
                <a:latin typeface="Arial"/>
                <a:cs typeface="Arial"/>
              </a:rPr>
              <a:t>70</a:t>
            </a:r>
            <a:r>
              <a:rPr sz="500" spc="-15"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sp>
        <p:nvSpPr>
          <p:cNvPr id="17" name="object 17"/>
          <p:cNvSpPr txBox="1"/>
          <p:nvPr/>
        </p:nvSpPr>
        <p:spPr>
          <a:xfrm>
            <a:off x="3363139" y="1496408"/>
            <a:ext cx="326390" cy="101600"/>
          </a:xfrm>
          <a:prstGeom prst="rect">
            <a:avLst/>
          </a:prstGeom>
        </p:spPr>
        <p:txBody>
          <a:bodyPr vert="horz" wrap="square" lIns="0" tIns="12065" rIns="0" bIns="0" rtlCol="0">
            <a:spAutoFit/>
          </a:bodyPr>
          <a:lstStyle/>
          <a:p>
            <a:pPr marL="12700">
              <a:lnSpc>
                <a:spcPct val="100000"/>
              </a:lnSpc>
              <a:spcBef>
                <a:spcPts val="95"/>
              </a:spcBef>
            </a:pP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d</a:t>
            </a:r>
            <a:r>
              <a:rPr sz="500" spc="-15" dirty="0">
                <a:solidFill>
                  <a:srgbClr val="231F20"/>
                </a:solidFill>
                <a:latin typeface="Arial"/>
                <a:cs typeface="Arial"/>
              </a:rPr>
              <a:t> </a:t>
            </a:r>
            <a:r>
              <a:rPr sz="500" spc="-5" dirty="0">
                <a:solidFill>
                  <a:srgbClr val="231F20"/>
                </a:solidFill>
                <a:latin typeface="Arial"/>
                <a:cs typeface="Arial"/>
              </a:rPr>
              <a:t>=</a:t>
            </a:r>
            <a:r>
              <a:rPr sz="500" spc="110" dirty="0">
                <a:solidFill>
                  <a:srgbClr val="231F20"/>
                </a:solidFill>
                <a:latin typeface="Arial"/>
                <a:cs typeface="Arial"/>
              </a:rPr>
              <a:t> </a:t>
            </a:r>
            <a:r>
              <a:rPr sz="500" spc="-5" dirty="0">
                <a:solidFill>
                  <a:srgbClr val="231F20"/>
                </a:solidFill>
                <a:latin typeface="Arial"/>
                <a:cs typeface="Arial"/>
              </a:rPr>
              <a:t>412</a:t>
            </a:r>
            <a:r>
              <a:rPr sz="500" spc="-20"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graphicFrame>
        <p:nvGraphicFramePr>
          <p:cNvPr id="18" name="object 18"/>
          <p:cNvGraphicFramePr>
            <a:graphicFrameLocks noGrp="1"/>
          </p:cNvGraphicFramePr>
          <p:nvPr/>
        </p:nvGraphicFramePr>
        <p:xfrm>
          <a:off x="2600166" y="1193287"/>
          <a:ext cx="695960" cy="412115"/>
        </p:xfrm>
        <a:graphic>
          <a:graphicData uri="http://schemas.openxmlformats.org/drawingml/2006/table">
            <a:tbl>
              <a:tblPr firstRow="1" bandRow="1">
                <a:tableStyleId>{2D5ABB26-0587-4C30-8999-92F81FD0307C}</a:tableStyleId>
              </a:tblPr>
              <a:tblGrid>
                <a:gridCol w="265430">
                  <a:extLst>
                    <a:ext uri="{9D8B030D-6E8A-4147-A177-3AD203B41FA5}">
                      <a16:colId xmlns:a16="http://schemas.microsoft.com/office/drawing/2014/main" val="20000"/>
                    </a:ext>
                  </a:extLst>
                </a:gridCol>
                <a:gridCol w="430530">
                  <a:extLst>
                    <a:ext uri="{9D8B030D-6E8A-4147-A177-3AD203B41FA5}">
                      <a16:colId xmlns:a16="http://schemas.microsoft.com/office/drawing/2014/main" val="20001"/>
                    </a:ext>
                  </a:extLst>
                </a:gridCol>
              </a:tblGrid>
              <a:tr h="132715">
                <a:tc>
                  <a:txBody>
                    <a:bodyPr/>
                    <a:lstStyle/>
                    <a:p>
                      <a:pPr marR="12065" algn="r">
                        <a:lnSpc>
                          <a:spcPct val="100000"/>
                        </a:lnSpc>
                        <a:spcBef>
                          <a:spcPts val="95"/>
                        </a:spcBef>
                      </a:pPr>
                      <a:r>
                        <a:rPr sz="500" spc="-5" dirty="0">
                          <a:solidFill>
                            <a:srgbClr val="231F20"/>
                          </a:solidFill>
                          <a:latin typeface="Arial"/>
                          <a:cs typeface="Arial"/>
                        </a:rPr>
                        <a:t>&lt;</a:t>
                      </a:r>
                      <a:r>
                        <a:rPr sz="500" spc="95" dirty="0">
                          <a:solidFill>
                            <a:srgbClr val="231F20"/>
                          </a:solidFill>
                          <a:latin typeface="Arial"/>
                          <a:cs typeface="Arial"/>
                        </a:rPr>
                        <a:t> </a:t>
                      </a:r>
                      <a:r>
                        <a:rPr sz="500" spc="-5" dirty="0">
                          <a:solidFill>
                            <a:srgbClr val="231F20"/>
                          </a:solidFill>
                          <a:latin typeface="Arial"/>
                          <a:cs typeface="Arial"/>
                        </a:rPr>
                        <a:t>5,</a:t>
                      </a:r>
                      <a:r>
                        <a:rPr sz="500" spc="-25" dirty="0">
                          <a:solidFill>
                            <a:srgbClr val="231F20"/>
                          </a:solidFill>
                          <a:latin typeface="Arial"/>
                          <a:cs typeface="Arial"/>
                        </a:rPr>
                        <a:t> </a:t>
                      </a:r>
                      <a:r>
                        <a:rPr sz="500" spc="-5" dirty="0">
                          <a:solidFill>
                            <a:srgbClr val="231F20"/>
                          </a:solidFill>
                          <a:latin typeface="Arial"/>
                          <a:cs typeface="Arial"/>
                        </a:rPr>
                        <a:t>B&gt;</a:t>
                      </a:r>
                      <a:endParaRPr sz="500">
                        <a:latin typeface="Arial"/>
                        <a:cs typeface="Arial"/>
                      </a:endParaRPr>
                    </a:p>
                  </a:txBody>
                  <a:tcPr marL="0" marR="0" marT="1206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D1D3D4"/>
                    </a:solidFill>
                  </a:tcPr>
                </a:tc>
                <a:tc>
                  <a:txBody>
                    <a:bodyPr/>
                    <a:lstStyle/>
                    <a:p>
                      <a:pPr marR="33020" algn="ctr">
                        <a:lnSpc>
                          <a:spcPct val="100000"/>
                        </a:lnSpc>
                        <a:spcBef>
                          <a:spcPts val="95"/>
                        </a:spcBef>
                      </a:pPr>
                      <a:r>
                        <a:rPr sz="500" spc="-5" dirty="0">
                          <a:solidFill>
                            <a:srgbClr val="231F20"/>
                          </a:solidFill>
                          <a:latin typeface="Arial"/>
                          <a:cs typeface="Arial"/>
                        </a:rPr>
                        <a:t>g</a:t>
                      </a:r>
                      <a:r>
                        <a:rPr sz="500" spc="-20" dirty="0">
                          <a:solidFill>
                            <a:srgbClr val="231F20"/>
                          </a:solidFill>
                          <a:latin typeface="Arial"/>
                          <a:cs typeface="Arial"/>
                        </a:rPr>
                        <a:t> </a:t>
                      </a:r>
                      <a:r>
                        <a:rPr sz="500" spc="315" dirty="0">
                          <a:solidFill>
                            <a:srgbClr val="231F20"/>
                          </a:solidFill>
                          <a:latin typeface="Symbol"/>
                          <a:cs typeface="Symbol"/>
                        </a:rPr>
                        <a:t>�</a:t>
                      </a:r>
                      <a:r>
                        <a:rPr sz="500" spc="-5" dirty="0">
                          <a:solidFill>
                            <a:srgbClr val="231F20"/>
                          </a:solidFill>
                          <a:latin typeface="Times New Roman"/>
                          <a:cs typeface="Times New Roman"/>
                        </a:rPr>
                        <a:t> </a:t>
                      </a:r>
                      <a:r>
                        <a:rPr sz="500" spc="-5" dirty="0">
                          <a:solidFill>
                            <a:srgbClr val="231F20"/>
                          </a:solidFill>
                          <a:latin typeface="Arial"/>
                          <a:cs typeface="Arial"/>
                        </a:rPr>
                        <a:t>g</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45</a:t>
                      </a:r>
                      <a:endParaRPr sz="500">
                        <a:latin typeface="Arial"/>
                        <a:cs typeface="Arial"/>
                      </a:endParaRPr>
                    </a:p>
                  </a:txBody>
                  <a:tcPr marL="0" marR="0" marT="1206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D1D3D4"/>
                    </a:solidFill>
                  </a:tcPr>
                </a:tc>
                <a:extLst>
                  <a:ext uri="{0D108BD9-81ED-4DB2-BD59-A6C34878D82A}">
                    <a16:rowId xmlns:a16="http://schemas.microsoft.com/office/drawing/2014/main" val="10000"/>
                  </a:ext>
                </a:extLst>
              </a:tr>
              <a:tr h="149225">
                <a:tc>
                  <a:txBody>
                    <a:bodyPr/>
                    <a:lstStyle/>
                    <a:p>
                      <a:pPr marR="12065" algn="r">
                        <a:lnSpc>
                          <a:spcPct val="100000"/>
                        </a:lnSpc>
                        <a:spcBef>
                          <a:spcPts val="245"/>
                        </a:spcBef>
                      </a:pPr>
                      <a:r>
                        <a:rPr sz="500" spc="-5" dirty="0">
                          <a:solidFill>
                            <a:srgbClr val="231F20"/>
                          </a:solidFill>
                          <a:latin typeface="Arial"/>
                          <a:cs typeface="Arial"/>
                        </a:rPr>
                        <a:t>&lt;</a:t>
                      </a:r>
                      <a:r>
                        <a:rPr sz="500" spc="95" dirty="0">
                          <a:solidFill>
                            <a:srgbClr val="231F20"/>
                          </a:solidFill>
                          <a:latin typeface="Arial"/>
                          <a:cs typeface="Arial"/>
                        </a:rPr>
                        <a:t> </a:t>
                      </a:r>
                      <a:r>
                        <a:rPr sz="500" spc="-5" dirty="0">
                          <a:solidFill>
                            <a:srgbClr val="231F20"/>
                          </a:solidFill>
                          <a:latin typeface="Arial"/>
                          <a:cs typeface="Arial"/>
                        </a:rPr>
                        <a:t>6,</a:t>
                      </a:r>
                      <a:r>
                        <a:rPr sz="500" spc="-25" dirty="0">
                          <a:solidFill>
                            <a:srgbClr val="231F20"/>
                          </a:solidFill>
                          <a:latin typeface="Arial"/>
                          <a:cs typeface="Arial"/>
                        </a:rPr>
                        <a:t> </a:t>
                      </a:r>
                      <a:r>
                        <a:rPr sz="500" spc="-5" dirty="0">
                          <a:solidFill>
                            <a:srgbClr val="231F20"/>
                          </a:solidFill>
                          <a:latin typeface="Arial"/>
                          <a:cs typeface="Arial"/>
                        </a:rPr>
                        <a:t>B&gt;</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D1D3D4"/>
                    </a:solidFill>
                  </a:tcPr>
                </a:tc>
                <a:tc>
                  <a:txBody>
                    <a:bodyPr/>
                    <a:lstStyle/>
                    <a:p>
                      <a:pPr marR="35560" algn="ctr">
                        <a:lnSpc>
                          <a:spcPct val="100000"/>
                        </a:lnSpc>
                        <a:spcBef>
                          <a:spcPts val="245"/>
                        </a:spcBef>
                      </a:pPr>
                      <a:r>
                        <a:rPr sz="500" spc="-5" dirty="0">
                          <a:solidFill>
                            <a:srgbClr val="231F20"/>
                          </a:solidFill>
                          <a:latin typeface="Arial"/>
                          <a:cs typeface="Arial"/>
                        </a:rPr>
                        <a:t>p</a:t>
                      </a:r>
                      <a:r>
                        <a:rPr sz="500" spc="-20" dirty="0">
                          <a:solidFill>
                            <a:srgbClr val="231F20"/>
                          </a:solidFill>
                          <a:latin typeface="Arial"/>
                          <a:cs typeface="Arial"/>
                        </a:rPr>
                        <a:t> </a:t>
                      </a:r>
                      <a:r>
                        <a:rPr sz="500" spc="315" dirty="0">
                          <a:solidFill>
                            <a:srgbClr val="231F20"/>
                          </a:solidFill>
                          <a:latin typeface="Symbol"/>
                          <a:cs typeface="Symbol"/>
                        </a:rPr>
                        <a:t>�</a:t>
                      </a:r>
                      <a:r>
                        <a:rPr sz="500" spc="-5" dirty="0">
                          <a:solidFill>
                            <a:srgbClr val="231F20"/>
                          </a:solidFill>
                          <a:latin typeface="Times New Roman"/>
                          <a:cs typeface="Times New Roman"/>
                        </a:rPr>
                        <a:t> </a:t>
                      </a:r>
                      <a:r>
                        <a:rPr sz="500" spc="-5" dirty="0">
                          <a:solidFill>
                            <a:srgbClr val="231F20"/>
                          </a:solidFill>
                          <a:latin typeface="Arial"/>
                          <a:cs typeface="Arial"/>
                        </a:rPr>
                        <a:t>p</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70</a:t>
                      </a:r>
                      <a:endParaRPr sz="500">
                        <a:latin typeface="Arial"/>
                        <a:cs typeface="Arial"/>
                      </a:endParaRPr>
                    </a:p>
                  </a:txBody>
                  <a:tcPr marL="0" marR="0" marT="311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D1D3D4"/>
                    </a:solidFill>
                  </a:tcPr>
                </a:tc>
                <a:extLst>
                  <a:ext uri="{0D108BD9-81ED-4DB2-BD59-A6C34878D82A}">
                    <a16:rowId xmlns:a16="http://schemas.microsoft.com/office/drawing/2014/main" val="10001"/>
                  </a:ext>
                </a:extLst>
              </a:tr>
              <a:tr h="130175">
                <a:tc>
                  <a:txBody>
                    <a:bodyPr/>
                    <a:lstStyle/>
                    <a:p>
                      <a:pPr marR="13335" algn="r">
                        <a:lnSpc>
                          <a:spcPct val="100000"/>
                        </a:lnSpc>
                        <a:spcBef>
                          <a:spcPts val="225"/>
                        </a:spcBef>
                      </a:pPr>
                      <a:r>
                        <a:rPr sz="500" spc="-5" dirty="0">
                          <a:solidFill>
                            <a:srgbClr val="231F20"/>
                          </a:solidFill>
                          <a:latin typeface="Arial"/>
                          <a:cs typeface="Arial"/>
                        </a:rPr>
                        <a:t>&lt;</a:t>
                      </a:r>
                      <a:r>
                        <a:rPr sz="500" spc="95" dirty="0">
                          <a:solidFill>
                            <a:srgbClr val="231F20"/>
                          </a:solidFill>
                          <a:latin typeface="Arial"/>
                          <a:cs typeface="Arial"/>
                        </a:rPr>
                        <a:t> </a:t>
                      </a:r>
                      <a:r>
                        <a:rPr sz="500" spc="-5" dirty="0">
                          <a:solidFill>
                            <a:srgbClr val="231F20"/>
                          </a:solidFill>
                          <a:latin typeface="Arial"/>
                          <a:cs typeface="Arial"/>
                        </a:rPr>
                        <a:t>7,</a:t>
                      </a:r>
                      <a:r>
                        <a:rPr sz="500" spc="-25" dirty="0">
                          <a:solidFill>
                            <a:srgbClr val="231F20"/>
                          </a:solidFill>
                          <a:latin typeface="Arial"/>
                          <a:cs typeface="Arial"/>
                        </a:rPr>
                        <a:t> </a:t>
                      </a:r>
                      <a:r>
                        <a:rPr sz="500" spc="-5" dirty="0">
                          <a:solidFill>
                            <a:srgbClr val="231F20"/>
                          </a:solidFill>
                          <a:latin typeface="Arial"/>
                          <a:cs typeface="Arial"/>
                        </a:rPr>
                        <a:t>B&gt;</a:t>
                      </a:r>
                      <a:endParaRPr sz="500">
                        <a:latin typeface="Arial"/>
                        <a:cs typeface="Arial"/>
                      </a:endParaRPr>
                    </a:p>
                  </a:txBody>
                  <a:tcPr marL="0" marR="0" marT="285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R="3175" algn="ctr">
                        <a:lnSpc>
                          <a:spcPct val="100000"/>
                        </a:lnSpc>
                        <a:spcBef>
                          <a:spcPts val="225"/>
                        </a:spcBef>
                      </a:pPr>
                      <a:r>
                        <a:rPr sz="500" spc="-5" dirty="0">
                          <a:solidFill>
                            <a:srgbClr val="231F20"/>
                          </a:solidFill>
                          <a:latin typeface="Arial"/>
                          <a:cs typeface="Arial"/>
                        </a:rPr>
                        <a:t>d</a:t>
                      </a:r>
                      <a:r>
                        <a:rPr sz="500" spc="-20" dirty="0">
                          <a:solidFill>
                            <a:srgbClr val="231F20"/>
                          </a:solidFill>
                          <a:latin typeface="Arial"/>
                          <a:cs typeface="Arial"/>
                        </a:rPr>
                        <a:t> </a:t>
                      </a:r>
                      <a:r>
                        <a:rPr sz="500" spc="315" dirty="0">
                          <a:solidFill>
                            <a:srgbClr val="231F20"/>
                          </a:solidFill>
                          <a:latin typeface="Symbol"/>
                          <a:cs typeface="Symbol"/>
                        </a:rPr>
                        <a:t>�</a:t>
                      </a:r>
                      <a:r>
                        <a:rPr sz="500" spc="-5" dirty="0">
                          <a:solidFill>
                            <a:srgbClr val="231F20"/>
                          </a:solidFill>
                          <a:latin typeface="Times New Roman"/>
                          <a:cs typeface="Times New Roman"/>
                        </a:rPr>
                        <a:t> </a:t>
                      </a:r>
                      <a:r>
                        <a:rPr sz="500" spc="-5" dirty="0">
                          <a:solidFill>
                            <a:srgbClr val="231F20"/>
                          </a:solidFill>
                          <a:latin typeface="Arial"/>
                          <a:cs typeface="Arial"/>
                        </a:rPr>
                        <a:t>d</a:t>
                      </a:r>
                      <a:r>
                        <a:rPr sz="500" spc="-20" dirty="0">
                          <a:solidFill>
                            <a:srgbClr val="231F20"/>
                          </a:solidFill>
                          <a:latin typeface="Arial"/>
                          <a:cs typeface="Arial"/>
                        </a:rPr>
                        <a:t> </a:t>
                      </a:r>
                      <a:r>
                        <a:rPr sz="500" spc="-5" dirty="0">
                          <a:solidFill>
                            <a:srgbClr val="231F20"/>
                          </a:solidFill>
                          <a:latin typeface="Arial"/>
                          <a:cs typeface="Arial"/>
                        </a:rPr>
                        <a:t>+</a:t>
                      </a:r>
                      <a:r>
                        <a:rPr sz="500" spc="-20" dirty="0">
                          <a:solidFill>
                            <a:srgbClr val="231F20"/>
                          </a:solidFill>
                          <a:latin typeface="Arial"/>
                          <a:cs typeface="Arial"/>
                        </a:rPr>
                        <a:t> </a:t>
                      </a:r>
                      <a:r>
                        <a:rPr sz="500" spc="-5" dirty="0">
                          <a:solidFill>
                            <a:srgbClr val="231F20"/>
                          </a:solidFill>
                          <a:latin typeface="Arial"/>
                          <a:cs typeface="Arial"/>
                        </a:rPr>
                        <a:t>412</a:t>
                      </a:r>
                      <a:endParaRPr sz="500">
                        <a:latin typeface="Arial"/>
                        <a:cs typeface="Arial"/>
                      </a:endParaRPr>
                    </a:p>
                  </a:txBody>
                  <a:tcPr marL="0" marR="0" marT="2857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bl>
          </a:graphicData>
        </a:graphic>
      </p:graphicFrame>
      <p:sp>
        <p:nvSpPr>
          <p:cNvPr id="19" name="object 19"/>
          <p:cNvSpPr txBox="1"/>
          <p:nvPr/>
        </p:nvSpPr>
        <p:spPr>
          <a:xfrm>
            <a:off x="2645487" y="1061444"/>
            <a:ext cx="3962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Operation</a:t>
            </a:r>
            <a:endParaRPr sz="650">
              <a:latin typeface="Arial"/>
              <a:cs typeface="Arial"/>
            </a:endParaRPr>
          </a:p>
        </p:txBody>
      </p:sp>
      <p:sp>
        <p:nvSpPr>
          <p:cNvPr id="20" name="object 20"/>
          <p:cNvSpPr txBox="1"/>
          <p:nvPr/>
        </p:nvSpPr>
        <p:spPr>
          <a:xfrm>
            <a:off x="3364651" y="1032169"/>
            <a:ext cx="327025" cy="266700"/>
          </a:xfrm>
          <a:prstGeom prst="rect">
            <a:avLst/>
          </a:prstGeom>
        </p:spPr>
        <p:txBody>
          <a:bodyPr vert="horz" wrap="square" lIns="0" tIns="50800" rIns="0" bIns="0" rtlCol="0">
            <a:spAutoFit/>
          </a:bodyPr>
          <a:lstStyle/>
          <a:p>
            <a:pPr marL="12700">
              <a:lnSpc>
                <a:spcPct val="100000"/>
              </a:lnSpc>
              <a:spcBef>
                <a:spcPts val="400"/>
              </a:spcBef>
            </a:pPr>
            <a:r>
              <a:rPr sz="650" spc="5" dirty="0">
                <a:solidFill>
                  <a:srgbClr val="231F20"/>
                </a:solidFill>
                <a:latin typeface="Arial"/>
                <a:cs typeface="Arial"/>
              </a:rPr>
              <a:t>Result</a:t>
            </a:r>
            <a:endParaRPr sz="650">
              <a:latin typeface="Arial"/>
              <a:cs typeface="Arial"/>
            </a:endParaRPr>
          </a:p>
          <a:p>
            <a:pPr marL="13335">
              <a:lnSpc>
                <a:spcPct val="100000"/>
              </a:lnSpc>
              <a:spcBef>
                <a:spcPts val="220"/>
              </a:spcBef>
            </a:pPr>
            <a:r>
              <a:rPr sz="500" spc="-5" dirty="0">
                <a:solidFill>
                  <a:srgbClr val="231F20"/>
                </a:solidFill>
                <a:latin typeface="Arial"/>
                <a:cs typeface="Arial"/>
              </a:rPr>
              <a:t>[</a:t>
            </a:r>
            <a:r>
              <a:rPr sz="500" spc="-15" dirty="0">
                <a:solidFill>
                  <a:srgbClr val="231F20"/>
                </a:solidFill>
                <a:latin typeface="Arial"/>
                <a:cs typeface="Arial"/>
              </a:rPr>
              <a:t> </a:t>
            </a:r>
            <a:r>
              <a:rPr sz="500" spc="-5" dirty="0">
                <a:solidFill>
                  <a:srgbClr val="231F20"/>
                </a:solidFill>
                <a:latin typeface="Arial"/>
                <a:cs typeface="Arial"/>
              </a:rPr>
              <a:t>g</a:t>
            </a:r>
            <a:r>
              <a:rPr sz="500" spc="-15" dirty="0">
                <a:solidFill>
                  <a:srgbClr val="231F20"/>
                </a:solidFill>
                <a:latin typeface="Arial"/>
                <a:cs typeface="Arial"/>
              </a:rPr>
              <a:t> </a:t>
            </a:r>
            <a:r>
              <a:rPr sz="500" spc="-5" dirty="0">
                <a:solidFill>
                  <a:srgbClr val="231F20"/>
                </a:solidFill>
                <a:latin typeface="Arial"/>
                <a:cs typeface="Arial"/>
              </a:rPr>
              <a:t>=</a:t>
            </a:r>
            <a:r>
              <a:rPr sz="500" spc="370" dirty="0">
                <a:solidFill>
                  <a:srgbClr val="231F20"/>
                </a:solidFill>
                <a:latin typeface="Arial"/>
                <a:cs typeface="Arial"/>
              </a:rPr>
              <a:t> </a:t>
            </a:r>
            <a:r>
              <a:rPr sz="500" spc="-5" dirty="0">
                <a:solidFill>
                  <a:srgbClr val="231F20"/>
                </a:solidFill>
                <a:latin typeface="Arial"/>
                <a:cs typeface="Arial"/>
              </a:rPr>
              <a:t>45</a:t>
            </a:r>
            <a:r>
              <a:rPr sz="500" spc="-15" dirty="0">
                <a:solidFill>
                  <a:srgbClr val="231F20"/>
                </a:solidFill>
                <a:latin typeface="Arial"/>
                <a:cs typeface="Arial"/>
              </a:rPr>
              <a:t> </a:t>
            </a:r>
            <a:r>
              <a:rPr sz="500" spc="-5" dirty="0">
                <a:solidFill>
                  <a:srgbClr val="231F20"/>
                </a:solidFill>
                <a:latin typeface="Arial"/>
                <a:cs typeface="Arial"/>
              </a:rPr>
              <a:t>]</a:t>
            </a:r>
            <a:endParaRPr sz="500">
              <a:latin typeface="Arial"/>
              <a:cs typeface="Arial"/>
            </a:endParaRPr>
          </a:p>
        </p:txBody>
      </p:sp>
      <p:sp>
        <p:nvSpPr>
          <p:cNvPr id="21" name="object 21"/>
          <p:cNvSpPr/>
          <p:nvPr/>
        </p:nvSpPr>
        <p:spPr>
          <a:xfrm>
            <a:off x="2543666" y="1076406"/>
            <a:ext cx="1196340" cy="777240"/>
          </a:xfrm>
          <a:custGeom>
            <a:avLst/>
            <a:gdLst/>
            <a:ahLst/>
            <a:cxnLst/>
            <a:rect l="l" t="t" r="r" b="b"/>
            <a:pathLst>
              <a:path w="1196339" h="777239">
                <a:moveTo>
                  <a:pt x="0" y="776880"/>
                </a:moveTo>
                <a:lnTo>
                  <a:pt x="1196308" y="776880"/>
                </a:lnTo>
                <a:lnTo>
                  <a:pt x="1196308" y="0"/>
                </a:lnTo>
                <a:lnTo>
                  <a:pt x="0" y="0"/>
                </a:lnTo>
                <a:lnTo>
                  <a:pt x="0" y="776880"/>
                </a:lnTo>
                <a:close/>
              </a:path>
            </a:pathLst>
          </a:custGeom>
          <a:ln w="5270">
            <a:solidFill>
              <a:srgbClr val="231F20"/>
            </a:solidFill>
          </a:ln>
        </p:spPr>
        <p:txBody>
          <a:bodyPr wrap="square" lIns="0" tIns="0" rIns="0" bIns="0" rtlCol="0"/>
          <a:lstStyle/>
          <a:p>
            <a:endParaRPr/>
          </a:p>
        </p:txBody>
      </p:sp>
      <p:sp>
        <p:nvSpPr>
          <p:cNvPr id="22" name="object 22"/>
          <p:cNvSpPr txBox="1"/>
          <p:nvPr/>
        </p:nvSpPr>
        <p:spPr>
          <a:xfrm>
            <a:off x="2841207" y="658088"/>
            <a:ext cx="897890" cy="358775"/>
          </a:xfrm>
          <a:prstGeom prst="rect">
            <a:avLst/>
          </a:prstGeom>
          <a:ln w="5270">
            <a:solidFill>
              <a:srgbClr val="231F20"/>
            </a:solidFill>
          </a:ln>
        </p:spPr>
        <p:txBody>
          <a:bodyPr vert="horz" wrap="square" lIns="0" tIns="45720" rIns="0" bIns="0" rtlCol="0">
            <a:spAutoFit/>
          </a:bodyPr>
          <a:lstStyle/>
          <a:p>
            <a:pPr marL="78105" marR="49530">
              <a:lnSpc>
                <a:spcPts val="740"/>
              </a:lnSpc>
              <a:spcBef>
                <a:spcPts val="360"/>
              </a:spcBef>
            </a:pPr>
            <a:r>
              <a:rPr sz="650" spc="5" dirty="0">
                <a:solidFill>
                  <a:srgbClr val="231F20"/>
                </a:solidFill>
                <a:latin typeface="Arial"/>
                <a:cs typeface="Arial"/>
              </a:rPr>
              <a:t>d</a:t>
            </a:r>
            <a:r>
              <a:rPr sz="650" spc="-10" dirty="0">
                <a:solidFill>
                  <a:srgbClr val="231F20"/>
                </a:solidFill>
                <a:latin typeface="Arial"/>
                <a:cs typeface="Arial"/>
              </a:rPr>
              <a:t> </a:t>
            </a:r>
            <a:r>
              <a:rPr sz="650" spc="5"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412 </a:t>
            </a:r>
            <a:r>
              <a:rPr sz="650" spc="155" dirty="0">
                <a:solidFill>
                  <a:srgbClr val="231F20"/>
                </a:solidFill>
                <a:latin typeface="Arial"/>
                <a:cs typeface="Arial"/>
              </a:rPr>
              <a:t> </a:t>
            </a:r>
            <a:r>
              <a:rPr sz="650"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distance </a:t>
            </a:r>
            <a:r>
              <a:rPr sz="650" spc="-170" dirty="0">
                <a:solidFill>
                  <a:srgbClr val="231F20"/>
                </a:solidFill>
                <a:latin typeface="Arial"/>
                <a:cs typeface="Arial"/>
              </a:rPr>
              <a:t> </a:t>
            </a:r>
            <a:r>
              <a:rPr sz="650" spc="5" dirty="0">
                <a:solidFill>
                  <a:srgbClr val="231F20"/>
                </a:solidFill>
                <a:latin typeface="Arial"/>
                <a:cs typeface="Arial"/>
              </a:rPr>
              <a:t>g</a:t>
            </a:r>
            <a:r>
              <a:rPr sz="650" spc="-5" dirty="0">
                <a:solidFill>
                  <a:srgbClr val="231F20"/>
                </a:solidFill>
                <a:latin typeface="Arial"/>
                <a:cs typeface="Arial"/>
              </a:rPr>
              <a:t> </a:t>
            </a:r>
            <a:r>
              <a:rPr sz="650" spc="5" dirty="0">
                <a:solidFill>
                  <a:srgbClr val="231F20"/>
                </a:solidFill>
                <a:latin typeface="Arial"/>
                <a:cs typeface="Arial"/>
              </a:rPr>
              <a:t>=</a:t>
            </a:r>
            <a:r>
              <a:rPr sz="650" spc="175" dirty="0">
                <a:solidFill>
                  <a:srgbClr val="231F20"/>
                </a:solidFill>
                <a:latin typeface="Arial"/>
                <a:cs typeface="Arial"/>
              </a:rPr>
              <a:t> </a:t>
            </a:r>
            <a:r>
              <a:rPr sz="650" spc="5" dirty="0">
                <a:solidFill>
                  <a:srgbClr val="231F20"/>
                </a:solidFill>
                <a:latin typeface="Arial"/>
                <a:cs typeface="Arial"/>
              </a:rPr>
              <a:t>45</a:t>
            </a:r>
            <a:r>
              <a:rPr sz="650" spc="170" dirty="0">
                <a:solidFill>
                  <a:srgbClr val="231F20"/>
                </a:solidFill>
                <a:latin typeface="Arial"/>
                <a:cs typeface="Arial"/>
              </a:rPr>
              <a:t> </a:t>
            </a:r>
            <a:r>
              <a:rPr sz="650" dirty="0">
                <a:solidFill>
                  <a:srgbClr val="231F20"/>
                </a:solidFill>
                <a:latin typeface="Arial"/>
                <a:cs typeface="Arial"/>
              </a:rPr>
              <a:t>//</a:t>
            </a:r>
            <a:r>
              <a:rPr sz="650" spc="-5" dirty="0">
                <a:solidFill>
                  <a:srgbClr val="231F20"/>
                </a:solidFill>
                <a:latin typeface="Arial"/>
                <a:cs typeface="Arial"/>
              </a:rPr>
              <a:t> </a:t>
            </a:r>
            <a:r>
              <a:rPr sz="650" spc="5" dirty="0">
                <a:solidFill>
                  <a:srgbClr val="231F20"/>
                </a:solidFill>
                <a:latin typeface="Arial"/>
                <a:cs typeface="Arial"/>
              </a:rPr>
              <a:t>gas</a:t>
            </a:r>
            <a:endParaRPr sz="650">
              <a:latin typeface="Arial"/>
              <a:cs typeface="Arial"/>
            </a:endParaRPr>
          </a:p>
          <a:p>
            <a:pPr marL="78105">
              <a:lnSpc>
                <a:spcPts val="725"/>
              </a:lnSpc>
            </a:pPr>
            <a:r>
              <a:rPr sz="650" spc="5" dirty="0">
                <a:solidFill>
                  <a:srgbClr val="231F20"/>
                </a:solidFill>
                <a:latin typeface="Arial"/>
                <a:cs typeface="Arial"/>
              </a:rPr>
              <a:t>p</a:t>
            </a:r>
            <a:r>
              <a:rPr sz="650" spc="-10" dirty="0">
                <a:solidFill>
                  <a:srgbClr val="231F20"/>
                </a:solidFill>
                <a:latin typeface="Arial"/>
                <a:cs typeface="Arial"/>
              </a:rPr>
              <a:t> </a:t>
            </a:r>
            <a:r>
              <a:rPr sz="650" spc="5" dirty="0">
                <a:solidFill>
                  <a:srgbClr val="231F20"/>
                </a:solidFill>
                <a:latin typeface="Arial"/>
                <a:cs typeface="Arial"/>
              </a:rPr>
              <a:t>= </a:t>
            </a:r>
            <a:r>
              <a:rPr sz="650" spc="165" dirty="0">
                <a:solidFill>
                  <a:srgbClr val="231F20"/>
                </a:solidFill>
                <a:latin typeface="Arial"/>
                <a:cs typeface="Arial"/>
              </a:rPr>
              <a:t> </a:t>
            </a:r>
            <a:r>
              <a:rPr sz="650" spc="5" dirty="0">
                <a:solidFill>
                  <a:srgbClr val="231F20"/>
                </a:solidFill>
                <a:latin typeface="Arial"/>
                <a:cs typeface="Arial"/>
              </a:rPr>
              <a:t>70  </a:t>
            </a:r>
            <a:r>
              <a:rPr sz="650" spc="155" dirty="0">
                <a:solidFill>
                  <a:srgbClr val="231F20"/>
                </a:solidFill>
                <a:latin typeface="Arial"/>
                <a:cs typeface="Arial"/>
              </a:rPr>
              <a:t> </a:t>
            </a:r>
            <a:r>
              <a:rPr sz="650"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price</a:t>
            </a:r>
            <a:endParaRPr sz="650">
              <a:latin typeface="Arial"/>
              <a:cs typeface="Arial"/>
            </a:endParaRPr>
          </a:p>
        </p:txBody>
      </p:sp>
      <p:sp>
        <p:nvSpPr>
          <p:cNvPr id="30" name="object 30"/>
          <p:cNvSpPr txBox="1"/>
          <p:nvPr/>
        </p:nvSpPr>
        <p:spPr>
          <a:xfrm>
            <a:off x="66713" y="3331252"/>
            <a:ext cx="7137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6" action="ppaction://hlinksldjump"/>
              </a:rPr>
              <a:t>The</a:t>
            </a:r>
            <a:r>
              <a:rPr sz="600" spc="-15"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notion</a:t>
            </a:r>
            <a:r>
              <a:rPr sz="600" spc="-1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of</a:t>
            </a:r>
            <a:r>
              <a:rPr sz="600" spc="-15"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a</a:t>
            </a:r>
            <a:r>
              <a:rPr sz="600" spc="-1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conit</a:t>
            </a:r>
            <a:endParaRPr sz="600">
              <a:latin typeface="Arial"/>
              <a:cs typeface="Arial"/>
            </a:endParaRPr>
          </a:p>
        </p:txBody>
      </p:sp>
      <p:sp>
        <p:nvSpPr>
          <p:cNvPr id="31" name="object 31"/>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6</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3" name="object 23"/>
          <p:cNvSpPr txBox="1"/>
          <p:nvPr/>
        </p:nvSpPr>
        <p:spPr>
          <a:xfrm>
            <a:off x="2585358" y="775240"/>
            <a:ext cx="2222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Conit</a:t>
            </a:r>
            <a:endParaRPr sz="650">
              <a:latin typeface="Arial"/>
              <a:cs typeface="Arial"/>
            </a:endParaRPr>
          </a:p>
        </p:txBody>
      </p:sp>
      <p:sp>
        <p:nvSpPr>
          <p:cNvPr id="24" name="object 24"/>
          <p:cNvSpPr txBox="1"/>
          <p:nvPr/>
        </p:nvSpPr>
        <p:spPr>
          <a:xfrm>
            <a:off x="792629" y="1916816"/>
            <a:ext cx="601980" cy="266700"/>
          </a:xfrm>
          <a:prstGeom prst="rect">
            <a:avLst/>
          </a:prstGeom>
        </p:spPr>
        <p:txBody>
          <a:bodyPr vert="horz" wrap="square" lIns="0" tIns="12065" rIns="0" bIns="0" rtlCol="0">
            <a:spAutoFit/>
          </a:bodyPr>
          <a:lstStyle/>
          <a:p>
            <a:pPr marL="12700" marR="5080" indent="3175">
              <a:lnSpc>
                <a:spcPct val="121700"/>
              </a:lnSpc>
              <a:spcBef>
                <a:spcPts val="95"/>
              </a:spcBef>
            </a:pPr>
            <a:r>
              <a:rPr sz="650" spc="-35" dirty="0">
                <a:solidFill>
                  <a:srgbClr val="231F20"/>
                </a:solidFill>
                <a:latin typeface="Arial"/>
                <a:cs typeface="Arial"/>
              </a:rPr>
              <a:t>V</a:t>
            </a:r>
            <a:r>
              <a:rPr sz="650" spc="5" dirty="0">
                <a:solidFill>
                  <a:srgbClr val="231F20"/>
                </a:solidFill>
                <a:latin typeface="Arial"/>
                <a:cs typeface="Arial"/>
              </a:rPr>
              <a:t>ector</a:t>
            </a:r>
            <a:r>
              <a:rPr sz="650" dirty="0">
                <a:solidFill>
                  <a:srgbClr val="231F20"/>
                </a:solidFill>
                <a:latin typeface="Arial"/>
                <a:cs typeface="Arial"/>
              </a:rPr>
              <a:t> </a:t>
            </a:r>
            <a:r>
              <a:rPr sz="650" spc="5" dirty="0">
                <a:solidFill>
                  <a:srgbClr val="231F20"/>
                </a:solidFill>
                <a:latin typeface="Arial"/>
                <a:cs typeface="Arial"/>
              </a:rPr>
              <a:t>clock</a:t>
            </a:r>
            <a:r>
              <a:rPr sz="650" spc="-35" dirty="0">
                <a:solidFill>
                  <a:srgbClr val="231F20"/>
                </a:solidFill>
                <a:latin typeface="Arial"/>
                <a:cs typeface="Arial"/>
              </a:rPr>
              <a:t> </a:t>
            </a:r>
            <a:r>
              <a:rPr sz="650" spc="5" dirty="0">
                <a:solidFill>
                  <a:srgbClr val="231F20"/>
                </a:solidFill>
                <a:latin typeface="Arial"/>
                <a:cs typeface="Arial"/>
              </a:rPr>
              <a:t>A  Order</a:t>
            </a:r>
            <a:r>
              <a:rPr sz="650" dirty="0">
                <a:solidFill>
                  <a:srgbClr val="231F20"/>
                </a:solidFill>
                <a:latin typeface="Arial"/>
                <a:cs typeface="Arial"/>
              </a:rPr>
              <a:t> </a:t>
            </a:r>
            <a:r>
              <a:rPr sz="650" spc="5" dirty="0">
                <a:solidFill>
                  <a:srgbClr val="231F20"/>
                </a:solidFill>
                <a:latin typeface="Arial"/>
                <a:cs typeface="Arial"/>
              </a:rPr>
              <a:t>deviation</a:t>
            </a:r>
            <a:endParaRPr sz="650">
              <a:latin typeface="Arial"/>
              <a:cs typeface="Arial"/>
            </a:endParaRPr>
          </a:p>
        </p:txBody>
      </p:sp>
      <p:sp>
        <p:nvSpPr>
          <p:cNvPr id="25" name="object 25"/>
          <p:cNvSpPr txBox="1"/>
          <p:nvPr/>
        </p:nvSpPr>
        <p:spPr>
          <a:xfrm>
            <a:off x="1568838" y="1919599"/>
            <a:ext cx="335915" cy="263525"/>
          </a:xfrm>
          <a:prstGeom prst="rect">
            <a:avLst/>
          </a:prstGeom>
        </p:spPr>
        <p:txBody>
          <a:bodyPr vert="horz" wrap="square" lIns="0" tIns="31750" rIns="0" bIns="0" rtlCol="0">
            <a:spAutoFit/>
          </a:bodyPr>
          <a:lstStyle/>
          <a:p>
            <a:pPr marL="12700">
              <a:lnSpc>
                <a:spcPct val="100000"/>
              </a:lnSpc>
              <a:spcBef>
                <a:spcPts val="250"/>
              </a:spcBef>
            </a:pPr>
            <a:r>
              <a:rPr sz="650" spc="5" dirty="0">
                <a:solidFill>
                  <a:srgbClr val="231F20"/>
                </a:solidFill>
                <a:latin typeface="Arial"/>
                <a:cs typeface="Arial"/>
              </a:rPr>
              <a:t>=</a:t>
            </a:r>
            <a:r>
              <a:rPr sz="650" spc="-35" dirty="0">
                <a:solidFill>
                  <a:srgbClr val="231F20"/>
                </a:solidFill>
                <a:latin typeface="Arial"/>
                <a:cs typeface="Arial"/>
              </a:rPr>
              <a:t> </a:t>
            </a:r>
            <a:r>
              <a:rPr sz="650" spc="-10" dirty="0">
                <a:solidFill>
                  <a:srgbClr val="231F20"/>
                </a:solidFill>
                <a:latin typeface="Arial"/>
                <a:cs typeface="Arial"/>
              </a:rPr>
              <a:t>(11,</a:t>
            </a:r>
            <a:r>
              <a:rPr sz="650" spc="-30" dirty="0">
                <a:solidFill>
                  <a:srgbClr val="231F20"/>
                </a:solidFill>
                <a:latin typeface="Arial"/>
                <a:cs typeface="Arial"/>
              </a:rPr>
              <a:t> </a:t>
            </a:r>
            <a:r>
              <a:rPr sz="650" spc="5" dirty="0">
                <a:solidFill>
                  <a:srgbClr val="231F20"/>
                </a:solidFill>
                <a:latin typeface="Arial"/>
                <a:cs typeface="Arial"/>
              </a:rPr>
              <a:t>5)</a:t>
            </a:r>
            <a:endParaRPr sz="650">
              <a:latin typeface="Arial"/>
              <a:cs typeface="Arial"/>
            </a:endParaRPr>
          </a:p>
          <a:p>
            <a:pPr marL="12700">
              <a:lnSpc>
                <a:spcPct val="100000"/>
              </a:lnSpc>
              <a:spcBef>
                <a:spcPts val="155"/>
              </a:spcBef>
            </a:pPr>
            <a:r>
              <a:rPr sz="650" spc="5" dirty="0">
                <a:solidFill>
                  <a:srgbClr val="231F20"/>
                </a:solidFill>
                <a:latin typeface="Arial"/>
                <a:cs typeface="Arial"/>
              </a:rPr>
              <a:t>=</a:t>
            </a:r>
            <a:r>
              <a:rPr sz="650" spc="-45" dirty="0">
                <a:solidFill>
                  <a:srgbClr val="231F20"/>
                </a:solidFill>
                <a:latin typeface="Arial"/>
                <a:cs typeface="Arial"/>
              </a:rPr>
              <a:t> </a:t>
            </a:r>
            <a:r>
              <a:rPr sz="650" spc="5" dirty="0">
                <a:solidFill>
                  <a:srgbClr val="231F20"/>
                </a:solidFill>
                <a:latin typeface="Arial"/>
                <a:cs typeface="Arial"/>
              </a:rPr>
              <a:t>3</a:t>
            </a:r>
            <a:endParaRPr sz="650">
              <a:latin typeface="Arial"/>
              <a:cs typeface="Arial"/>
            </a:endParaRPr>
          </a:p>
        </p:txBody>
      </p:sp>
      <p:sp>
        <p:nvSpPr>
          <p:cNvPr id="26" name="object 26"/>
          <p:cNvSpPr txBox="1"/>
          <p:nvPr/>
        </p:nvSpPr>
        <p:spPr>
          <a:xfrm>
            <a:off x="2472083" y="442167"/>
            <a:ext cx="3867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Replica B</a:t>
            </a:r>
            <a:endParaRPr sz="650">
              <a:latin typeface="Arial"/>
              <a:cs typeface="Arial"/>
            </a:endParaRPr>
          </a:p>
        </p:txBody>
      </p:sp>
      <p:sp>
        <p:nvSpPr>
          <p:cNvPr id="27" name="object 27"/>
          <p:cNvSpPr txBox="1"/>
          <p:nvPr/>
        </p:nvSpPr>
        <p:spPr>
          <a:xfrm>
            <a:off x="2465910" y="1916821"/>
            <a:ext cx="601980" cy="266700"/>
          </a:xfrm>
          <a:prstGeom prst="rect">
            <a:avLst/>
          </a:prstGeom>
        </p:spPr>
        <p:txBody>
          <a:bodyPr vert="horz" wrap="square" lIns="0" tIns="12065" rIns="0" bIns="0" rtlCol="0">
            <a:spAutoFit/>
          </a:bodyPr>
          <a:lstStyle/>
          <a:p>
            <a:pPr marL="12700" marR="5080" indent="3175">
              <a:lnSpc>
                <a:spcPct val="121700"/>
              </a:lnSpc>
              <a:spcBef>
                <a:spcPts val="95"/>
              </a:spcBef>
            </a:pPr>
            <a:r>
              <a:rPr sz="650" dirty="0">
                <a:solidFill>
                  <a:srgbClr val="231F20"/>
                </a:solidFill>
                <a:latin typeface="Arial"/>
                <a:cs typeface="Arial"/>
              </a:rPr>
              <a:t>Vector </a:t>
            </a:r>
            <a:r>
              <a:rPr sz="650" spc="5" dirty="0">
                <a:solidFill>
                  <a:srgbClr val="231F20"/>
                </a:solidFill>
                <a:latin typeface="Arial"/>
                <a:cs typeface="Arial"/>
              </a:rPr>
              <a:t>clock B </a:t>
            </a:r>
            <a:r>
              <a:rPr sz="650" spc="10" dirty="0">
                <a:solidFill>
                  <a:srgbClr val="231F20"/>
                </a:solidFill>
                <a:latin typeface="Arial"/>
                <a:cs typeface="Arial"/>
              </a:rPr>
              <a:t> </a:t>
            </a:r>
            <a:r>
              <a:rPr sz="650" spc="5" dirty="0">
                <a:solidFill>
                  <a:srgbClr val="231F20"/>
                </a:solidFill>
                <a:latin typeface="Arial"/>
                <a:cs typeface="Arial"/>
              </a:rPr>
              <a:t>Order</a:t>
            </a:r>
            <a:r>
              <a:rPr sz="650" dirty="0">
                <a:solidFill>
                  <a:srgbClr val="231F20"/>
                </a:solidFill>
                <a:latin typeface="Arial"/>
                <a:cs typeface="Arial"/>
              </a:rPr>
              <a:t> </a:t>
            </a:r>
            <a:r>
              <a:rPr sz="650" spc="5" dirty="0">
                <a:solidFill>
                  <a:srgbClr val="231F20"/>
                </a:solidFill>
                <a:latin typeface="Arial"/>
                <a:cs typeface="Arial"/>
              </a:rPr>
              <a:t>deviation</a:t>
            </a:r>
            <a:endParaRPr sz="650">
              <a:latin typeface="Arial"/>
              <a:cs typeface="Arial"/>
            </a:endParaRPr>
          </a:p>
        </p:txBody>
      </p:sp>
      <p:sp>
        <p:nvSpPr>
          <p:cNvPr id="28" name="object 28"/>
          <p:cNvSpPr txBox="1"/>
          <p:nvPr/>
        </p:nvSpPr>
        <p:spPr>
          <a:xfrm>
            <a:off x="3242119" y="1919604"/>
            <a:ext cx="295275" cy="263525"/>
          </a:xfrm>
          <a:prstGeom prst="rect">
            <a:avLst/>
          </a:prstGeom>
        </p:spPr>
        <p:txBody>
          <a:bodyPr vert="horz" wrap="square" lIns="0" tIns="31750" rIns="0" bIns="0" rtlCol="0">
            <a:spAutoFit/>
          </a:bodyPr>
          <a:lstStyle/>
          <a:p>
            <a:pPr marL="12700">
              <a:lnSpc>
                <a:spcPct val="100000"/>
              </a:lnSpc>
              <a:spcBef>
                <a:spcPts val="250"/>
              </a:spcBef>
            </a:pPr>
            <a:r>
              <a:rPr sz="650" spc="5" dirty="0">
                <a:solidFill>
                  <a:srgbClr val="231F20"/>
                </a:solidFill>
                <a:latin typeface="Arial"/>
                <a:cs typeface="Arial"/>
              </a:rPr>
              <a:t>=</a:t>
            </a:r>
            <a:r>
              <a:rPr sz="650" spc="-40" dirty="0">
                <a:solidFill>
                  <a:srgbClr val="231F20"/>
                </a:solidFill>
                <a:latin typeface="Arial"/>
                <a:cs typeface="Arial"/>
              </a:rPr>
              <a:t> </a:t>
            </a:r>
            <a:r>
              <a:rPr sz="650" spc="5" dirty="0">
                <a:solidFill>
                  <a:srgbClr val="231F20"/>
                </a:solidFill>
                <a:latin typeface="Arial"/>
                <a:cs typeface="Arial"/>
              </a:rPr>
              <a:t>(0,</a:t>
            </a:r>
            <a:r>
              <a:rPr sz="650" spc="-35" dirty="0">
                <a:solidFill>
                  <a:srgbClr val="231F20"/>
                </a:solidFill>
                <a:latin typeface="Arial"/>
                <a:cs typeface="Arial"/>
              </a:rPr>
              <a:t> </a:t>
            </a:r>
            <a:r>
              <a:rPr sz="650" spc="5" dirty="0">
                <a:solidFill>
                  <a:srgbClr val="231F20"/>
                </a:solidFill>
                <a:latin typeface="Arial"/>
                <a:cs typeface="Arial"/>
              </a:rPr>
              <a:t>8)</a:t>
            </a:r>
            <a:endParaRPr sz="650">
              <a:latin typeface="Arial"/>
              <a:cs typeface="Arial"/>
            </a:endParaRPr>
          </a:p>
          <a:p>
            <a:pPr marL="12700">
              <a:lnSpc>
                <a:spcPct val="100000"/>
              </a:lnSpc>
              <a:spcBef>
                <a:spcPts val="155"/>
              </a:spcBef>
            </a:pPr>
            <a:r>
              <a:rPr sz="650" spc="5" dirty="0">
                <a:solidFill>
                  <a:srgbClr val="231F20"/>
                </a:solidFill>
                <a:latin typeface="Arial"/>
                <a:cs typeface="Arial"/>
              </a:rPr>
              <a:t>=</a:t>
            </a:r>
            <a:r>
              <a:rPr sz="650" spc="-45" dirty="0">
                <a:solidFill>
                  <a:srgbClr val="231F20"/>
                </a:solidFill>
                <a:latin typeface="Arial"/>
                <a:cs typeface="Arial"/>
              </a:rPr>
              <a:t> </a:t>
            </a:r>
            <a:r>
              <a:rPr sz="650" spc="5" dirty="0">
                <a:solidFill>
                  <a:srgbClr val="231F20"/>
                </a:solidFill>
                <a:latin typeface="Arial"/>
                <a:cs typeface="Arial"/>
              </a:rPr>
              <a:t>1</a:t>
            </a:r>
            <a:endParaRPr sz="650">
              <a:latin typeface="Arial"/>
              <a:cs typeface="Arial"/>
            </a:endParaRPr>
          </a:p>
        </p:txBody>
      </p:sp>
      <p:sp>
        <p:nvSpPr>
          <p:cNvPr id="29" name="object 29"/>
          <p:cNvSpPr txBox="1"/>
          <p:nvPr/>
        </p:nvSpPr>
        <p:spPr>
          <a:xfrm>
            <a:off x="309194" y="2176214"/>
            <a:ext cx="3790315" cy="1000760"/>
          </a:xfrm>
          <a:prstGeom prst="rect">
            <a:avLst/>
          </a:prstGeom>
        </p:spPr>
        <p:txBody>
          <a:bodyPr vert="horz" wrap="square" lIns="0" tIns="13970" rIns="0" bIns="0" rtlCol="0">
            <a:spAutoFit/>
          </a:bodyPr>
          <a:lstStyle/>
          <a:p>
            <a:pPr marL="14604" algn="ctr">
              <a:lnSpc>
                <a:spcPct val="100000"/>
              </a:lnSpc>
              <a:spcBef>
                <a:spcPts val="110"/>
              </a:spcBef>
              <a:tabLst>
                <a:tab pos="1687830" algn="l"/>
              </a:tabLst>
            </a:pPr>
            <a:r>
              <a:rPr sz="650" spc="5" dirty="0">
                <a:solidFill>
                  <a:srgbClr val="231F20"/>
                </a:solidFill>
                <a:latin typeface="Arial"/>
                <a:cs typeface="Arial"/>
              </a:rPr>
              <a:t>Numerical deviation</a:t>
            </a:r>
            <a:r>
              <a:rPr sz="650" spc="125" dirty="0">
                <a:solidFill>
                  <a:srgbClr val="231F20"/>
                </a:solidFill>
                <a:latin typeface="Arial"/>
                <a:cs typeface="Arial"/>
              </a:rPr>
              <a:t> </a:t>
            </a:r>
            <a:r>
              <a:rPr sz="650" spc="5" dirty="0">
                <a:solidFill>
                  <a:srgbClr val="231F20"/>
                </a:solidFill>
                <a:latin typeface="Arial"/>
                <a:cs typeface="Arial"/>
              </a:rPr>
              <a:t>= (2, 482)	Numerical</a:t>
            </a:r>
            <a:r>
              <a:rPr sz="650" spc="-10" dirty="0">
                <a:solidFill>
                  <a:srgbClr val="231F20"/>
                </a:solidFill>
                <a:latin typeface="Arial"/>
                <a:cs typeface="Arial"/>
              </a:rPr>
              <a:t> </a:t>
            </a:r>
            <a:r>
              <a:rPr sz="650" spc="5" dirty="0">
                <a:solidFill>
                  <a:srgbClr val="231F20"/>
                </a:solidFill>
                <a:latin typeface="Arial"/>
                <a:cs typeface="Arial"/>
              </a:rPr>
              <a:t>deviation</a:t>
            </a:r>
            <a:r>
              <a:rPr sz="650" spc="125" dirty="0">
                <a:solidFill>
                  <a:srgbClr val="231F20"/>
                </a:solidFill>
                <a:latin typeface="Arial"/>
                <a:cs typeface="Arial"/>
              </a:rPr>
              <a:t> </a:t>
            </a:r>
            <a:r>
              <a:rPr sz="650" spc="5"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(3,</a:t>
            </a:r>
            <a:r>
              <a:rPr sz="650" spc="-10" dirty="0">
                <a:solidFill>
                  <a:srgbClr val="231F20"/>
                </a:solidFill>
                <a:latin typeface="Arial"/>
                <a:cs typeface="Arial"/>
              </a:rPr>
              <a:t> </a:t>
            </a:r>
            <a:r>
              <a:rPr sz="650" spc="5" dirty="0">
                <a:solidFill>
                  <a:srgbClr val="231F20"/>
                </a:solidFill>
                <a:latin typeface="Arial"/>
                <a:cs typeface="Arial"/>
              </a:rPr>
              <a:t>686)</a:t>
            </a:r>
            <a:endParaRPr sz="650">
              <a:latin typeface="Arial"/>
              <a:cs typeface="Arial"/>
            </a:endParaRPr>
          </a:p>
          <a:p>
            <a:pPr>
              <a:lnSpc>
                <a:spcPct val="100000"/>
              </a:lnSpc>
              <a:spcBef>
                <a:spcPts val="30"/>
              </a:spcBef>
            </a:pPr>
            <a:endParaRPr sz="900">
              <a:latin typeface="Arial"/>
              <a:cs typeface="Arial"/>
            </a:endParaRPr>
          </a:p>
          <a:p>
            <a:pPr marL="50800">
              <a:lnSpc>
                <a:spcPct val="100000"/>
              </a:lnSpc>
              <a:spcBef>
                <a:spcPts val="5"/>
              </a:spcBef>
            </a:pPr>
            <a:r>
              <a:rPr sz="1200" spc="-5" dirty="0">
                <a:solidFill>
                  <a:srgbClr val="3333B2"/>
                </a:solidFill>
                <a:latin typeface="Arial"/>
                <a:cs typeface="Arial"/>
              </a:rPr>
              <a:t>Conit (contains the </a:t>
            </a:r>
            <a:r>
              <a:rPr sz="1200" spc="-10" dirty="0">
                <a:solidFill>
                  <a:srgbClr val="3333B2"/>
                </a:solidFill>
                <a:latin typeface="Arial"/>
                <a:cs typeface="Arial"/>
              </a:rPr>
              <a:t>variables</a:t>
            </a:r>
            <a:r>
              <a:rPr sz="1200" spc="-5" dirty="0">
                <a:solidFill>
                  <a:srgbClr val="3333B2"/>
                </a:solidFill>
                <a:latin typeface="Arial"/>
                <a:cs typeface="Arial"/>
              </a:rPr>
              <a:t> </a:t>
            </a:r>
            <a:r>
              <a:rPr sz="1200" i="1" spc="25" dirty="0">
                <a:solidFill>
                  <a:srgbClr val="3333B2"/>
                </a:solidFill>
                <a:latin typeface="Arial"/>
                <a:cs typeface="Arial"/>
              </a:rPr>
              <a:t>g</a:t>
            </a:r>
            <a:r>
              <a:rPr sz="1200" spc="25" dirty="0">
                <a:solidFill>
                  <a:srgbClr val="3333B2"/>
                </a:solidFill>
                <a:latin typeface="Arial"/>
                <a:cs typeface="Arial"/>
              </a:rPr>
              <a:t>,</a:t>
            </a:r>
            <a:r>
              <a:rPr sz="1200" spc="-5" dirty="0">
                <a:solidFill>
                  <a:srgbClr val="3333B2"/>
                </a:solidFill>
                <a:latin typeface="Arial"/>
                <a:cs typeface="Arial"/>
              </a:rPr>
              <a:t> </a:t>
            </a:r>
            <a:r>
              <a:rPr sz="1200" i="1" spc="10" dirty="0">
                <a:solidFill>
                  <a:srgbClr val="3333B2"/>
                </a:solidFill>
                <a:latin typeface="Arial"/>
                <a:cs typeface="Arial"/>
              </a:rPr>
              <a:t>p</a:t>
            </a:r>
            <a:r>
              <a:rPr sz="1200" spc="10" dirty="0">
                <a:solidFill>
                  <a:srgbClr val="3333B2"/>
                </a:solidFill>
                <a:latin typeface="Arial"/>
                <a:cs typeface="Arial"/>
              </a:rPr>
              <a:t>,</a:t>
            </a:r>
            <a:r>
              <a:rPr sz="1200" spc="-5" dirty="0">
                <a:solidFill>
                  <a:srgbClr val="3333B2"/>
                </a:solidFill>
                <a:latin typeface="Arial"/>
                <a:cs typeface="Arial"/>
              </a:rPr>
              <a:t> and </a:t>
            </a:r>
            <a:r>
              <a:rPr sz="1200" i="1" spc="-5" dirty="0">
                <a:solidFill>
                  <a:srgbClr val="3333B2"/>
                </a:solidFill>
                <a:latin typeface="Arial"/>
                <a:cs typeface="Arial"/>
              </a:rPr>
              <a:t>d</a:t>
            </a:r>
            <a:r>
              <a:rPr sz="1200" i="1" spc="-220" dirty="0">
                <a:solidFill>
                  <a:srgbClr val="3333B2"/>
                </a:solidFill>
                <a:latin typeface="Arial"/>
                <a:cs typeface="Arial"/>
              </a:rPr>
              <a:t> </a:t>
            </a:r>
            <a:r>
              <a:rPr sz="1200" spc="-5" dirty="0">
                <a:solidFill>
                  <a:srgbClr val="3333B2"/>
                </a:solidFill>
                <a:latin typeface="Arial"/>
                <a:cs typeface="Arial"/>
              </a:rPr>
              <a:t>)</a:t>
            </a:r>
            <a:endParaRPr sz="1200">
              <a:latin typeface="Arial"/>
              <a:cs typeface="Arial"/>
            </a:endParaRPr>
          </a:p>
          <a:p>
            <a:pPr marL="327660" indent="-168275">
              <a:lnSpc>
                <a:spcPts val="1200"/>
              </a:lnSpc>
              <a:spcBef>
                <a:spcPts val="785"/>
              </a:spcBef>
              <a:buClr>
                <a:srgbClr val="3333B2"/>
              </a:buClr>
              <a:buFont typeface="Arial"/>
              <a:buChar char="►"/>
              <a:tabLst>
                <a:tab pos="328295" algn="l"/>
              </a:tabLst>
            </a:pPr>
            <a:r>
              <a:rPr sz="1000" i="1" spc="-5" dirty="0">
                <a:latin typeface="Arial"/>
                <a:cs typeface="Arial"/>
              </a:rPr>
              <a:t>A </a:t>
            </a:r>
            <a:r>
              <a:rPr sz="1000" spc="-5" dirty="0">
                <a:latin typeface="Arial"/>
                <a:cs typeface="Arial"/>
              </a:rPr>
              <a:t>has</a:t>
            </a:r>
            <a:r>
              <a:rPr sz="1000" dirty="0">
                <a:latin typeface="Arial"/>
                <a:cs typeface="Arial"/>
              </a:rPr>
              <a:t> </a:t>
            </a:r>
            <a:r>
              <a:rPr sz="1000" spc="-5" dirty="0">
                <a:latin typeface="Arial"/>
                <a:cs typeface="Arial"/>
              </a:rPr>
              <a:t>three</a:t>
            </a:r>
            <a:r>
              <a:rPr sz="1000" dirty="0">
                <a:latin typeface="Arial"/>
                <a:cs typeface="Arial"/>
              </a:rPr>
              <a:t> </a:t>
            </a:r>
            <a:r>
              <a:rPr sz="1000" spc="-5" dirty="0">
                <a:solidFill>
                  <a:srgbClr val="0000FA"/>
                </a:solidFill>
                <a:latin typeface="Arial"/>
                <a:cs typeface="Arial"/>
              </a:rPr>
              <a:t>pending </a:t>
            </a:r>
            <a:r>
              <a:rPr sz="1000" spc="-5" dirty="0">
                <a:latin typeface="Arial"/>
                <a:cs typeface="Arial"/>
              </a:rPr>
              <a:t>operations</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latin typeface="Arial"/>
                <a:cs typeface="Arial"/>
              </a:rPr>
              <a:t>order </a:t>
            </a:r>
            <a:r>
              <a:rPr sz="1000" spc="-10" dirty="0">
                <a:latin typeface="Arial"/>
                <a:cs typeface="Arial"/>
              </a:rPr>
              <a:t>deviation</a:t>
            </a:r>
            <a:r>
              <a:rPr sz="1000" dirty="0">
                <a:latin typeface="Arial"/>
                <a:cs typeface="Arial"/>
              </a:rPr>
              <a:t> </a:t>
            </a:r>
            <a:r>
              <a:rPr sz="1000" spc="-5" dirty="0">
                <a:latin typeface="Arial"/>
                <a:cs typeface="Arial"/>
              </a:rPr>
              <a:t>=</a:t>
            </a:r>
            <a:r>
              <a:rPr sz="1000" dirty="0">
                <a:latin typeface="Arial"/>
                <a:cs typeface="Arial"/>
              </a:rPr>
              <a:t> </a:t>
            </a:r>
            <a:r>
              <a:rPr sz="1000" spc="-5" dirty="0">
                <a:latin typeface="Arial"/>
                <a:cs typeface="Arial"/>
              </a:rPr>
              <a:t>3</a:t>
            </a:r>
            <a:endParaRPr sz="1000">
              <a:latin typeface="Arial"/>
              <a:cs typeface="Arial"/>
            </a:endParaRPr>
          </a:p>
          <a:p>
            <a:pPr marL="327660" indent="-168275">
              <a:lnSpc>
                <a:spcPts val="1195"/>
              </a:lnSpc>
              <a:buClr>
                <a:srgbClr val="3333B2"/>
              </a:buClr>
              <a:buFont typeface="Arial"/>
              <a:buChar char="►"/>
              <a:tabLst>
                <a:tab pos="328295" algn="l"/>
              </a:tabLst>
            </a:pPr>
            <a:r>
              <a:rPr sz="1000" i="1" spc="-5" dirty="0">
                <a:latin typeface="Arial"/>
                <a:cs typeface="Arial"/>
              </a:rPr>
              <a:t>A </a:t>
            </a:r>
            <a:r>
              <a:rPr sz="1000" spc="-5" dirty="0">
                <a:latin typeface="Arial"/>
                <a:cs typeface="Arial"/>
              </a:rPr>
              <a:t>missed</a:t>
            </a:r>
            <a:r>
              <a:rPr sz="1000" dirty="0">
                <a:latin typeface="Arial"/>
                <a:cs typeface="Arial"/>
              </a:rPr>
              <a:t> </a:t>
            </a:r>
            <a:r>
              <a:rPr sz="1000" spc="-10" dirty="0">
                <a:solidFill>
                  <a:srgbClr val="0000FA"/>
                </a:solidFill>
                <a:latin typeface="Arial"/>
                <a:cs typeface="Arial"/>
              </a:rPr>
              <a:t>two</a:t>
            </a:r>
            <a:r>
              <a:rPr sz="1000" spc="-5" dirty="0">
                <a:solidFill>
                  <a:srgbClr val="0000FA"/>
                </a:solidFill>
                <a:latin typeface="Arial"/>
                <a:cs typeface="Arial"/>
              </a:rPr>
              <a:t> </a:t>
            </a:r>
            <a:r>
              <a:rPr sz="1000" spc="-5" dirty="0">
                <a:latin typeface="Arial"/>
                <a:cs typeface="Arial"/>
              </a:rPr>
              <a:t>operations</a:t>
            </a:r>
            <a:r>
              <a:rPr sz="1000" dirty="0">
                <a:latin typeface="Arial"/>
                <a:cs typeface="Arial"/>
              </a:rPr>
              <a:t> </a:t>
            </a:r>
            <a:r>
              <a:rPr sz="1000" spc="-5" dirty="0">
                <a:latin typeface="Arial"/>
                <a:cs typeface="Arial"/>
              </a:rPr>
              <a:t>from</a:t>
            </a:r>
            <a:r>
              <a:rPr sz="1000" dirty="0">
                <a:latin typeface="Arial"/>
                <a:cs typeface="Arial"/>
              </a:rPr>
              <a:t> </a:t>
            </a:r>
            <a:r>
              <a:rPr sz="1000" i="1" spc="15" dirty="0">
                <a:latin typeface="Arial"/>
                <a:cs typeface="Arial"/>
              </a:rPr>
              <a:t>B</a:t>
            </a:r>
            <a:r>
              <a:rPr sz="1000" spc="15" dirty="0">
                <a:latin typeface="Arial"/>
                <a:cs typeface="Arial"/>
              </a:rPr>
              <a:t>;</a:t>
            </a:r>
            <a:r>
              <a:rPr sz="1000" spc="-5" dirty="0">
                <a:latin typeface="Arial"/>
                <a:cs typeface="Arial"/>
              </a:rPr>
              <a:t> max</a:t>
            </a:r>
            <a:r>
              <a:rPr sz="1000" dirty="0">
                <a:latin typeface="Arial"/>
                <a:cs typeface="Arial"/>
              </a:rPr>
              <a:t> </a:t>
            </a:r>
            <a:r>
              <a:rPr sz="1000" spc="-5" dirty="0">
                <a:latin typeface="Arial"/>
                <a:cs typeface="Arial"/>
              </a:rPr>
              <a:t>diff is</a:t>
            </a:r>
            <a:r>
              <a:rPr sz="1000" dirty="0">
                <a:latin typeface="Arial"/>
                <a:cs typeface="Arial"/>
              </a:rPr>
              <a:t> </a:t>
            </a:r>
            <a:r>
              <a:rPr sz="1000" spc="-5" dirty="0">
                <a:latin typeface="Arial"/>
                <a:cs typeface="Arial"/>
              </a:rPr>
              <a:t>70</a:t>
            </a:r>
            <a:r>
              <a:rPr sz="1000" dirty="0">
                <a:latin typeface="Arial"/>
                <a:cs typeface="Arial"/>
              </a:rPr>
              <a:t> </a:t>
            </a:r>
            <a:r>
              <a:rPr sz="1000" spc="-5" dirty="0">
                <a:latin typeface="Arial"/>
                <a:cs typeface="Arial"/>
              </a:rPr>
              <a:t>+ 412</a:t>
            </a:r>
            <a:r>
              <a:rPr sz="1000" dirty="0">
                <a:latin typeface="Arial"/>
                <a:cs typeface="Arial"/>
              </a:rPr>
              <a:t> </a:t>
            </a:r>
            <a:r>
              <a:rPr sz="1000" spc="-5" dirty="0">
                <a:latin typeface="Arial"/>
                <a:cs typeface="Arial"/>
              </a:rPr>
              <a:t>units</a:t>
            </a:r>
            <a:r>
              <a:rPr sz="1000" dirty="0">
                <a:latin typeface="Arial"/>
                <a:cs typeface="Arial"/>
              </a:rPr>
              <a:t> </a:t>
            </a:r>
            <a:r>
              <a:rPr sz="1000" i="1" spc="-5" dirty="0">
                <a:latin typeface="メイリオ"/>
                <a:cs typeface="メイリオ"/>
              </a:rPr>
              <a:t>⇒</a:t>
            </a:r>
            <a:endParaRPr sz="1000">
              <a:latin typeface="メイリオ"/>
              <a:cs typeface="メイリオ"/>
            </a:endParaRPr>
          </a:p>
          <a:p>
            <a:pPr marL="322580">
              <a:lnSpc>
                <a:spcPts val="1200"/>
              </a:lnSpc>
            </a:pPr>
            <a:r>
              <a:rPr sz="1000" spc="50" dirty="0">
                <a:latin typeface="Arial"/>
                <a:cs typeface="Arial"/>
              </a:rPr>
              <a:t>(</a:t>
            </a:r>
            <a:r>
              <a:rPr sz="1000" spc="-5" dirty="0">
                <a:latin typeface="Arial"/>
                <a:cs typeface="Arial"/>
              </a:rPr>
              <a:t>2</a:t>
            </a:r>
            <a:r>
              <a:rPr sz="1000" i="1" spc="-5" dirty="0">
                <a:latin typeface="Arial"/>
                <a:cs typeface="Arial"/>
              </a:rPr>
              <a:t>,</a:t>
            </a:r>
            <a:r>
              <a:rPr sz="1000" i="1" spc="-170" dirty="0">
                <a:latin typeface="Arial"/>
                <a:cs typeface="Arial"/>
              </a:rPr>
              <a:t> </a:t>
            </a:r>
            <a:r>
              <a:rPr sz="1000" spc="-5" dirty="0">
                <a:latin typeface="Arial"/>
                <a:cs typeface="Arial"/>
              </a:rPr>
              <a:t>482</a:t>
            </a:r>
            <a:r>
              <a:rPr sz="1000" spc="50" dirty="0">
                <a:latin typeface="Arial"/>
                <a:cs typeface="Arial"/>
              </a:rPr>
              <a:t>)</a:t>
            </a:r>
            <a:endParaRPr sz="1000">
              <a:latin typeface="Arial"/>
              <a:cs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Data-centric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397354" y="716"/>
            <a:ext cx="11442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Consistent ordering</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of operations</a:t>
            </a:r>
            <a:endParaRPr sz="600">
              <a:latin typeface="Arial"/>
              <a:cs typeface="Arial"/>
            </a:endParaRPr>
          </a:p>
        </p:txBody>
      </p:sp>
      <p:sp>
        <p:nvSpPr>
          <p:cNvPr id="4" name="object 4"/>
          <p:cNvSpPr txBox="1"/>
          <p:nvPr/>
        </p:nvSpPr>
        <p:spPr>
          <a:xfrm>
            <a:off x="95300" y="188846"/>
            <a:ext cx="1291590"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Some</a:t>
            </a:r>
            <a:r>
              <a:rPr sz="1400" spc="-85" dirty="0">
                <a:solidFill>
                  <a:srgbClr val="3333B2"/>
                </a:solidFill>
                <a:latin typeface="Arial"/>
                <a:cs typeface="Arial"/>
              </a:rPr>
              <a:t> </a:t>
            </a:r>
            <a:r>
              <a:rPr sz="1400" spc="15" dirty="0">
                <a:solidFill>
                  <a:srgbClr val="3333B2"/>
                </a:solidFill>
                <a:latin typeface="Arial"/>
                <a:cs typeface="Arial"/>
              </a:rPr>
              <a:t>notations</a:t>
            </a:r>
            <a:endParaRPr sz="1400" dirty="0">
              <a:latin typeface="Arial"/>
              <a:cs typeface="Arial"/>
            </a:endParaRPr>
          </a:p>
        </p:txBody>
      </p:sp>
      <p:sp>
        <p:nvSpPr>
          <p:cNvPr id="5" name="object 5"/>
          <p:cNvSpPr txBox="1"/>
          <p:nvPr/>
        </p:nvSpPr>
        <p:spPr>
          <a:xfrm>
            <a:off x="309194" y="817394"/>
            <a:ext cx="3733800" cy="1886585"/>
          </a:xfrm>
          <a:prstGeom prst="rect">
            <a:avLst/>
          </a:prstGeom>
        </p:spPr>
        <p:txBody>
          <a:bodyPr vert="horz" wrap="square" lIns="0" tIns="12065" rIns="0" bIns="0" rtlCol="0">
            <a:spAutoFit/>
          </a:bodyPr>
          <a:lstStyle/>
          <a:p>
            <a:pPr marL="50800">
              <a:lnSpc>
                <a:spcPct val="100000"/>
              </a:lnSpc>
              <a:spcBef>
                <a:spcPts val="95"/>
              </a:spcBef>
            </a:pPr>
            <a:r>
              <a:rPr sz="1200" spc="-5" dirty="0">
                <a:solidFill>
                  <a:srgbClr val="3333B2"/>
                </a:solidFill>
                <a:latin typeface="Arial"/>
                <a:cs typeface="Arial"/>
              </a:rPr>
              <a:t>Read</a:t>
            </a:r>
            <a:r>
              <a:rPr sz="1200" spc="-25" dirty="0">
                <a:solidFill>
                  <a:srgbClr val="3333B2"/>
                </a:solidFill>
                <a:latin typeface="Arial"/>
                <a:cs typeface="Arial"/>
              </a:rPr>
              <a:t> </a:t>
            </a:r>
            <a:r>
              <a:rPr sz="1200" spc="-5" dirty="0">
                <a:solidFill>
                  <a:srgbClr val="3333B2"/>
                </a:solidFill>
                <a:latin typeface="Arial"/>
                <a:cs typeface="Arial"/>
              </a:rPr>
              <a:t>and</a:t>
            </a:r>
            <a:r>
              <a:rPr sz="1200" spc="-20" dirty="0">
                <a:solidFill>
                  <a:srgbClr val="3333B2"/>
                </a:solidFill>
                <a:latin typeface="Arial"/>
                <a:cs typeface="Arial"/>
              </a:rPr>
              <a:t> </a:t>
            </a:r>
            <a:r>
              <a:rPr sz="1200" dirty="0">
                <a:solidFill>
                  <a:srgbClr val="3333B2"/>
                </a:solidFill>
                <a:latin typeface="Arial"/>
                <a:cs typeface="Arial"/>
              </a:rPr>
              <a:t>write</a:t>
            </a:r>
            <a:r>
              <a:rPr sz="1200" spc="-20" dirty="0">
                <a:solidFill>
                  <a:srgbClr val="3333B2"/>
                </a:solidFill>
                <a:latin typeface="Arial"/>
                <a:cs typeface="Arial"/>
              </a:rPr>
              <a:t> </a:t>
            </a:r>
            <a:r>
              <a:rPr sz="1200" spc="-5" dirty="0">
                <a:solidFill>
                  <a:srgbClr val="3333B2"/>
                </a:solidFill>
                <a:latin typeface="Arial"/>
                <a:cs typeface="Arial"/>
              </a:rPr>
              <a:t>operations</a:t>
            </a:r>
            <a:endParaRPr sz="1200" dirty="0">
              <a:latin typeface="Arial"/>
              <a:cs typeface="Arial"/>
            </a:endParaRPr>
          </a:p>
          <a:p>
            <a:pPr marL="327660" indent="-168275">
              <a:lnSpc>
                <a:spcPct val="100000"/>
              </a:lnSpc>
              <a:spcBef>
                <a:spcPts val="770"/>
              </a:spcBef>
              <a:buClr>
                <a:srgbClr val="3333B2"/>
              </a:buClr>
              <a:buFont typeface="Arial"/>
              <a:buChar char="►"/>
              <a:tabLst>
                <a:tab pos="328295" algn="l"/>
              </a:tabLst>
            </a:pPr>
            <a:r>
              <a:rPr sz="1000" i="1" spc="-10" dirty="0">
                <a:latin typeface="Arial"/>
                <a:cs typeface="Arial"/>
              </a:rPr>
              <a:t>W</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5" dirty="0">
                <a:latin typeface="Arial"/>
                <a:cs typeface="Arial"/>
              </a:rPr>
              <a:t>x</a:t>
            </a:r>
            <a:r>
              <a:rPr sz="1000" i="1" spc="-185" dirty="0">
                <a:latin typeface="Arial"/>
                <a:cs typeface="Arial"/>
              </a:rPr>
              <a:t> </a:t>
            </a:r>
            <a:r>
              <a:rPr sz="1000" spc="50" dirty="0">
                <a:latin typeface="Arial"/>
                <a:cs typeface="Arial"/>
              </a:rPr>
              <a:t>)</a:t>
            </a:r>
            <a:r>
              <a:rPr sz="1000" i="1" spc="-5" dirty="0">
                <a:latin typeface="Arial"/>
                <a:cs typeface="Arial"/>
              </a:rPr>
              <a:t>a</a:t>
            </a:r>
            <a:r>
              <a:rPr sz="1000" spc="-5" dirty="0">
                <a:latin typeface="Arial"/>
                <a:cs typeface="Arial"/>
              </a:rPr>
              <a:t>:</a:t>
            </a:r>
            <a:r>
              <a:rPr sz="1000" spc="60" dirty="0">
                <a:latin typeface="Arial"/>
                <a:cs typeface="Arial"/>
              </a:rPr>
              <a:t> </a:t>
            </a:r>
            <a:r>
              <a:rPr sz="1000" spc="-5" dirty="0">
                <a:latin typeface="Arial"/>
                <a:cs typeface="Arial"/>
              </a:rPr>
              <a:t>Process </a:t>
            </a:r>
            <a:r>
              <a:rPr sz="1000" i="1" spc="-5" dirty="0">
                <a:latin typeface="Arial"/>
                <a:cs typeface="Arial"/>
              </a:rPr>
              <a:t>P</a:t>
            </a:r>
            <a:r>
              <a:rPr sz="1050" i="1" spc="7" baseline="-15873" dirty="0">
                <a:latin typeface="Arial"/>
                <a:cs typeface="Arial"/>
              </a:rPr>
              <a:t>i</a:t>
            </a:r>
            <a:r>
              <a:rPr sz="1050" i="1" baseline="-15873" dirty="0">
                <a:latin typeface="Arial"/>
                <a:cs typeface="Arial"/>
              </a:rPr>
              <a:t>  </a:t>
            </a:r>
            <a:r>
              <a:rPr sz="1000" spc="-5" dirty="0">
                <a:latin typeface="Arial"/>
                <a:cs typeface="Arial"/>
              </a:rPr>
              <a:t>w</a:t>
            </a:r>
            <a:r>
              <a:rPr sz="1000" spc="5" dirty="0">
                <a:latin typeface="Arial"/>
                <a:cs typeface="Arial"/>
              </a:rPr>
              <a:t>r</a:t>
            </a:r>
            <a:r>
              <a:rPr sz="1000" spc="-5" dirty="0">
                <a:latin typeface="Arial"/>
                <a:cs typeface="Arial"/>
              </a:rPr>
              <a:t>ites </a:t>
            </a:r>
            <a:r>
              <a:rPr sz="1000" spc="-30" dirty="0">
                <a:latin typeface="Arial"/>
                <a:cs typeface="Arial"/>
              </a:rPr>
              <a:t>v</a:t>
            </a:r>
            <a:r>
              <a:rPr sz="1000" spc="-5" dirty="0">
                <a:latin typeface="Arial"/>
                <a:cs typeface="Arial"/>
              </a:rPr>
              <a:t>alue </a:t>
            </a:r>
            <a:r>
              <a:rPr sz="1000" i="1" spc="-5" dirty="0">
                <a:latin typeface="Arial"/>
                <a:cs typeface="Arial"/>
              </a:rPr>
              <a:t>a</a:t>
            </a:r>
            <a:r>
              <a:rPr sz="1000" i="1" dirty="0">
                <a:latin typeface="Arial"/>
                <a:cs typeface="Arial"/>
              </a:rPr>
              <a:t> </a:t>
            </a:r>
            <a:r>
              <a:rPr sz="1000" spc="-5" dirty="0">
                <a:latin typeface="Arial"/>
                <a:cs typeface="Arial"/>
              </a:rPr>
              <a:t>to </a:t>
            </a:r>
            <a:r>
              <a:rPr sz="1000" i="1" spc="-5" dirty="0">
                <a:latin typeface="Arial"/>
                <a:cs typeface="Arial"/>
              </a:rPr>
              <a:t>x</a:t>
            </a:r>
            <a:endParaRPr sz="1000" dirty="0">
              <a:latin typeface="Arial"/>
              <a:cs typeface="Arial"/>
            </a:endParaRPr>
          </a:p>
          <a:p>
            <a:pPr marL="327660" indent="-168275">
              <a:lnSpc>
                <a:spcPct val="100000"/>
              </a:lnSpc>
              <a:spcBef>
                <a:spcPts val="595"/>
              </a:spcBef>
              <a:buClr>
                <a:srgbClr val="3333B2"/>
              </a:buClr>
              <a:buFont typeface="Arial"/>
              <a:buChar char="►"/>
              <a:tabLst>
                <a:tab pos="328295" algn="l"/>
              </a:tabLst>
            </a:pPr>
            <a:r>
              <a:rPr sz="1000" i="1" spc="-5" dirty="0">
                <a:latin typeface="Arial"/>
                <a:cs typeface="Arial"/>
              </a:rPr>
              <a:t>R</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5" dirty="0">
                <a:latin typeface="Arial"/>
                <a:cs typeface="Arial"/>
              </a:rPr>
              <a:t>x</a:t>
            </a:r>
            <a:r>
              <a:rPr sz="1000" i="1" spc="-185" dirty="0">
                <a:latin typeface="Arial"/>
                <a:cs typeface="Arial"/>
              </a:rPr>
              <a:t> </a:t>
            </a:r>
            <a:r>
              <a:rPr sz="1000" spc="50" dirty="0">
                <a:latin typeface="Arial"/>
                <a:cs typeface="Arial"/>
              </a:rPr>
              <a:t>)</a:t>
            </a:r>
            <a:r>
              <a:rPr sz="1000" i="1" spc="20" dirty="0">
                <a:latin typeface="Arial"/>
                <a:cs typeface="Arial"/>
              </a:rPr>
              <a:t>b</a:t>
            </a:r>
            <a:r>
              <a:rPr sz="1000" spc="-5" dirty="0">
                <a:latin typeface="Arial"/>
                <a:cs typeface="Arial"/>
              </a:rPr>
              <a:t>:</a:t>
            </a:r>
            <a:r>
              <a:rPr sz="1000" spc="60" dirty="0">
                <a:latin typeface="Arial"/>
                <a:cs typeface="Arial"/>
              </a:rPr>
              <a:t> </a:t>
            </a:r>
            <a:r>
              <a:rPr sz="1000" spc="-5" dirty="0">
                <a:latin typeface="Arial"/>
                <a:cs typeface="Arial"/>
              </a:rPr>
              <a:t>Process </a:t>
            </a:r>
            <a:r>
              <a:rPr sz="1000" i="1" spc="-5" dirty="0">
                <a:latin typeface="Arial"/>
                <a:cs typeface="Arial"/>
              </a:rPr>
              <a:t>P</a:t>
            </a:r>
            <a:r>
              <a:rPr sz="1050" i="1" spc="7" baseline="-15873" dirty="0">
                <a:latin typeface="Arial"/>
                <a:cs typeface="Arial"/>
              </a:rPr>
              <a:t>i</a:t>
            </a:r>
            <a:r>
              <a:rPr sz="1050" i="1" baseline="-15873" dirty="0">
                <a:latin typeface="Arial"/>
                <a:cs typeface="Arial"/>
              </a:rPr>
              <a:t>  </a:t>
            </a:r>
            <a:r>
              <a:rPr sz="1000" spc="-5" dirty="0">
                <a:latin typeface="Arial"/>
                <a:cs typeface="Arial"/>
              </a:rPr>
              <a:t>reads </a:t>
            </a:r>
            <a:r>
              <a:rPr sz="1000" spc="-30" dirty="0">
                <a:latin typeface="Arial"/>
                <a:cs typeface="Arial"/>
              </a:rPr>
              <a:t>v</a:t>
            </a:r>
            <a:r>
              <a:rPr sz="1000" spc="-5" dirty="0">
                <a:latin typeface="Arial"/>
                <a:cs typeface="Arial"/>
              </a:rPr>
              <a:t>alue </a:t>
            </a:r>
            <a:r>
              <a:rPr sz="1000" i="1" spc="-5" dirty="0">
                <a:latin typeface="Arial"/>
                <a:cs typeface="Arial"/>
              </a:rPr>
              <a:t>b</a:t>
            </a:r>
            <a:r>
              <a:rPr sz="1000" i="1" spc="25" dirty="0">
                <a:latin typeface="Arial"/>
                <a:cs typeface="Arial"/>
              </a:rPr>
              <a:t> </a:t>
            </a:r>
            <a:r>
              <a:rPr sz="1000" spc="-5" dirty="0">
                <a:latin typeface="Arial"/>
                <a:cs typeface="Arial"/>
              </a:rPr>
              <a:t>from </a:t>
            </a:r>
            <a:r>
              <a:rPr sz="1000" i="1" spc="-5" dirty="0">
                <a:latin typeface="Arial"/>
                <a:cs typeface="Arial"/>
              </a:rPr>
              <a:t>x</a:t>
            </a:r>
            <a:endParaRPr sz="1000" dirty="0">
              <a:latin typeface="Arial"/>
              <a:cs typeface="Arial"/>
            </a:endParaRPr>
          </a:p>
          <a:p>
            <a:pPr marL="327660" indent="-168275">
              <a:lnSpc>
                <a:spcPct val="100000"/>
              </a:lnSpc>
              <a:spcBef>
                <a:spcPts val="590"/>
              </a:spcBef>
              <a:buClr>
                <a:srgbClr val="3333B2"/>
              </a:buClr>
              <a:buChar char="►"/>
              <a:tabLst>
                <a:tab pos="328295" algn="l"/>
              </a:tabLst>
            </a:pPr>
            <a:r>
              <a:rPr sz="1000" spc="-5" dirty="0">
                <a:latin typeface="Arial"/>
                <a:cs typeface="Arial"/>
              </a:rPr>
              <a:t>All data items initially </a:t>
            </a:r>
            <a:r>
              <a:rPr sz="1000" spc="-15" dirty="0">
                <a:latin typeface="Arial"/>
                <a:cs typeface="Arial"/>
              </a:rPr>
              <a:t>have</a:t>
            </a:r>
            <a:r>
              <a:rPr sz="1000" spc="-5" dirty="0">
                <a:latin typeface="Arial"/>
                <a:cs typeface="Arial"/>
              </a:rPr>
              <a:t> </a:t>
            </a:r>
            <a:r>
              <a:rPr sz="1000" spc="-10" dirty="0">
                <a:latin typeface="Arial"/>
                <a:cs typeface="Arial"/>
              </a:rPr>
              <a:t>value</a:t>
            </a:r>
            <a:r>
              <a:rPr sz="1000" spc="-5" dirty="0">
                <a:latin typeface="Arial"/>
                <a:cs typeface="Arial"/>
              </a:rPr>
              <a:t> </a:t>
            </a:r>
            <a:r>
              <a:rPr sz="1000" i="1" spc="-5" dirty="0">
                <a:latin typeface="Arial"/>
                <a:cs typeface="Arial"/>
              </a:rPr>
              <a:t>NIL</a:t>
            </a:r>
            <a:endParaRPr sz="1000" dirty="0">
              <a:latin typeface="Arial"/>
              <a:cs typeface="Arial"/>
            </a:endParaRPr>
          </a:p>
          <a:p>
            <a:pPr>
              <a:lnSpc>
                <a:spcPct val="100000"/>
              </a:lnSpc>
              <a:spcBef>
                <a:spcPts val="10"/>
              </a:spcBef>
            </a:pPr>
            <a:endParaRPr sz="1300" dirty="0">
              <a:latin typeface="Arial"/>
              <a:cs typeface="Arial"/>
            </a:endParaRPr>
          </a:p>
          <a:p>
            <a:pPr marL="50800">
              <a:lnSpc>
                <a:spcPts val="1410"/>
              </a:lnSpc>
            </a:pPr>
            <a:r>
              <a:rPr sz="1200" spc="-15" dirty="0">
                <a:solidFill>
                  <a:srgbClr val="3333B2"/>
                </a:solidFill>
                <a:latin typeface="Arial"/>
                <a:cs typeface="Arial"/>
              </a:rPr>
              <a:t>Possible</a:t>
            </a:r>
            <a:r>
              <a:rPr sz="1200" spc="-30" dirty="0">
                <a:solidFill>
                  <a:srgbClr val="3333B2"/>
                </a:solidFill>
                <a:latin typeface="Arial"/>
                <a:cs typeface="Arial"/>
              </a:rPr>
              <a:t> </a:t>
            </a:r>
            <a:r>
              <a:rPr sz="1200" spc="-10" dirty="0">
                <a:solidFill>
                  <a:srgbClr val="3333B2"/>
                </a:solidFill>
                <a:latin typeface="Arial"/>
                <a:cs typeface="Arial"/>
              </a:rPr>
              <a:t>behavior</a:t>
            </a:r>
            <a:endParaRPr sz="1200" dirty="0">
              <a:latin typeface="Arial"/>
              <a:cs typeface="Arial"/>
            </a:endParaRPr>
          </a:p>
          <a:p>
            <a:pPr marL="44450">
              <a:lnSpc>
                <a:spcPts val="1170"/>
              </a:lnSpc>
            </a:pPr>
            <a:r>
              <a:rPr sz="1000" spc="-20" dirty="0">
                <a:latin typeface="Arial"/>
                <a:cs typeface="Arial"/>
              </a:rPr>
              <a:t>We</a:t>
            </a:r>
            <a:r>
              <a:rPr sz="1000" spc="-5" dirty="0">
                <a:latin typeface="Arial"/>
                <a:cs typeface="Arial"/>
              </a:rPr>
              <a:t> omit</a:t>
            </a:r>
            <a:r>
              <a:rPr sz="1000" dirty="0">
                <a:latin typeface="Arial"/>
                <a:cs typeface="Arial"/>
              </a:rPr>
              <a:t> </a:t>
            </a:r>
            <a:r>
              <a:rPr sz="1000" spc="-10" dirty="0">
                <a:latin typeface="Arial"/>
                <a:cs typeface="Arial"/>
              </a:rPr>
              <a:t>index</a:t>
            </a:r>
            <a:r>
              <a:rPr sz="1000" spc="-5" dirty="0">
                <a:latin typeface="Arial"/>
                <a:cs typeface="Arial"/>
              </a:rPr>
              <a:t> when</a:t>
            </a:r>
            <a:r>
              <a:rPr sz="1000" dirty="0">
                <a:latin typeface="Arial"/>
                <a:cs typeface="Arial"/>
              </a:rPr>
              <a:t> </a:t>
            </a:r>
            <a:r>
              <a:rPr sz="1000" spc="-5" dirty="0">
                <a:latin typeface="Arial"/>
                <a:cs typeface="Arial"/>
              </a:rPr>
              <a:t>possible and</a:t>
            </a:r>
            <a:r>
              <a:rPr sz="1000" dirty="0">
                <a:latin typeface="Arial"/>
                <a:cs typeface="Arial"/>
              </a:rPr>
              <a:t> </a:t>
            </a:r>
            <a:r>
              <a:rPr sz="1000" spc="-10" dirty="0">
                <a:latin typeface="Arial"/>
                <a:cs typeface="Arial"/>
              </a:rPr>
              <a:t>draw</a:t>
            </a:r>
            <a:r>
              <a:rPr sz="1000" dirty="0">
                <a:latin typeface="Arial"/>
                <a:cs typeface="Arial"/>
              </a:rPr>
              <a:t> </a:t>
            </a:r>
            <a:r>
              <a:rPr sz="1000" spc="-5" dirty="0">
                <a:latin typeface="Arial"/>
                <a:cs typeface="Arial"/>
              </a:rPr>
              <a:t>according to</a:t>
            </a:r>
            <a:r>
              <a:rPr sz="1000" dirty="0">
                <a:latin typeface="Arial"/>
                <a:cs typeface="Arial"/>
              </a:rPr>
              <a:t> </a:t>
            </a:r>
            <a:r>
              <a:rPr sz="1000" spc="-5" dirty="0">
                <a:latin typeface="Arial"/>
                <a:cs typeface="Arial"/>
              </a:rPr>
              <a:t>time (x-axis):</a:t>
            </a:r>
            <a:endParaRPr sz="1000" dirty="0">
              <a:latin typeface="Arial"/>
              <a:cs typeface="Arial"/>
            </a:endParaRPr>
          </a:p>
          <a:p>
            <a:pPr>
              <a:lnSpc>
                <a:spcPct val="100000"/>
              </a:lnSpc>
              <a:spcBef>
                <a:spcPts val="50"/>
              </a:spcBef>
            </a:pPr>
            <a:endParaRPr sz="900" dirty="0">
              <a:latin typeface="Arial"/>
              <a:cs typeface="Arial"/>
            </a:endParaRPr>
          </a:p>
          <a:p>
            <a:pPr marL="927735">
              <a:lnSpc>
                <a:spcPct val="100000"/>
              </a:lnSpc>
              <a:tabLst>
                <a:tab pos="1445895" algn="l"/>
              </a:tabLst>
            </a:pPr>
            <a:r>
              <a:rPr sz="950" spc="5" dirty="0">
                <a:solidFill>
                  <a:srgbClr val="231F20"/>
                </a:solidFill>
                <a:latin typeface="Arial"/>
                <a:cs typeface="Arial"/>
              </a:rPr>
              <a:t>P1:	W(x)a</a:t>
            </a:r>
            <a:endParaRPr sz="950" dirty="0">
              <a:latin typeface="Arial"/>
              <a:cs typeface="Arial"/>
            </a:endParaRPr>
          </a:p>
          <a:p>
            <a:pPr marL="927735">
              <a:lnSpc>
                <a:spcPct val="100000"/>
              </a:lnSpc>
              <a:spcBef>
                <a:spcPts val="204"/>
              </a:spcBef>
              <a:tabLst>
                <a:tab pos="2072639" algn="l"/>
                <a:tab pos="2663190" algn="l"/>
              </a:tabLst>
            </a:pPr>
            <a:r>
              <a:rPr sz="950" spc="5" dirty="0">
                <a:solidFill>
                  <a:srgbClr val="231F20"/>
                </a:solidFill>
                <a:latin typeface="Arial"/>
                <a:cs typeface="Arial"/>
              </a:rPr>
              <a:t>P2:	</a:t>
            </a:r>
            <a:r>
              <a:rPr sz="950" dirty="0">
                <a:solidFill>
                  <a:srgbClr val="231F20"/>
                </a:solidFill>
                <a:latin typeface="Arial"/>
                <a:cs typeface="Arial"/>
              </a:rPr>
              <a:t>R(x)NIL	R(x)a</a:t>
            </a:r>
            <a:endParaRPr sz="950" dirty="0">
              <a:latin typeface="Arial"/>
              <a:cs typeface="Arial"/>
            </a:endParaRPr>
          </a:p>
        </p:txBody>
      </p:sp>
      <p:sp>
        <p:nvSpPr>
          <p:cNvPr id="6" name="object 6"/>
          <p:cNvSpPr/>
          <p:nvPr/>
        </p:nvSpPr>
        <p:spPr>
          <a:xfrm>
            <a:off x="1237202" y="2538931"/>
            <a:ext cx="2138680" cy="0"/>
          </a:xfrm>
          <a:custGeom>
            <a:avLst/>
            <a:gdLst/>
            <a:ahLst/>
            <a:cxnLst/>
            <a:rect l="l" t="t" r="r" b="b"/>
            <a:pathLst>
              <a:path w="2138679">
                <a:moveTo>
                  <a:pt x="0" y="0"/>
                </a:moveTo>
                <a:lnTo>
                  <a:pt x="2138406" y="0"/>
                </a:lnTo>
              </a:path>
            </a:pathLst>
          </a:custGeom>
          <a:ln w="7620">
            <a:solidFill>
              <a:srgbClr val="231F20"/>
            </a:solidFill>
          </a:ln>
        </p:spPr>
        <p:txBody>
          <a:bodyPr wrap="square" lIns="0" tIns="0" rIns="0" bIns="0" rtlCol="0"/>
          <a:lstStyle/>
          <a:p>
            <a:endParaRPr/>
          </a:p>
        </p:txBody>
      </p:sp>
      <p:sp>
        <p:nvSpPr>
          <p:cNvPr id="7" name="object 7"/>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Sequential</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consistency</a:t>
            </a:r>
            <a:endParaRPr sz="600">
              <a:latin typeface="Arial"/>
              <a:cs typeface="Arial"/>
            </a:endParaRPr>
          </a:p>
        </p:txBody>
      </p:sp>
      <p:sp>
        <p:nvSpPr>
          <p:cNvPr id="8" name="object 8"/>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7</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Data-centric</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397354" y="716"/>
            <a:ext cx="11442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Consistent ordering</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of operations</a:t>
            </a:r>
            <a:endParaRPr sz="600">
              <a:latin typeface="Arial"/>
              <a:cs typeface="Arial"/>
            </a:endParaRPr>
          </a:p>
        </p:txBody>
      </p:sp>
      <p:sp>
        <p:nvSpPr>
          <p:cNvPr id="4" name="object 4"/>
          <p:cNvSpPr txBox="1"/>
          <p:nvPr/>
        </p:nvSpPr>
        <p:spPr>
          <a:xfrm>
            <a:off x="95300" y="188846"/>
            <a:ext cx="188912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Sequential</a:t>
            </a:r>
            <a:r>
              <a:rPr sz="1400" spc="-55" dirty="0">
                <a:solidFill>
                  <a:srgbClr val="3333B2"/>
                </a:solidFill>
                <a:latin typeface="Arial"/>
                <a:cs typeface="Arial"/>
              </a:rPr>
              <a:t> </a:t>
            </a:r>
            <a:r>
              <a:rPr sz="1400" spc="15" dirty="0">
                <a:solidFill>
                  <a:srgbClr val="3333B2"/>
                </a:solidFill>
                <a:latin typeface="Arial"/>
                <a:cs typeface="Arial"/>
              </a:rPr>
              <a:t>consistency</a:t>
            </a:r>
            <a:endParaRPr sz="1400">
              <a:latin typeface="Arial"/>
              <a:cs typeface="Arial"/>
            </a:endParaRPr>
          </a:p>
        </p:txBody>
      </p:sp>
      <p:sp>
        <p:nvSpPr>
          <p:cNvPr id="5" name="object 5"/>
          <p:cNvSpPr/>
          <p:nvPr/>
        </p:nvSpPr>
        <p:spPr>
          <a:xfrm>
            <a:off x="435914" y="2139738"/>
            <a:ext cx="1479550" cy="0"/>
          </a:xfrm>
          <a:custGeom>
            <a:avLst/>
            <a:gdLst/>
            <a:ahLst/>
            <a:cxnLst/>
            <a:rect l="l" t="t" r="r" b="b"/>
            <a:pathLst>
              <a:path w="1479550">
                <a:moveTo>
                  <a:pt x="0" y="0"/>
                </a:moveTo>
                <a:lnTo>
                  <a:pt x="1479060" y="0"/>
                </a:lnTo>
              </a:path>
            </a:pathLst>
          </a:custGeom>
          <a:ln w="5270">
            <a:solidFill>
              <a:srgbClr val="231F20"/>
            </a:solidFill>
          </a:ln>
        </p:spPr>
        <p:txBody>
          <a:bodyPr wrap="square" lIns="0" tIns="0" rIns="0" bIns="0" rtlCol="0"/>
          <a:lstStyle/>
          <a:p>
            <a:endParaRPr/>
          </a:p>
        </p:txBody>
      </p:sp>
      <p:sp>
        <p:nvSpPr>
          <p:cNvPr id="6" name="object 6"/>
          <p:cNvSpPr/>
          <p:nvPr/>
        </p:nvSpPr>
        <p:spPr>
          <a:xfrm>
            <a:off x="435914" y="2259256"/>
            <a:ext cx="1479550" cy="0"/>
          </a:xfrm>
          <a:custGeom>
            <a:avLst/>
            <a:gdLst/>
            <a:ahLst/>
            <a:cxnLst/>
            <a:rect l="l" t="t" r="r" b="b"/>
            <a:pathLst>
              <a:path w="1479550">
                <a:moveTo>
                  <a:pt x="0" y="0"/>
                </a:moveTo>
                <a:lnTo>
                  <a:pt x="1479060" y="0"/>
                </a:lnTo>
              </a:path>
            </a:pathLst>
          </a:custGeom>
          <a:ln w="5270">
            <a:solidFill>
              <a:srgbClr val="231F20"/>
            </a:solidFill>
          </a:ln>
        </p:spPr>
        <p:txBody>
          <a:bodyPr wrap="square" lIns="0" tIns="0" rIns="0" bIns="0" rtlCol="0"/>
          <a:lstStyle/>
          <a:p>
            <a:endParaRPr/>
          </a:p>
        </p:txBody>
      </p:sp>
      <p:sp>
        <p:nvSpPr>
          <p:cNvPr id="7" name="object 7"/>
          <p:cNvSpPr/>
          <p:nvPr/>
        </p:nvSpPr>
        <p:spPr>
          <a:xfrm>
            <a:off x="435914" y="2378781"/>
            <a:ext cx="1479550" cy="0"/>
          </a:xfrm>
          <a:custGeom>
            <a:avLst/>
            <a:gdLst/>
            <a:ahLst/>
            <a:cxnLst/>
            <a:rect l="l" t="t" r="r" b="b"/>
            <a:pathLst>
              <a:path w="1479550">
                <a:moveTo>
                  <a:pt x="0" y="0"/>
                </a:moveTo>
                <a:lnTo>
                  <a:pt x="1479060" y="0"/>
                </a:lnTo>
              </a:path>
            </a:pathLst>
          </a:custGeom>
          <a:ln w="5270">
            <a:solidFill>
              <a:srgbClr val="231F20"/>
            </a:solidFill>
          </a:ln>
        </p:spPr>
        <p:txBody>
          <a:bodyPr wrap="square" lIns="0" tIns="0" rIns="0" bIns="0" rtlCol="0"/>
          <a:lstStyle/>
          <a:p>
            <a:endParaRPr/>
          </a:p>
        </p:txBody>
      </p:sp>
      <p:sp>
        <p:nvSpPr>
          <p:cNvPr id="8" name="object 8"/>
          <p:cNvSpPr/>
          <p:nvPr/>
        </p:nvSpPr>
        <p:spPr>
          <a:xfrm>
            <a:off x="2381268" y="2141369"/>
            <a:ext cx="1479550" cy="0"/>
          </a:xfrm>
          <a:custGeom>
            <a:avLst/>
            <a:gdLst/>
            <a:ahLst/>
            <a:cxnLst/>
            <a:rect l="l" t="t" r="r" b="b"/>
            <a:pathLst>
              <a:path w="1479550">
                <a:moveTo>
                  <a:pt x="0" y="0"/>
                </a:moveTo>
                <a:lnTo>
                  <a:pt x="1479017" y="0"/>
                </a:lnTo>
              </a:path>
            </a:pathLst>
          </a:custGeom>
          <a:ln w="5270">
            <a:solidFill>
              <a:srgbClr val="231F20"/>
            </a:solidFill>
          </a:ln>
        </p:spPr>
        <p:txBody>
          <a:bodyPr wrap="square" lIns="0" tIns="0" rIns="0" bIns="0" rtlCol="0"/>
          <a:lstStyle/>
          <a:p>
            <a:endParaRPr/>
          </a:p>
        </p:txBody>
      </p:sp>
      <p:sp>
        <p:nvSpPr>
          <p:cNvPr id="9" name="object 9"/>
          <p:cNvSpPr/>
          <p:nvPr/>
        </p:nvSpPr>
        <p:spPr>
          <a:xfrm>
            <a:off x="2381268" y="2260886"/>
            <a:ext cx="1479550" cy="0"/>
          </a:xfrm>
          <a:custGeom>
            <a:avLst/>
            <a:gdLst/>
            <a:ahLst/>
            <a:cxnLst/>
            <a:rect l="l" t="t" r="r" b="b"/>
            <a:pathLst>
              <a:path w="1479550">
                <a:moveTo>
                  <a:pt x="0" y="0"/>
                </a:moveTo>
                <a:lnTo>
                  <a:pt x="1479017" y="0"/>
                </a:lnTo>
              </a:path>
            </a:pathLst>
          </a:custGeom>
          <a:ln w="5270">
            <a:solidFill>
              <a:srgbClr val="231F20"/>
            </a:solidFill>
          </a:ln>
        </p:spPr>
        <p:txBody>
          <a:bodyPr wrap="square" lIns="0" tIns="0" rIns="0" bIns="0" rtlCol="0"/>
          <a:lstStyle/>
          <a:p>
            <a:endParaRPr/>
          </a:p>
        </p:txBody>
      </p:sp>
      <p:sp>
        <p:nvSpPr>
          <p:cNvPr id="10" name="object 10"/>
          <p:cNvSpPr/>
          <p:nvPr/>
        </p:nvSpPr>
        <p:spPr>
          <a:xfrm>
            <a:off x="2381268" y="2380412"/>
            <a:ext cx="1479550" cy="0"/>
          </a:xfrm>
          <a:custGeom>
            <a:avLst/>
            <a:gdLst/>
            <a:ahLst/>
            <a:cxnLst/>
            <a:rect l="l" t="t" r="r" b="b"/>
            <a:pathLst>
              <a:path w="1479550">
                <a:moveTo>
                  <a:pt x="0" y="0"/>
                </a:moveTo>
                <a:lnTo>
                  <a:pt x="1479017" y="0"/>
                </a:lnTo>
              </a:path>
            </a:pathLst>
          </a:custGeom>
          <a:ln w="5270">
            <a:solidFill>
              <a:srgbClr val="231F20"/>
            </a:solidFill>
          </a:ln>
        </p:spPr>
        <p:txBody>
          <a:bodyPr wrap="square" lIns="0" tIns="0" rIns="0" bIns="0" rtlCol="0"/>
          <a:lstStyle/>
          <a:p>
            <a:endParaRPr/>
          </a:p>
        </p:txBody>
      </p:sp>
      <p:sp>
        <p:nvSpPr>
          <p:cNvPr id="11" name="object 11"/>
          <p:cNvSpPr txBox="1"/>
          <p:nvPr/>
        </p:nvSpPr>
        <p:spPr>
          <a:xfrm>
            <a:off x="342290" y="790318"/>
            <a:ext cx="3917950" cy="1928495"/>
          </a:xfrm>
          <a:prstGeom prst="rect">
            <a:avLst/>
          </a:prstGeom>
        </p:spPr>
        <p:txBody>
          <a:bodyPr vert="horz" wrap="square" lIns="0" tIns="12065" rIns="0" bIns="0" rtlCol="0">
            <a:spAutoFit/>
          </a:bodyPr>
          <a:lstStyle/>
          <a:p>
            <a:pPr marL="17145">
              <a:lnSpc>
                <a:spcPts val="1410"/>
              </a:lnSpc>
              <a:spcBef>
                <a:spcPts val="95"/>
              </a:spcBef>
            </a:pPr>
            <a:r>
              <a:rPr sz="1200" spc="-5" dirty="0">
                <a:solidFill>
                  <a:srgbClr val="3333B2"/>
                </a:solidFill>
                <a:latin typeface="Arial"/>
                <a:cs typeface="Arial"/>
              </a:rPr>
              <a:t>Definition</a:t>
            </a:r>
            <a:endParaRPr sz="1200" dirty="0">
              <a:latin typeface="Arial"/>
              <a:cs typeface="Arial"/>
            </a:endParaRPr>
          </a:p>
          <a:p>
            <a:pPr marL="17145" marR="5080" indent="-4445">
              <a:lnSpc>
                <a:spcPts val="1200"/>
              </a:lnSpc>
              <a:spcBef>
                <a:spcPts val="10"/>
              </a:spcBef>
            </a:pPr>
            <a:r>
              <a:rPr sz="1000" spc="-5" dirty="0">
                <a:latin typeface="Arial"/>
                <a:cs typeface="Arial"/>
              </a:rPr>
              <a:t>The result of</a:t>
            </a:r>
            <a:r>
              <a:rPr sz="1000" dirty="0">
                <a:latin typeface="Arial"/>
                <a:cs typeface="Arial"/>
              </a:rPr>
              <a:t> </a:t>
            </a:r>
            <a:r>
              <a:rPr sz="1000" spc="-10" dirty="0">
                <a:latin typeface="Arial"/>
                <a:cs typeface="Arial"/>
              </a:rPr>
              <a:t>any</a:t>
            </a:r>
            <a:r>
              <a:rPr sz="1000" spc="-5" dirty="0">
                <a:latin typeface="Arial"/>
                <a:cs typeface="Arial"/>
              </a:rPr>
              <a:t> </a:t>
            </a:r>
            <a:r>
              <a:rPr sz="1000" spc="-10" dirty="0">
                <a:latin typeface="Arial"/>
                <a:cs typeface="Arial"/>
              </a:rPr>
              <a:t>execution</a:t>
            </a:r>
            <a:r>
              <a:rPr sz="1000" dirty="0">
                <a:latin typeface="Arial"/>
                <a:cs typeface="Arial"/>
              </a:rPr>
              <a:t> </a:t>
            </a:r>
            <a:r>
              <a:rPr sz="1000" spc="-5" dirty="0">
                <a:latin typeface="Arial"/>
                <a:cs typeface="Arial"/>
              </a:rPr>
              <a:t>is the</a:t>
            </a:r>
            <a:r>
              <a:rPr sz="1000" dirty="0">
                <a:latin typeface="Arial"/>
                <a:cs typeface="Arial"/>
              </a:rPr>
              <a:t> </a:t>
            </a:r>
            <a:r>
              <a:rPr sz="1000" spc="-5" dirty="0">
                <a:latin typeface="Arial"/>
                <a:cs typeface="Arial"/>
              </a:rPr>
              <a:t>same as if</a:t>
            </a:r>
            <a:r>
              <a:rPr sz="1000" dirty="0">
                <a:latin typeface="Arial"/>
                <a:cs typeface="Arial"/>
              </a:rPr>
              <a:t> </a:t>
            </a:r>
            <a:r>
              <a:rPr sz="1000" spc="-5" dirty="0">
                <a:latin typeface="Arial"/>
                <a:cs typeface="Arial"/>
              </a:rPr>
              <a:t>the operations</a:t>
            </a:r>
            <a:r>
              <a:rPr sz="1000" dirty="0">
                <a:latin typeface="Arial"/>
                <a:cs typeface="Arial"/>
              </a:rPr>
              <a:t> </a:t>
            </a:r>
            <a:r>
              <a:rPr sz="1000" spc="-5" dirty="0">
                <a:latin typeface="Arial"/>
                <a:cs typeface="Arial"/>
              </a:rPr>
              <a:t>of all </a:t>
            </a:r>
            <a:r>
              <a:rPr sz="1000" dirty="0">
                <a:latin typeface="Arial"/>
                <a:cs typeface="Arial"/>
              </a:rPr>
              <a:t> </a:t>
            </a:r>
            <a:r>
              <a:rPr sz="1000" spc="-15" dirty="0">
                <a:latin typeface="Arial"/>
                <a:cs typeface="Arial"/>
              </a:rPr>
              <a:t>processes</a:t>
            </a:r>
            <a:r>
              <a:rPr sz="1000" dirty="0">
                <a:latin typeface="Arial"/>
                <a:cs typeface="Arial"/>
              </a:rPr>
              <a:t> </a:t>
            </a:r>
            <a:r>
              <a:rPr sz="1000" spc="-15" dirty="0">
                <a:latin typeface="Arial"/>
                <a:cs typeface="Arial"/>
              </a:rPr>
              <a:t>were</a:t>
            </a:r>
            <a:r>
              <a:rPr sz="1000" spc="5" dirty="0">
                <a:latin typeface="Arial"/>
                <a:cs typeface="Arial"/>
              </a:rPr>
              <a:t> </a:t>
            </a:r>
            <a:r>
              <a:rPr sz="1000" spc="-25" dirty="0">
                <a:latin typeface="Arial"/>
                <a:cs typeface="Arial"/>
              </a:rPr>
              <a:t>executed</a:t>
            </a:r>
            <a:r>
              <a:rPr sz="1000" spc="5" dirty="0">
                <a:latin typeface="Arial"/>
                <a:cs typeface="Arial"/>
              </a:rPr>
              <a:t> </a:t>
            </a:r>
            <a:r>
              <a:rPr sz="1000" spc="-10" dirty="0">
                <a:latin typeface="Arial"/>
                <a:cs typeface="Arial"/>
              </a:rPr>
              <a:t>in</a:t>
            </a:r>
            <a:r>
              <a:rPr sz="1000" dirty="0">
                <a:latin typeface="Arial"/>
                <a:cs typeface="Arial"/>
              </a:rPr>
              <a:t> </a:t>
            </a:r>
            <a:r>
              <a:rPr sz="1000" spc="-15" dirty="0">
                <a:latin typeface="Arial"/>
                <a:cs typeface="Arial"/>
              </a:rPr>
              <a:t>some</a:t>
            </a:r>
            <a:r>
              <a:rPr sz="1000" spc="5" dirty="0">
                <a:latin typeface="Arial"/>
                <a:cs typeface="Arial"/>
              </a:rPr>
              <a:t> </a:t>
            </a:r>
            <a:r>
              <a:rPr sz="1000" spc="-15" dirty="0">
                <a:latin typeface="Arial"/>
                <a:cs typeface="Arial"/>
              </a:rPr>
              <a:t>sequential</a:t>
            </a:r>
            <a:r>
              <a:rPr sz="1000" spc="5" dirty="0">
                <a:latin typeface="Arial"/>
                <a:cs typeface="Arial"/>
              </a:rPr>
              <a:t> </a:t>
            </a:r>
            <a:r>
              <a:rPr sz="1000" spc="-20" dirty="0">
                <a:latin typeface="Arial"/>
                <a:cs typeface="Arial"/>
              </a:rPr>
              <a:t>order,</a:t>
            </a:r>
            <a:r>
              <a:rPr sz="1000" spc="5" dirty="0">
                <a:latin typeface="Arial"/>
                <a:cs typeface="Arial"/>
              </a:rPr>
              <a:t> </a:t>
            </a:r>
            <a:r>
              <a:rPr sz="1000" spc="-15" dirty="0">
                <a:latin typeface="Arial"/>
                <a:cs typeface="Arial"/>
              </a:rPr>
              <a:t>and</a:t>
            </a:r>
            <a:r>
              <a:rPr sz="1000" dirty="0">
                <a:latin typeface="Arial"/>
                <a:cs typeface="Arial"/>
              </a:rPr>
              <a:t> </a:t>
            </a:r>
            <a:r>
              <a:rPr sz="1000" spc="-15" dirty="0">
                <a:latin typeface="Arial"/>
                <a:cs typeface="Arial"/>
              </a:rPr>
              <a:t>the</a:t>
            </a:r>
            <a:r>
              <a:rPr sz="1000" spc="5" dirty="0">
                <a:latin typeface="Arial"/>
                <a:cs typeface="Arial"/>
              </a:rPr>
              <a:t> </a:t>
            </a:r>
            <a:r>
              <a:rPr sz="1000" spc="-15" dirty="0">
                <a:latin typeface="Arial"/>
                <a:cs typeface="Arial"/>
              </a:rPr>
              <a:t>operations </a:t>
            </a:r>
            <a:r>
              <a:rPr sz="1000" spc="-265" dirty="0">
                <a:latin typeface="Arial"/>
                <a:cs typeface="Arial"/>
              </a:rPr>
              <a:t> </a:t>
            </a:r>
            <a:r>
              <a:rPr sz="1000" spc="-5" dirty="0">
                <a:latin typeface="Arial"/>
                <a:cs typeface="Arial"/>
              </a:rPr>
              <a:t>of each</a:t>
            </a:r>
            <a:r>
              <a:rPr sz="1000" dirty="0">
                <a:latin typeface="Arial"/>
                <a:cs typeface="Arial"/>
              </a:rPr>
              <a:t> </a:t>
            </a:r>
            <a:r>
              <a:rPr sz="1000" spc="-5" dirty="0">
                <a:latin typeface="Arial"/>
                <a:cs typeface="Arial"/>
              </a:rPr>
              <a:t>individual process</a:t>
            </a:r>
            <a:r>
              <a:rPr sz="1000" dirty="0">
                <a:latin typeface="Arial"/>
                <a:cs typeface="Arial"/>
              </a:rPr>
              <a:t> </a:t>
            </a:r>
            <a:r>
              <a:rPr sz="1000" spc="-5" dirty="0">
                <a:latin typeface="Arial"/>
                <a:cs typeface="Arial"/>
              </a:rPr>
              <a:t>appear</a:t>
            </a:r>
            <a:r>
              <a:rPr sz="1000" dirty="0">
                <a:latin typeface="Arial"/>
                <a:cs typeface="Arial"/>
              </a:rPr>
              <a:t> </a:t>
            </a:r>
            <a:r>
              <a:rPr sz="1000" spc="-5" dirty="0">
                <a:latin typeface="Arial"/>
                <a:cs typeface="Arial"/>
              </a:rPr>
              <a:t>in this</a:t>
            </a:r>
            <a:r>
              <a:rPr sz="1000" dirty="0">
                <a:latin typeface="Arial"/>
                <a:cs typeface="Arial"/>
              </a:rPr>
              <a:t> </a:t>
            </a:r>
            <a:r>
              <a:rPr sz="1000" spc="-5" dirty="0">
                <a:latin typeface="Arial"/>
                <a:cs typeface="Arial"/>
              </a:rPr>
              <a:t>sequence</a:t>
            </a:r>
            <a:r>
              <a:rPr sz="1000" dirty="0">
                <a:latin typeface="Arial"/>
                <a:cs typeface="Arial"/>
              </a:rPr>
              <a:t> </a:t>
            </a:r>
            <a:r>
              <a:rPr sz="1000" spc="-5" dirty="0">
                <a:latin typeface="Arial"/>
                <a:cs typeface="Arial"/>
              </a:rPr>
              <a:t>in the</a:t>
            </a:r>
            <a:r>
              <a:rPr sz="1000" dirty="0">
                <a:latin typeface="Arial"/>
                <a:cs typeface="Arial"/>
              </a:rPr>
              <a:t> </a:t>
            </a:r>
            <a:r>
              <a:rPr sz="1000" spc="-5" dirty="0">
                <a:latin typeface="Arial"/>
                <a:cs typeface="Arial"/>
              </a:rPr>
              <a:t>order </a:t>
            </a:r>
            <a:r>
              <a:rPr sz="1000" dirty="0">
                <a:latin typeface="Arial"/>
                <a:cs typeface="Arial"/>
              </a:rPr>
              <a:t> </a:t>
            </a:r>
            <a:r>
              <a:rPr sz="1000" spc="-5" dirty="0">
                <a:latin typeface="Arial"/>
                <a:cs typeface="Arial"/>
              </a:rPr>
              <a:t>specified</a:t>
            </a:r>
            <a:r>
              <a:rPr sz="1000" spc="-10" dirty="0">
                <a:latin typeface="Arial"/>
                <a:cs typeface="Arial"/>
              </a:rPr>
              <a:t> </a:t>
            </a:r>
            <a:r>
              <a:rPr sz="1000" spc="-15" dirty="0">
                <a:latin typeface="Arial"/>
                <a:cs typeface="Arial"/>
              </a:rPr>
              <a:t>by</a:t>
            </a:r>
            <a:r>
              <a:rPr sz="1000" spc="-5" dirty="0">
                <a:latin typeface="Arial"/>
                <a:cs typeface="Arial"/>
              </a:rPr>
              <a:t> its program.</a:t>
            </a:r>
            <a:endParaRPr sz="1000" dirty="0">
              <a:latin typeface="Arial"/>
              <a:cs typeface="Arial"/>
            </a:endParaRPr>
          </a:p>
          <a:p>
            <a:pPr marL="17145" marR="142875" indent="-5080">
              <a:lnSpc>
                <a:spcPts val="1390"/>
              </a:lnSpc>
              <a:spcBef>
                <a:spcPts val="725"/>
              </a:spcBef>
              <a:buAutoNum type="alphaLcParenBoth"/>
              <a:tabLst>
                <a:tab pos="240665" algn="l"/>
              </a:tabLst>
            </a:pPr>
            <a:r>
              <a:rPr sz="1200" spc="-5" dirty="0">
                <a:solidFill>
                  <a:srgbClr val="3333B2"/>
                </a:solidFill>
                <a:latin typeface="Arial"/>
                <a:cs typeface="Arial"/>
              </a:rPr>
              <a:t>A</a:t>
            </a:r>
            <a:r>
              <a:rPr sz="1200" dirty="0">
                <a:solidFill>
                  <a:srgbClr val="3333B2"/>
                </a:solidFill>
                <a:latin typeface="Arial"/>
                <a:cs typeface="Arial"/>
              </a:rPr>
              <a:t> </a:t>
            </a:r>
            <a:r>
              <a:rPr sz="1200" spc="-5" dirty="0">
                <a:solidFill>
                  <a:srgbClr val="3333B2"/>
                </a:solidFill>
                <a:latin typeface="Arial"/>
                <a:cs typeface="Arial"/>
              </a:rPr>
              <a:t>sequentially</a:t>
            </a:r>
            <a:r>
              <a:rPr sz="1200" dirty="0">
                <a:solidFill>
                  <a:srgbClr val="3333B2"/>
                </a:solidFill>
                <a:latin typeface="Arial"/>
                <a:cs typeface="Arial"/>
              </a:rPr>
              <a:t> </a:t>
            </a:r>
            <a:r>
              <a:rPr sz="1200" spc="-5" dirty="0">
                <a:solidFill>
                  <a:srgbClr val="3333B2"/>
                </a:solidFill>
                <a:latin typeface="Arial"/>
                <a:cs typeface="Arial"/>
              </a:rPr>
              <a:t>consistent</a:t>
            </a:r>
            <a:r>
              <a:rPr sz="1200" dirty="0">
                <a:solidFill>
                  <a:srgbClr val="3333B2"/>
                </a:solidFill>
                <a:latin typeface="Arial"/>
                <a:cs typeface="Arial"/>
              </a:rPr>
              <a:t> </a:t>
            </a:r>
            <a:r>
              <a:rPr sz="1200" spc="-5" dirty="0">
                <a:solidFill>
                  <a:srgbClr val="3333B2"/>
                </a:solidFill>
                <a:latin typeface="Arial"/>
                <a:cs typeface="Arial"/>
              </a:rPr>
              <a:t>data</a:t>
            </a:r>
            <a:r>
              <a:rPr sz="1200" dirty="0">
                <a:solidFill>
                  <a:srgbClr val="3333B2"/>
                </a:solidFill>
                <a:latin typeface="Arial"/>
                <a:cs typeface="Arial"/>
              </a:rPr>
              <a:t> </a:t>
            </a:r>
            <a:r>
              <a:rPr sz="1200" spc="-10" dirty="0">
                <a:solidFill>
                  <a:srgbClr val="3333B2"/>
                </a:solidFill>
                <a:latin typeface="Arial"/>
                <a:cs typeface="Arial"/>
              </a:rPr>
              <a:t>store.</a:t>
            </a:r>
            <a:r>
              <a:rPr sz="1200" spc="80" dirty="0">
                <a:solidFill>
                  <a:srgbClr val="3333B2"/>
                </a:solidFill>
                <a:latin typeface="Arial"/>
                <a:cs typeface="Arial"/>
              </a:rPr>
              <a:t> </a:t>
            </a:r>
            <a:r>
              <a:rPr sz="1200" spc="-5" dirty="0">
                <a:solidFill>
                  <a:srgbClr val="3333B2"/>
                </a:solidFill>
                <a:latin typeface="Arial"/>
                <a:cs typeface="Arial"/>
              </a:rPr>
              <a:t>(b)</a:t>
            </a:r>
            <a:r>
              <a:rPr sz="1200" dirty="0">
                <a:solidFill>
                  <a:srgbClr val="3333B2"/>
                </a:solidFill>
                <a:latin typeface="Arial"/>
                <a:cs typeface="Arial"/>
              </a:rPr>
              <a:t> </a:t>
            </a:r>
            <a:r>
              <a:rPr sz="1200" spc="-5" dirty="0">
                <a:solidFill>
                  <a:srgbClr val="3333B2"/>
                </a:solidFill>
                <a:latin typeface="Arial"/>
                <a:cs typeface="Arial"/>
              </a:rPr>
              <a:t>A</a:t>
            </a:r>
            <a:r>
              <a:rPr sz="1200" dirty="0">
                <a:solidFill>
                  <a:srgbClr val="3333B2"/>
                </a:solidFill>
                <a:latin typeface="Arial"/>
                <a:cs typeface="Arial"/>
              </a:rPr>
              <a:t> </a:t>
            </a:r>
            <a:r>
              <a:rPr sz="1200" spc="-5" dirty="0">
                <a:solidFill>
                  <a:srgbClr val="3333B2"/>
                </a:solidFill>
                <a:latin typeface="Arial"/>
                <a:cs typeface="Arial"/>
              </a:rPr>
              <a:t>data</a:t>
            </a:r>
            <a:r>
              <a:rPr sz="1200" dirty="0">
                <a:solidFill>
                  <a:srgbClr val="3333B2"/>
                </a:solidFill>
                <a:latin typeface="Arial"/>
                <a:cs typeface="Arial"/>
              </a:rPr>
              <a:t> </a:t>
            </a:r>
            <a:r>
              <a:rPr sz="1200" spc="-5" dirty="0">
                <a:solidFill>
                  <a:srgbClr val="3333B2"/>
                </a:solidFill>
                <a:latin typeface="Arial"/>
                <a:cs typeface="Arial"/>
              </a:rPr>
              <a:t>store </a:t>
            </a:r>
            <a:r>
              <a:rPr sz="1200" spc="-320" dirty="0">
                <a:solidFill>
                  <a:srgbClr val="3333B2"/>
                </a:solidFill>
                <a:latin typeface="Arial"/>
                <a:cs typeface="Arial"/>
              </a:rPr>
              <a:t> </a:t>
            </a:r>
            <a:r>
              <a:rPr sz="1200" spc="-5" dirty="0">
                <a:solidFill>
                  <a:srgbClr val="3333B2"/>
                </a:solidFill>
                <a:latin typeface="Arial"/>
                <a:cs typeface="Arial"/>
              </a:rPr>
              <a:t>that</a:t>
            </a:r>
            <a:r>
              <a:rPr sz="1200" spc="-10" dirty="0">
                <a:solidFill>
                  <a:srgbClr val="3333B2"/>
                </a:solidFill>
                <a:latin typeface="Arial"/>
                <a:cs typeface="Arial"/>
              </a:rPr>
              <a:t> </a:t>
            </a:r>
            <a:r>
              <a:rPr sz="1200" spc="-5" dirty="0">
                <a:solidFill>
                  <a:srgbClr val="3333B2"/>
                </a:solidFill>
                <a:latin typeface="Arial"/>
                <a:cs typeface="Arial"/>
              </a:rPr>
              <a:t>is not sequentially consistent</a:t>
            </a:r>
            <a:endParaRPr sz="1200" dirty="0">
              <a:latin typeface="Arial"/>
              <a:cs typeface="Arial"/>
            </a:endParaRPr>
          </a:p>
          <a:p>
            <a:pPr marL="93345">
              <a:lnSpc>
                <a:spcPts val="705"/>
              </a:lnSpc>
              <a:tabLst>
                <a:tab pos="2038350" algn="l"/>
              </a:tabLst>
            </a:pPr>
            <a:r>
              <a:rPr sz="650" spc="5" dirty="0">
                <a:solidFill>
                  <a:srgbClr val="231F20"/>
                </a:solidFill>
                <a:latin typeface="Arial"/>
                <a:cs typeface="Arial"/>
              </a:rPr>
              <a:t>P1:</a:t>
            </a:r>
            <a:r>
              <a:rPr sz="650" spc="120" dirty="0">
                <a:solidFill>
                  <a:srgbClr val="231F20"/>
                </a:solidFill>
                <a:latin typeface="Arial"/>
                <a:cs typeface="Arial"/>
              </a:rPr>
              <a:t> </a:t>
            </a:r>
            <a:r>
              <a:rPr sz="650" spc="5" dirty="0">
                <a:solidFill>
                  <a:srgbClr val="231F20"/>
                </a:solidFill>
                <a:latin typeface="Arial"/>
                <a:cs typeface="Arial"/>
              </a:rPr>
              <a:t>W(x)a	P1:</a:t>
            </a:r>
            <a:r>
              <a:rPr sz="650" spc="180" dirty="0">
                <a:solidFill>
                  <a:srgbClr val="231F20"/>
                </a:solidFill>
                <a:latin typeface="Arial"/>
                <a:cs typeface="Arial"/>
              </a:rPr>
              <a:t> </a:t>
            </a:r>
            <a:r>
              <a:rPr sz="650" spc="5" dirty="0">
                <a:solidFill>
                  <a:srgbClr val="231F20"/>
                </a:solidFill>
                <a:latin typeface="Arial"/>
                <a:cs typeface="Arial"/>
              </a:rPr>
              <a:t>W(x)a</a:t>
            </a:r>
            <a:endParaRPr sz="650" dirty="0">
              <a:latin typeface="Arial"/>
              <a:cs typeface="Arial"/>
            </a:endParaRPr>
          </a:p>
          <a:p>
            <a:pPr marL="93345">
              <a:lnSpc>
                <a:spcPct val="100000"/>
              </a:lnSpc>
              <a:spcBef>
                <a:spcPts val="165"/>
              </a:spcBef>
              <a:tabLst>
                <a:tab pos="496570" algn="l"/>
                <a:tab pos="2038350" algn="l"/>
                <a:tab pos="2472055" algn="l"/>
              </a:tabLst>
            </a:pPr>
            <a:r>
              <a:rPr sz="650" spc="5" dirty="0">
                <a:solidFill>
                  <a:srgbClr val="231F20"/>
                </a:solidFill>
                <a:latin typeface="Arial"/>
                <a:cs typeface="Arial"/>
              </a:rPr>
              <a:t>P2:	W(x)b	P2:	W(x)b</a:t>
            </a:r>
            <a:endParaRPr sz="650" dirty="0">
              <a:latin typeface="Arial"/>
              <a:cs typeface="Arial"/>
            </a:endParaRPr>
          </a:p>
          <a:p>
            <a:pPr marL="93345">
              <a:lnSpc>
                <a:spcPct val="100000"/>
              </a:lnSpc>
              <a:spcBef>
                <a:spcPts val="170"/>
              </a:spcBef>
              <a:tabLst>
                <a:tab pos="810260" algn="l"/>
                <a:tab pos="1288415" algn="l"/>
                <a:tab pos="2038350" algn="l"/>
                <a:tab pos="2755900" algn="l"/>
                <a:tab pos="3234055" algn="l"/>
              </a:tabLst>
            </a:pPr>
            <a:r>
              <a:rPr sz="975" spc="7" baseline="4273" dirty="0">
                <a:solidFill>
                  <a:srgbClr val="231F20"/>
                </a:solidFill>
                <a:latin typeface="Arial"/>
                <a:cs typeface="Arial"/>
              </a:rPr>
              <a:t>P3:	</a:t>
            </a:r>
            <a:r>
              <a:rPr sz="650" spc="5" dirty="0">
                <a:solidFill>
                  <a:srgbClr val="231F20"/>
                </a:solidFill>
                <a:latin typeface="Arial"/>
                <a:cs typeface="Arial"/>
              </a:rPr>
              <a:t>R(x)b	R(x)a	P3:	R(x)b	R(x)a</a:t>
            </a:r>
            <a:endParaRPr sz="650" dirty="0">
              <a:latin typeface="Arial"/>
              <a:cs typeface="Arial"/>
            </a:endParaRPr>
          </a:p>
          <a:p>
            <a:pPr marL="93345">
              <a:lnSpc>
                <a:spcPct val="100000"/>
              </a:lnSpc>
              <a:spcBef>
                <a:spcPts val="165"/>
              </a:spcBef>
              <a:tabLst>
                <a:tab pos="1019810" algn="l"/>
                <a:tab pos="2038350" algn="l"/>
                <a:tab pos="2980055" algn="l"/>
              </a:tabLst>
            </a:pPr>
            <a:r>
              <a:rPr sz="975" spc="7" baseline="4273" dirty="0">
                <a:solidFill>
                  <a:srgbClr val="231F20"/>
                </a:solidFill>
                <a:latin typeface="Arial"/>
                <a:cs typeface="Arial"/>
              </a:rPr>
              <a:t>P4:	R(x)b </a:t>
            </a:r>
            <a:r>
              <a:rPr sz="975" spc="202" baseline="4273" dirty="0">
                <a:solidFill>
                  <a:srgbClr val="231F20"/>
                </a:solidFill>
                <a:latin typeface="Arial"/>
                <a:cs typeface="Arial"/>
              </a:rPr>
              <a:t> </a:t>
            </a:r>
            <a:r>
              <a:rPr sz="650" spc="5" dirty="0">
                <a:solidFill>
                  <a:srgbClr val="231F20"/>
                </a:solidFill>
                <a:latin typeface="Arial"/>
                <a:cs typeface="Arial"/>
              </a:rPr>
              <a:t>R(x)a	P4:	</a:t>
            </a:r>
            <a:r>
              <a:rPr sz="975" spc="7" baseline="4273" dirty="0">
                <a:solidFill>
                  <a:srgbClr val="231F20"/>
                </a:solidFill>
                <a:latin typeface="Arial"/>
                <a:cs typeface="Arial"/>
              </a:rPr>
              <a:t>R(x)a</a:t>
            </a:r>
            <a:r>
              <a:rPr sz="975" spc="165" baseline="4273" dirty="0">
                <a:solidFill>
                  <a:srgbClr val="231F20"/>
                </a:solidFill>
                <a:latin typeface="Arial"/>
                <a:cs typeface="Arial"/>
              </a:rPr>
              <a:t> </a:t>
            </a:r>
            <a:r>
              <a:rPr sz="650" spc="5" dirty="0">
                <a:solidFill>
                  <a:srgbClr val="231F20"/>
                </a:solidFill>
                <a:latin typeface="Arial"/>
                <a:cs typeface="Arial"/>
              </a:rPr>
              <a:t>R(x)b</a:t>
            </a:r>
            <a:endParaRPr sz="650" dirty="0">
              <a:latin typeface="Arial"/>
              <a:cs typeface="Arial"/>
            </a:endParaRPr>
          </a:p>
          <a:p>
            <a:pPr marL="2700655" lvl="1" indent="-1942464">
              <a:lnSpc>
                <a:spcPct val="100000"/>
              </a:lnSpc>
              <a:spcBef>
                <a:spcPts val="509"/>
              </a:spcBef>
              <a:buAutoNum type="alphaLcParenBoth"/>
              <a:tabLst>
                <a:tab pos="2700655" algn="l"/>
                <a:tab pos="2701290" algn="l"/>
              </a:tabLst>
            </a:pPr>
            <a:r>
              <a:rPr sz="1000" spc="-5" dirty="0">
                <a:latin typeface="Arial"/>
                <a:cs typeface="Arial"/>
              </a:rPr>
              <a:t>(b)</a:t>
            </a:r>
            <a:endParaRPr sz="1000" dirty="0">
              <a:latin typeface="Arial"/>
              <a:cs typeface="Arial"/>
            </a:endParaRPr>
          </a:p>
        </p:txBody>
      </p:sp>
      <p:sp>
        <p:nvSpPr>
          <p:cNvPr id="12" name="object 12"/>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Sequential</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consistency</a:t>
            </a:r>
            <a:endParaRPr sz="600">
              <a:latin typeface="Arial"/>
              <a:cs typeface="Arial"/>
            </a:endParaRPr>
          </a:p>
        </p:txBody>
      </p:sp>
      <p:sp>
        <p:nvSpPr>
          <p:cNvPr id="13" name="object 13"/>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8</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Consistency</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and</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replication:</a:t>
            </a:r>
            <a:r>
              <a:rPr sz="600" spc="175" dirty="0">
                <a:solidFill>
                  <a:srgbClr val="3333B2"/>
                </a:solidFill>
                <a:latin typeface="Arial"/>
                <a:cs typeface="Arial"/>
              </a:rPr>
              <a:t> </a:t>
            </a:r>
            <a:r>
              <a:rPr sz="600" spc="-5" dirty="0">
                <a:solidFill>
                  <a:srgbClr val="3333B2"/>
                </a:solidFill>
                <a:latin typeface="Arial"/>
                <a:cs typeface="Arial"/>
                <a:hlinkClick r:id="rId3" action="ppaction://hlinksldjump"/>
              </a:rPr>
              <a:t>Data-centric</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models</a:t>
            </a:r>
            <a:endParaRPr sz="600">
              <a:latin typeface="Arial"/>
              <a:cs typeface="Arial"/>
            </a:endParaRPr>
          </a:p>
        </p:txBody>
      </p:sp>
      <p:sp>
        <p:nvSpPr>
          <p:cNvPr id="3" name="object 3"/>
          <p:cNvSpPr txBox="1"/>
          <p:nvPr/>
        </p:nvSpPr>
        <p:spPr>
          <a:xfrm>
            <a:off x="3397354" y="716"/>
            <a:ext cx="11442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Consistent ordering</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of operations</a:t>
            </a:r>
            <a:endParaRPr sz="600">
              <a:latin typeface="Arial"/>
              <a:cs typeface="Arial"/>
            </a:endParaRPr>
          </a:p>
        </p:txBody>
      </p:sp>
      <p:sp>
        <p:nvSpPr>
          <p:cNvPr id="4" name="object 4"/>
          <p:cNvSpPr/>
          <p:nvPr/>
        </p:nvSpPr>
        <p:spPr>
          <a:xfrm>
            <a:off x="1032421" y="884796"/>
            <a:ext cx="2543175" cy="19050"/>
          </a:xfrm>
          <a:custGeom>
            <a:avLst/>
            <a:gdLst/>
            <a:ahLst/>
            <a:cxnLst/>
            <a:rect l="l" t="t" r="r" b="b"/>
            <a:pathLst>
              <a:path w="2543175" h="19050">
                <a:moveTo>
                  <a:pt x="2543162" y="0"/>
                </a:moveTo>
                <a:lnTo>
                  <a:pt x="0" y="0"/>
                </a:lnTo>
                <a:lnTo>
                  <a:pt x="0" y="18973"/>
                </a:lnTo>
                <a:lnTo>
                  <a:pt x="2543162" y="18973"/>
                </a:lnTo>
                <a:lnTo>
                  <a:pt x="2543162" y="0"/>
                </a:lnTo>
                <a:close/>
              </a:path>
            </a:pathLst>
          </a:custGeom>
          <a:solidFill>
            <a:srgbClr val="000000"/>
          </a:solidFill>
        </p:spPr>
        <p:txBody>
          <a:bodyPr wrap="square" lIns="0" tIns="0" rIns="0" bIns="0" rtlCol="0"/>
          <a:lstStyle/>
          <a:p>
            <a:endParaRPr/>
          </a:p>
        </p:txBody>
      </p:sp>
      <p:sp>
        <p:nvSpPr>
          <p:cNvPr id="5" name="object 5"/>
          <p:cNvSpPr txBox="1"/>
          <p:nvPr/>
        </p:nvSpPr>
        <p:spPr>
          <a:xfrm>
            <a:off x="57200" y="162640"/>
            <a:ext cx="3474720" cy="1011555"/>
          </a:xfrm>
          <a:prstGeom prst="rect">
            <a:avLst/>
          </a:prstGeom>
        </p:spPr>
        <p:txBody>
          <a:bodyPr vert="horz" wrap="square" lIns="0" tIns="43180" rIns="0" bIns="0" rtlCol="0">
            <a:spAutoFit/>
          </a:bodyPr>
          <a:lstStyle/>
          <a:p>
            <a:pPr marL="50800">
              <a:lnSpc>
                <a:spcPct val="100000"/>
              </a:lnSpc>
              <a:spcBef>
                <a:spcPts val="340"/>
              </a:spcBef>
            </a:pPr>
            <a:r>
              <a:rPr sz="1400" spc="15" dirty="0">
                <a:solidFill>
                  <a:srgbClr val="3333B2"/>
                </a:solidFill>
                <a:latin typeface="Arial"/>
                <a:cs typeface="Arial"/>
              </a:rPr>
              <a:t>Example</a:t>
            </a:r>
            <a:endParaRPr sz="1400">
              <a:latin typeface="Arial"/>
              <a:cs typeface="Arial"/>
            </a:endParaRPr>
          </a:p>
          <a:p>
            <a:pPr marL="297815">
              <a:lnSpc>
                <a:spcPct val="100000"/>
              </a:lnSpc>
              <a:spcBef>
                <a:spcPts val="175"/>
              </a:spcBef>
            </a:pPr>
            <a:r>
              <a:rPr sz="1200" spc="-5" dirty="0">
                <a:solidFill>
                  <a:srgbClr val="3333B2"/>
                </a:solidFill>
                <a:latin typeface="Arial"/>
                <a:cs typeface="Arial"/>
              </a:rPr>
              <a:t>Three concurrent</a:t>
            </a:r>
            <a:r>
              <a:rPr sz="1200" dirty="0">
                <a:solidFill>
                  <a:srgbClr val="3333B2"/>
                </a:solidFill>
                <a:latin typeface="Arial"/>
                <a:cs typeface="Arial"/>
              </a:rPr>
              <a:t> </a:t>
            </a:r>
            <a:r>
              <a:rPr sz="1200" spc="-5" dirty="0">
                <a:solidFill>
                  <a:srgbClr val="3333B2"/>
                </a:solidFill>
                <a:latin typeface="Arial"/>
                <a:cs typeface="Arial"/>
              </a:rPr>
              <a:t>processes</a:t>
            </a:r>
            <a:r>
              <a:rPr sz="1200" dirty="0">
                <a:solidFill>
                  <a:srgbClr val="3333B2"/>
                </a:solidFill>
                <a:latin typeface="Arial"/>
                <a:cs typeface="Arial"/>
              </a:rPr>
              <a:t> </a:t>
            </a:r>
            <a:r>
              <a:rPr sz="1200" spc="-5" dirty="0">
                <a:solidFill>
                  <a:srgbClr val="3333B2"/>
                </a:solidFill>
                <a:latin typeface="Arial"/>
                <a:cs typeface="Arial"/>
              </a:rPr>
              <a:t>(initial </a:t>
            </a:r>
            <a:r>
              <a:rPr sz="1200" spc="-10" dirty="0">
                <a:solidFill>
                  <a:srgbClr val="3333B2"/>
                </a:solidFill>
                <a:latin typeface="Arial"/>
                <a:cs typeface="Arial"/>
              </a:rPr>
              <a:t>values:</a:t>
            </a:r>
            <a:r>
              <a:rPr sz="1200" spc="80" dirty="0">
                <a:solidFill>
                  <a:srgbClr val="3333B2"/>
                </a:solidFill>
                <a:latin typeface="Arial"/>
                <a:cs typeface="Arial"/>
              </a:rPr>
              <a:t> </a:t>
            </a:r>
            <a:r>
              <a:rPr sz="1200" spc="-5" dirty="0">
                <a:solidFill>
                  <a:srgbClr val="3333B2"/>
                </a:solidFill>
                <a:latin typeface="Arial"/>
                <a:cs typeface="Arial"/>
              </a:rPr>
              <a:t>0)</a:t>
            </a:r>
            <a:endParaRPr sz="1200">
              <a:latin typeface="Arial"/>
              <a:cs typeface="Arial"/>
            </a:endParaRPr>
          </a:p>
          <a:p>
            <a:pPr marL="1044575" marR="17780" indent="5715">
              <a:lnSpc>
                <a:spcPct val="95900"/>
              </a:lnSpc>
              <a:spcBef>
                <a:spcPts val="775"/>
              </a:spcBef>
              <a:tabLst>
                <a:tab pos="1892300" algn="l"/>
                <a:tab pos="2740025" algn="l"/>
              </a:tabLst>
            </a:pPr>
            <a:r>
              <a:rPr sz="1000" spc="-5" dirty="0">
                <a:latin typeface="Arial"/>
                <a:cs typeface="Arial"/>
              </a:rPr>
              <a:t>Process</a:t>
            </a:r>
            <a:r>
              <a:rPr sz="1000" dirty="0">
                <a:latin typeface="Arial"/>
                <a:cs typeface="Arial"/>
              </a:rPr>
              <a:t> </a:t>
            </a:r>
            <a:r>
              <a:rPr sz="1000" i="1" spc="5" dirty="0">
                <a:latin typeface="Arial"/>
                <a:cs typeface="Arial"/>
              </a:rPr>
              <a:t>P</a:t>
            </a:r>
            <a:r>
              <a:rPr sz="1050" i="1" spc="7" baseline="-15873" dirty="0">
                <a:latin typeface="Arial"/>
                <a:cs typeface="Arial"/>
              </a:rPr>
              <a:t>1	</a:t>
            </a:r>
            <a:r>
              <a:rPr sz="1000" spc="-5" dirty="0">
                <a:latin typeface="Arial"/>
                <a:cs typeface="Arial"/>
              </a:rPr>
              <a:t>Process</a:t>
            </a:r>
            <a:r>
              <a:rPr sz="1000" spc="5" dirty="0">
                <a:latin typeface="Arial"/>
                <a:cs typeface="Arial"/>
              </a:rPr>
              <a:t> </a:t>
            </a:r>
            <a:r>
              <a:rPr sz="1000" i="1" spc="5" dirty="0">
                <a:latin typeface="Arial"/>
                <a:cs typeface="Arial"/>
              </a:rPr>
              <a:t>P</a:t>
            </a:r>
            <a:r>
              <a:rPr sz="1050" i="1" spc="7" baseline="-15873" dirty="0">
                <a:latin typeface="Arial"/>
                <a:cs typeface="Arial"/>
              </a:rPr>
              <a:t>2	</a:t>
            </a:r>
            <a:r>
              <a:rPr sz="1000" spc="-5" dirty="0">
                <a:latin typeface="Arial"/>
                <a:cs typeface="Arial"/>
              </a:rPr>
              <a:t>Process</a:t>
            </a:r>
            <a:r>
              <a:rPr sz="1000" spc="25" dirty="0">
                <a:latin typeface="Arial"/>
                <a:cs typeface="Arial"/>
              </a:rPr>
              <a:t> </a:t>
            </a:r>
            <a:r>
              <a:rPr sz="1000" i="1" spc="5" dirty="0">
                <a:latin typeface="Arial"/>
                <a:cs typeface="Arial"/>
              </a:rPr>
              <a:t>P</a:t>
            </a:r>
            <a:r>
              <a:rPr sz="1050" i="1" spc="7" baseline="-15873" dirty="0">
                <a:latin typeface="Arial"/>
                <a:cs typeface="Arial"/>
              </a:rPr>
              <a:t>3 </a:t>
            </a:r>
            <a:r>
              <a:rPr sz="1050" i="1" spc="15" baseline="-15873" dirty="0">
                <a:latin typeface="Arial"/>
                <a:cs typeface="Arial"/>
              </a:rPr>
              <a:t> </a:t>
            </a:r>
            <a:r>
              <a:rPr sz="1000" spc="95" dirty="0">
                <a:latin typeface="Times New Roman"/>
                <a:cs typeface="Times New Roman"/>
              </a:rPr>
              <a:t>x</a:t>
            </a:r>
            <a:r>
              <a:rPr sz="1000" spc="185" dirty="0">
                <a:latin typeface="Times New Roman"/>
                <a:cs typeface="Times New Roman"/>
              </a:rPr>
              <a:t> </a:t>
            </a:r>
            <a:r>
              <a:rPr sz="1000" i="1" spc="-5" dirty="0">
                <a:latin typeface="メイリオ"/>
                <a:cs typeface="メイリオ"/>
              </a:rPr>
              <a:t>←</a:t>
            </a:r>
            <a:r>
              <a:rPr sz="1000" i="1" spc="100" dirty="0">
                <a:latin typeface="メイリオ"/>
                <a:cs typeface="メイリオ"/>
              </a:rPr>
              <a:t> </a:t>
            </a:r>
            <a:r>
              <a:rPr sz="1000" spc="155" dirty="0">
                <a:latin typeface="Times New Roman"/>
                <a:cs typeface="Times New Roman"/>
              </a:rPr>
              <a:t>1;	</a:t>
            </a:r>
            <a:r>
              <a:rPr sz="1000" spc="95" dirty="0">
                <a:latin typeface="Times New Roman"/>
                <a:cs typeface="Times New Roman"/>
              </a:rPr>
              <a:t>y</a:t>
            </a:r>
            <a:r>
              <a:rPr sz="1000" spc="185" dirty="0">
                <a:latin typeface="Times New Roman"/>
                <a:cs typeface="Times New Roman"/>
              </a:rPr>
              <a:t> </a:t>
            </a:r>
            <a:r>
              <a:rPr sz="1000" i="1" spc="-5" dirty="0">
                <a:latin typeface="メイリオ"/>
                <a:cs typeface="メイリオ"/>
              </a:rPr>
              <a:t>←</a:t>
            </a:r>
            <a:r>
              <a:rPr sz="1000" i="1" spc="100" dirty="0">
                <a:latin typeface="メイリオ"/>
                <a:cs typeface="メイリオ"/>
              </a:rPr>
              <a:t> </a:t>
            </a:r>
            <a:r>
              <a:rPr sz="1000" spc="155" dirty="0">
                <a:latin typeface="Times New Roman"/>
                <a:cs typeface="Times New Roman"/>
              </a:rPr>
              <a:t>1;	</a:t>
            </a:r>
            <a:r>
              <a:rPr sz="1000" spc="150" dirty="0">
                <a:latin typeface="Times New Roman"/>
                <a:cs typeface="Times New Roman"/>
              </a:rPr>
              <a:t>z</a:t>
            </a:r>
            <a:r>
              <a:rPr sz="1000" spc="170" dirty="0">
                <a:latin typeface="Times New Roman"/>
                <a:cs typeface="Times New Roman"/>
              </a:rPr>
              <a:t> </a:t>
            </a:r>
            <a:r>
              <a:rPr sz="1000" i="1" spc="-5" dirty="0">
                <a:latin typeface="メイリオ"/>
                <a:cs typeface="メイリオ"/>
              </a:rPr>
              <a:t>←</a:t>
            </a:r>
            <a:r>
              <a:rPr sz="1000" i="1" spc="85" dirty="0">
                <a:latin typeface="メイリオ"/>
                <a:cs typeface="メイリオ"/>
              </a:rPr>
              <a:t> </a:t>
            </a:r>
            <a:r>
              <a:rPr sz="1000" spc="155" dirty="0">
                <a:latin typeface="Times New Roman"/>
                <a:cs typeface="Times New Roman"/>
              </a:rPr>
              <a:t>1; </a:t>
            </a:r>
            <a:r>
              <a:rPr sz="1000" spc="160" dirty="0">
                <a:latin typeface="Times New Roman"/>
                <a:cs typeface="Times New Roman"/>
              </a:rPr>
              <a:t> </a:t>
            </a:r>
            <a:r>
              <a:rPr sz="1000" spc="-5" dirty="0">
                <a:latin typeface="Times New Roman"/>
                <a:cs typeface="Times New Roman"/>
              </a:rPr>
              <a:t>p</a:t>
            </a:r>
            <a:r>
              <a:rPr sz="1000" spc="160" dirty="0">
                <a:latin typeface="Times New Roman"/>
                <a:cs typeface="Times New Roman"/>
              </a:rPr>
              <a:t>r</a:t>
            </a:r>
            <a:r>
              <a:rPr sz="1000" spc="215" dirty="0">
                <a:latin typeface="Times New Roman"/>
                <a:cs typeface="Times New Roman"/>
              </a:rPr>
              <a:t>i</a:t>
            </a:r>
            <a:r>
              <a:rPr sz="1000" spc="-5" dirty="0">
                <a:latin typeface="Times New Roman"/>
                <a:cs typeface="Times New Roman"/>
              </a:rPr>
              <a:t>n</a:t>
            </a:r>
            <a:r>
              <a:rPr sz="1000" spc="215" dirty="0">
                <a:latin typeface="Times New Roman"/>
                <a:cs typeface="Times New Roman"/>
              </a:rPr>
              <a:t>t</a:t>
            </a:r>
            <a:r>
              <a:rPr sz="1000" spc="160" dirty="0">
                <a:latin typeface="Times New Roman"/>
                <a:cs typeface="Times New Roman"/>
              </a:rPr>
              <a:t>(</a:t>
            </a:r>
            <a:r>
              <a:rPr sz="1000" spc="-5" dirty="0">
                <a:latin typeface="Times New Roman"/>
                <a:cs typeface="Times New Roman"/>
              </a:rPr>
              <a:t>y</a:t>
            </a:r>
            <a:r>
              <a:rPr sz="1000" spc="245" dirty="0">
                <a:latin typeface="Times New Roman"/>
                <a:cs typeface="Times New Roman"/>
              </a:rPr>
              <a:t>,</a:t>
            </a:r>
            <a:r>
              <a:rPr sz="1000" spc="50" dirty="0">
                <a:latin typeface="Times New Roman"/>
                <a:cs typeface="Times New Roman"/>
              </a:rPr>
              <a:t>z</a:t>
            </a:r>
            <a:r>
              <a:rPr sz="1000" spc="160" dirty="0">
                <a:latin typeface="Times New Roman"/>
                <a:cs typeface="Times New Roman"/>
              </a:rPr>
              <a:t>)</a:t>
            </a:r>
            <a:r>
              <a:rPr sz="1000" spc="315" dirty="0">
                <a:latin typeface="Times New Roman"/>
                <a:cs typeface="Times New Roman"/>
              </a:rPr>
              <a:t>;</a:t>
            </a:r>
            <a:r>
              <a:rPr sz="1000" dirty="0">
                <a:latin typeface="Times New Roman"/>
                <a:cs typeface="Times New Roman"/>
              </a:rPr>
              <a:t>	</a:t>
            </a:r>
            <a:r>
              <a:rPr sz="1000" spc="-5" dirty="0">
                <a:latin typeface="Times New Roman"/>
                <a:cs typeface="Times New Roman"/>
              </a:rPr>
              <a:t>p</a:t>
            </a:r>
            <a:r>
              <a:rPr sz="1000" spc="160" dirty="0">
                <a:latin typeface="Times New Roman"/>
                <a:cs typeface="Times New Roman"/>
              </a:rPr>
              <a:t>r</a:t>
            </a:r>
            <a:r>
              <a:rPr sz="1000" spc="215" dirty="0">
                <a:latin typeface="Times New Roman"/>
                <a:cs typeface="Times New Roman"/>
              </a:rPr>
              <a:t>i</a:t>
            </a:r>
            <a:r>
              <a:rPr sz="1000" spc="-5" dirty="0">
                <a:latin typeface="Times New Roman"/>
                <a:cs typeface="Times New Roman"/>
              </a:rPr>
              <a:t>n</a:t>
            </a:r>
            <a:r>
              <a:rPr sz="1000" spc="215" dirty="0">
                <a:latin typeface="Times New Roman"/>
                <a:cs typeface="Times New Roman"/>
              </a:rPr>
              <a:t>t</a:t>
            </a:r>
            <a:r>
              <a:rPr sz="1000" spc="160" dirty="0">
                <a:latin typeface="Times New Roman"/>
                <a:cs typeface="Times New Roman"/>
              </a:rPr>
              <a:t>(</a:t>
            </a:r>
            <a:r>
              <a:rPr sz="1000" spc="-5" dirty="0">
                <a:latin typeface="Times New Roman"/>
                <a:cs typeface="Times New Roman"/>
              </a:rPr>
              <a:t>x</a:t>
            </a:r>
            <a:r>
              <a:rPr sz="1000" spc="245" dirty="0">
                <a:latin typeface="Times New Roman"/>
                <a:cs typeface="Times New Roman"/>
              </a:rPr>
              <a:t>,</a:t>
            </a:r>
            <a:r>
              <a:rPr sz="1000" spc="50" dirty="0">
                <a:latin typeface="Times New Roman"/>
                <a:cs typeface="Times New Roman"/>
              </a:rPr>
              <a:t>z</a:t>
            </a:r>
            <a:r>
              <a:rPr sz="1000" spc="160" dirty="0">
                <a:latin typeface="Times New Roman"/>
                <a:cs typeface="Times New Roman"/>
              </a:rPr>
              <a:t>)</a:t>
            </a:r>
            <a:r>
              <a:rPr sz="1000" spc="315" dirty="0">
                <a:latin typeface="Times New Roman"/>
                <a:cs typeface="Times New Roman"/>
              </a:rPr>
              <a:t>;</a:t>
            </a:r>
            <a:r>
              <a:rPr sz="1000" dirty="0">
                <a:latin typeface="Times New Roman"/>
                <a:cs typeface="Times New Roman"/>
              </a:rPr>
              <a:t>	</a:t>
            </a:r>
            <a:r>
              <a:rPr sz="1000" spc="-5" dirty="0">
                <a:latin typeface="Times New Roman"/>
                <a:cs typeface="Times New Roman"/>
              </a:rPr>
              <a:t>p</a:t>
            </a:r>
            <a:r>
              <a:rPr sz="1000" spc="160" dirty="0">
                <a:latin typeface="Times New Roman"/>
                <a:cs typeface="Times New Roman"/>
              </a:rPr>
              <a:t>r</a:t>
            </a:r>
            <a:r>
              <a:rPr sz="1000" spc="215" dirty="0">
                <a:latin typeface="Times New Roman"/>
                <a:cs typeface="Times New Roman"/>
              </a:rPr>
              <a:t>i</a:t>
            </a:r>
            <a:r>
              <a:rPr sz="1000" spc="-5" dirty="0">
                <a:latin typeface="Times New Roman"/>
                <a:cs typeface="Times New Roman"/>
              </a:rPr>
              <a:t>n</a:t>
            </a:r>
            <a:r>
              <a:rPr sz="1000" spc="215" dirty="0">
                <a:latin typeface="Times New Roman"/>
                <a:cs typeface="Times New Roman"/>
              </a:rPr>
              <a:t>t</a:t>
            </a:r>
            <a:r>
              <a:rPr sz="1000" spc="160" dirty="0">
                <a:latin typeface="Times New Roman"/>
                <a:cs typeface="Times New Roman"/>
              </a:rPr>
              <a:t>(</a:t>
            </a:r>
            <a:r>
              <a:rPr sz="1000" spc="-5" dirty="0">
                <a:latin typeface="Times New Roman"/>
                <a:cs typeface="Times New Roman"/>
              </a:rPr>
              <a:t>x</a:t>
            </a:r>
            <a:r>
              <a:rPr sz="1000" spc="245" dirty="0">
                <a:latin typeface="Times New Roman"/>
                <a:cs typeface="Times New Roman"/>
              </a:rPr>
              <a:t>,</a:t>
            </a:r>
            <a:r>
              <a:rPr sz="1000" spc="-5" dirty="0">
                <a:latin typeface="Times New Roman"/>
                <a:cs typeface="Times New Roman"/>
              </a:rPr>
              <a:t>y</a:t>
            </a:r>
            <a:r>
              <a:rPr sz="1000" spc="160" dirty="0">
                <a:latin typeface="Times New Roman"/>
                <a:cs typeface="Times New Roman"/>
              </a:rPr>
              <a:t>)</a:t>
            </a:r>
            <a:r>
              <a:rPr sz="1000" spc="315" dirty="0">
                <a:latin typeface="Times New Roman"/>
                <a:cs typeface="Times New Roman"/>
              </a:rPr>
              <a:t>;</a:t>
            </a:r>
            <a:endParaRPr sz="1000">
              <a:latin typeface="Times New Roman"/>
              <a:cs typeface="Times New Roman"/>
            </a:endParaRPr>
          </a:p>
        </p:txBody>
      </p:sp>
      <p:sp>
        <p:nvSpPr>
          <p:cNvPr id="6" name="object 6"/>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4" action="ppaction://hlinksldjump"/>
              </a:rPr>
              <a:t>Sequential</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endParaRPr sz="600">
              <a:latin typeface="Arial"/>
              <a:cs typeface="Arial"/>
            </a:endParaRPr>
          </a:p>
        </p:txBody>
      </p:sp>
      <p:sp>
        <p:nvSpPr>
          <p:cNvPr id="7" name="object 7"/>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9</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Data-centric</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397354" y="716"/>
            <a:ext cx="11442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Consistent ordering</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of operations</a:t>
            </a:r>
            <a:endParaRPr sz="600">
              <a:latin typeface="Arial"/>
              <a:cs typeface="Arial"/>
            </a:endParaRPr>
          </a:p>
        </p:txBody>
      </p:sp>
      <p:sp>
        <p:nvSpPr>
          <p:cNvPr id="4" name="object 4"/>
          <p:cNvSpPr/>
          <p:nvPr/>
        </p:nvSpPr>
        <p:spPr>
          <a:xfrm>
            <a:off x="1032421" y="884796"/>
            <a:ext cx="2543175" cy="19050"/>
          </a:xfrm>
          <a:custGeom>
            <a:avLst/>
            <a:gdLst/>
            <a:ahLst/>
            <a:cxnLst/>
            <a:rect l="l" t="t" r="r" b="b"/>
            <a:pathLst>
              <a:path w="2543175" h="19050">
                <a:moveTo>
                  <a:pt x="2543162" y="0"/>
                </a:moveTo>
                <a:lnTo>
                  <a:pt x="0" y="0"/>
                </a:lnTo>
                <a:lnTo>
                  <a:pt x="0" y="18973"/>
                </a:lnTo>
                <a:lnTo>
                  <a:pt x="2543162" y="18973"/>
                </a:lnTo>
                <a:lnTo>
                  <a:pt x="2543162" y="0"/>
                </a:lnTo>
                <a:close/>
              </a:path>
            </a:pathLst>
          </a:custGeom>
          <a:solidFill>
            <a:srgbClr val="000000"/>
          </a:solidFill>
        </p:spPr>
        <p:txBody>
          <a:bodyPr wrap="square" lIns="0" tIns="0" rIns="0" bIns="0" rtlCol="0"/>
          <a:lstStyle/>
          <a:p>
            <a:endParaRPr/>
          </a:p>
        </p:txBody>
      </p:sp>
      <p:sp>
        <p:nvSpPr>
          <p:cNvPr id="5" name="object 5"/>
          <p:cNvSpPr txBox="1"/>
          <p:nvPr/>
        </p:nvSpPr>
        <p:spPr>
          <a:xfrm>
            <a:off x="57200" y="162640"/>
            <a:ext cx="3935729" cy="1548130"/>
          </a:xfrm>
          <a:prstGeom prst="rect">
            <a:avLst/>
          </a:prstGeom>
        </p:spPr>
        <p:txBody>
          <a:bodyPr vert="horz" wrap="square" lIns="0" tIns="43180" rIns="0" bIns="0" rtlCol="0">
            <a:spAutoFit/>
          </a:bodyPr>
          <a:lstStyle/>
          <a:p>
            <a:pPr marL="50800">
              <a:lnSpc>
                <a:spcPct val="100000"/>
              </a:lnSpc>
              <a:spcBef>
                <a:spcPts val="340"/>
              </a:spcBef>
            </a:pPr>
            <a:r>
              <a:rPr sz="1400" spc="15" dirty="0">
                <a:solidFill>
                  <a:srgbClr val="3333B2"/>
                </a:solidFill>
                <a:latin typeface="Arial"/>
                <a:cs typeface="Arial"/>
              </a:rPr>
              <a:t>Example</a:t>
            </a:r>
            <a:endParaRPr sz="1400">
              <a:latin typeface="Arial"/>
              <a:cs typeface="Arial"/>
            </a:endParaRPr>
          </a:p>
          <a:p>
            <a:pPr marL="297815">
              <a:lnSpc>
                <a:spcPct val="100000"/>
              </a:lnSpc>
              <a:spcBef>
                <a:spcPts val="175"/>
              </a:spcBef>
            </a:pPr>
            <a:r>
              <a:rPr sz="1200" spc="-5" dirty="0">
                <a:solidFill>
                  <a:srgbClr val="3333B2"/>
                </a:solidFill>
                <a:latin typeface="Arial"/>
                <a:cs typeface="Arial"/>
              </a:rPr>
              <a:t>Three concurrent</a:t>
            </a:r>
            <a:r>
              <a:rPr sz="1200" dirty="0">
                <a:solidFill>
                  <a:srgbClr val="3333B2"/>
                </a:solidFill>
                <a:latin typeface="Arial"/>
                <a:cs typeface="Arial"/>
              </a:rPr>
              <a:t> </a:t>
            </a:r>
            <a:r>
              <a:rPr sz="1200" spc="-5" dirty="0">
                <a:solidFill>
                  <a:srgbClr val="3333B2"/>
                </a:solidFill>
                <a:latin typeface="Arial"/>
                <a:cs typeface="Arial"/>
              </a:rPr>
              <a:t>processes</a:t>
            </a:r>
            <a:r>
              <a:rPr sz="1200" dirty="0">
                <a:solidFill>
                  <a:srgbClr val="3333B2"/>
                </a:solidFill>
                <a:latin typeface="Arial"/>
                <a:cs typeface="Arial"/>
              </a:rPr>
              <a:t> </a:t>
            </a:r>
            <a:r>
              <a:rPr sz="1200" spc="-5" dirty="0">
                <a:solidFill>
                  <a:srgbClr val="3333B2"/>
                </a:solidFill>
                <a:latin typeface="Arial"/>
                <a:cs typeface="Arial"/>
              </a:rPr>
              <a:t>(initial </a:t>
            </a:r>
            <a:r>
              <a:rPr sz="1200" spc="-10" dirty="0">
                <a:solidFill>
                  <a:srgbClr val="3333B2"/>
                </a:solidFill>
                <a:latin typeface="Arial"/>
                <a:cs typeface="Arial"/>
              </a:rPr>
              <a:t>values:</a:t>
            </a:r>
            <a:r>
              <a:rPr sz="1200" spc="80" dirty="0">
                <a:solidFill>
                  <a:srgbClr val="3333B2"/>
                </a:solidFill>
                <a:latin typeface="Arial"/>
                <a:cs typeface="Arial"/>
              </a:rPr>
              <a:t> </a:t>
            </a:r>
            <a:r>
              <a:rPr sz="1200" spc="-5" dirty="0">
                <a:solidFill>
                  <a:srgbClr val="3333B2"/>
                </a:solidFill>
                <a:latin typeface="Arial"/>
                <a:cs typeface="Arial"/>
              </a:rPr>
              <a:t>0)</a:t>
            </a:r>
            <a:endParaRPr sz="1200">
              <a:latin typeface="Arial"/>
              <a:cs typeface="Arial"/>
            </a:endParaRPr>
          </a:p>
          <a:p>
            <a:pPr marL="1044575" marR="478790" indent="5715">
              <a:lnSpc>
                <a:spcPct val="95900"/>
              </a:lnSpc>
              <a:spcBef>
                <a:spcPts val="775"/>
              </a:spcBef>
              <a:tabLst>
                <a:tab pos="1892300" algn="l"/>
                <a:tab pos="2740025" algn="l"/>
              </a:tabLst>
            </a:pPr>
            <a:r>
              <a:rPr sz="1000" spc="-5" dirty="0">
                <a:latin typeface="Arial"/>
                <a:cs typeface="Arial"/>
              </a:rPr>
              <a:t>Process</a:t>
            </a:r>
            <a:r>
              <a:rPr sz="1000" dirty="0">
                <a:latin typeface="Arial"/>
                <a:cs typeface="Arial"/>
              </a:rPr>
              <a:t> </a:t>
            </a:r>
            <a:r>
              <a:rPr sz="1000" i="1" spc="5" dirty="0">
                <a:latin typeface="Arial"/>
                <a:cs typeface="Arial"/>
              </a:rPr>
              <a:t>P</a:t>
            </a:r>
            <a:r>
              <a:rPr sz="1050" i="1" spc="7" baseline="-15873" dirty="0">
                <a:latin typeface="Arial"/>
                <a:cs typeface="Arial"/>
              </a:rPr>
              <a:t>1	</a:t>
            </a:r>
            <a:r>
              <a:rPr sz="1000" spc="-5" dirty="0">
                <a:latin typeface="Arial"/>
                <a:cs typeface="Arial"/>
              </a:rPr>
              <a:t>Process</a:t>
            </a:r>
            <a:r>
              <a:rPr sz="1000" spc="5" dirty="0">
                <a:latin typeface="Arial"/>
                <a:cs typeface="Arial"/>
              </a:rPr>
              <a:t> </a:t>
            </a:r>
            <a:r>
              <a:rPr sz="1000" i="1" spc="5" dirty="0">
                <a:latin typeface="Arial"/>
                <a:cs typeface="Arial"/>
              </a:rPr>
              <a:t>P</a:t>
            </a:r>
            <a:r>
              <a:rPr sz="1050" i="1" spc="7" baseline="-15873" dirty="0">
                <a:latin typeface="Arial"/>
                <a:cs typeface="Arial"/>
              </a:rPr>
              <a:t>2	</a:t>
            </a:r>
            <a:r>
              <a:rPr sz="1000" spc="-5" dirty="0">
                <a:latin typeface="Arial"/>
                <a:cs typeface="Arial"/>
              </a:rPr>
              <a:t>Process</a:t>
            </a:r>
            <a:r>
              <a:rPr sz="1000" spc="25" dirty="0">
                <a:latin typeface="Arial"/>
                <a:cs typeface="Arial"/>
              </a:rPr>
              <a:t> </a:t>
            </a:r>
            <a:r>
              <a:rPr sz="1000" i="1" spc="5" dirty="0">
                <a:latin typeface="Arial"/>
                <a:cs typeface="Arial"/>
              </a:rPr>
              <a:t>P</a:t>
            </a:r>
            <a:r>
              <a:rPr sz="1050" i="1" spc="7" baseline="-15873" dirty="0">
                <a:latin typeface="Arial"/>
                <a:cs typeface="Arial"/>
              </a:rPr>
              <a:t>3 </a:t>
            </a:r>
            <a:r>
              <a:rPr sz="1050" i="1" spc="15" baseline="-15873" dirty="0">
                <a:latin typeface="Arial"/>
                <a:cs typeface="Arial"/>
              </a:rPr>
              <a:t> </a:t>
            </a:r>
            <a:r>
              <a:rPr sz="1000" spc="95" dirty="0">
                <a:latin typeface="Times New Roman"/>
                <a:cs typeface="Times New Roman"/>
              </a:rPr>
              <a:t>x</a:t>
            </a:r>
            <a:r>
              <a:rPr sz="1000" spc="185" dirty="0">
                <a:latin typeface="Times New Roman"/>
                <a:cs typeface="Times New Roman"/>
              </a:rPr>
              <a:t> </a:t>
            </a:r>
            <a:r>
              <a:rPr sz="1000" i="1" spc="-5" dirty="0">
                <a:latin typeface="メイリオ"/>
                <a:cs typeface="メイリオ"/>
              </a:rPr>
              <a:t>←</a:t>
            </a:r>
            <a:r>
              <a:rPr sz="1000" i="1" spc="100" dirty="0">
                <a:latin typeface="メイリオ"/>
                <a:cs typeface="メイリオ"/>
              </a:rPr>
              <a:t> </a:t>
            </a:r>
            <a:r>
              <a:rPr sz="1000" spc="155" dirty="0">
                <a:latin typeface="Times New Roman"/>
                <a:cs typeface="Times New Roman"/>
              </a:rPr>
              <a:t>1;	</a:t>
            </a:r>
            <a:r>
              <a:rPr sz="1000" spc="95" dirty="0">
                <a:latin typeface="Times New Roman"/>
                <a:cs typeface="Times New Roman"/>
              </a:rPr>
              <a:t>y</a:t>
            </a:r>
            <a:r>
              <a:rPr sz="1000" spc="185" dirty="0">
                <a:latin typeface="Times New Roman"/>
                <a:cs typeface="Times New Roman"/>
              </a:rPr>
              <a:t> </a:t>
            </a:r>
            <a:r>
              <a:rPr sz="1000" i="1" spc="-5" dirty="0">
                <a:latin typeface="メイリオ"/>
                <a:cs typeface="メイリオ"/>
              </a:rPr>
              <a:t>←</a:t>
            </a:r>
            <a:r>
              <a:rPr sz="1000" i="1" spc="100" dirty="0">
                <a:latin typeface="メイリオ"/>
                <a:cs typeface="メイリオ"/>
              </a:rPr>
              <a:t> </a:t>
            </a:r>
            <a:r>
              <a:rPr sz="1000" spc="155" dirty="0">
                <a:latin typeface="Times New Roman"/>
                <a:cs typeface="Times New Roman"/>
              </a:rPr>
              <a:t>1;	</a:t>
            </a:r>
            <a:r>
              <a:rPr sz="1000" spc="150" dirty="0">
                <a:latin typeface="Times New Roman"/>
                <a:cs typeface="Times New Roman"/>
              </a:rPr>
              <a:t>z</a:t>
            </a:r>
            <a:r>
              <a:rPr sz="1000" spc="170" dirty="0">
                <a:latin typeface="Times New Roman"/>
                <a:cs typeface="Times New Roman"/>
              </a:rPr>
              <a:t> </a:t>
            </a:r>
            <a:r>
              <a:rPr sz="1000" i="1" spc="-5" dirty="0">
                <a:latin typeface="メイリオ"/>
                <a:cs typeface="メイリオ"/>
              </a:rPr>
              <a:t>←</a:t>
            </a:r>
            <a:r>
              <a:rPr sz="1000" i="1" spc="85" dirty="0">
                <a:latin typeface="メイリオ"/>
                <a:cs typeface="メイリオ"/>
              </a:rPr>
              <a:t> </a:t>
            </a:r>
            <a:r>
              <a:rPr sz="1000" spc="155" dirty="0">
                <a:latin typeface="Times New Roman"/>
                <a:cs typeface="Times New Roman"/>
              </a:rPr>
              <a:t>1; </a:t>
            </a:r>
            <a:r>
              <a:rPr sz="1000" spc="160" dirty="0">
                <a:latin typeface="Times New Roman"/>
                <a:cs typeface="Times New Roman"/>
              </a:rPr>
              <a:t> </a:t>
            </a:r>
            <a:r>
              <a:rPr sz="1000" spc="-5" dirty="0">
                <a:latin typeface="Times New Roman"/>
                <a:cs typeface="Times New Roman"/>
              </a:rPr>
              <a:t>p</a:t>
            </a:r>
            <a:r>
              <a:rPr sz="1000" spc="160" dirty="0">
                <a:latin typeface="Times New Roman"/>
                <a:cs typeface="Times New Roman"/>
              </a:rPr>
              <a:t>r</a:t>
            </a:r>
            <a:r>
              <a:rPr sz="1000" spc="215" dirty="0">
                <a:latin typeface="Times New Roman"/>
                <a:cs typeface="Times New Roman"/>
              </a:rPr>
              <a:t>i</a:t>
            </a:r>
            <a:r>
              <a:rPr sz="1000" spc="-5" dirty="0">
                <a:latin typeface="Times New Roman"/>
                <a:cs typeface="Times New Roman"/>
              </a:rPr>
              <a:t>n</a:t>
            </a:r>
            <a:r>
              <a:rPr sz="1000" spc="215" dirty="0">
                <a:latin typeface="Times New Roman"/>
                <a:cs typeface="Times New Roman"/>
              </a:rPr>
              <a:t>t</a:t>
            </a:r>
            <a:r>
              <a:rPr sz="1000" spc="160" dirty="0">
                <a:latin typeface="Times New Roman"/>
                <a:cs typeface="Times New Roman"/>
              </a:rPr>
              <a:t>(</a:t>
            </a:r>
            <a:r>
              <a:rPr sz="1000" spc="-5" dirty="0">
                <a:latin typeface="Times New Roman"/>
                <a:cs typeface="Times New Roman"/>
              </a:rPr>
              <a:t>y</a:t>
            </a:r>
            <a:r>
              <a:rPr sz="1000" spc="245" dirty="0">
                <a:latin typeface="Times New Roman"/>
                <a:cs typeface="Times New Roman"/>
              </a:rPr>
              <a:t>,</a:t>
            </a:r>
            <a:r>
              <a:rPr sz="1000" spc="50" dirty="0">
                <a:latin typeface="Times New Roman"/>
                <a:cs typeface="Times New Roman"/>
              </a:rPr>
              <a:t>z</a:t>
            </a:r>
            <a:r>
              <a:rPr sz="1000" spc="160" dirty="0">
                <a:latin typeface="Times New Roman"/>
                <a:cs typeface="Times New Roman"/>
              </a:rPr>
              <a:t>)</a:t>
            </a:r>
            <a:r>
              <a:rPr sz="1000" spc="315" dirty="0">
                <a:latin typeface="Times New Roman"/>
                <a:cs typeface="Times New Roman"/>
              </a:rPr>
              <a:t>;</a:t>
            </a:r>
            <a:r>
              <a:rPr sz="1000" dirty="0">
                <a:latin typeface="Times New Roman"/>
                <a:cs typeface="Times New Roman"/>
              </a:rPr>
              <a:t>	</a:t>
            </a:r>
            <a:r>
              <a:rPr sz="1000" spc="-5" dirty="0">
                <a:latin typeface="Times New Roman"/>
                <a:cs typeface="Times New Roman"/>
              </a:rPr>
              <a:t>p</a:t>
            </a:r>
            <a:r>
              <a:rPr sz="1000" spc="160" dirty="0">
                <a:latin typeface="Times New Roman"/>
                <a:cs typeface="Times New Roman"/>
              </a:rPr>
              <a:t>r</a:t>
            </a:r>
            <a:r>
              <a:rPr sz="1000" spc="215" dirty="0">
                <a:latin typeface="Times New Roman"/>
                <a:cs typeface="Times New Roman"/>
              </a:rPr>
              <a:t>i</a:t>
            </a:r>
            <a:r>
              <a:rPr sz="1000" spc="-5" dirty="0">
                <a:latin typeface="Times New Roman"/>
                <a:cs typeface="Times New Roman"/>
              </a:rPr>
              <a:t>n</a:t>
            </a:r>
            <a:r>
              <a:rPr sz="1000" spc="215" dirty="0">
                <a:latin typeface="Times New Roman"/>
                <a:cs typeface="Times New Roman"/>
              </a:rPr>
              <a:t>t</a:t>
            </a:r>
            <a:r>
              <a:rPr sz="1000" spc="160" dirty="0">
                <a:latin typeface="Times New Roman"/>
                <a:cs typeface="Times New Roman"/>
              </a:rPr>
              <a:t>(</a:t>
            </a:r>
            <a:r>
              <a:rPr sz="1000" spc="-5" dirty="0">
                <a:latin typeface="Times New Roman"/>
                <a:cs typeface="Times New Roman"/>
              </a:rPr>
              <a:t>x</a:t>
            </a:r>
            <a:r>
              <a:rPr sz="1000" spc="245" dirty="0">
                <a:latin typeface="Times New Roman"/>
                <a:cs typeface="Times New Roman"/>
              </a:rPr>
              <a:t>,</a:t>
            </a:r>
            <a:r>
              <a:rPr sz="1000" spc="50" dirty="0">
                <a:latin typeface="Times New Roman"/>
                <a:cs typeface="Times New Roman"/>
              </a:rPr>
              <a:t>z</a:t>
            </a:r>
            <a:r>
              <a:rPr sz="1000" spc="160" dirty="0">
                <a:latin typeface="Times New Roman"/>
                <a:cs typeface="Times New Roman"/>
              </a:rPr>
              <a:t>)</a:t>
            </a:r>
            <a:r>
              <a:rPr sz="1000" spc="315" dirty="0">
                <a:latin typeface="Times New Roman"/>
                <a:cs typeface="Times New Roman"/>
              </a:rPr>
              <a:t>;</a:t>
            </a:r>
            <a:r>
              <a:rPr sz="1000" dirty="0">
                <a:latin typeface="Times New Roman"/>
                <a:cs typeface="Times New Roman"/>
              </a:rPr>
              <a:t>	</a:t>
            </a:r>
            <a:r>
              <a:rPr sz="1000" spc="-5" dirty="0">
                <a:latin typeface="Times New Roman"/>
                <a:cs typeface="Times New Roman"/>
              </a:rPr>
              <a:t>p</a:t>
            </a:r>
            <a:r>
              <a:rPr sz="1000" spc="160" dirty="0">
                <a:latin typeface="Times New Roman"/>
                <a:cs typeface="Times New Roman"/>
              </a:rPr>
              <a:t>r</a:t>
            </a:r>
            <a:r>
              <a:rPr sz="1000" spc="215" dirty="0">
                <a:latin typeface="Times New Roman"/>
                <a:cs typeface="Times New Roman"/>
              </a:rPr>
              <a:t>i</a:t>
            </a:r>
            <a:r>
              <a:rPr sz="1000" spc="-5" dirty="0">
                <a:latin typeface="Times New Roman"/>
                <a:cs typeface="Times New Roman"/>
              </a:rPr>
              <a:t>n</a:t>
            </a:r>
            <a:r>
              <a:rPr sz="1000" spc="215" dirty="0">
                <a:latin typeface="Times New Roman"/>
                <a:cs typeface="Times New Roman"/>
              </a:rPr>
              <a:t>t</a:t>
            </a:r>
            <a:r>
              <a:rPr sz="1000" spc="160" dirty="0">
                <a:latin typeface="Times New Roman"/>
                <a:cs typeface="Times New Roman"/>
              </a:rPr>
              <a:t>(</a:t>
            </a:r>
            <a:r>
              <a:rPr sz="1000" spc="-5" dirty="0">
                <a:latin typeface="Times New Roman"/>
                <a:cs typeface="Times New Roman"/>
              </a:rPr>
              <a:t>x</a:t>
            </a:r>
            <a:r>
              <a:rPr sz="1000" spc="245" dirty="0">
                <a:latin typeface="Times New Roman"/>
                <a:cs typeface="Times New Roman"/>
              </a:rPr>
              <a:t>,</a:t>
            </a:r>
            <a:r>
              <a:rPr sz="1000" spc="-5" dirty="0">
                <a:latin typeface="Times New Roman"/>
                <a:cs typeface="Times New Roman"/>
              </a:rPr>
              <a:t>y</a:t>
            </a:r>
            <a:r>
              <a:rPr sz="1000" spc="160" dirty="0">
                <a:latin typeface="Times New Roman"/>
                <a:cs typeface="Times New Roman"/>
              </a:rPr>
              <a:t>)</a:t>
            </a:r>
            <a:r>
              <a:rPr sz="1000" spc="315" dirty="0">
                <a:latin typeface="Times New Roman"/>
                <a:cs typeface="Times New Roman"/>
              </a:rPr>
              <a:t>;</a:t>
            </a:r>
            <a:endParaRPr sz="1000">
              <a:latin typeface="Times New Roman"/>
              <a:cs typeface="Times New Roman"/>
            </a:endParaRPr>
          </a:p>
          <a:p>
            <a:pPr>
              <a:lnSpc>
                <a:spcPct val="100000"/>
              </a:lnSpc>
              <a:spcBef>
                <a:spcPts val="10"/>
              </a:spcBef>
            </a:pPr>
            <a:endParaRPr sz="1200">
              <a:latin typeface="Times New Roman"/>
              <a:cs typeface="Times New Roman"/>
            </a:endParaRPr>
          </a:p>
          <a:p>
            <a:pPr marL="302260">
              <a:lnSpc>
                <a:spcPts val="1415"/>
              </a:lnSpc>
            </a:pPr>
            <a:r>
              <a:rPr sz="1200" spc="-5" dirty="0">
                <a:solidFill>
                  <a:srgbClr val="3333B2"/>
                </a:solidFill>
                <a:latin typeface="Arial"/>
                <a:cs typeface="Arial"/>
              </a:rPr>
              <a:t>Example </a:t>
            </a:r>
            <a:r>
              <a:rPr sz="1200" spc="-15" dirty="0">
                <a:solidFill>
                  <a:srgbClr val="3333B2"/>
                </a:solidFill>
                <a:latin typeface="Arial"/>
                <a:cs typeface="Arial"/>
              </a:rPr>
              <a:t>execution</a:t>
            </a:r>
            <a:r>
              <a:rPr sz="1200" dirty="0">
                <a:solidFill>
                  <a:srgbClr val="3333B2"/>
                </a:solidFill>
                <a:latin typeface="Arial"/>
                <a:cs typeface="Arial"/>
              </a:rPr>
              <a:t> </a:t>
            </a:r>
            <a:r>
              <a:rPr sz="1200" spc="-5" dirty="0">
                <a:solidFill>
                  <a:srgbClr val="3333B2"/>
                </a:solidFill>
                <a:latin typeface="Arial"/>
                <a:cs typeface="Arial"/>
              </a:rPr>
              <a:t>sequences</a:t>
            </a:r>
            <a:r>
              <a:rPr sz="1200" dirty="0">
                <a:solidFill>
                  <a:srgbClr val="3333B2"/>
                </a:solidFill>
                <a:latin typeface="Arial"/>
                <a:cs typeface="Arial"/>
              </a:rPr>
              <a:t> </a:t>
            </a:r>
            <a:r>
              <a:rPr sz="1200" spc="-5" dirty="0">
                <a:solidFill>
                  <a:srgbClr val="3333B2"/>
                </a:solidFill>
                <a:latin typeface="Arial"/>
                <a:cs typeface="Arial"/>
              </a:rPr>
              <a:t>(signature</a:t>
            </a:r>
            <a:r>
              <a:rPr sz="1200" dirty="0">
                <a:solidFill>
                  <a:srgbClr val="3333B2"/>
                </a:solidFill>
                <a:latin typeface="Arial"/>
                <a:cs typeface="Arial"/>
              </a:rPr>
              <a:t> </a:t>
            </a:r>
            <a:r>
              <a:rPr sz="1200" spc="-5" dirty="0">
                <a:solidFill>
                  <a:srgbClr val="3333B2"/>
                </a:solidFill>
                <a:latin typeface="Arial"/>
                <a:cs typeface="Arial"/>
              </a:rPr>
              <a:t>= [ouput</a:t>
            </a:r>
            <a:r>
              <a:rPr sz="1200" dirty="0">
                <a:solidFill>
                  <a:srgbClr val="3333B2"/>
                </a:solidFill>
                <a:latin typeface="Arial"/>
                <a:cs typeface="Arial"/>
              </a:rPr>
              <a:t> </a:t>
            </a:r>
            <a:r>
              <a:rPr sz="1200" i="1" spc="-5" dirty="0">
                <a:solidFill>
                  <a:srgbClr val="3333B2"/>
                </a:solidFill>
                <a:latin typeface="Arial"/>
                <a:cs typeface="Arial"/>
              </a:rPr>
              <a:t>P</a:t>
            </a:r>
            <a:r>
              <a:rPr sz="1350" i="1" spc="-7" baseline="-12345" dirty="0">
                <a:solidFill>
                  <a:srgbClr val="3333B2"/>
                </a:solidFill>
                <a:latin typeface="Arial"/>
                <a:cs typeface="Arial"/>
              </a:rPr>
              <a:t>1</a:t>
            </a:r>
            <a:endParaRPr sz="1350" baseline="-12345">
              <a:latin typeface="Arial"/>
              <a:cs typeface="Arial"/>
            </a:endParaRPr>
          </a:p>
          <a:p>
            <a:pPr marL="302260">
              <a:lnSpc>
                <a:spcPts val="1415"/>
              </a:lnSpc>
            </a:pPr>
            <a:r>
              <a:rPr sz="1200" spc="-5" dirty="0">
                <a:solidFill>
                  <a:srgbClr val="3333B2"/>
                </a:solidFill>
                <a:latin typeface="Arial"/>
                <a:cs typeface="Arial"/>
              </a:rPr>
              <a:t>output </a:t>
            </a:r>
            <a:r>
              <a:rPr sz="1200" i="1" spc="-5" dirty="0">
                <a:solidFill>
                  <a:srgbClr val="3333B2"/>
                </a:solidFill>
                <a:latin typeface="Arial"/>
                <a:cs typeface="Arial"/>
              </a:rPr>
              <a:t>P</a:t>
            </a:r>
            <a:r>
              <a:rPr sz="1350" i="1" spc="-7" baseline="-12345" dirty="0">
                <a:solidFill>
                  <a:srgbClr val="3333B2"/>
                </a:solidFill>
                <a:latin typeface="Arial"/>
                <a:cs typeface="Arial"/>
              </a:rPr>
              <a:t>2</a:t>
            </a:r>
            <a:r>
              <a:rPr sz="1350" i="1" baseline="-12345" dirty="0">
                <a:solidFill>
                  <a:srgbClr val="3333B2"/>
                </a:solidFill>
                <a:latin typeface="Arial"/>
                <a:cs typeface="Arial"/>
              </a:rPr>
              <a:t> </a:t>
            </a:r>
            <a:r>
              <a:rPr sz="1350" i="1" spc="-97" baseline="-12345" dirty="0">
                <a:solidFill>
                  <a:srgbClr val="3333B2"/>
                </a:solidFill>
                <a:latin typeface="Arial"/>
                <a:cs typeface="Arial"/>
              </a:rPr>
              <a:t> </a:t>
            </a:r>
            <a:r>
              <a:rPr sz="1200" spc="-5" dirty="0">
                <a:solidFill>
                  <a:srgbClr val="3333B2"/>
                </a:solidFill>
                <a:latin typeface="Arial"/>
                <a:cs typeface="Arial"/>
              </a:rPr>
              <a:t>output </a:t>
            </a:r>
            <a:r>
              <a:rPr sz="1200" i="1" spc="-5" dirty="0">
                <a:solidFill>
                  <a:srgbClr val="3333B2"/>
                </a:solidFill>
                <a:latin typeface="Arial"/>
                <a:cs typeface="Arial"/>
              </a:rPr>
              <a:t>P</a:t>
            </a:r>
            <a:r>
              <a:rPr sz="1350" i="1" spc="-7" baseline="-12345" dirty="0">
                <a:solidFill>
                  <a:srgbClr val="3333B2"/>
                </a:solidFill>
                <a:latin typeface="Arial"/>
                <a:cs typeface="Arial"/>
              </a:rPr>
              <a:t>3</a:t>
            </a:r>
            <a:r>
              <a:rPr sz="1350" i="1" spc="-232" baseline="-12345" dirty="0">
                <a:solidFill>
                  <a:srgbClr val="3333B2"/>
                </a:solidFill>
                <a:latin typeface="Arial"/>
                <a:cs typeface="Arial"/>
              </a:rPr>
              <a:t> </a:t>
            </a:r>
            <a:r>
              <a:rPr sz="1200" spc="-5" dirty="0">
                <a:solidFill>
                  <a:srgbClr val="3333B2"/>
                </a:solidFill>
                <a:latin typeface="Arial"/>
                <a:cs typeface="Arial"/>
              </a:rPr>
              <a:t>]</a:t>
            </a:r>
            <a:endParaRPr sz="1200">
              <a:latin typeface="Arial"/>
              <a:cs typeface="Arial"/>
            </a:endParaRPr>
          </a:p>
        </p:txBody>
      </p:sp>
      <p:sp>
        <p:nvSpPr>
          <p:cNvPr id="12" name="object 12"/>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Sequential</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consistency</a:t>
            </a:r>
            <a:endParaRPr sz="600">
              <a:latin typeface="Arial"/>
              <a:cs typeface="Arial"/>
            </a:endParaRPr>
          </a:p>
        </p:txBody>
      </p:sp>
      <p:sp>
        <p:nvSpPr>
          <p:cNvPr id="13" name="object 13"/>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9</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6" name="object 6"/>
          <p:cNvSpPr txBox="1"/>
          <p:nvPr/>
        </p:nvSpPr>
        <p:spPr>
          <a:xfrm>
            <a:off x="603897" y="1908059"/>
            <a:ext cx="593090"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E</a:t>
            </a:r>
            <a:r>
              <a:rPr sz="800" b="1" spc="-15" dirty="0">
                <a:latin typeface="Arial"/>
                <a:cs typeface="Arial"/>
              </a:rPr>
              <a:t>x</a:t>
            </a:r>
            <a:r>
              <a:rPr sz="800" b="1" spc="-5" dirty="0">
                <a:latin typeface="Arial"/>
                <a:cs typeface="Arial"/>
              </a:rPr>
              <a:t>ecution 1</a:t>
            </a:r>
            <a:endParaRPr sz="800">
              <a:latin typeface="Arial"/>
              <a:cs typeface="Arial"/>
            </a:endParaRPr>
          </a:p>
        </p:txBody>
      </p:sp>
      <p:sp>
        <p:nvSpPr>
          <p:cNvPr id="7" name="object 7"/>
          <p:cNvSpPr txBox="1"/>
          <p:nvPr/>
        </p:nvSpPr>
        <p:spPr>
          <a:xfrm>
            <a:off x="1684120" y="1908059"/>
            <a:ext cx="593090"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E</a:t>
            </a:r>
            <a:r>
              <a:rPr sz="800" b="1" spc="-15" dirty="0">
                <a:latin typeface="Arial"/>
                <a:cs typeface="Arial"/>
              </a:rPr>
              <a:t>x</a:t>
            </a:r>
            <a:r>
              <a:rPr sz="800" b="1" spc="-5" dirty="0">
                <a:latin typeface="Arial"/>
                <a:cs typeface="Arial"/>
              </a:rPr>
              <a:t>ecution 2</a:t>
            </a:r>
            <a:endParaRPr sz="800">
              <a:latin typeface="Arial"/>
              <a:cs typeface="Arial"/>
            </a:endParaRPr>
          </a:p>
        </p:txBody>
      </p:sp>
      <p:sp>
        <p:nvSpPr>
          <p:cNvPr id="8" name="object 8"/>
          <p:cNvSpPr txBox="1"/>
          <p:nvPr/>
        </p:nvSpPr>
        <p:spPr>
          <a:xfrm>
            <a:off x="2764241" y="1908059"/>
            <a:ext cx="593090"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E</a:t>
            </a:r>
            <a:r>
              <a:rPr sz="800" b="1" spc="-15" dirty="0">
                <a:latin typeface="Arial"/>
                <a:cs typeface="Arial"/>
              </a:rPr>
              <a:t>x</a:t>
            </a:r>
            <a:r>
              <a:rPr sz="800" b="1" spc="-5" dirty="0">
                <a:latin typeface="Arial"/>
                <a:cs typeface="Arial"/>
              </a:rPr>
              <a:t>ecution 3</a:t>
            </a:r>
            <a:endParaRPr sz="800">
              <a:latin typeface="Arial"/>
              <a:cs typeface="Arial"/>
            </a:endParaRPr>
          </a:p>
        </p:txBody>
      </p:sp>
      <p:sp>
        <p:nvSpPr>
          <p:cNvPr id="9" name="object 9"/>
          <p:cNvSpPr txBox="1"/>
          <p:nvPr/>
        </p:nvSpPr>
        <p:spPr>
          <a:xfrm>
            <a:off x="3838999" y="1908059"/>
            <a:ext cx="593090"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E</a:t>
            </a:r>
            <a:r>
              <a:rPr sz="800" b="1" spc="-15" dirty="0">
                <a:latin typeface="Arial"/>
                <a:cs typeface="Arial"/>
              </a:rPr>
              <a:t>x</a:t>
            </a:r>
            <a:r>
              <a:rPr sz="800" b="1" spc="-5" dirty="0">
                <a:latin typeface="Arial"/>
                <a:cs typeface="Arial"/>
              </a:rPr>
              <a:t>ecution 4</a:t>
            </a:r>
            <a:endParaRPr sz="800">
              <a:latin typeface="Arial"/>
              <a:cs typeface="Arial"/>
            </a:endParaRPr>
          </a:p>
        </p:txBody>
      </p:sp>
      <p:graphicFrame>
        <p:nvGraphicFramePr>
          <p:cNvPr id="10" name="object 10"/>
          <p:cNvGraphicFramePr>
            <a:graphicFrameLocks noGrp="1"/>
          </p:cNvGraphicFramePr>
          <p:nvPr/>
        </p:nvGraphicFramePr>
        <p:xfrm>
          <a:off x="359994" y="2065731"/>
          <a:ext cx="4241796" cy="812163"/>
        </p:xfrm>
        <a:graphic>
          <a:graphicData uri="http://schemas.openxmlformats.org/drawingml/2006/table">
            <a:tbl>
              <a:tblPr firstRow="1" bandRow="1">
                <a:tableStyleId>{2D5ABB26-0587-4C30-8999-92F81FD0307C}</a:tableStyleId>
              </a:tblPr>
              <a:tblGrid>
                <a:gridCol w="297815">
                  <a:extLst>
                    <a:ext uri="{9D8B030D-6E8A-4147-A177-3AD203B41FA5}">
                      <a16:colId xmlns:a16="http://schemas.microsoft.com/office/drawing/2014/main" val="20000"/>
                    </a:ext>
                  </a:extLst>
                </a:gridCol>
                <a:gridCol w="779144">
                  <a:extLst>
                    <a:ext uri="{9D8B030D-6E8A-4147-A177-3AD203B41FA5}">
                      <a16:colId xmlns:a16="http://schemas.microsoft.com/office/drawing/2014/main" val="20001"/>
                    </a:ext>
                  </a:extLst>
                </a:gridCol>
                <a:gridCol w="299720">
                  <a:extLst>
                    <a:ext uri="{9D8B030D-6E8A-4147-A177-3AD203B41FA5}">
                      <a16:colId xmlns:a16="http://schemas.microsoft.com/office/drawing/2014/main" val="20002"/>
                    </a:ext>
                  </a:extLst>
                </a:gridCol>
                <a:gridCol w="778509">
                  <a:extLst>
                    <a:ext uri="{9D8B030D-6E8A-4147-A177-3AD203B41FA5}">
                      <a16:colId xmlns:a16="http://schemas.microsoft.com/office/drawing/2014/main" val="20003"/>
                    </a:ext>
                  </a:extLst>
                </a:gridCol>
                <a:gridCol w="299719">
                  <a:extLst>
                    <a:ext uri="{9D8B030D-6E8A-4147-A177-3AD203B41FA5}">
                      <a16:colId xmlns:a16="http://schemas.microsoft.com/office/drawing/2014/main" val="20004"/>
                    </a:ext>
                  </a:extLst>
                </a:gridCol>
                <a:gridCol w="778509">
                  <a:extLst>
                    <a:ext uri="{9D8B030D-6E8A-4147-A177-3AD203B41FA5}">
                      <a16:colId xmlns:a16="http://schemas.microsoft.com/office/drawing/2014/main" val="20005"/>
                    </a:ext>
                  </a:extLst>
                </a:gridCol>
                <a:gridCol w="299720">
                  <a:extLst>
                    <a:ext uri="{9D8B030D-6E8A-4147-A177-3AD203B41FA5}">
                      <a16:colId xmlns:a16="http://schemas.microsoft.com/office/drawing/2014/main" val="20006"/>
                    </a:ext>
                  </a:extLst>
                </a:gridCol>
                <a:gridCol w="708660">
                  <a:extLst>
                    <a:ext uri="{9D8B030D-6E8A-4147-A177-3AD203B41FA5}">
                      <a16:colId xmlns:a16="http://schemas.microsoft.com/office/drawing/2014/main" val="20007"/>
                    </a:ext>
                  </a:extLst>
                </a:gridCol>
              </a:tblGrid>
              <a:tr h="260985">
                <a:tc>
                  <a:txBody>
                    <a:bodyPr/>
                    <a:lstStyle/>
                    <a:p>
                      <a:pPr algn="ctr">
                        <a:lnSpc>
                          <a:spcPct val="100000"/>
                        </a:lnSpc>
                        <a:spcBef>
                          <a:spcPts val="800"/>
                        </a:spcBef>
                      </a:pPr>
                      <a:r>
                        <a:rPr sz="800" i="1" spc="10" dirty="0">
                          <a:latin typeface="Arial"/>
                          <a:cs typeface="Arial"/>
                        </a:rPr>
                        <a:t>P</a:t>
                      </a:r>
                      <a:r>
                        <a:rPr sz="900" i="1" spc="15" baseline="-13888" dirty="0">
                          <a:latin typeface="Arial"/>
                          <a:cs typeface="Arial"/>
                        </a:rPr>
                        <a:t>1</a:t>
                      </a:r>
                      <a:r>
                        <a:rPr sz="800" spc="10" dirty="0">
                          <a:latin typeface="Arial"/>
                          <a:cs typeface="Arial"/>
                        </a:rPr>
                        <a:t>:</a:t>
                      </a:r>
                      <a:endParaRPr sz="800">
                        <a:latin typeface="Arial"/>
                        <a:cs typeface="Arial"/>
                      </a:endParaRPr>
                    </a:p>
                  </a:txBody>
                  <a:tcPr marL="0" marR="0" marT="101600" marB="0">
                    <a:lnT w="19050">
                      <a:solidFill>
                        <a:srgbClr val="000000"/>
                      </a:solidFill>
                      <a:prstDash val="solid"/>
                    </a:lnT>
                  </a:tcPr>
                </a:tc>
                <a:tc>
                  <a:txBody>
                    <a:bodyPr/>
                    <a:lstStyle/>
                    <a:p>
                      <a:pPr marL="73025">
                        <a:lnSpc>
                          <a:spcPct val="100000"/>
                        </a:lnSpc>
                        <a:spcBef>
                          <a:spcPts val="800"/>
                        </a:spcBef>
                      </a:pPr>
                      <a:r>
                        <a:rPr sz="800" spc="75" dirty="0">
                          <a:latin typeface="Times New Roman"/>
                          <a:cs typeface="Times New Roman"/>
                        </a:rPr>
                        <a:t>x</a:t>
                      </a:r>
                      <a:r>
                        <a:rPr sz="800" spc="114" dirty="0">
                          <a:latin typeface="Times New Roman"/>
                          <a:cs typeface="Times New Roman"/>
                        </a:rPr>
                        <a:t> </a:t>
                      </a:r>
                      <a:r>
                        <a:rPr sz="800" i="1" spc="-5" dirty="0">
                          <a:latin typeface="メイリオ"/>
                          <a:cs typeface="メイリオ"/>
                        </a:rPr>
                        <a:t>←</a:t>
                      </a:r>
                      <a:r>
                        <a:rPr sz="800" i="1" spc="40" dirty="0">
                          <a:latin typeface="メイリオ"/>
                          <a:cs typeface="メイリオ"/>
                        </a:rPr>
                        <a:t> </a:t>
                      </a:r>
                      <a:r>
                        <a:rPr sz="800" spc="125" dirty="0">
                          <a:latin typeface="Times New Roman"/>
                          <a:cs typeface="Times New Roman"/>
                        </a:rPr>
                        <a:t>1;</a:t>
                      </a:r>
                      <a:endParaRPr sz="800">
                        <a:latin typeface="Times New Roman"/>
                        <a:cs typeface="Times New Roman"/>
                      </a:endParaRPr>
                    </a:p>
                  </a:txBody>
                  <a:tcPr marL="0" marR="0" marT="101600" marB="0">
                    <a:lnR w="6350">
                      <a:solidFill>
                        <a:srgbClr val="000000"/>
                      </a:solidFill>
                      <a:prstDash val="solid"/>
                    </a:lnR>
                    <a:lnT w="19050">
                      <a:solidFill>
                        <a:srgbClr val="000000"/>
                      </a:solidFill>
                      <a:prstDash val="solid"/>
                    </a:lnT>
                  </a:tcPr>
                </a:tc>
                <a:tc>
                  <a:txBody>
                    <a:bodyPr/>
                    <a:lstStyle/>
                    <a:p>
                      <a:pPr marR="69850" algn="r">
                        <a:lnSpc>
                          <a:spcPct val="100000"/>
                        </a:lnSpc>
                        <a:spcBef>
                          <a:spcPts val="800"/>
                        </a:spcBef>
                      </a:pPr>
                      <a:r>
                        <a:rPr sz="800" i="1" spc="10" dirty="0">
                          <a:latin typeface="Arial"/>
                          <a:cs typeface="Arial"/>
                        </a:rPr>
                        <a:t>P</a:t>
                      </a:r>
                      <a:r>
                        <a:rPr sz="900" i="1" spc="15" baseline="-13888" dirty="0">
                          <a:latin typeface="Arial"/>
                          <a:cs typeface="Arial"/>
                        </a:rPr>
                        <a:t>1</a:t>
                      </a:r>
                      <a:r>
                        <a:rPr sz="800" spc="10" dirty="0">
                          <a:latin typeface="Arial"/>
                          <a:cs typeface="Arial"/>
                        </a:rPr>
                        <a:t>:</a:t>
                      </a:r>
                      <a:endParaRPr sz="800">
                        <a:latin typeface="Arial"/>
                        <a:cs typeface="Arial"/>
                      </a:endParaRPr>
                    </a:p>
                  </a:txBody>
                  <a:tcPr marL="0" marR="0" marT="101600" marB="0">
                    <a:lnL w="6350">
                      <a:solidFill>
                        <a:srgbClr val="000000"/>
                      </a:solidFill>
                      <a:prstDash val="solid"/>
                    </a:lnL>
                    <a:lnT w="19050">
                      <a:solidFill>
                        <a:srgbClr val="000000"/>
                      </a:solidFill>
                      <a:prstDash val="solid"/>
                    </a:lnT>
                  </a:tcPr>
                </a:tc>
                <a:tc>
                  <a:txBody>
                    <a:bodyPr/>
                    <a:lstStyle/>
                    <a:p>
                      <a:pPr marL="73025">
                        <a:lnSpc>
                          <a:spcPct val="100000"/>
                        </a:lnSpc>
                        <a:spcBef>
                          <a:spcPts val="800"/>
                        </a:spcBef>
                      </a:pPr>
                      <a:r>
                        <a:rPr sz="800" spc="75" dirty="0">
                          <a:latin typeface="Times New Roman"/>
                          <a:cs typeface="Times New Roman"/>
                        </a:rPr>
                        <a:t>x</a:t>
                      </a:r>
                      <a:r>
                        <a:rPr sz="800" spc="114" dirty="0">
                          <a:latin typeface="Times New Roman"/>
                          <a:cs typeface="Times New Roman"/>
                        </a:rPr>
                        <a:t> </a:t>
                      </a:r>
                      <a:r>
                        <a:rPr sz="800" i="1" spc="-5" dirty="0">
                          <a:latin typeface="メイリオ"/>
                          <a:cs typeface="メイリオ"/>
                        </a:rPr>
                        <a:t>←</a:t>
                      </a:r>
                      <a:r>
                        <a:rPr sz="800" i="1" spc="40" dirty="0">
                          <a:latin typeface="メイリオ"/>
                          <a:cs typeface="メイリオ"/>
                        </a:rPr>
                        <a:t> </a:t>
                      </a:r>
                      <a:r>
                        <a:rPr sz="800" spc="125" dirty="0">
                          <a:latin typeface="Times New Roman"/>
                          <a:cs typeface="Times New Roman"/>
                        </a:rPr>
                        <a:t>1;</a:t>
                      </a:r>
                      <a:endParaRPr sz="800">
                        <a:latin typeface="Times New Roman"/>
                        <a:cs typeface="Times New Roman"/>
                      </a:endParaRPr>
                    </a:p>
                  </a:txBody>
                  <a:tcPr marL="0" marR="0" marT="101600" marB="0">
                    <a:lnR w="6350">
                      <a:solidFill>
                        <a:srgbClr val="000000"/>
                      </a:solidFill>
                      <a:prstDash val="solid"/>
                    </a:lnR>
                    <a:lnT w="19050">
                      <a:solidFill>
                        <a:srgbClr val="000000"/>
                      </a:solidFill>
                      <a:prstDash val="solid"/>
                    </a:lnT>
                  </a:tcPr>
                </a:tc>
                <a:tc>
                  <a:txBody>
                    <a:bodyPr/>
                    <a:lstStyle/>
                    <a:p>
                      <a:pPr marL="4445" algn="ctr">
                        <a:lnSpc>
                          <a:spcPct val="100000"/>
                        </a:lnSpc>
                        <a:spcBef>
                          <a:spcPts val="800"/>
                        </a:spcBef>
                      </a:pPr>
                      <a:r>
                        <a:rPr sz="800" i="1" dirty="0">
                          <a:latin typeface="Arial"/>
                          <a:cs typeface="Arial"/>
                        </a:rPr>
                        <a:t>P</a:t>
                      </a:r>
                      <a:r>
                        <a:rPr sz="900" i="1" baseline="-13888" dirty="0">
                          <a:latin typeface="Arial"/>
                          <a:cs typeface="Arial"/>
                        </a:rPr>
                        <a:t>2</a:t>
                      </a:r>
                      <a:r>
                        <a:rPr sz="900" i="1" spc="-127" baseline="-13888" dirty="0">
                          <a:latin typeface="Arial"/>
                          <a:cs typeface="Arial"/>
                        </a:rPr>
                        <a:t> </a:t>
                      </a:r>
                      <a:r>
                        <a:rPr sz="800" dirty="0">
                          <a:latin typeface="Arial"/>
                          <a:cs typeface="Arial"/>
                        </a:rPr>
                        <a:t>:</a:t>
                      </a:r>
                      <a:endParaRPr sz="800">
                        <a:latin typeface="Arial"/>
                        <a:cs typeface="Arial"/>
                      </a:endParaRPr>
                    </a:p>
                  </a:txBody>
                  <a:tcPr marL="0" marR="0" marT="101600" marB="0">
                    <a:lnL w="6350">
                      <a:solidFill>
                        <a:srgbClr val="000000"/>
                      </a:solidFill>
                      <a:prstDash val="solid"/>
                    </a:lnL>
                    <a:lnT w="19050">
                      <a:solidFill>
                        <a:srgbClr val="000000"/>
                      </a:solidFill>
                      <a:prstDash val="solid"/>
                    </a:lnT>
                  </a:tcPr>
                </a:tc>
                <a:tc>
                  <a:txBody>
                    <a:bodyPr/>
                    <a:lstStyle/>
                    <a:p>
                      <a:pPr marL="73025">
                        <a:lnSpc>
                          <a:spcPct val="100000"/>
                        </a:lnSpc>
                        <a:spcBef>
                          <a:spcPts val="800"/>
                        </a:spcBef>
                      </a:pPr>
                      <a:r>
                        <a:rPr sz="800" spc="75" dirty="0">
                          <a:latin typeface="Times New Roman"/>
                          <a:cs typeface="Times New Roman"/>
                        </a:rPr>
                        <a:t>y</a:t>
                      </a:r>
                      <a:r>
                        <a:rPr sz="800" spc="114" dirty="0">
                          <a:latin typeface="Times New Roman"/>
                          <a:cs typeface="Times New Roman"/>
                        </a:rPr>
                        <a:t> </a:t>
                      </a:r>
                      <a:r>
                        <a:rPr sz="800" i="1" spc="-5" dirty="0">
                          <a:latin typeface="メイリオ"/>
                          <a:cs typeface="メイリオ"/>
                        </a:rPr>
                        <a:t>←</a:t>
                      </a:r>
                      <a:r>
                        <a:rPr sz="800" i="1" spc="40" dirty="0">
                          <a:latin typeface="メイリオ"/>
                          <a:cs typeface="メイリオ"/>
                        </a:rPr>
                        <a:t> </a:t>
                      </a:r>
                      <a:r>
                        <a:rPr sz="800" spc="125" dirty="0">
                          <a:latin typeface="Times New Roman"/>
                          <a:cs typeface="Times New Roman"/>
                        </a:rPr>
                        <a:t>1;</a:t>
                      </a:r>
                      <a:endParaRPr sz="800">
                        <a:latin typeface="Times New Roman"/>
                        <a:cs typeface="Times New Roman"/>
                      </a:endParaRPr>
                    </a:p>
                  </a:txBody>
                  <a:tcPr marL="0" marR="0" marT="101600" marB="0">
                    <a:lnR w="6350">
                      <a:solidFill>
                        <a:srgbClr val="000000"/>
                      </a:solidFill>
                      <a:prstDash val="solid"/>
                    </a:lnR>
                    <a:lnT w="19050">
                      <a:solidFill>
                        <a:srgbClr val="000000"/>
                      </a:solidFill>
                      <a:prstDash val="solid"/>
                    </a:lnT>
                  </a:tcPr>
                </a:tc>
                <a:tc>
                  <a:txBody>
                    <a:bodyPr/>
                    <a:lstStyle/>
                    <a:p>
                      <a:pPr marL="78105">
                        <a:lnSpc>
                          <a:spcPct val="100000"/>
                        </a:lnSpc>
                        <a:spcBef>
                          <a:spcPts val="800"/>
                        </a:spcBef>
                      </a:pPr>
                      <a:r>
                        <a:rPr sz="800" i="1" dirty="0">
                          <a:latin typeface="Arial"/>
                          <a:cs typeface="Arial"/>
                        </a:rPr>
                        <a:t>P</a:t>
                      </a:r>
                      <a:r>
                        <a:rPr sz="900" i="1" baseline="-13888" dirty="0">
                          <a:latin typeface="Arial"/>
                          <a:cs typeface="Arial"/>
                        </a:rPr>
                        <a:t>2</a:t>
                      </a:r>
                      <a:r>
                        <a:rPr sz="900" i="1" spc="-127" baseline="-13888" dirty="0">
                          <a:latin typeface="Arial"/>
                          <a:cs typeface="Arial"/>
                        </a:rPr>
                        <a:t> </a:t>
                      </a:r>
                      <a:r>
                        <a:rPr sz="800" dirty="0">
                          <a:latin typeface="Arial"/>
                          <a:cs typeface="Arial"/>
                        </a:rPr>
                        <a:t>:</a:t>
                      </a:r>
                      <a:endParaRPr sz="800">
                        <a:latin typeface="Arial"/>
                        <a:cs typeface="Arial"/>
                      </a:endParaRPr>
                    </a:p>
                  </a:txBody>
                  <a:tcPr marL="0" marR="0" marT="101600" marB="0">
                    <a:lnL w="6350">
                      <a:solidFill>
                        <a:srgbClr val="000000"/>
                      </a:solidFill>
                      <a:prstDash val="solid"/>
                    </a:lnL>
                    <a:lnT w="19050">
                      <a:solidFill>
                        <a:srgbClr val="000000"/>
                      </a:solidFill>
                      <a:prstDash val="solid"/>
                    </a:lnT>
                  </a:tcPr>
                </a:tc>
                <a:tc>
                  <a:txBody>
                    <a:bodyPr/>
                    <a:lstStyle/>
                    <a:p>
                      <a:pPr marL="73025">
                        <a:lnSpc>
                          <a:spcPct val="100000"/>
                        </a:lnSpc>
                        <a:spcBef>
                          <a:spcPts val="800"/>
                        </a:spcBef>
                      </a:pPr>
                      <a:r>
                        <a:rPr sz="800" spc="75" dirty="0">
                          <a:latin typeface="Times New Roman"/>
                          <a:cs typeface="Times New Roman"/>
                        </a:rPr>
                        <a:t>y</a:t>
                      </a:r>
                      <a:r>
                        <a:rPr sz="800" spc="114" dirty="0">
                          <a:latin typeface="Times New Roman"/>
                          <a:cs typeface="Times New Roman"/>
                        </a:rPr>
                        <a:t> </a:t>
                      </a:r>
                      <a:r>
                        <a:rPr sz="800" i="1" spc="-5" dirty="0">
                          <a:latin typeface="メイリオ"/>
                          <a:cs typeface="メイリオ"/>
                        </a:rPr>
                        <a:t>←</a:t>
                      </a:r>
                      <a:r>
                        <a:rPr sz="800" i="1" spc="40" dirty="0">
                          <a:latin typeface="メイリオ"/>
                          <a:cs typeface="メイリオ"/>
                        </a:rPr>
                        <a:t> </a:t>
                      </a:r>
                      <a:r>
                        <a:rPr sz="800" spc="125" dirty="0">
                          <a:latin typeface="Times New Roman"/>
                          <a:cs typeface="Times New Roman"/>
                        </a:rPr>
                        <a:t>1;</a:t>
                      </a:r>
                      <a:endParaRPr sz="800">
                        <a:latin typeface="Times New Roman"/>
                        <a:cs typeface="Times New Roman"/>
                      </a:endParaRPr>
                    </a:p>
                  </a:txBody>
                  <a:tcPr marL="0" marR="0" marT="101600" marB="0">
                    <a:lnT w="19050">
                      <a:solidFill>
                        <a:srgbClr val="000000"/>
                      </a:solidFill>
                      <a:prstDash val="solid"/>
                    </a:lnT>
                  </a:tcPr>
                </a:tc>
                <a:extLst>
                  <a:ext uri="{0D108BD9-81ED-4DB2-BD59-A6C34878D82A}">
                    <a16:rowId xmlns:a16="http://schemas.microsoft.com/office/drawing/2014/main" val="10000"/>
                  </a:ext>
                </a:extLst>
              </a:tr>
              <a:tr h="113664">
                <a:tc>
                  <a:txBody>
                    <a:bodyPr/>
                    <a:lstStyle/>
                    <a:p>
                      <a:pPr algn="ctr">
                        <a:lnSpc>
                          <a:spcPts val="605"/>
                        </a:lnSpc>
                      </a:pPr>
                      <a:r>
                        <a:rPr sz="800" i="1" spc="10" dirty="0">
                          <a:latin typeface="Arial"/>
                          <a:cs typeface="Arial"/>
                        </a:rPr>
                        <a:t>P</a:t>
                      </a:r>
                      <a:r>
                        <a:rPr sz="900" i="1" spc="15" baseline="-13888" dirty="0">
                          <a:latin typeface="Arial"/>
                          <a:cs typeface="Arial"/>
                        </a:rPr>
                        <a:t>1</a:t>
                      </a:r>
                      <a:r>
                        <a:rPr sz="800" spc="10" dirty="0">
                          <a:latin typeface="Arial"/>
                          <a:cs typeface="Arial"/>
                        </a:rPr>
                        <a:t>:</a:t>
                      </a:r>
                      <a:endParaRPr sz="800">
                        <a:latin typeface="Arial"/>
                        <a:cs typeface="Arial"/>
                      </a:endParaRPr>
                    </a:p>
                  </a:txBody>
                  <a:tcPr marL="0" marR="0" marT="0" marB="0"/>
                </a:tc>
                <a:tc>
                  <a:txBody>
                    <a:bodyPr/>
                    <a:lstStyle/>
                    <a:p>
                      <a:pPr marL="73025">
                        <a:lnSpc>
                          <a:spcPts val="605"/>
                        </a:lnSpc>
                      </a:pPr>
                      <a:r>
                        <a:rPr sz="800" spc="110" dirty="0">
                          <a:latin typeface="Times New Roman"/>
                          <a:cs typeface="Times New Roman"/>
                        </a:rPr>
                        <a:t>print(y,z);</a:t>
                      </a:r>
                      <a:endParaRPr sz="800">
                        <a:latin typeface="Times New Roman"/>
                        <a:cs typeface="Times New Roman"/>
                      </a:endParaRPr>
                    </a:p>
                  </a:txBody>
                  <a:tcPr marL="0" marR="0" marT="0" marB="0">
                    <a:lnR w="6350">
                      <a:solidFill>
                        <a:srgbClr val="000000"/>
                      </a:solidFill>
                      <a:prstDash val="solid"/>
                    </a:lnR>
                  </a:tcPr>
                </a:tc>
                <a:tc>
                  <a:txBody>
                    <a:bodyPr/>
                    <a:lstStyle/>
                    <a:p>
                      <a:pPr marR="65405" algn="r">
                        <a:lnSpc>
                          <a:spcPts val="605"/>
                        </a:lnSpc>
                      </a:pPr>
                      <a:r>
                        <a:rPr sz="800" i="1" dirty="0">
                          <a:latin typeface="Arial"/>
                          <a:cs typeface="Arial"/>
                        </a:rPr>
                        <a:t>P</a:t>
                      </a:r>
                      <a:r>
                        <a:rPr sz="900" i="1" baseline="-13888" dirty="0">
                          <a:latin typeface="Arial"/>
                          <a:cs typeface="Arial"/>
                        </a:rPr>
                        <a:t>2</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605"/>
                        </a:lnSpc>
                      </a:pPr>
                      <a:r>
                        <a:rPr sz="800" spc="75" dirty="0">
                          <a:latin typeface="Times New Roman"/>
                          <a:cs typeface="Times New Roman"/>
                        </a:rPr>
                        <a:t>y</a:t>
                      </a:r>
                      <a:r>
                        <a:rPr sz="800" spc="114" dirty="0">
                          <a:latin typeface="Times New Roman"/>
                          <a:cs typeface="Times New Roman"/>
                        </a:rPr>
                        <a:t> </a:t>
                      </a:r>
                      <a:r>
                        <a:rPr sz="800" i="1" spc="-5" dirty="0">
                          <a:latin typeface="メイリオ"/>
                          <a:cs typeface="メイリオ"/>
                        </a:rPr>
                        <a:t>←</a:t>
                      </a:r>
                      <a:r>
                        <a:rPr sz="800" i="1" spc="40" dirty="0">
                          <a:latin typeface="メイリオ"/>
                          <a:cs typeface="メイリオ"/>
                        </a:rPr>
                        <a:t> </a:t>
                      </a:r>
                      <a:r>
                        <a:rPr sz="800" spc="125" dirty="0">
                          <a:latin typeface="Times New Roman"/>
                          <a:cs typeface="Times New Roman"/>
                        </a:rPr>
                        <a:t>1;</a:t>
                      </a:r>
                      <a:endParaRPr sz="800">
                        <a:latin typeface="Times New Roman"/>
                        <a:cs typeface="Times New Roman"/>
                      </a:endParaRPr>
                    </a:p>
                  </a:txBody>
                  <a:tcPr marL="0" marR="0" marT="0" marB="0">
                    <a:lnR w="6350">
                      <a:solidFill>
                        <a:srgbClr val="000000"/>
                      </a:solidFill>
                      <a:prstDash val="solid"/>
                    </a:lnR>
                  </a:tcPr>
                </a:tc>
                <a:tc>
                  <a:txBody>
                    <a:bodyPr/>
                    <a:lstStyle/>
                    <a:p>
                      <a:pPr marL="4445" algn="ctr">
                        <a:lnSpc>
                          <a:spcPts val="605"/>
                        </a:lnSpc>
                      </a:pPr>
                      <a:r>
                        <a:rPr sz="800" i="1" dirty="0">
                          <a:latin typeface="Arial"/>
                          <a:cs typeface="Arial"/>
                        </a:rPr>
                        <a:t>P</a:t>
                      </a:r>
                      <a:r>
                        <a:rPr sz="900" i="1" baseline="-13888" dirty="0">
                          <a:latin typeface="Arial"/>
                          <a:cs typeface="Arial"/>
                        </a:rPr>
                        <a:t>3</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605"/>
                        </a:lnSpc>
                      </a:pPr>
                      <a:r>
                        <a:rPr sz="800" spc="120" dirty="0">
                          <a:latin typeface="Times New Roman"/>
                          <a:cs typeface="Times New Roman"/>
                        </a:rPr>
                        <a:t>z</a:t>
                      </a:r>
                      <a:r>
                        <a:rPr sz="800" spc="114" dirty="0">
                          <a:latin typeface="Times New Roman"/>
                          <a:cs typeface="Times New Roman"/>
                        </a:rPr>
                        <a:t> </a:t>
                      </a:r>
                      <a:r>
                        <a:rPr sz="800" i="1" spc="-5" dirty="0">
                          <a:latin typeface="メイリオ"/>
                          <a:cs typeface="メイリオ"/>
                        </a:rPr>
                        <a:t>←</a:t>
                      </a:r>
                      <a:r>
                        <a:rPr sz="800" i="1" spc="40" dirty="0">
                          <a:latin typeface="メイリオ"/>
                          <a:cs typeface="メイリオ"/>
                        </a:rPr>
                        <a:t> </a:t>
                      </a:r>
                      <a:r>
                        <a:rPr sz="800" spc="125" dirty="0">
                          <a:latin typeface="Times New Roman"/>
                          <a:cs typeface="Times New Roman"/>
                        </a:rPr>
                        <a:t>1;</a:t>
                      </a:r>
                      <a:endParaRPr sz="800">
                        <a:latin typeface="Times New Roman"/>
                        <a:cs typeface="Times New Roman"/>
                      </a:endParaRPr>
                    </a:p>
                  </a:txBody>
                  <a:tcPr marL="0" marR="0" marT="0" marB="0">
                    <a:lnR w="6350">
                      <a:solidFill>
                        <a:srgbClr val="000000"/>
                      </a:solidFill>
                      <a:prstDash val="solid"/>
                    </a:lnR>
                  </a:tcPr>
                </a:tc>
                <a:tc>
                  <a:txBody>
                    <a:bodyPr/>
                    <a:lstStyle/>
                    <a:p>
                      <a:pPr marL="78105">
                        <a:lnSpc>
                          <a:spcPts val="605"/>
                        </a:lnSpc>
                      </a:pPr>
                      <a:r>
                        <a:rPr sz="800" i="1" spc="10" dirty="0">
                          <a:latin typeface="Arial"/>
                          <a:cs typeface="Arial"/>
                        </a:rPr>
                        <a:t>P</a:t>
                      </a:r>
                      <a:r>
                        <a:rPr sz="900" i="1" spc="15" baseline="-13888" dirty="0">
                          <a:latin typeface="Arial"/>
                          <a:cs typeface="Arial"/>
                        </a:rPr>
                        <a:t>1</a:t>
                      </a:r>
                      <a:r>
                        <a:rPr sz="800" spc="1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605"/>
                        </a:lnSpc>
                      </a:pPr>
                      <a:r>
                        <a:rPr sz="800" spc="75" dirty="0">
                          <a:latin typeface="Times New Roman"/>
                          <a:cs typeface="Times New Roman"/>
                        </a:rPr>
                        <a:t>x</a:t>
                      </a:r>
                      <a:r>
                        <a:rPr sz="800" spc="114" dirty="0">
                          <a:latin typeface="Times New Roman"/>
                          <a:cs typeface="Times New Roman"/>
                        </a:rPr>
                        <a:t> </a:t>
                      </a:r>
                      <a:r>
                        <a:rPr sz="800" i="1" spc="-5" dirty="0">
                          <a:latin typeface="メイリオ"/>
                          <a:cs typeface="メイリオ"/>
                        </a:rPr>
                        <a:t>←</a:t>
                      </a:r>
                      <a:r>
                        <a:rPr sz="800" i="1" spc="40" dirty="0">
                          <a:latin typeface="メイリオ"/>
                          <a:cs typeface="メイリオ"/>
                        </a:rPr>
                        <a:t> </a:t>
                      </a:r>
                      <a:r>
                        <a:rPr sz="800" spc="125" dirty="0">
                          <a:latin typeface="Times New Roman"/>
                          <a:cs typeface="Times New Roman"/>
                        </a:rPr>
                        <a:t>1;</a:t>
                      </a:r>
                      <a:endParaRPr sz="800">
                        <a:latin typeface="Times New Roman"/>
                        <a:cs typeface="Times New Roman"/>
                      </a:endParaRPr>
                    </a:p>
                  </a:txBody>
                  <a:tcPr marL="0" marR="0" marT="0" marB="0"/>
                </a:tc>
                <a:extLst>
                  <a:ext uri="{0D108BD9-81ED-4DB2-BD59-A6C34878D82A}">
                    <a16:rowId xmlns:a16="http://schemas.microsoft.com/office/drawing/2014/main" val="10001"/>
                  </a:ext>
                </a:extLst>
              </a:tr>
              <a:tr h="113664">
                <a:tc>
                  <a:txBody>
                    <a:bodyPr/>
                    <a:lstStyle/>
                    <a:p>
                      <a:pPr marL="1905" algn="ctr">
                        <a:lnSpc>
                          <a:spcPts val="605"/>
                        </a:lnSpc>
                      </a:pPr>
                      <a:r>
                        <a:rPr sz="800" i="1" dirty="0">
                          <a:latin typeface="Arial"/>
                          <a:cs typeface="Arial"/>
                        </a:rPr>
                        <a:t>P</a:t>
                      </a:r>
                      <a:r>
                        <a:rPr sz="900" i="1" baseline="-13888" dirty="0">
                          <a:latin typeface="Arial"/>
                          <a:cs typeface="Arial"/>
                        </a:rPr>
                        <a:t>2</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tc>
                <a:tc>
                  <a:txBody>
                    <a:bodyPr/>
                    <a:lstStyle/>
                    <a:p>
                      <a:pPr marL="73025">
                        <a:lnSpc>
                          <a:spcPts val="605"/>
                        </a:lnSpc>
                      </a:pPr>
                      <a:r>
                        <a:rPr sz="800" spc="75" dirty="0">
                          <a:latin typeface="Times New Roman"/>
                          <a:cs typeface="Times New Roman"/>
                        </a:rPr>
                        <a:t>y</a:t>
                      </a:r>
                      <a:r>
                        <a:rPr sz="800" spc="114" dirty="0">
                          <a:latin typeface="Times New Roman"/>
                          <a:cs typeface="Times New Roman"/>
                        </a:rPr>
                        <a:t> </a:t>
                      </a:r>
                      <a:r>
                        <a:rPr sz="800" i="1" spc="-5" dirty="0">
                          <a:latin typeface="メイリオ"/>
                          <a:cs typeface="メイリオ"/>
                        </a:rPr>
                        <a:t>←</a:t>
                      </a:r>
                      <a:r>
                        <a:rPr sz="800" i="1" spc="40" dirty="0">
                          <a:latin typeface="メイリオ"/>
                          <a:cs typeface="メイリオ"/>
                        </a:rPr>
                        <a:t> </a:t>
                      </a:r>
                      <a:r>
                        <a:rPr sz="800" spc="125" dirty="0">
                          <a:latin typeface="Times New Roman"/>
                          <a:cs typeface="Times New Roman"/>
                        </a:rPr>
                        <a:t>1;</a:t>
                      </a:r>
                      <a:endParaRPr sz="800">
                        <a:latin typeface="Times New Roman"/>
                        <a:cs typeface="Times New Roman"/>
                      </a:endParaRPr>
                    </a:p>
                  </a:txBody>
                  <a:tcPr marL="0" marR="0" marT="0" marB="0">
                    <a:lnR w="6350">
                      <a:solidFill>
                        <a:srgbClr val="000000"/>
                      </a:solidFill>
                      <a:prstDash val="solid"/>
                    </a:lnR>
                  </a:tcPr>
                </a:tc>
                <a:tc>
                  <a:txBody>
                    <a:bodyPr/>
                    <a:lstStyle/>
                    <a:p>
                      <a:pPr marR="65405" algn="r">
                        <a:lnSpc>
                          <a:spcPts val="605"/>
                        </a:lnSpc>
                      </a:pPr>
                      <a:r>
                        <a:rPr sz="800" i="1" dirty="0">
                          <a:latin typeface="Arial"/>
                          <a:cs typeface="Arial"/>
                        </a:rPr>
                        <a:t>P</a:t>
                      </a:r>
                      <a:r>
                        <a:rPr sz="900" i="1" baseline="-13888" dirty="0">
                          <a:latin typeface="Arial"/>
                          <a:cs typeface="Arial"/>
                        </a:rPr>
                        <a:t>2</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605"/>
                        </a:lnSpc>
                      </a:pPr>
                      <a:r>
                        <a:rPr sz="800" spc="110" dirty="0">
                          <a:latin typeface="Times New Roman"/>
                          <a:cs typeface="Times New Roman"/>
                        </a:rPr>
                        <a:t>print(x,z);</a:t>
                      </a:r>
                      <a:endParaRPr sz="800">
                        <a:latin typeface="Times New Roman"/>
                        <a:cs typeface="Times New Roman"/>
                      </a:endParaRPr>
                    </a:p>
                  </a:txBody>
                  <a:tcPr marL="0" marR="0" marT="0" marB="0">
                    <a:lnR w="6350">
                      <a:solidFill>
                        <a:srgbClr val="000000"/>
                      </a:solidFill>
                      <a:prstDash val="solid"/>
                    </a:lnR>
                  </a:tcPr>
                </a:tc>
                <a:tc>
                  <a:txBody>
                    <a:bodyPr/>
                    <a:lstStyle/>
                    <a:p>
                      <a:pPr marL="4445" algn="ctr">
                        <a:lnSpc>
                          <a:spcPts val="605"/>
                        </a:lnSpc>
                      </a:pPr>
                      <a:r>
                        <a:rPr sz="800" i="1" dirty="0">
                          <a:latin typeface="Arial"/>
                          <a:cs typeface="Arial"/>
                        </a:rPr>
                        <a:t>P</a:t>
                      </a:r>
                      <a:r>
                        <a:rPr sz="900" i="1" baseline="-13888" dirty="0">
                          <a:latin typeface="Arial"/>
                          <a:cs typeface="Arial"/>
                        </a:rPr>
                        <a:t>3</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605"/>
                        </a:lnSpc>
                      </a:pPr>
                      <a:r>
                        <a:rPr sz="800" spc="105" dirty="0">
                          <a:latin typeface="Times New Roman"/>
                          <a:cs typeface="Times New Roman"/>
                        </a:rPr>
                        <a:t>print(x,y);</a:t>
                      </a:r>
                      <a:endParaRPr sz="800">
                        <a:latin typeface="Times New Roman"/>
                        <a:cs typeface="Times New Roman"/>
                      </a:endParaRPr>
                    </a:p>
                  </a:txBody>
                  <a:tcPr marL="0" marR="0" marT="0" marB="0">
                    <a:lnR w="6350">
                      <a:solidFill>
                        <a:srgbClr val="000000"/>
                      </a:solidFill>
                      <a:prstDash val="solid"/>
                    </a:lnR>
                  </a:tcPr>
                </a:tc>
                <a:tc>
                  <a:txBody>
                    <a:bodyPr/>
                    <a:lstStyle/>
                    <a:p>
                      <a:pPr marL="78105">
                        <a:lnSpc>
                          <a:spcPts val="605"/>
                        </a:lnSpc>
                      </a:pPr>
                      <a:r>
                        <a:rPr sz="800" i="1" dirty="0">
                          <a:latin typeface="Arial"/>
                          <a:cs typeface="Arial"/>
                        </a:rPr>
                        <a:t>P</a:t>
                      </a:r>
                      <a:r>
                        <a:rPr sz="900" i="1" baseline="-13888" dirty="0">
                          <a:latin typeface="Arial"/>
                          <a:cs typeface="Arial"/>
                        </a:rPr>
                        <a:t>3</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605"/>
                        </a:lnSpc>
                      </a:pPr>
                      <a:r>
                        <a:rPr sz="800" spc="120" dirty="0">
                          <a:latin typeface="Times New Roman"/>
                          <a:cs typeface="Times New Roman"/>
                        </a:rPr>
                        <a:t>z</a:t>
                      </a:r>
                      <a:r>
                        <a:rPr sz="800" spc="114" dirty="0">
                          <a:latin typeface="Times New Roman"/>
                          <a:cs typeface="Times New Roman"/>
                        </a:rPr>
                        <a:t> </a:t>
                      </a:r>
                      <a:r>
                        <a:rPr sz="800" i="1" spc="-5" dirty="0">
                          <a:latin typeface="メイリオ"/>
                          <a:cs typeface="メイリオ"/>
                        </a:rPr>
                        <a:t>←</a:t>
                      </a:r>
                      <a:r>
                        <a:rPr sz="800" i="1" spc="40" dirty="0">
                          <a:latin typeface="メイリオ"/>
                          <a:cs typeface="メイリオ"/>
                        </a:rPr>
                        <a:t> </a:t>
                      </a:r>
                      <a:r>
                        <a:rPr sz="800" spc="125" dirty="0">
                          <a:latin typeface="Times New Roman"/>
                          <a:cs typeface="Times New Roman"/>
                        </a:rPr>
                        <a:t>1;</a:t>
                      </a:r>
                      <a:endParaRPr sz="800">
                        <a:latin typeface="Times New Roman"/>
                        <a:cs typeface="Times New Roman"/>
                      </a:endParaRPr>
                    </a:p>
                  </a:txBody>
                  <a:tcPr marL="0" marR="0" marT="0" marB="0"/>
                </a:tc>
                <a:extLst>
                  <a:ext uri="{0D108BD9-81ED-4DB2-BD59-A6C34878D82A}">
                    <a16:rowId xmlns:a16="http://schemas.microsoft.com/office/drawing/2014/main" val="10002"/>
                  </a:ext>
                </a:extLst>
              </a:tr>
              <a:tr h="85090">
                <a:tc>
                  <a:txBody>
                    <a:bodyPr/>
                    <a:lstStyle/>
                    <a:p>
                      <a:pPr marL="1905" algn="ctr">
                        <a:lnSpc>
                          <a:spcPts val="575"/>
                        </a:lnSpc>
                      </a:pPr>
                      <a:r>
                        <a:rPr sz="800" i="1" dirty="0">
                          <a:latin typeface="Arial"/>
                          <a:cs typeface="Arial"/>
                        </a:rPr>
                        <a:t>P</a:t>
                      </a:r>
                      <a:r>
                        <a:rPr sz="900" i="1" baseline="-13888" dirty="0">
                          <a:latin typeface="Arial"/>
                          <a:cs typeface="Arial"/>
                        </a:rPr>
                        <a:t>2</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tc>
                <a:tc>
                  <a:txBody>
                    <a:bodyPr/>
                    <a:lstStyle/>
                    <a:p>
                      <a:pPr marL="73025">
                        <a:lnSpc>
                          <a:spcPts val="575"/>
                        </a:lnSpc>
                      </a:pPr>
                      <a:r>
                        <a:rPr sz="800" spc="110" dirty="0">
                          <a:latin typeface="Times New Roman"/>
                          <a:cs typeface="Times New Roman"/>
                        </a:rPr>
                        <a:t>print(x,z);</a:t>
                      </a:r>
                      <a:endParaRPr sz="800">
                        <a:latin typeface="Times New Roman"/>
                        <a:cs typeface="Times New Roman"/>
                      </a:endParaRPr>
                    </a:p>
                  </a:txBody>
                  <a:tcPr marL="0" marR="0" marT="0" marB="0">
                    <a:lnR w="6350">
                      <a:solidFill>
                        <a:srgbClr val="000000"/>
                      </a:solidFill>
                      <a:prstDash val="solid"/>
                    </a:lnR>
                  </a:tcPr>
                </a:tc>
                <a:tc>
                  <a:txBody>
                    <a:bodyPr/>
                    <a:lstStyle/>
                    <a:p>
                      <a:pPr marR="69850" algn="r">
                        <a:lnSpc>
                          <a:spcPts val="575"/>
                        </a:lnSpc>
                      </a:pPr>
                      <a:r>
                        <a:rPr sz="800" i="1" spc="10" dirty="0">
                          <a:latin typeface="Arial"/>
                          <a:cs typeface="Arial"/>
                        </a:rPr>
                        <a:t>P</a:t>
                      </a:r>
                      <a:r>
                        <a:rPr sz="900" i="1" spc="15" baseline="-13888" dirty="0">
                          <a:latin typeface="Arial"/>
                          <a:cs typeface="Arial"/>
                        </a:rPr>
                        <a:t>1</a:t>
                      </a:r>
                      <a:r>
                        <a:rPr sz="800" spc="1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575"/>
                        </a:lnSpc>
                      </a:pPr>
                      <a:r>
                        <a:rPr sz="800" spc="110" dirty="0">
                          <a:latin typeface="Times New Roman"/>
                          <a:cs typeface="Times New Roman"/>
                        </a:rPr>
                        <a:t>print(y,z);</a:t>
                      </a:r>
                      <a:endParaRPr sz="800">
                        <a:latin typeface="Times New Roman"/>
                        <a:cs typeface="Times New Roman"/>
                      </a:endParaRPr>
                    </a:p>
                  </a:txBody>
                  <a:tcPr marL="0" marR="0" marT="0" marB="0">
                    <a:lnR w="6350">
                      <a:solidFill>
                        <a:srgbClr val="000000"/>
                      </a:solidFill>
                      <a:prstDash val="solid"/>
                    </a:lnR>
                  </a:tcPr>
                </a:tc>
                <a:tc>
                  <a:txBody>
                    <a:bodyPr/>
                    <a:lstStyle/>
                    <a:p>
                      <a:pPr marL="4445" algn="ctr">
                        <a:lnSpc>
                          <a:spcPts val="575"/>
                        </a:lnSpc>
                      </a:pPr>
                      <a:r>
                        <a:rPr sz="800" i="1" dirty="0">
                          <a:latin typeface="Arial"/>
                          <a:cs typeface="Arial"/>
                        </a:rPr>
                        <a:t>P</a:t>
                      </a:r>
                      <a:r>
                        <a:rPr sz="900" i="1" baseline="-13888" dirty="0">
                          <a:latin typeface="Arial"/>
                          <a:cs typeface="Arial"/>
                        </a:rPr>
                        <a:t>2</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575"/>
                        </a:lnSpc>
                      </a:pPr>
                      <a:r>
                        <a:rPr sz="800" spc="110" dirty="0">
                          <a:latin typeface="Times New Roman"/>
                          <a:cs typeface="Times New Roman"/>
                        </a:rPr>
                        <a:t>print(x,z);</a:t>
                      </a:r>
                      <a:endParaRPr sz="800">
                        <a:latin typeface="Times New Roman"/>
                        <a:cs typeface="Times New Roman"/>
                      </a:endParaRPr>
                    </a:p>
                  </a:txBody>
                  <a:tcPr marL="0" marR="0" marT="0" marB="0">
                    <a:lnR w="6350">
                      <a:solidFill>
                        <a:srgbClr val="000000"/>
                      </a:solidFill>
                      <a:prstDash val="solid"/>
                    </a:lnR>
                  </a:tcPr>
                </a:tc>
                <a:tc>
                  <a:txBody>
                    <a:bodyPr/>
                    <a:lstStyle/>
                    <a:p>
                      <a:pPr marL="78105">
                        <a:lnSpc>
                          <a:spcPts val="575"/>
                        </a:lnSpc>
                      </a:pPr>
                      <a:r>
                        <a:rPr sz="800" i="1" dirty="0">
                          <a:latin typeface="Arial"/>
                          <a:cs typeface="Arial"/>
                        </a:rPr>
                        <a:t>P</a:t>
                      </a:r>
                      <a:r>
                        <a:rPr sz="900" i="1" baseline="-13888" dirty="0">
                          <a:latin typeface="Arial"/>
                          <a:cs typeface="Arial"/>
                        </a:rPr>
                        <a:t>2</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575"/>
                        </a:lnSpc>
                      </a:pPr>
                      <a:r>
                        <a:rPr sz="800" spc="110" dirty="0">
                          <a:latin typeface="Times New Roman"/>
                          <a:cs typeface="Times New Roman"/>
                        </a:rPr>
                        <a:t>print(x,z);</a:t>
                      </a:r>
                      <a:endParaRPr sz="800">
                        <a:latin typeface="Times New Roman"/>
                        <a:cs typeface="Times New Roman"/>
                      </a:endParaRPr>
                    </a:p>
                  </a:txBody>
                  <a:tcPr marL="0" marR="0" marT="0" marB="0"/>
                </a:tc>
                <a:extLst>
                  <a:ext uri="{0D108BD9-81ED-4DB2-BD59-A6C34878D82A}">
                    <a16:rowId xmlns:a16="http://schemas.microsoft.com/office/drawing/2014/main" val="10003"/>
                  </a:ext>
                </a:extLst>
              </a:tr>
              <a:tr h="142240">
                <a:tc>
                  <a:txBody>
                    <a:bodyPr/>
                    <a:lstStyle/>
                    <a:p>
                      <a:pPr marL="1905" algn="ctr">
                        <a:lnSpc>
                          <a:spcPts val="830"/>
                        </a:lnSpc>
                      </a:pPr>
                      <a:r>
                        <a:rPr sz="800" i="1" dirty="0">
                          <a:latin typeface="Arial"/>
                          <a:cs typeface="Arial"/>
                        </a:rPr>
                        <a:t>P</a:t>
                      </a:r>
                      <a:r>
                        <a:rPr sz="900" i="1" baseline="-13888" dirty="0">
                          <a:latin typeface="Arial"/>
                          <a:cs typeface="Arial"/>
                        </a:rPr>
                        <a:t>3</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tc>
                <a:tc>
                  <a:txBody>
                    <a:bodyPr/>
                    <a:lstStyle/>
                    <a:p>
                      <a:pPr marL="73025">
                        <a:lnSpc>
                          <a:spcPts val="830"/>
                        </a:lnSpc>
                      </a:pPr>
                      <a:r>
                        <a:rPr sz="800" spc="120" dirty="0">
                          <a:latin typeface="Times New Roman"/>
                          <a:cs typeface="Times New Roman"/>
                        </a:rPr>
                        <a:t>z</a:t>
                      </a:r>
                      <a:r>
                        <a:rPr sz="800" spc="114" dirty="0">
                          <a:latin typeface="Times New Roman"/>
                          <a:cs typeface="Times New Roman"/>
                        </a:rPr>
                        <a:t> </a:t>
                      </a:r>
                      <a:r>
                        <a:rPr sz="800" i="1" spc="-5" dirty="0">
                          <a:latin typeface="メイリオ"/>
                          <a:cs typeface="メイリオ"/>
                        </a:rPr>
                        <a:t>←</a:t>
                      </a:r>
                      <a:r>
                        <a:rPr sz="800" i="1" spc="40" dirty="0">
                          <a:latin typeface="メイリオ"/>
                          <a:cs typeface="メイリオ"/>
                        </a:rPr>
                        <a:t> </a:t>
                      </a:r>
                      <a:r>
                        <a:rPr sz="800" spc="125" dirty="0">
                          <a:latin typeface="Times New Roman"/>
                          <a:cs typeface="Times New Roman"/>
                        </a:rPr>
                        <a:t>1;</a:t>
                      </a:r>
                      <a:endParaRPr sz="800">
                        <a:latin typeface="Times New Roman"/>
                        <a:cs typeface="Times New Roman"/>
                      </a:endParaRPr>
                    </a:p>
                  </a:txBody>
                  <a:tcPr marL="0" marR="0" marT="0" marB="0">
                    <a:lnR w="6350">
                      <a:solidFill>
                        <a:srgbClr val="000000"/>
                      </a:solidFill>
                      <a:prstDash val="solid"/>
                    </a:lnR>
                  </a:tcPr>
                </a:tc>
                <a:tc>
                  <a:txBody>
                    <a:bodyPr/>
                    <a:lstStyle/>
                    <a:p>
                      <a:pPr marR="66040" algn="r">
                        <a:lnSpc>
                          <a:spcPts val="830"/>
                        </a:lnSpc>
                      </a:pPr>
                      <a:r>
                        <a:rPr sz="800" i="1" dirty="0">
                          <a:latin typeface="Arial"/>
                          <a:cs typeface="Arial"/>
                        </a:rPr>
                        <a:t>P</a:t>
                      </a:r>
                      <a:r>
                        <a:rPr sz="900" i="1" baseline="-13888" dirty="0">
                          <a:latin typeface="Arial"/>
                          <a:cs typeface="Arial"/>
                        </a:rPr>
                        <a:t>3</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830"/>
                        </a:lnSpc>
                      </a:pPr>
                      <a:r>
                        <a:rPr sz="800" spc="120" dirty="0">
                          <a:latin typeface="Times New Roman"/>
                          <a:cs typeface="Times New Roman"/>
                        </a:rPr>
                        <a:t>z</a:t>
                      </a:r>
                      <a:r>
                        <a:rPr sz="800" spc="114" dirty="0">
                          <a:latin typeface="Times New Roman"/>
                          <a:cs typeface="Times New Roman"/>
                        </a:rPr>
                        <a:t> </a:t>
                      </a:r>
                      <a:r>
                        <a:rPr sz="800" i="1" spc="-5" dirty="0">
                          <a:latin typeface="メイリオ"/>
                          <a:cs typeface="メイリオ"/>
                        </a:rPr>
                        <a:t>←</a:t>
                      </a:r>
                      <a:r>
                        <a:rPr sz="800" i="1" spc="40" dirty="0">
                          <a:latin typeface="メイリオ"/>
                          <a:cs typeface="メイリオ"/>
                        </a:rPr>
                        <a:t> </a:t>
                      </a:r>
                      <a:r>
                        <a:rPr sz="800" spc="125" dirty="0">
                          <a:latin typeface="Times New Roman"/>
                          <a:cs typeface="Times New Roman"/>
                        </a:rPr>
                        <a:t>1;</a:t>
                      </a:r>
                      <a:endParaRPr sz="800">
                        <a:latin typeface="Times New Roman"/>
                        <a:cs typeface="Times New Roman"/>
                      </a:endParaRPr>
                    </a:p>
                  </a:txBody>
                  <a:tcPr marL="0" marR="0" marT="0" marB="0">
                    <a:lnR w="6350">
                      <a:solidFill>
                        <a:srgbClr val="000000"/>
                      </a:solidFill>
                      <a:prstDash val="solid"/>
                    </a:lnR>
                  </a:tcPr>
                </a:tc>
                <a:tc>
                  <a:txBody>
                    <a:bodyPr/>
                    <a:lstStyle/>
                    <a:p>
                      <a:pPr algn="ctr">
                        <a:lnSpc>
                          <a:spcPts val="830"/>
                        </a:lnSpc>
                      </a:pPr>
                      <a:r>
                        <a:rPr sz="800" i="1" spc="10" dirty="0">
                          <a:latin typeface="Arial"/>
                          <a:cs typeface="Arial"/>
                        </a:rPr>
                        <a:t>P</a:t>
                      </a:r>
                      <a:r>
                        <a:rPr sz="900" i="1" spc="15" baseline="-13888" dirty="0">
                          <a:latin typeface="Arial"/>
                          <a:cs typeface="Arial"/>
                        </a:rPr>
                        <a:t>1</a:t>
                      </a:r>
                      <a:r>
                        <a:rPr sz="800" spc="1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830"/>
                        </a:lnSpc>
                      </a:pPr>
                      <a:r>
                        <a:rPr sz="800" spc="75" dirty="0">
                          <a:latin typeface="Times New Roman"/>
                          <a:cs typeface="Times New Roman"/>
                        </a:rPr>
                        <a:t>x</a:t>
                      </a:r>
                      <a:r>
                        <a:rPr sz="800" spc="114" dirty="0">
                          <a:latin typeface="Times New Roman"/>
                          <a:cs typeface="Times New Roman"/>
                        </a:rPr>
                        <a:t> </a:t>
                      </a:r>
                      <a:r>
                        <a:rPr sz="800" i="1" spc="-5" dirty="0">
                          <a:latin typeface="メイリオ"/>
                          <a:cs typeface="メイリオ"/>
                        </a:rPr>
                        <a:t>←</a:t>
                      </a:r>
                      <a:r>
                        <a:rPr sz="800" i="1" spc="40" dirty="0">
                          <a:latin typeface="メイリオ"/>
                          <a:cs typeface="メイリオ"/>
                        </a:rPr>
                        <a:t> </a:t>
                      </a:r>
                      <a:r>
                        <a:rPr sz="800" spc="125" dirty="0">
                          <a:latin typeface="Times New Roman"/>
                          <a:cs typeface="Times New Roman"/>
                        </a:rPr>
                        <a:t>1;</a:t>
                      </a:r>
                      <a:endParaRPr sz="800">
                        <a:latin typeface="Times New Roman"/>
                        <a:cs typeface="Times New Roman"/>
                      </a:endParaRPr>
                    </a:p>
                  </a:txBody>
                  <a:tcPr marL="0" marR="0" marT="0" marB="0">
                    <a:lnR w="6350">
                      <a:solidFill>
                        <a:srgbClr val="000000"/>
                      </a:solidFill>
                      <a:prstDash val="solid"/>
                    </a:lnR>
                  </a:tcPr>
                </a:tc>
                <a:tc>
                  <a:txBody>
                    <a:bodyPr/>
                    <a:lstStyle/>
                    <a:p>
                      <a:pPr marL="78105">
                        <a:lnSpc>
                          <a:spcPts val="830"/>
                        </a:lnSpc>
                      </a:pPr>
                      <a:r>
                        <a:rPr sz="800" i="1" spc="10" dirty="0">
                          <a:latin typeface="Arial"/>
                          <a:cs typeface="Arial"/>
                        </a:rPr>
                        <a:t>P</a:t>
                      </a:r>
                      <a:r>
                        <a:rPr sz="900" i="1" spc="15" baseline="-13888" dirty="0">
                          <a:latin typeface="Arial"/>
                          <a:cs typeface="Arial"/>
                        </a:rPr>
                        <a:t>1</a:t>
                      </a:r>
                      <a:r>
                        <a:rPr sz="800" spc="1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830"/>
                        </a:lnSpc>
                      </a:pPr>
                      <a:r>
                        <a:rPr sz="800" spc="110" dirty="0">
                          <a:latin typeface="Times New Roman"/>
                          <a:cs typeface="Times New Roman"/>
                        </a:rPr>
                        <a:t>print(y,z);</a:t>
                      </a:r>
                      <a:endParaRPr sz="800">
                        <a:latin typeface="Times New Roman"/>
                        <a:cs typeface="Times New Roman"/>
                      </a:endParaRPr>
                    </a:p>
                  </a:txBody>
                  <a:tcPr marL="0" marR="0" marT="0" marB="0"/>
                </a:tc>
                <a:extLst>
                  <a:ext uri="{0D108BD9-81ED-4DB2-BD59-A6C34878D82A}">
                    <a16:rowId xmlns:a16="http://schemas.microsoft.com/office/drawing/2014/main" val="10004"/>
                  </a:ext>
                </a:extLst>
              </a:tr>
              <a:tr h="96520">
                <a:tc>
                  <a:txBody>
                    <a:bodyPr/>
                    <a:lstStyle/>
                    <a:p>
                      <a:pPr marL="1905" algn="ctr">
                        <a:lnSpc>
                          <a:spcPts val="605"/>
                        </a:lnSpc>
                      </a:pPr>
                      <a:r>
                        <a:rPr sz="800" i="1" dirty="0">
                          <a:latin typeface="Arial"/>
                          <a:cs typeface="Arial"/>
                        </a:rPr>
                        <a:t>P</a:t>
                      </a:r>
                      <a:r>
                        <a:rPr sz="900" i="1" baseline="-13888" dirty="0">
                          <a:latin typeface="Arial"/>
                          <a:cs typeface="Arial"/>
                        </a:rPr>
                        <a:t>3</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tc>
                <a:tc>
                  <a:txBody>
                    <a:bodyPr/>
                    <a:lstStyle/>
                    <a:p>
                      <a:pPr marL="73025">
                        <a:lnSpc>
                          <a:spcPts val="605"/>
                        </a:lnSpc>
                      </a:pPr>
                      <a:r>
                        <a:rPr sz="800" spc="105" dirty="0">
                          <a:latin typeface="Times New Roman"/>
                          <a:cs typeface="Times New Roman"/>
                        </a:rPr>
                        <a:t>print(x,y);</a:t>
                      </a:r>
                      <a:endParaRPr sz="800">
                        <a:latin typeface="Times New Roman"/>
                        <a:cs typeface="Times New Roman"/>
                      </a:endParaRPr>
                    </a:p>
                  </a:txBody>
                  <a:tcPr marL="0" marR="0" marT="0" marB="0">
                    <a:lnR w="6350">
                      <a:solidFill>
                        <a:srgbClr val="000000"/>
                      </a:solidFill>
                      <a:prstDash val="solid"/>
                    </a:lnR>
                  </a:tcPr>
                </a:tc>
                <a:tc>
                  <a:txBody>
                    <a:bodyPr/>
                    <a:lstStyle/>
                    <a:p>
                      <a:pPr marR="66040" algn="r">
                        <a:lnSpc>
                          <a:spcPts val="605"/>
                        </a:lnSpc>
                      </a:pPr>
                      <a:r>
                        <a:rPr sz="800" i="1" dirty="0">
                          <a:latin typeface="Arial"/>
                          <a:cs typeface="Arial"/>
                        </a:rPr>
                        <a:t>P</a:t>
                      </a:r>
                      <a:r>
                        <a:rPr sz="900" i="1" baseline="-13888" dirty="0">
                          <a:latin typeface="Arial"/>
                          <a:cs typeface="Arial"/>
                        </a:rPr>
                        <a:t>3</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605"/>
                        </a:lnSpc>
                      </a:pPr>
                      <a:r>
                        <a:rPr sz="800" spc="105" dirty="0">
                          <a:latin typeface="Times New Roman"/>
                          <a:cs typeface="Times New Roman"/>
                        </a:rPr>
                        <a:t>print(x,y);</a:t>
                      </a:r>
                      <a:endParaRPr sz="800">
                        <a:latin typeface="Times New Roman"/>
                        <a:cs typeface="Times New Roman"/>
                      </a:endParaRPr>
                    </a:p>
                  </a:txBody>
                  <a:tcPr marL="0" marR="0" marT="0" marB="0">
                    <a:lnR w="6350">
                      <a:solidFill>
                        <a:srgbClr val="000000"/>
                      </a:solidFill>
                      <a:prstDash val="solid"/>
                    </a:lnR>
                  </a:tcPr>
                </a:tc>
                <a:tc>
                  <a:txBody>
                    <a:bodyPr/>
                    <a:lstStyle/>
                    <a:p>
                      <a:pPr algn="ctr">
                        <a:lnSpc>
                          <a:spcPts val="605"/>
                        </a:lnSpc>
                      </a:pPr>
                      <a:r>
                        <a:rPr sz="800" i="1" spc="10" dirty="0">
                          <a:latin typeface="Arial"/>
                          <a:cs typeface="Arial"/>
                        </a:rPr>
                        <a:t>P</a:t>
                      </a:r>
                      <a:r>
                        <a:rPr sz="900" i="1" spc="15" baseline="-13888" dirty="0">
                          <a:latin typeface="Arial"/>
                          <a:cs typeface="Arial"/>
                        </a:rPr>
                        <a:t>1</a:t>
                      </a:r>
                      <a:r>
                        <a:rPr sz="800" spc="1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605"/>
                        </a:lnSpc>
                      </a:pPr>
                      <a:r>
                        <a:rPr sz="800" spc="110" dirty="0">
                          <a:latin typeface="Times New Roman"/>
                          <a:cs typeface="Times New Roman"/>
                        </a:rPr>
                        <a:t>print(y,z);</a:t>
                      </a:r>
                      <a:endParaRPr sz="800">
                        <a:latin typeface="Times New Roman"/>
                        <a:cs typeface="Times New Roman"/>
                      </a:endParaRPr>
                    </a:p>
                  </a:txBody>
                  <a:tcPr marL="0" marR="0" marT="0" marB="0">
                    <a:lnR w="6350">
                      <a:solidFill>
                        <a:srgbClr val="000000"/>
                      </a:solidFill>
                      <a:prstDash val="solid"/>
                    </a:lnR>
                  </a:tcPr>
                </a:tc>
                <a:tc>
                  <a:txBody>
                    <a:bodyPr/>
                    <a:lstStyle/>
                    <a:p>
                      <a:pPr marL="78105">
                        <a:lnSpc>
                          <a:spcPts val="605"/>
                        </a:lnSpc>
                      </a:pPr>
                      <a:r>
                        <a:rPr sz="800" i="1" dirty="0">
                          <a:latin typeface="Arial"/>
                          <a:cs typeface="Arial"/>
                        </a:rPr>
                        <a:t>P</a:t>
                      </a:r>
                      <a:r>
                        <a:rPr sz="900" i="1" baseline="-13888" dirty="0">
                          <a:latin typeface="Arial"/>
                          <a:cs typeface="Arial"/>
                        </a:rPr>
                        <a:t>3</a:t>
                      </a:r>
                      <a:r>
                        <a:rPr sz="900" i="1" spc="-127" baseline="-13888" dirty="0">
                          <a:latin typeface="Arial"/>
                          <a:cs typeface="Arial"/>
                        </a:rPr>
                        <a:t> </a:t>
                      </a:r>
                      <a:r>
                        <a:rPr sz="800" dirty="0">
                          <a:latin typeface="Arial"/>
                          <a:cs typeface="Arial"/>
                        </a:rPr>
                        <a:t>:</a:t>
                      </a:r>
                      <a:endParaRPr sz="800">
                        <a:latin typeface="Arial"/>
                        <a:cs typeface="Arial"/>
                      </a:endParaRPr>
                    </a:p>
                  </a:txBody>
                  <a:tcPr marL="0" marR="0" marT="0" marB="0">
                    <a:lnL w="6350">
                      <a:solidFill>
                        <a:srgbClr val="000000"/>
                      </a:solidFill>
                      <a:prstDash val="solid"/>
                    </a:lnL>
                  </a:tcPr>
                </a:tc>
                <a:tc>
                  <a:txBody>
                    <a:bodyPr/>
                    <a:lstStyle/>
                    <a:p>
                      <a:pPr marL="73025">
                        <a:lnSpc>
                          <a:spcPts val="605"/>
                        </a:lnSpc>
                      </a:pPr>
                      <a:r>
                        <a:rPr sz="800" spc="105" dirty="0">
                          <a:latin typeface="Times New Roman"/>
                          <a:cs typeface="Times New Roman"/>
                        </a:rPr>
                        <a:t>print(x,y);</a:t>
                      </a:r>
                      <a:endParaRPr sz="800">
                        <a:latin typeface="Times New Roman"/>
                        <a:cs typeface="Times New Roman"/>
                      </a:endParaRPr>
                    </a:p>
                  </a:txBody>
                  <a:tcPr marL="0" marR="0" marT="0" marB="0"/>
                </a:tc>
                <a:extLst>
                  <a:ext uri="{0D108BD9-81ED-4DB2-BD59-A6C34878D82A}">
                    <a16:rowId xmlns:a16="http://schemas.microsoft.com/office/drawing/2014/main" val="10005"/>
                  </a:ext>
                </a:extLst>
              </a:tr>
            </a:tbl>
          </a:graphicData>
        </a:graphic>
      </p:graphicFrame>
      <p:graphicFrame>
        <p:nvGraphicFramePr>
          <p:cNvPr id="11" name="object 11"/>
          <p:cNvGraphicFramePr>
            <a:graphicFrameLocks noGrp="1"/>
          </p:cNvGraphicFramePr>
          <p:nvPr/>
        </p:nvGraphicFramePr>
        <p:xfrm>
          <a:off x="404164" y="2972187"/>
          <a:ext cx="4220210" cy="244475"/>
        </p:xfrm>
        <a:graphic>
          <a:graphicData uri="http://schemas.openxmlformats.org/drawingml/2006/table">
            <a:tbl>
              <a:tblPr firstRow="1" bandRow="1">
                <a:tableStyleId>{2D5ABB26-0587-4C30-8999-92F81FD0307C}</a:tableStyleId>
              </a:tblPr>
              <a:tblGrid>
                <a:gridCol w="1033780">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gridCol w="1079500">
                  <a:extLst>
                    <a:ext uri="{9D8B030D-6E8A-4147-A177-3AD203B41FA5}">
                      <a16:colId xmlns:a16="http://schemas.microsoft.com/office/drawing/2014/main" val="20002"/>
                    </a:ext>
                  </a:extLst>
                </a:gridCol>
                <a:gridCol w="1027430">
                  <a:extLst>
                    <a:ext uri="{9D8B030D-6E8A-4147-A177-3AD203B41FA5}">
                      <a16:colId xmlns:a16="http://schemas.microsoft.com/office/drawing/2014/main" val="20003"/>
                    </a:ext>
                  </a:extLst>
                </a:gridCol>
              </a:tblGrid>
              <a:tr h="119380">
                <a:tc>
                  <a:txBody>
                    <a:bodyPr/>
                    <a:lstStyle/>
                    <a:p>
                      <a:pPr marL="31750">
                        <a:lnSpc>
                          <a:spcPts val="844"/>
                        </a:lnSpc>
                      </a:pPr>
                      <a:r>
                        <a:rPr sz="800" i="1" dirty="0">
                          <a:latin typeface="Arial"/>
                          <a:cs typeface="Arial"/>
                        </a:rPr>
                        <a:t>Prints:</a:t>
                      </a:r>
                      <a:r>
                        <a:rPr sz="800" i="1" spc="125" dirty="0">
                          <a:latin typeface="Arial"/>
                          <a:cs typeface="Arial"/>
                        </a:rPr>
                        <a:t> </a:t>
                      </a:r>
                      <a:r>
                        <a:rPr sz="800" spc="10" dirty="0">
                          <a:latin typeface="Times New Roman"/>
                          <a:cs typeface="Times New Roman"/>
                        </a:rPr>
                        <a:t>001011</a:t>
                      </a:r>
                      <a:endParaRPr sz="800">
                        <a:latin typeface="Times New Roman"/>
                        <a:cs typeface="Times New Roman"/>
                      </a:endParaRPr>
                    </a:p>
                  </a:txBody>
                  <a:tcPr marL="0" marR="0" marT="0" marB="0">
                    <a:lnR w="6350">
                      <a:solidFill>
                        <a:srgbClr val="000000"/>
                      </a:solidFill>
                      <a:prstDash val="solid"/>
                    </a:lnR>
                  </a:tcPr>
                </a:tc>
                <a:tc>
                  <a:txBody>
                    <a:bodyPr/>
                    <a:lstStyle/>
                    <a:p>
                      <a:pPr marL="83185">
                        <a:lnSpc>
                          <a:spcPts val="844"/>
                        </a:lnSpc>
                      </a:pPr>
                      <a:r>
                        <a:rPr sz="800" i="1" dirty="0">
                          <a:latin typeface="Arial"/>
                          <a:cs typeface="Arial"/>
                        </a:rPr>
                        <a:t>Prints:</a:t>
                      </a:r>
                      <a:r>
                        <a:rPr sz="800" i="1" spc="125" dirty="0">
                          <a:latin typeface="Arial"/>
                          <a:cs typeface="Arial"/>
                        </a:rPr>
                        <a:t> </a:t>
                      </a:r>
                      <a:r>
                        <a:rPr sz="800" spc="10" dirty="0">
                          <a:latin typeface="Times New Roman"/>
                          <a:cs typeface="Times New Roman"/>
                        </a:rPr>
                        <a:t>101011</a:t>
                      </a:r>
                      <a:endParaRPr sz="800">
                        <a:latin typeface="Times New Roman"/>
                        <a:cs typeface="Times New Roman"/>
                      </a:endParaRPr>
                    </a:p>
                  </a:txBody>
                  <a:tcPr marL="0" marR="0" marT="0" marB="0">
                    <a:lnL w="6350">
                      <a:solidFill>
                        <a:srgbClr val="000000"/>
                      </a:solidFill>
                      <a:prstDash val="solid"/>
                    </a:lnL>
                    <a:lnR w="6350">
                      <a:solidFill>
                        <a:srgbClr val="000000"/>
                      </a:solidFill>
                      <a:prstDash val="solid"/>
                    </a:lnR>
                  </a:tcPr>
                </a:tc>
                <a:tc>
                  <a:txBody>
                    <a:bodyPr/>
                    <a:lstStyle/>
                    <a:p>
                      <a:pPr marL="83185">
                        <a:lnSpc>
                          <a:spcPts val="844"/>
                        </a:lnSpc>
                      </a:pPr>
                      <a:r>
                        <a:rPr sz="800" i="1" dirty="0">
                          <a:latin typeface="Arial"/>
                          <a:cs typeface="Arial"/>
                        </a:rPr>
                        <a:t>Prints:</a:t>
                      </a:r>
                      <a:r>
                        <a:rPr sz="800" i="1" spc="125" dirty="0">
                          <a:latin typeface="Arial"/>
                          <a:cs typeface="Arial"/>
                        </a:rPr>
                        <a:t> </a:t>
                      </a:r>
                      <a:r>
                        <a:rPr sz="800" spc="10" dirty="0">
                          <a:latin typeface="Times New Roman"/>
                          <a:cs typeface="Times New Roman"/>
                        </a:rPr>
                        <a:t>010111</a:t>
                      </a:r>
                      <a:endParaRPr sz="800">
                        <a:latin typeface="Times New Roman"/>
                        <a:cs typeface="Times New Roman"/>
                      </a:endParaRPr>
                    </a:p>
                  </a:txBody>
                  <a:tcPr marL="0" marR="0" marT="0" marB="0">
                    <a:lnL w="6350">
                      <a:solidFill>
                        <a:srgbClr val="000000"/>
                      </a:solidFill>
                      <a:prstDash val="solid"/>
                    </a:lnL>
                    <a:lnR w="6350">
                      <a:solidFill>
                        <a:srgbClr val="000000"/>
                      </a:solidFill>
                      <a:prstDash val="solid"/>
                    </a:lnR>
                  </a:tcPr>
                </a:tc>
                <a:tc>
                  <a:txBody>
                    <a:bodyPr/>
                    <a:lstStyle/>
                    <a:p>
                      <a:pPr marL="83185">
                        <a:lnSpc>
                          <a:spcPts val="844"/>
                        </a:lnSpc>
                      </a:pPr>
                      <a:r>
                        <a:rPr sz="800" i="1" dirty="0">
                          <a:latin typeface="Arial"/>
                          <a:cs typeface="Arial"/>
                        </a:rPr>
                        <a:t>Prints:</a:t>
                      </a:r>
                      <a:r>
                        <a:rPr sz="800" i="1" spc="125" dirty="0">
                          <a:latin typeface="Arial"/>
                          <a:cs typeface="Arial"/>
                        </a:rPr>
                        <a:t> </a:t>
                      </a:r>
                      <a:r>
                        <a:rPr sz="800" spc="10" dirty="0">
                          <a:latin typeface="Times New Roman"/>
                          <a:cs typeface="Times New Roman"/>
                        </a:rPr>
                        <a:t>111111</a:t>
                      </a:r>
                      <a:endParaRPr sz="800">
                        <a:latin typeface="Times New Roman"/>
                        <a:cs typeface="Times New Roman"/>
                      </a:endParaRPr>
                    </a:p>
                  </a:txBody>
                  <a:tcPr marL="0" marR="0" marT="0" marB="0">
                    <a:lnL w="6350">
                      <a:solidFill>
                        <a:srgbClr val="000000"/>
                      </a:solidFill>
                      <a:prstDash val="solid"/>
                    </a:lnL>
                  </a:tcPr>
                </a:tc>
                <a:extLst>
                  <a:ext uri="{0D108BD9-81ED-4DB2-BD59-A6C34878D82A}">
                    <a16:rowId xmlns:a16="http://schemas.microsoft.com/office/drawing/2014/main" val="10000"/>
                  </a:ext>
                </a:extLst>
              </a:tr>
              <a:tr h="125095">
                <a:tc>
                  <a:txBody>
                    <a:bodyPr/>
                    <a:lstStyle/>
                    <a:p>
                      <a:pPr marL="31750">
                        <a:lnSpc>
                          <a:spcPts val="875"/>
                        </a:lnSpc>
                      </a:pPr>
                      <a:r>
                        <a:rPr sz="800" i="1" dirty="0">
                          <a:latin typeface="Arial"/>
                          <a:cs typeface="Arial"/>
                        </a:rPr>
                        <a:t>Signature:</a:t>
                      </a:r>
                      <a:r>
                        <a:rPr sz="800" i="1" spc="50" dirty="0">
                          <a:latin typeface="Arial"/>
                          <a:cs typeface="Arial"/>
                        </a:rPr>
                        <a:t> </a:t>
                      </a:r>
                      <a:r>
                        <a:rPr sz="800" i="1" dirty="0">
                          <a:latin typeface="Arial"/>
                          <a:cs typeface="Arial"/>
                        </a:rPr>
                        <a:t>0</a:t>
                      </a:r>
                      <a:r>
                        <a:rPr sz="800" i="1" spc="-95" dirty="0">
                          <a:latin typeface="Arial"/>
                          <a:cs typeface="Arial"/>
                        </a:rPr>
                        <a:t> </a:t>
                      </a:r>
                      <a:r>
                        <a:rPr sz="800" i="1" dirty="0">
                          <a:latin typeface="Arial"/>
                          <a:cs typeface="Arial"/>
                        </a:rPr>
                        <a:t>0</a:t>
                      </a:r>
                      <a:r>
                        <a:rPr sz="800" i="1" spc="-5" dirty="0">
                          <a:latin typeface="Arial"/>
                          <a:cs typeface="Arial"/>
                        </a:rPr>
                        <a:t> </a:t>
                      </a:r>
                      <a:r>
                        <a:rPr sz="800" i="1" spc="85" dirty="0">
                          <a:latin typeface="Arial"/>
                          <a:cs typeface="Arial"/>
                        </a:rPr>
                        <a:t>1</a:t>
                      </a:r>
                      <a:r>
                        <a:rPr sz="800" i="1" dirty="0">
                          <a:latin typeface="Arial"/>
                          <a:cs typeface="Arial"/>
                        </a:rPr>
                        <a:t>0</a:t>
                      </a:r>
                      <a:r>
                        <a:rPr sz="800" i="1" spc="-5" dirty="0">
                          <a:latin typeface="Arial"/>
                          <a:cs typeface="Arial"/>
                        </a:rPr>
                        <a:t> </a:t>
                      </a:r>
                      <a:r>
                        <a:rPr sz="800" i="1" spc="85" dirty="0">
                          <a:latin typeface="Arial"/>
                          <a:cs typeface="Arial"/>
                        </a:rPr>
                        <a:t>1</a:t>
                      </a:r>
                      <a:r>
                        <a:rPr sz="800" i="1" dirty="0">
                          <a:latin typeface="Arial"/>
                          <a:cs typeface="Arial"/>
                        </a:rPr>
                        <a:t>1</a:t>
                      </a:r>
                      <a:endParaRPr sz="800">
                        <a:latin typeface="Arial"/>
                        <a:cs typeface="Arial"/>
                      </a:endParaRPr>
                    </a:p>
                  </a:txBody>
                  <a:tcPr marL="0" marR="0" marT="0" marB="0">
                    <a:lnR w="6350">
                      <a:solidFill>
                        <a:srgbClr val="000000"/>
                      </a:solidFill>
                      <a:prstDash val="solid"/>
                    </a:lnR>
                  </a:tcPr>
                </a:tc>
                <a:tc>
                  <a:txBody>
                    <a:bodyPr/>
                    <a:lstStyle/>
                    <a:p>
                      <a:pPr marL="83185">
                        <a:lnSpc>
                          <a:spcPts val="875"/>
                        </a:lnSpc>
                      </a:pPr>
                      <a:r>
                        <a:rPr sz="800" i="1" spc="-5" dirty="0">
                          <a:latin typeface="Arial"/>
                          <a:cs typeface="Arial"/>
                        </a:rPr>
                        <a:t>Signature:</a:t>
                      </a:r>
                      <a:r>
                        <a:rPr sz="800" i="1" spc="30" dirty="0">
                          <a:latin typeface="Arial"/>
                          <a:cs typeface="Arial"/>
                        </a:rPr>
                        <a:t> </a:t>
                      </a:r>
                      <a:r>
                        <a:rPr sz="800" i="1" spc="40" dirty="0">
                          <a:latin typeface="Arial"/>
                          <a:cs typeface="Arial"/>
                        </a:rPr>
                        <a:t>10</a:t>
                      </a:r>
                      <a:r>
                        <a:rPr sz="800" i="1" spc="-20" dirty="0">
                          <a:latin typeface="Arial"/>
                          <a:cs typeface="Arial"/>
                        </a:rPr>
                        <a:t> </a:t>
                      </a:r>
                      <a:r>
                        <a:rPr sz="800" i="1" spc="40" dirty="0">
                          <a:latin typeface="Arial"/>
                          <a:cs typeface="Arial"/>
                        </a:rPr>
                        <a:t>10</a:t>
                      </a:r>
                      <a:r>
                        <a:rPr sz="800" i="1" spc="-15" dirty="0">
                          <a:latin typeface="Arial"/>
                          <a:cs typeface="Arial"/>
                        </a:rPr>
                        <a:t> </a:t>
                      </a:r>
                      <a:r>
                        <a:rPr sz="800" i="1" spc="40" dirty="0">
                          <a:latin typeface="Arial"/>
                          <a:cs typeface="Arial"/>
                        </a:rPr>
                        <a:t>11</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83185">
                        <a:lnSpc>
                          <a:spcPts val="875"/>
                        </a:lnSpc>
                      </a:pPr>
                      <a:r>
                        <a:rPr sz="800" i="1" dirty="0">
                          <a:latin typeface="Arial"/>
                          <a:cs typeface="Arial"/>
                        </a:rPr>
                        <a:t>Signature:</a:t>
                      </a:r>
                      <a:r>
                        <a:rPr sz="800" i="1" spc="50" dirty="0">
                          <a:latin typeface="Arial"/>
                          <a:cs typeface="Arial"/>
                        </a:rPr>
                        <a:t> </a:t>
                      </a:r>
                      <a:r>
                        <a:rPr sz="800" i="1" spc="85" dirty="0">
                          <a:latin typeface="Arial"/>
                          <a:cs typeface="Arial"/>
                        </a:rPr>
                        <a:t>1</a:t>
                      </a:r>
                      <a:r>
                        <a:rPr sz="800" i="1" dirty="0">
                          <a:latin typeface="Arial"/>
                          <a:cs typeface="Arial"/>
                        </a:rPr>
                        <a:t>1</a:t>
                      </a:r>
                      <a:r>
                        <a:rPr sz="800" i="1" spc="-50" dirty="0">
                          <a:latin typeface="Arial"/>
                          <a:cs typeface="Arial"/>
                        </a:rPr>
                        <a:t> </a:t>
                      </a:r>
                      <a:r>
                        <a:rPr sz="800" i="1" dirty="0">
                          <a:latin typeface="Arial"/>
                          <a:cs typeface="Arial"/>
                        </a:rPr>
                        <a:t>0</a:t>
                      </a:r>
                      <a:r>
                        <a:rPr sz="800" i="1" spc="-95" dirty="0">
                          <a:latin typeface="Arial"/>
                          <a:cs typeface="Arial"/>
                        </a:rPr>
                        <a:t> </a:t>
                      </a:r>
                      <a:r>
                        <a:rPr sz="800" i="1" dirty="0">
                          <a:latin typeface="Arial"/>
                          <a:cs typeface="Arial"/>
                        </a:rPr>
                        <a:t>1</a:t>
                      </a:r>
                      <a:r>
                        <a:rPr sz="800" i="1" spc="-50" dirty="0">
                          <a:latin typeface="Arial"/>
                          <a:cs typeface="Arial"/>
                        </a:rPr>
                        <a:t> </a:t>
                      </a:r>
                      <a:r>
                        <a:rPr sz="800" i="1" dirty="0">
                          <a:latin typeface="Arial"/>
                          <a:cs typeface="Arial"/>
                        </a:rPr>
                        <a:t>0</a:t>
                      </a:r>
                      <a:r>
                        <a:rPr sz="800" i="1" spc="-95" dirty="0">
                          <a:latin typeface="Arial"/>
                          <a:cs typeface="Arial"/>
                        </a:rPr>
                        <a:t> </a:t>
                      </a:r>
                      <a:r>
                        <a:rPr sz="800" i="1" dirty="0">
                          <a:latin typeface="Arial"/>
                          <a:cs typeface="Arial"/>
                        </a:rPr>
                        <a:t>1</a:t>
                      </a:r>
                      <a:endParaRPr sz="8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83185">
                        <a:lnSpc>
                          <a:spcPts val="875"/>
                        </a:lnSpc>
                      </a:pPr>
                      <a:r>
                        <a:rPr sz="800" i="1" dirty="0">
                          <a:latin typeface="Arial"/>
                          <a:cs typeface="Arial"/>
                        </a:rPr>
                        <a:t>Signature:</a:t>
                      </a:r>
                      <a:r>
                        <a:rPr sz="800" i="1" spc="50" dirty="0">
                          <a:latin typeface="Arial"/>
                          <a:cs typeface="Arial"/>
                        </a:rPr>
                        <a:t> </a:t>
                      </a:r>
                      <a:r>
                        <a:rPr sz="800" i="1" spc="85" dirty="0">
                          <a:latin typeface="Arial"/>
                          <a:cs typeface="Arial"/>
                        </a:rPr>
                        <a:t>1</a:t>
                      </a:r>
                      <a:r>
                        <a:rPr sz="800" i="1" dirty="0">
                          <a:latin typeface="Arial"/>
                          <a:cs typeface="Arial"/>
                        </a:rPr>
                        <a:t>1</a:t>
                      </a:r>
                      <a:r>
                        <a:rPr sz="800" i="1" spc="-50" dirty="0">
                          <a:latin typeface="Arial"/>
                          <a:cs typeface="Arial"/>
                        </a:rPr>
                        <a:t> </a:t>
                      </a:r>
                      <a:r>
                        <a:rPr sz="800" i="1" spc="85" dirty="0">
                          <a:latin typeface="Arial"/>
                          <a:cs typeface="Arial"/>
                        </a:rPr>
                        <a:t>1</a:t>
                      </a:r>
                      <a:r>
                        <a:rPr sz="800" i="1" dirty="0">
                          <a:latin typeface="Arial"/>
                          <a:cs typeface="Arial"/>
                        </a:rPr>
                        <a:t>1</a:t>
                      </a:r>
                      <a:r>
                        <a:rPr sz="800" i="1" spc="-45" dirty="0">
                          <a:latin typeface="Arial"/>
                          <a:cs typeface="Arial"/>
                        </a:rPr>
                        <a:t> </a:t>
                      </a:r>
                      <a:r>
                        <a:rPr sz="800" i="1" spc="85" dirty="0">
                          <a:latin typeface="Arial"/>
                          <a:cs typeface="Arial"/>
                        </a:rPr>
                        <a:t>1</a:t>
                      </a:r>
                      <a:r>
                        <a:rPr sz="800" i="1" dirty="0">
                          <a:latin typeface="Arial"/>
                          <a:cs typeface="Arial"/>
                        </a:rPr>
                        <a:t>1</a:t>
                      </a:r>
                      <a:endParaRPr sz="800">
                        <a:latin typeface="Arial"/>
                        <a:cs typeface="Arial"/>
                      </a:endParaRPr>
                    </a:p>
                  </a:txBody>
                  <a:tcPr marL="0" marR="0" marT="0" marB="0">
                    <a:lnL w="6350">
                      <a:solidFill>
                        <a:srgbClr val="000000"/>
                      </a:solidFill>
                      <a:prstDash val="solid"/>
                    </a:lnL>
                  </a:tcPr>
                </a:tc>
                <a:extLst>
                  <a:ext uri="{0D108BD9-81ED-4DB2-BD59-A6C34878D82A}">
                    <a16:rowId xmlns:a16="http://schemas.microsoft.com/office/drawing/2014/main" val="10001"/>
                  </a:ext>
                </a:extLst>
              </a:tr>
            </a:tbl>
          </a:graphicData>
        </a:graphic>
      </p:graphicFrame>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Consistency</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and</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replication:</a:t>
            </a:r>
            <a:r>
              <a:rPr sz="600" spc="175" dirty="0">
                <a:solidFill>
                  <a:srgbClr val="3333B2"/>
                </a:solidFill>
                <a:latin typeface="Arial"/>
                <a:cs typeface="Arial"/>
              </a:rPr>
              <a:t> </a:t>
            </a:r>
            <a:r>
              <a:rPr sz="600" spc="-5" dirty="0">
                <a:solidFill>
                  <a:srgbClr val="3333B2"/>
                </a:solidFill>
                <a:latin typeface="Arial"/>
                <a:cs typeface="Arial"/>
                <a:hlinkClick r:id="rId3" action="ppaction://hlinksldjump"/>
              </a:rPr>
              <a:t>Data-centric</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models</a:t>
            </a:r>
            <a:endParaRPr sz="600">
              <a:latin typeface="Arial"/>
              <a:cs typeface="Arial"/>
            </a:endParaRPr>
          </a:p>
        </p:txBody>
      </p:sp>
      <p:sp>
        <p:nvSpPr>
          <p:cNvPr id="3" name="object 3"/>
          <p:cNvSpPr txBox="1"/>
          <p:nvPr/>
        </p:nvSpPr>
        <p:spPr>
          <a:xfrm>
            <a:off x="3397354" y="716"/>
            <a:ext cx="11442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Consistent ordering</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of operations</a:t>
            </a:r>
            <a:endParaRPr sz="600">
              <a:latin typeface="Arial"/>
              <a:cs typeface="Arial"/>
            </a:endParaRPr>
          </a:p>
        </p:txBody>
      </p:sp>
      <p:sp>
        <p:nvSpPr>
          <p:cNvPr id="4" name="object 4"/>
          <p:cNvSpPr txBox="1"/>
          <p:nvPr/>
        </p:nvSpPr>
        <p:spPr>
          <a:xfrm>
            <a:off x="95300" y="188846"/>
            <a:ext cx="1753235"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How</a:t>
            </a:r>
            <a:r>
              <a:rPr sz="1400" spc="-10" dirty="0">
                <a:solidFill>
                  <a:srgbClr val="3333B2"/>
                </a:solidFill>
                <a:latin typeface="Arial"/>
                <a:cs typeface="Arial"/>
              </a:rPr>
              <a:t> </a:t>
            </a:r>
            <a:r>
              <a:rPr sz="1400" spc="10" dirty="0">
                <a:solidFill>
                  <a:srgbClr val="3333B2"/>
                </a:solidFill>
                <a:latin typeface="Arial"/>
                <a:cs typeface="Arial"/>
              </a:rPr>
              <a:t>tricky</a:t>
            </a:r>
            <a:r>
              <a:rPr sz="1400" spc="-5" dirty="0">
                <a:solidFill>
                  <a:srgbClr val="3333B2"/>
                </a:solidFill>
                <a:latin typeface="Arial"/>
                <a:cs typeface="Arial"/>
              </a:rPr>
              <a:t> </a:t>
            </a:r>
            <a:r>
              <a:rPr sz="1400" spc="15" dirty="0">
                <a:solidFill>
                  <a:srgbClr val="3333B2"/>
                </a:solidFill>
                <a:latin typeface="Arial"/>
                <a:cs typeface="Arial"/>
              </a:rPr>
              <a:t>can</a:t>
            </a:r>
            <a:r>
              <a:rPr sz="1400" spc="-10" dirty="0">
                <a:solidFill>
                  <a:srgbClr val="3333B2"/>
                </a:solidFill>
                <a:latin typeface="Arial"/>
                <a:cs typeface="Arial"/>
              </a:rPr>
              <a:t> </a:t>
            </a:r>
            <a:r>
              <a:rPr sz="1400" spc="5" dirty="0">
                <a:solidFill>
                  <a:srgbClr val="3333B2"/>
                </a:solidFill>
                <a:latin typeface="Arial"/>
                <a:cs typeface="Arial"/>
              </a:rPr>
              <a:t>it</a:t>
            </a:r>
            <a:r>
              <a:rPr sz="1400" spc="-5" dirty="0">
                <a:solidFill>
                  <a:srgbClr val="3333B2"/>
                </a:solidFill>
                <a:latin typeface="Arial"/>
                <a:cs typeface="Arial"/>
              </a:rPr>
              <a:t> </a:t>
            </a:r>
            <a:r>
              <a:rPr sz="1400" spc="15" dirty="0">
                <a:solidFill>
                  <a:srgbClr val="3333B2"/>
                </a:solidFill>
                <a:latin typeface="Arial"/>
                <a:cs typeface="Arial"/>
              </a:rPr>
              <a:t>get?</a:t>
            </a:r>
            <a:endParaRPr sz="1400">
              <a:latin typeface="Arial"/>
              <a:cs typeface="Arial"/>
            </a:endParaRPr>
          </a:p>
        </p:txBody>
      </p:sp>
      <p:sp>
        <p:nvSpPr>
          <p:cNvPr id="5" name="object 5"/>
          <p:cNvSpPr txBox="1"/>
          <p:nvPr/>
        </p:nvSpPr>
        <p:spPr>
          <a:xfrm>
            <a:off x="347294" y="621624"/>
            <a:ext cx="1240790" cy="351155"/>
          </a:xfrm>
          <a:prstGeom prst="rect">
            <a:avLst/>
          </a:prstGeom>
        </p:spPr>
        <p:txBody>
          <a:bodyPr vert="horz" wrap="square" lIns="0" tIns="12065" rIns="0" bIns="0" rtlCol="0">
            <a:spAutoFit/>
          </a:bodyPr>
          <a:lstStyle/>
          <a:p>
            <a:pPr marL="12700">
              <a:lnSpc>
                <a:spcPts val="1430"/>
              </a:lnSpc>
              <a:spcBef>
                <a:spcPts val="95"/>
              </a:spcBef>
            </a:pPr>
            <a:r>
              <a:rPr sz="1200" spc="-5" dirty="0">
                <a:solidFill>
                  <a:srgbClr val="3333B2"/>
                </a:solidFill>
                <a:latin typeface="Arial"/>
                <a:cs typeface="Arial"/>
              </a:rPr>
              <a:t>Seemingly</a:t>
            </a:r>
            <a:r>
              <a:rPr sz="1200" spc="-40" dirty="0">
                <a:solidFill>
                  <a:srgbClr val="3333B2"/>
                </a:solidFill>
                <a:latin typeface="Arial"/>
                <a:cs typeface="Arial"/>
              </a:rPr>
              <a:t> </a:t>
            </a:r>
            <a:r>
              <a:rPr sz="1200" spc="-15" dirty="0">
                <a:solidFill>
                  <a:srgbClr val="3333B2"/>
                </a:solidFill>
                <a:latin typeface="Arial"/>
                <a:cs typeface="Arial"/>
              </a:rPr>
              <a:t>okay</a:t>
            </a:r>
            <a:endParaRPr sz="1200">
              <a:latin typeface="Arial"/>
              <a:cs typeface="Arial"/>
            </a:endParaRPr>
          </a:p>
          <a:p>
            <a:pPr marR="5080" algn="r">
              <a:lnSpc>
                <a:spcPts val="1130"/>
              </a:lnSpc>
            </a:pPr>
            <a:r>
              <a:rPr sz="950" spc="5" dirty="0">
                <a:solidFill>
                  <a:srgbClr val="231F20"/>
                </a:solidFill>
                <a:latin typeface="Arial"/>
                <a:cs typeface="Arial"/>
              </a:rPr>
              <a:t>P1:</a:t>
            </a:r>
            <a:endParaRPr sz="950">
              <a:latin typeface="Arial"/>
              <a:cs typeface="Arial"/>
            </a:endParaRPr>
          </a:p>
        </p:txBody>
      </p:sp>
      <p:sp>
        <p:nvSpPr>
          <p:cNvPr id="6" name="object 6"/>
          <p:cNvSpPr txBox="1"/>
          <p:nvPr/>
        </p:nvSpPr>
        <p:spPr>
          <a:xfrm>
            <a:off x="2792872" y="801740"/>
            <a:ext cx="32385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R</a:t>
            </a:r>
            <a:r>
              <a:rPr sz="950" spc="-5" dirty="0">
                <a:solidFill>
                  <a:srgbClr val="231F20"/>
                </a:solidFill>
                <a:latin typeface="Arial"/>
                <a:cs typeface="Arial"/>
              </a:rPr>
              <a:t>(</a:t>
            </a:r>
            <a:r>
              <a:rPr sz="950" dirty="0">
                <a:solidFill>
                  <a:srgbClr val="231F20"/>
                </a:solidFill>
                <a:latin typeface="Arial"/>
                <a:cs typeface="Arial"/>
              </a:rPr>
              <a:t>x)</a:t>
            </a:r>
            <a:r>
              <a:rPr sz="950" spc="5" dirty="0">
                <a:solidFill>
                  <a:srgbClr val="231F20"/>
                </a:solidFill>
                <a:latin typeface="Arial"/>
                <a:cs typeface="Arial"/>
              </a:rPr>
              <a:t>a</a:t>
            </a:r>
            <a:endParaRPr sz="950">
              <a:latin typeface="Arial"/>
              <a:cs typeface="Arial"/>
            </a:endParaRPr>
          </a:p>
        </p:txBody>
      </p:sp>
      <p:sp>
        <p:nvSpPr>
          <p:cNvPr id="7" name="object 7"/>
          <p:cNvSpPr txBox="1"/>
          <p:nvPr/>
        </p:nvSpPr>
        <p:spPr>
          <a:xfrm>
            <a:off x="2792871" y="974535"/>
            <a:ext cx="32385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R</a:t>
            </a:r>
            <a:r>
              <a:rPr sz="950" dirty="0">
                <a:solidFill>
                  <a:srgbClr val="231F20"/>
                </a:solidFill>
                <a:latin typeface="Arial"/>
                <a:cs typeface="Arial"/>
              </a:rPr>
              <a:t>(y)</a:t>
            </a:r>
            <a:r>
              <a:rPr sz="950" spc="5" dirty="0">
                <a:solidFill>
                  <a:srgbClr val="231F20"/>
                </a:solidFill>
                <a:latin typeface="Arial"/>
                <a:cs typeface="Arial"/>
              </a:rPr>
              <a:t>b</a:t>
            </a:r>
            <a:endParaRPr sz="950">
              <a:latin typeface="Arial"/>
              <a:cs typeface="Arial"/>
            </a:endParaRPr>
          </a:p>
        </p:txBody>
      </p:sp>
      <p:sp>
        <p:nvSpPr>
          <p:cNvPr id="8" name="object 8"/>
          <p:cNvSpPr txBox="1"/>
          <p:nvPr/>
        </p:nvSpPr>
        <p:spPr>
          <a:xfrm>
            <a:off x="1721047" y="802371"/>
            <a:ext cx="35052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W(x)a</a:t>
            </a:r>
            <a:endParaRPr sz="950">
              <a:latin typeface="Arial"/>
              <a:cs typeface="Arial"/>
            </a:endParaRPr>
          </a:p>
        </p:txBody>
      </p:sp>
      <p:sp>
        <p:nvSpPr>
          <p:cNvPr id="9" name="object 9"/>
          <p:cNvSpPr txBox="1"/>
          <p:nvPr/>
        </p:nvSpPr>
        <p:spPr>
          <a:xfrm>
            <a:off x="1807437" y="974535"/>
            <a:ext cx="35052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W</a:t>
            </a:r>
            <a:r>
              <a:rPr sz="950" spc="-5" dirty="0">
                <a:solidFill>
                  <a:srgbClr val="231F20"/>
                </a:solidFill>
                <a:latin typeface="Arial"/>
                <a:cs typeface="Arial"/>
              </a:rPr>
              <a:t>(</a:t>
            </a:r>
            <a:r>
              <a:rPr sz="950" dirty="0">
                <a:solidFill>
                  <a:srgbClr val="231F20"/>
                </a:solidFill>
                <a:latin typeface="Arial"/>
                <a:cs typeface="Arial"/>
              </a:rPr>
              <a:t>y)</a:t>
            </a:r>
            <a:r>
              <a:rPr sz="950" spc="5" dirty="0">
                <a:solidFill>
                  <a:srgbClr val="231F20"/>
                </a:solidFill>
                <a:latin typeface="Arial"/>
                <a:cs typeface="Arial"/>
              </a:rPr>
              <a:t>b</a:t>
            </a:r>
            <a:endParaRPr sz="950">
              <a:latin typeface="Arial"/>
              <a:cs typeface="Arial"/>
            </a:endParaRPr>
          </a:p>
        </p:txBody>
      </p:sp>
      <p:sp>
        <p:nvSpPr>
          <p:cNvPr id="10" name="object 10"/>
          <p:cNvSpPr txBox="1"/>
          <p:nvPr/>
        </p:nvSpPr>
        <p:spPr>
          <a:xfrm>
            <a:off x="2282647" y="801740"/>
            <a:ext cx="35052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W(y)a</a:t>
            </a:r>
            <a:endParaRPr sz="950">
              <a:latin typeface="Arial"/>
              <a:cs typeface="Arial"/>
            </a:endParaRPr>
          </a:p>
        </p:txBody>
      </p:sp>
      <p:sp>
        <p:nvSpPr>
          <p:cNvPr id="11" name="object 11"/>
          <p:cNvSpPr txBox="1"/>
          <p:nvPr/>
        </p:nvSpPr>
        <p:spPr>
          <a:xfrm>
            <a:off x="2232705" y="974535"/>
            <a:ext cx="35052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W</a:t>
            </a:r>
            <a:r>
              <a:rPr sz="950" spc="-5" dirty="0">
                <a:solidFill>
                  <a:srgbClr val="231F20"/>
                </a:solidFill>
                <a:latin typeface="Arial"/>
                <a:cs typeface="Arial"/>
              </a:rPr>
              <a:t>(</a:t>
            </a:r>
            <a:r>
              <a:rPr sz="950" dirty="0">
                <a:solidFill>
                  <a:srgbClr val="231F20"/>
                </a:solidFill>
                <a:latin typeface="Arial"/>
                <a:cs typeface="Arial"/>
              </a:rPr>
              <a:t>x)</a:t>
            </a:r>
            <a:r>
              <a:rPr sz="950" spc="5" dirty="0">
                <a:solidFill>
                  <a:srgbClr val="231F20"/>
                </a:solidFill>
                <a:latin typeface="Arial"/>
                <a:cs typeface="Arial"/>
              </a:rPr>
              <a:t>b</a:t>
            </a:r>
            <a:endParaRPr sz="950">
              <a:latin typeface="Arial"/>
              <a:cs typeface="Arial"/>
            </a:endParaRPr>
          </a:p>
        </p:txBody>
      </p:sp>
      <p:sp>
        <p:nvSpPr>
          <p:cNvPr id="12" name="object 12"/>
          <p:cNvSpPr txBox="1"/>
          <p:nvPr/>
        </p:nvSpPr>
        <p:spPr>
          <a:xfrm>
            <a:off x="1379464" y="973452"/>
            <a:ext cx="20891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P2:</a:t>
            </a:r>
            <a:endParaRPr sz="950">
              <a:latin typeface="Arial"/>
              <a:cs typeface="Arial"/>
            </a:endParaRPr>
          </a:p>
        </p:txBody>
      </p:sp>
      <p:sp>
        <p:nvSpPr>
          <p:cNvPr id="13" name="object 13"/>
          <p:cNvSpPr/>
          <p:nvPr/>
        </p:nvSpPr>
        <p:spPr>
          <a:xfrm>
            <a:off x="1389614" y="977820"/>
            <a:ext cx="1814830" cy="0"/>
          </a:xfrm>
          <a:custGeom>
            <a:avLst/>
            <a:gdLst/>
            <a:ahLst/>
            <a:cxnLst/>
            <a:rect l="l" t="t" r="r" b="b"/>
            <a:pathLst>
              <a:path w="1814830">
                <a:moveTo>
                  <a:pt x="0" y="0"/>
                </a:moveTo>
                <a:lnTo>
                  <a:pt x="1814392" y="0"/>
                </a:lnTo>
              </a:path>
            </a:pathLst>
          </a:custGeom>
          <a:ln w="8640">
            <a:solidFill>
              <a:srgbClr val="231F20"/>
            </a:solidFill>
          </a:ln>
        </p:spPr>
        <p:txBody>
          <a:bodyPr wrap="square" lIns="0" tIns="0" rIns="0" bIns="0" rtlCol="0"/>
          <a:lstStyle/>
          <a:p>
            <a:endParaRPr/>
          </a:p>
        </p:txBody>
      </p:sp>
      <p:sp>
        <p:nvSpPr>
          <p:cNvPr id="14" name="object 14"/>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4" action="ppaction://hlinksldjump"/>
              </a:rPr>
              <a:t>Sequential</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endParaRPr sz="600">
              <a:latin typeface="Arial"/>
              <a:cs typeface="Arial"/>
            </a:endParaRPr>
          </a:p>
        </p:txBody>
      </p:sp>
      <p:sp>
        <p:nvSpPr>
          <p:cNvPr id="15" name="object 1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Data-centric</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397354" y="716"/>
            <a:ext cx="11442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Consistent ordering</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of operations</a:t>
            </a:r>
            <a:endParaRPr sz="600">
              <a:latin typeface="Arial"/>
              <a:cs typeface="Arial"/>
            </a:endParaRPr>
          </a:p>
        </p:txBody>
      </p:sp>
      <p:sp>
        <p:nvSpPr>
          <p:cNvPr id="4" name="object 4"/>
          <p:cNvSpPr txBox="1"/>
          <p:nvPr/>
        </p:nvSpPr>
        <p:spPr>
          <a:xfrm>
            <a:off x="95300" y="188846"/>
            <a:ext cx="1753235"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How</a:t>
            </a:r>
            <a:r>
              <a:rPr sz="1400" spc="-10" dirty="0">
                <a:solidFill>
                  <a:srgbClr val="3333B2"/>
                </a:solidFill>
                <a:latin typeface="Arial"/>
                <a:cs typeface="Arial"/>
              </a:rPr>
              <a:t> </a:t>
            </a:r>
            <a:r>
              <a:rPr sz="1400" spc="10" dirty="0">
                <a:solidFill>
                  <a:srgbClr val="3333B2"/>
                </a:solidFill>
                <a:latin typeface="Arial"/>
                <a:cs typeface="Arial"/>
              </a:rPr>
              <a:t>tricky</a:t>
            </a:r>
            <a:r>
              <a:rPr sz="1400" spc="-5" dirty="0">
                <a:solidFill>
                  <a:srgbClr val="3333B2"/>
                </a:solidFill>
                <a:latin typeface="Arial"/>
                <a:cs typeface="Arial"/>
              </a:rPr>
              <a:t> </a:t>
            </a:r>
            <a:r>
              <a:rPr sz="1400" spc="15" dirty="0">
                <a:solidFill>
                  <a:srgbClr val="3333B2"/>
                </a:solidFill>
                <a:latin typeface="Arial"/>
                <a:cs typeface="Arial"/>
              </a:rPr>
              <a:t>can</a:t>
            </a:r>
            <a:r>
              <a:rPr sz="1400" spc="-10" dirty="0">
                <a:solidFill>
                  <a:srgbClr val="3333B2"/>
                </a:solidFill>
                <a:latin typeface="Arial"/>
                <a:cs typeface="Arial"/>
              </a:rPr>
              <a:t> </a:t>
            </a:r>
            <a:r>
              <a:rPr sz="1400" spc="5" dirty="0">
                <a:solidFill>
                  <a:srgbClr val="3333B2"/>
                </a:solidFill>
                <a:latin typeface="Arial"/>
                <a:cs typeface="Arial"/>
              </a:rPr>
              <a:t>it</a:t>
            </a:r>
            <a:r>
              <a:rPr sz="1400" spc="-5" dirty="0">
                <a:solidFill>
                  <a:srgbClr val="3333B2"/>
                </a:solidFill>
                <a:latin typeface="Arial"/>
                <a:cs typeface="Arial"/>
              </a:rPr>
              <a:t> </a:t>
            </a:r>
            <a:r>
              <a:rPr sz="1400" spc="15" dirty="0">
                <a:solidFill>
                  <a:srgbClr val="3333B2"/>
                </a:solidFill>
                <a:latin typeface="Arial"/>
                <a:cs typeface="Arial"/>
              </a:rPr>
              <a:t>get?</a:t>
            </a:r>
            <a:endParaRPr sz="1400">
              <a:latin typeface="Arial"/>
              <a:cs typeface="Arial"/>
            </a:endParaRPr>
          </a:p>
        </p:txBody>
      </p:sp>
      <p:sp>
        <p:nvSpPr>
          <p:cNvPr id="5" name="object 5"/>
          <p:cNvSpPr txBox="1"/>
          <p:nvPr/>
        </p:nvSpPr>
        <p:spPr>
          <a:xfrm>
            <a:off x="347294" y="621624"/>
            <a:ext cx="1240790" cy="351155"/>
          </a:xfrm>
          <a:prstGeom prst="rect">
            <a:avLst/>
          </a:prstGeom>
        </p:spPr>
        <p:txBody>
          <a:bodyPr vert="horz" wrap="square" lIns="0" tIns="12065" rIns="0" bIns="0" rtlCol="0">
            <a:spAutoFit/>
          </a:bodyPr>
          <a:lstStyle/>
          <a:p>
            <a:pPr marL="12700">
              <a:lnSpc>
                <a:spcPts val="1430"/>
              </a:lnSpc>
              <a:spcBef>
                <a:spcPts val="95"/>
              </a:spcBef>
            </a:pPr>
            <a:r>
              <a:rPr sz="1200" spc="-5" dirty="0">
                <a:solidFill>
                  <a:srgbClr val="3333B2"/>
                </a:solidFill>
                <a:latin typeface="Arial"/>
                <a:cs typeface="Arial"/>
              </a:rPr>
              <a:t>Seemingly</a:t>
            </a:r>
            <a:r>
              <a:rPr sz="1200" spc="-40" dirty="0">
                <a:solidFill>
                  <a:srgbClr val="3333B2"/>
                </a:solidFill>
                <a:latin typeface="Arial"/>
                <a:cs typeface="Arial"/>
              </a:rPr>
              <a:t> </a:t>
            </a:r>
            <a:r>
              <a:rPr sz="1200" spc="-15" dirty="0">
                <a:solidFill>
                  <a:srgbClr val="3333B2"/>
                </a:solidFill>
                <a:latin typeface="Arial"/>
                <a:cs typeface="Arial"/>
              </a:rPr>
              <a:t>okay</a:t>
            </a:r>
            <a:endParaRPr sz="1200">
              <a:latin typeface="Arial"/>
              <a:cs typeface="Arial"/>
            </a:endParaRPr>
          </a:p>
          <a:p>
            <a:pPr marR="5080" algn="r">
              <a:lnSpc>
                <a:spcPts val="1130"/>
              </a:lnSpc>
            </a:pPr>
            <a:r>
              <a:rPr sz="950" spc="5" dirty="0">
                <a:solidFill>
                  <a:srgbClr val="231F20"/>
                </a:solidFill>
                <a:latin typeface="Arial"/>
                <a:cs typeface="Arial"/>
              </a:rPr>
              <a:t>P1:</a:t>
            </a:r>
            <a:endParaRPr sz="950">
              <a:latin typeface="Arial"/>
              <a:cs typeface="Arial"/>
            </a:endParaRPr>
          </a:p>
        </p:txBody>
      </p:sp>
      <p:sp>
        <p:nvSpPr>
          <p:cNvPr id="6" name="object 6"/>
          <p:cNvSpPr txBox="1"/>
          <p:nvPr/>
        </p:nvSpPr>
        <p:spPr>
          <a:xfrm>
            <a:off x="2792872" y="801740"/>
            <a:ext cx="32385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R</a:t>
            </a:r>
            <a:r>
              <a:rPr sz="950" spc="-5" dirty="0">
                <a:solidFill>
                  <a:srgbClr val="231F20"/>
                </a:solidFill>
                <a:latin typeface="Arial"/>
                <a:cs typeface="Arial"/>
              </a:rPr>
              <a:t>(</a:t>
            </a:r>
            <a:r>
              <a:rPr sz="950" dirty="0">
                <a:solidFill>
                  <a:srgbClr val="231F20"/>
                </a:solidFill>
                <a:latin typeface="Arial"/>
                <a:cs typeface="Arial"/>
              </a:rPr>
              <a:t>x)</a:t>
            </a:r>
            <a:r>
              <a:rPr sz="950" spc="5" dirty="0">
                <a:solidFill>
                  <a:srgbClr val="231F20"/>
                </a:solidFill>
                <a:latin typeface="Arial"/>
                <a:cs typeface="Arial"/>
              </a:rPr>
              <a:t>a</a:t>
            </a:r>
            <a:endParaRPr sz="950">
              <a:latin typeface="Arial"/>
              <a:cs typeface="Arial"/>
            </a:endParaRPr>
          </a:p>
        </p:txBody>
      </p:sp>
      <p:sp>
        <p:nvSpPr>
          <p:cNvPr id="7" name="object 7"/>
          <p:cNvSpPr txBox="1"/>
          <p:nvPr/>
        </p:nvSpPr>
        <p:spPr>
          <a:xfrm>
            <a:off x="2792871" y="974535"/>
            <a:ext cx="32385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R</a:t>
            </a:r>
            <a:r>
              <a:rPr sz="950" dirty="0">
                <a:solidFill>
                  <a:srgbClr val="231F20"/>
                </a:solidFill>
                <a:latin typeface="Arial"/>
                <a:cs typeface="Arial"/>
              </a:rPr>
              <a:t>(y)</a:t>
            </a:r>
            <a:r>
              <a:rPr sz="950" spc="5" dirty="0">
                <a:solidFill>
                  <a:srgbClr val="231F20"/>
                </a:solidFill>
                <a:latin typeface="Arial"/>
                <a:cs typeface="Arial"/>
              </a:rPr>
              <a:t>b</a:t>
            </a:r>
            <a:endParaRPr sz="950">
              <a:latin typeface="Arial"/>
              <a:cs typeface="Arial"/>
            </a:endParaRPr>
          </a:p>
        </p:txBody>
      </p:sp>
      <p:sp>
        <p:nvSpPr>
          <p:cNvPr id="8" name="object 8"/>
          <p:cNvSpPr txBox="1"/>
          <p:nvPr/>
        </p:nvSpPr>
        <p:spPr>
          <a:xfrm>
            <a:off x="1721047" y="802371"/>
            <a:ext cx="35052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W(x)a</a:t>
            </a:r>
            <a:endParaRPr sz="950">
              <a:latin typeface="Arial"/>
              <a:cs typeface="Arial"/>
            </a:endParaRPr>
          </a:p>
        </p:txBody>
      </p:sp>
      <p:sp>
        <p:nvSpPr>
          <p:cNvPr id="9" name="object 9"/>
          <p:cNvSpPr txBox="1"/>
          <p:nvPr/>
        </p:nvSpPr>
        <p:spPr>
          <a:xfrm>
            <a:off x="1807437" y="974535"/>
            <a:ext cx="35052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W</a:t>
            </a:r>
            <a:r>
              <a:rPr sz="950" spc="-5" dirty="0">
                <a:solidFill>
                  <a:srgbClr val="231F20"/>
                </a:solidFill>
                <a:latin typeface="Arial"/>
                <a:cs typeface="Arial"/>
              </a:rPr>
              <a:t>(</a:t>
            </a:r>
            <a:r>
              <a:rPr sz="950" dirty="0">
                <a:solidFill>
                  <a:srgbClr val="231F20"/>
                </a:solidFill>
                <a:latin typeface="Arial"/>
                <a:cs typeface="Arial"/>
              </a:rPr>
              <a:t>y)</a:t>
            </a:r>
            <a:r>
              <a:rPr sz="950" spc="5" dirty="0">
                <a:solidFill>
                  <a:srgbClr val="231F20"/>
                </a:solidFill>
                <a:latin typeface="Arial"/>
                <a:cs typeface="Arial"/>
              </a:rPr>
              <a:t>b</a:t>
            </a:r>
            <a:endParaRPr sz="950">
              <a:latin typeface="Arial"/>
              <a:cs typeface="Arial"/>
            </a:endParaRPr>
          </a:p>
        </p:txBody>
      </p:sp>
      <p:sp>
        <p:nvSpPr>
          <p:cNvPr id="10" name="object 10"/>
          <p:cNvSpPr txBox="1"/>
          <p:nvPr/>
        </p:nvSpPr>
        <p:spPr>
          <a:xfrm>
            <a:off x="2282647" y="801740"/>
            <a:ext cx="35052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W(y)a</a:t>
            </a:r>
            <a:endParaRPr sz="950">
              <a:latin typeface="Arial"/>
              <a:cs typeface="Arial"/>
            </a:endParaRPr>
          </a:p>
        </p:txBody>
      </p:sp>
      <p:sp>
        <p:nvSpPr>
          <p:cNvPr id="11" name="object 11"/>
          <p:cNvSpPr txBox="1"/>
          <p:nvPr/>
        </p:nvSpPr>
        <p:spPr>
          <a:xfrm>
            <a:off x="2232705" y="974535"/>
            <a:ext cx="35052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W</a:t>
            </a:r>
            <a:r>
              <a:rPr sz="950" spc="-5" dirty="0">
                <a:solidFill>
                  <a:srgbClr val="231F20"/>
                </a:solidFill>
                <a:latin typeface="Arial"/>
                <a:cs typeface="Arial"/>
              </a:rPr>
              <a:t>(</a:t>
            </a:r>
            <a:r>
              <a:rPr sz="950" dirty="0">
                <a:solidFill>
                  <a:srgbClr val="231F20"/>
                </a:solidFill>
                <a:latin typeface="Arial"/>
                <a:cs typeface="Arial"/>
              </a:rPr>
              <a:t>x)</a:t>
            </a:r>
            <a:r>
              <a:rPr sz="950" spc="5" dirty="0">
                <a:solidFill>
                  <a:srgbClr val="231F20"/>
                </a:solidFill>
                <a:latin typeface="Arial"/>
                <a:cs typeface="Arial"/>
              </a:rPr>
              <a:t>b</a:t>
            </a:r>
            <a:endParaRPr sz="950">
              <a:latin typeface="Arial"/>
              <a:cs typeface="Arial"/>
            </a:endParaRPr>
          </a:p>
        </p:txBody>
      </p:sp>
      <p:sp>
        <p:nvSpPr>
          <p:cNvPr id="12" name="object 12"/>
          <p:cNvSpPr txBox="1"/>
          <p:nvPr/>
        </p:nvSpPr>
        <p:spPr>
          <a:xfrm>
            <a:off x="1379464" y="973452"/>
            <a:ext cx="20891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P2:</a:t>
            </a:r>
            <a:endParaRPr sz="950">
              <a:latin typeface="Arial"/>
              <a:cs typeface="Arial"/>
            </a:endParaRPr>
          </a:p>
        </p:txBody>
      </p:sp>
      <p:sp>
        <p:nvSpPr>
          <p:cNvPr id="13" name="object 13"/>
          <p:cNvSpPr/>
          <p:nvPr/>
        </p:nvSpPr>
        <p:spPr>
          <a:xfrm>
            <a:off x="1389614" y="977820"/>
            <a:ext cx="1814830" cy="0"/>
          </a:xfrm>
          <a:custGeom>
            <a:avLst/>
            <a:gdLst/>
            <a:ahLst/>
            <a:cxnLst/>
            <a:rect l="l" t="t" r="r" b="b"/>
            <a:pathLst>
              <a:path w="1814830">
                <a:moveTo>
                  <a:pt x="0" y="0"/>
                </a:moveTo>
                <a:lnTo>
                  <a:pt x="1814392" y="0"/>
                </a:lnTo>
              </a:path>
            </a:pathLst>
          </a:custGeom>
          <a:ln w="8640">
            <a:solidFill>
              <a:srgbClr val="231F20"/>
            </a:solidFill>
          </a:ln>
        </p:spPr>
        <p:txBody>
          <a:bodyPr wrap="square" lIns="0" tIns="0" rIns="0" bIns="0" rtlCol="0"/>
          <a:lstStyle/>
          <a:p>
            <a:endParaRPr/>
          </a:p>
        </p:txBody>
      </p:sp>
      <p:sp>
        <p:nvSpPr>
          <p:cNvPr id="14" name="object 14"/>
          <p:cNvSpPr txBox="1"/>
          <p:nvPr/>
        </p:nvSpPr>
        <p:spPr>
          <a:xfrm>
            <a:off x="347294" y="1249906"/>
            <a:ext cx="911860" cy="207645"/>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3333B2"/>
                </a:solidFill>
                <a:latin typeface="Arial"/>
                <a:cs typeface="Arial"/>
              </a:rPr>
              <a:t>But</a:t>
            </a:r>
            <a:r>
              <a:rPr sz="1200" spc="-35" dirty="0">
                <a:solidFill>
                  <a:srgbClr val="3333B2"/>
                </a:solidFill>
                <a:latin typeface="Arial"/>
                <a:cs typeface="Arial"/>
              </a:rPr>
              <a:t> </a:t>
            </a:r>
            <a:r>
              <a:rPr sz="1200" spc="-5" dirty="0">
                <a:solidFill>
                  <a:srgbClr val="3333B2"/>
                </a:solidFill>
                <a:latin typeface="Arial"/>
                <a:cs typeface="Arial"/>
              </a:rPr>
              <a:t>not</a:t>
            </a:r>
            <a:r>
              <a:rPr sz="1200" spc="-35" dirty="0">
                <a:solidFill>
                  <a:srgbClr val="3333B2"/>
                </a:solidFill>
                <a:latin typeface="Arial"/>
                <a:cs typeface="Arial"/>
              </a:rPr>
              <a:t> </a:t>
            </a:r>
            <a:r>
              <a:rPr sz="1200" spc="-5" dirty="0">
                <a:solidFill>
                  <a:srgbClr val="3333B2"/>
                </a:solidFill>
                <a:latin typeface="Arial"/>
                <a:cs typeface="Arial"/>
              </a:rPr>
              <a:t>really</a:t>
            </a:r>
            <a:endParaRPr sz="1200">
              <a:latin typeface="Arial"/>
              <a:cs typeface="Arial"/>
            </a:endParaRPr>
          </a:p>
        </p:txBody>
      </p:sp>
      <p:sp>
        <p:nvSpPr>
          <p:cNvPr id="16" name="object 16"/>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Sequential</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consistency</a:t>
            </a:r>
            <a:endParaRPr sz="600">
              <a:latin typeface="Arial"/>
              <a:cs typeface="Arial"/>
            </a:endParaRPr>
          </a:p>
        </p:txBody>
      </p:sp>
      <p:sp>
        <p:nvSpPr>
          <p:cNvPr id="17" name="object 1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graphicFrame>
        <p:nvGraphicFramePr>
          <p:cNvPr id="15" name="object 15"/>
          <p:cNvGraphicFramePr>
            <a:graphicFrameLocks noGrp="1"/>
          </p:cNvGraphicFramePr>
          <p:nvPr/>
        </p:nvGraphicFramePr>
        <p:xfrm>
          <a:off x="806437" y="1569567"/>
          <a:ext cx="2990849" cy="1298575"/>
        </p:xfrm>
        <a:graphic>
          <a:graphicData uri="http://schemas.openxmlformats.org/drawingml/2006/table">
            <a:tbl>
              <a:tblPr firstRow="1" bandRow="1">
                <a:tableStyleId>{2D5ABB26-0587-4C30-8999-92F81FD0307C}</a:tableStyleId>
              </a:tblPr>
              <a:tblGrid>
                <a:gridCol w="1944370">
                  <a:extLst>
                    <a:ext uri="{9D8B030D-6E8A-4147-A177-3AD203B41FA5}">
                      <a16:colId xmlns:a16="http://schemas.microsoft.com/office/drawing/2014/main" val="20000"/>
                    </a:ext>
                  </a:extLst>
                </a:gridCol>
                <a:gridCol w="520065">
                  <a:extLst>
                    <a:ext uri="{9D8B030D-6E8A-4147-A177-3AD203B41FA5}">
                      <a16:colId xmlns:a16="http://schemas.microsoft.com/office/drawing/2014/main" val="20001"/>
                    </a:ext>
                  </a:extLst>
                </a:gridCol>
                <a:gridCol w="526414">
                  <a:extLst>
                    <a:ext uri="{9D8B030D-6E8A-4147-A177-3AD203B41FA5}">
                      <a16:colId xmlns:a16="http://schemas.microsoft.com/office/drawing/2014/main" val="20002"/>
                    </a:ext>
                  </a:extLst>
                </a:gridCol>
              </a:tblGrid>
              <a:tr h="193675">
                <a:tc>
                  <a:txBody>
                    <a:bodyPr/>
                    <a:lstStyle/>
                    <a:p>
                      <a:pPr marL="287655">
                        <a:lnSpc>
                          <a:spcPct val="100000"/>
                        </a:lnSpc>
                        <a:spcBef>
                          <a:spcPts val="25"/>
                        </a:spcBef>
                      </a:pPr>
                      <a:r>
                        <a:rPr sz="1000" b="1" spc="-5" dirty="0">
                          <a:latin typeface="Arial"/>
                          <a:cs typeface="Arial"/>
                        </a:rPr>
                        <a:t>Ordering</a:t>
                      </a:r>
                      <a:r>
                        <a:rPr sz="1000" b="1" spc="-25" dirty="0">
                          <a:latin typeface="Arial"/>
                          <a:cs typeface="Arial"/>
                        </a:rPr>
                        <a:t> </a:t>
                      </a:r>
                      <a:r>
                        <a:rPr sz="1000" b="1" spc="-5" dirty="0">
                          <a:latin typeface="Arial"/>
                          <a:cs typeface="Arial"/>
                        </a:rPr>
                        <a:t>of</a:t>
                      </a:r>
                      <a:r>
                        <a:rPr sz="1000" b="1" spc="-25" dirty="0">
                          <a:latin typeface="Arial"/>
                          <a:cs typeface="Arial"/>
                        </a:rPr>
                        <a:t> </a:t>
                      </a:r>
                      <a:r>
                        <a:rPr sz="1000" b="1" spc="-5" dirty="0">
                          <a:latin typeface="Arial"/>
                          <a:cs typeface="Arial"/>
                        </a:rPr>
                        <a:t>operations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gridSpan="2">
                  <a:txBody>
                    <a:bodyPr/>
                    <a:lstStyle/>
                    <a:p>
                      <a:pPr marL="328930">
                        <a:lnSpc>
                          <a:spcPct val="100000"/>
                        </a:lnSpc>
                        <a:spcBef>
                          <a:spcPts val="25"/>
                        </a:spcBef>
                      </a:pPr>
                      <a:r>
                        <a:rPr sz="1000" b="1" spc="-5" dirty="0">
                          <a:latin typeface="Arial"/>
                          <a:cs typeface="Arial"/>
                        </a:rPr>
                        <a:t>Result</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1104900">
                <a:tc>
                  <a:txBody>
                    <a:bodyPr/>
                    <a:lstStyle/>
                    <a:p>
                      <a:pPr marL="82550">
                        <a:lnSpc>
                          <a:spcPct val="100000"/>
                        </a:lnSpc>
                        <a:spcBef>
                          <a:spcPts val="75"/>
                        </a:spcBef>
                      </a:pP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35" dirty="0">
                          <a:latin typeface="Arial"/>
                          <a:cs typeface="Arial"/>
                        </a:rPr>
                        <a:t>a</a:t>
                      </a:r>
                      <a:r>
                        <a:rPr sz="1000" dirty="0">
                          <a:latin typeface="Arial"/>
                          <a:cs typeface="Arial"/>
                        </a:rPr>
                        <a:t>;</a:t>
                      </a:r>
                      <a:r>
                        <a:rPr sz="1000" spc="30"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35" dirty="0">
                          <a:latin typeface="Arial"/>
                          <a:cs typeface="Arial"/>
                        </a:rPr>
                        <a:t>a</a:t>
                      </a:r>
                      <a:r>
                        <a:rPr sz="1000" dirty="0">
                          <a:latin typeface="Arial"/>
                          <a:cs typeface="Arial"/>
                        </a:rPr>
                        <a:t>;</a:t>
                      </a:r>
                      <a:r>
                        <a:rPr sz="1000" spc="-5"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a:t>
                      </a:r>
                      <a:r>
                        <a:rPr sz="1000" spc="-5"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82550">
                        <a:lnSpc>
                          <a:spcPct val="100000"/>
                        </a:lnSpc>
                        <a:spcBef>
                          <a:spcPts val="235"/>
                        </a:spcBef>
                      </a:pP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35" dirty="0">
                          <a:latin typeface="Arial"/>
                          <a:cs typeface="Arial"/>
                        </a:rPr>
                        <a:t>a</a:t>
                      </a:r>
                      <a:r>
                        <a:rPr sz="1000" dirty="0">
                          <a:latin typeface="Arial"/>
                          <a:cs typeface="Arial"/>
                        </a:rPr>
                        <a:t>;</a:t>
                      </a:r>
                      <a:r>
                        <a:rPr sz="1000" spc="-5"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a:t>
                      </a:r>
                      <a:r>
                        <a:rPr sz="1000" spc="30"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35" dirty="0">
                          <a:latin typeface="Arial"/>
                          <a:cs typeface="Arial"/>
                        </a:rPr>
                        <a:t>a</a:t>
                      </a:r>
                      <a:r>
                        <a:rPr sz="1000" dirty="0">
                          <a:latin typeface="Arial"/>
                          <a:cs typeface="Arial"/>
                        </a:rPr>
                        <a:t>;</a:t>
                      </a:r>
                      <a:r>
                        <a:rPr sz="1000" spc="-5"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82550">
                        <a:lnSpc>
                          <a:spcPct val="100000"/>
                        </a:lnSpc>
                        <a:spcBef>
                          <a:spcPts val="235"/>
                        </a:spcBef>
                      </a:pP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35" dirty="0">
                          <a:latin typeface="Arial"/>
                          <a:cs typeface="Arial"/>
                        </a:rPr>
                        <a:t>a</a:t>
                      </a:r>
                      <a:r>
                        <a:rPr sz="1000" dirty="0">
                          <a:latin typeface="Arial"/>
                          <a:cs typeface="Arial"/>
                        </a:rPr>
                        <a:t>;</a:t>
                      </a:r>
                      <a:r>
                        <a:rPr sz="1000" spc="-5"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a:t>
                      </a:r>
                      <a:r>
                        <a:rPr sz="1000" spc="25"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p>
                      <a:pPr marL="78105">
                        <a:lnSpc>
                          <a:spcPct val="100000"/>
                        </a:lnSpc>
                        <a:spcBef>
                          <a:spcPts val="235"/>
                        </a:spcBef>
                      </a:pP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a:t>
                      </a:r>
                      <a:r>
                        <a:rPr sz="1000" spc="30"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35" dirty="0">
                          <a:latin typeface="Arial"/>
                          <a:cs typeface="Arial"/>
                        </a:rPr>
                        <a:t>a</a:t>
                      </a:r>
                      <a:r>
                        <a:rPr sz="1000" dirty="0">
                          <a:latin typeface="Arial"/>
                          <a:cs typeface="Arial"/>
                        </a:rPr>
                        <a:t>;</a:t>
                      </a:r>
                      <a:r>
                        <a:rPr sz="1000" spc="30"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35" dirty="0">
                          <a:latin typeface="Arial"/>
                          <a:cs typeface="Arial"/>
                        </a:rPr>
                        <a:t>a</a:t>
                      </a:r>
                      <a:r>
                        <a:rPr sz="1000" dirty="0">
                          <a:latin typeface="Arial"/>
                          <a:cs typeface="Arial"/>
                        </a:rPr>
                        <a:t>;</a:t>
                      </a:r>
                      <a:r>
                        <a:rPr sz="1000" spc="-5"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78105">
                        <a:lnSpc>
                          <a:spcPct val="100000"/>
                        </a:lnSpc>
                        <a:spcBef>
                          <a:spcPts val="235"/>
                        </a:spcBef>
                      </a:pP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a:t>
                      </a:r>
                      <a:r>
                        <a:rPr sz="1000" spc="30"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35" dirty="0">
                          <a:latin typeface="Arial"/>
                          <a:cs typeface="Arial"/>
                        </a:rPr>
                        <a:t>a</a:t>
                      </a:r>
                      <a:r>
                        <a:rPr sz="1000"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a:t>
                      </a:r>
                      <a:r>
                        <a:rPr sz="1000" spc="25"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p>
                      <a:pPr marL="78105">
                        <a:lnSpc>
                          <a:spcPct val="100000"/>
                        </a:lnSpc>
                        <a:spcBef>
                          <a:spcPts val="235"/>
                        </a:spcBef>
                      </a:pP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a:t>
                      </a:r>
                      <a:r>
                        <a:rPr sz="1000" spc="30"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35" dirty="0">
                          <a:latin typeface="Arial"/>
                          <a:cs typeface="Arial"/>
                        </a:rPr>
                        <a:t>a</a:t>
                      </a:r>
                      <a:r>
                        <a:rPr sz="1000" dirty="0">
                          <a:latin typeface="Arial"/>
                          <a:cs typeface="Arial"/>
                        </a:rPr>
                        <a:t>;</a:t>
                      </a:r>
                      <a:r>
                        <a:rPr sz="1000" spc="25"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75"/>
                        </a:spcBef>
                      </a:pPr>
                      <a:r>
                        <a:rPr sz="900" i="1" spc="-5" dirty="0">
                          <a:latin typeface="Arial"/>
                          <a:cs typeface="Arial"/>
                        </a:rPr>
                        <a:t>R</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78105">
                        <a:lnSpc>
                          <a:spcPct val="100000"/>
                        </a:lnSpc>
                        <a:spcBef>
                          <a:spcPts val="355"/>
                        </a:spcBef>
                      </a:pPr>
                      <a:r>
                        <a:rPr sz="900" i="1" spc="-5" dirty="0">
                          <a:latin typeface="Arial"/>
                          <a:cs typeface="Arial"/>
                        </a:rPr>
                        <a:t>R</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78105">
                        <a:lnSpc>
                          <a:spcPct val="100000"/>
                        </a:lnSpc>
                        <a:spcBef>
                          <a:spcPts val="355"/>
                        </a:spcBef>
                      </a:pPr>
                      <a:r>
                        <a:rPr sz="900" i="1" spc="-5" dirty="0">
                          <a:latin typeface="Arial"/>
                          <a:cs typeface="Arial"/>
                        </a:rPr>
                        <a:t>R</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78105">
                        <a:lnSpc>
                          <a:spcPct val="100000"/>
                        </a:lnSpc>
                        <a:spcBef>
                          <a:spcPts val="355"/>
                        </a:spcBef>
                      </a:pPr>
                      <a:r>
                        <a:rPr sz="900" i="1" spc="-5" dirty="0">
                          <a:latin typeface="Arial"/>
                          <a:cs typeface="Arial"/>
                        </a:rPr>
                        <a:t>R</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78105">
                        <a:lnSpc>
                          <a:spcPct val="100000"/>
                        </a:lnSpc>
                        <a:spcBef>
                          <a:spcPts val="355"/>
                        </a:spcBef>
                      </a:pPr>
                      <a:r>
                        <a:rPr sz="900" i="1" spc="-5" dirty="0">
                          <a:latin typeface="Arial"/>
                          <a:cs typeface="Arial"/>
                        </a:rPr>
                        <a:t>R</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79375">
                        <a:lnSpc>
                          <a:spcPct val="100000"/>
                        </a:lnSpc>
                        <a:spcBef>
                          <a:spcPts val="355"/>
                        </a:spcBef>
                      </a:pPr>
                      <a:r>
                        <a:rPr sz="900" i="1" spc="-5" dirty="0">
                          <a:latin typeface="Arial"/>
                          <a:cs typeface="Arial"/>
                        </a:rPr>
                        <a:t>R</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txBody>
                  <a:tcPr marL="0" marR="0" marT="222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75"/>
                        </a:spcBef>
                      </a:pPr>
                      <a:r>
                        <a:rPr sz="900" i="1" dirty="0">
                          <a:latin typeface="Arial"/>
                          <a:cs typeface="Arial"/>
                        </a:rPr>
                        <a:t>R</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79375">
                        <a:lnSpc>
                          <a:spcPct val="100000"/>
                        </a:lnSpc>
                        <a:spcBef>
                          <a:spcPts val="355"/>
                        </a:spcBef>
                      </a:pPr>
                      <a:r>
                        <a:rPr sz="900" i="1" dirty="0">
                          <a:latin typeface="Arial"/>
                          <a:cs typeface="Arial"/>
                        </a:rPr>
                        <a:t>R</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p>
                      <a:pPr marL="79375">
                        <a:lnSpc>
                          <a:spcPct val="100000"/>
                        </a:lnSpc>
                        <a:spcBef>
                          <a:spcPts val="355"/>
                        </a:spcBef>
                      </a:pPr>
                      <a:r>
                        <a:rPr sz="900" i="1" dirty="0">
                          <a:latin typeface="Arial"/>
                          <a:cs typeface="Arial"/>
                        </a:rPr>
                        <a:t>R</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p>
                      <a:pPr marL="79375">
                        <a:lnSpc>
                          <a:spcPct val="100000"/>
                        </a:lnSpc>
                        <a:spcBef>
                          <a:spcPts val="355"/>
                        </a:spcBef>
                      </a:pPr>
                      <a:r>
                        <a:rPr sz="900" i="1" dirty="0">
                          <a:latin typeface="Arial"/>
                          <a:cs typeface="Arial"/>
                        </a:rPr>
                        <a:t>R</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p>
                      <a:pPr marL="79375">
                        <a:lnSpc>
                          <a:spcPct val="100000"/>
                        </a:lnSpc>
                        <a:spcBef>
                          <a:spcPts val="355"/>
                        </a:spcBef>
                      </a:pPr>
                      <a:r>
                        <a:rPr sz="900" i="1" dirty="0">
                          <a:latin typeface="Arial"/>
                          <a:cs typeface="Arial"/>
                        </a:rPr>
                        <a:t>R</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p>
                      <a:pPr marL="79375">
                        <a:lnSpc>
                          <a:spcPct val="100000"/>
                        </a:lnSpc>
                        <a:spcBef>
                          <a:spcPts val="355"/>
                        </a:spcBef>
                      </a:pPr>
                      <a:r>
                        <a:rPr sz="900" i="1" dirty="0">
                          <a:latin typeface="Arial"/>
                          <a:cs typeface="Arial"/>
                        </a:rPr>
                        <a:t>R</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txBody>
                  <a:tcPr marL="0" marR="0" marT="222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343275" algn="l"/>
              </a:tabLst>
            </a:pPr>
            <a:r>
              <a:rPr sz="600" spc="-5" dirty="0">
                <a:solidFill>
                  <a:srgbClr val="3333B2"/>
                </a:solidFill>
                <a:latin typeface="Arial"/>
                <a:cs typeface="Arial"/>
                <a:hlinkClick r:id="rId3" action="ppaction://hlinksldjump"/>
              </a:rPr>
              <a:t>Consistency</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95" dirty="0">
                <a:solidFill>
                  <a:srgbClr val="3333B2"/>
                </a:solidFill>
                <a:latin typeface="Arial"/>
                <a:cs typeface="Arial"/>
              </a:rPr>
              <a:t> </a:t>
            </a:r>
            <a:r>
              <a:rPr sz="600" spc="-5" dirty="0">
                <a:solidFill>
                  <a:srgbClr val="3333B2"/>
                </a:solidFill>
                <a:latin typeface="Arial"/>
                <a:cs typeface="Arial"/>
                <a:hlinkClick r:id="rId4" action="ppaction://hlinksldjump"/>
              </a:rPr>
              <a:t>Data-centric</a:t>
            </a:r>
            <a:r>
              <a:rPr sz="600" spc="2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Consistent</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ordering of</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operations</a:t>
            </a:r>
            <a:endParaRPr sz="600">
              <a:latin typeface="Arial"/>
              <a:cs typeface="Arial"/>
            </a:endParaRPr>
          </a:p>
        </p:txBody>
      </p:sp>
      <p:sp>
        <p:nvSpPr>
          <p:cNvPr id="3" name="object 3"/>
          <p:cNvSpPr txBox="1">
            <a:spLocks noGrp="1"/>
          </p:cNvSpPr>
          <p:nvPr>
            <p:ph type="title"/>
          </p:nvPr>
        </p:nvSpPr>
        <p:spPr>
          <a:xfrm>
            <a:off x="95300" y="188846"/>
            <a:ext cx="1753235" cy="244475"/>
          </a:xfrm>
          <a:prstGeom prst="rect">
            <a:avLst/>
          </a:prstGeom>
        </p:spPr>
        <p:txBody>
          <a:bodyPr vert="horz" wrap="square" lIns="0" tIns="17145" rIns="0" bIns="0" rtlCol="0">
            <a:spAutoFit/>
          </a:bodyPr>
          <a:lstStyle/>
          <a:p>
            <a:pPr marL="12700">
              <a:lnSpc>
                <a:spcPct val="100000"/>
              </a:lnSpc>
              <a:spcBef>
                <a:spcPts val="135"/>
              </a:spcBef>
            </a:pPr>
            <a:r>
              <a:rPr spc="10" dirty="0"/>
              <a:t>How</a:t>
            </a:r>
            <a:r>
              <a:rPr spc="-10" dirty="0"/>
              <a:t> </a:t>
            </a:r>
            <a:r>
              <a:rPr spc="10" dirty="0"/>
              <a:t>tricky</a:t>
            </a:r>
            <a:r>
              <a:rPr spc="-5" dirty="0"/>
              <a:t> </a:t>
            </a:r>
            <a:r>
              <a:rPr spc="15" dirty="0"/>
              <a:t>can</a:t>
            </a:r>
            <a:r>
              <a:rPr spc="-10" dirty="0"/>
              <a:t> </a:t>
            </a:r>
            <a:r>
              <a:rPr spc="5" dirty="0"/>
              <a:t>it</a:t>
            </a:r>
            <a:r>
              <a:rPr spc="-5" dirty="0"/>
              <a:t> </a:t>
            </a:r>
            <a:r>
              <a:rPr spc="15" dirty="0"/>
              <a:t>get?</a:t>
            </a:r>
          </a:p>
        </p:txBody>
      </p:sp>
      <p:grpSp>
        <p:nvGrpSpPr>
          <p:cNvPr id="4" name="object 4"/>
          <p:cNvGrpSpPr/>
          <p:nvPr/>
        </p:nvGrpSpPr>
        <p:grpSpPr>
          <a:xfrm>
            <a:off x="1402687" y="1350884"/>
            <a:ext cx="1814830" cy="304165"/>
            <a:chOff x="1402687" y="1350884"/>
            <a:chExt cx="1814830" cy="304165"/>
          </a:xfrm>
        </p:grpSpPr>
        <p:sp>
          <p:nvSpPr>
            <p:cNvPr id="5" name="object 5"/>
            <p:cNvSpPr/>
            <p:nvPr/>
          </p:nvSpPr>
          <p:spPr>
            <a:xfrm>
              <a:off x="1706041" y="1350886"/>
              <a:ext cx="978535" cy="304165"/>
            </a:xfrm>
            <a:custGeom>
              <a:avLst/>
              <a:gdLst/>
              <a:ahLst/>
              <a:cxnLst/>
              <a:rect l="l" t="t" r="r" b="b"/>
              <a:pathLst>
                <a:path w="978535" h="304164">
                  <a:moveTo>
                    <a:pt x="388073" y="711"/>
                  </a:moveTo>
                  <a:lnTo>
                    <a:pt x="0" y="711"/>
                  </a:lnTo>
                  <a:lnTo>
                    <a:pt x="0" y="130187"/>
                  </a:lnTo>
                  <a:lnTo>
                    <a:pt x="388073" y="130187"/>
                  </a:lnTo>
                  <a:lnTo>
                    <a:pt x="388073" y="711"/>
                  </a:lnTo>
                  <a:close/>
                </a:path>
                <a:path w="978535" h="304164">
                  <a:moveTo>
                    <a:pt x="481952" y="174574"/>
                  </a:moveTo>
                  <a:lnTo>
                    <a:pt x="93878" y="174574"/>
                  </a:lnTo>
                  <a:lnTo>
                    <a:pt x="93878" y="304063"/>
                  </a:lnTo>
                  <a:lnTo>
                    <a:pt x="481952" y="304063"/>
                  </a:lnTo>
                  <a:lnTo>
                    <a:pt x="481952" y="174574"/>
                  </a:lnTo>
                  <a:close/>
                </a:path>
                <a:path w="978535" h="304164">
                  <a:moveTo>
                    <a:pt x="907224" y="174574"/>
                  </a:moveTo>
                  <a:lnTo>
                    <a:pt x="519150" y="174574"/>
                  </a:lnTo>
                  <a:lnTo>
                    <a:pt x="519150" y="304063"/>
                  </a:lnTo>
                  <a:lnTo>
                    <a:pt x="907224" y="304063"/>
                  </a:lnTo>
                  <a:lnTo>
                    <a:pt x="907224" y="174574"/>
                  </a:lnTo>
                  <a:close/>
                </a:path>
                <a:path w="978535" h="304164">
                  <a:moveTo>
                    <a:pt x="978319" y="0"/>
                  </a:moveTo>
                  <a:lnTo>
                    <a:pt x="590245" y="0"/>
                  </a:lnTo>
                  <a:lnTo>
                    <a:pt x="590245" y="129489"/>
                  </a:lnTo>
                  <a:lnTo>
                    <a:pt x="978319" y="129489"/>
                  </a:lnTo>
                  <a:lnTo>
                    <a:pt x="978319" y="0"/>
                  </a:lnTo>
                  <a:close/>
                </a:path>
              </a:pathLst>
            </a:custGeom>
            <a:solidFill>
              <a:srgbClr val="D1D3D4"/>
            </a:solidFill>
          </p:spPr>
          <p:txBody>
            <a:bodyPr wrap="square" lIns="0" tIns="0" rIns="0" bIns="0" rtlCol="0"/>
            <a:lstStyle/>
            <a:p>
              <a:endParaRPr/>
            </a:p>
          </p:txBody>
        </p:sp>
        <p:sp>
          <p:nvSpPr>
            <p:cNvPr id="6" name="object 6"/>
            <p:cNvSpPr/>
            <p:nvPr/>
          </p:nvSpPr>
          <p:spPr>
            <a:xfrm>
              <a:off x="1402687" y="1490442"/>
              <a:ext cx="1814830" cy="0"/>
            </a:xfrm>
            <a:custGeom>
              <a:avLst/>
              <a:gdLst/>
              <a:ahLst/>
              <a:cxnLst/>
              <a:rect l="l" t="t" r="r" b="b"/>
              <a:pathLst>
                <a:path w="1814830">
                  <a:moveTo>
                    <a:pt x="0" y="0"/>
                  </a:moveTo>
                  <a:lnTo>
                    <a:pt x="1814395" y="0"/>
                  </a:lnTo>
                </a:path>
              </a:pathLst>
            </a:custGeom>
            <a:ln w="8640">
              <a:solidFill>
                <a:srgbClr val="231F20"/>
              </a:solidFill>
            </a:ln>
          </p:spPr>
          <p:txBody>
            <a:bodyPr wrap="square" lIns="0" tIns="0" rIns="0" bIns="0" rtlCol="0"/>
            <a:lstStyle/>
            <a:p>
              <a:endParaRPr/>
            </a:p>
          </p:txBody>
        </p:sp>
      </p:grpSp>
      <p:sp>
        <p:nvSpPr>
          <p:cNvPr id="7" name="object 7"/>
          <p:cNvSpPr txBox="1"/>
          <p:nvPr/>
        </p:nvSpPr>
        <p:spPr>
          <a:xfrm>
            <a:off x="340169" y="511946"/>
            <a:ext cx="3872229" cy="1462405"/>
          </a:xfrm>
          <a:prstGeom prst="rect">
            <a:avLst/>
          </a:prstGeom>
        </p:spPr>
        <p:txBody>
          <a:bodyPr vert="horz" wrap="square" lIns="0" tIns="40005" rIns="0" bIns="0" rtlCol="0">
            <a:spAutoFit/>
          </a:bodyPr>
          <a:lstStyle/>
          <a:p>
            <a:pPr marL="19685">
              <a:lnSpc>
                <a:spcPct val="100000"/>
              </a:lnSpc>
              <a:spcBef>
                <a:spcPts val="315"/>
              </a:spcBef>
            </a:pPr>
            <a:r>
              <a:rPr sz="1200" spc="-5" dirty="0">
                <a:solidFill>
                  <a:srgbClr val="3333B2"/>
                </a:solidFill>
                <a:latin typeface="Arial"/>
                <a:cs typeface="Arial"/>
              </a:rPr>
              <a:t>Linearizability</a:t>
            </a:r>
            <a:endParaRPr sz="1200">
              <a:latin typeface="Arial"/>
              <a:cs typeface="Arial"/>
            </a:endParaRPr>
          </a:p>
          <a:p>
            <a:pPr marL="19685" marR="5080">
              <a:lnSpc>
                <a:spcPct val="100000"/>
              </a:lnSpc>
              <a:spcBef>
                <a:spcPts val="180"/>
              </a:spcBef>
            </a:pPr>
            <a:r>
              <a:rPr sz="1000" spc="-5" dirty="0">
                <a:latin typeface="Arial"/>
                <a:cs typeface="Arial"/>
              </a:rPr>
              <a:t>Each</a:t>
            </a:r>
            <a:r>
              <a:rPr sz="1000" dirty="0">
                <a:latin typeface="Arial"/>
                <a:cs typeface="Arial"/>
              </a:rPr>
              <a:t> </a:t>
            </a:r>
            <a:r>
              <a:rPr sz="1000" spc="-5" dirty="0">
                <a:latin typeface="Arial"/>
                <a:cs typeface="Arial"/>
              </a:rPr>
              <a:t>operation</a:t>
            </a:r>
            <a:r>
              <a:rPr sz="1000" spc="5" dirty="0">
                <a:latin typeface="Arial"/>
                <a:cs typeface="Arial"/>
              </a:rPr>
              <a:t> </a:t>
            </a:r>
            <a:r>
              <a:rPr sz="1000" spc="-5" dirty="0">
                <a:latin typeface="Arial"/>
                <a:cs typeface="Arial"/>
              </a:rPr>
              <a:t>should</a:t>
            </a:r>
            <a:r>
              <a:rPr sz="1000" dirty="0">
                <a:latin typeface="Arial"/>
                <a:cs typeface="Arial"/>
              </a:rPr>
              <a:t> </a:t>
            </a:r>
            <a:r>
              <a:rPr sz="1000" spc="-5" dirty="0">
                <a:latin typeface="Arial"/>
                <a:cs typeface="Arial"/>
              </a:rPr>
              <a:t>appear</a:t>
            </a:r>
            <a:r>
              <a:rPr sz="1000" spc="5"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take</a:t>
            </a:r>
            <a:r>
              <a:rPr sz="1000" spc="5" dirty="0">
                <a:latin typeface="Arial"/>
                <a:cs typeface="Arial"/>
              </a:rPr>
              <a:t> </a:t>
            </a:r>
            <a:r>
              <a:rPr sz="1000" spc="-10" dirty="0">
                <a:latin typeface="Arial"/>
                <a:cs typeface="Arial"/>
              </a:rPr>
              <a:t>effect</a:t>
            </a:r>
            <a:r>
              <a:rPr sz="1000" dirty="0">
                <a:latin typeface="Arial"/>
                <a:cs typeface="Arial"/>
              </a:rPr>
              <a:t> </a:t>
            </a:r>
            <a:r>
              <a:rPr sz="1000" spc="-5" dirty="0">
                <a:latin typeface="Arial"/>
                <a:cs typeface="Arial"/>
              </a:rPr>
              <a:t>instantaneously</a:t>
            </a:r>
            <a:r>
              <a:rPr sz="1000" spc="5" dirty="0">
                <a:latin typeface="Arial"/>
                <a:cs typeface="Arial"/>
              </a:rPr>
              <a:t> </a:t>
            </a:r>
            <a:r>
              <a:rPr sz="1000" spc="-5" dirty="0">
                <a:latin typeface="Arial"/>
                <a:cs typeface="Arial"/>
              </a:rPr>
              <a:t>at</a:t>
            </a:r>
            <a:r>
              <a:rPr sz="1000" spc="5" dirty="0">
                <a:latin typeface="Arial"/>
                <a:cs typeface="Arial"/>
              </a:rPr>
              <a:t> </a:t>
            </a:r>
            <a:r>
              <a:rPr sz="1000" spc="-5" dirty="0">
                <a:latin typeface="Arial"/>
                <a:cs typeface="Arial"/>
              </a:rPr>
              <a:t>some </a:t>
            </a:r>
            <a:r>
              <a:rPr sz="1000" spc="-265" dirty="0">
                <a:latin typeface="Arial"/>
                <a:cs typeface="Arial"/>
              </a:rPr>
              <a:t> </a:t>
            </a:r>
            <a:r>
              <a:rPr sz="1000" spc="-5" dirty="0">
                <a:latin typeface="Arial"/>
                <a:cs typeface="Arial"/>
              </a:rPr>
              <a:t>moment</a:t>
            </a:r>
            <a:r>
              <a:rPr sz="1000" spc="-10" dirty="0">
                <a:latin typeface="Arial"/>
                <a:cs typeface="Arial"/>
              </a:rPr>
              <a:t> </a:t>
            </a:r>
            <a:r>
              <a:rPr sz="1000" spc="-5" dirty="0">
                <a:latin typeface="Arial"/>
                <a:cs typeface="Arial"/>
              </a:rPr>
              <a:t>between its </a:t>
            </a:r>
            <a:r>
              <a:rPr sz="1000" spc="5" dirty="0">
                <a:latin typeface="Arial"/>
                <a:cs typeface="Arial"/>
              </a:rPr>
              <a:t>start</a:t>
            </a:r>
            <a:r>
              <a:rPr sz="1000" spc="-5" dirty="0">
                <a:latin typeface="Arial"/>
                <a:cs typeface="Arial"/>
              </a:rPr>
              <a:t> and completion.</a:t>
            </a:r>
            <a:endParaRPr sz="1000">
              <a:latin typeface="Arial"/>
              <a:cs typeface="Arial"/>
            </a:endParaRPr>
          </a:p>
          <a:p>
            <a:pPr marL="19685">
              <a:lnSpc>
                <a:spcPts val="1425"/>
              </a:lnSpc>
              <a:spcBef>
                <a:spcPts val="690"/>
              </a:spcBef>
            </a:pPr>
            <a:r>
              <a:rPr sz="1200" spc="-5" dirty="0">
                <a:solidFill>
                  <a:srgbClr val="3333B2"/>
                </a:solidFill>
                <a:latin typeface="Arial"/>
                <a:cs typeface="Arial"/>
              </a:rPr>
              <a:t>Operations complete within a </a:t>
            </a:r>
            <a:r>
              <a:rPr sz="1200" spc="-10" dirty="0">
                <a:solidFill>
                  <a:srgbClr val="3333B2"/>
                </a:solidFill>
                <a:latin typeface="Arial"/>
                <a:cs typeface="Arial"/>
              </a:rPr>
              <a:t>given</a:t>
            </a:r>
            <a:r>
              <a:rPr sz="1200" spc="-5" dirty="0">
                <a:solidFill>
                  <a:srgbClr val="3333B2"/>
                </a:solidFill>
                <a:latin typeface="Arial"/>
                <a:cs typeface="Arial"/>
              </a:rPr>
              <a:t> time (shaded area)</a:t>
            </a:r>
            <a:endParaRPr sz="1200">
              <a:latin typeface="Arial"/>
              <a:cs typeface="Arial"/>
            </a:endParaRPr>
          </a:p>
          <a:p>
            <a:pPr marL="1064895">
              <a:lnSpc>
                <a:spcPts val="1125"/>
              </a:lnSpc>
              <a:tabLst>
                <a:tab pos="1406525" algn="l"/>
                <a:tab pos="1967864" algn="l"/>
                <a:tab pos="2478405" algn="l"/>
              </a:tabLst>
            </a:pPr>
            <a:r>
              <a:rPr sz="950" spc="5" dirty="0">
                <a:solidFill>
                  <a:srgbClr val="231F20"/>
                </a:solidFill>
                <a:latin typeface="Arial"/>
                <a:cs typeface="Arial"/>
              </a:rPr>
              <a:t>P1:	</a:t>
            </a:r>
            <a:r>
              <a:rPr sz="950" dirty="0">
                <a:solidFill>
                  <a:srgbClr val="231F20"/>
                </a:solidFill>
                <a:latin typeface="Arial"/>
                <a:cs typeface="Arial"/>
              </a:rPr>
              <a:t>W(x)a	W(y)a	R(x)b</a:t>
            </a:r>
            <a:endParaRPr sz="950">
              <a:latin typeface="Arial"/>
              <a:cs typeface="Arial"/>
            </a:endParaRPr>
          </a:p>
          <a:p>
            <a:pPr marL="1064895">
              <a:lnSpc>
                <a:spcPct val="100000"/>
              </a:lnSpc>
              <a:spcBef>
                <a:spcPts val="215"/>
              </a:spcBef>
              <a:tabLst>
                <a:tab pos="1492885" algn="l"/>
                <a:tab pos="2478405" algn="l"/>
              </a:tabLst>
            </a:pPr>
            <a:r>
              <a:rPr sz="950" spc="5" dirty="0">
                <a:solidFill>
                  <a:srgbClr val="231F20"/>
                </a:solidFill>
                <a:latin typeface="Arial"/>
                <a:cs typeface="Arial"/>
              </a:rPr>
              <a:t>P2:	</a:t>
            </a:r>
            <a:r>
              <a:rPr sz="950" dirty="0">
                <a:solidFill>
                  <a:srgbClr val="231F20"/>
                </a:solidFill>
                <a:latin typeface="Arial"/>
                <a:cs typeface="Arial"/>
              </a:rPr>
              <a:t>W(y)b  </a:t>
            </a:r>
            <a:r>
              <a:rPr sz="950" spc="20" dirty="0">
                <a:solidFill>
                  <a:srgbClr val="231F20"/>
                </a:solidFill>
                <a:latin typeface="Arial"/>
                <a:cs typeface="Arial"/>
              </a:rPr>
              <a:t> </a:t>
            </a:r>
            <a:r>
              <a:rPr sz="950" dirty="0">
                <a:solidFill>
                  <a:srgbClr val="231F20"/>
                </a:solidFill>
                <a:latin typeface="Arial"/>
                <a:cs typeface="Arial"/>
              </a:rPr>
              <a:t>W(x)b	R(y)a</a:t>
            </a:r>
            <a:endParaRPr sz="950">
              <a:latin typeface="Arial"/>
              <a:cs typeface="Arial"/>
            </a:endParaRPr>
          </a:p>
          <a:p>
            <a:pPr>
              <a:lnSpc>
                <a:spcPct val="100000"/>
              </a:lnSpc>
              <a:spcBef>
                <a:spcPts val="10"/>
              </a:spcBef>
            </a:pPr>
            <a:endParaRPr sz="900">
              <a:latin typeface="Arial"/>
              <a:cs typeface="Arial"/>
            </a:endParaRPr>
          </a:p>
          <a:p>
            <a:pPr marL="12700">
              <a:lnSpc>
                <a:spcPct val="100000"/>
              </a:lnSpc>
            </a:pPr>
            <a:r>
              <a:rPr sz="1200" spc="-5" dirty="0">
                <a:solidFill>
                  <a:srgbClr val="3333B2"/>
                </a:solidFill>
                <a:latin typeface="Arial"/>
                <a:cs typeface="Arial"/>
              </a:rPr>
              <a:t>With</a:t>
            </a:r>
            <a:r>
              <a:rPr sz="1200" spc="-25" dirty="0">
                <a:solidFill>
                  <a:srgbClr val="3333B2"/>
                </a:solidFill>
                <a:latin typeface="Arial"/>
                <a:cs typeface="Arial"/>
              </a:rPr>
              <a:t> </a:t>
            </a:r>
            <a:r>
              <a:rPr sz="1200" spc="-5" dirty="0">
                <a:solidFill>
                  <a:srgbClr val="3333B2"/>
                </a:solidFill>
                <a:latin typeface="Arial"/>
                <a:cs typeface="Arial"/>
              </a:rPr>
              <a:t>better</a:t>
            </a:r>
            <a:r>
              <a:rPr sz="1200" spc="-20" dirty="0">
                <a:solidFill>
                  <a:srgbClr val="3333B2"/>
                </a:solidFill>
                <a:latin typeface="Arial"/>
                <a:cs typeface="Arial"/>
              </a:rPr>
              <a:t> </a:t>
            </a:r>
            <a:r>
              <a:rPr sz="1200" spc="-5" dirty="0">
                <a:solidFill>
                  <a:srgbClr val="3333B2"/>
                </a:solidFill>
                <a:latin typeface="Arial"/>
                <a:cs typeface="Arial"/>
              </a:rPr>
              <a:t>results</a:t>
            </a:r>
            <a:endParaRPr sz="1200">
              <a:latin typeface="Arial"/>
              <a:cs typeface="Arial"/>
            </a:endParaRPr>
          </a:p>
        </p:txBody>
      </p:sp>
      <p:sp>
        <p:nvSpPr>
          <p:cNvPr id="9" name="object 9"/>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Sequential</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consistency</a:t>
            </a:r>
            <a:endParaRPr sz="600">
              <a:latin typeface="Arial"/>
              <a:cs typeface="Arial"/>
            </a:endParaRPr>
          </a:p>
        </p:txBody>
      </p:sp>
      <p:sp>
        <p:nvSpPr>
          <p:cNvPr id="10" name="object 10"/>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graphicFrame>
        <p:nvGraphicFramePr>
          <p:cNvPr id="8" name="object 8"/>
          <p:cNvGraphicFramePr>
            <a:graphicFrameLocks noGrp="1"/>
          </p:cNvGraphicFramePr>
          <p:nvPr/>
        </p:nvGraphicFramePr>
        <p:xfrm>
          <a:off x="808202" y="2056104"/>
          <a:ext cx="2987038" cy="934085"/>
        </p:xfrm>
        <a:graphic>
          <a:graphicData uri="http://schemas.openxmlformats.org/drawingml/2006/table">
            <a:tbl>
              <a:tblPr firstRow="1" bandRow="1">
                <a:tableStyleId>{2D5ABB26-0587-4C30-8999-92F81FD0307C}</a:tableStyleId>
              </a:tblPr>
              <a:tblGrid>
                <a:gridCol w="1943735">
                  <a:extLst>
                    <a:ext uri="{9D8B030D-6E8A-4147-A177-3AD203B41FA5}">
                      <a16:colId xmlns:a16="http://schemas.microsoft.com/office/drawing/2014/main" val="20000"/>
                    </a:ext>
                  </a:extLst>
                </a:gridCol>
                <a:gridCol w="520064">
                  <a:extLst>
                    <a:ext uri="{9D8B030D-6E8A-4147-A177-3AD203B41FA5}">
                      <a16:colId xmlns:a16="http://schemas.microsoft.com/office/drawing/2014/main" val="20001"/>
                    </a:ext>
                  </a:extLst>
                </a:gridCol>
                <a:gridCol w="523239">
                  <a:extLst>
                    <a:ext uri="{9D8B030D-6E8A-4147-A177-3AD203B41FA5}">
                      <a16:colId xmlns:a16="http://schemas.microsoft.com/office/drawing/2014/main" val="20002"/>
                    </a:ext>
                  </a:extLst>
                </a:gridCol>
              </a:tblGrid>
              <a:tr h="193675">
                <a:tc>
                  <a:txBody>
                    <a:bodyPr/>
                    <a:lstStyle/>
                    <a:p>
                      <a:pPr marL="287020">
                        <a:lnSpc>
                          <a:spcPct val="100000"/>
                        </a:lnSpc>
                        <a:spcBef>
                          <a:spcPts val="25"/>
                        </a:spcBef>
                      </a:pPr>
                      <a:r>
                        <a:rPr sz="1000" b="1" spc="-5" dirty="0">
                          <a:latin typeface="Arial"/>
                          <a:cs typeface="Arial"/>
                        </a:rPr>
                        <a:t>Ordering</a:t>
                      </a:r>
                      <a:r>
                        <a:rPr sz="1000" b="1" spc="-25" dirty="0">
                          <a:latin typeface="Arial"/>
                          <a:cs typeface="Arial"/>
                        </a:rPr>
                        <a:t> </a:t>
                      </a:r>
                      <a:r>
                        <a:rPr sz="1000" b="1" spc="-5" dirty="0">
                          <a:latin typeface="Arial"/>
                          <a:cs typeface="Arial"/>
                        </a:rPr>
                        <a:t>of</a:t>
                      </a:r>
                      <a:r>
                        <a:rPr sz="1000" b="1" spc="-25" dirty="0">
                          <a:latin typeface="Arial"/>
                          <a:cs typeface="Arial"/>
                        </a:rPr>
                        <a:t> </a:t>
                      </a:r>
                      <a:r>
                        <a:rPr sz="1000" b="1" spc="-5" dirty="0">
                          <a:latin typeface="Arial"/>
                          <a:cs typeface="Arial"/>
                        </a:rPr>
                        <a:t>operations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gridSpan="2">
                  <a:txBody>
                    <a:bodyPr/>
                    <a:lstStyle/>
                    <a:p>
                      <a:pPr marL="327660">
                        <a:lnSpc>
                          <a:spcPct val="100000"/>
                        </a:lnSpc>
                        <a:spcBef>
                          <a:spcPts val="25"/>
                        </a:spcBef>
                      </a:pPr>
                      <a:r>
                        <a:rPr sz="1000" b="1" spc="-5" dirty="0">
                          <a:latin typeface="Arial"/>
                          <a:cs typeface="Arial"/>
                        </a:rPr>
                        <a:t>Result</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740410">
                <a:tc>
                  <a:txBody>
                    <a:bodyPr/>
                    <a:lstStyle/>
                    <a:p>
                      <a:pPr marL="82550">
                        <a:lnSpc>
                          <a:spcPct val="100000"/>
                        </a:lnSpc>
                        <a:spcBef>
                          <a:spcPts val="80"/>
                        </a:spcBef>
                      </a:pP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35" dirty="0">
                          <a:latin typeface="Arial"/>
                          <a:cs typeface="Arial"/>
                        </a:rPr>
                        <a:t>a</a:t>
                      </a:r>
                      <a:r>
                        <a:rPr sz="1000" dirty="0">
                          <a:latin typeface="Arial"/>
                          <a:cs typeface="Arial"/>
                        </a:rPr>
                        <a:t>;</a:t>
                      </a:r>
                      <a:r>
                        <a:rPr sz="1000" spc="-5"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a:t>
                      </a:r>
                      <a:r>
                        <a:rPr sz="1000" spc="25"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30" dirty="0">
                          <a:latin typeface="Arial"/>
                          <a:cs typeface="Arial"/>
                        </a:rPr>
                        <a:t>a</a:t>
                      </a:r>
                      <a:r>
                        <a:rPr sz="1000" dirty="0">
                          <a:latin typeface="Arial"/>
                          <a:cs typeface="Arial"/>
                        </a:rPr>
                        <a:t>;</a:t>
                      </a:r>
                      <a:r>
                        <a:rPr sz="1000" spc="-5"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82550">
                        <a:lnSpc>
                          <a:spcPct val="100000"/>
                        </a:lnSpc>
                        <a:spcBef>
                          <a:spcPts val="229"/>
                        </a:spcBef>
                      </a:pP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35" dirty="0">
                          <a:latin typeface="Arial"/>
                          <a:cs typeface="Arial"/>
                        </a:rPr>
                        <a:t>a</a:t>
                      </a:r>
                      <a:r>
                        <a:rPr sz="1000" dirty="0">
                          <a:latin typeface="Arial"/>
                          <a:cs typeface="Arial"/>
                        </a:rPr>
                        <a:t>;</a:t>
                      </a:r>
                      <a:r>
                        <a:rPr sz="1000" spc="-5"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a:t>
                      </a:r>
                      <a:r>
                        <a:rPr sz="1000" spc="-5"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a:t>
                      </a:r>
                      <a:r>
                        <a:rPr sz="1000" spc="25"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p>
                      <a:pPr marL="78105">
                        <a:lnSpc>
                          <a:spcPct val="100000"/>
                        </a:lnSpc>
                        <a:spcBef>
                          <a:spcPts val="235"/>
                        </a:spcBef>
                      </a:pP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a:t>
                      </a:r>
                      <a:r>
                        <a:rPr sz="1000" spc="30"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35" dirty="0">
                          <a:latin typeface="Arial"/>
                          <a:cs typeface="Arial"/>
                        </a:rPr>
                        <a:t>a</a:t>
                      </a:r>
                      <a:r>
                        <a:rPr sz="1000" dirty="0">
                          <a:latin typeface="Arial"/>
                          <a:cs typeface="Arial"/>
                        </a:rPr>
                        <a:t>;</a:t>
                      </a:r>
                      <a:r>
                        <a:rPr sz="1000" spc="25"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30" dirty="0">
                          <a:latin typeface="Arial"/>
                          <a:cs typeface="Arial"/>
                        </a:rPr>
                        <a:t>a</a:t>
                      </a:r>
                      <a:r>
                        <a:rPr sz="1000" dirty="0">
                          <a:latin typeface="Arial"/>
                          <a:cs typeface="Arial"/>
                        </a:rPr>
                        <a:t>;</a:t>
                      </a:r>
                      <a:r>
                        <a:rPr sz="1000" spc="-5"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78105">
                        <a:lnSpc>
                          <a:spcPct val="100000"/>
                        </a:lnSpc>
                        <a:spcBef>
                          <a:spcPts val="235"/>
                        </a:spcBef>
                      </a:pP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a:t>
                      </a:r>
                      <a:r>
                        <a:rPr sz="1000" spc="30"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35" dirty="0">
                          <a:latin typeface="Arial"/>
                          <a:cs typeface="Arial"/>
                        </a:rPr>
                        <a:t>a</a:t>
                      </a:r>
                      <a:r>
                        <a:rPr sz="1000" dirty="0">
                          <a:latin typeface="Arial"/>
                          <a:cs typeface="Arial"/>
                        </a:rPr>
                        <a:t>;</a:t>
                      </a:r>
                      <a:r>
                        <a:rPr sz="1000" spc="-5" dirty="0">
                          <a:latin typeface="Arial"/>
                          <a:cs typeface="Arial"/>
                        </a:rPr>
                        <a:t> </a:t>
                      </a:r>
                      <a:r>
                        <a:rPr sz="900" i="1" dirty="0">
                          <a:latin typeface="Arial"/>
                          <a:cs typeface="Arial"/>
                        </a:rPr>
                        <a:t>W</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spc="25" dirty="0">
                          <a:latin typeface="Arial"/>
                          <a:cs typeface="Arial"/>
                        </a:rPr>
                        <a:t>b</a:t>
                      </a:r>
                      <a:r>
                        <a:rPr sz="1000" dirty="0">
                          <a:latin typeface="Arial"/>
                          <a:cs typeface="Arial"/>
                        </a:rPr>
                        <a:t>;</a:t>
                      </a:r>
                      <a:r>
                        <a:rPr sz="1000" spc="25" dirty="0">
                          <a:latin typeface="Arial"/>
                          <a:cs typeface="Arial"/>
                        </a:rPr>
                        <a:t> </a:t>
                      </a:r>
                      <a:r>
                        <a:rPr sz="900" i="1" dirty="0">
                          <a:latin typeface="Arial"/>
                          <a:cs typeface="Arial"/>
                        </a:rPr>
                        <a:t>W</a:t>
                      </a:r>
                      <a:r>
                        <a:rPr sz="1050" i="1" spc="67" baseline="-15873" dirty="0">
                          <a:latin typeface="Arial"/>
                          <a:cs typeface="Arial"/>
                        </a:rPr>
                        <a:t>1</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txBody>
                  <a:tcPr marL="0" marR="0" marT="1016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80"/>
                        </a:spcBef>
                      </a:pPr>
                      <a:r>
                        <a:rPr sz="900" i="1" spc="-5" dirty="0">
                          <a:latin typeface="Arial"/>
                          <a:cs typeface="Arial"/>
                        </a:rPr>
                        <a:t>R</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78105">
                        <a:lnSpc>
                          <a:spcPct val="100000"/>
                        </a:lnSpc>
                        <a:spcBef>
                          <a:spcPts val="350"/>
                        </a:spcBef>
                      </a:pPr>
                      <a:r>
                        <a:rPr sz="900" i="1" spc="-5" dirty="0">
                          <a:latin typeface="Arial"/>
                          <a:cs typeface="Arial"/>
                        </a:rPr>
                        <a:t>R</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78105">
                        <a:lnSpc>
                          <a:spcPct val="100000"/>
                        </a:lnSpc>
                        <a:spcBef>
                          <a:spcPts val="355"/>
                        </a:spcBef>
                      </a:pPr>
                      <a:r>
                        <a:rPr sz="900" i="1" spc="-5" dirty="0">
                          <a:latin typeface="Arial"/>
                          <a:cs typeface="Arial"/>
                        </a:rPr>
                        <a:t>R</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p>
                      <a:pPr marL="78105">
                        <a:lnSpc>
                          <a:spcPct val="100000"/>
                        </a:lnSpc>
                        <a:spcBef>
                          <a:spcPts val="355"/>
                        </a:spcBef>
                      </a:pPr>
                      <a:r>
                        <a:rPr sz="900" i="1" spc="-5" dirty="0">
                          <a:latin typeface="Arial"/>
                          <a:cs typeface="Arial"/>
                        </a:rPr>
                        <a:t>R</a:t>
                      </a:r>
                      <a:r>
                        <a:rPr sz="1050" i="1" spc="67" baseline="-15873" dirty="0">
                          <a:latin typeface="Arial"/>
                          <a:cs typeface="Arial"/>
                        </a:rPr>
                        <a:t>1</a:t>
                      </a:r>
                      <a:r>
                        <a:rPr sz="900" dirty="0">
                          <a:latin typeface="Arial"/>
                          <a:cs typeface="Arial"/>
                        </a:rPr>
                        <a:t>(</a:t>
                      </a:r>
                      <a:r>
                        <a:rPr sz="900" i="1" dirty="0">
                          <a:latin typeface="Arial"/>
                          <a:cs typeface="Arial"/>
                        </a:rPr>
                        <a:t>x</a:t>
                      </a:r>
                      <a:r>
                        <a:rPr sz="900" i="1" spc="-170" dirty="0">
                          <a:latin typeface="Arial"/>
                          <a:cs typeface="Arial"/>
                        </a:rPr>
                        <a:t> </a:t>
                      </a:r>
                      <a:r>
                        <a:rPr sz="900" dirty="0">
                          <a:latin typeface="Arial"/>
                          <a:cs typeface="Arial"/>
                        </a:rPr>
                        <a:t>)</a:t>
                      </a:r>
                      <a:r>
                        <a:rPr sz="900" i="1" dirty="0">
                          <a:latin typeface="Arial"/>
                          <a:cs typeface="Arial"/>
                        </a:rPr>
                        <a:t>b</a:t>
                      </a:r>
                      <a:endParaRPr sz="900">
                        <a:latin typeface="Arial"/>
                        <a:cs typeface="Arial"/>
                      </a:endParaRPr>
                    </a:p>
                  </a:txBody>
                  <a:tcPr marL="0" marR="0" marT="2286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80"/>
                        </a:spcBef>
                      </a:pPr>
                      <a:r>
                        <a:rPr sz="900" i="1" dirty="0">
                          <a:latin typeface="Arial"/>
                          <a:cs typeface="Arial"/>
                        </a:rPr>
                        <a:t>R</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p>
                      <a:pPr marL="78105">
                        <a:lnSpc>
                          <a:spcPct val="100000"/>
                        </a:lnSpc>
                        <a:spcBef>
                          <a:spcPts val="350"/>
                        </a:spcBef>
                      </a:pPr>
                      <a:r>
                        <a:rPr sz="900" i="1" dirty="0">
                          <a:latin typeface="Arial"/>
                          <a:cs typeface="Arial"/>
                        </a:rPr>
                        <a:t>R</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p>
                      <a:pPr marL="78105">
                        <a:lnSpc>
                          <a:spcPct val="100000"/>
                        </a:lnSpc>
                        <a:spcBef>
                          <a:spcPts val="355"/>
                        </a:spcBef>
                      </a:pPr>
                      <a:r>
                        <a:rPr sz="900" i="1" dirty="0">
                          <a:latin typeface="Arial"/>
                          <a:cs typeface="Arial"/>
                        </a:rPr>
                        <a:t>R</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p>
                      <a:pPr marL="78105">
                        <a:lnSpc>
                          <a:spcPct val="100000"/>
                        </a:lnSpc>
                        <a:spcBef>
                          <a:spcPts val="355"/>
                        </a:spcBef>
                      </a:pPr>
                      <a:r>
                        <a:rPr sz="900" i="1" dirty="0">
                          <a:latin typeface="Arial"/>
                          <a:cs typeface="Arial"/>
                        </a:rPr>
                        <a:t>R</a:t>
                      </a:r>
                      <a:r>
                        <a:rPr sz="1050" i="1" baseline="-15873" dirty="0">
                          <a:latin typeface="Arial"/>
                          <a:cs typeface="Arial"/>
                        </a:rPr>
                        <a:t>2</a:t>
                      </a:r>
                      <a:r>
                        <a:rPr sz="1050" i="1" spc="-157" baseline="-15873" dirty="0">
                          <a:latin typeface="Arial"/>
                          <a:cs typeface="Arial"/>
                        </a:rPr>
                        <a:t> </a:t>
                      </a:r>
                      <a:r>
                        <a:rPr sz="900" dirty="0">
                          <a:latin typeface="Arial"/>
                          <a:cs typeface="Arial"/>
                        </a:rPr>
                        <a:t>(</a:t>
                      </a:r>
                      <a:r>
                        <a:rPr sz="900" i="1" dirty="0">
                          <a:latin typeface="Arial"/>
                          <a:cs typeface="Arial"/>
                        </a:rPr>
                        <a:t>y</a:t>
                      </a:r>
                      <a:r>
                        <a:rPr sz="900" i="1" spc="-165" dirty="0">
                          <a:latin typeface="Arial"/>
                          <a:cs typeface="Arial"/>
                        </a:rPr>
                        <a:t> </a:t>
                      </a:r>
                      <a:r>
                        <a:rPr sz="900" dirty="0">
                          <a:latin typeface="Arial"/>
                          <a:cs typeface="Arial"/>
                        </a:rPr>
                        <a:t>)</a:t>
                      </a:r>
                      <a:r>
                        <a:rPr sz="900" i="1" dirty="0">
                          <a:latin typeface="Arial"/>
                          <a:cs typeface="Arial"/>
                        </a:rPr>
                        <a:t>a</a:t>
                      </a:r>
                      <a:endParaRPr sz="900">
                        <a:latin typeface="Arial"/>
                        <a:cs typeface="Arial"/>
                      </a:endParaRPr>
                    </a:p>
                  </a:txBody>
                  <a:tcPr marL="0" marR="0" marT="2286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Data-centric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397354" y="716"/>
            <a:ext cx="11442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Consistent ordering</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of operations</a:t>
            </a:r>
            <a:endParaRPr sz="600">
              <a:latin typeface="Arial"/>
              <a:cs typeface="Arial"/>
            </a:endParaRPr>
          </a:p>
        </p:txBody>
      </p:sp>
      <p:sp>
        <p:nvSpPr>
          <p:cNvPr id="4" name="object 4"/>
          <p:cNvSpPr txBox="1"/>
          <p:nvPr/>
        </p:nvSpPr>
        <p:spPr>
          <a:xfrm>
            <a:off x="95300" y="188846"/>
            <a:ext cx="4128135" cy="161417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Causal</a:t>
            </a:r>
            <a:r>
              <a:rPr sz="1400" spc="-30" dirty="0">
                <a:solidFill>
                  <a:srgbClr val="3333B2"/>
                </a:solidFill>
                <a:latin typeface="Arial"/>
                <a:cs typeface="Arial"/>
              </a:rPr>
              <a:t> </a:t>
            </a:r>
            <a:r>
              <a:rPr sz="1400" spc="15" dirty="0">
                <a:solidFill>
                  <a:srgbClr val="3333B2"/>
                </a:solidFill>
                <a:latin typeface="Arial"/>
                <a:cs typeface="Arial"/>
              </a:rPr>
              <a:t>consistency</a:t>
            </a:r>
            <a:endParaRPr sz="1400">
              <a:latin typeface="Arial"/>
              <a:cs typeface="Arial"/>
            </a:endParaRPr>
          </a:p>
          <a:p>
            <a:pPr>
              <a:lnSpc>
                <a:spcPct val="100000"/>
              </a:lnSpc>
            </a:pPr>
            <a:endParaRPr sz="2000">
              <a:latin typeface="Arial"/>
              <a:cs typeface="Arial"/>
            </a:endParaRPr>
          </a:p>
          <a:p>
            <a:pPr marL="264160">
              <a:lnSpc>
                <a:spcPts val="1410"/>
              </a:lnSpc>
            </a:pPr>
            <a:r>
              <a:rPr sz="1200" spc="-5" dirty="0">
                <a:solidFill>
                  <a:srgbClr val="3333B2"/>
                </a:solidFill>
                <a:latin typeface="Arial"/>
                <a:cs typeface="Arial"/>
              </a:rPr>
              <a:t>Definition</a:t>
            </a:r>
            <a:endParaRPr sz="1200">
              <a:latin typeface="Arial"/>
              <a:cs typeface="Arial"/>
            </a:endParaRPr>
          </a:p>
          <a:p>
            <a:pPr marL="264160" marR="198755" indent="-6350">
              <a:lnSpc>
                <a:spcPts val="1200"/>
              </a:lnSpc>
              <a:spcBef>
                <a:spcPts val="15"/>
              </a:spcBef>
            </a:pPr>
            <a:r>
              <a:rPr sz="1000" spc="-5" dirty="0">
                <a:latin typeface="Arial"/>
                <a:cs typeface="Arial"/>
              </a:rPr>
              <a:t>Writes that</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potentially</a:t>
            </a:r>
            <a:r>
              <a:rPr sz="1000" dirty="0">
                <a:latin typeface="Arial"/>
                <a:cs typeface="Arial"/>
              </a:rPr>
              <a:t> </a:t>
            </a:r>
            <a:r>
              <a:rPr sz="1000" spc="-5" dirty="0">
                <a:latin typeface="Arial"/>
                <a:cs typeface="Arial"/>
              </a:rPr>
              <a:t>causally</a:t>
            </a:r>
            <a:r>
              <a:rPr sz="1000" dirty="0">
                <a:latin typeface="Arial"/>
                <a:cs typeface="Arial"/>
              </a:rPr>
              <a:t> </a:t>
            </a:r>
            <a:r>
              <a:rPr sz="1000" spc="-5" dirty="0">
                <a:latin typeface="Arial"/>
                <a:cs typeface="Arial"/>
              </a:rPr>
              <a:t>related</a:t>
            </a:r>
            <a:r>
              <a:rPr sz="1000" dirty="0">
                <a:latin typeface="Arial"/>
                <a:cs typeface="Arial"/>
              </a:rPr>
              <a:t> </a:t>
            </a:r>
            <a:r>
              <a:rPr sz="1000" spc="-5" dirty="0">
                <a:latin typeface="Arial"/>
                <a:cs typeface="Arial"/>
              </a:rPr>
              <a:t>must</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seen</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all </a:t>
            </a:r>
            <a:r>
              <a:rPr sz="1000" dirty="0">
                <a:latin typeface="Arial"/>
                <a:cs typeface="Arial"/>
              </a:rPr>
              <a:t> </a:t>
            </a:r>
            <a:r>
              <a:rPr sz="1000" spc="-5" dirty="0">
                <a:latin typeface="Arial"/>
                <a:cs typeface="Arial"/>
              </a:rPr>
              <a:t>processes in the</a:t>
            </a:r>
            <a:r>
              <a:rPr sz="1000" dirty="0">
                <a:latin typeface="Arial"/>
                <a:cs typeface="Arial"/>
              </a:rPr>
              <a:t> </a:t>
            </a:r>
            <a:r>
              <a:rPr sz="1000" spc="-5" dirty="0">
                <a:latin typeface="Arial"/>
                <a:cs typeface="Arial"/>
              </a:rPr>
              <a:t>same </a:t>
            </a:r>
            <a:r>
              <a:rPr sz="1000" spc="-10" dirty="0">
                <a:latin typeface="Arial"/>
                <a:cs typeface="Arial"/>
              </a:rPr>
              <a:t>order.</a:t>
            </a:r>
            <a:r>
              <a:rPr sz="1000" spc="60" dirty="0">
                <a:latin typeface="Arial"/>
                <a:cs typeface="Arial"/>
              </a:rPr>
              <a:t> </a:t>
            </a:r>
            <a:r>
              <a:rPr sz="1000" spc="-5" dirty="0">
                <a:latin typeface="Arial"/>
                <a:cs typeface="Arial"/>
              </a:rPr>
              <a:t>Concurrent</a:t>
            </a:r>
            <a:r>
              <a:rPr sz="1000" dirty="0">
                <a:latin typeface="Arial"/>
                <a:cs typeface="Arial"/>
              </a:rPr>
              <a:t> writes</a:t>
            </a:r>
            <a:r>
              <a:rPr sz="1000" spc="-5" dirty="0">
                <a:latin typeface="Arial"/>
                <a:cs typeface="Arial"/>
              </a:rPr>
              <a:t> </a:t>
            </a:r>
            <a:r>
              <a:rPr sz="1000" spc="-15" dirty="0">
                <a:latin typeface="Arial"/>
                <a:cs typeface="Arial"/>
              </a:rPr>
              <a:t>may</a:t>
            </a:r>
            <a:r>
              <a:rPr sz="1000" spc="-5" dirty="0">
                <a:latin typeface="Arial"/>
                <a:cs typeface="Arial"/>
              </a:rPr>
              <a:t> be</a:t>
            </a:r>
            <a:r>
              <a:rPr sz="1000" dirty="0">
                <a:latin typeface="Arial"/>
                <a:cs typeface="Arial"/>
              </a:rPr>
              <a:t> </a:t>
            </a:r>
            <a:r>
              <a:rPr sz="1000" spc="-5" dirty="0">
                <a:latin typeface="Arial"/>
                <a:cs typeface="Arial"/>
              </a:rPr>
              <a:t>seen in a </a:t>
            </a:r>
            <a:r>
              <a:rPr sz="1000" spc="-260" dirty="0">
                <a:latin typeface="Arial"/>
                <a:cs typeface="Arial"/>
              </a:rPr>
              <a:t> </a:t>
            </a:r>
            <a:r>
              <a:rPr sz="1000" spc="-5" dirty="0">
                <a:latin typeface="Arial"/>
                <a:cs typeface="Arial"/>
              </a:rPr>
              <a:t>different</a:t>
            </a:r>
            <a:r>
              <a:rPr sz="1000" spc="-10" dirty="0">
                <a:latin typeface="Arial"/>
                <a:cs typeface="Arial"/>
              </a:rPr>
              <a:t> </a:t>
            </a:r>
            <a:r>
              <a:rPr sz="1000" spc="-5" dirty="0">
                <a:latin typeface="Arial"/>
                <a:cs typeface="Arial"/>
              </a:rPr>
              <a:t>order </a:t>
            </a:r>
            <a:r>
              <a:rPr sz="1000" spc="-15" dirty="0">
                <a:latin typeface="Arial"/>
                <a:cs typeface="Arial"/>
              </a:rPr>
              <a:t>by</a:t>
            </a:r>
            <a:r>
              <a:rPr sz="1000" spc="-5" dirty="0">
                <a:latin typeface="Arial"/>
                <a:cs typeface="Arial"/>
              </a:rPr>
              <a:t> different processes.</a:t>
            </a:r>
            <a:endParaRPr sz="1000">
              <a:latin typeface="Arial"/>
              <a:cs typeface="Arial"/>
            </a:endParaRPr>
          </a:p>
          <a:p>
            <a:pPr marL="264160" marR="5080" indent="-5080">
              <a:lnSpc>
                <a:spcPts val="1390"/>
              </a:lnSpc>
              <a:spcBef>
                <a:spcPts val="720"/>
              </a:spcBef>
            </a:pPr>
            <a:r>
              <a:rPr sz="1200" spc="-5" dirty="0">
                <a:solidFill>
                  <a:srgbClr val="3333B2"/>
                </a:solidFill>
                <a:latin typeface="Arial"/>
                <a:cs typeface="Arial"/>
              </a:rPr>
              <a:t>(a)</a:t>
            </a:r>
            <a:r>
              <a:rPr sz="1200" dirty="0">
                <a:solidFill>
                  <a:srgbClr val="3333B2"/>
                </a:solidFill>
                <a:latin typeface="Arial"/>
                <a:cs typeface="Arial"/>
              </a:rPr>
              <a:t> </a:t>
            </a:r>
            <a:r>
              <a:rPr sz="1200" spc="-5" dirty="0">
                <a:solidFill>
                  <a:srgbClr val="3333B2"/>
                </a:solidFill>
                <a:latin typeface="Arial"/>
                <a:cs typeface="Arial"/>
              </a:rPr>
              <a:t>A</a:t>
            </a:r>
            <a:r>
              <a:rPr sz="1200" dirty="0">
                <a:solidFill>
                  <a:srgbClr val="3333B2"/>
                </a:solidFill>
                <a:latin typeface="Arial"/>
                <a:cs typeface="Arial"/>
              </a:rPr>
              <a:t> </a:t>
            </a:r>
            <a:r>
              <a:rPr sz="1200" spc="-5" dirty="0">
                <a:solidFill>
                  <a:srgbClr val="3333B2"/>
                </a:solidFill>
                <a:latin typeface="Arial"/>
                <a:cs typeface="Arial"/>
              </a:rPr>
              <a:t>violation</a:t>
            </a:r>
            <a:r>
              <a:rPr sz="1200" spc="5" dirty="0">
                <a:solidFill>
                  <a:srgbClr val="3333B2"/>
                </a:solidFill>
                <a:latin typeface="Arial"/>
                <a:cs typeface="Arial"/>
              </a:rPr>
              <a:t> </a:t>
            </a:r>
            <a:r>
              <a:rPr sz="1200" spc="-5" dirty="0">
                <a:solidFill>
                  <a:srgbClr val="3333B2"/>
                </a:solidFill>
                <a:latin typeface="Arial"/>
                <a:cs typeface="Arial"/>
              </a:rPr>
              <a:t>of</a:t>
            </a:r>
            <a:r>
              <a:rPr sz="1200" dirty="0">
                <a:solidFill>
                  <a:srgbClr val="3333B2"/>
                </a:solidFill>
                <a:latin typeface="Arial"/>
                <a:cs typeface="Arial"/>
              </a:rPr>
              <a:t> </a:t>
            </a:r>
            <a:r>
              <a:rPr sz="1200" spc="-5" dirty="0">
                <a:solidFill>
                  <a:srgbClr val="3333B2"/>
                </a:solidFill>
                <a:latin typeface="Arial"/>
                <a:cs typeface="Arial"/>
              </a:rPr>
              <a:t>a</a:t>
            </a:r>
            <a:r>
              <a:rPr sz="1200" dirty="0">
                <a:solidFill>
                  <a:srgbClr val="3333B2"/>
                </a:solidFill>
                <a:latin typeface="Arial"/>
                <a:cs typeface="Arial"/>
              </a:rPr>
              <a:t> </a:t>
            </a:r>
            <a:r>
              <a:rPr sz="1200" spc="-5" dirty="0">
                <a:solidFill>
                  <a:srgbClr val="3333B2"/>
                </a:solidFill>
                <a:latin typeface="Arial"/>
                <a:cs typeface="Arial"/>
              </a:rPr>
              <a:t>causally-consistent</a:t>
            </a:r>
            <a:r>
              <a:rPr sz="1200" spc="5" dirty="0">
                <a:solidFill>
                  <a:srgbClr val="3333B2"/>
                </a:solidFill>
                <a:latin typeface="Arial"/>
                <a:cs typeface="Arial"/>
              </a:rPr>
              <a:t> </a:t>
            </a:r>
            <a:r>
              <a:rPr sz="1200" spc="-10" dirty="0">
                <a:solidFill>
                  <a:srgbClr val="3333B2"/>
                </a:solidFill>
                <a:latin typeface="Arial"/>
                <a:cs typeface="Arial"/>
              </a:rPr>
              <a:t>store.</a:t>
            </a:r>
            <a:r>
              <a:rPr sz="1200" spc="80" dirty="0">
                <a:solidFill>
                  <a:srgbClr val="3333B2"/>
                </a:solidFill>
                <a:latin typeface="Arial"/>
                <a:cs typeface="Arial"/>
              </a:rPr>
              <a:t> </a:t>
            </a:r>
            <a:r>
              <a:rPr sz="1200" spc="-5" dirty="0">
                <a:solidFill>
                  <a:srgbClr val="3333B2"/>
                </a:solidFill>
                <a:latin typeface="Arial"/>
                <a:cs typeface="Arial"/>
              </a:rPr>
              <a:t>(b)</a:t>
            </a:r>
            <a:r>
              <a:rPr sz="1200" spc="5" dirty="0">
                <a:solidFill>
                  <a:srgbClr val="3333B2"/>
                </a:solidFill>
                <a:latin typeface="Arial"/>
                <a:cs typeface="Arial"/>
              </a:rPr>
              <a:t> </a:t>
            </a:r>
            <a:r>
              <a:rPr sz="1200" spc="-5" dirty="0">
                <a:solidFill>
                  <a:srgbClr val="3333B2"/>
                </a:solidFill>
                <a:latin typeface="Arial"/>
                <a:cs typeface="Arial"/>
              </a:rPr>
              <a:t>A</a:t>
            </a:r>
            <a:r>
              <a:rPr sz="1200" dirty="0">
                <a:solidFill>
                  <a:srgbClr val="3333B2"/>
                </a:solidFill>
                <a:latin typeface="Arial"/>
                <a:cs typeface="Arial"/>
              </a:rPr>
              <a:t> </a:t>
            </a:r>
            <a:r>
              <a:rPr sz="1200" spc="-5" dirty="0">
                <a:solidFill>
                  <a:srgbClr val="3333B2"/>
                </a:solidFill>
                <a:latin typeface="Arial"/>
                <a:cs typeface="Arial"/>
              </a:rPr>
              <a:t>correct </a:t>
            </a:r>
            <a:r>
              <a:rPr sz="1200" spc="-320" dirty="0">
                <a:solidFill>
                  <a:srgbClr val="3333B2"/>
                </a:solidFill>
                <a:latin typeface="Arial"/>
                <a:cs typeface="Arial"/>
              </a:rPr>
              <a:t> </a:t>
            </a:r>
            <a:r>
              <a:rPr sz="1200" spc="-5" dirty="0">
                <a:solidFill>
                  <a:srgbClr val="3333B2"/>
                </a:solidFill>
                <a:latin typeface="Arial"/>
                <a:cs typeface="Arial"/>
              </a:rPr>
              <a:t>sequence of </a:t>
            </a:r>
            <a:r>
              <a:rPr sz="1200" spc="-15" dirty="0">
                <a:solidFill>
                  <a:srgbClr val="3333B2"/>
                </a:solidFill>
                <a:latin typeface="Arial"/>
                <a:cs typeface="Arial"/>
              </a:rPr>
              <a:t>events</a:t>
            </a:r>
            <a:r>
              <a:rPr sz="1200" spc="-5" dirty="0">
                <a:solidFill>
                  <a:srgbClr val="3333B2"/>
                </a:solidFill>
                <a:latin typeface="Arial"/>
                <a:cs typeface="Arial"/>
              </a:rPr>
              <a:t> in a causally-consistent store</a:t>
            </a:r>
            <a:endParaRPr sz="1200">
              <a:latin typeface="Arial"/>
              <a:cs typeface="Arial"/>
            </a:endParaRPr>
          </a:p>
        </p:txBody>
      </p:sp>
      <p:sp>
        <p:nvSpPr>
          <p:cNvPr id="5" name="object 5"/>
          <p:cNvSpPr txBox="1"/>
          <p:nvPr/>
        </p:nvSpPr>
        <p:spPr>
          <a:xfrm>
            <a:off x="349019" y="2046138"/>
            <a:ext cx="3981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P1:</a:t>
            </a:r>
            <a:r>
              <a:rPr sz="650" spc="-15" dirty="0">
                <a:solidFill>
                  <a:srgbClr val="231F20"/>
                </a:solidFill>
                <a:latin typeface="Arial"/>
                <a:cs typeface="Arial"/>
              </a:rPr>
              <a:t> </a:t>
            </a:r>
            <a:r>
              <a:rPr sz="650" spc="5" dirty="0">
                <a:solidFill>
                  <a:srgbClr val="231F20"/>
                </a:solidFill>
                <a:latin typeface="Arial"/>
                <a:cs typeface="Arial"/>
              </a:rPr>
              <a:t>W(x)a</a:t>
            </a:r>
            <a:endParaRPr sz="650">
              <a:latin typeface="Arial"/>
              <a:cs typeface="Arial"/>
            </a:endParaRPr>
          </a:p>
        </p:txBody>
      </p:sp>
      <p:sp>
        <p:nvSpPr>
          <p:cNvPr id="6" name="object 6"/>
          <p:cNvSpPr txBox="1"/>
          <p:nvPr/>
        </p:nvSpPr>
        <p:spPr>
          <a:xfrm>
            <a:off x="825378" y="2165655"/>
            <a:ext cx="2317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R(x)a</a:t>
            </a:r>
            <a:endParaRPr sz="650">
              <a:latin typeface="Arial"/>
              <a:cs typeface="Arial"/>
            </a:endParaRPr>
          </a:p>
        </p:txBody>
      </p:sp>
      <p:sp>
        <p:nvSpPr>
          <p:cNvPr id="7" name="object 7"/>
          <p:cNvSpPr txBox="1"/>
          <p:nvPr/>
        </p:nvSpPr>
        <p:spPr>
          <a:xfrm>
            <a:off x="347303" y="2164025"/>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P2:</a:t>
            </a:r>
            <a:endParaRPr sz="650">
              <a:latin typeface="Arial"/>
              <a:cs typeface="Arial"/>
            </a:endParaRPr>
          </a:p>
        </p:txBody>
      </p:sp>
      <p:sp>
        <p:nvSpPr>
          <p:cNvPr id="8" name="object 8"/>
          <p:cNvSpPr txBox="1"/>
          <p:nvPr/>
        </p:nvSpPr>
        <p:spPr>
          <a:xfrm>
            <a:off x="347303" y="2283542"/>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P3:</a:t>
            </a:r>
            <a:endParaRPr sz="650">
              <a:latin typeface="Arial"/>
              <a:cs typeface="Arial"/>
            </a:endParaRPr>
          </a:p>
        </p:txBody>
      </p:sp>
      <p:sp>
        <p:nvSpPr>
          <p:cNvPr id="9" name="object 9"/>
          <p:cNvSpPr txBox="1"/>
          <p:nvPr/>
        </p:nvSpPr>
        <p:spPr>
          <a:xfrm>
            <a:off x="347303" y="2403067"/>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P4:</a:t>
            </a:r>
            <a:endParaRPr sz="650">
              <a:latin typeface="Arial"/>
              <a:cs typeface="Arial"/>
            </a:endParaRPr>
          </a:p>
        </p:txBody>
      </p:sp>
      <p:sp>
        <p:nvSpPr>
          <p:cNvPr id="10" name="object 10"/>
          <p:cNvSpPr/>
          <p:nvPr/>
        </p:nvSpPr>
        <p:spPr>
          <a:xfrm>
            <a:off x="359994" y="2171415"/>
            <a:ext cx="1733550" cy="0"/>
          </a:xfrm>
          <a:custGeom>
            <a:avLst/>
            <a:gdLst/>
            <a:ahLst/>
            <a:cxnLst/>
            <a:rect l="l" t="t" r="r" b="b"/>
            <a:pathLst>
              <a:path w="1733550">
                <a:moveTo>
                  <a:pt x="0" y="0"/>
                </a:moveTo>
                <a:lnTo>
                  <a:pt x="1733035" y="0"/>
                </a:lnTo>
              </a:path>
            </a:pathLst>
          </a:custGeom>
          <a:ln w="5270">
            <a:solidFill>
              <a:srgbClr val="231F20"/>
            </a:solidFill>
          </a:ln>
        </p:spPr>
        <p:txBody>
          <a:bodyPr wrap="square" lIns="0" tIns="0" rIns="0" bIns="0" rtlCol="0"/>
          <a:lstStyle/>
          <a:p>
            <a:endParaRPr/>
          </a:p>
        </p:txBody>
      </p:sp>
      <p:sp>
        <p:nvSpPr>
          <p:cNvPr id="11" name="object 11"/>
          <p:cNvSpPr/>
          <p:nvPr/>
        </p:nvSpPr>
        <p:spPr>
          <a:xfrm>
            <a:off x="359994" y="2290928"/>
            <a:ext cx="1733550" cy="0"/>
          </a:xfrm>
          <a:custGeom>
            <a:avLst/>
            <a:gdLst/>
            <a:ahLst/>
            <a:cxnLst/>
            <a:rect l="l" t="t" r="r" b="b"/>
            <a:pathLst>
              <a:path w="1733550">
                <a:moveTo>
                  <a:pt x="0" y="0"/>
                </a:moveTo>
                <a:lnTo>
                  <a:pt x="1733035" y="0"/>
                </a:lnTo>
              </a:path>
            </a:pathLst>
          </a:custGeom>
          <a:ln w="5270">
            <a:solidFill>
              <a:srgbClr val="231F20"/>
            </a:solidFill>
          </a:ln>
        </p:spPr>
        <p:txBody>
          <a:bodyPr wrap="square" lIns="0" tIns="0" rIns="0" bIns="0" rtlCol="0"/>
          <a:lstStyle/>
          <a:p>
            <a:endParaRPr/>
          </a:p>
        </p:txBody>
      </p:sp>
      <p:sp>
        <p:nvSpPr>
          <p:cNvPr id="12" name="object 12"/>
          <p:cNvSpPr/>
          <p:nvPr/>
        </p:nvSpPr>
        <p:spPr>
          <a:xfrm>
            <a:off x="359994" y="2410449"/>
            <a:ext cx="1733550" cy="0"/>
          </a:xfrm>
          <a:custGeom>
            <a:avLst/>
            <a:gdLst/>
            <a:ahLst/>
            <a:cxnLst/>
            <a:rect l="l" t="t" r="r" b="b"/>
            <a:pathLst>
              <a:path w="1733550">
                <a:moveTo>
                  <a:pt x="0" y="0"/>
                </a:moveTo>
                <a:lnTo>
                  <a:pt x="1733035" y="0"/>
                </a:lnTo>
              </a:path>
            </a:pathLst>
          </a:custGeom>
          <a:ln w="5270">
            <a:solidFill>
              <a:srgbClr val="231F20"/>
            </a:solidFill>
          </a:ln>
        </p:spPr>
        <p:txBody>
          <a:bodyPr wrap="square" lIns="0" tIns="0" rIns="0" bIns="0" rtlCol="0"/>
          <a:lstStyle/>
          <a:p>
            <a:endParaRPr/>
          </a:p>
        </p:txBody>
      </p:sp>
      <p:sp>
        <p:nvSpPr>
          <p:cNvPr id="13" name="object 13"/>
          <p:cNvSpPr txBox="1"/>
          <p:nvPr/>
        </p:nvSpPr>
        <p:spPr>
          <a:xfrm>
            <a:off x="1183928" y="2165655"/>
            <a:ext cx="2508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W(x)b</a:t>
            </a:r>
            <a:endParaRPr sz="650">
              <a:latin typeface="Arial"/>
              <a:cs typeface="Arial"/>
            </a:endParaRPr>
          </a:p>
        </p:txBody>
      </p:sp>
      <p:sp>
        <p:nvSpPr>
          <p:cNvPr id="14" name="object 14"/>
          <p:cNvSpPr txBox="1"/>
          <p:nvPr/>
        </p:nvSpPr>
        <p:spPr>
          <a:xfrm>
            <a:off x="1516550" y="2404697"/>
            <a:ext cx="511809"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R(x)a </a:t>
            </a:r>
            <a:r>
              <a:rPr sz="650" spc="140" dirty="0">
                <a:solidFill>
                  <a:srgbClr val="231F20"/>
                </a:solidFill>
                <a:latin typeface="Arial"/>
                <a:cs typeface="Arial"/>
              </a:rPr>
              <a:t> </a:t>
            </a:r>
            <a:r>
              <a:rPr sz="650" spc="5" dirty="0">
                <a:solidFill>
                  <a:srgbClr val="231F20"/>
                </a:solidFill>
                <a:latin typeface="Arial"/>
                <a:cs typeface="Arial"/>
              </a:rPr>
              <a:t>R(x)b</a:t>
            </a:r>
            <a:endParaRPr sz="650">
              <a:latin typeface="Arial"/>
              <a:cs typeface="Arial"/>
            </a:endParaRPr>
          </a:p>
        </p:txBody>
      </p:sp>
      <p:sp>
        <p:nvSpPr>
          <p:cNvPr id="15" name="object 15"/>
          <p:cNvSpPr txBox="1"/>
          <p:nvPr/>
        </p:nvSpPr>
        <p:spPr>
          <a:xfrm>
            <a:off x="1482744" y="2285171"/>
            <a:ext cx="581025" cy="127000"/>
          </a:xfrm>
          <a:prstGeom prst="rect">
            <a:avLst/>
          </a:prstGeom>
        </p:spPr>
        <p:txBody>
          <a:bodyPr vert="horz" wrap="square" lIns="0" tIns="13970" rIns="0" bIns="0" rtlCol="0">
            <a:spAutoFit/>
          </a:bodyPr>
          <a:lstStyle/>
          <a:p>
            <a:pPr marL="12700">
              <a:lnSpc>
                <a:spcPct val="100000"/>
              </a:lnSpc>
              <a:spcBef>
                <a:spcPts val="110"/>
              </a:spcBef>
              <a:tabLst>
                <a:tab pos="361315" algn="l"/>
              </a:tabLst>
            </a:pPr>
            <a:r>
              <a:rPr sz="650" spc="5" dirty="0">
                <a:solidFill>
                  <a:srgbClr val="231F20"/>
                </a:solidFill>
                <a:latin typeface="Arial"/>
                <a:cs typeface="Arial"/>
              </a:rPr>
              <a:t>R(x)b	R(x)a</a:t>
            </a:r>
            <a:endParaRPr sz="650">
              <a:latin typeface="Arial"/>
              <a:cs typeface="Arial"/>
            </a:endParaRPr>
          </a:p>
        </p:txBody>
      </p:sp>
      <p:sp>
        <p:nvSpPr>
          <p:cNvPr id="16" name="object 16"/>
          <p:cNvSpPr txBox="1"/>
          <p:nvPr/>
        </p:nvSpPr>
        <p:spPr>
          <a:xfrm>
            <a:off x="2549098" y="2038900"/>
            <a:ext cx="3981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P1:</a:t>
            </a:r>
            <a:r>
              <a:rPr sz="650" spc="-15" dirty="0">
                <a:solidFill>
                  <a:srgbClr val="231F20"/>
                </a:solidFill>
                <a:latin typeface="Arial"/>
                <a:cs typeface="Arial"/>
              </a:rPr>
              <a:t> </a:t>
            </a:r>
            <a:r>
              <a:rPr sz="650" spc="5" dirty="0">
                <a:solidFill>
                  <a:srgbClr val="231F20"/>
                </a:solidFill>
                <a:latin typeface="Arial"/>
                <a:cs typeface="Arial"/>
              </a:rPr>
              <a:t>W(x)a</a:t>
            </a:r>
            <a:endParaRPr sz="650">
              <a:latin typeface="Arial"/>
              <a:cs typeface="Arial"/>
            </a:endParaRPr>
          </a:p>
        </p:txBody>
      </p:sp>
      <p:sp>
        <p:nvSpPr>
          <p:cNvPr id="17" name="object 17"/>
          <p:cNvSpPr txBox="1"/>
          <p:nvPr/>
        </p:nvSpPr>
        <p:spPr>
          <a:xfrm>
            <a:off x="2547382" y="2156786"/>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P2:</a:t>
            </a:r>
            <a:endParaRPr sz="650">
              <a:latin typeface="Arial"/>
              <a:cs typeface="Arial"/>
            </a:endParaRPr>
          </a:p>
        </p:txBody>
      </p:sp>
      <p:sp>
        <p:nvSpPr>
          <p:cNvPr id="18" name="object 18"/>
          <p:cNvSpPr txBox="1"/>
          <p:nvPr/>
        </p:nvSpPr>
        <p:spPr>
          <a:xfrm>
            <a:off x="2547382" y="2276303"/>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P3:</a:t>
            </a:r>
            <a:endParaRPr sz="650">
              <a:latin typeface="Arial"/>
              <a:cs typeface="Arial"/>
            </a:endParaRPr>
          </a:p>
        </p:txBody>
      </p:sp>
      <p:sp>
        <p:nvSpPr>
          <p:cNvPr id="19" name="object 19"/>
          <p:cNvSpPr txBox="1"/>
          <p:nvPr/>
        </p:nvSpPr>
        <p:spPr>
          <a:xfrm>
            <a:off x="2547382" y="2395829"/>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P4:</a:t>
            </a:r>
            <a:endParaRPr sz="650">
              <a:latin typeface="Arial"/>
              <a:cs typeface="Arial"/>
            </a:endParaRPr>
          </a:p>
        </p:txBody>
      </p:sp>
      <p:sp>
        <p:nvSpPr>
          <p:cNvPr id="20" name="object 20"/>
          <p:cNvSpPr/>
          <p:nvPr/>
        </p:nvSpPr>
        <p:spPr>
          <a:xfrm>
            <a:off x="2560073" y="2164177"/>
            <a:ext cx="1733550" cy="0"/>
          </a:xfrm>
          <a:custGeom>
            <a:avLst/>
            <a:gdLst/>
            <a:ahLst/>
            <a:cxnLst/>
            <a:rect l="l" t="t" r="r" b="b"/>
            <a:pathLst>
              <a:path w="1733550">
                <a:moveTo>
                  <a:pt x="0" y="0"/>
                </a:moveTo>
                <a:lnTo>
                  <a:pt x="1733032" y="0"/>
                </a:lnTo>
              </a:path>
            </a:pathLst>
          </a:custGeom>
          <a:ln w="5270">
            <a:solidFill>
              <a:srgbClr val="231F20"/>
            </a:solidFill>
          </a:ln>
        </p:spPr>
        <p:txBody>
          <a:bodyPr wrap="square" lIns="0" tIns="0" rIns="0" bIns="0" rtlCol="0"/>
          <a:lstStyle/>
          <a:p>
            <a:endParaRPr/>
          </a:p>
        </p:txBody>
      </p:sp>
      <p:sp>
        <p:nvSpPr>
          <p:cNvPr id="21" name="object 21"/>
          <p:cNvSpPr/>
          <p:nvPr/>
        </p:nvSpPr>
        <p:spPr>
          <a:xfrm>
            <a:off x="2560073" y="2283690"/>
            <a:ext cx="1733550" cy="0"/>
          </a:xfrm>
          <a:custGeom>
            <a:avLst/>
            <a:gdLst/>
            <a:ahLst/>
            <a:cxnLst/>
            <a:rect l="l" t="t" r="r" b="b"/>
            <a:pathLst>
              <a:path w="1733550">
                <a:moveTo>
                  <a:pt x="0" y="0"/>
                </a:moveTo>
                <a:lnTo>
                  <a:pt x="1733032" y="0"/>
                </a:lnTo>
              </a:path>
            </a:pathLst>
          </a:custGeom>
          <a:ln w="5270">
            <a:solidFill>
              <a:srgbClr val="231F20"/>
            </a:solidFill>
          </a:ln>
        </p:spPr>
        <p:txBody>
          <a:bodyPr wrap="square" lIns="0" tIns="0" rIns="0" bIns="0" rtlCol="0"/>
          <a:lstStyle/>
          <a:p>
            <a:endParaRPr/>
          </a:p>
        </p:txBody>
      </p:sp>
      <p:sp>
        <p:nvSpPr>
          <p:cNvPr id="22" name="object 22"/>
          <p:cNvSpPr/>
          <p:nvPr/>
        </p:nvSpPr>
        <p:spPr>
          <a:xfrm>
            <a:off x="2560073" y="2403210"/>
            <a:ext cx="1733550" cy="0"/>
          </a:xfrm>
          <a:custGeom>
            <a:avLst/>
            <a:gdLst/>
            <a:ahLst/>
            <a:cxnLst/>
            <a:rect l="l" t="t" r="r" b="b"/>
            <a:pathLst>
              <a:path w="1733550">
                <a:moveTo>
                  <a:pt x="0" y="0"/>
                </a:moveTo>
                <a:lnTo>
                  <a:pt x="1733032" y="0"/>
                </a:lnTo>
              </a:path>
            </a:pathLst>
          </a:custGeom>
          <a:ln w="5270">
            <a:solidFill>
              <a:srgbClr val="231F20"/>
            </a:solidFill>
          </a:ln>
        </p:spPr>
        <p:txBody>
          <a:bodyPr wrap="square" lIns="0" tIns="0" rIns="0" bIns="0" rtlCol="0"/>
          <a:lstStyle/>
          <a:p>
            <a:endParaRPr/>
          </a:p>
        </p:txBody>
      </p:sp>
      <p:sp>
        <p:nvSpPr>
          <p:cNvPr id="23" name="object 23"/>
          <p:cNvSpPr txBox="1"/>
          <p:nvPr/>
        </p:nvSpPr>
        <p:spPr>
          <a:xfrm>
            <a:off x="3384007" y="2158417"/>
            <a:ext cx="2508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W(x)b</a:t>
            </a:r>
            <a:endParaRPr sz="650">
              <a:latin typeface="Arial"/>
              <a:cs typeface="Arial"/>
            </a:endParaRPr>
          </a:p>
        </p:txBody>
      </p:sp>
      <p:sp>
        <p:nvSpPr>
          <p:cNvPr id="28" name="object 28"/>
          <p:cNvSpPr txBox="1"/>
          <p:nvPr/>
        </p:nvSpPr>
        <p:spPr>
          <a:xfrm>
            <a:off x="66713" y="3331252"/>
            <a:ext cx="67945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6" action="ppaction://hlinksldjump"/>
              </a:rPr>
              <a:t>Causal</a:t>
            </a:r>
            <a:r>
              <a:rPr sz="600" spc="-3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consistency</a:t>
            </a:r>
            <a:endParaRPr sz="600">
              <a:latin typeface="Arial"/>
              <a:cs typeface="Arial"/>
            </a:endParaRPr>
          </a:p>
        </p:txBody>
      </p:sp>
      <p:sp>
        <p:nvSpPr>
          <p:cNvPr id="29" name="object 29"/>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4" name="object 24"/>
          <p:cNvSpPr txBox="1"/>
          <p:nvPr/>
        </p:nvSpPr>
        <p:spPr>
          <a:xfrm>
            <a:off x="3716629" y="2397458"/>
            <a:ext cx="511809"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R(x)a </a:t>
            </a:r>
            <a:r>
              <a:rPr sz="650" spc="140" dirty="0">
                <a:solidFill>
                  <a:srgbClr val="231F20"/>
                </a:solidFill>
                <a:latin typeface="Arial"/>
                <a:cs typeface="Arial"/>
              </a:rPr>
              <a:t> </a:t>
            </a:r>
            <a:r>
              <a:rPr sz="650" spc="5" dirty="0">
                <a:solidFill>
                  <a:srgbClr val="231F20"/>
                </a:solidFill>
                <a:latin typeface="Arial"/>
                <a:cs typeface="Arial"/>
              </a:rPr>
              <a:t>R(x)b</a:t>
            </a:r>
            <a:endParaRPr sz="650">
              <a:latin typeface="Arial"/>
              <a:cs typeface="Arial"/>
            </a:endParaRPr>
          </a:p>
        </p:txBody>
      </p:sp>
      <p:sp>
        <p:nvSpPr>
          <p:cNvPr id="25" name="object 25"/>
          <p:cNvSpPr txBox="1"/>
          <p:nvPr/>
        </p:nvSpPr>
        <p:spPr>
          <a:xfrm>
            <a:off x="3682823" y="2277933"/>
            <a:ext cx="581025" cy="127000"/>
          </a:xfrm>
          <a:prstGeom prst="rect">
            <a:avLst/>
          </a:prstGeom>
        </p:spPr>
        <p:txBody>
          <a:bodyPr vert="horz" wrap="square" lIns="0" tIns="13970" rIns="0" bIns="0" rtlCol="0">
            <a:spAutoFit/>
          </a:bodyPr>
          <a:lstStyle/>
          <a:p>
            <a:pPr marL="12700">
              <a:lnSpc>
                <a:spcPct val="100000"/>
              </a:lnSpc>
              <a:spcBef>
                <a:spcPts val="110"/>
              </a:spcBef>
              <a:tabLst>
                <a:tab pos="361315" algn="l"/>
              </a:tabLst>
            </a:pPr>
            <a:r>
              <a:rPr sz="650" spc="5" dirty="0">
                <a:solidFill>
                  <a:srgbClr val="231F20"/>
                </a:solidFill>
                <a:latin typeface="Arial"/>
                <a:cs typeface="Arial"/>
              </a:rPr>
              <a:t>R(x)b	R(x)a</a:t>
            </a:r>
            <a:endParaRPr sz="650">
              <a:latin typeface="Arial"/>
              <a:cs typeface="Arial"/>
            </a:endParaRPr>
          </a:p>
        </p:txBody>
      </p:sp>
      <p:sp>
        <p:nvSpPr>
          <p:cNvPr id="26" name="object 26"/>
          <p:cNvSpPr txBox="1"/>
          <p:nvPr/>
        </p:nvSpPr>
        <p:spPr>
          <a:xfrm>
            <a:off x="1139621" y="2563119"/>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(a)</a:t>
            </a:r>
            <a:endParaRPr sz="1000">
              <a:latin typeface="Arial"/>
              <a:cs typeface="Arial"/>
            </a:endParaRPr>
          </a:p>
        </p:txBody>
      </p:sp>
      <p:sp>
        <p:nvSpPr>
          <p:cNvPr id="27" name="object 27"/>
          <p:cNvSpPr txBox="1"/>
          <p:nvPr/>
        </p:nvSpPr>
        <p:spPr>
          <a:xfrm>
            <a:off x="3334324" y="2563119"/>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(b)</a:t>
            </a:r>
            <a:endParaRPr sz="1000">
              <a:latin typeface="Arial"/>
              <a:cs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71247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Grouping</a:t>
            </a:r>
            <a:r>
              <a:rPr sz="600" spc="-3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operations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Data-centric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397354" y="716"/>
            <a:ext cx="11442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Consistent ordering</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of operations</a:t>
            </a:r>
            <a:endParaRPr sz="600">
              <a:latin typeface="Arial"/>
              <a:cs typeface="Arial"/>
            </a:endParaRPr>
          </a:p>
        </p:txBody>
      </p:sp>
      <p:sp>
        <p:nvSpPr>
          <p:cNvPr id="4" name="object 4"/>
          <p:cNvSpPr txBox="1"/>
          <p:nvPr/>
        </p:nvSpPr>
        <p:spPr>
          <a:xfrm>
            <a:off x="82600" y="188846"/>
            <a:ext cx="4153535" cy="179578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Grouping</a:t>
            </a:r>
            <a:r>
              <a:rPr sz="1400" spc="-15" dirty="0">
                <a:solidFill>
                  <a:srgbClr val="3333B2"/>
                </a:solidFill>
                <a:latin typeface="Arial"/>
                <a:cs typeface="Arial"/>
              </a:rPr>
              <a:t> </a:t>
            </a:r>
            <a:r>
              <a:rPr sz="1400" spc="10" dirty="0">
                <a:solidFill>
                  <a:srgbClr val="3333B2"/>
                </a:solidFill>
                <a:latin typeface="Arial"/>
                <a:cs typeface="Arial"/>
              </a:rPr>
              <a:t>operations</a:t>
            </a:r>
            <a:endParaRPr sz="1400">
              <a:latin typeface="Arial"/>
              <a:cs typeface="Arial"/>
            </a:endParaRPr>
          </a:p>
          <a:p>
            <a:pPr>
              <a:lnSpc>
                <a:spcPct val="100000"/>
              </a:lnSpc>
              <a:spcBef>
                <a:spcPts val="10"/>
              </a:spcBef>
            </a:pPr>
            <a:endParaRPr sz="2450">
              <a:latin typeface="Arial"/>
              <a:cs typeface="Arial"/>
            </a:endParaRPr>
          </a:p>
          <a:p>
            <a:pPr marL="276860">
              <a:lnSpc>
                <a:spcPct val="100000"/>
              </a:lnSpc>
            </a:pPr>
            <a:r>
              <a:rPr sz="1200" dirty="0">
                <a:solidFill>
                  <a:srgbClr val="3333B2"/>
                </a:solidFill>
                <a:latin typeface="Arial"/>
                <a:cs typeface="Arial"/>
              </a:rPr>
              <a:t>Entry</a:t>
            </a:r>
            <a:r>
              <a:rPr sz="1200" spc="-10" dirty="0">
                <a:solidFill>
                  <a:srgbClr val="3333B2"/>
                </a:solidFill>
                <a:latin typeface="Arial"/>
                <a:cs typeface="Arial"/>
              </a:rPr>
              <a:t> </a:t>
            </a:r>
            <a:r>
              <a:rPr sz="1200" spc="-5" dirty="0">
                <a:solidFill>
                  <a:srgbClr val="3333B2"/>
                </a:solidFill>
                <a:latin typeface="Arial"/>
                <a:cs typeface="Arial"/>
              </a:rPr>
              <a:t>consistency:</a:t>
            </a:r>
            <a:r>
              <a:rPr sz="1200" spc="70" dirty="0">
                <a:solidFill>
                  <a:srgbClr val="3333B2"/>
                </a:solidFill>
                <a:latin typeface="Arial"/>
                <a:cs typeface="Arial"/>
              </a:rPr>
              <a:t> </a:t>
            </a:r>
            <a:r>
              <a:rPr sz="1200" spc="-5" dirty="0">
                <a:solidFill>
                  <a:srgbClr val="3333B2"/>
                </a:solidFill>
                <a:latin typeface="Arial"/>
                <a:cs typeface="Arial"/>
              </a:rPr>
              <a:t>Definition</a:t>
            </a:r>
            <a:endParaRPr sz="1200">
              <a:latin typeface="Arial"/>
              <a:cs typeface="Arial"/>
            </a:endParaRPr>
          </a:p>
          <a:p>
            <a:pPr marL="554355" indent="-168275">
              <a:lnSpc>
                <a:spcPct val="100000"/>
              </a:lnSpc>
              <a:spcBef>
                <a:spcPts val="780"/>
              </a:spcBef>
              <a:buClr>
                <a:srgbClr val="3333B2"/>
              </a:buClr>
              <a:buChar char="►"/>
              <a:tabLst>
                <a:tab pos="554990" algn="l"/>
              </a:tabLst>
            </a:pPr>
            <a:r>
              <a:rPr sz="1000" spc="-5" dirty="0">
                <a:latin typeface="Arial"/>
                <a:cs typeface="Arial"/>
              </a:rPr>
              <a:t>Accesses</a:t>
            </a:r>
            <a:r>
              <a:rPr sz="1000" dirty="0">
                <a:latin typeface="Arial"/>
                <a:cs typeface="Arial"/>
              </a:rPr>
              <a:t> </a:t>
            </a:r>
            <a:r>
              <a:rPr sz="1000" spc="-5" dirty="0">
                <a:latin typeface="Arial"/>
                <a:cs typeface="Arial"/>
              </a:rPr>
              <a:t>to</a:t>
            </a:r>
            <a:r>
              <a:rPr sz="1000" dirty="0">
                <a:latin typeface="Arial"/>
                <a:cs typeface="Arial"/>
              </a:rPr>
              <a:t> </a:t>
            </a:r>
            <a:r>
              <a:rPr sz="1000" spc="-10" dirty="0">
                <a:solidFill>
                  <a:srgbClr val="FA0000"/>
                </a:solidFill>
                <a:latin typeface="Arial"/>
                <a:cs typeface="Arial"/>
              </a:rPr>
              <a:t>locks</a:t>
            </a:r>
            <a:r>
              <a:rPr sz="1000" dirty="0">
                <a:solidFill>
                  <a:srgbClr val="FA0000"/>
                </a:solidFill>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sequentially</a:t>
            </a:r>
            <a:r>
              <a:rPr sz="1000" dirty="0">
                <a:latin typeface="Arial"/>
                <a:cs typeface="Arial"/>
              </a:rPr>
              <a:t> </a:t>
            </a:r>
            <a:r>
              <a:rPr sz="1000" spc="-5" dirty="0">
                <a:latin typeface="Arial"/>
                <a:cs typeface="Arial"/>
              </a:rPr>
              <a:t>consistent.</a:t>
            </a:r>
            <a:endParaRPr sz="1000">
              <a:latin typeface="Arial"/>
              <a:cs typeface="Arial"/>
            </a:endParaRPr>
          </a:p>
          <a:p>
            <a:pPr marL="549910" marR="43180" indent="-163195">
              <a:lnSpc>
                <a:spcPct val="100000"/>
              </a:lnSpc>
              <a:spcBef>
                <a:spcPts val="590"/>
              </a:spcBef>
              <a:buClr>
                <a:srgbClr val="3333B2"/>
              </a:buClr>
              <a:buChar char="►"/>
              <a:tabLst>
                <a:tab pos="554990" algn="l"/>
              </a:tabLst>
            </a:pPr>
            <a:r>
              <a:rPr sz="1000" spc="-5" dirty="0">
                <a:latin typeface="Arial"/>
                <a:cs typeface="Arial"/>
              </a:rPr>
              <a:t>No</a:t>
            </a:r>
            <a:r>
              <a:rPr sz="1000" dirty="0">
                <a:latin typeface="Arial"/>
                <a:cs typeface="Arial"/>
              </a:rPr>
              <a:t> </a:t>
            </a:r>
            <a:r>
              <a:rPr sz="1000" spc="-5" dirty="0">
                <a:latin typeface="Arial"/>
                <a:cs typeface="Arial"/>
              </a:rPr>
              <a:t>access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a</a:t>
            </a:r>
            <a:r>
              <a:rPr sz="1000" spc="5" dirty="0">
                <a:latin typeface="Arial"/>
                <a:cs typeface="Arial"/>
              </a:rPr>
              <a:t> </a:t>
            </a:r>
            <a:r>
              <a:rPr sz="1000" spc="-10" dirty="0">
                <a:latin typeface="Arial"/>
                <a:cs typeface="Arial"/>
              </a:rPr>
              <a:t>lock</a:t>
            </a:r>
            <a:r>
              <a:rPr sz="1000" dirty="0">
                <a:latin typeface="Arial"/>
                <a:cs typeface="Arial"/>
              </a:rPr>
              <a:t> </a:t>
            </a:r>
            <a:r>
              <a:rPr sz="1000" spc="-5" dirty="0">
                <a:latin typeface="Arial"/>
                <a:cs typeface="Arial"/>
              </a:rPr>
              <a:t>is</a:t>
            </a:r>
            <a:r>
              <a:rPr sz="1000" dirty="0">
                <a:latin typeface="Arial"/>
                <a:cs typeface="Arial"/>
              </a:rPr>
              <a:t> </a:t>
            </a:r>
            <a:r>
              <a:rPr sz="1000" spc="-10" dirty="0">
                <a:latin typeface="Arial"/>
                <a:cs typeface="Arial"/>
              </a:rPr>
              <a:t>allowed</a:t>
            </a:r>
            <a:r>
              <a:rPr sz="1000"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performed</a:t>
            </a:r>
            <a:r>
              <a:rPr sz="1000" dirty="0">
                <a:latin typeface="Arial"/>
                <a:cs typeface="Arial"/>
              </a:rPr>
              <a:t> </a:t>
            </a:r>
            <a:r>
              <a:rPr sz="1000" spc="-5" dirty="0">
                <a:latin typeface="Arial"/>
                <a:cs typeface="Arial"/>
              </a:rPr>
              <a:t>until</a:t>
            </a:r>
            <a:r>
              <a:rPr sz="1000" dirty="0">
                <a:latin typeface="Arial"/>
                <a:cs typeface="Arial"/>
              </a:rPr>
              <a:t> </a:t>
            </a:r>
            <a:r>
              <a:rPr sz="1000" spc="-5" dirty="0">
                <a:latin typeface="Arial"/>
                <a:cs typeface="Arial"/>
              </a:rPr>
              <a:t>all</a:t>
            </a:r>
            <a:r>
              <a:rPr sz="1000" spc="5" dirty="0">
                <a:latin typeface="Arial"/>
                <a:cs typeface="Arial"/>
              </a:rPr>
              <a:t> </a:t>
            </a:r>
            <a:r>
              <a:rPr sz="1000" spc="-10" dirty="0">
                <a:latin typeface="Arial"/>
                <a:cs typeface="Arial"/>
              </a:rPr>
              <a:t>previous </a:t>
            </a:r>
            <a:r>
              <a:rPr sz="1000" spc="-265" dirty="0">
                <a:latin typeface="Arial"/>
                <a:cs typeface="Arial"/>
              </a:rPr>
              <a:t> </a:t>
            </a:r>
            <a:r>
              <a:rPr sz="1000" dirty="0">
                <a:latin typeface="Arial"/>
                <a:cs typeface="Arial"/>
              </a:rPr>
              <a:t>writes</a:t>
            </a:r>
            <a:r>
              <a:rPr sz="1000" spc="-10" dirty="0">
                <a:latin typeface="Arial"/>
                <a:cs typeface="Arial"/>
              </a:rPr>
              <a:t> </a:t>
            </a:r>
            <a:r>
              <a:rPr sz="1000" spc="-15" dirty="0">
                <a:latin typeface="Arial"/>
                <a:cs typeface="Arial"/>
              </a:rPr>
              <a:t>have</a:t>
            </a:r>
            <a:r>
              <a:rPr sz="1000" spc="-5" dirty="0">
                <a:latin typeface="Arial"/>
                <a:cs typeface="Arial"/>
              </a:rPr>
              <a:t> completed </a:t>
            </a:r>
            <a:r>
              <a:rPr sz="1000" spc="-10" dirty="0">
                <a:latin typeface="Arial"/>
                <a:cs typeface="Arial"/>
              </a:rPr>
              <a:t>everywhere.</a:t>
            </a:r>
            <a:endParaRPr sz="1000">
              <a:latin typeface="Arial"/>
              <a:cs typeface="Arial"/>
            </a:endParaRPr>
          </a:p>
          <a:p>
            <a:pPr marL="554355" marR="265430" indent="-168275">
              <a:lnSpc>
                <a:spcPct val="100000"/>
              </a:lnSpc>
              <a:spcBef>
                <a:spcPts val="590"/>
              </a:spcBef>
              <a:buClr>
                <a:srgbClr val="3333B2"/>
              </a:buClr>
              <a:buChar char="►"/>
              <a:tabLst>
                <a:tab pos="554990" algn="l"/>
              </a:tabLst>
            </a:pPr>
            <a:r>
              <a:rPr sz="1000" spc="-5" dirty="0">
                <a:latin typeface="Arial"/>
                <a:cs typeface="Arial"/>
              </a:rPr>
              <a:t>No</a:t>
            </a:r>
            <a:r>
              <a:rPr sz="1000" dirty="0">
                <a:latin typeface="Arial"/>
                <a:cs typeface="Arial"/>
              </a:rPr>
              <a:t> </a:t>
            </a:r>
            <a:r>
              <a:rPr sz="1000" spc="-5" dirty="0">
                <a:latin typeface="Arial"/>
                <a:cs typeface="Arial"/>
              </a:rPr>
              <a:t>data</a:t>
            </a:r>
            <a:r>
              <a:rPr sz="1000" dirty="0">
                <a:latin typeface="Arial"/>
                <a:cs typeface="Arial"/>
              </a:rPr>
              <a:t> </a:t>
            </a:r>
            <a:r>
              <a:rPr sz="1000" spc="-5" dirty="0">
                <a:latin typeface="Arial"/>
                <a:cs typeface="Arial"/>
              </a:rPr>
              <a:t>access</a:t>
            </a:r>
            <a:r>
              <a:rPr sz="1000" dirty="0">
                <a:latin typeface="Arial"/>
                <a:cs typeface="Arial"/>
              </a:rPr>
              <a:t> </a:t>
            </a:r>
            <a:r>
              <a:rPr sz="1000" spc="-5" dirty="0">
                <a:latin typeface="Arial"/>
                <a:cs typeface="Arial"/>
              </a:rPr>
              <a:t>is</a:t>
            </a:r>
            <a:r>
              <a:rPr sz="1000" spc="5" dirty="0">
                <a:latin typeface="Arial"/>
                <a:cs typeface="Arial"/>
              </a:rPr>
              <a:t> </a:t>
            </a:r>
            <a:r>
              <a:rPr sz="1000" spc="-10" dirty="0">
                <a:latin typeface="Arial"/>
                <a:cs typeface="Arial"/>
              </a:rPr>
              <a:t>allowed</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a:t>
            </a:r>
            <a:r>
              <a:rPr sz="1000" spc="5" dirty="0">
                <a:latin typeface="Arial"/>
                <a:cs typeface="Arial"/>
              </a:rPr>
              <a:t> </a:t>
            </a:r>
            <a:r>
              <a:rPr sz="1000" spc="-5" dirty="0">
                <a:latin typeface="Arial"/>
                <a:cs typeface="Arial"/>
              </a:rPr>
              <a:t>performed</a:t>
            </a:r>
            <a:r>
              <a:rPr sz="1000" dirty="0">
                <a:latin typeface="Arial"/>
                <a:cs typeface="Arial"/>
              </a:rPr>
              <a:t> </a:t>
            </a:r>
            <a:r>
              <a:rPr sz="1000" spc="-5" dirty="0">
                <a:latin typeface="Arial"/>
                <a:cs typeface="Arial"/>
              </a:rPr>
              <a:t>until</a:t>
            </a:r>
            <a:r>
              <a:rPr sz="1000" dirty="0">
                <a:latin typeface="Arial"/>
                <a:cs typeface="Arial"/>
              </a:rPr>
              <a:t> </a:t>
            </a:r>
            <a:r>
              <a:rPr sz="1000" spc="-5" dirty="0">
                <a:latin typeface="Arial"/>
                <a:cs typeface="Arial"/>
              </a:rPr>
              <a:t>all</a:t>
            </a:r>
            <a:r>
              <a:rPr sz="1000" spc="5" dirty="0">
                <a:latin typeface="Arial"/>
                <a:cs typeface="Arial"/>
              </a:rPr>
              <a:t> </a:t>
            </a:r>
            <a:r>
              <a:rPr sz="1000" spc="-10" dirty="0">
                <a:latin typeface="Arial"/>
                <a:cs typeface="Arial"/>
              </a:rPr>
              <a:t>previous </a:t>
            </a:r>
            <a:r>
              <a:rPr sz="1000" spc="-265" dirty="0">
                <a:latin typeface="Arial"/>
                <a:cs typeface="Arial"/>
              </a:rPr>
              <a:t> </a:t>
            </a:r>
            <a:r>
              <a:rPr sz="1000" spc="-5" dirty="0">
                <a:latin typeface="Arial"/>
                <a:cs typeface="Arial"/>
              </a:rPr>
              <a:t>accesses</a:t>
            </a:r>
            <a:r>
              <a:rPr sz="1000" spc="-10" dirty="0">
                <a:latin typeface="Arial"/>
                <a:cs typeface="Arial"/>
              </a:rPr>
              <a:t> </a:t>
            </a:r>
            <a:r>
              <a:rPr sz="1000" spc="-5" dirty="0">
                <a:latin typeface="Arial"/>
                <a:cs typeface="Arial"/>
              </a:rPr>
              <a:t>to </a:t>
            </a:r>
            <a:r>
              <a:rPr sz="1000" spc="-10" dirty="0">
                <a:latin typeface="Arial"/>
                <a:cs typeface="Arial"/>
              </a:rPr>
              <a:t>locks</a:t>
            </a:r>
            <a:r>
              <a:rPr sz="1000" spc="-5" dirty="0">
                <a:latin typeface="Arial"/>
                <a:cs typeface="Arial"/>
              </a:rPr>
              <a:t> </a:t>
            </a:r>
            <a:r>
              <a:rPr sz="1000" spc="-15" dirty="0">
                <a:latin typeface="Arial"/>
                <a:cs typeface="Arial"/>
              </a:rPr>
              <a:t>have</a:t>
            </a:r>
            <a:r>
              <a:rPr sz="1000" spc="-5" dirty="0">
                <a:latin typeface="Arial"/>
                <a:cs typeface="Arial"/>
              </a:rPr>
              <a:t> been performed.</a:t>
            </a:r>
            <a:endParaRPr sz="1000">
              <a:latin typeface="Arial"/>
              <a:cs typeface="Aria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1247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Grouping</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operations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Consistency</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and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replication:</a:t>
            </a:r>
            <a:r>
              <a:rPr sz="600" spc="175" dirty="0">
                <a:solidFill>
                  <a:srgbClr val="3333B2"/>
                </a:solidFill>
                <a:latin typeface="Arial"/>
                <a:cs typeface="Arial"/>
              </a:rPr>
              <a:t> </a:t>
            </a:r>
            <a:r>
              <a:rPr sz="600" spc="-5" dirty="0">
                <a:solidFill>
                  <a:srgbClr val="3333B2"/>
                </a:solidFill>
                <a:latin typeface="Arial"/>
                <a:cs typeface="Arial"/>
                <a:hlinkClick r:id="rId5" action="ppaction://hlinksldjump"/>
              </a:rPr>
              <a:t>Data-centric</a:t>
            </a:r>
            <a:r>
              <a:rPr sz="600" spc="1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consistency</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models</a:t>
            </a:r>
            <a:endParaRPr sz="600">
              <a:latin typeface="Arial"/>
              <a:cs typeface="Arial"/>
            </a:endParaRPr>
          </a:p>
        </p:txBody>
      </p:sp>
      <p:sp>
        <p:nvSpPr>
          <p:cNvPr id="3" name="object 3"/>
          <p:cNvSpPr txBox="1"/>
          <p:nvPr/>
        </p:nvSpPr>
        <p:spPr>
          <a:xfrm>
            <a:off x="3397354" y="716"/>
            <a:ext cx="11442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Consistent ordering</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of operations</a:t>
            </a:r>
            <a:endParaRPr sz="600">
              <a:latin typeface="Arial"/>
              <a:cs typeface="Arial"/>
            </a:endParaRPr>
          </a:p>
        </p:txBody>
      </p:sp>
      <p:sp>
        <p:nvSpPr>
          <p:cNvPr id="4" name="object 4"/>
          <p:cNvSpPr txBox="1"/>
          <p:nvPr/>
        </p:nvSpPr>
        <p:spPr>
          <a:xfrm>
            <a:off x="69900" y="188846"/>
            <a:ext cx="4185920" cy="2618105"/>
          </a:xfrm>
          <a:prstGeom prst="rect">
            <a:avLst/>
          </a:prstGeom>
        </p:spPr>
        <p:txBody>
          <a:bodyPr vert="horz" wrap="square" lIns="0" tIns="17145" rIns="0" bIns="0" rtlCol="0">
            <a:spAutoFit/>
          </a:bodyPr>
          <a:lstStyle/>
          <a:p>
            <a:pPr marL="38100">
              <a:lnSpc>
                <a:spcPct val="100000"/>
              </a:lnSpc>
              <a:spcBef>
                <a:spcPts val="135"/>
              </a:spcBef>
            </a:pPr>
            <a:r>
              <a:rPr sz="1400" spc="15" dirty="0">
                <a:solidFill>
                  <a:srgbClr val="3333B2"/>
                </a:solidFill>
                <a:latin typeface="Arial"/>
                <a:cs typeface="Arial"/>
              </a:rPr>
              <a:t>Grouping</a:t>
            </a:r>
            <a:r>
              <a:rPr sz="1400" spc="-15" dirty="0">
                <a:solidFill>
                  <a:srgbClr val="3333B2"/>
                </a:solidFill>
                <a:latin typeface="Arial"/>
                <a:cs typeface="Arial"/>
              </a:rPr>
              <a:t> </a:t>
            </a:r>
            <a:r>
              <a:rPr sz="1400" spc="10" dirty="0">
                <a:solidFill>
                  <a:srgbClr val="3333B2"/>
                </a:solidFill>
                <a:latin typeface="Arial"/>
                <a:cs typeface="Arial"/>
              </a:rPr>
              <a:t>operations</a:t>
            </a:r>
            <a:endParaRPr sz="1400">
              <a:latin typeface="Arial"/>
              <a:cs typeface="Arial"/>
            </a:endParaRPr>
          </a:p>
          <a:p>
            <a:pPr>
              <a:lnSpc>
                <a:spcPct val="100000"/>
              </a:lnSpc>
              <a:spcBef>
                <a:spcPts val="10"/>
              </a:spcBef>
            </a:pPr>
            <a:endParaRPr sz="2450">
              <a:latin typeface="Arial"/>
              <a:cs typeface="Arial"/>
            </a:endParaRPr>
          </a:p>
          <a:p>
            <a:pPr marL="289560">
              <a:lnSpc>
                <a:spcPct val="100000"/>
              </a:lnSpc>
            </a:pPr>
            <a:r>
              <a:rPr sz="1200" dirty="0">
                <a:solidFill>
                  <a:srgbClr val="3333B2"/>
                </a:solidFill>
                <a:latin typeface="Arial"/>
                <a:cs typeface="Arial"/>
              </a:rPr>
              <a:t>Entry</a:t>
            </a:r>
            <a:r>
              <a:rPr sz="1200" spc="-10" dirty="0">
                <a:solidFill>
                  <a:srgbClr val="3333B2"/>
                </a:solidFill>
                <a:latin typeface="Arial"/>
                <a:cs typeface="Arial"/>
              </a:rPr>
              <a:t> </a:t>
            </a:r>
            <a:r>
              <a:rPr sz="1200" spc="-5" dirty="0">
                <a:solidFill>
                  <a:srgbClr val="3333B2"/>
                </a:solidFill>
                <a:latin typeface="Arial"/>
                <a:cs typeface="Arial"/>
              </a:rPr>
              <a:t>consistency:</a:t>
            </a:r>
            <a:r>
              <a:rPr sz="1200" spc="70" dirty="0">
                <a:solidFill>
                  <a:srgbClr val="3333B2"/>
                </a:solidFill>
                <a:latin typeface="Arial"/>
                <a:cs typeface="Arial"/>
              </a:rPr>
              <a:t> </a:t>
            </a:r>
            <a:r>
              <a:rPr sz="1200" spc="-5" dirty="0">
                <a:solidFill>
                  <a:srgbClr val="3333B2"/>
                </a:solidFill>
                <a:latin typeface="Arial"/>
                <a:cs typeface="Arial"/>
              </a:rPr>
              <a:t>Definition</a:t>
            </a:r>
            <a:endParaRPr sz="1200">
              <a:latin typeface="Arial"/>
              <a:cs typeface="Arial"/>
            </a:endParaRPr>
          </a:p>
          <a:p>
            <a:pPr marL="567055" indent="-168275">
              <a:lnSpc>
                <a:spcPct val="100000"/>
              </a:lnSpc>
              <a:spcBef>
                <a:spcPts val="780"/>
              </a:spcBef>
              <a:buClr>
                <a:srgbClr val="3333B2"/>
              </a:buClr>
              <a:buChar char="►"/>
              <a:tabLst>
                <a:tab pos="567690" algn="l"/>
              </a:tabLst>
            </a:pPr>
            <a:r>
              <a:rPr sz="1000" spc="-5" dirty="0">
                <a:latin typeface="Arial"/>
                <a:cs typeface="Arial"/>
              </a:rPr>
              <a:t>Accesses</a:t>
            </a:r>
            <a:r>
              <a:rPr sz="1000" dirty="0">
                <a:latin typeface="Arial"/>
                <a:cs typeface="Arial"/>
              </a:rPr>
              <a:t> </a:t>
            </a:r>
            <a:r>
              <a:rPr sz="1000" spc="-5" dirty="0">
                <a:latin typeface="Arial"/>
                <a:cs typeface="Arial"/>
              </a:rPr>
              <a:t>to</a:t>
            </a:r>
            <a:r>
              <a:rPr sz="1000" dirty="0">
                <a:latin typeface="Arial"/>
                <a:cs typeface="Arial"/>
              </a:rPr>
              <a:t> </a:t>
            </a:r>
            <a:r>
              <a:rPr sz="1000" spc="-10" dirty="0">
                <a:solidFill>
                  <a:srgbClr val="FA0000"/>
                </a:solidFill>
                <a:latin typeface="Arial"/>
                <a:cs typeface="Arial"/>
              </a:rPr>
              <a:t>locks</a:t>
            </a:r>
            <a:r>
              <a:rPr sz="1000" dirty="0">
                <a:solidFill>
                  <a:srgbClr val="FA0000"/>
                </a:solidFill>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sequentially</a:t>
            </a:r>
            <a:r>
              <a:rPr sz="1000" dirty="0">
                <a:latin typeface="Arial"/>
                <a:cs typeface="Arial"/>
              </a:rPr>
              <a:t> </a:t>
            </a:r>
            <a:r>
              <a:rPr sz="1000" spc="-5" dirty="0">
                <a:latin typeface="Arial"/>
                <a:cs typeface="Arial"/>
              </a:rPr>
              <a:t>consistent.</a:t>
            </a:r>
            <a:endParaRPr sz="1000">
              <a:latin typeface="Arial"/>
              <a:cs typeface="Arial"/>
            </a:endParaRPr>
          </a:p>
          <a:p>
            <a:pPr marL="562610" marR="62230" indent="-163195">
              <a:lnSpc>
                <a:spcPct val="100000"/>
              </a:lnSpc>
              <a:spcBef>
                <a:spcPts val="590"/>
              </a:spcBef>
              <a:buClr>
                <a:srgbClr val="3333B2"/>
              </a:buClr>
              <a:buChar char="►"/>
              <a:tabLst>
                <a:tab pos="567690" algn="l"/>
              </a:tabLst>
            </a:pPr>
            <a:r>
              <a:rPr sz="1000" spc="-5" dirty="0">
                <a:latin typeface="Arial"/>
                <a:cs typeface="Arial"/>
              </a:rPr>
              <a:t>No</a:t>
            </a:r>
            <a:r>
              <a:rPr sz="1000" dirty="0">
                <a:latin typeface="Arial"/>
                <a:cs typeface="Arial"/>
              </a:rPr>
              <a:t> </a:t>
            </a:r>
            <a:r>
              <a:rPr sz="1000" spc="-5" dirty="0">
                <a:latin typeface="Arial"/>
                <a:cs typeface="Arial"/>
              </a:rPr>
              <a:t>access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a</a:t>
            </a:r>
            <a:r>
              <a:rPr sz="1000" spc="5" dirty="0">
                <a:latin typeface="Arial"/>
                <a:cs typeface="Arial"/>
              </a:rPr>
              <a:t> </a:t>
            </a:r>
            <a:r>
              <a:rPr sz="1000" spc="-10" dirty="0">
                <a:latin typeface="Arial"/>
                <a:cs typeface="Arial"/>
              </a:rPr>
              <a:t>lock</a:t>
            </a:r>
            <a:r>
              <a:rPr sz="1000" dirty="0">
                <a:latin typeface="Arial"/>
                <a:cs typeface="Arial"/>
              </a:rPr>
              <a:t> </a:t>
            </a:r>
            <a:r>
              <a:rPr sz="1000" spc="-5" dirty="0">
                <a:latin typeface="Arial"/>
                <a:cs typeface="Arial"/>
              </a:rPr>
              <a:t>is</a:t>
            </a:r>
            <a:r>
              <a:rPr sz="1000" dirty="0">
                <a:latin typeface="Arial"/>
                <a:cs typeface="Arial"/>
              </a:rPr>
              <a:t> </a:t>
            </a:r>
            <a:r>
              <a:rPr sz="1000" spc="-10" dirty="0">
                <a:latin typeface="Arial"/>
                <a:cs typeface="Arial"/>
              </a:rPr>
              <a:t>allowed</a:t>
            </a:r>
            <a:r>
              <a:rPr sz="1000"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performed</a:t>
            </a:r>
            <a:r>
              <a:rPr sz="1000" dirty="0">
                <a:latin typeface="Arial"/>
                <a:cs typeface="Arial"/>
              </a:rPr>
              <a:t> </a:t>
            </a:r>
            <a:r>
              <a:rPr sz="1000" spc="-5" dirty="0">
                <a:latin typeface="Arial"/>
                <a:cs typeface="Arial"/>
              </a:rPr>
              <a:t>until</a:t>
            </a:r>
            <a:r>
              <a:rPr sz="1000" dirty="0">
                <a:latin typeface="Arial"/>
                <a:cs typeface="Arial"/>
              </a:rPr>
              <a:t> </a:t>
            </a:r>
            <a:r>
              <a:rPr sz="1000" spc="-5" dirty="0">
                <a:latin typeface="Arial"/>
                <a:cs typeface="Arial"/>
              </a:rPr>
              <a:t>all</a:t>
            </a:r>
            <a:r>
              <a:rPr sz="1000" spc="5" dirty="0">
                <a:latin typeface="Arial"/>
                <a:cs typeface="Arial"/>
              </a:rPr>
              <a:t> </a:t>
            </a:r>
            <a:r>
              <a:rPr sz="1000" spc="-10" dirty="0">
                <a:latin typeface="Arial"/>
                <a:cs typeface="Arial"/>
              </a:rPr>
              <a:t>previous </a:t>
            </a:r>
            <a:r>
              <a:rPr sz="1000" spc="-265" dirty="0">
                <a:latin typeface="Arial"/>
                <a:cs typeface="Arial"/>
              </a:rPr>
              <a:t> </a:t>
            </a:r>
            <a:r>
              <a:rPr sz="1000" dirty="0">
                <a:latin typeface="Arial"/>
                <a:cs typeface="Arial"/>
              </a:rPr>
              <a:t>writes</a:t>
            </a:r>
            <a:r>
              <a:rPr sz="1000" spc="-10" dirty="0">
                <a:latin typeface="Arial"/>
                <a:cs typeface="Arial"/>
              </a:rPr>
              <a:t> </a:t>
            </a:r>
            <a:r>
              <a:rPr sz="1000" spc="-15" dirty="0">
                <a:latin typeface="Arial"/>
                <a:cs typeface="Arial"/>
              </a:rPr>
              <a:t>have</a:t>
            </a:r>
            <a:r>
              <a:rPr sz="1000" spc="-5" dirty="0">
                <a:latin typeface="Arial"/>
                <a:cs typeface="Arial"/>
              </a:rPr>
              <a:t> completed </a:t>
            </a:r>
            <a:r>
              <a:rPr sz="1000" spc="-10" dirty="0">
                <a:latin typeface="Arial"/>
                <a:cs typeface="Arial"/>
              </a:rPr>
              <a:t>everywhere.</a:t>
            </a:r>
            <a:endParaRPr sz="1000">
              <a:latin typeface="Arial"/>
              <a:cs typeface="Arial"/>
            </a:endParaRPr>
          </a:p>
          <a:p>
            <a:pPr marL="567055" marR="285115" indent="-168275">
              <a:lnSpc>
                <a:spcPct val="100000"/>
              </a:lnSpc>
              <a:spcBef>
                <a:spcPts val="590"/>
              </a:spcBef>
              <a:buClr>
                <a:srgbClr val="3333B2"/>
              </a:buClr>
              <a:buChar char="►"/>
              <a:tabLst>
                <a:tab pos="567690" algn="l"/>
              </a:tabLst>
            </a:pPr>
            <a:r>
              <a:rPr sz="1000" spc="-5" dirty="0">
                <a:latin typeface="Arial"/>
                <a:cs typeface="Arial"/>
              </a:rPr>
              <a:t>No</a:t>
            </a:r>
            <a:r>
              <a:rPr sz="1000" dirty="0">
                <a:latin typeface="Arial"/>
                <a:cs typeface="Arial"/>
              </a:rPr>
              <a:t> </a:t>
            </a:r>
            <a:r>
              <a:rPr sz="1000" spc="-5" dirty="0">
                <a:latin typeface="Arial"/>
                <a:cs typeface="Arial"/>
              </a:rPr>
              <a:t>data</a:t>
            </a:r>
            <a:r>
              <a:rPr sz="1000" dirty="0">
                <a:latin typeface="Arial"/>
                <a:cs typeface="Arial"/>
              </a:rPr>
              <a:t> </a:t>
            </a:r>
            <a:r>
              <a:rPr sz="1000" spc="-5" dirty="0">
                <a:latin typeface="Arial"/>
                <a:cs typeface="Arial"/>
              </a:rPr>
              <a:t>access</a:t>
            </a:r>
            <a:r>
              <a:rPr sz="1000" dirty="0">
                <a:latin typeface="Arial"/>
                <a:cs typeface="Arial"/>
              </a:rPr>
              <a:t> </a:t>
            </a:r>
            <a:r>
              <a:rPr sz="1000" spc="-5" dirty="0">
                <a:latin typeface="Arial"/>
                <a:cs typeface="Arial"/>
              </a:rPr>
              <a:t>is</a:t>
            </a:r>
            <a:r>
              <a:rPr sz="1000" spc="5" dirty="0">
                <a:latin typeface="Arial"/>
                <a:cs typeface="Arial"/>
              </a:rPr>
              <a:t> </a:t>
            </a:r>
            <a:r>
              <a:rPr sz="1000" spc="-10" dirty="0">
                <a:latin typeface="Arial"/>
                <a:cs typeface="Arial"/>
              </a:rPr>
              <a:t>allowed</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a:t>
            </a:r>
            <a:r>
              <a:rPr sz="1000" spc="5" dirty="0">
                <a:latin typeface="Arial"/>
                <a:cs typeface="Arial"/>
              </a:rPr>
              <a:t> </a:t>
            </a:r>
            <a:r>
              <a:rPr sz="1000" spc="-5" dirty="0">
                <a:latin typeface="Arial"/>
                <a:cs typeface="Arial"/>
              </a:rPr>
              <a:t>performed</a:t>
            </a:r>
            <a:r>
              <a:rPr sz="1000" dirty="0">
                <a:latin typeface="Arial"/>
                <a:cs typeface="Arial"/>
              </a:rPr>
              <a:t> </a:t>
            </a:r>
            <a:r>
              <a:rPr sz="1000" spc="-5" dirty="0">
                <a:latin typeface="Arial"/>
                <a:cs typeface="Arial"/>
              </a:rPr>
              <a:t>until</a:t>
            </a:r>
            <a:r>
              <a:rPr sz="1000" dirty="0">
                <a:latin typeface="Arial"/>
                <a:cs typeface="Arial"/>
              </a:rPr>
              <a:t> </a:t>
            </a:r>
            <a:r>
              <a:rPr sz="1000" spc="-5" dirty="0">
                <a:latin typeface="Arial"/>
                <a:cs typeface="Arial"/>
              </a:rPr>
              <a:t>all</a:t>
            </a:r>
            <a:r>
              <a:rPr sz="1000" spc="5" dirty="0">
                <a:latin typeface="Arial"/>
                <a:cs typeface="Arial"/>
              </a:rPr>
              <a:t> </a:t>
            </a:r>
            <a:r>
              <a:rPr sz="1000" spc="-10" dirty="0">
                <a:latin typeface="Arial"/>
                <a:cs typeface="Arial"/>
              </a:rPr>
              <a:t>previous </a:t>
            </a:r>
            <a:r>
              <a:rPr sz="1000" spc="-265" dirty="0">
                <a:latin typeface="Arial"/>
                <a:cs typeface="Arial"/>
              </a:rPr>
              <a:t> </a:t>
            </a:r>
            <a:r>
              <a:rPr sz="1000" spc="-5" dirty="0">
                <a:latin typeface="Arial"/>
                <a:cs typeface="Arial"/>
              </a:rPr>
              <a:t>accesses</a:t>
            </a:r>
            <a:r>
              <a:rPr sz="1000" spc="-10" dirty="0">
                <a:latin typeface="Arial"/>
                <a:cs typeface="Arial"/>
              </a:rPr>
              <a:t> </a:t>
            </a:r>
            <a:r>
              <a:rPr sz="1000" spc="-5" dirty="0">
                <a:latin typeface="Arial"/>
                <a:cs typeface="Arial"/>
              </a:rPr>
              <a:t>to </a:t>
            </a:r>
            <a:r>
              <a:rPr sz="1000" spc="-10" dirty="0">
                <a:latin typeface="Arial"/>
                <a:cs typeface="Arial"/>
              </a:rPr>
              <a:t>locks</a:t>
            </a:r>
            <a:r>
              <a:rPr sz="1000" spc="-5" dirty="0">
                <a:latin typeface="Arial"/>
                <a:cs typeface="Arial"/>
              </a:rPr>
              <a:t> </a:t>
            </a:r>
            <a:r>
              <a:rPr sz="1000" spc="-15" dirty="0">
                <a:latin typeface="Arial"/>
                <a:cs typeface="Arial"/>
              </a:rPr>
              <a:t>have</a:t>
            </a:r>
            <a:r>
              <a:rPr sz="1000" spc="-5" dirty="0">
                <a:latin typeface="Arial"/>
                <a:cs typeface="Arial"/>
              </a:rPr>
              <a:t> been performed.</a:t>
            </a:r>
            <a:endParaRPr sz="1000">
              <a:latin typeface="Arial"/>
              <a:cs typeface="Arial"/>
            </a:endParaRPr>
          </a:p>
          <a:p>
            <a:pPr>
              <a:lnSpc>
                <a:spcPct val="100000"/>
              </a:lnSpc>
            </a:pPr>
            <a:endParaRPr sz="1300">
              <a:latin typeface="Arial"/>
              <a:cs typeface="Arial"/>
            </a:endParaRPr>
          </a:p>
          <a:p>
            <a:pPr marL="289560">
              <a:lnSpc>
                <a:spcPts val="1410"/>
              </a:lnSpc>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idea</a:t>
            </a:r>
            <a:endParaRPr sz="1200">
              <a:latin typeface="Arial"/>
              <a:cs typeface="Arial"/>
            </a:endParaRPr>
          </a:p>
          <a:p>
            <a:pPr marL="289560" marR="17780" indent="-4445">
              <a:lnSpc>
                <a:spcPts val="1200"/>
              </a:lnSpc>
              <a:spcBef>
                <a:spcPts val="10"/>
              </a:spcBef>
            </a:pPr>
            <a:r>
              <a:rPr sz="1000" spc="-50" dirty="0">
                <a:latin typeface="Arial"/>
                <a:cs typeface="Arial"/>
              </a:rPr>
              <a:t>You</a:t>
            </a:r>
            <a:r>
              <a:rPr sz="1000" spc="-5" dirty="0">
                <a:latin typeface="Arial"/>
                <a:cs typeface="Arial"/>
              </a:rPr>
              <a:t> don’t care</a:t>
            </a:r>
            <a:r>
              <a:rPr sz="1000" dirty="0">
                <a:latin typeface="Arial"/>
                <a:cs typeface="Arial"/>
              </a:rPr>
              <a:t> </a:t>
            </a:r>
            <a:r>
              <a:rPr sz="1000" spc="-5" dirty="0">
                <a:latin typeface="Arial"/>
                <a:cs typeface="Arial"/>
              </a:rPr>
              <a:t>that reads</a:t>
            </a:r>
            <a:r>
              <a:rPr sz="1000" dirty="0">
                <a:latin typeface="Arial"/>
                <a:cs typeface="Arial"/>
              </a:rPr>
              <a:t> </a:t>
            </a:r>
            <a:r>
              <a:rPr sz="1000" spc="-5" dirty="0">
                <a:latin typeface="Arial"/>
                <a:cs typeface="Arial"/>
              </a:rPr>
              <a:t>and </a:t>
            </a:r>
            <a:r>
              <a:rPr sz="1000" dirty="0">
                <a:latin typeface="Arial"/>
                <a:cs typeface="Arial"/>
              </a:rPr>
              <a:t>writes </a:t>
            </a:r>
            <a:r>
              <a:rPr sz="1000" spc="-5" dirty="0">
                <a:latin typeface="Arial"/>
                <a:cs typeface="Arial"/>
              </a:rPr>
              <a:t>of a</a:t>
            </a:r>
            <a:r>
              <a:rPr sz="1000" dirty="0">
                <a:latin typeface="Arial"/>
                <a:cs typeface="Arial"/>
              </a:rPr>
              <a:t> </a:t>
            </a:r>
            <a:r>
              <a:rPr sz="1000" spc="-5" dirty="0">
                <a:solidFill>
                  <a:srgbClr val="0000FA"/>
                </a:solidFill>
                <a:latin typeface="Arial"/>
                <a:cs typeface="Arial"/>
              </a:rPr>
              <a:t>series </a:t>
            </a:r>
            <a:r>
              <a:rPr sz="1000" spc="-5" dirty="0">
                <a:latin typeface="Arial"/>
                <a:cs typeface="Arial"/>
              </a:rPr>
              <a:t>of operations</a:t>
            </a:r>
            <a:r>
              <a:rPr sz="1000" dirty="0">
                <a:latin typeface="Arial"/>
                <a:cs typeface="Arial"/>
              </a:rPr>
              <a:t> </a:t>
            </a:r>
            <a:r>
              <a:rPr sz="1000" spc="-5" dirty="0">
                <a:latin typeface="Arial"/>
                <a:cs typeface="Arial"/>
              </a:rPr>
              <a:t>are </a:t>
            </a:r>
            <a:r>
              <a:rPr sz="1000" dirty="0">
                <a:latin typeface="Arial"/>
                <a:cs typeface="Arial"/>
              </a:rPr>
              <a:t> </a:t>
            </a:r>
            <a:r>
              <a:rPr sz="1000" spc="-5" dirty="0">
                <a:latin typeface="Arial"/>
                <a:cs typeface="Arial"/>
              </a:rPr>
              <a:t>immediately</a:t>
            </a:r>
            <a:r>
              <a:rPr sz="1000" dirty="0">
                <a:latin typeface="Arial"/>
                <a:cs typeface="Arial"/>
              </a:rPr>
              <a:t> </a:t>
            </a:r>
            <a:r>
              <a:rPr sz="1000" spc="-10" dirty="0">
                <a:latin typeface="Arial"/>
                <a:cs typeface="Arial"/>
              </a:rPr>
              <a:t>known</a:t>
            </a:r>
            <a:r>
              <a:rPr sz="1000"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other</a:t>
            </a:r>
            <a:r>
              <a:rPr sz="1000" dirty="0">
                <a:latin typeface="Arial"/>
                <a:cs typeface="Arial"/>
              </a:rPr>
              <a:t> </a:t>
            </a:r>
            <a:r>
              <a:rPr sz="1000" spc="-5" dirty="0">
                <a:latin typeface="Arial"/>
                <a:cs typeface="Arial"/>
              </a:rPr>
              <a:t>processes.</a:t>
            </a:r>
            <a:r>
              <a:rPr sz="1000" spc="70" dirty="0">
                <a:latin typeface="Arial"/>
                <a:cs typeface="Arial"/>
              </a:rPr>
              <a:t> </a:t>
            </a:r>
            <a:r>
              <a:rPr sz="1000" spc="-50" dirty="0">
                <a:latin typeface="Arial"/>
                <a:cs typeface="Arial"/>
              </a:rPr>
              <a:t>You</a:t>
            </a:r>
            <a:r>
              <a:rPr sz="1000" dirty="0">
                <a:latin typeface="Arial"/>
                <a:cs typeface="Arial"/>
              </a:rPr>
              <a:t> </a:t>
            </a:r>
            <a:r>
              <a:rPr sz="1000" spc="-5" dirty="0">
                <a:latin typeface="Arial"/>
                <a:cs typeface="Arial"/>
              </a:rPr>
              <a:t>just</a:t>
            </a:r>
            <a:r>
              <a:rPr sz="1000" dirty="0">
                <a:latin typeface="Arial"/>
                <a:cs typeface="Arial"/>
              </a:rPr>
              <a:t> </a:t>
            </a:r>
            <a:r>
              <a:rPr sz="1000" spc="-10" dirty="0">
                <a:latin typeface="Arial"/>
                <a:cs typeface="Arial"/>
              </a:rPr>
              <a:t>want</a:t>
            </a:r>
            <a:r>
              <a:rPr sz="1000" spc="5" dirty="0">
                <a:latin typeface="Arial"/>
                <a:cs typeface="Arial"/>
              </a:rPr>
              <a:t> </a:t>
            </a:r>
            <a:r>
              <a:rPr sz="1000" spc="-5" dirty="0">
                <a:latin typeface="Arial"/>
                <a:cs typeface="Arial"/>
              </a:rPr>
              <a:t>the</a:t>
            </a:r>
            <a:r>
              <a:rPr sz="1000" dirty="0">
                <a:latin typeface="Arial"/>
                <a:cs typeface="Arial"/>
              </a:rPr>
              <a:t> </a:t>
            </a:r>
            <a:r>
              <a:rPr sz="1000" spc="-10" dirty="0">
                <a:solidFill>
                  <a:srgbClr val="0000FA"/>
                </a:solidFill>
                <a:latin typeface="Arial"/>
                <a:cs typeface="Arial"/>
              </a:rPr>
              <a:t>effect</a:t>
            </a:r>
            <a:r>
              <a:rPr sz="1000" dirty="0">
                <a:solidFill>
                  <a:srgbClr val="0000FA"/>
                </a:solidFill>
                <a:latin typeface="Arial"/>
                <a:cs typeface="Arial"/>
              </a:rPr>
              <a:t> </a:t>
            </a:r>
            <a:r>
              <a:rPr sz="1000" spc="-5" dirty="0">
                <a:latin typeface="Arial"/>
                <a:cs typeface="Arial"/>
              </a:rPr>
              <a:t>of</a:t>
            </a:r>
            <a:r>
              <a:rPr sz="1000" spc="5"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series</a:t>
            </a:r>
            <a:r>
              <a:rPr sz="1000" spc="-10" dirty="0">
                <a:latin typeface="Arial"/>
                <a:cs typeface="Arial"/>
              </a:rPr>
              <a:t> </a:t>
            </a:r>
            <a:r>
              <a:rPr sz="1000" spc="-5" dirty="0">
                <a:latin typeface="Arial"/>
                <a:cs typeface="Arial"/>
              </a:rPr>
              <a:t>itself to be known.</a:t>
            </a:r>
            <a:endParaRPr sz="1000">
              <a:latin typeface="Arial"/>
              <a:cs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21088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Data-centric</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397354" y="716"/>
            <a:ext cx="11442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Consistent ordering</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of operations</a:t>
            </a:r>
            <a:endParaRPr sz="600">
              <a:latin typeface="Arial"/>
              <a:cs typeface="Arial"/>
            </a:endParaRPr>
          </a:p>
        </p:txBody>
      </p:sp>
      <p:sp>
        <p:nvSpPr>
          <p:cNvPr id="4" name="object 4"/>
          <p:cNvSpPr/>
          <p:nvPr/>
        </p:nvSpPr>
        <p:spPr>
          <a:xfrm>
            <a:off x="943268" y="1193003"/>
            <a:ext cx="2725420" cy="0"/>
          </a:xfrm>
          <a:custGeom>
            <a:avLst/>
            <a:gdLst/>
            <a:ahLst/>
            <a:cxnLst/>
            <a:rect l="l" t="t" r="r" b="b"/>
            <a:pathLst>
              <a:path w="2725420">
                <a:moveTo>
                  <a:pt x="0" y="0"/>
                </a:moveTo>
                <a:lnTo>
                  <a:pt x="2725271" y="0"/>
                </a:lnTo>
              </a:path>
            </a:pathLst>
          </a:custGeom>
          <a:ln w="6350">
            <a:solidFill>
              <a:srgbClr val="231F20"/>
            </a:solidFill>
          </a:ln>
        </p:spPr>
        <p:txBody>
          <a:bodyPr wrap="square" lIns="0" tIns="0" rIns="0" bIns="0" rtlCol="0"/>
          <a:lstStyle/>
          <a:p>
            <a:endParaRPr/>
          </a:p>
        </p:txBody>
      </p:sp>
      <p:sp>
        <p:nvSpPr>
          <p:cNvPr id="5" name="object 5"/>
          <p:cNvSpPr/>
          <p:nvPr/>
        </p:nvSpPr>
        <p:spPr>
          <a:xfrm>
            <a:off x="938758" y="1370813"/>
            <a:ext cx="2725420" cy="0"/>
          </a:xfrm>
          <a:custGeom>
            <a:avLst/>
            <a:gdLst/>
            <a:ahLst/>
            <a:cxnLst/>
            <a:rect l="l" t="t" r="r" b="b"/>
            <a:pathLst>
              <a:path w="2725420">
                <a:moveTo>
                  <a:pt x="0" y="0"/>
                </a:moveTo>
                <a:lnTo>
                  <a:pt x="2725272" y="0"/>
                </a:lnTo>
              </a:path>
            </a:pathLst>
          </a:custGeom>
          <a:ln w="6350">
            <a:solidFill>
              <a:srgbClr val="231F20"/>
            </a:solidFill>
          </a:ln>
        </p:spPr>
        <p:txBody>
          <a:bodyPr wrap="square" lIns="0" tIns="0" rIns="0" bIns="0" rtlCol="0"/>
          <a:lstStyle/>
          <a:p>
            <a:endParaRPr/>
          </a:p>
        </p:txBody>
      </p:sp>
      <p:sp>
        <p:nvSpPr>
          <p:cNvPr id="6" name="object 6"/>
          <p:cNvSpPr txBox="1"/>
          <p:nvPr/>
        </p:nvSpPr>
        <p:spPr>
          <a:xfrm>
            <a:off x="95300" y="188846"/>
            <a:ext cx="4091304" cy="24892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Grouping</a:t>
            </a:r>
            <a:r>
              <a:rPr sz="1400" spc="-15" dirty="0">
                <a:solidFill>
                  <a:srgbClr val="3333B2"/>
                </a:solidFill>
                <a:latin typeface="Arial"/>
                <a:cs typeface="Arial"/>
              </a:rPr>
              <a:t> </a:t>
            </a:r>
            <a:r>
              <a:rPr sz="1400" spc="10" dirty="0">
                <a:solidFill>
                  <a:srgbClr val="3333B2"/>
                </a:solidFill>
                <a:latin typeface="Arial"/>
                <a:cs typeface="Arial"/>
              </a:rPr>
              <a:t>operations</a:t>
            </a:r>
            <a:endParaRPr sz="1400">
              <a:latin typeface="Arial"/>
              <a:cs typeface="Arial"/>
            </a:endParaRPr>
          </a:p>
          <a:p>
            <a:pPr>
              <a:lnSpc>
                <a:spcPct val="100000"/>
              </a:lnSpc>
              <a:spcBef>
                <a:spcPts val="40"/>
              </a:spcBef>
            </a:pPr>
            <a:endParaRPr sz="2200">
              <a:latin typeface="Arial"/>
              <a:cs typeface="Arial"/>
            </a:endParaRPr>
          </a:p>
          <a:p>
            <a:pPr marL="259079">
              <a:lnSpc>
                <a:spcPct val="100000"/>
              </a:lnSpc>
            </a:pPr>
            <a:r>
              <a:rPr sz="1200" spc="-5" dirty="0">
                <a:solidFill>
                  <a:srgbClr val="3333B2"/>
                </a:solidFill>
                <a:latin typeface="Arial"/>
                <a:cs typeface="Arial"/>
              </a:rPr>
              <a:t>A</a:t>
            </a:r>
            <a:r>
              <a:rPr sz="1200" spc="-10" dirty="0">
                <a:solidFill>
                  <a:srgbClr val="3333B2"/>
                </a:solidFill>
                <a:latin typeface="Arial"/>
                <a:cs typeface="Arial"/>
              </a:rPr>
              <a:t> valid</a:t>
            </a:r>
            <a:r>
              <a:rPr sz="1200" spc="-5" dirty="0">
                <a:solidFill>
                  <a:srgbClr val="3333B2"/>
                </a:solidFill>
                <a:latin typeface="Arial"/>
                <a:cs typeface="Arial"/>
              </a:rPr>
              <a:t> </a:t>
            </a:r>
            <a:r>
              <a:rPr sz="1200" spc="-20" dirty="0">
                <a:solidFill>
                  <a:srgbClr val="3333B2"/>
                </a:solidFill>
                <a:latin typeface="Arial"/>
                <a:cs typeface="Arial"/>
              </a:rPr>
              <a:t>event</a:t>
            </a:r>
            <a:r>
              <a:rPr sz="1200" spc="-5" dirty="0">
                <a:solidFill>
                  <a:srgbClr val="3333B2"/>
                </a:solidFill>
                <a:latin typeface="Arial"/>
                <a:cs typeface="Arial"/>
              </a:rPr>
              <a:t> sequence </a:t>
            </a:r>
            <a:r>
              <a:rPr sz="1200" spc="-20" dirty="0">
                <a:solidFill>
                  <a:srgbClr val="3333B2"/>
                </a:solidFill>
                <a:latin typeface="Arial"/>
                <a:cs typeface="Arial"/>
              </a:rPr>
              <a:t>for</a:t>
            </a:r>
            <a:r>
              <a:rPr sz="1200" spc="-5" dirty="0">
                <a:solidFill>
                  <a:srgbClr val="3333B2"/>
                </a:solidFill>
                <a:latin typeface="Arial"/>
                <a:cs typeface="Arial"/>
              </a:rPr>
              <a:t> </a:t>
            </a:r>
            <a:r>
              <a:rPr sz="1200" spc="5" dirty="0">
                <a:solidFill>
                  <a:srgbClr val="3333B2"/>
                </a:solidFill>
                <a:latin typeface="Arial"/>
                <a:cs typeface="Arial"/>
              </a:rPr>
              <a:t>entry</a:t>
            </a:r>
            <a:r>
              <a:rPr sz="1200" spc="-5" dirty="0">
                <a:solidFill>
                  <a:srgbClr val="3333B2"/>
                </a:solidFill>
                <a:latin typeface="Arial"/>
                <a:cs typeface="Arial"/>
              </a:rPr>
              <a:t> consistency</a:t>
            </a:r>
            <a:endParaRPr sz="1200">
              <a:latin typeface="Arial"/>
              <a:cs typeface="Arial"/>
            </a:endParaRPr>
          </a:p>
          <a:p>
            <a:pPr marL="843280">
              <a:lnSpc>
                <a:spcPct val="100000"/>
              </a:lnSpc>
              <a:spcBef>
                <a:spcPts val="880"/>
              </a:spcBef>
            </a:pPr>
            <a:r>
              <a:rPr sz="800" dirty="0">
                <a:solidFill>
                  <a:srgbClr val="231F20"/>
                </a:solidFill>
                <a:latin typeface="Arial"/>
                <a:cs typeface="Arial"/>
              </a:rPr>
              <a:t>P1:    </a:t>
            </a:r>
            <a:r>
              <a:rPr sz="1200" baseline="3472" dirty="0">
                <a:solidFill>
                  <a:srgbClr val="231F20"/>
                </a:solidFill>
                <a:latin typeface="Arial"/>
                <a:cs typeface="Arial"/>
              </a:rPr>
              <a:t>L(x)</a:t>
            </a:r>
            <a:r>
              <a:rPr sz="1200" spc="262" baseline="3472" dirty="0">
                <a:solidFill>
                  <a:srgbClr val="231F20"/>
                </a:solidFill>
                <a:latin typeface="Arial"/>
                <a:cs typeface="Arial"/>
              </a:rPr>
              <a:t> </a:t>
            </a:r>
            <a:r>
              <a:rPr sz="1200" baseline="3472" dirty="0">
                <a:solidFill>
                  <a:srgbClr val="231F20"/>
                </a:solidFill>
                <a:latin typeface="Arial"/>
                <a:cs typeface="Arial"/>
              </a:rPr>
              <a:t>W(x)a</a:t>
            </a:r>
            <a:r>
              <a:rPr sz="1200" spc="315" baseline="3472" dirty="0">
                <a:solidFill>
                  <a:srgbClr val="231F20"/>
                </a:solidFill>
                <a:latin typeface="Arial"/>
                <a:cs typeface="Arial"/>
              </a:rPr>
              <a:t> </a:t>
            </a:r>
            <a:r>
              <a:rPr sz="1200" baseline="3472" dirty="0">
                <a:solidFill>
                  <a:srgbClr val="231F20"/>
                </a:solidFill>
                <a:latin typeface="Arial"/>
                <a:cs typeface="Arial"/>
              </a:rPr>
              <a:t>L(y)</a:t>
            </a:r>
            <a:r>
              <a:rPr sz="1200" spc="262" baseline="3472" dirty="0">
                <a:solidFill>
                  <a:srgbClr val="231F20"/>
                </a:solidFill>
                <a:latin typeface="Arial"/>
                <a:cs typeface="Arial"/>
              </a:rPr>
              <a:t> </a:t>
            </a:r>
            <a:r>
              <a:rPr sz="1200" baseline="3472" dirty="0">
                <a:solidFill>
                  <a:srgbClr val="231F20"/>
                </a:solidFill>
                <a:latin typeface="Arial"/>
                <a:cs typeface="Arial"/>
              </a:rPr>
              <a:t>W(y)b</a:t>
            </a:r>
            <a:r>
              <a:rPr sz="1200" spc="315" baseline="3472" dirty="0">
                <a:solidFill>
                  <a:srgbClr val="231F20"/>
                </a:solidFill>
                <a:latin typeface="Arial"/>
                <a:cs typeface="Arial"/>
              </a:rPr>
              <a:t> </a:t>
            </a:r>
            <a:r>
              <a:rPr sz="1200" baseline="3472" dirty="0">
                <a:solidFill>
                  <a:srgbClr val="231F20"/>
                </a:solidFill>
                <a:latin typeface="Arial"/>
                <a:cs typeface="Arial"/>
              </a:rPr>
              <a:t>U(x)</a:t>
            </a:r>
            <a:r>
              <a:rPr sz="1200" spc="315" baseline="3472" dirty="0">
                <a:solidFill>
                  <a:srgbClr val="231F20"/>
                </a:solidFill>
                <a:latin typeface="Arial"/>
                <a:cs typeface="Arial"/>
              </a:rPr>
              <a:t> </a:t>
            </a:r>
            <a:r>
              <a:rPr sz="1200" baseline="3472" dirty="0">
                <a:solidFill>
                  <a:srgbClr val="231F20"/>
                </a:solidFill>
                <a:latin typeface="Arial"/>
                <a:cs typeface="Arial"/>
              </a:rPr>
              <a:t>U(y)</a:t>
            </a:r>
            <a:endParaRPr sz="1200" baseline="3472">
              <a:latin typeface="Arial"/>
              <a:cs typeface="Arial"/>
            </a:endParaRPr>
          </a:p>
          <a:p>
            <a:pPr marL="848360">
              <a:lnSpc>
                <a:spcPct val="100000"/>
              </a:lnSpc>
              <a:spcBef>
                <a:spcPts val="480"/>
              </a:spcBef>
              <a:tabLst>
                <a:tab pos="2395220" algn="l"/>
                <a:tab pos="3129280" algn="l"/>
              </a:tabLst>
            </a:pPr>
            <a:r>
              <a:rPr sz="1200" baseline="3472" dirty="0">
                <a:solidFill>
                  <a:srgbClr val="231F20"/>
                </a:solidFill>
                <a:latin typeface="Arial"/>
                <a:cs typeface="Arial"/>
              </a:rPr>
              <a:t>P2:	</a:t>
            </a:r>
            <a:r>
              <a:rPr sz="800" dirty="0">
                <a:solidFill>
                  <a:srgbClr val="231F20"/>
                </a:solidFill>
                <a:latin typeface="Arial"/>
                <a:cs typeface="Arial"/>
              </a:rPr>
              <a:t>L(x)</a:t>
            </a:r>
            <a:r>
              <a:rPr sz="800" spc="229" dirty="0">
                <a:solidFill>
                  <a:srgbClr val="231F20"/>
                </a:solidFill>
                <a:latin typeface="Arial"/>
                <a:cs typeface="Arial"/>
              </a:rPr>
              <a:t> </a:t>
            </a:r>
            <a:r>
              <a:rPr sz="800" spc="-5" dirty="0">
                <a:solidFill>
                  <a:srgbClr val="231F20"/>
                </a:solidFill>
                <a:latin typeface="Arial"/>
                <a:cs typeface="Arial"/>
              </a:rPr>
              <a:t>R(x)a	</a:t>
            </a:r>
            <a:r>
              <a:rPr sz="800" dirty="0">
                <a:solidFill>
                  <a:srgbClr val="231F20"/>
                </a:solidFill>
                <a:latin typeface="Arial"/>
                <a:cs typeface="Arial"/>
              </a:rPr>
              <a:t>R(y)</a:t>
            </a:r>
            <a:r>
              <a:rPr sz="800" spc="-45" dirty="0">
                <a:solidFill>
                  <a:srgbClr val="231F20"/>
                </a:solidFill>
                <a:latin typeface="Arial"/>
                <a:cs typeface="Arial"/>
              </a:rPr>
              <a:t> </a:t>
            </a:r>
            <a:r>
              <a:rPr sz="800" dirty="0">
                <a:solidFill>
                  <a:srgbClr val="231F20"/>
                </a:solidFill>
                <a:latin typeface="Arial"/>
                <a:cs typeface="Arial"/>
              </a:rPr>
              <a:t>NIL</a:t>
            </a:r>
            <a:endParaRPr sz="800">
              <a:latin typeface="Arial"/>
              <a:cs typeface="Arial"/>
            </a:endParaRPr>
          </a:p>
          <a:p>
            <a:pPr marL="843280">
              <a:lnSpc>
                <a:spcPct val="100000"/>
              </a:lnSpc>
              <a:spcBef>
                <a:spcPts val="480"/>
              </a:spcBef>
              <a:tabLst>
                <a:tab pos="2787015" algn="l"/>
              </a:tabLst>
            </a:pPr>
            <a:r>
              <a:rPr sz="800" dirty="0">
                <a:solidFill>
                  <a:srgbClr val="231F20"/>
                </a:solidFill>
                <a:latin typeface="Arial"/>
                <a:cs typeface="Arial"/>
              </a:rPr>
              <a:t>P3:	L(y)</a:t>
            </a:r>
            <a:r>
              <a:rPr sz="800" spc="175" dirty="0">
                <a:solidFill>
                  <a:srgbClr val="231F20"/>
                </a:solidFill>
                <a:latin typeface="Arial"/>
                <a:cs typeface="Arial"/>
              </a:rPr>
              <a:t> </a:t>
            </a:r>
            <a:r>
              <a:rPr sz="800" spc="-5" dirty="0">
                <a:solidFill>
                  <a:srgbClr val="231F20"/>
                </a:solidFill>
                <a:latin typeface="Arial"/>
                <a:cs typeface="Arial"/>
              </a:rPr>
              <a:t>R(y)b</a:t>
            </a:r>
            <a:endParaRPr sz="800">
              <a:latin typeface="Arial"/>
              <a:cs typeface="Arial"/>
            </a:endParaRPr>
          </a:p>
          <a:p>
            <a:pPr>
              <a:lnSpc>
                <a:spcPct val="100000"/>
              </a:lnSpc>
            </a:pPr>
            <a:endParaRPr sz="800">
              <a:latin typeface="Arial"/>
              <a:cs typeface="Arial"/>
            </a:endParaRPr>
          </a:p>
          <a:p>
            <a:pPr>
              <a:lnSpc>
                <a:spcPct val="100000"/>
              </a:lnSpc>
              <a:spcBef>
                <a:spcPts val="10"/>
              </a:spcBef>
            </a:pPr>
            <a:endParaRPr sz="800">
              <a:latin typeface="Arial"/>
              <a:cs typeface="Arial"/>
            </a:endParaRPr>
          </a:p>
          <a:p>
            <a:pPr marL="264160">
              <a:lnSpc>
                <a:spcPts val="1410"/>
              </a:lnSpc>
            </a:pPr>
            <a:r>
              <a:rPr sz="1200" spc="-5" dirty="0">
                <a:solidFill>
                  <a:srgbClr val="3333B2"/>
                </a:solidFill>
                <a:latin typeface="Arial"/>
                <a:cs typeface="Arial"/>
              </a:rPr>
              <a:t>Observation</a:t>
            </a:r>
            <a:endParaRPr sz="1200">
              <a:latin typeface="Arial"/>
              <a:cs typeface="Arial"/>
            </a:endParaRPr>
          </a:p>
          <a:p>
            <a:pPr marL="260350" marR="311785" indent="3810">
              <a:lnSpc>
                <a:spcPts val="1200"/>
              </a:lnSpc>
              <a:spcBef>
                <a:spcPts val="10"/>
              </a:spcBef>
            </a:pPr>
            <a:r>
              <a:rPr sz="1000" dirty="0">
                <a:latin typeface="Arial"/>
                <a:cs typeface="Arial"/>
              </a:rPr>
              <a:t>Entry </a:t>
            </a:r>
            <a:r>
              <a:rPr sz="1000" spc="-5" dirty="0">
                <a:latin typeface="Arial"/>
                <a:cs typeface="Arial"/>
              </a:rPr>
              <a:t>consistency</a:t>
            </a:r>
            <a:r>
              <a:rPr sz="1000" dirty="0">
                <a:latin typeface="Arial"/>
                <a:cs typeface="Arial"/>
              </a:rPr>
              <a:t> </a:t>
            </a:r>
            <a:r>
              <a:rPr sz="1000" spc="-5" dirty="0">
                <a:latin typeface="Arial"/>
                <a:cs typeface="Arial"/>
              </a:rPr>
              <a:t>implies</a:t>
            </a:r>
            <a:r>
              <a:rPr sz="1000" spc="5" dirty="0">
                <a:latin typeface="Arial"/>
                <a:cs typeface="Arial"/>
              </a:rPr>
              <a:t> </a:t>
            </a:r>
            <a:r>
              <a:rPr sz="1000" spc="-5" dirty="0">
                <a:latin typeface="Arial"/>
                <a:cs typeface="Arial"/>
              </a:rPr>
              <a:t>that</a:t>
            </a:r>
            <a:r>
              <a:rPr sz="1000" dirty="0">
                <a:latin typeface="Arial"/>
                <a:cs typeface="Arial"/>
              </a:rPr>
              <a:t> </a:t>
            </a:r>
            <a:r>
              <a:rPr sz="1000" spc="-10" dirty="0">
                <a:latin typeface="Arial"/>
                <a:cs typeface="Arial"/>
              </a:rPr>
              <a:t>we</a:t>
            </a:r>
            <a:r>
              <a:rPr sz="1000" spc="5" dirty="0">
                <a:latin typeface="Arial"/>
                <a:cs typeface="Arial"/>
              </a:rPr>
              <a:t> </a:t>
            </a:r>
            <a:r>
              <a:rPr sz="1000" spc="-5" dirty="0">
                <a:latin typeface="Arial"/>
                <a:cs typeface="Arial"/>
              </a:rPr>
              <a:t>need</a:t>
            </a:r>
            <a:r>
              <a:rPr sz="1000"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lock</a:t>
            </a:r>
            <a:r>
              <a:rPr sz="1000" spc="5" dirty="0">
                <a:latin typeface="Arial"/>
                <a:cs typeface="Arial"/>
              </a:rPr>
              <a:t> </a:t>
            </a:r>
            <a:r>
              <a:rPr sz="1000" spc="-5" dirty="0">
                <a:latin typeface="Arial"/>
                <a:cs typeface="Arial"/>
              </a:rPr>
              <a:t>and</a:t>
            </a:r>
            <a:r>
              <a:rPr sz="1000" dirty="0">
                <a:latin typeface="Arial"/>
                <a:cs typeface="Arial"/>
              </a:rPr>
              <a:t> </a:t>
            </a:r>
            <a:r>
              <a:rPr sz="1000" spc="-10" dirty="0">
                <a:latin typeface="Arial"/>
                <a:cs typeface="Arial"/>
              </a:rPr>
              <a:t>unlock</a:t>
            </a:r>
            <a:r>
              <a:rPr sz="1000" spc="5" dirty="0">
                <a:latin typeface="Arial"/>
                <a:cs typeface="Arial"/>
              </a:rPr>
              <a:t> </a:t>
            </a:r>
            <a:r>
              <a:rPr sz="1000" spc="-5" dirty="0">
                <a:latin typeface="Arial"/>
                <a:cs typeface="Arial"/>
              </a:rPr>
              <a:t>data </a:t>
            </a:r>
            <a:r>
              <a:rPr sz="1000" spc="-265" dirty="0">
                <a:latin typeface="Arial"/>
                <a:cs typeface="Arial"/>
              </a:rPr>
              <a:t> </a:t>
            </a:r>
            <a:r>
              <a:rPr sz="1000" spc="-5" dirty="0">
                <a:latin typeface="Arial"/>
                <a:cs typeface="Arial"/>
              </a:rPr>
              <a:t>(implicitly</a:t>
            </a:r>
            <a:r>
              <a:rPr sz="1000" spc="-10" dirty="0">
                <a:latin typeface="Arial"/>
                <a:cs typeface="Arial"/>
              </a:rPr>
              <a:t> </a:t>
            </a:r>
            <a:r>
              <a:rPr sz="1000" spc="-5" dirty="0">
                <a:latin typeface="Arial"/>
                <a:cs typeface="Arial"/>
              </a:rPr>
              <a:t>or not).</a:t>
            </a:r>
            <a:endParaRPr sz="1000">
              <a:latin typeface="Arial"/>
              <a:cs typeface="Arial"/>
            </a:endParaRPr>
          </a:p>
          <a:p>
            <a:pPr marL="264160">
              <a:lnSpc>
                <a:spcPts val="1435"/>
              </a:lnSpc>
              <a:spcBef>
                <a:spcPts val="650"/>
              </a:spcBef>
            </a:pPr>
            <a:r>
              <a:rPr sz="1200" spc="-5" dirty="0">
                <a:solidFill>
                  <a:srgbClr val="3333B2"/>
                </a:solidFill>
                <a:latin typeface="Arial"/>
                <a:cs typeface="Arial"/>
              </a:rPr>
              <a:t>Question</a:t>
            </a:r>
            <a:endParaRPr sz="1200">
              <a:latin typeface="Arial"/>
              <a:cs typeface="Arial"/>
            </a:endParaRPr>
          </a:p>
          <a:p>
            <a:pPr marL="258445">
              <a:lnSpc>
                <a:spcPts val="1195"/>
              </a:lnSpc>
            </a:pPr>
            <a:r>
              <a:rPr sz="1000" spc="-5" dirty="0">
                <a:latin typeface="Arial"/>
                <a:cs typeface="Arial"/>
              </a:rPr>
              <a:t>What</a:t>
            </a:r>
            <a:r>
              <a:rPr sz="1000" dirty="0">
                <a:latin typeface="Arial"/>
                <a:cs typeface="Arial"/>
              </a:rPr>
              <a:t> </a:t>
            </a:r>
            <a:r>
              <a:rPr sz="1000" spc="-5" dirty="0">
                <a:latin typeface="Arial"/>
                <a:cs typeface="Arial"/>
              </a:rPr>
              <a:t>would</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a</a:t>
            </a:r>
            <a:r>
              <a:rPr sz="1000" dirty="0">
                <a:latin typeface="Arial"/>
                <a:cs typeface="Arial"/>
              </a:rPr>
              <a:t> </a:t>
            </a:r>
            <a:r>
              <a:rPr sz="1000" spc="-10" dirty="0">
                <a:latin typeface="Arial"/>
                <a:cs typeface="Arial"/>
              </a:rPr>
              <a:t>convenient</a:t>
            </a:r>
            <a:r>
              <a:rPr sz="1000" dirty="0">
                <a:latin typeface="Arial"/>
                <a:cs typeface="Arial"/>
              </a:rPr>
              <a:t> </a:t>
            </a:r>
            <a:r>
              <a:rPr sz="1000" spc="-20" dirty="0">
                <a:latin typeface="Arial"/>
                <a:cs typeface="Arial"/>
              </a:rPr>
              <a:t>way</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making</a:t>
            </a:r>
            <a:r>
              <a:rPr sz="1000" dirty="0">
                <a:latin typeface="Arial"/>
                <a:cs typeface="Arial"/>
              </a:rPr>
              <a:t> </a:t>
            </a:r>
            <a:r>
              <a:rPr sz="1000" spc="-5" dirty="0">
                <a:latin typeface="Arial"/>
                <a:cs typeface="Arial"/>
              </a:rPr>
              <a:t>this</a:t>
            </a:r>
            <a:r>
              <a:rPr sz="1000" dirty="0">
                <a:latin typeface="Arial"/>
                <a:cs typeface="Arial"/>
              </a:rPr>
              <a:t> </a:t>
            </a:r>
            <a:r>
              <a:rPr sz="1000" spc="-5" dirty="0">
                <a:latin typeface="Arial"/>
                <a:cs typeface="Arial"/>
              </a:rPr>
              <a:t>consistency</a:t>
            </a:r>
            <a:r>
              <a:rPr sz="1000" dirty="0">
                <a:latin typeface="Arial"/>
                <a:cs typeface="Arial"/>
              </a:rPr>
              <a:t> </a:t>
            </a:r>
            <a:r>
              <a:rPr sz="1000" spc="-5" dirty="0">
                <a:latin typeface="Arial"/>
                <a:cs typeface="Arial"/>
              </a:rPr>
              <a:t>more</a:t>
            </a:r>
            <a:r>
              <a:rPr sz="1000" dirty="0">
                <a:latin typeface="Arial"/>
                <a:cs typeface="Arial"/>
              </a:rPr>
              <a:t> </a:t>
            </a:r>
            <a:r>
              <a:rPr sz="1000" spc="-5" dirty="0">
                <a:latin typeface="Arial"/>
                <a:cs typeface="Arial"/>
              </a:rPr>
              <a:t>or</a:t>
            </a:r>
            <a:endParaRPr sz="1000">
              <a:latin typeface="Arial"/>
              <a:cs typeface="Arial"/>
            </a:endParaRPr>
          </a:p>
        </p:txBody>
      </p:sp>
      <p:sp>
        <p:nvSpPr>
          <p:cNvPr id="7" name="object 7"/>
          <p:cNvSpPr txBox="1"/>
          <p:nvPr/>
        </p:nvSpPr>
        <p:spPr>
          <a:xfrm>
            <a:off x="347294" y="2658448"/>
            <a:ext cx="1920239" cy="182245"/>
          </a:xfrm>
          <a:prstGeom prst="rect">
            <a:avLst/>
          </a:prstGeom>
        </p:spPr>
        <p:txBody>
          <a:bodyPr vert="horz" wrap="square" lIns="0" tIns="6350" rIns="0" bIns="0" rtlCol="0">
            <a:spAutoFit/>
          </a:bodyPr>
          <a:lstStyle/>
          <a:p>
            <a:pPr marL="12700">
              <a:lnSpc>
                <a:spcPct val="100000"/>
              </a:lnSpc>
              <a:spcBef>
                <a:spcPts val="50"/>
              </a:spcBef>
            </a:pPr>
            <a:r>
              <a:rPr sz="1000" spc="-5" dirty="0">
                <a:latin typeface="Arial"/>
                <a:cs typeface="Arial"/>
              </a:rPr>
              <a:t>less</a:t>
            </a:r>
            <a:r>
              <a:rPr sz="1000" spc="-20" dirty="0">
                <a:latin typeface="Arial"/>
                <a:cs typeface="Arial"/>
              </a:rPr>
              <a:t> </a:t>
            </a:r>
            <a:r>
              <a:rPr sz="1000" spc="-5" dirty="0">
                <a:latin typeface="Arial"/>
                <a:cs typeface="Arial"/>
              </a:rPr>
              <a:t>transparent</a:t>
            </a:r>
            <a:r>
              <a:rPr sz="1000" spc="-15" dirty="0">
                <a:latin typeface="Arial"/>
                <a:cs typeface="Arial"/>
              </a:rPr>
              <a:t> </a:t>
            </a:r>
            <a:r>
              <a:rPr sz="1000" spc="-5" dirty="0">
                <a:latin typeface="Arial"/>
                <a:cs typeface="Arial"/>
              </a:rPr>
              <a:t>to</a:t>
            </a:r>
            <a:r>
              <a:rPr sz="1000" spc="-15" dirty="0">
                <a:latin typeface="Arial"/>
                <a:cs typeface="Arial"/>
              </a:rPr>
              <a:t> </a:t>
            </a:r>
            <a:r>
              <a:rPr sz="1000" spc="-5" dirty="0">
                <a:latin typeface="Arial"/>
                <a:cs typeface="Arial"/>
              </a:rPr>
              <a:t>programmers?</a:t>
            </a:r>
            <a:endParaRPr sz="1000">
              <a:latin typeface="Arial"/>
              <a:cs typeface="Arial"/>
            </a:endParaRPr>
          </a:p>
        </p:txBody>
      </p:sp>
      <p:sp>
        <p:nvSpPr>
          <p:cNvPr id="8" name="object 8"/>
          <p:cNvSpPr txBox="1"/>
          <p:nvPr/>
        </p:nvSpPr>
        <p:spPr>
          <a:xfrm>
            <a:off x="66713" y="3331252"/>
            <a:ext cx="71247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6" action="ppaction://hlinksldjump"/>
              </a:rPr>
              <a:t>Grouping</a:t>
            </a:r>
            <a:r>
              <a:rPr sz="600" spc="-3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operations</a:t>
            </a:r>
            <a:endParaRPr sz="600">
              <a:latin typeface="Arial"/>
              <a:cs typeface="Arial"/>
            </a:endParaRPr>
          </a:p>
        </p:txBody>
      </p:sp>
      <p:sp>
        <p:nvSpPr>
          <p:cNvPr id="9" name="object 9"/>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15</a:t>
            </a:r>
            <a:r>
              <a:rPr spc="-40" dirty="0"/>
              <a:t> </a:t>
            </a:r>
            <a:r>
              <a:rPr spc="-5" dirty="0"/>
              <a:t>/</a:t>
            </a:r>
            <a:r>
              <a:rPr spc="-35" dirty="0"/>
              <a:t> </a:t>
            </a:r>
            <a:r>
              <a:rPr spc="-5" dirty="0"/>
              <a:t>37</a:t>
            </a:r>
          </a:p>
        </p:txBody>
      </p:sp>
      <p:sp>
        <p:nvSpPr>
          <p:cNvPr id="2" name="object 2"/>
          <p:cNvSpPr txBox="1"/>
          <p:nvPr/>
        </p:nvSpPr>
        <p:spPr>
          <a:xfrm>
            <a:off x="66713" y="716"/>
            <a:ext cx="214249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5" dirty="0">
                <a:solidFill>
                  <a:srgbClr val="3333B2"/>
                </a:solidFill>
                <a:latin typeface="Arial"/>
                <a:cs typeface="Arial"/>
              </a:rPr>
              <a:t> </a:t>
            </a:r>
            <a:r>
              <a:rPr sz="600" spc="-5" dirty="0">
                <a:solidFill>
                  <a:srgbClr val="3333B2"/>
                </a:solidFill>
                <a:latin typeface="Arial"/>
                <a:cs typeface="Arial"/>
                <a:hlinkClick r:id="rId4" action="ppaction://hlinksldjump"/>
              </a:rPr>
              <a:t>Client-centric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a:spLocks noGrp="1"/>
          </p:cNvSpPr>
          <p:nvPr>
            <p:ph type="title"/>
          </p:nvPr>
        </p:nvSpPr>
        <p:spPr>
          <a:xfrm>
            <a:off x="95300" y="188846"/>
            <a:ext cx="2359025" cy="244475"/>
          </a:xfrm>
          <a:prstGeom prst="rect">
            <a:avLst/>
          </a:prstGeom>
        </p:spPr>
        <p:txBody>
          <a:bodyPr vert="horz" wrap="square" lIns="0" tIns="17145" rIns="0" bIns="0" rtlCol="0">
            <a:spAutoFit/>
          </a:bodyPr>
          <a:lstStyle/>
          <a:p>
            <a:pPr marL="12700">
              <a:lnSpc>
                <a:spcPct val="100000"/>
              </a:lnSpc>
              <a:spcBef>
                <a:spcPts val="135"/>
              </a:spcBef>
            </a:pPr>
            <a:r>
              <a:rPr spc="15" dirty="0"/>
              <a:t>Consistency</a:t>
            </a:r>
            <a:r>
              <a:rPr spc="-15" dirty="0"/>
              <a:t> </a:t>
            </a:r>
            <a:r>
              <a:rPr spc="-5" dirty="0"/>
              <a:t>for</a:t>
            </a:r>
            <a:r>
              <a:rPr spc="-10" dirty="0"/>
              <a:t> </a:t>
            </a:r>
            <a:r>
              <a:rPr spc="15" dirty="0"/>
              <a:t>mobile</a:t>
            </a:r>
            <a:r>
              <a:rPr spc="-10" dirty="0"/>
              <a:t> </a:t>
            </a:r>
            <a:r>
              <a:rPr spc="15" dirty="0"/>
              <a:t>users</a:t>
            </a:r>
          </a:p>
        </p:txBody>
      </p:sp>
      <p:sp>
        <p:nvSpPr>
          <p:cNvPr id="4" name="object 4"/>
          <p:cNvSpPr txBox="1"/>
          <p:nvPr/>
        </p:nvSpPr>
        <p:spPr>
          <a:xfrm>
            <a:off x="330682" y="402066"/>
            <a:ext cx="3942079" cy="2927985"/>
          </a:xfrm>
          <a:prstGeom prst="rect">
            <a:avLst/>
          </a:prstGeom>
        </p:spPr>
        <p:txBody>
          <a:bodyPr vert="horz" wrap="square" lIns="0" tIns="39370" rIns="0" bIns="0" rtlCol="0">
            <a:spAutoFit/>
          </a:bodyPr>
          <a:lstStyle/>
          <a:p>
            <a:pPr marL="29209">
              <a:lnSpc>
                <a:spcPct val="100000"/>
              </a:lnSpc>
              <a:spcBef>
                <a:spcPts val="310"/>
              </a:spcBef>
            </a:pPr>
            <a:r>
              <a:rPr sz="1200" spc="-5" dirty="0">
                <a:solidFill>
                  <a:srgbClr val="007C00"/>
                </a:solidFill>
                <a:latin typeface="Arial"/>
                <a:cs typeface="Arial"/>
              </a:rPr>
              <a:t>Example</a:t>
            </a:r>
            <a:endParaRPr sz="1200">
              <a:latin typeface="Arial"/>
              <a:cs typeface="Arial"/>
            </a:endParaRPr>
          </a:p>
          <a:p>
            <a:pPr marL="29209" marR="186055">
              <a:lnSpc>
                <a:spcPct val="100000"/>
              </a:lnSpc>
              <a:spcBef>
                <a:spcPts val="175"/>
              </a:spcBef>
            </a:pPr>
            <a:r>
              <a:rPr sz="1000" spc="-5" dirty="0">
                <a:latin typeface="Arial"/>
                <a:cs typeface="Arial"/>
              </a:rPr>
              <a:t>Consider</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distributed</a:t>
            </a:r>
            <a:r>
              <a:rPr sz="1000" dirty="0">
                <a:latin typeface="Arial"/>
                <a:cs typeface="Arial"/>
              </a:rPr>
              <a:t> </a:t>
            </a:r>
            <a:r>
              <a:rPr sz="1000" spc="-5" dirty="0">
                <a:latin typeface="Arial"/>
                <a:cs typeface="Arial"/>
              </a:rPr>
              <a:t>database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which</a:t>
            </a:r>
            <a:r>
              <a:rPr sz="1000" dirty="0">
                <a:latin typeface="Arial"/>
                <a:cs typeface="Arial"/>
              </a:rPr>
              <a:t> </a:t>
            </a:r>
            <a:r>
              <a:rPr sz="1000" spc="-10" dirty="0">
                <a:latin typeface="Arial"/>
                <a:cs typeface="Arial"/>
              </a:rPr>
              <a:t>you</a:t>
            </a:r>
            <a:r>
              <a:rPr sz="1000" dirty="0">
                <a:latin typeface="Arial"/>
                <a:cs typeface="Arial"/>
              </a:rPr>
              <a:t> </a:t>
            </a:r>
            <a:r>
              <a:rPr sz="1000" spc="-15" dirty="0">
                <a:latin typeface="Arial"/>
                <a:cs typeface="Arial"/>
              </a:rPr>
              <a:t>have</a:t>
            </a:r>
            <a:r>
              <a:rPr sz="1000" dirty="0">
                <a:latin typeface="Arial"/>
                <a:cs typeface="Arial"/>
              </a:rPr>
              <a:t> </a:t>
            </a:r>
            <a:r>
              <a:rPr sz="1000" spc="-5" dirty="0">
                <a:latin typeface="Arial"/>
                <a:cs typeface="Arial"/>
              </a:rPr>
              <a:t>access</a:t>
            </a:r>
            <a:r>
              <a:rPr sz="1000" dirty="0">
                <a:latin typeface="Arial"/>
                <a:cs typeface="Arial"/>
              </a:rPr>
              <a:t> </a:t>
            </a:r>
            <a:r>
              <a:rPr sz="1000" spc="-5" dirty="0">
                <a:latin typeface="Arial"/>
                <a:cs typeface="Arial"/>
              </a:rPr>
              <a:t>through </a:t>
            </a:r>
            <a:r>
              <a:rPr sz="1000" spc="-260" dirty="0">
                <a:latin typeface="Arial"/>
                <a:cs typeface="Arial"/>
              </a:rPr>
              <a:t> </a:t>
            </a:r>
            <a:r>
              <a:rPr sz="1000" spc="-10" dirty="0">
                <a:latin typeface="Arial"/>
                <a:cs typeface="Arial"/>
              </a:rPr>
              <a:t>your</a:t>
            </a:r>
            <a:r>
              <a:rPr sz="1000" spc="-5" dirty="0">
                <a:latin typeface="Arial"/>
                <a:cs typeface="Arial"/>
              </a:rPr>
              <a:t> notebook.</a:t>
            </a:r>
            <a:r>
              <a:rPr sz="1000" spc="65" dirty="0">
                <a:latin typeface="Arial"/>
                <a:cs typeface="Arial"/>
              </a:rPr>
              <a:t> </a:t>
            </a:r>
            <a:r>
              <a:rPr sz="1000" spc="-5" dirty="0">
                <a:latin typeface="Arial"/>
                <a:cs typeface="Arial"/>
              </a:rPr>
              <a:t>Assume</a:t>
            </a:r>
            <a:r>
              <a:rPr sz="1000" dirty="0">
                <a:latin typeface="Arial"/>
                <a:cs typeface="Arial"/>
              </a:rPr>
              <a:t> </a:t>
            </a:r>
            <a:r>
              <a:rPr sz="1000" spc="-10" dirty="0">
                <a:latin typeface="Arial"/>
                <a:cs typeface="Arial"/>
              </a:rPr>
              <a:t>your</a:t>
            </a:r>
            <a:r>
              <a:rPr sz="1000" dirty="0">
                <a:latin typeface="Arial"/>
                <a:cs typeface="Arial"/>
              </a:rPr>
              <a:t> </a:t>
            </a:r>
            <a:r>
              <a:rPr sz="1000" spc="-5" dirty="0">
                <a:latin typeface="Arial"/>
                <a:cs typeface="Arial"/>
              </a:rPr>
              <a:t>notebook</a:t>
            </a:r>
            <a:r>
              <a:rPr sz="1000" dirty="0">
                <a:latin typeface="Arial"/>
                <a:cs typeface="Arial"/>
              </a:rPr>
              <a:t> </a:t>
            </a:r>
            <a:r>
              <a:rPr sz="1000" spc="-5" dirty="0">
                <a:latin typeface="Arial"/>
                <a:cs typeface="Arial"/>
              </a:rPr>
              <a:t>acts as</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front</a:t>
            </a:r>
            <a:r>
              <a:rPr sz="1000" dirty="0">
                <a:latin typeface="Arial"/>
                <a:cs typeface="Arial"/>
              </a:rPr>
              <a:t> </a:t>
            </a:r>
            <a:r>
              <a:rPr sz="1000" spc="-5" dirty="0">
                <a:latin typeface="Arial"/>
                <a:cs typeface="Arial"/>
              </a:rPr>
              <a:t>end to</a:t>
            </a:r>
            <a:r>
              <a:rPr sz="1000" dirty="0">
                <a:latin typeface="Arial"/>
                <a:cs typeface="Arial"/>
              </a:rPr>
              <a:t> </a:t>
            </a:r>
            <a:r>
              <a:rPr sz="1000" spc="-5" dirty="0">
                <a:latin typeface="Arial"/>
                <a:cs typeface="Arial"/>
              </a:rPr>
              <a:t>the </a:t>
            </a:r>
            <a:r>
              <a:rPr sz="1000" dirty="0">
                <a:latin typeface="Arial"/>
                <a:cs typeface="Arial"/>
              </a:rPr>
              <a:t> </a:t>
            </a:r>
            <a:r>
              <a:rPr sz="1000" spc="-5" dirty="0">
                <a:latin typeface="Arial"/>
                <a:cs typeface="Arial"/>
              </a:rPr>
              <a:t>database.</a:t>
            </a:r>
            <a:endParaRPr sz="1000">
              <a:latin typeface="Arial"/>
              <a:cs typeface="Arial"/>
            </a:endParaRPr>
          </a:p>
          <a:p>
            <a:pPr marL="306070" indent="-168275">
              <a:lnSpc>
                <a:spcPct val="100000"/>
              </a:lnSpc>
              <a:spcBef>
                <a:spcPts val="580"/>
              </a:spcBef>
              <a:buClr>
                <a:srgbClr val="007C00"/>
              </a:buClr>
              <a:buChar char="►"/>
              <a:tabLst>
                <a:tab pos="306705" algn="l"/>
              </a:tabLst>
            </a:pPr>
            <a:r>
              <a:rPr sz="1000" spc="-5" dirty="0">
                <a:latin typeface="Arial"/>
                <a:cs typeface="Arial"/>
              </a:rPr>
              <a:t>At location</a:t>
            </a:r>
            <a:r>
              <a:rPr sz="1000" dirty="0">
                <a:latin typeface="Arial"/>
                <a:cs typeface="Arial"/>
              </a:rPr>
              <a:t> </a:t>
            </a:r>
            <a:r>
              <a:rPr sz="1000" i="1" spc="-5" dirty="0">
                <a:latin typeface="Arial"/>
                <a:cs typeface="Arial"/>
              </a:rPr>
              <a:t>A</a:t>
            </a:r>
            <a:r>
              <a:rPr sz="1000" i="1" dirty="0">
                <a:latin typeface="Arial"/>
                <a:cs typeface="Arial"/>
              </a:rPr>
              <a:t> </a:t>
            </a:r>
            <a:r>
              <a:rPr sz="1000" spc="-10" dirty="0">
                <a:latin typeface="Arial"/>
                <a:cs typeface="Arial"/>
              </a:rPr>
              <a:t>you</a:t>
            </a:r>
            <a:r>
              <a:rPr sz="1000" spc="-5" dirty="0">
                <a:latin typeface="Arial"/>
                <a:cs typeface="Arial"/>
              </a:rPr>
              <a:t> access</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database</a:t>
            </a:r>
            <a:r>
              <a:rPr sz="1000" dirty="0">
                <a:latin typeface="Arial"/>
                <a:cs typeface="Arial"/>
              </a:rPr>
              <a:t> </a:t>
            </a:r>
            <a:r>
              <a:rPr sz="1000" spc="-5" dirty="0">
                <a:latin typeface="Arial"/>
                <a:cs typeface="Arial"/>
              </a:rPr>
              <a:t>doing reads</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updates.</a:t>
            </a:r>
            <a:endParaRPr sz="1000">
              <a:latin typeface="Arial"/>
              <a:cs typeface="Arial"/>
            </a:endParaRPr>
          </a:p>
          <a:p>
            <a:pPr marL="306070" marR="60325" indent="-168275">
              <a:lnSpc>
                <a:spcPct val="100000"/>
              </a:lnSpc>
              <a:spcBef>
                <a:spcPts val="595"/>
              </a:spcBef>
              <a:buClr>
                <a:srgbClr val="007C00"/>
              </a:buClr>
              <a:buChar char="►"/>
              <a:tabLst>
                <a:tab pos="306705" algn="l"/>
              </a:tabLst>
            </a:pPr>
            <a:r>
              <a:rPr sz="1000" spc="-5" dirty="0">
                <a:latin typeface="Arial"/>
                <a:cs typeface="Arial"/>
              </a:rPr>
              <a:t>At location</a:t>
            </a:r>
            <a:r>
              <a:rPr sz="1000" dirty="0">
                <a:latin typeface="Arial"/>
                <a:cs typeface="Arial"/>
              </a:rPr>
              <a:t> </a:t>
            </a:r>
            <a:r>
              <a:rPr sz="1000" i="1" spc="-5" dirty="0">
                <a:latin typeface="Arial"/>
                <a:cs typeface="Arial"/>
              </a:rPr>
              <a:t>B</a:t>
            </a:r>
            <a:r>
              <a:rPr sz="1000" i="1" spc="45" dirty="0">
                <a:latin typeface="Arial"/>
                <a:cs typeface="Arial"/>
              </a:rPr>
              <a:t> </a:t>
            </a:r>
            <a:r>
              <a:rPr sz="1000" spc="-10" dirty="0">
                <a:latin typeface="Arial"/>
                <a:cs typeface="Arial"/>
              </a:rPr>
              <a:t>you</a:t>
            </a:r>
            <a:r>
              <a:rPr sz="1000" spc="-5" dirty="0">
                <a:latin typeface="Arial"/>
                <a:cs typeface="Arial"/>
              </a:rPr>
              <a:t> continue</a:t>
            </a:r>
            <a:r>
              <a:rPr sz="1000" dirty="0">
                <a:latin typeface="Arial"/>
                <a:cs typeface="Arial"/>
              </a:rPr>
              <a:t> </a:t>
            </a:r>
            <a:r>
              <a:rPr sz="1000" spc="-10" dirty="0">
                <a:latin typeface="Arial"/>
                <a:cs typeface="Arial"/>
              </a:rPr>
              <a:t>your</a:t>
            </a:r>
            <a:r>
              <a:rPr sz="1000" dirty="0">
                <a:latin typeface="Arial"/>
                <a:cs typeface="Arial"/>
              </a:rPr>
              <a:t> </a:t>
            </a:r>
            <a:r>
              <a:rPr sz="1000" spc="-5" dirty="0">
                <a:latin typeface="Arial"/>
                <a:cs typeface="Arial"/>
              </a:rPr>
              <a:t>work, </a:t>
            </a:r>
            <a:r>
              <a:rPr sz="1000" spc="-10" dirty="0">
                <a:latin typeface="Arial"/>
                <a:cs typeface="Arial"/>
              </a:rPr>
              <a:t>but</a:t>
            </a:r>
            <a:r>
              <a:rPr sz="1000" dirty="0">
                <a:latin typeface="Arial"/>
                <a:cs typeface="Arial"/>
              </a:rPr>
              <a:t> </a:t>
            </a:r>
            <a:r>
              <a:rPr sz="1000" spc="-5" dirty="0">
                <a:latin typeface="Arial"/>
                <a:cs typeface="Arial"/>
              </a:rPr>
              <a:t>unless </a:t>
            </a:r>
            <a:r>
              <a:rPr sz="1000" spc="-10" dirty="0">
                <a:latin typeface="Arial"/>
                <a:cs typeface="Arial"/>
              </a:rPr>
              <a:t>you</a:t>
            </a:r>
            <a:r>
              <a:rPr sz="1000" dirty="0">
                <a:latin typeface="Arial"/>
                <a:cs typeface="Arial"/>
              </a:rPr>
              <a:t> </a:t>
            </a:r>
            <a:r>
              <a:rPr sz="1000" spc="-5" dirty="0">
                <a:latin typeface="Arial"/>
                <a:cs typeface="Arial"/>
              </a:rPr>
              <a:t>access</a:t>
            </a:r>
            <a:r>
              <a:rPr sz="1000"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same server as the one at</a:t>
            </a:r>
            <a:r>
              <a:rPr sz="1000" dirty="0">
                <a:latin typeface="Arial"/>
                <a:cs typeface="Arial"/>
              </a:rPr>
              <a:t> </a:t>
            </a:r>
            <a:r>
              <a:rPr sz="1000" spc="-5" dirty="0">
                <a:latin typeface="Arial"/>
                <a:cs typeface="Arial"/>
              </a:rPr>
              <a:t>location </a:t>
            </a:r>
            <a:r>
              <a:rPr sz="1000" i="1" spc="-5" dirty="0">
                <a:latin typeface="Arial"/>
                <a:cs typeface="Arial"/>
              </a:rPr>
              <a:t>A</a:t>
            </a:r>
            <a:r>
              <a:rPr sz="1000" spc="-5" dirty="0">
                <a:latin typeface="Arial"/>
                <a:cs typeface="Arial"/>
              </a:rPr>
              <a:t>, </a:t>
            </a:r>
            <a:r>
              <a:rPr sz="1000" spc="-10" dirty="0">
                <a:latin typeface="Arial"/>
                <a:cs typeface="Arial"/>
              </a:rPr>
              <a:t>you</a:t>
            </a:r>
            <a:r>
              <a:rPr sz="1000" spc="-5" dirty="0">
                <a:latin typeface="Arial"/>
                <a:cs typeface="Arial"/>
              </a:rPr>
              <a:t> </a:t>
            </a:r>
            <a:r>
              <a:rPr sz="1000" spc="-15" dirty="0">
                <a:latin typeface="Arial"/>
                <a:cs typeface="Arial"/>
              </a:rPr>
              <a:t>may</a:t>
            </a:r>
            <a:r>
              <a:rPr sz="1000" spc="-5" dirty="0">
                <a:latin typeface="Arial"/>
                <a:cs typeface="Arial"/>
              </a:rPr>
              <a:t> detect </a:t>
            </a:r>
            <a:r>
              <a:rPr sz="1000" dirty="0">
                <a:latin typeface="Arial"/>
                <a:cs typeface="Arial"/>
              </a:rPr>
              <a:t> </a:t>
            </a:r>
            <a:r>
              <a:rPr sz="1000" spc="-5" dirty="0">
                <a:latin typeface="Arial"/>
                <a:cs typeface="Arial"/>
              </a:rPr>
              <a:t>inconsistencies:</a:t>
            </a:r>
            <a:endParaRPr sz="1000">
              <a:latin typeface="Arial"/>
              <a:cs typeface="Arial"/>
            </a:endParaRPr>
          </a:p>
          <a:p>
            <a:pPr marL="582930" lvl="1" indent="-168275">
              <a:lnSpc>
                <a:spcPts val="1200"/>
              </a:lnSpc>
              <a:spcBef>
                <a:spcPts val="484"/>
              </a:spcBef>
              <a:buClr>
                <a:srgbClr val="007C00"/>
              </a:buClr>
              <a:buChar char="►"/>
              <a:tabLst>
                <a:tab pos="583565" algn="l"/>
              </a:tabLst>
            </a:pPr>
            <a:r>
              <a:rPr sz="1000" spc="-10" dirty="0">
                <a:latin typeface="Arial"/>
                <a:cs typeface="Arial"/>
              </a:rPr>
              <a:t>your</a:t>
            </a:r>
            <a:r>
              <a:rPr sz="1000" spc="-5" dirty="0">
                <a:latin typeface="Arial"/>
                <a:cs typeface="Arial"/>
              </a:rPr>
              <a:t> updates at</a:t>
            </a:r>
            <a:r>
              <a:rPr sz="1000" dirty="0">
                <a:latin typeface="Arial"/>
                <a:cs typeface="Arial"/>
              </a:rPr>
              <a:t> </a:t>
            </a:r>
            <a:r>
              <a:rPr sz="1000" i="1" spc="-5" dirty="0">
                <a:latin typeface="Arial"/>
                <a:cs typeface="Arial"/>
              </a:rPr>
              <a:t>A </a:t>
            </a:r>
            <a:r>
              <a:rPr sz="1000" spc="-15" dirty="0">
                <a:latin typeface="Arial"/>
                <a:cs typeface="Arial"/>
              </a:rPr>
              <a:t>may</a:t>
            </a:r>
            <a:r>
              <a:rPr sz="1000" spc="-5" dirty="0">
                <a:latin typeface="Arial"/>
                <a:cs typeface="Arial"/>
              </a:rPr>
              <a:t> not</a:t>
            </a:r>
            <a:r>
              <a:rPr sz="1000" dirty="0">
                <a:latin typeface="Arial"/>
                <a:cs typeface="Arial"/>
              </a:rPr>
              <a:t> </a:t>
            </a:r>
            <a:r>
              <a:rPr sz="1000" spc="-15" dirty="0">
                <a:latin typeface="Arial"/>
                <a:cs typeface="Arial"/>
              </a:rPr>
              <a:t>have</a:t>
            </a:r>
            <a:r>
              <a:rPr sz="1000" spc="-5" dirty="0">
                <a:latin typeface="Arial"/>
                <a:cs typeface="Arial"/>
              </a:rPr>
              <a:t> </a:t>
            </a:r>
            <a:r>
              <a:rPr sz="1000" spc="-10" dirty="0">
                <a:latin typeface="Arial"/>
                <a:cs typeface="Arial"/>
              </a:rPr>
              <a:t>yet</a:t>
            </a:r>
            <a:r>
              <a:rPr sz="1000" spc="-5" dirty="0">
                <a:latin typeface="Arial"/>
                <a:cs typeface="Arial"/>
              </a:rPr>
              <a:t> been</a:t>
            </a:r>
            <a:r>
              <a:rPr sz="1000" dirty="0">
                <a:latin typeface="Arial"/>
                <a:cs typeface="Arial"/>
              </a:rPr>
              <a:t> </a:t>
            </a:r>
            <a:r>
              <a:rPr sz="1000" spc="-5" dirty="0">
                <a:latin typeface="Arial"/>
                <a:cs typeface="Arial"/>
              </a:rPr>
              <a:t>propagated to</a:t>
            </a:r>
            <a:r>
              <a:rPr sz="1000" dirty="0">
                <a:latin typeface="Arial"/>
                <a:cs typeface="Arial"/>
              </a:rPr>
              <a:t> </a:t>
            </a:r>
            <a:r>
              <a:rPr sz="1000" i="1" spc="-5" dirty="0">
                <a:latin typeface="Arial"/>
                <a:cs typeface="Arial"/>
              </a:rPr>
              <a:t>B</a:t>
            </a:r>
            <a:endParaRPr sz="1000">
              <a:latin typeface="Arial"/>
              <a:cs typeface="Arial"/>
            </a:endParaRPr>
          </a:p>
          <a:p>
            <a:pPr marL="582930" lvl="1" indent="-168275">
              <a:lnSpc>
                <a:spcPts val="1195"/>
              </a:lnSpc>
              <a:buClr>
                <a:srgbClr val="007C00"/>
              </a:buClr>
              <a:buChar char="►"/>
              <a:tabLst>
                <a:tab pos="583565" algn="l"/>
              </a:tabLst>
            </a:pPr>
            <a:r>
              <a:rPr sz="1000" spc="-15" dirty="0">
                <a:latin typeface="Arial"/>
                <a:cs typeface="Arial"/>
              </a:rPr>
              <a:t>you</a:t>
            </a:r>
            <a:r>
              <a:rPr sz="1000" spc="-10" dirty="0">
                <a:latin typeface="Arial"/>
                <a:cs typeface="Arial"/>
              </a:rPr>
              <a:t> </a:t>
            </a:r>
            <a:r>
              <a:rPr sz="1000" spc="-20" dirty="0">
                <a:latin typeface="Arial"/>
                <a:cs typeface="Arial"/>
              </a:rPr>
              <a:t>may</a:t>
            </a:r>
            <a:r>
              <a:rPr sz="1000" spc="-5" dirty="0">
                <a:latin typeface="Arial"/>
                <a:cs typeface="Arial"/>
              </a:rPr>
              <a:t> </a:t>
            </a:r>
            <a:r>
              <a:rPr sz="1000" spc="-10" dirty="0">
                <a:latin typeface="Arial"/>
                <a:cs typeface="Arial"/>
              </a:rPr>
              <a:t>be</a:t>
            </a:r>
            <a:r>
              <a:rPr sz="1000" spc="-5" dirty="0">
                <a:latin typeface="Arial"/>
                <a:cs typeface="Arial"/>
              </a:rPr>
              <a:t> </a:t>
            </a:r>
            <a:r>
              <a:rPr sz="1000" spc="-10" dirty="0">
                <a:latin typeface="Arial"/>
                <a:cs typeface="Arial"/>
              </a:rPr>
              <a:t>reading</a:t>
            </a:r>
            <a:r>
              <a:rPr sz="1000" spc="-5" dirty="0">
                <a:latin typeface="Arial"/>
                <a:cs typeface="Arial"/>
              </a:rPr>
              <a:t> </a:t>
            </a:r>
            <a:r>
              <a:rPr sz="1000" spc="-20" dirty="0">
                <a:latin typeface="Arial"/>
                <a:cs typeface="Arial"/>
              </a:rPr>
              <a:t>newer</a:t>
            </a:r>
            <a:r>
              <a:rPr sz="1000" spc="-5" dirty="0">
                <a:latin typeface="Arial"/>
                <a:cs typeface="Arial"/>
              </a:rPr>
              <a:t> entries </a:t>
            </a:r>
            <a:r>
              <a:rPr sz="1000" spc="-10" dirty="0">
                <a:latin typeface="Arial"/>
                <a:cs typeface="Arial"/>
              </a:rPr>
              <a:t>than</a:t>
            </a:r>
            <a:r>
              <a:rPr sz="1000" spc="-5" dirty="0">
                <a:latin typeface="Arial"/>
                <a:cs typeface="Arial"/>
              </a:rPr>
              <a:t> </a:t>
            </a:r>
            <a:r>
              <a:rPr sz="1000" spc="-10" dirty="0">
                <a:latin typeface="Arial"/>
                <a:cs typeface="Arial"/>
              </a:rPr>
              <a:t>the</a:t>
            </a:r>
            <a:r>
              <a:rPr sz="1000" spc="-5" dirty="0">
                <a:latin typeface="Arial"/>
                <a:cs typeface="Arial"/>
              </a:rPr>
              <a:t> </a:t>
            </a:r>
            <a:r>
              <a:rPr sz="1000" spc="-10" dirty="0">
                <a:latin typeface="Arial"/>
                <a:cs typeface="Arial"/>
              </a:rPr>
              <a:t>ones</a:t>
            </a:r>
            <a:r>
              <a:rPr sz="1000" spc="-5" dirty="0">
                <a:latin typeface="Arial"/>
                <a:cs typeface="Arial"/>
              </a:rPr>
              <a:t> </a:t>
            </a:r>
            <a:r>
              <a:rPr sz="1000" spc="-15" dirty="0">
                <a:latin typeface="Arial"/>
                <a:cs typeface="Arial"/>
              </a:rPr>
              <a:t>available</a:t>
            </a:r>
            <a:r>
              <a:rPr sz="1000" spc="-5" dirty="0">
                <a:latin typeface="Arial"/>
                <a:cs typeface="Arial"/>
              </a:rPr>
              <a:t> </a:t>
            </a:r>
            <a:r>
              <a:rPr sz="1000" spc="-10" dirty="0">
                <a:latin typeface="Arial"/>
                <a:cs typeface="Arial"/>
              </a:rPr>
              <a:t>at</a:t>
            </a:r>
            <a:endParaRPr sz="1000">
              <a:latin typeface="Arial"/>
              <a:cs typeface="Arial"/>
            </a:endParaRPr>
          </a:p>
          <a:p>
            <a:pPr marL="582930">
              <a:lnSpc>
                <a:spcPts val="1195"/>
              </a:lnSpc>
            </a:pPr>
            <a:r>
              <a:rPr sz="1000" i="1" spc="-5" dirty="0">
                <a:latin typeface="Arial"/>
                <a:cs typeface="Arial"/>
              </a:rPr>
              <a:t>A</a:t>
            </a:r>
            <a:endParaRPr sz="1000">
              <a:latin typeface="Arial"/>
              <a:cs typeface="Arial"/>
            </a:endParaRPr>
          </a:p>
          <a:p>
            <a:pPr marL="582930" lvl="1" indent="-168275">
              <a:lnSpc>
                <a:spcPts val="1200"/>
              </a:lnSpc>
              <a:buClr>
                <a:srgbClr val="007C00"/>
              </a:buClr>
              <a:buChar char="►"/>
              <a:tabLst>
                <a:tab pos="583565" algn="l"/>
              </a:tabLst>
            </a:pPr>
            <a:r>
              <a:rPr sz="1000" spc="-10" dirty="0">
                <a:latin typeface="Arial"/>
                <a:cs typeface="Arial"/>
              </a:rPr>
              <a:t>your</a:t>
            </a:r>
            <a:r>
              <a:rPr sz="1000" spc="-5" dirty="0">
                <a:latin typeface="Arial"/>
                <a:cs typeface="Arial"/>
              </a:rPr>
              <a:t> updates</a:t>
            </a:r>
            <a:r>
              <a:rPr sz="1000" dirty="0">
                <a:latin typeface="Arial"/>
                <a:cs typeface="Arial"/>
              </a:rPr>
              <a:t> </a:t>
            </a:r>
            <a:r>
              <a:rPr sz="1000" spc="-5" dirty="0">
                <a:latin typeface="Arial"/>
                <a:cs typeface="Arial"/>
              </a:rPr>
              <a:t>at</a:t>
            </a:r>
            <a:r>
              <a:rPr sz="1000" dirty="0">
                <a:latin typeface="Arial"/>
                <a:cs typeface="Arial"/>
              </a:rPr>
              <a:t> </a:t>
            </a:r>
            <a:r>
              <a:rPr sz="1000" i="1" spc="-5" dirty="0">
                <a:latin typeface="Arial"/>
                <a:cs typeface="Arial"/>
              </a:rPr>
              <a:t>B</a:t>
            </a:r>
            <a:r>
              <a:rPr sz="1000" i="1" spc="45" dirty="0">
                <a:latin typeface="Arial"/>
                <a:cs typeface="Arial"/>
              </a:rPr>
              <a:t> </a:t>
            </a:r>
            <a:r>
              <a:rPr sz="1000" spc="-15" dirty="0">
                <a:latin typeface="Arial"/>
                <a:cs typeface="Arial"/>
              </a:rPr>
              <a:t>may</a:t>
            </a:r>
            <a:r>
              <a:rPr sz="1000" spc="-5" dirty="0">
                <a:latin typeface="Arial"/>
                <a:cs typeface="Arial"/>
              </a:rPr>
              <a:t> </a:t>
            </a:r>
            <a:r>
              <a:rPr sz="1000" spc="-10" dirty="0">
                <a:latin typeface="Arial"/>
                <a:cs typeface="Arial"/>
              </a:rPr>
              <a:t>eventually</a:t>
            </a:r>
            <a:r>
              <a:rPr sz="1000" dirty="0">
                <a:latin typeface="Arial"/>
                <a:cs typeface="Arial"/>
              </a:rPr>
              <a:t> </a:t>
            </a:r>
            <a:r>
              <a:rPr sz="1000" spc="-5" dirty="0">
                <a:latin typeface="Arial"/>
                <a:cs typeface="Arial"/>
              </a:rPr>
              <a:t>conflict</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those</a:t>
            </a:r>
            <a:r>
              <a:rPr sz="1000" dirty="0">
                <a:latin typeface="Arial"/>
                <a:cs typeface="Arial"/>
              </a:rPr>
              <a:t> </a:t>
            </a:r>
            <a:r>
              <a:rPr sz="1000" spc="-5" dirty="0">
                <a:latin typeface="Arial"/>
                <a:cs typeface="Arial"/>
              </a:rPr>
              <a:t>at </a:t>
            </a:r>
            <a:r>
              <a:rPr sz="1000" i="1" spc="-5" dirty="0">
                <a:latin typeface="Arial"/>
                <a:cs typeface="Arial"/>
              </a:rPr>
              <a:t>A</a:t>
            </a:r>
            <a:endParaRPr sz="1000">
              <a:latin typeface="Arial"/>
              <a:cs typeface="Arial"/>
            </a:endParaRPr>
          </a:p>
          <a:p>
            <a:pPr marL="29209">
              <a:lnSpc>
                <a:spcPts val="1410"/>
              </a:lnSpc>
              <a:spcBef>
                <a:spcPts val="1205"/>
              </a:spcBef>
            </a:pPr>
            <a:r>
              <a:rPr sz="1200" spc="-5" dirty="0">
                <a:solidFill>
                  <a:srgbClr val="FA0000"/>
                </a:solidFill>
                <a:latin typeface="Arial"/>
                <a:cs typeface="Arial"/>
              </a:rPr>
              <a:t>Note</a:t>
            </a:r>
            <a:endParaRPr sz="1200">
              <a:latin typeface="Arial"/>
              <a:cs typeface="Arial"/>
            </a:endParaRPr>
          </a:p>
          <a:p>
            <a:pPr marL="29209" marR="115570" indent="-4445">
              <a:lnSpc>
                <a:spcPts val="1200"/>
              </a:lnSpc>
              <a:spcBef>
                <a:spcPts val="10"/>
              </a:spcBef>
            </a:pPr>
            <a:r>
              <a:rPr sz="1000" spc="-5" dirty="0">
                <a:latin typeface="Arial"/>
                <a:cs typeface="Arial"/>
              </a:rPr>
              <a:t>The</a:t>
            </a:r>
            <a:r>
              <a:rPr sz="1000" dirty="0">
                <a:latin typeface="Arial"/>
                <a:cs typeface="Arial"/>
              </a:rPr>
              <a:t> </a:t>
            </a:r>
            <a:r>
              <a:rPr sz="1000" spc="-5" dirty="0">
                <a:latin typeface="Arial"/>
                <a:cs typeface="Arial"/>
              </a:rPr>
              <a:t>only</a:t>
            </a:r>
            <a:r>
              <a:rPr sz="1000" dirty="0">
                <a:latin typeface="Arial"/>
                <a:cs typeface="Arial"/>
              </a:rPr>
              <a:t> </a:t>
            </a:r>
            <a:r>
              <a:rPr sz="1000" spc="-5" dirty="0">
                <a:latin typeface="Arial"/>
                <a:cs typeface="Arial"/>
              </a:rPr>
              <a:t>thing</a:t>
            </a:r>
            <a:r>
              <a:rPr sz="1000" spc="5" dirty="0">
                <a:latin typeface="Arial"/>
                <a:cs typeface="Arial"/>
              </a:rPr>
              <a:t> </a:t>
            </a:r>
            <a:r>
              <a:rPr sz="1000" spc="-10" dirty="0">
                <a:latin typeface="Arial"/>
                <a:cs typeface="Arial"/>
              </a:rPr>
              <a:t>you</a:t>
            </a:r>
            <a:r>
              <a:rPr sz="1000" dirty="0">
                <a:latin typeface="Arial"/>
                <a:cs typeface="Arial"/>
              </a:rPr>
              <a:t> </a:t>
            </a:r>
            <a:r>
              <a:rPr sz="1000" spc="-5" dirty="0">
                <a:latin typeface="Arial"/>
                <a:cs typeface="Arial"/>
              </a:rPr>
              <a:t>really</a:t>
            </a:r>
            <a:r>
              <a:rPr sz="1000" dirty="0">
                <a:latin typeface="Arial"/>
                <a:cs typeface="Arial"/>
              </a:rPr>
              <a:t> </a:t>
            </a:r>
            <a:r>
              <a:rPr sz="1000" spc="-10" dirty="0">
                <a:latin typeface="Arial"/>
                <a:cs typeface="Arial"/>
              </a:rPr>
              <a:t>want</a:t>
            </a:r>
            <a:r>
              <a:rPr sz="1000" spc="5"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entries</a:t>
            </a:r>
            <a:r>
              <a:rPr sz="1000" dirty="0">
                <a:latin typeface="Arial"/>
                <a:cs typeface="Arial"/>
              </a:rPr>
              <a:t> </a:t>
            </a:r>
            <a:r>
              <a:rPr sz="1000" spc="-10" dirty="0">
                <a:latin typeface="Arial"/>
                <a:cs typeface="Arial"/>
              </a:rPr>
              <a:t>you</a:t>
            </a:r>
            <a:r>
              <a:rPr sz="1000" spc="5" dirty="0">
                <a:latin typeface="Arial"/>
                <a:cs typeface="Arial"/>
              </a:rPr>
              <a:t> </a:t>
            </a:r>
            <a:r>
              <a:rPr sz="1000" spc="-5" dirty="0">
                <a:latin typeface="Arial"/>
                <a:cs typeface="Arial"/>
              </a:rPr>
              <a:t>updated</a:t>
            </a:r>
            <a:r>
              <a:rPr sz="1000" dirty="0">
                <a:latin typeface="Arial"/>
                <a:cs typeface="Arial"/>
              </a:rPr>
              <a:t> </a:t>
            </a:r>
            <a:r>
              <a:rPr sz="1000" spc="-5" dirty="0">
                <a:latin typeface="Arial"/>
                <a:cs typeface="Arial"/>
              </a:rPr>
              <a:t>and/or </a:t>
            </a:r>
            <a:r>
              <a:rPr sz="1000" spc="-260" dirty="0">
                <a:latin typeface="Arial"/>
                <a:cs typeface="Arial"/>
              </a:rPr>
              <a:t> </a:t>
            </a:r>
            <a:r>
              <a:rPr sz="1000" spc="-5" dirty="0">
                <a:latin typeface="Arial"/>
                <a:cs typeface="Arial"/>
              </a:rPr>
              <a:t>read at </a:t>
            </a:r>
            <a:r>
              <a:rPr sz="1000" i="1" spc="-5" dirty="0">
                <a:latin typeface="Arial"/>
                <a:cs typeface="Arial"/>
              </a:rPr>
              <a:t>A</a:t>
            </a:r>
            <a:r>
              <a:rPr sz="1000" spc="-5" dirty="0">
                <a:latin typeface="Arial"/>
                <a:cs typeface="Arial"/>
              </a:rPr>
              <a:t>, are</a:t>
            </a:r>
            <a:r>
              <a:rPr sz="1000" dirty="0">
                <a:latin typeface="Arial"/>
                <a:cs typeface="Arial"/>
              </a:rPr>
              <a:t> </a:t>
            </a:r>
            <a:r>
              <a:rPr sz="1000" spc="-5" dirty="0">
                <a:latin typeface="Arial"/>
                <a:cs typeface="Arial"/>
              </a:rPr>
              <a:t>in </a:t>
            </a:r>
            <a:r>
              <a:rPr sz="1000" i="1" spc="-5" dirty="0">
                <a:latin typeface="Arial"/>
                <a:cs typeface="Arial"/>
              </a:rPr>
              <a:t>B</a:t>
            </a:r>
            <a:r>
              <a:rPr sz="1000" i="1" spc="40" dirty="0">
                <a:latin typeface="Arial"/>
                <a:cs typeface="Arial"/>
              </a:rPr>
              <a:t> </a:t>
            </a:r>
            <a:r>
              <a:rPr sz="1000" spc="-5" dirty="0">
                <a:latin typeface="Arial"/>
                <a:cs typeface="Arial"/>
              </a:rPr>
              <a:t>the</a:t>
            </a:r>
            <a:r>
              <a:rPr sz="1000" dirty="0">
                <a:latin typeface="Arial"/>
                <a:cs typeface="Arial"/>
              </a:rPr>
              <a:t> </a:t>
            </a:r>
            <a:r>
              <a:rPr sz="1000" spc="-20" dirty="0">
                <a:latin typeface="Arial"/>
                <a:cs typeface="Arial"/>
              </a:rPr>
              <a:t>way</a:t>
            </a:r>
            <a:r>
              <a:rPr sz="1000" spc="-5" dirty="0">
                <a:latin typeface="Arial"/>
                <a:cs typeface="Arial"/>
              </a:rPr>
              <a:t> </a:t>
            </a:r>
            <a:r>
              <a:rPr sz="1000" spc="-10" dirty="0">
                <a:latin typeface="Arial"/>
                <a:cs typeface="Arial"/>
              </a:rPr>
              <a:t>you</a:t>
            </a:r>
            <a:r>
              <a:rPr sz="1000" spc="-5" dirty="0">
                <a:latin typeface="Arial"/>
                <a:cs typeface="Arial"/>
              </a:rPr>
              <a:t> left them</a:t>
            </a:r>
            <a:r>
              <a:rPr sz="1000" dirty="0">
                <a:latin typeface="Arial"/>
                <a:cs typeface="Arial"/>
              </a:rPr>
              <a:t> </a:t>
            </a:r>
            <a:r>
              <a:rPr sz="1000" spc="-5" dirty="0">
                <a:latin typeface="Arial"/>
                <a:cs typeface="Arial"/>
              </a:rPr>
              <a:t>in </a:t>
            </a:r>
            <a:r>
              <a:rPr sz="1000" i="1" spc="-5" dirty="0">
                <a:latin typeface="Arial"/>
                <a:cs typeface="Arial"/>
              </a:rPr>
              <a:t>A</a:t>
            </a:r>
            <a:r>
              <a:rPr sz="1000" spc="-5" dirty="0">
                <a:latin typeface="Arial"/>
                <a:cs typeface="Arial"/>
              </a:rPr>
              <a:t>.</a:t>
            </a:r>
            <a:r>
              <a:rPr sz="1000" spc="6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that case, the </a:t>
            </a:r>
            <a:r>
              <a:rPr sz="1000" dirty="0">
                <a:latin typeface="Arial"/>
                <a:cs typeface="Arial"/>
              </a:rPr>
              <a:t> </a:t>
            </a:r>
            <a:r>
              <a:rPr sz="1000" spc="-5" dirty="0">
                <a:latin typeface="Arial"/>
                <a:cs typeface="Arial"/>
              </a:rPr>
              <a:t>database will appear to be consistent </a:t>
            </a:r>
            <a:r>
              <a:rPr sz="1000" spc="-5" dirty="0">
                <a:solidFill>
                  <a:srgbClr val="0000FA"/>
                </a:solidFill>
                <a:latin typeface="Arial"/>
                <a:cs typeface="Arial"/>
              </a:rPr>
              <a:t>to </a:t>
            </a:r>
            <a:r>
              <a:rPr sz="1000" spc="-10" dirty="0">
                <a:solidFill>
                  <a:srgbClr val="0000FA"/>
                </a:solidFill>
                <a:latin typeface="Arial"/>
                <a:cs typeface="Arial"/>
              </a:rPr>
              <a:t>you</a:t>
            </a:r>
            <a:r>
              <a:rPr sz="1000" spc="-10" dirty="0">
                <a:latin typeface="Arial"/>
                <a:cs typeface="Arial"/>
              </a:rPr>
              <a:t>.</a:t>
            </a:r>
            <a:endParaRPr sz="1000">
              <a:latin typeface="Arial"/>
              <a:cs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214249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Client-centric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a:spLocks noGrp="1"/>
          </p:cNvSpPr>
          <p:nvPr>
            <p:ph type="title"/>
          </p:nvPr>
        </p:nvSpPr>
        <p:spPr>
          <a:xfrm>
            <a:off x="95300" y="188846"/>
            <a:ext cx="1473835" cy="244475"/>
          </a:xfrm>
          <a:prstGeom prst="rect">
            <a:avLst/>
          </a:prstGeom>
        </p:spPr>
        <p:txBody>
          <a:bodyPr vert="horz" wrap="square" lIns="0" tIns="17145" rIns="0" bIns="0" rtlCol="0">
            <a:spAutoFit/>
          </a:bodyPr>
          <a:lstStyle/>
          <a:p>
            <a:pPr marL="12700">
              <a:lnSpc>
                <a:spcPct val="100000"/>
              </a:lnSpc>
              <a:spcBef>
                <a:spcPts val="135"/>
              </a:spcBef>
            </a:pPr>
            <a:r>
              <a:rPr spc="15" dirty="0"/>
              <a:t>Basic</a:t>
            </a:r>
            <a:r>
              <a:rPr spc="-70" dirty="0"/>
              <a:t> </a:t>
            </a:r>
            <a:r>
              <a:rPr spc="15" dirty="0"/>
              <a:t>architecture</a:t>
            </a:r>
          </a:p>
        </p:txBody>
      </p:sp>
      <p:pic>
        <p:nvPicPr>
          <p:cNvPr id="4" name="object 4"/>
          <p:cNvPicPr/>
          <p:nvPr/>
        </p:nvPicPr>
        <p:blipFill>
          <a:blip r:embed="rId5" cstate="print"/>
          <a:stretch>
            <a:fillRect/>
          </a:stretch>
        </p:blipFill>
        <p:spPr>
          <a:xfrm>
            <a:off x="800680" y="1153744"/>
            <a:ext cx="3172545" cy="1857829"/>
          </a:xfrm>
          <a:prstGeom prst="rect">
            <a:avLst/>
          </a:prstGeom>
        </p:spPr>
      </p:pic>
      <p:sp>
        <p:nvSpPr>
          <p:cNvPr id="5" name="object 5"/>
          <p:cNvSpPr txBox="1"/>
          <p:nvPr/>
        </p:nvSpPr>
        <p:spPr>
          <a:xfrm>
            <a:off x="342595" y="429244"/>
            <a:ext cx="3888104" cy="766445"/>
          </a:xfrm>
          <a:prstGeom prst="rect">
            <a:avLst/>
          </a:prstGeom>
        </p:spPr>
        <p:txBody>
          <a:bodyPr vert="horz" wrap="square" lIns="0" tIns="22860" rIns="0" bIns="0" rtlCol="0">
            <a:spAutoFit/>
          </a:bodyPr>
          <a:lstStyle/>
          <a:p>
            <a:pPr marL="17145" marR="5080" indent="-5080">
              <a:lnSpc>
                <a:spcPts val="1390"/>
              </a:lnSpc>
              <a:spcBef>
                <a:spcPts val="180"/>
              </a:spcBef>
            </a:pPr>
            <a:r>
              <a:rPr sz="1200" spc="-5" dirty="0">
                <a:solidFill>
                  <a:srgbClr val="3333B2"/>
                </a:solidFill>
                <a:latin typeface="Arial"/>
                <a:cs typeface="Arial"/>
              </a:rPr>
              <a:t>The</a:t>
            </a:r>
            <a:r>
              <a:rPr sz="1200" dirty="0">
                <a:solidFill>
                  <a:srgbClr val="3333B2"/>
                </a:solidFill>
                <a:latin typeface="Arial"/>
                <a:cs typeface="Arial"/>
              </a:rPr>
              <a:t> </a:t>
            </a:r>
            <a:r>
              <a:rPr sz="1200" spc="-5" dirty="0">
                <a:solidFill>
                  <a:srgbClr val="3333B2"/>
                </a:solidFill>
                <a:latin typeface="Arial"/>
                <a:cs typeface="Arial"/>
              </a:rPr>
              <a:t>principle</a:t>
            </a:r>
            <a:r>
              <a:rPr sz="1200" spc="5" dirty="0">
                <a:solidFill>
                  <a:srgbClr val="3333B2"/>
                </a:solidFill>
                <a:latin typeface="Arial"/>
                <a:cs typeface="Arial"/>
              </a:rPr>
              <a:t> </a:t>
            </a:r>
            <a:r>
              <a:rPr sz="1200" spc="-5" dirty="0">
                <a:solidFill>
                  <a:srgbClr val="3333B2"/>
                </a:solidFill>
                <a:latin typeface="Arial"/>
                <a:cs typeface="Arial"/>
              </a:rPr>
              <a:t>of</a:t>
            </a:r>
            <a:r>
              <a:rPr sz="1200" dirty="0">
                <a:solidFill>
                  <a:srgbClr val="3333B2"/>
                </a:solidFill>
                <a:latin typeface="Arial"/>
                <a:cs typeface="Arial"/>
              </a:rPr>
              <a:t> </a:t>
            </a:r>
            <a:r>
              <a:rPr sz="1200" spc="-5" dirty="0">
                <a:solidFill>
                  <a:srgbClr val="3333B2"/>
                </a:solidFill>
                <a:latin typeface="Arial"/>
                <a:cs typeface="Arial"/>
              </a:rPr>
              <a:t>a</a:t>
            </a:r>
            <a:r>
              <a:rPr sz="1200" spc="5" dirty="0">
                <a:solidFill>
                  <a:srgbClr val="3333B2"/>
                </a:solidFill>
                <a:latin typeface="Arial"/>
                <a:cs typeface="Arial"/>
              </a:rPr>
              <a:t> </a:t>
            </a:r>
            <a:r>
              <a:rPr sz="1200" spc="-5" dirty="0">
                <a:solidFill>
                  <a:srgbClr val="3333B2"/>
                </a:solidFill>
                <a:latin typeface="Arial"/>
                <a:cs typeface="Arial"/>
              </a:rPr>
              <a:t>mobile</a:t>
            </a:r>
            <a:r>
              <a:rPr sz="1200" spc="5" dirty="0">
                <a:solidFill>
                  <a:srgbClr val="3333B2"/>
                </a:solidFill>
                <a:latin typeface="Arial"/>
                <a:cs typeface="Arial"/>
              </a:rPr>
              <a:t> </a:t>
            </a:r>
            <a:r>
              <a:rPr sz="1200" spc="-5" dirty="0">
                <a:solidFill>
                  <a:srgbClr val="3333B2"/>
                </a:solidFill>
                <a:latin typeface="Arial"/>
                <a:cs typeface="Arial"/>
              </a:rPr>
              <a:t>user</a:t>
            </a:r>
            <a:r>
              <a:rPr sz="1200" dirty="0">
                <a:solidFill>
                  <a:srgbClr val="3333B2"/>
                </a:solidFill>
                <a:latin typeface="Arial"/>
                <a:cs typeface="Arial"/>
              </a:rPr>
              <a:t> </a:t>
            </a:r>
            <a:r>
              <a:rPr sz="1200" spc="-5" dirty="0">
                <a:solidFill>
                  <a:srgbClr val="3333B2"/>
                </a:solidFill>
                <a:latin typeface="Arial"/>
                <a:cs typeface="Arial"/>
              </a:rPr>
              <a:t>accessing</a:t>
            </a:r>
            <a:r>
              <a:rPr sz="1200" spc="5" dirty="0">
                <a:solidFill>
                  <a:srgbClr val="3333B2"/>
                </a:solidFill>
                <a:latin typeface="Arial"/>
                <a:cs typeface="Arial"/>
              </a:rPr>
              <a:t> </a:t>
            </a:r>
            <a:r>
              <a:rPr sz="1200" spc="-10" dirty="0">
                <a:solidFill>
                  <a:srgbClr val="3333B2"/>
                </a:solidFill>
                <a:latin typeface="Arial"/>
                <a:cs typeface="Arial"/>
              </a:rPr>
              <a:t>different</a:t>
            </a:r>
            <a:r>
              <a:rPr sz="1200" dirty="0">
                <a:solidFill>
                  <a:srgbClr val="3333B2"/>
                </a:solidFill>
                <a:latin typeface="Arial"/>
                <a:cs typeface="Arial"/>
              </a:rPr>
              <a:t> </a:t>
            </a:r>
            <a:r>
              <a:rPr sz="1200" spc="-5" dirty="0">
                <a:solidFill>
                  <a:srgbClr val="3333B2"/>
                </a:solidFill>
                <a:latin typeface="Arial"/>
                <a:cs typeface="Arial"/>
              </a:rPr>
              <a:t>replicas </a:t>
            </a:r>
            <a:r>
              <a:rPr sz="1200" spc="-315" dirty="0">
                <a:solidFill>
                  <a:srgbClr val="3333B2"/>
                </a:solidFill>
                <a:latin typeface="Arial"/>
                <a:cs typeface="Arial"/>
              </a:rPr>
              <a:t> </a:t>
            </a:r>
            <a:r>
              <a:rPr sz="1200" spc="-5" dirty="0">
                <a:solidFill>
                  <a:srgbClr val="3333B2"/>
                </a:solidFill>
                <a:latin typeface="Arial"/>
                <a:cs typeface="Arial"/>
              </a:rPr>
              <a:t>of</a:t>
            </a:r>
            <a:r>
              <a:rPr sz="1200" spc="-10" dirty="0">
                <a:solidFill>
                  <a:srgbClr val="3333B2"/>
                </a:solidFill>
                <a:latin typeface="Arial"/>
                <a:cs typeface="Arial"/>
              </a:rPr>
              <a:t> </a:t>
            </a:r>
            <a:r>
              <a:rPr sz="1200" spc="-5" dirty="0">
                <a:solidFill>
                  <a:srgbClr val="3333B2"/>
                </a:solidFill>
                <a:latin typeface="Arial"/>
                <a:cs typeface="Arial"/>
              </a:rPr>
              <a:t>a distributed database</a:t>
            </a:r>
            <a:endParaRPr sz="1200">
              <a:latin typeface="Arial"/>
              <a:cs typeface="Arial"/>
            </a:endParaRPr>
          </a:p>
          <a:p>
            <a:pPr marL="1805305" marR="912494">
              <a:lnSpc>
                <a:spcPts val="740"/>
              </a:lnSpc>
              <a:spcBef>
                <a:spcPts val="760"/>
              </a:spcBef>
            </a:pPr>
            <a:r>
              <a:rPr sz="650" spc="5" dirty="0">
                <a:solidFill>
                  <a:srgbClr val="231F20"/>
                </a:solidFill>
                <a:latin typeface="Helvetica"/>
                <a:cs typeface="Helvetica"/>
              </a:rPr>
              <a:t>Client moves to other location </a:t>
            </a:r>
            <a:r>
              <a:rPr sz="650" spc="10" dirty="0">
                <a:solidFill>
                  <a:srgbClr val="231F20"/>
                </a:solidFill>
                <a:latin typeface="Helvetica"/>
                <a:cs typeface="Helvetica"/>
              </a:rPr>
              <a:t> </a:t>
            </a:r>
            <a:r>
              <a:rPr sz="650" spc="5" dirty="0">
                <a:solidFill>
                  <a:srgbClr val="231F20"/>
                </a:solidFill>
                <a:latin typeface="Helvetica"/>
                <a:cs typeface="Helvetica"/>
              </a:rPr>
              <a:t>and</a:t>
            </a:r>
            <a:r>
              <a:rPr sz="650" spc="-20" dirty="0">
                <a:solidFill>
                  <a:srgbClr val="231F20"/>
                </a:solidFill>
                <a:latin typeface="Helvetica"/>
                <a:cs typeface="Helvetica"/>
              </a:rPr>
              <a:t> </a:t>
            </a:r>
            <a:r>
              <a:rPr sz="650" spc="5" dirty="0">
                <a:solidFill>
                  <a:srgbClr val="231F20"/>
                </a:solidFill>
                <a:latin typeface="Helvetica"/>
                <a:cs typeface="Helvetica"/>
              </a:rPr>
              <a:t>(transparently)</a:t>
            </a:r>
            <a:r>
              <a:rPr sz="650" spc="-20" dirty="0">
                <a:solidFill>
                  <a:srgbClr val="231F20"/>
                </a:solidFill>
                <a:latin typeface="Helvetica"/>
                <a:cs typeface="Helvetica"/>
              </a:rPr>
              <a:t> </a:t>
            </a:r>
            <a:r>
              <a:rPr sz="650" spc="5" dirty="0">
                <a:solidFill>
                  <a:srgbClr val="231F20"/>
                </a:solidFill>
                <a:latin typeface="Helvetica"/>
                <a:cs typeface="Helvetica"/>
              </a:rPr>
              <a:t>connects</a:t>
            </a:r>
            <a:r>
              <a:rPr sz="650" spc="-20" dirty="0">
                <a:solidFill>
                  <a:srgbClr val="231F20"/>
                </a:solidFill>
                <a:latin typeface="Helvetica"/>
                <a:cs typeface="Helvetica"/>
              </a:rPr>
              <a:t> </a:t>
            </a:r>
            <a:r>
              <a:rPr sz="650" spc="5" dirty="0">
                <a:solidFill>
                  <a:srgbClr val="231F20"/>
                </a:solidFill>
                <a:latin typeface="Helvetica"/>
                <a:cs typeface="Helvetica"/>
              </a:rPr>
              <a:t>to </a:t>
            </a:r>
            <a:r>
              <a:rPr sz="650" spc="-165" dirty="0">
                <a:solidFill>
                  <a:srgbClr val="231F20"/>
                </a:solidFill>
                <a:latin typeface="Helvetica"/>
                <a:cs typeface="Helvetica"/>
              </a:rPr>
              <a:t> </a:t>
            </a:r>
            <a:r>
              <a:rPr sz="650" spc="5" dirty="0">
                <a:solidFill>
                  <a:srgbClr val="231F20"/>
                </a:solidFill>
                <a:latin typeface="Helvetica"/>
                <a:cs typeface="Helvetica"/>
              </a:rPr>
              <a:t>other</a:t>
            </a:r>
            <a:r>
              <a:rPr sz="650" spc="-5" dirty="0">
                <a:solidFill>
                  <a:srgbClr val="231F20"/>
                </a:solidFill>
                <a:latin typeface="Helvetica"/>
                <a:cs typeface="Helvetica"/>
              </a:rPr>
              <a:t> </a:t>
            </a:r>
            <a:r>
              <a:rPr sz="650" spc="5" dirty="0">
                <a:solidFill>
                  <a:srgbClr val="231F20"/>
                </a:solidFill>
                <a:latin typeface="Helvetica"/>
                <a:cs typeface="Helvetica"/>
              </a:rPr>
              <a:t>replica</a:t>
            </a:r>
            <a:endParaRPr sz="650">
              <a:latin typeface="Helvetica"/>
              <a:cs typeface="Helvetica"/>
            </a:endParaRPr>
          </a:p>
        </p:txBody>
      </p:sp>
      <p:sp>
        <p:nvSpPr>
          <p:cNvPr id="8" name="object 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16</a:t>
            </a:r>
            <a:r>
              <a:rPr spc="-40" dirty="0"/>
              <a:t> </a:t>
            </a:r>
            <a:r>
              <a:rPr spc="-5" dirty="0"/>
              <a:t>/</a:t>
            </a:r>
            <a:r>
              <a:rPr spc="-35" dirty="0"/>
              <a:t> </a:t>
            </a:r>
            <a:r>
              <a:rPr spc="-5" dirty="0"/>
              <a:t>37</a:t>
            </a:r>
          </a:p>
        </p:txBody>
      </p:sp>
      <p:sp>
        <p:nvSpPr>
          <p:cNvPr id="6" name="object 6"/>
          <p:cNvSpPr txBox="1"/>
          <p:nvPr/>
        </p:nvSpPr>
        <p:spPr>
          <a:xfrm>
            <a:off x="2020555" y="1612132"/>
            <a:ext cx="1692910" cy="557530"/>
          </a:xfrm>
          <a:prstGeom prst="rect">
            <a:avLst/>
          </a:prstGeom>
        </p:spPr>
        <p:txBody>
          <a:bodyPr vert="horz" wrap="square" lIns="0" tIns="21590" rIns="0" bIns="0" rtlCol="0">
            <a:spAutoFit/>
          </a:bodyPr>
          <a:lstStyle/>
          <a:p>
            <a:pPr marL="709930" marR="5080">
              <a:lnSpc>
                <a:spcPts val="740"/>
              </a:lnSpc>
              <a:spcBef>
                <a:spcPts val="170"/>
              </a:spcBef>
            </a:pPr>
            <a:r>
              <a:rPr sz="650" spc="5" dirty="0">
                <a:solidFill>
                  <a:srgbClr val="231F20"/>
                </a:solidFill>
                <a:latin typeface="Helvetica"/>
                <a:cs typeface="Helvetica"/>
              </a:rPr>
              <a:t>Replicas</a:t>
            </a:r>
            <a:r>
              <a:rPr sz="650" spc="-20" dirty="0">
                <a:solidFill>
                  <a:srgbClr val="231F20"/>
                </a:solidFill>
                <a:latin typeface="Helvetica"/>
                <a:cs typeface="Helvetica"/>
              </a:rPr>
              <a:t> </a:t>
            </a:r>
            <a:r>
              <a:rPr sz="650" spc="5" dirty="0">
                <a:solidFill>
                  <a:srgbClr val="231F20"/>
                </a:solidFill>
                <a:latin typeface="Helvetica"/>
                <a:cs typeface="Helvetica"/>
              </a:rPr>
              <a:t>need</a:t>
            </a:r>
            <a:r>
              <a:rPr sz="650" spc="-20" dirty="0">
                <a:solidFill>
                  <a:srgbClr val="231F20"/>
                </a:solidFill>
                <a:latin typeface="Helvetica"/>
                <a:cs typeface="Helvetica"/>
              </a:rPr>
              <a:t> </a:t>
            </a:r>
            <a:r>
              <a:rPr sz="650" spc="5" dirty="0">
                <a:solidFill>
                  <a:srgbClr val="231F20"/>
                </a:solidFill>
                <a:latin typeface="Helvetica"/>
                <a:cs typeface="Helvetica"/>
              </a:rPr>
              <a:t>to</a:t>
            </a:r>
            <a:r>
              <a:rPr sz="650" spc="-20" dirty="0">
                <a:solidFill>
                  <a:srgbClr val="231F20"/>
                </a:solidFill>
                <a:latin typeface="Helvetica"/>
                <a:cs typeface="Helvetica"/>
              </a:rPr>
              <a:t> </a:t>
            </a:r>
            <a:r>
              <a:rPr sz="650" spc="5" dirty="0">
                <a:solidFill>
                  <a:srgbClr val="231F20"/>
                </a:solidFill>
                <a:latin typeface="Helvetica"/>
                <a:cs typeface="Helvetica"/>
              </a:rPr>
              <a:t>maintain </a:t>
            </a:r>
            <a:r>
              <a:rPr sz="650" spc="-170" dirty="0">
                <a:solidFill>
                  <a:srgbClr val="231F20"/>
                </a:solidFill>
                <a:latin typeface="Helvetica"/>
                <a:cs typeface="Helvetica"/>
              </a:rPr>
              <a:t> </a:t>
            </a:r>
            <a:r>
              <a:rPr sz="650" spc="5" dirty="0">
                <a:solidFill>
                  <a:srgbClr val="231F20"/>
                </a:solidFill>
                <a:latin typeface="Helvetica"/>
                <a:cs typeface="Helvetica"/>
              </a:rPr>
              <a:t>client-centric</a:t>
            </a:r>
            <a:r>
              <a:rPr sz="650" spc="-30" dirty="0">
                <a:solidFill>
                  <a:srgbClr val="231F20"/>
                </a:solidFill>
                <a:latin typeface="Helvetica"/>
                <a:cs typeface="Helvetica"/>
              </a:rPr>
              <a:t> </a:t>
            </a:r>
            <a:r>
              <a:rPr sz="650" spc="5" dirty="0">
                <a:solidFill>
                  <a:srgbClr val="231F20"/>
                </a:solidFill>
                <a:latin typeface="Helvetica"/>
                <a:cs typeface="Helvetica"/>
              </a:rPr>
              <a:t>consistency</a:t>
            </a:r>
            <a:endParaRPr sz="650">
              <a:latin typeface="Helvetica"/>
              <a:cs typeface="Helvetica"/>
            </a:endParaRPr>
          </a:p>
          <a:p>
            <a:pPr>
              <a:lnSpc>
                <a:spcPct val="100000"/>
              </a:lnSpc>
            </a:pPr>
            <a:endParaRPr sz="600">
              <a:latin typeface="Helvetica"/>
              <a:cs typeface="Helvetica"/>
            </a:endParaRPr>
          </a:p>
          <a:p>
            <a:pPr>
              <a:lnSpc>
                <a:spcPct val="100000"/>
              </a:lnSpc>
            </a:pPr>
            <a:endParaRPr sz="600">
              <a:latin typeface="Helvetica"/>
              <a:cs typeface="Helvetica"/>
            </a:endParaRPr>
          </a:p>
          <a:p>
            <a:pPr marL="12700">
              <a:lnSpc>
                <a:spcPct val="100000"/>
              </a:lnSpc>
              <a:spcBef>
                <a:spcPts val="445"/>
              </a:spcBef>
            </a:pPr>
            <a:r>
              <a:rPr sz="650" spc="5" dirty="0">
                <a:solidFill>
                  <a:srgbClr val="231F20"/>
                </a:solidFill>
                <a:latin typeface="Helvetica"/>
                <a:cs typeface="Helvetica"/>
              </a:rPr>
              <a:t>Wide-area</a:t>
            </a:r>
            <a:r>
              <a:rPr sz="650" spc="-35" dirty="0">
                <a:solidFill>
                  <a:srgbClr val="231F20"/>
                </a:solidFill>
                <a:latin typeface="Helvetica"/>
                <a:cs typeface="Helvetica"/>
              </a:rPr>
              <a:t> </a:t>
            </a:r>
            <a:r>
              <a:rPr sz="650" spc="5" dirty="0">
                <a:solidFill>
                  <a:srgbClr val="231F20"/>
                </a:solidFill>
                <a:latin typeface="Helvetica"/>
                <a:cs typeface="Helvetica"/>
              </a:rPr>
              <a:t>network</a:t>
            </a:r>
            <a:endParaRPr sz="650">
              <a:latin typeface="Helvetica"/>
              <a:cs typeface="Helvetica"/>
            </a:endParaRPr>
          </a:p>
        </p:txBody>
      </p:sp>
      <p:sp>
        <p:nvSpPr>
          <p:cNvPr id="7" name="object 7"/>
          <p:cNvSpPr txBox="1"/>
          <p:nvPr/>
        </p:nvSpPr>
        <p:spPr>
          <a:xfrm>
            <a:off x="536635" y="2729247"/>
            <a:ext cx="3533140" cy="399415"/>
          </a:xfrm>
          <a:prstGeom prst="rect">
            <a:avLst/>
          </a:prstGeom>
        </p:spPr>
        <p:txBody>
          <a:bodyPr vert="horz" wrap="square" lIns="0" tIns="62230" rIns="0" bIns="0" rtlCol="0">
            <a:spAutoFit/>
          </a:bodyPr>
          <a:lstStyle/>
          <a:p>
            <a:pPr marL="2193925">
              <a:lnSpc>
                <a:spcPct val="100000"/>
              </a:lnSpc>
              <a:spcBef>
                <a:spcPts val="490"/>
              </a:spcBef>
            </a:pPr>
            <a:r>
              <a:rPr sz="650" spc="5" dirty="0">
                <a:solidFill>
                  <a:srgbClr val="231F20"/>
                </a:solidFill>
                <a:latin typeface="Helvetica"/>
                <a:cs typeface="Helvetica"/>
              </a:rPr>
              <a:t>Distributed</a:t>
            </a:r>
            <a:r>
              <a:rPr sz="650" spc="-15" dirty="0">
                <a:solidFill>
                  <a:srgbClr val="231F20"/>
                </a:solidFill>
                <a:latin typeface="Helvetica"/>
                <a:cs typeface="Helvetica"/>
              </a:rPr>
              <a:t> </a:t>
            </a:r>
            <a:r>
              <a:rPr sz="650" spc="5" dirty="0">
                <a:solidFill>
                  <a:srgbClr val="231F20"/>
                </a:solidFill>
                <a:latin typeface="Helvetica"/>
                <a:cs typeface="Helvetica"/>
              </a:rPr>
              <a:t>and</a:t>
            </a:r>
            <a:r>
              <a:rPr sz="650" spc="-15" dirty="0">
                <a:solidFill>
                  <a:srgbClr val="231F20"/>
                </a:solidFill>
                <a:latin typeface="Helvetica"/>
                <a:cs typeface="Helvetica"/>
              </a:rPr>
              <a:t> </a:t>
            </a:r>
            <a:r>
              <a:rPr sz="650" spc="5" dirty="0">
                <a:solidFill>
                  <a:srgbClr val="231F20"/>
                </a:solidFill>
                <a:latin typeface="Helvetica"/>
                <a:cs typeface="Helvetica"/>
              </a:rPr>
              <a:t>replicated</a:t>
            </a:r>
            <a:r>
              <a:rPr sz="650" spc="-15" dirty="0">
                <a:solidFill>
                  <a:srgbClr val="231F20"/>
                </a:solidFill>
                <a:latin typeface="Helvetica"/>
                <a:cs typeface="Helvetica"/>
              </a:rPr>
              <a:t> </a:t>
            </a:r>
            <a:r>
              <a:rPr sz="650" spc="5" dirty="0">
                <a:solidFill>
                  <a:srgbClr val="231F20"/>
                </a:solidFill>
                <a:latin typeface="Helvetica"/>
                <a:cs typeface="Helvetica"/>
              </a:rPr>
              <a:t>database</a:t>
            </a:r>
            <a:endParaRPr sz="650">
              <a:latin typeface="Helvetica"/>
              <a:cs typeface="Helvetica"/>
            </a:endParaRPr>
          </a:p>
          <a:p>
            <a:pPr marL="1118235">
              <a:lnSpc>
                <a:spcPts val="685"/>
              </a:lnSpc>
              <a:spcBef>
                <a:spcPts val="400"/>
              </a:spcBef>
            </a:pPr>
            <a:r>
              <a:rPr sz="650" spc="5" dirty="0">
                <a:solidFill>
                  <a:srgbClr val="231F20"/>
                </a:solidFill>
                <a:latin typeface="Helvetica"/>
                <a:cs typeface="Helvetica"/>
              </a:rPr>
              <a:t>Read</a:t>
            </a:r>
            <a:r>
              <a:rPr sz="650" spc="-15" dirty="0">
                <a:solidFill>
                  <a:srgbClr val="231F20"/>
                </a:solidFill>
                <a:latin typeface="Helvetica"/>
                <a:cs typeface="Helvetica"/>
              </a:rPr>
              <a:t> </a:t>
            </a:r>
            <a:r>
              <a:rPr sz="650" spc="5" dirty="0">
                <a:solidFill>
                  <a:srgbClr val="231F20"/>
                </a:solidFill>
                <a:latin typeface="Helvetica"/>
                <a:cs typeface="Helvetica"/>
              </a:rPr>
              <a:t>and</a:t>
            </a:r>
            <a:r>
              <a:rPr sz="650" spc="-15" dirty="0">
                <a:solidFill>
                  <a:srgbClr val="231F20"/>
                </a:solidFill>
                <a:latin typeface="Helvetica"/>
                <a:cs typeface="Helvetica"/>
              </a:rPr>
              <a:t> </a:t>
            </a:r>
            <a:r>
              <a:rPr sz="650" spc="5" dirty="0">
                <a:solidFill>
                  <a:srgbClr val="231F20"/>
                </a:solidFill>
                <a:latin typeface="Helvetica"/>
                <a:cs typeface="Helvetica"/>
              </a:rPr>
              <a:t>write</a:t>
            </a:r>
            <a:r>
              <a:rPr sz="650" spc="-15" dirty="0">
                <a:solidFill>
                  <a:srgbClr val="231F20"/>
                </a:solidFill>
                <a:latin typeface="Helvetica"/>
                <a:cs typeface="Helvetica"/>
              </a:rPr>
              <a:t> </a:t>
            </a:r>
            <a:r>
              <a:rPr sz="650" spc="5" dirty="0">
                <a:solidFill>
                  <a:srgbClr val="231F20"/>
                </a:solidFill>
                <a:latin typeface="Helvetica"/>
                <a:cs typeface="Helvetica"/>
              </a:rPr>
              <a:t>operations</a:t>
            </a:r>
            <a:endParaRPr sz="650">
              <a:latin typeface="Helvetica"/>
              <a:cs typeface="Helvetica"/>
            </a:endParaRPr>
          </a:p>
          <a:p>
            <a:pPr marL="12700">
              <a:lnSpc>
                <a:spcPts val="685"/>
              </a:lnSpc>
            </a:pPr>
            <a:r>
              <a:rPr sz="650" spc="5" dirty="0">
                <a:solidFill>
                  <a:srgbClr val="231F20"/>
                </a:solidFill>
                <a:latin typeface="Helvetica"/>
                <a:cs typeface="Helvetica"/>
              </a:rPr>
              <a:t>Portable</a:t>
            </a:r>
            <a:r>
              <a:rPr sz="650" spc="-35" dirty="0">
                <a:solidFill>
                  <a:srgbClr val="231F20"/>
                </a:solidFill>
                <a:latin typeface="Helvetica"/>
                <a:cs typeface="Helvetica"/>
              </a:rPr>
              <a:t> </a:t>
            </a:r>
            <a:r>
              <a:rPr sz="650" spc="5" dirty="0">
                <a:solidFill>
                  <a:srgbClr val="231F20"/>
                </a:solidFill>
                <a:latin typeface="Helvetica"/>
                <a:cs typeface="Helvetica"/>
              </a:rPr>
              <a:t>computer</a:t>
            </a:r>
            <a:endParaRPr sz="650">
              <a:latin typeface="Helvetica"/>
              <a:cs typeface="Helvetica"/>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17</a:t>
            </a:r>
            <a:r>
              <a:rPr spc="-40" dirty="0"/>
              <a:t> </a:t>
            </a:r>
            <a:r>
              <a:rPr spc="-5" dirty="0"/>
              <a:t>/</a:t>
            </a:r>
            <a:r>
              <a:rPr spc="-35" dirty="0"/>
              <a:t> </a:t>
            </a:r>
            <a:r>
              <a:rPr spc="-5" dirty="0"/>
              <a:t>37</a:t>
            </a:r>
          </a:p>
        </p:txBody>
      </p:sp>
      <p:sp>
        <p:nvSpPr>
          <p:cNvPr id="2" name="object 2"/>
          <p:cNvSpPr txBox="1"/>
          <p:nvPr/>
        </p:nvSpPr>
        <p:spPr>
          <a:xfrm>
            <a:off x="66713" y="716"/>
            <a:ext cx="214249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5" dirty="0">
                <a:solidFill>
                  <a:srgbClr val="3333B2"/>
                </a:solidFill>
                <a:latin typeface="Arial"/>
                <a:cs typeface="Arial"/>
              </a:rPr>
              <a:t> </a:t>
            </a:r>
            <a:r>
              <a:rPr sz="600" spc="-5" dirty="0">
                <a:solidFill>
                  <a:srgbClr val="3333B2"/>
                </a:solidFill>
                <a:latin typeface="Arial"/>
                <a:cs typeface="Arial"/>
                <a:hlinkClick r:id="rId4" action="ppaction://hlinksldjump"/>
              </a:rPr>
              <a:t>Client-centric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954726" y="716"/>
            <a:ext cx="5867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Monotonic</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reads</a:t>
            </a:r>
            <a:endParaRPr sz="600">
              <a:latin typeface="Arial"/>
              <a:cs typeface="Arial"/>
            </a:endParaRPr>
          </a:p>
        </p:txBody>
      </p:sp>
      <p:sp>
        <p:nvSpPr>
          <p:cNvPr id="4" name="object 4"/>
          <p:cNvSpPr txBox="1"/>
          <p:nvPr/>
        </p:nvSpPr>
        <p:spPr>
          <a:xfrm>
            <a:off x="95300" y="188846"/>
            <a:ext cx="137223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Monotonic</a:t>
            </a:r>
            <a:r>
              <a:rPr sz="1400" spc="-65" dirty="0">
                <a:solidFill>
                  <a:srgbClr val="3333B2"/>
                </a:solidFill>
                <a:latin typeface="Arial"/>
                <a:cs typeface="Arial"/>
              </a:rPr>
              <a:t> </a:t>
            </a:r>
            <a:r>
              <a:rPr sz="1400" spc="15" dirty="0">
                <a:solidFill>
                  <a:srgbClr val="3333B2"/>
                </a:solidFill>
                <a:latin typeface="Arial"/>
                <a:cs typeface="Arial"/>
              </a:rPr>
              <a:t>reads</a:t>
            </a:r>
            <a:endParaRPr sz="1400">
              <a:latin typeface="Arial"/>
              <a:cs typeface="Arial"/>
            </a:endParaRPr>
          </a:p>
        </p:txBody>
      </p:sp>
      <p:sp>
        <p:nvSpPr>
          <p:cNvPr id="5" name="object 5"/>
          <p:cNvSpPr txBox="1"/>
          <p:nvPr/>
        </p:nvSpPr>
        <p:spPr>
          <a:xfrm>
            <a:off x="304495" y="798852"/>
            <a:ext cx="3994785" cy="1760855"/>
          </a:xfrm>
          <a:prstGeom prst="rect">
            <a:avLst/>
          </a:prstGeom>
        </p:spPr>
        <p:txBody>
          <a:bodyPr vert="horz" wrap="square" lIns="0" tIns="12065" rIns="0" bIns="0" rtlCol="0">
            <a:spAutoFit/>
          </a:bodyPr>
          <a:lstStyle/>
          <a:p>
            <a:pPr marL="55244">
              <a:lnSpc>
                <a:spcPts val="1410"/>
              </a:lnSpc>
              <a:spcBef>
                <a:spcPts val="95"/>
              </a:spcBef>
            </a:pPr>
            <a:r>
              <a:rPr sz="1200" spc="-5" dirty="0">
                <a:solidFill>
                  <a:srgbClr val="3333B2"/>
                </a:solidFill>
                <a:latin typeface="Arial"/>
                <a:cs typeface="Arial"/>
              </a:rPr>
              <a:t>Definition</a:t>
            </a:r>
            <a:endParaRPr sz="1200">
              <a:latin typeface="Arial"/>
              <a:cs typeface="Arial"/>
            </a:endParaRPr>
          </a:p>
          <a:p>
            <a:pPr marL="55244" marR="64769">
              <a:lnSpc>
                <a:spcPts val="1200"/>
              </a:lnSpc>
              <a:spcBef>
                <a:spcPts val="10"/>
              </a:spcBef>
            </a:pPr>
            <a:r>
              <a:rPr sz="1000" spc="-5" dirty="0">
                <a:latin typeface="Arial"/>
                <a:cs typeface="Arial"/>
              </a:rPr>
              <a:t>If a process reads the </a:t>
            </a:r>
            <a:r>
              <a:rPr sz="1000" spc="-10" dirty="0">
                <a:latin typeface="Arial"/>
                <a:cs typeface="Arial"/>
              </a:rPr>
              <a:t>value </a:t>
            </a:r>
            <a:r>
              <a:rPr sz="1000" spc="-5" dirty="0">
                <a:latin typeface="Arial"/>
                <a:cs typeface="Arial"/>
              </a:rPr>
              <a:t>of a data item </a:t>
            </a:r>
            <a:r>
              <a:rPr sz="1000" i="1" spc="-5" dirty="0">
                <a:latin typeface="Arial"/>
                <a:cs typeface="Arial"/>
              </a:rPr>
              <a:t>x </a:t>
            </a:r>
            <a:r>
              <a:rPr sz="1000" spc="-5" dirty="0">
                <a:latin typeface="Arial"/>
                <a:cs typeface="Arial"/>
              </a:rPr>
              <a:t>, </a:t>
            </a:r>
            <a:r>
              <a:rPr sz="1000" spc="-10" dirty="0">
                <a:latin typeface="Arial"/>
                <a:cs typeface="Arial"/>
              </a:rPr>
              <a:t>any </a:t>
            </a:r>
            <a:r>
              <a:rPr sz="1000" spc="-5" dirty="0">
                <a:latin typeface="Arial"/>
                <a:cs typeface="Arial"/>
              </a:rPr>
              <a:t>successive read </a:t>
            </a:r>
            <a:r>
              <a:rPr sz="1000" dirty="0">
                <a:latin typeface="Arial"/>
                <a:cs typeface="Arial"/>
              </a:rPr>
              <a:t> </a:t>
            </a:r>
            <a:r>
              <a:rPr sz="1000" spc="-5" dirty="0">
                <a:latin typeface="Arial"/>
                <a:cs typeface="Arial"/>
              </a:rPr>
              <a:t>operation on</a:t>
            </a:r>
            <a:r>
              <a:rPr sz="1000" dirty="0">
                <a:latin typeface="Arial"/>
                <a:cs typeface="Arial"/>
              </a:rPr>
              <a:t> </a:t>
            </a:r>
            <a:r>
              <a:rPr sz="1000" i="1" spc="-5" dirty="0">
                <a:latin typeface="Arial"/>
                <a:cs typeface="Arial"/>
              </a:rPr>
              <a:t>x</a:t>
            </a:r>
            <a:r>
              <a:rPr sz="1000" i="1" spc="9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process will</a:t>
            </a:r>
            <a:r>
              <a:rPr sz="1000" dirty="0">
                <a:latin typeface="Arial"/>
                <a:cs typeface="Arial"/>
              </a:rPr>
              <a:t> </a:t>
            </a:r>
            <a:r>
              <a:rPr sz="1000" spc="-10" dirty="0">
                <a:latin typeface="Arial"/>
                <a:cs typeface="Arial"/>
              </a:rPr>
              <a:t>always</a:t>
            </a:r>
            <a:r>
              <a:rPr sz="1000" spc="-5" dirty="0">
                <a:latin typeface="Arial"/>
                <a:cs typeface="Arial"/>
              </a:rPr>
              <a:t> </a:t>
            </a:r>
            <a:r>
              <a:rPr sz="1000" dirty="0">
                <a:latin typeface="Arial"/>
                <a:cs typeface="Arial"/>
              </a:rPr>
              <a:t>return </a:t>
            </a:r>
            <a:r>
              <a:rPr sz="1000" spc="-5" dirty="0">
                <a:latin typeface="Arial"/>
                <a:cs typeface="Arial"/>
              </a:rPr>
              <a:t>that</a:t>
            </a:r>
            <a:r>
              <a:rPr sz="1000" dirty="0">
                <a:latin typeface="Arial"/>
                <a:cs typeface="Arial"/>
              </a:rPr>
              <a:t> </a:t>
            </a:r>
            <a:r>
              <a:rPr sz="1000" spc="-5" dirty="0">
                <a:latin typeface="Arial"/>
                <a:cs typeface="Arial"/>
              </a:rPr>
              <a:t>same or</a:t>
            </a:r>
            <a:r>
              <a:rPr sz="1000" dirty="0">
                <a:latin typeface="Arial"/>
                <a:cs typeface="Arial"/>
              </a:rPr>
              <a:t> </a:t>
            </a:r>
            <a:r>
              <a:rPr sz="1000" spc="-5" dirty="0">
                <a:latin typeface="Arial"/>
                <a:cs typeface="Arial"/>
              </a:rPr>
              <a:t>a more </a:t>
            </a:r>
            <a:r>
              <a:rPr sz="1000" spc="-260" dirty="0">
                <a:latin typeface="Arial"/>
                <a:cs typeface="Arial"/>
              </a:rPr>
              <a:t> </a:t>
            </a:r>
            <a:r>
              <a:rPr sz="1000" spc="-5" dirty="0">
                <a:latin typeface="Arial"/>
                <a:cs typeface="Arial"/>
              </a:rPr>
              <a:t>recent</a:t>
            </a:r>
            <a:r>
              <a:rPr sz="1000" spc="-10" dirty="0">
                <a:latin typeface="Arial"/>
                <a:cs typeface="Arial"/>
              </a:rPr>
              <a:t> value.</a:t>
            </a:r>
            <a:endParaRPr sz="1000">
              <a:latin typeface="Arial"/>
              <a:cs typeface="Arial"/>
            </a:endParaRPr>
          </a:p>
          <a:p>
            <a:pPr marL="55244" marR="43180" indent="-5080">
              <a:lnSpc>
                <a:spcPts val="1390"/>
              </a:lnSpc>
              <a:spcBef>
                <a:spcPts val="525"/>
              </a:spcBef>
            </a:pPr>
            <a:r>
              <a:rPr sz="1200" spc="-5" dirty="0">
                <a:solidFill>
                  <a:srgbClr val="3333B2"/>
                </a:solidFill>
                <a:latin typeface="Arial"/>
                <a:cs typeface="Arial"/>
              </a:rPr>
              <a:t>The</a:t>
            </a:r>
            <a:r>
              <a:rPr sz="1200" spc="-10" dirty="0">
                <a:solidFill>
                  <a:srgbClr val="3333B2"/>
                </a:solidFill>
                <a:latin typeface="Arial"/>
                <a:cs typeface="Arial"/>
              </a:rPr>
              <a:t> </a:t>
            </a:r>
            <a:r>
              <a:rPr sz="1200" spc="-5" dirty="0">
                <a:solidFill>
                  <a:srgbClr val="3333B2"/>
                </a:solidFill>
                <a:latin typeface="Arial"/>
                <a:cs typeface="Arial"/>
              </a:rPr>
              <a:t>read operations performed </a:t>
            </a:r>
            <a:r>
              <a:rPr sz="1200" spc="-15" dirty="0">
                <a:solidFill>
                  <a:srgbClr val="3333B2"/>
                </a:solidFill>
                <a:latin typeface="Arial"/>
                <a:cs typeface="Arial"/>
              </a:rPr>
              <a:t>by</a:t>
            </a:r>
            <a:r>
              <a:rPr sz="1200" spc="-10" dirty="0">
                <a:solidFill>
                  <a:srgbClr val="3333B2"/>
                </a:solidFill>
                <a:latin typeface="Arial"/>
                <a:cs typeface="Arial"/>
              </a:rPr>
              <a:t> </a:t>
            </a:r>
            <a:r>
              <a:rPr sz="1200" spc="-5" dirty="0">
                <a:solidFill>
                  <a:srgbClr val="3333B2"/>
                </a:solidFill>
                <a:latin typeface="Arial"/>
                <a:cs typeface="Arial"/>
              </a:rPr>
              <a:t>a single process </a:t>
            </a:r>
            <a:r>
              <a:rPr sz="1200" i="1" spc="-5" dirty="0">
                <a:solidFill>
                  <a:srgbClr val="3333B2"/>
                </a:solidFill>
                <a:latin typeface="Arial"/>
                <a:cs typeface="Arial"/>
              </a:rPr>
              <a:t>P </a:t>
            </a:r>
            <a:r>
              <a:rPr sz="1200" spc="-5" dirty="0">
                <a:solidFill>
                  <a:srgbClr val="3333B2"/>
                </a:solidFill>
                <a:latin typeface="Arial"/>
                <a:cs typeface="Arial"/>
              </a:rPr>
              <a:t>at </a:t>
            </a:r>
            <a:r>
              <a:rPr sz="1200" dirty="0">
                <a:solidFill>
                  <a:srgbClr val="3333B2"/>
                </a:solidFill>
                <a:latin typeface="Arial"/>
                <a:cs typeface="Arial"/>
              </a:rPr>
              <a:t> </a:t>
            </a:r>
            <a:r>
              <a:rPr sz="1200" spc="-10" dirty="0">
                <a:solidFill>
                  <a:srgbClr val="3333B2"/>
                </a:solidFill>
                <a:latin typeface="Arial"/>
                <a:cs typeface="Arial"/>
              </a:rPr>
              <a:t>two</a:t>
            </a:r>
            <a:r>
              <a:rPr sz="1200" spc="-5" dirty="0">
                <a:solidFill>
                  <a:srgbClr val="3333B2"/>
                </a:solidFill>
                <a:latin typeface="Arial"/>
                <a:cs typeface="Arial"/>
              </a:rPr>
              <a:t> </a:t>
            </a:r>
            <a:r>
              <a:rPr sz="1200" spc="-10" dirty="0">
                <a:solidFill>
                  <a:srgbClr val="3333B2"/>
                </a:solidFill>
                <a:latin typeface="Arial"/>
                <a:cs typeface="Arial"/>
              </a:rPr>
              <a:t>different</a:t>
            </a:r>
            <a:r>
              <a:rPr sz="1200" dirty="0">
                <a:solidFill>
                  <a:srgbClr val="3333B2"/>
                </a:solidFill>
                <a:latin typeface="Arial"/>
                <a:cs typeface="Arial"/>
              </a:rPr>
              <a:t> </a:t>
            </a:r>
            <a:r>
              <a:rPr sz="1200" spc="-5" dirty="0">
                <a:solidFill>
                  <a:srgbClr val="3333B2"/>
                </a:solidFill>
                <a:latin typeface="Arial"/>
                <a:cs typeface="Arial"/>
              </a:rPr>
              <a:t>local copies</a:t>
            </a:r>
            <a:r>
              <a:rPr sz="1200" dirty="0">
                <a:solidFill>
                  <a:srgbClr val="3333B2"/>
                </a:solidFill>
                <a:latin typeface="Arial"/>
                <a:cs typeface="Arial"/>
              </a:rPr>
              <a:t> </a:t>
            </a:r>
            <a:r>
              <a:rPr sz="1200" spc="-5" dirty="0">
                <a:solidFill>
                  <a:srgbClr val="3333B2"/>
                </a:solidFill>
                <a:latin typeface="Arial"/>
                <a:cs typeface="Arial"/>
              </a:rPr>
              <a:t>of the</a:t>
            </a:r>
            <a:r>
              <a:rPr sz="1200" dirty="0">
                <a:solidFill>
                  <a:srgbClr val="3333B2"/>
                </a:solidFill>
                <a:latin typeface="Arial"/>
                <a:cs typeface="Arial"/>
              </a:rPr>
              <a:t> </a:t>
            </a:r>
            <a:r>
              <a:rPr sz="1200" spc="-5" dirty="0">
                <a:solidFill>
                  <a:srgbClr val="3333B2"/>
                </a:solidFill>
                <a:latin typeface="Arial"/>
                <a:cs typeface="Arial"/>
              </a:rPr>
              <a:t>same</a:t>
            </a:r>
            <a:r>
              <a:rPr sz="1200" dirty="0">
                <a:solidFill>
                  <a:srgbClr val="3333B2"/>
                </a:solidFill>
                <a:latin typeface="Arial"/>
                <a:cs typeface="Arial"/>
              </a:rPr>
              <a:t> </a:t>
            </a:r>
            <a:r>
              <a:rPr sz="1200" spc="-5" dirty="0">
                <a:solidFill>
                  <a:srgbClr val="3333B2"/>
                </a:solidFill>
                <a:latin typeface="Arial"/>
                <a:cs typeface="Arial"/>
              </a:rPr>
              <a:t>data </a:t>
            </a:r>
            <a:r>
              <a:rPr sz="1200" spc="-10" dirty="0">
                <a:solidFill>
                  <a:srgbClr val="3333B2"/>
                </a:solidFill>
                <a:latin typeface="Arial"/>
                <a:cs typeface="Arial"/>
              </a:rPr>
              <a:t>store.</a:t>
            </a:r>
            <a:r>
              <a:rPr sz="1200" spc="80" dirty="0">
                <a:solidFill>
                  <a:srgbClr val="3333B2"/>
                </a:solidFill>
                <a:latin typeface="Arial"/>
                <a:cs typeface="Arial"/>
              </a:rPr>
              <a:t> </a:t>
            </a:r>
            <a:r>
              <a:rPr sz="1200" spc="-5" dirty="0">
                <a:solidFill>
                  <a:srgbClr val="3333B2"/>
                </a:solidFill>
                <a:latin typeface="Arial"/>
                <a:cs typeface="Arial"/>
              </a:rPr>
              <a:t>(a) A </a:t>
            </a:r>
            <a:r>
              <a:rPr sz="1200" dirty="0">
                <a:solidFill>
                  <a:srgbClr val="3333B2"/>
                </a:solidFill>
                <a:latin typeface="Arial"/>
                <a:cs typeface="Arial"/>
              </a:rPr>
              <a:t> </a:t>
            </a:r>
            <a:r>
              <a:rPr sz="1200" spc="-10" dirty="0">
                <a:solidFill>
                  <a:srgbClr val="3333B2"/>
                </a:solidFill>
                <a:latin typeface="Arial"/>
                <a:cs typeface="Arial"/>
              </a:rPr>
              <a:t>monotonic-read consistent data</a:t>
            </a:r>
            <a:r>
              <a:rPr sz="1200" spc="-5" dirty="0">
                <a:solidFill>
                  <a:srgbClr val="3333B2"/>
                </a:solidFill>
                <a:latin typeface="Arial"/>
                <a:cs typeface="Arial"/>
              </a:rPr>
              <a:t> </a:t>
            </a:r>
            <a:r>
              <a:rPr sz="1200" spc="-15" dirty="0">
                <a:solidFill>
                  <a:srgbClr val="3333B2"/>
                </a:solidFill>
                <a:latin typeface="Arial"/>
                <a:cs typeface="Arial"/>
              </a:rPr>
              <a:t>store.</a:t>
            </a:r>
            <a:r>
              <a:rPr sz="1200" spc="70" dirty="0">
                <a:solidFill>
                  <a:srgbClr val="3333B2"/>
                </a:solidFill>
                <a:latin typeface="Arial"/>
                <a:cs typeface="Arial"/>
              </a:rPr>
              <a:t> </a:t>
            </a:r>
            <a:r>
              <a:rPr sz="1200" spc="-10" dirty="0">
                <a:solidFill>
                  <a:srgbClr val="3333B2"/>
                </a:solidFill>
                <a:latin typeface="Arial"/>
                <a:cs typeface="Arial"/>
              </a:rPr>
              <a:t>(b) </a:t>
            </a:r>
            <a:r>
              <a:rPr sz="1200" spc="-15" dirty="0">
                <a:solidFill>
                  <a:srgbClr val="3333B2"/>
                </a:solidFill>
                <a:latin typeface="Arial"/>
                <a:cs typeface="Arial"/>
              </a:rPr>
              <a:t>A</a:t>
            </a:r>
            <a:r>
              <a:rPr sz="1200" spc="-10" dirty="0">
                <a:solidFill>
                  <a:srgbClr val="3333B2"/>
                </a:solidFill>
                <a:latin typeface="Arial"/>
                <a:cs typeface="Arial"/>
              </a:rPr>
              <a:t> data</a:t>
            </a:r>
            <a:r>
              <a:rPr sz="1200" spc="-5" dirty="0">
                <a:solidFill>
                  <a:srgbClr val="3333B2"/>
                </a:solidFill>
                <a:latin typeface="Arial"/>
                <a:cs typeface="Arial"/>
              </a:rPr>
              <a:t> </a:t>
            </a:r>
            <a:r>
              <a:rPr sz="1200" spc="-10" dirty="0">
                <a:solidFill>
                  <a:srgbClr val="3333B2"/>
                </a:solidFill>
                <a:latin typeface="Arial"/>
                <a:cs typeface="Arial"/>
              </a:rPr>
              <a:t>store that </a:t>
            </a:r>
            <a:r>
              <a:rPr sz="1200" spc="-320" dirty="0">
                <a:solidFill>
                  <a:srgbClr val="3333B2"/>
                </a:solidFill>
                <a:latin typeface="Arial"/>
                <a:cs typeface="Arial"/>
              </a:rPr>
              <a:t> </a:t>
            </a:r>
            <a:r>
              <a:rPr sz="1200" spc="-5" dirty="0">
                <a:solidFill>
                  <a:srgbClr val="3333B2"/>
                </a:solidFill>
                <a:latin typeface="Arial"/>
                <a:cs typeface="Arial"/>
              </a:rPr>
              <a:t>does</a:t>
            </a:r>
            <a:r>
              <a:rPr sz="1200" spc="-10" dirty="0">
                <a:solidFill>
                  <a:srgbClr val="3333B2"/>
                </a:solidFill>
                <a:latin typeface="Arial"/>
                <a:cs typeface="Arial"/>
              </a:rPr>
              <a:t> </a:t>
            </a:r>
            <a:r>
              <a:rPr sz="1200" spc="-5" dirty="0">
                <a:solidFill>
                  <a:srgbClr val="3333B2"/>
                </a:solidFill>
                <a:latin typeface="Arial"/>
                <a:cs typeface="Arial"/>
              </a:rPr>
              <a:t>not </a:t>
            </a:r>
            <a:r>
              <a:rPr sz="1200" spc="-10" dirty="0">
                <a:solidFill>
                  <a:srgbClr val="3333B2"/>
                </a:solidFill>
                <a:latin typeface="Arial"/>
                <a:cs typeface="Arial"/>
              </a:rPr>
              <a:t>provide</a:t>
            </a:r>
            <a:r>
              <a:rPr sz="1200" spc="-5" dirty="0">
                <a:solidFill>
                  <a:srgbClr val="3333B2"/>
                </a:solidFill>
                <a:latin typeface="Arial"/>
                <a:cs typeface="Arial"/>
              </a:rPr>
              <a:t> monotonic reads</a:t>
            </a:r>
            <a:endParaRPr sz="1200">
              <a:latin typeface="Arial"/>
              <a:cs typeface="Arial"/>
            </a:endParaRPr>
          </a:p>
          <a:p>
            <a:pPr marL="429259">
              <a:lnSpc>
                <a:spcPct val="100000"/>
              </a:lnSpc>
              <a:spcBef>
                <a:spcPts val="835"/>
              </a:spcBef>
              <a:tabLst>
                <a:tab pos="1205230" algn="l"/>
                <a:tab pos="1690370" algn="l"/>
                <a:tab pos="2301240" algn="l"/>
                <a:tab pos="3077845" algn="l"/>
                <a:tab pos="3562350" algn="l"/>
              </a:tabLst>
            </a:pPr>
            <a:r>
              <a:rPr sz="650" u="sng" spc="5" dirty="0">
                <a:solidFill>
                  <a:srgbClr val="231F20"/>
                </a:solidFill>
                <a:uFill>
                  <a:solidFill>
                    <a:srgbClr val="231F20"/>
                  </a:solidFill>
                </a:uFill>
                <a:latin typeface="Arial"/>
                <a:cs typeface="Arial"/>
              </a:rPr>
              <a:t>L1</a:t>
            </a:r>
            <a:r>
              <a:rPr sz="650" u="sng" dirty="0">
                <a:solidFill>
                  <a:srgbClr val="231F20"/>
                </a:solidFill>
                <a:uFill>
                  <a:solidFill>
                    <a:srgbClr val="231F20"/>
                  </a:solidFill>
                </a:uFill>
                <a:latin typeface="Arial"/>
                <a:cs typeface="Arial"/>
              </a:rPr>
              <a:t>:     </a:t>
            </a:r>
            <a:r>
              <a:rPr sz="650" u="sng" spc="-85" dirty="0">
                <a:solidFill>
                  <a:srgbClr val="231F20"/>
                </a:solidFill>
                <a:uFill>
                  <a:solidFill>
                    <a:srgbClr val="231F20"/>
                  </a:solidFill>
                </a:uFill>
                <a:latin typeface="Arial"/>
                <a:cs typeface="Arial"/>
              </a:rPr>
              <a:t> </a:t>
            </a:r>
            <a:r>
              <a:rPr sz="650" u="sng" spc="5" dirty="0">
                <a:solidFill>
                  <a:srgbClr val="231F20"/>
                </a:solidFill>
                <a:uFill>
                  <a:solidFill>
                    <a:srgbClr val="231F20"/>
                  </a:solidFill>
                </a:uFill>
                <a:latin typeface="Arial"/>
                <a:cs typeface="Arial"/>
              </a:rPr>
              <a:t>W</a:t>
            </a:r>
            <a:r>
              <a:rPr sz="450" u="sng" spc="22" baseline="-27777" dirty="0">
                <a:solidFill>
                  <a:srgbClr val="231F20"/>
                </a:solidFill>
                <a:uFill>
                  <a:solidFill>
                    <a:srgbClr val="231F20"/>
                  </a:solidFill>
                </a:uFill>
                <a:latin typeface="Arial"/>
                <a:cs typeface="Arial"/>
              </a:rPr>
              <a:t>1</a:t>
            </a:r>
            <a:r>
              <a:rPr sz="650" u="sng" spc="5" dirty="0">
                <a:solidFill>
                  <a:srgbClr val="231F20"/>
                </a:solidFill>
                <a:uFill>
                  <a:solidFill>
                    <a:srgbClr val="231F20"/>
                  </a:solidFill>
                </a:uFill>
                <a:latin typeface="Arial"/>
                <a:cs typeface="Arial"/>
              </a:rPr>
              <a:t>(x</a:t>
            </a:r>
            <a:r>
              <a:rPr sz="450" u="sng" spc="22" baseline="-27777" dirty="0">
                <a:solidFill>
                  <a:srgbClr val="231F20"/>
                </a:solidFill>
                <a:uFill>
                  <a:solidFill>
                    <a:srgbClr val="231F20"/>
                  </a:solidFill>
                </a:uFill>
                <a:latin typeface="Arial"/>
                <a:cs typeface="Arial"/>
              </a:rPr>
              <a:t>1</a:t>
            </a:r>
            <a:r>
              <a:rPr sz="650" u="sng" dirty="0">
                <a:solidFill>
                  <a:srgbClr val="231F20"/>
                </a:solidFill>
                <a:uFill>
                  <a:solidFill>
                    <a:srgbClr val="231F20"/>
                  </a:solidFill>
                </a:uFill>
                <a:latin typeface="Arial"/>
                <a:cs typeface="Arial"/>
              </a:rPr>
              <a:t>)	</a:t>
            </a:r>
            <a:r>
              <a:rPr sz="650" u="sng" spc="10" dirty="0">
                <a:solidFill>
                  <a:srgbClr val="231F20"/>
                </a:solidFill>
                <a:uFill>
                  <a:solidFill>
                    <a:srgbClr val="231F20"/>
                  </a:solidFill>
                </a:uFill>
                <a:latin typeface="Arial"/>
                <a:cs typeface="Arial"/>
              </a:rPr>
              <a:t>R</a:t>
            </a:r>
            <a:r>
              <a:rPr sz="450" u="sng" spc="22" baseline="-27777" dirty="0">
                <a:solidFill>
                  <a:srgbClr val="231F20"/>
                </a:solidFill>
                <a:uFill>
                  <a:solidFill>
                    <a:srgbClr val="231F20"/>
                  </a:solidFill>
                </a:uFill>
                <a:latin typeface="Arial"/>
                <a:cs typeface="Arial"/>
              </a:rPr>
              <a:t>1</a:t>
            </a:r>
            <a:r>
              <a:rPr sz="650" u="sng" spc="5" dirty="0">
                <a:solidFill>
                  <a:srgbClr val="231F20"/>
                </a:solidFill>
                <a:uFill>
                  <a:solidFill>
                    <a:srgbClr val="231F20"/>
                  </a:solidFill>
                </a:uFill>
                <a:latin typeface="Arial"/>
                <a:cs typeface="Arial"/>
              </a:rPr>
              <a:t>(x</a:t>
            </a:r>
            <a:r>
              <a:rPr sz="450" u="sng" spc="22" baseline="-27777" dirty="0">
                <a:solidFill>
                  <a:srgbClr val="231F20"/>
                </a:solidFill>
                <a:uFill>
                  <a:solidFill>
                    <a:srgbClr val="231F20"/>
                  </a:solidFill>
                </a:uFill>
                <a:latin typeface="Arial"/>
                <a:cs typeface="Arial"/>
              </a:rPr>
              <a:t>1</a:t>
            </a:r>
            <a:r>
              <a:rPr sz="650" u="sng" dirty="0">
                <a:solidFill>
                  <a:srgbClr val="231F20"/>
                </a:solidFill>
                <a:uFill>
                  <a:solidFill>
                    <a:srgbClr val="231F20"/>
                  </a:solidFill>
                </a:uFill>
                <a:latin typeface="Arial"/>
                <a:cs typeface="Arial"/>
              </a:rPr>
              <a:t>)	</a:t>
            </a:r>
            <a:r>
              <a:rPr sz="650" dirty="0">
                <a:solidFill>
                  <a:srgbClr val="231F20"/>
                </a:solidFill>
                <a:latin typeface="Arial"/>
                <a:cs typeface="Arial"/>
              </a:rPr>
              <a:t>	</a:t>
            </a:r>
            <a:r>
              <a:rPr sz="975" u="sng" spc="7" baseline="4273" dirty="0">
                <a:solidFill>
                  <a:srgbClr val="231F20"/>
                </a:solidFill>
                <a:uFill>
                  <a:solidFill>
                    <a:srgbClr val="231F20"/>
                  </a:solidFill>
                </a:uFill>
                <a:latin typeface="Arial"/>
                <a:cs typeface="Arial"/>
              </a:rPr>
              <a:t>L1</a:t>
            </a:r>
            <a:r>
              <a:rPr sz="975" u="sng" baseline="4273" dirty="0">
                <a:solidFill>
                  <a:srgbClr val="231F20"/>
                </a:solidFill>
                <a:uFill>
                  <a:solidFill>
                    <a:srgbClr val="231F20"/>
                  </a:solidFill>
                </a:uFill>
                <a:latin typeface="Arial"/>
                <a:cs typeface="Arial"/>
              </a:rPr>
              <a:t>:     </a:t>
            </a:r>
            <a:r>
              <a:rPr sz="975" u="sng" spc="-127" baseline="4273" dirty="0">
                <a:solidFill>
                  <a:srgbClr val="231F20"/>
                </a:solidFill>
                <a:uFill>
                  <a:solidFill>
                    <a:srgbClr val="231F20"/>
                  </a:solidFill>
                </a:uFill>
                <a:latin typeface="Arial"/>
                <a:cs typeface="Arial"/>
              </a:rPr>
              <a:t> </a:t>
            </a:r>
            <a:r>
              <a:rPr sz="650" u="sng" spc="5" dirty="0">
                <a:solidFill>
                  <a:srgbClr val="231F20"/>
                </a:solidFill>
                <a:uFill>
                  <a:solidFill>
                    <a:srgbClr val="231F20"/>
                  </a:solidFill>
                </a:uFill>
                <a:latin typeface="Arial"/>
                <a:cs typeface="Arial"/>
              </a:rPr>
              <a:t>W</a:t>
            </a:r>
            <a:r>
              <a:rPr sz="450" u="sng" spc="22" baseline="-18518" dirty="0">
                <a:solidFill>
                  <a:srgbClr val="231F20"/>
                </a:solidFill>
                <a:uFill>
                  <a:solidFill>
                    <a:srgbClr val="231F20"/>
                  </a:solidFill>
                </a:uFill>
                <a:latin typeface="Arial"/>
                <a:cs typeface="Arial"/>
              </a:rPr>
              <a:t>1</a:t>
            </a:r>
            <a:r>
              <a:rPr sz="650" u="sng" spc="5" dirty="0">
                <a:solidFill>
                  <a:srgbClr val="231F20"/>
                </a:solidFill>
                <a:uFill>
                  <a:solidFill>
                    <a:srgbClr val="231F20"/>
                  </a:solidFill>
                </a:uFill>
                <a:latin typeface="Arial"/>
                <a:cs typeface="Arial"/>
              </a:rPr>
              <a:t>(x</a:t>
            </a:r>
            <a:r>
              <a:rPr sz="450" u="sng" spc="22" baseline="-18518" dirty="0">
                <a:solidFill>
                  <a:srgbClr val="231F20"/>
                </a:solidFill>
                <a:uFill>
                  <a:solidFill>
                    <a:srgbClr val="231F20"/>
                  </a:solidFill>
                </a:uFill>
                <a:latin typeface="Arial"/>
                <a:cs typeface="Arial"/>
              </a:rPr>
              <a:t>1</a:t>
            </a:r>
            <a:r>
              <a:rPr sz="650" u="sng" dirty="0">
                <a:solidFill>
                  <a:srgbClr val="231F20"/>
                </a:solidFill>
                <a:uFill>
                  <a:solidFill>
                    <a:srgbClr val="231F20"/>
                  </a:solidFill>
                </a:uFill>
                <a:latin typeface="Arial"/>
                <a:cs typeface="Arial"/>
              </a:rPr>
              <a:t>)	</a:t>
            </a:r>
            <a:r>
              <a:rPr sz="650" u="sng" spc="10" dirty="0">
                <a:solidFill>
                  <a:srgbClr val="231F20"/>
                </a:solidFill>
                <a:uFill>
                  <a:solidFill>
                    <a:srgbClr val="231F20"/>
                  </a:solidFill>
                </a:uFill>
                <a:latin typeface="Arial"/>
                <a:cs typeface="Arial"/>
              </a:rPr>
              <a:t>R</a:t>
            </a:r>
            <a:r>
              <a:rPr sz="450" u="sng" spc="22" baseline="-18518" dirty="0">
                <a:solidFill>
                  <a:srgbClr val="231F20"/>
                </a:solidFill>
                <a:uFill>
                  <a:solidFill>
                    <a:srgbClr val="231F20"/>
                  </a:solidFill>
                </a:uFill>
                <a:latin typeface="Arial"/>
                <a:cs typeface="Arial"/>
              </a:rPr>
              <a:t>1</a:t>
            </a:r>
            <a:r>
              <a:rPr sz="650" u="sng" spc="5" dirty="0">
                <a:solidFill>
                  <a:srgbClr val="231F20"/>
                </a:solidFill>
                <a:uFill>
                  <a:solidFill>
                    <a:srgbClr val="231F20"/>
                  </a:solidFill>
                </a:uFill>
                <a:latin typeface="Arial"/>
                <a:cs typeface="Arial"/>
              </a:rPr>
              <a:t>(x</a:t>
            </a:r>
            <a:r>
              <a:rPr sz="450" u="sng" spc="22" baseline="-18518" dirty="0">
                <a:solidFill>
                  <a:srgbClr val="231F20"/>
                </a:solidFill>
                <a:uFill>
                  <a:solidFill>
                    <a:srgbClr val="231F20"/>
                  </a:solidFill>
                </a:uFill>
                <a:latin typeface="Arial"/>
                <a:cs typeface="Arial"/>
              </a:rPr>
              <a:t>1</a:t>
            </a:r>
            <a:r>
              <a:rPr sz="650" u="sng" dirty="0">
                <a:solidFill>
                  <a:srgbClr val="231F20"/>
                </a:solidFill>
                <a:uFill>
                  <a:solidFill>
                    <a:srgbClr val="231F20"/>
                  </a:solidFill>
                </a:uFill>
                <a:latin typeface="Arial"/>
                <a:cs typeface="Arial"/>
              </a:rPr>
              <a:t>)	</a:t>
            </a:r>
            <a:endParaRPr sz="650">
              <a:latin typeface="Arial"/>
              <a:cs typeface="Arial"/>
            </a:endParaRPr>
          </a:p>
          <a:p>
            <a:pPr marL="429259">
              <a:lnSpc>
                <a:spcPct val="100000"/>
              </a:lnSpc>
              <a:spcBef>
                <a:spcPts val="160"/>
              </a:spcBef>
              <a:tabLst>
                <a:tab pos="792480" algn="l"/>
                <a:tab pos="1444625" algn="l"/>
                <a:tab pos="2301240" algn="l"/>
                <a:tab pos="2665095" algn="l"/>
                <a:tab pos="3316604" algn="l"/>
              </a:tabLst>
            </a:pPr>
            <a:r>
              <a:rPr sz="650" spc="5" dirty="0">
                <a:solidFill>
                  <a:srgbClr val="231F20"/>
                </a:solidFill>
                <a:latin typeface="Arial"/>
                <a:cs typeface="Arial"/>
              </a:rPr>
              <a:t>L2:	W</a:t>
            </a:r>
            <a:r>
              <a:rPr sz="450" spc="22" baseline="-27777" dirty="0">
                <a:solidFill>
                  <a:srgbClr val="231F20"/>
                </a:solidFill>
                <a:latin typeface="Arial"/>
                <a:cs typeface="Arial"/>
              </a:rPr>
              <a:t>2</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650" spc="10" dirty="0">
                <a:solidFill>
                  <a:srgbClr val="231F20"/>
                </a:solidFill>
                <a:latin typeface="Arial"/>
                <a:cs typeface="Arial"/>
              </a:rPr>
              <a:t>R</a:t>
            </a:r>
            <a:r>
              <a:rPr sz="450" spc="22" baseline="-27777" dirty="0">
                <a:solidFill>
                  <a:srgbClr val="231F20"/>
                </a:solidFill>
                <a:latin typeface="Arial"/>
                <a:cs typeface="Arial"/>
              </a:rPr>
              <a:t>1</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975" spc="7" baseline="4273" dirty="0">
                <a:solidFill>
                  <a:srgbClr val="231F20"/>
                </a:solidFill>
                <a:latin typeface="Arial"/>
                <a:cs typeface="Arial"/>
              </a:rPr>
              <a:t>L2:</a:t>
            </a:r>
            <a:r>
              <a:rPr sz="975" baseline="4273" dirty="0">
                <a:solidFill>
                  <a:srgbClr val="231F20"/>
                </a:solidFill>
                <a:latin typeface="Arial"/>
                <a:cs typeface="Arial"/>
              </a:rPr>
              <a:t>	</a:t>
            </a:r>
            <a:r>
              <a:rPr sz="650" spc="5" dirty="0">
                <a:solidFill>
                  <a:srgbClr val="231F20"/>
                </a:solidFill>
                <a:latin typeface="Arial"/>
                <a:cs typeface="Arial"/>
              </a:rPr>
              <a:t>W</a:t>
            </a:r>
            <a:r>
              <a:rPr sz="450" spc="22" baseline="-18518" dirty="0">
                <a:solidFill>
                  <a:srgbClr val="231F20"/>
                </a:solidFill>
                <a:latin typeface="Arial"/>
                <a:cs typeface="Arial"/>
              </a:rPr>
              <a:t>2</a:t>
            </a:r>
            <a:r>
              <a:rPr sz="650" spc="5" dirty="0">
                <a:solidFill>
                  <a:srgbClr val="231F20"/>
                </a:solidFill>
                <a:latin typeface="Arial"/>
                <a:cs typeface="Arial"/>
              </a:rPr>
              <a:t>(x</a:t>
            </a:r>
            <a:r>
              <a:rPr sz="450" spc="22" baseline="-18518"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18518" dirty="0">
                <a:solidFill>
                  <a:srgbClr val="231F20"/>
                </a:solidFill>
                <a:latin typeface="Arial"/>
                <a:cs typeface="Arial"/>
              </a:rPr>
              <a:t>2</a:t>
            </a:r>
            <a:r>
              <a:rPr sz="650" dirty="0">
                <a:solidFill>
                  <a:srgbClr val="231F20"/>
                </a:solidFill>
                <a:latin typeface="Arial"/>
                <a:cs typeface="Arial"/>
              </a:rPr>
              <a:t>)	</a:t>
            </a:r>
            <a:r>
              <a:rPr sz="650" spc="10" dirty="0">
                <a:solidFill>
                  <a:srgbClr val="231F20"/>
                </a:solidFill>
                <a:latin typeface="Arial"/>
                <a:cs typeface="Arial"/>
              </a:rPr>
              <a:t>R</a:t>
            </a:r>
            <a:r>
              <a:rPr sz="450" spc="22" baseline="-18518" dirty="0">
                <a:solidFill>
                  <a:srgbClr val="231F20"/>
                </a:solidFill>
                <a:latin typeface="Arial"/>
                <a:cs typeface="Arial"/>
              </a:rPr>
              <a:t>1</a:t>
            </a:r>
            <a:r>
              <a:rPr sz="650" spc="5" dirty="0">
                <a:solidFill>
                  <a:srgbClr val="231F20"/>
                </a:solidFill>
                <a:latin typeface="Arial"/>
                <a:cs typeface="Arial"/>
              </a:rPr>
              <a:t>(x</a:t>
            </a:r>
            <a:r>
              <a:rPr sz="450" spc="22" baseline="-18518" dirty="0">
                <a:solidFill>
                  <a:srgbClr val="231F20"/>
                </a:solidFill>
                <a:latin typeface="Arial"/>
                <a:cs typeface="Arial"/>
              </a:rPr>
              <a:t>2</a:t>
            </a:r>
            <a:r>
              <a:rPr sz="650" dirty="0">
                <a:solidFill>
                  <a:srgbClr val="231F20"/>
                </a:solidFill>
                <a:latin typeface="Arial"/>
                <a:cs typeface="Arial"/>
              </a:rPr>
              <a:t>)</a:t>
            </a:r>
            <a:endParaRPr sz="650">
              <a:latin typeface="Arial"/>
              <a:cs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18</a:t>
            </a:r>
            <a:r>
              <a:rPr spc="-40" dirty="0"/>
              <a:t> </a:t>
            </a:r>
            <a:r>
              <a:rPr spc="-5" dirty="0"/>
              <a:t>/</a:t>
            </a:r>
            <a:r>
              <a:rPr spc="-35" dirty="0"/>
              <a:t> </a:t>
            </a:r>
            <a:r>
              <a:rPr spc="-5" dirty="0"/>
              <a:t>37</a:t>
            </a:r>
          </a:p>
        </p:txBody>
      </p:sp>
      <p:sp>
        <p:nvSpPr>
          <p:cNvPr id="2" name="object 2"/>
          <p:cNvSpPr txBox="1"/>
          <p:nvPr/>
        </p:nvSpPr>
        <p:spPr>
          <a:xfrm>
            <a:off x="66713" y="716"/>
            <a:ext cx="214249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Client-centric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954726" y="716"/>
            <a:ext cx="5867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Monotonic</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reads</a:t>
            </a:r>
            <a:endParaRPr sz="600">
              <a:latin typeface="Arial"/>
              <a:cs typeface="Arial"/>
            </a:endParaRPr>
          </a:p>
        </p:txBody>
      </p:sp>
      <p:sp>
        <p:nvSpPr>
          <p:cNvPr id="4" name="object 4"/>
          <p:cNvSpPr txBox="1"/>
          <p:nvPr/>
        </p:nvSpPr>
        <p:spPr>
          <a:xfrm>
            <a:off x="95300" y="188846"/>
            <a:ext cx="285559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Client-centric</a:t>
            </a:r>
            <a:r>
              <a:rPr sz="1400" spc="-30" dirty="0">
                <a:solidFill>
                  <a:srgbClr val="3333B2"/>
                </a:solidFill>
                <a:latin typeface="Arial"/>
                <a:cs typeface="Arial"/>
              </a:rPr>
              <a:t> </a:t>
            </a:r>
            <a:r>
              <a:rPr sz="1400" spc="15" dirty="0">
                <a:solidFill>
                  <a:srgbClr val="3333B2"/>
                </a:solidFill>
                <a:latin typeface="Arial"/>
                <a:cs typeface="Arial"/>
              </a:rPr>
              <a:t>consistency:</a:t>
            </a:r>
            <a:r>
              <a:rPr sz="1400" spc="65" dirty="0">
                <a:solidFill>
                  <a:srgbClr val="3333B2"/>
                </a:solidFill>
                <a:latin typeface="Arial"/>
                <a:cs typeface="Arial"/>
              </a:rPr>
              <a:t> </a:t>
            </a:r>
            <a:r>
              <a:rPr sz="1400" spc="15" dirty="0">
                <a:solidFill>
                  <a:srgbClr val="3333B2"/>
                </a:solidFill>
                <a:latin typeface="Arial"/>
                <a:cs typeface="Arial"/>
              </a:rPr>
              <a:t>notation</a:t>
            </a:r>
            <a:endParaRPr sz="1400">
              <a:latin typeface="Arial"/>
              <a:cs typeface="Arial"/>
            </a:endParaRPr>
          </a:p>
        </p:txBody>
      </p:sp>
      <p:sp>
        <p:nvSpPr>
          <p:cNvPr id="5" name="object 5"/>
          <p:cNvSpPr txBox="1"/>
          <p:nvPr/>
        </p:nvSpPr>
        <p:spPr>
          <a:xfrm>
            <a:off x="296494" y="924020"/>
            <a:ext cx="4013835" cy="1423670"/>
          </a:xfrm>
          <a:prstGeom prst="rect">
            <a:avLst/>
          </a:prstGeom>
        </p:spPr>
        <p:txBody>
          <a:bodyPr vert="horz" wrap="square" lIns="0" tIns="95250" rIns="0" bIns="0" rtlCol="0">
            <a:spAutoFit/>
          </a:bodyPr>
          <a:lstStyle/>
          <a:p>
            <a:pPr marL="63500">
              <a:lnSpc>
                <a:spcPct val="100000"/>
              </a:lnSpc>
              <a:spcBef>
                <a:spcPts val="750"/>
              </a:spcBef>
            </a:pPr>
            <a:r>
              <a:rPr sz="1200" spc="-5" dirty="0">
                <a:solidFill>
                  <a:srgbClr val="3333B2"/>
                </a:solidFill>
                <a:latin typeface="Arial"/>
                <a:cs typeface="Arial"/>
              </a:rPr>
              <a:t>Notation</a:t>
            </a:r>
            <a:endParaRPr sz="1200">
              <a:latin typeface="Arial"/>
              <a:cs typeface="Arial"/>
            </a:endParaRPr>
          </a:p>
          <a:p>
            <a:pPr marL="340360" indent="-168275">
              <a:lnSpc>
                <a:spcPts val="1200"/>
              </a:lnSpc>
              <a:spcBef>
                <a:spcPts val="545"/>
              </a:spcBef>
              <a:buClr>
                <a:srgbClr val="3333B2"/>
              </a:buClr>
              <a:buFont typeface="Arial"/>
              <a:buChar char="►"/>
              <a:tabLst>
                <a:tab pos="340995" algn="l"/>
              </a:tabLst>
            </a:pPr>
            <a:r>
              <a:rPr sz="1000" i="1" spc="25" dirty="0">
                <a:latin typeface="Arial"/>
                <a:cs typeface="Arial"/>
              </a:rPr>
              <a:t>W</a:t>
            </a:r>
            <a:r>
              <a:rPr sz="1050" i="1" spc="37" baseline="-15873" dirty="0">
                <a:latin typeface="Arial"/>
                <a:cs typeface="Arial"/>
              </a:rPr>
              <a:t>1</a:t>
            </a:r>
            <a:r>
              <a:rPr sz="1000" spc="25" dirty="0">
                <a:latin typeface="Arial"/>
                <a:cs typeface="Arial"/>
              </a:rPr>
              <a:t>(</a:t>
            </a:r>
            <a:r>
              <a:rPr sz="1000" i="1" spc="25" dirty="0">
                <a:latin typeface="Arial"/>
                <a:cs typeface="Arial"/>
              </a:rPr>
              <a:t>x</a:t>
            </a:r>
            <a:r>
              <a:rPr sz="1050" i="1" spc="37" baseline="-15873" dirty="0">
                <a:latin typeface="Arial"/>
                <a:cs typeface="Arial"/>
              </a:rPr>
              <a:t>2</a:t>
            </a:r>
            <a:r>
              <a:rPr sz="1050" i="1" spc="-157" baseline="-15873" dirty="0">
                <a:latin typeface="Arial"/>
                <a:cs typeface="Arial"/>
              </a:rPr>
              <a:t> </a:t>
            </a:r>
            <a:r>
              <a:rPr sz="1000" spc="50" dirty="0">
                <a:latin typeface="Arial"/>
                <a:cs typeface="Arial"/>
              </a:rPr>
              <a:t>)</a:t>
            </a:r>
            <a:r>
              <a:rPr sz="1000" spc="5" dirty="0">
                <a:latin typeface="Arial"/>
                <a:cs typeface="Arial"/>
              </a:rPr>
              <a:t> </a:t>
            </a:r>
            <a:r>
              <a:rPr sz="1000" spc="-5" dirty="0">
                <a:latin typeface="Arial"/>
                <a:cs typeface="Arial"/>
              </a:rPr>
              <a:t>is the</a:t>
            </a:r>
            <a:r>
              <a:rPr sz="1000" dirty="0">
                <a:latin typeface="Arial"/>
                <a:cs typeface="Arial"/>
              </a:rPr>
              <a:t> write </a:t>
            </a:r>
            <a:r>
              <a:rPr sz="1000" spc="-5" dirty="0">
                <a:latin typeface="Arial"/>
                <a:cs typeface="Arial"/>
              </a:rPr>
              <a:t>operation</a:t>
            </a:r>
            <a:r>
              <a:rPr sz="1000" dirty="0">
                <a:latin typeface="Arial"/>
                <a:cs typeface="Arial"/>
              </a:rPr>
              <a:t> </a:t>
            </a:r>
            <a:r>
              <a:rPr sz="1000" spc="-15" dirty="0">
                <a:latin typeface="Arial"/>
                <a:cs typeface="Arial"/>
              </a:rPr>
              <a:t>by</a:t>
            </a:r>
            <a:r>
              <a:rPr sz="1000" spc="-5" dirty="0">
                <a:latin typeface="Arial"/>
                <a:cs typeface="Arial"/>
              </a:rPr>
              <a:t> process</a:t>
            </a:r>
            <a:r>
              <a:rPr sz="1000" dirty="0">
                <a:latin typeface="Arial"/>
                <a:cs typeface="Arial"/>
              </a:rPr>
              <a:t> </a:t>
            </a:r>
            <a:r>
              <a:rPr sz="1000" i="1" spc="5" dirty="0">
                <a:latin typeface="Arial"/>
                <a:cs typeface="Arial"/>
              </a:rPr>
              <a:t>P</a:t>
            </a:r>
            <a:r>
              <a:rPr sz="1050" i="1" spc="7" baseline="-15873" dirty="0">
                <a:latin typeface="Arial"/>
                <a:cs typeface="Arial"/>
              </a:rPr>
              <a:t>1</a:t>
            </a:r>
            <a:r>
              <a:rPr sz="1050" i="1" spc="202" baseline="-15873"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leads to</a:t>
            </a:r>
            <a:r>
              <a:rPr sz="1000" dirty="0">
                <a:latin typeface="Arial"/>
                <a:cs typeface="Arial"/>
              </a:rPr>
              <a:t> </a:t>
            </a:r>
            <a:r>
              <a:rPr sz="1000" spc="-10" dirty="0">
                <a:latin typeface="Arial"/>
                <a:cs typeface="Arial"/>
              </a:rPr>
              <a:t>version</a:t>
            </a:r>
            <a:endParaRPr sz="1000">
              <a:latin typeface="Arial"/>
              <a:cs typeface="Arial"/>
            </a:endParaRPr>
          </a:p>
          <a:p>
            <a:pPr marL="340360">
              <a:lnSpc>
                <a:spcPts val="1200"/>
              </a:lnSpc>
            </a:pPr>
            <a:r>
              <a:rPr sz="1000" i="1" spc="5" dirty="0">
                <a:latin typeface="Arial"/>
                <a:cs typeface="Arial"/>
              </a:rPr>
              <a:t>x</a:t>
            </a:r>
            <a:r>
              <a:rPr sz="1050" i="1" spc="7" baseline="-15873" dirty="0">
                <a:latin typeface="Arial"/>
                <a:cs typeface="Arial"/>
              </a:rPr>
              <a:t>2</a:t>
            </a:r>
            <a:r>
              <a:rPr sz="1050" i="1" spc="209" baseline="-15873" dirty="0">
                <a:latin typeface="Arial"/>
                <a:cs typeface="Arial"/>
              </a:rPr>
              <a:t> </a:t>
            </a:r>
            <a:r>
              <a:rPr sz="1000" spc="-5" dirty="0">
                <a:latin typeface="Arial"/>
                <a:cs typeface="Arial"/>
              </a:rPr>
              <a:t>of</a:t>
            </a:r>
            <a:r>
              <a:rPr sz="1000" spc="-25" dirty="0">
                <a:latin typeface="Arial"/>
                <a:cs typeface="Arial"/>
              </a:rPr>
              <a:t> </a:t>
            </a:r>
            <a:r>
              <a:rPr sz="1000" i="1" spc="-5" dirty="0">
                <a:latin typeface="Arial"/>
                <a:cs typeface="Arial"/>
              </a:rPr>
              <a:t>x</a:t>
            </a:r>
            <a:endParaRPr sz="1000">
              <a:latin typeface="Arial"/>
              <a:cs typeface="Arial"/>
            </a:endParaRPr>
          </a:p>
          <a:p>
            <a:pPr marL="337185" marR="130810" indent="-165100">
              <a:lnSpc>
                <a:spcPct val="100000"/>
              </a:lnSpc>
              <a:spcBef>
                <a:spcPts val="590"/>
              </a:spcBef>
              <a:buClr>
                <a:srgbClr val="3333B2"/>
              </a:buClr>
              <a:buFont typeface="Arial"/>
              <a:buChar char="►"/>
              <a:tabLst>
                <a:tab pos="340995" algn="l"/>
              </a:tabLst>
            </a:pPr>
            <a:r>
              <a:rPr sz="1000" i="1" spc="20" dirty="0">
                <a:latin typeface="Arial"/>
                <a:cs typeface="Arial"/>
              </a:rPr>
              <a:t>W</a:t>
            </a:r>
            <a:r>
              <a:rPr sz="1050" i="1" spc="30" baseline="-15873" dirty="0">
                <a:latin typeface="Arial"/>
                <a:cs typeface="Arial"/>
              </a:rPr>
              <a:t>1</a:t>
            </a:r>
            <a:r>
              <a:rPr sz="1000" spc="20" dirty="0">
                <a:latin typeface="Arial"/>
                <a:cs typeface="Arial"/>
              </a:rPr>
              <a:t>(</a:t>
            </a:r>
            <a:r>
              <a:rPr sz="1000" i="1" spc="20" dirty="0">
                <a:latin typeface="Arial"/>
                <a:cs typeface="Arial"/>
              </a:rPr>
              <a:t>x</a:t>
            </a:r>
            <a:r>
              <a:rPr sz="1050" i="1" spc="30" baseline="-15873" dirty="0">
                <a:latin typeface="Arial"/>
                <a:cs typeface="Arial"/>
              </a:rPr>
              <a:t>i</a:t>
            </a:r>
            <a:r>
              <a:rPr sz="1050" i="1" spc="-127" baseline="-15873" dirty="0">
                <a:latin typeface="Arial"/>
                <a:cs typeface="Arial"/>
              </a:rPr>
              <a:t> </a:t>
            </a:r>
            <a:r>
              <a:rPr sz="1000" spc="-5" dirty="0">
                <a:latin typeface="Arial"/>
                <a:cs typeface="Arial"/>
              </a:rPr>
              <a:t>;</a:t>
            </a:r>
            <a:r>
              <a:rPr sz="1000" spc="-165" dirty="0">
                <a:latin typeface="Arial"/>
                <a:cs typeface="Arial"/>
              </a:rPr>
              <a:t> </a:t>
            </a:r>
            <a:r>
              <a:rPr sz="1000" i="1" dirty="0">
                <a:latin typeface="Arial"/>
                <a:cs typeface="Arial"/>
              </a:rPr>
              <a:t>x</a:t>
            </a:r>
            <a:r>
              <a:rPr sz="1050" i="1" baseline="-15873" dirty="0">
                <a:latin typeface="Arial"/>
                <a:cs typeface="Arial"/>
              </a:rPr>
              <a:t>j</a:t>
            </a:r>
            <a:r>
              <a:rPr sz="1050" i="1" spc="-127" baseline="-15873" dirty="0">
                <a:latin typeface="Arial"/>
                <a:cs typeface="Arial"/>
              </a:rPr>
              <a:t> </a:t>
            </a:r>
            <a:r>
              <a:rPr sz="1000" spc="50" dirty="0">
                <a:latin typeface="Arial"/>
                <a:cs typeface="Arial"/>
              </a:rPr>
              <a:t>)</a:t>
            </a:r>
            <a:r>
              <a:rPr sz="1000" spc="10" dirty="0">
                <a:latin typeface="Arial"/>
                <a:cs typeface="Arial"/>
              </a:rPr>
              <a:t> </a:t>
            </a:r>
            <a:r>
              <a:rPr sz="1000" spc="-5" dirty="0">
                <a:latin typeface="Arial"/>
                <a:cs typeface="Arial"/>
              </a:rPr>
              <a:t>indicates</a:t>
            </a:r>
            <a:r>
              <a:rPr sz="1000" spc="5" dirty="0">
                <a:latin typeface="Arial"/>
                <a:cs typeface="Arial"/>
              </a:rPr>
              <a:t> </a:t>
            </a:r>
            <a:r>
              <a:rPr sz="1000" i="1" spc="5" dirty="0">
                <a:latin typeface="Arial"/>
                <a:cs typeface="Arial"/>
              </a:rPr>
              <a:t>P</a:t>
            </a:r>
            <a:r>
              <a:rPr sz="1050" i="1" spc="7" baseline="-15873" dirty="0">
                <a:latin typeface="Arial"/>
                <a:cs typeface="Arial"/>
              </a:rPr>
              <a:t>1</a:t>
            </a:r>
            <a:r>
              <a:rPr sz="1050" i="1" spc="202" baseline="-15873" dirty="0">
                <a:latin typeface="Arial"/>
                <a:cs typeface="Arial"/>
              </a:rPr>
              <a:t> </a:t>
            </a:r>
            <a:r>
              <a:rPr sz="1000" spc="-5" dirty="0">
                <a:latin typeface="Arial"/>
                <a:cs typeface="Arial"/>
              </a:rPr>
              <a:t>produces</a:t>
            </a:r>
            <a:r>
              <a:rPr sz="1000" spc="5" dirty="0">
                <a:latin typeface="Arial"/>
                <a:cs typeface="Arial"/>
              </a:rPr>
              <a:t> </a:t>
            </a:r>
            <a:r>
              <a:rPr sz="1000" spc="-10" dirty="0">
                <a:latin typeface="Arial"/>
                <a:cs typeface="Arial"/>
              </a:rPr>
              <a:t>version</a:t>
            </a:r>
            <a:r>
              <a:rPr sz="1000" spc="5" dirty="0">
                <a:latin typeface="Arial"/>
                <a:cs typeface="Arial"/>
              </a:rPr>
              <a:t> </a:t>
            </a:r>
            <a:r>
              <a:rPr sz="1000" i="1" dirty="0">
                <a:latin typeface="Arial"/>
                <a:cs typeface="Arial"/>
              </a:rPr>
              <a:t>x</a:t>
            </a:r>
            <a:r>
              <a:rPr sz="1050" i="1" baseline="-15873" dirty="0">
                <a:latin typeface="Arial"/>
                <a:cs typeface="Arial"/>
              </a:rPr>
              <a:t>j</a:t>
            </a:r>
            <a:r>
              <a:rPr sz="1050" i="1" spc="30" baseline="-15873" dirty="0">
                <a:latin typeface="Arial"/>
                <a:cs typeface="Arial"/>
              </a:rPr>
              <a:t> </a:t>
            </a:r>
            <a:r>
              <a:rPr sz="1000" spc="-5" dirty="0">
                <a:latin typeface="Arial"/>
                <a:cs typeface="Arial"/>
              </a:rPr>
              <a:t>based</a:t>
            </a:r>
            <a:r>
              <a:rPr sz="1000" dirty="0">
                <a:latin typeface="Arial"/>
                <a:cs typeface="Arial"/>
              </a:rPr>
              <a:t> </a:t>
            </a:r>
            <a:r>
              <a:rPr sz="1000" spc="-5" dirty="0">
                <a:latin typeface="Arial"/>
                <a:cs typeface="Arial"/>
              </a:rPr>
              <a:t>on</a:t>
            </a:r>
            <a:r>
              <a:rPr sz="1000" spc="5" dirty="0">
                <a:latin typeface="Arial"/>
                <a:cs typeface="Arial"/>
              </a:rPr>
              <a:t> </a:t>
            </a:r>
            <a:r>
              <a:rPr sz="1000" spc="-5" dirty="0">
                <a:latin typeface="Arial"/>
                <a:cs typeface="Arial"/>
              </a:rPr>
              <a:t>a</a:t>
            </a:r>
            <a:r>
              <a:rPr sz="1000" dirty="0">
                <a:latin typeface="Arial"/>
                <a:cs typeface="Arial"/>
              </a:rPr>
              <a:t> </a:t>
            </a:r>
            <a:r>
              <a:rPr sz="1000" spc="-10" dirty="0">
                <a:latin typeface="Arial"/>
                <a:cs typeface="Arial"/>
              </a:rPr>
              <a:t>previous </a:t>
            </a:r>
            <a:r>
              <a:rPr sz="1000" spc="-265" dirty="0">
                <a:latin typeface="Arial"/>
                <a:cs typeface="Arial"/>
              </a:rPr>
              <a:t> </a:t>
            </a:r>
            <a:r>
              <a:rPr sz="1000" spc="-10" dirty="0">
                <a:latin typeface="Arial"/>
                <a:cs typeface="Arial"/>
              </a:rPr>
              <a:t>version </a:t>
            </a:r>
            <a:r>
              <a:rPr sz="1000" i="1" dirty="0">
                <a:latin typeface="Arial"/>
                <a:cs typeface="Arial"/>
              </a:rPr>
              <a:t>x</a:t>
            </a:r>
            <a:r>
              <a:rPr sz="1050" i="1" baseline="-15873" dirty="0">
                <a:latin typeface="Arial"/>
                <a:cs typeface="Arial"/>
              </a:rPr>
              <a:t>i</a:t>
            </a:r>
            <a:r>
              <a:rPr sz="1050" i="1" spc="-127" baseline="-15873" dirty="0">
                <a:latin typeface="Arial"/>
                <a:cs typeface="Arial"/>
              </a:rPr>
              <a:t> </a:t>
            </a:r>
            <a:r>
              <a:rPr sz="1000" spc="-5" dirty="0">
                <a:latin typeface="Arial"/>
                <a:cs typeface="Arial"/>
              </a:rPr>
              <a:t>.</a:t>
            </a:r>
            <a:endParaRPr sz="1000">
              <a:latin typeface="Arial"/>
              <a:cs typeface="Arial"/>
            </a:endParaRPr>
          </a:p>
          <a:p>
            <a:pPr marL="340360" indent="-168275">
              <a:lnSpc>
                <a:spcPts val="1200"/>
              </a:lnSpc>
              <a:spcBef>
                <a:spcPts val="590"/>
              </a:spcBef>
              <a:buClr>
                <a:srgbClr val="3333B2"/>
              </a:buClr>
              <a:buFont typeface="Arial"/>
              <a:buChar char="►"/>
              <a:tabLst>
                <a:tab pos="340995" algn="l"/>
              </a:tabLst>
            </a:pPr>
            <a:r>
              <a:rPr sz="1000" i="1" spc="20" dirty="0">
                <a:latin typeface="Arial"/>
                <a:cs typeface="Arial"/>
              </a:rPr>
              <a:t>W</a:t>
            </a:r>
            <a:r>
              <a:rPr sz="1050" i="1" spc="30" baseline="-15873" dirty="0">
                <a:latin typeface="Arial"/>
                <a:cs typeface="Arial"/>
              </a:rPr>
              <a:t>1</a:t>
            </a:r>
            <a:r>
              <a:rPr sz="1000" spc="20" dirty="0">
                <a:latin typeface="Arial"/>
                <a:cs typeface="Arial"/>
              </a:rPr>
              <a:t>(</a:t>
            </a:r>
            <a:r>
              <a:rPr sz="1000" i="1" spc="20" dirty="0">
                <a:latin typeface="Arial"/>
                <a:cs typeface="Arial"/>
              </a:rPr>
              <a:t>x</a:t>
            </a:r>
            <a:r>
              <a:rPr sz="1050" i="1" spc="30" baseline="-15873" dirty="0">
                <a:latin typeface="Arial"/>
                <a:cs typeface="Arial"/>
              </a:rPr>
              <a:t>i</a:t>
            </a:r>
            <a:r>
              <a:rPr sz="1050" i="1" spc="-127" baseline="-15873" dirty="0">
                <a:latin typeface="Arial"/>
                <a:cs typeface="Arial"/>
              </a:rPr>
              <a:t> </a:t>
            </a:r>
            <a:r>
              <a:rPr sz="1000" i="1" spc="-55" dirty="0">
                <a:latin typeface="メイリオ"/>
                <a:cs typeface="メイリオ"/>
              </a:rPr>
              <a:t>|</a:t>
            </a:r>
            <a:r>
              <a:rPr sz="1000" i="1" spc="-55" dirty="0">
                <a:latin typeface="Arial"/>
                <a:cs typeface="Arial"/>
              </a:rPr>
              <a:t>x</a:t>
            </a:r>
            <a:r>
              <a:rPr sz="1050" i="1" spc="-82" baseline="-15873" dirty="0">
                <a:latin typeface="Arial"/>
                <a:cs typeface="Arial"/>
              </a:rPr>
              <a:t>j</a:t>
            </a:r>
            <a:r>
              <a:rPr sz="1050" i="1" spc="-127" baseline="-15873" dirty="0">
                <a:latin typeface="Arial"/>
                <a:cs typeface="Arial"/>
              </a:rPr>
              <a:t> </a:t>
            </a:r>
            <a:r>
              <a:rPr sz="1000" spc="50" dirty="0">
                <a:latin typeface="Arial"/>
                <a:cs typeface="Arial"/>
              </a:rPr>
              <a:t>)</a:t>
            </a:r>
            <a:r>
              <a:rPr sz="1000" spc="-5" dirty="0">
                <a:latin typeface="Arial"/>
                <a:cs typeface="Arial"/>
              </a:rPr>
              <a:t> </a:t>
            </a:r>
            <a:r>
              <a:rPr sz="1000" spc="-10" dirty="0">
                <a:latin typeface="Arial"/>
                <a:cs typeface="Arial"/>
              </a:rPr>
              <a:t>indicates</a:t>
            </a:r>
            <a:r>
              <a:rPr sz="1000" spc="-5" dirty="0">
                <a:latin typeface="Arial"/>
                <a:cs typeface="Arial"/>
              </a:rPr>
              <a:t> </a:t>
            </a:r>
            <a:r>
              <a:rPr sz="1000" i="1" spc="5" dirty="0">
                <a:latin typeface="Arial"/>
                <a:cs typeface="Arial"/>
              </a:rPr>
              <a:t>P</a:t>
            </a:r>
            <a:r>
              <a:rPr sz="1050" i="1" spc="7" baseline="-15873" dirty="0">
                <a:latin typeface="Arial"/>
                <a:cs typeface="Arial"/>
              </a:rPr>
              <a:t>1</a:t>
            </a:r>
            <a:r>
              <a:rPr sz="1050" i="1" spc="195" baseline="-15873" dirty="0">
                <a:latin typeface="Arial"/>
                <a:cs typeface="Arial"/>
              </a:rPr>
              <a:t> </a:t>
            </a:r>
            <a:r>
              <a:rPr sz="1000" spc="-15" dirty="0">
                <a:latin typeface="Arial"/>
                <a:cs typeface="Arial"/>
              </a:rPr>
              <a:t>produces</a:t>
            </a:r>
            <a:r>
              <a:rPr sz="1000" spc="-5" dirty="0">
                <a:latin typeface="Arial"/>
                <a:cs typeface="Arial"/>
              </a:rPr>
              <a:t> </a:t>
            </a:r>
            <a:r>
              <a:rPr sz="1000" spc="-15" dirty="0">
                <a:latin typeface="Arial"/>
                <a:cs typeface="Arial"/>
              </a:rPr>
              <a:t>version</a:t>
            </a:r>
            <a:r>
              <a:rPr sz="1000" spc="-5" dirty="0">
                <a:latin typeface="Arial"/>
                <a:cs typeface="Arial"/>
              </a:rPr>
              <a:t> </a:t>
            </a:r>
            <a:r>
              <a:rPr sz="1000" i="1" dirty="0">
                <a:latin typeface="Arial"/>
                <a:cs typeface="Arial"/>
              </a:rPr>
              <a:t>x</a:t>
            </a:r>
            <a:r>
              <a:rPr sz="1050" i="1" baseline="-15873" dirty="0">
                <a:latin typeface="Arial"/>
                <a:cs typeface="Arial"/>
              </a:rPr>
              <a:t>j</a:t>
            </a:r>
            <a:r>
              <a:rPr sz="1050" i="1" spc="7" baseline="-15873" dirty="0">
                <a:latin typeface="Arial"/>
                <a:cs typeface="Arial"/>
              </a:rPr>
              <a:t> </a:t>
            </a:r>
            <a:r>
              <a:rPr sz="1000" spc="-10" dirty="0">
                <a:solidFill>
                  <a:srgbClr val="0000FA"/>
                </a:solidFill>
                <a:latin typeface="Arial"/>
                <a:cs typeface="Arial"/>
              </a:rPr>
              <a:t>concurrently</a:t>
            </a:r>
            <a:r>
              <a:rPr sz="1000" spc="-5" dirty="0">
                <a:solidFill>
                  <a:srgbClr val="0000FA"/>
                </a:solidFill>
                <a:latin typeface="Arial"/>
                <a:cs typeface="Arial"/>
              </a:rPr>
              <a:t> </a:t>
            </a:r>
            <a:r>
              <a:rPr sz="1000" spc="-10" dirty="0">
                <a:latin typeface="Arial"/>
                <a:cs typeface="Arial"/>
              </a:rPr>
              <a:t>to</a:t>
            </a:r>
            <a:r>
              <a:rPr sz="1000" spc="-5" dirty="0">
                <a:latin typeface="Arial"/>
                <a:cs typeface="Arial"/>
              </a:rPr>
              <a:t> </a:t>
            </a:r>
            <a:r>
              <a:rPr sz="1000" spc="-15" dirty="0">
                <a:latin typeface="Arial"/>
                <a:cs typeface="Arial"/>
              </a:rPr>
              <a:t>version</a:t>
            </a:r>
            <a:endParaRPr sz="1000">
              <a:latin typeface="Arial"/>
              <a:cs typeface="Arial"/>
            </a:endParaRPr>
          </a:p>
          <a:p>
            <a:pPr marL="340360">
              <a:lnSpc>
                <a:spcPts val="1200"/>
              </a:lnSpc>
            </a:pPr>
            <a:r>
              <a:rPr sz="1000" i="1" spc="-5" dirty="0">
                <a:latin typeface="Arial"/>
                <a:cs typeface="Arial"/>
              </a:rPr>
              <a:t>x</a:t>
            </a:r>
            <a:r>
              <a:rPr sz="1050" i="1" spc="7" baseline="-15873" dirty="0">
                <a:latin typeface="Arial"/>
                <a:cs typeface="Arial"/>
              </a:rPr>
              <a:t>i</a:t>
            </a:r>
            <a:r>
              <a:rPr sz="1050" i="1" spc="-127" baseline="-15873" dirty="0">
                <a:latin typeface="Arial"/>
                <a:cs typeface="Arial"/>
              </a:rPr>
              <a:t> </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19</a:t>
            </a:r>
            <a:r>
              <a:rPr spc="-40" dirty="0"/>
              <a:t> </a:t>
            </a:r>
            <a:r>
              <a:rPr spc="-5" dirty="0"/>
              <a:t>/</a:t>
            </a:r>
            <a:r>
              <a:rPr spc="-35" dirty="0"/>
              <a:t> </a:t>
            </a:r>
            <a:r>
              <a:rPr spc="-5" dirty="0"/>
              <a:t>37</a:t>
            </a:r>
          </a:p>
        </p:txBody>
      </p:sp>
      <p:sp>
        <p:nvSpPr>
          <p:cNvPr id="2" name="object 2"/>
          <p:cNvSpPr txBox="1"/>
          <p:nvPr/>
        </p:nvSpPr>
        <p:spPr>
          <a:xfrm>
            <a:off x="66713" y="716"/>
            <a:ext cx="214249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Client-centric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954726" y="716"/>
            <a:ext cx="5867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Monotonic</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reads</a:t>
            </a:r>
            <a:endParaRPr sz="600">
              <a:latin typeface="Arial"/>
              <a:cs typeface="Arial"/>
            </a:endParaRPr>
          </a:p>
        </p:txBody>
      </p:sp>
      <p:sp>
        <p:nvSpPr>
          <p:cNvPr id="4" name="object 4"/>
          <p:cNvSpPr txBox="1"/>
          <p:nvPr/>
        </p:nvSpPr>
        <p:spPr>
          <a:xfrm>
            <a:off x="95300" y="188846"/>
            <a:ext cx="137223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Monotonic</a:t>
            </a:r>
            <a:r>
              <a:rPr sz="1400" spc="-50" dirty="0">
                <a:solidFill>
                  <a:srgbClr val="3333B2"/>
                </a:solidFill>
                <a:latin typeface="Arial"/>
                <a:cs typeface="Arial"/>
              </a:rPr>
              <a:t> </a:t>
            </a:r>
            <a:r>
              <a:rPr sz="1400" spc="15" dirty="0">
                <a:solidFill>
                  <a:srgbClr val="3333B2"/>
                </a:solidFill>
                <a:latin typeface="Arial"/>
                <a:cs typeface="Arial"/>
              </a:rPr>
              <a:t>reads</a:t>
            </a:r>
            <a:endParaRPr sz="1400">
              <a:latin typeface="Arial"/>
              <a:cs typeface="Arial"/>
            </a:endParaRPr>
          </a:p>
        </p:txBody>
      </p:sp>
      <p:sp>
        <p:nvSpPr>
          <p:cNvPr id="5" name="object 5"/>
          <p:cNvSpPr txBox="1"/>
          <p:nvPr/>
        </p:nvSpPr>
        <p:spPr>
          <a:xfrm>
            <a:off x="343128" y="971371"/>
            <a:ext cx="3910329" cy="1462405"/>
          </a:xfrm>
          <a:prstGeom prst="rect">
            <a:avLst/>
          </a:prstGeom>
        </p:spPr>
        <p:txBody>
          <a:bodyPr vert="horz" wrap="square" lIns="0" tIns="39370" rIns="0" bIns="0" rtlCol="0">
            <a:spAutoFit/>
          </a:bodyPr>
          <a:lstStyle/>
          <a:p>
            <a:pPr marL="16510">
              <a:lnSpc>
                <a:spcPct val="100000"/>
              </a:lnSpc>
              <a:spcBef>
                <a:spcPts val="310"/>
              </a:spcBef>
            </a:pPr>
            <a:r>
              <a:rPr sz="1200" spc="-5" dirty="0">
                <a:solidFill>
                  <a:srgbClr val="007C00"/>
                </a:solidFill>
                <a:latin typeface="Arial"/>
                <a:cs typeface="Arial"/>
              </a:rPr>
              <a:t>Example</a:t>
            </a:r>
            <a:endParaRPr sz="1200">
              <a:latin typeface="Arial"/>
              <a:cs typeface="Arial"/>
            </a:endParaRPr>
          </a:p>
          <a:p>
            <a:pPr marL="16510" marR="20320" indent="-4445">
              <a:lnSpc>
                <a:spcPct val="100000"/>
              </a:lnSpc>
              <a:spcBef>
                <a:spcPts val="175"/>
              </a:spcBef>
            </a:pPr>
            <a:r>
              <a:rPr sz="1000" spc="-5" dirty="0">
                <a:latin typeface="Arial"/>
                <a:cs typeface="Arial"/>
              </a:rPr>
              <a:t>Automatically reading</a:t>
            </a:r>
            <a:r>
              <a:rPr sz="1000" dirty="0">
                <a:latin typeface="Arial"/>
                <a:cs typeface="Arial"/>
              </a:rPr>
              <a:t> </a:t>
            </a:r>
            <a:r>
              <a:rPr sz="1000" spc="-10" dirty="0">
                <a:latin typeface="Arial"/>
                <a:cs typeface="Arial"/>
              </a:rPr>
              <a:t>your</a:t>
            </a:r>
            <a:r>
              <a:rPr sz="1000" spc="-5" dirty="0">
                <a:latin typeface="Arial"/>
                <a:cs typeface="Arial"/>
              </a:rPr>
              <a:t> personal</a:t>
            </a:r>
            <a:r>
              <a:rPr sz="1000" dirty="0">
                <a:latin typeface="Arial"/>
                <a:cs typeface="Arial"/>
              </a:rPr>
              <a:t> </a:t>
            </a:r>
            <a:r>
              <a:rPr sz="1000" spc="-5" dirty="0">
                <a:latin typeface="Arial"/>
                <a:cs typeface="Arial"/>
              </a:rPr>
              <a:t>calendar</a:t>
            </a:r>
            <a:r>
              <a:rPr sz="1000" dirty="0">
                <a:latin typeface="Arial"/>
                <a:cs typeface="Arial"/>
              </a:rPr>
              <a:t> </a:t>
            </a:r>
            <a:r>
              <a:rPr sz="1000" spc="-5" dirty="0">
                <a:latin typeface="Arial"/>
                <a:cs typeface="Arial"/>
              </a:rPr>
              <a:t>updates from</a:t>
            </a:r>
            <a:r>
              <a:rPr sz="1000" dirty="0">
                <a:latin typeface="Arial"/>
                <a:cs typeface="Arial"/>
              </a:rPr>
              <a:t> </a:t>
            </a:r>
            <a:r>
              <a:rPr sz="1000" spc="-5" dirty="0">
                <a:latin typeface="Arial"/>
                <a:cs typeface="Arial"/>
              </a:rPr>
              <a:t>different </a:t>
            </a:r>
            <a:r>
              <a:rPr sz="1000" dirty="0">
                <a:latin typeface="Arial"/>
                <a:cs typeface="Arial"/>
              </a:rPr>
              <a:t> </a:t>
            </a:r>
            <a:r>
              <a:rPr sz="1000" spc="-5" dirty="0">
                <a:latin typeface="Arial"/>
                <a:cs typeface="Arial"/>
              </a:rPr>
              <a:t>servers.</a:t>
            </a:r>
            <a:r>
              <a:rPr sz="1000" spc="65" dirty="0">
                <a:latin typeface="Arial"/>
                <a:cs typeface="Arial"/>
              </a:rPr>
              <a:t> </a:t>
            </a:r>
            <a:r>
              <a:rPr sz="1000" spc="-5" dirty="0">
                <a:latin typeface="Arial"/>
                <a:cs typeface="Arial"/>
              </a:rPr>
              <a:t>Monotonic Reads</a:t>
            </a:r>
            <a:r>
              <a:rPr sz="1000" dirty="0">
                <a:latin typeface="Arial"/>
                <a:cs typeface="Arial"/>
              </a:rPr>
              <a:t> </a:t>
            </a:r>
            <a:r>
              <a:rPr sz="1000" spc="-5" dirty="0">
                <a:latin typeface="Arial"/>
                <a:cs typeface="Arial"/>
              </a:rPr>
              <a:t>guarantees</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user</a:t>
            </a:r>
            <a:r>
              <a:rPr sz="1000" dirty="0">
                <a:latin typeface="Arial"/>
                <a:cs typeface="Arial"/>
              </a:rPr>
              <a:t> </a:t>
            </a:r>
            <a:r>
              <a:rPr sz="1000" spc="-5" dirty="0">
                <a:latin typeface="Arial"/>
                <a:cs typeface="Arial"/>
              </a:rPr>
              <a:t>sees</a:t>
            </a:r>
            <a:r>
              <a:rPr sz="1000" dirty="0">
                <a:latin typeface="Arial"/>
                <a:cs typeface="Arial"/>
              </a:rPr>
              <a:t> </a:t>
            </a:r>
            <a:r>
              <a:rPr sz="1000" spc="-5" dirty="0">
                <a:latin typeface="Arial"/>
                <a:cs typeface="Arial"/>
              </a:rPr>
              <a:t>all updates, </a:t>
            </a:r>
            <a:r>
              <a:rPr sz="1000" spc="-260" dirty="0">
                <a:latin typeface="Arial"/>
                <a:cs typeface="Arial"/>
              </a:rPr>
              <a:t> </a:t>
            </a:r>
            <a:r>
              <a:rPr sz="1000" spc="-5" dirty="0">
                <a:latin typeface="Arial"/>
                <a:cs typeface="Arial"/>
              </a:rPr>
              <a:t>no matter</a:t>
            </a:r>
            <a:r>
              <a:rPr sz="1000" dirty="0">
                <a:latin typeface="Arial"/>
                <a:cs typeface="Arial"/>
              </a:rPr>
              <a:t> </a:t>
            </a:r>
            <a:r>
              <a:rPr sz="1000" spc="-5" dirty="0">
                <a:latin typeface="Arial"/>
                <a:cs typeface="Arial"/>
              </a:rPr>
              <a:t>from which</a:t>
            </a:r>
            <a:r>
              <a:rPr sz="1000" dirty="0">
                <a:latin typeface="Arial"/>
                <a:cs typeface="Arial"/>
              </a:rPr>
              <a:t> </a:t>
            </a:r>
            <a:r>
              <a:rPr sz="1000" spc="-5" dirty="0">
                <a:latin typeface="Arial"/>
                <a:cs typeface="Arial"/>
              </a:rPr>
              <a:t>server the</a:t>
            </a:r>
            <a:r>
              <a:rPr sz="1000" dirty="0">
                <a:latin typeface="Arial"/>
                <a:cs typeface="Arial"/>
              </a:rPr>
              <a:t> </a:t>
            </a:r>
            <a:r>
              <a:rPr sz="1000" spc="-5" dirty="0">
                <a:latin typeface="Arial"/>
                <a:cs typeface="Arial"/>
              </a:rPr>
              <a:t>automatic</a:t>
            </a:r>
            <a:r>
              <a:rPr sz="1000" dirty="0">
                <a:latin typeface="Arial"/>
                <a:cs typeface="Arial"/>
              </a:rPr>
              <a:t> </a:t>
            </a:r>
            <a:r>
              <a:rPr sz="1000" spc="-5" dirty="0">
                <a:latin typeface="Arial"/>
                <a:cs typeface="Arial"/>
              </a:rPr>
              <a:t>reading </a:t>
            </a:r>
            <a:r>
              <a:rPr sz="1000" spc="-10" dirty="0">
                <a:latin typeface="Arial"/>
                <a:cs typeface="Arial"/>
              </a:rPr>
              <a:t>takes</a:t>
            </a:r>
            <a:r>
              <a:rPr sz="1000" dirty="0">
                <a:latin typeface="Arial"/>
                <a:cs typeface="Arial"/>
              </a:rPr>
              <a:t> </a:t>
            </a:r>
            <a:r>
              <a:rPr sz="1000" spc="-5" dirty="0">
                <a:latin typeface="Arial"/>
                <a:cs typeface="Arial"/>
              </a:rPr>
              <a:t>place.</a:t>
            </a:r>
            <a:endParaRPr sz="1000">
              <a:latin typeface="Arial"/>
              <a:cs typeface="Arial"/>
            </a:endParaRPr>
          </a:p>
          <a:p>
            <a:pPr marL="16510">
              <a:lnSpc>
                <a:spcPct val="100000"/>
              </a:lnSpc>
              <a:spcBef>
                <a:spcPts val="680"/>
              </a:spcBef>
            </a:pPr>
            <a:r>
              <a:rPr sz="1200" spc="-5" dirty="0">
                <a:solidFill>
                  <a:srgbClr val="007C00"/>
                </a:solidFill>
                <a:latin typeface="Arial"/>
                <a:cs typeface="Arial"/>
              </a:rPr>
              <a:t>Example</a:t>
            </a:r>
            <a:endParaRPr sz="1200">
              <a:latin typeface="Arial"/>
              <a:cs typeface="Arial"/>
            </a:endParaRPr>
          </a:p>
          <a:p>
            <a:pPr marL="12700" marR="5080" indent="3810">
              <a:lnSpc>
                <a:spcPct val="100000"/>
              </a:lnSpc>
              <a:spcBef>
                <a:spcPts val="175"/>
              </a:spcBef>
            </a:pPr>
            <a:r>
              <a:rPr sz="1000" spc="-5" dirty="0">
                <a:latin typeface="Arial"/>
                <a:cs typeface="Arial"/>
              </a:rPr>
              <a:t>Reading (not</a:t>
            </a:r>
            <a:r>
              <a:rPr sz="1000" dirty="0">
                <a:latin typeface="Arial"/>
                <a:cs typeface="Arial"/>
              </a:rPr>
              <a:t> </a:t>
            </a:r>
            <a:r>
              <a:rPr sz="1000" spc="-5" dirty="0">
                <a:latin typeface="Arial"/>
                <a:cs typeface="Arial"/>
              </a:rPr>
              <a:t>modifying)</a:t>
            </a:r>
            <a:r>
              <a:rPr sz="1000" dirty="0">
                <a:latin typeface="Arial"/>
                <a:cs typeface="Arial"/>
              </a:rPr>
              <a:t> </a:t>
            </a:r>
            <a:r>
              <a:rPr sz="1000" spc="-5" dirty="0">
                <a:latin typeface="Arial"/>
                <a:cs typeface="Arial"/>
              </a:rPr>
              <a:t>incoming mail</a:t>
            </a:r>
            <a:r>
              <a:rPr sz="1000" dirty="0">
                <a:latin typeface="Arial"/>
                <a:cs typeface="Arial"/>
              </a:rPr>
              <a:t> </a:t>
            </a:r>
            <a:r>
              <a:rPr sz="1000" spc="-5" dirty="0">
                <a:latin typeface="Arial"/>
                <a:cs typeface="Arial"/>
              </a:rPr>
              <a:t>while</a:t>
            </a:r>
            <a:r>
              <a:rPr sz="1000" dirty="0">
                <a:latin typeface="Arial"/>
                <a:cs typeface="Arial"/>
              </a:rPr>
              <a:t> </a:t>
            </a:r>
            <a:r>
              <a:rPr sz="1000" spc="-10" dirty="0">
                <a:latin typeface="Arial"/>
                <a:cs typeface="Arial"/>
              </a:rPr>
              <a:t>you</a:t>
            </a:r>
            <a:r>
              <a:rPr sz="1000" spc="-5" dirty="0">
                <a:latin typeface="Arial"/>
                <a:cs typeface="Arial"/>
              </a:rPr>
              <a:t> are</a:t>
            </a:r>
            <a:r>
              <a:rPr sz="1000" dirty="0">
                <a:latin typeface="Arial"/>
                <a:cs typeface="Arial"/>
              </a:rPr>
              <a:t> </a:t>
            </a:r>
            <a:r>
              <a:rPr sz="1000" spc="-5" dirty="0">
                <a:latin typeface="Arial"/>
                <a:cs typeface="Arial"/>
              </a:rPr>
              <a:t>on</a:t>
            </a:r>
            <a:r>
              <a:rPr sz="1000" dirty="0">
                <a:latin typeface="Arial"/>
                <a:cs typeface="Arial"/>
              </a:rPr>
              <a:t> </a:t>
            </a:r>
            <a:r>
              <a:rPr sz="1000" spc="-5" dirty="0">
                <a:latin typeface="Arial"/>
                <a:cs typeface="Arial"/>
              </a:rPr>
              <a:t>the</a:t>
            </a:r>
            <a:r>
              <a:rPr sz="1000" dirty="0">
                <a:latin typeface="Arial"/>
                <a:cs typeface="Arial"/>
              </a:rPr>
              <a:t> </a:t>
            </a:r>
            <a:r>
              <a:rPr sz="1000" spc="-15" dirty="0">
                <a:latin typeface="Arial"/>
                <a:cs typeface="Arial"/>
              </a:rPr>
              <a:t>move. </a:t>
            </a:r>
            <a:r>
              <a:rPr sz="1000" spc="-10" dirty="0">
                <a:latin typeface="Arial"/>
                <a:cs typeface="Arial"/>
              </a:rPr>
              <a:t> </a:t>
            </a:r>
            <a:r>
              <a:rPr sz="1000" spc="-5" dirty="0">
                <a:latin typeface="Arial"/>
                <a:cs typeface="Arial"/>
              </a:rPr>
              <a:t>Each time</a:t>
            </a:r>
            <a:r>
              <a:rPr sz="1000" dirty="0">
                <a:latin typeface="Arial"/>
                <a:cs typeface="Arial"/>
              </a:rPr>
              <a:t> </a:t>
            </a:r>
            <a:r>
              <a:rPr sz="1000" spc="-10" dirty="0">
                <a:latin typeface="Arial"/>
                <a:cs typeface="Arial"/>
              </a:rPr>
              <a:t>you</a:t>
            </a:r>
            <a:r>
              <a:rPr sz="1000" dirty="0">
                <a:latin typeface="Arial"/>
                <a:cs typeface="Arial"/>
              </a:rPr>
              <a:t> </a:t>
            </a:r>
            <a:r>
              <a:rPr sz="1000" spc="-5" dirty="0">
                <a:latin typeface="Arial"/>
                <a:cs typeface="Arial"/>
              </a:rPr>
              <a:t>connect</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different e-mail</a:t>
            </a:r>
            <a:r>
              <a:rPr sz="1000" dirty="0">
                <a:latin typeface="Arial"/>
                <a:cs typeface="Arial"/>
              </a:rPr>
              <a:t> </a:t>
            </a:r>
            <a:r>
              <a:rPr sz="1000" spc="-10" dirty="0">
                <a:latin typeface="Arial"/>
                <a:cs typeface="Arial"/>
              </a:rPr>
              <a:t>server,</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server</a:t>
            </a:r>
            <a:r>
              <a:rPr sz="1000" dirty="0">
                <a:latin typeface="Arial"/>
                <a:cs typeface="Arial"/>
              </a:rPr>
              <a:t> </a:t>
            </a:r>
            <a:r>
              <a:rPr sz="1000" spc="-10" dirty="0">
                <a:latin typeface="Arial"/>
                <a:cs typeface="Arial"/>
              </a:rPr>
              <a:t>fetches </a:t>
            </a:r>
            <a:r>
              <a:rPr sz="1000" spc="-265" dirty="0">
                <a:latin typeface="Arial"/>
                <a:cs typeface="Arial"/>
              </a:rPr>
              <a:t> </a:t>
            </a:r>
            <a:r>
              <a:rPr sz="1000" spc="-5" dirty="0">
                <a:latin typeface="Arial"/>
                <a:cs typeface="Arial"/>
              </a:rPr>
              <a:t>(at least) all</a:t>
            </a:r>
            <a:r>
              <a:rPr sz="1000" dirty="0">
                <a:latin typeface="Arial"/>
                <a:cs typeface="Arial"/>
              </a:rPr>
              <a:t> </a:t>
            </a:r>
            <a:r>
              <a:rPr sz="1000" spc="-5" dirty="0">
                <a:latin typeface="Arial"/>
                <a:cs typeface="Arial"/>
              </a:rPr>
              <a:t>the updates</a:t>
            </a:r>
            <a:r>
              <a:rPr sz="1000" dirty="0">
                <a:latin typeface="Arial"/>
                <a:cs typeface="Arial"/>
              </a:rPr>
              <a:t> </a:t>
            </a:r>
            <a:r>
              <a:rPr sz="1000" spc="-5" dirty="0">
                <a:latin typeface="Arial"/>
                <a:cs typeface="Arial"/>
              </a:rPr>
              <a:t>from the</a:t>
            </a:r>
            <a:r>
              <a:rPr sz="1000" dirty="0">
                <a:latin typeface="Arial"/>
                <a:cs typeface="Arial"/>
              </a:rPr>
              <a:t> </a:t>
            </a:r>
            <a:r>
              <a:rPr sz="1000" spc="-5" dirty="0">
                <a:latin typeface="Arial"/>
                <a:cs typeface="Arial"/>
              </a:rPr>
              <a:t>server </a:t>
            </a:r>
            <a:r>
              <a:rPr sz="1000" spc="-10" dirty="0">
                <a:latin typeface="Arial"/>
                <a:cs typeface="Arial"/>
              </a:rPr>
              <a:t>you</a:t>
            </a:r>
            <a:r>
              <a:rPr sz="1000" dirty="0">
                <a:latin typeface="Arial"/>
                <a:cs typeface="Arial"/>
              </a:rPr>
              <a:t> </a:t>
            </a:r>
            <a:r>
              <a:rPr sz="1000" spc="-5" dirty="0">
                <a:latin typeface="Arial"/>
                <a:cs typeface="Arial"/>
              </a:rPr>
              <a:t>previously visited.</a:t>
            </a:r>
            <a:endParaRPr sz="1000">
              <a:latin typeface="Arial"/>
              <a:cs typeface="Aria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1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20</a:t>
            </a:r>
            <a:r>
              <a:rPr spc="-40" dirty="0"/>
              <a:t> </a:t>
            </a:r>
            <a:r>
              <a:rPr spc="-5" dirty="0"/>
              <a:t>/</a:t>
            </a:r>
            <a:r>
              <a:rPr spc="-35" dirty="0"/>
              <a:t> </a:t>
            </a:r>
            <a:r>
              <a:rPr spc="-5" dirty="0"/>
              <a:t>37</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90645" algn="l"/>
              </a:tabLst>
            </a:pPr>
            <a:r>
              <a:rPr sz="600" spc="-5" dirty="0">
                <a:solidFill>
                  <a:srgbClr val="3333B2"/>
                </a:solidFill>
                <a:latin typeface="Arial"/>
                <a:cs typeface="Arial"/>
                <a:hlinkClick r:id="rId3" action="ppaction://hlinksldjump"/>
              </a:rPr>
              <a:t>Consistency and replication:</a:t>
            </a:r>
            <a:r>
              <a:rPr sz="600" dirty="0">
                <a:solidFill>
                  <a:srgbClr val="3333B2"/>
                </a:solidFill>
                <a:latin typeface="Arial"/>
                <a:cs typeface="Arial"/>
              </a:rPr>
              <a:t> </a:t>
            </a:r>
            <a:r>
              <a:rPr sz="600" spc="-25" dirty="0">
                <a:solidFill>
                  <a:srgbClr val="3333B2"/>
                </a:solidFill>
                <a:latin typeface="Arial"/>
                <a:cs typeface="Arial"/>
              </a:rPr>
              <a:t> </a:t>
            </a:r>
            <a:r>
              <a:rPr sz="600" spc="-5" dirty="0">
                <a:solidFill>
                  <a:srgbClr val="3333B2"/>
                </a:solidFill>
                <a:latin typeface="Arial"/>
                <a:cs typeface="Arial"/>
                <a:hlinkClick r:id="rId4" action="ppaction://hlinksldjump"/>
              </a:rPr>
              <a:t>Client-cent</a:t>
            </a:r>
            <a:r>
              <a:rPr sz="600" dirty="0">
                <a:solidFill>
                  <a:srgbClr val="3333B2"/>
                </a:solidFill>
                <a:latin typeface="Arial"/>
                <a:cs typeface="Arial"/>
                <a:hlinkClick r:id="rId4" action="ppaction://hlinksldjump"/>
              </a:rPr>
              <a:t>r</a:t>
            </a:r>
            <a:r>
              <a:rPr sz="600" spc="-5" dirty="0">
                <a:solidFill>
                  <a:srgbClr val="3333B2"/>
                </a:solidFill>
                <a:latin typeface="Arial"/>
                <a:cs typeface="Arial"/>
                <a:hlinkClick r:id="rId4" action="ppaction://hlinksldjump"/>
              </a:rPr>
              <a:t>ic consistency models</a:t>
            </a:r>
            <a:r>
              <a:rPr sz="600" dirty="0">
                <a:solidFill>
                  <a:srgbClr val="3333B2"/>
                </a:solidFill>
                <a:latin typeface="Arial"/>
                <a:cs typeface="Arial"/>
              </a:rPr>
              <a:t>	</a:t>
            </a:r>
            <a:r>
              <a:rPr sz="600" spc="-5" dirty="0">
                <a:solidFill>
                  <a:srgbClr val="262685"/>
                </a:solidFill>
                <a:latin typeface="Arial"/>
                <a:cs typeface="Arial"/>
                <a:hlinkClick r:id="rId5" action="ppaction://hlinksldjump"/>
              </a:rPr>
              <a:t>Monotonic w</a:t>
            </a:r>
            <a:r>
              <a:rPr sz="600" dirty="0">
                <a:solidFill>
                  <a:srgbClr val="262685"/>
                </a:solidFill>
                <a:latin typeface="Arial"/>
                <a:cs typeface="Arial"/>
                <a:hlinkClick r:id="rId5" action="ppaction://hlinksldjump"/>
              </a:rPr>
              <a:t>r</a:t>
            </a:r>
            <a:r>
              <a:rPr sz="600" spc="-5" dirty="0">
                <a:solidFill>
                  <a:srgbClr val="262685"/>
                </a:solidFill>
                <a:latin typeface="Arial"/>
                <a:cs typeface="Arial"/>
                <a:hlinkClick r:id="rId5" action="ppaction://hlinksldjump"/>
              </a:rPr>
              <a:t>ites</a:t>
            </a:r>
            <a:endParaRPr sz="600">
              <a:latin typeface="Arial"/>
              <a:cs typeface="Arial"/>
            </a:endParaRPr>
          </a:p>
        </p:txBody>
      </p:sp>
      <p:sp>
        <p:nvSpPr>
          <p:cNvPr id="3" name="object 3"/>
          <p:cNvSpPr txBox="1">
            <a:spLocks noGrp="1"/>
          </p:cNvSpPr>
          <p:nvPr>
            <p:ph type="title"/>
          </p:nvPr>
        </p:nvSpPr>
        <p:spPr>
          <a:xfrm>
            <a:off x="95300" y="188846"/>
            <a:ext cx="1395095" cy="244475"/>
          </a:xfrm>
          <a:prstGeom prst="rect">
            <a:avLst/>
          </a:prstGeom>
        </p:spPr>
        <p:txBody>
          <a:bodyPr vert="horz" wrap="square" lIns="0" tIns="17145" rIns="0" bIns="0" rtlCol="0">
            <a:spAutoFit/>
          </a:bodyPr>
          <a:lstStyle/>
          <a:p>
            <a:pPr marL="12700">
              <a:lnSpc>
                <a:spcPct val="100000"/>
              </a:lnSpc>
              <a:spcBef>
                <a:spcPts val="135"/>
              </a:spcBef>
            </a:pPr>
            <a:r>
              <a:rPr spc="15" dirty="0"/>
              <a:t>Monotonic</a:t>
            </a:r>
            <a:r>
              <a:rPr spc="-55" dirty="0"/>
              <a:t> </a:t>
            </a:r>
            <a:r>
              <a:rPr spc="15" dirty="0"/>
              <a:t>writes</a:t>
            </a:r>
          </a:p>
        </p:txBody>
      </p:sp>
      <p:sp>
        <p:nvSpPr>
          <p:cNvPr id="4" name="object 4"/>
          <p:cNvSpPr txBox="1"/>
          <p:nvPr/>
        </p:nvSpPr>
        <p:spPr>
          <a:xfrm>
            <a:off x="291490" y="453755"/>
            <a:ext cx="3885565" cy="1304925"/>
          </a:xfrm>
          <a:prstGeom prst="rect">
            <a:avLst/>
          </a:prstGeom>
        </p:spPr>
        <p:txBody>
          <a:bodyPr vert="horz" wrap="square" lIns="0" tIns="12065" rIns="0" bIns="0" rtlCol="0">
            <a:spAutoFit/>
          </a:bodyPr>
          <a:lstStyle/>
          <a:p>
            <a:pPr marL="67945">
              <a:lnSpc>
                <a:spcPts val="1410"/>
              </a:lnSpc>
              <a:spcBef>
                <a:spcPts val="95"/>
              </a:spcBef>
            </a:pPr>
            <a:r>
              <a:rPr sz="1200" spc="-5" dirty="0">
                <a:solidFill>
                  <a:srgbClr val="3333B2"/>
                </a:solidFill>
                <a:latin typeface="Arial"/>
                <a:cs typeface="Arial"/>
              </a:rPr>
              <a:t>Definition</a:t>
            </a:r>
            <a:endParaRPr sz="1200" dirty="0">
              <a:latin typeface="Arial"/>
              <a:cs typeface="Arial"/>
            </a:endParaRPr>
          </a:p>
          <a:p>
            <a:pPr marL="67945" marR="30480" indent="-4445">
              <a:lnSpc>
                <a:spcPts val="1200"/>
              </a:lnSpc>
              <a:spcBef>
                <a:spcPts val="10"/>
              </a:spcBef>
            </a:pPr>
            <a:r>
              <a:rPr sz="1000" spc="-5" dirty="0">
                <a:latin typeface="Arial"/>
                <a:cs typeface="Arial"/>
              </a:rPr>
              <a:t>A </a:t>
            </a:r>
            <a:r>
              <a:rPr sz="1000" dirty="0">
                <a:latin typeface="Arial"/>
                <a:cs typeface="Arial"/>
              </a:rPr>
              <a:t>write </a:t>
            </a:r>
            <a:r>
              <a:rPr sz="1000" spc="-5" dirty="0">
                <a:latin typeface="Arial"/>
                <a:cs typeface="Arial"/>
              </a:rPr>
              <a:t>operation </a:t>
            </a:r>
            <a:r>
              <a:rPr sz="1000" spc="-15" dirty="0">
                <a:latin typeface="Arial"/>
                <a:cs typeface="Arial"/>
              </a:rPr>
              <a:t>by</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process on</a:t>
            </a:r>
            <a:r>
              <a:rPr sz="1000" dirty="0">
                <a:latin typeface="Arial"/>
                <a:cs typeface="Arial"/>
              </a:rPr>
              <a:t> </a:t>
            </a:r>
            <a:r>
              <a:rPr sz="1000" spc="-5" dirty="0">
                <a:latin typeface="Arial"/>
                <a:cs typeface="Arial"/>
              </a:rPr>
              <a:t>a data</a:t>
            </a:r>
            <a:r>
              <a:rPr sz="1000" dirty="0">
                <a:latin typeface="Arial"/>
                <a:cs typeface="Arial"/>
              </a:rPr>
              <a:t> </a:t>
            </a:r>
            <a:r>
              <a:rPr sz="1000" spc="-5" dirty="0">
                <a:latin typeface="Arial"/>
                <a:cs typeface="Arial"/>
              </a:rPr>
              <a:t>item</a:t>
            </a:r>
            <a:r>
              <a:rPr sz="1000" dirty="0">
                <a:latin typeface="Arial"/>
                <a:cs typeface="Arial"/>
              </a:rPr>
              <a:t> </a:t>
            </a:r>
            <a:r>
              <a:rPr sz="1000" i="1" spc="-5" dirty="0">
                <a:latin typeface="Arial"/>
                <a:cs typeface="Arial"/>
              </a:rPr>
              <a:t>x</a:t>
            </a:r>
            <a:r>
              <a:rPr sz="1000" i="1" spc="95" dirty="0">
                <a:latin typeface="Arial"/>
                <a:cs typeface="Arial"/>
              </a:rPr>
              <a:t> </a:t>
            </a:r>
            <a:r>
              <a:rPr sz="1000" spc="-5" dirty="0">
                <a:latin typeface="Arial"/>
                <a:cs typeface="Arial"/>
              </a:rPr>
              <a:t>is completed</a:t>
            </a:r>
            <a:r>
              <a:rPr sz="1000" dirty="0">
                <a:latin typeface="Arial"/>
                <a:cs typeface="Arial"/>
              </a:rPr>
              <a:t> </a:t>
            </a:r>
            <a:r>
              <a:rPr sz="1000" spc="-10" dirty="0">
                <a:latin typeface="Arial"/>
                <a:cs typeface="Arial"/>
              </a:rPr>
              <a:t>before </a:t>
            </a:r>
            <a:r>
              <a:rPr sz="1000" spc="-265" dirty="0">
                <a:latin typeface="Arial"/>
                <a:cs typeface="Arial"/>
              </a:rPr>
              <a:t> </a:t>
            </a:r>
            <a:r>
              <a:rPr sz="1000" spc="-10" dirty="0">
                <a:latin typeface="Arial"/>
                <a:cs typeface="Arial"/>
              </a:rPr>
              <a:t>any </a:t>
            </a:r>
            <a:r>
              <a:rPr sz="1000" spc="-5" dirty="0">
                <a:latin typeface="Arial"/>
                <a:cs typeface="Arial"/>
              </a:rPr>
              <a:t>successive </a:t>
            </a:r>
            <a:r>
              <a:rPr sz="1000" dirty="0">
                <a:latin typeface="Arial"/>
                <a:cs typeface="Arial"/>
              </a:rPr>
              <a:t>write</a:t>
            </a:r>
            <a:r>
              <a:rPr sz="1000" spc="-5" dirty="0">
                <a:latin typeface="Arial"/>
                <a:cs typeface="Arial"/>
              </a:rPr>
              <a:t> operation on </a:t>
            </a:r>
            <a:r>
              <a:rPr sz="1000" i="1" spc="-5" dirty="0">
                <a:latin typeface="Arial"/>
                <a:cs typeface="Arial"/>
              </a:rPr>
              <a:t>x</a:t>
            </a:r>
            <a:r>
              <a:rPr sz="1000" i="1" spc="90" dirty="0">
                <a:latin typeface="Arial"/>
                <a:cs typeface="Arial"/>
              </a:rPr>
              <a:t> </a:t>
            </a:r>
            <a:r>
              <a:rPr sz="1000" spc="-15" dirty="0">
                <a:latin typeface="Arial"/>
                <a:cs typeface="Arial"/>
              </a:rPr>
              <a:t>by</a:t>
            </a:r>
            <a:r>
              <a:rPr sz="1000" spc="-10" dirty="0">
                <a:latin typeface="Arial"/>
                <a:cs typeface="Arial"/>
              </a:rPr>
              <a:t> </a:t>
            </a:r>
            <a:r>
              <a:rPr sz="1000" spc="-5" dirty="0">
                <a:latin typeface="Arial"/>
                <a:cs typeface="Arial"/>
              </a:rPr>
              <a:t>the same process.</a:t>
            </a:r>
            <a:endParaRPr sz="1000" dirty="0">
              <a:latin typeface="Arial"/>
              <a:cs typeface="Arial"/>
            </a:endParaRPr>
          </a:p>
          <a:p>
            <a:pPr marL="67945" marR="34925" indent="-5080">
              <a:lnSpc>
                <a:spcPts val="1390"/>
              </a:lnSpc>
              <a:spcBef>
                <a:spcPts val="715"/>
              </a:spcBef>
            </a:pPr>
            <a:r>
              <a:rPr sz="1200" spc="-5" dirty="0">
                <a:solidFill>
                  <a:srgbClr val="3333B2"/>
                </a:solidFill>
                <a:latin typeface="Arial"/>
                <a:cs typeface="Arial"/>
              </a:rPr>
              <a:t>(a)</a:t>
            </a:r>
            <a:r>
              <a:rPr sz="1200" dirty="0">
                <a:solidFill>
                  <a:srgbClr val="3333B2"/>
                </a:solidFill>
                <a:latin typeface="Arial"/>
                <a:cs typeface="Arial"/>
              </a:rPr>
              <a:t> </a:t>
            </a:r>
            <a:r>
              <a:rPr sz="1200" spc="-5" dirty="0">
                <a:solidFill>
                  <a:srgbClr val="3333B2"/>
                </a:solidFill>
                <a:latin typeface="Arial"/>
                <a:cs typeface="Arial"/>
              </a:rPr>
              <a:t>A</a:t>
            </a:r>
            <a:r>
              <a:rPr sz="1200" dirty="0">
                <a:solidFill>
                  <a:srgbClr val="3333B2"/>
                </a:solidFill>
                <a:latin typeface="Arial"/>
                <a:cs typeface="Arial"/>
              </a:rPr>
              <a:t> </a:t>
            </a:r>
            <a:r>
              <a:rPr sz="1200" spc="-5" dirty="0">
                <a:solidFill>
                  <a:srgbClr val="3333B2"/>
                </a:solidFill>
                <a:latin typeface="Arial"/>
                <a:cs typeface="Arial"/>
              </a:rPr>
              <a:t>monotonic-write</a:t>
            </a:r>
            <a:r>
              <a:rPr sz="1200" dirty="0">
                <a:solidFill>
                  <a:srgbClr val="3333B2"/>
                </a:solidFill>
                <a:latin typeface="Arial"/>
                <a:cs typeface="Arial"/>
              </a:rPr>
              <a:t> </a:t>
            </a:r>
            <a:r>
              <a:rPr sz="1200" spc="-5" dirty="0">
                <a:solidFill>
                  <a:srgbClr val="3333B2"/>
                </a:solidFill>
                <a:latin typeface="Arial"/>
                <a:cs typeface="Arial"/>
              </a:rPr>
              <a:t>consistent</a:t>
            </a:r>
            <a:r>
              <a:rPr sz="1200" dirty="0">
                <a:solidFill>
                  <a:srgbClr val="3333B2"/>
                </a:solidFill>
                <a:latin typeface="Arial"/>
                <a:cs typeface="Arial"/>
              </a:rPr>
              <a:t> </a:t>
            </a:r>
            <a:r>
              <a:rPr sz="1200" spc="-5" dirty="0">
                <a:solidFill>
                  <a:srgbClr val="3333B2"/>
                </a:solidFill>
                <a:latin typeface="Arial"/>
                <a:cs typeface="Arial"/>
              </a:rPr>
              <a:t>data</a:t>
            </a:r>
            <a:r>
              <a:rPr sz="1200" dirty="0">
                <a:solidFill>
                  <a:srgbClr val="3333B2"/>
                </a:solidFill>
                <a:latin typeface="Arial"/>
                <a:cs typeface="Arial"/>
              </a:rPr>
              <a:t> </a:t>
            </a:r>
            <a:r>
              <a:rPr sz="1200" spc="-10" dirty="0">
                <a:solidFill>
                  <a:srgbClr val="3333B2"/>
                </a:solidFill>
                <a:latin typeface="Arial"/>
                <a:cs typeface="Arial"/>
              </a:rPr>
              <a:t>store.</a:t>
            </a:r>
            <a:r>
              <a:rPr sz="1200" spc="80" dirty="0">
                <a:solidFill>
                  <a:srgbClr val="3333B2"/>
                </a:solidFill>
                <a:latin typeface="Arial"/>
                <a:cs typeface="Arial"/>
              </a:rPr>
              <a:t> </a:t>
            </a:r>
            <a:r>
              <a:rPr sz="1200" spc="-5" dirty="0">
                <a:solidFill>
                  <a:srgbClr val="3333B2"/>
                </a:solidFill>
                <a:latin typeface="Arial"/>
                <a:cs typeface="Arial"/>
              </a:rPr>
              <a:t>(b)</a:t>
            </a:r>
            <a:r>
              <a:rPr sz="1200" dirty="0">
                <a:solidFill>
                  <a:srgbClr val="3333B2"/>
                </a:solidFill>
                <a:latin typeface="Arial"/>
                <a:cs typeface="Arial"/>
              </a:rPr>
              <a:t> </a:t>
            </a:r>
            <a:r>
              <a:rPr sz="1200" spc="-5" dirty="0">
                <a:solidFill>
                  <a:srgbClr val="3333B2"/>
                </a:solidFill>
                <a:latin typeface="Arial"/>
                <a:cs typeface="Arial"/>
              </a:rPr>
              <a:t>A</a:t>
            </a:r>
            <a:r>
              <a:rPr sz="1200" dirty="0">
                <a:solidFill>
                  <a:srgbClr val="3333B2"/>
                </a:solidFill>
                <a:latin typeface="Arial"/>
                <a:cs typeface="Arial"/>
              </a:rPr>
              <a:t> </a:t>
            </a:r>
            <a:r>
              <a:rPr sz="1200" spc="-5" dirty="0">
                <a:solidFill>
                  <a:srgbClr val="3333B2"/>
                </a:solidFill>
                <a:latin typeface="Arial"/>
                <a:cs typeface="Arial"/>
              </a:rPr>
              <a:t>data </a:t>
            </a:r>
            <a:r>
              <a:rPr sz="1200" dirty="0">
                <a:solidFill>
                  <a:srgbClr val="3333B2"/>
                </a:solidFill>
                <a:latin typeface="Arial"/>
                <a:cs typeface="Arial"/>
              </a:rPr>
              <a:t> </a:t>
            </a:r>
            <a:r>
              <a:rPr sz="1200" spc="-5" dirty="0">
                <a:solidFill>
                  <a:srgbClr val="3333B2"/>
                </a:solidFill>
                <a:latin typeface="Arial"/>
                <a:cs typeface="Arial"/>
              </a:rPr>
              <a:t>store</a:t>
            </a:r>
            <a:r>
              <a:rPr sz="1200" spc="5" dirty="0">
                <a:solidFill>
                  <a:srgbClr val="3333B2"/>
                </a:solidFill>
                <a:latin typeface="Arial"/>
                <a:cs typeface="Arial"/>
              </a:rPr>
              <a:t> </a:t>
            </a:r>
            <a:r>
              <a:rPr sz="1200" spc="-5" dirty="0">
                <a:solidFill>
                  <a:srgbClr val="3333B2"/>
                </a:solidFill>
                <a:latin typeface="Arial"/>
                <a:cs typeface="Arial"/>
              </a:rPr>
              <a:t>that</a:t>
            </a:r>
            <a:r>
              <a:rPr sz="1200" spc="5" dirty="0">
                <a:solidFill>
                  <a:srgbClr val="3333B2"/>
                </a:solidFill>
                <a:latin typeface="Arial"/>
                <a:cs typeface="Arial"/>
              </a:rPr>
              <a:t> </a:t>
            </a:r>
            <a:r>
              <a:rPr sz="1200" spc="-5" dirty="0">
                <a:solidFill>
                  <a:srgbClr val="3333B2"/>
                </a:solidFill>
                <a:latin typeface="Arial"/>
                <a:cs typeface="Arial"/>
              </a:rPr>
              <a:t>does</a:t>
            </a:r>
            <a:r>
              <a:rPr sz="1200" spc="10" dirty="0">
                <a:solidFill>
                  <a:srgbClr val="3333B2"/>
                </a:solidFill>
                <a:latin typeface="Arial"/>
                <a:cs typeface="Arial"/>
              </a:rPr>
              <a:t> </a:t>
            </a:r>
            <a:r>
              <a:rPr sz="1200" spc="-5" dirty="0">
                <a:solidFill>
                  <a:srgbClr val="3333B2"/>
                </a:solidFill>
                <a:latin typeface="Arial"/>
                <a:cs typeface="Arial"/>
              </a:rPr>
              <a:t>not</a:t>
            </a:r>
            <a:r>
              <a:rPr sz="1200" spc="5" dirty="0">
                <a:solidFill>
                  <a:srgbClr val="3333B2"/>
                </a:solidFill>
                <a:latin typeface="Arial"/>
                <a:cs typeface="Arial"/>
              </a:rPr>
              <a:t> </a:t>
            </a:r>
            <a:r>
              <a:rPr sz="1200" spc="-10" dirty="0">
                <a:solidFill>
                  <a:srgbClr val="3333B2"/>
                </a:solidFill>
                <a:latin typeface="Arial"/>
                <a:cs typeface="Arial"/>
              </a:rPr>
              <a:t>provide</a:t>
            </a:r>
            <a:r>
              <a:rPr sz="1200" spc="5" dirty="0">
                <a:solidFill>
                  <a:srgbClr val="3333B2"/>
                </a:solidFill>
                <a:latin typeface="Arial"/>
                <a:cs typeface="Arial"/>
              </a:rPr>
              <a:t> </a:t>
            </a:r>
            <a:r>
              <a:rPr sz="1200" spc="-5" dirty="0">
                <a:solidFill>
                  <a:srgbClr val="3333B2"/>
                </a:solidFill>
                <a:latin typeface="Arial"/>
                <a:cs typeface="Arial"/>
              </a:rPr>
              <a:t>monotonic-write</a:t>
            </a:r>
            <a:r>
              <a:rPr sz="1200" spc="10" dirty="0">
                <a:solidFill>
                  <a:srgbClr val="3333B2"/>
                </a:solidFill>
                <a:latin typeface="Arial"/>
                <a:cs typeface="Arial"/>
              </a:rPr>
              <a:t> </a:t>
            </a:r>
            <a:r>
              <a:rPr sz="1200" spc="-15" dirty="0">
                <a:solidFill>
                  <a:srgbClr val="3333B2"/>
                </a:solidFill>
                <a:latin typeface="Arial"/>
                <a:cs typeface="Arial"/>
              </a:rPr>
              <a:t>consistency.</a:t>
            </a:r>
            <a:endParaRPr sz="1200" dirty="0">
              <a:latin typeface="Arial"/>
              <a:cs typeface="Arial"/>
            </a:endParaRPr>
          </a:p>
          <a:p>
            <a:pPr marL="63500">
              <a:lnSpc>
                <a:spcPts val="1340"/>
              </a:lnSpc>
            </a:pPr>
            <a:r>
              <a:rPr sz="1200" spc="-5" dirty="0">
                <a:solidFill>
                  <a:srgbClr val="3333B2"/>
                </a:solidFill>
                <a:latin typeface="Arial"/>
                <a:cs typeface="Arial"/>
              </a:rPr>
              <a:t>(c)</a:t>
            </a:r>
            <a:r>
              <a:rPr sz="1200" spc="-10" dirty="0">
                <a:solidFill>
                  <a:srgbClr val="3333B2"/>
                </a:solidFill>
                <a:latin typeface="Arial"/>
                <a:cs typeface="Arial"/>
              </a:rPr>
              <a:t> </a:t>
            </a:r>
            <a:r>
              <a:rPr sz="1200" spc="-5" dirty="0">
                <a:solidFill>
                  <a:srgbClr val="3333B2"/>
                </a:solidFill>
                <a:latin typeface="Arial"/>
                <a:cs typeface="Arial"/>
              </a:rPr>
              <a:t>Again, no consistency as </a:t>
            </a:r>
            <a:r>
              <a:rPr sz="900" i="1" spc="10" dirty="0">
                <a:solidFill>
                  <a:srgbClr val="3333B2"/>
                </a:solidFill>
                <a:latin typeface="Arial"/>
                <a:cs typeface="Arial"/>
              </a:rPr>
              <a:t>WS</a:t>
            </a:r>
            <a:r>
              <a:rPr sz="900" spc="10" dirty="0">
                <a:solidFill>
                  <a:srgbClr val="3333B2"/>
                </a:solidFill>
                <a:latin typeface="Arial"/>
                <a:cs typeface="Arial"/>
              </a:rPr>
              <a:t>(</a:t>
            </a:r>
            <a:r>
              <a:rPr sz="900" i="1" spc="10" dirty="0">
                <a:solidFill>
                  <a:srgbClr val="3333B2"/>
                </a:solidFill>
                <a:latin typeface="Arial"/>
                <a:cs typeface="Arial"/>
              </a:rPr>
              <a:t>x</a:t>
            </a:r>
            <a:r>
              <a:rPr sz="1050" i="1" spc="15" baseline="-15873" dirty="0">
                <a:solidFill>
                  <a:srgbClr val="3333B2"/>
                </a:solidFill>
                <a:latin typeface="Arial"/>
                <a:cs typeface="Arial"/>
              </a:rPr>
              <a:t>1</a:t>
            </a:r>
            <a:r>
              <a:rPr sz="900" i="1" spc="10" dirty="0">
                <a:solidFill>
                  <a:srgbClr val="3333B2"/>
                </a:solidFill>
                <a:latin typeface="メイリオ"/>
                <a:cs typeface="メイリオ"/>
              </a:rPr>
              <a:t>|</a:t>
            </a:r>
            <a:r>
              <a:rPr sz="900" i="1" spc="10" dirty="0">
                <a:solidFill>
                  <a:srgbClr val="3333B2"/>
                </a:solidFill>
                <a:latin typeface="Arial"/>
                <a:cs typeface="Arial"/>
              </a:rPr>
              <a:t>x2</a:t>
            </a:r>
            <a:r>
              <a:rPr sz="900" spc="10" dirty="0">
                <a:solidFill>
                  <a:srgbClr val="3333B2"/>
                </a:solidFill>
                <a:latin typeface="Arial"/>
                <a:cs typeface="Arial"/>
              </a:rPr>
              <a:t>)</a:t>
            </a:r>
            <a:r>
              <a:rPr sz="900" spc="80" dirty="0">
                <a:solidFill>
                  <a:srgbClr val="3333B2"/>
                </a:solidFill>
                <a:latin typeface="Arial"/>
                <a:cs typeface="Arial"/>
              </a:rPr>
              <a:t> </a:t>
            </a:r>
            <a:r>
              <a:rPr sz="1200" spc="-5" dirty="0">
                <a:solidFill>
                  <a:srgbClr val="3333B2"/>
                </a:solidFill>
                <a:latin typeface="Arial"/>
                <a:cs typeface="Arial"/>
              </a:rPr>
              <a:t>and thus also</a:t>
            </a:r>
            <a:endParaRPr sz="1200" dirty="0">
              <a:latin typeface="Arial"/>
              <a:cs typeface="Arial"/>
            </a:endParaRPr>
          </a:p>
          <a:p>
            <a:pPr marL="67945">
              <a:lnSpc>
                <a:spcPts val="1415"/>
              </a:lnSpc>
            </a:pPr>
            <a:r>
              <a:rPr sz="900" i="1" spc="-5" dirty="0">
                <a:solidFill>
                  <a:srgbClr val="3333B2"/>
                </a:solidFill>
                <a:latin typeface="Arial"/>
                <a:cs typeface="Arial"/>
              </a:rPr>
              <a:t>WS</a:t>
            </a:r>
            <a:r>
              <a:rPr sz="900" spc="-5" dirty="0">
                <a:solidFill>
                  <a:srgbClr val="3333B2"/>
                </a:solidFill>
                <a:latin typeface="Arial"/>
                <a:cs typeface="Arial"/>
              </a:rPr>
              <a:t>(</a:t>
            </a:r>
            <a:r>
              <a:rPr sz="900" i="1" spc="-5" dirty="0">
                <a:solidFill>
                  <a:srgbClr val="3333B2"/>
                </a:solidFill>
                <a:latin typeface="Arial"/>
                <a:cs typeface="Arial"/>
              </a:rPr>
              <a:t>x</a:t>
            </a:r>
            <a:r>
              <a:rPr sz="1050" i="1" spc="-7" baseline="-15873" dirty="0">
                <a:solidFill>
                  <a:srgbClr val="3333B2"/>
                </a:solidFill>
                <a:latin typeface="Arial"/>
                <a:cs typeface="Arial"/>
              </a:rPr>
              <a:t>1</a:t>
            </a:r>
            <a:r>
              <a:rPr sz="900" i="1" spc="-5" dirty="0">
                <a:solidFill>
                  <a:srgbClr val="3333B2"/>
                </a:solidFill>
                <a:latin typeface="メイリオ"/>
                <a:cs typeface="メイリオ"/>
              </a:rPr>
              <a:t>|</a:t>
            </a:r>
            <a:r>
              <a:rPr sz="900" i="1" spc="-5" dirty="0">
                <a:solidFill>
                  <a:srgbClr val="3333B2"/>
                </a:solidFill>
                <a:latin typeface="Arial"/>
                <a:cs typeface="Arial"/>
              </a:rPr>
              <a:t>x</a:t>
            </a:r>
            <a:r>
              <a:rPr sz="1050" i="1" spc="-7" baseline="-15873" dirty="0">
                <a:solidFill>
                  <a:srgbClr val="3333B2"/>
                </a:solidFill>
                <a:latin typeface="Arial"/>
                <a:cs typeface="Arial"/>
              </a:rPr>
              <a:t>3</a:t>
            </a:r>
            <a:r>
              <a:rPr sz="1050" i="1" spc="-165" baseline="-15873" dirty="0">
                <a:solidFill>
                  <a:srgbClr val="3333B2"/>
                </a:solidFill>
                <a:latin typeface="Arial"/>
                <a:cs typeface="Arial"/>
              </a:rPr>
              <a:t> </a:t>
            </a:r>
            <a:r>
              <a:rPr sz="900" spc="25" dirty="0">
                <a:solidFill>
                  <a:srgbClr val="3333B2"/>
                </a:solidFill>
                <a:latin typeface="Arial"/>
                <a:cs typeface="Arial"/>
              </a:rPr>
              <a:t>)</a:t>
            </a:r>
            <a:r>
              <a:rPr sz="1200" spc="25" dirty="0">
                <a:solidFill>
                  <a:srgbClr val="3333B2"/>
                </a:solidFill>
                <a:latin typeface="Arial"/>
                <a:cs typeface="Arial"/>
              </a:rPr>
              <a:t>.</a:t>
            </a:r>
            <a:r>
              <a:rPr sz="1200" spc="75" dirty="0">
                <a:solidFill>
                  <a:srgbClr val="3333B2"/>
                </a:solidFill>
                <a:latin typeface="Arial"/>
                <a:cs typeface="Arial"/>
              </a:rPr>
              <a:t> </a:t>
            </a:r>
            <a:r>
              <a:rPr sz="1200" spc="-5" dirty="0">
                <a:solidFill>
                  <a:srgbClr val="3333B2"/>
                </a:solidFill>
                <a:latin typeface="Arial"/>
                <a:cs typeface="Arial"/>
              </a:rPr>
              <a:t>(d)</a:t>
            </a:r>
            <a:r>
              <a:rPr sz="1200" dirty="0">
                <a:solidFill>
                  <a:srgbClr val="3333B2"/>
                </a:solidFill>
                <a:latin typeface="Arial"/>
                <a:cs typeface="Arial"/>
              </a:rPr>
              <a:t> </a:t>
            </a:r>
            <a:r>
              <a:rPr sz="1200" spc="-5" dirty="0">
                <a:solidFill>
                  <a:srgbClr val="3333B2"/>
                </a:solidFill>
                <a:latin typeface="Arial"/>
                <a:cs typeface="Arial"/>
              </a:rPr>
              <a:t>Consistent as</a:t>
            </a:r>
            <a:r>
              <a:rPr sz="1200" dirty="0">
                <a:solidFill>
                  <a:srgbClr val="3333B2"/>
                </a:solidFill>
                <a:latin typeface="Arial"/>
                <a:cs typeface="Arial"/>
              </a:rPr>
              <a:t> </a:t>
            </a:r>
            <a:r>
              <a:rPr sz="1200" i="1" spc="20" dirty="0">
                <a:solidFill>
                  <a:srgbClr val="3333B2"/>
                </a:solidFill>
                <a:latin typeface="Arial"/>
                <a:cs typeface="Arial"/>
              </a:rPr>
              <a:t>WS</a:t>
            </a:r>
            <a:r>
              <a:rPr sz="1200" spc="20" dirty="0">
                <a:solidFill>
                  <a:srgbClr val="3333B2"/>
                </a:solidFill>
                <a:latin typeface="Arial"/>
                <a:cs typeface="Arial"/>
              </a:rPr>
              <a:t>(</a:t>
            </a:r>
            <a:r>
              <a:rPr sz="1200" i="1" spc="20" dirty="0">
                <a:solidFill>
                  <a:srgbClr val="3333B2"/>
                </a:solidFill>
                <a:latin typeface="Arial"/>
                <a:cs typeface="Arial"/>
              </a:rPr>
              <a:t>x</a:t>
            </a:r>
            <a:r>
              <a:rPr sz="1350" i="1" spc="30" baseline="-12345" dirty="0">
                <a:solidFill>
                  <a:srgbClr val="3333B2"/>
                </a:solidFill>
                <a:latin typeface="Arial"/>
                <a:cs typeface="Arial"/>
              </a:rPr>
              <a:t>1</a:t>
            </a:r>
            <a:r>
              <a:rPr sz="1200" spc="20" dirty="0">
                <a:solidFill>
                  <a:srgbClr val="3333B2"/>
                </a:solidFill>
                <a:latin typeface="Arial"/>
                <a:cs typeface="Arial"/>
              </a:rPr>
              <a:t>;</a:t>
            </a:r>
            <a:r>
              <a:rPr sz="1200" spc="-200" dirty="0">
                <a:solidFill>
                  <a:srgbClr val="3333B2"/>
                </a:solidFill>
                <a:latin typeface="Arial"/>
                <a:cs typeface="Arial"/>
              </a:rPr>
              <a:t> </a:t>
            </a:r>
            <a:r>
              <a:rPr sz="1200" i="1" spc="-5" dirty="0">
                <a:solidFill>
                  <a:srgbClr val="3333B2"/>
                </a:solidFill>
                <a:latin typeface="Arial"/>
                <a:cs typeface="Arial"/>
              </a:rPr>
              <a:t>x</a:t>
            </a:r>
            <a:r>
              <a:rPr sz="1350" i="1" spc="-7" baseline="-12345" dirty="0">
                <a:solidFill>
                  <a:srgbClr val="3333B2"/>
                </a:solidFill>
                <a:latin typeface="Arial"/>
                <a:cs typeface="Arial"/>
              </a:rPr>
              <a:t>3</a:t>
            </a:r>
            <a:r>
              <a:rPr sz="1350" i="1" spc="-232" baseline="-12345" dirty="0">
                <a:solidFill>
                  <a:srgbClr val="3333B2"/>
                </a:solidFill>
                <a:latin typeface="Arial"/>
                <a:cs typeface="Arial"/>
              </a:rPr>
              <a:t> </a:t>
            </a:r>
            <a:r>
              <a:rPr sz="1200" spc="50" dirty="0">
                <a:solidFill>
                  <a:srgbClr val="3333B2"/>
                </a:solidFill>
                <a:latin typeface="Arial"/>
                <a:cs typeface="Arial"/>
              </a:rPr>
              <a:t>)</a:t>
            </a:r>
            <a:r>
              <a:rPr sz="1200" dirty="0">
                <a:solidFill>
                  <a:srgbClr val="3333B2"/>
                </a:solidFill>
                <a:latin typeface="Arial"/>
                <a:cs typeface="Arial"/>
              </a:rPr>
              <a:t> </a:t>
            </a:r>
            <a:r>
              <a:rPr sz="1200" spc="-5" dirty="0">
                <a:solidFill>
                  <a:srgbClr val="3333B2"/>
                </a:solidFill>
                <a:latin typeface="Arial"/>
                <a:cs typeface="Arial"/>
              </a:rPr>
              <a:t>although </a:t>
            </a:r>
            <a:r>
              <a:rPr sz="1200" i="1" spc="-5" dirty="0">
                <a:solidFill>
                  <a:srgbClr val="3333B2"/>
                </a:solidFill>
                <a:latin typeface="Arial"/>
                <a:cs typeface="Arial"/>
              </a:rPr>
              <a:t>x</a:t>
            </a:r>
            <a:r>
              <a:rPr sz="1350" i="1" spc="-7" baseline="-12345" dirty="0">
                <a:solidFill>
                  <a:srgbClr val="3333B2"/>
                </a:solidFill>
                <a:latin typeface="Arial"/>
                <a:cs typeface="Arial"/>
              </a:rPr>
              <a:t>1</a:t>
            </a:r>
            <a:r>
              <a:rPr sz="1350" i="1" spc="202" baseline="-12345" dirty="0">
                <a:solidFill>
                  <a:srgbClr val="3333B2"/>
                </a:solidFill>
                <a:latin typeface="Arial"/>
                <a:cs typeface="Arial"/>
              </a:rPr>
              <a:t> </a:t>
            </a:r>
            <a:r>
              <a:rPr sz="1200" spc="-5" dirty="0">
                <a:solidFill>
                  <a:srgbClr val="3333B2"/>
                </a:solidFill>
                <a:latin typeface="Arial"/>
                <a:cs typeface="Arial"/>
              </a:rPr>
              <a:t>has</a:t>
            </a:r>
            <a:endParaRPr sz="1200" dirty="0">
              <a:latin typeface="Arial"/>
              <a:cs typeface="Arial"/>
            </a:endParaRPr>
          </a:p>
        </p:txBody>
      </p:sp>
      <p:sp>
        <p:nvSpPr>
          <p:cNvPr id="5" name="object 5"/>
          <p:cNvSpPr txBox="1"/>
          <p:nvPr/>
        </p:nvSpPr>
        <p:spPr>
          <a:xfrm>
            <a:off x="321894" y="1727756"/>
            <a:ext cx="1803400" cy="412750"/>
          </a:xfrm>
          <a:prstGeom prst="rect">
            <a:avLst/>
          </a:prstGeom>
        </p:spPr>
        <p:txBody>
          <a:bodyPr vert="horz" wrap="square" lIns="0" tIns="12065" rIns="0" bIns="0" rtlCol="0">
            <a:spAutoFit/>
          </a:bodyPr>
          <a:lstStyle/>
          <a:p>
            <a:pPr marL="38100">
              <a:lnSpc>
                <a:spcPct val="100000"/>
              </a:lnSpc>
              <a:spcBef>
                <a:spcPts val="95"/>
              </a:spcBef>
            </a:pPr>
            <a:r>
              <a:rPr sz="1200" spc="-5" dirty="0">
                <a:solidFill>
                  <a:srgbClr val="3333B2"/>
                </a:solidFill>
                <a:latin typeface="Arial"/>
                <a:cs typeface="Arial"/>
              </a:rPr>
              <a:t>apparently </a:t>
            </a:r>
            <a:r>
              <a:rPr sz="1200" spc="-25" dirty="0">
                <a:solidFill>
                  <a:srgbClr val="3333B2"/>
                </a:solidFill>
                <a:latin typeface="Arial"/>
                <a:cs typeface="Arial"/>
              </a:rPr>
              <a:t>o</a:t>
            </a:r>
            <a:r>
              <a:rPr sz="1200" spc="-35" dirty="0">
                <a:solidFill>
                  <a:srgbClr val="3333B2"/>
                </a:solidFill>
                <a:latin typeface="Arial"/>
                <a:cs typeface="Arial"/>
              </a:rPr>
              <a:t>v</a:t>
            </a:r>
            <a:r>
              <a:rPr sz="1200" spc="-5" dirty="0">
                <a:solidFill>
                  <a:srgbClr val="3333B2"/>
                </a:solidFill>
                <a:latin typeface="Arial"/>
                <a:cs typeface="Arial"/>
              </a:rPr>
              <a:t>erw</a:t>
            </a:r>
            <a:r>
              <a:rPr sz="1200" spc="10" dirty="0">
                <a:solidFill>
                  <a:srgbClr val="3333B2"/>
                </a:solidFill>
                <a:latin typeface="Arial"/>
                <a:cs typeface="Arial"/>
              </a:rPr>
              <a:t>r</a:t>
            </a:r>
            <a:r>
              <a:rPr sz="1200" spc="-5" dirty="0">
                <a:solidFill>
                  <a:srgbClr val="3333B2"/>
                </a:solidFill>
                <a:latin typeface="Arial"/>
                <a:cs typeface="Arial"/>
              </a:rPr>
              <a:t>itten </a:t>
            </a:r>
            <a:r>
              <a:rPr sz="1200" i="1" spc="-5" dirty="0">
                <a:solidFill>
                  <a:srgbClr val="3333B2"/>
                </a:solidFill>
                <a:latin typeface="Arial"/>
                <a:cs typeface="Arial"/>
              </a:rPr>
              <a:t>x</a:t>
            </a:r>
            <a:r>
              <a:rPr sz="1350" i="1" spc="-7" baseline="-12345" dirty="0">
                <a:solidFill>
                  <a:srgbClr val="3333B2"/>
                </a:solidFill>
                <a:latin typeface="Arial"/>
                <a:cs typeface="Arial"/>
              </a:rPr>
              <a:t>2</a:t>
            </a:r>
            <a:r>
              <a:rPr sz="1350" i="1" spc="-225" baseline="-12345" dirty="0">
                <a:solidFill>
                  <a:srgbClr val="3333B2"/>
                </a:solidFill>
                <a:latin typeface="Arial"/>
                <a:cs typeface="Arial"/>
              </a:rPr>
              <a:t> </a:t>
            </a:r>
            <a:r>
              <a:rPr sz="1200" spc="-5" dirty="0">
                <a:solidFill>
                  <a:srgbClr val="3333B2"/>
                </a:solidFill>
                <a:latin typeface="Arial"/>
                <a:cs typeface="Arial"/>
              </a:rPr>
              <a:t>.</a:t>
            </a:r>
            <a:endParaRPr sz="1200">
              <a:latin typeface="Arial"/>
              <a:cs typeface="Arial"/>
            </a:endParaRPr>
          </a:p>
          <a:p>
            <a:pPr marL="424180">
              <a:lnSpc>
                <a:spcPct val="100000"/>
              </a:lnSpc>
              <a:spcBef>
                <a:spcPts val="830"/>
              </a:spcBef>
              <a:tabLst>
                <a:tab pos="1677035" algn="l"/>
              </a:tabLst>
            </a:pPr>
            <a:r>
              <a:rPr sz="650" u="sng" spc="5" dirty="0">
                <a:solidFill>
                  <a:srgbClr val="231F20"/>
                </a:solidFill>
                <a:uFill>
                  <a:solidFill>
                    <a:srgbClr val="231F20"/>
                  </a:solidFill>
                </a:uFill>
                <a:latin typeface="Arial"/>
                <a:cs typeface="Arial"/>
              </a:rPr>
              <a:t>L1</a:t>
            </a:r>
            <a:r>
              <a:rPr sz="650" u="sng" dirty="0">
                <a:solidFill>
                  <a:srgbClr val="231F20"/>
                </a:solidFill>
                <a:uFill>
                  <a:solidFill>
                    <a:srgbClr val="231F20"/>
                  </a:solidFill>
                </a:uFill>
                <a:latin typeface="Arial"/>
                <a:cs typeface="Arial"/>
              </a:rPr>
              <a:t>:    </a:t>
            </a:r>
            <a:r>
              <a:rPr sz="650" u="sng" spc="30" dirty="0">
                <a:solidFill>
                  <a:srgbClr val="231F20"/>
                </a:solidFill>
                <a:uFill>
                  <a:solidFill>
                    <a:srgbClr val="231F20"/>
                  </a:solidFill>
                </a:uFill>
                <a:latin typeface="Arial"/>
                <a:cs typeface="Arial"/>
              </a:rPr>
              <a:t> </a:t>
            </a:r>
            <a:r>
              <a:rPr sz="650" u="sng" spc="5" dirty="0">
                <a:solidFill>
                  <a:srgbClr val="231F20"/>
                </a:solidFill>
                <a:uFill>
                  <a:solidFill>
                    <a:srgbClr val="231F20"/>
                  </a:solidFill>
                </a:uFill>
                <a:latin typeface="Arial"/>
                <a:cs typeface="Arial"/>
              </a:rPr>
              <a:t>W</a:t>
            </a:r>
            <a:r>
              <a:rPr sz="450" u="sng" spc="22" baseline="-27777" dirty="0">
                <a:solidFill>
                  <a:srgbClr val="231F20"/>
                </a:solidFill>
                <a:uFill>
                  <a:solidFill>
                    <a:srgbClr val="231F20"/>
                  </a:solidFill>
                </a:uFill>
                <a:latin typeface="Arial"/>
                <a:cs typeface="Arial"/>
              </a:rPr>
              <a:t>1</a:t>
            </a:r>
            <a:r>
              <a:rPr sz="650" u="sng" spc="5" dirty="0">
                <a:solidFill>
                  <a:srgbClr val="231F20"/>
                </a:solidFill>
                <a:uFill>
                  <a:solidFill>
                    <a:srgbClr val="231F20"/>
                  </a:solidFill>
                </a:uFill>
                <a:latin typeface="Arial"/>
                <a:cs typeface="Arial"/>
              </a:rPr>
              <a:t>(x</a:t>
            </a:r>
            <a:r>
              <a:rPr sz="450" u="sng" spc="22" baseline="-27777" dirty="0">
                <a:solidFill>
                  <a:srgbClr val="231F20"/>
                </a:solidFill>
                <a:uFill>
                  <a:solidFill>
                    <a:srgbClr val="231F20"/>
                  </a:solidFill>
                </a:uFill>
                <a:latin typeface="Arial"/>
                <a:cs typeface="Arial"/>
              </a:rPr>
              <a:t>1</a:t>
            </a:r>
            <a:r>
              <a:rPr sz="650" u="sng" dirty="0">
                <a:solidFill>
                  <a:srgbClr val="231F20"/>
                </a:solidFill>
                <a:uFill>
                  <a:solidFill>
                    <a:srgbClr val="231F20"/>
                  </a:solidFill>
                </a:uFill>
                <a:latin typeface="Arial"/>
                <a:cs typeface="Arial"/>
              </a:rPr>
              <a:t>)	</a:t>
            </a:r>
            <a:endParaRPr sz="650">
              <a:latin typeface="Arial"/>
              <a:cs typeface="Arial"/>
            </a:endParaRPr>
          </a:p>
        </p:txBody>
      </p:sp>
      <p:sp>
        <p:nvSpPr>
          <p:cNvPr id="6" name="object 6"/>
          <p:cNvSpPr txBox="1"/>
          <p:nvPr/>
        </p:nvSpPr>
        <p:spPr>
          <a:xfrm>
            <a:off x="733531" y="2131849"/>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L2:</a:t>
            </a:r>
            <a:endParaRPr sz="650">
              <a:latin typeface="Arial"/>
              <a:cs typeface="Arial"/>
            </a:endParaRPr>
          </a:p>
        </p:txBody>
      </p:sp>
      <p:sp>
        <p:nvSpPr>
          <p:cNvPr id="7" name="object 7"/>
          <p:cNvSpPr txBox="1"/>
          <p:nvPr/>
        </p:nvSpPr>
        <p:spPr>
          <a:xfrm>
            <a:off x="1051211" y="2088415"/>
            <a:ext cx="942340" cy="390525"/>
          </a:xfrm>
          <a:prstGeom prst="rect">
            <a:avLst/>
          </a:prstGeom>
        </p:spPr>
        <p:txBody>
          <a:bodyPr vert="horz" wrap="square" lIns="0" tIns="59055" rIns="0" bIns="0" rtlCol="0">
            <a:spAutoFit/>
          </a:bodyPr>
          <a:lstStyle/>
          <a:p>
            <a:pPr marL="50800">
              <a:lnSpc>
                <a:spcPct val="100000"/>
              </a:lnSpc>
              <a:spcBef>
                <a:spcPts val="465"/>
              </a:spcBef>
              <a:tabLst>
                <a:tab pos="577215" algn="l"/>
              </a:tabLst>
            </a:pPr>
            <a:r>
              <a:rPr sz="650" spc="5" dirty="0">
                <a:solidFill>
                  <a:srgbClr val="231F20"/>
                </a:solidFill>
                <a:latin typeface="Arial"/>
                <a:cs typeface="Arial"/>
              </a:rPr>
              <a:t>W</a:t>
            </a:r>
            <a:r>
              <a:rPr sz="450" spc="22" baseline="-27777" dirty="0">
                <a:solidFill>
                  <a:srgbClr val="231F20"/>
                </a:solidFill>
                <a:latin typeface="Arial"/>
                <a:cs typeface="Arial"/>
              </a:rPr>
              <a:t>2</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650" spc="5" dirty="0">
                <a:solidFill>
                  <a:srgbClr val="231F20"/>
                </a:solidFill>
                <a:latin typeface="Arial"/>
                <a:cs typeface="Arial"/>
              </a:rPr>
              <a:t>W</a:t>
            </a:r>
            <a:r>
              <a:rPr sz="450" spc="22" baseline="-27777" dirty="0">
                <a:solidFill>
                  <a:srgbClr val="231F20"/>
                </a:solidFill>
                <a:latin typeface="Arial"/>
                <a:cs typeface="Arial"/>
              </a:rPr>
              <a:t>1</a:t>
            </a:r>
            <a:r>
              <a:rPr sz="650" spc="5" dirty="0">
                <a:solidFill>
                  <a:srgbClr val="231F20"/>
                </a:solidFill>
                <a:latin typeface="Arial"/>
                <a:cs typeface="Arial"/>
              </a:rPr>
              <a:t>(x</a:t>
            </a:r>
            <a:r>
              <a:rPr sz="450" spc="22" baseline="-27777" dirty="0">
                <a:solidFill>
                  <a:srgbClr val="231F20"/>
                </a:solidFill>
                <a:latin typeface="Arial"/>
                <a:cs typeface="Arial"/>
              </a:rPr>
              <a:t>2</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3</a:t>
            </a:r>
            <a:r>
              <a:rPr sz="650" dirty="0">
                <a:solidFill>
                  <a:srgbClr val="231F20"/>
                </a:solidFill>
                <a:latin typeface="Arial"/>
                <a:cs typeface="Arial"/>
              </a:rPr>
              <a:t>)</a:t>
            </a:r>
            <a:endParaRPr sz="650">
              <a:latin typeface="Arial"/>
              <a:cs typeface="Arial"/>
            </a:endParaRPr>
          </a:p>
          <a:p>
            <a:pPr marL="238760">
              <a:lnSpc>
                <a:spcPct val="100000"/>
              </a:lnSpc>
              <a:spcBef>
                <a:spcPts val="525"/>
              </a:spcBef>
            </a:pPr>
            <a:r>
              <a:rPr sz="1000" spc="-5" dirty="0">
                <a:latin typeface="Arial"/>
                <a:cs typeface="Arial"/>
              </a:rPr>
              <a:t>(a)</a:t>
            </a:r>
            <a:endParaRPr sz="1000">
              <a:latin typeface="Arial"/>
              <a:cs typeface="Arial"/>
            </a:endParaRPr>
          </a:p>
        </p:txBody>
      </p:sp>
      <p:sp>
        <p:nvSpPr>
          <p:cNvPr id="8" name="object 8"/>
          <p:cNvSpPr txBox="1"/>
          <p:nvPr/>
        </p:nvSpPr>
        <p:spPr>
          <a:xfrm>
            <a:off x="2580383" y="2015869"/>
            <a:ext cx="1329690" cy="127000"/>
          </a:xfrm>
          <a:prstGeom prst="rect">
            <a:avLst/>
          </a:prstGeom>
        </p:spPr>
        <p:txBody>
          <a:bodyPr vert="horz" wrap="square" lIns="0" tIns="13970" rIns="0" bIns="0" rtlCol="0">
            <a:spAutoFit/>
          </a:bodyPr>
          <a:lstStyle/>
          <a:p>
            <a:pPr marL="38100">
              <a:lnSpc>
                <a:spcPct val="100000"/>
              </a:lnSpc>
              <a:spcBef>
                <a:spcPts val="110"/>
              </a:spcBef>
              <a:tabLst>
                <a:tab pos="1290955" algn="l"/>
              </a:tabLst>
            </a:pPr>
            <a:r>
              <a:rPr sz="650" u="sng" spc="5" dirty="0">
                <a:solidFill>
                  <a:srgbClr val="231F20"/>
                </a:solidFill>
                <a:uFill>
                  <a:solidFill>
                    <a:srgbClr val="231F20"/>
                  </a:solidFill>
                </a:uFill>
                <a:latin typeface="Arial"/>
                <a:cs typeface="Arial"/>
              </a:rPr>
              <a:t>L1</a:t>
            </a:r>
            <a:r>
              <a:rPr sz="650" u="sng" dirty="0">
                <a:solidFill>
                  <a:srgbClr val="231F20"/>
                </a:solidFill>
                <a:uFill>
                  <a:solidFill>
                    <a:srgbClr val="231F20"/>
                  </a:solidFill>
                </a:uFill>
                <a:latin typeface="Arial"/>
                <a:cs typeface="Arial"/>
              </a:rPr>
              <a:t>:    </a:t>
            </a:r>
            <a:r>
              <a:rPr sz="650" u="sng" spc="30" dirty="0">
                <a:solidFill>
                  <a:srgbClr val="231F20"/>
                </a:solidFill>
                <a:uFill>
                  <a:solidFill>
                    <a:srgbClr val="231F20"/>
                  </a:solidFill>
                </a:uFill>
                <a:latin typeface="Arial"/>
                <a:cs typeface="Arial"/>
              </a:rPr>
              <a:t> </a:t>
            </a:r>
            <a:r>
              <a:rPr sz="650" u="sng" spc="5" dirty="0">
                <a:solidFill>
                  <a:srgbClr val="231F20"/>
                </a:solidFill>
                <a:uFill>
                  <a:solidFill>
                    <a:srgbClr val="231F20"/>
                  </a:solidFill>
                </a:uFill>
                <a:latin typeface="Arial"/>
                <a:cs typeface="Arial"/>
              </a:rPr>
              <a:t>W</a:t>
            </a:r>
            <a:r>
              <a:rPr sz="450" u="sng" spc="22" baseline="-27777" dirty="0">
                <a:solidFill>
                  <a:srgbClr val="231F20"/>
                </a:solidFill>
                <a:uFill>
                  <a:solidFill>
                    <a:srgbClr val="231F20"/>
                  </a:solidFill>
                </a:uFill>
                <a:latin typeface="Arial"/>
                <a:cs typeface="Arial"/>
              </a:rPr>
              <a:t>1</a:t>
            </a:r>
            <a:r>
              <a:rPr sz="650" u="sng" spc="5" dirty="0">
                <a:solidFill>
                  <a:srgbClr val="231F20"/>
                </a:solidFill>
                <a:uFill>
                  <a:solidFill>
                    <a:srgbClr val="231F20"/>
                  </a:solidFill>
                </a:uFill>
                <a:latin typeface="Arial"/>
                <a:cs typeface="Arial"/>
              </a:rPr>
              <a:t>(x</a:t>
            </a:r>
            <a:r>
              <a:rPr sz="450" u="sng" spc="22" baseline="-27777" dirty="0">
                <a:solidFill>
                  <a:srgbClr val="231F20"/>
                </a:solidFill>
                <a:uFill>
                  <a:solidFill>
                    <a:srgbClr val="231F20"/>
                  </a:solidFill>
                </a:uFill>
                <a:latin typeface="Arial"/>
                <a:cs typeface="Arial"/>
              </a:rPr>
              <a:t>1</a:t>
            </a:r>
            <a:r>
              <a:rPr sz="650" u="sng" dirty="0">
                <a:solidFill>
                  <a:srgbClr val="231F20"/>
                </a:solidFill>
                <a:uFill>
                  <a:solidFill>
                    <a:srgbClr val="231F20"/>
                  </a:solidFill>
                </a:uFill>
                <a:latin typeface="Arial"/>
                <a:cs typeface="Arial"/>
              </a:rPr>
              <a:t>)	</a:t>
            </a:r>
            <a:endParaRPr sz="650">
              <a:latin typeface="Arial"/>
              <a:cs typeface="Arial"/>
            </a:endParaRPr>
          </a:p>
        </p:txBody>
      </p:sp>
      <p:sp>
        <p:nvSpPr>
          <p:cNvPr id="9" name="object 9"/>
          <p:cNvSpPr txBox="1"/>
          <p:nvPr/>
        </p:nvSpPr>
        <p:spPr>
          <a:xfrm>
            <a:off x="2605783" y="2134196"/>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L2:</a:t>
            </a:r>
            <a:endParaRPr sz="650">
              <a:latin typeface="Arial"/>
              <a:cs typeface="Arial"/>
            </a:endParaRPr>
          </a:p>
        </p:txBody>
      </p:sp>
      <p:sp>
        <p:nvSpPr>
          <p:cNvPr id="10" name="object 10"/>
          <p:cNvSpPr txBox="1"/>
          <p:nvPr/>
        </p:nvSpPr>
        <p:spPr>
          <a:xfrm>
            <a:off x="2923458" y="2092318"/>
            <a:ext cx="951865" cy="386715"/>
          </a:xfrm>
          <a:prstGeom prst="rect">
            <a:avLst/>
          </a:prstGeom>
        </p:spPr>
        <p:txBody>
          <a:bodyPr vert="horz" wrap="square" lIns="0" tIns="57150" rIns="0" bIns="0" rtlCol="0">
            <a:spAutoFit/>
          </a:bodyPr>
          <a:lstStyle/>
          <a:p>
            <a:pPr marL="50800">
              <a:lnSpc>
                <a:spcPct val="100000"/>
              </a:lnSpc>
              <a:spcBef>
                <a:spcPts val="450"/>
              </a:spcBef>
              <a:tabLst>
                <a:tab pos="588010" algn="l"/>
              </a:tabLst>
            </a:pPr>
            <a:r>
              <a:rPr sz="650" spc="5" dirty="0">
                <a:solidFill>
                  <a:srgbClr val="231F20"/>
                </a:solidFill>
                <a:latin typeface="Arial"/>
                <a:cs typeface="Arial"/>
              </a:rPr>
              <a:t>W</a:t>
            </a:r>
            <a:r>
              <a:rPr sz="450" spc="22" baseline="-27777" dirty="0">
                <a:solidFill>
                  <a:srgbClr val="231F20"/>
                </a:solidFill>
                <a:latin typeface="Arial"/>
                <a:cs typeface="Arial"/>
              </a:rPr>
              <a:t>2</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650" spc="5" dirty="0">
                <a:solidFill>
                  <a:srgbClr val="231F20"/>
                </a:solidFill>
                <a:latin typeface="Arial"/>
                <a:cs typeface="Arial"/>
              </a:rPr>
              <a:t>W</a:t>
            </a:r>
            <a:r>
              <a:rPr sz="450" spc="22" baseline="-27777" dirty="0">
                <a:solidFill>
                  <a:srgbClr val="231F20"/>
                </a:solidFill>
                <a:latin typeface="Arial"/>
                <a:cs typeface="Arial"/>
              </a:rPr>
              <a:t>1</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3</a:t>
            </a:r>
            <a:r>
              <a:rPr sz="650" dirty="0">
                <a:solidFill>
                  <a:srgbClr val="231F20"/>
                </a:solidFill>
                <a:latin typeface="Arial"/>
                <a:cs typeface="Arial"/>
              </a:rPr>
              <a:t>)</a:t>
            </a:r>
            <a:endParaRPr sz="650">
              <a:latin typeface="Arial"/>
              <a:cs typeface="Arial"/>
            </a:endParaRPr>
          </a:p>
          <a:p>
            <a:pPr marL="238760">
              <a:lnSpc>
                <a:spcPct val="100000"/>
              </a:lnSpc>
              <a:spcBef>
                <a:spcPts val="509"/>
              </a:spcBef>
            </a:pPr>
            <a:r>
              <a:rPr sz="1000" spc="-5" dirty="0">
                <a:latin typeface="Arial"/>
                <a:cs typeface="Arial"/>
              </a:rPr>
              <a:t>(b)</a:t>
            </a:r>
            <a:endParaRPr sz="1000">
              <a:latin typeface="Arial"/>
              <a:cs typeface="Arial"/>
            </a:endParaRPr>
          </a:p>
        </p:txBody>
      </p:sp>
      <p:sp>
        <p:nvSpPr>
          <p:cNvPr id="11" name="object 11"/>
          <p:cNvSpPr txBox="1"/>
          <p:nvPr/>
        </p:nvSpPr>
        <p:spPr>
          <a:xfrm>
            <a:off x="708136" y="2645310"/>
            <a:ext cx="1329690" cy="127000"/>
          </a:xfrm>
          <a:prstGeom prst="rect">
            <a:avLst/>
          </a:prstGeom>
        </p:spPr>
        <p:txBody>
          <a:bodyPr vert="horz" wrap="square" lIns="0" tIns="13970" rIns="0" bIns="0" rtlCol="0">
            <a:spAutoFit/>
          </a:bodyPr>
          <a:lstStyle/>
          <a:p>
            <a:pPr marL="38100">
              <a:lnSpc>
                <a:spcPct val="100000"/>
              </a:lnSpc>
              <a:spcBef>
                <a:spcPts val="110"/>
              </a:spcBef>
              <a:tabLst>
                <a:tab pos="1290955" algn="l"/>
              </a:tabLst>
            </a:pPr>
            <a:r>
              <a:rPr sz="650" u="sng" spc="5" dirty="0">
                <a:solidFill>
                  <a:srgbClr val="231F20"/>
                </a:solidFill>
                <a:uFill>
                  <a:solidFill>
                    <a:srgbClr val="231F20"/>
                  </a:solidFill>
                </a:uFill>
                <a:latin typeface="Arial"/>
                <a:cs typeface="Arial"/>
              </a:rPr>
              <a:t>L1</a:t>
            </a:r>
            <a:r>
              <a:rPr sz="650" u="sng" dirty="0">
                <a:solidFill>
                  <a:srgbClr val="231F20"/>
                </a:solidFill>
                <a:uFill>
                  <a:solidFill>
                    <a:srgbClr val="231F20"/>
                  </a:solidFill>
                </a:uFill>
                <a:latin typeface="Arial"/>
                <a:cs typeface="Arial"/>
              </a:rPr>
              <a:t>:    </a:t>
            </a:r>
            <a:r>
              <a:rPr sz="650" u="sng" spc="30" dirty="0">
                <a:solidFill>
                  <a:srgbClr val="231F20"/>
                </a:solidFill>
                <a:uFill>
                  <a:solidFill>
                    <a:srgbClr val="231F20"/>
                  </a:solidFill>
                </a:uFill>
                <a:latin typeface="Arial"/>
                <a:cs typeface="Arial"/>
              </a:rPr>
              <a:t> </a:t>
            </a:r>
            <a:r>
              <a:rPr sz="650" u="sng" spc="5" dirty="0">
                <a:solidFill>
                  <a:srgbClr val="231F20"/>
                </a:solidFill>
                <a:uFill>
                  <a:solidFill>
                    <a:srgbClr val="231F20"/>
                  </a:solidFill>
                </a:uFill>
                <a:latin typeface="Arial"/>
                <a:cs typeface="Arial"/>
              </a:rPr>
              <a:t>W</a:t>
            </a:r>
            <a:r>
              <a:rPr sz="450" u="sng" spc="22" baseline="-27777" dirty="0">
                <a:solidFill>
                  <a:srgbClr val="231F20"/>
                </a:solidFill>
                <a:uFill>
                  <a:solidFill>
                    <a:srgbClr val="231F20"/>
                  </a:solidFill>
                </a:uFill>
                <a:latin typeface="Arial"/>
                <a:cs typeface="Arial"/>
              </a:rPr>
              <a:t>1</a:t>
            </a:r>
            <a:r>
              <a:rPr sz="650" u="sng" spc="5" dirty="0">
                <a:solidFill>
                  <a:srgbClr val="231F20"/>
                </a:solidFill>
                <a:uFill>
                  <a:solidFill>
                    <a:srgbClr val="231F20"/>
                  </a:solidFill>
                </a:uFill>
                <a:latin typeface="Arial"/>
                <a:cs typeface="Arial"/>
              </a:rPr>
              <a:t>(x</a:t>
            </a:r>
            <a:r>
              <a:rPr sz="450" u="sng" spc="22" baseline="-27777" dirty="0">
                <a:solidFill>
                  <a:srgbClr val="231F20"/>
                </a:solidFill>
                <a:uFill>
                  <a:solidFill>
                    <a:srgbClr val="231F20"/>
                  </a:solidFill>
                </a:uFill>
                <a:latin typeface="Arial"/>
                <a:cs typeface="Arial"/>
              </a:rPr>
              <a:t>1</a:t>
            </a:r>
            <a:r>
              <a:rPr sz="650" u="sng" dirty="0">
                <a:solidFill>
                  <a:srgbClr val="231F20"/>
                </a:solidFill>
                <a:uFill>
                  <a:solidFill>
                    <a:srgbClr val="231F20"/>
                  </a:solidFill>
                </a:uFill>
                <a:latin typeface="Arial"/>
                <a:cs typeface="Arial"/>
              </a:rPr>
              <a:t>)	</a:t>
            </a:r>
            <a:endParaRPr sz="650">
              <a:latin typeface="Arial"/>
              <a:cs typeface="Arial"/>
            </a:endParaRPr>
          </a:p>
        </p:txBody>
      </p:sp>
      <p:sp>
        <p:nvSpPr>
          <p:cNvPr id="12" name="object 12"/>
          <p:cNvSpPr txBox="1"/>
          <p:nvPr/>
        </p:nvSpPr>
        <p:spPr>
          <a:xfrm>
            <a:off x="733536" y="2763637"/>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L2:</a:t>
            </a:r>
            <a:endParaRPr sz="650">
              <a:latin typeface="Arial"/>
              <a:cs typeface="Arial"/>
            </a:endParaRPr>
          </a:p>
        </p:txBody>
      </p:sp>
      <p:sp>
        <p:nvSpPr>
          <p:cNvPr id="13" name="object 13"/>
          <p:cNvSpPr txBox="1"/>
          <p:nvPr/>
        </p:nvSpPr>
        <p:spPr>
          <a:xfrm>
            <a:off x="1051211" y="2721474"/>
            <a:ext cx="953769" cy="387350"/>
          </a:xfrm>
          <a:prstGeom prst="rect">
            <a:avLst/>
          </a:prstGeom>
        </p:spPr>
        <p:txBody>
          <a:bodyPr vert="horz" wrap="square" lIns="0" tIns="57785" rIns="0" bIns="0" rtlCol="0">
            <a:spAutoFit/>
          </a:bodyPr>
          <a:lstStyle/>
          <a:p>
            <a:pPr marL="50800">
              <a:lnSpc>
                <a:spcPct val="100000"/>
              </a:lnSpc>
              <a:spcBef>
                <a:spcPts val="455"/>
              </a:spcBef>
              <a:tabLst>
                <a:tab pos="588010" algn="l"/>
              </a:tabLst>
            </a:pPr>
            <a:r>
              <a:rPr sz="650" spc="5" dirty="0">
                <a:solidFill>
                  <a:srgbClr val="231F20"/>
                </a:solidFill>
                <a:latin typeface="Arial"/>
                <a:cs typeface="Arial"/>
              </a:rPr>
              <a:t>W</a:t>
            </a:r>
            <a:r>
              <a:rPr sz="450" spc="22" baseline="-27777" dirty="0">
                <a:solidFill>
                  <a:srgbClr val="231F20"/>
                </a:solidFill>
                <a:latin typeface="Arial"/>
                <a:cs typeface="Arial"/>
              </a:rPr>
              <a:t>2</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650" spc="5" dirty="0">
                <a:solidFill>
                  <a:srgbClr val="231F20"/>
                </a:solidFill>
                <a:latin typeface="Arial"/>
                <a:cs typeface="Arial"/>
              </a:rPr>
              <a:t>W</a:t>
            </a:r>
            <a:r>
              <a:rPr sz="450" spc="22" baseline="-27777" dirty="0">
                <a:solidFill>
                  <a:srgbClr val="231F20"/>
                </a:solidFill>
                <a:latin typeface="Arial"/>
                <a:cs typeface="Arial"/>
              </a:rPr>
              <a:t>1</a:t>
            </a:r>
            <a:r>
              <a:rPr sz="650" spc="5" dirty="0">
                <a:solidFill>
                  <a:srgbClr val="231F20"/>
                </a:solidFill>
                <a:latin typeface="Arial"/>
                <a:cs typeface="Arial"/>
              </a:rPr>
              <a:t>(x</a:t>
            </a:r>
            <a:r>
              <a:rPr sz="450" spc="22" baseline="-27777" dirty="0">
                <a:solidFill>
                  <a:srgbClr val="231F20"/>
                </a:solidFill>
                <a:latin typeface="Arial"/>
                <a:cs typeface="Arial"/>
              </a:rPr>
              <a:t>2</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3</a:t>
            </a:r>
            <a:r>
              <a:rPr sz="650" dirty="0">
                <a:solidFill>
                  <a:srgbClr val="231F20"/>
                </a:solidFill>
                <a:latin typeface="Arial"/>
                <a:cs typeface="Arial"/>
              </a:rPr>
              <a:t>)</a:t>
            </a:r>
            <a:endParaRPr sz="650">
              <a:latin typeface="Arial"/>
              <a:cs typeface="Arial"/>
            </a:endParaRPr>
          </a:p>
          <a:p>
            <a:pPr marL="242570">
              <a:lnSpc>
                <a:spcPct val="100000"/>
              </a:lnSpc>
              <a:spcBef>
                <a:spcPts val="509"/>
              </a:spcBef>
            </a:pPr>
            <a:r>
              <a:rPr sz="1000" spc="-5" dirty="0">
                <a:latin typeface="Arial"/>
                <a:cs typeface="Arial"/>
              </a:rPr>
              <a:t>(c)</a:t>
            </a:r>
            <a:endParaRPr sz="1000">
              <a:latin typeface="Arial"/>
              <a:cs typeface="Arial"/>
            </a:endParaRPr>
          </a:p>
        </p:txBody>
      </p:sp>
      <p:sp>
        <p:nvSpPr>
          <p:cNvPr id="14" name="object 14"/>
          <p:cNvSpPr txBox="1"/>
          <p:nvPr/>
        </p:nvSpPr>
        <p:spPr>
          <a:xfrm>
            <a:off x="2580383" y="2645475"/>
            <a:ext cx="1329690" cy="127000"/>
          </a:xfrm>
          <a:prstGeom prst="rect">
            <a:avLst/>
          </a:prstGeom>
        </p:spPr>
        <p:txBody>
          <a:bodyPr vert="horz" wrap="square" lIns="0" tIns="13970" rIns="0" bIns="0" rtlCol="0">
            <a:spAutoFit/>
          </a:bodyPr>
          <a:lstStyle/>
          <a:p>
            <a:pPr marL="38100">
              <a:lnSpc>
                <a:spcPct val="100000"/>
              </a:lnSpc>
              <a:spcBef>
                <a:spcPts val="110"/>
              </a:spcBef>
              <a:tabLst>
                <a:tab pos="1290955" algn="l"/>
              </a:tabLst>
            </a:pPr>
            <a:r>
              <a:rPr sz="650" u="sng" spc="5" dirty="0">
                <a:solidFill>
                  <a:srgbClr val="231F20"/>
                </a:solidFill>
                <a:uFill>
                  <a:solidFill>
                    <a:srgbClr val="231F20"/>
                  </a:solidFill>
                </a:uFill>
                <a:latin typeface="Arial"/>
                <a:cs typeface="Arial"/>
              </a:rPr>
              <a:t>L1</a:t>
            </a:r>
            <a:r>
              <a:rPr sz="650" u="sng" dirty="0">
                <a:solidFill>
                  <a:srgbClr val="231F20"/>
                </a:solidFill>
                <a:uFill>
                  <a:solidFill>
                    <a:srgbClr val="231F20"/>
                  </a:solidFill>
                </a:uFill>
                <a:latin typeface="Arial"/>
                <a:cs typeface="Arial"/>
              </a:rPr>
              <a:t>:    </a:t>
            </a:r>
            <a:r>
              <a:rPr sz="650" u="sng" spc="30" dirty="0">
                <a:solidFill>
                  <a:srgbClr val="231F20"/>
                </a:solidFill>
                <a:uFill>
                  <a:solidFill>
                    <a:srgbClr val="231F20"/>
                  </a:solidFill>
                </a:uFill>
                <a:latin typeface="Arial"/>
                <a:cs typeface="Arial"/>
              </a:rPr>
              <a:t> </a:t>
            </a:r>
            <a:r>
              <a:rPr sz="650" u="sng" spc="5" dirty="0">
                <a:solidFill>
                  <a:srgbClr val="231F20"/>
                </a:solidFill>
                <a:uFill>
                  <a:solidFill>
                    <a:srgbClr val="231F20"/>
                  </a:solidFill>
                </a:uFill>
                <a:latin typeface="Arial"/>
                <a:cs typeface="Arial"/>
              </a:rPr>
              <a:t>W</a:t>
            </a:r>
            <a:r>
              <a:rPr sz="450" u="sng" spc="22" baseline="-27777" dirty="0">
                <a:solidFill>
                  <a:srgbClr val="231F20"/>
                </a:solidFill>
                <a:uFill>
                  <a:solidFill>
                    <a:srgbClr val="231F20"/>
                  </a:solidFill>
                </a:uFill>
                <a:latin typeface="Arial"/>
                <a:cs typeface="Arial"/>
              </a:rPr>
              <a:t>1</a:t>
            </a:r>
            <a:r>
              <a:rPr sz="650" u="sng" spc="5" dirty="0">
                <a:solidFill>
                  <a:srgbClr val="231F20"/>
                </a:solidFill>
                <a:uFill>
                  <a:solidFill>
                    <a:srgbClr val="231F20"/>
                  </a:solidFill>
                </a:uFill>
                <a:latin typeface="Arial"/>
                <a:cs typeface="Arial"/>
              </a:rPr>
              <a:t>(x</a:t>
            </a:r>
            <a:r>
              <a:rPr sz="450" u="sng" spc="22" baseline="-27777" dirty="0">
                <a:solidFill>
                  <a:srgbClr val="231F20"/>
                </a:solidFill>
                <a:uFill>
                  <a:solidFill>
                    <a:srgbClr val="231F20"/>
                  </a:solidFill>
                </a:uFill>
                <a:latin typeface="Arial"/>
                <a:cs typeface="Arial"/>
              </a:rPr>
              <a:t>1</a:t>
            </a:r>
            <a:r>
              <a:rPr sz="650" u="sng" dirty="0">
                <a:solidFill>
                  <a:srgbClr val="231F20"/>
                </a:solidFill>
                <a:uFill>
                  <a:solidFill>
                    <a:srgbClr val="231F20"/>
                  </a:solidFill>
                </a:uFill>
                <a:latin typeface="Arial"/>
                <a:cs typeface="Arial"/>
              </a:rPr>
              <a:t>)	</a:t>
            </a:r>
            <a:endParaRPr sz="650">
              <a:latin typeface="Arial"/>
              <a:cs typeface="Arial"/>
            </a:endParaRPr>
          </a:p>
        </p:txBody>
      </p:sp>
      <p:sp>
        <p:nvSpPr>
          <p:cNvPr id="15" name="object 15"/>
          <p:cNvSpPr txBox="1"/>
          <p:nvPr/>
        </p:nvSpPr>
        <p:spPr>
          <a:xfrm>
            <a:off x="2605783" y="2763801"/>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L2:</a:t>
            </a:r>
            <a:endParaRPr sz="650">
              <a:latin typeface="Arial"/>
              <a:cs typeface="Arial"/>
            </a:endParaRPr>
          </a:p>
        </p:txBody>
      </p:sp>
      <p:sp>
        <p:nvSpPr>
          <p:cNvPr id="16" name="object 16"/>
          <p:cNvSpPr txBox="1"/>
          <p:nvPr/>
        </p:nvSpPr>
        <p:spPr>
          <a:xfrm>
            <a:off x="2923458" y="2721748"/>
            <a:ext cx="953769" cy="386715"/>
          </a:xfrm>
          <a:prstGeom prst="rect">
            <a:avLst/>
          </a:prstGeom>
        </p:spPr>
        <p:txBody>
          <a:bodyPr vert="horz" wrap="square" lIns="0" tIns="57785" rIns="0" bIns="0" rtlCol="0">
            <a:spAutoFit/>
          </a:bodyPr>
          <a:lstStyle/>
          <a:p>
            <a:pPr marL="50800">
              <a:lnSpc>
                <a:spcPct val="100000"/>
              </a:lnSpc>
              <a:spcBef>
                <a:spcPts val="455"/>
              </a:spcBef>
              <a:tabLst>
                <a:tab pos="588010" algn="l"/>
              </a:tabLst>
            </a:pPr>
            <a:r>
              <a:rPr sz="650" spc="5" dirty="0">
                <a:solidFill>
                  <a:srgbClr val="231F20"/>
                </a:solidFill>
                <a:latin typeface="Arial"/>
                <a:cs typeface="Arial"/>
              </a:rPr>
              <a:t>W</a:t>
            </a:r>
            <a:r>
              <a:rPr sz="450" spc="22" baseline="-27777" dirty="0">
                <a:solidFill>
                  <a:srgbClr val="231F20"/>
                </a:solidFill>
                <a:latin typeface="Arial"/>
                <a:cs typeface="Arial"/>
              </a:rPr>
              <a:t>2</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650" spc="5" dirty="0">
                <a:solidFill>
                  <a:srgbClr val="231F20"/>
                </a:solidFill>
                <a:latin typeface="Arial"/>
                <a:cs typeface="Arial"/>
              </a:rPr>
              <a:t>W</a:t>
            </a:r>
            <a:r>
              <a:rPr sz="450" spc="22" baseline="-27777" dirty="0">
                <a:solidFill>
                  <a:srgbClr val="231F20"/>
                </a:solidFill>
                <a:latin typeface="Arial"/>
                <a:cs typeface="Arial"/>
              </a:rPr>
              <a:t>1</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3</a:t>
            </a:r>
            <a:r>
              <a:rPr sz="650" dirty="0">
                <a:solidFill>
                  <a:srgbClr val="231F20"/>
                </a:solidFill>
                <a:latin typeface="Arial"/>
                <a:cs typeface="Arial"/>
              </a:rPr>
              <a:t>)</a:t>
            </a:r>
            <a:endParaRPr sz="650">
              <a:latin typeface="Arial"/>
              <a:cs typeface="Arial"/>
            </a:endParaRPr>
          </a:p>
          <a:p>
            <a:pPr marL="238760">
              <a:lnSpc>
                <a:spcPct val="100000"/>
              </a:lnSpc>
              <a:spcBef>
                <a:spcPts val="509"/>
              </a:spcBef>
            </a:pPr>
            <a:r>
              <a:rPr sz="1000" spc="-5" dirty="0">
                <a:latin typeface="Arial"/>
                <a:cs typeface="Arial"/>
              </a:rPr>
              <a:t>(d)</a:t>
            </a:r>
            <a:endParaRPr sz="1000">
              <a:latin typeface="Arial"/>
              <a:cs typeface="Arial"/>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21</a:t>
            </a:r>
            <a:r>
              <a:rPr spc="-40" dirty="0"/>
              <a:t> </a:t>
            </a:r>
            <a:r>
              <a:rPr spc="-5" dirty="0"/>
              <a:t>/</a:t>
            </a:r>
            <a:r>
              <a:rPr spc="-35" dirty="0"/>
              <a:t> </a:t>
            </a:r>
            <a:r>
              <a:rPr spc="-5" dirty="0"/>
              <a:t>37</a:t>
            </a:r>
          </a:p>
        </p:txBody>
      </p:sp>
      <p:sp>
        <p:nvSpPr>
          <p:cNvPr id="2" name="object 2"/>
          <p:cNvSpPr txBox="1"/>
          <p:nvPr/>
        </p:nvSpPr>
        <p:spPr>
          <a:xfrm>
            <a:off x="66713" y="716"/>
            <a:ext cx="214249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Client-centric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945237" y="716"/>
            <a:ext cx="59626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Monotonic</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writes</a:t>
            </a:r>
            <a:endParaRPr sz="600">
              <a:latin typeface="Arial"/>
              <a:cs typeface="Arial"/>
            </a:endParaRPr>
          </a:p>
        </p:txBody>
      </p:sp>
      <p:sp>
        <p:nvSpPr>
          <p:cNvPr id="4" name="object 4"/>
          <p:cNvSpPr txBox="1"/>
          <p:nvPr/>
        </p:nvSpPr>
        <p:spPr>
          <a:xfrm>
            <a:off x="95300" y="188846"/>
            <a:ext cx="139509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Monotonic</a:t>
            </a:r>
            <a:r>
              <a:rPr sz="1400" spc="-40" dirty="0">
                <a:solidFill>
                  <a:srgbClr val="3333B2"/>
                </a:solidFill>
                <a:latin typeface="Arial"/>
                <a:cs typeface="Arial"/>
              </a:rPr>
              <a:t> </a:t>
            </a:r>
            <a:r>
              <a:rPr sz="1400" spc="15" dirty="0">
                <a:solidFill>
                  <a:srgbClr val="3333B2"/>
                </a:solidFill>
                <a:latin typeface="Arial"/>
                <a:cs typeface="Arial"/>
              </a:rPr>
              <a:t>writes</a:t>
            </a:r>
            <a:endParaRPr sz="1400">
              <a:latin typeface="Arial"/>
              <a:cs typeface="Arial"/>
            </a:endParaRPr>
          </a:p>
        </p:txBody>
      </p:sp>
      <p:sp>
        <p:nvSpPr>
          <p:cNvPr id="5" name="object 5"/>
          <p:cNvSpPr txBox="1"/>
          <p:nvPr/>
        </p:nvSpPr>
        <p:spPr>
          <a:xfrm>
            <a:off x="317347" y="1032382"/>
            <a:ext cx="3969385" cy="1310640"/>
          </a:xfrm>
          <a:prstGeom prst="rect">
            <a:avLst/>
          </a:prstGeom>
        </p:spPr>
        <p:txBody>
          <a:bodyPr vert="horz" wrap="square" lIns="0" tIns="39370" rIns="0" bIns="0" rtlCol="0">
            <a:spAutoFit/>
          </a:bodyPr>
          <a:lstStyle/>
          <a:p>
            <a:pPr marL="42545">
              <a:lnSpc>
                <a:spcPct val="100000"/>
              </a:lnSpc>
              <a:spcBef>
                <a:spcPts val="310"/>
              </a:spcBef>
            </a:pPr>
            <a:r>
              <a:rPr sz="1200" spc="-5" dirty="0">
                <a:solidFill>
                  <a:srgbClr val="007C00"/>
                </a:solidFill>
                <a:latin typeface="Arial"/>
                <a:cs typeface="Arial"/>
              </a:rPr>
              <a:t>Example</a:t>
            </a:r>
            <a:endParaRPr sz="1200" dirty="0">
              <a:latin typeface="Arial"/>
              <a:cs typeface="Arial"/>
            </a:endParaRPr>
          </a:p>
          <a:p>
            <a:pPr marL="38100" marR="30480" indent="4445">
              <a:lnSpc>
                <a:spcPct val="100000"/>
              </a:lnSpc>
              <a:spcBef>
                <a:spcPts val="175"/>
              </a:spcBef>
            </a:pPr>
            <a:r>
              <a:rPr sz="1000" spc="-10" dirty="0">
                <a:latin typeface="Arial"/>
                <a:cs typeface="Arial"/>
              </a:rPr>
              <a:t>Updating</a:t>
            </a:r>
            <a:r>
              <a:rPr sz="1000" spc="-5" dirty="0">
                <a:latin typeface="Arial"/>
                <a:cs typeface="Arial"/>
              </a:rPr>
              <a:t> </a:t>
            </a:r>
            <a:r>
              <a:rPr sz="1000" spc="-15" dirty="0">
                <a:latin typeface="Arial"/>
                <a:cs typeface="Arial"/>
              </a:rPr>
              <a:t>a</a:t>
            </a:r>
            <a:r>
              <a:rPr sz="1000" dirty="0">
                <a:latin typeface="Arial"/>
                <a:cs typeface="Arial"/>
              </a:rPr>
              <a:t> </a:t>
            </a:r>
            <a:r>
              <a:rPr sz="1000" spc="-15" dirty="0">
                <a:latin typeface="Arial"/>
                <a:cs typeface="Arial"/>
              </a:rPr>
              <a:t>program</a:t>
            </a:r>
            <a:r>
              <a:rPr sz="1000" dirty="0">
                <a:latin typeface="Arial"/>
                <a:cs typeface="Arial"/>
              </a:rPr>
              <a:t> </a:t>
            </a:r>
            <a:r>
              <a:rPr sz="1000" spc="-10" dirty="0">
                <a:latin typeface="Arial"/>
                <a:cs typeface="Arial"/>
              </a:rPr>
              <a:t>at</a:t>
            </a:r>
            <a:r>
              <a:rPr sz="1000" dirty="0">
                <a:latin typeface="Arial"/>
                <a:cs typeface="Arial"/>
              </a:rPr>
              <a:t> </a:t>
            </a:r>
            <a:r>
              <a:rPr sz="1000" spc="-10" dirty="0">
                <a:latin typeface="Arial"/>
                <a:cs typeface="Arial"/>
              </a:rPr>
              <a:t>server</a:t>
            </a:r>
            <a:r>
              <a:rPr sz="1000" dirty="0">
                <a:latin typeface="Arial"/>
                <a:cs typeface="Arial"/>
              </a:rPr>
              <a:t> </a:t>
            </a:r>
            <a:r>
              <a:rPr sz="1000" i="1" spc="5" dirty="0">
                <a:latin typeface="Arial"/>
                <a:cs typeface="Arial"/>
              </a:rPr>
              <a:t>S</a:t>
            </a:r>
            <a:r>
              <a:rPr sz="1050" i="1" spc="7" baseline="-15873" dirty="0">
                <a:latin typeface="Arial"/>
                <a:cs typeface="Arial"/>
              </a:rPr>
              <a:t>2</a:t>
            </a:r>
            <a:r>
              <a:rPr sz="1050" i="1" spc="-150" baseline="-15873" dirty="0">
                <a:latin typeface="Arial"/>
                <a:cs typeface="Arial"/>
              </a:rPr>
              <a:t> </a:t>
            </a:r>
            <a:r>
              <a:rPr sz="1000" spc="-5" dirty="0">
                <a:latin typeface="Arial"/>
                <a:cs typeface="Arial"/>
              </a:rPr>
              <a:t>,</a:t>
            </a:r>
            <a:r>
              <a:rPr sz="1000" dirty="0">
                <a:latin typeface="Arial"/>
                <a:cs typeface="Arial"/>
              </a:rPr>
              <a:t> </a:t>
            </a:r>
            <a:r>
              <a:rPr sz="1000" spc="-15" dirty="0">
                <a:latin typeface="Arial"/>
                <a:cs typeface="Arial"/>
              </a:rPr>
              <a:t>and</a:t>
            </a:r>
            <a:r>
              <a:rPr sz="1000" dirty="0">
                <a:latin typeface="Arial"/>
                <a:cs typeface="Arial"/>
              </a:rPr>
              <a:t> </a:t>
            </a:r>
            <a:r>
              <a:rPr sz="1000" spc="-10" dirty="0">
                <a:latin typeface="Arial"/>
                <a:cs typeface="Arial"/>
              </a:rPr>
              <a:t>ensuring</a:t>
            </a:r>
            <a:r>
              <a:rPr sz="1000" dirty="0">
                <a:latin typeface="Arial"/>
                <a:cs typeface="Arial"/>
              </a:rPr>
              <a:t> </a:t>
            </a:r>
            <a:r>
              <a:rPr sz="1000" spc="-10" dirty="0">
                <a:latin typeface="Arial"/>
                <a:cs typeface="Arial"/>
              </a:rPr>
              <a:t>that</a:t>
            </a:r>
            <a:r>
              <a:rPr sz="1000" dirty="0">
                <a:latin typeface="Arial"/>
                <a:cs typeface="Arial"/>
              </a:rPr>
              <a:t> </a:t>
            </a:r>
            <a:r>
              <a:rPr sz="1000" spc="-10" dirty="0">
                <a:latin typeface="Arial"/>
                <a:cs typeface="Arial"/>
              </a:rPr>
              <a:t>all</a:t>
            </a:r>
            <a:r>
              <a:rPr sz="1000" spc="-5" dirty="0">
                <a:latin typeface="Arial"/>
                <a:cs typeface="Arial"/>
              </a:rPr>
              <a:t> </a:t>
            </a:r>
            <a:r>
              <a:rPr sz="1000" spc="-15" dirty="0">
                <a:latin typeface="Arial"/>
                <a:cs typeface="Arial"/>
              </a:rPr>
              <a:t>components</a:t>
            </a:r>
            <a:r>
              <a:rPr sz="1000" dirty="0">
                <a:latin typeface="Arial"/>
                <a:cs typeface="Arial"/>
              </a:rPr>
              <a:t> </a:t>
            </a:r>
            <a:r>
              <a:rPr sz="1000" spc="-15" dirty="0">
                <a:latin typeface="Arial"/>
                <a:cs typeface="Arial"/>
              </a:rPr>
              <a:t>on </a:t>
            </a:r>
            <a:r>
              <a:rPr sz="1000" spc="-260" dirty="0">
                <a:latin typeface="Arial"/>
                <a:cs typeface="Arial"/>
              </a:rPr>
              <a:t> </a:t>
            </a:r>
            <a:r>
              <a:rPr sz="1000" spc="-5" dirty="0">
                <a:latin typeface="Arial"/>
                <a:cs typeface="Arial"/>
              </a:rPr>
              <a:t>which compilation and</a:t>
            </a:r>
            <a:r>
              <a:rPr sz="1000" dirty="0">
                <a:latin typeface="Arial"/>
                <a:cs typeface="Arial"/>
              </a:rPr>
              <a:t> </a:t>
            </a:r>
            <a:r>
              <a:rPr sz="1000" spc="-5" dirty="0">
                <a:latin typeface="Arial"/>
                <a:cs typeface="Arial"/>
              </a:rPr>
              <a:t>linking depends,</a:t>
            </a:r>
            <a:r>
              <a:rPr sz="1000" dirty="0">
                <a:latin typeface="Arial"/>
                <a:cs typeface="Arial"/>
              </a:rPr>
              <a:t> </a:t>
            </a:r>
            <a:r>
              <a:rPr sz="1000" spc="-5" dirty="0">
                <a:latin typeface="Arial"/>
                <a:cs typeface="Arial"/>
              </a:rPr>
              <a:t>are also</a:t>
            </a:r>
            <a:r>
              <a:rPr sz="1000" dirty="0">
                <a:latin typeface="Arial"/>
                <a:cs typeface="Arial"/>
              </a:rPr>
              <a:t> </a:t>
            </a:r>
            <a:r>
              <a:rPr sz="1000" spc="-5" dirty="0">
                <a:latin typeface="Arial"/>
                <a:cs typeface="Arial"/>
              </a:rPr>
              <a:t>placed at </a:t>
            </a:r>
            <a:r>
              <a:rPr sz="1000" i="1" spc="5" dirty="0">
                <a:latin typeface="Arial"/>
                <a:cs typeface="Arial"/>
              </a:rPr>
              <a:t>S</a:t>
            </a:r>
            <a:r>
              <a:rPr sz="1050" i="1" spc="7" baseline="-15873" dirty="0">
                <a:latin typeface="Arial"/>
                <a:cs typeface="Arial"/>
              </a:rPr>
              <a:t>2</a:t>
            </a:r>
            <a:r>
              <a:rPr sz="1050" i="1" spc="-150" baseline="-15873" dirty="0">
                <a:latin typeface="Arial"/>
                <a:cs typeface="Arial"/>
              </a:rPr>
              <a:t> </a:t>
            </a:r>
            <a:r>
              <a:rPr sz="1000" spc="-5" dirty="0">
                <a:latin typeface="Arial"/>
                <a:cs typeface="Arial"/>
              </a:rPr>
              <a:t>.</a:t>
            </a:r>
            <a:endParaRPr sz="1000" dirty="0">
              <a:latin typeface="Arial"/>
              <a:cs typeface="Arial"/>
            </a:endParaRPr>
          </a:p>
          <a:p>
            <a:pPr marL="42545">
              <a:lnSpc>
                <a:spcPct val="100000"/>
              </a:lnSpc>
              <a:spcBef>
                <a:spcPts val="685"/>
              </a:spcBef>
            </a:pPr>
            <a:r>
              <a:rPr sz="1200" spc="-5" dirty="0">
                <a:solidFill>
                  <a:srgbClr val="007C00"/>
                </a:solidFill>
                <a:latin typeface="Arial"/>
                <a:cs typeface="Arial"/>
              </a:rPr>
              <a:t>Example</a:t>
            </a:r>
            <a:endParaRPr sz="1200" dirty="0">
              <a:latin typeface="Arial"/>
              <a:cs typeface="Arial"/>
            </a:endParaRPr>
          </a:p>
          <a:p>
            <a:pPr marL="38100" marR="30480" indent="3810" algn="just">
              <a:lnSpc>
                <a:spcPct val="100000"/>
              </a:lnSpc>
              <a:spcBef>
                <a:spcPts val="175"/>
              </a:spcBef>
            </a:pPr>
            <a:r>
              <a:rPr sz="1000" spc="-10" dirty="0">
                <a:latin typeface="Arial"/>
                <a:cs typeface="Arial"/>
              </a:rPr>
              <a:t>Maintaining versions </a:t>
            </a:r>
            <a:r>
              <a:rPr sz="1000" spc="-5" dirty="0">
                <a:latin typeface="Arial"/>
                <a:cs typeface="Arial"/>
              </a:rPr>
              <a:t>of </a:t>
            </a:r>
            <a:r>
              <a:rPr sz="1000" spc="-10" dirty="0">
                <a:latin typeface="Arial"/>
                <a:cs typeface="Arial"/>
              </a:rPr>
              <a:t>replicated </a:t>
            </a:r>
            <a:r>
              <a:rPr sz="1000" spc="-5" dirty="0">
                <a:latin typeface="Arial"/>
                <a:cs typeface="Arial"/>
              </a:rPr>
              <a:t>files in </a:t>
            </a:r>
            <a:r>
              <a:rPr sz="1000" spc="-10" dirty="0">
                <a:latin typeface="Arial"/>
                <a:cs typeface="Arial"/>
              </a:rPr>
              <a:t>the correct order everywhere </a:t>
            </a:r>
            <a:r>
              <a:rPr sz="1000" spc="-265" dirty="0">
                <a:latin typeface="Arial"/>
                <a:cs typeface="Arial"/>
              </a:rPr>
              <a:t> </a:t>
            </a:r>
            <a:r>
              <a:rPr sz="1000" spc="-15" dirty="0">
                <a:latin typeface="Arial"/>
                <a:cs typeface="Arial"/>
              </a:rPr>
              <a:t>(propagate the </a:t>
            </a:r>
            <a:r>
              <a:rPr sz="1000" spc="-20" dirty="0">
                <a:latin typeface="Arial"/>
                <a:cs typeface="Arial"/>
              </a:rPr>
              <a:t>previous </a:t>
            </a:r>
            <a:r>
              <a:rPr sz="1000" spc="-15" dirty="0">
                <a:latin typeface="Arial"/>
                <a:cs typeface="Arial"/>
              </a:rPr>
              <a:t>version </a:t>
            </a:r>
            <a:r>
              <a:rPr sz="1000" spc="-10" dirty="0">
                <a:latin typeface="Arial"/>
                <a:cs typeface="Arial"/>
              </a:rPr>
              <a:t>to </a:t>
            </a:r>
            <a:r>
              <a:rPr sz="1000" spc="-15" dirty="0">
                <a:latin typeface="Arial"/>
                <a:cs typeface="Arial"/>
              </a:rPr>
              <a:t>the server where the </a:t>
            </a:r>
            <a:r>
              <a:rPr sz="1000" spc="-20" dirty="0">
                <a:latin typeface="Arial"/>
                <a:cs typeface="Arial"/>
              </a:rPr>
              <a:t>newest </a:t>
            </a:r>
            <a:r>
              <a:rPr sz="1000" spc="-15" dirty="0">
                <a:latin typeface="Arial"/>
                <a:cs typeface="Arial"/>
              </a:rPr>
              <a:t>version </a:t>
            </a:r>
            <a:r>
              <a:rPr sz="1000" spc="-265"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installed).</a:t>
            </a:r>
            <a:endParaRPr sz="1000" dirty="0">
              <a:latin typeface="Arial"/>
              <a:cs typeface="Arial"/>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9" name="object 9"/>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214249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5" dirty="0">
                <a:solidFill>
                  <a:srgbClr val="3333B2"/>
                </a:solidFill>
                <a:latin typeface="Arial"/>
                <a:cs typeface="Arial"/>
              </a:rPr>
              <a:t> </a:t>
            </a:r>
            <a:r>
              <a:rPr sz="600" spc="-5" dirty="0">
                <a:solidFill>
                  <a:srgbClr val="3333B2"/>
                </a:solidFill>
                <a:latin typeface="Arial"/>
                <a:cs typeface="Arial"/>
                <a:hlinkClick r:id="rId4" action="ppaction://hlinksldjump"/>
              </a:rPr>
              <a:t>Client-centric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946755" y="716"/>
            <a:ext cx="59499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Read</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your</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writes</a:t>
            </a:r>
            <a:endParaRPr sz="600">
              <a:latin typeface="Arial"/>
              <a:cs typeface="Arial"/>
            </a:endParaRPr>
          </a:p>
        </p:txBody>
      </p:sp>
      <p:sp>
        <p:nvSpPr>
          <p:cNvPr id="4" name="object 4"/>
          <p:cNvSpPr txBox="1"/>
          <p:nvPr/>
        </p:nvSpPr>
        <p:spPr>
          <a:xfrm>
            <a:off x="95300" y="188846"/>
            <a:ext cx="4195445" cy="143192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Read</a:t>
            </a:r>
            <a:r>
              <a:rPr sz="1400" spc="-30" dirty="0">
                <a:solidFill>
                  <a:srgbClr val="3333B2"/>
                </a:solidFill>
                <a:latin typeface="Arial"/>
                <a:cs typeface="Arial"/>
              </a:rPr>
              <a:t> </a:t>
            </a:r>
            <a:r>
              <a:rPr sz="1400" spc="5" dirty="0">
                <a:solidFill>
                  <a:srgbClr val="3333B2"/>
                </a:solidFill>
                <a:latin typeface="Arial"/>
                <a:cs typeface="Arial"/>
              </a:rPr>
              <a:t>your</a:t>
            </a:r>
            <a:r>
              <a:rPr sz="1400" spc="-25" dirty="0">
                <a:solidFill>
                  <a:srgbClr val="3333B2"/>
                </a:solidFill>
                <a:latin typeface="Arial"/>
                <a:cs typeface="Arial"/>
              </a:rPr>
              <a:t> </a:t>
            </a:r>
            <a:r>
              <a:rPr sz="1400" spc="15" dirty="0">
                <a:solidFill>
                  <a:srgbClr val="3333B2"/>
                </a:solidFill>
                <a:latin typeface="Arial"/>
                <a:cs typeface="Arial"/>
              </a:rPr>
              <a:t>writes</a:t>
            </a:r>
            <a:endParaRPr sz="1400">
              <a:latin typeface="Arial"/>
              <a:cs typeface="Arial"/>
            </a:endParaRPr>
          </a:p>
          <a:p>
            <a:pPr>
              <a:lnSpc>
                <a:spcPct val="100000"/>
              </a:lnSpc>
              <a:spcBef>
                <a:spcPts val="45"/>
              </a:spcBef>
            </a:pPr>
            <a:endParaRPr sz="1750">
              <a:latin typeface="Arial"/>
              <a:cs typeface="Arial"/>
            </a:endParaRPr>
          </a:p>
          <a:p>
            <a:pPr marL="264160">
              <a:lnSpc>
                <a:spcPts val="1410"/>
              </a:lnSpc>
            </a:pPr>
            <a:r>
              <a:rPr sz="1200" spc="-5" dirty="0">
                <a:solidFill>
                  <a:srgbClr val="3333B2"/>
                </a:solidFill>
                <a:latin typeface="Arial"/>
                <a:cs typeface="Arial"/>
              </a:rPr>
              <a:t>Definition</a:t>
            </a:r>
            <a:endParaRPr sz="1200">
              <a:latin typeface="Arial"/>
              <a:cs typeface="Arial"/>
            </a:endParaRPr>
          </a:p>
          <a:p>
            <a:pPr marL="264160" marR="35560" indent="-4445">
              <a:lnSpc>
                <a:spcPts val="1200"/>
              </a:lnSpc>
              <a:spcBef>
                <a:spcPts val="15"/>
              </a:spcBef>
            </a:pPr>
            <a:r>
              <a:rPr sz="1000" spc="-10" dirty="0">
                <a:latin typeface="Arial"/>
                <a:cs typeface="Arial"/>
              </a:rPr>
              <a:t>The </a:t>
            </a:r>
            <a:r>
              <a:rPr sz="1000" spc="-15" dirty="0">
                <a:latin typeface="Arial"/>
                <a:cs typeface="Arial"/>
              </a:rPr>
              <a:t>effect </a:t>
            </a:r>
            <a:r>
              <a:rPr sz="1000" spc="-10" dirty="0">
                <a:latin typeface="Arial"/>
                <a:cs typeface="Arial"/>
              </a:rPr>
              <a:t>of a </a:t>
            </a:r>
            <a:r>
              <a:rPr sz="1000" spc="-5" dirty="0">
                <a:latin typeface="Arial"/>
                <a:cs typeface="Arial"/>
              </a:rPr>
              <a:t>write </a:t>
            </a:r>
            <a:r>
              <a:rPr sz="1000" spc="-10" dirty="0">
                <a:latin typeface="Arial"/>
                <a:cs typeface="Arial"/>
              </a:rPr>
              <a:t>operation </a:t>
            </a:r>
            <a:r>
              <a:rPr sz="1000" spc="-20" dirty="0">
                <a:latin typeface="Arial"/>
                <a:cs typeface="Arial"/>
              </a:rPr>
              <a:t>by </a:t>
            </a:r>
            <a:r>
              <a:rPr sz="1000" spc="-10" dirty="0">
                <a:latin typeface="Arial"/>
                <a:cs typeface="Arial"/>
              </a:rPr>
              <a:t>a process on data item </a:t>
            </a:r>
            <a:r>
              <a:rPr sz="1000" i="1" spc="-5" dirty="0">
                <a:latin typeface="Arial"/>
                <a:cs typeface="Arial"/>
              </a:rPr>
              <a:t>x </a:t>
            </a:r>
            <a:r>
              <a:rPr sz="1000" spc="-5" dirty="0">
                <a:latin typeface="Arial"/>
                <a:cs typeface="Arial"/>
              </a:rPr>
              <a:t>, will </a:t>
            </a:r>
            <a:r>
              <a:rPr sz="1000" spc="-20" dirty="0">
                <a:latin typeface="Arial"/>
                <a:cs typeface="Arial"/>
              </a:rPr>
              <a:t>always </a:t>
            </a:r>
            <a:r>
              <a:rPr sz="1000" spc="-265" dirty="0">
                <a:latin typeface="Arial"/>
                <a:cs typeface="Arial"/>
              </a:rPr>
              <a:t> </a:t>
            </a:r>
            <a:r>
              <a:rPr sz="1000" spc="-5" dirty="0">
                <a:latin typeface="Arial"/>
                <a:cs typeface="Arial"/>
              </a:rPr>
              <a:t>be seen </a:t>
            </a:r>
            <a:r>
              <a:rPr sz="1000" spc="-15" dirty="0">
                <a:latin typeface="Arial"/>
                <a:cs typeface="Arial"/>
              </a:rPr>
              <a:t>by</a:t>
            </a:r>
            <a:r>
              <a:rPr sz="1000" spc="-5" dirty="0">
                <a:latin typeface="Arial"/>
                <a:cs typeface="Arial"/>
              </a:rPr>
              <a:t> a successive read operation on </a:t>
            </a:r>
            <a:r>
              <a:rPr sz="1000" i="1" spc="-5" dirty="0">
                <a:latin typeface="Arial"/>
                <a:cs typeface="Arial"/>
              </a:rPr>
              <a:t>x</a:t>
            </a:r>
            <a:r>
              <a:rPr sz="1000" i="1" spc="90" dirty="0">
                <a:latin typeface="Arial"/>
                <a:cs typeface="Arial"/>
              </a:rPr>
              <a:t> </a:t>
            </a:r>
            <a:r>
              <a:rPr sz="1000" spc="-15" dirty="0">
                <a:latin typeface="Arial"/>
                <a:cs typeface="Arial"/>
              </a:rPr>
              <a:t>by</a:t>
            </a:r>
            <a:r>
              <a:rPr sz="1000" spc="-5" dirty="0">
                <a:latin typeface="Arial"/>
                <a:cs typeface="Arial"/>
              </a:rPr>
              <a:t> the</a:t>
            </a:r>
            <a:r>
              <a:rPr sz="1000" dirty="0">
                <a:latin typeface="Arial"/>
                <a:cs typeface="Arial"/>
              </a:rPr>
              <a:t> </a:t>
            </a:r>
            <a:r>
              <a:rPr sz="1000" spc="-5" dirty="0">
                <a:latin typeface="Arial"/>
                <a:cs typeface="Arial"/>
              </a:rPr>
              <a:t>same process.</a:t>
            </a:r>
            <a:endParaRPr sz="1000">
              <a:latin typeface="Arial"/>
              <a:cs typeface="Arial"/>
            </a:endParaRPr>
          </a:p>
          <a:p>
            <a:pPr marL="485140" indent="-226695">
              <a:lnSpc>
                <a:spcPts val="1415"/>
              </a:lnSpc>
              <a:spcBef>
                <a:spcPts val="635"/>
              </a:spcBef>
              <a:buAutoNum type="alphaLcParenBoth"/>
              <a:tabLst>
                <a:tab pos="485775" algn="l"/>
              </a:tabLst>
            </a:pPr>
            <a:r>
              <a:rPr sz="1200" spc="-15" dirty="0">
                <a:solidFill>
                  <a:srgbClr val="3333B2"/>
                </a:solidFill>
                <a:latin typeface="Arial"/>
                <a:cs typeface="Arial"/>
              </a:rPr>
              <a:t>A</a:t>
            </a:r>
            <a:r>
              <a:rPr sz="1200" spc="-5" dirty="0">
                <a:solidFill>
                  <a:srgbClr val="3333B2"/>
                </a:solidFill>
                <a:latin typeface="Arial"/>
                <a:cs typeface="Arial"/>
              </a:rPr>
              <a:t> </a:t>
            </a:r>
            <a:r>
              <a:rPr sz="1200" spc="-10" dirty="0">
                <a:solidFill>
                  <a:srgbClr val="3333B2"/>
                </a:solidFill>
                <a:latin typeface="Arial"/>
                <a:cs typeface="Arial"/>
              </a:rPr>
              <a:t>data</a:t>
            </a:r>
            <a:r>
              <a:rPr sz="1200" dirty="0">
                <a:solidFill>
                  <a:srgbClr val="3333B2"/>
                </a:solidFill>
                <a:latin typeface="Arial"/>
                <a:cs typeface="Arial"/>
              </a:rPr>
              <a:t> </a:t>
            </a:r>
            <a:r>
              <a:rPr sz="1200" spc="-10" dirty="0">
                <a:solidFill>
                  <a:srgbClr val="3333B2"/>
                </a:solidFill>
                <a:latin typeface="Arial"/>
                <a:cs typeface="Arial"/>
              </a:rPr>
              <a:t>store</a:t>
            </a:r>
            <a:r>
              <a:rPr sz="1200" spc="-5" dirty="0">
                <a:solidFill>
                  <a:srgbClr val="3333B2"/>
                </a:solidFill>
                <a:latin typeface="Arial"/>
                <a:cs typeface="Arial"/>
              </a:rPr>
              <a:t> </a:t>
            </a:r>
            <a:r>
              <a:rPr sz="1200" spc="-10" dirty="0">
                <a:solidFill>
                  <a:srgbClr val="3333B2"/>
                </a:solidFill>
                <a:latin typeface="Arial"/>
                <a:cs typeface="Arial"/>
              </a:rPr>
              <a:t>that</a:t>
            </a:r>
            <a:r>
              <a:rPr sz="1200" dirty="0">
                <a:solidFill>
                  <a:srgbClr val="3333B2"/>
                </a:solidFill>
                <a:latin typeface="Arial"/>
                <a:cs typeface="Arial"/>
              </a:rPr>
              <a:t> </a:t>
            </a:r>
            <a:r>
              <a:rPr sz="1200" spc="-10" dirty="0">
                <a:solidFill>
                  <a:srgbClr val="3333B2"/>
                </a:solidFill>
                <a:latin typeface="Arial"/>
                <a:cs typeface="Arial"/>
              </a:rPr>
              <a:t>provides</a:t>
            </a:r>
            <a:r>
              <a:rPr sz="1200" dirty="0">
                <a:solidFill>
                  <a:srgbClr val="3333B2"/>
                </a:solidFill>
                <a:latin typeface="Arial"/>
                <a:cs typeface="Arial"/>
              </a:rPr>
              <a:t> </a:t>
            </a:r>
            <a:r>
              <a:rPr sz="1200" spc="-10" dirty="0">
                <a:solidFill>
                  <a:srgbClr val="3333B2"/>
                </a:solidFill>
                <a:latin typeface="Arial"/>
                <a:cs typeface="Arial"/>
              </a:rPr>
              <a:t>read-your-writes</a:t>
            </a:r>
            <a:r>
              <a:rPr sz="1200" spc="-5" dirty="0">
                <a:solidFill>
                  <a:srgbClr val="3333B2"/>
                </a:solidFill>
                <a:latin typeface="Arial"/>
                <a:cs typeface="Arial"/>
              </a:rPr>
              <a:t> </a:t>
            </a:r>
            <a:r>
              <a:rPr sz="1200" spc="-20" dirty="0">
                <a:solidFill>
                  <a:srgbClr val="3333B2"/>
                </a:solidFill>
                <a:latin typeface="Arial"/>
                <a:cs typeface="Arial"/>
              </a:rPr>
              <a:t>consistency.</a:t>
            </a:r>
            <a:endParaRPr sz="1200">
              <a:latin typeface="Arial"/>
              <a:cs typeface="Arial"/>
            </a:endParaRPr>
          </a:p>
          <a:p>
            <a:pPr marL="487045" indent="-228600">
              <a:lnSpc>
                <a:spcPts val="1415"/>
              </a:lnSpc>
              <a:buAutoNum type="alphaLcParenBoth"/>
              <a:tabLst>
                <a:tab pos="487680" algn="l"/>
              </a:tabLst>
            </a:pPr>
            <a:r>
              <a:rPr sz="1200" spc="-5" dirty="0">
                <a:solidFill>
                  <a:srgbClr val="3333B2"/>
                </a:solidFill>
                <a:latin typeface="Arial"/>
                <a:cs typeface="Arial"/>
              </a:rPr>
              <a:t>A</a:t>
            </a:r>
            <a:r>
              <a:rPr sz="1200" spc="-15" dirty="0">
                <a:solidFill>
                  <a:srgbClr val="3333B2"/>
                </a:solidFill>
                <a:latin typeface="Arial"/>
                <a:cs typeface="Arial"/>
              </a:rPr>
              <a:t> </a:t>
            </a:r>
            <a:r>
              <a:rPr sz="1200" spc="-5" dirty="0">
                <a:solidFill>
                  <a:srgbClr val="3333B2"/>
                </a:solidFill>
                <a:latin typeface="Arial"/>
                <a:cs typeface="Arial"/>
              </a:rPr>
              <a:t>data</a:t>
            </a:r>
            <a:r>
              <a:rPr sz="1200" spc="-10" dirty="0">
                <a:solidFill>
                  <a:srgbClr val="3333B2"/>
                </a:solidFill>
                <a:latin typeface="Arial"/>
                <a:cs typeface="Arial"/>
              </a:rPr>
              <a:t> </a:t>
            </a:r>
            <a:r>
              <a:rPr sz="1200" spc="-5" dirty="0">
                <a:solidFill>
                  <a:srgbClr val="3333B2"/>
                </a:solidFill>
                <a:latin typeface="Arial"/>
                <a:cs typeface="Arial"/>
              </a:rPr>
              <a:t>store</a:t>
            </a:r>
            <a:r>
              <a:rPr sz="1200" spc="-10" dirty="0">
                <a:solidFill>
                  <a:srgbClr val="3333B2"/>
                </a:solidFill>
                <a:latin typeface="Arial"/>
                <a:cs typeface="Arial"/>
              </a:rPr>
              <a:t> </a:t>
            </a:r>
            <a:r>
              <a:rPr sz="1200" spc="-5" dirty="0">
                <a:solidFill>
                  <a:srgbClr val="3333B2"/>
                </a:solidFill>
                <a:latin typeface="Arial"/>
                <a:cs typeface="Arial"/>
              </a:rPr>
              <a:t>that</a:t>
            </a:r>
            <a:r>
              <a:rPr sz="1200" spc="-10" dirty="0">
                <a:solidFill>
                  <a:srgbClr val="3333B2"/>
                </a:solidFill>
                <a:latin typeface="Arial"/>
                <a:cs typeface="Arial"/>
              </a:rPr>
              <a:t> </a:t>
            </a:r>
            <a:r>
              <a:rPr sz="1200" spc="-5" dirty="0">
                <a:solidFill>
                  <a:srgbClr val="3333B2"/>
                </a:solidFill>
                <a:latin typeface="Arial"/>
                <a:cs typeface="Arial"/>
              </a:rPr>
              <a:t>does</a:t>
            </a:r>
            <a:r>
              <a:rPr sz="1200" spc="-10" dirty="0">
                <a:solidFill>
                  <a:srgbClr val="3333B2"/>
                </a:solidFill>
                <a:latin typeface="Arial"/>
                <a:cs typeface="Arial"/>
              </a:rPr>
              <a:t> </a:t>
            </a:r>
            <a:r>
              <a:rPr sz="1200" spc="-5" dirty="0">
                <a:solidFill>
                  <a:srgbClr val="3333B2"/>
                </a:solidFill>
                <a:latin typeface="Arial"/>
                <a:cs typeface="Arial"/>
              </a:rPr>
              <a:t>not.</a:t>
            </a:r>
            <a:endParaRPr sz="1200">
              <a:latin typeface="Arial"/>
              <a:cs typeface="Arial"/>
            </a:endParaRPr>
          </a:p>
        </p:txBody>
      </p:sp>
      <p:sp>
        <p:nvSpPr>
          <p:cNvPr id="5" name="object 5"/>
          <p:cNvSpPr txBox="1"/>
          <p:nvPr/>
        </p:nvSpPr>
        <p:spPr>
          <a:xfrm>
            <a:off x="817864" y="1824982"/>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L2:</a:t>
            </a:r>
            <a:endParaRPr sz="650">
              <a:latin typeface="Arial"/>
              <a:cs typeface="Arial"/>
            </a:endParaRPr>
          </a:p>
        </p:txBody>
      </p:sp>
      <p:sp>
        <p:nvSpPr>
          <p:cNvPr id="6" name="object 6"/>
          <p:cNvSpPr txBox="1"/>
          <p:nvPr/>
        </p:nvSpPr>
        <p:spPr>
          <a:xfrm>
            <a:off x="779764" y="1706655"/>
            <a:ext cx="3053080" cy="127000"/>
          </a:xfrm>
          <a:prstGeom prst="rect">
            <a:avLst/>
          </a:prstGeom>
        </p:spPr>
        <p:txBody>
          <a:bodyPr vert="horz" wrap="square" lIns="0" tIns="13970" rIns="0" bIns="0" rtlCol="0">
            <a:spAutoFit/>
          </a:bodyPr>
          <a:lstStyle/>
          <a:p>
            <a:pPr marL="50800">
              <a:lnSpc>
                <a:spcPct val="100000"/>
              </a:lnSpc>
              <a:spcBef>
                <a:spcPts val="110"/>
              </a:spcBef>
              <a:tabLst>
                <a:tab pos="1214120" algn="l"/>
                <a:tab pos="1838325" algn="l"/>
                <a:tab pos="3001645" algn="l"/>
              </a:tabLst>
            </a:pPr>
            <a:r>
              <a:rPr sz="650" u="sng" spc="5" dirty="0">
                <a:solidFill>
                  <a:srgbClr val="231F20"/>
                </a:solidFill>
                <a:uFill>
                  <a:solidFill>
                    <a:srgbClr val="231F20"/>
                  </a:solidFill>
                </a:uFill>
                <a:latin typeface="Arial"/>
                <a:cs typeface="Arial"/>
              </a:rPr>
              <a:t>L1</a:t>
            </a:r>
            <a:r>
              <a:rPr sz="650" u="sng" dirty="0">
                <a:solidFill>
                  <a:srgbClr val="231F20"/>
                </a:solidFill>
                <a:uFill>
                  <a:solidFill>
                    <a:srgbClr val="231F20"/>
                  </a:solidFill>
                </a:uFill>
                <a:latin typeface="Arial"/>
                <a:cs typeface="Arial"/>
              </a:rPr>
              <a:t>:    </a:t>
            </a:r>
            <a:r>
              <a:rPr sz="650" u="sng" spc="30" dirty="0">
                <a:solidFill>
                  <a:srgbClr val="231F20"/>
                </a:solidFill>
                <a:uFill>
                  <a:solidFill>
                    <a:srgbClr val="231F20"/>
                  </a:solidFill>
                </a:uFill>
                <a:latin typeface="Arial"/>
                <a:cs typeface="Arial"/>
              </a:rPr>
              <a:t> </a:t>
            </a:r>
            <a:r>
              <a:rPr sz="650" u="sng" spc="5" dirty="0">
                <a:solidFill>
                  <a:srgbClr val="231F20"/>
                </a:solidFill>
                <a:uFill>
                  <a:solidFill>
                    <a:srgbClr val="231F20"/>
                  </a:solidFill>
                </a:uFill>
                <a:latin typeface="Arial"/>
                <a:cs typeface="Arial"/>
              </a:rPr>
              <a:t>W</a:t>
            </a:r>
            <a:r>
              <a:rPr sz="450" u="sng" spc="22" baseline="-27777" dirty="0">
                <a:solidFill>
                  <a:srgbClr val="231F20"/>
                </a:solidFill>
                <a:uFill>
                  <a:solidFill>
                    <a:srgbClr val="231F20"/>
                  </a:solidFill>
                </a:uFill>
                <a:latin typeface="Arial"/>
                <a:cs typeface="Arial"/>
              </a:rPr>
              <a:t>1</a:t>
            </a:r>
            <a:r>
              <a:rPr sz="650" u="sng" spc="5" dirty="0">
                <a:solidFill>
                  <a:srgbClr val="231F20"/>
                </a:solidFill>
                <a:uFill>
                  <a:solidFill>
                    <a:srgbClr val="231F20"/>
                  </a:solidFill>
                </a:uFill>
                <a:latin typeface="Arial"/>
                <a:cs typeface="Arial"/>
              </a:rPr>
              <a:t>(x</a:t>
            </a:r>
            <a:r>
              <a:rPr sz="450" u="sng" spc="22" baseline="-27777" dirty="0">
                <a:solidFill>
                  <a:srgbClr val="231F20"/>
                </a:solidFill>
                <a:uFill>
                  <a:solidFill>
                    <a:srgbClr val="231F20"/>
                  </a:solidFill>
                </a:uFill>
                <a:latin typeface="Arial"/>
                <a:cs typeface="Arial"/>
              </a:rPr>
              <a:t>1</a:t>
            </a:r>
            <a:r>
              <a:rPr sz="650" u="sng" dirty="0">
                <a:solidFill>
                  <a:srgbClr val="231F20"/>
                </a:solidFill>
                <a:uFill>
                  <a:solidFill>
                    <a:srgbClr val="231F20"/>
                  </a:solidFill>
                </a:uFill>
                <a:latin typeface="Arial"/>
                <a:cs typeface="Arial"/>
              </a:rPr>
              <a:t>)	</a:t>
            </a:r>
            <a:r>
              <a:rPr sz="650" dirty="0">
                <a:solidFill>
                  <a:srgbClr val="231F20"/>
                </a:solidFill>
                <a:latin typeface="Arial"/>
                <a:cs typeface="Arial"/>
              </a:rPr>
              <a:t>	</a:t>
            </a:r>
            <a:r>
              <a:rPr sz="975" u="sng" spc="7" baseline="4273" dirty="0">
                <a:solidFill>
                  <a:srgbClr val="231F20"/>
                </a:solidFill>
                <a:uFill>
                  <a:solidFill>
                    <a:srgbClr val="231F20"/>
                  </a:solidFill>
                </a:uFill>
                <a:latin typeface="Arial"/>
                <a:cs typeface="Arial"/>
              </a:rPr>
              <a:t>L1</a:t>
            </a:r>
            <a:r>
              <a:rPr sz="975" u="sng" baseline="4273" dirty="0">
                <a:solidFill>
                  <a:srgbClr val="231F20"/>
                </a:solidFill>
                <a:uFill>
                  <a:solidFill>
                    <a:srgbClr val="231F20"/>
                  </a:solidFill>
                </a:uFill>
                <a:latin typeface="Arial"/>
                <a:cs typeface="Arial"/>
              </a:rPr>
              <a:t>:    </a:t>
            </a:r>
            <a:r>
              <a:rPr sz="975" u="sng" spc="44" baseline="4273" dirty="0">
                <a:solidFill>
                  <a:srgbClr val="231F20"/>
                </a:solidFill>
                <a:uFill>
                  <a:solidFill>
                    <a:srgbClr val="231F20"/>
                  </a:solidFill>
                </a:uFill>
                <a:latin typeface="Arial"/>
                <a:cs typeface="Arial"/>
              </a:rPr>
              <a:t> </a:t>
            </a:r>
            <a:r>
              <a:rPr sz="975" u="sng" spc="7" baseline="4273" dirty="0">
                <a:solidFill>
                  <a:srgbClr val="231F20"/>
                </a:solidFill>
                <a:uFill>
                  <a:solidFill>
                    <a:srgbClr val="231F20"/>
                  </a:solidFill>
                </a:uFill>
                <a:latin typeface="Arial"/>
                <a:cs typeface="Arial"/>
              </a:rPr>
              <a:t>W</a:t>
            </a:r>
            <a:r>
              <a:rPr sz="450" u="sng" spc="22" baseline="-9259" dirty="0">
                <a:solidFill>
                  <a:srgbClr val="231F20"/>
                </a:solidFill>
                <a:uFill>
                  <a:solidFill>
                    <a:srgbClr val="231F20"/>
                  </a:solidFill>
                </a:uFill>
                <a:latin typeface="Arial"/>
                <a:cs typeface="Arial"/>
              </a:rPr>
              <a:t>1</a:t>
            </a:r>
            <a:r>
              <a:rPr sz="975" u="sng" spc="7" baseline="4273" dirty="0">
                <a:solidFill>
                  <a:srgbClr val="231F20"/>
                </a:solidFill>
                <a:uFill>
                  <a:solidFill>
                    <a:srgbClr val="231F20"/>
                  </a:solidFill>
                </a:uFill>
                <a:latin typeface="Arial"/>
                <a:cs typeface="Arial"/>
              </a:rPr>
              <a:t>(x</a:t>
            </a:r>
            <a:r>
              <a:rPr sz="450" u="sng" spc="22" baseline="-9259" dirty="0">
                <a:solidFill>
                  <a:srgbClr val="231F20"/>
                </a:solidFill>
                <a:uFill>
                  <a:solidFill>
                    <a:srgbClr val="231F20"/>
                  </a:solidFill>
                </a:uFill>
                <a:latin typeface="Arial"/>
                <a:cs typeface="Arial"/>
              </a:rPr>
              <a:t>1</a:t>
            </a:r>
            <a:r>
              <a:rPr sz="975" u="sng" baseline="4273" dirty="0">
                <a:solidFill>
                  <a:srgbClr val="231F20"/>
                </a:solidFill>
                <a:uFill>
                  <a:solidFill>
                    <a:srgbClr val="231F20"/>
                  </a:solidFill>
                </a:uFill>
                <a:latin typeface="Arial"/>
                <a:cs typeface="Arial"/>
              </a:rPr>
              <a:t>)	</a:t>
            </a:r>
            <a:endParaRPr sz="975" baseline="4273">
              <a:latin typeface="Arial"/>
              <a:cs typeface="Arial"/>
            </a:endParaRPr>
          </a:p>
        </p:txBody>
      </p:sp>
      <p:sp>
        <p:nvSpPr>
          <p:cNvPr id="7" name="object 7"/>
          <p:cNvSpPr txBox="1"/>
          <p:nvPr/>
        </p:nvSpPr>
        <p:spPr>
          <a:xfrm>
            <a:off x="1122839" y="1787586"/>
            <a:ext cx="1663700" cy="375285"/>
          </a:xfrm>
          <a:prstGeom prst="rect">
            <a:avLst/>
          </a:prstGeom>
        </p:spPr>
        <p:txBody>
          <a:bodyPr vert="horz" wrap="square" lIns="0" tIns="52705" rIns="0" bIns="0" rtlCol="0">
            <a:spAutoFit/>
          </a:bodyPr>
          <a:lstStyle/>
          <a:p>
            <a:pPr marL="63500">
              <a:lnSpc>
                <a:spcPct val="100000"/>
              </a:lnSpc>
              <a:spcBef>
                <a:spcPts val="415"/>
              </a:spcBef>
              <a:tabLst>
                <a:tab pos="589915" algn="l"/>
                <a:tab pos="1495425" algn="l"/>
              </a:tabLst>
            </a:pPr>
            <a:r>
              <a:rPr sz="650" spc="5" dirty="0">
                <a:solidFill>
                  <a:srgbClr val="231F20"/>
                </a:solidFill>
                <a:latin typeface="Arial"/>
                <a:cs typeface="Arial"/>
              </a:rPr>
              <a:t>W</a:t>
            </a:r>
            <a:r>
              <a:rPr sz="450" spc="22" baseline="-27777" dirty="0">
                <a:solidFill>
                  <a:srgbClr val="231F20"/>
                </a:solidFill>
                <a:latin typeface="Arial"/>
                <a:cs typeface="Arial"/>
              </a:rPr>
              <a:t>2</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650" spc="10" dirty="0">
                <a:solidFill>
                  <a:srgbClr val="231F20"/>
                </a:solidFill>
                <a:latin typeface="Arial"/>
                <a:cs typeface="Arial"/>
              </a:rPr>
              <a:t>R</a:t>
            </a:r>
            <a:r>
              <a:rPr sz="450" spc="22" baseline="-27777" dirty="0">
                <a:solidFill>
                  <a:srgbClr val="231F20"/>
                </a:solidFill>
                <a:latin typeface="Arial"/>
                <a:cs typeface="Arial"/>
              </a:rPr>
              <a:t>1</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975" spc="7" baseline="4273" dirty="0">
                <a:solidFill>
                  <a:srgbClr val="231F20"/>
                </a:solidFill>
                <a:latin typeface="Arial"/>
                <a:cs typeface="Arial"/>
              </a:rPr>
              <a:t>L2:</a:t>
            </a:r>
            <a:endParaRPr sz="975" baseline="4273">
              <a:latin typeface="Arial"/>
              <a:cs typeface="Arial"/>
            </a:endParaRPr>
          </a:p>
          <a:p>
            <a:pPr marL="209550">
              <a:lnSpc>
                <a:spcPct val="100000"/>
              </a:lnSpc>
              <a:spcBef>
                <a:spcPts val="455"/>
              </a:spcBef>
            </a:pPr>
            <a:r>
              <a:rPr sz="1000" spc="-5" dirty="0">
                <a:latin typeface="Arial"/>
                <a:cs typeface="Arial"/>
              </a:rPr>
              <a:t>(a)</a:t>
            </a:r>
            <a:endParaRPr sz="1000">
              <a:latin typeface="Arial"/>
              <a:cs typeface="Arial"/>
            </a:endParaRPr>
          </a:p>
        </p:txBody>
      </p:sp>
      <p:sp>
        <p:nvSpPr>
          <p:cNvPr id="8" name="object 8"/>
          <p:cNvSpPr txBox="1"/>
          <p:nvPr/>
        </p:nvSpPr>
        <p:spPr>
          <a:xfrm>
            <a:off x="2923458" y="1773932"/>
            <a:ext cx="845819" cy="388620"/>
          </a:xfrm>
          <a:prstGeom prst="rect">
            <a:avLst/>
          </a:prstGeom>
        </p:spPr>
        <p:txBody>
          <a:bodyPr vert="horz" wrap="square" lIns="0" tIns="58419" rIns="0" bIns="0" rtlCol="0">
            <a:spAutoFit/>
          </a:bodyPr>
          <a:lstStyle/>
          <a:p>
            <a:pPr marL="50800">
              <a:lnSpc>
                <a:spcPct val="100000"/>
              </a:lnSpc>
              <a:spcBef>
                <a:spcPts val="459"/>
              </a:spcBef>
              <a:tabLst>
                <a:tab pos="588010" algn="l"/>
              </a:tabLst>
            </a:pPr>
            <a:r>
              <a:rPr sz="650" spc="5" dirty="0">
                <a:solidFill>
                  <a:srgbClr val="231F20"/>
                </a:solidFill>
                <a:latin typeface="Arial"/>
                <a:cs typeface="Arial"/>
              </a:rPr>
              <a:t>W</a:t>
            </a:r>
            <a:r>
              <a:rPr sz="450" spc="22" baseline="-27777" dirty="0">
                <a:solidFill>
                  <a:srgbClr val="231F20"/>
                </a:solidFill>
                <a:latin typeface="Arial"/>
                <a:cs typeface="Arial"/>
              </a:rPr>
              <a:t>2</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650" spc="10" dirty="0">
                <a:solidFill>
                  <a:srgbClr val="231F20"/>
                </a:solidFill>
                <a:latin typeface="Arial"/>
                <a:cs typeface="Arial"/>
              </a:rPr>
              <a:t>R</a:t>
            </a:r>
            <a:r>
              <a:rPr sz="450" spc="22" baseline="-27777" dirty="0">
                <a:solidFill>
                  <a:srgbClr val="231F20"/>
                </a:solidFill>
                <a:latin typeface="Arial"/>
                <a:cs typeface="Arial"/>
              </a:rPr>
              <a:t>1</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a:t>
            </a:r>
            <a:endParaRPr sz="650">
              <a:latin typeface="Arial"/>
              <a:cs typeface="Arial"/>
            </a:endParaRPr>
          </a:p>
          <a:p>
            <a:pPr marL="196850">
              <a:lnSpc>
                <a:spcPct val="100000"/>
              </a:lnSpc>
              <a:spcBef>
                <a:spcPts val="520"/>
              </a:spcBef>
            </a:pPr>
            <a:r>
              <a:rPr sz="1000" spc="-5" dirty="0">
                <a:latin typeface="Arial"/>
                <a:cs typeface="Arial"/>
              </a:rPr>
              <a:t>(b)</a:t>
            </a:r>
            <a:endParaRPr sz="1000">
              <a:latin typeface="Arial"/>
              <a:cs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214249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Client-centric</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endParaRPr sz="600">
              <a:latin typeface="Arial"/>
              <a:cs typeface="Arial"/>
            </a:endParaRPr>
          </a:p>
        </p:txBody>
      </p:sp>
      <p:sp>
        <p:nvSpPr>
          <p:cNvPr id="3" name="object 3"/>
          <p:cNvSpPr txBox="1"/>
          <p:nvPr/>
        </p:nvSpPr>
        <p:spPr>
          <a:xfrm>
            <a:off x="3946755" y="716"/>
            <a:ext cx="59499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Read</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your</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writes</a:t>
            </a:r>
            <a:endParaRPr sz="600">
              <a:latin typeface="Arial"/>
              <a:cs typeface="Arial"/>
            </a:endParaRPr>
          </a:p>
        </p:txBody>
      </p:sp>
      <p:sp>
        <p:nvSpPr>
          <p:cNvPr id="4" name="object 4"/>
          <p:cNvSpPr txBox="1"/>
          <p:nvPr/>
        </p:nvSpPr>
        <p:spPr>
          <a:xfrm>
            <a:off x="95300" y="188846"/>
            <a:ext cx="4195445" cy="143192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Read</a:t>
            </a:r>
            <a:r>
              <a:rPr sz="1400" spc="-15" dirty="0">
                <a:solidFill>
                  <a:srgbClr val="3333B2"/>
                </a:solidFill>
                <a:latin typeface="Arial"/>
                <a:cs typeface="Arial"/>
              </a:rPr>
              <a:t> </a:t>
            </a:r>
            <a:r>
              <a:rPr sz="1400" spc="5" dirty="0">
                <a:solidFill>
                  <a:srgbClr val="3333B2"/>
                </a:solidFill>
                <a:latin typeface="Arial"/>
                <a:cs typeface="Arial"/>
              </a:rPr>
              <a:t>your</a:t>
            </a:r>
            <a:r>
              <a:rPr sz="1400" spc="-15" dirty="0">
                <a:solidFill>
                  <a:srgbClr val="3333B2"/>
                </a:solidFill>
                <a:latin typeface="Arial"/>
                <a:cs typeface="Arial"/>
              </a:rPr>
              <a:t> </a:t>
            </a:r>
            <a:r>
              <a:rPr sz="1400" spc="15" dirty="0">
                <a:solidFill>
                  <a:srgbClr val="3333B2"/>
                </a:solidFill>
                <a:latin typeface="Arial"/>
                <a:cs typeface="Arial"/>
              </a:rPr>
              <a:t>writes</a:t>
            </a:r>
            <a:endParaRPr sz="1400">
              <a:latin typeface="Arial"/>
              <a:cs typeface="Arial"/>
            </a:endParaRPr>
          </a:p>
          <a:p>
            <a:pPr>
              <a:lnSpc>
                <a:spcPct val="100000"/>
              </a:lnSpc>
              <a:spcBef>
                <a:spcPts val="45"/>
              </a:spcBef>
            </a:pPr>
            <a:endParaRPr sz="1750">
              <a:latin typeface="Arial"/>
              <a:cs typeface="Arial"/>
            </a:endParaRPr>
          </a:p>
          <a:p>
            <a:pPr marL="264160">
              <a:lnSpc>
                <a:spcPts val="1410"/>
              </a:lnSpc>
            </a:pPr>
            <a:r>
              <a:rPr sz="1200" spc="-5" dirty="0">
                <a:solidFill>
                  <a:srgbClr val="3333B2"/>
                </a:solidFill>
                <a:latin typeface="Arial"/>
                <a:cs typeface="Arial"/>
              </a:rPr>
              <a:t>Definition</a:t>
            </a:r>
            <a:endParaRPr sz="1200">
              <a:latin typeface="Arial"/>
              <a:cs typeface="Arial"/>
            </a:endParaRPr>
          </a:p>
          <a:p>
            <a:pPr marL="264160" marR="35560" indent="-4445">
              <a:lnSpc>
                <a:spcPts val="1200"/>
              </a:lnSpc>
              <a:spcBef>
                <a:spcPts val="15"/>
              </a:spcBef>
            </a:pPr>
            <a:r>
              <a:rPr sz="1000" spc="-10" dirty="0">
                <a:latin typeface="Arial"/>
                <a:cs typeface="Arial"/>
              </a:rPr>
              <a:t>The </a:t>
            </a:r>
            <a:r>
              <a:rPr sz="1000" spc="-15" dirty="0">
                <a:latin typeface="Arial"/>
                <a:cs typeface="Arial"/>
              </a:rPr>
              <a:t>effect </a:t>
            </a:r>
            <a:r>
              <a:rPr sz="1000" spc="-10" dirty="0">
                <a:latin typeface="Arial"/>
                <a:cs typeface="Arial"/>
              </a:rPr>
              <a:t>of a </a:t>
            </a:r>
            <a:r>
              <a:rPr sz="1000" spc="-5" dirty="0">
                <a:latin typeface="Arial"/>
                <a:cs typeface="Arial"/>
              </a:rPr>
              <a:t>write </a:t>
            </a:r>
            <a:r>
              <a:rPr sz="1000" spc="-10" dirty="0">
                <a:latin typeface="Arial"/>
                <a:cs typeface="Arial"/>
              </a:rPr>
              <a:t>operation </a:t>
            </a:r>
            <a:r>
              <a:rPr sz="1000" spc="-20" dirty="0">
                <a:latin typeface="Arial"/>
                <a:cs typeface="Arial"/>
              </a:rPr>
              <a:t>by </a:t>
            </a:r>
            <a:r>
              <a:rPr sz="1000" spc="-10" dirty="0">
                <a:latin typeface="Arial"/>
                <a:cs typeface="Arial"/>
              </a:rPr>
              <a:t>a process on data item </a:t>
            </a:r>
            <a:r>
              <a:rPr sz="1000" i="1" spc="-5" dirty="0">
                <a:latin typeface="Arial"/>
                <a:cs typeface="Arial"/>
              </a:rPr>
              <a:t>x </a:t>
            </a:r>
            <a:r>
              <a:rPr sz="1000" spc="-5" dirty="0">
                <a:latin typeface="Arial"/>
                <a:cs typeface="Arial"/>
              </a:rPr>
              <a:t>, will </a:t>
            </a:r>
            <a:r>
              <a:rPr sz="1000" spc="-20" dirty="0">
                <a:latin typeface="Arial"/>
                <a:cs typeface="Arial"/>
              </a:rPr>
              <a:t>always </a:t>
            </a:r>
            <a:r>
              <a:rPr sz="1000" spc="-265" dirty="0">
                <a:latin typeface="Arial"/>
                <a:cs typeface="Arial"/>
              </a:rPr>
              <a:t> </a:t>
            </a:r>
            <a:r>
              <a:rPr sz="1000" spc="-5" dirty="0">
                <a:latin typeface="Arial"/>
                <a:cs typeface="Arial"/>
              </a:rPr>
              <a:t>be seen </a:t>
            </a:r>
            <a:r>
              <a:rPr sz="1000" spc="-15" dirty="0">
                <a:latin typeface="Arial"/>
                <a:cs typeface="Arial"/>
              </a:rPr>
              <a:t>by</a:t>
            </a:r>
            <a:r>
              <a:rPr sz="1000" spc="-5" dirty="0">
                <a:latin typeface="Arial"/>
                <a:cs typeface="Arial"/>
              </a:rPr>
              <a:t> a successive read operation on </a:t>
            </a:r>
            <a:r>
              <a:rPr sz="1000" i="1" spc="-5" dirty="0">
                <a:latin typeface="Arial"/>
                <a:cs typeface="Arial"/>
              </a:rPr>
              <a:t>x</a:t>
            </a:r>
            <a:r>
              <a:rPr sz="1000" i="1" spc="90" dirty="0">
                <a:latin typeface="Arial"/>
                <a:cs typeface="Arial"/>
              </a:rPr>
              <a:t> </a:t>
            </a:r>
            <a:r>
              <a:rPr sz="1000" spc="-15" dirty="0">
                <a:latin typeface="Arial"/>
                <a:cs typeface="Arial"/>
              </a:rPr>
              <a:t>by</a:t>
            </a:r>
            <a:r>
              <a:rPr sz="1000" spc="-5" dirty="0">
                <a:latin typeface="Arial"/>
                <a:cs typeface="Arial"/>
              </a:rPr>
              <a:t> the</a:t>
            </a:r>
            <a:r>
              <a:rPr sz="1000" dirty="0">
                <a:latin typeface="Arial"/>
                <a:cs typeface="Arial"/>
              </a:rPr>
              <a:t> </a:t>
            </a:r>
            <a:r>
              <a:rPr sz="1000" spc="-5" dirty="0">
                <a:latin typeface="Arial"/>
                <a:cs typeface="Arial"/>
              </a:rPr>
              <a:t>same process.</a:t>
            </a:r>
            <a:endParaRPr sz="1000">
              <a:latin typeface="Arial"/>
              <a:cs typeface="Arial"/>
            </a:endParaRPr>
          </a:p>
          <a:p>
            <a:pPr marL="485140" indent="-226695">
              <a:lnSpc>
                <a:spcPts val="1415"/>
              </a:lnSpc>
              <a:spcBef>
                <a:spcPts val="635"/>
              </a:spcBef>
              <a:buAutoNum type="alphaLcParenBoth"/>
              <a:tabLst>
                <a:tab pos="485775" algn="l"/>
              </a:tabLst>
            </a:pPr>
            <a:r>
              <a:rPr sz="1200" spc="-15" dirty="0">
                <a:solidFill>
                  <a:srgbClr val="3333B2"/>
                </a:solidFill>
                <a:latin typeface="Arial"/>
                <a:cs typeface="Arial"/>
              </a:rPr>
              <a:t>A</a:t>
            </a:r>
            <a:r>
              <a:rPr sz="1200" spc="-5" dirty="0">
                <a:solidFill>
                  <a:srgbClr val="3333B2"/>
                </a:solidFill>
                <a:latin typeface="Arial"/>
                <a:cs typeface="Arial"/>
              </a:rPr>
              <a:t> </a:t>
            </a:r>
            <a:r>
              <a:rPr sz="1200" spc="-10" dirty="0">
                <a:solidFill>
                  <a:srgbClr val="3333B2"/>
                </a:solidFill>
                <a:latin typeface="Arial"/>
                <a:cs typeface="Arial"/>
              </a:rPr>
              <a:t>data</a:t>
            </a:r>
            <a:r>
              <a:rPr sz="1200" dirty="0">
                <a:solidFill>
                  <a:srgbClr val="3333B2"/>
                </a:solidFill>
                <a:latin typeface="Arial"/>
                <a:cs typeface="Arial"/>
              </a:rPr>
              <a:t> </a:t>
            </a:r>
            <a:r>
              <a:rPr sz="1200" spc="-10" dirty="0">
                <a:solidFill>
                  <a:srgbClr val="3333B2"/>
                </a:solidFill>
                <a:latin typeface="Arial"/>
                <a:cs typeface="Arial"/>
              </a:rPr>
              <a:t>store</a:t>
            </a:r>
            <a:r>
              <a:rPr sz="1200" spc="-5" dirty="0">
                <a:solidFill>
                  <a:srgbClr val="3333B2"/>
                </a:solidFill>
                <a:latin typeface="Arial"/>
                <a:cs typeface="Arial"/>
              </a:rPr>
              <a:t> </a:t>
            </a:r>
            <a:r>
              <a:rPr sz="1200" spc="-10" dirty="0">
                <a:solidFill>
                  <a:srgbClr val="3333B2"/>
                </a:solidFill>
                <a:latin typeface="Arial"/>
                <a:cs typeface="Arial"/>
              </a:rPr>
              <a:t>that</a:t>
            </a:r>
            <a:r>
              <a:rPr sz="1200" dirty="0">
                <a:solidFill>
                  <a:srgbClr val="3333B2"/>
                </a:solidFill>
                <a:latin typeface="Arial"/>
                <a:cs typeface="Arial"/>
              </a:rPr>
              <a:t> </a:t>
            </a:r>
            <a:r>
              <a:rPr sz="1200" spc="-10" dirty="0">
                <a:solidFill>
                  <a:srgbClr val="3333B2"/>
                </a:solidFill>
                <a:latin typeface="Arial"/>
                <a:cs typeface="Arial"/>
              </a:rPr>
              <a:t>provides</a:t>
            </a:r>
            <a:r>
              <a:rPr sz="1200" dirty="0">
                <a:solidFill>
                  <a:srgbClr val="3333B2"/>
                </a:solidFill>
                <a:latin typeface="Arial"/>
                <a:cs typeface="Arial"/>
              </a:rPr>
              <a:t> </a:t>
            </a:r>
            <a:r>
              <a:rPr sz="1200" spc="-10" dirty="0">
                <a:solidFill>
                  <a:srgbClr val="3333B2"/>
                </a:solidFill>
                <a:latin typeface="Arial"/>
                <a:cs typeface="Arial"/>
              </a:rPr>
              <a:t>read-your-writes</a:t>
            </a:r>
            <a:r>
              <a:rPr sz="1200" spc="-5" dirty="0">
                <a:solidFill>
                  <a:srgbClr val="3333B2"/>
                </a:solidFill>
                <a:latin typeface="Arial"/>
                <a:cs typeface="Arial"/>
              </a:rPr>
              <a:t> </a:t>
            </a:r>
            <a:r>
              <a:rPr sz="1200" spc="-20" dirty="0">
                <a:solidFill>
                  <a:srgbClr val="3333B2"/>
                </a:solidFill>
                <a:latin typeface="Arial"/>
                <a:cs typeface="Arial"/>
              </a:rPr>
              <a:t>consistency.</a:t>
            </a:r>
            <a:endParaRPr sz="1200">
              <a:latin typeface="Arial"/>
              <a:cs typeface="Arial"/>
            </a:endParaRPr>
          </a:p>
          <a:p>
            <a:pPr marL="487045" indent="-228600">
              <a:lnSpc>
                <a:spcPts val="1415"/>
              </a:lnSpc>
              <a:buAutoNum type="alphaLcParenBoth"/>
              <a:tabLst>
                <a:tab pos="487680" algn="l"/>
              </a:tabLst>
            </a:pPr>
            <a:r>
              <a:rPr sz="1200" spc="-5" dirty="0">
                <a:solidFill>
                  <a:srgbClr val="3333B2"/>
                </a:solidFill>
                <a:latin typeface="Arial"/>
                <a:cs typeface="Arial"/>
              </a:rPr>
              <a:t>A</a:t>
            </a:r>
            <a:r>
              <a:rPr sz="1200" spc="-15" dirty="0">
                <a:solidFill>
                  <a:srgbClr val="3333B2"/>
                </a:solidFill>
                <a:latin typeface="Arial"/>
                <a:cs typeface="Arial"/>
              </a:rPr>
              <a:t> </a:t>
            </a:r>
            <a:r>
              <a:rPr sz="1200" spc="-5" dirty="0">
                <a:solidFill>
                  <a:srgbClr val="3333B2"/>
                </a:solidFill>
                <a:latin typeface="Arial"/>
                <a:cs typeface="Arial"/>
              </a:rPr>
              <a:t>data</a:t>
            </a:r>
            <a:r>
              <a:rPr sz="1200" spc="-10" dirty="0">
                <a:solidFill>
                  <a:srgbClr val="3333B2"/>
                </a:solidFill>
                <a:latin typeface="Arial"/>
                <a:cs typeface="Arial"/>
              </a:rPr>
              <a:t> </a:t>
            </a:r>
            <a:r>
              <a:rPr sz="1200" spc="-5" dirty="0">
                <a:solidFill>
                  <a:srgbClr val="3333B2"/>
                </a:solidFill>
                <a:latin typeface="Arial"/>
                <a:cs typeface="Arial"/>
              </a:rPr>
              <a:t>store</a:t>
            </a:r>
            <a:r>
              <a:rPr sz="1200" spc="-10" dirty="0">
                <a:solidFill>
                  <a:srgbClr val="3333B2"/>
                </a:solidFill>
                <a:latin typeface="Arial"/>
                <a:cs typeface="Arial"/>
              </a:rPr>
              <a:t> </a:t>
            </a:r>
            <a:r>
              <a:rPr sz="1200" spc="-5" dirty="0">
                <a:solidFill>
                  <a:srgbClr val="3333B2"/>
                </a:solidFill>
                <a:latin typeface="Arial"/>
                <a:cs typeface="Arial"/>
              </a:rPr>
              <a:t>that</a:t>
            </a:r>
            <a:r>
              <a:rPr sz="1200" spc="-10" dirty="0">
                <a:solidFill>
                  <a:srgbClr val="3333B2"/>
                </a:solidFill>
                <a:latin typeface="Arial"/>
                <a:cs typeface="Arial"/>
              </a:rPr>
              <a:t> </a:t>
            </a:r>
            <a:r>
              <a:rPr sz="1200" spc="-5" dirty="0">
                <a:solidFill>
                  <a:srgbClr val="3333B2"/>
                </a:solidFill>
                <a:latin typeface="Arial"/>
                <a:cs typeface="Arial"/>
              </a:rPr>
              <a:t>does</a:t>
            </a:r>
            <a:r>
              <a:rPr sz="1200" spc="-10" dirty="0">
                <a:solidFill>
                  <a:srgbClr val="3333B2"/>
                </a:solidFill>
                <a:latin typeface="Arial"/>
                <a:cs typeface="Arial"/>
              </a:rPr>
              <a:t> </a:t>
            </a:r>
            <a:r>
              <a:rPr sz="1200" spc="-5" dirty="0">
                <a:solidFill>
                  <a:srgbClr val="3333B2"/>
                </a:solidFill>
                <a:latin typeface="Arial"/>
                <a:cs typeface="Arial"/>
              </a:rPr>
              <a:t>not.</a:t>
            </a:r>
            <a:endParaRPr sz="1200">
              <a:latin typeface="Arial"/>
              <a:cs typeface="Arial"/>
            </a:endParaRPr>
          </a:p>
        </p:txBody>
      </p:sp>
      <p:sp>
        <p:nvSpPr>
          <p:cNvPr id="5" name="object 5"/>
          <p:cNvSpPr txBox="1"/>
          <p:nvPr/>
        </p:nvSpPr>
        <p:spPr>
          <a:xfrm>
            <a:off x="817864" y="1824982"/>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L2:</a:t>
            </a:r>
            <a:endParaRPr sz="650">
              <a:latin typeface="Arial"/>
              <a:cs typeface="Arial"/>
            </a:endParaRPr>
          </a:p>
        </p:txBody>
      </p:sp>
      <p:sp>
        <p:nvSpPr>
          <p:cNvPr id="6" name="object 6"/>
          <p:cNvSpPr txBox="1"/>
          <p:nvPr/>
        </p:nvSpPr>
        <p:spPr>
          <a:xfrm>
            <a:off x="779764" y="1706655"/>
            <a:ext cx="3053080" cy="127000"/>
          </a:xfrm>
          <a:prstGeom prst="rect">
            <a:avLst/>
          </a:prstGeom>
        </p:spPr>
        <p:txBody>
          <a:bodyPr vert="horz" wrap="square" lIns="0" tIns="13970" rIns="0" bIns="0" rtlCol="0">
            <a:spAutoFit/>
          </a:bodyPr>
          <a:lstStyle/>
          <a:p>
            <a:pPr marL="50800">
              <a:lnSpc>
                <a:spcPct val="100000"/>
              </a:lnSpc>
              <a:spcBef>
                <a:spcPts val="110"/>
              </a:spcBef>
              <a:tabLst>
                <a:tab pos="1214120" algn="l"/>
                <a:tab pos="1838325" algn="l"/>
                <a:tab pos="3001645" algn="l"/>
              </a:tabLst>
            </a:pPr>
            <a:r>
              <a:rPr sz="650" u="sng" spc="5" dirty="0">
                <a:solidFill>
                  <a:srgbClr val="231F20"/>
                </a:solidFill>
                <a:uFill>
                  <a:solidFill>
                    <a:srgbClr val="231F20"/>
                  </a:solidFill>
                </a:uFill>
                <a:latin typeface="Arial"/>
                <a:cs typeface="Arial"/>
              </a:rPr>
              <a:t>L1</a:t>
            </a:r>
            <a:r>
              <a:rPr sz="650" u="sng" dirty="0">
                <a:solidFill>
                  <a:srgbClr val="231F20"/>
                </a:solidFill>
                <a:uFill>
                  <a:solidFill>
                    <a:srgbClr val="231F20"/>
                  </a:solidFill>
                </a:uFill>
                <a:latin typeface="Arial"/>
                <a:cs typeface="Arial"/>
              </a:rPr>
              <a:t>:    </a:t>
            </a:r>
            <a:r>
              <a:rPr sz="650" u="sng" spc="30" dirty="0">
                <a:solidFill>
                  <a:srgbClr val="231F20"/>
                </a:solidFill>
                <a:uFill>
                  <a:solidFill>
                    <a:srgbClr val="231F20"/>
                  </a:solidFill>
                </a:uFill>
                <a:latin typeface="Arial"/>
                <a:cs typeface="Arial"/>
              </a:rPr>
              <a:t> </a:t>
            </a:r>
            <a:r>
              <a:rPr sz="650" u="sng" spc="5" dirty="0">
                <a:solidFill>
                  <a:srgbClr val="231F20"/>
                </a:solidFill>
                <a:uFill>
                  <a:solidFill>
                    <a:srgbClr val="231F20"/>
                  </a:solidFill>
                </a:uFill>
                <a:latin typeface="Arial"/>
                <a:cs typeface="Arial"/>
              </a:rPr>
              <a:t>W</a:t>
            </a:r>
            <a:r>
              <a:rPr sz="450" u="sng" spc="22" baseline="-27777" dirty="0">
                <a:solidFill>
                  <a:srgbClr val="231F20"/>
                </a:solidFill>
                <a:uFill>
                  <a:solidFill>
                    <a:srgbClr val="231F20"/>
                  </a:solidFill>
                </a:uFill>
                <a:latin typeface="Arial"/>
                <a:cs typeface="Arial"/>
              </a:rPr>
              <a:t>1</a:t>
            </a:r>
            <a:r>
              <a:rPr sz="650" u="sng" spc="5" dirty="0">
                <a:solidFill>
                  <a:srgbClr val="231F20"/>
                </a:solidFill>
                <a:uFill>
                  <a:solidFill>
                    <a:srgbClr val="231F20"/>
                  </a:solidFill>
                </a:uFill>
                <a:latin typeface="Arial"/>
                <a:cs typeface="Arial"/>
              </a:rPr>
              <a:t>(x</a:t>
            </a:r>
            <a:r>
              <a:rPr sz="450" u="sng" spc="22" baseline="-27777" dirty="0">
                <a:solidFill>
                  <a:srgbClr val="231F20"/>
                </a:solidFill>
                <a:uFill>
                  <a:solidFill>
                    <a:srgbClr val="231F20"/>
                  </a:solidFill>
                </a:uFill>
                <a:latin typeface="Arial"/>
                <a:cs typeface="Arial"/>
              </a:rPr>
              <a:t>1</a:t>
            </a:r>
            <a:r>
              <a:rPr sz="650" u="sng" dirty="0">
                <a:solidFill>
                  <a:srgbClr val="231F20"/>
                </a:solidFill>
                <a:uFill>
                  <a:solidFill>
                    <a:srgbClr val="231F20"/>
                  </a:solidFill>
                </a:uFill>
                <a:latin typeface="Arial"/>
                <a:cs typeface="Arial"/>
              </a:rPr>
              <a:t>)	</a:t>
            </a:r>
            <a:r>
              <a:rPr sz="650" dirty="0">
                <a:solidFill>
                  <a:srgbClr val="231F20"/>
                </a:solidFill>
                <a:latin typeface="Arial"/>
                <a:cs typeface="Arial"/>
              </a:rPr>
              <a:t>	</a:t>
            </a:r>
            <a:r>
              <a:rPr sz="975" u="sng" spc="7" baseline="4273" dirty="0">
                <a:solidFill>
                  <a:srgbClr val="231F20"/>
                </a:solidFill>
                <a:uFill>
                  <a:solidFill>
                    <a:srgbClr val="231F20"/>
                  </a:solidFill>
                </a:uFill>
                <a:latin typeface="Arial"/>
                <a:cs typeface="Arial"/>
              </a:rPr>
              <a:t>L1</a:t>
            </a:r>
            <a:r>
              <a:rPr sz="975" u="sng" baseline="4273" dirty="0">
                <a:solidFill>
                  <a:srgbClr val="231F20"/>
                </a:solidFill>
                <a:uFill>
                  <a:solidFill>
                    <a:srgbClr val="231F20"/>
                  </a:solidFill>
                </a:uFill>
                <a:latin typeface="Arial"/>
                <a:cs typeface="Arial"/>
              </a:rPr>
              <a:t>:    </a:t>
            </a:r>
            <a:r>
              <a:rPr sz="975" u="sng" spc="44" baseline="4273" dirty="0">
                <a:solidFill>
                  <a:srgbClr val="231F20"/>
                </a:solidFill>
                <a:uFill>
                  <a:solidFill>
                    <a:srgbClr val="231F20"/>
                  </a:solidFill>
                </a:uFill>
                <a:latin typeface="Arial"/>
                <a:cs typeface="Arial"/>
              </a:rPr>
              <a:t> </a:t>
            </a:r>
            <a:r>
              <a:rPr sz="975" u="sng" spc="7" baseline="4273" dirty="0">
                <a:solidFill>
                  <a:srgbClr val="231F20"/>
                </a:solidFill>
                <a:uFill>
                  <a:solidFill>
                    <a:srgbClr val="231F20"/>
                  </a:solidFill>
                </a:uFill>
                <a:latin typeface="Arial"/>
                <a:cs typeface="Arial"/>
              </a:rPr>
              <a:t>W</a:t>
            </a:r>
            <a:r>
              <a:rPr sz="450" u="sng" spc="22" baseline="-9259" dirty="0">
                <a:solidFill>
                  <a:srgbClr val="231F20"/>
                </a:solidFill>
                <a:uFill>
                  <a:solidFill>
                    <a:srgbClr val="231F20"/>
                  </a:solidFill>
                </a:uFill>
                <a:latin typeface="Arial"/>
                <a:cs typeface="Arial"/>
              </a:rPr>
              <a:t>1</a:t>
            </a:r>
            <a:r>
              <a:rPr sz="975" u="sng" spc="7" baseline="4273" dirty="0">
                <a:solidFill>
                  <a:srgbClr val="231F20"/>
                </a:solidFill>
                <a:uFill>
                  <a:solidFill>
                    <a:srgbClr val="231F20"/>
                  </a:solidFill>
                </a:uFill>
                <a:latin typeface="Arial"/>
                <a:cs typeface="Arial"/>
              </a:rPr>
              <a:t>(x</a:t>
            </a:r>
            <a:r>
              <a:rPr sz="450" u="sng" spc="22" baseline="-9259" dirty="0">
                <a:solidFill>
                  <a:srgbClr val="231F20"/>
                </a:solidFill>
                <a:uFill>
                  <a:solidFill>
                    <a:srgbClr val="231F20"/>
                  </a:solidFill>
                </a:uFill>
                <a:latin typeface="Arial"/>
                <a:cs typeface="Arial"/>
              </a:rPr>
              <a:t>1</a:t>
            </a:r>
            <a:r>
              <a:rPr sz="975" u="sng" baseline="4273" dirty="0">
                <a:solidFill>
                  <a:srgbClr val="231F20"/>
                </a:solidFill>
                <a:uFill>
                  <a:solidFill>
                    <a:srgbClr val="231F20"/>
                  </a:solidFill>
                </a:uFill>
                <a:latin typeface="Arial"/>
                <a:cs typeface="Arial"/>
              </a:rPr>
              <a:t>)	</a:t>
            </a:r>
            <a:endParaRPr sz="975" baseline="4273">
              <a:latin typeface="Arial"/>
              <a:cs typeface="Arial"/>
            </a:endParaRPr>
          </a:p>
        </p:txBody>
      </p:sp>
      <p:sp>
        <p:nvSpPr>
          <p:cNvPr id="7" name="object 7"/>
          <p:cNvSpPr txBox="1"/>
          <p:nvPr/>
        </p:nvSpPr>
        <p:spPr>
          <a:xfrm>
            <a:off x="1122839" y="1787586"/>
            <a:ext cx="1663700" cy="375285"/>
          </a:xfrm>
          <a:prstGeom prst="rect">
            <a:avLst/>
          </a:prstGeom>
        </p:spPr>
        <p:txBody>
          <a:bodyPr vert="horz" wrap="square" lIns="0" tIns="52705" rIns="0" bIns="0" rtlCol="0">
            <a:spAutoFit/>
          </a:bodyPr>
          <a:lstStyle/>
          <a:p>
            <a:pPr marL="63500">
              <a:lnSpc>
                <a:spcPct val="100000"/>
              </a:lnSpc>
              <a:spcBef>
                <a:spcPts val="415"/>
              </a:spcBef>
              <a:tabLst>
                <a:tab pos="589915" algn="l"/>
                <a:tab pos="1495425" algn="l"/>
              </a:tabLst>
            </a:pPr>
            <a:r>
              <a:rPr sz="650" spc="5" dirty="0">
                <a:solidFill>
                  <a:srgbClr val="231F20"/>
                </a:solidFill>
                <a:latin typeface="Arial"/>
                <a:cs typeface="Arial"/>
              </a:rPr>
              <a:t>W</a:t>
            </a:r>
            <a:r>
              <a:rPr sz="450" spc="22" baseline="-27777" dirty="0">
                <a:solidFill>
                  <a:srgbClr val="231F20"/>
                </a:solidFill>
                <a:latin typeface="Arial"/>
                <a:cs typeface="Arial"/>
              </a:rPr>
              <a:t>2</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650" spc="10" dirty="0">
                <a:solidFill>
                  <a:srgbClr val="231F20"/>
                </a:solidFill>
                <a:latin typeface="Arial"/>
                <a:cs typeface="Arial"/>
              </a:rPr>
              <a:t>R</a:t>
            </a:r>
            <a:r>
              <a:rPr sz="450" spc="22" baseline="-27777" dirty="0">
                <a:solidFill>
                  <a:srgbClr val="231F20"/>
                </a:solidFill>
                <a:latin typeface="Arial"/>
                <a:cs typeface="Arial"/>
              </a:rPr>
              <a:t>1</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975" spc="7" baseline="4273" dirty="0">
                <a:solidFill>
                  <a:srgbClr val="231F20"/>
                </a:solidFill>
                <a:latin typeface="Arial"/>
                <a:cs typeface="Arial"/>
              </a:rPr>
              <a:t>L2:</a:t>
            </a:r>
            <a:endParaRPr sz="975" baseline="4273">
              <a:latin typeface="Arial"/>
              <a:cs typeface="Arial"/>
            </a:endParaRPr>
          </a:p>
          <a:p>
            <a:pPr marL="209550">
              <a:lnSpc>
                <a:spcPct val="100000"/>
              </a:lnSpc>
              <a:spcBef>
                <a:spcPts val="455"/>
              </a:spcBef>
            </a:pPr>
            <a:r>
              <a:rPr sz="1000" spc="-5" dirty="0">
                <a:latin typeface="Arial"/>
                <a:cs typeface="Arial"/>
              </a:rPr>
              <a:t>(a)</a:t>
            </a:r>
            <a:endParaRPr sz="1000">
              <a:latin typeface="Arial"/>
              <a:cs typeface="Arial"/>
            </a:endParaRPr>
          </a:p>
        </p:txBody>
      </p:sp>
      <p:sp>
        <p:nvSpPr>
          <p:cNvPr id="8" name="object 8"/>
          <p:cNvSpPr txBox="1"/>
          <p:nvPr/>
        </p:nvSpPr>
        <p:spPr>
          <a:xfrm>
            <a:off x="2923458" y="1773932"/>
            <a:ext cx="845819" cy="388620"/>
          </a:xfrm>
          <a:prstGeom prst="rect">
            <a:avLst/>
          </a:prstGeom>
        </p:spPr>
        <p:txBody>
          <a:bodyPr vert="horz" wrap="square" lIns="0" tIns="58419" rIns="0" bIns="0" rtlCol="0">
            <a:spAutoFit/>
          </a:bodyPr>
          <a:lstStyle/>
          <a:p>
            <a:pPr marL="50800">
              <a:lnSpc>
                <a:spcPct val="100000"/>
              </a:lnSpc>
              <a:spcBef>
                <a:spcPts val="459"/>
              </a:spcBef>
              <a:tabLst>
                <a:tab pos="588010" algn="l"/>
              </a:tabLst>
            </a:pPr>
            <a:r>
              <a:rPr sz="650" spc="5" dirty="0">
                <a:solidFill>
                  <a:srgbClr val="231F20"/>
                </a:solidFill>
                <a:latin typeface="Arial"/>
                <a:cs typeface="Arial"/>
              </a:rPr>
              <a:t>W</a:t>
            </a:r>
            <a:r>
              <a:rPr sz="450" spc="22" baseline="-27777" dirty="0">
                <a:solidFill>
                  <a:srgbClr val="231F20"/>
                </a:solidFill>
                <a:latin typeface="Arial"/>
                <a:cs typeface="Arial"/>
              </a:rPr>
              <a:t>2</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650" spc="10" dirty="0">
                <a:solidFill>
                  <a:srgbClr val="231F20"/>
                </a:solidFill>
                <a:latin typeface="Arial"/>
                <a:cs typeface="Arial"/>
              </a:rPr>
              <a:t>R</a:t>
            </a:r>
            <a:r>
              <a:rPr sz="450" spc="22" baseline="-27777" dirty="0">
                <a:solidFill>
                  <a:srgbClr val="231F20"/>
                </a:solidFill>
                <a:latin typeface="Arial"/>
                <a:cs typeface="Arial"/>
              </a:rPr>
              <a:t>1</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a:t>
            </a:r>
            <a:endParaRPr sz="650">
              <a:latin typeface="Arial"/>
              <a:cs typeface="Arial"/>
            </a:endParaRPr>
          </a:p>
          <a:p>
            <a:pPr marL="196850">
              <a:lnSpc>
                <a:spcPct val="100000"/>
              </a:lnSpc>
              <a:spcBef>
                <a:spcPts val="520"/>
              </a:spcBef>
            </a:pPr>
            <a:r>
              <a:rPr sz="1000" spc="-5" dirty="0">
                <a:latin typeface="Arial"/>
                <a:cs typeface="Arial"/>
              </a:rPr>
              <a:t>(b)</a:t>
            </a:r>
            <a:endParaRPr sz="1000">
              <a:latin typeface="Arial"/>
              <a:cs typeface="Arial"/>
            </a:endParaRPr>
          </a:p>
        </p:txBody>
      </p:sp>
      <p:sp>
        <p:nvSpPr>
          <p:cNvPr id="9" name="object 9"/>
          <p:cNvSpPr txBox="1"/>
          <p:nvPr/>
        </p:nvSpPr>
        <p:spPr>
          <a:xfrm>
            <a:off x="347294" y="2366946"/>
            <a:ext cx="3736975" cy="561340"/>
          </a:xfrm>
          <a:prstGeom prst="rect">
            <a:avLst/>
          </a:prstGeom>
        </p:spPr>
        <p:txBody>
          <a:bodyPr vert="horz" wrap="square" lIns="0" tIns="39370" rIns="0" bIns="0" rtlCol="0">
            <a:spAutoFit/>
          </a:bodyPr>
          <a:lstStyle/>
          <a:p>
            <a:pPr marL="12700">
              <a:lnSpc>
                <a:spcPct val="100000"/>
              </a:lnSpc>
              <a:spcBef>
                <a:spcPts val="310"/>
              </a:spcBef>
            </a:pPr>
            <a:r>
              <a:rPr sz="1200" spc="-5" dirty="0">
                <a:solidFill>
                  <a:srgbClr val="007C00"/>
                </a:solidFill>
                <a:latin typeface="Arial"/>
                <a:cs typeface="Arial"/>
              </a:rPr>
              <a:t>Example</a:t>
            </a:r>
            <a:endParaRPr sz="1200">
              <a:latin typeface="Arial"/>
              <a:cs typeface="Arial"/>
            </a:endParaRPr>
          </a:p>
          <a:p>
            <a:pPr marL="12700" marR="5080">
              <a:lnSpc>
                <a:spcPct val="100000"/>
              </a:lnSpc>
              <a:spcBef>
                <a:spcPts val="175"/>
              </a:spcBef>
            </a:pPr>
            <a:r>
              <a:rPr sz="1000" spc="-5" dirty="0">
                <a:latin typeface="Arial"/>
                <a:cs typeface="Arial"/>
              </a:rPr>
              <a:t>Updating </a:t>
            </a:r>
            <a:r>
              <a:rPr sz="1000" spc="-10" dirty="0">
                <a:latin typeface="Arial"/>
                <a:cs typeface="Arial"/>
              </a:rPr>
              <a:t>your</a:t>
            </a:r>
            <a:r>
              <a:rPr sz="1000" dirty="0">
                <a:latin typeface="Arial"/>
                <a:cs typeface="Arial"/>
              </a:rPr>
              <a:t> </a:t>
            </a:r>
            <a:r>
              <a:rPr sz="1000" spc="-15" dirty="0">
                <a:latin typeface="Arial"/>
                <a:cs typeface="Arial"/>
              </a:rPr>
              <a:t>Web</a:t>
            </a:r>
            <a:r>
              <a:rPr sz="1000" spc="-5" dirty="0">
                <a:latin typeface="Arial"/>
                <a:cs typeface="Arial"/>
              </a:rPr>
              <a:t> page</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guaranteeing that</a:t>
            </a:r>
            <a:r>
              <a:rPr sz="1000" dirty="0">
                <a:latin typeface="Arial"/>
                <a:cs typeface="Arial"/>
              </a:rPr>
              <a:t> </a:t>
            </a:r>
            <a:r>
              <a:rPr sz="1000" spc="-10" dirty="0">
                <a:latin typeface="Arial"/>
                <a:cs typeface="Arial"/>
              </a:rPr>
              <a:t>your</a:t>
            </a:r>
            <a:r>
              <a:rPr sz="1000" dirty="0">
                <a:latin typeface="Arial"/>
                <a:cs typeface="Arial"/>
              </a:rPr>
              <a:t> </a:t>
            </a:r>
            <a:r>
              <a:rPr sz="1000" spc="-15" dirty="0">
                <a:latin typeface="Arial"/>
                <a:cs typeface="Arial"/>
              </a:rPr>
              <a:t>Web</a:t>
            </a:r>
            <a:r>
              <a:rPr sz="1000" spc="-5" dirty="0">
                <a:latin typeface="Arial"/>
                <a:cs typeface="Arial"/>
              </a:rPr>
              <a:t> browser </a:t>
            </a:r>
            <a:r>
              <a:rPr sz="1000" spc="-260" dirty="0">
                <a:latin typeface="Arial"/>
                <a:cs typeface="Arial"/>
              </a:rPr>
              <a:t> </a:t>
            </a:r>
            <a:r>
              <a:rPr sz="1000" spc="-10" dirty="0">
                <a:latin typeface="Arial"/>
                <a:cs typeface="Arial"/>
              </a:rPr>
              <a:t>shows</a:t>
            </a:r>
            <a:r>
              <a:rPr sz="1000" spc="-5" dirty="0">
                <a:latin typeface="Arial"/>
                <a:cs typeface="Arial"/>
              </a:rPr>
              <a:t> the </a:t>
            </a:r>
            <a:r>
              <a:rPr sz="1000" spc="-10" dirty="0">
                <a:latin typeface="Arial"/>
                <a:cs typeface="Arial"/>
              </a:rPr>
              <a:t>newest</a:t>
            </a:r>
            <a:r>
              <a:rPr sz="1000" dirty="0">
                <a:latin typeface="Arial"/>
                <a:cs typeface="Arial"/>
              </a:rPr>
              <a:t> </a:t>
            </a:r>
            <a:r>
              <a:rPr sz="1000" spc="-10" dirty="0">
                <a:latin typeface="Arial"/>
                <a:cs typeface="Arial"/>
              </a:rPr>
              <a:t>version</a:t>
            </a:r>
            <a:r>
              <a:rPr sz="1000" spc="-5" dirty="0">
                <a:latin typeface="Arial"/>
                <a:cs typeface="Arial"/>
              </a:rPr>
              <a:t> instead of</a:t>
            </a:r>
            <a:r>
              <a:rPr sz="1000" dirty="0">
                <a:latin typeface="Arial"/>
                <a:cs typeface="Arial"/>
              </a:rPr>
              <a:t> </a:t>
            </a:r>
            <a:r>
              <a:rPr sz="1000" spc="-5" dirty="0">
                <a:latin typeface="Arial"/>
                <a:cs typeface="Arial"/>
              </a:rPr>
              <a:t>its cached </a:t>
            </a:r>
            <a:r>
              <a:rPr sz="1000" spc="-30" dirty="0">
                <a:latin typeface="Arial"/>
                <a:cs typeface="Arial"/>
              </a:rPr>
              <a:t>copy.</a:t>
            </a:r>
            <a:endParaRPr sz="1000">
              <a:latin typeface="Arial"/>
              <a:cs typeface="Aria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23</a:t>
            </a:r>
            <a:r>
              <a:rPr spc="-40" dirty="0"/>
              <a:t> </a:t>
            </a:r>
            <a:r>
              <a:rPr spc="-5" dirty="0"/>
              <a:t>/</a:t>
            </a:r>
            <a:r>
              <a:rPr spc="-35" dirty="0"/>
              <a:t> </a:t>
            </a:r>
            <a:r>
              <a:rPr spc="-5" dirty="0"/>
              <a:t>37</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22700" algn="l"/>
              </a:tabLst>
            </a:pPr>
            <a:r>
              <a:rPr sz="600" spc="-5" dirty="0">
                <a:solidFill>
                  <a:srgbClr val="3333B2"/>
                </a:solidFill>
                <a:latin typeface="Arial"/>
                <a:cs typeface="Arial"/>
                <a:hlinkClick r:id="rId3" action="ppaction://hlinksldjump"/>
              </a:rPr>
              <a:t>Consistency</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2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95" dirty="0">
                <a:solidFill>
                  <a:srgbClr val="3333B2"/>
                </a:solidFill>
                <a:latin typeface="Arial"/>
                <a:cs typeface="Arial"/>
              </a:rPr>
              <a:t> </a:t>
            </a:r>
            <a:r>
              <a:rPr sz="600" spc="-5" dirty="0">
                <a:solidFill>
                  <a:srgbClr val="3333B2"/>
                </a:solidFill>
                <a:latin typeface="Arial"/>
                <a:cs typeface="Arial"/>
                <a:hlinkClick r:id="rId4" action="ppaction://hlinksldjump"/>
              </a:rPr>
              <a:t>Client-centric</a:t>
            </a:r>
            <a:r>
              <a:rPr sz="600" spc="2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consistency</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models</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Writes</a:t>
            </a:r>
            <a:r>
              <a:rPr sz="600" spc="-15"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follow</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reads</a:t>
            </a:r>
            <a:endParaRPr sz="600">
              <a:latin typeface="Arial"/>
              <a:cs typeface="Arial"/>
            </a:endParaRPr>
          </a:p>
        </p:txBody>
      </p:sp>
      <p:sp>
        <p:nvSpPr>
          <p:cNvPr id="3" name="object 3"/>
          <p:cNvSpPr txBox="1">
            <a:spLocks noGrp="1"/>
          </p:cNvSpPr>
          <p:nvPr>
            <p:ph type="title"/>
          </p:nvPr>
        </p:nvSpPr>
        <p:spPr>
          <a:xfrm>
            <a:off x="95300" y="188846"/>
            <a:ext cx="1558925" cy="244475"/>
          </a:xfrm>
          <a:prstGeom prst="rect">
            <a:avLst/>
          </a:prstGeom>
        </p:spPr>
        <p:txBody>
          <a:bodyPr vert="horz" wrap="square" lIns="0" tIns="17145" rIns="0" bIns="0" rtlCol="0">
            <a:spAutoFit/>
          </a:bodyPr>
          <a:lstStyle/>
          <a:p>
            <a:pPr marL="12700">
              <a:lnSpc>
                <a:spcPct val="100000"/>
              </a:lnSpc>
              <a:spcBef>
                <a:spcPts val="135"/>
              </a:spcBef>
            </a:pPr>
            <a:r>
              <a:rPr spc="15" dirty="0"/>
              <a:t>Writes</a:t>
            </a:r>
            <a:r>
              <a:rPr spc="-15" dirty="0"/>
              <a:t> </a:t>
            </a:r>
            <a:r>
              <a:rPr dirty="0"/>
              <a:t>follow</a:t>
            </a:r>
            <a:r>
              <a:rPr spc="-15" dirty="0"/>
              <a:t> </a:t>
            </a:r>
            <a:r>
              <a:rPr spc="15" dirty="0"/>
              <a:t>reads</a:t>
            </a:r>
          </a:p>
        </p:txBody>
      </p:sp>
      <p:sp>
        <p:nvSpPr>
          <p:cNvPr id="4" name="object 4"/>
          <p:cNvSpPr txBox="1"/>
          <p:nvPr/>
        </p:nvSpPr>
        <p:spPr>
          <a:xfrm>
            <a:off x="343128" y="592960"/>
            <a:ext cx="3914140" cy="657225"/>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3333B2"/>
                </a:solidFill>
                <a:latin typeface="Arial"/>
                <a:cs typeface="Arial"/>
              </a:rPr>
              <a:t>Definition</a:t>
            </a:r>
            <a:endParaRPr sz="1200">
              <a:latin typeface="Arial"/>
              <a:cs typeface="Arial"/>
            </a:endParaRPr>
          </a:p>
          <a:p>
            <a:pPr marL="16510" marR="5080" indent="-4445">
              <a:lnSpc>
                <a:spcPts val="1200"/>
              </a:lnSpc>
              <a:spcBef>
                <a:spcPts val="10"/>
              </a:spcBef>
            </a:pPr>
            <a:r>
              <a:rPr sz="1000" spc="-5" dirty="0">
                <a:latin typeface="Arial"/>
                <a:cs typeface="Arial"/>
              </a:rPr>
              <a:t>A </a:t>
            </a:r>
            <a:r>
              <a:rPr sz="1000" dirty="0">
                <a:latin typeface="Arial"/>
                <a:cs typeface="Arial"/>
              </a:rPr>
              <a:t>write </a:t>
            </a:r>
            <a:r>
              <a:rPr sz="1000" spc="-5" dirty="0">
                <a:latin typeface="Arial"/>
                <a:cs typeface="Arial"/>
              </a:rPr>
              <a:t>operation </a:t>
            </a:r>
            <a:r>
              <a:rPr sz="1000" spc="-15" dirty="0">
                <a:latin typeface="Arial"/>
                <a:cs typeface="Arial"/>
              </a:rPr>
              <a:t>by </a:t>
            </a:r>
            <a:r>
              <a:rPr sz="1000" spc="-5" dirty="0">
                <a:latin typeface="Arial"/>
                <a:cs typeface="Arial"/>
              </a:rPr>
              <a:t>a process on a data item </a:t>
            </a:r>
            <a:r>
              <a:rPr sz="1000" i="1" spc="-5" dirty="0">
                <a:latin typeface="Arial"/>
                <a:cs typeface="Arial"/>
              </a:rPr>
              <a:t>x</a:t>
            </a:r>
            <a:r>
              <a:rPr sz="1000" i="1" dirty="0">
                <a:latin typeface="Arial"/>
                <a:cs typeface="Arial"/>
              </a:rPr>
              <a:t> </a:t>
            </a:r>
            <a:r>
              <a:rPr sz="1000" spc="-10" dirty="0">
                <a:latin typeface="Arial"/>
                <a:cs typeface="Arial"/>
              </a:rPr>
              <a:t>following </a:t>
            </a:r>
            <a:r>
              <a:rPr sz="1000" spc="-5" dirty="0">
                <a:latin typeface="Arial"/>
                <a:cs typeface="Arial"/>
              </a:rPr>
              <a:t>a </a:t>
            </a:r>
            <a:r>
              <a:rPr sz="1000" spc="-10" dirty="0">
                <a:latin typeface="Arial"/>
                <a:cs typeface="Arial"/>
              </a:rPr>
              <a:t>previous </a:t>
            </a:r>
            <a:r>
              <a:rPr sz="1000" spc="-5" dirty="0">
                <a:latin typeface="Arial"/>
                <a:cs typeface="Arial"/>
              </a:rPr>
              <a:t> read operation</a:t>
            </a:r>
            <a:r>
              <a:rPr sz="1000" dirty="0">
                <a:latin typeface="Arial"/>
                <a:cs typeface="Arial"/>
              </a:rPr>
              <a:t> </a:t>
            </a:r>
            <a:r>
              <a:rPr sz="1000" spc="-5" dirty="0">
                <a:latin typeface="Arial"/>
                <a:cs typeface="Arial"/>
              </a:rPr>
              <a:t>on </a:t>
            </a:r>
            <a:r>
              <a:rPr sz="1000" i="1" spc="-5" dirty="0">
                <a:latin typeface="Arial"/>
                <a:cs typeface="Arial"/>
              </a:rPr>
              <a:t>x</a:t>
            </a:r>
            <a:r>
              <a:rPr sz="1000" i="1" spc="95"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the same</a:t>
            </a:r>
            <a:r>
              <a:rPr sz="1000" dirty="0">
                <a:latin typeface="Arial"/>
                <a:cs typeface="Arial"/>
              </a:rPr>
              <a:t> </a:t>
            </a:r>
            <a:r>
              <a:rPr sz="1000" spc="-5" dirty="0">
                <a:latin typeface="Arial"/>
                <a:cs typeface="Arial"/>
              </a:rPr>
              <a:t>process,</a:t>
            </a:r>
            <a:r>
              <a:rPr sz="1000" dirty="0">
                <a:latin typeface="Arial"/>
                <a:cs typeface="Arial"/>
              </a:rPr>
              <a:t> </a:t>
            </a:r>
            <a:r>
              <a:rPr sz="1000" spc="-5" dirty="0">
                <a:latin typeface="Arial"/>
                <a:cs typeface="Arial"/>
              </a:rPr>
              <a:t>is guaranteed</a:t>
            </a:r>
            <a:r>
              <a:rPr sz="1000" dirty="0">
                <a:latin typeface="Arial"/>
                <a:cs typeface="Arial"/>
              </a:rPr>
              <a:t> </a:t>
            </a:r>
            <a:r>
              <a:rPr sz="1000" spc="-5" dirty="0">
                <a:latin typeface="Arial"/>
                <a:cs typeface="Arial"/>
              </a:rPr>
              <a:t>to </a:t>
            </a:r>
            <a:r>
              <a:rPr sz="1000" spc="-10" dirty="0">
                <a:latin typeface="Arial"/>
                <a:cs typeface="Arial"/>
              </a:rPr>
              <a:t>take</a:t>
            </a:r>
            <a:r>
              <a:rPr sz="1000" dirty="0">
                <a:latin typeface="Arial"/>
                <a:cs typeface="Arial"/>
              </a:rPr>
              <a:t> </a:t>
            </a:r>
            <a:r>
              <a:rPr sz="1000" spc="-5" dirty="0">
                <a:latin typeface="Arial"/>
                <a:cs typeface="Arial"/>
              </a:rPr>
              <a:t>place </a:t>
            </a:r>
            <a:r>
              <a:rPr sz="1000" spc="-265" dirty="0">
                <a:latin typeface="Arial"/>
                <a:cs typeface="Arial"/>
              </a:rPr>
              <a:t> </a:t>
            </a:r>
            <a:r>
              <a:rPr sz="1000" spc="-5" dirty="0">
                <a:latin typeface="Arial"/>
                <a:cs typeface="Arial"/>
              </a:rPr>
              <a:t>on the same or a more recent</a:t>
            </a:r>
            <a:r>
              <a:rPr sz="1000" dirty="0">
                <a:latin typeface="Arial"/>
                <a:cs typeface="Arial"/>
              </a:rPr>
              <a:t> </a:t>
            </a:r>
            <a:r>
              <a:rPr sz="1000" spc="-10" dirty="0">
                <a:latin typeface="Arial"/>
                <a:cs typeface="Arial"/>
              </a:rPr>
              <a:t>value</a:t>
            </a:r>
            <a:r>
              <a:rPr sz="1000" spc="-5" dirty="0">
                <a:latin typeface="Arial"/>
                <a:cs typeface="Arial"/>
              </a:rPr>
              <a:t> of </a:t>
            </a:r>
            <a:r>
              <a:rPr sz="1000" i="1" spc="-5" dirty="0">
                <a:latin typeface="Arial"/>
                <a:cs typeface="Arial"/>
              </a:rPr>
              <a:t>x</a:t>
            </a:r>
            <a:r>
              <a:rPr sz="1000" i="1" spc="90" dirty="0">
                <a:latin typeface="Arial"/>
                <a:cs typeface="Arial"/>
              </a:rPr>
              <a:t> </a:t>
            </a:r>
            <a:r>
              <a:rPr sz="1000" spc="-5" dirty="0">
                <a:latin typeface="Arial"/>
                <a:cs typeface="Arial"/>
              </a:rPr>
              <a:t>that </a:t>
            </a:r>
            <a:r>
              <a:rPr sz="1000" spc="-10" dirty="0">
                <a:latin typeface="Arial"/>
                <a:cs typeface="Arial"/>
              </a:rPr>
              <a:t>was</a:t>
            </a:r>
            <a:r>
              <a:rPr sz="1000" spc="-5" dirty="0">
                <a:latin typeface="Arial"/>
                <a:cs typeface="Arial"/>
              </a:rPr>
              <a:t> read.</a:t>
            </a:r>
            <a:endParaRPr sz="1000">
              <a:latin typeface="Arial"/>
              <a:cs typeface="Arial"/>
            </a:endParaRPr>
          </a:p>
        </p:txBody>
      </p:sp>
      <p:sp>
        <p:nvSpPr>
          <p:cNvPr id="5" name="object 5"/>
          <p:cNvSpPr txBox="1">
            <a:spLocks noGrp="1"/>
          </p:cNvSpPr>
          <p:nvPr>
            <p:ph type="body" idx="1"/>
          </p:nvPr>
        </p:nvSpPr>
        <p:spPr>
          <a:prstGeom prst="rect">
            <a:avLst/>
          </a:prstGeom>
        </p:spPr>
        <p:txBody>
          <a:bodyPr vert="horz" wrap="square" lIns="0" tIns="22860" rIns="0" bIns="0" rtlCol="0">
            <a:spAutoFit/>
          </a:bodyPr>
          <a:lstStyle/>
          <a:p>
            <a:pPr marL="38100" marR="30480">
              <a:lnSpc>
                <a:spcPts val="1390"/>
              </a:lnSpc>
              <a:spcBef>
                <a:spcPts val="180"/>
              </a:spcBef>
            </a:pPr>
            <a:r>
              <a:rPr spc="-5" dirty="0"/>
              <a:t>(a) A writes-follow-reads </a:t>
            </a:r>
            <a:r>
              <a:rPr dirty="0"/>
              <a:t> </a:t>
            </a:r>
            <a:r>
              <a:rPr spc="-10" dirty="0"/>
              <a:t>consistent</a:t>
            </a:r>
            <a:r>
              <a:rPr spc="-15" dirty="0"/>
              <a:t> </a:t>
            </a:r>
            <a:r>
              <a:rPr spc="-10" dirty="0"/>
              <a:t>data </a:t>
            </a:r>
            <a:r>
              <a:rPr spc="-15" dirty="0"/>
              <a:t>store.</a:t>
            </a:r>
            <a:r>
              <a:rPr spc="70" dirty="0"/>
              <a:t> </a:t>
            </a:r>
            <a:r>
              <a:rPr spc="-10" dirty="0"/>
              <a:t>(b) </a:t>
            </a:r>
            <a:r>
              <a:rPr spc="-15" dirty="0"/>
              <a:t>A </a:t>
            </a:r>
            <a:r>
              <a:rPr spc="-10" dirty="0"/>
              <a:t>data </a:t>
            </a:r>
            <a:r>
              <a:rPr spc="-315" dirty="0"/>
              <a:t> </a:t>
            </a:r>
            <a:r>
              <a:rPr spc="-5" dirty="0"/>
              <a:t>store that does not </a:t>
            </a:r>
            <a:r>
              <a:rPr spc="-10" dirty="0"/>
              <a:t>provide </a:t>
            </a:r>
            <a:r>
              <a:rPr spc="-5" dirty="0"/>
              <a:t> writes-follow-reads</a:t>
            </a:r>
            <a:r>
              <a:rPr spc="-35" dirty="0"/>
              <a:t> </a:t>
            </a:r>
            <a:r>
              <a:rPr spc="-5" dirty="0"/>
              <a:t>consistency</a:t>
            </a:r>
          </a:p>
          <a:p>
            <a:pPr marL="490855">
              <a:lnSpc>
                <a:spcPct val="100000"/>
              </a:lnSpc>
              <a:spcBef>
                <a:spcPts val="880"/>
              </a:spcBef>
              <a:tabLst>
                <a:tab pos="1175385" algn="l"/>
                <a:tab pos="1743710" algn="l"/>
              </a:tabLst>
            </a:pPr>
            <a:r>
              <a:rPr sz="650" u="sng" spc="5" dirty="0">
                <a:solidFill>
                  <a:srgbClr val="231F20"/>
                </a:solidFill>
                <a:uFill>
                  <a:solidFill>
                    <a:srgbClr val="231F20"/>
                  </a:solidFill>
                </a:uFill>
              </a:rPr>
              <a:t>L1</a:t>
            </a:r>
            <a:r>
              <a:rPr sz="650" u="sng" dirty="0">
                <a:solidFill>
                  <a:srgbClr val="231F20"/>
                </a:solidFill>
                <a:uFill>
                  <a:solidFill>
                    <a:srgbClr val="231F20"/>
                  </a:solidFill>
                </a:uFill>
              </a:rPr>
              <a:t>:    </a:t>
            </a:r>
            <a:r>
              <a:rPr sz="650" u="sng" spc="30" dirty="0">
                <a:solidFill>
                  <a:srgbClr val="231F20"/>
                </a:solidFill>
                <a:uFill>
                  <a:solidFill>
                    <a:srgbClr val="231F20"/>
                  </a:solidFill>
                </a:uFill>
              </a:rPr>
              <a:t> </a:t>
            </a:r>
            <a:r>
              <a:rPr sz="650" u="sng" spc="5" dirty="0">
                <a:solidFill>
                  <a:srgbClr val="231F20"/>
                </a:solidFill>
                <a:uFill>
                  <a:solidFill>
                    <a:srgbClr val="231F20"/>
                  </a:solidFill>
                </a:uFill>
              </a:rPr>
              <a:t>W</a:t>
            </a:r>
            <a:r>
              <a:rPr sz="450" u="sng" spc="22" baseline="-27777" dirty="0">
                <a:solidFill>
                  <a:srgbClr val="231F20"/>
                </a:solidFill>
                <a:uFill>
                  <a:solidFill>
                    <a:srgbClr val="231F20"/>
                  </a:solidFill>
                </a:uFill>
              </a:rPr>
              <a:t>1</a:t>
            </a:r>
            <a:r>
              <a:rPr sz="650" u="sng" spc="5" dirty="0">
                <a:solidFill>
                  <a:srgbClr val="231F20"/>
                </a:solidFill>
                <a:uFill>
                  <a:solidFill>
                    <a:srgbClr val="231F20"/>
                  </a:solidFill>
                </a:uFill>
              </a:rPr>
              <a:t>(x</a:t>
            </a:r>
            <a:r>
              <a:rPr sz="450" u="sng" spc="22" baseline="-27777" dirty="0">
                <a:solidFill>
                  <a:srgbClr val="231F20"/>
                </a:solidFill>
                <a:uFill>
                  <a:solidFill>
                    <a:srgbClr val="231F20"/>
                  </a:solidFill>
                </a:uFill>
              </a:rPr>
              <a:t>1</a:t>
            </a:r>
            <a:r>
              <a:rPr sz="650" u="sng" dirty="0">
                <a:solidFill>
                  <a:srgbClr val="231F20"/>
                </a:solidFill>
                <a:uFill>
                  <a:solidFill>
                    <a:srgbClr val="231F20"/>
                  </a:solidFill>
                </a:uFill>
              </a:rPr>
              <a:t>)	</a:t>
            </a:r>
            <a:r>
              <a:rPr sz="650" u="sng" spc="10" dirty="0">
                <a:solidFill>
                  <a:srgbClr val="231F20"/>
                </a:solidFill>
                <a:uFill>
                  <a:solidFill>
                    <a:srgbClr val="231F20"/>
                  </a:solidFill>
                </a:uFill>
              </a:rPr>
              <a:t>R</a:t>
            </a:r>
            <a:r>
              <a:rPr sz="450" u="sng" spc="22" baseline="-27777" dirty="0">
                <a:solidFill>
                  <a:srgbClr val="231F20"/>
                </a:solidFill>
                <a:uFill>
                  <a:solidFill>
                    <a:srgbClr val="231F20"/>
                  </a:solidFill>
                </a:uFill>
              </a:rPr>
              <a:t>2</a:t>
            </a:r>
            <a:r>
              <a:rPr sz="650" u="sng" spc="5" dirty="0">
                <a:solidFill>
                  <a:srgbClr val="231F20"/>
                </a:solidFill>
                <a:uFill>
                  <a:solidFill>
                    <a:srgbClr val="231F20"/>
                  </a:solidFill>
                </a:uFill>
              </a:rPr>
              <a:t>(x</a:t>
            </a:r>
            <a:r>
              <a:rPr sz="450" u="sng" spc="22" baseline="-27777" dirty="0">
                <a:solidFill>
                  <a:srgbClr val="231F20"/>
                </a:solidFill>
                <a:uFill>
                  <a:solidFill>
                    <a:srgbClr val="231F20"/>
                  </a:solidFill>
                </a:uFill>
              </a:rPr>
              <a:t>1</a:t>
            </a:r>
            <a:r>
              <a:rPr sz="650" u="sng" dirty="0">
                <a:solidFill>
                  <a:srgbClr val="231F20"/>
                </a:solidFill>
                <a:uFill>
                  <a:solidFill>
                    <a:srgbClr val="231F20"/>
                  </a:solidFill>
                </a:uFill>
              </a:rPr>
              <a:t>)	</a:t>
            </a:r>
            <a:endParaRPr sz="650" dirty="0"/>
          </a:p>
        </p:txBody>
      </p:sp>
      <p:sp>
        <p:nvSpPr>
          <p:cNvPr id="6" name="object 6"/>
          <p:cNvSpPr txBox="1"/>
          <p:nvPr/>
        </p:nvSpPr>
        <p:spPr>
          <a:xfrm>
            <a:off x="739664" y="2153150"/>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L2:</a:t>
            </a:r>
            <a:endParaRPr sz="650">
              <a:latin typeface="Arial"/>
              <a:cs typeface="Arial"/>
            </a:endParaRPr>
          </a:p>
        </p:txBody>
      </p:sp>
      <p:sp>
        <p:nvSpPr>
          <p:cNvPr id="7" name="object 7"/>
          <p:cNvSpPr txBox="1"/>
          <p:nvPr/>
        </p:nvSpPr>
        <p:spPr>
          <a:xfrm>
            <a:off x="1057344" y="2115754"/>
            <a:ext cx="942340" cy="375285"/>
          </a:xfrm>
          <a:prstGeom prst="rect">
            <a:avLst/>
          </a:prstGeom>
        </p:spPr>
        <p:txBody>
          <a:bodyPr vert="horz" wrap="square" lIns="0" tIns="52705" rIns="0" bIns="0" rtlCol="0">
            <a:spAutoFit/>
          </a:bodyPr>
          <a:lstStyle/>
          <a:p>
            <a:pPr marL="50800">
              <a:lnSpc>
                <a:spcPct val="100000"/>
              </a:lnSpc>
              <a:spcBef>
                <a:spcPts val="415"/>
              </a:spcBef>
              <a:tabLst>
                <a:tab pos="577215" algn="l"/>
              </a:tabLst>
            </a:pPr>
            <a:r>
              <a:rPr sz="650" spc="5" dirty="0">
                <a:solidFill>
                  <a:srgbClr val="231F20"/>
                </a:solidFill>
                <a:latin typeface="Arial"/>
                <a:cs typeface="Arial"/>
              </a:rPr>
              <a:t>W</a:t>
            </a:r>
            <a:r>
              <a:rPr sz="450" spc="22" baseline="-27777" dirty="0">
                <a:solidFill>
                  <a:srgbClr val="231F20"/>
                </a:solidFill>
                <a:latin typeface="Arial"/>
                <a:cs typeface="Arial"/>
              </a:rPr>
              <a:t>3</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650" spc="5" dirty="0">
                <a:solidFill>
                  <a:srgbClr val="231F20"/>
                </a:solidFill>
                <a:latin typeface="Arial"/>
                <a:cs typeface="Arial"/>
              </a:rPr>
              <a:t>W</a:t>
            </a:r>
            <a:r>
              <a:rPr sz="450" spc="22" baseline="-27777" dirty="0">
                <a:solidFill>
                  <a:srgbClr val="231F20"/>
                </a:solidFill>
                <a:latin typeface="Arial"/>
                <a:cs typeface="Arial"/>
              </a:rPr>
              <a:t>2</a:t>
            </a:r>
            <a:r>
              <a:rPr sz="650" spc="5" dirty="0">
                <a:solidFill>
                  <a:srgbClr val="231F20"/>
                </a:solidFill>
                <a:latin typeface="Arial"/>
                <a:cs typeface="Arial"/>
              </a:rPr>
              <a:t>(x</a:t>
            </a:r>
            <a:r>
              <a:rPr sz="450" spc="22" baseline="-27777" dirty="0">
                <a:solidFill>
                  <a:srgbClr val="231F20"/>
                </a:solidFill>
                <a:latin typeface="Arial"/>
                <a:cs typeface="Arial"/>
              </a:rPr>
              <a:t>2</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3</a:t>
            </a:r>
            <a:r>
              <a:rPr sz="650" dirty="0">
                <a:solidFill>
                  <a:srgbClr val="231F20"/>
                </a:solidFill>
                <a:latin typeface="Arial"/>
                <a:cs typeface="Arial"/>
              </a:rPr>
              <a:t>)</a:t>
            </a:r>
            <a:endParaRPr sz="650">
              <a:latin typeface="Arial"/>
              <a:cs typeface="Arial"/>
            </a:endParaRPr>
          </a:p>
          <a:p>
            <a:pPr marL="238760">
              <a:lnSpc>
                <a:spcPct val="100000"/>
              </a:lnSpc>
              <a:spcBef>
                <a:spcPts val="455"/>
              </a:spcBef>
            </a:pPr>
            <a:r>
              <a:rPr sz="1000" spc="-5" dirty="0">
                <a:latin typeface="Arial"/>
                <a:cs typeface="Arial"/>
              </a:rPr>
              <a:t>(a)</a:t>
            </a:r>
            <a:endParaRPr sz="1000">
              <a:latin typeface="Arial"/>
              <a:cs typeface="Arial"/>
            </a:endParaRPr>
          </a:p>
        </p:txBody>
      </p:sp>
      <p:sp>
        <p:nvSpPr>
          <p:cNvPr id="8" name="object 8"/>
          <p:cNvSpPr txBox="1"/>
          <p:nvPr/>
        </p:nvSpPr>
        <p:spPr>
          <a:xfrm>
            <a:off x="714271" y="2474305"/>
            <a:ext cx="1329690" cy="127000"/>
          </a:xfrm>
          <a:prstGeom prst="rect">
            <a:avLst/>
          </a:prstGeom>
        </p:spPr>
        <p:txBody>
          <a:bodyPr vert="horz" wrap="square" lIns="0" tIns="13970" rIns="0" bIns="0" rtlCol="0">
            <a:spAutoFit/>
          </a:bodyPr>
          <a:lstStyle/>
          <a:p>
            <a:pPr marL="38100">
              <a:lnSpc>
                <a:spcPct val="100000"/>
              </a:lnSpc>
              <a:spcBef>
                <a:spcPts val="110"/>
              </a:spcBef>
              <a:tabLst>
                <a:tab pos="728980" algn="l"/>
                <a:tab pos="1290955" algn="l"/>
              </a:tabLst>
            </a:pPr>
            <a:r>
              <a:rPr sz="650" u="sng" spc="5" dirty="0">
                <a:solidFill>
                  <a:srgbClr val="231F20"/>
                </a:solidFill>
                <a:uFill>
                  <a:solidFill>
                    <a:srgbClr val="231F20"/>
                  </a:solidFill>
                </a:uFill>
                <a:latin typeface="Arial"/>
                <a:cs typeface="Arial"/>
              </a:rPr>
              <a:t>L1</a:t>
            </a:r>
            <a:r>
              <a:rPr sz="650" u="sng" dirty="0">
                <a:solidFill>
                  <a:srgbClr val="231F20"/>
                </a:solidFill>
                <a:uFill>
                  <a:solidFill>
                    <a:srgbClr val="231F20"/>
                  </a:solidFill>
                </a:uFill>
                <a:latin typeface="Arial"/>
                <a:cs typeface="Arial"/>
              </a:rPr>
              <a:t>:    </a:t>
            </a:r>
            <a:r>
              <a:rPr sz="650" u="sng" spc="30" dirty="0">
                <a:solidFill>
                  <a:srgbClr val="231F20"/>
                </a:solidFill>
                <a:uFill>
                  <a:solidFill>
                    <a:srgbClr val="231F20"/>
                  </a:solidFill>
                </a:uFill>
                <a:latin typeface="Arial"/>
                <a:cs typeface="Arial"/>
              </a:rPr>
              <a:t> </a:t>
            </a:r>
            <a:r>
              <a:rPr sz="650" u="sng" spc="5" dirty="0">
                <a:solidFill>
                  <a:srgbClr val="231F20"/>
                </a:solidFill>
                <a:uFill>
                  <a:solidFill>
                    <a:srgbClr val="231F20"/>
                  </a:solidFill>
                </a:uFill>
                <a:latin typeface="Arial"/>
                <a:cs typeface="Arial"/>
              </a:rPr>
              <a:t>W</a:t>
            </a:r>
            <a:r>
              <a:rPr sz="450" u="sng" spc="22" baseline="-27777" dirty="0">
                <a:solidFill>
                  <a:srgbClr val="231F20"/>
                </a:solidFill>
                <a:uFill>
                  <a:solidFill>
                    <a:srgbClr val="231F20"/>
                  </a:solidFill>
                </a:uFill>
                <a:latin typeface="Arial"/>
                <a:cs typeface="Arial"/>
              </a:rPr>
              <a:t>1</a:t>
            </a:r>
            <a:r>
              <a:rPr sz="650" u="sng" spc="5" dirty="0">
                <a:solidFill>
                  <a:srgbClr val="231F20"/>
                </a:solidFill>
                <a:uFill>
                  <a:solidFill>
                    <a:srgbClr val="231F20"/>
                  </a:solidFill>
                </a:uFill>
                <a:latin typeface="Arial"/>
                <a:cs typeface="Arial"/>
              </a:rPr>
              <a:t>(x</a:t>
            </a:r>
            <a:r>
              <a:rPr sz="450" u="sng" spc="22" baseline="-27777" dirty="0">
                <a:solidFill>
                  <a:srgbClr val="231F20"/>
                </a:solidFill>
                <a:uFill>
                  <a:solidFill>
                    <a:srgbClr val="231F20"/>
                  </a:solidFill>
                </a:uFill>
                <a:latin typeface="Arial"/>
                <a:cs typeface="Arial"/>
              </a:rPr>
              <a:t>1</a:t>
            </a:r>
            <a:r>
              <a:rPr sz="650" u="sng" dirty="0">
                <a:solidFill>
                  <a:srgbClr val="231F20"/>
                </a:solidFill>
                <a:uFill>
                  <a:solidFill>
                    <a:srgbClr val="231F20"/>
                  </a:solidFill>
                </a:uFill>
                <a:latin typeface="Arial"/>
                <a:cs typeface="Arial"/>
              </a:rPr>
              <a:t>)	</a:t>
            </a:r>
            <a:r>
              <a:rPr sz="650" u="sng" spc="10" dirty="0">
                <a:solidFill>
                  <a:srgbClr val="231F20"/>
                </a:solidFill>
                <a:uFill>
                  <a:solidFill>
                    <a:srgbClr val="231F20"/>
                  </a:solidFill>
                </a:uFill>
                <a:latin typeface="Arial"/>
                <a:cs typeface="Arial"/>
              </a:rPr>
              <a:t>R</a:t>
            </a:r>
            <a:r>
              <a:rPr sz="450" u="sng" spc="22" baseline="-27777" dirty="0">
                <a:solidFill>
                  <a:srgbClr val="231F20"/>
                </a:solidFill>
                <a:uFill>
                  <a:solidFill>
                    <a:srgbClr val="231F20"/>
                  </a:solidFill>
                </a:uFill>
                <a:latin typeface="Arial"/>
                <a:cs typeface="Arial"/>
              </a:rPr>
              <a:t>2</a:t>
            </a:r>
            <a:r>
              <a:rPr sz="650" u="sng" spc="5" dirty="0">
                <a:solidFill>
                  <a:srgbClr val="231F20"/>
                </a:solidFill>
                <a:uFill>
                  <a:solidFill>
                    <a:srgbClr val="231F20"/>
                  </a:solidFill>
                </a:uFill>
                <a:latin typeface="Arial"/>
                <a:cs typeface="Arial"/>
              </a:rPr>
              <a:t>(x</a:t>
            </a:r>
            <a:r>
              <a:rPr sz="450" u="sng" spc="22" baseline="-27777" dirty="0">
                <a:solidFill>
                  <a:srgbClr val="231F20"/>
                </a:solidFill>
                <a:uFill>
                  <a:solidFill>
                    <a:srgbClr val="231F20"/>
                  </a:solidFill>
                </a:uFill>
                <a:latin typeface="Arial"/>
                <a:cs typeface="Arial"/>
              </a:rPr>
              <a:t>1</a:t>
            </a:r>
            <a:r>
              <a:rPr sz="650" u="sng" dirty="0">
                <a:solidFill>
                  <a:srgbClr val="231F20"/>
                </a:solidFill>
                <a:uFill>
                  <a:solidFill>
                    <a:srgbClr val="231F20"/>
                  </a:solidFill>
                </a:uFill>
                <a:latin typeface="Arial"/>
                <a:cs typeface="Arial"/>
              </a:rPr>
              <a:t>)	</a:t>
            </a:r>
            <a:endParaRPr sz="650">
              <a:latin typeface="Arial"/>
              <a:cs typeface="Arial"/>
            </a:endParaRPr>
          </a:p>
        </p:txBody>
      </p:sp>
      <p:sp>
        <p:nvSpPr>
          <p:cNvPr id="9" name="object 9"/>
          <p:cNvSpPr txBox="1"/>
          <p:nvPr/>
        </p:nvSpPr>
        <p:spPr>
          <a:xfrm>
            <a:off x="739671" y="2592627"/>
            <a:ext cx="1428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L2:</a:t>
            </a:r>
            <a:endParaRPr sz="650">
              <a:latin typeface="Arial"/>
              <a:cs typeface="Arial"/>
            </a:endParaRPr>
          </a:p>
        </p:txBody>
      </p:sp>
      <p:sp>
        <p:nvSpPr>
          <p:cNvPr id="10" name="object 10"/>
          <p:cNvSpPr txBox="1"/>
          <p:nvPr/>
        </p:nvSpPr>
        <p:spPr>
          <a:xfrm>
            <a:off x="1057345" y="2549775"/>
            <a:ext cx="951865" cy="388620"/>
          </a:xfrm>
          <a:prstGeom prst="rect">
            <a:avLst/>
          </a:prstGeom>
        </p:spPr>
        <p:txBody>
          <a:bodyPr vert="horz" wrap="square" lIns="0" tIns="58419" rIns="0" bIns="0" rtlCol="0">
            <a:spAutoFit/>
          </a:bodyPr>
          <a:lstStyle/>
          <a:p>
            <a:pPr marL="50800">
              <a:lnSpc>
                <a:spcPct val="100000"/>
              </a:lnSpc>
              <a:spcBef>
                <a:spcPts val="459"/>
              </a:spcBef>
              <a:tabLst>
                <a:tab pos="588010" algn="l"/>
              </a:tabLst>
            </a:pPr>
            <a:r>
              <a:rPr sz="650" spc="5" dirty="0">
                <a:solidFill>
                  <a:srgbClr val="231F20"/>
                </a:solidFill>
                <a:latin typeface="Arial"/>
                <a:cs typeface="Arial"/>
              </a:rPr>
              <a:t>W</a:t>
            </a:r>
            <a:r>
              <a:rPr sz="450" spc="22" baseline="-27777" dirty="0">
                <a:solidFill>
                  <a:srgbClr val="231F20"/>
                </a:solidFill>
                <a:latin typeface="Arial"/>
                <a:cs typeface="Arial"/>
              </a:rPr>
              <a:t>3</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2</a:t>
            </a:r>
            <a:r>
              <a:rPr sz="650" dirty="0">
                <a:solidFill>
                  <a:srgbClr val="231F20"/>
                </a:solidFill>
                <a:latin typeface="Arial"/>
                <a:cs typeface="Arial"/>
              </a:rPr>
              <a:t>)	</a:t>
            </a:r>
            <a:r>
              <a:rPr sz="650" spc="5" dirty="0">
                <a:solidFill>
                  <a:srgbClr val="231F20"/>
                </a:solidFill>
                <a:latin typeface="Arial"/>
                <a:cs typeface="Arial"/>
              </a:rPr>
              <a:t>W</a:t>
            </a:r>
            <a:r>
              <a:rPr sz="450" spc="22" baseline="-27777" dirty="0">
                <a:solidFill>
                  <a:srgbClr val="231F20"/>
                </a:solidFill>
                <a:latin typeface="Arial"/>
                <a:cs typeface="Arial"/>
              </a:rPr>
              <a:t>2</a:t>
            </a:r>
            <a:r>
              <a:rPr sz="650" spc="5" dirty="0">
                <a:solidFill>
                  <a:srgbClr val="231F20"/>
                </a:solidFill>
                <a:latin typeface="Arial"/>
                <a:cs typeface="Arial"/>
              </a:rPr>
              <a:t>(x</a:t>
            </a:r>
            <a:r>
              <a:rPr sz="450" spc="22" baseline="-27777" dirty="0">
                <a:solidFill>
                  <a:srgbClr val="231F20"/>
                </a:solidFill>
                <a:latin typeface="Arial"/>
                <a:cs typeface="Arial"/>
              </a:rPr>
              <a:t>1</a:t>
            </a:r>
            <a:r>
              <a:rPr sz="650" spc="-5" dirty="0">
                <a:solidFill>
                  <a:srgbClr val="231F20"/>
                </a:solidFill>
                <a:latin typeface="Arial"/>
                <a:cs typeface="Arial"/>
              </a:rPr>
              <a:t>|</a:t>
            </a:r>
            <a:r>
              <a:rPr sz="650" spc="5" dirty="0">
                <a:solidFill>
                  <a:srgbClr val="231F20"/>
                </a:solidFill>
                <a:latin typeface="Arial"/>
                <a:cs typeface="Arial"/>
              </a:rPr>
              <a:t>x</a:t>
            </a:r>
            <a:r>
              <a:rPr sz="450" spc="22" baseline="-27777" dirty="0">
                <a:solidFill>
                  <a:srgbClr val="231F20"/>
                </a:solidFill>
                <a:latin typeface="Arial"/>
                <a:cs typeface="Arial"/>
              </a:rPr>
              <a:t>3</a:t>
            </a:r>
            <a:r>
              <a:rPr sz="650" dirty="0">
                <a:solidFill>
                  <a:srgbClr val="231F20"/>
                </a:solidFill>
                <a:latin typeface="Arial"/>
                <a:cs typeface="Arial"/>
              </a:rPr>
              <a:t>)</a:t>
            </a:r>
            <a:endParaRPr sz="650">
              <a:latin typeface="Arial"/>
              <a:cs typeface="Arial"/>
            </a:endParaRPr>
          </a:p>
          <a:p>
            <a:pPr marL="238760">
              <a:lnSpc>
                <a:spcPct val="100000"/>
              </a:lnSpc>
              <a:spcBef>
                <a:spcPts val="520"/>
              </a:spcBef>
            </a:pPr>
            <a:r>
              <a:rPr sz="1000" spc="-5" dirty="0">
                <a:latin typeface="Arial"/>
                <a:cs typeface="Arial"/>
              </a:rPr>
              <a:t>(b)</a:t>
            </a:r>
            <a:endParaRPr sz="1000">
              <a:latin typeface="Arial"/>
              <a:cs typeface="Arial"/>
            </a:endParaRPr>
          </a:p>
        </p:txBody>
      </p:sp>
      <p:sp>
        <p:nvSpPr>
          <p:cNvPr id="11" name="object 11"/>
          <p:cNvSpPr txBox="1"/>
          <p:nvPr/>
        </p:nvSpPr>
        <p:spPr>
          <a:xfrm>
            <a:off x="2722664" y="1209610"/>
            <a:ext cx="1561465" cy="1017269"/>
          </a:xfrm>
          <a:prstGeom prst="rect">
            <a:avLst/>
          </a:prstGeom>
        </p:spPr>
        <p:txBody>
          <a:bodyPr vert="horz" wrap="square" lIns="0" tIns="39370" rIns="0" bIns="0" rtlCol="0">
            <a:spAutoFit/>
          </a:bodyPr>
          <a:lstStyle/>
          <a:p>
            <a:pPr marL="24765">
              <a:lnSpc>
                <a:spcPct val="100000"/>
              </a:lnSpc>
              <a:spcBef>
                <a:spcPts val="310"/>
              </a:spcBef>
            </a:pPr>
            <a:r>
              <a:rPr sz="1200" spc="-5" dirty="0">
                <a:solidFill>
                  <a:srgbClr val="007C00"/>
                </a:solidFill>
                <a:latin typeface="Arial"/>
                <a:cs typeface="Arial"/>
              </a:rPr>
              <a:t>Example</a:t>
            </a:r>
            <a:endParaRPr sz="1200">
              <a:latin typeface="Arial"/>
              <a:cs typeface="Arial"/>
            </a:endParaRPr>
          </a:p>
          <a:p>
            <a:pPr marL="12700" marR="5080" indent="12065">
              <a:lnSpc>
                <a:spcPct val="100000"/>
              </a:lnSpc>
              <a:spcBef>
                <a:spcPts val="175"/>
              </a:spcBef>
            </a:pPr>
            <a:r>
              <a:rPr sz="1000" spc="-5" dirty="0">
                <a:latin typeface="Arial"/>
                <a:cs typeface="Arial"/>
              </a:rPr>
              <a:t>See reactions to posted </a:t>
            </a:r>
            <a:r>
              <a:rPr sz="1000" dirty="0">
                <a:latin typeface="Arial"/>
                <a:cs typeface="Arial"/>
              </a:rPr>
              <a:t> articles </a:t>
            </a:r>
            <a:r>
              <a:rPr sz="1000" spc="-5" dirty="0">
                <a:latin typeface="Arial"/>
                <a:cs typeface="Arial"/>
              </a:rPr>
              <a:t>only if </a:t>
            </a:r>
            <a:r>
              <a:rPr sz="1000" spc="-10" dirty="0">
                <a:latin typeface="Arial"/>
                <a:cs typeface="Arial"/>
              </a:rPr>
              <a:t>you </a:t>
            </a:r>
            <a:r>
              <a:rPr sz="1000" spc="-15" dirty="0">
                <a:latin typeface="Arial"/>
                <a:cs typeface="Arial"/>
              </a:rPr>
              <a:t>have </a:t>
            </a:r>
            <a:r>
              <a:rPr sz="1000" spc="-5" dirty="0">
                <a:latin typeface="Arial"/>
                <a:cs typeface="Arial"/>
              </a:rPr>
              <a:t>the </a:t>
            </a:r>
            <a:r>
              <a:rPr sz="1000" spc="-265" dirty="0">
                <a:latin typeface="Arial"/>
                <a:cs typeface="Arial"/>
              </a:rPr>
              <a:t> </a:t>
            </a:r>
            <a:r>
              <a:rPr sz="1000" spc="-5" dirty="0">
                <a:latin typeface="Arial"/>
                <a:cs typeface="Arial"/>
              </a:rPr>
              <a:t>original posting (a read </a:t>
            </a:r>
            <a:r>
              <a:rPr sz="1000" dirty="0">
                <a:latin typeface="Arial"/>
                <a:cs typeface="Arial"/>
              </a:rPr>
              <a:t> </a:t>
            </a:r>
            <a:r>
              <a:rPr sz="1000" spc="-5" dirty="0">
                <a:latin typeface="Arial"/>
                <a:cs typeface="Arial"/>
              </a:rPr>
              <a:t>“pulls in” the corresponding </a:t>
            </a:r>
            <a:r>
              <a:rPr sz="1000" spc="-265" dirty="0">
                <a:latin typeface="Arial"/>
                <a:cs typeface="Arial"/>
              </a:rPr>
              <a:t> </a:t>
            </a:r>
            <a:r>
              <a:rPr sz="1000" dirty="0">
                <a:latin typeface="Arial"/>
                <a:cs typeface="Arial"/>
              </a:rPr>
              <a:t>write</a:t>
            </a:r>
            <a:r>
              <a:rPr sz="1000" spc="-10" dirty="0">
                <a:latin typeface="Arial"/>
                <a:cs typeface="Arial"/>
              </a:rPr>
              <a:t> </a:t>
            </a:r>
            <a:r>
              <a:rPr sz="1000" spc="-5" dirty="0">
                <a:latin typeface="Arial"/>
                <a:cs typeface="Arial"/>
              </a:rPr>
              <a:t>operation).</a:t>
            </a:r>
            <a:endParaRPr sz="1000">
              <a:latin typeface="Arial"/>
              <a:cs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1732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Consistency</a:t>
            </a:r>
            <a:r>
              <a:rPr sz="600" spc="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and</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replication:</a:t>
            </a:r>
            <a:r>
              <a:rPr sz="600" spc="165" dirty="0">
                <a:solidFill>
                  <a:srgbClr val="3333B2"/>
                </a:solidFill>
                <a:latin typeface="Arial"/>
                <a:cs typeface="Arial"/>
              </a:rPr>
              <a:t> </a:t>
            </a:r>
            <a:r>
              <a:rPr sz="600" spc="-5" dirty="0">
                <a:solidFill>
                  <a:srgbClr val="3333B2"/>
                </a:solidFill>
                <a:latin typeface="Arial"/>
                <a:cs typeface="Arial"/>
                <a:hlinkClick r:id="rId3" action="ppaction://hlinksldjump"/>
              </a:rPr>
              <a:t>Replica</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management</a:t>
            </a:r>
            <a:endParaRPr sz="600">
              <a:latin typeface="Arial"/>
              <a:cs typeface="Arial"/>
            </a:endParaRPr>
          </a:p>
        </p:txBody>
      </p:sp>
      <p:sp>
        <p:nvSpPr>
          <p:cNvPr id="3" name="object 3"/>
          <p:cNvSpPr txBox="1"/>
          <p:nvPr/>
        </p:nvSpPr>
        <p:spPr>
          <a:xfrm>
            <a:off x="3460668" y="716"/>
            <a:ext cx="10807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Finding the best</a:t>
            </a:r>
            <a:r>
              <a:rPr sz="60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server location</a:t>
            </a:r>
            <a:endParaRPr sz="600">
              <a:latin typeface="Arial"/>
              <a:cs typeface="Arial"/>
            </a:endParaRPr>
          </a:p>
        </p:txBody>
      </p:sp>
      <p:sp>
        <p:nvSpPr>
          <p:cNvPr id="4" name="object 4"/>
          <p:cNvSpPr txBox="1"/>
          <p:nvPr/>
        </p:nvSpPr>
        <p:spPr>
          <a:xfrm>
            <a:off x="95300" y="188846"/>
            <a:ext cx="152400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Replica</a:t>
            </a:r>
            <a:r>
              <a:rPr sz="1400" spc="-65" dirty="0">
                <a:solidFill>
                  <a:srgbClr val="3333B2"/>
                </a:solidFill>
                <a:latin typeface="Arial"/>
                <a:cs typeface="Arial"/>
              </a:rPr>
              <a:t> </a:t>
            </a:r>
            <a:r>
              <a:rPr sz="1400" spc="15" dirty="0">
                <a:solidFill>
                  <a:srgbClr val="3333B2"/>
                </a:solidFill>
                <a:latin typeface="Arial"/>
                <a:cs typeface="Arial"/>
              </a:rPr>
              <a:t>placement</a:t>
            </a:r>
            <a:endParaRPr sz="1400">
              <a:latin typeface="Arial"/>
              <a:cs typeface="Arial"/>
            </a:endParaRPr>
          </a:p>
        </p:txBody>
      </p:sp>
      <p:sp>
        <p:nvSpPr>
          <p:cNvPr id="5" name="object 5"/>
          <p:cNvSpPr txBox="1"/>
          <p:nvPr/>
        </p:nvSpPr>
        <p:spPr>
          <a:xfrm>
            <a:off x="347294" y="823998"/>
            <a:ext cx="3691890" cy="353060"/>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3333B2"/>
                </a:solidFill>
                <a:latin typeface="Arial"/>
                <a:cs typeface="Arial"/>
              </a:rPr>
              <a:t>Essence</a:t>
            </a:r>
            <a:endParaRPr sz="1200">
              <a:latin typeface="Arial"/>
              <a:cs typeface="Arial"/>
            </a:endParaRPr>
          </a:p>
          <a:p>
            <a:pPr marL="12700">
              <a:lnSpc>
                <a:spcPts val="1170"/>
              </a:lnSpc>
            </a:pPr>
            <a:r>
              <a:rPr sz="1000" spc="-5" dirty="0">
                <a:latin typeface="Arial"/>
                <a:cs typeface="Arial"/>
              </a:rPr>
              <a:t>Figure out</a:t>
            </a:r>
            <a:r>
              <a:rPr sz="1000" dirty="0">
                <a:latin typeface="Arial"/>
                <a:cs typeface="Arial"/>
              </a:rPr>
              <a:t> </a:t>
            </a:r>
            <a:r>
              <a:rPr sz="1000" spc="-5" dirty="0">
                <a:latin typeface="Arial"/>
                <a:cs typeface="Arial"/>
              </a:rPr>
              <a:t>what the</a:t>
            </a:r>
            <a:r>
              <a:rPr sz="1000" dirty="0">
                <a:latin typeface="Arial"/>
                <a:cs typeface="Arial"/>
              </a:rPr>
              <a:t> </a:t>
            </a:r>
            <a:r>
              <a:rPr sz="1000" spc="-5" dirty="0">
                <a:latin typeface="Arial"/>
                <a:cs typeface="Arial"/>
              </a:rPr>
              <a:t>best </a:t>
            </a:r>
            <a:r>
              <a:rPr sz="1000" i="1" spc="-5" dirty="0">
                <a:latin typeface="Arial"/>
                <a:cs typeface="Arial"/>
              </a:rPr>
              <a:t>K</a:t>
            </a:r>
            <a:r>
              <a:rPr sz="1000" i="1" spc="145" dirty="0">
                <a:latin typeface="Arial"/>
                <a:cs typeface="Arial"/>
              </a:rPr>
              <a:t> </a:t>
            </a:r>
            <a:r>
              <a:rPr sz="1000" spc="-5" dirty="0">
                <a:latin typeface="Arial"/>
                <a:cs typeface="Arial"/>
              </a:rPr>
              <a:t>places are</a:t>
            </a:r>
            <a:r>
              <a:rPr sz="1000" dirty="0">
                <a:latin typeface="Arial"/>
                <a:cs typeface="Arial"/>
              </a:rPr>
              <a:t> </a:t>
            </a:r>
            <a:r>
              <a:rPr sz="1000" spc="-5" dirty="0">
                <a:latin typeface="Arial"/>
                <a:cs typeface="Arial"/>
              </a:rPr>
              <a:t>out of</a:t>
            </a:r>
            <a:r>
              <a:rPr sz="1000" dirty="0">
                <a:latin typeface="Arial"/>
                <a:cs typeface="Arial"/>
              </a:rPr>
              <a:t> </a:t>
            </a:r>
            <a:r>
              <a:rPr sz="1000" i="1" spc="-5" dirty="0">
                <a:latin typeface="Arial"/>
                <a:cs typeface="Arial"/>
              </a:rPr>
              <a:t>N</a:t>
            </a:r>
            <a:r>
              <a:rPr sz="1000" i="1" spc="75" dirty="0">
                <a:latin typeface="Arial"/>
                <a:cs typeface="Arial"/>
              </a:rPr>
              <a:t> </a:t>
            </a:r>
            <a:r>
              <a:rPr sz="1000" spc="-5" dirty="0">
                <a:latin typeface="Arial"/>
                <a:cs typeface="Arial"/>
              </a:rPr>
              <a:t>possible</a:t>
            </a:r>
            <a:r>
              <a:rPr sz="1000" dirty="0">
                <a:latin typeface="Arial"/>
                <a:cs typeface="Arial"/>
              </a:rPr>
              <a:t> </a:t>
            </a:r>
            <a:r>
              <a:rPr sz="1000" spc="-5" dirty="0">
                <a:latin typeface="Arial"/>
                <a:cs typeface="Arial"/>
              </a:rPr>
              <a:t>locations.</a:t>
            </a:r>
            <a:endParaRPr sz="1000">
              <a:latin typeface="Arial"/>
              <a:cs typeface="Arial"/>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1732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Consistency</a:t>
            </a:r>
            <a:r>
              <a:rPr sz="600" spc="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and</a:t>
            </a:r>
            <a:r>
              <a:rPr sz="600" spc="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replication:</a:t>
            </a:r>
            <a:r>
              <a:rPr sz="600" spc="165" dirty="0">
                <a:solidFill>
                  <a:srgbClr val="3333B2"/>
                </a:solidFill>
                <a:latin typeface="Arial"/>
                <a:cs typeface="Arial"/>
              </a:rPr>
              <a:t> </a:t>
            </a:r>
            <a:r>
              <a:rPr sz="600" spc="-5" dirty="0">
                <a:solidFill>
                  <a:srgbClr val="3333B2"/>
                </a:solidFill>
                <a:latin typeface="Arial"/>
                <a:cs typeface="Arial"/>
                <a:hlinkClick r:id="rId3" action="ppaction://hlinksldjump"/>
              </a:rPr>
              <a:t>Replica</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management</a:t>
            </a:r>
            <a:endParaRPr sz="600">
              <a:latin typeface="Arial"/>
              <a:cs typeface="Arial"/>
            </a:endParaRPr>
          </a:p>
        </p:txBody>
      </p:sp>
      <p:sp>
        <p:nvSpPr>
          <p:cNvPr id="3" name="object 3"/>
          <p:cNvSpPr txBox="1"/>
          <p:nvPr/>
        </p:nvSpPr>
        <p:spPr>
          <a:xfrm>
            <a:off x="3460668" y="716"/>
            <a:ext cx="10807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Finding the best</a:t>
            </a:r>
            <a:r>
              <a:rPr sz="60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server location</a:t>
            </a:r>
            <a:endParaRPr sz="600">
              <a:latin typeface="Arial"/>
              <a:cs typeface="Arial"/>
            </a:endParaRPr>
          </a:p>
        </p:txBody>
      </p:sp>
      <p:sp>
        <p:nvSpPr>
          <p:cNvPr id="4" name="object 4"/>
          <p:cNvSpPr txBox="1"/>
          <p:nvPr/>
        </p:nvSpPr>
        <p:spPr>
          <a:xfrm>
            <a:off x="95300" y="188846"/>
            <a:ext cx="152400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Replica</a:t>
            </a:r>
            <a:r>
              <a:rPr sz="1400" spc="-50" dirty="0">
                <a:solidFill>
                  <a:srgbClr val="3333B2"/>
                </a:solidFill>
                <a:latin typeface="Arial"/>
                <a:cs typeface="Arial"/>
              </a:rPr>
              <a:t> </a:t>
            </a:r>
            <a:r>
              <a:rPr sz="1400" spc="15" dirty="0">
                <a:solidFill>
                  <a:srgbClr val="3333B2"/>
                </a:solidFill>
                <a:latin typeface="Arial"/>
                <a:cs typeface="Arial"/>
              </a:rPr>
              <a:t>placement</a:t>
            </a:r>
            <a:endParaRPr sz="1400">
              <a:latin typeface="Arial"/>
              <a:cs typeface="Arial"/>
            </a:endParaRPr>
          </a:p>
        </p:txBody>
      </p:sp>
      <p:sp>
        <p:nvSpPr>
          <p:cNvPr id="5" name="object 5"/>
          <p:cNvSpPr txBox="1"/>
          <p:nvPr/>
        </p:nvSpPr>
        <p:spPr>
          <a:xfrm>
            <a:off x="321894" y="823998"/>
            <a:ext cx="3914775" cy="1036319"/>
          </a:xfrm>
          <a:prstGeom prst="rect">
            <a:avLst/>
          </a:prstGeom>
        </p:spPr>
        <p:txBody>
          <a:bodyPr vert="horz" wrap="square" lIns="0" tIns="12065" rIns="0" bIns="0" rtlCol="0">
            <a:spAutoFit/>
          </a:bodyPr>
          <a:lstStyle/>
          <a:p>
            <a:pPr marL="38100">
              <a:lnSpc>
                <a:spcPts val="1410"/>
              </a:lnSpc>
              <a:spcBef>
                <a:spcPts val="95"/>
              </a:spcBef>
            </a:pPr>
            <a:r>
              <a:rPr sz="1200" spc="-5" dirty="0">
                <a:solidFill>
                  <a:srgbClr val="3333B2"/>
                </a:solidFill>
                <a:latin typeface="Arial"/>
                <a:cs typeface="Arial"/>
              </a:rPr>
              <a:t>Essence</a:t>
            </a:r>
            <a:endParaRPr sz="1200">
              <a:latin typeface="Arial"/>
              <a:cs typeface="Arial"/>
            </a:endParaRPr>
          </a:p>
          <a:p>
            <a:pPr marL="38100">
              <a:lnSpc>
                <a:spcPts val="1170"/>
              </a:lnSpc>
            </a:pPr>
            <a:r>
              <a:rPr sz="1000" spc="-5" dirty="0">
                <a:latin typeface="Arial"/>
                <a:cs typeface="Arial"/>
              </a:rPr>
              <a:t>Figure out</a:t>
            </a:r>
            <a:r>
              <a:rPr sz="1000" dirty="0">
                <a:latin typeface="Arial"/>
                <a:cs typeface="Arial"/>
              </a:rPr>
              <a:t> </a:t>
            </a:r>
            <a:r>
              <a:rPr sz="1000" spc="-5" dirty="0">
                <a:latin typeface="Arial"/>
                <a:cs typeface="Arial"/>
              </a:rPr>
              <a:t>what the</a:t>
            </a:r>
            <a:r>
              <a:rPr sz="1000" dirty="0">
                <a:latin typeface="Arial"/>
                <a:cs typeface="Arial"/>
              </a:rPr>
              <a:t> </a:t>
            </a:r>
            <a:r>
              <a:rPr sz="1000" spc="-5" dirty="0">
                <a:latin typeface="Arial"/>
                <a:cs typeface="Arial"/>
              </a:rPr>
              <a:t>best </a:t>
            </a:r>
            <a:r>
              <a:rPr sz="1000" i="1" spc="-5" dirty="0">
                <a:latin typeface="Arial"/>
                <a:cs typeface="Arial"/>
              </a:rPr>
              <a:t>K</a:t>
            </a:r>
            <a:r>
              <a:rPr sz="1000" i="1" spc="140" dirty="0">
                <a:latin typeface="Arial"/>
                <a:cs typeface="Arial"/>
              </a:rPr>
              <a:t> </a:t>
            </a:r>
            <a:r>
              <a:rPr sz="1000" spc="-5" dirty="0">
                <a:latin typeface="Arial"/>
                <a:cs typeface="Arial"/>
              </a:rPr>
              <a:t>places</a:t>
            </a:r>
            <a:r>
              <a:rPr sz="1000" dirty="0">
                <a:latin typeface="Arial"/>
                <a:cs typeface="Arial"/>
              </a:rPr>
              <a:t> </a:t>
            </a:r>
            <a:r>
              <a:rPr sz="1000" spc="-5" dirty="0">
                <a:latin typeface="Arial"/>
                <a:cs typeface="Arial"/>
              </a:rPr>
              <a:t>are out</a:t>
            </a:r>
            <a:r>
              <a:rPr sz="1000" dirty="0">
                <a:latin typeface="Arial"/>
                <a:cs typeface="Arial"/>
              </a:rPr>
              <a:t> </a:t>
            </a:r>
            <a:r>
              <a:rPr sz="1000" spc="-5" dirty="0">
                <a:latin typeface="Arial"/>
                <a:cs typeface="Arial"/>
              </a:rPr>
              <a:t>of </a:t>
            </a:r>
            <a:r>
              <a:rPr sz="1000" i="1" spc="-5" dirty="0">
                <a:latin typeface="Arial"/>
                <a:cs typeface="Arial"/>
              </a:rPr>
              <a:t>N</a:t>
            </a:r>
            <a:r>
              <a:rPr sz="1000" i="1" spc="80" dirty="0">
                <a:latin typeface="Arial"/>
                <a:cs typeface="Arial"/>
              </a:rPr>
              <a:t> </a:t>
            </a:r>
            <a:r>
              <a:rPr sz="1000" spc="-5" dirty="0">
                <a:latin typeface="Arial"/>
                <a:cs typeface="Arial"/>
              </a:rPr>
              <a:t>possible</a:t>
            </a:r>
            <a:r>
              <a:rPr sz="1000" dirty="0">
                <a:latin typeface="Arial"/>
                <a:cs typeface="Arial"/>
              </a:rPr>
              <a:t> </a:t>
            </a:r>
            <a:r>
              <a:rPr sz="1000" spc="-5" dirty="0">
                <a:latin typeface="Arial"/>
                <a:cs typeface="Arial"/>
              </a:rPr>
              <a:t>locations.</a:t>
            </a:r>
            <a:endParaRPr sz="1000">
              <a:latin typeface="Arial"/>
              <a:cs typeface="Arial"/>
            </a:endParaRPr>
          </a:p>
          <a:p>
            <a:pPr marL="311150" marR="30480" indent="-163830">
              <a:lnSpc>
                <a:spcPct val="100000"/>
              </a:lnSpc>
              <a:spcBef>
                <a:spcPts val="590"/>
              </a:spcBef>
              <a:buClr>
                <a:srgbClr val="3333B2"/>
              </a:buClr>
              <a:buChar char="►"/>
              <a:tabLst>
                <a:tab pos="315595" algn="l"/>
              </a:tabLst>
            </a:pPr>
            <a:r>
              <a:rPr sz="1000" spc="-5" dirty="0">
                <a:latin typeface="Arial"/>
                <a:cs typeface="Arial"/>
              </a:rPr>
              <a:t>Select best</a:t>
            </a:r>
            <a:r>
              <a:rPr sz="1000" dirty="0">
                <a:latin typeface="Arial"/>
                <a:cs typeface="Arial"/>
              </a:rPr>
              <a:t> </a:t>
            </a:r>
            <a:r>
              <a:rPr sz="1000" spc="-5" dirty="0">
                <a:latin typeface="Arial"/>
                <a:cs typeface="Arial"/>
              </a:rPr>
              <a:t>location</a:t>
            </a:r>
            <a:r>
              <a:rPr sz="1000" dirty="0">
                <a:latin typeface="Arial"/>
                <a:cs typeface="Arial"/>
              </a:rPr>
              <a:t> </a:t>
            </a:r>
            <a:r>
              <a:rPr sz="1000" spc="-5" dirty="0">
                <a:latin typeface="Arial"/>
                <a:cs typeface="Arial"/>
              </a:rPr>
              <a:t>out of</a:t>
            </a:r>
            <a:r>
              <a:rPr sz="1000" dirty="0">
                <a:latin typeface="Arial"/>
                <a:cs typeface="Arial"/>
              </a:rPr>
              <a:t> </a:t>
            </a:r>
            <a:r>
              <a:rPr sz="1000" i="1" spc="-5" dirty="0">
                <a:latin typeface="Arial"/>
                <a:cs typeface="Arial"/>
              </a:rPr>
              <a:t>N</a:t>
            </a:r>
            <a:r>
              <a:rPr sz="1000" i="1" spc="-60" dirty="0">
                <a:latin typeface="Arial"/>
                <a:cs typeface="Arial"/>
              </a:rPr>
              <a:t> </a:t>
            </a:r>
            <a:r>
              <a:rPr sz="1000" i="1" spc="50" dirty="0">
                <a:latin typeface="メイリオ"/>
                <a:cs typeface="メイリオ"/>
              </a:rPr>
              <a:t>−</a:t>
            </a:r>
            <a:r>
              <a:rPr sz="1000" i="1" spc="50" dirty="0">
                <a:latin typeface="Arial"/>
                <a:cs typeface="Arial"/>
              </a:rPr>
              <a:t>K</a:t>
            </a:r>
            <a:r>
              <a:rPr sz="1000" i="1" spc="14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which</a:t>
            </a:r>
            <a:r>
              <a:rPr sz="1000" dirty="0">
                <a:latin typeface="Arial"/>
                <a:cs typeface="Arial"/>
              </a:rPr>
              <a:t> </a:t>
            </a:r>
            <a:r>
              <a:rPr sz="1000" spc="-5" dirty="0">
                <a:latin typeface="Arial"/>
                <a:cs typeface="Arial"/>
              </a:rPr>
              <a:t>the </a:t>
            </a:r>
            <a:r>
              <a:rPr sz="1000" spc="-10" dirty="0">
                <a:solidFill>
                  <a:srgbClr val="0000FA"/>
                </a:solidFill>
                <a:latin typeface="Arial"/>
                <a:cs typeface="Arial"/>
              </a:rPr>
              <a:t>average</a:t>
            </a:r>
            <a:r>
              <a:rPr sz="1000" dirty="0">
                <a:solidFill>
                  <a:srgbClr val="0000FA"/>
                </a:solidFill>
                <a:latin typeface="Arial"/>
                <a:cs typeface="Arial"/>
              </a:rPr>
              <a:t> </a:t>
            </a:r>
            <a:r>
              <a:rPr sz="1000" spc="-5" dirty="0">
                <a:solidFill>
                  <a:srgbClr val="0000FA"/>
                </a:solidFill>
                <a:latin typeface="Arial"/>
                <a:cs typeface="Arial"/>
              </a:rPr>
              <a:t>distance </a:t>
            </a:r>
            <a:r>
              <a:rPr sz="1000" spc="-260" dirty="0">
                <a:solidFill>
                  <a:srgbClr val="0000FA"/>
                </a:solidFill>
                <a:latin typeface="Arial"/>
                <a:cs typeface="Arial"/>
              </a:rPr>
              <a:t> </a:t>
            </a:r>
            <a:r>
              <a:rPr sz="1000" spc="-5" dirty="0">
                <a:solidFill>
                  <a:srgbClr val="0000FA"/>
                </a:solidFill>
                <a:latin typeface="Arial"/>
                <a:cs typeface="Arial"/>
              </a:rPr>
              <a:t>to clients</a:t>
            </a:r>
            <a:r>
              <a:rPr sz="1000" dirty="0">
                <a:solidFill>
                  <a:srgbClr val="0000FA"/>
                </a:solidFill>
                <a:latin typeface="Arial"/>
                <a:cs typeface="Arial"/>
              </a:rPr>
              <a:t> </a:t>
            </a:r>
            <a:r>
              <a:rPr sz="1000" spc="-5" dirty="0">
                <a:solidFill>
                  <a:srgbClr val="0000FA"/>
                </a:solidFill>
                <a:latin typeface="Arial"/>
                <a:cs typeface="Arial"/>
              </a:rPr>
              <a:t>is</a:t>
            </a:r>
            <a:r>
              <a:rPr sz="1000" dirty="0">
                <a:solidFill>
                  <a:srgbClr val="0000FA"/>
                </a:solidFill>
                <a:latin typeface="Arial"/>
                <a:cs typeface="Arial"/>
              </a:rPr>
              <a:t> </a:t>
            </a:r>
            <a:r>
              <a:rPr sz="1000" spc="-5" dirty="0">
                <a:solidFill>
                  <a:srgbClr val="0000FA"/>
                </a:solidFill>
                <a:latin typeface="Arial"/>
                <a:cs typeface="Arial"/>
              </a:rPr>
              <a:t>minimal</a:t>
            </a:r>
            <a:r>
              <a:rPr sz="1000" spc="-5" dirty="0">
                <a:latin typeface="Arial"/>
                <a:cs typeface="Arial"/>
              </a:rPr>
              <a:t>.</a:t>
            </a:r>
            <a:r>
              <a:rPr sz="1000" spc="60" dirty="0">
                <a:latin typeface="Arial"/>
                <a:cs typeface="Arial"/>
              </a:rPr>
              <a:t> </a:t>
            </a:r>
            <a:r>
              <a:rPr sz="1000" spc="-5" dirty="0">
                <a:latin typeface="Arial"/>
                <a:cs typeface="Arial"/>
              </a:rPr>
              <a:t>Then</a:t>
            </a:r>
            <a:r>
              <a:rPr sz="1000" dirty="0">
                <a:latin typeface="Arial"/>
                <a:cs typeface="Arial"/>
              </a:rPr>
              <a:t> </a:t>
            </a:r>
            <a:r>
              <a:rPr sz="1000" spc="-5" dirty="0">
                <a:latin typeface="Arial"/>
                <a:cs typeface="Arial"/>
              </a:rPr>
              <a:t>choose</a:t>
            </a:r>
            <a:r>
              <a:rPr sz="1000" dirty="0">
                <a:latin typeface="Arial"/>
                <a:cs typeface="Arial"/>
              </a:rPr>
              <a:t> </a:t>
            </a:r>
            <a:r>
              <a:rPr sz="1000" spc="-5" dirty="0">
                <a:latin typeface="Arial"/>
                <a:cs typeface="Arial"/>
              </a:rPr>
              <a:t>the </a:t>
            </a:r>
            <a:r>
              <a:rPr sz="1000" spc="-10" dirty="0">
                <a:latin typeface="Arial"/>
                <a:cs typeface="Arial"/>
              </a:rPr>
              <a:t>next</a:t>
            </a:r>
            <a:r>
              <a:rPr sz="1000" dirty="0">
                <a:latin typeface="Arial"/>
                <a:cs typeface="Arial"/>
              </a:rPr>
              <a:t> </a:t>
            </a:r>
            <a:r>
              <a:rPr sz="1000" spc="-5" dirty="0">
                <a:latin typeface="Arial"/>
                <a:cs typeface="Arial"/>
              </a:rPr>
              <a:t>best</a:t>
            </a:r>
            <a:r>
              <a:rPr sz="1000" dirty="0">
                <a:latin typeface="Arial"/>
                <a:cs typeface="Arial"/>
              </a:rPr>
              <a:t> </a:t>
            </a:r>
            <a:r>
              <a:rPr sz="1000" spc="-10" dirty="0">
                <a:latin typeface="Arial"/>
                <a:cs typeface="Arial"/>
              </a:rPr>
              <a:t>server.</a:t>
            </a:r>
            <a:r>
              <a:rPr sz="1000" spc="65" dirty="0">
                <a:latin typeface="Arial"/>
                <a:cs typeface="Arial"/>
              </a:rPr>
              <a:t> </a:t>
            </a:r>
            <a:r>
              <a:rPr sz="1000" spc="-5" dirty="0">
                <a:latin typeface="Arial"/>
                <a:cs typeface="Arial"/>
              </a:rPr>
              <a:t>(</a:t>
            </a:r>
            <a:r>
              <a:rPr sz="1000" spc="-5" dirty="0">
                <a:solidFill>
                  <a:srgbClr val="FA0000"/>
                </a:solidFill>
                <a:latin typeface="Arial"/>
                <a:cs typeface="Arial"/>
              </a:rPr>
              <a:t>Note: </a:t>
            </a:r>
            <a:r>
              <a:rPr sz="1000" dirty="0">
                <a:solidFill>
                  <a:srgbClr val="FA0000"/>
                </a:solidFill>
                <a:latin typeface="Arial"/>
                <a:cs typeface="Arial"/>
              </a:rPr>
              <a:t> </a:t>
            </a:r>
            <a:r>
              <a:rPr sz="1000" spc="-5" dirty="0">
                <a:latin typeface="Arial"/>
                <a:cs typeface="Arial"/>
              </a:rPr>
              <a:t>The first</a:t>
            </a:r>
            <a:r>
              <a:rPr sz="1000" dirty="0">
                <a:latin typeface="Arial"/>
                <a:cs typeface="Arial"/>
              </a:rPr>
              <a:t> </a:t>
            </a:r>
            <a:r>
              <a:rPr sz="1000" spc="-5" dirty="0">
                <a:latin typeface="Arial"/>
                <a:cs typeface="Arial"/>
              </a:rPr>
              <a:t>chosen location</a:t>
            </a:r>
            <a:r>
              <a:rPr sz="1000" dirty="0">
                <a:latin typeface="Arial"/>
                <a:cs typeface="Arial"/>
              </a:rPr>
              <a:t> </a:t>
            </a:r>
            <a:r>
              <a:rPr sz="1000" spc="-5" dirty="0">
                <a:latin typeface="Arial"/>
                <a:cs typeface="Arial"/>
              </a:rPr>
              <a:t>minimizes</a:t>
            </a:r>
            <a:r>
              <a:rPr sz="1000" dirty="0">
                <a:latin typeface="Arial"/>
                <a:cs typeface="Arial"/>
              </a:rPr>
              <a:t> </a:t>
            </a:r>
            <a:r>
              <a:rPr sz="1000" spc="-5" dirty="0">
                <a:latin typeface="Arial"/>
                <a:cs typeface="Arial"/>
              </a:rPr>
              <a:t>the </a:t>
            </a:r>
            <a:r>
              <a:rPr sz="1000" spc="-10" dirty="0">
                <a:latin typeface="Arial"/>
                <a:cs typeface="Arial"/>
              </a:rPr>
              <a:t>average</a:t>
            </a:r>
            <a:r>
              <a:rPr sz="1000" dirty="0">
                <a:latin typeface="Arial"/>
                <a:cs typeface="Arial"/>
              </a:rPr>
              <a:t> </a:t>
            </a:r>
            <a:r>
              <a:rPr sz="1000" spc="-5" dirty="0">
                <a:latin typeface="Arial"/>
                <a:cs typeface="Arial"/>
              </a:rPr>
              <a:t>distance</a:t>
            </a:r>
            <a:r>
              <a:rPr sz="1000" dirty="0">
                <a:latin typeface="Arial"/>
                <a:cs typeface="Arial"/>
              </a:rPr>
              <a:t> </a:t>
            </a:r>
            <a:r>
              <a:rPr sz="1000" spc="-5" dirty="0">
                <a:latin typeface="Arial"/>
                <a:cs typeface="Arial"/>
              </a:rPr>
              <a:t>to all </a:t>
            </a:r>
            <a:r>
              <a:rPr sz="1000" dirty="0">
                <a:latin typeface="Arial"/>
                <a:cs typeface="Arial"/>
              </a:rPr>
              <a:t> </a:t>
            </a:r>
            <a:r>
              <a:rPr sz="1000" spc="-5" dirty="0">
                <a:latin typeface="Arial"/>
                <a:cs typeface="Arial"/>
              </a:rPr>
              <a:t>clients.)</a:t>
            </a:r>
            <a:r>
              <a:rPr sz="1000" spc="55" dirty="0">
                <a:latin typeface="Arial"/>
                <a:cs typeface="Arial"/>
              </a:rPr>
              <a:t> </a:t>
            </a:r>
            <a:r>
              <a:rPr sz="1000" spc="-5" dirty="0">
                <a:solidFill>
                  <a:srgbClr val="0000FA"/>
                </a:solidFill>
                <a:latin typeface="Arial"/>
                <a:cs typeface="Arial"/>
              </a:rPr>
              <a:t>Computationally </a:t>
            </a:r>
            <a:r>
              <a:rPr sz="1000" spc="-10" dirty="0">
                <a:solidFill>
                  <a:srgbClr val="0000FA"/>
                </a:solidFill>
                <a:latin typeface="Arial"/>
                <a:cs typeface="Arial"/>
              </a:rPr>
              <a:t>expensive</a:t>
            </a:r>
            <a:r>
              <a:rPr sz="1000" spc="-10" dirty="0">
                <a:latin typeface="Arial"/>
                <a:cs typeface="Arial"/>
              </a:rPr>
              <a:t>.</a:t>
            </a:r>
            <a:endParaRPr sz="1000">
              <a:latin typeface="Arial"/>
              <a:cs typeface="Arial"/>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1732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Consistency</a:t>
            </a:r>
            <a:r>
              <a:rPr sz="600" spc="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and</a:t>
            </a:r>
            <a:r>
              <a:rPr sz="600" spc="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replication:</a:t>
            </a:r>
            <a:r>
              <a:rPr sz="600" spc="165" dirty="0">
                <a:solidFill>
                  <a:srgbClr val="3333B2"/>
                </a:solidFill>
                <a:latin typeface="Arial"/>
                <a:cs typeface="Arial"/>
              </a:rPr>
              <a:t> </a:t>
            </a:r>
            <a:r>
              <a:rPr sz="600" spc="-5" dirty="0">
                <a:solidFill>
                  <a:srgbClr val="3333B2"/>
                </a:solidFill>
                <a:latin typeface="Arial"/>
                <a:cs typeface="Arial"/>
                <a:hlinkClick r:id="rId3" action="ppaction://hlinksldjump"/>
              </a:rPr>
              <a:t>Replica</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management</a:t>
            </a:r>
            <a:endParaRPr sz="600">
              <a:latin typeface="Arial"/>
              <a:cs typeface="Arial"/>
            </a:endParaRPr>
          </a:p>
        </p:txBody>
      </p:sp>
      <p:sp>
        <p:nvSpPr>
          <p:cNvPr id="3" name="object 3"/>
          <p:cNvSpPr txBox="1"/>
          <p:nvPr/>
        </p:nvSpPr>
        <p:spPr>
          <a:xfrm>
            <a:off x="3460668" y="716"/>
            <a:ext cx="10807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Finding the best</a:t>
            </a:r>
            <a:r>
              <a:rPr sz="60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server location</a:t>
            </a:r>
            <a:endParaRPr sz="600">
              <a:latin typeface="Arial"/>
              <a:cs typeface="Arial"/>
            </a:endParaRPr>
          </a:p>
        </p:txBody>
      </p:sp>
      <p:sp>
        <p:nvSpPr>
          <p:cNvPr id="4" name="object 4"/>
          <p:cNvSpPr txBox="1"/>
          <p:nvPr/>
        </p:nvSpPr>
        <p:spPr>
          <a:xfrm>
            <a:off x="95300" y="188846"/>
            <a:ext cx="152400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Replica</a:t>
            </a:r>
            <a:r>
              <a:rPr sz="1400" spc="-50" dirty="0">
                <a:solidFill>
                  <a:srgbClr val="3333B2"/>
                </a:solidFill>
                <a:latin typeface="Arial"/>
                <a:cs typeface="Arial"/>
              </a:rPr>
              <a:t> </a:t>
            </a:r>
            <a:r>
              <a:rPr sz="1400" spc="15" dirty="0">
                <a:solidFill>
                  <a:srgbClr val="3333B2"/>
                </a:solidFill>
                <a:latin typeface="Arial"/>
                <a:cs typeface="Arial"/>
              </a:rPr>
              <a:t>placement</a:t>
            </a:r>
            <a:endParaRPr sz="1400">
              <a:latin typeface="Arial"/>
              <a:cs typeface="Arial"/>
            </a:endParaRPr>
          </a:p>
        </p:txBody>
      </p:sp>
      <p:sp>
        <p:nvSpPr>
          <p:cNvPr id="5" name="object 5"/>
          <p:cNvSpPr txBox="1"/>
          <p:nvPr/>
        </p:nvSpPr>
        <p:spPr>
          <a:xfrm>
            <a:off x="321894" y="823998"/>
            <a:ext cx="3977004" cy="1340485"/>
          </a:xfrm>
          <a:prstGeom prst="rect">
            <a:avLst/>
          </a:prstGeom>
        </p:spPr>
        <p:txBody>
          <a:bodyPr vert="horz" wrap="square" lIns="0" tIns="12065" rIns="0" bIns="0" rtlCol="0">
            <a:spAutoFit/>
          </a:bodyPr>
          <a:lstStyle/>
          <a:p>
            <a:pPr marL="38100">
              <a:lnSpc>
                <a:spcPts val="1410"/>
              </a:lnSpc>
              <a:spcBef>
                <a:spcPts val="95"/>
              </a:spcBef>
            </a:pPr>
            <a:r>
              <a:rPr sz="1200" spc="-5" dirty="0">
                <a:solidFill>
                  <a:srgbClr val="3333B2"/>
                </a:solidFill>
                <a:latin typeface="Arial"/>
                <a:cs typeface="Arial"/>
              </a:rPr>
              <a:t>Essence</a:t>
            </a:r>
            <a:endParaRPr sz="1200">
              <a:latin typeface="Arial"/>
              <a:cs typeface="Arial"/>
            </a:endParaRPr>
          </a:p>
          <a:p>
            <a:pPr marL="38100">
              <a:lnSpc>
                <a:spcPts val="1170"/>
              </a:lnSpc>
            </a:pPr>
            <a:r>
              <a:rPr sz="1000" spc="-5" dirty="0">
                <a:latin typeface="Arial"/>
                <a:cs typeface="Arial"/>
              </a:rPr>
              <a:t>Figure out</a:t>
            </a:r>
            <a:r>
              <a:rPr sz="1000" dirty="0">
                <a:latin typeface="Arial"/>
                <a:cs typeface="Arial"/>
              </a:rPr>
              <a:t> </a:t>
            </a:r>
            <a:r>
              <a:rPr sz="1000" spc="-5" dirty="0">
                <a:latin typeface="Arial"/>
                <a:cs typeface="Arial"/>
              </a:rPr>
              <a:t>what the</a:t>
            </a:r>
            <a:r>
              <a:rPr sz="1000" dirty="0">
                <a:latin typeface="Arial"/>
                <a:cs typeface="Arial"/>
              </a:rPr>
              <a:t> </a:t>
            </a:r>
            <a:r>
              <a:rPr sz="1000" spc="-5" dirty="0">
                <a:latin typeface="Arial"/>
                <a:cs typeface="Arial"/>
              </a:rPr>
              <a:t>best </a:t>
            </a:r>
            <a:r>
              <a:rPr sz="1000" i="1" spc="-5" dirty="0">
                <a:latin typeface="Arial"/>
                <a:cs typeface="Arial"/>
              </a:rPr>
              <a:t>K</a:t>
            </a:r>
            <a:r>
              <a:rPr sz="1000" i="1" spc="140" dirty="0">
                <a:latin typeface="Arial"/>
                <a:cs typeface="Arial"/>
              </a:rPr>
              <a:t> </a:t>
            </a:r>
            <a:r>
              <a:rPr sz="1000" spc="-5" dirty="0">
                <a:latin typeface="Arial"/>
                <a:cs typeface="Arial"/>
              </a:rPr>
              <a:t>places</a:t>
            </a:r>
            <a:r>
              <a:rPr sz="1000" dirty="0">
                <a:latin typeface="Arial"/>
                <a:cs typeface="Arial"/>
              </a:rPr>
              <a:t> </a:t>
            </a:r>
            <a:r>
              <a:rPr sz="1000" spc="-5" dirty="0">
                <a:latin typeface="Arial"/>
                <a:cs typeface="Arial"/>
              </a:rPr>
              <a:t>are out</a:t>
            </a:r>
            <a:r>
              <a:rPr sz="1000" dirty="0">
                <a:latin typeface="Arial"/>
                <a:cs typeface="Arial"/>
              </a:rPr>
              <a:t> </a:t>
            </a:r>
            <a:r>
              <a:rPr sz="1000" spc="-5" dirty="0">
                <a:latin typeface="Arial"/>
                <a:cs typeface="Arial"/>
              </a:rPr>
              <a:t>of </a:t>
            </a:r>
            <a:r>
              <a:rPr sz="1000" i="1" spc="-5" dirty="0">
                <a:latin typeface="Arial"/>
                <a:cs typeface="Arial"/>
              </a:rPr>
              <a:t>N</a:t>
            </a:r>
            <a:r>
              <a:rPr sz="1000" i="1" spc="80" dirty="0">
                <a:latin typeface="Arial"/>
                <a:cs typeface="Arial"/>
              </a:rPr>
              <a:t> </a:t>
            </a:r>
            <a:r>
              <a:rPr sz="1000" spc="-5" dirty="0">
                <a:latin typeface="Arial"/>
                <a:cs typeface="Arial"/>
              </a:rPr>
              <a:t>possible</a:t>
            </a:r>
            <a:r>
              <a:rPr sz="1000" dirty="0">
                <a:latin typeface="Arial"/>
                <a:cs typeface="Arial"/>
              </a:rPr>
              <a:t> </a:t>
            </a:r>
            <a:r>
              <a:rPr sz="1000" spc="-5" dirty="0">
                <a:latin typeface="Arial"/>
                <a:cs typeface="Arial"/>
              </a:rPr>
              <a:t>locations.</a:t>
            </a:r>
            <a:endParaRPr sz="1000">
              <a:latin typeface="Arial"/>
              <a:cs typeface="Arial"/>
            </a:endParaRPr>
          </a:p>
          <a:p>
            <a:pPr marL="311150" marR="92710" indent="-163830">
              <a:lnSpc>
                <a:spcPct val="100000"/>
              </a:lnSpc>
              <a:spcBef>
                <a:spcPts val="590"/>
              </a:spcBef>
              <a:buClr>
                <a:srgbClr val="3333B2"/>
              </a:buClr>
              <a:buChar char="►"/>
              <a:tabLst>
                <a:tab pos="315595" algn="l"/>
              </a:tabLst>
            </a:pPr>
            <a:r>
              <a:rPr sz="1000" spc="-5" dirty="0">
                <a:latin typeface="Arial"/>
                <a:cs typeface="Arial"/>
              </a:rPr>
              <a:t>Select best</a:t>
            </a:r>
            <a:r>
              <a:rPr sz="1000" dirty="0">
                <a:latin typeface="Arial"/>
                <a:cs typeface="Arial"/>
              </a:rPr>
              <a:t> </a:t>
            </a:r>
            <a:r>
              <a:rPr sz="1000" spc="-5" dirty="0">
                <a:latin typeface="Arial"/>
                <a:cs typeface="Arial"/>
              </a:rPr>
              <a:t>location</a:t>
            </a:r>
            <a:r>
              <a:rPr sz="1000" dirty="0">
                <a:latin typeface="Arial"/>
                <a:cs typeface="Arial"/>
              </a:rPr>
              <a:t> </a:t>
            </a:r>
            <a:r>
              <a:rPr sz="1000" spc="-5" dirty="0">
                <a:latin typeface="Arial"/>
                <a:cs typeface="Arial"/>
              </a:rPr>
              <a:t>out of</a:t>
            </a:r>
            <a:r>
              <a:rPr sz="1000" dirty="0">
                <a:latin typeface="Arial"/>
                <a:cs typeface="Arial"/>
              </a:rPr>
              <a:t> </a:t>
            </a:r>
            <a:r>
              <a:rPr sz="1000" i="1" spc="-5" dirty="0">
                <a:latin typeface="Arial"/>
                <a:cs typeface="Arial"/>
              </a:rPr>
              <a:t>N</a:t>
            </a:r>
            <a:r>
              <a:rPr sz="1000" i="1" spc="-60" dirty="0">
                <a:latin typeface="Arial"/>
                <a:cs typeface="Arial"/>
              </a:rPr>
              <a:t> </a:t>
            </a:r>
            <a:r>
              <a:rPr sz="1000" i="1" spc="50" dirty="0">
                <a:latin typeface="メイリオ"/>
                <a:cs typeface="メイリオ"/>
              </a:rPr>
              <a:t>−</a:t>
            </a:r>
            <a:r>
              <a:rPr sz="1000" i="1" spc="50" dirty="0">
                <a:latin typeface="Arial"/>
                <a:cs typeface="Arial"/>
              </a:rPr>
              <a:t>K</a:t>
            </a:r>
            <a:r>
              <a:rPr sz="1000" i="1" spc="14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which</a:t>
            </a:r>
            <a:r>
              <a:rPr sz="1000" dirty="0">
                <a:latin typeface="Arial"/>
                <a:cs typeface="Arial"/>
              </a:rPr>
              <a:t> </a:t>
            </a:r>
            <a:r>
              <a:rPr sz="1000" spc="-5" dirty="0">
                <a:latin typeface="Arial"/>
                <a:cs typeface="Arial"/>
              </a:rPr>
              <a:t>the </a:t>
            </a:r>
            <a:r>
              <a:rPr sz="1000" spc="-10" dirty="0">
                <a:solidFill>
                  <a:srgbClr val="0000FA"/>
                </a:solidFill>
                <a:latin typeface="Arial"/>
                <a:cs typeface="Arial"/>
              </a:rPr>
              <a:t>average</a:t>
            </a:r>
            <a:r>
              <a:rPr sz="1000" dirty="0">
                <a:solidFill>
                  <a:srgbClr val="0000FA"/>
                </a:solidFill>
                <a:latin typeface="Arial"/>
                <a:cs typeface="Arial"/>
              </a:rPr>
              <a:t> </a:t>
            </a:r>
            <a:r>
              <a:rPr sz="1000" spc="-5" dirty="0">
                <a:solidFill>
                  <a:srgbClr val="0000FA"/>
                </a:solidFill>
                <a:latin typeface="Arial"/>
                <a:cs typeface="Arial"/>
              </a:rPr>
              <a:t>distance </a:t>
            </a:r>
            <a:r>
              <a:rPr sz="1000" spc="-260" dirty="0">
                <a:solidFill>
                  <a:srgbClr val="0000FA"/>
                </a:solidFill>
                <a:latin typeface="Arial"/>
                <a:cs typeface="Arial"/>
              </a:rPr>
              <a:t> </a:t>
            </a:r>
            <a:r>
              <a:rPr sz="1000" spc="-5" dirty="0">
                <a:solidFill>
                  <a:srgbClr val="0000FA"/>
                </a:solidFill>
                <a:latin typeface="Arial"/>
                <a:cs typeface="Arial"/>
              </a:rPr>
              <a:t>to clients</a:t>
            </a:r>
            <a:r>
              <a:rPr sz="1000" dirty="0">
                <a:solidFill>
                  <a:srgbClr val="0000FA"/>
                </a:solidFill>
                <a:latin typeface="Arial"/>
                <a:cs typeface="Arial"/>
              </a:rPr>
              <a:t> </a:t>
            </a:r>
            <a:r>
              <a:rPr sz="1000" spc="-5" dirty="0">
                <a:solidFill>
                  <a:srgbClr val="0000FA"/>
                </a:solidFill>
                <a:latin typeface="Arial"/>
                <a:cs typeface="Arial"/>
              </a:rPr>
              <a:t>is</a:t>
            </a:r>
            <a:r>
              <a:rPr sz="1000" dirty="0">
                <a:solidFill>
                  <a:srgbClr val="0000FA"/>
                </a:solidFill>
                <a:latin typeface="Arial"/>
                <a:cs typeface="Arial"/>
              </a:rPr>
              <a:t> </a:t>
            </a:r>
            <a:r>
              <a:rPr sz="1000" spc="-5" dirty="0">
                <a:solidFill>
                  <a:srgbClr val="0000FA"/>
                </a:solidFill>
                <a:latin typeface="Arial"/>
                <a:cs typeface="Arial"/>
              </a:rPr>
              <a:t>minimal</a:t>
            </a:r>
            <a:r>
              <a:rPr sz="1000" spc="-5" dirty="0">
                <a:latin typeface="Arial"/>
                <a:cs typeface="Arial"/>
              </a:rPr>
              <a:t>.</a:t>
            </a:r>
            <a:r>
              <a:rPr sz="1000" spc="60" dirty="0">
                <a:latin typeface="Arial"/>
                <a:cs typeface="Arial"/>
              </a:rPr>
              <a:t> </a:t>
            </a:r>
            <a:r>
              <a:rPr sz="1000" spc="-5" dirty="0">
                <a:latin typeface="Arial"/>
                <a:cs typeface="Arial"/>
              </a:rPr>
              <a:t>Then</a:t>
            </a:r>
            <a:r>
              <a:rPr sz="1000" dirty="0">
                <a:latin typeface="Arial"/>
                <a:cs typeface="Arial"/>
              </a:rPr>
              <a:t> </a:t>
            </a:r>
            <a:r>
              <a:rPr sz="1000" spc="-5" dirty="0">
                <a:latin typeface="Arial"/>
                <a:cs typeface="Arial"/>
              </a:rPr>
              <a:t>choose</a:t>
            </a:r>
            <a:r>
              <a:rPr sz="1000" dirty="0">
                <a:latin typeface="Arial"/>
                <a:cs typeface="Arial"/>
              </a:rPr>
              <a:t> </a:t>
            </a:r>
            <a:r>
              <a:rPr sz="1000" spc="-5" dirty="0">
                <a:latin typeface="Arial"/>
                <a:cs typeface="Arial"/>
              </a:rPr>
              <a:t>the </a:t>
            </a:r>
            <a:r>
              <a:rPr sz="1000" spc="-10" dirty="0">
                <a:latin typeface="Arial"/>
                <a:cs typeface="Arial"/>
              </a:rPr>
              <a:t>next</a:t>
            </a:r>
            <a:r>
              <a:rPr sz="1000" dirty="0">
                <a:latin typeface="Arial"/>
                <a:cs typeface="Arial"/>
              </a:rPr>
              <a:t> </a:t>
            </a:r>
            <a:r>
              <a:rPr sz="1000" spc="-5" dirty="0">
                <a:latin typeface="Arial"/>
                <a:cs typeface="Arial"/>
              </a:rPr>
              <a:t>best</a:t>
            </a:r>
            <a:r>
              <a:rPr sz="1000" dirty="0">
                <a:latin typeface="Arial"/>
                <a:cs typeface="Arial"/>
              </a:rPr>
              <a:t> </a:t>
            </a:r>
            <a:r>
              <a:rPr sz="1000" spc="-10" dirty="0">
                <a:latin typeface="Arial"/>
                <a:cs typeface="Arial"/>
              </a:rPr>
              <a:t>server.</a:t>
            </a:r>
            <a:r>
              <a:rPr sz="1000" spc="65" dirty="0">
                <a:latin typeface="Arial"/>
                <a:cs typeface="Arial"/>
              </a:rPr>
              <a:t> </a:t>
            </a:r>
            <a:r>
              <a:rPr sz="1000" spc="-5" dirty="0">
                <a:latin typeface="Arial"/>
                <a:cs typeface="Arial"/>
              </a:rPr>
              <a:t>(</a:t>
            </a:r>
            <a:r>
              <a:rPr sz="1000" spc="-5" dirty="0">
                <a:solidFill>
                  <a:srgbClr val="FA0000"/>
                </a:solidFill>
                <a:latin typeface="Arial"/>
                <a:cs typeface="Arial"/>
              </a:rPr>
              <a:t>Note: </a:t>
            </a:r>
            <a:r>
              <a:rPr sz="1000" dirty="0">
                <a:solidFill>
                  <a:srgbClr val="FA0000"/>
                </a:solidFill>
                <a:latin typeface="Arial"/>
                <a:cs typeface="Arial"/>
              </a:rPr>
              <a:t> </a:t>
            </a:r>
            <a:r>
              <a:rPr sz="1000" spc="-5" dirty="0">
                <a:latin typeface="Arial"/>
                <a:cs typeface="Arial"/>
              </a:rPr>
              <a:t>The first</a:t>
            </a:r>
            <a:r>
              <a:rPr sz="1000" dirty="0">
                <a:latin typeface="Arial"/>
                <a:cs typeface="Arial"/>
              </a:rPr>
              <a:t> </a:t>
            </a:r>
            <a:r>
              <a:rPr sz="1000" spc="-5" dirty="0">
                <a:latin typeface="Arial"/>
                <a:cs typeface="Arial"/>
              </a:rPr>
              <a:t>chosen location</a:t>
            </a:r>
            <a:r>
              <a:rPr sz="1000" dirty="0">
                <a:latin typeface="Arial"/>
                <a:cs typeface="Arial"/>
              </a:rPr>
              <a:t> </a:t>
            </a:r>
            <a:r>
              <a:rPr sz="1000" spc="-5" dirty="0">
                <a:latin typeface="Arial"/>
                <a:cs typeface="Arial"/>
              </a:rPr>
              <a:t>minimizes</a:t>
            </a:r>
            <a:r>
              <a:rPr sz="1000" dirty="0">
                <a:latin typeface="Arial"/>
                <a:cs typeface="Arial"/>
              </a:rPr>
              <a:t> </a:t>
            </a:r>
            <a:r>
              <a:rPr sz="1000" spc="-5" dirty="0">
                <a:latin typeface="Arial"/>
                <a:cs typeface="Arial"/>
              </a:rPr>
              <a:t>the </a:t>
            </a:r>
            <a:r>
              <a:rPr sz="1000" spc="-10" dirty="0">
                <a:latin typeface="Arial"/>
                <a:cs typeface="Arial"/>
              </a:rPr>
              <a:t>average</a:t>
            </a:r>
            <a:r>
              <a:rPr sz="1000" dirty="0">
                <a:latin typeface="Arial"/>
                <a:cs typeface="Arial"/>
              </a:rPr>
              <a:t> </a:t>
            </a:r>
            <a:r>
              <a:rPr sz="1000" spc="-5" dirty="0">
                <a:latin typeface="Arial"/>
                <a:cs typeface="Arial"/>
              </a:rPr>
              <a:t>distance</a:t>
            </a:r>
            <a:r>
              <a:rPr sz="1000" dirty="0">
                <a:latin typeface="Arial"/>
                <a:cs typeface="Arial"/>
              </a:rPr>
              <a:t> </a:t>
            </a:r>
            <a:r>
              <a:rPr sz="1000" spc="-5" dirty="0">
                <a:latin typeface="Arial"/>
                <a:cs typeface="Arial"/>
              </a:rPr>
              <a:t>to all </a:t>
            </a:r>
            <a:r>
              <a:rPr sz="1000" dirty="0">
                <a:latin typeface="Arial"/>
                <a:cs typeface="Arial"/>
              </a:rPr>
              <a:t> </a:t>
            </a:r>
            <a:r>
              <a:rPr sz="1000" spc="-5" dirty="0">
                <a:latin typeface="Arial"/>
                <a:cs typeface="Arial"/>
              </a:rPr>
              <a:t>clients.)</a:t>
            </a:r>
            <a:r>
              <a:rPr sz="1000" spc="55" dirty="0">
                <a:latin typeface="Arial"/>
                <a:cs typeface="Arial"/>
              </a:rPr>
              <a:t> </a:t>
            </a:r>
            <a:r>
              <a:rPr sz="1000" spc="-5" dirty="0">
                <a:solidFill>
                  <a:srgbClr val="0000FA"/>
                </a:solidFill>
                <a:latin typeface="Arial"/>
                <a:cs typeface="Arial"/>
              </a:rPr>
              <a:t>Computationally </a:t>
            </a:r>
            <a:r>
              <a:rPr sz="1000" spc="-10" dirty="0">
                <a:solidFill>
                  <a:srgbClr val="0000FA"/>
                </a:solidFill>
                <a:latin typeface="Arial"/>
                <a:cs typeface="Arial"/>
              </a:rPr>
              <a:t>expensive</a:t>
            </a:r>
            <a:r>
              <a:rPr sz="1000" spc="-10" dirty="0">
                <a:latin typeface="Arial"/>
                <a:cs typeface="Arial"/>
              </a:rPr>
              <a:t>.</a:t>
            </a:r>
            <a:endParaRPr sz="1000">
              <a:latin typeface="Arial"/>
              <a:cs typeface="Arial"/>
            </a:endParaRPr>
          </a:p>
          <a:p>
            <a:pPr marL="314960" marR="43180" indent="-168275">
              <a:lnSpc>
                <a:spcPts val="1200"/>
              </a:lnSpc>
              <a:spcBef>
                <a:spcPts val="25"/>
              </a:spcBef>
              <a:buClr>
                <a:srgbClr val="3333B2"/>
              </a:buClr>
              <a:buChar char="►"/>
              <a:tabLst>
                <a:tab pos="315595" algn="l"/>
              </a:tabLst>
            </a:pPr>
            <a:r>
              <a:rPr sz="1000" spc="-10" dirty="0">
                <a:latin typeface="Arial"/>
                <a:cs typeface="Arial"/>
              </a:rPr>
              <a:t>Select the </a:t>
            </a:r>
            <a:r>
              <a:rPr sz="1000" i="1" spc="-10" dirty="0">
                <a:latin typeface="Arial"/>
                <a:cs typeface="Arial"/>
              </a:rPr>
              <a:t>K </a:t>
            </a:r>
            <a:r>
              <a:rPr sz="1000" spc="-10" dirty="0">
                <a:latin typeface="Arial"/>
                <a:cs typeface="Arial"/>
              </a:rPr>
              <a:t>-th largest </a:t>
            </a:r>
            <a:r>
              <a:rPr sz="1000" spc="-10" dirty="0">
                <a:solidFill>
                  <a:srgbClr val="0000FA"/>
                </a:solidFill>
                <a:latin typeface="Arial"/>
                <a:cs typeface="Arial"/>
              </a:rPr>
              <a:t>autonomous system </a:t>
            </a:r>
            <a:r>
              <a:rPr sz="1000" spc="-10" dirty="0">
                <a:latin typeface="Arial"/>
                <a:cs typeface="Arial"/>
              </a:rPr>
              <a:t>and place a server at </a:t>
            </a:r>
            <a:r>
              <a:rPr sz="1000" spc="-265" dirty="0">
                <a:latin typeface="Arial"/>
                <a:cs typeface="Arial"/>
              </a:rPr>
              <a:t> </a:t>
            </a:r>
            <a:r>
              <a:rPr sz="1000" spc="-5" dirty="0">
                <a:latin typeface="Arial"/>
                <a:cs typeface="Arial"/>
              </a:rPr>
              <a:t>the best-connected host.</a:t>
            </a:r>
            <a:r>
              <a:rPr sz="1000" spc="65" dirty="0">
                <a:latin typeface="Arial"/>
                <a:cs typeface="Arial"/>
              </a:rPr>
              <a:t> </a:t>
            </a:r>
            <a:r>
              <a:rPr sz="1000" spc="-5" dirty="0">
                <a:solidFill>
                  <a:srgbClr val="0000FA"/>
                </a:solidFill>
                <a:latin typeface="Arial"/>
                <a:cs typeface="Arial"/>
              </a:rPr>
              <a:t>Computationally </a:t>
            </a:r>
            <a:r>
              <a:rPr sz="1000" spc="-10" dirty="0">
                <a:solidFill>
                  <a:srgbClr val="0000FA"/>
                </a:solidFill>
                <a:latin typeface="Arial"/>
                <a:cs typeface="Arial"/>
              </a:rPr>
              <a:t>expensive</a:t>
            </a:r>
            <a:r>
              <a:rPr sz="1000" spc="-10" dirty="0">
                <a:latin typeface="Arial"/>
                <a:cs typeface="Arial"/>
              </a:rPr>
              <a:t>.</a:t>
            </a:r>
            <a:endParaRPr sz="1000">
              <a:latin typeface="Arial"/>
              <a:cs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1732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Replica</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management</a:t>
            </a:r>
            <a:endParaRPr sz="600">
              <a:latin typeface="Arial"/>
              <a:cs typeface="Arial"/>
            </a:endParaRPr>
          </a:p>
        </p:txBody>
      </p:sp>
      <p:sp>
        <p:nvSpPr>
          <p:cNvPr id="3" name="object 3"/>
          <p:cNvSpPr txBox="1"/>
          <p:nvPr/>
        </p:nvSpPr>
        <p:spPr>
          <a:xfrm>
            <a:off x="3460668" y="716"/>
            <a:ext cx="10807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Finding the best</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server location</a:t>
            </a:r>
            <a:endParaRPr sz="600">
              <a:latin typeface="Arial"/>
              <a:cs typeface="Arial"/>
            </a:endParaRPr>
          </a:p>
        </p:txBody>
      </p:sp>
      <p:sp>
        <p:nvSpPr>
          <p:cNvPr id="4" name="object 4"/>
          <p:cNvSpPr txBox="1"/>
          <p:nvPr/>
        </p:nvSpPr>
        <p:spPr>
          <a:xfrm>
            <a:off x="95300" y="188846"/>
            <a:ext cx="152400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Replica</a:t>
            </a:r>
            <a:r>
              <a:rPr sz="1400" spc="-50" dirty="0">
                <a:solidFill>
                  <a:srgbClr val="3333B2"/>
                </a:solidFill>
                <a:latin typeface="Arial"/>
                <a:cs typeface="Arial"/>
              </a:rPr>
              <a:t> </a:t>
            </a:r>
            <a:r>
              <a:rPr sz="1400" spc="15" dirty="0">
                <a:solidFill>
                  <a:srgbClr val="3333B2"/>
                </a:solidFill>
                <a:latin typeface="Arial"/>
                <a:cs typeface="Arial"/>
              </a:rPr>
              <a:t>placement</a:t>
            </a:r>
            <a:endParaRPr sz="1400">
              <a:latin typeface="Arial"/>
              <a:cs typeface="Arial"/>
            </a:endParaRPr>
          </a:p>
        </p:txBody>
      </p:sp>
      <p:sp>
        <p:nvSpPr>
          <p:cNvPr id="5" name="object 5"/>
          <p:cNvSpPr txBox="1"/>
          <p:nvPr/>
        </p:nvSpPr>
        <p:spPr>
          <a:xfrm>
            <a:off x="321894" y="823998"/>
            <a:ext cx="3977004" cy="1795780"/>
          </a:xfrm>
          <a:prstGeom prst="rect">
            <a:avLst/>
          </a:prstGeom>
        </p:spPr>
        <p:txBody>
          <a:bodyPr vert="horz" wrap="square" lIns="0" tIns="12065" rIns="0" bIns="0" rtlCol="0">
            <a:spAutoFit/>
          </a:bodyPr>
          <a:lstStyle/>
          <a:p>
            <a:pPr marL="38100">
              <a:lnSpc>
                <a:spcPts val="1410"/>
              </a:lnSpc>
              <a:spcBef>
                <a:spcPts val="95"/>
              </a:spcBef>
            </a:pPr>
            <a:r>
              <a:rPr sz="1200" spc="-5" dirty="0">
                <a:solidFill>
                  <a:srgbClr val="3333B2"/>
                </a:solidFill>
                <a:latin typeface="Arial"/>
                <a:cs typeface="Arial"/>
              </a:rPr>
              <a:t>Essence</a:t>
            </a:r>
            <a:endParaRPr sz="1200">
              <a:latin typeface="Arial"/>
              <a:cs typeface="Arial"/>
            </a:endParaRPr>
          </a:p>
          <a:p>
            <a:pPr marL="38100">
              <a:lnSpc>
                <a:spcPts val="1170"/>
              </a:lnSpc>
            </a:pPr>
            <a:r>
              <a:rPr sz="1000" spc="-5" dirty="0">
                <a:latin typeface="Arial"/>
                <a:cs typeface="Arial"/>
              </a:rPr>
              <a:t>Figure out</a:t>
            </a:r>
            <a:r>
              <a:rPr sz="1000" dirty="0">
                <a:latin typeface="Arial"/>
                <a:cs typeface="Arial"/>
              </a:rPr>
              <a:t> </a:t>
            </a:r>
            <a:r>
              <a:rPr sz="1000" spc="-5" dirty="0">
                <a:latin typeface="Arial"/>
                <a:cs typeface="Arial"/>
              </a:rPr>
              <a:t>what the</a:t>
            </a:r>
            <a:r>
              <a:rPr sz="1000" dirty="0">
                <a:latin typeface="Arial"/>
                <a:cs typeface="Arial"/>
              </a:rPr>
              <a:t> </a:t>
            </a:r>
            <a:r>
              <a:rPr sz="1000" spc="-5" dirty="0">
                <a:latin typeface="Arial"/>
                <a:cs typeface="Arial"/>
              </a:rPr>
              <a:t>best </a:t>
            </a:r>
            <a:r>
              <a:rPr sz="1000" i="1" spc="-5" dirty="0">
                <a:latin typeface="Arial"/>
                <a:cs typeface="Arial"/>
              </a:rPr>
              <a:t>K</a:t>
            </a:r>
            <a:r>
              <a:rPr sz="1000" i="1" spc="140" dirty="0">
                <a:latin typeface="Arial"/>
                <a:cs typeface="Arial"/>
              </a:rPr>
              <a:t> </a:t>
            </a:r>
            <a:r>
              <a:rPr sz="1000" spc="-5" dirty="0">
                <a:latin typeface="Arial"/>
                <a:cs typeface="Arial"/>
              </a:rPr>
              <a:t>places</a:t>
            </a:r>
            <a:r>
              <a:rPr sz="1000" dirty="0">
                <a:latin typeface="Arial"/>
                <a:cs typeface="Arial"/>
              </a:rPr>
              <a:t> </a:t>
            </a:r>
            <a:r>
              <a:rPr sz="1000" spc="-5" dirty="0">
                <a:latin typeface="Arial"/>
                <a:cs typeface="Arial"/>
              </a:rPr>
              <a:t>are out</a:t>
            </a:r>
            <a:r>
              <a:rPr sz="1000" dirty="0">
                <a:latin typeface="Arial"/>
                <a:cs typeface="Arial"/>
              </a:rPr>
              <a:t> </a:t>
            </a:r>
            <a:r>
              <a:rPr sz="1000" spc="-5" dirty="0">
                <a:latin typeface="Arial"/>
                <a:cs typeface="Arial"/>
              </a:rPr>
              <a:t>of </a:t>
            </a:r>
            <a:r>
              <a:rPr sz="1000" i="1" spc="-5" dirty="0">
                <a:latin typeface="Arial"/>
                <a:cs typeface="Arial"/>
              </a:rPr>
              <a:t>N</a:t>
            </a:r>
            <a:r>
              <a:rPr sz="1000" i="1" spc="80" dirty="0">
                <a:latin typeface="Arial"/>
                <a:cs typeface="Arial"/>
              </a:rPr>
              <a:t> </a:t>
            </a:r>
            <a:r>
              <a:rPr sz="1000" spc="-5" dirty="0">
                <a:latin typeface="Arial"/>
                <a:cs typeface="Arial"/>
              </a:rPr>
              <a:t>possible</a:t>
            </a:r>
            <a:r>
              <a:rPr sz="1000" dirty="0">
                <a:latin typeface="Arial"/>
                <a:cs typeface="Arial"/>
              </a:rPr>
              <a:t> </a:t>
            </a:r>
            <a:r>
              <a:rPr sz="1000" spc="-5" dirty="0">
                <a:latin typeface="Arial"/>
                <a:cs typeface="Arial"/>
              </a:rPr>
              <a:t>locations.</a:t>
            </a:r>
            <a:endParaRPr sz="1000">
              <a:latin typeface="Arial"/>
              <a:cs typeface="Arial"/>
            </a:endParaRPr>
          </a:p>
          <a:p>
            <a:pPr marL="311150" marR="92710" indent="-163830">
              <a:lnSpc>
                <a:spcPct val="100000"/>
              </a:lnSpc>
              <a:spcBef>
                <a:spcPts val="590"/>
              </a:spcBef>
              <a:buClr>
                <a:srgbClr val="3333B2"/>
              </a:buClr>
              <a:buChar char="►"/>
              <a:tabLst>
                <a:tab pos="315595" algn="l"/>
              </a:tabLst>
            </a:pPr>
            <a:r>
              <a:rPr sz="1000" spc="-5" dirty="0">
                <a:latin typeface="Arial"/>
                <a:cs typeface="Arial"/>
              </a:rPr>
              <a:t>Select best</a:t>
            </a:r>
            <a:r>
              <a:rPr sz="1000" dirty="0">
                <a:latin typeface="Arial"/>
                <a:cs typeface="Arial"/>
              </a:rPr>
              <a:t> </a:t>
            </a:r>
            <a:r>
              <a:rPr sz="1000" spc="-5" dirty="0">
                <a:latin typeface="Arial"/>
                <a:cs typeface="Arial"/>
              </a:rPr>
              <a:t>location</a:t>
            </a:r>
            <a:r>
              <a:rPr sz="1000" dirty="0">
                <a:latin typeface="Arial"/>
                <a:cs typeface="Arial"/>
              </a:rPr>
              <a:t> </a:t>
            </a:r>
            <a:r>
              <a:rPr sz="1000" spc="-5" dirty="0">
                <a:latin typeface="Arial"/>
                <a:cs typeface="Arial"/>
              </a:rPr>
              <a:t>out of</a:t>
            </a:r>
            <a:r>
              <a:rPr sz="1000" dirty="0">
                <a:latin typeface="Arial"/>
                <a:cs typeface="Arial"/>
              </a:rPr>
              <a:t> </a:t>
            </a:r>
            <a:r>
              <a:rPr sz="1000" i="1" spc="-5" dirty="0">
                <a:latin typeface="Arial"/>
                <a:cs typeface="Arial"/>
              </a:rPr>
              <a:t>N</a:t>
            </a:r>
            <a:r>
              <a:rPr sz="1000" i="1" spc="-60" dirty="0">
                <a:latin typeface="Arial"/>
                <a:cs typeface="Arial"/>
              </a:rPr>
              <a:t> </a:t>
            </a:r>
            <a:r>
              <a:rPr sz="1000" i="1" spc="50" dirty="0">
                <a:latin typeface="メイリオ"/>
                <a:cs typeface="メイリオ"/>
              </a:rPr>
              <a:t>−</a:t>
            </a:r>
            <a:r>
              <a:rPr sz="1000" i="1" spc="50" dirty="0">
                <a:latin typeface="Arial"/>
                <a:cs typeface="Arial"/>
              </a:rPr>
              <a:t>K</a:t>
            </a:r>
            <a:r>
              <a:rPr sz="1000" i="1" spc="14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which</a:t>
            </a:r>
            <a:r>
              <a:rPr sz="1000" dirty="0">
                <a:latin typeface="Arial"/>
                <a:cs typeface="Arial"/>
              </a:rPr>
              <a:t> </a:t>
            </a:r>
            <a:r>
              <a:rPr sz="1000" spc="-5" dirty="0">
                <a:latin typeface="Arial"/>
                <a:cs typeface="Arial"/>
              </a:rPr>
              <a:t>the </a:t>
            </a:r>
            <a:r>
              <a:rPr sz="1000" spc="-10" dirty="0">
                <a:solidFill>
                  <a:srgbClr val="0000FA"/>
                </a:solidFill>
                <a:latin typeface="Arial"/>
                <a:cs typeface="Arial"/>
              </a:rPr>
              <a:t>average</a:t>
            </a:r>
            <a:r>
              <a:rPr sz="1000" dirty="0">
                <a:solidFill>
                  <a:srgbClr val="0000FA"/>
                </a:solidFill>
                <a:latin typeface="Arial"/>
                <a:cs typeface="Arial"/>
              </a:rPr>
              <a:t> </a:t>
            </a:r>
            <a:r>
              <a:rPr sz="1000" spc="-5" dirty="0">
                <a:solidFill>
                  <a:srgbClr val="0000FA"/>
                </a:solidFill>
                <a:latin typeface="Arial"/>
                <a:cs typeface="Arial"/>
              </a:rPr>
              <a:t>distance </a:t>
            </a:r>
            <a:r>
              <a:rPr sz="1000" spc="-260" dirty="0">
                <a:solidFill>
                  <a:srgbClr val="0000FA"/>
                </a:solidFill>
                <a:latin typeface="Arial"/>
                <a:cs typeface="Arial"/>
              </a:rPr>
              <a:t> </a:t>
            </a:r>
            <a:r>
              <a:rPr sz="1000" spc="-5" dirty="0">
                <a:solidFill>
                  <a:srgbClr val="0000FA"/>
                </a:solidFill>
                <a:latin typeface="Arial"/>
                <a:cs typeface="Arial"/>
              </a:rPr>
              <a:t>to clients</a:t>
            </a:r>
            <a:r>
              <a:rPr sz="1000" dirty="0">
                <a:solidFill>
                  <a:srgbClr val="0000FA"/>
                </a:solidFill>
                <a:latin typeface="Arial"/>
                <a:cs typeface="Arial"/>
              </a:rPr>
              <a:t> </a:t>
            </a:r>
            <a:r>
              <a:rPr sz="1000" spc="-5" dirty="0">
                <a:solidFill>
                  <a:srgbClr val="0000FA"/>
                </a:solidFill>
                <a:latin typeface="Arial"/>
                <a:cs typeface="Arial"/>
              </a:rPr>
              <a:t>is</a:t>
            </a:r>
            <a:r>
              <a:rPr sz="1000" dirty="0">
                <a:solidFill>
                  <a:srgbClr val="0000FA"/>
                </a:solidFill>
                <a:latin typeface="Arial"/>
                <a:cs typeface="Arial"/>
              </a:rPr>
              <a:t> </a:t>
            </a:r>
            <a:r>
              <a:rPr sz="1000" spc="-5" dirty="0">
                <a:solidFill>
                  <a:srgbClr val="0000FA"/>
                </a:solidFill>
                <a:latin typeface="Arial"/>
                <a:cs typeface="Arial"/>
              </a:rPr>
              <a:t>minimal</a:t>
            </a:r>
            <a:r>
              <a:rPr sz="1000" spc="-5" dirty="0">
                <a:latin typeface="Arial"/>
                <a:cs typeface="Arial"/>
              </a:rPr>
              <a:t>.</a:t>
            </a:r>
            <a:r>
              <a:rPr sz="1000" spc="60" dirty="0">
                <a:latin typeface="Arial"/>
                <a:cs typeface="Arial"/>
              </a:rPr>
              <a:t> </a:t>
            </a:r>
            <a:r>
              <a:rPr sz="1000" spc="-5" dirty="0">
                <a:latin typeface="Arial"/>
                <a:cs typeface="Arial"/>
              </a:rPr>
              <a:t>Then</a:t>
            </a:r>
            <a:r>
              <a:rPr sz="1000" dirty="0">
                <a:latin typeface="Arial"/>
                <a:cs typeface="Arial"/>
              </a:rPr>
              <a:t> </a:t>
            </a:r>
            <a:r>
              <a:rPr sz="1000" spc="-5" dirty="0">
                <a:latin typeface="Arial"/>
                <a:cs typeface="Arial"/>
              </a:rPr>
              <a:t>choose</a:t>
            </a:r>
            <a:r>
              <a:rPr sz="1000" dirty="0">
                <a:latin typeface="Arial"/>
                <a:cs typeface="Arial"/>
              </a:rPr>
              <a:t> </a:t>
            </a:r>
            <a:r>
              <a:rPr sz="1000" spc="-5" dirty="0">
                <a:latin typeface="Arial"/>
                <a:cs typeface="Arial"/>
              </a:rPr>
              <a:t>the </a:t>
            </a:r>
            <a:r>
              <a:rPr sz="1000" spc="-10" dirty="0">
                <a:latin typeface="Arial"/>
                <a:cs typeface="Arial"/>
              </a:rPr>
              <a:t>next</a:t>
            </a:r>
            <a:r>
              <a:rPr sz="1000" dirty="0">
                <a:latin typeface="Arial"/>
                <a:cs typeface="Arial"/>
              </a:rPr>
              <a:t> </a:t>
            </a:r>
            <a:r>
              <a:rPr sz="1000" spc="-5" dirty="0">
                <a:latin typeface="Arial"/>
                <a:cs typeface="Arial"/>
              </a:rPr>
              <a:t>best</a:t>
            </a:r>
            <a:r>
              <a:rPr sz="1000" dirty="0">
                <a:latin typeface="Arial"/>
                <a:cs typeface="Arial"/>
              </a:rPr>
              <a:t> </a:t>
            </a:r>
            <a:r>
              <a:rPr sz="1000" spc="-10" dirty="0">
                <a:latin typeface="Arial"/>
                <a:cs typeface="Arial"/>
              </a:rPr>
              <a:t>server.</a:t>
            </a:r>
            <a:r>
              <a:rPr sz="1000" spc="65" dirty="0">
                <a:latin typeface="Arial"/>
                <a:cs typeface="Arial"/>
              </a:rPr>
              <a:t> </a:t>
            </a:r>
            <a:r>
              <a:rPr sz="1000" spc="-5" dirty="0">
                <a:latin typeface="Arial"/>
                <a:cs typeface="Arial"/>
              </a:rPr>
              <a:t>(</a:t>
            </a:r>
            <a:r>
              <a:rPr sz="1000" spc="-5" dirty="0">
                <a:solidFill>
                  <a:srgbClr val="FA0000"/>
                </a:solidFill>
                <a:latin typeface="Arial"/>
                <a:cs typeface="Arial"/>
              </a:rPr>
              <a:t>Note: </a:t>
            </a:r>
            <a:r>
              <a:rPr sz="1000" dirty="0">
                <a:solidFill>
                  <a:srgbClr val="FA0000"/>
                </a:solidFill>
                <a:latin typeface="Arial"/>
                <a:cs typeface="Arial"/>
              </a:rPr>
              <a:t> </a:t>
            </a:r>
            <a:r>
              <a:rPr sz="1000" spc="-5" dirty="0">
                <a:latin typeface="Arial"/>
                <a:cs typeface="Arial"/>
              </a:rPr>
              <a:t>The first</a:t>
            </a:r>
            <a:r>
              <a:rPr sz="1000" dirty="0">
                <a:latin typeface="Arial"/>
                <a:cs typeface="Arial"/>
              </a:rPr>
              <a:t> </a:t>
            </a:r>
            <a:r>
              <a:rPr sz="1000" spc="-5" dirty="0">
                <a:latin typeface="Arial"/>
                <a:cs typeface="Arial"/>
              </a:rPr>
              <a:t>chosen location</a:t>
            </a:r>
            <a:r>
              <a:rPr sz="1000" dirty="0">
                <a:latin typeface="Arial"/>
                <a:cs typeface="Arial"/>
              </a:rPr>
              <a:t> </a:t>
            </a:r>
            <a:r>
              <a:rPr sz="1000" spc="-5" dirty="0">
                <a:latin typeface="Arial"/>
                <a:cs typeface="Arial"/>
              </a:rPr>
              <a:t>minimizes</a:t>
            </a:r>
            <a:r>
              <a:rPr sz="1000" dirty="0">
                <a:latin typeface="Arial"/>
                <a:cs typeface="Arial"/>
              </a:rPr>
              <a:t> </a:t>
            </a:r>
            <a:r>
              <a:rPr sz="1000" spc="-5" dirty="0">
                <a:latin typeface="Arial"/>
                <a:cs typeface="Arial"/>
              </a:rPr>
              <a:t>the </a:t>
            </a:r>
            <a:r>
              <a:rPr sz="1000" spc="-10" dirty="0">
                <a:latin typeface="Arial"/>
                <a:cs typeface="Arial"/>
              </a:rPr>
              <a:t>average</a:t>
            </a:r>
            <a:r>
              <a:rPr sz="1000" dirty="0">
                <a:latin typeface="Arial"/>
                <a:cs typeface="Arial"/>
              </a:rPr>
              <a:t> </a:t>
            </a:r>
            <a:r>
              <a:rPr sz="1000" spc="-5" dirty="0">
                <a:latin typeface="Arial"/>
                <a:cs typeface="Arial"/>
              </a:rPr>
              <a:t>distance</a:t>
            </a:r>
            <a:r>
              <a:rPr sz="1000" dirty="0">
                <a:latin typeface="Arial"/>
                <a:cs typeface="Arial"/>
              </a:rPr>
              <a:t> </a:t>
            </a:r>
            <a:r>
              <a:rPr sz="1000" spc="-5" dirty="0">
                <a:latin typeface="Arial"/>
                <a:cs typeface="Arial"/>
              </a:rPr>
              <a:t>to all </a:t>
            </a:r>
            <a:r>
              <a:rPr sz="1000" dirty="0">
                <a:latin typeface="Arial"/>
                <a:cs typeface="Arial"/>
              </a:rPr>
              <a:t> </a:t>
            </a:r>
            <a:r>
              <a:rPr sz="1000" spc="-5" dirty="0">
                <a:latin typeface="Arial"/>
                <a:cs typeface="Arial"/>
              </a:rPr>
              <a:t>clients.)</a:t>
            </a:r>
            <a:r>
              <a:rPr sz="1000" spc="55" dirty="0">
                <a:latin typeface="Arial"/>
                <a:cs typeface="Arial"/>
              </a:rPr>
              <a:t> </a:t>
            </a:r>
            <a:r>
              <a:rPr sz="1000" spc="-5" dirty="0">
                <a:solidFill>
                  <a:srgbClr val="0000FA"/>
                </a:solidFill>
                <a:latin typeface="Arial"/>
                <a:cs typeface="Arial"/>
              </a:rPr>
              <a:t>Computationally </a:t>
            </a:r>
            <a:r>
              <a:rPr sz="1000" spc="-10" dirty="0">
                <a:solidFill>
                  <a:srgbClr val="0000FA"/>
                </a:solidFill>
                <a:latin typeface="Arial"/>
                <a:cs typeface="Arial"/>
              </a:rPr>
              <a:t>expensive</a:t>
            </a:r>
            <a:r>
              <a:rPr sz="1000" spc="-10" dirty="0">
                <a:latin typeface="Arial"/>
                <a:cs typeface="Arial"/>
              </a:rPr>
              <a:t>.</a:t>
            </a:r>
            <a:endParaRPr sz="1000">
              <a:latin typeface="Arial"/>
              <a:cs typeface="Arial"/>
            </a:endParaRPr>
          </a:p>
          <a:p>
            <a:pPr marL="314960" marR="43180" indent="-168275">
              <a:lnSpc>
                <a:spcPts val="1200"/>
              </a:lnSpc>
              <a:spcBef>
                <a:spcPts val="25"/>
              </a:spcBef>
              <a:buClr>
                <a:srgbClr val="3333B2"/>
              </a:buClr>
              <a:buChar char="►"/>
              <a:tabLst>
                <a:tab pos="315595" algn="l"/>
              </a:tabLst>
            </a:pPr>
            <a:r>
              <a:rPr sz="1000" spc="-10" dirty="0">
                <a:latin typeface="Arial"/>
                <a:cs typeface="Arial"/>
              </a:rPr>
              <a:t>Select the </a:t>
            </a:r>
            <a:r>
              <a:rPr sz="1000" i="1" spc="-10" dirty="0">
                <a:latin typeface="Arial"/>
                <a:cs typeface="Arial"/>
              </a:rPr>
              <a:t>K </a:t>
            </a:r>
            <a:r>
              <a:rPr sz="1000" spc="-10" dirty="0">
                <a:latin typeface="Arial"/>
                <a:cs typeface="Arial"/>
              </a:rPr>
              <a:t>-th largest </a:t>
            </a:r>
            <a:r>
              <a:rPr sz="1000" spc="-10" dirty="0">
                <a:solidFill>
                  <a:srgbClr val="0000FA"/>
                </a:solidFill>
                <a:latin typeface="Arial"/>
                <a:cs typeface="Arial"/>
              </a:rPr>
              <a:t>autonomous system </a:t>
            </a:r>
            <a:r>
              <a:rPr sz="1000" spc="-10" dirty="0">
                <a:latin typeface="Arial"/>
                <a:cs typeface="Arial"/>
              </a:rPr>
              <a:t>and place a server at </a:t>
            </a:r>
            <a:r>
              <a:rPr sz="1000" spc="-265" dirty="0">
                <a:latin typeface="Arial"/>
                <a:cs typeface="Arial"/>
              </a:rPr>
              <a:t> </a:t>
            </a:r>
            <a:r>
              <a:rPr sz="1000" spc="-5" dirty="0">
                <a:latin typeface="Arial"/>
                <a:cs typeface="Arial"/>
              </a:rPr>
              <a:t>the best-connected host.</a:t>
            </a:r>
            <a:r>
              <a:rPr sz="1000" spc="65" dirty="0">
                <a:latin typeface="Arial"/>
                <a:cs typeface="Arial"/>
              </a:rPr>
              <a:t> </a:t>
            </a:r>
            <a:r>
              <a:rPr sz="1000" spc="-5" dirty="0">
                <a:solidFill>
                  <a:srgbClr val="0000FA"/>
                </a:solidFill>
                <a:latin typeface="Arial"/>
                <a:cs typeface="Arial"/>
              </a:rPr>
              <a:t>Computationally </a:t>
            </a:r>
            <a:r>
              <a:rPr sz="1000" spc="-10" dirty="0">
                <a:solidFill>
                  <a:srgbClr val="0000FA"/>
                </a:solidFill>
                <a:latin typeface="Arial"/>
                <a:cs typeface="Arial"/>
              </a:rPr>
              <a:t>expensive</a:t>
            </a:r>
            <a:r>
              <a:rPr sz="1000" spc="-10" dirty="0">
                <a:latin typeface="Arial"/>
                <a:cs typeface="Arial"/>
              </a:rPr>
              <a:t>.</a:t>
            </a:r>
            <a:endParaRPr sz="1000">
              <a:latin typeface="Arial"/>
              <a:cs typeface="Arial"/>
            </a:endParaRPr>
          </a:p>
          <a:p>
            <a:pPr marL="314960" indent="-168275">
              <a:lnSpc>
                <a:spcPts val="1150"/>
              </a:lnSpc>
              <a:buClr>
                <a:srgbClr val="3333B2"/>
              </a:buClr>
              <a:buChar char="►"/>
              <a:tabLst>
                <a:tab pos="315595" algn="l"/>
              </a:tabLst>
            </a:pPr>
            <a:r>
              <a:rPr sz="1000" spc="-10" dirty="0">
                <a:latin typeface="Arial"/>
                <a:cs typeface="Arial"/>
              </a:rPr>
              <a:t>Position</a:t>
            </a:r>
            <a:r>
              <a:rPr sz="1000" dirty="0">
                <a:latin typeface="Arial"/>
                <a:cs typeface="Arial"/>
              </a:rPr>
              <a:t> </a:t>
            </a:r>
            <a:r>
              <a:rPr sz="1000" spc="-5" dirty="0">
                <a:latin typeface="Arial"/>
                <a:cs typeface="Arial"/>
              </a:rPr>
              <a:t>nodes</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a</a:t>
            </a:r>
            <a:r>
              <a:rPr sz="1000" dirty="0">
                <a:latin typeface="Arial"/>
                <a:cs typeface="Arial"/>
              </a:rPr>
              <a:t> </a:t>
            </a:r>
            <a:r>
              <a:rPr sz="1000" i="1" spc="-5" dirty="0">
                <a:latin typeface="Arial"/>
                <a:cs typeface="Arial"/>
              </a:rPr>
              <a:t>d</a:t>
            </a:r>
            <a:r>
              <a:rPr sz="1000" i="1" spc="-185" dirty="0">
                <a:latin typeface="Arial"/>
                <a:cs typeface="Arial"/>
              </a:rPr>
              <a:t> </a:t>
            </a:r>
            <a:r>
              <a:rPr sz="1000" spc="-5" dirty="0">
                <a:latin typeface="Arial"/>
                <a:cs typeface="Arial"/>
              </a:rPr>
              <a:t>-dimensional</a:t>
            </a:r>
            <a:r>
              <a:rPr sz="1000" dirty="0">
                <a:latin typeface="Arial"/>
                <a:cs typeface="Arial"/>
              </a:rPr>
              <a:t> </a:t>
            </a:r>
            <a:r>
              <a:rPr sz="1000" spc="-5" dirty="0">
                <a:latin typeface="Arial"/>
                <a:cs typeface="Arial"/>
              </a:rPr>
              <a:t>geometric</a:t>
            </a:r>
            <a:r>
              <a:rPr sz="1000" dirty="0">
                <a:latin typeface="Arial"/>
                <a:cs typeface="Arial"/>
              </a:rPr>
              <a:t> </a:t>
            </a:r>
            <a:r>
              <a:rPr sz="1000" spc="-5" dirty="0">
                <a:latin typeface="Arial"/>
                <a:cs typeface="Arial"/>
              </a:rPr>
              <a:t>space,</a:t>
            </a:r>
            <a:r>
              <a:rPr sz="1000" dirty="0">
                <a:latin typeface="Arial"/>
                <a:cs typeface="Arial"/>
              </a:rPr>
              <a:t> </a:t>
            </a:r>
            <a:r>
              <a:rPr sz="1000" spc="-5" dirty="0">
                <a:latin typeface="Arial"/>
                <a:cs typeface="Arial"/>
              </a:rPr>
              <a:t>where</a:t>
            </a:r>
            <a:endParaRPr sz="1000">
              <a:latin typeface="Arial"/>
              <a:cs typeface="Arial"/>
            </a:endParaRPr>
          </a:p>
          <a:p>
            <a:pPr marL="314960" marR="56515">
              <a:lnSpc>
                <a:spcPts val="1200"/>
              </a:lnSpc>
              <a:spcBef>
                <a:spcPts val="35"/>
              </a:spcBef>
            </a:pPr>
            <a:r>
              <a:rPr sz="1000" spc="-5" dirty="0">
                <a:latin typeface="Arial"/>
                <a:cs typeface="Arial"/>
              </a:rPr>
              <a:t>distance reflects </a:t>
            </a:r>
            <a:r>
              <a:rPr sz="1000" spc="-15" dirty="0">
                <a:latin typeface="Arial"/>
                <a:cs typeface="Arial"/>
              </a:rPr>
              <a:t>latency. </a:t>
            </a:r>
            <a:r>
              <a:rPr sz="1000" spc="-5" dirty="0">
                <a:latin typeface="Arial"/>
                <a:cs typeface="Arial"/>
              </a:rPr>
              <a:t>Identify the </a:t>
            </a:r>
            <a:r>
              <a:rPr sz="1000" i="1" spc="-5" dirty="0">
                <a:latin typeface="Arial"/>
                <a:cs typeface="Arial"/>
              </a:rPr>
              <a:t>K</a:t>
            </a:r>
            <a:r>
              <a:rPr sz="1000" i="1" dirty="0">
                <a:latin typeface="Arial"/>
                <a:cs typeface="Arial"/>
              </a:rPr>
              <a:t> </a:t>
            </a:r>
            <a:r>
              <a:rPr sz="1000" spc="-5" dirty="0">
                <a:latin typeface="Arial"/>
                <a:cs typeface="Arial"/>
              </a:rPr>
              <a:t>regions with highest </a:t>
            </a:r>
            <a:r>
              <a:rPr sz="1000" dirty="0">
                <a:latin typeface="Arial"/>
                <a:cs typeface="Arial"/>
              </a:rPr>
              <a:t> </a:t>
            </a:r>
            <a:r>
              <a:rPr sz="1000" spc="-5" dirty="0">
                <a:latin typeface="Arial"/>
                <a:cs typeface="Arial"/>
              </a:rPr>
              <a:t>density</a:t>
            </a:r>
            <a:r>
              <a:rPr sz="1000" dirty="0">
                <a:latin typeface="Arial"/>
                <a:cs typeface="Arial"/>
              </a:rPr>
              <a:t> </a:t>
            </a:r>
            <a:r>
              <a:rPr sz="1000" spc="-5" dirty="0">
                <a:latin typeface="Arial"/>
                <a:cs typeface="Arial"/>
              </a:rPr>
              <a:t>and</a:t>
            </a:r>
            <a:r>
              <a:rPr sz="1000" spc="5" dirty="0">
                <a:latin typeface="Arial"/>
                <a:cs typeface="Arial"/>
              </a:rPr>
              <a:t> </a:t>
            </a:r>
            <a:r>
              <a:rPr sz="1000" spc="-5" dirty="0">
                <a:latin typeface="Arial"/>
                <a:cs typeface="Arial"/>
              </a:rPr>
              <a:t>place</a:t>
            </a:r>
            <a:r>
              <a:rPr sz="1000"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in</a:t>
            </a:r>
            <a:r>
              <a:rPr sz="1000" spc="5" dirty="0">
                <a:latin typeface="Arial"/>
                <a:cs typeface="Arial"/>
              </a:rPr>
              <a:t> </a:t>
            </a:r>
            <a:r>
              <a:rPr sz="1000" spc="-10" dirty="0">
                <a:latin typeface="Arial"/>
                <a:cs typeface="Arial"/>
              </a:rPr>
              <a:t>every</a:t>
            </a:r>
            <a:r>
              <a:rPr sz="1000" dirty="0">
                <a:latin typeface="Arial"/>
                <a:cs typeface="Arial"/>
              </a:rPr>
              <a:t> </a:t>
            </a:r>
            <a:r>
              <a:rPr sz="1000" spc="-10" dirty="0">
                <a:latin typeface="Arial"/>
                <a:cs typeface="Arial"/>
              </a:rPr>
              <a:t>one.</a:t>
            </a:r>
            <a:r>
              <a:rPr sz="1000" spc="70" dirty="0">
                <a:latin typeface="Arial"/>
                <a:cs typeface="Arial"/>
              </a:rPr>
              <a:t> </a:t>
            </a:r>
            <a:r>
              <a:rPr sz="1000" spc="-5" dirty="0">
                <a:solidFill>
                  <a:srgbClr val="0000FA"/>
                </a:solidFill>
                <a:latin typeface="Arial"/>
                <a:cs typeface="Arial"/>
              </a:rPr>
              <a:t>Computationally</a:t>
            </a:r>
            <a:r>
              <a:rPr sz="1000" dirty="0">
                <a:solidFill>
                  <a:srgbClr val="0000FA"/>
                </a:solidFill>
                <a:latin typeface="Arial"/>
                <a:cs typeface="Arial"/>
              </a:rPr>
              <a:t> </a:t>
            </a:r>
            <a:r>
              <a:rPr sz="1000" spc="-5" dirty="0">
                <a:solidFill>
                  <a:srgbClr val="0000FA"/>
                </a:solidFill>
                <a:latin typeface="Arial"/>
                <a:cs typeface="Arial"/>
              </a:rPr>
              <a:t>cheap</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677545" cy="119380"/>
          </a:xfrm>
          <a:prstGeom prst="rect">
            <a:avLst/>
          </a:prstGeom>
        </p:spPr>
        <p:txBody>
          <a:bodyPr vert="horz" wrap="square" lIns="0" tIns="8890" rIns="0" bIns="0" rtlCol="0">
            <a:spAutoFit/>
          </a:bodyPr>
          <a:lstStyle/>
          <a:p>
            <a:pPr marL="12700">
              <a:lnSpc>
                <a:spcPct val="100000"/>
              </a:lnSpc>
              <a:spcBef>
                <a:spcPts val="70"/>
              </a:spcBef>
            </a:pPr>
            <a:r>
              <a:rPr sz="600" spc="-35" dirty="0">
                <a:solidFill>
                  <a:srgbClr val="3333B2"/>
                </a:solidFill>
                <a:latin typeface="Arial"/>
                <a:cs typeface="Arial"/>
                <a:hlinkClick r:id="rId3" action="ppaction://hlinksldjump"/>
              </a:rPr>
              <a:t>P</a:t>
            </a:r>
            <a:r>
              <a:rPr sz="600" spc="-5" dirty="0">
                <a:solidFill>
                  <a:srgbClr val="3333B2"/>
                </a:solidFill>
                <a:latin typeface="Arial"/>
                <a:cs typeface="Arial"/>
                <a:hlinkClick r:id="rId3" action="ppaction://hlinksldjump"/>
              </a:rPr>
              <a:t>e</a:t>
            </a:r>
            <a:r>
              <a:rPr sz="600" spc="5" dirty="0">
                <a:solidFill>
                  <a:srgbClr val="3333B2"/>
                </a:solidFill>
                <a:latin typeface="Arial"/>
                <a:cs typeface="Arial"/>
                <a:hlinkClick r:id="rId3" action="ppaction://hlinksldjump"/>
              </a:rPr>
              <a:t>r</a:t>
            </a:r>
            <a:r>
              <a:rPr sz="600" spc="-5" dirty="0">
                <a:solidFill>
                  <a:srgbClr val="3333B2"/>
                </a:solidFill>
                <a:latin typeface="Arial"/>
                <a:cs typeface="Arial"/>
                <a:hlinkClick r:id="rId3" action="ppaction://hlinksldjump"/>
              </a:rPr>
              <a:t>manent replicas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25</a:t>
            </a:r>
            <a:r>
              <a:rPr spc="-40" dirty="0"/>
              <a:t> </a:t>
            </a:r>
            <a:r>
              <a:rPr spc="-5" dirty="0"/>
              <a:t>/</a:t>
            </a:r>
            <a:r>
              <a:rPr spc="-35" dirty="0"/>
              <a:t> </a:t>
            </a:r>
            <a:r>
              <a:rPr spc="-5" dirty="0"/>
              <a:t>37</a:t>
            </a:r>
          </a:p>
        </p:txBody>
      </p:sp>
      <p:sp>
        <p:nvSpPr>
          <p:cNvPr id="2" name="object 2"/>
          <p:cNvSpPr txBox="1"/>
          <p:nvPr/>
        </p:nvSpPr>
        <p:spPr>
          <a:xfrm>
            <a:off x="66713" y="716"/>
            <a:ext cx="1732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Consistency</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and</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replication:</a:t>
            </a:r>
            <a:r>
              <a:rPr sz="600" spc="165" dirty="0">
                <a:solidFill>
                  <a:srgbClr val="3333B2"/>
                </a:solidFill>
                <a:latin typeface="Arial"/>
                <a:cs typeface="Arial"/>
              </a:rPr>
              <a:t> </a:t>
            </a:r>
            <a:r>
              <a:rPr sz="600" spc="-5" dirty="0">
                <a:solidFill>
                  <a:srgbClr val="3333B2"/>
                </a:solidFill>
                <a:latin typeface="Arial"/>
                <a:cs typeface="Arial"/>
                <a:hlinkClick r:id="rId5" action="ppaction://hlinksldjump"/>
              </a:rPr>
              <a:t>Replica</a:t>
            </a:r>
            <a:r>
              <a:rPr sz="600" spc="1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management</a:t>
            </a:r>
            <a:endParaRPr sz="600">
              <a:latin typeface="Arial"/>
              <a:cs typeface="Arial"/>
            </a:endParaRPr>
          </a:p>
        </p:txBody>
      </p:sp>
      <p:sp>
        <p:nvSpPr>
          <p:cNvPr id="3" name="object 3"/>
          <p:cNvSpPr txBox="1"/>
          <p:nvPr/>
        </p:nvSpPr>
        <p:spPr>
          <a:xfrm>
            <a:off x="3363952" y="716"/>
            <a:ext cx="117792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Content replication</a:t>
            </a:r>
            <a:r>
              <a:rPr sz="60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and</a:t>
            </a:r>
            <a:r>
              <a:rPr sz="60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placement</a:t>
            </a:r>
            <a:endParaRPr sz="600">
              <a:latin typeface="Arial"/>
              <a:cs typeface="Arial"/>
            </a:endParaRPr>
          </a:p>
        </p:txBody>
      </p:sp>
      <p:sp>
        <p:nvSpPr>
          <p:cNvPr id="4" name="object 4"/>
          <p:cNvSpPr txBox="1"/>
          <p:nvPr/>
        </p:nvSpPr>
        <p:spPr>
          <a:xfrm>
            <a:off x="95300" y="188846"/>
            <a:ext cx="154495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Content</a:t>
            </a:r>
            <a:r>
              <a:rPr sz="1400" spc="-35" dirty="0">
                <a:solidFill>
                  <a:srgbClr val="3333B2"/>
                </a:solidFill>
                <a:latin typeface="Arial"/>
                <a:cs typeface="Arial"/>
              </a:rPr>
              <a:t> </a:t>
            </a:r>
            <a:r>
              <a:rPr sz="1400" spc="10" dirty="0">
                <a:solidFill>
                  <a:srgbClr val="3333B2"/>
                </a:solidFill>
                <a:latin typeface="Arial"/>
                <a:cs typeface="Arial"/>
              </a:rPr>
              <a:t>replication</a:t>
            </a:r>
            <a:endParaRPr sz="1400">
              <a:latin typeface="Arial"/>
              <a:cs typeface="Arial"/>
            </a:endParaRPr>
          </a:p>
        </p:txBody>
      </p:sp>
      <p:sp>
        <p:nvSpPr>
          <p:cNvPr id="5" name="object 5"/>
          <p:cNvSpPr txBox="1"/>
          <p:nvPr/>
        </p:nvSpPr>
        <p:spPr>
          <a:xfrm>
            <a:off x="317728" y="1024894"/>
            <a:ext cx="3828415" cy="1249680"/>
          </a:xfrm>
          <a:prstGeom prst="rect">
            <a:avLst/>
          </a:prstGeom>
        </p:spPr>
        <p:txBody>
          <a:bodyPr vert="horz" wrap="square" lIns="0" tIns="41910" rIns="0" bIns="0" rtlCol="0">
            <a:spAutoFit/>
          </a:bodyPr>
          <a:lstStyle/>
          <a:p>
            <a:pPr marL="41910">
              <a:lnSpc>
                <a:spcPct val="100000"/>
              </a:lnSpc>
              <a:spcBef>
                <a:spcPts val="330"/>
              </a:spcBef>
            </a:pPr>
            <a:r>
              <a:rPr sz="1200" spc="-5" dirty="0">
                <a:solidFill>
                  <a:srgbClr val="3333B2"/>
                </a:solidFill>
                <a:latin typeface="Arial"/>
                <a:cs typeface="Arial"/>
              </a:rPr>
              <a:t>Distinguish</a:t>
            </a:r>
            <a:r>
              <a:rPr sz="1200" spc="-10" dirty="0">
                <a:solidFill>
                  <a:srgbClr val="3333B2"/>
                </a:solidFill>
                <a:latin typeface="Arial"/>
                <a:cs typeface="Arial"/>
              </a:rPr>
              <a:t> different </a:t>
            </a:r>
            <a:r>
              <a:rPr sz="1200" spc="-5" dirty="0">
                <a:solidFill>
                  <a:srgbClr val="3333B2"/>
                </a:solidFill>
                <a:latin typeface="Arial"/>
                <a:cs typeface="Arial"/>
              </a:rPr>
              <a:t>processes</a:t>
            </a:r>
            <a:endParaRPr sz="1200">
              <a:latin typeface="Arial"/>
              <a:cs typeface="Arial"/>
            </a:endParaRPr>
          </a:p>
          <a:p>
            <a:pPr marL="38100">
              <a:lnSpc>
                <a:spcPct val="100000"/>
              </a:lnSpc>
              <a:spcBef>
                <a:spcPts val="190"/>
              </a:spcBef>
            </a:pPr>
            <a:r>
              <a:rPr sz="1000" spc="-5" dirty="0">
                <a:latin typeface="Arial"/>
                <a:cs typeface="Arial"/>
              </a:rPr>
              <a:t>A process</a:t>
            </a:r>
            <a:r>
              <a:rPr sz="1000" dirty="0">
                <a:latin typeface="Arial"/>
                <a:cs typeface="Arial"/>
              </a:rPr>
              <a:t> </a:t>
            </a:r>
            <a:r>
              <a:rPr sz="1000" spc="-5" dirty="0">
                <a:latin typeface="Arial"/>
                <a:cs typeface="Arial"/>
              </a:rPr>
              <a:t>is capable</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hosting a</a:t>
            </a:r>
            <a:r>
              <a:rPr sz="1000" dirty="0">
                <a:latin typeface="Arial"/>
                <a:cs typeface="Arial"/>
              </a:rPr>
              <a:t> </a:t>
            </a:r>
            <a:r>
              <a:rPr sz="1000" spc="-5" dirty="0">
                <a:latin typeface="Arial"/>
                <a:cs typeface="Arial"/>
              </a:rPr>
              <a:t>replica</a:t>
            </a:r>
            <a:r>
              <a:rPr sz="1000" dirty="0">
                <a:latin typeface="Arial"/>
                <a:cs typeface="Arial"/>
              </a:rPr>
              <a:t> </a:t>
            </a:r>
            <a:r>
              <a:rPr sz="1000" spc="-5" dirty="0">
                <a:latin typeface="Arial"/>
                <a:cs typeface="Arial"/>
              </a:rPr>
              <a:t>of an</a:t>
            </a:r>
            <a:r>
              <a:rPr sz="1000" dirty="0">
                <a:latin typeface="Arial"/>
                <a:cs typeface="Arial"/>
              </a:rPr>
              <a:t> </a:t>
            </a:r>
            <a:r>
              <a:rPr sz="1000" spc="-5" dirty="0">
                <a:latin typeface="Arial"/>
                <a:cs typeface="Arial"/>
              </a:rPr>
              <a:t>object</a:t>
            </a:r>
            <a:r>
              <a:rPr sz="1000" dirty="0">
                <a:latin typeface="Arial"/>
                <a:cs typeface="Arial"/>
              </a:rPr>
              <a:t> </a:t>
            </a:r>
            <a:r>
              <a:rPr sz="1000" spc="-5" dirty="0">
                <a:latin typeface="Arial"/>
                <a:cs typeface="Arial"/>
              </a:rPr>
              <a:t>or data:</a:t>
            </a:r>
            <a:endParaRPr sz="1000">
              <a:latin typeface="Arial"/>
              <a:cs typeface="Arial"/>
            </a:endParaRPr>
          </a:p>
          <a:p>
            <a:pPr marL="318770" indent="-168275">
              <a:lnSpc>
                <a:spcPts val="1200"/>
              </a:lnSpc>
              <a:spcBef>
                <a:spcPts val="595"/>
              </a:spcBef>
              <a:buClr>
                <a:srgbClr val="3333B2"/>
              </a:buClr>
              <a:buChar char="►"/>
              <a:tabLst>
                <a:tab pos="319405" algn="l"/>
              </a:tabLst>
            </a:pPr>
            <a:r>
              <a:rPr sz="1000" spc="-10" dirty="0">
                <a:solidFill>
                  <a:srgbClr val="0000FA"/>
                </a:solidFill>
                <a:latin typeface="Arial"/>
                <a:cs typeface="Arial"/>
              </a:rPr>
              <a:t>Permanent</a:t>
            </a:r>
            <a:r>
              <a:rPr sz="1000" dirty="0">
                <a:solidFill>
                  <a:srgbClr val="0000FA"/>
                </a:solidFill>
                <a:latin typeface="Arial"/>
                <a:cs typeface="Arial"/>
              </a:rPr>
              <a:t> </a:t>
            </a:r>
            <a:r>
              <a:rPr sz="1000" spc="-5" dirty="0">
                <a:solidFill>
                  <a:srgbClr val="0000FA"/>
                </a:solidFill>
                <a:latin typeface="Arial"/>
                <a:cs typeface="Arial"/>
              </a:rPr>
              <a:t>replicas:</a:t>
            </a:r>
            <a:r>
              <a:rPr sz="1000" spc="75" dirty="0">
                <a:solidFill>
                  <a:srgbClr val="0000FA"/>
                </a:solidFill>
                <a:latin typeface="Arial"/>
                <a:cs typeface="Arial"/>
              </a:rPr>
              <a:t> </a:t>
            </a:r>
            <a:r>
              <a:rPr sz="1000" spc="-5" dirty="0">
                <a:latin typeface="Arial"/>
                <a:cs typeface="Arial"/>
              </a:rPr>
              <a:t>Process/machine</a:t>
            </a:r>
            <a:r>
              <a:rPr sz="1000" spc="5" dirty="0">
                <a:latin typeface="Arial"/>
                <a:cs typeface="Arial"/>
              </a:rPr>
              <a:t> </a:t>
            </a:r>
            <a:r>
              <a:rPr sz="1000" spc="-10" dirty="0">
                <a:latin typeface="Arial"/>
                <a:cs typeface="Arial"/>
              </a:rPr>
              <a:t>always</a:t>
            </a:r>
            <a:r>
              <a:rPr sz="1000" spc="5" dirty="0">
                <a:latin typeface="Arial"/>
                <a:cs typeface="Arial"/>
              </a:rPr>
              <a:t> </a:t>
            </a:r>
            <a:r>
              <a:rPr sz="1000" spc="-10" dirty="0">
                <a:latin typeface="Arial"/>
                <a:cs typeface="Arial"/>
              </a:rPr>
              <a:t>having</a:t>
            </a:r>
            <a:r>
              <a:rPr sz="1000" spc="5"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replica</a:t>
            </a:r>
            <a:endParaRPr sz="1000">
              <a:latin typeface="Arial"/>
              <a:cs typeface="Arial"/>
            </a:endParaRPr>
          </a:p>
          <a:p>
            <a:pPr marL="318770" marR="144780" indent="-168275">
              <a:lnSpc>
                <a:spcPts val="1200"/>
              </a:lnSpc>
              <a:spcBef>
                <a:spcPts val="35"/>
              </a:spcBef>
              <a:buClr>
                <a:srgbClr val="3333B2"/>
              </a:buClr>
              <a:buChar char="►"/>
              <a:tabLst>
                <a:tab pos="319405" algn="l"/>
              </a:tabLst>
            </a:pPr>
            <a:r>
              <a:rPr sz="1000" spc="-5" dirty="0">
                <a:solidFill>
                  <a:srgbClr val="0000FA"/>
                </a:solidFill>
                <a:latin typeface="Arial"/>
                <a:cs typeface="Arial"/>
              </a:rPr>
              <a:t>Server-initiated</a:t>
            </a:r>
            <a:r>
              <a:rPr sz="1000" spc="5" dirty="0">
                <a:solidFill>
                  <a:srgbClr val="0000FA"/>
                </a:solidFill>
                <a:latin typeface="Arial"/>
                <a:cs typeface="Arial"/>
              </a:rPr>
              <a:t> </a:t>
            </a:r>
            <a:r>
              <a:rPr sz="1000" spc="-5" dirty="0">
                <a:solidFill>
                  <a:srgbClr val="0000FA"/>
                </a:solidFill>
                <a:latin typeface="Arial"/>
                <a:cs typeface="Arial"/>
              </a:rPr>
              <a:t>replica:</a:t>
            </a:r>
            <a:r>
              <a:rPr sz="1000" spc="70" dirty="0">
                <a:solidFill>
                  <a:srgbClr val="0000FA"/>
                </a:solidFill>
                <a:latin typeface="Arial"/>
                <a:cs typeface="Arial"/>
              </a:rPr>
              <a:t> </a:t>
            </a:r>
            <a:r>
              <a:rPr sz="1000" spc="-5" dirty="0">
                <a:latin typeface="Arial"/>
                <a:cs typeface="Arial"/>
              </a:rPr>
              <a:t>Process</a:t>
            </a:r>
            <a:r>
              <a:rPr sz="1000" spc="5"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can</a:t>
            </a:r>
            <a:r>
              <a:rPr sz="1000" spc="5" dirty="0">
                <a:latin typeface="Arial"/>
                <a:cs typeface="Arial"/>
              </a:rPr>
              <a:t> </a:t>
            </a:r>
            <a:r>
              <a:rPr sz="1000" spc="-5" dirty="0">
                <a:latin typeface="Arial"/>
                <a:cs typeface="Arial"/>
              </a:rPr>
              <a:t>dynamically</a:t>
            </a:r>
            <a:r>
              <a:rPr sz="1000" spc="5" dirty="0">
                <a:latin typeface="Arial"/>
                <a:cs typeface="Arial"/>
              </a:rPr>
              <a:t> </a:t>
            </a:r>
            <a:r>
              <a:rPr sz="1000" spc="-5" dirty="0">
                <a:latin typeface="Arial"/>
                <a:cs typeface="Arial"/>
              </a:rPr>
              <a:t>host</a:t>
            </a:r>
            <a:r>
              <a:rPr sz="1000" spc="5" dirty="0">
                <a:latin typeface="Arial"/>
                <a:cs typeface="Arial"/>
              </a:rPr>
              <a:t> </a:t>
            </a:r>
            <a:r>
              <a:rPr sz="1000" spc="-5" dirty="0">
                <a:latin typeface="Arial"/>
                <a:cs typeface="Arial"/>
              </a:rPr>
              <a:t>a </a:t>
            </a:r>
            <a:r>
              <a:rPr sz="1000" spc="-265" dirty="0">
                <a:latin typeface="Arial"/>
                <a:cs typeface="Arial"/>
              </a:rPr>
              <a:t> </a:t>
            </a:r>
            <a:r>
              <a:rPr sz="1000" spc="-5" dirty="0">
                <a:latin typeface="Arial"/>
                <a:cs typeface="Arial"/>
              </a:rPr>
              <a:t>replica on request</a:t>
            </a:r>
            <a:r>
              <a:rPr sz="1000" dirty="0">
                <a:latin typeface="Arial"/>
                <a:cs typeface="Arial"/>
              </a:rPr>
              <a:t> </a:t>
            </a:r>
            <a:r>
              <a:rPr sz="1000" spc="-5" dirty="0">
                <a:latin typeface="Arial"/>
                <a:cs typeface="Arial"/>
              </a:rPr>
              <a:t>of another</a:t>
            </a:r>
            <a:r>
              <a:rPr sz="1000" dirty="0">
                <a:latin typeface="Arial"/>
                <a:cs typeface="Arial"/>
              </a:rPr>
              <a:t> </a:t>
            </a:r>
            <a:r>
              <a:rPr sz="1000" spc="-5" dirty="0">
                <a:latin typeface="Arial"/>
                <a:cs typeface="Arial"/>
              </a:rPr>
              <a:t>server in the</a:t>
            </a:r>
            <a:r>
              <a:rPr sz="1000" dirty="0">
                <a:latin typeface="Arial"/>
                <a:cs typeface="Arial"/>
              </a:rPr>
              <a:t> </a:t>
            </a:r>
            <a:r>
              <a:rPr sz="1000" spc="-5" dirty="0">
                <a:latin typeface="Arial"/>
                <a:cs typeface="Arial"/>
              </a:rPr>
              <a:t>data store</a:t>
            </a:r>
            <a:endParaRPr sz="1000">
              <a:latin typeface="Arial"/>
              <a:cs typeface="Arial"/>
            </a:endParaRPr>
          </a:p>
          <a:p>
            <a:pPr marL="318770" indent="-168275">
              <a:lnSpc>
                <a:spcPts val="1150"/>
              </a:lnSpc>
              <a:buClr>
                <a:srgbClr val="3333B2"/>
              </a:buClr>
              <a:buChar char="►"/>
              <a:tabLst>
                <a:tab pos="319405" algn="l"/>
              </a:tabLst>
            </a:pPr>
            <a:r>
              <a:rPr sz="1000" spc="-5" dirty="0">
                <a:solidFill>
                  <a:srgbClr val="0000FA"/>
                </a:solidFill>
                <a:latin typeface="Arial"/>
                <a:cs typeface="Arial"/>
              </a:rPr>
              <a:t>Client-initiated</a:t>
            </a:r>
            <a:r>
              <a:rPr sz="1000" dirty="0">
                <a:solidFill>
                  <a:srgbClr val="0000FA"/>
                </a:solidFill>
                <a:latin typeface="Arial"/>
                <a:cs typeface="Arial"/>
              </a:rPr>
              <a:t> </a:t>
            </a:r>
            <a:r>
              <a:rPr sz="1000" spc="-5" dirty="0">
                <a:solidFill>
                  <a:srgbClr val="0000FA"/>
                </a:solidFill>
                <a:latin typeface="Arial"/>
                <a:cs typeface="Arial"/>
              </a:rPr>
              <a:t>replica:</a:t>
            </a:r>
            <a:r>
              <a:rPr sz="1000" spc="75" dirty="0">
                <a:solidFill>
                  <a:srgbClr val="0000FA"/>
                </a:solidFill>
                <a:latin typeface="Arial"/>
                <a:cs typeface="Arial"/>
              </a:rPr>
              <a:t> </a:t>
            </a:r>
            <a:r>
              <a:rPr sz="1000" spc="-5" dirty="0">
                <a:latin typeface="Arial"/>
                <a:cs typeface="Arial"/>
              </a:rPr>
              <a:t>Process</a:t>
            </a:r>
            <a:r>
              <a:rPr sz="1000"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can</a:t>
            </a:r>
            <a:r>
              <a:rPr sz="1000" spc="5" dirty="0">
                <a:latin typeface="Arial"/>
                <a:cs typeface="Arial"/>
              </a:rPr>
              <a:t> </a:t>
            </a:r>
            <a:r>
              <a:rPr sz="1000" spc="-5" dirty="0">
                <a:latin typeface="Arial"/>
                <a:cs typeface="Arial"/>
              </a:rPr>
              <a:t>dynamically</a:t>
            </a:r>
            <a:r>
              <a:rPr sz="1000" spc="5" dirty="0">
                <a:latin typeface="Arial"/>
                <a:cs typeface="Arial"/>
              </a:rPr>
              <a:t> </a:t>
            </a:r>
            <a:r>
              <a:rPr sz="1000" spc="-5" dirty="0">
                <a:latin typeface="Arial"/>
                <a:cs typeface="Arial"/>
              </a:rPr>
              <a:t>host</a:t>
            </a:r>
            <a:r>
              <a:rPr sz="1000" dirty="0">
                <a:latin typeface="Arial"/>
                <a:cs typeface="Arial"/>
              </a:rPr>
              <a:t> </a:t>
            </a:r>
            <a:r>
              <a:rPr sz="1000" spc="-5" dirty="0">
                <a:latin typeface="Arial"/>
                <a:cs typeface="Arial"/>
              </a:rPr>
              <a:t>a</a:t>
            </a:r>
            <a:endParaRPr sz="1000">
              <a:latin typeface="Arial"/>
              <a:cs typeface="Arial"/>
            </a:endParaRPr>
          </a:p>
          <a:p>
            <a:pPr marL="318770">
              <a:lnSpc>
                <a:spcPts val="1200"/>
              </a:lnSpc>
            </a:pPr>
            <a:r>
              <a:rPr sz="1000" spc="-5" dirty="0">
                <a:latin typeface="Arial"/>
                <a:cs typeface="Arial"/>
              </a:rPr>
              <a:t>replica on</a:t>
            </a:r>
            <a:r>
              <a:rPr sz="1000" dirty="0">
                <a:latin typeface="Arial"/>
                <a:cs typeface="Arial"/>
              </a:rPr>
              <a:t> </a:t>
            </a:r>
            <a:r>
              <a:rPr sz="1000" spc="-5" dirty="0">
                <a:latin typeface="Arial"/>
                <a:cs typeface="Arial"/>
              </a:rPr>
              <a:t>request of</a:t>
            </a:r>
            <a:r>
              <a:rPr sz="1000" dirty="0">
                <a:latin typeface="Arial"/>
                <a:cs typeface="Arial"/>
              </a:rPr>
              <a:t> </a:t>
            </a:r>
            <a:r>
              <a:rPr sz="1000" spc="-5" dirty="0">
                <a:latin typeface="Arial"/>
                <a:cs typeface="Arial"/>
              </a:rPr>
              <a:t>a client</a:t>
            </a:r>
            <a:r>
              <a:rPr sz="1000" dirty="0">
                <a:latin typeface="Arial"/>
                <a:cs typeface="Arial"/>
              </a:rPr>
              <a:t> </a:t>
            </a:r>
            <a:r>
              <a:rPr sz="1000" spc="-5" dirty="0">
                <a:latin typeface="Arial"/>
                <a:cs typeface="Arial"/>
              </a:rPr>
              <a:t>(</a:t>
            </a:r>
            <a:r>
              <a:rPr sz="1000" spc="-5" dirty="0">
                <a:solidFill>
                  <a:srgbClr val="FA0000"/>
                </a:solidFill>
                <a:latin typeface="Arial"/>
                <a:cs typeface="Arial"/>
              </a:rPr>
              <a:t>client</a:t>
            </a:r>
            <a:r>
              <a:rPr sz="1000" dirty="0">
                <a:solidFill>
                  <a:srgbClr val="FA0000"/>
                </a:solidFill>
                <a:latin typeface="Arial"/>
                <a:cs typeface="Arial"/>
              </a:rPr>
              <a:t> </a:t>
            </a:r>
            <a:r>
              <a:rPr sz="1000" spc="-5" dirty="0">
                <a:solidFill>
                  <a:srgbClr val="FA0000"/>
                </a:solidFill>
                <a:latin typeface="Arial"/>
                <a:cs typeface="Arial"/>
              </a:rPr>
              <a:t>cache</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732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Replica</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management</a:t>
            </a:r>
            <a:endParaRPr sz="600">
              <a:latin typeface="Arial"/>
              <a:cs typeface="Arial"/>
            </a:endParaRPr>
          </a:p>
        </p:txBody>
      </p:sp>
      <p:sp>
        <p:nvSpPr>
          <p:cNvPr id="3" name="object 3"/>
          <p:cNvSpPr txBox="1"/>
          <p:nvPr/>
        </p:nvSpPr>
        <p:spPr>
          <a:xfrm>
            <a:off x="3363952" y="716"/>
            <a:ext cx="117792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Content replication</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and</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placement</a:t>
            </a:r>
            <a:endParaRPr sz="600">
              <a:latin typeface="Arial"/>
              <a:cs typeface="Arial"/>
            </a:endParaRPr>
          </a:p>
        </p:txBody>
      </p:sp>
      <p:sp>
        <p:nvSpPr>
          <p:cNvPr id="4" name="object 4"/>
          <p:cNvSpPr txBox="1"/>
          <p:nvPr/>
        </p:nvSpPr>
        <p:spPr>
          <a:xfrm>
            <a:off x="95300" y="188846"/>
            <a:ext cx="3973195" cy="99631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Content</a:t>
            </a:r>
            <a:r>
              <a:rPr sz="1400" spc="-15" dirty="0">
                <a:solidFill>
                  <a:srgbClr val="3333B2"/>
                </a:solidFill>
                <a:latin typeface="Arial"/>
                <a:cs typeface="Arial"/>
              </a:rPr>
              <a:t> </a:t>
            </a:r>
            <a:r>
              <a:rPr sz="1400" spc="10" dirty="0">
                <a:solidFill>
                  <a:srgbClr val="3333B2"/>
                </a:solidFill>
                <a:latin typeface="Arial"/>
                <a:cs typeface="Arial"/>
              </a:rPr>
              <a:t>replication</a:t>
            </a:r>
            <a:endParaRPr sz="1400">
              <a:latin typeface="Arial"/>
              <a:cs typeface="Arial"/>
            </a:endParaRPr>
          </a:p>
          <a:p>
            <a:pPr>
              <a:lnSpc>
                <a:spcPct val="100000"/>
              </a:lnSpc>
            </a:pPr>
            <a:endParaRPr sz="1800">
              <a:latin typeface="Arial"/>
              <a:cs typeface="Arial"/>
            </a:endParaRPr>
          </a:p>
          <a:p>
            <a:pPr marL="264160" marR="5080" indent="-5080">
              <a:lnSpc>
                <a:spcPts val="1390"/>
              </a:lnSpc>
              <a:spcBef>
                <a:spcPts val="1115"/>
              </a:spcBef>
            </a:pPr>
            <a:r>
              <a:rPr sz="1200" spc="-5" dirty="0">
                <a:solidFill>
                  <a:srgbClr val="3333B2"/>
                </a:solidFill>
                <a:latin typeface="Arial"/>
                <a:cs typeface="Arial"/>
              </a:rPr>
              <a:t>The</a:t>
            </a:r>
            <a:r>
              <a:rPr sz="1200" dirty="0">
                <a:solidFill>
                  <a:srgbClr val="3333B2"/>
                </a:solidFill>
                <a:latin typeface="Arial"/>
                <a:cs typeface="Arial"/>
              </a:rPr>
              <a:t> </a:t>
            </a:r>
            <a:r>
              <a:rPr sz="1200" spc="-5" dirty="0">
                <a:solidFill>
                  <a:srgbClr val="3333B2"/>
                </a:solidFill>
                <a:latin typeface="Arial"/>
                <a:cs typeface="Arial"/>
              </a:rPr>
              <a:t>logical</a:t>
            </a:r>
            <a:r>
              <a:rPr sz="1200" dirty="0">
                <a:solidFill>
                  <a:srgbClr val="3333B2"/>
                </a:solidFill>
                <a:latin typeface="Arial"/>
                <a:cs typeface="Arial"/>
              </a:rPr>
              <a:t> </a:t>
            </a:r>
            <a:r>
              <a:rPr sz="1200" spc="-5" dirty="0">
                <a:solidFill>
                  <a:srgbClr val="3333B2"/>
                </a:solidFill>
                <a:latin typeface="Arial"/>
                <a:cs typeface="Arial"/>
              </a:rPr>
              <a:t>organization</a:t>
            </a:r>
            <a:r>
              <a:rPr sz="1200" dirty="0">
                <a:solidFill>
                  <a:srgbClr val="3333B2"/>
                </a:solidFill>
                <a:latin typeface="Arial"/>
                <a:cs typeface="Arial"/>
              </a:rPr>
              <a:t> </a:t>
            </a:r>
            <a:r>
              <a:rPr sz="1200" spc="-5" dirty="0">
                <a:solidFill>
                  <a:srgbClr val="3333B2"/>
                </a:solidFill>
                <a:latin typeface="Arial"/>
                <a:cs typeface="Arial"/>
              </a:rPr>
              <a:t>of</a:t>
            </a:r>
            <a:r>
              <a:rPr sz="1200" dirty="0">
                <a:solidFill>
                  <a:srgbClr val="3333B2"/>
                </a:solidFill>
                <a:latin typeface="Arial"/>
                <a:cs typeface="Arial"/>
              </a:rPr>
              <a:t> </a:t>
            </a:r>
            <a:r>
              <a:rPr sz="1200" spc="-10" dirty="0">
                <a:solidFill>
                  <a:srgbClr val="3333B2"/>
                </a:solidFill>
                <a:latin typeface="Arial"/>
                <a:cs typeface="Arial"/>
              </a:rPr>
              <a:t>different</a:t>
            </a:r>
            <a:r>
              <a:rPr sz="1200" dirty="0">
                <a:solidFill>
                  <a:srgbClr val="3333B2"/>
                </a:solidFill>
                <a:latin typeface="Arial"/>
                <a:cs typeface="Arial"/>
              </a:rPr>
              <a:t> </a:t>
            </a:r>
            <a:r>
              <a:rPr sz="1200" spc="-5" dirty="0">
                <a:solidFill>
                  <a:srgbClr val="3333B2"/>
                </a:solidFill>
                <a:latin typeface="Arial"/>
                <a:cs typeface="Arial"/>
              </a:rPr>
              <a:t>kinds</a:t>
            </a:r>
            <a:r>
              <a:rPr sz="1200" dirty="0">
                <a:solidFill>
                  <a:srgbClr val="3333B2"/>
                </a:solidFill>
                <a:latin typeface="Arial"/>
                <a:cs typeface="Arial"/>
              </a:rPr>
              <a:t> </a:t>
            </a:r>
            <a:r>
              <a:rPr sz="1200" spc="-5" dirty="0">
                <a:solidFill>
                  <a:srgbClr val="3333B2"/>
                </a:solidFill>
                <a:latin typeface="Arial"/>
                <a:cs typeface="Arial"/>
              </a:rPr>
              <a:t>of</a:t>
            </a:r>
            <a:r>
              <a:rPr sz="1200" dirty="0">
                <a:solidFill>
                  <a:srgbClr val="3333B2"/>
                </a:solidFill>
                <a:latin typeface="Arial"/>
                <a:cs typeface="Arial"/>
              </a:rPr>
              <a:t> </a:t>
            </a:r>
            <a:r>
              <a:rPr sz="1200" spc="-5" dirty="0">
                <a:solidFill>
                  <a:srgbClr val="3333B2"/>
                </a:solidFill>
                <a:latin typeface="Arial"/>
                <a:cs typeface="Arial"/>
              </a:rPr>
              <a:t>copies</a:t>
            </a:r>
            <a:r>
              <a:rPr sz="1200" dirty="0">
                <a:solidFill>
                  <a:srgbClr val="3333B2"/>
                </a:solidFill>
                <a:latin typeface="Arial"/>
                <a:cs typeface="Arial"/>
              </a:rPr>
              <a:t> </a:t>
            </a:r>
            <a:r>
              <a:rPr sz="1200" spc="-5" dirty="0">
                <a:solidFill>
                  <a:srgbClr val="3333B2"/>
                </a:solidFill>
                <a:latin typeface="Arial"/>
                <a:cs typeface="Arial"/>
              </a:rPr>
              <a:t>of</a:t>
            </a:r>
            <a:r>
              <a:rPr sz="1200" dirty="0">
                <a:solidFill>
                  <a:srgbClr val="3333B2"/>
                </a:solidFill>
                <a:latin typeface="Arial"/>
                <a:cs typeface="Arial"/>
              </a:rPr>
              <a:t> </a:t>
            </a:r>
            <a:r>
              <a:rPr sz="1200" spc="-5" dirty="0">
                <a:solidFill>
                  <a:srgbClr val="3333B2"/>
                </a:solidFill>
                <a:latin typeface="Arial"/>
                <a:cs typeface="Arial"/>
              </a:rPr>
              <a:t>a </a:t>
            </a:r>
            <a:r>
              <a:rPr sz="1200" spc="-320" dirty="0">
                <a:solidFill>
                  <a:srgbClr val="3333B2"/>
                </a:solidFill>
                <a:latin typeface="Arial"/>
                <a:cs typeface="Arial"/>
              </a:rPr>
              <a:t> </a:t>
            </a:r>
            <a:r>
              <a:rPr sz="1200" spc="-5" dirty="0">
                <a:solidFill>
                  <a:srgbClr val="3333B2"/>
                </a:solidFill>
                <a:latin typeface="Arial"/>
                <a:cs typeface="Arial"/>
              </a:rPr>
              <a:t>data store into three concentric </a:t>
            </a:r>
            <a:r>
              <a:rPr sz="1200" dirty="0">
                <a:solidFill>
                  <a:srgbClr val="3333B2"/>
                </a:solidFill>
                <a:latin typeface="Arial"/>
                <a:cs typeface="Arial"/>
              </a:rPr>
              <a:t>rings</a:t>
            </a:r>
            <a:endParaRPr sz="1200">
              <a:latin typeface="Arial"/>
              <a:cs typeface="Arial"/>
            </a:endParaRPr>
          </a:p>
        </p:txBody>
      </p:sp>
      <p:grpSp>
        <p:nvGrpSpPr>
          <p:cNvPr id="5" name="object 5"/>
          <p:cNvGrpSpPr/>
          <p:nvPr/>
        </p:nvGrpSpPr>
        <p:grpSpPr>
          <a:xfrm>
            <a:off x="496214" y="1303845"/>
            <a:ext cx="2580640" cy="1259840"/>
            <a:chOff x="496214" y="1303845"/>
            <a:chExt cx="2580640" cy="1259840"/>
          </a:xfrm>
        </p:grpSpPr>
        <p:sp>
          <p:nvSpPr>
            <p:cNvPr id="6" name="object 6"/>
            <p:cNvSpPr/>
            <p:nvPr/>
          </p:nvSpPr>
          <p:spPr>
            <a:xfrm>
              <a:off x="782011" y="1426005"/>
              <a:ext cx="1838325" cy="977265"/>
            </a:xfrm>
            <a:custGeom>
              <a:avLst/>
              <a:gdLst/>
              <a:ahLst/>
              <a:cxnLst/>
              <a:rect l="l" t="t" r="r" b="b"/>
              <a:pathLst>
                <a:path w="1838325" h="977264">
                  <a:moveTo>
                    <a:pt x="910796" y="258389"/>
                  </a:moveTo>
                  <a:lnTo>
                    <a:pt x="976213" y="260656"/>
                  </a:lnTo>
                  <a:lnTo>
                    <a:pt x="1037843" y="267190"/>
                  </a:lnTo>
                  <a:lnTo>
                    <a:pt x="1094642" y="277589"/>
                  </a:lnTo>
                  <a:lnTo>
                    <a:pt x="1145567" y="291452"/>
                  </a:lnTo>
                  <a:lnTo>
                    <a:pt x="1189572" y="308377"/>
                  </a:lnTo>
                  <a:lnTo>
                    <a:pt x="1225615" y="327964"/>
                  </a:lnTo>
                  <a:lnTo>
                    <a:pt x="1269641" y="373514"/>
                  </a:lnTo>
                  <a:lnTo>
                    <a:pt x="1275535" y="398675"/>
                  </a:lnTo>
                  <a:lnTo>
                    <a:pt x="1269641" y="423836"/>
                  </a:lnTo>
                  <a:lnTo>
                    <a:pt x="1225615" y="469386"/>
                  </a:lnTo>
                  <a:lnTo>
                    <a:pt x="1189572" y="488972"/>
                  </a:lnTo>
                  <a:lnTo>
                    <a:pt x="1145567" y="505898"/>
                  </a:lnTo>
                  <a:lnTo>
                    <a:pt x="1094642" y="519761"/>
                  </a:lnTo>
                  <a:lnTo>
                    <a:pt x="1037843" y="530160"/>
                  </a:lnTo>
                  <a:lnTo>
                    <a:pt x="976213" y="536694"/>
                  </a:lnTo>
                  <a:lnTo>
                    <a:pt x="910796" y="538961"/>
                  </a:lnTo>
                  <a:lnTo>
                    <a:pt x="845375" y="536694"/>
                  </a:lnTo>
                  <a:lnTo>
                    <a:pt x="783742" y="530160"/>
                  </a:lnTo>
                  <a:lnTo>
                    <a:pt x="726941" y="519761"/>
                  </a:lnTo>
                  <a:lnTo>
                    <a:pt x="676015" y="505898"/>
                  </a:lnTo>
                  <a:lnTo>
                    <a:pt x="632008" y="488972"/>
                  </a:lnTo>
                  <a:lnTo>
                    <a:pt x="595964" y="469386"/>
                  </a:lnTo>
                  <a:lnTo>
                    <a:pt x="551938" y="423836"/>
                  </a:lnTo>
                  <a:lnTo>
                    <a:pt x="546043" y="398675"/>
                  </a:lnTo>
                  <a:lnTo>
                    <a:pt x="551938" y="373514"/>
                  </a:lnTo>
                  <a:lnTo>
                    <a:pt x="595964" y="327964"/>
                  </a:lnTo>
                  <a:lnTo>
                    <a:pt x="632008" y="308377"/>
                  </a:lnTo>
                  <a:lnTo>
                    <a:pt x="676015" y="291452"/>
                  </a:lnTo>
                  <a:lnTo>
                    <a:pt x="726941" y="277589"/>
                  </a:lnTo>
                  <a:lnTo>
                    <a:pt x="783742" y="267190"/>
                  </a:lnTo>
                  <a:lnTo>
                    <a:pt x="845375" y="260656"/>
                  </a:lnTo>
                  <a:lnTo>
                    <a:pt x="910796" y="258389"/>
                  </a:lnTo>
                  <a:close/>
                </a:path>
                <a:path w="1838325" h="977264">
                  <a:moveTo>
                    <a:pt x="901214" y="119520"/>
                  </a:moveTo>
                  <a:lnTo>
                    <a:pt x="962536" y="121036"/>
                  </a:lnTo>
                  <a:lnTo>
                    <a:pt x="1022242" y="125492"/>
                  </a:lnTo>
                  <a:lnTo>
                    <a:pt x="1080060" y="132747"/>
                  </a:lnTo>
                  <a:lnTo>
                    <a:pt x="1135718" y="142661"/>
                  </a:lnTo>
                  <a:lnTo>
                    <a:pt x="1188947" y="155093"/>
                  </a:lnTo>
                  <a:lnTo>
                    <a:pt x="1239475" y="169904"/>
                  </a:lnTo>
                  <a:lnTo>
                    <a:pt x="1287031" y="186954"/>
                  </a:lnTo>
                  <a:lnTo>
                    <a:pt x="1331344" y="206101"/>
                  </a:lnTo>
                  <a:lnTo>
                    <a:pt x="1372143" y="227207"/>
                  </a:lnTo>
                  <a:lnTo>
                    <a:pt x="1409158" y="250130"/>
                  </a:lnTo>
                  <a:lnTo>
                    <a:pt x="1442116" y="274731"/>
                  </a:lnTo>
                  <a:lnTo>
                    <a:pt x="1470747" y="300869"/>
                  </a:lnTo>
                  <a:lnTo>
                    <a:pt x="1513945" y="357196"/>
                  </a:lnTo>
                  <a:lnTo>
                    <a:pt x="1536582" y="417991"/>
                  </a:lnTo>
                  <a:lnTo>
                    <a:pt x="1539514" y="449712"/>
                  </a:lnTo>
                  <a:lnTo>
                    <a:pt x="1536582" y="481433"/>
                  </a:lnTo>
                  <a:lnTo>
                    <a:pt x="1513945" y="542226"/>
                  </a:lnTo>
                  <a:lnTo>
                    <a:pt x="1470747" y="598552"/>
                  </a:lnTo>
                  <a:lnTo>
                    <a:pt x="1442116" y="624689"/>
                  </a:lnTo>
                  <a:lnTo>
                    <a:pt x="1409158" y="649289"/>
                  </a:lnTo>
                  <a:lnTo>
                    <a:pt x="1372143" y="672212"/>
                  </a:lnTo>
                  <a:lnTo>
                    <a:pt x="1331344" y="693317"/>
                  </a:lnTo>
                  <a:lnTo>
                    <a:pt x="1287031" y="712464"/>
                  </a:lnTo>
                  <a:lnTo>
                    <a:pt x="1239475" y="729513"/>
                  </a:lnTo>
                  <a:lnTo>
                    <a:pt x="1188947" y="744324"/>
                  </a:lnTo>
                  <a:lnTo>
                    <a:pt x="1135718" y="756756"/>
                  </a:lnTo>
                  <a:lnTo>
                    <a:pt x="1080060" y="766670"/>
                  </a:lnTo>
                  <a:lnTo>
                    <a:pt x="1022242" y="773924"/>
                  </a:lnTo>
                  <a:lnTo>
                    <a:pt x="962536" y="778380"/>
                  </a:lnTo>
                  <a:lnTo>
                    <a:pt x="901214" y="779896"/>
                  </a:lnTo>
                  <a:lnTo>
                    <a:pt x="839890" y="778380"/>
                  </a:lnTo>
                  <a:lnTo>
                    <a:pt x="780183" y="773924"/>
                  </a:lnTo>
                  <a:lnTo>
                    <a:pt x="722365" y="766670"/>
                  </a:lnTo>
                  <a:lnTo>
                    <a:pt x="666705" y="756756"/>
                  </a:lnTo>
                  <a:lnTo>
                    <a:pt x="613476" y="744324"/>
                  </a:lnTo>
                  <a:lnTo>
                    <a:pt x="562947" y="729513"/>
                  </a:lnTo>
                  <a:lnTo>
                    <a:pt x="515391" y="712464"/>
                  </a:lnTo>
                  <a:lnTo>
                    <a:pt x="471077" y="693317"/>
                  </a:lnTo>
                  <a:lnTo>
                    <a:pt x="430278" y="672212"/>
                  </a:lnTo>
                  <a:lnTo>
                    <a:pt x="393263" y="649289"/>
                  </a:lnTo>
                  <a:lnTo>
                    <a:pt x="360305" y="624689"/>
                  </a:lnTo>
                  <a:lnTo>
                    <a:pt x="331674" y="598552"/>
                  </a:lnTo>
                  <a:lnTo>
                    <a:pt x="288476" y="542226"/>
                  </a:lnTo>
                  <a:lnTo>
                    <a:pt x="265838" y="481433"/>
                  </a:lnTo>
                  <a:lnTo>
                    <a:pt x="262907" y="449712"/>
                  </a:lnTo>
                  <a:lnTo>
                    <a:pt x="265838" y="417991"/>
                  </a:lnTo>
                  <a:lnTo>
                    <a:pt x="288476" y="357196"/>
                  </a:lnTo>
                  <a:lnTo>
                    <a:pt x="331674" y="300869"/>
                  </a:lnTo>
                  <a:lnTo>
                    <a:pt x="360305" y="274731"/>
                  </a:lnTo>
                  <a:lnTo>
                    <a:pt x="393263" y="250130"/>
                  </a:lnTo>
                  <a:lnTo>
                    <a:pt x="430278" y="227207"/>
                  </a:lnTo>
                  <a:lnTo>
                    <a:pt x="471077" y="206101"/>
                  </a:lnTo>
                  <a:lnTo>
                    <a:pt x="515391" y="186954"/>
                  </a:lnTo>
                  <a:lnTo>
                    <a:pt x="562947" y="169904"/>
                  </a:lnTo>
                  <a:lnTo>
                    <a:pt x="613476" y="155093"/>
                  </a:lnTo>
                  <a:lnTo>
                    <a:pt x="666705" y="142661"/>
                  </a:lnTo>
                  <a:lnTo>
                    <a:pt x="722365" y="132747"/>
                  </a:lnTo>
                  <a:lnTo>
                    <a:pt x="780183" y="125492"/>
                  </a:lnTo>
                  <a:lnTo>
                    <a:pt x="839890" y="121036"/>
                  </a:lnTo>
                  <a:lnTo>
                    <a:pt x="901214" y="119520"/>
                  </a:lnTo>
                  <a:close/>
                </a:path>
                <a:path w="1838325" h="977264">
                  <a:moveTo>
                    <a:pt x="919165" y="0"/>
                  </a:moveTo>
                  <a:lnTo>
                    <a:pt x="981936" y="1130"/>
                  </a:lnTo>
                  <a:lnTo>
                    <a:pt x="1043596" y="4474"/>
                  </a:lnTo>
                  <a:lnTo>
                    <a:pt x="1104007" y="9957"/>
                  </a:lnTo>
                  <a:lnTo>
                    <a:pt x="1163029" y="17504"/>
                  </a:lnTo>
                  <a:lnTo>
                    <a:pt x="1220524" y="27044"/>
                  </a:lnTo>
                  <a:lnTo>
                    <a:pt x="1276354" y="38501"/>
                  </a:lnTo>
                  <a:lnTo>
                    <a:pt x="1330379" y="51802"/>
                  </a:lnTo>
                  <a:lnTo>
                    <a:pt x="1382461" y="66873"/>
                  </a:lnTo>
                  <a:lnTo>
                    <a:pt x="1432461" y="83641"/>
                  </a:lnTo>
                  <a:lnTo>
                    <a:pt x="1480240" y="102032"/>
                  </a:lnTo>
                  <a:lnTo>
                    <a:pt x="1525661" y="121973"/>
                  </a:lnTo>
                  <a:lnTo>
                    <a:pt x="1568583" y="143388"/>
                  </a:lnTo>
                  <a:lnTo>
                    <a:pt x="1608869" y="166205"/>
                  </a:lnTo>
                  <a:lnTo>
                    <a:pt x="1646379" y="190351"/>
                  </a:lnTo>
                  <a:lnTo>
                    <a:pt x="1680975" y="215750"/>
                  </a:lnTo>
                  <a:lnTo>
                    <a:pt x="1712518" y="242330"/>
                  </a:lnTo>
                  <a:lnTo>
                    <a:pt x="1740870" y="270017"/>
                  </a:lnTo>
                  <a:lnTo>
                    <a:pt x="1787444" y="328417"/>
                  </a:lnTo>
                  <a:lnTo>
                    <a:pt x="1819588" y="390358"/>
                  </a:lnTo>
                  <a:lnTo>
                    <a:pt x="1836192" y="455253"/>
                  </a:lnTo>
                  <a:lnTo>
                    <a:pt x="1838319" y="488623"/>
                  </a:lnTo>
                  <a:lnTo>
                    <a:pt x="1836192" y="521993"/>
                  </a:lnTo>
                  <a:lnTo>
                    <a:pt x="1819588" y="586886"/>
                  </a:lnTo>
                  <a:lnTo>
                    <a:pt x="1787444" y="648826"/>
                  </a:lnTo>
                  <a:lnTo>
                    <a:pt x="1740870" y="707224"/>
                  </a:lnTo>
                  <a:lnTo>
                    <a:pt x="1712518" y="734910"/>
                  </a:lnTo>
                  <a:lnTo>
                    <a:pt x="1680975" y="761489"/>
                  </a:lnTo>
                  <a:lnTo>
                    <a:pt x="1646379" y="786888"/>
                  </a:lnTo>
                  <a:lnTo>
                    <a:pt x="1608869" y="811033"/>
                  </a:lnTo>
                  <a:lnTo>
                    <a:pt x="1568583" y="833850"/>
                  </a:lnTo>
                  <a:lnTo>
                    <a:pt x="1525661" y="855265"/>
                  </a:lnTo>
                  <a:lnTo>
                    <a:pt x="1480240" y="875205"/>
                  </a:lnTo>
                  <a:lnTo>
                    <a:pt x="1432461" y="893595"/>
                  </a:lnTo>
                  <a:lnTo>
                    <a:pt x="1382461" y="910363"/>
                  </a:lnTo>
                  <a:lnTo>
                    <a:pt x="1330379" y="925434"/>
                  </a:lnTo>
                  <a:lnTo>
                    <a:pt x="1276354" y="938735"/>
                  </a:lnTo>
                  <a:lnTo>
                    <a:pt x="1220524" y="950192"/>
                  </a:lnTo>
                  <a:lnTo>
                    <a:pt x="1163029" y="959731"/>
                  </a:lnTo>
                  <a:lnTo>
                    <a:pt x="1104007" y="967279"/>
                  </a:lnTo>
                  <a:lnTo>
                    <a:pt x="1043596" y="972761"/>
                  </a:lnTo>
                  <a:lnTo>
                    <a:pt x="981936" y="976105"/>
                  </a:lnTo>
                  <a:lnTo>
                    <a:pt x="919165" y="977236"/>
                  </a:lnTo>
                  <a:lnTo>
                    <a:pt x="856392" y="976105"/>
                  </a:lnTo>
                  <a:lnTo>
                    <a:pt x="794729" y="972761"/>
                  </a:lnTo>
                  <a:lnTo>
                    <a:pt x="734317" y="967279"/>
                  </a:lnTo>
                  <a:lnTo>
                    <a:pt x="675293" y="959731"/>
                  </a:lnTo>
                  <a:lnTo>
                    <a:pt x="617796" y="950192"/>
                  </a:lnTo>
                  <a:lnTo>
                    <a:pt x="561966" y="938735"/>
                  </a:lnTo>
                  <a:lnTo>
                    <a:pt x="507940" y="925434"/>
                  </a:lnTo>
                  <a:lnTo>
                    <a:pt x="455857" y="910363"/>
                  </a:lnTo>
                  <a:lnTo>
                    <a:pt x="405856" y="893595"/>
                  </a:lnTo>
                  <a:lnTo>
                    <a:pt x="358077" y="875205"/>
                  </a:lnTo>
                  <a:lnTo>
                    <a:pt x="312656" y="855265"/>
                  </a:lnTo>
                  <a:lnTo>
                    <a:pt x="269734" y="833850"/>
                  </a:lnTo>
                  <a:lnTo>
                    <a:pt x="229448" y="811033"/>
                  </a:lnTo>
                  <a:lnTo>
                    <a:pt x="191938" y="786888"/>
                  </a:lnTo>
                  <a:lnTo>
                    <a:pt x="157342" y="761489"/>
                  </a:lnTo>
                  <a:lnTo>
                    <a:pt x="125799" y="734910"/>
                  </a:lnTo>
                  <a:lnTo>
                    <a:pt x="97447" y="707224"/>
                  </a:lnTo>
                  <a:lnTo>
                    <a:pt x="50873" y="648826"/>
                  </a:lnTo>
                  <a:lnTo>
                    <a:pt x="18730" y="586886"/>
                  </a:lnTo>
                  <a:lnTo>
                    <a:pt x="2127" y="521993"/>
                  </a:lnTo>
                  <a:lnTo>
                    <a:pt x="0" y="488623"/>
                  </a:lnTo>
                  <a:lnTo>
                    <a:pt x="2127" y="455253"/>
                  </a:lnTo>
                  <a:lnTo>
                    <a:pt x="18730" y="390358"/>
                  </a:lnTo>
                  <a:lnTo>
                    <a:pt x="50873" y="328417"/>
                  </a:lnTo>
                  <a:lnTo>
                    <a:pt x="97447" y="270017"/>
                  </a:lnTo>
                  <a:lnTo>
                    <a:pt x="125799" y="242330"/>
                  </a:lnTo>
                  <a:lnTo>
                    <a:pt x="157342" y="215750"/>
                  </a:lnTo>
                  <a:lnTo>
                    <a:pt x="191938" y="190351"/>
                  </a:lnTo>
                  <a:lnTo>
                    <a:pt x="229448" y="166205"/>
                  </a:lnTo>
                  <a:lnTo>
                    <a:pt x="269734" y="143388"/>
                  </a:lnTo>
                  <a:lnTo>
                    <a:pt x="312656" y="121973"/>
                  </a:lnTo>
                  <a:lnTo>
                    <a:pt x="358077" y="102032"/>
                  </a:lnTo>
                  <a:lnTo>
                    <a:pt x="405856" y="83641"/>
                  </a:lnTo>
                  <a:lnTo>
                    <a:pt x="455857" y="66873"/>
                  </a:lnTo>
                  <a:lnTo>
                    <a:pt x="507940" y="51802"/>
                  </a:lnTo>
                  <a:lnTo>
                    <a:pt x="561966" y="38501"/>
                  </a:lnTo>
                  <a:lnTo>
                    <a:pt x="617796" y="27044"/>
                  </a:lnTo>
                  <a:lnTo>
                    <a:pt x="675293" y="17504"/>
                  </a:lnTo>
                  <a:lnTo>
                    <a:pt x="734317" y="9957"/>
                  </a:lnTo>
                  <a:lnTo>
                    <a:pt x="794729" y="4474"/>
                  </a:lnTo>
                  <a:lnTo>
                    <a:pt x="856392" y="1130"/>
                  </a:lnTo>
                  <a:lnTo>
                    <a:pt x="919165" y="0"/>
                  </a:lnTo>
                  <a:close/>
                </a:path>
              </a:pathLst>
            </a:custGeom>
            <a:ln w="5270">
              <a:solidFill>
                <a:srgbClr val="231F20"/>
              </a:solidFill>
            </a:ln>
          </p:spPr>
          <p:txBody>
            <a:bodyPr wrap="square" lIns="0" tIns="0" rIns="0" bIns="0" rtlCol="0"/>
            <a:lstStyle/>
            <a:p>
              <a:endParaRPr/>
            </a:p>
          </p:txBody>
        </p:sp>
        <p:sp>
          <p:nvSpPr>
            <p:cNvPr id="7" name="object 7"/>
            <p:cNvSpPr/>
            <p:nvPr/>
          </p:nvSpPr>
          <p:spPr>
            <a:xfrm>
              <a:off x="498849" y="1306480"/>
              <a:ext cx="2382520" cy="1254760"/>
            </a:xfrm>
            <a:custGeom>
              <a:avLst/>
              <a:gdLst/>
              <a:ahLst/>
              <a:cxnLst/>
              <a:rect l="l" t="t" r="r" b="b"/>
              <a:pathLst>
                <a:path w="2382520" h="1254760">
                  <a:moveTo>
                    <a:pt x="1191227" y="0"/>
                  </a:moveTo>
                  <a:lnTo>
                    <a:pt x="1252370" y="818"/>
                  </a:lnTo>
                  <a:lnTo>
                    <a:pt x="1312728" y="3248"/>
                  </a:lnTo>
                  <a:lnTo>
                    <a:pt x="1372225" y="7248"/>
                  </a:lnTo>
                  <a:lnTo>
                    <a:pt x="1430786" y="12780"/>
                  </a:lnTo>
                  <a:lnTo>
                    <a:pt x="1488335" y="19803"/>
                  </a:lnTo>
                  <a:lnTo>
                    <a:pt x="1544796" y="28277"/>
                  </a:lnTo>
                  <a:lnTo>
                    <a:pt x="1600093" y="38162"/>
                  </a:lnTo>
                  <a:lnTo>
                    <a:pt x="1654150" y="49418"/>
                  </a:lnTo>
                  <a:lnTo>
                    <a:pt x="1706892" y="62006"/>
                  </a:lnTo>
                  <a:lnTo>
                    <a:pt x="1758243" y="75885"/>
                  </a:lnTo>
                  <a:lnTo>
                    <a:pt x="1808126" y="91016"/>
                  </a:lnTo>
                  <a:lnTo>
                    <a:pt x="1856466" y="107358"/>
                  </a:lnTo>
                  <a:lnTo>
                    <a:pt x="1903187" y="124872"/>
                  </a:lnTo>
                  <a:lnTo>
                    <a:pt x="1948214" y="143518"/>
                  </a:lnTo>
                  <a:lnTo>
                    <a:pt x="1991470" y="163256"/>
                  </a:lnTo>
                  <a:lnTo>
                    <a:pt x="2032880" y="184046"/>
                  </a:lnTo>
                  <a:lnTo>
                    <a:pt x="2072368" y="205847"/>
                  </a:lnTo>
                  <a:lnTo>
                    <a:pt x="2109857" y="228621"/>
                  </a:lnTo>
                  <a:lnTo>
                    <a:pt x="2145273" y="252327"/>
                  </a:lnTo>
                  <a:lnTo>
                    <a:pt x="2178539" y="276925"/>
                  </a:lnTo>
                  <a:lnTo>
                    <a:pt x="2209580" y="302375"/>
                  </a:lnTo>
                  <a:lnTo>
                    <a:pt x="2238319" y="328638"/>
                  </a:lnTo>
                  <a:lnTo>
                    <a:pt x="2288590" y="383441"/>
                  </a:lnTo>
                  <a:lnTo>
                    <a:pt x="2328746" y="441014"/>
                  </a:lnTo>
                  <a:lnTo>
                    <a:pt x="2358180" y="501039"/>
                  </a:lnTo>
                  <a:lnTo>
                    <a:pt x="2376285" y="563195"/>
                  </a:lnTo>
                  <a:lnTo>
                    <a:pt x="2382455" y="627163"/>
                  </a:lnTo>
                  <a:lnTo>
                    <a:pt x="2380900" y="659353"/>
                  </a:lnTo>
                  <a:lnTo>
                    <a:pt x="2368687" y="722454"/>
                  </a:lnTo>
                  <a:lnTo>
                    <a:pt x="2344841" y="783583"/>
                  </a:lnTo>
                  <a:lnTo>
                    <a:pt x="2309971" y="842421"/>
                  </a:lnTo>
                  <a:lnTo>
                    <a:pt x="2264681" y="898648"/>
                  </a:lnTo>
                  <a:lnTo>
                    <a:pt x="2209580" y="951945"/>
                  </a:lnTo>
                  <a:lnTo>
                    <a:pt x="2178539" y="977395"/>
                  </a:lnTo>
                  <a:lnTo>
                    <a:pt x="2145273" y="1001993"/>
                  </a:lnTo>
                  <a:lnTo>
                    <a:pt x="2109857" y="1025698"/>
                  </a:lnTo>
                  <a:lnTo>
                    <a:pt x="2072368" y="1048471"/>
                  </a:lnTo>
                  <a:lnTo>
                    <a:pt x="2032880" y="1070273"/>
                  </a:lnTo>
                  <a:lnTo>
                    <a:pt x="1991470" y="1091062"/>
                  </a:lnTo>
                  <a:lnTo>
                    <a:pt x="1948214" y="1110799"/>
                  </a:lnTo>
                  <a:lnTo>
                    <a:pt x="1903187" y="1129445"/>
                  </a:lnTo>
                  <a:lnTo>
                    <a:pt x="1856466" y="1146959"/>
                  </a:lnTo>
                  <a:lnTo>
                    <a:pt x="1808126" y="1163301"/>
                  </a:lnTo>
                  <a:lnTo>
                    <a:pt x="1758243" y="1178431"/>
                  </a:lnTo>
                  <a:lnTo>
                    <a:pt x="1706892" y="1192310"/>
                  </a:lnTo>
                  <a:lnTo>
                    <a:pt x="1654150" y="1204898"/>
                  </a:lnTo>
                  <a:lnTo>
                    <a:pt x="1600093" y="1216154"/>
                  </a:lnTo>
                  <a:lnTo>
                    <a:pt x="1544796" y="1226039"/>
                  </a:lnTo>
                  <a:lnTo>
                    <a:pt x="1488335" y="1234512"/>
                  </a:lnTo>
                  <a:lnTo>
                    <a:pt x="1430786" y="1241535"/>
                  </a:lnTo>
                  <a:lnTo>
                    <a:pt x="1372225" y="1247066"/>
                  </a:lnTo>
                  <a:lnTo>
                    <a:pt x="1312728" y="1251067"/>
                  </a:lnTo>
                  <a:lnTo>
                    <a:pt x="1252370" y="1253496"/>
                  </a:lnTo>
                  <a:lnTo>
                    <a:pt x="1191227" y="1254315"/>
                  </a:lnTo>
                  <a:lnTo>
                    <a:pt x="1130084" y="1253496"/>
                  </a:lnTo>
                  <a:lnTo>
                    <a:pt x="1069726" y="1251067"/>
                  </a:lnTo>
                  <a:lnTo>
                    <a:pt x="1010228" y="1247066"/>
                  </a:lnTo>
                  <a:lnTo>
                    <a:pt x="951667" y="1241535"/>
                  </a:lnTo>
                  <a:lnTo>
                    <a:pt x="894118" y="1234512"/>
                  </a:lnTo>
                  <a:lnTo>
                    <a:pt x="837657" y="1226039"/>
                  </a:lnTo>
                  <a:lnTo>
                    <a:pt x="782360" y="1216154"/>
                  </a:lnTo>
                  <a:lnTo>
                    <a:pt x="728303" y="1204898"/>
                  </a:lnTo>
                  <a:lnTo>
                    <a:pt x="675561" y="1192310"/>
                  </a:lnTo>
                  <a:lnTo>
                    <a:pt x="624210" y="1178431"/>
                  </a:lnTo>
                  <a:lnTo>
                    <a:pt x="574327" y="1163301"/>
                  </a:lnTo>
                  <a:lnTo>
                    <a:pt x="525987" y="1146959"/>
                  </a:lnTo>
                  <a:lnTo>
                    <a:pt x="479266" y="1129445"/>
                  </a:lnTo>
                  <a:lnTo>
                    <a:pt x="434239" y="1110799"/>
                  </a:lnTo>
                  <a:lnTo>
                    <a:pt x="390983" y="1091062"/>
                  </a:lnTo>
                  <a:lnTo>
                    <a:pt x="349573" y="1070273"/>
                  </a:lnTo>
                  <a:lnTo>
                    <a:pt x="310085" y="1048471"/>
                  </a:lnTo>
                  <a:lnTo>
                    <a:pt x="272596" y="1025698"/>
                  </a:lnTo>
                  <a:lnTo>
                    <a:pt x="237180" y="1001993"/>
                  </a:lnTo>
                  <a:lnTo>
                    <a:pt x="203914" y="977395"/>
                  </a:lnTo>
                  <a:lnTo>
                    <a:pt x="172874" y="951945"/>
                  </a:lnTo>
                  <a:lnTo>
                    <a:pt x="144135" y="925683"/>
                  </a:lnTo>
                  <a:lnTo>
                    <a:pt x="93864" y="870881"/>
                  </a:lnTo>
                  <a:lnTo>
                    <a:pt x="53708" y="813308"/>
                  </a:lnTo>
                  <a:lnTo>
                    <a:pt x="24274" y="753285"/>
                  </a:lnTo>
                  <a:lnTo>
                    <a:pt x="6169" y="691130"/>
                  </a:lnTo>
                  <a:lnTo>
                    <a:pt x="0" y="627163"/>
                  </a:lnTo>
                  <a:lnTo>
                    <a:pt x="1555" y="594972"/>
                  </a:lnTo>
                  <a:lnTo>
                    <a:pt x="13768" y="531870"/>
                  </a:lnTo>
                  <a:lnTo>
                    <a:pt x="37613" y="470740"/>
                  </a:lnTo>
                  <a:lnTo>
                    <a:pt x="72484" y="411901"/>
                  </a:lnTo>
                  <a:lnTo>
                    <a:pt x="117773" y="355673"/>
                  </a:lnTo>
                  <a:lnTo>
                    <a:pt x="172874" y="302375"/>
                  </a:lnTo>
                  <a:lnTo>
                    <a:pt x="203914" y="276925"/>
                  </a:lnTo>
                  <a:lnTo>
                    <a:pt x="237180" y="252327"/>
                  </a:lnTo>
                  <a:lnTo>
                    <a:pt x="272596" y="228621"/>
                  </a:lnTo>
                  <a:lnTo>
                    <a:pt x="310085" y="205847"/>
                  </a:lnTo>
                  <a:lnTo>
                    <a:pt x="349573" y="184046"/>
                  </a:lnTo>
                  <a:lnTo>
                    <a:pt x="390983" y="163256"/>
                  </a:lnTo>
                  <a:lnTo>
                    <a:pt x="434239" y="143518"/>
                  </a:lnTo>
                  <a:lnTo>
                    <a:pt x="479266" y="124872"/>
                  </a:lnTo>
                  <a:lnTo>
                    <a:pt x="525987" y="107358"/>
                  </a:lnTo>
                  <a:lnTo>
                    <a:pt x="574327" y="91016"/>
                  </a:lnTo>
                  <a:lnTo>
                    <a:pt x="624210" y="75885"/>
                  </a:lnTo>
                  <a:lnTo>
                    <a:pt x="675561" y="62006"/>
                  </a:lnTo>
                  <a:lnTo>
                    <a:pt x="728303" y="49418"/>
                  </a:lnTo>
                  <a:lnTo>
                    <a:pt x="782360" y="38162"/>
                  </a:lnTo>
                  <a:lnTo>
                    <a:pt x="837657" y="28277"/>
                  </a:lnTo>
                  <a:lnTo>
                    <a:pt x="894118" y="19803"/>
                  </a:lnTo>
                  <a:lnTo>
                    <a:pt x="951667" y="12780"/>
                  </a:lnTo>
                  <a:lnTo>
                    <a:pt x="1010228" y="7248"/>
                  </a:lnTo>
                  <a:lnTo>
                    <a:pt x="1069726" y="3248"/>
                  </a:lnTo>
                  <a:lnTo>
                    <a:pt x="1130084" y="818"/>
                  </a:lnTo>
                  <a:lnTo>
                    <a:pt x="1191227" y="0"/>
                  </a:lnTo>
                  <a:close/>
                </a:path>
                <a:path w="2382520" h="1254760">
                  <a:moveTo>
                    <a:pt x="230530" y="682795"/>
                  </a:moveTo>
                  <a:lnTo>
                    <a:pt x="339914" y="644745"/>
                  </a:lnTo>
                </a:path>
              </a:pathLst>
            </a:custGeom>
            <a:ln w="5270">
              <a:solidFill>
                <a:srgbClr val="231F20"/>
              </a:solidFill>
              <a:prstDash val="lgDash"/>
            </a:ln>
          </p:spPr>
          <p:txBody>
            <a:bodyPr wrap="square" lIns="0" tIns="0" rIns="0" bIns="0" rtlCol="0"/>
            <a:lstStyle/>
            <a:p>
              <a:endParaRPr/>
            </a:p>
          </p:txBody>
        </p:sp>
        <p:sp>
          <p:nvSpPr>
            <p:cNvPr id="8" name="object 8"/>
            <p:cNvSpPr/>
            <p:nvPr/>
          </p:nvSpPr>
          <p:spPr>
            <a:xfrm>
              <a:off x="793347" y="1933273"/>
              <a:ext cx="81280" cy="60325"/>
            </a:xfrm>
            <a:custGeom>
              <a:avLst/>
              <a:gdLst/>
              <a:ahLst/>
              <a:cxnLst/>
              <a:rect l="l" t="t" r="r" b="b"/>
              <a:pathLst>
                <a:path w="81280" h="60325">
                  <a:moveTo>
                    <a:pt x="0" y="0"/>
                  </a:moveTo>
                  <a:lnTo>
                    <a:pt x="10881" y="13089"/>
                  </a:lnTo>
                  <a:lnTo>
                    <a:pt x="18000" y="27488"/>
                  </a:lnTo>
                  <a:lnTo>
                    <a:pt x="21355" y="43196"/>
                  </a:lnTo>
                  <a:lnTo>
                    <a:pt x="20946" y="60215"/>
                  </a:lnTo>
                  <a:lnTo>
                    <a:pt x="80720" y="5673"/>
                  </a:lnTo>
                  <a:lnTo>
                    <a:pt x="0" y="0"/>
                  </a:lnTo>
                  <a:close/>
                </a:path>
              </a:pathLst>
            </a:custGeom>
            <a:solidFill>
              <a:srgbClr val="231F20"/>
            </a:solidFill>
          </p:spPr>
          <p:txBody>
            <a:bodyPr wrap="square" lIns="0" tIns="0" rIns="0" bIns="0" rtlCol="0"/>
            <a:lstStyle/>
            <a:p>
              <a:endParaRPr/>
            </a:p>
          </p:txBody>
        </p:sp>
        <p:pic>
          <p:nvPicPr>
            <p:cNvPr id="9" name="object 9"/>
            <p:cNvPicPr/>
            <p:nvPr/>
          </p:nvPicPr>
          <p:blipFill>
            <a:blip r:embed="rId6" cstate="print"/>
            <a:stretch>
              <a:fillRect/>
            </a:stretch>
          </p:blipFill>
          <p:spPr>
            <a:xfrm>
              <a:off x="1153099" y="1453253"/>
              <a:ext cx="97042" cy="103199"/>
            </a:xfrm>
            <a:prstGeom prst="rect">
              <a:avLst/>
            </a:prstGeom>
          </p:spPr>
        </p:pic>
        <p:pic>
          <p:nvPicPr>
            <p:cNvPr id="10" name="object 10"/>
            <p:cNvPicPr/>
            <p:nvPr/>
          </p:nvPicPr>
          <p:blipFill>
            <a:blip r:embed="rId7" cstate="print"/>
            <a:stretch>
              <a:fillRect/>
            </a:stretch>
          </p:blipFill>
          <p:spPr>
            <a:xfrm>
              <a:off x="2292158" y="1542889"/>
              <a:ext cx="151527" cy="101893"/>
            </a:xfrm>
            <a:prstGeom prst="rect">
              <a:avLst/>
            </a:prstGeom>
          </p:spPr>
        </p:pic>
        <p:pic>
          <p:nvPicPr>
            <p:cNvPr id="11" name="object 11"/>
            <p:cNvPicPr/>
            <p:nvPr/>
          </p:nvPicPr>
          <p:blipFill>
            <a:blip r:embed="rId8" cstate="print"/>
            <a:stretch>
              <a:fillRect/>
            </a:stretch>
          </p:blipFill>
          <p:spPr>
            <a:xfrm>
              <a:off x="2354792" y="2116493"/>
              <a:ext cx="164060" cy="73663"/>
            </a:xfrm>
            <a:prstGeom prst="rect">
              <a:avLst/>
            </a:prstGeom>
          </p:spPr>
        </p:pic>
        <p:sp>
          <p:nvSpPr>
            <p:cNvPr id="12" name="object 12"/>
            <p:cNvSpPr/>
            <p:nvPr/>
          </p:nvSpPr>
          <p:spPr>
            <a:xfrm>
              <a:off x="1278805" y="1827542"/>
              <a:ext cx="139700" cy="6985"/>
            </a:xfrm>
            <a:custGeom>
              <a:avLst/>
              <a:gdLst/>
              <a:ahLst/>
              <a:cxnLst/>
              <a:rect l="l" t="t" r="r" b="b"/>
              <a:pathLst>
                <a:path w="139700" h="6985">
                  <a:moveTo>
                    <a:pt x="139231" y="0"/>
                  </a:moveTo>
                  <a:lnTo>
                    <a:pt x="0" y="6797"/>
                  </a:lnTo>
                </a:path>
              </a:pathLst>
            </a:custGeom>
            <a:ln w="5270">
              <a:solidFill>
                <a:srgbClr val="231F20"/>
              </a:solidFill>
            </a:ln>
          </p:spPr>
          <p:txBody>
            <a:bodyPr wrap="square" lIns="0" tIns="0" rIns="0" bIns="0" rtlCol="0"/>
            <a:lstStyle/>
            <a:p>
              <a:endParaRPr/>
            </a:p>
          </p:txBody>
        </p:sp>
        <p:sp>
          <p:nvSpPr>
            <p:cNvPr id="13" name="object 13"/>
            <p:cNvSpPr/>
            <p:nvPr/>
          </p:nvSpPr>
          <p:spPr>
            <a:xfrm>
              <a:off x="1241471" y="1800695"/>
              <a:ext cx="76200" cy="64135"/>
            </a:xfrm>
            <a:custGeom>
              <a:avLst/>
              <a:gdLst/>
              <a:ahLst/>
              <a:cxnLst/>
              <a:rect l="l" t="t" r="r" b="b"/>
              <a:pathLst>
                <a:path w="76200" h="64135">
                  <a:moveTo>
                    <a:pt x="72737" y="0"/>
                  </a:moveTo>
                  <a:lnTo>
                    <a:pt x="0" y="35465"/>
                  </a:lnTo>
                  <a:lnTo>
                    <a:pt x="75845" y="63673"/>
                  </a:lnTo>
                  <a:lnTo>
                    <a:pt x="69098" y="48047"/>
                  </a:lnTo>
                  <a:lnTo>
                    <a:pt x="66331" y="32226"/>
                  </a:lnTo>
                  <a:lnTo>
                    <a:pt x="67544" y="16210"/>
                  </a:lnTo>
                  <a:lnTo>
                    <a:pt x="72737" y="0"/>
                  </a:lnTo>
                  <a:close/>
                </a:path>
              </a:pathLst>
            </a:custGeom>
            <a:solidFill>
              <a:srgbClr val="231F20"/>
            </a:solidFill>
          </p:spPr>
          <p:txBody>
            <a:bodyPr wrap="square" lIns="0" tIns="0" rIns="0" bIns="0" rtlCol="0"/>
            <a:lstStyle/>
            <a:p>
              <a:endParaRPr/>
            </a:p>
          </p:txBody>
        </p:sp>
        <p:sp>
          <p:nvSpPr>
            <p:cNvPr id="14" name="object 14"/>
            <p:cNvSpPr/>
            <p:nvPr/>
          </p:nvSpPr>
          <p:spPr>
            <a:xfrm>
              <a:off x="1699754" y="1633628"/>
              <a:ext cx="0" cy="92710"/>
            </a:xfrm>
            <a:custGeom>
              <a:avLst/>
              <a:gdLst/>
              <a:ahLst/>
              <a:cxnLst/>
              <a:rect l="l" t="t" r="r" b="b"/>
              <a:pathLst>
                <a:path h="92710">
                  <a:moveTo>
                    <a:pt x="0" y="92184"/>
                  </a:moveTo>
                  <a:lnTo>
                    <a:pt x="0" y="0"/>
                  </a:lnTo>
                </a:path>
              </a:pathLst>
            </a:custGeom>
            <a:ln w="5270">
              <a:solidFill>
                <a:srgbClr val="231F20"/>
              </a:solidFill>
            </a:ln>
          </p:spPr>
          <p:txBody>
            <a:bodyPr wrap="square" lIns="0" tIns="0" rIns="0" bIns="0" rtlCol="0"/>
            <a:lstStyle/>
            <a:p>
              <a:endParaRPr/>
            </a:p>
          </p:txBody>
        </p:sp>
        <p:sp>
          <p:nvSpPr>
            <p:cNvPr id="15" name="object 15"/>
            <p:cNvSpPr/>
            <p:nvPr/>
          </p:nvSpPr>
          <p:spPr>
            <a:xfrm>
              <a:off x="1667878" y="1596249"/>
              <a:ext cx="64135" cy="74930"/>
            </a:xfrm>
            <a:custGeom>
              <a:avLst/>
              <a:gdLst/>
              <a:ahLst/>
              <a:cxnLst/>
              <a:rect l="l" t="t" r="r" b="b"/>
              <a:pathLst>
                <a:path w="64135" h="74930">
                  <a:moveTo>
                    <a:pt x="31875" y="0"/>
                  </a:moveTo>
                  <a:lnTo>
                    <a:pt x="0" y="74376"/>
                  </a:lnTo>
                  <a:lnTo>
                    <a:pt x="15937" y="68400"/>
                  </a:lnTo>
                  <a:lnTo>
                    <a:pt x="31875" y="66408"/>
                  </a:lnTo>
                  <a:lnTo>
                    <a:pt x="47813" y="68400"/>
                  </a:lnTo>
                  <a:lnTo>
                    <a:pt x="63751" y="74376"/>
                  </a:lnTo>
                  <a:lnTo>
                    <a:pt x="31875" y="0"/>
                  </a:lnTo>
                  <a:close/>
                </a:path>
              </a:pathLst>
            </a:custGeom>
            <a:solidFill>
              <a:srgbClr val="231F20"/>
            </a:solidFill>
          </p:spPr>
          <p:txBody>
            <a:bodyPr wrap="square" lIns="0" tIns="0" rIns="0" bIns="0" rtlCol="0"/>
            <a:lstStyle/>
            <a:p>
              <a:endParaRPr/>
            </a:p>
          </p:txBody>
        </p:sp>
        <p:pic>
          <p:nvPicPr>
            <p:cNvPr id="16" name="object 16"/>
            <p:cNvPicPr/>
            <p:nvPr/>
          </p:nvPicPr>
          <p:blipFill>
            <a:blip r:embed="rId9" cstate="print"/>
            <a:stretch>
              <a:fillRect/>
            </a:stretch>
          </p:blipFill>
          <p:spPr>
            <a:xfrm>
              <a:off x="1944927" y="1856212"/>
              <a:ext cx="185700" cy="63863"/>
            </a:xfrm>
            <a:prstGeom prst="rect">
              <a:avLst/>
            </a:prstGeom>
          </p:spPr>
        </p:pic>
        <p:sp>
          <p:nvSpPr>
            <p:cNvPr id="17" name="object 17"/>
            <p:cNvSpPr/>
            <p:nvPr/>
          </p:nvSpPr>
          <p:spPr>
            <a:xfrm>
              <a:off x="2889252" y="1469009"/>
              <a:ext cx="149860" cy="0"/>
            </a:xfrm>
            <a:custGeom>
              <a:avLst/>
              <a:gdLst/>
              <a:ahLst/>
              <a:cxnLst/>
              <a:rect l="l" t="t" r="r" b="b"/>
              <a:pathLst>
                <a:path w="149860">
                  <a:moveTo>
                    <a:pt x="0" y="0"/>
                  </a:moveTo>
                  <a:lnTo>
                    <a:pt x="149669" y="0"/>
                  </a:lnTo>
                </a:path>
              </a:pathLst>
            </a:custGeom>
            <a:ln w="5270">
              <a:solidFill>
                <a:srgbClr val="231F20"/>
              </a:solidFill>
            </a:ln>
          </p:spPr>
          <p:txBody>
            <a:bodyPr wrap="square" lIns="0" tIns="0" rIns="0" bIns="0" rtlCol="0"/>
            <a:lstStyle/>
            <a:p>
              <a:endParaRPr/>
            </a:p>
          </p:txBody>
        </p:sp>
        <p:sp>
          <p:nvSpPr>
            <p:cNvPr id="18" name="object 18"/>
            <p:cNvSpPr/>
            <p:nvPr/>
          </p:nvSpPr>
          <p:spPr>
            <a:xfrm>
              <a:off x="3001926" y="1437136"/>
              <a:ext cx="74930" cy="64135"/>
            </a:xfrm>
            <a:custGeom>
              <a:avLst/>
              <a:gdLst/>
              <a:ahLst/>
              <a:cxnLst/>
              <a:rect l="l" t="t" r="r" b="b"/>
              <a:pathLst>
                <a:path w="74930" h="64134">
                  <a:moveTo>
                    <a:pt x="0" y="0"/>
                  </a:moveTo>
                  <a:lnTo>
                    <a:pt x="5976" y="15937"/>
                  </a:lnTo>
                  <a:lnTo>
                    <a:pt x="7968" y="31875"/>
                  </a:lnTo>
                  <a:lnTo>
                    <a:pt x="5976" y="47813"/>
                  </a:lnTo>
                  <a:lnTo>
                    <a:pt x="0" y="63751"/>
                  </a:lnTo>
                  <a:lnTo>
                    <a:pt x="74377" y="31875"/>
                  </a:lnTo>
                  <a:lnTo>
                    <a:pt x="0" y="0"/>
                  </a:lnTo>
                  <a:close/>
                </a:path>
              </a:pathLst>
            </a:custGeom>
            <a:solidFill>
              <a:srgbClr val="231F20"/>
            </a:solidFill>
          </p:spPr>
          <p:txBody>
            <a:bodyPr wrap="square" lIns="0" tIns="0" rIns="0" bIns="0" rtlCol="0"/>
            <a:lstStyle/>
            <a:p>
              <a:endParaRPr/>
            </a:p>
          </p:txBody>
        </p:sp>
        <p:sp>
          <p:nvSpPr>
            <p:cNvPr id="19" name="object 19"/>
            <p:cNvSpPr/>
            <p:nvPr/>
          </p:nvSpPr>
          <p:spPr>
            <a:xfrm>
              <a:off x="2889257" y="1588535"/>
              <a:ext cx="149225" cy="0"/>
            </a:xfrm>
            <a:custGeom>
              <a:avLst/>
              <a:gdLst/>
              <a:ahLst/>
              <a:cxnLst/>
              <a:rect l="l" t="t" r="r" b="b"/>
              <a:pathLst>
                <a:path w="149225">
                  <a:moveTo>
                    <a:pt x="0" y="0"/>
                  </a:moveTo>
                  <a:lnTo>
                    <a:pt x="148977" y="0"/>
                  </a:lnTo>
                </a:path>
              </a:pathLst>
            </a:custGeom>
            <a:ln w="5270">
              <a:solidFill>
                <a:srgbClr val="231F20"/>
              </a:solidFill>
              <a:prstDash val="lgDash"/>
            </a:ln>
          </p:spPr>
          <p:txBody>
            <a:bodyPr wrap="square" lIns="0" tIns="0" rIns="0" bIns="0" rtlCol="0"/>
            <a:lstStyle/>
            <a:p>
              <a:endParaRPr/>
            </a:p>
          </p:txBody>
        </p:sp>
        <p:sp>
          <p:nvSpPr>
            <p:cNvPr id="20" name="object 20"/>
            <p:cNvSpPr/>
            <p:nvPr/>
          </p:nvSpPr>
          <p:spPr>
            <a:xfrm>
              <a:off x="3001230" y="1556658"/>
              <a:ext cx="74930" cy="64135"/>
            </a:xfrm>
            <a:custGeom>
              <a:avLst/>
              <a:gdLst/>
              <a:ahLst/>
              <a:cxnLst/>
              <a:rect l="l" t="t" r="r" b="b"/>
              <a:pathLst>
                <a:path w="74930" h="64134">
                  <a:moveTo>
                    <a:pt x="0" y="0"/>
                  </a:moveTo>
                  <a:lnTo>
                    <a:pt x="5976" y="15938"/>
                  </a:lnTo>
                  <a:lnTo>
                    <a:pt x="7968" y="31876"/>
                  </a:lnTo>
                  <a:lnTo>
                    <a:pt x="5976" y="47815"/>
                  </a:lnTo>
                  <a:lnTo>
                    <a:pt x="0" y="63753"/>
                  </a:lnTo>
                  <a:lnTo>
                    <a:pt x="74377" y="31874"/>
                  </a:lnTo>
                  <a:lnTo>
                    <a:pt x="0" y="0"/>
                  </a:lnTo>
                  <a:close/>
                </a:path>
              </a:pathLst>
            </a:custGeom>
            <a:solidFill>
              <a:srgbClr val="231F20"/>
            </a:solidFill>
          </p:spPr>
          <p:txBody>
            <a:bodyPr wrap="square" lIns="0" tIns="0" rIns="0" bIns="0" rtlCol="0"/>
            <a:lstStyle/>
            <a:p>
              <a:endParaRPr/>
            </a:p>
          </p:txBody>
        </p:sp>
      </p:grpSp>
      <p:sp>
        <p:nvSpPr>
          <p:cNvPr id="21" name="object 21"/>
          <p:cNvSpPr txBox="1"/>
          <p:nvPr/>
        </p:nvSpPr>
        <p:spPr>
          <a:xfrm>
            <a:off x="1241256" y="1718303"/>
            <a:ext cx="906780" cy="813435"/>
          </a:xfrm>
          <a:prstGeom prst="rect">
            <a:avLst/>
          </a:prstGeom>
        </p:spPr>
        <p:txBody>
          <a:bodyPr vert="horz" wrap="square" lIns="0" tIns="21590" rIns="0" bIns="0" rtlCol="0">
            <a:spAutoFit/>
          </a:bodyPr>
          <a:lstStyle/>
          <a:p>
            <a:pPr marL="245110" marR="240029" algn="ctr">
              <a:lnSpc>
                <a:spcPts val="740"/>
              </a:lnSpc>
              <a:spcBef>
                <a:spcPts val="170"/>
              </a:spcBef>
            </a:pPr>
            <a:r>
              <a:rPr sz="650" spc="5" dirty="0">
                <a:solidFill>
                  <a:srgbClr val="231F20"/>
                </a:solidFill>
                <a:latin typeface="Arial"/>
                <a:cs typeface="Arial"/>
              </a:rPr>
              <a:t>Permanent  replicas</a:t>
            </a:r>
            <a:endParaRPr sz="650">
              <a:latin typeface="Arial"/>
              <a:cs typeface="Arial"/>
            </a:endParaRPr>
          </a:p>
          <a:p>
            <a:pPr algn="ctr">
              <a:lnSpc>
                <a:spcPct val="100000"/>
              </a:lnSpc>
              <a:spcBef>
                <a:spcPts val="489"/>
              </a:spcBef>
            </a:pPr>
            <a:r>
              <a:rPr sz="650" spc="5" dirty="0">
                <a:solidFill>
                  <a:srgbClr val="231F20"/>
                </a:solidFill>
                <a:latin typeface="Arial"/>
                <a:cs typeface="Arial"/>
              </a:rPr>
              <a:t>Server-initiated</a:t>
            </a:r>
            <a:r>
              <a:rPr sz="650" spc="-40" dirty="0">
                <a:solidFill>
                  <a:srgbClr val="231F20"/>
                </a:solidFill>
                <a:latin typeface="Arial"/>
                <a:cs typeface="Arial"/>
              </a:rPr>
              <a:t> </a:t>
            </a:r>
            <a:r>
              <a:rPr sz="650" spc="5" dirty="0">
                <a:solidFill>
                  <a:srgbClr val="231F20"/>
                </a:solidFill>
                <a:latin typeface="Arial"/>
                <a:cs typeface="Arial"/>
              </a:rPr>
              <a:t>replicas</a:t>
            </a:r>
            <a:endParaRPr sz="650">
              <a:latin typeface="Arial"/>
              <a:cs typeface="Arial"/>
            </a:endParaRPr>
          </a:p>
          <a:p>
            <a:pPr marL="28575" marR="20955" algn="ctr">
              <a:lnSpc>
                <a:spcPct val="211100"/>
              </a:lnSpc>
              <a:spcBef>
                <a:spcPts val="85"/>
              </a:spcBef>
            </a:pPr>
            <a:r>
              <a:rPr sz="650" spc="5" dirty="0">
                <a:solidFill>
                  <a:srgbClr val="231F20"/>
                </a:solidFill>
                <a:latin typeface="Arial"/>
                <a:cs typeface="Arial"/>
              </a:rPr>
              <a:t>Client-initiated replicas  Clients</a:t>
            </a:r>
            <a:endParaRPr sz="650">
              <a:latin typeface="Arial"/>
              <a:cs typeface="Arial"/>
            </a:endParaRPr>
          </a:p>
        </p:txBody>
      </p:sp>
      <p:sp>
        <p:nvSpPr>
          <p:cNvPr id="23" name="object 23"/>
          <p:cNvSpPr txBox="1"/>
          <p:nvPr/>
        </p:nvSpPr>
        <p:spPr>
          <a:xfrm>
            <a:off x="66713" y="3331252"/>
            <a:ext cx="677545" cy="119380"/>
          </a:xfrm>
          <a:prstGeom prst="rect">
            <a:avLst/>
          </a:prstGeom>
        </p:spPr>
        <p:txBody>
          <a:bodyPr vert="horz" wrap="square" lIns="0" tIns="8890" rIns="0" bIns="0" rtlCol="0">
            <a:spAutoFit/>
          </a:bodyPr>
          <a:lstStyle/>
          <a:p>
            <a:pPr marL="12700">
              <a:lnSpc>
                <a:spcPct val="100000"/>
              </a:lnSpc>
              <a:spcBef>
                <a:spcPts val="70"/>
              </a:spcBef>
            </a:pPr>
            <a:r>
              <a:rPr sz="600" spc="-35" dirty="0">
                <a:solidFill>
                  <a:srgbClr val="3333B2"/>
                </a:solidFill>
                <a:latin typeface="Arial"/>
                <a:cs typeface="Arial"/>
                <a:hlinkClick r:id="rId5" action="ppaction://hlinksldjump"/>
              </a:rPr>
              <a:t>P</a:t>
            </a:r>
            <a:r>
              <a:rPr sz="600" spc="-5" dirty="0">
                <a:solidFill>
                  <a:srgbClr val="3333B2"/>
                </a:solidFill>
                <a:latin typeface="Arial"/>
                <a:cs typeface="Arial"/>
                <a:hlinkClick r:id="rId5" action="ppaction://hlinksldjump"/>
              </a:rPr>
              <a:t>e</a:t>
            </a:r>
            <a:r>
              <a:rPr sz="600" spc="5" dirty="0">
                <a:solidFill>
                  <a:srgbClr val="3333B2"/>
                </a:solidFill>
                <a:latin typeface="Arial"/>
                <a:cs typeface="Arial"/>
                <a:hlinkClick r:id="rId5" action="ppaction://hlinksldjump"/>
              </a:rPr>
              <a:t>r</a:t>
            </a:r>
            <a:r>
              <a:rPr sz="600" spc="-5" dirty="0">
                <a:solidFill>
                  <a:srgbClr val="3333B2"/>
                </a:solidFill>
                <a:latin typeface="Arial"/>
                <a:cs typeface="Arial"/>
                <a:hlinkClick r:id="rId5" action="ppaction://hlinksldjump"/>
              </a:rPr>
              <a:t>manent replicas</a:t>
            </a:r>
            <a:endParaRPr sz="600">
              <a:latin typeface="Arial"/>
              <a:cs typeface="Arial"/>
            </a:endParaRPr>
          </a:p>
        </p:txBody>
      </p:sp>
      <p:sp>
        <p:nvSpPr>
          <p:cNvPr id="24" name="object 2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26</a:t>
            </a:r>
            <a:r>
              <a:rPr spc="-40" dirty="0"/>
              <a:t> </a:t>
            </a:r>
            <a:r>
              <a:rPr spc="-5" dirty="0"/>
              <a:t>/</a:t>
            </a:r>
            <a:r>
              <a:rPr spc="-35" dirty="0"/>
              <a:t> </a:t>
            </a:r>
            <a:r>
              <a:rPr spc="-5" dirty="0"/>
              <a:t>37</a:t>
            </a:r>
          </a:p>
        </p:txBody>
      </p:sp>
      <p:sp>
        <p:nvSpPr>
          <p:cNvPr id="22" name="object 22"/>
          <p:cNvSpPr txBox="1"/>
          <p:nvPr/>
        </p:nvSpPr>
        <p:spPr>
          <a:xfrm>
            <a:off x="3124126" y="1383542"/>
            <a:ext cx="1000125" cy="264795"/>
          </a:xfrm>
          <a:prstGeom prst="rect">
            <a:avLst/>
          </a:prstGeom>
        </p:spPr>
        <p:txBody>
          <a:bodyPr vert="horz" wrap="square" lIns="0" tIns="12065" rIns="0" bIns="0" rtlCol="0">
            <a:spAutoFit/>
          </a:bodyPr>
          <a:lstStyle/>
          <a:p>
            <a:pPr marL="12700" marR="5080">
              <a:lnSpc>
                <a:spcPct val="120700"/>
              </a:lnSpc>
              <a:spcBef>
                <a:spcPts val="95"/>
              </a:spcBef>
            </a:pPr>
            <a:r>
              <a:rPr sz="650" spc="5" dirty="0">
                <a:solidFill>
                  <a:srgbClr val="231F20"/>
                </a:solidFill>
                <a:latin typeface="Arial"/>
                <a:cs typeface="Arial"/>
              </a:rPr>
              <a:t>Server-initiated replication  Client-initiated</a:t>
            </a:r>
            <a:r>
              <a:rPr sz="650" spc="-35" dirty="0">
                <a:solidFill>
                  <a:srgbClr val="231F20"/>
                </a:solidFill>
                <a:latin typeface="Arial"/>
                <a:cs typeface="Arial"/>
              </a:rPr>
              <a:t> </a:t>
            </a:r>
            <a:r>
              <a:rPr sz="650" spc="5" dirty="0">
                <a:solidFill>
                  <a:srgbClr val="231F20"/>
                </a:solidFill>
                <a:latin typeface="Arial"/>
                <a:cs typeface="Arial"/>
              </a:rPr>
              <a:t>replication</a:t>
            </a:r>
            <a:endParaRPr sz="650">
              <a:latin typeface="Arial"/>
              <a:cs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309620" algn="l"/>
              </a:tabLst>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5" dirty="0">
                <a:solidFill>
                  <a:srgbClr val="3333B2"/>
                </a:solidFill>
                <a:latin typeface="Arial"/>
                <a:cs typeface="Arial"/>
              </a:rPr>
              <a:t> </a:t>
            </a:r>
            <a:r>
              <a:rPr sz="600" spc="-5" dirty="0">
                <a:solidFill>
                  <a:srgbClr val="3333B2"/>
                </a:solidFill>
                <a:latin typeface="Arial"/>
                <a:cs typeface="Arial"/>
                <a:hlinkClick r:id="rId4" action="ppaction://hlinksldjump"/>
              </a:rPr>
              <a:t>Replica</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management</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Content</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replication</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and</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placement</a:t>
            </a:r>
            <a:endParaRPr sz="600">
              <a:latin typeface="Arial"/>
              <a:cs typeface="Arial"/>
            </a:endParaRPr>
          </a:p>
        </p:txBody>
      </p:sp>
      <p:sp>
        <p:nvSpPr>
          <p:cNvPr id="3" name="object 3"/>
          <p:cNvSpPr txBox="1">
            <a:spLocks noGrp="1"/>
          </p:cNvSpPr>
          <p:nvPr>
            <p:ph type="title"/>
          </p:nvPr>
        </p:nvSpPr>
        <p:spPr>
          <a:xfrm>
            <a:off x="95300" y="188846"/>
            <a:ext cx="1929764" cy="244475"/>
          </a:xfrm>
          <a:prstGeom prst="rect">
            <a:avLst/>
          </a:prstGeom>
        </p:spPr>
        <p:txBody>
          <a:bodyPr vert="horz" wrap="square" lIns="0" tIns="17145" rIns="0" bIns="0" rtlCol="0">
            <a:spAutoFit/>
          </a:bodyPr>
          <a:lstStyle/>
          <a:p>
            <a:pPr marL="12700">
              <a:lnSpc>
                <a:spcPct val="100000"/>
              </a:lnSpc>
              <a:spcBef>
                <a:spcPts val="135"/>
              </a:spcBef>
            </a:pPr>
            <a:r>
              <a:rPr spc="10" dirty="0"/>
              <a:t>Server-initiated replicas</a:t>
            </a:r>
          </a:p>
        </p:txBody>
      </p:sp>
      <p:grpSp>
        <p:nvGrpSpPr>
          <p:cNvPr id="4" name="object 4"/>
          <p:cNvGrpSpPr/>
          <p:nvPr/>
        </p:nvGrpSpPr>
        <p:grpSpPr>
          <a:xfrm>
            <a:off x="1177443" y="842773"/>
            <a:ext cx="1918335" cy="982344"/>
            <a:chOff x="1177443" y="842773"/>
            <a:chExt cx="1918335" cy="982344"/>
          </a:xfrm>
        </p:grpSpPr>
        <p:sp>
          <p:nvSpPr>
            <p:cNvPr id="5" name="object 5"/>
            <p:cNvSpPr/>
            <p:nvPr/>
          </p:nvSpPr>
          <p:spPr>
            <a:xfrm>
              <a:off x="1180301" y="1164518"/>
              <a:ext cx="1576705" cy="652780"/>
            </a:xfrm>
            <a:custGeom>
              <a:avLst/>
              <a:gdLst/>
              <a:ahLst/>
              <a:cxnLst/>
              <a:rect l="l" t="t" r="r" b="b"/>
              <a:pathLst>
                <a:path w="1576705" h="652780">
                  <a:moveTo>
                    <a:pt x="896400" y="119517"/>
                  </a:moveTo>
                  <a:lnTo>
                    <a:pt x="942845" y="128935"/>
                  </a:lnTo>
                  <a:lnTo>
                    <a:pt x="980841" y="154592"/>
                  </a:lnTo>
                  <a:lnTo>
                    <a:pt x="1006496" y="192593"/>
                  </a:lnTo>
                  <a:lnTo>
                    <a:pt x="1015913" y="239042"/>
                  </a:lnTo>
                  <a:lnTo>
                    <a:pt x="1006496" y="285486"/>
                  </a:lnTo>
                  <a:lnTo>
                    <a:pt x="980841" y="323484"/>
                  </a:lnTo>
                  <a:lnTo>
                    <a:pt x="942845" y="349140"/>
                  </a:lnTo>
                  <a:lnTo>
                    <a:pt x="896400" y="358558"/>
                  </a:lnTo>
                  <a:lnTo>
                    <a:pt x="849952" y="349140"/>
                  </a:lnTo>
                  <a:lnTo>
                    <a:pt x="811952" y="323484"/>
                  </a:lnTo>
                  <a:lnTo>
                    <a:pt x="786296" y="285486"/>
                  </a:lnTo>
                  <a:lnTo>
                    <a:pt x="776879" y="239042"/>
                  </a:lnTo>
                  <a:lnTo>
                    <a:pt x="786296" y="192593"/>
                  </a:lnTo>
                  <a:lnTo>
                    <a:pt x="811952" y="154592"/>
                  </a:lnTo>
                  <a:lnTo>
                    <a:pt x="849952" y="128935"/>
                  </a:lnTo>
                  <a:lnTo>
                    <a:pt x="896400" y="119517"/>
                  </a:lnTo>
                  <a:close/>
                </a:path>
                <a:path w="1576705" h="652780">
                  <a:moveTo>
                    <a:pt x="717121" y="0"/>
                  </a:moveTo>
                  <a:lnTo>
                    <a:pt x="825030" y="135633"/>
                  </a:lnTo>
                </a:path>
                <a:path w="1576705" h="652780">
                  <a:moveTo>
                    <a:pt x="149397" y="482864"/>
                  </a:moveTo>
                  <a:lnTo>
                    <a:pt x="182376" y="489550"/>
                  </a:lnTo>
                  <a:lnTo>
                    <a:pt x="209355" y="507765"/>
                  </a:lnTo>
                  <a:lnTo>
                    <a:pt x="227570" y="534744"/>
                  </a:lnTo>
                  <a:lnTo>
                    <a:pt x="234256" y="567723"/>
                  </a:lnTo>
                  <a:lnTo>
                    <a:pt x="227570" y="600698"/>
                  </a:lnTo>
                  <a:lnTo>
                    <a:pt x="209355" y="627676"/>
                  </a:lnTo>
                  <a:lnTo>
                    <a:pt x="182376" y="645891"/>
                  </a:lnTo>
                  <a:lnTo>
                    <a:pt x="149397" y="652578"/>
                  </a:lnTo>
                  <a:lnTo>
                    <a:pt x="116420" y="645891"/>
                  </a:lnTo>
                  <a:lnTo>
                    <a:pt x="89440" y="627676"/>
                  </a:lnTo>
                  <a:lnTo>
                    <a:pt x="71224" y="600698"/>
                  </a:lnTo>
                  <a:lnTo>
                    <a:pt x="64538" y="567723"/>
                  </a:lnTo>
                  <a:lnTo>
                    <a:pt x="71224" y="534744"/>
                  </a:lnTo>
                  <a:lnTo>
                    <a:pt x="89440" y="507765"/>
                  </a:lnTo>
                  <a:lnTo>
                    <a:pt x="116420" y="489550"/>
                  </a:lnTo>
                  <a:lnTo>
                    <a:pt x="149397" y="482864"/>
                  </a:lnTo>
                  <a:close/>
                </a:path>
                <a:path w="1576705" h="652780">
                  <a:moveTo>
                    <a:pt x="0" y="388435"/>
                  </a:moveTo>
                  <a:lnTo>
                    <a:pt x="94193" y="501060"/>
                  </a:lnTo>
                </a:path>
                <a:path w="1576705" h="652780">
                  <a:moveTo>
                    <a:pt x="276420" y="567723"/>
                  </a:moveTo>
                  <a:lnTo>
                    <a:pt x="1576135" y="567723"/>
                  </a:lnTo>
                </a:path>
              </a:pathLst>
            </a:custGeom>
            <a:ln w="5270">
              <a:solidFill>
                <a:srgbClr val="231F20"/>
              </a:solidFill>
            </a:ln>
          </p:spPr>
          <p:txBody>
            <a:bodyPr wrap="square" lIns="0" tIns="0" rIns="0" bIns="0" rtlCol="0"/>
            <a:lstStyle/>
            <a:p>
              <a:endParaRPr/>
            </a:p>
          </p:txBody>
        </p:sp>
        <p:pic>
          <p:nvPicPr>
            <p:cNvPr id="6" name="object 6"/>
            <p:cNvPicPr/>
            <p:nvPr/>
          </p:nvPicPr>
          <p:blipFill>
            <a:blip r:embed="rId6" cstate="print"/>
            <a:stretch>
              <a:fillRect/>
            </a:stretch>
          </p:blipFill>
          <p:spPr>
            <a:xfrm>
              <a:off x="1419338" y="1700359"/>
              <a:ext cx="74380" cy="63756"/>
            </a:xfrm>
            <a:prstGeom prst="rect">
              <a:avLst/>
            </a:prstGeom>
          </p:spPr>
        </p:pic>
        <p:pic>
          <p:nvPicPr>
            <p:cNvPr id="7" name="object 7"/>
            <p:cNvPicPr/>
            <p:nvPr/>
          </p:nvPicPr>
          <p:blipFill>
            <a:blip r:embed="rId7" cstate="print"/>
            <a:stretch>
              <a:fillRect/>
            </a:stretch>
          </p:blipFill>
          <p:spPr>
            <a:xfrm>
              <a:off x="2719448" y="1700359"/>
              <a:ext cx="74377" cy="63756"/>
            </a:xfrm>
            <a:prstGeom prst="rect">
              <a:avLst/>
            </a:prstGeom>
          </p:spPr>
        </p:pic>
        <p:sp>
          <p:nvSpPr>
            <p:cNvPr id="8" name="object 8"/>
            <p:cNvSpPr/>
            <p:nvPr/>
          </p:nvSpPr>
          <p:spPr>
            <a:xfrm>
              <a:off x="2370541" y="1042978"/>
              <a:ext cx="458470" cy="512445"/>
            </a:xfrm>
            <a:custGeom>
              <a:avLst/>
              <a:gdLst/>
              <a:ahLst/>
              <a:cxnLst/>
              <a:rect l="l" t="t" r="r" b="b"/>
              <a:pathLst>
                <a:path w="458469" h="512444">
                  <a:moveTo>
                    <a:pt x="0" y="0"/>
                  </a:moveTo>
                  <a:lnTo>
                    <a:pt x="458111" y="512001"/>
                  </a:lnTo>
                </a:path>
              </a:pathLst>
            </a:custGeom>
            <a:ln w="5270">
              <a:solidFill>
                <a:srgbClr val="231F20"/>
              </a:solidFill>
            </a:ln>
          </p:spPr>
          <p:txBody>
            <a:bodyPr wrap="square" lIns="0" tIns="0" rIns="0" bIns="0" rtlCol="0"/>
            <a:lstStyle/>
            <a:p>
              <a:endParaRPr/>
            </a:p>
          </p:txBody>
        </p:sp>
        <p:pic>
          <p:nvPicPr>
            <p:cNvPr id="9" name="object 9"/>
            <p:cNvPicPr/>
            <p:nvPr/>
          </p:nvPicPr>
          <p:blipFill>
            <a:blip r:embed="rId8" cstate="print"/>
            <a:stretch>
              <a:fillRect/>
            </a:stretch>
          </p:blipFill>
          <p:spPr>
            <a:xfrm>
              <a:off x="2345622" y="1015118"/>
              <a:ext cx="73344" cy="76683"/>
            </a:xfrm>
            <a:prstGeom prst="rect">
              <a:avLst/>
            </a:prstGeom>
          </p:spPr>
        </p:pic>
        <p:pic>
          <p:nvPicPr>
            <p:cNvPr id="10" name="object 10"/>
            <p:cNvPicPr/>
            <p:nvPr/>
          </p:nvPicPr>
          <p:blipFill>
            <a:blip r:embed="rId9" cstate="print"/>
            <a:stretch>
              <a:fillRect/>
            </a:stretch>
          </p:blipFill>
          <p:spPr>
            <a:xfrm>
              <a:off x="2780227" y="1506154"/>
              <a:ext cx="73354" cy="76685"/>
            </a:xfrm>
            <a:prstGeom prst="rect">
              <a:avLst/>
            </a:prstGeom>
          </p:spPr>
        </p:pic>
        <p:sp>
          <p:nvSpPr>
            <p:cNvPr id="11" name="object 11"/>
            <p:cNvSpPr/>
            <p:nvPr/>
          </p:nvSpPr>
          <p:spPr>
            <a:xfrm>
              <a:off x="1419338" y="1015118"/>
              <a:ext cx="1404620" cy="687705"/>
            </a:xfrm>
            <a:custGeom>
              <a:avLst/>
              <a:gdLst/>
              <a:ahLst/>
              <a:cxnLst/>
              <a:rect l="l" t="t" r="r" b="b"/>
              <a:pathLst>
                <a:path w="1404620" h="687705">
                  <a:moveTo>
                    <a:pt x="0" y="687238"/>
                  </a:moveTo>
                  <a:lnTo>
                    <a:pt x="627481" y="418318"/>
                  </a:lnTo>
                  <a:lnTo>
                    <a:pt x="1374487" y="657360"/>
                  </a:lnTo>
                </a:path>
                <a:path w="1404620" h="687705">
                  <a:moveTo>
                    <a:pt x="866516" y="0"/>
                  </a:moveTo>
                  <a:lnTo>
                    <a:pt x="687240" y="358556"/>
                  </a:lnTo>
                  <a:lnTo>
                    <a:pt x="1404360" y="627483"/>
                  </a:lnTo>
                </a:path>
              </a:pathLst>
            </a:custGeom>
            <a:ln w="5270">
              <a:solidFill>
                <a:srgbClr val="231F20"/>
              </a:solidFill>
              <a:prstDash val="lgDash"/>
            </a:ln>
          </p:spPr>
          <p:txBody>
            <a:bodyPr wrap="square" lIns="0" tIns="0" rIns="0" bIns="0" rtlCol="0"/>
            <a:lstStyle/>
            <a:p>
              <a:endParaRPr/>
            </a:p>
          </p:txBody>
        </p:sp>
        <p:sp>
          <p:nvSpPr>
            <p:cNvPr id="12" name="object 12"/>
            <p:cNvSpPr/>
            <p:nvPr/>
          </p:nvSpPr>
          <p:spPr>
            <a:xfrm>
              <a:off x="3003222" y="1552954"/>
              <a:ext cx="89535" cy="67310"/>
            </a:xfrm>
            <a:custGeom>
              <a:avLst/>
              <a:gdLst/>
              <a:ahLst/>
              <a:cxnLst/>
              <a:rect l="l" t="t" r="r" b="b"/>
              <a:pathLst>
                <a:path w="89535" h="67309">
                  <a:moveTo>
                    <a:pt x="89387" y="0"/>
                  </a:moveTo>
                  <a:lnTo>
                    <a:pt x="0" y="66943"/>
                  </a:lnTo>
                </a:path>
              </a:pathLst>
            </a:custGeom>
            <a:ln w="5270">
              <a:solidFill>
                <a:srgbClr val="231F20"/>
              </a:solidFill>
            </a:ln>
          </p:spPr>
          <p:txBody>
            <a:bodyPr wrap="square" lIns="0" tIns="0" rIns="0" bIns="0" rtlCol="0"/>
            <a:lstStyle/>
            <a:p>
              <a:endParaRPr/>
            </a:p>
          </p:txBody>
        </p:sp>
        <p:pic>
          <p:nvPicPr>
            <p:cNvPr id="13" name="object 13"/>
            <p:cNvPicPr/>
            <p:nvPr/>
          </p:nvPicPr>
          <p:blipFill>
            <a:blip r:embed="rId10" cstate="print"/>
            <a:stretch>
              <a:fillRect/>
            </a:stretch>
          </p:blipFill>
          <p:spPr>
            <a:xfrm>
              <a:off x="2791169" y="1580204"/>
              <a:ext cx="244319" cy="244311"/>
            </a:xfrm>
            <a:prstGeom prst="rect">
              <a:avLst/>
            </a:prstGeom>
          </p:spPr>
        </p:pic>
        <p:pic>
          <p:nvPicPr>
            <p:cNvPr id="14" name="object 14"/>
            <p:cNvPicPr/>
            <p:nvPr/>
          </p:nvPicPr>
          <p:blipFill>
            <a:blip r:embed="rId11" cstate="print"/>
            <a:stretch>
              <a:fillRect/>
            </a:stretch>
          </p:blipFill>
          <p:spPr>
            <a:xfrm>
              <a:off x="2223473" y="842773"/>
              <a:ext cx="174980" cy="174991"/>
            </a:xfrm>
            <a:prstGeom prst="rect">
              <a:avLst/>
            </a:prstGeom>
          </p:spPr>
        </p:pic>
      </p:grpSp>
      <p:sp>
        <p:nvSpPr>
          <p:cNvPr id="15" name="object 15"/>
          <p:cNvSpPr txBox="1"/>
          <p:nvPr/>
        </p:nvSpPr>
        <p:spPr>
          <a:xfrm>
            <a:off x="1048078" y="1426049"/>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Helvetica"/>
                <a:cs typeface="Helvetica"/>
              </a:rPr>
              <a:t>Client</a:t>
            </a:r>
            <a:endParaRPr sz="650">
              <a:latin typeface="Helvetica"/>
              <a:cs typeface="Helvetica"/>
            </a:endParaRPr>
          </a:p>
        </p:txBody>
      </p:sp>
      <p:sp>
        <p:nvSpPr>
          <p:cNvPr id="16" name="object 16"/>
          <p:cNvSpPr txBox="1"/>
          <p:nvPr/>
        </p:nvSpPr>
        <p:spPr>
          <a:xfrm>
            <a:off x="3109782" y="1396172"/>
            <a:ext cx="447675"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Helvetica"/>
                <a:cs typeface="Helvetica"/>
              </a:rPr>
              <a:t>Server with  copy</a:t>
            </a:r>
            <a:r>
              <a:rPr sz="650" spc="-20" dirty="0">
                <a:solidFill>
                  <a:srgbClr val="231F20"/>
                </a:solidFill>
                <a:latin typeface="Helvetica"/>
                <a:cs typeface="Helvetica"/>
              </a:rPr>
              <a:t> </a:t>
            </a:r>
            <a:r>
              <a:rPr sz="650" spc="5" dirty="0">
                <a:solidFill>
                  <a:srgbClr val="231F20"/>
                </a:solidFill>
                <a:latin typeface="Helvetica"/>
                <a:cs typeface="Helvetica"/>
              </a:rPr>
              <a:t>of</a:t>
            </a:r>
            <a:r>
              <a:rPr sz="650" spc="-15" dirty="0">
                <a:solidFill>
                  <a:srgbClr val="231F20"/>
                </a:solidFill>
                <a:latin typeface="Helvetica"/>
                <a:cs typeface="Helvetica"/>
              </a:rPr>
              <a:t> </a:t>
            </a:r>
            <a:r>
              <a:rPr sz="650" spc="5" dirty="0">
                <a:solidFill>
                  <a:srgbClr val="231F20"/>
                </a:solidFill>
                <a:latin typeface="Helvetica"/>
                <a:cs typeface="Helvetica"/>
              </a:rPr>
              <a:t>F</a:t>
            </a:r>
            <a:endParaRPr sz="650">
              <a:latin typeface="Helvetica"/>
              <a:cs typeface="Helvetica"/>
            </a:endParaRPr>
          </a:p>
        </p:txBody>
      </p:sp>
      <p:sp>
        <p:nvSpPr>
          <p:cNvPr id="17" name="object 17"/>
          <p:cNvSpPr txBox="1"/>
          <p:nvPr/>
        </p:nvSpPr>
        <p:spPr>
          <a:xfrm>
            <a:off x="1854834" y="1336410"/>
            <a:ext cx="819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Helvetica"/>
                <a:cs typeface="Helvetica"/>
              </a:rPr>
              <a:t>P</a:t>
            </a:r>
            <a:endParaRPr sz="650">
              <a:latin typeface="Helvetica"/>
              <a:cs typeface="Helvetica"/>
            </a:endParaRPr>
          </a:p>
        </p:txBody>
      </p:sp>
      <p:sp>
        <p:nvSpPr>
          <p:cNvPr id="18" name="object 18"/>
          <p:cNvSpPr txBox="1"/>
          <p:nvPr/>
        </p:nvSpPr>
        <p:spPr>
          <a:xfrm>
            <a:off x="2930501" y="1455935"/>
            <a:ext cx="9144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Helvetica"/>
                <a:cs typeface="Helvetica"/>
              </a:rPr>
              <a:t>Q</a:t>
            </a:r>
            <a:endParaRPr sz="650">
              <a:latin typeface="Helvetica"/>
              <a:cs typeface="Helvetica"/>
            </a:endParaRPr>
          </a:p>
        </p:txBody>
      </p:sp>
      <p:sp>
        <p:nvSpPr>
          <p:cNvPr id="19" name="object 19"/>
          <p:cNvSpPr txBox="1"/>
          <p:nvPr/>
        </p:nvSpPr>
        <p:spPr>
          <a:xfrm>
            <a:off x="1082435" y="1665092"/>
            <a:ext cx="171450" cy="127000"/>
          </a:xfrm>
          <a:prstGeom prst="rect">
            <a:avLst/>
          </a:prstGeom>
        </p:spPr>
        <p:txBody>
          <a:bodyPr vert="horz" wrap="square" lIns="0" tIns="13970" rIns="0" bIns="0" rtlCol="0">
            <a:spAutoFit/>
          </a:bodyPr>
          <a:lstStyle/>
          <a:p>
            <a:pPr marL="38100">
              <a:lnSpc>
                <a:spcPct val="100000"/>
              </a:lnSpc>
              <a:spcBef>
                <a:spcPts val="110"/>
              </a:spcBef>
            </a:pPr>
            <a:r>
              <a:rPr sz="650" spc="-5" dirty="0">
                <a:solidFill>
                  <a:srgbClr val="231F20"/>
                </a:solidFill>
                <a:latin typeface="Helvetica"/>
                <a:cs typeface="Helvetica"/>
              </a:rPr>
              <a:t>C</a:t>
            </a:r>
            <a:r>
              <a:rPr sz="750" spc="-7" baseline="-11111" dirty="0">
                <a:solidFill>
                  <a:srgbClr val="231F20"/>
                </a:solidFill>
                <a:latin typeface="Helvetica"/>
                <a:cs typeface="Helvetica"/>
              </a:rPr>
              <a:t>1</a:t>
            </a:r>
            <a:endParaRPr sz="750" baseline="-11111">
              <a:latin typeface="Helvetica"/>
              <a:cs typeface="Helvetica"/>
            </a:endParaRPr>
          </a:p>
        </p:txBody>
      </p:sp>
      <p:sp>
        <p:nvSpPr>
          <p:cNvPr id="20" name="object 20"/>
          <p:cNvSpPr txBox="1"/>
          <p:nvPr/>
        </p:nvSpPr>
        <p:spPr>
          <a:xfrm>
            <a:off x="334594" y="487283"/>
            <a:ext cx="3202305" cy="681990"/>
          </a:xfrm>
          <a:prstGeom prst="rect">
            <a:avLst/>
          </a:prstGeom>
        </p:spPr>
        <p:txBody>
          <a:bodyPr vert="horz" wrap="square" lIns="0" tIns="12065" rIns="0" bIns="0" rtlCol="0">
            <a:spAutoFit/>
          </a:bodyPr>
          <a:lstStyle/>
          <a:p>
            <a:pPr marL="25400">
              <a:lnSpc>
                <a:spcPct val="100000"/>
              </a:lnSpc>
              <a:spcBef>
                <a:spcPts val="95"/>
              </a:spcBef>
            </a:pPr>
            <a:r>
              <a:rPr sz="1200" spc="-5" dirty="0">
                <a:solidFill>
                  <a:srgbClr val="3333B2"/>
                </a:solidFill>
                <a:latin typeface="Arial"/>
                <a:cs typeface="Arial"/>
              </a:rPr>
              <a:t>Counting access</a:t>
            </a:r>
            <a:r>
              <a:rPr sz="1200" dirty="0">
                <a:solidFill>
                  <a:srgbClr val="3333B2"/>
                </a:solidFill>
                <a:latin typeface="Arial"/>
                <a:cs typeface="Arial"/>
              </a:rPr>
              <a:t> </a:t>
            </a:r>
            <a:r>
              <a:rPr sz="1200" spc="-5" dirty="0">
                <a:solidFill>
                  <a:srgbClr val="3333B2"/>
                </a:solidFill>
                <a:latin typeface="Arial"/>
                <a:cs typeface="Arial"/>
              </a:rPr>
              <a:t>requests</a:t>
            </a:r>
            <a:r>
              <a:rPr sz="1200" dirty="0">
                <a:solidFill>
                  <a:srgbClr val="3333B2"/>
                </a:solidFill>
                <a:latin typeface="Arial"/>
                <a:cs typeface="Arial"/>
              </a:rPr>
              <a:t> </a:t>
            </a:r>
            <a:r>
              <a:rPr sz="1200" spc="-5" dirty="0">
                <a:solidFill>
                  <a:srgbClr val="3333B2"/>
                </a:solidFill>
                <a:latin typeface="Arial"/>
                <a:cs typeface="Arial"/>
              </a:rPr>
              <a:t>from</a:t>
            </a:r>
            <a:r>
              <a:rPr sz="1200" dirty="0">
                <a:solidFill>
                  <a:srgbClr val="3333B2"/>
                </a:solidFill>
                <a:latin typeface="Arial"/>
                <a:cs typeface="Arial"/>
              </a:rPr>
              <a:t> </a:t>
            </a:r>
            <a:r>
              <a:rPr sz="1200" spc="-10" dirty="0">
                <a:solidFill>
                  <a:srgbClr val="3333B2"/>
                </a:solidFill>
                <a:latin typeface="Arial"/>
                <a:cs typeface="Arial"/>
              </a:rPr>
              <a:t>different</a:t>
            </a:r>
            <a:r>
              <a:rPr sz="1200" dirty="0">
                <a:solidFill>
                  <a:srgbClr val="3333B2"/>
                </a:solidFill>
                <a:latin typeface="Arial"/>
                <a:cs typeface="Arial"/>
              </a:rPr>
              <a:t> </a:t>
            </a:r>
            <a:r>
              <a:rPr sz="1200" spc="-5" dirty="0">
                <a:solidFill>
                  <a:srgbClr val="3333B2"/>
                </a:solidFill>
                <a:latin typeface="Arial"/>
                <a:cs typeface="Arial"/>
              </a:rPr>
              <a:t>clients</a:t>
            </a:r>
            <a:endParaRPr sz="1200">
              <a:latin typeface="Arial"/>
              <a:cs typeface="Arial"/>
            </a:endParaRPr>
          </a:p>
          <a:p>
            <a:pPr marL="2100580">
              <a:lnSpc>
                <a:spcPct val="100000"/>
              </a:lnSpc>
              <a:spcBef>
                <a:spcPts val="1030"/>
              </a:spcBef>
            </a:pPr>
            <a:r>
              <a:rPr sz="650" spc="-5" dirty="0">
                <a:solidFill>
                  <a:srgbClr val="231F20"/>
                </a:solidFill>
                <a:latin typeface="Helvetica"/>
                <a:cs typeface="Helvetica"/>
              </a:rPr>
              <a:t>C</a:t>
            </a:r>
            <a:r>
              <a:rPr sz="750" spc="-7" baseline="-11111" dirty="0">
                <a:solidFill>
                  <a:srgbClr val="231F20"/>
                </a:solidFill>
                <a:latin typeface="Helvetica"/>
                <a:cs typeface="Helvetica"/>
              </a:rPr>
              <a:t>2</a:t>
            </a:r>
            <a:endParaRPr sz="750" baseline="-11111">
              <a:latin typeface="Helvetica"/>
              <a:cs typeface="Helvetica"/>
            </a:endParaRPr>
          </a:p>
          <a:p>
            <a:pPr marL="1144270" marR="1510665">
              <a:lnSpc>
                <a:spcPts val="740"/>
              </a:lnSpc>
              <a:spcBef>
                <a:spcPts val="455"/>
              </a:spcBef>
            </a:pPr>
            <a:r>
              <a:rPr sz="650" spc="5" dirty="0">
                <a:solidFill>
                  <a:srgbClr val="231F20"/>
                </a:solidFill>
                <a:latin typeface="Helvetica"/>
                <a:cs typeface="Helvetica"/>
              </a:rPr>
              <a:t>Server without  copy</a:t>
            </a:r>
            <a:r>
              <a:rPr sz="650" spc="-15" dirty="0">
                <a:solidFill>
                  <a:srgbClr val="231F20"/>
                </a:solidFill>
                <a:latin typeface="Helvetica"/>
                <a:cs typeface="Helvetica"/>
              </a:rPr>
              <a:t> </a:t>
            </a:r>
            <a:r>
              <a:rPr sz="650" spc="5" dirty="0">
                <a:solidFill>
                  <a:srgbClr val="231F20"/>
                </a:solidFill>
                <a:latin typeface="Helvetica"/>
                <a:cs typeface="Helvetica"/>
              </a:rPr>
              <a:t>of</a:t>
            </a:r>
            <a:r>
              <a:rPr sz="650" spc="-10" dirty="0">
                <a:solidFill>
                  <a:srgbClr val="231F20"/>
                </a:solidFill>
                <a:latin typeface="Helvetica"/>
                <a:cs typeface="Helvetica"/>
              </a:rPr>
              <a:t> </a:t>
            </a:r>
            <a:r>
              <a:rPr sz="650" dirty="0">
                <a:solidFill>
                  <a:srgbClr val="231F20"/>
                </a:solidFill>
                <a:latin typeface="Helvetica"/>
                <a:cs typeface="Helvetica"/>
              </a:rPr>
              <a:t>file</a:t>
            </a:r>
            <a:r>
              <a:rPr sz="650" spc="-10" dirty="0">
                <a:solidFill>
                  <a:srgbClr val="231F20"/>
                </a:solidFill>
                <a:latin typeface="Helvetica"/>
                <a:cs typeface="Helvetica"/>
              </a:rPr>
              <a:t> </a:t>
            </a:r>
            <a:r>
              <a:rPr sz="650" spc="5" dirty="0">
                <a:solidFill>
                  <a:srgbClr val="231F20"/>
                </a:solidFill>
                <a:latin typeface="Helvetica"/>
                <a:cs typeface="Helvetica"/>
              </a:rPr>
              <a:t>F</a:t>
            </a:r>
            <a:endParaRPr sz="650">
              <a:latin typeface="Helvetica"/>
              <a:cs typeface="Helvetica"/>
            </a:endParaRPr>
          </a:p>
        </p:txBody>
      </p:sp>
      <p:sp>
        <p:nvSpPr>
          <p:cNvPr id="21" name="object 21"/>
          <p:cNvSpPr txBox="1"/>
          <p:nvPr/>
        </p:nvSpPr>
        <p:spPr>
          <a:xfrm>
            <a:off x="1422620" y="1911697"/>
            <a:ext cx="1435735" cy="231775"/>
          </a:xfrm>
          <a:prstGeom prst="rect">
            <a:avLst/>
          </a:prstGeom>
        </p:spPr>
        <p:txBody>
          <a:bodyPr vert="horz" wrap="square" lIns="0" tIns="8890" rIns="0" bIns="0" rtlCol="0">
            <a:spAutoFit/>
          </a:bodyPr>
          <a:lstStyle/>
          <a:p>
            <a:pPr marL="38100" marR="30480">
              <a:lnSpc>
                <a:spcPct val="105600"/>
              </a:lnSpc>
              <a:spcBef>
                <a:spcPts val="70"/>
              </a:spcBef>
            </a:pPr>
            <a:r>
              <a:rPr sz="650" spc="5" dirty="0">
                <a:solidFill>
                  <a:srgbClr val="231F20"/>
                </a:solidFill>
                <a:latin typeface="Helvetica"/>
                <a:cs typeface="Helvetica"/>
              </a:rPr>
              <a:t>Server </a:t>
            </a:r>
            <a:r>
              <a:rPr sz="650" spc="10" dirty="0">
                <a:solidFill>
                  <a:srgbClr val="231F20"/>
                </a:solidFill>
                <a:latin typeface="Helvetica"/>
                <a:cs typeface="Helvetica"/>
              </a:rPr>
              <a:t>Q </a:t>
            </a:r>
            <a:r>
              <a:rPr sz="650" spc="5" dirty="0">
                <a:solidFill>
                  <a:srgbClr val="231F20"/>
                </a:solidFill>
                <a:latin typeface="Helvetica"/>
                <a:cs typeface="Helvetica"/>
              </a:rPr>
              <a:t>counts access from </a:t>
            </a:r>
            <a:r>
              <a:rPr sz="650" spc="10" dirty="0">
                <a:solidFill>
                  <a:srgbClr val="231F20"/>
                </a:solidFill>
                <a:latin typeface="Helvetica"/>
                <a:cs typeface="Helvetica"/>
              </a:rPr>
              <a:t>C</a:t>
            </a:r>
            <a:r>
              <a:rPr sz="750" spc="-7" baseline="-11111" dirty="0">
                <a:solidFill>
                  <a:srgbClr val="231F20"/>
                </a:solidFill>
                <a:latin typeface="Helvetica"/>
                <a:cs typeface="Helvetica"/>
              </a:rPr>
              <a:t>1</a:t>
            </a:r>
            <a:r>
              <a:rPr sz="750" spc="-75" baseline="-11111" dirty="0">
                <a:solidFill>
                  <a:srgbClr val="231F20"/>
                </a:solidFill>
                <a:latin typeface="Helvetica"/>
                <a:cs typeface="Helvetica"/>
              </a:rPr>
              <a:t> </a:t>
            </a:r>
            <a:r>
              <a:rPr sz="650" spc="5" dirty="0">
                <a:solidFill>
                  <a:srgbClr val="231F20"/>
                </a:solidFill>
                <a:latin typeface="Helvetica"/>
                <a:cs typeface="Helvetica"/>
              </a:rPr>
              <a:t>and  </a:t>
            </a:r>
            <a:r>
              <a:rPr sz="975" spc="-7" baseline="8547" dirty="0">
                <a:solidFill>
                  <a:srgbClr val="231F20"/>
                </a:solidFill>
                <a:latin typeface="Helvetica"/>
                <a:cs typeface="Helvetica"/>
              </a:rPr>
              <a:t>C</a:t>
            </a:r>
            <a:r>
              <a:rPr sz="500" spc="-5" dirty="0">
                <a:solidFill>
                  <a:srgbClr val="231F20"/>
                </a:solidFill>
                <a:latin typeface="Helvetica"/>
                <a:cs typeface="Helvetica"/>
              </a:rPr>
              <a:t>2</a:t>
            </a:r>
            <a:r>
              <a:rPr sz="500" spc="15" dirty="0">
                <a:solidFill>
                  <a:srgbClr val="231F20"/>
                </a:solidFill>
                <a:latin typeface="Helvetica"/>
                <a:cs typeface="Helvetica"/>
              </a:rPr>
              <a:t> </a:t>
            </a:r>
            <a:r>
              <a:rPr sz="975" spc="7" baseline="8547" dirty="0">
                <a:solidFill>
                  <a:srgbClr val="231F20"/>
                </a:solidFill>
                <a:latin typeface="Helvetica"/>
                <a:cs typeface="Helvetica"/>
              </a:rPr>
              <a:t>as</a:t>
            </a:r>
            <a:r>
              <a:rPr sz="975" spc="-7" baseline="8547" dirty="0">
                <a:solidFill>
                  <a:srgbClr val="231F20"/>
                </a:solidFill>
                <a:latin typeface="Helvetica"/>
                <a:cs typeface="Helvetica"/>
              </a:rPr>
              <a:t> </a:t>
            </a:r>
            <a:r>
              <a:rPr sz="975" baseline="8547" dirty="0">
                <a:solidFill>
                  <a:srgbClr val="231F20"/>
                </a:solidFill>
                <a:latin typeface="Helvetica"/>
                <a:cs typeface="Helvetica"/>
              </a:rPr>
              <a:t>if</a:t>
            </a:r>
            <a:r>
              <a:rPr sz="975" spc="-7" baseline="8547" dirty="0">
                <a:solidFill>
                  <a:srgbClr val="231F20"/>
                </a:solidFill>
                <a:latin typeface="Helvetica"/>
                <a:cs typeface="Helvetica"/>
              </a:rPr>
              <a:t> </a:t>
            </a:r>
            <a:r>
              <a:rPr sz="975" spc="7" baseline="8547" dirty="0">
                <a:solidFill>
                  <a:srgbClr val="231F20"/>
                </a:solidFill>
                <a:latin typeface="Helvetica"/>
                <a:cs typeface="Helvetica"/>
              </a:rPr>
              <a:t>they</a:t>
            </a:r>
            <a:r>
              <a:rPr sz="975" baseline="8547" dirty="0">
                <a:solidFill>
                  <a:srgbClr val="231F20"/>
                </a:solidFill>
                <a:latin typeface="Helvetica"/>
                <a:cs typeface="Helvetica"/>
              </a:rPr>
              <a:t> </a:t>
            </a:r>
            <a:r>
              <a:rPr sz="975" spc="7" baseline="8547" dirty="0">
                <a:solidFill>
                  <a:srgbClr val="231F20"/>
                </a:solidFill>
                <a:latin typeface="Helvetica"/>
                <a:cs typeface="Helvetica"/>
              </a:rPr>
              <a:t>would</a:t>
            </a:r>
            <a:r>
              <a:rPr sz="975" spc="-7" baseline="8547" dirty="0">
                <a:solidFill>
                  <a:srgbClr val="231F20"/>
                </a:solidFill>
                <a:latin typeface="Helvetica"/>
                <a:cs typeface="Helvetica"/>
              </a:rPr>
              <a:t> </a:t>
            </a:r>
            <a:r>
              <a:rPr sz="975" spc="7" baseline="8547" dirty="0">
                <a:solidFill>
                  <a:srgbClr val="231F20"/>
                </a:solidFill>
                <a:latin typeface="Helvetica"/>
                <a:cs typeface="Helvetica"/>
              </a:rPr>
              <a:t>come</a:t>
            </a:r>
            <a:r>
              <a:rPr sz="975" baseline="8547" dirty="0">
                <a:solidFill>
                  <a:srgbClr val="231F20"/>
                </a:solidFill>
                <a:latin typeface="Helvetica"/>
                <a:cs typeface="Helvetica"/>
              </a:rPr>
              <a:t> </a:t>
            </a:r>
            <a:r>
              <a:rPr sz="975" spc="7" baseline="8547" dirty="0">
                <a:solidFill>
                  <a:srgbClr val="231F20"/>
                </a:solidFill>
                <a:latin typeface="Helvetica"/>
                <a:cs typeface="Helvetica"/>
              </a:rPr>
              <a:t>from</a:t>
            </a:r>
            <a:r>
              <a:rPr sz="975" spc="-7" baseline="8547" dirty="0">
                <a:solidFill>
                  <a:srgbClr val="231F20"/>
                </a:solidFill>
                <a:latin typeface="Helvetica"/>
                <a:cs typeface="Helvetica"/>
              </a:rPr>
              <a:t> </a:t>
            </a:r>
            <a:r>
              <a:rPr sz="975" spc="7" baseline="8547" dirty="0">
                <a:solidFill>
                  <a:srgbClr val="231F20"/>
                </a:solidFill>
                <a:latin typeface="Helvetica"/>
                <a:cs typeface="Helvetica"/>
              </a:rPr>
              <a:t>P</a:t>
            </a:r>
            <a:endParaRPr sz="975" baseline="8547">
              <a:latin typeface="Helvetica"/>
              <a:cs typeface="Helvetica"/>
            </a:endParaRPr>
          </a:p>
        </p:txBody>
      </p:sp>
      <p:sp>
        <p:nvSpPr>
          <p:cNvPr id="22" name="object 22"/>
          <p:cNvSpPr/>
          <p:nvPr/>
        </p:nvSpPr>
        <p:spPr>
          <a:xfrm>
            <a:off x="1987061" y="1521512"/>
            <a:ext cx="1195705" cy="390525"/>
          </a:xfrm>
          <a:custGeom>
            <a:avLst/>
            <a:gdLst/>
            <a:ahLst/>
            <a:cxnLst/>
            <a:rect l="l" t="t" r="r" b="b"/>
            <a:pathLst>
              <a:path w="1195705" h="390525">
                <a:moveTo>
                  <a:pt x="0" y="390008"/>
                </a:moveTo>
                <a:lnTo>
                  <a:pt x="323954" y="0"/>
                </a:lnTo>
              </a:path>
              <a:path w="1195705" h="390525">
                <a:moveTo>
                  <a:pt x="1195199" y="270484"/>
                </a:moveTo>
                <a:lnTo>
                  <a:pt x="956414" y="193254"/>
                </a:lnTo>
              </a:path>
            </a:pathLst>
          </a:custGeom>
          <a:ln w="5270">
            <a:solidFill>
              <a:srgbClr val="231F20"/>
            </a:solidFill>
          </a:ln>
        </p:spPr>
        <p:txBody>
          <a:bodyPr wrap="square" lIns="0" tIns="0" rIns="0" bIns="0" rtlCol="0"/>
          <a:lstStyle/>
          <a:p>
            <a:endParaRPr/>
          </a:p>
        </p:txBody>
      </p:sp>
      <p:sp>
        <p:nvSpPr>
          <p:cNvPr id="23" name="object 23"/>
          <p:cNvSpPr txBox="1"/>
          <p:nvPr/>
        </p:nvSpPr>
        <p:spPr>
          <a:xfrm>
            <a:off x="3199434" y="1724853"/>
            <a:ext cx="2362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Helvetica"/>
                <a:cs typeface="Helvetica"/>
              </a:rPr>
              <a:t>File F</a:t>
            </a:r>
            <a:endParaRPr sz="650">
              <a:latin typeface="Helvetica"/>
              <a:cs typeface="Helvetica"/>
            </a:endParaRPr>
          </a:p>
        </p:txBody>
      </p:sp>
      <p:sp>
        <p:nvSpPr>
          <p:cNvPr id="24" name="object 24"/>
          <p:cNvSpPr txBox="1"/>
          <p:nvPr/>
        </p:nvSpPr>
        <p:spPr>
          <a:xfrm>
            <a:off x="431304" y="2338799"/>
            <a:ext cx="3790315" cy="633095"/>
          </a:xfrm>
          <a:prstGeom prst="rect">
            <a:avLst/>
          </a:prstGeom>
        </p:spPr>
        <p:txBody>
          <a:bodyPr vert="horz" wrap="square" lIns="0" tIns="12065" rIns="0" bIns="0" rtlCol="0">
            <a:spAutoFit/>
          </a:bodyPr>
          <a:lstStyle/>
          <a:p>
            <a:pPr marL="205740" marR="30480" indent="-168275">
              <a:lnSpc>
                <a:spcPct val="100000"/>
              </a:lnSpc>
              <a:spcBef>
                <a:spcPts val="95"/>
              </a:spcBef>
              <a:buClr>
                <a:srgbClr val="3333B2"/>
              </a:buClr>
              <a:buChar char="►"/>
              <a:tabLst>
                <a:tab pos="206375" algn="l"/>
              </a:tabLst>
            </a:pPr>
            <a:r>
              <a:rPr sz="1000" spc="-15" dirty="0">
                <a:latin typeface="Arial"/>
                <a:cs typeface="Arial"/>
              </a:rPr>
              <a:t>Keep</a:t>
            </a:r>
            <a:r>
              <a:rPr sz="1000" dirty="0">
                <a:latin typeface="Arial"/>
                <a:cs typeface="Arial"/>
              </a:rPr>
              <a:t> </a:t>
            </a:r>
            <a:r>
              <a:rPr sz="1000" spc="-10" dirty="0">
                <a:latin typeface="Arial"/>
                <a:cs typeface="Arial"/>
              </a:rPr>
              <a:t>track</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access</a:t>
            </a:r>
            <a:r>
              <a:rPr sz="1000" dirty="0">
                <a:latin typeface="Arial"/>
                <a:cs typeface="Arial"/>
              </a:rPr>
              <a:t> </a:t>
            </a:r>
            <a:r>
              <a:rPr sz="1000" spc="-5" dirty="0">
                <a:latin typeface="Arial"/>
                <a:cs typeface="Arial"/>
              </a:rPr>
              <a:t>counts</a:t>
            </a:r>
            <a:r>
              <a:rPr sz="1000" dirty="0">
                <a:latin typeface="Arial"/>
                <a:cs typeface="Arial"/>
              </a:rPr>
              <a:t> </a:t>
            </a:r>
            <a:r>
              <a:rPr sz="1000" spc="-5" dirty="0">
                <a:latin typeface="Arial"/>
                <a:cs typeface="Arial"/>
              </a:rPr>
              <a:t>per</a:t>
            </a:r>
            <a:r>
              <a:rPr sz="1000" dirty="0">
                <a:latin typeface="Arial"/>
                <a:cs typeface="Arial"/>
              </a:rPr>
              <a:t> </a:t>
            </a:r>
            <a:r>
              <a:rPr sz="1000" spc="-5" dirty="0">
                <a:latin typeface="Arial"/>
                <a:cs typeface="Arial"/>
              </a:rPr>
              <a:t>file,</a:t>
            </a:r>
            <a:r>
              <a:rPr sz="1000" dirty="0">
                <a:latin typeface="Arial"/>
                <a:cs typeface="Arial"/>
              </a:rPr>
              <a:t> </a:t>
            </a:r>
            <a:r>
              <a:rPr sz="1000" spc="-5" dirty="0">
                <a:latin typeface="Arial"/>
                <a:cs typeface="Arial"/>
              </a:rPr>
              <a:t>aggregated</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considering </a:t>
            </a:r>
            <a:r>
              <a:rPr sz="1000" spc="-260" dirty="0">
                <a:latin typeface="Arial"/>
                <a:cs typeface="Arial"/>
              </a:rPr>
              <a:t> </a:t>
            </a:r>
            <a:r>
              <a:rPr sz="1000" spc="-5" dirty="0">
                <a:latin typeface="Arial"/>
                <a:cs typeface="Arial"/>
              </a:rPr>
              <a:t>server closest to requesting clients</a:t>
            </a:r>
            <a:endParaRPr sz="1000">
              <a:latin typeface="Arial"/>
              <a:cs typeface="Arial"/>
            </a:endParaRPr>
          </a:p>
          <a:p>
            <a:pPr marL="205740" indent="-168275">
              <a:lnSpc>
                <a:spcPts val="1190"/>
              </a:lnSpc>
              <a:buClr>
                <a:srgbClr val="3333B2"/>
              </a:buClr>
              <a:buChar char="►"/>
              <a:tabLst>
                <a:tab pos="206375" algn="l"/>
              </a:tabLst>
            </a:pPr>
            <a:r>
              <a:rPr sz="1000" spc="-5" dirty="0">
                <a:latin typeface="Arial"/>
                <a:cs typeface="Arial"/>
              </a:rPr>
              <a:t>Number</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accesses</a:t>
            </a:r>
            <a:r>
              <a:rPr sz="1000" dirty="0">
                <a:latin typeface="Arial"/>
                <a:cs typeface="Arial"/>
              </a:rPr>
              <a:t> </a:t>
            </a:r>
            <a:r>
              <a:rPr sz="1000" spc="-5" dirty="0">
                <a:latin typeface="Arial"/>
                <a:cs typeface="Arial"/>
              </a:rPr>
              <a:t>drops</a:t>
            </a:r>
            <a:r>
              <a:rPr sz="1000" dirty="0">
                <a:latin typeface="Arial"/>
                <a:cs typeface="Arial"/>
              </a:rPr>
              <a:t> </a:t>
            </a:r>
            <a:r>
              <a:rPr sz="1000" spc="-10" dirty="0">
                <a:latin typeface="Arial"/>
                <a:cs typeface="Arial"/>
              </a:rPr>
              <a:t>below</a:t>
            </a:r>
            <a:r>
              <a:rPr sz="1000" dirty="0">
                <a:latin typeface="Arial"/>
                <a:cs typeface="Arial"/>
              </a:rPr>
              <a:t> </a:t>
            </a:r>
            <a:r>
              <a:rPr sz="1000" spc="-5" dirty="0">
                <a:latin typeface="Arial"/>
                <a:cs typeface="Arial"/>
              </a:rPr>
              <a:t>threshold</a:t>
            </a:r>
            <a:r>
              <a:rPr sz="1000" dirty="0">
                <a:latin typeface="Arial"/>
                <a:cs typeface="Arial"/>
              </a:rPr>
              <a:t> </a:t>
            </a:r>
            <a:r>
              <a:rPr sz="1000" i="1" spc="-5" dirty="0">
                <a:latin typeface="Arial"/>
                <a:cs typeface="Arial"/>
              </a:rPr>
              <a:t>D</a:t>
            </a:r>
            <a:r>
              <a:rPr sz="1000" i="1" spc="45"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latin typeface="Arial"/>
                <a:cs typeface="Arial"/>
              </a:rPr>
              <a:t>drop</a:t>
            </a:r>
            <a:r>
              <a:rPr sz="1000" dirty="0">
                <a:latin typeface="Arial"/>
                <a:cs typeface="Arial"/>
              </a:rPr>
              <a:t> </a:t>
            </a:r>
            <a:r>
              <a:rPr sz="1000" spc="-5" dirty="0">
                <a:latin typeface="Arial"/>
                <a:cs typeface="Arial"/>
              </a:rPr>
              <a:t>file</a:t>
            </a:r>
            <a:endParaRPr sz="1000">
              <a:latin typeface="Arial"/>
              <a:cs typeface="Arial"/>
            </a:endParaRPr>
          </a:p>
          <a:p>
            <a:pPr marL="205740" indent="-168910">
              <a:lnSpc>
                <a:spcPts val="1200"/>
              </a:lnSpc>
              <a:buClr>
                <a:srgbClr val="3333B2"/>
              </a:buClr>
              <a:buChar char="►"/>
              <a:tabLst>
                <a:tab pos="206375" algn="l"/>
              </a:tabLst>
            </a:pPr>
            <a:r>
              <a:rPr sz="1000" spc="-5" dirty="0">
                <a:latin typeface="Arial"/>
                <a:cs typeface="Arial"/>
              </a:rPr>
              <a:t>Number</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accesses</a:t>
            </a:r>
            <a:r>
              <a:rPr sz="1000" dirty="0">
                <a:latin typeface="Arial"/>
                <a:cs typeface="Arial"/>
              </a:rPr>
              <a:t> </a:t>
            </a:r>
            <a:r>
              <a:rPr sz="1000" spc="-10" dirty="0">
                <a:latin typeface="Arial"/>
                <a:cs typeface="Arial"/>
              </a:rPr>
              <a:t>exceeds</a:t>
            </a:r>
            <a:r>
              <a:rPr sz="1000" dirty="0">
                <a:latin typeface="Arial"/>
                <a:cs typeface="Arial"/>
              </a:rPr>
              <a:t> </a:t>
            </a:r>
            <a:r>
              <a:rPr sz="1000" spc="-5" dirty="0">
                <a:latin typeface="Arial"/>
                <a:cs typeface="Arial"/>
              </a:rPr>
              <a:t>threshold</a:t>
            </a:r>
            <a:r>
              <a:rPr sz="1000" spc="5" dirty="0">
                <a:latin typeface="Arial"/>
                <a:cs typeface="Arial"/>
              </a:rPr>
              <a:t> </a:t>
            </a:r>
            <a:r>
              <a:rPr sz="1000" i="1" spc="-5" dirty="0">
                <a:latin typeface="Arial"/>
                <a:cs typeface="Arial"/>
              </a:rPr>
              <a:t>R</a:t>
            </a:r>
            <a:r>
              <a:rPr sz="1000" i="1" spc="55"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latin typeface="Arial"/>
                <a:cs typeface="Arial"/>
              </a:rPr>
              <a:t>replicate</a:t>
            </a:r>
            <a:r>
              <a:rPr sz="1000" spc="5" dirty="0">
                <a:latin typeface="Arial"/>
                <a:cs typeface="Arial"/>
              </a:rPr>
              <a:t> </a:t>
            </a:r>
            <a:r>
              <a:rPr sz="1000" spc="-5" dirty="0">
                <a:latin typeface="Arial"/>
                <a:cs typeface="Arial"/>
              </a:rPr>
              <a:t>file</a:t>
            </a:r>
            <a:endParaRPr sz="1000">
              <a:latin typeface="Arial"/>
              <a:cs typeface="Arial"/>
            </a:endParaRPr>
          </a:p>
        </p:txBody>
      </p:sp>
      <p:sp>
        <p:nvSpPr>
          <p:cNvPr id="25" name="object 25"/>
          <p:cNvSpPr txBox="1"/>
          <p:nvPr/>
        </p:nvSpPr>
        <p:spPr>
          <a:xfrm>
            <a:off x="66713" y="2946113"/>
            <a:ext cx="3439160" cy="498475"/>
          </a:xfrm>
          <a:prstGeom prst="rect">
            <a:avLst/>
          </a:prstGeom>
        </p:spPr>
        <p:txBody>
          <a:bodyPr vert="horz" wrap="square" lIns="0" tIns="12065" rIns="0" bIns="0" rtlCol="0">
            <a:spAutoFit/>
          </a:bodyPr>
          <a:lstStyle/>
          <a:p>
            <a:pPr marL="570230" indent="-168275">
              <a:lnSpc>
                <a:spcPct val="100000"/>
              </a:lnSpc>
              <a:spcBef>
                <a:spcPts val="95"/>
              </a:spcBef>
              <a:buClr>
                <a:srgbClr val="3333B2"/>
              </a:buClr>
              <a:buChar char="►"/>
              <a:tabLst>
                <a:tab pos="570865" algn="l"/>
              </a:tabLst>
            </a:pPr>
            <a:r>
              <a:rPr sz="1000" spc="-5" dirty="0">
                <a:latin typeface="Arial"/>
                <a:cs typeface="Arial"/>
              </a:rPr>
              <a:t>Number</a:t>
            </a:r>
            <a:r>
              <a:rPr sz="1000" spc="-10" dirty="0">
                <a:latin typeface="Arial"/>
                <a:cs typeface="Arial"/>
              </a:rPr>
              <a:t> </a:t>
            </a:r>
            <a:r>
              <a:rPr sz="1000" spc="-5" dirty="0">
                <a:latin typeface="Arial"/>
                <a:cs typeface="Arial"/>
              </a:rPr>
              <a:t>of access</a:t>
            </a:r>
            <a:r>
              <a:rPr sz="1000" spc="-10" dirty="0">
                <a:latin typeface="Arial"/>
                <a:cs typeface="Arial"/>
              </a:rPr>
              <a:t> </a:t>
            </a:r>
            <a:r>
              <a:rPr sz="1000" spc="-5" dirty="0">
                <a:latin typeface="Arial"/>
                <a:cs typeface="Arial"/>
              </a:rPr>
              <a:t>between </a:t>
            </a:r>
            <a:r>
              <a:rPr sz="1000" i="1" spc="-5" dirty="0">
                <a:latin typeface="Arial"/>
                <a:cs typeface="Arial"/>
              </a:rPr>
              <a:t>D</a:t>
            </a:r>
            <a:r>
              <a:rPr sz="1000" i="1" spc="40" dirty="0">
                <a:latin typeface="Arial"/>
                <a:cs typeface="Arial"/>
              </a:rPr>
              <a:t> </a:t>
            </a:r>
            <a:r>
              <a:rPr sz="1000" spc="-5" dirty="0">
                <a:latin typeface="Arial"/>
                <a:cs typeface="Arial"/>
              </a:rPr>
              <a:t>and</a:t>
            </a:r>
            <a:r>
              <a:rPr sz="1000" spc="-10" dirty="0">
                <a:latin typeface="Arial"/>
                <a:cs typeface="Arial"/>
              </a:rPr>
              <a:t> </a:t>
            </a:r>
            <a:r>
              <a:rPr sz="1000" i="1" spc="-5" dirty="0">
                <a:latin typeface="Arial"/>
                <a:cs typeface="Arial"/>
              </a:rPr>
              <a:t>R</a:t>
            </a:r>
            <a:r>
              <a:rPr sz="1000" i="1" spc="50" dirty="0">
                <a:latin typeface="Arial"/>
                <a:cs typeface="Arial"/>
              </a:rPr>
              <a:t> </a:t>
            </a:r>
            <a:r>
              <a:rPr sz="1000" i="1" spc="-5" dirty="0">
                <a:latin typeface="メイリオ"/>
                <a:cs typeface="メイリオ"/>
              </a:rPr>
              <a:t>⇒</a:t>
            </a:r>
            <a:r>
              <a:rPr sz="1000" i="1" spc="-70" dirty="0">
                <a:latin typeface="メイリオ"/>
                <a:cs typeface="メイリオ"/>
              </a:rPr>
              <a:t> </a:t>
            </a:r>
            <a:r>
              <a:rPr sz="1000" spc="-5" dirty="0">
                <a:latin typeface="Arial"/>
                <a:cs typeface="Arial"/>
              </a:rPr>
              <a:t>migrate file</a:t>
            </a:r>
            <a:endParaRPr sz="1000">
              <a:latin typeface="Arial"/>
              <a:cs typeface="Arial"/>
            </a:endParaRPr>
          </a:p>
          <a:p>
            <a:pPr marL="12700">
              <a:lnSpc>
                <a:spcPct val="100000"/>
              </a:lnSpc>
              <a:spcBef>
                <a:spcPts val="1805"/>
              </a:spcBef>
            </a:pPr>
            <a:r>
              <a:rPr sz="600" spc="-5" dirty="0">
                <a:solidFill>
                  <a:srgbClr val="3333B2"/>
                </a:solidFill>
                <a:latin typeface="Arial"/>
                <a:cs typeface="Arial"/>
                <a:hlinkClick r:id="rId12" action="ppaction://hlinksldjump"/>
              </a:rPr>
              <a:t>Server-initiated</a:t>
            </a:r>
            <a:r>
              <a:rPr sz="600" spc="-10" dirty="0">
                <a:solidFill>
                  <a:srgbClr val="3333B2"/>
                </a:solidFill>
                <a:latin typeface="Arial"/>
                <a:cs typeface="Arial"/>
                <a:hlinkClick r:id="rId12" action="ppaction://hlinksldjump"/>
              </a:rPr>
              <a:t> </a:t>
            </a:r>
            <a:r>
              <a:rPr sz="600" spc="-5" dirty="0">
                <a:solidFill>
                  <a:srgbClr val="3333B2"/>
                </a:solidFill>
                <a:latin typeface="Arial"/>
                <a:cs typeface="Arial"/>
                <a:hlinkClick r:id="rId12" action="ppaction://hlinksldjump"/>
              </a:rPr>
              <a:t>replicas</a:t>
            </a:r>
            <a:endParaRPr sz="600">
              <a:latin typeface="Arial"/>
              <a:cs typeface="Arial"/>
            </a:endParaRPr>
          </a:p>
        </p:txBody>
      </p:sp>
      <p:sp>
        <p:nvSpPr>
          <p:cNvPr id="26" name="object 26"/>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27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732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Replica</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management</a:t>
            </a:r>
            <a:endParaRPr sz="600">
              <a:latin typeface="Arial"/>
              <a:cs typeface="Arial"/>
            </a:endParaRPr>
          </a:p>
        </p:txBody>
      </p:sp>
      <p:sp>
        <p:nvSpPr>
          <p:cNvPr id="3" name="object 3"/>
          <p:cNvSpPr txBox="1"/>
          <p:nvPr/>
        </p:nvSpPr>
        <p:spPr>
          <a:xfrm>
            <a:off x="3862261" y="716"/>
            <a:ext cx="6794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Content</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distribution</a:t>
            </a:r>
            <a:endParaRPr sz="600">
              <a:latin typeface="Arial"/>
              <a:cs typeface="Arial"/>
            </a:endParaRPr>
          </a:p>
        </p:txBody>
      </p:sp>
      <p:sp>
        <p:nvSpPr>
          <p:cNvPr id="4" name="object 4"/>
          <p:cNvSpPr txBox="1"/>
          <p:nvPr/>
        </p:nvSpPr>
        <p:spPr>
          <a:xfrm>
            <a:off x="95300" y="188846"/>
            <a:ext cx="159448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Content</a:t>
            </a:r>
            <a:r>
              <a:rPr sz="1400" spc="-45" dirty="0">
                <a:solidFill>
                  <a:srgbClr val="3333B2"/>
                </a:solidFill>
                <a:latin typeface="Arial"/>
                <a:cs typeface="Arial"/>
              </a:rPr>
              <a:t> </a:t>
            </a:r>
            <a:r>
              <a:rPr sz="1400" spc="10" dirty="0">
                <a:solidFill>
                  <a:srgbClr val="3333B2"/>
                </a:solidFill>
                <a:latin typeface="Arial"/>
                <a:cs typeface="Arial"/>
              </a:rPr>
              <a:t>distribution</a:t>
            </a:r>
            <a:endParaRPr sz="1400">
              <a:latin typeface="Arial"/>
              <a:cs typeface="Arial"/>
            </a:endParaRPr>
          </a:p>
        </p:txBody>
      </p:sp>
      <p:sp>
        <p:nvSpPr>
          <p:cNvPr id="5" name="object 5"/>
          <p:cNvSpPr txBox="1"/>
          <p:nvPr/>
        </p:nvSpPr>
        <p:spPr>
          <a:xfrm>
            <a:off x="309194" y="877491"/>
            <a:ext cx="3989704" cy="1738630"/>
          </a:xfrm>
          <a:prstGeom prst="rect">
            <a:avLst/>
          </a:prstGeom>
        </p:spPr>
        <p:txBody>
          <a:bodyPr vert="horz" wrap="square" lIns="0" tIns="12065" rIns="0" bIns="0" rtlCol="0">
            <a:spAutoFit/>
          </a:bodyPr>
          <a:lstStyle/>
          <a:p>
            <a:pPr marL="50800">
              <a:lnSpc>
                <a:spcPct val="100000"/>
              </a:lnSpc>
              <a:spcBef>
                <a:spcPts val="95"/>
              </a:spcBef>
            </a:pPr>
            <a:r>
              <a:rPr sz="1200" spc="-5" dirty="0">
                <a:solidFill>
                  <a:srgbClr val="3333B2"/>
                </a:solidFill>
                <a:latin typeface="Arial"/>
                <a:cs typeface="Arial"/>
              </a:rPr>
              <a:t>Consider only a</a:t>
            </a:r>
            <a:r>
              <a:rPr sz="1200" dirty="0">
                <a:solidFill>
                  <a:srgbClr val="3333B2"/>
                </a:solidFill>
                <a:latin typeface="Arial"/>
                <a:cs typeface="Arial"/>
              </a:rPr>
              <a:t> </a:t>
            </a:r>
            <a:r>
              <a:rPr sz="1200" spc="-5" dirty="0">
                <a:solidFill>
                  <a:srgbClr val="3333B2"/>
                </a:solidFill>
                <a:latin typeface="Arial"/>
                <a:cs typeface="Arial"/>
              </a:rPr>
              <a:t>client-server combination</a:t>
            </a:r>
            <a:endParaRPr sz="1200" dirty="0">
              <a:latin typeface="Arial"/>
              <a:cs typeface="Arial"/>
            </a:endParaRPr>
          </a:p>
          <a:p>
            <a:pPr marL="327660" marR="90170" indent="-168275">
              <a:lnSpc>
                <a:spcPct val="100000"/>
              </a:lnSpc>
              <a:spcBef>
                <a:spcPts val="775"/>
              </a:spcBef>
              <a:buClr>
                <a:srgbClr val="3333B2"/>
              </a:buClr>
              <a:buChar char="►"/>
              <a:tabLst>
                <a:tab pos="328295" algn="l"/>
              </a:tabLst>
            </a:pPr>
            <a:r>
              <a:rPr sz="1000" spc="-5" dirty="0">
                <a:latin typeface="Arial"/>
                <a:cs typeface="Arial"/>
              </a:rPr>
              <a:t>Propagate</a:t>
            </a:r>
            <a:r>
              <a:rPr sz="1000" dirty="0">
                <a:latin typeface="Arial"/>
                <a:cs typeface="Arial"/>
              </a:rPr>
              <a:t> </a:t>
            </a:r>
            <a:r>
              <a:rPr sz="1000" spc="-5" dirty="0">
                <a:latin typeface="Arial"/>
                <a:cs typeface="Arial"/>
              </a:rPr>
              <a:t>only</a:t>
            </a:r>
            <a:r>
              <a:rPr sz="1000" dirty="0">
                <a:latin typeface="Arial"/>
                <a:cs typeface="Arial"/>
              </a:rPr>
              <a:t> </a:t>
            </a:r>
            <a:r>
              <a:rPr sz="1000" spc="-5" dirty="0">
                <a:solidFill>
                  <a:srgbClr val="0000FA"/>
                </a:solidFill>
                <a:latin typeface="Arial"/>
                <a:cs typeface="Arial"/>
              </a:rPr>
              <a:t>notification/invalidation</a:t>
            </a:r>
            <a:r>
              <a:rPr sz="1000" dirty="0">
                <a:solidFill>
                  <a:srgbClr val="0000FA"/>
                </a:solidFill>
                <a:latin typeface="Arial"/>
                <a:cs typeface="Arial"/>
              </a:rPr>
              <a:t> </a:t>
            </a:r>
            <a:r>
              <a:rPr sz="1000" spc="-5" dirty="0">
                <a:latin typeface="Arial"/>
                <a:cs typeface="Arial"/>
              </a:rPr>
              <a:t>of</a:t>
            </a:r>
            <a:r>
              <a:rPr sz="1000" spc="5" dirty="0">
                <a:latin typeface="Arial"/>
                <a:cs typeface="Arial"/>
              </a:rPr>
              <a:t> </a:t>
            </a:r>
            <a:r>
              <a:rPr sz="1000" spc="-5" dirty="0">
                <a:latin typeface="Arial"/>
                <a:cs typeface="Arial"/>
              </a:rPr>
              <a:t>update</a:t>
            </a:r>
            <a:r>
              <a:rPr sz="1000" dirty="0">
                <a:latin typeface="Arial"/>
                <a:cs typeface="Arial"/>
              </a:rPr>
              <a:t> </a:t>
            </a:r>
            <a:r>
              <a:rPr sz="1000" spc="-5" dirty="0">
                <a:latin typeface="Arial"/>
                <a:cs typeface="Arial"/>
              </a:rPr>
              <a:t>(often</a:t>
            </a:r>
            <a:r>
              <a:rPr sz="1000" dirty="0">
                <a:latin typeface="Arial"/>
                <a:cs typeface="Arial"/>
              </a:rPr>
              <a:t> </a:t>
            </a:r>
            <a:r>
              <a:rPr sz="1000" spc="-5" dirty="0">
                <a:latin typeface="Arial"/>
                <a:cs typeface="Arial"/>
              </a:rPr>
              <a:t>used</a:t>
            </a:r>
            <a:r>
              <a:rPr sz="1000" spc="5" dirty="0">
                <a:latin typeface="Arial"/>
                <a:cs typeface="Arial"/>
              </a:rPr>
              <a:t> </a:t>
            </a:r>
            <a:r>
              <a:rPr sz="1000" spc="-15" dirty="0">
                <a:latin typeface="Arial"/>
                <a:cs typeface="Arial"/>
              </a:rPr>
              <a:t>for </a:t>
            </a:r>
            <a:r>
              <a:rPr sz="1000" spc="-265" dirty="0">
                <a:latin typeface="Arial"/>
                <a:cs typeface="Arial"/>
              </a:rPr>
              <a:t> </a:t>
            </a:r>
            <a:r>
              <a:rPr sz="1000" spc="-5" dirty="0">
                <a:latin typeface="Arial"/>
                <a:cs typeface="Arial"/>
              </a:rPr>
              <a:t>caches)</a:t>
            </a:r>
            <a:endParaRPr sz="1000" dirty="0">
              <a:latin typeface="Arial"/>
              <a:cs typeface="Arial"/>
            </a:endParaRPr>
          </a:p>
          <a:p>
            <a:pPr marL="327660" marR="126364" indent="-168275">
              <a:lnSpc>
                <a:spcPts val="1200"/>
              </a:lnSpc>
              <a:spcBef>
                <a:spcPts val="35"/>
              </a:spcBef>
              <a:buClr>
                <a:srgbClr val="3333B2"/>
              </a:buClr>
              <a:buChar char="►"/>
              <a:tabLst>
                <a:tab pos="328295" algn="l"/>
              </a:tabLst>
            </a:pPr>
            <a:r>
              <a:rPr sz="1000" spc="-25" dirty="0">
                <a:latin typeface="Arial"/>
                <a:cs typeface="Arial"/>
              </a:rPr>
              <a:t>Transfer</a:t>
            </a:r>
            <a:r>
              <a:rPr sz="1000" dirty="0">
                <a:latin typeface="Arial"/>
                <a:cs typeface="Arial"/>
              </a:rPr>
              <a:t> </a:t>
            </a:r>
            <a:r>
              <a:rPr sz="1000" spc="-5" dirty="0">
                <a:solidFill>
                  <a:srgbClr val="0000FA"/>
                </a:solidFill>
                <a:latin typeface="Arial"/>
                <a:cs typeface="Arial"/>
              </a:rPr>
              <a:t>data</a:t>
            </a:r>
            <a:r>
              <a:rPr sz="1000" dirty="0">
                <a:solidFill>
                  <a:srgbClr val="0000FA"/>
                </a:solidFill>
                <a:latin typeface="Arial"/>
                <a:cs typeface="Arial"/>
              </a:rPr>
              <a:t> </a:t>
            </a:r>
            <a:r>
              <a:rPr sz="1000" spc="-5" dirty="0">
                <a:latin typeface="Arial"/>
                <a:cs typeface="Arial"/>
              </a:rPr>
              <a:t>from</a:t>
            </a:r>
            <a:r>
              <a:rPr sz="1000" spc="5" dirty="0">
                <a:latin typeface="Arial"/>
                <a:cs typeface="Arial"/>
              </a:rPr>
              <a:t> </a:t>
            </a:r>
            <a:r>
              <a:rPr sz="1000" spc="-5" dirty="0">
                <a:latin typeface="Arial"/>
                <a:cs typeface="Arial"/>
              </a:rPr>
              <a:t>one</a:t>
            </a:r>
            <a:r>
              <a:rPr sz="1000" dirty="0">
                <a:latin typeface="Arial"/>
                <a:cs typeface="Arial"/>
              </a:rPr>
              <a:t> </a:t>
            </a:r>
            <a:r>
              <a:rPr sz="1000" spc="-10" dirty="0">
                <a:latin typeface="Arial"/>
                <a:cs typeface="Arial"/>
              </a:rPr>
              <a:t>copy</a:t>
            </a:r>
            <a:r>
              <a:rPr sz="1000"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another</a:t>
            </a:r>
            <a:r>
              <a:rPr sz="1000" dirty="0">
                <a:latin typeface="Arial"/>
                <a:cs typeface="Arial"/>
              </a:rPr>
              <a:t> </a:t>
            </a:r>
            <a:r>
              <a:rPr sz="1000" spc="-5" dirty="0">
                <a:latin typeface="Arial"/>
                <a:cs typeface="Arial"/>
              </a:rPr>
              <a:t>(distributed</a:t>
            </a:r>
            <a:r>
              <a:rPr sz="1000" dirty="0">
                <a:latin typeface="Arial"/>
                <a:cs typeface="Arial"/>
              </a:rPr>
              <a:t> </a:t>
            </a:r>
            <a:r>
              <a:rPr sz="1000" spc="-5" dirty="0">
                <a:latin typeface="Arial"/>
                <a:cs typeface="Arial"/>
              </a:rPr>
              <a:t>databases): </a:t>
            </a:r>
            <a:r>
              <a:rPr sz="1000" spc="-260" dirty="0">
                <a:latin typeface="Arial"/>
                <a:cs typeface="Arial"/>
              </a:rPr>
              <a:t> </a:t>
            </a:r>
            <a:r>
              <a:rPr sz="1000" spc="-10" dirty="0">
                <a:solidFill>
                  <a:srgbClr val="FA0000"/>
                </a:solidFill>
                <a:latin typeface="Arial"/>
                <a:cs typeface="Arial"/>
              </a:rPr>
              <a:t>passive </a:t>
            </a:r>
            <a:r>
              <a:rPr sz="1000" spc="-5" dirty="0">
                <a:solidFill>
                  <a:srgbClr val="FA0000"/>
                </a:solidFill>
                <a:latin typeface="Arial"/>
                <a:cs typeface="Arial"/>
              </a:rPr>
              <a:t>replication</a:t>
            </a:r>
            <a:endParaRPr sz="1000" dirty="0">
              <a:latin typeface="Arial"/>
              <a:cs typeface="Arial"/>
            </a:endParaRPr>
          </a:p>
          <a:p>
            <a:pPr marL="327660" indent="-168275">
              <a:lnSpc>
                <a:spcPts val="1150"/>
              </a:lnSpc>
              <a:buClr>
                <a:srgbClr val="3333B2"/>
              </a:buClr>
              <a:buChar char="►"/>
              <a:tabLst>
                <a:tab pos="328295" algn="l"/>
              </a:tabLst>
            </a:pPr>
            <a:r>
              <a:rPr sz="1000" spc="-10" dirty="0">
                <a:latin typeface="Arial"/>
                <a:cs typeface="Arial"/>
              </a:rPr>
              <a:t>Propagate</a:t>
            </a:r>
            <a:r>
              <a:rPr sz="1000" spc="-5" dirty="0">
                <a:latin typeface="Arial"/>
                <a:cs typeface="Arial"/>
              </a:rPr>
              <a:t> </a:t>
            </a:r>
            <a:r>
              <a:rPr sz="1000" spc="-10" dirty="0">
                <a:latin typeface="Arial"/>
                <a:cs typeface="Arial"/>
              </a:rPr>
              <a:t>the</a:t>
            </a:r>
            <a:r>
              <a:rPr sz="1000" spc="-5" dirty="0">
                <a:latin typeface="Arial"/>
                <a:cs typeface="Arial"/>
              </a:rPr>
              <a:t> </a:t>
            </a:r>
            <a:r>
              <a:rPr sz="1000" spc="-10" dirty="0">
                <a:latin typeface="Arial"/>
                <a:cs typeface="Arial"/>
              </a:rPr>
              <a:t>update</a:t>
            </a:r>
            <a:r>
              <a:rPr sz="1000" spc="-5" dirty="0">
                <a:latin typeface="Arial"/>
                <a:cs typeface="Arial"/>
              </a:rPr>
              <a:t> </a:t>
            </a:r>
            <a:r>
              <a:rPr sz="1000" spc="-15" dirty="0">
                <a:solidFill>
                  <a:srgbClr val="0000FA"/>
                </a:solidFill>
                <a:latin typeface="Arial"/>
                <a:cs typeface="Arial"/>
              </a:rPr>
              <a:t>operation</a:t>
            </a:r>
            <a:r>
              <a:rPr sz="1000" dirty="0">
                <a:solidFill>
                  <a:srgbClr val="0000FA"/>
                </a:solidFill>
                <a:latin typeface="Arial"/>
                <a:cs typeface="Arial"/>
              </a:rPr>
              <a:t> </a:t>
            </a:r>
            <a:r>
              <a:rPr sz="1000" spc="-10" dirty="0">
                <a:latin typeface="Arial"/>
                <a:cs typeface="Arial"/>
              </a:rPr>
              <a:t>to</a:t>
            </a:r>
            <a:r>
              <a:rPr sz="1000" spc="-5" dirty="0">
                <a:latin typeface="Arial"/>
                <a:cs typeface="Arial"/>
              </a:rPr>
              <a:t> </a:t>
            </a:r>
            <a:r>
              <a:rPr sz="1000" spc="-10" dirty="0">
                <a:latin typeface="Arial"/>
                <a:cs typeface="Arial"/>
              </a:rPr>
              <a:t>other</a:t>
            </a:r>
            <a:r>
              <a:rPr sz="1000" spc="-5" dirty="0">
                <a:latin typeface="Arial"/>
                <a:cs typeface="Arial"/>
              </a:rPr>
              <a:t> </a:t>
            </a:r>
            <a:r>
              <a:rPr sz="1000" spc="-10" dirty="0">
                <a:latin typeface="Arial"/>
                <a:cs typeface="Arial"/>
              </a:rPr>
              <a:t>copies:</a:t>
            </a:r>
            <a:r>
              <a:rPr sz="1000" spc="60" dirty="0">
                <a:latin typeface="Arial"/>
                <a:cs typeface="Arial"/>
              </a:rPr>
              <a:t> </a:t>
            </a:r>
            <a:r>
              <a:rPr sz="1000" spc="-15" dirty="0">
                <a:solidFill>
                  <a:srgbClr val="FA0000"/>
                </a:solidFill>
                <a:latin typeface="Arial"/>
                <a:cs typeface="Arial"/>
              </a:rPr>
              <a:t>active</a:t>
            </a:r>
            <a:r>
              <a:rPr sz="1000" dirty="0">
                <a:solidFill>
                  <a:srgbClr val="FA0000"/>
                </a:solidFill>
                <a:latin typeface="Arial"/>
                <a:cs typeface="Arial"/>
              </a:rPr>
              <a:t> </a:t>
            </a:r>
            <a:r>
              <a:rPr sz="1000" spc="-10" dirty="0">
                <a:solidFill>
                  <a:srgbClr val="FA0000"/>
                </a:solidFill>
                <a:latin typeface="Arial"/>
                <a:cs typeface="Arial"/>
              </a:rPr>
              <a:t>replication</a:t>
            </a:r>
            <a:endParaRPr sz="1000" dirty="0">
              <a:latin typeface="Arial"/>
              <a:cs typeface="Arial"/>
            </a:endParaRPr>
          </a:p>
          <a:p>
            <a:pPr>
              <a:lnSpc>
                <a:spcPct val="100000"/>
              </a:lnSpc>
              <a:spcBef>
                <a:spcPts val="15"/>
              </a:spcBef>
            </a:pPr>
            <a:endParaRPr sz="1300" dirty="0">
              <a:latin typeface="Arial"/>
              <a:cs typeface="Arial"/>
            </a:endParaRPr>
          </a:p>
          <a:p>
            <a:pPr marL="50800">
              <a:lnSpc>
                <a:spcPts val="1410"/>
              </a:lnSpc>
            </a:pPr>
            <a:r>
              <a:rPr sz="1200" spc="-5" dirty="0">
                <a:solidFill>
                  <a:srgbClr val="FA0000"/>
                </a:solidFill>
                <a:latin typeface="Arial"/>
                <a:cs typeface="Arial"/>
              </a:rPr>
              <a:t>Note</a:t>
            </a:r>
            <a:endParaRPr sz="1200" dirty="0">
              <a:latin typeface="Arial"/>
              <a:cs typeface="Arial"/>
            </a:endParaRPr>
          </a:p>
          <a:p>
            <a:pPr marL="50800" marR="396875">
              <a:lnSpc>
                <a:spcPts val="1200"/>
              </a:lnSpc>
              <a:spcBef>
                <a:spcPts val="15"/>
              </a:spcBef>
            </a:pPr>
            <a:r>
              <a:rPr sz="1000" spc="-5" dirty="0">
                <a:latin typeface="Arial"/>
                <a:cs typeface="Arial"/>
              </a:rPr>
              <a:t>No single</a:t>
            </a:r>
            <a:r>
              <a:rPr sz="1000" dirty="0">
                <a:latin typeface="Arial"/>
                <a:cs typeface="Arial"/>
              </a:rPr>
              <a:t> </a:t>
            </a:r>
            <a:r>
              <a:rPr sz="1000" spc="-5" dirty="0">
                <a:latin typeface="Arial"/>
                <a:cs typeface="Arial"/>
              </a:rPr>
              <a:t>approach</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the best,</a:t>
            </a:r>
            <a:r>
              <a:rPr sz="1000" dirty="0">
                <a:latin typeface="Arial"/>
                <a:cs typeface="Arial"/>
              </a:rPr>
              <a:t> </a:t>
            </a:r>
            <a:r>
              <a:rPr sz="1000" spc="-10" dirty="0">
                <a:latin typeface="Arial"/>
                <a:cs typeface="Arial"/>
              </a:rPr>
              <a:t>but</a:t>
            </a:r>
            <a:r>
              <a:rPr sz="1000" dirty="0">
                <a:latin typeface="Arial"/>
                <a:cs typeface="Arial"/>
              </a:rPr>
              <a:t> </a:t>
            </a:r>
            <a:r>
              <a:rPr sz="1000" spc="-5" dirty="0">
                <a:latin typeface="Arial"/>
                <a:cs typeface="Arial"/>
              </a:rPr>
              <a:t>depends</a:t>
            </a:r>
            <a:r>
              <a:rPr sz="1000" dirty="0">
                <a:latin typeface="Arial"/>
                <a:cs typeface="Arial"/>
              </a:rPr>
              <a:t> </a:t>
            </a:r>
            <a:r>
              <a:rPr sz="1000" spc="-5" dirty="0">
                <a:latin typeface="Arial"/>
                <a:cs typeface="Arial"/>
              </a:rPr>
              <a:t>highly</a:t>
            </a:r>
            <a:r>
              <a:rPr sz="1000" dirty="0">
                <a:latin typeface="Arial"/>
                <a:cs typeface="Arial"/>
              </a:rPr>
              <a:t> </a:t>
            </a:r>
            <a:r>
              <a:rPr sz="1000" spc="-5" dirty="0">
                <a:latin typeface="Arial"/>
                <a:cs typeface="Arial"/>
              </a:rPr>
              <a:t>on </a:t>
            </a:r>
            <a:r>
              <a:rPr sz="1000" spc="-10" dirty="0">
                <a:latin typeface="Arial"/>
                <a:cs typeface="Arial"/>
              </a:rPr>
              <a:t>available </a:t>
            </a:r>
            <a:r>
              <a:rPr sz="1000" spc="-260" dirty="0">
                <a:latin typeface="Arial"/>
                <a:cs typeface="Arial"/>
              </a:rPr>
              <a:t> </a:t>
            </a:r>
            <a:r>
              <a:rPr sz="1000" spc="-5" dirty="0">
                <a:latin typeface="Arial"/>
                <a:cs typeface="Arial"/>
              </a:rPr>
              <a:t>bandwidth and read-to-write ratio at replicas.</a:t>
            </a:r>
            <a:endParaRPr sz="1000" dirty="0">
              <a:latin typeface="Arial"/>
              <a:cs typeface="Arial"/>
            </a:endParaRPr>
          </a:p>
        </p:txBody>
      </p:sp>
      <p:sp>
        <p:nvSpPr>
          <p:cNvPr id="6" name="object 6"/>
          <p:cNvSpPr txBox="1"/>
          <p:nvPr/>
        </p:nvSpPr>
        <p:spPr>
          <a:xfrm>
            <a:off x="66713" y="3327684"/>
            <a:ext cx="8204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5" action="ppaction://hlinksldjump"/>
              </a:rPr>
              <a:t>State</a:t>
            </a:r>
            <a:r>
              <a:rPr sz="600" spc="-2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versus</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operations</a:t>
            </a:r>
            <a:endParaRPr sz="600">
              <a:latin typeface="Arial"/>
              <a:cs typeface="Arial"/>
            </a:endParaRPr>
          </a:p>
        </p:txBody>
      </p:sp>
      <p:sp>
        <p:nvSpPr>
          <p:cNvPr id="7" name="object 7"/>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28</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9099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Pull</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versus</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push</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protocols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29</a:t>
            </a:r>
            <a:r>
              <a:rPr spc="-40" dirty="0"/>
              <a:t> </a:t>
            </a:r>
            <a:r>
              <a:rPr spc="-5" dirty="0"/>
              <a:t>/</a:t>
            </a:r>
            <a:r>
              <a:rPr spc="-35" dirty="0"/>
              <a:t> </a:t>
            </a:r>
            <a:r>
              <a:rPr spc="-5" dirty="0"/>
              <a:t>37</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08095" algn="l"/>
              </a:tabLst>
            </a:pPr>
            <a:r>
              <a:rPr sz="600" spc="-5" dirty="0">
                <a:solidFill>
                  <a:srgbClr val="3333B2"/>
                </a:solidFill>
                <a:latin typeface="Arial"/>
                <a:cs typeface="Arial"/>
                <a:hlinkClick r:id="rId4" action="ppaction://hlinksldjump"/>
              </a:rPr>
              <a:t>Consistency and replication:</a:t>
            </a:r>
            <a:r>
              <a:rPr sz="600" dirty="0">
                <a:solidFill>
                  <a:srgbClr val="3333B2"/>
                </a:solidFill>
                <a:latin typeface="Arial"/>
                <a:cs typeface="Arial"/>
              </a:rPr>
              <a:t> </a:t>
            </a:r>
            <a:r>
              <a:rPr sz="600" spc="-25" dirty="0">
                <a:solidFill>
                  <a:srgbClr val="3333B2"/>
                </a:solidFill>
                <a:latin typeface="Arial"/>
                <a:cs typeface="Arial"/>
              </a:rPr>
              <a:t> </a:t>
            </a:r>
            <a:r>
              <a:rPr sz="600" spc="-5" dirty="0">
                <a:solidFill>
                  <a:srgbClr val="3333B2"/>
                </a:solidFill>
                <a:latin typeface="Arial"/>
                <a:cs typeface="Arial"/>
                <a:hlinkClick r:id="rId5" action="ppaction://hlinksldjump"/>
              </a:rPr>
              <a:t>Replica management</a:t>
            </a:r>
            <a:r>
              <a:rPr sz="600" dirty="0">
                <a:solidFill>
                  <a:srgbClr val="3333B2"/>
                </a:solidFill>
                <a:latin typeface="Arial"/>
                <a:cs typeface="Arial"/>
              </a:rPr>
              <a:t>	</a:t>
            </a:r>
            <a:r>
              <a:rPr sz="600" spc="-5" dirty="0">
                <a:solidFill>
                  <a:srgbClr val="262685"/>
                </a:solidFill>
                <a:latin typeface="Arial"/>
                <a:cs typeface="Arial"/>
                <a:hlinkClick r:id="rId6" action="ppaction://hlinksldjump"/>
              </a:rPr>
              <a:t>Content dist</a:t>
            </a:r>
            <a:r>
              <a:rPr sz="600" dirty="0">
                <a:solidFill>
                  <a:srgbClr val="262685"/>
                </a:solidFill>
                <a:latin typeface="Arial"/>
                <a:cs typeface="Arial"/>
                <a:hlinkClick r:id="rId6" action="ppaction://hlinksldjump"/>
              </a:rPr>
              <a:t>r</a:t>
            </a:r>
            <a:r>
              <a:rPr sz="600" spc="-5" dirty="0">
                <a:solidFill>
                  <a:srgbClr val="262685"/>
                </a:solidFill>
                <a:latin typeface="Arial"/>
                <a:cs typeface="Arial"/>
                <a:hlinkClick r:id="rId6" action="ppaction://hlinksldjump"/>
              </a:rPr>
              <a:t>i</a:t>
            </a:r>
            <a:r>
              <a:rPr sz="600" spc="-20" dirty="0">
                <a:solidFill>
                  <a:srgbClr val="262685"/>
                </a:solidFill>
                <a:latin typeface="Arial"/>
                <a:cs typeface="Arial"/>
                <a:hlinkClick r:id="rId6" action="ppaction://hlinksldjump"/>
              </a:rPr>
              <a:t>b</a:t>
            </a:r>
            <a:r>
              <a:rPr sz="600" spc="-5" dirty="0">
                <a:solidFill>
                  <a:srgbClr val="262685"/>
                </a:solidFill>
                <a:latin typeface="Arial"/>
                <a:cs typeface="Arial"/>
                <a:hlinkClick r:id="rId6" action="ppaction://hlinksldjump"/>
              </a:rPr>
              <a:t>ution</a:t>
            </a:r>
            <a:endParaRPr sz="600">
              <a:latin typeface="Arial"/>
              <a:cs typeface="Arial"/>
            </a:endParaRPr>
          </a:p>
        </p:txBody>
      </p:sp>
      <p:sp>
        <p:nvSpPr>
          <p:cNvPr id="3" name="object 3"/>
          <p:cNvSpPr txBox="1">
            <a:spLocks noGrp="1"/>
          </p:cNvSpPr>
          <p:nvPr>
            <p:ph type="title"/>
          </p:nvPr>
        </p:nvSpPr>
        <p:spPr>
          <a:xfrm>
            <a:off x="95300" y="188846"/>
            <a:ext cx="3318510" cy="244475"/>
          </a:xfrm>
          <a:prstGeom prst="rect">
            <a:avLst/>
          </a:prstGeom>
        </p:spPr>
        <p:txBody>
          <a:bodyPr vert="horz" wrap="square" lIns="0" tIns="17145" rIns="0" bIns="0" rtlCol="0">
            <a:spAutoFit/>
          </a:bodyPr>
          <a:lstStyle/>
          <a:p>
            <a:pPr marL="12700">
              <a:lnSpc>
                <a:spcPct val="100000"/>
              </a:lnSpc>
              <a:spcBef>
                <a:spcPts val="135"/>
              </a:spcBef>
            </a:pPr>
            <a:r>
              <a:rPr spc="15" dirty="0"/>
              <a:t>Content</a:t>
            </a:r>
            <a:r>
              <a:rPr spc="10" dirty="0"/>
              <a:t> distribution:</a:t>
            </a:r>
            <a:r>
              <a:rPr spc="110" dirty="0"/>
              <a:t> </a:t>
            </a:r>
            <a:r>
              <a:rPr spc="10" dirty="0"/>
              <a:t>client/server </a:t>
            </a:r>
            <a:r>
              <a:rPr spc="15" dirty="0"/>
              <a:t>system</a:t>
            </a:r>
          </a:p>
        </p:txBody>
      </p:sp>
      <p:sp>
        <p:nvSpPr>
          <p:cNvPr id="4" name="object 4"/>
          <p:cNvSpPr txBox="1"/>
          <p:nvPr/>
        </p:nvSpPr>
        <p:spPr>
          <a:xfrm>
            <a:off x="329590" y="441335"/>
            <a:ext cx="3943350" cy="1344930"/>
          </a:xfrm>
          <a:prstGeom prst="rect">
            <a:avLst/>
          </a:prstGeom>
        </p:spPr>
        <p:txBody>
          <a:bodyPr vert="horz" wrap="square" lIns="0" tIns="22860" rIns="0" bIns="0" rtlCol="0">
            <a:spAutoFit/>
          </a:bodyPr>
          <a:lstStyle/>
          <a:p>
            <a:pPr marL="29845" marR="421005" indent="-5080">
              <a:lnSpc>
                <a:spcPts val="1390"/>
              </a:lnSpc>
              <a:spcBef>
                <a:spcPts val="180"/>
              </a:spcBef>
            </a:pPr>
            <a:r>
              <a:rPr sz="1200" spc="-5" dirty="0">
                <a:solidFill>
                  <a:srgbClr val="3333B2"/>
                </a:solidFill>
                <a:latin typeface="Arial"/>
                <a:cs typeface="Arial"/>
              </a:rPr>
              <a:t>A comparison between push-based and pull-based </a:t>
            </a:r>
            <a:r>
              <a:rPr sz="1200" dirty="0">
                <a:solidFill>
                  <a:srgbClr val="3333B2"/>
                </a:solidFill>
                <a:latin typeface="Arial"/>
                <a:cs typeface="Arial"/>
              </a:rPr>
              <a:t> </a:t>
            </a:r>
            <a:r>
              <a:rPr sz="1200" spc="-5" dirty="0">
                <a:solidFill>
                  <a:srgbClr val="3333B2"/>
                </a:solidFill>
                <a:latin typeface="Arial"/>
                <a:cs typeface="Arial"/>
              </a:rPr>
              <a:t>protocols</a:t>
            </a:r>
            <a:r>
              <a:rPr sz="1200" dirty="0">
                <a:solidFill>
                  <a:srgbClr val="3333B2"/>
                </a:solidFill>
                <a:latin typeface="Arial"/>
                <a:cs typeface="Arial"/>
              </a:rPr>
              <a:t> </a:t>
            </a:r>
            <a:r>
              <a:rPr sz="1200" spc="-5" dirty="0">
                <a:solidFill>
                  <a:srgbClr val="3333B2"/>
                </a:solidFill>
                <a:latin typeface="Arial"/>
                <a:cs typeface="Arial"/>
              </a:rPr>
              <a:t>in</a:t>
            </a:r>
            <a:r>
              <a:rPr sz="1200" dirty="0">
                <a:solidFill>
                  <a:srgbClr val="3333B2"/>
                </a:solidFill>
                <a:latin typeface="Arial"/>
                <a:cs typeface="Arial"/>
              </a:rPr>
              <a:t> </a:t>
            </a:r>
            <a:r>
              <a:rPr sz="1200" spc="-5" dirty="0">
                <a:solidFill>
                  <a:srgbClr val="3333B2"/>
                </a:solidFill>
                <a:latin typeface="Arial"/>
                <a:cs typeface="Arial"/>
              </a:rPr>
              <a:t>the</a:t>
            </a:r>
            <a:r>
              <a:rPr sz="1200" dirty="0">
                <a:solidFill>
                  <a:srgbClr val="3333B2"/>
                </a:solidFill>
                <a:latin typeface="Arial"/>
                <a:cs typeface="Arial"/>
              </a:rPr>
              <a:t> </a:t>
            </a:r>
            <a:r>
              <a:rPr sz="1200" spc="-5" dirty="0">
                <a:solidFill>
                  <a:srgbClr val="3333B2"/>
                </a:solidFill>
                <a:latin typeface="Arial"/>
                <a:cs typeface="Arial"/>
              </a:rPr>
              <a:t>case</a:t>
            </a:r>
            <a:r>
              <a:rPr sz="1200" dirty="0">
                <a:solidFill>
                  <a:srgbClr val="3333B2"/>
                </a:solidFill>
                <a:latin typeface="Arial"/>
                <a:cs typeface="Arial"/>
              </a:rPr>
              <a:t> </a:t>
            </a:r>
            <a:r>
              <a:rPr sz="1200" spc="-5" dirty="0">
                <a:solidFill>
                  <a:srgbClr val="3333B2"/>
                </a:solidFill>
                <a:latin typeface="Arial"/>
                <a:cs typeface="Arial"/>
              </a:rPr>
              <a:t>of</a:t>
            </a:r>
            <a:r>
              <a:rPr sz="1200" dirty="0">
                <a:solidFill>
                  <a:srgbClr val="3333B2"/>
                </a:solidFill>
                <a:latin typeface="Arial"/>
                <a:cs typeface="Arial"/>
              </a:rPr>
              <a:t> </a:t>
            </a:r>
            <a:r>
              <a:rPr sz="1200" spc="-5" dirty="0">
                <a:solidFill>
                  <a:srgbClr val="3333B2"/>
                </a:solidFill>
                <a:latin typeface="Arial"/>
                <a:cs typeface="Arial"/>
              </a:rPr>
              <a:t>multiple-client,</a:t>
            </a:r>
            <a:r>
              <a:rPr sz="1200" dirty="0">
                <a:solidFill>
                  <a:srgbClr val="3333B2"/>
                </a:solidFill>
                <a:latin typeface="Arial"/>
                <a:cs typeface="Arial"/>
              </a:rPr>
              <a:t> </a:t>
            </a:r>
            <a:r>
              <a:rPr sz="1200" spc="-5" dirty="0">
                <a:solidFill>
                  <a:srgbClr val="3333B2"/>
                </a:solidFill>
                <a:latin typeface="Arial"/>
                <a:cs typeface="Arial"/>
              </a:rPr>
              <a:t>single-server </a:t>
            </a:r>
            <a:r>
              <a:rPr sz="1200" spc="-315" dirty="0">
                <a:solidFill>
                  <a:srgbClr val="3333B2"/>
                </a:solidFill>
                <a:latin typeface="Arial"/>
                <a:cs typeface="Arial"/>
              </a:rPr>
              <a:t> </a:t>
            </a:r>
            <a:r>
              <a:rPr sz="1200" spc="-5" dirty="0">
                <a:solidFill>
                  <a:srgbClr val="3333B2"/>
                </a:solidFill>
                <a:latin typeface="Arial"/>
                <a:cs typeface="Arial"/>
              </a:rPr>
              <a:t>systems</a:t>
            </a:r>
            <a:endParaRPr sz="1200">
              <a:latin typeface="Arial"/>
              <a:cs typeface="Arial"/>
            </a:endParaRPr>
          </a:p>
          <a:p>
            <a:pPr marL="307340" marR="137795" indent="-168275">
              <a:lnSpc>
                <a:spcPct val="100000"/>
              </a:lnSpc>
              <a:spcBef>
                <a:spcPts val="750"/>
              </a:spcBef>
              <a:buClr>
                <a:srgbClr val="3333B2"/>
              </a:buClr>
              <a:buChar char="►"/>
              <a:tabLst>
                <a:tab pos="307975" algn="l"/>
              </a:tabLst>
            </a:pPr>
            <a:r>
              <a:rPr sz="1000" spc="-5" dirty="0">
                <a:solidFill>
                  <a:srgbClr val="FA0000"/>
                </a:solidFill>
                <a:latin typeface="Arial"/>
                <a:cs typeface="Arial"/>
              </a:rPr>
              <a:t>Pushing</a:t>
            </a:r>
            <a:r>
              <a:rPr sz="1000" spc="5" dirty="0">
                <a:solidFill>
                  <a:srgbClr val="FA0000"/>
                </a:solidFill>
                <a:latin typeface="Arial"/>
                <a:cs typeface="Arial"/>
              </a:rPr>
              <a:t> </a:t>
            </a:r>
            <a:r>
              <a:rPr sz="1000" spc="-5" dirty="0">
                <a:solidFill>
                  <a:srgbClr val="FA0000"/>
                </a:solidFill>
                <a:latin typeface="Arial"/>
                <a:cs typeface="Arial"/>
              </a:rPr>
              <a:t>updates</a:t>
            </a:r>
            <a:r>
              <a:rPr sz="1000" spc="-5" dirty="0">
                <a:latin typeface="Arial"/>
                <a:cs typeface="Arial"/>
              </a:rPr>
              <a:t>:</a:t>
            </a:r>
            <a:r>
              <a:rPr sz="1000" spc="70" dirty="0">
                <a:latin typeface="Arial"/>
                <a:cs typeface="Arial"/>
              </a:rPr>
              <a:t> </a:t>
            </a:r>
            <a:r>
              <a:rPr sz="1000" spc="-5" dirty="0">
                <a:solidFill>
                  <a:srgbClr val="0000FA"/>
                </a:solidFill>
                <a:latin typeface="Arial"/>
                <a:cs typeface="Arial"/>
              </a:rPr>
              <a:t>server-initiated</a:t>
            </a:r>
            <a:r>
              <a:rPr sz="1000" spc="5" dirty="0">
                <a:solidFill>
                  <a:srgbClr val="0000FA"/>
                </a:solidFill>
                <a:latin typeface="Arial"/>
                <a:cs typeface="Arial"/>
              </a:rPr>
              <a:t> </a:t>
            </a:r>
            <a:r>
              <a:rPr sz="1000" spc="-5" dirty="0">
                <a:solidFill>
                  <a:srgbClr val="0000FA"/>
                </a:solidFill>
                <a:latin typeface="Arial"/>
                <a:cs typeface="Arial"/>
              </a:rPr>
              <a:t>approach</a:t>
            </a:r>
            <a:r>
              <a:rPr sz="1000" spc="-5" dirty="0">
                <a:latin typeface="Arial"/>
                <a:cs typeface="Arial"/>
              </a:rPr>
              <a:t>,</a:t>
            </a:r>
            <a:r>
              <a:rPr sz="1000" spc="5"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which</a:t>
            </a:r>
            <a:r>
              <a:rPr sz="1000" spc="5" dirty="0">
                <a:latin typeface="Arial"/>
                <a:cs typeface="Arial"/>
              </a:rPr>
              <a:t> </a:t>
            </a:r>
            <a:r>
              <a:rPr sz="1000" spc="-5" dirty="0">
                <a:latin typeface="Arial"/>
                <a:cs typeface="Arial"/>
              </a:rPr>
              <a:t>update</a:t>
            </a:r>
            <a:r>
              <a:rPr sz="1000" spc="5" dirty="0">
                <a:latin typeface="Arial"/>
                <a:cs typeface="Arial"/>
              </a:rPr>
              <a:t> </a:t>
            </a:r>
            <a:r>
              <a:rPr sz="1000" spc="-5" dirty="0">
                <a:latin typeface="Arial"/>
                <a:cs typeface="Arial"/>
              </a:rPr>
              <a:t>is </a:t>
            </a:r>
            <a:r>
              <a:rPr sz="1000" spc="-260" dirty="0">
                <a:latin typeface="Arial"/>
                <a:cs typeface="Arial"/>
              </a:rPr>
              <a:t> </a:t>
            </a:r>
            <a:r>
              <a:rPr sz="1000" spc="-5" dirty="0">
                <a:latin typeface="Arial"/>
                <a:cs typeface="Arial"/>
              </a:rPr>
              <a:t>propagated regardless whether</a:t>
            </a:r>
            <a:r>
              <a:rPr sz="1000" dirty="0">
                <a:latin typeface="Arial"/>
                <a:cs typeface="Arial"/>
              </a:rPr>
              <a:t> </a:t>
            </a:r>
            <a:r>
              <a:rPr sz="1000" spc="-5" dirty="0">
                <a:latin typeface="Arial"/>
                <a:cs typeface="Arial"/>
              </a:rPr>
              <a:t>target </a:t>
            </a:r>
            <a:r>
              <a:rPr sz="1000" spc="-10" dirty="0">
                <a:latin typeface="Arial"/>
                <a:cs typeface="Arial"/>
              </a:rPr>
              <a:t>asked</a:t>
            </a:r>
            <a:r>
              <a:rPr sz="1000" spc="-5"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it.</a:t>
            </a:r>
            <a:endParaRPr sz="1000">
              <a:latin typeface="Arial"/>
              <a:cs typeface="Arial"/>
            </a:endParaRPr>
          </a:p>
          <a:p>
            <a:pPr marL="307340" marR="17780" indent="-168275">
              <a:lnSpc>
                <a:spcPct val="100000"/>
              </a:lnSpc>
              <a:spcBef>
                <a:spcPts val="590"/>
              </a:spcBef>
              <a:buClr>
                <a:srgbClr val="3333B2"/>
              </a:buClr>
              <a:buChar char="►"/>
              <a:tabLst>
                <a:tab pos="307975" algn="l"/>
              </a:tabLst>
            </a:pPr>
            <a:r>
              <a:rPr sz="1000" spc="-10" dirty="0">
                <a:solidFill>
                  <a:srgbClr val="FA0000"/>
                </a:solidFill>
                <a:latin typeface="Arial"/>
                <a:cs typeface="Arial"/>
              </a:rPr>
              <a:t>Pulling</a:t>
            </a:r>
            <a:r>
              <a:rPr sz="1000" spc="-5" dirty="0">
                <a:solidFill>
                  <a:srgbClr val="FA0000"/>
                </a:solidFill>
                <a:latin typeface="Arial"/>
                <a:cs typeface="Arial"/>
              </a:rPr>
              <a:t> </a:t>
            </a:r>
            <a:r>
              <a:rPr sz="1000" spc="-10" dirty="0">
                <a:solidFill>
                  <a:srgbClr val="FA0000"/>
                </a:solidFill>
                <a:latin typeface="Arial"/>
                <a:cs typeface="Arial"/>
              </a:rPr>
              <a:t>updates</a:t>
            </a:r>
            <a:r>
              <a:rPr sz="1000" spc="-10" dirty="0">
                <a:latin typeface="Arial"/>
                <a:cs typeface="Arial"/>
              </a:rPr>
              <a:t>:</a:t>
            </a:r>
            <a:r>
              <a:rPr sz="1000" spc="70" dirty="0">
                <a:latin typeface="Arial"/>
                <a:cs typeface="Arial"/>
              </a:rPr>
              <a:t> </a:t>
            </a:r>
            <a:r>
              <a:rPr sz="1000" spc="-10" dirty="0">
                <a:solidFill>
                  <a:srgbClr val="0000FA"/>
                </a:solidFill>
                <a:latin typeface="Arial"/>
                <a:cs typeface="Arial"/>
              </a:rPr>
              <a:t>client-initiated</a:t>
            </a:r>
            <a:r>
              <a:rPr sz="1000" dirty="0">
                <a:solidFill>
                  <a:srgbClr val="0000FA"/>
                </a:solidFill>
                <a:latin typeface="Arial"/>
                <a:cs typeface="Arial"/>
              </a:rPr>
              <a:t> </a:t>
            </a:r>
            <a:r>
              <a:rPr sz="1000" spc="-10" dirty="0">
                <a:solidFill>
                  <a:srgbClr val="0000FA"/>
                </a:solidFill>
                <a:latin typeface="Arial"/>
                <a:cs typeface="Arial"/>
              </a:rPr>
              <a:t>approach</a:t>
            </a:r>
            <a:r>
              <a:rPr sz="1000" spc="-10" dirty="0">
                <a:latin typeface="Arial"/>
                <a:cs typeface="Arial"/>
              </a:rPr>
              <a:t>,</a:t>
            </a:r>
            <a:r>
              <a:rPr sz="1000" dirty="0">
                <a:latin typeface="Arial"/>
                <a:cs typeface="Arial"/>
              </a:rPr>
              <a:t> </a:t>
            </a:r>
            <a:r>
              <a:rPr sz="1000" spc="-10" dirty="0">
                <a:latin typeface="Arial"/>
                <a:cs typeface="Arial"/>
              </a:rPr>
              <a:t>in</a:t>
            </a:r>
            <a:r>
              <a:rPr sz="1000" dirty="0">
                <a:latin typeface="Arial"/>
                <a:cs typeface="Arial"/>
              </a:rPr>
              <a:t> </a:t>
            </a:r>
            <a:r>
              <a:rPr sz="1000" spc="-10" dirty="0">
                <a:latin typeface="Arial"/>
                <a:cs typeface="Arial"/>
              </a:rPr>
              <a:t>which</a:t>
            </a:r>
            <a:r>
              <a:rPr sz="1000" spc="-5" dirty="0">
                <a:latin typeface="Arial"/>
                <a:cs typeface="Arial"/>
              </a:rPr>
              <a:t> </a:t>
            </a:r>
            <a:r>
              <a:rPr sz="1000" spc="-10" dirty="0">
                <a:latin typeface="Arial"/>
                <a:cs typeface="Arial"/>
              </a:rPr>
              <a:t>client</a:t>
            </a:r>
            <a:r>
              <a:rPr sz="1000" dirty="0">
                <a:latin typeface="Arial"/>
                <a:cs typeface="Arial"/>
              </a:rPr>
              <a:t> </a:t>
            </a:r>
            <a:r>
              <a:rPr sz="1000" spc="-10" dirty="0">
                <a:latin typeface="Arial"/>
                <a:cs typeface="Arial"/>
              </a:rPr>
              <a:t>requests </a:t>
            </a:r>
            <a:r>
              <a:rPr sz="1000" spc="-260" dirty="0">
                <a:latin typeface="Arial"/>
                <a:cs typeface="Arial"/>
              </a:rPr>
              <a:t> </a:t>
            </a:r>
            <a:r>
              <a:rPr sz="1000" spc="-5" dirty="0">
                <a:latin typeface="Arial"/>
                <a:cs typeface="Arial"/>
              </a:rPr>
              <a:t>to</a:t>
            </a:r>
            <a:r>
              <a:rPr sz="1000" spc="-10" dirty="0">
                <a:latin typeface="Arial"/>
                <a:cs typeface="Arial"/>
              </a:rPr>
              <a:t> </a:t>
            </a:r>
            <a:r>
              <a:rPr sz="1000" spc="-5" dirty="0">
                <a:latin typeface="Arial"/>
                <a:cs typeface="Arial"/>
              </a:rPr>
              <a:t>be updated.</a:t>
            </a:r>
            <a:endParaRPr sz="1000">
              <a:latin typeface="Arial"/>
              <a:cs typeface="Arial"/>
            </a:endParaRPr>
          </a:p>
        </p:txBody>
      </p:sp>
      <p:graphicFrame>
        <p:nvGraphicFramePr>
          <p:cNvPr id="5" name="object 5"/>
          <p:cNvGraphicFramePr>
            <a:graphicFrameLocks noGrp="1"/>
          </p:cNvGraphicFramePr>
          <p:nvPr/>
        </p:nvGraphicFramePr>
        <p:xfrm>
          <a:off x="592810" y="1900796"/>
          <a:ext cx="3417568" cy="1191895"/>
        </p:xfrm>
        <a:graphic>
          <a:graphicData uri="http://schemas.openxmlformats.org/drawingml/2006/table">
            <a:tbl>
              <a:tblPr firstRow="1" bandRow="1">
                <a:tableStyleId>{2D5ABB26-0587-4C30-8999-92F81FD0307C}</a:tableStyleId>
              </a:tblPr>
              <a:tblGrid>
                <a:gridCol w="429259">
                  <a:extLst>
                    <a:ext uri="{9D8B030D-6E8A-4147-A177-3AD203B41FA5}">
                      <a16:colId xmlns:a16="http://schemas.microsoft.com/office/drawing/2014/main" val="20000"/>
                    </a:ext>
                  </a:extLst>
                </a:gridCol>
                <a:gridCol w="1917064">
                  <a:extLst>
                    <a:ext uri="{9D8B030D-6E8A-4147-A177-3AD203B41FA5}">
                      <a16:colId xmlns:a16="http://schemas.microsoft.com/office/drawing/2014/main" val="20001"/>
                    </a:ext>
                  </a:extLst>
                </a:gridCol>
                <a:gridCol w="1071245">
                  <a:extLst>
                    <a:ext uri="{9D8B030D-6E8A-4147-A177-3AD203B41FA5}">
                      <a16:colId xmlns:a16="http://schemas.microsoft.com/office/drawing/2014/main" val="20002"/>
                    </a:ext>
                  </a:extLst>
                </a:gridCol>
              </a:tblGrid>
              <a:tr h="171450">
                <a:tc>
                  <a:txBody>
                    <a:bodyPr/>
                    <a:lstStyle/>
                    <a:p>
                      <a:pPr marL="78105">
                        <a:lnSpc>
                          <a:spcPct val="100000"/>
                        </a:lnSpc>
                        <a:spcBef>
                          <a:spcPts val="40"/>
                        </a:spcBef>
                      </a:pPr>
                      <a:r>
                        <a:rPr sz="900" spc="-5" dirty="0">
                          <a:solidFill>
                            <a:srgbClr val="0000FA"/>
                          </a:solidFill>
                          <a:latin typeface="Arial"/>
                          <a:cs typeface="Arial"/>
                        </a:rPr>
                        <a:t>Issue</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0"/>
                        </a:spcBef>
                      </a:pPr>
                      <a:r>
                        <a:rPr sz="900" spc="-5" dirty="0">
                          <a:solidFill>
                            <a:srgbClr val="0000FA"/>
                          </a:solidFill>
                          <a:latin typeface="Arial"/>
                          <a:cs typeface="Arial"/>
                        </a:rPr>
                        <a:t>Push-based</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0"/>
                        </a:spcBef>
                      </a:pPr>
                      <a:r>
                        <a:rPr sz="900" spc="-5" dirty="0">
                          <a:solidFill>
                            <a:srgbClr val="0000FA"/>
                          </a:solidFill>
                          <a:latin typeface="Arial"/>
                          <a:cs typeface="Arial"/>
                        </a:rPr>
                        <a:t>Pull-based</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1450">
                <a:tc>
                  <a:txBody>
                    <a:bodyPr/>
                    <a:lstStyle/>
                    <a:p>
                      <a:pPr marL="78105">
                        <a:lnSpc>
                          <a:spcPct val="100000"/>
                        </a:lnSpc>
                        <a:spcBef>
                          <a:spcPts val="40"/>
                        </a:spcBef>
                      </a:pPr>
                      <a:r>
                        <a:rPr sz="900" spc="-5" dirty="0">
                          <a:latin typeface="Arial"/>
                          <a:cs typeface="Arial"/>
                        </a:rPr>
                        <a:t>1:</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0"/>
                        </a:spcBef>
                      </a:pPr>
                      <a:r>
                        <a:rPr sz="900" spc="-5" dirty="0">
                          <a:latin typeface="Arial"/>
                          <a:cs typeface="Arial"/>
                        </a:rPr>
                        <a:t>List</a:t>
                      </a:r>
                      <a:r>
                        <a:rPr sz="900" spc="-15" dirty="0">
                          <a:latin typeface="Arial"/>
                          <a:cs typeface="Arial"/>
                        </a:rPr>
                        <a:t> </a:t>
                      </a:r>
                      <a:r>
                        <a:rPr sz="900" spc="-5" dirty="0">
                          <a:latin typeface="Arial"/>
                          <a:cs typeface="Arial"/>
                        </a:rPr>
                        <a:t>of</a:t>
                      </a:r>
                      <a:r>
                        <a:rPr sz="900" spc="-15" dirty="0">
                          <a:latin typeface="Arial"/>
                          <a:cs typeface="Arial"/>
                        </a:rPr>
                        <a:t> </a:t>
                      </a:r>
                      <a:r>
                        <a:rPr sz="900" spc="-5" dirty="0">
                          <a:latin typeface="Arial"/>
                          <a:cs typeface="Arial"/>
                        </a:rPr>
                        <a:t>client</a:t>
                      </a:r>
                      <a:r>
                        <a:rPr sz="900" spc="-15" dirty="0">
                          <a:latin typeface="Arial"/>
                          <a:cs typeface="Arial"/>
                        </a:rPr>
                        <a:t> </a:t>
                      </a:r>
                      <a:r>
                        <a:rPr sz="900" spc="-5" dirty="0">
                          <a:latin typeface="Arial"/>
                          <a:cs typeface="Arial"/>
                        </a:rPr>
                        <a:t>caches</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0"/>
                        </a:spcBef>
                      </a:pPr>
                      <a:r>
                        <a:rPr sz="900" spc="-5" dirty="0">
                          <a:latin typeface="Arial"/>
                          <a:cs typeface="Arial"/>
                        </a:rPr>
                        <a:t>None</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71450">
                <a:tc>
                  <a:txBody>
                    <a:bodyPr/>
                    <a:lstStyle/>
                    <a:p>
                      <a:pPr marL="78105">
                        <a:lnSpc>
                          <a:spcPct val="100000"/>
                        </a:lnSpc>
                        <a:spcBef>
                          <a:spcPts val="40"/>
                        </a:spcBef>
                      </a:pPr>
                      <a:r>
                        <a:rPr sz="900" spc="-5" dirty="0">
                          <a:latin typeface="Arial"/>
                          <a:cs typeface="Arial"/>
                        </a:rPr>
                        <a:t>2:</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0"/>
                        </a:spcBef>
                      </a:pPr>
                      <a:r>
                        <a:rPr sz="900" spc="-5" dirty="0">
                          <a:latin typeface="Arial"/>
                          <a:cs typeface="Arial"/>
                        </a:rPr>
                        <a:t>Update</a:t>
                      </a:r>
                      <a:r>
                        <a:rPr sz="900" spc="-10" dirty="0">
                          <a:latin typeface="Arial"/>
                          <a:cs typeface="Arial"/>
                        </a:rPr>
                        <a:t> </a:t>
                      </a:r>
                      <a:r>
                        <a:rPr sz="900" spc="-5" dirty="0">
                          <a:latin typeface="Arial"/>
                          <a:cs typeface="Arial"/>
                        </a:rPr>
                        <a:t>(and</a:t>
                      </a:r>
                      <a:r>
                        <a:rPr sz="900" spc="-10" dirty="0">
                          <a:latin typeface="Arial"/>
                          <a:cs typeface="Arial"/>
                        </a:rPr>
                        <a:t> </a:t>
                      </a:r>
                      <a:r>
                        <a:rPr sz="900" spc="-5" dirty="0">
                          <a:latin typeface="Arial"/>
                          <a:cs typeface="Arial"/>
                        </a:rPr>
                        <a:t>possibly</a:t>
                      </a:r>
                      <a:r>
                        <a:rPr sz="900" spc="-10" dirty="0">
                          <a:latin typeface="Arial"/>
                          <a:cs typeface="Arial"/>
                        </a:rPr>
                        <a:t> fetch </a:t>
                      </a:r>
                      <a:r>
                        <a:rPr sz="900" spc="-5" dirty="0">
                          <a:latin typeface="Arial"/>
                          <a:cs typeface="Arial"/>
                        </a:rPr>
                        <a:t>update)</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0"/>
                        </a:spcBef>
                      </a:pPr>
                      <a:r>
                        <a:rPr sz="900" spc="-15" dirty="0">
                          <a:latin typeface="Arial"/>
                          <a:cs typeface="Arial"/>
                        </a:rPr>
                        <a:t>Poll</a:t>
                      </a:r>
                      <a:r>
                        <a:rPr sz="900" spc="-25" dirty="0">
                          <a:latin typeface="Arial"/>
                          <a:cs typeface="Arial"/>
                        </a:rPr>
                        <a:t> </a:t>
                      </a:r>
                      <a:r>
                        <a:rPr sz="900" spc="-5" dirty="0">
                          <a:latin typeface="Arial"/>
                          <a:cs typeface="Arial"/>
                        </a:rPr>
                        <a:t>and</a:t>
                      </a:r>
                      <a:r>
                        <a:rPr sz="900" spc="-25" dirty="0">
                          <a:latin typeface="Arial"/>
                          <a:cs typeface="Arial"/>
                        </a:rPr>
                        <a:t> </a:t>
                      </a:r>
                      <a:r>
                        <a:rPr sz="900" spc="-5" dirty="0">
                          <a:latin typeface="Arial"/>
                          <a:cs typeface="Arial"/>
                        </a:rPr>
                        <a:t>update</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71450">
                <a:tc>
                  <a:txBody>
                    <a:bodyPr/>
                    <a:lstStyle/>
                    <a:p>
                      <a:pPr marL="78105">
                        <a:lnSpc>
                          <a:spcPct val="100000"/>
                        </a:lnSpc>
                        <a:spcBef>
                          <a:spcPts val="40"/>
                        </a:spcBef>
                      </a:pPr>
                      <a:r>
                        <a:rPr sz="900" spc="-5" dirty="0">
                          <a:latin typeface="Arial"/>
                          <a:cs typeface="Arial"/>
                        </a:rPr>
                        <a:t>3:</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0"/>
                        </a:spcBef>
                      </a:pPr>
                      <a:r>
                        <a:rPr sz="900" spc="-5" dirty="0">
                          <a:latin typeface="Arial"/>
                          <a:cs typeface="Arial"/>
                        </a:rPr>
                        <a:t>Immediate</a:t>
                      </a:r>
                      <a:r>
                        <a:rPr sz="900" spc="-15" dirty="0">
                          <a:latin typeface="Arial"/>
                          <a:cs typeface="Arial"/>
                        </a:rPr>
                        <a:t> </a:t>
                      </a:r>
                      <a:r>
                        <a:rPr sz="900" spc="-5" dirty="0">
                          <a:latin typeface="Arial"/>
                          <a:cs typeface="Arial"/>
                        </a:rPr>
                        <a:t>(or</a:t>
                      </a:r>
                      <a:r>
                        <a:rPr sz="900" spc="-15" dirty="0">
                          <a:latin typeface="Arial"/>
                          <a:cs typeface="Arial"/>
                        </a:rPr>
                        <a:t> </a:t>
                      </a:r>
                      <a:r>
                        <a:rPr sz="900" spc="-5" dirty="0">
                          <a:latin typeface="Arial"/>
                          <a:cs typeface="Arial"/>
                        </a:rPr>
                        <a:t>fetch-update</a:t>
                      </a:r>
                      <a:r>
                        <a:rPr sz="900" spc="-10" dirty="0">
                          <a:latin typeface="Arial"/>
                          <a:cs typeface="Arial"/>
                        </a:rPr>
                        <a:t> </a:t>
                      </a:r>
                      <a:r>
                        <a:rPr sz="900" spc="-5" dirty="0">
                          <a:latin typeface="Arial"/>
                          <a:cs typeface="Arial"/>
                        </a:rPr>
                        <a:t>time)</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0"/>
                        </a:spcBef>
                      </a:pPr>
                      <a:r>
                        <a:rPr sz="900" spc="-5" dirty="0">
                          <a:latin typeface="Arial"/>
                          <a:cs typeface="Arial"/>
                        </a:rPr>
                        <a:t>Fetch-update</a:t>
                      </a:r>
                      <a:r>
                        <a:rPr sz="900" spc="-40" dirty="0">
                          <a:latin typeface="Arial"/>
                          <a:cs typeface="Arial"/>
                        </a:rPr>
                        <a:t> </a:t>
                      </a:r>
                      <a:r>
                        <a:rPr sz="900" spc="-5" dirty="0">
                          <a:latin typeface="Arial"/>
                          <a:cs typeface="Arial"/>
                        </a:rPr>
                        <a:t>time</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506095">
                <a:tc gridSpan="3">
                  <a:txBody>
                    <a:bodyPr/>
                    <a:lstStyle/>
                    <a:p>
                      <a:pPr marL="78105">
                        <a:lnSpc>
                          <a:spcPct val="100000"/>
                        </a:lnSpc>
                        <a:spcBef>
                          <a:spcPts val="40"/>
                        </a:spcBef>
                      </a:pPr>
                      <a:r>
                        <a:rPr sz="900" i="1" spc="-5" dirty="0">
                          <a:latin typeface="Arial"/>
                          <a:cs typeface="Arial"/>
                        </a:rPr>
                        <a:t>1:</a:t>
                      </a:r>
                      <a:r>
                        <a:rPr sz="900" i="1" spc="40" dirty="0">
                          <a:latin typeface="Arial"/>
                          <a:cs typeface="Arial"/>
                        </a:rPr>
                        <a:t> </a:t>
                      </a:r>
                      <a:r>
                        <a:rPr sz="900" i="1" spc="-5" dirty="0">
                          <a:latin typeface="Arial"/>
                          <a:cs typeface="Arial"/>
                        </a:rPr>
                        <a:t>State</a:t>
                      </a:r>
                      <a:r>
                        <a:rPr sz="900" i="1" spc="-15" dirty="0">
                          <a:latin typeface="Arial"/>
                          <a:cs typeface="Arial"/>
                        </a:rPr>
                        <a:t> </a:t>
                      </a:r>
                      <a:r>
                        <a:rPr sz="900" i="1" spc="-5" dirty="0">
                          <a:latin typeface="Arial"/>
                          <a:cs typeface="Arial"/>
                        </a:rPr>
                        <a:t>at</a:t>
                      </a:r>
                      <a:r>
                        <a:rPr sz="900" i="1" spc="-15" dirty="0">
                          <a:latin typeface="Arial"/>
                          <a:cs typeface="Arial"/>
                        </a:rPr>
                        <a:t> </a:t>
                      </a:r>
                      <a:r>
                        <a:rPr sz="900" i="1" spc="-5" dirty="0">
                          <a:latin typeface="Arial"/>
                          <a:cs typeface="Arial"/>
                        </a:rPr>
                        <a:t>server</a:t>
                      </a:r>
                      <a:endParaRPr sz="900">
                        <a:latin typeface="Arial"/>
                        <a:cs typeface="Arial"/>
                      </a:endParaRPr>
                    </a:p>
                    <a:p>
                      <a:pPr marL="78105" marR="1807845">
                        <a:lnSpc>
                          <a:spcPct val="121800"/>
                        </a:lnSpc>
                      </a:pPr>
                      <a:r>
                        <a:rPr sz="900" i="1" spc="-5" dirty="0">
                          <a:latin typeface="Arial"/>
                          <a:cs typeface="Arial"/>
                        </a:rPr>
                        <a:t>2:</a:t>
                      </a:r>
                      <a:r>
                        <a:rPr sz="900" i="1" spc="50" dirty="0">
                          <a:latin typeface="Arial"/>
                          <a:cs typeface="Arial"/>
                        </a:rPr>
                        <a:t> </a:t>
                      </a:r>
                      <a:r>
                        <a:rPr sz="900" i="1" spc="-5" dirty="0">
                          <a:latin typeface="Arial"/>
                          <a:cs typeface="Arial"/>
                        </a:rPr>
                        <a:t>Messages</a:t>
                      </a:r>
                      <a:r>
                        <a:rPr sz="900" i="1" spc="-10" dirty="0">
                          <a:latin typeface="Arial"/>
                          <a:cs typeface="Arial"/>
                        </a:rPr>
                        <a:t> </a:t>
                      </a:r>
                      <a:r>
                        <a:rPr sz="900" i="1" spc="-5" dirty="0">
                          <a:latin typeface="Arial"/>
                          <a:cs typeface="Arial"/>
                        </a:rPr>
                        <a:t>to be</a:t>
                      </a:r>
                      <a:r>
                        <a:rPr sz="900" i="1" spc="-10" dirty="0">
                          <a:latin typeface="Arial"/>
                          <a:cs typeface="Arial"/>
                        </a:rPr>
                        <a:t> exchanged </a:t>
                      </a:r>
                      <a:r>
                        <a:rPr sz="900" i="1" spc="-235" dirty="0">
                          <a:latin typeface="Arial"/>
                          <a:cs typeface="Arial"/>
                        </a:rPr>
                        <a:t> </a:t>
                      </a:r>
                      <a:r>
                        <a:rPr sz="900" i="1" spc="-5" dirty="0">
                          <a:latin typeface="Arial"/>
                          <a:cs typeface="Arial"/>
                        </a:rPr>
                        <a:t>3:</a:t>
                      </a:r>
                      <a:r>
                        <a:rPr sz="900" i="1" spc="50" dirty="0">
                          <a:latin typeface="Arial"/>
                          <a:cs typeface="Arial"/>
                        </a:rPr>
                        <a:t> </a:t>
                      </a:r>
                      <a:r>
                        <a:rPr sz="900" i="1" spc="-5" dirty="0">
                          <a:latin typeface="Arial"/>
                          <a:cs typeface="Arial"/>
                        </a:rPr>
                        <a:t>Response</a:t>
                      </a:r>
                      <a:r>
                        <a:rPr sz="900" i="1" spc="-10" dirty="0">
                          <a:latin typeface="Arial"/>
                          <a:cs typeface="Arial"/>
                        </a:rPr>
                        <a:t> </a:t>
                      </a:r>
                      <a:r>
                        <a:rPr sz="900" i="1" spc="-5" dirty="0">
                          <a:latin typeface="Arial"/>
                          <a:cs typeface="Arial"/>
                        </a:rPr>
                        <a:t>time at</a:t>
                      </a:r>
                      <a:r>
                        <a:rPr sz="900" i="1" spc="-10" dirty="0">
                          <a:latin typeface="Arial"/>
                          <a:cs typeface="Arial"/>
                        </a:rPr>
                        <a:t> </a:t>
                      </a:r>
                      <a:r>
                        <a:rPr sz="900" i="1" spc="-5" dirty="0">
                          <a:latin typeface="Arial"/>
                          <a:cs typeface="Arial"/>
                        </a:rPr>
                        <a:t>the client</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9099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Pull</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versus</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push</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protocols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08095" algn="l"/>
              </a:tabLst>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5" dirty="0">
                <a:solidFill>
                  <a:srgbClr val="3333B2"/>
                </a:solidFill>
                <a:latin typeface="Arial"/>
                <a:cs typeface="Arial"/>
              </a:rPr>
              <a:t> </a:t>
            </a:r>
            <a:r>
              <a:rPr sz="600" spc="-5" dirty="0">
                <a:solidFill>
                  <a:srgbClr val="3333B2"/>
                </a:solidFill>
                <a:latin typeface="Arial"/>
                <a:cs typeface="Arial"/>
                <a:hlinkClick r:id="rId4" action="ppaction://hlinksldjump"/>
              </a:rPr>
              <a:t>Replica</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management</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Content</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distribution</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5" dirty="0"/>
              <a:t>Content</a:t>
            </a:r>
            <a:r>
              <a:rPr spc="-35" dirty="0"/>
              <a:t> </a:t>
            </a:r>
            <a:r>
              <a:rPr spc="10" dirty="0"/>
              <a:t>distribution</a:t>
            </a:r>
          </a:p>
        </p:txBody>
      </p:sp>
      <p:sp>
        <p:nvSpPr>
          <p:cNvPr id="4" name="object 4"/>
          <p:cNvSpPr txBox="1"/>
          <p:nvPr/>
        </p:nvSpPr>
        <p:spPr>
          <a:xfrm>
            <a:off x="341350" y="413446"/>
            <a:ext cx="3937000" cy="1025525"/>
          </a:xfrm>
          <a:prstGeom prst="rect">
            <a:avLst/>
          </a:prstGeom>
        </p:spPr>
        <p:txBody>
          <a:bodyPr vert="horz" wrap="square" lIns="0" tIns="12065" rIns="0" bIns="0" rtlCol="0">
            <a:spAutoFit/>
          </a:bodyPr>
          <a:lstStyle/>
          <a:p>
            <a:pPr marL="18415">
              <a:lnSpc>
                <a:spcPts val="1410"/>
              </a:lnSpc>
              <a:spcBef>
                <a:spcPts val="95"/>
              </a:spcBef>
            </a:pPr>
            <a:r>
              <a:rPr sz="1200" spc="-5" dirty="0">
                <a:solidFill>
                  <a:srgbClr val="3333B2"/>
                </a:solidFill>
                <a:latin typeface="Arial"/>
                <a:cs typeface="Arial"/>
              </a:rPr>
              <a:t>Observation</a:t>
            </a:r>
            <a:endParaRPr sz="1200">
              <a:latin typeface="Arial"/>
              <a:cs typeface="Arial"/>
            </a:endParaRPr>
          </a:p>
          <a:p>
            <a:pPr marL="13970" marR="5080" indent="-1905">
              <a:lnSpc>
                <a:spcPts val="1200"/>
              </a:lnSpc>
              <a:spcBef>
                <a:spcPts val="10"/>
              </a:spcBef>
            </a:pPr>
            <a:r>
              <a:rPr sz="1000" spc="-20" dirty="0">
                <a:latin typeface="Arial"/>
                <a:cs typeface="Arial"/>
              </a:rPr>
              <a:t>We</a:t>
            </a:r>
            <a:r>
              <a:rPr sz="1000" spc="-5" dirty="0">
                <a:latin typeface="Arial"/>
                <a:cs typeface="Arial"/>
              </a:rPr>
              <a:t> can</a:t>
            </a:r>
            <a:r>
              <a:rPr sz="1000" dirty="0">
                <a:latin typeface="Arial"/>
                <a:cs typeface="Arial"/>
              </a:rPr>
              <a:t> </a:t>
            </a:r>
            <a:r>
              <a:rPr sz="1000" spc="-5" dirty="0">
                <a:latin typeface="Arial"/>
                <a:cs typeface="Arial"/>
              </a:rPr>
              <a:t>dynamically</a:t>
            </a:r>
            <a:r>
              <a:rPr sz="1000" dirty="0">
                <a:latin typeface="Arial"/>
                <a:cs typeface="Arial"/>
              </a:rPr>
              <a:t> </a:t>
            </a:r>
            <a:r>
              <a:rPr sz="1000" spc="-10" dirty="0">
                <a:latin typeface="Arial"/>
                <a:cs typeface="Arial"/>
              </a:rPr>
              <a:t>switch</a:t>
            </a:r>
            <a:r>
              <a:rPr sz="1000" spc="-5" dirty="0">
                <a:latin typeface="Arial"/>
                <a:cs typeface="Arial"/>
              </a:rPr>
              <a:t> between</a:t>
            </a:r>
            <a:r>
              <a:rPr sz="1000" dirty="0">
                <a:latin typeface="Arial"/>
                <a:cs typeface="Arial"/>
              </a:rPr>
              <a:t> </a:t>
            </a:r>
            <a:r>
              <a:rPr sz="1000" spc="-5" dirty="0">
                <a:latin typeface="Arial"/>
                <a:cs typeface="Arial"/>
              </a:rPr>
              <a:t>pulling</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pushing using</a:t>
            </a:r>
            <a:r>
              <a:rPr sz="1000" dirty="0">
                <a:latin typeface="Arial"/>
                <a:cs typeface="Arial"/>
              </a:rPr>
              <a:t> </a:t>
            </a:r>
            <a:r>
              <a:rPr sz="1000" spc="-5" dirty="0">
                <a:solidFill>
                  <a:srgbClr val="0000FA"/>
                </a:solidFill>
                <a:latin typeface="Arial"/>
                <a:cs typeface="Arial"/>
              </a:rPr>
              <a:t>leases</a:t>
            </a:r>
            <a:r>
              <a:rPr sz="1000" spc="-5" dirty="0">
                <a:latin typeface="Arial"/>
                <a:cs typeface="Arial"/>
              </a:rPr>
              <a:t>: </a:t>
            </a:r>
            <a:r>
              <a:rPr sz="1000" spc="-260" dirty="0">
                <a:latin typeface="Arial"/>
                <a:cs typeface="Arial"/>
              </a:rPr>
              <a:t> </a:t>
            </a:r>
            <a:r>
              <a:rPr sz="1000" spc="-5" dirty="0">
                <a:latin typeface="Arial"/>
                <a:cs typeface="Arial"/>
              </a:rPr>
              <a:t>A contract</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which</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promises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push</a:t>
            </a:r>
            <a:r>
              <a:rPr sz="1000" dirty="0">
                <a:latin typeface="Arial"/>
                <a:cs typeface="Arial"/>
              </a:rPr>
              <a:t> </a:t>
            </a:r>
            <a:r>
              <a:rPr sz="1000" spc="-5" dirty="0">
                <a:latin typeface="Arial"/>
                <a:cs typeface="Arial"/>
              </a:rPr>
              <a:t>updates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client </a:t>
            </a:r>
            <a:r>
              <a:rPr sz="1000" dirty="0">
                <a:latin typeface="Arial"/>
                <a:cs typeface="Arial"/>
              </a:rPr>
              <a:t> </a:t>
            </a:r>
            <a:r>
              <a:rPr sz="1000" spc="-5" dirty="0">
                <a:latin typeface="Arial"/>
                <a:cs typeface="Arial"/>
              </a:rPr>
              <a:t>until</a:t>
            </a:r>
            <a:r>
              <a:rPr sz="1000" spc="-10" dirty="0">
                <a:latin typeface="Arial"/>
                <a:cs typeface="Arial"/>
              </a:rPr>
              <a:t> </a:t>
            </a:r>
            <a:r>
              <a:rPr sz="1000" spc="-5" dirty="0">
                <a:latin typeface="Arial"/>
                <a:cs typeface="Arial"/>
              </a:rPr>
              <a:t>the lease </a:t>
            </a:r>
            <a:r>
              <a:rPr sz="1000" spc="-10" dirty="0">
                <a:latin typeface="Arial"/>
                <a:cs typeface="Arial"/>
              </a:rPr>
              <a:t>expires.</a:t>
            </a:r>
            <a:endParaRPr sz="1000">
              <a:latin typeface="Arial"/>
              <a:cs typeface="Arial"/>
            </a:endParaRPr>
          </a:p>
          <a:p>
            <a:pPr marL="18415" marR="518159">
              <a:lnSpc>
                <a:spcPts val="1390"/>
              </a:lnSpc>
              <a:spcBef>
                <a:spcPts val="110"/>
              </a:spcBef>
            </a:pPr>
            <a:r>
              <a:rPr sz="1200" spc="-10" dirty="0">
                <a:solidFill>
                  <a:srgbClr val="3333B2"/>
                </a:solidFill>
                <a:latin typeface="Arial"/>
                <a:cs typeface="Arial"/>
              </a:rPr>
              <a:t>Make </a:t>
            </a:r>
            <a:r>
              <a:rPr sz="1200" spc="-5" dirty="0">
                <a:solidFill>
                  <a:srgbClr val="3333B2"/>
                </a:solidFill>
                <a:latin typeface="Arial"/>
                <a:cs typeface="Arial"/>
              </a:rPr>
              <a:t>lease </a:t>
            </a:r>
            <a:r>
              <a:rPr sz="1200" spc="-10" dirty="0">
                <a:solidFill>
                  <a:srgbClr val="3333B2"/>
                </a:solidFill>
                <a:latin typeface="Arial"/>
                <a:cs typeface="Arial"/>
              </a:rPr>
              <a:t>expiration </a:t>
            </a:r>
            <a:r>
              <a:rPr sz="1200" spc="-5" dirty="0">
                <a:solidFill>
                  <a:srgbClr val="3333B2"/>
                </a:solidFill>
                <a:latin typeface="Arial"/>
                <a:cs typeface="Arial"/>
              </a:rPr>
              <a:t>time dependent on </a:t>
            </a:r>
            <a:r>
              <a:rPr sz="1200" spc="-10" dirty="0">
                <a:solidFill>
                  <a:srgbClr val="3333B2"/>
                </a:solidFill>
                <a:latin typeface="Arial"/>
                <a:cs typeface="Arial"/>
              </a:rPr>
              <a:t>system’s </a:t>
            </a:r>
            <a:r>
              <a:rPr sz="1200" spc="-320" dirty="0">
                <a:solidFill>
                  <a:srgbClr val="3333B2"/>
                </a:solidFill>
                <a:latin typeface="Arial"/>
                <a:cs typeface="Arial"/>
              </a:rPr>
              <a:t> </a:t>
            </a:r>
            <a:r>
              <a:rPr sz="1200" spc="-10" dirty="0">
                <a:solidFill>
                  <a:srgbClr val="3333B2"/>
                </a:solidFill>
                <a:latin typeface="Arial"/>
                <a:cs typeface="Arial"/>
              </a:rPr>
              <a:t>behavior (adaptive</a:t>
            </a:r>
            <a:r>
              <a:rPr sz="1200" spc="-5" dirty="0">
                <a:solidFill>
                  <a:srgbClr val="3333B2"/>
                </a:solidFill>
                <a:latin typeface="Arial"/>
                <a:cs typeface="Arial"/>
              </a:rPr>
              <a:t> leases)</a:t>
            </a:r>
            <a:endParaRPr sz="1200">
              <a:latin typeface="Arial"/>
              <a:cs typeface="Arial"/>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9099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Pull</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versus</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push</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protocols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08095" algn="l"/>
              </a:tabLst>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5" dirty="0">
                <a:solidFill>
                  <a:srgbClr val="3333B2"/>
                </a:solidFill>
                <a:latin typeface="Arial"/>
                <a:cs typeface="Arial"/>
              </a:rPr>
              <a:t> </a:t>
            </a:r>
            <a:r>
              <a:rPr sz="600" spc="-5" dirty="0">
                <a:solidFill>
                  <a:srgbClr val="3333B2"/>
                </a:solidFill>
                <a:latin typeface="Arial"/>
                <a:cs typeface="Arial"/>
                <a:hlinkClick r:id="rId4" action="ppaction://hlinksldjump"/>
              </a:rPr>
              <a:t>Replica</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management</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Content</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distribution</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5" dirty="0"/>
              <a:t>Content</a:t>
            </a:r>
            <a:r>
              <a:rPr spc="-35" dirty="0"/>
              <a:t> </a:t>
            </a:r>
            <a:r>
              <a:rPr spc="10" dirty="0"/>
              <a:t>distribution</a:t>
            </a:r>
          </a:p>
        </p:txBody>
      </p:sp>
      <p:sp>
        <p:nvSpPr>
          <p:cNvPr id="4" name="object 4"/>
          <p:cNvSpPr txBox="1"/>
          <p:nvPr/>
        </p:nvSpPr>
        <p:spPr>
          <a:xfrm>
            <a:off x="328650" y="413446"/>
            <a:ext cx="3962400" cy="1428115"/>
          </a:xfrm>
          <a:prstGeom prst="rect">
            <a:avLst/>
          </a:prstGeom>
        </p:spPr>
        <p:txBody>
          <a:bodyPr vert="horz" wrap="square" lIns="0" tIns="12065" rIns="0" bIns="0" rtlCol="0">
            <a:spAutoFit/>
          </a:bodyPr>
          <a:lstStyle/>
          <a:p>
            <a:pPr marL="31115">
              <a:lnSpc>
                <a:spcPts val="1410"/>
              </a:lnSpc>
              <a:spcBef>
                <a:spcPts val="95"/>
              </a:spcBef>
            </a:pPr>
            <a:r>
              <a:rPr sz="1200" spc="-5" dirty="0">
                <a:solidFill>
                  <a:srgbClr val="3333B2"/>
                </a:solidFill>
                <a:latin typeface="Arial"/>
                <a:cs typeface="Arial"/>
              </a:rPr>
              <a:t>Observation</a:t>
            </a:r>
            <a:endParaRPr sz="1200">
              <a:latin typeface="Arial"/>
              <a:cs typeface="Arial"/>
            </a:endParaRPr>
          </a:p>
          <a:p>
            <a:pPr marL="26670" marR="17780" indent="-1905">
              <a:lnSpc>
                <a:spcPts val="1200"/>
              </a:lnSpc>
              <a:spcBef>
                <a:spcPts val="10"/>
              </a:spcBef>
            </a:pPr>
            <a:r>
              <a:rPr sz="1000" spc="-20" dirty="0">
                <a:latin typeface="Arial"/>
                <a:cs typeface="Arial"/>
              </a:rPr>
              <a:t>We</a:t>
            </a:r>
            <a:r>
              <a:rPr sz="1000" spc="-5" dirty="0">
                <a:latin typeface="Arial"/>
                <a:cs typeface="Arial"/>
              </a:rPr>
              <a:t> can</a:t>
            </a:r>
            <a:r>
              <a:rPr sz="1000" dirty="0">
                <a:latin typeface="Arial"/>
                <a:cs typeface="Arial"/>
              </a:rPr>
              <a:t> </a:t>
            </a:r>
            <a:r>
              <a:rPr sz="1000" spc="-5" dirty="0">
                <a:latin typeface="Arial"/>
                <a:cs typeface="Arial"/>
              </a:rPr>
              <a:t>dynamically</a:t>
            </a:r>
            <a:r>
              <a:rPr sz="1000" dirty="0">
                <a:latin typeface="Arial"/>
                <a:cs typeface="Arial"/>
              </a:rPr>
              <a:t> </a:t>
            </a:r>
            <a:r>
              <a:rPr sz="1000" spc="-10" dirty="0">
                <a:latin typeface="Arial"/>
                <a:cs typeface="Arial"/>
              </a:rPr>
              <a:t>switch</a:t>
            </a:r>
            <a:r>
              <a:rPr sz="1000" spc="-5" dirty="0">
                <a:latin typeface="Arial"/>
                <a:cs typeface="Arial"/>
              </a:rPr>
              <a:t> between</a:t>
            </a:r>
            <a:r>
              <a:rPr sz="1000" dirty="0">
                <a:latin typeface="Arial"/>
                <a:cs typeface="Arial"/>
              </a:rPr>
              <a:t> </a:t>
            </a:r>
            <a:r>
              <a:rPr sz="1000" spc="-5" dirty="0">
                <a:latin typeface="Arial"/>
                <a:cs typeface="Arial"/>
              </a:rPr>
              <a:t>pulling</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pushing using</a:t>
            </a:r>
            <a:r>
              <a:rPr sz="1000" dirty="0">
                <a:latin typeface="Arial"/>
                <a:cs typeface="Arial"/>
              </a:rPr>
              <a:t> </a:t>
            </a:r>
            <a:r>
              <a:rPr sz="1000" spc="-5" dirty="0">
                <a:solidFill>
                  <a:srgbClr val="0000FA"/>
                </a:solidFill>
                <a:latin typeface="Arial"/>
                <a:cs typeface="Arial"/>
              </a:rPr>
              <a:t>leases</a:t>
            </a:r>
            <a:r>
              <a:rPr sz="1000" spc="-5" dirty="0">
                <a:latin typeface="Arial"/>
                <a:cs typeface="Arial"/>
              </a:rPr>
              <a:t>: </a:t>
            </a:r>
            <a:r>
              <a:rPr sz="1000" spc="-260" dirty="0">
                <a:latin typeface="Arial"/>
                <a:cs typeface="Arial"/>
              </a:rPr>
              <a:t> </a:t>
            </a:r>
            <a:r>
              <a:rPr sz="1000" spc="-5" dirty="0">
                <a:latin typeface="Arial"/>
                <a:cs typeface="Arial"/>
              </a:rPr>
              <a:t>A contract</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which</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promises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push</a:t>
            </a:r>
            <a:r>
              <a:rPr sz="1000" dirty="0">
                <a:latin typeface="Arial"/>
                <a:cs typeface="Arial"/>
              </a:rPr>
              <a:t> </a:t>
            </a:r>
            <a:r>
              <a:rPr sz="1000" spc="-5" dirty="0">
                <a:latin typeface="Arial"/>
                <a:cs typeface="Arial"/>
              </a:rPr>
              <a:t>updates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client </a:t>
            </a:r>
            <a:r>
              <a:rPr sz="1000" dirty="0">
                <a:latin typeface="Arial"/>
                <a:cs typeface="Arial"/>
              </a:rPr>
              <a:t> </a:t>
            </a:r>
            <a:r>
              <a:rPr sz="1000" spc="-5" dirty="0">
                <a:latin typeface="Arial"/>
                <a:cs typeface="Arial"/>
              </a:rPr>
              <a:t>until</a:t>
            </a:r>
            <a:r>
              <a:rPr sz="1000" spc="-10" dirty="0">
                <a:latin typeface="Arial"/>
                <a:cs typeface="Arial"/>
              </a:rPr>
              <a:t> </a:t>
            </a:r>
            <a:r>
              <a:rPr sz="1000" spc="-5" dirty="0">
                <a:latin typeface="Arial"/>
                <a:cs typeface="Arial"/>
              </a:rPr>
              <a:t>the lease </a:t>
            </a:r>
            <a:r>
              <a:rPr sz="1000" spc="-10" dirty="0">
                <a:latin typeface="Arial"/>
                <a:cs typeface="Arial"/>
              </a:rPr>
              <a:t>expires.</a:t>
            </a:r>
            <a:endParaRPr sz="1000">
              <a:latin typeface="Arial"/>
              <a:cs typeface="Arial"/>
            </a:endParaRPr>
          </a:p>
          <a:p>
            <a:pPr marL="31115" marR="530860">
              <a:lnSpc>
                <a:spcPts val="1390"/>
              </a:lnSpc>
              <a:spcBef>
                <a:spcPts val="110"/>
              </a:spcBef>
            </a:pPr>
            <a:r>
              <a:rPr sz="1200" spc="-10" dirty="0">
                <a:solidFill>
                  <a:srgbClr val="3333B2"/>
                </a:solidFill>
                <a:latin typeface="Arial"/>
                <a:cs typeface="Arial"/>
              </a:rPr>
              <a:t>Make </a:t>
            </a:r>
            <a:r>
              <a:rPr sz="1200" spc="-5" dirty="0">
                <a:solidFill>
                  <a:srgbClr val="3333B2"/>
                </a:solidFill>
                <a:latin typeface="Arial"/>
                <a:cs typeface="Arial"/>
              </a:rPr>
              <a:t>lease </a:t>
            </a:r>
            <a:r>
              <a:rPr sz="1200" spc="-10" dirty="0">
                <a:solidFill>
                  <a:srgbClr val="3333B2"/>
                </a:solidFill>
                <a:latin typeface="Arial"/>
                <a:cs typeface="Arial"/>
              </a:rPr>
              <a:t>expiration </a:t>
            </a:r>
            <a:r>
              <a:rPr sz="1200" spc="-5" dirty="0">
                <a:solidFill>
                  <a:srgbClr val="3333B2"/>
                </a:solidFill>
                <a:latin typeface="Arial"/>
                <a:cs typeface="Arial"/>
              </a:rPr>
              <a:t>time dependent on </a:t>
            </a:r>
            <a:r>
              <a:rPr sz="1200" spc="-10" dirty="0">
                <a:solidFill>
                  <a:srgbClr val="3333B2"/>
                </a:solidFill>
                <a:latin typeface="Arial"/>
                <a:cs typeface="Arial"/>
              </a:rPr>
              <a:t>system’s </a:t>
            </a:r>
            <a:r>
              <a:rPr sz="1200" spc="-320" dirty="0">
                <a:solidFill>
                  <a:srgbClr val="3333B2"/>
                </a:solidFill>
                <a:latin typeface="Arial"/>
                <a:cs typeface="Arial"/>
              </a:rPr>
              <a:t> </a:t>
            </a:r>
            <a:r>
              <a:rPr sz="1200" spc="-10" dirty="0">
                <a:solidFill>
                  <a:srgbClr val="3333B2"/>
                </a:solidFill>
                <a:latin typeface="Arial"/>
                <a:cs typeface="Arial"/>
              </a:rPr>
              <a:t>behavior (adaptive</a:t>
            </a:r>
            <a:r>
              <a:rPr sz="1200" spc="-5" dirty="0">
                <a:solidFill>
                  <a:srgbClr val="3333B2"/>
                </a:solidFill>
                <a:latin typeface="Arial"/>
                <a:cs typeface="Arial"/>
              </a:rPr>
              <a:t> leases)</a:t>
            </a:r>
            <a:endParaRPr sz="1200">
              <a:latin typeface="Arial"/>
              <a:cs typeface="Arial"/>
            </a:endParaRPr>
          </a:p>
          <a:p>
            <a:pPr marL="303530" marR="20955" indent="-163195">
              <a:lnSpc>
                <a:spcPct val="100000"/>
              </a:lnSpc>
              <a:spcBef>
                <a:spcPts val="740"/>
              </a:spcBef>
              <a:buClr>
                <a:srgbClr val="3333B2"/>
              </a:buClr>
              <a:buChar char="►"/>
              <a:tabLst>
                <a:tab pos="308610" algn="l"/>
              </a:tabLst>
            </a:pPr>
            <a:r>
              <a:rPr sz="1000" spc="-5" dirty="0">
                <a:solidFill>
                  <a:srgbClr val="0000FA"/>
                </a:solidFill>
                <a:latin typeface="Arial"/>
                <a:cs typeface="Arial"/>
              </a:rPr>
              <a:t>Age-based</a:t>
            </a:r>
            <a:r>
              <a:rPr sz="1000" dirty="0">
                <a:solidFill>
                  <a:srgbClr val="0000FA"/>
                </a:solidFill>
                <a:latin typeface="Arial"/>
                <a:cs typeface="Arial"/>
              </a:rPr>
              <a:t> </a:t>
            </a:r>
            <a:r>
              <a:rPr sz="1000" spc="-5" dirty="0">
                <a:solidFill>
                  <a:srgbClr val="0000FA"/>
                </a:solidFill>
                <a:latin typeface="Arial"/>
                <a:cs typeface="Arial"/>
              </a:rPr>
              <a:t>leases</a:t>
            </a:r>
            <a:r>
              <a:rPr sz="1000" spc="-5" dirty="0">
                <a:latin typeface="Arial"/>
                <a:cs typeface="Arial"/>
              </a:rPr>
              <a:t>:</a:t>
            </a:r>
            <a:r>
              <a:rPr sz="1000" spc="65"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object</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hasn’t</a:t>
            </a:r>
            <a:r>
              <a:rPr sz="1000" dirty="0">
                <a:latin typeface="Arial"/>
                <a:cs typeface="Arial"/>
              </a:rPr>
              <a:t> </a:t>
            </a:r>
            <a:r>
              <a:rPr sz="1000" spc="-5" dirty="0">
                <a:latin typeface="Arial"/>
                <a:cs typeface="Arial"/>
              </a:rPr>
              <a:t>changed</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long</a:t>
            </a:r>
            <a:r>
              <a:rPr sz="1000" dirty="0">
                <a:latin typeface="Arial"/>
                <a:cs typeface="Arial"/>
              </a:rPr>
              <a:t> </a:t>
            </a:r>
            <a:r>
              <a:rPr sz="1000" spc="-5" dirty="0">
                <a:latin typeface="Arial"/>
                <a:cs typeface="Arial"/>
              </a:rPr>
              <a:t>time, </a:t>
            </a:r>
            <a:r>
              <a:rPr sz="1000" spc="-265" dirty="0">
                <a:latin typeface="Arial"/>
                <a:cs typeface="Arial"/>
              </a:rPr>
              <a:t> </a:t>
            </a:r>
            <a:r>
              <a:rPr sz="1000" spc="-5" dirty="0">
                <a:latin typeface="Arial"/>
                <a:cs typeface="Arial"/>
              </a:rPr>
              <a:t>will not</a:t>
            </a:r>
            <a:r>
              <a:rPr sz="1000" dirty="0">
                <a:latin typeface="Arial"/>
                <a:cs typeface="Arial"/>
              </a:rPr>
              <a:t> </a:t>
            </a:r>
            <a:r>
              <a:rPr sz="1000" spc="-5" dirty="0">
                <a:latin typeface="Arial"/>
                <a:cs typeface="Arial"/>
              </a:rPr>
              <a:t>change</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near future,</a:t>
            </a:r>
            <a:r>
              <a:rPr sz="1000" dirty="0">
                <a:latin typeface="Arial"/>
                <a:cs typeface="Arial"/>
              </a:rPr>
              <a:t> </a:t>
            </a:r>
            <a:r>
              <a:rPr sz="1000" spc="-5" dirty="0">
                <a:latin typeface="Arial"/>
                <a:cs typeface="Arial"/>
              </a:rPr>
              <a:t>so</a:t>
            </a:r>
            <a:r>
              <a:rPr sz="1000" dirty="0">
                <a:latin typeface="Arial"/>
                <a:cs typeface="Arial"/>
              </a:rPr>
              <a:t> </a:t>
            </a:r>
            <a:r>
              <a:rPr sz="1000" spc="-5" dirty="0">
                <a:latin typeface="Arial"/>
                <a:cs typeface="Arial"/>
              </a:rPr>
              <a:t>provide</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long-lasting</a:t>
            </a:r>
            <a:r>
              <a:rPr sz="1000" dirty="0">
                <a:latin typeface="Arial"/>
                <a:cs typeface="Arial"/>
              </a:rPr>
              <a:t> </a:t>
            </a:r>
            <a:r>
              <a:rPr sz="1000" spc="-5" dirty="0">
                <a:latin typeface="Arial"/>
                <a:cs typeface="Arial"/>
              </a:rPr>
              <a:t>lease</a:t>
            </a:r>
            <a:endParaRPr sz="1000">
              <a:latin typeface="Arial"/>
              <a:cs typeface="Arial"/>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66713" y="3331252"/>
            <a:ext cx="9099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Pull</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versus</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push</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protocols</a:t>
            </a:r>
            <a:endParaRPr sz="600">
              <a:latin typeface="Arial"/>
              <a:cs typeface="Arial"/>
            </a:endParaRPr>
          </a:p>
        </p:txBody>
      </p:sp>
      <p:sp>
        <p:nvSpPr>
          <p:cNvPr id="7" name="object 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08095" algn="l"/>
              </a:tabLst>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5" dirty="0">
                <a:solidFill>
                  <a:srgbClr val="3333B2"/>
                </a:solidFill>
                <a:latin typeface="Arial"/>
                <a:cs typeface="Arial"/>
              </a:rPr>
              <a:t> </a:t>
            </a:r>
            <a:r>
              <a:rPr sz="600" spc="-5" dirty="0">
                <a:solidFill>
                  <a:srgbClr val="3333B2"/>
                </a:solidFill>
                <a:latin typeface="Arial"/>
                <a:cs typeface="Arial"/>
                <a:hlinkClick r:id="rId4" action="ppaction://hlinksldjump"/>
              </a:rPr>
              <a:t>Replica</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management</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Content</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distribution</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5" dirty="0"/>
              <a:t>Content</a:t>
            </a:r>
            <a:r>
              <a:rPr spc="-35" dirty="0"/>
              <a:t> </a:t>
            </a:r>
            <a:r>
              <a:rPr spc="10" dirty="0"/>
              <a:t>distribution</a:t>
            </a:r>
          </a:p>
        </p:txBody>
      </p:sp>
      <p:sp>
        <p:nvSpPr>
          <p:cNvPr id="4" name="object 4"/>
          <p:cNvSpPr txBox="1"/>
          <p:nvPr/>
        </p:nvSpPr>
        <p:spPr>
          <a:xfrm>
            <a:off x="341350" y="413446"/>
            <a:ext cx="3937000" cy="1025525"/>
          </a:xfrm>
          <a:prstGeom prst="rect">
            <a:avLst/>
          </a:prstGeom>
        </p:spPr>
        <p:txBody>
          <a:bodyPr vert="horz" wrap="square" lIns="0" tIns="12065" rIns="0" bIns="0" rtlCol="0">
            <a:spAutoFit/>
          </a:bodyPr>
          <a:lstStyle/>
          <a:p>
            <a:pPr marL="18415">
              <a:lnSpc>
                <a:spcPts val="1410"/>
              </a:lnSpc>
              <a:spcBef>
                <a:spcPts val="95"/>
              </a:spcBef>
            </a:pPr>
            <a:r>
              <a:rPr sz="1200" spc="-5" dirty="0">
                <a:solidFill>
                  <a:srgbClr val="3333B2"/>
                </a:solidFill>
                <a:latin typeface="Arial"/>
                <a:cs typeface="Arial"/>
              </a:rPr>
              <a:t>Observation</a:t>
            </a:r>
            <a:endParaRPr sz="1200">
              <a:latin typeface="Arial"/>
              <a:cs typeface="Arial"/>
            </a:endParaRPr>
          </a:p>
          <a:p>
            <a:pPr marL="13970" marR="5080" indent="-1905">
              <a:lnSpc>
                <a:spcPts val="1200"/>
              </a:lnSpc>
              <a:spcBef>
                <a:spcPts val="10"/>
              </a:spcBef>
            </a:pPr>
            <a:r>
              <a:rPr sz="1000" spc="-20" dirty="0">
                <a:latin typeface="Arial"/>
                <a:cs typeface="Arial"/>
              </a:rPr>
              <a:t>We</a:t>
            </a:r>
            <a:r>
              <a:rPr sz="1000" spc="-5" dirty="0">
                <a:latin typeface="Arial"/>
                <a:cs typeface="Arial"/>
              </a:rPr>
              <a:t> can</a:t>
            </a:r>
            <a:r>
              <a:rPr sz="1000" dirty="0">
                <a:latin typeface="Arial"/>
                <a:cs typeface="Arial"/>
              </a:rPr>
              <a:t> </a:t>
            </a:r>
            <a:r>
              <a:rPr sz="1000" spc="-5" dirty="0">
                <a:latin typeface="Arial"/>
                <a:cs typeface="Arial"/>
              </a:rPr>
              <a:t>dynamically</a:t>
            </a:r>
            <a:r>
              <a:rPr sz="1000" dirty="0">
                <a:latin typeface="Arial"/>
                <a:cs typeface="Arial"/>
              </a:rPr>
              <a:t> </a:t>
            </a:r>
            <a:r>
              <a:rPr sz="1000" spc="-10" dirty="0">
                <a:latin typeface="Arial"/>
                <a:cs typeface="Arial"/>
              </a:rPr>
              <a:t>switch</a:t>
            </a:r>
            <a:r>
              <a:rPr sz="1000" spc="-5" dirty="0">
                <a:latin typeface="Arial"/>
                <a:cs typeface="Arial"/>
              </a:rPr>
              <a:t> between</a:t>
            </a:r>
            <a:r>
              <a:rPr sz="1000" dirty="0">
                <a:latin typeface="Arial"/>
                <a:cs typeface="Arial"/>
              </a:rPr>
              <a:t> </a:t>
            </a:r>
            <a:r>
              <a:rPr sz="1000" spc="-5" dirty="0">
                <a:latin typeface="Arial"/>
                <a:cs typeface="Arial"/>
              </a:rPr>
              <a:t>pulling</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pushing using</a:t>
            </a:r>
            <a:r>
              <a:rPr sz="1000" dirty="0">
                <a:latin typeface="Arial"/>
                <a:cs typeface="Arial"/>
              </a:rPr>
              <a:t> </a:t>
            </a:r>
            <a:r>
              <a:rPr sz="1000" spc="-5" dirty="0">
                <a:solidFill>
                  <a:srgbClr val="0000FA"/>
                </a:solidFill>
                <a:latin typeface="Arial"/>
                <a:cs typeface="Arial"/>
              </a:rPr>
              <a:t>leases</a:t>
            </a:r>
            <a:r>
              <a:rPr sz="1000" spc="-5" dirty="0">
                <a:latin typeface="Arial"/>
                <a:cs typeface="Arial"/>
              </a:rPr>
              <a:t>: </a:t>
            </a:r>
            <a:r>
              <a:rPr sz="1000" spc="-260" dirty="0">
                <a:latin typeface="Arial"/>
                <a:cs typeface="Arial"/>
              </a:rPr>
              <a:t> </a:t>
            </a:r>
            <a:r>
              <a:rPr sz="1000" spc="-5" dirty="0">
                <a:latin typeface="Arial"/>
                <a:cs typeface="Arial"/>
              </a:rPr>
              <a:t>A contract</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which</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promises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push</a:t>
            </a:r>
            <a:r>
              <a:rPr sz="1000" dirty="0">
                <a:latin typeface="Arial"/>
                <a:cs typeface="Arial"/>
              </a:rPr>
              <a:t> </a:t>
            </a:r>
            <a:r>
              <a:rPr sz="1000" spc="-5" dirty="0">
                <a:latin typeface="Arial"/>
                <a:cs typeface="Arial"/>
              </a:rPr>
              <a:t>updates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client </a:t>
            </a:r>
            <a:r>
              <a:rPr sz="1000" dirty="0">
                <a:latin typeface="Arial"/>
                <a:cs typeface="Arial"/>
              </a:rPr>
              <a:t> </a:t>
            </a:r>
            <a:r>
              <a:rPr sz="1000" spc="-5" dirty="0">
                <a:latin typeface="Arial"/>
                <a:cs typeface="Arial"/>
              </a:rPr>
              <a:t>until</a:t>
            </a:r>
            <a:r>
              <a:rPr sz="1000" spc="-10" dirty="0">
                <a:latin typeface="Arial"/>
                <a:cs typeface="Arial"/>
              </a:rPr>
              <a:t> </a:t>
            </a:r>
            <a:r>
              <a:rPr sz="1000" spc="-5" dirty="0">
                <a:latin typeface="Arial"/>
                <a:cs typeface="Arial"/>
              </a:rPr>
              <a:t>the lease </a:t>
            </a:r>
            <a:r>
              <a:rPr sz="1000" spc="-10" dirty="0">
                <a:latin typeface="Arial"/>
                <a:cs typeface="Arial"/>
              </a:rPr>
              <a:t>expires.</a:t>
            </a:r>
            <a:endParaRPr sz="1000">
              <a:latin typeface="Arial"/>
              <a:cs typeface="Arial"/>
            </a:endParaRPr>
          </a:p>
          <a:p>
            <a:pPr marL="18415" marR="518159">
              <a:lnSpc>
                <a:spcPts val="1390"/>
              </a:lnSpc>
              <a:spcBef>
                <a:spcPts val="110"/>
              </a:spcBef>
            </a:pPr>
            <a:r>
              <a:rPr sz="1200" spc="-10" dirty="0">
                <a:solidFill>
                  <a:srgbClr val="3333B2"/>
                </a:solidFill>
                <a:latin typeface="Arial"/>
                <a:cs typeface="Arial"/>
              </a:rPr>
              <a:t>Make </a:t>
            </a:r>
            <a:r>
              <a:rPr sz="1200" spc="-5" dirty="0">
                <a:solidFill>
                  <a:srgbClr val="3333B2"/>
                </a:solidFill>
                <a:latin typeface="Arial"/>
                <a:cs typeface="Arial"/>
              </a:rPr>
              <a:t>lease </a:t>
            </a:r>
            <a:r>
              <a:rPr sz="1200" spc="-10" dirty="0">
                <a:solidFill>
                  <a:srgbClr val="3333B2"/>
                </a:solidFill>
                <a:latin typeface="Arial"/>
                <a:cs typeface="Arial"/>
              </a:rPr>
              <a:t>expiration </a:t>
            </a:r>
            <a:r>
              <a:rPr sz="1200" spc="-5" dirty="0">
                <a:solidFill>
                  <a:srgbClr val="3333B2"/>
                </a:solidFill>
                <a:latin typeface="Arial"/>
                <a:cs typeface="Arial"/>
              </a:rPr>
              <a:t>time dependent on </a:t>
            </a:r>
            <a:r>
              <a:rPr sz="1200" spc="-10" dirty="0">
                <a:solidFill>
                  <a:srgbClr val="3333B2"/>
                </a:solidFill>
                <a:latin typeface="Arial"/>
                <a:cs typeface="Arial"/>
              </a:rPr>
              <a:t>system’s </a:t>
            </a:r>
            <a:r>
              <a:rPr sz="1200" spc="-320" dirty="0">
                <a:solidFill>
                  <a:srgbClr val="3333B2"/>
                </a:solidFill>
                <a:latin typeface="Arial"/>
                <a:cs typeface="Arial"/>
              </a:rPr>
              <a:t> </a:t>
            </a:r>
            <a:r>
              <a:rPr sz="1200" spc="-10" dirty="0">
                <a:solidFill>
                  <a:srgbClr val="3333B2"/>
                </a:solidFill>
                <a:latin typeface="Arial"/>
                <a:cs typeface="Arial"/>
              </a:rPr>
              <a:t>behavior (adaptive</a:t>
            </a:r>
            <a:r>
              <a:rPr sz="1200" spc="-5" dirty="0">
                <a:solidFill>
                  <a:srgbClr val="3333B2"/>
                </a:solidFill>
                <a:latin typeface="Arial"/>
                <a:cs typeface="Arial"/>
              </a:rPr>
              <a:t> leases)</a:t>
            </a:r>
            <a:endParaRPr sz="1200">
              <a:latin typeface="Arial"/>
              <a:cs typeface="Arial"/>
            </a:endParaRPr>
          </a:p>
        </p:txBody>
      </p:sp>
      <p:sp>
        <p:nvSpPr>
          <p:cNvPr id="5" name="object 5"/>
          <p:cNvSpPr txBox="1"/>
          <p:nvPr/>
        </p:nvSpPr>
        <p:spPr>
          <a:xfrm>
            <a:off x="456704" y="1891771"/>
            <a:ext cx="3735704" cy="481330"/>
          </a:xfrm>
          <a:prstGeom prst="rect">
            <a:avLst/>
          </a:prstGeom>
        </p:spPr>
        <p:txBody>
          <a:bodyPr vert="horz" wrap="square" lIns="0" tIns="12065" rIns="0" bIns="0" rtlCol="0">
            <a:spAutoFit/>
          </a:bodyPr>
          <a:lstStyle/>
          <a:p>
            <a:pPr marL="180340" marR="5080" indent="-168275">
              <a:lnSpc>
                <a:spcPct val="100000"/>
              </a:lnSpc>
              <a:spcBef>
                <a:spcPts val="95"/>
              </a:spcBef>
              <a:buClr>
                <a:srgbClr val="3333B2"/>
              </a:buClr>
              <a:buChar char="►"/>
              <a:tabLst>
                <a:tab pos="180975" algn="l"/>
              </a:tabLst>
            </a:pPr>
            <a:r>
              <a:rPr sz="1000" spc="-5" dirty="0">
                <a:solidFill>
                  <a:srgbClr val="0000FA"/>
                </a:solidFill>
                <a:latin typeface="Arial"/>
                <a:cs typeface="Arial"/>
              </a:rPr>
              <a:t>Renewal-frequency based leases</a:t>
            </a:r>
            <a:r>
              <a:rPr sz="1000" spc="-5" dirty="0">
                <a:latin typeface="Arial"/>
                <a:cs typeface="Arial"/>
              </a:rPr>
              <a:t>:</a:t>
            </a:r>
            <a:r>
              <a:rPr sz="1000" spc="60" dirty="0">
                <a:latin typeface="Arial"/>
                <a:cs typeface="Arial"/>
              </a:rPr>
              <a:t> </a:t>
            </a:r>
            <a:r>
              <a:rPr sz="1000" spc="-5" dirty="0">
                <a:latin typeface="Arial"/>
                <a:cs typeface="Arial"/>
              </a:rPr>
              <a:t>The more often a</a:t>
            </a:r>
            <a:r>
              <a:rPr sz="1000" dirty="0">
                <a:latin typeface="Arial"/>
                <a:cs typeface="Arial"/>
              </a:rPr>
              <a:t> </a:t>
            </a:r>
            <a:r>
              <a:rPr sz="1000" spc="-5" dirty="0">
                <a:latin typeface="Arial"/>
                <a:cs typeface="Arial"/>
              </a:rPr>
              <a:t>client </a:t>
            </a:r>
            <a:r>
              <a:rPr sz="1000" dirty="0">
                <a:latin typeface="Arial"/>
                <a:cs typeface="Arial"/>
              </a:rPr>
              <a:t> </a:t>
            </a:r>
            <a:r>
              <a:rPr sz="1000" spc="-5" dirty="0">
                <a:latin typeface="Arial"/>
                <a:cs typeface="Arial"/>
              </a:rPr>
              <a:t>requests</a:t>
            </a:r>
            <a:r>
              <a:rPr sz="1000"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specific</a:t>
            </a:r>
            <a:r>
              <a:rPr sz="1000" spc="5" dirty="0">
                <a:latin typeface="Arial"/>
                <a:cs typeface="Arial"/>
              </a:rPr>
              <a:t> </a:t>
            </a:r>
            <a:r>
              <a:rPr sz="1000" spc="-5" dirty="0">
                <a:latin typeface="Arial"/>
                <a:cs typeface="Arial"/>
              </a:rPr>
              <a:t>object,</a:t>
            </a:r>
            <a:r>
              <a:rPr sz="1000" spc="5"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longer</a:t>
            </a:r>
            <a:r>
              <a:rPr sz="1000" spc="5" dirty="0">
                <a:latin typeface="Arial"/>
                <a:cs typeface="Arial"/>
              </a:rPr>
              <a:t> </a:t>
            </a:r>
            <a:r>
              <a:rPr sz="1000" spc="-5" dirty="0">
                <a:latin typeface="Arial"/>
                <a:cs typeface="Arial"/>
              </a:rPr>
              <a:t>the</a:t>
            </a:r>
            <a:r>
              <a:rPr sz="1000" spc="5" dirty="0">
                <a:latin typeface="Arial"/>
                <a:cs typeface="Arial"/>
              </a:rPr>
              <a:t> </a:t>
            </a:r>
            <a:r>
              <a:rPr sz="1000" spc="-10" dirty="0">
                <a:latin typeface="Arial"/>
                <a:cs typeface="Arial"/>
              </a:rPr>
              <a:t>expiration</a:t>
            </a:r>
            <a:r>
              <a:rPr sz="1000" spc="5" dirty="0">
                <a:latin typeface="Arial"/>
                <a:cs typeface="Arial"/>
              </a:rPr>
              <a:t> </a:t>
            </a:r>
            <a:r>
              <a:rPr sz="1000" spc="-5" dirty="0">
                <a:latin typeface="Arial"/>
                <a:cs typeface="Arial"/>
              </a:rPr>
              <a:t>time</a:t>
            </a:r>
            <a:r>
              <a:rPr sz="1000" spc="5"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that </a:t>
            </a:r>
            <a:r>
              <a:rPr sz="1000" spc="-260" dirty="0">
                <a:latin typeface="Arial"/>
                <a:cs typeface="Arial"/>
              </a:rPr>
              <a:t> </a:t>
            </a:r>
            <a:r>
              <a:rPr sz="1000" spc="-5" dirty="0">
                <a:latin typeface="Arial"/>
                <a:cs typeface="Arial"/>
              </a:rPr>
              <a:t>client</a:t>
            </a:r>
            <a:r>
              <a:rPr sz="1000" spc="-10" dirty="0">
                <a:latin typeface="Arial"/>
                <a:cs typeface="Arial"/>
              </a:rPr>
              <a:t> (for</a:t>
            </a:r>
            <a:r>
              <a:rPr sz="1000" spc="-5" dirty="0">
                <a:latin typeface="Arial"/>
                <a:cs typeface="Arial"/>
              </a:rPr>
              <a:t> that object) will be</a:t>
            </a:r>
            <a:endParaRPr sz="1000">
              <a:latin typeface="Arial"/>
              <a:cs typeface="Arial"/>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66713" y="3331252"/>
            <a:ext cx="9099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Pull</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versus</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push</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protocols</a:t>
            </a:r>
            <a:endParaRPr sz="600">
              <a:latin typeface="Arial"/>
              <a:cs typeface="Arial"/>
            </a:endParaRPr>
          </a:p>
        </p:txBody>
      </p:sp>
      <p:sp>
        <p:nvSpPr>
          <p:cNvPr id="7" name="object 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08095" algn="l"/>
              </a:tabLst>
            </a:pPr>
            <a:r>
              <a:rPr sz="600" spc="-5" dirty="0">
                <a:solidFill>
                  <a:srgbClr val="3333B2"/>
                </a:solidFill>
                <a:latin typeface="Arial"/>
                <a:cs typeface="Arial"/>
                <a:hlinkClick r:id="rId3" action="ppaction://hlinksldjump"/>
              </a:rPr>
              <a:t>Consistency</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85" dirty="0">
                <a:solidFill>
                  <a:srgbClr val="3333B2"/>
                </a:solidFill>
                <a:latin typeface="Arial"/>
                <a:cs typeface="Arial"/>
              </a:rPr>
              <a:t> </a:t>
            </a:r>
            <a:r>
              <a:rPr sz="600" spc="-5" dirty="0">
                <a:solidFill>
                  <a:srgbClr val="3333B2"/>
                </a:solidFill>
                <a:latin typeface="Arial"/>
                <a:cs typeface="Arial"/>
                <a:hlinkClick r:id="rId4" action="ppaction://hlinksldjump"/>
              </a:rPr>
              <a:t>Replica</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management</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Content</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distribution</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5" dirty="0"/>
              <a:t>Content</a:t>
            </a:r>
            <a:r>
              <a:rPr spc="-35" dirty="0"/>
              <a:t> </a:t>
            </a:r>
            <a:r>
              <a:rPr spc="10" dirty="0"/>
              <a:t>distribution</a:t>
            </a:r>
          </a:p>
        </p:txBody>
      </p:sp>
      <p:sp>
        <p:nvSpPr>
          <p:cNvPr id="4" name="object 4"/>
          <p:cNvSpPr txBox="1"/>
          <p:nvPr/>
        </p:nvSpPr>
        <p:spPr>
          <a:xfrm>
            <a:off x="341350" y="413446"/>
            <a:ext cx="3937000" cy="1025525"/>
          </a:xfrm>
          <a:prstGeom prst="rect">
            <a:avLst/>
          </a:prstGeom>
        </p:spPr>
        <p:txBody>
          <a:bodyPr vert="horz" wrap="square" lIns="0" tIns="12065" rIns="0" bIns="0" rtlCol="0">
            <a:spAutoFit/>
          </a:bodyPr>
          <a:lstStyle/>
          <a:p>
            <a:pPr marL="18415">
              <a:lnSpc>
                <a:spcPts val="1410"/>
              </a:lnSpc>
              <a:spcBef>
                <a:spcPts val="95"/>
              </a:spcBef>
            </a:pPr>
            <a:r>
              <a:rPr sz="1200" spc="-5" dirty="0">
                <a:solidFill>
                  <a:srgbClr val="3333B2"/>
                </a:solidFill>
                <a:latin typeface="Arial"/>
                <a:cs typeface="Arial"/>
              </a:rPr>
              <a:t>Observation</a:t>
            </a:r>
            <a:endParaRPr sz="1200">
              <a:latin typeface="Arial"/>
              <a:cs typeface="Arial"/>
            </a:endParaRPr>
          </a:p>
          <a:p>
            <a:pPr marL="13970" marR="5080" indent="-1905">
              <a:lnSpc>
                <a:spcPts val="1200"/>
              </a:lnSpc>
              <a:spcBef>
                <a:spcPts val="10"/>
              </a:spcBef>
            </a:pPr>
            <a:r>
              <a:rPr sz="1000" spc="-20" dirty="0">
                <a:latin typeface="Arial"/>
                <a:cs typeface="Arial"/>
              </a:rPr>
              <a:t>We</a:t>
            </a:r>
            <a:r>
              <a:rPr sz="1000" spc="-5" dirty="0">
                <a:latin typeface="Arial"/>
                <a:cs typeface="Arial"/>
              </a:rPr>
              <a:t> can</a:t>
            </a:r>
            <a:r>
              <a:rPr sz="1000" dirty="0">
                <a:latin typeface="Arial"/>
                <a:cs typeface="Arial"/>
              </a:rPr>
              <a:t> </a:t>
            </a:r>
            <a:r>
              <a:rPr sz="1000" spc="-5" dirty="0">
                <a:latin typeface="Arial"/>
                <a:cs typeface="Arial"/>
              </a:rPr>
              <a:t>dynamically</a:t>
            </a:r>
            <a:r>
              <a:rPr sz="1000" dirty="0">
                <a:latin typeface="Arial"/>
                <a:cs typeface="Arial"/>
              </a:rPr>
              <a:t> </a:t>
            </a:r>
            <a:r>
              <a:rPr sz="1000" spc="-10" dirty="0">
                <a:latin typeface="Arial"/>
                <a:cs typeface="Arial"/>
              </a:rPr>
              <a:t>switch</a:t>
            </a:r>
            <a:r>
              <a:rPr sz="1000" spc="-5" dirty="0">
                <a:latin typeface="Arial"/>
                <a:cs typeface="Arial"/>
              </a:rPr>
              <a:t> between</a:t>
            </a:r>
            <a:r>
              <a:rPr sz="1000" dirty="0">
                <a:latin typeface="Arial"/>
                <a:cs typeface="Arial"/>
              </a:rPr>
              <a:t> </a:t>
            </a:r>
            <a:r>
              <a:rPr sz="1000" spc="-5" dirty="0">
                <a:latin typeface="Arial"/>
                <a:cs typeface="Arial"/>
              </a:rPr>
              <a:t>pulling</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pushing using</a:t>
            </a:r>
            <a:r>
              <a:rPr sz="1000" dirty="0">
                <a:latin typeface="Arial"/>
                <a:cs typeface="Arial"/>
              </a:rPr>
              <a:t> </a:t>
            </a:r>
            <a:r>
              <a:rPr sz="1000" spc="-5" dirty="0">
                <a:solidFill>
                  <a:srgbClr val="0000FA"/>
                </a:solidFill>
                <a:latin typeface="Arial"/>
                <a:cs typeface="Arial"/>
              </a:rPr>
              <a:t>leases</a:t>
            </a:r>
            <a:r>
              <a:rPr sz="1000" spc="-5" dirty="0">
                <a:latin typeface="Arial"/>
                <a:cs typeface="Arial"/>
              </a:rPr>
              <a:t>: </a:t>
            </a:r>
            <a:r>
              <a:rPr sz="1000" spc="-260" dirty="0">
                <a:latin typeface="Arial"/>
                <a:cs typeface="Arial"/>
              </a:rPr>
              <a:t> </a:t>
            </a:r>
            <a:r>
              <a:rPr sz="1000" spc="-5" dirty="0">
                <a:latin typeface="Arial"/>
                <a:cs typeface="Arial"/>
              </a:rPr>
              <a:t>A contract</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which</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promises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push</a:t>
            </a:r>
            <a:r>
              <a:rPr sz="1000" dirty="0">
                <a:latin typeface="Arial"/>
                <a:cs typeface="Arial"/>
              </a:rPr>
              <a:t> </a:t>
            </a:r>
            <a:r>
              <a:rPr sz="1000" spc="-5" dirty="0">
                <a:latin typeface="Arial"/>
                <a:cs typeface="Arial"/>
              </a:rPr>
              <a:t>updates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client </a:t>
            </a:r>
            <a:r>
              <a:rPr sz="1000" dirty="0">
                <a:latin typeface="Arial"/>
                <a:cs typeface="Arial"/>
              </a:rPr>
              <a:t> </a:t>
            </a:r>
            <a:r>
              <a:rPr sz="1000" spc="-5" dirty="0">
                <a:latin typeface="Arial"/>
                <a:cs typeface="Arial"/>
              </a:rPr>
              <a:t>until</a:t>
            </a:r>
            <a:r>
              <a:rPr sz="1000" spc="-10" dirty="0">
                <a:latin typeface="Arial"/>
                <a:cs typeface="Arial"/>
              </a:rPr>
              <a:t> </a:t>
            </a:r>
            <a:r>
              <a:rPr sz="1000" spc="-5" dirty="0">
                <a:latin typeface="Arial"/>
                <a:cs typeface="Arial"/>
              </a:rPr>
              <a:t>the lease </a:t>
            </a:r>
            <a:r>
              <a:rPr sz="1000" spc="-10" dirty="0">
                <a:latin typeface="Arial"/>
                <a:cs typeface="Arial"/>
              </a:rPr>
              <a:t>expires.</a:t>
            </a:r>
            <a:endParaRPr sz="1000">
              <a:latin typeface="Arial"/>
              <a:cs typeface="Arial"/>
            </a:endParaRPr>
          </a:p>
          <a:p>
            <a:pPr marL="18415" marR="518159">
              <a:lnSpc>
                <a:spcPts val="1390"/>
              </a:lnSpc>
              <a:spcBef>
                <a:spcPts val="110"/>
              </a:spcBef>
            </a:pPr>
            <a:r>
              <a:rPr sz="1200" spc="-10" dirty="0">
                <a:solidFill>
                  <a:srgbClr val="3333B2"/>
                </a:solidFill>
                <a:latin typeface="Arial"/>
                <a:cs typeface="Arial"/>
              </a:rPr>
              <a:t>Make </a:t>
            </a:r>
            <a:r>
              <a:rPr sz="1200" spc="-5" dirty="0">
                <a:solidFill>
                  <a:srgbClr val="3333B2"/>
                </a:solidFill>
                <a:latin typeface="Arial"/>
                <a:cs typeface="Arial"/>
              </a:rPr>
              <a:t>lease </a:t>
            </a:r>
            <a:r>
              <a:rPr sz="1200" spc="-10" dirty="0">
                <a:solidFill>
                  <a:srgbClr val="3333B2"/>
                </a:solidFill>
                <a:latin typeface="Arial"/>
                <a:cs typeface="Arial"/>
              </a:rPr>
              <a:t>expiration </a:t>
            </a:r>
            <a:r>
              <a:rPr sz="1200" spc="-5" dirty="0">
                <a:solidFill>
                  <a:srgbClr val="3333B2"/>
                </a:solidFill>
                <a:latin typeface="Arial"/>
                <a:cs typeface="Arial"/>
              </a:rPr>
              <a:t>time dependent on </a:t>
            </a:r>
            <a:r>
              <a:rPr sz="1200" spc="-10" dirty="0">
                <a:solidFill>
                  <a:srgbClr val="3333B2"/>
                </a:solidFill>
                <a:latin typeface="Arial"/>
                <a:cs typeface="Arial"/>
              </a:rPr>
              <a:t>system’s </a:t>
            </a:r>
            <a:r>
              <a:rPr sz="1200" spc="-320" dirty="0">
                <a:solidFill>
                  <a:srgbClr val="3333B2"/>
                </a:solidFill>
                <a:latin typeface="Arial"/>
                <a:cs typeface="Arial"/>
              </a:rPr>
              <a:t> </a:t>
            </a:r>
            <a:r>
              <a:rPr sz="1200" spc="-10" dirty="0">
                <a:solidFill>
                  <a:srgbClr val="3333B2"/>
                </a:solidFill>
                <a:latin typeface="Arial"/>
                <a:cs typeface="Arial"/>
              </a:rPr>
              <a:t>behavior (adaptive</a:t>
            </a:r>
            <a:r>
              <a:rPr sz="1200" spc="-5" dirty="0">
                <a:solidFill>
                  <a:srgbClr val="3333B2"/>
                </a:solidFill>
                <a:latin typeface="Arial"/>
                <a:cs typeface="Arial"/>
              </a:rPr>
              <a:t> leases)</a:t>
            </a:r>
            <a:endParaRPr sz="1200">
              <a:latin typeface="Arial"/>
              <a:cs typeface="Arial"/>
            </a:endParaRPr>
          </a:p>
        </p:txBody>
      </p:sp>
      <p:sp>
        <p:nvSpPr>
          <p:cNvPr id="5" name="object 5"/>
          <p:cNvSpPr txBox="1"/>
          <p:nvPr/>
        </p:nvSpPr>
        <p:spPr>
          <a:xfrm>
            <a:off x="456704" y="2423177"/>
            <a:ext cx="3803650" cy="329565"/>
          </a:xfrm>
          <a:prstGeom prst="rect">
            <a:avLst/>
          </a:prstGeom>
        </p:spPr>
        <p:txBody>
          <a:bodyPr vert="horz" wrap="square" lIns="0" tIns="12065" rIns="0" bIns="0" rtlCol="0">
            <a:spAutoFit/>
          </a:bodyPr>
          <a:lstStyle/>
          <a:p>
            <a:pPr marL="180340" marR="5080" indent="-168275">
              <a:lnSpc>
                <a:spcPct val="100000"/>
              </a:lnSpc>
              <a:spcBef>
                <a:spcPts val="95"/>
              </a:spcBef>
              <a:buClr>
                <a:srgbClr val="3333B2"/>
              </a:buClr>
              <a:buChar char="►"/>
              <a:tabLst>
                <a:tab pos="180975" algn="l"/>
              </a:tabLst>
            </a:pPr>
            <a:r>
              <a:rPr sz="1000" spc="-5" dirty="0">
                <a:solidFill>
                  <a:srgbClr val="0000FA"/>
                </a:solidFill>
                <a:latin typeface="Arial"/>
                <a:cs typeface="Arial"/>
              </a:rPr>
              <a:t>State-based</a:t>
            </a:r>
            <a:r>
              <a:rPr sz="1000" spc="-10" dirty="0">
                <a:solidFill>
                  <a:srgbClr val="0000FA"/>
                </a:solidFill>
                <a:latin typeface="Arial"/>
                <a:cs typeface="Arial"/>
              </a:rPr>
              <a:t> </a:t>
            </a:r>
            <a:r>
              <a:rPr sz="1000" spc="-5" dirty="0">
                <a:solidFill>
                  <a:srgbClr val="0000FA"/>
                </a:solidFill>
                <a:latin typeface="Arial"/>
                <a:cs typeface="Arial"/>
              </a:rPr>
              <a:t>leases</a:t>
            </a:r>
            <a:r>
              <a:rPr sz="1000" spc="-5" dirty="0">
                <a:latin typeface="Arial"/>
                <a:cs typeface="Arial"/>
              </a:rPr>
              <a:t>:</a:t>
            </a:r>
            <a:r>
              <a:rPr sz="1000" spc="60" dirty="0">
                <a:latin typeface="Arial"/>
                <a:cs typeface="Arial"/>
              </a:rPr>
              <a:t> </a:t>
            </a:r>
            <a:r>
              <a:rPr sz="1000" spc="-10" dirty="0">
                <a:latin typeface="Arial"/>
                <a:cs typeface="Arial"/>
              </a:rPr>
              <a:t>The </a:t>
            </a:r>
            <a:r>
              <a:rPr sz="1000" spc="-5" dirty="0">
                <a:latin typeface="Arial"/>
                <a:cs typeface="Arial"/>
              </a:rPr>
              <a:t>more</a:t>
            </a:r>
            <a:r>
              <a:rPr sz="1000" spc="-10" dirty="0">
                <a:latin typeface="Arial"/>
                <a:cs typeface="Arial"/>
              </a:rPr>
              <a:t> </a:t>
            </a:r>
            <a:r>
              <a:rPr sz="1000" spc="-5" dirty="0">
                <a:latin typeface="Arial"/>
                <a:cs typeface="Arial"/>
              </a:rPr>
              <a:t>loaded</a:t>
            </a:r>
            <a:r>
              <a:rPr sz="1000" spc="-10"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server</a:t>
            </a:r>
            <a:r>
              <a:rPr sz="1000" spc="-10" dirty="0">
                <a:latin typeface="Arial"/>
                <a:cs typeface="Arial"/>
              </a:rPr>
              <a:t> is,</a:t>
            </a:r>
            <a:r>
              <a:rPr sz="1000" spc="-5" dirty="0">
                <a:latin typeface="Arial"/>
                <a:cs typeface="Arial"/>
              </a:rPr>
              <a:t> the</a:t>
            </a:r>
            <a:r>
              <a:rPr sz="1000" spc="-10" dirty="0">
                <a:latin typeface="Arial"/>
                <a:cs typeface="Arial"/>
              </a:rPr>
              <a:t> </a:t>
            </a:r>
            <a:r>
              <a:rPr sz="1000" dirty="0">
                <a:latin typeface="Arial"/>
                <a:cs typeface="Arial"/>
              </a:rPr>
              <a:t>shorter</a:t>
            </a:r>
            <a:r>
              <a:rPr sz="1000" spc="-10" dirty="0">
                <a:latin typeface="Arial"/>
                <a:cs typeface="Arial"/>
              </a:rPr>
              <a:t> </a:t>
            </a:r>
            <a:r>
              <a:rPr sz="1000" spc="-5" dirty="0">
                <a:latin typeface="Arial"/>
                <a:cs typeface="Arial"/>
              </a:rPr>
              <a:t>the </a:t>
            </a:r>
            <a:r>
              <a:rPr sz="1000" spc="-265" dirty="0">
                <a:latin typeface="Arial"/>
                <a:cs typeface="Arial"/>
              </a:rPr>
              <a:t> </a:t>
            </a:r>
            <a:r>
              <a:rPr sz="1000" spc="-10" dirty="0">
                <a:latin typeface="Arial"/>
                <a:cs typeface="Arial"/>
              </a:rPr>
              <a:t>expiration </a:t>
            </a:r>
            <a:r>
              <a:rPr sz="1000" spc="-5" dirty="0">
                <a:latin typeface="Arial"/>
                <a:cs typeface="Arial"/>
              </a:rPr>
              <a:t>times become</a:t>
            </a:r>
            <a:endParaRPr sz="1000">
              <a:latin typeface="Arial"/>
              <a:cs typeface="Arial"/>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9099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Pull</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versus</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push</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protocols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08095" algn="l"/>
              </a:tabLst>
            </a:pPr>
            <a:r>
              <a:rPr sz="600" spc="-5" dirty="0">
                <a:solidFill>
                  <a:srgbClr val="3333B2"/>
                </a:solidFill>
                <a:latin typeface="Arial"/>
                <a:cs typeface="Arial"/>
                <a:hlinkClick r:id="rId4" action="ppaction://hlinksldjump"/>
              </a:rPr>
              <a:t>Consistency</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and</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replication:</a:t>
            </a:r>
            <a:r>
              <a:rPr sz="600" spc="185" dirty="0">
                <a:solidFill>
                  <a:srgbClr val="3333B2"/>
                </a:solidFill>
                <a:latin typeface="Arial"/>
                <a:cs typeface="Arial"/>
              </a:rPr>
              <a:t> </a:t>
            </a:r>
            <a:r>
              <a:rPr sz="600" spc="-5" dirty="0">
                <a:solidFill>
                  <a:srgbClr val="3333B2"/>
                </a:solidFill>
                <a:latin typeface="Arial"/>
                <a:cs typeface="Arial"/>
                <a:hlinkClick r:id="rId5" action="ppaction://hlinksldjump"/>
              </a:rPr>
              <a:t>Replica</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management</a:t>
            </a:r>
            <a:r>
              <a:rPr sz="600" spc="-5" dirty="0">
                <a:solidFill>
                  <a:srgbClr val="3333B2"/>
                </a:solidFill>
                <a:latin typeface="Arial"/>
                <a:cs typeface="Arial"/>
              </a:rPr>
              <a:t>	</a:t>
            </a:r>
            <a:r>
              <a:rPr sz="600" spc="-5" dirty="0">
                <a:solidFill>
                  <a:srgbClr val="262685"/>
                </a:solidFill>
                <a:latin typeface="Arial"/>
                <a:cs typeface="Arial"/>
                <a:hlinkClick r:id="rId6" action="ppaction://hlinksldjump"/>
              </a:rPr>
              <a:t>Content</a:t>
            </a:r>
            <a:r>
              <a:rPr sz="600" spc="-25"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distribution</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5" dirty="0"/>
              <a:t>Content</a:t>
            </a:r>
            <a:r>
              <a:rPr spc="-35" dirty="0"/>
              <a:t> </a:t>
            </a:r>
            <a:r>
              <a:rPr spc="10" dirty="0"/>
              <a:t>distribution</a:t>
            </a:r>
          </a:p>
        </p:txBody>
      </p:sp>
      <p:sp>
        <p:nvSpPr>
          <p:cNvPr id="4" name="object 4"/>
          <p:cNvSpPr txBox="1"/>
          <p:nvPr/>
        </p:nvSpPr>
        <p:spPr>
          <a:xfrm>
            <a:off x="328650" y="413446"/>
            <a:ext cx="3962400" cy="2783205"/>
          </a:xfrm>
          <a:prstGeom prst="rect">
            <a:avLst/>
          </a:prstGeom>
        </p:spPr>
        <p:txBody>
          <a:bodyPr vert="horz" wrap="square" lIns="0" tIns="12065" rIns="0" bIns="0" rtlCol="0">
            <a:spAutoFit/>
          </a:bodyPr>
          <a:lstStyle/>
          <a:p>
            <a:pPr marL="31115">
              <a:lnSpc>
                <a:spcPts val="1410"/>
              </a:lnSpc>
              <a:spcBef>
                <a:spcPts val="95"/>
              </a:spcBef>
            </a:pPr>
            <a:r>
              <a:rPr sz="1200" spc="-5" dirty="0">
                <a:solidFill>
                  <a:srgbClr val="3333B2"/>
                </a:solidFill>
                <a:latin typeface="Arial"/>
                <a:cs typeface="Arial"/>
              </a:rPr>
              <a:t>Observation</a:t>
            </a:r>
            <a:endParaRPr sz="1200">
              <a:latin typeface="Arial"/>
              <a:cs typeface="Arial"/>
            </a:endParaRPr>
          </a:p>
          <a:p>
            <a:pPr marL="26670" marR="17780" indent="-1905">
              <a:lnSpc>
                <a:spcPts val="1200"/>
              </a:lnSpc>
              <a:spcBef>
                <a:spcPts val="10"/>
              </a:spcBef>
            </a:pPr>
            <a:r>
              <a:rPr sz="1000" spc="-20" dirty="0">
                <a:latin typeface="Arial"/>
                <a:cs typeface="Arial"/>
              </a:rPr>
              <a:t>We</a:t>
            </a:r>
            <a:r>
              <a:rPr sz="1000" spc="-5" dirty="0">
                <a:latin typeface="Arial"/>
                <a:cs typeface="Arial"/>
              </a:rPr>
              <a:t> can</a:t>
            </a:r>
            <a:r>
              <a:rPr sz="1000" dirty="0">
                <a:latin typeface="Arial"/>
                <a:cs typeface="Arial"/>
              </a:rPr>
              <a:t> </a:t>
            </a:r>
            <a:r>
              <a:rPr sz="1000" spc="-5" dirty="0">
                <a:latin typeface="Arial"/>
                <a:cs typeface="Arial"/>
              </a:rPr>
              <a:t>dynamically</a:t>
            </a:r>
            <a:r>
              <a:rPr sz="1000" dirty="0">
                <a:latin typeface="Arial"/>
                <a:cs typeface="Arial"/>
              </a:rPr>
              <a:t> </a:t>
            </a:r>
            <a:r>
              <a:rPr sz="1000" spc="-10" dirty="0">
                <a:latin typeface="Arial"/>
                <a:cs typeface="Arial"/>
              </a:rPr>
              <a:t>switch</a:t>
            </a:r>
            <a:r>
              <a:rPr sz="1000" spc="-5" dirty="0">
                <a:latin typeface="Arial"/>
                <a:cs typeface="Arial"/>
              </a:rPr>
              <a:t> between</a:t>
            </a:r>
            <a:r>
              <a:rPr sz="1000" dirty="0">
                <a:latin typeface="Arial"/>
                <a:cs typeface="Arial"/>
              </a:rPr>
              <a:t> </a:t>
            </a:r>
            <a:r>
              <a:rPr sz="1000" spc="-5" dirty="0">
                <a:latin typeface="Arial"/>
                <a:cs typeface="Arial"/>
              </a:rPr>
              <a:t>pulling</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pushing using</a:t>
            </a:r>
            <a:r>
              <a:rPr sz="1000" dirty="0">
                <a:latin typeface="Arial"/>
                <a:cs typeface="Arial"/>
              </a:rPr>
              <a:t> </a:t>
            </a:r>
            <a:r>
              <a:rPr sz="1000" spc="-5" dirty="0">
                <a:solidFill>
                  <a:srgbClr val="0000FA"/>
                </a:solidFill>
                <a:latin typeface="Arial"/>
                <a:cs typeface="Arial"/>
              </a:rPr>
              <a:t>leases</a:t>
            </a:r>
            <a:r>
              <a:rPr sz="1000" spc="-5" dirty="0">
                <a:latin typeface="Arial"/>
                <a:cs typeface="Arial"/>
              </a:rPr>
              <a:t>: </a:t>
            </a:r>
            <a:r>
              <a:rPr sz="1000" spc="-260" dirty="0">
                <a:latin typeface="Arial"/>
                <a:cs typeface="Arial"/>
              </a:rPr>
              <a:t> </a:t>
            </a:r>
            <a:r>
              <a:rPr sz="1000" spc="-5" dirty="0">
                <a:latin typeface="Arial"/>
                <a:cs typeface="Arial"/>
              </a:rPr>
              <a:t>A contract</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which</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promises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push</a:t>
            </a:r>
            <a:r>
              <a:rPr sz="1000" dirty="0">
                <a:latin typeface="Arial"/>
                <a:cs typeface="Arial"/>
              </a:rPr>
              <a:t> </a:t>
            </a:r>
            <a:r>
              <a:rPr sz="1000" spc="-5" dirty="0">
                <a:latin typeface="Arial"/>
                <a:cs typeface="Arial"/>
              </a:rPr>
              <a:t>updates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client </a:t>
            </a:r>
            <a:r>
              <a:rPr sz="1000" dirty="0">
                <a:latin typeface="Arial"/>
                <a:cs typeface="Arial"/>
              </a:rPr>
              <a:t> </a:t>
            </a:r>
            <a:r>
              <a:rPr sz="1000" spc="-5" dirty="0">
                <a:latin typeface="Arial"/>
                <a:cs typeface="Arial"/>
              </a:rPr>
              <a:t>until</a:t>
            </a:r>
            <a:r>
              <a:rPr sz="1000" spc="-10" dirty="0">
                <a:latin typeface="Arial"/>
                <a:cs typeface="Arial"/>
              </a:rPr>
              <a:t> </a:t>
            </a:r>
            <a:r>
              <a:rPr sz="1000" spc="-5" dirty="0">
                <a:latin typeface="Arial"/>
                <a:cs typeface="Arial"/>
              </a:rPr>
              <a:t>the lease </a:t>
            </a:r>
            <a:r>
              <a:rPr sz="1000" spc="-10" dirty="0">
                <a:latin typeface="Arial"/>
                <a:cs typeface="Arial"/>
              </a:rPr>
              <a:t>expires.</a:t>
            </a:r>
            <a:endParaRPr sz="1000">
              <a:latin typeface="Arial"/>
              <a:cs typeface="Arial"/>
            </a:endParaRPr>
          </a:p>
          <a:p>
            <a:pPr marL="31115" marR="530860">
              <a:lnSpc>
                <a:spcPts val="1390"/>
              </a:lnSpc>
              <a:spcBef>
                <a:spcPts val="110"/>
              </a:spcBef>
            </a:pPr>
            <a:r>
              <a:rPr sz="1200" spc="-10" dirty="0">
                <a:solidFill>
                  <a:srgbClr val="3333B2"/>
                </a:solidFill>
                <a:latin typeface="Arial"/>
                <a:cs typeface="Arial"/>
              </a:rPr>
              <a:t>Make </a:t>
            </a:r>
            <a:r>
              <a:rPr sz="1200" spc="-5" dirty="0">
                <a:solidFill>
                  <a:srgbClr val="3333B2"/>
                </a:solidFill>
                <a:latin typeface="Arial"/>
                <a:cs typeface="Arial"/>
              </a:rPr>
              <a:t>lease </a:t>
            </a:r>
            <a:r>
              <a:rPr sz="1200" spc="-10" dirty="0">
                <a:solidFill>
                  <a:srgbClr val="3333B2"/>
                </a:solidFill>
                <a:latin typeface="Arial"/>
                <a:cs typeface="Arial"/>
              </a:rPr>
              <a:t>expiration </a:t>
            </a:r>
            <a:r>
              <a:rPr sz="1200" spc="-5" dirty="0">
                <a:solidFill>
                  <a:srgbClr val="3333B2"/>
                </a:solidFill>
                <a:latin typeface="Arial"/>
                <a:cs typeface="Arial"/>
              </a:rPr>
              <a:t>time dependent on </a:t>
            </a:r>
            <a:r>
              <a:rPr sz="1200" spc="-10" dirty="0">
                <a:solidFill>
                  <a:srgbClr val="3333B2"/>
                </a:solidFill>
                <a:latin typeface="Arial"/>
                <a:cs typeface="Arial"/>
              </a:rPr>
              <a:t>system’s </a:t>
            </a:r>
            <a:r>
              <a:rPr sz="1200" spc="-320" dirty="0">
                <a:solidFill>
                  <a:srgbClr val="3333B2"/>
                </a:solidFill>
                <a:latin typeface="Arial"/>
                <a:cs typeface="Arial"/>
              </a:rPr>
              <a:t> </a:t>
            </a:r>
            <a:r>
              <a:rPr sz="1200" spc="-10" dirty="0">
                <a:solidFill>
                  <a:srgbClr val="3333B2"/>
                </a:solidFill>
                <a:latin typeface="Arial"/>
                <a:cs typeface="Arial"/>
              </a:rPr>
              <a:t>behavior (adaptive</a:t>
            </a:r>
            <a:r>
              <a:rPr sz="1200" spc="-5" dirty="0">
                <a:solidFill>
                  <a:srgbClr val="3333B2"/>
                </a:solidFill>
                <a:latin typeface="Arial"/>
                <a:cs typeface="Arial"/>
              </a:rPr>
              <a:t> leases)</a:t>
            </a:r>
            <a:endParaRPr sz="1200">
              <a:latin typeface="Arial"/>
              <a:cs typeface="Arial"/>
            </a:endParaRPr>
          </a:p>
          <a:p>
            <a:pPr marL="303530" marR="20955" indent="-163195">
              <a:lnSpc>
                <a:spcPct val="100000"/>
              </a:lnSpc>
              <a:spcBef>
                <a:spcPts val="740"/>
              </a:spcBef>
              <a:buClr>
                <a:srgbClr val="3333B2"/>
              </a:buClr>
              <a:buChar char="►"/>
              <a:tabLst>
                <a:tab pos="308610" algn="l"/>
              </a:tabLst>
            </a:pPr>
            <a:r>
              <a:rPr sz="1000" spc="-5" dirty="0">
                <a:solidFill>
                  <a:srgbClr val="0000FA"/>
                </a:solidFill>
                <a:latin typeface="Arial"/>
                <a:cs typeface="Arial"/>
              </a:rPr>
              <a:t>Age-based</a:t>
            </a:r>
            <a:r>
              <a:rPr sz="1000" dirty="0">
                <a:solidFill>
                  <a:srgbClr val="0000FA"/>
                </a:solidFill>
                <a:latin typeface="Arial"/>
                <a:cs typeface="Arial"/>
              </a:rPr>
              <a:t> </a:t>
            </a:r>
            <a:r>
              <a:rPr sz="1000" spc="-5" dirty="0">
                <a:solidFill>
                  <a:srgbClr val="0000FA"/>
                </a:solidFill>
                <a:latin typeface="Arial"/>
                <a:cs typeface="Arial"/>
              </a:rPr>
              <a:t>leases</a:t>
            </a:r>
            <a:r>
              <a:rPr sz="1000" spc="-5" dirty="0">
                <a:latin typeface="Arial"/>
                <a:cs typeface="Arial"/>
              </a:rPr>
              <a:t>:</a:t>
            </a:r>
            <a:r>
              <a:rPr sz="1000" spc="65"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object</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hasn’t</a:t>
            </a:r>
            <a:r>
              <a:rPr sz="1000" dirty="0">
                <a:latin typeface="Arial"/>
                <a:cs typeface="Arial"/>
              </a:rPr>
              <a:t> </a:t>
            </a:r>
            <a:r>
              <a:rPr sz="1000" spc="-5" dirty="0">
                <a:latin typeface="Arial"/>
                <a:cs typeface="Arial"/>
              </a:rPr>
              <a:t>changed</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long</a:t>
            </a:r>
            <a:r>
              <a:rPr sz="1000" dirty="0">
                <a:latin typeface="Arial"/>
                <a:cs typeface="Arial"/>
              </a:rPr>
              <a:t> </a:t>
            </a:r>
            <a:r>
              <a:rPr sz="1000" spc="-5" dirty="0">
                <a:latin typeface="Arial"/>
                <a:cs typeface="Arial"/>
              </a:rPr>
              <a:t>time, </a:t>
            </a:r>
            <a:r>
              <a:rPr sz="1000" spc="-265" dirty="0">
                <a:latin typeface="Arial"/>
                <a:cs typeface="Arial"/>
              </a:rPr>
              <a:t> </a:t>
            </a:r>
            <a:r>
              <a:rPr sz="1000" spc="-5" dirty="0">
                <a:latin typeface="Arial"/>
                <a:cs typeface="Arial"/>
              </a:rPr>
              <a:t>will not</a:t>
            </a:r>
            <a:r>
              <a:rPr sz="1000" dirty="0">
                <a:latin typeface="Arial"/>
                <a:cs typeface="Arial"/>
              </a:rPr>
              <a:t> </a:t>
            </a:r>
            <a:r>
              <a:rPr sz="1000" spc="-5" dirty="0">
                <a:latin typeface="Arial"/>
                <a:cs typeface="Arial"/>
              </a:rPr>
              <a:t>change</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near future,</a:t>
            </a:r>
            <a:r>
              <a:rPr sz="1000" dirty="0">
                <a:latin typeface="Arial"/>
                <a:cs typeface="Arial"/>
              </a:rPr>
              <a:t> </a:t>
            </a:r>
            <a:r>
              <a:rPr sz="1000" spc="-5" dirty="0">
                <a:latin typeface="Arial"/>
                <a:cs typeface="Arial"/>
              </a:rPr>
              <a:t>so</a:t>
            </a:r>
            <a:r>
              <a:rPr sz="1000" dirty="0">
                <a:latin typeface="Arial"/>
                <a:cs typeface="Arial"/>
              </a:rPr>
              <a:t> </a:t>
            </a:r>
            <a:r>
              <a:rPr sz="1000" spc="-5" dirty="0">
                <a:latin typeface="Arial"/>
                <a:cs typeface="Arial"/>
              </a:rPr>
              <a:t>provide</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long-lasting</a:t>
            </a:r>
            <a:r>
              <a:rPr sz="1000" dirty="0">
                <a:latin typeface="Arial"/>
                <a:cs typeface="Arial"/>
              </a:rPr>
              <a:t> </a:t>
            </a:r>
            <a:r>
              <a:rPr sz="1000" spc="-5" dirty="0">
                <a:latin typeface="Arial"/>
                <a:cs typeface="Arial"/>
              </a:rPr>
              <a:t>lease</a:t>
            </a:r>
            <a:endParaRPr sz="1000">
              <a:latin typeface="Arial"/>
              <a:cs typeface="Arial"/>
            </a:endParaRPr>
          </a:p>
          <a:p>
            <a:pPr marL="307975" marR="103505" indent="-168275">
              <a:lnSpc>
                <a:spcPct val="100000"/>
              </a:lnSpc>
              <a:spcBef>
                <a:spcPts val="590"/>
              </a:spcBef>
              <a:buClr>
                <a:srgbClr val="3333B2"/>
              </a:buClr>
              <a:buChar char="►"/>
              <a:tabLst>
                <a:tab pos="308610" algn="l"/>
              </a:tabLst>
            </a:pPr>
            <a:r>
              <a:rPr sz="1000" spc="-5" dirty="0">
                <a:solidFill>
                  <a:srgbClr val="0000FA"/>
                </a:solidFill>
                <a:latin typeface="Arial"/>
                <a:cs typeface="Arial"/>
              </a:rPr>
              <a:t>Renewal-frequency based leases</a:t>
            </a:r>
            <a:r>
              <a:rPr sz="1000" spc="-5" dirty="0">
                <a:latin typeface="Arial"/>
                <a:cs typeface="Arial"/>
              </a:rPr>
              <a:t>:</a:t>
            </a:r>
            <a:r>
              <a:rPr sz="1000" spc="60" dirty="0">
                <a:latin typeface="Arial"/>
                <a:cs typeface="Arial"/>
              </a:rPr>
              <a:t> </a:t>
            </a:r>
            <a:r>
              <a:rPr sz="1000" spc="-5" dirty="0">
                <a:latin typeface="Arial"/>
                <a:cs typeface="Arial"/>
              </a:rPr>
              <a:t>The more often a</a:t>
            </a:r>
            <a:r>
              <a:rPr sz="1000" dirty="0">
                <a:latin typeface="Arial"/>
                <a:cs typeface="Arial"/>
              </a:rPr>
              <a:t> </a:t>
            </a:r>
            <a:r>
              <a:rPr sz="1000" spc="-5" dirty="0">
                <a:latin typeface="Arial"/>
                <a:cs typeface="Arial"/>
              </a:rPr>
              <a:t>client </a:t>
            </a:r>
            <a:r>
              <a:rPr sz="1000" dirty="0">
                <a:latin typeface="Arial"/>
                <a:cs typeface="Arial"/>
              </a:rPr>
              <a:t> </a:t>
            </a:r>
            <a:r>
              <a:rPr sz="1000" spc="-5" dirty="0">
                <a:latin typeface="Arial"/>
                <a:cs typeface="Arial"/>
              </a:rPr>
              <a:t>requests</a:t>
            </a:r>
            <a:r>
              <a:rPr sz="1000"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specific</a:t>
            </a:r>
            <a:r>
              <a:rPr sz="1000" spc="5" dirty="0">
                <a:latin typeface="Arial"/>
                <a:cs typeface="Arial"/>
              </a:rPr>
              <a:t> </a:t>
            </a:r>
            <a:r>
              <a:rPr sz="1000" spc="-5" dirty="0">
                <a:latin typeface="Arial"/>
                <a:cs typeface="Arial"/>
              </a:rPr>
              <a:t>object,</a:t>
            </a:r>
            <a:r>
              <a:rPr sz="1000" spc="5"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longer</a:t>
            </a:r>
            <a:r>
              <a:rPr sz="1000" spc="5" dirty="0">
                <a:latin typeface="Arial"/>
                <a:cs typeface="Arial"/>
              </a:rPr>
              <a:t> </a:t>
            </a:r>
            <a:r>
              <a:rPr sz="1000" spc="-5" dirty="0">
                <a:latin typeface="Arial"/>
                <a:cs typeface="Arial"/>
              </a:rPr>
              <a:t>the</a:t>
            </a:r>
            <a:r>
              <a:rPr sz="1000" spc="5" dirty="0">
                <a:latin typeface="Arial"/>
                <a:cs typeface="Arial"/>
              </a:rPr>
              <a:t> </a:t>
            </a:r>
            <a:r>
              <a:rPr sz="1000" spc="-10" dirty="0">
                <a:latin typeface="Arial"/>
                <a:cs typeface="Arial"/>
              </a:rPr>
              <a:t>expiration</a:t>
            </a:r>
            <a:r>
              <a:rPr sz="1000" spc="5" dirty="0">
                <a:latin typeface="Arial"/>
                <a:cs typeface="Arial"/>
              </a:rPr>
              <a:t> </a:t>
            </a:r>
            <a:r>
              <a:rPr sz="1000" spc="-5" dirty="0">
                <a:latin typeface="Arial"/>
                <a:cs typeface="Arial"/>
              </a:rPr>
              <a:t>time</a:t>
            </a:r>
            <a:r>
              <a:rPr sz="1000" spc="5"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that </a:t>
            </a:r>
            <a:r>
              <a:rPr sz="1000" spc="-260" dirty="0">
                <a:latin typeface="Arial"/>
                <a:cs typeface="Arial"/>
              </a:rPr>
              <a:t> </a:t>
            </a:r>
            <a:r>
              <a:rPr sz="1000" spc="-5" dirty="0">
                <a:latin typeface="Arial"/>
                <a:cs typeface="Arial"/>
              </a:rPr>
              <a:t>client</a:t>
            </a:r>
            <a:r>
              <a:rPr sz="1000" spc="-10" dirty="0">
                <a:latin typeface="Arial"/>
                <a:cs typeface="Arial"/>
              </a:rPr>
              <a:t> (for</a:t>
            </a:r>
            <a:r>
              <a:rPr sz="1000" spc="-5" dirty="0">
                <a:latin typeface="Arial"/>
                <a:cs typeface="Arial"/>
              </a:rPr>
              <a:t> that object) will be</a:t>
            </a:r>
            <a:endParaRPr sz="1000">
              <a:latin typeface="Arial"/>
              <a:cs typeface="Arial"/>
            </a:endParaRPr>
          </a:p>
          <a:p>
            <a:pPr marL="307975" marR="35560" indent="-168275">
              <a:lnSpc>
                <a:spcPct val="100000"/>
              </a:lnSpc>
              <a:spcBef>
                <a:spcPts val="580"/>
              </a:spcBef>
              <a:buClr>
                <a:srgbClr val="3333B2"/>
              </a:buClr>
              <a:buChar char="►"/>
              <a:tabLst>
                <a:tab pos="308610" algn="l"/>
              </a:tabLst>
            </a:pPr>
            <a:r>
              <a:rPr sz="1000" spc="-5" dirty="0">
                <a:solidFill>
                  <a:srgbClr val="0000FA"/>
                </a:solidFill>
                <a:latin typeface="Arial"/>
                <a:cs typeface="Arial"/>
              </a:rPr>
              <a:t>State-based</a:t>
            </a:r>
            <a:r>
              <a:rPr sz="1000" spc="-10" dirty="0">
                <a:solidFill>
                  <a:srgbClr val="0000FA"/>
                </a:solidFill>
                <a:latin typeface="Arial"/>
                <a:cs typeface="Arial"/>
              </a:rPr>
              <a:t> </a:t>
            </a:r>
            <a:r>
              <a:rPr sz="1000" spc="-5" dirty="0">
                <a:solidFill>
                  <a:srgbClr val="0000FA"/>
                </a:solidFill>
                <a:latin typeface="Arial"/>
                <a:cs typeface="Arial"/>
              </a:rPr>
              <a:t>leases</a:t>
            </a:r>
            <a:r>
              <a:rPr sz="1000" spc="-5" dirty="0">
                <a:latin typeface="Arial"/>
                <a:cs typeface="Arial"/>
              </a:rPr>
              <a:t>:</a:t>
            </a:r>
            <a:r>
              <a:rPr sz="1000" spc="60" dirty="0">
                <a:latin typeface="Arial"/>
                <a:cs typeface="Arial"/>
              </a:rPr>
              <a:t> </a:t>
            </a:r>
            <a:r>
              <a:rPr sz="1000" spc="-10" dirty="0">
                <a:latin typeface="Arial"/>
                <a:cs typeface="Arial"/>
              </a:rPr>
              <a:t>The </a:t>
            </a:r>
            <a:r>
              <a:rPr sz="1000" spc="-5" dirty="0">
                <a:latin typeface="Arial"/>
                <a:cs typeface="Arial"/>
              </a:rPr>
              <a:t>more</a:t>
            </a:r>
            <a:r>
              <a:rPr sz="1000" spc="-10" dirty="0">
                <a:latin typeface="Arial"/>
                <a:cs typeface="Arial"/>
              </a:rPr>
              <a:t> </a:t>
            </a:r>
            <a:r>
              <a:rPr sz="1000" spc="-5" dirty="0">
                <a:latin typeface="Arial"/>
                <a:cs typeface="Arial"/>
              </a:rPr>
              <a:t>loaded</a:t>
            </a:r>
            <a:r>
              <a:rPr sz="1000" spc="-10"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server </a:t>
            </a:r>
            <a:r>
              <a:rPr sz="1000" spc="-10" dirty="0">
                <a:latin typeface="Arial"/>
                <a:cs typeface="Arial"/>
              </a:rPr>
              <a:t>is, </a:t>
            </a:r>
            <a:r>
              <a:rPr sz="1000" spc="-5" dirty="0">
                <a:latin typeface="Arial"/>
                <a:cs typeface="Arial"/>
              </a:rPr>
              <a:t>the</a:t>
            </a:r>
            <a:r>
              <a:rPr sz="1000" spc="-10" dirty="0">
                <a:latin typeface="Arial"/>
                <a:cs typeface="Arial"/>
              </a:rPr>
              <a:t> </a:t>
            </a:r>
            <a:r>
              <a:rPr sz="1000" dirty="0">
                <a:latin typeface="Arial"/>
                <a:cs typeface="Arial"/>
              </a:rPr>
              <a:t>shorter</a:t>
            </a:r>
            <a:r>
              <a:rPr sz="1000" spc="-10" dirty="0">
                <a:latin typeface="Arial"/>
                <a:cs typeface="Arial"/>
              </a:rPr>
              <a:t> </a:t>
            </a:r>
            <a:r>
              <a:rPr sz="1000" spc="-5" dirty="0">
                <a:latin typeface="Arial"/>
                <a:cs typeface="Arial"/>
              </a:rPr>
              <a:t>the </a:t>
            </a:r>
            <a:r>
              <a:rPr sz="1000" spc="-265" dirty="0">
                <a:latin typeface="Arial"/>
                <a:cs typeface="Arial"/>
              </a:rPr>
              <a:t> </a:t>
            </a:r>
            <a:r>
              <a:rPr sz="1000" spc="-10" dirty="0">
                <a:latin typeface="Arial"/>
                <a:cs typeface="Arial"/>
              </a:rPr>
              <a:t>expiration </a:t>
            </a:r>
            <a:r>
              <a:rPr sz="1000" spc="-5" dirty="0">
                <a:latin typeface="Arial"/>
                <a:cs typeface="Arial"/>
              </a:rPr>
              <a:t>times become</a:t>
            </a:r>
            <a:endParaRPr sz="1000">
              <a:latin typeface="Arial"/>
              <a:cs typeface="Arial"/>
            </a:endParaRPr>
          </a:p>
          <a:p>
            <a:pPr marL="31115">
              <a:lnSpc>
                <a:spcPts val="1420"/>
              </a:lnSpc>
              <a:spcBef>
                <a:spcPts val="900"/>
              </a:spcBef>
            </a:pPr>
            <a:r>
              <a:rPr sz="1200" spc="-5" dirty="0">
                <a:solidFill>
                  <a:srgbClr val="FA0000"/>
                </a:solidFill>
                <a:latin typeface="Arial"/>
                <a:cs typeface="Arial"/>
              </a:rPr>
              <a:t>Question</a:t>
            </a:r>
            <a:endParaRPr sz="1200">
              <a:latin typeface="Arial"/>
              <a:cs typeface="Arial"/>
            </a:endParaRPr>
          </a:p>
          <a:p>
            <a:pPr marL="25400">
              <a:lnSpc>
                <a:spcPts val="1180"/>
              </a:lnSpc>
            </a:pPr>
            <a:r>
              <a:rPr sz="1000" spc="-15" dirty="0">
                <a:latin typeface="Arial"/>
                <a:cs typeface="Arial"/>
              </a:rPr>
              <a:t>Why </a:t>
            </a:r>
            <a:r>
              <a:rPr sz="1000" spc="-5" dirty="0">
                <a:latin typeface="Arial"/>
                <a:cs typeface="Arial"/>
              </a:rPr>
              <a:t>are</a:t>
            </a:r>
            <a:r>
              <a:rPr sz="1000" spc="-10" dirty="0">
                <a:latin typeface="Arial"/>
                <a:cs typeface="Arial"/>
              </a:rPr>
              <a:t> we </a:t>
            </a:r>
            <a:r>
              <a:rPr sz="1000" spc="-5" dirty="0">
                <a:latin typeface="Arial"/>
                <a:cs typeface="Arial"/>
              </a:rPr>
              <a:t>doing</a:t>
            </a:r>
            <a:r>
              <a:rPr sz="1000" spc="-10" dirty="0">
                <a:latin typeface="Arial"/>
                <a:cs typeface="Arial"/>
              </a:rPr>
              <a:t> </a:t>
            </a:r>
            <a:r>
              <a:rPr sz="1000" spc="-5" dirty="0">
                <a:latin typeface="Arial"/>
                <a:cs typeface="Arial"/>
              </a:rPr>
              <a:t>all</a:t>
            </a:r>
            <a:r>
              <a:rPr sz="1000" spc="-10" dirty="0">
                <a:latin typeface="Arial"/>
                <a:cs typeface="Arial"/>
              </a:rPr>
              <a:t> </a:t>
            </a:r>
            <a:r>
              <a:rPr sz="1000" spc="-5" dirty="0">
                <a:latin typeface="Arial"/>
                <a:cs typeface="Arial"/>
              </a:rPr>
              <a:t>this?</a:t>
            </a:r>
            <a:endParaRPr sz="1000">
              <a:latin typeface="Arial"/>
              <a:cs typeface="Arial"/>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019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Bounding</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numerical</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deviation</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31</a:t>
            </a:r>
            <a:r>
              <a:rPr spc="-40" dirty="0"/>
              <a:t> </a:t>
            </a:r>
            <a:r>
              <a:rPr spc="-5" dirty="0"/>
              <a:t>/</a:t>
            </a:r>
            <a:r>
              <a:rPr spc="-35" dirty="0"/>
              <a:t> </a:t>
            </a:r>
            <a:r>
              <a:rPr spc="-5" dirty="0"/>
              <a:t>37</a:t>
            </a:r>
          </a:p>
        </p:txBody>
      </p:sp>
      <p:sp>
        <p:nvSpPr>
          <p:cNvPr id="2" name="object 2"/>
          <p:cNvSpPr txBox="1"/>
          <p:nvPr/>
        </p:nvSpPr>
        <p:spPr>
          <a:xfrm>
            <a:off x="66713" y="716"/>
            <a:ext cx="17570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Consistency</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and</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replication:</a:t>
            </a:r>
            <a:r>
              <a:rPr sz="600" spc="175" dirty="0">
                <a:solidFill>
                  <a:srgbClr val="3333B2"/>
                </a:solidFill>
                <a:latin typeface="Arial"/>
                <a:cs typeface="Arial"/>
              </a:rPr>
              <a:t> </a:t>
            </a: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protocols</a:t>
            </a:r>
            <a:endParaRPr sz="600">
              <a:latin typeface="Arial"/>
              <a:cs typeface="Arial"/>
            </a:endParaRPr>
          </a:p>
        </p:txBody>
      </p:sp>
      <p:sp>
        <p:nvSpPr>
          <p:cNvPr id="3" name="object 3"/>
          <p:cNvSpPr txBox="1"/>
          <p:nvPr/>
        </p:nvSpPr>
        <p:spPr>
          <a:xfrm>
            <a:off x="3714985" y="716"/>
            <a:ext cx="826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Continuous</a:t>
            </a:r>
            <a:r>
              <a:rPr sz="600" spc="-2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consistency</a:t>
            </a:r>
            <a:endParaRPr sz="600">
              <a:latin typeface="Arial"/>
              <a:cs typeface="Arial"/>
            </a:endParaRPr>
          </a:p>
        </p:txBody>
      </p:sp>
      <p:sp>
        <p:nvSpPr>
          <p:cNvPr id="4" name="object 4"/>
          <p:cNvSpPr txBox="1"/>
          <p:nvPr/>
        </p:nvSpPr>
        <p:spPr>
          <a:xfrm>
            <a:off x="82600" y="188846"/>
            <a:ext cx="3955415" cy="253873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Continuous</a:t>
            </a:r>
            <a:r>
              <a:rPr sz="1400" spc="-10" dirty="0">
                <a:solidFill>
                  <a:srgbClr val="3333B2"/>
                </a:solidFill>
                <a:latin typeface="Arial"/>
                <a:cs typeface="Arial"/>
              </a:rPr>
              <a:t> </a:t>
            </a:r>
            <a:r>
              <a:rPr sz="1400" spc="15" dirty="0">
                <a:solidFill>
                  <a:srgbClr val="3333B2"/>
                </a:solidFill>
                <a:latin typeface="Arial"/>
                <a:cs typeface="Arial"/>
              </a:rPr>
              <a:t>consistency:</a:t>
            </a:r>
            <a:r>
              <a:rPr sz="1400" spc="85" dirty="0">
                <a:solidFill>
                  <a:srgbClr val="3333B2"/>
                </a:solidFill>
                <a:latin typeface="Arial"/>
                <a:cs typeface="Arial"/>
              </a:rPr>
              <a:t> </a:t>
            </a:r>
            <a:r>
              <a:rPr sz="1400" spc="15" dirty="0">
                <a:solidFill>
                  <a:srgbClr val="3333B2"/>
                </a:solidFill>
                <a:latin typeface="Arial"/>
                <a:cs typeface="Arial"/>
              </a:rPr>
              <a:t>Numerical</a:t>
            </a:r>
            <a:r>
              <a:rPr sz="1400" spc="-10" dirty="0">
                <a:solidFill>
                  <a:srgbClr val="3333B2"/>
                </a:solidFill>
                <a:latin typeface="Arial"/>
                <a:cs typeface="Arial"/>
              </a:rPr>
              <a:t> </a:t>
            </a:r>
            <a:r>
              <a:rPr sz="1400" spc="15" dirty="0">
                <a:solidFill>
                  <a:srgbClr val="3333B2"/>
                </a:solidFill>
                <a:latin typeface="Arial"/>
                <a:cs typeface="Arial"/>
              </a:rPr>
              <a:t>errors</a:t>
            </a:r>
            <a:endParaRPr sz="1400">
              <a:latin typeface="Arial"/>
              <a:cs typeface="Arial"/>
            </a:endParaRPr>
          </a:p>
          <a:p>
            <a:pPr>
              <a:lnSpc>
                <a:spcPct val="100000"/>
              </a:lnSpc>
              <a:spcBef>
                <a:spcPts val="20"/>
              </a:spcBef>
            </a:pPr>
            <a:endParaRPr sz="1900">
              <a:latin typeface="Arial"/>
              <a:cs typeface="Arial"/>
            </a:endParaRPr>
          </a:p>
          <a:p>
            <a:pPr marL="276860">
              <a:lnSpc>
                <a:spcPct val="100000"/>
              </a:lnSpc>
            </a:pPr>
            <a:r>
              <a:rPr sz="1200" spc="-5" dirty="0">
                <a:solidFill>
                  <a:srgbClr val="3333B2"/>
                </a:solidFill>
                <a:latin typeface="Arial"/>
                <a:cs typeface="Arial"/>
              </a:rPr>
              <a:t>Principal</a:t>
            </a:r>
            <a:r>
              <a:rPr sz="1200" spc="-30" dirty="0">
                <a:solidFill>
                  <a:srgbClr val="3333B2"/>
                </a:solidFill>
                <a:latin typeface="Arial"/>
                <a:cs typeface="Arial"/>
              </a:rPr>
              <a:t> </a:t>
            </a:r>
            <a:r>
              <a:rPr sz="1200" spc="-5" dirty="0">
                <a:solidFill>
                  <a:srgbClr val="3333B2"/>
                </a:solidFill>
                <a:latin typeface="Arial"/>
                <a:cs typeface="Arial"/>
              </a:rPr>
              <a:t>operation</a:t>
            </a:r>
            <a:endParaRPr sz="1200">
              <a:latin typeface="Arial"/>
              <a:cs typeface="Arial"/>
            </a:endParaRPr>
          </a:p>
          <a:p>
            <a:pPr marL="554355" indent="-168275">
              <a:lnSpc>
                <a:spcPct val="100000"/>
              </a:lnSpc>
              <a:spcBef>
                <a:spcPts val="770"/>
              </a:spcBef>
              <a:buClr>
                <a:srgbClr val="3333B2"/>
              </a:buClr>
              <a:buChar char="►"/>
              <a:tabLst>
                <a:tab pos="554990" algn="l"/>
              </a:tabLst>
            </a:pPr>
            <a:r>
              <a:rPr sz="1000" spc="-5" dirty="0">
                <a:latin typeface="Arial"/>
                <a:cs typeface="Arial"/>
              </a:rPr>
              <a:t>Every server </a:t>
            </a:r>
            <a:r>
              <a:rPr sz="1000" i="1" dirty="0">
                <a:latin typeface="Arial"/>
                <a:cs typeface="Arial"/>
              </a:rPr>
              <a:t>S</a:t>
            </a:r>
            <a:r>
              <a:rPr sz="1050" i="1" baseline="-15873" dirty="0">
                <a:latin typeface="Arial"/>
                <a:cs typeface="Arial"/>
              </a:rPr>
              <a:t>i</a:t>
            </a:r>
            <a:r>
              <a:rPr sz="1050" i="1" spc="7" baseline="-15873" dirty="0">
                <a:latin typeface="Arial"/>
                <a:cs typeface="Arial"/>
              </a:rPr>
              <a:t> </a:t>
            </a:r>
            <a:r>
              <a:rPr sz="1000" spc="-5" dirty="0">
                <a:latin typeface="Arial"/>
                <a:cs typeface="Arial"/>
              </a:rPr>
              <a:t>has a log, denoted as </a:t>
            </a:r>
            <a:r>
              <a:rPr sz="1000" i="1" dirty="0">
                <a:solidFill>
                  <a:srgbClr val="FA0000"/>
                </a:solidFill>
                <a:latin typeface="Arial"/>
                <a:cs typeface="Arial"/>
              </a:rPr>
              <a:t>L</a:t>
            </a:r>
            <a:r>
              <a:rPr sz="1050" i="1" baseline="-15873" dirty="0">
                <a:solidFill>
                  <a:srgbClr val="FA0000"/>
                </a:solidFill>
                <a:latin typeface="Arial"/>
                <a:cs typeface="Arial"/>
              </a:rPr>
              <a:t>i</a:t>
            </a:r>
            <a:r>
              <a:rPr sz="1050" i="1" spc="-127" baseline="-15873" dirty="0">
                <a:solidFill>
                  <a:srgbClr val="FA0000"/>
                </a:solidFill>
                <a:latin typeface="Arial"/>
                <a:cs typeface="Arial"/>
              </a:rPr>
              <a:t> </a:t>
            </a:r>
            <a:r>
              <a:rPr sz="1000" spc="-5" dirty="0">
                <a:latin typeface="Arial"/>
                <a:cs typeface="Arial"/>
              </a:rPr>
              <a:t>.</a:t>
            </a:r>
            <a:endParaRPr sz="1000">
              <a:latin typeface="Arial"/>
              <a:cs typeface="Arial"/>
            </a:endParaRPr>
          </a:p>
          <a:p>
            <a:pPr marL="554355" marR="43180" indent="-168275" algn="just">
              <a:lnSpc>
                <a:spcPct val="100000"/>
              </a:lnSpc>
              <a:spcBef>
                <a:spcPts val="595"/>
              </a:spcBef>
              <a:buClr>
                <a:srgbClr val="3333B2"/>
              </a:buClr>
              <a:buChar char="►"/>
              <a:tabLst>
                <a:tab pos="554990" algn="l"/>
              </a:tabLst>
            </a:pPr>
            <a:r>
              <a:rPr sz="1000" spc="-5" dirty="0">
                <a:latin typeface="Arial"/>
                <a:cs typeface="Arial"/>
              </a:rPr>
              <a:t>Consider a</a:t>
            </a:r>
            <a:r>
              <a:rPr sz="1000" dirty="0">
                <a:latin typeface="Arial"/>
                <a:cs typeface="Arial"/>
              </a:rPr>
              <a:t> </a:t>
            </a:r>
            <a:r>
              <a:rPr sz="1000" spc="-5" dirty="0">
                <a:latin typeface="Arial"/>
                <a:cs typeface="Arial"/>
              </a:rPr>
              <a:t>data item</a:t>
            </a:r>
            <a:r>
              <a:rPr sz="1000" dirty="0">
                <a:latin typeface="Arial"/>
                <a:cs typeface="Arial"/>
              </a:rPr>
              <a:t> </a:t>
            </a:r>
            <a:r>
              <a:rPr sz="1000" i="1" spc="-5" dirty="0">
                <a:latin typeface="Arial"/>
                <a:cs typeface="Arial"/>
              </a:rPr>
              <a:t>x</a:t>
            </a:r>
            <a:r>
              <a:rPr sz="1000" i="1" spc="95" dirty="0">
                <a:latin typeface="Arial"/>
                <a:cs typeface="Arial"/>
              </a:rPr>
              <a:t> </a:t>
            </a:r>
            <a:r>
              <a:rPr sz="1000" spc="-5" dirty="0">
                <a:latin typeface="Arial"/>
                <a:cs typeface="Arial"/>
              </a:rPr>
              <a:t>and let</a:t>
            </a:r>
            <a:r>
              <a:rPr sz="1000" dirty="0">
                <a:latin typeface="Arial"/>
                <a:cs typeface="Arial"/>
              </a:rPr>
              <a:t> </a:t>
            </a:r>
            <a:r>
              <a:rPr sz="1000" i="1" spc="-10" dirty="0">
                <a:solidFill>
                  <a:srgbClr val="FA0000"/>
                </a:solidFill>
                <a:latin typeface="Arial"/>
                <a:cs typeface="Arial"/>
              </a:rPr>
              <a:t>val</a:t>
            </a:r>
            <a:r>
              <a:rPr sz="1000" i="1" spc="-195" dirty="0">
                <a:solidFill>
                  <a:srgbClr val="FA0000"/>
                </a:solidFill>
                <a:latin typeface="Arial"/>
                <a:cs typeface="Arial"/>
              </a:rPr>
              <a:t> </a:t>
            </a:r>
            <a:r>
              <a:rPr sz="1000" spc="25" dirty="0">
                <a:solidFill>
                  <a:srgbClr val="FA0000"/>
                </a:solidFill>
                <a:latin typeface="Arial"/>
                <a:cs typeface="Arial"/>
              </a:rPr>
              <a:t>(</a:t>
            </a:r>
            <a:r>
              <a:rPr sz="1000" i="1" spc="25" dirty="0">
                <a:solidFill>
                  <a:srgbClr val="FA0000"/>
                </a:solidFill>
                <a:latin typeface="Arial"/>
                <a:cs typeface="Arial"/>
              </a:rPr>
              <a:t>W</a:t>
            </a:r>
            <a:r>
              <a:rPr sz="1000" i="1" spc="-145" dirty="0">
                <a:solidFill>
                  <a:srgbClr val="FA0000"/>
                </a:solidFill>
                <a:latin typeface="Arial"/>
                <a:cs typeface="Arial"/>
              </a:rPr>
              <a:t> </a:t>
            </a:r>
            <a:r>
              <a:rPr sz="1000" spc="50" dirty="0">
                <a:solidFill>
                  <a:srgbClr val="FA0000"/>
                </a:solidFill>
                <a:latin typeface="Arial"/>
                <a:cs typeface="Arial"/>
              </a:rPr>
              <a:t>)</a:t>
            </a:r>
            <a:r>
              <a:rPr sz="1000" spc="5" dirty="0">
                <a:solidFill>
                  <a:srgbClr val="FA0000"/>
                </a:solidFill>
                <a:latin typeface="Arial"/>
                <a:cs typeface="Arial"/>
              </a:rPr>
              <a:t> </a:t>
            </a:r>
            <a:r>
              <a:rPr sz="1000" spc="-5" dirty="0">
                <a:latin typeface="Arial"/>
                <a:cs typeface="Arial"/>
              </a:rPr>
              <a:t>denote the</a:t>
            </a:r>
            <a:r>
              <a:rPr sz="1000" dirty="0">
                <a:latin typeface="Arial"/>
                <a:cs typeface="Arial"/>
              </a:rPr>
              <a:t> </a:t>
            </a:r>
            <a:r>
              <a:rPr sz="1000" spc="-5" dirty="0">
                <a:solidFill>
                  <a:srgbClr val="0000FA"/>
                </a:solidFill>
                <a:latin typeface="Arial"/>
                <a:cs typeface="Arial"/>
              </a:rPr>
              <a:t>numerical </a:t>
            </a:r>
            <a:r>
              <a:rPr sz="1000" spc="-265" dirty="0">
                <a:solidFill>
                  <a:srgbClr val="0000FA"/>
                </a:solidFill>
                <a:latin typeface="Arial"/>
                <a:cs typeface="Arial"/>
              </a:rPr>
              <a:t> </a:t>
            </a:r>
            <a:r>
              <a:rPr sz="1000" spc="-5" dirty="0">
                <a:solidFill>
                  <a:srgbClr val="0000FA"/>
                </a:solidFill>
                <a:latin typeface="Arial"/>
                <a:cs typeface="Arial"/>
              </a:rPr>
              <a:t>change </a:t>
            </a:r>
            <a:r>
              <a:rPr sz="1000" spc="-5" dirty="0">
                <a:latin typeface="Arial"/>
                <a:cs typeface="Arial"/>
              </a:rPr>
              <a:t>in its</a:t>
            </a:r>
            <a:r>
              <a:rPr sz="1000" dirty="0">
                <a:latin typeface="Arial"/>
                <a:cs typeface="Arial"/>
              </a:rPr>
              <a:t> </a:t>
            </a:r>
            <a:r>
              <a:rPr sz="1000" spc="-10" dirty="0">
                <a:latin typeface="Arial"/>
                <a:cs typeface="Arial"/>
              </a:rPr>
              <a:t>value</a:t>
            </a:r>
            <a:r>
              <a:rPr sz="1000" spc="-5" dirty="0">
                <a:latin typeface="Arial"/>
                <a:cs typeface="Arial"/>
              </a:rPr>
              <a:t> after a</a:t>
            </a:r>
            <a:r>
              <a:rPr sz="1000" dirty="0">
                <a:latin typeface="Arial"/>
                <a:cs typeface="Arial"/>
              </a:rPr>
              <a:t> write</a:t>
            </a:r>
            <a:r>
              <a:rPr sz="1000" spc="-5" dirty="0">
                <a:latin typeface="Arial"/>
                <a:cs typeface="Arial"/>
              </a:rPr>
              <a:t> operation</a:t>
            </a:r>
            <a:r>
              <a:rPr sz="1000" dirty="0">
                <a:latin typeface="Arial"/>
                <a:cs typeface="Arial"/>
              </a:rPr>
              <a:t> </a:t>
            </a:r>
            <a:r>
              <a:rPr sz="1000" i="1" spc="-5" dirty="0">
                <a:latin typeface="Arial"/>
                <a:cs typeface="Arial"/>
              </a:rPr>
              <a:t>W</a:t>
            </a:r>
            <a:r>
              <a:rPr sz="1000" i="1" spc="-145" dirty="0">
                <a:latin typeface="Arial"/>
                <a:cs typeface="Arial"/>
              </a:rPr>
              <a:t> </a:t>
            </a:r>
            <a:r>
              <a:rPr sz="1000" spc="-5" dirty="0">
                <a:latin typeface="Arial"/>
                <a:cs typeface="Arial"/>
              </a:rPr>
              <a:t>.</a:t>
            </a:r>
            <a:r>
              <a:rPr sz="1000" spc="60" dirty="0">
                <a:latin typeface="Arial"/>
                <a:cs typeface="Arial"/>
              </a:rPr>
              <a:t> </a:t>
            </a:r>
            <a:r>
              <a:rPr sz="1000" spc="-5" dirty="0">
                <a:latin typeface="Arial"/>
                <a:cs typeface="Arial"/>
              </a:rPr>
              <a:t>Assume</a:t>
            </a:r>
            <a:r>
              <a:rPr sz="1000" dirty="0">
                <a:latin typeface="Arial"/>
                <a:cs typeface="Arial"/>
              </a:rPr>
              <a:t> </a:t>
            </a:r>
            <a:r>
              <a:rPr sz="1000" spc="-5" dirty="0">
                <a:latin typeface="Arial"/>
                <a:cs typeface="Arial"/>
              </a:rPr>
              <a:t>that</a:t>
            </a:r>
            <a:endParaRPr sz="1000">
              <a:latin typeface="Arial"/>
              <a:cs typeface="Arial"/>
            </a:endParaRPr>
          </a:p>
          <a:p>
            <a:pPr marL="764540" algn="ctr">
              <a:lnSpc>
                <a:spcPct val="100000"/>
              </a:lnSpc>
              <a:spcBef>
                <a:spcPts val="990"/>
              </a:spcBef>
            </a:pPr>
            <a:r>
              <a:rPr sz="1000" i="1" spc="-450" dirty="0">
                <a:latin typeface="メイリオ"/>
                <a:cs typeface="メイリオ"/>
              </a:rPr>
              <a:t>∀</a:t>
            </a:r>
            <a:r>
              <a:rPr sz="1000" i="1" spc="-5" dirty="0">
                <a:latin typeface="Arial"/>
                <a:cs typeface="Arial"/>
              </a:rPr>
              <a:t>W</a:t>
            </a:r>
            <a:r>
              <a:rPr sz="1000" i="1" spc="80" dirty="0">
                <a:latin typeface="Arial"/>
                <a:cs typeface="Arial"/>
              </a:rPr>
              <a:t> </a:t>
            </a:r>
            <a:r>
              <a:rPr sz="1000" spc="-5" dirty="0">
                <a:latin typeface="Arial"/>
                <a:cs typeface="Arial"/>
              </a:rPr>
              <a:t>:</a:t>
            </a:r>
            <a:r>
              <a:rPr sz="1000" spc="-60" dirty="0">
                <a:latin typeface="Arial"/>
                <a:cs typeface="Arial"/>
              </a:rPr>
              <a:t> </a:t>
            </a:r>
            <a:r>
              <a:rPr sz="1000" i="1" spc="-30" dirty="0">
                <a:latin typeface="Arial"/>
                <a:cs typeface="Arial"/>
              </a:rPr>
              <a:t>v</a:t>
            </a:r>
            <a:r>
              <a:rPr sz="1000" i="1" spc="-5" dirty="0">
                <a:latin typeface="Arial"/>
                <a:cs typeface="Arial"/>
              </a:rPr>
              <a:t>al</a:t>
            </a:r>
            <a:r>
              <a:rPr sz="1000" i="1" spc="-195" dirty="0">
                <a:latin typeface="Arial"/>
                <a:cs typeface="Arial"/>
              </a:rPr>
              <a:t> </a:t>
            </a:r>
            <a:r>
              <a:rPr sz="1000" spc="50" dirty="0">
                <a:latin typeface="Arial"/>
                <a:cs typeface="Arial"/>
              </a:rPr>
              <a:t>(</a:t>
            </a:r>
            <a:r>
              <a:rPr sz="1000" i="1" spc="-5" dirty="0">
                <a:latin typeface="Arial"/>
                <a:cs typeface="Arial"/>
              </a:rPr>
              <a:t>W</a:t>
            </a:r>
            <a:r>
              <a:rPr sz="1000" i="1" spc="-145" dirty="0">
                <a:latin typeface="Arial"/>
                <a:cs typeface="Arial"/>
              </a:rPr>
              <a:t> </a:t>
            </a:r>
            <a:r>
              <a:rPr sz="1000" spc="50" dirty="0">
                <a:latin typeface="Arial"/>
                <a:cs typeface="Arial"/>
              </a:rPr>
              <a:t>)</a:t>
            </a:r>
            <a:r>
              <a:rPr sz="1000" spc="-60" dirty="0">
                <a:latin typeface="Arial"/>
                <a:cs typeface="Arial"/>
              </a:rPr>
              <a:t> </a:t>
            </a:r>
            <a:r>
              <a:rPr sz="1000" i="1" spc="190" dirty="0">
                <a:latin typeface="Arial"/>
                <a:cs typeface="Arial"/>
              </a:rPr>
              <a:t>&gt;</a:t>
            </a:r>
            <a:r>
              <a:rPr sz="1000" i="1" spc="-60" dirty="0">
                <a:latin typeface="Arial"/>
                <a:cs typeface="Arial"/>
              </a:rPr>
              <a:t> </a:t>
            </a:r>
            <a:r>
              <a:rPr sz="1000" spc="-5" dirty="0">
                <a:latin typeface="Arial"/>
                <a:cs typeface="Arial"/>
              </a:rPr>
              <a:t>0</a:t>
            </a:r>
            <a:endParaRPr sz="1000">
              <a:latin typeface="Arial"/>
              <a:cs typeface="Arial"/>
            </a:endParaRPr>
          </a:p>
          <a:p>
            <a:pPr marL="554355" marR="59055" indent="-168275" algn="just">
              <a:lnSpc>
                <a:spcPct val="100000"/>
              </a:lnSpc>
              <a:spcBef>
                <a:spcPts val="1290"/>
              </a:spcBef>
              <a:buClr>
                <a:srgbClr val="3333B2"/>
              </a:buClr>
              <a:buFont typeface="Arial"/>
              <a:buChar char="►"/>
              <a:tabLst>
                <a:tab pos="554990" algn="l"/>
              </a:tabLst>
            </a:pPr>
            <a:r>
              <a:rPr sz="1000" i="1" spc="-5" dirty="0">
                <a:latin typeface="Arial"/>
                <a:cs typeface="Arial"/>
              </a:rPr>
              <a:t>W </a:t>
            </a:r>
            <a:r>
              <a:rPr sz="1000" spc="-5" dirty="0">
                <a:latin typeface="Arial"/>
                <a:cs typeface="Arial"/>
              </a:rPr>
              <a:t>is initially </a:t>
            </a:r>
            <a:r>
              <a:rPr sz="1000" spc="-10" dirty="0">
                <a:latin typeface="Arial"/>
                <a:cs typeface="Arial"/>
              </a:rPr>
              <a:t>forwarded </a:t>
            </a:r>
            <a:r>
              <a:rPr sz="1000" spc="-5" dirty="0">
                <a:latin typeface="Arial"/>
                <a:cs typeface="Arial"/>
              </a:rPr>
              <a:t>to one of the </a:t>
            </a:r>
            <a:r>
              <a:rPr sz="1000" i="1" spc="-5" dirty="0">
                <a:latin typeface="Arial"/>
                <a:cs typeface="Arial"/>
              </a:rPr>
              <a:t>N </a:t>
            </a:r>
            <a:r>
              <a:rPr sz="1000" spc="-5" dirty="0">
                <a:latin typeface="Arial"/>
                <a:cs typeface="Arial"/>
              </a:rPr>
              <a:t>replicas, denoted as </a:t>
            </a:r>
            <a:r>
              <a:rPr sz="1000" dirty="0">
                <a:latin typeface="Arial"/>
                <a:cs typeface="Arial"/>
              </a:rPr>
              <a:t> </a:t>
            </a:r>
            <a:r>
              <a:rPr sz="1000" i="1" spc="5" dirty="0">
                <a:solidFill>
                  <a:srgbClr val="FA0000"/>
                </a:solidFill>
                <a:latin typeface="Arial"/>
                <a:cs typeface="Arial"/>
              </a:rPr>
              <a:t>origin</a:t>
            </a:r>
            <a:r>
              <a:rPr sz="1000" spc="5" dirty="0">
                <a:solidFill>
                  <a:srgbClr val="FA0000"/>
                </a:solidFill>
                <a:latin typeface="Arial"/>
                <a:cs typeface="Arial"/>
              </a:rPr>
              <a:t>(</a:t>
            </a:r>
            <a:r>
              <a:rPr sz="1000" i="1" spc="5" dirty="0">
                <a:solidFill>
                  <a:srgbClr val="FA0000"/>
                </a:solidFill>
                <a:latin typeface="Arial"/>
                <a:cs typeface="Arial"/>
              </a:rPr>
              <a:t>W</a:t>
            </a:r>
            <a:r>
              <a:rPr sz="1000" i="1" spc="-145" dirty="0">
                <a:solidFill>
                  <a:srgbClr val="FA0000"/>
                </a:solidFill>
                <a:latin typeface="Arial"/>
                <a:cs typeface="Arial"/>
              </a:rPr>
              <a:t> </a:t>
            </a:r>
            <a:r>
              <a:rPr sz="1000" spc="25" dirty="0">
                <a:solidFill>
                  <a:srgbClr val="FA0000"/>
                </a:solidFill>
                <a:latin typeface="Arial"/>
                <a:cs typeface="Arial"/>
              </a:rPr>
              <a:t>)</a:t>
            </a:r>
            <a:r>
              <a:rPr sz="1000" spc="25" dirty="0">
                <a:latin typeface="Arial"/>
                <a:cs typeface="Arial"/>
              </a:rPr>
              <a:t>.</a:t>
            </a:r>
            <a:r>
              <a:rPr sz="1000" spc="60" dirty="0">
                <a:latin typeface="Arial"/>
                <a:cs typeface="Arial"/>
              </a:rPr>
              <a:t> </a:t>
            </a:r>
            <a:r>
              <a:rPr sz="1000" i="1" spc="-5" dirty="0">
                <a:latin typeface="Arial"/>
                <a:cs typeface="Arial"/>
              </a:rPr>
              <a:t>TW</a:t>
            </a:r>
            <a:r>
              <a:rPr sz="1000" i="1" spc="-145" dirty="0">
                <a:latin typeface="Arial"/>
                <a:cs typeface="Arial"/>
              </a:rPr>
              <a:t> </a:t>
            </a:r>
            <a:r>
              <a:rPr sz="1000" spc="30" dirty="0">
                <a:latin typeface="Arial"/>
                <a:cs typeface="Arial"/>
              </a:rPr>
              <a:t>[</a:t>
            </a:r>
            <a:r>
              <a:rPr sz="1000" i="1" spc="30" dirty="0">
                <a:latin typeface="Arial"/>
                <a:cs typeface="Arial"/>
              </a:rPr>
              <a:t>i,</a:t>
            </a:r>
            <a:r>
              <a:rPr sz="1000" i="1" spc="-170" dirty="0">
                <a:latin typeface="Arial"/>
                <a:cs typeface="Arial"/>
              </a:rPr>
              <a:t> </a:t>
            </a:r>
            <a:r>
              <a:rPr sz="1000" i="1" spc="-5" dirty="0">
                <a:latin typeface="Arial"/>
                <a:cs typeface="Arial"/>
              </a:rPr>
              <a:t>j</a:t>
            </a:r>
            <a:r>
              <a:rPr sz="1000" i="1" spc="-195" dirty="0">
                <a:latin typeface="Arial"/>
                <a:cs typeface="Arial"/>
              </a:rPr>
              <a:t> </a:t>
            </a:r>
            <a:r>
              <a:rPr sz="1000" spc="5" dirty="0">
                <a:latin typeface="Arial"/>
                <a:cs typeface="Arial"/>
              </a:rPr>
              <a:t>]</a:t>
            </a:r>
            <a:r>
              <a:rPr sz="1000" spc="-5" dirty="0">
                <a:latin typeface="Arial"/>
                <a:cs typeface="Arial"/>
              </a:rPr>
              <a:t> are the </a:t>
            </a:r>
            <a:r>
              <a:rPr sz="1000" dirty="0">
                <a:solidFill>
                  <a:srgbClr val="0000FA"/>
                </a:solidFill>
                <a:latin typeface="Arial"/>
                <a:cs typeface="Arial"/>
              </a:rPr>
              <a:t>writes </a:t>
            </a:r>
            <a:r>
              <a:rPr sz="1000" spc="-10" dirty="0">
                <a:solidFill>
                  <a:srgbClr val="0000FA"/>
                </a:solidFill>
                <a:latin typeface="Arial"/>
                <a:cs typeface="Arial"/>
              </a:rPr>
              <a:t>executed</a:t>
            </a:r>
            <a:r>
              <a:rPr sz="1000" spc="-5" dirty="0">
                <a:solidFill>
                  <a:srgbClr val="0000FA"/>
                </a:solidFill>
                <a:latin typeface="Arial"/>
                <a:cs typeface="Arial"/>
              </a:rPr>
              <a:t> </a:t>
            </a:r>
            <a:r>
              <a:rPr sz="1000" spc="-15" dirty="0">
                <a:solidFill>
                  <a:srgbClr val="0000FA"/>
                </a:solidFill>
                <a:latin typeface="Arial"/>
                <a:cs typeface="Arial"/>
              </a:rPr>
              <a:t>by</a:t>
            </a:r>
            <a:r>
              <a:rPr sz="1000" spc="-5" dirty="0">
                <a:solidFill>
                  <a:srgbClr val="0000FA"/>
                </a:solidFill>
                <a:latin typeface="Arial"/>
                <a:cs typeface="Arial"/>
              </a:rPr>
              <a:t> server </a:t>
            </a:r>
            <a:r>
              <a:rPr sz="1000" i="1" dirty="0">
                <a:solidFill>
                  <a:srgbClr val="0000FA"/>
                </a:solidFill>
                <a:latin typeface="Arial"/>
                <a:cs typeface="Arial"/>
              </a:rPr>
              <a:t>S</a:t>
            </a:r>
            <a:r>
              <a:rPr sz="1050" i="1" baseline="-15873" dirty="0">
                <a:solidFill>
                  <a:srgbClr val="0000FA"/>
                </a:solidFill>
                <a:latin typeface="Arial"/>
                <a:cs typeface="Arial"/>
              </a:rPr>
              <a:t>i</a:t>
            </a:r>
            <a:r>
              <a:rPr sz="1050" i="1" spc="7" baseline="-15873" dirty="0">
                <a:solidFill>
                  <a:srgbClr val="0000FA"/>
                </a:solidFill>
                <a:latin typeface="Arial"/>
                <a:cs typeface="Arial"/>
              </a:rPr>
              <a:t> </a:t>
            </a:r>
            <a:r>
              <a:rPr sz="1000" spc="-5" dirty="0">
                <a:solidFill>
                  <a:srgbClr val="0000FA"/>
                </a:solidFill>
                <a:latin typeface="Arial"/>
                <a:cs typeface="Arial"/>
              </a:rPr>
              <a:t>that </a:t>
            </a:r>
            <a:r>
              <a:rPr sz="1000" spc="-270" dirty="0">
                <a:solidFill>
                  <a:srgbClr val="0000FA"/>
                </a:solidFill>
                <a:latin typeface="Arial"/>
                <a:cs typeface="Arial"/>
              </a:rPr>
              <a:t> </a:t>
            </a:r>
            <a:r>
              <a:rPr sz="1000" spc="-5" dirty="0">
                <a:solidFill>
                  <a:srgbClr val="0000FA"/>
                </a:solidFill>
                <a:latin typeface="Arial"/>
                <a:cs typeface="Arial"/>
              </a:rPr>
              <a:t>originated</a:t>
            </a:r>
            <a:r>
              <a:rPr sz="1000" spc="-10" dirty="0">
                <a:solidFill>
                  <a:srgbClr val="0000FA"/>
                </a:solidFill>
                <a:latin typeface="Arial"/>
                <a:cs typeface="Arial"/>
              </a:rPr>
              <a:t> </a:t>
            </a:r>
            <a:r>
              <a:rPr sz="1000" spc="-5" dirty="0">
                <a:solidFill>
                  <a:srgbClr val="0000FA"/>
                </a:solidFill>
                <a:latin typeface="Arial"/>
                <a:cs typeface="Arial"/>
              </a:rPr>
              <a:t>from </a:t>
            </a:r>
            <a:r>
              <a:rPr sz="1000" i="1" dirty="0">
                <a:solidFill>
                  <a:srgbClr val="0000FA"/>
                </a:solidFill>
                <a:latin typeface="Arial"/>
                <a:cs typeface="Arial"/>
              </a:rPr>
              <a:t>S</a:t>
            </a:r>
            <a:r>
              <a:rPr sz="1050" i="1" baseline="-15873" dirty="0">
                <a:solidFill>
                  <a:srgbClr val="0000FA"/>
                </a:solidFill>
                <a:latin typeface="Arial"/>
                <a:cs typeface="Arial"/>
              </a:rPr>
              <a:t>j</a:t>
            </a:r>
            <a:r>
              <a:rPr sz="1050" i="1" spc="-127" baseline="-15873" dirty="0">
                <a:solidFill>
                  <a:srgbClr val="0000FA"/>
                </a:solidFill>
                <a:latin typeface="Arial"/>
                <a:cs typeface="Arial"/>
              </a:rPr>
              <a:t> </a:t>
            </a:r>
            <a:r>
              <a:rPr sz="1000" spc="-5" dirty="0">
                <a:latin typeface="Arial"/>
                <a:cs typeface="Arial"/>
              </a:rPr>
              <a:t>:</a:t>
            </a:r>
            <a:endParaRPr sz="1000">
              <a:latin typeface="Arial"/>
              <a:cs typeface="Arial"/>
            </a:endParaRPr>
          </a:p>
          <a:p>
            <a:pPr marL="764540" algn="ctr">
              <a:lnSpc>
                <a:spcPct val="100000"/>
              </a:lnSpc>
              <a:spcBef>
                <a:spcPts val="695"/>
              </a:spcBef>
            </a:pPr>
            <a:r>
              <a:rPr sz="1000" i="1" spc="-5" dirty="0">
                <a:latin typeface="Arial"/>
                <a:cs typeface="Arial"/>
              </a:rPr>
              <a:t>TW</a:t>
            </a:r>
            <a:r>
              <a:rPr sz="1000" i="1" spc="-145" dirty="0">
                <a:latin typeface="Arial"/>
                <a:cs typeface="Arial"/>
              </a:rPr>
              <a:t> </a:t>
            </a:r>
            <a:r>
              <a:rPr sz="1000" spc="5" dirty="0">
                <a:latin typeface="Arial"/>
                <a:cs typeface="Arial"/>
              </a:rPr>
              <a:t>[</a:t>
            </a:r>
            <a:r>
              <a:rPr sz="1000" i="1" spc="80" dirty="0">
                <a:latin typeface="Arial"/>
                <a:cs typeface="Arial"/>
              </a:rPr>
              <a:t>i</a:t>
            </a:r>
            <a:r>
              <a:rPr sz="1000" i="1" spc="-5" dirty="0">
                <a:latin typeface="Arial"/>
                <a:cs typeface="Arial"/>
              </a:rPr>
              <a:t>,</a:t>
            </a:r>
            <a:r>
              <a:rPr sz="1000" i="1" spc="-170" dirty="0">
                <a:latin typeface="Arial"/>
                <a:cs typeface="Arial"/>
              </a:rPr>
              <a:t> </a:t>
            </a:r>
            <a:r>
              <a:rPr sz="1000" i="1" spc="-5" dirty="0">
                <a:latin typeface="Arial"/>
                <a:cs typeface="Arial"/>
              </a:rPr>
              <a:t>j</a:t>
            </a:r>
            <a:r>
              <a:rPr sz="1000" i="1" spc="-195" dirty="0">
                <a:latin typeface="Arial"/>
                <a:cs typeface="Arial"/>
              </a:rPr>
              <a:t> </a:t>
            </a:r>
            <a:r>
              <a:rPr sz="1000" spc="5" dirty="0">
                <a:latin typeface="Arial"/>
                <a:cs typeface="Arial"/>
              </a:rPr>
              <a:t>]</a:t>
            </a:r>
            <a:r>
              <a:rPr sz="1000" spc="-60" dirty="0">
                <a:latin typeface="Arial"/>
                <a:cs typeface="Arial"/>
              </a:rPr>
              <a:t> </a:t>
            </a:r>
            <a:r>
              <a:rPr sz="1000" spc="190" dirty="0">
                <a:latin typeface="Arial"/>
                <a:cs typeface="Arial"/>
              </a:rPr>
              <a:t>=</a:t>
            </a:r>
            <a:r>
              <a:rPr sz="1000" spc="-60" dirty="0">
                <a:latin typeface="Arial"/>
                <a:cs typeface="Arial"/>
              </a:rPr>
              <a:t> </a:t>
            </a:r>
            <a:r>
              <a:rPr sz="2100" spc="22" baseline="-7936" dirty="0">
                <a:latin typeface="Times New Roman"/>
                <a:cs typeface="Times New Roman"/>
              </a:rPr>
              <a:t>∑</a:t>
            </a:r>
            <a:r>
              <a:rPr sz="1000" i="1" spc="-105" dirty="0">
                <a:latin typeface="メイリオ"/>
                <a:cs typeface="メイリオ"/>
              </a:rPr>
              <a:t>{</a:t>
            </a:r>
            <a:r>
              <a:rPr sz="1000" i="1" spc="-30" dirty="0">
                <a:latin typeface="Arial"/>
                <a:cs typeface="Arial"/>
              </a:rPr>
              <a:t>v</a:t>
            </a:r>
            <a:r>
              <a:rPr sz="1000" i="1" spc="-5" dirty="0">
                <a:latin typeface="Arial"/>
                <a:cs typeface="Arial"/>
              </a:rPr>
              <a:t>al</a:t>
            </a:r>
            <a:r>
              <a:rPr sz="1000" i="1" spc="-195" dirty="0">
                <a:latin typeface="Arial"/>
                <a:cs typeface="Arial"/>
              </a:rPr>
              <a:t> </a:t>
            </a:r>
            <a:r>
              <a:rPr sz="1000" spc="50" dirty="0">
                <a:latin typeface="Arial"/>
                <a:cs typeface="Arial"/>
              </a:rPr>
              <a:t>(</a:t>
            </a:r>
            <a:r>
              <a:rPr sz="1000" i="1" spc="-5" dirty="0">
                <a:latin typeface="Arial"/>
                <a:cs typeface="Arial"/>
              </a:rPr>
              <a:t>W</a:t>
            </a:r>
            <a:r>
              <a:rPr sz="1000" i="1" spc="-145" dirty="0">
                <a:latin typeface="Arial"/>
                <a:cs typeface="Arial"/>
              </a:rPr>
              <a:t> </a:t>
            </a:r>
            <a:r>
              <a:rPr sz="1000" spc="50" dirty="0">
                <a:latin typeface="Arial"/>
                <a:cs typeface="Arial"/>
              </a:rPr>
              <a:t>)</a:t>
            </a:r>
            <a:r>
              <a:rPr sz="1000" i="1" spc="-165" dirty="0">
                <a:latin typeface="メイリオ"/>
                <a:cs typeface="メイリオ"/>
              </a:rPr>
              <a:t>|</a:t>
            </a:r>
            <a:r>
              <a:rPr sz="1000" i="1" spc="-5" dirty="0">
                <a:latin typeface="Arial"/>
                <a:cs typeface="Arial"/>
              </a:rPr>
              <a:t>o</a:t>
            </a:r>
            <a:r>
              <a:rPr sz="1000" i="1" spc="5" dirty="0">
                <a:latin typeface="Arial"/>
                <a:cs typeface="Arial"/>
              </a:rPr>
              <a:t>r</a:t>
            </a:r>
            <a:r>
              <a:rPr sz="1000" i="1" spc="-5" dirty="0">
                <a:latin typeface="Arial"/>
                <a:cs typeface="Arial"/>
              </a:rPr>
              <a:t>igi</a:t>
            </a:r>
            <a:r>
              <a:rPr sz="1000" i="1" spc="10" dirty="0">
                <a:latin typeface="Arial"/>
                <a:cs typeface="Arial"/>
              </a:rPr>
              <a:t>n</a:t>
            </a:r>
            <a:r>
              <a:rPr sz="1000" spc="50" dirty="0">
                <a:latin typeface="Arial"/>
                <a:cs typeface="Arial"/>
              </a:rPr>
              <a:t>(</a:t>
            </a:r>
            <a:r>
              <a:rPr sz="1000" i="1" spc="-5" dirty="0">
                <a:latin typeface="Arial"/>
                <a:cs typeface="Arial"/>
              </a:rPr>
              <a:t>W</a:t>
            </a:r>
            <a:r>
              <a:rPr sz="1000" i="1" spc="-145" dirty="0">
                <a:latin typeface="Arial"/>
                <a:cs typeface="Arial"/>
              </a:rPr>
              <a:t> </a:t>
            </a:r>
            <a:r>
              <a:rPr sz="1000" spc="50" dirty="0">
                <a:latin typeface="Arial"/>
                <a:cs typeface="Arial"/>
              </a:rPr>
              <a:t>)</a:t>
            </a:r>
            <a:r>
              <a:rPr sz="1000" spc="-60" dirty="0">
                <a:latin typeface="Arial"/>
                <a:cs typeface="Arial"/>
              </a:rPr>
              <a:t> </a:t>
            </a:r>
            <a:r>
              <a:rPr sz="1000" spc="190" dirty="0">
                <a:latin typeface="Arial"/>
                <a:cs typeface="Arial"/>
              </a:rPr>
              <a:t>=</a:t>
            </a:r>
            <a:r>
              <a:rPr sz="1000" spc="-60" dirty="0">
                <a:latin typeface="Arial"/>
                <a:cs typeface="Arial"/>
              </a:rPr>
              <a:t> </a:t>
            </a:r>
            <a:r>
              <a:rPr sz="1000" i="1" spc="-5" dirty="0">
                <a:latin typeface="Arial"/>
                <a:cs typeface="Arial"/>
              </a:rPr>
              <a:t>S</a:t>
            </a:r>
            <a:r>
              <a:rPr sz="1050" i="1" spc="7" baseline="-15873" dirty="0">
                <a:latin typeface="Arial"/>
                <a:cs typeface="Arial"/>
              </a:rPr>
              <a:t>j</a:t>
            </a:r>
            <a:r>
              <a:rPr sz="1050" i="1" baseline="-15873" dirty="0">
                <a:latin typeface="Arial"/>
                <a:cs typeface="Arial"/>
              </a:rPr>
              <a:t>  </a:t>
            </a:r>
            <a:r>
              <a:rPr sz="1000" spc="-5" dirty="0">
                <a:latin typeface="Arial"/>
                <a:cs typeface="Arial"/>
              </a:rPr>
              <a:t>&amp; </a:t>
            </a:r>
            <a:r>
              <a:rPr sz="1000" i="1" spc="-5" dirty="0">
                <a:latin typeface="Arial"/>
                <a:cs typeface="Arial"/>
              </a:rPr>
              <a:t>W</a:t>
            </a:r>
            <a:r>
              <a:rPr sz="1000" i="1" spc="80" dirty="0">
                <a:latin typeface="Arial"/>
                <a:cs typeface="Arial"/>
              </a:rPr>
              <a:t> </a:t>
            </a:r>
            <a:r>
              <a:rPr sz="1000" i="1" spc="-145" dirty="0">
                <a:latin typeface="メイリオ"/>
                <a:cs typeface="メイリオ"/>
              </a:rPr>
              <a:t>∈</a:t>
            </a:r>
            <a:r>
              <a:rPr sz="1000" i="1" spc="-120" dirty="0">
                <a:latin typeface="メイリオ"/>
                <a:cs typeface="メイリオ"/>
              </a:rPr>
              <a:t> </a:t>
            </a:r>
            <a:r>
              <a:rPr sz="1000" i="1" spc="-5" dirty="0">
                <a:latin typeface="Arial"/>
                <a:cs typeface="Arial"/>
              </a:rPr>
              <a:t>L</a:t>
            </a:r>
            <a:r>
              <a:rPr sz="1050" i="1" spc="7" baseline="-15873" dirty="0">
                <a:latin typeface="Arial"/>
                <a:cs typeface="Arial"/>
              </a:rPr>
              <a:t>i</a:t>
            </a:r>
            <a:r>
              <a:rPr sz="1050" i="1" spc="-127" baseline="-15873" dirty="0">
                <a:latin typeface="Arial"/>
                <a:cs typeface="Arial"/>
              </a:rPr>
              <a:t> </a:t>
            </a:r>
            <a:r>
              <a:rPr sz="1000" i="1" spc="-105" dirty="0">
                <a:latin typeface="メイリオ"/>
                <a:cs typeface="メイリオ"/>
              </a:rPr>
              <a:t>}</a:t>
            </a:r>
            <a:endParaRPr sz="1000">
              <a:latin typeface="メイリオ"/>
              <a:cs typeface="メイリオ"/>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p:nvPr/>
        </p:nvSpPr>
        <p:spPr>
          <a:xfrm>
            <a:off x="66713" y="3331252"/>
            <a:ext cx="1019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Bounding</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numerical</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deviation</a:t>
            </a:r>
            <a:endParaRPr sz="600">
              <a:latin typeface="Arial"/>
              <a:cs typeface="Arial"/>
            </a:endParaRPr>
          </a:p>
        </p:txBody>
      </p:sp>
      <p:sp>
        <p:nvSpPr>
          <p:cNvPr id="10" name="object 1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32</a:t>
            </a:r>
            <a:r>
              <a:rPr spc="-40" dirty="0"/>
              <a:t> </a:t>
            </a:r>
            <a:r>
              <a:rPr spc="-5" dirty="0"/>
              <a:t>/</a:t>
            </a:r>
            <a:r>
              <a:rPr spc="-35" dirty="0"/>
              <a:t> </a:t>
            </a:r>
            <a:r>
              <a:rPr spc="-5" dirty="0"/>
              <a:t>37</a:t>
            </a:r>
          </a:p>
        </p:txBody>
      </p:sp>
      <p:sp>
        <p:nvSpPr>
          <p:cNvPr id="2" name="object 2"/>
          <p:cNvSpPr txBox="1"/>
          <p:nvPr/>
        </p:nvSpPr>
        <p:spPr>
          <a:xfrm>
            <a:off x="66713" y="716"/>
            <a:ext cx="17570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Consistency</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and</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replication:</a:t>
            </a:r>
            <a:r>
              <a:rPr sz="600" spc="170" dirty="0">
                <a:solidFill>
                  <a:srgbClr val="3333B2"/>
                </a:solidFill>
                <a:latin typeface="Arial"/>
                <a:cs typeface="Arial"/>
              </a:rPr>
              <a:t> </a:t>
            </a: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protocols</a:t>
            </a:r>
            <a:endParaRPr sz="600">
              <a:latin typeface="Arial"/>
              <a:cs typeface="Arial"/>
            </a:endParaRPr>
          </a:p>
        </p:txBody>
      </p:sp>
      <p:sp>
        <p:nvSpPr>
          <p:cNvPr id="3" name="object 3"/>
          <p:cNvSpPr txBox="1"/>
          <p:nvPr/>
        </p:nvSpPr>
        <p:spPr>
          <a:xfrm>
            <a:off x="3714985" y="716"/>
            <a:ext cx="826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Continuous</a:t>
            </a:r>
            <a:r>
              <a:rPr sz="600" spc="-2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consistency</a:t>
            </a:r>
            <a:endParaRPr sz="600">
              <a:latin typeface="Arial"/>
              <a:cs typeface="Arial"/>
            </a:endParaRPr>
          </a:p>
        </p:txBody>
      </p:sp>
      <p:sp>
        <p:nvSpPr>
          <p:cNvPr id="4" name="object 4"/>
          <p:cNvSpPr txBox="1"/>
          <p:nvPr/>
        </p:nvSpPr>
        <p:spPr>
          <a:xfrm>
            <a:off x="95300" y="188846"/>
            <a:ext cx="340995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Continuous</a:t>
            </a:r>
            <a:r>
              <a:rPr sz="1400" spc="-10" dirty="0">
                <a:solidFill>
                  <a:srgbClr val="3333B2"/>
                </a:solidFill>
                <a:latin typeface="Arial"/>
                <a:cs typeface="Arial"/>
              </a:rPr>
              <a:t> </a:t>
            </a:r>
            <a:r>
              <a:rPr sz="1400" spc="15" dirty="0">
                <a:solidFill>
                  <a:srgbClr val="3333B2"/>
                </a:solidFill>
                <a:latin typeface="Arial"/>
                <a:cs typeface="Arial"/>
              </a:rPr>
              <a:t>consistency:</a:t>
            </a:r>
            <a:r>
              <a:rPr sz="1400" spc="85" dirty="0">
                <a:solidFill>
                  <a:srgbClr val="3333B2"/>
                </a:solidFill>
                <a:latin typeface="Arial"/>
                <a:cs typeface="Arial"/>
              </a:rPr>
              <a:t> </a:t>
            </a:r>
            <a:r>
              <a:rPr sz="1400" spc="15" dirty="0">
                <a:solidFill>
                  <a:srgbClr val="3333B2"/>
                </a:solidFill>
                <a:latin typeface="Arial"/>
                <a:cs typeface="Arial"/>
              </a:rPr>
              <a:t>Numerical</a:t>
            </a:r>
            <a:r>
              <a:rPr sz="1400" spc="-5" dirty="0">
                <a:solidFill>
                  <a:srgbClr val="3333B2"/>
                </a:solidFill>
                <a:latin typeface="Arial"/>
                <a:cs typeface="Arial"/>
              </a:rPr>
              <a:t> </a:t>
            </a:r>
            <a:r>
              <a:rPr sz="1400" spc="15" dirty="0">
                <a:solidFill>
                  <a:srgbClr val="3333B2"/>
                </a:solidFill>
                <a:latin typeface="Arial"/>
                <a:cs typeface="Arial"/>
              </a:rPr>
              <a:t>errors</a:t>
            </a:r>
            <a:endParaRPr sz="1400">
              <a:latin typeface="Arial"/>
              <a:cs typeface="Arial"/>
            </a:endParaRPr>
          </a:p>
        </p:txBody>
      </p:sp>
      <p:sp>
        <p:nvSpPr>
          <p:cNvPr id="5" name="object 5"/>
          <p:cNvSpPr txBox="1"/>
          <p:nvPr/>
        </p:nvSpPr>
        <p:spPr>
          <a:xfrm>
            <a:off x="343128" y="910092"/>
            <a:ext cx="1254125" cy="353060"/>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FA0000"/>
                </a:solidFill>
                <a:latin typeface="Arial"/>
                <a:cs typeface="Arial"/>
              </a:rPr>
              <a:t>Note</a:t>
            </a:r>
            <a:endParaRPr sz="1200">
              <a:latin typeface="Arial"/>
              <a:cs typeface="Arial"/>
            </a:endParaRPr>
          </a:p>
          <a:p>
            <a:pPr marL="12700">
              <a:lnSpc>
                <a:spcPts val="1170"/>
              </a:lnSpc>
            </a:pPr>
            <a:r>
              <a:rPr sz="1000" spc="-5" dirty="0">
                <a:latin typeface="Arial"/>
                <a:cs typeface="Arial"/>
              </a:rPr>
              <a:t>Actual </a:t>
            </a:r>
            <a:r>
              <a:rPr sz="1000" spc="-30" dirty="0">
                <a:latin typeface="Arial"/>
                <a:cs typeface="Arial"/>
              </a:rPr>
              <a:t>v</a:t>
            </a:r>
            <a:r>
              <a:rPr sz="1000" spc="-5" dirty="0">
                <a:latin typeface="Arial"/>
                <a:cs typeface="Arial"/>
              </a:rPr>
              <a:t>alue </a:t>
            </a:r>
            <a:r>
              <a:rPr sz="1000" i="1" spc="-5" dirty="0">
                <a:latin typeface="Arial"/>
                <a:cs typeface="Arial"/>
              </a:rPr>
              <a:t>v</a:t>
            </a:r>
            <a:r>
              <a:rPr sz="1000" i="1" spc="-180" dirty="0">
                <a:latin typeface="Arial"/>
                <a:cs typeface="Arial"/>
              </a:rPr>
              <a:t> </a:t>
            </a:r>
            <a:r>
              <a:rPr sz="1000" spc="50" dirty="0">
                <a:latin typeface="Arial"/>
                <a:cs typeface="Arial"/>
              </a:rPr>
              <a:t>(</a:t>
            </a:r>
            <a:r>
              <a:rPr sz="1000" i="1" spc="-5" dirty="0">
                <a:latin typeface="Arial"/>
                <a:cs typeface="Arial"/>
              </a:rPr>
              <a:t>t</a:t>
            </a:r>
            <a:r>
              <a:rPr sz="1000" i="1" spc="-190" dirty="0">
                <a:latin typeface="Arial"/>
                <a:cs typeface="Arial"/>
              </a:rPr>
              <a:t> </a:t>
            </a:r>
            <a:r>
              <a:rPr sz="1000" spc="50" dirty="0">
                <a:latin typeface="Arial"/>
                <a:cs typeface="Arial"/>
              </a:rPr>
              <a:t>)</a:t>
            </a:r>
            <a:r>
              <a:rPr sz="1000" dirty="0">
                <a:latin typeface="Arial"/>
                <a:cs typeface="Arial"/>
              </a:rPr>
              <a:t> </a:t>
            </a:r>
            <a:r>
              <a:rPr sz="1000" spc="-5" dirty="0">
                <a:latin typeface="Arial"/>
                <a:cs typeface="Arial"/>
              </a:rPr>
              <a:t>of </a:t>
            </a:r>
            <a:r>
              <a:rPr sz="1000" i="1" spc="-5" dirty="0">
                <a:latin typeface="Arial"/>
                <a:cs typeface="Arial"/>
              </a:rPr>
              <a:t>x</a:t>
            </a:r>
            <a:r>
              <a:rPr sz="1000" i="1" spc="-185" dirty="0">
                <a:latin typeface="Arial"/>
                <a:cs typeface="Arial"/>
              </a:rPr>
              <a:t> </a:t>
            </a:r>
            <a:r>
              <a:rPr sz="1000" spc="-5" dirty="0">
                <a:latin typeface="Arial"/>
                <a:cs typeface="Arial"/>
              </a:rPr>
              <a:t>:</a:t>
            </a:r>
            <a:endParaRPr sz="1000">
              <a:latin typeface="Arial"/>
              <a:cs typeface="Arial"/>
            </a:endParaRPr>
          </a:p>
        </p:txBody>
      </p:sp>
      <p:sp>
        <p:nvSpPr>
          <p:cNvPr id="6" name="object 6"/>
          <p:cNvSpPr txBox="1"/>
          <p:nvPr/>
        </p:nvSpPr>
        <p:spPr>
          <a:xfrm>
            <a:off x="2356370" y="1369843"/>
            <a:ext cx="93345" cy="137795"/>
          </a:xfrm>
          <a:prstGeom prst="rect">
            <a:avLst/>
          </a:prstGeom>
        </p:spPr>
        <p:txBody>
          <a:bodyPr vert="horz" wrap="square" lIns="0" tIns="17145" rIns="0" bIns="0" rtlCol="0">
            <a:spAutoFit/>
          </a:bodyPr>
          <a:lstStyle/>
          <a:p>
            <a:pPr marL="12700">
              <a:lnSpc>
                <a:spcPct val="100000"/>
              </a:lnSpc>
              <a:spcBef>
                <a:spcPts val="135"/>
              </a:spcBef>
            </a:pPr>
            <a:r>
              <a:rPr sz="700" i="1" spc="25" dirty="0">
                <a:latin typeface="Arial"/>
                <a:cs typeface="Arial"/>
              </a:rPr>
              <a:t>N</a:t>
            </a:r>
            <a:endParaRPr sz="700">
              <a:latin typeface="Arial"/>
              <a:cs typeface="Arial"/>
            </a:endParaRPr>
          </a:p>
        </p:txBody>
      </p:sp>
      <p:sp>
        <p:nvSpPr>
          <p:cNvPr id="7" name="object 7"/>
          <p:cNvSpPr txBox="1"/>
          <p:nvPr/>
        </p:nvSpPr>
        <p:spPr>
          <a:xfrm>
            <a:off x="2313432" y="2039108"/>
            <a:ext cx="93345" cy="137795"/>
          </a:xfrm>
          <a:prstGeom prst="rect">
            <a:avLst/>
          </a:prstGeom>
        </p:spPr>
        <p:txBody>
          <a:bodyPr vert="horz" wrap="square" lIns="0" tIns="17145" rIns="0" bIns="0" rtlCol="0">
            <a:spAutoFit/>
          </a:bodyPr>
          <a:lstStyle/>
          <a:p>
            <a:pPr marL="12700">
              <a:lnSpc>
                <a:spcPct val="100000"/>
              </a:lnSpc>
              <a:spcBef>
                <a:spcPts val="135"/>
              </a:spcBef>
            </a:pPr>
            <a:r>
              <a:rPr sz="700" i="1" spc="25" dirty="0">
                <a:latin typeface="Arial"/>
                <a:cs typeface="Arial"/>
              </a:rPr>
              <a:t>N</a:t>
            </a:r>
            <a:endParaRPr sz="700">
              <a:latin typeface="Arial"/>
              <a:cs typeface="Arial"/>
            </a:endParaRPr>
          </a:p>
        </p:txBody>
      </p:sp>
      <p:sp>
        <p:nvSpPr>
          <p:cNvPr id="8" name="object 8"/>
          <p:cNvSpPr txBox="1"/>
          <p:nvPr/>
        </p:nvSpPr>
        <p:spPr>
          <a:xfrm>
            <a:off x="318731" y="1416467"/>
            <a:ext cx="2719070" cy="1031240"/>
          </a:xfrm>
          <a:prstGeom prst="rect">
            <a:avLst/>
          </a:prstGeom>
        </p:spPr>
        <p:txBody>
          <a:bodyPr vert="horz" wrap="square" lIns="0" tIns="17145" rIns="0" bIns="0" rtlCol="0">
            <a:spAutoFit/>
          </a:bodyPr>
          <a:lstStyle/>
          <a:p>
            <a:pPr marL="1289685">
              <a:lnSpc>
                <a:spcPct val="100000"/>
              </a:lnSpc>
              <a:spcBef>
                <a:spcPts val="135"/>
              </a:spcBef>
            </a:pPr>
            <a:r>
              <a:rPr sz="1000" i="1" spc="-5" dirty="0">
                <a:latin typeface="Arial"/>
                <a:cs typeface="Arial"/>
              </a:rPr>
              <a:t>v</a:t>
            </a:r>
            <a:r>
              <a:rPr sz="1000" i="1" spc="-180" dirty="0">
                <a:latin typeface="Arial"/>
                <a:cs typeface="Arial"/>
              </a:rPr>
              <a:t> </a:t>
            </a:r>
            <a:r>
              <a:rPr sz="1000" spc="50" dirty="0">
                <a:latin typeface="Arial"/>
                <a:cs typeface="Arial"/>
              </a:rPr>
              <a:t>(</a:t>
            </a:r>
            <a:r>
              <a:rPr sz="1000" i="1" spc="-5" dirty="0">
                <a:latin typeface="Arial"/>
                <a:cs typeface="Arial"/>
              </a:rPr>
              <a:t>t</a:t>
            </a:r>
            <a:r>
              <a:rPr sz="1000" i="1" spc="-190" dirty="0">
                <a:latin typeface="Arial"/>
                <a:cs typeface="Arial"/>
              </a:rPr>
              <a:t> </a:t>
            </a:r>
            <a:r>
              <a:rPr sz="1000" spc="50" dirty="0">
                <a:latin typeface="Arial"/>
                <a:cs typeface="Arial"/>
              </a:rPr>
              <a:t>)</a:t>
            </a:r>
            <a:r>
              <a:rPr sz="1000" spc="-60" dirty="0">
                <a:latin typeface="Arial"/>
                <a:cs typeface="Arial"/>
              </a:rPr>
              <a:t> </a:t>
            </a:r>
            <a:r>
              <a:rPr sz="1000" spc="190" dirty="0">
                <a:latin typeface="Arial"/>
                <a:cs typeface="Arial"/>
              </a:rPr>
              <a:t>=</a:t>
            </a:r>
            <a:r>
              <a:rPr sz="1000" spc="-60" dirty="0">
                <a:latin typeface="Arial"/>
                <a:cs typeface="Arial"/>
              </a:rPr>
              <a:t> </a:t>
            </a:r>
            <a:r>
              <a:rPr sz="1000" i="1" spc="-5" dirty="0">
                <a:latin typeface="Arial"/>
                <a:cs typeface="Arial"/>
              </a:rPr>
              <a:t>v</a:t>
            </a:r>
            <a:r>
              <a:rPr sz="1050" i="1" spc="15" baseline="-15873" dirty="0">
                <a:latin typeface="Arial"/>
                <a:cs typeface="Arial"/>
              </a:rPr>
              <a:t>init</a:t>
            </a:r>
            <a:r>
              <a:rPr sz="1050" i="1" spc="89" baseline="-15873" dirty="0">
                <a:latin typeface="Arial"/>
                <a:cs typeface="Arial"/>
              </a:rPr>
              <a:t> </a:t>
            </a:r>
            <a:r>
              <a:rPr sz="1000" spc="190" dirty="0">
                <a:latin typeface="Arial"/>
                <a:cs typeface="Arial"/>
              </a:rPr>
              <a:t>+</a:t>
            </a:r>
            <a:r>
              <a:rPr sz="1000" spc="60" dirty="0">
                <a:latin typeface="Arial"/>
                <a:cs typeface="Arial"/>
              </a:rPr>
              <a:t> </a:t>
            </a:r>
            <a:r>
              <a:rPr sz="2100" spc="30" baseline="-7936" dirty="0">
                <a:latin typeface="Times New Roman"/>
                <a:cs typeface="Times New Roman"/>
              </a:rPr>
              <a:t>∑</a:t>
            </a:r>
            <a:r>
              <a:rPr sz="2100" spc="-60" baseline="-7936" dirty="0">
                <a:latin typeface="Times New Roman"/>
                <a:cs typeface="Times New Roman"/>
              </a:rPr>
              <a:t> </a:t>
            </a:r>
            <a:r>
              <a:rPr sz="1000" i="1" spc="-5" dirty="0">
                <a:latin typeface="Arial"/>
                <a:cs typeface="Arial"/>
              </a:rPr>
              <a:t>TW</a:t>
            </a:r>
            <a:r>
              <a:rPr sz="1000" i="1" spc="-145" dirty="0">
                <a:latin typeface="Arial"/>
                <a:cs typeface="Arial"/>
              </a:rPr>
              <a:t> </a:t>
            </a:r>
            <a:r>
              <a:rPr sz="1000" spc="5" dirty="0">
                <a:latin typeface="Arial"/>
                <a:cs typeface="Arial"/>
              </a:rPr>
              <a:t>[</a:t>
            </a:r>
            <a:r>
              <a:rPr sz="1000" i="1" spc="90" dirty="0">
                <a:latin typeface="Arial"/>
                <a:cs typeface="Arial"/>
              </a:rPr>
              <a:t>k</a:t>
            </a:r>
            <a:r>
              <a:rPr sz="1000" i="1" spc="-5" dirty="0">
                <a:latin typeface="Arial"/>
                <a:cs typeface="Arial"/>
              </a:rPr>
              <a:t>,</a:t>
            </a:r>
            <a:r>
              <a:rPr sz="1000" i="1" spc="-170" dirty="0">
                <a:latin typeface="Arial"/>
                <a:cs typeface="Arial"/>
              </a:rPr>
              <a:t> </a:t>
            </a:r>
            <a:r>
              <a:rPr sz="1000" i="1" spc="-5" dirty="0">
                <a:latin typeface="Arial"/>
                <a:cs typeface="Arial"/>
              </a:rPr>
              <a:t>k</a:t>
            </a:r>
            <a:r>
              <a:rPr sz="1000" i="1" spc="-180" dirty="0">
                <a:latin typeface="Arial"/>
                <a:cs typeface="Arial"/>
              </a:rPr>
              <a:t> </a:t>
            </a:r>
            <a:r>
              <a:rPr sz="1000" spc="5" dirty="0">
                <a:latin typeface="Arial"/>
                <a:cs typeface="Arial"/>
              </a:rPr>
              <a:t>]</a:t>
            </a:r>
            <a:endParaRPr sz="1000">
              <a:latin typeface="Arial"/>
              <a:cs typeface="Arial"/>
            </a:endParaRPr>
          </a:p>
          <a:p>
            <a:pPr marL="1996439">
              <a:lnSpc>
                <a:spcPct val="100000"/>
              </a:lnSpc>
              <a:spcBef>
                <a:spcPts val="85"/>
              </a:spcBef>
            </a:pPr>
            <a:r>
              <a:rPr sz="700" i="1" spc="15" dirty="0">
                <a:latin typeface="Arial"/>
                <a:cs typeface="Arial"/>
              </a:rPr>
              <a:t>k</a:t>
            </a:r>
            <a:r>
              <a:rPr sz="700" i="1" spc="-125" dirty="0">
                <a:latin typeface="Arial"/>
                <a:cs typeface="Arial"/>
              </a:rPr>
              <a:t> </a:t>
            </a:r>
            <a:r>
              <a:rPr sz="700" spc="165" dirty="0">
                <a:latin typeface="Arial"/>
                <a:cs typeface="Arial"/>
              </a:rPr>
              <a:t>=</a:t>
            </a:r>
            <a:r>
              <a:rPr sz="700" spc="20" dirty="0">
                <a:latin typeface="Arial"/>
                <a:cs typeface="Arial"/>
              </a:rPr>
              <a:t>1</a:t>
            </a:r>
            <a:endParaRPr sz="700">
              <a:latin typeface="Arial"/>
              <a:cs typeface="Arial"/>
            </a:endParaRPr>
          </a:p>
          <a:p>
            <a:pPr marL="38100">
              <a:lnSpc>
                <a:spcPct val="100000"/>
              </a:lnSpc>
              <a:spcBef>
                <a:spcPts val="790"/>
              </a:spcBef>
            </a:pPr>
            <a:r>
              <a:rPr sz="1000" spc="-30" dirty="0">
                <a:latin typeface="Arial"/>
                <a:cs typeface="Arial"/>
              </a:rPr>
              <a:t>v</a:t>
            </a:r>
            <a:r>
              <a:rPr sz="1000" spc="-5" dirty="0">
                <a:latin typeface="Arial"/>
                <a:cs typeface="Arial"/>
              </a:rPr>
              <a:t>alue </a:t>
            </a:r>
            <a:r>
              <a:rPr sz="1000" i="1" spc="-5" dirty="0">
                <a:latin typeface="Arial"/>
                <a:cs typeface="Arial"/>
              </a:rPr>
              <a:t>v</a:t>
            </a:r>
            <a:r>
              <a:rPr sz="1050" i="1" spc="7" baseline="-15873" dirty="0">
                <a:latin typeface="Arial"/>
                <a:cs typeface="Arial"/>
              </a:rPr>
              <a:t>i</a:t>
            </a:r>
            <a:r>
              <a:rPr sz="1050" i="1" baseline="-15873" dirty="0">
                <a:latin typeface="Arial"/>
                <a:cs typeface="Arial"/>
              </a:rPr>
              <a:t>  </a:t>
            </a:r>
            <a:r>
              <a:rPr sz="1000" spc="-5" dirty="0">
                <a:latin typeface="Arial"/>
                <a:cs typeface="Arial"/>
              </a:rPr>
              <a:t>of </a:t>
            </a:r>
            <a:r>
              <a:rPr sz="1000" i="1" spc="-5" dirty="0">
                <a:latin typeface="Arial"/>
                <a:cs typeface="Arial"/>
              </a:rPr>
              <a:t>x</a:t>
            </a:r>
            <a:r>
              <a:rPr sz="1000" i="1" spc="90" dirty="0">
                <a:latin typeface="Arial"/>
                <a:cs typeface="Arial"/>
              </a:rPr>
              <a:t> </a:t>
            </a:r>
            <a:r>
              <a:rPr sz="1000" spc="-5" dirty="0">
                <a:latin typeface="Arial"/>
                <a:cs typeface="Arial"/>
              </a:rPr>
              <a:t>at se</a:t>
            </a:r>
            <a:r>
              <a:rPr sz="1000" spc="20" dirty="0">
                <a:latin typeface="Arial"/>
                <a:cs typeface="Arial"/>
              </a:rPr>
              <a:t>r</a:t>
            </a:r>
            <a:r>
              <a:rPr sz="1000" spc="-30" dirty="0">
                <a:latin typeface="Arial"/>
                <a:cs typeface="Arial"/>
              </a:rPr>
              <a:t>v</a:t>
            </a:r>
            <a:r>
              <a:rPr sz="1000" spc="-5" dirty="0">
                <a:latin typeface="Arial"/>
                <a:cs typeface="Arial"/>
              </a:rPr>
              <a:t>er </a:t>
            </a:r>
            <a:r>
              <a:rPr sz="1000" i="1" spc="-5" dirty="0">
                <a:latin typeface="Arial"/>
                <a:cs typeface="Arial"/>
              </a:rPr>
              <a:t>S</a:t>
            </a:r>
            <a:r>
              <a:rPr sz="1050" i="1" spc="7" baseline="-15873" dirty="0">
                <a:latin typeface="Arial"/>
                <a:cs typeface="Arial"/>
              </a:rPr>
              <a:t>i</a:t>
            </a:r>
            <a:r>
              <a:rPr sz="1050" i="1" spc="-127" baseline="-15873" dirty="0">
                <a:latin typeface="Arial"/>
                <a:cs typeface="Arial"/>
              </a:rPr>
              <a:t> </a:t>
            </a:r>
            <a:r>
              <a:rPr sz="1000" spc="-5" dirty="0">
                <a:latin typeface="Arial"/>
                <a:cs typeface="Arial"/>
              </a:rPr>
              <a:t>:</a:t>
            </a:r>
            <a:endParaRPr sz="1000">
              <a:latin typeface="Arial"/>
              <a:cs typeface="Arial"/>
            </a:endParaRPr>
          </a:p>
          <a:p>
            <a:pPr marL="1369695">
              <a:lnSpc>
                <a:spcPct val="100000"/>
              </a:lnSpc>
              <a:spcBef>
                <a:spcPts val="675"/>
              </a:spcBef>
            </a:pPr>
            <a:r>
              <a:rPr sz="1000" i="1" spc="-5" dirty="0">
                <a:latin typeface="Arial"/>
                <a:cs typeface="Arial"/>
              </a:rPr>
              <a:t>v</a:t>
            </a:r>
            <a:r>
              <a:rPr sz="1050" i="1" spc="7" baseline="-15873" dirty="0">
                <a:latin typeface="Arial"/>
                <a:cs typeface="Arial"/>
              </a:rPr>
              <a:t>i </a:t>
            </a:r>
            <a:r>
              <a:rPr sz="1050" i="1" spc="-82" baseline="-15873" dirty="0">
                <a:latin typeface="Arial"/>
                <a:cs typeface="Arial"/>
              </a:rPr>
              <a:t> </a:t>
            </a:r>
            <a:r>
              <a:rPr sz="1000" spc="190" dirty="0">
                <a:latin typeface="Arial"/>
                <a:cs typeface="Arial"/>
              </a:rPr>
              <a:t>=</a:t>
            </a:r>
            <a:r>
              <a:rPr sz="1000" spc="-60" dirty="0">
                <a:latin typeface="Arial"/>
                <a:cs typeface="Arial"/>
              </a:rPr>
              <a:t> </a:t>
            </a:r>
            <a:r>
              <a:rPr sz="1000" i="1" spc="-5" dirty="0">
                <a:latin typeface="Arial"/>
                <a:cs typeface="Arial"/>
              </a:rPr>
              <a:t>v</a:t>
            </a:r>
            <a:r>
              <a:rPr sz="1050" i="1" spc="15" baseline="-15873" dirty="0">
                <a:latin typeface="Arial"/>
                <a:cs typeface="Arial"/>
              </a:rPr>
              <a:t>init</a:t>
            </a:r>
            <a:r>
              <a:rPr sz="1050" i="1" spc="89" baseline="-15873" dirty="0">
                <a:latin typeface="Arial"/>
                <a:cs typeface="Arial"/>
              </a:rPr>
              <a:t> </a:t>
            </a:r>
            <a:r>
              <a:rPr sz="1000" spc="190" dirty="0">
                <a:latin typeface="Arial"/>
                <a:cs typeface="Arial"/>
              </a:rPr>
              <a:t>+</a:t>
            </a:r>
            <a:r>
              <a:rPr sz="1000" spc="60" dirty="0">
                <a:latin typeface="Arial"/>
                <a:cs typeface="Arial"/>
              </a:rPr>
              <a:t> </a:t>
            </a:r>
            <a:r>
              <a:rPr sz="2100" spc="30" baseline="-7936" dirty="0">
                <a:latin typeface="Times New Roman"/>
                <a:cs typeface="Times New Roman"/>
              </a:rPr>
              <a:t>∑</a:t>
            </a:r>
            <a:r>
              <a:rPr sz="2100" spc="-60" baseline="-7936" dirty="0">
                <a:latin typeface="Times New Roman"/>
                <a:cs typeface="Times New Roman"/>
              </a:rPr>
              <a:t> </a:t>
            </a:r>
            <a:r>
              <a:rPr sz="1000" i="1" spc="-5" dirty="0">
                <a:latin typeface="Arial"/>
                <a:cs typeface="Arial"/>
              </a:rPr>
              <a:t>TW</a:t>
            </a:r>
            <a:r>
              <a:rPr sz="1000" i="1" spc="-145" dirty="0">
                <a:latin typeface="Arial"/>
                <a:cs typeface="Arial"/>
              </a:rPr>
              <a:t> </a:t>
            </a:r>
            <a:r>
              <a:rPr sz="1000" spc="5" dirty="0">
                <a:latin typeface="Arial"/>
                <a:cs typeface="Arial"/>
              </a:rPr>
              <a:t>[</a:t>
            </a:r>
            <a:r>
              <a:rPr sz="1000" i="1" spc="80" dirty="0">
                <a:latin typeface="Arial"/>
                <a:cs typeface="Arial"/>
              </a:rPr>
              <a:t>i</a:t>
            </a:r>
            <a:r>
              <a:rPr sz="1000" i="1" spc="-5" dirty="0">
                <a:latin typeface="Arial"/>
                <a:cs typeface="Arial"/>
              </a:rPr>
              <a:t>,</a:t>
            </a:r>
            <a:r>
              <a:rPr sz="1000" i="1" spc="-170" dirty="0">
                <a:latin typeface="Arial"/>
                <a:cs typeface="Arial"/>
              </a:rPr>
              <a:t> </a:t>
            </a:r>
            <a:r>
              <a:rPr sz="1000" i="1" spc="-5" dirty="0">
                <a:latin typeface="Arial"/>
                <a:cs typeface="Arial"/>
              </a:rPr>
              <a:t>k</a:t>
            </a:r>
            <a:r>
              <a:rPr sz="1000" i="1" spc="-180" dirty="0">
                <a:latin typeface="Arial"/>
                <a:cs typeface="Arial"/>
              </a:rPr>
              <a:t> </a:t>
            </a:r>
            <a:r>
              <a:rPr sz="1000" spc="5" dirty="0">
                <a:latin typeface="Arial"/>
                <a:cs typeface="Arial"/>
              </a:rPr>
              <a:t>]</a:t>
            </a:r>
            <a:endParaRPr sz="1000">
              <a:latin typeface="Arial"/>
              <a:cs typeface="Arial"/>
            </a:endParaRPr>
          </a:p>
          <a:p>
            <a:pPr marL="1953895">
              <a:lnSpc>
                <a:spcPct val="100000"/>
              </a:lnSpc>
              <a:spcBef>
                <a:spcPts val="85"/>
              </a:spcBef>
            </a:pPr>
            <a:r>
              <a:rPr sz="700" i="1" spc="15" dirty="0">
                <a:latin typeface="Arial"/>
                <a:cs typeface="Arial"/>
              </a:rPr>
              <a:t>k</a:t>
            </a:r>
            <a:r>
              <a:rPr sz="700" i="1" spc="-125" dirty="0">
                <a:latin typeface="Arial"/>
                <a:cs typeface="Arial"/>
              </a:rPr>
              <a:t> </a:t>
            </a:r>
            <a:r>
              <a:rPr sz="700" spc="165" dirty="0">
                <a:latin typeface="Arial"/>
                <a:cs typeface="Arial"/>
              </a:rPr>
              <a:t>=</a:t>
            </a:r>
            <a:r>
              <a:rPr sz="700" spc="20" dirty="0">
                <a:latin typeface="Arial"/>
                <a:cs typeface="Arial"/>
              </a:rPr>
              <a:t>1</a:t>
            </a:r>
            <a:endParaRPr sz="700">
              <a:latin typeface="Arial"/>
              <a:cs typeface="Arial"/>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66713" y="3331252"/>
            <a:ext cx="1019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Bounding</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numerical</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deviation</a:t>
            </a:r>
            <a:endParaRPr sz="600">
              <a:latin typeface="Arial"/>
              <a:cs typeface="Arial"/>
            </a:endParaRPr>
          </a:p>
        </p:txBody>
      </p:sp>
      <p:sp>
        <p:nvSpPr>
          <p:cNvPr id="7" name="object 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17570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70" dirty="0">
                <a:solidFill>
                  <a:srgbClr val="3333B2"/>
                </a:solidFill>
                <a:latin typeface="Arial"/>
                <a:cs typeface="Arial"/>
              </a:rPr>
              <a:t> </a:t>
            </a:r>
            <a:r>
              <a:rPr sz="600" spc="-5" dirty="0">
                <a:solidFill>
                  <a:srgbClr val="3333B2"/>
                </a:solidFill>
                <a:latin typeface="Arial"/>
                <a:cs typeface="Arial"/>
                <a:hlinkClick r:id="rId2" action="ppaction://hlinksldjump"/>
              </a:rPr>
              <a:t>Consistency</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protocols</a:t>
            </a:r>
            <a:endParaRPr sz="600">
              <a:latin typeface="Arial"/>
              <a:cs typeface="Arial"/>
            </a:endParaRPr>
          </a:p>
        </p:txBody>
      </p:sp>
      <p:sp>
        <p:nvSpPr>
          <p:cNvPr id="3" name="object 3"/>
          <p:cNvSpPr txBox="1"/>
          <p:nvPr/>
        </p:nvSpPr>
        <p:spPr>
          <a:xfrm>
            <a:off x="3714985" y="716"/>
            <a:ext cx="826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2" action="ppaction://hlinksldjump"/>
              </a:rPr>
              <a:t>Continuous</a:t>
            </a:r>
            <a:r>
              <a:rPr sz="600" spc="-25"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consistency</a:t>
            </a:r>
            <a:endParaRPr sz="600">
              <a:latin typeface="Arial"/>
              <a:cs typeface="Arial"/>
            </a:endParaRPr>
          </a:p>
        </p:txBody>
      </p:sp>
      <p:sp>
        <p:nvSpPr>
          <p:cNvPr id="4" name="object 4"/>
          <p:cNvSpPr txBox="1"/>
          <p:nvPr/>
        </p:nvSpPr>
        <p:spPr>
          <a:xfrm>
            <a:off x="95300" y="188846"/>
            <a:ext cx="340995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Continuous</a:t>
            </a:r>
            <a:r>
              <a:rPr sz="1400" spc="-10" dirty="0">
                <a:solidFill>
                  <a:srgbClr val="3333B2"/>
                </a:solidFill>
                <a:latin typeface="Arial"/>
                <a:cs typeface="Arial"/>
              </a:rPr>
              <a:t> </a:t>
            </a:r>
            <a:r>
              <a:rPr sz="1400" spc="15" dirty="0">
                <a:solidFill>
                  <a:srgbClr val="3333B2"/>
                </a:solidFill>
                <a:latin typeface="Arial"/>
                <a:cs typeface="Arial"/>
              </a:rPr>
              <a:t>consistency:</a:t>
            </a:r>
            <a:r>
              <a:rPr sz="1400" spc="85" dirty="0">
                <a:solidFill>
                  <a:srgbClr val="3333B2"/>
                </a:solidFill>
                <a:latin typeface="Arial"/>
                <a:cs typeface="Arial"/>
              </a:rPr>
              <a:t> </a:t>
            </a:r>
            <a:r>
              <a:rPr sz="1400" spc="15" dirty="0">
                <a:solidFill>
                  <a:srgbClr val="3333B2"/>
                </a:solidFill>
                <a:latin typeface="Arial"/>
                <a:cs typeface="Arial"/>
              </a:rPr>
              <a:t>Numerical</a:t>
            </a:r>
            <a:r>
              <a:rPr sz="1400" spc="-5" dirty="0">
                <a:solidFill>
                  <a:srgbClr val="3333B2"/>
                </a:solidFill>
                <a:latin typeface="Arial"/>
                <a:cs typeface="Arial"/>
              </a:rPr>
              <a:t> </a:t>
            </a:r>
            <a:r>
              <a:rPr sz="1400" spc="15" dirty="0">
                <a:solidFill>
                  <a:srgbClr val="3333B2"/>
                </a:solidFill>
                <a:latin typeface="Arial"/>
                <a:cs typeface="Arial"/>
              </a:rPr>
              <a:t>errors</a:t>
            </a:r>
            <a:endParaRPr sz="1400">
              <a:latin typeface="Arial"/>
              <a:cs typeface="Arial"/>
            </a:endParaRPr>
          </a:p>
        </p:txBody>
      </p:sp>
      <p:sp>
        <p:nvSpPr>
          <p:cNvPr id="5" name="object 5"/>
          <p:cNvSpPr txBox="1"/>
          <p:nvPr/>
        </p:nvSpPr>
        <p:spPr>
          <a:xfrm>
            <a:off x="315950" y="871801"/>
            <a:ext cx="3225800" cy="354965"/>
          </a:xfrm>
          <a:prstGeom prst="rect">
            <a:avLst/>
          </a:prstGeom>
        </p:spPr>
        <p:txBody>
          <a:bodyPr vert="horz" wrap="square" lIns="0" tIns="12065" rIns="0" bIns="0" rtlCol="0">
            <a:spAutoFit/>
          </a:bodyPr>
          <a:lstStyle/>
          <a:p>
            <a:pPr marL="43815">
              <a:lnSpc>
                <a:spcPts val="1420"/>
              </a:lnSpc>
              <a:spcBef>
                <a:spcPts val="95"/>
              </a:spcBef>
            </a:pPr>
            <a:r>
              <a:rPr sz="1200" spc="-10" dirty="0">
                <a:solidFill>
                  <a:srgbClr val="FA0000"/>
                </a:solidFill>
                <a:latin typeface="Arial"/>
                <a:cs typeface="Arial"/>
              </a:rPr>
              <a:t>Problem</a:t>
            </a:r>
            <a:endParaRPr sz="1200">
              <a:latin typeface="Arial"/>
              <a:cs typeface="Arial"/>
            </a:endParaRPr>
          </a:p>
          <a:p>
            <a:pPr marL="38100">
              <a:lnSpc>
                <a:spcPts val="1180"/>
              </a:lnSpc>
            </a:pPr>
            <a:r>
              <a:rPr sz="1000" spc="-20" dirty="0">
                <a:latin typeface="Arial"/>
                <a:cs typeface="Arial"/>
              </a:rPr>
              <a:t>We</a:t>
            </a:r>
            <a:r>
              <a:rPr sz="1000" spc="-5" dirty="0">
                <a:latin typeface="Arial"/>
                <a:cs typeface="Arial"/>
              </a:rPr>
              <a:t> need to</a:t>
            </a:r>
            <a:r>
              <a:rPr sz="1000" dirty="0">
                <a:latin typeface="Arial"/>
                <a:cs typeface="Arial"/>
              </a:rPr>
              <a:t> </a:t>
            </a:r>
            <a:r>
              <a:rPr sz="1000" spc="-5" dirty="0">
                <a:latin typeface="Arial"/>
                <a:cs typeface="Arial"/>
              </a:rPr>
              <a:t>ensure that</a:t>
            </a:r>
            <a:r>
              <a:rPr sz="1000" dirty="0">
                <a:latin typeface="Arial"/>
                <a:cs typeface="Arial"/>
              </a:rPr>
              <a:t> </a:t>
            </a:r>
            <a:r>
              <a:rPr sz="1000" i="1" spc="-5" dirty="0">
                <a:latin typeface="Arial"/>
                <a:cs typeface="Arial"/>
              </a:rPr>
              <a:t>v</a:t>
            </a:r>
            <a:r>
              <a:rPr sz="1000" i="1" spc="-180" dirty="0">
                <a:latin typeface="Arial"/>
                <a:cs typeface="Arial"/>
              </a:rPr>
              <a:t> </a:t>
            </a:r>
            <a:r>
              <a:rPr sz="1000" spc="25" dirty="0">
                <a:latin typeface="Arial"/>
                <a:cs typeface="Arial"/>
              </a:rPr>
              <a:t>(</a:t>
            </a:r>
            <a:r>
              <a:rPr sz="1000" i="1" spc="25" dirty="0">
                <a:latin typeface="Arial"/>
                <a:cs typeface="Arial"/>
              </a:rPr>
              <a:t>t</a:t>
            </a:r>
            <a:r>
              <a:rPr sz="1000" i="1" spc="-190" dirty="0">
                <a:latin typeface="Arial"/>
                <a:cs typeface="Arial"/>
              </a:rPr>
              <a:t> </a:t>
            </a:r>
            <a:r>
              <a:rPr sz="1000" spc="50" dirty="0">
                <a:latin typeface="Arial"/>
                <a:cs typeface="Arial"/>
              </a:rPr>
              <a:t>)</a:t>
            </a:r>
            <a:r>
              <a:rPr sz="1000" spc="-140" dirty="0">
                <a:latin typeface="Arial"/>
                <a:cs typeface="Arial"/>
              </a:rPr>
              <a:t> </a:t>
            </a:r>
            <a:r>
              <a:rPr sz="1000" i="1" spc="35" dirty="0">
                <a:latin typeface="メイリオ"/>
                <a:cs typeface="メイリオ"/>
              </a:rPr>
              <a:t>−</a:t>
            </a:r>
            <a:r>
              <a:rPr sz="1000" i="1" spc="35" dirty="0">
                <a:latin typeface="Arial"/>
                <a:cs typeface="Arial"/>
              </a:rPr>
              <a:t>v</a:t>
            </a:r>
            <a:r>
              <a:rPr sz="1050" i="1" spc="52" baseline="-15873" dirty="0">
                <a:latin typeface="Arial"/>
                <a:cs typeface="Arial"/>
              </a:rPr>
              <a:t>i</a:t>
            </a:r>
            <a:r>
              <a:rPr sz="1050" i="1" spc="217" baseline="-15873" dirty="0">
                <a:latin typeface="Arial"/>
                <a:cs typeface="Arial"/>
              </a:rPr>
              <a:t> </a:t>
            </a:r>
            <a:r>
              <a:rPr sz="1000" i="1" spc="190" dirty="0">
                <a:latin typeface="Arial"/>
                <a:cs typeface="Arial"/>
              </a:rPr>
              <a:t>&lt;</a:t>
            </a:r>
            <a:r>
              <a:rPr sz="1000" i="1" spc="-60" dirty="0">
                <a:latin typeface="Arial"/>
                <a:cs typeface="Arial"/>
              </a:rPr>
              <a:t> </a:t>
            </a:r>
            <a:r>
              <a:rPr sz="1000" i="1" spc="-35" dirty="0">
                <a:latin typeface="Arial"/>
                <a:cs typeface="Arial"/>
              </a:rPr>
              <a:t>δ</a:t>
            </a:r>
            <a:r>
              <a:rPr sz="1050" i="1" spc="-52" baseline="-15873" dirty="0">
                <a:latin typeface="Arial"/>
                <a:cs typeface="Arial"/>
              </a:rPr>
              <a:t>i</a:t>
            </a:r>
            <a:r>
              <a:rPr sz="1050" i="1" spc="67" baseline="-15873" dirty="0">
                <a:latin typeface="Arial"/>
                <a:cs typeface="Arial"/>
              </a:rPr>
              <a:t> </a:t>
            </a:r>
            <a:r>
              <a:rPr sz="1000" spc="-15" dirty="0">
                <a:latin typeface="Arial"/>
                <a:cs typeface="Arial"/>
              </a:rPr>
              <a:t>for</a:t>
            </a:r>
            <a:r>
              <a:rPr sz="1000" spc="-5" dirty="0">
                <a:latin typeface="Arial"/>
                <a:cs typeface="Arial"/>
              </a:rPr>
              <a:t> </a:t>
            </a:r>
            <a:r>
              <a:rPr sz="1000" spc="-10" dirty="0">
                <a:latin typeface="Arial"/>
                <a:cs typeface="Arial"/>
              </a:rPr>
              <a:t>every</a:t>
            </a:r>
            <a:r>
              <a:rPr sz="1000" dirty="0">
                <a:latin typeface="Arial"/>
                <a:cs typeface="Arial"/>
              </a:rPr>
              <a:t> </a:t>
            </a:r>
            <a:r>
              <a:rPr sz="1000" spc="-5" dirty="0">
                <a:latin typeface="Arial"/>
                <a:cs typeface="Arial"/>
              </a:rPr>
              <a:t>server </a:t>
            </a:r>
            <a:r>
              <a:rPr sz="1000" i="1" dirty="0">
                <a:latin typeface="Arial"/>
                <a:cs typeface="Arial"/>
              </a:rPr>
              <a:t>S</a:t>
            </a:r>
            <a:r>
              <a:rPr sz="1050" i="1" baseline="-15873" dirty="0">
                <a:latin typeface="Arial"/>
                <a:cs typeface="Arial"/>
              </a:rPr>
              <a:t>i</a:t>
            </a:r>
            <a:r>
              <a:rPr sz="1050" i="1" spc="-127" baseline="-15873" dirty="0">
                <a:latin typeface="Arial"/>
                <a:cs typeface="Arial"/>
              </a:rPr>
              <a:t> </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66713" y="3331252"/>
            <a:ext cx="1019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Bounding</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numerical</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deviation</a:t>
            </a:r>
            <a:endParaRPr sz="600">
              <a:latin typeface="Arial"/>
              <a:cs typeface="Arial"/>
            </a:endParaRPr>
          </a:p>
        </p:txBody>
      </p:sp>
      <p:sp>
        <p:nvSpPr>
          <p:cNvPr id="7" name="object 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17570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70" dirty="0">
                <a:solidFill>
                  <a:srgbClr val="3333B2"/>
                </a:solidFill>
                <a:latin typeface="Arial"/>
                <a:cs typeface="Arial"/>
              </a:rPr>
              <a:t> </a:t>
            </a:r>
            <a:r>
              <a:rPr sz="600" spc="-5" dirty="0">
                <a:solidFill>
                  <a:srgbClr val="3333B2"/>
                </a:solidFill>
                <a:latin typeface="Arial"/>
                <a:cs typeface="Arial"/>
                <a:hlinkClick r:id="rId2" action="ppaction://hlinksldjump"/>
              </a:rPr>
              <a:t>Consistency</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protocols</a:t>
            </a:r>
            <a:endParaRPr sz="600">
              <a:latin typeface="Arial"/>
              <a:cs typeface="Arial"/>
            </a:endParaRPr>
          </a:p>
        </p:txBody>
      </p:sp>
      <p:sp>
        <p:nvSpPr>
          <p:cNvPr id="3" name="object 3"/>
          <p:cNvSpPr txBox="1"/>
          <p:nvPr/>
        </p:nvSpPr>
        <p:spPr>
          <a:xfrm>
            <a:off x="3714985" y="716"/>
            <a:ext cx="826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2" action="ppaction://hlinksldjump"/>
              </a:rPr>
              <a:t>Continuous</a:t>
            </a:r>
            <a:r>
              <a:rPr sz="600" spc="-25"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consistency</a:t>
            </a:r>
            <a:endParaRPr sz="600">
              <a:latin typeface="Arial"/>
              <a:cs typeface="Arial"/>
            </a:endParaRPr>
          </a:p>
        </p:txBody>
      </p:sp>
      <p:sp>
        <p:nvSpPr>
          <p:cNvPr id="4" name="object 4"/>
          <p:cNvSpPr txBox="1"/>
          <p:nvPr/>
        </p:nvSpPr>
        <p:spPr>
          <a:xfrm>
            <a:off x="95300" y="188846"/>
            <a:ext cx="340995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Continuous</a:t>
            </a:r>
            <a:r>
              <a:rPr sz="1400" spc="-10" dirty="0">
                <a:solidFill>
                  <a:srgbClr val="3333B2"/>
                </a:solidFill>
                <a:latin typeface="Arial"/>
                <a:cs typeface="Arial"/>
              </a:rPr>
              <a:t> </a:t>
            </a:r>
            <a:r>
              <a:rPr sz="1400" spc="15" dirty="0">
                <a:solidFill>
                  <a:srgbClr val="3333B2"/>
                </a:solidFill>
                <a:latin typeface="Arial"/>
                <a:cs typeface="Arial"/>
              </a:rPr>
              <a:t>consistency:</a:t>
            </a:r>
            <a:r>
              <a:rPr sz="1400" spc="85" dirty="0">
                <a:solidFill>
                  <a:srgbClr val="3333B2"/>
                </a:solidFill>
                <a:latin typeface="Arial"/>
                <a:cs typeface="Arial"/>
              </a:rPr>
              <a:t> </a:t>
            </a:r>
            <a:r>
              <a:rPr sz="1400" spc="15" dirty="0">
                <a:solidFill>
                  <a:srgbClr val="3333B2"/>
                </a:solidFill>
                <a:latin typeface="Arial"/>
                <a:cs typeface="Arial"/>
              </a:rPr>
              <a:t>Numerical</a:t>
            </a:r>
            <a:r>
              <a:rPr sz="1400" spc="-5" dirty="0">
                <a:solidFill>
                  <a:srgbClr val="3333B2"/>
                </a:solidFill>
                <a:latin typeface="Arial"/>
                <a:cs typeface="Arial"/>
              </a:rPr>
              <a:t> </a:t>
            </a:r>
            <a:r>
              <a:rPr sz="1400" spc="15" dirty="0">
                <a:solidFill>
                  <a:srgbClr val="3333B2"/>
                </a:solidFill>
                <a:latin typeface="Arial"/>
                <a:cs typeface="Arial"/>
              </a:rPr>
              <a:t>errors</a:t>
            </a:r>
            <a:endParaRPr sz="1400">
              <a:latin typeface="Arial"/>
              <a:cs typeface="Arial"/>
            </a:endParaRPr>
          </a:p>
        </p:txBody>
      </p:sp>
      <p:sp>
        <p:nvSpPr>
          <p:cNvPr id="5" name="object 5"/>
          <p:cNvSpPr txBox="1"/>
          <p:nvPr/>
        </p:nvSpPr>
        <p:spPr>
          <a:xfrm>
            <a:off x="315950" y="871801"/>
            <a:ext cx="3964940" cy="1103630"/>
          </a:xfrm>
          <a:prstGeom prst="rect">
            <a:avLst/>
          </a:prstGeom>
        </p:spPr>
        <p:txBody>
          <a:bodyPr vert="horz" wrap="square" lIns="0" tIns="12065" rIns="0" bIns="0" rtlCol="0">
            <a:spAutoFit/>
          </a:bodyPr>
          <a:lstStyle/>
          <a:p>
            <a:pPr marL="43815">
              <a:lnSpc>
                <a:spcPts val="1420"/>
              </a:lnSpc>
              <a:spcBef>
                <a:spcPts val="95"/>
              </a:spcBef>
            </a:pPr>
            <a:r>
              <a:rPr sz="1200" spc="-10" dirty="0">
                <a:solidFill>
                  <a:srgbClr val="FA0000"/>
                </a:solidFill>
                <a:latin typeface="Arial"/>
                <a:cs typeface="Arial"/>
              </a:rPr>
              <a:t>Problem</a:t>
            </a:r>
            <a:endParaRPr sz="1200">
              <a:latin typeface="Arial"/>
              <a:cs typeface="Arial"/>
            </a:endParaRPr>
          </a:p>
          <a:p>
            <a:pPr marL="38100">
              <a:lnSpc>
                <a:spcPts val="1180"/>
              </a:lnSpc>
            </a:pPr>
            <a:r>
              <a:rPr sz="1000" spc="-20" dirty="0">
                <a:latin typeface="Arial"/>
                <a:cs typeface="Arial"/>
              </a:rPr>
              <a:t>We</a:t>
            </a:r>
            <a:r>
              <a:rPr sz="1000" spc="-5" dirty="0">
                <a:latin typeface="Arial"/>
                <a:cs typeface="Arial"/>
              </a:rPr>
              <a:t> need to</a:t>
            </a:r>
            <a:r>
              <a:rPr sz="1000" dirty="0">
                <a:latin typeface="Arial"/>
                <a:cs typeface="Arial"/>
              </a:rPr>
              <a:t> </a:t>
            </a:r>
            <a:r>
              <a:rPr sz="1000" spc="-5" dirty="0">
                <a:latin typeface="Arial"/>
                <a:cs typeface="Arial"/>
              </a:rPr>
              <a:t>ensure that</a:t>
            </a:r>
            <a:r>
              <a:rPr sz="1000" dirty="0">
                <a:latin typeface="Arial"/>
                <a:cs typeface="Arial"/>
              </a:rPr>
              <a:t> </a:t>
            </a:r>
            <a:r>
              <a:rPr sz="1000" i="1" spc="-5" dirty="0">
                <a:latin typeface="Arial"/>
                <a:cs typeface="Arial"/>
              </a:rPr>
              <a:t>v</a:t>
            </a:r>
            <a:r>
              <a:rPr sz="1000" i="1" spc="-180" dirty="0">
                <a:latin typeface="Arial"/>
                <a:cs typeface="Arial"/>
              </a:rPr>
              <a:t> </a:t>
            </a:r>
            <a:r>
              <a:rPr sz="1000" spc="25" dirty="0">
                <a:latin typeface="Arial"/>
                <a:cs typeface="Arial"/>
              </a:rPr>
              <a:t>(</a:t>
            </a:r>
            <a:r>
              <a:rPr sz="1000" i="1" spc="25" dirty="0">
                <a:latin typeface="Arial"/>
                <a:cs typeface="Arial"/>
              </a:rPr>
              <a:t>t</a:t>
            </a:r>
            <a:r>
              <a:rPr sz="1000" i="1" spc="-190" dirty="0">
                <a:latin typeface="Arial"/>
                <a:cs typeface="Arial"/>
              </a:rPr>
              <a:t> </a:t>
            </a:r>
            <a:r>
              <a:rPr sz="1000" spc="50" dirty="0">
                <a:latin typeface="Arial"/>
                <a:cs typeface="Arial"/>
              </a:rPr>
              <a:t>)</a:t>
            </a:r>
            <a:r>
              <a:rPr sz="1000" spc="-140" dirty="0">
                <a:latin typeface="Arial"/>
                <a:cs typeface="Arial"/>
              </a:rPr>
              <a:t> </a:t>
            </a:r>
            <a:r>
              <a:rPr sz="1000" i="1" spc="35" dirty="0">
                <a:latin typeface="メイリオ"/>
                <a:cs typeface="メイリオ"/>
              </a:rPr>
              <a:t>−</a:t>
            </a:r>
            <a:r>
              <a:rPr sz="1000" i="1" spc="35" dirty="0">
                <a:latin typeface="Arial"/>
                <a:cs typeface="Arial"/>
              </a:rPr>
              <a:t>v</a:t>
            </a:r>
            <a:r>
              <a:rPr sz="1050" i="1" spc="52" baseline="-15873" dirty="0">
                <a:latin typeface="Arial"/>
                <a:cs typeface="Arial"/>
              </a:rPr>
              <a:t>i</a:t>
            </a:r>
            <a:r>
              <a:rPr sz="1050" i="1" spc="217" baseline="-15873" dirty="0">
                <a:latin typeface="Arial"/>
                <a:cs typeface="Arial"/>
              </a:rPr>
              <a:t> </a:t>
            </a:r>
            <a:r>
              <a:rPr sz="1000" i="1" spc="190" dirty="0">
                <a:latin typeface="Arial"/>
                <a:cs typeface="Arial"/>
              </a:rPr>
              <a:t>&lt;</a:t>
            </a:r>
            <a:r>
              <a:rPr sz="1000" i="1" spc="-60" dirty="0">
                <a:latin typeface="Arial"/>
                <a:cs typeface="Arial"/>
              </a:rPr>
              <a:t> </a:t>
            </a:r>
            <a:r>
              <a:rPr sz="1000" i="1" spc="-35" dirty="0">
                <a:latin typeface="Arial"/>
                <a:cs typeface="Arial"/>
              </a:rPr>
              <a:t>δ</a:t>
            </a:r>
            <a:r>
              <a:rPr sz="1050" i="1" spc="-52" baseline="-15873" dirty="0">
                <a:latin typeface="Arial"/>
                <a:cs typeface="Arial"/>
              </a:rPr>
              <a:t>i</a:t>
            </a:r>
            <a:r>
              <a:rPr sz="1050" i="1" spc="67" baseline="-15873" dirty="0">
                <a:latin typeface="Arial"/>
                <a:cs typeface="Arial"/>
              </a:rPr>
              <a:t> </a:t>
            </a:r>
            <a:r>
              <a:rPr sz="1000" spc="-15" dirty="0">
                <a:latin typeface="Arial"/>
                <a:cs typeface="Arial"/>
              </a:rPr>
              <a:t>for</a:t>
            </a:r>
            <a:r>
              <a:rPr sz="1000" spc="-5" dirty="0">
                <a:latin typeface="Arial"/>
                <a:cs typeface="Arial"/>
              </a:rPr>
              <a:t> </a:t>
            </a:r>
            <a:r>
              <a:rPr sz="1000" spc="-10" dirty="0">
                <a:latin typeface="Arial"/>
                <a:cs typeface="Arial"/>
              </a:rPr>
              <a:t>every</a:t>
            </a:r>
            <a:r>
              <a:rPr sz="1000" dirty="0">
                <a:latin typeface="Arial"/>
                <a:cs typeface="Arial"/>
              </a:rPr>
              <a:t> </a:t>
            </a:r>
            <a:r>
              <a:rPr sz="1000" spc="-5" dirty="0">
                <a:latin typeface="Arial"/>
                <a:cs typeface="Arial"/>
              </a:rPr>
              <a:t>server </a:t>
            </a:r>
            <a:r>
              <a:rPr sz="1000" i="1" dirty="0">
                <a:latin typeface="Arial"/>
                <a:cs typeface="Arial"/>
              </a:rPr>
              <a:t>S</a:t>
            </a:r>
            <a:r>
              <a:rPr sz="1050" i="1" baseline="-15873" dirty="0">
                <a:latin typeface="Arial"/>
                <a:cs typeface="Arial"/>
              </a:rPr>
              <a:t>i</a:t>
            </a:r>
            <a:r>
              <a:rPr sz="1050" i="1" spc="-127" baseline="-15873" dirty="0">
                <a:latin typeface="Arial"/>
                <a:cs typeface="Arial"/>
              </a:rPr>
              <a:t> </a:t>
            </a:r>
            <a:r>
              <a:rPr sz="1000" spc="-5" dirty="0">
                <a:latin typeface="Arial"/>
                <a:cs typeface="Arial"/>
              </a:rPr>
              <a:t>.</a:t>
            </a:r>
            <a:endParaRPr sz="1000">
              <a:latin typeface="Arial"/>
              <a:cs typeface="Arial"/>
            </a:endParaRPr>
          </a:p>
          <a:p>
            <a:pPr marL="38735">
              <a:lnSpc>
                <a:spcPct val="100000"/>
              </a:lnSpc>
              <a:spcBef>
                <a:spcPts val="690"/>
              </a:spcBef>
            </a:pPr>
            <a:r>
              <a:rPr sz="1200" spc="-5" dirty="0">
                <a:solidFill>
                  <a:srgbClr val="3333B2"/>
                </a:solidFill>
                <a:latin typeface="Arial"/>
                <a:cs typeface="Arial"/>
              </a:rPr>
              <a:t>Approach</a:t>
            </a:r>
            <a:endParaRPr sz="1200">
              <a:latin typeface="Arial"/>
              <a:cs typeface="Arial"/>
            </a:endParaRPr>
          </a:p>
          <a:p>
            <a:pPr marL="40640" marR="30480" indent="2540" algn="just">
              <a:lnSpc>
                <a:spcPct val="100000"/>
              </a:lnSpc>
              <a:spcBef>
                <a:spcPts val="175"/>
              </a:spcBef>
            </a:pPr>
            <a:r>
              <a:rPr sz="1000" spc="-5" dirty="0">
                <a:latin typeface="Arial"/>
                <a:cs typeface="Arial"/>
              </a:rPr>
              <a:t>Let </a:t>
            </a:r>
            <a:r>
              <a:rPr sz="1000" spc="-10" dirty="0">
                <a:latin typeface="Arial"/>
                <a:cs typeface="Arial"/>
              </a:rPr>
              <a:t>every</a:t>
            </a:r>
            <a:r>
              <a:rPr sz="1000" dirty="0">
                <a:latin typeface="Arial"/>
                <a:cs typeface="Arial"/>
              </a:rPr>
              <a:t> </a:t>
            </a:r>
            <a:r>
              <a:rPr sz="1000" spc="-5" dirty="0">
                <a:latin typeface="Arial"/>
                <a:cs typeface="Arial"/>
              </a:rPr>
              <a:t>server</a:t>
            </a:r>
            <a:r>
              <a:rPr sz="1000" dirty="0">
                <a:latin typeface="Arial"/>
                <a:cs typeface="Arial"/>
              </a:rPr>
              <a:t> </a:t>
            </a:r>
            <a:r>
              <a:rPr sz="1000" i="1" spc="5" dirty="0">
                <a:latin typeface="Arial"/>
                <a:cs typeface="Arial"/>
              </a:rPr>
              <a:t>S</a:t>
            </a:r>
            <a:r>
              <a:rPr sz="1050" i="1" spc="7" baseline="-15873" dirty="0">
                <a:latin typeface="Arial"/>
                <a:cs typeface="Arial"/>
              </a:rPr>
              <a:t>k</a:t>
            </a:r>
            <a:r>
              <a:rPr sz="1050" i="1" spc="22" baseline="-15873" dirty="0">
                <a:latin typeface="Arial"/>
                <a:cs typeface="Arial"/>
              </a:rPr>
              <a:t> </a:t>
            </a:r>
            <a:r>
              <a:rPr sz="1000" spc="-5" dirty="0">
                <a:latin typeface="Arial"/>
                <a:cs typeface="Arial"/>
              </a:rPr>
              <a:t>maintain</a:t>
            </a:r>
            <a:r>
              <a:rPr sz="1000" dirty="0">
                <a:latin typeface="Arial"/>
                <a:cs typeface="Arial"/>
              </a:rPr>
              <a:t> </a:t>
            </a:r>
            <a:r>
              <a:rPr sz="1000" spc="-5" dirty="0">
                <a:latin typeface="Arial"/>
                <a:cs typeface="Arial"/>
              </a:rPr>
              <a:t>a </a:t>
            </a:r>
            <a:r>
              <a:rPr sz="1000" spc="-10" dirty="0">
                <a:solidFill>
                  <a:srgbClr val="0000FA"/>
                </a:solidFill>
                <a:latin typeface="Arial"/>
                <a:cs typeface="Arial"/>
              </a:rPr>
              <a:t>view</a:t>
            </a:r>
            <a:r>
              <a:rPr sz="1000" dirty="0">
                <a:solidFill>
                  <a:srgbClr val="0000FA"/>
                </a:solidFill>
                <a:latin typeface="Arial"/>
                <a:cs typeface="Arial"/>
              </a:rPr>
              <a:t> </a:t>
            </a:r>
            <a:r>
              <a:rPr sz="1000" i="1" dirty="0">
                <a:latin typeface="Arial"/>
                <a:cs typeface="Arial"/>
              </a:rPr>
              <a:t>TW</a:t>
            </a:r>
            <a:r>
              <a:rPr sz="1050" i="1" baseline="-15873" dirty="0">
                <a:latin typeface="Arial"/>
                <a:cs typeface="Arial"/>
              </a:rPr>
              <a:t>k</a:t>
            </a:r>
            <a:r>
              <a:rPr sz="1050" i="1" spc="-104" baseline="-15873" dirty="0">
                <a:latin typeface="Arial"/>
                <a:cs typeface="Arial"/>
              </a:rPr>
              <a:t> </a:t>
            </a:r>
            <a:r>
              <a:rPr sz="1000" spc="30" dirty="0">
                <a:latin typeface="Arial"/>
                <a:cs typeface="Arial"/>
              </a:rPr>
              <a:t>[</a:t>
            </a:r>
            <a:r>
              <a:rPr sz="1000" i="1" spc="30" dirty="0">
                <a:latin typeface="Arial"/>
                <a:cs typeface="Arial"/>
              </a:rPr>
              <a:t>i,</a:t>
            </a:r>
            <a:r>
              <a:rPr sz="1000" i="1" spc="-170" dirty="0">
                <a:latin typeface="Arial"/>
                <a:cs typeface="Arial"/>
              </a:rPr>
              <a:t> </a:t>
            </a:r>
            <a:r>
              <a:rPr sz="1000" i="1" spc="-5" dirty="0">
                <a:latin typeface="Arial"/>
                <a:cs typeface="Arial"/>
              </a:rPr>
              <a:t>j</a:t>
            </a:r>
            <a:r>
              <a:rPr sz="1000" i="1" spc="-195" dirty="0">
                <a:latin typeface="Arial"/>
                <a:cs typeface="Arial"/>
              </a:rPr>
              <a:t> </a:t>
            </a:r>
            <a:r>
              <a:rPr sz="1000" spc="5" dirty="0">
                <a:latin typeface="Arial"/>
                <a:cs typeface="Arial"/>
              </a:rPr>
              <a:t>]</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what</a:t>
            </a:r>
            <a:r>
              <a:rPr sz="1000" dirty="0">
                <a:latin typeface="Arial"/>
                <a:cs typeface="Arial"/>
              </a:rPr>
              <a:t> </a:t>
            </a:r>
            <a:r>
              <a:rPr sz="1000" spc="-5" dirty="0">
                <a:latin typeface="Arial"/>
                <a:cs typeface="Arial"/>
              </a:rPr>
              <a:t>it </a:t>
            </a:r>
            <a:r>
              <a:rPr sz="1000" spc="-10" dirty="0">
                <a:latin typeface="Arial"/>
                <a:cs typeface="Arial"/>
              </a:rPr>
              <a:t>believes</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the </a:t>
            </a:r>
            <a:r>
              <a:rPr sz="1000" dirty="0">
                <a:latin typeface="Arial"/>
                <a:cs typeface="Arial"/>
              </a:rPr>
              <a:t> </a:t>
            </a:r>
            <a:r>
              <a:rPr sz="1000" spc="-10" dirty="0">
                <a:latin typeface="Arial"/>
                <a:cs typeface="Arial"/>
              </a:rPr>
              <a:t>value</a:t>
            </a:r>
            <a:r>
              <a:rPr sz="1000" spc="-5" dirty="0">
                <a:latin typeface="Arial"/>
                <a:cs typeface="Arial"/>
              </a:rPr>
              <a:t> of</a:t>
            </a:r>
            <a:r>
              <a:rPr sz="1000" dirty="0">
                <a:latin typeface="Arial"/>
                <a:cs typeface="Arial"/>
              </a:rPr>
              <a:t> </a:t>
            </a:r>
            <a:r>
              <a:rPr sz="1000" i="1" spc="-5" dirty="0">
                <a:latin typeface="Arial"/>
                <a:cs typeface="Arial"/>
              </a:rPr>
              <a:t>TW</a:t>
            </a:r>
            <a:r>
              <a:rPr sz="1000" i="1" spc="-140" dirty="0">
                <a:latin typeface="Arial"/>
                <a:cs typeface="Arial"/>
              </a:rPr>
              <a:t> </a:t>
            </a:r>
            <a:r>
              <a:rPr sz="1000" spc="30" dirty="0">
                <a:latin typeface="Arial"/>
                <a:cs typeface="Arial"/>
              </a:rPr>
              <a:t>[</a:t>
            </a:r>
            <a:r>
              <a:rPr sz="1000" i="1" spc="30" dirty="0">
                <a:latin typeface="Arial"/>
                <a:cs typeface="Arial"/>
              </a:rPr>
              <a:t>i,</a:t>
            </a:r>
            <a:r>
              <a:rPr sz="1000" i="1" spc="-170" dirty="0">
                <a:latin typeface="Arial"/>
                <a:cs typeface="Arial"/>
              </a:rPr>
              <a:t> </a:t>
            </a:r>
            <a:r>
              <a:rPr sz="1000" i="1" spc="-5" dirty="0">
                <a:latin typeface="Arial"/>
                <a:cs typeface="Arial"/>
              </a:rPr>
              <a:t>j</a:t>
            </a:r>
            <a:r>
              <a:rPr sz="1000" i="1" spc="-195" dirty="0">
                <a:latin typeface="Arial"/>
                <a:cs typeface="Arial"/>
              </a:rPr>
              <a:t> </a:t>
            </a:r>
            <a:r>
              <a:rPr sz="1000" dirty="0">
                <a:latin typeface="Arial"/>
                <a:cs typeface="Arial"/>
              </a:rPr>
              <a:t>].</a:t>
            </a:r>
            <a:r>
              <a:rPr sz="1000" spc="70" dirty="0">
                <a:latin typeface="Arial"/>
                <a:cs typeface="Arial"/>
              </a:rPr>
              <a:t> </a:t>
            </a:r>
            <a:r>
              <a:rPr sz="1000" spc="-5" dirty="0">
                <a:latin typeface="Arial"/>
                <a:cs typeface="Arial"/>
              </a:rPr>
              <a:t>This information</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be</a:t>
            </a:r>
            <a:r>
              <a:rPr sz="1000" dirty="0">
                <a:latin typeface="Arial"/>
                <a:cs typeface="Arial"/>
              </a:rPr>
              <a:t> </a:t>
            </a:r>
            <a:r>
              <a:rPr sz="1000" spc="-5" dirty="0">
                <a:solidFill>
                  <a:srgbClr val="0000FA"/>
                </a:solidFill>
                <a:latin typeface="Arial"/>
                <a:cs typeface="Arial"/>
              </a:rPr>
              <a:t>gossiped</a:t>
            </a:r>
            <a:r>
              <a:rPr sz="1000" dirty="0">
                <a:solidFill>
                  <a:srgbClr val="0000FA"/>
                </a:solidFill>
                <a:latin typeface="Arial"/>
                <a:cs typeface="Arial"/>
              </a:rPr>
              <a:t> </a:t>
            </a:r>
            <a:r>
              <a:rPr sz="1000" spc="-5" dirty="0">
                <a:latin typeface="Arial"/>
                <a:cs typeface="Arial"/>
              </a:rPr>
              <a:t>when</a:t>
            </a:r>
            <a:r>
              <a:rPr sz="100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update</a:t>
            </a:r>
            <a:r>
              <a:rPr sz="1000" dirty="0">
                <a:latin typeface="Arial"/>
                <a:cs typeface="Arial"/>
              </a:rPr>
              <a:t> </a:t>
            </a:r>
            <a:r>
              <a:rPr sz="1000" spc="-5" dirty="0">
                <a:latin typeface="Arial"/>
                <a:cs typeface="Arial"/>
              </a:rPr>
              <a:t>is </a:t>
            </a:r>
            <a:r>
              <a:rPr sz="1000" spc="-265" dirty="0">
                <a:latin typeface="Arial"/>
                <a:cs typeface="Arial"/>
              </a:rPr>
              <a:t> </a:t>
            </a:r>
            <a:r>
              <a:rPr sz="1000" spc="-5" dirty="0">
                <a:latin typeface="Arial"/>
                <a:cs typeface="Arial"/>
              </a:rPr>
              <a:t>propagated.</a:t>
            </a:r>
            <a:endParaRPr sz="1000">
              <a:latin typeface="Arial"/>
              <a:cs typeface="Arial"/>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1019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Bounding</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numerical</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deviation</a:t>
            </a:r>
            <a:endParaRPr sz="600">
              <a:latin typeface="Arial"/>
              <a:cs typeface="Arial"/>
            </a:endParaRPr>
          </a:p>
        </p:txBody>
      </p:sp>
      <p:sp>
        <p:nvSpPr>
          <p:cNvPr id="7" name="object 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17570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Consistency</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and</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replication:</a:t>
            </a:r>
            <a:r>
              <a:rPr sz="600" spc="170" dirty="0">
                <a:solidFill>
                  <a:srgbClr val="3333B2"/>
                </a:solidFill>
                <a:latin typeface="Arial"/>
                <a:cs typeface="Arial"/>
              </a:rPr>
              <a:t> </a:t>
            </a: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protocols</a:t>
            </a:r>
            <a:endParaRPr sz="600">
              <a:latin typeface="Arial"/>
              <a:cs typeface="Arial"/>
            </a:endParaRPr>
          </a:p>
        </p:txBody>
      </p:sp>
      <p:sp>
        <p:nvSpPr>
          <p:cNvPr id="3" name="object 3"/>
          <p:cNvSpPr txBox="1"/>
          <p:nvPr/>
        </p:nvSpPr>
        <p:spPr>
          <a:xfrm>
            <a:off x="3714985" y="716"/>
            <a:ext cx="826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Continuous</a:t>
            </a:r>
            <a:r>
              <a:rPr sz="600" spc="-2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consistency</a:t>
            </a:r>
            <a:endParaRPr sz="600">
              <a:latin typeface="Arial"/>
              <a:cs typeface="Arial"/>
            </a:endParaRPr>
          </a:p>
        </p:txBody>
      </p:sp>
      <p:sp>
        <p:nvSpPr>
          <p:cNvPr id="4" name="object 4"/>
          <p:cNvSpPr txBox="1"/>
          <p:nvPr/>
        </p:nvSpPr>
        <p:spPr>
          <a:xfrm>
            <a:off x="95300" y="188846"/>
            <a:ext cx="340995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Continuous</a:t>
            </a:r>
            <a:r>
              <a:rPr sz="1400" spc="-10" dirty="0">
                <a:solidFill>
                  <a:srgbClr val="3333B2"/>
                </a:solidFill>
                <a:latin typeface="Arial"/>
                <a:cs typeface="Arial"/>
              </a:rPr>
              <a:t> </a:t>
            </a:r>
            <a:r>
              <a:rPr sz="1400" spc="15" dirty="0">
                <a:solidFill>
                  <a:srgbClr val="3333B2"/>
                </a:solidFill>
                <a:latin typeface="Arial"/>
                <a:cs typeface="Arial"/>
              </a:rPr>
              <a:t>consistency:</a:t>
            </a:r>
            <a:r>
              <a:rPr sz="1400" spc="85" dirty="0">
                <a:solidFill>
                  <a:srgbClr val="3333B2"/>
                </a:solidFill>
                <a:latin typeface="Arial"/>
                <a:cs typeface="Arial"/>
              </a:rPr>
              <a:t> </a:t>
            </a:r>
            <a:r>
              <a:rPr sz="1400" spc="15" dirty="0">
                <a:solidFill>
                  <a:srgbClr val="3333B2"/>
                </a:solidFill>
                <a:latin typeface="Arial"/>
                <a:cs typeface="Arial"/>
              </a:rPr>
              <a:t>Numerical</a:t>
            </a:r>
            <a:r>
              <a:rPr sz="1400" spc="-5" dirty="0">
                <a:solidFill>
                  <a:srgbClr val="3333B2"/>
                </a:solidFill>
                <a:latin typeface="Arial"/>
                <a:cs typeface="Arial"/>
              </a:rPr>
              <a:t> </a:t>
            </a:r>
            <a:r>
              <a:rPr sz="1400" spc="15" dirty="0">
                <a:solidFill>
                  <a:srgbClr val="3333B2"/>
                </a:solidFill>
                <a:latin typeface="Arial"/>
                <a:cs typeface="Arial"/>
              </a:rPr>
              <a:t>errors</a:t>
            </a:r>
            <a:endParaRPr sz="1400">
              <a:latin typeface="Arial"/>
              <a:cs typeface="Arial"/>
            </a:endParaRPr>
          </a:p>
        </p:txBody>
      </p:sp>
      <p:sp>
        <p:nvSpPr>
          <p:cNvPr id="5" name="object 5"/>
          <p:cNvSpPr txBox="1"/>
          <p:nvPr/>
        </p:nvSpPr>
        <p:spPr>
          <a:xfrm>
            <a:off x="315950" y="871801"/>
            <a:ext cx="3964940" cy="1671320"/>
          </a:xfrm>
          <a:prstGeom prst="rect">
            <a:avLst/>
          </a:prstGeom>
        </p:spPr>
        <p:txBody>
          <a:bodyPr vert="horz" wrap="square" lIns="0" tIns="12065" rIns="0" bIns="0" rtlCol="0">
            <a:spAutoFit/>
          </a:bodyPr>
          <a:lstStyle/>
          <a:p>
            <a:pPr marL="43815">
              <a:lnSpc>
                <a:spcPts val="1420"/>
              </a:lnSpc>
              <a:spcBef>
                <a:spcPts val="95"/>
              </a:spcBef>
            </a:pPr>
            <a:r>
              <a:rPr sz="1200" spc="-10" dirty="0">
                <a:solidFill>
                  <a:srgbClr val="FA0000"/>
                </a:solidFill>
                <a:latin typeface="Arial"/>
                <a:cs typeface="Arial"/>
              </a:rPr>
              <a:t>Problem</a:t>
            </a:r>
            <a:endParaRPr sz="1200">
              <a:latin typeface="Arial"/>
              <a:cs typeface="Arial"/>
            </a:endParaRPr>
          </a:p>
          <a:p>
            <a:pPr marL="38100">
              <a:lnSpc>
                <a:spcPts val="1180"/>
              </a:lnSpc>
            </a:pPr>
            <a:r>
              <a:rPr sz="1000" spc="-20" dirty="0">
                <a:latin typeface="Arial"/>
                <a:cs typeface="Arial"/>
              </a:rPr>
              <a:t>We</a:t>
            </a:r>
            <a:r>
              <a:rPr sz="1000" spc="-5" dirty="0">
                <a:latin typeface="Arial"/>
                <a:cs typeface="Arial"/>
              </a:rPr>
              <a:t> need to</a:t>
            </a:r>
            <a:r>
              <a:rPr sz="1000" dirty="0">
                <a:latin typeface="Arial"/>
                <a:cs typeface="Arial"/>
              </a:rPr>
              <a:t> </a:t>
            </a:r>
            <a:r>
              <a:rPr sz="1000" spc="-5" dirty="0">
                <a:latin typeface="Arial"/>
                <a:cs typeface="Arial"/>
              </a:rPr>
              <a:t>ensure that</a:t>
            </a:r>
            <a:r>
              <a:rPr sz="1000" dirty="0">
                <a:latin typeface="Arial"/>
                <a:cs typeface="Arial"/>
              </a:rPr>
              <a:t> </a:t>
            </a:r>
            <a:r>
              <a:rPr sz="1000" i="1" spc="-5" dirty="0">
                <a:latin typeface="Arial"/>
                <a:cs typeface="Arial"/>
              </a:rPr>
              <a:t>v</a:t>
            </a:r>
            <a:r>
              <a:rPr sz="1000" i="1" spc="-180" dirty="0">
                <a:latin typeface="Arial"/>
                <a:cs typeface="Arial"/>
              </a:rPr>
              <a:t> </a:t>
            </a:r>
            <a:r>
              <a:rPr sz="1000" spc="25" dirty="0">
                <a:latin typeface="Arial"/>
                <a:cs typeface="Arial"/>
              </a:rPr>
              <a:t>(</a:t>
            </a:r>
            <a:r>
              <a:rPr sz="1000" i="1" spc="25" dirty="0">
                <a:latin typeface="Arial"/>
                <a:cs typeface="Arial"/>
              </a:rPr>
              <a:t>t</a:t>
            </a:r>
            <a:r>
              <a:rPr sz="1000" i="1" spc="-190" dirty="0">
                <a:latin typeface="Arial"/>
                <a:cs typeface="Arial"/>
              </a:rPr>
              <a:t> </a:t>
            </a:r>
            <a:r>
              <a:rPr sz="1000" spc="50" dirty="0">
                <a:latin typeface="Arial"/>
                <a:cs typeface="Arial"/>
              </a:rPr>
              <a:t>)</a:t>
            </a:r>
            <a:r>
              <a:rPr sz="1000" spc="-140" dirty="0">
                <a:latin typeface="Arial"/>
                <a:cs typeface="Arial"/>
              </a:rPr>
              <a:t> </a:t>
            </a:r>
            <a:r>
              <a:rPr sz="1000" i="1" spc="35" dirty="0">
                <a:latin typeface="メイリオ"/>
                <a:cs typeface="メイリオ"/>
              </a:rPr>
              <a:t>−</a:t>
            </a:r>
            <a:r>
              <a:rPr sz="1000" i="1" spc="35" dirty="0">
                <a:latin typeface="Arial"/>
                <a:cs typeface="Arial"/>
              </a:rPr>
              <a:t>v</a:t>
            </a:r>
            <a:r>
              <a:rPr sz="1050" i="1" spc="52" baseline="-15873" dirty="0">
                <a:latin typeface="Arial"/>
                <a:cs typeface="Arial"/>
              </a:rPr>
              <a:t>i</a:t>
            </a:r>
            <a:r>
              <a:rPr sz="1050" i="1" spc="217" baseline="-15873" dirty="0">
                <a:latin typeface="Arial"/>
                <a:cs typeface="Arial"/>
              </a:rPr>
              <a:t> </a:t>
            </a:r>
            <a:r>
              <a:rPr sz="1000" i="1" spc="190" dirty="0">
                <a:latin typeface="Arial"/>
                <a:cs typeface="Arial"/>
              </a:rPr>
              <a:t>&lt;</a:t>
            </a:r>
            <a:r>
              <a:rPr sz="1000" i="1" spc="-60" dirty="0">
                <a:latin typeface="Arial"/>
                <a:cs typeface="Arial"/>
              </a:rPr>
              <a:t> </a:t>
            </a:r>
            <a:r>
              <a:rPr sz="1000" i="1" spc="-35" dirty="0">
                <a:latin typeface="Arial"/>
                <a:cs typeface="Arial"/>
              </a:rPr>
              <a:t>δ</a:t>
            </a:r>
            <a:r>
              <a:rPr sz="1050" i="1" spc="-52" baseline="-15873" dirty="0">
                <a:latin typeface="Arial"/>
                <a:cs typeface="Arial"/>
              </a:rPr>
              <a:t>i</a:t>
            </a:r>
            <a:r>
              <a:rPr sz="1050" i="1" spc="67" baseline="-15873" dirty="0">
                <a:latin typeface="Arial"/>
                <a:cs typeface="Arial"/>
              </a:rPr>
              <a:t> </a:t>
            </a:r>
            <a:r>
              <a:rPr sz="1000" spc="-15" dirty="0">
                <a:latin typeface="Arial"/>
                <a:cs typeface="Arial"/>
              </a:rPr>
              <a:t>for</a:t>
            </a:r>
            <a:r>
              <a:rPr sz="1000" spc="-5" dirty="0">
                <a:latin typeface="Arial"/>
                <a:cs typeface="Arial"/>
              </a:rPr>
              <a:t> </a:t>
            </a:r>
            <a:r>
              <a:rPr sz="1000" spc="-10" dirty="0">
                <a:latin typeface="Arial"/>
                <a:cs typeface="Arial"/>
              </a:rPr>
              <a:t>every</a:t>
            </a:r>
            <a:r>
              <a:rPr sz="1000" dirty="0">
                <a:latin typeface="Arial"/>
                <a:cs typeface="Arial"/>
              </a:rPr>
              <a:t> </a:t>
            </a:r>
            <a:r>
              <a:rPr sz="1000" spc="-5" dirty="0">
                <a:latin typeface="Arial"/>
                <a:cs typeface="Arial"/>
              </a:rPr>
              <a:t>server </a:t>
            </a:r>
            <a:r>
              <a:rPr sz="1000" i="1" dirty="0">
                <a:latin typeface="Arial"/>
                <a:cs typeface="Arial"/>
              </a:rPr>
              <a:t>S</a:t>
            </a:r>
            <a:r>
              <a:rPr sz="1050" i="1" baseline="-15873" dirty="0">
                <a:latin typeface="Arial"/>
                <a:cs typeface="Arial"/>
              </a:rPr>
              <a:t>i</a:t>
            </a:r>
            <a:r>
              <a:rPr sz="1050" i="1" spc="-127" baseline="-15873" dirty="0">
                <a:latin typeface="Arial"/>
                <a:cs typeface="Arial"/>
              </a:rPr>
              <a:t> </a:t>
            </a:r>
            <a:r>
              <a:rPr sz="1000" spc="-5" dirty="0">
                <a:latin typeface="Arial"/>
                <a:cs typeface="Arial"/>
              </a:rPr>
              <a:t>.</a:t>
            </a:r>
            <a:endParaRPr sz="1000">
              <a:latin typeface="Arial"/>
              <a:cs typeface="Arial"/>
            </a:endParaRPr>
          </a:p>
          <a:p>
            <a:pPr marL="38735">
              <a:lnSpc>
                <a:spcPct val="100000"/>
              </a:lnSpc>
              <a:spcBef>
                <a:spcPts val="690"/>
              </a:spcBef>
            </a:pPr>
            <a:r>
              <a:rPr sz="1200" spc="-5" dirty="0">
                <a:solidFill>
                  <a:srgbClr val="3333B2"/>
                </a:solidFill>
                <a:latin typeface="Arial"/>
                <a:cs typeface="Arial"/>
              </a:rPr>
              <a:t>Approach</a:t>
            </a:r>
            <a:endParaRPr sz="1200">
              <a:latin typeface="Arial"/>
              <a:cs typeface="Arial"/>
            </a:endParaRPr>
          </a:p>
          <a:p>
            <a:pPr marL="40640" marR="30480" indent="2540" algn="just">
              <a:lnSpc>
                <a:spcPct val="100000"/>
              </a:lnSpc>
              <a:spcBef>
                <a:spcPts val="175"/>
              </a:spcBef>
            </a:pPr>
            <a:r>
              <a:rPr sz="1000" spc="-5" dirty="0">
                <a:latin typeface="Arial"/>
                <a:cs typeface="Arial"/>
              </a:rPr>
              <a:t>Let </a:t>
            </a:r>
            <a:r>
              <a:rPr sz="1000" spc="-10" dirty="0">
                <a:latin typeface="Arial"/>
                <a:cs typeface="Arial"/>
              </a:rPr>
              <a:t>every</a:t>
            </a:r>
            <a:r>
              <a:rPr sz="1000" dirty="0">
                <a:latin typeface="Arial"/>
                <a:cs typeface="Arial"/>
              </a:rPr>
              <a:t> </a:t>
            </a:r>
            <a:r>
              <a:rPr sz="1000" spc="-5" dirty="0">
                <a:latin typeface="Arial"/>
                <a:cs typeface="Arial"/>
              </a:rPr>
              <a:t>server</a:t>
            </a:r>
            <a:r>
              <a:rPr sz="1000" dirty="0">
                <a:latin typeface="Arial"/>
                <a:cs typeface="Arial"/>
              </a:rPr>
              <a:t> </a:t>
            </a:r>
            <a:r>
              <a:rPr sz="1000" i="1" spc="5" dirty="0">
                <a:latin typeface="Arial"/>
                <a:cs typeface="Arial"/>
              </a:rPr>
              <a:t>S</a:t>
            </a:r>
            <a:r>
              <a:rPr sz="1050" i="1" spc="7" baseline="-15873" dirty="0">
                <a:latin typeface="Arial"/>
                <a:cs typeface="Arial"/>
              </a:rPr>
              <a:t>k</a:t>
            </a:r>
            <a:r>
              <a:rPr sz="1050" i="1" spc="22" baseline="-15873" dirty="0">
                <a:latin typeface="Arial"/>
                <a:cs typeface="Arial"/>
              </a:rPr>
              <a:t> </a:t>
            </a:r>
            <a:r>
              <a:rPr sz="1000" spc="-5" dirty="0">
                <a:latin typeface="Arial"/>
                <a:cs typeface="Arial"/>
              </a:rPr>
              <a:t>maintain</a:t>
            </a:r>
            <a:r>
              <a:rPr sz="1000" dirty="0">
                <a:latin typeface="Arial"/>
                <a:cs typeface="Arial"/>
              </a:rPr>
              <a:t> </a:t>
            </a:r>
            <a:r>
              <a:rPr sz="1000" spc="-5" dirty="0">
                <a:latin typeface="Arial"/>
                <a:cs typeface="Arial"/>
              </a:rPr>
              <a:t>a </a:t>
            </a:r>
            <a:r>
              <a:rPr sz="1000" spc="-10" dirty="0">
                <a:solidFill>
                  <a:srgbClr val="0000FA"/>
                </a:solidFill>
                <a:latin typeface="Arial"/>
                <a:cs typeface="Arial"/>
              </a:rPr>
              <a:t>view</a:t>
            </a:r>
            <a:r>
              <a:rPr sz="1000" dirty="0">
                <a:solidFill>
                  <a:srgbClr val="0000FA"/>
                </a:solidFill>
                <a:latin typeface="Arial"/>
                <a:cs typeface="Arial"/>
              </a:rPr>
              <a:t> </a:t>
            </a:r>
            <a:r>
              <a:rPr sz="1000" i="1" dirty="0">
                <a:latin typeface="Arial"/>
                <a:cs typeface="Arial"/>
              </a:rPr>
              <a:t>TW</a:t>
            </a:r>
            <a:r>
              <a:rPr sz="1050" i="1" baseline="-15873" dirty="0">
                <a:latin typeface="Arial"/>
                <a:cs typeface="Arial"/>
              </a:rPr>
              <a:t>k</a:t>
            </a:r>
            <a:r>
              <a:rPr sz="1050" i="1" spc="-104" baseline="-15873" dirty="0">
                <a:latin typeface="Arial"/>
                <a:cs typeface="Arial"/>
              </a:rPr>
              <a:t> </a:t>
            </a:r>
            <a:r>
              <a:rPr sz="1000" spc="30" dirty="0">
                <a:latin typeface="Arial"/>
                <a:cs typeface="Arial"/>
              </a:rPr>
              <a:t>[</a:t>
            </a:r>
            <a:r>
              <a:rPr sz="1000" i="1" spc="30" dirty="0">
                <a:latin typeface="Arial"/>
                <a:cs typeface="Arial"/>
              </a:rPr>
              <a:t>i,</a:t>
            </a:r>
            <a:r>
              <a:rPr sz="1000" i="1" spc="-170" dirty="0">
                <a:latin typeface="Arial"/>
                <a:cs typeface="Arial"/>
              </a:rPr>
              <a:t> </a:t>
            </a:r>
            <a:r>
              <a:rPr sz="1000" i="1" spc="-5" dirty="0">
                <a:latin typeface="Arial"/>
                <a:cs typeface="Arial"/>
              </a:rPr>
              <a:t>j</a:t>
            </a:r>
            <a:r>
              <a:rPr sz="1000" i="1" spc="-195" dirty="0">
                <a:latin typeface="Arial"/>
                <a:cs typeface="Arial"/>
              </a:rPr>
              <a:t> </a:t>
            </a:r>
            <a:r>
              <a:rPr sz="1000" spc="5" dirty="0">
                <a:latin typeface="Arial"/>
                <a:cs typeface="Arial"/>
              </a:rPr>
              <a:t>]</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what</a:t>
            </a:r>
            <a:r>
              <a:rPr sz="1000" dirty="0">
                <a:latin typeface="Arial"/>
                <a:cs typeface="Arial"/>
              </a:rPr>
              <a:t> </a:t>
            </a:r>
            <a:r>
              <a:rPr sz="1000" spc="-5" dirty="0">
                <a:latin typeface="Arial"/>
                <a:cs typeface="Arial"/>
              </a:rPr>
              <a:t>it </a:t>
            </a:r>
            <a:r>
              <a:rPr sz="1000" spc="-10" dirty="0">
                <a:latin typeface="Arial"/>
                <a:cs typeface="Arial"/>
              </a:rPr>
              <a:t>believes</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the </a:t>
            </a:r>
            <a:r>
              <a:rPr sz="1000" dirty="0">
                <a:latin typeface="Arial"/>
                <a:cs typeface="Arial"/>
              </a:rPr>
              <a:t> </a:t>
            </a:r>
            <a:r>
              <a:rPr sz="1000" spc="-10" dirty="0">
                <a:latin typeface="Arial"/>
                <a:cs typeface="Arial"/>
              </a:rPr>
              <a:t>value</a:t>
            </a:r>
            <a:r>
              <a:rPr sz="1000" spc="-5" dirty="0">
                <a:latin typeface="Arial"/>
                <a:cs typeface="Arial"/>
              </a:rPr>
              <a:t> of</a:t>
            </a:r>
            <a:r>
              <a:rPr sz="1000" dirty="0">
                <a:latin typeface="Arial"/>
                <a:cs typeface="Arial"/>
              </a:rPr>
              <a:t> </a:t>
            </a:r>
            <a:r>
              <a:rPr sz="1000" i="1" spc="-5" dirty="0">
                <a:latin typeface="Arial"/>
                <a:cs typeface="Arial"/>
              </a:rPr>
              <a:t>TW</a:t>
            </a:r>
            <a:r>
              <a:rPr sz="1000" i="1" spc="-140" dirty="0">
                <a:latin typeface="Arial"/>
                <a:cs typeface="Arial"/>
              </a:rPr>
              <a:t> </a:t>
            </a:r>
            <a:r>
              <a:rPr sz="1000" spc="30" dirty="0">
                <a:latin typeface="Arial"/>
                <a:cs typeface="Arial"/>
              </a:rPr>
              <a:t>[</a:t>
            </a:r>
            <a:r>
              <a:rPr sz="1000" i="1" spc="30" dirty="0">
                <a:latin typeface="Arial"/>
                <a:cs typeface="Arial"/>
              </a:rPr>
              <a:t>i,</a:t>
            </a:r>
            <a:r>
              <a:rPr sz="1000" i="1" spc="-170" dirty="0">
                <a:latin typeface="Arial"/>
                <a:cs typeface="Arial"/>
              </a:rPr>
              <a:t> </a:t>
            </a:r>
            <a:r>
              <a:rPr sz="1000" i="1" spc="-5" dirty="0">
                <a:latin typeface="Arial"/>
                <a:cs typeface="Arial"/>
              </a:rPr>
              <a:t>j</a:t>
            </a:r>
            <a:r>
              <a:rPr sz="1000" i="1" spc="-195" dirty="0">
                <a:latin typeface="Arial"/>
                <a:cs typeface="Arial"/>
              </a:rPr>
              <a:t> </a:t>
            </a:r>
            <a:r>
              <a:rPr sz="1000" dirty="0">
                <a:latin typeface="Arial"/>
                <a:cs typeface="Arial"/>
              </a:rPr>
              <a:t>].</a:t>
            </a:r>
            <a:r>
              <a:rPr sz="1000" spc="70" dirty="0">
                <a:latin typeface="Arial"/>
                <a:cs typeface="Arial"/>
              </a:rPr>
              <a:t> </a:t>
            </a:r>
            <a:r>
              <a:rPr sz="1000" spc="-5" dirty="0">
                <a:latin typeface="Arial"/>
                <a:cs typeface="Arial"/>
              </a:rPr>
              <a:t>This information</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be</a:t>
            </a:r>
            <a:r>
              <a:rPr sz="1000" dirty="0">
                <a:latin typeface="Arial"/>
                <a:cs typeface="Arial"/>
              </a:rPr>
              <a:t> </a:t>
            </a:r>
            <a:r>
              <a:rPr sz="1000" spc="-5" dirty="0">
                <a:solidFill>
                  <a:srgbClr val="0000FA"/>
                </a:solidFill>
                <a:latin typeface="Arial"/>
                <a:cs typeface="Arial"/>
              </a:rPr>
              <a:t>gossiped</a:t>
            </a:r>
            <a:r>
              <a:rPr sz="1000" dirty="0">
                <a:solidFill>
                  <a:srgbClr val="0000FA"/>
                </a:solidFill>
                <a:latin typeface="Arial"/>
                <a:cs typeface="Arial"/>
              </a:rPr>
              <a:t> </a:t>
            </a:r>
            <a:r>
              <a:rPr sz="1000" spc="-5" dirty="0">
                <a:latin typeface="Arial"/>
                <a:cs typeface="Arial"/>
              </a:rPr>
              <a:t>when</a:t>
            </a:r>
            <a:r>
              <a:rPr sz="100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update</a:t>
            </a:r>
            <a:r>
              <a:rPr sz="1000" dirty="0">
                <a:latin typeface="Arial"/>
                <a:cs typeface="Arial"/>
              </a:rPr>
              <a:t> </a:t>
            </a:r>
            <a:r>
              <a:rPr sz="1000" spc="-5" dirty="0">
                <a:latin typeface="Arial"/>
                <a:cs typeface="Arial"/>
              </a:rPr>
              <a:t>is </a:t>
            </a:r>
            <a:r>
              <a:rPr sz="1000" spc="-265" dirty="0">
                <a:latin typeface="Arial"/>
                <a:cs typeface="Arial"/>
              </a:rPr>
              <a:t> </a:t>
            </a:r>
            <a:r>
              <a:rPr sz="1000" spc="-5" dirty="0">
                <a:latin typeface="Arial"/>
                <a:cs typeface="Arial"/>
              </a:rPr>
              <a:t>propagated.</a:t>
            </a:r>
            <a:endParaRPr sz="1000">
              <a:latin typeface="Arial"/>
              <a:cs typeface="Arial"/>
            </a:endParaRPr>
          </a:p>
          <a:p>
            <a:pPr marL="43815">
              <a:lnSpc>
                <a:spcPct val="100000"/>
              </a:lnSpc>
              <a:spcBef>
                <a:spcPts val="685"/>
              </a:spcBef>
            </a:pPr>
            <a:r>
              <a:rPr sz="1200" spc="-5" dirty="0">
                <a:solidFill>
                  <a:srgbClr val="FA0000"/>
                </a:solidFill>
                <a:latin typeface="Arial"/>
                <a:cs typeface="Arial"/>
              </a:rPr>
              <a:t>Note</a:t>
            </a:r>
            <a:endParaRPr sz="1200">
              <a:latin typeface="Arial"/>
              <a:cs typeface="Arial"/>
            </a:endParaRPr>
          </a:p>
          <a:p>
            <a:pPr marL="1076960">
              <a:lnSpc>
                <a:spcPct val="100000"/>
              </a:lnSpc>
              <a:spcBef>
                <a:spcPts val="1140"/>
              </a:spcBef>
            </a:pPr>
            <a:r>
              <a:rPr sz="1000" spc="-5" dirty="0">
                <a:latin typeface="Arial"/>
                <a:cs typeface="Arial"/>
              </a:rPr>
              <a:t>0</a:t>
            </a:r>
            <a:r>
              <a:rPr sz="1000" spc="-60" dirty="0">
                <a:latin typeface="Arial"/>
                <a:cs typeface="Arial"/>
              </a:rPr>
              <a:t> </a:t>
            </a:r>
            <a:r>
              <a:rPr sz="1000" i="1" spc="-35" dirty="0">
                <a:latin typeface="メイリオ"/>
                <a:cs typeface="メイリオ"/>
              </a:rPr>
              <a:t>≤</a:t>
            </a:r>
            <a:r>
              <a:rPr sz="1000" i="1" spc="-120" dirty="0">
                <a:latin typeface="メイリオ"/>
                <a:cs typeface="メイリオ"/>
              </a:rPr>
              <a:t> </a:t>
            </a:r>
            <a:r>
              <a:rPr sz="1000" i="1" spc="-5" dirty="0">
                <a:latin typeface="Arial"/>
                <a:cs typeface="Arial"/>
              </a:rPr>
              <a:t>TW</a:t>
            </a:r>
            <a:r>
              <a:rPr sz="1050" i="1" spc="22" baseline="-15873" dirty="0">
                <a:latin typeface="Arial"/>
                <a:cs typeface="Arial"/>
              </a:rPr>
              <a:t>k</a:t>
            </a:r>
            <a:r>
              <a:rPr sz="1050" i="1" spc="-112" baseline="-15873" dirty="0">
                <a:latin typeface="Arial"/>
                <a:cs typeface="Arial"/>
              </a:rPr>
              <a:t> </a:t>
            </a:r>
            <a:r>
              <a:rPr sz="1000" spc="5" dirty="0">
                <a:latin typeface="Arial"/>
                <a:cs typeface="Arial"/>
              </a:rPr>
              <a:t>[</a:t>
            </a:r>
            <a:r>
              <a:rPr sz="1000" i="1" spc="80" dirty="0">
                <a:latin typeface="Arial"/>
                <a:cs typeface="Arial"/>
              </a:rPr>
              <a:t>i</a:t>
            </a:r>
            <a:r>
              <a:rPr sz="1000" i="1" spc="-5" dirty="0">
                <a:latin typeface="Arial"/>
                <a:cs typeface="Arial"/>
              </a:rPr>
              <a:t>,</a:t>
            </a:r>
            <a:r>
              <a:rPr sz="1000" i="1" spc="-170" dirty="0">
                <a:latin typeface="Arial"/>
                <a:cs typeface="Arial"/>
              </a:rPr>
              <a:t> </a:t>
            </a:r>
            <a:r>
              <a:rPr sz="1000" i="1" spc="-5" dirty="0">
                <a:latin typeface="Arial"/>
                <a:cs typeface="Arial"/>
              </a:rPr>
              <a:t>j</a:t>
            </a:r>
            <a:r>
              <a:rPr sz="1000" i="1" spc="-195" dirty="0">
                <a:latin typeface="Arial"/>
                <a:cs typeface="Arial"/>
              </a:rPr>
              <a:t> </a:t>
            </a:r>
            <a:r>
              <a:rPr sz="1000" spc="5" dirty="0">
                <a:latin typeface="Arial"/>
                <a:cs typeface="Arial"/>
              </a:rPr>
              <a:t>]</a:t>
            </a:r>
            <a:r>
              <a:rPr sz="1000" spc="-60" dirty="0">
                <a:latin typeface="Arial"/>
                <a:cs typeface="Arial"/>
              </a:rPr>
              <a:t> </a:t>
            </a:r>
            <a:r>
              <a:rPr sz="1000" i="1" spc="-35" dirty="0">
                <a:latin typeface="メイリオ"/>
                <a:cs typeface="メイリオ"/>
              </a:rPr>
              <a:t>≤</a:t>
            </a:r>
            <a:r>
              <a:rPr sz="1000" i="1" spc="-120" dirty="0">
                <a:latin typeface="メイリオ"/>
                <a:cs typeface="メイリオ"/>
              </a:rPr>
              <a:t> </a:t>
            </a:r>
            <a:r>
              <a:rPr sz="1000" i="1" spc="-5" dirty="0">
                <a:latin typeface="Arial"/>
                <a:cs typeface="Arial"/>
              </a:rPr>
              <a:t>TW</a:t>
            </a:r>
            <a:r>
              <a:rPr sz="1000" i="1" spc="-145" dirty="0">
                <a:latin typeface="Arial"/>
                <a:cs typeface="Arial"/>
              </a:rPr>
              <a:t> </a:t>
            </a:r>
            <a:r>
              <a:rPr sz="1000" spc="5" dirty="0">
                <a:latin typeface="Arial"/>
                <a:cs typeface="Arial"/>
              </a:rPr>
              <a:t>[</a:t>
            </a:r>
            <a:r>
              <a:rPr sz="1000" i="1" spc="80" dirty="0">
                <a:latin typeface="Arial"/>
                <a:cs typeface="Arial"/>
              </a:rPr>
              <a:t>i</a:t>
            </a:r>
            <a:r>
              <a:rPr sz="1000" i="1" spc="-5" dirty="0">
                <a:latin typeface="Arial"/>
                <a:cs typeface="Arial"/>
              </a:rPr>
              <a:t>,</a:t>
            </a:r>
            <a:r>
              <a:rPr sz="1000" i="1" spc="-170" dirty="0">
                <a:latin typeface="Arial"/>
                <a:cs typeface="Arial"/>
              </a:rPr>
              <a:t> </a:t>
            </a:r>
            <a:r>
              <a:rPr sz="1000" i="1" spc="-5" dirty="0">
                <a:latin typeface="Arial"/>
                <a:cs typeface="Arial"/>
              </a:rPr>
              <a:t>j</a:t>
            </a:r>
            <a:r>
              <a:rPr sz="1000" i="1" spc="-195" dirty="0">
                <a:latin typeface="Arial"/>
                <a:cs typeface="Arial"/>
              </a:rPr>
              <a:t> </a:t>
            </a:r>
            <a:r>
              <a:rPr sz="1000" spc="5" dirty="0">
                <a:latin typeface="Arial"/>
                <a:cs typeface="Arial"/>
              </a:rPr>
              <a:t>]</a:t>
            </a:r>
            <a:r>
              <a:rPr sz="1000" spc="-60" dirty="0">
                <a:latin typeface="Arial"/>
                <a:cs typeface="Arial"/>
              </a:rPr>
              <a:t> </a:t>
            </a:r>
            <a:r>
              <a:rPr sz="1000" i="1" spc="-35" dirty="0">
                <a:latin typeface="メイリオ"/>
                <a:cs typeface="メイリオ"/>
              </a:rPr>
              <a:t>≤</a:t>
            </a:r>
            <a:r>
              <a:rPr sz="1000" i="1" spc="-120" dirty="0">
                <a:latin typeface="メイリオ"/>
                <a:cs typeface="メイリオ"/>
              </a:rPr>
              <a:t> </a:t>
            </a:r>
            <a:r>
              <a:rPr sz="1000" i="1" spc="-5" dirty="0">
                <a:latin typeface="Arial"/>
                <a:cs typeface="Arial"/>
              </a:rPr>
              <a:t>TW</a:t>
            </a:r>
            <a:r>
              <a:rPr sz="1000" i="1" spc="-145" dirty="0">
                <a:latin typeface="Arial"/>
                <a:cs typeface="Arial"/>
              </a:rPr>
              <a:t> </a:t>
            </a:r>
            <a:r>
              <a:rPr sz="1000" spc="5" dirty="0">
                <a:latin typeface="Arial"/>
                <a:cs typeface="Arial"/>
              </a:rPr>
              <a:t>[</a:t>
            </a:r>
            <a:r>
              <a:rPr sz="1000" i="1" spc="80" dirty="0">
                <a:latin typeface="Arial"/>
                <a:cs typeface="Arial"/>
              </a:rPr>
              <a:t>j</a:t>
            </a:r>
            <a:r>
              <a:rPr sz="1000" i="1" spc="-5" dirty="0">
                <a:latin typeface="Arial"/>
                <a:cs typeface="Arial"/>
              </a:rPr>
              <a:t>,</a:t>
            </a:r>
            <a:r>
              <a:rPr sz="1000" i="1" spc="-170" dirty="0">
                <a:latin typeface="Arial"/>
                <a:cs typeface="Arial"/>
              </a:rPr>
              <a:t> </a:t>
            </a:r>
            <a:r>
              <a:rPr sz="1000" i="1" spc="-5" dirty="0">
                <a:latin typeface="Arial"/>
                <a:cs typeface="Arial"/>
              </a:rPr>
              <a:t>j</a:t>
            </a:r>
            <a:r>
              <a:rPr sz="1000" i="1" spc="-195" dirty="0">
                <a:latin typeface="Arial"/>
                <a:cs typeface="Arial"/>
              </a:rPr>
              <a:t> </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1019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Bounding</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numerical</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deviation</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17570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70" dirty="0">
                <a:solidFill>
                  <a:srgbClr val="3333B2"/>
                </a:solidFill>
                <a:latin typeface="Arial"/>
                <a:cs typeface="Arial"/>
              </a:rPr>
              <a:t> </a:t>
            </a:r>
            <a:r>
              <a:rPr sz="600" spc="-5" dirty="0">
                <a:solidFill>
                  <a:srgbClr val="3333B2"/>
                </a:solidFill>
                <a:latin typeface="Arial"/>
                <a:cs typeface="Arial"/>
                <a:hlinkClick r:id="rId2" action="ppaction://hlinksldjump"/>
              </a:rPr>
              <a:t>Consistency</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protocols</a:t>
            </a:r>
            <a:endParaRPr sz="600">
              <a:latin typeface="Arial"/>
              <a:cs typeface="Arial"/>
            </a:endParaRPr>
          </a:p>
        </p:txBody>
      </p:sp>
      <p:sp>
        <p:nvSpPr>
          <p:cNvPr id="3" name="object 3"/>
          <p:cNvSpPr txBox="1"/>
          <p:nvPr/>
        </p:nvSpPr>
        <p:spPr>
          <a:xfrm>
            <a:off x="3714985" y="716"/>
            <a:ext cx="826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2" action="ppaction://hlinksldjump"/>
              </a:rPr>
              <a:t>Continuous</a:t>
            </a:r>
            <a:r>
              <a:rPr sz="600" spc="-25"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consistency</a:t>
            </a:r>
            <a:endParaRPr sz="600">
              <a:latin typeface="Arial"/>
              <a:cs typeface="Arial"/>
            </a:endParaRPr>
          </a:p>
        </p:txBody>
      </p:sp>
      <p:sp>
        <p:nvSpPr>
          <p:cNvPr id="4" name="object 4"/>
          <p:cNvSpPr txBox="1"/>
          <p:nvPr/>
        </p:nvSpPr>
        <p:spPr>
          <a:xfrm>
            <a:off x="82600" y="188846"/>
            <a:ext cx="4064635" cy="1334135"/>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Continuous</a:t>
            </a:r>
            <a:r>
              <a:rPr sz="1400" spc="-5" dirty="0">
                <a:solidFill>
                  <a:srgbClr val="3333B2"/>
                </a:solidFill>
                <a:latin typeface="Arial"/>
                <a:cs typeface="Arial"/>
              </a:rPr>
              <a:t> </a:t>
            </a:r>
            <a:r>
              <a:rPr sz="1400" spc="15" dirty="0">
                <a:solidFill>
                  <a:srgbClr val="3333B2"/>
                </a:solidFill>
                <a:latin typeface="Arial"/>
                <a:cs typeface="Arial"/>
              </a:rPr>
              <a:t>consistency:</a:t>
            </a:r>
            <a:r>
              <a:rPr sz="1400" spc="85" dirty="0">
                <a:solidFill>
                  <a:srgbClr val="3333B2"/>
                </a:solidFill>
                <a:latin typeface="Arial"/>
                <a:cs typeface="Arial"/>
              </a:rPr>
              <a:t> </a:t>
            </a:r>
            <a:r>
              <a:rPr sz="1400" spc="15" dirty="0">
                <a:solidFill>
                  <a:srgbClr val="3333B2"/>
                </a:solidFill>
                <a:latin typeface="Arial"/>
                <a:cs typeface="Arial"/>
              </a:rPr>
              <a:t>Numerical</a:t>
            </a:r>
            <a:r>
              <a:rPr sz="1400" spc="-5" dirty="0">
                <a:solidFill>
                  <a:srgbClr val="3333B2"/>
                </a:solidFill>
                <a:latin typeface="Arial"/>
                <a:cs typeface="Arial"/>
              </a:rPr>
              <a:t> </a:t>
            </a:r>
            <a:r>
              <a:rPr sz="1400" spc="15" dirty="0">
                <a:solidFill>
                  <a:srgbClr val="3333B2"/>
                </a:solidFill>
                <a:latin typeface="Arial"/>
                <a:cs typeface="Arial"/>
              </a:rPr>
              <a:t>errors</a:t>
            </a:r>
            <a:endParaRPr sz="1400">
              <a:latin typeface="Arial"/>
              <a:cs typeface="Arial"/>
            </a:endParaRPr>
          </a:p>
          <a:p>
            <a:pPr>
              <a:lnSpc>
                <a:spcPct val="100000"/>
              </a:lnSpc>
              <a:spcBef>
                <a:spcPts val="25"/>
              </a:spcBef>
            </a:pPr>
            <a:endParaRPr sz="2250">
              <a:latin typeface="Arial"/>
              <a:cs typeface="Arial"/>
            </a:endParaRPr>
          </a:p>
          <a:p>
            <a:pPr marL="276860">
              <a:lnSpc>
                <a:spcPts val="1410"/>
              </a:lnSpc>
            </a:pPr>
            <a:r>
              <a:rPr sz="1200" spc="-5" dirty="0">
                <a:solidFill>
                  <a:srgbClr val="3333B2"/>
                </a:solidFill>
                <a:latin typeface="Arial"/>
                <a:cs typeface="Arial"/>
              </a:rPr>
              <a:t>Solution</a:t>
            </a:r>
            <a:endParaRPr sz="1200">
              <a:latin typeface="Arial"/>
              <a:cs typeface="Arial"/>
            </a:endParaRPr>
          </a:p>
          <a:p>
            <a:pPr marL="276860" marR="43180">
              <a:lnSpc>
                <a:spcPts val="1200"/>
              </a:lnSpc>
              <a:spcBef>
                <a:spcPts val="15"/>
              </a:spcBef>
            </a:pPr>
            <a:r>
              <a:rPr sz="1000" i="1" spc="5" dirty="0">
                <a:latin typeface="Arial"/>
                <a:cs typeface="Arial"/>
              </a:rPr>
              <a:t>S</a:t>
            </a:r>
            <a:r>
              <a:rPr sz="1050" i="1" spc="7" baseline="-15873" dirty="0">
                <a:latin typeface="Arial"/>
                <a:cs typeface="Arial"/>
              </a:rPr>
              <a:t>k</a:t>
            </a:r>
            <a:r>
              <a:rPr sz="1050" i="1" spc="22" baseline="-15873" dirty="0">
                <a:latin typeface="Arial"/>
                <a:cs typeface="Arial"/>
              </a:rPr>
              <a:t> </a:t>
            </a:r>
            <a:r>
              <a:rPr sz="1000" spc="-5" dirty="0">
                <a:latin typeface="Arial"/>
                <a:cs typeface="Arial"/>
              </a:rPr>
              <a:t>sends operations</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its log</a:t>
            </a:r>
            <a:r>
              <a:rPr sz="1000" dirty="0">
                <a:latin typeface="Arial"/>
                <a:cs typeface="Arial"/>
              </a:rPr>
              <a:t> </a:t>
            </a:r>
            <a:r>
              <a:rPr sz="1000" spc="-5" dirty="0">
                <a:latin typeface="Arial"/>
                <a:cs typeface="Arial"/>
              </a:rPr>
              <a:t>to</a:t>
            </a:r>
            <a:r>
              <a:rPr sz="1000" dirty="0">
                <a:latin typeface="Arial"/>
                <a:cs typeface="Arial"/>
              </a:rPr>
              <a:t> </a:t>
            </a:r>
            <a:r>
              <a:rPr sz="1000" i="1" dirty="0">
                <a:latin typeface="Arial"/>
                <a:cs typeface="Arial"/>
              </a:rPr>
              <a:t>S</a:t>
            </a:r>
            <a:r>
              <a:rPr sz="1050" i="1" baseline="-15873" dirty="0">
                <a:latin typeface="Arial"/>
                <a:cs typeface="Arial"/>
              </a:rPr>
              <a:t>i</a:t>
            </a:r>
            <a:r>
              <a:rPr sz="1050" i="1" spc="15" baseline="-15873" dirty="0">
                <a:latin typeface="Arial"/>
                <a:cs typeface="Arial"/>
              </a:rPr>
              <a:t> </a:t>
            </a:r>
            <a:r>
              <a:rPr sz="1000" spc="-5" dirty="0">
                <a:solidFill>
                  <a:srgbClr val="0000FA"/>
                </a:solidFill>
                <a:latin typeface="Arial"/>
                <a:cs typeface="Arial"/>
              </a:rPr>
              <a:t>when</a:t>
            </a:r>
            <a:r>
              <a:rPr sz="1000" dirty="0">
                <a:solidFill>
                  <a:srgbClr val="0000FA"/>
                </a:solidFill>
                <a:latin typeface="Arial"/>
                <a:cs typeface="Arial"/>
              </a:rPr>
              <a:t> </a:t>
            </a:r>
            <a:r>
              <a:rPr sz="1000" spc="-5" dirty="0">
                <a:solidFill>
                  <a:srgbClr val="0000FA"/>
                </a:solidFill>
                <a:latin typeface="Arial"/>
                <a:cs typeface="Arial"/>
              </a:rPr>
              <a:t>it sees</a:t>
            </a:r>
            <a:r>
              <a:rPr sz="1000" dirty="0">
                <a:solidFill>
                  <a:srgbClr val="0000FA"/>
                </a:solidFill>
                <a:latin typeface="Arial"/>
                <a:cs typeface="Arial"/>
              </a:rPr>
              <a:t> </a:t>
            </a:r>
            <a:r>
              <a:rPr sz="1000" spc="-5" dirty="0">
                <a:solidFill>
                  <a:srgbClr val="0000FA"/>
                </a:solidFill>
                <a:latin typeface="Arial"/>
                <a:cs typeface="Arial"/>
              </a:rPr>
              <a:t>that</a:t>
            </a:r>
            <a:r>
              <a:rPr sz="1000" dirty="0">
                <a:solidFill>
                  <a:srgbClr val="0000FA"/>
                </a:solidFill>
                <a:latin typeface="Arial"/>
                <a:cs typeface="Arial"/>
              </a:rPr>
              <a:t> </a:t>
            </a:r>
            <a:r>
              <a:rPr sz="1000" i="1" dirty="0">
                <a:solidFill>
                  <a:srgbClr val="0000FA"/>
                </a:solidFill>
                <a:latin typeface="Arial"/>
                <a:cs typeface="Arial"/>
              </a:rPr>
              <a:t>TW</a:t>
            </a:r>
            <a:r>
              <a:rPr sz="1050" i="1" baseline="-15873" dirty="0">
                <a:solidFill>
                  <a:srgbClr val="0000FA"/>
                </a:solidFill>
                <a:latin typeface="Arial"/>
                <a:cs typeface="Arial"/>
              </a:rPr>
              <a:t>k</a:t>
            </a:r>
            <a:r>
              <a:rPr sz="1050" i="1" spc="-112" baseline="-15873" dirty="0">
                <a:solidFill>
                  <a:srgbClr val="0000FA"/>
                </a:solidFill>
                <a:latin typeface="Arial"/>
                <a:cs typeface="Arial"/>
              </a:rPr>
              <a:t> </a:t>
            </a:r>
            <a:r>
              <a:rPr sz="1000" spc="30" dirty="0">
                <a:solidFill>
                  <a:srgbClr val="0000FA"/>
                </a:solidFill>
                <a:latin typeface="Arial"/>
                <a:cs typeface="Arial"/>
              </a:rPr>
              <a:t>[</a:t>
            </a:r>
            <a:r>
              <a:rPr sz="1000" i="1" spc="30" dirty="0">
                <a:solidFill>
                  <a:srgbClr val="0000FA"/>
                </a:solidFill>
                <a:latin typeface="Arial"/>
                <a:cs typeface="Arial"/>
              </a:rPr>
              <a:t>i,</a:t>
            </a:r>
            <a:r>
              <a:rPr sz="1000" i="1" spc="-170" dirty="0">
                <a:solidFill>
                  <a:srgbClr val="0000FA"/>
                </a:solidFill>
                <a:latin typeface="Arial"/>
                <a:cs typeface="Arial"/>
              </a:rPr>
              <a:t> </a:t>
            </a:r>
            <a:r>
              <a:rPr sz="1000" i="1" spc="-5" dirty="0">
                <a:solidFill>
                  <a:srgbClr val="0000FA"/>
                </a:solidFill>
                <a:latin typeface="Arial"/>
                <a:cs typeface="Arial"/>
              </a:rPr>
              <a:t>k</a:t>
            </a:r>
            <a:r>
              <a:rPr sz="1000" i="1" spc="-175" dirty="0">
                <a:solidFill>
                  <a:srgbClr val="0000FA"/>
                </a:solidFill>
                <a:latin typeface="Arial"/>
                <a:cs typeface="Arial"/>
              </a:rPr>
              <a:t> </a:t>
            </a:r>
            <a:r>
              <a:rPr sz="1000" spc="5" dirty="0">
                <a:solidFill>
                  <a:srgbClr val="0000FA"/>
                </a:solidFill>
                <a:latin typeface="Arial"/>
                <a:cs typeface="Arial"/>
              </a:rPr>
              <a:t>]</a:t>
            </a:r>
            <a:r>
              <a:rPr sz="1000" spc="-5" dirty="0">
                <a:solidFill>
                  <a:srgbClr val="0000FA"/>
                </a:solidFill>
                <a:latin typeface="Arial"/>
                <a:cs typeface="Arial"/>
              </a:rPr>
              <a:t> is </a:t>
            </a:r>
            <a:r>
              <a:rPr sz="1000" spc="-265" dirty="0">
                <a:solidFill>
                  <a:srgbClr val="0000FA"/>
                </a:solidFill>
                <a:latin typeface="Arial"/>
                <a:cs typeface="Arial"/>
              </a:rPr>
              <a:t> </a:t>
            </a:r>
            <a:r>
              <a:rPr sz="1000" spc="-5" dirty="0">
                <a:solidFill>
                  <a:srgbClr val="0000FA"/>
                </a:solidFill>
                <a:latin typeface="Arial"/>
                <a:cs typeface="Arial"/>
              </a:rPr>
              <a:t>getting too </a:t>
            </a:r>
            <a:r>
              <a:rPr sz="1000" spc="-15" dirty="0">
                <a:solidFill>
                  <a:srgbClr val="0000FA"/>
                </a:solidFill>
                <a:latin typeface="Arial"/>
                <a:cs typeface="Arial"/>
              </a:rPr>
              <a:t>far</a:t>
            </a:r>
            <a:r>
              <a:rPr sz="1000" spc="-5" dirty="0">
                <a:solidFill>
                  <a:srgbClr val="0000FA"/>
                </a:solidFill>
                <a:latin typeface="Arial"/>
                <a:cs typeface="Arial"/>
              </a:rPr>
              <a:t> from </a:t>
            </a:r>
            <a:r>
              <a:rPr sz="1000" i="1" spc="-5" dirty="0">
                <a:solidFill>
                  <a:srgbClr val="0000FA"/>
                </a:solidFill>
                <a:latin typeface="Arial"/>
                <a:cs typeface="Arial"/>
              </a:rPr>
              <a:t>TW</a:t>
            </a:r>
            <a:r>
              <a:rPr sz="1000" i="1" spc="-145" dirty="0">
                <a:solidFill>
                  <a:srgbClr val="0000FA"/>
                </a:solidFill>
                <a:latin typeface="Arial"/>
                <a:cs typeface="Arial"/>
              </a:rPr>
              <a:t> </a:t>
            </a:r>
            <a:r>
              <a:rPr sz="1000" spc="30" dirty="0">
                <a:solidFill>
                  <a:srgbClr val="0000FA"/>
                </a:solidFill>
                <a:latin typeface="Arial"/>
                <a:cs typeface="Arial"/>
              </a:rPr>
              <a:t>[</a:t>
            </a:r>
            <a:r>
              <a:rPr sz="1000" i="1" spc="30" dirty="0">
                <a:solidFill>
                  <a:srgbClr val="0000FA"/>
                </a:solidFill>
                <a:latin typeface="Arial"/>
                <a:cs typeface="Arial"/>
              </a:rPr>
              <a:t>k,</a:t>
            </a:r>
            <a:r>
              <a:rPr sz="1000" i="1" spc="-170" dirty="0">
                <a:solidFill>
                  <a:srgbClr val="0000FA"/>
                </a:solidFill>
                <a:latin typeface="Arial"/>
                <a:cs typeface="Arial"/>
              </a:rPr>
              <a:t> </a:t>
            </a:r>
            <a:r>
              <a:rPr sz="1000" i="1" spc="-5" dirty="0">
                <a:solidFill>
                  <a:srgbClr val="0000FA"/>
                </a:solidFill>
                <a:latin typeface="Arial"/>
                <a:cs typeface="Arial"/>
              </a:rPr>
              <a:t>k</a:t>
            </a:r>
            <a:r>
              <a:rPr sz="1000" i="1" spc="-180" dirty="0">
                <a:solidFill>
                  <a:srgbClr val="0000FA"/>
                </a:solidFill>
                <a:latin typeface="Arial"/>
                <a:cs typeface="Arial"/>
              </a:rPr>
              <a:t> </a:t>
            </a:r>
            <a:r>
              <a:rPr sz="1000" dirty="0">
                <a:solidFill>
                  <a:srgbClr val="0000FA"/>
                </a:solidFill>
                <a:latin typeface="Arial"/>
                <a:cs typeface="Arial"/>
              </a:rPr>
              <a:t>]</a:t>
            </a:r>
            <a:r>
              <a:rPr sz="1000" dirty="0">
                <a:latin typeface="Arial"/>
                <a:cs typeface="Arial"/>
              </a:rPr>
              <a:t>,</a:t>
            </a:r>
            <a:r>
              <a:rPr sz="1000" spc="-5" dirty="0">
                <a:latin typeface="Arial"/>
                <a:cs typeface="Arial"/>
              </a:rPr>
              <a:t> in particular, when</a:t>
            </a:r>
            <a:endParaRPr sz="1000">
              <a:latin typeface="Arial"/>
              <a:cs typeface="Arial"/>
            </a:endParaRPr>
          </a:p>
          <a:p>
            <a:pPr marL="377825" algn="ctr">
              <a:lnSpc>
                <a:spcPct val="100000"/>
              </a:lnSpc>
              <a:spcBef>
                <a:spcPts val="944"/>
              </a:spcBef>
            </a:pPr>
            <a:r>
              <a:rPr sz="1000" i="1" spc="-5" dirty="0">
                <a:latin typeface="Arial"/>
                <a:cs typeface="Arial"/>
              </a:rPr>
              <a:t>TW</a:t>
            </a:r>
            <a:r>
              <a:rPr sz="1000" i="1" spc="-145" dirty="0">
                <a:latin typeface="Arial"/>
                <a:cs typeface="Arial"/>
              </a:rPr>
              <a:t> </a:t>
            </a:r>
            <a:r>
              <a:rPr sz="1000" spc="5" dirty="0">
                <a:latin typeface="Arial"/>
                <a:cs typeface="Arial"/>
              </a:rPr>
              <a:t>[</a:t>
            </a:r>
            <a:r>
              <a:rPr sz="1000" i="1" spc="90" dirty="0">
                <a:latin typeface="Arial"/>
                <a:cs typeface="Arial"/>
              </a:rPr>
              <a:t>k</a:t>
            </a:r>
            <a:r>
              <a:rPr sz="1000" i="1" spc="-5" dirty="0">
                <a:latin typeface="Arial"/>
                <a:cs typeface="Arial"/>
              </a:rPr>
              <a:t>,</a:t>
            </a:r>
            <a:r>
              <a:rPr sz="1000" i="1" spc="-170" dirty="0">
                <a:latin typeface="Arial"/>
                <a:cs typeface="Arial"/>
              </a:rPr>
              <a:t> </a:t>
            </a:r>
            <a:r>
              <a:rPr sz="1000" i="1" spc="-5" dirty="0">
                <a:latin typeface="Arial"/>
                <a:cs typeface="Arial"/>
              </a:rPr>
              <a:t>k</a:t>
            </a:r>
            <a:r>
              <a:rPr sz="1000" i="1" spc="-180" dirty="0">
                <a:latin typeface="Arial"/>
                <a:cs typeface="Arial"/>
              </a:rPr>
              <a:t> </a:t>
            </a:r>
            <a:r>
              <a:rPr sz="1000" spc="5" dirty="0">
                <a:latin typeface="Arial"/>
                <a:cs typeface="Arial"/>
              </a:rPr>
              <a:t>]</a:t>
            </a:r>
            <a:r>
              <a:rPr sz="1000" spc="-140" dirty="0">
                <a:latin typeface="Arial"/>
                <a:cs typeface="Arial"/>
              </a:rPr>
              <a:t> </a:t>
            </a:r>
            <a:r>
              <a:rPr sz="1000" i="1" spc="105" dirty="0">
                <a:latin typeface="メイリオ"/>
                <a:cs typeface="メイリオ"/>
              </a:rPr>
              <a:t>−</a:t>
            </a:r>
            <a:r>
              <a:rPr sz="1000" i="1" spc="-5" dirty="0">
                <a:latin typeface="Arial"/>
                <a:cs typeface="Arial"/>
              </a:rPr>
              <a:t>T</a:t>
            </a:r>
            <a:r>
              <a:rPr sz="1000" i="1" spc="-10" dirty="0">
                <a:latin typeface="Arial"/>
                <a:cs typeface="Arial"/>
              </a:rPr>
              <a:t>W</a:t>
            </a:r>
            <a:r>
              <a:rPr sz="1050" i="1" spc="22" baseline="-15873" dirty="0">
                <a:latin typeface="Arial"/>
                <a:cs typeface="Arial"/>
              </a:rPr>
              <a:t>k</a:t>
            </a:r>
            <a:r>
              <a:rPr sz="1050" i="1" spc="-112" baseline="-15873" dirty="0">
                <a:latin typeface="Arial"/>
                <a:cs typeface="Arial"/>
              </a:rPr>
              <a:t> </a:t>
            </a:r>
            <a:r>
              <a:rPr sz="1000" spc="5" dirty="0">
                <a:latin typeface="Arial"/>
                <a:cs typeface="Arial"/>
              </a:rPr>
              <a:t>[</a:t>
            </a:r>
            <a:r>
              <a:rPr sz="1000" i="1" spc="80" dirty="0">
                <a:latin typeface="Arial"/>
                <a:cs typeface="Arial"/>
              </a:rPr>
              <a:t>i</a:t>
            </a:r>
            <a:r>
              <a:rPr sz="1000" i="1" spc="-5" dirty="0">
                <a:latin typeface="Arial"/>
                <a:cs typeface="Arial"/>
              </a:rPr>
              <a:t>,</a:t>
            </a:r>
            <a:r>
              <a:rPr sz="1000" i="1" spc="-170" dirty="0">
                <a:latin typeface="Arial"/>
                <a:cs typeface="Arial"/>
              </a:rPr>
              <a:t> </a:t>
            </a:r>
            <a:r>
              <a:rPr sz="1000" i="1" spc="-5" dirty="0">
                <a:latin typeface="Arial"/>
                <a:cs typeface="Arial"/>
              </a:rPr>
              <a:t>k</a:t>
            </a:r>
            <a:r>
              <a:rPr sz="1000" i="1" spc="-180" dirty="0">
                <a:latin typeface="Arial"/>
                <a:cs typeface="Arial"/>
              </a:rPr>
              <a:t> </a:t>
            </a:r>
            <a:r>
              <a:rPr sz="1000" spc="5" dirty="0">
                <a:latin typeface="Arial"/>
                <a:cs typeface="Arial"/>
              </a:rPr>
              <a:t>]</a:t>
            </a:r>
            <a:r>
              <a:rPr sz="1000" spc="-60" dirty="0">
                <a:latin typeface="Arial"/>
                <a:cs typeface="Arial"/>
              </a:rPr>
              <a:t> </a:t>
            </a:r>
            <a:r>
              <a:rPr sz="1000" i="1" spc="190" dirty="0">
                <a:latin typeface="Arial"/>
                <a:cs typeface="Arial"/>
              </a:rPr>
              <a:t>&gt;</a:t>
            </a:r>
            <a:r>
              <a:rPr sz="1000" i="1" spc="-60" dirty="0">
                <a:latin typeface="Arial"/>
                <a:cs typeface="Arial"/>
              </a:rPr>
              <a:t> </a:t>
            </a:r>
            <a:r>
              <a:rPr sz="1000" i="1" spc="-65" dirty="0">
                <a:latin typeface="Arial"/>
                <a:cs typeface="Arial"/>
              </a:rPr>
              <a:t>δ</a:t>
            </a:r>
            <a:r>
              <a:rPr sz="1050" i="1" spc="7" baseline="-15873" dirty="0">
                <a:latin typeface="Arial"/>
                <a:cs typeface="Arial"/>
              </a:rPr>
              <a:t>i</a:t>
            </a:r>
            <a:r>
              <a:rPr sz="1050" i="1" spc="-127" baseline="-15873" dirty="0">
                <a:latin typeface="Arial"/>
                <a:cs typeface="Arial"/>
              </a:rPr>
              <a:t> </a:t>
            </a:r>
            <a:r>
              <a:rPr sz="1000" i="1" spc="220" dirty="0">
                <a:latin typeface="Arial"/>
                <a:cs typeface="Arial"/>
              </a:rPr>
              <a:t>/</a:t>
            </a:r>
            <a:r>
              <a:rPr sz="1000" spc="50" dirty="0">
                <a:latin typeface="Arial"/>
                <a:cs typeface="Arial"/>
              </a:rPr>
              <a:t>(</a:t>
            </a:r>
            <a:r>
              <a:rPr sz="1000" i="1" spc="-5" dirty="0">
                <a:latin typeface="Arial"/>
                <a:cs typeface="Arial"/>
              </a:rPr>
              <a:t>N</a:t>
            </a:r>
            <a:r>
              <a:rPr sz="1000" i="1" spc="-65" dirty="0">
                <a:latin typeface="Arial"/>
                <a:cs typeface="Arial"/>
              </a:rPr>
              <a:t> </a:t>
            </a:r>
            <a:r>
              <a:rPr sz="1000" i="1" spc="-30" dirty="0">
                <a:latin typeface="メイリオ"/>
                <a:cs typeface="メイリオ"/>
              </a:rPr>
              <a:t>−</a:t>
            </a:r>
            <a:r>
              <a:rPr sz="1000" i="1" spc="-204" dirty="0">
                <a:latin typeface="メイリオ"/>
                <a:cs typeface="メイリオ"/>
              </a:rPr>
              <a:t> </a:t>
            </a:r>
            <a:r>
              <a:rPr sz="1000" spc="-5" dirty="0">
                <a:latin typeface="Arial"/>
                <a:cs typeface="Arial"/>
              </a:rPr>
              <a:t>1</a:t>
            </a:r>
            <a:r>
              <a:rPr sz="1000" spc="50" dirty="0">
                <a:latin typeface="Arial"/>
                <a:cs typeface="Arial"/>
              </a:rPr>
              <a:t>)</a:t>
            </a:r>
            <a:endParaRPr sz="1000">
              <a:latin typeface="Arial"/>
              <a:cs typeface="Arial"/>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1019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Bounding</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numerical</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deviation</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17570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70" dirty="0">
                <a:solidFill>
                  <a:srgbClr val="3333B2"/>
                </a:solidFill>
                <a:latin typeface="Arial"/>
                <a:cs typeface="Arial"/>
              </a:rPr>
              <a:t> </a:t>
            </a:r>
            <a:r>
              <a:rPr sz="600" spc="-5" dirty="0">
                <a:solidFill>
                  <a:srgbClr val="3333B2"/>
                </a:solidFill>
                <a:latin typeface="Arial"/>
                <a:cs typeface="Arial"/>
                <a:hlinkClick r:id="rId2" action="ppaction://hlinksldjump"/>
              </a:rPr>
              <a:t>Consistency</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protocols</a:t>
            </a:r>
            <a:endParaRPr sz="600">
              <a:latin typeface="Arial"/>
              <a:cs typeface="Arial"/>
            </a:endParaRPr>
          </a:p>
        </p:txBody>
      </p:sp>
      <p:sp>
        <p:nvSpPr>
          <p:cNvPr id="3" name="object 3"/>
          <p:cNvSpPr txBox="1"/>
          <p:nvPr/>
        </p:nvSpPr>
        <p:spPr>
          <a:xfrm>
            <a:off x="3714985" y="716"/>
            <a:ext cx="826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2" action="ppaction://hlinksldjump"/>
              </a:rPr>
              <a:t>Continuous</a:t>
            </a:r>
            <a:r>
              <a:rPr sz="600" spc="-25"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consistency</a:t>
            </a:r>
            <a:endParaRPr sz="600">
              <a:latin typeface="Arial"/>
              <a:cs typeface="Arial"/>
            </a:endParaRPr>
          </a:p>
        </p:txBody>
      </p:sp>
      <p:sp>
        <p:nvSpPr>
          <p:cNvPr id="4" name="object 4"/>
          <p:cNvSpPr txBox="1"/>
          <p:nvPr/>
        </p:nvSpPr>
        <p:spPr>
          <a:xfrm>
            <a:off x="57200" y="188846"/>
            <a:ext cx="4205605" cy="2066289"/>
          </a:xfrm>
          <a:prstGeom prst="rect">
            <a:avLst/>
          </a:prstGeom>
        </p:spPr>
        <p:txBody>
          <a:bodyPr vert="horz" wrap="square" lIns="0" tIns="17145" rIns="0" bIns="0" rtlCol="0">
            <a:spAutoFit/>
          </a:bodyPr>
          <a:lstStyle/>
          <a:p>
            <a:pPr marL="50800">
              <a:lnSpc>
                <a:spcPct val="100000"/>
              </a:lnSpc>
              <a:spcBef>
                <a:spcPts val="135"/>
              </a:spcBef>
            </a:pPr>
            <a:r>
              <a:rPr sz="1400" spc="15" dirty="0">
                <a:solidFill>
                  <a:srgbClr val="3333B2"/>
                </a:solidFill>
                <a:latin typeface="Arial"/>
                <a:cs typeface="Arial"/>
              </a:rPr>
              <a:t>Continuous</a:t>
            </a:r>
            <a:r>
              <a:rPr sz="1400" spc="-5" dirty="0">
                <a:solidFill>
                  <a:srgbClr val="3333B2"/>
                </a:solidFill>
                <a:latin typeface="Arial"/>
                <a:cs typeface="Arial"/>
              </a:rPr>
              <a:t> </a:t>
            </a:r>
            <a:r>
              <a:rPr sz="1400" spc="15" dirty="0">
                <a:solidFill>
                  <a:srgbClr val="3333B2"/>
                </a:solidFill>
                <a:latin typeface="Arial"/>
                <a:cs typeface="Arial"/>
              </a:rPr>
              <a:t>consistency:</a:t>
            </a:r>
            <a:r>
              <a:rPr sz="1400" spc="85" dirty="0">
                <a:solidFill>
                  <a:srgbClr val="3333B2"/>
                </a:solidFill>
                <a:latin typeface="Arial"/>
                <a:cs typeface="Arial"/>
              </a:rPr>
              <a:t> </a:t>
            </a:r>
            <a:r>
              <a:rPr sz="1400" spc="15" dirty="0">
                <a:solidFill>
                  <a:srgbClr val="3333B2"/>
                </a:solidFill>
                <a:latin typeface="Arial"/>
                <a:cs typeface="Arial"/>
              </a:rPr>
              <a:t>Numerical</a:t>
            </a:r>
            <a:r>
              <a:rPr sz="1400" spc="-5" dirty="0">
                <a:solidFill>
                  <a:srgbClr val="3333B2"/>
                </a:solidFill>
                <a:latin typeface="Arial"/>
                <a:cs typeface="Arial"/>
              </a:rPr>
              <a:t> </a:t>
            </a:r>
            <a:r>
              <a:rPr sz="1400" spc="15" dirty="0">
                <a:solidFill>
                  <a:srgbClr val="3333B2"/>
                </a:solidFill>
                <a:latin typeface="Arial"/>
                <a:cs typeface="Arial"/>
              </a:rPr>
              <a:t>errors</a:t>
            </a:r>
            <a:endParaRPr sz="1400">
              <a:latin typeface="Arial"/>
              <a:cs typeface="Arial"/>
            </a:endParaRPr>
          </a:p>
          <a:p>
            <a:pPr>
              <a:lnSpc>
                <a:spcPct val="100000"/>
              </a:lnSpc>
              <a:spcBef>
                <a:spcPts val="25"/>
              </a:spcBef>
            </a:pPr>
            <a:endParaRPr sz="2250">
              <a:latin typeface="Arial"/>
              <a:cs typeface="Arial"/>
            </a:endParaRPr>
          </a:p>
          <a:p>
            <a:pPr marL="302260">
              <a:lnSpc>
                <a:spcPts val="1410"/>
              </a:lnSpc>
            </a:pPr>
            <a:r>
              <a:rPr sz="1200" spc="-5" dirty="0">
                <a:solidFill>
                  <a:srgbClr val="3333B2"/>
                </a:solidFill>
                <a:latin typeface="Arial"/>
                <a:cs typeface="Arial"/>
              </a:rPr>
              <a:t>Solution</a:t>
            </a:r>
            <a:endParaRPr sz="1200">
              <a:latin typeface="Arial"/>
              <a:cs typeface="Arial"/>
            </a:endParaRPr>
          </a:p>
          <a:p>
            <a:pPr marL="302260" marR="158750">
              <a:lnSpc>
                <a:spcPts val="1200"/>
              </a:lnSpc>
              <a:spcBef>
                <a:spcPts val="15"/>
              </a:spcBef>
            </a:pPr>
            <a:r>
              <a:rPr sz="1000" i="1" spc="5" dirty="0">
                <a:latin typeface="Arial"/>
                <a:cs typeface="Arial"/>
              </a:rPr>
              <a:t>S</a:t>
            </a:r>
            <a:r>
              <a:rPr sz="1050" i="1" spc="7" baseline="-15873" dirty="0">
                <a:latin typeface="Arial"/>
                <a:cs typeface="Arial"/>
              </a:rPr>
              <a:t>k</a:t>
            </a:r>
            <a:r>
              <a:rPr sz="1050" i="1" spc="22" baseline="-15873" dirty="0">
                <a:latin typeface="Arial"/>
                <a:cs typeface="Arial"/>
              </a:rPr>
              <a:t> </a:t>
            </a:r>
            <a:r>
              <a:rPr sz="1000" spc="-5" dirty="0">
                <a:latin typeface="Arial"/>
                <a:cs typeface="Arial"/>
              </a:rPr>
              <a:t>sends operations</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its log</a:t>
            </a:r>
            <a:r>
              <a:rPr sz="1000" dirty="0">
                <a:latin typeface="Arial"/>
                <a:cs typeface="Arial"/>
              </a:rPr>
              <a:t> </a:t>
            </a:r>
            <a:r>
              <a:rPr sz="1000" spc="-5" dirty="0">
                <a:latin typeface="Arial"/>
                <a:cs typeface="Arial"/>
              </a:rPr>
              <a:t>to</a:t>
            </a:r>
            <a:r>
              <a:rPr sz="1000" dirty="0">
                <a:latin typeface="Arial"/>
                <a:cs typeface="Arial"/>
              </a:rPr>
              <a:t> </a:t>
            </a:r>
            <a:r>
              <a:rPr sz="1000" i="1" dirty="0">
                <a:latin typeface="Arial"/>
                <a:cs typeface="Arial"/>
              </a:rPr>
              <a:t>S</a:t>
            </a:r>
            <a:r>
              <a:rPr sz="1050" i="1" baseline="-15873" dirty="0">
                <a:latin typeface="Arial"/>
                <a:cs typeface="Arial"/>
              </a:rPr>
              <a:t>i</a:t>
            </a:r>
            <a:r>
              <a:rPr sz="1050" i="1" spc="15" baseline="-15873" dirty="0">
                <a:latin typeface="Arial"/>
                <a:cs typeface="Arial"/>
              </a:rPr>
              <a:t> </a:t>
            </a:r>
            <a:r>
              <a:rPr sz="1000" spc="-5" dirty="0">
                <a:solidFill>
                  <a:srgbClr val="0000FA"/>
                </a:solidFill>
                <a:latin typeface="Arial"/>
                <a:cs typeface="Arial"/>
              </a:rPr>
              <a:t>when</a:t>
            </a:r>
            <a:r>
              <a:rPr sz="1000" dirty="0">
                <a:solidFill>
                  <a:srgbClr val="0000FA"/>
                </a:solidFill>
                <a:latin typeface="Arial"/>
                <a:cs typeface="Arial"/>
              </a:rPr>
              <a:t> </a:t>
            </a:r>
            <a:r>
              <a:rPr sz="1000" spc="-5" dirty="0">
                <a:solidFill>
                  <a:srgbClr val="0000FA"/>
                </a:solidFill>
                <a:latin typeface="Arial"/>
                <a:cs typeface="Arial"/>
              </a:rPr>
              <a:t>it sees</a:t>
            </a:r>
            <a:r>
              <a:rPr sz="1000" dirty="0">
                <a:solidFill>
                  <a:srgbClr val="0000FA"/>
                </a:solidFill>
                <a:latin typeface="Arial"/>
                <a:cs typeface="Arial"/>
              </a:rPr>
              <a:t> </a:t>
            </a:r>
            <a:r>
              <a:rPr sz="1000" spc="-5" dirty="0">
                <a:solidFill>
                  <a:srgbClr val="0000FA"/>
                </a:solidFill>
                <a:latin typeface="Arial"/>
                <a:cs typeface="Arial"/>
              </a:rPr>
              <a:t>that</a:t>
            </a:r>
            <a:r>
              <a:rPr sz="1000" dirty="0">
                <a:solidFill>
                  <a:srgbClr val="0000FA"/>
                </a:solidFill>
                <a:latin typeface="Arial"/>
                <a:cs typeface="Arial"/>
              </a:rPr>
              <a:t> </a:t>
            </a:r>
            <a:r>
              <a:rPr sz="1000" i="1" dirty="0">
                <a:solidFill>
                  <a:srgbClr val="0000FA"/>
                </a:solidFill>
                <a:latin typeface="Arial"/>
                <a:cs typeface="Arial"/>
              </a:rPr>
              <a:t>TW</a:t>
            </a:r>
            <a:r>
              <a:rPr sz="1050" i="1" baseline="-15873" dirty="0">
                <a:solidFill>
                  <a:srgbClr val="0000FA"/>
                </a:solidFill>
                <a:latin typeface="Arial"/>
                <a:cs typeface="Arial"/>
              </a:rPr>
              <a:t>k</a:t>
            </a:r>
            <a:r>
              <a:rPr sz="1050" i="1" spc="-112" baseline="-15873" dirty="0">
                <a:solidFill>
                  <a:srgbClr val="0000FA"/>
                </a:solidFill>
                <a:latin typeface="Arial"/>
                <a:cs typeface="Arial"/>
              </a:rPr>
              <a:t> </a:t>
            </a:r>
            <a:r>
              <a:rPr sz="1000" spc="30" dirty="0">
                <a:solidFill>
                  <a:srgbClr val="0000FA"/>
                </a:solidFill>
                <a:latin typeface="Arial"/>
                <a:cs typeface="Arial"/>
              </a:rPr>
              <a:t>[</a:t>
            </a:r>
            <a:r>
              <a:rPr sz="1000" i="1" spc="30" dirty="0">
                <a:solidFill>
                  <a:srgbClr val="0000FA"/>
                </a:solidFill>
                <a:latin typeface="Arial"/>
                <a:cs typeface="Arial"/>
              </a:rPr>
              <a:t>i,</a:t>
            </a:r>
            <a:r>
              <a:rPr sz="1000" i="1" spc="-170" dirty="0">
                <a:solidFill>
                  <a:srgbClr val="0000FA"/>
                </a:solidFill>
                <a:latin typeface="Arial"/>
                <a:cs typeface="Arial"/>
              </a:rPr>
              <a:t> </a:t>
            </a:r>
            <a:r>
              <a:rPr sz="1000" i="1" spc="-5" dirty="0">
                <a:solidFill>
                  <a:srgbClr val="0000FA"/>
                </a:solidFill>
                <a:latin typeface="Arial"/>
                <a:cs typeface="Arial"/>
              </a:rPr>
              <a:t>k</a:t>
            </a:r>
            <a:r>
              <a:rPr sz="1000" i="1" spc="-175" dirty="0">
                <a:solidFill>
                  <a:srgbClr val="0000FA"/>
                </a:solidFill>
                <a:latin typeface="Arial"/>
                <a:cs typeface="Arial"/>
              </a:rPr>
              <a:t> </a:t>
            </a:r>
            <a:r>
              <a:rPr sz="1000" spc="5" dirty="0">
                <a:solidFill>
                  <a:srgbClr val="0000FA"/>
                </a:solidFill>
                <a:latin typeface="Arial"/>
                <a:cs typeface="Arial"/>
              </a:rPr>
              <a:t>]</a:t>
            </a:r>
            <a:r>
              <a:rPr sz="1000" spc="-5" dirty="0">
                <a:solidFill>
                  <a:srgbClr val="0000FA"/>
                </a:solidFill>
                <a:latin typeface="Arial"/>
                <a:cs typeface="Arial"/>
              </a:rPr>
              <a:t> is </a:t>
            </a:r>
            <a:r>
              <a:rPr sz="1000" spc="-265" dirty="0">
                <a:solidFill>
                  <a:srgbClr val="0000FA"/>
                </a:solidFill>
                <a:latin typeface="Arial"/>
                <a:cs typeface="Arial"/>
              </a:rPr>
              <a:t> </a:t>
            </a:r>
            <a:r>
              <a:rPr sz="1000" spc="-5" dirty="0">
                <a:solidFill>
                  <a:srgbClr val="0000FA"/>
                </a:solidFill>
                <a:latin typeface="Arial"/>
                <a:cs typeface="Arial"/>
              </a:rPr>
              <a:t>getting too </a:t>
            </a:r>
            <a:r>
              <a:rPr sz="1000" spc="-15" dirty="0">
                <a:solidFill>
                  <a:srgbClr val="0000FA"/>
                </a:solidFill>
                <a:latin typeface="Arial"/>
                <a:cs typeface="Arial"/>
              </a:rPr>
              <a:t>far</a:t>
            </a:r>
            <a:r>
              <a:rPr sz="1000" spc="-5" dirty="0">
                <a:solidFill>
                  <a:srgbClr val="0000FA"/>
                </a:solidFill>
                <a:latin typeface="Arial"/>
                <a:cs typeface="Arial"/>
              </a:rPr>
              <a:t> from </a:t>
            </a:r>
            <a:r>
              <a:rPr sz="1000" i="1" spc="-5" dirty="0">
                <a:solidFill>
                  <a:srgbClr val="0000FA"/>
                </a:solidFill>
                <a:latin typeface="Arial"/>
                <a:cs typeface="Arial"/>
              </a:rPr>
              <a:t>TW</a:t>
            </a:r>
            <a:r>
              <a:rPr sz="1000" i="1" spc="-145" dirty="0">
                <a:solidFill>
                  <a:srgbClr val="0000FA"/>
                </a:solidFill>
                <a:latin typeface="Arial"/>
                <a:cs typeface="Arial"/>
              </a:rPr>
              <a:t> </a:t>
            </a:r>
            <a:r>
              <a:rPr sz="1000" spc="30" dirty="0">
                <a:solidFill>
                  <a:srgbClr val="0000FA"/>
                </a:solidFill>
                <a:latin typeface="Arial"/>
                <a:cs typeface="Arial"/>
              </a:rPr>
              <a:t>[</a:t>
            </a:r>
            <a:r>
              <a:rPr sz="1000" i="1" spc="30" dirty="0">
                <a:solidFill>
                  <a:srgbClr val="0000FA"/>
                </a:solidFill>
                <a:latin typeface="Arial"/>
                <a:cs typeface="Arial"/>
              </a:rPr>
              <a:t>k,</a:t>
            </a:r>
            <a:r>
              <a:rPr sz="1000" i="1" spc="-170" dirty="0">
                <a:solidFill>
                  <a:srgbClr val="0000FA"/>
                </a:solidFill>
                <a:latin typeface="Arial"/>
                <a:cs typeface="Arial"/>
              </a:rPr>
              <a:t> </a:t>
            </a:r>
            <a:r>
              <a:rPr sz="1000" i="1" spc="-5" dirty="0">
                <a:solidFill>
                  <a:srgbClr val="0000FA"/>
                </a:solidFill>
                <a:latin typeface="Arial"/>
                <a:cs typeface="Arial"/>
              </a:rPr>
              <a:t>k</a:t>
            </a:r>
            <a:r>
              <a:rPr sz="1000" i="1" spc="-180" dirty="0">
                <a:solidFill>
                  <a:srgbClr val="0000FA"/>
                </a:solidFill>
                <a:latin typeface="Arial"/>
                <a:cs typeface="Arial"/>
              </a:rPr>
              <a:t> </a:t>
            </a:r>
            <a:r>
              <a:rPr sz="1000" dirty="0">
                <a:solidFill>
                  <a:srgbClr val="0000FA"/>
                </a:solidFill>
                <a:latin typeface="Arial"/>
                <a:cs typeface="Arial"/>
              </a:rPr>
              <a:t>]</a:t>
            </a:r>
            <a:r>
              <a:rPr sz="1000" dirty="0">
                <a:latin typeface="Arial"/>
                <a:cs typeface="Arial"/>
              </a:rPr>
              <a:t>,</a:t>
            </a:r>
            <a:r>
              <a:rPr sz="1000" spc="-5" dirty="0">
                <a:latin typeface="Arial"/>
                <a:cs typeface="Arial"/>
              </a:rPr>
              <a:t> in particular, when</a:t>
            </a:r>
            <a:endParaRPr sz="1000">
              <a:latin typeface="Arial"/>
              <a:cs typeface="Arial"/>
            </a:endParaRPr>
          </a:p>
          <a:p>
            <a:pPr marL="287655" algn="ctr">
              <a:lnSpc>
                <a:spcPct val="100000"/>
              </a:lnSpc>
              <a:spcBef>
                <a:spcPts val="944"/>
              </a:spcBef>
            </a:pPr>
            <a:r>
              <a:rPr sz="1000" i="1" spc="-5" dirty="0">
                <a:latin typeface="Arial"/>
                <a:cs typeface="Arial"/>
              </a:rPr>
              <a:t>TW</a:t>
            </a:r>
            <a:r>
              <a:rPr sz="1000" i="1" spc="-145" dirty="0">
                <a:latin typeface="Arial"/>
                <a:cs typeface="Arial"/>
              </a:rPr>
              <a:t> </a:t>
            </a:r>
            <a:r>
              <a:rPr sz="1000" spc="5" dirty="0">
                <a:latin typeface="Arial"/>
                <a:cs typeface="Arial"/>
              </a:rPr>
              <a:t>[</a:t>
            </a:r>
            <a:r>
              <a:rPr sz="1000" i="1" spc="90" dirty="0">
                <a:latin typeface="Arial"/>
                <a:cs typeface="Arial"/>
              </a:rPr>
              <a:t>k</a:t>
            </a:r>
            <a:r>
              <a:rPr sz="1000" i="1" spc="-5" dirty="0">
                <a:latin typeface="Arial"/>
                <a:cs typeface="Arial"/>
              </a:rPr>
              <a:t>,</a:t>
            </a:r>
            <a:r>
              <a:rPr sz="1000" i="1" spc="-170" dirty="0">
                <a:latin typeface="Arial"/>
                <a:cs typeface="Arial"/>
              </a:rPr>
              <a:t> </a:t>
            </a:r>
            <a:r>
              <a:rPr sz="1000" i="1" spc="-5" dirty="0">
                <a:latin typeface="Arial"/>
                <a:cs typeface="Arial"/>
              </a:rPr>
              <a:t>k</a:t>
            </a:r>
            <a:r>
              <a:rPr sz="1000" i="1" spc="-180" dirty="0">
                <a:latin typeface="Arial"/>
                <a:cs typeface="Arial"/>
              </a:rPr>
              <a:t> </a:t>
            </a:r>
            <a:r>
              <a:rPr sz="1000" spc="5" dirty="0">
                <a:latin typeface="Arial"/>
                <a:cs typeface="Arial"/>
              </a:rPr>
              <a:t>]</a:t>
            </a:r>
            <a:r>
              <a:rPr sz="1000" spc="-140" dirty="0">
                <a:latin typeface="Arial"/>
                <a:cs typeface="Arial"/>
              </a:rPr>
              <a:t> </a:t>
            </a:r>
            <a:r>
              <a:rPr sz="1000" i="1" spc="105" dirty="0">
                <a:latin typeface="メイリオ"/>
                <a:cs typeface="メイリオ"/>
              </a:rPr>
              <a:t>−</a:t>
            </a:r>
            <a:r>
              <a:rPr sz="1000" i="1" spc="-5" dirty="0">
                <a:latin typeface="Arial"/>
                <a:cs typeface="Arial"/>
              </a:rPr>
              <a:t>T</a:t>
            </a:r>
            <a:r>
              <a:rPr sz="1000" i="1" spc="-10" dirty="0">
                <a:latin typeface="Arial"/>
                <a:cs typeface="Arial"/>
              </a:rPr>
              <a:t>W</a:t>
            </a:r>
            <a:r>
              <a:rPr sz="1050" i="1" spc="22" baseline="-15873" dirty="0">
                <a:latin typeface="Arial"/>
                <a:cs typeface="Arial"/>
              </a:rPr>
              <a:t>k</a:t>
            </a:r>
            <a:r>
              <a:rPr sz="1050" i="1" spc="-112" baseline="-15873" dirty="0">
                <a:latin typeface="Arial"/>
                <a:cs typeface="Arial"/>
              </a:rPr>
              <a:t> </a:t>
            </a:r>
            <a:r>
              <a:rPr sz="1000" spc="5" dirty="0">
                <a:latin typeface="Arial"/>
                <a:cs typeface="Arial"/>
              </a:rPr>
              <a:t>[</a:t>
            </a:r>
            <a:r>
              <a:rPr sz="1000" i="1" spc="80" dirty="0">
                <a:latin typeface="Arial"/>
                <a:cs typeface="Arial"/>
              </a:rPr>
              <a:t>i</a:t>
            </a:r>
            <a:r>
              <a:rPr sz="1000" i="1" spc="-5" dirty="0">
                <a:latin typeface="Arial"/>
                <a:cs typeface="Arial"/>
              </a:rPr>
              <a:t>,</a:t>
            </a:r>
            <a:r>
              <a:rPr sz="1000" i="1" spc="-170" dirty="0">
                <a:latin typeface="Arial"/>
                <a:cs typeface="Arial"/>
              </a:rPr>
              <a:t> </a:t>
            </a:r>
            <a:r>
              <a:rPr sz="1000" i="1" spc="-5" dirty="0">
                <a:latin typeface="Arial"/>
                <a:cs typeface="Arial"/>
              </a:rPr>
              <a:t>k</a:t>
            </a:r>
            <a:r>
              <a:rPr sz="1000" i="1" spc="-180" dirty="0">
                <a:latin typeface="Arial"/>
                <a:cs typeface="Arial"/>
              </a:rPr>
              <a:t> </a:t>
            </a:r>
            <a:r>
              <a:rPr sz="1000" spc="5" dirty="0">
                <a:latin typeface="Arial"/>
                <a:cs typeface="Arial"/>
              </a:rPr>
              <a:t>]</a:t>
            </a:r>
            <a:r>
              <a:rPr sz="1000" spc="-60" dirty="0">
                <a:latin typeface="Arial"/>
                <a:cs typeface="Arial"/>
              </a:rPr>
              <a:t> </a:t>
            </a:r>
            <a:r>
              <a:rPr sz="1000" i="1" spc="190" dirty="0">
                <a:latin typeface="Arial"/>
                <a:cs typeface="Arial"/>
              </a:rPr>
              <a:t>&gt;</a:t>
            </a:r>
            <a:r>
              <a:rPr sz="1000" i="1" spc="-60" dirty="0">
                <a:latin typeface="Arial"/>
                <a:cs typeface="Arial"/>
              </a:rPr>
              <a:t> </a:t>
            </a:r>
            <a:r>
              <a:rPr sz="1000" i="1" spc="-65" dirty="0">
                <a:latin typeface="Arial"/>
                <a:cs typeface="Arial"/>
              </a:rPr>
              <a:t>δ</a:t>
            </a:r>
            <a:r>
              <a:rPr sz="1050" i="1" spc="7" baseline="-15873" dirty="0">
                <a:latin typeface="Arial"/>
                <a:cs typeface="Arial"/>
              </a:rPr>
              <a:t>i</a:t>
            </a:r>
            <a:r>
              <a:rPr sz="1050" i="1" spc="-127" baseline="-15873" dirty="0">
                <a:latin typeface="Arial"/>
                <a:cs typeface="Arial"/>
              </a:rPr>
              <a:t> </a:t>
            </a:r>
            <a:r>
              <a:rPr sz="1000" i="1" spc="220" dirty="0">
                <a:latin typeface="Arial"/>
                <a:cs typeface="Arial"/>
              </a:rPr>
              <a:t>/</a:t>
            </a:r>
            <a:r>
              <a:rPr sz="1000" spc="50" dirty="0">
                <a:latin typeface="Arial"/>
                <a:cs typeface="Arial"/>
              </a:rPr>
              <a:t>(</a:t>
            </a:r>
            <a:r>
              <a:rPr sz="1000" i="1" spc="-5" dirty="0">
                <a:latin typeface="Arial"/>
                <a:cs typeface="Arial"/>
              </a:rPr>
              <a:t>N</a:t>
            </a:r>
            <a:r>
              <a:rPr sz="1000" i="1" spc="-65" dirty="0">
                <a:latin typeface="Arial"/>
                <a:cs typeface="Arial"/>
              </a:rPr>
              <a:t> </a:t>
            </a:r>
            <a:r>
              <a:rPr sz="1000" i="1" spc="-30" dirty="0">
                <a:latin typeface="メイリオ"/>
                <a:cs typeface="メイリオ"/>
              </a:rPr>
              <a:t>−</a:t>
            </a:r>
            <a:r>
              <a:rPr sz="1000" i="1" spc="-204" dirty="0">
                <a:latin typeface="メイリオ"/>
                <a:cs typeface="メイリオ"/>
              </a:rPr>
              <a:t> </a:t>
            </a:r>
            <a:r>
              <a:rPr sz="1000" spc="-5" dirty="0">
                <a:latin typeface="Arial"/>
                <a:cs typeface="Arial"/>
              </a:rPr>
              <a:t>1</a:t>
            </a:r>
            <a:r>
              <a:rPr sz="1000" spc="50" dirty="0">
                <a:latin typeface="Arial"/>
                <a:cs typeface="Arial"/>
              </a:rPr>
              <a:t>)</a:t>
            </a:r>
            <a:endParaRPr sz="1000">
              <a:latin typeface="Arial"/>
              <a:cs typeface="Arial"/>
            </a:endParaRPr>
          </a:p>
          <a:p>
            <a:pPr>
              <a:lnSpc>
                <a:spcPct val="100000"/>
              </a:lnSpc>
              <a:spcBef>
                <a:spcPts val="40"/>
              </a:spcBef>
            </a:pPr>
            <a:endParaRPr sz="1650">
              <a:latin typeface="Arial"/>
              <a:cs typeface="Arial"/>
            </a:endParaRPr>
          </a:p>
          <a:p>
            <a:pPr marL="302260">
              <a:lnSpc>
                <a:spcPts val="1435"/>
              </a:lnSpc>
            </a:pPr>
            <a:r>
              <a:rPr sz="1200" spc="-5" dirty="0">
                <a:solidFill>
                  <a:srgbClr val="3333B2"/>
                </a:solidFill>
                <a:latin typeface="Arial"/>
                <a:cs typeface="Arial"/>
              </a:rPr>
              <a:t>Question</a:t>
            </a:r>
            <a:endParaRPr sz="1200">
              <a:latin typeface="Arial"/>
              <a:cs typeface="Arial"/>
            </a:endParaRPr>
          </a:p>
          <a:p>
            <a:pPr marL="302260" marR="55880" indent="-4445">
              <a:lnSpc>
                <a:spcPts val="1200"/>
              </a:lnSpc>
              <a:spcBef>
                <a:spcPts val="40"/>
              </a:spcBef>
            </a:pPr>
            <a:r>
              <a:rPr sz="1000" spc="-65" dirty="0">
                <a:latin typeface="Arial"/>
                <a:cs typeface="Arial"/>
              </a:rPr>
              <a:t>To</a:t>
            </a:r>
            <a:r>
              <a:rPr sz="1000" spc="-5" dirty="0">
                <a:latin typeface="Arial"/>
                <a:cs typeface="Arial"/>
              </a:rPr>
              <a:t> what</a:t>
            </a:r>
            <a:r>
              <a:rPr sz="1000" dirty="0">
                <a:latin typeface="Arial"/>
                <a:cs typeface="Arial"/>
              </a:rPr>
              <a:t> </a:t>
            </a:r>
            <a:r>
              <a:rPr sz="1000" spc="-10" dirty="0">
                <a:latin typeface="Arial"/>
                <a:cs typeface="Arial"/>
              </a:rPr>
              <a:t>extent</a:t>
            </a:r>
            <a:r>
              <a:rPr sz="1000" dirty="0">
                <a:latin typeface="Arial"/>
                <a:cs typeface="Arial"/>
              </a:rPr>
              <a:t> </a:t>
            </a:r>
            <a:r>
              <a:rPr sz="1000" spc="-5" dirty="0">
                <a:latin typeface="Arial"/>
                <a:cs typeface="Arial"/>
              </a:rPr>
              <a:t>are</a:t>
            </a:r>
            <a:r>
              <a:rPr sz="1000" dirty="0">
                <a:latin typeface="Arial"/>
                <a:cs typeface="Arial"/>
              </a:rPr>
              <a:t> </a:t>
            </a:r>
            <a:r>
              <a:rPr sz="1000" spc="-10" dirty="0">
                <a:latin typeface="Arial"/>
                <a:cs typeface="Arial"/>
              </a:rPr>
              <a:t>we</a:t>
            </a:r>
            <a:r>
              <a:rPr sz="1000" dirty="0">
                <a:latin typeface="Arial"/>
                <a:cs typeface="Arial"/>
              </a:rPr>
              <a:t> </a:t>
            </a:r>
            <a:r>
              <a:rPr sz="1000" spc="-5" dirty="0">
                <a:latin typeface="Arial"/>
                <a:cs typeface="Arial"/>
              </a:rPr>
              <a:t>being</a:t>
            </a:r>
            <a:r>
              <a:rPr sz="1000" dirty="0">
                <a:latin typeface="Arial"/>
                <a:cs typeface="Arial"/>
              </a:rPr>
              <a:t> </a:t>
            </a:r>
            <a:r>
              <a:rPr sz="1000" spc="-5" dirty="0">
                <a:solidFill>
                  <a:srgbClr val="FA0000"/>
                </a:solidFill>
                <a:latin typeface="Arial"/>
                <a:cs typeface="Arial"/>
              </a:rPr>
              <a:t>pessimistic</a:t>
            </a:r>
            <a:r>
              <a:rPr sz="1000" dirty="0">
                <a:solidFill>
                  <a:srgbClr val="FA0000"/>
                </a:solidFill>
                <a:latin typeface="Arial"/>
                <a:cs typeface="Arial"/>
              </a:rPr>
              <a:t> </a:t>
            </a:r>
            <a:r>
              <a:rPr sz="1000" spc="-5" dirty="0">
                <a:latin typeface="Arial"/>
                <a:cs typeface="Arial"/>
              </a:rPr>
              <a:t>here:</a:t>
            </a:r>
            <a:r>
              <a:rPr sz="1000" spc="65" dirty="0">
                <a:latin typeface="Arial"/>
                <a:cs typeface="Arial"/>
              </a:rPr>
              <a:t> </a:t>
            </a:r>
            <a:r>
              <a:rPr sz="1000" spc="-5" dirty="0">
                <a:latin typeface="Arial"/>
                <a:cs typeface="Arial"/>
              </a:rPr>
              <a:t>where</a:t>
            </a:r>
            <a:r>
              <a:rPr sz="1000" dirty="0">
                <a:latin typeface="Arial"/>
                <a:cs typeface="Arial"/>
              </a:rPr>
              <a:t> </a:t>
            </a:r>
            <a:r>
              <a:rPr sz="1000" spc="-5" dirty="0">
                <a:latin typeface="Arial"/>
                <a:cs typeface="Arial"/>
              </a:rPr>
              <a:t>does</a:t>
            </a:r>
            <a:r>
              <a:rPr sz="1000" dirty="0">
                <a:latin typeface="Arial"/>
                <a:cs typeface="Arial"/>
              </a:rPr>
              <a:t> </a:t>
            </a:r>
            <a:r>
              <a:rPr sz="1000" i="1" spc="-35" dirty="0">
                <a:latin typeface="Arial"/>
                <a:cs typeface="Arial"/>
              </a:rPr>
              <a:t>δ</a:t>
            </a:r>
            <a:r>
              <a:rPr sz="1050" i="1" spc="-52" baseline="-15873" dirty="0">
                <a:latin typeface="Arial"/>
                <a:cs typeface="Arial"/>
              </a:rPr>
              <a:t>i</a:t>
            </a:r>
            <a:r>
              <a:rPr sz="1050" i="1" spc="-127" baseline="-15873" dirty="0">
                <a:latin typeface="Arial"/>
                <a:cs typeface="Arial"/>
              </a:rPr>
              <a:t> </a:t>
            </a:r>
            <a:r>
              <a:rPr sz="1000" i="1" spc="90" dirty="0">
                <a:latin typeface="Arial"/>
                <a:cs typeface="Arial"/>
              </a:rPr>
              <a:t>/</a:t>
            </a:r>
            <a:r>
              <a:rPr sz="1000" spc="90" dirty="0">
                <a:latin typeface="Arial"/>
                <a:cs typeface="Arial"/>
              </a:rPr>
              <a:t>(</a:t>
            </a:r>
            <a:r>
              <a:rPr sz="1000" i="1" spc="90" dirty="0">
                <a:latin typeface="Arial"/>
                <a:cs typeface="Arial"/>
              </a:rPr>
              <a:t>N</a:t>
            </a:r>
            <a:r>
              <a:rPr sz="1000" i="1" spc="-60" dirty="0">
                <a:latin typeface="Arial"/>
                <a:cs typeface="Arial"/>
              </a:rPr>
              <a:t> </a:t>
            </a:r>
            <a:r>
              <a:rPr sz="1000" i="1" spc="-30" dirty="0">
                <a:latin typeface="メイリオ"/>
                <a:cs typeface="メイリオ"/>
              </a:rPr>
              <a:t>−</a:t>
            </a:r>
            <a:r>
              <a:rPr sz="1000" i="1" spc="-200" dirty="0">
                <a:latin typeface="メイリオ"/>
                <a:cs typeface="メイリオ"/>
              </a:rPr>
              <a:t> </a:t>
            </a:r>
            <a:r>
              <a:rPr sz="1000" spc="25" dirty="0">
                <a:latin typeface="Arial"/>
                <a:cs typeface="Arial"/>
              </a:rPr>
              <a:t>1) </a:t>
            </a:r>
            <a:r>
              <a:rPr sz="1000" spc="-265" dirty="0">
                <a:latin typeface="Arial"/>
                <a:cs typeface="Arial"/>
              </a:rPr>
              <a:t> </a:t>
            </a:r>
            <a:r>
              <a:rPr sz="1000" spc="-5" dirty="0">
                <a:latin typeface="Arial"/>
                <a:cs typeface="Arial"/>
              </a:rPr>
              <a:t>come</a:t>
            </a:r>
            <a:r>
              <a:rPr sz="1000" spc="-10" dirty="0">
                <a:latin typeface="Arial"/>
                <a:cs typeface="Arial"/>
              </a:rPr>
              <a:t> </a:t>
            </a:r>
            <a:r>
              <a:rPr sz="1000" spc="-5" dirty="0">
                <a:latin typeface="Arial"/>
                <a:cs typeface="Arial"/>
              </a:rPr>
              <a:t>from?</a:t>
            </a:r>
            <a:endParaRPr sz="1000">
              <a:latin typeface="Arial"/>
              <a:cs typeface="Arial"/>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66713" y="3331252"/>
            <a:ext cx="1019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Bounding</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numerical</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deviation</a:t>
            </a:r>
            <a:endParaRPr sz="600">
              <a:latin typeface="Arial"/>
              <a:cs typeface="Arial"/>
            </a:endParaRPr>
          </a:p>
        </p:txBody>
      </p:sp>
      <p:sp>
        <p:nvSpPr>
          <p:cNvPr id="8" name="object 8"/>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
        <p:nvSpPr>
          <p:cNvPr id="2" name="object 2"/>
          <p:cNvSpPr txBox="1"/>
          <p:nvPr/>
        </p:nvSpPr>
        <p:spPr>
          <a:xfrm>
            <a:off x="66713" y="716"/>
            <a:ext cx="17570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Consistency</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and</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replication:</a:t>
            </a:r>
            <a:r>
              <a:rPr sz="600" spc="170" dirty="0">
                <a:solidFill>
                  <a:srgbClr val="3333B2"/>
                </a:solidFill>
                <a:latin typeface="Arial"/>
                <a:cs typeface="Arial"/>
              </a:rPr>
              <a:t> </a:t>
            </a: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protocols</a:t>
            </a:r>
            <a:endParaRPr sz="600">
              <a:latin typeface="Arial"/>
              <a:cs typeface="Arial"/>
            </a:endParaRPr>
          </a:p>
        </p:txBody>
      </p:sp>
      <p:sp>
        <p:nvSpPr>
          <p:cNvPr id="3" name="object 3"/>
          <p:cNvSpPr txBox="1"/>
          <p:nvPr/>
        </p:nvSpPr>
        <p:spPr>
          <a:xfrm>
            <a:off x="3714985" y="716"/>
            <a:ext cx="826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Continuous</a:t>
            </a:r>
            <a:r>
              <a:rPr sz="600" spc="-2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consistency</a:t>
            </a:r>
            <a:endParaRPr sz="600">
              <a:latin typeface="Arial"/>
              <a:cs typeface="Arial"/>
            </a:endParaRPr>
          </a:p>
        </p:txBody>
      </p:sp>
      <p:sp>
        <p:nvSpPr>
          <p:cNvPr id="4" name="object 4"/>
          <p:cNvSpPr txBox="1"/>
          <p:nvPr/>
        </p:nvSpPr>
        <p:spPr>
          <a:xfrm>
            <a:off x="82600" y="188846"/>
            <a:ext cx="4064635" cy="176276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Continuous</a:t>
            </a:r>
            <a:r>
              <a:rPr sz="1400" spc="-5" dirty="0">
                <a:solidFill>
                  <a:srgbClr val="3333B2"/>
                </a:solidFill>
                <a:latin typeface="Arial"/>
                <a:cs typeface="Arial"/>
              </a:rPr>
              <a:t> </a:t>
            </a:r>
            <a:r>
              <a:rPr sz="1400" spc="15" dirty="0">
                <a:solidFill>
                  <a:srgbClr val="3333B2"/>
                </a:solidFill>
                <a:latin typeface="Arial"/>
                <a:cs typeface="Arial"/>
              </a:rPr>
              <a:t>consistency:</a:t>
            </a:r>
            <a:r>
              <a:rPr sz="1400" spc="85" dirty="0">
                <a:solidFill>
                  <a:srgbClr val="3333B2"/>
                </a:solidFill>
                <a:latin typeface="Arial"/>
                <a:cs typeface="Arial"/>
              </a:rPr>
              <a:t> </a:t>
            </a:r>
            <a:r>
              <a:rPr sz="1400" spc="15" dirty="0">
                <a:solidFill>
                  <a:srgbClr val="3333B2"/>
                </a:solidFill>
                <a:latin typeface="Arial"/>
                <a:cs typeface="Arial"/>
              </a:rPr>
              <a:t>Numerical</a:t>
            </a:r>
            <a:r>
              <a:rPr sz="1400" spc="-5" dirty="0">
                <a:solidFill>
                  <a:srgbClr val="3333B2"/>
                </a:solidFill>
                <a:latin typeface="Arial"/>
                <a:cs typeface="Arial"/>
              </a:rPr>
              <a:t> </a:t>
            </a:r>
            <a:r>
              <a:rPr sz="1400" spc="15" dirty="0">
                <a:solidFill>
                  <a:srgbClr val="3333B2"/>
                </a:solidFill>
                <a:latin typeface="Arial"/>
                <a:cs typeface="Arial"/>
              </a:rPr>
              <a:t>errors</a:t>
            </a:r>
            <a:endParaRPr sz="1400">
              <a:latin typeface="Arial"/>
              <a:cs typeface="Arial"/>
            </a:endParaRPr>
          </a:p>
          <a:p>
            <a:pPr>
              <a:lnSpc>
                <a:spcPct val="100000"/>
              </a:lnSpc>
              <a:spcBef>
                <a:spcPts val="25"/>
              </a:spcBef>
            </a:pPr>
            <a:endParaRPr sz="2250">
              <a:latin typeface="Arial"/>
              <a:cs typeface="Arial"/>
            </a:endParaRPr>
          </a:p>
          <a:p>
            <a:pPr marL="276860">
              <a:lnSpc>
                <a:spcPts val="1410"/>
              </a:lnSpc>
            </a:pPr>
            <a:r>
              <a:rPr sz="1200" spc="-5" dirty="0">
                <a:solidFill>
                  <a:srgbClr val="3333B2"/>
                </a:solidFill>
                <a:latin typeface="Arial"/>
                <a:cs typeface="Arial"/>
              </a:rPr>
              <a:t>Solution</a:t>
            </a:r>
            <a:endParaRPr sz="1200">
              <a:latin typeface="Arial"/>
              <a:cs typeface="Arial"/>
            </a:endParaRPr>
          </a:p>
          <a:p>
            <a:pPr marL="276860" marR="43180">
              <a:lnSpc>
                <a:spcPts val="1200"/>
              </a:lnSpc>
              <a:spcBef>
                <a:spcPts val="15"/>
              </a:spcBef>
            </a:pPr>
            <a:r>
              <a:rPr sz="1000" i="1" spc="5" dirty="0">
                <a:latin typeface="Arial"/>
                <a:cs typeface="Arial"/>
              </a:rPr>
              <a:t>S</a:t>
            </a:r>
            <a:r>
              <a:rPr sz="1050" i="1" spc="7" baseline="-15873" dirty="0">
                <a:latin typeface="Arial"/>
                <a:cs typeface="Arial"/>
              </a:rPr>
              <a:t>k</a:t>
            </a:r>
            <a:r>
              <a:rPr sz="1050" i="1" spc="22" baseline="-15873" dirty="0">
                <a:latin typeface="Arial"/>
                <a:cs typeface="Arial"/>
              </a:rPr>
              <a:t> </a:t>
            </a:r>
            <a:r>
              <a:rPr sz="1000" spc="-5" dirty="0">
                <a:latin typeface="Arial"/>
                <a:cs typeface="Arial"/>
              </a:rPr>
              <a:t>sends operations</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its log</a:t>
            </a:r>
            <a:r>
              <a:rPr sz="1000" dirty="0">
                <a:latin typeface="Arial"/>
                <a:cs typeface="Arial"/>
              </a:rPr>
              <a:t> </a:t>
            </a:r>
            <a:r>
              <a:rPr sz="1000" spc="-5" dirty="0">
                <a:latin typeface="Arial"/>
                <a:cs typeface="Arial"/>
              </a:rPr>
              <a:t>to</a:t>
            </a:r>
            <a:r>
              <a:rPr sz="1000" dirty="0">
                <a:latin typeface="Arial"/>
                <a:cs typeface="Arial"/>
              </a:rPr>
              <a:t> </a:t>
            </a:r>
            <a:r>
              <a:rPr sz="1000" i="1" dirty="0">
                <a:latin typeface="Arial"/>
                <a:cs typeface="Arial"/>
              </a:rPr>
              <a:t>S</a:t>
            </a:r>
            <a:r>
              <a:rPr sz="1050" i="1" baseline="-15873" dirty="0">
                <a:latin typeface="Arial"/>
                <a:cs typeface="Arial"/>
              </a:rPr>
              <a:t>i</a:t>
            </a:r>
            <a:r>
              <a:rPr sz="1050" i="1" spc="15" baseline="-15873" dirty="0">
                <a:latin typeface="Arial"/>
                <a:cs typeface="Arial"/>
              </a:rPr>
              <a:t> </a:t>
            </a:r>
            <a:r>
              <a:rPr sz="1000" spc="-5" dirty="0">
                <a:solidFill>
                  <a:srgbClr val="0000FA"/>
                </a:solidFill>
                <a:latin typeface="Arial"/>
                <a:cs typeface="Arial"/>
              </a:rPr>
              <a:t>when</a:t>
            </a:r>
            <a:r>
              <a:rPr sz="1000" dirty="0">
                <a:solidFill>
                  <a:srgbClr val="0000FA"/>
                </a:solidFill>
                <a:latin typeface="Arial"/>
                <a:cs typeface="Arial"/>
              </a:rPr>
              <a:t> </a:t>
            </a:r>
            <a:r>
              <a:rPr sz="1000" spc="-5" dirty="0">
                <a:solidFill>
                  <a:srgbClr val="0000FA"/>
                </a:solidFill>
                <a:latin typeface="Arial"/>
                <a:cs typeface="Arial"/>
              </a:rPr>
              <a:t>it sees</a:t>
            </a:r>
            <a:r>
              <a:rPr sz="1000" dirty="0">
                <a:solidFill>
                  <a:srgbClr val="0000FA"/>
                </a:solidFill>
                <a:latin typeface="Arial"/>
                <a:cs typeface="Arial"/>
              </a:rPr>
              <a:t> </a:t>
            </a:r>
            <a:r>
              <a:rPr sz="1000" spc="-5" dirty="0">
                <a:solidFill>
                  <a:srgbClr val="0000FA"/>
                </a:solidFill>
                <a:latin typeface="Arial"/>
                <a:cs typeface="Arial"/>
              </a:rPr>
              <a:t>that</a:t>
            </a:r>
            <a:r>
              <a:rPr sz="1000" dirty="0">
                <a:solidFill>
                  <a:srgbClr val="0000FA"/>
                </a:solidFill>
                <a:latin typeface="Arial"/>
                <a:cs typeface="Arial"/>
              </a:rPr>
              <a:t> </a:t>
            </a:r>
            <a:r>
              <a:rPr sz="1000" i="1" dirty="0">
                <a:solidFill>
                  <a:srgbClr val="0000FA"/>
                </a:solidFill>
                <a:latin typeface="Arial"/>
                <a:cs typeface="Arial"/>
              </a:rPr>
              <a:t>TW</a:t>
            </a:r>
            <a:r>
              <a:rPr sz="1050" i="1" baseline="-15873" dirty="0">
                <a:solidFill>
                  <a:srgbClr val="0000FA"/>
                </a:solidFill>
                <a:latin typeface="Arial"/>
                <a:cs typeface="Arial"/>
              </a:rPr>
              <a:t>k</a:t>
            </a:r>
            <a:r>
              <a:rPr sz="1050" i="1" spc="-112" baseline="-15873" dirty="0">
                <a:solidFill>
                  <a:srgbClr val="0000FA"/>
                </a:solidFill>
                <a:latin typeface="Arial"/>
                <a:cs typeface="Arial"/>
              </a:rPr>
              <a:t> </a:t>
            </a:r>
            <a:r>
              <a:rPr sz="1000" spc="30" dirty="0">
                <a:solidFill>
                  <a:srgbClr val="0000FA"/>
                </a:solidFill>
                <a:latin typeface="Arial"/>
                <a:cs typeface="Arial"/>
              </a:rPr>
              <a:t>[</a:t>
            </a:r>
            <a:r>
              <a:rPr sz="1000" i="1" spc="30" dirty="0">
                <a:solidFill>
                  <a:srgbClr val="0000FA"/>
                </a:solidFill>
                <a:latin typeface="Arial"/>
                <a:cs typeface="Arial"/>
              </a:rPr>
              <a:t>i,</a:t>
            </a:r>
            <a:r>
              <a:rPr sz="1000" i="1" spc="-170" dirty="0">
                <a:solidFill>
                  <a:srgbClr val="0000FA"/>
                </a:solidFill>
                <a:latin typeface="Arial"/>
                <a:cs typeface="Arial"/>
              </a:rPr>
              <a:t> </a:t>
            </a:r>
            <a:r>
              <a:rPr sz="1000" i="1" spc="-5" dirty="0">
                <a:solidFill>
                  <a:srgbClr val="0000FA"/>
                </a:solidFill>
                <a:latin typeface="Arial"/>
                <a:cs typeface="Arial"/>
              </a:rPr>
              <a:t>k</a:t>
            </a:r>
            <a:r>
              <a:rPr sz="1000" i="1" spc="-175" dirty="0">
                <a:solidFill>
                  <a:srgbClr val="0000FA"/>
                </a:solidFill>
                <a:latin typeface="Arial"/>
                <a:cs typeface="Arial"/>
              </a:rPr>
              <a:t> </a:t>
            </a:r>
            <a:r>
              <a:rPr sz="1000" spc="5" dirty="0">
                <a:solidFill>
                  <a:srgbClr val="0000FA"/>
                </a:solidFill>
                <a:latin typeface="Arial"/>
                <a:cs typeface="Arial"/>
              </a:rPr>
              <a:t>]</a:t>
            </a:r>
            <a:r>
              <a:rPr sz="1000" spc="-5" dirty="0">
                <a:solidFill>
                  <a:srgbClr val="0000FA"/>
                </a:solidFill>
                <a:latin typeface="Arial"/>
                <a:cs typeface="Arial"/>
              </a:rPr>
              <a:t> is </a:t>
            </a:r>
            <a:r>
              <a:rPr sz="1000" spc="-265" dirty="0">
                <a:solidFill>
                  <a:srgbClr val="0000FA"/>
                </a:solidFill>
                <a:latin typeface="Arial"/>
                <a:cs typeface="Arial"/>
              </a:rPr>
              <a:t> </a:t>
            </a:r>
            <a:r>
              <a:rPr sz="1000" spc="-5" dirty="0">
                <a:solidFill>
                  <a:srgbClr val="0000FA"/>
                </a:solidFill>
                <a:latin typeface="Arial"/>
                <a:cs typeface="Arial"/>
              </a:rPr>
              <a:t>getting too </a:t>
            </a:r>
            <a:r>
              <a:rPr sz="1000" spc="-15" dirty="0">
                <a:solidFill>
                  <a:srgbClr val="0000FA"/>
                </a:solidFill>
                <a:latin typeface="Arial"/>
                <a:cs typeface="Arial"/>
              </a:rPr>
              <a:t>far</a:t>
            </a:r>
            <a:r>
              <a:rPr sz="1000" spc="-5" dirty="0">
                <a:solidFill>
                  <a:srgbClr val="0000FA"/>
                </a:solidFill>
                <a:latin typeface="Arial"/>
                <a:cs typeface="Arial"/>
              </a:rPr>
              <a:t> from </a:t>
            </a:r>
            <a:r>
              <a:rPr sz="1000" i="1" spc="-5" dirty="0">
                <a:solidFill>
                  <a:srgbClr val="0000FA"/>
                </a:solidFill>
                <a:latin typeface="Arial"/>
                <a:cs typeface="Arial"/>
              </a:rPr>
              <a:t>TW</a:t>
            </a:r>
            <a:r>
              <a:rPr sz="1000" i="1" spc="-145" dirty="0">
                <a:solidFill>
                  <a:srgbClr val="0000FA"/>
                </a:solidFill>
                <a:latin typeface="Arial"/>
                <a:cs typeface="Arial"/>
              </a:rPr>
              <a:t> </a:t>
            </a:r>
            <a:r>
              <a:rPr sz="1000" spc="30" dirty="0">
                <a:solidFill>
                  <a:srgbClr val="0000FA"/>
                </a:solidFill>
                <a:latin typeface="Arial"/>
                <a:cs typeface="Arial"/>
              </a:rPr>
              <a:t>[</a:t>
            </a:r>
            <a:r>
              <a:rPr sz="1000" i="1" spc="30" dirty="0">
                <a:solidFill>
                  <a:srgbClr val="0000FA"/>
                </a:solidFill>
                <a:latin typeface="Arial"/>
                <a:cs typeface="Arial"/>
              </a:rPr>
              <a:t>k,</a:t>
            </a:r>
            <a:r>
              <a:rPr sz="1000" i="1" spc="-170" dirty="0">
                <a:solidFill>
                  <a:srgbClr val="0000FA"/>
                </a:solidFill>
                <a:latin typeface="Arial"/>
                <a:cs typeface="Arial"/>
              </a:rPr>
              <a:t> </a:t>
            </a:r>
            <a:r>
              <a:rPr sz="1000" i="1" spc="-5" dirty="0">
                <a:solidFill>
                  <a:srgbClr val="0000FA"/>
                </a:solidFill>
                <a:latin typeface="Arial"/>
                <a:cs typeface="Arial"/>
              </a:rPr>
              <a:t>k</a:t>
            </a:r>
            <a:r>
              <a:rPr sz="1000" i="1" spc="-180" dirty="0">
                <a:solidFill>
                  <a:srgbClr val="0000FA"/>
                </a:solidFill>
                <a:latin typeface="Arial"/>
                <a:cs typeface="Arial"/>
              </a:rPr>
              <a:t> </a:t>
            </a:r>
            <a:r>
              <a:rPr sz="1000" dirty="0">
                <a:solidFill>
                  <a:srgbClr val="0000FA"/>
                </a:solidFill>
                <a:latin typeface="Arial"/>
                <a:cs typeface="Arial"/>
              </a:rPr>
              <a:t>]</a:t>
            </a:r>
            <a:r>
              <a:rPr sz="1000" dirty="0">
                <a:latin typeface="Arial"/>
                <a:cs typeface="Arial"/>
              </a:rPr>
              <a:t>,</a:t>
            </a:r>
            <a:r>
              <a:rPr sz="1000" spc="-5" dirty="0">
                <a:latin typeface="Arial"/>
                <a:cs typeface="Arial"/>
              </a:rPr>
              <a:t> in particular, when</a:t>
            </a:r>
            <a:endParaRPr sz="1000">
              <a:latin typeface="Arial"/>
              <a:cs typeface="Arial"/>
            </a:endParaRPr>
          </a:p>
          <a:p>
            <a:pPr marL="377825" algn="ctr">
              <a:lnSpc>
                <a:spcPct val="100000"/>
              </a:lnSpc>
              <a:spcBef>
                <a:spcPts val="944"/>
              </a:spcBef>
            </a:pPr>
            <a:r>
              <a:rPr sz="1000" i="1" spc="-5" dirty="0">
                <a:latin typeface="Arial"/>
                <a:cs typeface="Arial"/>
              </a:rPr>
              <a:t>TW</a:t>
            </a:r>
            <a:r>
              <a:rPr sz="1000" i="1" spc="-145" dirty="0">
                <a:latin typeface="Arial"/>
                <a:cs typeface="Arial"/>
              </a:rPr>
              <a:t> </a:t>
            </a:r>
            <a:r>
              <a:rPr sz="1000" spc="5" dirty="0">
                <a:latin typeface="Arial"/>
                <a:cs typeface="Arial"/>
              </a:rPr>
              <a:t>[</a:t>
            </a:r>
            <a:r>
              <a:rPr sz="1000" i="1" spc="90" dirty="0">
                <a:latin typeface="Arial"/>
                <a:cs typeface="Arial"/>
              </a:rPr>
              <a:t>k</a:t>
            </a:r>
            <a:r>
              <a:rPr sz="1000" i="1" spc="-5" dirty="0">
                <a:latin typeface="Arial"/>
                <a:cs typeface="Arial"/>
              </a:rPr>
              <a:t>,</a:t>
            </a:r>
            <a:r>
              <a:rPr sz="1000" i="1" spc="-170" dirty="0">
                <a:latin typeface="Arial"/>
                <a:cs typeface="Arial"/>
              </a:rPr>
              <a:t> </a:t>
            </a:r>
            <a:r>
              <a:rPr sz="1000" i="1" spc="-5" dirty="0">
                <a:latin typeface="Arial"/>
                <a:cs typeface="Arial"/>
              </a:rPr>
              <a:t>k</a:t>
            </a:r>
            <a:r>
              <a:rPr sz="1000" i="1" spc="-180" dirty="0">
                <a:latin typeface="Arial"/>
                <a:cs typeface="Arial"/>
              </a:rPr>
              <a:t> </a:t>
            </a:r>
            <a:r>
              <a:rPr sz="1000" spc="5" dirty="0">
                <a:latin typeface="Arial"/>
                <a:cs typeface="Arial"/>
              </a:rPr>
              <a:t>]</a:t>
            </a:r>
            <a:r>
              <a:rPr sz="1000" spc="-140" dirty="0">
                <a:latin typeface="Arial"/>
                <a:cs typeface="Arial"/>
              </a:rPr>
              <a:t> </a:t>
            </a:r>
            <a:r>
              <a:rPr sz="1000" i="1" spc="105" dirty="0">
                <a:latin typeface="メイリオ"/>
                <a:cs typeface="メイリオ"/>
              </a:rPr>
              <a:t>−</a:t>
            </a:r>
            <a:r>
              <a:rPr sz="1000" i="1" spc="-5" dirty="0">
                <a:latin typeface="Arial"/>
                <a:cs typeface="Arial"/>
              </a:rPr>
              <a:t>T</a:t>
            </a:r>
            <a:r>
              <a:rPr sz="1000" i="1" spc="-10" dirty="0">
                <a:latin typeface="Arial"/>
                <a:cs typeface="Arial"/>
              </a:rPr>
              <a:t>W</a:t>
            </a:r>
            <a:r>
              <a:rPr sz="1050" i="1" spc="22" baseline="-15873" dirty="0">
                <a:latin typeface="Arial"/>
                <a:cs typeface="Arial"/>
              </a:rPr>
              <a:t>k</a:t>
            </a:r>
            <a:r>
              <a:rPr sz="1050" i="1" spc="-112" baseline="-15873" dirty="0">
                <a:latin typeface="Arial"/>
                <a:cs typeface="Arial"/>
              </a:rPr>
              <a:t> </a:t>
            </a:r>
            <a:r>
              <a:rPr sz="1000" spc="5" dirty="0">
                <a:latin typeface="Arial"/>
                <a:cs typeface="Arial"/>
              </a:rPr>
              <a:t>[</a:t>
            </a:r>
            <a:r>
              <a:rPr sz="1000" i="1" spc="80" dirty="0">
                <a:latin typeface="Arial"/>
                <a:cs typeface="Arial"/>
              </a:rPr>
              <a:t>i</a:t>
            </a:r>
            <a:r>
              <a:rPr sz="1000" i="1" spc="-5" dirty="0">
                <a:latin typeface="Arial"/>
                <a:cs typeface="Arial"/>
              </a:rPr>
              <a:t>,</a:t>
            </a:r>
            <a:r>
              <a:rPr sz="1000" i="1" spc="-170" dirty="0">
                <a:latin typeface="Arial"/>
                <a:cs typeface="Arial"/>
              </a:rPr>
              <a:t> </a:t>
            </a:r>
            <a:r>
              <a:rPr sz="1000" i="1" spc="-5" dirty="0">
                <a:latin typeface="Arial"/>
                <a:cs typeface="Arial"/>
              </a:rPr>
              <a:t>k</a:t>
            </a:r>
            <a:r>
              <a:rPr sz="1000" i="1" spc="-180" dirty="0">
                <a:latin typeface="Arial"/>
                <a:cs typeface="Arial"/>
              </a:rPr>
              <a:t> </a:t>
            </a:r>
            <a:r>
              <a:rPr sz="1000" spc="5" dirty="0">
                <a:latin typeface="Arial"/>
                <a:cs typeface="Arial"/>
              </a:rPr>
              <a:t>]</a:t>
            </a:r>
            <a:r>
              <a:rPr sz="1000" spc="-60" dirty="0">
                <a:latin typeface="Arial"/>
                <a:cs typeface="Arial"/>
              </a:rPr>
              <a:t> </a:t>
            </a:r>
            <a:r>
              <a:rPr sz="1000" i="1" spc="190" dirty="0">
                <a:latin typeface="Arial"/>
                <a:cs typeface="Arial"/>
              </a:rPr>
              <a:t>&gt;</a:t>
            </a:r>
            <a:r>
              <a:rPr sz="1000" i="1" spc="-60" dirty="0">
                <a:latin typeface="Arial"/>
                <a:cs typeface="Arial"/>
              </a:rPr>
              <a:t> </a:t>
            </a:r>
            <a:r>
              <a:rPr sz="1000" i="1" spc="-65" dirty="0">
                <a:latin typeface="Arial"/>
                <a:cs typeface="Arial"/>
              </a:rPr>
              <a:t>δ</a:t>
            </a:r>
            <a:r>
              <a:rPr sz="1050" i="1" spc="7" baseline="-15873" dirty="0">
                <a:latin typeface="Arial"/>
                <a:cs typeface="Arial"/>
              </a:rPr>
              <a:t>i</a:t>
            </a:r>
            <a:r>
              <a:rPr sz="1050" i="1" spc="-127" baseline="-15873" dirty="0">
                <a:latin typeface="Arial"/>
                <a:cs typeface="Arial"/>
              </a:rPr>
              <a:t> </a:t>
            </a:r>
            <a:r>
              <a:rPr sz="1000" i="1" spc="220" dirty="0">
                <a:latin typeface="Arial"/>
                <a:cs typeface="Arial"/>
              </a:rPr>
              <a:t>/</a:t>
            </a:r>
            <a:r>
              <a:rPr sz="1000" spc="50" dirty="0">
                <a:latin typeface="Arial"/>
                <a:cs typeface="Arial"/>
              </a:rPr>
              <a:t>(</a:t>
            </a:r>
            <a:r>
              <a:rPr sz="1000" i="1" spc="-5" dirty="0">
                <a:latin typeface="Arial"/>
                <a:cs typeface="Arial"/>
              </a:rPr>
              <a:t>N</a:t>
            </a:r>
            <a:r>
              <a:rPr sz="1000" i="1" spc="-65" dirty="0">
                <a:latin typeface="Arial"/>
                <a:cs typeface="Arial"/>
              </a:rPr>
              <a:t> </a:t>
            </a:r>
            <a:r>
              <a:rPr sz="1000" i="1" spc="-30" dirty="0">
                <a:latin typeface="メイリオ"/>
                <a:cs typeface="メイリオ"/>
              </a:rPr>
              <a:t>−</a:t>
            </a:r>
            <a:r>
              <a:rPr sz="1000" i="1" spc="-204" dirty="0">
                <a:latin typeface="メイリオ"/>
                <a:cs typeface="メイリオ"/>
              </a:rPr>
              <a:t> </a:t>
            </a:r>
            <a:r>
              <a:rPr sz="1000" spc="-5" dirty="0">
                <a:latin typeface="Arial"/>
                <a:cs typeface="Arial"/>
              </a:rPr>
              <a:t>1</a:t>
            </a:r>
            <a:r>
              <a:rPr sz="1000" spc="50" dirty="0">
                <a:latin typeface="Arial"/>
                <a:cs typeface="Arial"/>
              </a:rPr>
              <a:t>)</a:t>
            </a:r>
            <a:endParaRPr sz="1000">
              <a:latin typeface="Arial"/>
              <a:cs typeface="Arial"/>
            </a:endParaRPr>
          </a:p>
          <a:p>
            <a:pPr>
              <a:lnSpc>
                <a:spcPct val="100000"/>
              </a:lnSpc>
              <a:spcBef>
                <a:spcPts val="40"/>
              </a:spcBef>
            </a:pPr>
            <a:endParaRPr sz="1650">
              <a:latin typeface="Arial"/>
              <a:cs typeface="Arial"/>
            </a:endParaRPr>
          </a:p>
          <a:p>
            <a:pPr marL="276860">
              <a:lnSpc>
                <a:spcPct val="100000"/>
              </a:lnSpc>
            </a:pPr>
            <a:r>
              <a:rPr sz="1200" spc="-5" dirty="0">
                <a:solidFill>
                  <a:srgbClr val="3333B2"/>
                </a:solidFill>
                <a:latin typeface="Arial"/>
                <a:cs typeface="Arial"/>
              </a:rPr>
              <a:t>Question</a:t>
            </a:r>
            <a:endParaRPr sz="1200">
              <a:latin typeface="Arial"/>
              <a:cs typeface="Arial"/>
            </a:endParaRPr>
          </a:p>
        </p:txBody>
      </p:sp>
      <p:sp>
        <p:nvSpPr>
          <p:cNvPr id="5" name="object 5"/>
          <p:cNvSpPr txBox="1"/>
          <p:nvPr/>
        </p:nvSpPr>
        <p:spPr>
          <a:xfrm>
            <a:off x="317982" y="1925718"/>
            <a:ext cx="3919854" cy="177800"/>
          </a:xfrm>
          <a:prstGeom prst="rect">
            <a:avLst/>
          </a:prstGeom>
        </p:spPr>
        <p:txBody>
          <a:bodyPr vert="horz" wrap="square" lIns="0" tIns="12065" rIns="0" bIns="0" rtlCol="0">
            <a:spAutoFit/>
          </a:bodyPr>
          <a:lstStyle/>
          <a:p>
            <a:pPr marL="38100">
              <a:lnSpc>
                <a:spcPct val="100000"/>
              </a:lnSpc>
              <a:spcBef>
                <a:spcPts val="95"/>
              </a:spcBef>
            </a:pPr>
            <a:r>
              <a:rPr sz="1000" spc="-65" dirty="0">
                <a:latin typeface="Arial"/>
                <a:cs typeface="Arial"/>
              </a:rPr>
              <a:t>To</a:t>
            </a:r>
            <a:r>
              <a:rPr sz="1000" spc="-5" dirty="0">
                <a:latin typeface="Arial"/>
                <a:cs typeface="Arial"/>
              </a:rPr>
              <a:t> what</a:t>
            </a:r>
            <a:r>
              <a:rPr sz="1000" dirty="0">
                <a:latin typeface="Arial"/>
                <a:cs typeface="Arial"/>
              </a:rPr>
              <a:t> </a:t>
            </a:r>
            <a:r>
              <a:rPr sz="1000" spc="-10" dirty="0">
                <a:latin typeface="Arial"/>
                <a:cs typeface="Arial"/>
              </a:rPr>
              <a:t>extent</a:t>
            </a:r>
            <a:r>
              <a:rPr sz="1000" dirty="0">
                <a:latin typeface="Arial"/>
                <a:cs typeface="Arial"/>
              </a:rPr>
              <a:t> </a:t>
            </a:r>
            <a:r>
              <a:rPr sz="1000" spc="-5" dirty="0">
                <a:latin typeface="Arial"/>
                <a:cs typeface="Arial"/>
              </a:rPr>
              <a:t>are</a:t>
            </a:r>
            <a:r>
              <a:rPr sz="1000" dirty="0">
                <a:latin typeface="Arial"/>
                <a:cs typeface="Arial"/>
              </a:rPr>
              <a:t> </a:t>
            </a:r>
            <a:r>
              <a:rPr sz="1000" spc="-10" dirty="0">
                <a:latin typeface="Arial"/>
                <a:cs typeface="Arial"/>
              </a:rPr>
              <a:t>we</a:t>
            </a:r>
            <a:r>
              <a:rPr sz="1000" dirty="0">
                <a:latin typeface="Arial"/>
                <a:cs typeface="Arial"/>
              </a:rPr>
              <a:t> </a:t>
            </a:r>
            <a:r>
              <a:rPr sz="1000" spc="-5" dirty="0">
                <a:latin typeface="Arial"/>
                <a:cs typeface="Arial"/>
              </a:rPr>
              <a:t>being</a:t>
            </a:r>
            <a:r>
              <a:rPr sz="1000" dirty="0">
                <a:latin typeface="Arial"/>
                <a:cs typeface="Arial"/>
              </a:rPr>
              <a:t> </a:t>
            </a:r>
            <a:r>
              <a:rPr sz="1000" spc="-5" dirty="0">
                <a:solidFill>
                  <a:srgbClr val="FA0000"/>
                </a:solidFill>
                <a:latin typeface="Arial"/>
                <a:cs typeface="Arial"/>
              </a:rPr>
              <a:t>pessimistic</a:t>
            </a:r>
            <a:r>
              <a:rPr sz="1000" dirty="0">
                <a:solidFill>
                  <a:srgbClr val="FA0000"/>
                </a:solidFill>
                <a:latin typeface="Arial"/>
                <a:cs typeface="Arial"/>
              </a:rPr>
              <a:t> </a:t>
            </a:r>
            <a:r>
              <a:rPr sz="1000" spc="-5" dirty="0">
                <a:latin typeface="Arial"/>
                <a:cs typeface="Arial"/>
              </a:rPr>
              <a:t>here:</a:t>
            </a:r>
            <a:r>
              <a:rPr sz="1000" spc="65" dirty="0">
                <a:latin typeface="Arial"/>
                <a:cs typeface="Arial"/>
              </a:rPr>
              <a:t> </a:t>
            </a:r>
            <a:r>
              <a:rPr sz="1000" spc="-5" dirty="0">
                <a:latin typeface="Arial"/>
                <a:cs typeface="Arial"/>
              </a:rPr>
              <a:t>where does</a:t>
            </a:r>
            <a:r>
              <a:rPr sz="1000" dirty="0">
                <a:latin typeface="Arial"/>
                <a:cs typeface="Arial"/>
              </a:rPr>
              <a:t> </a:t>
            </a:r>
            <a:r>
              <a:rPr sz="1000" i="1" spc="-35" dirty="0">
                <a:latin typeface="Arial"/>
                <a:cs typeface="Arial"/>
              </a:rPr>
              <a:t>δ</a:t>
            </a:r>
            <a:r>
              <a:rPr sz="1050" i="1" spc="-52" baseline="-15873" dirty="0">
                <a:latin typeface="Arial"/>
                <a:cs typeface="Arial"/>
              </a:rPr>
              <a:t>i</a:t>
            </a:r>
            <a:r>
              <a:rPr sz="1050" i="1" spc="-120" baseline="-15873" dirty="0">
                <a:latin typeface="Arial"/>
                <a:cs typeface="Arial"/>
              </a:rPr>
              <a:t> </a:t>
            </a:r>
            <a:r>
              <a:rPr sz="1000" i="1" spc="90" dirty="0">
                <a:latin typeface="Arial"/>
                <a:cs typeface="Arial"/>
              </a:rPr>
              <a:t>/</a:t>
            </a:r>
            <a:r>
              <a:rPr sz="1000" spc="90" dirty="0">
                <a:latin typeface="Arial"/>
                <a:cs typeface="Arial"/>
              </a:rPr>
              <a:t>(</a:t>
            </a:r>
            <a:r>
              <a:rPr sz="1000" i="1" spc="90" dirty="0">
                <a:latin typeface="Arial"/>
                <a:cs typeface="Arial"/>
              </a:rPr>
              <a:t>N</a:t>
            </a:r>
            <a:r>
              <a:rPr sz="1000" i="1" spc="-65" dirty="0">
                <a:latin typeface="Arial"/>
                <a:cs typeface="Arial"/>
              </a:rPr>
              <a:t> </a:t>
            </a:r>
            <a:r>
              <a:rPr sz="1000" i="1" spc="-30" dirty="0">
                <a:latin typeface="メイリオ"/>
                <a:cs typeface="メイリオ"/>
              </a:rPr>
              <a:t>−</a:t>
            </a:r>
            <a:r>
              <a:rPr sz="1000" i="1" spc="-200" dirty="0">
                <a:latin typeface="メイリオ"/>
                <a:cs typeface="メイリオ"/>
              </a:rPr>
              <a:t> </a:t>
            </a:r>
            <a:r>
              <a:rPr sz="1000" spc="25" dirty="0">
                <a:latin typeface="Arial"/>
                <a:cs typeface="Arial"/>
              </a:rPr>
              <a:t>1)</a:t>
            </a:r>
            <a:endParaRPr sz="1000">
              <a:latin typeface="Arial"/>
              <a:cs typeface="Arial"/>
            </a:endParaRPr>
          </a:p>
        </p:txBody>
      </p:sp>
      <p:sp>
        <p:nvSpPr>
          <p:cNvPr id="6" name="object 6"/>
          <p:cNvSpPr txBox="1"/>
          <p:nvPr/>
        </p:nvSpPr>
        <p:spPr>
          <a:xfrm>
            <a:off x="317347" y="2003747"/>
            <a:ext cx="3815079" cy="819150"/>
          </a:xfrm>
          <a:prstGeom prst="rect">
            <a:avLst/>
          </a:prstGeom>
        </p:spPr>
        <p:txBody>
          <a:bodyPr vert="horz" wrap="square" lIns="0" tIns="85725" rIns="0" bIns="0" rtlCol="0">
            <a:spAutoFit/>
          </a:bodyPr>
          <a:lstStyle/>
          <a:p>
            <a:pPr marL="42545">
              <a:lnSpc>
                <a:spcPct val="100000"/>
              </a:lnSpc>
              <a:spcBef>
                <a:spcPts val="675"/>
              </a:spcBef>
            </a:pPr>
            <a:r>
              <a:rPr sz="1000" spc="-5" dirty="0">
                <a:latin typeface="Arial"/>
                <a:cs typeface="Arial"/>
              </a:rPr>
              <a:t>come</a:t>
            </a:r>
            <a:r>
              <a:rPr sz="1000" spc="-40" dirty="0">
                <a:latin typeface="Arial"/>
                <a:cs typeface="Arial"/>
              </a:rPr>
              <a:t> </a:t>
            </a:r>
            <a:r>
              <a:rPr sz="1000" spc="-5" dirty="0">
                <a:latin typeface="Arial"/>
                <a:cs typeface="Arial"/>
              </a:rPr>
              <a:t>from?</a:t>
            </a:r>
            <a:endParaRPr sz="1000">
              <a:latin typeface="Arial"/>
              <a:cs typeface="Arial"/>
            </a:endParaRPr>
          </a:p>
          <a:p>
            <a:pPr marL="42545">
              <a:lnSpc>
                <a:spcPts val="1410"/>
              </a:lnSpc>
              <a:spcBef>
                <a:spcPts val="695"/>
              </a:spcBef>
            </a:pPr>
            <a:r>
              <a:rPr sz="1200" spc="-5" dirty="0">
                <a:solidFill>
                  <a:srgbClr val="FA0000"/>
                </a:solidFill>
                <a:latin typeface="Arial"/>
                <a:cs typeface="Arial"/>
              </a:rPr>
              <a:t>Note</a:t>
            </a:r>
            <a:endParaRPr sz="1200">
              <a:latin typeface="Arial"/>
              <a:cs typeface="Arial"/>
            </a:endParaRPr>
          </a:p>
          <a:p>
            <a:pPr marL="38100" marR="30480" indent="4445">
              <a:lnSpc>
                <a:spcPts val="1200"/>
              </a:lnSpc>
              <a:spcBef>
                <a:spcPts val="10"/>
              </a:spcBef>
            </a:pPr>
            <a:r>
              <a:rPr sz="1000" spc="-5" dirty="0">
                <a:latin typeface="Arial"/>
                <a:cs typeface="Arial"/>
              </a:rPr>
              <a:t>Staleness</a:t>
            </a:r>
            <a:r>
              <a:rPr sz="1000" dirty="0">
                <a:latin typeface="Arial"/>
                <a:cs typeface="Arial"/>
              </a:rPr>
              <a:t> </a:t>
            </a:r>
            <a:r>
              <a:rPr sz="1000" spc="-5" dirty="0">
                <a:latin typeface="Arial"/>
                <a:cs typeface="Arial"/>
              </a:rPr>
              <a:t>can</a:t>
            </a:r>
            <a:r>
              <a:rPr sz="1000" spc="5"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done</a:t>
            </a:r>
            <a:r>
              <a:rPr sz="1000" spc="5" dirty="0">
                <a:latin typeface="Arial"/>
                <a:cs typeface="Arial"/>
              </a:rPr>
              <a:t> </a:t>
            </a:r>
            <a:r>
              <a:rPr sz="1000" spc="-15" dirty="0">
                <a:latin typeface="Arial"/>
                <a:cs typeface="Arial"/>
              </a:rPr>
              <a:t>analogously,</a:t>
            </a:r>
            <a:r>
              <a:rPr sz="1000" dirty="0">
                <a:latin typeface="Arial"/>
                <a:cs typeface="Arial"/>
              </a:rPr>
              <a:t> </a:t>
            </a:r>
            <a:r>
              <a:rPr sz="1000" spc="-15" dirty="0">
                <a:latin typeface="Arial"/>
                <a:cs typeface="Arial"/>
              </a:rPr>
              <a:t>by</a:t>
            </a:r>
            <a:r>
              <a:rPr sz="1000" spc="5" dirty="0">
                <a:latin typeface="Arial"/>
                <a:cs typeface="Arial"/>
              </a:rPr>
              <a:t> </a:t>
            </a:r>
            <a:r>
              <a:rPr sz="1000" spc="-5" dirty="0">
                <a:latin typeface="Arial"/>
                <a:cs typeface="Arial"/>
              </a:rPr>
              <a:t>essentially</a:t>
            </a:r>
            <a:r>
              <a:rPr sz="1000" spc="5" dirty="0">
                <a:latin typeface="Arial"/>
                <a:cs typeface="Arial"/>
              </a:rPr>
              <a:t> </a:t>
            </a:r>
            <a:r>
              <a:rPr sz="1000" spc="-5" dirty="0">
                <a:latin typeface="Arial"/>
                <a:cs typeface="Arial"/>
              </a:rPr>
              <a:t>keeping</a:t>
            </a:r>
            <a:r>
              <a:rPr sz="1000" dirty="0">
                <a:latin typeface="Arial"/>
                <a:cs typeface="Arial"/>
              </a:rPr>
              <a:t> </a:t>
            </a:r>
            <a:r>
              <a:rPr sz="1000" spc="-10" dirty="0">
                <a:latin typeface="Arial"/>
                <a:cs typeface="Arial"/>
              </a:rPr>
              <a:t>track</a:t>
            </a:r>
            <a:r>
              <a:rPr sz="1000" spc="5" dirty="0">
                <a:latin typeface="Arial"/>
                <a:cs typeface="Arial"/>
              </a:rPr>
              <a:t> </a:t>
            </a:r>
            <a:r>
              <a:rPr sz="1000" spc="-5" dirty="0">
                <a:latin typeface="Arial"/>
                <a:cs typeface="Arial"/>
              </a:rPr>
              <a:t>of </a:t>
            </a:r>
            <a:r>
              <a:rPr sz="1000" spc="-265" dirty="0">
                <a:latin typeface="Arial"/>
                <a:cs typeface="Arial"/>
              </a:rPr>
              <a:t> </a:t>
            </a:r>
            <a:r>
              <a:rPr sz="1000" spc="-5" dirty="0">
                <a:latin typeface="Arial"/>
                <a:cs typeface="Arial"/>
              </a:rPr>
              <a:t>what has been seen last from </a:t>
            </a:r>
            <a:r>
              <a:rPr sz="1000" i="1" dirty="0">
                <a:latin typeface="Arial"/>
                <a:cs typeface="Arial"/>
              </a:rPr>
              <a:t>S</a:t>
            </a:r>
            <a:r>
              <a:rPr sz="1050" i="1" baseline="-15873" dirty="0">
                <a:latin typeface="Arial"/>
                <a:cs typeface="Arial"/>
              </a:rPr>
              <a:t>i</a:t>
            </a:r>
            <a:r>
              <a:rPr sz="1050" i="1" spc="7" baseline="-15873" dirty="0">
                <a:latin typeface="Arial"/>
                <a:cs typeface="Arial"/>
              </a:rPr>
              <a:t> </a:t>
            </a:r>
            <a:r>
              <a:rPr sz="1000" spc="-5" dirty="0">
                <a:latin typeface="Arial"/>
                <a:cs typeface="Arial"/>
              </a:rPr>
              <a:t>(see book).</a:t>
            </a:r>
            <a:endParaRPr sz="1000">
              <a:latin typeface="Arial"/>
              <a:cs typeface="Arial"/>
            </a:endParaRP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7570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Consistency</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and</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replication:</a:t>
            </a:r>
            <a:r>
              <a:rPr sz="600" spc="175" dirty="0">
                <a:solidFill>
                  <a:srgbClr val="3333B2"/>
                </a:solidFill>
                <a:latin typeface="Arial"/>
                <a:cs typeface="Arial"/>
              </a:rPr>
              <a:t> </a:t>
            </a:r>
            <a:r>
              <a:rPr sz="600" spc="-5" dirty="0">
                <a:solidFill>
                  <a:srgbClr val="3333B2"/>
                </a:solidFill>
                <a:latin typeface="Arial"/>
                <a:cs typeface="Arial"/>
                <a:hlinkClick r:id="rId3" action="ppaction://hlinksldjump"/>
              </a:rPr>
              <a:t>Consistency</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protocols</a:t>
            </a:r>
            <a:endParaRPr sz="600">
              <a:latin typeface="Arial"/>
              <a:cs typeface="Arial"/>
            </a:endParaRPr>
          </a:p>
        </p:txBody>
      </p:sp>
      <p:sp>
        <p:nvSpPr>
          <p:cNvPr id="3" name="object 3"/>
          <p:cNvSpPr txBox="1"/>
          <p:nvPr/>
        </p:nvSpPr>
        <p:spPr>
          <a:xfrm>
            <a:off x="2866249" y="716"/>
            <a:ext cx="16751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Sequential</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consistency:</a:t>
            </a:r>
            <a:r>
              <a:rPr sz="600" spc="45" dirty="0">
                <a:solidFill>
                  <a:srgbClr val="262685"/>
                </a:solidFill>
                <a:latin typeface="Arial"/>
                <a:cs typeface="Arial"/>
                <a:hlinkClick r:id="rId4" action="ppaction://hlinksldjump"/>
              </a:rPr>
              <a:t> </a:t>
            </a:r>
            <a:r>
              <a:rPr sz="600" dirty="0">
                <a:solidFill>
                  <a:srgbClr val="262685"/>
                </a:solidFill>
                <a:latin typeface="Arial"/>
                <a:cs typeface="Arial"/>
                <a:hlinkClick r:id="rId4" action="ppaction://hlinksldjump"/>
              </a:rPr>
              <a:t>Primary-based </a:t>
            </a:r>
            <a:r>
              <a:rPr sz="600" spc="-5" dirty="0">
                <a:solidFill>
                  <a:srgbClr val="262685"/>
                </a:solidFill>
                <a:latin typeface="Arial"/>
                <a:cs typeface="Arial"/>
                <a:hlinkClick r:id="rId4" action="ppaction://hlinksldjump"/>
              </a:rPr>
              <a:t>protocols</a:t>
            </a:r>
            <a:endParaRPr sz="600">
              <a:latin typeface="Arial"/>
              <a:cs typeface="Arial"/>
            </a:endParaRPr>
          </a:p>
        </p:txBody>
      </p:sp>
      <p:sp>
        <p:nvSpPr>
          <p:cNvPr id="4" name="object 4"/>
          <p:cNvSpPr txBox="1"/>
          <p:nvPr/>
        </p:nvSpPr>
        <p:spPr>
          <a:xfrm>
            <a:off x="95300" y="188846"/>
            <a:ext cx="2008505"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Primary-based</a:t>
            </a:r>
            <a:r>
              <a:rPr sz="1400" spc="-55" dirty="0">
                <a:solidFill>
                  <a:srgbClr val="3333B2"/>
                </a:solidFill>
                <a:latin typeface="Arial"/>
                <a:cs typeface="Arial"/>
              </a:rPr>
              <a:t> </a:t>
            </a:r>
            <a:r>
              <a:rPr sz="1400" spc="15" dirty="0">
                <a:solidFill>
                  <a:srgbClr val="3333B2"/>
                </a:solidFill>
                <a:latin typeface="Arial"/>
                <a:cs typeface="Arial"/>
              </a:rPr>
              <a:t>protocols</a:t>
            </a:r>
            <a:endParaRPr sz="1400">
              <a:latin typeface="Arial"/>
              <a:cs typeface="Arial"/>
            </a:endParaRPr>
          </a:p>
        </p:txBody>
      </p:sp>
      <p:grpSp>
        <p:nvGrpSpPr>
          <p:cNvPr id="5" name="object 5"/>
          <p:cNvGrpSpPr/>
          <p:nvPr/>
        </p:nvGrpSpPr>
        <p:grpSpPr>
          <a:xfrm>
            <a:off x="712082" y="778281"/>
            <a:ext cx="2755265" cy="1201420"/>
            <a:chOff x="712082" y="778281"/>
            <a:chExt cx="2755265" cy="1201420"/>
          </a:xfrm>
        </p:grpSpPr>
        <p:sp>
          <p:nvSpPr>
            <p:cNvPr id="6" name="object 6"/>
            <p:cNvSpPr/>
            <p:nvPr/>
          </p:nvSpPr>
          <p:spPr>
            <a:xfrm>
              <a:off x="714940" y="781138"/>
              <a:ext cx="2749550" cy="1195705"/>
            </a:xfrm>
            <a:custGeom>
              <a:avLst/>
              <a:gdLst/>
              <a:ahLst/>
              <a:cxnLst/>
              <a:rect l="l" t="t" r="r" b="b"/>
              <a:pathLst>
                <a:path w="2749550" h="1195705">
                  <a:moveTo>
                    <a:pt x="1641665" y="1623"/>
                  </a:moveTo>
                  <a:lnTo>
                    <a:pt x="1820936" y="1623"/>
                  </a:lnTo>
                  <a:lnTo>
                    <a:pt x="1820936" y="180904"/>
                  </a:lnTo>
                  <a:lnTo>
                    <a:pt x="1641665" y="180904"/>
                  </a:lnTo>
                  <a:lnTo>
                    <a:pt x="1641665" y="1623"/>
                  </a:lnTo>
                  <a:close/>
                </a:path>
                <a:path w="2749550" h="1195705">
                  <a:moveTo>
                    <a:pt x="147660" y="0"/>
                  </a:moveTo>
                  <a:lnTo>
                    <a:pt x="326939" y="0"/>
                  </a:lnTo>
                  <a:lnTo>
                    <a:pt x="326939" y="179281"/>
                  </a:lnTo>
                  <a:lnTo>
                    <a:pt x="147660" y="179281"/>
                  </a:lnTo>
                  <a:lnTo>
                    <a:pt x="147660" y="0"/>
                  </a:lnTo>
                  <a:close/>
                </a:path>
                <a:path w="2749550" h="1195705">
                  <a:moveTo>
                    <a:pt x="119525" y="478076"/>
                  </a:moveTo>
                  <a:lnTo>
                    <a:pt x="2629441" y="478076"/>
                  </a:lnTo>
                  <a:lnTo>
                    <a:pt x="2675848" y="487506"/>
                  </a:lnTo>
                  <a:lnTo>
                    <a:pt x="2713854" y="513183"/>
                  </a:lnTo>
                  <a:lnTo>
                    <a:pt x="2739534" y="551184"/>
                  </a:lnTo>
                  <a:lnTo>
                    <a:pt x="2748966" y="597590"/>
                  </a:lnTo>
                  <a:lnTo>
                    <a:pt x="2748966" y="1075677"/>
                  </a:lnTo>
                  <a:lnTo>
                    <a:pt x="2739534" y="1122082"/>
                  </a:lnTo>
                  <a:lnTo>
                    <a:pt x="2713854" y="1160083"/>
                  </a:lnTo>
                  <a:lnTo>
                    <a:pt x="2675848" y="1185759"/>
                  </a:lnTo>
                  <a:lnTo>
                    <a:pt x="2629441" y="1195190"/>
                  </a:lnTo>
                  <a:lnTo>
                    <a:pt x="119525" y="1195190"/>
                  </a:lnTo>
                  <a:lnTo>
                    <a:pt x="73116" y="1185759"/>
                  </a:lnTo>
                  <a:lnTo>
                    <a:pt x="35111" y="1160083"/>
                  </a:lnTo>
                  <a:lnTo>
                    <a:pt x="9431" y="1122082"/>
                  </a:lnTo>
                  <a:lnTo>
                    <a:pt x="0" y="1075677"/>
                  </a:lnTo>
                  <a:lnTo>
                    <a:pt x="0" y="597590"/>
                  </a:lnTo>
                  <a:lnTo>
                    <a:pt x="9431" y="551184"/>
                  </a:lnTo>
                  <a:lnTo>
                    <a:pt x="35111" y="513183"/>
                  </a:lnTo>
                  <a:lnTo>
                    <a:pt x="73116" y="487506"/>
                  </a:lnTo>
                  <a:lnTo>
                    <a:pt x="119525" y="478076"/>
                  </a:lnTo>
                  <a:close/>
                </a:path>
              </a:pathLst>
            </a:custGeom>
            <a:ln w="5270">
              <a:solidFill>
                <a:srgbClr val="231F20"/>
              </a:solidFill>
            </a:ln>
          </p:spPr>
          <p:txBody>
            <a:bodyPr wrap="square" lIns="0" tIns="0" rIns="0" bIns="0" rtlCol="0"/>
            <a:lstStyle/>
            <a:p>
              <a:endParaRPr/>
            </a:p>
          </p:txBody>
        </p:sp>
        <p:sp>
          <p:nvSpPr>
            <p:cNvPr id="7" name="object 7"/>
            <p:cNvSpPr/>
            <p:nvPr/>
          </p:nvSpPr>
          <p:spPr>
            <a:xfrm>
              <a:off x="816607" y="1348856"/>
              <a:ext cx="283210" cy="75565"/>
            </a:xfrm>
            <a:custGeom>
              <a:avLst/>
              <a:gdLst/>
              <a:ahLst/>
              <a:cxnLst/>
              <a:rect l="l" t="t" r="r" b="b"/>
              <a:pathLst>
                <a:path w="283209" h="75565">
                  <a:moveTo>
                    <a:pt x="141376" y="0"/>
                  </a:moveTo>
                  <a:lnTo>
                    <a:pt x="86436" y="2971"/>
                  </a:lnTo>
                  <a:lnTo>
                    <a:pt x="41488" y="11064"/>
                  </a:lnTo>
                  <a:lnTo>
                    <a:pt x="11140" y="23048"/>
                  </a:lnTo>
                  <a:lnTo>
                    <a:pt x="0" y="37694"/>
                  </a:lnTo>
                  <a:lnTo>
                    <a:pt x="11140" y="52346"/>
                  </a:lnTo>
                  <a:lnTo>
                    <a:pt x="41488" y="64334"/>
                  </a:lnTo>
                  <a:lnTo>
                    <a:pt x="86436" y="72428"/>
                  </a:lnTo>
                  <a:lnTo>
                    <a:pt x="141376" y="75399"/>
                  </a:lnTo>
                  <a:lnTo>
                    <a:pt x="196316" y="72428"/>
                  </a:lnTo>
                  <a:lnTo>
                    <a:pt x="241263" y="64334"/>
                  </a:lnTo>
                  <a:lnTo>
                    <a:pt x="271610" y="52346"/>
                  </a:lnTo>
                  <a:lnTo>
                    <a:pt x="282750" y="37694"/>
                  </a:lnTo>
                  <a:lnTo>
                    <a:pt x="271610" y="23048"/>
                  </a:lnTo>
                  <a:lnTo>
                    <a:pt x="241263" y="11064"/>
                  </a:lnTo>
                  <a:lnTo>
                    <a:pt x="196316" y="2971"/>
                  </a:lnTo>
                  <a:lnTo>
                    <a:pt x="141376" y="0"/>
                  </a:lnTo>
                  <a:close/>
                </a:path>
              </a:pathLst>
            </a:custGeom>
            <a:solidFill>
              <a:srgbClr val="FFFFFF"/>
            </a:solidFill>
          </p:spPr>
          <p:txBody>
            <a:bodyPr wrap="square" lIns="0" tIns="0" rIns="0" bIns="0" rtlCol="0"/>
            <a:lstStyle/>
            <a:p>
              <a:endParaRPr/>
            </a:p>
          </p:txBody>
        </p:sp>
        <p:sp>
          <p:nvSpPr>
            <p:cNvPr id="8" name="object 8"/>
            <p:cNvSpPr/>
            <p:nvPr/>
          </p:nvSpPr>
          <p:spPr>
            <a:xfrm>
              <a:off x="816607" y="1348856"/>
              <a:ext cx="283210" cy="75565"/>
            </a:xfrm>
            <a:custGeom>
              <a:avLst/>
              <a:gdLst/>
              <a:ahLst/>
              <a:cxnLst/>
              <a:rect l="l" t="t" r="r" b="b"/>
              <a:pathLst>
                <a:path w="283209" h="75565">
                  <a:moveTo>
                    <a:pt x="141376" y="0"/>
                  </a:moveTo>
                  <a:lnTo>
                    <a:pt x="196316" y="2971"/>
                  </a:lnTo>
                  <a:lnTo>
                    <a:pt x="241263" y="11064"/>
                  </a:lnTo>
                  <a:lnTo>
                    <a:pt x="271610" y="23048"/>
                  </a:lnTo>
                  <a:lnTo>
                    <a:pt x="282750" y="37694"/>
                  </a:lnTo>
                  <a:lnTo>
                    <a:pt x="271610" y="52346"/>
                  </a:lnTo>
                  <a:lnTo>
                    <a:pt x="241263" y="64334"/>
                  </a:lnTo>
                  <a:lnTo>
                    <a:pt x="196316" y="72428"/>
                  </a:lnTo>
                  <a:lnTo>
                    <a:pt x="141376" y="75399"/>
                  </a:lnTo>
                  <a:lnTo>
                    <a:pt x="86436" y="72428"/>
                  </a:lnTo>
                  <a:lnTo>
                    <a:pt x="41488" y="64334"/>
                  </a:lnTo>
                  <a:lnTo>
                    <a:pt x="11140" y="52346"/>
                  </a:lnTo>
                  <a:lnTo>
                    <a:pt x="0" y="37694"/>
                  </a:lnTo>
                  <a:lnTo>
                    <a:pt x="11140" y="23048"/>
                  </a:lnTo>
                  <a:lnTo>
                    <a:pt x="41488" y="11064"/>
                  </a:lnTo>
                  <a:lnTo>
                    <a:pt x="86436" y="2971"/>
                  </a:lnTo>
                  <a:lnTo>
                    <a:pt x="141376" y="0"/>
                  </a:lnTo>
                  <a:close/>
                </a:path>
              </a:pathLst>
            </a:custGeom>
            <a:ln w="5270">
              <a:solidFill>
                <a:srgbClr val="231F20"/>
              </a:solidFill>
            </a:ln>
          </p:spPr>
          <p:txBody>
            <a:bodyPr wrap="square" lIns="0" tIns="0" rIns="0" bIns="0" rtlCol="0"/>
            <a:lstStyle/>
            <a:p>
              <a:endParaRPr/>
            </a:p>
          </p:txBody>
        </p:sp>
        <p:sp>
          <p:nvSpPr>
            <p:cNvPr id="9" name="object 9"/>
            <p:cNvSpPr/>
            <p:nvPr/>
          </p:nvSpPr>
          <p:spPr>
            <a:xfrm>
              <a:off x="816607" y="1387583"/>
              <a:ext cx="283210" cy="157480"/>
            </a:xfrm>
            <a:custGeom>
              <a:avLst/>
              <a:gdLst/>
              <a:ahLst/>
              <a:cxnLst/>
              <a:rect l="l" t="t" r="r" b="b"/>
              <a:pathLst>
                <a:path w="283209" h="157480">
                  <a:moveTo>
                    <a:pt x="0" y="0"/>
                  </a:moveTo>
                  <a:lnTo>
                    <a:pt x="0" y="119382"/>
                  </a:lnTo>
                  <a:lnTo>
                    <a:pt x="12149" y="135877"/>
                  </a:lnTo>
                  <a:lnTo>
                    <a:pt x="44180" y="147660"/>
                  </a:lnTo>
                  <a:lnTo>
                    <a:pt x="89465" y="154729"/>
                  </a:lnTo>
                  <a:lnTo>
                    <a:pt x="141376" y="157086"/>
                  </a:lnTo>
                  <a:lnTo>
                    <a:pt x="193288" y="154729"/>
                  </a:lnTo>
                  <a:lnTo>
                    <a:pt x="238573" y="147660"/>
                  </a:lnTo>
                  <a:lnTo>
                    <a:pt x="270604" y="135877"/>
                  </a:lnTo>
                  <a:lnTo>
                    <a:pt x="282753" y="119382"/>
                  </a:lnTo>
                  <a:lnTo>
                    <a:pt x="282751" y="37694"/>
                  </a:lnTo>
                  <a:lnTo>
                    <a:pt x="141376" y="37694"/>
                  </a:lnTo>
                  <a:lnTo>
                    <a:pt x="86436" y="34725"/>
                  </a:lnTo>
                  <a:lnTo>
                    <a:pt x="41488" y="26634"/>
                  </a:lnTo>
                  <a:lnTo>
                    <a:pt x="11140" y="14650"/>
                  </a:lnTo>
                  <a:lnTo>
                    <a:pt x="0" y="0"/>
                  </a:lnTo>
                  <a:close/>
                </a:path>
                <a:path w="283209" h="157480">
                  <a:moveTo>
                    <a:pt x="282750" y="0"/>
                  </a:moveTo>
                  <a:lnTo>
                    <a:pt x="271610" y="14650"/>
                  </a:lnTo>
                  <a:lnTo>
                    <a:pt x="241263" y="26634"/>
                  </a:lnTo>
                  <a:lnTo>
                    <a:pt x="196316" y="34725"/>
                  </a:lnTo>
                  <a:lnTo>
                    <a:pt x="141376" y="37694"/>
                  </a:lnTo>
                  <a:lnTo>
                    <a:pt x="282751" y="37694"/>
                  </a:lnTo>
                  <a:lnTo>
                    <a:pt x="282750" y="0"/>
                  </a:lnTo>
                  <a:close/>
                </a:path>
              </a:pathLst>
            </a:custGeom>
            <a:solidFill>
              <a:srgbClr val="BCBEC0"/>
            </a:solidFill>
          </p:spPr>
          <p:txBody>
            <a:bodyPr wrap="square" lIns="0" tIns="0" rIns="0" bIns="0" rtlCol="0"/>
            <a:lstStyle/>
            <a:p>
              <a:endParaRPr/>
            </a:p>
          </p:txBody>
        </p:sp>
        <p:sp>
          <p:nvSpPr>
            <p:cNvPr id="10" name="object 10"/>
            <p:cNvSpPr/>
            <p:nvPr/>
          </p:nvSpPr>
          <p:spPr>
            <a:xfrm>
              <a:off x="816607" y="1387583"/>
              <a:ext cx="283210" cy="157480"/>
            </a:xfrm>
            <a:custGeom>
              <a:avLst/>
              <a:gdLst/>
              <a:ahLst/>
              <a:cxnLst/>
              <a:rect l="l" t="t" r="r" b="b"/>
              <a:pathLst>
                <a:path w="283209" h="157480">
                  <a:moveTo>
                    <a:pt x="282753" y="119382"/>
                  </a:moveTo>
                  <a:lnTo>
                    <a:pt x="270604" y="135877"/>
                  </a:lnTo>
                  <a:lnTo>
                    <a:pt x="238573" y="147660"/>
                  </a:lnTo>
                  <a:lnTo>
                    <a:pt x="193288" y="154729"/>
                  </a:lnTo>
                  <a:lnTo>
                    <a:pt x="141376" y="157086"/>
                  </a:lnTo>
                  <a:lnTo>
                    <a:pt x="89465" y="154729"/>
                  </a:lnTo>
                  <a:lnTo>
                    <a:pt x="44180" y="147660"/>
                  </a:lnTo>
                  <a:lnTo>
                    <a:pt x="12149" y="135877"/>
                  </a:lnTo>
                  <a:lnTo>
                    <a:pt x="0" y="119382"/>
                  </a:lnTo>
                  <a:lnTo>
                    <a:pt x="0" y="0"/>
                  </a:lnTo>
                  <a:lnTo>
                    <a:pt x="11140" y="14650"/>
                  </a:lnTo>
                  <a:lnTo>
                    <a:pt x="41488" y="26634"/>
                  </a:lnTo>
                  <a:lnTo>
                    <a:pt x="86436" y="34725"/>
                  </a:lnTo>
                  <a:lnTo>
                    <a:pt x="141376" y="37694"/>
                  </a:lnTo>
                  <a:lnTo>
                    <a:pt x="196316" y="34725"/>
                  </a:lnTo>
                  <a:lnTo>
                    <a:pt x="241263" y="26634"/>
                  </a:lnTo>
                  <a:lnTo>
                    <a:pt x="271610" y="14650"/>
                  </a:lnTo>
                  <a:lnTo>
                    <a:pt x="282750" y="0"/>
                  </a:lnTo>
                  <a:lnTo>
                    <a:pt x="282753" y="119382"/>
                  </a:lnTo>
                  <a:close/>
                </a:path>
              </a:pathLst>
            </a:custGeom>
            <a:ln w="5270">
              <a:solidFill>
                <a:srgbClr val="231F20"/>
              </a:solidFill>
            </a:ln>
          </p:spPr>
          <p:txBody>
            <a:bodyPr wrap="square" lIns="0" tIns="0" rIns="0" bIns="0" rtlCol="0"/>
            <a:lstStyle/>
            <a:p>
              <a:endParaRPr/>
            </a:p>
          </p:txBody>
        </p:sp>
        <p:sp>
          <p:nvSpPr>
            <p:cNvPr id="11" name="object 11"/>
            <p:cNvSpPr/>
            <p:nvPr/>
          </p:nvSpPr>
          <p:spPr>
            <a:xfrm>
              <a:off x="1563609" y="1349456"/>
              <a:ext cx="283210" cy="75565"/>
            </a:xfrm>
            <a:custGeom>
              <a:avLst/>
              <a:gdLst/>
              <a:ahLst/>
              <a:cxnLst/>
              <a:rect l="l" t="t" r="r" b="b"/>
              <a:pathLst>
                <a:path w="283210" h="75565">
                  <a:moveTo>
                    <a:pt x="141376" y="0"/>
                  </a:moveTo>
                  <a:lnTo>
                    <a:pt x="86434" y="2971"/>
                  </a:lnTo>
                  <a:lnTo>
                    <a:pt x="41486" y="11065"/>
                  </a:lnTo>
                  <a:lnTo>
                    <a:pt x="11139" y="23053"/>
                  </a:lnTo>
                  <a:lnTo>
                    <a:pt x="0" y="37705"/>
                  </a:lnTo>
                  <a:lnTo>
                    <a:pt x="11139" y="52355"/>
                  </a:lnTo>
                  <a:lnTo>
                    <a:pt x="41486" y="64339"/>
                  </a:lnTo>
                  <a:lnTo>
                    <a:pt x="86434" y="72430"/>
                  </a:lnTo>
                  <a:lnTo>
                    <a:pt x="141376" y="75399"/>
                  </a:lnTo>
                  <a:lnTo>
                    <a:pt x="196318" y="72430"/>
                  </a:lnTo>
                  <a:lnTo>
                    <a:pt x="241265" y="64339"/>
                  </a:lnTo>
                  <a:lnTo>
                    <a:pt x="271610" y="52355"/>
                  </a:lnTo>
                  <a:lnTo>
                    <a:pt x="282748" y="37705"/>
                  </a:lnTo>
                  <a:lnTo>
                    <a:pt x="271610" y="23053"/>
                  </a:lnTo>
                  <a:lnTo>
                    <a:pt x="241265" y="11065"/>
                  </a:lnTo>
                  <a:lnTo>
                    <a:pt x="196318" y="2971"/>
                  </a:lnTo>
                  <a:lnTo>
                    <a:pt x="141376" y="0"/>
                  </a:lnTo>
                  <a:close/>
                </a:path>
              </a:pathLst>
            </a:custGeom>
            <a:solidFill>
              <a:srgbClr val="FFFFFF"/>
            </a:solidFill>
          </p:spPr>
          <p:txBody>
            <a:bodyPr wrap="square" lIns="0" tIns="0" rIns="0" bIns="0" rtlCol="0"/>
            <a:lstStyle/>
            <a:p>
              <a:endParaRPr/>
            </a:p>
          </p:txBody>
        </p:sp>
        <p:sp>
          <p:nvSpPr>
            <p:cNvPr id="12" name="object 12"/>
            <p:cNvSpPr/>
            <p:nvPr/>
          </p:nvSpPr>
          <p:spPr>
            <a:xfrm>
              <a:off x="1563609" y="1349456"/>
              <a:ext cx="283210" cy="75565"/>
            </a:xfrm>
            <a:custGeom>
              <a:avLst/>
              <a:gdLst/>
              <a:ahLst/>
              <a:cxnLst/>
              <a:rect l="l" t="t" r="r" b="b"/>
              <a:pathLst>
                <a:path w="283210" h="75565">
                  <a:moveTo>
                    <a:pt x="141376" y="0"/>
                  </a:moveTo>
                  <a:lnTo>
                    <a:pt x="196318" y="2971"/>
                  </a:lnTo>
                  <a:lnTo>
                    <a:pt x="241265" y="11065"/>
                  </a:lnTo>
                  <a:lnTo>
                    <a:pt x="271610" y="23053"/>
                  </a:lnTo>
                  <a:lnTo>
                    <a:pt x="282748" y="37705"/>
                  </a:lnTo>
                  <a:lnTo>
                    <a:pt x="271610" y="52355"/>
                  </a:lnTo>
                  <a:lnTo>
                    <a:pt x="241265" y="64339"/>
                  </a:lnTo>
                  <a:lnTo>
                    <a:pt x="196318" y="72430"/>
                  </a:lnTo>
                  <a:lnTo>
                    <a:pt x="141376" y="75399"/>
                  </a:lnTo>
                  <a:lnTo>
                    <a:pt x="86434" y="72430"/>
                  </a:lnTo>
                  <a:lnTo>
                    <a:pt x="41486" y="64339"/>
                  </a:lnTo>
                  <a:lnTo>
                    <a:pt x="11139" y="52355"/>
                  </a:lnTo>
                  <a:lnTo>
                    <a:pt x="0" y="37705"/>
                  </a:lnTo>
                  <a:lnTo>
                    <a:pt x="11139" y="23053"/>
                  </a:lnTo>
                  <a:lnTo>
                    <a:pt x="41486" y="11065"/>
                  </a:lnTo>
                  <a:lnTo>
                    <a:pt x="86434" y="2971"/>
                  </a:lnTo>
                  <a:lnTo>
                    <a:pt x="141376" y="0"/>
                  </a:lnTo>
                  <a:close/>
                </a:path>
              </a:pathLst>
            </a:custGeom>
            <a:ln w="5270">
              <a:solidFill>
                <a:srgbClr val="231F20"/>
              </a:solidFill>
            </a:ln>
          </p:spPr>
          <p:txBody>
            <a:bodyPr wrap="square" lIns="0" tIns="0" rIns="0" bIns="0" rtlCol="0"/>
            <a:lstStyle/>
            <a:p>
              <a:endParaRPr/>
            </a:p>
          </p:txBody>
        </p:sp>
        <p:sp>
          <p:nvSpPr>
            <p:cNvPr id="13" name="object 13"/>
            <p:cNvSpPr/>
            <p:nvPr/>
          </p:nvSpPr>
          <p:spPr>
            <a:xfrm>
              <a:off x="1563609" y="1388184"/>
              <a:ext cx="283210" cy="157480"/>
            </a:xfrm>
            <a:custGeom>
              <a:avLst/>
              <a:gdLst/>
              <a:ahLst/>
              <a:cxnLst/>
              <a:rect l="l" t="t" r="r" b="b"/>
              <a:pathLst>
                <a:path w="283210" h="157480">
                  <a:moveTo>
                    <a:pt x="0" y="0"/>
                  </a:moveTo>
                  <a:lnTo>
                    <a:pt x="0" y="119391"/>
                  </a:lnTo>
                  <a:lnTo>
                    <a:pt x="12149" y="135884"/>
                  </a:lnTo>
                  <a:lnTo>
                    <a:pt x="44181" y="147664"/>
                  </a:lnTo>
                  <a:lnTo>
                    <a:pt x="89466" y="154732"/>
                  </a:lnTo>
                  <a:lnTo>
                    <a:pt x="141379" y="157088"/>
                  </a:lnTo>
                  <a:lnTo>
                    <a:pt x="193292" y="154732"/>
                  </a:lnTo>
                  <a:lnTo>
                    <a:pt x="238578" y="147664"/>
                  </a:lnTo>
                  <a:lnTo>
                    <a:pt x="270609" y="135884"/>
                  </a:lnTo>
                  <a:lnTo>
                    <a:pt x="282759" y="119391"/>
                  </a:lnTo>
                  <a:lnTo>
                    <a:pt x="282751" y="37705"/>
                  </a:lnTo>
                  <a:lnTo>
                    <a:pt x="141376" y="37705"/>
                  </a:lnTo>
                  <a:lnTo>
                    <a:pt x="86434" y="34733"/>
                  </a:lnTo>
                  <a:lnTo>
                    <a:pt x="41486" y="26639"/>
                  </a:lnTo>
                  <a:lnTo>
                    <a:pt x="11139" y="14651"/>
                  </a:lnTo>
                  <a:lnTo>
                    <a:pt x="0" y="0"/>
                  </a:lnTo>
                  <a:close/>
                </a:path>
                <a:path w="283210" h="157480">
                  <a:moveTo>
                    <a:pt x="282748" y="0"/>
                  </a:moveTo>
                  <a:lnTo>
                    <a:pt x="271610" y="14651"/>
                  </a:lnTo>
                  <a:lnTo>
                    <a:pt x="241265" y="26639"/>
                  </a:lnTo>
                  <a:lnTo>
                    <a:pt x="196318" y="34733"/>
                  </a:lnTo>
                  <a:lnTo>
                    <a:pt x="141376" y="37705"/>
                  </a:lnTo>
                  <a:lnTo>
                    <a:pt x="282751" y="37705"/>
                  </a:lnTo>
                  <a:lnTo>
                    <a:pt x="282748" y="0"/>
                  </a:lnTo>
                  <a:close/>
                </a:path>
              </a:pathLst>
            </a:custGeom>
            <a:solidFill>
              <a:srgbClr val="BCBEC0"/>
            </a:solidFill>
          </p:spPr>
          <p:txBody>
            <a:bodyPr wrap="square" lIns="0" tIns="0" rIns="0" bIns="0" rtlCol="0"/>
            <a:lstStyle/>
            <a:p>
              <a:endParaRPr/>
            </a:p>
          </p:txBody>
        </p:sp>
        <p:sp>
          <p:nvSpPr>
            <p:cNvPr id="14" name="object 14"/>
            <p:cNvSpPr/>
            <p:nvPr/>
          </p:nvSpPr>
          <p:spPr>
            <a:xfrm>
              <a:off x="1563609" y="1388184"/>
              <a:ext cx="283210" cy="157480"/>
            </a:xfrm>
            <a:custGeom>
              <a:avLst/>
              <a:gdLst/>
              <a:ahLst/>
              <a:cxnLst/>
              <a:rect l="l" t="t" r="r" b="b"/>
              <a:pathLst>
                <a:path w="283210" h="157480">
                  <a:moveTo>
                    <a:pt x="282759" y="119391"/>
                  </a:moveTo>
                  <a:lnTo>
                    <a:pt x="270609" y="135884"/>
                  </a:lnTo>
                  <a:lnTo>
                    <a:pt x="238578" y="147664"/>
                  </a:lnTo>
                  <a:lnTo>
                    <a:pt x="193292" y="154732"/>
                  </a:lnTo>
                  <a:lnTo>
                    <a:pt x="141379" y="157088"/>
                  </a:lnTo>
                  <a:lnTo>
                    <a:pt x="89466" y="154732"/>
                  </a:lnTo>
                  <a:lnTo>
                    <a:pt x="44181" y="147664"/>
                  </a:lnTo>
                  <a:lnTo>
                    <a:pt x="12149" y="135884"/>
                  </a:lnTo>
                  <a:lnTo>
                    <a:pt x="0" y="119391"/>
                  </a:lnTo>
                  <a:lnTo>
                    <a:pt x="0" y="0"/>
                  </a:lnTo>
                  <a:lnTo>
                    <a:pt x="11139" y="14651"/>
                  </a:lnTo>
                  <a:lnTo>
                    <a:pt x="41486" y="26639"/>
                  </a:lnTo>
                  <a:lnTo>
                    <a:pt x="86434" y="34733"/>
                  </a:lnTo>
                  <a:lnTo>
                    <a:pt x="141376" y="37705"/>
                  </a:lnTo>
                  <a:lnTo>
                    <a:pt x="196318" y="34733"/>
                  </a:lnTo>
                  <a:lnTo>
                    <a:pt x="241265" y="26639"/>
                  </a:lnTo>
                  <a:lnTo>
                    <a:pt x="271610" y="14651"/>
                  </a:lnTo>
                  <a:lnTo>
                    <a:pt x="282748" y="0"/>
                  </a:lnTo>
                  <a:lnTo>
                    <a:pt x="282759" y="119391"/>
                  </a:lnTo>
                  <a:close/>
                </a:path>
              </a:pathLst>
            </a:custGeom>
            <a:ln w="5270">
              <a:solidFill>
                <a:srgbClr val="231F20"/>
              </a:solidFill>
            </a:ln>
          </p:spPr>
          <p:txBody>
            <a:bodyPr wrap="square" lIns="0" tIns="0" rIns="0" bIns="0" rtlCol="0"/>
            <a:lstStyle/>
            <a:p>
              <a:endParaRPr/>
            </a:p>
          </p:txBody>
        </p:sp>
        <p:sp>
          <p:nvSpPr>
            <p:cNvPr id="15" name="object 15"/>
            <p:cNvSpPr/>
            <p:nvPr/>
          </p:nvSpPr>
          <p:spPr>
            <a:xfrm>
              <a:off x="2310605" y="1350489"/>
              <a:ext cx="283210" cy="75565"/>
            </a:xfrm>
            <a:custGeom>
              <a:avLst/>
              <a:gdLst/>
              <a:ahLst/>
              <a:cxnLst/>
              <a:rect l="l" t="t" r="r" b="b"/>
              <a:pathLst>
                <a:path w="283210" h="75565">
                  <a:moveTo>
                    <a:pt x="141375" y="0"/>
                  </a:moveTo>
                  <a:lnTo>
                    <a:pt x="86436" y="2969"/>
                  </a:lnTo>
                  <a:lnTo>
                    <a:pt x="41488" y="11060"/>
                  </a:lnTo>
                  <a:lnTo>
                    <a:pt x="11140" y="23044"/>
                  </a:lnTo>
                  <a:lnTo>
                    <a:pt x="0" y="37694"/>
                  </a:lnTo>
                  <a:lnTo>
                    <a:pt x="11140" y="52346"/>
                  </a:lnTo>
                  <a:lnTo>
                    <a:pt x="41488" y="64334"/>
                  </a:lnTo>
                  <a:lnTo>
                    <a:pt x="86436" y="72428"/>
                  </a:lnTo>
                  <a:lnTo>
                    <a:pt x="141375" y="75399"/>
                  </a:lnTo>
                  <a:lnTo>
                    <a:pt x="196315" y="72428"/>
                  </a:lnTo>
                  <a:lnTo>
                    <a:pt x="241263" y="64334"/>
                  </a:lnTo>
                  <a:lnTo>
                    <a:pt x="271611" y="52346"/>
                  </a:lnTo>
                  <a:lnTo>
                    <a:pt x="282751" y="37694"/>
                  </a:lnTo>
                  <a:lnTo>
                    <a:pt x="271611" y="23044"/>
                  </a:lnTo>
                  <a:lnTo>
                    <a:pt x="241263" y="11060"/>
                  </a:lnTo>
                  <a:lnTo>
                    <a:pt x="196315" y="2969"/>
                  </a:lnTo>
                  <a:lnTo>
                    <a:pt x="141375" y="0"/>
                  </a:lnTo>
                  <a:close/>
                </a:path>
              </a:pathLst>
            </a:custGeom>
            <a:solidFill>
              <a:srgbClr val="FFFFFF"/>
            </a:solidFill>
          </p:spPr>
          <p:txBody>
            <a:bodyPr wrap="square" lIns="0" tIns="0" rIns="0" bIns="0" rtlCol="0"/>
            <a:lstStyle/>
            <a:p>
              <a:endParaRPr/>
            </a:p>
          </p:txBody>
        </p:sp>
        <p:sp>
          <p:nvSpPr>
            <p:cNvPr id="16" name="object 16"/>
            <p:cNvSpPr/>
            <p:nvPr/>
          </p:nvSpPr>
          <p:spPr>
            <a:xfrm>
              <a:off x="2310605" y="1350489"/>
              <a:ext cx="283210" cy="75565"/>
            </a:xfrm>
            <a:custGeom>
              <a:avLst/>
              <a:gdLst/>
              <a:ahLst/>
              <a:cxnLst/>
              <a:rect l="l" t="t" r="r" b="b"/>
              <a:pathLst>
                <a:path w="283210" h="75565">
                  <a:moveTo>
                    <a:pt x="141375" y="0"/>
                  </a:moveTo>
                  <a:lnTo>
                    <a:pt x="196315" y="2969"/>
                  </a:lnTo>
                  <a:lnTo>
                    <a:pt x="241263" y="11060"/>
                  </a:lnTo>
                  <a:lnTo>
                    <a:pt x="271611" y="23044"/>
                  </a:lnTo>
                  <a:lnTo>
                    <a:pt x="282751" y="37694"/>
                  </a:lnTo>
                  <a:lnTo>
                    <a:pt x="271611" y="52346"/>
                  </a:lnTo>
                  <a:lnTo>
                    <a:pt x="241263" y="64334"/>
                  </a:lnTo>
                  <a:lnTo>
                    <a:pt x="196315" y="72428"/>
                  </a:lnTo>
                  <a:lnTo>
                    <a:pt x="141375" y="75399"/>
                  </a:lnTo>
                  <a:lnTo>
                    <a:pt x="86436" y="72428"/>
                  </a:lnTo>
                  <a:lnTo>
                    <a:pt x="41488" y="64334"/>
                  </a:lnTo>
                  <a:lnTo>
                    <a:pt x="11140" y="52346"/>
                  </a:lnTo>
                  <a:lnTo>
                    <a:pt x="0" y="37694"/>
                  </a:lnTo>
                  <a:lnTo>
                    <a:pt x="11140" y="23044"/>
                  </a:lnTo>
                  <a:lnTo>
                    <a:pt x="41488" y="11060"/>
                  </a:lnTo>
                  <a:lnTo>
                    <a:pt x="86436" y="2969"/>
                  </a:lnTo>
                  <a:lnTo>
                    <a:pt x="141375" y="0"/>
                  </a:lnTo>
                  <a:close/>
                </a:path>
              </a:pathLst>
            </a:custGeom>
            <a:ln w="5270">
              <a:solidFill>
                <a:srgbClr val="231F20"/>
              </a:solidFill>
            </a:ln>
          </p:spPr>
          <p:txBody>
            <a:bodyPr wrap="square" lIns="0" tIns="0" rIns="0" bIns="0" rtlCol="0"/>
            <a:lstStyle/>
            <a:p>
              <a:endParaRPr/>
            </a:p>
          </p:txBody>
        </p:sp>
        <p:sp>
          <p:nvSpPr>
            <p:cNvPr id="17" name="object 17"/>
            <p:cNvSpPr/>
            <p:nvPr/>
          </p:nvSpPr>
          <p:spPr>
            <a:xfrm>
              <a:off x="2310605" y="1389217"/>
              <a:ext cx="283210" cy="157480"/>
            </a:xfrm>
            <a:custGeom>
              <a:avLst/>
              <a:gdLst/>
              <a:ahLst/>
              <a:cxnLst/>
              <a:rect l="l" t="t" r="r" b="b"/>
              <a:pathLst>
                <a:path w="283210" h="157480">
                  <a:moveTo>
                    <a:pt x="282751" y="0"/>
                  </a:moveTo>
                  <a:lnTo>
                    <a:pt x="271611" y="14645"/>
                  </a:lnTo>
                  <a:lnTo>
                    <a:pt x="241263" y="26630"/>
                  </a:lnTo>
                  <a:lnTo>
                    <a:pt x="196315" y="34723"/>
                  </a:lnTo>
                  <a:lnTo>
                    <a:pt x="141375" y="37694"/>
                  </a:lnTo>
                  <a:lnTo>
                    <a:pt x="86436" y="34723"/>
                  </a:lnTo>
                  <a:lnTo>
                    <a:pt x="41488" y="26630"/>
                  </a:lnTo>
                  <a:lnTo>
                    <a:pt x="11140" y="14645"/>
                  </a:lnTo>
                  <a:lnTo>
                    <a:pt x="0" y="0"/>
                  </a:lnTo>
                  <a:lnTo>
                    <a:pt x="0" y="119378"/>
                  </a:lnTo>
                  <a:lnTo>
                    <a:pt x="12149" y="135874"/>
                  </a:lnTo>
                  <a:lnTo>
                    <a:pt x="44181" y="147657"/>
                  </a:lnTo>
                  <a:lnTo>
                    <a:pt x="89467" y="154726"/>
                  </a:lnTo>
                  <a:lnTo>
                    <a:pt x="141381" y="157083"/>
                  </a:lnTo>
                  <a:lnTo>
                    <a:pt x="193294" y="154726"/>
                  </a:lnTo>
                  <a:lnTo>
                    <a:pt x="238580" y="147657"/>
                  </a:lnTo>
                  <a:lnTo>
                    <a:pt x="270612" y="135874"/>
                  </a:lnTo>
                  <a:lnTo>
                    <a:pt x="282762" y="119378"/>
                  </a:lnTo>
                  <a:lnTo>
                    <a:pt x="282751" y="0"/>
                  </a:lnTo>
                  <a:close/>
                </a:path>
              </a:pathLst>
            </a:custGeom>
            <a:solidFill>
              <a:srgbClr val="BCBEC0"/>
            </a:solidFill>
          </p:spPr>
          <p:txBody>
            <a:bodyPr wrap="square" lIns="0" tIns="0" rIns="0" bIns="0" rtlCol="0"/>
            <a:lstStyle/>
            <a:p>
              <a:endParaRPr/>
            </a:p>
          </p:txBody>
        </p:sp>
        <p:sp>
          <p:nvSpPr>
            <p:cNvPr id="18" name="object 18"/>
            <p:cNvSpPr/>
            <p:nvPr/>
          </p:nvSpPr>
          <p:spPr>
            <a:xfrm>
              <a:off x="2310605" y="1389217"/>
              <a:ext cx="283210" cy="157480"/>
            </a:xfrm>
            <a:custGeom>
              <a:avLst/>
              <a:gdLst/>
              <a:ahLst/>
              <a:cxnLst/>
              <a:rect l="l" t="t" r="r" b="b"/>
              <a:pathLst>
                <a:path w="283210" h="157480">
                  <a:moveTo>
                    <a:pt x="282762" y="119378"/>
                  </a:moveTo>
                  <a:lnTo>
                    <a:pt x="270612" y="135874"/>
                  </a:lnTo>
                  <a:lnTo>
                    <a:pt x="238580" y="147657"/>
                  </a:lnTo>
                  <a:lnTo>
                    <a:pt x="193294" y="154726"/>
                  </a:lnTo>
                  <a:lnTo>
                    <a:pt x="141381" y="157083"/>
                  </a:lnTo>
                  <a:lnTo>
                    <a:pt x="89467" y="154726"/>
                  </a:lnTo>
                  <a:lnTo>
                    <a:pt x="44181" y="147657"/>
                  </a:lnTo>
                  <a:lnTo>
                    <a:pt x="12149" y="135874"/>
                  </a:lnTo>
                  <a:lnTo>
                    <a:pt x="0" y="119378"/>
                  </a:lnTo>
                  <a:lnTo>
                    <a:pt x="0" y="0"/>
                  </a:lnTo>
                  <a:lnTo>
                    <a:pt x="11140" y="14645"/>
                  </a:lnTo>
                  <a:lnTo>
                    <a:pt x="41488" y="26630"/>
                  </a:lnTo>
                  <a:lnTo>
                    <a:pt x="86436" y="34723"/>
                  </a:lnTo>
                  <a:lnTo>
                    <a:pt x="141375" y="37694"/>
                  </a:lnTo>
                  <a:lnTo>
                    <a:pt x="196315" y="34723"/>
                  </a:lnTo>
                  <a:lnTo>
                    <a:pt x="241263" y="26630"/>
                  </a:lnTo>
                  <a:lnTo>
                    <a:pt x="271611" y="14645"/>
                  </a:lnTo>
                  <a:lnTo>
                    <a:pt x="282751" y="0"/>
                  </a:lnTo>
                  <a:lnTo>
                    <a:pt x="282762" y="119378"/>
                  </a:lnTo>
                  <a:close/>
                </a:path>
              </a:pathLst>
            </a:custGeom>
            <a:ln w="5270">
              <a:solidFill>
                <a:srgbClr val="231F20"/>
              </a:solidFill>
            </a:ln>
          </p:spPr>
          <p:txBody>
            <a:bodyPr wrap="square" lIns="0" tIns="0" rIns="0" bIns="0" rtlCol="0"/>
            <a:lstStyle/>
            <a:p>
              <a:endParaRPr/>
            </a:p>
          </p:txBody>
        </p:sp>
        <p:sp>
          <p:nvSpPr>
            <p:cNvPr id="19" name="object 19"/>
            <p:cNvSpPr/>
            <p:nvPr/>
          </p:nvSpPr>
          <p:spPr>
            <a:xfrm>
              <a:off x="3079476" y="1347875"/>
              <a:ext cx="283210" cy="75565"/>
            </a:xfrm>
            <a:custGeom>
              <a:avLst/>
              <a:gdLst/>
              <a:ahLst/>
              <a:cxnLst/>
              <a:rect l="l" t="t" r="r" b="b"/>
              <a:pathLst>
                <a:path w="283210" h="75565">
                  <a:moveTo>
                    <a:pt x="141375" y="0"/>
                  </a:moveTo>
                  <a:lnTo>
                    <a:pt x="86436" y="2969"/>
                  </a:lnTo>
                  <a:lnTo>
                    <a:pt x="41488" y="11060"/>
                  </a:lnTo>
                  <a:lnTo>
                    <a:pt x="11140" y="23044"/>
                  </a:lnTo>
                  <a:lnTo>
                    <a:pt x="0" y="37694"/>
                  </a:lnTo>
                  <a:lnTo>
                    <a:pt x="11140" y="52344"/>
                  </a:lnTo>
                  <a:lnTo>
                    <a:pt x="41488" y="64329"/>
                  </a:lnTo>
                  <a:lnTo>
                    <a:pt x="86436" y="72419"/>
                  </a:lnTo>
                  <a:lnTo>
                    <a:pt x="141375" y="75389"/>
                  </a:lnTo>
                  <a:lnTo>
                    <a:pt x="196323" y="72419"/>
                  </a:lnTo>
                  <a:lnTo>
                    <a:pt x="241278" y="64329"/>
                  </a:lnTo>
                  <a:lnTo>
                    <a:pt x="271631" y="52344"/>
                  </a:lnTo>
                  <a:lnTo>
                    <a:pt x="282772" y="37694"/>
                  </a:lnTo>
                  <a:lnTo>
                    <a:pt x="271631" y="23044"/>
                  </a:lnTo>
                  <a:lnTo>
                    <a:pt x="241278" y="11060"/>
                  </a:lnTo>
                  <a:lnTo>
                    <a:pt x="196323" y="2969"/>
                  </a:lnTo>
                  <a:lnTo>
                    <a:pt x="141375" y="0"/>
                  </a:lnTo>
                  <a:close/>
                </a:path>
              </a:pathLst>
            </a:custGeom>
            <a:solidFill>
              <a:srgbClr val="FFFFFF"/>
            </a:solidFill>
          </p:spPr>
          <p:txBody>
            <a:bodyPr wrap="square" lIns="0" tIns="0" rIns="0" bIns="0" rtlCol="0"/>
            <a:lstStyle/>
            <a:p>
              <a:endParaRPr/>
            </a:p>
          </p:txBody>
        </p:sp>
        <p:sp>
          <p:nvSpPr>
            <p:cNvPr id="20" name="object 20"/>
            <p:cNvSpPr/>
            <p:nvPr/>
          </p:nvSpPr>
          <p:spPr>
            <a:xfrm>
              <a:off x="3079476" y="1347875"/>
              <a:ext cx="283210" cy="75565"/>
            </a:xfrm>
            <a:custGeom>
              <a:avLst/>
              <a:gdLst/>
              <a:ahLst/>
              <a:cxnLst/>
              <a:rect l="l" t="t" r="r" b="b"/>
              <a:pathLst>
                <a:path w="283210" h="75565">
                  <a:moveTo>
                    <a:pt x="141375" y="0"/>
                  </a:moveTo>
                  <a:lnTo>
                    <a:pt x="196323" y="2969"/>
                  </a:lnTo>
                  <a:lnTo>
                    <a:pt x="241278" y="11060"/>
                  </a:lnTo>
                  <a:lnTo>
                    <a:pt x="271631" y="23044"/>
                  </a:lnTo>
                  <a:lnTo>
                    <a:pt x="282772" y="37694"/>
                  </a:lnTo>
                  <a:lnTo>
                    <a:pt x="271631" y="52344"/>
                  </a:lnTo>
                  <a:lnTo>
                    <a:pt x="241278" y="64329"/>
                  </a:lnTo>
                  <a:lnTo>
                    <a:pt x="196323" y="72419"/>
                  </a:lnTo>
                  <a:lnTo>
                    <a:pt x="141375" y="75389"/>
                  </a:lnTo>
                  <a:lnTo>
                    <a:pt x="86436" y="72419"/>
                  </a:lnTo>
                  <a:lnTo>
                    <a:pt x="41488" y="64329"/>
                  </a:lnTo>
                  <a:lnTo>
                    <a:pt x="11140" y="52344"/>
                  </a:lnTo>
                  <a:lnTo>
                    <a:pt x="0" y="37694"/>
                  </a:lnTo>
                  <a:lnTo>
                    <a:pt x="11140" y="23044"/>
                  </a:lnTo>
                  <a:lnTo>
                    <a:pt x="41488" y="11060"/>
                  </a:lnTo>
                  <a:lnTo>
                    <a:pt x="86436" y="2969"/>
                  </a:lnTo>
                  <a:lnTo>
                    <a:pt x="141375" y="0"/>
                  </a:lnTo>
                  <a:close/>
                </a:path>
              </a:pathLst>
            </a:custGeom>
            <a:ln w="5270">
              <a:solidFill>
                <a:srgbClr val="231F20"/>
              </a:solidFill>
            </a:ln>
          </p:spPr>
          <p:txBody>
            <a:bodyPr wrap="square" lIns="0" tIns="0" rIns="0" bIns="0" rtlCol="0"/>
            <a:lstStyle/>
            <a:p>
              <a:endParaRPr/>
            </a:p>
          </p:txBody>
        </p:sp>
        <p:sp>
          <p:nvSpPr>
            <p:cNvPr id="21" name="object 21"/>
            <p:cNvSpPr/>
            <p:nvPr/>
          </p:nvSpPr>
          <p:spPr>
            <a:xfrm>
              <a:off x="3079476" y="1386592"/>
              <a:ext cx="283210" cy="157480"/>
            </a:xfrm>
            <a:custGeom>
              <a:avLst/>
              <a:gdLst/>
              <a:ahLst/>
              <a:cxnLst/>
              <a:rect l="l" t="t" r="r" b="b"/>
              <a:pathLst>
                <a:path w="283210" h="157480">
                  <a:moveTo>
                    <a:pt x="282772" y="0"/>
                  </a:moveTo>
                  <a:lnTo>
                    <a:pt x="271631" y="14651"/>
                  </a:lnTo>
                  <a:lnTo>
                    <a:pt x="241278" y="26639"/>
                  </a:lnTo>
                  <a:lnTo>
                    <a:pt x="196323" y="34733"/>
                  </a:lnTo>
                  <a:lnTo>
                    <a:pt x="141375" y="37705"/>
                  </a:lnTo>
                  <a:lnTo>
                    <a:pt x="86436" y="34733"/>
                  </a:lnTo>
                  <a:lnTo>
                    <a:pt x="41488" y="26639"/>
                  </a:lnTo>
                  <a:lnTo>
                    <a:pt x="11140" y="14651"/>
                  </a:lnTo>
                  <a:lnTo>
                    <a:pt x="0" y="0"/>
                  </a:lnTo>
                  <a:lnTo>
                    <a:pt x="10" y="119393"/>
                  </a:lnTo>
                  <a:lnTo>
                    <a:pt x="12160" y="135887"/>
                  </a:lnTo>
                  <a:lnTo>
                    <a:pt x="44192" y="147668"/>
                  </a:lnTo>
                  <a:lnTo>
                    <a:pt x="89478" y="154737"/>
                  </a:lnTo>
                  <a:lnTo>
                    <a:pt x="141391" y="157093"/>
                  </a:lnTo>
                  <a:lnTo>
                    <a:pt x="193305" y="154737"/>
                  </a:lnTo>
                  <a:lnTo>
                    <a:pt x="238591" y="147668"/>
                  </a:lnTo>
                  <a:lnTo>
                    <a:pt x="270622" y="135887"/>
                  </a:lnTo>
                  <a:lnTo>
                    <a:pt x="282772" y="119393"/>
                  </a:lnTo>
                  <a:lnTo>
                    <a:pt x="282772" y="0"/>
                  </a:lnTo>
                  <a:close/>
                </a:path>
              </a:pathLst>
            </a:custGeom>
            <a:solidFill>
              <a:srgbClr val="BCBEC0"/>
            </a:solidFill>
          </p:spPr>
          <p:txBody>
            <a:bodyPr wrap="square" lIns="0" tIns="0" rIns="0" bIns="0" rtlCol="0"/>
            <a:lstStyle/>
            <a:p>
              <a:endParaRPr/>
            </a:p>
          </p:txBody>
        </p:sp>
        <p:sp>
          <p:nvSpPr>
            <p:cNvPr id="22" name="object 22"/>
            <p:cNvSpPr/>
            <p:nvPr/>
          </p:nvSpPr>
          <p:spPr>
            <a:xfrm>
              <a:off x="928110" y="960420"/>
              <a:ext cx="2434590" cy="583565"/>
            </a:xfrm>
            <a:custGeom>
              <a:avLst/>
              <a:gdLst/>
              <a:ahLst/>
              <a:cxnLst/>
              <a:rect l="l" t="t" r="r" b="b"/>
              <a:pathLst>
                <a:path w="2434590" h="583565">
                  <a:moveTo>
                    <a:pt x="0" y="0"/>
                  </a:moveTo>
                  <a:lnTo>
                    <a:pt x="0" y="351057"/>
                  </a:lnTo>
                </a:path>
                <a:path w="2434590" h="583565">
                  <a:moveTo>
                    <a:pt x="2434138" y="545566"/>
                  </a:moveTo>
                  <a:lnTo>
                    <a:pt x="2421988" y="562060"/>
                  </a:lnTo>
                  <a:lnTo>
                    <a:pt x="2389956" y="573841"/>
                  </a:lnTo>
                  <a:lnTo>
                    <a:pt x="2344670" y="580910"/>
                  </a:lnTo>
                  <a:lnTo>
                    <a:pt x="2292757" y="583266"/>
                  </a:lnTo>
                  <a:lnTo>
                    <a:pt x="2240843" y="580910"/>
                  </a:lnTo>
                  <a:lnTo>
                    <a:pt x="2195557" y="573841"/>
                  </a:lnTo>
                  <a:lnTo>
                    <a:pt x="2163525" y="562060"/>
                  </a:lnTo>
                  <a:lnTo>
                    <a:pt x="2151375" y="545566"/>
                  </a:lnTo>
                  <a:lnTo>
                    <a:pt x="2151365" y="426172"/>
                  </a:lnTo>
                  <a:lnTo>
                    <a:pt x="2162505" y="440824"/>
                  </a:lnTo>
                  <a:lnTo>
                    <a:pt x="2192853" y="452812"/>
                  </a:lnTo>
                  <a:lnTo>
                    <a:pt x="2237801" y="460906"/>
                  </a:lnTo>
                  <a:lnTo>
                    <a:pt x="2292741" y="463877"/>
                  </a:lnTo>
                  <a:lnTo>
                    <a:pt x="2347688" y="460906"/>
                  </a:lnTo>
                  <a:lnTo>
                    <a:pt x="2392643" y="452812"/>
                  </a:lnTo>
                  <a:lnTo>
                    <a:pt x="2422996" y="440824"/>
                  </a:lnTo>
                  <a:lnTo>
                    <a:pt x="2434138" y="426172"/>
                  </a:lnTo>
                  <a:lnTo>
                    <a:pt x="2434138" y="545566"/>
                  </a:lnTo>
                  <a:close/>
                </a:path>
              </a:pathLst>
            </a:custGeom>
            <a:ln w="5270">
              <a:solidFill>
                <a:srgbClr val="231F20"/>
              </a:solidFill>
            </a:ln>
          </p:spPr>
          <p:txBody>
            <a:bodyPr wrap="square" lIns="0" tIns="0" rIns="0" bIns="0" rtlCol="0"/>
            <a:lstStyle/>
            <a:p>
              <a:endParaRPr/>
            </a:p>
          </p:txBody>
        </p:sp>
        <p:pic>
          <p:nvPicPr>
            <p:cNvPr id="23" name="object 23"/>
            <p:cNvPicPr/>
            <p:nvPr/>
          </p:nvPicPr>
          <p:blipFill>
            <a:blip r:embed="rId5" cstate="print"/>
            <a:stretch>
              <a:fillRect/>
            </a:stretch>
          </p:blipFill>
          <p:spPr>
            <a:xfrm>
              <a:off x="896224" y="1274478"/>
              <a:ext cx="63757" cy="74377"/>
            </a:xfrm>
            <a:prstGeom prst="rect">
              <a:avLst/>
            </a:prstGeom>
          </p:spPr>
        </p:pic>
        <p:sp>
          <p:nvSpPr>
            <p:cNvPr id="24" name="object 24"/>
            <p:cNvSpPr/>
            <p:nvPr/>
          </p:nvSpPr>
          <p:spPr>
            <a:xfrm>
              <a:off x="2422107" y="962043"/>
              <a:ext cx="0" cy="351155"/>
            </a:xfrm>
            <a:custGeom>
              <a:avLst/>
              <a:gdLst/>
              <a:ahLst/>
              <a:cxnLst/>
              <a:rect l="l" t="t" r="r" b="b"/>
              <a:pathLst>
                <a:path h="351155">
                  <a:moveTo>
                    <a:pt x="0" y="0"/>
                  </a:moveTo>
                  <a:lnTo>
                    <a:pt x="0" y="351067"/>
                  </a:lnTo>
                </a:path>
              </a:pathLst>
            </a:custGeom>
            <a:ln w="5270">
              <a:solidFill>
                <a:srgbClr val="231F20"/>
              </a:solidFill>
            </a:ln>
          </p:spPr>
          <p:txBody>
            <a:bodyPr wrap="square" lIns="0" tIns="0" rIns="0" bIns="0" rtlCol="0"/>
            <a:lstStyle/>
            <a:p>
              <a:endParaRPr/>
            </a:p>
          </p:txBody>
        </p:sp>
        <p:pic>
          <p:nvPicPr>
            <p:cNvPr id="25" name="object 25"/>
            <p:cNvPicPr/>
            <p:nvPr/>
          </p:nvPicPr>
          <p:blipFill>
            <a:blip r:embed="rId6" cstate="print"/>
            <a:stretch>
              <a:fillRect/>
            </a:stretch>
          </p:blipFill>
          <p:spPr>
            <a:xfrm>
              <a:off x="2390221" y="1276112"/>
              <a:ext cx="63762" cy="74377"/>
            </a:xfrm>
            <a:prstGeom prst="rect">
              <a:avLst/>
            </a:prstGeom>
          </p:spPr>
        </p:pic>
        <p:sp>
          <p:nvSpPr>
            <p:cNvPr id="26" name="object 26"/>
            <p:cNvSpPr/>
            <p:nvPr/>
          </p:nvSpPr>
          <p:spPr>
            <a:xfrm>
              <a:off x="1017751" y="1587897"/>
              <a:ext cx="598170" cy="114935"/>
            </a:xfrm>
            <a:custGeom>
              <a:avLst/>
              <a:gdLst/>
              <a:ahLst/>
              <a:cxnLst/>
              <a:rect l="l" t="t" r="r" b="b"/>
              <a:pathLst>
                <a:path w="598169" h="114935">
                  <a:moveTo>
                    <a:pt x="0" y="0"/>
                  </a:moveTo>
                  <a:lnTo>
                    <a:pt x="241674" y="114735"/>
                  </a:lnTo>
                  <a:lnTo>
                    <a:pt x="430619" y="101987"/>
                  </a:lnTo>
                  <a:lnTo>
                    <a:pt x="553654" y="38245"/>
                  </a:lnTo>
                  <a:lnTo>
                    <a:pt x="597595" y="0"/>
                  </a:lnTo>
                </a:path>
              </a:pathLst>
            </a:custGeom>
            <a:ln w="5270">
              <a:solidFill>
                <a:srgbClr val="231F20"/>
              </a:solidFill>
            </a:ln>
          </p:spPr>
          <p:txBody>
            <a:bodyPr wrap="square" lIns="0" tIns="0" rIns="0" bIns="0" rtlCol="0"/>
            <a:lstStyle/>
            <a:p>
              <a:endParaRPr/>
            </a:p>
          </p:txBody>
        </p:sp>
        <p:pic>
          <p:nvPicPr>
            <p:cNvPr id="27" name="object 27"/>
            <p:cNvPicPr/>
            <p:nvPr/>
          </p:nvPicPr>
          <p:blipFill>
            <a:blip r:embed="rId7" cstate="print"/>
            <a:stretch>
              <a:fillRect/>
            </a:stretch>
          </p:blipFill>
          <p:spPr>
            <a:xfrm>
              <a:off x="1566892" y="1560182"/>
              <a:ext cx="73535" cy="76541"/>
            </a:xfrm>
            <a:prstGeom prst="rect">
              <a:avLst/>
            </a:prstGeom>
          </p:spPr>
        </p:pic>
      </p:grpSp>
      <p:sp>
        <p:nvSpPr>
          <p:cNvPr id="28" name="object 28"/>
          <p:cNvSpPr txBox="1"/>
          <p:nvPr/>
        </p:nvSpPr>
        <p:spPr>
          <a:xfrm>
            <a:off x="3485138" y="1520736"/>
            <a:ext cx="41465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Data store</a:t>
            </a:r>
            <a:endParaRPr sz="650">
              <a:latin typeface="Arial"/>
              <a:cs typeface="Arial"/>
            </a:endParaRPr>
          </a:p>
        </p:txBody>
      </p:sp>
      <p:sp>
        <p:nvSpPr>
          <p:cNvPr id="29" name="object 29"/>
          <p:cNvSpPr txBox="1"/>
          <p:nvPr/>
        </p:nvSpPr>
        <p:spPr>
          <a:xfrm>
            <a:off x="1374638" y="898487"/>
            <a:ext cx="37211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for</a:t>
            </a:r>
            <a:r>
              <a:rPr sz="650" spc="-35" dirty="0">
                <a:solidFill>
                  <a:srgbClr val="231F20"/>
                </a:solidFill>
                <a:latin typeface="Arial"/>
                <a:cs typeface="Arial"/>
              </a:rPr>
              <a:t> </a:t>
            </a:r>
            <a:r>
              <a:rPr sz="650" spc="5" dirty="0">
                <a:solidFill>
                  <a:srgbClr val="231F20"/>
                </a:solidFill>
                <a:latin typeface="Arial"/>
                <a:cs typeface="Arial"/>
              </a:rPr>
              <a:t>item</a:t>
            </a:r>
            <a:r>
              <a:rPr sz="650" spc="-35" dirty="0">
                <a:solidFill>
                  <a:srgbClr val="231F20"/>
                </a:solidFill>
                <a:latin typeface="Arial"/>
                <a:cs typeface="Arial"/>
              </a:rPr>
              <a:t> </a:t>
            </a:r>
            <a:r>
              <a:rPr sz="650" spc="5" dirty="0">
                <a:solidFill>
                  <a:srgbClr val="231F20"/>
                </a:solidFill>
                <a:latin typeface="Arial"/>
                <a:cs typeface="Arial"/>
              </a:rPr>
              <a:t>x</a:t>
            </a:r>
            <a:endParaRPr sz="650">
              <a:latin typeface="Arial"/>
              <a:cs typeface="Arial"/>
            </a:endParaRPr>
          </a:p>
        </p:txBody>
      </p:sp>
      <p:sp>
        <p:nvSpPr>
          <p:cNvPr id="30" name="object 30"/>
          <p:cNvSpPr txBox="1"/>
          <p:nvPr/>
        </p:nvSpPr>
        <p:spPr>
          <a:xfrm>
            <a:off x="347294" y="353413"/>
            <a:ext cx="1674495" cy="577850"/>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3333B2"/>
                </a:solidFill>
                <a:latin typeface="Arial"/>
                <a:cs typeface="Arial"/>
              </a:rPr>
              <a:t>Primary-backup</a:t>
            </a:r>
            <a:r>
              <a:rPr sz="1200" spc="-20" dirty="0">
                <a:solidFill>
                  <a:srgbClr val="3333B2"/>
                </a:solidFill>
                <a:latin typeface="Arial"/>
                <a:cs typeface="Arial"/>
              </a:rPr>
              <a:t> </a:t>
            </a:r>
            <a:r>
              <a:rPr sz="1200" spc="-5" dirty="0">
                <a:solidFill>
                  <a:srgbClr val="3333B2"/>
                </a:solidFill>
                <a:latin typeface="Arial"/>
                <a:cs typeface="Arial"/>
              </a:rPr>
              <a:t>protocol</a:t>
            </a:r>
            <a:endParaRPr sz="1200">
              <a:latin typeface="Arial"/>
              <a:cs typeface="Arial"/>
            </a:endParaRPr>
          </a:p>
          <a:p>
            <a:pPr marL="497205">
              <a:lnSpc>
                <a:spcPct val="100000"/>
              </a:lnSpc>
              <a:spcBef>
                <a:spcPts val="944"/>
              </a:spcBef>
            </a:pPr>
            <a:r>
              <a:rPr sz="650" spc="5" dirty="0">
                <a:solidFill>
                  <a:srgbClr val="231F20"/>
                </a:solidFill>
                <a:latin typeface="Arial"/>
                <a:cs typeface="Arial"/>
              </a:rPr>
              <a:t>Client</a:t>
            </a:r>
            <a:endParaRPr sz="650">
              <a:latin typeface="Arial"/>
              <a:cs typeface="Arial"/>
            </a:endParaRPr>
          </a:p>
          <a:p>
            <a:pPr marL="939165">
              <a:lnSpc>
                <a:spcPct val="100000"/>
              </a:lnSpc>
              <a:spcBef>
                <a:spcPts val="405"/>
              </a:spcBef>
            </a:pPr>
            <a:r>
              <a:rPr sz="650" spc="5" dirty="0">
                <a:solidFill>
                  <a:srgbClr val="231F20"/>
                </a:solidFill>
                <a:latin typeface="Arial"/>
                <a:cs typeface="Arial"/>
              </a:rPr>
              <a:t>Primary</a:t>
            </a:r>
            <a:r>
              <a:rPr sz="650" spc="-40" dirty="0">
                <a:solidFill>
                  <a:srgbClr val="231F20"/>
                </a:solidFill>
                <a:latin typeface="Arial"/>
                <a:cs typeface="Arial"/>
              </a:rPr>
              <a:t> </a:t>
            </a:r>
            <a:r>
              <a:rPr sz="650" spc="5" dirty="0">
                <a:solidFill>
                  <a:srgbClr val="231F20"/>
                </a:solidFill>
                <a:latin typeface="Arial"/>
                <a:cs typeface="Arial"/>
              </a:rPr>
              <a:t>server</a:t>
            </a:r>
            <a:endParaRPr sz="650">
              <a:latin typeface="Arial"/>
              <a:cs typeface="Arial"/>
            </a:endParaRPr>
          </a:p>
        </p:txBody>
      </p:sp>
      <p:sp>
        <p:nvSpPr>
          <p:cNvPr id="31" name="object 31"/>
          <p:cNvSpPr txBox="1"/>
          <p:nvPr/>
        </p:nvSpPr>
        <p:spPr>
          <a:xfrm>
            <a:off x="2326124" y="655879"/>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a:t>
            </a:r>
            <a:endParaRPr sz="650">
              <a:latin typeface="Arial"/>
              <a:cs typeface="Arial"/>
            </a:endParaRPr>
          </a:p>
        </p:txBody>
      </p:sp>
      <p:sp>
        <p:nvSpPr>
          <p:cNvPr id="32" name="object 32"/>
          <p:cNvSpPr/>
          <p:nvPr/>
        </p:nvSpPr>
        <p:spPr>
          <a:xfrm>
            <a:off x="1560732" y="1020778"/>
            <a:ext cx="113664" cy="329565"/>
          </a:xfrm>
          <a:custGeom>
            <a:avLst/>
            <a:gdLst/>
            <a:ahLst/>
            <a:cxnLst/>
            <a:rect l="l" t="t" r="r" b="b"/>
            <a:pathLst>
              <a:path w="113664" h="329565">
                <a:moveTo>
                  <a:pt x="0" y="0"/>
                </a:moveTo>
                <a:lnTo>
                  <a:pt x="113417" y="329374"/>
                </a:lnTo>
              </a:path>
            </a:pathLst>
          </a:custGeom>
          <a:ln w="5270">
            <a:solidFill>
              <a:srgbClr val="231F20"/>
            </a:solidFill>
          </a:ln>
        </p:spPr>
        <p:txBody>
          <a:bodyPr wrap="square" lIns="0" tIns="0" rIns="0" bIns="0" rtlCol="0"/>
          <a:lstStyle/>
          <a:p>
            <a:endParaRPr/>
          </a:p>
        </p:txBody>
      </p:sp>
      <p:sp>
        <p:nvSpPr>
          <p:cNvPr id="33" name="object 33"/>
          <p:cNvSpPr txBox="1"/>
          <p:nvPr/>
        </p:nvSpPr>
        <p:spPr>
          <a:xfrm>
            <a:off x="3184065" y="923846"/>
            <a:ext cx="5645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Backup server</a:t>
            </a:r>
            <a:endParaRPr sz="650">
              <a:latin typeface="Arial"/>
              <a:cs typeface="Arial"/>
            </a:endParaRPr>
          </a:p>
        </p:txBody>
      </p:sp>
      <p:grpSp>
        <p:nvGrpSpPr>
          <p:cNvPr id="34" name="object 34"/>
          <p:cNvGrpSpPr/>
          <p:nvPr/>
        </p:nvGrpSpPr>
        <p:grpSpPr>
          <a:xfrm>
            <a:off x="955987" y="960420"/>
            <a:ext cx="2441575" cy="939165"/>
            <a:chOff x="955987" y="960420"/>
            <a:chExt cx="2441575" cy="939165"/>
          </a:xfrm>
        </p:grpSpPr>
        <p:sp>
          <p:nvSpPr>
            <p:cNvPr id="35" name="object 35"/>
            <p:cNvSpPr/>
            <p:nvPr/>
          </p:nvSpPr>
          <p:spPr>
            <a:xfrm>
              <a:off x="1107386" y="1060854"/>
              <a:ext cx="2287270" cy="347980"/>
            </a:xfrm>
            <a:custGeom>
              <a:avLst/>
              <a:gdLst/>
              <a:ahLst/>
              <a:cxnLst/>
              <a:rect l="l" t="t" r="r" b="b"/>
              <a:pathLst>
                <a:path w="2287270" h="347980">
                  <a:moveTo>
                    <a:pt x="0" y="347758"/>
                  </a:moveTo>
                  <a:lnTo>
                    <a:pt x="410814" y="347758"/>
                  </a:lnTo>
                </a:path>
                <a:path w="2287270" h="347980">
                  <a:moveTo>
                    <a:pt x="2287191" y="0"/>
                  </a:moveTo>
                  <a:lnTo>
                    <a:pt x="2183056" y="289297"/>
                  </a:lnTo>
                </a:path>
              </a:pathLst>
            </a:custGeom>
            <a:ln w="5270">
              <a:solidFill>
                <a:srgbClr val="231F20"/>
              </a:solidFill>
            </a:ln>
          </p:spPr>
          <p:txBody>
            <a:bodyPr wrap="square" lIns="0" tIns="0" rIns="0" bIns="0" rtlCol="0"/>
            <a:lstStyle/>
            <a:p>
              <a:endParaRPr/>
            </a:p>
          </p:txBody>
        </p:sp>
        <p:pic>
          <p:nvPicPr>
            <p:cNvPr id="36" name="object 36"/>
            <p:cNvPicPr/>
            <p:nvPr/>
          </p:nvPicPr>
          <p:blipFill>
            <a:blip r:embed="rId8" cstate="print"/>
            <a:stretch>
              <a:fillRect/>
            </a:stretch>
          </p:blipFill>
          <p:spPr>
            <a:xfrm>
              <a:off x="1481205" y="1376737"/>
              <a:ext cx="74379" cy="63751"/>
            </a:xfrm>
            <a:prstGeom prst="rect">
              <a:avLst/>
            </a:prstGeom>
          </p:spPr>
        </p:pic>
        <p:sp>
          <p:nvSpPr>
            <p:cNvPr id="37" name="object 37"/>
            <p:cNvSpPr/>
            <p:nvPr/>
          </p:nvSpPr>
          <p:spPr>
            <a:xfrm>
              <a:off x="1824506" y="1558015"/>
              <a:ext cx="1225550" cy="150495"/>
            </a:xfrm>
            <a:custGeom>
              <a:avLst/>
              <a:gdLst/>
              <a:ahLst/>
              <a:cxnLst/>
              <a:rect l="l" t="t" r="r" b="b"/>
              <a:pathLst>
                <a:path w="1225550" h="150494">
                  <a:moveTo>
                    <a:pt x="0" y="16988"/>
                  </a:moveTo>
                  <a:lnTo>
                    <a:pt x="486070" y="150033"/>
                  </a:lnTo>
                  <a:lnTo>
                    <a:pt x="874451" y="129116"/>
                  </a:lnTo>
                  <a:lnTo>
                    <a:pt x="1131874" y="47887"/>
                  </a:lnTo>
                  <a:lnTo>
                    <a:pt x="1225074" y="0"/>
                  </a:lnTo>
                </a:path>
              </a:pathLst>
            </a:custGeom>
            <a:ln w="5270">
              <a:solidFill>
                <a:srgbClr val="231F20"/>
              </a:solidFill>
            </a:ln>
          </p:spPr>
          <p:txBody>
            <a:bodyPr wrap="square" lIns="0" tIns="0" rIns="0" bIns="0" rtlCol="0"/>
            <a:lstStyle/>
            <a:p>
              <a:endParaRPr/>
            </a:p>
          </p:txBody>
        </p:sp>
        <p:pic>
          <p:nvPicPr>
            <p:cNvPr id="38" name="object 38"/>
            <p:cNvPicPr/>
            <p:nvPr/>
          </p:nvPicPr>
          <p:blipFill>
            <a:blip r:embed="rId9" cstate="print"/>
            <a:stretch>
              <a:fillRect/>
            </a:stretch>
          </p:blipFill>
          <p:spPr>
            <a:xfrm>
              <a:off x="3001219" y="1537798"/>
              <a:ext cx="79795" cy="67038"/>
            </a:xfrm>
            <a:prstGeom prst="rect">
              <a:avLst/>
            </a:prstGeom>
          </p:spPr>
        </p:pic>
        <p:sp>
          <p:nvSpPr>
            <p:cNvPr id="39" name="object 39"/>
            <p:cNvSpPr/>
            <p:nvPr/>
          </p:nvSpPr>
          <p:spPr>
            <a:xfrm>
              <a:off x="1734864" y="1558015"/>
              <a:ext cx="1524000" cy="339090"/>
            </a:xfrm>
            <a:custGeom>
              <a:avLst/>
              <a:gdLst/>
              <a:ahLst/>
              <a:cxnLst/>
              <a:rect l="l" t="t" r="r" b="b"/>
              <a:pathLst>
                <a:path w="1524000" h="339089">
                  <a:moveTo>
                    <a:pt x="0" y="29885"/>
                  </a:moveTo>
                  <a:lnTo>
                    <a:pt x="533485" y="338698"/>
                  </a:lnTo>
                  <a:lnTo>
                    <a:pt x="1024500" y="293594"/>
                  </a:lnTo>
                  <a:lnTo>
                    <a:pt x="1384235" y="109163"/>
                  </a:lnTo>
                  <a:lnTo>
                    <a:pt x="1523882" y="0"/>
                  </a:lnTo>
                </a:path>
              </a:pathLst>
            </a:custGeom>
            <a:ln w="5270">
              <a:solidFill>
                <a:srgbClr val="231F20"/>
              </a:solidFill>
            </a:ln>
          </p:spPr>
          <p:txBody>
            <a:bodyPr wrap="square" lIns="0" tIns="0" rIns="0" bIns="0" rtlCol="0"/>
            <a:lstStyle/>
            <a:p>
              <a:endParaRPr/>
            </a:p>
          </p:txBody>
        </p:sp>
        <p:pic>
          <p:nvPicPr>
            <p:cNvPr id="40" name="object 40"/>
            <p:cNvPicPr/>
            <p:nvPr/>
          </p:nvPicPr>
          <p:blipFill>
            <a:blip r:embed="rId10" cstate="print"/>
            <a:stretch>
              <a:fillRect/>
            </a:stretch>
          </p:blipFill>
          <p:spPr>
            <a:xfrm>
              <a:off x="1709232" y="1560700"/>
              <a:ext cx="74206" cy="75990"/>
            </a:xfrm>
            <a:prstGeom prst="rect">
              <a:avLst/>
            </a:prstGeom>
          </p:spPr>
        </p:pic>
        <p:sp>
          <p:nvSpPr>
            <p:cNvPr id="41" name="object 41"/>
            <p:cNvSpPr/>
            <p:nvPr/>
          </p:nvSpPr>
          <p:spPr>
            <a:xfrm>
              <a:off x="1854380" y="1498253"/>
              <a:ext cx="410845" cy="0"/>
            </a:xfrm>
            <a:custGeom>
              <a:avLst/>
              <a:gdLst/>
              <a:ahLst/>
              <a:cxnLst/>
              <a:rect l="l" t="t" r="r" b="b"/>
              <a:pathLst>
                <a:path w="410844">
                  <a:moveTo>
                    <a:pt x="0" y="0"/>
                  </a:moveTo>
                  <a:lnTo>
                    <a:pt x="410824" y="0"/>
                  </a:lnTo>
                </a:path>
              </a:pathLst>
            </a:custGeom>
            <a:ln w="5270">
              <a:solidFill>
                <a:srgbClr val="231F20"/>
              </a:solidFill>
            </a:ln>
          </p:spPr>
          <p:txBody>
            <a:bodyPr wrap="square" lIns="0" tIns="0" rIns="0" bIns="0" rtlCol="0"/>
            <a:lstStyle/>
            <a:p>
              <a:endParaRPr/>
            </a:p>
          </p:txBody>
        </p:sp>
        <p:pic>
          <p:nvPicPr>
            <p:cNvPr id="42" name="object 42"/>
            <p:cNvPicPr/>
            <p:nvPr/>
          </p:nvPicPr>
          <p:blipFill>
            <a:blip r:embed="rId11" cstate="print"/>
            <a:stretch>
              <a:fillRect/>
            </a:stretch>
          </p:blipFill>
          <p:spPr>
            <a:xfrm>
              <a:off x="2228205" y="1466377"/>
              <a:ext cx="74377" cy="63754"/>
            </a:xfrm>
            <a:prstGeom prst="rect">
              <a:avLst/>
            </a:prstGeom>
          </p:spPr>
        </p:pic>
        <p:sp>
          <p:nvSpPr>
            <p:cNvPr id="43" name="object 43"/>
            <p:cNvSpPr/>
            <p:nvPr/>
          </p:nvSpPr>
          <p:spPr>
            <a:xfrm>
              <a:off x="1891768" y="1408613"/>
              <a:ext cx="410845" cy="0"/>
            </a:xfrm>
            <a:custGeom>
              <a:avLst/>
              <a:gdLst/>
              <a:ahLst/>
              <a:cxnLst/>
              <a:rect l="l" t="t" r="r" b="b"/>
              <a:pathLst>
                <a:path w="410844">
                  <a:moveTo>
                    <a:pt x="410814" y="0"/>
                  </a:moveTo>
                  <a:lnTo>
                    <a:pt x="0" y="0"/>
                  </a:lnTo>
                </a:path>
              </a:pathLst>
            </a:custGeom>
            <a:ln w="5270">
              <a:solidFill>
                <a:srgbClr val="231F20"/>
              </a:solidFill>
            </a:ln>
          </p:spPr>
          <p:txBody>
            <a:bodyPr wrap="square" lIns="0" tIns="0" rIns="0" bIns="0" rtlCol="0"/>
            <a:lstStyle/>
            <a:p>
              <a:endParaRPr/>
            </a:p>
          </p:txBody>
        </p:sp>
        <p:pic>
          <p:nvPicPr>
            <p:cNvPr id="44" name="object 44"/>
            <p:cNvPicPr/>
            <p:nvPr/>
          </p:nvPicPr>
          <p:blipFill>
            <a:blip r:embed="rId12" cstate="print"/>
            <a:stretch>
              <a:fillRect/>
            </a:stretch>
          </p:blipFill>
          <p:spPr>
            <a:xfrm>
              <a:off x="1854380" y="1376737"/>
              <a:ext cx="74377" cy="63751"/>
            </a:xfrm>
            <a:prstGeom prst="rect">
              <a:avLst/>
            </a:prstGeom>
          </p:spPr>
        </p:pic>
        <p:sp>
          <p:nvSpPr>
            <p:cNvPr id="45" name="object 45"/>
            <p:cNvSpPr/>
            <p:nvPr/>
          </p:nvSpPr>
          <p:spPr>
            <a:xfrm>
              <a:off x="1144766" y="1498253"/>
              <a:ext cx="410845" cy="0"/>
            </a:xfrm>
            <a:custGeom>
              <a:avLst/>
              <a:gdLst/>
              <a:ahLst/>
              <a:cxnLst/>
              <a:rect l="l" t="t" r="r" b="b"/>
              <a:pathLst>
                <a:path w="410844">
                  <a:moveTo>
                    <a:pt x="410818" y="0"/>
                  </a:moveTo>
                  <a:lnTo>
                    <a:pt x="0" y="0"/>
                  </a:lnTo>
                </a:path>
              </a:pathLst>
            </a:custGeom>
            <a:ln w="5270">
              <a:solidFill>
                <a:srgbClr val="231F20"/>
              </a:solidFill>
            </a:ln>
          </p:spPr>
          <p:txBody>
            <a:bodyPr wrap="square" lIns="0" tIns="0" rIns="0" bIns="0" rtlCol="0"/>
            <a:lstStyle/>
            <a:p>
              <a:endParaRPr/>
            </a:p>
          </p:txBody>
        </p:sp>
        <p:pic>
          <p:nvPicPr>
            <p:cNvPr id="46" name="object 46"/>
            <p:cNvPicPr/>
            <p:nvPr/>
          </p:nvPicPr>
          <p:blipFill>
            <a:blip r:embed="rId13" cstate="print"/>
            <a:stretch>
              <a:fillRect/>
            </a:stretch>
          </p:blipFill>
          <p:spPr>
            <a:xfrm>
              <a:off x="1107386" y="1466377"/>
              <a:ext cx="74370" cy="63754"/>
            </a:xfrm>
            <a:prstGeom prst="rect">
              <a:avLst/>
            </a:prstGeom>
          </p:spPr>
        </p:pic>
        <p:sp>
          <p:nvSpPr>
            <p:cNvPr id="47" name="object 47"/>
            <p:cNvSpPr/>
            <p:nvPr/>
          </p:nvSpPr>
          <p:spPr>
            <a:xfrm>
              <a:off x="987869" y="997798"/>
              <a:ext cx="0" cy="351155"/>
            </a:xfrm>
            <a:custGeom>
              <a:avLst/>
              <a:gdLst/>
              <a:ahLst/>
              <a:cxnLst/>
              <a:rect l="l" t="t" r="r" b="b"/>
              <a:pathLst>
                <a:path h="351155">
                  <a:moveTo>
                    <a:pt x="0" y="351057"/>
                  </a:moveTo>
                  <a:lnTo>
                    <a:pt x="0" y="0"/>
                  </a:lnTo>
                </a:path>
              </a:pathLst>
            </a:custGeom>
            <a:ln w="5270">
              <a:solidFill>
                <a:srgbClr val="231F20"/>
              </a:solidFill>
            </a:ln>
          </p:spPr>
          <p:txBody>
            <a:bodyPr wrap="square" lIns="0" tIns="0" rIns="0" bIns="0" rtlCol="0"/>
            <a:lstStyle/>
            <a:p>
              <a:endParaRPr/>
            </a:p>
          </p:txBody>
        </p:sp>
        <p:pic>
          <p:nvPicPr>
            <p:cNvPr id="48" name="object 48"/>
            <p:cNvPicPr/>
            <p:nvPr/>
          </p:nvPicPr>
          <p:blipFill>
            <a:blip r:embed="rId14" cstate="print"/>
            <a:stretch>
              <a:fillRect/>
            </a:stretch>
          </p:blipFill>
          <p:spPr>
            <a:xfrm>
              <a:off x="955987" y="960420"/>
              <a:ext cx="63751" cy="74366"/>
            </a:xfrm>
            <a:prstGeom prst="rect">
              <a:avLst/>
            </a:prstGeom>
          </p:spPr>
        </p:pic>
        <p:sp>
          <p:nvSpPr>
            <p:cNvPr id="49" name="object 49"/>
            <p:cNvSpPr/>
            <p:nvPr/>
          </p:nvSpPr>
          <p:spPr>
            <a:xfrm>
              <a:off x="2481864" y="999421"/>
              <a:ext cx="0" cy="351155"/>
            </a:xfrm>
            <a:custGeom>
              <a:avLst/>
              <a:gdLst/>
              <a:ahLst/>
              <a:cxnLst/>
              <a:rect l="l" t="t" r="r" b="b"/>
              <a:pathLst>
                <a:path h="351155">
                  <a:moveTo>
                    <a:pt x="0" y="351067"/>
                  </a:moveTo>
                  <a:lnTo>
                    <a:pt x="0" y="0"/>
                  </a:lnTo>
                </a:path>
              </a:pathLst>
            </a:custGeom>
            <a:ln w="5270">
              <a:solidFill>
                <a:srgbClr val="231F20"/>
              </a:solidFill>
            </a:ln>
          </p:spPr>
          <p:txBody>
            <a:bodyPr wrap="square" lIns="0" tIns="0" rIns="0" bIns="0" rtlCol="0"/>
            <a:lstStyle/>
            <a:p>
              <a:endParaRPr/>
            </a:p>
          </p:txBody>
        </p:sp>
        <p:pic>
          <p:nvPicPr>
            <p:cNvPr id="50" name="object 50"/>
            <p:cNvPicPr/>
            <p:nvPr/>
          </p:nvPicPr>
          <p:blipFill>
            <a:blip r:embed="rId15" cstate="print"/>
            <a:stretch>
              <a:fillRect/>
            </a:stretch>
          </p:blipFill>
          <p:spPr>
            <a:xfrm>
              <a:off x="2449999" y="962043"/>
              <a:ext cx="63741" cy="74387"/>
            </a:xfrm>
            <a:prstGeom prst="rect">
              <a:avLst/>
            </a:prstGeom>
          </p:spPr>
        </p:pic>
      </p:grpSp>
      <p:sp>
        <p:nvSpPr>
          <p:cNvPr id="51" name="object 51"/>
          <p:cNvSpPr txBox="1"/>
          <p:nvPr/>
        </p:nvSpPr>
        <p:spPr>
          <a:xfrm>
            <a:off x="766058" y="2058660"/>
            <a:ext cx="1310005" cy="503555"/>
          </a:xfrm>
          <a:prstGeom prst="rect">
            <a:avLst/>
          </a:prstGeom>
        </p:spPr>
        <p:txBody>
          <a:bodyPr vert="horz" wrap="square" lIns="0" tIns="13970" rIns="0" bIns="0" rtlCol="0">
            <a:spAutoFit/>
          </a:bodyPr>
          <a:lstStyle/>
          <a:p>
            <a:pPr marL="12700">
              <a:lnSpc>
                <a:spcPts val="760"/>
              </a:lnSpc>
              <a:spcBef>
                <a:spcPts val="110"/>
              </a:spcBef>
            </a:pPr>
            <a:r>
              <a:rPr sz="650" spc="5" dirty="0">
                <a:solidFill>
                  <a:srgbClr val="231F20"/>
                </a:solidFill>
                <a:latin typeface="Arial"/>
                <a:cs typeface="Arial"/>
              </a:rPr>
              <a:t>W1.</a:t>
            </a:r>
            <a:r>
              <a:rPr sz="650" spc="-25" dirty="0">
                <a:solidFill>
                  <a:srgbClr val="231F20"/>
                </a:solidFill>
                <a:latin typeface="Arial"/>
                <a:cs typeface="Arial"/>
              </a:rPr>
              <a:t> </a:t>
            </a:r>
            <a:r>
              <a:rPr sz="650" dirty="0">
                <a:solidFill>
                  <a:srgbClr val="231F20"/>
                </a:solidFill>
                <a:latin typeface="Arial"/>
                <a:cs typeface="Arial"/>
              </a:rPr>
              <a:t>Write</a:t>
            </a:r>
            <a:r>
              <a:rPr sz="650" spc="-20" dirty="0">
                <a:solidFill>
                  <a:srgbClr val="231F20"/>
                </a:solidFill>
                <a:latin typeface="Arial"/>
                <a:cs typeface="Arial"/>
              </a:rPr>
              <a:t> </a:t>
            </a:r>
            <a:r>
              <a:rPr sz="650" spc="5" dirty="0">
                <a:solidFill>
                  <a:srgbClr val="231F20"/>
                </a:solidFill>
                <a:latin typeface="Arial"/>
                <a:cs typeface="Arial"/>
              </a:rPr>
              <a:t>request</a:t>
            </a:r>
            <a:endParaRPr sz="650">
              <a:latin typeface="Arial"/>
              <a:cs typeface="Arial"/>
            </a:endParaRPr>
          </a:p>
          <a:p>
            <a:pPr marL="12700" marR="103505">
              <a:lnSpc>
                <a:spcPts val="740"/>
              </a:lnSpc>
              <a:spcBef>
                <a:spcPts val="40"/>
              </a:spcBef>
            </a:pPr>
            <a:r>
              <a:rPr sz="650" spc="5" dirty="0">
                <a:solidFill>
                  <a:srgbClr val="231F20"/>
                </a:solidFill>
                <a:latin typeface="Arial"/>
                <a:cs typeface="Arial"/>
              </a:rPr>
              <a:t>W2.</a:t>
            </a:r>
            <a:r>
              <a:rPr sz="650" spc="-15" dirty="0">
                <a:solidFill>
                  <a:srgbClr val="231F20"/>
                </a:solidFill>
                <a:latin typeface="Arial"/>
                <a:cs typeface="Arial"/>
              </a:rPr>
              <a:t> </a:t>
            </a:r>
            <a:r>
              <a:rPr sz="650" spc="5" dirty="0">
                <a:solidFill>
                  <a:srgbClr val="231F20"/>
                </a:solidFill>
                <a:latin typeface="Arial"/>
                <a:cs typeface="Arial"/>
              </a:rPr>
              <a:t>Forward</a:t>
            </a:r>
            <a:r>
              <a:rPr sz="650" spc="-15" dirty="0">
                <a:solidFill>
                  <a:srgbClr val="231F20"/>
                </a:solidFill>
                <a:latin typeface="Arial"/>
                <a:cs typeface="Arial"/>
              </a:rPr>
              <a:t> </a:t>
            </a:r>
            <a:r>
              <a:rPr sz="650" spc="5" dirty="0">
                <a:solidFill>
                  <a:srgbClr val="231F20"/>
                </a:solidFill>
                <a:latin typeface="Arial"/>
                <a:cs typeface="Arial"/>
              </a:rPr>
              <a:t>request</a:t>
            </a:r>
            <a:r>
              <a:rPr sz="650" spc="-10" dirty="0">
                <a:solidFill>
                  <a:srgbClr val="231F20"/>
                </a:solidFill>
                <a:latin typeface="Arial"/>
                <a:cs typeface="Arial"/>
              </a:rPr>
              <a:t> </a:t>
            </a:r>
            <a:r>
              <a:rPr sz="650" dirty="0">
                <a:solidFill>
                  <a:srgbClr val="231F20"/>
                </a:solidFill>
                <a:latin typeface="Arial"/>
                <a:cs typeface="Arial"/>
              </a:rPr>
              <a:t>to</a:t>
            </a:r>
            <a:r>
              <a:rPr sz="650" spc="-15" dirty="0">
                <a:solidFill>
                  <a:srgbClr val="231F20"/>
                </a:solidFill>
                <a:latin typeface="Arial"/>
                <a:cs typeface="Arial"/>
              </a:rPr>
              <a:t> </a:t>
            </a:r>
            <a:r>
              <a:rPr sz="650" spc="5" dirty="0">
                <a:solidFill>
                  <a:srgbClr val="231F20"/>
                </a:solidFill>
                <a:latin typeface="Arial"/>
                <a:cs typeface="Arial"/>
              </a:rPr>
              <a:t>primary </a:t>
            </a:r>
            <a:r>
              <a:rPr sz="650" spc="-165" dirty="0">
                <a:solidFill>
                  <a:srgbClr val="231F20"/>
                </a:solidFill>
                <a:latin typeface="Arial"/>
                <a:cs typeface="Arial"/>
              </a:rPr>
              <a:t> </a:t>
            </a:r>
            <a:r>
              <a:rPr sz="650" spc="5" dirty="0">
                <a:solidFill>
                  <a:srgbClr val="231F20"/>
                </a:solidFill>
                <a:latin typeface="Arial"/>
                <a:cs typeface="Arial"/>
              </a:rPr>
              <a:t>W3.</a:t>
            </a:r>
            <a:r>
              <a:rPr sz="650" spc="-15" dirty="0">
                <a:solidFill>
                  <a:srgbClr val="231F20"/>
                </a:solidFill>
                <a:latin typeface="Arial"/>
                <a:cs typeface="Arial"/>
              </a:rPr>
              <a:t> Tell</a:t>
            </a:r>
            <a:r>
              <a:rPr sz="650" spc="-10" dirty="0">
                <a:solidFill>
                  <a:srgbClr val="231F20"/>
                </a:solidFill>
                <a:latin typeface="Arial"/>
                <a:cs typeface="Arial"/>
              </a:rPr>
              <a:t> </a:t>
            </a:r>
            <a:r>
              <a:rPr sz="650" spc="5" dirty="0">
                <a:solidFill>
                  <a:srgbClr val="231F20"/>
                </a:solidFill>
                <a:latin typeface="Arial"/>
                <a:cs typeface="Arial"/>
              </a:rPr>
              <a:t>backups</a:t>
            </a:r>
            <a:r>
              <a:rPr sz="650" spc="-5" dirty="0">
                <a:solidFill>
                  <a:srgbClr val="231F20"/>
                </a:solidFill>
                <a:latin typeface="Arial"/>
                <a:cs typeface="Arial"/>
              </a:rPr>
              <a:t> </a:t>
            </a:r>
            <a:r>
              <a:rPr sz="650" spc="5" dirty="0">
                <a:solidFill>
                  <a:srgbClr val="231F20"/>
                </a:solidFill>
                <a:latin typeface="Arial"/>
                <a:cs typeface="Arial"/>
              </a:rPr>
              <a:t>to</a:t>
            </a:r>
            <a:r>
              <a:rPr sz="650" spc="-5" dirty="0">
                <a:solidFill>
                  <a:srgbClr val="231F20"/>
                </a:solidFill>
                <a:latin typeface="Arial"/>
                <a:cs typeface="Arial"/>
              </a:rPr>
              <a:t> </a:t>
            </a:r>
            <a:r>
              <a:rPr sz="650" spc="5" dirty="0">
                <a:solidFill>
                  <a:srgbClr val="231F20"/>
                </a:solidFill>
                <a:latin typeface="Arial"/>
                <a:cs typeface="Arial"/>
              </a:rPr>
              <a:t>update</a:t>
            </a:r>
            <a:endParaRPr sz="650">
              <a:latin typeface="Arial"/>
              <a:cs typeface="Arial"/>
            </a:endParaRPr>
          </a:p>
          <a:p>
            <a:pPr marL="12700">
              <a:lnSpc>
                <a:spcPts val="705"/>
              </a:lnSpc>
            </a:pPr>
            <a:r>
              <a:rPr sz="650" spc="5" dirty="0">
                <a:solidFill>
                  <a:srgbClr val="231F20"/>
                </a:solidFill>
                <a:latin typeface="Arial"/>
                <a:cs typeface="Arial"/>
              </a:rPr>
              <a:t>W4</a:t>
            </a:r>
            <a:r>
              <a:rPr sz="650" dirty="0">
                <a:solidFill>
                  <a:srgbClr val="231F20"/>
                </a:solidFill>
                <a:latin typeface="Arial"/>
                <a:cs typeface="Arial"/>
              </a:rPr>
              <a:t>.</a:t>
            </a:r>
            <a:r>
              <a:rPr sz="650" spc="-35" dirty="0">
                <a:solidFill>
                  <a:srgbClr val="231F20"/>
                </a:solidFill>
                <a:latin typeface="Arial"/>
                <a:cs typeface="Arial"/>
              </a:rPr>
              <a:t> </a:t>
            </a:r>
            <a:r>
              <a:rPr sz="650" spc="5" dirty="0">
                <a:solidFill>
                  <a:srgbClr val="231F20"/>
                </a:solidFill>
                <a:latin typeface="Arial"/>
                <a:cs typeface="Arial"/>
              </a:rPr>
              <a:t>Acknowledge</a:t>
            </a:r>
            <a:r>
              <a:rPr sz="650" dirty="0">
                <a:solidFill>
                  <a:srgbClr val="231F20"/>
                </a:solidFill>
                <a:latin typeface="Arial"/>
                <a:cs typeface="Arial"/>
              </a:rPr>
              <a:t> </a:t>
            </a:r>
            <a:r>
              <a:rPr sz="650" spc="5" dirty="0">
                <a:solidFill>
                  <a:srgbClr val="231F20"/>
                </a:solidFill>
                <a:latin typeface="Arial"/>
                <a:cs typeface="Arial"/>
              </a:rPr>
              <a:t>update</a:t>
            </a:r>
            <a:endParaRPr sz="650">
              <a:latin typeface="Arial"/>
              <a:cs typeface="Arial"/>
            </a:endParaRPr>
          </a:p>
          <a:p>
            <a:pPr marL="12700">
              <a:lnSpc>
                <a:spcPts val="760"/>
              </a:lnSpc>
            </a:pPr>
            <a:r>
              <a:rPr sz="650" spc="5" dirty="0">
                <a:solidFill>
                  <a:srgbClr val="231F20"/>
                </a:solidFill>
                <a:latin typeface="Arial"/>
                <a:cs typeface="Arial"/>
              </a:rPr>
              <a:t>W5</a:t>
            </a:r>
            <a:r>
              <a:rPr sz="650" dirty="0">
                <a:solidFill>
                  <a:srgbClr val="231F20"/>
                </a:solidFill>
                <a:latin typeface="Arial"/>
                <a:cs typeface="Arial"/>
              </a:rPr>
              <a:t>.</a:t>
            </a:r>
            <a:r>
              <a:rPr sz="650" spc="-35" dirty="0">
                <a:solidFill>
                  <a:srgbClr val="231F20"/>
                </a:solidFill>
                <a:latin typeface="Arial"/>
                <a:cs typeface="Arial"/>
              </a:rPr>
              <a:t> </a:t>
            </a:r>
            <a:r>
              <a:rPr sz="650" spc="5" dirty="0">
                <a:solidFill>
                  <a:srgbClr val="231F20"/>
                </a:solidFill>
                <a:latin typeface="Arial"/>
                <a:cs typeface="Arial"/>
              </a:rPr>
              <a:t>Acknowledge</a:t>
            </a:r>
            <a:r>
              <a:rPr sz="650" dirty="0">
                <a:solidFill>
                  <a:srgbClr val="231F20"/>
                </a:solidFill>
                <a:latin typeface="Arial"/>
                <a:cs typeface="Arial"/>
              </a:rPr>
              <a:t> </a:t>
            </a:r>
            <a:r>
              <a:rPr sz="650" spc="5" dirty="0">
                <a:solidFill>
                  <a:srgbClr val="231F20"/>
                </a:solidFill>
                <a:latin typeface="Arial"/>
                <a:cs typeface="Arial"/>
              </a:rPr>
              <a:t>write</a:t>
            </a:r>
            <a:r>
              <a:rPr sz="650" dirty="0">
                <a:solidFill>
                  <a:srgbClr val="231F20"/>
                </a:solidFill>
                <a:latin typeface="Arial"/>
                <a:cs typeface="Arial"/>
              </a:rPr>
              <a:t> </a:t>
            </a:r>
            <a:r>
              <a:rPr sz="650" spc="5" dirty="0">
                <a:solidFill>
                  <a:srgbClr val="231F20"/>
                </a:solidFill>
                <a:latin typeface="Arial"/>
                <a:cs typeface="Arial"/>
              </a:rPr>
              <a:t>completed</a:t>
            </a:r>
            <a:endParaRPr sz="650">
              <a:latin typeface="Arial"/>
              <a:cs typeface="Arial"/>
            </a:endParaRPr>
          </a:p>
        </p:txBody>
      </p:sp>
      <p:sp>
        <p:nvSpPr>
          <p:cNvPr id="52" name="object 52"/>
          <p:cNvSpPr txBox="1"/>
          <p:nvPr/>
        </p:nvSpPr>
        <p:spPr>
          <a:xfrm>
            <a:off x="1244027" y="1700100"/>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W2</a:t>
            </a:r>
            <a:endParaRPr sz="650">
              <a:latin typeface="Arial"/>
              <a:cs typeface="Arial"/>
            </a:endParaRPr>
          </a:p>
        </p:txBody>
      </p:sp>
      <p:sp>
        <p:nvSpPr>
          <p:cNvPr id="53" name="object 53"/>
          <p:cNvSpPr txBox="1"/>
          <p:nvPr/>
        </p:nvSpPr>
        <p:spPr>
          <a:xfrm>
            <a:off x="1244027" y="1490927"/>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W3</a:t>
            </a:r>
            <a:endParaRPr sz="650">
              <a:latin typeface="Arial"/>
              <a:cs typeface="Arial"/>
            </a:endParaRPr>
          </a:p>
        </p:txBody>
      </p:sp>
      <p:sp>
        <p:nvSpPr>
          <p:cNvPr id="54" name="object 54"/>
          <p:cNvSpPr txBox="1"/>
          <p:nvPr/>
        </p:nvSpPr>
        <p:spPr>
          <a:xfrm>
            <a:off x="1991203" y="1490927"/>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W3</a:t>
            </a:r>
            <a:endParaRPr sz="650">
              <a:latin typeface="Arial"/>
              <a:cs typeface="Arial"/>
            </a:endParaRPr>
          </a:p>
        </p:txBody>
      </p:sp>
      <p:sp>
        <p:nvSpPr>
          <p:cNvPr id="55" name="object 55"/>
          <p:cNvSpPr txBox="1"/>
          <p:nvPr/>
        </p:nvSpPr>
        <p:spPr>
          <a:xfrm>
            <a:off x="2409387" y="1700100"/>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W3</a:t>
            </a:r>
            <a:endParaRPr sz="650">
              <a:latin typeface="Arial"/>
              <a:cs typeface="Arial"/>
            </a:endParaRPr>
          </a:p>
        </p:txBody>
      </p:sp>
      <p:sp>
        <p:nvSpPr>
          <p:cNvPr id="56" name="object 56"/>
          <p:cNvSpPr txBox="1"/>
          <p:nvPr/>
        </p:nvSpPr>
        <p:spPr>
          <a:xfrm>
            <a:off x="1244027" y="1281754"/>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W4</a:t>
            </a:r>
            <a:endParaRPr sz="650">
              <a:latin typeface="Arial"/>
              <a:cs typeface="Arial"/>
            </a:endParaRPr>
          </a:p>
        </p:txBody>
      </p:sp>
      <p:sp>
        <p:nvSpPr>
          <p:cNvPr id="57" name="object 57"/>
          <p:cNvSpPr txBox="1"/>
          <p:nvPr/>
        </p:nvSpPr>
        <p:spPr>
          <a:xfrm>
            <a:off x="1991203" y="1281754"/>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W4</a:t>
            </a:r>
            <a:endParaRPr sz="650">
              <a:latin typeface="Arial"/>
              <a:cs typeface="Arial"/>
            </a:endParaRPr>
          </a:p>
        </p:txBody>
      </p:sp>
      <p:sp>
        <p:nvSpPr>
          <p:cNvPr id="58" name="object 58"/>
          <p:cNvSpPr txBox="1"/>
          <p:nvPr/>
        </p:nvSpPr>
        <p:spPr>
          <a:xfrm>
            <a:off x="1811837" y="1759806"/>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W4</a:t>
            </a:r>
            <a:endParaRPr sz="650">
              <a:latin typeface="Arial"/>
              <a:cs typeface="Arial"/>
            </a:endParaRPr>
          </a:p>
        </p:txBody>
      </p:sp>
      <p:sp>
        <p:nvSpPr>
          <p:cNvPr id="59" name="object 59"/>
          <p:cNvSpPr txBox="1"/>
          <p:nvPr/>
        </p:nvSpPr>
        <p:spPr>
          <a:xfrm>
            <a:off x="766058" y="1072581"/>
            <a:ext cx="39116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W1</a:t>
            </a:r>
            <a:r>
              <a:rPr sz="650" dirty="0">
                <a:solidFill>
                  <a:srgbClr val="231F20"/>
                </a:solidFill>
                <a:latin typeface="Arial"/>
                <a:cs typeface="Arial"/>
              </a:rPr>
              <a:t>    </a:t>
            </a:r>
            <a:r>
              <a:rPr sz="650" spc="-20" dirty="0">
                <a:solidFill>
                  <a:srgbClr val="231F20"/>
                </a:solidFill>
                <a:latin typeface="Arial"/>
                <a:cs typeface="Arial"/>
              </a:rPr>
              <a:t> </a:t>
            </a:r>
            <a:r>
              <a:rPr sz="650" spc="5" dirty="0">
                <a:solidFill>
                  <a:srgbClr val="231F20"/>
                </a:solidFill>
                <a:latin typeface="Arial"/>
                <a:cs typeface="Arial"/>
              </a:rPr>
              <a:t>W5</a:t>
            </a:r>
            <a:endParaRPr sz="650">
              <a:latin typeface="Arial"/>
              <a:cs typeface="Arial"/>
            </a:endParaRPr>
          </a:p>
        </p:txBody>
      </p:sp>
      <p:sp>
        <p:nvSpPr>
          <p:cNvPr id="60" name="object 60"/>
          <p:cNvSpPr txBox="1"/>
          <p:nvPr/>
        </p:nvSpPr>
        <p:spPr>
          <a:xfrm>
            <a:off x="2588659" y="2058664"/>
            <a:ext cx="845819" cy="220979"/>
          </a:xfrm>
          <a:prstGeom prst="rect">
            <a:avLst/>
          </a:prstGeom>
        </p:spPr>
        <p:txBody>
          <a:bodyPr vert="horz" wrap="square" lIns="0" tIns="13970" rIns="0" bIns="0" rtlCol="0">
            <a:spAutoFit/>
          </a:bodyPr>
          <a:lstStyle/>
          <a:p>
            <a:pPr marL="12700">
              <a:lnSpc>
                <a:spcPts val="760"/>
              </a:lnSpc>
              <a:spcBef>
                <a:spcPts val="110"/>
              </a:spcBef>
            </a:pPr>
            <a:r>
              <a:rPr sz="650" spc="5" dirty="0">
                <a:solidFill>
                  <a:srgbClr val="231F20"/>
                </a:solidFill>
                <a:latin typeface="Arial"/>
                <a:cs typeface="Arial"/>
              </a:rPr>
              <a:t>R1.</a:t>
            </a:r>
            <a:r>
              <a:rPr sz="650" spc="-25" dirty="0">
                <a:solidFill>
                  <a:srgbClr val="231F20"/>
                </a:solidFill>
                <a:latin typeface="Arial"/>
                <a:cs typeface="Arial"/>
              </a:rPr>
              <a:t> </a:t>
            </a:r>
            <a:r>
              <a:rPr sz="650" spc="5" dirty="0">
                <a:solidFill>
                  <a:srgbClr val="231F20"/>
                </a:solidFill>
                <a:latin typeface="Arial"/>
                <a:cs typeface="Arial"/>
              </a:rPr>
              <a:t>Read</a:t>
            </a:r>
            <a:r>
              <a:rPr sz="650" spc="-20" dirty="0">
                <a:solidFill>
                  <a:srgbClr val="231F20"/>
                </a:solidFill>
                <a:latin typeface="Arial"/>
                <a:cs typeface="Arial"/>
              </a:rPr>
              <a:t> </a:t>
            </a:r>
            <a:r>
              <a:rPr sz="650" spc="5" dirty="0">
                <a:solidFill>
                  <a:srgbClr val="231F20"/>
                </a:solidFill>
                <a:latin typeface="Arial"/>
                <a:cs typeface="Arial"/>
              </a:rPr>
              <a:t>request</a:t>
            </a:r>
            <a:endParaRPr sz="650">
              <a:latin typeface="Arial"/>
              <a:cs typeface="Arial"/>
            </a:endParaRPr>
          </a:p>
          <a:p>
            <a:pPr marL="12700">
              <a:lnSpc>
                <a:spcPts val="760"/>
              </a:lnSpc>
            </a:pPr>
            <a:r>
              <a:rPr sz="650" spc="5" dirty="0">
                <a:solidFill>
                  <a:srgbClr val="231F20"/>
                </a:solidFill>
                <a:latin typeface="Arial"/>
                <a:cs typeface="Arial"/>
              </a:rPr>
              <a:t>R2.</a:t>
            </a:r>
            <a:r>
              <a:rPr sz="650" spc="-20" dirty="0">
                <a:solidFill>
                  <a:srgbClr val="231F20"/>
                </a:solidFill>
                <a:latin typeface="Arial"/>
                <a:cs typeface="Arial"/>
              </a:rPr>
              <a:t> </a:t>
            </a:r>
            <a:r>
              <a:rPr sz="650" spc="5" dirty="0">
                <a:solidFill>
                  <a:srgbClr val="231F20"/>
                </a:solidFill>
                <a:latin typeface="Arial"/>
                <a:cs typeface="Arial"/>
              </a:rPr>
              <a:t>Response</a:t>
            </a:r>
            <a:r>
              <a:rPr sz="650" spc="-15" dirty="0">
                <a:solidFill>
                  <a:srgbClr val="231F20"/>
                </a:solidFill>
                <a:latin typeface="Arial"/>
                <a:cs typeface="Arial"/>
              </a:rPr>
              <a:t> </a:t>
            </a:r>
            <a:r>
              <a:rPr sz="650" spc="5" dirty="0">
                <a:solidFill>
                  <a:srgbClr val="231F20"/>
                </a:solidFill>
                <a:latin typeface="Arial"/>
                <a:cs typeface="Arial"/>
              </a:rPr>
              <a:t>to</a:t>
            </a:r>
            <a:r>
              <a:rPr sz="650" spc="-20" dirty="0">
                <a:solidFill>
                  <a:srgbClr val="231F20"/>
                </a:solidFill>
                <a:latin typeface="Arial"/>
                <a:cs typeface="Arial"/>
              </a:rPr>
              <a:t> </a:t>
            </a:r>
            <a:r>
              <a:rPr sz="650" spc="5" dirty="0">
                <a:solidFill>
                  <a:srgbClr val="231F20"/>
                </a:solidFill>
                <a:latin typeface="Arial"/>
                <a:cs typeface="Arial"/>
              </a:rPr>
              <a:t>read</a:t>
            </a:r>
            <a:endParaRPr sz="650">
              <a:latin typeface="Arial"/>
              <a:cs typeface="Arial"/>
            </a:endParaRPr>
          </a:p>
        </p:txBody>
      </p:sp>
      <p:sp>
        <p:nvSpPr>
          <p:cNvPr id="61" name="object 61"/>
          <p:cNvSpPr txBox="1"/>
          <p:nvPr/>
        </p:nvSpPr>
        <p:spPr>
          <a:xfrm>
            <a:off x="2289896" y="1072584"/>
            <a:ext cx="3422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R1  </a:t>
            </a:r>
            <a:r>
              <a:rPr sz="650" spc="165" dirty="0">
                <a:solidFill>
                  <a:srgbClr val="231F20"/>
                </a:solidFill>
                <a:latin typeface="Arial"/>
                <a:cs typeface="Arial"/>
              </a:rPr>
              <a:t> </a:t>
            </a:r>
            <a:r>
              <a:rPr sz="650" spc="5" dirty="0">
                <a:solidFill>
                  <a:srgbClr val="231F20"/>
                </a:solidFill>
                <a:latin typeface="Arial"/>
                <a:cs typeface="Arial"/>
              </a:rPr>
              <a:t>R2</a:t>
            </a:r>
            <a:endParaRPr sz="650">
              <a:latin typeface="Arial"/>
              <a:cs typeface="Arial"/>
            </a:endParaRPr>
          </a:p>
        </p:txBody>
      </p:sp>
      <p:pic>
        <p:nvPicPr>
          <p:cNvPr id="62" name="object 62"/>
          <p:cNvPicPr/>
          <p:nvPr/>
        </p:nvPicPr>
        <p:blipFill>
          <a:blip r:embed="rId16" cstate="print"/>
          <a:stretch>
            <a:fillRect/>
          </a:stretch>
        </p:blipFill>
        <p:spPr>
          <a:xfrm>
            <a:off x="932311" y="1550715"/>
            <a:ext cx="63756" cy="74540"/>
          </a:xfrm>
          <a:prstGeom prst="rect">
            <a:avLst/>
          </a:prstGeom>
        </p:spPr>
      </p:pic>
      <p:sp>
        <p:nvSpPr>
          <p:cNvPr id="63" name="object 63"/>
          <p:cNvSpPr txBox="1"/>
          <p:nvPr/>
        </p:nvSpPr>
        <p:spPr>
          <a:xfrm>
            <a:off x="883524" y="1759802"/>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W5</a:t>
            </a:r>
            <a:endParaRPr sz="650">
              <a:latin typeface="Arial"/>
              <a:cs typeface="Arial"/>
            </a:endParaRPr>
          </a:p>
        </p:txBody>
      </p:sp>
      <p:sp>
        <p:nvSpPr>
          <p:cNvPr id="64" name="object 64"/>
          <p:cNvSpPr/>
          <p:nvPr/>
        </p:nvSpPr>
        <p:spPr>
          <a:xfrm>
            <a:off x="964185" y="1558015"/>
            <a:ext cx="710565" cy="379095"/>
          </a:xfrm>
          <a:custGeom>
            <a:avLst/>
            <a:gdLst/>
            <a:ahLst/>
            <a:cxnLst/>
            <a:rect l="l" t="t" r="r" b="b"/>
            <a:pathLst>
              <a:path w="710564" h="379094">
                <a:moveTo>
                  <a:pt x="709964" y="0"/>
                </a:moveTo>
                <a:lnTo>
                  <a:pt x="706912" y="51313"/>
                </a:lnTo>
                <a:lnTo>
                  <a:pt x="698021" y="100518"/>
                </a:lnTo>
                <a:lnTo>
                  <a:pt x="683687" y="147165"/>
                </a:lnTo>
                <a:lnTo>
                  <a:pt x="664308" y="190805"/>
                </a:lnTo>
                <a:lnTo>
                  <a:pt x="640281" y="230991"/>
                </a:lnTo>
                <a:lnTo>
                  <a:pt x="612003" y="267273"/>
                </a:lnTo>
                <a:lnTo>
                  <a:pt x="579872" y="299204"/>
                </a:lnTo>
                <a:lnTo>
                  <a:pt x="544284" y="326335"/>
                </a:lnTo>
                <a:lnTo>
                  <a:pt x="505636" y="348218"/>
                </a:lnTo>
                <a:lnTo>
                  <a:pt x="464326" y="364404"/>
                </a:lnTo>
                <a:lnTo>
                  <a:pt x="420751" y="374444"/>
                </a:lnTo>
                <a:lnTo>
                  <a:pt x="375309" y="377890"/>
                </a:lnTo>
              </a:path>
              <a:path w="710564" h="379094">
                <a:moveTo>
                  <a:pt x="377890" y="378994"/>
                </a:moveTo>
                <a:lnTo>
                  <a:pt x="326577" y="375942"/>
                </a:lnTo>
                <a:lnTo>
                  <a:pt x="277373" y="367050"/>
                </a:lnTo>
                <a:lnTo>
                  <a:pt x="230727" y="352716"/>
                </a:lnTo>
                <a:lnTo>
                  <a:pt x="187086" y="333337"/>
                </a:lnTo>
                <a:lnTo>
                  <a:pt x="146901" y="309310"/>
                </a:lnTo>
                <a:lnTo>
                  <a:pt x="110618" y="281032"/>
                </a:lnTo>
                <a:lnTo>
                  <a:pt x="78686" y="248901"/>
                </a:lnTo>
                <a:lnTo>
                  <a:pt x="51555" y="213313"/>
                </a:lnTo>
                <a:lnTo>
                  <a:pt x="29672" y="174667"/>
                </a:lnTo>
                <a:lnTo>
                  <a:pt x="13486" y="133359"/>
                </a:lnTo>
                <a:lnTo>
                  <a:pt x="3446" y="89786"/>
                </a:lnTo>
                <a:lnTo>
                  <a:pt x="0" y="44345"/>
                </a:lnTo>
              </a:path>
            </a:pathLst>
          </a:custGeom>
          <a:ln w="5270">
            <a:solidFill>
              <a:srgbClr val="231F20"/>
            </a:solidFill>
          </a:ln>
        </p:spPr>
        <p:txBody>
          <a:bodyPr wrap="square" lIns="0" tIns="0" rIns="0" bIns="0" rtlCol="0"/>
          <a:lstStyle/>
          <a:p>
            <a:endParaRPr/>
          </a:p>
        </p:txBody>
      </p:sp>
      <p:sp>
        <p:nvSpPr>
          <p:cNvPr id="65" name="object 65"/>
          <p:cNvSpPr txBox="1"/>
          <p:nvPr/>
        </p:nvSpPr>
        <p:spPr>
          <a:xfrm>
            <a:off x="66713" y="3331252"/>
            <a:ext cx="80708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4" action="ppaction://hlinksldjump"/>
              </a:rPr>
              <a:t>Remote-write</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protocols</a:t>
            </a:r>
            <a:endParaRPr sz="600">
              <a:latin typeface="Arial"/>
              <a:cs typeface="Arial"/>
            </a:endParaRPr>
          </a:p>
        </p:txBody>
      </p:sp>
      <p:sp>
        <p:nvSpPr>
          <p:cNvPr id="66" name="object 6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7570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Consistency</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70" dirty="0">
                <a:solidFill>
                  <a:srgbClr val="3333B2"/>
                </a:solidFill>
                <a:latin typeface="Arial"/>
                <a:cs typeface="Arial"/>
              </a:rPr>
              <a:t> </a:t>
            </a:r>
            <a:r>
              <a:rPr sz="600" spc="-5" dirty="0">
                <a:solidFill>
                  <a:srgbClr val="3333B2"/>
                </a:solidFill>
                <a:latin typeface="Arial"/>
                <a:cs typeface="Arial"/>
                <a:hlinkClick r:id="rId4" action="ppaction://hlinksldjump"/>
              </a:rPr>
              <a:t>Consistency</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protocols</a:t>
            </a:r>
            <a:endParaRPr sz="600">
              <a:latin typeface="Arial"/>
              <a:cs typeface="Arial"/>
            </a:endParaRPr>
          </a:p>
        </p:txBody>
      </p:sp>
      <p:sp>
        <p:nvSpPr>
          <p:cNvPr id="3" name="object 3"/>
          <p:cNvSpPr txBox="1"/>
          <p:nvPr/>
        </p:nvSpPr>
        <p:spPr>
          <a:xfrm>
            <a:off x="2866249" y="716"/>
            <a:ext cx="16751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Sequential</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consistency:</a:t>
            </a:r>
            <a:r>
              <a:rPr sz="600" spc="45" dirty="0">
                <a:solidFill>
                  <a:srgbClr val="262685"/>
                </a:solidFill>
                <a:latin typeface="Arial"/>
                <a:cs typeface="Arial"/>
                <a:hlinkClick r:id="rId5" action="ppaction://hlinksldjump"/>
              </a:rPr>
              <a:t> </a:t>
            </a:r>
            <a:r>
              <a:rPr sz="600" dirty="0">
                <a:solidFill>
                  <a:srgbClr val="262685"/>
                </a:solidFill>
                <a:latin typeface="Arial"/>
                <a:cs typeface="Arial"/>
                <a:hlinkClick r:id="rId5" action="ppaction://hlinksldjump"/>
              </a:rPr>
              <a:t>Primary-based </a:t>
            </a:r>
            <a:r>
              <a:rPr sz="600" spc="-5" dirty="0">
                <a:solidFill>
                  <a:srgbClr val="262685"/>
                </a:solidFill>
                <a:latin typeface="Arial"/>
                <a:cs typeface="Arial"/>
                <a:hlinkClick r:id="rId5" action="ppaction://hlinksldjump"/>
              </a:rPr>
              <a:t>protocols</a:t>
            </a:r>
            <a:endParaRPr sz="600">
              <a:latin typeface="Arial"/>
              <a:cs typeface="Arial"/>
            </a:endParaRPr>
          </a:p>
        </p:txBody>
      </p:sp>
      <p:sp>
        <p:nvSpPr>
          <p:cNvPr id="4" name="object 4"/>
          <p:cNvSpPr txBox="1"/>
          <p:nvPr/>
        </p:nvSpPr>
        <p:spPr>
          <a:xfrm>
            <a:off x="95300" y="188846"/>
            <a:ext cx="2008505"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Primary-based</a:t>
            </a:r>
            <a:r>
              <a:rPr sz="1400" spc="-55" dirty="0">
                <a:solidFill>
                  <a:srgbClr val="3333B2"/>
                </a:solidFill>
                <a:latin typeface="Arial"/>
                <a:cs typeface="Arial"/>
              </a:rPr>
              <a:t> </a:t>
            </a:r>
            <a:r>
              <a:rPr sz="1400" spc="15" dirty="0">
                <a:solidFill>
                  <a:srgbClr val="3333B2"/>
                </a:solidFill>
                <a:latin typeface="Arial"/>
                <a:cs typeface="Arial"/>
              </a:rPr>
              <a:t>protocols</a:t>
            </a:r>
            <a:endParaRPr sz="1400">
              <a:latin typeface="Arial"/>
              <a:cs typeface="Arial"/>
            </a:endParaRPr>
          </a:p>
        </p:txBody>
      </p:sp>
      <p:grpSp>
        <p:nvGrpSpPr>
          <p:cNvPr id="5" name="object 5"/>
          <p:cNvGrpSpPr/>
          <p:nvPr/>
        </p:nvGrpSpPr>
        <p:grpSpPr>
          <a:xfrm>
            <a:off x="712082" y="778281"/>
            <a:ext cx="2755265" cy="1201420"/>
            <a:chOff x="712082" y="778281"/>
            <a:chExt cx="2755265" cy="1201420"/>
          </a:xfrm>
        </p:grpSpPr>
        <p:sp>
          <p:nvSpPr>
            <p:cNvPr id="6" name="object 6"/>
            <p:cNvSpPr/>
            <p:nvPr/>
          </p:nvSpPr>
          <p:spPr>
            <a:xfrm>
              <a:off x="714940" y="781138"/>
              <a:ext cx="2749550" cy="1195705"/>
            </a:xfrm>
            <a:custGeom>
              <a:avLst/>
              <a:gdLst/>
              <a:ahLst/>
              <a:cxnLst/>
              <a:rect l="l" t="t" r="r" b="b"/>
              <a:pathLst>
                <a:path w="2749550" h="1195705">
                  <a:moveTo>
                    <a:pt x="1641665" y="1623"/>
                  </a:moveTo>
                  <a:lnTo>
                    <a:pt x="1820936" y="1623"/>
                  </a:lnTo>
                  <a:lnTo>
                    <a:pt x="1820936" y="180904"/>
                  </a:lnTo>
                  <a:lnTo>
                    <a:pt x="1641665" y="180904"/>
                  </a:lnTo>
                  <a:lnTo>
                    <a:pt x="1641665" y="1623"/>
                  </a:lnTo>
                  <a:close/>
                </a:path>
                <a:path w="2749550" h="1195705">
                  <a:moveTo>
                    <a:pt x="147660" y="0"/>
                  </a:moveTo>
                  <a:lnTo>
                    <a:pt x="326939" y="0"/>
                  </a:lnTo>
                  <a:lnTo>
                    <a:pt x="326939" y="179281"/>
                  </a:lnTo>
                  <a:lnTo>
                    <a:pt x="147660" y="179281"/>
                  </a:lnTo>
                  <a:lnTo>
                    <a:pt x="147660" y="0"/>
                  </a:lnTo>
                  <a:close/>
                </a:path>
                <a:path w="2749550" h="1195705">
                  <a:moveTo>
                    <a:pt x="119525" y="478076"/>
                  </a:moveTo>
                  <a:lnTo>
                    <a:pt x="2629441" y="478076"/>
                  </a:lnTo>
                  <a:lnTo>
                    <a:pt x="2675848" y="487506"/>
                  </a:lnTo>
                  <a:lnTo>
                    <a:pt x="2713854" y="513183"/>
                  </a:lnTo>
                  <a:lnTo>
                    <a:pt x="2739534" y="551184"/>
                  </a:lnTo>
                  <a:lnTo>
                    <a:pt x="2748966" y="597590"/>
                  </a:lnTo>
                  <a:lnTo>
                    <a:pt x="2748966" y="1075677"/>
                  </a:lnTo>
                  <a:lnTo>
                    <a:pt x="2739534" y="1122082"/>
                  </a:lnTo>
                  <a:lnTo>
                    <a:pt x="2713854" y="1160083"/>
                  </a:lnTo>
                  <a:lnTo>
                    <a:pt x="2675848" y="1185759"/>
                  </a:lnTo>
                  <a:lnTo>
                    <a:pt x="2629441" y="1195190"/>
                  </a:lnTo>
                  <a:lnTo>
                    <a:pt x="119525" y="1195190"/>
                  </a:lnTo>
                  <a:lnTo>
                    <a:pt x="73116" y="1185759"/>
                  </a:lnTo>
                  <a:lnTo>
                    <a:pt x="35111" y="1160083"/>
                  </a:lnTo>
                  <a:lnTo>
                    <a:pt x="9431" y="1122082"/>
                  </a:lnTo>
                  <a:lnTo>
                    <a:pt x="0" y="1075677"/>
                  </a:lnTo>
                  <a:lnTo>
                    <a:pt x="0" y="597590"/>
                  </a:lnTo>
                  <a:lnTo>
                    <a:pt x="9431" y="551184"/>
                  </a:lnTo>
                  <a:lnTo>
                    <a:pt x="35111" y="513183"/>
                  </a:lnTo>
                  <a:lnTo>
                    <a:pt x="73116" y="487506"/>
                  </a:lnTo>
                  <a:lnTo>
                    <a:pt x="119525" y="478076"/>
                  </a:lnTo>
                  <a:close/>
                </a:path>
              </a:pathLst>
            </a:custGeom>
            <a:ln w="5270">
              <a:solidFill>
                <a:srgbClr val="231F20"/>
              </a:solidFill>
            </a:ln>
          </p:spPr>
          <p:txBody>
            <a:bodyPr wrap="square" lIns="0" tIns="0" rIns="0" bIns="0" rtlCol="0"/>
            <a:lstStyle/>
            <a:p>
              <a:endParaRPr/>
            </a:p>
          </p:txBody>
        </p:sp>
        <p:sp>
          <p:nvSpPr>
            <p:cNvPr id="7" name="object 7"/>
            <p:cNvSpPr/>
            <p:nvPr/>
          </p:nvSpPr>
          <p:spPr>
            <a:xfrm>
              <a:off x="816607" y="1348856"/>
              <a:ext cx="283210" cy="75565"/>
            </a:xfrm>
            <a:custGeom>
              <a:avLst/>
              <a:gdLst/>
              <a:ahLst/>
              <a:cxnLst/>
              <a:rect l="l" t="t" r="r" b="b"/>
              <a:pathLst>
                <a:path w="283209" h="75565">
                  <a:moveTo>
                    <a:pt x="141376" y="0"/>
                  </a:moveTo>
                  <a:lnTo>
                    <a:pt x="86436" y="2971"/>
                  </a:lnTo>
                  <a:lnTo>
                    <a:pt x="41488" y="11064"/>
                  </a:lnTo>
                  <a:lnTo>
                    <a:pt x="11140" y="23048"/>
                  </a:lnTo>
                  <a:lnTo>
                    <a:pt x="0" y="37694"/>
                  </a:lnTo>
                  <a:lnTo>
                    <a:pt x="11140" y="52346"/>
                  </a:lnTo>
                  <a:lnTo>
                    <a:pt x="41488" y="64334"/>
                  </a:lnTo>
                  <a:lnTo>
                    <a:pt x="86436" y="72428"/>
                  </a:lnTo>
                  <a:lnTo>
                    <a:pt x="141376" y="75399"/>
                  </a:lnTo>
                  <a:lnTo>
                    <a:pt x="196316" y="72428"/>
                  </a:lnTo>
                  <a:lnTo>
                    <a:pt x="241263" y="64334"/>
                  </a:lnTo>
                  <a:lnTo>
                    <a:pt x="271610" y="52346"/>
                  </a:lnTo>
                  <a:lnTo>
                    <a:pt x="282750" y="37694"/>
                  </a:lnTo>
                  <a:lnTo>
                    <a:pt x="271610" y="23048"/>
                  </a:lnTo>
                  <a:lnTo>
                    <a:pt x="241263" y="11064"/>
                  </a:lnTo>
                  <a:lnTo>
                    <a:pt x="196316" y="2971"/>
                  </a:lnTo>
                  <a:lnTo>
                    <a:pt x="141376" y="0"/>
                  </a:lnTo>
                  <a:close/>
                </a:path>
              </a:pathLst>
            </a:custGeom>
            <a:solidFill>
              <a:srgbClr val="FFFFFF"/>
            </a:solidFill>
          </p:spPr>
          <p:txBody>
            <a:bodyPr wrap="square" lIns="0" tIns="0" rIns="0" bIns="0" rtlCol="0"/>
            <a:lstStyle/>
            <a:p>
              <a:endParaRPr/>
            </a:p>
          </p:txBody>
        </p:sp>
        <p:sp>
          <p:nvSpPr>
            <p:cNvPr id="8" name="object 8"/>
            <p:cNvSpPr/>
            <p:nvPr/>
          </p:nvSpPr>
          <p:spPr>
            <a:xfrm>
              <a:off x="816607" y="1348856"/>
              <a:ext cx="283210" cy="75565"/>
            </a:xfrm>
            <a:custGeom>
              <a:avLst/>
              <a:gdLst/>
              <a:ahLst/>
              <a:cxnLst/>
              <a:rect l="l" t="t" r="r" b="b"/>
              <a:pathLst>
                <a:path w="283209" h="75565">
                  <a:moveTo>
                    <a:pt x="141376" y="0"/>
                  </a:moveTo>
                  <a:lnTo>
                    <a:pt x="196316" y="2971"/>
                  </a:lnTo>
                  <a:lnTo>
                    <a:pt x="241263" y="11064"/>
                  </a:lnTo>
                  <a:lnTo>
                    <a:pt x="271610" y="23048"/>
                  </a:lnTo>
                  <a:lnTo>
                    <a:pt x="282750" y="37694"/>
                  </a:lnTo>
                  <a:lnTo>
                    <a:pt x="271610" y="52346"/>
                  </a:lnTo>
                  <a:lnTo>
                    <a:pt x="241263" y="64334"/>
                  </a:lnTo>
                  <a:lnTo>
                    <a:pt x="196316" y="72428"/>
                  </a:lnTo>
                  <a:lnTo>
                    <a:pt x="141376" y="75399"/>
                  </a:lnTo>
                  <a:lnTo>
                    <a:pt x="86436" y="72428"/>
                  </a:lnTo>
                  <a:lnTo>
                    <a:pt x="41488" y="64334"/>
                  </a:lnTo>
                  <a:lnTo>
                    <a:pt x="11140" y="52346"/>
                  </a:lnTo>
                  <a:lnTo>
                    <a:pt x="0" y="37694"/>
                  </a:lnTo>
                  <a:lnTo>
                    <a:pt x="11140" y="23048"/>
                  </a:lnTo>
                  <a:lnTo>
                    <a:pt x="41488" y="11064"/>
                  </a:lnTo>
                  <a:lnTo>
                    <a:pt x="86436" y="2971"/>
                  </a:lnTo>
                  <a:lnTo>
                    <a:pt x="141376" y="0"/>
                  </a:lnTo>
                  <a:close/>
                </a:path>
              </a:pathLst>
            </a:custGeom>
            <a:ln w="5270">
              <a:solidFill>
                <a:srgbClr val="231F20"/>
              </a:solidFill>
            </a:ln>
          </p:spPr>
          <p:txBody>
            <a:bodyPr wrap="square" lIns="0" tIns="0" rIns="0" bIns="0" rtlCol="0"/>
            <a:lstStyle/>
            <a:p>
              <a:endParaRPr/>
            </a:p>
          </p:txBody>
        </p:sp>
        <p:sp>
          <p:nvSpPr>
            <p:cNvPr id="9" name="object 9"/>
            <p:cNvSpPr/>
            <p:nvPr/>
          </p:nvSpPr>
          <p:spPr>
            <a:xfrm>
              <a:off x="816607" y="1387583"/>
              <a:ext cx="283210" cy="157480"/>
            </a:xfrm>
            <a:custGeom>
              <a:avLst/>
              <a:gdLst/>
              <a:ahLst/>
              <a:cxnLst/>
              <a:rect l="l" t="t" r="r" b="b"/>
              <a:pathLst>
                <a:path w="283209" h="157480">
                  <a:moveTo>
                    <a:pt x="0" y="0"/>
                  </a:moveTo>
                  <a:lnTo>
                    <a:pt x="0" y="119382"/>
                  </a:lnTo>
                  <a:lnTo>
                    <a:pt x="12149" y="135877"/>
                  </a:lnTo>
                  <a:lnTo>
                    <a:pt x="44180" y="147660"/>
                  </a:lnTo>
                  <a:lnTo>
                    <a:pt x="89465" y="154729"/>
                  </a:lnTo>
                  <a:lnTo>
                    <a:pt x="141376" y="157086"/>
                  </a:lnTo>
                  <a:lnTo>
                    <a:pt x="193288" y="154729"/>
                  </a:lnTo>
                  <a:lnTo>
                    <a:pt x="238573" y="147660"/>
                  </a:lnTo>
                  <a:lnTo>
                    <a:pt x="270604" y="135877"/>
                  </a:lnTo>
                  <a:lnTo>
                    <a:pt x="282753" y="119382"/>
                  </a:lnTo>
                  <a:lnTo>
                    <a:pt x="282751" y="37694"/>
                  </a:lnTo>
                  <a:lnTo>
                    <a:pt x="141376" y="37694"/>
                  </a:lnTo>
                  <a:lnTo>
                    <a:pt x="86436" y="34725"/>
                  </a:lnTo>
                  <a:lnTo>
                    <a:pt x="41488" y="26634"/>
                  </a:lnTo>
                  <a:lnTo>
                    <a:pt x="11140" y="14650"/>
                  </a:lnTo>
                  <a:lnTo>
                    <a:pt x="0" y="0"/>
                  </a:lnTo>
                  <a:close/>
                </a:path>
                <a:path w="283209" h="157480">
                  <a:moveTo>
                    <a:pt x="282750" y="0"/>
                  </a:moveTo>
                  <a:lnTo>
                    <a:pt x="271610" y="14650"/>
                  </a:lnTo>
                  <a:lnTo>
                    <a:pt x="241263" y="26634"/>
                  </a:lnTo>
                  <a:lnTo>
                    <a:pt x="196316" y="34725"/>
                  </a:lnTo>
                  <a:lnTo>
                    <a:pt x="141376" y="37694"/>
                  </a:lnTo>
                  <a:lnTo>
                    <a:pt x="282751" y="37694"/>
                  </a:lnTo>
                  <a:lnTo>
                    <a:pt x="282750" y="0"/>
                  </a:lnTo>
                  <a:close/>
                </a:path>
              </a:pathLst>
            </a:custGeom>
            <a:solidFill>
              <a:srgbClr val="BCBEC0"/>
            </a:solidFill>
          </p:spPr>
          <p:txBody>
            <a:bodyPr wrap="square" lIns="0" tIns="0" rIns="0" bIns="0" rtlCol="0"/>
            <a:lstStyle/>
            <a:p>
              <a:endParaRPr/>
            </a:p>
          </p:txBody>
        </p:sp>
        <p:sp>
          <p:nvSpPr>
            <p:cNvPr id="10" name="object 10"/>
            <p:cNvSpPr/>
            <p:nvPr/>
          </p:nvSpPr>
          <p:spPr>
            <a:xfrm>
              <a:off x="816607" y="1387583"/>
              <a:ext cx="283210" cy="157480"/>
            </a:xfrm>
            <a:custGeom>
              <a:avLst/>
              <a:gdLst/>
              <a:ahLst/>
              <a:cxnLst/>
              <a:rect l="l" t="t" r="r" b="b"/>
              <a:pathLst>
                <a:path w="283209" h="157480">
                  <a:moveTo>
                    <a:pt x="282753" y="119382"/>
                  </a:moveTo>
                  <a:lnTo>
                    <a:pt x="270604" y="135877"/>
                  </a:lnTo>
                  <a:lnTo>
                    <a:pt x="238573" y="147660"/>
                  </a:lnTo>
                  <a:lnTo>
                    <a:pt x="193288" y="154729"/>
                  </a:lnTo>
                  <a:lnTo>
                    <a:pt x="141376" y="157086"/>
                  </a:lnTo>
                  <a:lnTo>
                    <a:pt x="89465" y="154729"/>
                  </a:lnTo>
                  <a:lnTo>
                    <a:pt x="44180" y="147660"/>
                  </a:lnTo>
                  <a:lnTo>
                    <a:pt x="12149" y="135877"/>
                  </a:lnTo>
                  <a:lnTo>
                    <a:pt x="0" y="119382"/>
                  </a:lnTo>
                  <a:lnTo>
                    <a:pt x="0" y="0"/>
                  </a:lnTo>
                  <a:lnTo>
                    <a:pt x="11140" y="14650"/>
                  </a:lnTo>
                  <a:lnTo>
                    <a:pt x="41488" y="26634"/>
                  </a:lnTo>
                  <a:lnTo>
                    <a:pt x="86436" y="34725"/>
                  </a:lnTo>
                  <a:lnTo>
                    <a:pt x="141376" y="37694"/>
                  </a:lnTo>
                  <a:lnTo>
                    <a:pt x="196316" y="34725"/>
                  </a:lnTo>
                  <a:lnTo>
                    <a:pt x="241263" y="26634"/>
                  </a:lnTo>
                  <a:lnTo>
                    <a:pt x="271610" y="14650"/>
                  </a:lnTo>
                  <a:lnTo>
                    <a:pt x="282750" y="0"/>
                  </a:lnTo>
                  <a:lnTo>
                    <a:pt x="282753" y="119382"/>
                  </a:lnTo>
                  <a:close/>
                </a:path>
              </a:pathLst>
            </a:custGeom>
            <a:ln w="5270">
              <a:solidFill>
                <a:srgbClr val="231F20"/>
              </a:solidFill>
            </a:ln>
          </p:spPr>
          <p:txBody>
            <a:bodyPr wrap="square" lIns="0" tIns="0" rIns="0" bIns="0" rtlCol="0"/>
            <a:lstStyle/>
            <a:p>
              <a:endParaRPr/>
            </a:p>
          </p:txBody>
        </p:sp>
        <p:sp>
          <p:nvSpPr>
            <p:cNvPr id="11" name="object 11"/>
            <p:cNvSpPr/>
            <p:nvPr/>
          </p:nvSpPr>
          <p:spPr>
            <a:xfrm>
              <a:off x="1563609" y="1349456"/>
              <a:ext cx="283210" cy="75565"/>
            </a:xfrm>
            <a:custGeom>
              <a:avLst/>
              <a:gdLst/>
              <a:ahLst/>
              <a:cxnLst/>
              <a:rect l="l" t="t" r="r" b="b"/>
              <a:pathLst>
                <a:path w="283210" h="75565">
                  <a:moveTo>
                    <a:pt x="141376" y="0"/>
                  </a:moveTo>
                  <a:lnTo>
                    <a:pt x="86434" y="2971"/>
                  </a:lnTo>
                  <a:lnTo>
                    <a:pt x="41486" y="11065"/>
                  </a:lnTo>
                  <a:lnTo>
                    <a:pt x="11139" y="23053"/>
                  </a:lnTo>
                  <a:lnTo>
                    <a:pt x="0" y="37705"/>
                  </a:lnTo>
                  <a:lnTo>
                    <a:pt x="11139" y="52355"/>
                  </a:lnTo>
                  <a:lnTo>
                    <a:pt x="41486" y="64339"/>
                  </a:lnTo>
                  <a:lnTo>
                    <a:pt x="86434" y="72430"/>
                  </a:lnTo>
                  <a:lnTo>
                    <a:pt x="141376" y="75399"/>
                  </a:lnTo>
                  <a:lnTo>
                    <a:pt x="196318" y="72430"/>
                  </a:lnTo>
                  <a:lnTo>
                    <a:pt x="241265" y="64339"/>
                  </a:lnTo>
                  <a:lnTo>
                    <a:pt x="271610" y="52355"/>
                  </a:lnTo>
                  <a:lnTo>
                    <a:pt x="282748" y="37705"/>
                  </a:lnTo>
                  <a:lnTo>
                    <a:pt x="271610" y="23053"/>
                  </a:lnTo>
                  <a:lnTo>
                    <a:pt x="241265" y="11065"/>
                  </a:lnTo>
                  <a:lnTo>
                    <a:pt x="196318" y="2971"/>
                  </a:lnTo>
                  <a:lnTo>
                    <a:pt x="141376" y="0"/>
                  </a:lnTo>
                  <a:close/>
                </a:path>
              </a:pathLst>
            </a:custGeom>
            <a:solidFill>
              <a:srgbClr val="FFFFFF"/>
            </a:solidFill>
          </p:spPr>
          <p:txBody>
            <a:bodyPr wrap="square" lIns="0" tIns="0" rIns="0" bIns="0" rtlCol="0"/>
            <a:lstStyle/>
            <a:p>
              <a:endParaRPr/>
            </a:p>
          </p:txBody>
        </p:sp>
        <p:sp>
          <p:nvSpPr>
            <p:cNvPr id="12" name="object 12"/>
            <p:cNvSpPr/>
            <p:nvPr/>
          </p:nvSpPr>
          <p:spPr>
            <a:xfrm>
              <a:off x="1563609" y="1349456"/>
              <a:ext cx="283210" cy="75565"/>
            </a:xfrm>
            <a:custGeom>
              <a:avLst/>
              <a:gdLst/>
              <a:ahLst/>
              <a:cxnLst/>
              <a:rect l="l" t="t" r="r" b="b"/>
              <a:pathLst>
                <a:path w="283210" h="75565">
                  <a:moveTo>
                    <a:pt x="141376" y="0"/>
                  </a:moveTo>
                  <a:lnTo>
                    <a:pt x="196318" y="2971"/>
                  </a:lnTo>
                  <a:lnTo>
                    <a:pt x="241265" y="11065"/>
                  </a:lnTo>
                  <a:lnTo>
                    <a:pt x="271610" y="23053"/>
                  </a:lnTo>
                  <a:lnTo>
                    <a:pt x="282748" y="37705"/>
                  </a:lnTo>
                  <a:lnTo>
                    <a:pt x="271610" y="52355"/>
                  </a:lnTo>
                  <a:lnTo>
                    <a:pt x="241265" y="64339"/>
                  </a:lnTo>
                  <a:lnTo>
                    <a:pt x="196318" y="72430"/>
                  </a:lnTo>
                  <a:lnTo>
                    <a:pt x="141376" y="75399"/>
                  </a:lnTo>
                  <a:lnTo>
                    <a:pt x="86434" y="72430"/>
                  </a:lnTo>
                  <a:lnTo>
                    <a:pt x="41486" y="64339"/>
                  </a:lnTo>
                  <a:lnTo>
                    <a:pt x="11139" y="52355"/>
                  </a:lnTo>
                  <a:lnTo>
                    <a:pt x="0" y="37705"/>
                  </a:lnTo>
                  <a:lnTo>
                    <a:pt x="11139" y="23053"/>
                  </a:lnTo>
                  <a:lnTo>
                    <a:pt x="41486" y="11065"/>
                  </a:lnTo>
                  <a:lnTo>
                    <a:pt x="86434" y="2971"/>
                  </a:lnTo>
                  <a:lnTo>
                    <a:pt x="141376" y="0"/>
                  </a:lnTo>
                  <a:close/>
                </a:path>
              </a:pathLst>
            </a:custGeom>
            <a:ln w="5270">
              <a:solidFill>
                <a:srgbClr val="231F20"/>
              </a:solidFill>
            </a:ln>
          </p:spPr>
          <p:txBody>
            <a:bodyPr wrap="square" lIns="0" tIns="0" rIns="0" bIns="0" rtlCol="0"/>
            <a:lstStyle/>
            <a:p>
              <a:endParaRPr/>
            </a:p>
          </p:txBody>
        </p:sp>
        <p:sp>
          <p:nvSpPr>
            <p:cNvPr id="13" name="object 13"/>
            <p:cNvSpPr/>
            <p:nvPr/>
          </p:nvSpPr>
          <p:spPr>
            <a:xfrm>
              <a:off x="1563609" y="1388184"/>
              <a:ext cx="283210" cy="157480"/>
            </a:xfrm>
            <a:custGeom>
              <a:avLst/>
              <a:gdLst/>
              <a:ahLst/>
              <a:cxnLst/>
              <a:rect l="l" t="t" r="r" b="b"/>
              <a:pathLst>
                <a:path w="283210" h="157480">
                  <a:moveTo>
                    <a:pt x="0" y="0"/>
                  </a:moveTo>
                  <a:lnTo>
                    <a:pt x="0" y="119391"/>
                  </a:lnTo>
                  <a:lnTo>
                    <a:pt x="12149" y="135884"/>
                  </a:lnTo>
                  <a:lnTo>
                    <a:pt x="44181" y="147664"/>
                  </a:lnTo>
                  <a:lnTo>
                    <a:pt x="89466" y="154732"/>
                  </a:lnTo>
                  <a:lnTo>
                    <a:pt x="141379" y="157088"/>
                  </a:lnTo>
                  <a:lnTo>
                    <a:pt x="193292" y="154732"/>
                  </a:lnTo>
                  <a:lnTo>
                    <a:pt x="238578" y="147664"/>
                  </a:lnTo>
                  <a:lnTo>
                    <a:pt x="270609" y="135884"/>
                  </a:lnTo>
                  <a:lnTo>
                    <a:pt x="282759" y="119391"/>
                  </a:lnTo>
                  <a:lnTo>
                    <a:pt x="282751" y="37705"/>
                  </a:lnTo>
                  <a:lnTo>
                    <a:pt x="141376" y="37705"/>
                  </a:lnTo>
                  <a:lnTo>
                    <a:pt x="86434" y="34733"/>
                  </a:lnTo>
                  <a:lnTo>
                    <a:pt x="41486" y="26639"/>
                  </a:lnTo>
                  <a:lnTo>
                    <a:pt x="11139" y="14651"/>
                  </a:lnTo>
                  <a:lnTo>
                    <a:pt x="0" y="0"/>
                  </a:lnTo>
                  <a:close/>
                </a:path>
                <a:path w="283210" h="157480">
                  <a:moveTo>
                    <a:pt x="282748" y="0"/>
                  </a:moveTo>
                  <a:lnTo>
                    <a:pt x="271610" y="14651"/>
                  </a:lnTo>
                  <a:lnTo>
                    <a:pt x="241265" y="26639"/>
                  </a:lnTo>
                  <a:lnTo>
                    <a:pt x="196318" y="34733"/>
                  </a:lnTo>
                  <a:lnTo>
                    <a:pt x="141376" y="37705"/>
                  </a:lnTo>
                  <a:lnTo>
                    <a:pt x="282751" y="37705"/>
                  </a:lnTo>
                  <a:lnTo>
                    <a:pt x="282748" y="0"/>
                  </a:lnTo>
                  <a:close/>
                </a:path>
              </a:pathLst>
            </a:custGeom>
            <a:solidFill>
              <a:srgbClr val="BCBEC0"/>
            </a:solidFill>
          </p:spPr>
          <p:txBody>
            <a:bodyPr wrap="square" lIns="0" tIns="0" rIns="0" bIns="0" rtlCol="0"/>
            <a:lstStyle/>
            <a:p>
              <a:endParaRPr/>
            </a:p>
          </p:txBody>
        </p:sp>
        <p:sp>
          <p:nvSpPr>
            <p:cNvPr id="14" name="object 14"/>
            <p:cNvSpPr/>
            <p:nvPr/>
          </p:nvSpPr>
          <p:spPr>
            <a:xfrm>
              <a:off x="1563609" y="1388184"/>
              <a:ext cx="283210" cy="157480"/>
            </a:xfrm>
            <a:custGeom>
              <a:avLst/>
              <a:gdLst/>
              <a:ahLst/>
              <a:cxnLst/>
              <a:rect l="l" t="t" r="r" b="b"/>
              <a:pathLst>
                <a:path w="283210" h="157480">
                  <a:moveTo>
                    <a:pt x="282759" y="119391"/>
                  </a:moveTo>
                  <a:lnTo>
                    <a:pt x="270609" y="135884"/>
                  </a:lnTo>
                  <a:lnTo>
                    <a:pt x="238578" y="147664"/>
                  </a:lnTo>
                  <a:lnTo>
                    <a:pt x="193292" y="154732"/>
                  </a:lnTo>
                  <a:lnTo>
                    <a:pt x="141379" y="157088"/>
                  </a:lnTo>
                  <a:lnTo>
                    <a:pt x="89466" y="154732"/>
                  </a:lnTo>
                  <a:lnTo>
                    <a:pt x="44181" y="147664"/>
                  </a:lnTo>
                  <a:lnTo>
                    <a:pt x="12149" y="135884"/>
                  </a:lnTo>
                  <a:lnTo>
                    <a:pt x="0" y="119391"/>
                  </a:lnTo>
                  <a:lnTo>
                    <a:pt x="0" y="0"/>
                  </a:lnTo>
                  <a:lnTo>
                    <a:pt x="11139" y="14651"/>
                  </a:lnTo>
                  <a:lnTo>
                    <a:pt x="41486" y="26639"/>
                  </a:lnTo>
                  <a:lnTo>
                    <a:pt x="86434" y="34733"/>
                  </a:lnTo>
                  <a:lnTo>
                    <a:pt x="141376" y="37705"/>
                  </a:lnTo>
                  <a:lnTo>
                    <a:pt x="196318" y="34733"/>
                  </a:lnTo>
                  <a:lnTo>
                    <a:pt x="241265" y="26639"/>
                  </a:lnTo>
                  <a:lnTo>
                    <a:pt x="271610" y="14651"/>
                  </a:lnTo>
                  <a:lnTo>
                    <a:pt x="282748" y="0"/>
                  </a:lnTo>
                  <a:lnTo>
                    <a:pt x="282759" y="119391"/>
                  </a:lnTo>
                  <a:close/>
                </a:path>
              </a:pathLst>
            </a:custGeom>
            <a:ln w="5270">
              <a:solidFill>
                <a:srgbClr val="231F20"/>
              </a:solidFill>
            </a:ln>
          </p:spPr>
          <p:txBody>
            <a:bodyPr wrap="square" lIns="0" tIns="0" rIns="0" bIns="0" rtlCol="0"/>
            <a:lstStyle/>
            <a:p>
              <a:endParaRPr/>
            </a:p>
          </p:txBody>
        </p:sp>
        <p:sp>
          <p:nvSpPr>
            <p:cNvPr id="15" name="object 15"/>
            <p:cNvSpPr/>
            <p:nvPr/>
          </p:nvSpPr>
          <p:spPr>
            <a:xfrm>
              <a:off x="2310605" y="1350489"/>
              <a:ext cx="283210" cy="75565"/>
            </a:xfrm>
            <a:custGeom>
              <a:avLst/>
              <a:gdLst/>
              <a:ahLst/>
              <a:cxnLst/>
              <a:rect l="l" t="t" r="r" b="b"/>
              <a:pathLst>
                <a:path w="283210" h="75565">
                  <a:moveTo>
                    <a:pt x="141375" y="0"/>
                  </a:moveTo>
                  <a:lnTo>
                    <a:pt x="86436" y="2969"/>
                  </a:lnTo>
                  <a:lnTo>
                    <a:pt x="41488" y="11060"/>
                  </a:lnTo>
                  <a:lnTo>
                    <a:pt x="11140" y="23044"/>
                  </a:lnTo>
                  <a:lnTo>
                    <a:pt x="0" y="37694"/>
                  </a:lnTo>
                  <a:lnTo>
                    <a:pt x="11140" y="52346"/>
                  </a:lnTo>
                  <a:lnTo>
                    <a:pt x="41488" y="64334"/>
                  </a:lnTo>
                  <a:lnTo>
                    <a:pt x="86436" y="72428"/>
                  </a:lnTo>
                  <a:lnTo>
                    <a:pt x="141375" y="75399"/>
                  </a:lnTo>
                  <a:lnTo>
                    <a:pt x="196315" y="72428"/>
                  </a:lnTo>
                  <a:lnTo>
                    <a:pt x="241263" y="64334"/>
                  </a:lnTo>
                  <a:lnTo>
                    <a:pt x="271611" y="52346"/>
                  </a:lnTo>
                  <a:lnTo>
                    <a:pt x="282751" y="37694"/>
                  </a:lnTo>
                  <a:lnTo>
                    <a:pt x="271611" y="23044"/>
                  </a:lnTo>
                  <a:lnTo>
                    <a:pt x="241263" y="11060"/>
                  </a:lnTo>
                  <a:lnTo>
                    <a:pt x="196315" y="2969"/>
                  </a:lnTo>
                  <a:lnTo>
                    <a:pt x="141375" y="0"/>
                  </a:lnTo>
                  <a:close/>
                </a:path>
              </a:pathLst>
            </a:custGeom>
            <a:solidFill>
              <a:srgbClr val="FFFFFF"/>
            </a:solidFill>
          </p:spPr>
          <p:txBody>
            <a:bodyPr wrap="square" lIns="0" tIns="0" rIns="0" bIns="0" rtlCol="0"/>
            <a:lstStyle/>
            <a:p>
              <a:endParaRPr/>
            </a:p>
          </p:txBody>
        </p:sp>
        <p:sp>
          <p:nvSpPr>
            <p:cNvPr id="16" name="object 16"/>
            <p:cNvSpPr/>
            <p:nvPr/>
          </p:nvSpPr>
          <p:spPr>
            <a:xfrm>
              <a:off x="2310605" y="1350489"/>
              <a:ext cx="283210" cy="75565"/>
            </a:xfrm>
            <a:custGeom>
              <a:avLst/>
              <a:gdLst/>
              <a:ahLst/>
              <a:cxnLst/>
              <a:rect l="l" t="t" r="r" b="b"/>
              <a:pathLst>
                <a:path w="283210" h="75565">
                  <a:moveTo>
                    <a:pt x="141375" y="0"/>
                  </a:moveTo>
                  <a:lnTo>
                    <a:pt x="196315" y="2969"/>
                  </a:lnTo>
                  <a:lnTo>
                    <a:pt x="241263" y="11060"/>
                  </a:lnTo>
                  <a:lnTo>
                    <a:pt x="271611" y="23044"/>
                  </a:lnTo>
                  <a:lnTo>
                    <a:pt x="282751" y="37694"/>
                  </a:lnTo>
                  <a:lnTo>
                    <a:pt x="271611" y="52346"/>
                  </a:lnTo>
                  <a:lnTo>
                    <a:pt x="241263" y="64334"/>
                  </a:lnTo>
                  <a:lnTo>
                    <a:pt x="196315" y="72428"/>
                  </a:lnTo>
                  <a:lnTo>
                    <a:pt x="141375" y="75399"/>
                  </a:lnTo>
                  <a:lnTo>
                    <a:pt x="86436" y="72428"/>
                  </a:lnTo>
                  <a:lnTo>
                    <a:pt x="41488" y="64334"/>
                  </a:lnTo>
                  <a:lnTo>
                    <a:pt x="11140" y="52346"/>
                  </a:lnTo>
                  <a:lnTo>
                    <a:pt x="0" y="37694"/>
                  </a:lnTo>
                  <a:lnTo>
                    <a:pt x="11140" y="23044"/>
                  </a:lnTo>
                  <a:lnTo>
                    <a:pt x="41488" y="11060"/>
                  </a:lnTo>
                  <a:lnTo>
                    <a:pt x="86436" y="2969"/>
                  </a:lnTo>
                  <a:lnTo>
                    <a:pt x="141375" y="0"/>
                  </a:lnTo>
                  <a:close/>
                </a:path>
              </a:pathLst>
            </a:custGeom>
            <a:ln w="5270">
              <a:solidFill>
                <a:srgbClr val="231F20"/>
              </a:solidFill>
            </a:ln>
          </p:spPr>
          <p:txBody>
            <a:bodyPr wrap="square" lIns="0" tIns="0" rIns="0" bIns="0" rtlCol="0"/>
            <a:lstStyle/>
            <a:p>
              <a:endParaRPr/>
            </a:p>
          </p:txBody>
        </p:sp>
        <p:sp>
          <p:nvSpPr>
            <p:cNvPr id="17" name="object 17"/>
            <p:cNvSpPr/>
            <p:nvPr/>
          </p:nvSpPr>
          <p:spPr>
            <a:xfrm>
              <a:off x="2310605" y="1389217"/>
              <a:ext cx="283210" cy="157480"/>
            </a:xfrm>
            <a:custGeom>
              <a:avLst/>
              <a:gdLst/>
              <a:ahLst/>
              <a:cxnLst/>
              <a:rect l="l" t="t" r="r" b="b"/>
              <a:pathLst>
                <a:path w="283210" h="157480">
                  <a:moveTo>
                    <a:pt x="282751" y="0"/>
                  </a:moveTo>
                  <a:lnTo>
                    <a:pt x="271611" y="14645"/>
                  </a:lnTo>
                  <a:lnTo>
                    <a:pt x="241263" y="26630"/>
                  </a:lnTo>
                  <a:lnTo>
                    <a:pt x="196315" y="34723"/>
                  </a:lnTo>
                  <a:lnTo>
                    <a:pt x="141375" y="37694"/>
                  </a:lnTo>
                  <a:lnTo>
                    <a:pt x="86436" y="34723"/>
                  </a:lnTo>
                  <a:lnTo>
                    <a:pt x="41488" y="26630"/>
                  </a:lnTo>
                  <a:lnTo>
                    <a:pt x="11140" y="14645"/>
                  </a:lnTo>
                  <a:lnTo>
                    <a:pt x="0" y="0"/>
                  </a:lnTo>
                  <a:lnTo>
                    <a:pt x="0" y="119378"/>
                  </a:lnTo>
                  <a:lnTo>
                    <a:pt x="12149" y="135874"/>
                  </a:lnTo>
                  <a:lnTo>
                    <a:pt x="44181" y="147657"/>
                  </a:lnTo>
                  <a:lnTo>
                    <a:pt x="89467" y="154726"/>
                  </a:lnTo>
                  <a:lnTo>
                    <a:pt x="141381" y="157083"/>
                  </a:lnTo>
                  <a:lnTo>
                    <a:pt x="193294" y="154726"/>
                  </a:lnTo>
                  <a:lnTo>
                    <a:pt x="238580" y="147657"/>
                  </a:lnTo>
                  <a:lnTo>
                    <a:pt x="270612" y="135874"/>
                  </a:lnTo>
                  <a:lnTo>
                    <a:pt x="282762" y="119378"/>
                  </a:lnTo>
                  <a:lnTo>
                    <a:pt x="282751" y="0"/>
                  </a:lnTo>
                  <a:close/>
                </a:path>
              </a:pathLst>
            </a:custGeom>
            <a:solidFill>
              <a:srgbClr val="BCBEC0"/>
            </a:solidFill>
          </p:spPr>
          <p:txBody>
            <a:bodyPr wrap="square" lIns="0" tIns="0" rIns="0" bIns="0" rtlCol="0"/>
            <a:lstStyle/>
            <a:p>
              <a:endParaRPr/>
            </a:p>
          </p:txBody>
        </p:sp>
        <p:sp>
          <p:nvSpPr>
            <p:cNvPr id="18" name="object 18"/>
            <p:cNvSpPr/>
            <p:nvPr/>
          </p:nvSpPr>
          <p:spPr>
            <a:xfrm>
              <a:off x="2310605" y="1389217"/>
              <a:ext cx="283210" cy="157480"/>
            </a:xfrm>
            <a:custGeom>
              <a:avLst/>
              <a:gdLst/>
              <a:ahLst/>
              <a:cxnLst/>
              <a:rect l="l" t="t" r="r" b="b"/>
              <a:pathLst>
                <a:path w="283210" h="157480">
                  <a:moveTo>
                    <a:pt x="282762" y="119378"/>
                  </a:moveTo>
                  <a:lnTo>
                    <a:pt x="270612" y="135874"/>
                  </a:lnTo>
                  <a:lnTo>
                    <a:pt x="238580" y="147657"/>
                  </a:lnTo>
                  <a:lnTo>
                    <a:pt x="193294" y="154726"/>
                  </a:lnTo>
                  <a:lnTo>
                    <a:pt x="141381" y="157083"/>
                  </a:lnTo>
                  <a:lnTo>
                    <a:pt x="89467" y="154726"/>
                  </a:lnTo>
                  <a:lnTo>
                    <a:pt x="44181" y="147657"/>
                  </a:lnTo>
                  <a:lnTo>
                    <a:pt x="12149" y="135874"/>
                  </a:lnTo>
                  <a:lnTo>
                    <a:pt x="0" y="119378"/>
                  </a:lnTo>
                  <a:lnTo>
                    <a:pt x="0" y="0"/>
                  </a:lnTo>
                  <a:lnTo>
                    <a:pt x="11140" y="14645"/>
                  </a:lnTo>
                  <a:lnTo>
                    <a:pt x="41488" y="26630"/>
                  </a:lnTo>
                  <a:lnTo>
                    <a:pt x="86436" y="34723"/>
                  </a:lnTo>
                  <a:lnTo>
                    <a:pt x="141375" y="37694"/>
                  </a:lnTo>
                  <a:lnTo>
                    <a:pt x="196315" y="34723"/>
                  </a:lnTo>
                  <a:lnTo>
                    <a:pt x="241263" y="26630"/>
                  </a:lnTo>
                  <a:lnTo>
                    <a:pt x="271611" y="14645"/>
                  </a:lnTo>
                  <a:lnTo>
                    <a:pt x="282751" y="0"/>
                  </a:lnTo>
                  <a:lnTo>
                    <a:pt x="282762" y="119378"/>
                  </a:lnTo>
                  <a:close/>
                </a:path>
              </a:pathLst>
            </a:custGeom>
            <a:ln w="5270">
              <a:solidFill>
                <a:srgbClr val="231F20"/>
              </a:solidFill>
            </a:ln>
          </p:spPr>
          <p:txBody>
            <a:bodyPr wrap="square" lIns="0" tIns="0" rIns="0" bIns="0" rtlCol="0"/>
            <a:lstStyle/>
            <a:p>
              <a:endParaRPr/>
            </a:p>
          </p:txBody>
        </p:sp>
        <p:sp>
          <p:nvSpPr>
            <p:cNvPr id="19" name="object 19"/>
            <p:cNvSpPr/>
            <p:nvPr/>
          </p:nvSpPr>
          <p:spPr>
            <a:xfrm>
              <a:off x="3079476" y="1347875"/>
              <a:ext cx="283210" cy="75565"/>
            </a:xfrm>
            <a:custGeom>
              <a:avLst/>
              <a:gdLst/>
              <a:ahLst/>
              <a:cxnLst/>
              <a:rect l="l" t="t" r="r" b="b"/>
              <a:pathLst>
                <a:path w="283210" h="75565">
                  <a:moveTo>
                    <a:pt x="141375" y="0"/>
                  </a:moveTo>
                  <a:lnTo>
                    <a:pt x="86436" y="2969"/>
                  </a:lnTo>
                  <a:lnTo>
                    <a:pt x="41488" y="11060"/>
                  </a:lnTo>
                  <a:lnTo>
                    <a:pt x="11140" y="23044"/>
                  </a:lnTo>
                  <a:lnTo>
                    <a:pt x="0" y="37694"/>
                  </a:lnTo>
                  <a:lnTo>
                    <a:pt x="11140" y="52344"/>
                  </a:lnTo>
                  <a:lnTo>
                    <a:pt x="41488" y="64329"/>
                  </a:lnTo>
                  <a:lnTo>
                    <a:pt x="86436" y="72419"/>
                  </a:lnTo>
                  <a:lnTo>
                    <a:pt x="141375" y="75389"/>
                  </a:lnTo>
                  <a:lnTo>
                    <a:pt x="196323" y="72419"/>
                  </a:lnTo>
                  <a:lnTo>
                    <a:pt x="241278" y="64329"/>
                  </a:lnTo>
                  <a:lnTo>
                    <a:pt x="271631" y="52344"/>
                  </a:lnTo>
                  <a:lnTo>
                    <a:pt x="282772" y="37694"/>
                  </a:lnTo>
                  <a:lnTo>
                    <a:pt x="271631" y="23044"/>
                  </a:lnTo>
                  <a:lnTo>
                    <a:pt x="241278" y="11060"/>
                  </a:lnTo>
                  <a:lnTo>
                    <a:pt x="196323" y="2969"/>
                  </a:lnTo>
                  <a:lnTo>
                    <a:pt x="141375" y="0"/>
                  </a:lnTo>
                  <a:close/>
                </a:path>
              </a:pathLst>
            </a:custGeom>
            <a:solidFill>
              <a:srgbClr val="FFFFFF"/>
            </a:solidFill>
          </p:spPr>
          <p:txBody>
            <a:bodyPr wrap="square" lIns="0" tIns="0" rIns="0" bIns="0" rtlCol="0"/>
            <a:lstStyle/>
            <a:p>
              <a:endParaRPr/>
            </a:p>
          </p:txBody>
        </p:sp>
        <p:sp>
          <p:nvSpPr>
            <p:cNvPr id="20" name="object 20"/>
            <p:cNvSpPr/>
            <p:nvPr/>
          </p:nvSpPr>
          <p:spPr>
            <a:xfrm>
              <a:off x="3079476" y="1347875"/>
              <a:ext cx="283210" cy="75565"/>
            </a:xfrm>
            <a:custGeom>
              <a:avLst/>
              <a:gdLst/>
              <a:ahLst/>
              <a:cxnLst/>
              <a:rect l="l" t="t" r="r" b="b"/>
              <a:pathLst>
                <a:path w="283210" h="75565">
                  <a:moveTo>
                    <a:pt x="141375" y="0"/>
                  </a:moveTo>
                  <a:lnTo>
                    <a:pt x="196323" y="2969"/>
                  </a:lnTo>
                  <a:lnTo>
                    <a:pt x="241278" y="11060"/>
                  </a:lnTo>
                  <a:lnTo>
                    <a:pt x="271631" y="23044"/>
                  </a:lnTo>
                  <a:lnTo>
                    <a:pt x="282772" y="37694"/>
                  </a:lnTo>
                  <a:lnTo>
                    <a:pt x="271631" y="52344"/>
                  </a:lnTo>
                  <a:lnTo>
                    <a:pt x="241278" y="64329"/>
                  </a:lnTo>
                  <a:lnTo>
                    <a:pt x="196323" y="72419"/>
                  </a:lnTo>
                  <a:lnTo>
                    <a:pt x="141375" y="75389"/>
                  </a:lnTo>
                  <a:lnTo>
                    <a:pt x="86436" y="72419"/>
                  </a:lnTo>
                  <a:lnTo>
                    <a:pt x="41488" y="64329"/>
                  </a:lnTo>
                  <a:lnTo>
                    <a:pt x="11140" y="52344"/>
                  </a:lnTo>
                  <a:lnTo>
                    <a:pt x="0" y="37694"/>
                  </a:lnTo>
                  <a:lnTo>
                    <a:pt x="11140" y="23044"/>
                  </a:lnTo>
                  <a:lnTo>
                    <a:pt x="41488" y="11060"/>
                  </a:lnTo>
                  <a:lnTo>
                    <a:pt x="86436" y="2969"/>
                  </a:lnTo>
                  <a:lnTo>
                    <a:pt x="141375" y="0"/>
                  </a:lnTo>
                  <a:close/>
                </a:path>
              </a:pathLst>
            </a:custGeom>
            <a:ln w="5270">
              <a:solidFill>
                <a:srgbClr val="231F20"/>
              </a:solidFill>
            </a:ln>
          </p:spPr>
          <p:txBody>
            <a:bodyPr wrap="square" lIns="0" tIns="0" rIns="0" bIns="0" rtlCol="0"/>
            <a:lstStyle/>
            <a:p>
              <a:endParaRPr/>
            </a:p>
          </p:txBody>
        </p:sp>
        <p:sp>
          <p:nvSpPr>
            <p:cNvPr id="21" name="object 21"/>
            <p:cNvSpPr/>
            <p:nvPr/>
          </p:nvSpPr>
          <p:spPr>
            <a:xfrm>
              <a:off x="3079476" y="1386592"/>
              <a:ext cx="283210" cy="157480"/>
            </a:xfrm>
            <a:custGeom>
              <a:avLst/>
              <a:gdLst/>
              <a:ahLst/>
              <a:cxnLst/>
              <a:rect l="l" t="t" r="r" b="b"/>
              <a:pathLst>
                <a:path w="283210" h="157480">
                  <a:moveTo>
                    <a:pt x="282772" y="0"/>
                  </a:moveTo>
                  <a:lnTo>
                    <a:pt x="271631" y="14651"/>
                  </a:lnTo>
                  <a:lnTo>
                    <a:pt x="241278" y="26639"/>
                  </a:lnTo>
                  <a:lnTo>
                    <a:pt x="196323" y="34733"/>
                  </a:lnTo>
                  <a:lnTo>
                    <a:pt x="141375" y="37705"/>
                  </a:lnTo>
                  <a:lnTo>
                    <a:pt x="86436" y="34733"/>
                  </a:lnTo>
                  <a:lnTo>
                    <a:pt x="41488" y="26639"/>
                  </a:lnTo>
                  <a:lnTo>
                    <a:pt x="11140" y="14651"/>
                  </a:lnTo>
                  <a:lnTo>
                    <a:pt x="0" y="0"/>
                  </a:lnTo>
                  <a:lnTo>
                    <a:pt x="10" y="119393"/>
                  </a:lnTo>
                  <a:lnTo>
                    <a:pt x="12160" y="135887"/>
                  </a:lnTo>
                  <a:lnTo>
                    <a:pt x="44192" y="147668"/>
                  </a:lnTo>
                  <a:lnTo>
                    <a:pt x="89478" y="154737"/>
                  </a:lnTo>
                  <a:lnTo>
                    <a:pt x="141391" y="157093"/>
                  </a:lnTo>
                  <a:lnTo>
                    <a:pt x="193305" y="154737"/>
                  </a:lnTo>
                  <a:lnTo>
                    <a:pt x="238591" y="147668"/>
                  </a:lnTo>
                  <a:lnTo>
                    <a:pt x="270622" y="135887"/>
                  </a:lnTo>
                  <a:lnTo>
                    <a:pt x="282772" y="119393"/>
                  </a:lnTo>
                  <a:lnTo>
                    <a:pt x="282772" y="0"/>
                  </a:lnTo>
                  <a:close/>
                </a:path>
              </a:pathLst>
            </a:custGeom>
            <a:solidFill>
              <a:srgbClr val="BCBEC0"/>
            </a:solidFill>
          </p:spPr>
          <p:txBody>
            <a:bodyPr wrap="square" lIns="0" tIns="0" rIns="0" bIns="0" rtlCol="0"/>
            <a:lstStyle/>
            <a:p>
              <a:endParaRPr/>
            </a:p>
          </p:txBody>
        </p:sp>
        <p:sp>
          <p:nvSpPr>
            <p:cNvPr id="22" name="object 22"/>
            <p:cNvSpPr/>
            <p:nvPr/>
          </p:nvSpPr>
          <p:spPr>
            <a:xfrm>
              <a:off x="928110" y="960420"/>
              <a:ext cx="2434590" cy="583565"/>
            </a:xfrm>
            <a:custGeom>
              <a:avLst/>
              <a:gdLst/>
              <a:ahLst/>
              <a:cxnLst/>
              <a:rect l="l" t="t" r="r" b="b"/>
              <a:pathLst>
                <a:path w="2434590" h="583565">
                  <a:moveTo>
                    <a:pt x="0" y="0"/>
                  </a:moveTo>
                  <a:lnTo>
                    <a:pt x="0" y="351057"/>
                  </a:lnTo>
                </a:path>
                <a:path w="2434590" h="583565">
                  <a:moveTo>
                    <a:pt x="2434138" y="545566"/>
                  </a:moveTo>
                  <a:lnTo>
                    <a:pt x="2421988" y="562060"/>
                  </a:lnTo>
                  <a:lnTo>
                    <a:pt x="2389956" y="573841"/>
                  </a:lnTo>
                  <a:lnTo>
                    <a:pt x="2344670" y="580910"/>
                  </a:lnTo>
                  <a:lnTo>
                    <a:pt x="2292757" y="583266"/>
                  </a:lnTo>
                  <a:lnTo>
                    <a:pt x="2240843" y="580910"/>
                  </a:lnTo>
                  <a:lnTo>
                    <a:pt x="2195557" y="573841"/>
                  </a:lnTo>
                  <a:lnTo>
                    <a:pt x="2163525" y="562060"/>
                  </a:lnTo>
                  <a:lnTo>
                    <a:pt x="2151375" y="545566"/>
                  </a:lnTo>
                  <a:lnTo>
                    <a:pt x="2151365" y="426172"/>
                  </a:lnTo>
                  <a:lnTo>
                    <a:pt x="2162505" y="440824"/>
                  </a:lnTo>
                  <a:lnTo>
                    <a:pt x="2192853" y="452812"/>
                  </a:lnTo>
                  <a:lnTo>
                    <a:pt x="2237801" y="460906"/>
                  </a:lnTo>
                  <a:lnTo>
                    <a:pt x="2292741" y="463877"/>
                  </a:lnTo>
                  <a:lnTo>
                    <a:pt x="2347688" y="460906"/>
                  </a:lnTo>
                  <a:lnTo>
                    <a:pt x="2392643" y="452812"/>
                  </a:lnTo>
                  <a:lnTo>
                    <a:pt x="2422996" y="440824"/>
                  </a:lnTo>
                  <a:lnTo>
                    <a:pt x="2434138" y="426172"/>
                  </a:lnTo>
                  <a:lnTo>
                    <a:pt x="2434138" y="545566"/>
                  </a:lnTo>
                  <a:close/>
                </a:path>
              </a:pathLst>
            </a:custGeom>
            <a:ln w="5270">
              <a:solidFill>
                <a:srgbClr val="231F20"/>
              </a:solidFill>
            </a:ln>
          </p:spPr>
          <p:txBody>
            <a:bodyPr wrap="square" lIns="0" tIns="0" rIns="0" bIns="0" rtlCol="0"/>
            <a:lstStyle/>
            <a:p>
              <a:endParaRPr/>
            </a:p>
          </p:txBody>
        </p:sp>
        <p:pic>
          <p:nvPicPr>
            <p:cNvPr id="23" name="object 23"/>
            <p:cNvPicPr/>
            <p:nvPr/>
          </p:nvPicPr>
          <p:blipFill>
            <a:blip r:embed="rId6" cstate="print"/>
            <a:stretch>
              <a:fillRect/>
            </a:stretch>
          </p:blipFill>
          <p:spPr>
            <a:xfrm>
              <a:off x="896224" y="1274478"/>
              <a:ext cx="63757" cy="74377"/>
            </a:xfrm>
            <a:prstGeom prst="rect">
              <a:avLst/>
            </a:prstGeom>
          </p:spPr>
        </p:pic>
        <p:sp>
          <p:nvSpPr>
            <p:cNvPr id="24" name="object 24"/>
            <p:cNvSpPr/>
            <p:nvPr/>
          </p:nvSpPr>
          <p:spPr>
            <a:xfrm>
              <a:off x="2422107" y="962043"/>
              <a:ext cx="0" cy="351155"/>
            </a:xfrm>
            <a:custGeom>
              <a:avLst/>
              <a:gdLst/>
              <a:ahLst/>
              <a:cxnLst/>
              <a:rect l="l" t="t" r="r" b="b"/>
              <a:pathLst>
                <a:path h="351155">
                  <a:moveTo>
                    <a:pt x="0" y="0"/>
                  </a:moveTo>
                  <a:lnTo>
                    <a:pt x="0" y="351067"/>
                  </a:lnTo>
                </a:path>
              </a:pathLst>
            </a:custGeom>
            <a:ln w="5270">
              <a:solidFill>
                <a:srgbClr val="231F20"/>
              </a:solidFill>
            </a:ln>
          </p:spPr>
          <p:txBody>
            <a:bodyPr wrap="square" lIns="0" tIns="0" rIns="0" bIns="0" rtlCol="0"/>
            <a:lstStyle/>
            <a:p>
              <a:endParaRPr/>
            </a:p>
          </p:txBody>
        </p:sp>
        <p:pic>
          <p:nvPicPr>
            <p:cNvPr id="25" name="object 25"/>
            <p:cNvPicPr/>
            <p:nvPr/>
          </p:nvPicPr>
          <p:blipFill>
            <a:blip r:embed="rId7" cstate="print"/>
            <a:stretch>
              <a:fillRect/>
            </a:stretch>
          </p:blipFill>
          <p:spPr>
            <a:xfrm>
              <a:off x="2390221" y="1276112"/>
              <a:ext cx="63762" cy="74377"/>
            </a:xfrm>
            <a:prstGeom prst="rect">
              <a:avLst/>
            </a:prstGeom>
          </p:spPr>
        </p:pic>
        <p:sp>
          <p:nvSpPr>
            <p:cNvPr id="26" name="object 26"/>
            <p:cNvSpPr/>
            <p:nvPr/>
          </p:nvSpPr>
          <p:spPr>
            <a:xfrm>
              <a:off x="1017751" y="1587897"/>
              <a:ext cx="598170" cy="114935"/>
            </a:xfrm>
            <a:custGeom>
              <a:avLst/>
              <a:gdLst/>
              <a:ahLst/>
              <a:cxnLst/>
              <a:rect l="l" t="t" r="r" b="b"/>
              <a:pathLst>
                <a:path w="598169" h="114935">
                  <a:moveTo>
                    <a:pt x="0" y="0"/>
                  </a:moveTo>
                  <a:lnTo>
                    <a:pt x="241674" y="114735"/>
                  </a:lnTo>
                  <a:lnTo>
                    <a:pt x="430619" y="101987"/>
                  </a:lnTo>
                  <a:lnTo>
                    <a:pt x="553654" y="38245"/>
                  </a:lnTo>
                  <a:lnTo>
                    <a:pt x="597595" y="0"/>
                  </a:lnTo>
                </a:path>
              </a:pathLst>
            </a:custGeom>
            <a:ln w="5270">
              <a:solidFill>
                <a:srgbClr val="231F20"/>
              </a:solidFill>
            </a:ln>
          </p:spPr>
          <p:txBody>
            <a:bodyPr wrap="square" lIns="0" tIns="0" rIns="0" bIns="0" rtlCol="0"/>
            <a:lstStyle/>
            <a:p>
              <a:endParaRPr/>
            </a:p>
          </p:txBody>
        </p:sp>
        <p:pic>
          <p:nvPicPr>
            <p:cNvPr id="27" name="object 27"/>
            <p:cNvPicPr/>
            <p:nvPr/>
          </p:nvPicPr>
          <p:blipFill>
            <a:blip r:embed="rId8" cstate="print"/>
            <a:stretch>
              <a:fillRect/>
            </a:stretch>
          </p:blipFill>
          <p:spPr>
            <a:xfrm>
              <a:off x="1566892" y="1560182"/>
              <a:ext cx="73535" cy="76541"/>
            </a:xfrm>
            <a:prstGeom prst="rect">
              <a:avLst/>
            </a:prstGeom>
          </p:spPr>
        </p:pic>
      </p:grpSp>
      <p:sp>
        <p:nvSpPr>
          <p:cNvPr id="28" name="object 28"/>
          <p:cNvSpPr txBox="1"/>
          <p:nvPr/>
        </p:nvSpPr>
        <p:spPr>
          <a:xfrm>
            <a:off x="3485138" y="1520736"/>
            <a:ext cx="41465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Data store</a:t>
            </a:r>
            <a:endParaRPr sz="650">
              <a:latin typeface="Arial"/>
              <a:cs typeface="Arial"/>
            </a:endParaRPr>
          </a:p>
        </p:txBody>
      </p:sp>
      <p:sp>
        <p:nvSpPr>
          <p:cNvPr id="29" name="object 29"/>
          <p:cNvSpPr txBox="1"/>
          <p:nvPr/>
        </p:nvSpPr>
        <p:spPr>
          <a:xfrm>
            <a:off x="1374638" y="898487"/>
            <a:ext cx="37211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for</a:t>
            </a:r>
            <a:r>
              <a:rPr sz="650" spc="-35" dirty="0">
                <a:solidFill>
                  <a:srgbClr val="231F20"/>
                </a:solidFill>
                <a:latin typeface="Arial"/>
                <a:cs typeface="Arial"/>
              </a:rPr>
              <a:t> </a:t>
            </a:r>
            <a:r>
              <a:rPr sz="650" spc="5" dirty="0">
                <a:solidFill>
                  <a:srgbClr val="231F20"/>
                </a:solidFill>
                <a:latin typeface="Arial"/>
                <a:cs typeface="Arial"/>
              </a:rPr>
              <a:t>item</a:t>
            </a:r>
            <a:r>
              <a:rPr sz="650" spc="-35" dirty="0">
                <a:solidFill>
                  <a:srgbClr val="231F20"/>
                </a:solidFill>
                <a:latin typeface="Arial"/>
                <a:cs typeface="Arial"/>
              </a:rPr>
              <a:t> </a:t>
            </a:r>
            <a:r>
              <a:rPr sz="650" spc="5" dirty="0">
                <a:solidFill>
                  <a:srgbClr val="231F20"/>
                </a:solidFill>
                <a:latin typeface="Arial"/>
                <a:cs typeface="Arial"/>
              </a:rPr>
              <a:t>x</a:t>
            </a:r>
            <a:endParaRPr sz="650">
              <a:latin typeface="Arial"/>
              <a:cs typeface="Arial"/>
            </a:endParaRPr>
          </a:p>
        </p:txBody>
      </p:sp>
      <p:sp>
        <p:nvSpPr>
          <p:cNvPr id="30" name="object 30"/>
          <p:cNvSpPr txBox="1"/>
          <p:nvPr/>
        </p:nvSpPr>
        <p:spPr>
          <a:xfrm>
            <a:off x="347294" y="353413"/>
            <a:ext cx="1674495" cy="577850"/>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3333B2"/>
                </a:solidFill>
                <a:latin typeface="Arial"/>
                <a:cs typeface="Arial"/>
              </a:rPr>
              <a:t>Primary-backup</a:t>
            </a:r>
            <a:r>
              <a:rPr sz="1200" spc="-20" dirty="0">
                <a:solidFill>
                  <a:srgbClr val="3333B2"/>
                </a:solidFill>
                <a:latin typeface="Arial"/>
                <a:cs typeface="Arial"/>
              </a:rPr>
              <a:t> </a:t>
            </a:r>
            <a:r>
              <a:rPr sz="1200" spc="-5" dirty="0">
                <a:solidFill>
                  <a:srgbClr val="3333B2"/>
                </a:solidFill>
                <a:latin typeface="Arial"/>
                <a:cs typeface="Arial"/>
              </a:rPr>
              <a:t>protocol</a:t>
            </a:r>
            <a:endParaRPr sz="1200">
              <a:latin typeface="Arial"/>
              <a:cs typeface="Arial"/>
            </a:endParaRPr>
          </a:p>
          <a:p>
            <a:pPr marL="497205">
              <a:lnSpc>
                <a:spcPct val="100000"/>
              </a:lnSpc>
              <a:spcBef>
                <a:spcPts val="944"/>
              </a:spcBef>
            </a:pPr>
            <a:r>
              <a:rPr sz="650" spc="5" dirty="0">
                <a:solidFill>
                  <a:srgbClr val="231F20"/>
                </a:solidFill>
                <a:latin typeface="Arial"/>
                <a:cs typeface="Arial"/>
              </a:rPr>
              <a:t>Client</a:t>
            </a:r>
            <a:endParaRPr sz="650">
              <a:latin typeface="Arial"/>
              <a:cs typeface="Arial"/>
            </a:endParaRPr>
          </a:p>
          <a:p>
            <a:pPr marL="939165">
              <a:lnSpc>
                <a:spcPct val="100000"/>
              </a:lnSpc>
              <a:spcBef>
                <a:spcPts val="405"/>
              </a:spcBef>
            </a:pPr>
            <a:r>
              <a:rPr sz="650" spc="5" dirty="0">
                <a:solidFill>
                  <a:srgbClr val="231F20"/>
                </a:solidFill>
                <a:latin typeface="Arial"/>
                <a:cs typeface="Arial"/>
              </a:rPr>
              <a:t>Primary</a:t>
            </a:r>
            <a:r>
              <a:rPr sz="650" spc="-40" dirty="0">
                <a:solidFill>
                  <a:srgbClr val="231F20"/>
                </a:solidFill>
                <a:latin typeface="Arial"/>
                <a:cs typeface="Arial"/>
              </a:rPr>
              <a:t> </a:t>
            </a:r>
            <a:r>
              <a:rPr sz="650" spc="5" dirty="0">
                <a:solidFill>
                  <a:srgbClr val="231F20"/>
                </a:solidFill>
                <a:latin typeface="Arial"/>
                <a:cs typeface="Arial"/>
              </a:rPr>
              <a:t>server</a:t>
            </a:r>
            <a:endParaRPr sz="650">
              <a:latin typeface="Arial"/>
              <a:cs typeface="Arial"/>
            </a:endParaRPr>
          </a:p>
        </p:txBody>
      </p:sp>
      <p:sp>
        <p:nvSpPr>
          <p:cNvPr id="31" name="object 31"/>
          <p:cNvSpPr txBox="1"/>
          <p:nvPr/>
        </p:nvSpPr>
        <p:spPr>
          <a:xfrm>
            <a:off x="2326124" y="655879"/>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a:t>
            </a:r>
            <a:endParaRPr sz="650">
              <a:latin typeface="Arial"/>
              <a:cs typeface="Arial"/>
            </a:endParaRPr>
          </a:p>
        </p:txBody>
      </p:sp>
      <p:sp>
        <p:nvSpPr>
          <p:cNvPr id="32" name="object 32"/>
          <p:cNvSpPr/>
          <p:nvPr/>
        </p:nvSpPr>
        <p:spPr>
          <a:xfrm>
            <a:off x="1560732" y="1020778"/>
            <a:ext cx="113664" cy="329565"/>
          </a:xfrm>
          <a:custGeom>
            <a:avLst/>
            <a:gdLst/>
            <a:ahLst/>
            <a:cxnLst/>
            <a:rect l="l" t="t" r="r" b="b"/>
            <a:pathLst>
              <a:path w="113664" h="329565">
                <a:moveTo>
                  <a:pt x="0" y="0"/>
                </a:moveTo>
                <a:lnTo>
                  <a:pt x="113417" y="329374"/>
                </a:lnTo>
              </a:path>
            </a:pathLst>
          </a:custGeom>
          <a:ln w="5270">
            <a:solidFill>
              <a:srgbClr val="231F20"/>
            </a:solidFill>
          </a:ln>
        </p:spPr>
        <p:txBody>
          <a:bodyPr wrap="square" lIns="0" tIns="0" rIns="0" bIns="0" rtlCol="0"/>
          <a:lstStyle/>
          <a:p>
            <a:endParaRPr/>
          </a:p>
        </p:txBody>
      </p:sp>
      <p:sp>
        <p:nvSpPr>
          <p:cNvPr id="33" name="object 33"/>
          <p:cNvSpPr txBox="1"/>
          <p:nvPr/>
        </p:nvSpPr>
        <p:spPr>
          <a:xfrm>
            <a:off x="3184065" y="923846"/>
            <a:ext cx="5645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Backup server</a:t>
            </a:r>
            <a:endParaRPr sz="650">
              <a:latin typeface="Arial"/>
              <a:cs typeface="Arial"/>
            </a:endParaRPr>
          </a:p>
        </p:txBody>
      </p:sp>
      <p:grpSp>
        <p:nvGrpSpPr>
          <p:cNvPr id="34" name="object 34"/>
          <p:cNvGrpSpPr/>
          <p:nvPr/>
        </p:nvGrpSpPr>
        <p:grpSpPr>
          <a:xfrm>
            <a:off x="955987" y="960420"/>
            <a:ext cx="2441575" cy="939165"/>
            <a:chOff x="955987" y="960420"/>
            <a:chExt cx="2441575" cy="939165"/>
          </a:xfrm>
        </p:grpSpPr>
        <p:sp>
          <p:nvSpPr>
            <p:cNvPr id="35" name="object 35"/>
            <p:cNvSpPr/>
            <p:nvPr/>
          </p:nvSpPr>
          <p:spPr>
            <a:xfrm>
              <a:off x="1107386" y="1060854"/>
              <a:ext cx="2287270" cy="347980"/>
            </a:xfrm>
            <a:custGeom>
              <a:avLst/>
              <a:gdLst/>
              <a:ahLst/>
              <a:cxnLst/>
              <a:rect l="l" t="t" r="r" b="b"/>
              <a:pathLst>
                <a:path w="2287270" h="347980">
                  <a:moveTo>
                    <a:pt x="0" y="347758"/>
                  </a:moveTo>
                  <a:lnTo>
                    <a:pt x="410814" y="347758"/>
                  </a:lnTo>
                </a:path>
                <a:path w="2287270" h="347980">
                  <a:moveTo>
                    <a:pt x="2287191" y="0"/>
                  </a:moveTo>
                  <a:lnTo>
                    <a:pt x="2183056" y="289297"/>
                  </a:lnTo>
                </a:path>
              </a:pathLst>
            </a:custGeom>
            <a:ln w="5270">
              <a:solidFill>
                <a:srgbClr val="231F20"/>
              </a:solidFill>
            </a:ln>
          </p:spPr>
          <p:txBody>
            <a:bodyPr wrap="square" lIns="0" tIns="0" rIns="0" bIns="0" rtlCol="0"/>
            <a:lstStyle/>
            <a:p>
              <a:endParaRPr/>
            </a:p>
          </p:txBody>
        </p:sp>
        <p:pic>
          <p:nvPicPr>
            <p:cNvPr id="36" name="object 36"/>
            <p:cNvPicPr/>
            <p:nvPr/>
          </p:nvPicPr>
          <p:blipFill>
            <a:blip r:embed="rId9" cstate="print"/>
            <a:stretch>
              <a:fillRect/>
            </a:stretch>
          </p:blipFill>
          <p:spPr>
            <a:xfrm>
              <a:off x="1481205" y="1376737"/>
              <a:ext cx="74379" cy="63751"/>
            </a:xfrm>
            <a:prstGeom prst="rect">
              <a:avLst/>
            </a:prstGeom>
          </p:spPr>
        </p:pic>
        <p:sp>
          <p:nvSpPr>
            <p:cNvPr id="37" name="object 37"/>
            <p:cNvSpPr/>
            <p:nvPr/>
          </p:nvSpPr>
          <p:spPr>
            <a:xfrm>
              <a:off x="1824506" y="1558015"/>
              <a:ext cx="1225550" cy="150495"/>
            </a:xfrm>
            <a:custGeom>
              <a:avLst/>
              <a:gdLst/>
              <a:ahLst/>
              <a:cxnLst/>
              <a:rect l="l" t="t" r="r" b="b"/>
              <a:pathLst>
                <a:path w="1225550" h="150494">
                  <a:moveTo>
                    <a:pt x="0" y="16988"/>
                  </a:moveTo>
                  <a:lnTo>
                    <a:pt x="486070" y="150033"/>
                  </a:lnTo>
                  <a:lnTo>
                    <a:pt x="874451" y="129116"/>
                  </a:lnTo>
                  <a:lnTo>
                    <a:pt x="1131874" y="47887"/>
                  </a:lnTo>
                  <a:lnTo>
                    <a:pt x="1225074" y="0"/>
                  </a:lnTo>
                </a:path>
              </a:pathLst>
            </a:custGeom>
            <a:ln w="5270">
              <a:solidFill>
                <a:srgbClr val="231F20"/>
              </a:solidFill>
            </a:ln>
          </p:spPr>
          <p:txBody>
            <a:bodyPr wrap="square" lIns="0" tIns="0" rIns="0" bIns="0" rtlCol="0"/>
            <a:lstStyle/>
            <a:p>
              <a:endParaRPr/>
            </a:p>
          </p:txBody>
        </p:sp>
        <p:pic>
          <p:nvPicPr>
            <p:cNvPr id="38" name="object 38"/>
            <p:cNvPicPr/>
            <p:nvPr/>
          </p:nvPicPr>
          <p:blipFill>
            <a:blip r:embed="rId10" cstate="print"/>
            <a:stretch>
              <a:fillRect/>
            </a:stretch>
          </p:blipFill>
          <p:spPr>
            <a:xfrm>
              <a:off x="3001219" y="1537798"/>
              <a:ext cx="79795" cy="67038"/>
            </a:xfrm>
            <a:prstGeom prst="rect">
              <a:avLst/>
            </a:prstGeom>
          </p:spPr>
        </p:pic>
        <p:sp>
          <p:nvSpPr>
            <p:cNvPr id="39" name="object 39"/>
            <p:cNvSpPr/>
            <p:nvPr/>
          </p:nvSpPr>
          <p:spPr>
            <a:xfrm>
              <a:off x="1734864" y="1558015"/>
              <a:ext cx="1524000" cy="339090"/>
            </a:xfrm>
            <a:custGeom>
              <a:avLst/>
              <a:gdLst/>
              <a:ahLst/>
              <a:cxnLst/>
              <a:rect l="l" t="t" r="r" b="b"/>
              <a:pathLst>
                <a:path w="1524000" h="339089">
                  <a:moveTo>
                    <a:pt x="0" y="29885"/>
                  </a:moveTo>
                  <a:lnTo>
                    <a:pt x="533485" y="338698"/>
                  </a:lnTo>
                  <a:lnTo>
                    <a:pt x="1024500" y="293594"/>
                  </a:lnTo>
                  <a:lnTo>
                    <a:pt x="1384235" y="109163"/>
                  </a:lnTo>
                  <a:lnTo>
                    <a:pt x="1523882" y="0"/>
                  </a:lnTo>
                </a:path>
              </a:pathLst>
            </a:custGeom>
            <a:ln w="5270">
              <a:solidFill>
                <a:srgbClr val="231F20"/>
              </a:solidFill>
            </a:ln>
          </p:spPr>
          <p:txBody>
            <a:bodyPr wrap="square" lIns="0" tIns="0" rIns="0" bIns="0" rtlCol="0"/>
            <a:lstStyle/>
            <a:p>
              <a:endParaRPr/>
            </a:p>
          </p:txBody>
        </p:sp>
        <p:pic>
          <p:nvPicPr>
            <p:cNvPr id="40" name="object 40"/>
            <p:cNvPicPr/>
            <p:nvPr/>
          </p:nvPicPr>
          <p:blipFill>
            <a:blip r:embed="rId11" cstate="print"/>
            <a:stretch>
              <a:fillRect/>
            </a:stretch>
          </p:blipFill>
          <p:spPr>
            <a:xfrm>
              <a:off x="1709232" y="1560700"/>
              <a:ext cx="74206" cy="75990"/>
            </a:xfrm>
            <a:prstGeom prst="rect">
              <a:avLst/>
            </a:prstGeom>
          </p:spPr>
        </p:pic>
        <p:sp>
          <p:nvSpPr>
            <p:cNvPr id="41" name="object 41"/>
            <p:cNvSpPr/>
            <p:nvPr/>
          </p:nvSpPr>
          <p:spPr>
            <a:xfrm>
              <a:off x="1854380" y="1498253"/>
              <a:ext cx="410845" cy="0"/>
            </a:xfrm>
            <a:custGeom>
              <a:avLst/>
              <a:gdLst/>
              <a:ahLst/>
              <a:cxnLst/>
              <a:rect l="l" t="t" r="r" b="b"/>
              <a:pathLst>
                <a:path w="410844">
                  <a:moveTo>
                    <a:pt x="0" y="0"/>
                  </a:moveTo>
                  <a:lnTo>
                    <a:pt x="410824" y="0"/>
                  </a:lnTo>
                </a:path>
              </a:pathLst>
            </a:custGeom>
            <a:ln w="5270">
              <a:solidFill>
                <a:srgbClr val="231F20"/>
              </a:solidFill>
            </a:ln>
          </p:spPr>
          <p:txBody>
            <a:bodyPr wrap="square" lIns="0" tIns="0" rIns="0" bIns="0" rtlCol="0"/>
            <a:lstStyle/>
            <a:p>
              <a:endParaRPr/>
            </a:p>
          </p:txBody>
        </p:sp>
        <p:pic>
          <p:nvPicPr>
            <p:cNvPr id="42" name="object 42"/>
            <p:cNvPicPr/>
            <p:nvPr/>
          </p:nvPicPr>
          <p:blipFill>
            <a:blip r:embed="rId12" cstate="print"/>
            <a:stretch>
              <a:fillRect/>
            </a:stretch>
          </p:blipFill>
          <p:spPr>
            <a:xfrm>
              <a:off x="2228205" y="1466377"/>
              <a:ext cx="74377" cy="63754"/>
            </a:xfrm>
            <a:prstGeom prst="rect">
              <a:avLst/>
            </a:prstGeom>
          </p:spPr>
        </p:pic>
        <p:sp>
          <p:nvSpPr>
            <p:cNvPr id="43" name="object 43"/>
            <p:cNvSpPr/>
            <p:nvPr/>
          </p:nvSpPr>
          <p:spPr>
            <a:xfrm>
              <a:off x="1891768" y="1408613"/>
              <a:ext cx="410845" cy="0"/>
            </a:xfrm>
            <a:custGeom>
              <a:avLst/>
              <a:gdLst/>
              <a:ahLst/>
              <a:cxnLst/>
              <a:rect l="l" t="t" r="r" b="b"/>
              <a:pathLst>
                <a:path w="410844">
                  <a:moveTo>
                    <a:pt x="410814" y="0"/>
                  </a:moveTo>
                  <a:lnTo>
                    <a:pt x="0" y="0"/>
                  </a:lnTo>
                </a:path>
              </a:pathLst>
            </a:custGeom>
            <a:ln w="5270">
              <a:solidFill>
                <a:srgbClr val="231F20"/>
              </a:solidFill>
            </a:ln>
          </p:spPr>
          <p:txBody>
            <a:bodyPr wrap="square" lIns="0" tIns="0" rIns="0" bIns="0" rtlCol="0"/>
            <a:lstStyle/>
            <a:p>
              <a:endParaRPr/>
            </a:p>
          </p:txBody>
        </p:sp>
        <p:pic>
          <p:nvPicPr>
            <p:cNvPr id="44" name="object 44"/>
            <p:cNvPicPr/>
            <p:nvPr/>
          </p:nvPicPr>
          <p:blipFill>
            <a:blip r:embed="rId13" cstate="print"/>
            <a:stretch>
              <a:fillRect/>
            </a:stretch>
          </p:blipFill>
          <p:spPr>
            <a:xfrm>
              <a:off x="1854380" y="1376737"/>
              <a:ext cx="74377" cy="63751"/>
            </a:xfrm>
            <a:prstGeom prst="rect">
              <a:avLst/>
            </a:prstGeom>
          </p:spPr>
        </p:pic>
        <p:sp>
          <p:nvSpPr>
            <p:cNvPr id="45" name="object 45"/>
            <p:cNvSpPr/>
            <p:nvPr/>
          </p:nvSpPr>
          <p:spPr>
            <a:xfrm>
              <a:off x="1144766" y="1498253"/>
              <a:ext cx="410845" cy="0"/>
            </a:xfrm>
            <a:custGeom>
              <a:avLst/>
              <a:gdLst/>
              <a:ahLst/>
              <a:cxnLst/>
              <a:rect l="l" t="t" r="r" b="b"/>
              <a:pathLst>
                <a:path w="410844">
                  <a:moveTo>
                    <a:pt x="410818" y="0"/>
                  </a:moveTo>
                  <a:lnTo>
                    <a:pt x="0" y="0"/>
                  </a:lnTo>
                </a:path>
              </a:pathLst>
            </a:custGeom>
            <a:ln w="5270">
              <a:solidFill>
                <a:srgbClr val="231F20"/>
              </a:solidFill>
            </a:ln>
          </p:spPr>
          <p:txBody>
            <a:bodyPr wrap="square" lIns="0" tIns="0" rIns="0" bIns="0" rtlCol="0"/>
            <a:lstStyle/>
            <a:p>
              <a:endParaRPr/>
            </a:p>
          </p:txBody>
        </p:sp>
        <p:pic>
          <p:nvPicPr>
            <p:cNvPr id="46" name="object 46"/>
            <p:cNvPicPr/>
            <p:nvPr/>
          </p:nvPicPr>
          <p:blipFill>
            <a:blip r:embed="rId14" cstate="print"/>
            <a:stretch>
              <a:fillRect/>
            </a:stretch>
          </p:blipFill>
          <p:spPr>
            <a:xfrm>
              <a:off x="1107386" y="1466377"/>
              <a:ext cx="74370" cy="63754"/>
            </a:xfrm>
            <a:prstGeom prst="rect">
              <a:avLst/>
            </a:prstGeom>
          </p:spPr>
        </p:pic>
        <p:sp>
          <p:nvSpPr>
            <p:cNvPr id="47" name="object 47"/>
            <p:cNvSpPr/>
            <p:nvPr/>
          </p:nvSpPr>
          <p:spPr>
            <a:xfrm>
              <a:off x="987869" y="997798"/>
              <a:ext cx="0" cy="351155"/>
            </a:xfrm>
            <a:custGeom>
              <a:avLst/>
              <a:gdLst/>
              <a:ahLst/>
              <a:cxnLst/>
              <a:rect l="l" t="t" r="r" b="b"/>
              <a:pathLst>
                <a:path h="351155">
                  <a:moveTo>
                    <a:pt x="0" y="351057"/>
                  </a:moveTo>
                  <a:lnTo>
                    <a:pt x="0" y="0"/>
                  </a:lnTo>
                </a:path>
              </a:pathLst>
            </a:custGeom>
            <a:ln w="5270">
              <a:solidFill>
                <a:srgbClr val="231F20"/>
              </a:solidFill>
            </a:ln>
          </p:spPr>
          <p:txBody>
            <a:bodyPr wrap="square" lIns="0" tIns="0" rIns="0" bIns="0" rtlCol="0"/>
            <a:lstStyle/>
            <a:p>
              <a:endParaRPr/>
            </a:p>
          </p:txBody>
        </p:sp>
        <p:pic>
          <p:nvPicPr>
            <p:cNvPr id="48" name="object 48"/>
            <p:cNvPicPr/>
            <p:nvPr/>
          </p:nvPicPr>
          <p:blipFill>
            <a:blip r:embed="rId15" cstate="print"/>
            <a:stretch>
              <a:fillRect/>
            </a:stretch>
          </p:blipFill>
          <p:spPr>
            <a:xfrm>
              <a:off x="955987" y="960420"/>
              <a:ext cx="63751" cy="74366"/>
            </a:xfrm>
            <a:prstGeom prst="rect">
              <a:avLst/>
            </a:prstGeom>
          </p:spPr>
        </p:pic>
        <p:sp>
          <p:nvSpPr>
            <p:cNvPr id="49" name="object 49"/>
            <p:cNvSpPr/>
            <p:nvPr/>
          </p:nvSpPr>
          <p:spPr>
            <a:xfrm>
              <a:off x="2481864" y="999421"/>
              <a:ext cx="0" cy="351155"/>
            </a:xfrm>
            <a:custGeom>
              <a:avLst/>
              <a:gdLst/>
              <a:ahLst/>
              <a:cxnLst/>
              <a:rect l="l" t="t" r="r" b="b"/>
              <a:pathLst>
                <a:path h="351155">
                  <a:moveTo>
                    <a:pt x="0" y="351067"/>
                  </a:moveTo>
                  <a:lnTo>
                    <a:pt x="0" y="0"/>
                  </a:lnTo>
                </a:path>
              </a:pathLst>
            </a:custGeom>
            <a:ln w="5270">
              <a:solidFill>
                <a:srgbClr val="231F20"/>
              </a:solidFill>
            </a:ln>
          </p:spPr>
          <p:txBody>
            <a:bodyPr wrap="square" lIns="0" tIns="0" rIns="0" bIns="0" rtlCol="0"/>
            <a:lstStyle/>
            <a:p>
              <a:endParaRPr/>
            </a:p>
          </p:txBody>
        </p:sp>
        <p:pic>
          <p:nvPicPr>
            <p:cNvPr id="50" name="object 50"/>
            <p:cNvPicPr/>
            <p:nvPr/>
          </p:nvPicPr>
          <p:blipFill>
            <a:blip r:embed="rId16" cstate="print"/>
            <a:stretch>
              <a:fillRect/>
            </a:stretch>
          </p:blipFill>
          <p:spPr>
            <a:xfrm>
              <a:off x="2449999" y="962043"/>
              <a:ext cx="63741" cy="74387"/>
            </a:xfrm>
            <a:prstGeom prst="rect">
              <a:avLst/>
            </a:prstGeom>
          </p:spPr>
        </p:pic>
      </p:grpSp>
      <p:sp>
        <p:nvSpPr>
          <p:cNvPr id="51" name="object 51"/>
          <p:cNvSpPr txBox="1"/>
          <p:nvPr/>
        </p:nvSpPr>
        <p:spPr>
          <a:xfrm>
            <a:off x="766058" y="2058660"/>
            <a:ext cx="1310005" cy="503555"/>
          </a:xfrm>
          <a:prstGeom prst="rect">
            <a:avLst/>
          </a:prstGeom>
        </p:spPr>
        <p:txBody>
          <a:bodyPr vert="horz" wrap="square" lIns="0" tIns="13970" rIns="0" bIns="0" rtlCol="0">
            <a:spAutoFit/>
          </a:bodyPr>
          <a:lstStyle/>
          <a:p>
            <a:pPr marL="12700">
              <a:lnSpc>
                <a:spcPts val="760"/>
              </a:lnSpc>
              <a:spcBef>
                <a:spcPts val="110"/>
              </a:spcBef>
            </a:pPr>
            <a:r>
              <a:rPr sz="650" spc="5" dirty="0">
                <a:solidFill>
                  <a:srgbClr val="231F20"/>
                </a:solidFill>
                <a:latin typeface="Arial"/>
                <a:cs typeface="Arial"/>
              </a:rPr>
              <a:t>W1.</a:t>
            </a:r>
            <a:r>
              <a:rPr sz="650" spc="-25" dirty="0">
                <a:solidFill>
                  <a:srgbClr val="231F20"/>
                </a:solidFill>
                <a:latin typeface="Arial"/>
                <a:cs typeface="Arial"/>
              </a:rPr>
              <a:t> </a:t>
            </a:r>
            <a:r>
              <a:rPr sz="650" dirty="0">
                <a:solidFill>
                  <a:srgbClr val="231F20"/>
                </a:solidFill>
                <a:latin typeface="Arial"/>
                <a:cs typeface="Arial"/>
              </a:rPr>
              <a:t>Write</a:t>
            </a:r>
            <a:r>
              <a:rPr sz="650" spc="-20" dirty="0">
                <a:solidFill>
                  <a:srgbClr val="231F20"/>
                </a:solidFill>
                <a:latin typeface="Arial"/>
                <a:cs typeface="Arial"/>
              </a:rPr>
              <a:t> </a:t>
            </a:r>
            <a:r>
              <a:rPr sz="650" spc="5" dirty="0">
                <a:solidFill>
                  <a:srgbClr val="231F20"/>
                </a:solidFill>
                <a:latin typeface="Arial"/>
                <a:cs typeface="Arial"/>
              </a:rPr>
              <a:t>request</a:t>
            </a:r>
            <a:endParaRPr sz="650">
              <a:latin typeface="Arial"/>
              <a:cs typeface="Arial"/>
            </a:endParaRPr>
          </a:p>
          <a:p>
            <a:pPr marL="12700" marR="103505">
              <a:lnSpc>
                <a:spcPts val="740"/>
              </a:lnSpc>
              <a:spcBef>
                <a:spcPts val="40"/>
              </a:spcBef>
            </a:pPr>
            <a:r>
              <a:rPr sz="650" spc="5" dirty="0">
                <a:solidFill>
                  <a:srgbClr val="231F20"/>
                </a:solidFill>
                <a:latin typeface="Arial"/>
                <a:cs typeface="Arial"/>
              </a:rPr>
              <a:t>W2.</a:t>
            </a:r>
            <a:r>
              <a:rPr sz="650" spc="-15" dirty="0">
                <a:solidFill>
                  <a:srgbClr val="231F20"/>
                </a:solidFill>
                <a:latin typeface="Arial"/>
                <a:cs typeface="Arial"/>
              </a:rPr>
              <a:t> </a:t>
            </a:r>
            <a:r>
              <a:rPr sz="650" spc="5" dirty="0">
                <a:solidFill>
                  <a:srgbClr val="231F20"/>
                </a:solidFill>
                <a:latin typeface="Arial"/>
                <a:cs typeface="Arial"/>
              </a:rPr>
              <a:t>Forward</a:t>
            </a:r>
            <a:r>
              <a:rPr sz="650" spc="-15" dirty="0">
                <a:solidFill>
                  <a:srgbClr val="231F20"/>
                </a:solidFill>
                <a:latin typeface="Arial"/>
                <a:cs typeface="Arial"/>
              </a:rPr>
              <a:t> </a:t>
            </a:r>
            <a:r>
              <a:rPr sz="650" spc="5" dirty="0">
                <a:solidFill>
                  <a:srgbClr val="231F20"/>
                </a:solidFill>
                <a:latin typeface="Arial"/>
                <a:cs typeface="Arial"/>
              </a:rPr>
              <a:t>request</a:t>
            </a:r>
            <a:r>
              <a:rPr sz="650" spc="-10" dirty="0">
                <a:solidFill>
                  <a:srgbClr val="231F20"/>
                </a:solidFill>
                <a:latin typeface="Arial"/>
                <a:cs typeface="Arial"/>
              </a:rPr>
              <a:t> </a:t>
            </a:r>
            <a:r>
              <a:rPr sz="650" dirty="0">
                <a:solidFill>
                  <a:srgbClr val="231F20"/>
                </a:solidFill>
                <a:latin typeface="Arial"/>
                <a:cs typeface="Arial"/>
              </a:rPr>
              <a:t>to</a:t>
            </a:r>
            <a:r>
              <a:rPr sz="650" spc="-15" dirty="0">
                <a:solidFill>
                  <a:srgbClr val="231F20"/>
                </a:solidFill>
                <a:latin typeface="Arial"/>
                <a:cs typeface="Arial"/>
              </a:rPr>
              <a:t> </a:t>
            </a:r>
            <a:r>
              <a:rPr sz="650" spc="5" dirty="0">
                <a:solidFill>
                  <a:srgbClr val="231F20"/>
                </a:solidFill>
                <a:latin typeface="Arial"/>
                <a:cs typeface="Arial"/>
              </a:rPr>
              <a:t>primary </a:t>
            </a:r>
            <a:r>
              <a:rPr sz="650" spc="-165" dirty="0">
                <a:solidFill>
                  <a:srgbClr val="231F20"/>
                </a:solidFill>
                <a:latin typeface="Arial"/>
                <a:cs typeface="Arial"/>
              </a:rPr>
              <a:t> </a:t>
            </a:r>
            <a:r>
              <a:rPr sz="650" spc="5" dirty="0">
                <a:solidFill>
                  <a:srgbClr val="231F20"/>
                </a:solidFill>
                <a:latin typeface="Arial"/>
                <a:cs typeface="Arial"/>
              </a:rPr>
              <a:t>W3.</a:t>
            </a:r>
            <a:r>
              <a:rPr sz="650" spc="-15" dirty="0">
                <a:solidFill>
                  <a:srgbClr val="231F20"/>
                </a:solidFill>
                <a:latin typeface="Arial"/>
                <a:cs typeface="Arial"/>
              </a:rPr>
              <a:t> Tell</a:t>
            </a:r>
            <a:r>
              <a:rPr sz="650" spc="-10" dirty="0">
                <a:solidFill>
                  <a:srgbClr val="231F20"/>
                </a:solidFill>
                <a:latin typeface="Arial"/>
                <a:cs typeface="Arial"/>
              </a:rPr>
              <a:t> </a:t>
            </a:r>
            <a:r>
              <a:rPr sz="650" spc="5" dirty="0">
                <a:solidFill>
                  <a:srgbClr val="231F20"/>
                </a:solidFill>
                <a:latin typeface="Arial"/>
                <a:cs typeface="Arial"/>
              </a:rPr>
              <a:t>backups</a:t>
            </a:r>
            <a:r>
              <a:rPr sz="650" spc="-5" dirty="0">
                <a:solidFill>
                  <a:srgbClr val="231F20"/>
                </a:solidFill>
                <a:latin typeface="Arial"/>
                <a:cs typeface="Arial"/>
              </a:rPr>
              <a:t> </a:t>
            </a:r>
            <a:r>
              <a:rPr sz="650" spc="5" dirty="0">
                <a:solidFill>
                  <a:srgbClr val="231F20"/>
                </a:solidFill>
                <a:latin typeface="Arial"/>
                <a:cs typeface="Arial"/>
              </a:rPr>
              <a:t>to</a:t>
            </a:r>
            <a:r>
              <a:rPr sz="650" spc="-5" dirty="0">
                <a:solidFill>
                  <a:srgbClr val="231F20"/>
                </a:solidFill>
                <a:latin typeface="Arial"/>
                <a:cs typeface="Arial"/>
              </a:rPr>
              <a:t> </a:t>
            </a:r>
            <a:r>
              <a:rPr sz="650" spc="5" dirty="0">
                <a:solidFill>
                  <a:srgbClr val="231F20"/>
                </a:solidFill>
                <a:latin typeface="Arial"/>
                <a:cs typeface="Arial"/>
              </a:rPr>
              <a:t>update</a:t>
            </a:r>
            <a:endParaRPr sz="650">
              <a:latin typeface="Arial"/>
              <a:cs typeface="Arial"/>
            </a:endParaRPr>
          </a:p>
          <a:p>
            <a:pPr marL="12700">
              <a:lnSpc>
                <a:spcPts val="705"/>
              </a:lnSpc>
            </a:pPr>
            <a:r>
              <a:rPr sz="650" spc="5" dirty="0">
                <a:solidFill>
                  <a:srgbClr val="231F20"/>
                </a:solidFill>
                <a:latin typeface="Arial"/>
                <a:cs typeface="Arial"/>
              </a:rPr>
              <a:t>W4</a:t>
            </a:r>
            <a:r>
              <a:rPr sz="650" dirty="0">
                <a:solidFill>
                  <a:srgbClr val="231F20"/>
                </a:solidFill>
                <a:latin typeface="Arial"/>
                <a:cs typeface="Arial"/>
              </a:rPr>
              <a:t>.</a:t>
            </a:r>
            <a:r>
              <a:rPr sz="650" spc="-35" dirty="0">
                <a:solidFill>
                  <a:srgbClr val="231F20"/>
                </a:solidFill>
                <a:latin typeface="Arial"/>
                <a:cs typeface="Arial"/>
              </a:rPr>
              <a:t> </a:t>
            </a:r>
            <a:r>
              <a:rPr sz="650" spc="5" dirty="0">
                <a:solidFill>
                  <a:srgbClr val="231F20"/>
                </a:solidFill>
                <a:latin typeface="Arial"/>
                <a:cs typeface="Arial"/>
              </a:rPr>
              <a:t>Acknowledge</a:t>
            </a:r>
            <a:r>
              <a:rPr sz="650" dirty="0">
                <a:solidFill>
                  <a:srgbClr val="231F20"/>
                </a:solidFill>
                <a:latin typeface="Arial"/>
                <a:cs typeface="Arial"/>
              </a:rPr>
              <a:t> </a:t>
            </a:r>
            <a:r>
              <a:rPr sz="650" spc="5" dirty="0">
                <a:solidFill>
                  <a:srgbClr val="231F20"/>
                </a:solidFill>
                <a:latin typeface="Arial"/>
                <a:cs typeface="Arial"/>
              </a:rPr>
              <a:t>update</a:t>
            </a:r>
            <a:endParaRPr sz="650">
              <a:latin typeface="Arial"/>
              <a:cs typeface="Arial"/>
            </a:endParaRPr>
          </a:p>
          <a:p>
            <a:pPr marL="12700">
              <a:lnSpc>
                <a:spcPts val="760"/>
              </a:lnSpc>
            </a:pPr>
            <a:r>
              <a:rPr sz="650" spc="5" dirty="0">
                <a:solidFill>
                  <a:srgbClr val="231F20"/>
                </a:solidFill>
                <a:latin typeface="Arial"/>
                <a:cs typeface="Arial"/>
              </a:rPr>
              <a:t>W5</a:t>
            </a:r>
            <a:r>
              <a:rPr sz="650" dirty="0">
                <a:solidFill>
                  <a:srgbClr val="231F20"/>
                </a:solidFill>
                <a:latin typeface="Arial"/>
                <a:cs typeface="Arial"/>
              </a:rPr>
              <a:t>.</a:t>
            </a:r>
            <a:r>
              <a:rPr sz="650" spc="-35" dirty="0">
                <a:solidFill>
                  <a:srgbClr val="231F20"/>
                </a:solidFill>
                <a:latin typeface="Arial"/>
                <a:cs typeface="Arial"/>
              </a:rPr>
              <a:t> </a:t>
            </a:r>
            <a:r>
              <a:rPr sz="650" spc="5" dirty="0">
                <a:solidFill>
                  <a:srgbClr val="231F20"/>
                </a:solidFill>
                <a:latin typeface="Arial"/>
                <a:cs typeface="Arial"/>
              </a:rPr>
              <a:t>Acknowledge</a:t>
            </a:r>
            <a:r>
              <a:rPr sz="650" dirty="0">
                <a:solidFill>
                  <a:srgbClr val="231F20"/>
                </a:solidFill>
                <a:latin typeface="Arial"/>
                <a:cs typeface="Arial"/>
              </a:rPr>
              <a:t> </a:t>
            </a:r>
            <a:r>
              <a:rPr sz="650" spc="5" dirty="0">
                <a:solidFill>
                  <a:srgbClr val="231F20"/>
                </a:solidFill>
                <a:latin typeface="Arial"/>
                <a:cs typeface="Arial"/>
              </a:rPr>
              <a:t>write</a:t>
            </a:r>
            <a:r>
              <a:rPr sz="650" dirty="0">
                <a:solidFill>
                  <a:srgbClr val="231F20"/>
                </a:solidFill>
                <a:latin typeface="Arial"/>
                <a:cs typeface="Arial"/>
              </a:rPr>
              <a:t> </a:t>
            </a:r>
            <a:r>
              <a:rPr sz="650" spc="5" dirty="0">
                <a:solidFill>
                  <a:srgbClr val="231F20"/>
                </a:solidFill>
                <a:latin typeface="Arial"/>
                <a:cs typeface="Arial"/>
              </a:rPr>
              <a:t>completed</a:t>
            </a:r>
            <a:endParaRPr sz="650">
              <a:latin typeface="Arial"/>
              <a:cs typeface="Arial"/>
            </a:endParaRPr>
          </a:p>
        </p:txBody>
      </p:sp>
      <p:sp>
        <p:nvSpPr>
          <p:cNvPr id="52" name="object 52"/>
          <p:cNvSpPr txBox="1"/>
          <p:nvPr/>
        </p:nvSpPr>
        <p:spPr>
          <a:xfrm>
            <a:off x="1244027" y="1700100"/>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W2</a:t>
            </a:r>
            <a:endParaRPr sz="650">
              <a:latin typeface="Arial"/>
              <a:cs typeface="Arial"/>
            </a:endParaRPr>
          </a:p>
        </p:txBody>
      </p:sp>
      <p:sp>
        <p:nvSpPr>
          <p:cNvPr id="53" name="object 53"/>
          <p:cNvSpPr txBox="1"/>
          <p:nvPr/>
        </p:nvSpPr>
        <p:spPr>
          <a:xfrm>
            <a:off x="1244027" y="1490927"/>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W3</a:t>
            </a:r>
            <a:endParaRPr sz="650">
              <a:latin typeface="Arial"/>
              <a:cs typeface="Arial"/>
            </a:endParaRPr>
          </a:p>
        </p:txBody>
      </p:sp>
      <p:sp>
        <p:nvSpPr>
          <p:cNvPr id="54" name="object 54"/>
          <p:cNvSpPr txBox="1"/>
          <p:nvPr/>
        </p:nvSpPr>
        <p:spPr>
          <a:xfrm>
            <a:off x="1991203" y="1490927"/>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W3</a:t>
            </a:r>
            <a:endParaRPr sz="650">
              <a:latin typeface="Arial"/>
              <a:cs typeface="Arial"/>
            </a:endParaRPr>
          </a:p>
        </p:txBody>
      </p:sp>
      <p:sp>
        <p:nvSpPr>
          <p:cNvPr id="55" name="object 55"/>
          <p:cNvSpPr txBox="1"/>
          <p:nvPr/>
        </p:nvSpPr>
        <p:spPr>
          <a:xfrm>
            <a:off x="2409387" y="1700100"/>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W3</a:t>
            </a:r>
            <a:endParaRPr sz="650">
              <a:latin typeface="Arial"/>
              <a:cs typeface="Arial"/>
            </a:endParaRPr>
          </a:p>
        </p:txBody>
      </p:sp>
      <p:sp>
        <p:nvSpPr>
          <p:cNvPr id="56" name="object 56"/>
          <p:cNvSpPr txBox="1"/>
          <p:nvPr/>
        </p:nvSpPr>
        <p:spPr>
          <a:xfrm>
            <a:off x="1244027" y="1281754"/>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W4</a:t>
            </a:r>
            <a:endParaRPr sz="650">
              <a:latin typeface="Arial"/>
              <a:cs typeface="Arial"/>
            </a:endParaRPr>
          </a:p>
        </p:txBody>
      </p:sp>
      <p:sp>
        <p:nvSpPr>
          <p:cNvPr id="57" name="object 57"/>
          <p:cNvSpPr txBox="1"/>
          <p:nvPr/>
        </p:nvSpPr>
        <p:spPr>
          <a:xfrm>
            <a:off x="1991203" y="1281754"/>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W4</a:t>
            </a:r>
            <a:endParaRPr sz="650">
              <a:latin typeface="Arial"/>
              <a:cs typeface="Arial"/>
            </a:endParaRPr>
          </a:p>
        </p:txBody>
      </p:sp>
      <p:sp>
        <p:nvSpPr>
          <p:cNvPr id="58" name="object 58"/>
          <p:cNvSpPr txBox="1"/>
          <p:nvPr/>
        </p:nvSpPr>
        <p:spPr>
          <a:xfrm>
            <a:off x="1811837" y="1759806"/>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W4</a:t>
            </a:r>
            <a:endParaRPr sz="650">
              <a:latin typeface="Arial"/>
              <a:cs typeface="Arial"/>
            </a:endParaRPr>
          </a:p>
        </p:txBody>
      </p:sp>
      <p:sp>
        <p:nvSpPr>
          <p:cNvPr id="59" name="object 59"/>
          <p:cNvSpPr txBox="1"/>
          <p:nvPr/>
        </p:nvSpPr>
        <p:spPr>
          <a:xfrm>
            <a:off x="766058" y="1072581"/>
            <a:ext cx="39116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W1</a:t>
            </a:r>
            <a:r>
              <a:rPr sz="650" dirty="0">
                <a:solidFill>
                  <a:srgbClr val="231F20"/>
                </a:solidFill>
                <a:latin typeface="Arial"/>
                <a:cs typeface="Arial"/>
              </a:rPr>
              <a:t>    </a:t>
            </a:r>
            <a:r>
              <a:rPr sz="650" spc="-20" dirty="0">
                <a:solidFill>
                  <a:srgbClr val="231F20"/>
                </a:solidFill>
                <a:latin typeface="Arial"/>
                <a:cs typeface="Arial"/>
              </a:rPr>
              <a:t> </a:t>
            </a:r>
            <a:r>
              <a:rPr sz="650" spc="5" dirty="0">
                <a:solidFill>
                  <a:srgbClr val="231F20"/>
                </a:solidFill>
                <a:latin typeface="Arial"/>
                <a:cs typeface="Arial"/>
              </a:rPr>
              <a:t>W5</a:t>
            </a:r>
            <a:endParaRPr sz="650">
              <a:latin typeface="Arial"/>
              <a:cs typeface="Arial"/>
            </a:endParaRPr>
          </a:p>
        </p:txBody>
      </p:sp>
      <p:sp>
        <p:nvSpPr>
          <p:cNvPr id="60" name="object 60"/>
          <p:cNvSpPr txBox="1"/>
          <p:nvPr/>
        </p:nvSpPr>
        <p:spPr>
          <a:xfrm>
            <a:off x="2588659" y="2058664"/>
            <a:ext cx="845819" cy="220979"/>
          </a:xfrm>
          <a:prstGeom prst="rect">
            <a:avLst/>
          </a:prstGeom>
        </p:spPr>
        <p:txBody>
          <a:bodyPr vert="horz" wrap="square" lIns="0" tIns="13970" rIns="0" bIns="0" rtlCol="0">
            <a:spAutoFit/>
          </a:bodyPr>
          <a:lstStyle/>
          <a:p>
            <a:pPr marL="12700">
              <a:lnSpc>
                <a:spcPts val="760"/>
              </a:lnSpc>
              <a:spcBef>
                <a:spcPts val="110"/>
              </a:spcBef>
            </a:pPr>
            <a:r>
              <a:rPr sz="650" spc="5" dirty="0">
                <a:solidFill>
                  <a:srgbClr val="231F20"/>
                </a:solidFill>
                <a:latin typeface="Arial"/>
                <a:cs typeface="Arial"/>
              </a:rPr>
              <a:t>R1.</a:t>
            </a:r>
            <a:r>
              <a:rPr sz="650" spc="-25" dirty="0">
                <a:solidFill>
                  <a:srgbClr val="231F20"/>
                </a:solidFill>
                <a:latin typeface="Arial"/>
                <a:cs typeface="Arial"/>
              </a:rPr>
              <a:t> </a:t>
            </a:r>
            <a:r>
              <a:rPr sz="650" spc="5" dirty="0">
                <a:solidFill>
                  <a:srgbClr val="231F20"/>
                </a:solidFill>
                <a:latin typeface="Arial"/>
                <a:cs typeface="Arial"/>
              </a:rPr>
              <a:t>Read</a:t>
            </a:r>
            <a:r>
              <a:rPr sz="650" spc="-20" dirty="0">
                <a:solidFill>
                  <a:srgbClr val="231F20"/>
                </a:solidFill>
                <a:latin typeface="Arial"/>
                <a:cs typeface="Arial"/>
              </a:rPr>
              <a:t> </a:t>
            </a:r>
            <a:r>
              <a:rPr sz="650" spc="5" dirty="0">
                <a:solidFill>
                  <a:srgbClr val="231F20"/>
                </a:solidFill>
                <a:latin typeface="Arial"/>
                <a:cs typeface="Arial"/>
              </a:rPr>
              <a:t>request</a:t>
            </a:r>
            <a:endParaRPr sz="650">
              <a:latin typeface="Arial"/>
              <a:cs typeface="Arial"/>
            </a:endParaRPr>
          </a:p>
          <a:p>
            <a:pPr marL="12700">
              <a:lnSpc>
                <a:spcPts val="760"/>
              </a:lnSpc>
            </a:pPr>
            <a:r>
              <a:rPr sz="650" spc="5" dirty="0">
                <a:solidFill>
                  <a:srgbClr val="231F20"/>
                </a:solidFill>
                <a:latin typeface="Arial"/>
                <a:cs typeface="Arial"/>
              </a:rPr>
              <a:t>R2.</a:t>
            </a:r>
            <a:r>
              <a:rPr sz="650" spc="-20" dirty="0">
                <a:solidFill>
                  <a:srgbClr val="231F20"/>
                </a:solidFill>
                <a:latin typeface="Arial"/>
                <a:cs typeface="Arial"/>
              </a:rPr>
              <a:t> </a:t>
            </a:r>
            <a:r>
              <a:rPr sz="650" spc="5" dirty="0">
                <a:solidFill>
                  <a:srgbClr val="231F20"/>
                </a:solidFill>
                <a:latin typeface="Arial"/>
                <a:cs typeface="Arial"/>
              </a:rPr>
              <a:t>Response</a:t>
            </a:r>
            <a:r>
              <a:rPr sz="650" spc="-15" dirty="0">
                <a:solidFill>
                  <a:srgbClr val="231F20"/>
                </a:solidFill>
                <a:latin typeface="Arial"/>
                <a:cs typeface="Arial"/>
              </a:rPr>
              <a:t> </a:t>
            </a:r>
            <a:r>
              <a:rPr sz="650" spc="5" dirty="0">
                <a:solidFill>
                  <a:srgbClr val="231F20"/>
                </a:solidFill>
                <a:latin typeface="Arial"/>
                <a:cs typeface="Arial"/>
              </a:rPr>
              <a:t>to</a:t>
            </a:r>
            <a:r>
              <a:rPr sz="650" spc="-20" dirty="0">
                <a:solidFill>
                  <a:srgbClr val="231F20"/>
                </a:solidFill>
                <a:latin typeface="Arial"/>
                <a:cs typeface="Arial"/>
              </a:rPr>
              <a:t> </a:t>
            </a:r>
            <a:r>
              <a:rPr sz="650" spc="5" dirty="0">
                <a:solidFill>
                  <a:srgbClr val="231F20"/>
                </a:solidFill>
                <a:latin typeface="Arial"/>
                <a:cs typeface="Arial"/>
              </a:rPr>
              <a:t>read</a:t>
            </a:r>
            <a:endParaRPr sz="650">
              <a:latin typeface="Arial"/>
              <a:cs typeface="Arial"/>
            </a:endParaRPr>
          </a:p>
        </p:txBody>
      </p:sp>
      <p:sp>
        <p:nvSpPr>
          <p:cNvPr id="61" name="object 61"/>
          <p:cNvSpPr txBox="1"/>
          <p:nvPr/>
        </p:nvSpPr>
        <p:spPr>
          <a:xfrm>
            <a:off x="2289896" y="1072584"/>
            <a:ext cx="3422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R1  </a:t>
            </a:r>
            <a:r>
              <a:rPr sz="650" spc="165" dirty="0">
                <a:solidFill>
                  <a:srgbClr val="231F20"/>
                </a:solidFill>
                <a:latin typeface="Arial"/>
                <a:cs typeface="Arial"/>
              </a:rPr>
              <a:t> </a:t>
            </a:r>
            <a:r>
              <a:rPr sz="650" spc="5" dirty="0">
                <a:solidFill>
                  <a:srgbClr val="231F20"/>
                </a:solidFill>
                <a:latin typeface="Arial"/>
                <a:cs typeface="Arial"/>
              </a:rPr>
              <a:t>R2</a:t>
            </a:r>
            <a:endParaRPr sz="650">
              <a:latin typeface="Arial"/>
              <a:cs typeface="Arial"/>
            </a:endParaRPr>
          </a:p>
        </p:txBody>
      </p:sp>
      <p:pic>
        <p:nvPicPr>
          <p:cNvPr id="62" name="object 62"/>
          <p:cNvPicPr/>
          <p:nvPr/>
        </p:nvPicPr>
        <p:blipFill>
          <a:blip r:embed="rId17" cstate="print"/>
          <a:stretch>
            <a:fillRect/>
          </a:stretch>
        </p:blipFill>
        <p:spPr>
          <a:xfrm>
            <a:off x="932311" y="1550715"/>
            <a:ext cx="63756" cy="74540"/>
          </a:xfrm>
          <a:prstGeom prst="rect">
            <a:avLst/>
          </a:prstGeom>
        </p:spPr>
      </p:pic>
      <p:sp>
        <p:nvSpPr>
          <p:cNvPr id="63" name="object 63"/>
          <p:cNvSpPr txBox="1"/>
          <p:nvPr/>
        </p:nvSpPr>
        <p:spPr>
          <a:xfrm>
            <a:off x="883524" y="1759802"/>
            <a:ext cx="1524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W5</a:t>
            </a:r>
            <a:endParaRPr sz="650">
              <a:latin typeface="Arial"/>
              <a:cs typeface="Arial"/>
            </a:endParaRPr>
          </a:p>
        </p:txBody>
      </p:sp>
      <p:sp>
        <p:nvSpPr>
          <p:cNvPr id="64" name="object 64"/>
          <p:cNvSpPr/>
          <p:nvPr/>
        </p:nvSpPr>
        <p:spPr>
          <a:xfrm>
            <a:off x="964185" y="1558015"/>
            <a:ext cx="710565" cy="379095"/>
          </a:xfrm>
          <a:custGeom>
            <a:avLst/>
            <a:gdLst/>
            <a:ahLst/>
            <a:cxnLst/>
            <a:rect l="l" t="t" r="r" b="b"/>
            <a:pathLst>
              <a:path w="710564" h="379094">
                <a:moveTo>
                  <a:pt x="709964" y="0"/>
                </a:moveTo>
                <a:lnTo>
                  <a:pt x="706912" y="51313"/>
                </a:lnTo>
                <a:lnTo>
                  <a:pt x="698021" y="100518"/>
                </a:lnTo>
                <a:lnTo>
                  <a:pt x="683687" y="147165"/>
                </a:lnTo>
                <a:lnTo>
                  <a:pt x="664308" y="190805"/>
                </a:lnTo>
                <a:lnTo>
                  <a:pt x="640281" y="230991"/>
                </a:lnTo>
                <a:lnTo>
                  <a:pt x="612003" y="267273"/>
                </a:lnTo>
                <a:lnTo>
                  <a:pt x="579872" y="299204"/>
                </a:lnTo>
                <a:lnTo>
                  <a:pt x="544284" y="326335"/>
                </a:lnTo>
                <a:lnTo>
                  <a:pt x="505636" y="348218"/>
                </a:lnTo>
                <a:lnTo>
                  <a:pt x="464326" y="364404"/>
                </a:lnTo>
                <a:lnTo>
                  <a:pt x="420751" y="374444"/>
                </a:lnTo>
                <a:lnTo>
                  <a:pt x="375309" y="377890"/>
                </a:lnTo>
              </a:path>
              <a:path w="710564" h="379094">
                <a:moveTo>
                  <a:pt x="377890" y="378994"/>
                </a:moveTo>
                <a:lnTo>
                  <a:pt x="326577" y="375942"/>
                </a:lnTo>
                <a:lnTo>
                  <a:pt x="277373" y="367050"/>
                </a:lnTo>
                <a:lnTo>
                  <a:pt x="230727" y="352716"/>
                </a:lnTo>
                <a:lnTo>
                  <a:pt x="187086" y="333337"/>
                </a:lnTo>
                <a:lnTo>
                  <a:pt x="146901" y="309310"/>
                </a:lnTo>
                <a:lnTo>
                  <a:pt x="110618" y="281032"/>
                </a:lnTo>
                <a:lnTo>
                  <a:pt x="78686" y="248901"/>
                </a:lnTo>
                <a:lnTo>
                  <a:pt x="51555" y="213313"/>
                </a:lnTo>
                <a:lnTo>
                  <a:pt x="29672" y="174667"/>
                </a:lnTo>
                <a:lnTo>
                  <a:pt x="13486" y="133359"/>
                </a:lnTo>
                <a:lnTo>
                  <a:pt x="3446" y="89786"/>
                </a:lnTo>
                <a:lnTo>
                  <a:pt x="0" y="44345"/>
                </a:lnTo>
              </a:path>
            </a:pathLst>
          </a:custGeom>
          <a:ln w="5270">
            <a:solidFill>
              <a:srgbClr val="231F20"/>
            </a:solidFill>
          </a:ln>
        </p:spPr>
        <p:txBody>
          <a:bodyPr wrap="square" lIns="0" tIns="0" rIns="0" bIns="0" rtlCol="0"/>
          <a:lstStyle/>
          <a:p>
            <a:endParaRPr/>
          </a:p>
        </p:txBody>
      </p:sp>
      <p:sp>
        <p:nvSpPr>
          <p:cNvPr id="65" name="object 65"/>
          <p:cNvSpPr txBox="1"/>
          <p:nvPr/>
        </p:nvSpPr>
        <p:spPr>
          <a:xfrm>
            <a:off x="343382" y="2632833"/>
            <a:ext cx="3876675" cy="715010"/>
          </a:xfrm>
          <a:prstGeom prst="rect">
            <a:avLst/>
          </a:prstGeom>
        </p:spPr>
        <p:txBody>
          <a:bodyPr vert="horz" wrap="square" lIns="0" tIns="40005" rIns="0" bIns="0" rtlCol="0">
            <a:spAutoFit/>
          </a:bodyPr>
          <a:lstStyle/>
          <a:p>
            <a:pPr marL="16510">
              <a:lnSpc>
                <a:spcPct val="100000"/>
              </a:lnSpc>
              <a:spcBef>
                <a:spcPts val="315"/>
              </a:spcBef>
            </a:pPr>
            <a:r>
              <a:rPr sz="1200" spc="-5" dirty="0">
                <a:solidFill>
                  <a:srgbClr val="007C00"/>
                </a:solidFill>
                <a:latin typeface="Arial"/>
                <a:cs typeface="Arial"/>
              </a:rPr>
              <a:t>Example primary-backup protocol</a:t>
            </a:r>
            <a:endParaRPr sz="1200">
              <a:latin typeface="Arial"/>
              <a:cs typeface="Arial"/>
            </a:endParaRPr>
          </a:p>
          <a:p>
            <a:pPr marL="16510" marR="5080" indent="-4445">
              <a:lnSpc>
                <a:spcPct val="100000"/>
              </a:lnSpc>
              <a:spcBef>
                <a:spcPts val="180"/>
              </a:spcBef>
            </a:pPr>
            <a:r>
              <a:rPr sz="1000" spc="-15" dirty="0">
                <a:latin typeface="Arial"/>
                <a:cs typeface="Arial"/>
              </a:rPr>
              <a:t>Traditionally</a:t>
            </a:r>
            <a:r>
              <a:rPr sz="1000" dirty="0">
                <a:latin typeface="Arial"/>
                <a:cs typeface="Arial"/>
              </a:rPr>
              <a:t> </a:t>
            </a:r>
            <a:r>
              <a:rPr sz="1000" spc="-5" dirty="0">
                <a:latin typeface="Arial"/>
                <a:cs typeface="Arial"/>
              </a:rPr>
              <a:t>applied</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distributed</a:t>
            </a:r>
            <a:r>
              <a:rPr sz="1000" spc="5" dirty="0">
                <a:latin typeface="Arial"/>
                <a:cs typeface="Arial"/>
              </a:rPr>
              <a:t> </a:t>
            </a:r>
            <a:r>
              <a:rPr sz="1000" spc="-5" dirty="0">
                <a:latin typeface="Arial"/>
                <a:cs typeface="Arial"/>
              </a:rPr>
              <a:t>databases</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file</a:t>
            </a:r>
            <a:r>
              <a:rPr sz="1000" dirty="0">
                <a:latin typeface="Arial"/>
                <a:cs typeface="Arial"/>
              </a:rPr>
              <a:t> </a:t>
            </a:r>
            <a:r>
              <a:rPr sz="1000" spc="-5" dirty="0">
                <a:latin typeface="Arial"/>
                <a:cs typeface="Arial"/>
              </a:rPr>
              <a:t>systems</a:t>
            </a:r>
            <a:r>
              <a:rPr sz="1000" spc="5" dirty="0">
                <a:latin typeface="Arial"/>
                <a:cs typeface="Arial"/>
              </a:rPr>
              <a:t> </a:t>
            </a:r>
            <a:r>
              <a:rPr sz="1000" spc="-5" dirty="0">
                <a:latin typeface="Arial"/>
                <a:cs typeface="Arial"/>
              </a:rPr>
              <a:t>that </a:t>
            </a:r>
            <a:r>
              <a:rPr sz="1000" dirty="0">
                <a:latin typeface="Arial"/>
                <a:cs typeface="Arial"/>
              </a:rPr>
              <a:t> </a:t>
            </a:r>
            <a:r>
              <a:rPr sz="1000" spc="-5" dirty="0">
                <a:latin typeface="Arial"/>
                <a:cs typeface="Arial"/>
              </a:rPr>
              <a:t>require a</a:t>
            </a:r>
            <a:r>
              <a:rPr sz="1000" dirty="0">
                <a:latin typeface="Arial"/>
                <a:cs typeface="Arial"/>
              </a:rPr>
              <a:t> </a:t>
            </a:r>
            <a:r>
              <a:rPr sz="1000" spc="-5" dirty="0">
                <a:latin typeface="Arial"/>
                <a:cs typeface="Arial"/>
              </a:rPr>
              <a:t>high</a:t>
            </a:r>
            <a:r>
              <a:rPr sz="1000" dirty="0">
                <a:latin typeface="Arial"/>
                <a:cs typeface="Arial"/>
              </a:rPr>
              <a:t> </a:t>
            </a:r>
            <a:r>
              <a:rPr sz="1000" spc="-5" dirty="0">
                <a:latin typeface="Arial"/>
                <a:cs typeface="Arial"/>
              </a:rPr>
              <a:t>degree</a:t>
            </a:r>
            <a:r>
              <a:rPr sz="1000" dirty="0">
                <a:latin typeface="Arial"/>
                <a:cs typeface="Arial"/>
              </a:rPr>
              <a:t> </a:t>
            </a:r>
            <a:r>
              <a:rPr sz="1000" spc="-5" dirty="0">
                <a:latin typeface="Arial"/>
                <a:cs typeface="Arial"/>
              </a:rPr>
              <a:t>of</a:t>
            </a:r>
            <a:r>
              <a:rPr sz="1000" dirty="0">
                <a:latin typeface="Arial"/>
                <a:cs typeface="Arial"/>
              </a:rPr>
              <a:t> </a:t>
            </a:r>
            <a:r>
              <a:rPr sz="1000" spc="-10" dirty="0">
                <a:latin typeface="Arial"/>
                <a:cs typeface="Arial"/>
              </a:rPr>
              <a:t>fault</a:t>
            </a:r>
            <a:r>
              <a:rPr sz="1000" spc="-5" dirty="0">
                <a:latin typeface="Arial"/>
                <a:cs typeface="Arial"/>
              </a:rPr>
              <a:t> tolerance.</a:t>
            </a:r>
            <a:r>
              <a:rPr sz="1000" spc="65" dirty="0">
                <a:latin typeface="Arial"/>
                <a:cs typeface="Arial"/>
              </a:rPr>
              <a:t> </a:t>
            </a:r>
            <a:r>
              <a:rPr sz="1000" spc="-5" dirty="0">
                <a:latin typeface="Arial"/>
                <a:cs typeface="Arial"/>
              </a:rPr>
              <a:t>Replicas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often</a:t>
            </a:r>
            <a:r>
              <a:rPr sz="1000" dirty="0">
                <a:latin typeface="Arial"/>
                <a:cs typeface="Arial"/>
              </a:rPr>
              <a:t> </a:t>
            </a:r>
            <a:r>
              <a:rPr sz="1000" spc="-5" dirty="0">
                <a:latin typeface="Arial"/>
                <a:cs typeface="Arial"/>
              </a:rPr>
              <a:t>placed</a:t>
            </a:r>
            <a:r>
              <a:rPr sz="1000" dirty="0">
                <a:latin typeface="Arial"/>
                <a:cs typeface="Arial"/>
              </a:rPr>
              <a:t> </a:t>
            </a:r>
            <a:r>
              <a:rPr sz="1000" spc="-5" dirty="0">
                <a:latin typeface="Arial"/>
                <a:cs typeface="Arial"/>
              </a:rPr>
              <a:t>on </a:t>
            </a:r>
            <a:r>
              <a:rPr sz="1000" spc="-265" dirty="0">
                <a:latin typeface="Arial"/>
                <a:cs typeface="Arial"/>
              </a:rPr>
              <a:t> </a:t>
            </a:r>
            <a:r>
              <a:rPr sz="1000" spc="-5" dirty="0">
                <a:latin typeface="Arial"/>
                <a:cs typeface="Arial"/>
              </a:rPr>
              <a:t>same</a:t>
            </a:r>
            <a:r>
              <a:rPr sz="1000" spc="-10" dirty="0">
                <a:latin typeface="Arial"/>
                <a:cs typeface="Arial"/>
              </a:rPr>
              <a:t> </a:t>
            </a:r>
            <a:r>
              <a:rPr sz="1000" spc="-5" dirty="0">
                <a:latin typeface="Arial"/>
                <a:cs typeface="Arial"/>
              </a:rPr>
              <a:t>LAN.</a:t>
            </a:r>
            <a:endParaRPr sz="1000">
              <a:latin typeface="Arial"/>
              <a:cs typeface="Arial"/>
            </a:endParaRPr>
          </a:p>
        </p:txBody>
      </p:sp>
      <p:sp>
        <p:nvSpPr>
          <p:cNvPr id="66" name="object 66"/>
          <p:cNvSpPr txBox="1"/>
          <p:nvPr/>
        </p:nvSpPr>
        <p:spPr>
          <a:xfrm>
            <a:off x="66713" y="3331252"/>
            <a:ext cx="80708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Remote-write</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protocols</a:t>
            </a:r>
            <a:endParaRPr sz="600">
              <a:latin typeface="Arial"/>
              <a:cs typeface="Arial"/>
            </a:endParaRPr>
          </a:p>
        </p:txBody>
      </p:sp>
      <p:sp>
        <p:nvSpPr>
          <p:cNvPr id="67" name="object 6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811780" algn="l"/>
              </a:tabLst>
            </a:pPr>
            <a:r>
              <a:rPr sz="600" spc="-5" dirty="0">
                <a:solidFill>
                  <a:srgbClr val="3333B2"/>
                </a:solidFill>
                <a:latin typeface="Arial"/>
                <a:cs typeface="Arial"/>
                <a:hlinkClick r:id="rId2" action="ppaction://hlinksldjump"/>
              </a:rPr>
              <a:t>Consistency</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and</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replication:</a:t>
            </a:r>
            <a:r>
              <a:rPr sz="600" spc="190" dirty="0">
                <a:solidFill>
                  <a:srgbClr val="3333B2"/>
                </a:solidFill>
                <a:latin typeface="Arial"/>
                <a:cs typeface="Arial"/>
              </a:rPr>
              <a:t> </a:t>
            </a:r>
            <a:r>
              <a:rPr sz="600" spc="-5" dirty="0">
                <a:solidFill>
                  <a:srgbClr val="3333B2"/>
                </a:solidFill>
                <a:latin typeface="Arial"/>
                <a:cs typeface="Arial"/>
                <a:hlinkClick r:id="rId3" action="ppaction://hlinksldjump"/>
              </a:rPr>
              <a:t>Consistency</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protocols</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Sequential</a:t>
            </a:r>
            <a:r>
              <a:rPr sz="600" spc="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consistency:</a:t>
            </a:r>
            <a:r>
              <a:rPr sz="600" spc="45" dirty="0">
                <a:solidFill>
                  <a:srgbClr val="262685"/>
                </a:solidFill>
                <a:latin typeface="Arial"/>
                <a:cs typeface="Arial"/>
                <a:hlinkClick r:id="rId4" action="ppaction://hlinksldjump"/>
              </a:rPr>
              <a:t> </a:t>
            </a:r>
            <a:r>
              <a:rPr sz="600" dirty="0">
                <a:solidFill>
                  <a:srgbClr val="262685"/>
                </a:solidFill>
                <a:latin typeface="Arial"/>
                <a:cs typeface="Arial"/>
                <a:hlinkClick r:id="rId4" action="ppaction://hlinksldjump"/>
              </a:rPr>
              <a:t>Primary-based </a:t>
            </a:r>
            <a:r>
              <a:rPr sz="600" spc="-5" dirty="0">
                <a:solidFill>
                  <a:srgbClr val="262685"/>
                </a:solidFill>
                <a:latin typeface="Arial"/>
                <a:cs typeface="Arial"/>
                <a:hlinkClick r:id="rId4" action="ppaction://hlinksldjump"/>
              </a:rPr>
              <a:t>protocols</a:t>
            </a:r>
            <a:endParaRPr sz="600">
              <a:latin typeface="Arial"/>
              <a:cs typeface="Arial"/>
            </a:endParaRPr>
          </a:p>
        </p:txBody>
      </p:sp>
      <p:sp>
        <p:nvSpPr>
          <p:cNvPr id="3" name="object 3"/>
          <p:cNvSpPr txBox="1">
            <a:spLocks noGrp="1"/>
          </p:cNvSpPr>
          <p:nvPr>
            <p:ph type="title"/>
          </p:nvPr>
        </p:nvSpPr>
        <p:spPr>
          <a:xfrm>
            <a:off x="95300" y="188846"/>
            <a:ext cx="2008505" cy="244475"/>
          </a:xfrm>
          <a:prstGeom prst="rect">
            <a:avLst/>
          </a:prstGeom>
        </p:spPr>
        <p:txBody>
          <a:bodyPr vert="horz" wrap="square" lIns="0" tIns="17145" rIns="0" bIns="0" rtlCol="0">
            <a:spAutoFit/>
          </a:bodyPr>
          <a:lstStyle/>
          <a:p>
            <a:pPr marL="12700">
              <a:lnSpc>
                <a:spcPct val="100000"/>
              </a:lnSpc>
              <a:spcBef>
                <a:spcPts val="135"/>
              </a:spcBef>
            </a:pPr>
            <a:r>
              <a:rPr spc="20" dirty="0"/>
              <a:t>Primary-based</a:t>
            </a:r>
            <a:r>
              <a:rPr spc="-55" dirty="0"/>
              <a:t> </a:t>
            </a:r>
            <a:r>
              <a:rPr spc="15" dirty="0"/>
              <a:t>protocols</a:t>
            </a:r>
          </a:p>
        </p:txBody>
      </p:sp>
      <p:grpSp>
        <p:nvGrpSpPr>
          <p:cNvPr id="4" name="object 4"/>
          <p:cNvGrpSpPr/>
          <p:nvPr/>
        </p:nvGrpSpPr>
        <p:grpSpPr>
          <a:xfrm>
            <a:off x="722228" y="793019"/>
            <a:ext cx="2755265" cy="1201420"/>
            <a:chOff x="722228" y="793019"/>
            <a:chExt cx="2755265" cy="1201420"/>
          </a:xfrm>
        </p:grpSpPr>
        <p:sp>
          <p:nvSpPr>
            <p:cNvPr id="5" name="object 5"/>
            <p:cNvSpPr/>
            <p:nvPr/>
          </p:nvSpPr>
          <p:spPr>
            <a:xfrm>
              <a:off x="725085" y="1273961"/>
              <a:ext cx="2749550" cy="717550"/>
            </a:xfrm>
            <a:custGeom>
              <a:avLst/>
              <a:gdLst/>
              <a:ahLst/>
              <a:cxnLst/>
              <a:rect l="l" t="t" r="r" b="b"/>
              <a:pathLst>
                <a:path w="2749550" h="717550">
                  <a:moveTo>
                    <a:pt x="119525" y="0"/>
                  </a:moveTo>
                  <a:lnTo>
                    <a:pt x="2629447" y="0"/>
                  </a:lnTo>
                  <a:lnTo>
                    <a:pt x="2675854" y="9430"/>
                  </a:lnTo>
                  <a:lnTo>
                    <a:pt x="2713859" y="35106"/>
                  </a:lnTo>
                  <a:lnTo>
                    <a:pt x="2739539" y="73108"/>
                  </a:lnTo>
                  <a:lnTo>
                    <a:pt x="2748971" y="119513"/>
                  </a:lnTo>
                  <a:lnTo>
                    <a:pt x="2748971" y="597595"/>
                  </a:lnTo>
                  <a:lnTo>
                    <a:pt x="2739539" y="644005"/>
                  </a:lnTo>
                  <a:lnTo>
                    <a:pt x="2713859" y="682007"/>
                  </a:lnTo>
                  <a:lnTo>
                    <a:pt x="2675854" y="707683"/>
                  </a:lnTo>
                  <a:lnTo>
                    <a:pt x="2629447" y="717112"/>
                  </a:lnTo>
                  <a:lnTo>
                    <a:pt x="119525" y="717112"/>
                  </a:lnTo>
                  <a:lnTo>
                    <a:pt x="73114" y="707683"/>
                  </a:lnTo>
                  <a:lnTo>
                    <a:pt x="35109" y="682007"/>
                  </a:lnTo>
                  <a:lnTo>
                    <a:pt x="9430" y="644005"/>
                  </a:lnTo>
                  <a:lnTo>
                    <a:pt x="0" y="597595"/>
                  </a:lnTo>
                  <a:lnTo>
                    <a:pt x="0" y="119513"/>
                  </a:lnTo>
                  <a:lnTo>
                    <a:pt x="9430" y="73108"/>
                  </a:lnTo>
                  <a:lnTo>
                    <a:pt x="35109" y="35106"/>
                  </a:lnTo>
                  <a:lnTo>
                    <a:pt x="73114" y="9430"/>
                  </a:lnTo>
                  <a:lnTo>
                    <a:pt x="119525" y="0"/>
                  </a:lnTo>
                  <a:close/>
                </a:path>
              </a:pathLst>
            </a:custGeom>
            <a:ln w="5270">
              <a:solidFill>
                <a:srgbClr val="231F20"/>
              </a:solidFill>
            </a:ln>
          </p:spPr>
          <p:txBody>
            <a:bodyPr wrap="square" lIns="0" tIns="0" rIns="0" bIns="0" rtlCol="0"/>
            <a:lstStyle/>
            <a:p>
              <a:endParaRPr/>
            </a:p>
          </p:txBody>
        </p:sp>
        <p:sp>
          <p:nvSpPr>
            <p:cNvPr id="6" name="object 6"/>
            <p:cNvSpPr/>
            <p:nvPr/>
          </p:nvSpPr>
          <p:spPr>
            <a:xfrm>
              <a:off x="826756" y="1363591"/>
              <a:ext cx="283210" cy="75565"/>
            </a:xfrm>
            <a:custGeom>
              <a:avLst/>
              <a:gdLst/>
              <a:ahLst/>
              <a:cxnLst/>
              <a:rect l="l" t="t" r="r" b="b"/>
              <a:pathLst>
                <a:path w="283209" h="75565">
                  <a:moveTo>
                    <a:pt x="141372" y="0"/>
                  </a:moveTo>
                  <a:lnTo>
                    <a:pt x="86432" y="2972"/>
                  </a:lnTo>
                  <a:lnTo>
                    <a:pt x="41486" y="11069"/>
                  </a:lnTo>
                  <a:lnTo>
                    <a:pt x="11139" y="23057"/>
                  </a:lnTo>
                  <a:lnTo>
                    <a:pt x="0" y="37705"/>
                  </a:lnTo>
                  <a:lnTo>
                    <a:pt x="11139" y="52357"/>
                  </a:lnTo>
                  <a:lnTo>
                    <a:pt x="41486" y="64344"/>
                  </a:lnTo>
                  <a:lnTo>
                    <a:pt x="86432" y="72439"/>
                  </a:lnTo>
                  <a:lnTo>
                    <a:pt x="141372" y="75410"/>
                  </a:lnTo>
                  <a:lnTo>
                    <a:pt x="196313" y="72439"/>
                  </a:lnTo>
                  <a:lnTo>
                    <a:pt x="241261" y="64344"/>
                  </a:lnTo>
                  <a:lnTo>
                    <a:pt x="271609" y="52357"/>
                  </a:lnTo>
                  <a:lnTo>
                    <a:pt x="282749" y="37705"/>
                  </a:lnTo>
                  <a:lnTo>
                    <a:pt x="271609" y="23057"/>
                  </a:lnTo>
                  <a:lnTo>
                    <a:pt x="241261" y="11069"/>
                  </a:lnTo>
                  <a:lnTo>
                    <a:pt x="196313" y="2972"/>
                  </a:lnTo>
                  <a:lnTo>
                    <a:pt x="141372" y="0"/>
                  </a:lnTo>
                  <a:close/>
                </a:path>
              </a:pathLst>
            </a:custGeom>
            <a:solidFill>
              <a:srgbClr val="FFFFFF"/>
            </a:solidFill>
          </p:spPr>
          <p:txBody>
            <a:bodyPr wrap="square" lIns="0" tIns="0" rIns="0" bIns="0" rtlCol="0"/>
            <a:lstStyle/>
            <a:p>
              <a:endParaRPr/>
            </a:p>
          </p:txBody>
        </p:sp>
        <p:sp>
          <p:nvSpPr>
            <p:cNvPr id="7" name="object 7"/>
            <p:cNvSpPr/>
            <p:nvPr/>
          </p:nvSpPr>
          <p:spPr>
            <a:xfrm>
              <a:off x="826756" y="1363591"/>
              <a:ext cx="283210" cy="75565"/>
            </a:xfrm>
            <a:custGeom>
              <a:avLst/>
              <a:gdLst/>
              <a:ahLst/>
              <a:cxnLst/>
              <a:rect l="l" t="t" r="r" b="b"/>
              <a:pathLst>
                <a:path w="283209" h="75565">
                  <a:moveTo>
                    <a:pt x="141372" y="0"/>
                  </a:moveTo>
                  <a:lnTo>
                    <a:pt x="196313" y="2972"/>
                  </a:lnTo>
                  <a:lnTo>
                    <a:pt x="241261" y="11069"/>
                  </a:lnTo>
                  <a:lnTo>
                    <a:pt x="271609" y="23057"/>
                  </a:lnTo>
                  <a:lnTo>
                    <a:pt x="282749" y="37705"/>
                  </a:lnTo>
                  <a:lnTo>
                    <a:pt x="271609" y="52357"/>
                  </a:lnTo>
                  <a:lnTo>
                    <a:pt x="241261" y="64344"/>
                  </a:lnTo>
                  <a:lnTo>
                    <a:pt x="196313" y="72439"/>
                  </a:lnTo>
                  <a:lnTo>
                    <a:pt x="141372" y="75410"/>
                  </a:lnTo>
                  <a:lnTo>
                    <a:pt x="86432" y="72439"/>
                  </a:lnTo>
                  <a:lnTo>
                    <a:pt x="41486" y="64344"/>
                  </a:lnTo>
                  <a:lnTo>
                    <a:pt x="11139" y="52357"/>
                  </a:lnTo>
                  <a:lnTo>
                    <a:pt x="0" y="37705"/>
                  </a:lnTo>
                  <a:lnTo>
                    <a:pt x="11139" y="23057"/>
                  </a:lnTo>
                  <a:lnTo>
                    <a:pt x="41486" y="11069"/>
                  </a:lnTo>
                  <a:lnTo>
                    <a:pt x="86432" y="2972"/>
                  </a:lnTo>
                  <a:lnTo>
                    <a:pt x="141372" y="0"/>
                  </a:lnTo>
                  <a:close/>
                </a:path>
              </a:pathLst>
            </a:custGeom>
            <a:ln w="5270">
              <a:solidFill>
                <a:srgbClr val="231F20"/>
              </a:solidFill>
            </a:ln>
          </p:spPr>
          <p:txBody>
            <a:bodyPr wrap="square" lIns="0" tIns="0" rIns="0" bIns="0" rtlCol="0"/>
            <a:lstStyle/>
            <a:p>
              <a:endParaRPr/>
            </a:p>
          </p:txBody>
        </p:sp>
        <p:sp>
          <p:nvSpPr>
            <p:cNvPr id="8" name="object 8"/>
            <p:cNvSpPr/>
            <p:nvPr/>
          </p:nvSpPr>
          <p:spPr>
            <a:xfrm>
              <a:off x="826756" y="1402330"/>
              <a:ext cx="283210" cy="157480"/>
            </a:xfrm>
            <a:custGeom>
              <a:avLst/>
              <a:gdLst/>
              <a:ahLst/>
              <a:cxnLst/>
              <a:rect l="l" t="t" r="r" b="b"/>
              <a:pathLst>
                <a:path w="283209" h="157480">
                  <a:moveTo>
                    <a:pt x="282749" y="0"/>
                  </a:moveTo>
                  <a:lnTo>
                    <a:pt x="271609" y="14648"/>
                  </a:lnTo>
                  <a:lnTo>
                    <a:pt x="241261" y="26629"/>
                  </a:lnTo>
                  <a:lnTo>
                    <a:pt x="196313" y="34716"/>
                  </a:lnTo>
                  <a:lnTo>
                    <a:pt x="141372" y="37684"/>
                  </a:lnTo>
                  <a:lnTo>
                    <a:pt x="86432" y="34716"/>
                  </a:lnTo>
                  <a:lnTo>
                    <a:pt x="41486" y="26629"/>
                  </a:lnTo>
                  <a:lnTo>
                    <a:pt x="11139" y="14648"/>
                  </a:lnTo>
                  <a:lnTo>
                    <a:pt x="0" y="0"/>
                  </a:lnTo>
                  <a:lnTo>
                    <a:pt x="0" y="119377"/>
                  </a:lnTo>
                  <a:lnTo>
                    <a:pt x="12149" y="135874"/>
                  </a:lnTo>
                  <a:lnTo>
                    <a:pt x="44179" y="147657"/>
                  </a:lnTo>
                  <a:lnTo>
                    <a:pt x="89463" y="154727"/>
                  </a:lnTo>
                  <a:lnTo>
                    <a:pt x="141374" y="157084"/>
                  </a:lnTo>
                  <a:lnTo>
                    <a:pt x="193285" y="154727"/>
                  </a:lnTo>
                  <a:lnTo>
                    <a:pt x="238570" y="147657"/>
                  </a:lnTo>
                  <a:lnTo>
                    <a:pt x="270600" y="135874"/>
                  </a:lnTo>
                  <a:lnTo>
                    <a:pt x="282749" y="119377"/>
                  </a:lnTo>
                  <a:lnTo>
                    <a:pt x="282749" y="0"/>
                  </a:lnTo>
                  <a:close/>
                </a:path>
              </a:pathLst>
            </a:custGeom>
            <a:solidFill>
              <a:srgbClr val="BCBEC0"/>
            </a:solidFill>
          </p:spPr>
          <p:txBody>
            <a:bodyPr wrap="square" lIns="0" tIns="0" rIns="0" bIns="0" rtlCol="0"/>
            <a:lstStyle/>
            <a:p>
              <a:endParaRPr/>
            </a:p>
          </p:txBody>
        </p:sp>
        <p:sp>
          <p:nvSpPr>
            <p:cNvPr id="9" name="object 9"/>
            <p:cNvSpPr/>
            <p:nvPr/>
          </p:nvSpPr>
          <p:spPr>
            <a:xfrm>
              <a:off x="826756" y="1402330"/>
              <a:ext cx="283210" cy="157480"/>
            </a:xfrm>
            <a:custGeom>
              <a:avLst/>
              <a:gdLst/>
              <a:ahLst/>
              <a:cxnLst/>
              <a:rect l="l" t="t" r="r" b="b"/>
              <a:pathLst>
                <a:path w="283209" h="157480">
                  <a:moveTo>
                    <a:pt x="282749" y="119377"/>
                  </a:moveTo>
                  <a:lnTo>
                    <a:pt x="270600" y="135874"/>
                  </a:lnTo>
                  <a:lnTo>
                    <a:pt x="238570" y="147657"/>
                  </a:lnTo>
                  <a:lnTo>
                    <a:pt x="193285" y="154727"/>
                  </a:lnTo>
                  <a:lnTo>
                    <a:pt x="141374" y="157084"/>
                  </a:lnTo>
                  <a:lnTo>
                    <a:pt x="89463" y="154727"/>
                  </a:lnTo>
                  <a:lnTo>
                    <a:pt x="44179" y="147657"/>
                  </a:lnTo>
                  <a:lnTo>
                    <a:pt x="12149" y="135874"/>
                  </a:lnTo>
                  <a:lnTo>
                    <a:pt x="0" y="119377"/>
                  </a:lnTo>
                  <a:lnTo>
                    <a:pt x="0" y="0"/>
                  </a:lnTo>
                  <a:lnTo>
                    <a:pt x="11139" y="14648"/>
                  </a:lnTo>
                  <a:lnTo>
                    <a:pt x="41486" y="26629"/>
                  </a:lnTo>
                  <a:lnTo>
                    <a:pt x="86432" y="34716"/>
                  </a:lnTo>
                  <a:lnTo>
                    <a:pt x="141372" y="37684"/>
                  </a:lnTo>
                  <a:lnTo>
                    <a:pt x="196313" y="34716"/>
                  </a:lnTo>
                  <a:lnTo>
                    <a:pt x="241261" y="26629"/>
                  </a:lnTo>
                  <a:lnTo>
                    <a:pt x="271609" y="14648"/>
                  </a:lnTo>
                  <a:lnTo>
                    <a:pt x="282749" y="0"/>
                  </a:lnTo>
                  <a:lnTo>
                    <a:pt x="282749" y="119377"/>
                  </a:lnTo>
                  <a:close/>
                </a:path>
              </a:pathLst>
            </a:custGeom>
            <a:ln w="5270">
              <a:solidFill>
                <a:srgbClr val="231F20"/>
              </a:solidFill>
            </a:ln>
          </p:spPr>
          <p:txBody>
            <a:bodyPr wrap="square" lIns="0" tIns="0" rIns="0" bIns="0" rtlCol="0"/>
            <a:lstStyle/>
            <a:p>
              <a:endParaRPr/>
            </a:p>
          </p:txBody>
        </p:sp>
        <p:sp>
          <p:nvSpPr>
            <p:cNvPr id="10" name="object 10"/>
            <p:cNvSpPr/>
            <p:nvPr/>
          </p:nvSpPr>
          <p:spPr>
            <a:xfrm>
              <a:off x="1573755" y="1364203"/>
              <a:ext cx="283210" cy="75565"/>
            </a:xfrm>
            <a:custGeom>
              <a:avLst/>
              <a:gdLst/>
              <a:ahLst/>
              <a:cxnLst/>
              <a:rect l="l" t="t" r="r" b="b"/>
              <a:pathLst>
                <a:path w="283210" h="75565">
                  <a:moveTo>
                    <a:pt x="141376" y="0"/>
                  </a:moveTo>
                  <a:lnTo>
                    <a:pt x="86436" y="2971"/>
                  </a:lnTo>
                  <a:lnTo>
                    <a:pt x="41488" y="11065"/>
                  </a:lnTo>
                  <a:lnTo>
                    <a:pt x="11140" y="23053"/>
                  </a:lnTo>
                  <a:lnTo>
                    <a:pt x="0" y="37705"/>
                  </a:lnTo>
                  <a:lnTo>
                    <a:pt x="11140" y="52355"/>
                  </a:lnTo>
                  <a:lnTo>
                    <a:pt x="41488" y="64339"/>
                  </a:lnTo>
                  <a:lnTo>
                    <a:pt x="86436" y="72430"/>
                  </a:lnTo>
                  <a:lnTo>
                    <a:pt x="141376" y="75399"/>
                  </a:lnTo>
                  <a:lnTo>
                    <a:pt x="196321" y="72430"/>
                  </a:lnTo>
                  <a:lnTo>
                    <a:pt x="241269" y="64339"/>
                  </a:lnTo>
                  <a:lnTo>
                    <a:pt x="271615" y="52355"/>
                  </a:lnTo>
                  <a:lnTo>
                    <a:pt x="282753" y="37705"/>
                  </a:lnTo>
                  <a:lnTo>
                    <a:pt x="271615" y="23053"/>
                  </a:lnTo>
                  <a:lnTo>
                    <a:pt x="241269" y="11065"/>
                  </a:lnTo>
                  <a:lnTo>
                    <a:pt x="196321" y="2971"/>
                  </a:lnTo>
                  <a:lnTo>
                    <a:pt x="141376" y="0"/>
                  </a:lnTo>
                  <a:close/>
                </a:path>
              </a:pathLst>
            </a:custGeom>
            <a:solidFill>
              <a:srgbClr val="FFFFFF"/>
            </a:solidFill>
          </p:spPr>
          <p:txBody>
            <a:bodyPr wrap="square" lIns="0" tIns="0" rIns="0" bIns="0" rtlCol="0"/>
            <a:lstStyle/>
            <a:p>
              <a:endParaRPr/>
            </a:p>
          </p:txBody>
        </p:sp>
        <p:sp>
          <p:nvSpPr>
            <p:cNvPr id="11" name="object 11"/>
            <p:cNvSpPr/>
            <p:nvPr/>
          </p:nvSpPr>
          <p:spPr>
            <a:xfrm>
              <a:off x="1573755" y="1364203"/>
              <a:ext cx="283210" cy="75565"/>
            </a:xfrm>
            <a:custGeom>
              <a:avLst/>
              <a:gdLst/>
              <a:ahLst/>
              <a:cxnLst/>
              <a:rect l="l" t="t" r="r" b="b"/>
              <a:pathLst>
                <a:path w="283210" h="75565">
                  <a:moveTo>
                    <a:pt x="141376" y="0"/>
                  </a:moveTo>
                  <a:lnTo>
                    <a:pt x="196321" y="2971"/>
                  </a:lnTo>
                  <a:lnTo>
                    <a:pt x="241269" y="11065"/>
                  </a:lnTo>
                  <a:lnTo>
                    <a:pt x="271615" y="23053"/>
                  </a:lnTo>
                  <a:lnTo>
                    <a:pt x="282753" y="37705"/>
                  </a:lnTo>
                  <a:lnTo>
                    <a:pt x="271615" y="52355"/>
                  </a:lnTo>
                  <a:lnTo>
                    <a:pt x="241269" y="64339"/>
                  </a:lnTo>
                  <a:lnTo>
                    <a:pt x="196321" y="72430"/>
                  </a:lnTo>
                  <a:lnTo>
                    <a:pt x="141376" y="75399"/>
                  </a:lnTo>
                  <a:lnTo>
                    <a:pt x="86436" y="72430"/>
                  </a:lnTo>
                  <a:lnTo>
                    <a:pt x="41488" y="64339"/>
                  </a:lnTo>
                  <a:lnTo>
                    <a:pt x="11140" y="52355"/>
                  </a:lnTo>
                  <a:lnTo>
                    <a:pt x="0" y="37705"/>
                  </a:lnTo>
                  <a:lnTo>
                    <a:pt x="11140" y="23053"/>
                  </a:lnTo>
                  <a:lnTo>
                    <a:pt x="41488" y="11065"/>
                  </a:lnTo>
                  <a:lnTo>
                    <a:pt x="86436" y="2971"/>
                  </a:lnTo>
                  <a:lnTo>
                    <a:pt x="141376" y="0"/>
                  </a:lnTo>
                  <a:close/>
                </a:path>
              </a:pathLst>
            </a:custGeom>
            <a:ln w="5270">
              <a:solidFill>
                <a:srgbClr val="231F20"/>
              </a:solidFill>
            </a:ln>
          </p:spPr>
          <p:txBody>
            <a:bodyPr wrap="square" lIns="0" tIns="0" rIns="0" bIns="0" rtlCol="0"/>
            <a:lstStyle/>
            <a:p>
              <a:endParaRPr/>
            </a:p>
          </p:txBody>
        </p:sp>
        <p:sp>
          <p:nvSpPr>
            <p:cNvPr id="12" name="object 12"/>
            <p:cNvSpPr/>
            <p:nvPr/>
          </p:nvSpPr>
          <p:spPr>
            <a:xfrm>
              <a:off x="1573755" y="1402930"/>
              <a:ext cx="283210" cy="157480"/>
            </a:xfrm>
            <a:custGeom>
              <a:avLst/>
              <a:gdLst/>
              <a:ahLst/>
              <a:cxnLst/>
              <a:rect l="l" t="t" r="r" b="b"/>
              <a:pathLst>
                <a:path w="283210" h="157480">
                  <a:moveTo>
                    <a:pt x="0" y="0"/>
                  </a:moveTo>
                  <a:lnTo>
                    <a:pt x="0" y="119386"/>
                  </a:lnTo>
                  <a:lnTo>
                    <a:pt x="12150" y="135879"/>
                  </a:lnTo>
                  <a:lnTo>
                    <a:pt x="44181" y="147659"/>
                  </a:lnTo>
                  <a:lnTo>
                    <a:pt x="89468" y="154727"/>
                  </a:lnTo>
                  <a:lnTo>
                    <a:pt x="141382" y="157084"/>
                  </a:lnTo>
                  <a:lnTo>
                    <a:pt x="193295" y="154727"/>
                  </a:lnTo>
                  <a:lnTo>
                    <a:pt x="238582" y="147659"/>
                  </a:lnTo>
                  <a:lnTo>
                    <a:pt x="270614" y="135879"/>
                  </a:lnTo>
                  <a:lnTo>
                    <a:pt x="282764" y="119386"/>
                  </a:lnTo>
                  <a:lnTo>
                    <a:pt x="282757" y="37705"/>
                  </a:lnTo>
                  <a:lnTo>
                    <a:pt x="141376" y="37705"/>
                  </a:lnTo>
                  <a:lnTo>
                    <a:pt x="86436" y="34733"/>
                  </a:lnTo>
                  <a:lnTo>
                    <a:pt x="41488" y="26639"/>
                  </a:lnTo>
                  <a:lnTo>
                    <a:pt x="11140" y="14651"/>
                  </a:lnTo>
                  <a:lnTo>
                    <a:pt x="0" y="0"/>
                  </a:lnTo>
                  <a:close/>
                </a:path>
                <a:path w="283210" h="157480">
                  <a:moveTo>
                    <a:pt x="282753" y="0"/>
                  </a:moveTo>
                  <a:lnTo>
                    <a:pt x="271615" y="14651"/>
                  </a:lnTo>
                  <a:lnTo>
                    <a:pt x="241269" y="26639"/>
                  </a:lnTo>
                  <a:lnTo>
                    <a:pt x="196321" y="34733"/>
                  </a:lnTo>
                  <a:lnTo>
                    <a:pt x="141376" y="37705"/>
                  </a:lnTo>
                  <a:lnTo>
                    <a:pt x="282757" y="37705"/>
                  </a:lnTo>
                  <a:lnTo>
                    <a:pt x="282753" y="0"/>
                  </a:lnTo>
                  <a:close/>
                </a:path>
              </a:pathLst>
            </a:custGeom>
            <a:solidFill>
              <a:srgbClr val="BCBEC0"/>
            </a:solidFill>
          </p:spPr>
          <p:txBody>
            <a:bodyPr wrap="square" lIns="0" tIns="0" rIns="0" bIns="0" rtlCol="0"/>
            <a:lstStyle/>
            <a:p>
              <a:endParaRPr/>
            </a:p>
          </p:txBody>
        </p:sp>
        <p:sp>
          <p:nvSpPr>
            <p:cNvPr id="13" name="object 13"/>
            <p:cNvSpPr/>
            <p:nvPr/>
          </p:nvSpPr>
          <p:spPr>
            <a:xfrm>
              <a:off x="1573755" y="1402930"/>
              <a:ext cx="283210" cy="157480"/>
            </a:xfrm>
            <a:custGeom>
              <a:avLst/>
              <a:gdLst/>
              <a:ahLst/>
              <a:cxnLst/>
              <a:rect l="l" t="t" r="r" b="b"/>
              <a:pathLst>
                <a:path w="283210" h="157480">
                  <a:moveTo>
                    <a:pt x="282764" y="119386"/>
                  </a:moveTo>
                  <a:lnTo>
                    <a:pt x="270614" y="135879"/>
                  </a:lnTo>
                  <a:lnTo>
                    <a:pt x="238582" y="147659"/>
                  </a:lnTo>
                  <a:lnTo>
                    <a:pt x="193295" y="154727"/>
                  </a:lnTo>
                  <a:lnTo>
                    <a:pt x="141382" y="157084"/>
                  </a:lnTo>
                  <a:lnTo>
                    <a:pt x="89468" y="154727"/>
                  </a:lnTo>
                  <a:lnTo>
                    <a:pt x="44181" y="147659"/>
                  </a:lnTo>
                  <a:lnTo>
                    <a:pt x="12150" y="135879"/>
                  </a:lnTo>
                  <a:lnTo>
                    <a:pt x="0" y="119386"/>
                  </a:lnTo>
                  <a:lnTo>
                    <a:pt x="0" y="0"/>
                  </a:lnTo>
                  <a:lnTo>
                    <a:pt x="11140" y="14651"/>
                  </a:lnTo>
                  <a:lnTo>
                    <a:pt x="41488" y="26639"/>
                  </a:lnTo>
                  <a:lnTo>
                    <a:pt x="86436" y="34733"/>
                  </a:lnTo>
                  <a:lnTo>
                    <a:pt x="141376" y="37705"/>
                  </a:lnTo>
                  <a:lnTo>
                    <a:pt x="196321" y="34733"/>
                  </a:lnTo>
                  <a:lnTo>
                    <a:pt x="241269" y="26639"/>
                  </a:lnTo>
                  <a:lnTo>
                    <a:pt x="271615" y="14651"/>
                  </a:lnTo>
                  <a:lnTo>
                    <a:pt x="282753" y="0"/>
                  </a:lnTo>
                  <a:lnTo>
                    <a:pt x="282764" y="119386"/>
                  </a:lnTo>
                  <a:close/>
                </a:path>
              </a:pathLst>
            </a:custGeom>
            <a:ln w="5270">
              <a:solidFill>
                <a:srgbClr val="231F20"/>
              </a:solidFill>
            </a:ln>
          </p:spPr>
          <p:txBody>
            <a:bodyPr wrap="square" lIns="0" tIns="0" rIns="0" bIns="0" rtlCol="0"/>
            <a:lstStyle/>
            <a:p>
              <a:endParaRPr/>
            </a:p>
          </p:txBody>
        </p:sp>
        <p:sp>
          <p:nvSpPr>
            <p:cNvPr id="14" name="object 14"/>
            <p:cNvSpPr/>
            <p:nvPr/>
          </p:nvSpPr>
          <p:spPr>
            <a:xfrm>
              <a:off x="2320755" y="1365236"/>
              <a:ext cx="283210" cy="75565"/>
            </a:xfrm>
            <a:custGeom>
              <a:avLst/>
              <a:gdLst/>
              <a:ahLst/>
              <a:cxnLst/>
              <a:rect l="l" t="t" r="r" b="b"/>
              <a:pathLst>
                <a:path w="283210" h="75565">
                  <a:moveTo>
                    <a:pt x="141375" y="0"/>
                  </a:moveTo>
                  <a:lnTo>
                    <a:pt x="86436" y="2968"/>
                  </a:lnTo>
                  <a:lnTo>
                    <a:pt x="41488" y="11056"/>
                  </a:lnTo>
                  <a:lnTo>
                    <a:pt x="11140" y="23039"/>
                  </a:lnTo>
                  <a:lnTo>
                    <a:pt x="0" y="37694"/>
                  </a:lnTo>
                  <a:lnTo>
                    <a:pt x="11140" y="52346"/>
                  </a:lnTo>
                  <a:lnTo>
                    <a:pt x="41488" y="64334"/>
                  </a:lnTo>
                  <a:lnTo>
                    <a:pt x="86436" y="72428"/>
                  </a:lnTo>
                  <a:lnTo>
                    <a:pt x="141375" y="75399"/>
                  </a:lnTo>
                  <a:lnTo>
                    <a:pt x="196315" y="72428"/>
                  </a:lnTo>
                  <a:lnTo>
                    <a:pt x="241263" y="64334"/>
                  </a:lnTo>
                  <a:lnTo>
                    <a:pt x="271611" y="52346"/>
                  </a:lnTo>
                  <a:lnTo>
                    <a:pt x="282751" y="37694"/>
                  </a:lnTo>
                  <a:lnTo>
                    <a:pt x="271611" y="23039"/>
                  </a:lnTo>
                  <a:lnTo>
                    <a:pt x="241263" y="11056"/>
                  </a:lnTo>
                  <a:lnTo>
                    <a:pt x="196315" y="2968"/>
                  </a:lnTo>
                  <a:lnTo>
                    <a:pt x="141375" y="0"/>
                  </a:lnTo>
                  <a:close/>
                </a:path>
              </a:pathLst>
            </a:custGeom>
            <a:solidFill>
              <a:srgbClr val="FFFFFF"/>
            </a:solidFill>
          </p:spPr>
          <p:txBody>
            <a:bodyPr wrap="square" lIns="0" tIns="0" rIns="0" bIns="0" rtlCol="0"/>
            <a:lstStyle/>
            <a:p>
              <a:endParaRPr/>
            </a:p>
          </p:txBody>
        </p:sp>
        <p:sp>
          <p:nvSpPr>
            <p:cNvPr id="15" name="object 15"/>
            <p:cNvSpPr/>
            <p:nvPr/>
          </p:nvSpPr>
          <p:spPr>
            <a:xfrm>
              <a:off x="2320755" y="1365236"/>
              <a:ext cx="283210" cy="75565"/>
            </a:xfrm>
            <a:custGeom>
              <a:avLst/>
              <a:gdLst/>
              <a:ahLst/>
              <a:cxnLst/>
              <a:rect l="l" t="t" r="r" b="b"/>
              <a:pathLst>
                <a:path w="283210" h="75565">
                  <a:moveTo>
                    <a:pt x="141375" y="0"/>
                  </a:moveTo>
                  <a:lnTo>
                    <a:pt x="196315" y="2968"/>
                  </a:lnTo>
                  <a:lnTo>
                    <a:pt x="241263" y="11056"/>
                  </a:lnTo>
                  <a:lnTo>
                    <a:pt x="271611" y="23039"/>
                  </a:lnTo>
                  <a:lnTo>
                    <a:pt x="282751" y="37694"/>
                  </a:lnTo>
                  <a:lnTo>
                    <a:pt x="271611" y="52346"/>
                  </a:lnTo>
                  <a:lnTo>
                    <a:pt x="241263" y="64334"/>
                  </a:lnTo>
                  <a:lnTo>
                    <a:pt x="196315" y="72428"/>
                  </a:lnTo>
                  <a:lnTo>
                    <a:pt x="141375" y="75399"/>
                  </a:lnTo>
                  <a:lnTo>
                    <a:pt x="86436" y="72428"/>
                  </a:lnTo>
                  <a:lnTo>
                    <a:pt x="41488" y="64334"/>
                  </a:lnTo>
                  <a:lnTo>
                    <a:pt x="11140" y="52346"/>
                  </a:lnTo>
                  <a:lnTo>
                    <a:pt x="0" y="37694"/>
                  </a:lnTo>
                  <a:lnTo>
                    <a:pt x="11140" y="23039"/>
                  </a:lnTo>
                  <a:lnTo>
                    <a:pt x="41488" y="11056"/>
                  </a:lnTo>
                  <a:lnTo>
                    <a:pt x="86436" y="2968"/>
                  </a:lnTo>
                  <a:lnTo>
                    <a:pt x="141375" y="0"/>
                  </a:lnTo>
                  <a:close/>
                </a:path>
              </a:pathLst>
            </a:custGeom>
            <a:ln w="5270">
              <a:solidFill>
                <a:srgbClr val="231F20"/>
              </a:solidFill>
            </a:ln>
          </p:spPr>
          <p:txBody>
            <a:bodyPr wrap="square" lIns="0" tIns="0" rIns="0" bIns="0" rtlCol="0"/>
            <a:lstStyle/>
            <a:p>
              <a:endParaRPr/>
            </a:p>
          </p:txBody>
        </p:sp>
        <p:sp>
          <p:nvSpPr>
            <p:cNvPr id="16" name="object 16"/>
            <p:cNvSpPr/>
            <p:nvPr/>
          </p:nvSpPr>
          <p:spPr>
            <a:xfrm>
              <a:off x="2320755" y="1403963"/>
              <a:ext cx="283210" cy="157480"/>
            </a:xfrm>
            <a:custGeom>
              <a:avLst/>
              <a:gdLst/>
              <a:ahLst/>
              <a:cxnLst/>
              <a:rect l="l" t="t" r="r" b="b"/>
              <a:pathLst>
                <a:path w="283210" h="157480">
                  <a:moveTo>
                    <a:pt x="0" y="0"/>
                  </a:moveTo>
                  <a:lnTo>
                    <a:pt x="0" y="119374"/>
                  </a:lnTo>
                  <a:lnTo>
                    <a:pt x="12149" y="135871"/>
                  </a:lnTo>
                  <a:lnTo>
                    <a:pt x="44181" y="147654"/>
                  </a:lnTo>
                  <a:lnTo>
                    <a:pt x="89467" y="154724"/>
                  </a:lnTo>
                  <a:lnTo>
                    <a:pt x="141381" y="157081"/>
                  </a:lnTo>
                  <a:lnTo>
                    <a:pt x="193294" y="154724"/>
                  </a:lnTo>
                  <a:lnTo>
                    <a:pt x="238580" y="147654"/>
                  </a:lnTo>
                  <a:lnTo>
                    <a:pt x="270612" y="135871"/>
                  </a:lnTo>
                  <a:lnTo>
                    <a:pt x="282762" y="119374"/>
                  </a:lnTo>
                  <a:lnTo>
                    <a:pt x="282755" y="37694"/>
                  </a:lnTo>
                  <a:lnTo>
                    <a:pt x="141375" y="37694"/>
                  </a:lnTo>
                  <a:lnTo>
                    <a:pt x="86436" y="34723"/>
                  </a:lnTo>
                  <a:lnTo>
                    <a:pt x="41488" y="26630"/>
                  </a:lnTo>
                  <a:lnTo>
                    <a:pt x="11140" y="14645"/>
                  </a:lnTo>
                  <a:lnTo>
                    <a:pt x="0" y="0"/>
                  </a:lnTo>
                  <a:close/>
                </a:path>
                <a:path w="283210" h="157480">
                  <a:moveTo>
                    <a:pt x="282751" y="0"/>
                  </a:moveTo>
                  <a:lnTo>
                    <a:pt x="271611" y="14645"/>
                  </a:lnTo>
                  <a:lnTo>
                    <a:pt x="241263" y="26630"/>
                  </a:lnTo>
                  <a:lnTo>
                    <a:pt x="196315" y="34723"/>
                  </a:lnTo>
                  <a:lnTo>
                    <a:pt x="141375" y="37694"/>
                  </a:lnTo>
                  <a:lnTo>
                    <a:pt x="282755" y="37694"/>
                  </a:lnTo>
                  <a:lnTo>
                    <a:pt x="282751" y="0"/>
                  </a:lnTo>
                  <a:close/>
                </a:path>
              </a:pathLst>
            </a:custGeom>
            <a:solidFill>
              <a:srgbClr val="BCBEC0"/>
            </a:solidFill>
          </p:spPr>
          <p:txBody>
            <a:bodyPr wrap="square" lIns="0" tIns="0" rIns="0" bIns="0" rtlCol="0"/>
            <a:lstStyle/>
            <a:p>
              <a:endParaRPr/>
            </a:p>
          </p:txBody>
        </p:sp>
        <p:sp>
          <p:nvSpPr>
            <p:cNvPr id="17" name="object 17"/>
            <p:cNvSpPr/>
            <p:nvPr/>
          </p:nvSpPr>
          <p:spPr>
            <a:xfrm>
              <a:off x="2320755" y="1403963"/>
              <a:ext cx="283210" cy="157480"/>
            </a:xfrm>
            <a:custGeom>
              <a:avLst/>
              <a:gdLst/>
              <a:ahLst/>
              <a:cxnLst/>
              <a:rect l="l" t="t" r="r" b="b"/>
              <a:pathLst>
                <a:path w="283210" h="157480">
                  <a:moveTo>
                    <a:pt x="282762" y="119374"/>
                  </a:moveTo>
                  <a:lnTo>
                    <a:pt x="270612" y="135871"/>
                  </a:lnTo>
                  <a:lnTo>
                    <a:pt x="238580" y="147654"/>
                  </a:lnTo>
                  <a:lnTo>
                    <a:pt x="193294" y="154724"/>
                  </a:lnTo>
                  <a:lnTo>
                    <a:pt x="141381" y="157081"/>
                  </a:lnTo>
                  <a:lnTo>
                    <a:pt x="89467" y="154724"/>
                  </a:lnTo>
                  <a:lnTo>
                    <a:pt x="44181" y="147654"/>
                  </a:lnTo>
                  <a:lnTo>
                    <a:pt x="12149" y="135871"/>
                  </a:lnTo>
                  <a:lnTo>
                    <a:pt x="0" y="119374"/>
                  </a:lnTo>
                  <a:lnTo>
                    <a:pt x="0" y="0"/>
                  </a:lnTo>
                  <a:lnTo>
                    <a:pt x="11140" y="14645"/>
                  </a:lnTo>
                  <a:lnTo>
                    <a:pt x="41488" y="26630"/>
                  </a:lnTo>
                  <a:lnTo>
                    <a:pt x="86436" y="34723"/>
                  </a:lnTo>
                  <a:lnTo>
                    <a:pt x="141375" y="37694"/>
                  </a:lnTo>
                  <a:lnTo>
                    <a:pt x="196315" y="34723"/>
                  </a:lnTo>
                  <a:lnTo>
                    <a:pt x="241263" y="26630"/>
                  </a:lnTo>
                  <a:lnTo>
                    <a:pt x="271611" y="14645"/>
                  </a:lnTo>
                  <a:lnTo>
                    <a:pt x="282751" y="0"/>
                  </a:lnTo>
                  <a:lnTo>
                    <a:pt x="282762" y="119374"/>
                  </a:lnTo>
                  <a:close/>
                </a:path>
              </a:pathLst>
            </a:custGeom>
            <a:ln w="5270">
              <a:solidFill>
                <a:srgbClr val="231F20"/>
              </a:solidFill>
            </a:ln>
          </p:spPr>
          <p:txBody>
            <a:bodyPr wrap="square" lIns="0" tIns="0" rIns="0" bIns="0" rtlCol="0"/>
            <a:lstStyle/>
            <a:p>
              <a:endParaRPr/>
            </a:p>
          </p:txBody>
        </p:sp>
        <p:sp>
          <p:nvSpPr>
            <p:cNvPr id="18" name="object 18"/>
            <p:cNvSpPr/>
            <p:nvPr/>
          </p:nvSpPr>
          <p:spPr>
            <a:xfrm>
              <a:off x="3089627" y="1362622"/>
              <a:ext cx="283210" cy="75565"/>
            </a:xfrm>
            <a:custGeom>
              <a:avLst/>
              <a:gdLst/>
              <a:ahLst/>
              <a:cxnLst/>
              <a:rect l="l" t="t" r="r" b="b"/>
              <a:pathLst>
                <a:path w="283210" h="75565">
                  <a:moveTo>
                    <a:pt x="141375" y="0"/>
                  </a:moveTo>
                  <a:lnTo>
                    <a:pt x="86431" y="2969"/>
                  </a:lnTo>
                  <a:lnTo>
                    <a:pt x="41484" y="11060"/>
                  </a:lnTo>
                  <a:lnTo>
                    <a:pt x="11138" y="23044"/>
                  </a:lnTo>
                  <a:lnTo>
                    <a:pt x="0" y="37694"/>
                  </a:lnTo>
                  <a:lnTo>
                    <a:pt x="11138" y="52344"/>
                  </a:lnTo>
                  <a:lnTo>
                    <a:pt x="41484" y="64329"/>
                  </a:lnTo>
                  <a:lnTo>
                    <a:pt x="86431" y="72419"/>
                  </a:lnTo>
                  <a:lnTo>
                    <a:pt x="141375" y="75389"/>
                  </a:lnTo>
                  <a:lnTo>
                    <a:pt x="196321" y="72419"/>
                  </a:lnTo>
                  <a:lnTo>
                    <a:pt x="241272" y="64329"/>
                  </a:lnTo>
                  <a:lnTo>
                    <a:pt x="271622" y="52344"/>
                  </a:lnTo>
                  <a:lnTo>
                    <a:pt x="282762" y="37694"/>
                  </a:lnTo>
                  <a:lnTo>
                    <a:pt x="271622" y="23044"/>
                  </a:lnTo>
                  <a:lnTo>
                    <a:pt x="241272" y="11060"/>
                  </a:lnTo>
                  <a:lnTo>
                    <a:pt x="196321" y="2969"/>
                  </a:lnTo>
                  <a:lnTo>
                    <a:pt x="141375" y="0"/>
                  </a:lnTo>
                  <a:close/>
                </a:path>
              </a:pathLst>
            </a:custGeom>
            <a:solidFill>
              <a:srgbClr val="FFFFFF"/>
            </a:solidFill>
          </p:spPr>
          <p:txBody>
            <a:bodyPr wrap="square" lIns="0" tIns="0" rIns="0" bIns="0" rtlCol="0"/>
            <a:lstStyle/>
            <a:p>
              <a:endParaRPr/>
            </a:p>
          </p:txBody>
        </p:sp>
        <p:sp>
          <p:nvSpPr>
            <p:cNvPr id="19" name="object 19"/>
            <p:cNvSpPr/>
            <p:nvPr/>
          </p:nvSpPr>
          <p:spPr>
            <a:xfrm>
              <a:off x="3089627" y="1362622"/>
              <a:ext cx="283210" cy="75565"/>
            </a:xfrm>
            <a:custGeom>
              <a:avLst/>
              <a:gdLst/>
              <a:ahLst/>
              <a:cxnLst/>
              <a:rect l="l" t="t" r="r" b="b"/>
              <a:pathLst>
                <a:path w="283210" h="75565">
                  <a:moveTo>
                    <a:pt x="141375" y="0"/>
                  </a:moveTo>
                  <a:lnTo>
                    <a:pt x="196321" y="2969"/>
                  </a:lnTo>
                  <a:lnTo>
                    <a:pt x="241272" y="11060"/>
                  </a:lnTo>
                  <a:lnTo>
                    <a:pt x="271622" y="23044"/>
                  </a:lnTo>
                  <a:lnTo>
                    <a:pt x="282762" y="37694"/>
                  </a:lnTo>
                  <a:lnTo>
                    <a:pt x="271622" y="52344"/>
                  </a:lnTo>
                  <a:lnTo>
                    <a:pt x="241272" y="64329"/>
                  </a:lnTo>
                  <a:lnTo>
                    <a:pt x="196321" y="72419"/>
                  </a:lnTo>
                  <a:lnTo>
                    <a:pt x="141375" y="75389"/>
                  </a:lnTo>
                  <a:lnTo>
                    <a:pt x="86431" y="72419"/>
                  </a:lnTo>
                  <a:lnTo>
                    <a:pt x="41484" y="64329"/>
                  </a:lnTo>
                  <a:lnTo>
                    <a:pt x="11138" y="52344"/>
                  </a:lnTo>
                  <a:lnTo>
                    <a:pt x="0" y="37694"/>
                  </a:lnTo>
                  <a:lnTo>
                    <a:pt x="11138" y="23044"/>
                  </a:lnTo>
                  <a:lnTo>
                    <a:pt x="41484" y="11060"/>
                  </a:lnTo>
                  <a:lnTo>
                    <a:pt x="86431" y="2969"/>
                  </a:lnTo>
                  <a:lnTo>
                    <a:pt x="141375" y="0"/>
                  </a:lnTo>
                  <a:close/>
                </a:path>
              </a:pathLst>
            </a:custGeom>
            <a:ln w="5270">
              <a:solidFill>
                <a:srgbClr val="231F20"/>
              </a:solidFill>
            </a:ln>
          </p:spPr>
          <p:txBody>
            <a:bodyPr wrap="square" lIns="0" tIns="0" rIns="0" bIns="0" rtlCol="0"/>
            <a:lstStyle/>
            <a:p>
              <a:endParaRPr/>
            </a:p>
          </p:txBody>
        </p:sp>
        <p:sp>
          <p:nvSpPr>
            <p:cNvPr id="20" name="object 20"/>
            <p:cNvSpPr/>
            <p:nvPr/>
          </p:nvSpPr>
          <p:spPr>
            <a:xfrm>
              <a:off x="3089627" y="1401339"/>
              <a:ext cx="283210" cy="157480"/>
            </a:xfrm>
            <a:custGeom>
              <a:avLst/>
              <a:gdLst/>
              <a:ahLst/>
              <a:cxnLst/>
              <a:rect l="l" t="t" r="r" b="b"/>
              <a:pathLst>
                <a:path w="283210" h="157480">
                  <a:moveTo>
                    <a:pt x="282762" y="0"/>
                  </a:moveTo>
                  <a:lnTo>
                    <a:pt x="271622" y="14647"/>
                  </a:lnTo>
                  <a:lnTo>
                    <a:pt x="241272" y="26635"/>
                  </a:lnTo>
                  <a:lnTo>
                    <a:pt x="196321" y="34732"/>
                  </a:lnTo>
                  <a:lnTo>
                    <a:pt x="141375" y="37705"/>
                  </a:lnTo>
                  <a:lnTo>
                    <a:pt x="86431" y="34732"/>
                  </a:lnTo>
                  <a:lnTo>
                    <a:pt x="41484" y="26635"/>
                  </a:lnTo>
                  <a:lnTo>
                    <a:pt x="11138" y="14647"/>
                  </a:lnTo>
                  <a:lnTo>
                    <a:pt x="0" y="0"/>
                  </a:lnTo>
                  <a:lnTo>
                    <a:pt x="10" y="119388"/>
                  </a:lnTo>
                  <a:lnTo>
                    <a:pt x="12160" y="135882"/>
                  </a:lnTo>
                  <a:lnTo>
                    <a:pt x="44190" y="147664"/>
                  </a:lnTo>
                  <a:lnTo>
                    <a:pt x="89474" y="154733"/>
                  </a:lnTo>
                  <a:lnTo>
                    <a:pt x="141386" y="157089"/>
                  </a:lnTo>
                  <a:lnTo>
                    <a:pt x="193297" y="154733"/>
                  </a:lnTo>
                  <a:lnTo>
                    <a:pt x="238582" y="147664"/>
                  </a:lnTo>
                  <a:lnTo>
                    <a:pt x="270612" y="135882"/>
                  </a:lnTo>
                  <a:lnTo>
                    <a:pt x="282762" y="119388"/>
                  </a:lnTo>
                  <a:lnTo>
                    <a:pt x="282762" y="0"/>
                  </a:lnTo>
                  <a:close/>
                </a:path>
              </a:pathLst>
            </a:custGeom>
            <a:solidFill>
              <a:srgbClr val="BCBEC0"/>
            </a:solidFill>
          </p:spPr>
          <p:txBody>
            <a:bodyPr wrap="square" lIns="0" tIns="0" rIns="0" bIns="0" rtlCol="0"/>
            <a:lstStyle/>
            <a:p>
              <a:endParaRPr/>
            </a:p>
          </p:txBody>
        </p:sp>
        <p:sp>
          <p:nvSpPr>
            <p:cNvPr id="21" name="object 21"/>
            <p:cNvSpPr/>
            <p:nvPr/>
          </p:nvSpPr>
          <p:spPr>
            <a:xfrm>
              <a:off x="872746" y="795876"/>
              <a:ext cx="2499995" cy="762635"/>
            </a:xfrm>
            <a:custGeom>
              <a:avLst/>
              <a:gdLst/>
              <a:ahLst/>
              <a:cxnLst/>
              <a:rect l="l" t="t" r="r" b="b"/>
              <a:pathLst>
                <a:path w="2499995" h="762635">
                  <a:moveTo>
                    <a:pt x="2499643" y="724850"/>
                  </a:moveTo>
                  <a:lnTo>
                    <a:pt x="2487493" y="741344"/>
                  </a:lnTo>
                  <a:lnTo>
                    <a:pt x="2455463" y="753126"/>
                  </a:lnTo>
                  <a:lnTo>
                    <a:pt x="2410178" y="760195"/>
                  </a:lnTo>
                  <a:lnTo>
                    <a:pt x="2358267" y="762551"/>
                  </a:lnTo>
                  <a:lnTo>
                    <a:pt x="2306355" y="760195"/>
                  </a:lnTo>
                  <a:lnTo>
                    <a:pt x="2261071" y="753126"/>
                  </a:lnTo>
                  <a:lnTo>
                    <a:pt x="2229040" y="741344"/>
                  </a:lnTo>
                  <a:lnTo>
                    <a:pt x="2216891" y="724850"/>
                  </a:lnTo>
                  <a:lnTo>
                    <a:pt x="2216880" y="605462"/>
                  </a:lnTo>
                  <a:lnTo>
                    <a:pt x="2228019" y="620109"/>
                  </a:lnTo>
                  <a:lnTo>
                    <a:pt x="2258364" y="632098"/>
                  </a:lnTo>
                  <a:lnTo>
                    <a:pt x="2303312" y="640194"/>
                  </a:lnTo>
                  <a:lnTo>
                    <a:pt x="2358256" y="643167"/>
                  </a:lnTo>
                  <a:lnTo>
                    <a:pt x="2413202" y="640194"/>
                  </a:lnTo>
                  <a:lnTo>
                    <a:pt x="2458153" y="632098"/>
                  </a:lnTo>
                  <a:lnTo>
                    <a:pt x="2488502" y="620109"/>
                  </a:lnTo>
                  <a:lnTo>
                    <a:pt x="2499643" y="605462"/>
                  </a:lnTo>
                  <a:lnTo>
                    <a:pt x="2499643" y="724850"/>
                  </a:lnTo>
                  <a:close/>
                </a:path>
                <a:path w="2499995" h="762635">
                  <a:moveTo>
                    <a:pt x="0" y="179279"/>
                  </a:moveTo>
                  <a:lnTo>
                    <a:pt x="179283" y="179279"/>
                  </a:lnTo>
                  <a:lnTo>
                    <a:pt x="179283" y="0"/>
                  </a:lnTo>
                  <a:lnTo>
                    <a:pt x="0" y="0"/>
                  </a:lnTo>
                  <a:lnTo>
                    <a:pt x="0" y="179279"/>
                  </a:lnTo>
                  <a:close/>
                </a:path>
                <a:path w="2499995" h="762635">
                  <a:moveTo>
                    <a:pt x="65510" y="179279"/>
                  </a:moveTo>
                  <a:lnTo>
                    <a:pt x="65510" y="530336"/>
                  </a:lnTo>
                </a:path>
              </a:pathLst>
            </a:custGeom>
            <a:ln w="5270">
              <a:solidFill>
                <a:srgbClr val="231F20"/>
              </a:solidFill>
            </a:ln>
          </p:spPr>
          <p:txBody>
            <a:bodyPr wrap="square" lIns="0" tIns="0" rIns="0" bIns="0" rtlCol="0"/>
            <a:lstStyle/>
            <a:p>
              <a:endParaRPr/>
            </a:p>
          </p:txBody>
        </p:sp>
        <p:pic>
          <p:nvPicPr>
            <p:cNvPr id="22" name="object 22"/>
            <p:cNvPicPr/>
            <p:nvPr/>
          </p:nvPicPr>
          <p:blipFill>
            <a:blip r:embed="rId5" cstate="print"/>
            <a:stretch>
              <a:fillRect/>
            </a:stretch>
          </p:blipFill>
          <p:spPr>
            <a:xfrm>
              <a:off x="906369" y="1289225"/>
              <a:ext cx="63761" cy="74366"/>
            </a:xfrm>
            <a:prstGeom prst="rect">
              <a:avLst/>
            </a:prstGeom>
          </p:spPr>
        </p:pic>
        <p:sp>
          <p:nvSpPr>
            <p:cNvPr id="23" name="object 23"/>
            <p:cNvSpPr/>
            <p:nvPr/>
          </p:nvSpPr>
          <p:spPr>
            <a:xfrm>
              <a:off x="2366756" y="797506"/>
              <a:ext cx="179705" cy="530860"/>
            </a:xfrm>
            <a:custGeom>
              <a:avLst/>
              <a:gdLst/>
              <a:ahLst/>
              <a:cxnLst/>
              <a:rect l="l" t="t" r="r" b="b"/>
              <a:pathLst>
                <a:path w="179705" h="530860">
                  <a:moveTo>
                    <a:pt x="0" y="179283"/>
                  </a:moveTo>
                  <a:lnTo>
                    <a:pt x="179266" y="179283"/>
                  </a:lnTo>
                  <a:lnTo>
                    <a:pt x="179266" y="0"/>
                  </a:lnTo>
                  <a:lnTo>
                    <a:pt x="0" y="0"/>
                  </a:lnTo>
                  <a:lnTo>
                    <a:pt x="0" y="179283"/>
                  </a:lnTo>
                  <a:close/>
                </a:path>
                <a:path w="179705" h="530860">
                  <a:moveTo>
                    <a:pt x="65501" y="179283"/>
                  </a:moveTo>
                  <a:lnTo>
                    <a:pt x="65501" y="530340"/>
                  </a:lnTo>
                </a:path>
              </a:pathLst>
            </a:custGeom>
            <a:ln w="5270">
              <a:solidFill>
                <a:srgbClr val="231F20"/>
              </a:solidFill>
            </a:ln>
          </p:spPr>
          <p:txBody>
            <a:bodyPr wrap="square" lIns="0" tIns="0" rIns="0" bIns="0" rtlCol="0"/>
            <a:lstStyle/>
            <a:p>
              <a:endParaRPr/>
            </a:p>
          </p:txBody>
        </p:sp>
        <p:pic>
          <p:nvPicPr>
            <p:cNvPr id="24" name="object 24"/>
            <p:cNvPicPr/>
            <p:nvPr/>
          </p:nvPicPr>
          <p:blipFill>
            <a:blip r:embed="rId6" cstate="print"/>
            <a:stretch>
              <a:fillRect/>
            </a:stretch>
          </p:blipFill>
          <p:spPr>
            <a:xfrm>
              <a:off x="2400372" y="1290858"/>
              <a:ext cx="63762" cy="74377"/>
            </a:xfrm>
            <a:prstGeom prst="rect">
              <a:avLst/>
            </a:prstGeom>
          </p:spPr>
        </p:pic>
        <p:sp>
          <p:nvSpPr>
            <p:cNvPr id="25" name="object 25"/>
            <p:cNvSpPr/>
            <p:nvPr/>
          </p:nvSpPr>
          <p:spPr>
            <a:xfrm>
              <a:off x="1804774" y="1572757"/>
              <a:ext cx="537845" cy="205740"/>
            </a:xfrm>
            <a:custGeom>
              <a:avLst/>
              <a:gdLst/>
              <a:ahLst/>
              <a:cxnLst/>
              <a:rect l="l" t="t" r="r" b="b"/>
              <a:pathLst>
                <a:path w="537844" h="205739">
                  <a:moveTo>
                    <a:pt x="0" y="0"/>
                  </a:moveTo>
                  <a:lnTo>
                    <a:pt x="232340" y="205459"/>
                  </a:lnTo>
                  <a:lnTo>
                    <a:pt x="400746" y="193422"/>
                  </a:lnTo>
                  <a:lnTo>
                    <a:pt x="503240" y="92145"/>
                  </a:lnTo>
                  <a:lnTo>
                    <a:pt x="537843" y="29884"/>
                  </a:lnTo>
                </a:path>
              </a:pathLst>
            </a:custGeom>
            <a:ln w="5270">
              <a:solidFill>
                <a:srgbClr val="231F20"/>
              </a:solidFill>
            </a:ln>
          </p:spPr>
          <p:txBody>
            <a:bodyPr wrap="square" lIns="0" tIns="0" rIns="0" bIns="0" rtlCol="0"/>
            <a:lstStyle/>
            <a:p>
              <a:endParaRPr/>
            </a:p>
          </p:txBody>
        </p:sp>
        <p:sp>
          <p:nvSpPr>
            <p:cNvPr id="26" name="object 26"/>
            <p:cNvSpPr/>
            <p:nvPr/>
          </p:nvSpPr>
          <p:spPr>
            <a:xfrm>
              <a:off x="2298936" y="1568142"/>
              <a:ext cx="59055" cy="81280"/>
            </a:xfrm>
            <a:custGeom>
              <a:avLst/>
              <a:gdLst/>
              <a:ahLst/>
              <a:cxnLst/>
              <a:rect l="l" t="t" r="r" b="b"/>
              <a:pathLst>
                <a:path w="59055" h="81280">
                  <a:moveTo>
                    <a:pt x="58080" y="0"/>
                  </a:moveTo>
                  <a:lnTo>
                    <a:pt x="0" y="56353"/>
                  </a:lnTo>
                  <a:lnTo>
                    <a:pt x="17011" y="56980"/>
                  </a:lnTo>
                  <a:lnTo>
                    <a:pt x="32486" y="61284"/>
                  </a:lnTo>
                  <a:lnTo>
                    <a:pt x="46425" y="69265"/>
                  </a:lnTo>
                  <a:lnTo>
                    <a:pt x="58829" y="80922"/>
                  </a:lnTo>
                  <a:lnTo>
                    <a:pt x="58080" y="0"/>
                  </a:lnTo>
                  <a:close/>
                </a:path>
              </a:pathLst>
            </a:custGeom>
            <a:solidFill>
              <a:srgbClr val="231F20"/>
            </a:solidFill>
          </p:spPr>
          <p:txBody>
            <a:bodyPr wrap="square" lIns="0" tIns="0" rIns="0" bIns="0" rtlCol="0"/>
            <a:lstStyle/>
            <a:p>
              <a:endParaRPr/>
            </a:p>
          </p:txBody>
        </p:sp>
      </p:grpSp>
      <p:sp>
        <p:nvSpPr>
          <p:cNvPr id="27" name="object 27"/>
          <p:cNvSpPr txBox="1"/>
          <p:nvPr/>
        </p:nvSpPr>
        <p:spPr>
          <a:xfrm>
            <a:off x="3495236" y="1535489"/>
            <a:ext cx="41465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Data store</a:t>
            </a:r>
            <a:endParaRPr sz="650">
              <a:latin typeface="Arial"/>
              <a:cs typeface="Arial"/>
            </a:endParaRPr>
          </a:p>
        </p:txBody>
      </p:sp>
      <p:sp>
        <p:nvSpPr>
          <p:cNvPr id="28" name="object 28"/>
          <p:cNvSpPr txBox="1"/>
          <p:nvPr/>
        </p:nvSpPr>
        <p:spPr>
          <a:xfrm>
            <a:off x="1215660" y="818372"/>
            <a:ext cx="461645" cy="220979"/>
          </a:xfrm>
          <a:prstGeom prst="rect">
            <a:avLst/>
          </a:prstGeom>
        </p:spPr>
        <p:txBody>
          <a:bodyPr vert="horz" wrap="square" lIns="0" tIns="21590" rIns="0" bIns="0" rtlCol="0">
            <a:spAutoFit/>
          </a:bodyPr>
          <a:lstStyle/>
          <a:p>
            <a:pPr marL="57150" marR="5080" indent="-45085">
              <a:lnSpc>
                <a:spcPts val="740"/>
              </a:lnSpc>
              <a:spcBef>
                <a:spcPts val="170"/>
              </a:spcBef>
            </a:pPr>
            <a:r>
              <a:rPr sz="650" spc="5" dirty="0">
                <a:solidFill>
                  <a:srgbClr val="231F20"/>
                </a:solidFill>
                <a:latin typeface="Arial"/>
                <a:cs typeface="Arial"/>
              </a:rPr>
              <a:t>Old primary  for</a:t>
            </a:r>
            <a:r>
              <a:rPr sz="650" spc="-25" dirty="0">
                <a:solidFill>
                  <a:srgbClr val="231F20"/>
                </a:solidFill>
                <a:latin typeface="Arial"/>
                <a:cs typeface="Arial"/>
              </a:rPr>
              <a:t> </a:t>
            </a:r>
            <a:r>
              <a:rPr sz="650" spc="5" dirty="0">
                <a:solidFill>
                  <a:srgbClr val="231F20"/>
                </a:solidFill>
                <a:latin typeface="Arial"/>
                <a:cs typeface="Arial"/>
              </a:rPr>
              <a:t>item</a:t>
            </a:r>
            <a:r>
              <a:rPr sz="650" spc="-20" dirty="0">
                <a:solidFill>
                  <a:srgbClr val="231F20"/>
                </a:solidFill>
                <a:latin typeface="Arial"/>
                <a:cs typeface="Arial"/>
              </a:rPr>
              <a:t> </a:t>
            </a:r>
            <a:r>
              <a:rPr sz="650" spc="5" dirty="0">
                <a:solidFill>
                  <a:srgbClr val="231F20"/>
                </a:solidFill>
                <a:latin typeface="Arial"/>
                <a:cs typeface="Arial"/>
              </a:rPr>
              <a:t>x</a:t>
            </a:r>
            <a:endParaRPr sz="650">
              <a:latin typeface="Arial"/>
              <a:cs typeface="Arial"/>
            </a:endParaRPr>
          </a:p>
        </p:txBody>
      </p:sp>
      <p:sp>
        <p:nvSpPr>
          <p:cNvPr id="29" name="object 29"/>
          <p:cNvSpPr txBox="1"/>
          <p:nvPr/>
        </p:nvSpPr>
        <p:spPr>
          <a:xfrm>
            <a:off x="347294" y="382788"/>
            <a:ext cx="2781935" cy="414655"/>
          </a:xfrm>
          <a:prstGeom prst="rect">
            <a:avLst/>
          </a:prstGeom>
        </p:spPr>
        <p:txBody>
          <a:bodyPr vert="horz" wrap="square" lIns="0" tIns="12065" rIns="0" bIns="0" rtlCol="0">
            <a:spAutoFit/>
          </a:bodyPr>
          <a:lstStyle/>
          <a:p>
            <a:pPr algn="ctr">
              <a:lnSpc>
                <a:spcPct val="100000"/>
              </a:lnSpc>
              <a:spcBef>
                <a:spcPts val="95"/>
              </a:spcBef>
            </a:pPr>
            <a:r>
              <a:rPr sz="1200" spc="-5" dirty="0">
                <a:solidFill>
                  <a:srgbClr val="3333B2"/>
                </a:solidFill>
                <a:latin typeface="Arial"/>
                <a:cs typeface="Arial"/>
              </a:rPr>
              <a:t>Primary-backup protocol</a:t>
            </a:r>
            <a:r>
              <a:rPr sz="1200" dirty="0">
                <a:solidFill>
                  <a:srgbClr val="3333B2"/>
                </a:solidFill>
                <a:latin typeface="Arial"/>
                <a:cs typeface="Arial"/>
              </a:rPr>
              <a:t> </a:t>
            </a:r>
            <a:r>
              <a:rPr sz="1200" spc="-5" dirty="0">
                <a:solidFill>
                  <a:srgbClr val="3333B2"/>
                </a:solidFill>
                <a:latin typeface="Arial"/>
                <a:cs typeface="Arial"/>
              </a:rPr>
              <a:t>with local</a:t>
            </a:r>
            <a:r>
              <a:rPr sz="1200" dirty="0">
                <a:solidFill>
                  <a:srgbClr val="3333B2"/>
                </a:solidFill>
                <a:latin typeface="Arial"/>
                <a:cs typeface="Arial"/>
              </a:rPr>
              <a:t> writes</a:t>
            </a:r>
            <a:endParaRPr sz="1200">
              <a:latin typeface="Arial"/>
              <a:cs typeface="Arial"/>
            </a:endParaRPr>
          </a:p>
          <a:p>
            <a:pPr marR="48895" algn="ctr">
              <a:lnSpc>
                <a:spcPct val="100000"/>
              </a:lnSpc>
              <a:spcBef>
                <a:spcPts val="844"/>
              </a:spcBef>
              <a:tabLst>
                <a:tab pos="1493520" algn="l"/>
              </a:tabLst>
            </a:pPr>
            <a:r>
              <a:rPr sz="650" spc="5" dirty="0">
                <a:solidFill>
                  <a:srgbClr val="231F20"/>
                </a:solidFill>
                <a:latin typeface="Arial"/>
                <a:cs typeface="Arial"/>
              </a:rPr>
              <a:t>Client	Client</a:t>
            </a:r>
            <a:endParaRPr sz="650">
              <a:latin typeface="Arial"/>
              <a:cs typeface="Arial"/>
            </a:endParaRPr>
          </a:p>
        </p:txBody>
      </p:sp>
      <p:sp>
        <p:nvSpPr>
          <p:cNvPr id="30" name="object 30"/>
          <p:cNvSpPr/>
          <p:nvPr/>
        </p:nvSpPr>
        <p:spPr>
          <a:xfrm>
            <a:off x="1505972" y="1034923"/>
            <a:ext cx="189230" cy="330200"/>
          </a:xfrm>
          <a:custGeom>
            <a:avLst/>
            <a:gdLst/>
            <a:ahLst/>
            <a:cxnLst/>
            <a:rect l="l" t="t" r="r" b="b"/>
            <a:pathLst>
              <a:path w="189230" h="330200">
                <a:moveTo>
                  <a:pt x="0" y="0"/>
                </a:moveTo>
                <a:lnTo>
                  <a:pt x="188868" y="329975"/>
                </a:lnTo>
              </a:path>
            </a:pathLst>
          </a:custGeom>
          <a:ln w="5270">
            <a:solidFill>
              <a:srgbClr val="231F20"/>
            </a:solidFill>
          </a:ln>
        </p:spPr>
        <p:txBody>
          <a:bodyPr wrap="square" lIns="0" tIns="0" rIns="0" bIns="0" rtlCol="0"/>
          <a:lstStyle/>
          <a:p>
            <a:endParaRPr/>
          </a:p>
        </p:txBody>
      </p:sp>
      <p:sp>
        <p:nvSpPr>
          <p:cNvPr id="31" name="object 31"/>
          <p:cNvSpPr txBox="1"/>
          <p:nvPr/>
        </p:nvSpPr>
        <p:spPr>
          <a:xfrm>
            <a:off x="3194185" y="938498"/>
            <a:ext cx="5645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Backup server</a:t>
            </a:r>
            <a:endParaRPr sz="650">
              <a:latin typeface="Arial"/>
              <a:cs typeface="Arial"/>
            </a:endParaRPr>
          </a:p>
        </p:txBody>
      </p:sp>
      <p:grpSp>
        <p:nvGrpSpPr>
          <p:cNvPr id="32" name="object 32"/>
          <p:cNvGrpSpPr/>
          <p:nvPr/>
        </p:nvGrpSpPr>
        <p:grpSpPr>
          <a:xfrm>
            <a:off x="966133" y="975156"/>
            <a:ext cx="2441575" cy="570230"/>
            <a:chOff x="966133" y="975156"/>
            <a:chExt cx="2441575" cy="570230"/>
          </a:xfrm>
        </p:grpSpPr>
        <p:sp>
          <p:nvSpPr>
            <p:cNvPr id="33" name="object 33"/>
            <p:cNvSpPr/>
            <p:nvPr/>
          </p:nvSpPr>
          <p:spPr>
            <a:xfrm>
              <a:off x="2648918" y="1075601"/>
              <a:ext cx="756285" cy="347980"/>
            </a:xfrm>
            <a:custGeom>
              <a:avLst/>
              <a:gdLst/>
              <a:ahLst/>
              <a:cxnLst/>
              <a:rect l="l" t="t" r="r" b="b"/>
              <a:pathLst>
                <a:path w="756285" h="347980">
                  <a:moveTo>
                    <a:pt x="755800" y="0"/>
                  </a:moveTo>
                  <a:lnTo>
                    <a:pt x="641135" y="292818"/>
                  </a:lnTo>
                </a:path>
                <a:path w="756285" h="347980">
                  <a:moveTo>
                    <a:pt x="0" y="347737"/>
                  </a:moveTo>
                  <a:lnTo>
                    <a:pt x="440698" y="347758"/>
                  </a:lnTo>
                </a:path>
              </a:pathLst>
            </a:custGeom>
            <a:ln w="5270">
              <a:solidFill>
                <a:srgbClr val="231F20"/>
              </a:solidFill>
            </a:ln>
          </p:spPr>
          <p:txBody>
            <a:bodyPr wrap="square" lIns="0" tIns="0" rIns="0" bIns="0" rtlCol="0"/>
            <a:lstStyle/>
            <a:p>
              <a:endParaRPr/>
            </a:p>
          </p:txBody>
        </p:sp>
        <p:pic>
          <p:nvPicPr>
            <p:cNvPr id="34" name="object 34"/>
            <p:cNvPicPr/>
            <p:nvPr/>
          </p:nvPicPr>
          <p:blipFill>
            <a:blip r:embed="rId7" cstate="print"/>
            <a:stretch>
              <a:fillRect/>
            </a:stretch>
          </p:blipFill>
          <p:spPr>
            <a:xfrm>
              <a:off x="2611539" y="1391483"/>
              <a:ext cx="74366" cy="63751"/>
            </a:xfrm>
            <a:prstGeom prst="rect">
              <a:avLst/>
            </a:prstGeom>
          </p:spPr>
        </p:pic>
        <p:sp>
          <p:nvSpPr>
            <p:cNvPr id="35" name="object 35"/>
            <p:cNvSpPr/>
            <p:nvPr/>
          </p:nvSpPr>
          <p:spPr>
            <a:xfrm>
              <a:off x="1864530" y="1423338"/>
              <a:ext cx="410845" cy="0"/>
            </a:xfrm>
            <a:custGeom>
              <a:avLst/>
              <a:gdLst/>
              <a:ahLst/>
              <a:cxnLst/>
              <a:rect l="l" t="t" r="r" b="b"/>
              <a:pathLst>
                <a:path w="410844">
                  <a:moveTo>
                    <a:pt x="410824" y="0"/>
                  </a:moveTo>
                  <a:lnTo>
                    <a:pt x="0" y="0"/>
                  </a:lnTo>
                </a:path>
              </a:pathLst>
            </a:custGeom>
            <a:ln w="5270">
              <a:solidFill>
                <a:srgbClr val="231F20"/>
              </a:solidFill>
            </a:ln>
          </p:spPr>
          <p:txBody>
            <a:bodyPr wrap="square" lIns="0" tIns="0" rIns="0" bIns="0" rtlCol="0"/>
            <a:lstStyle/>
            <a:p>
              <a:endParaRPr/>
            </a:p>
          </p:txBody>
        </p:sp>
        <p:pic>
          <p:nvPicPr>
            <p:cNvPr id="36" name="object 36"/>
            <p:cNvPicPr/>
            <p:nvPr/>
          </p:nvPicPr>
          <p:blipFill>
            <a:blip r:embed="rId8" cstate="print"/>
            <a:stretch>
              <a:fillRect/>
            </a:stretch>
          </p:blipFill>
          <p:spPr>
            <a:xfrm>
              <a:off x="2238356" y="1391483"/>
              <a:ext cx="74377" cy="63751"/>
            </a:xfrm>
            <a:prstGeom prst="rect">
              <a:avLst/>
            </a:prstGeom>
          </p:spPr>
        </p:pic>
        <p:sp>
          <p:nvSpPr>
            <p:cNvPr id="37" name="object 37"/>
            <p:cNvSpPr/>
            <p:nvPr/>
          </p:nvSpPr>
          <p:spPr>
            <a:xfrm>
              <a:off x="2611539" y="1512999"/>
              <a:ext cx="440690" cy="0"/>
            </a:xfrm>
            <a:custGeom>
              <a:avLst/>
              <a:gdLst/>
              <a:ahLst/>
              <a:cxnLst/>
              <a:rect l="l" t="t" r="r" b="b"/>
              <a:pathLst>
                <a:path w="440689">
                  <a:moveTo>
                    <a:pt x="440687" y="0"/>
                  </a:moveTo>
                  <a:lnTo>
                    <a:pt x="0" y="0"/>
                  </a:lnTo>
                </a:path>
              </a:pathLst>
            </a:custGeom>
            <a:ln w="5270">
              <a:solidFill>
                <a:srgbClr val="231F20"/>
              </a:solidFill>
            </a:ln>
          </p:spPr>
          <p:txBody>
            <a:bodyPr wrap="square" lIns="0" tIns="0" rIns="0" bIns="0" rtlCol="0"/>
            <a:lstStyle/>
            <a:p>
              <a:endParaRPr/>
            </a:p>
          </p:txBody>
        </p:sp>
        <p:pic>
          <p:nvPicPr>
            <p:cNvPr id="38" name="object 38"/>
            <p:cNvPicPr/>
            <p:nvPr/>
          </p:nvPicPr>
          <p:blipFill>
            <a:blip r:embed="rId9" cstate="print"/>
            <a:stretch>
              <a:fillRect/>
            </a:stretch>
          </p:blipFill>
          <p:spPr>
            <a:xfrm>
              <a:off x="3015239" y="1481124"/>
              <a:ext cx="74377" cy="63748"/>
            </a:xfrm>
            <a:prstGeom prst="rect">
              <a:avLst/>
            </a:prstGeom>
          </p:spPr>
        </p:pic>
        <p:sp>
          <p:nvSpPr>
            <p:cNvPr id="39" name="object 39"/>
            <p:cNvSpPr/>
            <p:nvPr/>
          </p:nvSpPr>
          <p:spPr>
            <a:xfrm>
              <a:off x="1901919" y="1512999"/>
              <a:ext cx="410845" cy="0"/>
            </a:xfrm>
            <a:custGeom>
              <a:avLst/>
              <a:gdLst/>
              <a:ahLst/>
              <a:cxnLst/>
              <a:rect l="l" t="t" r="r" b="b"/>
              <a:pathLst>
                <a:path w="410844">
                  <a:moveTo>
                    <a:pt x="410814" y="0"/>
                  </a:moveTo>
                  <a:lnTo>
                    <a:pt x="0" y="0"/>
                  </a:lnTo>
                </a:path>
              </a:pathLst>
            </a:custGeom>
            <a:ln w="5270">
              <a:solidFill>
                <a:srgbClr val="231F20"/>
              </a:solidFill>
            </a:ln>
          </p:spPr>
          <p:txBody>
            <a:bodyPr wrap="square" lIns="0" tIns="0" rIns="0" bIns="0" rtlCol="0"/>
            <a:lstStyle/>
            <a:p>
              <a:endParaRPr/>
            </a:p>
          </p:txBody>
        </p:sp>
        <p:pic>
          <p:nvPicPr>
            <p:cNvPr id="40" name="object 40"/>
            <p:cNvPicPr/>
            <p:nvPr/>
          </p:nvPicPr>
          <p:blipFill>
            <a:blip r:embed="rId10" cstate="print"/>
            <a:stretch>
              <a:fillRect/>
            </a:stretch>
          </p:blipFill>
          <p:spPr>
            <a:xfrm>
              <a:off x="1864530" y="1481124"/>
              <a:ext cx="74377" cy="63748"/>
            </a:xfrm>
            <a:prstGeom prst="rect">
              <a:avLst/>
            </a:prstGeom>
          </p:spPr>
        </p:pic>
        <p:sp>
          <p:nvSpPr>
            <p:cNvPr id="41" name="object 41"/>
            <p:cNvSpPr/>
            <p:nvPr/>
          </p:nvSpPr>
          <p:spPr>
            <a:xfrm>
              <a:off x="998015" y="1012544"/>
              <a:ext cx="0" cy="351155"/>
            </a:xfrm>
            <a:custGeom>
              <a:avLst/>
              <a:gdLst/>
              <a:ahLst/>
              <a:cxnLst/>
              <a:rect l="l" t="t" r="r" b="b"/>
              <a:pathLst>
                <a:path h="351155">
                  <a:moveTo>
                    <a:pt x="0" y="351046"/>
                  </a:moveTo>
                  <a:lnTo>
                    <a:pt x="0" y="0"/>
                  </a:lnTo>
                </a:path>
              </a:pathLst>
            </a:custGeom>
            <a:ln w="5270">
              <a:solidFill>
                <a:srgbClr val="231F20"/>
              </a:solidFill>
            </a:ln>
          </p:spPr>
          <p:txBody>
            <a:bodyPr wrap="square" lIns="0" tIns="0" rIns="0" bIns="0" rtlCol="0"/>
            <a:lstStyle/>
            <a:p>
              <a:endParaRPr/>
            </a:p>
          </p:txBody>
        </p:sp>
        <p:pic>
          <p:nvPicPr>
            <p:cNvPr id="42" name="object 42"/>
            <p:cNvPicPr/>
            <p:nvPr/>
          </p:nvPicPr>
          <p:blipFill>
            <a:blip r:embed="rId11" cstate="print"/>
            <a:stretch>
              <a:fillRect/>
            </a:stretch>
          </p:blipFill>
          <p:spPr>
            <a:xfrm>
              <a:off x="966133" y="975156"/>
              <a:ext cx="63751" cy="74377"/>
            </a:xfrm>
            <a:prstGeom prst="rect">
              <a:avLst/>
            </a:prstGeom>
          </p:spPr>
        </p:pic>
        <p:sp>
          <p:nvSpPr>
            <p:cNvPr id="43" name="object 43"/>
            <p:cNvSpPr/>
            <p:nvPr/>
          </p:nvSpPr>
          <p:spPr>
            <a:xfrm>
              <a:off x="2492015" y="1014157"/>
              <a:ext cx="0" cy="351155"/>
            </a:xfrm>
            <a:custGeom>
              <a:avLst/>
              <a:gdLst/>
              <a:ahLst/>
              <a:cxnLst/>
              <a:rect l="l" t="t" r="r" b="b"/>
              <a:pathLst>
                <a:path h="351155">
                  <a:moveTo>
                    <a:pt x="0" y="351078"/>
                  </a:moveTo>
                  <a:lnTo>
                    <a:pt x="0" y="0"/>
                  </a:lnTo>
                </a:path>
              </a:pathLst>
            </a:custGeom>
            <a:ln w="5270">
              <a:solidFill>
                <a:srgbClr val="231F20"/>
              </a:solidFill>
            </a:ln>
          </p:spPr>
          <p:txBody>
            <a:bodyPr wrap="square" lIns="0" tIns="0" rIns="0" bIns="0" rtlCol="0"/>
            <a:lstStyle/>
            <a:p>
              <a:endParaRPr/>
            </a:p>
          </p:txBody>
        </p:sp>
        <p:pic>
          <p:nvPicPr>
            <p:cNvPr id="44" name="object 44"/>
            <p:cNvPicPr/>
            <p:nvPr/>
          </p:nvPicPr>
          <p:blipFill>
            <a:blip r:embed="rId11" cstate="print"/>
            <a:stretch>
              <a:fillRect/>
            </a:stretch>
          </p:blipFill>
          <p:spPr>
            <a:xfrm>
              <a:off x="2460139" y="976789"/>
              <a:ext cx="63751" cy="74377"/>
            </a:xfrm>
            <a:prstGeom prst="rect">
              <a:avLst/>
            </a:prstGeom>
          </p:spPr>
        </p:pic>
      </p:grpSp>
      <p:sp>
        <p:nvSpPr>
          <p:cNvPr id="45" name="object 45"/>
          <p:cNvSpPr txBox="1"/>
          <p:nvPr/>
        </p:nvSpPr>
        <p:spPr>
          <a:xfrm>
            <a:off x="776154" y="2073331"/>
            <a:ext cx="1310005" cy="503555"/>
          </a:xfrm>
          <a:prstGeom prst="rect">
            <a:avLst/>
          </a:prstGeom>
        </p:spPr>
        <p:txBody>
          <a:bodyPr vert="horz" wrap="square" lIns="0" tIns="13970" rIns="0" bIns="0" rtlCol="0">
            <a:spAutoFit/>
          </a:bodyPr>
          <a:lstStyle/>
          <a:p>
            <a:pPr marL="12700">
              <a:lnSpc>
                <a:spcPts val="760"/>
              </a:lnSpc>
              <a:spcBef>
                <a:spcPts val="110"/>
              </a:spcBef>
            </a:pPr>
            <a:r>
              <a:rPr sz="650" spc="5" dirty="0">
                <a:solidFill>
                  <a:srgbClr val="231F20"/>
                </a:solidFill>
                <a:latin typeface="Arial"/>
                <a:cs typeface="Arial"/>
              </a:rPr>
              <a:t>W1.</a:t>
            </a:r>
            <a:r>
              <a:rPr sz="650" spc="-20" dirty="0">
                <a:solidFill>
                  <a:srgbClr val="231F20"/>
                </a:solidFill>
                <a:latin typeface="Arial"/>
                <a:cs typeface="Arial"/>
              </a:rPr>
              <a:t> </a:t>
            </a:r>
            <a:r>
              <a:rPr sz="650" dirty="0">
                <a:solidFill>
                  <a:srgbClr val="231F20"/>
                </a:solidFill>
                <a:latin typeface="Arial"/>
                <a:cs typeface="Arial"/>
              </a:rPr>
              <a:t>Write</a:t>
            </a:r>
            <a:r>
              <a:rPr sz="650" spc="-20" dirty="0">
                <a:solidFill>
                  <a:srgbClr val="231F20"/>
                </a:solidFill>
                <a:latin typeface="Arial"/>
                <a:cs typeface="Arial"/>
              </a:rPr>
              <a:t> </a:t>
            </a:r>
            <a:r>
              <a:rPr sz="650" spc="5" dirty="0">
                <a:solidFill>
                  <a:srgbClr val="231F20"/>
                </a:solidFill>
                <a:latin typeface="Arial"/>
                <a:cs typeface="Arial"/>
              </a:rPr>
              <a:t>request</a:t>
            </a:r>
            <a:endParaRPr sz="650">
              <a:latin typeface="Arial"/>
              <a:cs typeface="Arial"/>
            </a:endParaRPr>
          </a:p>
          <a:p>
            <a:pPr marL="12700" marR="5080">
              <a:lnSpc>
                <a:spcPts val="740"/>
              </a:lnSpc>
              <a:spcBef>
                <a:spcPts val="40"/>
              </a:spcBef>
            </a:pPr>
            <a:r>
              <a:rPr sz="650" spc="5" dirty="0">
                <a:solidFill>
                  <a:srgbClr val="231F20"/>
                </a:solidFill>
                <a:latin typeface="Arial"/>
                <a:cs typeface="Arial"/>
              </a:rPr>
              <a:t>W2. Move item x to new primary </a:t>
            </a:r>
            <a:r>
              <a:rPr sz="650" spc="10" dirty="0">
                <a:solidFill>
                  <a:srgbClr val="231F20"/>
                </a:solidFill>
                <a:latin typeface="Arial"/>
                <a:cs typeface="Arial"/>
              </a:rPr>
              <a:t> </a:t>
            </a:r>
            <a:r>
              <a:rPr sz="650" spc="5" dirty="0">
                <a:solidFill>
                  <a:srgbClr val="231F20"/>
                </a:solidFill>
                <a:latin typeface="Arial"/>
                <a:cs typeface="Arial"/>
              </a:rPr>
              <a:t>W3.</a:t>
            </a:r>
            <a:r>
              <a:rPr sz="650" spc="-35" dirty="0">
                <a:solidFill>
                  <a:srgbClr val="231F20"/>
                </a:solidFill>
                <a:latin typeface="Arial"/>
                <a:cs typeface="Arial"/>
              </a:rPr>
              <a:t> </a:t>
            </a:r>
            <a:r>
              <a:rPr sz="650" spc="5" dirty="0">
                <a:solidFill>
                  <a:srgbClr val="231F20"/>
                </a:solidFill>
                <a:latin typeface="Arial"/>
                <a:cs typeface="Arial"/>
              </a:rPr>
              <a:t>Acknowledge</a:t>
            </a:r>
            <a:r>
              <a:rPr sz="650" dirty="0">
                <a:solidFill>
                  <a:srgbClr val="231F20"/>
                </a:solidFill>
                <a:latin typeface="Arial"/>
                <a:cs typeface="Arial"/>
              </a:rPr>
              <a:t> </a:t>
            </a:r>
            <a:r>
              <a:rPr sz="650" spc="5" dirty="0">
                <a:solidFill>
                  <a:srgbClr val="231F20"/>
                </a:solidFill>
                <a:latin typeface="Arial"/>
                <a:cs typeface="Arial"/>
              </a:rPr>
              <a:t>write</a:t>
            </a:r>
            <a:r>
              <a:rPr sz="650" dirty="0">
                <a:solidFill>
                  <a:srgbClr val="231F20"/>
                </a:solidFill>
                <a:latin typeface="Arial"/>
                <a:cs typeface="Arial"/>
              </a:rPr>
              <a:t> </a:t>
            </a:r>
            <a:r>
              <a:rPr sz="650" spc="5" dirty="0">
                <a:solidFill>
                  <a:srgbClr val="231F20"/>
                </a:solidFill>
                <a:latin typeface="Arial"/>
                <a:cs typeface="Arial"/>
              </a:rPr>
              <a:t>completed  W4.</a:t>
            </a:r>
            <a:r>
              <a:rPr sz="650" spc="-15" dirty="0">
                <a:solidFill>
                  <a:srgbClr val="231F20"/>
                </a:solidFill>
                <a:latin typeface="Arial"/>
                <a:cs typeface="Arial"/>
              </a:rPr>
              <a:t> Tell</a:t>
            </a:r>
            <a:r>
              <a:rPr sz="650" spc="-5" dirty="0">
                <a:solidFill>
                  <a:srgbClr val="231F20"/>
                </a:solidFill>
                <a:latin typeface="Arial"/>
                <a:cs typeface="Arial"/>
              </a:rPr>
              <a:t> </a:t>
            </a:r>
            <a:r>
              <a:rPr sz="650" spc="5" dirty="0">
                <a:solidFill>
                  <a:srgbClr val="231F20"/>
                </a:solidFill>
                <a:latin typeface="Arial"/>
                <a:cs typeface="Arial"/>
              </a:rPr>
              <a:t>backups</a:t>
            </a:r>
            <a:r>
              <a:rPr sz="650" dirty="0">
                <a:solidFill>
                  <a:srgbClr val="231F20"/>
                </a:solidFill>
                <a:latin typeface="Arial"/>
                <a:cs typeface="Arial"/>
              </a:rPr>
              <a:t> </a:t>
            </a:r>
            <a:r>
              <a:rPr sz="650" spc="5" dirty="0">
                <a:solidFill>
                  <a:srgbClr val="231F20"/>
                </a:solidFill>
                <a:latin typeface="Arial"/>
                <a:cs typeface="Arial"/>
              </a:rPr>
              <a:t>to</a:t>
            </a:r>
            <a:r>
              <a:rPr sz="650" spc="-5" dirty="0">
                <a:solidFill>
                  <a:srgbClr val="231F20"/>
                </a:solidFill>
                <a:latin typeface="Arial"/>
                <a:cs typeface="Arial"/>
              </a:rPr>
              <a:t> </a:t>
            </a:r>
            <a:r>
              <a:rPr sz="650" spc="5" dirty="0">
                <a:solidFill>
                  <a:srgbClr val="231F20"/>
                </a:solidFill>
                <a:latin typeface="Arial"/>
                <a:cs typeface="Arial"/>
              </a:rPr>
              <a:t>update</a:t>
            </a:r>
            <a:endParaRPr sz="650">
              <a:latin typeface="Arial"/>
              <a:cs typeface="Arial"/>
            </a:endParaRPr>
          </a:p>
          <a:p>
            <a:pPr marL="12700">
              <a:lnSpc>
                <a:spcPts val="725"/>
              </a:lnSpc>
            </a:pPr>
            <a:r>
              <a:rPr sz="650" spc="5" dirty="0">
                <a:solidFill>
                  <a:srgbClr val="231F20"/>
                </a:solidFill>
                <a:latin typeface="Arial"/>
                <a:cs typeface="Arial"/>
              </a:rPr>
              <a:t>W5.</a:t>
            </a:r>
            <a:r>
              <a:rPr sz="650" spc="-35" dirty="0">
                <a:solidFill>
                  <a:srgbClr val="231F20"/>
                </a:solidFill>
                <a:latin typeface="Arial"/>
                <a:cs typeface="Arial"/>
              </a:rPr>
              <a:t> </a:t>
            </a:r>
            <a:r>
              <a:rPr sz="650" spc="5" dirty="0">
                <a:solidFill>
                  <a:srgbClr val="231F20"/>
                </a:solidFill>
                <a:latin typeface="Arial"/>
                <a:cs typeface="Arial"/>
              </a:rPr>
              <a:t>Acknowledge</a:t>
            </a:r>
            <a:r>
              <a:rPr sz="650" dirty="0">
                <a:solidFill>
                  <a:srgbClr val="231F20"/>
                </a:solidFill>
                <a:latin typeface="Arial"/>
                <a:cs typeface="Arial"/>
              </a:rPr>
              <a:t> </a:t>
            </a:r>
            <a:r>
              <a:rPr sz="650" spc="5" dirty="0">
                <a:solidFill>
                  <a:srgbClr val="231F20"/>
                </a:solidFill>
                <a:latin typeface="Arial"/>
                <a:cs typeface="Arial"/>
              </a:rPr>
              <a:t>update</a:t>
            </a:r>
            <a:endParaRPr sz="650">
              <a:latin typeface="Arial"/>
              <a:cs typeface="Arial"/>
            </a:endParaRPr>
          </a:p>
        </p:txBody>
      </p:sp>
      <p:sp>
        <p:nvSpPr>
          <p:cNvPr id="46" name="object 46"/>
          <p:cNvSpPr txBox="1"/>
          <p:nvPr/>
        </p:nvSpPr>
        <p:spPr>
          <a:xfrm>
            <a:off x="1792077" y="1684891"/>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W2</a:t>
            </a:r>
            <a:endParaRPr sz="650">
              <a:latin typeface="Arial"/>
              <a:cs typeface="Arial"/>
            </a:endParaRPr>
          </a:p>
        </p:txBody>
      </p:sp>
      <p:sp>
        <p:nvSpPr>
          <p:cNvPr id="47" name="object 47"/>
          <p:cNvSpPr txBox="1"/>
          <p:nvPr/>
        </p:nvSpPr>
        <p:spPr>
          <a:xfrm>
            <a:off x="2778118" y="1505612"/>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W4</a:t>
            </a:r>
            <a:endParaRPr sz="650">
              <a:latin typeface="Arial"/>
              <a:cs typeface="Arial"/>
            </a:endParaRPr>
          </a:p>
        </p:txBody>
      </p:sp>
      <p:sp>
        <p:nvSpPr>
          <p:cNvPr id="48" name="object 48"/>
          <p:cNvSpPr txBox="1"/>
          <p:nvPr/>
        </p:nvSpPr>
        <p:spPr>
          <a:xfrm>
            <a:off x="2031115" y="1505612"/>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W4</a:t>
            </a:r>
            <a:endParaRPr sz="650">
              <a:latin typeface="Arial"/>
              <a:cs typeface="Arial"/>
            </a:endParaRPr>
          </a:p>
        </p:txBody>
      </p:sp>
      <p:sp>
        <p:nvSpPr>
          <p:cNvPr id="49" name="object 49"/>
          <p:cNvSpPr txBox="1"/>
          <p:nvPr/>
        </p:nvSpPr>
        <p:spPr>
          <a:xfrm>
            <a:off x="1373756" y="1744646"/>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W4</a:t>
            </a:r>
            <a:endParaRPr sz="650">
              <a:latin typeface="Arial"/>
              <a:cs typeface="Arial"/>
            </a:endParaRPr>
          </a:p>
        </p:txBody>
      </p:sp>
      <p:sp>
        <p:nvSpPr>
          <p:cNvPr id="50" name="object 50"/>
          <p:cNvSpPr txBox="1"/>
          <p:nvPr/>
        </p:nvSpPr>
        <p:spPr>
          <a:xfrm>
            <a:off x="806032" y="1087291"/>
            <a:ext cx="3429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R1  </a:t>
            </a:r>
            <a:r>
              <a:rPr sz="650" spc="170" dirty="0">
                <a:solidFill>
                  <a:srgbClr val="231F20"/>
                </a:solidFill>
                <a:latin typeface="Arial"/>
                <a:cs typeface="Arial"/>
              </a:rPr>
              <a:t> </a:t>
            </a:r>
            <a:r>
              <a:rPr sz="650" spc="5" dirty="0">
                <a:solidFill>
                  <a:srgbClr val="231F20"/>
                </a:solidFill>
                <a:latin typeface="Arial"/>
                <a:cs typeface="Arial"/>
              </a:rPr>
              <a:t>R2</a:t>
            </a:r>
            <a:endParaRPr sz="650">
              <a:latin typeface="Arial"/>
              <a:cs typeface="Arial"/>
            </a:endParaRPr>
          </a:p>
        </p:txBody>
      </p:sp>
      <p:sp>
        <p:nvSpPr>
          <p:cNvPr id="51" name="object 51"/>
          <p:cNvSpPr txBox="1"/>
          <p:nvPr/>
        </p:nvSpPr>
        <p:spPr>
          <a:xfrm>
            <a:off x="2598835" y="2073328"/>
            <a:ext cx="845819" cy="220979"/>
          </a:xfrm>
          <a:prstGeom prst="rect">
            <a:avLst/>
          </a:prstGeom>
        </p:spPr>
        <p:txBody>
          <a:bodyPr vert="horz" wrap="square" lIns="0" tIns="13970" rIns="0" bIns="0" rtlCol="0">
            <a:spAutoFit/>
          </a:bodyPr>
          <a:lstStyle/>
          <a:p>
            <a:pPr marL="12700">
              <a:lnSpc>
                <a:spcPts val="760"/>
              </a:lnSpc>
              <a:spcBef>
                <a:spcPts val="110"/>
              </a:spcBef>
            </a:pPr>
            <a:r>
              <a:rPr sz="650" spc="5" dirty="0">
                <a:solidFill>
                  <a:srgbClr val="231F20"/>
                </a:solidFill>
                <a:latin typeface="Arial"/>
                <a:cs typeface="Arial"/>
              </a:rPr>
              <a:t>R1.</a:t>
            </a:r>
            <a:r>
              <a:rPr sz="650" spc="-25" dirty="0">
                <a:solidFill>
                  <a:srgbClr val="231F20"/>
                </a:solidFill>
                <a:latin typeface="Arial"/>
                <a:cs typeface="Arial"/>
              </a:rPr>
              <a:t> </a:t>
            </a:r>
            <a:r>
              <a:rPr sz="650" spc="5" dirty="0">
                <a:solidFill>
                  <a:srgbClr val="231F20"/>
                </a:solidFill>
                <a:latin typeface="Arial"/>
                <a:cs typeface="Arial"/>
              </a:rPr>
              <a:t>Read</a:t>
            </a:r>
            <a:r>
              <a:rPr sz="650" spc="-20" dirty="0">
                <a:solidFill>
                  <a:srgbClr val="231F20"/>
                </a:solidFill>
                <a:latin typeface="Arial"/>
                <a:cs typeface="Arial"/>
              </a:rPr>
              <a:t> </a:t>
            </a:r>
            <a:r>
              <a:rPr sz="650" spc="5" dirty="0">
                <a:solidFill>
                  <a:srgbClr val="231F20"/>
                </a:solidFill>
                <a:latin typeface="Arial"/>
                <a:cs typeface="Arial"/>
              </a:rPr>
              <a:t>request</a:t>
            </a:r>
            <a:endParaRPr sz="650">
              <a:latin typeface="Arial"/>
              <a:cs typeface="Arial"/>
            </a:endParaRPr>
          </a:p>
          <a:p>
            <a:pPr marL="12700">
              <a:lnSpc>
                <a:spcPts val="760"/>
              </a:lnSpc>
            </a:pPr>
            <a:r>
              <a:rPr sz="650" spc="5" dirty="0">
                <a:solidFill>
                  <a:srgbClr val="231F20"/>
                </a:solidFill>
                <a:latin typeface="Arial"/>
                <a:cs typeface="Arial"/>
              </a:rPr>
              <a:t>R2.</a:t>
            </a:r>
            <a:r>
              <a:rPr sz="650" spc="-20" dirty="0">
                <a:solidFill>
                  <a:srgbClr val="231F20"/>
                </a:solidFill>
                <a:latin typeface="Arial"/>
                <a:cs typeface="Arial"/>
              </a:rPr>
              <a:t> </a:t>
            </a:r>
            <a:r>
              <a:rPr sz="650" spc="5" dirty="0">
                <a:solidFill>
                  <a:srgbClr val="231F20"/>
                </a:solidFill>
                <a:latin typeface="Arial"/>
                <a:cs typeface="Arial"/>
              </a:rPr>
              <a:t>Response</a:t>
            </a:r>
            <a:r>
              <a:rPr sz="650" spc="-15" dirty="0">
                <a:solidFill>
                  <a:srgbClr val="231F20"/>
                </a:solidFill>
                <a:latin typeface="Arial"/>
                <a:cs typeface="Arial"/>
              </a:rPr>
              <a:t> </a:t>
            </a:r>
            <a:r>
              <a:rPr sz="650" spc="5" dirty="0">
                <a:solidFill>
                  <a:srgbClr val="231F20"/>
                </a:solidFill>
                <a:latin typeface="Arial"/>
                <a:cs typeface="Arial"/>
              </a:rPr>
              <a:t>to</a:t>
            </a:r>
            <a:r>
              <a:rPr sz="650" spc="-20" dirty="0">
                <a:solidFill>
                  <a:srgbClr val="231F20"/>
                </a:solidFill>
                <a:latin typeface="Arial"/>
                <a:cs typeface="Arial"/>
              </a:rPr>
              <a:t> </a:t>
            </a:r>
            <a:r>
              <a:rPr sz="650" spc="5" dirty="0">
                <a:solidFill>
                  <a:srgbClr val="231F20"/>
                </a:solidFill>
                <a:latin typeface="Arial"/>
                <a:cs typeface="Arial"/>
              </a:rPr>
              <a:t>read</a:t>
            </a:r>
            <a:endParaRPr sz="650">
              <a:latin typeface="Arial"/>
              <a:cs typeface="Arial"/>
            </a:endParaRPr>
          </a:p>
        </p:txBody>
      </p:sp>
      <p:sp>
        <p:nvSpPr>
          <p:cNvPr id="52" name="object 52"/>
          <p:cNvSpPr txBox="1"/>
          <p:nvPr/>
        </p:nvSpPr>
        <p:spPr>
          <a:xfrm>
            <a:off x="2270154" y="1087297"/>
            <a:ext cx="39116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W1    </a:t>
            </a:r>
            <a:r>
              <a:rPr sz="650" spc="-20" dirty="0">
                <a:solidFill>
                  <a:srgbClr val="231F20"/>
                </a:solidFill>
                <a:latin typeface="Arial"/>
                <a:cs typeface="Arial"/>
              </a:rPr>
              <a:t> </a:t>
            </a:r>
            <a:r>
              <a:rPr sz="650" spc="10" dirty="0">
                <a:solidFill>
                  <a:srgbClr val="231F20"/>
                </a:solidFill>
                <a:latin typeface="Arial"/>
                <a:cs typeface="Arial"/>
              </a:rPr>
              <a:t>W3</a:t>
            </a:r>
            <a:endParaRPr sz="650">
              <a:latin typeface="Arial"/>
              <a:cs typeface="Arial"/>
            </a:endParaRPr>
          </a:p>
        </p:txBody>
      </p:sp>
      <p:sp>
        <p:nvSpPr>
          <p:cNvPr id="53" name="object 53"/>
          <p:cNvSpPr txBox="1"/>
          <p:nvPr/>
        </p:nvSpPr>
        <p:spPr>
          <a:xfrm>
            <a:off x="1824423" y="818378"/>
            <a:ext cx="499109" cy="220979"/>
          </a:xfrm>
          <a:prstGeom prst="rect">
            <a:avLst/>
          </a:prstGeom>
        </p:spPr>
        <p:txBody>
          <a:bodyPr vert="horz" wrap="square" lIns="0" tIns="21590" rIns="0" bIns="0" rtlCol="0">
            <a:spAutoFit/>
          </a:bodyPr>
          <a:lstStyle/>
          <a:p>
            <a:pPr marL="75565" marR="5080" indent="-63500">
              <a:lnSpc>
                <a:spcPts val="740"/>
              </a:lnSpc>
              <a:spcBef>
                <a:spcPts val="170"/>
              </a:spcBef>
            </a:pPr>
            <a:r>
              <a:rPr sz="650" spc="5" dirty="0">
                <a:solidFill>
                  <a:srgbClr val="231F20"/>
                </a:solidFill>
                <a:latin typeface="Arial"/>
                <a:cs typeface="Arial"/>
              </a:rPr>
              <a:t>New primary  for</a:t>
            </a:r>
            <a:r>
              <a:rPr sz="650" spc="-20" dirty="0">
                <a:solidFill>
                  <a:srgbClr val="231F20"/>
                </a:solidFill>
                <a:latin typeface="Arial"/>
                <a:cs typeface="Arial"/>
              </a:rPr>
              <a:t> </a:t>
            </a:r>
            <a:r>
              <a:rPr sz="650" spc="5" dirty="0">
                <a:solidFill>
                  <a:srgbClr val="231F20"/>
                </a:solidFill>
                <a:latin typeface="Arial"/>
                <a:cs typeface="Arial"/>
              </a:rPr>
              <a:t>item</a:t>
            </a:r>
            <a:r>
              <a:rPr sz="650" spc="-20" dirty="0">
                <a:solidFill>
                  <a:srgbClr val="231F20"/>
                </a:solidFill>
                <a:latin typeface="Arial"/>
                <a:cs typeface="Arial"/>
              </a:rPr>
              <a:t> </a:t>
            </a:r>
            <a:r>
              <a:rPr sz="650" spc="5" dirty="0">
                <a:solidFill>
                  <a:srgbClr val="231F20"/>
                </a:solidFill>
                <a:latin typeface="Arial"/>
                <a:cs typeface="Arial"/>
              </a:rPr>
              <a:t>x</a:t>
            </a:r>
            <a:endParaRPr sz="650">
              <a:latin typeface="Arial"/>
              <a:cs typeface="Arial"/>
            </a:endParaRPr>
          </a:p>
        </p:txBody>
      </p:sp>
      <p:sp>
        <p:nvSpPr>
          <p:cNvPr id="54" name="object 54"/>
          <p:cNvSpPr txBox="1"/>
          <p:nvPr/>
        </p:nvSpPr>
        <p:spPr>
          <a:xfrm>
            <a:off x="2001235" y="1296454"/>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W5</a:t>
            </a:r>
            <a:endParaRPr sz="650">
              <a:latin typeface="Arial"/>
              <a:cs typeface="Arial"/>
            </a:endParaRPr>
          </a:p>
        </p:txBody>
      </p:sp>
      <p:sp>
        <p:nvSpPr>
          <p:cNvPr id="55" name="object 55"/>
          <p:cNvSpPr txBox="1"/>
          <p:nvPr/>
        </p:nvSpPr>
        <p:spPr>
          <a:xfrm>
            <a:off x="2777881" y="1296454"/>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W5</a:t>
            </a:r>
            <a:endParaRPr sz="650">
              <a:latin typeface="Arial"/>
              <a:cs typeface="Arial"/>
            </a:endParaRPr>
          </a:p>
        </p:txBody>
      </p:sp>
      <p:grpSp>
        <p:nvGrpSpPr>
          <p:cNvPr id="56" name="object 56"/>
          <p:cNvGrpSpPr/>
          <p:nvPr/>
        </p:nvGrpSpPr>
        <p:grpSpPr>
          <a:xfrm>
            <a:off x="935399" y="1569900"/>
            <a:ext cx="1588770" cy="364490"/>
            <a:chOff x="935399" y="1569900"/>
            <a:chExt cx="1588770" cy="364490"/>
          </a:xfrm>
        </p:grpSpPr>
        <p:sp>
          <p:nvSpPr>
            <p:cNvPr id="57" name="object 57"/>
            <p:cNvSpPr/>
            <p:nvPr/>
          </p:nvSpPr>
          <p:spPr>
            <a:xfrm>
              <a:off x="938256" y="1572757"/>
              <a:ext cx="1553845" cy="358775"/>
            </a:xfrm>
            <a:custGeom>
              <a:avLst/>
              <a:gdLst/>
              <a:ahLst/>
              <a:cxnLst/>
              <a:rect l="l" t="t" r="r" b="b"/>
              <a:pathLst>
                <a:path w="1553845" h="358775">
                  <a:moveTo>
                    <a:pt x="0" y="0"/>
                  </a:moveTo>
                  <a:lnTo>
                    <a:pt x="0" y="239037"/>
                  </a:lnTo>
                  <a:lnTo>
                    <a:pt x="6068" y="295530"/>
                  </a:lnTo>
                  <a:lnTo>
                    <a:pt x="26141" y="332412"/>
                  </a:lnTo>
                  <a:lnTo>
                    <a:pt x="63022" y="352485"/>
                  </a:lnTo>
                  <a:lnTo>
                    <a:pt x="119512" y="358554"/>
                  </a:lnTo>
                  <a:lnTo>
                    <a:pt x="1434234" y="358554"/>
                  </a:lnTo>
                  <a:lnTo>
                    <a:pt x="1490727" y="352485"/>
                  </a:lnTo>
                  <a:lnTo>
                    <a:pt x="1527612" y="332412"/>
                  </a:lnTo>
                  <a:lnTo>
                    <a:pt x="1547689" y="295530"/>
                  </a:lnTo>
                  <a:lnTo>
                    <a:pt x="1553759" y="239037"/>
                  </a:lnTo>
                  <a:lnTo>
                    <a:pt x="1553759" y="37379"/>
                  </a:lnTo>
                </a:path>
              </a:pathLst>
            </a:custGeom>
            <a:ln w="5270">
              <a:solidFill>
                <a:srgbClr val="231F20"/>
              </a:solidFill>
            </a:ln>
          </p:spPr>
          <p:txBody>
            <a:bodyPr wrap="square" lIns="0" tIns="0" rIns="0" bIns="0" rtlCol="0"/>
            <a:lstStyle/>
            <a:p>
              <a:endParaRPr/>
            </a:p>
          </p:txBody>
        </p:sp>
        <p:pic>
          <p:nvPicPr>
            <p:cNvPr id="58" name="object 58"/>
            <p:cNvPicPr/>
            <p:nvPr/>
          </p:nvPicPr>
          <p:blipFill>
            <a:blip r:embed="rId12" cstate="print"/>
            <a:stretch>
              <a:fillRect/>
            </a:stretch>
          </p:blipFill>
          <p:spPr>
            <a:xfrm>
              <a:off x="2460139" y="1572758"/>
              <a:ext cx="63751" cy="74379"/>
            </a:xfrm>
            <a:prstGeom prst="rect">
              <a:avLst/>
            </a:prstGeom>
          </p:spPr>
        </p:pic>
        <p:sp>
          <p:nvSpPr>
            <p:cNvPr id="59" name="object 59"/>
            <p:cNvSpPr/>
            <p:nvPr/>
          </p:nvSpPr>
          <p:spPr>
            <a:xfrm>
              <a:off x="998015" y="1572757"/>
              <a:ext cx="1434465" cy="299085"/>
            </a:xfrm>
            <a:custGeom>
              <a:avLst/>
              <a:gdLst/>
              <a:ahLst/>
              <a:cxnLst/>
              <a:rect l="l" t="t" r="r" b="b"/>
              <a:pathLst>
                <a:path w="1434464" h="299085">
                  <a:moveTo>
                    <a:pt x="1434243" y="0"/>
                  </a:moveTo>
                  <a:lnTo>
                    <a:pt x="1434243" y="179279"/>
                  </a:lnTo>
                  <a:lnTo>
                    <a:pt x="1428173" y="235769"/>
                  </a:lnTo>
                  <a:lnTo>
                    <a:pt x="1408096" y="272652"/>
                  </a:lnTo>
                  <a:lnTo>
                    <a:pt x="1371211" y="292729"/>
                  </a:lnTo>
                  <a:lnTo>
                    <a:pt x="1314718" y="298799"/>
                  </a:lnTo>
                  <a:lnTo>
                    <a:pt x="119517" y="298799"/>
                  </a:lnTo>
                  <a:lnTo>
                    <a:pt x="63027" y="292729"/>
                  </a:lnTo>
                  <a:lnTo>
                    <a:pt x="26145" y="272652"/>
                  </a:lnTo>
                  <a:lnTo>
                    <a:pt x="6069" y="235769"/>
                  </a:lnTo>
                  <a:lnTo>
                    <a:pt x="0" y="179279"/>
                  </a:lnTo>
                  <a:lnTo>
                    <a:pt x="0" y="37379"/>
                  </a:lnTo>
                </a:path>
              </a:pathLst>
            </a:custGeom>
            <a:ln w="5270">
              <a:solidFill>
                <a:srgbClr val="231F20"/>
              </a:solidFill>
            </a:ln>
          </p:spPr>
          <p:txBody>
            <a:bodyPr wrap="square" lIns="0" tIns="0" rIns="0" bIns="0" rtlCol="0"/>
            <a:lstStyle/>
            <a:p>
              <a:endParaRPr/>
            </a:p>
          </p:txBody>
        </p:sp>
        <p:pic>
          <p:nvPicPr>
            <p:cNvPr id="60" name="object 60"/>
            <p:cNvPicPr/>
            <p:nvPr/>
          </p:nvPicPr>
          <p:blipFill>
            <a:blip r:embed="rId12" cstate="print"/>
            <a:stretch>
              <a:fillRect/>
            </a:stretch>
          </p:blipFill>
          <p:spPr>
            <a:xfrm>
              <a:off x="966133" y="1572758"/>
              <a:ext cx="63751" cy="74379"/>
            </a:xfrm>
            <a:prstGeom prst="rect">
              <a:avLst/>
            </a:prstGeom>
          </p:spPr>
        </p:pic>
      </p:grpSp>
      <p:sp>
        <p:nvSpPr>
          <p:cNvPr id="61" name="object 61"/>
          <p:cNvSpPr txBox="1"/>
          <p:nvPr/>
        </p:nvSpPr>
        <p:spPr>
          <a:xfrm>
            <a:off x="776154" y="1684895"/>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W5</a:t>
            </a:r>
            <a:endParaRPr sz="650">
              <a:latin typeface="Arial"/>
              <a:cs typeface="Arial"/>
            </a:endParaRPr>
          </a:p>
        </p:txBody>
      </p:sp>
      <p:sp>
        <p:nvSpPr>
          <p:cNvPr id="62" name="object 62"/>
          <p:cNvSpPr/>
          <p:nvPr/>
        </p:nvSpPr>
        <p:spPr>
          <a:xfrm>
            <a:off x="2073696" y="1064807"/>
            <a:ext cx="281940" cy="314325"/>
          </a:xfrm>
          <a:custGeom>
            <a:avLst/>
            <a:gdLst/>
            <a:ahLst/>
            <a:cxnLst/>
            <a:rect l="l" t="t" r="r" b="b"/>
            <a:pathLst>
              <a:path w="281939" h="314325">
                <a:moveTo>
                  <a:pt x="0" y="0"/>
                </a:moveTo>
                <a:lnTo>
                  <a:pt x="281708" y="314153"/>
                </a:lnTo>
              </a:path>
            </a:pathLst>
          </a:custGeom>
          <a:ln w="5270">
            <a:solidFill>
              <a:srgbClr val="231F20"/>
            </a:solidFill>
          </a:ln>
        </p:spPr>
        <p:txBody>
          <a:bodyPr wrap="square" lIns="0" tIns="0" rIns="0" bIns="0" rtlCol="0"/>
          <a:lstStyle/>
          <a:p>
            <a:endParaRPr/>
          </a:p>
        </p:txBody>
      </p:sp>
      <p:sp>
        <p:nvSpPr>
          <p:cNvPr id="63" name="object 63"/>
          <p:cNvSpPr txBox="1"/>
          <p:nvPr/>
        </p:nvSpPr>
        <p:spPr>
          <a:xfrm>
            <a:off x="66713" y="3331252"/>
            <a:ext cx="7226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3" action="ppaction://hlinksldjump"/>
              </a:rPr>
              <a:t>Local-write</a:t>
            </a:r>
            <a:r>
              <a:rPr sz="600" spc="-15" dirty="0">
                <a:solidFill>
                  <a:srgbClr val="3333B2"/>
                </a:solidFill>
                <a:latin typeface="Arial"/>
                <a:cs typeface="Arial"/>
                <a:hlinkClick r:id="rId13" action="ppaction://hlinksldjump"/>
              </a:rPr>
              <a:t> </a:t>
            </a:r>
            <a:r>
              <a:rPr sz="600" spc="-5" dirty="0">
                <a:solidFill>
                  <a:srgbClr val="3333B2"/>
                </a:solidFill>
                <a:latin typeface="Arial"/>
                <a:cs typeface="Arial"/>
                <a:hlinkClick r:id="rId13" action="ppaction://hlinksldjump"/>
              </a:rPr>
              <a:t>protocols</a:t>
            </a:r>
            <a:endParaRPr sz="600">
              <a:latin typeface="Arial"/>
              <a:cs typeface="Arial"/>
            </a:endParaRPr>
          </a:p>
        </p:txBody>
      </p:sp>
      <p:sp>
        <p:nvSpPr>
          <p:cNvPr id="64" name="object 64"/>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811780" algn="l"/>
              </a:tabLst>
            </a:pPr>
            <a:r>
              <a:rPr sz="600" spc="-5" dirty="0">
                <a:solidFill>
                  <a:srgbClr val="3333B2"/>
                </a:solidFill>
                <a:latin typeface="Arial"/>
                <a:cs typeface="Arial"/>
                <a:hlinkClick r:id="rId3" action="ppaction://hlinksldjump"/>
              </a:rPr>
              <a:t>Consistency</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90" dirty="0">
                <a:solidFill>
                  <a:srgbClr val="3333B2"/>
                </a:solidFill>
                <a:latin typeface="Arial"/>
                <a:cs typeface="Arial"/>
              </a:rPr>
              <a:t> </a:t>
            </a:r>
            <a:r>
              <a:rPr sz="600" spc="-5" dirty="0">
                <a:solidFill>
                  <a:srgbClr val="3333B2"/>
                </a:solidFill>
                <a:latin typeface="Arial"/>
                <a:cs typeface="Arial"/>
                <a:hlinkClick r:id="rId4" action="ppaction://hlinksldjump"/>
              </a:rPr>
              <a:t>Consistency</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protocols</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Sequential</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consistency:</a:t>
            </a:r>
            <a:r>
              <a:rPr sz="600" spc="45" dirty="0">
                <a:solidFill>
                  <a:srgbClr val="262685"/>
                </a:solidFill>
                <a:latin typeface="Arial"/>
                <a:cs typeface="Arial"/>
                <a:hlinkClick r:id="rId5" action="ppaction://hlinksldjump"/>
              </a:rPr>
              <a:t> </a:t>
            </a:r>
            <a:r>
              <a:rPr sz="600" dirty="0">
                <a:solidFill>
                  <a:srgbClr val="262685"/>
                </a:solidFill>
                <a:latin typeface="Arial"/>
                <a:cs typeface="Arial"/>
                <a:hlinkClick r:id="rId5" action="ppaction://hlinksldjump"/>
              </a:rPr>
              <a:t>Primary-based </a:t>
            </a:r>
            <a:r>
              <a:rPr sz="600" spc="-5" dirty="0">
                <a:solidFill>
                  <a:srgbClr val="262685"/>
                </a:solidFill>
                <a:latin typeface="Arial"/>
                <a:cs typeface="Arial"/>
                <a:hlinkClick r:id="rId5" action="ppaction://hlinksldjump"/>
              </a:rPr>
              <a:t>protocols</a:t>
            </a:r>
            <a:endParaRPr sz="600">
              <a:latin typeface="Arial"/>
              <a:cs typeface="Arial"/>
            </a:endParaRPr>
          </a:p>
        </p:txBody>
      </p:sp>
      <p:sp>
        <p:nvSpPr>
          <p:cNvPr id="3" name="object 3"/>
          <p:cNvSpPr txBox="1">
            <a:spLocks noGrp="1"/>
          </p:cNvSpPr>
          <p:nvPr>
            <p:ph type="title"/>
          </p:nvPr>
        </p:nvSpPr>
        <p:spPr>
          <a:xfrm>
            <a:off x="95300" y="188846"/>
            <a:ext cx="2008505" cy="244475"/>
          </a:xfrm>
          <a:prstGeom prst="rect">
            <a:avLst/>
          </a:prstGeom>
        </p:spPr>
        <p:txBody>
          <a:bodyPr vert="horz" wrap="square" lIns="0" tIns="17145" rIns="0" bIns="0" rtlCol="0">
            <a:spAutoFit/>
          </a:bodyPr>
          <a:lstStyle/>
          <a:p>
            <a:pPr marL="12700">
              <a:lnSpc>
                <a:spcPct val="100000"/>
              </a:lnSpc>
              <a:spcBef>
                <a:spcPts val="135"/>
              </a:spcBef>
            </a:pPr>
            <a:r>
              <a:rPr spc="20" dirty="0"/>
              <a:t>Primary-based</a:t>
            </a:r>
            <a:r>
              <a:rPr spc="-55" dirty="0"/>
              <a:t> </a:t>
            </a:r>
            <a:r>
              <a:rPr spc="15" dirty="0"/>
              <a:t>protocols</a:t>
            </a:r>
          </a:p>
        </p:txBody>
      </p:sp>
      <p:grpSp>
        <p:nvGrpSpPr>
          <p:cNvPr id="4" name="object 4"/>
          <p:cNvGrpSpPr/>
          <p:nvPr/>
        </p:nvGrpSpPr>
        <p:grpSpPr>
          <a:xfrm>
            <a:off x="722228" y="793019"/>
            <a:ext cx="2755265" cy="1201420"/>
            <a:chOff x="722228" y="793019"/>
            <a:chExt cx="2755265" cy="1201420"/>
          </a:xfrm>
        </p:grpSpPr>
        <p:sp>
          <p:nvSpPr>
            <p:cNvPr id="5" name="object 5"/>
            <p:cNvSpPr/>
            <p:nvPr/>
          </p:nvSpPr>
          <p:spPr>
            <a:xfrm>
              <a:off x="725085" y="1273961"/>
              <a:ext cx="2749550" cy="717550"/>
            </a:xfrm>
            <a:custGeom>
              <a:avLst/>
              <a:gdLst/>
              <a:ahLst/>
              <a:cxnLst/>
              <a:rect l="l" t="t" r="r" b="b"/>
              <a:pathLst>
                <a:path w="2749550" h="717550">
                  <a:moveTo>
                    <a:pt x="119525" y="0"/>
                  </a:moveTo>
                  <a:lnTo>
                    <a:pt x="2629447" y="0"/>
                  </a:lnTo>
                  <a:lnTo>
                    <a:pt x="2675854" y="9430"/>
                  </a:lnTo>
                  <a:lnTo>
                    <a:pt x="2713859" y="35106"/>
                  </a:lnTo>
                  <a:lnTo>
                    <a:pt x="2739539" y="73108"/>
                  </a:lnTo>
                  <a:lnTo>
                    <a:pt x="2748971" y="119513"/>
                  </a:lnTo>
                  <a:lnTo>
                    <a:pt x="2748971" y="597595"/>
                  </a:lnTo>
                  <a:lnTo>
                    <a:pt x="2739539" y="644005"/>
                  </a:lnTo>
                  <a:lnTo>
                    <a:pt x="2713859" y="682007"/>
                  </a:lnTo>
                  <a:lnTo>
                    <a:pt x="2675854" y="707683"/>
                  </a:lnTo>
                  <a:lnTo>
                    <a:pt x="2629447" y="717112"/>
                  </a:lnTo>
                  <a:lnTo>
                    <a:pt x="119525" y="717112"/>
                  </a:lnTo>
                  <a:lnTo>
                    <a:pt x="73114" y="707683"/>
                  </a:lnTo>
                  <a:lnTo>
                    <a:pt x="35109" y="682007"/>
                  </a:lnTo>
                  <a:lnTo>
                    <a:pt x="9430" y="644005"/>
                  </a:lnTo>
                  <a:lnTo>
                    <a:pt x="0" y="597595"/>
                  </a:lnTo>
                  <a:lnTo>
                    <a:pt x="0" y="119513"/>
                  </a:lnTo>
                  <a:lnTo>
                    <a:pt x="9430" y="73108"/>
                  </a:lnTo>
                  <a:lnTo>
                    <a:pt x="35109" y="35106"/>
                  </a:lnTo>
                  <a:lnTo>
                    <a:pt x="73114" y="9430"/>
                  </a:lnTo>
                  <a:lnTo>
                    <a:pt x="119525" y="0"/>
                  </a:lnTo>
                  <a:close/>
                </a:path>
              </a:pathLst>
            </a:custGeom>
            <a:ln w="5270">
              <a:solidFill>
                <a:srgbClr val="231F20"/>
              </a:solidFill>
            </a:ln>
          </p:spPr>
          <p:txBody>
            <a:bodyPr wrap="square" lIns="0" tIns="0" rIns="0" bIns="0" rtlCol="0"/>
            <a:lstStyle/>
            <a:p>
              <a:endParaRPr/>
            </a:p>
          </p:txBody>
        </p:sp>
        <p:sp>
          <p:nvSpPr>
            <p:cNvPr id="6" name="object 6"/>
            <p:cNvSpPr/>
            <p:nvPr/>
          </p:nvSpPr>
          <p:spPr>
            <a:xfrm>
              <a:off x="826756" y="1363591"/>
              <a:ext cx="283210" cy="75565"/>
            </a:xfrm>
            <a:custGeom>
              <a:avLst/>
              <a:gdLst/>
              <a:ahLst/>
              <a:cxnLst/>
              <a:rect l="l" t="t" r="r" b="b"/>
              <a:pathLst>
                <a:path w="283209" h="75565">
                  <a:moveTo>
                    <a:pt x="141372" y="0"/>
                  </a:moveTo>
                  <a:lnTo>
                    <a:pt x="86432" y="2972"/>
                  </a:lnTo>
                  <a:lnTo>
                    <a:pt x="41486" y="11069"/>
                  </a:lnTo>
                  <a:lnTo>
                    <a:pt x="11139" y="23057"/>
                  </a:lnTo>
                  <a:lnTo>
                    <a:pt x="0" y="37705"/>
                  </a:lnTo>
                  <a:lnTo>
                    <a:pt x="11139" y="52357"/>
                  </a:lnTo>
                  <a:lnTo>
                    <a:pt x="41486" y="64344"/>
                  </a:lnTo>
                  <a:lnTo>
                    <a:pt x="86432" y="72439"/>
                  </a:lnTo>
                  <a:lnTo>
                    <a:pt x="141372" y="75410"/>
                  </a:lnTo>
                  <a:lnTo>
                    <a:pt x="196313" y="72439"/>
                  </a:lnTo>
                  <a:lnTo>
                    <a:pt x="241261" y="64344"/>
                  </a:lnTo>
                  <a:lnTo>
                    <a:pt x="271609" y="52357"/>
                  </a:lnTo>
                  <a:lnTo>
                    <a:pt x="282749" y="37705"/>
                  </a:lnTo>
                  <a:lnTo>
                    <a:pt x="271609" y="23057"/>
                  </a:lnTo>
                  <a:lnTo>
                    <a:pt x="241261" y="11069"/>
                  </a:lnTo>
                  <a:lnTo>
                    <a:pt x="196313" y="2972"/>
                  </a:lnTo>
                  <a:lnTo>
                    <a:pt x="141372" y="0"/>
                  </a:lnTo>
                  <a:close/>
                </a:path>
              </a:pathLst>
            </a:custGeom>
            <a:solidFill>
              <a:srgbClr val="FFFFFF"/>
            </a:solidFill>
          </p:spPr>
          <p:txBody>
            <a:bodyPr wrap="square" lIns="0" tIns="0" rIns="0" bIns="0" rtlCol="0"/>
            <a:lstStyle/>
            <a:p>
              <a:endParaRPr/>
            </a:p>
          </p:txBody>
        </p:sp>
        <p:sp>
          <p:nvSpPr>
            <p:cNvPr id="7" name="object 7"/>
            <p:cNvSpPr/>
            <p:nvPr/>
          </p:nvSpPr>
          <p:spPr>
            <a:xfrm>
              <a:off x="826756" y="1363591"/>
              <a:ext cx="283210" cy="75565"/>
            </a:xfrm>
            <a:custGeom>
              <a:avLst/>
              <a:gdLst/>
              <a:ahLst/>
              <a:cxnLst/>
              <a:rect l="l" t="t" r="r" b="b"/>
              <a:pathLst>
                <a:path w="283209" h="75565">
                  <a:moveTo>
                    <a:pt x="141372" y="0"/>
                  </a:moveTo>
                  <a:lnTo>
                    <a:pt x="196313" y="2972"/>
                  </a:lnTo>
                  <a:lnTo>
                    <a:pt x="241261" y="11069"/>
                  </a:lnTo>
                  <a:lnTo>
                    <a:pt x="271609" y="23057"/>
                  </a:lnTo>
                  <a:lnTo>
                    <a:pt x="282749" y="37705"/>
                  </a:lnTo>
                  <a:lnTo>
                    <a:pt x="271609" y="52357"/>
                  </a:lnTo>
                  <a:lnTo>
                    <a:pt x="241261" y="64344"/>
                  </a:lnTo>
                  <a:lnTo>
                    <a:pt x="196313" y="72439"/>
                  </a:lnTo>
                  <a:lnTo>
                    <a:pt x="141372" y="75410"/>
                  </a:lnTo>
                  <a:lnTo>
                    <a:pt x="86432" y="72439"/>
                  </a:lnTo>
                  <a:lnTo>
                    <a:pt x="41486" y="64344"/>
                  </a:lnTo>
                  <a:lnTo>
                    <a:pt x="11139" y="52357"/>
                  </a:lnTo>
                  <a:lnTo>
                    <a:pt x="0" y="37705"/>
                  </a:lnTo>
                  <a:lnTo>
                    <a:pt x="11139" y="23057"/>
                  </a:lnTo>
                  <a:lnTo>
                    <a:pt x="41486" y="11069"/>
                  </a:lnTo>
                  <a:lnTo>
                    <a:pt x="86432" y="2972"/>
                  </a:lnTo>
                  <a:lnTo>
                    <a:pt x="141372" y="0"/>
                  </a:lnTo>
                  <a:close/>
                </a:path>
              </a:pathLst>
            </a:custGeom>
            <a:ln w="5270">
              <a:solidFill>
                <a:srgbClr val="231F20"/>
              </a:solidFill>
            </a:ln>
          </p:spPr>
          <p:txBody>
            <a:bodyPr wrap="square" lIns="0" tIns="0" rIns="0" bIns="0" rtlCol="0"/>
            <a:lstStyle/>
            <a:p>
              <a:endParaRPr/>
            </a:p>
          </p:txBody>
        </p:sp>
        <p:sp>
          <p:nvSpPr>
            <p:cNvPr id="8" name="object 8"/>
            <p:cNvSpPr/>
            <p:nvPr/>
          </p:nvSpPr>
          <p:spPr>
            <a:xfrm>
              <a:off x="826756" y="1402330"/>
              <a:ext cx="283210" cy="157480"/>
            </a:xfrm>
            <a:custGeom>
              <a:avLst/>
              <a:gdLst/>
              <a:ahLst/>
              <a:cxnLst/>
              <a:rect l="l" t="t" r="r" b="b"/>
              <a:pathLst>
                <a:path w="283209" h="157480">
                  <a:moveTo>
                    <a:pt x="282749" y="0"/>
                  </a:moveTo>
                  <a:lnTo>
                    <a:pt x="271609" y="14648"/>
                  </a:lnTo>
                  <a:lnTo>
                    <a:pt x="241261" y="26629"/>
                  </a:lnTo>
                  <a:lnTo>
                    <a:pt x="196313" y="34716"/>
                  </a:lnTo>
                  <a:lnTo>
                    <a:pt x="141372" y="37684"/>
                  </a:lnTo>
                  <a:lnTo>
                    <a:pt x="86432" y="34716"/>
                  </a:lnTo>
                  <a:lnTo>
                    <a:pt x="41486" y="26629"/>
                  </a:lnTo>
                  <a:lnTo>
                    <a:pt x="11139" y="14648"/>
                  </a:lnTo>
                  <a:lnTo>
                    <a:pt x="0" y="0"/>
                  </a:lnTo>
                  <a:lnTo>
                    <a:pt x="0" y="119377"/>
                  </a:lnTo>
                  <a:lnTo>
                    <a:pt x="12149" y="135874"/>
                  </a:lnTo>
                  <a:lnTo>
                    <a:pt x="44179" y="147657"/>
                  </a:lnTo>
                  <a:lnTo>
                    <a:pt x="89463" y="154727"/>
                  </a:lnTo>
                  <a:lnTo>
                    <a:pt x="141374" y="157084"/>
                  </a:lnTo>
                  <a:lnTo>
                    <a:pt x="193285" y="154727"/>
                  </a:lnTo>
                  <a:lnTo>
                    <a:pt x="238570" y="147657"/>
                  </a:lnTo>
                  <a:lnTo>
                    <a:pt x="270600" y="135874"/>
                  </a:lnTo>
                  <a:lnTo>
                    <a:pt x="282749" y="119377"/>
                  </a:lnTo>
                  <a:lnTo>
                    <a:pt x="282749" y="0"/>
                  </a:lnTo>
                  <a:close/>
                </a:path>
              </a:pathLst>
            </a:custGeom>
            <a:solidFill>
              <a:srgbClr val="BCBEC0"/>
            </a:solidFill>
          </p:spPr>
          <p:txBody>
            <a:bodyPr wrap="square" lIns="0" tIns="0" rIns="0" bIns="0" rtlCol="0"/>
            <a:lstStyle/>
            <a:p>
              <a:endParaRPr/>
            </a:p>
          </p:txBody>
        </p:sp>
        <p:sp>
          <p:nvSpPr>
            <p:cNvPr id="9" name="object 9"/>
            <p:cNvSpPr/>
            <p:nvPr/>
          </p:nvSpPr>
          <p:spPr>
            <a:xfrm>
              <a:off x="826756" y="1402330"/>
              <a:ext cx="283210" cy="157480"/>
            </a:xfrm>
            <a:custGeom>
              <a:avLst/>
              <a:gdLst/>
              <a:ahLst/>
              <a:cxnLst/>
              <a:rect l="l" t="t" r="r" b="b"/>
              <a:pathLst>
                <a:path w="283209" h="157480">
                  <a:moveTo>
                    <a:pt x="282749" y="119377"/>
                  </a:moveTo>
                  <a:lnTo>
                    <a:pt x="270600" y="135874"/>
                  </a:lnTo>
                  <a:lnTo>
                    <a:pt x="238570" y="147657"/>
                  </a:lnTo>
                  <a:lnTo>
                    <a:pt x="193285" y="154727"/>
                  </a:lnTo>
                  <a:lnTo>
                    <a:pt x="141374" y="157084"/>
                  </a:lnTo>
                  <a:lnTo>
                    <a:pt x="89463" y="154727"/>
                  </a:lnTo>
                  <a:lnTo>
                    <a:pt x="44179" y="147657"/>
                  </a:lnTo>
                  <a:lnTo>
                    <a:pt x="12149" y="135874"/>
                  </a:lnTo>
                  <a:lnTo>
                    <a:pt x="0" y="119377"/>
                  </a:lnTo>
                  <a:lnTo>
                    <a:pt x="0" y="0"/>
                  </a:lnTo>
                  <a:lnTo>
                    <a:pt x="11139" y="14648"/>
                  </a:lnTo>
                  <a:lnTo>
                    <a:pt x="41486" y="26629"/>
                  </a:lnTo>
                  <a:lnTo>
                    <a:pt x="86432" y="34716"/>
                  </a:lnTo>
                  <a:lnTo>
                    <a:pt x="141372" y="37684"/>
                  </a:lnTo>
                  <a:lnTo>
                    <a:pt x="196313" y="34716"/>
                  </a:lnTo>
                  <a:lnTo>
                    <a:pt x="241261" y="26629"/>
                  </a:lnTo>
                  <a:lnTo>
                    <a:pt x="271609" y="14648"/>
                  </a:lnTo>
                  <a:lnTo>
                    <a:pt x="282749" y="0"/>
                  </a:lnTo>
                  <a:lnTo>
                    <a:pt x="282749" y="119377"/>
                  </a:lnTo>
                  <a:close/>
                </a:path>
              </a:pathLst>
            </a:custGeom>
            <a:ln w="5270">
              <a:solidFill>
                <a:srgbClr val="231F20"/>
              </a:solidFill>
            </a:ln>
          </p:spPr>
          <p:txBody>
            <a:bodyPr wrap="square" lIns="0" tIns="0" rIns="0" bIns="0" rtlCol="0"/>
            <a:lstStyle/>
            <a:p>
              <a:endParaRPr/>
            </a:p>
          </p:txBody>
        </p:sp>
        <p:sp>
          <p:nvSpPr>
            <p:cNvPr id="10" name="object 10"/>
            <p:cNvSpPr/>
            <p:nvPr/>
          </p:nvSpPr>
          <p:spPr>
            <a:xfrm>
              <a:off x="1573755" y="1364203"/>
              <a:ext cx="283210" cy="75565"/>
            </a:xfrm>
            <a:custGeom>
              <a:avLst/>
              <a:gdLst/>
              <a:ahLst/>
              <a:cxnLst/>
              <a:rect l="l" t="t" r="r" b="b"/>
              <a:pathLst>
                <a:path w="283210" h="75565">
                  <a:moveTo>
                    <a:pt x="141376" y="0"/>
                  </a:moveTo>
                  <a:lnTo>
                    <a:pt x="86436" y="2971"/>
                  </a:lnTo>
                  <a:lnTo>
                    <a:pt x="41488" y="11065"/>
                  </a:lnTo>
                  <a:lnTo>
                    <a:pt x="11140" y="23053"/>
                  </a:lnTo>
                  <a:lnTo>
                    <a:pt x="0" y="37705"/>
                  </a:lnTo>
                  <a:lnTo>
                    <a:pt x="11140" y="52355"/>
                  </a:lnTo>
                  <a:lnTo>
                    <a:pt x="41488" y="64339"/>
                  </a:lnTo>
                  <a:lnTo>
                    <a:pt x="86436" y="72430"/>
                  </a:lnTo>
                  <a:lnTo>
                    <a:pt x="141376" y="75399"/>
                  </a:lnTo>
                  <a:lnTo>
                    <a:pt x="196321" y="72430"/>
                  </a:lnTo>
                  <a:lnTo>
                    <a:pt x="241269" y="64339"/>
                  </a:lnTo>
                  <a:lnTo>
                    <a:pt x="271615" y="52355"/>
                  </a:lnTo>
                  <a:lnTo>
                    <a:pt x="282753" y="37705"/>
                  </a:lnTo>
                  <a:lnTo>
                    <a:pt x="271615" y="23053"/>
                  </a:lnTo>
                  <a:lnTo>
                    <a:pt x="241269" y="11065"/>
                  </a:lnTo>
                  <a:lnTo>
                    <a:pt x="196321" y="2971"/>
                  </a:lnTo>
                  <a:lnTo>
                    <a:pt x="141376" y="0"/>
                  </a:lnTo>
                  <a:close/>
                </a:path>
              </a:pathLst>
            </a:custGeom>
            <a:solidFill>
              <a:srgbClr val="FFFFFF"/>
            </a:solidFill>
          </p:spPr>
          <p:txBody>
            <a:bodyPr wrap="square" lIns="0" tIns="0" rIns="0" bIns="0" rtlCol="0"/>
            <a:lstStyle/>
            <a:p>
              <a:endParaRPr/>
            </a:p>
          </p:txBody>
        </p:sp>
        <p:sp>
          <p:nvSpPr>
            <p:cNvPr id="11" name="object 11"/>
            <p:cNvSpPr/>
            <p:nvPr/>
          </p:nvSpPr>
          <p:spPr>
            <a:xfrm>
              <a:off x="1573755" y="1364203"/>
              <a:ext cx="283210" cy="75565"/>
            </a:xfrm>
            <a:custGeom>
              <a:avLst/>
              <a:gdLst/>
              <a:ahLst/>
              <a:cxnLst/>
              <a:rect l="l" t="t" r="r" b="b"/>
              <a:pathLst>
                <a:path w="283210" h="75565">
                  <a:moveTo>
                    <a:pt x="141376" y="0"/>
                  </a:moveTo>
                  <a:lnTo>
                    <a:pt x="196321" y="2971"/>
                  </a:lnTo>
                  <a:lnTo>
                    <a:pt x="241269" y="11065"/>
                  </a:lnTo>
                  <a:lnTo>
                    <a:pt x="271615" y="23053"/>
                  </a:lnTo>
                  <a:lnTo>
                    <a:pt x="282753" y="37705"/>
                  </a:lnTo>
                  <a:lnTo>
                    <a:pt x="271615" y="52355"/>
                  </a:lnTo>
                  <a:lnTo>
                    <a:pt x="241269" y="64339"/>
                  </a:lnTo>
                  <a:lnTo>
                    <a:pt x="196321" y="72430"/>
                  </a:lnTo>
                  <a:lnTo>
                    <a:pt x="141376" y="75399"/>
                  </a:lnTo>
                  <a:lnTo>
                    <a:pt x="86436" y="72430"/>
                  </a:lnTo>
                  <a:lnTo>
                    <a:pt x="41488" y="64339"/>
                  </a:lnTo>
                  <a:lnTo>
                    <a:pt x="11140" y="52355"/>
                  </a:lnTo>
                  <a:lnTo>
                    <a:pt x="0" y="37705"/>
                  </a:lnTo>
                  <a:lnTo>
                    <a:pt x="11140" y="23053"/>
                  </a:lnTo>
                  <a:lnTo>
                    <a:pt x="41488" y="11065"/>
                  </a:lnTo>
                  <a:lnTo>
                    <a:pt x="86436" y="2971"/>
                  </a:lnTo>
                  <a:lnTo>
                    <a:pt x="141376" y="0"/>
                  </a:lnTo>
                  <a:close/>
                </a:path>
              </a:pathLst>
            </a:custGeom>
            <a:ln w="5270">
              <a:solidFill>
                <a:srgbClr val="231F20"/>
              </a:solidFill>
            </a:ln>
          </p:spPr>
          <p:txBody>
            <a:bodyPr wrap="square" lIns="0" tIns="0" rIns="0" bIns="0" rtlCol="0"/>
            <a:lstStyle/>
            <a:p>
              <a:endParaRPr/>
            </a:p>
          </p:txBody>
        </p:sp>
        <p:sp>
          <p:nvSpPr>
            <p:cNvPr id="12" name="object 12"/>
            <p:cNvSpPr/>
            <p:nvPr/>
          </p:nvSpPr>
          <p:spPr>
            <a:xfrm>
              <a:off x="1573755" y="1402930"/>
              <a:ext cx="283210" cy="157480"/>
            </a:xfrm>
            <a:custGeom>
              <a:avLst/>
              <a:gdLst/>
              <a:ahLst/>
              <a:cxnLst/>
              <a:rect l="l" t="t" r="r" b="b"/>
              <a:pathLst>
                <a:path w="283210" h="157480">
                  <a:moveTo>
                    <a:pt x="0" y="0"/>
                  </a:moveTo>
                  <a:lnTo>
                    <a:pt x="0" y="119386"/>
                  </a:lnTo>
                  <a:lnTo>
                    <a:pt x="12150" y="135879"/>
                  </a:lnTo>
                  <a:lnTo>
                    <a:pt x="44181" y="147659"/>
                  </a:lnTo>
                  <a:lnTo>
                    <a:pt x="89468" y="154727"/>
                  </a:lnTo>
                  <a:lnTo>
                    <a:pt x="141382" y="157084"/>
                  </a:lnTo>
                  <a:lnTo>
                    <a:pt x="193295" y="154727"/>
                  </a:lnTo>
                  <a:lnTo>
                    <a:pt x="238582" y="147659"/>
                  </a:lnTo>
                  <a:lnTo>
                    <a:pt x="270614" y="135879"/>
                  </a:lnTo>
                  <a:lnTo>
                    <a:pt x="282764" y="119386"/>
                  </a:lnTo>
                  <a:lnTo>
                    <a:pt x="282757" y="37705"/>
                  </a:lnTo>
                  <a:lnTo>
                    <a:pt x="141376" y="37705"/>
                  </a:lnTo>
                  <a:lnTo>
                    <a:pt x="86436" y="34733"/>
                  </a:lnTo>
                  <a:lnTo>
                    <a:pt x="41488" y="26639"/>
                  </a:lnTo>
                  <a:lnTo>
                    <a:pt x="11140" y="14651"/>
                  </a:lnTo>
                  <a:lnTo>
                    <a:pt x="0" y="0"/>
                  </a:lnTo>
                  <a:close/>
                </a:path>
                <a:path w="283210" h="157480">
                  <a:moveTo>
                    <a:pt x="282753" y="0"/>
                  </a:moveTo>
                  <a:lnTo>
                    <a:pt x="271615" y="14651"/>
                  </a:lnTo>
                  <a:lnTo>
                    <a:pt x="241269" y="26639"/>
                  </a:lnTo>
                  <a:lnTo>
                    <a:pt x="196321" y="34733"/>
                  </a:lnTo>
                  <a:lnTo>
                    <a:pt x="141376" y="37705"/>
                  </a:lnTo>
                  <a:lnTo>
                    <a:pt x="282757" y="37705"/>
                  </a:lnTo>
                  <a:lnTo>
                    <a:pt x="282753" y="0"/>
                  </a:lnTo>
                  <a:close/>
                </a:path>
              </a:pathLst>
            </a:custGeom>
            <a:solidFill>
              <a:srgbClr val="BCBEC0"/>
            </a:solidFill>
          </p:spPr>
          <p:txBody>
            <a:bodyPr wrap="square" lIns="0" tIns="0" rIns="0" bIns="0" rtlCol="0"/>
            <a:lstStyle/>
            <a:p>
              <a:endParaRPr/>
            </a:p>
          </p:txBody>
        </p:sp>
        <p:sp>
          <p:nvSpPr>
            <p:cNvPr id="13" name="object 13"/>
            <p:cNvSpPr/>
            <p:nvPr/>
          </p:nvSpPr>
          <p:spPr>
            <a:xfrm>
              <a:off x="1573755" y="1402930"/>
              <a:ext cx="283210" cy="157480"/>
            </a:xfrm>
            <a:custGeom>
              <a:avLst/>
              <a:gdLst/>
              <a:ahLst/>
              <a:cxnLst/>
              <a:rect l="l" t="t" r="r" b="b"/>
              <a:pathLst>
                <a:path w="283210" h="157480">
                  <a:moveTo>
                    <a:pt x="282764" y="119386"/>
                  </a:moveTo>
                  <a:lnTo>
                    <a:pt x="270614" y="135879"/>
                  </a:lnTo>
                  <a:lnTo>
                    <a:pt x="238582" y="147659"/>
                  </a:lnTo>
                  <a:lnTo>
                    <a:pt x="193295" y="154727"/>
                  </a:lnTo>
                  <a:lnTo>
                    <a:pt x="141382" y="157084"/>
                  </a:lnTo>
                  <a:lnTo>
                    <a:pt x="89468" y="154727"/>
                  </a:lnTo>
                  <a:lnTo>
                    <a:pt x="44181" y="147659"/>
                  </a:lnTo>
                  <a:lnTo>
                    <a:pt x="12150" y="135879"/>
                  </a:lnTo>
                  <a:lnTo>
                    <a:pt x="0" y="119386"/>
                  </a:lnTo>
                  <a:lnTo>
                    <a:pt x="0" y="0"/>
                  </a:lnTo>
                  <a:lnTo>
                    <a:pt x="11140" y="14651"/>
                  </a:lnTo>
                  <a:lnTo>
                    <a:pt x="41488" y="26639"/>
                  </a:lnTo>
                  <a:lnTo>
                    <a:pt x="86436" y="34733"/>
                  </a:lnTo>
                  <a:lnTo>
                    <a:pt x="141376" y="37705"/>
                  </a:lnTo>
                  <a:lnTo>
                    <a:pt x="196321" y="34733"/>
                  </a:lnTo>
                  <a:lnTo>
                    <a:pt x="241269" y="26639"/>
                  </a:lnTo>
                  <a:lnTo>
                    <a:pt x="271615" y="14651"/>
                  </a:lnTo>
                  <a:lnTo>
                    <a:pt x="282753" y="0"/>
                  </a:lnTo>
                  <a:lnTo>
                    <a:pt x="282764" y="119386"/>
                  </a:lnTo>
                  <a:close/>
                </a:path>
              </a:pathLst>
            </a:custGeom>
            <a:ln w="5270">
              <a:solidFill>
                <a:srgbClr val="231F20"/>
              </a:solidFill>
            </a:ln>
          </p:spPr>
          <p:txBody>
            <a:bodyPr wrap="square" lIns="0" tIns="0" rIns="0" bIns="0" rtlCol="0"/>
            <a:lstStyle/>
            <a:p>
              <a:endParaRPr/>
            </a:p>
          </p:txBody>
        </p:sp>
        <p:sp>
          <p:nvSpPr>
            <p:cNvPr id="14" name="object 14"/>
            <p:cNvSpPr/>
            <p:nvPr/>
          </p:nvSpPr>
          <p:spPr>
            <a:xfrm>
              <a:off x="2320755" y="1365236"/>
              <a:ext cx="283210" cy="75565"/>
            </a:xfrm>
            <a:custGeom>
              <a:avLst/>
              <a:gdLst/>
              <a:ahLst/>
              <a:cxnLst/>
              <a:rect l="l" t="t" r="r" b="b"/>
              <a:pathLst>
                <a:path w="283210" h="75565">
                  <a:moveTo>
                    <a:pt x="141375" y="0"/>
                  </a:moveTo>
                  <a:lnTo>
                    <a:pt x="86436" y="2968"/>
                  </a:lnTo>
                  <a:lnTo>
                    <a:pt x="41488" y="11056"/>
                  </a:lnTo>
                  <a:lnTo>
                    <a:pt x="11140" y="23039"/>
                  </a:lnTo>
                  <a:lnTo>
                    <a:pt x="0" y="37694"/>
                  </a:lnTo>
                  <a:lnTo>
                    <a:pt x="11140" y="52346"/>
                  </a:lnTo>
                  <a:lnTo>
                    <a:pt x="41488" y="64334"/>
                  </a:lnTo>
                  <a:lnTo>
                    <a:pt x="86436" y="72428"/>
                  </a:lnTo>
                  <a:lnTo>
                    <a:pt x="141375" y="75399"/>
                  </a:lnTo>
                  <a:lnTo>
                    <a:pt x="196315" y="72428"/>
                  </a:lnTo>
                  <a:lnTo>
                    <a:pt x="241263" y="64334"/>
                  </a:lnTo>
                  <a:lnTo>
                    <a:pt x="271611" y="52346"/>
                  </a:lnTo>
                  <a:lnTo>
                    <a:pt x="282751" y="37694"/>
                  </a:lnTo>
                  <a:lnTo>
                    <a:pt x="271611" y="23039"/>
                  </a:lnTo>
                  <a:lnTo>
                    <a:pt x="241263" y="11056"/>
                  </a:lnTo>
                  <a:lnTo>
                    <a:pt x="196315" y="2968"/>
                  </a:lnTo>
                  <a:lnTo>
                    <a:pt x="141375" y="0"/>
                  </a:lnTo>
                  <a:close/>
                </a:path>
              </a:pathLst>
            </a:custGeom>
            <a:solidFill>
              <a:srgbClr val="FFFFFF"/>
            </a:solidFill>
          </p:spPr>
          <p:txBody>
            <a:bodyPr wrap="square" lIns="0" tIns="0" rIns="0" bIns="0" rtlCol="0"/>
            <a:lstStyle/>
            <a:p>
              <a:endParaRPr/>
            </a:p>
          </p:txBody>
        </p:sp>
        <p:sp>
          <p:nvSpPr>
            <p:cNvPr id="15" name="object 15"/>
            <p:cNvSpPr/>
            <p:nvPr/>
          </p:nvSpPr>
          <p:spPr>
            <a:xfrm>
              <a:off x="2320755" y="1365236"/>
              <a:ext cx="283210" cy="75565"/>
            </a:xfrm>
            <a:custGeom>
              <a:avLst/>
              <a:gdLst/>
              <a:ahLst/>
              <a:cxnLst/>
              <a:rect l="l" t="t" r="r" b="b"/>
              <a:pathLst>
                <a:path w="283210" h="75565">
                  <a:moveTo>
                    <a:pt x="141375" y="0"/>
                  </a:moveTo>
                  <a:lnTo>
                    <a:pt x="196315" y="2968"/>
                  </a:lnTo>
                  <a:lnTo>
                    <a:pt x="241263" y="11056"/>
                  </a:lnTo>
                  <a:lnTo>
                    <a:pt x="271611" y="23039"/>
                  </a:lnTo>
                  <a:lnTo>
                    <a:pt x="282751" y="37694"/>
                  </a:lnTo>
                  <a:lnTo>
                    <a:pt x="271611" y="52346"/>
                  </a:lnTo>
                  <a:lnTo>
                    <a:pt x="241263" y="64334"/>
                  </a:lnTo>
                  <a:lnTo>
                    <a:pt x="196315" y="72428"/>
                  </a:lnTo>
                  <a:lnTo>
                    <a:pt x="141375" y="75399"/>
                  </a:lnTo>
                  <a:lnTo>
                    <a:pt x="86436" y="72428"/>
                  </a:lnTo>
                  <a:lnTo>
                    <a:pt x="41488" y="64334"/>
                  </a:lnTo>
                  <a:lnTo>
                    <a:pt x="11140" y="52346"/>
                  </a:lnTo>
                  <a:lnTo>
                    <a:pt x="0" y="37694"/>
                  </a:lnTo>
                  <a:lnTo>
                    <a:pt x="11140" y="23039"/>
                  </a:lnTo>
                  <a:lnTo>
                    <a:pt x="41488" y="11056"/>
                  </a:lnTo>
                  <a:lnTo>
                    <a:pt x="86436" y="2968"/>
                  </a:lnTo>
                  <a:lnTo>
                    <a:pt x="141375" y="0"/>
                  </a:lnTo>
                  <a:close/>
                </a:path>
              </a:pathLst>
            </a:custGeom>
            <a:ln w="5270">
              <a:solidFill>
                <a:srgbClr val="231F20"/>
              </a:solidFill>
            </a:ln>
          </p:spPr>
          <p:txBody>
            <a:bodyPr wrap="square" lIns="0" tIns="0" rIns="0" bIns="0" rtlCol="0"/>
            <a:lstStyle/>
            <a:p>
              <a:endParaRPr/>
            </a:p>
          </p:txBody>
        </p:sp>
        <p:sp>
          <p:nvSpPr>
            <p:cNvPr id="16" name="object 16"/>
            <p:cNvSpPr/>
            <p:nvPr/>
          </p:nvSpPr>
          <p:spPr>
            <a:xfrm>
              <a:off x="2320755" y="1403963"/>
              <a:ext cx="283210" cy="157480"/>
            </a:xfrm>
            <a:custGeom>
              <a:avLst/>
              <a:gdLst/>
              <a:ahLst/>
              <a:cxnLst/>
              <a:rect l="l" t="t" r="r" b="b"/>
              <a:pathLst>
                <a:path w="283210" h="157480">
                  <a:moveTo>
                    <a:pt x="0" y="0"/>
                  </a:moveTo>
                  <a:lnTo>
                    <a:pt x="0" y="119374"/>
                  </a:lnTo>
                  <a:lnTo>
                    <a:pt x="12149" y="135871"/>
                  </a:lnTo>
                  <a:lnTo>
                    <a:pt x="44181" y="147654"/>
                  </a:lnTo>
                  <a:lnTo>
                    <a:pt x="89467" y="154724"/>
                  </a:lnTo>
                  <a:lnTo>
                    <a:pt x="141381" y="157081"/>
                  </a:lnTo>
                  <a:lnTo>
                    <a:pt x="193294" y="154724"/>
                  </a:lnTo>
                  <a:lnTo>
                    <a:pt x="238580" y="147654"/>
                  </a:lnTo>
                  <a:lnTo>
                    <a:pt x="270612" y="135871"/>
                  </a:lnTo>
                  <a:lnTo>
                    <a:pt x="282762" y="119374"/>
                  </a:lnTo>
                  <a:lnTo>
                    <a:pt x="282755" y="37694"/>
                  </a:lnTo>
                  <a:lnTo>
                    <a:pt x="141375" y="37694"/>
                  </a:lnTo>
                  <a:lnTo>
                    <a:pt x="86436" y="34723"/>
                  </a:lnTo>
                  <a:lnTo>
                    <a:pt x="41488" y="26630"/>
                  </a:lnTo>
                  <a:lnTo>
                    <a:pt x="11140" y="14645"/>
                  </a:lnTo>
                  <a:lnTo>
                    <a:pt x="0" y="0"/>
                  </a:lnTo>
                  <a:close/>
                </a:path>
                <a:path w="283210" h="157480">
                  <a:moveTo>
                    <a:pt x="282751" y="0"/>
                  </a:moveTo>
                  <a:lnTo>
                    <a:pt x="271611" y="14645"/>
                  </a:lnTo>
                  <a:lnTo>
                    <a:pt x="241263" y="26630"/>
                  </a:lnTo>
                  <a:lnTo>
                    <a:pt x="196315" y="34723"/>
                  </a:lnTo>
                  <a:lnTo>
                    <a:pt x="141375" y="37694"/>
                  </a:lnTo>
                  <a:lnTo>
                    <a:pt x="282755" y="37694"/>
                  </a:lnTo>
                  <a:lnTo>
                    <a:pt x="282751" y="0"/>
                  </a:lnTo>
                  <a:close/>
                </a:path>
              </a:pathLst>
            </a:custGeom>
            <a:solidFill>
              <a:srgbClr val="BCBEC0"/>
            </a:solidFill>
          </p:spPr>
          <p:txBody>
            <a:bodyPr wrap="square" lIns="0" tIns="0" rIns="0" bIns="0" rtlCol="0"/>
            <a:lstStyle/>
            <a:p>
              <a:endParaRPr/>
            </a:p>
          </p:txBody>
        </p:sp>
        <p:sp>
          <p:nvSpPr>
            <p:cNvPr id="17" name="object 17"/>
            <p:cNvSpPr/>
            <p:nvPr/>
          </p:nvSpPr>
          <p:spPr>
            <a:xfrm>
              <a:off x="2320755" y="1403963"/>
              <a:ext cx="283210" cy="157480"/>
            </a:xfrm>
            <a:custGeom>
              <a:avLst/>
              <a:gdLst/>
              <a:ahLst/>
              <a:cxnLst/>
              <a:rect l="l" t="t" r="r" b="b"/>
              <a:pathLst>
                <a:path w="283210" h="157480">
                  <a:moveTo>
                    <a:pt x="282762" y="119374"/>
                  </a:moveTo>
                  <a:lnTo>
                    <a:pt x="270612" y="135871"/>
                  </a:lnTo>
                  <a:lnTo>
                    <a:pt x="238580" y="147654"/>
                  </a:lnTo>
                  <a:lnTo>
                    <a:pt x="193294" y="154724"/>
                  </a:lnTo>
                  <a:lnTo>
                    <a:pt x="141381" y="157081"/>
                  </a:lnTo>
                  <a:lnTo>
                    <a:pt x="89467" y="154724"/>
                  </a:lnTo>
                  <a:lnTo>
                    <a:pt x="44181" y="147654"/>
                  </a:lnTo>
                  <a:lnTo>
                    <a:pt x="12149" y="135871"/>
                  </a:lnTo>
                  <a:lnTo>
                    <a:pt x="0" y="119374"/>
                  </a:lnTo>
                  <a:lnTo>
                    <a:pt x="0" y="0"/>
                  </a:lnTo>
                  <a:lnTo>
                    <a:pt x="11140" y="14645"/>
                  </a:lnTo>
                  <a:lnTo>
                    <a:pt x="41488" y="26630"/>
                  </a:lnTo>
                  <a:lnTo>
                    <a:pt x="86436" y="34723"/>
                  </a:lnTo>
                  <a:lnTo>
                    <a:pt x="141375" y="37694"/>
                  </a:lnTo>
                  <a:lnTo>
                    <a:pt x="196315" y="34723"/>
                  </a:lnTo>
                  <a:lnTo>
                    <a:pt x="241263" y="26630"/>
                  </a:lnTo>
                  <a:lnTo>
                    <a:pt x="271611" y="14645"/>
                  </a:lnTo>
                  <a:lnTo>
                    <a:pt x="282751" y="0"/>
                  </a:lnTo>
                  <a:lnTo>
                    <a:pt x="282762" y="119374"/>
                  </a:lnTo>
                  <a:close/>
                </a:path>
              </a:pathLst>
            </a:custGeom>
            <a:ln w="5270">
              <a:solidFill>
                <a:srgbClr val="231F20"/>
              </a:solidFill>
            </a:ln>
          </p:spPr>
          <p:txBody>
            <a:bodyPr wrap="square" lIns="0" tIns="0" rIns="0" bIns="0" rtlCol="0"/>
            <a:lstStyle/>
            <a:p>
              <a:endParaRPr/>
            </a:p>
          </p:txBody>
        </p:sp>
        <p:sp>
          <p:nvSpPr>
            <p:cNvPr id="18" name="object 18"/>
            <p:cNvSpPr/>
            <p:nvPr/>
          </p:nvSpPr>
          <p:spPr>
            <a:xfrm>
              <a:off x="3089627" y="1362622"/>
              <a:ext cx="283210" cy="75565"/>
            </a:xfrm>
            <a:custGeom>
              <a:avLst/>
              <a:gdLst/>
              <a:ahLst/>
              <a:cxnLst/>
              <a:rect l="l" t="t" r="r" b="b"/>
              <a:pathLst>
                <a:path w="283210" h="75565">
                  <a:moveTo>
                    <a:pt x="141375" y="0"/>
                  </a:moveTo>
                  <a:lnTo>
                    <a:pt x="86431" y="2969"/>
                  </a:lnTo>
                  <a:lnTo>
                    <a:pt x="41484" y="11060"/>
                  </a:lnTo>
                  <a:lnTo>
                    <a:pt x="11138" y="23044"/>
                  </a:lnTo>
                  <a:lnTo>
                    <a:pt x="0" y="37694"/>
                  </a:lnTo>
                  <a:lnTo>
                    <a:pt x="11138" y="52344"/>
                  </a:lnTo>
                  <a:lnTo>
                    <a:pt x="41484" y="64329"/>
                  </a:lnTo>
                  <a:lnTo>
                    <a:pt x="86431" y="72419"/>
                  </a:lnTo>
                  <a:lnTo>
                    <a:pt x="141375" y="75389"/>
                  </a:lnTo>
                  <a:lnTo>
                    <a:pt x="196321" y="72419"/>
                  </a:lnTo>
                  <a:lnTo>
                    <a:pt x="241272" y="64329"/>
                  </a:lnTo>
                  <a:lnTo>
                    <a:pt x="271622" y="52344"/>
                  </a:lnTo>
                  <a:lnTo>
                    <a:pt x="282762" y="37694"/>
                  </a:lnTo>
                  <a:lnTo>
                    <a:pt x="271622" y="23044"/>
                  </a:lnTo>
                  <a:lnTo>
                    <a:pt x="241272" y="11060"/>
                  </a:lnTo>
                  <a:lnTo>
                    <a:pt x="196321" y="2969"/>
                  </a:lnTo>
                  <a:lnTo>
                    <a:pt x="141375" y="0"/>
                  </a:lnTo>
                  <a:close/>
                </a:path>
              </a:pathLst>
            </a:custGeom>
            <a:solidFill>
              <a:srgbClr val="FFFFFF"/>
            </a:solidFill>
          </p:spPr>
          <p:txBody>
            <a:bodyPr wrap="square" lIns="0" tIns="0" rIns="0" bIns="0" rtlCol="0"/>
            <a:lstStyle/>
            <a:p>
              <a:endParaRPr/>
            </a:p>
          </p:txBody>
        </p:sp>
        <p:sp>
          <p:nvSpPr>
            <p:cNvPr id="19" name="object 19"/>
            <p:cNvSpPr/>
            <p:nvPr/>
          </p:nvSpPr>
          <p:spPr>
            <a:xfrm>
              <a:off x="3089627" y="1362622"/>
              <a:ext cx="283210" cy="75565"/>
            </a:xfrm>
            <a:custGeom>
              <a:avLst/>
              <a:gdLst/>
              <a:ahLst/>
              <a:cxnLst/>
              <a:rect l="l" t="t" r="r" b="b"/>
              <a:pathLst>
                <a:path w="283210" h="75565">
                  <a:moveTo>
                    <a:pt x="141375" y="0"/>
                  </a:moveTo>
                  <a:lnTo>
                    <a:pt x="196321" y="2969"/>
                  </a:lnTo>
                  <a:lnTo>
                    <a:pt x="241272" y="11060"/>
                  </a:lnTo>
                  <a:lnTo>
                    <a:pt x="271622" y="23044"/>
                  </a:lnTo>
                  <a:lnTo>
                    <a:pt x="282762" y="37694"/>
                  </a:lnTo>
                  <a:lnTo>
                    <a:pt x="271622" y="52344"/>
                  </a:lnTo>
                  <a:lnTo>
                    <a:pt x="241272" y="64329"/>
                  </a:lnTo>
                  <a:lnTo>
                    <a:pt x="196321" y="72419"/>
                  </a:lnTo>
                  <a:lnTo>
                    <a:pt x="141375" y="75389"/>
                  </a:lnTo>
                  <a:lnTo>
                    <a:pt x="86431" y="72419"/>
                  </a:lnTo>
                  <a:lnTo>
                    <a:pt x="41484" y="64329"/>
                  </a:lnTo>
                  <a:lnTo>
                    <a:pt x="11138" y="52344"/>
                  </a:lnTo>
                  <a:lnTo>
                    <a:pt x="0" y="37694"/>
                  </a:lnTo>
                  <a:lnTo>
                    <a:pt x="11138" y="23044"/>
                  </a:lnTo>
                  <a:lnTo>
                    <a:pt x="41484" y="11060"/>
                  </a:lnTo>
                  <a:lnTo>
                    <a:pt x="86431" y="2969"/>
                  </a:lnTo>
                  <a:lnTo>
                    <a:pt x="141375" y="0"/>
                  </a:lnTo>
                  <a:close/>
                </a:path>
              </a:pathLst>
            </a:custGeom>
            <a:ln w="5270">
              <a:solidFill>
                <a:srgbClr val="231F20"/>
              </a:solidFill>
            </a:ln>
          </p:spPr>
          <p:txBody>
            <a:bodyPr wrap="square" lIns="0" tIns="0" rIns="0" bIns="0" rtlCol="0"/>
            <a:lstStyle/>
            <a:p>
              <a:endParaRPr/>
            </a:p>
          </p:txBody>
        </p:sp>
        <p:sp>
          <p:nvSpPr>
            <p:cNvPr id="20" name="object 20"/>
            <p:cNvSpPr/>
            <p:nvPr/>
          </p:nvSpPr>
          <p:spPr>
            <a:xfrm>
              <a:off x="3089627" y="1401339"/>
              <a:ext cx="283210" cy="157480"/>
            </a:xfrm>
            <a:custGeom>
              <a:avLst/>
              <a:gdLst/>
              <a:ahLst/>
              <a:cxnLst/>
              <a:rect l="l" t="t" r="r" b="b"/>
              <a:pathLst>
                <a:path w="283210" h="157480">
                  <a:moveTo>
                    <a:pt x="282762" y="0"/>
                  </a:moveTo>
                  <a:lnTo>
                    <a:pt x="271622" y="14647"/>
                  </a:lnTo>
                  <a:lnTo>
                    <a:pt x="241272" y="26635"/>
                  </a:lnTo>
                  <a:lnTo>
                    <a:pt x="196321" y="34732"/>
                  </a:lnTo>
                  <a:lnTo>
                    <a:pt x="141375" y="37705"/>
                  </a:lnTo>
                  <a:lnTo>
                    <a:pt x="86431" y="34732"/>
                  </a:lnTo>
                  <a:lnTo>
                    <a:pt x="41484" y="26635"/>
                  </a:lnTo>
                  <a:lnTo>
                    <a:pt x="11138" y="14647"/>
                  </a:lnTo>
                  <a:lnTo>
                    <a:pt x="0" y="0"/>
                  </a:lnTo>
                  <a:lnTo>
                    <a:pt x="10" y="119388"/>
                  </a:lnTo>
                  <a:lnTo>
                    <a:pt x="12160" y="135882"/>
                  </a:lnTo>
                  <a:lnTo>
                    <a:pt x="44190" y="147664"/>
                  </a:lnTo>
                  <a:lnTo>
                    <a:pt x="89474" y="154733"/>
                  </a:lnTo>
                  <a:lnTo>
                    <a:pt x="141386" y="157089"/>
                  </a:lnTo>
                  <a:lnTo>
                    <a:pt x="193297" y="154733"/>
                  </a:lnTo>
                  <a:lnTo>
                    <a:pt x="238582" y="147664"/>
                  </a:lnTo>
                  <a:lnTo>
                    <a:pt x="270612" y="135882"/>
                  </a:lnTo>
                  <a:lnTo>
                    <a:pt x="282762" y="119388"/>
                  </a:lnTo>
                  <a:lnTo>
                    <a:pt x="282762" y="0"/>
                  </a:lnTo>
                  <a:close/>
                </a:path>
              </a:pathLst>
            </a:custGeom>
            <a:solidFill>
              <a:srgbClr val="BCBEC0"/>
            </a:solidFill>
          </p:spPr>
          <p:txBody>
            <a:bodyPr wrap="square" lIns="0" tIns="0" rIns="0" bIns="0" rtlCol="0"/>
            <a:lstStyle/>
            <a:p>
              <a:endParaRPr/>
            </a:p>
          </p:txBody>
        </p:sp>
        <p:sp>
          <p:nvSpPr>
            <p:cNvPr id="21" name="object 21"/>
            <p:cNvSpPr/>
            <p:nvPr/>
          </p:nvSpPr>
          <p:spPr>
            <a:xfrm>
              <a:off x="872746" y="795876"/>
              <a:ext cx="2499995" cy="762635"/>
            </a:xfrm>
            <a:custGeom>
              <a:avLst/>
              <a:gdLst/>
              <a:ahLst/>
              <a:cxnLst/>
              <a:rect l="l" t="t" r="r" b="b"/>
              <a:pathLst>
                <a:path w="2499995" h="762635">
                  <a:moveTo>
                    <a:pt x="2499643" y="724850"/>
                  </a:moveTo>
                  <a:lnTo>
                    <a:pt x="2487493" y="741344"/>
                  </a:lnTo>
                  <a:lnTo>
                    <a:pt x="2455463" y="753126"/>
                  </a:lnTo>
                  <a:lnTo>
                    <a:pt x="2410178" y="760195"/>
                  </a:lnTo>
                  <a:lnTo>
                    <a:pt x="2358267" y="762551"/>
                  </a:lnTo>
                  <a:lnTo>
                    <a:pt x="2306355" y="760195"/>
                  </a:lnTo>
                  <a:lnTo>
                    <a:pt x="2261071" y="753126"/>
                  </a:lnTo>
                  <a:lnTo>
                    <a:pt x="2229040" y="741344"/>
                  </a:lnTo>
                  <a:lnTo>
                    <a:pt x="2216891" y="724850"/>
                  </a:lnTo>
                  <a:lnTo>
                    <a:pt x="2216880" y="605462"/>
                  </a:lnTo>
                  <a:lnTo>
                    <a:pt x="2228019" y="620109"/>
                  </a:lnTo>
                  <a:lnTo>
                    <a:pt x="2258364" y="632098"/>
                  </a:lnTo>
                  <a:lnTo>
                    <a:pt x="2303312" y="640194"/>
                  </a:lnTo>
                  <a:lnTo>
                    <a:pt x="2358256" y="643167"/>
                  </a:lnTo>
                  <a:lnTo>
                    <a:pt x="2413202" y="640194"/>
                  </a:lnTo>
                  <a:lnTo>
                    <a:pt x="2458153" y="632098"/>
                  </a:lnTo>
                  <a:lnTo>
                    <a:pt x="2488502" y="620109"/>
                  </a:lnTo>
                  <a:lnTo>
                    <a:pt x="2499643" y="605462"/>
                  </a:lnTo>
                  <a:lnTo>
                    <a:pt x="2499643" y="724850"/>
                  </a:lnTo>
                  <a:close/>
                </a:path>
                <a:path w="2499995" h="762635">
                  <a:moveTo>
                    <a:pt x="0" y="179279"/>
                  </a:moveTo>
                  <a:lnTo>
                    <a:pt x="179283" y="179279"/>
                  </a:lnTo>
                  <a:lnTo>
                    <a:pt x="179283" y="0"/>
                  </a:lnTo>
                  <a:lnTo>
                    <a:pt x="0" y="0"/>
                  </a:lnTo>
                  <a:lnTo>
                    <a:pt x="0" y="179279"/>
                  </a:lnTo>
                  <a:close/>
                </a:path>
                <a:path w="2499995" h="762635">
                  <a:moveTo>
                    <a:pt x="65510" y="179279"/>
                  </a:moveTo>
                  <a:lnTo>
                    <a:pt x="65510" y="530336"/>
                  </a:lnTo>
                </a:path>
              </a:pathLst>
            </a:custGeom>
            <a:ln w="5270">
              <a:solidFill>
                <a:srgbClr val="231F20"/>
              </a:solidFill>
            </a:ln>
          </p:spPr>
          <p:txBody>
            <a:bodyPr wrap="square" lIns="0" tIns="0" rIns="0" bIns="0" rtlCol="0"/>
            <a:lstStyle/>
            <a:p>
              <a:endParaRPr/>
            </a:p>
          </p:txBody>
        </p:sp>
        <p:pic>
          <p:nvPicPr>
            <p:cNvPr id="22" name="object 22"/>
            <p:cNvPicPr/>
            <p:nvPr/>
          </p:nvPicPr>
          <p:blipFill>
            <a:blip r:embed="rId6" cstate="print"/>
            <a:stretch>
              <a:fillRect/>
            </a:stretch>
          </p:blipFill>
          <p:spPr>
            <a:xfrm>
              <a:off x="906369" y="1289225"/>
              <a:ext cx="63761" cy="74366"/>
            </a:xfrm>
            <a:prstGeom prst="rect">
              <a:avLst/>
            </a:prstGeom>
          </p:spPr>
        </p:pic>
        <p:sp>
          <p:nvSpPr>
            <p:cNvPr id="23" name="object 23"/>
            <p:cNvSpPr/>
            <p:nvPr/>
          </p:nvSpPr>
          <p:spPr>
            <a:xfrm>
              <a:off x="2366756" y="797506"/>
              <a:ext cx="179705" cy="530860"/>
            </a:xfrm>
            <a:custGeom>
              <a:avLst/>
              <a:gdLst/>
              <a:ahLst/>
              <a:cxnLst/>
              <a:rect l="l" t="t" r="r" b="b"/>
              <a:pathLst>
                <a:path w="179705" h="530860">
                  <a:moveTo>
                    <a:pt x="0" y="179283"/>
                  </a:moveTo>
                  <a:lnTo>
                    <a:pt x="179266" y="179283"/>
                  </a:lnTo>
                  <a:lnTo>
                    <a:pt x="179266" y="0"/>
                  </a:lnTo>
                  <a:lnTo>
                    <a:pt x="0" y="0"/>
                  </a:lnTo>
                  <a:lnTo>
                    <a:pt x="0" y="179283"/>
                  </a:lnTo>
                  <a:close/>
                </a:path>
                <a:path w="179705" h="530860">
                  <a:moveTo>
                    <a:pt x="65501" y="179283"/>
                  </a:moveTo>
                  <a:lnTo>
                    <a:pt x="65501" y="530340"/>
                  </a:lnTo>
                </a:path>
              </a:pathLst>
            </a:custGeom>
            <a:ln w="5270">
              <a:solidFill>
                <a:srgbClr val="231F20"/>
              </a:solidFill>
            </a:ln>
          </p:spPr>
          <p:txBody>
            <a:bodyPr wrap="square" lIns="0" tIns="0" rIns="0" bIns="0" rtlCol="0"/>
            <a:lstStyle/>
            <a:p>
              <a:endParaRPr/>
            </a:p>
          </p:txBody>
        </p:sp>
        <p:pic>
          <p:nvPicPr>
            <p:cNvPr id="24" name="object 24"/>
            <p:cNvPicPr/>
            <p:nvPr/>
          </p:nvPicPr>
          <p:blipFill>
            <a:blip r:embed="rId7" cstate="print"/>
            <a:stretch>
              <a:fillRect/>
            </a:stretch>
          </p:blipFill>
          <p:spPr>
            <a:xfrm>
              <a:off x="2400372" y="1290858"/>
              <a:ext cx="63762" cy="74377"/>
            </a:xfrm>
            <a:prstGeom prst="rect">
              <a:avLst/>
            </a:prstGeom>
          </p:spPr>
        </p:pic>
        <p:sp>
          <p:nvSpPr>
            <p:cNvPr id="25" name="object 25"/>
            <p:cNvSpPr/>
            <p:nvPr/>
          </p:nvSpPr>
          <p:spPr>
            <a:xfrm>
              <a:off x="1804774" y="1572757"/>
              <a:ext cx="537845" cy="205740"/>
            </a:xfrm>
            <a:custGeom>
              <a:avLst/>
              <a:gdLst/>
              <a:ahLst/>
              <a:cxnLst/>
              <a:rect l="l" t="t" r="r" b="b"/>
              <a:pathLst>
                <a:path w="537844" h="205739">
                  <a:moveTo>
                    <a:pt x="0" y="0"/>
                  </a:moveTo>
                  <a:lnTo>
                    <a:pt x="232340" y="205459"/>
                  </a:lnTo>
                  <a:lnTo>
                    <a:pt x="400746" y="193422"/>
                  </a:lnTo>
                  <a:lnTo>
                    <a:pt x="503240" y="92145"/>
                  </a:lnTo>
                  <a:lnTo>
                    <a:pt x="537843" y="29884"/>
                  </a:lnTo>
                </a:path>
              </a:pathLst>
            </a:custGeom>
            <a:ln w="5270">
              <a:solidFill>
                <a:srgbClr val="231F20"/>
              </a:solidFill>
            </a:ln>
          </p:spPr>
          <p:txBody>
            <a:bodyPr wrap="square" lIns="0" tIns="0" rIns="0" bIns="0" rtlCol="0"/>
            <a:lstStyle/>
            <a:p>
              <a:endParaRPr/>
            </a:p>
          </p:txBody>
        </p:sp>
        <p:sp>
          <p:nvSpPr>
            <p:cNvPr id="26" name="object 26"/>
            <p:cNvSpPr/>
            <p:nvPr/>
          </p:nvSpPr>
          <p:spPr>
            <a:xfrm>
              <a:off x="2298936" y="1568142"/>
              <a:ext cx="59055" cy="81280"/>
            </a:xfrm>
            <a:custGeom>
              <a:avLst/>
              <a:gdLst/>
              <a:ahLst/>
              <a:cxnLst/>
              <a:rect l="l" t="t" r="r" b="b"/>
              <a:pathLst>
                <a:path w="59055" h="81280">
                  <a:moveTo>
                    <a:pt x="58080" y="0"/>
                  </a:moveTo>
                  <a:lnTo>
                    <a:pt x="0" y="56353"/>
                  </a:lnTo>
                  <a:lnTo>
                    <a:pt x="17011" y="56980"/>
                  </a:lnTo>
                  <a:lnTo>
                    <a:pt x="32486" y="61284"/>
                  </a:lnTo>
                  <a:lnTo>
                    <a:pt x="46425" y="69265"/>
                  </a:lnTo>
                  <a:lnTo>
                    <a:pt x="58829" y="80922"/>
                  </a:lnTo>
                  <a:lnTo>
                    <a:pt x="58080" y="0"/>
                  </a:lnTo>
                  <a:close/>
                </a:path>
              </a:pathLst>
            </a:custGeom>
            <a:solidFill>
              <a:srgbClr val="231F20"/>
            </a:solidFill>
          </p:spPr>
          <p:txBody>
            <a:bodyPr wrap="square" lIns="0" tIns="0" rIns="0" bIns="0" rtlCol="0"/>
            <a:lstStyle/>
            <a:p>
              <a:endParaRPr/>
            </a:p>
          </p:txBody>
        </p:sp>
      </p:grpSp>
      <p:sp>
        <p:nvSpPr>
          <p:cNvPr id="27" name="object 27"/>
          <p:cNvSpPr txBox="1"/>
          <p:nvPr/>
        </p:nvSpPr>
        <p:spPr>
          <a:xfrm>
            <a:off x="3495236" y="1535489"/>
            <a:ext cx="41465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Data store</a:t>
            </a:r>
            <a:endParaRPr sz="650">
              <a:latin typeface="Arial"/>
              <a:cs typeface="Arial"/>
            </a:endParaRPr>
          </a:p>
        </p:txBody>
      </p:sp>
      <p:sp>
        <p:nvSpPr>
          <p:cNvPr id="28" name="object 28"/>
          <p:cNvSpPr txBox="1"/>
          <p:nvPr/>
        </p:nvSpPr>
        <p:spPr>
          <a:xfrm>
            <a:off x="1215660" y="818372"/>
            <a:ext cx="461645" cy="220979"/>
          </a:xfrm>
          <a:prstGeom prst="rect">
            <a:avLst/>
          </a:prstGeom>
        </p:spPr>
        <p:txBody>
          <a:bodyPr vert="horz" wrap="square" lIns="0" tIns="21590" rIns="0" bIns="0" rtlCol="0">
            <a:spAutoFit/>
          </a:bodyPr>
          <a:lstStyle/>
          <a:p>
            <a:pPr marL="57150" marR="5080" indent="-45085">
              <a:lnSpc>
                <a:spcPts val="740"/>
              </a:lnSpc>
              <a:spcBef>
                <a:spcPts val="170"/>
              </a:spcBef>
            </a:pPr>
            <a:r>
              <a:rPr sz="650" spc="5" dirty="0">
                <a:solidFill>
                  <a:srgbClr val="231F20"/>
                </a:solidFill>
                <a:latin typeface="Arial"/>
                <a:cs typeface="Arial"/>
              </a:rPr>
              <a:t>Old primary  for</a:t>
            </a:r>
            <a:r>
              <a:rPr sz="650" spc="-25" dirty="0">
                <a:solidFill>
                  <a:srgbClr val="231F20"/>
                </a:solidFill>
                <a:latin typeface="Arial"/>
                <a:cs typeface="Arial"/>
              </a:rPr>
              <a:t> </a:t>
            </a:r>
            <a:r>
              <a:rPr sz="650" spc="5" dirty="0">
                <a:solidFill>
                  <a:srgbClr val="231F20"/>
                </a:solidFill>
                <a:latin typeface="Arial"/>
                <a:cs typeface="Arial"/>
              </a:rPr>
              <a:t>item</a:t>
            </a:r>
            <a:r>
              <a:rPr sz="650" spc="-20" dirty="0">
                <a:solidFill>
                  <a:srgbClr val="231F20"/>
                </a:solidFill>
                <a:latin typeface="Arial"/>
                <a:cs typeface="Arial"/>
              </a:rPr>
              <a:t> </a:t>
            </a:r>
            <a:r>
              <a:rPr sz="650" spc="5" dirty="0">
                <a:solidFill>
                  <a:srgbClr val="231F20"/>
                </a:solidFill>
                <a:latin typeface="Arial"/>
                <a:cs typeface="Arial"/>
              </a:rPr>
              <a:t>x</a:t>
            </a:r>
            <a:endParaRPr sz="650">
              <a:latin typeface="Arial"/>
              <a:cs typeface="Arial"/>
            </a:endParaRPr>
          </a:p>
        </p:txBody>
      </p:sp>
      <p:sp>
        <p:nvSpPr>
          <p:cNvPr id="29" name="object 29"/>
          <p:cNvSpPr txBox="1"/>
          <p:nvPr/>
        </p:nvSpPr>
        <p:spPr>
          <a:xfrm>
            <a:off x="347294" y="382788"/>
            <a:ext cx="2781935" cy="414655"/>
          </a:xfrm>
          <a:prstGeom prst="rect">
            <a:avLst/>
          </a:prstGeom>
        </p:spPr>
        <p:txBody>
          <a:bodyPr vert="horz" wrap="square" lIns="0" tIns="12065" rIns="0" bIns="0" rtlCol="0">
            <a:spAutoFit/>
          </a:bodyPr>
          <a:lstStyle/>
          <a:p>
            <a:pPr algn="ctr">
              <a:lnSpc>
                <a:spcPct val="100000"/>
              </a:lnSpc>
              <a:spcBef>
                <a:spcPts val="95"/>
              </a:spcBef>
            </a:pPr>
            <a:r>
              <a:rPr sz="1200" spc="-5" dirty="0">
                <a:solidFill>
                  <a:srgbClr val="3333B2"/>
                </a:solidFill>
                <a:latin typeface="Arial"/>
                <a:cs typeface="Arial"/>
              </a:rPr>
              <a:t>Primary-backup protocol</a:t>
            </a:r>
            <a:r>
              <a:rPr sz="1200" dirty="0">
                <a:solidFill>
                  <a:srgbClr val="3333B2"/>
                </a:solidFill>
                <a:latin typeface="Arial"/>
                <a:cs typeface="Arial"/>
              </a:rPr>
              <a:t> </a:t>
            </a:r>
            <a:r>
              <a:rPr sz="1200" spc="-5" dirty="0">
                <a:solidFill>
                  <a:srgbClr val="3333B2"/>
                </a:solidFill>
                <a:latin typeface="Arial"/>
                <a:cs typeface="Arial"/>
              </a:rPr>
              <a:t>with local</a:t>
            </a:r>
            <a:r>
              <a:rPr sz="1200" dirty="0">
                <a:solidFill>
                  <a:srgbClr val="3333B2"/>
                </a:solidFill>
                <a:latin typeface="Arial"/>
                <a:cs typeface="Arial"/>
              </a:rPr>
              <a:t> writes</a:t>
            </a:r>
            <a:endParaRPr sz="1200">
              <a:latin typeface="Arial"/>
              <a:cs typeface="Arial"/>
            </a:endParaRPr>
          </a:p>
          <a:p>
            <a:pPr marR="48895" algn="ctr">
              <a:lnSpc>
                <a:spcPct val="100000"/>
              </a:lnSpc>
              <a:spcBef>
                <a:spcPts val="844"/>
              </a:spcBef>
              <a:tabLst>
                <a:tab pos="1493520" algn="l"/>
              </a:tabLst>
            </a:pPr>
            <a:r>
              <a:rPr sz="650" spc="5" dirty="0">
                <a:solidFill>
                  <a:srgbClr val="231F20"/>
                </a:solidFill>
                <a:latin typeface="Arial"/>
                <a:cs typeface="Arial"/>
              </a:rPr>
              <a:t>Client	Client</a:t>
            </a:r>
            <a:endParaRPr sz="650">
              <a:latin typeface="Arial"/>
              <a:cs typeface="Arial"/>
            </a:endParaRPr>
          </a:p>
        </p:txBody>
      </p:sp>
      <p:sp>
        <p:nvSpPr>
          <p:cNvPr id="30" name="object 30"/>
          <p:cNvSpPr/>
          <p:nvPr/>
        </p:nvSpPr>
        <p:spPr>
          <a:xfrm>
            <a:off x="1505972" y="1034923"/>
            <a:ext cx="189230" cy="330200"/>
          </a:xfrm>
          <a:custGeom>
            <a:avLst/>
            <a:gdLst/>
            <a:ahLst/>
            <a:cxnLst/>
            <a:rect l="l" t="t" r="r" b="b"/>
            <a:pathLst>
              <a:path w="189230" h="330200">
                <a:moveTo>
                  <a:pt x="0" y="0"/>
                </a:moveTo>
                <a:lnTo>
                  <a:pt x="188868" y="329975"/>
                </a:lnTo>
              </a:path>
            </a:pathLst>
          </a:custGeom>
          <a:ln w="5270">
            <a:solidFill>
              <a:srgbClr val="231F20"/>
            </a:solidFill>
          </a:ln>
        </p:spPr>
        <p:txBody>
          <a:bodyPr wrap="square" lIns="0" tIns="0" rIns="0" bIns="0" rtlCol="0"/>
          <a:lstStyle/>
          <a:p>
            <a:endParaRPr/>
          </a:p>
        </p:txBody>
      </p:sp>
      <p:sp>
        <p:nvSpPr>
          <p:cNvPr id="31" name="object 31"/>
          <p:cNvSpPr txBox="1"/>
          <p:nvPr/>
        </p:nvSpPr>
        <p:spPr>
          <a:xfrm>
            <a:off x="3194185" y="938498"/>
            <a:ext cx="5645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Backup server</a:t>
            </a:r>
            <a:endParaRPr sz="650">
              <a:latin typeface="Arial"/>
              <a:cs typeface="Arial"/>
            </a:endParaRPr>
          </a:p>
        </p:txBody>
      </p:sp>
      <p:grpSp>
        <p:nvGrpSpPr>
          <p:cNvPr id="32" name="object 32"/>
          <p:cNvGrpSpPr/>
          <p:nvPr/>
        </p:nvGrpSpPr>
        <p:grpSpPr>
          <a:xfrm>
            <a:off x="966133" y="975156"/>
            <a:ext cx="2441575" cy="570230"/>
            <a:chOff x="966133" y="975156"/>
            <a:chExt cx="2441575" cy="570230"/>
          </a:xfrm>
        </p:grpSpPr>
        <p:sp>
          <p:nvSpPr>
            <p:cNvPr id="33" name="object 33"/>
            <p:cNvSpPr/>
            <p:nvPr/>
          </p:nvSpPr>
          <p:spPr>
            <a:xfrm>
              <a:off x="2648918" y="1075601"/>
              <a:ext cx="756285" cy="347980"/>
            </a:xfrm>
            <a:custGeom>
              <a:avLst/>
              <a:gdLst/>
              <a:ahLst/>
              <a:cxnLst/>
              <a:rect l="l" t="t" r="r" b="b"/>
              <a:pathLst>
                <a:path w="756285" h="347980">
                  <a:moveTo>
                    <a:pt x="755800" y="0"/>
                  </a:moveTo>
                  <a:lnTo>
                    <a:pt x="641135" y="292818"/>
                  </a:lnTo>
                </a:path>
                <a:path w="756285" h="347980">
                  <a:moveTo>
                    <a:pt x="0" y="347737"/>
                  </a:moveTo>
                  <a:lnTo>
                    <a:pt x="440698" y="347758"/>
                  </a:lnTo>
                </a:path>
              </a:pathLst>
            </a:custGeom>
            <a:ln w="5270">
              <a:solidFill>
                <a:srgbClr val="231F20"/>
              </a:solidFill>
            </a:ln>
          </p:spPr>
          <p:txBody>
            <a:bodyPr wrap="square" lIns="0" tIns="0" rIns="0" bIns="0" rtlCol="0"/>
            <a:lstStyle/>
            <a:p>
              <a:endParaRPr/>
            </a:p>
          </p:txBody>
        </p:sp>
        <p:pic>
          <p:nvPicPr>
            <p:cNvPr id="34" name="object 34"/>
            <p:cNvPicPr/>
            <p:nvPr/>
          </p:nvPicPr>
          <p:blipFill>
            <a:blip r:embed="rId8" cstate="print"/>
            <a:stretch>
              <a:fillRect/>
            </a:stretch>
          </p:blipFill>
          <p:spPr>
            <a:xfrm>
              <a:off x="2611539" y="1391483"/>
              <a:ext cx="74366" cy="63751"/>
            </a:xfrm>
            <a:prstGeom prst="rect">
              <a:avLst/>
            </a:prstGeom>
          </p:spPr>
        </p:pic>
        <p:sp>
          <p:nvSpPr>
            <p:cNvPr id="35" name="object 35"/>
            <p:cNvSpPr/>
            <p:nvPr/>
          </p:nvSpPr>
          <p:spPr>
            <a:xfrm>
              <a:off x="1864530" y="1423338"/>
              <a:ext cx="410845" cy="0"/>
            </a:xfrm>
            <a:custGeom>
              <a:avLst/>
              <a:gdLst/>
              <a:ahLst/>
              <a:cxnLst/>
              <a:rect l="l" t="t" r="r" b="b"/>
              <a:pathLst>
                <a:path w="410844">
                  <a:moveTo>
                    <a:pt x="410824" y="0"/>
                  </a:moveTo>
                  <a:lnTo>
                    <a:pt x="0" y="0"/>
                  </a:lnTo>
                </a:path>
              </a:pathLst>
            </a:custGeom>
            <a:ln w="5270">
              <a:solidFill>
                <a:srgbClr val="231F20"/>
              </a:solidFill>
            </a:ln>
          </p:spPr>
          <p:txBody>
            <a:bodyPr wrap="square" lIns="0" tIns="0" rIns="0" bIns="0" rtlCol="0"/>
            <a:lstStyle/>
            <a:p>
              <a:endParaRPr/>
            </a:p>
          </p:txBody>
        </p:sp>
        <p:pic>
          <p:nvPicPr>
            <p:cNvPr id="36" name="object 36"/>
            <p:cNvPicPr/>
            <p:nvPr/>
          </p:nvPicPr>
          <p:blipFill>
            <a:blip r:embed="rId9" cstate="print"/>
            <a:stretch>
              <a:fillRect/>
            </a:stretch>
          </p:blipFill>
          <p:spPr>
            <a:xfrm>
              <a:off x="2238356" y="1391483"/>
              <a:ext cx="74377" cy="63751"/>
            </a:xfrm>
            <a:prstGeom prst="rect">
              <a:avLst/>
            </a:prstGeom>
          </p:spPr>
        </p:pic>
        <p:sp>
          <p:nvSpPr>
            <p:cNvPr id="37" name="object 37"/>
            <p:cNvSpPr/>
            <p:nvPr/>
          </p:nvSpPr>
          <p:spPr>
            <a:xfrm>
              <a:off x="2611539" y="1512999"/>
              <a:ext cx="440690" cy="0"/>
            </a:xfrm>
            <a:custGeom>
              <a:avLst/>
              <a:gdLst/>
              <a:ahLst/>
              <a:cxnLst/>
              <a:rect l="l" t="t" r="r" b="b"/>
              <a:pathLst>
                <a:path w="440689">
                  <a:moveTo>
                    <a:pt x="440687" y="0"/>
                  </a:moveTo>
                  <a:lnTo>
                    <a:pt x="0" y="0"/>
                  </a:lnTo>
                </a:path>
              </a:pathLst>
            </a:custGeom>
            <a:ln w="5270">
              <a:solidFill>
                <a:srgbClr val="231F20"/>
              </a:solidFill>
            </a:ln>
          </p:spPr>
          <p:txBody>
            <a:bodyPr wrap="square" lIns="0" tIns="0" rIns="0" bIns="0" rtlCol="0"/>
            <a:lstStyle/>
            <a:p>
              <a:endParaRPr/>
            </a:p>
          </p:txBody>
        </p:sp>
        <p:pic>
          <p:nvPicPr>
            <p:cNvPr id="38" name="object 38"/>
            <p:cNvPicPr/>
            <p:nvPr/>
          </p:nvPicPr>
          <p:blipFill>
            <a:blip r:embed="rId10" cstate="print"/>
            <a:stretch>
              <a:fillRect/>
            </a:stretch>
          </p:blipFill>
          <p:spPr>
            <a:xfrm>
              <a:off x="3015239" y="1481124"/>
              <a:ext cx="74377" cy="63748"/>
            </a:xfrm>
            <a:prstGeom prst="rect">
              <a:avLst/>
            </a:prstGeom>
          </p:spPr>
        </p:pic>
        <p:sp>
          <p:nvSpPr>
            <p:cNvPr id="39" name="object 39"/>
            <p:cNvSpPr/>
            <p:nvPr/>
          </p:nvSpPr>
          <p:spPr>
            <a:xfrm>
              <a:off x="1901919" y="1512999"/>
              <a:ext cx="410845" cy="0"/>
            </a:xfrm>
            <a:custGeom>
              <a:avLst/>
              <a:gdLst/>
              <a:ahLst/>
              <a:cxnLst/>
              <a:rect l="l" t="t" r="r" b="b"/>
              <a:pathLst>
                <a:path w="410844">
                  <a:moveTo>
                    <a:pt x="410814" y="0"/>
                  </a:moveTo>
                  <a:lnTo>
                    <a:pt x="0" y="0"/>
                  </a:lnTo>
                </a:path>
              </a:pathLst>
            </a:custGeom>
            <a:ln w="5270">
              <a:solidFill>
                <a:srgbClr val="231F20"/>
              </a:solidFill>
            </a:ln>
          </p:spPr>
          <p:txBody>
            <a:bodyPr wrap="square" lIns="0" tIns="0" rIns="0" bIns="0" rtlCol="0"/>
            <a:lstStyle/>
            <a:p>
              <a:endParaRPr/>
            </a:p>
          </p:txBody>
        </p:sp>
        <p:pic>
          <p:nvPicPr>
            <p:cNvPr id="40" name="object 40"/>
            <p:cNvPicPr/>
            <p:nvPr/>
          </p:nvPicPr>
          <p:blipFill>
            <a:blip r:embed="rId11" cstate="print"/>
            <a:stretch>
              <a:fillRect/>
            </a:stretch>
          </p:blipFill>
          <p:spPr>
            <a:xfrm>
              <a:off x="1864530" y="1481124"/>
              <a:ext cx="74377" cy="63748"/>
            </a:xfrm>
            <a:prstGeom prst="rect">
              <a:avLst/>
            </a:prstGeom>
          </p:spPr>
        </p:pic>
        <p:sp>
          <p:nvSpPr>
            <p:cNvPr id="41" name="object 41"/>
            <p:cNvSpPr/>
            <p:nvPr/>
          </p:nvSpPr>
          <p:spPr>
            <a:xfrm>
              <a:off x="998015" y="1012544"/>
              <a:ext cx="0" cy="351155"/>
            </a:xfrm>
            <a:custGeom>
              <a:avLst/>
              <a:gdLst/>
              <a:ahLst/>
              <a:cxnLst/>
              <a:rect l="l" t="t" r="r" b="b"/>
              <a:pathLst>
                <a:path h="351155">
                  <a:moveTo>
                    <a:pt x="0" y="351046"/>
                  </a:moveTo>
                  <a:lnTo>
                    <a:pt x="0" y="0"/>
                  </a:lnTo>
                </a:path>
              </a:pathLst>
            </a:custGeom>
            <a:ln w="5270">
              <a:solidFill>
                <a:srgbClr val="231F20"/>
              </a:solidFill>
            </a:ln>
          </p:spPr>
          <p:txBody>
            <a:bodyPr wrap="square" lIns="0" tIns="0" rIns="0" bIns="0" rtlCol="0"/>
            <a:lstStyle/>
            <a:p>
              <a:endParaRPr/>
            </a:p>
          </p:txBody>
        </p:sp>
        <p:pic>
          <p:nvPicPr>
            <p:cNvPr id="42" name="object 42"/>
            <p:cNvPicPr/>
            <p:nvPr/>
          </p:nvPicPr>
          <p:blipFill>
            <a:blip r:embed="rId12" cstate="print"/>
            <a:stretch>
              <a:fillRect/>
            </a:stretch>
          </p:blipFill>
          <p:spPr>
            <a:xfrm>
              <a:off x="966133" y="975156"/>
              <a:ext cx="63751" cy="74377"/>
            </a:xfrm>
            <a:prstGeom prst="rect">
              <a:avLst/>
            </a:prstGeom>
          </p:spPr>
        </p:pic>
        <p:sp>
          <p:nvSpPr>
            <p:cNvPr id="43" name="object 43"/>
            <p:cNvSpPr/>
            <p:nvPr/>
          </p:nvSpPr>
          <p:spPr>
            <a:xfrm>
              <a:off x="2492015" y="1014157"/>
              <a:ext cx="0" cy="351155"/>
            </a:xfrm>
            <a:custGeom>
              <a:avLst/>
              <a:gdLst/>
              <a:ahLst/>
              <a:cxnLst/>
              <a:rect l="l" t="t" r="r" b="b"/>
              <a:pathLst>
                <a:path h="351155">
                  <a:moveTo>
                    <a:pt x="0" y="351078"/>
                  </a:moveTo>
                  <a:lnTo>
                    <a:pt x="0" y="0"/>
                  </a:lnTo>
                </a:path>
              </a:pathLst>
            </a:custGeom>
            <a:ln w="5270">
              <a:solidFill>
                <a:srgbClr val="231F20"/>
              </a:solidFill>
            </a:ln>
          </p:spPr>
          <p:txBody>
            <a:bodyPr wrap="square" lIns="0" tIns="0" rIns="0" bIns="0" rtlCol="0"/>
            <a:lstStyle/>
            <a:p>
              <a:endParaRPr/>
            </a:p>
          </p:txBody>
        </p:sp>
        <p:pic>
          <p:nvPicPr>
            <p:cNvPr id="44" name="object 44"/>
            <p:cNvPicPr/>
            <p:nvPr/>
          </p:nvPicPr>
          <p:blipFill>
            <a:blip r:embed="rId12" cstate="print"/>
            <a:stretch>
              <a:fillRect/>
            </a:stretch>
          </p:blipFill>
          <p:spPr>
            <a:xfrm>
              <a:off x="2460139" y="976789"/>
              <a:ext cx="63751" cy="74377"/>
            </a:xfrm>
            <a:prstGeom prst="rect">
              <a:avLst/>
            </a:prstGeom>
          </p:spPr>
        </p:pic>
      </p:grpSp>
      <p:sp>
        <p:nvSpPr>
          <p:cNvPr id="45" name="object 45"/>
          <p:cNvSpPr txBox="1"/>
          <p:nvPr/>
        </p:nvSpPr>
        <p:spPr>
          <a:xfrm>
            <a:off x="776154" y="2073331"/>
            <a:ext cx="1310005" cy="503555"/>
          </a:xfrm>
          <a:prstGeom prst="rect">
            <a:avLst/>
          </a:prstGeom>
        </p:spPr>
        <p:txBody>
          <a:bodyPr vert="horz" wrap="square" lIns="0" tIns="13970" rIns="0" bIns="0" rtlCol="0">
            <a:spAutoFit/>
          </a:bodyPr>
          <a:lstStyle/>
          <a:p>
            <a:pPr marL="12700">
              <a:lnSpc>
                <a:spcPts val="760"/>
              </a:lnSpc>
              <a:spcBef>
                <a:spcPts val="110"/>
              </a:spcBef>
            </a:pPr>
            <a:r>
              <a:rPr sz="650" spc="5" dirty="0">
                <a:solidFill>
                  <a:srgbClr val="231F20"/>
                </a:solidFill>
                <a:latin typeface="Arial"/>
                <a:cs typeface="Arial"/>
              </a:rPr>
              <a:t>W1.</a:t>
            </a:r>
            <a:r>
              <a:rPr sz="650" spc="-20" dirty="0">
                <a:solidFill>
                  <a:srgbClr val="231F20"/>
                </a:solidFill>
                <a:latin typeface="Arial"/>
                <a:cs typeface="Arial"/>
              </a:rPr>
              <a:t> </a:t>
            </a:r>
            <a:r>
              <a:rPr sz="650" dirty="0">
                <a:solidFill>
                  <a:srgbClr val="231F20"/>
                </a:solidFill>
                <a:latin typeface="Arial"/>
                <a:cs typeface="Arial"/>
              </a:rPr>
              <a:t>Write</a:t>
            </a:r>
            <a:r>
              <a:rPr sz="650" spc="-20" dirty="0">
                <a:solidFill>
                  <a:srgbClr val="231F20"/>
                </a:solidFill>
                <a:latin typeface="Arial"/>
                <a:cs typeface="Arial"/>
              </a:rPr>
              <a:t> </a:t>
            </a:r>
            <a:r>
              <a:rPr sz="650" spc="5" dirty="0">
                <a:solidFill>
                  <a:srgbClr val="231F20"/>
                </a:solidFill>
                <a:latin typeface="Arial"/>
                <a:cs typeface="Arial"/>
              </a:rPr>
              <a:t>request</a:t>
            </a:r>
            <a:endParaRPr sz="650">
              <a:latin typeface="Arial"/>
              <a:cs typeface="Arial"/>
            </a:endParaRPr>
          </a:p>
          <a:p>
            <a:pPr marL="12700" marR="5080">
              <a:lnSpc>
                <a:spcPts val="740"/>
              </a:lnSpc>
              <a:spcBef>
                <a:spcPts val="40"/>
              </a:spcBef>
            </a:pPr>
            <a:r>
              <a:rPr sz="650" spc="5" dirty="0">
                <a:solidFill>
                  <a:srgbClr val="231F20"/>
                </a:solidFill>
                <a:latin typeface="Arial"/>
                <a:cs typeface="Arial"/>
              </a:rPr>
              <a:t>W2. Move item x to new primary </a:t>
            </a:r>
            <a:r>
              <a:rPr sz="650" spc="10" dirty="0">
                <a:solidFill>
                  <a:srgbClr val="231F20"/>
                </a:solidFill>
                <a:latin typeface="Arial"/>
                <a:cs typeface="Arial"/>
              </a:rPr>
              <a:t> </a:t>
            </a:r>
            <a:r>
              <a:rPr sz="650" spc="5" dirty="0">
                <a:solidFill>
                  <a:srgbClr val="231F20"/>
                </a:solidFill>
                <a:latin typeface="Arial"/>
                <a:cs typeface="Arial"/>
              </a:rPr>
              <a:t>W3.</a:t>
            </a:r>
            <a:r>
              <a:rPr sz="650" spc="-35" dirty="0">
                <a:solidFill>
                  <a:srgbClr val="231F20"/>
                </a:solidFill>
                <a:latin typeface="Arial"/>
                <a:cs typeface="Arial"/>
              </a:rPr>
              <a:t> </a:t>
            </a:r>
            <a:r>
              <a:rPr sz="650" spc="5" dirty="0">
                <a:solidFill>
                  <a:srgbClr val="231F20"/>
                </a:solidFill>
                <a:latin typeface="Arial"/>
                <a:cs typeface="Arial"/>
              </a:rPr>
              <a:t>Acknowledge</a:t>
            </a:r>
            <a:r>
              <a:rPr sz="650" dirty="0">
                <a:solidFill>
                  <a:srgbClr val="231F20"/>
                </a:solidFill>
                <a:latin typeface="Arial"/>
                <a:cs typeface="Arial"/>
              </a:rPr>
              <a:t> </a:t>
            </a:r>
            <a:r>
              <a:rPr sz="650" spc="5" dirty="0">
                <a:solidFill>
                  <a:srgbClr val="231F20"/>
                </a:solidFill>
                <a:latin typeface="Arial"/>
                <a:cs typeface="Arial"/>
              </a:rPr>
              <a:t>write</a:t>
            </a:r>
            <a:r>
              <a:rPr sz="650" dirty="0">
                <a:solidFill>
                  <a:srgbClr val="231F20"/>
                </a:solidFill>
                <a:latin typeface="Arial"/>
                <a:cs typeface="Arial"/>
              </a:rPr>
              <a:t> </a:t>
            </a:r>
            <a:r>
              <a:rPr sz="650" spc="5" dirty="0">
                <a:solidFill>
                  <a:srgbClr val="231F20"/>
                </a:solidFill>
                <a:latin typeface="Arial"/>
                <a:cs typeface="Arial"/>
              </a:rPr>
              <a:t>completed  W4.</a:t>
            </a:r>
            <a:r>
              <a:rPr sz="650" spc="-15" dirty="0">
                <a:solidFill>
                  <a:srgbClr val="231F20"/>
                </a:solidFill>
                <a:latin typeface="Arial"/>
                <a:cs typeface="Arial"/>
              </a:rPr>
              <a:t> Tell</a:t>
            </a:r>
            <a:r>
              <a:rPr sz="650" spc="-5" dirty="0">
                <a:solidFill>
                  <a:srgbClr val="231F20"/>
                </a:solidFill>
                <a:latin typeface="Arial"/>
                <a:cs typeface="Arial"/>
              </a:rPr>
              <a:t> </a:t>
            </a:r>
            <a:r>
              <a:rPr sz="650" spc="5" dirty="0">
                <a:solidFill>
                  <a:srgbClr val="231F20"/>
                </a:solidFill>
                <a:latin typeface="Arial"/>
                <a:cs typeface="Arial"/>
              </a:rPr>
              <a:t>backups</a:t>
            </a:r>
            <a:r>
              <a:rPr sz="650" dirty="0">
                <a:solidFill>
                  <a:srgbClr val="231F20"/>
                </a:solidFill>
                <a:latin typeface="Arial"/>
                <a:cs typeface="Arial"/>
              </a:rPr>
              <a:t> </a:t>
            </a:r>
            <a:r>
              <a:rPr sz="650" spc="5" dirty="0">
                <a:solidFill>
                  <a:srgbClr val="231F20"/>
                </a:solidFill>
                <a:latin typeface="Arial"/>
                <a:cs typeface="Arial"/>
              </a:rPr>
              <a:t>to</a:t>
            </a:r>
            <a:r>
              <a:rPr sz="650" spc="-5" dirty="0">
                <a:solidFill>
                  <a:srgbClr val="231F20"/>
                </a:solidFill>
                <a:latin typeface="Arial"/>
                <a:cs typeface="Arial"/>
              </a:rPr>
              <a:t> </a:t>
            </a:r>
            <a:r>
              <a:rPr sz="650" spc="5" dirty="0">
                <a:solidFill>
                  <a:srgbClr val="231F20"/>
                </a:solidFill>
                <a:latin typeface="Arial"/>
                <a:cs typeface="Arial"/>
              </a:rPr>
              <a:t>update</a:t>
            </a:r>
            <a:endParaRPr sz="650">
              <a:latin typeface="Arial"/>
              <a:cs typeface="Arial"/>
            </a:endParaRPr>
          </a:p>
          <a:p>
            <a:pPr marL="12700">
              <a:lnSpc>
                <a:spcPts val="725"/>
              </a:lnSpc>
            </a:pPr>
            <a:r>
              <a:rPr sz="650" spc="5" dirty="0">
                <a:solidFill>
                  <a:srgbClr val="231F20"/>
                </a:solidFill>
                <a:latin typeface="Arial"/>
                <a:cs typeface="Arial"/>
              </a:rPr>
              <a:t>W5.</a:t>
            </a:r>
            <a:r>
              <a:rPr sz="650" spc="-35" dirty="0">
                <a:solidFill>
                  <a:srgbClr val="231F20"/>
                </a:solidFill>
                <a:latin typeface="Arial"/>
                <a:cs typeface="Arial"/>
              </a:rPr>
              <a:t> </a:t>
            </a:r>
            <a:r>
              <a:rPr sz="650" spc="5" dirty="0">
                <a:solidFill>
                  <a:srgbClr val="231F20"/>
                </a:solidFill>
                <a:latin typeface="Arial"/>
                <a:cs typeface="Arial"/>
              </a:rPr>
              <a:t>Acknowledge</a:t>
            </a:r>
            <a:r>
              <a:rPr sz="650" dirty="0">
                <a:solidFill>
                  <a:srgbClr val="231F20"/>
                </a:solidFill>
                <a:latin typeface="Arial"/>
                <a:cs typeface="Arial"/>
              </a:rPr>
              <a:t> </a:t>
            </a:r>
            <a:r>
              <a:rPr sz="650" spc="5" dirty="0">
                <a:solidFill>
                  <a:srgbClr val="231F20"/>
                </a:solidFill>
                <a:latin typeface="Arial"/>
                <a:cs typeface="Arial"/>
              </a:rPr>
              <a:t>update</a:t>
            </a:r>
            <a:endParaRPr sz="650">
              <a:latin typeface="Arial"/>
              <a:cs typeface="Arial"/>
            </a:endParaRPr>
          </a:p>
        </p:txBody>
      </p:sp>
      <p:sp>
        <p:nvSpPr>
          <p:cNvPr id="46" name="object 46"/>
          <p:cNvSpPr txBox="1"/>
          <p:nvPr/>
        </p:nvSpPr>
        <p:spPr>
          <a:xfrm>
            <a:off x="1792077" y="1684891"/>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W2</a:t>
            </a:r>
            <a:endParaRPr sz="650">
              <a:latin typeface="Arial"/>
              <a:cs typeface="Arial"/>
            </a:endParaRPr>
          </a:p>
        </p:txBody>
      </p:sp>
      <p:sp>
        <p:nvSpPr>
          <p:cNvPr id="47" name="object 47"/>
          <p:cNvSpPr txBox="1"/>
          <p:nvPr/>
        </p:nvSpPr>
        <p:spPr>
          <a:xfrm>
            <a:off x="2778118" y="1505612"/>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W4</a:t>
            </a:r>
            <a:endParaRPr sz="650">
              <a:latin typeface="Arial"/>
              <a:cs typeface="Arial"/>
            </a:endParaRPr>
          </a:p>
        </p:txBody>
      </p:sp>
      <p:sp>
        <p:nvSpPr>
          <p:cNvPr id="48" name="object 48"/>
          <p:cNvSpPr txBox="1"/>
          <p:nvPr/>
        </p:nvSpPr>
        <p:spPr>
          <a:xfrm>
            <a:off x="2031115" y="1505612"/>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W4</a:t>
            </a:r>
            <a:endParaRPr sz="650">
              <a:latin typeface="Arial"/>
              <a:cs typeface="Arial"/>
            </a:endParaRPr>
          </a:p>
        </p:txBody>
      </p:sp>
      <p:sp>
        <p:nvSpPr>
          <p:cNvPr id="49" name="object 49"/>
          <p:cNvSpPr txBox="1"/>
          <p:nvPr/>
        </p:nvSpPr>
        <p:spPr>
          <a:xfrm>
            <a:off x="1373756" y="1744646"/>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W4</a:t>
            </a:r>
            <a:endParaRPr sz="650">
              <a:latin typeface="Arial"/>
              <a:cs typeface="Arial"/>
            </a:endParaRPr>
          </a:p>
        </p:txBody>
      </p:sp>
      <p:sp>
        <p:nvSpPr>
          <p:cNvPr id="50" name="object 50"/>
          <p:cNvSpPr txBox="1"/>
          <p:nvPr/>
        </p:nvSpPr>
        <p:spPr>
          <a:xfrm>
            <a:off x="806032" y="1087291"/>
            <a:ext cx="3429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R1  </a:t>
            </a:r>
            <a:r>
              <a:rPr sz="650" spc="170" dirty="0">
                <a:solidFill>
                  <a:srgbClr val="231F20"/>
                </a:solidFill>
                <a:latin typeface="Arial"/>
                <a:cs typeface="Arial"/>
              </a:rPr>
              <a:t> </a:t>
            </a:r>
            <a:r>
              <a:rPr sz="650" spc="5" dirty="0">
                <a:solidFill>
                  <a:srgbClr val="231F20"/>
                </a:solidFill>
                <a:latin typeface="Arial"/>
                <a:cs typeface="Arial"/>
              </a:rPr>
              <a:t>R2</a:t>
            </a:r>
            <a:endParaRPr sz="650">
              <a:latin typeface="Arial"/>
              <a:cs typeface="Arial"/>
            </a:endParaRPr>
          </a:p>
        </p:txBody>
      </p:sp>
      <p:sp>
        <p:nvSpPr>
          <p:cNvPr id="51" name="object 51"/>
          <p:cNvSpPr txBox="1"/>
          <p:nvPr/>
        </p:nvSpPr>
        <p:spPr>
          <a:xfrm>
            <a:off x="2598835" y="2073328"/>
            <a:ext cx="845819" cy="220979"/>
          </a:xfrm>
          <a:prstGeom prst="rect">
            <a:avLst/>
          </a:prstGeom>
        </p:spPr>
        <p:txBody>
          <a:bodyPr vert="horz" wrap="square" lIns="0" tIns="13970" rIns="0" bIns="0" rtlCol="0">
            <a:spAutoFit/>
          </a:bodyPr>
          <a:lstStyle/>
          <a:p>
            <a:pPr marL="12700">
              <a:lnSpc>
                <a:spcPts val="760"/>
              </a:lnSpc>
              <a:spcBef>
                <a:spcPts val="110"/>
              </a:spcBef>
            </a:pPr>
            <a:r>
              <a:rPr sz="650" spc="5" dirty="0">
                <a:solidFill>
                  <a:srgbClr val="231F20"/>
                </a:solidFill>
                <a:latin typeface="Arial"/>
                <a:cs typeface="Arial"/>
              </a:rPr>
              <a:t>R1.</a:t>
            </a:r>
            <a:r>
              <a:rPr sz="650" spc="-25" dirty="0">
                <a:solidFill>
                  <a:srgbClr val="231F20"/>
                </a:solidFill>
                <a:latin typeface="Arial"/>
                <a:cs typeface="Arial"/>
              </a:rPr>
              <a:t> </a:t>
            </a:r>
            <a:r>
              <a:rPr sz="650" spc="5" dirty="0">
                <a:solidFill>
                  <a:srgbClr val="231F20"/>
                </a:solidFill>
                <a:latin typeface="Arial"/>
                <a:cs typeface="Arial"/>
              </a:rPr>
              <a:t>Read</a:t>
            </a:r>
            <a:r>
              <a:rPr sz="650" spc="-20" dirty="0">
                <a:solidFill>
                  <a:srgbClr val="231F20"/>
                </a:solidFill>
                <a:latin typeface="Arial"/>
                <a:cs typeface="Arial"/>
              </a:rPr>
              <a:t> </a:t>
            </a:r>
            <a:r>
              <a:rPr sz="650" spc="5" dirty="0">
                <a:solidFill>
                  <a:srgbClr val="231F20"/>
                </a:solidFill>
                <a:latin typeface="Arial"/>
                <a:cs typeface="Arial"/>
              </a:rPr>
              <a:t>request</a:t>
            </a:r>
            <a:endParaRPr sz="650">
              <a:latin typeface="Arial"/>
              <a:cs typeface="Arial"/>
            </a:endParaRPr>
          </a:p>
          <a:p>
            <a:pPr marL="12700">
              <a:lnSpc>
                <a:spcPts val="760"/>
              </a:lnSpc>
            </a:pPr>
            <a:r>
              <a:rPr sz="650" spc="5" dirty="0">
                <a:solidFill>
                  <a:srgbClr val="231F20"/>
                </a:solidFill>
                <a:latin typeface="Arial"/>
                <a:cs typeface="Arial"/>
              </a:rPr>
              <a:t>R2.</a:t>
            </a:r>
            <a:r>
              <a:rPr sz="650" spc="-20" dirty="0">
                <a:solidFill>
                  <a:srgbClr val="231F20"/>
                </a:solidFill>
                <a:latin typeface="Arial"/>
                <a:cs typeface="Arial"/>
              </a:rPr>
              <a:t> </a:t>
            </a:r>
            <a:r>
              <a:rPr sz="650" spc="5" dirty="0">
                <a:solidFill>
                  <a:srgbClr val="231F20"/>
                </a:solidFill>
                <a:latin typeface="Arial"/>
                <a:cs typeface="Arial"/>
              </a:rPr>
              <a:t>Response</a:t>
            </a:r>
            <a:r>
              <a:rPr sz="650" spc="-15" dirty="0">
                <a:solidFill>
                  <a:srgbClr val="231F20"/>
                </a:solidFill>
                <a:latin typeface="Arial"/>
                <a:cs typeface="Arial"/>
              </a:rPr>
              <a:t> </a:t>
            </a:r>
            <a:r>
              <a:rPr sz="650" spc="5" dirty="0">
                <a:solidFill>
                  <a:srgbClr val="231F20"/>
                </a:solidFill>
                <a:latin typeface="Arial"/>
                <a:cs typeface="Arial"/>
              </a:rPr>
              <a:t>to</a:t>
            </a:r>
            <a:r>
              <a:rPr sz="650" spc="-20" dirty="0">
                <a:solidFill>
                  <a:srgbClr val="231F20"/>
                </a:solidFill>
                <a:latin typeface="Arial"/>
                <a:cs typeface="Arial"/>
              </a:rPr>
              <a:t> </a:t>
            </a:r>
            <a:r>
              <a:rPr sz="650" spc="5" dirty="0">
                <a:solidFill>
                  <a:srgbClr val="231F20"/>
                </a:solidFill>
                <a:latin typeface="Arial"/>
                <a:cs typeface="Arial"/>
              </a:rPr>
              <a:t>read</a:t>
            </a:r>
            <a:endParaRPr sz="650">
              <a:latin typeface="Arial"/>
              <a:cs typeface="Arial"/>
            </a:endParaRPr>
          </a:p>
        </p:txBody>
      </p:sp>
      <p:sp>
        <p:nvSpPr>
          <p:cNvPr id="52" name="object 52"/>
          <p:cNvSpPr txBox="1"/>
          <p:nvPr/>
        </p:nvSpPr>
        <p:spPr>
          <a:xfrm>
            <a:off x="2270154" y="1087297"/>
            <a:ext cx="39116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W1    </a:t>
            </a:r>
            <a:r>
              <a:rPr sz="650" spc="-20" dirty="0">
                <a:solidFill>
                  <a:srgbClr val="231F20"/>
                </a:solidFill>
                <a:latin typeface="Arial"/>
                <a:cs typeface="Arial"/>
              </a:rPr>
              <a:t> </a:t>
            </a:r>
            <a:r>
              <a:rPr sz="650" spc="10" dirty="0">
                <a:solidFill>
                  <a:srgbClr val="231F20"/>
                </a:solidFill>
                <a:latin typeface="Arial"/>
                <a:cs typeface="Arial"/>
              </a:rPr>
              <a:t>W3</a:t>
            </a:r>
            <a:endParaRPr sz="650">
              <a:latin typeface="Arial"/>
              <a:cs typeface="Arial"/>
            </a:endParaRPr>
          </a:p>
        </p:txBody>
      </p:sp>
      <p:sp>
        <p:nvSpPr>
          <p:cNvPr id="53" name="object 53"/>
          <p:cNvSpPr txBox="1"/>
          <p:nvPr/>
        </p:nvSpPr>
        <p:spPr>
          <a:xfrm>
            <a:off x="1824423" y="818378"/>
            <a:ext cx="499109" cy="220979"/>
          </a:xfrm>
          <a:prstGeom prst="rect">
            <a:avLst/>
          </a:prstGeom>
        </p:spPr>
        <p:txBody>
          <a:bodyPr vert="horz" wrap="square" lIns="0" tIns="21590" rIns="0" bIns="0" rtlCol="0">
            <a:spAutoFit/>
          </a:bodyPr>
          <a:lstStyle/>
          <a:p>
            <a:pPr marL="75565" marR="5080" indent="-63500">
              <a:lnSpc>
                <a:spcPts val="740"/>
              </a:lnSpc>
              <a:spcBef>
                <a:spcPts val="170"/>
              </a:spcBef>
            </a:pPr>
            <a:r>
              <a:rPr sz="650" spc="5" dirty="0">
                <a:solidFill>
                  <a:srgbClr val="231F20"/>
                </a:solidFill>
                <a:latin typeface="Arial"/>
                <a:cs typeface="Arial"/>
              </a:rPr>
              <a:t>New primary  for</a:t>
            </a:r>
            <a:r>
              <a:rPr sz="650" spc="-20" dirty="0">
                <a:solidFill>
                  <a:srgbClr val="231F20"/>
                </a:solidFill>
                <a:latin typeface="Arial"/>
                <a:cs typeface="Arial"/>
              </a:rPr>
              <a:t> </a:t>
            </a:r>
            <a:r>
              <a:rPr sz="650" spc="5" dirty="0">
                <a:solidFill>
                  <a:srgbClr val="231F20"/>
                </a:solidFill>
                <a:latin typeface="Arial"/>
                <a:cs typeface="Arial"/>
              </a:rPr>
              <a:t>item</a:t>
            </a:r>
            <a:r>
              <a:rPr sz="650" spc="-20" dirty="0">
                <a:solidFill>
                  <a:srgbClr val="231F20"/>
                </a:solidFill>
                <a:latin typeface="Arial"/>
                <a:cs typeface="Arial"/>
              </a:rPr>
              <a:t> </a:t>
            </a:r>
            <a:r>
              <a:rPr sz="650" spc="5" dirty="0">
                <a:solidFill>
                  <a:srgbClr val="231F20"/>
                </a:solidFill>
                <a:latin typeface="Arial"/>
                <a:cs typeface="Arial"/>
              </a:rPr>
              <a:t>x</a:t>
            </a:r>
            <a:endParaRPr sz="650">
              <a:latin typeface="Arial"/>
              <a:cs typeface="Arial"/>
            </a:endParaRPr>
          </a:p>
        </p:txBody>
      </p:sp>
      <p:sp>
        <p:nvSpPr>
          <p:cNvPr id="54" name="object 54"/>
          <p:cNvSpPr txBox="1"/>
          <p:nvPr/>
        </p:nvSpPr>
        <p:spPr>
          <a:xfrm>
            <a:off x="2001235" y="1296454"/>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W5</a:t>
            </a:r>
            <a:endParaRPr sz="650">
              <a:latin typeface="Arial"/>
              <a:cs typeface="Arial"/>
            </a:endParaRPr>
          </a:p>
        </p:txBody>
      </p:sp>
      <p:sp>
        <p:nvSpPr>
          <p:cNvPr id="55" name="object 55"/>
          <p:cNvSpPr txBox="1"/>
          <p:nvPr/>
        </p:nvSpPr>
        <p:spPr>
          <a:xfrm>
            <a:off x="2777881" y="1296454"/>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W5</a:t>
            </a:r>
            <a:endParaRPr sz="650">
              <a:latin typeface="Arial"/>
              <a:cs typeface="Arial"/>
            </a:endParaRPr>
          </a:p>
        </p:txBody>
      </p:sp>
      <p:grpSp>
        <p:nvGrpSpPr>
          <p:cNvPr id="56" name="object 56"/>
          <p:cNvGrpSpPr/>
          <p:nvPr/>
        </p:nvGrpSpPr>
        <p:grpSpPr>
          <a:xfrm>
            <a:off x="935399" y="1569900"/>
            <a:ext cx="1588770" cy="364490"/>
            <a:chOff x="935399" y="1569900"/>
            <a:chExt cx="1588770" cy="364490"/>
          </a:xfrm>
        </p:grpSpPr>
        <p:sp>
          <p:nvSpPr>
            <p:cNvPr id="57" name="object 57"/>
            <p:cNvSpPr/>
            <p:nvPr/>
          </p:nvSpPr>
          <p:spPr>
            <a:xfrm>
              <a:off x="938256" y="1572757"/>
              <a:ext cx="1553845" cy="358775"/>
            </a:xfrm>
            <a:custGeom>
              <a:avLst/>
              <a:gdLst/>
              <a:ahLst/>
              <a:cxnLst/>
              <a:rect l="l" t="t" r="r" b="b"/>
              <a:pathLst>
                <a:path w="1553845" h="358775">
                  <a:moveTo>
                    <a:pt x="0" y="0"/>
                  </a:moveTo>
                  <a:lnTo>
                    <a:pt x="0" y="239037"/>
                  </a:lnTo>
                  <a:lnTo>
                    <a:pt x="6068" y="295530"/>
                  </a:lnTo>
                  <a:lnTo>
                    <a:pt x="26141" y="332412"/>
                  </a:lnTo>
                  <a:lnTo>
                    <a:pt x="63022" y="352485"/>
                  </a:lnTo>
                  <a:lnTo>
                    <a:pt x="119512" y="358554"/>
                  </a:lnTo>
                  <a:lnTo>
                    <a:pt x="1434234" y="358554"/>
                  </a:lnTo>
                  <a:lnTo>
                    <a:pt x="1490727" y="352485"/>
                  </a:lnTo>
                  <a:lnTo>
                    <a:pt x="1527612" y="332412"/>
                  </a:lnTo>
                  <a:lnTo>
                    <a:pt x="1547689" y="295530"/>
                  </a:lnTo>
                  <a:lnTo>
                    <a:pt x="1553759" y="239037"/>
                  </a:lnTo>
                  <a:lnTo>
                    <a:pt x="1553759" y="37379"/>
                  </a:lnTo>
                </a:path>
              </a:pathLst>
            </a:custGeom>
            <a:ln w="5270">
              <a:solidFill>
                <a:srgbClr val="231F20"/>
              </a:solidFill>
            </a:ln>
          </p:spPr>
          <p:txBody>
            <a:bodyPr wrap="square" lIns="0" tIns="0" rIns="0" bIns="0" rtlCol="0"/>
            <a:lstStyle/>
            <a:p>
              <a:endParaRPr/>
            </a:p>
          </p:txBody>
        </p:sp>
        <p:pic>
          <p:nvPicPr>
            <p:cNvPr id="58" name="object 58"/>
            <p:cNvPicPr/>
            <p:nvPr/>
          </p:nvPicPr>
          <p:blipFill>
            <a:blip r:embed="rId13" cstate="print"/>
            <a:stretch>
              <a:fillRect/>
            </a:stretch>
          </p:blipFill>
          <p:spPr>
            <a:xfrm>
              <a:off x="2460139" y="1572758"/>
              <a:ext cx="63751" cy="74379"/>
            </a:xfrm>
            <a:prstGeom prst="rect">
              <a:avLst/>
            </a:prstGeom>
          </p:spPr>
        </p:pic>
        <p:sp>
          <p:nvSpPr>
            <p:cNvPr id="59" name="object 59"/>
            <p:cNvSpPr/>
            <p:nvPr/>
          </p:nvSpPr>
          <p:spPr>
            <a:xfrm>
              <a:off x="998015" y="1572757"/>
              <a:ext cx="1434465" cy="299085"/>
            </a:xfrm>
            <a:custGeom>
              <a:avLst/>
              <a:gdLst/>
              <a:ahLst/>
              <a:cxnLst/>
              <a:rect l="l" t="t" r="r" b="b"/>
              <a:pathLst>
                <a:path w="1434464" h="299085">
                  <a:moveTo>
                    <a:pt x="1434243" y="0"/>
                  </a:moveTo>
                  <a:lnTo>
                    <a:pt x="1434243" y="179279"/>
                  </a:lnTo>
                  <a:lnTo>
                    <a:pt x="1428173" y="235769"/>
                  </a:lnTo>
                  <a:lnTo>
                    <a:pt x="1408096" y="272652"/>
                  </a:lnTo>
                  <a:lnTo>
                    <a:pt x="1371211" y="292729"/>
                  </a:lnTo>
                  <a:lnTo>
                    <a:pt x="1314718" y="298799"/>
                  </a:lnTo>
                  <a:lnTo>
                    <a:pt x="119517" y="298799"/>
                  </a:lnTo>
                  <a:lnTo>
                    <a:pt x="63027" y="292729"/>
                  </a:lnTo>
                  <a:lnTo>
                    <a:pt x="26145" y="272652"/>
                  </a:lnTo>
                  <a:lnTo>
                    <a:pt x="6069" y="235769"/>
                  </a:lnTo>
                  <a:lnTo>
                    <a:pt x="0" y="179279"/>
                  </a:lnTo>
                  <a:lnTo>
                    <a:pt x="0" y="37379"/>
                  </a:lnTo>
                </a:path>
              </a:pathLst>
            </a:custGeom>
            <a:ln w="5270">
              <a:solidFill>
                <a:srgbClr val="231F20"/>
              </a:solidFill>
            </a:ln>
          </p:spPr>
          <p:txBody>
            <a:bodyPr wrap="square" lIns="0" tIns="0" rIns="0" bIns="0" rtlCol="0"/>
            <a:lstStyle/>
            <a:p>
              <a:endParaRPr/>
            </a:p>
          </p:txBody>
        </p:sp>
        <p:pic>
          <p:nvPicPr>
            <p:cNvPr id="60" name="object 60"/>
            <p:cNvPicPr/>
            <p:nvPr/>
          </p:nvPicPr>
          <p:blipFill>
            <a:blip r:embed="rId13" cstate="print"/>
            <a:stretch>
              <a:fillRect/>
            </a:stretch>
          </p:blipFill>
          <p:spPr>
            <a:xfrm>
              <a:off x="966133" y="1572758"/>
              <a:ext cx="63751" cy="74379"/>
            </a:xfrm>
            <a:prstGeom prst="rect">
              <a:avLst/>
            </a:prstGeom>
          </p:spPr>
        </p:pic>
      </p:grpSp>
      <p:sp>
        <p:nvSpPr>
          <p:cNvPr id="61" name="object 61"/>
          <p:cNvSpPr txBox="1"/>
          <p:nvPr/>
        </p:nvSpPr>
        <p:spPr>
          <a:xfrm>
            <a:off x="776154" y="1684895"/>
            <a:ext cx="15240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W5</a:t>
            </a:r>
            <a:endParaRPr sz="650">
              <a:latin typeface="Arial"/>
              <a:cs typeface="Arial"/>
            </a:endParaRPr>
          </a:p>
        </p:txBody>
      </p:sp>
      <p:sp>
        <p:nvSpPr>
          <p:cNvPr id="62" name="object 62"/>
          <p:cNvSpPr/>
          <p:nvPr/>
        </p:nvSpPr>
        <p:spPr>
          <a:xfrm>
            <a:off x="2073696" y="1064807"/>
            <a:ext cx="281940" cy="314325"/>
          </a:xfrm>
          <a:custGeom>
            <a:avLst/>
            <a:gdLst/>
            <a:ahLst/>
            <a:cxnLst/>
            <a:rect l="l" t="t" r="r" b="b"/>
            <a:pathLst>
              <a:path w="281939" h="314325">
                <a:moveTo>
                  <a:pt x="0" y="0"/>
                </a:moveTo>
                <a:lnTo>
                  <a:pt x="281708" y="314153"/>
                </a:lnTo>
              </a:path>
            </a:pathLst>
          </a:custGeom>
          <a:ln w="5270">
            <a:solidFill>
              <a:srgbClr val="231F20"/>
            </a:solidFill>
          </a:ln>
        </p:spPr>
        <p:txBody>
          <a:bodyPr wrap="square" lIns="0" tIns="0" rIns="0" bIns="0" rtlCol="0"/>
          <a:lstStyle/>
          <a:p>
            <a:endParaRPr/>
          </a:p>
        </p:txBody>
      </p:sp>
      <p:sp>
        <p:nvSpPr>
          <p:cNvPr id="63" name="object 63"/>
          <p:cNvSpPr txBox="1"/>
          <p:nvPr/>
        </p:nvSpPr>
        <p:spPr>
          <a:xfrm>
            <a:off x="347294" y="2679087"/>
            <a:ext cx="3914775" cy="563245"/>
          </a:xfrm>
          <a:prstGeom prst="rect">
            <a:avLst/>
          </a:prstGeom>
        </p:spPr>
        <p:txBody>
          <a:bodyPr vert="horz" wrap="square" lIns="0" tIns="40005" rIns="0" bIns="0" rtlCol="0">
            <a:spAutoFit/>
          </a:bodyPr>
          <a:lstStyle/>
          <a:p>
            <a:pPr marL="12700">
              <a:lnSpc>
                <a:spcPct val="100000"/>
              </a:lnSpc>
              <a:spcBef>
                <a:spcPts val="315"/>
              </a:spcBef>
            </a:pPr>
            <a:r>
              <a:rPr sz="1200" spc="-5" dirty="0">
                <a:solidFill>
                  <a:srgbClr val="007C00"/>
                </a:solidFill>
                <a:latin typeface="Arial"/>
                <a:cs typeface="Arial"/>
              </a:rPr>
              <a:t>Example</a:t>
            </a:r>
            <a:r>
              <a:rPr sz="1200" dirty="0">
                <a:solidFill>
                  <a:srgbClr val="007C00"/>
                </a:solidFill>
                <a:latin typeface="Arial"/>
                <a:cs typeface="Arial"/>
              </a:rPr>
              <a:t> </a:t>
            </a:r>
            <a:r>
              <a:rPr sz="1200" spc="-5" dirty="0">
                <a:solidFill>
                  <a:srgbClr val="007C00"/>
                </a:solidFill>
                <a:latin typeface="Arial"/>
                <a:cs typeface="Arial"/>
              </a:rPr>
              <a:t>primary-backup</a:t>
            </a:r>
            <a:r>
              <a:rPr sz="1200" dirty="0">
                <a:solidFill>
                  <a:srgbClr val="007C00"/>
                </a:solidFill>
                <a:latin typeface="Arial"/>
                <a:cs typeface="Arial"/>
              </a:rPr>
              <a:t> </a:t>
            </a:r>
            <a:r>
              <a:rPr sz="1200" spc="-5" dirty="0">
                <a:solidFill>
                  <a:srgbClr val="007C00"/>
                </a:solidFill>
                <a:latin typeface="Arial"/>
                <a:cs typeface="Arial"/>
              </a:rPr>
              <a:t>protocol</a:t>
            </a:r>
            <a:r>
              <a:rPr sz="1200" dirty="0">
                <a:solidFill>
                  <a:srgbClr val="007C00"/>
                </a:solidFill>
                <a:latin typeface="Arial"/>
                <a:cs typeface="Arial"/>
              </a:rPr>
              <a:t> </a:t>
            </a:r>
            <a:r>
              <a:rPr sz="1200" spc="-5" dirty="0">
                <a:solidFill>
                  <a:srgbClr val="007C00"/>
                </a:solidFill>
                <a:latin typeface="Arial"/>
                <a:cs typeface="Arial"/>
              </a:rPr>
              <a:t>with</a:t>
            </a:r>
            <a:r>
              <a:rPr sz="1200" dirty="0">
                <a:solidFill>
                  <a:srgbClr val="007C00"/>
                </a:solidFill>
                <a:latin typeface="Arial"/>
                <a:cs typeface="Arial"/>
              </a:rPr>
              <a:t> </a:t>
            </a:r>
            <a:r>
              <a:rPr sz="1200" spc="-5" dirty="0">
                <a:solidFill>
                  <a:srgbClr val="007C00"/>
                </a:solidFill>
                <a:latin typeface="Arial"/>
                <a:cs typeface="Arial"/>
              </a:rPr>
              <a:t>local</a:t>
            </a:r>
            <a:r>
              <a:rPr sz="1200" dirty="0">
                <a:solidFill>
                  <a:srgbClr val="007C00"/>
                </a:solidFill>
                <a:latin typeface="Arial"/>
                <a:cs typeface="Arial"/>
              </a:rPr>
              <a:t> writes</a:t>
            </a:r>
            <a:endParaRPr sz="1200">
              <a:latin typeface="Arial"/>
              <a:cs typeface="Arial"/>
            </a:endParaRPr>
          </a:p>
          <a:p>
            <a:pPr marL="12700" marR="5080">
              <a:lnSpc>
                <a:spcPct val="100000"/>
              </a:lnSpc>
              <a:spcBef>
                <a:spcPts val="180"/>
              </a:spcBef>
            </a:pPr>
            <a:r>
              <a:rPr sz="1000" spc="-5" dirty="0">
                <a:latin typeface="Arial"/>
                <a:cs typeface="Arial"/>
              </a:rPr>
              <a:t>Mobile</a:t>
            </a:r>
            <a:r>
              <a:rPr sz="1000" dirty="0">
                <a:latin typeface="Arial"/>
                <a:cs typeface="Arial"/>
              </a:rPr>
              <a:t> </a:t>
            </a:r>
            <a:r>
              <a:rPr sz="1000" spc="-5" dirty="0">
                <a:latin typeface="Arial"/>
                <a:cs typeface="Arial"/>
              </a:rPr>
              <a:t>computing</a:t>
            </a:r>
            <a:r>
              <a:rPr sz="1000"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disconnected</a:t>
            </a:r>
            <a:r>
              <a:rPr sz="1000" dirty="0">
                <a:latin typeface="Arial"/>
                <a:cs typeface="Arial"/>
              </a:rPr>
              <a:t> </a:t>
            </a:r>
            <a:r>
              <a:rPr sz="1000" spc="-5" dirty="0">
                <a:latin typeface="Arial"/>
                <a:cs typeface="Arial"/>
              </a:rPr>
              <a:t>mode</a:t>
            </a:r>
            <a:r>
              <a:rPr sz="1000" spc="5" dirty="0">
                <a:latin typeface="Arial"/>
                <a:cs typeface="Arial"/>
              </a:rPr>
              <a:t> </a:t>
            </a:r>
            <a:r>
              <a:rPr sz="1000" spc="-5" dirty="0">
                <a:latin typeface="Arial"/>
                <a:cs typeface="Arial"/>
              </a:rPr>
              <a:t>(ship</a:t>
            </a:r>
            <a:r>
              <a:rPr sz="1000" dirty="0">
                <a:latin typeface="Arial"/>
                <a:cs typeface="Arial"/>
              </a:rPr>
              <a:t> </a:t>
            </a:r>
            <a:r>
              <a:rPr sz="1000" spc="-5" dirty="0">
                <a:latin typeface="Arial"/>
                <a:cs typeface="Arial"/>
              </a:rPr>
              <a:t>all</a:t>
            </a:r>
            <a:r>
              <a:rPr sz="1000" spc="5" dirty="0">
                <a:latin typeface="Arial"/>
                <a:cs typeface="Arial"/>
              </a:rPr>
              <a:t> </a:t>
            </a:r>
            <a:r>
              <a:rPr sz="1000" spc="-10" dirty="0">
                <a:latin typeface="Arial"/>
                <a:cs typeface="Arial"/>
              </a:rPr>
              <a:t>relevant</a:t>
            </a:r>
            <a:r>
              <a:rPr sz="1000" dirty="0">
                <a:latin typeface="Arial"/>
                <a:cs typeface="Arial"/>
              </a:rPr>
              <a:t> </a:t>
            </a:r>
            <a:r>
              <a:rPr sz="1000" spc="-5" dirty="0">
                <a:latin typeface="Arial"/>
                <a:cs typeface="Arial"/>
              </a:rPr>
              <a:t>files</a:t>
            </a:r>
            <a:r>
              <a:rPr sz="1000" spc="5"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user </a:t>
            </a:r>
            <a:r>
              <a:rPr sz="1000" spc="-260" dirty="0">
                <a:latin typeface="Arial"/>
                <a:cs typeface="Arial"/>
              </a:rPr>
              <a:t> </a:t>
            </a:r>
            <a:r>
              <a:rPr sz="1000" spc="-10" dirty="0">
                <a:latin typeface="Arial"/>
                <a:cs typeface="Arial"/>
              </a:rPr>
              <a:t>before</a:t>
            </a:r>
            <a:r>
              <a:rPr sz="1000" spc="-5" dirty="0">
                <a:latin typeface="Arial"/>
                <a:cs typeface="Arial"/>
              </a:rPr>
              <a:t> disconnecting, and update later on).</a:t>
            </a:r>
            <a:endParaRPr sz="1000">
              <a:latin typeface="Arial"/>
              <a:cs typeface="Arial"/>
            </a:endParaRPr>
          </a:p>
        </p:txBody>
      </p:sp>
      <p:sp>
        <p:nvSpPr>
          <p:cNvPr id="64" name="object 64"/>
          <p:cNvSpPr txBox="1"/>
          <p:nvPr/>
        </p:nvSpPr>
        <p:spPr>
          <a:xfrm>
            <a:off x="66713" y="3331252"/>
            <a:ext cx="7226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4" action="ppaction://hlinksldjump"/>
              </a:rPr>
              <a:t>Local-write</a:t>
            </a:r>
            <a:r>
              <a:rPr sz="600" spc="-15" dirty="0">
                <a:solidFill>
                  <a:srgbClr val="3333B2"/>
                </a:solidFill>
                <a:latin typeface="Arial"/>
                <a:cs typeface="Arial"/>
                <a:hlinkClick r:id="rId14" action="ppaction://hlinksldjump"/>
              </a:rPr>
              <a:t> </a:t>
            </a:r>
            <a:r>
              <a:rPr sz="600" spc="-5" dirty="0">
                <a:solidFill>
                  <a:srgbClr val="3333B2"/>
                </a:solidFill>
                <a:latin typeface="Arial"/>
                <a:cs typeface="Arial"/>
                <a:hlinkClick r:id="rId14" action="ppaction://hlinksldjump"/>
              </a:rPr>
              <a:t>protocols</a:t>
            </a:r>
            <a:endParaRPr sz="600">
              <a:latin typeface="Arial"/>
              <a:cs typeface="Arial"/>
            </a:endParaRPr>
          </a:p>
        </p:txBody>
      </p:sp>
      <p:sp>
        <p:nvSpPr>
          <p:cNvPr id="65" name="object 6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763520" algn="l"/>
              </a:tabLst>
            </a:pPr>
            <a:r>
              <a:rPr sz="600" spc="-5" dirty="0">
                <a:solidFill>
                  <a:srgbClr val="3333B2"/>
                </a:solidFill>
                <a:latin typeface="Arial"/>
                <a:cs typeface="Arial"/>
                <a:hlinkClick r:id="rId3" action="ppaction://hlinksldjump"/>
              </a:rPr>
              <a:t>Consistency</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replication:</a:t>
            </a:r>
            <a:r>
              <a:rPr sz="600" spc="190" dirty="0">
                <a:solidFill>
                  <a:srgbClr val="3333B2"/>
                </a:solidFill>
                <a:latin typeface="Arial"/>
                <a:cs typeface="Arial"/>
              </a:rPr>
              <a:t> </a:t>
            </a:r>
            <a:r>
              <a:rPr sz="600" spc="-5" dirty="0">
                <a:solidFill>
                  <a:srgbClr val="3333B2"/>
                </a:solidFill>
                <a:latin typeface="Arial"/>
                <a:cs typeface="Arial"/>
                <a:hlinkClick r:id="rId4" action="ppaction://hlinksldjump"/>
              </a:rPr>
              <a:t>Consistency</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protocols</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Sequential</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consistency:</a:t>
            </a:r>
            <a:r>
              <a:rPr sz="600" spc="6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Replicated-write</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protocols</a:t>
            </a:r>
            <a:endParaRPr sz="600">
              <a:latin typeface="Arial"/>
              <a:cs typeface="Arial"/>
            </a:endParaRPr>
          </a:p>
        </p:txBody>
      </p:sp>
      <p:sp>
        <p:nvSpPr>
          <p:cNvPr id="3" name="object 3"/>
          <p:cNvSpPr txBox="1">
            <a:spLocks noGrp="1"/>
          </p:cNvSpPr>
          <p:nvPr>
            <p:ph type="title"/>
          </p:nvPr>
        </p:nvSpPr>
        <p:spPr>
          <a:xfrm>
            <a:off x="95300" y="188846"/>
            <a:ext cx="2124075" cy="244475"/>
          </a:xfrm>
          <a:prstGeom prst="rect">
            <a:avLst/>
          </a:prstGeom>
        </p:spPr>
        <p:txBody>
          <a:bodyPr vert="horz" wrap="square" lIns="0" tIns="17145" rIns="0" bIns="0" rtlCol="0">
            <a:spAutoFit/>
          </a:bodyPr>
          <a:lstStyle/>
          <a:p>
            <a:pPr marL="12700">
              <a:lnSpc>
                <a:spcPct val="100000"/>
              </a:lnSpc>
              <a:spcBef>
                <a:spcPts val="135"/>
              </a:spcBef>
            </a:pPr>
            <a:r>
              <a:rPr spc="15" dirty="0"/>
              <a:t>Replicated-write</a:t>
            </a:r>
            <a:r>
              <a:rPr spc="-65" dirty="0"/>
              <a:t> </a:t>
            </a:r>
            <a:r>
              <a:rPr spc="15" dirty="0"/>
              <a:t>protocols</a:t>
            </a:r>
          </a:p>
        </p:txBody>
      </p:sp>
      <p:grpSp>
        <p:nvGrpSpPr>
          <p:cNvPr id="4" name="object 4"/>
          <p:cNvGrpSpPr/>
          <p:nvPr/>
        </p:nvGrpSpPr>
        <p:grpSpPr>
          <a:xfrm>
            <a:off x="793518" y="2048723"/>
            <a:ext cx="901700" cy="662940"/>
            <a:chOff x="793518" y="2048723"/>
            <a:chExt cx="901700" cy="662940"/>
          </a:xfrm>
        </p:grpSpPr>
        <p:sp>
          <p:nvSpPr>
            <p:cNvPr id="5" name="object 5"/>
            <p:cNvSpPr/>
            <p:nvPr/>
          </p:nvSpPr>
          <p:spPr>
            <a:xfrm>
              <a:off x="796154" y="2051358"/>
              <a:ext cx="896619" cy="657860"/>
            </a:xfrm>
            <a:custGeom>
              <a:avLst/>
              <a:gdLst/>
              <a:ahLst/>
              <a:cxnLst/>
              <a:rect l="l" t="t" r="r" b="b"/>
              <a:pathLst>
                <a:path w="896619" h="657860">
                  <a:moveTo>
                    <a:pt x="0" y="328672"/>
                  </a:moveTo>
                  <a:lnTo>
                    <a:pt x="0" y="567715"/>
                  </a:lnTo>
                  <a:lnTo>
                    <a:pt x="5603" y="606930"/>
                  </a:lnTo>
                  <a:lnTo>
                    <a:pt x="22413" y="634941"/>
                  </a:lnTo>
                  <a:lnTo>
                    <a:pt x="50428" y="651748"/>
                  </a:lnTo>
                  <a:lnTo>
                    <a:pt x="89647" y="657350"/>
                  </a:lnTo>
                  <a:lnTo>
                    <a:pt x="806764" y="657350"/>
                  </a:lnTo>
                  <a:lnTo>
                    <a:pt x="845983" y="651748"/>
                  </a:lnTo>
                  <a:lnTo>
                    <a:pt x="873995" y="634941"/>
                  </a:lnTo>
                  <a:lnTo>
                    <a:pt x="890802" y="606930"/>
                  </a:lnTo>
                  <a:lnTo>
                    <a:pt x="896404" y="567715"/>
                  </a:lnTo>
                  <a:lnTo>
                    <a:pt x="896404" y="89639"/>
                  </a:lnTo>
                  <a:lnTo>
                    <a:pt x="890802" y="50420"/>
                  </a:lnTo>
                  <a:lnTo>
                    <a:pt x="873995" y="22408"/>
                  </a:lnTo>
                  <a:lnTo>
                    <a:pt x="845983" y="5601"/>
                  </a:lnTo>
                  <a:lnTo>
                    <a:pt x="806764" y="0"/>
                  </a:lnTo>
                  <a:lnTo>
                    <a:pt x="567727" y="0"/>
                  </a:lnTo>
                  <a:lnTo>
                    <a:pt x="528509" y="5601"/>
                  </a:lnTo>
                  <a:lnTo>
                    <a:pt x="483690" y="50420"/>
                  </a:lnTo>
                  <a:lnTo>
                    <a:pt x="478088" y="89639"/>
                  </a:lnTo>
                  <a:lnTo>
                    <a:pt x="478088" y="164336"/>
                  </a:lnTo>
                  <a:lnTo>
                    <a:pt x="472484" y="194916"/>
                  </a:lnTo>
                  <a:lnTo>
                    <a:pt x="455675" y="218492"/>
                  </a:lnTo>
                  <a:lnTo>
                    <a:pt x="427663" y="233664"/>
                  </a:lnTo>
                  <a:lnTo>
                    <a:pt x="388448" y="239032"/>
                  </a:lnTo>
                  <a:lnTo>
                    <a:pt x="89647" y="239032"/>
                  </a:lnTo>
                  <a:lnTo>
                    <a:pt x="50428" y="244636"/>
                  </a:lnTo>
                  <a:lnTo>
                    <a:pt x="22413" y="261445"/>
                  </a:lnTo>
                  <a:lnTo>
                    <a:pt x="5603" y="289457"/>
                  </a:lnTo>
                  <a:lnTo>
                    <a:pt x="0" y="328672"/>
                  </a:lnTo>
                  <a:close/>
                </a:path>
              </a:pathLst>
            </a:custGeom>
            <a:ln w="5270">
              <a:solidFill>
                <a:srgbClr val="231F20"/>
              </a:solidFill>
              <a:prstDash val="lgDash"/>
            </a:ln>
          </p:spPr>
          <p:txBody>
            <a:bodyPr wrap="square" lIns="0" tIns="0" rIns="0" bIns="0" rtlCol="0"/>
            <a:lstStyle/>
            <a:p>
              <a:endParaRPr/>
            </a:p>
          </p:txBody>
        </p:sp>
        <p:sp>
          <p:nvSpPr>
            <p:cNvPr id="6" name="object 6"/>
            <p:cNvSpPr/>
            <p:nvPr/>
          </p:nvSpPr>
          <p:spPr>
            <a:xfrm>
              <a:off x="796154" y="2081235"/>
              <a:ext cx="657860" cy="120014"/>
            </a:xfrm>
            <a:custGeom>
              <a:avLst/>
              <a:gdLst/>
              <a:ahLst/>
              <a:cxnLst/>
              <a:rect l="l" t="t" r="r" b="b"/>
              <a:pathLst>
                <a:path w="657860" h="120014">
                  <a:moveTo>
                    <a:pt x="597605" y="0"/>
                  </a:moveTo>
                  <a:lnTo>
                    <a:pt x="59762" y="0"/>
                  </a:lnTo>
                  <a:lnTo>
                    <a:pt x="36557" y="4715"/>
                  </a:lnTo>
                  <a:lnTo>
                    <a:pt x="17554" y="17554"/>
                  </a:lnTo>
                  <a:lnTo>
                    <a:pt x="4715" y="36557"/>
                  </a:lnTo>
                  <a:lnTo>
                    <a:pt x="0" y="59763"/>
                  </a:lnTo>
                  <a:lnTo>
                    <a:pt x="4715" y="82965"/>
                  </a:lnTo>
                  <a:lnTo>
                    <a:pt x="17554" y="101964"/>
                  </a:lnTo>
                  <a:lnTo>
                    <a:pt x="36557" y="114802"/>
                  </a:lnTo>
                  <a:lnTo>
                    <a:pt x="59762" y="119517"/>
                  </a:lnTo>
                  <a:lnTo>
                    <a:pt x="597605" y="119517"/>
                  </a:lnTo>
                  <a:lnTo>
                    <a:pt x="620806" y="114802"/>
                  </a:lnTo>
                  <a:lnTo>
                    <a:pt x="639806" y="101964"/>
                  </a:lnTo>
                  <a:lnTo>
                    <a:pt x="652644" y="82965"/>
                  </a:lnTo>
                  <a:lnTo>
                    <a:pt x="657358" y="59763"/>
                  </a:lnTo>
                  <a:lnTo>
                    <a:pt x="652644" y="36557"/>
                  </a:lnTo>
                  <a:lnTo>
                    <a:pt x="639806" y="17554"/>
                  </a:lnTo>
                  <a:lnTo>
                    <a:pt x="620806" y="4715"/>
                  </a:lnTo>
                  <a:lnTo>
                    <a:pt x="597605" y="0"/>
                  </a:lnTo>
                  <a:close/>
                </a:path>
              </a:pathLst>
            </a:custGeom>
            <a:solidFill>
              <a:srgbClr val="D1D3D4"/>
            </a:solidFill>
          </p:spPr>
          <p:txBody>
            <a:bodyPr wrap="square" lIns="0" tIns="0" rIns="0" bIns="0" rtlCol="0"/>
            <a:lstStyle/>
            <a:p>
              <a:endParaRPr/>
            </a:p>
          </p:txBody>
        </p:sp>
        <p:sp>
          <p:nvSpPr>
            <p:cNvPr id="7" name="object 7"/>
            <p:cNvSpPr/>
            <p:nvPr/>
          </p:nvSpPr>
          <p:spPr>
            <a:xfrm>
              <a:off x="796154" y="2081235"/>
              <a:ext cx="657860" cy="120014"/>
            </a:xfrm>
            <a:custGeom>
              <a:avLst/>
              <a:gdLst/>
              <a:ahLst/>
              <a:cxnLst/>
              <a:rect l="l" t="t" r="r" b="b"/>
              <a:pathLst>
                <a:path w="657860" h="120014">
                  <a:moveTo>
                    <a:pt x="59762" y="0"/>
                  </a:moveTo>
                  <a:lnTo>
                    <a:pt x="597605" y="0"/>
                  </a:lnTo>
                  <a:lnTo>
                    <a:pt x="620806" y="4715"/>
                  </a:lnTo>
                  <a:lnTo>
                    <a:pt x="639806" y="17554"/>
                  </a:lnTo>
                  <a:lnTo>
                    <a:pt x="652644" y="36557"/>
                  </a:lnTo>
                  <a:lnTo>
                    <a:pt x="657358" y="59763"/>
                  </a:lnTo>
                  <a:lnTo>
                    <a:pt x="652644" y="82965"/>
                  </a:lnTo>
                  <a:lnTo>
                    <a:pt x="639806" y="101964"/>
                  </a:lnTo>
                  <a:lnTo>
                    <a:pt x="620806" y="114802"/>
                  </a:lnTo>
                  <a:lnTo>
                    <a:pt x="597605" y="119517"/>
                  </a:lnTo>
                  <a:lnTo>
                    <a:pt x="59762" y="119517"/>
                  </a:lnTo>
                  <a:lnTo>
                    <a:pt x="36557" y="114802"/>
                  </a:lnTo>
                  <a:lnTo>
                    <a:pt x="17554" y="101964"/>
                  </a:lnTo>
                  <a:lnTo>
                    <a:pt x="4715" y="82965"/>
                  </a:lnTo>
                  <a:lnTo>
                    <a:pt x="0" y="59763"/>
                  </a:lnTo>
                  <a:lnTo>
                    <a:pt x="4715" y="36557"/>
                  </a:lnTo>
                  <a:lnTo>
                    <a:pt x="17554" y="17554"/>
                  </a:lnTo>
                  <a:lnTo>
                    <a:pt x="36557" y="4715"/>
                  </a:lnTo>
                  <a:lnTo>
                    <a:pt x="59762" y="0"/>
                  </a:lnTo>
                  <a:close/>
                </a:path>
              </a:pathLst>
            </a:custGeom>
            <a:ln w="5270">
              <a:solidFill>
                <a:srgbClr val="231F20"/>
              </a:solidFill>
            </a:ln>
          </p:spPr>
          <p:txBody>
            <a:bodyPr wrap="square" lIns="0" tIns="0" rIns="0" bIns="0" rtlCol="0"/>
            <a:lstStyle/>
            <a:p>
              <a:endParaRPr/>
            </a:p>
          </p:txBody>
        </p:sp>
      </p:grpSp>
      <p:grpSp>
        <p:nvGrpSpPr>
          <p:cNvPr id="8" name="object 8"/>
          <p:cNvGrpSpPr/>
          <p:nvPr/>
        </p:nvGrpSpPr>
        <p:grpSpPr>
          <a:xfrm>
            <a:off x="1856032" y="2048723"/>
            <a:ext cx="901700" cy="662940"/>
            <a:chOff x="1856032" y="2048723"/>
            <a:chExt cx="901700" cy="662940"/>
          </a:xfrm>
        </p:grpSpPr>
        <p:sp>
          <p:nvSpPr>
            <p:cNvPr id="9" name="object 9"/>
            <p:cNvSpPr/>
            <p:nvPr/>
          </p:nvSpPr>
          <p:spPr>
            <a:xfrm>
              <a:off x="1858667" y="2051358"/>
              <a:ext cx="896619" cy="657860"/>
            </a:xfrm>
            <a:custGeom>
              <a:avLst/>
              <a:gdLst/>
              <a:ahLst/>
              <a:cxnLst/>
              <a:rect l="l" t="t" r="r" b="b"/>
              <a:pathLst>
                <a:path w="896619" h="657860">
                  <a:moveTo>
                    <a:pt x="0" y="567715"/>
                  </a:moveTo>
                  <a:lnTo>
                    <a:pt x="5602" y="606930"/>
                  </a:lnTo>
                  <a:lnTo>
                    <a:pt x="22410" y="634941"/>
                  </a:lnTo>
                  <a:lnTo>
                    <a:pt x="50422" y="651748"/>
                  </a:lnTo>
                  <a:lnTo>
                    <a:pt x="89639" y="657350"/>
                  </a:lnTo>
                  <a:lnTo>
                    <a:pt x="806752" y="657350"/>
                  </a:lnTo>
                  <a:lnTo>
                    <a:pt x="845968" y="651748"/>
                  </a:lnTo>
                  <a:lnTo>
                    <a:pt x="873980" y="634941"/>
                  </a:lnTo>
                  <a:lnTo>
                    <a:pt x="890789" y="606930"/>
                  </a:lnTo>
                  <a:lnTo>
                    <a:pt x="896392" y="567715"/>
                  </a:lnTo>
                  <a:lnTo>
                    <a:pt x="896392" y="89639"/>
                  </a:lnTo>
                  <a:lnTo>
                    <a:pt x="890789" y="50420"/>
                  </a:lnTo>
                  <a:lnTo>
                    <a:pt x="873980" y="22408"/>
                  </a:lnTo>
                  <a:lnTo>
                    <a:pt x="845968" y="5601"/>
                  </a:lnTo>
                  <a:lnTo>
                    <a:pt x="806752" y="0"/>
                  </a:lnTo>
                  <a:lnTo>
                    <a:pt x="767536" y="5601"/>
                  </a:lnTo>
                  <a:lnTo>
                    <a:pt x="739523" y="22408"/>
                  </a:lnTo>
                  <a:lnTo>
                    <a:pt x="722716" y="50420"/>
                  </a:lnTo>
                  <a:lnTo>
                    <a:pt x="717113" y="89639"/>
                  </a:lnTo>
                  <a:lnTo>
                    <a:pt x="717113" y="403378"/>
                  </a:lnTo>
                  <a:lnTo>
                    <a:pt x="711511" y="433958"/>
                  </a:lnTo>
                  <a:lnTo>
                    <a:pt x="694704" y="457534"/>
                  </a:lnTo>
                  <a:lnTo>
                    <a:pt x="666692" y="472706"/>
                  </a:lnTo>
                  <a:lnTo>
                    <a:pt x="627473" y="478075"/>
                  </a:lnTo>
                  <a:lnTo>
                    <a:pt x="89639" y="478075"/>
                  </a:lnTo>
                  <a:lnTo>
                    <a:pt x="50422" y="483678"/>
                  </a:lnTo>
                  <a:lnTo>
                    <a:pt x="22410" y="500487"/>
                  </a:lnTo>
                  <a:lnTo>
                    <a:pt x="5602" y="528499"/>
                  </a:lnTo>
                  <a:lnTo>
                    <a:pt x="0" y="567715"/>
                  </a:lnTo>
                  <a:close/>
                </a:path>
              </a:pathLst>
            </a:custGeom>
            <a:ln w="5270">
              <a:solidFill>
                <a:srgbClr val="231F20"/>
              </a:solidFill>
              <a:prstDash val="lgDash"/>
            </a:ln>
          </p:spPr>
          <p:txBody>
            <a:bodyPr wrap="square" lIns="0" tIns="0" rIns="0" bIns="0" rtlCol="0"/>
            <a:lstStyle/>
            <a:p>
              <a:endParaRPr/>
            </a:p>
          </p:txBody>
        </p:sp>
        <p:sp>
          <p:nvSpPr>
            <p:cNvPr id="10" name="object 10"/>
            <p:cNvSpPr/>
            <p:nvPr/>
          </p:nvSpPr>
          <p:spPr>
            <a:xfrm>
              <a:off x="1858667" y="2051358"/>
              <a:ext cx="896619" cy="418465"/>
            </a:xfrm>
            <a:custGeom>
              <a:avLst/>
              <a:gdLst/>
              <a:ahLst/>
              <a:cxnLst/>
              <a:rect l="l" t="t" r="r" b="b"/>
              <a:pathLst>
                <a:path w="896619" h="418464">
                  <a:moveTo>
                    <a:pt x="567714" y="0"/>
                  </a:moveTo>
                  <a:lnTo>
                    <a:pt x="89639" y="0"/>
                  </a:lnTo>
                  <a:lnTo>
                    <a:pt x="50422" y="5601"/>
                  </a:lnTo>
                  <a:lnTo>
                    <a:pt x="22410" y="22408"/>
                  </a:lnTo>
                  <a:lnTo>
                    <a:pt x="5602" y="50420"/>
                  </a:lnTo>
                  <a:lnTo>
                    <a:pt x="0" y="89639"/>
                  </a:lnTo>
                  <a:lnTo>
                    <a:pt x="0" y="328672"/>
                  </a:lnTo>
                  <a:lnTo>
                    <a:pt x="5602" y="367891"/>
                  </a:lnTo>
                  <a:lnTo>
                    <a:pt x="22410" y="395903"/>
                  </a:lnTo>
                  <a:lnTo>
                    <a:pt x="50422" y="412710"/>
                  </a:lnTo>
                  <a:lnTo>
                    <a:pt x="89639" y="418312"/>
                  </a:lnTo>
                  <a:lnTo>
                    <a:pt x="806752" y="418312"/>
                  </a:lnTo>
                  <a:lnTo>
                    <a:pt x="845968" y="412710"/>
                  </a:lnTo>
                  <a:lnTo>
                    <a:pt x="873980" y="395903"/>
                  </a:lnTo>
                  <a:lnTo>
                    <a:pt x="890789" y="367891"/>
                  </a:lnTo>
                  <a:lnTo>
                    <a:pt x="896392" y="328672"/>
                  </a:lnTo>
                  <a:lnTo>
                    <a:pt x="890789" y="289457"/>
                  </a:lnTo>
                  <a:lnTo>
                    <a:pt x="873980" y="261445"/>
                  </a:lnTo>
                  <a:lnTo>
                    <a:pt x="845968" y="244636"/>
                  </a:lnTo>
                  <a:lnTo>
                    <a:pt x="806752" y="239032"/>
                  </a:lnTo>
                  <a:lnTo>
                    <a:pt x="732060" y="239032"/>
                  </a:lnTo>
                  <a:lnTo>
                    <a:pt x="701477" y="233430"/>
                  </a:lnTo>
                  <a:lnTo>
                    <a:pt x="677898" y="216624"/>
                  </a:lnTo>
                  <a:lnTo>
                    <a:pt x="662724" y="188612"/>
                  </a:lnTo>
                  <a:lnTo>
                    <a:pt x="657355" y="149393"/>
                  </a:lnTo>
                  <a:lnTo>
                    <a:pt x="657355" y="89639"/>
                  </a:lnTo>
                  <a:lnTo>
                    <a:pt x="651752" y="50420"/>
                  </a:lnTo>
                  <a:lnTo>
                    <a:pt x="634944" y="22408"/>
                  </a:lnTo>
                  <a:lnTo>
                    <a:pt x="606931" y="5601"/>
                  </a:lnTo>
                  <a:lnTo>
                    <a:pt x="567714" y="0"/>
                  </a:lnTo>
                  <a:close/>
                </a:path>
              </a:pathLst>
            </a:custGeom>
            <a:solidFill>
              <a:srgbClr val="D1D3D4"/>
            </a:solidFill>
          </p:spPr>
          <p:txBody>
            <a:bodyPr wrap="square" lIns="0" tIns="0" rIns="0" bIns="0" rtlCol="0"/>
            <a:lstStyle/>
            <a:p>
              <a:endParaRPr/>
            </a:p>
          </p:txBody>
        </p:sp>
        <p:sp>
          <p:nvSpPr>
            <p:cNvPr id="11" name="object 11"/>
            <p:cNvSpPr/>
            <p:nvPr/>
          </p:nvSpPr>
          <p:spPr>
            <a:xfrm>
              <a:off x="1858667" y="2051358"/>
              <a:ext cx="896619" cy="418465"/>
            </a:xfrm>
            <a:custGeom>
              <a:avLst/>
              <a:gdLst/>
              <a:ahLst/>
              <a:cxnLst/>
              <a:rect l="l" t="t" r="r" b="b"/>
              <a:pathLst>
                <a:path w="896619" h="418464">
                  <a:moveTo>
                    <a:pt x="567714" y="0"/>
                  </a:moveTo>
                  <a:lnTo>
                    <a:pt x="89639" y="0"/>
                  </a:lnTo>
                  <a:lnTo>
                    <a:pt x="50422" y="5601"/>
                  </a:lnTo>
                  <a:lnTo>
                    <a:pt x="22410" y="22408"/>
                  </a:lnTo>
                  <a:lnTo>
                    <a:pt x="5602" y="50420"/>
                  </a:lnTo>
                  <a:lnTo>
                    <a:pt x="0" y="89639"/>
                  </a:lnTo>
                  <a:lnTo>
                    <a:pt x="0" y="328672"/>
                  </a:lnTo>
                  <a:lnTo>
                    <a:pt x="5602" y="367891"/>
                  </a:lnTo>
                  <a:lnTo>
                    <a:pt x="22410" y="395903"/>
                  </a:lnTo>
                  <a:lnTo>
                    <a:pt x="50422" y="412710"/>
                  </a:lnTo>
                  <a:lnTo>
                    <a:pt x="89639" y="418312"/>
                  </a:lnTo>
                  <a:lnTo>
                    <a:pt x="806752" y="418312"/>
                  </a:lnTo>
                  <a:lnTo>
                    <a:pt x="845968" y="412710"/>
                  </a:lnTo>
                  <a:lnTo>
                    <a:pt x="873980" y="395903"/>
                  </a:lnTo>
                  <a:lnTo>
                    <a:pt x="890789" y="367891"/>
                  </a:lnTo>
                  <a:lnTo>
                    <a:pt x="896392" y="328672"/>
                  </a:lnTo>
                  <a:lnTo>
                    <a:pt x="890789" y="289457"/>
                  </a:lnTo>
                  <a:lnTo>
                    <a:pt x="873980" y="261445"/>
                  </a:lnTo>
                  <a:lnTo>
                    <a:pt x="845968" y="244636"/>
                  </a:lnTo>
                  <a:lnTo>
                    <a:pt x="806752" y="239032"/>
                  </a:lnTo>
                  <a:lnTo>
                    <a:pt x="732060" y="239032"/>
                  </a:lnTo>
                  <a:lnTo>
                    <a:pt x="701477" y="233430"/>
                  </a:lnTo>
                  <a:lnTo>
                    <a:pt x="677898" y="216624"/>
                  </a:lnTo>
                  <a:lnTo>
                    <a:pt x="662724" y="188612"/>
                  </a:lnTo>
                  <a:lnTo>
                    <a:pt x="657355" y="149393"/>
                  </a:lnTo>
                  <a:lnTo>
                    <a:pt x="657355" y="89639"/>
                  </a:lnTo>
                  <a:lnTo>
                    <a:pt x="651752" y="50420"/>
                  </a:lnTo>
                  <a:lnTo>
                    <a:pt x="634944" y="22408"/>
                  </a:lnTo>
                  <a:lnTo>
                    <a:pt x="606931" y="5601"/>
                  </a:lnTo>
                  <a:lnTo>
                    <a:pt x="567714" y="0"/>
                  </a:lnTo>
                  <a:close/>
                </a:path>
              </a:pathLst>
            </a:custGeom>
            <a:ln w="5270">
              <a:solidFill>
                <a:srgbClr val="231F20"/>
              </a:solidFill>
            </a:ln>
          </p:spPr>
          <p:txBody>
            <a:bodyPr wrap="square" lIns="0" tIns="0" rIns="0" bIns="0" rtlCol="0"/>
            <a:lstStyle/>
            <a:p>
              <a:endParaRPr/>
            </a:p>
          </p:txBody>
        </p:sp>
      </p:grpSp>
      <p:grpSp>
        <p:nvGrpSpPr>
          <p:cNvPr id="12" name="object 12"/>
          <p:cNvGrpSpPr/>
          <p:nvPr/>
        </p:nvGrpSpPr>
        <p:grpSpPr>
          <a:xfrm>
            <a:off x="2918549" y="2048723"/>
            <a:ext cx="901700" cy="662940"/>
            <a:chOff x="2918549" y="2048723"/>
            <a:chExt cx="901700" cy="662940"/>
          </a:xfrm>
        </p:grpSpPr>
        <p:sp>
          <p:nvSpPr>
            <p:cNvPr id="13" name="object 13"/>
            <p:cNvSpPr/>
            <p:nvPr/>
          </p:nvSpPr>
          <p:spPr>
            <a:xfrm>
              <a:off x="2921185" y="2051358"/>
              <a:ext cx="896619" cy="657860"/>
            </a:xfrm>
            <a:custGeom>
              <a:avLst/>
              <a:gdLst/>
              <a:ahLst/>
              <a:cxnLst/>
              <a:rect l="l" t="t" r="r" b="b"/>
              <a:pathLst>
                <a:path w="896620" h="657860">
                  <a:moveTo>
                    <a:pt x="0" y="89639"/>
                  </a:moveTo>
                  <a:lnTo>
                    <a:pt x="0" y="567715"/>
                  </a:lnTo>
                  <a:lnTo>
                    <a:pt x="5603" y="606930"/>
                  </a:lnTo>
                  <a:lnTo>
                    <a:pt x="22410" y="634941"/>
                  </a:lnTo>
                  <a:lnTo>
                    <a:pt x="50419" y="651748"/>
                  </a:lnTo>
                  <a:lnTo>
                    <a:pt x="89627" y="657350"/>
                  </a:lnTo>
                  <a:lnTo>
                    <a:pt x="806753" y="657350"/>
                  </a:lnTo>
                  <a:lnTo>
                    <a:pt x="845970" y="651748"/>
                  </a:lnTo>
                  <a:lnTo>
                    <a:pt x="873982" y="634941"/>
                  </a:lnTo>
                  <a:lnTo>
                    <a:pt x="890790" y="606930"/>
                  </a:lnTo>
                  <a:lnTo>
                    <a:pt x="896393" y="567715"/>
                  </a:lnTo>
                  <a:lnTo>
                    <a:pt x="896393" y="89639"/>
                  </a:lnTo>
                  <a:lnTo>
                    <a:pt x="890790" y="50420"/>
                  </a:lnTo>
                  <a:lnTo>
                    <a:pt x="873982" y="22408"/>
                  </a:lnTo>
                  <a:lnTo>
                    <a:pt x="845970" y="5601"/>
                  </a:lnTo>
                  <a:lnTo>
                    <a:pt x="806753" y="0"/>
                  </a:lnTo>
                  <a:lnTo>
                    <a:pt x="738071" y="0"/>
                  </a:lnTo>
                  <a:lnTo>
                    <a:pt x="678464" y="0"/>
                  </a:lnTo>
                  <a:lnTo>
                    <a:pt x="89627" y="0"/>
                  </a:lnTo>
                  <a:lnTo>
                    <a:pt x="50419" y="5601"/>
                  </a:lnTo>
                  <a:lnTo>
                    <a:pt x="22410" y="22408"/>
                  </a:lnTo>
                  <a:lnTo>
                    <a:pt x="5603" y="50420"/>
                  </a:lnTo>
                  <a:lnTo>
                    <a:pt x="0" y="89639"/>
                  </a:lnTo>
                  <a:close/>
                </a:path>
              </a:pathLst>
            </a:custGeom>
            <a:ln w="5270">
              <a:solidFill>
                <a:srgbClr val="231F20"/>
              </a:solidFill>
              <a:prstDash val="lgDash"/>
            </a:ln>
          </p:spPr>
          <p:txBody>
            <a:bodyPr wrap="square" lIns="0" tIns="0" rIns="0" bIns="0" rtlCol="0"/>
            <a:lstStyle/>
            <a:p>
              <a:endParaRPr/>
            </a:p>
          </p:txBody>
        </p:sp>
        <p:pic>
          <p:nvPicPr>
            <p:cNvPr id="14" name="object 14"/>
            <p:cNvPicPr/>
            <p:nvPr/>
          </p:nvPicPr>
          <p:blipFill>
            <a:blip r:embed="rId6" cstate="print"/>
            <a:stretch>
              <a:fillRect/>
            </a:stretch>
          </p:blipFill>
          <p:spPr>
            <a:xfrm>
              <a:off x="3181411" y="2317337"/>
              <a:ext cx="124783" cy="124795"/>
            </a:xfrm>
            <a:prstGeom prst="rect">
              <a:avLst/>
            </a:prstGeom>
          </p:spPr>
        </p:pic>
      </p:grpSp>
      <p:sp>
        <p:nvSpPr>
          <p:cNvPr id="15" name="object 15"/>
          <p:cNvSpPr txBox="1"/>
          <p:nvPr/>
        </p:nvSpPr>
        <p:spPr>
          <a:xfrm>
            <a:off x="329133" y="565708"/>
            <a:ext cx="3949700" cy="2292985"/>
          </a:xfrm>
          <a:prstGeom prst="rect">
            <a:avLst/>
          </a:prstGeom>
        </p:spPr>
        <p:txBody>
          <a:bodyPr vert="horz" wrap="square" lIns="0" tIns="39370" rIns="0" bIns="0" rtlCol="0">
            <a:spAutoFit/>
          </a:bodyPr>
          <a:lstStyle/>
          <a:p>
            <a:pPr marL="30480">
              <a:lnSpc>
                <a:spcPct val="100000"/>
              </a:lnSpc>
              <a:spcBef>
                <a:spcPts val="310"/>
              </a:spcBef>
            </a:pPr>
            <a:r>
              <a:rPr sz="1200" spc="-5" dirty="0">
                <a:solidFill>
                  <a:srgbClr val="3333B2"/>
                </a:solidFill>
                <a:latin typeface="Arial"/>
                <a:cs typeface="Arial"/>
              </a:rPr>
              <a:t>Quorum-based</a:t>
            </a:r>
            <a:r>
              <a:rPr sz="1200" spc="-20" dirty="0">
                <a:solidFill>
                  <a:srgbClr val="3333B2"/>
                </a:solidFill>
                <a:latin typeface="Arial"/>
                <a:cs typeface="Arial"/>
              </a:rPr>
              <a:t> </a:t>
            </a:r>
            <a:r>
              <a:rPr sz="1200" spc="-5" dirty="0">
                <a:solidFill>
                  <a:srgbClr val="3333B2"/>
                </a:solidFill>
                <a:latin typeface="Arial"/>
                <a:cs typeface="Arial"/>
              </a:rPr>
              <a:t>protocols</a:t>
            </a:r>
            <a:endParaRPr sz="1200">
              <a:latin typeface="Arial"/>
              <a:cs typeface="Arial"/>
            </a:endParaRPr>
          </a:p>
          <a:p>
            <a:pPr marL="27305" marR="20955" indent="2540">
              <a:lnSpc>
                <a:spcPct val="100000"/>
              </a:lnSpc>
              <a:spcBef>
                <a:spcPts val="175"/>
              </a:spcBef>
            </a:pPr>
            <a:r>
              <a:rPr sz="1000" spc="-5" dirty="0">
                <a:latin typeface="Arial"/>
                <a:cs typeface="Arial"/>
              </a:rPr>
              <a:t>Ensure that each </a:t>
            </a:r>
            <a:r>
              <a:rPr sz="1000" spc="-10" dirty="0">
                <a:latin typeface="Arial"/>
                <a:cs typeface="Arial"/>
              </a:rPr>
              <a:t>operation</a:t>
            </a:r>
            <a:r>
              <a:rPr sz="1000" dirty="0">
                <a:latin typeface="Arial"/>
                <a:cs typeface="Arial"/>
              </a:rPr>
              <a:t> </a:t>
            </a:r>
            <a:r>
              <a:rPr sz="1000" spc="-5" dirty="0">
                <a:latin typeface="Arial"/>
                <a:cs typeface="Arial"/>
              </a:rPr>
              <a:t>is carried out in</a:t>
            </a:r>
            <a:r>
              <a:rPr sz="1000" dirty="0">
                <a:latin typeface="Arial"/>
                <a:cs typeface="Arial"/>
              </a:rPr>
              <a:t> </a:t>
            </a:r>
            <a:r>
              <a:rPr sz="1000" spc="-5" dirty="0">
                <a:latin typeface="Arial"/>
                <a:cs typeface="Arial"/>
              </a:rPr>
              <a:t>such a </a:t>
            </a:r>
            <a:r>
              <a:rPr sz="1000" spc="-25" dirty="0">
                <a:latin typeface="Arial"/>
                <a:cs typeface="Arial"/>
              </a:rPr>
              <a:t>way</a:t>
            </a:r>
            <a:r>
              <a:rPr sz="1000" spc="-5" dirty="0">
                <a:latin typeface="Arial"/>
                <a:cs typeface="Arial"/>
              </a:rPr>
              <a:t> that</a:t>
            </a:r>
            <a:r>
              <a:rPr sz="1000" dirty="0">
                <a:latin typeface="Arial"/>
                <a:cs typeface="Arial"/>
              </a:rPr>
              <a:t> </a:t>
            </a:r>
            <a:r>
              <a:rPr sz="1000" spc="-5" dirty="0">
                <a:latin typeface="Arial"/>
                <a:cs typeface="Arial"/>
              </a:rPr>
              <a:t>a majority </a:t>
            </a:r>
            <a:r>
              <a:rPr sz="1000" spc="-265" dirty="0">
                <a:latin typeface="Arial"/>
                <a:cs typeface="Arial"/>
              </a:rPr>
              <a:t> </a:t>
            </a:r>
            <a:r>
              <a:rPr sz="1000" spc="-10" dirty="0">
                <a:latin typeface="Arial"/>
                <a:cs typeface="Arial"/>
              </a:rPr>
              <a:t>vote</a:t>
            </a:r>
            <a:r>
              <a:rPr sz="1000" spc="-5" dirty="0">
                <a:latin typeface="Arial"/>
                <a:cs typeface="Arial"/>
              </a:rPr>
              <a:t> is established:</a:t>
            </a:r>
            <a:r>
              <a:rPr sz="1000" spc="65" dirty="0">
                <a:latin typeface="Arial"/>
                <a:cs typeface="Arial"/>
              </a:rPr>
              <a:t> </a:t>
            </a:r>
            <a:r>
              <a:rPr sz="1000" spc="-5" dirty="0">
                <a:latin typeface="Arial"/>
                <a:cs typeface="Arial"/>
              </a:rPr>
              <a:t>distinguish </a:t>
            </a:r>
            <a:r>
              <a:rPr sz="1000" spc="-5" dirty="0">
                <a:solidFill>
                  <a:srgbClr val="0000FA"/>
                </a:solidFill>
                <a:latin typeface="Arial"/>
                <a:cs typeface="Arial"/>
              </a:rPr>
              <a:t>read</a:t>
            </a:r>
            <a:r>
              <a:rPr sz="1000" dirty="0">
                <a:solidFill>
                  <a:srgbClr val="0000FA"/>
                </a:solidFill>
                <a:latin typeface="Arial"/>
                <a:cs typeface="Arial"/>
              </a:rPr>
              <a:t> </a:t>
            </a:r>
            <a:r>
              <a:rPr sz="1000" spc="-5" dirty="0">
                <a:solidFill>
                  <a:srgbClr val="0000FA"/>
                </a:solidFill>
                <a:latin typeface="Arial"/>
                <a:cs typeface="Arial"/>
              </a:rPr>
              <a:t>quorum </a:t>
            </a:r>
            <a:r>
              <a:rPr sz="1000" spc="-5" dirty="0">
                <a:latin typeface="Arial"/>
                <a:cs typeface="Arial"/>
              </a:rPr>
              <a:t>and</a:t>
            </a:r>
            <a:r>
              <a:rPr sz="1000" dirty="0">
                <a:latin typeface="Arial"/>
                <a:cs typeface="Arial"/>
              </a:rPr>
              <a:t> </a:t>
            </a:r>
            <a:r>
              <a:rPr sz="1000" dirty="0">
                <a:solidFill>
                  <a:srgbClr val="0000FA"/>
                </a:solidFill>
                <a:latin typeface="Arial"/>
                <a:cs typeface="Arial"/>
              </a:rPr>
              <a:t>write</a:t>
            </a:r>
            <a:r>
              <a:rPr sz="1000" spc="-5" dirty="0">
                <a:solidFill>
                  <a:srgbClr val="0000FA"/>
                </a:solidFill>
                <a:latin typeface="Arial"/>
                <a:cs typeface="Arial"/>
              </a:rPr>
              <a:t> quorum</a:t>
            </a:r>
            <a:endParaRPr sz="1000">
              <a:latin typeface="Arial"/>
              <a:cs typeface="Arial"/>
            </a:endParaRPr>
          </a:p>
          <a:p>
            <a:pPr marL="25400" marR="17780" indent="635">
              <a:lnSpc>
                <a:spcPts val="1390"/>
              </a:lnSpc>
              <a:spcBef>
                <a:spcPts val="770"/>
              </a:spcBef>
            </a:pPr>
            <a:r>
              <a:rPr sz="1200" spc="-5" dirty="0">
                <a:solidFill>
                  <a:srgbClr val="3333B2"/>
                </a:solidFill>
                <a:latin typeface="Arial"/>
                <a:cs typeface="Arial"/>
              </a:rPr>
              <a:t>Three </a:t>
            </a:r>
            <a:r>
              <a:rPr sz="1200" spc="-10" dirty="0">
                <a:solidFill>
                  <a:srgbClr val="3333B2"/>
                </a:solidFill>
                <a:latin typeface="Arial"/>
                <a:cs typeface="Arial"/>
              </a:rPr>
              <a:t>examples</a:t>
            </a:r>
            <a:r>
              <a:rPr sz="1200" dirty="0">
                <a:solidFill>
                  <a:srgbClr val="3333B2"/>
                </a:solidFill>
                <a:latin typeface="Arial"/>
                <a:cs typeface="Arial"/>
              </a:rPr>
              <a:t> </a:t>
            </a:r>
            <a:r>
              <a:rPr sz="1200" spc="-5" dirty="0">
                <a:solidFill>
                  <a:srgbClr val="3333B2"/>
                </a:solidFill>
                <a:latin typeface="Arial"/>
                <a:cs typeface="Arial"/>
              </a:rPr>
              <a:t>of the</a:t>
            </a:r>
            <a:r>
              <a:rPr sz="1200" dirty="0">
                <a:solidFill>
                  <a:srgbClr val="3333B2"/>
                </a:solidFill>
                <a:latin typeface="Arial"/>
                <a:cs typeface="Arial"/>
              </a:rPr>
              <a:t> </a:t>
            </a:r>
            <a:r>
              <a:rPr sz="1200" spc="-10" dirty="0">
                <a:solidFill>
                  <a:srgbClr val="3333B2"/>
                </a:solidFill>
                <a:latin typeface="Arial"/>
                <a:cs typeface="Arial"/>
              </a:rPr>
              <a:t>voting</a:t>
            </a:r>
            <a:r>
              <a:rPr sz="1200" spc="-5" dirty="0">
                <a:solidFill>
                  <a:srgbClr val="3333B2"/>
                </a:solidFill>
                <a:latin typeface="Arial"/>
                <a:cs typeface="Arial"/>
              </a:rPr>
              <a:t> algorithm.</a:t>
            </a:r>
            <a:r>
              <a:rPr sz="1200" spc="80" dirty="0">
                <a:solidFill>
                  <a:srgbClr val="3333B2"/>
                </a:solidFill>
                <a:latin typeface="Arial"/>
                <a:cs typeface="Arial"/>
              </a:rPr>
              <a:t> </a:t>
            </a:r>
            <a:r>
              <a:rPr sz="1200" spc="-5" dirty="0">
                <a:solidFill>
                  <a:srgbClr val="3333B2"/>
                </a:solidFill>
                <a:latin typeface="Arial"/>
                <a:cs typeface="Arial"/>
              </a:rPr>
              <a:t>(a) A</a:t>
            </a:r>
            <a:r>
              <a:rPr sz="1200" dirty="0">
                <a:solidFill>
                  <a:srgbClr val="3333B2"/>
                </a:solidFill>
                <a:latin typeface="Arial"/>
                <a:cs typeface="Arial"/>
              </a:rPr>
              <a:t> </a:t>
            </a:r>
            <a:r>
              <a:rPr sz="1200" spc="-5" dirty="0">
                <a:solidFill>
                  <a:srgbClr val="3333B2"/>
                </a:solidFill>
                <a:latin typeface="Arial"/>
                <a:cs typeface="Arial"/>
              </a:rPr>
              <a:t>correct </a:t>
            </a:r>
            <a:r>
              <a:rPr sz="1200" dirty="0">
                <a:solidFill>
                  <a:srgbClr val="3333B2"/>
                </a:solidFill>
                <a:latin typeface="Arial"/>
                <a:cs typeface="Arial"/>
              </a:rPr>
              <a:t> </a:t>
            </a:r>
            <a:r>
              <a:rPr sz="1200" spc="-5" dirty="0">
                <a:solidFill>
                  <a:srgbClr val="3333B2"/>
                </a:solidFill>
                <a:latin typeface="Arial"/>
                <a:cs typeface="Arial"/>
              </a:rPr>
              <a:t>choice of read</a:t>
            </a:r>
            <a:r>
              <a:rPr sz="1200" dirty="0">
                <a:solidFill>
                  <a:srgbClr val="3333B2"/>
                </a:solidFill>
                <a:latin typeface="Arial"/>
                <a:cs typeface="Arial"/>
              </a:rPr>
              <a:t> </a:t>
            </a:r>
            <a:r>
              <a:rPr sz="1200" spc="-5" dirty="0">
                <a:solidFill>
                  <a:srgbClr val="3333B2"/>
                </a:solidFill>
                <a:latin typeface="Arial"/>
                <a:cs typeface="Arial"/>
              </a:rPr>
              <a:t>and </a:t>
            </a:r>
            <a:r>
              <a:rPr sz="1200" dirty="0">
                <a:solidFill>
                  <a:srgbClr val="3333B2"/>
                </a:solidFill>
                <a:latin typeface="Arial"/>
                <a:cs typeface="Arial"/>
              </a:rPr>
              <a:t>write </a:t>
            </a:r>
            <a:r>
              <a:rPr sz="1200" spc="-5" dirty="0">
                <a:solidFill>
                  <a:srgbClr val="3333B2"/>
                </a:solidFill>
                <a:latin typeface="Arial"/>
                <a:cs typeface="Arial"/>
              </a:rPr>
              <a:t>set.</a:t>
            </a:r>
            <a:r>
              <a:rPr sz="1200" spc="75" dirty="0">
                <a:solidFill>
                  <a:srgbClr val="3333B2"/>
                </a:solidFill>
                <a:latin typeface="Arial"/>
                <a:cs typeface="Arial"/>
              </a:rPr>
              <a:t> </a:t>
            </a:r>
            <a:r>
              <a:rPr sz="1200" spc="-5" dirty="0">
                <a:solidFill>
                  <a:srgbClr val="3333B2"/>
                </a:solidFill>
                <a:latin typeface="Arial"/>
                <a:cs typeface="Arial"/>
              </a:rPr>
              <a:t>(b)</a:t>
            </a:r>
            <a:r>
              <a:rPr sz="1200" dirty="0">
                <a:solidFill>
                  <a:srgbClr val="3333B2"/>
                </a:solidFill>
                <a:latin typeface="Arial"/>
                <a:cs typeface="Arial"/>
              </a:rPr>
              <a:t> </a:t>
            </a:r>
            <a:r>
              <a:rPr sz="1200" spc="-5" dirty="0">
                <a:solidFill>
                  <a:srgbClr val="3333B2"/>
                </a:solidFill>
                <a:latin typeface="Arial"/>
                <a:cs typeface="Arial"/>
              </a:rPr>
              <a:t>A choice that</a:t>
            </a:r>
            <a:r>
              <a:rPr sz="1200" dirty="0">
                <a:solidFill>
                  <a:srgbClr val="3333B2"/>
                </a:solidFill>
                <a:latin typeface="Arial"/>
                <a:cs typeface="Arial"/>
              </a:rPr>
              <a:t> </a:t>
            </a:r>
            <a:r>
              <a:rPr sz="1200" spc="-20" dirty="0">
                <a:solidFill>
                  <a:srgbClr val="3333B2"/>
                </a:solidFill>
                <a:latin typeface="Arial"/>
                <a:cs typeface="Arial"/>
              </a:rPr>
              <a:t>may</a:t>
            </a:r>
            <a:r>
              <a:rPr sz="1200" spc="-5" dirty="0">
                <a:solidFill>
                  <a:srgbClr val="3333B2"/>
                </a:solidFill>
                <a:latin typeface="Arial"/>
                <a:cs typeface="Arial"/>
              </a:rPr>
              <a:t> lead</a:t>
            </a:r>
            <a:r>
              <a:rPr sz="1200" dirty="0">
                <a:solidFill>
                  <a:srgbClr val="3333B2"/>
                </a:solidFill>
                <a:latin typeface="Arial"/>
                <a:cs typeface="Arial"/>
              </a:rPr>
              <a:t> </a:t>
            </a:r>
            <a:r>
              <a:rPr sz="1200" spc="-5" dirty="0">
                <a:solidFill>
                  <a:srgbClr val="3333B2"/>
                </a:solidFill>
                <a:latin typeface="Arial"/>
                <a:cs typeface="Arial"/>
              </a:rPr>
              <a:t>to </a:t>
            </a:r>
            <a:r>
              <a:rPr sz="1200" spc="-320" dirty="0">
                <a:solidFill>
                  <a:srgbClr val="3333B2"/>
                </a:solidFill>
                <a:latin typeface="Arial"/>
                <a:cs typeface="Arial"/>
              </a:rPr>
              <a:t> </a:t>
            </a:r>
            <a:r>
              <a:rPr sz="1200" spc="-5" dirty="0">
                <a:solidFill>
                  <a:srgbClr val="3333B2"/>
                </a:solidFill>
                <a:latin typeface="Arial"/>
                <a:cs typeface="Arial"/>
              </a:rPr>
              <a:t>write-write conflicts.</a:t>
            </a:r>
            <a:r>
              <a:rPr sz="1200" spc="80" dirty="0">
                <a:solidFill>
                  <a:srgbClr val="3333B2"/>
                </a:solidFill>
                <a:latin typeface="Arial"/>
                <a:cs typeface="Arial"/>
              </a:rPr>
              <a:t> </a:t>
            </a:r>
            <a:r>
              <a:rPr sz="1200" spc="-5" dirty="0">
                <a:solidFill>
                  <a:srgbClr val="3333B2"/>
                </a:solidFill>
                <a:latin typeface="Arial"/>
                <a:cs typeface="Arial"/>
              </a:rPr>
              <a:t>(c)</a:t>
            </a:r>
            <a:r>
              <a:rPr sz="1200" dirty="0">
                <a:solidFill>
                  <a:srgbClr val="3333B2"/>
                </a:solidFill>
                <a:latin typeface="Arial"/>
                <a:cs typeface="Arial"/>
              </a:rPr>
              <a:t> </a:t>
            </a:r>
            <a:r>
              <a:rPr sz="1200" spc="-5" dirty="0">
                <a:solidFill>
                  <a:srgbClr val="3333B2"/>
                </a:solidFill>
                <a:latin typeface="Arial"/>
                <a:cs typeface="Arial"/>
              </a:rPr>
              <a:t>A</a:t>
            </a:r>
            <a:r>
              <a:rPr sz="1200" dirty="0">
                <a:solidFill>
                  <a:srgbClr val="3333B2"/>
                </a:solidFill>
                <a:latin typeface="Arial"/>
                <a:cs typeface="Arial"/>
              </a:rPr>
              <a:t> </a:t>
            </a:r>
            <a:r>
              <a:rPr sz="1200" spc="-5" dirty="0">
                <a:solidFill>
                  <a:srgbClr val="3333B2"/>
                </a:solidFill>
                <a:latin typeface="Arial"/>
                <a:cs typeface="Arial"/>
              </a:rPr>
              <a:t>correct </a:t>
            </a:r>
            <a:r>
              <a:rPr sz="1200" spc="-10" dirty="0">
                <a:solidFill>
                  <a:srgbClr val="3333B2"/>
                </a:solidFill>
                <a:latin typeface="Arial"/>
                <a:cs typeface="Arial"/>
              </a:rPr>
              <a:t>choice,</a:t>
            </a:r>
            <a:r>
              <a:rPr sz="1200" dirty="0">
                <a:solidFill>
                  <a:srgbClr val="3333B2"/>
                </a:solidFill>
                <a:latin typeface="Arial"/>
                <a:cs typeface="Arial"/>
              </a:rPr>
              <a:t> </a:t>
            </a:r>
            <a:r>
              <a:rPr sz="1200" spc="-10" dirty="0">
                <a:solidFill>
                  <a:srgbClr val="3333B2"/>
                </a:solidFill>
                <a:latin typeface="Arial"/>
                <a:cs typeface="Arial"/>
              </a:rPr>
              <a:t>known</a:t>
            </a:r>
            <a:r>
              <a:rPr sz="1200" dirty="0">
                <a:solidFill>
                  <a:srgbClr val="3333B2"/>
                </a:solidFill>
                <a:latin typeface="Arial"/>
                <a:cs typeface="Arial"/>
              </a:rPr>
              <a:t> </a:t>
            </a:r>
            <a:r>
              <a:rPr sz="1200" spc="-5" dirty="0">
                <a:solidFill>
                  <a:srgbClr val="3333B2"/>
                </a:solidFill>
                <a:latin typeface="Arial"/>
                <a:cs typeface="Arial"/>
              </a:rPr>
              <a:t>as</a:t>
            </a:r>
            <a:r>
              <a:rPr sz="1200" dirty="0">
                <a:solidFill>
                  <a:srgbClr val="3333B2"/>
                </a:solidFill>
                <a:latin typeface="Arial"/>
                <a:cs typeface="Arial"/>
              </a:rPr>
              <a:t> </a:t>
            </a:r>
            <a:r>
              <a:rPr sz="1200" spc="-40" dirty="0">
                <a:solidFill>
                  <a:srgbClr val="3333B2"/>
                </a:solidFill>
                <a:latin typeface="Arial"/>
                <a:cs typeface="Arial"/>
              </a:rPr>
              <a:t>ROWA </a:t>
            </a:r>
            <a:r>
              <a:rPr sz="1200" spc="-320" dirty="0">
                <a:solidFill>
                  <a:srgbClr val="3333B2"/>
                </a:solidFill>
                <a:latin typeface="Arial"/>
                <a:cs typeface="Arial"/>
              </a:rPr>
              <a:t> </a:t>
            </a:r>
            <a:r>
              <a:rPr sz="1200" spc="-5" dirty="0">
                <a:solidFill>
                  <a:srgbClr val="3333B2"/>
                </a:solidFill>
                <a:latin typeface="Arial"/>
                <a:cs typeface="Arial"/>
              </a:rPr>
              <a:t>(read</a:t>
            </a:r>
            <a:r>
              <a:rPr sz="1200" spc="-10" dirty="0">
                <a:solidFill>
                  <a:srgbClr val="3333B2"/>
                </a:solidFill>
                <a:latin typeface="Arial"/>
                <a:cs typeface="Arial"/>
              </a:rPr>
              <a:t> one,</a:t>
            </a:r>
            <a:r>
              <a:rPr sz="1200" spc="-5" dirty="0">
                <a:solidFill>
                  <a:srgbClr val="3333B2"/>
                </a:solidFill>
                <a:latin typeface="Arial"/>
                <a:cs typeface="Arial"/>
              </a:rPr>
              <a:t> </a:t>
            </a:r>
            <a:r>
              <a:rPr sz="1200" dirty="0">
                <a:solidFill>
                  <a:srgbClr val="3333B2"/>
                </a:solidFill>
                <a:latin typeface="Arial"/>
                <a:cs typeface="Arial"/>
              </a:rPr>
              <a:t>write</a:t>
            </a:r>
            <a:r>
              <a:rPr sz="1200" spc="-5" dirty="0">
                <a:solidFill>
                  <a:srgbClr val="3333B2"/>
                </a:solidFill>
                <a:latin typeface="Arial"/>
                <a:cs typeface="Arial"/>
              </a:rPr>
              <a:t> all)</a:t>
            </a:r>
            <a:endParaRPr sz="1200">
              <a:latin typeface="Arial"/>
              <a:cs typeface="Arial"/>
            </a:endParaRPr>
          </a:p>
          <a:p>
            <a:pPr marL="526415" marR="511809" algn="just">
              <a:lnSpc>
                <a:spcPct val="214699"/>
              </a:lnSpc>
              <a:spcBef>
                <a:spcPts val="200"/>
              </a:spcBef>
              <a:tabLst>
                <a:tab pos="1588770" algn="l"/>
                <a:tab pos="2651125" algn="l"/>
              </a:tabLst>
            </a:pPr>
            <a:r>
              <a:rPr sz="650" spc="5" dirty="0">
                <a:solidFill>
                  <a:srgbClr val="231F20"/>
                </a:solidFill>
                <a:latin typeface="Arial"/>
                <a:cs typeface="Arial"/>
              </a:rPr>
              <a:t>A      </a:t>
            </a:r>
            <a:r>
              <a:rPr sz="650" spc="140" dirty="0">
                <a:solidFill>
                  <a:srgbClr val="231F20"/>
                </a:solidFill>
                <a:latin typeface="Arial"/>
                <a:cs typeface="Arial"/>
              </a:rPr>
              <a:t> </a:t>
            </a:r>
            <a:r>
              <a:rPr sz="650" spc="5" dirty="0">
                <a:solidFill>
                  <a:srgbClr val="231F20"/>
                </a:solidFill>
                <a:latin typeface="Arial"/>
                <a:cs typeface="Arial"/>
              </a:rPr>
              <a:t>B      </a:t>
            </a:r>
            <a:r>
              <a:rPr sz="650" spc="145" dirty="0">
                <a:solidFill>
                  <a:srgbClr val="231F20"/>
                </a:solidFill>
                <a:latin typeface="Arial"/>
                <a:cs typeface="Arial"/>
              </a:rPr>
              <a:t> </a:t>
            </a:r>
            <a:r>
              <a:rPr sz="750" b="1" spc="-5" dirty="0">
                <a:solidFill>
                  <a:srgbClr val="231F20"/>
                </a:solidFill>
                <a:latin typeface="Arial"/>
                <a:cs typeface="Arial"/>
              </a:rPr>
              <a:t>C</a:t>
            </a:r>
            <a:r>
              <a:rPr sz="750" b="1" spc="235" dirty="0">
                <a:solidFill>
                  <a:srgbClr val="231F20"/>
                </a:solidFill>
                <a:latin typeface="Arial"/>
                <a:cs typeface="Arial"/>
              </a:rPr>
              <a:t>  </a:t>
            </a:r>
            <a:r>
              <a:rPr sz="750" b="1" spc="240" dirty="0">
                <a:solidFill>
                  <a:srgbClr val="231F20"/>
                </a:solidFill>
                <a:latin typeface="Arial"/>
                <a:cs typeface="Arial"/>
              </a:rPr>
              <a:t> </a:t>
            </a:r>
            <a:r>
              <a:rPr sz="650" spc="10" dirty="0">
                <a:solidFill>
                  <a:srgbClr val="231F20"/>
                </a:solidFill>
                <a:latin typeface="Arial"/>
                <a:cs typeface="Arial"/>
              </a:rPr>
              <a:t>D	</a:t>
            </a:r>
            <a:r>
              <a:rPr sz="650" spc="5" dirty="0">
                <a:solidFill>
                  <a:srgbClr val="231F20"/>
                </a:solidFill>
                <a:latin typeface="Arial"/>
                <a:cs typeface="Arial"/>
              </a:rPr>
              <a:t>A      </a:t>
            </a:r>
            <a:r>
              <a:rPr sz="650" spc="145" dirty="0">
                <a:solidFill>
                  <a:srgbClr val="231F20"/>
                </a:solidFill>
                <a:latin typeface="Arial"/>
                <a:cs typeface="Arial"/>
              </a:rPr>
              <a:t> </a:t>
            </a:r>
            <a:r>
              <a:rPr sz="650" spc="5" dirty="0">
                <a:solidFill>
                  <a:srgbClr val="231F20"/>
                </a:solidFill>
                <a:latin typeface="Arial"/>
                <a:cs typeface="Arial"/>
              </a:rPr>
              <a:t>B      </a:t>
            </a:r>
            <a:r>
              <a:rPr sz="650" spc="145" dirty="0">
                <a:solidFill>
                  <a:srgbClr val="231F20"/>
                </a:solidFill>
                <a:latin typeface="Arial"/>
                <a:cs typeface="Arial"/>
              </a:rPr>
              <a:t> </a:t>
            </a:r>
            <a:r>
              <a:rPr sz="650" spc="10" dirty="0">
                <a:solidFill>
                  <a:srgbClr val="231F20"/>
                </a:solidFill>
                <a:latin typeface="Arial"/>
                <a:cs typeface="Arial"/>
              </a:rPr>
              <a:t>C      </a:t>
            </a:r>
            <a:r>
              <a:rPr sz="650" spc="80" dirty="0">
                <a:solidFill>
                  <a:srgbClr val="231F20"/>
                </a:solidFill>
                <a:latin typeface="Arial"/>
                <a:cs typeface="Arial"/>
              </a:rPr>
              <a:t> </a:t>
            </a:r>
            <a:r>
              <a:rPr sz="650" spc="10" dirty="0">
                <a:solidFill>
                  <a:srgbClr val="231F20"/>
                </a:solidFill>
                <a:latin typeface="Arial"/>
                <a:cs typeface="Arial"/>
              </a:rPr>
              <a:t>D	</a:t>
            </a:r>
            <a:r>
              <a:rPr sz="650" spc="5" dirty="0">
                <a:solidFill>
                  <a:srgbClr val="231F20"/>
                </a:solidFill>
                <a:latin typeface="Arial"/>
                <a:cs typeface="Arial"/>
              </a:rPr>
              <a:t>A     </a:t>
            </a:r>
            <a:r>
              <a:rPr sz="650" spc="114" dirty="0">
                <a:solidFill>
                  <a:srgbClr val="231F20"/>
                </a:solidFill>
                <a:latin typeface="Arial"/>
                <a:cs typeface="Arial"/>
              </a:rPr>
              <a:t> </a:t>
            </a:r>
            <a:r>
              <a:rPr sz="650" spc="5" dirty="0">
                <a:solidFill>
                  <a:srgbClr val="231F20"/>
                </a:solidFill>
                <a:latin typeface="Arial"/>
                <a:cs typeface="Arial"/>
              </a:rPr>
              <a:t>B      </a:t>
            </a:r>
            <a:r>
              <a:rPr sz="650" spc="110" dirty="0">
                <a:solidFill>
                  <a:srgbClr val="231F20"/>
                </a:solidFill>
                <a:latin typeface="Arial"/>
                <a:cs typeface="Arial"/>
              </a:rPr>
              <a:t> </a:t>
            </a:r>
            <a:r>
              <a:rPr sz="650" spc="10" dirty="0">
                <a:solidFill>
                  <a:srgbClr val="231F20"/>
                </a:solidFill>
                <a:latin typeface="Arial"/>
                <a:cs typeface="Arial"/>
              </a:rPr>
              <a:t>C      </a:t>
            </a:r>
            <a:r>
              <a:rPr sz="650" spc="45" dirty="0">
                <a:solidFill>
                  <a:srgbClr val="231F20"/>
                </a:solidFill>
                <a:latin typeface="Arial"/>
                <a:cs typeface="Arial"/>
              </a:rPr>
              <a:t> </a:t>
            </a:r>
            <a:r>
              <a:rPr sz="650" spc="10" dirty="0">
                <a:solidFill>
                  <a:srgbClr val="231F20"/>
                </a:solidFill>
                <a:latin typeface="Arial"/>
                <a:cs typeface="Arial"/>
              </a:rPr>
              <a:t>D </a:t>
            </a:r>
            <a:r>
              <a:rPr sz="650" spc="-170" dirty="0">
                <a:solidFill>
                  <a:srgbClr val="231F20"/>
                </a:solidFill>
                <a:latin typeface="Arial"/>
                <a:cs typeface="Arial"/>
              </a:rPr>
              <a:t> </a:t>
            </a:r>
            <a:r>
              <a:rPr sz="975" spc="7" baseline="4273" dirty="0">
                <a:solidFill>
                  <a:srgbClr val="231F20"/>
                </a:solidFill>
                <a:latin typeface="Arial"/>
                <a:cs typeface="Arial"/>
              </a:rPr>
              <a:t>E      </a:t>
            </a:r>
            <a:r>
              <a:rPr sz="975" spc="209" baseline="4273" dirty="0">
                <a:solidFill>
                  <a:srgbClr val="231F20"/>
                </a:solidFill>
                <a:latin typeface="Arial"/>
                <a:cs typeface="Arial"/>
              </a:rPr>
              <a:t> </a:t>
            </a:r>
            <a:r>
              <a:rPr sz="975" spc="7" baseline="4273" dirty="0">
                <a:solidFill>
                  <a:srgbClr val="231F20"/>
                </a:solidFill>
                <a:latin typeface="Arial"/>
                <a:cs typeface="Arial"/>
              </a:rPr>
              <a:t>F      </a:t>
            </a:r>
            <a:r>
              <a:rPr sz="975" spc="277" baseline="4273" dirty="0">
                <a:solidFill>
                  <a:srgbClr val="231F20"/>
                </a:solidFill>
                <a:latin typeface="Arial"/>
                <a:cs typeface="Arial"/>
              </a:rPr>
              <a:t> </a:t>
            </a:r>
            <a:r>
              <a:rPr sz="975" spc="15" baseline="4273" dirty="0">
                <a:solidFill>
                  <a:srgbClr val="231F20"/>
                </a:solidFill>
                <a:latin typeface="Arial"/>
                <a:cs typeface="Arial"/>
              </a:rPr>
              <a:t>G      </a:t>
            </a:r>
            <a:r>
              <a:rPr sz="975" spc="60" baseline="4273" dirty="0">
                <a:solidFill>
                  <a:srgbClr val="231F20"/>
                </a:solidFill>
                <a:latin typeface="Arial"/>
                <a:cs typeface="Arial"/>
              </a:rPr>
              <a:t> </a:t>
            </a:r>
            <a:r>
              <a:rPr sz="975" spc="15" baseline="4273" dirty="0">
                <a:solidFill>
                  <a:srgbClr val="231F20"/>
                </a:solidFill>
                <a:latin typeface="Arial"/>
                <a:cs typeface="Arial"/>
              </a:rPr>
              <a:t>H	</a:t>
            </a:r>
            <a:r>
              <a:rPr sz="975" spc="7" baseline="4273" dirty="0">
                <a:solidFill>
                  <a:srgbClr val="231F20"/>
                </a:solidFill>
                <a:latin typeface="Arial"/>
                <a:cs typeface="Arial"/>
              </a:rPr>
              <a:t>E      </a:t>
            </a:r>
            <a:r>
              <a:rPr sz="975" spc="225" baseline="4273" dirty="0">
                <a:solidFill>
                  <a:srgbClr val="231F20"/>
                </a:solidFill>
                <a:latin typeface="Arial"/>
                <a:cs typeface="Arial"/>
              </a:rPr>
              <a:t> </a:t>
            </a:r>
            <a:r>
              <a:rPr sz="975" spc="7" baseline="4273" dirty="0">
                <a:solidFill>
                  <a:srgbClr val="231F20"/>
                </a:solidFill>
                <a:latin typeface="Arial"/>
                <a:cs typeface="Arial"/>
              </a:rPr>
              <a:t>F      </a:t>
            </a:r>
            <a:r>
              <a:rPr sz="975" spc="270" baseline="4273" dirty="0">
                <a:solidFill>
                  <a:srgbClr val="231F20"/>
                </a:solidFill>
                <a:latin typeface="Arial"/>
                <a:cs typeface="Arial"/>
              </a:rPr>
              <a:t> </a:t>
            </a:r>
            <a:r>
              <a:rPr sz="975" spc="15" baseline="4273" dirty="0">
                <a:solidFill>
                  <a:srgbClr val="231F20"/>
                </a:solidFill>
                <a:latin typeface="Arial"/>
                <a:cs typeface="Arial"/>
              </a:rPr>
              <a:t>G     </a:t>
            </a:r>
            <a:r>
              <a:rPr sz="975" spc="262" baseline="4273" dirty="0">
                <a:solidFill>
                  <a:srgbClr val="231F20"/>
                </a:solidFill>
                <a:latin typeface="Arial"/>
                <a:cs typeface="Arial"/>
              </a:rPr>
              <a:t> </a:t>
            </a:r>
            <a:r>
              <a:rPr sz="750" b="1" spc="-5" dirty="0">
                <a:solidFill>
                  <a:srgbClr val="231F20"/>
                </a:solidFill>
                <a:latin typeface="Arial"/>
                <a:cs typeface="Arial"/>
              </a:rPr>
              <a:t>H	</a:t>
            </a:r>
            <a:r>
              <a:rPr sz="975" spc="7" baseline="4273" dirty="0">
                <a:solidFill>
                  <a:srgbClr val="231F20"/>
                </a:solidFill>
                <a:latin typeface="Arial"/>
                <a:cs typeface="Arial"/>
              </a:rPr>
              <a:t>E      </a:t>
            </a:r>
            <a:r>
              <a:rPr sz="975" spc="89" baseline="4273" dirty="0">
                <a:solidFill>
                  <a:srgbClr val="231F20"/>
                </a:solidFill>
                <a:latin typeface="Arial"/>
                <a:cs typeface="Arial"/>
              </a:rPr>
              <a:t> </a:t>
            </a:r>
            <a:r>
              <a:rPr sz="1125" b="1" spc="-7" baseline="3703" dirty="0">
                <a:solidFill>
                  <a:srgbClr val="231F20"/>
                </a:solidFill>
                <a:latin typeface="Arial"/>
                <a:cs typeface="Arial"/>
              </a:rPr>
              <a:t>F</a:t>
            </a:r>
            <a:r>
              <a:rPr sz="1125" b="1" spc="405" baseline="3703" dirty="0">
                <a:solidFill>
                  <a:srgbClr val="231F20"/>
                </a:solidFill>
                <a:latin typeface="Arial"/>
                <a:cs typeface="Arial"/>
              </a:rPr>
              <a:t>  </a:t>
            </a:r>
            <a:r>
              <a:rPr sz="1125" b="1" spc="412" baseline="3703" dirty="0">
                <a:solidFill>
                  <a:srgbClr val="231F20"/>
                </a:solidFill>
                <a:latin typeface="Arial"/>
                <a:cs typeface="Arial"/>
              </a:rPr>
              <a:t> </a:t>
            </a:r>
            <a:r>
              <a:rPr sz="975" spc="15" baseline="4273" dirty="0">
                <a:solidFill>
                  <a:srgbClr val="231F20"/>
                </a:solidFill>
                <a:latin typeface="Arial"/>
                <a:cs typeface="Arial"/>
              </a:rPr>
              <a:t>G       H </a:t>
            </a:r>
            <a:r>
              <a:rPr sz="975" spc="-254" baseline="4273" dirty="0">
                <a:solidFill>
                  <a:srgbClr val="231F20"/>
                </a:solidFill>
                <a:latin typeface="Arial"/>
                <a:cs typeface="Arial"/>
              </a:rPr>
              <a:t> </a:t>
            </a:r>
            <a:r>
              <a:rPr sz="975" baseline="4273" dirty="0">
                <a:solidFill>
                  <a:srgbClr val="231F20"/>
                </a:solidFill>
                <a:latin typeface="Arial"/>
                <a:cs typeface="Arial"/>
              </a:rPr>
              <a:t> </a:t>
            </a:r>
            <a:r>
              <a:rPr sz="650" dirty="0">
                <a:solidFill>
                  <a:srgbClr val="231F20"/>
                </a:solidFill>
                <a:latin typeface="Arial"/>
                <a:cs typeface="Arial"/>
              </a:rPr>
              <a:t>I        </a:t>
            </a:r>
            <a:r>
              <a:rPr sz="650" spc="70" dirty="0">
                <a:solidFill>
                  <a:srgbClr val="231F20"/>
                </a:solidFill>
                <a:latin typeface="Arial"/>
                <a:cs typeface="Arial"/>
              </a:rPr>
              <a:t> </a:t>
            </a:r>
            <a:r>
              <a:rPr sz="650" spc="5" dirty="0">
                <a:solidFill>
                  <a:srgbClr val="231F20"/>
                </a:solidFill>
                <a:latin typeface="Arial"/>
                <a:cs typeface="Arial"/>
              </a:rPr>
              <a:t>J       </a:t>
            </a:r>
            <a:r>
              <a:rPr sz="650" spc="70" dirty="0">
                <a:solidFill>
                  <a:srgbClr val="231F20"/>
                </a:solidFill>
                <a:latin typeface="Arial"/>
                <a:cs typeface="Arial"/>
              </a:rPr>
              <a:t> </a:t>
            </a:r>
            <a:r>
              <a:rPr sz="650" spc="5" dirty="0">
                <a:solidFill>
                  <a:srgbClr val="231F20"/>
                </a:solidFill>
                <a:latin typeface="Arial"/>
                <a:cs typeface="Arial"/>
              </a:rPr>
              <a:t>K      </a:t>
            </a:r>
            <a:r>
              <a:rPr sz="650" spc="145" dirty="0">
                <a:solidFill>
                  <a:srgbClr val="231F20"/>
                </a:solidFill>
                <a:latin typeface="Arial"/>
                <a:cs typeface="Arial"/>
              </a:rPr>
              <a:t> </a:t>
            </a:r>
            <a:r>
              <a:rPr sz="650" spc="5" dirty="0">
                <a:solidFill>
                  <a:srgbClr val="231F20"/>
                </a:solidFill>
                <a:latin typeface="Arial"/>
                <a:cs typeface="Arial"/>
              </a:rPr>
              <a:t>L	</a:t>
            </a:r>
            <a:r>
              <a:rPr sz="650" dirty="0">
                <a:solidFill>
                  <a:srgbClr val="231F20"/>
                </a:solidFill>
                <a:latin typeface="Arial"/>
                <a:cs typeface="Arial"/>
              </a:rPr>
              <a:t>I        </a:t>
            </a:r>
            <a:r>
              <a:rPr sz="650" spc="75" dirty="0">
                <a:solidFill>
                  <a:srgbClr val="231F20"/>
                </a:solidFill>
                <a:latin typeface="Arial"/>
                <a:cs typeface="Arial"/>
              </a:rPr>
              <a:t> </a:t>
            </a:r>
            <a:r>
              <a:rPr sz="650" spc="5" dirty="0">
                <a:solidFill>
                  <a:srgbClr val="231F20"/>
                </a:solidFill>
                <a:latin typeface="Arial"/>
                <a:cs typeface="Arial"/>
              </a:rPr>
              <a:t>J       </a:t>
            </a:r>
            <a:r>
              <a:rPr sz="650" spc="70" dirty="0">
                <a:solidFill>
                  <a:srgbClr val="231F20"/>
                </a:solidFill>
                <a:latin typeface="Arial"/>
                <a:cs typeface="Arial"/>
              </a:rPr>
              <a:t> </a:t>
            </a:r>
            <a:r>
              <a:rPr sz="650" spc="5" dirty="0">
                <a:solidFill>
                  <a:srgbClr val="231F20"/>
                </a:solidFill>
                <a:latin typeface="Arial"/>
                <a:cs typeface="Arial"/>
              </a:rPr>
              <a:t>K      </a:t>
            </a:r>
            <a:r>
              <a:rPr sz="650" spc="145" dirty="0">
                <a:solidFill>
                  <a:srgbClr val="231F20"/>
                </a:solidFill>
                <a:latin typeface="Arial"/>
                <a:cs typeface="Arial"/>
              </a:rPr>
              <a:t> </a:t>
            </a:r>
            <a:r>
              <a:rPr sz="650" spc="5" dirty="0">
                <a:solidFill>
                  <a:srgbClr val="231F20"/>
                </a:solidFill>
                <a:latin typeface="Arial"/>
                <a:cs typeface="Arial"/>
              </a:rPr>
              <a:t>L	</a:t>
            </a:r>
            <a:r>
              <a:rPr sz="650" dirty="0">
                <a:solidFill>
                  <a:srgbClr val="231F20"/>
                </a:solidFill>
                <a:latin typeface="Arial"/>
                <a:cs typeface="Arial"/>
              </a:rPr>
              <a:t>I</a:t>
            </a:r>
            <a:r>
              <a:rPr sz="650" spc="50" dirty="0">
                <a:solidFill>
                  <a:srgbClr val="231F20"/>
                </a:solidFill>
                <a:latin typeface="Arial"/>
                <a:cs typeface="Arial"/>
              </a:rPr>
              <a:t> </a:t>
            </a:r>
            <a:r>
              <a:rPr sz="650" spc="5" dirty="0">
                <a:solidFill>
                  <a:srgbClr val="231F20"/>
                </a:solidFill>
                <a:latin typeface="Arial"/>
                <a:cs typeface="Arial"/>
              </a:rPr>
              <a:t>J</a:t>
            </a:r>
            <a:r>
              <a:rPr sz="650" spc="40" dirty="0">
                <a:solidFill>
                  <a:srgbClr val="231F20"/>
                </a:solidFill>
                <a:latin typeface="Arial"/>
                <a:cs typeface="Arial"/>
              </a:rPr>
              <a:t> </a:t>
            </a:r>
            <a:r>
              <a:rPr sz="650" spc="5" dirty="0">
                <a:solidFill>
                  <a:srgbClr val="231F20"/>
                </a:solidFill>
                <a:latin typeface="Arial"/>
                <a:cs typeface="Arial"/>
              </a:rPr>
              <a:t>K</a:t>
            </a:r>
            <a:r>
              <a:rPr sz="650" spc="125" dirty="0">
                <a:solidFill>
                  <a:srgbClr val="231F20"/>
                </a:solidFill>
                <a:latin typeface="Arial"/>
                <a:cs typeface="Arial"/>
              </a:rPr>
              <a:t> </a:t>
            </a:r>
            <a:r>
              <a:rPr sz="650" spc="5" dirty="0">
                <a:solidFill>
                  <a:srgbClr val="231F20"/>
                </a:solidFill>
                <a:latin typeface="Arial"/>
                <a:cs typeface="Arial"/>
              </a:rPr>
              <a:t>L</a:t>
            </a:r>
            <a:endParaRPr sz="650">
              <a:latin typeface="Arial"/>
              <a:cs typeface="Arial"/>
            </a:endParaRPr>
          </a:p>
          <a:p>
            <a:pPr>
              <a:lnSpc>
                <a:spcPct val="100000"/>
              </a:lnSpc>
              <a:spcBef>
                <a:spcPts val="5"/>
              </a:spcBef>
            </a:pPr>
            <a:endParaRPr sz="550">
              <a:latin typeface="Arial"/>
              <a:cs typeface="Arial"/>
            </a:endParaRPr>
          </a:p>
          <a:p>
            <a:pPr marL="526415" algn="just">
              <a:lnSpc>
                <a:spcPct val="100000"/>
              </a:lnSpc>
              <a:tabLst>
                <a:tab pos="1635760" algn="l"/>
                <a:tab pos="2682240" algn="l"/>
              </a:tabLst>
            </a:pPr>
            <a:r>
              <a:rPr sz="650" dirty="0">
                <a:solidFill>
                  <a:srgbClr val="231F20"/>
                </a:solidFill>
                <a:latin typeface="Arial"/>
                <a:cs typeface="Arial"/>
              </a:rPr>
              <a:t>N</a:t>
            </a:r>
            <a:r>
              <a:rPr sz="750" baseline="-27777" dirty="0">
                <a:solidFill>
                  <a:srgbClr val="231F20"/>
                </a:solidFill>
                <a:latin typeface="Arial"/>
                <a:cs typeface="Arial"/>
              </a:rPr>
              <a:t>R</a:t>
            </a:r>
            <a:r>
              <a:rPr sz="750" spc="120" baseline="-27777" dirty="0">
                <a:solidFill>
                  <a:srgbClr val="231F20"/>
                </a:solidFill>
                <a:latin typeface="Arial"/>
                <a:cs typeface="Arial"/>
              </a:rPr>
              <a:t> </a:t>
            </a:r>
            <a:r>
              <a:rPr sz="650" spc="5" dirty="0">
                <a:solidFill>
                  <a:srgbClr val="231F20"/>
                </a:solidFill>
                <a:latin typeface="Arial"/>
                <a:cs typeface="Arial"/>
              </a:rPr>
              <a:t>=</a:t>
            </a:r>
            <a:r>
              <a:rPr sz="650" dirty="0">
                <a:solidFill>
                  <a:srgbClr val="231F20"/>
                </a:solidFill>
                <a:latin typeface="Arial"/>
                <a:cs typeface="Arial"/>
              </a:rPr>
              <a:t> </a:t>
            </a:r>
            <a:r>
              <a:rPr sz="650" spc="5" dirty="0">
                <a:solidFill>
                  <a:srgbClr val="231F20"/>
                </a:solidFill>
                <a:latin typeface="Arial"/>
                <a:cs typeface="Arial"/>
              </a:rPr>
              <a:t>3,   </a:t>
            </a:r>
            <a:r>
              <a:rPr sz="650" spc="40" dirty="0">
                <a:solidFill>
                  <a:srgbClr val="231F20"/>
                </a:solidFill>
                <a:latin typeface="Arial"/>
                <a:cs typeface="Arial"/>
              </a:rPr>
              <a:t> </a:t>
            </a:r>
            <a:r>
              <a:rPr sz="650" spc="25" dirty="0">
                <a:solidFill>
                  <a:srgbClr val="231F20"/>
                </a:solidFill>
                <a:latin typeface="Arial"/>
                <a:cs typeface="Arial"/>
              </a:rPr>
              <a:t>N</a:t>
            </a:r>
            <a:r>
              <a:rPr sz="750" spc="37" baseline="-27777" dirty="0">
                <a:solidFill>
                  <a:srgbClr val="231F20"/>
                </a:solidFill>
                <a:latin typeface="Arial"/>
                <a:cs typeface="Arial"/>
              </a:rPr>
              <a:t>W</a:t>
            </a:r>
            <a:r>
              <a:rPr sz="750" spc="232" baseline="-27777" dirty="0">
                <a:solidFill>
                  <a:srgbClr val="231F20"/>
                </a:solidFill>
                <a:latin typeface="Arial"/>
                <a:cs typeface="Arial"/>
              </a:rPr>
              <a:t> </a:t>
            </a:r>
            <a:r>
              <a:rPr sz="650" spc="5" dirty="0">
                <a:solidFill>
                  <a:srgbClr val="231F20"/>
                </a:solidFill>
                <a:latin typeface="Arial"/>
                <a:cs typeface="Arial"/>
              </a:rPr>
              <a:t>=</a:t>
            </a:r>
            <a:r>
              <a:rPr sz="650" dirty="0">
                <a:solidFill>
                  <a:srgbClr val="231F20"/>
                </a:solidFill>
                <a:latin typeface="Arial"/>
                <a:cs typeface="Arial"/>
              </a:rPr>
              <a:t> </a:t>
            </a:r>
            <a:r>
              <a:rPr sz="650" spc="5" dirty="0">
                <a:solidFill>
                  <a:srgbClr val="231F20"/>
                </a:solidFill>
                <a:latin typeface="Arial"/>
                <a:cs typeface="Arial"/>
              </a:rPr>
              <a:t>10	</a:t>
            </a:r>
            <a:r>
              <a:rPr sz="650" dirty="0">
                <a:solidFill>
                  <a:srgbClr val="231F20"/>
                </a:solidFill>
                <a:latin typeface="Arial"/>
                <a:cs typeface="Arial"/>
              </a:rPr>
              <a:t>N</a:t>
            </a:r>
            <a:r>
              <a:rPr sz="750" baseline="-27777" dirty="0">
                <a:solidFill>
                  <a:srgbClr val="231F20"/>
                </a:solidFill>
                <a:latin typeface="Arial"/>
                <a:cs typeface="Arial"/>
              </a:rPr>
              <a:t>R</a:t>
            </a:r>
            <a:r>
              <a:rPr sz="750" spc="120" baseline="-27777" dirty="0">
                <a:solidFill>
                  <a:srgbClr val="231F20"/>
                </a:solidFill>
                <a:latin typeface="Arial"/>
                <a:cs typeface="Arial"/>
              </a:rPr>
              <a:t> </a:t>
            </a:r>
            <a:r>
              <a:rPr sz="650" spc="5" dirty="0">
                <a:solidFill>
                  <a:srgbClr val="231F20"/>
                </a:solidFill>
                <a:latin typeface="Arial"/>
                <a:cs typeface="Arial"/>
              </a:rPr>
              <a:t>= 7,   </a:t>
            </a:r>
            <a:r>
              <a:rPr sz="650" spc="35" dirty="0">
                <a:solidFill>
                  <a:srgbClr val="231F20"/>
                </a:solidFill>
                <a:latin typeface="Arial"/>
                <a:cs typeface="Arial"/>
              </a:rPr>
              <a:t> </a:t>
            </a:r>
            <a:r>
              <a:rPr sz="650" spc="25" dirty="0">
                <a:solidFill>
                  <a:srgbClr val="231F20"/>
                </a:solidFill>
                <a:latin typeface="Arial"/>
                <a:cs typeface="Arial"/>
              </a:rPr>
              <a:t>N</a:t>
            </a:r>
            <a:r>
              <a:rPr sz="750" spc="37" baseline="-27777" dirty="0">
                <a:solidFill>
                  <a:srgbClr val="231F20"/>
                </a:solidFill>
                <a:latin typeface="Arial"/>
                <a:cs typeface="Arial"/>
              </a:rPr>
              <a:t>W</a:t>
            </a:r>
            <a:r>
              <a:rPr sz="750" spc="232" baseline="-27777" dirty="0">
                <a:solidFill>
                  <a:srgbClr val="231F20"/>
                </a:solidFill>
                <a:latin typeface="Arial"/>
                <a:cs typeface="Arial"/>
              </a:rPr>
              <a:t> </a:t>
            </a:r>
            <a:r>
              <a:rPr sz="650" spc="5" dirty="0">
                <a:solidFill>
                  <a:srgbClr val="231F20"/>
                </a:solidFill>
                <a:latin typeface="Arial"/>
                <a:cs typeface="Arial"/>
              </a:rPr>
              <a:t>=</a:t>
            </a:r>
            <a:r>
              <a:rPr sz="650" dirty="0">
                <a:solidFill>
                  <a:srgbClr val="231F20"/>
                </a:solidFill>
                <a:latin typeface="Arial"/>
                <a:cs typeface="Arial"/>
              </a:rPr>
              <a:t> </a:t>
            </a:r>
            <a:r>
              <a:rPr sz="650" spc="5" dirty="0">
                <a:solidFill>
                  <a:srgbClr val="231F20"/>
                </a:solidFill>
                <a:latin typeface="Arial"/>
                <a:cs typeface="Arial"/>
              </a:rPr>
              <a:t>6	</a:t>
            </a:r>
            <a:r>
              <a:rPr sz="650" dirty="0">
                <a:solidFill>
                  <a:srgbClr val="231F20"/>
                </a:solidFill>
                <a:latin typeface="Arial"/>
                <a:cs typeface="Arial"/>
              </a:rPr>
              <a:t>N</a:t>
            </a:r>
            <a:r>
              <a:rPr sz="750" baseline="-27777" dirty="0">
                <a:solidFill>
                  <a:srgbClr val="231F20"/>
                </a:solidFill>
                <a:latin typeface="Arial"/>
                <a:cs typeface="Arial"/>
              </a:rPr>
              <a:t>R</a:t>
            </a:r>
            <a:r>
              <a:rPr sz="750" spc="104" baseline="-27777" dirty="0">
                <a:solidFill>
                  <a:srgbClr val="231F20"/>
                </a:solidFill>
                <a:latin typeface="Arial"/>
                <a:cs typeface="Arial"/>
              </a:rPr>
              <a:t> </a:t>
            </a:r>
            <a:r>
              <a:rPr sz="650" spc="5" dirty="0">
                <a:solidFill>
                  <a:srgbClr val="231F20"/>
                </a:solidFill>
                <a:latin typeface="Arial"/>
                <a:cs typeface="Arial"/>
              </a:rPr>
              <a:t>=</a:t>
            </a:r>
            <a:r>
              <a:rPr sz="650" spc="-5" dirty="0">
                <a:solidFill>
                  <a:srgbClr val="231F20"/>
                </a:solidFill>
                <a:latin typeface="Arial"/>
                <a:cs typeface="Arial"/>
              </a:rPr>
              <a:t> </a:t>
            </a:r>
            <a:r>
              <a:rPr sz="650" spc="5" dirty="0">
                <a:solidFill>
                  <a:srgbClr val="231F20"/>
                </a:solidFill>
                <a:latin typeface="Arial"/>
                <a:cs typeface="Arial"/>
              </a:rPr>
              <a:t>1,  </a:t>
            </a:r>
            <a:r>
              <a:rPr sz="650" spc="180" dirty="0">
                <a:solidFill>
                  <a:srgbClr val="231F20"/>
                </a:solidFill>
                <a:latin typeface="Arial"/>
                <a:cs typeface="Arial"/>
              </a:rPr>
              <a:t> </a:t>
            </a:r>
            <a:r>
              <a:rPr sz="650" spc="25" dirty="0">
                <a:solidFill>
                  <a:srgbClr val="231F20"/>
                </a:solidFill>
                <a:latin typeface="Arial"/>
                <a:cs typeface="Arial"/>
              </a:rPr>
              <a:t>N</a:t>
            </a:r>
            <a:r>
              <a:rPr sz="750" spc="37" baseline="-27777" dirty="0">
                <a:solidFill>
                  <a:srgbClr val="231F20"/>
                </a:solidFill>
                <a:latin typeface="Arial"/>
                <a:cs typeface="Arial"/>
              </a:rPr>
              <a:t>W</a:t>
            </a:r>
            <a:r>
              <a:rPr sz="750" spc="209" baseline="-27777" dirty="0">
                <a:solidFill>
                  <a:srgbClr val="231F20"/>
                </a:solidFill>
                <a:latin typeface="Arial"/>
                <a:cs typeface="Arial"/>
              </a:rPr>
              <a:t> </a:t>
            </a:r>
            <a:r>
              <a:rPr sz="650" spc="5"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12</a:t>
            </a:r>
            <a:endParaRPr sz="650">
              <a:latin typeface="Arial"/>
              <a:cs typeface="Arial"/>
            </a:endParaRPr>
          </a:p>
        </p:txBody>
      </p:sp>
      <p:sp>
        <p:nvSpPr>
          <p:cNvPr id="16" name="object 16"/>
          <p:cNvSpPr txBox="1"/>
          <p:nvPr/>
        </p:nvSpPr>
        <p:spPr>
          <a:xfrm>
            <a:off x="66713" y="3327684"/>
            <a:ext cx="8623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5" action="ppaction://hlinksldjump"/>
              </a:rPr>
              <a:t>Quorum-based</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protocols</a:t>
            </a:r>
            <a:endParaRPr sz="600">
              <a:latin typeface="Arial"/>
              <a:cs typeface="Arial"/>
            </a:endParaRPr>
          </a:p>
        </p:txBody>
      </p:sp>
      <p:sp>
        <p:nvSpPr>
          <p:cNvPr id="17" name="object 17"/>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37</a:t>
            </a:r>
            <a:endParaRPr sz="600">
              <a:latin typeface="Arial"/>
              <a:cs typeface="Arial"/>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303</TotalTime>
  <Words>25465</Words>
  <Application>Microsoft Office PowerPoint</Application>
  <PresentationFormat>Custom</PresentationFormat>
  <Paragraphs>2361</Paragraphs>
  <Slides>54</Slides>
  <Notes>37</Notes>
  <HiddenSlides>17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メイリオ</vt:lpstr>
      <vt:lpstr>Arial</vt:lpstr>
      <vt:lpstr>Calibri</vt:lpstr>
      <vt:lpstr>Helvetica</vt:lpstr>
      <vt:lpstr>Symbol</vt:lpstr>
      <vt:lpstr>Times New Roman</vt:lpstr>
      <vt:lpstr>Office Theme</vt:lpstr>
      <vt:lpstr>Distributed Systems</vt:lpstr>
      <vt:lpstr>PowerPoint Presentation</vt:lpstr>
      <vt:lpstr>Data-centric consistency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tricky can it get?</vt:lpstr>
      <vt:lpstr>PowerPoint Presentation</vt:lpstr>
      <vt:lpstr>PowerPoint Presentation</vt:lpstr>
      <vt:lpstr>PowerPoint Presentation</vt:lpstr>
      <vt:lpstr>PowerPoint Presentation</vt:lpstr>
      <vt:lpstr>Consistency for mobile users</vt:lpstr>
      <vt:lpstr>Basic architecture</vt:lpstr>
      <vt:lpstr>PowerPoint Presentation</vt:lpstr>
      <vt:lpstr>PowerPoint Presentation</vt:lpstr>
      <vt:lpstr>PowerPoint Presentation</vt:lpstr>
      <vt:lpstr>Monotonic writes</vt:lpstr>
      <vt:lpstr>PowerPoint Presentation</vt:lpstr>
      <vt:lpstr>PowerPoint Presentation</vt:lpstr>
      <vt:lpstr>PowerPoint Presentation</vt:lpstr>
      <vt:lpstr>Writes follow reads</vt:lpstr>
      <vt:lpstr>PowerPoint Presentation</vt:lpstr>
      <vt:lpstr>PowerPoint Presentation</vt:lpstr>
      <vt:lpstr>PowerPoint Presentation</vt:lpstr>
      <vt:lpstr>PowerPoint Presentation</vt:lpstr>
      <vt:lpstr>PowerPoint Presentation</vt:lpstr>
      <vt:lpstr>PowerPoint Presentation</vt:lpstr>
      <vt:lpstr>Server-initiated replicas</vt:lpstr>
      <vt:lpstr>PowerPoint Presentation</vt:lpstr>
      <vt:lpstr>Content distribution: client/server system</vt:lpstr>
      <vt:lpstr>Content distribution</vt:lpstr>
      <vt:lpstr>Content distribution</vt:lpstr>
      <vt:lpstr>Content distribution</vt:lpstr>
      <vt:lpstr>Content distribution</vt:lpstr>
      <vt:lpstr>Content distribution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Primary-based protocols</vt:lpstr>
      <vt:lpstr>Primary-based protocols</vt:lpstr>
      <vt:lpstr>Replicated-write protocols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(3rd Edition)</dc:title>
  <cp:lastModifiedBy>Admin</cp:lastModifiedBy>
  <cp:revision>45</cp:revision>
  <dcterms:created xsi:type="dcterms:W3CDTF">2022-03-20T07:21:30Z</dcterms:created>
  <dcterms:modified xsi:type="dcterms:W3CDTF">2025-11-11T11:55:10Z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2022-03-20T00:00:00Z</vt:filetime>
  </property>
  <property fmtid="{D5CDD505-2E9C-101B-9397-08002B2CF9AE}" pid="3" name="Creator">
    <vt:lpwstr>LaTeX with Beamer class</vt:lpwstr>
  </property>
  <property fmtid="{D5CDD505-2E9C-101B-9397-08002B2CF9AE}" pid="4" name="LastSaved">
    <vt:filetime>2022-03-20T00:00:00Z</vt:filetime>
  </property>
</Properties>
</file>