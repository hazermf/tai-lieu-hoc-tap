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6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sldSz cx="4610100" cy="3460750"/>
  <p:notesSz cx="4610100" cy="346075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30657" autoAdjust="0"/>
  </p:normalViewPr>
  <p:slideViewPr>
    <p:cSldViewPr>
      <p:cViewPr varScale="1">
        <p:scale>
          <a:sx n="65" d="100"/>
          <a:sy n="65" d="100"/>
        </p:scale>
        <p:origin x="3990" y="54"/>
      </p:cViewPr>
      <p:guideLst>
        <p:guide orient="horz" pos="2880"/>
        <p:guide pos="2160"/>
      </p:guideLst>
    </p:cSldViewPr>
  </p:slideViewPr>
  <p:notesTextViewPr>
    <p:cViewPr>
      <p:scale>
        <a:sx n="100" d="100"/>
        <a:sy n="100" d="100"/>
      </p:scale>
      <p:origin x="0" y="-1704"/>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B8AA12EA-14EA-4822-99D8-A1AA9EF2EB92}" type="datetimeFigureOut">
              <a:rPr lang="en-US" smtClean="0"/>
              <a:t>4/20/2025</a:t>
            </a:fld>
            <a:endParaRPr lang="en-US"/>
          </a:p>
        </p:txBody>
      </p:sp>
      <p:sp>
        <p:nvSpPr>
          <p:cNvPr id="4" name="Slide Image Placeholder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EA9AC37-8FF6-483B-AAA6-B9FE5516F543}" type="slidenum">
              <a:rPr lang="en-US" smtClean="0"/>
              <a:t>‹#›</a:t>
            </a:fld>
            <a:endParaRPr lang="en-US"/>
          </a:p>
        </p:txBody>
      </p:sp>
    </p:spTree>
    <p:extLst>
      <p:ext uri="{BB962C8B-B14F-4D97-AF65-F5344CB8AC3E}">
        <p14:creationId xmlns:p14="http://schemas.microsoft.com/office/powerpoint/2010/main" val="9878519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404040"/>
                </a:solidFill>
                <a:effectLst/>
                <a:latin typeface="DeepSeek-CJK-patch"/>
              </a:rPr>
              <a:t>K</a:t>
            </a:r>
            <a:r>
              <a:rPr lang="vi-VN" b="0" i="0" dirty="0">
                <a:solidFill>
                  <a:srgbClr val="404040"/>
                </a:solidFill>
                <a:effectLst/>
                <a:latin typeface="DeepSeek-CJK-patch"/>
              </a:rPr>
              <a:t>hái niệm cơ bản về </a:t>
            </a:r>
            <a:r>
              <a:rPr lang="vi-VN" b="1" i="0" dirty="0">
                <a:solidFill>
                  <a:srgbClr val="404040"/>
                </a:solidFill>
                <a:effectLst/>
                <a:latin typeface="DeepSeek-CJK-patch"/>
              </a:rPr>
              <a:t>luồng (threads)</a:t>
            </a:r>
            <a:r>
              <a:rPr lang="vi-VN" b="0" i="0" dirty="0">
                <a:solidFill>
                  <a:srgbClr val="404040"/>
                </a:solidFill>
                <a:effectLst/>
                <a:latin typeface="DeepSeek-CJK-patch"/>
              </a:rPr>
              <a:t>, cách chúng hoạt động và mối quan hệ giữa </a:t>
            </a:r>
            <a:r>
              <a:rPr lang="vi-VN" b="1" i="0" dirty="0">
                <a:solidFill>
                  <a:srgbClr val="404040"/>
                </a:solidFill>
                <a:effectLst/>
                <a:latin typeface="DeepSeek-CJK-patch"/>
              </a:rPr>
              <a:t>threads</a:t>
            </a:r>
            <a:r>
              <a:rPr lang="vi-VN" b="0" i="0" dirty="0">
                <a:solidFill>
                  <a:srgbClr val="404040"/>
                </a:solidFill>
                <a:effectLst/>
                <a:latin typeface="DeepSeek-CJK-patch"/>
              </a:rPr>
              <a:t>, </a:t>
            </a:r>
            <a:r>
              <a:rPr lang="vi-VN" b="1" i="0" dirty="0">
                <a:solidFill>
                  <a:srgbClr val="404040"/>
                </a:solidFill>
                <a:effectLst/>
                <a:latin typeface="DeepSeek-CJK-patch"/>
              </a:rPr>
              <a:t>processes</a:t>
            </a:r>
            <a:r>
              <a:rPr lang="vi-VN" b="0" i="0" dirty="0">
                <a:solidFill>
                  <a:srgbClr val="404040"/>
                </a:solidFill>
                <a:effectLst/>
                <a:latin typeface="DeepSeek-CJK-patch"/>
              </a:rPr>
              <a:t> và </a:t>
            </a:r>
            <a:r>
              <a:rPr lang="vi-VN" b="1" i="0" dirty="0">
                <a:solidFill>
                  <a:srgbClr val="404040"/>
                </a:solidFill>
                <a:effectLst/>
                <a:latin typeface="DeepSeek-CJK-patch"/>
              </a:rPr>
              <a:t>processors</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Basic Idea</a:t>
            </a:r>
            <a:endParaRPr lang="vi-VN" b="0" i="0" dirty="0">
              <a:solidFill>
                <a:srgbClr val="404040"/>
              </a:solidFill>
              <a:effectLst/>
              <a:latin typeface="DeepSeek-CJK-patch"/>
            </a:endParaRPr>
          </a:p>
          <a:p>
            <a:pPr algn="l"/>
            <a:r>
              <a:rPr lang="vi-VN" b="0" i="0" dirty="0">
                <a:solidFill>
                  <a:srgbClr val="404040"/>
                </a:solidFill>
                <a:effectLst/>
                <a:latin typeface="DeepSeek-CJK-patch"/>
              </a:rPr>
              <a:t>Ý tưởng cốt lõi là chúng ta xây dựng các </a:t>
            </a:r>
            <a:r>
              <a:rPr lang="vi-VN" b="1" i="0" dirty="0">
                <a:solidFill>
                  <a:srgbClr val="404040"/>
                </a:solidFill>
                <a:effectLst/>
                <a:latin typeface="DeepSeek-CJK-patch"/>
              </a:rPr>
              <a:t>bộ xử lý ảo (virtual processors)</a:t>
            </a:r>
            <a:r>
              <a:rPr lang="vi-VN" b="0" i="0" dirty="0">
                <a:solidFill>
                  <a:srgbClr val="404040"/>
                </a:solidFill>
                <a:effectLst/>
                <a:latin typeface="DeepSeek-CJK-patch"/>
              </a:rPr>
              <a:t> bằng phần mềm, chạy trên nền tảng các </a:t>
            </a:r>
            <a:r>
              <a:rPr lang="vi-VN" b="1" i="0" dirty="0">
                <a:solidFill>
                  <a:srgbClr val="404040"/>
                </a:solidFill>
                <a:effectLst/>
                <a:latin typeface="DeepSeek-CJK-patch"/>
              </a:rPr>
              <a:t>bộ xử lý vật lý (physical processors)</a:t>
            </a:r>
            <a:r>
              <a:rPr lang="vi-VN" b="0" i="0" dirty="0">
                <a:solidFill>
                  <a:srgbClr val="404040"/>
                </a:solidFill>
                <a:effectLst/>
                <a:latin typeface="DeepSeek-CJK-patch"/>
              </a:rPr>
              <a:t>.</a:t>
            </a:r>
            <a:br>
              <a:rPr lang="vi-VN" b="0" i="0" dirty="0">
                <a:solidFill>
                  <a:srgbClr val="404040"/>
                </a:solidFill>
                <a:effectLst/>
                <a:latin typeface="DeepSeek-CJK-patch"/>
              </a:rPr>
            </a:br>
            <a:r>
              <a:rPr lang="vi-VN" b="0" i="0" dirty="0">
                <a:solidFill>
                  <a:srgbClr val="404040"/>
                </a:solidFill>
                <a:effectLst/>
                <a:latin typeface="DeepSeek-CJK-patch"/>
              </a:rPr>
              <a:t>→ Mục đích: Tận dụng tài nguyên phần cứng hiệu quả hơn bằng cách mô phỏng nhiều bộ xử lý logic từ một hoặc một số ít bộ xử lý vật lý.</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Processor (Bộ xử lý vật lý)</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một thành phần phần cứng (CPU) có khả năng thực thi các chỉ thị (instructions).</a:t>
            </a:r>
          </a:p>
          <a:p>
            <a:pPr marL="742950" lvl="1" indent="-285750" algn="l">
              <a:buFont typeface="Arial" panose="020B0604020202020204" pitchFamily="34" charset="0"/>
              <a:buChar char="•"/>
            </a:pPr>
            <a:r>
              <a:rPr lang="vi-VN" b="0" i="0" dirty="0">
                <a:solidFill>
                  <a:srgbClr val="404040"/>
                </a:solidFill>
                <a:effectLst/>
                <a:latin typeface="DeepSeek-CJK-patch"/>
              </a:rPr>
              <a:t>Tự động thực thi một chuỗi chỉ thị theo chương trình được lập trình sẵn.</a:t>
            </a:r>
          </a:p>
          <a:p>
            <a:pPr algn="l">
              <a:buFont typeface="Arial" panose="020B0604020202020204" pitchFamily="34" charset="0"/>
              <a:buChar char="•"/>
            </a:pPr>
            <a:r>
              <a:rPr lang="vi-VN" b="1" i="0" dirty="0">
                <a:solidFill>
                  <a:srgbClr val="404040"/>
                </a:solidFill>
                <a:effectLst/>
                <a:latin typeface="DeepSeek-CJK-patch"/>
              </a:rPr>
              <a:t>Vai trò:</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Cung cấp nền tảng tính toán để phần mềm (threads, processes) chạy trên đó.</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Thread (Luồng)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đơn vị nhỏ nhất của </a:t>
            </a:r>
            <a:r>
              <a:rPr lang="vi-VN" b="1" i="0" dirty="0">
                <a:solidFill>
                  <a:srgbClr val="404040"/>
                </a:solidFill>
                <a:effectLst/>
                <a:latin typeface="DeepSeek-CJK-patch"/>
              </a:rPr>
              <a:t>một chuỗi chỉ thị có thể được thực thi độc lập</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Được xem như một </a:t>
            </a:r>
            <a:r>
              <a:rPr lang="vi-VN" b="1" i="0" dirty="0">
                <a:solidFill>
                  <a:srgbClr val="404040"/>
                </a:solidFill>
                <a:effectLst/>
                <a:latin typeface="DeepSeek-CJK-patch"/>
              </a:rPr>
              <a:t>bộ xử lý phần mềm tối giản</a:t>
            </a:r>
            <a:r>
              <a:rPr lang="vi-VN" b="0" i="0" dirty="0">
                <a:solidFill>
                  <a:srgbClr val="404040"/>
                </a:solidFill>
                <a:effectLst/>
                <a:latin typeface="DeepSeek-CJK-patch"/>
              </a:rPr>
              <a:t> (minimal software processor).</a:t>
            </a:r>
          </a:p>
          <a:p>
            <a:pPr algn="l">
              <a:buFont typeface="Arial" panose="020B0604020202020204" pitchFamily="34" charset="0"/>
              <a:buChar char="•"/>
            </a:pPr>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thread có </a:t>
            </a:r>
            <a:r>
              <a:rPr lang="vi-VN" b="1" i="0" dirty="0">
                <a:solidFill>
                  <a:srgbClr val="404040"/>
                </a:solidFill>
                <a:effectLst/>
                <a:latin typeface="DeepSeek-CJK-patch"/>
              </a:rPr>
              <a:t>ngữ cảnh riêng (context)</a:t>
            </a:r>
            <a:r>
              <a:rPr lang="vi-VN" b="0" i="0" dirty="0">
                <a:solidFill>
                  <a:srgbClr val="404040"/>
                </a:solidFill>
                <a:effectLst/>
                <a:latin typeface="DeepSeek-CJK-patch"/>
              </a:rPr>
              <a:t> bao gồm:</a:t>
            </a:r>
          </a:p>
          <a:p>
            <a:pPr marL="1143000" lvl="2" indent="-228600" algn="l">
              <a:buFont typeface="Arial" panose="020B0604020202020204" pitchFamily="34" charset="0"/>
              <a:buChar char="•"/>
            </a:pPr>
            <a:r>
              <a:rPr lang="vi-VN" b="0" i="0" dirty="0">
                <a:solidFill>
                  <a:srgbClr val="404040"/>
                </a:solidFill>
                <a:effectLst/>
                <a:latin typeface="DeepSeek-CJK-patch"/>
              </a:rPr>
              <a:t>Thanh ghi (registers)</a:t>
            </a:r>
          </a:p>
          <a:p>
            <a:pPr marL="1143000" lvl="2" indent="-228600" algn="l">
              <a:buFont typeface="Arial" panose="020B0604020202020204" pitchFamily="34" charset="0"/>
              <a:buChar char="•"/>
            </a:pPr>
            <a:r>
              <a:rPr lang="vi-VN" b="0" i="0" dirty="0">
                <a:solidFill>
                  <a:srgbClr val="404040"/>
                </a:solidFill>
                <a:effectLst/>
                <a:latin typeface="DeepSeek-CJK-patch"/>
              </a:rPr>
              <a:t>Con trỏ lệnh (program counter)</a:t>
            </a:r>
          </a:p>
          <a:p>
            <a:pPr marL="1143000" lvl="2" indent="-228600" algn="l">
              <a:buFont typeface="Arial" panose="020B0604020202020204" pitchFamily="34" charset="0"/>
              <a:buChar char="•"/>
            </a:pPr>
            <a:r>
              <a:rPr lang="vi-VN" b="0" i="0" dirty="0">
                <a:solidFill>
                  <a:srgbClr val="404040"/>
                </a:solidFill>
                <a:effectLst/>
                <a:latin typeface="DeepSeek-CJK-patch"/>
              </a:rPr>
              <a:t>Trạng thái thực thi (execution state)</a:t>
            </a:r>
          </a:p>
          <a:p>
            <a:pPr marL="742950" lvl="1" indent="-285750" algn="l">
              <a:buFont typeface="Arial" panose="020B0604020202020204" pitchFamily="34" charset="0"/>
              <a:buChar char="•"/>
            </a:pPr>
            <a:r>
              <a:rPr lang="vi-VN" b="1" i="0" dirty="0">
                <a:solidFill>
                  <a:srgbClr val="404040"/>
                </a:solidFill>
                <a:effectLst/>
                <a:latin typeface="DeepSeek-CJK-patch"/>
              </a:rPr>
              <a:t>Lưu trữ ngữ cảnh (context saving):</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Khi một thread tạm dừng, hệ thống lưu lại trạng thái hiện tại để sau này có thể tiếp tục thực thi từ điểm đó.</a:t>
            </a:r>
          </a:p>
          <a:p>
            <a:pPr marL="742950" lvl="1" indent="-285750" algn="l">
              <a:buFont typeface="Arial" panose="020B0604020202020204" pitchFamily="34" charset="0"/>
              <a:buChar char="•"/>
            </a:pPr>
            <a:r>
              <a:rPr lang="vi-VN" b="0" i="0" dirty="0">
                <a:solidFill>
                  <a:srgbClr val="404040"/>
                </a:solidFill>
                <a:effectLst/>
                <a:latin typeface="DeepSeek-CJK-patch"/>
              </a:rPr>
              <a:t>Một process có thể chứa </a:t>
            </a:r>
            <a:r>
              <a:rPr lang="vi-VN" b="1" i="0" dirty="0">
                <a:solidFill>
                  <a:srgbClr val="404040"/>
                </a:solidFill>
                <a:effectLst/>
                <a:latin typeface="DeepSeek-CJK-patch"/>
              </a:rPr>
              <a:t>nhiều threads</a:t>
            </a:r>
            <a:r>
              <a:rPr lang="vi-VN" b="0" i="0" dirty="0">
                <a:solidFill>
                  <a:srgbClr val="404040"/>
                </a:solidFill>
                <a:effectLst/>
                <a:latin typeface="DeepSeek-CJK-patch"/>
              </a:rPr>
              <a:t>, và các threads này chia sẻ tài nguyên của process (bộ nhớ, file, ...).</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Process (Tiến trình)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một </a:t>
            </a:r>
            <a:r>
              <a:rPr lang="vi-VN" b="1" i="0" dirty="0">
                <a:solidFill>
                  <a:srgbClr val="404040"/>
                </a:solidFill>
                <a:effectLst/>
                <a:latin typeface="DeepSeek-CJK-patch"/>
              </a:rPr>
              <a:t>môi trường thực thi phần mềm</a:t>
            </a:r>
            <a:r>
              <a:rPr lang="vi-VN" b="0" i="0" dirty="0">
                <a:solidFill>
                  <a:srgbClr val="404040"/>
                </a:solidFill>
                <a:effectLst/>
                <a:latin typeface="DeepSeek-CJK-patch"/>
              </a:rPr>
              <a:t> chứa một hoặc nhiều threads.</a:t>
            </a:r>
          </a:p>
          <a:p>
            <a:pPr marL="742950" lvl="1" indent="-285750" algn="l">
              <a:buFont typeface="Arial" panose="020B0604020202020204" pitchFamily="34" charset="0"/>
              <a:buChar char="•"/>
            </a:pPr>
            <a:r>
              <a:rPr lang="vi-VN" b="0" i="0" dirty="0">
                <a:solidFill>
                  <a:srgbClr val="404040"/>
                </a:solidFill>
                <a:effectLst/>
                <a:latin typeface="DeepSeek-CJK-patch"/>
              </a:rPr>
              <a:t>Cung cấp không gian địa chỉ (address space), tài nguyên (bộ nhớ, file, thiết bị I/O), và quản lý các threads bên trong nó.</a:t>
            </a:r>
          </a:p>
          <a:p>
            <a:pPr algn="l">
              <a:buFont typeface="Arial" panose="020B0604020202020204" pitchFamily="34" charset="0"/>
              <a:buChar char="•"/>
            </a:pPr>
            <a:r>
              <a:rPr lang="vi-VN" b="1" i="0" dirty="0">
                <a:solidFill>
                  <a:srgbClr val="404040"/>
                </a:solidFill>
                <a:effectLst/>
                <a:latin typeface="DeepSeek-CJK-patch"/>
              </a:rPr>
              <a:t>So sánh với Thread:</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Process</a:t>
            </a:r>
            <a:r>
              <a:rPr lang="vi-VN" b="0" i="0" dirty="0">
                <a:solidFill>
                  <a:srgbClr val="404040"/>
                </a:solidFill>
                <a:effectLst/>
                <a:latin typeface="DeepSeek-CJK-patch"/>
              </a:rPr>
              <a:t> = Container (chứa tài nguyên) + 1 hoặc nhiều </a:t>
            </a:r>
            <a:r>
              <a:rPr lang="vi-VN" b="1" i="0" dirty="0">
                <a:solidFill>
                  <a:srgbClr val="404040"/>
                </a:solidFill>
                <a:effectLst/>
                <a:latin typeface="DeepSeek-CJK-patch"/>
              </a:rPr>
              <a:t>threads</a:t>
            </a:r>
            <a:r>
              <a:rPr lang="vi-VN" b="0" i="0" dirty="0">
                <a:solidFill>
                  <a:srgbClr val="404040"/>
                </a:solidFill>
                <a:effectLst/>
                <a:latin typeface="DeepSeek-CJK-patch"/>
              </a:rPr>
              <a:t> (đơn vị thực thi).</a:t>
            </a:r>
          </a:p>
          <a:p>
            <a:pPr marL="742950" lvl="1" indent="-285750" algn="l">
              <a:buFont typeface="Arial" panose="020B0604020202020204" pitchFamily="34" charset="0"/>
              <a:buChar char="•"/>
            </a:pPr>
            <a:r>
              <a:rPr lang="vi-VN" b="1" i="0" dirty="0">
                <a:solidFill>
                  <a:srgbClr val="404040"/>
                </a:solidFill>
                <a:effectLst/>
                <a:latin typeface="DeepSeek-CJK-patch"/>
              </a:rPr>
              <a:t>Threads trong cùng process</a:t>
            </a:r>
            <a:r>
              <a:rPr lang="vi-VN" b="0" i="0" dirty="0">
                <a:solidFill>
                  <a:srgbClr val="404040"/>
                </a:solidFill>
                <a:effectLst/>
                <a:latin typeface="DeepSeek-CJK-patch"/>
              </a:rPr>
              <a:t> chia sẻ tài nguyên, trong khi </a:t>
            </a:r>
            <a:r>
              <a:rPr lang="vi-VN" b="1" i="0" dirty="0">
                <a:solidFill>
                  <a:srgbClr val="404040"/>
                </a:solidFill>
                <a:effectLst/>
                <a:latin typeface="DeepSeek-CJK-patch"/>
              </a:rPr>
              <a:t>các processes</a:t>
            </a:r>
            <a:r>
              <a:rPr lang="vi-VN" b="0" i="0" dirty="0">
                <a:solidFill>
                  <a:srgbClr val="404040"/>
                </a:solidFill>
                <a:effectLst/>
                <a:latin typeface="DeepSeek-CJK-patch"/>
              </a:rPr>
              <a:t> độc lập với nhau.</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Tóm tắt mối quan hệ:</a:t>
            </a:r>
            <a:endParaRPr lang="vi-VN" b="0" i="0" dirty="0">
              <a:solidFill>
                <a:srgbClr val="404040"/>
              </a:solidFill>
              <a:effectLst/>
              <a:latin typeface="DeepSeek-CJK-patch"/>
            </a:endParaRPr>
          </a:p>
          <a:p>
            <a:pPr algn="l">
              <a:buFont typeface="+mj-lt"/>
              <a:buAutoNum type="arabicPeriod"/>
            </a:pPr>
            <a:r>
              <a:rPr lang="vi-VN" b="1" i="0" dirty="0">
                <a:solidFill>
                  <a:srgbClr val="404040"/>
                </a:solidFill>
                <a:effectLst/>
                <a:latin typeface="DeepSeek-CJK-patch"/>
              </a:rPr>
              <a:t>Processor (CPU vật lý)</a:t>
            </a:r>
            <a:r>
              <a:rPr lang="vi-VN" b="0" i="0" dirty="0">
                <a:solidFill>
                  <a:srgbClr val="404040"/>
                </a:solidFill>
                <a:effectLst/>
                <a:latin typeface="DeepSeek-CJK-patch"/>
              </a:rPr>
              <a:t> → Thực thi các chỉ thị.</a:t>
            </a:r>
          </a:p>
          <a:p>
            <a:pPr algn="l">
              <a:buFont typeface="+mj-lt"/>
              <a:buAutoNum type="arabicPeriod"/>
            </a:pPr>
            <a:r>
              <a:rPr lang="vi-VN" b="1" i="0" dirty="0">
                <a:solidFill>
                  <a:srgbClr val="404040"/>
                </a:solidFill>
                <a:effectLst/>
                <a:latin typeface="DeepSeek-CJK-patch"/>
              </a:rPr>
              <a:t>Process</a:t>
            </a:r>
            <a:r>
              <a:rPr lang="vi-VN" b="0" i="0" dirty="0">
                <a:solidFill>
                  <a:srgbClr val="404040"/>
                </a:solidFill>
                <a:effectLst/>
                <a:latin typeface="DeepSeek-CJK-patch"/>
              </a:rPr>
              <a:t> → Môi trường chứa tài nguyên để chạy chương trình.</a:t>
            </a:r>
          </a:p>
          <a:p>
            <a:pPr algn="l">
              <a:buFont typeface="+mj-lt"/>
              <a:buAutoNum type="arabicPeriod"/>
            </a:pPr>
            <a:r>
              <a:rPr lang="vi-VN" b="1" i="0" dirty="0">
                <a:solidFill>
                  <a:srgbClr val="404040"/>
                </a:solidFill>
                <a:effectLst/>
                <a:latin typeface="DeepSeek-CJK-patch"/>
              </a:rPr>
              <a:t>Thread</a:t>
            </a:r>
            <a:r>
              <a:rPr lang="vi-VN" b="0" i="0" dirty="0">
                <a:solidFill>
                  <a:srgbClr val="404040"/>
                </a:solidFill>
                <a:effectLst/>
                <a:latin typeface="DeepSeek-CJK-patch"/>
              </a:rPr>
              <a:t> → Đơn vị thực thi nhỏ nhất trong process, chạy trên CPU.</a:t>
            </a:r>
          </a:p>
          <a:p>
            <a:pPr algn="l"/>
            <a:r>
              <a:rPr lang="vi-VN" b="1" i="0" dirty="0">
                <a:solidFill>
                  <a:srgbClr val="404040"/>
                </a:solidFill>
                <a:effectLst/>
                <a:latin typeface="DeepSeek-CJK-patch"/>
              </a:rPr>
              <a:t>Ứng dụng của Threads:</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Đa luồng (multithreading) giúp tăng hiệu suất:</a:t>
            </a:r>
          </a:p>
          <a:p>
            <a:pPr marL="742950" lvl="1" indent="-285750" algn="l">
              <a:buFont typeface="Arial" panose="020B0604020202020204" pitchFamily="34" charset="0"/>
              <a:buChar char="•"/>
            </a:pPr>
            <a:r>
              <a:rPr lang="vi-VN" b="0" i="0" dirty="0">
                <a:solidFill>
                  <a:srgbClr val="404040"/>
                </a:solidFill>
                <a:effectLst/>
                <a:latin typeface="DeepSeek-CJK-patch"/>
              </a:rPr>
              <a:t>Chạy song song nhiều tác vụ (vd: vừa render video vừa nhận input từ người dùng).</a:t>
            </a:r>
          </a:p>
          <a:p>
            <a:pPr marL="742950" lvl="1" indent="-285750" algn="l">
              <a:buFont typeface="Arial" panose="020B0604020202020204" pitchFamily="34" charset="0"/>
              <a:buChar char="•"/>
            </a:pPr>
            <a:r>
              <a:rPr lang="vi-VN" b="0" i="0" dirty="0">
                <a:solidFill>
                  <a:srgbClr val="404040"/>
                </a:solidFill>
                <a:effectLst/>
                <a:latin typeface="DeepSeek-CJK-patch"/>
              </a:rPr>
              <a:t>Tận dụng đa lõi CPU.</a:t>
            </a:r>
          </a:p>
          <a:p>
            <a:pPr algn="l">
              <a:buFont typeface="Arial" panose="020B0604020202020204" pitchFamily="34" charset="0"/>
              <a:buChar char="•"/>
            </a:pPr>
            <a:r>
              <a:rPr lang="vi-VN" b="0" i="0" dirty="0">
                <a:solidFill>
                  <a:srgbClr val="404040"/>
                </a:solidFill>
                <a:effectLst/>
                <a:latin typeface="DeepSeek-CJK-patch"/>
              </a:rPr>
              <a:t>Ví dụ:</a:t>
            </a:r>
          </a:p>
          <a:p>
            <a:pPr marL="742950" lvl="1" indent="-285750" algn="l">
              <a:buFont typeface="Arial" panose="020B0604020202020204" pitchFamily="34" charset="0"/>
              <a:buChar char="•"/>
            </a:pPr>
            <a:r>
              <a:rPr lang="vi-VN" b="0" i="0" dirty="0">
                <a:solidFill>
                  <a:srgbClr val="404040"/>
                </a:solidFill>
                <a:effectLst/>
                <a:latin typeface="DeepSeek-CJK-patch"/>
              </a:rPr>
              <a:t>Trình duyệt web: Mỗi tab có thể là một thread riêng.</a:t>
            </a:r>
          </a:p>
          <a:p>
            <a:pPr marL="742950" lvl="1" indent="-285750" algn="l">
              <a:buFont typeface="Arial" panose="020B0604020202020204" pitchFamily="34" charset="0"/>
              <a:buChar char="•"/>
            </a:pPr>
            <a:r>
              <a:rPr lang="vi-VN" b="0" i="0" dirty="0">
                <a:solidFill>
                  <a:srgbClr val="404040"/>
                </a:solidFill>
                <a:effectLst/>
                <a:latin typeface="DeepSeek-CJK-patch"/>
              </a:rPr>
              <a:t>Game: Xử lý đồ họa, âm thanh, AI trong các luồng riêng.</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a:t>
            </a:fld>
            <a:endParaRPr lang="en-US"/>
          </a:p>
        </p:txBody>
      </p:sp>
    </p:spTree>
    <p:extLst>
      <p:ext uri="{BB962C8B-B14F-4D97-AF65-F5344CB8AC3E}">
        <p14:creationId xmlns:p14="http://schemas.microsoft.com/office/powerpoint/2010/main" val="6747399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404040"/>
                </a:solidFill>
                <a:effectLst/>
                <a:latin typeface="DeepSeek-CJK-patch"/>
              </a:rPr>
              <a:t>C</a:t>
            </a:r>
            <a:r>
              <a:rPr lang="vi-VN" b="0" i="0" dirty="0">
                <a:solidFill>
                  <a:srgbClr val="404040"/>
                </a:solidFill>
                <a:effectLst/>
                <a:latin typeface="DeepSeek-CJK-patch"/>
              </a:rPr>
              <a:t>ác khái niệm quan trọng về </a:t>
            </a:r>
            <a:r>
              <a:rPr lang="vi-VN" b="1" i="0" dirty="0">
                <a:solidFill>
                  <a:srgbClr val="404040"/>
                </a:solidFill>
                <a:effectLst/>
                <a:latin typeface="DeepSeek-CJK-patch"/>
              </a:rPr>
              <a:t>context</a:t>
            </a:r>
            <a:r>
              <a:rPr lang="vi-VN" b="0" i="0" dirty="0">
                <a:solidFill>
                  <a:srgbClr val="404040"/>
                </a:solidFill>
                <a:effectLst/>
                <a:latin typeface="DeepSeek-CJK-patch"/>
              </a:rPr>
              <a:t> (</a:t>
            </a:r>
            <a:r>
              <a:rPr lang="en-US" b="0" i="0" dirty="0" err="1">
                <a:solidFill>
                  <a:srgbClr val="404040"/>
                </a:solidFill>
                <a:effectLst/>
                <a:latin typeface="DeepSeek-CJK-patch"/>
              </a:rPr>
              <a:t>ngữ</a:t>
            </a:r>
            <a:r>
              <a:rPr lang="en-US" b="0" i="0" dirty="0">
                <a:solidFill>
                  <a:srgbClr val="404040"/>
                </a:solidFill>
                <a:effectLst/>
                <a:latin typeface="DeepSeek-CJK-patch"/>
              </a:rPr>
              <a:t> </a:t>
            </a:r>
            <a:r>
              <a:rPr lang="en-US" b="0" i="0" dirty="0" err="1">
                <a:solidFill>
                  <a:srgbClr val="404040"/>
                </a:solidFill>
                <a:effectLst/>
                <a:latin typeface="DeepSeek-CJK-patch"/>
              </a:rPr>
              <a:t>cảnh</a:t>
            </a:r>
            <a:r>
              <a:rPr lang="en-US" b="0" i="0" dirty="0">
                <a:solidFill>
                  <a:srgbClr val="404040"/>
                </a:solidFill>
                <a:effectLst/>
                <a:latin typeface="DeepSeek-CJK-patch"/>
              </a:rPr>
              <a:t>/</a:t>
            </a:r>
            <a:r>
              <a:rPr lang="vi-VN" b="0" i="0" dirty="0">
                <a:solidFill>
                  <a:srgbClr val="404040"/>
                </a:solidFill>
                <a:effectLst/>
                <a:latin typeface="DeepSeek-CJK-patch"/>
              </a:rPr>
              <a:t>trạng thái hệ thống) khi thực hiện chuyển đổi giữa các tiến trình (processes) hoặc luồng (threads).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Processor Context (Ngữ cảnh bộ xử lý)</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tập hợp </a:t>
            </a:r>
            <a:r>
              <a:rPr lang="vi-VN" b="1" i="0" dirty="0">
                <a:solidFill>
                  <a:srgbClr val="404040"/>
                </a:solidFill>
                <a:effectLst/>
                <a:latin typeface="DeepSeek-CJK-patch"/>
              </a:rPr>
              <a:t>tối thiểu các giá trị trong thanh ghi (registers) của CPU</a:t>
            </a:r>
            <a:r>
              <a:rPr lang="vi-VN" b="0" i="0" dirty="0">
                <a:solidFill>
                  <a:srgbClr val="404040"/>
                </a:solidFill>
                <a:effectLst/>
                <a:latin typeface="DeepSeek-CJK-patch"/>
              </a:rPr>
              <a:t> để thực thi một chuỗi lệnh.</a:t>
            </a:r>
          </a:p>
          <a:p>
            <a:pPr marL="742950" lvl="1" indent="-285750" algn="l">
              <a:buFont typeface="Arial" panose="020B0604020202020204" pitchFamily="34" charset="0"/>
              <a:buChar char="•"/>
            </a:pPr>
            <a:r>
              <a:rPr lang="vi-VN" b="0" i="0" dirty="0">
                <a:solidFill>
                  <a:srgbClr val="404040"/>
                </a:solidFill>
                <a:effectLst/>
                <a:latin typeface="DeepSeek-CJK-patch"/>
              </a:rPr>
              <a:t>Ví dụ:</a:t>
            </a:r>
          </a:p>
          <a:p>
            <a:pPr marL="1143000" lvl="2" indent="-228600" algn="l">
              <a:buFont typeface="Arial" panose="020B0604020202020204" pitchFamily="34" charset="0"/>
              <a:buChar char="•"/>
            </a:pPr>
            <a:r>
              <a:rPr lang="vi-VN" b="1" i="0" dirty="0">
                <a:solidFill>
                  <a:srgbClr val="404040"/>
                </a:solidFill>
                <a:effectLst/>
                <a:latin typeface="DeepSeek-CJK-patch"/>
              </a:rPr>
              <a:t>Program Counter (PC)</a:t>
            </a:r>
            <a:r>
              <a:rPr lang="vi-VN" b="0" i="0" dirty="0">
                <a:solidFill>
                  <a:srgbClr val="404040"/>
                </a:solidFill>
                <a:effectLst/>
                <a:latin typeface="DeepSeek-CJK-patch"/>
              </a:rPr>
              <a:t>: Thanh ghi chứa địa chỉ lệnh tiếp theo sẽ thực thi.</a:t>
            </a:r>
          </a:p>
          <a:p>
            <a:pPr marL="1143000" lvl="2" indent="-228600" algn="l">
              <a:buFont typeface="Arial" panose="020B0604020202020204" pitchFamily="34" charset="0"/>
              <a:buChar char="•"/>
            </a:pPr>
            <a:r>
              <a:rPr lang="vi-VN" b="1" i="0" dirty="0">
                <a:solidFill>
                  <a:srgbClr val="404040"/>
                </a:solidFill>
                <a:effectLst/>
                <a:latin typeface="DeepSeek-CJK-patch"/>
              </a:rPr>
              <a:t>Stack Pointer (SP)</a:t>
            </a:r>
            <a:r>
              <a:rPr lang="vi-VN" b="0" i="0" dirty="0">
                <a:solidFill>
                  <a:srgbClr val="404040"/>
                </a:solidFill>
                <a:effectLst/>
                <a:latin typeface="DeepSeek-CJK-patch"/>
              </a:rPr>
              <a:t>: Thanh ghi trỏ đến đỉnh ngăn xếp (stack) hiện tại.</a:t>
            </a:r>
          </a:p>
          <a:p>
            <a:pPr marL="1143000" lvl="2" indent="-228600" algn="l">
              <a:buFont typeface="Arial" panose="020B0604020202020204" pitchFamily="34" charset="0"/>
              <a:buChar char="•"/>
            </a:pPr>
            <a:r>
              <a:rPr lang="vi-VN" b="1" i="0" dirty="0">
                <a:solidFill>
                  <a:srgbClr val="404040"/>
                </a:solidFill>
                <a:effectLst/>
                <a:latin typeface="DeepSeek-CJK-patch"/>
              </a:rPr>
              <a:t>Các thanh ghi địa chỉ (Addressing Registers)</a:t>
            </a:r>
            <a:r>
              <a:rPr lang="vi-VN" b="0" i="0" dirty="0">
                <a:solidFill>
                  <a:srgbClr val="404040"/>
                </a:solidFill>
                <a:effectLst/>
                <a:latin typeface="DeepSeek-CJK-patch"/>
              </a:rPr>
              <a:t>: Dùng để truy cập bộ nhớ.</a:t>
            </a:r>
          </a:p>
          <a:p>
            <a:pPr algn="l">
              <a:buFont typeface="Arial" panose="020B0604020202020204" pitchFamily="34" charset="0"/>
              <a:buChar char="•"/>
            </a:pPr>
            <a:r>
              <a:rPr lang="vi-VN" b="1" i="0" dirty="0">
                <a:solidFill>
                  <a:srgbClr val="404040"/>
                </a:solidFill>
                <a:effectLst/>
                <a:latin typeface="DeepSeek-CJK-patch"/>
              </a:rPr>
              <a:t>Mục đích: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CPU chuyển từ tác vụ này sang tác vụ khác, nó cần </a:t>
            </a:r>
            <a:r>
              <a:rPr lang="vi-VN" b="1" i="0" dirty="0">
                <a:solidFill>
                  <a:srgbClr val="404040"/>
                </a:solidFill>
                <a:effectLst/>
                <a:latin typeface="DeepSeek-CJK-patch"/>
              </a:rPr>
              <a:t>lưu lại Processor Context</a:t>
            </a:r>
            <a:r>
              <a:rPr lang="vi-VN" b="0" i="0" dirty="0">
                <a:solidFill>
                  <a:srgbClr val="404040"/>
                </a:solidFill>
                <a:effectLst/>
                <a:latin typeface="DeepSeek-CJK-patch"/>
              </a:rPr>
              <a:t> để sau này có thể </a:t>
            </a:r>
            <a:r>
              <a:rPr lang="vi-VN" b="1" i="0" dirty="0">
                <a:solidFill>
                  <a:srgbClr val="404040"/>
                </a:solidFill>
                <a:effectLst/>
                <a:latin typeface="DeepSeek-CJK-patch"/>
              </a:rPr>
              <a:t>khôi phục và tiếp tục thực thi</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Thread Context (Ngữ cảnh luồng)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a:t>
            </a:r>
            <a:r>
              <a:rPr lang="vi-VN" b="1" i="0" dirty="0">
                <a:solidFill>
                  <a:srgbClr val="404040"/>
                </a:solidFill>
                <a:effectLst/>
                <a:latin typeface="DeepSeek-CJK-patch"/>
              </a:rPr>
              <a:t>tập hợp các giá trị trong thanh ghi (registers) và bộ nhớ (memory)</a:t>
            </a:r>
            <a:r>
              <a:rPr lang="vi-VN" b="0" i="0" dirty="0">
                <a:solidFill>
                  <a:srgbClr val="404040"/>
                </a:solidFill>
                <a:effectLst/>
                <a:latin typeface="DeepSeek-CJK-patch"/>
              </a:rPr>
              <a:t> cần thiết để thực thi một luồng.</a:t>
            </a:r>
          </a:p>
          <a:p>
            <a:pPr marL="742950" lvl="1" indent="-285750" algn="l">
              <a:buFont typeface="Arial" panose="020B0604020202020204" pitchFamily="34" charset="0"/>
              <a:buChar char="•"/>
            </a:pPr>
            <a:r>
              <a:rPr lang="vi-VN" b="0" i="0" dirty="0">
                <a:solidFill>
                  <a:srgbClr val="404040"/>
                </a:solidFill>
                <a:effectLst/>
                <a:latin typeface="DeepSeek-CJK-patch"/>
              </a:rPr>
              <a:t>Bao gồm:</a:t>
            </a:r>
          </a:p>
          <a:p>
            <a:pPr marL="1143000" lvl="2" indent="-228600" algn="l">
              <a:buFont typeface="Arial" panose="020B0604020202020204" pitchFamily="34" charset="0"/>
              <a:buChar char="•"/>
            </a:pPr>
            <a:r>
              <a:rPr lang="vi-VN" b="1" i="0" dirty="0">
                <a:solidFill>
                  <a:srgbClr val="404040"/>
                </a:solidFill>
                <a:effectLst/>
                <a:latin typeface="DeepSeek-CJK-patch"/>
              </a:rPr>
              <a:t>Processor Context</a:t>
            </a:r>
            <a:r>
              <a:rPr lang="vi-VN" b="0" i="0" dirty="0">
                <a:solidFill>
                  <a:srgbClr val="404040"/>
                </a:solidFill>
                <a:effectLst/>
                <a:latin typeface="DeepSeek-CJK-patch"/>
              </a:rPr>
              <a:t> (các thanh ghi CPU như PC, SP).</a:t>
            </a:r>
          </a:p>
          <a:p>
            <a:pPr marL="1143000" lvl="2" indent="-228600" algn="l">
              <a:buFont typeface="Arial" panose="020B0604020202020204" pitchFamily="34" charset="0"/>
              <a:buChar char="•"/>
            </a:pPr>
            <a:r>
              <a:rPr lang="vi-VN" b="1" i="0" dirty="0">
                <a:solidFill>
                  <a:srgbClr val="404040"/>
                </a:solidFill>
                <a:effectLst/>
                <a:latin typeface="DeepSeek-CJK-patch"/>
              </a:rPr>
              <a:t>Trạng thái luồng (Thread State)</a:t>
            </a:r>
            <a:r>
              <a:rPr lang="vi-VN" b="0" i="0" dirty="0">
                <a:solidFill>
                  <a:srgbClr val="404040"/>
                </a:solidFill>
                <a:effectLst/>
                <a:latin typeface="DeepSeek-CJK-patch"/>
              </a:rPr>
              <a:t>: Ví dụ: Running, Ready, Blocked.</a:t>
            </a:r>
          </a:p>
          <a:p>
            <a:pPr marL="1143000" lvl="2" indent="-228600" algn="l">
              <a:buFont typeface="Arial" panose="020B0604020202020204" pitchFamily="34" charset="0"/>
              <a:buChar char="•"/>
            </a:pPr>
            <a:r>
              <a:rPr lang="vi-VN" b="1" i="0" dirty="0">
                <a:solidFill>
                  <a:srgbClr val="404040"/>
                </a:solidFill>
                <a:effectLst/>
                <a:latin typeface="DeepSeek-CJK-patch"/>
              </a:rPr>
              <a:t>Các biến cục bộ (local variables), ngăn xếp (stack) của luồng</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Vai trò:</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hệ điều hành </a:t>
            </a:r>
            <a:r>
              <a:rPr lang="vi-VN" b="1" i="0" dirty="0">
                <a:solidFill>
                  <a:srgbClr val="404040"/>
                </a:solidFill>
                <a:effectLst/>
                <a:latin typeface="DeepSeek-CJK-patch"/>
              </a:rPr>
              <a:t>chuyển đổi giữa các luồng (thread switching)</a:t>
            </a:r>
            <a:r>
              <a:rPr lang="vi-VN" b="0" i="0" dirty="0">
                <a:solidFill>
                  <a:srgbClr val="404040"/>
                </a:solidFill>
                <a:effectLst/>
                <a:latin typeface="DeepSeek-CJK-patch"/>
              </a:rPr>
              <a:t>, nó phải lưu </a:t>
            </a:r>
            <a:r>
              <a:rPr lang="vi-VN" b="1" i="0" dirty="0">
                <a:solidFill>
                  <a:srgbClr val="404040"/>
                </a:solidFill>
                <a:effectLst/>
                <a:latin typeface="DeepSeek-CJK-patch"/>
              </a:rPr>
              <a:t>Thread Context</a:t>
            </a:r>
            <a:r>
              <a:rPr lang="vi-VN" b="0" i="0" dirty="0">
                <a:solidFill>
                  <a:srgbClr val="404040"/>
                </a:solidFill>
                <a:effectLst/>
                <a:latin typeface="DeepSeek-CJK-patch"/>
              </a:rPr>
              <a:t> của luồng đang chạy và khôi phục </a:t>
            </a:r>
            <a:r>
              <a:rPr lang="vi-VN" b="1" i="0" dirty="0">
                <a:solidFill>
                  <a:srgbClr val="404040"/>
                </a:solidFill>
                <a:effectLst/>
                <a:latin typeface="DeepSeek-CJK-patch"/>
              </a:rPr>
              <a:t>Thread Context</a:t>
            </a:r>
            <a:r>
              <a:rPr lang="vi-VN" b="0" i="0" dirty="0">
                <a:solidFill>
                  <a:srgbClr val="404040"/>
                </a:solidFill>
                <a:effectLst/>
                <a:latin typeface="DeepSeek-CJK-patch"/>
              </a:rPr>
              <a:t> của luồng mới.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Process Context (Ngữ cảnh tiến trình)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Là </a:t>
            </a:r>
            <a:r>
              <a:rPr lang="vi-VN" b="1" i="0" dirty="0">
                <a:solidFill>
                  <a:srgbClr val="404040"/>
                </a:solidFill>
                <a:effectLst/>
                <a:latin typeface="DeepSeek-CJK-patch"/>
              </a:rPr>
              <a:t>tập hợp các giá trị trong thanh ghi (registers) và bộ nhớ (memory)</a:t>
            </a:r>
            <a:r>
              <a:rPr lang="vi-VN" b="0" i="0" dirty="0">
                <a:solidFill>
                  <a:srgbClr val="404040"/>
                </a:solidFill>
                <a:effectLst/>
                <a:latin typeface="DeepSeek-CJK-patch"/>
              </a:rPr>
              <a:t> cần thiết để thực thi một tiến trình.</a:t>
            </a:r>
          </a:p>
          <a:p>
            <a:pPr marL="742950" lvl="1" indent="-285750" algn="l">
              <a:buFont typeface="Arial" panose="020B0604020202020204" pitchFamily="34" charset="0"/>
              <a:buChar char="•"/>
            </a:pPr>
            <a:r>
              <a:rPr lang="vi-VN" b="0" i="0" dirty="0">
                <a:solidFill>
                  <a:srgbClr val="404040"/>
                </a:solidFill>
                <a:effectLst/>
                <a:latin typeface="DeepSeek-CJK-patch"/>
              </a:rPr>
              <a:t>Bao gồm:</a:t>
            </a:r>
          </a:p>
          <a:p>
            <a:pPr marL="1143000" lvl="2" indent="-228600" algn="l">
              <a:buFont typeface="Arial" panose="020B0604020202020204" pitchFamily="34" charset="0"/>
              <a:buChar char="•"/>
            </a:pPr>
            <a:r>
              <a:rPr lang="vi-VN" b="1" i="0" dirty="0">
                <a:solidFill>
                  <a:srgbClr val="404040"/>
                </a:solidFill>
                <a:effectLst/>
                <a:latin typeface="DeepSeek-CJK-patch"/>
              </a:rPr>
              <a:t>Thread Context</a:t>
            </a:r>
            <a:r>
              <a:rPr lang="vi-VN" b="0" i="0" dirty="0">
                <a:solidFill>
                  <a:srgbClr val="404040"/>
                </a:solidFill>
                <a:effectLst/>
                <a:latin typeface="DeepSeek-CJK-patch"/>
              </a:rPr>
              <a:t> (các thanh ghi CPU, stack, trạng thái luồng).</a:t>
            </a:r>
          </a:p>
          <a:p>
            <a:pPr marL="1143000" lvl="2" indent="-228600" algn="l">
              <a:buFont typeface="Arial" panose="020B0604020202020204" pitchFamily="34" charset="0"/>
              <a:buChar char="•"/>
            </a:pPr>
            <a:r>
              <a:rPr lang="vi-VN" b="1" i="0" dirty="0">
                <a:solidFill>
                  <a:srgbClr val="404040"/>
                </a:solidFill>
                <a:effectLst/>
                <a:latin typeface="DeepSeek-CJK-patch"/>
              </a:rPr>
              <a:t>MMU Register Values</a:t>
            </a:r>
            <a:r>
              <a:rPr lang="vi-VN" b="0" i="0" dirty="0">
                <a:solidFill>
                  <a:srgbClr val="404040"/>
                </a:solidFill>
                <a:effectLst/>
                <a:latin typeface="DeepSeek-CJK-patch"/>
              </a:rPr>
              <a:t> (Memory Management Unit):</a:t>
            </a:r>
          </a:p>
          <a:p>
            <a:pPr marL="1600200" lvl="3" indent="-228600" algn="l">
              <a:buFont typeface="Arial" panose="020B0604020202020204" pitchFamily="34" charset="0"/>
              <a:buChar char="•"/>
            </a:pPr>
            <a:r>
              <a:rPr lang="vi-VN" b="0" i="0" dirty="0">
                <a:solidFill>
                  <a:srgbClr val="404040"/>
                </a:solidFill>
                <a:effectLst/>
                <a:latin typeface="DeepSeek-CJK-patch"/>
              </a:rPr>
              <a:t>Chứa thông tin </a:t>
            </a:r>
            <a:r>
              <a:rPr lang="vi-VN" b="1" i="0" dirty="0">
                <a:solidFill>
                  <a:srgbClr val="404040"/>
                </a:solidFill>
                <a:effectLst/>
                <a:latin typeface="DeepSeek-CJK-patch"/>
              </a:rPr>
              <a:t>quản lý bộ nhớ ảo</a:t>
            </a:r>
            <a:r>
              <a:rPr lang="vi-VN" b="0" i="0" dirty="0">
                <a:solidFill>
                  <a:srgbClr val="404040"/>
                </a:solidFill>
                <a:effectLst/>
                <a:latin typeface="DeepSeek-CJK-patch"/>
              </a:rPr>
              <a:t> (virtual memory), như </a:t>
            </a:r>
            <a:r>
              <a:rPr lang="vi-VN" b="1" i="0" dirty="0">
                <a:solidFill>
                  <a:srgbClr val="404040"/>
                </a:solidFill>
                <a:effectLst/>
                <a:latin typeface="DeepSeek-CJK-patch"/>
              </a:rPr>
              <a:t>page tables</a:t>
            </a:r>
            <a:r>
              <a:rPr lang="vi-VN" b="0" i="0" dirty="0">
                <a:solidFill>
                  <a:srgbClr val="404040"/>
                </a:solidFill>
                <a:effectLst/>
                <a:latin typeface="DeepSeek-CJK-patch"/>
              </a:rPr>
              <a:t>.</a:t>
            </a:r>
          </a:p>
          <a:p>
            <a:pPr marL="1600200" lvl="3" indent="-228600" algn="l">
              <a:buFont typeface="Arial" panose="020B0604020202020204" pitchFamily="34" charset="0"/>
              <a:buChar char="•"/>
            </a:pPr>
            <a:r>
              <a:rPr lang="vi-VN" b="0" i="0" dirty="0">
                <a:solidFill>
                  <a:srgbClr val="404040"/>
                </a:solidFill>
                <a:effectLst/>
                <a:latin typeface="DeepSeek-CJK-patch"/>
              </a:rPr>
              <a:t>Giúp ánh xạ địa chỉ ảo (virtual addresses) sang địa chỉ vật lý (physical addresses).</a:t>
            </a:r>
          </a:p>
          <a:p>
            <a:pPr marL="1143000" lvl="2" indent="-228600" algn="l">
              <a:buFont typeface="Arial" panose="020B0604020202020204" pitchFamily="34" charset="0"/>
              <a:buChar char="•"/>
            </a:pPr>
            <a:r>
              <a:rPr lang="vi-VN" b="1" i="0" dirty="0">
                <a:solidFill>
                  <a:srgbClr val="404040"/>
                </a:solidFill>
                <a:effectLst/>
                <a:latin typeface="DeepSeek-CJK-patch"/>
              </a:rPr>
              <a:t>Tài nguyên tiến trình</a:t>
            </a:r>
            <a:r>
              <a:rPr lang="vi-VN" b="0" i="0" dirty="0">
                <a:solidFill>
                  <a:srgbClr val="404040"/>
                </a:solidFill>
                <a:effectLst/>
                <a:latin typeface="DeepSeek-CJK-patch"/>
              </a:rPr>
              <a:t>: File descriptors, thông tin I/O, quyền truy cập.</a:t>
            </a:r>
          </a:p>
          <a:p>
            <a:pPr algn="l">
              <a:buFont typeface="Arial" panose="020B0604020202020204" pitchFamily="34" charset="0"/>
              <a:buChar char="•"/>
            </a:pPr>
            <a:r>
              <a:rPr lang="vi-VN" b="1" i="0" dirty="0">
                <a:solidFill>
                  <a:srgbClr val="404040"/>
                </a:solidFill>
                <a:effectLst/>
                <a:latin typeface="DeepSeek-CJK-patch"/>
              </a:rPr>
              <a:t>Vai trò:</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hệ điều hành </a:t>
            </a:r>
            <a:r>
              <a:rPr lang="vi-VN" b="1" i="0" dirty="0">
                <a:solidFill>
                  <a:srgbClr val="404040"/>
                </a:solidFill>
                <a:effectLst/>
                <a:latin typeface="DeepSeek-CJK-patch"/>
              </a:rPr>
              <a:t>chuyển đổi giữa các tiến trình (process switching)</a:t>
            </a:r>
            <a:r>
              <a:rPr lang="vi-VN" b="0" i="0" dirty="0">
                <a:solidFill>
                  <a:srgbClr val="404040"/>
                </a:solidFill>
                <a:effectLst/>
                <a:latin typeface="DeepSeek-CJK-patch"/>
              </a:rPr>
              <a:t>, nó phải:</a:t>
            </a:r>
          </a:p>
          <a:p>
            <a:pPr marL="1143000" lvl="2" indent="-228600" algn="l">
              <a:buFont typeface="Arial" panose="020B0604020202020204" pitchFamily="34" charset="0"/>
              <a:buChar char="•"/>
            </a:pPr>
            <a:r>
              <a:rPr lang="vi-VN" b="0" i="0" dirty="0">
                <a:solidFill>
                  <a:srgbClr val="404040"/>
                </a:solidFill>
                <a:effectLst/>
                <a:latin typeface="DeepSeek-CJK-patch"/>
              </a:rPr>
              <a:t>Lưu </a:t>
            </a:r>
            <a:r>
              <a:rPr lang="vi-VN" b="1" i="0" dirty="0">
                <a:solidFill>
                  <a:srgbClr val="404040"/>
                </a:solidFill>
                <a:effectLst/>
                <a:latin typeface="DeepSeek-CJK-patch"/>
              </a:rPr>
              <a:t>Process Context</a:t>
            </a:r>
            <a:r>
              <a:rPr lang="vi-VN" b="0" i="0" dirty="0">
                <a:solidFill>
                  <a:srgbClr val="404040"/>
                </a:solidFill>
                <a:effectLst/>
                <a:latin typeface="DeepSeek-CJK-patch"/>
              </a:rPr>
              <a:t> của tiến trình đang chạy.</a:t>
            </a:r>
          </a:p>
          <a:p>
            <a:pPr marL="1143000" lvl="2" indent="-228600" algn="l">
              <a:buFont typeface="Arial" panose="020B0604020202020204" pitchFamily="34" charset="0"/>
              <a:buChar char="•"/>
            </a:pPr>
            <a:r>
              <a:rPr lang="vi-VN" b="0" i="0" dirty="0">
                <a:solidFill>
                  <a:srgbClr val="404040"/>
                </a:solidFill>
                <a:effectLst/>
                <a:latin typeface="DeepSeek-CJK-patch"/>
              </a:rPr>
              <a:t>Nạp </a:t>
            </a:r>
            <a:r>
              <a:rPr lang="vi-VN" b="1" i="0" dirty="0">
                <a:solidFill>
                  <a:srgbClr val="404040"/>
                </a:solidFill>
                <a:effectLst/>
                <a:latin typeface="DeepSeek-CJK-patch"/>
              </a:rPr>
              <a:t>Process Context</a:t>
            </a:r>
            <a:r>
              <a:rPr lang="vi-VN" b="0" i="0" dirty="0">
                <a:solidFill>
                  <a:srgbClr val="404040"/>
                </a:solidFill>
                <a:effectLst/>
                <a:latin typeface="DeepSeek-CJK-patch"/>
              </a:rPr>
              <a:t> của tiến trình mới (bao gồm cả MMU registers).</a:t>
            </a:r>
            <a:endParaRPr lang="en-US" b="0" i="0" dirty="0">
              <a:solidFill>
                <a:srgbClr val="404040"/>
              </a:solidFill>
              <a:effectLst/>
              <a:latin typeface="DeepSeek-CJK-patch"/>
            </a:endParaRPr>
          </a:p>
          <a:p>
            <a:pPr marL="914400" lvl="2" indent="0" algn="l">
              <a:buFont typeface="Arial" panose="020B0604020202020204" pitchFamily="34" charset="0"/>
              <a:buNone/>
            </a:pPr>
            <a:endParaRPr lang="vi-VN" b="0" i="0" dirty="0">
              <a:solidFill>
                <a:srgbClr val="404040"/>
              </a:solidFill>
              <a:effectLst/>
              <a:latin typeface="DeepSeek-CJK-patch"/>
            </a:endParaRPr>
          </a:p>
          <a:p>
            <a:pPr algn="l"/>
            <a:r>
              <a:rPr lang="en-US" b="1" i="0" dirty="0">
                <a:solidFill>
                  <a:srgbClr val="404040"/>
                </a:solidFill>
                <a:effectLst/>
                <a:latin typeface="DeepSeek-CJK-patch"/>
              </a:rPr>
              <a:t>-------------------------------------------------------------------------------------------------------------------------------------------------</a:t>
            </a:r>
          </a:p>
          <a:p>
            <a:pPr algn="l"/>
            <a:r>
              <a:rPr lang="vi-VN" b="1" i="1" dirty="0">
                <a:solidFill>
                  <a:srgbClr val="404040"/>
                </a:solidFill>
                <a:effectLst/>
                <a:latin typeface="DeepSeek-CJK-patch"/>
              </a:rPr>
              <a:t>So sánh Context Switching giữa Thread và Process</a:t>
            </a:r>
            <a:endParaRPr lang="vi-VN" b="0" i="1" dirty="0">
              <a:solidFill>
                <a:srgbClr val="404040"/>
              </a:solidFill>
              <a:effectLst/>
              <a:latin typeface="DeepSeek-CJK-patch"/>
            </a:endParaRPr>
          </a:p>
          <a:p>
            <a:pPr algn="l"/>
            <a:r>
              <a:rPr lang="vi-VN" b="1" i="1" dirty="0"/>
              <a:t>Tiêu chí</a:t>
            </a:r>
            <a:r>
              <a:rPr lang="en-US" b="1" i="1" dirty="0"/>
              <a:t>		</a:t>
            </a:r>
            <a:r>
              <a:rPr lang="vi-VN" b="1" i="1" dirty="0"/>
              <a:t>Thread Switching</a:t>
            </a:r>
            <a:r>
              <a:rPr lang="en-US" b="1" i="1" dirty="0"/>
              <a:t>			</a:t>
            </a:r>
            <a:r>
              <a:rPr lang="vi-VN" b="1" i="1" dirty="0"/>
              <a:t>Process Switching</a:t>
            </a:r>
            <a:endParaRPr lang="en-US" b="1" i="1" dirty="0"/>
          </a:p>
          <a:p>
            <a:pPr algn="l"/>
            <a:r>
              <a:rPr lang="vi-VN" b="1" i="1" dirty="0">
                <a:effectLst/>
              </a:rPr>
              <a:t>Tốc độ</a:t>
            </a:r>
            <a:r>
              <a:rPr lang="en-US" b="1" i="1" dirty="0">
                <a:effectLst/>
              </a:rPr>
              <a:t>		</a:t>
            </a:r>
            <a:r>
              <a:rPr lang="vi-VN" i="1" dirty="0">
                <a:effectLst/>
              </a:rPr>
              <a:t>Nhanh hơn</a:t>
            </a:r>
            <a:r>
              <a:rPr lang="en-US" i="1" dirty="0">
                <a:effectLst/>
              </a:rPr>
              <a:t>				</a:t>
            </a:r>
            <a:r>
              <a:rPr lang="vi-VN" i="1" dirty="0">
                <a:effectLst/>
              </a:rPr>
              <a:t>Chậm hơn</a:t>
            </a:r>
            <a:endParaRPr lang="en-US" i="1" dirty="0">
              <a:effectLst/>
            </a:endParaRPr>
          </a:p>
          <a:p>
            <a:pPr algn="l"/>
            <a:r>
              <a:rPr lang="vi-VN" b="1" i="1" dirty="0">
                <a:effectLst/>
              </a:rPr>
              <a:t>Lý do</a:t>
            </a:r>
            <a:r>
              <a:rPr lang="en-US" b="1" i="1" dirty="0">
                <a:effectLst/>
              </a:rPr>
              <a:t>		</a:t>
            </a:r>
            <a:r>
              <a:rPr lang="vi-VN" i="1" dirty="0">
                <a:effectLst/>
              </a:rPr>
              <a:t>Chỉ thay đổi register &amp; stack</a:t>
            </a:r>
            <a:r>
              <a:rPr lang="en-US" i="1" dirty="0">
                <a:effectLst/>
              </a:rPr>
              <a:t>			</a:t>
            </a:r>
            <a:r>
              <a:rPr lang="vi-VN" i="1" dirty="0">
                <a:effectLst/>
              </a:rPr>
              <a:t>Phải thay đổi cả MMU, bộ nhớ ảo, tài nguyên</a:t>
            </a:r>
            <a:endParaRPr lang="en-US" i="1" dirty="0">
              <a:effectLst/>
            </a:endParaRPr>
          </a:p>
          <a:p>
            <a:pPr algn="l"/>
            <a:r>
              <a:rPr lang="vi-VN" b="1" i="1" dirty="0">
                <a:effectLst/>
              </a:rPr>
              <a:t>Chia sẻ tài nguyên</a:t>
            </a:r>
            <a:r>
              <a:rPr lang="en-US" b="1" i="1" dirty="0">
                <a:effectLst/>
              </a:rPr>
              <a:t>	</a:t>
            </a:r>
            <a:r>
              <a:rPr lang="vi-VN" i="1" dirty="0">
                <a:effectLst/>
              </a:rPr>
              <a:t>Các thread trong cùng process chia sẻ bộ nhớ</a:t>
            </a:r>
            <a:r>
              <a:rPr lang="en-US" i="1" dirty="0">
                <a:effectLst/>
              </a:rPr>
              <a:t>	</a:t>
            </a:r>
            <a:r>
              <a:rPr lang="vi-VN" i="1" dirty="0">
                <a:effectLst/>
              </a:rPr>
              <a:t>Các process độc lập, không chia sẻ trực tiếp</a:t>
            </a:r>
            <a:endParaRPr lang="en-US" i="1" dirty="0">
              <a:effectLst/>
            </a:endParaRPr>
          </a:p>
          <a:p>
            <a:pPr algn="l"/>
            <a:endParaRPr lang="en-US" b="1" i="1" dirty="0">
              <a:solidFill>
                <a:srgbClr val="404040"/>
              </a:solidFill>
              <a:effectLst/>
              <a:latin typeface="DeepSeek-CJK-patch"/>
            </a:endParaRPr>
          </a:p>
          <a:p>
            <a:pPr algn="l"/>
            <a:r>
              <a:rPr lang="vi-VN" b="1" i="1" dirty="0">
                <a:solidFill>
                  <a:srgbClr val="404040"/>
                </a:solidFill>
                <a:effectLst/>
                <a:latin typeface="DeepSeek-CJK-patch"/>
              </a:rPr>
              <a:t>Tại sao Context Switching quan trọng?</a:t>
            </a:r>
            <a:endParaRPr lang="vi-VN" b="0" i="1" dirty="0">
              <a:solidFill>
                <a:srgbClr val="404040"/>
              </a:solidFill>
              <a:effectLst/>
              <a:latin typeface="DeepSeek-CJK-patch"/>
            </a:endParaRPr>
          </a:p>
          <a:p>
            <a:pPr algn="l">
              <a:buFont typeface="Arial" panose="020B0604020202020204" pitchFamily="34" charset="0"/>
              <a:buChar char="•"/>
            </a:pPr>
            <a:r>
              <a:rPr lang="vi-VN" b="1" i="1" dirty="0">
                <a:solidFill>
                  <a:srgbClr val="404040"/>
                </a:solidFill>
                <a:effectLst/>
                <a:latin typeface="DeepSeek-CJK-patch"/>
              </a:rPr>
              <a:t>Đa nhiệm (Multitasking):</a:t>
            </a:r>
            <a:r>
              <a:rPr lang="vi-VN" b="0" i="1" dirty="0">
                <a:solidFill>
                  <a:srgbClr val="404040"/>
                </a:solidFill>
                <a:effectLst/>
                <a:latin typeface="DeepSeek-CJK-patch"/>
              </a:rPr>
              <a:t> Cho phép CPU chạy nhiều luồng/tiến trình cùng lúc.</a:t>
            </a:r>
          </a:p>
          <a:p>
            <a:pPr algn="l">
              <a:buFont typeface="Arial" panose="020B0604020202020204" pitchFamily="34" charset="0"/>
              <a:buChar char="•"/>
            </a:pPr>
            <a:r>
              <a:rPr lang="vi-VN" b="1" i="1" dirty="0">
                <a:solidFill>
                  <a:srgbClr val="404040"/>
                </a:solidFill>
                <a:effectLst/>
                <a:latin typeface="DeepSeek-CJK-patch"/>
              </a:rPr>
              <a:t>Hiệu suất:</a:t>
            </a:r>
            <a:r>
              <a:rPr lang="vi-VN" b="0" i="1" dirty="0">
                <a:solidFill>
                  <a:srgbClr val="404040"/>
                </a:solidFill>
                <a:effectLst/>
                <a:latin typeface="DeepSeek-CJK-patch"/>
              </a:rPr>
              <a:t> Giảm thời gian chờ đợi khi một task bị blocked (ví dụ: đợi I/O).</a:t>
            </a:r>
          </a:p>
          <a:p>
            <a:pPr algn="l">
              <a:buFont typeface="Arial" panose="020B0604020202020204" pitchFamily="34" charset="0"/>
              <a:buChar char="•"/>
            </a:pPr>
            <a:r>
              <a:rPr lang="vi-VN" b="1" i="1" dirty="0">
                <a:solidFill>
                  <a:srgbClr val="404040"/>
                </a:solidFill>
                <a:effectLst/>
                <a:latin typeface="DeepSeek-CJK-patch"/>
              </a:rPr>
              <a:t>Bảo mật:</a:t>
            </a:r>
            <a:r>
              <a:rPr lang="vi-VN" b="0" i="1" dirty="0">
                <a:solidFill>
                  <a:srgbClr val="404040"/>
                </a:solidFill>
                <a:effectLst/>
                <a:latin typeface="DeepSeek-CJK-patch"/>
              </a:rPr>
              <a:t> Mỗi process có không gian bộ nhớ riêng, ngăn chặn truy cập trái phép.</a:t>
            </a:r>
          </a:p>
          <a:p>
            <a:pPr algn="l"/>
            <a:r>
              <a:rPr lang="vi-VN" b="1" i="1" dirty="0">
                <a:solidFill>
                  <a:srgbClr val="404040"/>
                </a:solidFill>
                <a:effectLst/>
                <a:latin typeface="DeepSeek-CJK-patch"/>
              </a:rPr>
              <a:t>Ví dụ thực tế:</a:t>
            </a:r>
            <a:endParaRPr lang="vi-VN" b="0" i="1" dirty="0">
              <a:solidFill>
                <a:srgbClr val="404040"/>
              </a:solidFill>
              <a:effectLst/>
              <a:latin typeface="DeepSeek-CJK-patch"/>
            </a:endParaRPr>
          </a:p>
          <a:p>
            <a:pPr algn="l">
              <a:buFont typeface="+mj-lt"/>
              <a:buAutoNum type="arabicPeriod"/>
            </a:pPr>
            <a:r>
              <a:rPr lang="vi-VN" b="1" i="1" dirty="0">
                <a:solidFill>
                  <a:srgbClr val="404040"/>
                </a:solidFill>
                <a:effectLst/>
                <a:latin typeface="DeepSeek-CJK-patch"/>
              </a:rPr>
              <a:t>Khi mở Chrome và Word cùng lúc:</a:t>
            </a:r>
            <a:endParaRPr lang="vi-VN" b="0" i="1" dirty="0">
              <a:solidFill>
                <a:srgbClr val="404040"/>
              </a:solidFill>
              <a:effectLst/>
              <a:latin typeface="DeepSeek-CJK-patch"/>
            </a:endParaRPr>
          </a:p>
          <a:p>
            <a:pPr marL="742950" lvl="1" indent="-285750" algn="l">
              <a:buFont typeface="+mj-lt"/>
              <a:buAutoNum type="arabicPeriod"/>
            </a:pPr>
            <a:r>
              <a:rPr lang="vi-VN" b="0" i="1" dirty="0">
                <a:solidFill>
                  <a:srgbClr val="404040"/>
                </a:solidFill>
                <a:effectLst/>
                <a:latin typeface="DeepSeek-CJK-patch"/>
              </a:rPr>
              <a:t>Hệ điều hành chuyển đổi </a:t>
            </a:r>
            <a:r>
              <a:rPr lang="vi-VN" b="1" i="1" dirty="0">
                <a:solidFill>
                  <a:srgbClr val="404040"/>
                </a:solidFill>
                <a:effectLst/>
                <a:latin typeface="DeepSeek-CJK-patch"/>
              </a:rPr>
              <a:t>Process Context</a:t>
            </a:r>
            <a:r>
              <a:rPr lang="vi-VN" b="0" i="1" dirty="0">
                <a:solidFill>
                  <a:srgbClr val="404040"/>
                </a:solidFill>
                <a:effectLst/>
                <a:latin typeface="DeepSeek-CJK-patch"/>
              </a:rPr>
              <a:t> giữa Chrome và Word.</a:t>
            </a:r>
          </a:p>
          <a:p>
            <a:pPr algn="l">
              <a:buFont typeface="+mj-lt"/>
              <a:buAutoNum type="arabicPeriod"/>
            </a:pPr>
            <a:r>
              <a:rPr lang="vi-VN" b="1" i="1" dirty="0">
                <a:solidFill>
                  <a:srgbClr val="404040"/>
                </a:solidFill>
                <a:effectLst/>
                <a:latin typeface="DeepSeek-CJK-patch"/>
              </a:rPr>
              <a:t>Khi một tab Chrome bị treo:</a:t>
            </a:r>
            <a:endParaRPr lang="vi-VN" b="0" i="1" dirty="0">
              <a:solidFill>
                <a:srgbClr val="404040"/>
              </a:solidFill>
              <a:effectLst/>
              <a:latin typeface="DeepSeek-CJK-patch"/>
            </a:endParaRPr>
          </a:p>
          <a:p>
            <a:pPr marL="742950" lvl="1" indent="-285750" algn="l">
              <a:buFont typeface="+mj-lt"/>
              <a:buAutoNum type="arabicPeriod"/>
            </a:pPr>
            <a:r>
              <a:rPr lang="vi-VN" b="0" i="1" dirty="0">
                <a:solidFill>
                  <a:srgbClr val="404040"/>
                </a:solidFill>
                <a:effectLst/>
                <a:latin typeface="DeepSeek-CJK-patch"/>
              </a:rPr>
              <a:t>Chrome tự chuyển đổi </a:t>
            </a:r>
            <a:r>
              <a:rPr lang="vi-VN" b="1" i="1" dirty="0">
                <a:solidFill>
                  <a:srgbClr val="404040"/>
                </a:solidFill>
                <a:effectLst/>
                <a:latin typeface="DeepSeek-CJK-patch"/>
              </a:rPr>
              <a:t>Thread Context</a:t>
            </a:r>
            <a:r>
              <a:rPr lang="vi-VN" b="0" i="1" dirty="0">
                <a:solidFill>
                  <a:srgbClr val="404040"/>
                </a:solidFill>
                <a:effectLst/>
                <a:latin typeface="DeepSeek-CJK-patch"/>
              </a:rPr>
              <a:t> giữa các tab mà không ảnh hưởng đến tiến trình chính.</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a:t>
            </a:fld>
            <a:endParaRPr lang="en-US"/>
          </a:p>
        </p:txBody>
      </p:sp>
    </p:spTree>
    <p:extLst>
      <p:ext uri="{BB962C8B-B14F-4D97-AF65-F5344CB8AC3E}">
        <p14:creationId xmlns:p14="http://schemas.microsoft.com/office/powerpoint/2010/main" val="13094806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0" i="0" dirty="0">
                <a:solidFill>
                  <a:srgbClr val="404040"/>
                </a:solidFill>
                <a:effectLst/>
                <a:latin typeface="DeepSeek-CJK-patch"/>
              </a:rPr>
              <a:t>3 nhận xét quan trọng khi so sánh </a:t>
            </a:r>
            <a:r>
              <a:rPr lang="vi-VN" b="1" i="0" dirty="0">
                <a:solidFill>
                  <a:srgbClr val="404040"/>
                </a:solidFill>
                <a:effectLst/>
                <a:latin typeface="DeepSeek-CJK-patch"/>
              </a:rPr>
              <a:t>thread switching</a:t>
            </a:r>
            <a:r>
              <a:rPr lang="vi-VN" b="0" i="0" dirty="0">
                <a:solidFill>
                  <a:srgbClr val="404040"/>
                </a:solidFill>
                <a:effectLst/>
                <a:latin typeface="DeepSeek-CJK-patch"/>
              </a:rPr>
              <a:t> và </a:t>
            </a:r>
            <a:r>
              <a:rPr lang="vi-VN" b="1" i="0" dirty="0">
                <a:solidFill>
                  <a:srgbClr val="404040"/>
                </a:solidFill>
                <a:effectLst/>
                <a:latin typeface="DeepSeek-CJK-patch"/>
              </a:rPr>
              <a:t>process switching</a:t>
            </a:r>
            <a:r>
              <a:rPr lang="vi-VN" b="0" i="0" dirty="0">
                <a:solidFill>
                  <a:srgbClr val="404040"/>
                </a:solidFill>
                <a:effectLst/>
                <a:latin typeface="DeepSeek-CJK-patch"/>
              </a:rPr>
              <a:t>, tập trung vào hiệu suất và vai trò của hệ điều hành (OS).</a:t>
            </a:r>
            <a:endParaRPr lang="en-US" b="0"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Threads share the same address space → Thread switching không cần OS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Các luồng (threads) trong cùng một tiến trình (process) </a:t>
            </a:r>
            <a:r>
              <a:rPr lang="vi-VN" b="1" i="0" dirty="0">
                <a:solidFill>
                  <a:srgbClr val="404040"/>
                </a:solidFill>
                <a:effectLst/>
                <a:latin typeface="DeepSeek-CJK-patch"/>
              </a:rPr>
              <a:t>chia sẻ chung không gian bộ nhớ (address space)</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Ví dụ:</a:t>
            </a:r>
          </a:p>
          <a:p>
            <a:pPr marL="1143000" lvl="2" indent="-228600" algn="l">
              <a:buFont typeface="Arial" panose="020B0604020202020204" pitchFamily="34" charset="0"/>
              <a:buChar char="•"/>
            </a:pPr>
            <a:r>
              <a:rPr lang="vi-VN" b="0" i="0" dirty="0">
                <a:solidFill>
                  <a:srgbClr val="404040"/>
                </a:solidFill>
                <a:effectLst/>
                <a:latin typeface="DeepSeek-CJK-patch"/>
              </a:rPr>
              <a:t>Thread A và Thread B (cùng process) truy cập chung heap, global variables.</a:t>
            </a:r>
          </a:p>
          <a:p>
            <a:pPr marL="742950" lvl="1" indent="-285750" algn="l">
              <a:buFont typeface="Arial" panose="020B0604020202020204" pitchFamily="34" charset="0"/>
              <a:buChar char="•"/>
            </a:pPr>
            <a:r>
              <a:rPr lang="vi-VN" b="1" i="0" dirty="0">
                <a:solidFill>
                  <a:srgbClr val="404040"/>
                </a:solidFill>
                <a:effectLst/>
                <a:latin typeface="DeepSeek-CJK-patch"/>
              </a:rPr>
              <a:t>Chuyển đổi giữa các thread chỉ cần:</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0" i="0" dirty="0">
                <a:solidFill>
                  <a:srgbClr val="404040"/>
                </a:solidFill>
                <a:effectLst/>
                <a:latin typeface="DeepSeek-CJK-patch"/>
              </a:rPr>
              <a:t>Thay đổi </a:t>
            </a:r>
            <a:r>
              <a:rPr lang="vi-VN" b="1" i="0" dirty="0">
                <a:solidFill>
                  <a:srgbClr val="404040"/>
                </a:solidFill>
                <a:effectLst/>
                <a:latin typeface="DeepSeek-CJK-patch"/>
              </a:rPr>
              <a:t>register values</a:t>
            </a:r>
            <a:r>
              <a:rPr lang="vi-VN" b="0" i="0" dirty="0">
                <a:solidFill>
                  <a:srgbClr val="404040"/>
                </a:solidFill>
                <a:effectLst/>
                <a:latin typeface="DeepSeek-CJK-patch"/>
              </a:rPr>
              <a:t> (PC, SP, general-purpose registers).</a:t>
            </a:r>
          </a:p>
          <a:p>
            <a:pPr marL="1143000" lvl="2" indent="-228600" algn="l">
              <a:buFont typeface="Arial" panose="020B0604020202020204" pitchFamily="34" charset="0"/>
              <a:buChar char="•"/>
            </a:pPr>
            <a:r>
              <a:rPr lang="vi-VN" b="0" i="0" dirty="0">
                <a:solidFill>
                  <a:srgbClr val="404040"/>
                </a:solidFill>
                <a:effectLst/>
                <a:latin typeface="DeepSeek-CJK-patch"/>
              </a:rPr>
              <a:t>Không cần thay đổi </a:t>
            </a:r>
            <a:r>
              <a:rPr lang="vi-VN" b="1" i="0" dirty="0">
                <a:solidFill>
                  <a:srgbClr val="404040"/>
                </a:solidFill>
                <a:effectLst/>
                <a:latin typeface="DeepSeek-CJK-patch"/>
              </a:rPr>
              <a:t>MMU (Memory Management Unit)</a:t>
            </a:r>
            <a:r>
              <a:rPr lang="vi-VN" b="0" i="0" dirty="0">
                <a:solidFill>
                  <a:srgbClr val="404040"/>
                </a:solidFill>
                <a:effectLst/>
                <a:latin typeface="DeepSeek-CJK-patch"/>
              </a:rPr>
              <a:t> vì không gian bộ nhớ giống nhau.</a:t>
            </a:r>
          </a:p>
          <a:p>
            <a:pPr marL="742950" lvl="1" indent="-285750" algn="l">
              <a:buFont typeface="Arial" panose="020B0604020202020204" pitchFamily="34" charset="0"/>
              <a:buChar char="•"/>
            </a:pPr>
            <a:r>
              <a:rPr lang="vi-VN" b="0" i="0" dirty="0">
                <a:solidFill>
                  <a:srgbClr val="404040"/>
                </a:solidFill>
                <a:effectLst/>
                <a:latin typeface="DeepSeek-CJK-patch"/>
              </a:rPr>
              <a:t>→ Có thể thực hiện </a:t>
            </a:r>
            <a:r>
              <a:rPr lang="vi-VN" b="1" i="0" dirty="0">
                <a:solidFill>
                  <a:srgbClr val="404040"/>
                </a:solidFill>
                <a:effectLst/>
                <a:latin typeface="DeepSeek-CJK-patch"/>
              </a:rPr>
              <a:t>trong user mode</a:t>
            </a:r>
            <a:r>
              <a:rPr lang="vi-VN" b="0" i="0" dirty="0">
                <a:solidFill>
                  <a:srgbClr val="404040"/>
                </a:solidFill>
                <a:effectLst/>
                <a:latin typeface="DeepSeek-CJK-patch"/>
              </a:rPr>
              <a:t>, không cần trap vào kernel.</a:t>
            </a:r>
          </a:p>
          <a:p>
            <a:pPr algn="l">
              <a:buFont typeface="Arial" panose="020B0604020202020204" pitchFamily="34" charset="0"/>
              <a:buChar char="•"/>
            </a:pPr>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Thư viện đa luồng (e.g., POSIX threads) có thể tự quản lý thread switching mà không cần gọi OS.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Process switching đắt hơn vì phải gọi OS (kernel)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process có </a:t>
            </a:r>
            <a:r>
              <a:rPr lang="vi-VN" b="1" i="0" dirty="0">
                <a:solidFill>
                  <a:srgbClr val="404040"/>
                </a:solidFill>
                <a:effectLst/>
                <a:latin typeface="DeepSeek-CJK-patch"/>
              </a:rPr>
              <a:t>không gian bộ nhớ riêng</a:t>
            </a:r>
            <a:r>
              <a:rPr lang="vi-VN" b="0" i="0" dirty="0">
                <a:solidFill>
                  <a:srgbClr val="404040"/>
                </a:solidFill>
                <a:effectLst/>
                <a:latin typeface="DeepSeek-CJK-patch"/>
              </a:rPr>
              <a:t> (isolated address space).</a:t>
            </a:r>
          </a:p>
          <a:p>
            <a:pPr marL="742950" lvl="1" indent="-285750" algn="l">
              <a:buFont typeface="Arial" panose="020B0604020202020204" pitchFamily="34" charset="0"/>
              <a:buChar char="•"/>
            </a:pPr>
            <a:r>
              <a:rPr lang="vi-VN" b="0" i="0" dirty="0">
                <a:solidFill>
                  <a:srgbClr val="404040"/>
                </a:solidFill>
                <a:effectLst/>
                <a:latin typeface="DeepSeek-CJK-patch"/>
              </a:rPr>
              <a:t>Khi chuyển process, hệ thống phải:</a:t>
            </a:r>
          </a:p>
          <a:p>
            <a:pPr marL="1143000" lvl="2" indent="-228600" algn="l">
              <a:buFont typeface="Arial" panose="020B0604020202020204" pitchFamily="34" charset="0"/>
              <a:buChar char="•"/>
            </a:pPr>
            <a:r>
              <a:rPr lang="vi-VN" b="1" i="0" dirty="0">
                <a:solidFill>
                  <a:srgbClr val="404040"/>
                </a:solidFill>
                <a:effectLst/>
                <a:latin typeface="DeepSeek-CJK-patch"/>
              </a:rPr>
              <a:t>Lưu MMU settings</a:t>
            </a:r>
            <a:r>
              <a:rPr lang="vi-VN" b="0" i="0" dirty="0">
                <a:solidFill>
                  <a:srgbClr val="404040"/>
                </a:solidFill>
                <a:effectLst/>
                <a:latin typeface="DeepSeek-CJK-patch"/>
              </a:rPr>
              <a:t> (page tables, segment registers) để chuyển đổi bộ nhớ ảo.</a:t>
            </a:r>
          </a:p>
          <a:p>
            <a:pPr marL="1143000" lvl="2" indent="-228600" algn="l">
              <a:buFont typeface="Arial" panose="020B0604020202020204" pitchFamily="34" charset="0"/>
              <a:buChar char="•"/>
            </a:pPr>
            <a:r>
              <a:rPr lang="vi-VN" b="1" i="0" dirty="0">
                <a:solidFill>
                  <a:srgbClr val="404040"/>
                </a:solidFill>
                <a:effectLst/>
                <a:latin typeface="DeepSeek-CJK-patch"/>
              </a:rPr>
              <a:t>Gọi kernel</a:t>
            </a:r>
            <a:r>
              <a:rPr lang="vi-VN" b="0" i="0" dirty="0">
                <a:solidFill>
                  <a:srgbClr val="404040"/>
                </a:solidFill>
                <a:effectLst/>
                <a:latin typeface="DeepSeek-CJK-patch"/>
              </a:rPr>
              <a:t> (thông qua system call/trap) để đảm bảo bảo mật và đồng bộ.</a:t>
            </a:r>
          </a:p>
          <a:p>
            <a:pPr marL="742950" lvl="1" indent="-285750" algn="l">
              <a:buFont typeface="Arial" panose="020B0604020202020204" pitchFamily="34" charset="0"/>
              <a:buChar char="•"/>
            </a:pPr>
            <a:r>
              <a:rPr lang="vi-VN" b="0" i="0" dirty="0">
                <a:solidFill>
                  <a:srgbClr val="404040"/>
                </a:solidFill>
                <a:effectLst/>
                <a:latin typeface="DeepSeek-CJK-patch"/>
              </a:rPr>
              <a:t>→ Tốn thời gian hơn do phải </a:t>
            </a:r>
            <a:r>
              <a:rPr lang="vi-VN" b="1" i="0" dirty="0">
                <a:solidFill>
                  <a:srgbClr val="404040"/>
                </a:solidFill>
                <a:effectLst/>
                <a:latin typeface="DeepSeek-CJK-patch"/>
              </a:rPr>
              <a:t>chuyển từ user mode sang kernel mode</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Khi bạn chuyển từ Chrome sang Word, OS phải load lại page tables của Word.</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Tạo/hủy thread rẻ hơn nhiều so với process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Giải thích:</a:t>
            </a:r>
            <a:endParaRPr lang="vi-VN"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Hoạt động</a:t>
            </a:r>
            <a:r>
              <a:rPr lang="en-US" b="1" i="0" dirty="0">
                <a:solidFill>
                  <a:srgbClr val="404040"/>
                </a:solidFill>
                <a:effectLst/>
                <a:latin typeface="DeepSeek-CJK-patch"/>
              </a:rPr>
              <a:t>		</a:t>
            </a:r>
            <a:r>
              <a:rPr lang="vi-VN" b="1" i="0" dirty="0">
                <a:solidFill>
                  <a:srgbClr val="404040"/>
                </a:solidFill>
                <a:effectLst/>
                <a:latin typeface="DeepSeek-CJK-patch"/>
              </a:rPr>
              <a:t>Thread</a:t>
            </a:r>
            <a:r>
              <a:rPr lang="en-US" b="1" i="0" dirty="0">
                <a:solidFill>
                  <a:srgbClr val="404040"/>
                </a:solidFill>
                <a:effectLst/>
                <a:latin typeface="DeepSeek-CJK-patch"/>
              </a:rPr>
              <a:t>		</a:t>
            </a:r>
            <a:r>
              <a:rPr lang="vi-VN" b="1" i="0" dirty="0">
                <a:solidFill>
                  <a:srgbClr val="404040"/>
                </a:solidFill>
                <a:effectLst/>
                <a:latin typeface="DeepSeek-CJK-patch"/>
              </a:rPr>
              <a:t>Process</a:t>
            </a:r>
            <a:endParaRPr lang="en-US" b="1"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Cấp phát bộ nhớ</a:t>
            </a:r>
            <a:r>
              <a:rPr lang="en-US" b="1" i="0" dirty="0">
                <a:solidFill>
                  <a:srgbClr val="404040"/>
                </a:solidFill>
                <a:effectLst/>
                <a:latin typeface="DeepSeek-CJK-patch"/>
              </a:rPr>
              <a:t>	</a:t>
            </a:r>
            <a:r>
              <a:rPr lang="vi-VN" b="0" i="0" dirty="0">
                <a:solidFill>
                  <a:srgbClr val="404040"/>
                </a:solidFill>
                <a:effectLst/>
                <a:latin typeface="DeepSeek-CJK-patch"/>
              </a:rPr>
              <a:t>Chỉ cần stack riêng (vài KB)</a:t>
            </a:r>
            <a:r>
              <a:rPr lang="en-US" b="0" i="0" dirty="0">
                <a:solidFill>
                  <a:srgbClr val="404040"/>
                </a:solidFill>
                <a:effectLst/>
                <a:latin typeface="DeepSeek-CJK-patch"/>
              </a:rPr>
              <a:t>	</a:t>
            </a:r>
            <a:r>
              <a:rPr lang="vi-VN" b="0" i="0" dirty="0">
                <a:solidFill>
                  <a:srgbClr val="404040"/>
                </a:solidFill>
                <a:effectLst/>
                <a:latin typeface="DeepSeek-CJK-patch"/>
              </a:rPr>
              <a:t>Cần heap, stack, code, data (MB)</a:t>
            </a:r>
            <a:endParaRPr lang="en-US"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Khởi tạo</a:t>
            </a:r>
            <a:r>
              <a:rPr lang="en-US" b="1" i="0" dirty="0">
                <a:solidFill>
                  <a:srgbClr val="404040"/>
                </a:solidFill>
                <a:effectLst/>
                <a:latin typeface="DeepSeek-CJK-patch"/>
              </a:rPr>
              <a:t>		</a:t>
            </a:r>
            <a:r>
              <a:rPr lang="vi-VN" b="0" i="0" dirty="0">
                <a:solidFill>
                  <a:srgbClr val="404040"/>
                </a:solidFill>
                <a:effectLst/>
                <a:latin typeface="DeepSeek-CJK-patch"/>
              </a:rPr>
              <a:t>Không cần setup MMU, PID</a:t>
            </a:r>
            <a:r>
              <a:rPr lang="en-US" b="0" i="0" dirty="0">
                <a:solidFill>
                  <a:srgbClr val="404040"/>
                </a:solidFill>
                <a:effectLst/>
                <a:latin typeface="DeepSeek-CJK-patch"/>
              </a:rPr>
              <a:t>	</a:t>
            </a:r>
            <a:r>
              <a:rPr lang="vi-VN" b="0" i="0" dirty="0">
                <a:solidFill>
                  <a:srgbClr val="404040"/>
                </a:solidFill>
                <a:effectLst/>
                <a:latin typeface="DeepSeek-CJK-patch"/>
              </a:rPr>
              <a:t>Phải cấp PID, thiết lập memory space</a:t>
            </a:r>
            <a:endParaRPr lang="en-US"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Hủy</a:t>
            </a:r>
            <a:r>
              <a:rPr lang="en-US" b="1" i="0" dirty="0">
                <a:solidFill>
                  <a:srgbClr val="404040"/>
                </a:solidFill>
                <a:effectLst/>
                <a:latin typeface="DeepSeek-CJK-patch"/>
              </a:rPr>
              <a:t>		</a:t>
            </a:r>
            <a:r>
              <a:rPr lang="vi-VN" b="0" i="0" dirty="0">
                <a:solidFill>
                  <a:srgbClr val="404040"/>
                </a:solidFill>
                <a:effectLst/>
                <a:latin typeface="DeepSeek-CJK-patch"/>
              </a:rPr>
              <a:t>Dọn dẹp stack là chính</a:t>
            </a:r>
            <a:r>
              <a:rPr lang="en-US" b="0" i="0" dirty="0">
                <a:solidFill>
                  <a:srgbClr val="404040"/>
                </a:solidFill>
                <a:effectLst/>
                <a:latin typeface="DeepSeek-CJK-patch"/>
              </a:rPr>
              <a:t>	</a:t>
            </a:r>
            <a:r>
              <a:rPr lang="vi-VN" b="0" i="0" dirty="0">
                <a:solidFill>
                  <a:srgbClr val="404040"/>
                </a:solidFill>
                <a:effectLst/>
                <a:latin typeface="DeepSeek-CJK-patch"/>
              </a:rPr>
              <a:t>Phải giải phóng mọi tài nguyên (files, memory, devices)</a:t>
            </a:r>
            <a:endParaRPr lang="en-US" b="0" i="0" dirty="0">
              <a:solidFill>
                <a:srgbClr val="404040"/>
              </a:solidFill>
              <a:effectLst/>
              <a:latin typeface="DeepSeek-CJK-patch"/>
            </a:endParaRPr>
          </a:p>
          <a:p>
            <a:pPr algn="l">
              <a:buFont typeface="Arial" panose="020B0604020202020204" pitchFamily="34" charset="0"/>
              <a:buNone/>
            </a:pP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Lý do:</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Thread </a:t>
            </a:r>
            <a:r>
              <a:rPr lang="vi-VN" b="1" i="0" dirty="0">
                <a:solidFill>
                  <a:srgbClr val="404040"/>
                </a:solidFill>
                <a:effectLst/>
                <a:latin typeface="DeepSeek-CJK-patch"/>
              </a:rPr>
              <a:t>dùng chung tài nguyên</a:t>
            </a:r>
            <a:r>
              <a:rPr lang="vi-VN" b="0" i="0" dirty="0">
                <a:solidFill>
                  <a:srgbClr val="404040"/>
                </a:solidFill>
                <a:effectLst/>
                <a:latin typeface="DeepSeek-CJK-patch"/>
              </a:rPr>
              <a:t> với process cha → không cần cấp phát mới.</a:t>
            </a:r>
          </a:p>
          <a:p>
            <a:pPr marL="742950" lvl="1" indent="-285750" algn="l">
              <a:buFont typeface="Arial" panose="020B0604020202020204" pitchFamily="34" charset="0"/>
              <a:buChar char="•"/>
            </a:pPr>
            <a:r>
              <a:rPr lang="vi-VN" b="0" i="0" dirty="0">
                <a:solidFill>
                  <a:srgbClr val="404040"/>
                </a:solidFill>
                <a:effectLst/>
                <a:latin typeface="DeepSeek-CJK-patch"/>
              </a:rPr>
              <a:t>Process phải </a:t>
            </a:r>
            <a:r>
              <a:rPr lang="vi-VN" b="1" i="0" dirty="0">
                <a:solidFill>
                  <a:srgbClr val="404040"/>
                </a:solidFill>
                <a:effectLst/>
                <a:latin typeface="DeepSeek-CJK-patch"/>
              </a:rPr>
              <a:t>tạo mọi thứ từ đầu</a:t>
            </a:r>
            <a:r>
              <a:rPr lang="vi-VN" b="0" i="0" dirty="0">
                <a:solidFill>
                  <a:srgbClr val="404040"/>
                </a:solidFill>
                <a:effectLst/>
                <a:latin typeface="DeepSeek-CJK-patch"/>
              </a:rPr>
              <a:t> và đảm bảo cô lập với các process khác.</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4. </a:t>
            </a:r>
            <a:r>
              <a:rPr lang="vi-VN" b="1" i="0" dirty="0">
                <a:solidFill>
                  <a:srgbClr val="404040"/>
                </a:solidFill>
                <a:effectLst/>
                <a:latin typeface="DeepSeek-CJK-patch"/>
              </a:rPr>
              <a:t>Tóm tắt bảng so sánh</a:t>
            </a:r>
            <a:endParaRPr lang="vi-VN" b="0" i="0" dirty="0">
              <a:solidFill>
                <a:srgbClr val="404040"/>
              </a:solidFill>
              <a:effectLst/>
              <a:latin typeface="DeepSeek-CJK-patch"/>
            </a:endParaRPr>
          </a:p>
          <a:p>
            <a:pPr algn="l"/>
            <a:r>
              <a:rPr lang="vi-VN" b="1" dirty="0"/>
              <a:t>Tiêu chí</a:t>
            </a:r>
            <a:r>
              <a:rPr lang="en-US" b="1" dirty="0"/>
              <a:t>		</a:t>
            </a:r>
            <a:r>
              <a:rPr lang="vi-VN" b="1" dirty="0"/>
              <a:t>Thread Switching</a:t>
            </a:r>
            <a:r>
              <a:rPr lang="en-US" b="1" dirty="0"/>
              <a:t>		</a:t>
            </a:r>
            <a:r>
              <a:rPr lang="vi-VN" b="1" dirty="0"/>
              <a:t>Process Switching</a:t>
            </a:r>
            <a:endParaRPr lang="en-US" b="1" dirty="0"/>
          </a:p>
          <a:p>
            <a:pPr algn="l"/>
            <a:r>
              <a:rPr lang="vi-VN" b="1" dirty="0">
                <a:effectLst/>
              </a:rPr>
              <a:t>Address Space</a:t>
            </a:r>
            <a:r>
              <a:rPr lang="en-US" b="1" dirty="0">
                <a:effectLst/>
              </a:rPr>
              <a:t>	</a:t>
            </a:r>
            <a:r>
              <a:rPr lang="vi-VN" dirty="0">
                <a:effectLst/>
              </a:rPr>
              <a:t>Giữ nguyên (shared)</a:t>
            </a:r>
            <a:r>
              <a:rPr lang="en-US" dirty="0">
                <a:effectLst/>
              </a:rPr>
              <a:t>		</a:t>
            </a:r>
            <a:r>
              <a:rPr lang="vi-VN" dirty="0">
                <a:effectLst/>
              </a:rPr>
              <a:t>Thay đổi (isolated)</a:t>
            </a:r>
            <a:endParaRPr lang="en-US" dirty="0">
              <a:effectLst/>
            </a:endParaRPr>
          </a:p>
          <a:p>
            <a:pPr algn="l"/>
            <a:r>
              <a:rPr lang="vi-VN" b="1" dirty="0">
                <a:effectLst/>
              </a:rPr>
              <a:t>OS Involvement</a:t>
            </a:r>
            <a:r>
              <a:rPr lang="en-US" b="1" dirty="0">
                <a:effectLst/>
              </a:rPr>
              <a:t>	</a:t>
            </a:r>
            <a:r>
              <a:rPr lang="vi-VN" dirty="0">
                <a:effectLst/>
              </a:rPr>
              <a:t>Không cần (user-mode)</a:t>
            </a:r>
            <a:r>
              <a:rPr lang="en-US" dirty="0">
                <a:effectLst/>
              </a:rPr>
              <a:t>		</a:t>
            </a:r>
            <a:r>
              <a:rPr lang="vi-VN" dirty="0">
                <a:effectLst/>
              </a:rPr>
              <a:t>Bắt buộc (kernel-mode)</a:t>
            </a:r>
            <a:endParaRPr lang="en-US" dirty="0">
              <a:effectLst/>
            </a:endParaRPr>
          </a:p>
          <a:p>
            <a:pPr algn="l"/>
            <a:r>
              <a:rPr lang="vi-VN" b="1" dirty="0">
                <a:effectLst/>
              </a:rPr>
              <a:t>Tốc độ</a:t>
            </a:r>
            <a:r>
              <a:rPr lang="en-US" b="1" dirty="0">
                <a:effectLst/>
              </a:rPr>
              <a:t>		</a:t>
            </a:r>
            <a:r>
              <a:rPr lang="vi-VN" dirty="0">
                <a:effectLst/>
              </a:rPr>
              <a:t>Nhanh (vài micro giây)</a:t>
            </a:r>
            <a:r>
              <a:rPr lang="en-US" dirty="0">
                <a:effectLst/>
              </a:rPr>
              <a:t>		</a:t>
            </a:r>
            <a:r>
              <a:rPr lang="vi-VN" dirty="0">
                <a:effectLst/>
              </a:rPr>
              <a:t>Chậm hơn (vài millisecond)</a:t>
            </a:r>
            <a:endParaRPr lang="en-US" dirty="0">
              <a:effectLst/>
            </a:endParaRPr>
          </a:p>
          <a:p>
            <a:pPr algn="l"/>
            <a:r>
              <a:rPr lang="vi-VN" b="1" dirty="0">
                <a:effectLst/>
              </a:rPr>
              <a:t>Tạo/Hủy</a:t>
            </a:r>
            <a:r>
              <a:rPr lang="en-US" b="1" dirty="0">
                <a:effectLst/>
              </a:rPr>
              <a:t>		</a:t>
            </a:r>
            <a:r>
              <a:rPr lang="vi-VN" dirty="0">
                <a:effectLst/>
              </a:rPr>
              <a:t>Rất nhanh (cấp stack là chính)</a:t>
            </a:r>
            <a:r>
              <a:rPr lang="en-US" dirty="0">
                <a:effectLst/>
              </a:rPr>
              <a:t>	</a:t>
            </a:r>
            <a:r>
              <a:rPr lang="vi-VN" dirty="0">
                <a:effectLst/>
              </a:rPr>
              <a:t>Chậm (quản lý tài nguyên phức tạp)</a:t>
            </a:r>
            <a:endParaRPr lang="en-US" dirty="0">
              <a:effectLst/>
            </a:endParaRP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5. </a:t>
            </a:r>
            <a:r>
              <a:rPr lang="vi-VN" b="1" i="0" dirty="0">
                <a:solidFill>
                  <a:srgbClr val="404040"/>
                </a:solidFill>
                <a:effectLst/>
                <a:latin typeface="DeepSeek-CJK-patch"/>
              </a:rPr>
              <a:t>Ứng dụng thực tế</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Web Servers (e.g., Apache):</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Dùng </a:t>
            </a:r>
            <a:r>
              <a:rPr lang="vi-VN" b="1" i="0" dirty="0">
                <a:solidFill>
                  <a:srgbClr val="404040"/>
                </a:solidFill>
                <a:effectLst/>
                <a:latin typeface="DeepSeek-CJK-patch"/>
              </a:rPr>
              <a:t>thread pool</a:t>
            </a:r>
            <a:r>
              <a:rPr lang="vi-VN" b="0" i="0" dirty="0">
                <a:solidFill>
                  <a:srgbClr val="404040"/>
                </a:solidFill>
                <a:effectLst/>
                <a:latin typeface="DeepSeek-CJK-patch"/>
              </a:rPr>
              <a:t> để xử lý request → tránh tốn chi phí tạo process mới cho mỗi kết nối.</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Game Engine:</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Render thread và Physics thread chạy song song, chuyển đổi nhanh mà không cần OS can thiệp.</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Database Systems (e.g., MySQL):</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Mỗi connection là một thread → tiết kiệm memory so với fork process.</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6.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Dùng thread khi:</a:t>
            </a:r>
            <a:r>
              <a:rPr lang="vi-VN" b="0" i="0" dirty="0">
                <a:solidFill>
                  <a:srgbClr val="404040"/>
                </a:solidFill>
                <a:effectLst/>
                <a:latin typeface="DeepSeek-CJK-patch"/>
              </a:rPr>
              <a:t> Cần đa nhiệm nhẹ, chia sẻ dữ liệu, tốc độ quan trọng.</a:t>
            </a:r>
          </a:p>
          <a:p>
            <a:pPr algn="l">
              <a:buFont typeface="Arial" panose="020B0604020202020204" pitchFamily="34" charset="0"/>
              <a:buChar char="•"/>
            </a:pPr>
            <a:r>
              <a:rPr lang="vi-VN" b="1" i="0" dirty="0">
                <a:solidFill>
                  <a:srgbClr val="404040"/>
                </a:solidFill>
                <a:effectLst/>
                <a:latin typeface="DeepSeek-CJK-patch"/>
              </a:rPr>
              <a:t>Dùng process khi:</a:t>
            </a:r>
            <a:r>
              <a:rPr lang="vi-VN" b="0" i="0" dirty="0">
                <a:solidFill>
                  <a:srgbClr val="404040"/>
                </a:solidFill>
                <a:effectLst/>
                <a:latin typeface="DeepSeek-CJK-patch"/>
              </a:rPr>
              <a:t> Cần cách ly bảo mật (ví dụ: trình duyệt mỗi tab một process).</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6</a:t>
            </a:fld>
            <a:endParaRPr lang="en-US"/>
          </a:p>
        </p:txBody>
      </p:sp>
    </p:spTree>
    <p:extLst>
      <p:ext uri="{BB962C8B-B14F-4D97-AF65-F5344CB8AC3E}">
        <p14:creationId xmlns:p14="http://schemas.microsoft.com/office/powerpoint/2010/main" val="25674140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Why use threads? (Tại sao dùng luồng?)</a:t>
            </a:r>
            <a:endParaRPr lang="vi-VN" b="0" i="0" dirty="0">
              <a:solidFill>
                <a:srgbClr val="404040"/>
              </a:solidFill>
              <a:effectLst/>
              <a:latin typeface="DeepSeek-CJK-patch"/>
            </a:endParaRPr>
          </a:p>
          <a:p>
            <a:pPr algn="l"/>
            <a:r>
              <a:rPr lang="en-US" b="0" i="0" dirty="0" err="1">
                <a:solidFill>
                  <a:srgbClr val="404040"/>
                </a:solidFill>
                <a:effectLst/>
                <a:latin typeface="DeepSeek-CJK-patch"/>
              </a:rPr>
              <a:t>Có</a:t>
            </a:r>
            <a:r>
              <a:rPr lang="vi-VN" b="0" i="0" dirty="0">
                <a:solidFill>
                  <a:srgbClr val="404040"/>
                </a:solidFill>
                <a:effectLst/>
                <a:latin typeface="DeepSeek-CJK-patch"/>
              </a:rPr>
              <a:t> 3 lý do chính để sử dụng đa luồng (multithreading) thay vì đơn luồng (single-threaded) hoặc đa tiến trình (multiprocessing).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Avoid Needless Blocking (Tránh block không cần thiết)</a:t>
            </a:r>
            <a:endParaRPr lang="vi-VN" b="0" i="0" dirty="0">
              <a:solidFill>
                <a:srgbClr val="404040"/>
              </a:solidFill>
              <a:effectLst/>
              <a:latin typeface="DeepSeek-CJK-patch"/>
            </a:endParaRPr>
          </a:p>
          <a:p>
            <a:pPr algn="l"/>
            <a:r>
              <a:rPr lang="vi-VN" b="1" i="0" dirty="0">
                <a:solidFill>
                  <a:srgbClr val="404040"/>
                </a:solidFill>
                <a:effectLst/>
                <a:latin typeface="DeepSeek-CJK-patch"/>
              </a:rPr>
              <a:t>Vấn đề đơn luồng: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Trong ứng dụng </a:t>
            </a:r>
            <a:r>
              <a:rPr lang="vi-VN" b="1" i="0" dirty="0">
                <a:solidFill>
                  <a:srgbClr val="404040"/>
                </a:solidFill>
                <a:effectLst/>
                <a:latin typeface="DeepSeek-CJK-patch"/>
              </a:rPr>
              <a:t>single-threaded</a:t>
            </a:r>
            <a:r>
              <a:rPr lang="vi-VN" b="0" i="0" dirty="0">
                <a:solidFill>
                  <a:srgbClr val="404040"/>
                </a:solidFill>
                <a:effectLst/>
                <a:latin typeface="DeepSeek-CJK-patch"/>
              </a:rPr>
              <a:t>, nếu thread chính bị </a:t>
            </a:r>
            <a:r>
              <a:rPr lang="vi-VN" b="1" i="0" dirty="0">
                <a:solidFill>
                  <a:srgbClr val="404040"/>
                </a:solidFill>
                <a:effectLst/>
                <a:latin typeface="DeepSeek-CJK-patch"/>
              </a:rPr>
              <a:t>block (ví dụ: chờ I/O, network, database)</a:t>
            </a:r>
            <a:r>
              <a:rPr lang="vi-VN" b="0" i="0" dirty="0">
                <a:solidFill>
                  <a:srgbClr val="404040"/>
                </a:solidFill>
                <a:effectLst/>
                <a:latin typeface="DeepSeek-CJK-patch"/>
              </a:rPr>
              <a:t>, toàn bộ ứng dụng sẽ </a:t>
            </a:r>
            <a:r>
              <a:rPr lang="vi-VN" b="1" i="0" dirty="0">
                <a:solidFill>
                  <a:srgbClr val="404040"/>
                </a:solidFill>
                <a:effectLst/>
                <a:latin typeface="DeepSeek-CJK-patch"/>
              </a:rPr>
              <a:t>dừng hoạt động</a:t>
            </a:r>
            <a:r>
              <a:rPr lang="vi-VN" b="0" i="0" dirty="0">
                <a:solidFill>
                  <a:srgbClr val="404040"/>
                </a:solidFill>
                <a:effectLst/>
                <a:latin typeface="DeepSeek-CJK-patch"/>
              </a:rPr>
              <a:t> cho đến khi tác vụ hoàn thành.</a:t>
            </a:r>
          </a:p>
          <a:p>
            <a:pPr marL="742950" lvl="1" indent="-285750" algn="l">
              <a:buFont typeface="Arial" panose="020B0604020202020204" pitchFamily="34" charset="0"/>
              <a:buChar char="•"/>
            </a:pPr>
            <a:r>
              <a:rPr lang="vi-VN" b="0" i="0" dirty="0">
                <a:solidFill>
                  <a:srgbClr val="404040"/>
                </a:solidFill>
                <a:effectLst/>
                <a:latin typeface="DeepSeek-CJK-patch"/>
              </a:rPr>
              <a:t>VD: Trình duyệt chỉ có 1 thread → khi load ảnh từ mạng, giao diện bị đơ.</a:t>
            </a:r>
          </a:p>
          <a:p>
            <a:pPr algn="l"/>
            <a:r>
              <a:rPr lang="vi-VN" b="1" i="0" dirty="0">
                <a:solidFill>
                  <a:srgbClr val="404040"/>
                </a:solidFill>
                <a:effectLst/>
                <a:latin typeface="DeepSeek-CJK-patch"/>
              </a:rPr>
              <a:t>Giải pháp đa luồng: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Ứng dụng </a:t>
            </a:r>
            <a:r>
              <a:rPr lang="vi-VN" b="1" i="0" dirty="0">
                <a:solidFill>
                  <a:srgbClr val="404040"/>
                </a:solidFill>
                <a:effectLst/>
                <a:latin typeface="DeepSeek-CJK-patch"/>
              </a:rPr>
              <a:t>multi-threaded</a:t>
            </a:r>
            <a:r>
              <a:rPr lang="vi-VN" b="0" i="0" dirty="0">
                <a:solidFill>
                  <a:srgbClr val="404040"/>
                </a:solidFill>
                <a:effectLst/>
                <a:latin typeface="DeepSeek-CJK-patch"/>
              </a:rPr>
              <a:t> có thể chạy nhiều tác vụ song song:</a:t>
            </a:r>
          </a:p>
          <a:p>
            <a:pPr marL="742950" lvl="1" indent="-285750" algn="l">
              <a:buFont typeface="Arial" panose="020B0604020202020204" pitchFamily="34" charset="0"/>
              <a:buChar char="•"/>
            </a:pPr>
            <a:r>
              <a:rPr lang="vi-VN" b="1" i="0" dirty="0">
                <a:solidFill>
                  <a:srgbClr val="404040"/>
                </a:solidFill>
                <a:effectLst/>
                <a:latin typeface="DeepSeek-CJK-patch"/>
              </a:rPr>
              <a:t>Thread A</a:t>
            </a:r>
            <a:r>
              <a:rPr lang="vi-VN" b="0" i="0" dirty="0">
                <a:solidFill>
                  <a:srgbClr val="404040"/>
                </a:solidFill>
                <a:effectLst/>
                <a:latin typeface="DeepSeek-CJK-patch"/>
              </a:rPr>
              <a:t> bị block khi đọc file → </a:t>
            </a:r>
            <a:r>
              <a:rPr lang="vi-VN" b="1" i="0" dirty="0">
                <a:solidFill>
                  <a:srgbClr val="404040"/>
                </a:solidFill>
                <a:effectLst/>
                <a:latin typeface="DeepSeek-CJK-patch"/>
              </a:rPr>
              <a:t>OS chuyển sang Thread B</a:t>
            </a:r>
            <a:r>
              <a:rPr lang="vi-VN" b="0" i="0" dirty="0">
                <a:solidFill>
                  <a:srgbClr val="404040"/>
                </a:solidFill>
                <a:effectLst/>
                <a:latin typeface="DeepSeek-CJK-patch"/>
              </a:rPr>
              <a:t> trong cùng process.</a:t>
            </a:r>
          </a:p>
          <a:p>
            <a:pPr marL="742950" lvl="1" indent="-285750" algn="l">
              <a:buFont typeface="Arial" panose="020B0604020202020204" pitchFamily="34" charset="0"/>
              <a:buChar char="•"/>
            </a:pPr>
            <a:r>
              <a:rPr lang="vi-VN" b="0" i="0" dirty="0">
                <a:solidFill>
                  <a:srgbClr val="404040"/>
                </a:solidFill>
                <a:effectLst/>
                <a:latin typeface="DeepSeek-CJK-patch"/>
              </a:rPr>
              <a:t>→ Người dùng vẫn tương tác được (UI không đơ).</a:t>
            </a:r>
          </a:p>
          <a:p>
            <a:pPr algn="l"/>
            <a:r>
              <a:rPr lang="vi-VN" b="1" i="0" dirty="0">
                <a:solidFill>
                  <a:srgbClr val="404040"/>
                </a:solidFill>
                <a:effectLst/>
                <a:latin typeface="DeepSeek-CJK-patch"/>
              </a:rPr>
              <a:t>Ví dụ thực tế: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Web Server:</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Thread 1 xử lý request A (đang chờ DB) → Thread 2 xử lý request B ngay lập tức.</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Exploit Parallelism (Tận dụng song song hóa)</a:t>
            </a:r>
            <a:endParaRPr lang="vi-VN" b="0" i="0" dirty="0">
              <a:solidFill>
                <a:srgbClr val="404040"/>
              </a:solidFill>
              <a:effectLst/>
              <a:latin typeface="DeepSeek-CJK-patch"/>
            </a:endParaRPr>
          </a:p>
          <a:p>
            <a:pPr algn="l"/>
            <a:r>
              <a:rPr lang="vi-VN" b="1" i="0" dirty="0">
                <a:solidFill>
                  <a:srgbClr val="404040"/>
                </a:solidFill>
                <a:effectLst/>
                <a:latin typeface="DeepSeek-CJK-patch"/>
              </a:rPr>
              <a:t>Vấn đề đơn luồng: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Trên CPU </a:t>
            </a:r>
            <a:r>
              <a:rPr lang="vi-VN" b="1" i="0" dirty="0">
                <a:solidFill>
                  <a:srgbClr val="404040"/>
                </a:solidFill>
                <a:effectLst/>
                <a:latin typeface="DeepSeek-CJK-patch"/>
              </a:rPr>
              <a:t>đa lõi (multicore)</a:t>
            </a:r>
            <a:r>
              <a:rPr lang="vi-VN" b="0" i="0" dirty="0">
                <a:solidFill>
                  <a:srgbClr val="404040"/>
                </a:solidFill>
                <a:effectLst/>
                <a:latin typeface="DeepSeek-CJK-patch"/>
              </a:rPr>
              <a:t>, ứng dụng single-threaded chỉ chạy trên </a:t>
            </a:r>
            <a:r>
              <a:rPr lang="vi-VN" b="1" i="0" dirty="0">
                <a:solidFill>
                  <a:srgbClr val="404040"/>
                </a:solidFill>
                <a:effectLst/>
                <a:latin typeface="DeepSeek-CJK-patch"/>
              </a:rPr>
              <a:t>1 core</a:t>
            </a:r>
            <a:r>
              <a:rPr lang="vi-VN" b="0" i="0" dirty="0">
                <a:solidFill>
                  <a:srgbClr val="404040"/>
                </a:solidFill>
                <a:effectLst/>
                <a:latin typeface="DeepSeek-CJK-patch"/>
              </a:rPr>
              <a:t> → không tận dụng được sức mạnh phần cứng.</a:t>
            </a:r>
          </a:p>
          <a:p>
            <a:pPr algn="l"/>
            <a:r>
              <a:rPr lang="vi-VN" b="1" i="0" dirty="0">
                <a:solidFill>
                  <a:srgbClr val="404040"/>
                </a:solidFill>
                <a:effectLst/>
                <a:latin typeface="DeepSeek-CJK-patch"/>
              </a:rPr>
              <a:t>Giải pháp đa luồng: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Các thread trong cùng process có thể </a:t>
            </a:r>
            <a:r>
              <a:rPr lang="vi-VN" b="1" i="0" dirty="0">
                <a:solidFill>
                  <a:srgbClr val="404040"/>
                </a:solidFill>
                <a:effectLst/>
                <a:latin typeface="DeepSeek-CJK-patch"/>
              </a:rPr>
              <a:t>chạy song song trên nhiều core</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Thread 1 chạy trên Core 1, Thread 2 chạy trên Core 2.</a:t>
            </a:r>
          </a:p>
          <a:p>
            <a:pPr marL="742950" lvl="1" indent="-285750" algn="l">
              <a:buFont typeface="Arial" panose="020B0604020202020204" pitchFamily="34" charset="0"/>
              <a:buChar char="•"/>
            </a:pPr>
            <a:r>
              <a:rPr lang="vi-VN" b="0" i="0" dirty="0">
                <a:solidFill>
                  <a:srgbClr val="404040"/>
                </a:solidFill>
                <a:effectLst/>
                <a:latin typeface="DeepSeek-CJK-patch"/>
              </a:rPr>
              <a:t>→ Tăng tốc độ xử lý (vd: render video, tính toán khoa học).</a:t>
            </a:r>
          </a:p>
          <a:p>
            <a:pPr algn="l"/>
            <a:r>
              <a:rPr lang="vi-VN" b="1" i="0" dirty="0">
                <a:solidFill>
                  <a:srgbClr val="404040"/>
                </a:solidFill>
                <a:effectLst/>
                <a:latin typeface="DeepSeek-CJK-patch"/>
              </a:rPr>
              <a:t>Ví dụ thực tế: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Video Editing Software:</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Thread 1: Decode video.</a:t>
            </a:r>
          </a:p>
          <a:p>
            <a:pPr marL="742950" lvl="1" indent="-285750" algn="l">
              <a:buFont typeface="Arial" panose="020B0604020202020204" pitchFamily="34" charset="0"/>
              <a:buChar char="•"/>
            </a:pPr>
            <a:r>
              <a:rPr lang="vi-VN" b="0" i="0" dirty="0">
                <a:solidFill>
                  <a:srgbClr val="404040"/>
                </a:solidFill>
                <a:effectLst/>
                <a:latin typeface="DeepSeek-CJK-patch"/>
              </a:rPr>
              <a:t>Thread 2: Xử lý hiệu ứng.</a:t>
            </a:r>
          </a:p>
          <a:p>
            <a:pPr marL="742950" lvl="1" indent="-285750" algn="l">
              <a:buFont typeface="Arial" panose="020B0604020202020204" pitchFamily="34" charset="0"/>
              <a:buChar char="•"/>
            </a:pPr>
            <a:r>
              <a:rPr lang="vi-VN" b="0" i="0" dirty="0">
                <a:solidFill>
                  <a:srgbClr val="404040"/>
                </a:solidFill>
                <a:effectLst/>
                <a:latin typeface="DeepSeek-CJK-patch"/>
              </a:rPr>
              <a:t>Thread 3: Xuất file → Tận dụng tối đa CPU 8 lõi.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Avoid Process Switching (Tránh chuyển đổi tiến trình)</a:t>
            </a:r>
            <a:endParaRPr lang="vi-VN" b="0" i="0" dirty="0">
              <a:solidFill>
                <a:srgbClr val="404040"/>
              </a:solidFill>
              <a:effectLst/>
              <a:latin typeface="DeepSeek-CJK-patch"/>
            </a:endParaRPr>
          </a:p>
          <a:p>
            <a:pPr algn="l"/>
            <a:r>
              <a:rPr lang="vi-VN" b="1" i="0" dirty="0">
                <a:solidFill>
                  <a:srgbClr val="404040"/>
                </a:solidFill>
                <a:effectLst/>
                <a:latin typeface="DeepSeek-CJK-patch"/>
              </a:rPr>
              <a:t>Vấn đề đa tiến trình:</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Nếu ứng dụng dùng </a:t>
            </a:r>
            <a:r>
              <a:rPr lang="vi-VN" b="1" i="0" dirty="0">
                <a:solidFill>
                  <a:srgbClr val="404040"/>
                </a:solidFill>
                <a:effectLst/>
                <a:latin typeface="DeepSeek-CJK-patch"/>
              </a:rPr>
              <a:t>nhiều processes</a:t>
            </a:r>
            <a:r>
              <a:rPr lang="vi-VN" b="0" i="0" dirty="0">
                <a:solidFill>
                  <a:srgbClr val="404040"/>
                </a:solidFill>
                <a:effectLst/>
                <a:latin typeface="DeepSeek-CJK-patch"/>
              </a:rPr>
              <a:t> (thay vì threads):</a:t>
            </a:r>
          </a:p>
          <a:p>
            <a:pPr marL="742950" lvl="1" indent="-285750" algn="l">
              <a:buFont typeface="Arial" panose="020B0604020202020204" pitchFamily="34" charset="0"/>
              <a:buChar char="•"/>
            </a:pPr>
            <a:r>
              <a:rPr lang="vi-VN" b="1" i="0" dirty="0">
                <a:solidFill>
                  <a:srgbClr val="404040"/>
                </a:solidFill>
                <a:effectLst/>
                <a:latin typeface="DeepSeek-CJK-patch"/>
              </a:rPr>
              <a:t>Tốn tài nguyên</a:t>
            </a:r>
            <a:r>
              <a:rPr lang="vi-VN" b="0" i="0" dirty="0">
                <a:solidFill>
                  <a:srgbClr val="404040"/>
                </a:solidFill>
                <a:effectLst/>
                <a:latin typeface="DeepSeek-CJK-patch"/>
              </a:rPr>
              <a:t>: Mỗi process cần cấp phát bộ nhớ, PCB (Process Control Block) riêng.</a:t>
            </a:r>
          </a:p>
          <a:p>
            <a:pPr marL="742950" lvl="1" indent="-285750" algn="l">
              <a:buFont typeface="Arial" panose="020B0604020202020204" pitchFamily="34" charset="0"/>
              <a:buChar char="•"/>
            </a:pPr>
            <a:r>
              <a:rPr lang="vi-VN" b="1" i="0" dirty="0">
                <a:solidFill>
                  <a:srgbClr val="404040"/>
                </a:solidFill>
                <a:effectLst/>
                <a:latin typeface="DeepSeek-CJK-patch"/>
              </a:rPr>
              <a:t>Chuyển đổi chậm</a:t>
            </a:r>
            <a:r>
              <a:rPr lang="vi-VN" b="0" i="0" dirty="0">
                <a:solidFill>
                  <a:srgbClr val="404040"/>
                </a:solidFill>
                <a:effectLst/>
                <a:latin typeface="DeepSeek-CJK-patch"/>
              </a:rPr>
              <a:t>: Process switching đắt hơn thread switching (phải thay đổi MMU, trap vào kernel).</a:t>
            </a:r>
          </a:p>
          <a:p>
            <a:pPr algn="l"/>
            <a:r>
              <a:rPr lang="vi-VN" b="1" i="0" dirty="0">
                <a:solidFill>
                  <a:srgbClr val="404040"/>
                </a:solidFill>
                <a:effectLst/>
                <a:latin typeface="DeepSeek-CJK-patch"/>
              </a:rPr>
              <a:t>Giải pháp đa luồng: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nhiều threads trong 1 process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1" i="0" dirty="0">
                <a:solidFill>
                  <a:srgbClr val="404040"/>
                </a:solidFill>
                <a:effectLst/>
                <a:latin typeface="DeepSeek-CJK-patch"/>
              </a:rPr>
              <a:t>Chia sẻ tài nguyên</a:t>
            </a:r>
            <a:r>
              <a:rPr lang="vi-VN" b="0" i="0" dirty="0">
                <a:solidFill>
                  <a:srgbClr val="404040"/>
                </a:solidFill>
                <a:effectLst/>
                <a:latin typeface="DeepSeek-CJK-patch"/>
              </a:rPr>
              <a:t>: Heap, file descriptors, code section.</a:t>
            </a:r>
          </a:p>
          <a:p>
            <a:pPr marL="742950" lvl="1" indent="-285750" algn="l">
              <a:buFont typeface="Arial" panose="020B0604020202020204" pitchFamily="34" charset="0"/>
              <a:buChar char="•"/>
            </a:pPr>
            <a:r>
              <a:rPr lang="vi-VN" b="1" i="0" dirty="0">
                <a:solidFill>
                  <a:srgbClr val="404040"/>
                </a:solidFill>
                <a:effectLst/>
                <a:latin typeface="DeepSeek-CJK-patch"/>
              </a:rPr>
              <a:t>Chuyển đổi nhanh</a:t>
            </a:r>
            <a:r>
              <a:rPr lang="vi-VN" b="0" i="0" dirty="0">
                <a:solidFill>
                  <a:srgbClr val="404040"/>
                </a:solidFill>
                <a:effectLst/>
                <a:latin typeface="DeepSeek-CJK-patch"/>
              </a:rPr>
              <a:t>: Thread switching chỉ cần thay đổi registers, không cần OS can thiệp.</a:t>
            </a:r>
          </a:p>
          <a:p>
            <a:pPr algn="l"/>
            <a:r>
              <a:rPr lang="vi-VN" b="1" i="0" dirty="0">
                <a:solidFill>
                  <a:srgbClr val="404040"/>
                </a:solidFill>
                <a:effectLst/>
                <a:latin typeface="DeepSeek-CJK-patch"/>
              </a:rPr>
              <a:t>Ví dụ thực tế:</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Database Systems (e.g., MySQL):</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kết nối là 1 thread → tiết kiệm RAM hơn so với fork process.</a:t>
            </a:r>
          </a:p>
          <a:p>
            <a:pPr marL="742950" lvl="1" indent="-285750" algn="l">
              <a:buFont typeface="Arial" panose="020B0604020202020204" pitchFamily="34" charset="0"/>
              <a:buChar char="•"/>
            </a:pPr>
            <a:r>
              <a:rPr lang="vi-VN" b="0" i="0" dirty="0">
                <a:solidFill>
                  <a:srgbClr val="404040"/>
                </a:solidFill>
                <a:effectLst/>
                <a:latin typeface="DeepSeek-CJK-patch"/>
              </a:rPr>
              <a:t>Các query chạy song song mà không tốn chi phí chuyển process.</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4. </a:t>
            </a:r>
            <a:r>
              <a:rPr lang="vi-VN" b="1" i="0" dirty="0">
                <a:solidFill>
                  <a:srgbClr val="404040"/>
                </a:solidFill>
                <a:effectLst/>
                <a:latin typeface="DeepSeek-CJK-patch"/>
              </a:rPr>
              <a:t>Tóm tắt bảng so sánh</a:t>
            </a:r>
            <a:endParaRPr lang="vi-VN" b="0" i="0" dirty="0">
              <a:solidFill>
                <a:srgbClr val="404040"/>
              </a:solidFill>
              <a:effectLst/>
              <a:latin typeface="DeepSeek-CJK-patch"/>
            </a:endParaRPr>
          </a:p>
          <a:p>
            <a:pPr algn="l"/>
            <a:r>
              <a:rPr lang="vi-VN" b="1" dirty="0"/>
              <a:t>Tiêu chí</a:t>
            </a:r>
            <a:r>
              <a:rPr lang="en-US" b="1" dirty="0"/>
              <a:t>		</a:t>
            </a:r>
            <a:r>
              <a:rPr lang="vi-VN" b="1" dirty="0"/>
              <a:t>Single-Threaded</a:t>
            </a:r>
            <a:r>
              <a:rPr lang="en-US" b="1" dirty="0"/>
              <a:t>		</a:t>
            </a:r>
            <a:r>
              <a:rPr lang="vi-VN" b="1" dirty="0"/>
              <a:t>Multi-Threaded</a:t>
            </a:r>
            <a:r>
              <a:rPr lang="en-US" b="1" dirty="0"/>
              <a:t>	</a:t>
            </a:r>
            <a:r>
              <a:rPr lang="vi-VN" b="1" dirty="0"/>
              <a:t>Multi-Process</a:t>
            </a:r>
            <a:endParaRPr lang="en-US" b="1" dirty="0"/>
          </a:p>
          <a:p>
            <a:pPr algn="l"/>
            <a:r>
              <a:rPr lang="vi-VN" b="1" dirty="0">
                <a:effectLst/>
              </a:rPr>
              <a:t>Blocking</a:t>
            </a:r>
            <a:r>
              <a:rPr lang="en-US" b="1" dirty="0">
                <a:effectLst/>
              </a:rPr>
              <a:t>		</a:t>
            </a:r>
            <a:r>
              <a:rPr lang="vi-VN" dirty="0">
                <a:effectLst/>
              </a:rPr>
              <a:t>Toàn bộ app đơ nếu bị block</a:t>
            </a:r>
            <a:r>
              <a:rPr lang="en-US" dirty="0">
                <a:effectLst/>
              </a:rPr>
              <a:t>		</a:t>
            </a:r>
            <a:r>
              <a:rPr lang="vi-VN" dirty="0">
                <a:effectLst/>
              </a:rPr>
              <a:t>Chỉ block 1 thread</a:t>
            </a:r>
            <a:r>
              <a:rPr lang="en-US" dirty="0">
                <a:effectLst/>
              </a:rPr>
              <a:t>	</a:t>
            </a:r>
            <a:r>
              <a:rPr lang="vi-VN" dirty="0">
                <a:effectLst/>
              </a:rPr>
              <a:t>Chỉ block 1 process</a:t>
            </a:r>
            <a:endParaRPr lang="en-US" dirty="0">
              <a:effectLst/>
            </a:endParaRPr>
          </a:p>
          <a:p>
            <a:pPr algn="l"/>
            <a:r>
              <a:rPr lang="vi-VN" b="1" dirty="0">
                <a:effectLst/>
              </a:rPr>
              <a:t>Parallelism</a:t>
            </a:r>
            <a:r>
              <a:rPr lang="en-US" b="1" dirty="0">
                <a:effectLst/>
              </a:rPr>
              <a:t>		</a:t>
            </a:r>
            <a:r>
              <a:rPr lang="vi-VN" dirty="0">
                <a:effectLst/>
              </a:rPr>
              <a:t>Không hỗ trợ</a:t>
            </a:r>
            <a:r>
              <a:rPr lang="en-US" dirty="0">
                <a:effectLst/>
              </a:rPr>
              <a:t>			</a:t>
            </a:r>
            <a:r>
              <a:rPr lang="vi-VN" dirty="0">
                <a:effectLst/>
              </a:rPr>
              <a:t>Chạy song song trên đa lõi</a:t>
            </a:r>
            <a:r>
              <a:rPr lang="en-US" dirty="0">
                <a:effectLst/>
              </a:rPr>
              <a:t>	</a:t>
            </a:r>
            <a:r>
              <a:rPr lang="vi-VN" dirty="0">
                <a:effectLst/>
              </a:rPr>
              <a:t>Chạy song song nhưng tốn tài nguyên</a:t>
            </a:r>
            <a:endParaRPr lang="en-US" dirty="0">
              <a:effectLst/>
            </a:endParaRPr>
          </a:p>
          <a:p>
            <a:pPr algn="l"/>
            <a:r>
              <a:rPr lang="vi-VN" b="1" dirty="0">
                <a:effectLst/>
              </a:rPr>
              <a:t>Switching Cost</a:t>
            </a:r>
            <a:r>
              <a:rPr lang="en-US" b="1" dirty="0">
                <a:effectLst/>
              </a:rPr>
              <a:t>	</a:t>
            </a:r>
            <a:r>
              <a:rPr lang="vi-VN" dirty="0">
                <a:effectLst/>
              </a:rPr>
              <a:t>Không áp dụng</a:t>
            </a:r>
            <a:r>
              <a:rPr lang="en-US" dirty="0">
                <a:effectLst/>
              </a:rPr>
              <a:t>		</a:t>
            </a:r>
            <a:r>
              <a:rPr lang="vi-VN" dirty="0">
                <a:effectLst/>
              </a:rPr>
              <a:t>Rẻ (user-mode)</a:t>
            </a:r>
            <a:r>
              <a:rPr lang="en-US" dirty="0">
                <a:effectLst/>
              </a:rPr>
              <a:t>	</a:t>
            </a:r>
            <a:r>
              <a:rPr lang="vi-VN" dirty="0">
                <a:effectLst/>
              </a:rPr>
              <a:t>Đắt (kernel-mode)</a:t>
            </a:r>
            <a:endParaRPr lang="en-US" dirty="0">
              <a:effectLst/>
            </a:endParaRP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5.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Dùng threads khi: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Cần ứng dụng </a:t>
            </a:r>
            <a:r>
              <a:rPr lang="vi-VN" b="1" i="0" dirty="0">
                <a:solidFill>
                  <a:srgbClr val="404040"/>
                </a:solidFill>
                <a:effectLst/>
                <a:latin typeface="DeepSeek-CJK-patch"/>
              </a:rPr>
              <a:t>responsive</a:t>
            </a:r>
            <a:r>
              <a:rPr lang="vi-VN" b="0" i="0" dirty="0">
                <a:solidFill>
                  <a:srgbClr val="404040"/>
                </a:solidFill>
                <a:effectLst/>
                <a:latin typeface="DeepSeek-CJK-patch"/>
              </a:rPr>
              <a:t> (không bị đơ khi chờ I/O).</a:t>
            </a:r>
          </a:p>
          <a:p>
            <a:pPr marL="742950" lvl="1" indent="-285750" algn="l">
              <a:buFont typeface="Arial" panose="020B0604020202020204" pitchFamily="34" charset="0"/>
              <a:buChar char="•"/>
            </a:pPr>
            <a:r>
              <a:rPr lang="vi-VN" b="0" i="0" dirty="0">
                <a:solidFill>
                  <a:srgbClr val="404040"/>
                </a:solidFill>
                <a:effectLst/>
                <a:latin typeface="DeepSeek-CJK-patch"/>
              </a:rPr>
              <a:t>Muốn tận dụng </a:t>
            </a:r>
            <a:r>
              <a:rPr lang="vi-VN" b="1" i="0" dirty="0">
                <a:solidFill>
                  <a:srgbClr val="404040"/>
                </a:solidFill>
                <a:effectLst/>
                <a:latin typeface="DeepSeek-CJK-patch"/>
              </a:rPr>
              <a:t>đa lõi CPU</a:t>
            </a:r>
            <a:r>
              <a:rPr lang="vi-VN" b="0" i="0" dirty="0">
                <a:solidFill>
                  <a:srgbClr val="404040"/>
                </a:solidFill>
                <a:effectLst/>
                <a:latin typeface="DeepSeek-CJK-patch"/>
              </a:rPr>
              <a:t> để tăng tốc độ.</a:t>
            </a:r>
          </a:p>
          <a:p>
            <a:pPr marL="742950" lvl="1" indent="-285750" algn="l">
              <a:buFont typeface="Arial" panose="020B0604020202020204" pitchFamily="34" charset="0"/>
              <a:buChar char="•"/>
            </a:pPr>
            <a:r>
              <a:rPr lang="vi-VN" b="0" i="0" dirty="0">
                <a:solidFill>
                  <a:srgbClr val="404040"/>
                </a:solidFill>
                <a:effectLst/>
                <a:latin typeface="DeepSeek-CJK-patch"/>
              </a:rPr>
              <a:t>Muốn tránh </a:t>
            </a:r>
            <a:r>
              <a:rPr lang="vi-VN" b="1" i="0" dirty="0">
                <a:solidFill>
                  <a:srgbClr val="404040"/>
                </a:solidFill>
                <a:effectLst/>
                <a:latin typeface="DeepSeek-CJK-patch"/>
              </a:rPr>
              <a:t>overhead</a:t>
            </a:r>
            <a:r>
              <a:rPr lang="vi-VN" b="0" i="0" dirty="0">
                <a:solidFill>
                  <a:srgbClr val="404040"/>
                </a:solidFill>
                <a:effectLst/>
                <a:latin typeface="DeepSeek-CJK-patch"/>
              </a:rPr>
              <a:t> của process switching (ví dụ: server high-performance).</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7</a:t>
            </a:fld>
            <a:endParaRPr lang="en-US"/>
          </a:p>
        </p:txBody>
      </p:sp>
    </p:spTree>
    <p:extLst>
      <p:ext uri="{BB962C8B-B14F-4D97-AF65-F5344CB8AC3E}">
        <p14:creationId xmlns:p14="http://schemas.microsoft.com/office/powerpoint/2010/main" val="2985217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Avoid process switching - Tránh chuyển đổi tiến trình</a:t>
            </a:r>
            <a:endParaRPr lang="vi-VN" b="0" i="0" dirty="0">
              <a:solidFill>
                <a:srgbClr val="404040"/>
              </a:solidFill>
              <a:effectLst/>
              <a:latin typeface="DeepSeek-CJK-patch"/>
            </a:endParaRPr>
          </a:p>
          <a:p>
            <a:pPr algn="l"/>
            <a:r>
              <a:rPr lang="en-US" b="0" i="0" dirty="0" err="1">
                <a:solidFill>
                  <a:srgbClr val="404040"/>
                </a:solidFill>
                <a:effectLst/>
                <a:latin typeface="DeepSeek-CJK-patch"/>
              </a:rPr>
              <a:t>Có</a:t>
            </a:r>
            <a:r>
              <a:rPr lang="en-US" b="0" i="0" dirty="0">
                <a:solidFill>
                  <a:srgbClr val="404040"/>
                </a:solidFill>
                <a:effectLst/>
                <a:latin typeface="DeepSeek-CJK-patch"/>
              </a:rPr>
              <a:t> </a:t>
            </a:r>
            <a:r>
              <a:rPr lang="vi-VN" b="0" i="0" dirty="0">
                <a:solidFill>
                  <a:srgbClr val="404040"/>
                </a:solidFill>
                <a:effectLst/>
                <a:latin typeface="DeepSeek-CJK-patch"/>
              </a:rPr>
              <a:t>2 ý chính:</a:t>
            </a:r>
          </a:p>
          <a:p>
            <a:pPr algn="l">
              <a:buFont typeface="+mj-lt"/>
              <a:buAutoNum type="arabicPeriod"/>
            </a:pPr>
            <a:r>
              <a:rPr lang="vi-VN" b="1" i="0" dirty="0">
                <a:solidFill>
                  <a:srgbClr val="404040"/>
                </a:solidFill>
                <a:effectLst/>
                <a:latin typeface="DeepSeek-CJK-patch"/>
              </a:rPr>
              <a:t>Tại sao chuyển đổi tiến trình (process switching) tốn kém</a:t>
            </a:r>
            <a:endParaRPr lang="vi-VN" b="0" i="0" dirty="0">
              <a:solidFill>
                <a:srgbClr val="404040"/>
              </a:solidFill>
              <a:effectLst/>
              <a:latin typeface="DeepSeek-CJK-patch"/>
            </a:endParaRPr>
          </a:p>
          <a:p>
            <a:pPr algn="l">
              <a:buFont typeface="+mj-lt"/>
              <a:buAutoNum type="arabicPeriod"/>
            </a:pPr>
            <a:r>
              <a:rPr lang="vi-VN" b="1" i="0" dirty="0">
                <a:solidFill>
                  <a:srgbClr val="404040"/>
                </a:solidFill>
                <a:effectLst/>
                <a:latin typeface="DeepSeek-CJK-patch"/>
              </a:rPr>
              <a:t>Đánh đổi (trade-offs) khi dùng thread để tránh process switching</a:t>
            </a:r>
            <a:endParaRPr lang="en-US" b="1"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t>
            </a:r>
            <a:endParaRPr lang="vi-VN" b="0" i="0" dirty="0">
              <a:solidFill>
                <a:srgbClr val="404040"/>
              </a:solidFill>
              <a:effectLst/>
              <a:latin typeface="DeepSeek-CJK-patch"/>
            </a:endParaRPr>
          </a:p>
          <a:p>
            <a:pPr algn="l"/>
            <a:r>
              <a:rPr lang="vi-VN" b="1" i="0" dirty="0">
                <a:solidFill>
                  <a:srgbClr val="404040"/>
                </a:solidFill>
                <a:effectLst/>
                <a:latin typeface="DeepSeek-CJK-patch"/>
              </a:rPr>
              <a:t>1. Process Switching Tốn Kém Như Thế Nào?</a:t>
            </a:r>
            <a:endParaRPr lang="vi-VN" b="0" i="0" dirty="0">
              <a:solidFill>
                <a:srgbClr val="404040"/>
              </a:solidFill>
              <a:effectLst/>
              <a:latin typeface="DeepSeek-CJK-patch"/>
            </a:endParaRPr>
          </a:p>
          <a:p>
            <a:pPr algn="l"/>
            <a:r>
              <a:rPr lang="vi-VN" b="1" i="0" dirty="0">
                <a:solidFill>
                  <a:srgbClr val="404040"/>
                </a:solidFill>
                <a:effectLst/>
                <a:latin typeface="DeepSeek-CJK-patch"/>
              </a:rPr>
              <a:t>Quy trình chuyển đổi giữa Process A → Process B:</a:t>
            </a:r>
            <a:r>
              <a:rPr lang="en-US" b="1" i="0" dirty="0">
                <a:solidFill>
                  <a:srgbClr val="404040"/>
                </a:solidFill>
                <a:effectLst/>
                <a:latin typeface="DeepSeek-CJK-patch"/>
              </a:rPr>
              <a:t> </a:t>
            </a:r>
            <a:r>
              <a:rPr lang="en-US" b="1" i="0" dirty="0" err="1">
                <a:solidFill>
                  <a:srgbClr val="404040"/>
                </a:solidFill>
                <a:effectLst/>
                <a:latin typeface="DeepSeek-CJK-patch"/>
              </a:rPr>
              <a:t>Hình</a:t>
            </a:r>
            <a:r>
              <a:rPr lang="en-US" b="1" i="0" dirty="0">
                <a:solidFill>
                  <a:srgbClr val="404040"/>
                </a:solidFill>
                <a:effectLst/>
                <a:latin typeface="DeepSeek-CJK-patch"/>
              </a:rPr>
              <a:t> </a:t>
            </a:r>
            <a:r>
              <a:rPr lang="en-US" b="1" i="0" dirty="0" err="1">
                <a:solidFill>
                  <a:srgbClr val="404040"/>
                </a:solidFill>
                <a:effectLst/>
                <a:latin typeface="DeepSeek-CJK-patch"/>
              </a:rPr>
              <a:t>minh</a:t>
            </a:r>
            <a:r>
              <a:rPr lang="en-US" b="1" i="0" dirty="0">
                <a:solidFill>
                  <a:srgbClr val="404040"/>
                </a:solidFill>
                <a:effectLst/>
                <a:latin typeface="DeepSeek-CJK-patch"/>
              </a:rPr>
              <a:t> </a:t>
            </a:r>
            <a:r>
              <a:rPr lang="en-US" b="1" i="0" dirty="0" err="1">
                <a:solidFill>
                  <a:srgbClr val="404040"/>
                </a:solidFill>
                <a:effectLst/>
                <a:latin typeface="DeepSeek-CJK-patch"/>
              </a:rPr>
              <a:t>họa</a:t>
            </a:r>
            <a:r>
              <a:rPr lang="en-US" b="1" i="0" dirty="0">
                <a:solidFill>
                  <a:srgbClr val="404040"/>
                </a:solidFill>
                <a:effectLst/>
                <a:latin typeface="DeepSeek-CJK-patch"/>
              </a:rPr>
              <a:t> </a:t>
            </a:r>
            <a:r>
              <a:rPr lang="en-US" b="1" i="0" dirty="0" err="1">
                <a:solidFill>
                  <a:srgbClr val="404040"/>
                </a:solidFill>
                <a:effectLst/>
                <a:latin typeface="DeepSeek-CJK-patch"/>
              </a:rPr>
              <a:t>quá</a:t>
            </a:r>
            <a:r>
              <a:rPr lang="en-US" b="1" i="0" dirty="0">
                <a:solidFill>
                  <a:srgbClr val="404040"/>
                </a:solidFill>
                <a:effectLst/>
                <a:latin typeface="DeepSeek-CJK-patch"/>
              </a:rPr>
              <a:t> </a:t>
            </a:r>
            <a:r>
              <a:rPr lang="en-US" b="1" i="0" dirty="0" err="1">
                <a:solidFill>
                  <a:srgbClr val="404040"/>
                </a:solidFill>
                <a:effectLst/>
                <a:latin typeface="DeepSeek-CJK-patch"/>
              </a:rPr>
              <a:t>trình</a:t>
            </a:r>
            <a:r>
              <a:rPr lang="en-US" b="1" i="0" dirty="0">
                <a:solidFill>
                  <a:srgbClr val="404040"/>
                </a:solidFill>
                <a:effectLst/>
                <a:latin typeface="DeepSeek-CJK-patch"/>
              </a:rPr>
              <a:t> </a:t>
            </a:r>
            <a:r>
              <a:rPr lang="en-US" b="1" i="0" dirty="0" err="1">
                <a:solidFill>
                  <a:srgbClr val="404040"/>
                </a:solidFill>
                <a:effectLst/>
                <a:latin typeface="DeepSeek-CJK-patch"/>
              </a:rPr>
              <a:t>chuyển</a:t>
            </a:r>
            <a:r>
              <a:rPr lang="en-US" b="1" i="0" dirty="0">
                <a:solidFill>
                  <a:srgbClr val="404040"/>
                </a:solidFill>
                <a:effectLst/>
                <a:latin typeface="DeepSeek-CJK-patch"/>
              </a:rPr>
              <a:t> </a:t>
            </a:r>
            <a:r>
              <a:rPr lang="en-US" b="1" i="0" dirty="0" err="1">
                <a:solidFill>
                  <a:srgbClr val="404040"/>
                </a:solidFill>
                <a:effectLst/>
                <a:latin typeface="DeepSeek-CJK-patch"/>
              </a:rPr>
              <a:t>đổi</a:t>
            </a:r>
            <a:r>
              <a:rPr lang="en-US" b="1" i="0" dirty="0">
                <a:solidFill>
                  <a:srgbClr val="404040"/>
                </a:solidFill>
                <a:effectLst/>
                <a:latin typeface="DeepSeek-CJK-patch"/>
              </a:rPr>
              <a:t> </a:t>
            </a:r>
            <a:r>
              <a:rPr lang="en-US" b="1" i="0" dirty="0" err="1">
                <a:solidFill>
                  <a:srgbClr val="404040"/>
                </a:solidFill>
                <a:effectLst/>
                <a:latin typeface="DeepSeek-CJK-patch"/>
              </a:rPr>
              <a:t>tiến</a:t>
            </a:r>
            <a:r>
              <a:rPr lang="en-US" b="1" i="0" dirty="0">
                <a:solidFill>
                  <a:srgbClr val="404040"/>
                </a:solidFill>
                <a:effectLst/>
                <a:latin typeface="DeepSeek-CJK-patch"/>
              </a:rPr>
              <a:t> </a:t>
            </a:r>
            <a:r>
              <a:rPr lang="en-US" b="1" i="0" dirty="0" err="1">
                <a:solidFill>
                  <a:srgbClr val="404040"/>
                </a:solidFill>
                <a:effectLst/>
                <a:latin typeface="DeepSeek-CJK-patch"/>
              </a:rPr>
              <a:t>trình</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S1: Chuyển từ user mode sang kernel mode</a:t>
            </a:r>
            <a:endParaRPr lang="vi-VN" b="0" i="0" dirty="0">
              <a:solidFill>
                <a:srgbClr val="404040"/>
              </a:solidFill>
              <a:effectLst/>
              <a:latin typeface="DeepSeek-CJK-patch"/>
            </a:endParaRPr>
          </a:p>
          <a:p>
            <a:pPr marL="742950" lvl="1" indent="-285750" algn="l">
              <a:buFont typeface="+mj-lt"/>
              <a:buAutoNum type="arabicPeriod"/>
            </a:pPr>
            <a:r>
              <a:rPr lang="vi-VN" b="0" i="0" dirty="0">
                <a:solidFill>
                  <a:srgbClr val="404040"/>
                </a:solidFill>
                <a:effectLst/>
                <a:latin typeface="DeepSeek-CJK-patch"/>
              </a:rPr>
              <a:t>Process đang chạy ở </a:t>
            </a:r>
            <a:r>
              <a:rPr lang="vi-VN" b="1" i="0" dirty="0">
                <a:solidFill>
                  <a:srgbClr val="404040"/>
                </a:solidFill>
                <a:effectLst/>
                <a:latin typeface="DeepSeek-CJK-patch"/>
              </a:rPr>
              <a:t>user space</a:t>
            </a:r>
            <a:r>
              <a:rPr lang="vi-VN" b="0" i="0" dirty="0">
                <a:solidFill>
                  <a:srgbClr val="404040"/>
                </a:solidFill>
                <a:effectLst/>
                <a:latin typeface="DeepSeek-CJK-patch"/>
              </a:rPr>
              <a:t> phải gọi </a:t>
            </a:r>
            <a:r>
              <a:rPr lang="vi-VN" b="1" i="0" dirty="0">
                <a:solidFill>
                  <a:srgbClr val="404040"/>
                </a:solidFill>
                <a:effectLst/>
                <a:latin typeface="DeepSeek-CJK-patch"/>
              </a:rPr>
              <a:t>system call</a:t>
            </a:r>
            <a:r>
              <a:rPr lang="en-US" b="1" i="0" dirty="0">
                <a:solidFill>
                  <a:srgbClr val="404040"/>
                </a:solidFill>
                <a:effectLst/>
                <a:latin typeface="DeepSeek-CJK-patch"/>
              </a:rPr>
              <a:t> </a:t>
            </a:r>
            <a:r>
              <a:rPr lang="vi-VN" b="0" i="0" dirty="0">
                <a:solidFill>
                  <a:srgbClr val="404040"/>
                </a:solidFill>
                <a:effectLst/>
                <a:latin typeface="DeepSeek-CJK-patch"/>
              </a:rPr>
              <a:t>→ Tốn CPU cycles do phải thay đổi privilege level.</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S2: Thay đổi ngữ cảnh (context switching) trong kernel</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Lưu </a:t>
            </a:r>
            <a:r>
              <a:rPr lang="vi-VN" b="1" i="0" dirty="0">
                <a:solidFill>
                  <a:srgbClr val="404040"/>
                </a:solidFill>
                <a:effectLst/>
                <a:latin typeface="DeepSeek-CJK-patch"/>
              </a:rPr>
              <a:t>Process Context</a:t>
            </a:r>
            <a:r>
              <a:rPr lang="vi-VN" b="0" i="0" dirty="0">
                <a:solidFill>
                  <a:srgbClr val="404040"/>
                </a:solidFill>
                <a:effectLst/>
                <a:latin typeface="DeepSeek-CJK-patch"/>
              </a:rPr>
              <a:t> của A (PC, SP, registers, MMU settings, page tables...).</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Nạp </a:t>
            </a:r>
            <a:r>
              <a:rPr lang="vi-VN" b="1" i="0" dirty="0">
                <a:solidFill>
                  <a:srgbClr val="404040"/>
                </a:solidFill>
                <a:effectLst/>
                <a:latin typeface="DeepSeek-CJK-patch"/>
              </a:rPr>
              <a:t>Process Context</a:t>
            </a:r>
            <a:r>
              <a:rPr lang="vi-VN" b="0" i="0" dirty="0">
                <a:solidFill>
                  <a:srgbClr val="404040"/>
                </a:solidFill>
                <a:effectLst/>
                <a:latin typeface="DeepSeek-CJK-patch"/>
              </a:rPr>
              <a:t> của B.</a:t>
            </a:r>
            <a:br>
              <a:rPr lang="vi-VN" b="0" i="0" dirty="0">
                <a:solidFill>
                  <a:srgbClr val="404040"/>
                </a:solidFill>
                <a:effectLst/>
                <a:latin typeface="DeepSeek-CJK-patch"/>
              </a:rPr>
            </a:br>
            <a:r>
              <a:rPr lang="vi-VN" b="0" i="0" dirty="0">
                <a:solidFill>
                  <a:srgbClr val="404040"/>
                </a:solidFill>
                <a:effectLst/>
                <a:latin typeface="DeepSeek-CJK-patch"/>
              </a:rPr>
              <a:t>→ Tốn thời gian do phải cập nhật MMU (quản lý bộ nhớ ảo).</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S3: Chuyển từ kernel mode trở lại user mode</a:t>
            </a:r>
            <a:br>
              <a:rPr lang="vi-VN" b="0" i="0" dirty="0">
                <a:solidFill>
                  <a:srgbClr val="404040"/>
                </a:solidFill>
                <a:effectLst/>
                <a:latin typeface="DeepSeek-CJK-patch"/>
              </a:rPr>
            </a:br>
            <a:r>
              <a:rPr lang="vi-VN" b="0" i="0" dirty="0">
                <a:solidFill>
                  <a:srgbClr val="404040"/>
                </a:solidFill>
                <a:effectLst/>
                <a:latin typeface="DeepSeek-CJK-patch"/>
              </a:rPr>
              <a:t>→ Tiếp tục thực thi Process B.</a:t>
            </a:r>
          </a:p>
          <a:p>
            <a:pPr algn="l"/>
            <a:endParaRPr lang="en-US" b="0" i="0" dirty="0">
              <a:solidFill>
                <a:srgbClr val="404040"/>
              </a:solidFill>
              <a:effectLst/>
              <a:latin typeface="DeepSeek-CJK-patch"/>
            </a:endParaRPr>
          </a:p>
          <a:p>
            <a:pPr algn="l"/>
            <a:r>
              <a:rPr lang="vi-VN" b="0" i="0" dirty="0">
                <a:solidFill>
                  <a:srgbClr val="404040"/>
                </a:solidFill>
                <a:effectLst/>
                <a:latin typeface="DeepSeek-CJK-patch"/>
              </a:rPr>
              <a:t>→ Cả 3 bước đều cần sự can thiệp của OS → </a:t>
            </a:r>
            <a:r>
              <a:rPr lang="vi-VN" b="1" i="0" dirty="0">
                <a:solidFill>
                  <a:srgbClr val="404040"/>
                </a:solidFill>
                <a:effectLst/>
                <a:latin typeface="DeepSeek-CJK-patch"/>
              </a:rPr>
              <a:t>tốn thời gian</a:t>
            </a:r>
            <a:r>
              <a:rPr lang="vi-VN" b="0" i="0" dirty="0">
                <a:solidFill>
                  <a:srgbClr val="404040"/>
                </a:solidFill>
                <a:effectLst/>
                <a:latin typeface="DeepSeek-CJK-patch"/>
              </a:rPr>
              <a:t> (vài milliseconds).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Tại Sao Thread Switching Nhanh Hơn?</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Threads trong cùng process </a:t>
            </a:r>
            <a:r>
              <a:rPr lang="vi-VN" b="1" i="0" dirty="0">
                <a:solidFill>
                  <a:srgbClr val="404040"/>
                </a:solidFill>
                <a:effectLst/>
                <a:latin typeface="DeepSeek-CJK-patch"/>
              </a:rPr>
              <a:t>chia sẻ address space</a:t>
            </a:r>
            <a:r>
              <a:rPr lang="vi-VN" b="0" i="0" dirty="0">
                <a:solidFill>
                  <a:srgbClr val="404040"/>
                </a:solidFill>
                <a:effectLst/>
                <a:latin typeface="DeepSeek-CJK-patch"/>
              </a:rPr>
              <a:t> → không cần:</a:t>
            </a:r>
          </a:p>
          <a:p>
            <a:pPr marL="742950" lvl="1" indent="-285750" algn="l">
              <a:buFont typeface="Arial" panose="020B0604020202020204" pitchFamily="34" charset="0"/>
              <a:buChar char="•"/>
            </a:pPr>
            <a:r>
              <a:rPr lang="vi-VN" b="0" i="0" dirty="0">
                <a:solidFill>
                  <a:srgbClr val="404040"/>
                </a:solidFill>
                <a:effectLst/>
                <a:latin typeface="DeepSeek-CJK-patch"/>
              </a:rPr>
              <a:t>Thay đổi MMU/page tables.</a:t>
            </a:r>
          </a:p>
          <a:p>
            <a:pPr marL="742950" lvl="1" indent="-285750" algn="l">
              <a:buFont typeface="Arial" panose="020B0604020202020204" pitchFamily="34" charset="0"/>
              <a:buChar char="•"/>
            </a:pPr>
            <a:r>
              <a:rPr lang="vi-VN" b="0" i="0" dirty="0">
                <a:solidFill>
                  <a:srgbClr val="404040"/>
                </a:solidFill>
                <a:effectLst/>
                <a:latin typeface="DeepSeek-CJK-patch"/>
              </a:rPr>
              <a:t>Trap vào kernel (có thể switch trong user-mode).</a:t>
            </a:r>
            <a:br>
              <a:rPr lang="vi-VN" b="0" i="0" dirty="0">
                <a:solidFill>
                  <a:srgbClr val="404040"/>
                </a:solidFill>
                <a:effectLst/>
                <a:latin typeface="DeepSeek-CJK-patch"/>
              </a:rPr>
            </a:br>
            <a:r>
              <a:rPr lang="vi-VN" b="0" i="0" dirty="0">
                <a:solidFill>
                  <a:srgbClr val="404040"/>
                </a:solidFill>
                <a:effectLst/>
                <a:latin typeface="DeepSeek-CJK-patch"/>
              </a:rPr>
              <a:t>→ Chỉ cần thay đổi </a:t>
            </a:r>
            <a:r>
              <a:rPr lang="vi-VN" b="1" i="0" dirty="0">
                <a:solidFill>
                  <a:srgbClr val="404040"/>
                </a:solidFill>
                <a:effectLst/>
                <a:latin typeface="DeepSeek-CJK-patch"/>
              </a:rPr>
              <a:t>registers (PC, SP)</a:t>
            </a:r>
            <a:r>
              <a:rPr lang="vi-VN" b="0" i="0" dirty="0">
                <a:solidFill>
                  <a:srgbClr val="404040"/>
                </a:solidFill>
                <a:effectLst/>
                <a:latin typeface="DeepSeek-CJK-patch"/>
              </a:rPr>
              <a:t> → nhanh hơn 10-100 lần so với process switching.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Trade-offs Khi Dùng Thread</a:t>
            </a:r>
            <a:endParaRPr lang="vi-VN" b="0" i="0" dirty="0">
              <a:solidFill>
                <a:srgbClr val="404040"/>
              </a:solidFill>
              <a:effectLst/>
              <a:latin typeface="DeepSeek-CJK-patch"/>
            </a:endParaRPr>
          </a:p>
          <a:p>
            <a:pPr algn="l"/>
            <a:r>
              <a:rPr lang="vi-VN" b="1" i="0" dirty="0">
                <a:solidFill>
                  <a:srgbClr val="404040"/>
                </a:solidFill>
                <a:effectLst/>
                <a:latin typeface="DeepSeek-CJK-patch"/>
              </a:rPr>
              <a:t>a. Threads dùng chung address space → Dễ phát sinh lỗi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Các threads có thể ghi đè lên dữ liệu của nhau (race condition).</a:t>
            </a:r>
          </a:p>
          <a:p>
            <a:pPr marL="742950" lvl="1" indent="-285750" algn="l">
              <a:buFont typeface="Arial" panose="020B0604020202020204" pitchFamily="34" charset="0"/>
              <a:buChar char="•"/>
            </a:pPr>
            <a:r>
              <a:rPr lang="vi-VN" b="0" i="0" dirty="0">
                <a:solidFill>
                  <a:srgbClr val="404040"/>
                </a:solidFill>
                <a:effectLst/>
                <a:latin typeface="DeepSeek-CJK-patch"/>
              </a:rPr>
              <a:t>Ví dụ:</a:t>
            </a:r>
          </a:p>
          <a:p>
            <a:pPr marL="457200" lvl="1" indent="0" algn="l">
              <a:buFont typeface="Arial" panose="020B0604020202020204" pitchFamily="34" charset="0"/>
              <a:buNone/>
            </a:pPr>
            <a:r>
              <a:rPr lang="en-US" b="0" i="0" dirty="0">
                <a:solidFill>
                  <a:srgbClr val="636F88"/>
                </a:solidFill>
                <a:effectLst/>
                <a:latin typeface="DeepSeek-CJK-patch"/>
              </a:rPr>
              <a:t>---------------------------------------------------------------------------------------------</a:t>
            </a:r>
          </a:p>
          <a:p>
            <a:pPr marL="457200" lvl="1" indent="0" algn="l">
              <a:buFont typeface="Arial" panose="020B0604020202020204" pitchFamily="34" charset="0"/>
              <a:buNone/>
            </a:pPr>
            <a:r>
              <a:rPr lang="vi-VN" b="0" i="0" dirty="0">
                <a:solidFill>
                  <a:srgbClr val="636F88"/>
                </a:solidFill>
                <a:effectLst/>
                <a:latin typeface="DeepSeek-CJK-patch"/>
              </a:rPr>
              <a:t>// Biến global shared giữa 2 threads</a:t>
            </a:r>
            <a:r>
              <a:rPr lang="vi-VN" b="0" i="0" dirty="0">
                <a:solidFill>
                  <a:srgbClr val="FFFFFF"/>
                </a:solidFill>
                <a:effectLst/>
                <a:latin typeface="DeepSeek-CJK-patch"/>
              </a:rPr>
              <a:t> </a:t>
            </a:r>
            <a:endParaRPr lang="en-US" b="0" i="0" dirty="0">
              <a:solidFill>
                <a:srgbClr val="FFFFFF"/>
              </a:solidFill>
              <a:effectLst/>
              <a:latin typeface="DeepSeek-CJK-patch"/>
            </a:endParaRPr>
          </a:p>
          <a:p>
            <a:pPr marL="457200" lvl="1" indent="0" algn="l">
              <a:buFont typeface="Arial" panose="020B0604020202020204" pitchFamily="34" charset="0"/>
              <a:buNone/>
            </a:pPr>
            <a:r>
              <a:rPr lang="vi-VN" b="0" i="0" dirty="0">
                <a:solidFill>
                  <a:srgbClr val="81A1C1"/>
                </a:solidFill>
                <a:effectLst/>
                <a:latin typeface="DeepSeek-CJK-patch"/>
              </a:rPr>
              <a:t>int</a:t>
            </a:r>
            <a:r>
              <a:rPr lang="vi-VN" b="0" i="0" dirty="0">
                <a:solidFill>
                  <a:srgbClr val="FFFFFF"/>
                </a:solidFill>
                <a:effectLst/>
                <a:latin typeface="DeepSeek-CJK-patch"/>
              </a:rPr>
              <a:t> balance </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B48EAD"/>
                </a:solidFill>
                <a:effectLst/>
                <a:latin typeface="DeepSeek-CJK-patch"/>
              </a:rPr>
              <a:t>100</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81A1C1"/>
                </a:solidFill>
                <a:effectLst/>
                <a:latin typeface="DeepSeek-CJK-patch"/>
              </a:rPr>
              <a:t>void</a:t>
            </a:r>
            <a:r>
              <a:rPr lang="vi-VN" b="0" i="0" dirty="0">
                <a:solidFill>
                  <a:srgbClr val="FFFFFF"/>
                </a:solidFill>
                <a:effectLst/>
                <a:latin typeface="DeepSeek-CJK-patch"/>
              </a:rPr>
              <a:t> </a:t>
            </a:r>
            <a:r>
              <a:rPr lang="vi-VN" b="0" i="0" dirty="0">
                <a:solidFill>
                  <a:srgbClr val="88C0D0"/>
                </a:solidFill>
                <a:effectLst/>
                <a:latin typeface="DeepSeek-CJK-patch"/>
              </a:rPr>
              <a:t>withdraw</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81A1C1"/>
                </a:solidFill>
                <a:effectLst/>
                <a:latin typeface="DeepSeek-CJK-patch"/>
              </a:rPr>
              <a:t>{</a:t>
            </a:r>
            <a:r>
              <a:rPr lang="vi-VN" b="0" i="0" dirty="0">
                <a:solidFill>
                  <a:srgbClr val="FFFFFF"/>
                </a:solidFill>
                <a:effectLst/>
                <a:latin typeface="DeepSeek-CJK-patch"/>
              </a:rPr>
              <a:t> balance </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B48EAD"/>
                </a:solidFill>
                <a:effectLst/>
                <a:latin typeface="DeepSeek-CJK-patch"/>
              </a:rPr>
              <a:t>10</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81A1C1"/>
                </a:solidFill>
                <a:effectLst/>
                <a:latin typeface="DeepSeek-CJK-patch"/>
              </a:rPr>
              <a:t>}</a:t>
            </a:r>
            <a:r>
              <a:rPr lang="vi-VN" b="0" i="0" dirty="0">
                <a:solidFill>
                  <a:srgbClr val="FFFFFF"/>
                </a:solidFill>
                <a:effectLst/>
                <a:latin typeface="DeepSeek-CJK-patch"/>
              </a:rPr>
              <a:t> </a:t>
            </a:r>
            <a:r>
              <a:rPr lang="vi-VN" b="0" i="0" dirty="0">
                <a:solidFill>
                  <a:srgbClr val="636F88"/>
                </a:solidFill>
                <a:effectLst/>
                <a:latin typeface="DeepSeek-CJK-patch"/>
              </a:rPr>
              <a:t>// Thread A và B cùng gọi → lỗi!</a:t>
            </a:r>
            <a:endParaRPr lang="en-US" b="0" i="0" dirty="0">
              <a:solidFill>
                <a:srgbClr val="636F88"/>
              </a:solidFill>
              <a:effectLst/>
              <a:latin typeface="DeepSeek-CJK-patch"/>
            </a:endParaRPr>
          </a:p>
          <a:p>
            <a:pPr marL="457200" lvl="1" indent="0" algn="l">
              <a:buFont typeface="Arial" panose="020B0604020202020204" pitchFamily="34" charset="0"/>
              <a:buNone/>
            </a:pPr>
            <a:r>
              <a:rPr lang="en-US" b="0" i="0" dirty="0">
                <a:solidFill>
                  <a:srgbClr val="636F88"/>
                </a:solidFill>
                <a:effectLst/>
                <a:latin typeface="DeepSeek-CJK-patch"/>
              </a:rPr>
              <a:t>---------------------------------------------------------------------------------------------</a:t>
            </a:r>
            <a:endParaRPr lang="vi-VN" b="0" i="0" dirty="0">
              <a:solidFill>
                <a:srgbClr val="FFFFFF"/>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Giải pháp:</a:t>
            </a:r>
            <a:r>
              <a:rPr lang="vi-VN" b="0" i="0" dirty="0">
                <a:solidFill>
                  <a:srgbClr val="404040"/>
                </a:solidFill>
                <a:effectLst/>
                <a:latin typeface="DeepSeek-CJK-patch"/>
              </a:rPr>
              <a:t> Dùng </a:t>
            </a:r>
            <a:r>
              <a:rPr lang="vi-VN" b="1" i="0" dirty="0">
                <a:solidFill>
                  <a:srgbClr val="404040"/>
                </a:solidFill>
                <a:effectLst/>
                <a:latin typeface="DeepSeek-CJK-patch"/>
              </a:rPr>
              <a:t>mutex/semaphore</a:t>
            </a:r>
            <a:r>
              <a:rPr lang="vi-VN" b="0" i="0" dirty="0">
                <a:solidFill>
                  <a:srgbClr val="404040"/>
                </a:solidFill>
                <a:effectLst/>
                <a:latin typeface="DeepSeek-CJK-patch"/>
              </a:rPr>
              <a:t> để đồng bộ.</a:t>
            </a:r>
            <a:endParaRPr lang="en-US" b="0" i="0" dirty="0">
              <a:solidFill>
                <a:srgbClr val="404040"/>
              </a:solidFill>
              <a:effectLst/>
              <a:latin typeface="DeepSeek-CJK-patch"/>
            </a:endParaRPr>
          </a:p>
          <a:p>
            <a:pPr algn="l">
              <a:buFont typeface="Arial" panose="020B0604020202020204" pitchFamily="34" charset="0"/>
              <a:buNone/>
            </a:pPr>
            <a:endParaRPr lang="vi-VN" b="0" i="0" dirty="0">
              <a:solidFill>
                <a:srgbClr val="404040"/>
              </a:solidFill>
              <a:effectLst/>
              <a:latin typeface="DeepSeek-CJK-patch"/>
            </a:endParaRPr>
          </a:p>
          <a:p>
            <a:pPr algn="l"/>
            <a:r>
              <a:rPr lang="vi-VN" b="1" i="0" dirty="0">
                <a:solidFill>
                  <a:srgbClr val="404040"/>
                </a:solidFill>
                <a:effectLst/>
                <a:latin typeface="DeepSeek-CJK-patch"/>
              </a:rPr>
              <a:t>b. OS/HW không bảo vệ bộ nhớ giữa các threads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Process có cơ chế </a:t>
            </a:r>
            <a:r>
              <a:rPr lang="vi-VN" b="1" i="0" dirty="0">
                <a:solidFill>
                  <a:srgbClr val="404040"/>
                </a:solidFill>
                <a:effectLst/>
                <a:latin typeface="DeepSeek-CJK-patch"/>
              </a:rPr>
              <a:t>memory isolation</a:t>
            </a:r>
            <a:r>
              <a:rPr lang="vi-VN" b="0" i="0" dirty="0">
                <a:solidFill>
                  <a:srgbClr val="404040"/>
                </a:solidFill>
                <a:effectLst/>
                <a:latin typeface="DeepSeek-CJK-patch"/>
              </a:rPr>
              <a:t> (MMU ngăn process A truy cập memory của B).</a:t>
            </a:r>
          </a:p>
          <a:p>
            <a:pPr marL="742950" lvl="1" indent="-285750" algn="l">
              <a:buFont typeface="Arial" panose="020B0604020202020204" pitchFamily="34" charset="0"/>
              <a:buChar char="•"/>
            </a:pPr>
            <a:r>
              <a:rPr lang="vi-VN" b="0" i="0" dirty="0">
                <a:solidFill>
                  <a:srgbClr val="404040"/>
                </a:solidFill>
                <a:effectLst/>
                <a:latin typeface="DeepSeek-CJK-patch"/>
              </a:rPr>
              <a:t>Threads trong cùng process </a:t>
            </a:r>
            <a:r>
              <a:rPr lang="vi-VN" b="1" i="0" dirty="0">
                <a:solidFill>
                  <a:srgbClr val="404040"/>
                </a:solidFill>
                <a:effectLst/>
                <a:latin typeface="DeepSeek-CJK-patch"/>
              </a:rPr>
              <a:t>tự do truy cập memory của nhau</a:t>
            </a:r>
            <a:r>
              <a:rPr lang="vi-VN" b="0" i="0" dirty="0">
                <a:solidFill>
                  <a:srgbClr val="404040"/>
                </a:solidFill>
                <a:effectLst/>
                <a:latin typeface="DeepSeek-CJK-patch"/>
              </a:rPr>
              <a:t> → lỗi segmentation fault khó phát hiện.</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Thread A xóa pointer → Thread B truy cập → crash.</a:t>
            </a:r>
          </a:p>
          <a:p>
            <a:pPr algn="l"/>
            <a:r>
              <a:rPr lang="vi-VN" b="1" i="0" dirty="0">
                <a:solidFill>
                  <a:srgbClr val="404040"/>
                </a:solidFill>
                <a:effectLst/>
                <a:latin typeface="DeepSeek-CJK-patch"/>
              </a:rPr>
              <a:t>c. Thread switching nhanh hơn process switching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Lý do:</a:t>
            </a:r>
            <a:endParaRPr lang="vi-VN"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Tiêu chí</a:t>
            </a:r>
            <a:r>
              <a:rPr lang="en-US" b="1" i="0" dirty="0">
                <a:solidFill>
                  <a:srgbClr val="404040"/>
                </a:solidFill>
                <a:effectLst/>
                <a:latin typeface="DeepSeek-CJK-patch"/>
              </a:rPr>
              <a:t>		</a:t>
            </a:r>
            <a:r>
              <a:rPr lang="vi-VN" b="1" i="0" dirty="0">
                <a:solidFill>
                  <a:srgbClr val="404040"/>
                </a:solidFill>
                <a:effectLst/>
                <a:latin typeface="DeepSeek-CJK-patch"/>
              </a:rPr>
              <a:t>Thread Switching</a:t>
            </a:r>
            <a:r>
              <a:rPr lang="en-US" b="1" i="0" dirty="0">
                <a:solidFill>
                  <a:srgbClr val="404040"/>
                </a:solidFill>
                <a:effectLst/>
                <a:latin typeface="DeepSeek-CJK-patch"/>
              </a:rPr>
              <a:t>		</a:t>
            </a:r>
            <a:r>
              <a:rPr lang="vi-VN" b="1" i="0" dirty="0">
                <a:solidFill>
                  <a:srgbClr val="404040"/>
                </a:solidFill>
                <a:effectLst/>
                <a:latin typeface="DeepSeek-CJK-patch"/>
              </a:rPr>
              <a:t>Process Switching</a:t>
            </a:r>
            <a:endParaRPr lang="en-US" b="1"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OS Involvement</a:t>
            </a:r>
            <a:r>
              <a:rPr lang="en-US" b="1" i="0" dirty="0">
                <a:solidFill>
                  <a:srgbClr val="404040"/>
                </a:solidFill>
                <a:effectLst/>
                <a:latin typeface="DeepSeek-CJK-patch"/>
              </a:rPr>
              <a:t>	</a:t>
            </a:r>
            <a:r>
              <a:rPr lang="vi-VN" b="0" i="0" dirty="0">
                <a:solidFill>
                  <a:srgbClr val="404040"/>
                </a:solidFill>
                <a:effectLst/>
                <a:latin typeface="DeepSeek-CJK-patch"/>
              </a:rPr>
              <a:t>Có thể không cần (user-mode)</a:t>
            </a:r>
            <a:r>
              <a:rPr lang="en-US" b="0" i="0" dirty="0">
                <a:solidFill>
                  <a:srgbClr val="404040"/>
                </a:solidFill>
                <a:effectLst/>
                <a:latin typeface="DeepSeek-CJK-patch"/>
              </a:rPr>
              <a:t>	</a:t>
            </a:r>
            <a:r>
              <a:rPr lang="vi-VN" b="0" i="0" dirty="0">
                <a:solidFill>
                  <a:srgbClr val="404040"/>
                </a:solidFill>
                <a:effectLst/>
                <a:latin typeface="DeepSeek-CJK-patch"/>
              </a:rPr>
              <a:t>Luôn cần (kernel-mode)</a:t>
            </a:r>
            <a:endParaRPr lang="en-US"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MMU Update</a:t>
            </a:r>
            <a:r>
              <a:rPr lang="en-US" b="1" i="0" dirty="0">
                <a:solidFill>
                  <a:srgbClr val="404040"/>
                </a:solidFill>
                <a:effectLst/>
                <a:latin typeface="DeepSeek-CJK-patch"/>
              </a:rPr>
              <a:t>		</a:t>
            </a:r>
            <a:r>
              <a:rPr lang="vi-VN" b="0" i="0" dirty="0">
                <a:solidFill>
                  <a:srgbClr val="404040"/>
                </a:solidFill>
                <a:effectLst/>
                <a:latin typeface="DeepSeek-CJK-patch"/>
              </a:rPr>
              <a:t>Không cần</a:t>
            </a:r>
            <a:r>
              <a:rPr lang="en-US" b="0" i="0" dirty="0">
                <a:solidFill>
                  <a:srgbClr val="404040"/>
                </a:solidFill>
                <a:effectLst/>
                <a:latin typeface="DeepSeek-CJK-patch"/>
              </a:rPr>
              <a:t>			</a:t>
            </a:r>
            <a:r>
              <a:rPr lang="vi-VN" b="0" i="0" dirty="0">
                <a:solidFill>
                  <a:srgbClr val="404040"/>
                </a:solidFill>
                <a:effectLst/>
                <a:latin typeface="DeepSeek-CJK-patch"/>
              </a:rPr>
              <a:t>Bắt buộc</a:t>
            </a:r>
            <a:endParaRPr lang="en-US" b="0"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Tốc độ</a:t>
            </a:r>
            <a:r>
              <a:rPr lang="en-US" b="1" i="0" dirty="0">
                <a:solidFill>
                  <a:srgbClr val="404040"/>
                </a:solidFill>
                <a:effectLst/>
                <a:latin typeface="DeepSeek-CJK-patch"/>
              </a:rPr>
              <a:t>		</a:t>
            </a:r>
            <a:r>
              <a:rPr lang="vi-VN" b="0" i="0" dirty="0">
                <a:solidFill>
                  <a:srgbClr val="404040"/>
                </a:solidFill>
                <a:effectLst/>
                <a:latin typeface="DeepSeek-CJK-patch"/>
              </a:rPr>
              <a:t>~1-10 microseconds</a:t>
            </a:r>
            <a:r>
              <a:rPr lang="en-US" b="0" i="0" dirty="0">
                <a:solidFill>
                  <a:srgbClr val="404040"/>
                </a:solidFill>
                <a:effectLst/>
                <a:latin typeface="DeepSeek-CJK-patch"/>
              </a:rPr>
              <a:t>		</a:t>
            </a:r>
            <a:r>
              <a:rPr lang="vi-VN" b="0" i="0" dirty="0">
                <a:solidFill>
                  <a:srgbClr val="404040"/>
                </a:solidFill>
                <a:effectLst/>
                <a:latin typeface="DeepSeek-CJK-patch"/>
              </a:rPr>
              <a:t>~1-10 milliseconds</a:t>
            </a:r>
            <a:endParaRPr lang="en-US" b="0" i="0" dirty="0">
              <a:solidFill>
                <a:srgbClr val="404040"/>
              </a:solidFill>
              <a:effectLst/>
              <a:latin typeface="DeepSeek-CJK-patch"/>
            </a:endParaRPr>
          </a:p>
          <a:p>
            <a:pPr algn="l">
              <a:buFont typeface="Arial" panose="020B0604020202020204" pitchFamily="34" charset="0"/>
              <a:buNone/>
            </a:pPr>
            <a:endParaRPr lang="vi-VN" b="0" i="0" dirty="0">
              <a:solidFill>
                <a:srgbClr val="404040"/>
              </a:solidFill>
              <a:effectLst/>
              <a:latin typeface="DeepSeek-CJK-patch"/>
            </a:endParaRPr>
          </a:p>
          <a:p>
            <a:pPr algn="l"/>
            <a:r>
              <a:rPr lang="en-US" b="1" i="0" dirty="0">
                <a:solidFill>
                  <a:srgbClr val="404040"/>
                </a:solidFill>
                <a:effectLst/>
                <a:latin typeface="DeepSeek-CJK-patch"/>
              </a:rPr>
              <a:t>4.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Nên dùng thread khi: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Cần hiệu suất cao, ưu tiên tốc độ chuyển đổi (vd: real-time systems).</a:t>
            </a:r>
          </a:p>
          <a:p>
            <a:pPr marL="742950" lvl="1" indent="-285750" algn="l">
              <a:buFont typeface="Arial" panose="020B0604020202020204" pitchFamily="34" charset="0"/>
              <a:buChar char="•"/>
            </a:pPr>
            <a:r>
              <a:rPr lang="vi-VN" b="0" i="0" dirty="0">
                <a:solidFill>
                  <a:srgbClr val="404040"/>
                </a:solidFill>
                <a:effectLst/>
                <a:latin typeface="DeepSeek-CJK-patch"/>
              </a:rPr>
              <a:t>Ứng dụng có thể quản lý được shared memory (dùng sync mechanisms).</a:t>
            </a:r>
          </a:p>
          <a:p>
            <a:pPr algn="l">
              <a:buFont typeface="Arial" panose="020B0604020202020204" pitchFamily="34" charset="0"/>
              <a:buChar char="•"/>
            </a:pPr>
            <a:r>
              <a:rPr lang="vi-VN" b="1" i="0" dirty="0">
                <a:solidFill>
                  <a:srgbClr val="404040"/>
                </a:solidFill>
                <a:effectLst/>
                <a:latin typeface="DeepSeek-CJK-patch"/>
              </a:rPr>
              <a:t>Nên dùng process khi: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Cần cách ly bảo mật (vd: trình duyệt dùng process riêng cho mỗi tab).</a:t>
            </a:r>
          </a:p>
          <a:p>
            <a:pPr marL="742950" lvl="1" indent="-285750" algn="l">
              <a:buFont typeface="Arial" panose="020B0604020202020204" pitchFamily="34" charset="0"/>
              <a:buChar char="•"/>
            </a:pPr>
            <a:r>
              <a:rPr lang="vi-VN" b="0" i="0" dirty="0">
                <a:solidFill>
                  <a:srgbClr val="404040"/>
                </a:solidFill>
                <a:effectLst/>
                <a:latin typeface="DeepSeek-CJK-patch"/>
              </a:rPr>
              <a:t>Không muốn rủi ro do shared memory.</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8</a:t>
            </a:fld>
            <a:endParaRPr lang="en-US"/>
          </a:p>
        </p:txBody>
      </p:sp>
    </p:spTree>
    <p:extLst>
      <p:ext uri="{BB962C8B-B14F-4D97-AF65-F5344CB8AC3E}">
        <p14:creationId xmlns:p14="http://schemas.microsoft.com/office/powerpoint/2010/main" val="6479335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The cost of a context switch (Chi phí chuyển đổi ngữ cảnh)</a:t>
            </a:r>
            <a:endParaRPr lang="vi-VN" b="0" i="0" dirty="0">
              <a:solidFill>
                <a:srgbClr val="404040"/>
              </a:solidFill>
              <a:effectLst/>
              <a:latin typeface="DeepSeek-CJK-patch"/>
            </a:endParaRPr>
          </a:p>
          <a:p>
            <a:pPr algn="l"/>
            <a:r>
              <a:rPr lang="vi-VN" b="0" i="0" dirty="0">
                <a:solidFill>
                  <a:srgbClr val="404040"/>
                </a:solidFill>
                <a:effectLst/>
                <a:latin typeface="DeepSeek-CJK-patch"/>
              </a:rPr>
              <a:t>phân tích 2 loại chi phí khi xảy ra </a:t>
            </a:r>
            <a:r>
              <a:rPr lang="vi-VN" b="1" i="0" dirty="0">
                <a:solidFill>
                  <a:srgbClr val="404040"/>
                </a:solidFill>
                <a:effectLst/>
                <a:latin typeface="DeepSeek-CJK-patch"/>
              </a:rPr>
              <a:t>context switch</a:t>
            </a:r>
            <a:r>
              <a:rPr lang="vi-VN" b="0" i="0" dirty="0">
                <a:solidFill>
                  <a:srgbClr val="404040"/>
                </a:solidFill>
                <a:effectLst/>
                <a:latin typeface="DeepSeek-CJK-patch"/>
              </a:rPr>
              <a:t> (do ngắt đồng hồ - clock interrupt):</a:t>
            </a:r>
          </a:p>
          <a:p>
            <a:pPr algn="l">
              <a:buFont typeface="+mj-lt"/>
              <a:buAutoNum type="arabicPeriod"/>
            </a:pPr>
            <a:r>
              <a:rPr lang="vi-VN" b="1" i="0" dirty="0">
                <a:solidFill>
                  <a:srgbClr val="404040"/>
                </a:solidFill>
                <a:effectLst/>
                <a:latin typeface="DeepSeek-CJK-patch"/>
              </a:rPr>
              <a:t>Direct costs</a:t>
            </a:r>
            <a:r>
              <a:rPr lang="vi-VN" b="0" i="0" dirty="0">
                <a:solidFill>
                  <a:srgbClr val="404040"/>
                </a:solidFill>
                <a:effectLst/>
                <a:latin typeface="DeepSeek-CJK-patch"/>
              </a:rPr>
              <a:t> (Chi phí trực tiếp)</a:t>
            </a:r>
          </a:p>
          <a:p>
            <a:pPr algn="l">
              <a:buFont typeface="+mj-lt"/>
              <a:buAutoNum type="arabicPeriod"/>
            </a:pPr>
            <a:r>
              <a:rPr lang="vi-VN" b="1" i="0" dirty="0">
                <a:solidFill>
                  <a:srgbClr val="404040"/>
                </a:solidFill>
                <a:effectLst/>
                <a:latin typeface="DeepSeek-CJK-patch"/>
              </a:rPr>
              <a:t>Indirect costs</a:t>
            </a:r>
            <a:r>
              <a:rPr lang="vi-VN" b="0" i="0" dirty="0">
                <a:solidFill>
                  <a:srgbClr val="404040"/>
                </a:solidFill>
                <a:effectLst/>
                <a:latin typeface="DeepSeek-CJK-patch"/>
              </a:rPr>
              <a:t> (Chi phí gián tiếp, đặc biệt liên quan đến cache)</a:t>
            </a:r>
            <a:endParaRPr lang="en-US" b="0" i="0" dirty="0">
              <a:solidFill>
                <a:srgbClr val="404040"/>
              </a:solidFill>
              <a:effectLst/>
              <a:latin typeface="DeepSeek-CJK-patch"/>
            </a:endParaRPr>
          </a:p>
          <a:p>
            <a:pPr algn="l">
              <a:buFont typeface="+mj-lt"/>
              <a:buNone/>
            </a:pPr>
            <a:r>
              <a:rPr lang="en-US" b="0" i="0" dirty="0">
                <a:solidFill>
                  <a:srgbClr val="404040"/>
                </a:solidFill>
                <a:effectLst/>
                <a:latin typeface="DeepSeek-CJK-patch"/>
              </a:rPr>
              <a:t>----------------------------------------------------------------------------------------------------------------------------------------------------------</a:t>
            </a:r>
            <a:endParaRPr lang="vi-VN" b="0" i="0" dirty="0">
              <a:solidFill>
                <a:srgbClr val="404040"/>
              </a:solidFill>
              <a:effectLst/>
              <a:latin typeface="DeepSeek-CJK-patch"/>
            </a:endParaRPr>
          </a:p>
          <a:p>
            <a:pPr algn="l"/>
            <a:r>
              <a:rPr lang="vi-VN" b="1" i="0" dirty="0">
                <a:solidFill>
                  <a:srgbClr val="404040"/>
                </a:solidFill>
                <a:effectLst/>
                <a:latin typeface="DeepSeek-CJK-patch"/>
              </a:rPr>
              <a:t>1. Direct Costs (Chi phí trực tiếp)</a:t>
            </a:r>
            <a:endParaRPr lang="vi-VN" b="0" i="0" dirty="0">
              <a:solidFill>
                <a:srgbClr val="404040"/>
              </a:solidFill>
              <a:effectLst/>
              <a:latin typeface="DeepSeek-CJK-patch"/>
            </a:endParaRPr>
          </a:p>
          <a:p>
            <a:pPr algn="l"/>
            <a:r>
              <a:rPr lang="vi-VN" b="1" i="0" dirty="0">
                <a:solidFill>
                  <a:srgbClr val="404040"/>
                </a:solidFill>
                <a:effectLst/>
                <a:latin typeface="DeepSeek-CJK-patch"/>
              </a:rPr>
              <a:t>Nguyên nhân:</a:t>
            </a:r>
            <a:endParaRPr lang="vi-VN" b="0" i="0" dirty="0">
              <a:solidFill>
                <a:srgbClr val="404040"/>
              </a:solidFill>
              <a:effectLst/>
              <a:latin typeface="DeepSeek-CJK-patch"/>
            </a:endParaRPr>
          </a:p>
          <a:p>
            <a:pPr algn="l"/>
            <a:r>
              <a:rPr lang="vi-VN" b="0" i="0" dirty="0">
                <a:solidFill>
                  <a:srgbClr val="404040"/>
                </a:solidFill>
                <a:effectLst/>
                <a:latin typeface="DeepSeek-CJK-patch"/>
              </a:rPr>
              <a:t>Khi xảy ra </a:t>
            </a:r>
            <a:r>
              <a:rPr lang="vi-VN" b="1" i="0" dirty="0">
                <a:solidFill>
                  <a:srgbClr val="404040"/>
                </a:solidFill>
                <a:effectLst/>
                <a:latin typeface="DeepSeek-CJK-patch"/>
              </a:rPr>
              <a:t>clock interrupt</a:t>
            </a:r>
            <a:r>
              <a:rPr lang="vi-VN" b="0" i="0" dirty="0">
                <a:solidFill>
                  <a:srgbClr val="404040"/>
                </a:solidFill>
                <a:effectLst/>
                <a:latin typeface="DeepSeek-CJK-patch"/>
              </a:rPr>
              <a:t>, CPU phải:</a:t>
            </a: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Lưu ngữ cảnh hiện tại</a:t>
            </a:r>
            <a:r>
              <a:rPr lang="vi-VN" b="0" i="0" dirty="0">
                <a:solidFill>
                  <a:srgbClr val="404040"/>
                </a:solidFill>
                <a:effectLst/>
                <a:latin typeface="DeepSeek-CJK-patch"/>
              </a:rPr>
              <a:t> (registers, PC, SP) của process/thread đang chạy.</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Chuyển sang thực thi interrupt handler</a:t>
            </a:r>
            <a:r>
              <a:rPr lang="vi-VN" b="0" i="0" dirty="0">
                <a:solidFill>
                  <a:srgbClr val="404040"/>
                </a:solidFill>
                <a:effectLst/>
                <a:latin typeface="DeepSeek-CJK-patch"/>
              </a:rPr>
              <a:t> (code xử lý ngắt).</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Khôi phục ngữ cảnh</a:t>
            </a:r>
            <a:r>
              <a:rPr lang="vi-VN" b="0" i="0" dirty="0">
                <a:solidFill>
                  <a:srgbClr val="404040"/>
                </a:solidFill>
                <a:effectLst/>
                <a:latin typeface="DeepSeek-CJK-patch"/>
              </a:rPr>
              <a:t> để tiếp tục process/thread cũ hoặc chuyển sang task mới.</a:t>
            </a:r>
          </a:p>
          <a:p>
            <a:pPr algn="l"/>
            <a:r>
              <a:rPr lang="vi-VN" b="1" i="0" dirty="0">
                <a:solidFill>
                  <a:srgbClr val="404040"/>
                </a:solidFill>
                <a:effectLst/>
                <a:latin typeface="DeepSeek-CJK-patch"/>
              </a:rPr>
              <a:t>Các bước tốn tài nguyên: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Overhead từ việc switch: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Thời gian lưu/khôi phục registers (vd: 100-1000 CPU cycles).</a:t>
            </a:r>
          </a:p>
          <a:p>
            <a:pPr marL="742950" lvl="1" indent="-285750" algn="l">
              <a:buFont typeface="Arial" panose="020B0604020202020204" pitchFamily="34" charset="0"/>
              <a:buChar char="•"/>
            </a:pPr>
            <a:r>
              <a:rPr lang="vi-VN" b="0" i="0" dirty="0">
                <a:solidFill>
                  <a:srgbClr val="404040"/>
                </a:solidFill>
                <a:effectLst/>
                <a:latin typeface="DeepSeek-CJK-patch"/>
              </a:rPr>
              <a:t>Thời gian thực thi </a:t>
            </a:r>
            <a:r>
              <a:rPr lang="vi-VN" b="1" i="0" dirty="0">
                <a:solidFill>
                  <a:srgbClr val="404040"/>
                </a:solidFill>
                <a:effectLst/>
                <a:latin typeface="DeepSeek-CJK-patch"/>
              </a:rPr>
              <a:t>interrupt handler</a:t>
            </a:r>
            <a:r>
              <a:rPr lang="vi-VN" b="0" i="0" dirty="0">
                <a:solidFill>
                  <a:srgbClr val="404040"/>
                </a:solidFill>
                <a:effectLst/>
                <a:latin typeface="DeepSeek-CJK-patch"/>
              </a:rPr>
              <a:t> (vd: 1-10 microseconds).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Indirect Costs (Chi phí gián tiếp - Quan trọng hơn!)</a:t>
            </a:r>
            <a:endParaRPr lang="vi-VN" b="0" i="0" dirty="0">
              <a:solidFill>
                <a:srgbClr val="404040"/>
              </a:solidFill>
              <a:effectLst/>
              <a:latin typeface="DeepSeek-CJK-patch"/>
            </a:endParaRPr>
          </a:p>
          <a:p>
            <a:pPr algn="l"/>
            <a:r>
              <a:rPr lang="vi-VN" b="1" i="0" dirty="0">
                <a:solidFill>
                  <a:srgbClr val="404040"/>
                </a:solidFill>
                <a:effectLst/>
                <a:latin typeface="DeepSeek-CJK-patch"/>
              </a:rPr>
              <a:t>Nguyên nhân chính: Cache bị "làm loạn"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Cache</a:t>
            </a:r>
            <a:r>
              <a:rPr lang="vi-VN" b="0" i="0" dirty="0">
                <a:solidFill>
                  <a:srgbClr val="404040"/>
                </a:solidFill>
                <a:effectLst/>
                <a:latin typeface="DeepSeek-CJK-patch"/>
              </a:rPr>
              <a:t> (L1/L2/L3) lưu dữ liệu thường dùng của process/thread hiện tại để truy cập nhanh.</a:t>
            </a:r>
          </a:p>
          <a:p>
            <a:pPr algn="l">
              <a:buFont typeface="Arial" panose="020B0604020202020204" pitchFamily="34" charset="0"/>
              <a:buChar char="•"/>
            </a:pPr>
            <a:r>
              <a:rPr lang="vi-VN" b="0" i="0" dirty="0">
                <a:solidFill>
                  <a:srgbClr val="404040"/>
                </a:solidFill>
                <a:effectLst/>
                <a:latin typeface="DeepSeek-CJK-patch"/>
              </a:rPr>
              <a:t>Khi context switch xảy ra:</a:t>
            </a:r>
          </a:p>
          <a:p>
            <a:pPr marL="742950" lvl="1" indent="-285750" algn="l">
              <a:buFont typeface="Arial" panose="020B0604020202020204" pitchFamily="34" charset="0"/>
              <a:buChar char="•"/>
            </a:pPr>
            <a:r>
              <a:rPr lang="vi-VN" b="1" i="0" dirty="0">
                <a:solidFill>
                  <a:srgbClr val="404040"/>
                </a:solidFill>
                <a:effectLst/>
                <a:latin typeface="DeepSeek-CJK-patch"/>
              </a:rPr>
              <a:t>Dữ liệu trong cache trở nên vô dụng</a:t>
            </a:r>
            <a:r>
              <a:rPr lang="vi-VN" b="0" i="0" dirty="0">
                <a:solidFill>
                  <a:srgbClr val="404040"/>
                </a:solidFill>
                <a:effectLst/>
                <a:latin typeface="DeepSeek-CJK-patch"/>
              </a:rPr>
              <a:t> vì process/thread mới có working set khác.</a:t>
            </a:r>
          </a:p>
          <a:p>
            <a:pPr marL="742950" lvl="1" indent="-285750" algn="l">
              <a:buFont typeface="Arial" panose="020B0604020202020204" pitchFamily="34" charset="0"/>
              <a:buChar char="•"/>
            </a:pPr>
            <a:r>
              <a:rPr lang="vi-VN" b="0" i="0" dirty="0">
                <a:solidFill>
                  <a:srgbClr val="404040"/>
                </a:solidFill>
                <a:effectLst/>
                <a:latin typeface="DeepSeek-CJK-patch"/>
              </a:rPr>
              <a:t>CPU phải </a:t>
            </a:r>
            <a:r>
              <a:rPr lang="vi-VN" b="1" i="0" dirty="0">
                <a:solidFill>
                  <a:srgbClr val="404040"/>
                </a:solidFill>
                <a:effectLst/>
                <a:latin typeface="DeepSeek-CJK-patch"/>
              </a:rPr>
              <a:t>nạp lại cache từ đầu</a:t>
            </a:r>
            <a:r>
              <a:rPr lang="vi-VN" b="0" i="0" dirty="0">
                <a:solidFill>
                  <a:srgbClr val="404040"/>
                </a:solidFill>
                <a:effectLst/>
                <a:latin typeface="DeepSeek-CJK-patch"/>
              </a:rPr>
              <a:t> (cache miss) → tốn hàng trăm cycles.</a:t>
            </a:r>
          </a:p>
          <a:p>
            <a:pPr algn="l"/>
            <a:r>
              <a:rPr lang="en-US" b="1" i="0" dirty="0" err="1">
                <a:solidFill>
                  <a:srgbClr val="404040"/>
                </a:solidFill>
                <a:effectLst/>
                <a:latin typeface="DeepSeek-CJK-patch"/>
              </a:rPr>
              <a:t>Hình</a:t>
            </a:r>
            <a:r>
              <a:rPr lang="en-US" b="1" i="0" dirty="0">
                <a:solidFill>
                  <a:srgbClr val="404040"/>
                </a:solidFill>
                <a:effectLst/>
                <a:latin typeface="DeepSeek-CJK-patch"/>
              </a:rPr>
              <a:t> </a:t>
            </a:r>
            <a:r>
              <a:rPr lang="en-US" b="1" i="0" dirty="0" err="1">
                <a:solidFill>
                  <a:srgbClr val="404040"/>
                </a:solidFill>
                <a:effectLst/>
                <a:latin typeface="DeepSeek-CJK-patch"/>
              </a:rPr>
              <a:t>minh</a:t>
            </a:r>
            <a:r>
              <a:rPr lang="en-US" b="1" i="0" dirty="0">
                <a:solidFill>
                  <a:srgbClr val="404040"/>
                </a:solidFill>
                <a:effectLst/>
                <a:latin typeface="DeepSeek-CJK-patch"/>
              </a:rPr>
              <a:t> </a:t>
            </a:r>
            <a:r>
              <a:rPr lang="en-US" b="1" i="0" dirty="0" err="1">
                <a:solidFill>
                  <a:srgbClr val="404040"/>
                </a:solidFill>
                <a:effectLst/>
                <a:latin typeface="DeepSeek-CJK-patch"/>
              </a:rPr>
              <a:t>họa</a:t>
            </a:r>
            <a:r>
              <a:rPr lang="vi-VN" b="1" i="0" dirty="0">
                <a:solidFill>
                  <a:srgbClr val="404040"/>
                </a:solidFill>
                <a:effectLst/>
                <a:latin typeface="DeepSeek-CJK-patch"/>
              </a:rPr>
              <a: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MRU (Most Recently Used - Khối dữ liệu mới dùng gần nhất):</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Trước khi switch: Cache chứa các block A, D, B (process đang dùng).</a:t>
            </a:r>
          </a:p>
          <a:p>
            <a:pPr marL="742950" lvl="1" indent="-285750" algn="l">
              <a:buFont typeface="Arial" panose="020B0604020202020204" pitchFamily="34" charset="0"/>
              <a:buChar char="•"/>
            </a:pPr>
            <a:r>
              <a:rPr lang="vi-VN" b="0" i="0" dirty="0">
                <a:solidFill>
                  <a:srgbClr val="404040"/>
                </a:solidFill>
                <a:effectLst/>
                <a:latin typeface="DeepSeek-CJK-patch"/>
              </a:rPr>
              <a:t>Sau khi switch: Process mới cần block C → cache bị </a:t>
            </a:r>
            <a:r>
              <a:rPr lang="vi-VN" b="1" i="0" dirty="0">
                <a:solidFill>
                  <a:srgbClr val="404040"/>
                </a:solidFill>
                <a:effectLst/>
                <a:latin typeface="DeepSeek-CJK-patch"/>
              </a:rPr>
              <a:t>thay thế</a:t>
            </a:r>
            <a:r>
              <a:rPr lang="vi-VN" b="0" i="0" dirty="0">
                <a:solidFill>
                  <a:srgbClr val="404040"/>
                </a:solidFill>
                <a:effectLst/>
                <a:latin typeface="DeepSeek-CJK-patch"/>
              </a:rPr>
              <a:t> (A/D/B bị xóa).</a:t>
            </a:r>
          </a:p>
          <a:p>
            <a:pPr marL="742950" lvl="1" indent="-285750" algn="l">
              <a:buFont typeface="Arial" panose="020B0604020202020204" pitchFamily="34" charset="0"/>
              <a:buChar char="•"/>
            </a:pPr>
            <a:r>
              <a:rPr lang="vi-VN" b="0" i="0" dirty="0">
                <a:solidFill>
                  <a:srgbClr val="404040"/>
                </a:solidFill>
                <a:effectLst/>
                <a:latin typeface="DeepSeek-CJK-patch"/>
              </a:rPr>
              <a:t>Khi switch lại process cũ: Cache phải nạp lại A/D/B từ RAM → </a:t>
            </a:r>
            <a:r>
              <a:rPr lang="vi-VN" b="1" i="0" dirty="0">
                <a:solidFill>
                  <a:srgbClr val="404040"/>
                </a:solidFill>
                <a:effectLst/>
                <a:latin typeface="DeepSeek-CJK-patch"/>
              </a:rPr>
              <a:t>performance penalty</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Tác động của Indirect Costs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Giảm hiệu suất đáng kể:</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Thời gian xử lý cache miss có thể gấp </a:t>
            </a:r>
            <a:r>
              <a:rPr lang="vi-VN" b="1" i="0" dirty="0">
                <a:solidFill>
                  <a:srgbClr val="404040"/>
                </a:solidFill>
                <a:effectLst/>
                <a:latin typeface="DeepSeek-CJK-patch"/>
              </a:rPr>
              <a:t>10-100 lần</a:t>
            </a:r>
            <a:r>
              <a:rPr lang="vi-VN" b="0" i="0" dirty="0">
                <a:solidFill>
                  <a:srgbClr val="404040"/>
                </a:solidFill>
                <a:effectLst/>
                <a:latin typeface="DeepSeek-CJK-patch"/>
              </a:rPr>
              <a:t> direct costs.</a:t>
            </a:r>
          </a:p>
          <a:p>
            <a:pPr algn="l">
              <a:buFont typeface="Arial" panose="020B0604020202020204" pitchFamily="34" charset="0"/>
              <a:buChar char="•"/>
            </a:pPr>
            <a:r>
              <a:rPr lang="vi-VN" b="1" i="0" dirty="0">
                <a:solidFill>
                  <a:srgbClr val="404040"/>
                </a:solidFill>
                <a:effectLst/>
                <a:latin typeface="DeepSeek-CJK-patch"/>
              </a:rPr>
              <a:t>Ảnh hưởng đến hệ thống real-time:</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Khó đảm bảo thời gian phản ứng nếu cache bị flush liên tục.</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4. Cách giảm thiểu chi phí</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Tối ưu scheduler:</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Ưu tiên </a:t>
            </a:r>
            <a:r>
              <a:rPr lang="vi-VN" b="1" i="0" dirty="0">
                <a:solidFill>
                  <a:srgbClr val="404040"/>
                </a:solidFill>
                <a:effectLst/>
                <a:latin typeface="DeepSeek-CJK-patch"/>
              </a:rPr>
              <a:t>CPU affinity</a:t>
            </a:r>
            <a:r>
              <a:rPr lang="vi-VN" b="0" i="0" dirty="0">
                <a:solidFill>
                  <a:srgbClr val="404040"/>
                </a:solidFill>
                <a:effectLst/>
                <a:latin typeface="DeepSeek-CJK-patch"/>
              </a:rPr>
              <a:t> (giữ thread chạy trên cùng core để tận dụng cache).</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Sử dụng thread thay vì process:</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Threads chia sẻ address space → ít bị cache thrashing hơn process.</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Tăng cache size:</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Cache lớn hơn → giảm tỷ lệ miss khi switch.</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5.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Direct costs:</a:t>
            </a:r>
            <a:r>
              <a:rPr lang="vi-VN" b="0" i="0" dirty="0">
                <a:solidFill>
                  <a:srgbClr val="404040"/>
                </a:solidFill>
                <a:effectLst/>
                <a:latin typeface="DeepSeek-CJK-patch"/>
              </a:rPr>
              <a:t> Dễ đo lường, nhưng thường không phải vấn đề lớn.</a:t>
            </a:r>
          </a:p>
          <a:p>
            <a:pPr algn="l">
              <a:buFont typeface="Arial" panose="020B0604020202020204" pitchFamily="34" charset="0"/>
              <a:buChar char="•"/>
            </a:pPr>
            <a:r>
              <a:rPr lang="vi-VN" b="1" i="0" dirty="0">
                <a:solidFill>
                  <a:srgbClr val="404040"/>
                </a:solidFill>
                <a:effectLst/>
                <a:latin typeface="DeepSeek-CJK-patch"/>
              </a:rPr>
              <a:t>Indirect costs (cache miss):</a:t>
            </a:r>
            <a:r>
              <a:rPr lang="vi-VN" b="0" i="0" dirty="0">
                <a:solidFill>
                  <a:srgbClr val="404040"/>
                </a:solidFill>
                <a:effectLst/>
                <a:latin typeface="DeepSeek-CJK-patch"/>
              </a:rPr>
              <a:t> Mới là "kẻ giết người" hiệu suất, đặc biệt trên hệ thống high-performance.</a:t>
            </a:r>
          </a:p>
          <a:p>
            <a:pPr algn="l">
              <a:buFont typeface="Arial" panose="020B0604020202020204" pitchFamily="34" charset="0"/>
              <a:buChar char="•"/>
            </a:pPr>
            <a:r>
              <a:rPr lang="vi-VN" b="1" i="0" dirty="0">
                <a:solidFill>
                  <a:srgbClr val="404040"/>
                </a:solidFill>
                <a:effectLst/>
                <a:latin typeface="DeepSeek-CJK-patch"/>
              </a:rPr>
              <a:t>Giải pháp:</a:t>
            </a:r>
            <a:r>
              <a:rPr lang="vi-VN" b="0" i="0" dirty="0">
                <a:solidFill>
                  <a:srgbClr val="404040"/>
                </a:solidFill>
                <a:effectLst/>
                <a:latin typeface="DeepSeek-CJK-patch"/>
              </a:rPr>
              <a:t> Cân bằng giữa đa nhiệm và tối ưu cache locality.</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9</a:t>
            </a:fld>
            <a:endParaRPr lang="en-US"/>
          </a:p>
        </p:txBody>
      </p:sp>
    </p:spTree>
    <p:extLst>
      <p:ext uri="{BB962C8B-B14F-4D97-AF65-F5344CB8AC3E}">
        <p14:creationId xmlns:p14="http://schemas.microsoft.com/office/powerpoint/2010/main" val="983828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Threads and operating systems (Luồng và hệ điều hành)</a:t>
            </a:r>
            <a:endParaRPr lang="vi-VN" b="0" i="0" dirty="0">
              <a:solidFill>
                <a:srgbClr val="404040"/>
              </a:solidFill>
              <a:effectLst/>
              <a:latin typeface="DeepSeek-CJK-patch"/>
            </a:endParaRPr>
          </a:p>
          <a:p>
            <a:pPr algn="l"/>
            <a:r>
              <a:rPr lang="en-US" b="0" i="0" dirty="0">
                <a:solidFill>
                  <a:srgbClr val="404040"/>
                </a:solidFill>
                <a:effectLst/>
                <a:latin typeface="DeepSeek-CJK-patch"/>
              </a:rPr>
              <a:t>V</a:t>
            </a:r>
            <a:r>
              <a:rPr lang="vi-VN" b="0" i="0" dirty="0">
                <a:solidFill>
                  <a:srgbClr val="404040"/>
                </a:solidFill>
                <a:effectLst/>
                <a:latin typeface="DeepSeek-CJK-patch"/>
              </a:rPr>
              <a:t>ấn đề cốt lõi:</a:t>
            </a:r>
            <a:r>
              <a:rPr lang="en-US" b="0" i="0" dirty="0">
                <a:solidFill>
                  <a:srgbClr val="404040"/>
                </a:solidFill>
                <a:effectLst/>
                <a:latin typeface="DeepSeek-CJK-patch"/>
              </a:rPr>
              <a:t> </a:t>
            </a:r>
            <a:r>
              <a:rPr lang="vi-VN" b="1" i="0" dirty="0">
                <a:solidFill>
                  <a:srgbClr val="404040"/>
                </a:solidFill>
                <a:effectLst/>
                <a:latin typeface="DeepSeek-CJK-patch"/>
              </a:rPr>
              <a:t>"Nên triển khai thread ở kernel hay user space?"</a:t>
            </a:r>
            <a:br>
              <a:rPr lang="vi-VN" b="0" i="0" dirty="0">
                <a:solidFill>
                  <a:srgbClr val="404040"/>
                </a:solidFill>
                <a:effectLst/>
                <a:latin typeface="DeepSeek-CJK-patch"/>
              </a:rPr>
            </a:br>
            <a:r>
              <a:rPr lang="vi-VN" b="0" i="0" dirty="0">
                <a:solidFill>
                  <a:srgbClr val="404040"/>
                </a:solidFill>
                <a:effectLst/>
                <a:latin typeface="DeepSeek-CJK-patch"/>
              </a:rPr>
              <a:t>và phân tích ưu/nhược của mỗi cách tiếp cận.</a:t>
            </a:r>
            <a:endParaRPr lang="en-US" b="0"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Main Issue: Kernel threads vs User-level threads</a:t>
            </a:r>
            <a:endParaRPr lang="vi-VN" b="0" i="0" dirty="0">
              <a:solidFill>
                <a:srgbClr val="404040"/>
              </a:solidFill>
              <a:effectLst/>
              <a:latin typeface="DeepSeek-CJK-patch"/>
            </a:endParaRPr>
          </a:p>
          <a:p>
            <a:pPr algn="l"/>
            <a:r>
              <a:rPr lang="vi-VN" b="1" i="0" dirty="0">
                <a:solidFill>
                  <a:srgbClr val="404040"/>
                </a:solidFill>
                <a:effectLst/>
                <a:latin typeface="DeepSeek-CJK-patch"/>
              </a:rPr>
              <a:t>Câu hỏi trung tâm:</a:t>
            </a:r>
            <a:endParaRPr lang="vi-VN" b="0" i="0" dirty="0">
              <a:solidFill>
                <a:srgbClr val="404040"/>
              </a:solidFill>
              <a:effectLst/>
              <a:latin typeface="DeepSeek-CJK-patch"/>
            </a:endParaRPr>
          </a:p>
          <a:p>
            <a:r>
              <a:rPr lang="vi-VN" i="1" dirty="0">
                <a:effectLst/>
              </a:rPr>
              <a:t>"OS kernel có nên cung cấp thread, hay để các thư viện user-space tự quản lý?"</a:t>
            </a:r>
            <a:endParaRPr lang="vi-VN" dirty="0">
              <a:effectLst/>
            </a:endParaRPr>
          </a:p>
          <a:p>
            <a:pPr algn="l"/>
            <a:r>
              <a:rPr lang="vi-VN" b="1" i="0" dirty="0">
                <a:solidFill>
                  <a:srgbClr val="404040"/>
                </a:solidFill>
                <a:effectLst/>
                <a:latin typeface="DeepSeek-CJK-patch"/>
              </a:rPr>
              <a:t>Hai lựa chọn:</a:t>
            </a:r>
            <a:endParaRPr lang="vi-VN" b="0" i="0" dirty="0">
              <a:solidFill>
                <a:srgbClr val="404040"/>
              </a:solidFill>
              <a:effectLst/>
              <a:latin typeface="DeepSeek-CJK-patch"/>
            </a:endParaRPr>
          </a:p>
          <a:p>
            <a:pPr algn="l"/>
            <a:r>
              <a:rPr lang="vi-VN" b="1" dirty="0"/>
              <a:t>Kernel Threads</a:t>
            </a:r>
            <a:r>
              <a:rPr lang="en-US" b="1" dirty="0"/>
              <a:t>		</a:t>
            </a:r>
            <a:r>
              <a:rPr lang="vi-VN" b="1" dirty="0"/>
              <a:t>User-level Threads</a:t>
            </a:r>
            <a:endParaRPr lang="en-US" b="1" dirty="0"/>
          </a:p>
          <a:p>
            <a:pPr algn="l"/>
            <a:r>
              <a:rPr lang="vi-VN" dirty="0">
                <a:effectLst/>
              </a:rPr>
              <a:t>Thread được kernel quản lý trực tiếp.</a:t>
            </a:r>
            <a:r>
              <a:rPr lang="en-US" dirty="0">
                <a:effectLst/>
              </a:rPr>
              <a:t>	</a:t>
            </a:r>
            <a:r>
              <a:rPr lang="vi-VN" dirty="0">
                <a:effectLst/>
              </a:rPr>
              <a:t>Thread được thư viện runtime (e.g., pthreads) quản lý.</a:t>
            </a:r>
            <a:endParaRPr lang="en-US" dirty="0">
              <a:effectLst/>
            </a:endParaRPr>
          </a:p>
          <a:p>
            <a:pPr algn="l"/>
            <a:r>
              <a:rPr lang="vi-VN" dirty="0">
                <a:effectLst/>
              </a:rPr>
              <a:t>Mỗi thread là một "đơn vị lập lịch" của OS.</a:t>
            </a:r>
            <a:r>
              <a:rPr lang="en-US" dirty="0">
                <a:effectLst/>
              </a:rPr>
              <a:t>	</a:t>
            </a:r>
            <a:r>
              <a:rPr lang="vi-VN" dirty="0">
                <a:effectLst/>
              </a:rPr>
              <a:t>OS chỉ thấy 1 process, không biết các thread bên trong.</a:t>
            </a:r>
            <a:endParaRPr lang="en-US" dirty="0">
              <a:effectLst/>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User-space Solution (Ưu điểm)</a:t>
            </a:r>
            <a:endParaRPr lang="vi-VN" b="0" i="0" dirty="0">
              <a:solidFill>
                <a:srgbClr val="404040"/>
              </a:solidFill>
              <a:effectLst/>
              <a:latin typeface="DeepSeek-CJK-patch"/>
            </a:endParaRPr>
          </a:p>
          <a:p>
            <a:pPr algn="l"/>
            <a:r>
              <a:rPr lang="vi-VN" b="1" i="0" dirty="0">
                <a:solidFill>
                  <a:srgbClr val="404040"/>
                </a:solidFill>
                <a:effectLst/>
                <a:latin typeface="DeepSeek-CJK-patch"/>
              </a:rPr>
              <a:t>a. Hiệu suất cao</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Tại sao?</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Mọi thao tác (create/switch/destroy thread) xảy ra </a:t>
            </a:r>
            <a:r>
              <a:rPr lang="vi-VN" b="1" i="0" dirty="0">
                <a:solidFill>
                  <a:srgbClr val="404040"/>
                </a:solidFill>
                <a:effectLst/>
                <a:latin typeface="DeepSeek-CJK-patch"/>
              </a:rPr>
              <a:t>trong user space</a:t>
            </a:r>
            <a:r>
              <a:rPr lang="vi-VN" b="0" i="0" dirty="0">
                <a:solidFill>
                  <a:srgbClr val="404040"/>
                </a:solidFill>
                <a:effectLst/>
                <a:latin typeface="DeepSeek-CJK-patch"/>
              </a:rPr>
              <a:t> → không cần system call.</a:t>
            </a:r>
          </a:p>
          <a:p>
            <a:pPr algn="l"/>
            <a:r>
              <a:rPr lang="vi-VN" b="1" i="0" dirty="0">
                <a:solidFill>
                  <a:srgbClr val="404040"/>
                </a:solidFill>
                <a:effectLst/>
                <a:latin typeface="DeepSeek-CJK-patch"/>
              </a:rPr>
              <a:t>b. Linh hoạt</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User-space thread library có thể tùy chỉnh:</a:t>
            </a:r>
          </a:p>
          <a:p>
            <a:pPr marL="742950" lvl="1" indent="-285750" algn="l">
              <a:buFont typeface="Arial" panose="020B0604020202020204" pitchFamily="34" charset="0"/>
              <a:buChar char="•"/>
            </a:pPr>
            <a:r>
              <a:rPr lang="vi-VN" b="0" i="0" dirty="0">
                <a:solidFill>
                  <a:srgbClr val="404040"/>
                </a:solidFill>
                <a:effectLst/>
                <a:latin typeface="DeepSeek-CJK-patch"/>
              </a:rPr>
              <a:t>Lập lịch theo priority, event-driven,... mà không cần kernel hỗ trợ.</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Nhược điểm của User-level Threads</a:t>
            </a:r>
            <a:endParaRPr lang="vi-VN" b="0" i="0" dirty="0">
              <a:solidFill>
                <a:srgbClr val="404040"/>
              </a:solidFill>
              <a:effectLst/>
              <a:latin typeface="DeepSeek-CJK-patch"/>
            </a:endParaRPr>
          </a:p>
          <a:p>
            <a:pPr algn="l"/>
            <a:r>
              <a:rPr lang="vi-VN" b="1" i="0" dirty="0">
                <a:solidFill>
                  <a:srgbClr val="404040"/>
                </a:solidFill>
                <a:effectLst/>
                <a:latin typeface="DeepSeek-CJK-patch"/>
              </a:rPr>
              <a:t>a. Blocking toàn bộ process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Nếu </a:t>
            </a:r>
            <a:r>
              <a:rPr lang="vi-VN" b="1" i="0" dirty="0">
                <a:solidFill>
                  <a:srgbClr val="404040"/>
                </a:solidFill>
                <a:effectLst/>
                <a:latin typeface="DeepSeek-CJK-patch"/>
              </a:rPr>
              <a:t>một user-thread gọi system call bị block</a:t>
            </a:r>
            <a:r>
              <a:rPr lang="vi-VN" b="0" i="0" dirty="0">
                <a:solidFill>
                  <a:srgbClr val="404040"/>
                </a:solidFill>
                <a:effectLst/>
                <a:latin typeface="DeepSeek-CJK-patch"/>
              </a:rPr>
              <a:t> (e.g., read file), kernel </a:t>
            </a:r>
            <a:r>
              <a:rPr lang="vi-VN" b="1" i="0" dirty="0">
                <a:solidFill>
                  <a:srgbClr val="404040"/>
                </a:solidFill>
                <a:effectLst/>
                <a:latin typeface="DeepSeek-CJK-patch"/>
              </a:rPr>
              <a:t>block cả process</a:t>
            </a:r>
            <a:r>
              <a:rPr lang="vi-VN" b="0" i="0" dirty="0">
                <a:solidFill>
                  <a:srgbClr val="404040"/>
                </a:solidFill>
                <a:effectLst/>
                <a:latin typeface="DeepSeek-CJK-patch"/>
              </a:rPr>
              <a:t> → mọi thread khác bị đơ.</a:t>
            </a:r>
          </a:p>
          <a:p>
            <a:pPr marL="742950" lvl="1" indent="-285750" algn="l">
              <a:buFont typeface="Arial" panose="020B0604020202020204" pitchFamily="34" charset="0"/>
              <a:buChar char="•"/>
            </a:pPr>
            <a:r>
              <a:rPr lang="vi-VN" b="0" i="1" dirty="0">
                <a:solidFill>
                  <a:srgbClr val="404040"/>
                </a:solidFill>
                <a:effectLst/>
                <a:latin typeface="DeepSeek-CJK-patch"/>
              </a:rPr>
              <a:t>Vì OS không biết các thread tồn tại trong process!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Thread A bị block khi đọc socket → Thread B (xử lý UI) cũng dừng dù không liên quan.</a:t>
            </a:r>
          </a:p>
          <a:p>
            <a:pPr algn="l"/>
            <a:r>
              <a:rPr lang="vi-VN" b="1" i="0" dirty="0">
                <a:solidFill>
                  <a:srgbClr val="404040"/>
                </a:solidFill>
                <a:effectLst/>
                <a:latin typeface="DeepSeek-CJK-patch"/>
              </a:rPr>
              <a:t>b. Không hỗ trợ signaling đến từng thread</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Kernel không phân biệt được các thread → không thể gửi signal (e.g., SIGINT) đến thread cụ thể.</a:t>
            </a:r>
          </a:p>
          <a:p>
            <a:pPr marL="742950" lvl="1" indent="-285750" algn="l">
              <a:buFont typeface="Arial" panose="020B0604020202020204" pitchFamily="34" charset="0"/>
              <a:buChar char="•"/>
            </a:pPr>
            <a:r>
              <a:rPr lang="vi-VN" b="0" i="0" dirty="0">
                <a:solidFill>
                  <a:srgbClr val="404040"/>
                </a:solidFill>
                <a:effectLst/>
                <a:latin typeface="DeepSeek-CJK-patch"/>
              </a:rPr>
              <a:t>Ví dụ: Không thể kill riêng thread đang chiếm CPU mà phải kill cả process.</a:t>
            </a:r>
          </a:p>
          <a:p>
            <a:pPr algn="l"/>
            <a:r>
              <a:rPr lang="vi-VN" b="1" i="0" dirty="0">
                <a:solidFill>
                  <a:srgbClr val="404040"/>
                </a:solidFill>
                <a:effectLst/>
                <a:latin typeface="DeepSeek-CJK-patch"/>
              </a:rPr>
              <a:t>c. Không tận dụng được đa lõi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OS chỉ thấy 1 process → chỉ chạy trên </a:t>
            </a:r>
            <a:r>
              <a:rPr lang="vi-VN" b="1" i="0" dirty="0">
                <a:solidFill>
                  <a:srgbClr val="404040"/>
                </a:solidFill>
                <a:effectLst/>
                <a:latin typeface="DeepSeek-CJK-patch"/>
              </a:rPr>
              <a:t>1 core</a:t>
            </a:r>
            <a:r>
              <a:rPr lang="vi-VN" b="0" i="0" dirty="0">
                <a:solidFill>
                  <a:srgbClr val="404040"/>
                </a:solidFill>
                <a:effectLst/>
                <a:latin typeface="DeepSeek-CJK-patch"/>
              </a:rPr>
              <a:t>, dù có nhiều user-level threads.</a:t>
            </a:r>
          </a:p>
          <a:p>
            <a:pPr algn="l"/>
            <a:endParaRPr lang="en-US" b="1" i="0" dirty="0">
              <a:solidFill>
                <a:srgbClr val="404040"/>
              </a:solidFill>
              <a:effectLst/>
              <a:latin typeface="DeepSeek-CJK-patch"/>
            </a:endParaRPr>
          </a:p>
        </p:txBody>
      </p:sp>
      <p:sp>
        <p:nvSpPr>
          <p:cNvPr id="4" name="Slide Number Placeholder 3"/>
          <p:cNvSpPr>
            <a:spLocks noGrp="1"/>
          </p:cNvSpPr>
          <p:nvPr>
            <p:ph type="sldNum" sz="quarter" idx="5"/>
          </p:nvPr>
        </p:nvSpPr>
        <p:spPr/>
        <p:txBody>
          <a:bodyPr/>
          <a:lstStyle/>
          <a:p>
            <a:fld id="{0EA9AC37-8FF6-483B-AAA6-B9FE5516F543}" type="slidenum">
              <a:rPr lang="en-US" smtClean="0"/>
              <a:t>10</a:t>
            </a:fld>
            <a:endParaRPr lang="en-US"/>
          </a:p>
        </p:txBody>
      </p:sp>
    </p:spTree>
    <p:extLst>
      <p:ext uri="{BB962C8B-B14F-4D97-AF65-F5344CB8AC3E}">
        <p14:creationId xmlns:p14="http://schemas.microsoft.com/office/powerpoint/2010/main" val="38063110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Threads and operating systems – Kernel solution</a:t>
            </a:r>
            <a:endParaRPr lang="vi-VN" b="0" i="0" dirty="0">
              <a:solidFill>
                <a:srgbClr val="404040"/>
              </a:solidFill>
              <a:effectLst/>
              <a:latin typeface="DeepSeek-CJK-patch"/>
            </a:endParaRPr>
          </a:p>
          <a:p>
            <a:pPr algn="l"/>
            <a:r>
              <a:rPr lang="en-US" b="0" i="0" dirty="0">
                <a:solidFill>
                  <a:srgbClr val="404040"/>
                </a:solidFill>
                <a:effectLst/>
                <a:latin typeface="DeepSeek-CJK-patch"/>
              </a:rPr>
              <a:t>G</a:t>
            </a:r>
            <a:r>
              <a:rPr lang="vi-VN" b="0" i="0" dirty="0">
                <a:solidFill>
                  <a:srgbClr val="404040"/>
                </a:solidFill>
                <a:effectLst/>
                <a:latin typeface="DeepSeek-CJK-patch"/>
              </a:rPr>
              <a:t>iải pháp triển khai thread ở </a:t>
            </a:r>
            <a:r>
              <a:rPr lang="vi-VN" b="1" i="0" dirty="0">
                <a:solidFill>
                  <a:srgbClr val="404040"/>
                </a:solidFill>
                <a:effectLst/>
                <a:latin typeface="DeepSeek-CJK-patch"/>
              </a:rPr>
              <a:t>kernel space</a:t>
            </a:r>
            <a:r>
              <a:rPr lang="vi-VN" b="0" i="0" dirty="0">
                <a:solidFill>
                  <a:srgbClr val="404040"/>
                </a:solidFill>
                <a:effectLst/>
                <a:latin typeface="DeepSeek-CJK-patch"/>
              </a:rPr>
              <a:t>, ưu/nhược điểm và thách thức khi kết hợp với user-level threads.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Kernel Solution: Ý Tưởng Cốt Lõi</a:t>
            </a:r>
            <a:endParaRPr lang="vi-VN" b="0" i="0" dirty="0">
              <a:solidFill>
                <a:srgbClr val="404040"/>
              </a:solidFill>
              <a:effectLst/>
              <a:latin typeface="DeepSeek-CJK-patch"/>
            </a:endParaRPr>
          </a:p>
          <a:p>
            <a:pPr algn="l"/>
            <a:r>
              <a:rPr lang="vi-VN" b="1" i="0" dirty="0">
                <a:solidFill>
                  <a:srgbClr val="404040"/>
                </a:solidFill>
                <a:effectLst/>
                <a:latin typeface="DeepSeek-CJK-patch"/>
              </a:rPr>
              <a:t>Cách thức hoạt động: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Kernel cung cấp </a:t>
            </a:r>
            <a:r>
              <a:rPr lang="vi-VN" b="1" i="0" dirty="0">
                <a:solidFill>
                  <a:srgbClr val="404040"/>
                </a:solidFill>
                <a:effectLst/>
                <a:latin typeface="DeepSeek-CJK-patch"/>
              </a:rPr>
              <a:t>thread package</a:t>
            </a:r>
            <a:r>
              <a:rPr lang="vi-VN" b="0" i="0" dirty="0">
                <a:solidFill>
                  <a:srgbClr val="404040"/>
                </a:solidFill>
                <a:effectLst/>
                <a:latin typeface="DeepSeek-CJK-patch"/>
              </a:rPr>
              <a:t> tích hợp sẵn.</a:t>
            </a:r>
          </a:p>
          <a:p>
            <a:pPr algn="l">
              <a:buFont typeface="Arial" panose="020B0604020202020204" pitchFamily="34" charset="0"/>
              <a:buChar char="•"/>
            </a:pPr>
            <a:r>
              <a:rPr lang="vi-VN" b="0" i="0" dirty="0">
                <a:solidFill>
                  <a:srgbClr val="404040"/>
                </a:solidFill>
                <a:effectLst/>
                <a:latin typeface="DeepSeek-CJK-patch"/>
              </a:rPr>
              <a:t>Mọi thao tác với thread (create, switch, destroy) đều thông qua </a:t>
            </a:r>
            <a:r>
              <a:rPr lang="vi-VN" b="1" i="0" dirty="0">
                <a:solidFill>
                  <a:srgbClr val="404040"/>
                </a:solidFill>
                <a:effectLst/>
                <a:latin typeface="DeepSeek-CJK-patch"/>
              </a:rPr>
              <a:t>system call</a:t>
            </a:r>
            <a:r>
              <a:rPr lang="vi-VN" b="0" i="0" dirty="0">
                <a:solidFill>
                  <a:srgbClr val="404040"/>
                </a:solidFill>
                <a:effectLst/>
                <a:latin typeface="DeepSeek-CJK-patch"/>
              </a:rPr>
              <a:t>.</a:t>
            </a:r>
          </a:p>
          <a:p>
            <a:pPr algn="l"/>
            <a:r>
              <a:rPr lang="vi-VN" b="1" i="0" dirty="0">
                <a:solidFill>
                  <a:srgbClr val="404040"/>
                </a:solidFill>
                <a:effectLst/>
                <a:latin typeface="DeepSeek-CJK-patch"/>
              </a:rPr>
              <a:t>Ưu Điểm Chính:</a:t>
            </a:r>
            <a:endParaRPr lang="vi-VN" b="0" i="0" dirty="0">
              <a:solidFill>
                <a:srgbClr val="404040"/>
              </a:solidFill>
              <a:effectLst/>
              <a:latin typeface="DeepSeek-CJK-patch"/>
            </a:endParaRPr>
          </a:p>
          <a:p>
            <a:pPr algn="l"/>
            <a:r>
              <a:rPr lang="vi-VN" b="1" i="0" dirty="0">
                <a:solidFill>
                  <a:srgbClr val="404040"/>
                </a:solidFill>
                <a:effectLst/>
                <a:latin typeface="DeepSeek-CJK-patch"/>
              </a:rPr>
              <a:t>a. Không bị block toàn process</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Khi một </a:t>
            </a:r>
            <a:r>
              <a:rPr lang="vi-VN" b="1" i="0" dirty="0">
                <a:solidFill>
                  <a:srgbClr val="404040"/>
                </a:solidFill>
                <a:effectLst/>
                <a:latin typeface="DeepSeek-CJK-patch"/>
              </a:rPr>
              <a:t>kernel thread</a:t>
            </a:r>
            <a:r>
              <a:rPr lang="vi-VN" b="0" i="0" dirty="0">
                <a:solidFill>
                  <a:srgbClr val="404040"/>
                </a:solidFill>
                <a:effectLst/>
                <a:latin typeface="DeepSeek-CJK-patch"/>
              </a:rPr>
              <a:t> bị block (vd: chờ I/O), kernel tự động chuyển sang thread khác </a:t>
            </a:r>
            <a:r>
              <a:rPr lang="vi-VN" b="1" i="0" dirty="0">
                <a:solidFill>
                  <a:srgbClr val="404040"/>
                </a:solidFill>
                <a:effectLst/>
                <a:latin typeface="DeepSeek-CJK-patch"/>
              </a:rPr>
              <a:t>trong cùng process</a:t>
            </a:r>
            <a:r>
              <a:rPr lang="vi-VN" b="0" i="0" dirty="0">
                <a:solidFill>
                  <a:srgbClr val="404040"/>
                </a:solidFill>
                <a:effectLst/>
                <a:latin typeface="DeepSeek-CJK-patch"/>
              </a:rPr>
              <a:t>.</a:t>
            </a:r>
            <a:br>
              <a:rPr lang="vi-VN" b="0" i="0" dirty="0">
                <a:solidFill>
                  <a:srgbClr val="404040"/>
                </a:solidFill>
                <a:effectLst/>
                <a:latin typeface="DeepSeek-CJK-patch"/>
              </a:rPr>
            </a:br>
            <a:r>
              <a:rPr lang="vi-VN" b="0" i="0" dirty="0">
                <a:solidFill>
                  <a:srgbClr val="404040"/>
                </a:solidFill>
                <a:effectLst/>
                <a:latin typeface="DeepSeek-CJK-patch"/>
              </a:rPr>
              <a:t>→ Các thread khác vẫn chạy bình thường.</a:t>
            </a:r>
          </a:p>
          <a:p>
            <a:pPr algn="l"/>
            <a:r>
              <a:rPr lang="vi-VN" b="1" i="0" dirty="0">
                <a:solidFill>
                  <a:srgbClr val="404040"/>
                </a:solidFill>
                <a:effectLst/>
                <a:latin typeface="DeepSeek-CJK-patch"/>
              </a:rPr>
              <a:t>b. Xử lý sự kiện ngoại vi hiệu quả</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Kernel nhận biết rõ từng thread → có thể ánh xạ sự kiện (event) đến đúng thread cần xử lý.</a:t>
            </a:r>
          </a:p>
          <a:p>
            <a:pPr marL="742950" lvl="1" indent="-285750" algn="l">
              <a:buFont typeface="Arial" panose="020B0604020202020204" pitchFamily="34" charset="0"/>
              <a:buChar char="•"/>
            </a:pPr>
            <a:r>
              <a:rPr lang="vi-VN" b="0" i="1" dirty="0">
                <a:solidFill>
                  <a:srgbClr val="404040"/>
                </a:solidFill>
                <a:effectLst/>
                <a:latin typeface="DeepSeek-CJK-patch"/>
              </a:rPr>
              <a:t>Ví dụ:</a:t>
            </a:r>
          </a:p>
          <a:p>
            <a:pPr marL="1143000" lvl="2" indent="-228600" algn="l">
              <a:buFont typeface="Arial" panose="020B0604020202020204" pitchFamily="34" charset="0"/>
              <a:buChar char="•"/>
            </a:pPr>
            <a:r>
              <a:rPr lang="vi-VN" b="0" i="1" dirty="0">
                <a:solidFill>
                  <a:srgbClr val="404040"/>
                </a:solidFill>
                <a:effectLst/>
                <a:latin typeface="DeepSeek-CJK-patch"/>
              </a:rPr>
              <a:t>Socket nhận data → kernel đánh thức thread đang chờ read().</a:t>
            </a:r>
          </a:p>
          <a:p>
            <a:pPr marL="1143000" lvl="2" indent="-228600" algn="l">
              <a:buFont typeface="Arial" panose="020B0604020202020204" pitchFamily="34" charset="0"/>
              <a:buChar char="•"/>
            </a:pPr>
            <a:r>
              <a:rPr lang="vi-VN" b="0" i="1" dirty="0">
                <a:solidFill>
                  <a:srgbClr val="404040"/>
                </a:solidFill>
                <a:effectLst/>
                <a:latin typeface="DeepSeek-CJK-patch"/>
              </a:rPr>
              <a:t>Signal (SIGINT) được gửi đến thread cụ thể.</a:t>
            </a:r>
          </a:p>
          <a:p>
            <a:pPr algn="l"/>
            <a:r>
              <a:rPr lang="vi-VN" b="1" i="0" dirty="0">
                <a:solidFill>
                  <a:srgbClr val="404040"/>
                </a:solidFill>
                <a:effectLst/>
                <a:latin typeface="DeepSeek-CJK-patch"/>
              </a:rPr>
              <a:t>c. Hỗ trợ đa lõi (parallelism)</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Các kernel thread có thể chạy </a:t>
            </a:r>
            <a:r>
              <a:rPr lang="vi-VN" b="1" i="0" dirty="0">
                <a:solidFill>
                  <a:srgbClr val="404040"/>
                </a:solidFill>
                <a:effectLst/>
                <a:latin typeface="DeepSeek-CJK-patch"/>
              </a:rPr>
              <a:t>song song trên nhiều CPU core</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Nhược Điểm: Vấn Đề Hiệu Suất</a:t>
            </a:r>
            <a:endParaRPr lang="vi-VN" b="0" i="0" dirty="0">
              <a:solidFill>
                <a:srgbClr val="404040"/>
              </a:solidFill>
              <a:effectLst/>
              <a:latin typeface="DeepSeek-CJK-patch"/>
            </a:endParaRPr>
          </a:p>
          <a:p>
            <a:pPr algn="l"/>
            <a:r>
              <a:rPr lang="vi-VN" b="1" i="0" dirty="0">
                <a:solidFill>
                  <a:srgbClr val="404040"/>
                </a:solidFill>
                <a:effectLst/>
                <a:latin typeface="DeepSeek-CJK-patch"/>
              </a:rPr>
              <a:t>Chi phí system call</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Mỗi thao tác thread (vd: switch context)</a:t>
            </a:r>
            <a:r>
              <a:rPr lang="en-US" b="0" i="0" dirty="0">
                <a:solidFill>
                  <a:srgbClr val="404040"/>
                </a:solidFill>
                <a:effectLst/>
                <a:latin typeface="DeepSeek-CJK-patch"/>
              </a:rPr>
              <a:t> </a:t>
            </a:r>
            <a:r>
              <a:rPr lang="en-US" b="0" i="0" dirty="0" err="1">
                <a:solidFill>
                  <a:srgbClr val="404040"/>
                </a:solidFill>
                <a:effectLst/>
                <a:latin typeface="DeepSeek-CJK-patch"/>
              </a:rPr>
              <a:t>phải</a:t>
            </a:r>
            <a:r>
              <a:rPr lang="en-US" b="0" i="0" dirty="0">
                <a:solidFill>
                  <a:srgbClr val="404040"/>
                </a:solidFill>
                <a:effectLst/>
                <a:latin typeface="DeepSeek-CJK-patch"/>
              </a:rPr>
              <a:t> </a:t>
            </a:r>
            <a:r>
              <a:rPr lang="en-US" b="0" i="0" dirty="0" err="1">
                <a:solidFill>
                  <a:srgbClr val="404040"/>
                </a:solidFill>
                <a:effectLst/>
                <a:latin typeface="DeepSeek-CJK-patch"/>
              </a:rPr>
              <a:t>thông</a:t>
            </a:r>
            <a:r>
              <a:rPr lang="en-US" b="0" i="0" dirty="0">
                <a:solidFill>
                  <a:srgbClr val="404040"/>
                </a:solidFill>
                <a:effectLst/>
                <a:latin typeface="DeepSeek-CJK-patch"/>
              </a:rPr>
              <a:t> qua system call,</a:t>
            </a:r>
            <a:r>
              <a:rPr lang="vi-VN" b="0" i="0" dirty="0">
                <a:solidFill>
                  <a:srgbClr val="404040"/>
                </a:solidFill>
                <a:effectLst/>
                <a:latin typeface="DeepSeek-CJK-patch"/>
              </a:rPr>
              <a:t> yêu cầu </a:t>
            </a:r>
            <a:r>
              <a:rPr lang="vi-VN" b="1" i="0" dirty="0">
                <a:solidFill>
                  <a:srgbClr val="404040"/>
                </a:solidFill>
                <a:effectLst/>
                <a:latin typeface="DeepSeek-CJK-patch"/>
              </a:rPr>
              <a:t>trap vào kernel</a:t>
            </a:r>
            <a:r>
              <a:rPr lang="vi-VN" b="0" i="0" dirty="0">
                <a:solidFill>
                  <a:srgbClr val="404040"/>
                </a:solidFill>
                <a:effectLst/>
                <a:latin typeface="DeepSeek-CJK-patch"/>
              </a:rPr>
              <a:t> → tốn thời gian (vài nghìn CPU cycles).</a:t>
            </a:r>
          </a:p>
          <a:p>
            <a:pPr algn="l">
              <a:buFont typeface="Arial" panose="020B0604020202020204" pitchFamily="34" charset="0"/>
              <a:buChar char="•"/>
            </a:pPr>
            <a:r>
              <a:rPr lang="vi-VN" b="0" i="0" dirty="0">
                <a:solidFill>
                  <a:srgbClr val="404040"/>
                </a:solidFill>
                <a:effectLst/>
                <a:latin typeface="DeepSeek-CJK-patch"/>
              </a:rPr>
              <a:t>So sánh:</a:t>
            </a:r>
          </a:p>
          <a:p>
            <a:pPr algn="l">
              <a:buFont typeface="Arial" panose="020B0604020202020204" pitchFamily="34" charset="0"/>
              <a:buNone/>
            </a:pPr>
            <a:r>
              <a:rPr lang="vi-VN" b="1" i="0" dirty="0">
                <a:solidFill>
                  <a:srgbClr val="404040"/>
                </a:solidFill>
                <a:effectLst/>
                <a:latin typeface="DeepSeek-CJK-patch"/>
              </a:rPr>
              <a:t>Thao tác</a:t>
            </a:r>
            <a:r>
              <a:rPr lang="en-US" b="1" i="0" dirty="0">
                <a:solidFill>
                  <a:srgbClr val="404040"/>
                </a:solidFill>
                <a:effectLst/>
                <a:latin typeface="DeepSeek-CJK-patch"/>
              </a:rPr>
              <a:t>		</a:t>
            </a:r>
            <a:r>
              <a:rPr lang="vi-VN" b="1" i="0" dirty="0">
                <a:solidFill>
                  <a:srgbClr val="404040"/>
                </a:solidFill>
                <a:effectLst/>
                <a:latin typeface="DeepSeek-CJK-patch"/>
              </a:rPr>
              <a:t>User-level Threads</a:t>
            </a:r>
            <a:r>
              <a:rPr lang="en-US" b="1" i="0" dirty="0">
                <a:solidFill>
                  <a:srgbClr val="404040"/>
                </a:solidFill>
                <a:effectLst/>
                <a:latin typeface="DeepSeek-CJK-patch"/>
              </a:rPr>
              <a:t>		</a:t>
            </a:r>
            <a:r>
              <a:rPr lang="vi-VN" b="1" i="0" dirty="0">
                <a:solidFill>
                  <a:srgbClr val="404040"/>
                </a:solidFill>
                <a:effectLst/>
                <a:latin typeface="DeepSeek-CJK-patch"/>
              </a:rPr>
              <a:t>Kernel Threads</a:t>
            </a:r>
            <a:endParaRPr lang="en-US" b="1" i="0" dirty="0">
              <a:solidFill>
                <a:srgbClr val="404040"/>
              </a:solidFill>
              <a:effectLst/>
              <a:latin typeface="DeepSeek-CJK-patch"/>
            </a:endParaRPr>
          </a:p>
          <a:p>
            <a:pPr algn="l">
              <a:buFont typeface="Arial" panose="020B0604020202020204" pitchFamily="34" charset="0"/>
              <a:buNone/>
            </a:pPr>
            <a:r>
              <a:rPr lang="vi-VN" b="1" i="0" dirty="0">
                <a:solidFill>
                  <a:srgbClr val="404040"/>
                </a:solidFill>
                <a:effectLst/>
                <a:latin typeface="DeepSeek-CJK-patch"/>
              </a:rPr>
              <a:t>Thread switch</a:t>
            </a:r>
            <a:r>
              <a:rPr lang="en-US" b="1" i="0" dirty="0">
                <a:solidFill>
                  <a:srgbClr val="404040"/>
                </a:solidFill>
                <a:effectLst/>
                <a:latin typeface="DeepSeek-CJK-patch"/>
              </a:rPr>
              <a:t>	</a:t>
            </a:r>
            <a:r>
              <a:rPr lang="vi-VN" b="0" i="0" dirty="0">
                <a:solidFill>
                  <a:srgbClr val="404040"/>
                </a:solidFill>
                <a:effectLst/>
                <a:latin typeface="DeepSeek-CJK-patch"/>
              </a:rPr>
              <a:t>~100 ns (trong user space)</a:t>
            </a:r>
            <a:r>
              <a:rPr lang="en-US" b="0" i="0" dirty="0">
                <a:solidFill>
                  <a:srgbClr val="404040"/>
                </a:solidFill>
                <a:effectLst/>
                <a:latin typeface="DeepSeek-CJK-patch"/>
              </a:rPr>
              <a:t>		</a:t>
            </a:r>
            <a:r>
              <a:rPr lang="vi-VN" b="0" i="0" dirty="0">
                <a:solidFill>
                  <a:srgbClr val="404040"/>
                </a:solidFill>
                <a:effectLst/>
                <a:latin typeface="DeepSeek-CJK-patch"/>
              </a:rPr>
              <a:t>~1-10 µs (system call)</a:t>
            </a:r>
          </a:p>
          <a:p>
            <a:pPr algn="l"/>
            <a:r>
              <a:rPr lang="vi-VN" b="1" i="0" dirty="0">
                <a:solidFill>
                  <a:srgbClr val="404040"/>
                </a:solidFill>
                <a:effectLst/>
                <a:latin typeface="DeepSeek-CJK-patch"/>
              </a:rPr>
              <a:t>Ví dụ minh họa:</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Kết Luận – Thách Thức Khi Kết Hợp (Hybrid Model)</a:t>
            </a:r>
            <a:endParaRPr lang="vi-VN" b="0" i="0" dirty="0">
              <a:solidFill>
                <a:srgbClr val="404040"/>
              </a:solidFill>
              <a:effectLst/>
              <a:latin typeface="DeepSeek-CJK-patch"/>
            </a:endParaRPr>
          </a:p>
          <a:p>
            <a:pPr algn="l"/>
            <a:r>
              <a:rPr lang="vi-VN" b="1" i="0" dirty="0">
                <a:solidFill>
                  <a:srgbClr val="404040"/>
                </a:solidFill>
                <a:effectLst/>
                <a:latin typeface="DeepSeek-CJK-patch"/>
              </a:rPr>
              <a:t>Ý tưởng ban đầu:</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Kết hợp </a:t>
            </a:r>
            <a:r>
              <a:rPr lang="vi-VN" b="1" i="0" dirty="0">
                <a:solidFill>
                  <a:srgbClr val="404040"/>
                </a:solidFill>
                <a:effectLst/>
                <a:latin typeface="DeepSeek-CJK-patch"/>
              </a:rPr>
              <a:t>user-level threads</a:t>
            </a:r>
            <a:r>
              <a:rPr lang="vi-VN" b="0" i="0" dirty="0">
                <a:solidFill>
                  <a:srgbClr val="404040"/>
                </a:solidFill>
                <a:effectLst/>
                <a:latin typeface="DeepSeek-CJK-patch"/>
              </a:rPr>
              <a:t> (hiệu suất cao) + </a:t>
            </a:r>
            <a:r>
              <a:rPr lang="vi-VN" b="1" i="0" dirty="0">
                <a:solidFill>
                  <a:srgbClr val="404040"/>
                </a:solidFill>
                <a:effectLst/>
                <a:latin typeface="DeepSeek-CJK-patch"/>
              </a:rPr>
              <a:t>kernel threads</a:t>
            </a:r>
            <a:r>
              <a:rPr lang="vi-VN" b="0" i="0" dirty="0">
                <a:solidFill>
                  <a:srgbClr val="404040"/>
                </a:solidFill>
                <a:effectLst/>
                <a:latin typeface="DeepSeek-CJK-patch"/>
              </a:rPr>
              <a:t> (tận dụng đa lõi) → mô hình </a:t>
            </a:r>
            <a:r>
              <a:rPr lang="vi-VN" b="1" i="0" dirty="0">
                <a:solidFill>
                  <a:srgbClr val="404040"/>
                </a:solidFill>
                <a:effectLst/>
                <a:latin typeface="DeepSeek-CJK-patch"/>
              </a:rPr>
              <a:t>M:N</a:t>
            </a:r>
            <a:r>
              <a:rPr lang="vi-VN" b="0" i="0" dirty="0">
                <a:solidFill>
                  <a:srgbClr val="404040"/>
                </a:solidFill>
                <a:effectLst/>
                <a:latin typeface="DeepSeek-CJK-patch"/>
              </a:rPr>
              <a:t> (nhiều user threads ánh xạ vào ít kernel threads).</a:t>
            </a:r>
          </a:p>
          <a:p>
            <a:pPr algn="l"/>
            <a:r>
              <a:rPr lang="vi-VN" b="1" i="0" dirty="0">
                <a:solidFill>
                  <a:srgbClr val="404040"/>
                </a:solidFill>
                <a:effectLst/>
                <a:latin typeface="DeepSeek-CJK-patch"/>
              </a:rPr>
              <a:t>Vấn đề phát sinh:</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Độ phức tạp tăng cao:</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Cần đồng bộ giữa </a:t>
            </a:r>
            <a:r>
              <a:rPr lang="vi-VN" b="1" i="0" dirty="0">
                <a:solidFill>
                  <a:srgbClr val="404040"/>
                </a:solidFill>
                <a:effectLst/>
                <a:latin typeface="DeepSeek-CJK-patch"/>
              </a:rPr>
              <a:t>user scheduler</a:t>
            </a:r>
            <a:r>
              <a:rPr lang="vi-VN" b="0" i="0" dirty="0">
                <a:solidFill>
                  <a:srgbClr val="404040"/>
                </a:solidFill>
                <a:effectLst/>
                <a:latin typeface="DeepSeek-CJK-patch"/>
              </a:rPr>
              <a:t> và </a:t>
            </a:r>
            <a:r>
              <a:rPr lang="vi-VN" b="1" i="0" dirty="0">
                <a:solidFill>
                  <a:srgbClr val="404040"/>
                </a:solidFill>
                <a:effectLst/>
                <a:latin typeface="DeepSeek-CJK-patch"/>
              </a:rPr>
              <a:t>kernel scheduler</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Ví dụ:</a:t>
            </a:r>
            <a:r>
              <a:rPr lang="en-US" b="0" i="0" dirty="0">
                <a:solidFill>
                  <a:srgbClr val="404040"/>
                </a:solidFill>
                <a:effectLst/>
                <a:latin typeface="DeepSeek-CJK-patch"/>
              </a:rPr>
              <a:t> </a:t>
            </a:r>
            <a:r>
              <a:rPr lang="vi-VN" b="0" i="0" dirty="0">
                <a:solidFill>
                  <a:srgbClr val="404040"/>
                </a:solidFill>
                <a:effectLst/>
                <a:latin typeface="DeepSeek-CJK-patch"/>
              </a:rPr>
              <a:t>User library muốn chuyển thread A → B, nhưng kernel lại chọn thread C.</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Lợi ích không đáng kể:</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Hiệu suất cải thiện không đủ bù đắp chi phí phát triển/bảo trì.</a:t>
            </a:r>
          </a:p>
          <a:p>
            <a:pPr algn="l"/>
            <a:r>
              <a:rPr lang="en-US" b="1" i="0" dirty="0">
                <a:solidFill>
                  <a:srgbClr val="404040"/>
                </a:solidFill>
                <a:effectLst/>
                <a:latin typeface="DeepSeek-CJK-patch"/>
              </a:rPr>
              <a:t>c. </a:t>
            </a:r>
            <a:r>
              <a:rPr lang="vi-VN" b="1" i="0" dirty="0">
                <a:solidFill>
                  <a:srgbClr val="404040"/>
                </a:solidFill>
                <a:effectLst/>
                <a:latin typeface="DeepSeek-CJK-patch"/>
              </a:rPr>
              <a:t>Giải pháp hiện đại:</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Hầu hết hệ điều hành (Linux, Windows) dùng mô hình </a:t>
            </a:r>
            <a:r>
              <a:rPr lang="vi-VN" b="1" i="0" dirty="0">
                <a:solidFill>
                  <a:srgbClr val="404040"/>
                </a:solidFill>
                <a:effectLst/>
                <a:latin typeface="DeepSeek-CJK-patch"/>
              </a:rPr>
              <a:t>1:1</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Mỗi user thread (pthread) ↔ 1 kernel thread.</a:t>
            </a:r>
          </a:p>
          <a:p>
            <a:pPr marL="742950" lvl="1" indent="-285750" algn="l">
              <a:buFont typeface="Arial" panose="020B0604020202020204" pitchFamily="34" charset="0"/>
              <a:buChar char="•"/>
            </a:pPr>
            <a:r>
              <a:rPr lang="vi-VN" b="0" i="0" dirty="0">
                <a:solidFill>
                  <a:srgbClr val="404040"/>
                </a:solidFill>
                <a:effectLst/>
                <a:latin typeface="DeepSeek-CJK-patch"/>
              </a:rPr>
              <a:t>Cân bằng giữa hiệu suất và đơn giản hóa.</a:t>
            </a:r>
          </a:p>
          <a:p>
            <a:pPr algn="l"/>
            <a:endParaRPr lang="en-US" b="1" i="0" dirty="0">
              <a:solidFill>
                <a:srgbClr val="404040"/>
              </a:solidFill>
              <a:effectLst/>
              <a:latin typeface="DeepSeek-CJK-patch"/>
            </a:endParaRPr>
          </a:p>
          <a:p>
            <a:pPr algn="l"/>
            <a:r>
              <a:rPr lang="en-US" b="1" i="1" dirty="0">
                <a:solidFill>
                  <a:srgbClr val="404040"/>
                </a:solidFill>
                <a:effectLst/>
                <a:latin typeface="DeepSeek-CJK-patch"/>
              </a:rPr>
              <a:t>4. </a:t>
            </a:r>
            <a:r>
              <a:rPr lang="vi-VN" b="1" i="1" dirty="0">
                <a:solidFill>
                  <a:srgbClr val="404040"/>
                </a:solidFill>
                <a:effectLst/>
                <a:latin typeface="DeepSeek-CJK-patch"/>
              </a:rPr>
              <a:t>Bài Học Rút Ra</a:t>
            </a:r>
            <a:endParaRPr lang="vi-VN" b="0" i="1" dirty="0">
              <a:solidFill>
                <a:srgbClr val="404040"/>
              </a:solidFill>
              <a:effectLst/>
              <a:latin typeface="DeepSeek-CJK-patch"/>
            </a:endParaRPr>
          </a:p>
          <a:p>
            <a:pPr algn="l">
              <a:buFont typeface="Arial" panose="020B0604020202020204" pitchFamily="34" charset="0"/>
              <a:buChar char="•"/>
            </a:pPr>
            <a:r>
              <a:rPr lang="vi-VN" b="1" i="1" dirty="0">
                <a:solidFill>
                  <a:srgbClr val="404040"/>
                </a:solidFill>
                <a:effectLst/>
                <a:latin typeface="DeepSeek-CJK-patch"/>
              </a:rPr>
              <a:t>Kernel threads</a:t>
            </a:r>
            <a:r>
              <a:rPr lang="vi-VN" b="0" i="1" dirty="0">
                <a:solidFill>
                  <a:srgbClr val="404040"/>
                </a:solidFill>
                <a:effectLst/>
                <a:latin typeface="DeepSeek-CJK-patch"/>
              </a:rPr>
              <a:t> phù hợp cho ứng dụng cần </a:t>
            </a:r>
            <a:r>
              <a:rPr lang="vi-VN" b="1" i="1" dirty="0">
                <a:solidFill>
                  <a:srgbClr val="404040"/>
                </a:solidFill>
                <a:effectLst/>
                <a:latin typeface="DeepSeek-CJK-patch"/>
              </a:rPr>
              <a:t>đa lõi và ổn định</a:t>
            </a:r>
            <a:r>
              <a:rPr lang="vi-VN" b="0" i="1" dirty="0">
                <a:solidFill>
                  <a:srgbClr val="404040"/>
                </a:solidFill>
                <a:effectLst/>
                <a:latin typeface="DeepSeek-CJK-patch"/>
              </a:rPr>
              <a:t> (e.g., web server).</a:t>
            </a:r>
          </a:p>
          <a:p>
            <a:pPr algn="l">
              <a:buFont typeface="Arial" panose="020B0604020202020204" pitchFamily="34" charset="0"/>
              <a:buChar char="•"/>
            </a:pPr>
            <a:r>
              <a:rPr lang="vi-VN" b="1" i="1" dirty="0">
                <a:solidFill>
                  <a:srgbClr val="404040"/>
                </a:solidFill>
                <a:effectLst/>
                <a:latin typeface="DeepSeek-CJK-patch"/>
              </a:rPr>
              <a:t>User threads</a:t>
            </a:r>
            <a:r>
              <a:rPr lang="vi-VN" b="0" i="1" dirty="0">
                <a:solidFill>
                  <a:srgbClr val="404040"/>
                </a:solidFill>
                <a:effectLst/>
                <a:latin typeface="DeepSeek-CJK-patch"/>
              </a:rPr>
              <a:t> phù hợp cho tác vụ </a:t>
            </a:r>
            <a:r>
              <a:rPr lang="vi-VN" b="1" i="1" dirty="0">
                <a:solidFill>
                  <a:srgbClr val="404040"/>
                </a:solidFill>
                <a:effectLst/>
                <a:latin typeface="DeepSeek-CJK-patch"/>
              </a:rPr>
              <a:t>đơn lõi, tốc độ cao</a:t>
            </a:r>
            <a:r>
              <a:rPr lang="vi-VN" b="0" i="1" dirty="0">
                <a:solidFill>
                  <a:srgbClr val="404040"/>
                </a:solidFill>
                <a:effectLst/>
                <a:latin typeface="DeepSeek-CJK-patch"/>
              </a:rPr>
              <a:t> (e.g., game engine).</a:t>
            </a:r>
          </a:p>
          <a:p>
            <a:pPr algn="l">
              <a:buFont typeface="Arial" panose="020B0604020202020204" pitchFamily="34" charset="0"/>
              <a:buChar char="•"/>
            </a:pPr>
            <a:r>
              <a:rPr lang="vi-VN" b="1" i="1" dirty="0">
                <a:solidFill>
                  <a:srgbClr val="404040"/>
                </a:solidFill>
                <a:effectLst/>
                <a:latin typeface="DeepSeek-CJK-patch"/>
              </a:rPr>
              <a:t>Mô hình kết hợp (M:N)</a:t>
            </a:r>
            <a:r>
              <a:rPr lang="vi-VN" b="0" i="1" dirty="0">
                <a:solidFill>
                  <a:srgbClr val="404040"/>
                </a:solidFill>
                <a:effectLst/>
                <a:latin typeface="DeepSeek-CJK-patch"/>
              </a:rPr>
              <a:t> hứa hẹn nhưng khó triển khai → thực tế ít được dùng.</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11</a:t>
            </a:fld>
            <a:endParaRPr lang="en-US"/>
          </a:p>
        </p:txBody>
      </p:sp>
    </p:spTree>
    <p:extLst>
      <p:ext uri="{BB962C8B-B14F-4D97-AF65-F5344CB8AC3E}">
        <p14:creationId xmlns:p14="http://schemas.microsoft.com/office/powerpoint/2010/main" val="91643469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Lightweight processes (Tiến trình nhẹ)</a:t>
            </a:r>
            <a:endParaRPr lang="vi-VN" b="0" i="0" dirty="0">
              <a:solidFill>
                <a:srgbClr val="404040"/>
              </a:solidFill>
              <a:effectLst/>
              <a:latin typeface="DeepSeek-CJK-patch"/>
            </a:endParaRPr>
          </a:p>
          <a:p>
            <a:pPr algn="l"/>
            <a:r>
              <a:rPr lang="en-US" b="0" i="0" dirty="0">
                <a:solidFill>
                  <a:srgbClr val="404040"/>
                </a:solidFill>
                <a:effectLst/>
                <a:latin typeface="DeepSeek-CJK-patch"/>
              </a:rPr>
              <a:t>M</a:t>
            </a:r>
            <a:r>
              <a:rPr lang="vi-VN" b="0" i="0" dirty="0">
                <a:solidFill>
                  <a:srgbClr val="404040"/>
                </a:solidFill>
                <a:effectLst/>
                <a:latin typeface="DeepSeek-CJK-patch"/>
              </a:rPr>
              <a:t>ô hình kết hợp giữa user-level threads và kernel-level threads thông qua khái niệm </a:t>
            </a:r>
            <a:r>
              <a:rPr lang="vi-VN" b="1" i="0" dirty="0">
                <a:solidFill>
                  <a:srgbClr val="404040"/>
                </a:solidFill>
                <a:effectLst/>
                <a:latin typeface="DeepSeek-CJK-patch"/>
              </a:rPr>
              <a:t>Lightweight Process (LWP)</a:t>
            </a:r>
            <a:r>
              <a:rPr lang="vi-VN" b="0" i="0" dirty="0">
                <a:solidFill>
                  <a:srgbClr val="404040"/>
                </a:solidFill>
                <a:effectLst/>
                <a:latin typeface="DeepSeek-CJK-patch"/>
              </a:rPr>
              <a:t>.</a:t>
            </a:r>
            <a:endParaRPr lang="en-US" b="0" i="0" dirty="0">
              <a:solidFill>
                <a:srgbClr val="404040"/>
              </a:solidFill>
              <a:effectLst/>
              <a:latin typeface="DeepSeek-CJK-patch"/>
            </a:endParaRP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Basic Idea - Ý tưởng cơ bản</a:t>
            </a:r>
            <a:endParaRPr lang="vi-VN" b="0" i="0" dirty="0">
              <a:solidFill>
                <a:srgbClr val="404040"/>
              </a:solidFill>
              <a:effectLst/>
              <a:latin typeface="DeepSeek-CJK-patch"/>
            </a:endParaRPr>
          </a:p>
          <a:p>
            <a:pPr algn="l"/>
            <a:r>
              <a:rPr lang="vi-VN" b="1" i="0" dirty="0">
                <a:solidFill>
                  <a:srgbClr val="404040"/>
                </a:solidFill>
                <a:effectLst/>
                <a:latin typeface="DeepSeek-CJK-patch"/>
              </a:rPr>
              <a:t>Hai cấp quản lý luồng (Two-level threading):</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User-level threads</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Được thư viện runtime (e.g., pthreads) quản lý trong </a:t>
            </a:r>
            <a:r>
              <a:rPr lang="vi-VN" b="1" i="0" dirty="0">
                <a:solidFill>
                  <a:srgbClr val="404040"/>
                </a:solidFill>
                <a:effectLst/>
                <a:latin typeface="DeepSeek-CJK-patch"/>
              </a:rPr>
              <a:t>user space</a:t>
            </a:r>
            <a:r>
              <a:rPr lang="vi-VN" b="0" i="0" dirty="0">
                <a:solidFill>
                  <a:srgbClr val="404040"/>
                </a:solidFill>
                <a:effectLst/>
                <a:latin typeface="DeepSeek-CJK-patch"/>
              </a:rPr>
              <a:t>.</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Ưu điểm</a:t>
            </a:r>
            <a:r>
              <a:rPr lang="vi-VN" b="0" i="0" dirty="0">
                <a:solidFill>
                  <a:srgbClr val="404040"/>
                </a:solidFill>
                <a:effectLst/>
                <a:latin typeface="DeepSeek-CJK-patch"/>
              </a:rPr>
              <a:t>: Chuyển đổi nhanh (không cần kernel can thiệp).</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Lightweight Processes (LWP)</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Là các </a:t>
            </a:r>
            <a:r>
              <a:rPr lang="vi-VN" b="1" i="0" dirty="0">
                <a:solidFill>
                  <a:srgbClr val="404040"/>
                </a:solidFill>
                <a:effectLst/>
                <a:latin typeface="DeepSeek-CJK-patch"/>
              </a:rPr>
              <a:t>kernel thread đặc biệt</a:t>
            </a:r>
            <a:r>
              <a:rPr lang="vi-VN" b="0" i="0" dirty="0">
                <a:solidFill>
                  <a:srgbClr val="404040"/>
                </a:solidFill>
                <a:effectLst/>
                <a:latin typeface="DeepSeek-CJK-patch"/>
              </a:rPr>
              <a:t>, do OS quản lý trong </a:t>
            </a:r>
            <a:r>
              <a:rPr lang="vi-VN" b="1" i="0" dirty="0">
                <a:solidFill>
                  <a:srgbClr val="404040"/>
                </a:solidFill>
                <a:effectLst/>
                <a:latin typeface="DeepSeek-CJK-patch"/>
              </a:rPr>
              <a:t>kernel space</a:t>
            </a:r>
            <a:r>
              <a:rPr lang="vi-VN" b="0" i="0" dirty="0">
                <a:solidFill>
                  <a:srgbClr val="404040"/>
                </a:solidFill>
                <a:effectLst/>
                <a:latin typeface="DeepSeek-CJK-patch"/>
              </a:rPr>
              <a:t>.</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Mỗi LWP có thể "chứa" và thực thi 1 user-level thread.</a:t>
            </a:r>
          </a:p>
          <a:p>
            <a:pPr marL="457200" lvl="1" indent="0"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Vai trò</a:t>
            </a:r>
            <a:r>
              <a:rPr lang="vi-VN" b="0" i="0" dirty="0">
                <a:solidFill>
                  <a:srgbClr val="404040"/>
                </a:solidFill>
                <a:effectLst/>
                <a:latin typeface="DeepSeek-CJK-patch"/>
              </a:rPr>
              <a:t>: Cầu nối giữa user threads và CPU thật.</a:t>
            </a:r>
          </a:p>
          <a:p>
            <a:endParaRPr lang="en-US" dirty="0"/>
          </a:p>
          <a:p>
            <a:pPr algn="l"/>
            <a:r>
              <a:rPr lang="vi-VN" b="1" i="0" dirty="0">
                <a:solidFill>
                  <a:srgbClr val="404040"/>
                </a:solidFill>
                <a:effectLst/>
                <a:latin typeface="DeepSeek-CJK-patch"/>
              </a:rPr>
              <a:t>2. Tại sao cần LWP?</a:t>
            </a:r>
            <a:endParaRPr lang="vi-VN" b="0" i="0" dirty="0">
              <a:solidFill>
                <a:srgbClr val="404040"/>
              </a:solidFill>
              <a:effectLst/>
              <a:latin typeface="DeepSeek-CJK-patch"/>
            </a:endParaRPr>
          </a:p>
          <a:p>
            <a:pPr algn="l"/>
            <a:r>
              <a:rPr lang="vi-VN" b="1" i="0" dirty="0">
                <a:solidFill>
                  <a:srgbClr val="404040"/>
                </a:solidFill>
                <a:effectLst/>
                <a:latin typeface="DeepSeek-CJK-patch"/>
              </a:rPr>
              <a:t>Giải quyết vấn đề của pure user-level threads: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Blocking system calls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Nếu user thread A gọi blocking syscall (e.g., read()), LWP gắn với A sẽ bị block.</a:t>
            </a:r>
          </a:p>
          <a:p>
            <a:pPr marL="742950" lvl="1" indent="-285750" algn="l">
              <a:buFont typeface="Arial" panose="020B0604020202020204" pitchFamily="34" charset="0"/>
              <a:buChar char="•"/>
            </a:pPr>
            <a:r>
              <a:rPr lang="vi-VN" b="1" i="0" dirty="0">
                <a:solidFill>
                  <a:srgbClr val="404040"/>
                </a:solidFill>
                <a:effectLst/>
                <a:latin typeface="DeepSeek-CJK-patch"/>
              </a:rPr>
              <a:t>Các user threads khác</a:t>
            </a:r>
            <a:r>
              <a:rPr lang="vi-VN" b="0" i="0" dirty="0">
                <a:solidFill>
                  <a:srgbClr val="404040"/>
                </a:solidFill>
                <a:effectLst/>
                <a:latin typeface="DeepSeek-CJK-patch"/>
              </a:rPr>
              <a:t> (B, C...) vẫn chạy được nhờ ánh xạ sang LWP khác.</a:t>
            </a:r>
          </a:p>
          <a:p>
            <a:pPr algn="l">
              <a:buFont typeface="Arial" panose="020B0604020202020204" pitchFamily="34" charset="0"/>
              <a:buChar char="•"/>
            </a:pPr>
            <a:r>
              <a:rPr lang="vi-VN" b="1" i="0" dirty="0">
                <a:solidFill>
                  <a:srgbClr val="404040"/>
                </a:solidFill>
                <a:effectLst/>
                <a:latin typeface="DeepSeek-CJK-patch"/>
              </a:rPr>
              <a:t>Song song trên đa lõi</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Mỗi LWP có thể chạy trên core riêng → các user threads thực sự chạy song song.</a:t>
            </a:r>
          </a:p>
          <a:p>
            <a:pPr algn="l"/>
            <a:r>
              <a:rPr lang="vi-VN" b="1" i="0" dirty="0">
                <a:solidFill>
                  <a:srgbClr val="404040"/>
                </a:solidFill>
                <a:effectLst/>
                <a:latin typeface="DeepSeek-CJK-patch"/>
              </a:rPr>
              <a:t>Giải quyết vấn đề của pure kernel threads: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Giảm chi phí</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Thư viện user-space tự quản lý thread switching → ít phải trap vào kernel hơn.</a:t>
            </a:r>
          </a:p>
          <a:p>
            <a:endParaRPr lang="en-US" dirty="0"/>
          </a:p>
          <a:p>
            <a:pPr algn="l"/>
            <a:r>
              <a:rPr lang="en-US" b="1" i="0" dirty="0">
                <a:solidFill>
                  <a:srgbClr val="404040"/>
                </a:solidFill>
                <a:effectLst/>
                <a:latin typeface="DeepSeek-CJK-patch"/>
              </a:rPr>
              <a:t>3. </a:t>
            </a:r>
            <a:r>
              <a:rPr lang="vi-VN" b="1" i="0" dirty="0">
                <a:solidFill>
                  <a:srgbClr val="404040"/>
                </a:solidFill>
                <a:effectLst/>
                <a:latin typeface="DeepSeek-CJK-patch"/>
              </a:rPr>
              <a:t>Hình vẽ mô tả kiến trúc</a:t>
            </a:r>
            <a:r>
              <a:rPr lang="vi-VN" b="0" i="0" dirty="0">
                <a:solidFill>
                  <a:srgbClr val="404040"/>
                </a:solidFill>
                <a:effectLst/>
                <a:latin typeface="DeepSeek-CJK-patch"/>
              </a:rPr>
              <a:t> </a:t>
            </a:r>
            <a:r>
              <a:rPr lang="vi-VN" b="1" i="0" dirty="0">
                <a:solidFill>
                  <a:srgbClr val="404040"/>
                </a:solidFill>
                <a:effectLst/>
                <a:latin typeface="DeepSeek-CJK-patch"/>
              </a:rPr>
              <a:t>hai lớp</a:t>
            </a:r>
            <a:r>
              <a:rPr lang="vi-VN" b="0" i="0" dirty="0">
                <a:solidFill>
                  <a:srgbClr val="404040"/>
                </a:solidFill>
                <a:effectLst/>
                <a:latin typeface="DeepSeek-CJK-patch"/>
              </a:rPr>
              <a:t> trong quản lý luồng, bao gồm </a:t>
            </a:r>
            <a:r>
              <a:rPr lang="vi-VN" b="1" i="0" dirty="0">
                <a:solidFill>
                  <a:srgbClr val="404040"/>
                </a:solidFill>
                <a:effectLst/>
                <a:latin typeface="DeepSeek-CJK-patch"/>
              </a:rPr>
              <a:t>user space</a:t>
            </a:r>
            <a:r>
              <a:rPr lang="vi-VN" b="0" i="0" dirty="0">
                <a:solidFill>
                  <a:srgbClr val="404040"/>
                </a:solidFill>
                <a:effectLst/>
                <a:latin typeface="DeepSeek-CJK-patch"/>
              </a:rPr>
              <a:t> và </a:t>
            </a:r>
            <a:r>
              <a:rPr lang="vi-VN" b="1" i="0" dirty="0">
                <a:solidFill>
                  <a:srgbClr val="404040"/>
                </a:solidFill>
                <a:effectLst/>
                <a:latin typeface="DeepSeek-CJK-patch"/>
              </a:rPr>
              <a:t>kernel space</a:t>
            </a:r>
            <a:r>
              <a:rPr lang="vi-VN" b="0" i="0" dirty="0">
                <a:solidFill>
                  <a:srgbClr val="404040"/>
                </a:solidFill>
                <a:effectLst/>
                <a:latin typeface="DeepSeek-CJK-patch"/>
              </a:rPr>
              <a:t>, với vai trò trung gian của </a:t>
            </a:r>
            <a:r>
              <a:rPr lang="vi-VN" b="1" i="0" dirty="0">
                <a:solidFill>
                  <a:srgbClr val="404040"/>
                </a:solidFill>
                <a:effectLst/>
                <a:latin typeface="DeepSeek-CJK-patch"/>
              </a:rPr>
              <a:t>Lightweight Process (LWP)</a:t>
            </a:r>
            <a:r>
              <a:rPr lang="vi-VN" b="0" i="0" dirty="0">
                <a:solidFill>
                  <a:srgbClr val="404040"/>
                </a:solidFill>
                <a:effectLst/>
                <a:latin typeface="DeepSeek-CJK-patch"/>
              </a:rPr>
              <a:t>.</a:t>
            </a:r>
          </a:p>
          <a:p>
            <a:pPr algn="l"/>
            <a:r>
              <a:rPr lang="en-US" b="1" i="0" dirty="0">
                <a:solidFill>
                  <a:srgbClr val="404040"/>
                </a:solidFill>
                <a:effectLst/>
                <a:latin typeface="DeepSeek-CJK-patch"/>
              </a:rPr>
              <a:t>a. </a:t>
            </a:r>
            <a:r>
              <a:rPr lang="vi-VN" b="1" i="0" dirty="0">
                <a:solidFill>
                  <a:srgbClr val="404040"/>
                </a:solidFill>
                <a:effectLst/>
                <a:latin typeface="DeepSeek-CJK-patch"/>
              </a:rPr>
              <a:t>Các thành phần trong hình</a:t>
            </a:r>
            <a:endParaRPr lang="vi-VN" b="0" i="0" dirty="0">
              <a:solidFill>
                <a:srgbClr val="404040"/>
              </a:solidFill>
              <a:effectLst/>
              <a:latin typeface="DeepSeek-CJK-patch"/>
            </a:endParaRPr>
          </a:p>
          <a:p>
            <a:pPr algn="l"/>
            <a:r>
              <a:rPr lang="vi-VN" b="1" dirty="0"/>
              <a:t>Thành phần</a:t>
            </a:r>
            <a:r>
              <a:rPr lang="en-US" b="1" dirty="0"/>
              <a:t>		</a:t>
            </a:r>
            <a:r>
              <a:rPr lang="vi-VN" b="1" dirty="0"/>
              <a:t>Vị trí</a:t>
            </a:r>
            <a:r>
              <a:rPr lang="en-US" b="1" dirty="0"/>
              <a:t>		</a:t>
            </a:r>
            <a:r>
              <a:rPr lang="vi-VN" b="1" dirty="0"/>
              <a:t>Ý nghĩa</a:t>
            </a:r>
            <a:endParaRPr lang="en-US" b="1" dirty="0"/>
          </a:p>
          <a:p>
            <a:pPr algn="l"/>
            <a:r>
              <a:rPr lang="vi-VN" b="1" dirty="0">
                <a:effectLst/>
              </a:rPr>
              <a:t>User space</a:t>
            </a:r>
            <a:r>
              <a:rPr lang="en-US" b="1" dirty="0">
                <a:effectLst/>
              </a:rPr>
              <a:t>		</a:t>
            </a:r>
            <a:r>
              <a:rPr lang="vi-VN" dirty="0">
                <a:effectLst/>
              </a:rPr>
              <a:t>Phía trên</a:t>
            </a:r>
            <a:r>
              <a:rPr lang="en-US" dirty="0">
                <a:effectLst/>
              </a:rPr>
              <a:t>		</a:t>
            </a:r>
            <a:r>
              <a:rPr lang="vi-VN" dirty="0">
                <a:effectLst/>
              </a:rPr>
              <a:t>Không gian bộ nhớ nơi ứng dụng và </a:t>
            </a:r>
            <a:r>
              <a:rPr lang="vi-VN" b="1" dirty="0">
                <a:effectLst/>
              </a:rPr>
              <a:t>user-level threads</a:t>
            </a:r>
            <a:r>
              <a:rPr lang="vi-VN" dirty="0">
                <a:effectLst/>
              </a:rPr>
              <a:t> hoạt động.</a:t>
            </a:r>
            <a:endParaRPr lang="en-US" dirty="0">
              <a:effectLst/>
            </a:endParaRPr>
          </a:p>
          <a:p>
            <a:pPr algn="l"/>
            <a:r>
              <a:rPr lang="vi-VN" b="1" dirty="0">
                <a:effectLst/>
              </a:rPr>
              <a:t>Kernel space</a:t>
            </a:r>
            <a:r>
              <a:rPr lang="en-US" b="1" dirty="0">
                <a:effectLst/>
              </a:rPr>
              <a:t>		</a:t>
            </a:r>
            <a:r>
              <a:rPr lang="vi-VN" dirty="0">
                <a:effectLst/>
              </a:rPr>
              <a:t>Phía dưới</a:t>
            </a:r>
            <a:r>
              <a:rPr lang="en-US" dirty="0">
                <a:effectLst/>
              </a:rPr>
              <a:t>		</a:t>
            </a:r>
            <a:r>
              <a:rPr lang="vi-VN" dirty="0">
                <a:effectLst/>
              </a:rPr>
              <a:t>Không gian bộ nhớ nơi hệ điều hành quản lý tài nguyên (CPU, RAM, I/O).</a:t>
            </a:r>
            <a:endParaRPr lang="en-US" dirty="0">
              <a:effectLst/>
            </a:endParaRPr>
          </a:p>
          <a:p>
            <a:pPr algn="l"/>
            <a:r>
              <a:rPr lang="vi-VN" b="1" dirty="0">
                <a:effectLst/>
              </a:rPr>
              <a:t>Thread</a:t>
            </a:r>
            <a:r>
              <a:rPr lang="en-US" b="1" dirty="0">
                <a:effectLst/>
              </a:rPr>
              <a:t>		</a:t>
            </a:r>
            <a:r>
              <a:rPr lang="vi-VN" dirty="0">
                <a:effectLst/>
              </a:rPr>
              <a:t>User space</a:t>
            </a:r>
            <a:r>
              <a:rPr lang="en-US" dirty="0">
                <a:effectLst/>
              </a:rPr>
              <a:t>		</a:t>
            </a:r>
            <a:r>
              <a:rPr lang="vi-VN" dirty="0">
                <a:effectLst/>
              </a:rPr>
              <a:t>Luồng do thư viện user-space (e.g., pthread) tạo và quản lý.</a:t>
            </a:r>
            <a:endParaRPr lang="en-US" dirty="0">
              <a:effectLst/>
            </a:endParaRPr>
          </a:p>
          <a:p>
            <a:pPr algn="l"/>
            <a:r>
              <a:rPr lang="vi-VN" b="1" dirty="0">
                <a:effectLst/>
              </a:rPr>
              <a:t>Lightweight Process (LWP)</a:t>
            </a:r>
            <a:r>
              <a:rPr lang="en-US" b="1" dirty="0">
                <a:effectLst/>
              </a:rPr>
              <a:t>	</a:t>
            </a:r>
            <a:r>
              <a:rPr lang="vi-VN" dirty="0">
                <a:effectLst/>
              </a:rPr>
              <a:t>Kernel space</a:t>
            </a:r>
            <a:r>
              <a:rPr lang="en-US" dirty="0">
                <a:effectLst/>
              </a:rPr>
              <a:t>		</a:t>
            </a:r>
            <a:r>
              <a:rPr lang="vi-VN" dirty="0">
                <a:effectLst/>
              </a:rPr>
              <a:t>"Cầu nối" giữa user thread và CPU vật lý, được kernel quản lý.</a:t>
            </a:r>
            <a:endParaRPr lang="en-US" dirty="0">
              <a:effectLst/>
            </a:endParaRPr>
          </a:p>
          <a:p>
            <a:pPr algn="l"/>
            <a:r>
              <a:rPr lang="vi-VN" b="1" dirty="0">
                <a:effectLst/>
              </a:rPr>
              <a:t>LWP executing a thread</a:t>
            </a:r>
            <a:r>
              <a:rPr lang="en-US" b="1" dirty="0">
                <a:effectLst/>
              </a:rPr>
              <a:t>	</a:t>
            </a:r>
            <a:r>
              <a:rPr lang="vi-VN" dirty="0">
                <a:effectLst/>
              </a:rPr>
              <a:t>Kernel space</a:t>
            </a:r>
            <a:r>
              <a:rPr lang="en-US" dirty="0">
                <a:effectLst/>
              </a:rPr>
              <a:t>		</a:t>
            </a:r>
            <a:r>
              <a:rPr lang="vi-VN" dirty="0">
                <a:effectLst/>
              </a:rPr>
              <a:t>LWP đang thực thi một user thread cụ thể.</a:t>
            </a:r>
            <a:endParaRPr lang="en-US" dirty="0">
              <a:effectLst/>
            </a:endParaRPr>
          </a:p>
          <a:p>
            <a:pPr algn="l"/>
            <a:r>
              <a:rPr lang="vi-VN" b="1" dirty="0">
                <a:effectLst/>
              </a:rPr>
              <a:t>Thread state</a:t>
            </a:r>
            <a:r>
              <a:rPr lang="en-US" b="1" dirty="0">
                <a:effectLst/>
              </a:rPr>
              <a:t>		</a:t>
            </a:r>
            <a:r>
              <a:rPr lang="vi-VN" dirty="0">
                <a:effectLst/>
              </a:rPr>
              <a:t>Ranh giới</a:t>
            </a:r>
            <a:r>
              <a:rPr lang="en-US" dirty="0">
                <a:effectLst/>
              </a:rPr>
              <a:t>		</a:t>
            </a:r>
            <a:r>
              <a:rPr lang="vi-VN" dirty="0">
                <a:effectLst/>
              </a:rPr>
              <a:t>Trạng thái của user thread (running, ready, blocked) được đồng bộ với LWP.</a:t>
            </a:r>
            <a:endParaRPr lang="en-US" dirty="0">
              <a:effectLst/>
            </a:endParaRPr>
          </a:p>
          <a:p>
            <a:pPr algn="l"/>
            <a:r>
              <a:rPr lang="en-US" b="1" i="0" dirty="0">
                <a:solidFill>
                  <a:srgbClr val="404040"/>
                </a:solidFill>
                <a:effectLst/>
                <a:latin typeface="DeepSeek-CJK-patch"/>
              </a:rPr>
              <a:t>b</a:t>
            </a:r>
            <a:r>
              <a:rPr lang="vi-VN" b="1" i="0" dirty="0">
                <a:solidFill>
                  <a:srgbClr val="404040"/>
                </a:solidFill>
                <a:effectLst/>
                <a:latin typeface="DeepSeek-CJK-patch"/>
              </a:rPr>
              <a:t>. Luồng dữ liệu và tương tác</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 </a:t>
            </a:r>
            <a:r>
              <a:rPr lang="vi-VN" b="1" i="0" dirty="0">
                <a:solidFill>
                  <a:srgbClr val="404040"/>
                </a:solidFill>
                <a:effectLst/>
                <a:latin typeface="DeepSeek-CJK-patch"/>
              </a:rPr>
              <a:t>User-level threads</a:t>
            </a:r>
            <a:r>
              <a:rPr lang="vi-VN" b="0" i="0" dirty="0">
                <a:solidFill>
                  <a:srgbClr val="404040"/>
                </a:solidFill>
                <a:effectLst/>
                <a:latin typeface="DeepSeek-CJK-patch"/>
              </a:rPr>
              <a:t> được tạo và quản lý bởi thư viện trong </a:t>
            </a:r>
            <a:r>
              <a:rPr lang="vi-VN" b="1" i="0" dirty="0">
                <a:solidFill>
                  <a:srgbClr val="404040"/>
                </a:solidFill>
                <a:effectLst/>
                <a:latin typeface="DeepSeek-CJK-patch"/>
              </a:rPr>
              <a:t>user space</a:t>
            </a:r>
            <a:r>
              <a:rPr lang="vi-VN" b="0" i="0" dirty="0">
                <a:solidFill>
                  <a:srgbClr val="404040"/>
                </a:solidFill>
                <a:effectLst/>
                <a:latin typeface="DeepSeek-CJK-patch"/>
              </a:rPr>
              <a:t>.</a:t>
            </a:r>
          </a:p>
          <a:p>
            <a:pPr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Mỗi user thread muốn chạy trên CPU phải được </a:t>
            </a:r>
            <a:r>
              <a:rPr lang="vi-VN" b="1" i="0" dirty="0">
                <a:solidFill>
                  <a:srgbClr val="404040"/>
                </a:solidFill>
                <a:effectLst/>
                <a:latin typeface="DeepSeek-CJK-patch"/>
              </a:rPr>
              <a:t>ánh xạ</a:t>
            </a:r>
            <a:r>
              <a:rPr lang="vi-VN" b="0" i="0" dirty="0">
                <a:solidFill>
                  <a:srgbClr val="404040"/>
                </a:solidFill>
                <a:effectLst/>
                <a:latin typeface="DeepSeek-CJK-patch"/>
              </a:rPr>
              <a:t> xuống một </a:t>
            </a:r>
            <a:r>
              <a:rPr lang="vi-VN" b="1" i="0" dirty="0">
                <a:solidFill>
                  <a:srgbClr val="404040"/>
                </a:solidFill>
                <a:effectLst/>
                <a:latin typeface="DeepSeek-CJK-patch"/>
              </a:rPr>
              <a:t>LWP</a:t>
            </a:r>
            <a:r>
              <a:rPr lang="vi-VN" b="0" i="0" dirty="0">
                <a:solidFill>
                  <a:srgbClr val="404040"/>
                </a:solidFill>
                <a:effectLst/>
                <a:latin typeface="DeepSeek-CJK-patch"/>
              </a:rPr>
              <a:t> trong kernel space.</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LWP hoạt động như một </a:t>
            </a:r>
            <a:r>
              <a:rPr lang="vi-VN" b="1" i="0" dirty="0">
                <a:solidFill>
                  <a:srgbClr val="404040"/>
                </a:solidFill>
                <a:effectLst/>
                <a:latin typeface="DeepSeek-CJK-patch"/>
              </a:rPr>
              <a:t>virtual CPU</a:t>
            </a:r>
            <a:r>
              <a:rPr lang="vi-VN" b="0" i="0" dirty="0">
                <a:solidFill>
                  <a:srgbClr val="404040"/>
                </a:solidFill>
                <a:effectLst/>
                <a:latin typeface="DeepSeek-CJK-patch"/>
              </a:rPr>
              <a:t> do kernel cấp.</a:t>
            </a:r>
          </a:p>
          <a:p>
            <a:pPr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Kernel lập lịch các </a:t>
            </a:r>
            <a:r>
              <a:rPr lang="vi-VN" b="1" i="0" dirty="0">
                <a:solidFill>
                  <a:srgbClr val="404040"/>
                </a:solidFill>
                <a:effectLst/>
                <a:latin typeface="DeepSeek-CJK-patch"/>
              </a:rPr>
              <a:t>LWP</a:t>
            </a:r>
            <a:r>
              <a:rPr lang="vi-VN" b="0" i="0" dirty="0">
                <a:solidFill>
                  <a:srgbClr val="404040"/>
                </a:solidFill>
                <a:effectLst/>
                <a:latin typeface="DeepSeek-CJK-patch"/>
              </a:rPr>
              <a:t> (thay vì user threads) để chạy trên CPU vật lý.</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12</a:t>
            </a:fld>
            <a:endParaRPr lang="en-US"/>
          </a:p>
        </p:txBody>
      </p:sp>
    </p:spTree>
    <p:extLst>
      <p:ext uri="{BB962C8B-B14F-4D97-AF65-F5344CB8AC3E}">
        <p14:creationId xmlns:p14="http://schemas.microsoft.com/office/powerpoint/2010/main" val="30204585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Lightweight processes – Principle operation</a:t>
            </a:r>
            <a:endParaRPr lang="vi-VN" b="0" i="0" dirty="0">
              <a:solidFill>
                <a:srgbClr val="404040"/>
              </a:solidFill>
              <a:effectLst/>
              <a:latin typeface="DeepSeek-CJK-patch"/>
            </a:endParaRPr>
          </a:p>
          <a:p>
            <a:pPr algn="l"/>
            <a:r>
              <a:rPr lang="vi-VN" b="0" i="0" dirty="0">
                <a:solidFill>
                  <a:srgbClr val="404040"/>
                </a:solidFill>
                <a:effectLst/>
                <a:latin typeface="DeepSeek-CJK-patch"/>
              </a:rPr>
              <a:t>mô tả cách hoạt động của LWP và các tình huống xử lý blocking, đồng thời đề cập đến xu hướng hiện đại chỉ sử dụng </a:t>
            </a:r>
            <a:r>
              <a:rPr lang="vi-VN" b="1" i="0" dirty="0">
                <a:solidFill>
                  <a:srgbClr val="404040"/>
                </a:solidFill>
                <a:effectLst/>
                <a:latin typeface="DeepSeek-CJK-patch"/>
              </a:rPr>
              <a:t>user-level</a:t>
            </a:r>
            <a:r>
              <a:rPr lang="vi-VN" b="0" i="0" dirty="0">
                <a:solidFill>
                  <a:srgbClr val="404040"/>
                </a:solidFill>
                <a:effectLst/>
                <a:latin typeface="DeepSeek-CJK-patch"/>
              </a:rPr>
              <a:t> hoặc </a:t>
            </a:r>
            <a:r>
              <a:rPr lang="vi-VN" b="1" i="0" dirty="0">
                <a:solidFill>
                  <a:srgbClr val="404040"/>
                </a:solidFill>
                <a:effectLst/>
                <a:latin typeface="DeepSeek-CJK-patch"/>
              </a:rPr>
              <a:t>kernel-level threads</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Nguyên lý hoạt động của LWP</a:t>
            </a:r>
            <a:endParaRPr lang="vi-VN" b="0" i="0" dirty="0">
              <a:solidFill>
                <a:srgbClr val="404040"/>
              </a:solidFill>
              <a:effectLst/>
              <a:latin typeface="DeepSeek-CJK-patch"/>
            </a:endParaRPr>
          </a:p>
          <a:p>
            <a:pPr algn="l"/>
            <a:r>
              <a:rPr lang="vi-VN" b="1" i="0" dirty="0">
                <a:solidFill>
                  <a:srgbClr val="404040"/>
                </a:solidFill>
                <a:effectLst/>
                <a:latin typeface="DeepSeek-CJK-patch"/>
              </a:rPr>
              <a:t>a. Khi user-level thread gọi system call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Scenario:</a:t>
            </a:r>
            <a:r>
              <a:rPr lang="en-US" b="0" i="0" dirty="0">
                <a:solidFill>
                  <a:srgbClr val="404040"/>
                </a:solidFill>
                <a:effectLst/>
                <a:latin typeface="DeepSeek-CJK-patch"/>
              </a:rPr>
              <a:t> </a:t>
            </a:r>
            <a:r>
              <a:rPr lang="vi-VN" b="0" i="0" dirty="0">
                <a:solidFill>
                  <a:srgbClr val="404040"/>
                </a:solidFill>
                <a:effectLst/>
                <a:latin typeface="DeepSeek-CJK-patch"/>
              </a:rPr>
              <a:t>User thread A (gắn với LWP 1) gọi system call blocking (vd: read()).</a:t>
            </a:r>
          </a:p>
          <a:p>
            <a:pPr algn="l">
              <a:buFont typeface="Arial" panose="020B0604020202020204" pitchFamily="34" charset="0"/>
              <a:buChar char="•"/>
            </a:pPr>
            <a:r>
              <a:rPr lang="vi-VN" b="1" i="0" dirty="0">
                <a:solidFill>
                  <a:srgbClr val="404040"/>
                </a:solidFill>
                <a:effectLst/>
                <a:latin typeface="DeepSeek-CJK-patch"/>
              </a:rPr>
              <a:t>Cách xử lý:</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1" i="0" dirty="0">
                <a:solidFill>
                  <a:srgbClr val="404040"/>
                </a:solidFill>
                <a:effectLst/>
                <a:latin typeface="DeepSeek-CJK-patch"/>
              </a:rPr>
              <a:t>- </a:t>
            </a:r>
            <a:r>
              <a:rPr lang="vi-VN" b="1" i="0" dirty="0">
                <a:solidFill>
                  <a:srgbClr val="404040"/>
                </a:solidFill>
                <a:effectLst/>
                <a:latin typeface="DeepSeek-CJK-patch"/>
              </a:rPr>
              <a:t>LWP 1 bị block</a:t>
            </a:r>
            <a:r>
              <a:rPr lang="vi-VN" b="0" i="0" dirty="0">
                <a:solidFill>
                  <a:srgbClr val="404040"/>
                </a:solidFill>
                <a:effectLst/>
                <a:latin typeface="DeepSeek-CJK-patch"/>
              </a:rPr>
              <a:t> (do system call yêu cầu kernel can thiệp).</a:t>
            </a:r>
          </a:p>
          <a:p>
            <a:pPr marL="457200" lvl="1" indent="0" algn="l">
              <a:buFont typeface="Arial" panose="020B0604020202020204" pitchFamily="34" charset="0"/>
              <a:buNone/>
            </a:pPr>
            <a:r>
              <a:rPr lang="en-US" b="1" i="0" dirty="0">
                <a:solidFill>
                  <a:srgbClr val="404040"/>
                </a:solidFill>
                <a:effectLst/>
                <a:latin typeface="DeepSeek-CJK-patch"/>
              </a:rPr>
              <a:t>- </a:t>
            </a:r>
            <a:r>
              <a:rPr lang="vi-VN" b="1" i="0" dirty="0">
                <a:solidFill>
                  <a:srgbClr val="404040"/>
                </a:solidFill>
                <a:effectLst/>
                <a:latin typeface="DeepSeek-CJK-patch"/>
              </a:rPr>
              <a:t>Thread A vẫn gắn với LWP 1</a:t>
            </a:r>
            <a:r>
              <a:rPr lang="vi-VN" b="0" i="0" dirty="0">
                <a:solidFill>
                  <a:srgbClr val="404040"/>
                </a:solidFill>
                <a:effectLst/>
                <a:latin typeface="DeepSeek-CJK-patch"/>
              </a:rPr>
              <a:t> (không thể chuyển sang LWP khác).</a:t>
            </a: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Kernel chuyển sang </a:t>
            </a:r>
            <a:r>
              <a:rPr lang="vi-VN" b="1" i="0" dirty="0">
                <a:solidFill>
                  <a:srgbClr val="404040"/>
                </a:solidFill>
                <a:effectLst/>
                <a:latin typeface="DeepSeek-CJK-patch"/>
              </a:rPr>
              <a:t>LWP 2</a:t>
            </a:r>
            <a:r>
              <a:rPr lang="vi-VN" b="0" i="0" dirty="0">
                <a:solidFill>
                  <a:srgbClr val="404040"/>
                </a:solidFill>
                <a:effectLst/>
                <a:latin typeface="DeepSeek-CJK-patch"/>
              </a:rPr>
              <a:t> có thread B </a:t>
            </a:r>
            <a:r>
              <a:rPr lang="vi-VN" b="1" i="0" dirty="0">
                <a:solidFill>
                  <a:srgbClr val="404040"/>
                </a:solidFill>
                <a:effectLst/>
                <a:latin typeface="DeepSeek-CJK-patch"/>
              </a:rPr>
              <a:t>runnable</a:t>
            </a:r>
            <a:r>
              <a:rPr lang="vi-VN" b="0" i="0" dirty="0">
                <a:solidFill>
                  <a:srgbClr val="404040"/>
                </a:solidFill>
                <a:effectLst/>
                <a:latin typeface="DeepSeek-CJK-patch"/>
              </a:rPr>
              <a:t> để tiếp tục thực thi.</a:t>
            </a:r>
          </a:p>
          <a:p>
            <a:pPr algn="l">
              <a:buFont typeface="Arial" panose="020B0604020202020204" pitchFamily="34" charset="0"/>
              <a:buChar char="•"/>
            </a:pPr>
            <a:r>
              <a:rPr lang="vi-VN" b="1" i="0" dirty="0">
                <a:solidFill>
                  <a:srgbClr val="404040"/>
                </a:solidFill>
                <a:effectLst/>
                <a:latin typeface="DeepSeek-CJK-patch"/>
              </a:rPr>
              <a:t>Kết quả:</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Process không bị block hoàn toàn → thread B vẫn chạy.</a:t>
            </a:r>
          </a:p>
          <a:p>
            <a:pPr algn="l"/>
            <a:r>
              <a:rPr lang="vi-VN" b="1" i="0" dirty="0">
                <a:solidFill>
                  <a:srgbClr val="404040"/>
                </a:solidFill>
                <a:effectLst/>
                <a:latin typeface="DeepSeek-CJK-patch"/>
              </a:rPr>
              <a:t>b. Khi kernel lập lịch LWP khác</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LWP mới</a:t>
            </a:r>
            <a:r>
              <a:rPr lang="vi-VN" b="0" i="0" dirty="0">
                <a:solidFill>
                  <a:srgbClr val="404040"/>
                </a:solidFill>
                <a:effectLst/>
                <a:latin typeface="DeepSeek-CJK-patch"/>
              </a:rPr>
              <a:t> (vd: LWP 2) có thể:</a:t>
            </a: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Tiếp tục chạy thread B đang gắn với nó.</a:t>
            </a:r>
          </a:p>
          <a:p>
            <a:pPr marL="457200" lvl="1" indent="0" algn="l">
              <a:buFont typeface="Arial" panose="020B0604020202020204" pitchFamily="34" charset="0"/>
              <a:buNone/>
            </a:pPr>
            <a:r>
              <a:rPr lang="en-US" b="1" i="0" dirty="0">
                <a:solidFill>
                  <a:srgbClr val="404040"/>
                </a:solidFill>
                <a:effectLst/>
                <a:latin typeface="DeepSeek-CJK-patch"/>
              </a:rPr>
              <a:t>- </a:t>
            </a:r>
            <a:r>
              <a:rPr lang="vi-VN" b="1" i="0" dirty="0">
                <a:solidFill>
                  <a:srgbClr val="404040"/>
                </a:solidFill>
                <a:effectLst/>
                <a:latin typeface="DeepSeek-CJK-patch"/>
              </a:rPr>
              <a:t>Hoặc</a:t>
            </a:r>
            <a:r>
              <a:rPr lang="vi-VN" b="0" i="0" dirty="0">
                <a:solidFill>
                  <a:srgbClr val="404040"/>
                </a:solidFill>
                <a:effectLst/>
                <a:latin typeface="DeepSeek-CJK-patch"/>
              </a:rPr>
              <a:t> chuyển sang thread C (user-level) nếu thư viện thread user-space quyết định </a:t>
            </a:r>
            <a:r>
              <a:rPr lang="vi-VN" b="1" i="0" dirty="0">
                <a:solidFill>
                  <a:srgbClr val="404040"/>
                </a:solidFill>
                <a:effectLst/>
                <a:latin typeface="DeepSeek-CJK-patch"/>
              </a:rPr>
              <a:t>context switch</a:t>
            </a:r>
            <a:r>
              <a:rPr lang="vi-VN" b="0" i="0" dirty="0">
                <a:solidFill>
                  <a:srgbClr val="404040"/>
                </a:solidFill>
                <a:effectLst/>
                <a:latin typeface="DeepSeek-CJK-patch"/>
              </a:rPr>
              <a:t>.</a:t>
            </a:r>
            <a:br>
              <a:rPr lang="vi-VN" b="0" i="0" dirty="0">
                <a:solidFill>
                  <a:srgbClr val="404040"/>
                </a:solidFill>
                <a:effectLst/>
                <a:latin typeface="DeepSeek-CJK-patch"/>
              </a:rPr>
            </a:br>
            <a:r>
              <a:rPr lang="vi-VN" b="0" i="0" dirty="0">
                <a:solidFill>
                  <a:srgbClr val="404040"/>
                </a:solidFill>
                <a:effectLst/>
                <a:latin typeface="DeepSeek-CJK-patch"/>
              </a:rPr>
              <a:t>→ User-space scheduler tự quản lý việc chuyển đổi giữa các thread.</a:t>
            </a:r>
          </a:p>
          <a:p>
            <a:pPr algn="l"/>
            <a:r>
              <a:rPr lang="vi-VN" b="1" i="0" dirty="0">
                <a:solidFill>
                  <a:srgbClr val="404040"/>
                </a:solidFill>
                <a:effectLst/>
                <a:latin typeface="DeepSeek-CJK-patch"/>
              </a:rPr>
              <a:t>c. Khi user-level thread gọi blocking operation ở user-space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Scenario:</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Thread A gọi pthread_mutex_lock() (blocking ở user-space).</a:t>
            </a:r>
          </a:p>
          <a:p>
            <a:pPr algn="l">
              <a:buFont typeface="Arial" panose="020B0604020202020204" pitchFamily="34" charset="0"/>
              <a:buChar char="•"/>
            </a:pPr>
            <a:r>
              <a:rPr lang="vi-VN" b="1" i="0" dirty="0">
                <a:solidFill>
                  <a:srgbClr val="404040"/>
                </a:solidFill>
                <a:effectLst/>
                <a:latin typeface="DeepSeek-CJK-patch"/>
              </a:rPr>
              <a:t>Cách xử lý:</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User-space scheduler thực hiện </a:t>
            </a:r>
            <a:r>
              <a:rPr lang="vi-VN" b="1" i="0" dirty="0">
                <a:solidFill>
                  <a:srgbClr val="404040"/>
                </a:solidFill>
                <a:effectLst/>
                <a:latin typeface="DeepSeek-CJK-patch"/>
              </a:rPr>
              <a:t>context switch</a:t>
            </a:r>
            <a:r>
              <a:rPr lang="vi-VN" b="0" i="0" dirty="0">
                <a:solidFill>
                  <a:srgbClr val="404040"/>
                </a:solidFill>
                <a:effectLst/>
                <a:latin typeface="DeepSeek-CJK-patch"/>
              </a:rPr>
              <a:t> từ thread A sang thread B.</a:t>
            </a: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Thread B </a:t>
            </a:r>
            <a:r>
              <a:rPr lang="vi-VN" b="1" i="0" dirty="0">
                <a:solidFill>
                  <a:srgbClr val="404040"/>
                </a:solidFill>
                <a:effectLst/>
                <a:latin typeface="DeepSeek-CJK-patch"/>
              </a:rPr>
              <a:t>gắn với cùng LWP</a:t>
            </a:r>
            <a:r>
              <a:rPr lang="vi-VN" b="0" i="0" dirty="0">
                <a:solidFill>
                  <a:srgbClr val="404040"/>
                </a:solidFill>
                <a:effectLst/>
                <a:latin typeface="DeepSeek-CJK-patch"/>
              </a:rPr>
              <a:t> (vd: LWP 1).</a:t>
            </a:r>
          </a:p>
          <a:p>
            <a:pPr algn="l">
              <a:buFont typeface="Arial" panose="020B0604020202020204" pitchFamily="34" charset="0"/>
              <a:buChar char="•"/>
            </a:pPr>
            <a:r>
              <a:rPr lang="vi-VN" b="1" i="0" dirty="0">
                <a:solidFill>
                  <a:srgbClr val="404040"/>
                </a:solidFill>
                <a:effectLst/>
                <a:latin typeface="DeepSeek-CJK-patch"/>
              </a:rPr>
              <a:t>Lưu ý:</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Không cần kernel can thiệp → switch xảy ra </a:t>
            </a:r>
            <a:r>
              <a:rPr lang="vi-VN" b="1" i="0" dirty="0">
                <a:solidFill>
                  <a:srgbClr val="404040"/>
                </a:solidFill>
                <a:effectLst/>
                <a:latin typeface="DeepSeek-CJK-patch"/>
              </a:rPr>
              <a:t>trong user mode</a:t>
            </a:r>
            <a:r>
              <a:rPr lang="vi-VN" b="0" i="0" dirty="0">
                <a:solidFill>
                  <a:srgbClr val="404040"/>
                </a:solidFill>
                <a:effectLst/>
                <a:latin typeface="DeepSeek-CJK-patch"/>
              </a:rPr>
              <a:t>.</a:t>
            </a:r>
          </a:p>
          <a:p>
            <a:pPr algn="l"/>
            <a:r>
              <a:rPr lang="vi-VN" b="1" i="0" dirty="0">
                <a:solidFill>
                  <a:srgbClr val="404040"/>
                </a:solidFill>
                <a:effectLst/>
                <a:latin typeface="DeepSeek-CJK-patch"/>
              </a:rPr>
              <a:t>d. Khi không còn thread nào để chạy</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Scenario:</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Tất cả user threads đều bị block (vd: chờ I/O).</a:t>
            </a:r>
          </a:p>
          <a:p>
            <a:pPr algn="l">
              <a:buFont typeface="Arial" panose="020B0604020202020204" pitchFamily="34" charset="0"/>
              <a:buChar char="•"/>
            </a:pPr>
            <a:r>
              <a:rPr lang="vi-VN" b="1" i="0" dirty="0">
                <a:solidFill>
                  <a:srgbClr val="404040"/>
                </a:solidFill>
                <a:effectLst/>
                <a:latin typeface="DeepSeek-CJK-patch"/>
              </a:rPr>
              <a:t>Cách xử lý:</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LWP trở thành </a:t>
            </a:r>
            <a:r>
              <a:rPr lang="vi-VN" b="1" i="0" dirty="0">
                <a:solidFill>
                  <a:srgbClr val="404040"/>
                </a:solidFill>
                <a:effectLst/>
                <a:latin typeface="DeepSeek-CJK-patch"/>
              </a:rPr>
              <a:t>idle</a:t>
            </a:r>
            <a:r>
              <a:rPr lang="vi-VN" b="0" i="0" dirty="0">
                <a:solidFill>
                  <a:srgbClr val="404040"/>
                </a:solidFill>
                <a:effectLst/>
                <a:latin typeface="DeepSeek-CJK-patch"/>
              </a:rPr>
              <a:t> (nhàn rỗi).</a:t>
            </a: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Kernel có thể </a:t>
            </a:r>
            <a:r>
              <a:rPr lang="vi-VN" b="1" i="0" dirty="0">
                <a:solidFill>
                  <a:srgbClr val="404040"/>
                </a:solidFill>
                <a:effectLst/>
                <a:latin typeface="DeepSeek-CJK-patch"/>
              </a:rPr>
              <a:t>hủy LWP</a:t>
            </a:r>
            <a:r>
              <a:rPr lang="vi-VN" b="0" i="0" dirty="0">
                <a:solidFill>
                  <a:srgbClr val="404040"/>
                </a:solidFill>
                <a:effectLst/>
                <a:latin typeface="DeepSeek-CJK-patch"/>
              </a:rPr>
              <a:t> để giải phóng tài nguyên.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Tại sao mô hình LWP gần như bị loại bỏ?</a:t>
            </a:r>
            <a:endParaRPr lang="vi-VN" b="0" i="0" dirty="0">
              <a:solidFill>
                <a:srgbClr val="404040"/>
              </a:solidFill>
              <a:effectLst/>
              <a:latin typeface="DeepSeek-CJK-patch"/>
            </a:endParaRPr>
          </a:p>
          <a:p>
            <a:pPr algn="l"/>
            <a:r>
              <a:rPr lang="vi-VN" b="1" i="0" dirty="0">
                <a:solidFill>
                  <a:srgbClr val="404040"/>
                </a:solidFill>
                <a:effectLst/>
                <a:latin typeface="DeepSeek-CJK-patch"/>
              </a:rPr>
              <a:t>Lý do 1: Độ phức tạp quá cao</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Đồng bộ giữa 2 cấp:</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User-space scheduler và kernel scheduler phải phối hợp → dễ gây lỗi race condition.</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Kernel chọn LWP 1, nhưng user-space lại muốn chạy thread không gắn với LWP 1.</a:t>
            </a:r>
          </a:p>
          <a:p>
            <a:pPr algn="l"/>
            <a:r>
              <a:rPr lang="vi-VN" b="1" i="0" dirty="0">
                <a:solidFill>
                  <a:srgbClr val="404040"/>
                </a:solidFill>
                <a:effectLst/>
                <a:latin typeface="DeepSeek-CJK-patch"/>
              </a:rPr>
              <a:t>Lý do 2: Hiệu suất không vượt trội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Chi phí duy trì LWP:</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Tạo/hủy LWP vẫn cần kernel tham gia → tốn tài nguyên.</a:t>
            </a:r>
          </a:p>
          <a:p>
            <a:pPr algn="l">
              <a:buFont typeface="Arial" panose="020B0604020202020204" pitchFamily="34" charset="0"/>
              <a:buChar char="•"/>
            </a:pPr>
            <a:r>
              <a:rPr lang="vi-VN" b="1" i="0" dirty="0">
                <a:solidFill>
                  <a:srgbClr val="404040"/>
                </a:solidFill>
                <a:effectLst/>
                <a:latin typeface="DeepSeek-CJK-patch"/>
              </a:rPr>
              <a:t>Mô hình 1:1 đơn giản hơn:</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Ánh xạ </a:t>
            </a:r>
            <a:r>
              <a:rPr lang="vi-VN" b="1" i="0" dirty="0">
                <a:solidFill>
                  <a:srgbClr val="404040"/>
                </a:solidFill>
                <a:effectLst/>
                <a:latin typeface="DeepSeek-CJK-patch"/>
              </a:rPr>
              <a:t>1 user thread ↔ 1 kernel thread</a:t>
            </a:r>
            <a:r>
              <a:rPr lang="vi-VN" b="0" i="0" dirty="0">
                <a:solidFill>
                  <a:srgbClr val="404040"/>
                </a:solidFill>
                <a:effectLst/>
                <a:latin typeface="DeepSeek-CJK-patch"/>
              </a:rPr>
              <a:t> (như pthread trên Linux) hiệu quả hơn.</a:t>
            </a:r>
          </a:p>
          <a:p>
            <a:pPr algn="l"/>
            <a:r>
              <a:rPr lang="vi-VN" b="1" i="0" dirty="0">
                <a:solidFill>
                  <a:srgbClr val="404040"/>
                </a:solidFill>
                <a:effectLst/>
                <a:latin typeface="DeepSeek-CJK-patch"/>
              </a:rPr>
              <a:t>Lý do 3: Phần cứng hiện đại hỗ trợ tốt kernel threads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CPU đa lõi phổ biến:</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Kernel threads (native threads) có thể chạy song song dễ dàng.</a:t>
            </a:r>
          </a:p>
          <a:p>
            <a:pPr algn="l">
              <a:buFont typeface="Arial" panose="020B0604020202020204" pitchFamily="34" charset="0"/>
              <a:buChar char="•"/>
            </a:pPr>
            <a:r>
              <a:rPr lang="vi-VN" b="1" i="0" dirty="0">
                <a:solidFill>
                  <a:srgbClr val="404040"/>
                </a:solidFill>
                <a:effectLst/>
                <a:latin typeface="DeepSeek-CJK-patch"/>
              </a:rPr>
              <a:t>Tối ưu hóa context switch:</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a:t>
            </a:r>
            <a:r>
              <a:rPr lang="vi-VN" b="0" i="0" dirty="0">
                <a:solidFill>
                  <a:srgbClr val="404040"/>
                </a:solidFill>
                <a:effectLst/>
                <a:latin typeface="DeepSeek-CJK-patch"/>
              </a:rPr>
              <a:t>Các OS hiện đại (Linux, Windows) giảm chi phí kernel thread switching.</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18</a:t>
            </a:fld>
            <a:endParaRPr lang="en-US"/>
          </a:p>
        </p:txBody>
      </p:sp>
    </p:spTree>
    <p:extLst>
      <p:ext uri="{BB962C8B-B14F-4D97-AF65-F5344CB8AC3E}">
        <p14:creationId xmlns:p14="http://schemas.microsoft.com/office/powerpoint/2010/main" val="39349468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Using threads at the client side (Sử dụng luồng ở phía client)</a:t>
            </a:r>
            <a:endParaRPr lang="vi-VN" b="0" i="0" dirty="0">
              <a:solidFill>
                <a:srgbClr val="404040"/>
              </a:solidFill>
              <a:effectLst/>
              <a:latin typeface="DeepSeek-CJK-patch"/>
            </a:endParaRPr>
          </a:p>
          <a:p>
            <a:pPr algn="l"/>
            <a:r>
              <a:rPr lang="en-US" b="0" i="0" dirty="0" err="1">
                <a:solidFill>
                  <a:srgbClr val="404040"/>
                </a:solidFill>
                <a:effectLst/>
                <a:latin typeface="DeepSeek-CJK-patch"/>
              </a:rPr>
              <a:t>Thảo</a:t>
            </a:r>
            <a:r>
              <a:rPr lang="en-US" b="0" i="0" dirty="0">
                <a:solidFill>
                  <a:srgbClr val="404040"/>
                </a:solidFill>
                <a:effectLst/>
                <a:latin typeface="DeepSeek-CJK-patch"/>
              </a:rPr>
              <a:t> </a:t>
            </a:r>
            <a:r>
              <a:rPr lang="en-US" b="0" i="0" dirty="0" err="1">
                <a:solidFill>
                  <a:srgbClr val="404040"/>
                </a:solidFill>
                <a:effectLst/>
                <a:latin typeface="DeepSeek-CJK-patch"/>
              </a:rPr>
              <a:t>luận</a:t>
            </a:r>
            <a:r>
              <a:rPr lang="en-US" b="0" i="0" dirty="0">
                <a:solidFill>
                  <a:srgbClr val="404040"/>
                </a:solidFill>
                <a:effectLst/>
                <a:latin typeface="DeepSeek-CJK-patch"/>
              </a:rPr>
              <a:t> </a:t>
            </a:r>
            <a:r>
              <a:rPr lang="vi-VN" b="0" i="0" dirty="0">
                <a:solidFill>
                  <a:srgbClr val="404040"/>
                </a:solidFill>
                <a:effectLst/>
                <a:latin typeface="DeepSeek-CJK-patch"/>
              </a:rPr>
              <a:t>hai tình huống chính sử dụng đa luồng để cải thiện hiệu suất phía client:</a:t>
            </a:r>
          </a:p>
          <a:p>
            <a:pPr algn="l">
              <a:buFont typeface="+mj-lt"/>
              <a:buAutoNum type="arabicPeriod"/>
            </a:pPr>
            <a:r>
              <a:rPr lang="vi-VN" b="1" i="0" dirty="0">
                <a:solidFill>
                  <a:srgbClr val="404040"/>
                </a:solidFill>
                <a:effectLst/>
                <a:latin typeface="DeepSeek-CJK-patch"/>
              </a:rPr>
              <a:t>Multithreaded web client</a:t>
            </a:r>
            <a:r>
              <a:rPr lang="vi-VN" b="0" i="0" dirty="0">
                <a:solidFill>
                  <a:srgbClr val="404040"/>
                </a:solidFill>
                <a:effectLst/>
                <a:latin typeface="DeepSeek-CJK-patch"/>
              </a:rPr>
              <a:t> (Trình duyệt web đa luồng).</a:t>
            </a:r>
          </a:p>
          <a:p>
            <a:pPr algn="l">
              <a:buFont typeface="+mj-lt"/>
              <a:buAutoNum type="arabicPeriod"/>
            </a:pPr>
            <a:r>
              <a:rPr lang="vi-VN" b="1" i="0" dirty="0">
                <a:solidFill>
                  <a:srgbClr val="404040"/>
                </a:solidFill>
                <a:effectLst/>
                <a:latin typeface="DeepSeek-CJK-patch"/>
              </a:rPr>
              <a:t>Multiple RPC calls</a:t>
            </a:r>
            <a:r>
              <a:rPr lang="vi-VN" b="0" i="0" dirty="0">
                <a:solidFill>
                  <a:srgbClr val="404040"/>
                </a:solidFill>
                <a:effectLst/>
                <a:latin typeface="DeepSeek-CJK-patch"/>
              </a:rPr>
              <a:t> (Gọi nhiều remote procedure calls song song).</a:t>
            </a:r>
            <a:endParaRPr lang="en-US" b="0" i="0" dirty="0">
              <a:solidFill>
                <a:srgbClr val="404040"/>
              </a:solidFill>
              <a:effectLst/>
              <a:latin typeface="DeepSeek-CJK-patch"/>
            </a:endParaRPr>
          </a:p>
          <a:p>
            <a:pPr algn="l">
              <a:buFont typeface="+mj-lt"/>
              <a:buNone/>
            </a:pPr>
            <a:r>
              <a:rPr lang="en-US" b="0" i="0" dirty="0">
                <a:solidFill>
                  <a:srgbClr val="404040"/>
                </a:solidFill>
                <a:effectLst/>
                <a:latin typeface="DeepSeek-CJK-patch"/>
              </a:rPr>
              <a:t>-----------------------------------------------------------------------------------------------------------------------------------------</a:t>
            </a:r>
            <a:endParaRPr lang="vi-VN" b="0" i="0" dirty="0">
              <a:solidFill>
                <a:srgbClr val="404040"/>
              </a:solidFill>
              <a:effectLst/>
              <a:latin typeface="DeepSeek-CJK-patch"/>
            </a:endParaRPr>
          </a:p>
          <a:p>
            <a:pPr algn="l"/>
            <a:r>
              <a:rPr lang="vi-VN" b="1" i="0" dirty="0">
                <a:solidFill>
                  <a:srgbClr val="404040"/>
                </a:solidFill>
                <a:effectLst/>
                <a:latin typeface="DeepSeek-CJK-patch"/>
              </a:rPr>
              <a:t>1. Multithreaded Web Client – Ẩn độ trễ mạng</a:t>
            </a:r>
            <a:endParaRPr lang="vi-VN" b="0" i="0" dirty="0">
              <a:solidFill>
                <a:srgbClr val="404040"/>
              </a:solidFill>
              <a:effectLst/>
              <a:latin typeface="DeepSeek-CJK-patch"/>
            </a:endParaRPr>
          </a:p>
          <a:p>
            <a:pPr algn="l"/>
            <a:r>
              <a:rPr lang="vi-VN" b="1" i="0" dirty="0">
                <a:solidFill>
                  <a:srgbClr val="404040"/>
                </a:solidFill>
                <a:effectLst/>
                <a:latin typeface="DeepSeek-CJK-patch"/>
              </a:rPr>
              <a:t>Bài toán:</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Khi trình duyệt tải một trang HTML, nó phải tải thêm nhiều file (ảnh, CSS, JS...) từ các URL khác nhau.</a:t>
            </a:r>
          </a:p>
          <a:p>
            <a:pPr algn="l">
              <a:buFont typeface="Arial" panose="020B0604020202020204" pitchFamily="34" charset="0"/>
              <a:buChar char="•"/>
            </a:pPr>
            <a:r>
              <a:rPr lang="vi-VN" b="0" i="0" dirty="0">
                <a:solidFill>
                  <a:srgbClr val="404040"/>
                </a:solidFill>
                <a:effectLst/>
                <a:latin typeface="DeepSeek-CJK-patch"/>
              </a:rPr>
              <a:t>Nếu dùng </a:t>
            </a:r>
            <a:r>
              <a:rPr lang="vi-VN" b="1" i="0" dirty="0">
                <a:solidFill>
                  <a:srgbClr val="404040"/>
                </a:solidFill>
                <a:effectLst/>
                <a:latin typeface="DeepSeek-CJK-patch"/>
              </a:rPr>
              <a:t>single-thread</a:t>
            </a:r>
            <a:r>
              <a:rPr lang="vi-VN" b="0" i="0" dirty="0">
                <a:solidFill>
                  <a:srgbClr val="404040"/>
                </a:solidFill>
                <a:effectLst/>
                <a:latin typeface="DeepSeek-CJK-patch"/>
              </a:rPr>
              <a:t>, trình duyệt phải tải tuần tự → tốn thời gian chờ đợi.</a:t>
            </a:r>
          </a:p>
          <a:p>
            <a:pPr algn="l"/>
            <a:r>
              <a:rPr lang="vi-VN" b="1" i="0" dirty="0">
                <a:solidFill>
                  <a:srgbClr val="404040"/>
                </a:solidFill>
                <a:effectLst/>
                <a:latin typeface="DeepSeek-CJK-patch"/>
              </a:rPr>
              <a:t>Giải pháp đa luồng: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Mỗi file được tải bằng một thread riêng</a:t>
            </a:r>
            <a:r>
              <a:rPr lang="vi-VN" b="0" i="0" dirty="0">
                <a:solidFill>
                  <a:srgbClr val="404040"/>
                </a:solidFill>
                <a:effectLst/>
                <a:latin typeface="DeepSeek-CJK-patch"/>
              </a:rPr>
              <a:t> (blocking HTTP request).</a:t>
            </a:r>
          </a:p>
          <a:p>
            <a:pPr algn="l">
              <a:buFont typeface="Arial" panose="020B0604020202020204" pitchFamily="34" charset="0"/>
              <a:buChar char="•"/>
            </a:pPr>
            <a:r>
              <a:rPr lang="vi-VN" b="1" i="0" dirty="0">
                <a:solidFill>
                  <a:srgbClr val="404040"/>
                </a:solidFill>
                <a:effectLst/>
                <a:latin typeface="DeepSeek-CJK-patch"/>
              </a:rPr>
              <a:t>Quy trình:</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Thread chính</a:t>
            </a:r>
            <a:r>
              <a:rPr lang="vi-VN" b="0" i="0" dirty="0">
                <a:solidFill>
                  <a:srgbClr val="404040"/>
                </a:solidFill>
                <a:effectLst/>
                <a:latin typeface="DeepSeek-CJK-patch"/>
              </a:rPr>
              <a:t> (UI thread) phân tích HTML, phát hiện các file cần tải.</a:t>
            </a:r>
          </a:p>
          <a:p>
            <a:pPr marL="742950" lvl="1" indent="-285750" algn="l">
              <a:buFont typeface="Arial" panose="020B0604020202020204" pitchFamily="34" charset="0"/>
              <a:buChar char="•"/>
            </a:pPr>
            <a:r>
              <a:rPr lang="vi-VN" b="1" i="0" dirty="0">
                <a:solidFill>
                  <a:srgbClr val="404040"/>
                </a:solidFill>
                <a:effectLst/>
                <a:latin typeface="DeepSeek-CJK-patch"/>
              </a:rPr>
              <a:t>Tạo các worker threads</a:t>
            </a:r>
            <a:r>
              <a:rPr lang="vi-VN" b="0" i="0" dirty="0">
                <a:solidFill>
                  <a:srgbClr val="404040"/>
                </a:solidFill>
                <a:effectLst/>
                <a:latin typeface="DeepSeek-CJK-patch"/>
              </a:rPr>
              <a:t>, mỗi thread đảm nhận tải một file.</a:t>
            </a:r>
          </a:p>
          <a:p>
            <a:pPr marL="742950" lvl="1" indent="-285750" algn="l">
              <a:buFont typeface="Arial" panose="020B0604020202020204" pitchFamily="34" charset="0"/>
              <a:buChar char="•"/>
            </a:pPr>
            <a:r>
              <a:rPr lang="vi-VN" b="0" i="0" dirty="0">
                <a:solidFill>
                  <a:srgbClr val="404040"/>
                </a:solidFill>
                <a:effectLst/>
                <a:latin typeface="DeepSeek-CJK-patch"/>
              </a:rPr>
              <a:t>Khi file nào tải xong, trình duyệt hiển thị ngay (</a:t>
            </a:r>
            <a:r>
              <a:rPr lang="vi-VN" b="1" i="0" dirty="0">
                <a:solidFill>
                  <a:srgbClr val="404040"/>
                </a:solidFill>
                <a:effectLst/>
                <a:latin typeface="DeepSeek-CJK-patch"/>
              </a:rPr>
              <a:t>không đợi tất cả hoàn thành</a:t>
            </a:r>
            <a:r>
              <a:rPr lang="vi-VN" b="0" i="0" dirty="0">
                <a:solidFill>
                  <a:srgbClr val="404040"/>
                </a:solidFill>
                <a:effectLst/>
                <a:latin typeface="DeepSeek-CJK-patch"/>
              </a:rPr>
              <a:t>).</a:t>
            </a:r>
            <a:endParaRPr lang="en-US" b="0" i="0" dirty="0">
              <a:solidFill>
                <a:srgbClr val="404040"/>
              </a:solidFill>
              <a:effectLst/>
              <a:latin typeface="DeepSeek-CJK-patch"/>
            </a:endParaRPr>
          </a:p>
          <a:p>
            <a:pPr algn="l"/>
            <a:r>
              <a:rPr lang="vi-VN" b="0" i="0" dirty="0">
                <a:solidFill>
                  <a:srgbClr val="404040"/>
                </a:solidFill>
                <a:effectLst/>
                <a:latin typeface="DeepSeek-CJK-patch"/>
              </a:rPr>
              <a:t>→ </a:t>
            </a:r>
            <a:r>
              <a:rPr lang="vi-VN" b="1" i="0" dirty="0">
                <a:solidFill>
                  <a:srgbClr val="404040"/>
                </a:solidFill>
                <a:effectLst/>
                <a:latin typeface="DeepSeek-CJK-patch"/>
              </a:rPr>
              <a:t>Lợi ích:</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Tận dụng được thời gian chờ I/O (network latency) để tải song song.</a:t>
            </a:r>
          </a:p>
          <a:p>
            <a:pPr algn="l">
              <a:buFont typeface="Arial" panose="020B0604020202020204" pitchFamily="34" charset="0"/>
              <a:buChar char="•"/>
            </a:pPr>
            <a:r>
              <a:rPr lang="vi-VN" b="0" i="0" dirty="0">
                <a:solidFill>
                  <a:srgbClr val="404040"/>
                </a:solidFill>
                <a:effectLst/>
                <a:latin typeface="DeepSeek-CJK-patch"/>
              </a:rPr>
              <a:t>UI không bị đơ vì các thread network chạy độc lập với thread hiển thị.</a:t>
            </a:r>
            <a:endParaRPr lang="en-US" b="0" i="0" dirty="0">
              <a:solidFill>
                <a:srgbClr val="404040"/>
              </a:solidFill>
              <a:effectLst/>
              <a:latin typeface="DeepSeek-CJK-patch"/>
            </a:endParaRPr>
          </a:p>
          <a:p>
            <a:pPr marL="457200" lvl="1" indent="0" algn="l">
              <a:buFont typeface="Arial" panose="020B0604020202020204" pitchFamily="34" charset="0"/>
              <a:buNone/>
            </a:pPr>
            <a:endParaRPr lang="vi-VN" b="0" i="0" dirty="0">
              <a:solidFill>
                <a:srgbClr val="404040"/>
              </a:solidFill>
              <a:effectLst/>
              <a:latin typeface="DeepSeek-CJK-patch"/>
            </a:endParaRPr>
          </a:p>
          <a:p>
            <a:r>
              <a:rPr lang="en-US" i="1" dirty="0" err="1"/>
              <a:t>Ví</a:t>
            </a:r>
            <a:r>
              <a:rPr lang="en-US" i="1" dirty="0"/>
              <a:t> </a:t>
            </a:r>
            <a:r>
              <a:rPr lang="en-US" i="1" dirty="0" err="1"/>
              <a:t>dụ</a:t>
            </a:r>
            <a:r>
              <a:rPr lang="en-US" i="1" dirty="0"/>
              <a:t> Python code:</a:t>
            </a:r>
          </a:p>
          <a:p>
            <a:r>
              <a:rPr lang="en-US" i="1" dirty="0"/>
              <a:t>--------------------------------------------------------------------------------------------------------------------------------------------</a:t>
            </a:r>
          </a:p>
          <a:p>
            <a:r>
              <a:rPr lang="en-US" i="1" dirty="0"/>
              <a:t># </a:t>
            </a:r>
            <a:r>
              <a:rPr lang="en-US" i="1" dirty="0" err="1"/>
              <a:t>Giả</a:t>
            </a:r>
            <a:r>
              <a:rPr lang="en-US" i="1" dirty="0"/>
              <a:t> </a:t>
            </a:r>
            <a:r>
              <a:rPr lang="en-US" i="1" dirty="0" err="1"/>
              <a:t>lập</a:t>
            </a:r>
            <a:r>
              <a:rPr lang="en-US" i="1" dirty="0"/>
              <a:t> </a:t>
            </a:r>
            <a:r>
              <a:rPr lang="en-US" i="1" dirty="0" err="1"/>
              <a:t>trình</a:t>
            </a:r>
            <a:r>
              <a:rPr lang="en-US" i="1" dirty="0"/>
              <a:t> </a:t>
            </a:r>
            <a:r>
              <a:rPr lang="en-US" i="1" dirty="0" err="1"/>
              <a:t>duyệt</a:t>
            </a:r>
            <a:r>
              <a:rPr lang="en-US" i="1" dirty="0"/>
              <a:t> </a:t>
            </a:r>
            <a:r>
              <a:rPr lang="en-US" i="1" dirty="0" err="1"/>
              <a:t>đa</a:t>
            </a:r>
            <a:r>
              <a:rPr lang="en-US" i="1" dirty="0"/>
              <a:t> </a:t>
            </a:r>
            <a:r>
              <a:rPr lang="en-US" i="1" dirty="0" err="1"/>
              <a:t>luồng</a:t>
            </a:r>
            <a:r>
              <a:rPr lang="en-US" i="1" dirty="0"/>
              <a:t>  </a:t>
            </a:r>
          </a:p>
          <a:p>
            <a:r>
              <a:rPr lang="en-US" i="1" dirty="0"/>
              <a:t>def </a:t>
            </a:r>
            <a:r>
              <a:rPr lang="en-US" i="1" dirty="0" err="1"/>
              <a:t>fetch_url</a:t>
            </a:r>
            <a:r>
              <a:rPr lang="en-US" i="1" dirty="0"/>
              <a:t>(</a:t>
            </a:r>
            <a:r>
              <a:rPr lang="en-US" i="1" dirty="0" err="1"/>
              <a:t>url</a:t>
            </a:r>
            <a:r>
              <a:rPr lang="en-US" i="1" dirty="0"/>
              <a:t>):  </a:t>
            </a:r>
          </a:p>
          <a:p>
            <a:r>
              <a:rPr lang="en-US" i="1" dirty="0"/>
              <a:t>    response = </a:t>
            </a:r>
            <a:r>
              <a:rPr lang="en-US" i="1" dirty="0" err="1"/>
              <a:t>blocking_http_get</a:t>
            </a:r>
            <a:r>
              <a:rPr lang="en-US" i="1" dirty="0"/>
              <a:t>(</a:t>
            </a:r>
            <a:r>
              <a:rPr lang="en-US" i="1" dirty="0" err="1"/>
              <a:t>url</a:t>
            </a:r>
            <a:r>
              <a:rPr lang="en-US" i="1" dirty="0"/>
              <a:t>)  # </a:t>
            </a:r>
            <a:r>
              <a:rPr lang="en-US" i="1" dirty="0" err="1"/>
              <a:t>Mỗi</a:t>
            </a:r>
            <a:r>
              <a:rPr lang="en-US" i="1" dirty="0"/>
              <a:t> thread block </a:t>
            </a:r>
            <a:r>
              <a:rPr lang="en-US" i="1" dirty="0" err="1"/>
              <a:t>tại</a:t>
            </a:r>
            <a:r>
              <a:rPr lang="en-US" i="1" dirty="0"/>
              <a:t> </a:t>
            </a:r>
            <a:r>
              <a:rPr lang="en-US" i="1" dirty="0" err="1"/>
              <a:t>đây</a:t>
            </a:r>
            <a:r>
              <a:rPr lang="en-US" i="1" dirty="0"/>
              <a:t>  </a:t>
            </a:r>
          </a:p>
          <a:p>
            <a:r>
              <a:rPr lang="en-US" i="1" dirty="0"/>
              <a:t>    </a:t>
            </a:r>
            <a:r>
              <a:rPr lang="en-US" i="1" dirty="0" err="1"/>
              <a:t>display_content</a:t>
            </a:r>
            <a:r>
              <a:rPr lang="en-US" i="1" dirty="0"/>
              <a:t>(response)  </a:t>
            </a:r>
          </a:p>
          <a:p>
            <a:endParaRPr lang="en-US" i="1" dirty="0"/>
          </a:p>
          <a:p>
            <a:r>
              <a:rPr lang="en-US" i="1" dirty="0" err="1"/>
              <a:t>urls</a:t>
            </a:r>
            <a:r>
              <a:rPr lang="en-US" i="1" dirty="0"/>
              <a:t> = ["image1.jpg", "style.css", "script.js"]  </a:t>
            </a:r>
          </a:p>
          <a:p>
            <a:r>
              <a:rPr lang="en-US" i="1" dirty="0"/>
              <a:t>for </a:t>
            </a:r>
            <a:r>
              <a:rPr lang="en-US" i="1" dirty="0" err="1"/>
              <a:t>url</a:t>
            </a:r>
            <a:r>
              <a:rPr lang="en-US" i="1" dirty="0"/>
              <a:t> in </a:t>
            </a:r>
            <a:r>
              <a:rPr lang="en-US" i="1" dirty="0" err="1"/>
              <a:t>urls</a:t>
            </a:r>
            <a:r>
              <a:rPr lang="en-US" i="1" dirty="0"/>
              <a:t>:  </a:t>
            </a:r>
          </a:p>
          <a:p>
            <a:r>
              <a:rPr lang="en-US" i="1" dirty="0"/>
              <a:t>    Thread(target=</a:t>
            </a:r>
            <a:r>
              <a:rPr lang="en-US" i="1" dirty="0" err="1"/>
              <a:t>fetch_url</a:t>
            </a:r>
            <a:r>
              <a:rPr lang="en-US" i="1" dirty="0"/>
              <a:t>, </a:t>
            </a:r>
            <a:r>
              <a:rPr lang="en-US" i="1" dirty="0" err="1"/>
              <a:t>args</a:t>
            </a:r>
            <a:r>
              <a:rPr lang="en-US" i="1" dirty="0"/>
              <a:t>=(</a:t>
            </a:r>
            <a:r>
              <a:rPr lang="en-US" i="1" dirty="0" err="1"/>
              <a:t>url</a:t>
            </a:r>
            <a:r>
              <a:rPr lang="en-US" i="1" dirty="0"/>
              <a:t>,)).start()  # </a:t>
            </a:r>
            <a:r>
              <a:rPr lang="en-US" i="1" dirty="0" err="1"/>
              <a:t>Mỗi</a:t>
            </a:r>
            <a:r>
              <a:rPr lang="en-US" i="1" dirty="0"/>
              <a:t> URL </a:t>
            </a:r>
            <a:r>
              <a:rPr lang="en-US" i="1" dirty="0" err="1"/>
              <a:t>một</a:t>
            </a:r>
            <a:r>
              <a:rPr lang="en-US" i="1" dirty="0"/>
              <a:t> thread </a:t>
            </a:r>
          </a:p>
          <a:p>
            <a:r>
              <a:rPr lang="en-US" i="1" dirty="0"/>
              <a:t>---------------------------------------------------------------------------------------------------------------------------------------------</a:t>
            </a:r>
          </a:p>
          <a:p>
            <a:endParaRPr lang="en-US" i="1" dirty="0"/>
          </a:p>
          <a:p>
            <a:pPr algn="l"/>
            <a:r>
              <a:rPr lang="vi-VN" b="1" i="0" dirty="0">
                <a:solidFill>
                  <a:srgbClr val="404040"/>
                </a:solidFill>
                <a:effectLst/>
                <a:latin typeface="DeepSeek-CJK-patch"/>
              </a:rPr>
              <a:t>2. Multiple RPC Calls – Tăng tốc gọi remote service</a:t>
            </a:r>
            <a:endParaRPr lang="vi-VN" b="0" i="0" dirty="0">
              <a:solidFill>
                <a:srgbClr val="404040"/>
              </a:solidFill>
              <a:effectLst/>
              <a:latin typeface="DeepSeek-CJK-patch"/>
            </a:endParaRPr>
          </a:p>
          <a:p>
            <a:pPr algn="l"/>
            <a:r>
              <a:rPr lang="vi-VN" b="1" i="0" dirty="0">
                <a:solidFill>
                  <a:srgbClr val="404040"/>
                </a:solidFill>
                <a:effectLst/>
                <a:latin typeface="DeepSeek-CJK-patch"/>
              </a:rPr>
              <a:t>Bài toán:</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Client cần gọi nhiều RPC đến các máy chủ khác nhau (vd: lấy dữ liệu từ nhiều microservices).</a:t>
            </a:r>
          </a:p>
          <a:p>
            <a:pPr algn="l">
              <a:buFont typeface="Arial" panose="020B0604020202020204" pitchFamily="34" charset="0"/>
              <a:buChar char="•"/>
            </a:pPr>
            <a:r>
              <a:rPr lang="vi-VN" b="0" i="0" dirty="0">
                <a:solidFill>
                  <a:srgbClr val="404040"/>
                </a:solidFill>
                <a:effectLst/>
                <a:latin typeface="DeepSeek-CJK-patch"/>
              </a:rPr>
              <a:t>Nếu gọi tuần tự, tổng thời gian = tổng thời gian từng lần gọi.</a:t>
            </a:r>
          </a:p>
          <a:p>
            <a:pPr algn="l"/>
            <a:r>
              <a:rPr lang="vi-VN" b="1" i="0" dirty="0">
                <a:solidFill>
                  <a:srgbClr val="404040"/>
                </a:solidFill>
                <a:effectLst/>
                <a:latin typeface="DeepSeek-CJK-patch"/>
              </a:rPr>
              <a:t>Giải pháp đa luồng: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Mỗi RPC được gán cho một thread riêng</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Client chờ </a:t>
            </a:r>
            <a:r>
              <a:rPr lang="vi-VN" b="1" i="0" dirty="0">
                <a:solidFill>
                  <a:srgbClr val="404040"/>
                </a:solidFill>
                <a:effectLst/>
                <a:latin typeface="DeepSeek-CJK-patch"/>
              </a:rPr>
              <a:t>tất cả threads hoàn thành</a:t>
            </a:r>
            <a:r>
              <a:rPr lang="vi-VN" b="0" i="0" dirty="0">
                <a:solidFill>
                  <a:srgbClr val="404040"/>
                </a:solidFill>
                <a:effectLst/>
                <a:latin typeface="DeepSeek-CJK-patch"/>
              </a:rPr>
              <a:t> (dùng Thread.join() hoặc đồng bộ hóa).</a:t>
            </a:r>
          </a:p>
          <a:p>
            <a:pPr algn="l">
              <a:buFont typeface="Arial" panose="020B0604020202020204" pitchFamily="34" charset="0"/>
              <a:buChar char="•"/>
            </a:pPr>
            <a:r>
              <a:rPr lang="vi-VN" b="1" i="0" dirty="0">
                <a:solidFill>
                  <a:srgbClr val="404040"/>
                </a:solidFill>
                <a:effectLst/>
                <a:latin typeface="DeepSeek-CJK-patch"/>
              </a:rPr>
              <a:t>Lưu ý:</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Nếu các RPC gọi đến </a:t>
            </a:r>
            <a:r>
              <a:rPr lang="vi-VN" b="1" i="0" dirty="0">
                <a:solidFill>
                  <a:srgbClr val="404040"/>
                </a:solidFill>
                <a:effectLst/>
                <a:latin typeface="DeepSeek-CJK-patch"/>
              </a:rPr>
              <a:t>khác máy chủ</a:t>
            </a:r>
            <a:r>
              <a:rPr lang="vi-VN" b="0" i="0" dirty="0">
                <a:solidFill>
                  <a:srgbClr val="404040"/>
                </a:solidFill>
                <a:effectLst/>
                <a:latin typeface="DeepSeek-CJK-patch"/>
              </a:rPr>
              <a:t>, tốc độ tăng gần như </a:t>
            </a:r>
            <a:r>
              <a:rPr lang="vi-VN" b="1" i="0" dirty="0">
                <a:solidFill>
                  <a:srgbClr val="404040"/>
                </a:solidFill>
                <a:effectLst/>
                <a:latin typeface="DeepSeek-CJK-patch"/>
              </a:rPr>
              <a:t>tuyến tính</a:t>
            </a:r>
            <a:r>
              <a:rPr lang="vi-VN" b="0" i="0" dirty="0">
                <a:solidFill>
                  <a:srgbClr val="404040"/>
                </a:solidFill>
                <a:effectLst/>
                <a:latin typeface="DeepSeek-CJK-patch"/>
              </a:rPr>
              <a:t> (linear speed-up).</a:t>
            </a:r>
          </a:p>
          <a:p>
            <a:pPr marL="742950" lvl="1" indent="-285750" algn="l">
              <a:buFont typeface="Arial" panose="020B0604020202020204" pitchFamily="34" charset="0"/>
              <a:buChar char="•"/>
            </a:pPr>
            <a:r>
              <a:rPr lang="vi-VN" b="0" i="0" dirty="0">
                <a:solidFill>
                  <a:srgbClr val="404040"/>
                </a:solidFill>
                <a:effectLst/>
                <a:latin typeface="DeepSeek-CJK-patch"/>
              </a:rPr>
              <a:t>Nếu gọi cùng máy chủ, có thể bị giới hạn bởi tài nguyên server.</a:t>
            </a:r>
          </a:p>
          <a:p>
            <a:pPr algn="l"/>
            <a:r>
              <a:rPr lang="en-US" b="0" i="0" dirty="0">
                <a:solidFill>
                  <a:srgbClr val="404040"/>
                </a:solidFill>
                <a:effectLst/>
                <a:latin typeface="DeepSeek-CJK-patch"/>
              </a:rPr>
              <a:t>→ </a:t>
            </a:r>
            <a:r>
              <a:rPr lang="en-US" b="1" i="0" dirty="0" err="1">
                <a:solidFill>
                  <a:srgbClr val="404040"/>
                </a:solidFill>
                <a:effectLst/>
                <a:latin typeface="DeepSeek-CJK-patch"/>
              </a:rPr>
              <a:t>Lợi</a:t>
            </a:r>
            <a:r>
              <a:rPr lang="en-US" b="1" i="0" dirty="0">
                <a:solidFill>
                  <a:srgbClr val="404040"/>
                </a:solidFill>
                <a:effectLst/>
                <a:latin typeface="DeepSeek-CJK-patch"/>
              </a:rPr>
              <a:t> </a:t>
            </a:r>
            <a:r>
              <a:rPr lang="en-US" b="1" i="0" dirty="0" err="1">
                <a:solidFill>
                  <a:srgbClr val="404040"/>
                </a:solidFill>
                <a:effectLst/>
                <a:latin typeface="DeepSeek-CJK-patch"/>
              </a:rPr>
              <a:t>ích</a:t>
            </a:r>
            <a:r>
              <a:rPr lang="en-US" b="1" i="0" dirty="0">
                <a:solidFill>
                  <a:srgbClr val="404040"/>
                </a:solidFill>
                <a:effectLst/>
                <a:latin typeface="DeepSeek-CJK-patch"/>
              </a:rPr>
              <a:t>:</a:t>
            </a:r>
            <a:endParaRPr lang="en-US" b="0" i="0" dirty="0">
              <a:solidFill>
                <a:srgbClr val="404040"/>
              </a:solidFill>
              <a:effectLst/>
              <a:latin typeface="DeepSeek-CJK-patch"/>
            </a:endParaRPr>
          </a:p>
          <a:p>
            <a:pPr algn="l">
              <a:buFont typeface="Arial" panose="020B0604020202020204" pitchFamily="34" charset="0"/>
              <a:buChar char="•"/>
            </a:pPr>
            <a:r>
              <a:rPr lang="en-US" b="0" i="0" dirty="0" err="1">
                <a:solidFill>
                  <a:srgbClr val="404040"/>
                </a:solidFill>
                <a:effectLst/>
                <a:latin typeface="DeepSeek-CJK-patch"/>
              </a:rPr>
              <a:t>Giảm</a:t>
            </a:r>
            <a:r>
              <a:rPr lang="en-US" b="0" i="0" dirty="0">
                <a:solidFill>
                  <a:srgbClr val="404040"/>
                </a:solidFill>
                <a:effectLst/>
                <a:latin typeface="DeepSeek-CJK-patch"/>
              </a:rPr>
              <a:t> </a:t>
            </a:r>
            <a:r>
              <a:rPr lang="en-US" b="0" i="0" dirty="0" err="1">
                <a:solidFill>
                  <a:srgbClr val="404040"/>
                </a:solidFill>
                <a:effectLst/>
                <a:latin typeface="DeepSeek-CJK-patch"/>
              </a:rPr>
              <a:t>thời</a:t>
            </a:r>
            <a:r>
              <a:rPr lang="en-US" b="0" i="0" dirty="0">
                <a:solidFill>
                  <a:srgbClr val="404040"/>
                </a:solidFill>
                <a:effectLst/>
                <a:latin typeface="DeepSeek-CJK-patch"/>
              </a:rPr>
              <a:t> </a:t>
            </a:r>
            <a:r>
              <a:rPr lang="en-US" b="0" i="0" dirty="0" err="1">
                <a:solidFill>
                  <a:srgbClr val="404040"/>
                </a:solidFill>
                <a:effectLst/>
                <a:latin typeface="DeepSeek-CJK-patch"/>
              </a:rPr>
              <a:t>gian</a:t>
            </a:r>
            <a:r>
              <a:rPr lang="en-US" b="0" i="0" dirty="0">
                <a:solidFill>
                  <a:srgbClr val="404040"/>
                </a:solidFill>
                <a:effectLst/>
                <a:latin typeface="DeepSeek-CJK-patch"/>
              </a:rPr>
              <a:t> </a:t>
            </a:r>
            <a:r>
              <a:rPr lang="en-US" b="0" i="0" dirty="0" err="1">
                <a:solidFill>
                  <a:srgbClr val="404040"/>
                </a:solidFill>
                <a:effectLst/>
                <a:latin typeface="DeepSeek-CJK-patch"/>
              </a:rPr>
              <a:t>tổng</a:t>
            </a:r>
            <a:r>
              <a:rPr lang="en-US" b="0" i="0" dirty="0">
                <a:solidFill>
                  <a:srgbClr val="404040"/>
                </a:solidFill>
                <a:effectLst/>
                <a:latin typeface="DeepSeek-CJK-patch"/>
              </a:rPr>
              <a:t> </a:t>
            </a:r>
            <a:r>
              <a:rPr lang="en-US" b="0" i="0" dirty="0" err="1">
                <a:solidFill>
                  <a:srgbClr val="404040"/>
                </a:solidFill>
                <a:effectLst/>
                <a:latin typeface="DeepSeek-CJK-patch"/>
              </a:rPr>
              <a:t>từ</a:t>
            </a:r>
            <a:r>
              <a:rPr lang="en-US" b="0" i="0" dirty="0">
                <a:solidFill>
                  <a:srgbClr val="404040"/>
                </a:solidFill>
                <a:effectLst/>
                <a:latin typeface="DeepSeek-CJK-patch"/>
              </a:rPr>
              <a:t> O(n) (</a:t>
            </a:r>
            <a:r>
              <a:rPr lang="en-US" b="0" i="0" dirty="0" err="1">
                <a:solidFill>
                  <a:srgbClr val="404040"/>
                </a:solidFill>
                <a:effectLst/>
                <a:latin typeface="DeepSeek-CJK-patch"/>
              </a:rPr>
              <a:t>tuần</a:t>
            </a:r>
            <a:r>
              <a:rPr lang="en-US" b="0" i="0" dirty="0">
                <a:solidFill>
                  <a:srgbClr val="404040"/>
                </a:solidFill>
                <a:effectLst/>
                <a:latin typeface="DeepSeek-CJK-patch"/>
              </a:rPr>
              <a:t> </a:t>
            </a:r>
            <a:r>
              <a:rPr lang="en-US" b="0" i="0" dirty="0" err="1">
                <a:solidFill>
                  <a:srgbClr val="404040"/>
                </a:solidFill>
                <a:effectLst/>
                <a:latin typeface="DeepSeek-CJK-patch"/>
              </a:rPr>
              <a:t>tự</a:t>
            </a:r>
            <a:r>
              <a:rPr lang="en-US" b="0" i="0" dirty="0">
                <a:solidFill>
                  <a:srgbClr val="404040"/>
                </a:solidFill>
                <a:effectLst/>
                <a:latin typeface="DeepSeek-CJK-patch"/>
              </a:rPr>
              <a:t>) </a:t>
            </a:r>
            <a:r>
              <a:rPr lang="en-US" b="0" i="0" dirty="0" err="1">
                <a:solidFill>
                  <a:srgbClr val="404040"/>
                </a:solidFill>
                <a:effectLst/>
                <a:latin typeface="DeepSeek-CJK-patch"/>
              </a:rPr>
              <a:t>xuống</a:t>
            </a:r>
            <a:r>
              <a:rPr lang="en-US" b="0" i="0" dirty="0">
                <a:solidFill>
                  <a:srgbClr val="404040"/>
                </a:solidFill>
                <a:effectLst/>
                <a:latin typeface="DeepSeek-CJK-patch"/>
              </a:rPr>
              <a:t> O(1) (song song) </a:t>
            </a:r>
            <a:r>
              <a:rPr lang="en-US" b="0" i="0" dirty="0" err="1">
                <a:solidFill>
                  <a:srgbClr val="404040"/>
                </a:solidFill>
                <a:effectLst/>
                <a:latin typeface="DeepSeek-CJK-patch"/>
              </a:rPr>
              <a:t>nếu</a:t>
            </a:r>
            <a:r>
              <a:rPr lang="en-US" b="0" i="0" dirty="0">
                <a:solidFill>
                  <a:srgbClr val="404040"/>
                </a:solidFill>
                <a:effectLst/>
                <a:latin typeface="DeepSeek-CJK-patch"/>
              </a:rPr>
              <a:t> </a:t>
            </a:r>
            <a:r>
              <a:rPr lang="en-US" b="0" i="0" dirty="0" err="1">
                <a:solidFill>
                  <a:srgbClr val="404040"/>
                </a:solidFill>
                <a:effectLst/>
                <a:latin typeface="DeepSeek-CJK-patch"/>
              </a:rPr>
              <a:t>các</a:t>
            </a:r>
            <a:r>
              <a:rPr lang="en-US" b="0" i="0" dirty="0">
                <a:solidFill>
                  <a:srgbClr val="404040"/>
                </a:solidFill>
                <a:effectLst/>
                <a:latin typeface="DeepSeek-CJK-patch"/>
              </a:rPr>
              <a:t> server </a:t>
            </a:r>
            <a:r>
              <a:rPr lang="en-US" b="0" i="0" dirty="0" err="1">
                <a:solidFill>
                  <a:srgbClr val="404040"/>
                </a:solidFill>
                <a:effectLst/>
                <a:latin typeface="DeepSeek-CJK-patch"/>
              </a:rPr>
              <a:t>độc</a:t>
            </a:r>
            <a:r>
              <a:rPr lang="en-US" b="0" i="0" dirty="0">
                <a:solidFill>
                  <a:srgbClr val="404040"/>
                </a:solidFill>
                <a:effectLst/>
                <a:latin typeface="DeepSeek-CJK-patch"/>
              </a:rPr>
              <a:t> </a:t>
            </a:r>
            <a:r>
              <a:rPr lang="en-US" b="0" i="0" dirty="0" err="1">
                <a:solidFill>
                  <a:srgbClr val="404040"/>
                </a:solidFill>
                <a:effectLst/>
                <a:latin typeface="DeepSeek-CJK-patch"/>
              </a:rPr>
              <a:t>lập</a:t>
            </a:r>
            <a:r>
              <a:rPr lang="en-US" b="0" i="0" dirty="0">
                <a:solidFill>
                  <a:srgbClr val="404040"/>
                </a:solidFill>
                <a:effectLst/>
                <a:latin typeface="DeepSeek-CJK-patch"/>
              </a:rPr>
              <a:t>.</a:t>
            </a:r>
          </a:p>
          <a:p>
            <a:endParaRPr lang="en-US" i="1" dirty="0"/>
          </a:p>
          <a:p>
            <a:r>
              <a:rPr lang="en-US" i="1" dirty="0" err="1"/>
              <a:t>Ví</a:t>
            </a:r>
            <a:r>
              <a:rPr lang="en-US" i="1" dirty="0"/>
              <a:t> </a:t>
            </a:r>
            <a:r>
              <a:rPr lang="en-US" i="1" dirty="0" err="1"/>
              <a:t>dụ</a:t>
            </a:r>
            <a:r>
              <a:rPr lang="en-US" i="1" dirty="0"/>
              <a:t> Python code:</a:t>
            </a:r>
          </a:p>
          <a:p>
            <a:r>
              <a:rPr lang="en-US" i="1" dirty="0"/>
              <a:t>--------------------------------------------------------------------------------------------------------------------------------------------</a:t>
            </a:r>
          </a:p>
          <a:p>
            <a:r>
              <a:rPr lang="en-US" i="1" dirty="0"/>
              <a:t>def </a:t>
            </a:r>
            <a:r>
              <a:rPr lang="en-US" i="1" dirty="0" err="1"/>
              <a:t>call_rpc</a:t>
            </a:r>
            <a:r>
              <a:rPr lang="en-US" i="1" dirty="0"/>
              <a:t>(server, request):  </a:t>
            </a:r>
          </a:p>
          <a:p>
            <a:r>
              <a:rPr lang="en-US" i="1" dirty="0"/>
              <a:t>    result = </a:t>
            </a:r>
            <a:r>
              <a:rPr lang="en-US" i="1" dirty="0" err="1"/>
              <a:t>blocking_rpc</a:t>
            </a:r>
            <a:r>
              <a:rPr lang="en-US" i="1" dirty="0"/>
              <a:t>(server, request)  </a:t>
            </a:r>
          </a:p>
          <a:p>
            <a:r>
              <a:rPr lang="en-US" i="1" dirty="0"/>
              <a:t>    return result  </a:t>
            </a:r>
          </a:p>
          <a:p>
            <a:endParaRPr lang="en-US" i="1" dirty="0"/>
          </a:p>
          <a:p>
            <a:r>
              <a:rPr lang="en-US" i="1" dirty="0"/>
              <a:t>servers = ["service1.com", "service2.com", "service3.com"]  </a:t>
            </a:r>
          </a:p>
          <a:p>
            <a:r>
              <a:rPr lang="en-US" i="1" dirty="0"/>
              <a:t>threads = []  </a:t>
            </a:r>
          </a:p>
          <a:p>
            <a:r>
              <a:rPr lang="en-US" i="1" dirty="0"/>
              <a:t>results = [None] * </a:t>
            </a:r>
            <a:r>
              <a:rPr lang="en-US" i="1" dirty="0" err="1"/>
              <a:t>len</a:t>
            </a:r>
            <a:r>
              <a:rPr lang="en-US" i="1" dirty="0"/>
              <a:t>(servers)  </a:t>
            </a:r>
          </a:p>
          <a:p>
            <a:endParaRPr lang="en-US" i="1" dirty="0"/>
          </a:p>
          <a:p>
            <a:r>
              <a:rPr lang="en-US" i="1" dirty="0"/>
              <a:t>for </a:t>
            </a:r>
            <a:r>
              <a:rPr lang="en-US" i="1" dirty="0" err="1"/>
              <a:t>i</a:t>
            </a:r>
            <a:r>
              <a:rPr lang="en-US" i="1" dirty="0"/>
              <a:t>, server in enumerate(servers):  </a:t>
            </a:r>
          </a:p>
          <a:p>
            <a:r>
              <a:rPr lang="en-US" i="1" dirty="0"/>
              <a:t>    t = Thread(target=lambda </a:t>
            </a:r>
            <a:r>
              <a:rPr lang="en-US" i="1" dirty="0" err="1"/>
              <a:t>idx</a:t>
            </a:r>
            <a:r>
              <a:rPr lang="en-US" i="1" dirty="0"/>
              <a:t>, s: results[</a:t>
            </a:r>
            <a:r>
              <a:rPr lang="en-US" i="1" dirty="0" err="1"/>
              <a:t>idx</a:t>
            </a:r>
            <a:r>
              <a:rPr lang="en-US" i="1" dirty="0"/>
              <a:t>] = </a:t>
            </a:r>
            <a:r>
              <a:rPr lang="en-US" i="1" dirty="0" err="1"/>
              <a:t>call_rpc</a:t>
            </a:r>
            <a:r>
              <a:rPr lang="en-US" i="1" dirty="0"/>
              <a:t>(s, "data"), </a:t>
            </a:r>
            <a:r>
              <a:rPr lang="en-US" i="1" dirty="0" err="1"/>
              <a:t>args</a:t>
            </a:r>
            <a:r>
              <a:rPr lang="en-US" i="1" dirty="0"/>
              <a:t>=(</a:t>
            </a:r>
            <a:r>
              <a:rPr lang="en-US" i="1" dirty="0" err="1"/>
              <a:t>i</a:t>
            </a:r>
            <a:r>
              <a:rPr lang="en-US" i="1" dirty="0"/>
              <a:t>, server))  </a:t>
            </a:r>
          </a:p>
          <a:p>
            <a:r>
              <a:rPr lang="en-US" i="1" dirty="0"/>
              <a:t>    </a:t>
            </a:r>
            <a:r>
              <a:rPr lang="en-US" i="1" dirty="0" err="1"/>
              <a:t>t.start</a:t>
            </a:r>
            <a:r>
              <a:rPr lang="en-US" i="1" dirty="0"/>
              <a:t>()  </a:t>
            </a:r>
          </a:p>
          <a:p>
            <a:r>
              <a:rPr lang="en-US" i="1" dirty="0"/>
              <a:t>    </a:t>
            </a:r>
            <a:r>
              <a:rPr lang="en-US" i="1" dirty="0" err="1"/>
              <a:t>threads.append</a:t>
            </a:r>
            <a:r>
              <a:rPr lang="en-US" i="1" dirty="0"/>
              <a:t>(t)  </a:t>
            </a:r>
          </a:p>
          <a:p>
            <a:endParaRPr lang="en-US" i="1" dirty="0"/>
          </a:p>
          <a:p>
            <a:r>
              <a:rPr lang="en-US" i="1" dirty="0"/>
              <a:t>for t in threads:  </a:t>
            </a:r>
          </a:p>
          <a:p>
            <a:r>
              <a:rPr lang="en-US" i="1" dirty="0"/>
              <a:t>    </a:t>
            </a:r>
            <a:r>
              <a:rPr lang="en-US" i="1" dirty="0" err="1"/>
              <a:t>t.join</a:t>
            </a:r>
            <a:r>
              <a:rPr lang="en-US" i="1" dirty="0"/>
              <a:t>()  # </a:t>
            </a:r>
            <a:r>
              <a:rPr lang="en-US" i="1" dirty="0" err="1"/>
              <a:t>Đợi</a:t>
            </a:r>
            <a:r>
              <a:rPr lang="en-US" i="1" dirty="0"/>
              <a:t> </a:t>
            </a:r>
            <a:r>
              <a:rPr lang="en-US" i="1" dirty="0" err="1"/>
              <a:t>tất</a:t>
            </a:r>
            <a:r>
              <a:rPr lang="en-US" i="1" dirty="0"/>
              <a:t> </a:t>
            </a:r>
            <a:r>
              <a:rPr lang="en-US" i="1" dirty="0" err="1"/>
              <a:t>cả</a:t>
            </a:r>
            <a:r>
              <a:rPr lang="en-US" i="1" dirty="0"/>
              <a:t> </a:t>
            </a:r>
            <a:r>
              <a:rPr lang="en-US" i="1" dirty="0" err="1"/>
              <a:t>hoàn</a:t>
            </a:r>
            <a:r>
              <a:rPr lang="en-US" i="1" dirty="0"/>
              <a:t> </a:t>
            </a:r>
            <a:r>
              <a:rPr lang="en-US" i="1" dirty="0" err="1"/>
              <a:t>thành</a:t>
            </a:r>
            <a:r>
              <a:rPr lang="en-US" i="1" dirty="0"/>
              <a:t>  </a:t>
            </a:r>
          </a:p>
          <a:p>
            <a:endParaRPr lang="en-US" i="1" dirty="0"/>
          </a:p>
          <a:p>
            <a:r>
              <a:rPr lang="en-US" i="1" dirty="0"/>
              <a:t>print(results)  # </a:t>
            </a:r>
            <a:r>
              <a:rPr lang="en-US" i="1" dirty="0" err="1"/>
              <a:t>Tổng</a:t>
            </a:r>
            <a:r>
              <a:rPr lang="en-US" i="1" dirty="0"/>
              <a:t> </a:t>
            </a:r>
            <a:r>
              <a:rPr lang="en-US" i="1" dirty="0" err="1"/>
              <a:t>hợp</a:t>
            </a:r>
            <a:r>
              <a:rPr lang="en-US" i="1" dirty="0"/>
              <a:t> </a:t>
            </a:r>
            <a:r>
              <a:rPr lang="en-US" i="1" dirty="0" err="1"/>
              <a:t>kết</a:t>
            </a:r>
            <a:r>
              <a:rPr lang="en-US" i="1" dirty="0"/>
              <a:t> </a:t>
            </a:r>
            <a:r>
              <a:rPr lang="en-US" i="1" dirty="0" err="1"/>
              <a:t>quả</a:t>
            </a:r>
            <a:r>
              <a:rPr lang="en-US" i="1" dirty="0"/>
              <a:t> </a:t>
            </a:r>
          </a:p>
          <a:p>
            <a:r>
              <a:rPr lang="en-US" i="1" dirty="0"/>
              <a:t>---------------------------------------------------------------------------------------------------------------------------------------------</a:t>
            </a:r>
          </a:p>
          <a:p>
            <a:endParaRPr lang="en-US" i="1" dirty="0"/>
          </a:p>
          <a:p>
            <a:endParaRPr lang="en-US" i="1" dirty="0"/>
          </a:p>
          <a:p>
            <a:endParaRPr lang="en-US" i="1" dirty="0"/>
          </a:p>
          <a:p>
            <a:endParaRPr lang="en-US" i="1" dirty="0"/>
          </a:p>
        </p:txBody>
      </p:sp>
      <p:sp>
        <p:nvSpPr>
          <p:cNvPr id="4" name="Slide Number Placeholder 3"/>
          <p:cNvSpPr>
            <a:spLocks noGrp="1"/>
          </p:cNvSpPr>
          <p:nvPr>
            <p:ph type="sldNum" sz="quarter" idx="5"/>
          </p:nvPr>
        </p:nvSpPr>
        <p:spPr/>
        <p:txBody>
          <a:bodyPr/>
          <a:lstStyle/>
          <a:p>
            <a:fld id="{0EA9AC37-8FF6-483B-AAA6-B9FE5516F543}" type="slidenum">
              <a:rPr lang="en-US" smtClean="0"/>
              <a:t>19</a:t>
            </a:fld>
            <a:endParaRPr lang="en-US"/>
          </a:p>
        </p:txBody>
      </p:sp>
    </p:spTree>
    <p:extLst>
      <p:ext uri="{BB962C8B-B14F-4D97-AF65-F5344CB8AC3E}">
        <p14:creationId xmlns:p14="http://schemas.microsoft.com/office/powerpoint/2010/main" val="32424499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"Multithreaded clients: does it help?“</a:t>
            </a:r>
            <a:endParaRPr lang="en-US" b="1" dirty="0"/>
          </a:p>
          <a:p>
            <a:r>
              <a:rPr lang="vi-VN" dirty="0"/>
              <a:t>trả lời câu hỏi: </a:t>
            </a:r>
            <a:r>
              <a:rPr lang="vi-VN" i="1" dirty="0"/>
              <a:t>Việc dùng đa luồng ở phía client có thực sự hiệu quả không?</a:t>
            </a:r>
            <a:r>
              <a:rPr lang="vi-VN" dirty="0"/>
              <a:t> </a:t>
            </a:r>
            <a:endParaRPr lang="en-US" dirty="0"/>
          </a:p>
          <a:p>
            <a:r>
              <a:rPr lang="vi-VN" dirty="0"/>
              <a:t>Để làm rõ điều này, giới thiệu khái niệm </a:t>
            </a:r>
            <a:r>
              <a:rPr lang="vi-VN" b="1" dirty="0"/>
              <a:t>Thread-level parallelism (TLP)</a:t>
            </a:r>
            <a:r>
              <a:rPr lang="vi-VN" dirty="0"/>
              <a:t> và cách đo lường hiệu quả đa luồng trong thực tế.</a:t>
            </a:r>
          </a:p>
          <a:p>
            <a:endParaRPr lang="en-US" b="1" dirty="0"/>
          </a:p>
          <a:p>
            <a:r>
              <a:rPr lang="en-US" b="1" dirty="0"/>
              <a:t>1. </a:t>
            </a:r>
            <a:r>
              <a:rPr lang="vi-VN" b="1" dirty="0"/>
              <a:t>Thread-level parallelism (TLP) là gì?</a:t>
            </a:r>
          </a:p>
          <a:p>
            <a:r>
              <a:rPr lang="vi-VN" dirty="0"/>
              <a:t>TLP đo </a:t>
            </a:r>
            <a:r>
              <a:rPr lang="vi-VN" b="1" dirty="0"/>
              <a:t>mức độ song song thực tế</a:t>
            </a:r>
            <a:r>
              <a:rPr lang="vi-VN" dirty="0"/>
              <a:t> mà một ứng dụng đa luồng đạt được trong quá trình chạy.</a:t>
            </a:r>
          </a:p>
          <a:p>
            <a:r>
              <a:rPr lang="vi-VN" b="1" dirty="0"/>
              <a:t>Công thức TLP:</a:t>
            </a:r>
          </a:p>
          <a:p>
            <a:pPr>
              <a:buFont typeface="Arial" panose="020B0604020202020204" pitchFamily="34" charset="0"/>
              <a:buNone/>
            </a:pPr>
            <a:r>
              <a:rPr lang="vi-VN" dirty="0"/>
              <a:t>TLP=∑i=1</a:t>
            </a:r>
            <a:r>
              <a:rPr lang="en-US" dirty="0"/>
              <a:t>^</a:t>
            </a:r>
            <a:r>
              <a:rPr lang="vi-VN" dirty="0"/>
              <a:t>N(</a:t>
            </a:r>
            <a:r>
              <a:rPr lang="en-US" dirty="0"/>
              <a:t> </a:t>
            </a:r>
            <a:r>
              <a:rPr lang="vi-VN" dirty="0"/>
              <a:t>i⋅ci)</a:t>
            </a:r>
            <a:r>
              <a:rPr lang="en-US" dirty="0"/>
              <a:t>/(</a:t>
            </a:r>
            <a:r>
              <a:rPr lang="vi-VN" dirty="0"/>
              <a:t>1−c0</a:t>
            </a:r>
            <a:r>
              <a:rPr lang="en-US" dirty="0"/>
              <a:t>)</a:t>
            </a:r>
          </a:p>
          <a:p>
            <a:pPr>
              <a:buFont typeface="Arial" panose="020B0604020202020204" pitchFamily="34" charset="0"/>
              <a:buNone/>
            </a:pPr>
            <a:r>
              <a:rPr lang="vi-VN" b="1" dirty="0"/>
              <a:t>N</a:t>
            </a:r>
            <a:r>
              <a:rPr lang="vi-VN" dirty="0"/>
              <a:t>: số lượng luồng tối đa có thể chạy đồng thời.</a:t>
            </a:r>
          </a:p>
          <a:p>
            <a:pPr>
              <a:buFont typeface="Arial" panose="020B0604020202020204" pitchFamily="34" charset="0"/>
              <a:buChar char="•"/>
            </a:pPr>
            <a:r>
              <a:rPr lang="vi-VN" b="1" dirty="0"/>
              <a:t>ci</a:t>
            </a:r>
            <a:r>
              <a:rPr lang="vi-VN" dirty="0"/>
              <a:t>: phần trăm thời gian mà có </a:t>
            </a:r>
            <a:r>
              <a:rPr lang="vi-VN" b="1" dirty="0"/>
              <a:t>chính xác i luồng</a:t>
            </a:r>
            <a:r>
              <a:rPr lang="vi-VN" dirty="0"/>
              <a:t> đang chạy </a:t>
            </a:r>
            <a:r>
              <a:rPr lang="vi-VN" b="1" dirty="0"/>
              <a:t>đồng thời</a:t>
            </a:r>
            <a:r>
              <a:rPr lang="vi-VN" dirty="0"/>
              <a:t>.</a:t>
            </a:r>
          </a:p>
          <a:p>
            <a:pPr>
              <a:buFont typeface="Arial" panose="020B0604020202020204" pitchFamily="34" charset="0"/>
              <a:buChar char="•"/>
            </a:pPr>
            <a:r>
              <a:rPr lang="vi-VN" b="1" dirty="0"/>
              <a:t>c0</a:t>
            </a:r>
            <a:r>
              <a:rPr lang="vi-VN" dirty="0"/>
              <a:t>: phần trăm thời gian </a:t>
            </a:r>
            <a:r>
              <a:rPr lang="vi-VN" b="1" dirty="0"/>
              <a:t>không có luồng nào chạy</a:t>
            </a:r>
            <a:r>
              <a:rPr lang="vi-VN" dirty="0"/>
              <a:t> (ứng dụng đang nhàn rỗi).</a:t>
            </a:r>
          </a:p>
          <a:p>
            <a:r>
              <a:rPr lang="vi-VN" dirty="0"/>
              <a:t>TLP phản ánh mức độ </a:t>
            </a:r>
            <a:r>
              <a:rPr lang="vi-VN" b="1" dirty="0"/>
              <a:t>sử dụng hiệu quả đa luồng</a:t>
            </a:r>
            <a:r>
              <a:rPr lang="vi-VN" dirty="0"/>
              <a:t> trong thời gian ứng dụng hoạt động (không tính thời gian idle - tức là </a:t>
            </a:r>
            <a:r>
              <a:rPr lang="en-US" dirty="0"/>
              <a:t>(</a:t>
            </a:r>
            <a:r>
              <a:rPr lang="vi-VN" dirty="0"/>
              <a:t>1−c0​)</a:t>
            </a:r>
            <a:r>
              <a:rPr lang="en-US" dirty="0"/>
              <a:t>)</a:t>
            </a:r>
            <a:r>
              <a:rPr lang="vi-VN" dirty="0"/>
              <a:t>.</a:t>
            </a:r>
          </a:p>
          <a:p>
            <a:endParaRPr lang="en-US" b="1" dirty="0"/>
          </a:p>
          <a:p>
            <a:r>
              <a:rPr lang="en-US" b="1" dirty="0"/>
              <a:t>2. </a:t>
            </a:r>
            <a:r>
              <a:rPr lang="vi-VN" b="1" dirty="0"/>
              <a:t>Ý nghĩa TLP</a:t>
            </a:r>
          </a:p>
          <a:p>
            <a:pPr>
              <a:buFont typeface="Arial" panose="020B0604020202020204" pitchFamily="34" charset="0"/>
              <a:buChar char="•"/>
            </a:pPr>
            <a:r>
              <a:rPr lang="vi-VN" dirty="0"/>
              <a:t>Nếu TLP = 1 → trung bình chỉ 1 luồng hoạt động tại 1 thời điểm → gần như </a:t>
            </a:r>
            <a:r>
              <a:rPr lang="vi-VN" b="1" dirty="0"/>
              <a:t>không tận dụng được song song hóa</a:t>
            </a:r>
            <a:r>
              <a:rPr lang="vi-VN" dirty="0"/>
              <a:t>.</a:t>
            </a:r>
          </a:p>
          <a:p>
            <a:pPr>
              <a:buFont typeface="Arial" panose="020B0604020202020204" pitchFamily="34" charset="0"/>
              <a:buChar char="•"/>
            </a:pPr>
            <a:r>
              <a:rPr lang="vi-VN" dirty="0"/>
              <a:t>Nếu TLP càng lớn → càng nhiều luồng được thực thi đồng thời → hiệu quả đa luồng tốt.</a:t>
            </a:r>
          </a:p>
          <a:p>
            <a:endParaRPr lang="en-US" b="1" dirty="0"/>
          </a:p>
          <a:p>
            <a:r>
              <a:rPr lang="en-US" b="1" dirty="0"/>
              <a:t>3. </a:t>
            </a:r>
            <a:r>
              <a:rPr lang="vi-VN" b="1" dirty="0"/>
              <a:t>Đo đạc trong thực tế</a:t>
            </a:r>
          </a:p>
          <a:p>
            <a:r>
              <a:rPr lang="vi-VN" dirty="0"/>
              <a:t>“A typical Web browser has a TLP value between 1.5 and 2.5”</a:t>
            </a:r>
          </a:p>
          <a:p>
            <a:pPr>
              <a:buFont typeface="Arial" panose="020B0604020202020204" pitchFamily="34" charset="0"/>
              <a:buChar char="•"/>
            </a:pPr>
            <a:r>
              <a:rPr lang="vi-VN" dirty="0"/>
              <a:t>Trình duyệt hiện đại có TLP khá thấp so với số luồng mà nó tạo ra.</a:t>
            </a:r>
          </a:p>
          <a:p>
            <a:pPr>
              <a:buFont typeface="Arial" panose="020B0604020202020204" pitchFamily="34" charset="0"/>
              <a:buChar char="•"/>
            </a:pPr>
            <a:r>
              <a:rPr lang="vi-VN" dirty="0"/>
              <a:t>Lý do:</a:t>
            </a:r>
          </a:p>
          <a:p>
            <a:pPr marL="742950" lvl="1" indent="-285750">
              <a:buFont typeface="Arial" panose="020B0604020202020204" pitchFamily="34" charset="0"/>
              <a:buChar char="•"/>
            </a:pPr>
            <a:r>
              <a:rPr lang="vi-VN" b="1" dirty="0"/>
              <a:t>Không phải lúc nào cũng cần chạy song song thực sự</a:t>
            </a:r>
            <a:r>
              <a:rPr lang="vi-VN" dirty="0"/>
              <a:t>.</a:t>
            </a:r>
            <a:endParaRPr lang="en-US" dirty="0"/>
          </a:p>
          <a:p>
            <a:pPr lvl="1" algn="l">
              <a:buFont typeface="Arial" panose="020B0604020202020204" pitchFamily="34" charset="0"/>
              <a:buChar char="•"/>
            </a:pPr>
            <a:r>
              <a:rPr lang="en-US" b="1" i="0" dirty="0">
                <a:solidFill>
                  <a:srgbClr val="404040"/>
                </a:solidFill>
                <a:effectLst/>
                <a:latin typeface="DeepSeek-CJK-patch"/>
              </a:rPr>
              <a:t>      </a:t>
            </a:r>
            <a:r>
              <a:rPr lang="vi-VN" b="1" i="0" dirty="0">
                <a:solidFill>
                  <a:srgbClr val="404040"/>
                </a:solidFill>
                <a:effectLst/>
                <a:latin typeface="DeepSeek-CJK-patch"/>
              </a:rPr>
              <a:t>Không phải task nào cũng song song hóa được:</a:t>
            </a:r>
            <a:endParaRPr lang="vi-VN" b="0" i="0" dirty="0">
              <a:solidFill>
                <a:srgbClr val="404040"/>
              </a:solidFill>
              <a:effectLst/>
              <a:latin typeface="DeepSeek-CJK-patch"/>
            </a:endParaRPr>
          </a:p>
          <a:p>
            <a:pPr marL="457200" lvl="1" indent="0" algn="l">
              <a:buFont typeface="Arial" panose="020B0604020202020204" pitchFamily="34" charset="0"/>
              <a:buNone/>
            </a:pPr>
            <a:r>
              <a:rPr lang="en-US" b="0" i="0" dirty="0">
                <a:solidFill>
                  <a:srgbClr val="404040"/>
                </a:solidFill>
                <a:effectLst/>
                <a:latin typeface="DeepSeek-CJK-patch"/>
              </a:rPr>
              <a:t>	- </a:t>
            </a:r>
            <a:r>
              <a:rPr lang="vi-VN" b="0" i="0" dirty="0">
                <a:solidFill>
                  <a:srgbClr val="404040"/>
                </a:solidFill>
                <a:effectLst/>
                <a:latin typeface="DeepSeek-CJK-patch"/>
              </a:rPr>
              <a:t>Ví dụ: Thread Render phải đợi Thread Network tải xong HTML.</a:t>
            </a:r>
            <a:endParaRPr lang="vi-VN" dirty="0"/>
          </a:p>
          <a:p>
            <a:pPr marL="742950" lvl="1" indent="-285750">
              <a:buFont typeface="Arial" panose="020B0604020202020204" pitchFamily="34" charset="0"/>
              <a:buChar char="•"/>
            </a:pPr>
            <a:r>
              <a:rPr lang="vi-VN" dirty="0"/>
              <a:t>Nhiều luồng được dùng để </a:t>
            </a:r>
            <a:r>
              <a:rPr lang="vi-VN" b="1" dirty="0"/>
              <a:t>tổ chức logic</a:t>
            </a:r>
            <a:r>
              <a:rPr lang="vi-VN" dirty="0"/>
              <a:t> (chờ IO, phân luồng nhiệm vụ) chứ không phải để </a:t>
            </a:r>
            <a:r>
              <a:rPr lang="vi-VN" b="1" dirty="0"/>
              <a:t>xử lý nặng song song</a:t>
            </a:r>
            <a:r>
              <a:rPr lang="vi-VN" dirty="0"/>
              <a:t>.</a:t>
            </a:r>
          </a:p>
          <a:p>
            <a:pPr marL="742950" lvl="1" indent="-285750">
              <a:buFont typeface="Arial" panose="020B0604020202020204" pitchFamily="34" charset="0"/>
              <a:buChar char="•"/>
            </a:pPr>
            <a:r>
              <a:rPr lang="vi-VN" dirty="0"/>
              <a:t>CPU giới hạn số lõi (cores), nên không thể chạy hết các luồng đồng thời.</a:t>
            </a:r>
          </a:p>
          <a:p>
            <a:endParaRPr lang="en-US" b="1" dirty="0"/>
          </a:p>
          <a:p>
            <a:r>
              <a:rPr lang="vi-VN" b="1" dirty="0"/>
              <a:t>Kết luận từ slide</a:t>
            </a:r>
            <a:r>
              <a:rPr lang="vi-VN" dirty="0"/>
              <a:t>:</a:t>
            </a:r>
          </a:p>
          <a:p>
            <a:pPr>
              <a:buFont typeface="Arial" panose="020B0604020202020204" pitchFamily="34" charset="0"/>
              <a:buChar char="•"/>
            </a:pPr>
            <a:r>
              <a:rPr lang="vi-VN" dirty="0"/>
              <a:t>Dùng đa luồng có ích, nhưng trong client (như browser), hiệu quả thực tế về song song hóa </a:t>
            </a:r>
            <a:r>
              <a:rPr lang="vi-VN" b="1" dirty="0"/>
              <a:t>không cao như mong đợi</a:t>
            </a:r>
            <a:r>
              <a:rPr lang="vi-VN" dirty="0"/>
              <a:t>.</a:t>
            </a:r>
          </a:p>
          <a:p>
            <a:pPr>
              <a:buFont typeface="Arial" panose="020B0604020202020204" pitchFamily="34" charset="0"/>
              <a:buChar char="•"/>
            </a:pPr>
            <a:r>
              <a:rPr lang="vi-VN" dirty="0"/>
              <a:t>Đa luồng chủ yếu giúp code tổ chức tốt hơn (ví dụ: tách riêng việc tải hình ảnh, đọc HTML, v.v.).</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21</a:t>
            </a:fld>
            <a:endParaRPr lang="en-US"/>
          </a:p>
        </p:txBody>
      </p:sp>
    </p:spTree>
    <p:extLst>
      <p:ext uri="{BB962C8B-B14F-4D97-AF65-F5344CB8AC3E}">
        <p14:creationId xmlns:p14="http://schemas.microsoft.com/office/powerpoint/2010/main" val="19224371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"Using threads at the server side“</a:t>
            </a:r>
            <a:endParaRPr lang="en-US" b="1" dirty="0"/>
          </a:p>
          <a:p>
            <a:r>
              <a:rPr lang="en-US" b="0" dirty="0"/>
              <a:t>G</a:t>
            </a:r>
            <a:r>
              <a:rPr lang="vi-VN" dirty="0"/>
              <a:t>iải thích vì sao việc sử dụng đa luồng ở </a:t>
            </a:r>
            <a:r>
              <a:rPr lang="vi-VN" b="1" dirty="0"/>
              <a:t>phía server</a:t>
            </a:r>
            <a:r>
              <a:rPr lang="vi-VN" dirty="0"/>
              <a:t> là một chiến lược phổ biến để </a:t>
            </a:r>
            <a:r>
              <a:rPr lang="vi-VN" b="1" dirty="0"/>
              <a:t>cải thiện hiệu năng</a:t>
            </a:r>
            <a:r>
              <a:rPr lang="vi-VN" dirty="0"/>
              <a:t> và </a:t>
            </a:r>
            <a:r>
              <a:rPr lang="vi-VN" b="1" dirty="0"/>
              <a:t>giữ cho code đơn giản hơn</a:t>
            </a:r>
            <a:r>
              <a:rPr lang="vi-VN" dirty="0"/>
              <a:t>.</a:t>
            </a:r>
            <a:endParaRPr lang="en-US" dirty="0"/>
          </a:p>
          <a:p>
            <a:endParaRPr lang="vi-VN" dirty="0"/>
          </a:p>
          <a:p>
            <a:r>
              <a:rPr lang="en-US" b="1" dirty="0"/>
              <a:t>1. </a:t>
            </a:r>
            <a:r>
              <a:rPr lang="vi-VN" b="1" dirty="0"/>
              <a:t>Improve performance (Cải thiện hiệu năng)</a:t>
            </a:r>
          </a:p>
          <a:p>
            <a:r>
              <a:rPr lang="en-US" b="1" dirty="0"/>
              <a:t>a. "</a:t>
            </a:r>
            <a:r>
              <a:rPr lang="vi-VN" b="1" dirty="0"/>
              <a:t>Starting a thread is cheaper than starting a new process"</a:t>
            </a:r>
          </a:p>
          <a:p>
            <a:pPr>
              <a:buFont typeface="Arial" panose="020B0604020202020204" pitchFamily="34" charset="0"/>
              <a:buChar char="•"/>
            </a:pPr>
            <a:r>
              <a:rPr lang="vi-VN" dirty="0"/>
              <a:t>Tạo một </a:t>
            </a:r>
            <a:r>
              <a:rPr lang="vi-VN" b="1" dirty="0"/>
              <a:t>luồng (thread)</a:t>
            </a:r>
            <a:r>
              <a:rPr lang="vi-VN" dirty="0"/>
              <a:t> nhẹ hơn rất nhiều so với việc tạo một </a:t>
            </a:r>
            <a:r>
              <a:rPr lang="vi-VN" b="1" dirty="0"/>
              <a:t>tiến trình (process)</a:t>
            </a:r>
            <a:r>
              <a:rPr lang="vi-VN" dirty="0"/>
              <a:t>:</a:t>
            </a:r>
          </a:p>
          <a:p>
            <a:pPr marL="742950" lvl="1" indent="-285750">
              <a:buFont typeface="Arial" panose="020B0604020202020204" pitchFamily="34" charset="0"/>
              <a:buChar char="•"/>
            </a:pPr>
            <a:r>
              <a:rPr lang="vi-VN" dirty="0"/>
              <a:t>Threads chia sẻ cùng bộ nhớ và tài nguyên.</a:t>
            </a:r>
          </a:p>
          <a:p>
            <a:pPr marL="742950" lvl="1" indent="-285750">
              <a:buFont typeface="Arial" panose="020B0604020202020204" pitchFamily="34" charset="0"/>
              <a:buChar char="•"/>
            </a:pPr>
            <a:r>
              <a:rPr lang="vi-VN" dirty="0"/>
              <a:t>Processes thì tách biệt hoàn toàn → khởi tạo và giao tiếp tốn chi phí hơn.</a:t>
            </a:r>
          </a:p>
          <a:p>
            <a:pPr>
              <a:buFont typeface="Arial" panose="020B0604020202020204" pitchFamily="34" charset="0"/>
              <a:buChar char="•"/>
            </a:pPr>
            <a:r>
              <a:rPr lang="vi-VN" dirty="0"/>
              <a:t>Vì vậy, sử dụng threads giúp </a:t>
            </a:r>
            <a:r>
              <a:rPr lang="vi-VN" b="1" dirty="0"/>
              <a:t>phản hồi nhanh hơn</a:t>
            </a:r>
            <a:r>
              <a:rPr lang="vi-VN" dirty="0"/>
              <a:t> khi có nhiều request đến.</a:t>
            </a:r>
          </a:p>
          <a:p>
            <a:r>
              <a:rPr lang="en-US" b="1" dirty="0"/>
              <a:t>b. "</a:t>
            </a:r>
            <a:r>
              <a:rPr lang="vi-VN" b="1" dirty="0"/>
              <a:t>Having a single-threaded server prohibits simple scale-up to a multiprocessor system"</a:t>
            </a:r>
          </a:p>
          <a:p>
            <a:pPr>
              <a:buFont typeface="Arial" panose="020B0604020202020204" pitchFamily="34" charset="0"/>
              <a:buChar char="•"/>
            </a:pPr>
            <a:r>
              <a:rPr lang="vi-VN" dirty="0"/>
              <a:t>Một server đơn luồng chỉ có thể tận dụng </a:t>
            </a:r>
            <a:r>
              <a:rPr lang="vi-VN" b="1" dirty="0"/>
              <a:t>một lõi CPU duy nhất</a:t>
            </a:r>
            <a:r>
              <a:rPr lang="vi-VN" dirty="0"/>
              <a:t> → lãng phí tài nguyên trên hệ thống đa lõi.</a:t>
            </a:r>
          </a:p>
          <a:p>
            <a:pPr>
              <a:buFont typeface="Arial" panose="020B0604020202020204" pitchFamily="34" charset="0"/>
              <a:buChar char="•"/>
            </a:pPr>
            <a:r>
              <a:rPr lang="vi-VN" dirty="0"/>
              <a:t>Dùng đa luồng cho phép </a:t>
            </a:r>
            <a:r>
              <a:rPr lang="vi-VN" b="1" dirty="0"/>
              <a:t>chạy song song trên nhiều lõi</a:t>
            </a:r>
            <a:r>
              <a:rPr lang="vi-VN" dirty="0"/>
              <a:t> → </a:t>
            </a:r>
            <a:r>
              <a:rPr lang="vi-VN" b="1" dirty="0"/>
              <a:t>tăng khả năng xử lý đồng thời</a:t>
            </a:r>
            <a:r>
              <a:rPr lang="vi-VN" dirty="0"/>
              <a:t>, mở rộng tốt hơn khi có nhiều CPU.</a:t>
            </a:r>
          </a:p>
          <a:p>
            <a:r>
              <a:rPr lang="en-US" b="1" dirty="0"/>
              <a:t>c. "</a:t>
            </a:r>
            <a:r>
              <a:rPr lang="vi-VN" b="1" dirty="0"/>
              <a:t>As with clients: hide network latency by reacting to next request while previous one is being replied"</a:t>
            </a:r>
          </a:p>
          <a:p>
            <a:pPr>
              <a:buFont typeface="Arial" panose="020B0604020202020204" pitchFamily="34" charset="0"/>
              <a:buChar char="•"/>
            </a:pPr>
            <a:r>
              <a:rPr lang="vi-VN" dirty="0"/>
              <a:t>Giống như phía client, phía server cũng có thể </a:t>
            </a:r>
            <a:r>
              <a:rPr lang="vi-VN" b="1" dirty="0"/>
              <a:t>giấu độ trễ mạng</a:t>
            </a:r>
            <a:r>
              <a:rPr lang="vi-VN" dirty="0"/>
              <a:t>:</a:t>
            </a:r>
          </a:p>
          <a:p>
            <a:pPr marL="742950" lvl="1" indent="-285750">
              <a:buFont typeface="Arial" panose="020B0604020202020204" pitchFamily="34" charset="0"/>
              <a:buChar char="•"/>
            </a:pPr>
            <a:r>
              <a:rPr lang="vi-VN" dirty="0"/>
              <a:t>Trong khi đang gửi phản hồi cho request trước (có thể chậm vì mạng), thread khác có thể xử lý request mới.</a:t>
            </a:r>
          </a:p>
          <a:p>
            <a:pPr>
              <a:buFont typeface="Arial" panose="020B0604020202020204" pitchFamily="34" charset="0"/>
              <a:buChar char="•"/>
            </a:pPr>
            <a:r>
              <a:rPr lang="vi-VN" dirty="0"/>
              <a:t>Nhờ đó, </a:t>
            </a:r>
            <a:r>
              <a:rPr lang="vi-VN" b="1" dirty="0"/>
              <a:t>server luôn hoạt động hiệu quả</a:t>
            </a:r>
            <a:r>
              <a:rPr lang="vi-VN" dirty="0"/>
              <a:t>, không bị "chết đứng" khi chờ mạng.</a:t>
            </a:r>
          </a:p>
          <a:p>
            <a:endParaRPr lang="en-US" b="1" dirty="0"/>
          </a:p>
          <a:p>
            <a:r>
              <a:rPr lang="en-US" b="1" dirty="0"/>
              <a:t>2. </a:t>
            </a:r>
            <a:r>
              <a:rPr lang="vi-VN" b="1" dirty="0"/>
              <a:t>Better structure (Cấu trúc chương trình tốt hơn)</a:t>
            </a:r>
          </a:p>
          <a:p>
            <a:r>
              <a:rPr lang="en-US" b="1" dirty="0"/>
              <a:t>a. "</a:t>
            </a:r>
            <a:r>
              <a:rPr lang="vi-VN" b="1" dirty="0"/>
              <a:t>Most servers have high I/O demands..."</a:t>
            </a:r>
          </a:p>
          <a:p>
            <a:pPr>
              <a:buFont typeface="Arial" panose="020B0604020202020204" pitchFamily="34" charset="0"/>
              <a:buChar char="•"/>
            </a:pPr>
            <a:r>
              <a:rPr lang="vi-VN" dirty="0"/>
              <a:t>Server thường phải làm nhiều việc liên quan đến I/O như:</a:t>
            </a:r>
          </a:p>
          <a:p>
            <a:pPr marL="742950" lvl="1" indent="-285750">
              <a:buFont typeface="Arial" panose="020B0604020202020204" pitchFamily="34" charset="0"/>
              <a:buChar char="•"/>
            </a:pPr>
            <a:r>
              <a:rPr lang="vi-VN" dirty="0"/>
              <a:t>Đọc ghi file</a:t>
            </a:r>
          </a:p>
          <a:p>
            <a:pPr marL="742950" lvl="1" indent="-285750">
              <a:buFont typeface="Arial" panose="020B0604020202020204" pitchFamily="34" charset="0"/>
              <a:buChar char="•"/>
            </a:pPr>
            <a:r>
              <a:rPr lang="vi-VN" dirty="0"/>
              <a:t>Nhận/gửi dữ liệu qua mạng</a:t>
            </a:r>
          </a:p>
          <a:p>
            <a:pPr marL="742950" lvl="1" indent="-285750">
              <a:buFont typeface="Arial" panose="020B0604020202020204" pitchFamily="34" charset="0"/>
              <a:buChar char="•"/>
            </a:pPr>
            <a:r>
              <a:rPr lang="vi-VN" dirty="0"/>
              <a:t>Truy vấn database</a:t>
            </a:r>
          </a:p>
          <a:p>
            <a:pPr>
              <a:buFont typeface="Arial" panose="020B0604020202020204" pitchFamily="34" charset="0"/>
              <a:buChar char="•"/>
            </a:pPr>
            <a:r>
              <a:rPr lang="vi-VN" dirty="0"/>
              <a:t>Việc dùng </a:t>
            </a:r>
            <a:r>
              <a:rPr lang="vi-VN" b="1" dirty="0"/>
              <a:t>blocking calls (gọi hàm chờ kết quả)</a:t>
            </a:r>
            <a:r>
              <a:rPr lang="vi-VN" dirty="0"/>
              <a:t> thường dễ viết và dễ hiểu hơn so với non-blocking hoặc callback phức tạp.</a:t>
            </a:r>
          </a:p>
          <a:p>
            <a:r>
              <a:rPr lang="en-US" b="1" dirty="0"/>
              <a:t>b. "</a:t>
            </a:r>
            <a:r>
              <a:rPr lang="vi-VN" b="1" dirty="0"/>
              <a:t>Multithreaded programs tend to be smaller and easier to understand"</a:t>
            </a:r>
          </a:p>
          <a:p>
            <a:pPr>
              <a:buFont typeface="Arial" panose="020B0604020202020204" pitchFamily="34" charset="0"/>
              <a:buChar char="•"/>
            </a:pPr>
            <a:r>
              <a:rPr lang="vi-VN" dirty="0"/>
              <a:t>Dùng đa luồng giúp code có thể được viết theo </a:t>
            </a:r>
            <a:r>
              <a:rPr lang="vi-VN" b="1" dirty="0"/>
              <a:t>logic tuyến tính</a:t>
            </a:r>
            <a:r>
              <a:rPr lang="vi-VN" dirty="0"/>
              <a:t> (giống như người suy nghĩ):</a:t>
            </a:r>
          </a:p>
          <a:p>
            <a:pPr marL="742950" lvl="1" indent="-285750">
              <a:buFont typeface="Arial" panose="020B0604020202020204" pitchFamily="34" charset="0"/>
              <a:buChar char="•"/>
            </a:pPr>
            <a:r>
              <a:rPr lang="vi-VN" dirty="0"/>
              <a:t>Mỗi request được xử lý trong 1 thread riêng biệt.</a:t>
            </a:r>
          </a:p>
          <a:p>
            <a:pPr marL="742950" lvl="1" indent="-285750">
              <a:buFont typeface="Arial" panose="020B0604020202020204" pitchFamily="34" charset="0"/>
              <a:buChar char="•"/>
            </a:pPr>
            <a:r>
              <a:rPr lang="vi-VN" dirty="0"/>
              <a:t>Không cần viết nhiều hàm callback, không phải quản lý state phức tạp.</a:t>
            </a:r>
          </a:p>
          <a:p>
            <a:pPr>
              <a:buFont typeface="Arial" panose="020B0604020202020204" pitchFamily="34" charset="0"/>
              <a:buChar char="•"/>
            </a:pPr>
            <a:r>
              <a:rPr lang="vi-VN" dirty="0"/>
              <a:t>Nhờ đó, chương trình thường </a:t>
            </a:r>
            <a:r>
              <a:rPr lang="vi-VN" b="1" dirty="0"/>
              <a:t>ngắn hơn, dễ bảo trì hơn</a:t>
            </a:r>
            <a:r>
              <a:rPr lang="vi-VN" dirty="0"/>
              <a:t>, mặc dù cần cẩn thận với </a:t>
            </a:r>
            <a:r>
              <a:rPr lang="vi-VN" b="1" dirty="0"/>
              <a:t>vấn đề tranh chấp tài nguyên (race conditions)</a:t>
            </a:r>
            <a:r>
              <a:rPr lang="vi-VN" dirty="0"/>
              <a:t>.</a:t>
            </a:r>
          </a:p>
          <a:p>
            <a:endParaRPr lang="en-US" b="1" dirty="0"/>
          </a:p>
          <a:p>
            <a:r>
              <a:rPr lang="en-US" b="1" dirty="0"/>
              <a:t>3. </a:t>
            </a:r>
            <a:r>
              <a:rPr lang="vi-VN" b="1" dirty="0"/>
              <a:t>Tóm tắt lợi ích dùng threads ở server</a:t>
            </a:r>
          </a:p>
          <a:p>
            <a:r>
              <a:rPr lang="vi-VN" dirty="0"/>
              <a:t>Lợi ích</a:t>
            </a:r>
            <a:r>
              <a:rPr lang="en-US" dirty="0"/>
              <a:t>			</a:t>
            </a:r>
            <a:r>
              <a:rPr lang="vi-VN" dirty="0"/>
              <a:t>Giải thích</a:t>
            </a:r>
            <a:endParaRPr lang="en-US" dirty="0"/>
          </a:p>
          <a:p>
            <a:r>
              <a:rPr lang="vi-VN" b="1" dirty="0"/>
              <a:t>Tăng hiệu năng</a:t>
            </a:r>
            <a:r>
              <a:rPr lang="en-US" b="1" dirty="0"/>
              <a:t>		</a:t>
            </a:r>
            <a:r>
              <a:rPr lang="vi-VN" dirty="0"/>
              <a:t>Xử lý nhiều request đồng thời, tận dụng CPU đa lõi.</a:t>
            </a:r>
            <a:endParaRPr lang="en-US" dirty="0"/>
          </a:p>
          <a:p>
            <a:r>
              <a:rPr lang="vi-VN" b="1" dirty="0"/>
              <a:t>Giấu độ trễ mạng</a:t>
            </a:r>
            <a:r>
              <a:rPr lang="en-US" b="1" dirty="0"/>
              <a:t>		</a:t>
            </a:r>
            <a:r>
              <a:rPr lang="vi-VN" dirty="0"/>
              <a:t>Khi một thread chờ, thread khác có thể tiếp tục làm việc.</a:t>
            </a:r>
            <a:endParaRPr lang="en-US" dirty="0"/>
          </a:p>
          <a:p>
            <a:r>
              <a:rPr lang="vi-VN" b="1" dirty="0"/>
              <a:t>Đơn giản hoá cấu trúc code</a:t>
            </a:r>
            <a:r>
              <a:rPr lang="en-US" b="1" dirty="0"/>
              <a:t>		</a:t>
            </a:r>
            <a:r>
              <a:rPr lang="vi-VN" dirty="0"/>
              <a:t>Mỗi request theo một luồng, dễ đọc, dễ hiểu hơn callback.</a:t>
            </a:r>
            <a:endParaRPr lang="en-US" dirty="0"/>
          </a:p>
          <a:p>
            <a:r>
              <a:rPr lang="vi-VN" b="1" dirty="0"/>
              <a:t>Nhẹ hơn process</a:t>
            </a:r>
            <a:r>
              <a:rPr lang="en-US" b="1" dirty="0"/>
              <a:t>		</a:t>
            </a:r>
            <a:r>
              <a:rPr lang="vi-VN" dirty="0"/>
              <a:t>Threads chia sẻ tài nguyên → tạo nhanh hơn, tốn ít bộ nhớ hơn.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22</a:t>
            </a:fld>
            <a:endParaRPr lang="en-US"/>
          </a:p>
        </p:txBody>
      </p:sp>
    </p:spTree>
    <p:extLst>
      <p:ext uri="{BB962C8B-B14F-4D97-AF65-F5344CB8AC3E}">
        <p14:creationId xmlns:p14="http://schemas.microsoft.com/office/powerpoint/2010/main" val="198498630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"Why multithreading is popular: organization"</a:t>
            </a:r>
            <a:r>
              <a:rPr lang="vi-VN" dirty="0"/>
              <a:t> </a:t>
            </a:r>
            <a:endParaRPr lang="en-US" dirty="0"/>
          </a:p>
          <a:p>
            <a:r>
              <a:rPr lang="en-US" dirty="0"/>
              <a:t>G</a:t>
            </a:r>
            <a:r>
              <a:rPr lang="vi-VN" dirty="0"/>
              <a:t>iải thích một trong những mô hình thiết kế phổ biến cho các </a:t>
            </a:r>
            <a:r>
              <a:rPr lang="vi-VN" b="1" dirty="0"/>
              <a:t>server đa luồng</a:t>
            </a:r>
            <a:r>
              <a:rPr lang="vi-VN" dirty="0"/>
              <a:t>, gọi là </a:t>
            </a:r>
            <a:r>
              <a:rPr lang="vi-VN" b="1" dirty="0"/>
              <a:t>Dispatcher/Worker Model</a:t>
            </a:r>
            <a:r>
              <a:rPr lang="vi-VN" dirty="0"/>
              <a:t>, cùng với bảng tổng quan so sánh các mô hình xử lý khác nhau.</a:t>
            </a:r>
          </a:p>
          <a:p>
            <a:r>
              <a:rPr lang="en-US" b="1" dirty="0"/>
              <a:t>1. </a:t>
            </a:r>
            <a:r>
              <a:rPr lang="vi-VN" b="1" dirty="0"/>
              <a:t>Dispatcher/Worker Model</a:t>
            </a:r>
          </a:p>
          <a:p>
            <a:r>
              <a:rPr lang="en-US" b="1" dirty="0"/>
              <a:t>a. </a:t>
            </a:r>
            <a:r>
              <a:rPr lang="vi-VN" b="1" dirty="0"/>
              <a:t>Hình minh họa</a:t>
            </a:r>
          </a:p>
          <a:p>
            <a:pPr>
              <a:buFont typeface="Arial" panose="020B0604020202020204" pitchFamily="34" charset="0"/>
              <a:buChar char="•"/>
            </a:pPr>
            <a:r>
              <a:rPr lang="vi-VN" b="1" dirty="0"/>
              <a:t>Request coming in from the network</a:t>
            </a:r>
            <a:r>
              <a:rPr lang="vi-VN" dirty="0"/>
              <a:t>: Yêu cầu từ client đến server qua mạng.</a:t>
            </a:r>
          </a:p>
          <a:p>
            <a:pPr>
              <a:buFont typeface="Arial" panose="020B0604020202020204" pitchFamily="34" charset="0"/>
              <a:buChar char="•"/>
            </a:pPr>
            <a:r>
              <a:rPr lang="vi-VN" b="1" dirty="0"/>
              <a:t>Dispatcher thread</a:t>
            </a:r>
            <a:r>
              <a:rPr lang="vi-VN" dirty="0"/>
              <a:t>: Luồng trung tâm chịu trách nhiệm nhận request đầu tiên.</a:t>
            </a:r>
          </a:p>
          <a:p>
            <a:pPr>
              <a:buFont typeface="Arial" panose="020B0604020202020204" pitchFamily="34" charset="0"/>
              <a:buChar char="•"/>
            </a:pPr>
            <a:r>
              <a:rPr lang="vi-VN" b="1" dirty="0"/>
              <a:t>Worker threads</a:t>
            </a:r>
            <a:r>
              <a:rPr lang="vi-VN" dirty="0"/>
              <a:t>: Các luồng con chuyên xử lý từng request cụ thể.</a:t>
            </a:r>
          </a:p>
          <a:p>
            <a:pPr>
              <a:buFont typeface="Arial" panose="020B0604020202020204" pitchFamily="34" charset="0"/>
              <a:buChar char="•"/>
            </a:pPr>
            <a:r>
              <a:rPr lang="vi-VN" b="1" dirty="0"/>
              <a:t>Request dispatched to a worker thread</a:t>
            </a:r>
            <a:r>
              <a:rPr lang="vi-VN" dirty="0"/>
              <a:t>: Dispatcher phân phối từng request cho worker tương ứng để xử lý song song.</a:t>
            </a:r>
          </a:p>
          <a:p>
            <a:pPr>
              <a:buFont typeface="Arial" panose="020B0604020202020204" pitchFamily="34" charset="0"/>
              <a:buChar char="•"/>
            </a:pPr>
            <a:r>
              <a:rPr lang="vi-VN" dirty="0"/>
              <a:t>Tất cả hoạt động </a:t>
            </a:r>
            <a:r>
              <a:rPr lang="vi-VN" b="1" dirty="0"/>
              <a:t>bên trong server</a:t>
            </a:r>
            <a:r>
              <a:rPr lang="vi-VN" dirty="0"/>
              <a:t>, do </a:t>
            </a:r>
            <a:r>
              <a:rPr lang="vi-VN" b="1" dirty="0"/>
              <a:t>hệ điều hành quản lý luồng và tài nguyên</a:t>
            </a:r>
            <a:r>
              <a:rPr lang="vi-VN" dirty="0"/>
              <a:t>.</a:t>
            </a:r>
          </a:p>
          <a:p>
            <a:r>
              <a:rPr lang="en-US" b="1" dirty="0"/>
              <a:t>b. </a:t>
            </a:r>
            <a:r>
              <a:rPr lang="vi-VN" b="1" dirty="0"/>
              <a:t>Ý tưởng chính:</a:t>
            </a:r>
          </a:p>
          <a:p>
            <a:pPr>
              <a:buFont typeface="+mj-lt"/>
              <a:buNone/>
            </a:pPr>
            <a:r>
              <a:rPr lang="en-US" b="1" dirty="0"/>
              <a:t>- </a:t>
            </a:r>
            <a:r>
              <a:rPr lang="vi-VN" b="1" dirty="0"/>
              <a:t>Dispatcher thread</a:t>
            </a:r>
            <a:r>
              <a:rPr lang="vi-VN" dirty="0"/>
              <a:t> nhận tất cả các request đến.</a:t>
            </a:r>
          </a:p>
          <a:p>
            <a:pPr>
              <a:buFont typeface="+mj-lt"/>
              <a:buNone/>
            </a:pPr>
            <a:r>
              <a:rPr lang="en-US" dirty="0"/>
              <a:t>- </a:t>
            </a:r>
            <a:r>
              <a:rPr lang="vi-VN" dirty="0"/>
              <a:t>Thay vì xử lý luôn, dispatcher </a:t>
            </a:r>
            <a:r>
              <a:rPr lang="vi-VN" b="1" dirty="0"/>
              <a:t>giao việc</a:t>
            </a:r>
            <a:r>
              <a:rPr lang="vi-VN" dirty="0"/>
              <a:t> cho một trong các </a:t>
            </a:r>
            <a:r>
              <a:rPr lang="vi-VN" b="1" dirty="0"/>
              <a:t>worker thread</a:t>
            </a:r>
            <a:r>
              <a:rPr lang="vi-VN" dirty="0"/>
              <a:t>.</a:t>
            </a:r>
          </a:p>
          <a:p>
            <a:pPr>
              <a:buFont typeface="+mj-lt"/>
              <a:buNone/>
            </a:pPr>
            <a:r>
              <a:rPr lang="en-US" dirty="0"/>
              <a:t>- </a:t>
            </a:r>
            <a:r>
              <a:rPr lang="vi-VN" dirty="0"/>
              <a:t>Các worker xử lý song song, có thể cùng lúc xử lý nhiều request → </a:t>
            </a:r>
            <a:r>
              <a:rPr lang="vi-VN" b="1" dirty="0"/>
              <a:t>tận dụng đa lõi CPU</a:t>
            </a:r>
            <a:r>
              <a:rPr lang="vi-VN" dirty="0"/>
              <a:t>, </a:t>
            </a:r>
            <a:r>
              <a:rPr lang="vi-VN" b="1" dirty="0"/>
              <a:t>giảm độ trễ</a:t>
            </a:r>
            <a:r>
              <a:rPr lang="vi-VN" dirty="0"/>
              <a:t>.</a:t>
            </a:r>
          </a:p>
          <a:p>
            <a:pPr>
              <a:buFont typeface="+mj-lt"/>
              <a:buNone/>
            </a:pPr>
            <a:r>
              <a:rPr lang="en-US" dirty="0"/>
              <a:t>- </a:t>
            </a:r>
            <a:r>
              <a:rPr lang="vi-VN" dirty="0"/>
              <a:t>Dễ mở rộng và quản lý tài nguyên tốt hơn.</a:t>
            </a:r>
          </a:p>
          <a:p>
            <a:endParaRPr lang="en-US" b="1" dirty="0"/>
          </a:p>
          <a:p>
            <a:r>
              <a:rPr lang="en-US" b="1" dirty="0"/>
              <a:t>2. </a:t>
            </a:r>
            <a:r>
              <a:rPr lang="vi-VN" b="1" dirty="0"/>
              <a:t>Overview – So sánh mô hình</a:t>
            </a:r>
          </a:p>
          <a:p>
            <a:r>
              <a:rPr lang="en-US" b="1" dirty="0"/>
              <a:t>a. </a:t>
            </a:r>
            <a:r>
              <a:rPr lang="en-US" b="1" dirty="0" err="1"/>
              <a:t>Bảng</a:t>
            </a:r>
            <a:r>
              <a:rPr lang="en-US" b="1" dirty="0"/>
              <a:t> so </a:t>
            </a:r>
            <a:r>
              <a:rPr lang="en-US" b="1" dirty="0" err="1"/>
              <a:t>sánh</a:t>
            </a:r>
            <a:endParaRPr lang="en-US" b="1" dirty="0"/>
          </a:p>
          <a:p>
            <a:r>
              <a:rPr lang="vi-VN" b="1" dirty="0"/>
              <a:t>Model</a:t>
            </a:r>
            <a:r>
              <a:rPr lang="en-US" b="1" dirty="0"/>
              <a:t>		</a:t>
            </a:r>
            <a:r>
              <a:rPr lang="vi-VN" b="1" dirty="0"/>
              <a:t>Characteristics</a:t>
            </a:r>
            <a:endParaRPr lang="en-US" b="1" dirty="0"/>
          </a:p>
          <a:p>
            <a:r>
              <a:rPr lang="vi-VN" b="1" dirty="0"/>
              <a:t>Multithreading</a:t>
            </a:r>
            <a:r>
              <a:rPr lang="en-US" b="1" dirty="0"/>
              <a:t>	</a:t>
            </a:r>
            <a:r>
              <a:rPr lang="vi-VN" dirty="0"/>
              <a:t>Có song song, Gọi hệ thống dạng blocking (chờ kết quả)</a:t>
            </a:r>
            <a:endParaRPr lang="en-US" dirty="0"/>
          </a:p>
          <a:p>
            <a:r>
              <a:rPr lang="vi-VN" b="1" dirty="0"/>
              <a:t>Single-threaded process</a:t>
            </a:r>
            <a:r>
              <a:rPr lang="en-US" b="1" dirty="0"/>
              <a:t>	</a:t>
            </a:r>
            <a:r>
              <a:rPr lang="vi-VN" dirty="0"/>
              <a:t>Không song song, Blocking calls</a:t>
            </a:r>
            <a:endParaRPr lang="en-US" dirty="0"/>
          </a:p>
          <a:p>
            <a:r>
              <a:rPr lang="vi-VN" b="1" dirty="0"/>
              <a:t>Finite-state machine</a:t>
            </a:r>
            <a:r>
              <a:rPr lang="en-US" b="1" dirty="0"/>
              <a:t>	</a:t>
            </a:r>
            <a:r>
              <a:rPr lang="vi-VN" dirty="0"/>
              <a:t>Có song song, Gọi hệ thống non-blocking (không chờ)</a:t>
            </a:r>
            <a:endParaRPr lang="en-US" dirty="0"/>
          </a:p>
          <a:p>
            <a:r>
              <a:rPr lang="en-US" b="1" dirty="0"/>
              <a:t>b. </a:t>
            </a:r>
            <a:r>
              <a:rPr lang="vi-VN" b="1" dirty="0"/>
              <a:t>Giải thích:</a:t>
            </a:r>
          </a:p>
          <a:p>
            <a:pPr>
              <a:buFont typeface="+mj-lt"/>
              <a:buNone/>
            </a:pPr>
            <a:r>
              <a:rPr lang="en-US" b="1" dirty="0"/>
              <a:t>- </a:t>
            </a:r>
            <a:r>
              <a:rPr lang="vi-VN" b="1" dirty="0"/>
              <a:t>Multithreading:</a:t>
            </a:r>
            <a:endParaRPr lang="vi-VN" dirty="0"/>
          </a:p>
          <a:p>
            <a:pPr marL="457200" lvl="1" indent="0">
              <a:buFont typeface="+mj-lt"/>
              <a:buNone/>
            </a:pPr>
            <a:r>
              <a:rPr lang="en-US" dirty="0"/>
              <a:t>+ </a:t>
            </a:r>
            <a:r>
              <a:rPr lang="vi-VN" dirty="0"/>
              <a:t>Dùng nhiều thread → có thể xử lý nhiều request cùng lúc (song song).</a:t>
            </a:r>
          </a:p>
          <a:p>
            <a:pPr marL="457200" lvl="1" indent="0">
              <a:buFont typeface="+mj-lt"/>
              <a:buNone/>
            </a:pPr>
            <a:r>
              <a:rPr lang="en-US" dirty="0"/>
              <a:t>+ </a:t>
            </a:r>
            <a:r>
              <a:rPr lang="vi-VN" dirty="0"/>
              <a:t>Mỗi thread có thể gọi các hàm blocking (chờ kết quả), vì thread khác vẫn chạy được.</a:t>
            </a:r>
          </a:p>
          <a:p>
            <a:pPr>
              <a:buFont typeface="+mj-lt"/>
              <a:buNone/>
            </a:pPr>
            <a:r>
              <a:rPr lang="en-US" b="1" dirty="0"/>
              <a:t>- </a:t>
            </a:r>
            <a:r>
              <a:rPr lang="vi-VN" b="1" dirty="0"/>
              <a:t>Single-threaded process:</a:t>
            </a:r>
            <a:endParaRPr lang="vi-VN" dirty="0"/>
          </a:p>
          <a:p>
            <a:pPr marL="457200" lvl="1" indent="0">
              <a:buFont typeface="+mj-lt"/>
              <a:buNone/>
            </a:pPr>
            <a:r>
              <a:rPr lang="en-US" dirty="0"/>
              <a:t>+ </a:t>
            </a:r>
            <a:r>
              <a:rPr lang="vi-VN" dirty="0"/>
              <a:t>Chỉ một luồng → không có song song.</a:t>
            </a:r>
          </a:p>
          <a:p>
            <a:pPr marL="457200" lvl="1" indent="0">
              <a:buFont typeface="+mj-lt"/>
              <a:buNone/>
            </a:pPr>
            <a:r>
              <a:rPr lang="en-US" dirty="0"/>
              <a:t>+ </a:t>
            </a:r>
            <a:r>
              <a:rPr lang="vi-VN" dirty="0"/>
              <a:t>Nếu gọi blocking I/O (ví dụ: đọc file hay nhận dữ liệu mạng), chương trình </a:t>
            </a:r>
            <a:r>
              <a:rPr lang="vi-VN" b="1" dirty="0"/>
              <a:t>bị treo</a:t>
            </a:r>
            <a:r>
              <a:rPr lang="vi-VN" dirty="0"/>
              <a:t> chờ kết quả.</a:t>
            </a:r>
          </a:p>
          <a:p>
            <a:pPr>
              <a:buFont typeface="+mj-lt"/>
              <a:buNone/>
            </a:pPr>
            <a:r>
              <a:rPr lang="en-US" b="1" dirty="0"/>
              <a:t>- </a:t>
            </a:r>
            <a:r>
              <a:rPr lang="vi-VN" b="1" dirty="0"/>
              <a:t>Finite-state machine (FSM):</a:t>
            </a:r>
            <a:endParaRPr lang="vi-VN" dirty="0"/>
          </a:p>
          <a:p>
            <a:pPr marL="457200" lvl="1" indent="0">
              <a:buFont typeface="+mj-lt"/>
              <a:buNone/>
            </a:pPr>
            <a:r>
              <a:rPr lang="en-US" dirty="0"/>
              <a:t>+ </a:t>
            </a:r>
            <a:r>
              <a:rPr lang="vi-VN" dirty="0"/>
              <a:t>Mô hình phức tạp hơn, không dùng nhiều thread.</a:t>
            </a:r>
          </a:p>
          <a:p>
            <a:pPr marL="457200" lvl="1" indent="0">
              <a:buFont typeface="+mj-lt"/>
              <a:buNone/>
            </a:pPr>
            <a:r>
              <a:rPr lang="en-US" dirty="0"/>
              <a:t>+ </a:t>
            </a:r>
            <a:r>
              <a:rPr lang="vi-VN" dirty="0"/>
              <a:t>Dùng non-blocking I/O + logic trạng thái → xử lý nhiều request nhưng </a:t>
            </a:r>
            <a:r>
              <a:rPr lang="vi-VN" b="1" dirty="0"/>
              <a:t>phải viết code khó hơn</a:t>
            </a:r>
            <a:r>
              <a:rPr lang="vi-VN" dirty="0"/>
              <a:t>.</a:t>
            </a:r>
          </a:p>
          <a:p>
            <a:pPr marL="457200" lvl="1" indent="0">
              <a:buFont typeface="+mj-lt"/>
              <a:buNone/>
            </a:pPr>
            <a:r>
              <a:rPr lang="en-US" dirty="0"/>
              <a:t>+ </a:t>
            </a:r>
            <a:r>
              <a:rPr lang="vi-VN" dirty="0"/>
              <a:t>Dễ mở rộng, nhưng code thường </a:t>
            </a:r>
            <a:r>
              <a:rPr lang="vi-VN" b="1" dirty="0"/>
              <a:t>khó đọc và debug hơn</a:t>
            </a:r>
            <a:r>
              <a:rPr lang="vi-VN" dirty="0"/>
              <a:t> multithreading.</a:t>
            </a:r>
          </a:p>
          <a:p>
            <a:endParaRPr lang="en-US" b="1" dirty="0"/>
          </a:p>
          <a:p>
            <a:r>
              <a:rPr lang="en-US" b="1" dirty="0"/>
              <a:t>3. </a:t>
            </a:r>
            <a:r>
              <a:rPr lang="vi-VN" b="1" dirty="0"/>
              <a:t>Tóm tắt: Tại sao multithreading phổ biến?</a:t>
            </a:r>
          </a:p>
          <a:p>
            <a:pPr>
              <a:buFont typeface="Arial" panose="020B0604020202020204" pitchFamily="34" charset="0"/>
              <a:buChar char="•"/>
            </a:pPr>
            <a:r>
              <a:rPr lang="vi-VN" dirty="0"/>
              <a:t>Dễ thiết kế (mỗi request trong 1 thread).</a:t>
            </a:r>
          </a:p>
          <a:p>
            <a:pPr>
              <a:buFont typeface="Arial" panose="020B0604020202020204" pitchFamily="34" charset="0"/>
              <a:buChar char="•"/>
            </a:pPr>
            <a:r>
              <a:rPr lang="vi-VN" dirty="0"/>
              <a:t>Dễ tận dụng CPU đa lõi.</a:t>
            </a:r>
          </a:p>
          <a:p>
            <a:pPr>
              <a:buFont typeface="Arial" panose="020B0604020202020204" pitchFamily="34" charset="0"/>
              <a:buChar char="•"/>
            </a:pPr>
            <a:r>
              <a:rPr lang="vi-VN" dirty="0"/>
              <a:t>Có thể dùng blocking calls đơn giản mà vẫn hiệu quả.</a:t>
            </a:r>
          </a:p>
          <a:p>
            <a:pPr>
              <a:buFont typeface="Arial" panose="020B0604020202020204" pitchFamily="34" charset="0"/>
              <a:buChar char="•"/>
            </a:pPr>
            <a:r>
              <a:rPr lang="vi-VN" dirty="0"/>
              <a:t>Quản lý rõ ràng hơn FSM, nhưng vẫn có hiệu suất tốt hơn single-threaded.</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23</a:t>
            </a:fld>
            <a:endParaRPr lang="en-US"/>
          </a:p>
        </p:txBody>
      </p:sp>
    </p:spTree>
    <p:extLst>
      <p:ext uri="{BB962C8B-B14F-4D97-AF65-F5344CB8AC3E}">
        <p14:creationId xmlns:p14="http://schemas.microsoft.com/office/powerpoint/2010/main" val="297008604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Virtualization (Ảo hóa)</a:t>
            </a:r>
            <a:endParaRPr lang="en-US" b="1" dirty="0"/>
          </a:p>
          <a:p>
            <a:r>
              <a:rPr lang="en-US" b="0" dirty="0" err="1"/>
              <a:t>Ảo</a:t>
            </a:r>
            <a:r>
              <a:rPr lang="en-US" b="0" dirty="0"/>
              <a:t> </a:t>
            </a:r>
            <a:r>
              <a:rPr lang="en-US" b="0" dirty="0" err="1"/>
              <a:t>hóa</a:t>
            </a:r>
            <a:r>
              <a:rPr lang="en-US" b="0" dirty="0"/>
              <a:t> </a:t>
            </a:r>
            <a:r>
              <a:rPr lang="en-US" b="0" dirty="0" err="1"/>
              <a:t>là</a:t>
            </a:r>
            <a:r>
              <a:rPr lang="en-US" b="1" dirty="0"/>
              <a:t> </a:t>
            </a:r>
            <a:r>
              <a:rPr lang="vi-VN" dirty="0"/>
              <a:t>một khái niệm rất quan trọng trong lĩnh vực hệ thống và phần mềm. Dưới đây là phần giải thích chi tiết:</a:t>
            </a:r>
          </a:p>
          <a:p>
            <a:endParaRPr lang="en-US" b="1" dirty="0"/>
          </a:p>
          <a:p>
            <a:r>
              <a:rPr lang="vi-VN" b="1" dirty="0"/>
              <a:t>1</a:t>
            </a:r>
            <a:r>
              <a:rPr lang="en-US" b="1" dirty="0"/>
              <a:t>.</a:t>
            </a:r>
            <a:r>
              <a:rPr lang="vi-VN" b="1" dirty="0"/>
              <a:t> Observation </a:t>
            </a:r>
            <a:r>
              <a:rPr lang="en-US" b="1" dirty="0"/>
              <a:t>/ </a:t>
            </a:r>
            <a:r>
              <a:rPr lang="en-US" b="1" dirty="0" err="1"/>
              <a:t>Nhận</a:t>
            </a:r>
            <a:r>
              <a:rPr lang="en-US" b="1" dirty="0"/>
              <a:t> </a:t>
            </a:r>
            <a:r>
              <a:rPr lang="en-US" b="1" dirty="0" err="1"/>
              <a:t>xét</a:t>
            </a:r>
            <a:r>
              <a:rPr lang="en-US" b="1" dirty="0"/>
              <a:t> </a:t>
            </a:r>
            <a:r>
              <a:rPr lang="vi-VN" b="1" dirty="0"/>
              <a:t>– Tại sao ảo hóa quan trọng?</a:t>
            </a:r>
          </a:p>
          <a:p>
            <a:r>
              <a:rPr lang="vi-VN" dirty="0"/>
              <a:t>Ảo hóa mang lại nhiều lợi ích:</a:t>
            </a:r>
          </a:p>
          <a:p>
            <a:pPr>
              <a:buFont typeface="Arial" panose="020B0604020202020204" pitchFamily="34" charset="0"/>
              <a:buChar char="•"/>
            </a:pPr>
            <a:r>
              <a:rPr lang="vi-VN" b="1" dirty="0"/>
              <a:t>Hardware changes faster than software</a:t>
            </a:r>
            <a:br>
              <a:rPr lang="vi-VN" dirty="0"/>
            </a:br>
            <a:r>
              <a:rPr lang="vi-VN" dirty="0"/>
              <a:t>→ Phần cứng thay đổi nhanh hơn phần mềm. Nếu mỗi khi phần cứng thay đổi mà phần mềm phải viết lại từ đầu thì sẽ rất tốn kém. Ảo hóa giúp phần mềm vẫn chạy được trên phần cứng mới mà không cần viết lại.</a:t>
            </a:r>
          </a:p>
          <a:p>
            <a:pPr>
              <a:buFont typeface="Arial" panose="020B0604020202020204" pitchFamily="34" charset="0"/>
              <a:buChar char="•"/>
            </a:pPr>
            <a:r>
              <a:rPr lang="vi-VN" b="1" dirty="0"/>
              <a:t>Ease of portability and code migration</a:t>
            </a:r>
            <a:br>
              <a:rPr lang="vi-VN" dirty="0"/>
            </a:br>
            <a:r>
              <a:rPr lang="vi-VN" dirty="0"/>
              <a:t>→ Dễ dàng chuyển phần mềm từ một hệ thống này sang hệ thống khác mà không cần thay đổi mã nguồn. Điều này đặc biệt quan trọng với các hệ thống phân tán và điện toán đám mây.</a:t>
            </a:r>
          </a:p>
          <a:p>
            <a:pPr>
              <a:buFont typeface="Arial" panose="020B0604020202020204" pitchFamily="34" charset="0"/>
              <a:buChar char="•"/>
            </a:pPr>
            <a:r>
              <a:rPr lang="vi-VN" b="1" dirty="0"/>
              <a:t>Isolation of failing or attacked components</a:t>
            </a:r>
            <a:br>
              <a:rPr lang="vi-VN" dirty="0"/>
            </a:br>
            <a:r>
              <a:rPr lang="vi-VN" dirty="0"/>
              <a:t>→ Các thành phần phần mềm có thể được cách ly để bảo vệ hệ thống khỏi lỗi hoặc các cuộc tấn công. Nếu một chương trình bị lỗi hay bị tấn công, nó sẽ không ảnh hưởng đến các chương trình khác chạy song song.</a:t>
            </a:r>
          </a:p>
          <a:p>
            <a:endParaRPr lang="en-US" b="1" dirty="0"/>
          </a:p>
          <a:p>
            <a:r>
              <a:rPr lang="en-US" b="1" dirty="0"/>
              <a:t>2.</a:t>
            </a:r>
            <a:r>
              <a:rPr lang="vi-VN" b="1" dirty="0"/>
              <a:t> Principle – Mimicking interfaces (Nguyên lý bắt chước giao diện)</a:t>
            </a:r>
          </a:p>
          <a:p>
            <a:r>
              <a:rPr lang="en-US" dirty="0" err="1"/>
              <a:t>Hình</a:t>
            </a:r>
            <a:r>
              <a:rPr lang="en-US" dirty="0"/>
              <a:t> </a:t>
            </a:r>
            <a:r>
              <a:rPr lang="en-US" dirty="0" err="1"/>
              <a:t>minh</a:t>
            </a:r>
            <a:r>
              <a:rPr lang="en-US" dirty="0"/>
              <a:t> </a:t>
            </a:r>
            <a:r>
              <a:rPr lang="en-US" dirty="0" err="1"/>
              <a:t>họa</a:t>
            </a:r>
            <a:r>
              <a:rPr lang="en-US" dirty="0"/>
              <a:t> </a:t>
            </a:r>
            <a:r>
              <a:rPr lang="vi-VN" dirty="0"/>
              <a:t>cách mà ảo hóa hoạt động:</a:t>
            </a:r>
          </a:p>
          <a:p>
            <a:pPr>
              <a:buFont typeface="Arial" panose="020B0604020202020204" pitchFamily="34" charset="0"/>
              <a:buChar char="•"/>
            </a:pPr>
            <a:r>
              <a:rPr lang="vi-VN" b="1" dirty="0"/>
              <a:t>Hình bên trái</a:t>
            </a:r>
            <a:r>
              <a:rPr lang="vi-VN" dirty="0"/>
              <a:t>:</a:t>
            </a:r>
            <a:br>
              <a:rPr lang="vi-VN" dirty="0"/>
            </a:br>
            <a:r>
              <a:rPr lang="vi-VN" dirty="0"/>
              <a:t>Một chương trình chạy trực tiếp trên hệ thống A, thông qua giao diện A. Không có lớp trung gian nào – đây là hệ thống nguyên gốc.</a:t>
            </a:r>
          </a:p>
          <a:p>
            <a:pPr>
              <a:buFont typeface="Arial" panose="020B0604020202020204" pitchFamily="34" charset="0"/>
              <a:buChar char="•"/>
            </a:pPr>
            <a:r>
              <a:rPr lang="vi-VN" b="1" dirty="0"/>
              <a:t>Hình bên phải</a:t>
            </a:r>
            <a:r>
              <a:rPr lang="vi-VN" dirty="0"/>
              <a:t>:</a:t>
            </a:r>
            <a:br>
              <a:rPr lang="vi-VN" dirty="0"/>
            </a:br>
            <a:r>
              <a:rPr lang="vi-VN" dirty="0"/>
              <a:t>Ta muốn chạy chương trình đó trên </a:t>
            </a:r>
            <a:r>
              <a:rPr lang="vi-VN" b="1" dirty="0"/>
              <a:t>hệ thống B</a:t>
            </a:r>
            <a:r>
              <a:rPr lang="vi-VN" dirty="0"/>
              <a:t> (không tương thích trực tiếp). Giải pháp là </a:t>
            </a:r>
            <a:r>
              <a:rPr lang="vi-VN" b="1" dirty="0"/>
              <a:t>mô phỏng giao diện A trên B</a:t>
            </a:r>
            <a:r>
              <a:rPr lang="vi-VN" dirty="0"/>
              <a:t>.</a:t>
            </a:r>
            <a:br>
              <a:rPr lang="vi-VN" dirty="0"/>
            </a:br>
            <a:r>
              <a:rPr lang="vi-VN" dirty="0"/>
              <a:t>Cụ thể:</a:t>
            </a:r>
          </a:p>
          <a:p>
            <a:pPr marL="742950" lvl="1" indent="-285750">
              <a:buFont typeface="Arial" panose="020B0604020202020204" pitchFamily="34" charset="0"/>
              <a:buChar char="•"/>
            </a:pPr>
            <a:r>
              <a:rPr lang="vi-VN" dirty="0"/>
              <a:t>Giao diện A được “bắt chước” (mimicked) bởi một lớp phần mềm chạy trên giao diện B.</a:t>
            </a:r>
          </a:p>
          <a:p>
            <a:pPr marL="742950" lvl="1" indent="-285750">
              <a:buFont typeface="Arial" panose="020B0604020202020204" pitchFamily="34" charset="0"/>
              <a:buChar char="•"/>
            </a:pPr>
            <a:r>
              <a:rPr lang="vi-VN" dirty="0"/>
              <a:t>Nhờ đó, chương trình nghĩ rằng nó đang chạy trên hệ thống A, dù thật ra nó đang chạy trên hệ thống B.</a:t>
            </a:r>
          </a:p>
          <a:p>
            <a:endParaRPr lang="en-US" b="1" dirty="0"/>
          </a:p>
          <a:p>
            <a:r>
              <a:rPr lang="en-US" b="1" dirty="0"/>
              <a:t>3.</a:t>
            </a:r>
            <a:r>
              <a:rPr lang="vi-VN" b="1" dirty="0"/>
              <a:t>Tóm lại:</a:t>
            </a:r>
          </a:p>
          <a:p>
            <a:r>
              <a:rPr lang="vi-VN" dirty="0"/>
              <a:t>Ảo hóa cho phép chương trình chạy trên các nền tảng khác nhau mà không cần sửa đổi, nhờ vào việc </a:t>
            </a:r>
            <a:r>
              <a:rPr lang="vi-VN" b="1" dirty="0"/>
              <a:t>mô phỏng giao diện hệ thống cũ trên hệ thống mới</a:t>
            </a:r>
            <a:r>
              <a:rPr lang="vi-VN" dirty="0"/>
              <a:t>. Điều này giúp tăng tính linh hoạt, dễ di chuyển, và bảo mật.</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24</a:t>
            </a:fld>
            <a:endParaRPr lang="en-US"/>
          </a:p>
        </p:txBody>
      </p:sp>
    </p:spTree>
    <p:extLst>
      <p:ext uri="{BB962C8B-B14F-4D97-AF65-F5344CB8AC3E}">
        <p14:creationId xmlns:p14="http://schemas.microsoft.com/office/powerpoint/2010/main" val="355226167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"Mimicking Interfaces“</a:t>
            </a:r>
            <a:endParaRPr lang="en-US" b="1" dirty="0"/>
          </a:p>
          <a:p>
            <a:r>
              <a:rPr lang="en-US" b="0" dirty="0" err="1"/>
              <a:t>Thảo</a:t>
            </a:r>
            <a:r>
              <a:rPr lang="en-US" b="0" dirty="0"/>
              <a:t> </a:t>
            </a:r>
            <a:r>
              <a:rPr lang="en-US" b="0" dirty="0" err="1"/>
              <a:t>luận</a:t>
            </a:r>
            <a:r>
              <a:rPr lang="vi-VN" dirty="0"/>
              <a:t> về các </a:t>
            </a:r>
            <a:r>
              <a:rPr lang="vi-VN" b="1" dirty="0"/>
              <a:t>loại giao diện (interfaces)</a:t>
            </a:r>
            <a:r>
              <a:rPr lang="vi-VN" dirty="0"/>
              <a:t> mà hệ thống ảo hóa (virtualization) cần phải </a:t>
            </a:r>
            <a:r>
              <a:rPr lang="vi-VN" b="1" dirty="0"/>
              <a:t>bắt chước (mimic)</a:t>
            </a:r>
            <a:r>
              <a:rPr lang="vi-VN" dirty="0"/>
              <a:t> để chương trình có thể chạy trên một hệ thống khác mà không biết rằng mình không ở “nhà” nữa.</a:t>
            </a:r>
          </a:p>
          <a:p>
            <a:r>
              <a:rPr lang="en-US" b="1" dirty="0"/>
              <a:t>T</a:t>
            </a:r>
            <a:r>
              <a:rPr lang="vi-VN" b="1" dirty="0"/>
              <a:t>ổng quan: Có 4 loại giao diện thuộc 3 tầng khác nhau</a:t>
            </a:r>
          </a:p>
          <a:p>
            <a:endParaRPr lang="en-US" b="1" dirty="0"/>
          </a:p>
          <a:p>
            <a:r>
              <a:rPr lang="vi-VN" b="1" dirty="0"/>
              <a:t>1. Instruction Set Architecture (ISA) – Kiến trúc tập lệnh</a:t>
            </a:r>
          </a:p>
          <a:p>
            <a:r>
              <a:rPr lang="vi-VN" dirty="0"/>
              <a:t>Đây là tầng thấp nhất – gần phần cứng nhất. Là tập hợp các </a:t>
            </a:r>
            <a:r>
              <a:rPr lang="vi-VN" b="1" dirty="0"/>
              <a:t>lệnh máy (machine instructions)</a:t>
            </a:r>
            <a:r>
              <a:rPr lang="vi-VN" dirty="0"/>
              <a:t> mà phần cứng có thể hiểu và thực thi. Trong ISA có 2 loại lệnh:</a:t>
            </a:r>
          </a:p>
          <a:p>
            <a:pPr>
              <a:buFont typeface="Arial" panose="020B0604020202020204" pitchFamily="34" charset="0"/>
              <a:buChar char="•"/>
            </a:pPr>
            <a:r>
              <a:rPr lang="en-US" dirty="0"/>
              <a:t> </a:t>
            </a:r>
            <a:r>
              <a:rPr lang="vi-VN" b="1" dirty="0"/>
              <a:t>Privileged Instructions (Lệnh đặc quyền)</a:t>
            </a:r>
            <a:endParaRPr lang="vi-VN" dirty="0"/>
          </a:p>
          <a:p>
            <a:pPr marL="742950" lvl="1" indent="-285750">
              <a:buFont typeface="Arial" panose="020B0604020202020204" pitchFamily="34" charset="0"/>
              <a:buChar char="•"/>
            </a:pPr>
            <a:r>
              <a:rPr lang="vi-VN" dirty="0"/>
              <a:t>Chỉ hệ điều hành (OS) mới được phép thực thi.</a:t>
            </a:r>
          </a:p>
          <a:p>
            <a:pPr marL="742950" lvl="1" indent="-285750">
              <a:buFont typeface="Arial" panose="020B0604020202020204" pitchFamily="34" charset="0"/>
              <a:buChar char="•"/>
            </a:pPr>
            <a:r>
              <a:rPr lang="vi-VN" dirty="0"/>
              <a:t>Ví dụ: truy cập bộ nhớ, điều khiển thiết bị phần cứng.</a:t>
            </a:r>
          </a:p>
          <a:p>
            <a:pPr marL="742950" lvl="1" indent="-285750">
              <a:buFont typeface="Arial" panose="020B0604020202020204" pitchFamily="34" charset="0"/>
              <a:buChar char="•"/>
            </a:pPr>
            <a:r>
              <a:rPr lang="vi-VN" dirty="0"/>
              <a:t>Nếu chương trình bình thường cố thực hiện các lệnh này, sẽ gây lỗi (trap).</a:t>
            </a:r>
          </a:p>
          <a:p>
            <a:pPr>
              <a:buFont typeface="Arial" panose="020B0604020202020204" pitchFamily="34" charset="0"/>
              <a:buChar char="•"/>
            </a:pPr>
            <a:r>
              <a:rPr lang="en-US" dirty="0"/>
              <a:t> </a:t>
            </a:r>
            <a:r>
              <a:rPr lang="vi-VN" b="1" dirty="0"/>
              <a:t>General Instructions (Lệnh phổ thông)</a:t>
            </a:r>
            <a:endParaRPr lang="vi-VN" dirty="0"/>
          </a:p>
          <a:p>
            <a:pPr marL="742950" lvl="1" indent="-285750">
              <a:buFont typeface="Arial" panose="020B0604020202020204" pitchFamily="34" charset="0"/>
              <a:buChar char="•"/>
            </a:pPr>
            <a:r>
              <a:rPr lang="vi-VN" dirty="0"/>
              <a:t>Các chương trình ứng dụng có thể sử dụng được.</a:t>
            </a:r>
          </a:p>
          <a:p>
            <a:pPr marL="742950" lvl="1" indent="-285750">
              <a:buFont typeface="Arial" panose="020B0604020202020204" pitchFamily="34" charset="0"/>
              <a:buChar char="•"/>
            </a:pPr>
            <a:r>
              <a:rPr lang="vi-VN" dirty="0"/>
              <a:t>Ví dụ: cộng, trừ, load, store...</a:t>
            </a:r>
          </a:p>
          <a:p>
            <a:r>
              <a:rPr lang="en-US" dirty="0"/>
              <a:t>→ </a:t>
            </a:r>
            <a:r>
              <a:rPr lang="vi-VN" dirty="0"/>
              <a:t>Một hệ thống ảo hóa phải </a:t>
            </a:r>
            <a:r>
              <a:rPr lang="vi-VN" b="1" dirty="0"/>
              <a:t>bắt chước cả hai loại này</a:t>
            </a:r>
            <a:r>
              <a:rPr lang="vi-VN" dirty="0"/>
              <a:t> nếu muốn giả lập một hệ thống ở cấp độ phần cứng.</a:t>
            </a:r>
          </a:p>
          <a:p>
            <a:endParaRPr lang="en-US" b="1" dirty="0"/>
          </a:p>
          <a:p>
            <a:r>
              <a:rPr lang="vi-VN" b="1" dirty="0"/>
              <a:t>2. System Calls – Lời gọi hệ thống</a:t>
            </a:r>
          </a:p>
          <a:p>
            <a:pPr>
              <a:buFont typeface="Arial" panose="020B0604020202020204" pitchFamily="34" charset="0"/>
              <a:buChar char="•"/>
            </a:pPr>
            <a:r>
              <a:rPr lang="vi-VN" dirty="0"/>
              <a:t>Là </a:t>
            </a:r>
            <a:r>
              <a:rPr lang="vi-VN" b="1" dirty="0"/>
              <a:t>giao diện giữa chương trình ứng dụng và hệ điều hành</a:t>
            </a:r>
            <a:r>
              <a:rPr lang="vi-VN" dirty="0"/>
              <a:t>.</a:t>
            </a:r>
          </a:p>
          <a:p>
            <a:pPr>
              <a:buFont typeface="Arial" panose="020B0604020202020204" pitchFamily="34" charset="0"/>
              <a:buChar char="•"/>
            </a:pPr>
            <a:r>
              <a:rPr lang="vi-VN" dirty="0"/>
              <a:t>Ví dụ: read(), write(), fork(), exec().</a:t>
            </a:r>
          </a:p>
          <a:p>
            <a:pPr>
              <a:buFont typeface="Arial" panose="020B0604020202020204" pitchFamily="34" charset="0"/>
              <a:buChar char="•"/>
            </a:pPr>
            <a:r>
              <a:rPr lang="vi-VN" dirty="0"/>
              <a:t>Khi một chương trình muốn dùng tài nguyên hệ thống (file, bộ nhớ, tiến trình...), nó gọi system call.</a:t>
            </a:r>
          </a:p>
          <a:p>
            <a:r>
              <a:rPr lang="en-US" dirty="0"/>
              <a:t>→ </a:t>
            </a:r>
            <a:r>
              <a:rPr lang="vi-VN" dirty="0"/>
              <a:t>Virtualization ở cấp OS (như containers hoặc user-level virtualization) cần </a:t>
            </a:r>
            <a:r>
              <a:rPr lang="vi-VN" b="1" dirty="0"/>
              <a:t>bắt chước cách hệ điều hành xử lý system call</a:t>
            </a:r>
            <a:r>
              <a:rPr lang="vi-VN" dirty="0"/>
              <a:t>.</a:t>
            </a:r>
          </a:p>
          <a:p>
            <a:endParaRPr lang="en-US" b="1" dirty="0"/>
          </a:p>
          <a:p>
            <a:r>
              <a:rPr lang="vi-VN" b="1" dirty="0"/>
              <a:t>3. Library Calls / APIs – Lời gọi thư viện</a:t>
            </a:r>
          </a:p>
          <a:p>
            <a:pPr>
              <a:buFont typeface="Arial" panose="020B0604020202020204" pitchFamily="34" charset="0"/>
              <a:buChar char="•"/>
            </a:pPr>
            <a:r>
              <a:rPr lang="vi-VN" dirty="0"/>
              <a:t>Là tầng cao nhất: </a:t>
            </a:r>
            <a:r>
              <a:rPr lang="vi-VN" b="1" dirty="0"/>
              <a:t>giao diện giữa ứng dụng và thư viện lập trình</a:t>
            </a:r>
            <a:r>
              <a:rPr lang="vi-VN" dirty="0"/>
              <a:t>.</a:t>
            </a:r>
          </a:p>
          <a:p>
            <a:pPr>
              <a:buFont typeface="Arial" panose="020B0604020202020204" pitchFamily="34" charset="0"/>
              <a:buChar char="•"/>
            </a:pPr>
            <a:r>
              <a:rPr lang="vi-VN" dirty="0"/>
              <a:t>Ví dụ: printf(), malloc(), open() trong C.</a:t>
            </a:r>
            <a:br>
              <a:rPr lang="vi-VN" dirty="0"/>
            </a:br>
            <a:r>
              <a:rPr lang="vi-VN" dirty="0"/>
              <a:t>Những lời gọi này thường được ánh xạ xuống các system call.</a:t>
            </a:r>
          </a:p>
          <a:p>
            <a:r>
              <a:rPr lang="en-US" dirty="0"/>
              <a:t>→ </a:t>
            </a:r>
            <a:r>
              <a:rPr lang="vi-VN" dirty="0"/>
              <a:t>Một số môi trường ảo hóa (như Wine hoặc Java Virtual Machine) bắt chước thư viện và API để chương trình nghĩ rằng nó đang chạy trong môi trường gốc.</a:t>
            </a:r>
          </a:p>
          <a:p>
            <a:endParaRPr lang="en-US" b="1" dirty="0"/>
          </a:p>
          <a:p>
            <a:r>
              <a:rPr lang="en-US" b="1" dirty="0"/>
              <a:t>4. </a:t>
            </a:r>
            <a:r>
              <a:rPr lang="en-US" b="1" dirty="0" err="1"/>
              <a:t>Kết</a:t>
            </a:r>
            <a:r>
              <a:rPr lang="en-US" b="1" dirty="0"/>
              <a:t> </a:t>
            </a:r>
            <a:r>
              <a:rPr lang="en-US" b="1" dirty="0" err="1"/>
              <a:t>luận</a:t>
            </a:r>
            <a:r>
              <a:rPr lang="vi-VN" b="1" dirty="0"/>
              <a:t>:</a:t>
            </a:r>
          </a:p>
          <a:p>
            <a:r>
              <a:rPr lang="vi-VN" dirty="0"/>
              <a:t>Mức</a:t>
            </a:r>
            <a:r>
              <a:rPr lang="en-US" dirty="0"/>
              <a:t>		</a:t>
            </a:r>
            <a:r>
              <a:rPr lang="vi-VN" dirty="0"/>
              <a:t>Giao diện</a:t>
            </a:r>
            <a:r>
              <a:rPr lang="en-US" dirty="0"/>
              <a:t>			</a:t>
            </a:r>
            <a:r>
              <a:rPr lang="vi-VN" dirty="0"/>
              <a:t>Cần bắt chước để…</a:t>
            </a:r>
            <a:endParaRPr lang="en-US" dirty="0"/>
          </a:p>
          <a:p>
            <a:r>
              <a:rPr lang="vi-VN" dirty="0"/>
              <a:t>Thấp nhất</a:t>
            </a:r>
            <a:r>
              <a:rPr lang="en-US" dirty="0"/>
              <a:t>		</a:t>
            </a:r>
            <a:r>
              <a:rPr lang="vi-VN" b="1" dirty="0"/>
              <a:t>ISA</a:t>
            </a:r>
            <a:r>
              <a:rPr lang="vi-VN" dirty="0"/>
              <a:t> (Privileged + General instructions)</a:t>
            </a:r>
            <a:r>
              <a:rPr lang="en-US" dirty="0"/>
              <a:t>	</a:t>
            </a:r>
            <a:r>
              <a:rPr lang="vi-VN" dirty="0"/>
              <a:t>Giả lập phần cứng để chạy OS/phần mềm gốc</a:t>
            </a:r>
            <a:endParaRPr lang="en-US" dirty="0"/>
          </a:p>
          <a:p>
            <a:r>
              <a:rPr lang="vi-VN" dirty="0"/>
              <a:t>Trung</a:t>
            </a:r>
            <a:r>
              <a:rPr lang="en-US" dirty="0"/>
              <a:t>		</a:t>
            </a:r>
            <a:r>
              <a:rPr lang="vi-VN" b="1" dirty="0"/>
              <a:t>System calls</a:t>
            </a:r>
            <a:r>
              <a:rPr lang="en-US" b="1" dirty="0"/>
              <a:t>			</a:t>
            </a:r>
            <a:r>
              <a:rPr lang="vi-VN" dirty="0"/>
              <a:t>Tạo ra môi trường hệ điều hành giống như gốc</a:t>
            </a:r>
            <a:endParaRPr lang="en-US" dirty="0"/>
          </a:p>
          <a:p>
            <a:r>
              <a:rPr lang="vi-VN" dirty="0"/>
              <a:t>Cao nhất</a:t>
            </a:r>
            <a:r>
              <a:rPr lang="en-US" dirty="0"/>
              <a:t>		</a:t>
            </a:r>
            <a:r>
              <a:rPr lang="vi-VN" b="1" dirty="0"/>
              <a:t>Library calls / API</a:t>
            </a:r>
            <a:r>
              <a:rPr lang="en-US" b="1" dirty="0"/>
              <a:t>		</a:t>
            </a:r>
            <a:r>
              <a:rPr lang="vi-VN" dirty="0"/>
              <a:t>Cho ứng dụng chạy mà không cần sửa đổi mã nguồn</a:t>
            </a:r>
          </a:p>
          <a:p>
            <a:r>
              <a:rPr lang="en-US" dirty="0"/>
              <a:t>=&gt; </a:t>
            </a:r>
            <a:r>
              <a:rPr lang="vi-VN" b="1" dirty="0"/>
              <a:t>Virtualization hoạt động bằng cách "mimic" các tầng giao diện phù hợp với mục tiêu cần ảo hóa.</a:t>
            </a:r>
            <a:endParaRPr lang="vi-VN" dirty="0"/>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25</a:t>
            </a:fld>
            <a:endParaRPr lang="en-US"/>
          </a:p>
        </p:txBody>
      </p:sp>
    </p:spTree>
    <p:extLst>
      <p:ext uri="{BB962C8B-B14F-4D97-AF65-F5344CB8AC3E}">
        <p14:creationId xmlns:p14="http://schemas.microsoft.com/office/powerpoint/2010/main" val="42352935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Ways of Virtualization (Các phương pháp ảo hóa)</a:t>
            </a:r>
            <a:endParaRPr lang="vi-VN" b="0" i="0" dirty="0">
              <a:solidFill>
                <a:srgbClr val="404040"/>
              </a:solidFill>
              <a:effectLst/>
              <a:latin typeface="DeepSeek-CJK-patch"/>
            </a:endParaRPr>
          </a:p>
          <a:p>
            <a:pPr algn="l"/>
            <a:r>
              <a:rPr lang="en-US" b="0" i="0" dirty="0" err="1">
                <a:solidFill>
                  <a:srgbClr val="404040"/>
                </a:solidFill>
                <a:effectLst/>
                <a:latin typeface="DeepSeek-CJK-patch"/>
              </a:rPr>
              <a:t>Giải</a:t>
            </a:r>
            <a:r>
              <a:rPr lang="en-US" b="0" i="0" dirty="0">
                <a:solidFill>
                  <a:srgbClr val="404040"/>
                </a:solidFill>
                <a:effectLst/>
                <a:latin typeface="DeepSeek-CJK-patch"/>
              </a:rPr>
              <a:t> </a:t>
            </a:r>
            <a:r>
              <a:rPr lang="en-US" b="0" i="0" dirty="0" err="1">
                <a:solidFill>
                  <a:srgbClr val="404040"/>
                </a:solidFill>
                <a:effectLst/>
                <a:latin typeface="DeepSeek-CJK-patch"/>
              </a:rPr>
              <a:t>thích</a:t>
            </a:r>
            <a:r>
              <a:rPr lang="vi-VN" b="0" i="0" dirty="0">
                <a:solidFill>
                  <a:srgbClr val="404040"/>
                </a:solidFill>
                <a:effectLst/>
                <a:latin typeface="DeepSeek-CJK-patch"/>
              </a:rPr>
              <a:t> 3 mô hình ảo hóa chính:</a:t>
            </a:r>
          </a:p>
          <a:p>
            <a:pPr algn="l">
              <a:buFont typeface="+mj-lt"/>
              <a:buAutoNum type="arabicPeriod"/>
            </a:pPr>
            <a:r>
              <a:rPr lang="vi-VN" b="1" i="0" dirty="0">
                <a:solidFill>
                  <a:srgbClr val="404040"/>
                </a:solidFill>
                <a:effectLst/>
                <a:latin typeface="DeepSeek-CJK-patch"/>
              </a:rPr>
              <a:t>Process VM</a:t>
            </a:r>
            <a:r>
              <a:rPr lang="vi-VN" b="0" i="0" dirty="0">
                <a:solidFill>
                  <a:srgbClr val="404040"/>
                </a:solidFill>
                <a:effectLst/>
                <a:latin typeface="DeepSeek-CJK-patch"/>
              </a:rPr>
              <a:t> (Máy ảo tiến trình)</a:t>
            </a:r>
          </a:p>
          <a:p>
            <a:pPr algn="l">
              <a:buFont typeface="+mj-lt"/>
              <a:buAutoNum type="arabicPeriod"/>
            </a:pPr>
            <a:r>
              <a:rPr lang="vi-VN" b="1" i="0" dirty="0">
                <a:solidFill>
                  <a:srgbClr val="404040"/>
                </a:solidFill>
                <a:effectLst/>
                <a:latin typeface="DeepSeek-CJK-patch"/>
              </a:rPr>
              <a:t>Native VMM</a:t>
            </a:r>
            <a:r>
              <a:rPr lang="vi-VN" b="0" i="0" dirty="0">
                <a:solidFill>
                  <a:srgbClr val="404040"/>
                </a:solidFill>
                <a:effectLst/>
                <a:latin typeface="DeepSeek-CJK-patch"/>
              </a:rPr>
              <a:t> (Hypervisor loại 1)</a:t>
            </a:r>
          </a:p>
          <a:p>
            <a:pPr algn="l">
              <a:buFont typeface="+mj-lt"/>
              <a:buAutoNum type="arabicPeriod"/>
            </a:pPr>
            <a:r>
              <a:rPr lang="vi-VN" b="1" i="0" dirty="0">
                <a:solidFill>
                  <a:srgbClr val="404040"/>
                </a:solidFill>
                <a:effectLst/>
                <a:latin typeface="DeepSeek-CJK-patch"/>
              </a:rPr>
              <a:t>Hosted VMM</a:t>
            </a:r>
            <a:r>
              <a:rPr lang="vi-VN" b="0" i="0" dirty="0">
                <a:solidFill>
                  <a:srgbClr val="404040"/>
                </a:solidFill>
                <a:effectLst/>
                <a:latin typeface="DeepSeek-CJK-patch"/>
              </a:rPr>
              <a:t> (Hypervisor loại 2)</a:t>
            </a:r>
            <a:endParaRPr lang="en-US" b="0" i="0" dirty="0">
              <a:solidFill>
                <a:srgbClr val="404040"/>
              </a:solidFill>
              <a:effectLst/>
              <a:latin typeface="DeepSeek-CJK-patch"/>
            </a:endParaRPr>
          </a:p>
          <a:p>
            <a:pPr algn="l">
              <a:buFont typeface="+mj-lt"/>
              <a:buNone/>
            </a:pPr>
            <a:r>
              <a:rPr lang="en-US" b="0" i="0" dirty="0">
                <a:solidFill>
                  <a:srgbClr val="404040"/>
                </a:solidFill>
                <a:effectLst/>
                <a:latin typeface="DeepSeek-CJK-patch"/>
              </a:rPr>
              <a:t>--------------------------------------------------------------------------------------------------------------------------------------------------------------</a:t>
            </a:r>
            <a:endParaRPr lang="vi-VN" b="0" i="0" dirty="0">
              <a:solidFill>
                <a:srgbClr val="404040"/>
              </a:solidFill>
              <a:effectLst/>
              <a:latin typeface="DeepSeek-CJK-patch"/>
            </a:endParaRPr>
          </a:p>
          <a:p>
            <a:pPr algn="l"/>
            <a:r>
              <a:rPr lang="vi-VN" b="1" i="0" dirty="0">
                <a:solidFill>
                  <a:srgbClr val="404040"/>
                </a:solidFill>
                <a:effectLst/>
                <a:latin typeface="DeepSeek-CJK-patch"/>
              </a:rPr>
              <a:t>1. Ba Mô Hình Ảo Hóa</a:t>
            </a:r>
            <a:r>
              <a:rPr lang="en-US" b="1" i="0" dirty="0">
                <a:solidFill>
                  <a:srgbClr val="404040"/>
                </a:solidFill>
                <a:effectLst/>
                <a:latin typeface="DeepSeek-CJK-patch"/>
              </a:rPr>
              <a:t> – </a:t>
            </a:r>
            <a:r>
              <a:rPr lang="en-US" b="1" i="0" dirty="0" err="1">
                <a:solidFill>
                  <a:srgbClr val="404040"/>
                </a:solidFill>
                <a:effectLst/>
                <a:latin typeface="DeepSeek-CJK-patch"/>
              </a:rPr>
              <a:t>hình</a:t>
            </a:r>
            <a:r>
              <a:rPr lang="en-US" b="1" i="0" dirty="0">
                <a:solidFill>
                  <a:srgbClr val="404040"/>
                </a:solidFill>
                <a:effectLst/>
                <a:latin typeface="DeepSeek-CJK-patch"/>
              </a:rPr>
              <a:t> </a:t>
            </a:r>
            <a:r>
              <a:rPr lang="en-US" b="1" i="0" dirty="0" err="1">
                <a:solidFill>
                  <a:srgbClr val="404040"/>
                </a:solidFill>
                <a:effectLst/>
                <a:latin typeface="DeepSeek-CJK-patch"/>
              </a:rPr>
              <a:t>minh</a:t>
            </a:r>
            <a:r>
              <a:rPr lang="en-US" b="1" i="0" dirty="0">
                <a:solidFill>
                  <a:srgbClr val="404040"/>
                </a:solidFill>
                <a:effectLst/>
                <a:latin typeface="DeepSeek-CJK-patch"/>
              </a:rPr>
              <a:t> </a:t>
            </a:r>
            <a:r>
              <a:rPr lang="en-US" b="1" i="0" dirty="0" err="1">
                <a:solidFill>
                  <a:srgbClr val="404040"/>
                </a:solidFill>
                <a:effectLst/>
                <a:latin typeface="DeepSeek-CJK-patch"/>
              </a:rPr>
              <a:t>họa</a:t>
            </a:r>
            <a:r>
              <a:rPr lang="en-US" b="1" i="0" dirty="0">
                <a:solidFill>
                  <a:srgbClr val="404040"/>
                </a:solidFill>
                <a:effectLst/>
                <a:latin typeface="DeepSeek-CJK-patch"/>
              </a:rPr>
              <a:t> </a:t>
            </a:r>
            <a:r>
              <a:rPr lang="en-US" b="1" i="0" dirty="0" err="1">
                <a:solidFill>
                  <a:srgbClr val="404040"/>
                </a:solidFill>
                <a:effectLst/>
                <a:latin typeface="DeepSeek-CJK-patch"/>
              </a:rPr>
              <a:t>theo</a:t>
            </a:r>
            <a:r>
              <a:rPr lang="en-US" b="1" i="0" dirty="0">
                <a:solidFill>
                  <a:srgbClr val="404040"/>
                </a:solidFill>
                <a:effectLst/>
                <a:latin typeface="DeepSeek-CJK-patch"/>
              </a:rPr>
              <a:t> </a:t>
            </a:r>
            <a:r>
              <a:rPr lang="en-US" b="1" i="0" dirty="0" err="1">
                <a:solidFill>
                  <a:srgbClr val="404040"/>
                </a:solidFill>
                <a:effectLst/>
                <a:latin typeface="DeepSeek-CJK-patch"/>
              </a:rPr>
              <a:t>cấu</a:t>
            </a:r>
            <a:r>
              <a:rPr lang="en-US" b="1" i="0" dirty="0">
                <a:solidFill>
                  <a:srgbClr val="404040"/>
                </a:solidFill>
                <a:effectLst/>
                <a:latin typeface="DeepSeek-CJK-patch"/>
              </a:rPr>
              <a:t> </a:t>
            </a:r>
            <a:r>
              <a:rPr lang="en-US" b="1" i="0" dirty="0" err="1">
                <a:solidFill>
                  <a:srgbClr val="404040"/>
                </a:solidFill>
                <a:effectLst/>
                <a:latin typeface="DeepSeek-CJK-patch"/>
              </a:rPr>
              <a:t>trúc</a:t>
            </a:r>
            <a:r>
              <a:rPr lang="en-US" b="1" i="0" dirty="0">
                <a:solidFill>
                  <a:srgbClr val="404040"/>
                </a:solidFill>
                <a:effectLst/>
                <a:latin typeface="DeepSeek-CJK-patch"/>
              </a:rPr>
              <a:t> </a:t>
            </a:r>
            <a:r>
              <a:rPr lang="en-US" b="1" i="0" dirty="0" err="1">
                <a:solidFill>
                  <a:srgbClr val="404040"/>
                </a:solidFill>
                <a:effectLst/>
                <a:latin typeface="DeepSeek-CJK-patch"/>
              </a:rPr>
              <a:t>phân</a:t>
            </a:r>
            <a:r>
              <a:rPr lang="en-US" b="1" i="0" dirty="0">
                <a:solidFill>
                  <a:srgbClr val="404040"/>
                </a:solidFill>
                <a:effectLst/>
                <a:latin typeface="DeepSeek-CJK-patch"/>
              </a:rPr>
              <a:t> </a:t>
            </a:r>
            <a:r>
              <a:rPr lang="en-US" b="1" i="0" dirty="0" err="1">
                <a:solidFill>
                  <a:srgbClr val="404040"/>
                </a:solidFill>
                <a:effectLst/>
                <a:latin typeface="DeepSeek-CJK-patch"/>
              </a:rPr>
              <a:t>tầng</a:t>
            </a:r>
            <a:endParaRPr lang="vi-VN" b="0" i="0" dirty="0">
              <a:solidFill>
                <a:srgbClr val="404040"/>
              </a:solidFill>
              <a:effectLst/>
              <a:latin typeface="DeepSeek-CJK-patch"/>
            </a:endParaRPr>
          </a:p>
          <a:p>
            <a:pPr algn="l"/>
            <a:r>
              <a:rPr lang="vi-VN" b="1" i="0" dirty="0">
                <a:solidFill>
                  <a:srgbClr val="404040"/>
                </a:solidFill>
                <a:effectLst/>
                <a:latin typeface="DeepSeek-CJK-patch"/>
              </a:rPr>
              <a:t>(a) Process Virtual Machine (Máy ảo tiến trình)</a:t>
            </a:r>
            <a:r>
              <a:rPr lang="en-US" b="1" i="0" dirty="0">
                <a:solidFill>
                  <a:srgbClr val="404040"/>
                </a:solidFill>
                <a:effectLst/>
                <a:latin typeface="DeepSeek-CJK-patch"/>
              </a:rPr>
              <a:t> – </a:t>
            </a:r>
            <a:r>
              <a:rPr lang="en-US" b="1" i="0" dirty="0" err="1">
                <a:solidFill>
                  <a:srgbClr val="404040"/>
                </a:solidFill>
                <a:effectLst/>
                <a:latin typeface="DeepSeek-CJK-patch"/>
              </a:rPr>
              <a:t>Hình</a:t>
            </a:r>
            <a:r>
              <a:rPr lang="en-US" b="1" i="0" dirty="0">
                <a:solidFill>
                  <a:srgbClr val="404040"/>
                </a:solidFill>
                <a:effectLst/>
                <a:latin typeface="DeepSeek-CJK-patch"/>
              </a:rPr>
              <a:t> (a)</a:t>
            </a:r>
            <a:endParaRPr lang="vi-VN" b="0" i="0" dirty="0">
              <a:solidFill>
                <a:srgbClr val="404040"/>
              </a:solidFill>
              <a:effectLst/>
              <a:latin typeface="DeepSeek-CJK-patch"/>
            </a:endParaRPr>
          </a:p>
          <a:p>
            <a:pPr algn="l"/>
            <a:r>
              <a:rPr lang="vi-VN" b="1" i="0" dirty="0">
                <a:solidFill>
                  <a:srgbClr val="404040"/>
                </a:solidFill>
                <a:effectLst/>
                <a:latin typeface="DeepSeek-CJK-patch"/>
              </a:rPr>
              <a:t>Cấu trúc:</a:t>
            </a:r>
            <a:endParaRPr lang="vi-VN" b="0" i="0" dirty="0">
              <a:solidFill>
                <a:srgbClr val="404040"/>
              </a:solidFill>
              <a:effectLst/>
              <a:latin typeface="DeepSeek-CJK-patch"/>
            </a:endParaRPr>
          </a:p>
          <a:p>
            <a:pPr algn="l"/>
            <a:r>
              <a:rPr lang="vi-VN" b="0" i="0" dirty="0">
                <a:solidFill>
                  <a:srgbClr val="FFFFFF"/>
                </a:solidFill>
                <a:effectLst/>
                <a:latin typeface="DeepSeek-CJK-patch"/>
              </a:rPr>
              <a:t>Application/Libraries</a:t>
            </a:r>
            <a:endParaRPr lang="en-US" b="0" i="0" dirty="0">
              <a:solidFill>
                <a:srgbClr val="FFFFFF"/>
              </a:solidFill>
              <a:effectLst/>
              <a:latin typeface="DeepSeek-CJK-patch"/>
            </a:endParaRPr>
          </a:p>
          <a:p>
            <a:pPr algn="l"/>
            <a:r>
              <a:rPr lang="vi-VN" b="0" i="0" dirty="0">
                <a:solidFill>
                  <a:srgbClr val="FFFFFF"/>
                </a:solidFill>
                <a:effectLst/>
                <a:latin typeface="DeepSeek-CJK-patch"/>
              </a:rPr>
              <a:t>Runtime system ← Trình thông dịch/giả lập (vd: JVM, Wine)</a:t>
            </a:r>
            <a:endParaRPr lang="en-US" b="0" i="0" dirty="0">
              <a:solidFill>
                <a:srgbClr val="FFFFFF"/>
              </a:solidFill>
              <a:effectLst/>
              <a:latin typeface="DeepSeek-CJK-patch"/>
            </a:endParaRPr>
          </a:p>
          <a:p>
            <a:pPr algn="l"/>
            <a:r>
              <a:rPr lang="vi-VN" b="0" i="0" dirty="0">
                <a:solidFill>
                  <a:srgbClr val="FFFFFF"/>
                </a:solidFill>
                <a:effectLst/>
                <a:latin typeface="DeepSeek-CJK-patch"/>
              </a:rPr>
              <a:t>Operating system ← Hệ điều hành vật lý</a:t>
            </a:r>
            <a:endParaRPr lang="en-US" b="0" i="0" dirty="0">
              <a:solidFill>
                <a:srgbClr val="FFFFFF"/>
              </a:solidFill>
              <a:effectLst/>
              <a:latin typeface="DeepSeek-CJK-patch"/>
            </a:endParaRPr>
          </a:p>
          <a:p>
            <a:pPr algn="l"/>
            <a:r>
              <a:rPr lang="en-US" b="0" i="0" dirty="0">
                <a:solidFill>
                  <a:srgbClr val="FFFFFF"/>
                </a:solidFill>
                <a:effectLst/>
                <a:latin typeface="DeepSeek-CJK-patch"/>
              </a:rPr>
              <a:t>H</a:t>
            </a:r>
            <a:r>
              <a:rPr lang="vi-VN" b="0" i="0" dirty="0">
                <a:solidFill>
                  <a:srgbClr val="FFFFFF"/>
                </a:solidFill>
                <a:effectLst/>
                <a:latin typeface="DeepSeek-CJK-patch"/>
              </a:rPr>
              <a:t>ardware </a:t>
            </a:r>
          </a:p>
          <a:p>
            <a:pPr algn="l"/>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Chạy </a:t>
            </a:r>
            <a:r>
              <a:rPr lang="vi-VN" b="1" i="0" dirty="0">
                <a:solidFill>
                  <a:srgbClr val="404040"/>
                </a:solidFill>
                <a:effectLst/>
                <a:latin typeface="DeepSeek-CJK-patch"/>
              </a:rPr>
              <a:t>trên một OS</a:t>
            </a:r>
            <a:r>
              <a:rPr lang="vi-VN" b="0" i="0" dirty="0">
                <a:solidFill>
                  <a:srgbClr val="404040"/>
                </a:solidFill>
                <a:effectLst/>
                <a:latin typeface="DeepSeek-CJK-patch"/>
              </a:rPr>
              <a:t> như một tiến trình thông thường.</a:t>
            </a:r>
          </a:p>
          <a:p>
            <a:pPr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interpreter/emulator</a:t>
            </a:r>
            <a:r>
              <a:rPr lang="vi-VN" b="0" i="0" dirty="0">
                <a:solidFill>
                  <a:srgbClr val="404040"/>
                </a:solidFill>
                <a:effectLst/>
                <a:latin typeface="DeepSeek-CJK-patch"/>
              </a:rPr>
              <a:t> để thực thi ứng dụng được viết cho kiến trúc khác.</a:t>
            </a:r>
          </a:p>
          <a:p>
            <a:pPr algn="l">
              <a:buFont typeface="Arial" panose="020B0604020202020204" pitchFamily="34" charset="0"/>
              <a:buChar char="•"/>
            </a:pPr>
            <a:r>
              <a:rPr lang="vi-VN" b="1" i="0" dirty="0">
                <a:solidFill>
                  <a:srgbClr val="404040"/>
                </a:solidFill>
                <a:effectLst/>
                <a:latin typeface="DeepSeek-CJK-patch"/>
              </a:rPr>
              <a:t>Ví dụ:</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JVM</a:t>
            </a:r>
            <a:r>
              <a:rPr lang="vi-VN" b="0" i="0" dirty="0">
                <a:solidFill>
                  <a:srgbClr val="404040"/>
                </a:solidFill>
                <a:effectLst/>
                <a:latin typeface="DeepSeek-CJK-patch"/>
              </a:rPr>
              <a:t>: Giả lập môi trường Java bytecode.</a:t>
            </a:r>
          </a:p>
          <a:p>
            <a:pPr marL="742950" lvl="1" indent="-285750" algn="l">
              <a:buFont typeface="Arial" panose="020B0604020202020204" pitchFamily="34" charset="0"/>
              <a:buChar char="•"/>
            </a:pPr>
            <a:r>
              <a:rPr lang="vi-VN" b="1" i="0" dirty="0">
                <a:solidFill>
                  <a:srgbClr val="404040"/>
                </a:solidFill>
                <a:effectLst/>
                <a:latin typeface="DeepSeek-CJK-patch"/>
              </a:rPr>
              <a:t>Wine</a:t>
            </a:r>
            <a:r>
              <a:rPr lang="vi-VN" b="0" i="0" dirty="0">
                <a:solidFill>
                  <a:srgbClr val="404040"/>
                </a:solidFill>
                <a:effectLst/>
                <a:latin typeface="DeepSeek-CJK-patch"/>
              </a:rPr>
              <a:t>: Giả lập Windows API trên Linux.</a:t>
            </a:r>
          </a:p>
          <a:p>
            <a:pPr algn="l"/>
            <a:r>
              <a:rPr lang="vi-VN" b="1" i="0" dirty="0">
                <a:solidFill>
                  <a:srgbClr val="404040"/>
                </a:solidFill>
                <a:effectLst/>
                <a:latin typeface="DeepSeek-CJK-patch"/>
              </a:rPr>
              <a:t>(b) Native VMM (Hypervisor Loại 1 – Bare-metal)</a:t>
            </a:r>
            <a:r>
              <a:rPr lang="en-US" b="1" i="0" dirty="0">
                <a:solidFill>
                  <a:srgbClr val="404040"/>
                </a:solidFill>
                <a:effectLst/>
                <a:latin typeface="DeepSeek-CJK-patch"/>
              </a:rPr>
              <a:t> – </a:t>
            </a:r>
            <a:r>
              <a:rPr lang="en-US" b="1" i="0" dirty="0" err="1">
                <a:solidFill>
                  <a:srgbClr val="404040"/>
                </a:solidFill>
                <a:effectLst/>
                <a:latin typeface="DeepSeek-CJK-patch"/>
              </a:rPr>
              <a:t>Hình</a:t>
            </a:r>
            <a:r>
              <a:rPr lang="en-US" b="1" i="0" dirty="0">
                <a:solidFill>
                  <a:srgbClr val="404040"/>
                </a:solidFill>
                <a:effectLst/>
                <a:latin typeface="DeepSeek-CJK-patch"/>
              </a:rPr>
              <a:t> (b)</a:t>
            </a:r>
            <a:endParaRPr lang="vi-VN" b="0" i="0" dirty="0">
              <a:solidFill>
                <a:srgbClr val="404040"/>
              </a:solidFill>
              <a:effectLst/>
              <a:latin typeface="DeepSeek-CJK-patch"/>
            </a:endParaRPr>
          </a:p>
          <a:p>
            <a:pPr algn="l"/>
            <a:r>
              <a:rPr lang="vi-VN" b="1" i="0" dirty="0">
                <a:solidFill>
                  <a:srgbClr val="404040"/>
                </a:solidFill>
                <a:effectLst/>
                <a:latin typeface="DeepSeek-CJK-patch"/>
              </a:rPr>
              <a:t>Cấu trúc:</a:t>
            </a:r>
            <a:endParaRPr lang="vi-VN" b="0" i="0" dirty="0">
              <a:solidFill>
                <a:srgbClr val="404040"/>
              </a:solidFill>
              <a:effectLst/>
              <a:latin typeface="DeepSeek-CJK-patch"/>
            </a:endParaRPr>
          </a:p>
          <a:p>
            <a:pPr algn="l"/>
            <a:r>
              <a:rPr lang="vi-VN" b="0" i="0" dirty="0">
                <a:solidFill>
                  <a:srgbClr val="FFFFFF"/>
                </a:solidFill>
                <a:effectLst/>
                <a:latin typeface="DeepSeek-CJK-patch"/>
              </a:rPr>
              <a:t>Application/Libraries</a:t>
            </a:r>
            <a:endParaRPr lang="en-US" b="0" i="0" dirty="0">
              <a:solidFill>
                <a:srgbClr val="FFFFFF"/>
              </a:solidFill>
              <a:effectLst/>
              <a:latin typeface="DeepSeek-CJK-patch"/>
            </a:endParaRPr>
          </a:p>
          <a:p>
            <a:pPr algn="l"/>
            <a:r>
              <a:rPr lang="vi-VN" b="0" i="0" dirty="0">
                <a:solidFill>
                  <a:srgbClr val="FFFFFF"/>
                </a:solidFill>
                <a:effectLst/>
                <a:latin typeface="DeepSeek-CJK-patch"/>
              </a:rPr>
              <a:t>Operating system ← Guest OS (vd: Linux, Windows)</a:t>
            </a:r>
            <a:endParaRPr lang="en-US" b="0" i="0" dirty="0">
              <a:solidFill>
                <a:srgbClr val="FFFFFF"/>
              </a:solidFill>
              <a:effectLst/>
              <a:latin typeface="DeepSeek-CJK-patch"/>
            </a:endParaRPr>
          </a:p>
          <a:p>
            <a:pPr algn="l"/>
            <a:r>
              <a:rPr lang="vi-VN" b="0" i="0" dirty="0">
                <a:solidFill>
                  <a:srgbClr val="FFFFFF"/>
                </a:solidFill>
                <a:effectLst/>
                <a:latin typeface="DeepSeek-CJK-patch"/>
              </a:rPr>
              <a:t>Virtual machine monitor ← Hypervisor (vd: VMware ESXi, Xen)</a:t>
            </a:r>
            <a:endParaRPr lang="en-US" b="0" i="0" dirty="0">
              <a:solidFill>
                <a:srgbClr val="FFFFFF"/>
              </a:solidFill>
              <a:effectLst/>
              <a:latin typeface="DeepSeek-CJK-patch"/>
            </a:endParaRPr>
          </a:p>
          <a:p>
            <a:pPr algn="l"/>
            <a:r>
              <a:rPr lang="vi-VN" b="0" i="0" dirty="0">
                <a:solidFill>
                  <a:srgbClr val="FFFFFF"/>
                </a:solidFill>
                <a:effectLst/>
                <a:latin typeface="DeepSeek-CJK-patch"/>
              </a:rPr>
              <a:t>Hardware </a:t>
            </a:r>
          </a:p>
          <a:p>
            <a:pPr algn="l"/>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Hypervisor chạy </a:t>
            </a:r>
            <a:r>
              <a:rPr lang="vi-VN" b="1" i="0" dirty="0">
                <a:solidFill>
                  <a:srgbClr val="404040"/>
                </a:solidFill>
                <a:effectLst/>
                <a:latin typeface="DeepSeek-CJK-patch"/>
              </a:rPr>
              <a:t>trực tiếp trên phần cứng</a:t>
            </a:r>
            <a:r>
              <a:rPr lang="vi-VN" b="0" i="0" dirty="0">
                <a:solidFill>
                  <a:srgbClr val="404040"/>
                </a:solidFill>
                <a:effectLst/>
                <a:latin typeface="DeepSeek-CJK-patch"/>
              </a:rPr>
              <a:t> (không cần OS nền).</a:t>
            </a:r>
          </a:p>
          <a:p>
            <a:pPr algn="l">
              <a:buFont typeface="Arial" panose="020B0604020202020204" pitchFamily="34" charset="0"/>
              <a:buChar char="•"/>
            </a:pPr>
            <a:r>
              <a:rPr lang="vi-VN" b="0" i="0" dirty="0">
                <a:solidFill>
                  <a:srgbClr val="404040"/>
                </a:solidFill>
                <a:effectLst/>
                <a:latin typeface="DeepSeek-CJK-patch"/>
              </a:rPr>
              <a:t>Quản lý nhiều </a:t>
            </a:r>
            <a:r>
              <a:rPr lang="vi-VN" b="1" i="0" dirty="0">
                <a:solidFill>
                  <a:srgbClr val="404040"/>
                </a:solidFill>
                <a:effectLst/>
                <a:latin typeface="DeepSeek-CJK-patch"/>
              </a:rPr>
              <a:t>Guest OS</a:t>
            </a:r>
            <a:r>
              <a:rPr lang="vi-VN" b="0" i="0" dirty="0">
                <a:solidFill>
                  <a:srgbClr val="404040"/>
                </a:solidFill>
                <a:effectLst/>
                <a:latin typeface="DeepSeek-CJK-patch"/>
              </a:rPr>
              <a:t> cùng lúc.</a:t>
            </a:r>
          </a:p>
          <a:p>
            <a:pPr algn="l">
              <a:buFont typeface="Arial" panose="020B0604020202020204" pitchFamily="34" charset="0"/>
              <a:buChar char="•"/>
            </a:pPr>
            <a:r>
              <a:rPr lang="vi-VN" b="1" i="0" dirty="0">
                <a:solidFill>
                  <a:srgbClr val="404040"/>
                </a:solidFill>
                <a:effectLst/>
                <a:latin typeface="DeepSeek-CJK-patch"/>
              </a:rPr>
              <a:t>Ưu điểm:</a:t>
            </a:r>
            <a:r>
              <a:rPr lang="vi-VN" b="0" i="0" dirty="0">
                <a:solidFill>
                  <a:srgbClr val="404040"/>
                </a:solidFill>
                <a:effectLst/>
                <a:latin typeface="DeepSeek-CJK-patch"/>
              </a:rPr>
              <a:t> Hiệu suất cao, dùng cho máy chủ/đám mây.</a:t>
            </a:r>
          </a:p>
          <a:p>
            <a:pPr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VMware ESXi, Microsoft Hyper-V.</a:t>
            </a:r>
          </a:p>
          <a:p>
            <a:pPr algn="l"/>
            <a:r>
              <a:rPr lang="vi-VN" b="1" i="0" dirty="0">
                <a:solidFill>
                  <a:srgbClr val="404040"/>
                </a:solidFill>
                <a:effectLst/>
                <a:latin typeface="DeepSeek-CJK-patch"/>
              </a:rPr>
              <a:t>(c) Hosted VMM (Hypervisor Loại 2 – Hosted)</a:t>
            </a:r>
            <a:r>
              <a:rPr lang="en-US" b="1" i="0" dirty="0">
                <a:solidFill>
                  <a:srgbClr val="404040"/>
                </a:solidFill>
                <a:effectLst/>
                <a:latin typeface="DeepSeek-CJK-patch"/>
              </a:rPr>
              <a:t> – </a:t>
            </a:r>
            <a:r>
              <a:rPr lang="en-US" b="1" i="0" dirty="0" err="1">
                <a:solidFill>
                  <a:srgbClr val="404040"/>
                </a:solidFill>
                <a:effectLst/>
                <a:latin typeface="DeepSeek-CJK-patch"/>
              </a:rPr>
              <a:t>Hình</a:t>
            </a:r>
            <a:r>
              <a:rPr lang="en-US" b="1" i="0" dirty="0">
                <a:solidFill>
                  <a:srgbClr val="404040"/>
                </a:solidFill>
                <a:effectLst/>
                <a:latin typeface="DeepSeek-CJK-patch"/>
              </a:rPr>
              <a:t> (c)</a:t>
            </a:r>
            <a:endParaRPr lang="vi-VN" b="0" i="0" dirty="0">
              <a:solidFill>
                <a:srgbClr val="404040"/>
              </a:solidFill>
              <a:effectLst/>
              <a:latin typeface="DeepSeek-CJK-patch"/>
            </a:endParaRPr>
          </a:p>
          <a:p>
            <a:pPr algn="l"/>
            <a:r>
              <a:rPr lang="vi-VN" b="1" i="0" dirty="0">
                <a:solidFill>
                  <a:srgbClr val="404040"/>
                </a:solidFill>
                <a:effectLst/>
                <a:latin typeface="DeepSeek-CJK-patch"/>
              </a:rPr>
              <a:t>Cấu trúc:</a:t>
            </a:r>
            <a:endParaRPr lang="vi-VN" b="0" i="0" dirty="0">
              <a:solidFill>
                <a:srgbClr val="404040"/>
              </a:solidFill>
              <a:effectLst/>
              <a:latin typeface="DeepSeek-CJK-patch"/>
            </a:endParaRPr>
          </a:p>
          <a:p>
            <a:pPr algn="l"/>
            <a:r>
              <a:rPr lang="vi-VN" b="0" i="0" dirty="0">
                <a:solidFill>
                  <a:srgbClr val="FFFFFF"/>
                </a:solidFill>
                <a:effectLst/>
                <a:latin typeface="DeepSeek-CJK-patch"/>
              </a:rPr>
              <a:t>Application/Libraries</a:t>
            </a:r>
            <a:endParaRPr lang="en-US" b="0" i="0" dirty="0">
              <a:solidFill>
                <a:srgbClr val="FFFFFF"/>
              </a:solidFill>
              <a:effectLst/>
              <a:latin typeface="DeepSeek-CJK-patch"/>
            </a:endParaRPr>
          </a:p>
          <a:p>
            <a:pPr algn="l"/>
            <a:r>
              <a:rPr lang="vi-VN" b="0" i="0" dirty="0">
                <a:solidFill>
                  <a:srgbClr val="FFFFFF"/>
                </a:solidFill>
                <a:effectLst/>
                <a:latin typeface="DeepSeek-CJK-patch"/>
              </a:rPr>
              <a:t>Operating system ← Guest OS</a:t>
            </a:r>
            <a:endParaRPr lang="en-US" b="0" i="0" dirty="0">
              <a:solidFill>
                <a:srgbClr val="FFFFFF"/>
              </a:solidFill>
              <a:effectLst/>
              <a:latin typeface="DeepSeek-CJK-patch"/>
            </a:endParaRPr>
          </a:p>
          <a:p>
            <a:pPr algn="l"/>
            <a:r>
              <a:rPr lang="vi-VN" b="0" i="0" dirty="0">
                <a:solidFill>
                  <a:srgbClr val="FFFFFF"/>
                </a:solidFill>
                <a:effectLst/>
                <a:latin typeface="DeepSeek-CJK-patch"/>
              </a:rPr>
              <a:t>Virtual machine monitor ← Hypervisor (vd: VirtualBox)</a:t>
            </a:r>
            <a:endParaRPr lang="en-US" b="0" i="0" dirty="0">
              <a:solidFill>
                <a:srgbClr val="FFFFFF"/>
              </a:solidFill>
              <a:effectLst/>
              <a:latin typeface="DeepSeek-CJK-patch"/>
            </a:endParaRPr>
          </a:p>
          <a:p>
            <a:pPr algn="l"/>
            <a:r>
              <a:rPr lang="vi-VN" b="0" i="0" dirty="0">
                <a:solidFill>
                  <a:srgbClr val="FFFFFF"/>
                </a:solidFill>
                <a:effectLst/>
                <a:latin typeface="DeepSeek-CJK-patch"/>
              </a:rPr>
              <a:t>Operating system ← Host OS (vd: Windows, macOS)</a:t>
            </a:r>
            <a:endParaRPr lang="en-US" b="0" i="0" dirty="0">
              <a:solidFill>
                <a:srgbClr val="FFFFFF"/>
              </a:solidFill>
              <a:effectLst/>
              <a:latin typeface="DeepSeek-CJK-patch"/>
            </a:endParaRPr>
          </a:p>
          <a:p>
            <a:pPr algn="l"/>
            <a:r>
              <a:rPr lang="vi-VN" b="0" i="0" dirty="0">
                <a:solidFill>
                  <a:srgbClr val="FFFFFF"/>
                </a:solidFill>
                <a:effectLst/>
                <a:latin typeface="DeepSeek-CJK-patch"/>
              </a:rPr>
              <a:t>Hardware </a:t>
            </a:r>
          </a:p>
          <a:p>
            <a:pPr algn="l"/>
            <a:r>
              <a:rPr lang="vi-VN" b="1" i="0" dirty="0">
                <a:solidFill>
                  <a:srgbClr val="404040"/>
                </a:solidFill>
                <a:effectLst/>
                <a:latin typeface="DeepSeek-CJK-patch"/>
              </a:rPr>
              <a:t>Đặc điểm:</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Hypervisor chạy </a:t>
            </a:r>
            <a:r>
              <a:rPr lang="vi-VN" b="1" i="0" dirty="0">
                <a:solidFill>
                  <a:srgbClr val="404040"/>
                </a:solidFill>
                <a:effectLst/>
                <a:latin typeface="DeepSeek-CJK-patch"/>
              </a:rPr>
              <a:t>như một ứng dụng trên Host OS</a:t>
            </a:r>
            <a:r>
              <a:rPr lang="vi-VN" b="0" i="0" dirty="0">
                <a:solidFill>
                  <a:srgbClr val="404040"/>
                </a:solidFill>
                <a:effectLst/>
                <a:latin typeface="DeepSeek-CJK-patch"/>
              </a:rPr>
              <a:t>.</a:t>
            </a:r>
          </a:p>
          <a:p>
            <a:pPr algn="l">
              <a:buFont typeface="Arial" panose="020B0604020202020204" pitchFamily="34" charset="0"/>
              <a:buChar char="•"/>
            </a:pPr>
            <a:r>
              <a:rPr lang="vi-VN" b="0" i="0" dirty="0">
                <a:solidFill>
                  <a:srgbClr val="404040"/>
                </a:solidFill>
                <a:effectLst/>
                <a:latin typeface="DeepSeek-CJK-patch"/>
              </a:rPr>
              <a:t>Phù hợp cho máy cá nhân (dễ cài đặt, không yêu cầu phần cứng đặc biệt).</a:t>
            </a:r>
          </a:p>
          <a:p>
            <a:pPr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VirtualBox, VMware Workstation.</a:t>
            </a:r>
            <a:endParaRPr lang="en-US" b="0" i="0" dirty="0">
              <a:solidFill>
                <a:srgbClr val="404040"/>
              </a:solidFill>
              <a:effectLst/>
              <a:latin typeface="DeepSeek-CJK-patch"/>
            </a:endParaRPr>
          </a:p>
          <a:p>
            <a:pPr algn="l">
              <a:buFont typeface="Arial" panose="020B0604020202020204" pitchFamily="34" charset="0"/>
              <a:buNone/>
            </a:pPr>
            <a:endParaRPr lang="vi-VN" b="0" i="0" dirty="0">
              <a:solidFill>
                <a:srgbClr val="404040"/>
              </a:solidFill>
              <a:effectLst/>
              <a:latin typeface="DeepSeek-CJK-patch"/>
            </a:endParaRPr>
          </a:p>
          <a:p>
            <a:pPr algn="l"/>
            <a:r>
              <a:rPr lang="vi-VN" b="1" i="0" dirty="0">
                <a:solidFill>
                  <a:srgbClr val="404040"/>
                </a:solidFill>
                <a:effectLst/>
                <a:latin typeface="DeepSeek-CJK-patch"/>
              </a:rPr>
              <a:t>2. Sự Khác Biệt Chính</a:t>
            </a:r>
            <a:endParaRPr lang="vi-VN" b="0" i="0" dirty="0">
              <a:solidFill>
                <a:srgbClr val="404040"/>
              </a:solidFill>
              <a:effectLst/>
              <a:latin typeface="DeepSeek-CJK-patch"/>
            </a:endParaRPr>
          </a:p>
          <a:p>
            <a:pPr algn="l"/>
            <a:r>
              <a:rPr lang="vi-VN" b="1" dirty="0"/>
              <a:t>Tiêu chí</a:t>
            </a:r>
            <a:r>
              <a:rPr lang="en-US" b="1" dirty="0"/>
              <a:t>		</a:t>
            </a:r>
            <a:r>
              <a:rPr lang="vi-VN" b="1" dirty="0"/>
              <a:t>Process VM</a:t>
            </a:r>
            <a:r>
              <a:rPr lang="en-US" b="1" dirty="0"/>
              <a:t>		</a:t>
            </a:r>
            <a:r>
              <a:rPr lang="vi-VN" b="1" dirty="0"/>
              <a:t>Native VMM (Loại 1)</a:t>
            </a:r>
            <a:r>
              <a:rPr lang="en-US" b="1" dirty="0"/>
              <a:t>		</a:t>
            </a:r>
            <a:r>
              <a:rPr lang="vi-VN" b="1" dirty="0"/>
              <a:t>Hosted VMM (Loại 2)</a:t>
            </a:r>
            <a:endParaRPr lang="en-US" b="1" dirty="0"/>
          </a:p>
          <a:p>
            <a:pPr algn="l"/>
            <a:r>
              <a:rPr lang="vi-VN" b="1" dirty="0">
                <a:effectLst/>
              </a:rPr>
              <a:t>Vị trí chạy</a:t>
            </a:r>
            <a:r>
              <a:rPr lang="en-US" b="1" dirty="0">
                <a:effectLst/>
              </a:rPr>
              <a:t>		</a:t>
            </a:r>
            <a:r>
              <a:rPr lang="vi-VN" dirty="0">
                <a:effectLst/>
              </a:rPr>
              <a:t>Trên OS (như app)</a:t>
            </a:r>
            <a:r>
              <a:rPr lang="en-US" dirty="0">
                <a:effectLst/>
              </a:rPr>
              <a:t>	</a:t>
            </a:r>
            <a:r>
              <a:rPr lang="vi-VN" dirty="0">
                <a:effectLst/>
              </a:rPr>
              <a:t>Trực tiếp trên phần cứng</a:t>
            </a:r>
            <a:r>
              <a:rPr lang="en-US" dirty="0">
                <a:effectLst/>
              </a:rPr>
              <a:t>		</a:t>
            </a:r>
            <a:r>
              <a:rPr lang="vi-VN" dirty="0">
                <a:effectLst/>
              </a:rPr>
              <a:t>Trên Host OS</a:t>
            </a:r>
            <a:endParaRPr lang="en-US" dirty="0">
              <a:effectLst/>
            </a:endParaRPr>
          </a:p>
          <a:p>
            <a:pPr algn="l"/>
            <a:r>
              <a:rPr lang="vi-VN" b="1" dirty="0">
                <a:effectLst/>
              </a:rPr>
              <a:t>Hiệu suất</a:t>
            </a:r>
            <a:r>
              <a:rPr lang="en-US" b="1" dirty="0">
                <a:effectLst/>
              </a:rPr>
              <a:t>		</a:t>
            </a:r>
            <a:r>
              <a:rPr lang="vi-VN" dirty="0">
                <a:effectLst/>
              </a:rPr>
              <a:t>Thấp (do qua interpreter)</a:t>
            </a:r>
            <a:r>
              <a:rPr lang="en-US" dirty="0">
                <a:effectLst/>
              </a:rPr>
              <a:t>	</a:t>
            </a:r>
            <a:r>
              <a:rPr lang="vi-VN" dirty="0">
                <a:effectLst/>
              </a:rPr>
              <a:t>Cao nhất</a:t>
            </a:r>
            <a:r>
              <a:rPr lang="en-US" dirty="0">
                <a:effectLst/>
              </a:rPr>
              <a:t>			</a:t>
            </a:r>
            <a:r>
              <a:rPr lang="vi-VN" dirty="0">
                <a:effectLst/>
              </a:rPr>
              <a:t>Trung bình (phụ thuộc Host OS)</a:t>
            </a:r>
            <a:endParaRPr lang="en-US" dirty="0">
              <a:effectLst/>
            </a:endParaRPr>
          </a:p>
          <a:p>
            <a:pPr algn="l"/>
            <a:r>
              <a:rPr lang="vi-VN" b="1" dirty="0">
                <a:effectLst/>
              </a:rPr>
              <a:t>Cách ly</a:t>
            </a:r>
            <a:r>
              <a:rPr lang="en-US" b="1" dirty="0">
                <a:effectLst/>
              </a:rPr>
              <a:t>		</a:t>
            </a:r>
            <a:r>
              <a:rPr lang="vi-VN" dirty="0">
                <a:effectLst/>
              </a:rPr>
              <a:t>Cấp ứng dụng</a:t>
            </a:r>
            <a:r>
              <a:rPr lang="en-US" dirty="0">
                <a:effectLst/>
              </a:rPr>
              <a:t>		</a:t>
            </a:r>
            <a:r>
              <a:rPr lang="vi-VN" dirty="0">
                <a:effectLst/>
              </a:rPr>
              <a:t>Cấp máy ảo</a:t>
            </a:r>
            <a:r>
              <a:rPr lang="en-US" dirty="0">
                <a:effectLst/>
              </a:rPr>
              <a:t>			</a:t>
            </a:r>
            <a:r>
              <a:rPr lang="vi-VN" dirty="0">
                <a:effectLst/>
              </a:rPr>
              <a:t>Cấp máy ảo</a:t>
            </a:r>
            <a:endParaRPr lang="en-US" dirty="0">
              <a:effectLst/>
            </a:endParaRPr>
          </a:p>
          <a:p>
            <a:pPr algn="l"/>
            <a:r>
              <a:rPr lang="vi-VN" b="1" dirty="0">
                <a:effectLst/>
              </a:rPr>
              <a:t>Use-case</a:t>
            </a:r>
            <a:r>
              <a:rPr lang="en-US" b="1" dirty="0">
                <a:effectLst/>
              </a:rPr>
              <a:t>		</a:t>
            </a:r>
            <a:r>
              <a:rPr lang="vi-VN" dirty="0">
                <a:effectLst/>
              </a:rPr>
              <a:t>Chạy ứng dụng đa nền tảng</a:t>
            </a:r>
            <a:r>
              <a:rPr lang="en-US" dirty="0">
                <a:effectLst/>
              </a:rPr>
              <a:t>	</a:t>
            </a:r>
            <a:r>
              <a:rPr lang="vi-VN" dirty="0">
                <a:effectLst/>
              </a:rPr>
              <a:t>Ảo hóa server/cloud</a:t>
            </a:r>
            <a:r>
              <a:rPr lang="en-US" dirty="0">
                <a:effectLst/>
              </a:rPr>
              <a:t>		</a:t>
            </a:r>
            <a:r>
              <a:rPr lang="vi-VN" dirty="0">
                <a:effectLst/>
              </a:rPr>
              <a:t>Ảo hóa desktop</a:t>
            </a:r>
            <a:endParaRPr lang="en-US" dirty="0">
              <a:effectLst/>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Giải Thích Chi Tiết Sự Khác Biệt</a:t>
            </a:r>
            <a:endParaRPr lang="vi-VN" b="0" i="0" dirty="0">
              <a:solidFill>
                <a:srgbClr val="404040"/>
              </a:solidFill>
              <a:effectLst/>
              <a:latin typeface="DeepSeek-CJK-patch"/>
            </a:endParaRPr>
          </a:p>
          <a:p>
            <a:pPr algn="l"/>
            <a:r>
              <a:rPr lang="vi-VN" b="1" i="0" dirty="0">
                <a:solidFill>
                  <a:srgbClr val="404040"/>
                </a:solidFill>
                <a:effectLst/>
                <a:latin typeface="DeepSeek-CJK-patch"/>
              </a:rPr>
              <a:t>a. Process VM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"Separate set of instructions"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bộ chỉ thị riêng</a:t>
            </a:r>
            <a:r>
              <a:rPr lang="vi-VN" b="0" i="0" dirty="0">
                <a:solidFill>
                  <a:srgbClr val="404040"/>
                </a:solidFill>
                <a:effectLst/>
                <a:latin typeface="DeepSeek-CJK-patch"/>
              </a:rPr>
              <a:t> (vd: Java bytecode) không phụ thuộc phần cứng.</a:t>
            </a:r>
          </a:p>
          <a:p>
            <a:pPr algn="l">
              <a:buFont typeface="Arial" panose="020B0604020202020204" pitchFamily="34" charset="0"/>
              <a:buChar char="•"/>
            </a:pPr>
            <a:r>
              <a:rPr lang="vi-VN" b="1" i="0" dirty="0">
                <a:solidFill>
                  <a:srgbClr val="404040"/>
                </a:solidFill>
                <a:effectLst/>
                <a:latin typeface="DeepSeek-CJK-patch"/>
              </a:rPr>
              <a:t>"Interpreter/emulator"</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Runtime (như JVM) dịch chỉ thị ảo sang lệnh máy thật.</a:t>
            </a:r>
          </a:p>
          <a:p>
            <a:pPr algn="l"/>
            <a:r>
              <a:rPr lang="vi-VN" b="1" i="0" dirty="0">
                <a:solidFill>
                  <a:srgbClr val="404040"/>
                </a:solidFill>
                <a:effectLst/>
                <a:latin typeface="DeepSeek-CJK-patch"/>
              </a:rPr>
              <a:t>b. Native VMM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"Low-level instructions"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Hypervisor quản lý trực tiếp CPU, RAM, I/O (vd: sử dụng </a:t>
            </a:r>
            <a:r>
              <a:rPr lang="vi-VN" b="1" i="0" dirty="0">
                <a:solidFill>
                  <a:srgbClr val="404040"/>
                </a:solidFill>
                <a:effectLst/>
                <a:latin typeface="DeepSeek-CJK-patch"/>
              </a:rPr>
              <a:t>VT-x/AMD-V</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"Bare-bones minimal OS"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Hypervisor đóng vai trò như OS tối giản để quản lý tài nguyên cho Guest OS.</a:t>
            </a:r>
          </a:p>
          <a:p>
            <a:pPr algn="l"/>
            <a:r>
              <a:rPr lang="vi-VN" b="1" i="0" dirty="0">
                <a:solidFill>
                  <a:srgbClr val="404040"/>
                </a:solidFill>
                <a:effectLst/>
                <a:latin typeface="DeepSeek-CJK-patch"/>
              </a:rPr>
              <a:t>c. Hosted VMM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"Delegating most work to a full-fledged OS"</a:t>
            </a:r>
            <a:r>
              <a:rPr lang="vi-VN" b="0" i="0" dirty="0">
                <a:solidFill>
                  <a:srgbClr val="404040"/>
                </a:solidFill>
                <a:effectLst/>
                <a:latin typeface="DeepSeek-CJK-patch"/>
              </a:rPr>
              <a:t>:</a:t>
            </a:r>
          </a:p>
          <a:p>
            <a:pPr marL="742950" lvl="1" indent="-285750" algn="l">
              <a:buFont typeface="Arial" panose="020B0604020202020204" pitchFamily="34" charset="0"/>
              <a:buChar char="•"/>
            </a:pPr>
            <a:r>
              <a:rPr lang="vi-VN" b="0" i="0" dirty="0">
                <a:solidFill>
                  <a:srgbClr val="404040"/>
                </a:solidFill>
                <a:effectLst/>
                <a:latin typeface="DeepSeek-CJK-patch"/>
              </a:rPr>
              <a:t>Tận dụng driver và dịch vụ của Host OS (vd: VirtualBox dùng network driver của Windows).</a:t>
            </a:r>
          </a:p>
          <a:p>
            <a:pPr marL="742950" lvl="1" indent="-285750" algn="l">
              <a:buFont typeface="Arial" panose="020B0604020202020204" pitchFamily="34" charset="0"/>
              <a:buChar char="•"/>
            </a:pPr>
            <a:r>
              <a:rPr lang="vi-VN" b="0" i="0" dirty="0">
                <a:solidFill>
                  <a:srgbClr val="404040"/>
                </a:solidFill>
                <a:effectLst/>
                <a:latin typeface="DeepSeek-CJK-patch"/>
              </a:rPr>
              <a:t>Hypervisor chỉ tập trung vào giả lập phần cứng ảo.</a:t>
            </a:r>
            <a:endParaRPr lang="en-US" b="0" i="0" dirty="0">
              <a:solidFill>
                <a:srgbClr val="404040"/>
              </a:solidFill>
              <a:effectLst/>
              <a:latin typeface="DeepSeek-CJK-patch"/>
            </a:endParaRPr>
          </a:p>
          <a:p>
            <a:pPr marL="457200" lvl="1" indent="0" algn="l">
              <a:buFont typeface="Arial" panose="020B0604020202020204" pitchFamily="34" charset="0"/>
              <a:buNone/>
            </a:pPr>
            <a:endParaRPr lang="vi-VN" b="0" i="0" dirty="0">
              <a:solidFill>
                <a:srgbClr val="404040"/>
              </a:solidFill>
              <a:effectLst/>
              <a:latin typeface="DeepSeek-CJK-patch"/>
            </a:endParaRPr>
          </a:p>
          <a:p>
            <a:pPr algn="l"/>
            <a:r>
              <a:rPr lang="vi-VN" b="1" i="0" dirty="0">
                <a:solidFill>
                  <a:srgbClr val="404040"/>
                </a:solidFill>
                <a:effectLst/>
                <a:latin typeface="DeepSeek-CJK-patch"/>
              </a:rPr>
              <a:t>4. Ví Dụ Minh Họa</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Process VM: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Java app chạy trên JVM (Linux/macOS/Windows).</a:t>
            </a:r>
          </a:p>
          <a:p>
            <a:pPr marL="742950" lvl="1" indent="-285750" algn="l">
              <a:buFont typeface="Arial" panose="020B0604020202020204" pitchFamily="34" charset="0"/>
              <a:buChar char="•"/>
            </a:pPr>
            <a:r>
              <a:rPr lang="vi-VN" b="0" i="0" dirty="0">
                <a:solidFill>
                  <a:srgbClr val="404040"/>
                </a:solidFill>
                <a:effectLst/>
                <a:latin typeface="DeepSeek-CJK-patch"/>
              </a:rPr>
              <a:t>Ứng dụng Windows chạy trên Linux qua Wine.</a:t>
            </a:r>
          </a:p>
          <a:p>
            <a:pPr algn="l">
              <a:buFont typeface="Arial" panose="020B0604020202020204" pitchFamily="34" charset="0"/>
              <a:buChar char="•"/>
            </a:pPr>
            <a:r>
              <a:rPr lang="vi-VN" b="1" i="0" dirty="0">
                <a:solidFill>
                  <a:srgbClr val="404040"/>
                </a:solidFill>
                <a:effectLst/>
                <a:latin typeface="DeepSeek-CJK-patch"/>
              </a:rPr>
              <a:t>Native VMM: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AWS EC2 dùng Xen Hypervisor để chạy nhiều VM.</a:t>
            </a:r>
          </a:p>
          <a:p>
            <a:pPr algn="l">
              <a:buFont typeface="Arial" panose="020B0604020202020204" pitchFamily="34" charset="0"/>
              <a:buChar char="•"/>
            </a:pPr>
            <a:r>
              <a:rPr lang="vi-VN" b="1" i="0" dirty="0">
                <a:solidFill>
                  <a:srgbClr val="404040"/>
                </a:solidFill>
                <a:effectLst/>
                <a:latin typeface="DeepSeek-CJK-patch"/>
              </a:rPr>
              <a:t>Hosted VMM: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Developer dùng VirtualBox để chạy Ubuntu trên Windows.</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5.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Process VM:</a:t>
            </a:r>
            <a:r>
              <a:rPr lang="vi-VN" b="0" i="0" dirty="0">
                <a:solidFill>
                  <a:srgbClr val="404040"/>
                </a:solidFill>
                <a:effectLst/>
                <a:latin typeface="DeepSeek-CJK-patch"/>
              </a:rPr>
              <a:t> Linh hoạt nhưng hiệu suất thấp → phù hợp ứng dụng đa nền.</a:t>
            </a:r>
          </a:p>
          <a:p>
            <a:pPr algn="l">
              <a:buFont typeface="Arial" panose="020B0604020202020204" pitchFamily="34" charset="0"/>
              <a:buChar char="•"/>
            </a:pPr>
            <a:r>
              <a:rPr lang="vi-VN" b="1" i="0" dirty="0">
                <a:solidFill>
                  <a:srgbClr val="404040"/>
                </a:solidFill>
                <a:effectLst/>
                <a:latin typeface="DeepSeek-CJK-patch"/>
              </a:rPr>
              <a:t>Native VMM:</a:t>
            </a:r>
            <a:r>
              <a:rPr lang="vi-VN" b="0" i="0" dirty="0">
                <a:solidFill>
                  <a:srgbClr val="404040"/>
                </a:solidFill>
                <a:effectLst/>
                <a:latin typeface="DeepSeek-CJK-patch"/>
              </a:rPr>
              <a:t> Hiệu suất cao → dành cho hạ tầng doanh nghiệp.</a:t>
            </a:r>
          </a:p>
          <a:p>
            <a:pPr algn="l">
              <a:buFont typeface="Arial" panose="020B0604020202020204" pitchFamily="34" charset="0"/>
              <a:buChar char="•"/>
            </a:pPr>
            <a:r>
              <a:rPr lang="vi-VN" b="1" i="0" dirty="0">
                <a:solidFill>
                  <a:srgbClr val="404040"/>
                </a:solidFill>
                <a:effectLst/>
                <a:latin typeface="DeepSeek-CJK-patch"/>
              </a:rPr>
              <a:t>Hosted VMM:</a:t>
            </a:r>
            <a:r>
              <a:rPr lang="vi-VN" b="0" i="0" dirty="0">
                <a:solidFill>
                  <a:srgbClr val="404040"/>
                </a:solidFill>
                <a:effectLst/>
                <a:latin typeface="DeepSeek-CJK-patch"/>
              </a:rPr>
              <a:t> Cân bằng giữa dễ dùng và hiệu suất → phù hợp cá nhân.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26</a:t>
            </a:fld>
            <a:endParaRPr lang="en-US"/>
          </a:p>
        </p:txBody>
      </p:sp>
    </p:spTree>
    <p:extLst>
      <p:ext uri="{BB962C8B-B14F-4D97-AF65-F5344CB8AC3E}">
        <p14:creationId xmlns:p14="http://schemas.microsoft.com/office/powerpoint/2010/main" val="16400705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vi-VN" b="1" dirty="0"/>
              <a:t>"Zooming into VMs: performance“</a:t>
            </a:r>
            <a:r>
              <a:rPr lang="en-US" b="1" i="0" dirty="0">
                <a:solidFill>
                  <a:srgbClr val="404040"/>
                </a:solidFill>
                <a:effectLst/>
                <a:latin typeface="DeepSeek-CJK-patch"/>
              </a:rPr>
              <a:t>(</a:t>
            </a:r>
            <a:r>
              <a:rPr lang="en-US" b="1" i="0" dirty="0" err="1">
                <a:solidFill>
                  <a:srgbClr val="404040"/>
                </a:solidFill>
                <a:effectLst/>
                <a:latin typeface="DeepSeek-CJK-patch"/>
              </a:rPr>
              <a:t>Đào</a:t>
            </a:r>
            <a:r>
              <a:rPr lang="en-US" b="1" i="0" dirty="0">
                <a:solidFill>
                  <a:srgbClr val="404040"/>
                </a:solidFill>
                <a:effectLst/>
                <a:latin typeface="DeepSeek-CJK-patch"/>
              </a:rPr>
              <a:t> </a:t>
            </a:r>
            <a:r>
              <a:rPr lang="en-US" b="1" i="0" dirty="0" err="1">
                <a:solidFill>
                  <a:srgbClr val="404040"/>
                </a:solidFill>
                <a:effectLst/>
                <a:latin typeface="DeepSeek-CJK-patch"/>
              </a:rPr>
              <a:t>sâu</a:t>
            </a:r>
            <a:r>
              <a:rPr lang="en-US" b="1" i="0" dirty="0">
                <a:solidFill>
                  <a:srgbClr val="404040"/>
                </a:solidFill>
                <a:effectLst/>
                <a:latin typeface="DeepSeek-CJK-patch"/>
              </a:rPr>
              <a:t> </a:t>
            </a:r>
            <a:r>
              <a:rPr lang="en-US" b="1" i="0" dirty="0" err="1">
                <a:solidFill>
                  <a:srgbClr val="404040"/>
                </a:solidFill>
                <a:effectLst/>
                <a:latin typeface="DeepSeek-CJK-patch"/>
              </a:rPr>
              <a:t>vào</a:t>
            </a:r>
            <a:r>
              <a:rPr lang="en-US" b="1" i="0" dirty="0">
                <a:solidFill>
                  <a:srgbClr val="404040"/>
                </a:solidFill>
                <a:effectLst/>
                <a:latin typeface="DeepSeek-CJK-patch"/>
              </a:rPr>
              <a:t> </a:t>
            </a:r>
            <a:r>
              <a:rPr lang="en-US" b="1" i="0" dirty="0" err="1">
                <a:solidFill>
                  <a:srgbClr val="404040"/>
                </a:solidFill>
                <a:effectLst/>
                <a:latin typeface="DeepSeek-CJK-patch"/>
              </a:rPr>
              <a:t>hiệu</a:t>
            </a:r>
            <a:r>
              <a:rPr lang="en-US" b="1" i="0" dirty="0">
                <a:solidFill>
                  <a:srgbClr val="404040"/>
                </a:solidFill>
                <a:effectLst/>
                <a:latin typeface="DeepSeek-CJK-patch"/>
              </a:rPr>
              <a:t> </a:t>
            </a:r>
            <a:r>
              <a:rPr lang="en-US" b="1" i="0" dirty="0" err="1">
                <a:solidFill>
                  <a:srgbClr val="404040"/>
                </a:solidFill>
                <a:effectLst/>
                <a:latin typeface="DeepSeek-CJK-patch"/>
              </a:rPr>
              <a:t>năng</a:t>
            </a:r>
            <a:r>
              <a:rPr lang="en-US" b="1" i="0" dirty="0">
                <a:solidFill>
                  <a:srgbClr val="404040"/>
                </a:solidFill>
                <a:effectLst/>
                <a:latin typeface="DeepSeek-CJK-patch"/>
              </a:rPr>
              <a:t> </a:t>
            </a:r>
            <a:r>
              <a:rPr lang="en-US" b="1" i="0" dirty="0" err="1">
                <a:solidFill>
                  <a:srgbClr val="404040"/>
                </a:solidFill>
                <a:effectLst/>
                <a:latin typeface="DeepSeek-CJK-patch"/>
              </a:rPr>
              <a:t>máy</a:t>
            </a:r>
            <a:r>
              <a:rPr lang="en-US" b="1" i="0" dirty="0">
                <a:solidFill>
                  <a:srgbClr val="404040"/>
                </a:solidFill>
                <a:effectLst/>
                <a:latin typeface="DeepSeek-CJK-patch"/>
              </a:rPr>
              <a:t> </a:t>
            </a:r>
            <a:r>
              <a:rPr lang="en-US" b="1" i="0" dirty="0" err="1">
                <a:solidFill>
                  <a:srgbClr val="404040"/>
                </a:solidFill>
                <a:effectLst/>
                <a:latin typeface="DeepSeek-CJK-patch"/>
              </a:rPr>
              <a:t>ảo</a:t>
            </a:r>
            <a:r>
              <a:rPr lang="en-US" b="1" i="0" dirty="0">
                <a:solidFill>
                  <a:srgbClr val="404040"/>
                </a:solidFill>
                <a:effectLst/>
                <a:latin typeface="DeepSeek-CJK-patch"/>
              </a:rPr>
              <a:t>)</a:t>
            </a:r>
            <a:endParaRPr lang="en-US" b="0" i="0" dirty="0">
              <a:solidFill>
                <a:srgbClr val="404040"/>
              </a:solidFill>
              <a:effectLst/>
              <a:latin typeface="DeepSeek-CJK-patch"/>
            </a:endParaRPr>
          </a:p>
          <a:p>
            <a:r>
              <a:rPr lang="en-US" b="0" i="0" dirty="0" err="1">
                <a:solidFill>
                  <a:srgbClr val="404040"/>
                </a:solidFill>
                <a:effectLst/>
                <a:latin typeface="DeepSeek-CJK-patch"/>
              </a:rPr>
              <a:t>giải</a:t>
            </a:r>
            <a:r>
              <a:rPr lang="en-US" b="0" i="0" dirty="0">
                <a:solidFill>
                  <a:srgbClr val="404040"/>
                </a:solidFill>
                <a:effectLst/>
                <a:latin typeface="DeepSeek-CJK-patch"/>
              </a:rPr>
              <a:t> </a:t>
            </a:r>
            <a:r>
              <a:rPr lang="en-US" b="0" i="0" dirty="0" err="1">
                <a:solidFill>
                  <a:srgbClr val="404040"/>
                </a:solidFill>
                <a:effectLst/>
                <a:latin typeface="DeepSeek-CJK-patch"/>
              </a:rPr>
              <a:t>thích</a:t>
            </a:r>
            <a:r>
              <a:rPr lang="en-US" b="0" i="0" dirty="0">
                <a:solidFill>
                  <a:srgbClr val="404040"/>
                </a:solidFill>
                <a:effectLst/>
                <a:latin typeface="DeepSeek-CJK-patch"/>
              </a:rPr>
              <a:t> </a:t>
            </a:r>
            <a:r>
              <a:rPr lang="en-US" b="0" i="0" dirty="0" err="1">
                <a:solidFill>
                  <a:srgbClr val="404040"/>
                </a:solidFill>
                <a:effectLst/>
                <a:latin typeface="DeepSeek-CJK-patch"/>
              </a:rPr>
              <a:t>cách</a:t>
            </a:r>
            <a:r>
              <a:rPr lang="en-US" b="0" i="0" dirty="0">
                <a:solidFill>
                  <a:srgbClr val="404040"/>
                </a:solidFill>
                <a:effectLst/>
                <a:latin typeface="DeepSeek-CJK-patch"/>
              </a:rPr>
              <a:t> </a:t>
            </a:r>
            <a:r>
              <a:rPr lang="en-US" b="0" i="0" dirty="0" err="1">
                <a:solidFill>
                  <a:srgbClr val="404040"/>
                </a:solidFill>
                <a:effectLst/>
                <a:latin typeface="DeepSeek-CJK-patch"/>
              </a:rPr>
              <a:t>tổ</a:t>
            </a:r>
            <a:r>
              <a:rPr lang="en-US" b="0" i="0" dirty="0">
                <a:solidFill>
                  <a:srgbClr val="404040"/>
                </a:solidFill>
                <a:effectLst/>
                <a:latin typeface="DeepSeek-CJK-patch"/>
              </a:rPr>
              <a:t> </a:t>
            </a:r>
            <a:r>
              <a:rPr lang="en-US" b="0" i="0" dirty="0" err="1">
                <a:solidFill>
                  <a:srgbClr val="404040"/>
                </a:solidFill>
                <a:effectLst/>
                <a:latin typeface="DeepSeek-CJK-patch"/>
              </a:rPr>
              <a:t>chức</a:t>
            </a:r>
            <a:r>
              <a:rPr lang="en-US" b="0" i="0" dirty="0">
                <a:solidFill>
                  <a:srgbClr val="404040"/>
                </a:solidFill>
                <a:effectLst/>
                <a:latin typeface="DeepSeek-CJK-patch"/>
              </a:rPr>
              <a:t> </a:t>
            </a:r>
            <a:r>
              <a:rPr lang="en-US" b="0" i="0" dirty="0" err="1">
                <a:solidFill>
                  <a:srgbClr val="404040"/>
                </a:solidFill>
                <a:effectLst/>
                <a:latin typeface="DeepSeek-CJK-patch"/>
              </a:rPr>
              <a:t>máy</a:t>
            </a:r>
            <a:r>
              <a:rPr lang="en-US" b="0" i="0" dirty="0">
                <a:solidFill>
                  <a:srgbClr val="404040"/>
                </a:solidFill>
                <a:effectLst/>
                <a:latin typeface="DeepSeek-CJK-patch"/>
              </a:rPr>
              <a:t> </a:t>
            </a:r>
            <a:r>
              <a:rPr lang="en-US" b="0" i="0" dirty="0" err="1">
                <a:solidFill>
                  <a:srgbClr val="404040"/>
                </a:solidFill>
                <a:effectLst/>
                <a:latin typeface="DeepSeek-CJK-patch"/>
              </a:rPr>
              <a:t>ảo</a:t>
            </a:r>
            <a:r>
              <a:rPr lang="en-US" b="0" i="0" dirty="0">
                <a:solidFill>
                  <a:srgbClr val="404040"/>
                </a:solidFill>
                <a:effectLst/>
                <a:latin typeface="DeepSeek-CJK-patch"/>
              </a:rPr>
              <a:t> (VM) </a:t>
            </a:r>
            <a:r>
              <a:rPr lang="en-US" b="0" i="0" dirty="0" err="1">
                <a:solidFill>
                  <a:srgbClr val="404040"/>
                </a:solidFill>
                <a:effectLst/>
                <a:latin typeface="DeepSeek-CJK-patch"/>
              </a:rPr>
              <a:t>và</a:t>
            </a:r>
            <a:r>
              <a:rPr lang="en-US" b="0" i="0" dirty="0">
                <a:solidFill>
                  <a:srgbClr val="404040"/>
                </a:solidFill>
                <a:effectLst/>
                <a:latin typeface="DeepSeek-CJK-patch"/>
              </a:rPr>
              <a:t> </a:t>
            </a:r>
            <a:r>
              <a:rPr lang="en-US" b="0" i="0" dirty="0" err="1">
                <a:solidFill>
                  <a:srgbClr val="404040"/>
                </a:solidFill>
                <a:effectLst/>
                <a:latin typeface="DeepSeek-CJK-patch"/>
              </a:rPr>
              <a:t>phân</a:t>
            </a:r>
            <a:r>
              <a:rPr lang="en-US" b="0" i="0" dirty="0">
                <a:solidFill>
                  <a:srgbClr val="404040"/>
                </a:solidFill>
                <a:effectLst/>
                <a:latin typeface="DeepSeek-CJK-patch"/>
              </a:rPr>
              <a:t> </a:t>
            </a:r>
            <a:r>
              <a:rPr lang="en-US" b="0" i="0" dirty="0" err="1">
                <a:solidFill>
                  <a:srgbClr val="404040"/>
                </a:solidFill>
                <a:effectLst/>
                <a:latin typeface="DeepSeek-CJK-patch"/>
              </a:rPr>
              <a:t>loại</a:t>
            </a:r>
            <a:r>
              <a:rPr lang="en-US" b="0" i="0" dirty="0">
                <a:solidFill>
                  <a:srgbClr val="404040"/>
                </a:solidFill>
                <a:effectLst/>
                <a:latin typeface="DeepSeek-CJK-patch"/>
              </a:rPr>
              <a:t> </a:t>
            </a:r>
            <a:r>
              <a:rPr lang="en-US" b="0" i="0" dirty="0" err="1">
                <a:solidFill>
                  <a:srgbClr val="404040"/>
                </a:solidFill>
                <a:effectLst/>
                <a:latin typeface="DeepSeek-CJK-patch"/>
              </a:rPr>
              <a:t>lệnh</a:t>
            </a:r>
            <a:r>
              <a:rPr lang="en-US" b="0" i="0" dirty="0">
                <a:solidFill>
                  <a:srgbClr val="404040"/>
                </a:solidFill>
                <a:effectLst/>
                <a:latin typeface="DeepSeek-CJK-patch"/>
              </a:rPr>
              <a:t> CPU </a:t>
            </a:r>
            <a:r>
              <a:rPr lang="en-US" b="0" i="0" dirty="0" err="1">
                <a:solidFill>
                  <a:srgbClr val="404040"/>
                </a:solidFill>
                <a:effectLst/>
                <a:latin typeface="DeepSeek-CJK-patch"/>
              </a:rPr>
              <a:t>để</a:t>
            </a:r>
            <a:r>
              <a:rPr lang="en-US" b="0" i="0" dirty="0">
                <a:solidFill>
                  <a:srgbClr val="404040"/>
                </a:solidFill>
                <a:effectLst/>
                <a:latin typeface="DeepSeek-CJK-patch"/>
              </a:rPr>
              <a:t> </a:t>
            </a:r>
            <a:r>
              <a:rPr lang="en-US" b="0" i="0" dirty="0" err="1">
                <a:solidFill>
                  <a:srgbClr val="404040"/>
                </a:solidFill>
                <a:effectLst/>
                <a:latin typeface="DeepSeek-CJK-patch"/>
              </a:rPr>
              <a:t>hiểu</a:t>
            </a:r>
            <a:r>
              <a:rPr lang="en-US" b="0" i="0" dirty="0">
                <a:solidFill>
                  <a:srgbClr val="404040"/>
                </a:solidFill>
                <a:effectLst/>
                <a:latin typeface="DeepSeek-CJK-patch"/>
              </a:rPr>
              <a:t> </a:t>
            </a:r>
            <a:r>
              <a:rPr lang="en-US" b="0" i="0" dirty="0" err="1">
                <a:solidFill>
                  <a:srgbClr val="404040"/>
                </a:solidFill>
                <a:effectLst/>
                <a:latin typeface="DeepSeek-CJK-patch"/>
              </a:rPr>
              <a:t>rào</a:t>
            </a:r>
            <a:r>
              <a:rPr lang="en-US" b="0" i="0" dirty="0">
                <a:solidFill>
                  <a:srgbClr val="404040"/>
                </a:solidFill>
                <a:effectLst/>
                <a:latin typeface="DeepSeek-CJK-patch"/>
              </a:rPr>
              <a:t> </a:t>
            </a:r>
            <a:r>
              <a:rPr lang="en-US" b="0" i="0" dirty="0" err="1">
                <a:solidFill>
                  <a:srgbClr val="404040"/>
                </a:solidFill>
                <a:effectLst/>
                <a:latin typeface="DeepSeek-CJK-patch"/>
              </a:rPr>
              <a:t>cản</a:t>
            </a:r>
            <a:r>
              <a:rPr lang="en-US" b="0" i="0" dirty="0">
                <a:solidFill>
                  <a:srgbClr val="404040"/>
                </a:solidFill>
                <a:effectLst/>
                <a:latin typeface="DeepSeek-CJK-patch"/>
              </a:rPr>
              <a:t> </a:t>
            </a:r>
            <a:r>
              <a:rPr lang="en-US" b="0" i="0" dirty="0" err="1">
                <a:solidFill>
                  <a:srgbClr val="404040"/>
                </a:solidFill>
                <a:effectLst/>
                <a:latin typeface="DeepSeek-CJK-patch"/>
              </a:rPr>
              <a:t>hiệu</a:t>
            </a:r>
            <a:r>
              <a:rPr lang="en-US" b="0" i="0" dirty="0">
                <a:solidFill>
                  <a:srgbClr val="404040"/>
                </a:solidFill>
                <a:effectLst/>
                <a:latin typeface="DeepSeek-CJK-patch"/>
              </a:rPr>
              <a:t> </a:t>
            </a:r>
            <a:r>
              <a:rPr lang="en-US" b="0" i="0" dirty="0" err="1">
                <a:solidFill>
                  <a:srgbClr val="404040"/>
                </a:solidFill>
                <a:effectLst/>
                <a:latin typeface="DeepSeek-CJK-patch"/>
              </a:rPr>
              <a:t>suất</a:t>
            </a:r>
            <a:r>
              <a:rPr lang="en-US" b="0" i="0" dirty="0">
                <a:solidFill>
                  <a:srgbClr val="404040"/>
                </a:solidFill>
                <a:effectLst/>
                <a:latin typeface="DeepSeek-CJK-patch"/>
              </a:rPr>
              <a:t> </a:t>
            </a:r>
            <a:r>
              <a:rPr lang="en-US" b="0" i="0" dirty="0" err="1">
                <a:solidFill>
                  <a:srgbClr val="404040"/>
                </a:solidFill>
                <a:effectLst/>
                <a:latin typeface="DeepSeek-CJK-patch"/>
              </a:rPr>
              <a:t>trong</a:t>
            </a:r>
            <a:r>
              <a:rPr lang="en-US" b="0" i="0" dirty="0">
                <a:solidFill>
                  <a:srgbClr val="404040"/>
                </a:solidFill>
                <a:effectLst/>
                <a:latin typeface="DeepSeek-CJK-patch"/>
              </a:rPr>
              <a:t> </a:t>
            </a:r>
            <a:r>
              <a:rPr lang="en-US" b="0" i="0" dirty="0" err="1">
                <a:solidFill>
                  <a:srgbClr val="404040"/>
                </a:solidFill>
                <a:effectLst/>
                <a:latin typeface="DeepSeek-CJK-patch"/>
              </a:rPr>
              <a:t>ảo</a:t>
            </a:r>
            <a:r>
              <a:rPr lang="en-US" b="0" i="0" dirty="0">
                <a:solidFill>
                  <a:srgbClr val="404040"/>
                </a:solidFill>
                <a:effectLst/>
                <a:latin typeface="DeepSeek-CJK-patch"/>
              </a:rPr>
              <a:t> </a:t>
            </a:r>
            <a:r>
              <a:rPr lang="en-US" b="0" i="0" dirty="0" err="1">
                <a:solidFill>
                  <a:srgbClr val="404040"/>
                </a:solidFill>
                <a:effectLst/>
                <a:latin typeface="DeepSeek-CJK-patch"/>
              </a:rPr>
              <a:t>hóa</a:t>
            </a:r>
            <a:r>
              <a:rPr lang="en-US" b="0" i="0" dirty="0">
                <a:solidFill>
                  <a:srgbClr val="404040"/>
                </a:solidFill>
                <a:effectLst/>
                <a:latin typeface="DeepSeek-CJK-patch"/>
              </a:rPr>
              <a:t>.</a:t>
            </a:r>
            <a:br>
              <a:rPr lang="en-US" dirty="0"/>
            </a:br>
            <a:endParaRPr lang="en-US" dirty="0"/>
          </a:p>
          <a:p>
            <a:r>
              <a:rPr lang="en-US" b="1" dirty="0"/>
              <a:t>1. </a:t>
            </a:r>
            <a:r>
              <a:rPr lang="vi-VN" b="1" dirty="0"/>
              <a:t>Refining the organization – Cấu trúc chi tiết của máy ảo</a:t>
            </a:r>
          </a:p>
          <a:p>
            <a:r>
              <a:rPr lang="vi-VN" dirty="0"/>
              <a:t>Hình </a:t>
            </a:r>
            <a:r>
              <a:rPr lang="en-US" dirty="0" err="1"/>
              <a:t>minh</a:t>
            </a:r>
            <a:r>
              <a:rPr lang="en-US" dirty="0"/>
              <a:t> </a:t>
            </a:r>
            <a:r>
              <a:rPr lang="en-US" dirty="0" err="1"/>
              <a:t>họa</a:t>
            </a:r>
            <a:r>
              <a:rPr lang="vi-VN" dirty="0"/>
              <a:t> cho thấy một hệ thống ảo hóa gồm nhiều lớp:</a:t>
            </a:r>
          </a:p>
          <a:p>
            <a:pPr>
              <a:buFont typeface="Arial" panose="020B0604020202020204" pitchFamily="34" charset="0"/>
              <a:buChar char="•"/>
            </a:pPr>
            <a:r>
              <a:rPr lang="vi-VN" b="1" dirty="0"/>
              <a:t>Hardware (phần cứng)</a:t>
            </a:r>
            <a:r>
              <a:rPr lang="vi-VN" dirty="0"/>
              <a:t> ở dưới cùng.</a:t>
            </a:r>
          </a:p>
          <a:p>
            <a:pPr>
              <a:buFont typeface="Arial" panose="020B0604020202020204" pitchFamily="34" charset="0"/>
              <a:buChar char="•"/>
            </a:pPr>
            <a:r>
              <a:rPr lang="vi-VN" b="1" dirty="0"/>
              <a:t>Host Operating System (hệ điều hành chủ)</a:t>
            </a:r>
            <a:r>
              <a:rPr lang="vi-VN" dirty="0"/>
              <a:t>: Quản lý phần cứng, cung cấp dịch vụ cơ bản.</a:t>
            </a:r>
          </a:p>
          <a:p>
            <a:pPr>
              <a:buFont typeface="Arial" panose="020B0604020202020204" pitchFamily="34" charset="0"/>
              <a:buChar char="•"/>
            </a:pPr>
            <a:r>
              <a:rPr lang="vi-VN" b="1" dirty="0"/>
              <a:t>Virtual Machine Monitor (VMM)</a:t>
            </a:r>
            <a:r>
              <a:rPr lang="vi-VN" dirty="0"/>
              <a:t>: Cầu nối giữa phần cứng và hệ điều hành khách.</a:t>
            </a:r>
          </a:p>
          <a:p>
            <a:pPr>
              <a:buFont typeface="Arial" panose="020B0604020202020204" pitchFamily="34" charset="0"/>
              <a:buChar char="•"/>
            </a:pPr>
            <a:r>
              <a:rPr lang="vi-VN" b="1" dirty="0"/>
              <a:t>Guest Operating System (hệ điều hành khách)</a:t>
            </a:r>
            <a:r>
              <a:rPr lang="vi-VN" dirty="0"/>
              <a:t>: Tin rằng nó đang chạy trực tiếp trên phần cứng thật.</a:t>
            </a:r>
          </a:p>
          <a:p>
            <a:pPr>
              <a:buFont typeface="Arial" panose="020B0604020202020204" pitchFamily="34" charset="0"/>
              <a:buChar char="•"/>
            </a:pPr>
            <a:r>
              <a:rPr lang="vi-VN" b="1" dirty="0"/>
              <a:t>Application/Libraries (ứng dụng)</a:t>
            </a:r>
            <a:r>
              <a:rPr lang="vi-VN" dirty="0"/>
              <a:t>: Chạy trên hệ điều hành khách.</a:t>
            </a:r>
            <a:endParaRPr lang="en-US"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vi-VN" b="1" dirty="0"/>
              <a:t>Hai loại lệnh</a:t>
            </a:r>
            <a:r>
              <a:rPr lang="vi-VN" dirty="0"/>
              <a:t>:</a:t>
            </a:r>
          </a:p>
          <a:p>
            <a:pPr>
              <a:buFont typeface="Arial" panose="020B0604020202020204" pitchFamily="34" charset="0"/>
              <a:buNone/>
            </a:pPr>
            <a:r>
              <a:rPr lang="en-US" dirty="0"/>
              <a:t>	- </a:t>
            </a:r>
            <a:r>
              <a:rPr lang="vi-VN" b="1" dirty="0"/>
              <a:t>Privileged instruction</a:t>
            </a:r>
            <a:r>
              <a:rPr lang="vi-VN" dirty="0"/>
              <a:t> (Lệnh đặc quyền):</a:t>
            </a:r>
          </a:p>
          <a:p>
            <a:pPr marL="457200" lvl="1" indent="0">
              <a:buFont typeface="Arial" panose="020B0604020202020204" pitchFamily="34" charset="0"/>
              <a:buNone/>
            </a:pPr>
            <a:r>
              <a:rPr lang="en-US" dirty="0"/>
              <a:t>		+</a:t>
            </a:r>
            <a:r>
              <a:rPr lang="vi-VN" dirty="0"/>
              <a:t>Chỉ được thực thi trong </a:t>
            </a:r>
            <a:r>
              <a:rPr lang="vi-VN" b="1" dirty="0"/>
              <a:t>kernel mode</a:t>
            </a:r>
            <a:r>
              <a:rPr lang="vi-VN" dirty="0"/>
              <a:t> (chế độ nhân).</a:t>
            </a:r>
          </a:p>
          <a:p>
            <a:pPr marL="457200" lvl="1" indent="0">
              <a:buFont typeface="Arial" panose="020B0604020202020204" pitchFamily="34" charset="0"/>
              <a:buNone/>
            </a:pPr>
            <a:r>
              <a:rPr lang="en-US" dirty="0"/>
              <a:t>		+</a:t>
            </a:r>
            <a:r>
              <a:rPr lang="vi-VN" dirty="0"/>
              <a:t>Nếu một chương trình </a:t>
            </a:r>
            <a:r>
              <a:rPr lang="vi-VN" b="1" dirty="0"/>
              <a:t>ở user mode</a:t>
            </a:r>
            <a:r>
              <a:rPr lang="vi-VN" dirty="0"/>
              <a:t> cố gắng thực thi, nó sẽ </a:t>
            </a:r>
            <a:r>
              <a:rPr lang="vi-VN" b="1" dirty="0"/>
              <a:t>gây trap</a:t>
            </a:r>
            <a:r>
              <a:rPr lang="vi-VN" dirty="0"/>
              <a:t> (bẫy) và chuyển quyền kiểm soát sang hệ điều hành.</a:t>
            </a:r>
          </a:p>
          <a:p>
            <a:pPr marL="457200" lvl="1" indent="0">
              <a:buFont typeface="Arial" panose="020B0604020202020204" pitchFamily="34" charset="0"/>
              <a:buNone/>
            </a:pPr>
            <a:r>
              <a:rPr lang="en-US" dirty="0"/>
              <a:t>		+</a:t>
            </a:r>
            <a:r>
              <a:rPr lang="vi-VN" dirty="0"/>
              <a:t>Ví dụ: truy cập I/O, thay đổi chế độ CPU, quản lý bộ nhớ.</a:t>
            </a:r>
          </a:p>
          <a:p>
            <a:pPr>
              <a:buFont typeface="Arial" panose="020B0604020202020204" pitchFamily="34" charset="0"/>
              <a:buNone/>
            </a:pPr>
            <a:r>
              <a:rPr lang="en-US" b="1" dirty="0"/>
              <a:t>	- </a:t>
            </a:r>
            <a:r>
              <a:rPr lang="vi-VN" b="1" dirty="0"/>
              <a:t>Nonprivileged instruction</a:t>
            </a:r>
            <a:r>
              <a:rPr lang="vi-VN" dirty="0"/>
              <a:t> (Lệnh không đặc quyền):</a:t>
            </a:r>
          </a:p>
          <a:p>
            <a:pPr marL="457200" lvl="1" indent="0">
              <a:buFont typeface="Arial" panose="020B0604020202020204" pitchFamily="34" charset="0"/>
              <a:buNone/>
            </a:pPr>
            <a:r>
              <a:rPr lang="en-US" dirty="0"/>
              <a:t>		+</a:t>
            </a:r>
            <a:r>
              <a:rPr lang="vi-VN" dirty="0"/>
              <a:t>Có thể thực hiện mà không cần quyền hệ thống.</a:t>
            </a:r>
          </a:p>
          <a:p>
            <a:pPr marL="457200" lvl="1" indent="0">
              <a:buFont typeface="Arial" panose="020B0604020202020204" pitchFamily="34" charset="0"/>
              <a:buNone/>
            </a:pPr>
            <a:r>
              <a:rPr lang="en-US" dirty="0"/>
              <a:t>		+</a:t>
            </a:r>
            <a:r>
              <a:rPr lang="vi-VN" dirty="0"/>
              <a:t>Ví dụ: các phép tính toán học, nhảy lệnh, load/store dữ liệu trong bộ nhớ người dùng.</a:t>
            </a:r>
          </a:p>
          <a:p>
            <a:endParaRPr lang="en-US" b="1" dirty="0"/>
          </a:p>
          <a:p>
            <a:r>
              <a:rPr lang="vi-VN" b="1" dirty="0"/>
              <a:t>2. Special Instructions – Lệnh đặc biệt trong máy ảo</a:t>
            </a:r>
          </a:p>
          <a:p>
            <a:r>
              <a:rPr lang="vi-VN" dirty="0"/>
              <a:t>Khi nói đến hiệu suất của máy ảo, một số lệnh cần được chú ý đặc biệt:</a:t>
            </a:r>
          </a:p>
          <a:p>
            <a:pPr>
              <a:buFont typeface="Arial" panose="020B0604020202020204" pitchFamily="34" charset="0"/>
              <a:buChar char="•"/>
            </a:pPr>
            <a:r>
              <a:rPr lang="vi-VN" b="1" dirty="0"/>
              <a:t>Control-sensitive instruction</a:t>
            </a:r>
            <a:r>
              <a:rPr lang="vi-VN" dirty="0"/>
              <a:t> (Lệnh nhạy cảm điều khiển):</a:t>
            </a:r>
          </a:p>
          <a:p>
            <a:pPr marL="457200" lvl="1" indent="0">
              <a:buFont typeface="Arial" panose="020B0604020202020204" pitchFamily="34" charset="0"/>
              <a:buNone/>
            </a:pPr>
            <a:r>
              <a:rPr lang="en-US" dirty="0"/>
              <a:t>- </a:t>
            </a:r>
            <a:r>
              <a:rPr lang="vi-VN" dirty="0"/>
              <a:t>Có thể </a:t>
            </a:r>
            <a:r>
              <a:rPr lang="vi-VN" b="1" dirty="0"/>
              <a:t>thay đổi cấu hình hệ thống</a:t>
            </a:r>
            <a:r>
              <a:rPr lang="vi-VN" dirty="0"/>
              <a:t>, ảnh hưởng tới cách hệ điều hành hoặc VMM hoạt động.</a:t>
            </a:r>
          </a:p>
          <a:p>
            <a:pPr marL="457200" lvl="1" indent="0">
              <a:buFont typeface="Arial" panose="020B0604020202020204" pitchFamily="34" charset="0"/>
              <a:buNone/>
            </a:pPr>
            <a:r>
              <a:rPr lang="en-US" dirty="0"/>
              <a:t>- </a:t>
            </a:r>
            <a:r>
              <a:rPr lang="vi-VN" dirty="0"/>
              <a:t>Ví dụ: ghi vào </a:t>
            </a:r>
            <a:r>
              <a:rPr lang="vi-VN" b="1" dirty="0"/>
              <a:t>relocation register</a:t>
            </a:r>
            <a:r>
              <a:rPr lang="vi-VN" dirty="0"/>
              <a:t>, hoặc bảng </a:t>
            </a:r>
            <a:r>
              <a:rPr lang="vi-VN" b="1" dirty="0"/>
              <a:t>interrupt vector</a:t>
            </a:r>
            <a:r>
              <a:rPr lang="vi-VN" dirty="0"/>
              <a:t> (quản lý ngắt).</a:t>
            </a:r>
          </a:p>
          <a:p>
            <a:pPr>
              <a:buFont typeface="Arial" panose="020B0604020202020204" pitchFamily="34" charset="0"/>
              <a:buChar char="•"/>
            </a:pPr>
            <a:r>
              <a:rPr lang="vi-VN" b="1" dirty="0"/>
              <a:t>Behavior-sensitive instruction</a:t>
            </a:r>
            <a:r>
              <a:rPr lang="vi-VN" dirty="0"/>
              <a:t> (Lệnh nhạy cảm theo ngữ cảnh):</a:t>
            </a:r>
          </a:p>
          <a:p>
            <a:pPr marL="457200" lvl="1" indent="0">
              <a:buFont typeface="Arial" panose="020B0604020202020204" pitchFamily="34" charset="0"/>
              <a:buNone/>
            </a:pPr>
            <a:r>
              <a:rPr lang="en-US" dirty="0"/>
              <a:t>- </a:t>
            </a:r>
            <a:r>
              <a:rPr lang="vi-VN" dirty="0"/>
              <a:t>Hành vi của lệnh </a:t>
            </a:r>
            <a:r>
              <a:rPr lang="vi-VN" b="1" dirty="0"/>
              <a:t>phụ thuộc vào trạng thái hiện tại</a:t>
            </a:r>
            <a:r>
              <a:rPr lang="vi-VN" dirty="0"/>
              <a:t> của hệ thống (như chế độ hệ thống hay người dùng).</a:t>
            </a:r>
          </a:p>
          <a:p>
            <a:pPr marL="457200" lvl="1" indent="0">
              <a:buFont typeface="Arial" panose="020B0604020202020204" pitchFamily="34" charset="0"/>
              <a:buNone/>
            </a:pPr>
            <a:r>
              <a:rPr lang="en-US" dirty="0"/>
              <a:t>- </a:t>
            </a:r>
            <a:r>
              <a:rPr lang="vi-VN" dirty="0"/>
              <a:t>Ví dụ: </a:t>
            </a:r>
            <a:r>
              <a:rPr lang="vi-VN" b="1" dirty="0"/>
              <a:t>POPF</a:t>
            </a:r>
            <a:r>
              <a:rPr lang="vi-VN" dirty="0"/>
              <a:t> đặt cờ ngắt (interrupt flag), </a:t>
            </a:r>
            <a:r>
              <a:rPr lang="vi-VN" b="1" dirty="0"/>
              <a:t>chỉ có tác dụng khi ở system mode</a:t>
            </a:r>
            <a:r>
              <a:rPr lang="vi-VN" dirty="0"/>
              <a:t>.</a:t>
            </a:r>
          </a:p>
          <a:p>
            <a:endParaRPr lang="en-US" b="1" dirty="0"/>
          </a:p>
          <a:p>
            <a:r>
              <a:rPr lang="vi-VN" b="1" dirty="0"/>
              <a:t>Tại sao quan trọng với ảo hóa?</a:t>
            </a:r>
          </a:p>
          <a:p>
            <a:pPr>
              <a:buFont typeface="Arial" panose="020B0604020202020204" pitchFamily="34" charset="0"/>
              <a:buChar char="•"/>
            </a:pPr>
            <a:r>
              <a:rPr lang="vi-VN" dirty="0"/>
              <a:t>Một VMM </a:t>
            </a:r>
            <a:r>
              <a:rPr lang="vi-VN" b="1" dirty="0"/>
              <a:t>hiệu quả</a:t>
            </a:r>
            <a:r>
              <a:rPr lang="vi-VN" dirty="0"/>
              <a:t> cần phải bắt được tất cả các </a:t>
            </a:r>
            <a:r>
              <a:rPr lang="vi-VN" b="1" dirty="0"/>
              <a:t>control-sensitive</a:t>
            </a:r>
            <a:r>
              <a:rPr lang="vi-VN" dirty="0"/>
              <a:t> và </a:t>
            </a:r>
            <a:r>
              <a:rPr lang="vi-VN" b="1" dirty="0"/>
              <a:t>behavior-sensitive</a:t>
            </a:r>
            <a:r>
              <a:rPr lang="vi-VN" dirty="0"/>
              <a:t> instructions.</a:t>
            </a:r>
          </a:p>
          <a:p>
            <a:pPr>
              <a:buFont typeface="Arial" panose="020B0604020202020204" pitchFamily="34" charset="0"/>
              <a:buChar char="•"/>
            </a:pPr>
            <a:r>
              <a:rPr lang="vi-VN" dirty="0"/>
              <a:t>Nếu một </a:t>
            </a:r>
            <a:r>
              <a:rPr lang="vi-VN" b="1" dirty="0"/>
              <a:t>lệnh nhạy cảm</a:t>
            </a:r>
            <a:r>
              <a:rPr lang="vi-VN" dirty="0"/>
              <a:t> </a:t>
            </a:r>
            <a:r>
              <a:rPr lang="vi-VN" b="1" dirty="0"/>
              <a:t>không gây trap</a:t>
            </a:r>
            <a:r>
              <a:rPr lang="vi-VN" dirty="0"/>
              <a:t>, VMM sẽ </a:t>
            </a:r>
            <a:r>
              <a:rPr lang="vi-VN" b="1" dirty="0"/>
              <a:t>không thể kiểm soát</a:t>
            </a:r>
            <a:r>
              <a:rPr lang="vi-VN" dirty="0"/>
              <a:t>, và điều đó </a:t>
            </a:r>
            <a:r>
              <a:rPr lang="vi-VN" b="1" dirty="0"/>
              <a:t>gây ra vấn đề bảo mật hoặc sai lệch</a:t>
            </a:r>
            <a:r>
              <a:rPr lang="vi-VN" dirty="0"/>
              <a:t> trong hoạt động của máy ảo.</a:t>
            </a:r>
          </a:p>
          <a:p>
            <a:pPr>
              <a:buFont typeface="Arial" panose="020B0604020202020204" pitchFamily="34" charset="0"/>
              <a:buChar char="•"/>
            </a:pPr>
            <a:r>
              <a:rPr lang="vi-VN" dirty="0"/>
              <a:t>Vì vậy, những kiến trúc CPU không hỗ trợ trap đúng sẽ </a:t>
            </a:r>
            <a:r>
              <a:rPr lang="vi-VN" b="1" dirty="0"/>
              <a:t>khó hoặc không thể ảo hóa hoàn toàn</a:t>
            </a:r>
            <a:r>
              <a:rPr lang="vi-VN" dirty="0"/>
              <a:t>.</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27</a:t>
            </a:fld>
            <a:endParaRPr lang="en-US"/>
          </a:p>
        </p:txBody>
      </p:sp>
    </p:spTree>
    <p:extLst>
      <p:ext uri="{BB962C8B-B14F-4D97-AF65-F5344CB8AC3E}">
        <p14:creationId xmlns:p14="http://schemas.microsoft.com/office/powerpoint/2010/main" val="15660601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"Condition for virtualization"</a:t>
            </a:r>
            <a:r>
              <a:rPr lang="vi-VN" dirty="0"/>
              <a:t> – Điều kiện để một hệ thống có thể được ảo hóa thành công:</a:t>
            </a:r>
          </a:p>
          <a:p>
            <a:endParaRPr lang="en-US" b="1" dirty="0"/>
          </a:p>
          <a:p>
            <a:r>
              <a:rPr lang="en-US" b="1" dirty="0"/>
              <a:t>1. </a:t>
            </a:r>
            <a:r>
              <a:rPr lang="vi-VN" b="1" dirty="0"/>
              <a:t>Necessary Condition – Điều kiện cần cho ảo hóa</a:t>
            </a:r>
          </a:p>
          <a:p>
            <a:r>
              <a:rPr lang="en-US" b="1" dirty="0"/>
              <a:t>a. </a:t>
            </a:r>
            <a:r>
              <a:rPr lang="vi-VN" b="1" dirty="0"/>
              <a:t>Điều kiện lý tưởng để ảo hóa một hệ thống:</a:t>
            </a:r>
            <a:endParaRPr lang="vi-VN" dirty="0"/>
          </a:p>
          <a:p>
            <a:r>
              <a:rPr lang="vi-VN" b="1" dirty="0"/>
              <a:t>“Tập lệnh nhạy cảm phải là tập con của tập lệnh đặc quyền.”</a:t>
            </a:r>
            <a:endParaRPr lang="vi-VN" dirty="0"/>
          </a:p>
          <a:p>
            <a:pPr>
              <a:buFont typeface="Arial" panose="020B0604020202020204" pitchFamily="34" charset="0"/>
              <a:buChar char="•"/>
            </a:pPr>
            <a:r>
              <a:rPr lang="vi-VN" dirty="0"/>
              <a:t>Nói cách khác: </a:t>
            </a:r>
            <a:r>
              <a:rPr lang="vi-VN" b="1" dirty="0"/>
              <a:t>mọi lệnh nhạy cảm</a:t>
            </a:r>
            <a:r>
              <a:rPr lang="vi-VN" dirty="0"/>
              <a:t> (có thể ảnh hưởng đến trạng thái hệ thống hoặc hoạt động bất thường) </a:t>
            </a:r>
            <a:r>
              <a:rPr lang="vi-VN" b="1" dirty="0"/>
              <a:t>phải là lệnh đặc quyền</a:t>
            </a:r>
            <a:r>
              <a:rPr lang="vi-VN" dirty="0"/>
              <a:t>, tức là:</a:t>
            </a:r>
          </a:p>
          <a:p>
            <a:pPr marL="457200" lvl="1" indent="0">
              <a:buFont typeface="Arial" panose="020B0604020202020204" pitchFamily="34" charset="0"/>
              <a:buNone/>
            </a:pPr>
            <a:r>
              <a:rPr lang="en-US" dirty="0"/>
              <a:t>- </a:t>
            </a:r>
            <a:r>
              <a:rPr lang="vi-VN" dirty="0"/>
              <a:t>Nếu chạy ở user mode → phải </a:t>
            </a:r>
            <a:r>
              <a:rPr lang="vi-VN" b="1" dirty="0"/>
              <a:t>gây trap</a:t>
            </a:r>
            <a:r>
              <a:rPr lang="vi-VN" dirty="0"/>
              <a:t> (bẫy) để chuyển quyền kiểm soát cho </a:t>
            </a:r>
            <a:r>
              <a:rPr lang="vi-VN" b="1" dirty="0"/>
              <a:t>VMM</a:t>
            </a:r>
            <a:r>
              <a:rPr lang="vi-VN" dirty="0"/>
              <a:t>.</a:t>
            </a:r>
          </a:p>
          <a:p>
            <a:pPr marL="457200" lvl="1" indent="0">
              <a:buFont typeface="Arial" panose="020B0604020202020204" pitchFamily="34" charset="0"/>
              <a:buNone/>
            </a:pPr>
            <a:r>
              <a:rPr lang="en-US" dirty="0"/>
              <a:t>- </a:t>
            </a:r>
            <a:r>
              <a:rPr lang="vi-VN" dirty="0"/>
              <a:t>Khi đó VMM có thể </a:t>
            </a:r>
            <a:r>
              <a:rPr lang="vi-VN" b="1" dirty="0"/>
              <a:t>giám sát và can thiệp</a:t>
            </a:r>
            <a:r>
              <a:rPr lang="vi-VN" dirty="0"/>
              <a:t> hành vi của hệ điều hành khách.</a:t>
            </a:r>
          </a:p>
          <a:p>
            <a:r>
              <a:rPr lang="en-US" b="1" dirty="0"/>
              <a:t>b. </a:t>
            </a:r>
            <a:r>
              <a:rPr lang="vi-VN" b="1" dirty="0"/>
              <a:t>Ví dụ đơn giản hóa</a:t>
            </a:r>
            <a:r>
              <a:rPr lang="vi-VN" dirty="0"/>
              <a:t>: Nếu một lệnh có thể thay đổi bảng ngắt hoặc thanh ghi hệ thống mà không gây trap, thì VMM không biết gì → ảo hóa </a:t>
            </a:r>
            <a:r>
              <a:rPr lang="vi-VN" b="1" dirty="0"/>
              <a:t>thất bại</a:t>
            </a:r>
            <a:r>
              <a:rPr lang="vi-VN" dirty="0"/>
              <a:t>.</a:t>
            </a:r>
          </a:p>
          <a:p>
            <a:endParaRPr lang="en-US" b="1" dirty="0"/>
          </a:p>
          <a:p>
            <a:r>
              <a:rPr lang="en-US" b="1" dirty="0"/>
              <a:t>2. </a:t>
            </a:r>
            <a:r>
              <a:rPr lang="vi-VN" b="1" dirty="0"/>
              <a:t>Problem – Vấn đề</a:t>
            </a:r>
          </a:p>
          <a:p>
            <a:r>
              <a:rPr lang="vi-VN" dirty="0"/>
              <a:t>Không phải mọi kiến trúc CPU đều thỏa mãn điều kiện trên.</a:t>
            </a:r>
          </a:p>
          <a:p>
            <a:pPr>
              <a:buFont typeface="Arial" panose="020B0604020202020204" pitchFamily="34" charset="0"/>
              <a:buChar char="•"/>
            </a:pPr>
            <a:r>
              <a:rPr lang="vi-VN" dirty="0"/>
              <a:t>Có những </a:t>
            </a:r>
            <a:r>
              <a:rPr lang="vi-VN" b="1" dirty="0"/>
              <a:t>lệnh nhạy cảm</a:t>
            </a:r>
            <a:r>
              <a:rPr lang="vi-VN" dirty="0"/>
              <a:t> nhưng </a:t>
            </a:r>
            <a:r>
              <a:rPr lang="vi-VN" b="1" dirty="0"/>
              <a:t>không gây trap khi chạy ở user mode</a:t>
            </a:r>
            <a:r>
              <a:rPr lang="vi-VN" dirty="0"/>
              <a:t>.</a:t>
            </a:r>
          </a:p>
          <a:p>
            <a:pPr marL="457200" lvl="1" indent="0">
              <a:buFont typeface="Arial" panose="020B0604020202020204" pitchFamily="34" charset="0"/>
              <a:buNone/>
            </a:pPr>
            <a:r>
              <a:rPr lang="en-US" dirty="0"/>
              <a:t>- </a:t>
            </a:r>
            <a:r>
              <a:rPr lang="vi-VN" dirty="0"/>
              <a:t>Chúng vẫn chạy bình thường → </a:t>
            </a:r>
            <a:r>
              <a:rPr lang="vi-VN" b="1" dirty="0"/>
              <a:t>VMM không thể can thiệp hay giám sát</a:t>
            </a:r>
            <a:r>
              <a:rPr lang="vi-VN" dirty="0"/>
              <a:t>.</a:t>
            </a:r>
          </a:p>
          <a:p>
            <a:pPr marL="457200" lvl="1" indent="0">
              <a:buFont typeface="Arial" panose="020B0604020202020204" pitchFamily="34" charset="0"/>
              <a:buNone/>
            </a:pPr>
            <a:r>
              <a:rPr lang="en-US" dirty="0"/>
              <a:t>- </a:t>
            </a:r>
            <a:r>
              <a:rPr lang="vi-VN" dirty="0"/>
              <a:t>Điều này làm cho </a:t>
            </a:r>
            <a:r>
              <a:rPr lang="vi-VN" b="1" dirty="0"/>
              <a:t>ảo hóa truyền thống trở nên bất khả thi</a:t>
            </a:r>
            <a:r>
              <a:rPr lang="vi-VN" dirty="0"/>
              <a:t> với các CPU như vậy.</a:t>
            </a:r>
          </a:p>
          <a:p>
            <a:endParaRPr lang="en-US" b="1" dirty="0"/>
          </a:p>
          <a:p>
            <a:r>
              <a:rPr lang="en-US" b="1" dirty="0"/>
              <a:t>3. </a:t>
            </a:r>
            <a:r>
              <a:rPr lang="vi-VN" b="1" dirty="0"/>
              <a:t>Solutions – Các giải pháp khắc phục</a:t>
            </a:r>
          </a:p>
          <a:p>
            <a:r>
              <a:rPr lang="en-US" b="1" dirty="0"/>
              <a:t>a. </a:t>
            </a:r>
            <a:r>
              <a:rPr lang="vi-VN" b="1" dirty="0"/>
              <a:t>Emulate all instructions</a:t>
            </a:r>
            <a:r>
              <a:rPr lang="vi-VN" dirty="0"/>
              <a:t> – </a:t>
            </a:r>
            <a:r>
              <a:rPr lang="vi-VN" b="1" dirty="0"/>
              <a:t>Giả lập mọi lệnh</a:t>
            </a:r>
            <a:r>
              <a:rPr lang="vi-VN" dirty="0"/>
              <a:t>:</a:t>
            </a:r>
          </a:p>
          <a:p>
            <a:pPr>
              <a:buFont typeface="Arial" panose="020B0604020202020204" pitchFamily="34" charset="0"/>
              <a:buChar char="•"/>
            </a:pPr>
            <a:r>
              <a:rPr lang="vi-VN" dirty="0"/>
              <a:t>VMM kiểm soát và xử lý mọi lệnh của CPU, kể cả lệnh không nhạy cảm.</a:t>
            </a:r>
          </a:p>
          <a:p>
            <a:pPr>
              <a:buFont typeface="Arial" panose="020B0604020202020204" pitchFamily="34" charset="0"/>
              <a:buChar char="•"/>
            </a:pPr>
            <a:r>
              <a:rPr lang="vi-VN" dirty="0"/>
              <a:t>Rất </a:t>
            </a:r>
            <a:r>
              <a:rPr lang="vi-VN" b="1" dirty="0"/>
              <a:t>chậm</a:t>
            </a:r>
            <a:r>
              <a:rPr lang="vi-VN" dirty="0"/>
              <a:t> vì phải kiểm tra từng lệnh một.</a:t>
            </a:r>
          </a:p>
          <a:p>
            <a:r>
              <a:rPr lang="en-US" b="1" dirty="0"/>
              <a:t>b. </a:t>
            </a:r>
            <a:r>
              <a:rPr lang="vi-VN" b="1" dirty="0"/>
              <a:t>Wrap nonprivileged sensitive instructions</a:t>
            </a:r>
            <a:r>
              <a:rPr lang="vi-VN" dirty="0"/>
              <a:t> – </a:t>
            </a:r>
            <a:r>
              <a:rPr lang="vi-VN" b="1" dirty="0"/>
              <a:t>Bao lệnh nhạy cảm không đặc quyền</a:t>
            </a:r>
            <a:r>
              <a:rPr lang="vi-VN" dirty="0"/>
              <a:t>:</a:t>
            </a:r>
          </a:p>
          <a:p>
            <a:pPr>
              <a:buFont typeface="Arial" panose="020B0604020202020204" pitchFamily="34" charset="0"/>
              <a:buChar char="•"/>
            </a:pPr>
            <a:r>
              <a:rPr lang="vi-VN" dirty="0"/>
              <a:t>Tìm và </a:t>
            </a:r>
            <a:r>
              <a:rPr lang="vi-VN" b="1" dirty="0"/>
              <a:t>"gói"</a:t>
            </a:r>
            <a:r>
              <a:rPr lang="vi-VN" dirty="0"/>
              <a:t> những lệnh nhạy cảm mà không gây trap bằng đoạn mã </a:t>
            </a:r>
            <a:r>
              <a:rPr lang="vi-VN" b="1" dirty="0"/>
              <a:t>điều hướng thủ công</a:t>
            </a:r>
            <a:r>
              <a:rPr lang="vi-VN" dirty="0"/>
              <a:t> về VMM.</a:t>
            </a:r>
          </a:p>
          <a:p>
            <a:pPr>
              <a:buFont typeface="Arial" panose="020B0604020202020204" pitchFamily="34" charset="0"/>
              <a:buChar char="•"/>
            </a:pPr>
            <a:r>
              <a:rPr lang="vi-VN" dirty="0"/>
              <a:t>Phức tạp nhưng </a:t>
            </a:r>
            <a:r>
              <a:rPr lang="vi-VN" b="1" dirty="0"/>
              <a:t>nhanh hơn</a:t>
            </a:r>
            <a:r>
              <a:rPr lang="vi-VN" dirty="0"/>
              <a:t> giả lập toàn bộ.</a:t>
            </a:r>
          </a:p>
          <a:p>
            <a:r>
              <a:rPr lang="en-US" b="1" dirty="0"/>
              <a:t>c.</a:t>
            </a:r>
            <a:r>
              <a:rPr lang="en-US" dirty="0"/>
              <a:t> </a:t>
            </a:r>
            <a:r>
              <a:rPr lang="vi-VN" b="1" dirty="0"/>
              <a:t>Paravirtualization</a:t>
            </a:r>
            <a:r>
              <a:rPr lang="vi-VN" dirty="0"/>
              <a:t> – </a:t>
            </a:r>
            <a:r>
              <a:rPr lang="vi-VN" b="1" dirty="0"/>
              <a:t>Ảo hóa bán phần</a:t>
            </a:r>
            <a:r>
              <a:rPr lang="vi-VN" dirty="0"/>
              <a:t>:</a:t>
            </a:r>
          </a:p>
          <a:p>
            <a:pPr>
              <a:buFont typeface="Arial" panose="020B0604020202020204" pitchFamily="34" charset="0"/>
              <a:buChar char="•"/>
            </a:pPr>
            <a:r>
              <a:rPr lang="vi-VN" b="1" dirty="0"/>
              <a:t>Chỉnh sửa hệ điều hành khách</a:t>
            </a:r>
            <a:r>
              <a:rPr lang="vi-VN" dirty="0"/>
              <a:t> để nó:</a:t>
            </a:r>
          </a:p>
          <a:p>
            <a:pPr marL="742950" lvl="1" indent="-285750">
              <a:buFont typeface="Arial" panose="020B0604020202020204" pitchFamily="34" charset="0"/>
              <a:buChar char="•"/>
            </a:pPr>
            <a:r>
              <a:rPr lang="vi-VN" b="1" dirty="0"/>
              <a:t>Không dùng các lệnh nhạy cảm không đặc quyền</a:t>
            </a:r>
            <a:r>
              <a:rPr lang="vi-VN" dirty="0"/>
              <a:t>, hoặc</a:t>
            </a:r>
          </a:p>
          <a:p>
            <a:pPr marL="742950" lvl="1" indent="-285750">
              <a:buFont typeface="Arial" panose="020B0604020202020204" pitchFamily="34" charset="0"/>
              <a:buChar char="•"/>
            </a:pPr>
            <a:r>
              <a:rPr lang="vi-VN" b="1" dirty="0"/>
              <a:t>Thay bằng API</a:t>
            </a:r>
            <a:r>
              <a:rPr lang="vi-VN" dirty="0"/>
              <a:t> gọi trực tiếp đến VMM (gọi là </a:t>
            </a:r>
            <a:r>
              <a:rPr lang="vi-VN" b="1" dirty="0"/>
              <a:t>hypercalls</a:t>
            </a:r>
            <a:r>
              <a:rPr lang="vi-VN" dirty="0"/>
              <a:t>).</a:t>
            </a:r>
          </a:p>
          <a:p>
            <a:pPr>
              <a:buFont typeface="Arial" panose="020B0604020202020204" pitchFamily="34" charset="0"/>
              <a:buChar char="•"/>
            </a:pPr>
            <a:r>
              <a:rPr lang="vi-VN" dirty="0"/>
              <a:t>Ưu điểm: nhanh và hiệu quả.</a:t>
            </a:r>
          </a:p>
          <a:p>
            <a:pPr>
              <a:buFont typeface="Arial" panose="020B0604020202020204" pitchFamily="34" charset="0"/>
              <a:buChar char="•"/>
            </a:pPr>
            <a:r>
              <a:rPr lang="vi-VN" dirty="0"/>
              <a:t>Nhược điểm: </a:t>
            </a:r>
            <a:r>
              <a:rPr lang="vi-VN" b="1" dirty="0"/>
              <a:t>cần sửa mã nguồn</a:t>
            </a:r>
            <a:r>
              <a:rPr lang="vi-VN" dirty="0"/>
              <a:t> của OS khách → không áp dụng được với mọi OS (ví dụ: Windows không mã nguồn mở).</a:t>
            </a:r>
          </a:p>
          <a:p>
            <a:endParaRPr lang="en-US" b="1" dirty="0"/>
          </a:p>
          <a:p>
            <a:r>
              <a:rPr lang="en-US" b="1" dirty="0"/>
              <a:t>4. </a:t>
            </a:r>
            <a:r>
              <a:rPr lang="vi-VN" b="1" dirty="0"/>
              <a:t>Tóm tắt ngắn gọn</a:t>
            </a:r>
          </a:p>
          <a:p>
            <a:r>
              <a:rPr lang="vi-VN" dirty="0"/>
              <a:t>Thành phầnVai trò</a:t>
            </a:r>
            <a:r>
              <a:rPr lang="vi-VN" b="1" dirty="0"/>
              <a:t>Điều kiện cần</a:t>
            </a:r>
            <a:r>
              <a:rPr lang="vi-VN" dirty="0"/>
              <a:t>Sensitive ⊆ Privileged</a:t>
            </a:r>
            <a:r>
              <a:rPr lang="vi-VN" b="1" dirty="0"/>
              <a:t>Vấn đề</a:t>
            </a:r>
            <a:r>
              <a:rPr lang="vi-VN" dirty="0"/>
              <a:t>Có lệnh nhạy cảm </a:t>
            </a:r>
            <a:r>
              <a:rPr lang="vi-VN" b="1" dirty="0"/>
              <a:t>không gây trapGiải pháp</a:t>
            </a:r>
            <a:r>
              <a:rPr lang="vi-VN" dirty="0"/>
              <a:t>Emulate, Wrap lệnh, hoặc Paravirtualization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28</a:t>
            </a:fld>
            <a:endParaRPr lang="en-US"/>
          </a:p>
        </p:txBody>
      </p:sp>
    </p:spTree>
    <p:extLst>
      <p:ext uri="{BB962C8B-B14F-4D97-AF65-F5344CB8AC3E}">
        <p14:creationId xmlns:p14="http://schemas.microsoft.com/office/powerpoint/2010/main" val="30253377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"VMs and Cloud Computing" – Máy ảo và điện toán đám mây</a:t>
            </a:r>
            <a:r>
              <a:rPr lang="vi-VN" dirty="0"/>
              <a:t>:</a:t>
            </a:r>
          </a:p>
          <a:p>
            <a:r>
              <a:rPr lang="vi-VN" b="1" dirty="0"/>
              <a:t>Ba loại dịch vụ điện toán đám mây (Cloud Services)</a:t>
            </a:r>
          </a:p>
          <a:p>
            <a:r>
              <a:rPr lang="vi-VN" dirty="0"/>
              <a:t>Điện toán đám mây thường được phân thành </a:t>
            </a:r>
            <a:r>
              <a:rPr lang="vi-VN" b="1" dirty="0"/>
              <a:t>3 cấp độ dịch vụ chính</a:t>
            </a:r>
            <a:r>
              <a:rPr lang="vi-VN" dirty="0"/>
              <a:t>, tương ứng với các lớp phần mềm:</a:t>
            </a:r>
          </a:p>
          <a:p>
            <a:endParaRPr lang="en-US" b="1" dirty="0"/>
          </a:p>
          <a:p>
            <a:r>
              <a:rPr lang="vi-VN" b="1" dirty="0"/>
              <a:t>1. Infrastructure as a Service (IaaS) – Cơ sở hạ tầng dưới dạng dịch vụ</a:t>
            </a:r>
          </a:p>
          <a:p>
            <a:pPr>
              <a:buFont typeface="Arial" panose="020B0604020202020204" pitchFamily="34" charset="0"/>
              <a:buChar char="•"/>
            </a:pPr>
            <a:r>
              <a:rPr lang="vi-VN" dirty="0"/>
              <a:t>Cung cấp: </a:t>
            </a:r>
            <a:r>
              <a:rPr lang="vi-VN" b="1" dirty="0"/>
              <a:t>máy chủ ảo (VM)</a:t>
            </a:r>
            <a:r>
              <a:rPr lang="vi-VN" dirty="0"/>
              <a:t>, lưu trữ, mạng,...</a:t>
            </a:r>
          </a:p>
          <a:p>
            <a:pPr>
              <a:buFont typeface="Arial" panose="020B0604020202020204" pitchFamily="34" charset="0"/>
              <a:buChar char="•"/>
            </a:pPr>
            <a:r>
              <a:rPr lang="vi-VN" dirty="0"/>
              <a:t>Người dùng có quyền kiểm soát hệ điều hành, phần mềm cài thêm,...</a:t>
            </a:r>
          </a:p>
          <a:p>
            <a:pPr>
              <a:buFont typeface="Arial" panose="020B0604020202020204" pitchFamily="34" charset="0"/>
              <a:buChar char="•"/>
            </a:pPr>
            <a:r>
              <a:rPr lang="vi-VN" dirty="0"/>
              <a:t>Ví dụ: </a:t>
            </a:r>
            <a:r>
              <a:rPr lang="vi-VN" b="1" dirty="0"/>
              <a:t>Amazon EC2</a:t>
            </a:r>
            <a:r>
              <a:rPr lang="vi-VN" dirty="0"/>
              <a:t>, </a:t>
            </a:r>
            <a:r>
              <a:rPr lang="vi-VN" b="1" dirty="0"/>
              <a:t>Google Compute Engine</a:t>
            </a:r>
            <a:r>
              <a:rPr lang="vi-VN" dirty="0"/>
              <a:t>, </a:t>
            </a:r>
            <a:r>
              <a:rPr lang="vi-VN" b="1" dirty="0"/>
              <a:t>Microsoft Azure VM</a:t>
            </a:r>
            <a:r>
              <a:rPr lang="vi-VN" dirty="0"/>
              <a:t>.</a:t>
            </a:r>
          </a:p>
          <a:p>
            <a:endParaRPr lang="en-US" b="1" dirty="0"/>
          </a:p>
          <a:p>
            <a:r>
              <a:rPr lang="vi-VN" b="1" dirty="0"/>
              <a:t>2. Platform as a Service (PaaS) – Nền tảng dưới dạng dịch vụ</a:t>
            </a:r>
          </a:p>
          <a:p>
            <a:pPr>
              <a:buFont typeface="Arial" panose="020B0604020202020204" pitchFamily="34" charset="0"/>
              <a:buChar char="•"/>
            </a:pPr>
            <a:r>
              <a:rPr lang="vi-VN" dirty="0"/>
              <a:t>Cung cấp: môi trường </a:t>
            </a:r>
            <a:r>
              <a:rPr lang="vi-VN" b="1" dirty="0"/>
              <a:t>chạy ứng dụng</a:t>
            </a:r>
            <a:r>
              <a:rPr lang="vi-VN" dirty="0"/>
              <a:t>, gồm hệ điều hành, middleware, DB,...</a:t>
            </a:r>
          </a:p>
          <a:p>
            <a:pPr>
              <a:buFont typeface="Arial" panose="020B0604020202020204" pitchFamily="34" charset="0"/>
              <a:buChar char="•"/>
            </a:pPr>
            <a:r>
              <a:rPr lang="vi-VN" dirty="0"/>
              <a:t>Người dùng </a:t>
            </a:r>
            <a:r>
              <a:rPr lang="vi-VN" b="1" dirty="0"/>
              <a:t>chỉ cần triển khai mã nguồn</a:t>
            </a:r>
            <a:r>
              <a:rPr lang="vi-VN" dirty="0"/>
              <a:t>, không cần lo về cấu hình OS, update,...</a:t>
            </a:r>
          </a:p>
          <a:p>
            <a:pPr>
              <a:buFont typeface="Arial" panose="020B0604020202020204" pitchFamily="34" charset="0"/>
              <a:buChar char="•"/>
            </a:pPr>
            <a:r>
              <a:rPr lang="vi-VN" dirty="0"/>
              <a:t>Ví dụ: </a:t>
            </a:r>
            <a:r>
              <a:rPr lang="vi-VN" b="1" dirty="0"/>
              <a:t>Google App Engine</a:t>
            </a:r>
            <a:r>
              <a:rPr lang="vi-VN" dirty="0"/>
              <a:t>, </a:t>
            </a:r>
            <a:r>
              <a:rPr lang="vi-VN" b="1" dirty="0"/>
              <a:t>Heroku</a:t>
            </a:r>
            <a:r>
              <a:rPr lang="vi-VN" dirty="0"/>
              <a:t>, </a:t>
            </a:r>
            <a:r>
              <a:rPr lang="vi-VN" b="1" dirty="0"/>
              <a:t>Microsoft Azure App Service</a:t>
            </a:r>
            <a:r>
              <a:rPr lang="vi-VN" dirty="0"/>
              <a:t>.</a:t>
            </a:r>
          </a:p>
          <a:p>
            <a:endParaRPr lang="en-US" b="1" dirty="0"/>
          </a:p>
          <a:p>
            <a:r>
              <a:rPr lang="vi-VN" b="1" dirty="0"/>
              <a:t>3. Software as a Service (SaaS) – Phần mềm dưới dạng dịch vụ</a:t>
            </a:r>
          </a:p>
          <a:p>
            <a:pPr>
              <a:buFont typeface="Arial" panose="020B0604020202020204" pitchFamily="34" charset="0"/>
              <a:buChar char="•"/>
            </a:pPr>
            <a:r>
              <a:rPr lang="vi-VN" dirty="0"/>
              <a:t>Cung cấp: </a:t>
            </a:r>
            <a:r>
              <a:rPr lang="vi-VN" b="1" dirty="0"/>
              <a:t>ứng dụng hoàn chỉnh</a:t>
            </a:r>
            <a:r>
              <a:rPr lang="vi-VN" dirty="0"/>
              <a:t> qua web.</a:t>
            </a:r>
          </a:p>
          <a:p>
            <a:pPr>
              <a:buFont typeface="Arial" panose="020B0604020202020204" pitchFamily="34" charset="0"/>
              <a:buChar char="•"/>
            </a:pPr>
            <a:r>
              <a:rPr lang="vi-VN" dirty="0"/>
              <a:t>Người dùng chỉ cần </a:t>
            </a:r>
            <a:r>
              <a:rPr lang="vi-VN" b="1" dirty="0"/>
              <a:t>sử dụng</a:t>
            </a:r>
            <a:r>
              <a:rPr lang="vi-VN" dirty="0"/>
              <a:t>, không phải cài đặt, cập nhật gì.</a:t>
            </a:r>
          </a:p>
          <a:p>
            <a:pPr>
              <a:buFont typeface="Arial" panose="020B0604020202020204" pitchFamily="34" charset="0"/>
              <a:buChar char="•"/>
            </a:pPr>
            <a:r>
              <a:rPr lang="vi-VN" dirty="0"/>
              <a:t>Ví dụ: </a:t>
            </a:r>
            <a:r>
              <a:rPr lang="vi-VN" b="1" dirty="0"/>
              <a:t>Google Docs</a:t>
            </a:r>
            <a:r>
              <a:rPr lang="vi-VN" dirty="0"/>
              <a:t>, </a:t>
            </a:r>
            <a:r>
              <a:rPr lang="vi-VN" b="1" dirty="0"/>
              <a:t>Gmail</a:t>
            </a:r>
            <a:r>
              <a:rPr lang="vi-VN" dirty="0"/>
              <a:t>, </a:t>
            </a:r>
            <a:r>
              <a:rPr lang="vi-VN" b="1" dirty="0"/>
              <a:t>Salesforce</a:t>
            </a:r>
            <a:r>
              <a:rPr lang="vi-VN" dirty="0"/>
              <a:t>, </a:t>
            </a:r>
            <a:r>
              <a:rPr lang="vi-VN" b="1" dirty="0"/>
              <a:t>Dropbox</a:t>
            </a:r>
            <a:r>
              <a:rPr lang="vi-VN" dirty="0"/>
              <a:t>.</a:t>
            </a:r>
          </a:p>
          <a:p>
            <a:endParaRPr lang="en-US" b="1" dirty="0"/>
          </a:p>
          <a:p>
            <a:endParaRPr lang="en-US" b="1" dirty="0"/>
          </a:p>
          <a:p>
            <a:r>
              <a:rPr lang="vi-VN" b="1" dirty="0"/>
              <a:t>IaaS và Máy Ảo (VM)</a:t>
            </a:r>
          </a:p>
          <a:p>
            <a:pPr>
              <a:buFont typeface="Arial" panose="020B0604020202020204" pitchFamily="34" charset="0"/>
              <a:buChar char="•"/>
            </a:pPr>
            <a:r>
              <a:rPr lang="vi-VN" dirty="0"/>
              <a:t>Với </a:t>
            </a:r>
            <a:r>
              <a:rPr lang="vi-VN" b="1" dirty="0"/>
              <a:t>IaaS</a:t>
            </a:r>
            <a:r>
              <a:rPr lang="vi-VN" dirty="0"/>
              <a:t>, nhà cung cấp </a:t>
            </a:r>
            <a:r>
              <a:rPr lang="vi-VN" b="1" dirty="0"/>
              <a:t>không cho thuê máy vật lý</a:t>
            </a:r>
            <a:r>
              <a:rPr lang="vi-VN" dirty="0"/>
              <a:t>, mà cho thuê </a:t>
            </a:r>
            <a:r>
              <a:rPr lang="vi-VN" b="1" dirty="0"/>
              <a:t>máy ảo (VM)</a:t>
            </a:r>
            <a:r>
              <a:rPr lang="vi-VN" dirty="0"/>
              <a:t> chạy trên một </a:t>
            </a:r>
            <a:r>
              <a:rPr lang="vi-VN" b="1" dirty="0"/>
              <a:t>máy chủ vật lý chia sẻ</a:t>
            </a:r>
            <a:r>
              <a:rPr lang="vi-VN" dirty="0"/>
              <a:t>.</a:t>
            </a:r>
          </a:p>
          <a:p>
            <a:pPr>
              <a:buFont typeface="Arial" panose="020B0604020202020204" pitchFamily="34" charset="0"/>
              <a:buChar char="•"/>
            </a:pPr>
            <a:r>
              <a:rPr lang="vi-VN" dirty="0"/>
              <a:t>Một máy chủ vật lý có thể chạy </a:t>
            </a:r>
            <a:r>
              <a:rPr lang="vi-VN" b="1" dirty="0"/>
              <a:t>nhiều VM</a:t>
            </a:r>
            <a:r>
              <a:rPr lang="vi-VN" dirty="0"/>
              <a:t> của nhiều khách hàng khác nhau nhờ phần mềm gọi là </a:t>
            </a:r>
            <a:r>
              <a:rPr lang="vi-VN" b="1" dirty="0"/>
              <a:t>Virtual Machine Monitor (VMM)</a:t>
            </a:r>
            <a:r>
              <a:rPr lang="vi-VN" dirty="0"/>
              <a:t> hoặc </a:t>
            </a:r>
            <a:r>
              <a:rPr lang="vi-VN" b="1" dirty="0"/>
              <a:t>hypervisor</a:t>
            </a:r>
            <a:r>
              <a:rPr lang="vi-VN" dirty="0"/>
              <a:t>.</a:t>
            </a:r>
          </a:p>
          <a:p>
            <a:r>
              <a:rPr lang="vi-VN" b="1"/>
              <a:t>Ưu </a:t>
            </a:r>
            <a:r>
              <a:rPr lang="vi-VN" b="1" dirty="0"/>
              <a:t>điểm của mô hình IaaS:</a:t>
            </a:r>
          </a:p>
          <a:p>
            <a:pPr>
              <a:buFont typeface="Arial" panose="020B0604020202020204" pitchFamily="34" charset="0"/>
              <a:buChar char="•"/>
            </a:pPr>
            <a:r>
              <a:rPr lang="vi-VN" b="1" dirty="0"/>
              <a:t>Cách ly gần như hoàn toàn</a:t>
            </a:r>
            <a:r>
              <a:rPr lang="vi-VN" dirty="0"/>
              <a:t> giữa các khách hàng (không thể thấy VM của người khác).</a:t>
            </a:r>
          </a:p>
          <a:p>
            <a:pPr>
              <a:buFont typeface="Arial" panose="020B0604020202020204" pitchFamily="34" charset="0"/>
              <a:buChar char="•"/>
            </a:pPr>
            <a:r>
              <a:rPr lang="vi-VN" dirty="0"/>
              <a:t>Tuy nhiên, </a:t>
            </a:r>
            <a:r>
              <a:rPr lang="vi-VN" b="1" dirty="0"/>
              <a:t>hiệu năng vẫn có thể bị ảnh hưởng</a:t>
            </a:r>
            <a:r>
              <a:rPr lang="vi-VN" dirty="0"/>
              <a:t> nếu nhiều VM chia sẻ cùng tài nguyên vật lý (</a:t>
            </a:r>
            <a:r>
              <a:rPr lang="vi-VN" b="1" dirty="0"/>
              <a:t>CPU, RAM, ổ đĩa</a:t>
            </a:r>
            <a:r>
              <a:rPr lang="vi-VN" dirty="0"/>
              <a:t>).</a:t>
            </a:r>
          </a:p>
          <a:p>
            <a:pPr marL="742950" lvl="1" indent="-285750">
              <a:buFont typeface="Arial" panose="020B0604020202020204" pitchFamily="34" charset="0"/>
              <a:buChar char="•"/>
            </a:pPr>
            <a:r>
              <a:rPr lang="vi-VN" dirty="0"/>
              <a:t>Gọi là vấn đề </a:t>
            </a:r>
            <a:r>
              <a:rPr lang="vi-VN" b="1" dirty="0"/>
              <a:t>“performance isolation”</a:t>
            </a:r>
            <a:r>
              <a:rPr lang="vi-VN" dirty="0"/>
              <a:t> – khó đảm bảo hoàn toàn.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29</a:t>
            </a:fld>
            <a:endParaRPr lang="en-US"/>
          </a:p>
        </p:txBody>
      </p:sp>
    </p:spTree>
    <p:extLst>
      <p:ext uri="{BB962C8B-B14F-4D97-AF65-F5344CB8AC3E}">
        <p14:creationId xmlns:p14="http://schemas.microsoft.com/office/powerpoint/2010/main" val="190836915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0" dirty="0"/>
              <a:t>Trong các chương trước, chúng ta đã thảo luận về mô hình client-server (khách-chủ), vai trò của các client và server, cũng như cách chúng tương tác với nhau. Bây giờ, hãy cùng tìm hiểu kỹ hơn về cấu trúc (anatomy) của client và server. Trong phần này, chúng ta sẽ bắt đầu với client; server sẽ được bàn đến trong phần tiếp theo.</a:t>
            </a:r>
            <a:endParaRPr lang="en-US" b="0" dirty="0"/>
          </a:p>
          <a:p>
            <a:endParaRPr lang="vi-VN" b="0" dirty="0"/>
          </a:p>
          <a:p>
            <a:r>
              <a:rPr lang="vi-VN" b="1" dirty="0"/>
              <a:t>Giao diện người dùng mạng (Networked user interfaces)</a:t>
            </a:r>
          </a:p>
          <a:p>
            <a:endParaRPr lang="en-US" dirty="0"/>
          </a:p>
          <a:p>
            <a:r>
              <a:rPr lang="vi-VN" dirty="0"/>
              <a:t>Một nhiệm vụ chính của các máy client là cung cấp phương tiện để người dùng tương tác với các server từ xa. Có khoảng </a:t>
            </a:r>
            <a:r>
              <a:rPr lang="vi-VN" b="1" dirty="0"/>
              <a:t>hai cách</a:t>
            </a:r>
            <a:r>
              <a:rPr lang="vi-VN" dirty="0"/>
              <a:t> chính để hỗ trợ sự tương tác này:</a:t>
            </a:r>
            <a:endParaRPr lang="en-US" dirty="0"/>
          </a:p>
          <a:p>
            <a:endParaRPr lang="en-US" dirty="0"/>
          </a:p>
          <a:p>
            <a:r>
              <a:rPr lang="en-US" dirty="0"/>
              <a:t>Ở </a:t>
            </a:r>
            <a:r>
              <a:rPr lang="en-US" dirty="0" err="1"/>
              <a:t>đây</a:t>
            </a:r>
            <a:r>
              <a:rPr lang="en-US" dirty="0"/>
              <a:t> </a:t>
            </a:r>
            <a:r>
              <a:rPr lang="en-US" dirty="0" err="1"/>
              <a:t>chúng</a:t>
            </a:r>
            <a:r>
              <a:rPr lang="en-US" dirty="0"/>
              <a:t> ta </a:t>
            </a:r>
            <a:r>
              <a:rPr lang="en-US" dirty="0" err="1"/>
              <a:t>phân</a:t>
            </a:r>
            <a:r>
              <a:rPr lang="en-US" dirty="0"/>
              <a:t> </a:t>
            </a:r>
            <a:r>
              <a:rPr lang="en-US" dirty="0" err="1"/>
              <a:t>biệt</a:t>
            </a:r>
            <a:r>
              <a:rPr lang="en-US" dirty="0"/>
              <a:t> </a:t>
            </a:r>
            <a:r>
              <a:rPr lang="en-US" dirty="0" err="1"/>
              <a:t>giữa</a:t>
            </a:r>
            <a:r>
              <a:rPr lang="en-US" dirty="0"/>
              <a:t> 2 </a:t>
            </a:r>
            <a:r>
              <a:rPr lang="en-US" dirty="0" err="1"/>
              <a:t>giải</a:t>
            </a:r>
            <a:r>
              <a:rPr lang="en-US" dirty="0"/>
              <a:t> </a:t>
            </a:r>
            <a:r>
              <a:rPr lang="en-US" dirty="0" err="1"/>
              <a:t>pháp</a:t>
            </a:r>
            <a:r>
              <a:rPr lang="en-US" dirty="0"/>
              <a:t>, </a:t>
            </a:r>
            <a:r>
              <a:rPr lang="en-US" dirty="0" err="1"/>
              <a:t>giải</a:t>
            </a:r>
            <a:r>
              <a:rPr lang="en-US" dirty="0"/>
              <a:t> </a:t>
            </a:r>
            <a:r>
              <a:rPr lang="en-US" dirty="0" err="1"/>
              <a:t>pháp</a:t>
            </a:r>
            <a:r>
              <a:rPr lang="en-US" dirty="0"/>
              <a:t> ở </a:t>
            </a:r>
            <a:r>
              <a:rPr lang="en-US" dirty="0" err="1"/>
              <a:t>tầng</a:t>
            </a:r>
            <a:r>
              <a:rPr lang="en-US" dirty="0"/>
              <a:t> </a:t>
            </a:r>
            <a:r>
              <a:rPr lang="en-US" dirty="0" err="1"/>
              <a:t>ứng</a:t>
            </a:r>
            <a:r>
              <a:rPr lang="en-US" dirty="0"/>
              <a:t> </a:t>
            </a:r>
            <a:r>
              <a:rPr lang="en-US" dirty="0" err="1"/>
              <a:t>dụng</a:t>
            </a:r>
            <a:r>
              <a:rPr lang="en-US" dirty="0"/>
              <a:t> (application) </a:t>
            </a:r>
            <a:r>
              <a:rPr lang="en-US" dirty="0" err="1"/>
              <a:t>và</a:t>
            </a:r>
            <a:r>
              <a:rPr lang="en-US" dirty="0"/>
              <a:t> ở </a:t>
            </a:r>
            <a:r>
              <a:rPr lang="en-US" dirty="0" err="1"/>
              <a:t>tầng</a:t>
            </a:r>
            <a:r>
              <a:rPr lang="en-US" dirty="0"/>
              <a:t> Middleware</a:t>
            </a:r>
          </a:p>
          <a:p>
            <a:endParaRPr lang="vi-VN" dirty="0"/>
          </a:p>
          <a:p>
            <a:pPr>
              <a:buFont typeface="+mj-lt"/>
              <a:buAutoNum type="arabicPeriod"/>
            </a:pPr>
            <a:r>
              <a:rPr lang="vi-VN" b="1" dirty="0"/>
              <a:t>Cách thứ nhất</a:t>
            </a:r>
            <a:r>
              <a:rPr lang="vi-VN" dirty="0"/>
              <a:t>, với mỗi dịch vụ từ xa, máy client sẽ có một </a:t>
            </a:r>
            <a:r>
              <a:rPr lang="vi-VN" b="1" dirty="0"/>
              <a:t>ứng dụng đối ứng riêng</a:t>
            </a:r>
            <a:r>
              <a:rPr lang="vi-VN" dirty="0"/>
              <a:t> để liên hệ với dịch vụ đó qua mạng.</a:t>
            </a:r>
          </a:p>
          <a:p>
            <a:pPr marL="457200" lvl="1" indent="0">
              <a:buFont typeface="+mj-lt"/>
              <a:buNone/>
            </a:pPr>
            <a:r>
              <a:rPr lang="en-US" dirty="0"/>
              <a:t>- </a:t>
            </a:r>
            <a:r>
              <a:rPr lang="vi-VN" dirty="0"/>
              <a:t>Ví dụ điển hình là một ứng dụng </a:t>
            </a:r>
            <a:r>
              <a:rPr lang="vi-VN" b="1" dirty="0"/>
              <a:t>lịch</a:t>
            </a:r>
            <a:r>
              <a:rPr lang="vi-VN" dirty="0"/>
              <a:t> chạy trên điện thoại của người dùng cần </a:t>
            </a:r>
            <a:r>
              <a:rPr lang="vi-VN" b="1" dirty="0"/>
              <a:t>đồng bộ hóa</a:t>
            </a:r>
            <a:r>
              <a:rPr lang="vi-VN" dirty="0"/>
              <a:t> với một lịch từ xa (có thể là lịch được chia sẻ).</a:t>
            </a:r>
          </a:p>
          <a:p>
            <a:pPr marL="628650" lvl="1" indent="-171450">
              <a:buFontTx/>
              <a:buChar char="-"/>
            </a:pPr>
            <a:r>
              <a:rPr lang="vi-VN" dirty="0"/>
              <a:t>Trong trường hợp này, một </a:t>
            </a:r>
            <a:r>
              <a:rPr lang="vi-VN" b="1" dirty="0"/>
              <a:t>giao thức ở tầng ứng dụng</a:t>
            </a:r>
            <a:r>
              <a:rPr lang="vi-VN" dirty="0"/>
              <a:t> sẽ đảm nhiệm việc đồng bộ hóa, như minh họa trong Hình (a).</a:t>
            </a:r>
            <a:endParaRPr lang="en-US" dirty="0"/>
          </a:p>
          <a:p>
            <a:pPr marL="628650" lvl="1" indent="-171450">
              <a:buFontTx/>
              <a:buChar char="-"/>
            </a:pPr>
            <a:endParaRPr lang="vi-VN" dirty="0"/>
          </a:p>
          <a:p>
            <a:pPr>
              <a:buFont typeface="+mj-lt"/>
              <a:buAutoNum type="arabicPeriod"/>
            </a:pPr>
            <a:r>
              <a:rPr lang="vi-VN" b="1" dirty="0"/>
              <a:t>Cách thứ hai</a:t>
            </a:r>
            <a:r>
              <a:rPr lang="vi-VN" dirty="0"/>
              <a:t>, máy client cung cấp quyền truy cập </a:t>
            </a:r>
            <a:r>
              <a:rPr lang="vi-VN" b="1" dirty="0"/>
              <a:t>trực tiếp</a:t>
            </a:r>
            <a:r>
              <a:rPr lang="vi-VN" dirty="0"/>
              <a:t> đến các dịch vụ từ xa thông qua một </a:t>
            </a:r>
            <a:r>
              <a:rPr lang="vi-VN" b="1" dirty="0"/>
              <a:t>giao diện người dùng thuận tiện</a:t>
            </a:r>
            <a:r>
              <a:rPr lang="vi-VN" dirty="0"/>
              <a:t>.</a:t>
            </a:r>
          </a:p>
          <a:p>
            <a:pPr marL="457200" lvl="1" indent="0">
              <a:buFont typeface="+mj-lt"/>
              <a:buNone/>
            </a:pPr>
            <a:r>
              <a:rPr lang="en-US" dirty="0"/>
              <a:t>- </a:t>
            </a:r>
            <a:r>
              <a:rPr lang="vi-VN" dirty="0"/>
              <a:t>Về bản chất, client lúc này chỉ được sử dụng như một </a:t>
            </a:r>
            <a:r>
              <a:rPr lang="vi-VN" b="1" dirty="0"/>
              <a:t>thiết bị đầu cuối</a:t>
            </a:r>
            <a:r>
              <a:rPr lang="vi-VN" dirty="0"/>
              <a:t> (terminal), </a:t>
            </a:r>
            <a:r>
              <a:rPr lang="vi-VN" b="1" dirty="0"/>
              <a:t>không cần lưu trữ nội bộ</a:t>
            </a:r>
            <a:r>
              <a:rPr lang="vi-VN" dirty="0"/>
              <a:t>, dẫn đến một giải pháp </a:t>
            </a:r>
            <a:r>
              <a:rPr lang="vi-VN" b="1" dirty="0"/>
              <a:t>trung lập với ứng dụng</a:t>
            </a:r>
            <a:r>
              <a:rPr lang="vi-VN" dirty="0"/>
              <a:t>, như trong Hình (b).</a:t>
            </a:r>
          </a:p>
          <a:p>
            <a:pPr marL="457200" lvl="1" indent="0">
              <a:buFont typeface="+mj-lt"/>
              <a:buNone/>
            </a:pPr>
            <a:r>
              <a:rPr lang="en-US" dirty="0"/>
              <a:t>- </a:t>
            </a:r>
            <a:r>
              <a:rPr lang="vi-VN" dirty="0"/>
              <a:t>Trong mô hình giao diện người dùng mạng này, </a:t>
            </a:r>
            <a:r>
              <a:rPr lang="vi-VN" b="1" dirty="0"/>
              <a:t>mọi xử lý và lưu trữ đều được thực hiện ở phía server</a:t>
            </a:r>
            <a:r>
              <a:rPr lang="vi-VN" dirty="0"/>
              <a:t>.</a:t>
            </a:r>
          </a:p>
          <a:p>
            <a:endParaRPr lang="en-US" dirty="0"/>
          </a:p>
          <a:p>
            <a:r>
              <a:rPr lang="vi-VN" dirty="0"/>
              <a:t>Cách tiếp cận "client mỏng" (</a:t>
            </a:r>
            <a:r>
              <a:rPr lang="vi-VN" b="1" dirty="0"/>
              <a:t>thin-client</a:t>
            </a:r>
            <a:r>
              <a:rPr lang="vi-VN" dirty="0"/>
              <a:t>) như trên ngày càng phổ biến nhờ vào sự phát triển của kết nối Internet và việc sử dụng các thiết bị di động. Các giải pháp client mỏng cũng được ưa chuộng vì </a:t>
            </a:r>
            <a:r>
              <a:rPr lang="vi-VN" b="1" dirty="0"/>
              <a:t>giảm bớt khối lượng công việc quản lý hệ thống</a:t>
            </a:r>
            <a:r>
              <a:rPr lang="vi-VN" dirty="0"/>
              <a:t>.</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30</a:t>
            </a:fld>
            <a:endParaRPr lang="en-US"/>
          </a:p>
        </p:txBody>
      </p:sp>
    </p:spTree>
    <p:extLst>
      <p:ext uri="{BB962C8B-B14F-4D97-AF65-F5344CB8AC3E}">
        <p14:creationId xmlns:p14="http://schemas.microsoft.com/office/powerpoint/2010/main" val="120500327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Ví dụ: Hệ thống cửa sổ X (The X Window System)</a:t>
            </a:r>
          </a:p>
          <a:p>
            <a:r>
              <a:rPr lang="vi-VN" dirty="0"/>
              <a:t>Có lẽ một trong những </a:t>
            </a:r>
            <a:r>
              <a:rPr lang="vi-VN" b="1" dirty="0"/>
              <a:t>giao diện người dùng mạng lâu đời nhất</a:t>
            </a:r>
            <a:r>
              <a:rPr lang="vi-VN" dirty="0"/>
              <a:t> và vẫn còn được sử dụng rộng rãi hiện nay là </a:t>
            </a:r>
            <a:r>
              <a:rPr lang="vi-VN" b="1" dirty="0"/>
              <a:t>Hệ thống cửa sổ X</a:t>
            </a:r>
            <a:r>
              <a:rPr lang="vi-VN" dirty="0"/>
              <a:t> (X Window System), thường được gọi đơn giản là </a:t>
            </a:r>
            <a:r>
              <a:rPr lang="vi-VN" b="1" dirty="0"/>
              <a:t>X</a:t>
            </a:r>
            <a:r>
              <a:rPr lang="vi-VN" dirty="0"/>
              <a:t>. Hệ thống này được dùng để </a:t>
            </a:r>
            <a:r>
              <a:rPr lang="vi-VN" b="1" dirty="0"/>
              <a:t>điều khiển các thiết bị đầu cuối hiển thị dạng bitmap</a:t>
            </a:r>
            <a:r>
              <a:rPr lang="vi-VN" dirty="0"/>
              <a:t>, bao gồm </a:t>
            </a:r>
            <a:r>
              <a:rPr lang="vi-VN" b="1" dirty="0"/>
              <a:t>màn hình, bàn phím và thiết bị trỏ như chuột</a:t>
            </a:r>
            <a:r>
              <a:rPr lang="vi-VN" dirty="0"/>
              <a:t>.</a:t>
            </a:r>
          </a:p>
          <a:p>
            <a:r>
              <a:rPr lang="vi-VN" dirty="0"/>
              <a:t>Bên cạnh việc hỗ trợ các thiết bị truyền thống như máy tính để bàn và máy trạm, </a:t>
            </a:r>
            <a:r>
              <a:rPr lang="vi-VN" b="1" dirty="0"/>
              <a:t>X cũng hỗ trợ các thiết bị hiện đại</a:t>
            </a:r>
            <a:r>
              <a:rPr lang="vi-VN" dirty="0"/>
              <a:t> như </a:t>
            </a:r>
            <a:r>
              <a:rPr lang="vi-VN" b="1" dirty="0"/>
              <a:t>màn hình cảm ứng trên máy tính bảng và điện thoại thông minh</a:t>
            </a:r>
            <a:r>
              <a:rPr lang="vi-VN" dirty="0"/>
              <a:t>.</a:t>
            </a:r>
          </a:p>
          <a:p>
            <a:endParaRPr lang="en-US" b="1" dirty="0"/>
          </a:p>
          <a:p>
            <a:r>
              <a:rPr lang="vi-VN" b="1" dirty="0"/>
              <a:t>Cấu trúc và hoạt động</a:t>
            </a:r>
          </a:p>
          <a:p>
            <a:r>
              <a:rPr lang="vi-VN" dirty="0"/>
              <a:t>Về một khía cạnh nào đó, </a:t>
            </a:r>
            <a:r>
              <a:rPr lang="vi-VN" b="1" dirty="0"/>
              <a:t>X có thể được xem như phần của hệ điều hành chuyên điều khiển thiết bị đầu cuối</a:t>
            </a:r>
            <a:r>
              <a:rPr lang="vi-VN" dirty="0"/>
              <a:t>.</a:t>
            </a:r>
            <a:br>
              <a:rPr lang="vi-VN" dirty="0"/>
            </a:br>
            <a:r>
              <a:rPr lang="vi-VN" b="1" dirty="0"/>
              <a:t>Trung tâm của hệ thống X là "X kernel" (nhân X)</a:t>
            </a:r>
            <a:r>
              <a:rPr lang="vi-VN" dirty="0"/>
              <a:t>, chứa các </a:t>
            </a:r>
            <a:r>
              <a:rPr lang="vi-VN" b="1" dirty="0"/>
              <a:t>trình điều khiển thiết bị đặc thù cho đầu cuối</a:t>
            </a:r>
            <a:r>
              <a:rPr lang="vi-VN" dirty="0"/>
              <a:t> và do đó </a:t>
            </a:r>
            <a:r>
              <a:rPr lang="vi-VN" b="1" dirty="0"/>
              <a:t>phụ thuộc nhiều vào phần cứng</a:t>
            </a:r>
            <a:r>
              <a:rPr lang="vi-VN" dirty="0"/>
              <a:t>.</a:t>
            </a:r>
          </a:p>
          <a:p>
            <a:r>
              <a:rPr lang="vi-VN" dirty="0"/>
              <a:t>Điểm thú vị của hệ thống X là: </a:t>
            </a:r>
            <a:r>
              <a:rPr lang="vi-VN" b="1" dirty="0"/>
              <a:t>"X kernel" và các ứng dụng X không nhất thiết phải nằm trên cùng một máy tính</a:t>
            </a:r>
            <a:r>
              <a:rPr lang="vi-VN" dirty="0"/>
              <a:t>.</a:t>
            </a:r>
          </a:p>
          <a:p>
            <a:pPr>
              <a:buFont typeface="Arial" panose="020B0604020202020204" pitchFamily="34" charset="0"/>
              <a:buChar char="•"/>
            </a:pPr>
            <a:r>
              <a:rPr lang="vi-VN" dirty="0"/>
              <a:t>Cụ thể, X cung cấp </a:t>
            </a:r>
            <a:r>
              <a:rPr lang="vi-VN" b="1" dirty="0"/>
              <a:t>"giao thức X" (X protocol)</a:t>
            </a:r>
            <a:r>
              <a:rPr lang="vi-VN" dirty="0"/>
              <a:t> – một </a:t>
            </a:r>
            <a:r>
              <a:rPr lang="vi-VN" b="1" dirty="0"/>
              <a:t>giao thức truyền thông ở tầng ứng dụng</a:t>
            </a:r>
            <a:r>
              <a:rPr lang="vi-VN" dirty="0"/>
              <a:t>, cho phép một </a:t>
            </a:r>
            <a:r>
              <a:rPr lang="vi-VN" b="1" dirty="0"/>
              <a:t>thư viện Xlib</a:t>
            </a:r>
            <a:r>
              <a:rPr lang="vi-VN" dirty="0"/>
              <a:t> trao đổi dữ liệu và sự kiện với nhân X.</a:t>
            </a:r>
          </a:p>
          <a:p>
            <a:endParaRPr lang="en-US" dirty="0"/>
          </a:p>
          <a:p>
            <a:r>
              <a:rPr lang="vi-VN" b="1" dirty="0"/>
              <a:t>Ví dụ:</a:t>
            </a:r>
          </a:p>
          <a:p>
            <a:pPr>
              <a:buFont typeface="Arial" panose="020B0604020202020204" pitchFamily="34" charset="0"/>
              <a:buChar char="•"/>
            </a:pPr>
            <a:r>
              <a:rPr lang="vi-VN" b="1" dirty="0"/>
              <a:t>Xlib có thể gửi các yêu cầu</a:t>
            </a:r>
            <a:r>
              <a:rPr lang="vi-VN" dirty="0"/>
              <a:t> tới nhân X như: tạo hoặc đóng cửa sổ, đặt màu sắc, xác định kiểu con trỏ chuột,...</a:t>
            </a:r>
          </a:p>
          <a:p>
            <a:pPr>
              <a:buFont typeface="Arial" panose="020B0604020202020204" pitchFamily="34" charset="0"/>
              <a:buChar char="•"/>
            </a:pPr>
            <a:r>
              <a:rPr lang="vi-VN" dirty="0"/>
              <a:t>Ngược lại, </a:t>
            </a:r>
            <a:r>
              <a:rPr lang="vi-VN" b="1" dirty="0"/>
              <a:t>nhân X sẽ phản hồi các sự kiện cục bộ</a:t>
            </a:r>
            <a:r>
              <a:rPr lang="vi-VN" dirty="0"/>
              <a:t>, như thao tác từ bàn phím hay chuột, bằng cách </a:t>
            </a:r>
            <a:r>
              <a:rPr lang="vi-VN" b="1" dirty="0"/>
              <a:t>gửi gói sự kiện trở lại Xlib</a:t>
            </a:r>
            <a:r>
              <a:rPr lang="vi-VN" dirty="0"/>
              <a:t>.</a:t>
            </a:r>
          </a:p>
          <a:p>
            <a:endParaRPr lang="en-US" b="1" dirty="0"/>
          </a:p>
          <a:p>
            <a:r>
              <a:rPr lang="vi-VN" b="1" dirty="0"/>
              <a:t>Quản lý cửa sổ và nhiều ứng dụng</a:t>
            </a:r>
          </a:p>
          <a:p>
            <a:r>
              <a:rPr lang="vi-VN" dirty="0"/>
              <a:t>Nhiều ứng dụng có thể </a:t>
            </a:r>
            <a:r>
              <a:rPr lang="vi-VN" b="1" dirty="0"/>
              <a:t>giao tiếp đồng thời</a:t>
            </a:r>
            <a:r>
              <a:rPr lang="vi-VN" dirty="0"/>
              <a:t> với nhân X. Trong số đó có một ứng dụng đặc biệt gọi là </a:t>
            </a:r>
            <a:r>
              <a:rPr lang="vi-VN" b="1" dirty="0"/>
              <a:t>"trình quản lý cửa sổ" (window manager)</a:t>
            </a:r>
            <a:r>
              <a:rPr lang="vi-VN" dirty="0"/>
              <a:t>, có </a:t>
            </a:r>
            <a:r>
              <a:rPr lang="vi-VN" b="1" dirty="0"/>
              <a:t>quyền kiểm soát giao diện hiển thị đối với người dùng</a:t>
            </a:r>
            <a:r>
              <a:rPr lang="vi-VN" dirty="0"/>
              <a:t>.</a:t>
            </a:r>
          </a:p>
          <a:p>
            <a:r>
              <a:rPr lang="vi-VN" dirty="0"/>
              <a:t>Trình quản lý cửa sổ có thể:</a:t>
            </a:r>
          </a:p>
          <a:p>
            <a:pPr>
              <a:buFont typeface="Arial" panose="020B0604020202020204" pitchFamily="34" charset="0"/>
              <a:buChar char="•"/>
            </a:pPr>
            <a:r>
              <a:rPr lang="vi-VN" dirty="0"/>
              <a:t>Định nghĩa cách mỗi cửa sổ được trang trí (như thêm các nút bấm),</a:t>
            </a:r>
          </a:p>
          <a:p>
            <a:pPr>
              <a:buFont typeface="Arial" panose="020B0604020202020204" pitchFamily="34" charset="0"/>
              <a:buChar char="•"/>
            </a:pPr>
            <a:r>
              <a:rPr lang="vi-VN" dirty="0"/>
              <a:t>Quy định cách các cửa sổ được sắp xếp trên màn hình, v.v.</a:t>
            </a:r>
          </a:p>
          <a:p>
            <a:endParaRPr lang="en-US" dirty="0"/>
          </a:p>
          <a:p>
            <a:r>
              <a:rPr lang="vi-VN" dirty="0"/>
              <a:t>Các ứng dụng khác </a:t>
            </a:r>
            <a:r>
              <a:rPr lang="vi-VN" b="1" dirty="0"/>
              <a:t>phải tuân theo</a:t>
            </a:r>
            <a:r>
              <a:rPr lang="vi-VN" dirty="0"/>
              <a:t> các quy tắc do trình quản lý cửa sổ đặt ra.</a:t>
            </a:r>
            <a:br>
              <a:rPr lang="vi-VN" dirty="0"/>
            </a:br>
            <a:r>
              <a:rPr lang="vi-VN" dirty="0"/>
              <a:t>Trong thực tế, </a:t>
            </a:r>
            <a:r>
              <a:rPr lang="vi-VN" b="1" dirty="0"/>
              <a:t>phần lớn tương tác giữa ứng dụng và thiết bị X terminal được chuyển qua trình quản lý cửa sổ</a:t>
            </a:r>
            <a:r>
              <a:rPr lang="vi-VN" dirty="0"/>
              <a:t>.</a:t>
            </a:r>
          </a:p>
          <a:p>
            <a:endParaRPr lang="en-US" b="1" dirty="0"/>
          </a:p>
          <a:p>
            <a:r>
              <a:rPr lang="vi-VN" b="1" dirty="0"/>
              <a:t>X trong mô hình client-server</a:t>
            </a:r>
          </a:p>
          <a:p>
            <a:r>
              <a:rPr lang="vi-VN" dirty="0"/>
              <a:t>Điều đáng chú ý là hệ thống X </a:t>
            </a:r>
            <a:r>
              <a:rPr lang="vi-VN" b="1" dirty="0"/>
              <a:t>phù hợp với mô hình tính toán client-server</a:t>
            </a:r>
            <a:r>
              <a:rPr lang="vi-VN" dirty="0"/>
              <a:t>.</a:t>
            </a:r>
          </a:p>
          <a:p>
            <a:pPr>
              <a:buFont typeface="Arial" panose="020B0604020202020204" pitchFamily="34" charset="0"/>
              <a:buChar char="•"/>
            </a:pPr>
            <a:r>
              <a:rPr lang="vi-VN" b="1" dirty="0"/>
              <a:t>Nhân X nhận các yêu cầu từ ứng dụng (có thể từ xa) để thao tác hiển thị</a:t>
            </a:r>
            <a:r>
              <a:rPr lang="vi-VN" dirty="0"/>
              <a:t>, tức là:</a:t>
            </a:r>
          </a:p>
          <a:p>
            <a:pPr marL="742950" lvl="1" indent="-285750">
              <a:buFont typeface="Arial" panose="020B0604020202020204" pitchFamily="34" charset="0"/>
              <a:buChar char="•"/>
            </a:pPr>
            <a:r>
              <a:rPr lang="vi-VN" b="1" dirty="0"/>
              <a:t>Nhân X đóng vai trò là "server"</a:t>
            </a:r>
            <a:r>
              <a:rPr lang="vi-VN" dirty="0"/>
              <a:t>,</a:t>
            </a:r>
          </a:p>
          <a:p>
            <a:pPr marL="742950" lvl="1" indent="-285750">
              <a:buFont typeface="Arial" panose="020B0604020202020204" pitchFamily="34" charset="0"/>
              <a:buChar char="•"/>
            </a:pPr>
            <a:r>
              <a:rPr lang="vi-VN" b="1" dirty="0"/>
              <a:t>Các ứng dụng là "client"</a:t>
            </a:r>
            <a:r>
              <a:rPr lang="vi-VN" dirty="0"/>
              <a:t>.</a:t>
            </a:r>
          </a:p>
          <a:p>
            <a:r>
              <a:rPr lang="vi-VN" dirty="0"/>
              <a:t>Thuật ngữ này được hệ thống X sử dụng chính thức. Tuy </a:t>
            </a:r>
            <a:r>
              <a:rPr lang="vi-VN" b="1" dirty="0"/>
              <a:t>về mặt kỹ thuật là đúng</a:t>
            </a:r>
            <a:r>
              <a:rPr lang="vi-VN" dirty="0"/>
              <a:t>, nhưng </a:t>
            </a:r>
            <a:r>
              <a:rPr lang="vi-VN" b="1" dirty="0"/>
              <a:t>dễ gây nhầm lẫn</a:t>
            </a:r>
            <a:r>
              <a:rPr lang="vi-VN" dirty="0"/>
              <a:t>, vì người dùng thường nghĩ "client" là máy đầu cuối hiển thị.</a:t>
            </a:r>
          </a:p>
          <a:p>
            <a:endParaRPr lang="en-US" b="1" dirty="0"/>
          </a:p>
          <a:p>
            <a:r>
              <a:rPr lang="vi-VN" b="1" dirty="0"/>
              <a:t>Thư viện Xlib và các công cụ cấp cao</a:t>
            </a:r>
          </a:p>
          <a:p>
            <a:r>
              <a:rPr lang="vi-VN" dirty="0"/>
              <a:t>Nhân X cung cấp </a:t>
            </a:r>
            <a:r>
              <a:rPr lang="vi-VN" b="1" dirty="0"/>
              <a:t>giao diện cấp thấp để điều khiển màn hình</a:t>
            </a:r>
            <a:r>
              <a:rPr lang="vi-VN" dirty="0"/>
              <a:t> và xử lý các sự kiện từ bàn phím và chuột.</a:t>
            </a:r>
            <a:br>
              <a:rPr lang="vi-VN" dirty="0"/>
            </a:br>
            <a:r>
              <a:rPr lang="vi-VN" dirty="0"/>
              <a:t>Giao diện này được cung cấp cho các ứng dụng thông qua </a:t>
            </a:r>
            <a:r>
              <a:rPr lang="vi-VN" b="1" dirty="0"/>
              <a:t>thư viện Xlib</a:t>
            </a:r>
            <a:r>
              <a:rPr lang="vi-VN" dirty="0"/>
              <a:t>.</a:t>
            </a:r>
          </a:p>
          <a:p>
            <a:r>
              <a:rPr lang="vi-VN" dirty="0"/>
              <a:t>Tuy nhiên, </a:t>
            </a:r>
            <a:r>
              <a:rPr lang="vi-VN" b="1" dirty="0"/>
              <a:t>Xlib hiếm khi được sử dụng trực tiếp bởi các ứng dụng</a:t>
            </a:r>
            <a:r>
              <a:rPr lang="vi-VN" dirty="0"/>
              <a:t>, mà thay vào đó, các ứng dụng sử dụng </a:t>
            </a:r>
            <a:r>
              <a:rPr lang="vi-VN" b="1" dirty="0"/>
              <a:t>các bộ công cụ giao diện cấp cao hơn</a:t>
            </a:r>
            <a:r>
              <a:rPr lang="vi-VN" dirty="0"/>
              <a:t> (toolkits) được xây dựng trên nền Xlib, giúp việc lập trình dễ dàng hơn.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32</a:t>
            </a:fld>
            <a:endParaRPr lang="en-US"/>
          </a:p>
        </p:txBody>
      </p:sp>
    </p:spTree>
    <p:extLst>
      <p:ext uri="{BB962C8B-B14F-4D97-AF65-F5344CB8AC3E}">
        <p14:creationId xmlns:p14="http://schemas.microsoft.com/office/powerpoint/2010/main" val="4287491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Improving X (Cải tiến hệ thống X Window)</a:t>
            </a:r>
            <a:endParaRPr lang="vi-VN" b="0" i="0" dirty="0">
              <a:solidFill>
                <a:srgbClr val="404040"/>
              </a:solidFill>
              <a:effectLst/>
              <a:latin typeface="DeepSeek-CJK-patch"/>
            </a:endParaRPr>
          </a:p>
          <a:p>
            <a:pPr algn="l"/>
            <a:r>
              <a:rPr lang="en-US" b="0" i="0" dirty="0">
                <a:solidFill>
                  <a:srgbClr val="404040"/>
                </a:solidFill>
                <a:effectLst/>
                <a:latin typeface="DeepSeek-CJK-patch"/>
              </a:rPr>
              <a:t>P</a:t>
            </a:r>
            <a:r>
              <a:rPr lang="vi-VN" b="0" i="0" dirty="0">
                <a:solidFill>
                  <a:srgbClr val="404040"/>
                </a:solidFill>
                <a:effectLst/>
                <a:latin typeface="DeepSeek-CJK-patch"/>
              </a:rPr>
              <a:t>hân tích các hạn chế của X Window System (X11) và đề xuất hai hướng cải tiến chính để tăng hiệu suất và linh hoạt.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Practical Observations (Nhận định thực tế)</a:t>
            </a:r>
            <a:endParaRPr lang="vi-VN" b="0" i="0" dirty="0">
              <a:solidFill>
                <a:srgbClr val="404040"/>
              </a:solidFill>
              <a:effectLst/>
              <a:latin typeface="DeepSeek-CJK-patch"/>
            </a:endParaRPr>
          </a:p>
          <a:p>
            <a:pPr algn="l"/>
            <a:r>
              <a:rPr lang="vi-VN" b="1" i="0" dirty="0">
                <a:solidFill>
                  <a:srgbClr val="404040"/>
                </a:solidFill>
                <a:effectLst/>
                <a:latin typeface="DeepSeek-CJK-patch"/>
              </a:rPr>
              <a:t>a. Không có sự tách biệt rõ ràng giữa logic ứng dụng và lệnh giao diện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Ứng dụng (X Client) trộn lẫn code xử lý nghiệp vụ với code giao diện (vd: lệnh vẽ button ngay trong hàm tính toán).</a:t>
            </a:r>
          </a:p>
          <a:p>
            <a:pPr marL="742950" lvl="1" indent="-285750" algn="l">
              <a:buFont typeface="Arial" panose="020B0604020202020204" pitchFamily="34" charset="0"/>
              <a:buChar char="•"/>
            </a:pPr>
            <a:r>
              <a:rPr lang="vi-VN" b="0" i="0" dirty="0">
                <a:solidFill>
                  <a:srgbClr val="404040"/>
                </a:solidFill>
                <a:effectLst/>
                <a:latin typeface="DeepSeek-CJK-patch"/>
              </a:rPr>
              <a:t>→ Khó bảo trì, khó tái sử dụng.</a:t>
            </a:r>
          </a:p>
          <a:p>
            <a:pPr algn="l"/>
            <a:r>
              <a:rPr lang="vi-VN" b="1" i="0" dirty="0">
                <a:solidFill>
                  <a:srgbClr val="404040"/>
                </a:solidFill>
                <a:effectLst/>
                <a:latin typeface="DeepSeek-CJK-patch"/>
              </a:rPr>
              <a:t>b. Ứng dụng hoạt động đồng bộ chặt chẽ với X kernel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Vấn đề:</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Mỗi thao tác giao diện (vd: vẽ hình) yêu cầu </a:t>
            </a:r>
            <a:r>
              <a:rPr lang="vi-VN" b="1" i="0" dirty="0">
                <a:solidFill>
                  <a:srgbClr val="404040"/>
                </a:solidFill>
                <a:effectLst/>
                <a:latin typeface="DeepSeek-CJK-patch"/>
              </a:rPr>
              <a:t>blocking call</a:t>
            </a:r>
            <a:r>
              <a:rPr lang="vi-VN" b="0" i="0" dirty="0">
                <a:solidFill>
                  <a:srgbClr val="404040"/>
                </a:solidFill>
                <a:effectLst/>
                <a:latin typeface="DeepSeek-CJK-patch"/>
              </a:rPr>
              <a:t> đến X Server → chờ phản hồi.</a:t>
            </a:r>
          </a:p>
          <a:p>
            <a:pPr marL="742950" lvl="1" indent="-285750" algn="l">
              <a:buFont typeface="Arial" panose="020B0604020202020204" pitchFamily="34" charset="0"/>
              <a:buChar char="•"/>
            </a:pPr>
            <a:r>
              <a:rPr lang="vi-VN" b="0" i="0" dirty="0">
                <a:solidFill>
                  <a:srgbClr val="404040"/>
                </a:solidFill>
                <a:effectLst/>
                <a:latin typeface="DeepSeek-CJK-patch"/>
              </a:rPr>
              <a:t>→ Ứng dụng bị chậm nếu X Server xử lý lâu hoặc mạng có độ trễ.</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Alternative Approaches (Giải pháp thay thế)</a:t>
            </a:r>
            <a:endParaRPr lang="vi-VN" b="0" i="0" dirty="0">
              <a:solidFill>
                <a:srgbClr val="404040"/>
              </a:solidFill>
              <a:effectLst/>
              <a:latin typeface="DeepSeek-CJK-patch"/>
            </a:endParaRPr>
          </a:p>
          <a:p>
            <a:pPr algn="l"/>
            <a:r>
              <a:rPr lang="vi-VN" b="1" i="0" dirty="0">
                <a:solidFill>
                  <a:srgbClr val="404040"/>
                </a:solidFill>
                <a:effectLst/>
                <a:latin typeface="DeepSeek-CJK-patch"/>
              </a:rPr>
              <a:t>a. Ứng dụng kiểm soát hoàn toàn hiển thị (Pixel-level control)</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Ý tưởng:</a:t>
            </a:r>
            <a:r>
              <a:rPr lang="vi-VN" b="0" i="0" dirty="0">
                <a:solidFill>
                  <a:srgbClr val="404040"/>
                </a:solidFill>
                <a:effectLst/>
                <a:latin typeface="DeepSeek-CJK-patch"/>
              </a:rPr>
              <a:t> Ứng dụng tự render pixel → gửi </a:t>
            </a:r>
            <a:r>
              <a:rPr lang="vi-VN" b="1" i="0" dirty="0">
                <a:solidFill>
                  <a:srgbClr val="404040"/>
                </a:solidFill>
                <a:effectLst/>
                <a:latin typeface="DeepSeek-CJK-patch"/>
              </a:rPr>
              <a:t>frame buffer</a:t>
            </a:r>
            <a:r>
              <a:rPr lang="vi-VN" b="0" i="0" dirty="0">
                <a:solidFill>
                  <a:srgbClr val="404040"/>
                </a:solidFill>
                <a:effectLst/>
                <a:latin typeface="DeepSeek-CJK-patch"/>
              </a:rPr>
              <a:t> trực tiếp đến màn hình.</a:t>
            </a:r>
          </a:p>
          <a:p>
            <a:pPr algn="l">
              <a:buFont typeface="Arial" panose="020B0604020202020204" pitchFamily="34" charset="0"/>
              <a:buChar char="•"/>
            </a:pPr>
            <a:r>
              <a:rPr lang="vi-VN" b="1" i="0" dirty="0">
                <a:solidFill>
                  <a:srgbClr val="404040"/>
                </a:solidFill>
                <a:effectLst/>
                <a:latin typeface="DeepSeek-CJK-patch"/>
              </a:rPr>
              <a:t>Công nghệ áp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Virtual Network Computing (VNC)</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Client chỉ nhận ảnh màn hình dạng bitmap từ server → không cần giao thức phức tạp.</a:t>
            </a:r>
          </a:p>
          <a:p>
            <a:pPr marL="1143000" lvl="2" indent="-228600"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Đơn giản hóa kiến trúc (không cần X Protocol).</a:t>
            </a:r>
          </a:p>
          <a:p>
            <a:pPr marL="1600200" lvl="3" indent="-228600" algn="l">
              <a:buFont typeface="Arial" panose="020B0604020202020204" pitchFamily="34" charset="0"/>
              <a:buChar char="•"/>
            </a:pPr>
            <a:r>
              <a:rPr lang="vi-VN" b="0" i="0" dirty="0">
                <a:solidFill>
                  <a:srgbClr val="404040"/>
                </a:solidFill>
                <a:effectLst/>
                <a:latin typeface="DeepSeek-CJK-patch"/>
              </a:rPr>
              <a:t>Hoạt động tốt trên mạng có độ trễ cao.</a:t>
            </a:r>
          </a:p>
          <a:p>
            <a:pPr marL="1143000" lvl="2" indent="-228600" algn="l">
              <a:buFont typeface="Arial" panose="020B0604020202020204" pitchFamily="34" charset="0"/>
              <a:buChar char="•"/>
            </a:pPr>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Tốn băng thông (do truyền toàn bộ ảnh).</a:t>
            </a:r>
          </a:p>
          <a:p>
            <a:pPr marL="1600200" lvl="3" indent="-228600" algn="l">
              <a:buFont typeface="Arial" panose="020B0604020202020204" pitchFamily="34" charset="0"/>
              <a:buChar char="•"/>
            </a:pPr>
            <a:r>
              <a:rPr lang="vi-VN" b="0" i="0" dirty="0">
                <a:solidFill>
                  <a:srgbClr val="404040"/>
                </a:solidFill>
                <a:effectLst/>
                <a:latin typeface="DeepSeek-CJK-patch"/>
              </a:rPr>
              <a:t>Không hỗ trợ tính năng phụ thuộc local resources (vd: font chữ đặc biệt).</a:t>
            </a:r>
          </a:p>
          <a:p>
            <a:pPr algn="l"/>
            <a:r>
              <a:rPr lang="vi-VN" b="1" i="0" dirty="0">
                <a:solidFill>
                  <a:srgbClr val="404040"/>
                </a:solidFill>
                <a:effectLst/>
                <a:latin typeface="DeepSeek-CJK-patch"/>
              </a:rPr>
              <a:t>b. Cung cấp ít lệnh hiển thị cấp cao (High-level display operations)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Ý tưởng: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Thay vì hàng trăm lệnh vẽ chi tiết (X11), chỉ cung cấp các thao tác tổng hợp (vd: "render cả một widget").</a:t>
            </a:r>
          </a:p>
          <a:p>
            <a:pPr marL="742950" lvl="1" indent="-285750" algn="l">
              <a:buFont typeface="Arial" panose="020B0604020202020204" pitchFamily="34" charset="0"/>
              <a:buChar char="•"/>
            </a:pPr>
            <a:r>
              <a:rPr lang="vi-VN" b="0" i="0" dirty="0">
                <a:solidFill>
                  <a:srgbClr val="404040"/>
                </a:solidFill>
                <a:effectLst/>
                <a:latin typeface="DeepSeek-CJK-patch"/>
              </a:rPr>
              <a:t>Phụ thuộc vào </a:t>
            </a:r>
            <a:r>
              <a:rPr lang="vi-VN" b="1" i="0" dirty="0">
                <a:solidFill>
                  <a:srgbClr val="404040"/>
                </a:solidFill>
                <a:effectLst/>
                <a:latin typeface="DeepSeek-CJK-patch"/>
              </a:rPr>
              <a:t>driver card đồ họa local</a:t>
            </a:r>
            <a:r>
              <a:rPr lang="vi-VN" b="0" i="0" dirty="0">
                <a:solidFill>
                  <a:srgbClr val="404040"/>
                </a:solidFill>
                <a:effectLst/>
                <a:latin typeface="DeepSeek-CJK-patch"/>
              </a:rPr>
              <a:t> để tối ưu hiệu suất.</a:t>
            </a:r>
          </a:p>
          <a:p>
            <a:pPr algn="l">
              <a:buFont typeface="Arial" panose="020B0604020202020204" pitchFamily="34" charset="0"/>
              <a:buChar char="•"/>
            </a:pPr>
            <a:r>
              <a:rPr lang="vi-VN" b="1" i="0" dirty="0">
                <a:solidFill>
                  <a:srgbClr val="404040"/>
                </a:solidFill>
                <a:effectLst/>
                <a:latin typeface="DeepSeek-CJK-patch"/>
              </a:rPr>
              <a:t>Công nghệ áp dụng: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Wayland</a:t>
            </a:r>
            <a:r>
              <a:rPr lang="vi-VN" b="0" i="0" dirty="0">
                <a:solidFill>
                  <a:srgbClr val="404040"/>
                </a:solidFill>
                <a:effectLst/>
                <a:latin typeface="DeepSeek-CJK-patch"/>
              </a:rPr>
              <a:t>:</a:t>
            </a:r>
          </a:p>
          <a:p>
            <a:pPr marL="1143000" lvl="2" indent="-228600" algn="l">
              <a:buFont typeface="Arial" panose="020B0604020202020204" pitchFamily="34" charset="0"/>
              <a:buChar char="•"/>
            </a:pPr>
            <a:r>
              <a:rPr lang="vi-VN" b="0" i="0" dirty="0">
                <a:solidFill>
                  <a:srgbClr val="404040"/>
                </a:solidFill>
                <a:effectLst/>
                <a:latin typeface="DeepSeek-CJK-patch"/>
              </a:rPr>
              <a:t>Client gửi buffer đã render sẵn → Compositor (server) chỉ việc hiển thị.</a:t>
            </a:r>
          </a:p>
          <a:p>
            <a:pPr marL="1143000" lvl="2" indent="-228600"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Giảm độ trễ (không qua nhiều lớp protocol).</a:t>
            </a:r>
          </a:p>
          <a:p>
            <a:pPr marL="1600200" lvl="3" indent="-228600" algn="l">
              <a:buFont typeface="Arial" panose="020B0604020202020204" pitchFamily="34" charset="0"/>
              <a:buChar char="•"/>
            </a:pPr>
            <a:r>
              <a:rPr lang="vi-VN" b="0" i="0" dirty="0">
                <a:solidFill>
                  <a:srgbClr val="404040"/>
                </a:solidFill>
                <a:effectLst/>
                <a:latin typeface="DeepSeek-CJK-patch"/>
              </a:rPr>
              <a:t>Tận dụng GPU local (OpenGL/Vulkan).</a:t>
            </a:r>
          </a:p>
          <a:p>
            <a:pPr marL="1143000" lvl="2" indent="-228600" algn="l">
              <a:buFont typeface="Arial" panose="020B0604020202020204" pitchFamily="34" charset="0"/>
              <a:buChar char="•"/>
            </a:pPr>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marL="1600200" lvl="3" indent="-228600" algn="l">
              <a:buFont typeface="Arial" panose="020B0604020202020204" pitchFamily="34" charset="0"/>
              <a:buChar char="•"/>
            </a:pPr>
            <a:r>
              <a:rPr lang="vi-VN" b="0" i="0" dirty="0">
                <a:solidFill>
                  <a:srgbClr val="404040"/>
                </a:solidFill>
                <a:effectLst/>
                <a:latin typeface="DeepSeek-CJK-patch"/>
              </a:rPr>
              <a:t>Khó hỗ trợ remote display (Wayland mặc định không có network transparency).</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a:t>
            </a:r>
          </a:p>
          <a:p>
            <a:pPr algn="l"/>
            <a:r>
              <a:rPr lang="vi-VN" b="1" i="1" dirty="0">
                <a:solidFill>
                  <a:srgbClr val="404040"/>
                </a:solidFill>
                <a:effectLst/>
                <a:latin typeface="DeepSeek-CJK-patch"/>
              </a:rPr>
              <a:t>3. So sánh các giải pháp</a:t>
            </a:r>
            <a:endParaRPr lang="vi-VN" b="0" i="1" dirty="0">
              <a:solidFill>
                <a:srgbClr val="404040"/>
              </a:solidFill>
              <a:effectLst/>
              <a:latin typeface="DeepSeek-CJK-patch"/>
            </a:endParaRPr>
          </a:p>
          <a:p>
            <a:pPr algn="l"/>
            <a:r>
              <a:rPr lang="vi-VN" b="1" i="1" dirty="0"/>
              <a:t>Tiêu chí</a:t>
            </a:r>
            <a:r>
              <a:rPr lang="en-US" b="1" i="1" dirty="0"/>
              <a:t>		</a:t>
            </a:r>
            <a:r>
              <a:rPr lang="vi-VN" b="1" i="1" dirty="0"/>
              <a:t>X11 (Truyền thống)</a:t>
            </a:r>
            <a:r>
              <a:rPr lang="en-US" b="1" i="1" dirty="0"/>
              <a:t>		</a:t>
            </a:r>
            <a:r>
              <a:rPr lang="vi-VN" b="1" i="1" dirty="0"/>
              <a:t>VNC (Pixel-level)</a:t>
            </a:r>
            <a:r>
              <a:rPr lang="en-US" b="1" i="1" dirty="0"/>
              <a:t>		</a:t>
            </a:r>
            <a:r>
              <a:rPr lang="vi-VN" b="1" i="1" dirty="0"/>
              <a:t>Wayland (High-level)</a:t>
            </a:r>
            <a:endParaRPr lang="en-US" b="1" i="1" dirty="0"/>
          </a:p>
          <a:p>
            <a:pPr algn="l"/>
            <a:r>
              <a:rPr lang="vi-VN" b="1" i="1" dirty="0">
                <a:effectLst/>
              </a:rPr>
              <a:t>Độ phức tạp</a:t>
            </a:r>
            <a:r>
              <a:rPr lang="en-US" b="1" i="1" dirty="0">
                <a:effectLst/>
              </a:rPr>
              <a:t>		</a:t>
            </a:r>
            <a:r>
              <a:rPr lang="vi-VN" i="1" dirty="0">
                <a:effectLst/>
              </a:rPr>
              <a:t>Cao (nhiều lệnh)</a:t>
            </a:r>
            <a:r>
              <a:rPr lang="en-US" i="1" dirty="0">
                <a:effectLst/>
              </a:rPr>
              <a:t>		</a:t>
            </a:r>
            <a:r>
              <a:rPr lang="vi-VN" i="1" dirty="0">
                <a:effectLst/>
              </a:rPr>
              <a:t>Thấp (chỉ ảnh bitmap)</a:t>
            </a:r>
            <a:r>
              <a:rPr lang="en-US" i="1" dirty="0">
                <a:effectLst/>
              </a:rPr>
              <a:t>		</a:t>
            </a:r>
            <a:r>
              <a:rPr lang="vi-VN" i="1" dirty="0">
                <a:effectLst/>
              </a:rPr>
              <a:t>Trung bình (buffer + compositor)</a:t>
            </a:r>
            <a:endParaRPr lang="en-US" i="1" dirty="0">
              <a:effectLst/>
            </a:endParaRPr>
          </a:p>
          <a:p>
            <a:pPr algn="l"/>
            <a:r>
              <a:rPr lang="vi-VN" b="1" i="1" dirty="0">
                <a:effectLst/>
              </a:rPr>
              <a:t>Hiệu suất mạng</a:t>
            </a:r>
            <a:r>
              <a:rPr lang="en-US" b="1" i="1" dirty="0">
                <a:effectLst/>
              </a:rPr>
              <a:t>	</a:t>
            </a:r>
            <a:r>
              <a:rPr lang="vi-VN" i="1" dirty="0">
                <a:effectLst/>
              </a:rPr>
              <a:t>Kém (nhiều round-trip)</a:t>
            </a:r>
            <a:r>
              <a:rPr lang="en-US" i="1" dirty="0">
                <a:effectLst/>
              </a:rPr>
              <a:t>		</a:t>
            </a:r>
            <a:r>
              <a:rPr lang="vi-VN" i="1" dirty="0">
                <a:effectLst/>
              </a:rPr>
              <a:t>Tốt (nén ảnh)</a:t>
            </a:r>
            <a:r>
              <a:rPr lang="en-US" i="1" dirty="0">
                <a:effectLst/>
              </a:rPr>
              <a:t>			</a:t>
            </a:r>
            <a:r>
              <a:rPr lang="vi-VN" i="1" dirty="0">
                <a:effectLst/>
              </a:rPr>
              <a:t>Kém (ưu tiên local)</a:t>
            </a:r>
            <a:endParaRPr lang="en-US" i="1" dirty="0">
              <a:effectLst/>
            </a:endParaRPr>
          </a:p>
          <a:p>
            <a:pPr algn="l"/>
            <a:r>
              <a:rPr lang="vi-VN" b="1" i="1" dirty="0">
                <a:effectLst/>
              </a:rPr>
              <a:t>Tính linh hoạt</a:t>
            </a:r>
            <a:r>
              <a:rPr lang="en-US" b="1" i="1" dirty="0">
                <a:effectLst/>
              </a:rPr>
              <a:t>		</a:t>
            </a:r>
            <a:r>
              <a:rPr lang="vi-VN" i="1" dirty="0">
                <a:effectLst/>
              </a:rPr>
              <a:t>Cao (network transparent)</a:t>
            </a:r>
            <a:r>
              <a:rPr lang="en-US" i="1" dirty="0">
                <a:effectLst/>
              </a:rPr>
              <a:t>		</a:t>
            </a:r>
            <a:r>
              <a:rPr lang="vi-VN" i="1" dirty="0">
                <a:effectLst/>
              </a:rPr>
              <a:t>Thấp (không tương tác sâu)</a:t>
            </a:r>
            <a:r>
              <a:rPr lang="en-US" i="1" dirty="0">
                <a:effectLst/>
              </a:rPr>
              <a:t>		</a:t>
            </a:r>
            <a:r>
              <a:rPr lang="vi-VN" i="1" dirty="0">
                <a:effectLst/>
              </a:rPr>
              <a:t>Trung bình (phụ thuộc driver)</a:t>
            </a:r>
            <a:endParaRPr lang="en-US" i="1" dirty="0">
              <a:effectLst/>
            </a:endParaRPr>
          </a:p>
          <a:p>
            <a:pPr algn="l"/>
            <a:r>
              <a:rPr lang="vi-VN" b="1" i="1" dirty="0">
                <a:effectLst/>
              </a:rPr>
              <a:t>Ví dụ</a:t>
            </a:r>
            <a:r>
              <a:rPr lang="en-US" b="1" i="1" dirty="0">
                <a:effectLst/>
              </a:rPr>
              <a:t>		</a:t>
            </a:r>
            <a:r>
              <a:rPr lang="vi-VN" i="1" dirty="0">
                <a:effectLst/>
              </a:rPr>
              <a:t>X11 forwarding qua SSH</a:t>
            </a:r>
            <a:r>
              <a:rPr lang="en-US" i="1" dirty="0">
                <a:effectLst/>
              </a:rPr>
              <a:t>		</a:t>
            </a:r>
            <a:r>
              <a:rPr lang="vi-VN" i="1" dirty="0">
                <a:effectLst/>
              </a:rPr>
              <a:t>TeamViewer, RealVNC</a:t>
            </a:r>
            <a:r>
              <a:rPr lang="en-US" i="1" dirty="0">
                <a:effectLst/>
              </a:rPr>
              <a:t>		</a:t>
            </a:r>
            <a:r>
              <a:rPr lang="vi-VN" i="1" dirty="0">
                <a:effectLst/>
              </a:rPr>
              <a:t>GNOME Shell, KDE Plasma</a:t>
            </a:r>
            <a:endParaRPr lang="en-US" i="1" dirty="0">
              <a:effectLst/>
            </a:endParaRPr>
          </a:p>
          <a:p>
            <a:pPr algn="l"/>
            <a:endParaRPr lang="en-US" b="1" i="1" dirty="0">
              <a:solidFill>
                <a:srgbClr val="404040"/>
              </a:solidFill>
              <a:effectLst/>
              <a:latin typeface="DeepSeek-CJK-patch"/>
            </a:endParaRPr>
          </a:p>
          <a:p>
            <a:pPr algn="l"/>
            <a:r>
              <a:rPr lang="vi-VN" b="1" i="1" dirty="0">
                <a:solidFill>
                  <a:srgbClr val="404040"/>
                </a:solidFill>
                <a:effectLst/>
                <a:latin typeface="DeepSeek-CJK-patch"/>
              </a:rPr>
              <a:t>4. Xu hướng hiện đại</a:t>
            </a:r>
            <a:endParaRPr lang="vi-VN" b="0" i="1" dirty="0">
              <a:solidFill>
                <a:srgbClr val="404040"/>
              </a:solidFill>
              <a:effectLst/>
              <a:latin typeface="DeepSeek-CJK-patch"/>
            </a:endParaRPr>
          </a:p>
          <a:p>
            <a:pPr algn="l">
              <a:buFont typeface="Arial" panose="020B0604020202020204" pitchFamily="34" charset="0"/>
              <a:buChar char="•"/>
            </a:pPr>
            <a:r>
              <a:rPr lang="vi-VN" b="1" i="1" dirty="0">
                <a:solidFill>
                  <a:srgbClr val="404040"/>
                </a:solidFill>
                <a:effectLst/>
                <a:latin typeface="DeepSeek-CJK-patch"/>
              </a:rPr>
              <a:t>Remote Desktop:</a:t>
            </a:r>
            <a:r>
              <a:rPr lang="vi-VN" b="0" i="1" dirty="0">
                <a:solidFill>
                  <a:srgbClr val="404040"/>
                </a:solidFill>
                <a:effectLst/>
                <a:latin typeface="DeepSeek-CJK-patch"/>
              </a:rPr>
              <a:t> Kết hợp cả pixel-level (VNC) và protocol-level (RDP) để cân bằng hiệu suất/tính năng.</a:t>
            </a:r>
          </a:p>
          <a:p>
            <a:pPr algn="l">
              <a:buFont typeface="Arial" panose="020B0604020202020204" pitchFamily="34" charset="0"/>
              <a:buChar char="•"/>
            </a:pPr>
            <a:r>
              <a:rPr lang="vi-VN" b="1" i="1" dirty="0">
                <a:solidFill>
                  <a:srgbClr val="404040"/>
                </a:solidFill>
                <a:effectLst/>
                <a:latin typeface="DeepSeek-CJK-patch"/>
              </a:rPr>
              <a:t>Wayland + PipeWire:</a:t>
            </a:r>
            <a:r>
              <a:rPr lang="vi-VN" b="0" i="1" dirty="0">
                <a:solidFill>
                  <a:srgbClr val="404040"/>
                </a:solidFill>
                <a:effectLst/>
                <a:latin typeface="DeepSeek-CJK-patch"/>
              </a:rPr>
              <a:t> Bổ sung khả năng streaming cho Wayland (vd: quay màn hình, remote desktop).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X11</a:t>
            </a:r>
            <a:r>
              <a:rPr lang="vi-VN" b="0" i="0" dirty="0">
                <a:solidFill>
                  <a:srgbClr val="404040"/>
                </a:solidFill>
                <a:effectLst/>
                <a:latin typeface="DeepSeek-CJK-patch"/>
              </a:rPr>
              <a:t> lỗi thời do kiến trúc đồng bộ và phức tạp, nhưng vẫn hữu ích cho remote access.</a:t>
            </a:r>
          </a:p>
          <a:p>
            <a:pPr algn="l">
              <a:buFont typeface="Arial" panose="020B0604020202020204" pitchFamily="34" charset="0"/>
              <a:buChar char="•"/>
            </a:pPr>
            <a:r>
              <a:rPr lang="vi-VN" b="1" i="0" dirty="0">
                <a:solidFill>
                  <a:srgbClr val="404040"/>
                </a:solidFill>
                <a:effectLst/>
                <a:latin typeface="DeepSeek-CJK-patch"/>
              </a:rPr>
              <a:t>Pixel-level (VNC)</a:t>
            </a:r>
            <a:r>
              <a:rPr lang="vi-VN" b="0" i="0" dirty="0">
                <a:solidFill>
                  <a:srgbClr val="404040"/>
                </a:solidFill>
                <a:effectLst/>
                <a:latin typeface="DeepSeek-CJK-patch"/>
              </a:rPr>
              <a:t> phù hợp cho môi trường mạng không ổn định.</a:t>
            </a:r>
          </a:p>
          <a:p>
            <a:pPr algn="l">
              <a:buFont typeface="Arial" panose="020B0604020202020204" pitchFamily="34" charset="0"/>
              <a:buChar char="•"/>
            </a:pPr>
            <a:r>
              <a:rPr lang="vi-VN" b="1" i="0" dirty="0">
                <a:solidFill>
                  <a:srgbClr val="404040"/>
                </a:solidFill>
                <a:effectLst/>
                <a:latin typeface="DeepSeek-CJK-patch"/>
              </a:rPr>
              <a:t>High-level (Wayland)</a:t>
            </a:r>
            <a:r>
              <a:rPr lang="vi-VN" b="0" i="0" dirty="0">
                <a:solidFill>
                  <a:srgbClr val="404040"/>
                </a:solidFill>
                <a:effectLst/>
                <a:latin typeface="DeepSeek-CJK-patch"/>
              </a:rPr>
              <a:t> là tương lai của desktop Linux, ưu tiên hiệu suất local.</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33</a:t>
            </a:fld>
            <a:endParaRPr lang="en-US"/>
          </a:p>
        </p:txBody>
      </p:sp>
    </p:spTree>
    <p:extLst>
      <p:ext uri="{BB962C8B-B14F-4D97-AF65-F5344CB8AC3E}">
        <p14:creationId xmlns:p14="http://schemas.microsoft.com/office/powerpoint/2010/main" val="294330163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Client-side software (Phần mềm phía client)</a:t>
            </a:r>
            <a:endParaRPr lang="vi-VN" b="0" i="0" dirty="0">
              <a:solidFill>
                <a:srgbClr val="404040"/>
              </a:solidFill>
              <a:effectLst/>
              <a:latin typeface="DeepSeek-CJK-patch"/>
            </a:endParaRPr>
          </a:p>
          <a:p>
            <a:pPr algn="l"/>
            <a:r>
              <a:rPr lang="en-US" b="0" i="0" dirty="0">
                <a:solidFill>
                  <a:srgbClr val="404040"/>
                </a:solidFill>
                <a:effectLst/>
                <a:latin typeface="DeepSeek-CJK-patch"/>
              </a:rPr>
              <a:t>M</a:t>
            </a:r>
            <a:r>
              <a:rPr lang="vi-VN" b="0" i="0" dirty="0">
                <a:solidFill>
                  <a:srgbClr val="404040"/>
                </a:solidFill>
                <a:effectLst/>
                <a:latin typeface="DeepSeek-CJK-patch"/>
              </a:rPr>
              <a:t>ô tả cách phần mềm phía client đảm bảo tính </a:t>
            </a:r>
            <a:r>
              <a:rPr lang="vi-VN" b="1" i="0" dirty="0">
                <a:solidFill>
                  <a:srgbClr val="404040"/>
                </a:solidFill>
                <a:effectLst/>
                <a:latin typeface="DeepSeek-CJK-patch"/>
              </a:rPr>
              <a:t>trong suốt phân tán</a:t>
            </a:r>
            <a:r>
              <a:rPr lang="vi-VN" b="0" i="0" dirty="0">
                <a:solidFill>
                  <a:srgbClr val="404040"/>
                </a:solidFill>
                <a:effectLst/>
                <a:latin typeface="DeepSeek-CJK-patch"/>
              </a:rPr>
              <a:t> (distribution transparency) thông qua các cơ chế như RPC stubs, theo dõi vị trí server, nhân bản request (replication), và xử lý lỗi.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Distribution Transparency (Trong suốt phân tán)</a:t>
            </a:r>
            <a:endParaRPr lang="vi-VN" b="0" i="0" dirty="0">
              <a:solidFill>
                <a:srgbClr val="404040"/>
              </a:solidFill>
              <a:effectLst/>
              <a:latin typeface="DeepSeek-CJK-patch"/>
            </a:endParaRPr>
          </a:p>
          <a:p>
            <a:pPr algn="l"/>
            <a:r>
              <a:rPr lang="vi-VN" b="0" i="0" dirty="0">
                <a:solidFill>
                  <a:srgbClr val="404040"/>
                </a:solidFill>
                <a:effectLst/>
                <a:latin typeface="DeepSeek-CJK-patch"/>
              </a:rPr>
              <a:t>Mục tiêu: Che giấu sự phức tạp của hệ thống phân tán, giúp ứng dụng client tương tác với hệ thống như thể nó là </a:t>
            </a:r>
            <a:r>
              <a:rPr lang="vi-VN" b="1" i="0" dirty="0">
                <a:solidFill>
                  <a:srgbClr val="404040"/>
                </a:solidFill>
                <a:effectLst/>
                <a:latin typeface="DeepSeek-CJK-patch"/>
              </a:rPr>
              <a:t>một thực thể thống nhất</a:t>
            </a:r>
            <a:r>
              <a:rPr lang="vi-VN" b="0" i="0" dirty="0">
                <a:solidFill>
                  <a:srgbClr val="404040"/>
                </a:solidFill>
                <a:effectLst/>
                <a:latin typeface="DeepSeek-CJK-patch"/>
              </a:rPr>
              <a:t>.</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 loại trong suốt phân tán</a:t>
            </a:r>
            <a:endParaRPr lang="vi-VN" b="0" i="0" dirty="0">
              <a:solidFill>
                <a:srgbClr val="404040"/>
              </a:solidFill>
              <a:effectLst/>
              <a:latin typeface="DeepSeek-CJK-patch"/>
            </a:endParaRPr>
          </a:p>
          <a:p>
            <a:pPr algn="l"/>
            <a:r>
              <a:rPr lang="vi-VN" b="1" i="0" dirty="0">
                <a:solidFill>
                  <a:srgbClr val="404040"/>
                </a:solidFill>
                <a:effectLst/>
                <a:latin typeface="DeepSeek-CJK-patch"/>
              </a:rPr>
              <a:t>a. Access Transparency (Trong suốt truy cập)</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Ứng dụng client gọi remote service giống như local service.</a:t>
            </a:r>
          </a:p>
          <a:p>
            <a:pPr algn="l">
              <a:buFont typeface="Arial" panose="020B0604020202020204" pitchFamily="34" charset="0"/>
              <a:buChar char="•"/>
            </a:pPr>
            <a:r>
              <a:rPr lang="vi-VN" b="1" i="0" dirty="0">
                <a:solidFill>
                  <a:srgbClr val="404040"/>
                </a:solidFill>
                <a:effectLst/>
                <a:latin typeface="DeepSeek-CJK-patch"/>
              </a:rPr>
              <a:t>Cách triển khai: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client-side stubs</a:t>
            </a:r>
            <a:r>
              <a:rPr lang="vi-VN" b="0" i="0" dirty="0">
                <a:solidFill>
                  <a:srgbClr val="404040"/>
                </a:solidFill>
                <a:effectLst/>
                <a:latin typeface="DeepSeek-CJK-patch"/>
              </a:rPr>
              <a:t> (bộ thay thế) cho RPC (Remote Procedure Call).</a:t>
            </a:r>
          </a:p>
          <a:p>
            <a:pPr marL="742950" lvl="1" indent="-285750" algn="l">
              <a:buFont typeface="Arial" panose="020B0604020202020204" pitchFamily="34" charset="0"/>
              <a:buChar char="•"/>
            </a:pPr>
            <a:r>
              <a:rPr lang="vi-VN" b="0" i="0" dirty="0">
                <a:solidFill>
                  <a:srgbClr val="404040"/>
                </a:solidFill>
                <a:effectLst/>
                <a:latin typeface="DeepSeek-CJK-patch"/>
              </a:rPr>
              <a:t>Stub đóng gói request → gửi qua mạng → nhận kết quả → trả về client.</a:t>
            </a:r>
          </a:p>
          <a:p>
            <a:pPr algn="l"/>
            <a:r>
              <a:rPr lang="vi-VN" b="1" i="0" dirty="0">
                <a:solidFill>
                  <a:srgbClr val="404040"/>
                </a:solidFill>
                <a:effectLst/>
                <a:latin typeface="DeepSeek-CJK-patch"/>
              </a:rPr>
              <a:t>b. Location/Migration Transparency (Trong suốt vị trí/di chuyển)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Client không cần biết server đang ở đâu hoặc có bị di chuyển không.</a:t>
            </a:r>
          </a:p>
          <a:p>
            <a:pPr algn="l">
              <a:buFont typeface="Arial" panose="020B0604020202020204" pitchFamily="34" charset="0"/>
              <a:buChar char="•"/>
            </a:pPr>
            <a:r>
              <a:rPr lang="vi-VN" b="1" i="0" dirty="0">
                <a:solidFill>
                  <a:srgbClr val="404040"/>
                </a:solidFill>
                <a:effectLst/>
                <a:latin typeface="DeepSeek-CJK-patch"/>
              </a:rPr>
              <a:t>Cách triển khai: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Client-side software </a:t>
            </a:r>
            <a:r>
              <a:rPr lang="vi-VN" b="1" i="0" dirty="0">
                <a:solidFill>
                  <a:srgbClr val="404040"/>
                </a:solidFill>
                <a:effectLst/>
                <a:latin typeface="DeepSeek-CJK-patch"/>
              </a:rPr>
              <a:t>theo dõi vị trí thực tế</a:t>
            </a:r>
            <a:r>
              <a:rPr lang="vi-VN" b="0" i="0" dirty="0">
                <a:solidFill>
                  <a:srgbClr val="404040"/>
                </a:solidFill>
                <a:effectLst/>
                <a:latin typeface="DeepSeek-CJK-patch"/>
              </a:rPr>
              <a:t> của server (vd: DNS, service registry).</a:t>
            </a:r>
          </a:p>
          <a:p>
            <a:pPr marL="742950" lvl="1" indent="-285750" algn="l">
              <a:buFont typeface="Arial" panose="020B0604020202020204" pitchFamily="34" charset="0"/>
              <a:buChar char="•"/>
            </a:pPr>
            <a:r>
              <a:rPr lang="vi-VN" b="0" i="0" dirty="0">
                <a:solidFill>
                  <a:srgbClr val="404040"/>
                </a:solidFill>
                <a:effectLst/>
                <a:latin typeface="DeepSeek-CJK-patch"/>
              </a:rPr>
              <a:t>Nếu server di chuyển, client tự động điều chỉnh.</a:t>
            </a:r>
          </a:p>
          <a:p>
            <a:pPr algn="l"/>
            <a:r>
              <a:rPr lang="vi-VN" b="1" i="0" dirty="0">
                <a:solidFill>
                  <a:srgbClr val="404040"/>
                </a:solidFill>
                <a:effectLst/>
                <a:latin typeface="DeepSeek-CJK-patch"/>
              </a:rPr>
              <a:t>c. Replication Transparency (Trong suốt nhân bản)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Client chỉ gọi request </a:t>
            </a:r>
            <a:r>
              <a:rPr lang="vi-VN" b="1" i="0" dirty="0">
                <a:solidFill>
                  <a:srgbClr val="404040"/>
                </a:solidFill>
                <a:effectLst/>
                <a:latin typeface="DeepSeek-CJK-patch"/>
              </a:rPr>
              <a:t>một lần</a:t>
            </a:r>
            <a:r>
              <a:rPr lang="vi-VN" b="0" i="0" dirty="0">
                <a:solidFill>
                  <a:srgbClr val="404040"/>
                </a:solidFill>
                <a:effectLst/>
                <a:latin typeface="DeepSeek-CJK-patch"/>
              </a:rPr>
              <a:t>, nhưng hệ thống tự động nhân bản đến nhiều server.</a:t>
            </a:r>
          </a:p>
          <a:p>
            <a:pPr algn="l">
              <a:buFont typeface="Arial" panose="020B0604020202020204" pitchFamily="34" charset="0"/>
              <a:buChar char="•"/>
            </a:pPr>
            <a:r>
              <a:rPr lang="vi-VN" b="1" i="0" dirty="0">
                <a:solidFill>
                  <a:srgbClr val="404040"/>
                </a:solidFill>
                <a:effectLst/>
                <a:latin typeface="DeepSeek-CJK-patch"/>
              </a:rPr>
              <a:t>Cách triển khai: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Client-side stub</a:t>
            </a:r>
            <a:r>
              <a:rPr lang="vi-VN" b="0" i="0" dirty="0">
                <a:solidFill>
                  <a:srgbClr val="404040"/>
                </a:solidFill>
                <a:effectLst/>
                <a:latin typeface="DeepSeek-CJK-patch"/>
              </a:rPr>
              <a:t> xử lý nhân bản request (gửi đến tất cả replica servers).</a:t>
            </a:r>
          </a:p>
          <a:p>
            <a:pPr marL="742950" lvl="1" indent="-285750" algn="l">
              <a:buFont typeface="Arial" panose="020B0604020202020204" pitchFamily="34" charset="0"/>
              <a:buChar char="•"/>
            </a:pPr>
            <a:r>
              <a:rPr lang="vi-VN" b="0" i="0" dirty="0">
                <a:solidFill>
                  <a:srgbClr val="404040"/>
                </a:solidFill>
                <a:effectLst/>
                <a:latin typeface="DeepSeek-CJK-patch"/>
              </a:rPr>
              <a:t>Thu thập và tổng hợp kết quả (vd: chọn phiên bản mới nhất).</a:t>
            </a:r>
          </a:p>
          <a:p>
            <a:pPr algn="l">
              <a:buFont typeface="Arial" panose="020B0604020202020204" pitchFamily="34" charset="0"/>
              <a:buChar char="•"/>
            </a:pPr>
            <a:r>
              <a:rPr lang="vi-VN" b="1" i="0" dirty="0">
                <a:solidFill>
                  <a:srgbClr val="404040"/>
                </a:solidFill>
                <a:effectLst/>
                <a:latin typeface="DeepSeek-CJK-patch"/>
              </a:rPr>
              <a:t>Minh họa từ slide:</a:t>
            </a:r>
            <a:r>
              <a:rPr lang="en-US" b="0" i="0" dirty="0">
                <a:solidFill>
                  <a:srgbClr val="404040"/>
                </a:solidFill>
                <a:effectLst/>
                <a:latin typeface="DeepSeek-CJK-patch"/>
              </a:rPr>
              <a:t> </a:t>
            </a:r>
            <a:r>
              <a:rPr lang="vi-VN" b="0" i="0" dirty="0">
                <a:solidFill>
                  <a:srgbClr val="FFFFFF"/>
                </a:solidFill>
                <a:effectLst/>
                <a:latin typeface="DeepSeek-CJK-patch"/>
              </a:rPr>
              <a:t>Client machine → Replicated request → Server 1, Server 2, Server 3 (Client stub gửi request đến cả 3 servers)</a:t>
            </a:r>
            <a:endParaRPr lang="en-US" b="0" i="0" dirty="0">
              <a:solidFill>
                <a:srgbClr val="FFFFFF"/>
              </a:solidFill>
              <a:effectLst/>
              <a:latin typeface="DeepSeek-CJK-patch"/>
            </a:endParaRPr>
          </a:p>
          <a:p>
            <a:pPr algn="l">
              <a:buFont typeface="Arial" panose="020B0604020202020204" pitchFamily="34" charset="0"/>
              <a:buNone/>
            </a:pPr>
            <a:r>
              <a:rPr lang="vi-VN" dirty="0"/>
              <a:t>Ví dụ, hãy tưởng tượng một hệ thống phân tán với các máy chủ được sao chép. Việc sao chép này có thể được thực hiện bằng cách chuyển tiếp một yêu cầu đến từng bản sao (replica), như minh họa trong Hình.</a:t>
            </a:r>
            <a:br>
              <a:rPr lang="vi-VN" dirty="0"/>
            </a:br>
            <a:r>
              <a:rPr lang="vi-VN" dirty="0"/>
              <a:t>Phần mềm phía client có thể thu thập các phản hồi một cách trong suốt và trả về một phản hồi duy nhất cho ứng dụng client</a:t>
            </a:r>
            <a:endParaRPr lang="vi-VN" b="0" i="0" dirty="0">
              <a:solidFill>
                <a:srgbClr val="FFFFFF"/>
              </a:solidFill>
              <a:effectLst/>
              <a:latin typeface="DeepSeek-CJK-patch"/>
            </a:endParaRPr>
          </a:p>
          <a:p>
            <a:pPr algn="l"/>
            <a:r>
              <a:rPr lang="vi-VN" b="1" i="0" dirty="0">
                <a:solidFill>
                  <a:srgbClr val="404040"/>
                </a:solidFill>
                <a:effectLst/>
                <a:latin typeface="DeepSeek-CJK-patch"/>
              </a:rPr>
              <a:t>d. Failure Transparency (Trong suốt lỗi)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Mục đích:</a:t>
            </a:r>
            <a:r>
              <a:rPr lang="vi-VN" b="0" i="0" dirty="0">
                <a:solidFill>
                  <a:srgbClr val="404040"/>
                </a:solidFill>
                <a:effectLst/>
                <a:latin typeface="DeepSeek-CJK-patch"/>
              </a:rPr>
              <a:t> Che giấu lỗi server hoặc mạng từ phía client.</a:t>
            </a:r>
          </a:p>
          <a:p>
            <a:pPr algn="l">
              <a:buFont typeface="Arial" panose="020B0604020202020204" pitchFamily="34" charset="0"/>
              <a:buChar char="•"/>
            </a:pPr>
            <a:r>
              <a:rPr lang="vi-VN" b="1" i="0" dirty="0">
                <a:solidFill>
                  <a:srgbClr val="404040"/>
                </a:solidFill>
                <a:effectLst/>
                <a:latin typeface="DeepSeek-CJK-patch"/>
              </a:rPr>
              <a:t>Cách triển khai:</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Client-side software</a:t>
            </a:r>
            <a:r>
              <a:rPr lang="vi-VN" b="0" i="0" dirty="0">
                <a:solidFill>
                  <a:srgbClr val="404040"/>
                </a:solidFill>
                <a:effectLst/>
                <a:latin typeface="DeepSeek-CJK-patch"/>
              </a:rPr>
              <a:t> thực hiện:</a:t>
            </a:r>
          </a:p>
          <a:p>
            <a:pPr marL="1143000" lvl="2" indent="-228600" algn="l">
              <a:buFont typeface="Arial" panose="020B0604020202020204" pitchFamily="34" charset="0"/>
              <a:buChar char="•"/>
            </a:pPr>
            <a:r>
              <a:rPr lang="vi-VN" b="0" i="0" dirty="0">
                <a:solidFill>
                  <a:srgbClr val="404040"/>
                </a:solidFill>
                <a:effectLst/>
                <a:latin typeface="DeepSeek-CJK-patch"/>
              </a:rPr>
              <a:t>Retry khi timeout.</a:t>
            </a:r>
          </a:p>
          <a:p>
            <a:pPr marL="1143000" lvl="2" indent="-228600" algn="l">
              <a:buFont typeface="Arial" panose="020B0604020202020204" pitchFamily="34" charset="0"/>
              <a:buChar char="•"/>
            </a:pPr>
            <a:r>
              <a:rPr lang="vi-VN" b="0" i="0" dirty="0">
                <a:solidFill>
                  <a:srgbClr val="404040"/>
                </a:solidFill>
                <a:effectLst/>
                <a:latin typeface="DeepSeek-CJK-patch"/>
              </a:rPr>
              <a:t>Chuyển sang server dự phòng (failover).</a:t>
            </a:r>
          </a:p>
          <a:p>
            <a:pPr marL="1143000" lvl="2" indent="-228600" algn="l">
              <a:buFont typeface="Arial" panose="020B0604020202020204" pitchFamily="34" charset="0"/>
              <a:buChar char="•"/>
            </a:pPr>
            <a:r>
              <a:rPr lang="vi-VN" b="0" i="0" dirty="0">
                <a:solidFill>
                  <a:srgbClr val="404040"/>
                </a:solidFill>
                <a:effectLst/>
                <a:latin typeface="DeepSeek-CJK-patch"/>
              </a:rPr>
              <a:t>Cache kết quả tạm thời.</a:t>
            </a:r>
          </a:p>
          <a:p>
            <a:pPr marL="742950" lvl="1" indent="-285750" algn="l">
              <a:buFont typeface="Arial" panose="020B0604020202020204" pitchFamily="34" charset="0"/>
              <a:buChar char="•"/>
            </a:pPr>
            <a:r>
              <a:rPr lang="vi-VN" b="0" i="0" dirty="0">
                <a:solidFill>
                  <a:srgbClr val="404040"/>
                </a:solidFill>
                <a:effectLst/>
                <a:latin typeface="DeepSeek-CJK-patch"/>
              </a:rPr>
              <a:t>→ Client không thấy lỗi trừ khi toàn bộ hệ thống sập.</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3</a:t>
            </a:r>
            <a:r>
              <a:rPr lang="vi-VN" b="1" i="0" dirty="0">
                <a:solidFill>
                  <a:srgbClr val="404040"/>
                </a:solidFill>
                <a:effectLst/>
                <a:latin typeface="DeepSeek-CJK-patch"/>
              </a:rPr>
              <a:t>. Tại sao đặt các cơ chế này ở phía client?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Lý do 1:</a:t>
            </a:r>
            <a:r>
              <a:rPr lang="vi-VN" b="0" i="0" dirty="0">
                <a:solidFill>
                  <a:srgbClr val="404040"/>
                </a:solidFill>
                <a:effectLst/>
                <a:latin typeface="DeepSeek-CJK-patch"/>
              </a:rPr>
              <a:t> Server không thể dự đoán được nhu cầu của client (vd: khi nào cần retry).</a:t>
            </a:r>
          </a:p>
          <a:p>
            <a:pPr algn="l">
              <a:buFont typeface="Arial" panose="020B0604020202020204" pitchFamily="34" charset="0"/>
              <a:buChar char="•"/>
            </a:pPr>
            <a:r>
              <a:rPr lang="vi-VN" b="1" i="0" dirty="0">
                <a:solidFill>
                  <a:srgbClr val="404040"/>
                </a:solidFill>
                <a:effectLst/>
                <a:latin typeface="DeepSeek-CJK-patch"/>
              </a:rPr>
              <a:t>Lý do 2:</a:t>
            </a:r>
            <a:r>
              <a:rPr lang="vi-VN" b="0" i="0" dirty="0">
                <a:solidFill>
                  <a:srgbClr val="404040"/>
                </a:solidFill>
                <a:effectLst/>
                <a:latin typeface="DeepSeek-CJK-patch"/>
              </a:rPr>
              <a:t> Client cần phản ứng nhanh với thay đổi (vd: server di chuyển).</a:t>
            </a:r>
          </a:p>
          <a:p>
            <a:pPr algn="l">
              <a:buFont typeface="Arial" panose="020B0604020202020204" pitchFamily="34" charset="0"/>
              <a:buChar char="•"/>
            </a:pPr>
            <a:r>
              <a:rPr lang="vi-VN" b="1" i="0" dirty="0">
                <a:solidFill>
                  <a:srgbClr val="404040"/>
                </a:solidFill>
                <a:effectLst/>
                <a:latin typeface="DeepSeek-CJK-patch"/>
              </a:rPr>
              <a:t>Lý do 3:</a:t>
            </a:r>
            <a:r>
              <a:rPr lang="vi-VN" b="0" i="0" dirty="0">
                <a:solidFill>
                  <a:srgbClr val="404040"/>
                </a:solidFill>
                <a:effectLst/>
                <a:latin typeface="DeepSeek-CJK-patch"/>
              </a:rPr>
              <a:t> Giảm tải cho server → server chỉ tập trung vào nghiệp vụ.</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5. Công nghệ áp dụng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RPC Frameworks:</a:t>
            </a:r>
            <a:r>
              <a:rPr lang="vi-VN" b="0" i="0" dirty="0">
                <a:solidFill>
                  <a:srgbClr val="404040"/>
                </a:solidFill>
                <a:effectLst/>
                <a:latin typeface="DeepSeek-CJK-patch"/>
              </a:rPr>
              <a:t> gRPC (client stub tự động generate từ Protobuf).</a:t>
            </a:r>
          </a:p>
          <a:p>
            <a:pPr algn="l">
              <a:buFont typeface="Arial" panose="020B0604020202020204" pitchFamily="34" charset="0"/>
              <a:buChar char="•"/>
            </a:pPr>
            <a:r>
              <a:rPr lang="vi-VN" b="1" i="0" dirty="0">
                <a:solidFill>
                  <a:srgbClr val="404040"/>
                </a:solidFill>
                <a:effectLst/>
                <a:latin typeface="DeepSeek-CJK-patch"/>
              </a:rPr>
              <a:t>Service Mesh:</a:t>
            </a:r>
            <a:r>
              <a:rPr lang="vi-VN" b="0" i="0" dirty="0">
                <a:solidFill>
                  <a:srgbClr val="404040"/>
                </a:solidFill>
                <a:effectLst/>
                <a:latin typeface="DeepSeek-CJK-patch"/>
              </a:rPr>
              <a:t> Istio (xử lý location transparency, retry, timeout).</a:t>
            </a:r>
          </a:p>
          <a:p>
            <a:pPr algn="l">
              <a:buFont typeface="Arial" panose="020B0604020202020204" pitchFamily="34" charset="0"/>
              <a:buChar char="•"/>
            </a:pPr>
            <a:r>
              <a:rPr lang="vi-VN" b="1" i="0" dirty="0">
                <a:solidFill>
                  <a:srgbClr val="404040"/>
                </a:solidFill>
                <a:effectLst/>
                <a:latin typeface="DeepSeek-CJK-patch"/>
              </a:rPr>
              <a:t>Distributed Databases:</a:t>
            </a:r>
            <a:r>
              <a:rPr lang="vi-VN" b="0" i="0" dirty="0">
                <a:solidFill>
                  <a:srgbClr val="404040"/>
                </a:solidFill>
                <a:effectLst/>
                <a:latin typeface="DeepSeek-CJK-patch"/>
              </a:rPr>
              <a:t> Cassandra (client-side quyết định gửi request đến node nào).</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r>
              <a:rPr lang="vi-VN" b="0" i="0" dirty="0">
                <a:solidFill>
                  <a:srgbClr val="404040"/>
                </a:solidFill>
                <a:effectLst/>
                <a:latin typeface="DeepSeek-CJK-patch"/>
              </a:rPr>
              <a:t>Client-side software đóng vai trò </a:t>
            </a:r>
            <a:r>
              <a:rPr lang="vi-VN" b="1" i="0" dirty="0">
                <a:solidFill>
                  <a:srgbClr val="404040"/>
                </a:solidFill>
                <a:effectLst/>
                <a:latin typeface="DeepSeek-CJK-patch"/>
              </a:rPr>
              <a:t>trung gian thông minh</a:t>
            </a:r>
            <a:r>
              <a:rPr lang="vi-VN" b="0" i="0" dirty="0">
                <a:solidFill>
                  <a:srgbClr val="404040"/>
                </a:solidFill>
                <a:effectLst/>
                <a:latin typeface="DeepSeek-CJK-patch"/>
              </a:rPr>
              <a:t> để:</a:t>
            </a:r>
          </a:p>
          <a:p>
            <a:pPr algn="l">
              <a:buFont typeface="Arial" panose="020B0604020202020204" pitchFamily="34" charset="0"/>
              <a:buChar char="•"/>
            </a:pPr>
            <a:r>
              <a:rPr lang="vi-VN" b="0" i="0" dirty="0">
                <a:solidFill>
                  <a:srgbClr val="404040"/>
                </a:solidFill>
                <a:effectLst/>
                <a:latin typeface="DeepSeek-CJK-patch"/>
              </a:rPr>
              <a:t>Giảm độ phức tạp cho ứng dụng client.</a:t>
            </a:r>
          </a:p>
          <a:p>
            <a:pPr algn="l">
              <a:buFont typeface="Arial" panose="020B0604020202020204" pitchFamily="34" charset="0"/>
              <a:buChar char="•"/>
            </a:pPr>
            <a:r>
              <a:rPr lang="vi-VN" b="0" i="0" dirty="0">
                <a:solidFill>
                  <a:srgbClr val="404040"/>
                </a:solidFill>
                <a:effectLst/>
                <a:latin typeface="DeepSeek-CJK-patch"/>
              </a:rPr>
              <a:t>Tăng độ tin cậy và khả năng mở rộng của hệ thống phân tán.</a:t>
            </a:r>
            <a:br>
              <a:rPr lang="vi-VN" b="0" i="0" dirty="0">
                <a:solidFill>
                  <a:srgbClr val="404040"/>
                </a:solidFill>
                <a:effectLst/>
                <a:latin typeface="DeepSeek-CJK-patch"/>
              </a:rPr>
            </a:br>
            <a:r>
              <a:rPr lang="vi-VN" b="0" i="0" dirty="0">
                <a:solidFill>
                  <a:srgbClr val="404040"/>
                </a:solidFill>
                <a:effectLst/>
                <a:latin typeface="DeepSeek-CJK-patch"/>
              </a:rPr>
              <a:t>→ Cân bằng giữa </a:t>
            </a:r>
            <a:r>
              <a:rPr lang="vi-VN" b="1" i="0" dirty="0">
                <a:solidFill>
                  <a:srgbClr val="404040"/>
                </a:solidFill>
                <a:effectLst/>
                <a:latin typeface="DeepSeek-CJK-patch"/>
              </a:rPr>
              <a:t>hiệu suất</a:t>
            </a:r>
            <a:r>
              <a:rPr lang="vi-VN" b="0" i="0" dirty="0">
                <a:solidFill>
                  <a:srgbClr val="404040"/>
                </a:solidFill>
                <a:effectLst/>
                <a:latin typeface="DeepSeek-CJK-patch"/>
              </a:rPr>
              <a:t> và </a:t>
            </a:r>
            <a:r>
              <a:rPr lang="vi-VN" b="1" i="0" dirty="0">
                <a:solidFill>
                  <a:srgbClr val="404040"/>
                </a:solidFill>
                <a:effectLst/>
                <a:latin typeface="DeepSeek-CJK-patch"/>
              </a:rPr>
              <a:t>tính nhất quán</a:t>
            </a:r>
            <a:r>
              <a:rPr lang="vi-VN" b="0" i="0" dirty="0">
                <a:solidFill>
                  <a:srgbClr val="404040"/>
                </a:solidFill>
                <a:effectLst/>
                <a:latin typeface="DeepSeek-CJK-patch"/>
              </a:rPr>
              <a:t> là thách thức chính!</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34</a:t>
            </a:fld>
            <a:endParaRPr lang="en-US"/>
          </a:p>
        </p:txBody>
      </p:sp>
    </p:spTree>
    <p:extLst>
      <p:ext uri="{BB962C8B-B14F-4D97-AF65-F5344CB8AC3E}">
        <p14:creationId xmlns:p14="http://schemas.microsoft.com/office/powerpoint/2010/main" val="32037553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Bây giờ chúng ta hãy cùng xem xét kỹ hơn về cách tổ chức của các máy chủ.</a:t>
            </a:r>
            <a:br>
              <a:rPr lang="vi-VN" dirty="0"/>
            </a:br>
            <a:r>
              <a:rPr lang="vi-VN" dirty="0"/>
              <a:t>Trong các trang tiếp theo, trước tiên chúng ta sẽ tập trung vào một số vấn đề thiết kế chung cho máy chủ, sau đó là phần thảo luận về các cụm máy chủ (server clusters).</a:t>
            </a:r>
            <a:endParaRPr lang="en-US" dirty="0"/>
          </a:p>
          <a:p>
            <a:endParaRPr lang="en-US" dirty="0"/>
          </a:p>
          <a:p>
            <a:r>
              <a:rPr lang="vi-VN" b="1" dirty="0"/>
              <a:t>Các vấn đề thiết kế chung</a:t>
            </a:r>
            <a:br>
              <a:rPr lang="vi-VN" dirty="0"/>
            </a:br>
            <a:r>
              <a:rPr lang="vi-VN" dirty="0"/>
              <a:t>Một máy chủ là một tiến trình thực hiện một dịch vụ cụ thể thay mặt cho một nhóm các máy khách. Về bản chất, mỗi máy chủ đều được tổ chức theo cùng một cách: nó chờ một yêu cầu đến từ máy khách, sau đó đảm bảo rằng yêu cầu đó được xử lý, rồi tiếp tục chờ yêu cầu tiếp theo.</a:t>
            </a:r>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35</a:t>
            </a:fld>
            <a:endParaRPr lang="en-US"/>
          </a:p>
        </p:txBody>
      </p:sp>
    </p:spTree>
    <p:extLst>
      <p:ext uri="{BB962C8B-B14F-4D97-AF65-F5344CB8AC3E}">
        <p14:creationId xmlns:p14="http://schemas.microsoft.com/office/powerpoint/2010/main" val="209409802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Concurrent Servers</a:t>
            </a:r>
            <a:r>
              <a:rPr lang="vi-VN" dirty="0"/>
              <a:t> (Máy chủ đồng thời)</a:t>
            </a:r>
            <a:endParaRPr lang="en-US" dirty="0"/>
          </a:p>
          <a:p>
            <a:r>
              <a:rPr lang="en-US" dirty="0" err="1"/>
              <a:t>Phân</a:t>
            </a:r>
            <a:r>
              <a:rPr lang="en-US" dirty="0"/>
              <a:t> </a:t>
            </a:r>
            <a:r>
              <a:rPr lang="en-US" dirty="0" err="1"/>
              <a:t>loại</a:t>
            </a:r>
            <a:r>
              <a:rPr lang="vi-VN" dirty="0"/>
              <a:t> </a:t>
            </a:r>
            <a:r>
              <a:rPr lang="vi-VN" b="1" dirty="0"/>
              <a:t>hai cách thiết kế cơ bản</a:t>
            </a:r>
            <a:r>
              <a:rPr lang="vi-VN" dirty="0"/>
              <a:t> của một server khi xử lý nhiều yêu cầu từ client:</a:t>
            </a:r>
          </a:p>
          <a:p>
            <a:endParaRPr lang="en-US" b="1" dirty="0"/>
          </a:p>
          <a:p>
            <a:r>
              <a:rPr lang="vi-VN" b="1" dirty="0"/>
              <a:t>Hai loại máy chủ cơ bản:</a:t>
            </a:r>
          </a:p>
          <a:p>
            <a:pPr>
              <a:buFont typeface="+mj-lt"/>
              <a:buAutoNum type="arabicPeriod"/>
            </a:pPr>
            <a:r>
              <a:rPr lang="vi-VN" b="1" dirty="0"/>
              <a:t>Iterative Server</a:t>
            </a:r>
            <a:r>
              <a:rPr lang="vi-VN" dirty="0"/>
              <a:t> (Máy chủ lặp):</a:t>
            </a:r>
          </a:p>
          <a:p>
            <a:pPr marL="457200" lvl="1" indent="0">
              <a:buFont typeface="+mj-lt"/>
              <a:buNone/>
            </a:pPr>
            <a:r>
              <a:rPr lang="en-US" dirty="0"/>
              <a:t>- </a:t>
            </a:r>
            <a:r>
              <a:rPr lang="vi-VN" dirty="0"/>
              <a:t>Cách hoạt động: xử lý </a:t>
            </a:r>
            <a:r>
              <a:rPr lang="vi-VN" b="1" dirty="0"/>
              <a:t>từng yêu cầu một</a:t>
            </a:r>
            <a:r>
              <a:rPr lang="vi-VN" dirty="0"/>
              <a:t>.</a:t>
            </a:r>
          </a:p>
          <a:p>
            <a:pPr marL="457200" lvl="1" indent="0">
              <a:buFont typeface="+mj-lt"/>
              <a:buNone/>
            </a:pPr>
            <a:r>
              <a:rPr lang="en-US" dirty="0"/>
              <a:t>- </a:t>
            </a:r>
            <a:r>
              <a:rPr lang="vi-VN" dirty="0"/>
              <a:t>Sau khi xử lý xong một yêu cầu, nó mới </a:t>
            </a:r>
            <a:r>
              <a:rPr lang="vi-VN" b="1" dirty="0"/>
              <a:t>chuyển sang yêu cầu tiếp theo</a:t>
            </a:r>
            <a:r>
              <a:rPr lang="vi-VN" dirty="0"/>
              <a:t>.</a:t>
            </a:r>
          </a:p>
          <a:p>
            <a:pPr marL="457200" lvl="1" indent="0">
              <a:buFont typeface="+mj-lt"/>
              <a:buNone/>
            </a:pPr>
            <a:r>
              <a:rPr lang="en-US" dirty="0"/>
              <a:t>- </a:t>
            </a:r>
            <a:r>
              <a:rPr lang="vi-VN" dirty="0"/>
              <a:t>Ưu điểm: đơn giản, dễ lập trình.</a:t>
            </a:r>
          </a:p>
          <a:p>
            <a:pPr marL="457200" lvl="1" indent="0">
              <a:buFont typeface="+mj-lt"/>
              <a:buNone/>
            </a:pPr>
            <a:r>
              <a:rPr lang="en-US" dirty="0"/>
              <a:t>- </a:t>
            </a:r>
            <a:r>
              <a:rPr lang="vi-VN" dirty="0"/>
              <a:t>Nhược điểm: nếu một yêu cầu mất thời gian (ví dụ: truy cập cơ sở dữ liệu), các yêu cầu khác sẽ phải </a:t>
            </a:r>
            <a:r>
              <a:rPr lang="vi-VN" b="1" dirty="0"/>
              <a:t>chờ</a:t>
            </a:r>
            <a:r>
              <a:rPr lang="vi-VN" dirty="0"/>
              <a:t>.</a:t>
            </a:r>
          </a:p>
          <a:p>
            <a:pPr>
              <a:buFont typeface="+mj-lt"/>
              <a:buAutoNum type="arabicPeriod"/>
            </a:pPr>
            <a:r>
              <a:rPr lang="vi-VN" b="1" dirty="0"/>
              <a:t>Concurrent Server</a:t>
            </a:r>
            <a:r>
              <a:rPr lang="vi-VN" dirty="0"/>
              <a:t> (Máy chủ đồng thời):</a:t>
            </a:r>
          </a:p>
          <a:p>
            <a:pPr marL="457200" lvl="1" indent="0">
              <a:buFont typeface="+mj-lt"/>
              <a:buNone/>
            </a:pPr>
            <a:r>
              <a:rPr lang="en-US" dirty="0"/>
              <a:t>- </a:t>
            </a:r>
            <a:r>
              <a:rPr lang="vi-VN" dirty="0"/>
              <a:t>Dùng một </a:t>
            </a:r>
            <a:r>
              <a:rPr lang="vi-VN" b="1" dirty="0"/>
              <a:t>dispatcher</a:t>
            </a:r>
            <a:r>
              <a:rPr lang="vi-VN" dirty="0"/>
              <a:t> (bộ phân phối) để nhận các yêu cầu đến.</a:t>
            </a:r>
          </a:p>
          <a:p>
            <a:pPr marL="457200" lvl="1" indent="0">
              <a:buFont typeface="+mj-lt"/>
              <a:buNone/>
            </a:pPr>
            <a:r>
              <a:rPr lang="en-US" dirty="0"/>
              <a:t>- </a:t>
            </a:r>
            <a:r>
              <a:rPr lang="vi-VN" dirty="0"/>
              <a:t>Mỗi yêu cầu sẽ được chuyển cho một </a:t>
            </a:r>
            <a:r>
              <a:rPr lang="vi-VN" b="1" dirty="0"/>
              <a:t>thread hoặc process riêng</a:t>
            </a:r>
            <a:r>
              <a:rPr lang="vi-VN" dirty="0"/>
              <a:t> để xử lý.</a:t>
            </a:r>
          </a:p>
          <a:p>
            <a:pPr marL="457200" lvl="1" indent="0">
              <a:buFont typeface="+mj-lt"/>
              <a:buNone/>
            </a:pPr>
            <a:r>
              <a:rPr lang="en-US" dirty="0"/>
              <a:t>- </a:t>
            </a:r>
            <a:r>
              <a:rPr lang="vi-VN" dirty="0"/>
              <a:t>Ưu điểm: có thể </a:t>
            </a:r>
            <a:r>
              <a:rPr lang="vi-VN" b="1" dirty="0"/>
              <a:t>xử lý nhiều yêu cầu cùng lúc</a:t>
            </a:r>
            <a:r>
              <a:rPr lang="vi-VN" dirty="0"/>
              <a:t>, rất hiệu quả khi có các thao tác chặn (blocking I/O).</a:t>
            </a:r>
          </a:p>
          <a:p>
            <a:pPr marL="457200" lvl="1" indent="0">
              <a:buFont typeface="+mj-lt"/>
              <a:buNone/>
            </a:pPr>
            <a:r>
              <a:rPr lang="en-US" dirty="0"/>
              <a:t>- </a:t>
            </a:r>
            <a:r>
              <a:rPr lang="vi-VN" dirty="0"/>
              <a:t>Ví dụ: xử lý đồng thời truy cập từ nhiều người dùng đến cơ sở dữ liệu, đọc/ghi tệp, hoặc gọi API.</a:t>
            </a:r>
          </a:p>
          <a:p>
            <a:endParaRPr lang="en-US" b="1" dirty="0"/>
          </a:p>
          <a:p>
            <a:r>
              <a:rPr lang="vi-VN" b="1" dirty="0"/>
              <a:t>Nhận xét:</a:t>
            </a:r>
          </a:p>
          <a:p>
            <a:pPr>
              <a:buFont typeface="Arial" panose="020B0604020202020204" pitchFamily="34" charset="0"/>
              <a:buChar char="•"/>
            </a:pPr>
            <a:r>
              <a:rPr lang="vi-VN" b="1" dirty="0"/>
              <a:t>Concurrent servers là tiêu chuẩn phổ biến hiện nay</a:t>
            </a:r>
            <a:r>
              <a:rPr lang="vi-VN" dirty="0"/>
              <a:t>, vì:</a:t>
            </a:r>
          </a:p>
          <a:p>
            <a:pPr marL="742950" lvl="1" indent="-285750">
              <a:buFont typeface="Arial" panose="020B0604020202020204" pitchFamily="34" charset="0"/>
              <a:buChar char="•"/>
            </a:pPr>
            <a:r>
              <a:rPr lang="vi-VN" dirty="0"/>
              <a:t>Đáp ứng nhanh hơn.</a:t>
            </a:r>
          </a:p>
          <a:p>
            <a:pPr marL="742950" lvl="1" indent="-285750">
              <a:buFont typeface="Arial" panose="020B0604020202020204" pitchFamily="34" charset="0"/>
              <a:buChar char="•"/>
            </a:pPr>
            <a:r>
              <a:rPr lang="vi-VN" dirty="0"/>
              <a:t>Tận dụng tốt tài nguyên máy tính hiện đại (đa nhân, đa luồng).</a:t>
            </a:r>
          </a:p>
          <a:p>
            <a:pPr marL="742950" lvl="1" indent="-285750">
              <a:buFont typeface="Arial" panose="020B0604020202020204" pitchFamily="34" charset="0"/>
              <a:buChar char="•"/>
            </a:pPr>
            <a:r>
              <a:rPr lang="vi-VN" dirty="0"/>
              <a:t>Thích hợp trong môi trường phức tạp có nhiều thao tác chặn như gọi mạng, truy cập đĩa, v.v.</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36</a:t>
            </a:fld>
            <a:endParaRPr lang="en-US"/>
          </a:p>
        </p:txBody>
      </p:sp>
    </p:spTree>
    <p:extLst>
      <p:ext uri="{BB962C8B-B14F-4D97-AF65-F5344CB8AC3E}">
        <p14:creationId xmlns:p14="http://schemas.microsoft.com/office/powerpoint/2010/main" val="28793170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Liên hệ với máy chủ: các điểm cuối (end points)</a:t>
            </a:r>
            <a:endParaRPr lang="en-US" b="1" dirty="0"/>
          </a:p>
          <a:p>
            <a:endParaRPr lang="vi-VN" b="1" dirty="0"/>
          </a:p>
          <a:p>
            <a:r>
              <a:rPr lang="vi-VN" dirty="0"/>
              <a:t>Một vấn đề khác là </a:t>
            </a:r>
            <a:r>
              <a:rPr lang="vi-VN" b="1" dirty="0"/>
              <a:t>khách (client) sẽ liên hệ với máy chủ (server) ở đâu</a:t>
            </a:r>
            <a:r>
              <a:rPr lang="vi-VN" dirty="0"/>
              <a:t>. Trong tất cả các trường hợp, client sẽ gửi yêu cầu đến một </a:t>
            </a:r>
            <a:r>
              <a:rPr lang="vi-VN" b="1" dirty="0"/>
              <a:t>điểm cuối (end point)</a:t>
            </a:r>
            <a:r>
              <a:rPr lang="vi-VN" dirty="0"/>
              <a:t>, còn được gọi là </a:t>
            </a:r>
            <a:r>
              <a:rPr lang="vi-VN" b="1" dirty="0"/>
              <a:t>cổng (port)</a:t>
            </a:r>
            <a:r>
              <a:rPr lang="vi-VN" dirty="0"/>
              <a:t>, trên máy mà server đang chạy. Mỗi server </a:t>
            </a:r>
            <a:r>
              <a:rPr lang="vi-VN" b="1" dirty="0"/>
              <a:t>lắng nghe</a:t>
            </a:r>
            <a:r>
              <a:rPr lang="vi-VN" dirty="0"/>
              <a:t> tại một điểm cuối cụ thể.</a:t>
            </a:r>
          </a:p>
          <a:p>
            <a:r>
              <a:rPr lang="vi-VN" dirty="0"/>
              <a:t>Vậy làm sao client biết được điểm cuối của một dịch vụ?</a:t>
            </a:r>
            <a:br>
              <a:rPr lang="vi-VN" dirty="0"/>
            </a:br>
            <a:r>
              <a:rPr lang="vi-VN" dirty="0"/>
              <a:t>Một cách tiếp cận là </a:t>
            </a:r>
            <a:r>
              <a:rPr lang="vi-VN" b="1" dirty="0"/>
              <a:t>gán điểm cuối cố định trên toàn cầu cho các dịch vụ phổ biến</a:t>
            </a:r>
            <a:r>
              <a:rPr lang="vi-VN" dirty="0"/>
              <a:t>.</a:t>
            </a:r>
            <a:br>
              <a:rPr lang="vi-VN" dirty="0"/>
            </a:br>
            <a:r>
              <a:rPr lang="vi-VN" dirty="0"/>
              <a:t>Ví dụ:</a:t>
            </a:r>
          </a:p>
          <a:p>
            <a:pPr>
              <a:buFont typeface="Arial" panose="020B0604020202020204" pitchFamily="34" charset="0"/>
              <a:buChar char="•"/>
            </a:pPr>
            <a:r>
              <a:rPr lang="vi-VN" dirty="0"/>
              <a:t>Server xử lý yêu cầu FTP trên Internet </a:t>
            </a:r>
            <a:r>
              <a:rPr lang="vi-VN" b="1" dirty="0"/>
              <a:t>luôn lắng nghe tại cổng TCP 21</a:t>
            </a:r>
            <a:r>
              <a:rPr lang="vi-VN" dirty="0"/>
              <a:t>.</a:t>
            </a:r>
          </a:p>
          <a:p>
            <a:pPr>
              <a:buFont typeface="Arial" panose="020B0604020202020204" pitchFamily="34" charset="0"/>
              <a:buChar char="•"/>
            </a:pPr>
            <a:r>
              <a:rPr lang="vi-VN" dirty="0"/>
              <a:t>Tương tự, server HTTP cho World Wide Web </a:t>
            </a:r>
            <a:r>
              <a:rPr lang="vi-VN" b="1" dirty="0"/>
              <a:t>luôn lắng nghe tại cổng TCP 80</a:t>
            </a:r>
            <a:r>
              <a:rPr lang="vi-VN" dirty="0"/>
              <a:t>.</a:t>
            </a:r>
          </a:p>
          <a:p>
            <a:r>
              <a:rPr lang="vi-VN" dirty="0"/>
              <a:t>Những điểm cuối này được </a:t>
            </a:r>
            <a:r>
              <a:rPr lang="vi-VN" b="1" dirty="0"/>
              <a:t>Internet Assigned Numbers Authority (IANA)</a:t>
            </a:r>
            <a:r>
              <a:rPr lang="vi-VN" dirty="0"/>
              <a:t> quy định và được tài liệu hóa trong.</a:t>
            </a:r>
            <a:br>
              <a:rPr lang="vi-VN" dirty="0"/>
            </a:br>
            <a:r>
              <a:rPr lang="vi-VN" dirty="0"/>
              <a:t>Với các điểm cuối được gán sẵn, client </a:t>
            </a:r>
            <a:r>
              <a:rPr lang="vi-VN" b="1" dirty="0"/>
              <a:t>chỉ cần tìm địa chỉ mạng</a:t>
            </a:r>
            <a:r>
              <a:rPr lang="vi-VN" dirty="0"/>
              <a:t> của máy chủ. Để làm điều đó, ta có thể sử dụng </a:t>
            </a:r>
            <a:r>
              <a:rPr lang="vi-VN" b="1" dirty="0"/>
              <a:t>dịch vụ tên (name services)</a:t>
            </a:r>
            <a:r>
              <a:rPr lang="vi-VN" dirty="0"/>
              <a:t>.</a:t>
            </a:r>
          </a:p>
          <a:p>
            <a:endParaRPr lang="en-US" b="1" dirty="0"/>
          </a:p>
          <a:p>
            <a:r>
              <a:rPr lang="vi-VN" b="1" dirty="0"/>
              <a:t>Dịch vụ không cần điểm cuối cố định</a:t>
            </a:r>
          </a:p>
          <a:p>
            <a:r>
              <a:rPr lang="vi-VN" dirty="0"/>
              <a:t>Có nhiều dịch vụ </a:t>
            </a:r>
            <a:r>
              <a:rPr lang="vi-VN" b="1" dirty="0"/>
              <a:t>không cần điểm cuối được gán trước</a:t>
            </a:r>
            <a:r>
              <a:rPr lang="vi-VN" dirty="0"/>
              <a:t>.</a:t>
            </a:r>
            <a:br>
              <a:rPr lang="vi-VN" dirty="0"/>
            </a:br>
            <a:r>
              <a:rPr lang="vi-VN" dirty="0"/>
              <a:t>Ví dụ: một server cung cấp thời gian trong ngày (time-of-day server) có thể dùng một </a:t>
            </a:r>
            <a:r>
              <a:rPr lang="vi-VN" b="1" dirty="0"/>
              <a:t>điểm cuối được hệ điều hành gán động</a:t>
            </a:r>
            <a:r>
              <a:rPr lang="vi-VN" dirty="0"/>
              <a:t>. Trong trường hợp này, client </a:t>
            </a:r>
            <a:r>
              <a:rPr lang="vi-VN" b="1" dirty="0"/>
              <a:t>phải tra cứu điểm cuối</a:t>
            </a:r>
            <a:r>
              <a:rPr lang="vi-VN" dirty="0"/>
              <a:t> trước khi gửi yêu cầu.</a:t>
            </a:r>
          </a:p>
          <a:p>
            <a:r>
              <a:rPr lang="vi-VN" dirty="0"/>
              <a:t>Một giải pháp là chạy một </a:t>
            </a:r>
            <a:r>
              <a:rPr lang="vi-VN" b="1" dirty="0"/>
              <a:t>trình nền (daemon)</a:t>
            </a:r>
            <a:r>
              <a:rPr lang="vi-VN" dirty="0"/>
              <a:t> đặc biệt trên mỗi máy có chạy server.</a:t>
            </a:r>
          </a:p>
          <a:p>
            <a:pPr>
              <a:buFont typeface="Arial" panose="020B0604020202020204" pitchFamily="34" charset="0"/>
              <a:buChar char="•"/>
            </a:pPr>
            <a:r>
              <a:rPr lang="vi-VN" dirty="0"/>
              <a:t>Trình nền này theo dõi các điểm cuối hiện tại của các dịch vụ đang chạy trên cùng máy.</a:t>
            </a:r>
          </a:p>
          <a:p>
            <a:pPr>
              <a:buFont typeface="Arial" panose="020B0604020202020204" pitchFamily="34" charset="0"/>
              <a:buChar char="•"/>
            </a:pPr>
            <a:r>
              <a:rPr lang="vi-VN" dirty="0"/>
              <a:t>Chính daemon này </a:t>
            </a:r>
            <a:r>
              <a:rPr lang="vi-VN" b="1" dirty="0"/>
              <a:t>lắng nghe tại một điểm cuối cố định</a:t>
            </a:r>
            <a:r>
              <a:rPr lang="vi-VN" dirty="0"/>
              <a:t>.</a:t>
            </a:r>
          </a:p>
          <a:p>
            <a:pPr>
              <a:buFont typeface="Arial" panose="020B0604020202020204" pitchFamily="34" charset="0"/>
              <a:buChar char="•"/>
            </a:pPr>
            <a:r>
              <a:rPr lang="vi-VN" dirty="0"/>
              <a:t>Khi client cần tìm một dịch vụ, nó sẽ </a:t>
            </a:r>
            <a:r>
              <a:rPr lang="vi-VN" b="1" dirty="0"/>
              <a:t>liên hệ trước với daemon</a:t>
            </a:r>
            <a:r>
              <a:rPr lang="vi-VN" dirty="0"/>
              <a:t>, yêu cầu điểm cuối, sau đó mới liên hệ với server đích.</a:t>
            </a:r>
            <a:br>
              <a:rPr lang="vi-VN" dirty="0"/>
            </a:br>
            <a:r>
              <a:rPr lang="vi-VN" dirty="0"/>
              <a:t>→ Tình huống này được minh họa ở Hình (a).</a:t>
            </a:r>
          </a:p>
          <a:p>
            <a:endParaRPr lang="en-US" b="1" dirty="0"/>
          </a:p>
          <a:p>
            <a:r>
              <a:rPr lang="vi-VN" b="1" dirty="0"/>
              <a:t>Tối ưu hóa việc sử dụng điểm cuối</a:t>
            </a:r>
          </a:p>
          <a:p>
            <a:r>
              <a:rPr lang="vi-VN" dirty="0"/>
              <a:t>Thông thường, mỗi điểm cuối sẽ gắn với một dịch vụ cụ thể. Tuy nhiên, </a:t>
            </a:r>
            <a:r>
              <a:rPr lang="vi-VN" b="1" dirty="0"/>
              <a:t>việc triển khai mỗi dịch vụ bằng một server riêng biệt có thể gây lãng phí tài nguyên</a:t>
            </a:r>
            <a:r>
              <a:rPr lang="vi-VN" dirty="0"/>
              <a:t>.</a:t>
            </a:r>
          </a:p>
          <a:p>
            <a:r>
              <a:rPr lang="vi-VN" dirty="0"/>
              <a:t>Ví dụ: Trong một hệ thống Unix thông thường, có thể có rất nhiều server chạy cùng lúc nhưng </a:t>
            </a:r>
            <a:r>
              <a:rPr lang="vi-VN" b="1" dirty="0"/>
              <a:t>chủ yếu chỉ đang chờ yêu cầu từ client</a:t>
            </a:r>
            <a:r>
              <a:rPr lang="vi-VN" dirty="0"/>
              <a:t>.</a:t>
            </a:r>
            <a:br>
              <a:rPr lang="vi-VN" dirty="0"/>
            </a:br>
            <a:r>
              <a:rPr lang="vi-VN" dirty="0"/>
              <a:t>→ Việc theo dõi nhiều tiến trình thụ động như vậy </a:t>
            </a:r>
            <a:r>
              <a:rPr lang="vi-VN" b="1" dirty="0"/>
              <a:t>không hiệu quả</a:t>
            </a:r>
            <a:r>
              <a:rPr lang="vi-VN" dirty="0"/>
              <a:t>.</a:t>
            </a:r>
          </a:p>
          <a:p>
            <a:r>
              <a:rPr lang="vi-VN" dirty="0"/>
              <a:t>Một giải pháp tốt hơn là dùng một </a:t>
            </a:r>
            <a:r>
              <a:rPr lang="vi-VN" b="1" dirty="0"/>
              <a:t>super-server</a:t>
            </a:r>
            <a:r>
              <a:rPr lang="vi-VN" dirty="0"/>
              <a:t> duy nhất lắng nghe tại nhiều điểm cuối, như minh họa ở Hình (b).</a:t>
            </a:r>
            <a:br>
              <a:rPr lang="vi-VN" dirty="0"/>
            </a:br>
            <a:r>
              <a:rPr lang="vi-VN" dirty="0"/>
              <a:t>Ví dụ: </a:t>
            </a:r>
            <a:r>
              <a:rPr lang="vi-VN" b="1" dirty="0"/>
              <a:t>daemon inetd trong Unix</a:t>
            </a:r>
            <a:r>
              <a:rPr lang="vi-VN" dirty="0"/>
              <a:t> sẽ lắng nghe một số cổng được biết trước cho các dịch vụ Internet. Khi có yêu cầu đến:</a:t>
            </a:r>
          </a:p>
          <a:p>
            <a:pPr>
              <a:buFont typeface="Arial" panose="020B0604020202020204" pitchFamily="34" charset="0"/>
              <a:buChar char="•"/>
            </a:pPr>
            <a:r>
              <a:rPr lang="vi-VN" dirty="0"/>
              <a:t>inetd sẽ </a:t>
            </a:r>
            <a:r>
              <a:rPr lang="vi-VN" b="1" dirty="0"/>
              <a:t>tạo ra một tiến trình con (fork)</a:t>
            </a:r>
            <a:r>
              <a:rPr lang="vi-VN" dirty="0"/>
              <a:t> để xử lý yêu cầu đó.</a:t>
            </a:r>
          </a:p>
          <a:p>
            <a:pPr>
              <a:buFont typeface="Arial" panose="020B0604020202020204" pitchFamily="34" charset="0"/>
              <a:buChar char="•"/>
            </a:pPr>
            <a:r>
              <a:rPr lang="vi-VN" dirty="0"/>
              <a:t>Khi xử lý xong, tiến trình này sẽ </a:t>
            </a:r>
            <a:r>
              <a:rPr lang="vi-VN" b="1" dirty="0"/>
              <a:t>thoát ra</a:t>
            </a:r>
            <a:r>
              <a:rPr lang="vi-VN" dirty="0"/>
              <a:t>.</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37</a:t>
            </a:fld>
            <a:endParaRPr lang="en-US"/>
          </a:p>
        </p:txBody>
      </p:sp>
    </p:spTree>
    <p:extLst>
      <p:ext uri="{BB962C8B-B14F-4D97-AF65-F5344CB8AC3E}">
        <p14:creationId xmlns:p14="http://schemas.microsoft.com/office/powerpoint/2010/main" val="33158132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"Out-of-band communication" (Giao tiếp ngoài băng)</a:t>
            </a:r>
            <a:endParaRPr lang="en-US" b="1" dirty="0"/>
          </a:p>
          <a:p>
            <a:endParaRPr lang="vi-VN" dirty="0"/>
          </a:p>
          <a:p>
            <a:r>
              <a:rPr lang="en-US" b="1" dirty="0"/>
              <a:t>1. </a:t>
            </a:r>
            <a:r>
              <a:rPr lang="vi-VN" b="1" dirty="0"/>
              <a:t>Vấn đề đặt ra</a:t>
            </a:r>
          </a:p>
          <a:p>
            <a:r>
              <a:rPr lang="vi-VN" b="1" dirty="0"/>
              <a:t>Có thể nào ngắt quá trình xử lý của server khi nó đang hoặc sắp xử lý một yêu cầu dịch vụ không?</a:t>
            </a:r>
            <a:endParaRPr lang="vi-VN" dirty="0"/>
          </a:p>
          <a:p>
            <a:r>
              <a:rPr lang="vi-VN" dirty="0"/>
              <a:t>Thông thường, một server khi nhận yêu cầu từ client sẽ xử lý đến cùng. Nhưng trong một số trường hợp khẩn cấp (ví dụ: muốn hủy yêu cầu, thay đổi dữ liệu ưu tiên), </a:t>
            </a:r>
            <a:r>
              <a:rPr lang="vi-VN" b="1" dirty="0"/>
              <a:t>client cần một cách để gửi thông điệp "khẩn cấp"</a:t>
            </a:r>
            <a:r>
              <a:rPr lang="vi-VN" dirty="0"/>
              <a:t> đến server mà </a:t>
            </a:r>
            <a:r>
              <a:rPr lang="vi-VN" b="1" dirty="0"/>
              <a:t>không chờ xử lý xong yêu cầu ban đầu</a:t>
            </a:r>
            <a:r>
              <a:rPr lang="vi-VN" dirty="0"/>
              <a:t>.</a:t>
            </a:r>
          </a:p>
          <a:p>
            <a:endParaRPr lang="en-US" b="1" dirty="0"/>
          </a:p>
          <a:p>
            <a:r>
              <a:rPr lang="en-US" b="1" dirty="0"/>
              <a:t>2. </a:t>
            </a:r>
            <a:r>
              <a:rPr lang="vi-VN" b="1" dirty="0"/>
              <a:t>Giải pháp 1: Dùng cổng riêng cho dữ liệu khẩn cấp</a:t>
            </a:r>
          </a:p>
          <a:p>
            <a:pPr>
              <a:buFont typeface="Arial" panose="020B0604020202020204" pitchFamily="34" charset="0"/>
              <a:buChar char="•"/>
            </a:pPr>
            <a:r>
              <a:rPr lang="vi-VN" dirty="0"/>
              <a:t>Server mở </a:t>
            </a:r>
            <a:r>
              <a:rPr lang="vi-VN" b="1" dirty="0"/>
              <a:t>một cổng (port) phụ chuyên dùng để nhận thông điệp khẩn cấp</a:t>
            </a:r>
            <a:r>
              <a:rPr lang="vi-VN" dirty="0"/>
              <a:t>.</a:t>
            </a:r>
          </a:p>
          <a:p>
            <a:pPr>
              <a:buFont typeface="Arial" panose="020B0604020202020204" pitchFamily="34" charset="0"/>
              <a:buChar char="•"/>
            </a:pPr>
            <a:r>
              <a:rPr lang="vi-VN" dirty="0"/>
              <a:t>Có một </a:t>
            </a:r>
            <a:r>
              <a:rPr lang="vi-VN" b="1" dirty="0"/>
              <a:t>luồng (thread) hoặc tiến trình (process)</a:t>
            </a:r>
            <a:r>
              <a:rPr lang="vi-VN" dirty="0"/>
              <a:t> riêng chuyên lắng nghe cổng đó.</a:t>
            </a:r>
          </a:p>
          <a:p>
            <a:pPr>
              <a:buFont typeface="Arial" panose="020B0604020202020204" pitchFamily="34" charset="0"/>
              <a:buChar char="•"/>
            </a:pPr>
            <a:r>
              <a:rPr lang="vi-VN" dirty="0"/>
              <a:t>Khi có tin nhắn khẩn đến:</a:t>
            </a:r>
          </a:p>
          <a:p>
            <a:pPr marL="742950" lvl="1" indent="-285750">
              <a:buFont typeface="Arial" panose="020B0604020202020204" pitchFamily="34" charset="0"/>
              <a:buChar char="•"/>
            </a:pPr>
            <a:r>
              <a:rPr lang="vi-VN" dirty="0"/>
              <a:t>Server </a:t>
            </a:r>
            <a:r>
              <a:rPr lang="vi-VN" b="1" dirty="0"/>
              <a:t>tạm dừng yêu cầu hiện tại</a:t>
            </a:r>
            <a:r>
              <a:rPr lang="vi-VN" dirty="0"/>
              <a:t> (đặt "on hold").</a:t>
            </a:r>
          </a:p>
          <a:p>
            <a:pPr marL="742950" lvl="1" indent="-285750">
              <a:buFont typeface="Arial" panose="020B0604020202020204" pitchFamily="34" charset="0"/>
              <a:buChar char="•"/>
            </a:pPr>
            <a:r>
              <a:rPr lang="vi-VN" dirty="0"/>
              <a:t>Xử lý thông điệp khẩn → sau đó tiếp tục yêu cầu chính.</a:t>
            </a:r>
          </a:p>
          <a:p>
            <a:r>
              <a:rPr lang="vi-VN" b="1" dirty="0"/>
              <a:t>Yêu cầu:</a:t>
            </a:r>
            <a:r>
              <a:rPr lang="vi-VN" dirty="0"/>
              <a:t> Hệ điều hành phải hỗ trợ </a:t>
            </a:r>
            <a:r>
              <a:rPr lang="vi-VN" b="1" dirty="0"/>
              <a:t>lập lịch ưu tiên (priority-based scheduling)</a:t>
            </a:r>
            <a:r>
              <a:rPr lang="vi-VN" dirty="0"/>
              <a:t> để server biết xử lý cái nào trước.</a:t>
            </a:r>
          </a:p>
          <a:p>
            <a:endParaRPr lang="en-US" b="1" dirty="0"/>
          </a:p>
          <a:p>
            <a:r>
              <a:rPr lang="en-US" b="1" dirty="0"/>
              <a:t>3. </a:t>
            </a:r>
            <a:r>
              <a:rPr lang="vi-VN" b="1" dirty="0"/>
              <a:t>Giải pháp 2: Dùng tính năng của tầng vận chuyển (transport layer)</a:t>
            </a:r>
          </a:p>
          <a:p>
            <a:pPr>
              <a:buFont typeface="Arial" panose="020B0604020202020204" pitchFamily="34" charset="0"/>
              <a:buChar char="•"/>
            </a:pPr>
            <a:r>
              <a:rPr lang="vi-VN" dirty="0"/>
              <a:t>Ví dụ với </a:t>
            </a:r>
            <a:r>
              <a:rPr lang="vi-VN" b="1" dirty="0"/>
              <a:t>TCP</a:t>
            </a:r>
            <a:r>
              <a:rPr lang="vi-VN" dirty="0"/>
              <a:t>, nó có hỗ trợ </a:t>
            </a:r>
            <a:r>
              <a:rPr lang="vi-VN" b="1" dirty="0"/>
              <a:t>urgent data</a:t>
            </a:r>
            <a:r>
              <a:rPr lang="vi-VN" dirty="0"/>
              <a:t> (dữ liệu khẩn) </a:t>
            </a:r>
            <a:r>
              <a:rPr lang="vi-VN" b="1" dirty="0"/>
              <a:t>trên cùng một kết nối</a:t>
            </a:r>
            <a:r>
              <a:rPr lang="vi-VN" dirty="0"/>
              <a:t>.</a:t>
            </a:r>
          </a:p>
          <a:p>
            <a:pPr>
              <a:buFont typeface="Arial" panose="020B0604020202020204" pitchFamily="34" charset="0"/>
              <a:buChar char="•"/>
            </a:pPr>
            <a:r>
              <a:rPr lang="vi-VN" dirty="0"/>
              <a:t>Client có thể gửi thông điệp khẩn trong cùng kết nối mà không cần tạo một kết nối mới.</a:t>
            </a:r>
          </a:p>
          <a:p>
            <a:pPr>
              <a:buFont typeface="Arial" panose="020B0604020202020204" pitchFamily="34" charset="0"/>
              <a:buChar char="•"/>
            </a:pPr>
            <a:r>
              <a:rPr lang="vi-VN" dirty="0"/>
              <a:t>Server có thể </a:t>
            </a:r>
            <a:r>
              <a:rPr lang="vi-VN" b="1" dirty="0"/>
              <a:t>bắt được dữ liệu khẩn</a:t>
            </a:r>
            <a:r>
              <a:rPr lang="vi-VN" dirty="0"/>
              <a:t> nhờ vào </a:t>
            </a:r>
            <a:r>
              <a:rPr lang="vi-VN" b="1" dirty="0"/>
              <a:t>cơ chế tín hiệu của hệ điều hành (OS signaling)</a:t>
            </a:r>
            <a:r>
              <a:rPr lang="vi-VN" dirty="0"/>
              <a:t>.</a:t>
            </a:r>
          </a:p>
          <a:p>
            <a:endParaRPr lang="en-US" b="1" dirty="0"/>
          </a:p>
          <a:p>
            <a:r>
              <a:rPr lang="en-US" b="1" dirty="0"/>
              <a:t>4. </a:t>
            </a:r>
            <a:r>
              <a:rPr lang="vi-VN" b="1" dirty="0"/>
              <a:t>So sánh nhanh:</a:t>
            </a:r>
          </a:p>
          <a:p>
            <a:r>
              <a:rPr lang="vi-VN" dirty="0"/>
              <a:t>Giải pháp</a:t>
            </a:r>
            <a:r>
              <a:rPr lang="en-US" dirty="0"/>
              <a:t>		</a:t>
            </a:r>
            <a:r>
              <a:rPr lang="vi-VN" dirty="0"/>
              <a:t>Ưu điểm</a:t>
            </a:r>
            <a:r>
              <a:rPr lang="en-US" dirty="0"/>
              <a:t>			</a:t>
            </a:r>
            <a:r>
              <a:rPr lang="vi-VN" dirty="0"/>
              <a:t>Nhược điểm</a:t>
            </a:r>
            <a:endParaRPr lang="en-US" dirty="0"/>
          </a:p>
          <a:p>
            <a:r>
              <a:rPr lang="vi-VN" b="1" dirty="0"/>
              <a:t>Cổng riêng</a:t>
            </a:r>
            <a:r>
              <a:rPr lang="en-US" b="1" dirty="0"/>
              <a:t>		</a:t>
            </a:r>
            <a:r>
              <a:rPr lang="vi-VN" dirty="0"/>
              <a:t>Phân tách rõ ràng dữ liệu thường và khẩn</a:t>
            </a:r>
            <a:r>
              <a:rPr lang="en-US" dirty="0"/>
              <a:t>	</a:t>
            </a:r>
            <a:r>
              <a:rPr lang="vi-VN" dirty="0"/>
              <a:t>Tốn thêm luồng/port và phức tạp hơn</a:t>
            </a:r>
            <a:endParaRPr lang="en-US" dirty="0"/>
          </a:p>
          <a:p>
            <a:r>
              <a:rPr lang="vi-VN" b="1" dirty="0"/>
              <a:t>Urgent trong TCP</a:t>
            </a:r>
            <a:r>
              <a:rPr lang="en-US" b="1" dirty="0"/>
              <a:t>	</a:t>
            </a:r>
            <a:r>
              <a:rPr lang="vi-VN" dirty="0"/>
              <a:t>Không cần thêm port hay luồng</a:t>
            </a:r>
            <a:r>
              <a:rPr lang="en-US" dirty="0"/>
              <a:t>	</a:t>
            </a:r>
            <a:r>
              <a:rPr lang="vi-VN" dirty="0"/>
              <a:t>Phụ thuộc vào TCP và OS hỗ trợ</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40</a:t>
            </a:fld>
            <a:endParaRPr lang="en-US"/>
          </a:p>
        </p:txBody>
      </p:sp>
    </p:spTree>
    <p:extLst>
      <p:ext uri="{BB962C8B-B14F-4D97-AF65-F5344CB8AC3E}">
        <p14:creationId xmlns:p14="http://schemas.microsoft.com/office/powerpoint/2010/main" val="52307374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"Servers and State" (Máy chủ và trạng thái)</a:t>
            </a:r>
            <a:endParaRPr lang="en-US" b="1" dirty="0"/>
          </a:p>
          <a:p>
            <a:endParaRPr lang="vi-VN" dirty="0"/>
          </a:p>
          <a:p>
            <a:r>
              <a:rPr lang="vi-VN" b="1" dirty="0"/>
              <a:t>Chủ đề chính: Stateless Servers – Máy chủ không trạng thái</a:t>
            </a:r>
          </a:p>
          <a:p>
            <a:r>
              <a:rPr lang="en-US" b="1" dirty="0"/>
              <a:t>- </a:t>
            </a:r>
            <a:r>
              <a:rPr lang="vi-VN" b="1" dirty="0"/>
              <a:t>Stateless Server là gì?</a:t>
            </a:r>
          </a:p>
          <a:p>
            <a:r>
              <a:rPr lang="en-US" dirty="0"/>
              <a:t>	</a:t>
            </a:r>
            <a:r>
              <a:rPr lang="vi-VN" dirty="0"/>
              <a:t>Là loại </a:t>
            </a:r>
            <a:r>
              <a:rPr lang="vi-VN" b="1" dirty="0"/>
              <a:t>server không lưu trữ thông tin</a:t>
            </a:r>
            <a:r>
              <a:rPr lang="vi-VN" dirty="0"/>
              <a:t> nào về </a:t>
            </a:r>
            <a:r>
              <a:rPr lang="vi-VN" b="1" dirty="0"/>
              <a:t>trạng thái (state)</a:t>
            </a:r>
            <a:r>
              <a:rPr lang="vi-VN" dirty="0"/>
              <a:t> của client </a:t>
            </a:r>
            <a:r>
              <a:rPr lang="vi-VN" b="1" dirty="0"/>
              <a:t>sau khi đã xử lý xong một yêu cầu</a:t>
            </a:r>
            <a:r>
              <a:rPr lang="vi-VN" dirty="0"/>
              <a:t>.</a:t>
            </a:r>
          </a:p>
          <a:p>
            <a:r>
              <a:rPr lang="en-US" b="1" dirty="0"/>
              <a:t>- </a:t>
            </a:r>
            <a:r>
              <a:rPr lang="vi-VN" b="1" dirty="0"/>
              <a:t>Đặc điểm chính:</a:t>
            </a:r>
          </a:p>
          <a:p>
            <a:pPr lvl="1">
              <a:buFont typeface="Arial" panose="020B0604020202020204" pitchFamily="34" charset="0"/>
              <a:buChar char="•"/>
            </a:pPr>
            <a:r>
              <a:rPr lang="en-US" dirty="0"/>
              <a:t> </a:t>
            </a:r>
            <a:r>
              <a:rPr lang="vi-VN" dirty="0"/>
              <a:t>Không nhớ file đã mở → </a:t>
            </a:r>
            <a:r>
              <a:rPr lang="vi-VN" b="1" dirty="0"/>
              <a:t>mở file, đọc/ghi xong thì đóng ngay</a:t>
            </a:r>
            <a:r>
              <a:rPr lang="vi-VN" dirty="0"/>
              <a:t>.</a:t>
            </a:r>
          </a:p>
          <a:p>
            <a:pPr lvl="1">
              <a:buFont typeface="Arial" panose="020B0604020202020204" pitchFamily="34" charset="0"/>
              <a:buChar char="•"/>
            </a:pPr>
            <a:r>
              <a:rPr lang="en-US" dirty="0"/>
              <a:t> </a:t>
            </a:r>
            <a:r>
              <a:rPr lang="vi-VN" dirty="0"/>
              <a:t>Không hứa sẽ </a:t>
            </a:r>
            <a:r>
              <a:rPr lang="vi-VN" b="1" dirty="0"/>
              <a:t>thông báo cho client khi dữ liệu trong cache thay đổi</a:t>
            </a:r>
            <a:r>
              <a:rPr lang="vi-VN" dirty="0"/>
              <a:t>.</a:t>
            </a:r>
          </a:p>
          <a:p>
            <a:pPr lvl="1">
              <a:buFont typeface="Arial" panose="020B0604020202020204" pitchFamily="34" charset="0"/>
              <a:buChar char="•"/>
            </a:pPr>
            <a:r>
              <a:rPr lang="en-US" dirty="0"/>
              <a:t> </a:t>
            </a:r>
            <a:r>
              <a:rPr lang="vi-VN" dirty="0"/>
              <a:t>Không lưu danh sách ai là client đang kết nối.</a:t>
            </a:r>
          </a:p>
          <a:p>
            <a:r>
              <a:rPr lang="en-US" b="1" dirty="0"/>
              <a:t>- </a:t>
            </a:r>
            <a:r>
              <a:rPr lang="vi-VN" b="1" dirty="0"/>
              <a:t>Hệ quả (Consequences):</a:t>
            </a:r>
          </a:p>
          <a:p>
            <a:r>
              <a:rPr lang="vi-VN" dirty="0"/>
              <a:t>Ưu điểm</a:t>
            </a:r>
            <a:r>
              <a:rPr lang="en-US" dirty="0"/>
              <a:t>			</a:t>
            </a:r>
            <a:r>
              <a:rPr lang="vi-VN" dirty="0"/>
              <a:t>Giải thích</a:t>
            </a:r>
            <a:endParaRPr lang="en-US" dirty="0"/>
          </a:p>
          <a:p>
            <a:r>
              <a:rPr lang="vi-VN" b="1" dirty="0"/>
              <a:t>Client và server độc lập hoàn toàn</a:t>
            </a:r>
            <a:r>
              <a:rPr lang="en-US" b="1" dirty="0"/>
              <a:t>	</a:t>
            </a:r>
            <a:r>
              <a:rPr lang="vi-VN" dirty="0"/>
              <a:t>Không cần phụ thuộc vào nhau lâu dài</a:t>
            </a:r>
            <a:endParaRPr lang="en-US" dirty="0"/>
          </a:p>
          <a:p>
            <a:r>
              <a:rPr lang="vi-VN" b="1" dirty="0"/>
              <a:t>Giảm xung đột trạng thái</a:t>
            </a:r>
            <a:r>
              <a:rPr lang="en-US" b="1" dirty="0"/>
              <a:t>		</a:t>
            </a:r>
            <a:r>
              <a:rPr lang="vi-VN" dirty="0"/>
              <a:t>Nếu client hoặc server bị </a:t>
            </a:r>
            <a:r>
              <a:rPr lang="vi-VN" b="1" dirty="0"/>
              <a:t>crash</a:t>
            </a:r>
            <a:r>
              <a:rPr lang="vi-VN" dirty="0"/>
              <a:t>, không ảnh hưởng đến bên còn lại</a:t>
            </a:r>
            <a:endParaRPr lang="en-US" dirty="0"/>
          </a:p>
          <a:p>
            <a:r>
              <a:rPr lang="vi-VN" b="1" dirty="0"/>
              <a:t>Phục hồi dễ hơn sau lỗi hệ thống</a:t>
            </a:r>
            <a:r>
              <a:rPr lang="en-US" b="1" dirty="0"/>
              <a:t>	</a:t>
            </a:r>
            <a:r>
              <a:rPr lang="vi-VN" dirty="0"/>
              <a:t>Vì không có "trạng thái" để khôi phục hoặc đồng bộ lại</a:t>
            </a:r>
          </a:p>
          <a:p>
            <a:r>
              <a:rPr lang="en-US" b="1" dirty="0"/>
              <a:t>- </a:t>
            </a:r>
            <a:r>
              <a:rPr lang="vi-VN" b="1" dirty="0"/>
              <a:t>Nhược điểm:</a:t>
            </a:r>
          </a:p>
          <a:p>
            <a:pPr>
              <a:buFont typeface="Arial" panose="020B0604020202020204" pitchFamily="34" charset="0"/>
              <a:buChar char="•"/>
            </a:pPr>
            <a:r>
              <a:rPr lang="vi-VN" dirty="0"/>
              <a:t>Có thể </a:t>
            </a:r>
            <a:r>
              <a:rPr lang="vi-VN" b="1" dirty="0"/>
              <a:t>giảm hiệu năng</a:t>
            </a:r>
            <a:r>
              <a:rPr lang="vi-VN" dirty="0"/>
              <a:t> vì:</a:t>
            </a:r>
          </a:p>
          <a:p>
            <a:pPr marL="742950" lvl="1" indent="-285750">
              <a:buFont typeface="Arial" panose="020B0604020202020204" pitchFamily="34" charset="0"/>
              <a:buChar char="•"/>
            </a:pPr>
            <a:r>
              <a:rPr lang="vi-VN" dirty="0"/>
              <a:t>Server </a:t>
            </a:r>
            <a:r>
              <a:rPr lang="vi-VN" b="1" dirty="0"/>
              <a:t>không thể dự đoán hành vi client</a:t>
            </a:r>
            <a:r>
              <a:rPr lang="vi-VN" dirty="0"/>
              <a:t> (ví dụ: không thể prefetch các block dữ liệu vì không biết client sẽ làm gì tiếp theo).</a:t>
            </a:r>
          </a:p>
          <a:p>
            <a:pPr marL="742950" lvl="1" indent="-285750">
              <a:buFont typeface="Arial" panose="020B0604020202020204" pitchFamily="34" charset="0"/>
              <a:buChar char="•"/>
            </a:pPr>
            <a:r>
              <a:rPr lang="vi-VN" dirty="0"/>
              <a:t>Mỗi yêu cầu phải </a:t>
            </a:r>
            <a:r>
              <a:rPr lang="vi-VN" b="1" dirty="0"/>
              <a:t>làm lại mọi thứ từ đầu</a:t>
            </a:r>
            <a:r>
              <a:rPr lang="vi-VN" dirty="0"/>
              <a:t> (mở file, xác thực, v.v.).</a:t>
            </a:r>
          </a:p>
          <a:p>
            <a:r>
              <a:rPr lang="en-US" b="1" dirty="0"/>
              <a:t>- </a:t>
            </a:r>
            <a:r>
              <a:rPr lang="vi-VN" b="1" dirty="0"/>
              <a:t>Câu hỏi đặt ra:</a:t>
            </a:r>
          </a:p>
          <a:p>
            <a:r>
              <a:rPr lang="vi-VN" b="1" dirty="0"/>
              <a:t>Liệu giao tiếp dạng kết nối (connection-oriented, như TCP) có phù hợp với thiết kế stateless không?</a:t>
            </a:r>
            <a:endParaRPr lang="vi-VN" dirty="0"/>
          </a:p>
          <a:p>
            <a:r>
              <a:rPr lang="vi-VN" b="1" dirty="0"/>
              <a:t>→ Câu trả lời là: Không hoàn toàn.</a:t>
            </a:r>
            <a:endParaRPr lang="vi-VN" dirty="0"/>
          </a:p>
          <a:p>
            <a:pPr>
              <a:buFont typeface="Arial" panose="020B0604020202020204" pitchFamily="34" charset="0"/>
              <a:buChar char="•"/>
            </a:pPr>
            <a:r>
              <a:rPr lang="vi-VN" dirty="0"/>
              <a:t>Giao tiếp có kết nối </a:t>
            </a:r>
            <a:r>
              <a:rPr lang="vi-VN" b="1" dirty="0"/>
              <a:t>ngụ ý rằng server giữ một số thông tin về client trong suốt phiên kết nối</a:t>
            </a:r>
            <a:r>
              <a:rPr lang="vi-VN" dirty="0"/>
              <a:t> (ví dụ: địa chỉ, trạng thái gói tin, thứ tự…).</a:t>
            </a:r>
          </a:p>
          <a:p>
            <a:pPr>
              <a:buFont typeface="Arial" panose="020B0604020202020204" pitchFamily="34" charset="0"/>
              <a:buChar char="•"/>
            </a:pPr>
            <a:r>
              <a:rPr lang="vi-VN" dirty="0"/>
              <a:t>Điều này </a:t>
            </a:r>
            <a:r>
              <a:rPr lang="vi-VN" b="1" dirty="0"/>
              <a:t>mâu thuẫn với bản chất stateless</a:t>
            </a:r>
            <a:r>
              <a:rPr lang="vi-VN" dirty="0"/>
              <a:t>, nơi mọi yêu cầu nên độc lập, không cần nhớ gì trước đó.</a:t>
            </a:r>
          </a:p>
          <a:p>
            <a:endParaRPr lang="en-US" dirty="0"/>
          </a:p>
          <a:p>
            <a:r>
              <a:rPr lang="vi-VN" b="1" dirty="0"/>
              <a:t>Tóm lại:</a:t>
            </a:r>
            <a:r>
              <a:rPr lang="vi-VN" dirty="0"/>
              <a:t> </a:t>
            </a:r>
            <a:r>
              <a:rPr lang="vi-VN" b="1" dirty="0"/>
              <a:t>Stateless server</a:t>
            </a:r>
            <a:r>
              <a:rPr lang="vi-VN" dirty="0"/>
              <a:t> phù hợp hơn với các </a:t>
            </a:r>
            <a:r>
              <a:rPr lang="vi-VN" b="1" dirty="0"/>
              <a:t>giao thức không kết nối</a:t>
            </a:r>
            <a:r>
              <a:rPr lang="vi-VN" dirty="0"/>
              <a:t> như </a:t>
            </a:r>
            <a:r>
              <a:rPr lang="vi-VN" b="1" dirty="0"/>
              <a:t>UDP</a:t>
            </a:r>
            <a:r>
              <a:rPr lang="vi-VN" dirty="0"/>
              <a:t>. Nếu dùng TCP, ta sẽ cần thiết kế rất cẩn thận để vẫn giữ được tính "không trạng thái".</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43</a:t>
            </a:fld>
            <a:endParaRPr lang="en-US"/>
          </a:p>
        </p:txBody>
      </p:sp>
    </p:spTree>
    <p:extLst>
      <p:ext uri="{BB962C8B-B14F-4D97-AF65-F5344CB8AC3E}">
        <p14:creationId xmlns:p14="http://schemas.microsoft.com/office/powerpoint/2010/main" val="410385811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"Servers and State – Stateful Servers" (Máy chủ có trạng thái)</a:t>
            </a:r>
            <a:endParaRPr lang="vi-VN" dirty="0"/>
          </a:p>
          <a:p>
            <a:r>
              <a:rPr lang="vi-VN" b="1" dirty="0"/>
              <a:t>Chủ đề chính: Stateful Servers – Máy chủ có trạng thái</a:t>
            </a:r>
          </a:p>
          <a:p>
            <a:endParaRPr lang="en-US" b="1" dirty="0"/>
          </a:p>
          <a:p>
            <a:r>
              <a:rPr lang="en-US" b="1" dirty="0"/>
              <a:t>1. </a:t>
            </a:r>
            <a:r>
              <a:rPr lang="vi-VN" b="1" dirty="0"/>
              <a:t>Stateful Server là gì?</a:t>
            </a:r>
          </a:p>
          <a:p>
            <a:r>
              <a:rPr lang="vi-VN" dirty="0"/>
              <a:t>Là loại </a:t>
            </a:r>
            <a:r>
              <a:rPr lang="vi-VN" b="1" dirty="0"/>
              <a:t>server có ghi nhớ và lưu trữ thông tin về trạng thái của các client</a:t>
            </a:r>
            <a:r>
              <a:rPr lang="vi-VN" dirty="0"/>
              <a:t> – tức là </a:t>
            </a:r>
            <a:r>
              <a:rPr lang="vi-VN" b="1" dirty="0"/>
              <a:t>nó "nhớ" bạn là ai, đang làm gì</a:t>
            </a:r>
            <a:r>
              <a:rPr lang="vi-VN" dirty="0"/>
              <a:t> trong suốt phiên làm việc.</a:t>
            </a:r>
          </a:p>
          <a:p>
            <a:endParaRPr lang="en-US" b="1" dirty="0"/>
          </a:p>
          <a:p>
            <a:r>
              <a:rPr lang="en-US" b="1" dirty="0"/>
              <a:t>2. </a:t>
            </a:r>
            <a:r>
              <a:rPr lang="vi-VN" b="1" dirty="0"/>
              <a:t>Các ví dụ về việc giữ trạng thái:</a:t>
            </a:r>
          </a:p>
          <a:p>
            <a:pPr>
              <a:buFont typeface="Arial" panose="020B0604020202020204" pitchFamily="34" charset="0"/>
              <a:buChar char="•"/>
            </a:pPr>
            <a:r>
              <a:rPr lang="en-US" dirty="0"/>
              <a:t> </a:t>
            </a:r>
            <a:r>
              <a:rPr lang="vi-VN" dirty="0"/>
              <a:t>Ghi nhớ rằng </a:t>
            </a:r>
            <a:r>
              <a:rPr lang="vi-VN" b="1" dirty="0"/>
              <a:t>client đã mở file nào</a:t>
            </a:r>
            <a:r>
              <a:rPr lang="vi-VN" dirty="0"/>
              <a:t> → cho phép </a:t>
            </a:r>
            <a:r>
              <a:rPr lang="vi-VN" b="1" dirty="0"/>
              <a:t>prefetch</a:t>
            </a:r>
            <a:r>
              <a:rPr lang="vi-VN" dirty="0"/>
              <a:t> (tải sẵn block dữ liệu tiếp theo).</a:t>
            </a:r>
          </a:p>
          <a:p>
            <a:pPr>
              <a:buFont typeface="Arial" panose="020B0604020202020204" pitchFamily="34" charset="0"/>
              <a:buChar char="•"/>
            </a:pPr>
            <a:r>
              <a:rPr lang="en-US" dirty="0"/>
              <a:t> </a:t>
            </a:r>
            <a:r>
              <a:rPr lang="vi-VN" dirty="0"/>
              <a:t>Biết được </a:t>
            </a:r>
            <a:r>
              <a:rPr lang="vi-VN" b="1" dirty="0"/>
              <a:t>client đã cache dữ liệu gì</a:t>
            </a:r>
            <a:r>
              <a:rPr lang="vi-VN" dirty="0"/>
              <a:t> → tránh gửi lại, hoặc </a:t>
            </a:r>
            <a:r>
              <a:rPr lang="vi-VN" b="1" dirty="0"/>
              <a:t>cho phép client dùng dữ liệu cục bộ</a:t>
            </a:r>
            <a:r>
              <a:rPr lang="vi-VN" dirty="0"/>
              <a:t> nếu không thay đổi.</a:t>
            </a:r>
          </a:p>
          <a:p>
            <a:endParaRPr lang="en-US" b="1" dirty="0"/>
          </a:p>
          <a:p>
            <a:r>
              <a:rPr lang="en-US" b="1" dirty="0"/>
              <a:t>3. </a:t>
            </a:r>
            <a:r>
              <a:rPr lang="vi-VN" b="1" dirty="0"/>
              <a:t>Quan sát chính (Observation):</a:t>
            </a:r>
          </a:p>
          <a:p>
            <a:r>
              <a:rPr lang="en-US" dirty="0"/>
              <a:t>=&gt; </a:t>
            </a:r>
            <a:r>
              <a:rPr lang="vi-VN" dirty="0"/>
              <a:t>Nếu được thiết kế tốt, </a:t>
            </a:r>
            <a:r>
              <a:rPr lang="vi-VN" b="1" dirty="0"/>
              <a:t>Stateful Server có thể đạt hiệu suất rất cao</a:t>
            </a:r>
            <a:r>
              <a:rPr lang="vi-VN" dirty="0"/>
              <a:t>.</a:t>
            </a:r>
          </a:p>
          <a:p>
            <a:r>
              <a:rPr lang="vi-VN" b="1" dirty="0"/>
              <a:t>Lý do:</a:t>
            </a:r>
          </a:p>
          <a:p>
            <a:pPr>
              <a:buFont typeface="Arial" panose="020B0604020202020204" pitchFamily="34" charset="0"/>
              <a:buChar char="•"/>
            </a:pPr>
            <a:r>
              <a:rPr lang="vi-VN" dirty="0"/>
              <a:t>Vì server </a:t>
            </a:r>
            <a:r>
              <a:rPr lang="vi-VN" b="1" dirty="0"/>
              <a:t>biết client đang làm gì</a:t>
            </a:r>
            <a:r>
              <a:rPr lang="vi-VN" dirty="0"/>
              <a:t>, nên có thể:</a:t>
            </a:r>
          </a:p>
          <a:p>
            <a:pPr marL="742950" lvl="1" indent="-285750">
              <a:buFont typeface="Arial" panose="020B0604020202020204" pitchFamily="34" charset="0"/>
              <a:buChar char="•"/>
            </a:pPr>
            <a:r>
              <a:rPr lang="vi-VN" dirty="0"/>
              <a:t>Gửi đúng dữ liệu cần thiết, tránh dư thừa.</a:t>
            </a:r>
          </a:p>
          <a:p>
            <a:pPr marL="742950" lvl="1" indent="-285750">
              <a:buFont typeface="Arial" panose="020B0604020202020204" pitchFamily="34" charset="0"/>
              <a:buChar char="•"/>
            </a:pPr>
            <a:r>
              <a:rPr lang="vi-VN" dirty="0"/>
              <a:t>Hỗ trợ cache và prefetch một cách thông minh.</a:t>
            </a:r>
          </a:p>
          <a:p>
            <a:pPr>
              <a:buFont typeface="Arial" panose="020B0604020202020204" pitchFamily="34" charset="0"/>
              <a:buChar char="•"/>
            </a:pPr>
            <a:r>
              <a:rPr lang="vi-VN" dirty="0"/>
              <a:t>Giảm độ trễ vì không phải "bắt đầu lại từ đầu" mỗi lần gửi yêu cầu.</a:t>
            </a:r>
          </a:p>
          <a:p>
            <a:endParaRPr lang="en-US" b="1" dirty="0"/>
          </a:p>
          <a:p>
            <a:r>
              <a:rPr lang="en-US" b="1" dirty="0"/>
              <a:t>4. </a:t>
            </a:r>
            <a:r>
              <a:rPr lang="vi-VN" b="1" dirty="0"/>
              <a:t>Về độ tin cậy (Reliability):</a:t>
            </a:r>
          </a:p>
          <a:p>
            <a:r>
              <a:rPr lang="vi-VN" dirty="0"/>
              <a:t>Mặc dù trước đây người ta cho rằng máy chủ có trạng thái </a:t>
            </a:r>
            <a:r>
              <a:rPr lang="vi-VN" b="1" dirty="0"/>
              <a:t>dễ bị lỗi và khó phục hồi</a:t>
            </a:r>
            <a:r>
              <a:rPr lang="vi-VN" dirty="0"/>
              <a:t>, nhưng ngày nay:</a:t>
            </a:r>
          </a:p>
          <a:p>
            <a:pPr>
              <a:buFont typeface="Arial" panose="020B0604020202020204" pitchFamily="34" charset="0"/>
              <a:buChar char="•"/>
            </a:pPr>
            <a:r>
              <a:rPr lang="vi-VN" b="1" dirty="0"/>
              <a:t>Độ tin cậy không còn là vấn đề lớn</a:t>
            </a:r>
            <a:r>
              <a:rPr lang="vi-VN" dirty="0"/>
              <a:t> nhờ:</a:t>
            </a:r>
          </a:p>
          <a:p>
            <a:pPr marL="742950" lvl="1" indent="-285750">
              <a:buFont typeface="Arial" panose="020B0604020202020204" pitchFamily="34" charset="0"/>
              <a:buChar char="•"/>
            </a:pPr>
            <a:r>
              <a:rPr lang="vi-VN" dirty="0"/>
              <a:t>Cơ chế </a:t>
            </a:r>
            <a:r>
              <a:rPr lang="vi-VN" b="1" dirty="0"/>
              <a:t>timeout, khôi phục trạng thái</a:t>
            </a:r>
            <a:r>
              <a:rPr lang="vi-VN" dirty="0"/>
              <a:t>, </a:t>
            </a:r>
            <a:r>
              <a:rPr lang="vi-VN" b="1" dirty="0"/>
              <a:t>log phục hồi</a:t>
            </a:r>
            <a:r>
              <a:rPr lang="vi-VN" dirty="0"/>
              <a:t>,…</a:t>
            </a:r>
          </a:p>
          <a:p>
            <a:pPr marL="742950" lvl="1" indent="-285750">
              <a:buFont typeface="Arial" panose="020B0604020202020204" pitchFamily="34" charset="0"/>
              <a:buChar char="•"/>
            </a:pPr>
            <a:r>
              <a:rPr lang="vi-VN" dirty="0"/>
              <a:t>Công nghệ mới giúp </a:t>
            </a:r>
            <a:r>
              <a:rPr lang="vi-VN" b="1" dirty="0"/>
              <a:t>hạn chế lỗi mạng hoặc crash gây mất đồng bộ</a:t>
            </a:r>
            <a:r>
              <a:rPr lang="vi-VN" dirty="0"/>
              <a:t>.</a:t>
            </a:r>
          </a:p>
          <a:p>
            <a:endParaRPr lang="en-US" b="1" dirty="0"/>
          </a:p>
          <a:p>
            <a:r>
              <a:rPr lang="en-US" b="1" dirty="0"/>
              <a:t>5. </a:t>
            </a:r>
            <a:r>
              <a:rPr lang="vi-VN" b="1" dirty="0"/>
              <a:t>So sánh nhanh:</a:t>
            </a:r>
          </a:p>
          <a:p>
            <a:r>
              <a:rPr lang="vi-VN" dirty="0"/>
              <a:t>Tiêu chí</a:t>
            </a:r>
            <a:r>
              <a:rPr lang="en-US" dirty="0"/>
              <a:t>		</a:t>
            </a:r>
            <a:r>
              <a:rPr lang="vi-VN" dirty="0"/>
              <a:t>Stateless Server</a:t>
            </a:r>
            <a:r>
              <a:rPr lang="en-US" dirty="0"/>
              <a:t>		</a:t>
            </a:r>
            <a:r>
              <a:rPr lang="vi-VN" dirty="0"/>
              <a:t>Stateful Server</a:t>
            </a:r>
            <a:endParaRPr lang="en-US" dirty="0"/>
          </a:p>
          <a:p>
            <a:r>
              <a:rPr lang="vi-VN" dirty="0"/>
              <a:t>Lưu trạng thái client</a:t>
            </a:r>
            <a:r>
              <a:rPr lang="en-US" dirty="0"/>
              <a:t>	</a:t>
            </a:r>
            <a:r>
              <a:rPr lang="vi-VN" dirty="0"/>
              <a:t>Không</a:t>
            </a:r>
            <a:r>
              <a:rPr lang="en-US" dirty="0"/>
              <a:t>			</a:t>
            </a:r>
            <a:r>
              <a:rPr lang="vi-VN" dirty="0"/>
              <a:t>Có</a:t>
            </a:r>
            <a:endParaRPr lang="en-US" dirty="0"/>
          </a:p>
          <a:p>
            <a:r>
              <a:rPr lang="vi-VN" dirty="0"/>
              <a:t>Độc lập client-server</a:t>
            </a:r>
            <a:r>
              <a:rPr lang="en-US" dirty="0"/>
              <a:t>	</a:t>
            </a:r>
            <a:r>
              <a:rPr lang="vi-VN" dirty="0"/>
              <a:t>Có</a:t>
            </a:r>
            <a:r>
              <a:rPr lang="en-US" dirty="0"/>
              <a:t>			</a:t>
            </a:r>
            <a:r>
              <a:rPr lang="vi-VN" dirty="0"/>
              <a:t>Không hoàn toàn</a:t>
            </a:r>
            <a:endParaRPr lang="en-US" dirty="0"/>
          </a:p>
          <a:p>
            <a:r>
              <a:rPr lang="vi-VN" dirty="0"/>
              <a:t>Dễ xử lý lỗi</a:t>
            </a:r>
            <a:r>
              <a:rPr lang="en-US" dirty="0"/>
              <a:t>		</a:t>
            </a:r>
            <a:r>
              <a:rPr lang="vi-VN" dirty="0"/>
              <a:t>Dễ hơn</a:t>
            </a:r>
            <a:r>
              <a:rPr lang="en-US" dirty="0"/>
              <a:t>			</a:t>
            </a:r>
            <a:r>
              <a:rPr lang="vi-VN" dirty="0"/>
              <a:t>Phức tạp hơn</a:t>
            </a:r>
            <a:endParaRPr lang="en-US" dirty="0"/>
          </a:p>
          <a:p>
            <a:r>
              <a:rPr lang="vi-VN" dirty="0"/>
              <a:t>Hiệu suất</a:t>
            </a:r>
            <a:r>
              <a:rPr lang="en-US" dirty="0"/>
              <a:t>		</a:t>
            </a:r>
            <a:r>
              <a:rPr lang="vi-VN" dirty="0"/>
              <a:t>Có thể thấp hơn</a:t>
            </a:r>
            <a:r>
              <a:rPr lang="en-US" dirty="0"/>
              <a:t>		</a:t>
            </a:r>
            <a:r>
              <a:rPr lang="vi-VN" dirty="0"/>
              <a:t>Có thể rất cao</a:t>
            </a:r>
            <a:endParaRPr lang="en-US" dirty="0"/>
          </a:p>
          <a:p>
            <a:r>
              <a:rPr lang="vi-VN" dirty="0"/>
              <a:t>Ví dụ phổ biến</a:t>
            </a:r>
            <a:r>
              <a:rPr lang="en-US" dirty="0"/>
              <a:t>		</a:t>
            </a:r>
            <a:r>
              <a:rPr lang="vi-VN" dirty="0"/>
              <a:t>HTTP, DNS</a:t>
            </a:r>
            <a:r>
              <a:rPr lang="en-US" dirty="0"/>
              <a:t>			</a:t>
            </a:r>
            <a:r>
              <a:rPr lang="vi-VN" dirty="0"/>
              <a:t>FTP, Database servers</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45</a:t>
            </a:fld>
            <a:endParaRPr lang="en-US"/>
          </a:p>
        </p:txBody>
      </p:sp>
    </p:spTree>
    <p:extLst>
      <p:ext uri="{BB962C8B-B14F-4D97-AF65-F5344CB8AC3E}">
        <p14:creationId xmlns:p14="http://schemas.microsoft.com/office/powerpoint/2010/main" val="216838359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Cụm máy chủ (Server clusters)</a:t>
            </a:r>
          </a:p>
          <a:p>
            <a:r>
              <a:rPr lang="vi-VN" dirty="0"/>
              <a:t>Trong Chương 1, chúng ta đã đề cập ngắn gọn đến </a:t>
            </a:r>
            <a:r>
              <a:rPr lang="vi-VN" b="1" dirty="0"/>
              <a:t>tính toán cụm (cluster computing)</a:t>
            </a:r>
            <a:r>
              <a:rPr lang="vi-VN" dirty="0"/>
              <a:t> như một trong nhiều hình thái của hệ thống phân tán. Bây giờ, chúng ta sẽ đi sâu hơn vào </a:t>
            </a:r>
            <a:r>
              <a:rPr lang="vi-VN" b="1" dirty="0"/>
              <a:t>tổ chức của các cụm máy chủ</a:t>
            </a:r>
            <a:r>
              <a:rPr lang="vi-VN" dirty="0"/>
              <a:t>, cùng với các vấn đề thiết kế quan trọng. Trước tiên, chúng ta sẽ xem xét </a:t>
            </a:r>
            <a:r>
              <a:rPr lang="vi-VN" b="1" dirty="0"/>
              <a:t>các cụm máy chủ thông thường được tổ chức trong mạng cục bộ (LAN)</a:t>
            </a:r>
            <a:r>
              <a:rPr lang="vi-VN" dirty="0"/>
              <a:t>. Một nhóm đặc biệt là </a:t>
            </a:r>
            <a:r>
              <a:rPr lang="vi-VN" b="1" dirty="0"/>
              <a:t>các cụm máy chủ diện rộng (wide-area clusters)</a:t>
            </a:r>
            <a:r>
              <a:rPr lang="vi-VN" dirty="0"/>
              <a:t>, mà chúng ta sẽ thảo luận sau.</a:t>
            </a:r>
          </a:p>
          <a:p>
            <a:endParaRPr lang="en-US" b="1" dirty="0"/>
          </a:p>
          <a:p>
            <a:r>
              <a:rPr lang="vi-VN" b="1" dirty="0"/>
              <a:t>Cụm máy chủ trong mạng cục bộ (Local-area clusters)</a:t>
            </a:r>
          </a:p>
          <a:p>
            <a:r>
              <a:rPr lang="vi-VN" dirty="0"/>
              <a:t>Nói một cách đơn giản, </a:t>
            </a:r>
            <a:r>
              <a:rPr lang="vi-VN" b="1" dirty="0"/>
              <a:t>cụm máy chủ</a:t>
            </a:r>
            <a:r>
              <a:rPr lang="vi-VN" dirty="0"/>
              <a:t> không gì khác ngoài </a:t>
            </a:r>
            <a:r>
              <a:rPr lang="vi-VN" b="1" dirty="0"/>
              <a:t>một tập hợp các máy tính được kết nối với nhau qua mạng</a:t>
            </a:r>
            <a:r>
              <a:rPr lang="vi-VN" dirty="0"/>
              <a:t>, trong đó </a:t>
            </a:r>
            <a:r>
              <a:rPr lang="vi-VN" b="1" dirty="0"/>
              <a:t>mỗi máy chạy một hoặc nhiều máy chủ (servers)</a:t>
            </a:r>
            <a:r>
              <a:rPr lang="vi-VN" dirty="0"/>
              <a:t>. Những cụm máy chủ mà chúng ta đề cập ở đây là những hệ thống mà các máy được kết nối thông qua </a:t>
            </a:r>
            <a:r>
              <a:rPr lang="vi-VN" b="1" dirty="0"/>
              <a:t>mạng cục bộ (LAN)</a:t>
            </a:r>
            <a:r>
              <a:rPr lang="vi-VN" dirty="0"/>
              <a:t> – thường cung cấp </a:t>
            </a:r>
            <a:r>
              <a:rPr lang="vi-VN" b="1" dirty="0"/>
              <a:t>băng thông cao và độ trễ thấp</a:t>
            </a:r>
            <a:r>
              <a:rPr lang="vi-VN" dirty="0"/>
              <a:t>.</a:t>
            </a:r>
          </a:p>
          <a:p>
            <a:endParaRPr lang="en-US" b="1" dirty="0"/>
          </a:p>
          <a:p>
            <a:r>
              <a:rPr lang="vi-VN" b="1" dirty="0"/>
              <a:t>Tổ chức tổng quát</a:t>
            </a:r>
          </a:p>
          <a:p>
            <a:r>
              <a:rPr lang="vi-VN" dirty="0"/>
              <a:t>Trong nhiều trường hợp, </a:t>
            </a:r>
            <a:r>
              <a:rPr lang="vi-VN" b="1" dirty="0"/>
              <a:t>cụm máy chủ được tổ chức hợp lý theo kiến trúc ba tầng</a:t>
            </a:r>
            <a:r>
              <a:rPr lang="vi-VN" dirty="0"/>
              <a:t>, như minh họa trong:</a:t>
            </a:r>
          </a:p>
          <a:p>
            <a:pPr>
              <a:buFont typeface="+mj-lt"/>
              <a:buAutoNum type="arabicPeriod"/>
            </a:pPr>
            <a:r>
              <a:rPr lang="vi-VN" b="1" dirty="0"/>
              <a:t>Tầng thứ nhất</a:t>
            </a:r>
            <a:r>
              <a:rPr lang="vi-VN" dirty="0"/>
              <a:t> là </a:t>
            </a:r>
            <a:r>
              <a:rPr lang="vi-VN" b="1" dirty="0"/>
              <a:t>bộ chuyển mạch logic (logical switch)</a:t>
            </a:r>
            <a:r>
              <a:rPr lang="vi-VN" dirty="0"/>
              <a:t>, nơi các yêu cầu từ client được định tuyến.</a:t>
            </a:r>
          </a:p>
          <a:p>
            <a:pPr marL="457200" lvl="1" indent="0">
              <a:buFont typeface="+mj-lt"/>
              <a:buNone/>
            </a:pPr>
            <a:r>
              <a:rPr lang="en-US" dirty="0"/>
              <a:t>- </a:t>
            </a:r>
            <a:r>
              <a:rPr lang="vi-VN" dirty="0"/>
              <a:t>Bộ chuyển mạch này có thể rất đa dạng.</a:t>
            </a:r>
          </a:p>
          <a:p>
            <a:pPr marL="457200" lvl="1" indent="0">
              <a:buFont typeface="+mj-lt"/>
              <a:buNone/>
            </a:pPr>
            <a:r>
              <a:rPr lang="en-US" dirty="0"/>
              <a:t>- </a:t>
            </a:r>
            <a:r>
              <a:rPr lang="vi-VN" dirty="0"/>
              <a:t>Ví dụ: một </a:t>
            </a:r>
            <a:r>
              <a:rPr lang="vi-VN" b="1" dirty="0"/>
              <a:t>bộ chuyển mạch tầng giao vận (transport-layer switch)</a:t>
            </a:r>
            <a:r>
              <a:rPr lang="vi-VN" dirty="0"/>
              <a:t> sẽ nhận các kết nối TCP đến và chuyển tiếp đến một trong các máy chủ trong cụm.</a:t>
            </a:r>
          </a:p>
          <a:p>
            <a:pPr marL="457200" lvl="1" indent="0">
              <a:buFont typeface="+mj-lt"/>
              <a:buNone/>
            </a:pPr>
            <a:r>
              <a:rPr lang="en-US" dirty="0"/>
              <a:t>- </a:t>
            </a:r>
            <a:r>
              <a:rPr lang="vi-VN" dirty="0"/>
              <a:t>Một ví dụ hoàn toàn khác là </a:t>
            </a:r>
            <a:r>
              <a:rPr lang="vi-VN" b="1" dirty="0"/>
              <a:t>máy chủ Web (Web server)</a:t>
            </a:r>
            <a:r>
              <a:rPr lang="vi-VN" dirty="0"/>
              <a:t> nhận các yêu cầu HTTP đến, chuyển một phần sang </a:t>
            </a:r>
            <a:r>
              <a:rPr lang="vi-VN" b="1" dirty="0"/>
              <a:t>các máy chủ ứng dụng (application servers)</a:t>
            </a:r>
            <a:r>
              <a:rPr lang="vi-VN" dirty="0"/>
              <a:t> để xử lý tiếp, sau đó tổng hợp kết quả và trả lại phản hồi HTTP.</a:t>
            </a:r>
          </a:p>
          <a:p>
            <a:pPr>
              <a:buFont typeface="+mj-lt"/>
              <a:buAutoNum type="arabicPeriod"/>
            </a:pPr>
            <a:r>
              <a:rPr lang="vi-VN" b="1" dirty="0"/>
              <a:t>Tầng thứ hai</a:t>
            </a:r>
            <a:r>
              <a:rPr lang="vi-VN" dirty="0"/>
              <a:t> là </a:t>
            </a:r>
            <a:r>
              <a:rPr lang="vi-VN" b="1" dirty="0"/>
              <a:t>các máy chủ ứng dụng</a:t>
            </a:r>
            <a:r>
              <a:rPr lang="vi-VN" dirty="0"/>
              <a:t>, xử lý logic nghiệp vụ.</a:t>
            </a:r>
          </a:p>
          <a:p>
            <a:pPr marL="457200" lvl="1" indent="0">
              <a:buFont typeface="+mj-lt"/>
              <a:buNone/>
            </a:pPr>
            <a:r>
              <a:rPr lang="en-US" dirty="0"/>
              <a:t>- </a:t>
            </a:r>
            <a:r>
              <a:rPr lang="vi-VN" dirty="0"/>
              <a:t>Trong môi trường tính toán cụm (cluster computing), đây thường là các máy chủ được </a:t>
            </a:r>
            <a:r>
              <a:rPr lang="vi-VN" b="1" dirty="0"/>
              <a:t>trang bị phần cứng hiệu năng cao</a:t>
            </a:r>
            <a:r>
              <a:rPr lang="vi-VN" dirty="0"/>
              <a:t> để phục vụ việc tính toán.</a:t>
            </a:r>
          </a:p>
          <a:p>
            <a:pPr marL="457200" lvl="1" indent="0">
              <a:buFont typeface="+mj-lt"/>
              <a:buNone/>
            </a:pPr>
            <a:r>
              <a:rPr lang="en-US" dirty="0"/>
              <a:t>- </a:t>
            </a:r>
            <a:r>
              <a:rPr lang="vi-VN" dirty="0"/>
              <a:t>Tuy nhiên, trong các cụm máy chủ doanh nghiệp (enterprise clusters), </a:t>
            </a:r>
            <a:r>
              <a:rPr lang="vi-VN" b="1" dirty="0"/>
              <a:t>ứng dụng có thể chỉ cần chạy trên các máy cấu hình vừa phải</a:t>
            </a:r>
            <a:r>
              <a:rPr lang="vi-VN" dirty="0"/>
              <a:t>, vì </a:t>
            </a:r>
            <a:r>
              <a:rPr lang="vi-VN" b="1" dirty="0"/>
              <a:t>tính toán không phải là nút thắt</a:t>
            </a:r>
            <a:r>
              <a:rPr lang="vi-VN" dirty="0"/>
              <a:t>, mà có thể là </a:t>
            </a:r>
            <a:r>
              <a:rPr lang="vi-VN" b="1" dirty="0"/>
              <a:t>truy cập bộ nhớ hay ổ đĩa</a:t>
            </a:r>
            <a:r>
              <a:rPr lang="vi-VN" dirty="0"/>
              <a:t>.</a:t>
            </a:r>
          </a:p>
          <a:p>
            <a:pPr>
              <a:buFont typeface="+mj-lt"/>
              <a:buAutoNum type="arabicPeriod"/>
            </a:pPr>
            <a:r>
              <a:rPr lang="vi-VN" b="1" dirty="0"/>
              <a:t>Tầng thứ ba</a:t>
            </a:r>
            <a:r>
              <a:rPr lang="vi-VN" dirty="0"/>
              <a:t> là </a:t>
            </a:r>
            <a:r>
              <a:rPr lang="vi-VN" b="1" dirty="0"/>
              <a:t>các máy chủ xử lý dữ liệu</a:t>
            </a:r>
            <a:r>
              <a:rPr lang="vi-VN" dirty="0"/>
              <a:t>, đặc biệt là </a:t>
            </a:r>
            <a:r>
              <a:rPr lang="vi-VN" b="1" dirty="0"/>
              <a:t>file server và database server</a:t>
            </a:r>
            <a:r>
              <a:rPr lang="vi-VN" dirty="0"/>
              <a:t>.</a:t>
            </a:r>
          </a:p>
          <a:p>
            <a:pPr marL="457200" lvl="1" indent="0">
              <a:buFont typeface="+mj-lt"/>
              <a:buNone/>
            </a:pPr>
            <a:r>
              <a:rPr lang="en-US" dirty="0"/>
              <a:t>- </a:t>
            </a:r>
            <a:r>
              <a:rPr lang="vi-VN" dirty="0"/>
              <a:t>Tùy thuộc vào mục đích sử dụng của cụm máy chủ, các máy chủ này có thể chạy trên </a:t>
            </a:r>
            <a:r>
              <a:rPr lang="vi-VN" b="1" dirty="0"/>
              <a:t>máy chuyên biệt</a:t>
            </a:r>
            <a:r>
              <a:rPr lang="vi-VN" dirty="0"/>
              <a:t>, được cấu hình để truy cập </a:t>
            </a:r>
            <a:r>
              <a:rPr lang="vi-VN" b="1" dirty="0"/>
              <a:t>đĩa tốc độ cao</a:t>
            </a:r>
            <a:r>
              <a:rPr lang="vi-VN" dirty="0"/>
              <a:t> và có </a:t>
            </a:r>
            <a:r>
              <a:rPr lang="vi-VN" b="1" dirty="0"/>
              <a:t>bộ nhớ đệm dữ liệu lớn (data cache)</a:t>
            </a:r>
            <a:r>
              <a:rPr lang="vi-VN" dirty="0"/>
              <a:t> ở phía server.</a:t>
            </a:r>
          </a:p>
          <a:p>
            <a:endParaRPr lang="en-US" dirty="0"/>
          </a:p>
          <a:p>
            <a:r>
              <a:rPr lang="vi-VN" dirty="0"/>
              <a:t>Tất nhiên, </a:t>
            </a:r>
            <a:r>
              <a:rPr lang="vi-VN" b="1" dirty="0"/>
              <a:t>không phải cụm máy chủ nào cũng tuân theo kiến trúc ba tầng một cách nghiêm ngặt</a:t>
            </a:r>
            <a:r>
              <a:rPr lang="vi-VN" dirty="0"/>
              <a:t>. Trong nhiều trường hợp:</a:t>
            </a:r>
          </a:p>
          <a:p>
            <a:pPr>
              <a:buFont typeface="Arial" panose="020B0604020202020204" pitchFamily="34" charset="0"/>
              <a:buChar char="•"/>
            </a:pPr>
            <a:r>
              <a:rPr lang="vi-VN" dirty="0"/>
              <a:t>Mỗi máy có thể được trang bị </a:t>
            </a:r>
            <a:r>
              <a:rPr lang="vi-VN" b="1" dirty="0"/>
              <a:t>lưu trữ cục bộ riêng</a:t>
            </a:r>
            <a:r>
              <a:rPr lang="vi-VN" dirty="0"/>
              <a:t>.</a:t>
            </a:r>
          </a:p>
          <a:p>
            <a:pPr>
              <a:buFont typeface="Arial" panose="020B0604020202020204" pitchFamily="34" charset="0"/>
              <a:buChar char="•"/>
            </a:pPr>
            <a:r>
              <a:rPr lang="vi-VN" dirty="0"/>
              <a:t>Có thể tích hợp </a:t>
            </a:r>
            <a:r>
              <a:rPr lang="vi-VN" b="1" dirty="0"/>
              <a:t>xử lý ứng dụng và dữ liệu trong cùng một máy</a:t>
            </a:r>
            <a:r>
              <a:rPr lang="vi-VN" dirty="0"/>
              <a:t>, dẫn đến </a:t>
            </a:r>
            <a:r>
              <a:rPr lang="vi-VN" b="1" dirty="0"/>
              <a:t>kiến trúc hai tầng (two-tier architecture)</a:t>
            </a:r>
            <a:r>
              <a:rPr lang="vi-VN" dirty="0"/>
              <a:t>.</a:t>
            </a:r>
          </a:p>
          <a:p>
            <a:r>
              <a:rPr lang="vi-VN" dirty="0"/>
              <a:t>Ví dụ: Khi xử lý </a:t>
            </a:r>
            <a:r>
              <a:rPr lang="vi-VN" b="1" dirty="0"/>
              <a:t>streaming media (phát trực tuyến)</a:t>
            </a:r>
            <a:r>
              <a:rPr lang="vi-VN" dirty="0"/>
              <a:t> bằng cụm máy chủ, người ta thường triển khai kiến trúc hai tầng, trong đó </a:t>
            </a:r>
            <a:r>
              <a:rPr lang="vi-VN" b="1" dirty="0"/>
              <a:t>mỗi máy hoạt động như một máy chủ media chuyên biệt</a:t>
            </a:r>
            <a:r>
              <a:rPr lang="vi-VN" dirty="0"/>
              <a:t> [Steinmetz và Nahrstedt, 2004].</a:t>
            </a:r>
          </a:p>
          <a:p>
            <a:endParaRPr lang="en-US" dirty="0"/>
          </a:p>
          <a:p>
            <a:r>
              <a:rPr lang="vi-VN" dirty="0"/>
              <a:t>Khi </a:t>
            </a:r>
            <a:r>
              <a:rPr lang="vi-VN" b="1" dirty="0"/>
              <a:t>cụm máy chủ cung cấp nhiều dịch vụ</a:t>
            </a:r>
            <a:r>
              <a:rPr lang="vi-VN" dirty="0"/>
              <a:t>, có thể xảy ra tình huống </a:t>
            </a:r>
            <a:r>
              <a:rPr lang="vi-VN" b="1" dirty="0"/>
              <a:t>các máy khác nhau chạy các ứng dụng khác nhau</a:t>
            </a:r>
            <a:r>
              <a:rPr lang="vi-VN" dirty="0"/>
              <a:t>. Kết quả là:</a:t>
            </a:r>
          </a:p>
          <a:p>
            <a:pPr>
              <a:buFont typeface="Arial" panose="020B0604020202020204" pitchFamily="34" charset="0"/>
              <a:buChar char="•"/>
            </a:pPr>
            <a:r>
              <a:rPr lang="vi-VN" dirty="0"/>
              <a:t>Bộ chuyển mạch phải có khả năng </a:t>
            </a:r>
            <a:r>
              <a:rPr lang="vi-VN" b="1" dirty="0"/>
              <a:t>phân biệt các dịch vụ</a:t>
            </a:r>
            <a:r>
              <a:rPr lang="vi-VN" dirty="0"/>
              <a:t>, nếu không sẽ không thể chuyển đúng yêu cầu đến đúng máy.</a:t>
            </a:r>
          </a:p>
          <a:p>
            <a:pPr>
              <a:buFont typeface="Arial" panose="020B0604020202020204" pitchFamily="34" charset="0"/>
              <a:buChar char="•"/>
            </a:pPr>
            <a:r>
              <a:rPr lang="vi-VN" dirty="0"/>
              <a:t>Có thể một số máy bị </a:t>
            </a:r>
            <a:r>
              <a:rPr lang="vi-VN" b="1" dirty="0"/>
              <a:t>quá tải</a:t>
            </a:r>
            <a:r>
              <a:rPr lang="vi-VN" dirty="0"/>
              <a:t>, trong khi </a:t>
            </a:r>
            <a:r>
              <a:rPr lang="vi-VN" b="1" dirty="0"/>
              <a:t>máy khác lại đang nhàn rỗi</a:t>
            </a:r>
            <a:r>
              <a:rPr lang="vi-VN" dirty="0"/>
              <a:t>.</a:t>
            </a:r>
          </a:p>
          <a:p>
            <a:r>
              <a:rPr lang="vi-VN" dirty="0"/>
              <a:t>Giải pháp hiệu quả là </a:t>
            </a:r>
            <a:r>
              <a:rPr lang="vi-VN" b="1" dirty="0"/>
              <a:t>di chuyển tạm thời dịch vụ sang các máy đang rảnh</a:t>
            </a:r>
            <a:r>
              <a:rPr lang="vi-VN" dirty="0"/>
              <a:t>. Điều này có thể đạt được bằng cách sử dụng </a:t>
            </a:r>
            <a:r>
              <a:rPr lang="vi-VN" b="1" dirty="0"/>
              <a:t>máy ảo (virtual machines)</a:t>
            </a:r>
            <a:r>
              <a:rPr lang="vi-VN" dirty="0"/>
              <a:t>, cho phép </a:t>
            </a:r>
            <a:r>
              <a:rPr lang="vi-VN" b="1" dirty="0"/>
              <a:t>di chuyển mã và dịch vụ dễ dàng</a:t>
            </a:r>
            <a:r>
              <a:rPr lang="vi-VN" dirty="0"/>
              <a:t> giữa các máy thực.</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46</a:t>
            </a:fld>
            <a:endParaRPr lang="en-US"/>
          </a:p>
        </p:txBody>
      </p:sp>
    </p:spTree>
    <p:extLst>
      <p:ext uri="{BB962C8B-B14F-4D97-AF65-F5344CB8AC3E}">
        <p14:creationId xmlns:p14="http://schemas.microsoft.com/office/powerpoint/2010/main" val="27286761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Request Handling</a:t>
            </a:r>
            <a:r>
              <a:rPr lang="en-US" b="1" dirty="0"/>
              <a:t> – </a:t>
            </a:r>
            <a:r>
              <a:rPr lang="en-US" b="1" dirty="0" err="1"/>
              <a:t>Xử</a:t>
            </a:r>
            <a:r>
              <a:rPr lang="en-US" b="1" dirty="0"/>
              <a:t> </a:t>
            </a:r>
            <a:r>
              <a:rPr lang="en-US" b="1" dirty="0" err="1"/>
              <a:t>lý</a:t>
            </a:r>
            <a:r>
              <a:rPr lang="en-US" b="1" dirty="0"/>
              <a:t> request</a:t>
            </a:r>
            <a:endParaRPr lang="vi-VN" dirty="0"/>
          </a:p>
          <a:p>
            <a:endParaRPr lang="vi-VN" b="1" dirty="0"/>
          </a:p>
          <a:p>
            <a:r>
              <a:rPr lang="vi-VN" b="1" dirty="0"/>
              <a:t>Nhận định:</a:t>
            </a:r>
            <a:r>
              <a:rPr lang="vi-VN" dirty="0"/>
              <a:t> Nếu </a:t>
            </a:r>
            <a:r>
              <a:rPr lang="vi-VN" b="1" dirty="0"/>
              <a:t>tầng đầu tiên (first tier)</a:t>
            </a:r>
            <a:r>
              <a:rPr lang="vi-VN" dirty="0"/>
              <a:t> của cụm máy chủ phải xử lý </a:t>
            </a:r>
            <a:r>
              <a:rPr lang="vi-VN" b="1" dirty="0"/>
              <a:t>toàn bộ giao tiếp</a:t>
            </a:r>
            <a:r>
              <a:rPr lang="vi-VN" dirty="0"/>
              <a:t> giữa client và cụm (bao gồm cả nhận request và trả lời response), thì </a:t>
            </a:r>
            <a:r>
              <a:rPr lang="vi-VN" b="1" dirty="0"/>
              <a:t>nó có thể trở thành nút thắt cổ chai (bottleneck)</a:t>
            </a:r>
            <a:r>
              <a:rPr lang="vi-VN" dirty="0"/>
              <a:t>.</a:t>
            </a:r>
          </a:p>
          <a:p>
            <a:pPr>
              <a:buFont typeface="Arial" panose="020B0604020202020204" pitchFamily="34" charset="0"/>
              <a:buChar char="•"/>
            </a:pPr>
            <a:r>
              <a:rPr lang="vi-VN" dirty="0"/>
              <a:t>Vì sao?</a:t>
            </a:r>
          </a:p>
          <a:p>
            <a:pPr marL="742950" lvl="1" indent="-285750">
              <a:buFont typeface="Arial" panose="020B0604020202020204" pitchFamily="34" charset="0"/>
              <a:buChar char="•"/>
            </a:pPr>
            <a:r>
              <a:rPr lang="vi-VN" dirty="0"/>
              <a:t>Tầng đầu (thường là một load balancer hoặc transport switch) phải duy trì </a:t>
            </a:r>
            <a:r>
              <a:rPr lang="vi-VN" b="1" dirty="0"/>
              <a:t>kết nối TCP</a:t>
            </a:r>
            <a:r>
              <a:rPr lang="vi-VN" dirty="0"/>
              <a:t> với client suốt phiên làm việc.</a:t>
            </a:r>
          </a:p>
          <a:p>
            <a:pPr marL="742950" lvl="1" indent="-285750">
              <a:buFont typeface="Arial" panose="020B0604020202020204" pitchFamily="34" charset="0"/>
              <a:buChar char="•"/>
            </a:pPr>
            <a:r>
              <a:rPr lang="vi-VN" dirty="0"/>
              <a:t>Khi số lượng request tăng cao, nó có thể bị quá tải vì </a:t>
            </a:r>
            <a:r>
              <a:rPr lang="vi-VN" b="1" dirty="0"/>
              <a:t>phải chuyển tiếp tất cả dữ liệu</a:t>
            </a:r>
            <a:r>
              <a:rPr lang="vi-VN" dirty="0"/>
              <a:t> giữa client và backend server.</a:t>
            </a:r>
          </a:p>
          <a:p>
            <a:pPr marL="742950" lvl="1" indent="-285750">
              <a:buFont typeface="Arial" panose="020B0604020202020204" pitchFamily="34" charset="0"/>
              <a:buChar char="•"/>
            </a:pPr>
            <a:r>
              <a:rPr lang="vi-VN" dirty="0"/>
              <a:t>Điều này làm </a:t>
            </a:r>
            <a:r>
              <a:rPr lang="vi-VN" b="1" dirty="0"/>
              <a:t>giảm hiệu năng</a:t>
            </a:r>
            <a:r>
              <a:rPr lang="vi-VN" dirty="0"/>
              <a:t> của cả cụm.</a:t>
            </a:r>
          </a:p>
          <a:p>
            <a:endParaRPr lang="en-US" b="1" dirty="0"/>
          </a:p>
          <a:p>
            <a:r>
              <a:rPr lang="vi-VN" b="1" dirty="0"/>
              <a:t>A solution: TCP handoff</a:t>
            </a:r>
          </a:p>
          <a:p>
            <a:r>
              <a:rPr lang="en-US" b="1" dirty="0"/>
              <a:t>G</a:t>
            </a:r>
            <a:r>
              <a:rPr lang="vi-VN" b="1" dirty="0"/>
              <a:t>iải pháp:</a:t>
            </a:r>
            <a:r>
              <a:rPr lang="vi-VN" dirty="0"/>
              <a:t> </a:t>
            </a:r>
            <a:r>
              <a:rPr lang="vi-VN" b="1" dirty="0"/>
              <a:t>Chuyển giao kết nối TCP (TCP handoff)</a:t>
            </a:r>
            <a:endParaRPr lang="vi-VN" dirty="0"/>
          </a:p>
          <a:p>
            <a:r>
              <a:rPr lang="vi-VN" b="1" dirty="0"/>
              <a:t>TCP handoff</a:t>
            </a:r>
            <a:r>
              <a:rPr lang="vi-VN" dirty="0"/>
              <a:t> là kỹ thuật trong đó:</a:t>
            </a:r>
          </a:p>
          <a:p>
            <a:pPr lvl="1">
              <a:buFont typeface="Arial" panose="020B0604020202020204" pitchFamily="34" charset="0"/>
              <a:buChar char="•"/>
            </a:pPr>
            <a:r>
              <a:rPr lang="vi-VN" dirty="0"/>
              <a:t>Tầng đầu (ví dụ: load balancer) </a:t>
            </a:r>
            <a:r>
              <a:rPr lang="vi-VN" b="1" dirty="0"/>
              <a:t>chỉ xử lý phần đầu của kết nối</a:t>
            </a:r>
            <a:r>
              <a:rPr lang="vi-VN" dirty="0"/>
              <a:t>, như xác định máy chủ backend phù hợp để xử lý request.</a:t>
            </a:r>
          </a:p>
          <a:p>
            <a:pPr lvl="1">
              <a:buFont typeface="Arial" panose="020B0604020202020204" pitchFamily="34" charset="0"/>
              <a:buChar char="•"/>
            </a:pPr>
            <a:r>
              <a:rPr lang="vi-VN" dirty="0"/>
              <a:t>Sau đó, </a:t>
            </a:r>
            <a:r>
              <a:rPr lang="vi-VN" b="1" dirty="0"/>
              <a:t>toàn bộ kết nối TCP được chuyển giao</a:t>
            </a:r>
            <a:r>
              <a:rPr lang="vi-VN" dirty="0"/>
              <a:t> (handoff) sang máy chủ backend.</a:t>
            </a:r>
          </a:p>
          <a:p>
            <a:pPr lvl="1">
              <a:buFont typeface="Arial" panose="020B0604020202020204" pitchFamily="34" charset="0"/>
              <a:buChar char="•"/>
            </a:pPr>
            <a:r>
              <a:rPr lang="vi-VN" dirty="0"/>
              <a:t>Sau khi chuyển giao, client sẽ </a:t>
            </a:r>
            <a:r>
              <a:rPr lang="vi-VN" b="1" dirty="0"/>
              <a:t>giao tiếp trực tiếp với backend server</a:t>
            </a:r>
            <a:r>
              <a:rPr lang="vi-VN" dirty="0"/>
              <a:t>, </a:t>
            </a:r>
            <a:r>
              <a:rPr lang="vi-VN" b="1" dirty="0"/>
              <a:t>không qua tầng đầu nữa</a:t>
            </a:r>
            <a:r>
              <a:rPr lang="vi-VN" dirty="0"/>
              <a:t>.</a:t>
            </a:r>
          </a:p>
          <a:p>
            <a:r>
              <a:rPr lang="vi-VN" b="1" dirty="0"/>
              <a:t>Lợi ích của TCP handoff:</a:t>
            </a:r>
          </a:p>
          <a:p>
            <a:pPr lvl="1">
              <a:buFont typeface="Arial" panose="020B0604020202020204" pitchFamily="34" charset="0"/>
              <a:buChar char="•"/>
            </a:pPr>
            <a:r>
              <a:rPr lang="vi-VN" b="1" dirty="0"/>
              <a:t>Giảm tải cho tầng đầu</a:t>
            </a:r>
            <a:r>
              <a:rPr lang="vi-VN" dirty="0"/>
              <a:t>, tránh bottleneck.</a:t>
            </a:r>
          </a:p>
          <a:p>
            <a:pPr lvl="1">
              <a:buFont typeface="Arial" panose="020B0604020202020204" pitchFamily="34" charset="0"/>
              <a:buChar char="•"/>
            </a:pPr>
            <a:r>
              <a:rPr lang="vi-VN" b="1" dirty="0"/>
              <a:t>Tăng hiệu năng</a:t>
            </a:r>
            <a:r>
              <a:rPr lang="vi-VN" dirty="0"/>
              <a:t> của cụm máy chủ, vì dữ liệu không phải đi qua một node trung gian.</a:t>
            </a:r>
          </a:p>
          <a:p>
            <a:pPr lvl="1">
              <a:buFont typeface="Arial" panose="020B0604020202020204" pitchFamily="34" charset="0"/>
              <a:buChar char="•"/>
            </a:pPr>
            <a:r>
              <a:rPr lang="vi-VN" b="1" dirty="0"/>
              <a:t>Giữ được lợi ích load balancing</a:t>
            </a:r>
            <a:r>
              <a:rPr lang="vi-VN" dirty="0"/>
              <a:t>, nhưng không hy sinh throughput.</a:t>
            </a:r>
            <a:endParaRPr lang="en-US" dirty="0"/>
          </a:p>
          <a:p>
            <a:pPr lvl="1">
              <a:buFont typeface="Arial" panose="020B0604020202020204" pitchFamily="34" charset="0"/>
              <a:buNone/>
            </a:pPr>
            <a:endParaRPr lang="vi-VN" dirty="0"/>
          </a:p>
          <a:p>
            <a:r>
              <a:rPr lang="en-US" b="1" dirty="0" err="1"/>
              <a:t>Giải</a:t>
            </a:r>
            <a:r>
              <a:rPr lang="en-US" b="1" dirty="0"/>
              <a:t> </a:t>
            </a:r>
            <a:r>
              <a:rPr lang="en-US" b="1" dirty="0" err="1"/>
              <a:t>thích</a:t>
            </a:r>
            <a:r>
              <a:rPr lang="en-US" b="1" dirty="0"/>
              <a:t> </a:t>
            </a:r>
            <a:r>
              <a:rPr lang="en-US" b="1" dirty="0" err="1"/>
              <a:t>hình</a:t>
            </a:r>
            <a:r>
              <a:rPr lang="en-US" b="1" dirty="0"/>
              <a:t> </a:t>
            </a:r>
            <a:r>
              <a:rPr lang="en-US" b="1" dirty="0" err="1"/>
              <a:t>minh</a:t>
            </a:r>
            <a:r>
              <a:rPr lang="en-US" b="1" dirty="0"/>
              <a:t> </a:t>
            </a:r>
            <a:r>
              <a:rPr lang="en-US" b="1" dirty="0" err="1"/>
              <a:t>họa</a:t>
            </a:r>
            <a:r>
              <a:rPr lang="en-US" b="1" dirty="0"/>
              <a:t>:</a:t>
            </a:r>
          </a:p>
          <a:p>
            <a:r>
              <a:rPr lang="vi-VN" dirty="0"/>
              <a:t>Khi </a:t>
            </a:r>
            <a:r>
              <a:rPr lang="vi-VN" b="1" dirty="0"/>
              <a:t>switch</a:t>
            </a:r>
            <a:r>
              <a:rPr lang="vi-VN" dirty="0"/>
              <a:t> (bộ chuyển mạch) nhận được một </a:t>
            </a:r>
            <a:r>
              <a:rPr lang="vi-VN" b="1" dirty="0"/>
              <a:t>yêu cầu kết nối TCP</a:t>
            </a:r>
            <a:r>
              <a:rPr lang="vi-VN" dirty="0"/>
              <a:t>, nó sẽ </a:t>
            </a:r>
            <a:r>
              <a:rPr lang="vi-VN" b="1" dirty="0"/>
              <a:t>xác định máy chủ phù hợp nhất</a:t>
            </a:r>
            <a:r>
              <a:rPr lang="vi-VN" dirty="0"/>
              <a:t> để xử lý yêu cầu đó, sau đó </a:t>
            </a:r>
            <a:r>
              <a:rPr lang="vi-VN" b="1" dirty="0"/>
              <a:t>chuyển tiếp gói tin yêu cầu</a:t>
            </a:r>
            <a:r>
              <a:rPr lang="vi-VN" dirty="0"/>
              <a:t> đến máy chủ được chọn.</a:t>
            </a:r>
          </a:p>
          <a:p>
            <a:r>
              <a:rPr lang="vi-VN" dirty="0"/>
              <a:t>Máy chủ này sẽ </a:t>
            </a:r>
            <a:r>
              <a:rPr lang="vi-VN" b="1" dirty="0"/>
              <a:t>gửi lại một gói tin xác nhận (acknowledgment)</a:t>
            </a:r>
            <a:r>
              <a:rPr lang="vi-VN" dirty="0"/>
              <a:t> đến client đã gửi yêu cầu, </a:t>
            </a:r>
            <a:r>
              <a:rPr lang="vi-VN" b="1" dirty="0"/>
              <a:t>nhưng sử dụng địa chỉ IP của switch</a:t>
            </a:r>
            <a:r>
              <a:rPr lang="vi-VN" dirty="0"/>
              <a:t> làm </a:t>
            </a:r>
            <a:r>
              <a:rPr lang="vi-VN" b="1" dirty="0"/>
              <a:t>địa chỉ nguồn (source field)</a:t>
            </a:r>
            <a:r>
              <a:rPr lang="vi-VN" dirty="0"/>
              <a:t> trong phần đầu (header) của gói IP chứa đoạn TCP đó.</a:t>
            </a:r>
          </a:p>
          <a:p>
            <a:r>
              <a:rPr lang="vi-VN" dirty="0"/>
              <a:t>Lưu ý rằng việc </a:t>
            </a:r>
            <a:r>
              <a:rPr lang="vi-VN" b="1" dirty="0"/>
              <a:t>thay đổi địa chỉ IP này là cần thiết</a:t>
            </a:r>
            <a:r>
              <a:rPr lang="vi-VN" dirty="0"/>
              <a:t>, vì client </a:t>
            </a:r>
            <a:r>
              <a:rPr lang="vi-VN" b="1" dirty="0"/>
              <a:t>đang mong đợi phản hồi từ switch</a:t>
            </a:r>
            <a:r>
              <a:rPr lang="vi-VN" dirty="0"/>
              <a:t>, chứ </a:t>
            </a:r>
            <a:r>
              <a:rPr lang="vi-VN" b="1" dirty="0"/>
              <a:t>không phải từ một máy chủ bất kỳ nào đó mà nó chưa từng liên lạc trước đó</a:t>
            </a:r>
            <a:r>
              <a:rPr lang="vi-VN" dirty="0"/>
              <a:t>.</a:t>
            </a:r>
          </a:p>
          <a:p>
            <a:r>
              <a:rPr lang="vi-VN" dirty="0"/>
              <a:t>Rõ ràng, việc triển khai </a:t>
            </a:r>
            <a:r>
              <a:rPr lang="vi-VN" b="1" dirty="0"/>
              <a:t>TCP handoff</a:t>
            </a:r>
            <a:r>
              <a:rPr lang="vi-VN" dirty="0"/>
              <a:t> đòi hỏi </a:t>
            </a:r>
            <a:r>
              <a:rPr lang="vi-VN" b="1" dirty="0"/>
              <a:t>các thay đổi ở mức hệ điều hành</a:t>
            </a:r>
            <a:r>
              <a:rPr lang="vi-VN" dirty="0"/>
              <a:t>.</a:t>
            </a:r>
          </a:p>
          <a:p>
            <a:r>
              <a:rPr lang="vi-VN" dirty="0"/>
              <a:t>TCP handoff đặc biệt hiệu quả trong các trường hợp mà </a:t>
            </a:r>
            <a:r>
              <a:rPr lang="vi-VN" b="1" dirty="0"/>
              <a:t>phản hồi từ server có kích thước lớn hơn nhiều so với yêu cầu ban đầu</a:t>
            </a:r>
            <a:r>
              <a:rPr lang="vi-VN" dirty="0"/>
              <a:t>, ví dụ như trong các </a:t>
            </a:r>
            <a:r>
              <a:rPr lang="vi-VN" b="1" dirty="0"/>
              <a:t>máy chủ Web (Web servers)</a:t>
            </a:r>
            <a:r>
              <a:rPr lang="vi-VN" dirty="0"/>
              <a:t>.</a:t>
            </a:r>
          </a:p>
          <a:p>
            <a:endParaRPr lang="en-US" b="1" dirty="0"/>
          </a:p>
          <a:p>
            <a:endParaRPr lang="en-US" b="1" dirty="0"/>
          </a:p>
          <a:p>
            <a:r>
              <a:rPr lang="vi-VN" b="1" dirty="0"/>
              <a:t>Tóm lại</a:t>
            </a:r>
          </a:p>
          <a:p>
            <a:pPr lvl="1">
              <a:buFont typeface="Arial" panose="020B0604020202020204" pitchFamily="34" charset="0"/>
              <a:buChar char="•"/>
            </a:pPr>
            <a:r>
              <a:rPr lang="vi-VN" dirty="0"/>
              <a:t>Vấn đề: Nếu một điểm trong hệ thống xử lý quá nhiều (giao tiếp toàn bộ từ client), thì nó dễ bị nghẽn.</a:t>
            </a:r>
          </a:p>
          <a:p>
            <a:pPr lvl="1">
              <a:buFont typeface="Arial" panose="020B0604020202020204" pitchFamily="34" charset="0"/>
              <a:buChar char="•"/>
            </a:pPr>
            <a:r>
              <a:rPr lang="vi-VN" dirty="0"/>
              <a:t>Giải pháp: Dùng </a:t>
            </a:r>
            <a:r>
              <a:rPr lang="vi-VN" b="1" dirty="0"/>
              <a:t>TCP handoff</a:t>
            </a:r>
            <a:r>
              <a:rPr lang="vi-VN" dirty="0"/>
              <a:t> để tách giao tiếp khỏi tầng đầu ⇒ cải thiện hiệu năng và khả năng mở rộng.</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47</a:t>
            </a:fld>
            <a:endParaRPr lang="en-US"/>
          </a:p>
        </p:txBody>
      </p:sp>
    </p:spTree>
    <p:extLst>
      <p:ext uri="{BB962C8B-B14F-4D97-AF65-F5344CB8AC3E}">
        <p14:creationId xmlns:p14="http://schemas.microsoft.com/office/powerpoint/2010/main" val="267600305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"Server clusters"</a:t>
            </a:r>
            <a:r>
              <a:rPr lang="vi-VN" dirty="0"/>
              <a:t> </a:t>
            </a:r>
            <a:endParaRPr lang="en-US" dirty="0"/>
          </a:p>
          <a:p>
            <a:r>
              <a:rPr lang="en-US" dirty="0" err="1"/>
              <a:t>Thảo</a:t>
            </a:r>
            <a:r>
              <a:rPr lang="en-US" dirty="0"/>
              <a:t> </a:t>
            </a:r>
            <a:r>
              <a:rPr lang="en-US" dirty="0" err="1"/>
              <a:t>luận</a:t>
            </a:r>
            <a:r>
              <a:rPr lang="vi-VN" dirty="0"/>
              <a:t> </a:t>
            </a:r>
            <a:r>
              <a:rPr lang="vi-VN" b="1" dirty="0"/>
              <a:t>vai trò và thách thức của tầng front-end</a:t>
            </a:r>
            <a:r>
              <a:rPr lang="vi-VN" dirty="0"/>
              <a:t> trong một </a:t>
            </a:r>
            <a:r>
              <a:rPr lang="vi-VN" b="1" dirty="0"/>
              <a:t>cụm máy chủ (server cluster)</a:t>
            </a:r>
            <a:r>
              <a:rPr lang="vi-VN" dirty="0"/>
              <a:t>, và các </a:t>
            </a:r>
            <a:r>
              <a:rPr lang="vi-VN" b="1" dirty="0"/>
              <a:t>giải pháp để phân phối tải (load distribution)</a:t>
            </a:r>
            <a:r>
              <a:rPr lang="vi-VN" dirty="0"/>
              <a:t> hiệu quả.</a:t>
            </a:r>
            <a:endParaRPr lang="en-US" dirty="0"/>
          </a:p>
          <a:p>
            <a:endParaRPr lang="vi-VN" dirty="0"/>
          </a:p>
          <a:p>
            <a:r>
              <a:rPr lang="vi-VN" b="1" dirty="0"/>
              <a:t>Vấn đề chính</a:t>
            </a:r>
          </a:p>
          <a:p>
            <a:r>
              <a:rPr lang="en-US" b="1" dirty="0"/>
              <a:t>	</a:t>
            </a:r>
            <a:r>
              <a:rPr lang="vi-VN" b="1" dirty="0"/>
              <a:t>Front-end (tầng đầu)</a:t>
            </a:r>
            <a:r>
              <a:rPr lang="vi-VN" dirty="0"/>
              <a:t> là nơi </a:t>
            </a:r>
            <a:r>
              <a:rPr lang="vi-VN" b="1" dirty="0"/>
              <a:t>tiếp nhận tất cả các yêu cầu từ client</a:t>
            </a:r>
            <a:r>
              <a:rPr lang="vi-VN" dirty="0"/>
              <a:t> trước khi phân phối chúng đến các máy chủ phía sau. Khi có </a:t>
            </a:r>
            <a:r>
              <a:rPr lang="vi-VN" b="1" dirty="0"/>
              <a:t>nhiều yêu cầu đồng thời</a:t>
            </a:r>
            <a:r>
              <a:rPr lang="vi-VN" dirty="0"/>
              <a:t>, front-end </a:t>
            </a:r>
            <a:r>
              <a:rPr lang="vi-VN" b="1" dirty="0"/>
              <a:t>dễ bị quá tải</a:t>
            </a:r>
            <a:r>
              <a:rPr lang="vi-VN" dirty="0"/>
              <a:t>, gây ra độ trễ cao hoặc thậm chí sập hệ thống.</a:t>
            </a:r>
          </a:p>
          <a:p>
            <a:endParaRPr lang="en-US" b="1" dirty="0"/>
          </a:p>
          <a:p>
            <a:r>
              <a:rPr lang="vi-VN" b="1" dirty="0"/>
              <a:t>Hai giải pháp chính để phân phối tải:</a:t>
            </a:r>
          </a:p>
          <a:p>
            <a:endParaRPr lang="en-US" b="1" dirty="0"/>
          </a:p>
          <a:p>
            <a:r>
              <a:rPr lang="en-US" b="1" dirty="0"/>
              <a:t>1. </a:t>
            </a:r>
            <a:r>
              <a:rPr lang="vi-VN" b="1" dirty="0"/>
              <a:t>Transport-layer switching (Chuyển mạch ở tầng vận chuyển)</a:t>
            </a:r>
          </a:p>
          <a:p>
            <a:pPr>
              <a:buFont typeface="Arial" panose="020B0604020202020204" pitchFamily="34" charset="0"/>
              <a:buChar char="•"/>
            </a:pPr>
            <a:r>
              <a:rPr lang="vi-VN" dirty="0"/>
              <a:t>Front-end chỉ cần </a:t>
            </a:r>
            <a:r>
              <a:rPr lang="vi-VN" b="1" dirty="0"/>
              <a:t>xem xét thông tin ở tầng TCP</a:t>
            </a:r>
            <a:r>
              <a:rPr lang="vi-VN" dirty="0"/>
              <a:t> (ví dụ như địa chỉ IP, cổng, v.v.).</a:t>
            </a:r>
          </a:p>
          <a:p>
            <a:pPr>
              <a:buFont typeface="Arial" panose="020B0604020202020204" pitchFamily="34" charset="0"/>
              <a:buChar char="•"/>
            </a:pPr>
            <a:r>
              <a:rPr lang="vi-VN" dirty="0"/>
              <a:t>Sau đó, </a:t>
            </a:r>
            <a:r>
              <a:rPr lang="vi-VN" b="1" dirty="0"/>
              <a:t>chuyển tiếp yêu cầu TCP</a:t>
            </a:r>
            <a:r>
              <a:rPr lang="vi-VN" dirty="0"/>
              <a:t> đến một trong các máy chủ phía sau, </a:t>
            </a:r>
            <a:r>
              <a:rPr lang="vi-VN" b="1" dirty="0"/>
              <a:t>dựa trên một tiêu chí hiệu suất</a:t>
            </a:r>
            <a:r>
              <a:rPr lang="vi-VN" dirty="0"/>
              <a:t>, chẳng hạn như:</a:t>
            </a:r>
          </a:p>
          <a:p>
            <a:pPr marL="742950" lvl="1" indent="-285750">
              <a:buFont typeface="Arial" panose="020B0604020202020204" pitchFamily="34" charset="0"/>
              <a:buChar char="•"/>
            </a:pPr>
            <a:r>
              <a:rPr lang="vi-VN" dirty="0"/>
              <a:t>Tải CPU hiện tại</a:t>
            </a:r>
          </a:p>
          <a:p>
            <a:pPr marL="742950" lvl="1" indent="-285750">
              <a:buFont typeface="Arial" panose="020B0604020202020204" pitchFamily="34" charset="0"/>
              <a:buChar char="•"/>
            </a:pPr>
            <a:r>
              <a:rPr lang="vi-VN" dirty="0"/>
              <a:t>Số lượng kết nối đang xử lý</a:t>
            </a:r>
          </a:p>
          <a:p>
            <a:pPr>
              <a:buFont typeface="Arial" panose="020B0604020202020204" pitchFamily="34" charset="0"/>
              <a:buChar char="•"/>
            </a:pPr>
            <a:r>
              <a:rPr lang="vi-VN" dirty="0"/>
              <a:t>Ưu điểm: Nhanh, đơn giản, ít tốn tài nguyên</a:t>
            </a:r>
          </a:p>
          <a:p>
            <a:pPr>
              <a:buFont typeface="Arial" panose="020B0604020202020204" pitchFamily="34" charset="0"/>
              <a:buChar char="•"/>
            </a:pPr>
            <a:r>
              <a:rPr lang="vi-VN" dirty="0"/>
              <a:t>Nhược điểm: Không biết nội dung cụ thể của yêu cầu</a:t>
            </a:r>
          </a:p>
          <a:p>
            <a:endParaRPr lang="en-US" b="1" dirty="0"/>
          </a:p>
          <a:p>
            <a:r>
              <a:rPr lang="en-US" b="1" dirty="0"/>
              <a:t>2. </a:t>
            </a:r>
            <a:r>
              <a:rPr lang="vi-VN" b="1" dirty="0"/>
              <a:t>Content-aware distribution (Phân phối theo nội dung yêu cầu)</a:t>
            </a:r>
          </a:p>
          <a:p>
            <a:pPr>
              <a:buFont typeface="Arial" panose="020B0604020202020204" pitchFamily="34" charset="0"/>
              <a:buChar char="•"/>
            </a:pPr>
            <a:r>
              <a:rPr lang="vi-VN" dirty="0"/>
              <a:t>Front-end sẽ </a:t>
            </a:r>
            <a:r>
              <a:rPr lang="vi-VN" b="1" dirty="0"/>
              <a:t>đọc và phân tích nội dung của yêu cầu</a:t>
            </a:r>
            <a:r>
              <a:rPr lang="vi-VN" dirty="0"/>
              <a:t> (thường là tầng ứng dụng, ví dụ như HTTP request).</a:t>
            </a:r>
          </a:p>
          <a:p>
            <a:pPr>
              <a:buFont typeface="Arial" panose="020B0604020202020204" pitchFamily="34" charset="0"/>
              <a:buChar char="•"/>
            </a:pPr>
            <a:r>
              <a:rPr lang="vi-VN" dirty="0"/>
              <a:t>Sau đó, nó </a:t>
            </a:r>
            <a:r>
              <a:rPr lang="vi-VN" b="1" dirty="0"/>
              <a:t>chọn server phù hợp nhất</a:t>
            </a:r>
            <a:r>
              <a:rPr lang="vi-VN" dirty="0"/>
              <a:t>, ví dụ:</a:t>
            </a:r>
          </a:p>
          <a:p>
            <a:pPr marL="742950" lvl="1" indent="-285750">
              <a:buFont typeface="Arial" panose="020B0604020202020204" pitchFamily="34" charset="0"/>
              <a:buChar char="•"/>
            </a:pPr>
            <a:r>
              <a:rPr lang="vi-VN" dirty="0"/>
              <a:t>Dựa trên loại nội dung (video, ảnh, văn bản…)</a:t>
            </a:r>
          </a:p>
          <a:p>
            <a:pPr marL="742950" lvl="1" indent="-285750">
              <a:buFont typeface="Arial" panose="020B0604020202020204" pitchFamily="34" charset="0"/>
              <a:buChar char="•"/>
            </a:pPr>
            <a:r>
              <a:rPr lang="vi-VN" dirty="0"/>
              <a:t>Dựa trên dữ liệu đã được cache ở server nào</a:t>
            </a:r>
          </a:p>
          <a:p>
            <a:pPr>
              <a:buFont typeface="Arial" panose="020B0604020202020204" pitchFamily="34" charset="0"/>
              <a:buChar char="•"/>
            </a:pPr>
            <a:r>
              <a:rPr lang="vi-VN" dirty="0"/>
              <a:t>Ưu điểm: Chính xác hơn, tối ưu về tài nguyên và hiệu năng</a:t>
            </a:r>
          </a:p>
          <a:p>
            <a:pPr>
              <a:buFont typeface="Arial" panose="020B0604020202020204" pitchFamily="34" charset="0"/>
              <a:buChar char="•"/>
            </a:pPr>
            <a:r>
              <a:rPr lang="vi-VN" dirty="0"/>
              <a:t>Nhược điểm: Chậm hơn, tốn CPU và bộ nhớ vì phải đọc nội dung</a:t>
            </a:r>
          </a:p>
          <a:p>
            <a:endParaRPr lang="en-US" b="1" dirty="0"/>
          </a:p>
          <a:p>
            <a:r>
              <a:rPr lang="vi-VN" b="1" dirty="0"/>
              <a:t>Kết hợp cả hai giải pháp</a:t>
            </a:r>
          </a:p>
          <a:p>
            <a:pPr>
              <a:buFont typeface="Arial" panose="020B0604020202020204" pitchFamily="34" charset="0"/>
              <a:buChar char="•"/>
            </a:pPr>
            <a:r>
              <a:rPr lang="vi-VN" dirty="0"/>
              <a:t>Một thiết kế mạnh mẽ là </a:t>
            </a:r>
            <a:r>
              <a:rPr lang="vi-VN" b="1" dirty="0"/>
              <a:t>kết hợp cả hai cách</a:t>
            </a:r>
            <a:r>
              <a:rPr lang="vi-VN" dirty="0"/>
              <a:t>:</a:t>
            </a:r>
          </a:p>
          <a:p>
            <a:pPr marL="742950" lvl="1" indent="-285750">
              <a:buFont typeface="Arial" panose="020B0604020202020204" pitchFamily="34" charset="0"/>
              <a:buChar char="•"/>
            </a:pPr>
            <a:r>
              <a:rPr lang="vi-VN" b="1" dirty="0"/>
              <a:t>Ban đầu sử dụng Transport-layer switching</a:t>
            </a:r>
            <a:r>
              <a:rPr lang="vi-VN" dirty="0"/>
              <a:t> để phân phối nhanh các yêu cầu thông thường</a:t>
            </a:r>
          </a:p>
          <a:p>
            <a:pPr marL="742950" lvl="1" indent="-285750">
              <a:buFont typeface="Arial" panose="020B0604020202020204" pitchFamily="34" charset="0"/>
              <a:buChar char="•"/>
            </a:pPr>
            <a:r>
              <a:rPr lang="vi-VN" b="1" dirty="0"/>
              <a:t>Khi cần thiết</a:t>
            </a:r>
            <a:r>
              <a:rPr lang="vi-VN" dirty="0"/>
              <a:t>, </a:t>
            </a:r>
            <a:r>
              <a:rPr lang="vi-VN" b="1" dirty="0"/>
              <a:t>chuyển sang content-aware</a:t>
            </a:r>
            <a:r>
              <a:rPr lang="vi-VN" dirty="0"/>
              <a:t> cho các yêu cầu quan trọng, lớn, hoặc yêu cầu đặc thù</a:t>
            </a:r>
          </a:p>
          <a:p>
            <a:pPr>
              <a:buFont typeface="Arial" panose="020B0604020202020204" pitchFamily="34" charset="0"/>
              <a:buChar char="•"/>
            </a:pPr>
            <a:r>
              <a:rPr lang="vi-VN" dirty="0"/>
              <a:t>Điều này giúp </a:t>
            </a:r>
            <a:r>
              <a:rPr lang="vi-VN" b="1" dirty="0"/>
              <a:t>cân bằng giữa hiệu suất và tính thông minh</a:t>
            </a:r>
            <a:r>
              <a:rPr lang="vi-VN" dirty="0"/>
              <a:t>, tránh tình trạng "một size cho tất cả".</a:t>
            </a:r>
            <a:endParaRPr lang="en-US" dirty="0"/>
          </a:p>
          <a:p>
            <a:pPr>
              <a:buFont typeface="Arial" panose="020B0604020202020204" pitchFamily="34" charset="0"/>
              <a:buNone/>
            </a:pPr>
            <a:endParaRPr lang="vi-VN" dirty="0"/>
          </a:p>
          <a:p>
            <a:r>
              <a:rPr lang="en-US" dirty="0"/>
              <a:t>---------------------------------------</a:t>
            </a:r>
          </a:p>
          <a:p>
            <a:r>
              <a:rPr lang="en-US" b="1" dirty="0" err="1"/>
              <a:t>Giải</a:t>
            </a:r>
            <a:r>
              <a:rPr lang="en-US" b="1" dirty="0"/>
              <a:t> </a:t>
            </a:r>
            <a:r>
              <a:rPr lang="en-US" b="1" dirty="0" err="1"/>
              <a:t>thích</a:t>
            </a:r>
            <a:r>
              <a:rPr lang="en-US" b="1" dirty="0"/>
              <a:t> </a:t>
            </a:r>
            <a:r>
              <a:rPr lang="en-US" b="1" dirty="0" err="1"/>
              <a:t>hình</a:t>
            </a:r>
            <a:r>
              <a:rPr lang="en-US" b="1" dirty="0"/>
              <a:t> </a:t>
            </a:r>
            <a:r>
              <a:rPr lang="en-US" b="1" dirty="0" err="1"/>
              <a:t>minh</a:t>
            </a:r>
            <a:r>
              <a:rPr lang="en-US" b="1" dirty="0"/>
              <a:t> </a:t>
            </a:r>
            <a:r>
              <a:rPr lang="en-US" b="1" dirty="0" err="1"/>
              <a:t>họa</a:t>
            </a:r>
            <a:r>
              <a:rPr lang="en-US" b="1" dirty="0"/>
              <a:t>:</a:t>
            </a:r>
          </a:p>
          <a:p>
            <a:endParaRPr lang="en-US" b="1" dirty="0"/>
          </a:p>
          <a:p>
            <a:r>
              <a:rPr lang="vi-VN" dirty="0"/>
              <a:t>Rõ ràng, thiết kế của bộ chuyển (switch) là </a:t>
            </a:r>
            <a:r>
              <a:rPr lang="vi-VN" b="1" dirty="0"/>
              <a:t>rất quan trọng</a:t>
            </a:r>
            <a:r>
              <a:rPr lang="vi-VN" dirty="0"/>
              <a:t>, vì nó </a:t>
            </a:r>
            <a:r>
              <a:rPr lang="vi-VN" b="1" dirty="0"/>
              <a:t>có thể dễ dàng trở thành nút thắt cổ chai</a:t>
            </a:r>
            <a:r>
              <a:rPr lang="vi-VN" dirty="0"/>
              <a:t> khi mọi lưu lượng đều đi qua nó. </a:t>
            </a:r>
            <a:r>
              <a:rPr lang="vi-VN" b="1" dirty="0"/>
              <a:t>Các switch ở tầng vận chuyển (transport-level)</a:t>
            </a:r>
            <a:r>
              <a:rPr lang="vi-VN" dirty="0"/>
              <a:t> thường rất hiệu quả. Tuy nhiên, </a:t>
            </a:r>
            <a:r>
              <a:rPr lang="vi-VN" b="1" dirty="0"/>
              <a:t>các switch nhận biết nội dung (content-aware)</a:t>
            </a:r>
            <a:r>
              <a:rPr lang="vi-VN" dirty="0"/>
              <a:t> hoạt động ở </a:t>
            </a:r>
            <a:r>
              <a:rPr lang="vi-VN" b="1" dirty="0"/>
              <a:t>tầng ứng dụng</a:t>
            </a:r>
            <a:r>
              <a:rPr lang="vi-VN" dirty="0"/>
              <a:t>, và cần phải </a:t>
            </a:r>
            <a:r>
              <a:rPr lang="vi-VN" b="1" dirty="0"/>
              <a:t>kiểm tra payload (dữ liệu chính) của yêu cầu đến</a:t>
            </a:r>
            <a:r>
              <a:rPr lang="vi-VN" dirty="0"/>
              <a:t>, có thể phải xử lý rất nhiều.</a:t>
            </a:r>
          </a:p>
          <a:p>
            <a:r>
              <a:rPr lang="vi-VN" b="1" dirty="0"/>
              <a:t>Phân phối yêu cầu dựa trên nội dung</a:t>
            </a:r>
            <a:r>
              <a:rPr lang="vi-VN" dirty="0"/>
              <a:t> có nhiều lợi ích. Ví dụ:</a:t>
            </a:r>
          </a:p>
          <a:p>
            <a:pPr>
              <a:buFont typeface="Arial" panose="020B0604020202020204" pitchFamily="34" charset="0"/>
              <a:buChar char="•"/>
            </a:pPr>
            <a:r>
              <a:rPr lang="vi-VN" dirty="0"/>
              <a:t>Nếu switch </a:t>
            </a:r>
            <a:r>
              <a:rPr lang="vi-VN" b="1" dirty="0"/>
              <a:t>luôn chuyển tiếp các yêu cầu cho cùng một tệp đến cùng một máy chủ</a:t>
            </a:r>
            <a:r>
              <a:rPr lang="vi-VN" dirty="0"/>
              <a:t>, thì máy chủ đó có thể </a:t>
            </a:r>
            <a:r>
              <a:rPr lang="vi-VN" b="1" dirty="0"/>
              <a:t>cache tệp đó hiệu quả</a:t>
            </a:r>
            <a:r>
              <a:rPr lang="vi-VN" dirty="0"/>
              <a:t>, dẫn đến </a:t>
            </a:r>
            <a:r>
              <a:rPr lang="vi-VN" b="1" dirty="0"/>
              <a:t>giảm thời gian phản hồi</a:t>
            </a:r>
            <a:r>
              <a:rPr lang="vi-VN" dirty="0"/>
              <a:t>.</a:t>
            </a:r>
          </a:p>
          <a:p>
            <a:pPr>
              <a:buFont typeface="Arial" panose="020B0604020202020204" pitchFamily="34" charset="0"/>
              <a:buChar char="•"/>
            </a:pPr>
            <a:r>
              <a:rPr lang="vi-VN" dirty="0"/>
              <a:t>Tương tự, ta có thể </a:t>
            </a:r>
            <a:r>
              <a:rPr lang="vi-VN" b="1" dirty="0"/>
              <a:t>phân phối các nhóm tệp khác nhau cho các máy chủ cụ thể</a:t>
            </a:r>
            <a:r>
              <a:rPr lang="vi-VN" dirty="0"/>
              <a:t>, ví dụ:</a:t>
            </a:r>
          </a:p>
          <a:p>
            <a:pPr marL="742950" lvl="1" indent="-285750">
              <a:buFont typeface="Arial" panose="020B0604020202020204" pitchFamily="34" charset="0"/>
              <a:buChar char="•"/>
            </a:pPr>
            <a:r>
              <a:rPr lang="vi-VN" dirty="0"/>
              <a:t>Phân biệt giữa </a:t>
            </a:r>
            <a:r>
              <a:rPr lang="vi-VN" b="1" dirty="0"/>
              <a:t>tệp truyền phát (streaming media)</a:t>
            </a:r>
            <a:r>
              <a:rPr lang="vi-VN" dirty="0"/>
              <a:t>, </a:t>
            </a:r>
            <a:r>
              <a:rPr lang="vi-VN" b="1" dirty="0"/>
              <a:t>ảnh</a:t>
            </a:r>
            <a:r>
              <a:rPr lang="vi-VN" dirty="0"/>
              <a:t>, </a:t>
            </a:r>
            <a:r>
              <a:rPr lang="vi-VN" b="1" dirty="0"/>
              <a:t>văn bản</a:t>
            </a:r>
            <a:r>
              <a:rPr lang="vi-VN" dirty="0"/>
              <a:t>, hoặc thậm chí </a:t>
            </a:r>
            <a:r>
              <a:rPr lang="vi-VN" b="1" dirty="0"/>
              <a:t>các cơ sở dữ liệu</a:t>
            </a:r>
            <a:r>
              <a:rPr lang="vi-VN" dirty="0"/>
              <a:t>.</a:t>
            </a:r>
          </a:p>
          <a:p>
            <a:pPr marL="742950" lvl="1" indent="-285750">
              <a:buFont typeface="Arial" panose="020B0604020202020204" pitchFamily="34" charset="0"/>
              <a:buChar char="•"/>
            </a:pPr>
            <a:r>
              <a:rPr lang="vi-VN" dirty="0"/>
              <a:t>Khả năng phân biệt như vậy cho phép ta </a:t>
            </a:r>
            <a:r>
              <a:rPr lang="vi-VN" b="1" dirty="0"/>
              <a:t>triển khai các máy chủ chuyên dụng ở tầng thứ hai</a:t>
            </a:r>
            <a:r>
              <a:rPr lang="vi-VN" dirty="0"/>
              <a:t>.</a:t>
            </a:r>
          </a:p>
          <a:p>
            <a:r>
              <a:rPr lang="vi-VN" b="1" dirty="0"/>
              <a:t>Lý tưởng nhất</a:t>
            </a:r>
            <a:r>
              <a:rPr lang="vi-VN" dirty="0"/>
              <a:t>, switch sẽ có </a:t>
            </a:r>
            <a:r>
              <a:rPr lang="vi-VN" b="1" dirty="0"/>
              <a:t>hiệu suất như một switch ở tầng vận chuyển</a:t>
            </a:r>
            <a:r>
              <a:rPr lang="vi-VN" dirty="0"/>
              <a:t>, </a:t>
            </a:r>
            <a:r>
              <a:rPr lang="vi-VN" b="1" dirty="0"/>
              <a:t>nhưng vẫn có khả năng phân phối dựa trên nội dung</a:t>
            </a:r>
            <a:r>
              <a:rPr lang="vi-VN" dirty="0"/>
              <a:t>.</a:t>
            </a:r>
          </a:p>
          <a:p>
            <a:r>
              <a:rPr lang="vi-VN" b="1" dirty="0"/>
              <a:t>Aron và cộng sự (2000)</a:t>
            </a:r>
            <a:r>
              <a:rPr lang="vi-VN" dirty="0"/>
              <a:t> đề xuất một cơ chế mà </a:t>
            </a:r>
            <a:r>
              <a:rPr lang="vi-VN" b="1" dirty="0"/>
              <a:t>việc kiểm tra nội dung của yêu cầu đến sẽ được phân phối giữa nhiều máy chủ</a:t>
            </a:r>
            <a:r>
              <a:rPr lang="vi-VN" dirty="0"/>
              <a:t>, đồng thời </a:t>
            </a:r>
            <a:r>
              <a:rPr lang="vi-VN" b="1" dirty="0"/>
              <a:t>kết hợp với cơ chế TCP handoff (chuyển giao kết nối TCP)</a:t>
            </a:r>
            <a:r>
              <a:rPr lang="vi-VN" dirty="0"/>
              <a:t>. Switch lúc này có </a:t>
            </a:r>
            <a:r>
              <a:rPr lang="vi-VN" b="1" dirty="0"/>
              <a:t>hai nhiệm vụ</a:t>
            </a:r>
            <a:r>
              <a:rPr lang="vi-VN" dirty="0"/>
              <a:t>:</a:t>
            </a:r>
          </a:p>
          <a:p>
            <a:pPr>
              <a:buFont typeface="+mj-lt"/>
              <a:buAutoNum type="arabicPeriod"/>
            </a:pPr>
            <a:r>
              <a:rPr lang="vi-VN" dirty="0"/>
              <a:t>Khi một yêu cầu đến ban đầu, nó phải </a:t>
            </a:r>
            <a:r>
              <a:rPr lang="vi-VN" b="1" dirty="0"/>
              <a:t>quyết định máy chủ nào sẽ xử lý phần còn lại của giao tiếp với client</a:t>
            </a:r>
            <a:r>
              <a:rPr lang="vi-VN" dirty="0"/>
              <a:t>.</a:t>
            </a:r>
          </a:p>
          <a:p>
            <a:pPr>
              <a:buFont typeface="+mj-lt"/>
              <a:buAutoNum type="arabicPeriod"/>
            </a:pPr>
            <a:r>
              <a:rPr lang="vi-VN" dirty="0"/>
              <a:t>Sau đó, switch phải </a:t>
            </a:r>
            <a:r>
              <a:rPr lang="vi-VN" b="1" dirty="0"/>
              <a:t>chuyển tiếp các gói tin TCP liên quan đến kết nối đó</a:t>
            </a:r>
            <a:r>
              <a:rPr lang="vi-VN" dirty="0"/>
              <a:t> cho đúng máy chủ.</a:t>
            </a:r>
          </a:p>
          <a:p>
            <a:endParaRPr lang="en-US" dirty="0"/>
          </a:p>
          <a:p>
            <a:r>
              <a:rPr lang="vi-VN" dirty="0"/>
              <a:t>Hai nhiệm vụ này có thể được </a:t>
            </a:r>
            <a:r>
              <a:rPr lang="vi-VN" b="1" dirty="0"/>
              <a:t>phân phối như trong Hình</a:t>
            </a:r>
            <a:r>
              <a:rPr lang="vi-VN" dirty="0"/>
              <a:t>:</a:t>
            </a:r>
          </a:p>
          <a:p>
            <a:pPr>
              <a:buFont typeface="Arial" panose="020B0604020202020204" pitchFamily="34" charset="0"/>
              <a:buChar char="•"/>
            </a:pPr>
            <a:r>
              <a:rPr lang="vi-VN" dirty="0"/>
              <a:t>Khi một yêu cầu đến, điều đầu tiên switch làm là </a:t>
            </a:r>
            <a:r>
              <a:rPr lang="vi-VN" b="1" dirty="0"/>
              <a:t>chuyển nó đến một “distributor” ngẫu nhiên</a:t>
            </a:r>
            <a:r>
              <a:rPr lang="vi-VN" dirty="0"/>
              <a:t>, được chạy trên một trong các máy chủ.</a:t>
            </a:r>
          </a:p>
          <a:p>
            <a:pPr>
              <a:buFont typeface="Arial" panose="020B0604020202020204" pitchFamily="34" charset="0"/>
              <a:buChar char="•"/>
            </a:pPr>
            <a:r>
              <a:rPr lang="vi-VN" b="1" dirty="0"/>
              <a:t>Distributor</a:t>
            </a:r>
            <a:r>
              <a:rPr lang="vi-VN" dirty="0"/>
              <a:t> có nhiệm vụ chính là </a:t>
            </a:r>
            <a:r>
              <a:rPr lang="vi-VN" b="1" dirty="0"/>
              <a:t>quản lý việc chuyển giao kết nối TCP</a:t>
            </a:r>
            <a:r>
              <a:rPr lang="vi-VN" dirty="0"/>
              <a:t>.</a:t>
            </a:r>
          </a:p>
          <a:p>
            <a:pPr>
              <a:buFont typeface="Arial" panose="020B0604020202020204" pitchFamily="34" charset="0"/>
              <a:buChar char="•"/>
            </a:pPr>
            <a:r>
              <a:rPr lang="vi-VN" dirty="0"/>
              <a:t>Tiếp theo, distributor sẽ </a:t>
            </a:r>
            <a:r>
              <a:rPr lang="vi-VN" b="1" dirty="0"/>
              <a:t>chuyển yêu cầu đến một “dispatcher”</a:t>
            </a:r>
            <a:r>
              <a:rPr lang="vi-VN" dirty="0"/>
              <a:t>, nơi sẽ </a:t>
            </a:r>
            <a:r>
              <a:rPr lang="vi-VN" b="1" dirty="0"/>
              <a:t>kiểm tra payload để chọn ra máy chủ ứng dụng phù hợp nhất</a:t>
            </a:r>
            <a:r>
              <a:rPr lang="vi-VN" dirty="0"/>
              <a:t>.</a:t>
            </a:r>
          </a:p>
          <a:p>
            <a:pPr>
              <a:buFont typeface="Arial" panose="020B0604020202020204" pitchFamily="34" charset="0"/>
              <a:buChar char="•"/>
            </a:pPr>
            <a:r>
              <a:rPr lang="vi-VN" dirty="0"/>
              <a:t>Sau khi máy chủ đã được chọn, distributor ban đầu sẽ thực hiện </a:t>
            </a:r>
            <a:r>
              <a:rPr lang="vi-VN" b="1" dirty="0"/>
              <a:t>việc bàn giao kết nối TCP</a:t>
            </a:r>
            <a:r>
              <a:rPr lang="vi-VN" dirty="0"/>
              <a:t>:</a:t>
            </a:r>
          </a:p>
          <a:p>
            <a:pPr marL="742950" lvl="1" indent="-285750">
              <a:buFont typeface="Arial" panose="020B0604020202020204" pitchFamily="34" charset="0"/>
              <a:buChar char="•"/>
            </a:pPr>
            <a:r>
              <a:rPr lang="vi-VN" dirty="0"/>
              <a:t>Giao tiếp với máy chủ được chọn để nó chấp nhận kết nối</a:t>
            </a:r>
          </a:p>
          <a:p>
            <a:pPr marL="742950" lvl="1" indent="-285750">
              <a:buFont typeface="Arial" panose="020B0604020202020204" pitchFamily="34" charset="0"/>
              <a:buChar char="•"/>
            </a:pPr>
            <a:r>
              <a:rPr lang="vi-VN" dirty="0"/>
              <a:t>Cuối cùng, </a:t>
            </a:r>
            <a:r>
              <a:rPr lang="vi-VN" b="1" dirty="0"/>
              <a:t>thông báo cho switch biết máy chủ nào</a:t>
            </a:r>
            <a:r>
              <a:rPr lang="vi-VN" dirty="0"/>
              <a:t> sẽ xử lý các </a:t>
            </a:r>
            <a:r>
              <a:rPr lang="vi-VN" b="1" dirty="0"/>
              <a:t>gói TCP tiếp theo của kết nối đó</a:t>
            </a:r>
            <a:r>
              <a:rPr lang="vi-VN" dirty="0"/>
              <a:t>.</a:t>
            </a:r>
          </a:p>
          <a:p>
            <a:endParaRPr lang="en-US" b="1" dirty="0"/>
          </a:p>
        </p:txBody>
      </p:sp>
      <p:sp>
        <p:nvSpPr>
          <p:cNvPr id="4" name="Slide Number Placeholder 3"/>
          <p:cNvSpPr>
            <a:spLocks noGrp="1"/>
          </p:cNvSpPr>
          <p:nvPr>
            <p:ph type="sldNum" sz="quarter" idx="5"/>
          </p:nvPr>
        </p:nvSpPr>
        <p:spPr/>
        <p:txBody>
          <a:bodyPr/>
          <a:lstStyle/>
          <a:p>
            <a:fld id="{0EA9AC37-8FF6-483B-AAA6-B9FE5516F543}" type="slidenum">
              <a:rPr lang="en-US" smtClean="0"/>
              <a:t>48</a:t>
            </a:fld>
            <a:endParaRPr lang="en-US"/>
          </a:p>
        </p:txBody>
      </p:sp>
    </p:spTree>
    <p:extLst>
      <p:ext uri="{BB962C8B-B14F-4D97-AF65-F5344CB8AC3E}">
        <p14:creationId xmlns:p14="http://schemas.microsoft.com/office/powerpoint/2010/main" val="52833238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“When servers are spread across the Internet”:</a:t>
            </a:r>
            <a:r>
              <a:rPr lang="en-US" b="1" dirty="0"/>
              <a:t> Khi </a:t>
            </a:r>
            <a:r>
              <a:rPr lang="en-US" b="1" dirty="0" err="1"/>
              <a:t>các</a:t>
            </a:r>
            <a:r>
              <a:rPr lang="en-US" b="1" dirty="0"/>
              <a:t> </a:t>
            </a:r>
            <a:r>
              <a:rPr lang="en-US" b="1" dirty="0" err="1"/>
              <a:t>máy</a:t>
            </a:r>
            <a:r>
              <a:rPr lang="en-US" b="1" dirty="0"/>
              <a:t> </a:t>
            </a:r>
            <a:r>
              <a:rPr lang="en-US" b="1" dirty="0" err="1"/>
              <a:t>chủ</a:t>
            </a:r>
            <a:r>
              <a:rPr lang="en-US" b="1" dirty="0"/>
              <a:t> </a:t>
            </a:r>
            <a:r>
              <a:rPr lang="en-US" b="1" dirty="0" err="1"/>
              <a:t>phân</a:t>
            </a:r>
            <a:r>
              <a:rPr lang="en-US" b="1" dirty="0"/>
              <a:t> </a:t>
            </a:r>
            <a:r>
              <a:rPr lang="en-US" b="1" dirty="0" err="1"/>
              <a:t>tán</a:t>
            </a:r>
            <a:r>
              <a:rPr lang="en-US" b="1" dirty="0"/>
              <a:t> </a:t>
            </a:r>
            <a:r>
              <a:rPr lang="en-US" b="1" dirty="0" err="1"/>
              <a:t>trên</a:t>
            </a:r>
            <a:r>
              <a:rPr lang="en-US" b="1" dirty="0"/>
              <a:t> internet</a:t>
            </a:r>
            <a:endParaRPr lang="vi-VN" b="1" dirty="0"/>
          </a:p>
          <a:p>
            <a:r>
              <a:rPr lang="vi-VN" b="1" dirty="0"/>
              <a:t>Nhận xét chung</a:t>
            </a:r>
          </a:p>
          <a:p>
            <a:r>
              <a:rPr lang="vi-VN" b="1" dirty="0"/>
              <a:t>“Spreading servers across the Internet may introduce administrative problems.”</a:t>
            </a:r>
            <a:endParaRPr lang="vi-VN" dirty="0"/>
          </a:p>
          <a:p>
            <a:pPr>
              <a:buFont typeface="Arial" panose="020B0604020202020204" pitchFamily="34" charset="0"/>
              <a:buChar char="•"/>
            </a:pPr>
            <a:r>
              <a:rPr lang="vi-VN" dirty="0"/>
              <a:t>Khi </a:t>
            </a:r>
            <a:r>
              <a:rPr lang="en-US" dirty="0" err="1"/>
              <a:t>chúng</a:t>
            </a:r>
            <a:r>
              <a:rPr lang="en-US" dirty="0"/>
              <a:t> ta</a:t>
            </a:r>
            <a:r>
              <a:rPr lang="vi-VN" dirty="0"/>
              <a:t> </a:t>
            </a:r>
            <a:r>
              <a:rPr lang="vi-VN" b="1" dirty="0"/>
              <a:t>triển khai máy chủ ở nhiều nơi trên Internet</a:t>
            </a:r>
            <a:r>
              <a:rPr lang="vi-VN" dirty="0"/>
              <a:t> (ví dụ nhiều quốc gia, nhiều nhà cung cấp khác nhau), có thể sẽ phát sinh </a:t>
            </a:r>
            <a:r>
              <a:rPr lang="vi-VN" b="1" dirty="0"/>
              <a:t>nhiều vấn đề về quản lý</a:t>
            </a:r>
            <a:r>
              <a:rPr lang="vi-VN" dirty="0"/>
              <a:t>, như:</a:t>
            </a:r>
          </a:p>
          <a:p>
            <a:pPr marL="457200" lvl="1" indent="0">
              <a:buFont typeface="Arial" panose="020B0604020202020204" pitchFamily="34" charset="0"/>
              <a:buNone/>
            </a:pPr>
            <a:r>
              <a:rPr lang="en-US" dirty="0"/>
              <a:t>- </a:t>
            </a:r>
            <a:r>
              <a:rPr lang="vi-VN" dirty="0"/>
              <a:t>Cấu hình phức tạp</a:t>
            </a:r>
          </a:p>
          <a:p>
            <a:pPr marL="457200" lvl="1" indent="0">
              <a:buFont typeface="Arial" panose="020B0604020202020204" pitchFamily="34" charset="0"/>
              <a:buNone/>
            </a:pPr>
            <a:r>
              <a:rPr lang="en-US" dirty="0"/>
              <a:t>- </a:t>
            </a:r>
            <a:r>
              <a:rPr lang="vi-VN" dirty="0"/>
              <a:t>Khó kiểm soát dữ liệu và bảo mật</a:t>
            </a:r>
          </a:p>
          <a:p>
            <a:pPr marL="457200" lvl="1" indent="0">
              <a:buFont typeface="Arial" panose="020B0604020202020204" pitchFamily="34" charset="0"/>
              <a:buNone/>
            </a:pPr>
            <a:r>
              <a:rPr lang="en-US" dirty="0"/>
              <a:t>- </a:t>
            </a:r>
            <a:r>
              <a:rPr lang="vi-VN" dirty="0"/>
              <a:t>Khó đồng bộ và duy trì hiệu suất ổn định</a:t>
            </a:r>
          </a:p>
          <a:p>
            <a:r>
              <a:rPr lang="vi-VN" b="1" dirty="0"/>
              <a:t>Giải pháp:</a:t>
            </a:r>
            <a:r>
              <a:rPr lang="vi-VN" dirty="0"/>
              <a:t> Sử dụng </a:t>
            </a:r>
            <a:r>
              <a:rPr lang="vi-VN" b="1" dirty="0"/>
              <a:t>data center từ cùng một nhà cung cấp đám mây (cloud provider)</a:t>
            </a:r>
            <a:r>
              <a:rPr lang="vi-VN" dirty="0"/>
              <a:t> (VD: AWS, Azure, GCP) để đơn giản hóa việc quản lý.</a:t>
            </a:r>
          </a:p>
          <a:p>
            <a:r>
              <a:rPr lang="en-US" b="1" dirty="0"/>
              <a:t> </a:t>
            </a:r>
          </a:p>
          <a:p>
            <a:r>
              <a:rPr lang="vi-VN" b="1" dirty="0"/>
              <a:t>Phân phối yêu cầu (Request dispatching): Khi tính địa phương quan trọng</a:t>
            </a:r>
          </a:p>
          <a:p>
            <a:r>
              <a:rPr lang="vi-VN" dirty="0"/>
              <a:t>Làm sao để </a:t>
            </a:r>
            <a:r>
              <a:rPr lang="vi-VN" b="1" dirty="0"/>
              <a:t>gửi yêu cầu của client tới server gần nhất</a:t>
            </a:r>
            <a:r>
              <a:rPr lang="vi-VN" dirty="0"/>
              <a:t> để có hiệu năng tốt?</a:t>
            </a:r>
          </a:p>
          <a:p>
            <a:r>
              <a:rPr lang="en-US" b="1" dirty="0"/>
              <a:t>=&gt; </a:t>
            </a:r>
            <a:r>
              <a:rPr lang="vi-VN" b="1" dirty="0"/>
              <a:t>Giải pháp phổ biến:</a:t>
            </a:r>
            <a:r>
              <a:rPr lang="vi-VN" dirty="0"/>
              <a:t> </a:t>
            </a:r>
            <a:r>
              <a:rPr lang="vi-VN" b="1" dirty="0"/>
              <a:t>Dùng DNS</a:t>
            </a:r>
            <a:r>
              <a:rPr lang="vi-VN" dirty="0"/>
              <a:t> (Domain Name System)</a:t>
            </a:r>
          </a:p>
          <a:p>
            <a:r>
              <a:rPr lang="en-US" b="1" dirty="0"/>
              <a:t>	</a:t>
            </a:r>
            <a:r>
              <a:rPr lang="vi-VN" b="1" dirty="0"/>
              <a:t>Quy trình hoạt động:</a:t>
            </a:r>
            <a:endParaRPr lang="vi-VN" dirty="0"/>
          </a:p>
          <a:p>
            <a:pPr>
              <a:buFont typeface="+mj-lt"/>
              <a:buNone/>
            </a:pPr>
            <a:r>
              <a:rPr lang="en-US" b="1" dirty="0"/>
              <a:t>		- </a:t>
            </a:r>
            <a:r>
              <a:rPr lang="vi-VN" b="1" dirty="0"/>
              <a:t>Client gửi yêu cầu DNS</a:t>
            </a:r>
            <a:r>
              <a:rPr lang="vi-VN" dirty="0"/>
              <a:t> để tra địa chỉ IP của dịch vụ (ví dụ: video.example.com)</a:t>
            </a:r>
          </a:p>
          <a:p>
            <a:pPr>
              <a:buFont typeface="+mj-lt"/>
              <a:buNone/>
            </a:pPr>
            <a:r>
              <a:rPr lang="en-US" dirty="0"/>
              <a:t>		- </a:t>
            </a:r>
            <a:r>
              <a:rPr lang="vi-VN" dirty="0"/>
              <a:t>Yêu cầu DNS này </a:t>
            </a:r>
            <a:r>
              <a:rPr lang="vi-VN" b="1" dirty="0"/>
              <a:t>bao gồm địa chỉ IP của client</a:t>
            </a:r>
            <a:r>
              <a:rPr lang="vi-VN" dirty="0"/>
              <a:t> (hoặc DNS resolver đang đại diện client)</a:t>
            </a:r>
            <a:endParaRPr lang="en-US" dirty="0"/>
          </a:p>
          <a:p>
            <a:pPr>
              <a:buFont typeface="+mj-lt"/>
              <a:buNone/>
            </a:pPr>
            <a:r>
              <a:rPr lang="en-US" b="1" dirty="0"/>
              <a:t>		- </a:t>
            </a:r>
            <a:r>
              <a:rPr lang="vi-VN" b="1" dirty="0"/>
              <a:t>DNS server</a:t>
            </a:r>
            <a:r>
              <a:rPr lang="vi-VN" dirty="0"/>
              <a:t> kiểm tra danh sách </a:t>
            </a:r>
            <a:r>
              <a:rPr lang="vi-VN" b="1" dirty="0"/>
              <a:t>các server bản sao (replica servers)</a:t>
            </a:r>
            <a:r>
              <a:rPr lang="vi-VN" dirty="0"/>
              <a:t> cho dịch vụ đó.</a:t>
            </a:r>
          </a:p>
          <a:p>
            <a:pPr>
              <a:buFont typeface="+mj-lt"/>
              <a:buNone/>
            </a:pPr>
            <a:r>
              <a:rPr lang="en-US" dirty="0"/>
              <a:t>		- </a:t>
            </a:r>
            <a:r>
              <a:rPr lang="vi-VN" dirty="0"/>
              <a:t>DNS </a:t>
            </a:r>
            <a:r>
              <a:rPr lang="vi-VN" b="1" dirty="0"/>
              <a:t>chọn server gần nhất</a:t>
            </a:r>
            <a:r>
              <a:rPr lang="vi-VN" dirty="0"/>
              <a:t> với client (dựa trên IP) và </a:t>
            </a:r>
            <a:r>
              <a:rPr lang="vi-VN" b="1" dirty="0"/>
              <a:t>trả về địa chỉ IP</a:t>
            </a:r>
            <a:r>
              <a:rPr lang="vi-VN" dirty="0"/>
              <a:t> của server đó.</a:t>
            </a:r>
          </a:p>
          <a:p>
            <a:r>
              <a:rPr lang="en-US" b="1" dirty="0"/>
              <a:t>	</a:t>
            </a:r>
            <a:r>
              <a:rPr lang="vi-VN" b="1" dirty="0"/>
              <a:t>Mục tiêu:</a:t>
            </a:r>
            <a:r>
              <a:rPr lang="vi-VN" dirty="0"/>
              <a:t> Gửi client đến server “gần nhất” về mặt địa lý hoặc mạng để giảm độ trễ.</a:t>
            </a:r>
          </a:p>
          <a:p>
            <a:r>
              <a:rPr lang="vi-VN" b="1" dirty="0"/>
              <a:t>Client transparency (Ẩn sự phân tán khỏi client)</a:t>
            </a:r>
          </a:p>
          <a:p>
            <a:r>
              <a:rPr lang="vi-VN" dirty="0"/>
              <a:t>Để client không phải biết là dịch vụ đang được phân tán khắp nơi.</a:t>
            </a:r>
          </a:p>
          <a:p>
            <a:pPr lvl="1">
              <a:buFont typeface="Arial" panose="020B0604020202020204" pitchFamily="34" charset="0"/>
              <a:buChar char="•"/>
            </a:pPr>
            <a:r>
              <a:rPr lang="vi-VN" dirty="0"/>
              <a:t>Để ẩn sự phức tạp, ta để </a:t>
            </a:r>
            <a:r>
              <a:rPr lang="vi-VN" b="1" dirty="0"/>
              <a:t>DNS resolver làm thay công việc của client</a:t>
            </a:r>
            <a:r>
              <a:rPr lang="vi-VN" dirty="0"/>
              <a:t> (gửi yêu cầu DNS và nhận lại IP server phù hợp).</a:t>
            </a:r>
          </a:p>
          <a:p>
            <a:r>
              <a:rPr lang="en-US" b="1" dirty="0"/>
              <a:t>	</a:t>
            </a:r>
            <a:r>
              <a:rPr lang="vi-VN" b="1" dirty="0"/>
              <a:t>Vấn đề:</a:t>
            </a:r>
            <a:endParaRPr lang="vi-VN" dirty="0"/>
          </a:p>
          <a:p>
            <a:pPr lvl="3">
              <a:buFont typeface="Arial" panose="020B0604020202020204" pitchFamily="34" charset="0"/>
              <a:buChar char="•"/>
            </a:pPr>
            <a:r>
              <a:rPr lang="vi-VN" dirty="0"/>
              <a:t>Resolver </a:t>
            </a:r>
            <a:r>
              <a:rPr lang="vi-VN" b="1" dirty="0"/>
              <a:t>không phải lúc nào cũng ở gần client</a:t>
            </a:r>
            <a:r>
              <a:rPr lang="vi-VN" dirty="0"/>
              <a:t>. </a:t>
            </a:r>
            <a:endParaRPr lang="en-US" dirty="0"/>
          </a:p>
          <a:p>
            <a:pPr lvl="3">
              <a:buFont typeface="Arial" panose="020B0604020202020204" pitchFamily="34" charset="0"/>
              <a:buChar char="•"/>
            </a:pPr>
            <a:r>
              <a:rPr lang="vi-VN" dirty="0"/>
              <a:t>Ví dụ:</a:t>
            </a:r>
          </a:p>
          <a:p>
            <a:pPr marL="457200" lvl="1" indent="0">
              <a:buFont typeface="Arial" panose="020B0604020202020204" pitchFamily="34" charset="0"/>
              <a:buNone/>
            </a:pPr>
            <a:r>
              <a:rPr lang="en-US" dirty="0"/>
              <a:t>		</a:t>
            </a:r>
            <a:r>
              <a:rPr lang="vi-VN" dirty="0"/>
              <a:t>Client ở Việt Nam, nhưng dùng Google DNS (8.8.8.8) — resolver này ở Mỹ.</a:t>
            </a:r>
          </a:p>
          <a:p>
            <a:pPr marL="457200" lvl="1" indent="0">
              <a:buFont typeface="Arial" panose="020B0604020202020204" pitchFamily="34" charset="0"/>
              <a:buNone/>
            </a:pPr>
            <a:r>
              <a:rPr lang="en-US" dirty="0"/>
              <a:t>		</a:t>
            </a:r>
            <a:r>
              <a:rPr lang="vi-VN" dirty="0"/>
              <a:t>Kết quả là DNS server </a:t>
            </a:r>
            <a:r>
              <a:rPr lang="vi-VN" b="1" dirty="0"/>
              <a:t>nghĩ client ở Mỹ</a:t>
            </a:r>
            <a:r>
              <a:rPr lang="vi-VN" dirty="0"/>
              <a:t>, và trả về </a:t>
            </a:r>
            <a:r>
              <a:rPr lang="vi-VN" b="1" dirty="0"/>
              <a:t>server không tối ưu về địa lý</a:t>
            </a:r>
            <a:r>
              <a:rPr lang="vi-VN" dirty="0"/>
              <a:t>.</a:t>
            </a:r>
          </a:p>
          <a:p>
            <a:r>
              <a:rPr lang="en-US" dirty="0"/>
              <a:t>		=&gt; </a:t>
            </a:r>
            <a:r>
              <a:rPr lang="vi-VN" dirty="0"/>
              <a:t>Điều này làm cho </a:t>
            </a:r>
            <a:r>
              <a:rPr lang="vi-VN" b="1" dirty="0"/>
              <a:t>tính “locality” bị sai lệch</a:t>
            </a:r>
            <a:r>
              <a:rPr lang="vi-VN" dirty="0"/>
              <a:t>, dẫn đến hiệu năng kém.</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49</a:t>
            </a:fld>
            <a:endParaRPr lang="en-US"/>
          </a:p>
        </p:txBody>
      </p:sp>
    </p:spTree>
    <p:extLst>
      <p:ext uri="{BB962C8B-B14F-4D97-AF65-F5344CB8AC3E}">
        <p14:creationId xmlns:p14="http://schemas.microsoft.com/office/powerpoint/2010/main" val="193806380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Thông thường, cụm máy chủ (server cluster) chỉ cung cấp một điểm truy cập duy nhất. Nếu điểm truy cập này gặp sự cố, toàn bộ cụm sẽ không thể truy cập được. Để khắc phục, có thể cung cấp nhiều điểm truy cập công khai, kết hợp với kỹ thuật phân phối DNS theo vòng (round-robin). Tuy nhiên, cách này vẫn đòi hỏi các client phải thử lại nhiều lần nếu có địa chỉ bị lỗi, và vẫn phụ thuộc vào các điểm truy cập tĩnh.</a:t>
            </a:r>
          </a:p>
          <a:p>
            <a:r>
              <a:rPr lang="vi-VN" dirty="0"/>
              <a:t>Một giải pháp hiệu quả hơn là thiết kế một </a:t>
            </a:r>
            <a:r>
              <a:rPr lang="vi-VN" b="1" dirty="0"/>
              <a:t>máy chủ phân tán (distributed server)</a:t>
            </a:r>
            <a:r>
              <a:rPr lang="vi-VN" dirty="0"/>
              <a:t>, nơi tập hợp nhiều máy khác nhau (có thể thay đổi động), nhưng vẫn được nhìn nhận như một máy chủ duy nhất, mạnh mẽ và ổn định từ bên ngoài. Cách này vừa đảm bảo ổn định, vừa tăng tính linh hoạt trong việc cấu hình hệ thống.</a:t>
            </a:r>
          </a:p>
          <a:p>
            <a:r>
              <a:rPr lang="vi-VN" dirty="0"/>
              <a:t>Giải pháp sử dụng công nghệ </a:t>
            </a:r>
            <a:r>
              <a:rPr lang="vi-VN" b="1" dirty="0"/>
              <a:t>hỗ trợ di động IPv6 (MIPv6)</a:t>
            </a:r>
            <a:r>
              <a:rPr lang="vi-VN" dirty="0"/>
              <a:t>:</a:t>
            </a:r>
          </a:p>
          <a:p>
            <a:pPr>
              <a:buFont typeface="Arial" panose="020B0604020202020204" pitchFamily="34" charset="0"/>
              <a:buChar char="•"/>
            </a:pPr>
            <a:r>
              <a:rPr lang="vi-VN" dirty="0"/>
              <a:t>Máy chủ được gán một địa chỉ cố định gọi là </a:t>
            </a:r>
            <a:r>
              <a:rPr lang="vi-VN" b="1" dirty="0"/>
              <a:t>home address (HoA)</a:t>
            </a:r>
            <a:r>
              <a:rPr lang="vi-VN" dirty="0"/>
              <a:t>.</a:t>
            </a:r>
          </a:p>
          <a:p>
            <a:pPr>
              <a:buFont typeface="Arial" panose="020B0604020202020204" pitchFamily="34" charset="0"/>
              <a:buChar char="•"/>
            </a:pPr>
            <a:r>
              <a:rPr lang="vi-VN" dirty="0"/>
              <a:t>Mỗi node trong cụm khi hoạt động như điểm truy cập sẽ đăng ký địa chỉ hiện tại của mình (gọi là </a:t>
            </a:r>
            <a:r>
              <a:rPr lang="vi-VN" b="1" dirty="0"/>
              <a:t>care-of address (CoA)</a:t>
            </a:r>
            <a:r>
              <a:rPr lang="vi-VN" dirty="0"/>
              <a:t>) với </a:t>
            </a:r>
            <a:r>
              <a:rPr lang="vi-VN" b="1" dirty="0"/>
              <a:t>home agent</a:t>
            </a:r>
            <a:r>
              <a:rPr lang="vi-VN" dirty="0"/>
              <a:t>.</a:t>
            </a:r>
          </a:p>
          <a:p>
            <a:pPr>
              <a:buFont typeface="Arial" panose="020B0604020202020204" pitchFamily="34" charset="0"/>
              <a:buChar char="•"/>
            </a:pPr>
            <a:r>
              <a:rPr lang="vi-VN" dirty="0"/>
              <a:t>Khi điểm truy cập thay đổi (ví dụ node bị lỗi), node khác sẽ cập nhật CoA mới với home agent.</a:t>
            </a:r>
          </a:p>
          <a:p>
            <a:pPr>
              <a:buFont typeface="Arial" panose="020B0604020202020204" pitchFamily="34" charset="0"/>
              <a:buChar char="•"/>
            </a:pPr>
            <a:r>
              <a:rPr lang="vi-VN" dirty="0"/>
              <a:t>Dữ liệu sẽ được định tuyến đến node mới mà không làm gián đoạn quá trình giao tiếp với client.</a:t>
            </a:r>
          </a:p>
          <a:p>
            <a:r>
              <a:rPr lang="vi-VN" dirty="0"/>
              <a:t>Để tránh nghẽn tại home agent và điểm truy cập, hệ thống sử dụng </a:t>
            </a:r>
            <a:r>
              <a:rPr lang="vi-VN" b="1" dirty="0"/>
              <a:t>route optimization</a:t>
            </a:r>
            <a:r>
              <a:rPr lang="vi-VN" dirty="0"/>
              <a:t>:</a:t>
            </a:r>
          </a:p>
          <a:p>
            <a:pPr>
              <a:buFont typeface="Arial" panose="020B0604020202020204" pitchFamily="34" charset="0"/>
              <a:buChar char="•"/>
            </a:pPr>
            <a:r>
              <a:rPr lang="vi-VN" dirty="0"/>
              <a:t>Client được cung cấp CoA để giao tiếp trực tiếp với node xử lý, nhưng vẫn tưởng rằng đang giao tiếp với </a:t>
            </a:r>
            <a:r>
              <a:rPr lang="vi-VN" b="1" dirty="0"/>
              <a:t>home address </a:t>
            </a:r>
            <a:r>
              <a:rPr lang="en-US" b="1" dirty="0"/>
              <a:t>(HOA)</a:t>
            </a:r>
            <a:r>
              <a:rPr lang="vi-VN" dirty="0"/>
              <a:t>.</a:t>
            </a:r>
          </a:p>
          <a:p>
            <a:pPr>
              <a:buFont typeface="Arial" panose="020B0604020202020204" pitchFamily="34" charset="0"/>
              <a:buChar char="•"/>
            </a:pPr>
            <a:r>
              <a:rPr lang="vi-VN" dirty="0"/>
              <a:t>Như vậy, nhiều client có thể đồng thời giao tiếp với các node khác nhau trong cụm, vẫn giữ ảo tưởng rằng tất cả là cùng một máy chủ.</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50</a:t>
            </a:fld>
            <a:endParaRPr lang="en-US"/>
          </a:p>
        </p:txBody>
      </p:sp>
    </p:spTree>
    <p:extLst>
      <p:ext uri="{BB962C8B-B14F-4D97-AF65-F5344CB8AC3E}">
        <p14:creationId xmlns:p14="http://schemas.microsoft.com/office/powerpoint/2010/main" val="358635502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51</a:t>
            </a:fld>
            <a:endParaRPr lang="en-US"/>
          </a:p>
        </p:txBody>
      </p:sp>
    </p:spTree>
    <p:extLst>
      <p:ext uri="{BB962C8B-B14F-4D97-AF65-F5344CB8AC3E}">
        <p14:creationId xmlns:p14="http://schemas.microsoft.com/office/powerpoint/2010/main" val="34318806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Chi tiết định địa chỉ trong máy chủ phân tán (Distributed Servers)</a:t>
            </a:r>
          </a:p>
          <a:p>
            <a:r>
              <a:rPr lang="vi-VN" b="1" dirty="0"/>
              <a:t>Ý chính:</a:t>
            </a:r>
          </a:p>
          <a:p>
            <a:pPr>
              <a:buFont typeface="Arial" panose="020B0604020202020204" pitchFamily="34" charset="0"/>
              <a:buChar char="•"/>
            </a:pPr>
            <a:r>
              <a:rPr lang="vi-VN" b="1" dirty="0"/>
              <a:t>Mobile IPv6 (MIPv6)</a:t>
            </a:r>
            <a:r>
              <a:rPr lang="vi-VN" dirty="0"/>
              <a:t> cho phép </a:t>
            </a:r>
            <a:r>
              <a:rPr lang="vi-VN" b="1" dirty="0"/>
              <a:t>client</a:t>
            </a:r>
            <a:r>
              <a:rPr lang="vi-VN" dirty="0"/>
              <a:t> thiết lập kết nối tới một </a:t>
            </a:r>
            <a:r>
              <a:rPr lang="vi-VN" b="1" dirty="0"/>
              <a:t>máy chủ phân tán</a:t>
            </a:r>
            <a:r>
              <a:rPr lang="vi-VN" dirty="0"/>
              <a:t> một cách minh bạch (transparently), dù máy chủ này có thể bao gồm nhiều node thay đổi theo thời gian.</a:t>
            </a:r>
          </a:p>
          <a:p>
            <a:r>
              <a:rPr lang="vi-VN" b="1" dirty="0"/>
              <a:t>Quy trình cụ thể:</a:t>
            </a:r>
          </a:p>
          <a:p>
            <a:pPr>
              <a:buFont typeface="+mj-lt"/>
              <a:buAutoNum type="arabicPeriod"/>
            </a:pPr>
            <a:r>
              <a:rPr lang="vi-VN" b="1" dirty="0"/>
              <a:t>Client (C)</a:t>
            </a:r>
            <a:r>
              <a:rPr lang="vi-VN" dirty="0"/>
              <a:t> khởi tạo kết nối tới một </a:t>
            </a:r>
            <a:r>
              <a:rPr lang="vi-VN" b="1" dirty="0"/>
              <a:t>địa chỉ IPv6 cố định (Home Address - HA)</a:t>
            </a:r>
            <a:r>
              <a:rPr lang="vi-VN" dirty="0"/>
              <a:t> của máy chủ.</a:t>
            </a:r>
          </a:p>
          <a:p>
            <a:pPr marL="457200" lvl="1" indent="0">
              <a:buFont typeface="+mj-lt"/>
              <a:buNone/>
            </a:pPr>
            <a:r>
              <a:rPr lang="en-US" dirty="0"/>
              <a:t>- </a:t>
            </a:r>
            <a:r>
              <a:rPr lang="vi-VN" dirty="0"/>
              <a:t>Đây là địa chỉ "cố định" đại diện cho cả cụm máy chủ phân tán.</a:t>
            </a:r>
          </a:p>
          <a:p>
            <a:pPr marL="457200" lvl="1" indent="0">
              <a:buFont typeface="+mj-lt"/>
              <a:buNone/>
            </a:pPr>
            <a:r>
              <a:rPr lang="en-US" dirty="0"/>
              <a:t>- </a:t>
            </a:r>
            <a:r>
              <a:rPr lang="vi-VN" dirty="0"/>
              <a:t>Giúp tạo ảo tưởng rằng chỉ có một máy chủ duy nhất.</a:t>
            </a:r>
          </a:p>
          <a:p>
            <a:pPr>
              <a:buFont typeface="+mj-lt"/>
              <a:buAutoNum type="arabicPeriod"/>
            </a:pPr>
            <a:r>
              <a:rPr lang="vi-VN" b="1" dirty="0"/>
              <a:t>Home Agent (HA)</a:t>
            </a:r>
            <a:r>
              <a:rPr lang="vi-VN" dirty="0"/>
              <a:t>:</a:t>
            </a:r>
          </a:p>
          <a:p>
            <a:pPr marL="457200" lvl="1" indent="0">
              <a:buFont typeface="+mj-lt"/>
              <a:buNone/>
            </a:pPr>
            <a:r>
              <a:rPr lang="en-US" dirty="0"/>
              <a:t>- </a:t>
            </a:r>
            <a:r>
              <a:rPr lang="vi-VN" dirty="0"/>
              <a:t>Là một thành phần mạng chuyên theo dõi địa chỉ thực tế (</a:t>
            </a:r>
            <a:r>
              <a:rPr lang="vi-VN" b="1" dirty="0"/>
              <a:t>Care-of Address - CA</a:t>
            </a:r>
            <a:r>
              <a:rPr lang="vi-VN" dirty="0"/>
              <a:t>) của node đang hoạt động như điểm truy cập của máy chủ.</a:t>
            </a:r>
          </a:p>
          <a:p>
            <a:pPr marL="457200" lvl="1" indent="0">
              <a:buFont typeface="+mj-lt"/>
              <a:buNone/>
            </a:pPr>
            <a:r>
              <a:rPr lang="en-US" dirty="0"/>
              <a:t>- </a:t>
            </a:r>
            <a:r>
              <a:rPr lang="vi-VN" dirty="0"/>
              <a:t>Khi có yêu cầu từ client, Home Agent sẽ </a:t>
            </a:r>
            <a:r>
              <a:rPr lang="vi-VN" b="1" dirty="0"/>
              <a:t>chuyển tiếp kết nối</a:t>
            </a:r>
            <a:r>
              <a:rPr lang="vi-VN" dirty="0"/>
              <a:t> tới địa chỉ hiện tại (CA) của node đang hoạt động.</a:t>
            </a:r>
          </a:p>
          <a:p>
            <a:pPr>
              <a:buFont typeface="+mj-lt"/>
              <a:buAutoNum type="arabicPeriod"/>
            </a:pPr>
            <a:r>
              <a:rPr lang="vi-VN" b="1" dirty="0"/>
              <a:t>Route Optimization</a:t>
            </a:r>
            <a:r>
              <a:rPr lang="vi-VN" dirty="0"/>
              <a:t>:</a:t>
            </a:r>
          </a:p>
          <a:p>
            <a:pPr marL="457200" lvl="1" indent="0">
              <a:buFont typeface="+mj-lt"/>
              <a:buNone/>
            </a:pPr>
            <a:r>
              <a:rPr lang="en-US" dirty="0"/>
              <a:t>- </a:t>
            </a:r>
            <a:r>
              <a:rPr lang="vi-VN" dirty="0"/>
              <a:t>Sau khi kết nối được thiết lập, client có thể </a:t>
            </a:r>
            <a:r>
              <a:rPr lang="vi-VN" b="1" dirty="0"/>
              <a:t>trực tiếp gửi dữ liệu đến địa chỉ CA</a:t>
            </a:r>
            <a:r>
              <a:rPr lang="vi-VN" dirty="0"/>
              <a:t>, </a:t>
            </a:r>
            <a:r>
              <a:rPr lang="vi-VN" b="1" dirty="0"/>
              <a:t>bỏ qua Home Agent</a:t>
            </a:r>
            <a:r>
              <a:rPr lang="vi-VN" dirty="0"/>
              <a:t>, giúp giảm độ trễ và tránh tắc nghẽn.</a:t>
            </a:r>
          </a:p>
          <a:p>
            <a:pPr marL="628650" lvl="1" indent="-171450">
              <a:buFontTx/>
              <a:buChar char="-"/>
            </a:pPr>
            <a:r>
              <a:rPr lang="vi-VN" dirty="0"/>
              <a:t>Client lưu cặp địa chỉ (HA, CA) và ngầm sử dụng CA cho các lần truyền dữ liệu sau.</a:t>
            </a:r>
            <a:endParaRPr lang="en-US" dirty="0"/>
          </a:p>
          <a:p>
            <a:pPr marL="628650" lvl="1" indent="-171450">
              <a:buFontTx/>
              <a:buChar char="-"/>
            </a:pPr>
            <a:endParaRPr lang="vi-VN" dirty="0"/>
          </a:p>
          <a:p>
            <a:r>
              <a:rPr lang="en-US" b="1" dirty="0"/>
              <a:t>4. </a:t>
            </a:r>
            <a:r>
              <a:rPr lang="vi-VN" b="1" dirty="0"/>
              <a:t>Hệ thống phân tán hợp tác:</a:t>
            </a:r>
          </a:p>
          <a:p>
            <a:r>
              <a:rPr lang="en-US" dirty="0"/>
              <a:t>Ở </a:t>
            </a:r>
            <a:r>
              <a:rPr lang="en-US" dirty="0" err="1"/>
              <a:t>đây</a:t>
            </a:r>
            <a:r>
              <a:rPr lang="en-US" dirty="0"/>
              <a:t> </a:t>
            </a:r>
            <a:r>
              <a:rPr lang="en-US" dirty="0" err="1"/>
              <a:t>chúng</a:t>
            </a:r>
            <a:r>
              <a:rPr lang="en-US" dirty="0"/>
              <a:t> ta </a:t>
            </a:r>
            <a:r>
              <a:rPr lang="vi-VN" dirty="0"/>
              <a:t>mở rộng khái niệm MobileIPv6 đến một hệ thống phân tán hợp tác, trong đó nhiều máy chủ làm việc cùng nhau.</a:t>
            </a:r>
          </a:p>
          <a:p>
            <a:r>
              <a:rPr lang="vi-VN" dirty="0"/>
              <a:t>Máy chủ gốc (Origin Server): Là máy chủ chính (gốc) duy trì một địa chỉ nhà (tương tự như Home Agent trong MobileIPv6).</a:t>
            </a:r>
          </a:p>
          <a:p>
            <a:r>
              <a:rPr lang="vi-VN" dirty="0"/>
              <a:t>Thay vì định tuyến tất cả lưu lượng đến máy chủ gốc, máy chủ gốc chuyển giao kết nối cho một máy chủ bạn đồng hành (peer server). Máy chủ bạn đồng hành đóng vai trò như một nút tạm thời, xử lý các yêu cầu từ phía khách hàng.</a:t>
            </a:r>
          </a:p>
          <a:p>
            <a:r>
              <a:rPr lang="vi-VN" dirty="0"/>
              <a:t>Từ góc nhìn của khách hàng, có vẻ như máy chủ gốc và máy chủ bạn đồng hành là một, vì quá trình chuyển giao là trong suốt đối với khách hàng.</a:t>
            </a:r>
          </a:p>
          <a:p>
            <a:endParaRPr lang="en-US" b="1" dirty="0"/>
          </a:p>
          <a:p>
            <a:r>
              <a:rPr lang="vi-VN" b="1"/>
              <a:t>Tóm </a:t>
            </a:r>
            <a:r>
              <a:rPr lang="vi-VN" b="1" dirty="0"/>
              <a:t>lại:</a:t>
            </a:r>
          </a:p>
          <a:p>
            <a:r>
              <a:rPr lang="vi-VN" dirty="0"/>
              <a:t>Kỹ thuật này cho phép máy chủ phân tán hoạt động như một máy chủ duy nhất với một địa chỉ cố định, nhưng bên trong có thể linh hoạt thay đổi các node phục vụ, giúp cải thiện khả năng chịu lỗi và hiệu năng mà vẫn giữ được tính ổn định trong mắt client.</a:t>
            </a:r>
          </a:p>
          <a:p>
            <a:endParaRPr lang="en-US" dirty="0"/>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52</a:t>
            </a:fld>
            <a:endParaRPr lang="en-US"/>
          </a:p>
        </p:txBody>
      </p:sp>
    </p:spTree>
    <p:extLst>
      <p:ext uri="{BB962C8B-B14F-4D97-AF65-F5344CB8AC3E}">
        <p14:creationId xmlns:p14="http://schemas.microsoft.com/office/powerpoint/2010/main" val="756513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Case study</a:t>
            </a:r>
            <a:r>
              <a:rPr lang="vi-VN" b="1" dirty="0"/>
              <a:t>: PlanetLab</a:t>
            </a:r>
          </a:p>
          <a:p>
            <a:r>
              <a:rPr lang="vi-VN" dirty="0"/>
              <a:t>Bây giờ, chúng ta hãy xem xét kỹ hơn về một loại máy chủ cụm (cluster server) khá đặc biệt. </a:t>
            </a:r>
            <a:r>
              <a:rPr lang="vi-VN" b="1" dirty="0"/>
              <a:t>PlanetLab</a:t>
            </a:r>
            <a:r>
              <a:rPr lang="vi-VN" dirty="0"/>
              <a:t> là một hệ thống phân tán hợp tác, trong đó nhiều tổ chức khác nhau </a:t>
            </a:r>
            <a:r>
              <a:rPr lang="vi-VN" b="1" dirty="0"/>
              <a:t>cùng đóng góp một hoặc nhiều máy tính</a:t>
            </a:r>
            <a:r>
              <a:rPr lang="vi-VN" dirty="0"/>
              <a:t>, tổng cộng lên đến </a:t>
            </a:r>
            <a:r>
              <a:rPr lang="vi-VN" b="1" dirty="0"/>
              <a:t>hàng trăm nút (nodes)</a:t>
            </a:r>
            <a:r>
              <a:rPr lang="vi-VN" dirty="0"/>
              <a:t>.</a:t>
            </a:r>
          </a:p>
          <a:p>
            <a:r>
              <a:rPr lang="vi-VN" dirty="0"/>
              <a:t>Các máy tính này </a:t>
            </a:r>
            <a:r>
              <a:rPr lang="vi-VN" b="1" dirty="0"/>
              <a:t>hợp lại thành một cụm máy chủ tầng 1 (1-tier cluster server)</a:t>
            </a:r>
            <a:r>
              <a:rPr lang="vi-VN" dirty="0"/>
              <a:t>, nơi mà truy cập, xử lý và lưu trữ </a:t>
            </a:r>
            <a:r>
              <a:rPr lang="vi-VN" b="1" dirty="0"/>
              <a:t>đều có thể được thực hiện độc lập tại từng nút</a:t>
            </a:r>
            <a:r>
              <a:rPr lang="vi-VN" dirty="0"/>
              <a:t>.</a:t>
            </a:r>
          </a:p>
          <a:p>
            <a:r>
              <a:rPr lang="vi-VN" b="1" dirty="0"/>
              <a:t>Việc quản lý PlanetLab gần như hoàn toàn phân tán</a:t>
            </a:r>
            <a:r>
              <a:rPr lang="vi-VN" dirty="0"/>
              <a:t>, do đặc thù của hệ thống và số lượng tổ chức tham gia.</a:t>
            </a:r>
          </a:p>
          <a:p>
            <a:endParaRPr lang="en-US" dirty="0"/>
          </a:p>
          <a:p>
            <a:r>
              <a:rPr lang="vi-VN" b="1" dirty="0"/>
              <a:t>Vấn đề nảy sinh</a:t>
            </a:r>
          </a:p>
          <a:p>
            <a:pPr>
              <a:buFont typeface="Arial" panose="020B0604020202020204" pitchFamily="34" charset="0"/>
              <a:buChar char="•"/>
            </a:pPr>
            <a:r>
              <a:rPr lang="vi-VN" dirty="0"/>
              <a:t>Vì </a:t>
            </a:r>
            <a:r>
              <a:rPr lang="vi-VN" b="1" dirty="0"/>
              <a:t>nhiều ứng dụng phân tán khác nhau chạy song song</a:t>
            </a:r>
            <a:r>
              <a:rPr lang="vi-VN" dirty="0"/>
              <a:t> trên cùng một hạ tầng phần cứng (các máy chủ được chia sẻ), </a:t>
            </a:r>
            <a:r>
              <a:rPr lang="vi-VN" b="1" dirty="0"/>
              <a:t>các ứng dụng có thể can thiệp hoặc ảnh hưởng lẫn nhau</a:t>
            </a:r>
            <a:r>
              <a:rPr lang="vi-VN" dirty="0"/>
              <a:t>:</a:t>
            </a:r>
          </a:p>
          <a:p>
            <a:pPr marL="457200" lvl="1" indent="0">
              <a:buFont typeface="Arial" panose="020B0604020202020204" pitchFamily="34" charset="0"/>
              <a:buNone/>
            </a:pPr>
            <a:r>
              <a:rPr lang="en-US" dirty="0"/>
              <a:t>- </a:t>
            </a:r>
            <a:r>
              <a:rPr lang="vi-VN" dirty="0"/>
              <a:t>Tài nguyên bị chiếm dụng quá mức (CPU, RAM, băng thông).</a:t>
            </a:r>
          </a:p>
          <a:p>
            <a:pPr marL="457200" lvl="1" indent="0">
              <a:buFont typeface="Arial" panose="020B0604020202020204" pitchFamily="34" charset="0"/>
              <a:buNone/>
            </a:pPr>
            <a:r>
              <a:rPr lang="en-US" dirty="0"/>
              <a:t>- </a:t>
            </a:r>
            <a:r>
              <a:rPr lang="vi-VN" dirty="0"/>
              <a:t>Một ứng dụng có thể vô tình (hoặc cố ý) gây lỗi cho ứng dụng khác.</a:t>
            </a:r>
          </a:p>
          <a:p>
            <a:endParaRPr lang="en-US" b="1" dirty="0"/>
          </a:p>
          <a:p>
            <a:r>
              <a:rPr lang="vi-VN" b="1" dirty="0"/>
              <a:t>Giải pháp: Virtualization (ảo hóa)</a:t>
            </a:r>
          </a:p>
          <a:p>
            <a:pPr>
              <a:buFont typeface="Arial" panose="020B0604020202020204" pitchFamily="34" charset="0"/>
              <a:buChar char="•"/>
            </a:pPr>
            <a:r>
              <a:rPr lang="vi-VN" dirty="0"/>
              <a:t>Sử dụng công nghệ </a:t>
            </a:r>
            <a:r>
              <a:rPr lang="vi-VN" b="1" dirty="0"/>
              <a:t>ảo hóa</a:t>
            </a:r>
            <a:r>
              <a:rPr lang="vi-VN" dirty="0"/>
              <a:t> để:</a:t>
            </a:r>
          </a:p>
          <a:p>
            <a:pPr marL="457200" lvl="1" indent="0">
              <a:buFont typeface="Arial" panose="020B0604020202020204" pitchFamily="34" charset="0"/>
              <a:buNone/>
            </a:pPr>
            <a:r>
              <a:rPr lang="en-US" b="1" dirty="0"/>
              <a:t>- </a:t>
            </a:r>
            <a:r>
              <a:rPr lang="vi-VN" b="1" dirty="0"/>
              <a:t>Cách ly</a:t>
            </a:r>
            <a:r>
              <a:rPr lang="vi-VN" dirty="0"/>
              <a:t> các ứng dụng với nhau — mỗi ứng dụng chạy trong </a:t>
            </a:r>
            <a:r>
              <a:rPr lang="vi-VN" b="1" dirty="0"/>
              <a:t>môi trường riêng biệt</a:t>
            </a:r>
            <a:r>
              <a:rPr lang="vi-VN" dirty="0"/>
              <a:t> (ví dụ: container hoặc máy ảo).</a:t>
            </a:r>
          </a:p>
          <a:p>
            <a:pPr marL="457200" lvl="1" indent="0">
              <a:buFont typeface="Arial" panose="020B0604020202020204" pitchFamily="34" charset="0"/>
              <a:buNone/>
            </a:pPr>
            <a:r>
              <a:rPr lang="en-US" b="1" dirty="0"/>
              <a:t>- </a:t>
            </a:r>
            <a:r>
              <a:rPr lang="vi-VN" b="1" dirty="0"/>
              <a:t>Quản lý tài nguyên tốt hơn</a:t>
            </a:r>
            <a:r>
              <a:rPr lang="vi-VN" dirty="0"/>
              <a:t> — cấp phát tài nguyên theo từng ứng dụng.</a:t>
            </a:r>
          </a:p>
          <a:p>
            <a:pPr marL="457200" lvl="1" indent="0">
              <a:buFont typeface="Arial" panose="020B0604020202020204" pitchFamily="34" charset="0"/>
              <a:buNone/>
            </a:pPr>
            <a:r>
              <a:rPr lang="en-US" dirty="0"/>
              <a:t>- </a:t>
            </a:r>
            <a:r>
              <a:rPr lang="vi-VN" dirty="0"/>
              <a:t>Tăng </a:t>
            </a:r>
            <a:r>
              <a:rPr lang="vi-VN" b="1" dirty="0"/>
              <a:t>độ an toàn, ổn định</a:t>
            </a:r>
            <a:r>
              <a:rPr lang="vi-VN" dirty="0"/>
              <a:t> và cho phép nhiều thí nghiệm </a:t>
            </a:r>
            <a:r>
              <a:rPr lang="vi-VN" b="1" dirty="0"/>
              <a:t>diễn ra đồng thời</a:t>
            </a:r>
            <a:r>
              <a:rPr lang="vi-VN" dirty="0"/>
              <a:t> mà không xung đột.</a:t>
            </a:r>
          </a:p>
        </p:txBody>
      </p:sp>
      <p:sp>
        <p:nvSpPr>
          <p:cNvPr id="4" name="Slide Number Placeholder 3"/>
          <p:cNvSpPr>
            <a:spLocks noGrp="1"/>
          </p:cNvSpPr>
          <p:nvPr>
            <p:ph type="sldNum" sz="quarter" idx="5"/>
          </p:nvPr>
        </p:nvSpPr>
        <p:spPr/>
        <p:txBody>
          <a:bodyPr/>
          <a:lstStyle/>
          <a:p>
            <a:fld id="{0EA9AC37-8FF6-483B-AAA6-B9FE5516F543}" type="slidenum">
              <a:rPr lang="en-US" smtClean="0"/>
              <a:t>53</a:t>
            </a:fld>
            <a:endParaRPr lang="en-US"/>
          </a:p>
        </p:txBody>
      </p:sp>
    </p:spTree>
    <p:extLst>
      <p:ext uri="{BB962C8B-B14F-4D97-AF65-F5344CB8AC3E}">
        <p14:creationId xmlns:p14="http://schemas.microsoft.com/office/powerpoint/2010/main" val="18904641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Tổ chức tổng quan</a:t>
            </a:r>
          </a:p>
          <a:p>
            <a:r>
              <a:rPr lang="vi-VN" dirty="0"/>
              <a:t>Trong PlanetLab, một tổ chức tham gia sẽ đóng góp một hoặc nhiều nút (tức là máy tính), sau đó được chia sẻ cho tất cả người dùng PlanetLab. Mỗi nút được tổ chức như minh họa trong Hình. Có hai thành phần quan trọng:</a:t>
            </a:r>
            <a:endParaRPr lang="en-US" dirty="0"/>
          </a:p>
          <a:p>
            <a:endParaRPr lang="vi-VN" dirty="0"/>
          </a:p>
          <a:p>
            <a:pPr>
              <a:buFont typeface="+mj-lt"/>
              <a:buAutoNum type="arabicPeriod"/>
            </a:pPr>
            <a:r>
              <a:rPr lang="vi-VN" b="1" dirty="0"/>
              <a:t>Bộ giám sát máy ảo (Virtual Machine Monitor - VMM)</a:t>
            </a:r>
            <a:r>
              <a:rPr lang="vi-VN" dirty="0"/>
              <a:t>, là một hệ điều hành Linux đã được cải tiến.</a:t>
            </a:r>
            <a:endParaRPr lang="en-US" dirty="0"/>
          </a:p>
          <a:p>
            <a:pPr>
              <a:buFont typeface="+mj-lt"/>
              <a:buAutoNum type="arabicPeriod"/>
            </a:pPr>
            <a:endParaRPr lang="vi-VN" dirty="0"/>
          </a:p>
          <a:p>
            <a:pPr>
              <a:buFont typeface="+mj-lt"/>
              <a:buAutoNum type="arabicPeriod"/>
            </a:pPr>
            <a:r>
              <a:rPr lang="vi-VN" b="1" dirty="0"/>
              <a:t>Những cải tiến này chủ yếu để hỗ trợ thành phần thứ hai, đó là (Linux) Vservers.</a:t>
            </a:r>
          </a:p>
          <a:p>
            <a:r>
              <a:rPr lang="vi-VN" dirty="0"/>
              <a:t>Tạm thời, có thể hiểu </a:t>
            </a:r>
            <a:r>
              <a:rPr lang="vi-VN" b="1" dirty="0"/>
              <a:t>Vserver</a:t>
            </a:r>
            <a:r>
              <a:rPr lang="vi-VN" dirty="0"/>
              <a:t> là một môi trường riêng biệt, trong đó một nhóm các tiến trình được chạy.</a:t>
            </a:r>
          </a:p>
          <a:p>
            <a:r>
              <a:rPr lang="vi-VN" dirty="0"/>
              <a:t>Hệ điều hành Linux có vai trò như VMM đảm bảo </a:t>
            </a:r>
            <a:r>
              <a:rPr lang="vi-VN" b="1" dirty="0"/>
              <a:t>các Vserver được cách ly</a:t>
            </a:r>
            <a:r>
              <a:rPr lang="vi-VN" dirty="0"/>
              <a:t>:</a:t>
            </a:r>
          </a:p>
          <a:p>
            <a:pPr>
              <a:buFont typeface="Arial" panose="020B0604020202020204" pitchFamily="34" charset="0"/>
              <a:buChar char="•"/>
            </a:pPr>
            <a:r>
              <a:rPr lang="vi-VN" dirty="0"/>
              <a:t>Các tiến trình trong những Vserver khác nhau được chạy đồng thời và độc lập,</a:t>
            </a:r>
          </a:p>
          <a:p>
            <a:pPr>
              <a:buFont typeface="Arial" panose="020B0604020202020204" pitchFamily="34" charset="0"/>
              <a:buChar char="•"/>
            </a:pPr>
            <a:r>
              <a:rPr lang="vi-VN" dirty="0"/>
              <a:t>Mỗi cái chỉ sử dụng phần mềm và chương trình trong môi trường riêng của nó.</a:t>
            </a:r>
          </a:p>
          <a:p>
            <a:r>
              <a:rPr lang="vi-VN" dirty="0"/>
              <a:t>Sự cách ly giữa các tiến trình là </a:t>
            </a:r>
            <a:r>
              <a:rPr lang="vi-VN" b="1" dirty="0"/>
              <a:t>rất nghiêm ngặt</a:t>
            </a:r>
            <a:r>
              <a:rPr lang="vi-VN" dirty="0"/>
              <a:t>. Ví dụ, hai tiến trình ở hai Vserver khác nhau có thể có cùng một user ID, nhưng điều đó </a:t>
            </a:r>
            <a:r>
              <a:rPr lang="vi-VN" b="1" dirty="0"/>
              <a:t>không có nghĩa là</a:t>
            </a:r>
            <a:r>
              <a:rPr lang="vi-VN" dirty="0"/>
              <a:t> chúng đến từ cùng một người dùng.</a:t>
            </a:r>
          </a:p>
          <a:p>
            <a:r>
              <a:rPr lang="vi-VN" dirty="0"/>
              <a:t>Sự cách ly này giúp </a:t>
            </a:r>
            <a:r>
              <a:rPr lang="vi-VN" b="1" dirty="0"/>
              <a:t>hỗ trợ người dùng từ các tổ chức khác nhau</a:t>
            </a:r>
            <a:r>
              <a:rPr lang="vi-VN" dirty="0"/>
              <a:t> muốn sử dụng PlanetLab như một nền tảng thử nghiệm các hệ thống phân tán và ứng dụng khác nhau.</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54</a:t>
            </a:fld>
            <a:endParaRPr lang="en-US"/>
          </a:p>
        </p:txBody>
      </p:sp>
    </p:spTree>
    <p:extLst>
      <p:ext uri="{BB962C8B-B14F-4D97-AF65-F5344CB8AC3E}">
        <p14:creationId xmlns:p14="http://schemas.microsoft.com/office/powerpoint/2010/main" val="208024454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Vservers</a:t>
            </a:r>
          </a:p>
          <a:p>
            <a:r>
              <a:rPr lang="vi-VN" dirty="0"/>
              <a:t>Giờ hãy tập trung vào Vserver trong PlanetLab</a:t>
            </a:r>
            <a:r>
              <a:rPr lang="en-US" dirty="0"/>
              <a:t>:</a:t>
            </a:r>
            <a:endParaRPr lang="vi-VN" dirty="0"/>
          </a:p>
          <a:p>
            <a:pPr>
              <a:buFont typeface="Arial" panose="020B0604020202020204" pitchFamily="34" charset="0"/>
              <a:buChar char="•"/>
            </a:pPr>
            <a:r>
              <a:rPr lang="vi-VN" dirty="0"/>
              <a:t>Vserver được xây dựng theo </a:t>
            </a:r>
            <a:r>
              <a:rPr lang="vi-VN" b="1" dirty="0"/>
              <a:t>cách tiếp cận dựa trên container</a:t>
            </a:r>
            <a:r>
              <a:rPr lang="vi-VN" dirty="0"/>
              <a:t>.</a:t>
            </a:r>
          </a:p>
          <a:p>
            <a:r>
              <a:rPr lang="vi-VN" dirty="0"/>
              <a:t>Khác với máy ảo truyền thống (như được mô tả ở mục 3.2), Vserver:</a:t>
            </a:r>
          </a:p>
          <a:p>
            <a:pPr>
              <a:buFont typeface="Arial" panose="020B0604020202020204" pitchFamily="34" charset="0"/>
              <a:buChar char="•"/>
            </a:pPr>
            <a:r>
              <a:rPr lang="vi-VN" dirty="0"/>
              <a:t>Dùng </a:t>
            </a:r>
            <a:r>
              <a:rPr lang="vi-VN" b="1" dirty="0"/>
              <a:t>chung một nhân hệ điều hành (OS kernel)</a:t>
            </a:r>
            <a:r>
              <a:rPr lang="vi-VN" dirty="0"/>
              <a:t>,</a:t>
            </a:r>
          </a:p>
          <a:p>
            <a:pPr>
              <a:buFont typeface="Arial" panose="020B0604020202020204" pitchFamily="34" charset="0"/>
              <a:buChar char="•"/>
            </a:pPr>
            <a:r>
              <a:rPr lang="vi-VN" dirty="0"/>
              <a:t>Do đó, quản lý tài nguyên </a:t>
            </a:r>
            <a:r>
              <a:rPr lang="vi-VN" b="1" dirty="0"/>
              <a:t>chủ yếu do hệ điều hành thực hiện</a:t>
            </a:r>
            <a:r>
              <a:rPr lang="vi-VN" dirty="0"/>
              <a:t>, không phải từng Vserver.</a:t>
            </a:r>
          </a:p>
          <a:p>
            <a:r>
              <a:rPr lang="vi-VN" dirty="0"/>
              <a:t>Nhiệm vụ chính của Vserver:</a:t>
            </a:r>
          </a:p>
          <a:p>
            <a:pPr>
              <a:buFont typeface="Arial" panose="020B0604020202020204" pitchFamily="34" charset="0"/>
              <a:buChar char="•"/>
            </a:pPr>
            <a:r>
              <a:rPr lang="vi-VN" dirty="0"/>
              <a:t>Chỉ hỗ trợ một nhóm tiến trình,</a:t>
            </a:r>
          </a:p>
          <a:p>
            <a:pPr>
              <a:buFont typeface="Arial" panose="020B0604020202020204" pitchFamily="34" charset="0"/>
              <a:buChar char="•"/>
            </a:pPr>
            <a:r>
              <a:rPr lang="vi-VN" dirty="0"/>
              <a:t>Đảm bảo cách ly nhóm đó với các tiến trình của Vserver khác.</a:t>
            </a:r>
          </a:p>
          <a:p>
            <a:r>
              <a:rPr lang="vi-VN" dirty="0"/>
              <a:t>Vserver tạo ra </a:t>
            </a:r>
            <a:r>
              <a:rPr lang="vi-VN" b="1" dirty="0"/>
              <a:t>môi trường độc lập</a:t>
            </a:r>
            <a:r>
              <a:rPr lang="vi-VN" dirty="0"/>
              <a:t> cho tiến trình và tài nguyên của nhóm đó.</a:t>
            </a:r>
            <a:br>
              <a:rPr lang="vi-VN" dirty="0"/>
            </a:br>
            <a:r>
              <a:rPr lang="vi-VN" dirty="0"/>
              <a:t>Ngày nay, các </a:t>
            </a:r>
            <a:r>
              <a:rPr lang="vi-VN" b="1" dirty="0"/>
              <a:t>container</a:t>
            </a:r>
            <a:r>
              <a:rPr lang="vi-VN" dirty="0"/>
              <a:t> trở nên rất phổ biến trong việc cung cấp dịch vụ đám mây (cloud services).</a:t>
            </a:r>
          </a:p>
          <a:p>
            <a:endParaRPr lang="en-US" dirty="0"/>
          </a:p>
          <a:p>
            <a:r>
              <a:rPr lang="vi-VN" b="1" dirty="0"/>
              <a:t>Slices</a:t>
            </a:r>
          </a:p>
          <a:p>
            <a:r>
              <a:rPr lang="vi-VN" dirty="0"/>
              <a:t>Để hỗ trợ việc thử nghiệm như vậy, PlanetLab sử dụng khái niệm </a:t>
            </a:r>
            <a:r>
              <a:rPr lang="vi-VN" b="1" dirty="0"/>
              <a:t>slice</a:t>
            </a:r>
            <a:r>
              <a:rPr lang="vi-VN" dirty="0"/>
              <a:t> — mỗi slice là một </a:t>
            </a:r>
            <a:r>
              <a:rPr lang="vi-VN" b="1" dirty="0"/>
              <a:t>tập hợp các Vserver</a:t>
            </a:r>
            <a:r>
              <a:rPr lang="vi-VN" dirty="0"/>
              <a:t>, mỗi Vserver chạy trên một nút khác nha</a:t>
            </a:r>
            <a:r>
              <a:rPr lang="en-US" dirty="0"/>
              <a:t>u </a:t>
            </a:r>
            <a:r>
              <a:rPr lang="en-US" dirty="0" err="1"/>
              <a:t>như</a:t>
            </a:r>
            <a:r>
              <a:rPr lang="en-US" dirty="0"/>
              <a:t> </a:t>
            </a:r>
            <a:r>
              <a:rPr lang="en-US" dirty="0" err="1"/>
              <a:t>Hình</a:t>
            </a:r>
            <a:r>
              <a:rPr lang="en-US" dirty="0"/>
              <a:t> </a:t>
            </a:r>
            <a:r>
              <a:rPr lang="en-US" dirty="0" err="1"/>
              <a:t>minh</a:t>
            </a:r>
            <a:r>
              <a:rPr lang="en-US" dirty="0"/>
              <a:t> </a:t>
            </a:r>
            <a:r>
              <a:rPr lang="en-US" dirty="0" err="1"/>
              <a:t>họa</a:t>
            </a:r>
            <a:r>
              <a:rPr lang="vi-VN" dirty="0"/>
              <a:t>. Slice có thể được coi như một </a:t>
            </a:r>
            <a:r>
              <a:rPr lang="vi-VN" b="1" dirty="0"/>
              <a:t>cụm máy chủ ảo</a:t>
            </a:r>
            <a:r>
              <a:rPr lang="vi-VN" dirty="0"/>
              <a:t>, được triển khai bằng tập hợp các máy ảo.</a:t>
            </a:r>
          </a:p>
          <a:p>
            <a:endParaRPr lang="en-US" dirty="0"/>
          </a:p>
          <a:p>
            <a:r>
              <a:rPr lang="en-US" dirty="0"/>
              <a:t>------------------------------------------------------------------------------------------------------------------------------------------------------------------------------------------------------------------------</a:t>
            </a:r>
          </a:p>
          <a:p>
            <a:r>
              <a:rPr lang="vi-VN" b="1" dirty="0"/>
              <a:t>Quản lý tài nguyên</a:t>
            </a:r>
          </a:p>
          <a:p>
            <a:r>
              <a:rPr lang="vi-VN" b="1" dirty="0"/>
              <a:t>Trung tâm của việc quản lý tài nguyên trong PlanetLab là “node manager”</a:t>
            </a:r>
            <a:r>
              <a:rPr lang="vi-VN" dirty="0"/>
              <a:t>.</a:t>
            </a:r>
          </a:p>
          <a:p>
            <a:pPr>
              <a:buFont typeface="Arial" panose="020B0604020202020204" pitchFamily="34" charset="0"/>
              <a:buChar char="•"/>
            </a:pPr>
            <a:r>
              <a:rPr lang="vi-VN" dirty="0"/>
              <a:t>Mỗi nút có một node manager riêng, được triển khai dưới dạng một Vserver riêng biệt.</a:t>
            </a:r>
          </a:p>
          <a:p>
            <a:pPr>
              <a:buFont typeface="Arial" panose="020B0604020202020204" pitchFamily="34" charset="0"/>
              <a:buChar char="•"/>
            </a:pPr>
            <a:r>
              <a:rPr lang="vi-VN" dirty="0"/>
              <a:t>Nhiệm vụ của node manager là tạo các Vserver khác trên nút đó và </a:t>
            </a:r>
            <a:r>
              <a:rPr lang="vi-VN" b="1" dirty="0"/>
              <a:t>quản lý việc phân bổ tài nguyên</a:t>
            </a:r>
            <a:r>
              <a:rPr lang="vi-VN" dirty="0"/>
              <a:t>.</a:t>
            </a:r>
          </a:p>
          <a:p>
            <a:r>
              <a:rPr lang="vi-VN" dirty="0"/>
              <a:t>Để tạo slice mới, mỗi nút cũng sẽ chạy một dịch vụ </a:t>
            </a:r>
            <a:r>
              <a:rPr lang="vi-VN" b="1" dirty="0"/>
              <a:t>Slice Creation Service (SCS)</a:t>
            </a:r>
            <a:r>
              <a:rPr lang="vi-VN" dirty="0"/>
              <a:t>, có thể liên hệ với node manager để yêu cầu tạo Vserver và cấp phát tài nguyên.</a:t>
            </a:r>
          </a:p>
          <a:p>
            <a:pPr>
              <a:buFont typeface="Arial" panose="020B0604020202020204" pitchFamily="34" charset="0"/>
              <a:buChar char="•"/>
            </a:pPr>
            <a:r>
              <a:rPr lang="vi-VN" dirty="0"/>
              <a:t>Node manager </a:t>
            </a:r>
            <a:r>
              <a:rPr lang="vi-VN" b="1" dirty="0"/>
              <a:t>không thể bị liên hệ trực tiếp qua mạng</a:t>
            </a:r>
            <a:r>
              <a:rPr lang="vi-VN" dirty="0"/>
              <a:t> để tập trung vào việc quản lý tài nguyên cục bộ.</a:t>
            </a:r>
          </a:p>
          <a:p>
            <a:pPr>
              <a:buFont typeface="Arial" panose="020B0604020202020204" pitchFamily="34" charset="0"/>
              <a:buChar char="•"/>
            </a:pPr>
            <a:r>
              <a:rPr lang="vi-VN" dirty="0"/>
              <a:t>SCS cũng </a:t>
            </a:r>
            <a:r>
              <a:rPr lang="vi-VN" b="1" dirty="0"/>
              <a:t>không chấp nhận yêu cầu tạo slice từ bất kỳ ai</a:t>
            </a:r>
            <a:r>
              <a:rPr lang="vi-VN" dirty="0"/>
              <a:t> — chỉ những </a:t>
            </a:r>
            <a:r>
              <a:rPr lang="vi-VN" b="1" dirty="0"/>
              <a:t>slice authority (tổ chức có thẩm quyền)</a:t>
            </a:r>
            <a:r>
              <a:rPr lang="vi-VN" dirty="0"/>
              <a:t> mới được phép yêu cầu tạo slice.</a:t>
            </a:r>
          </a:p>
          <a:p>
            <a:r>
              <a:rPr lang="vi-VN" dirty="0"/>
              <a:t>Slice authority có quyền truy cập vào một tập hợp các nút nhất định. Mô hình đơn giản nhất là chỉ có </a:t>
            </a:r>
            <a:r>
              <a:rPr lang="vi-VN" b="1" dirty="0"/>
              <a:t>một slice authority trung tâm</a:t>
            </a:r>
            <a:r>
              <a:rPr lang="vi-VN" dirty="0"/>
              <a:t> có quyền yêu cầu tạo slice trên tất cả các nút. Thực tế, slice authority này thường là đầu mối giúp người dùng bắt đầu sử dụng PlanetLab.</a:t>
            </a:r>
          </a:p>
          <a:p>
            <a:endParaRPr lang="en-US" dirty="0"/>
          </a:p>
          <a:p>
            <a:r>
              <a:rPr lang="vi-VN" b="1" dirty="0"/>
              <a:t>Thông số tài nguyên (rspec)</a:t>
            </a:r>
          </a:p>
          <a:p>
            <a:r>
              <a:rPr lang="vi-VN" dirty="0"/>
              <a:t>Việc theo dõi tài nguyên được thực hiện thông qua </a:t>
            </a:r>
            <a:r>
              <a:rPr lang="vi-VN" b="1" dirty="0"/>
              <a:t>resource specification (rspec)</a:t>
            </a:r>
            <a:r>
              <a:rPr lang="vi-VN" dirty="0"/>
              <a:t>.</a:t>
            </a:r>
          </a:p>
          <a:p>
            <a:pPr>
              <a:buFont typeface="Arial" panose="020B0604020202020204" pitchFamily="34" charset="0"/>
              <a:buChar char="•"/>
            </a:pPr>
            <a:r>
              <a:rPr lang="vi-VN" dirty="0"/>
              <a:t>Rspec xác định </a:t>
            </a:r>
            <a:r>
              <a:rPr lang="vi-VN" b="1" dirty="0"/>
              <a:t>khoảng thời gian</a:t>
            </a:r>
            <a:r>
              <a:rPr lang="vi-VN" dirty="0"/>
              <a:t> và </a:t>
            </a:r>
            <a:r>
              <a:rPr lang="vi-VN" b="1" dirty="0"/>
              <a:t>loại tài nguyên</a:t>
            </a:r>
            <a:r>
              <a:rPr lang="vi-VN" dirty="0"/>
              <a:t> được cấp phát như:</a:t>
            </a:r>
          </a:p>
          <a:p>
            <a:pPr marL="742950" lvl="1" indent="-285750">
              <a:buFont typeface="Arial" panose="020B0604020202020204" pitchFamily="34" charset="0"/>
              <a:buChar char="•"/>
            </a:pPr>
            <a:r>
              <a:rPr lang="vi-VN" dirty="0"/>
              <a:t>dung lượng ổ đĩa,</a:t>
            </a:r>
          </a:p>
          <a:p>
            <a:pPr marL="742950" lvl="1" indent="-285750">
              <a:buFont typeface="Arial" panose="020B0604020202020204" pitchFamily="34" charset="0"/>
              <a:buChar char="•"/>
            </a:pPr>
            <a:r>
              <a:rPr lang="vi-VN" dirty="0"/>
              <a:t>số lượng file descriptors,</a:t>
            </a:r>
          </a:p>
          <a:p>
            <a:pPr marL="742950" lvl="1" indent="-285750">
              <a:buFont typeface="Arial" panose="020B0604020202020204" pitchFamily="34" charset="0"/>
              <a:buChar char="•"/>
            </a:pPr>
            <a:r>
              <a:rPr lang="vi-VN" dirty="0"/>
              <a:t>băng thông mạng vào và ra,</a:t>
            </a:r>
          </a:p>
          <a:p>
            <a:pPr marL="742950" lvl="1" indent="-285750">
              <a:buFont typeface="Arial" panose="020B0604020202020204" pitchFamily="34" charset="0"/>
              <a:buChar char="•"/>
            </a:pPr>
            <a:r>
              <a:rPr lang="vi-VN" dirty="0"/>
              <a:t>điểm cuối cấp truyền (transport-level endpoints),</a:t>
            </a:r>
          </a:p>
          <a:p>
            <a:pPr marL="742950" lvl="1" indent="-285750">
              <a:buFont typeface="Arial" panose="020B0604020202020204" pitchFamily="34" charset="0"/>
              <a:buChar char="•"/>
            </a:pPr>
            <a:r>
              <a:rPr lang="vi-VN" dirty="0"/>
              <a:t>bộ nhớ chính và</a:t>
            </a:r>
          </a:p>
          <a:p>
            <a:pPr marL="742950" lvl="1" indent="-285750">
              <a:buFont typeface="Arial" panose="020B0604020202020204" pitchFamily="34" charset="0"/>
              <a:buChar char="•"/>
            </a:pPr>
            <a:r>
              <a:rPr lang="vi-VN" dirty="0"/>
              <a:t>mức sử dụng CPU.</a:t>
            </a:r>
          </a:p>
          <a:p>
            <a:r>
              <a:rPr lang="vi-VN" dirty="0"/>
              <a:t>Mỗi rspec được định danh bằng </a:t>
            </a:r>
            <a:r>
              <a:rPr lang="vi-VN" b="1" dirty="0"/>
              <a:t>resource capability (rcap)</a:t>
            </a:r>
            <a:r>
              <a:rPr lang="vi-VN" dirty="0"/>
              <a:t> — một mã 128-bit duy nhất toàn cầu. Khi có rcap, node manager có thể tra cứu rspec trong bảng cục bộ.</a:t>
            </a:r>
          </a:p>
          <a:p>
            <a:r>
              <a:rPr lang="vi-VN" dirty="0"/>
              <a:t>Tài nguyên được </a:t>
            </a:r>
            <a:r>
              <a:rPr lang="vi-VN" b="1" dirty="0"/>
              <a:t>gắn liền với slice</a:t>
            </a:r>
            <a:r>
              <a:rPr lang="vi-VN" dirty="0"/>
              <a:t>, nghĩa là muốn sử dụng tài nguyên thì phải tạo slice trước. Mỗi slice gắn với </a:t>
            </a:r>
            <a:r>
              <a:rPr lang="vi-VN" b="1" dirty="0"/>
              <a:t>một nhà cung cấp dịch vụ</a:t>
            </a:r>
            <a:r>
              <a:rPr lang="vi-VN" dirty="0"/>
              <a:t>, có thể hiểu như một người dùng có tài khoản trên PlanetLab.</a:t>
            </a:r>
            <a:br>
              <a:rPr lang="vi-VN" dirty="0"/>
            </a:br>
            <a:r>
              <a:rPr lang="vi-VN" dirty="0"/>
              <a:t>Slice được định danh bằng cặp </a:t>
            </a:r>
            <a:r>
              <a:rPr lang="vi-VN" b="1" dirty="0"/>
              <a:t>(principal_id, slice_tag)</a:t>
            </a:r>
            <a:r>
              <a:rPr lang="vi-VN" dirty="0"/>
              <a:t>:</a:t>
            </a:r>
          </a:p>
          <a:p>
            <a:pPr>
              <a:buFont typeface="Arial" panose="020B0604020202020204" pitchFamily="34" charset="0"/>
              <a:buChar char="•"/>
            </a:pPr>
            <a:r>
              <a:rPr lang="vi-VN" dirty="0"/>
              <a:t>principal_id: định danh nhà cung cấp,</a:t>
            </a:r>
          </a:p>
          <a:p>
            <a:pPr>
              <a:buFont typeface="Arial" panose="020B0604020202020204" pitchFamily="34" charset="0"/>
              <a:buChar char="•"/>
            </a:pPr>
            <a:r>
              <a:rPr lang="vi-VN" dirty="0"/>
              <a:t>slice_tag: tên do nhà cung cấp gán.</a:t>
            </a:r>
          </a:p>
          <a:p>
            <a:endParaRPr lang="en-US" dirty="0"/>
          </a:p>
          <a:p>
            <a:r>
              <a:rPr lang="vi-VN" b="1" dirty="0"/>
              <a:t>Kỹ thuật cách ly</a:t>
            </a:r>
          </a:p>
          <a:p>
            <a:r>
              <a:rPr lang="vi-VN" dirty="0"/>
              <a:t>Việc cách ly được đảm bảo bởi </a:t>
            </a:r>
            <a:r>
              <a:rPr lang="vi-VN" b="1" dirty="0"/>
              <a:t>VMM trong hệ điều hành Linux đã được chỉnh sửa</a:t>
            </a:r>
            <a:r>
              <a:rPr lang="vi-VN" dirty="0"/>
              <a:t>. Một chỉnh sửa quan trọng là </a:t>
            </a:r>
            <a:r>
              <a:rPr lang="vi-VN" b="1" dirty="0"/>
              <a:t>tách biệt các không gian tên (namespaces)</a:t>
            </a:r>
            <a:r>
              <a:rPr lang="vi-VN" dirty="0"/>
              <a:t>:</a:t>
            </a:r>
          </a:p>
          <a:p>
            <a:pPr>
              <a:buFont typeface="Arial" panose="020B0604020202020204" pitchFamily="34" charset="0"/>
              <a:buChar char="•"/>
            </a:pPr>
            <a:r>
              <a:rPr lang="vi-VN" dirty="0"/>
              <a:t>Ví dụ: trong Unix, tiến trình init thường có process ID = 1.</a:t>
            </a:r>
          </a:p>
          <a:p>
            <a:pPr>
              <a:buFont typeface="Arial" panose="020B0604020202020204" pitchFamily="34" charset="0"/>
              <a:buChar char="•"/>
            </a:pPr>
            <a:r>
              <a:rPr lang="vi-VN" dirty="0"/>
              <a:t>Mỗi Vserver cũng cần có tiến trình init với ID = 1,</a:t>
            </a:r>
          </a:p>
          <a:p>
            <a:pPr>
              <a:buFont typeface="Arial" panose="020B0604020202020204" pitchFamily="34" charset="0"/>
              <a:buChar char="•"/>
            </a:pPr>
            <a:r>
              <a:rPr lang="vi-VN" dirty="0"/>
              <a:t>Kernel Linux sẽ quản lý ánh xạ giữa process ID ảo (của Vserver) và ID thực trên hệ thống.</a:t>
            </a:r>
          </a:p>
          <a:p>
            <a:r>
              <a:rPr lang="vi-VN" dirty="0"/>
              <a:t>Vserver cũng có </a:t>
            </a:r>
            <a:r>
              <a:rPr lang="vi-VN" b="1" dirty="0"/>
              <a:t>thư viện riêng</a:t>
            </a:r>
            <a:r>
              <a:rPr lang="vi-VN" dirty="0"/>
              <a:t>, nhưng vẫn dùng cấu trúc thư mục tiêu chuẩn như /dev, /home, /proc, /usr, v.v. </a:t>
            </a:r>
            <a:r>
              <a:rPr lang="en-US" dirty="0" err="1"/>
              <a:t>như</a:t>
            </a:r>
            <a:r>
              <a:rPr lang="en-US" dirty="0"/>
              <a:t> </a:t>
            </a:r>
            <a:r>
              <a:rPr lang="en-US" dirty="0" err="1"/>
              <a:t>Hình</a:t>
            </a:r>
            <a:r>
              <a:rPr lang="en-US" dirty="0"/>
              <a:t> ở slide </a:t>
            </a:r>
            <a:r>
              <a:rPr lang="en-US" dirty="0" err="1"/>
              <a:t>trước</a:t>
            </a:r>
            <a:r>
              <a:rPr lang="vi-VN" dirty="0"/>
              <a:t>.</a:t>
            </a:r>
            <a:br>
              <a:rPr lang="vi-VN" dirty="0"/>
            </a:br>
            <a:r>
              <a:rPr lang="vi-VN" dirty="0"/>
              <a:t>Điều này có thể đạt được bằng lệnh chroot, nhưng cần </a:t>
            </a:r>
            <a:r>
              <a:rPr lang="vi-VN" b="1" dirty="0"/>
              <a:t>các biện pháp ở mức kernel</a:t>
            </a:r>
            <a:r>
              <a:rPr lang="vi-VN" dirty="0"/>
              <a:t> để tránh truy cập trái phép giữa các Vserver.</a:t>
            </a:r>
          </a:p>
          <a:p>
            <a:endParaRPr lang="en-US" dirty="0"/>
          </a:p>
          <a:p>
            <a:r>
              <a:rPr lang="vi-VN" b="1" dirty="0"/>
              <a:t>Ưu điểm của mô hình container</a:t>
            </a:r>
          </a:p>
          <a:p>
            <a:r>
              <a:rPr lang="vi-VN" dirty="0"/>
              <a:t>Một lợi thế lớn của container so với chạy hệ điều hành khách (guest OS) là </a:t>
            </a:r>
            <a:r>
              <a:rPr lang="vi-VN" b="1" dirty="0"/>
              <a:t>quản lý tài nguyên đơn giản hơn nhiều</a:t>
            </a:r>
            <a:r>
              <a:rPr lang="vi-VN" dirty="0"/>
              <a:t>:</a:t>
            </a:r>
          </a:p>
          <a:p>
            <a:pPr>
              <a:buFont typeface="Arial" panose="020B0604020202020204" pitchFamily="34" charset="0"/>
              <a:buChar char="•"/>
            </a:pPr>
            <a:r>
              <a:rPr lang="vi-VN" dirty="0"/>
              <a:t>Có thể </a:t>
            </a:r>
            <a:r>
              <a:rPr lang="vi-VN" b="1" dirty="0"/>
              <a:t>overbook tài nguyên</a:t>
            </a:r>
            <a:r>
              <a:rPr lang="vi-VN" dirty="0"/>
              <a:t>, dùng cơ chế cấp phát động giống như cấp phát cho tiến trình thông thường.</a:t>
            </a:r>
          </a:p>
          <a:p>
            <a:pPr>
              <a:buFont typeface="Arial" panose="020B0604020202020204" pitchFamily="34" charset="0"/>
              <a:buChar char="•"/>
            </a:pPr>
            <a:r>
              <a:rPr lang="vi-VN" dirty="0"/>
              <a:t>Với guest OS, tài nguyên (như RAM) phải được </a:t>
            </a:r>
            <a:r>
              <a:rPr lang="vi-VN" b="1" dirty="0"/>
              <a:t>cấp trước một lượng cố định</a:t>
            </a:r>
            <a:r>
              <a:rPr lang="vi-VN" dirty="0"/>
              <a:t>.</a:t>
            </a:r>
          </a:p>
          <a:p>
            <a:r>
              <a:rPr lang="vi-VN" dirty="0"/>
              <a:t>Do các nút trong PlanetLab thường có </a:t>
            </a:r>
            <a:r>
              <a:rPr lang="vi-VN" b="1" dirty="0"/>
              <a:t>bộ nhớ giới hạn (vài GB)</a:t>
            </a:r>
            <a:r>
              <a:rPr lang="vi-VN" dirty="0"/>
              <a:t>, nên cần cấp phát động để </a:t>
            </a:r>
            <a:r>
              <a:rPr lang="vi-VN" b="1" dirty="0"/>
              <a:t>chạy hàng chục máy ảo cùng lúc</a:t>
            </a:r>
            <a:r>
              <a:rPr lang="vi-VN" dirty="0"/>
              <a:t>.</a:t>
            </a:r>
            <a:br>
              <a:rPr lang="vi-VN" dirty="0"/>
            </a:br>
            <a:r>
              <a:rPr lang="vi-VN" dirty="0"/>
              <a:t>→ Vserver </a:t>
            </a:r>
            <a:r>
              <a:rPr lang="vi-VN" b="1" dirty="0"/>
              <a:t>rất phù hợp cho việc này</a:t>
            </a:r>
            <a:r>
              <a:rPr lang="vi-VN" dirty="0"/>
              <a:t>, còn chạy hệ điều hành khách thì phức tạp hơn nhiều.</a:t>
            </a:r>
          </a:p>
          <a:p>
            <a:r>
              <a:rPr lang="vi-VN" dirty="0"/>
              <a:t>Tuy nhiên, nếu một Vserver </a:t>
            </a:r>
            <a:r>
              <a:rPr lang="vi-VN" b="1" dirty="0"/>
              <a:t>sử dụng quá nhiều bộ nhớ</a:t>
            </a:r>
            <a:r>
              <a:rPr lang="vi-VN" dirty="0"/>
              <a:t> khi không gian swap gần đầy, PlanetLab sẽ </a:t>
            </a:r>
            <a:r>
              <a:rPr lang="vi-VN" b="1" dirty="0"/>
              <a:t>đơn giản là khởi động lại (reset) Vserver đó</a:t>
            </a:r>
            <a:r>
              <a:rPr lang="vi-VN" dirty="0"/>
              <a:t>.</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55</a:t>
            </a:fld>
            <a:endParaRPr lang="en-US"/>
          </a:p>
        </p:txBody>
      </p:sp>
    </p:spTree>
    <p:extLst>
      <p:ext uri="{BB962C8B-B14F-4D97-AF65-F5344CB8AC3E}">
        <p14:creationId xmlns:p14="http://schemas.microsoft.com/office/powerpoint/2010/main" val="359585625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Di trú mã lệnh (Code migration)</a:t>
            </a:r>
            <a:endParaRPr lang="vi-VN" dirty="0"/>
          </a:p>
          <a:p>
            <a:r>
              <a:rPr lang="vi-VN" dirty="0"/>
              <a:t>Cho đến nay, chúng ta chủ yếu quan tâm đến các hệ thống phân tán mà trong đó việc giao tiếp bị giới hạn ở việc truyền dữ liệu. Tuy nhiên, có những tình huống mà việc truyền chương trình – đôi khi thậm chí là trong khi chương trình đang được thực thi – lại giúp đơn giản hóa việc thiết kế hệ thống phân tán. Trong phần này, chúng ta sẽ xem xét chi tiết về di trú mã lệnh là gì. Trước tiên, chúng ta sẽ tìm hiểu các cách tiếp cận khác nhau đối với di trú mã, tiếp theo là thảo luận về cách xử lý các tài nguyên cục bộ mà chương trình di trú sử dụng. Một vấn đề đặc biệt khó là di trú mã trong các hệ thống không đồng nhất (heterogeneous systems), điều này cũng sẽ được bàn đến.</a:t>
            </a:r>
          </a:p>
          <a:p>
            <a:endParaRPr lang="en-US" dirty="0"/>
          </a:p>
          <a:p>
            <a:r>
              <a:rPr lang="vi-VN" b="1" dirty="0"/>
              <a:t>Giải thích sơ đồ</a:t>
            </a:r>
          </a:p>
          <a:p>
            <a:r>
              <a:rPr lang="vi-VN" dirty="0"/>
              <a:t>Sơ đồ cho thấy một quy trình di chuyển mã điển hình:</a:t>
            </a:r>
          </a:p>
          <a:p>
            <a:pPr>
              <a:buFont typeface="Arial" panose="020B0604020202020204" pitchFamily="34" charset="0"/>
              <a:buChar char="•"/>
            </a:pPr>
            <a:r>
              <a:rPr lang="vi-VN" b="1" dirty="0"/>
              <a:t>Client tải mã về</a:t>
            </a:r>
            <a:endParaRPr lang="vi-VN" dirty="0"/>
          </a:p>
          <a:p>
            <a:pPr marL="457200" lvl="1" indent="0">
              <a:buFont typeface="Arial" panose="020B0604020202020204" pitchFamily="34" charset="0"/>
              <a:buNone/>
            </a:pPr>
            <a:r>
              <a:rPr lang="en-US" dirty="0"/>
              <a:t>- </a:t>
            </a:r>
            <a:r>
              <a:rPr lang="vi-VN" dirty="0"/>
              <a:t>Client truy xuất mã phía client dành riêng cho dịch vụ từ một </a:t>
            </a:r>
            <a:r>
              <a:rPr lang="vi-VN" b="1" dirty="0"/>
              <a:t>kho mã (code repository)</a:t>
            </a:r>
            <a:r>
              <a:rPr lang="vi-VN" dirty="0"/>
              <a:t>.</a:t>
            </a:r>
          </a:p>
          <a:p>
            <a:pPr marL="457200" lvl="1" indent="0">
              <a:buFont typeface="Arial" panose="020B0604020202020204" pitchFamily="34" charset="0"/>
              <a:buNone/>
            </a:pPr>
            <a:r>
              <a:rPr lang="en-US" dirty="0"/>
              <a:t>- </a:t>
            </a:r>
            <a:r>
              <a:rPr lang="vi-VN" dirty="0"/>
              <a:t>Quá trình này mang tính động — client không cần cài đặt sẵn tất cả phần mềm có thể sử dụng.</a:t>
            </a:r>
          </a:p>
          <a:p>
            <a:pPr>
              <a:buFont typeface="Arial" panose="020B0604020202020204" pitchFamily="34" charset="0"/>
              <a:buChar char="•"/>
            </a:pPr>
            <a:r>
              <a:rPr lang="vi-VN" b="1" dirty="0"/>
              <a:t>Client và server giao tiếp</a:t>
            </a:r>
            <a:endParaRPr lang="vi-VN" dirty="0"/>
          </a:p>
          <a:p>
            <a:pPr marL="457200" lvl="1" indent="0">
              <a:buFont typeface="Arial" panose="020B0604020202020204" pitchFamily="34" charset="0"/>
              <a:buNone/>
            </a:pPr>
            <a:r>
              <a:rPr lang="en-US" dirty="0"/>
              <a:t>- </a:t>
            </a:r>
            <a:r>
              <a:rPr lang="vi-VN" dirty="0"/>
              <a:t>Sau khi tải mã cần thiết, client có thể tương tác với server để thực hiện chức năng mong muốn.</a:t>
            </a:r>
          </a:p>
          <a:p>
            <a:endParaRPr lang="en-US" b="1" dirty="0"/>
          </a:p>
          <a:p>
            <a:r>
              <a:rPr lang="vi-VN" b="1" dirty="0"/>
              <a:t>Lý do di chuyển mã</a:t>
            </a:r>
          </a:p>
          <a:p>
            <a:r>
              <a:rPr lang="vi-VN" b="1" dirty="0"/>
              <a:t>1. Phân phối tải (Load Distribution)</a:t>
            </a:r>
          </a:p>
          <a:p>
            <a:pPr>
              <a:buFont typeface="Arial" panose="020B0604020202020204" pitchFamily="34" charset="0"/>
              <a:buChar char="•"/>
            </a:pPr>
            <a:r>
              <a:rPr lang="vi-VN" b="1" dirty="0"/>
              <a:t>Sử dụng máy chủ hiệu quả hơn</a:t>
            </a:r>
            <a:endParaRPr lang="vi-VN" dirty="0"/>
          </a:p>
          <a:p>
            <a:pPr marL="742950" lvl="1" indent="-285750">
              <a:buFont typeface="Arial" panose="020B0604020202020204" pitchFamily="34" charset="0"/>
              <a:buChar char="•"/>
            </a:pPr>
            <a:r>
              <a:rPr lang="vi-VN" dirty="0"/>
              <a:t>Bằng cách chuyển một phần tính toán sang client, server không phải xử lý toàn bộ khối lượng công việc, điều này giúp:</a:t>
            </a:r>
          </a:p>
          <a:p>
            <a:pPr marL="914400" lvl="2" indent="0">
              <a:buFont typeface="Arial" panose="020B0604020202020204" pitchFamily="34" charset="0"/>
              <a:buNone/>
            </a:pPr>
            <a:r>
              <a:rPr lang="en-US" dirty="0"/>
              <a:t>- </a:t>
            </a:r>
            <a:r>
              <a:rPr lang="vi-VN" dirty="0"/>
              <a:t>Cân bằng xử lý giữa client và server.</a:t>
            </a:r>
          </a:p>
          <a:p>
            <a:pPr marL="914400" lvl="2" indent="0">
              <a:buFont typeface="Arial" panose="020B0604020202020204" pitchFamily="34" charset="0"/>
              <a:buNone/>
            </a:pPr>
            <a:r>
              <a:rPr lang="en-US" dirty="0"/>
              <a:t>- </a:t>
            </a:r>
            <a:r>
              <a:rPr lang="vi-VN" dirty="0"/>
              <a:t>Giảm lãng phí năng lượng do server không được sử dụng hết công suất (ví dụ: trong các trung tâm dữ liệu).</a:t>
            </a:r>
          </a:p>
          <a:p>
            <a:pPr>
              <a:buFont typeface="Arial" panose="020B0604020202020204" pitchFamily="34" charset="0"/>
              <a:buChar char="•"/>
            </a:pPr>
            <a:r>
              <a:rPr lang="vi-VN" b="1" dirty="0"/>
              <a:t>Giảm thiểu giao tiếp</a:t>
            </a:r>
            <a:endParaRPr lang="vi-VN" dirty="0"/>
          </a:p>
          <a:p>
            <a:pPr marL="742950" lvl="1" indent="-285750">
              <a:buFont typeface="Arial" panose="020B0604020202020204" pitchFamily="34" charset="0"/>
              <a:buChar char="•"/>
            </a:pPr>
            <a:r>
              <a:rPr lang="vi-VN" dirty="0"/>
              <a:t>Bằng cách thực thi mã gần nguồn dữ liệu (ví dụ: trên thiết bị di động), hệ thống có thể:</a:t>
            </a:r>
          </a:p>
          <a:p>
            <a:pPr marL="914400" lvl="2" indent="0">
              <a:buFont typeface="Arial" panose="020B0604020202020204" pitchFamily="34" charset="0"/>
              <a:buNone/>
            </a:pPr>
            <a:r>
              <a:rPr lang="en-US" dirty="0"/>
              <a:t>- </a:t>
            </a:r>
            <a:r>
              <a:rPr lang="vi-VN" dirty="0"/>
              <a:t>Giảm lượng dữ liệu cần truyền qua mạng.</a:t>
            </a:r>
          </a:p>
          <a:p>
            <a:pPr marL="914400" lvl="2" indent="0">
              <a:buFont typeface="Arial" panose="020B0604020202020204" pitchFamily="34" charset="0"/>
              <a:buNone/>
            </a:pPr>
            <a:r>
              <a:rPr lang="en-US" dirty="0"/>
              <a:t>- </a:t>
            </a:r>
            <a:r>
              <a:rPr lang="vi-VN" dirty="0"/>
              <a:t>Tăng hiệu năng và độ phản hồi.</a:t>
            </a:r>
          </a:p>
          <a:p>
            <a:r>
              <a:rPr lang="vi-VN" b="1" dirty="0"/>
              <a:t>2. Tính linh hoạt: Chỉ chuyển mã đến client khi cần</a:t>
            </a:r>
          </a:p>
          <a:p>
            <a:pPr>
              <a:buFont typeface="Arial" panose="020B0604020202020204" pitchFamily="34" charset="0"/>
              <a:buChar char="•"/>
            </a:pPr>
            <a:r>
              <a:rPr lang="vi-VN" b="1" dirty="0"/>
              <a:t>Tránh cài đặt sẵn</a:t>
            </a:r>
            <a:endParaRPr lang="vi-VN" dirty="0"/>
          </a:p>
          <a:p>
            <a:pPr marL="742950" lvl="1" indent="-285750">
              <a:buFont typeface="Arial" panose="020B0604020202020204" pitchFamily="34" charset="0"/>
              <a:buChar char="•"/>
            </a:pPr>
            <a:r>
              <a:rPr lang="vi-VN" dirty="0"/>
              <a:t>Không cần cài đặt trước toàn bộ phần mềm hoặc dịch vụ trên thiết bị client.</a:t>
            </a:r>
          </a:p>
          <a:p>
            <a:pPr marL="914400" lvl="2" indent="0">
              <a:buFont typeface="Arial" panose="020B0604020202020204" pitchFamily="34" charset="0"/>
              <a:buNone/>
            </a:pPr>
            <a:r>
              <a:rPr lang="en-US" dirty="0"/>
              <a:t>- </a:t>
            </a:r>
            <a:r>
              <a:rPr lang="vi-VN" dirty="0"/>
              <a:t>Tiết kiệm dung lượng.</a:t>
            </a:r>
          </a:p>
          <a:p>
            <a:pPr marL="914400" lvl="2" indent="0">
              <a:buFont typeface="Arial" panose="020B0604020202020204" pitchFamily="34" charset="0"/>
              <a:buNone/>
            </a:pPr>
            <a:r>
              <a:rPr lang="en-US" dirty="0"/>
              <a:t>- </a:t>
            </a:r>
            <a:r>
              <a:rPr lang="vi-VN" dirty="0"/>
              <a:t>Dễ dàng bảo trì và cập nhật.</a:t>
            </a:r>
          </a:p>
          <a:p>
            <a:pPr>
              <a:buFont typeface="Arial" panose="020B0604020202020204" pitchFamily="34" charset="0"/>
              <a:buChar char="•"/>
            </a:pPr>
            <a:r>
              <a:rPr lang="vi-VN" b="1" dirty="0"/>
              <a:t>Cấu hình linh hoạt</a:t>
            </a:r>
            <a:endParaRPr lang="vi-VN" dirty="0"/>
          </a:p>
          <a:p>
            <a:pPr marL="742950" lvl="1" indent="-285750">
              <a:buFont typeface="Arial" panose="020B0604020202020204" pitchFamily="34" charset="0"/>
              <a:buChar char="•"/>
            </a:pPr>
            <a:r>
              <a:rPr lang="vi-VN" dirty="0"/>
              <a:t>Client có thể tải về và sử dụng mã cho các dịch vụ theo nhu cầu.</a:t>
            </a:r>
          </a:p>
          <a:p>
            <a:pPr marL="914400" lvl="2" indent="0">
              <a:buFont typeface="Arial" panose="020B0604020202020204" pitchFamily="34" charset="0"/>
              <a:buNone/>
            </a:pPr>
            <a:r>
              <a:rPr lang="en-US" dirty="0"/>
              <a:t>- </a:t>
            </a:r>
            <a:r>
              <a:rPr lang="vi-VN" dirty="0"/>
              <a:t>Cho phép tùy chỉnh và phân mảnh phần mềm theo từng chức năng.</a:t>
            </a:r>
          </a:p>
          <a:p>
            <a:pPr marL="914400" lvl="2" indent="0">
              <a:buFont typeface="Arial" panose="020B0604020202020204" pitchFamily="34" charset="0"/>
              <a:buNone/>
            </a:pPr>
            <a:r>
              <a:rPr lang="en-US" dirty="0"/>
              <a:t>- </a:t>
            </a:r>
            <a:r>
              <a:rPr lang="vi-VN" dirty="0"/>
              <a:t>Thích nghi với nhu cầu và môi trường sử dụng của người dùng tại thời điểm đó</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56</a:t>
            </a:fld>
            <a:endParaRPr lang="en-US"/>
          </a:p>
        </p:txBody>
      </p:sp>
    </p:spTree>
    <p:extLst>
      <p:ext uri="{BB962C8B-B14F-4D97-AF65-F5344CB8AC3E}">
        <p14:creationId xmlns:p14="http://schemas.microsoft.com/office/powerpoint/2010/main" val="192118130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Các mô hình di chuyển mã lệnh)</a:t>
            </a:r>
            <a:endParaRPr lang="vi-VN" dirty="0"/>
          </a:p>
          <a:p>
            <a:r>
              <a:rPr lang="vi-VN" dirty="0"/>
              <a:t>Mặc dù “di chuyển mã lệnh” gợi ý rằng chúng ta chỉ chuyển mã giữa các máy, nhưng thuật ngữ này thực tế bao hàm một lĩnh vực phong phú hơn nhiều. Truyền thống, giao tiếp trong hệ thống phân tán chủ yếu xoay quanh việc trao đổi dữ liệu giữa các tiến trình. Di chuyển mã lệnh, theo nghĩa rộng nhất, liên quan đến việc di chuyển toàn bộ chương trình giữa các máy, với mục đích để chương trình đó được thực thi tại máy đích. Trong một số trường hợp, như di chuyển tiến trình, trạng thái thực thi của chương trình, các tín hiệu đang chờ xử lý, và các thành phần môi trường khác cũng phải được chuyển theo.</a:t>
            </a:r>
            <a:endParaRPr lang="en-US" dirty="0"/>
          </a:p>
          <a:p>
            <a:endParaRPr lang="vi-VN" dirty="0"/>
          </a:p>
          <a:p>
            <a:r>
              <a:rPr lang="vi-VN" dirty="0"/>
              <a:t>Để hiểu rõ hơn về các mô hình di chuyển mã khác nhau, ta sử dụng một khuôn khổ. Trong khuôn khổ này, một tiến trình bao gồm ba phần:</a:t>
            </a:r>
          </a:p>
          <a:p>
            <a:pPr>
              <a:buFont typeface="+mj-lt"/>
              <a:buAutoNum type="arabicPeriod"/>
            </a:pPr>
            <a:r>
              <a:rPr lang="vi-VN" b="1" dirty="0"/>
              <a:t>Phân đoạn mã (code segment):</a:t>
            </a:r>
            <a:r>
              <a:rPr lang="vi-VN" dirty="0"/>
              <a:t> Chứa tập hợp các chỉ thị cấu thành nên chương trình đang được thực thi.</a:t>
            </a:r>
          </a:p>
          <a:p>
            <a:pPr>
              <a:buFont typeface="+mj-lt"/>
              <a:buAutoNum type="arabicPeriod"/>
            </a:pPr>
            <a:r>
              <a:rPr lang="vi-VN" b="1" dirty="0"/>
              <a:t>Phân đoạn tài nguyên (resource segment):</a:t>
            </a:r>
            <a:r>
              <a:rPr lang="vi-VN" dirty="0"/>
              <a:t> Chứa các tham chiếu đến tài nguyên bên ngoài cần thiết cho tiến trình như tệp tin, máy in, thiết bị, các tiến trình khác, v.v.</a:t>
            </a:r>
          </a:p>
          <a:p>
            <a:pPr>
              <a:buFont typeface="+mj-lt"/>
              <a:buAutoNum type="arabicPeriod"/>
            </a:pPr>
            <a:r>
              <a:rPr lang="vi-VN" b="1" dirty="0"/>
              <a:t>Phân đoạn thực thi (execution segment):</a:t>
            </a:r>
            <a:r>
              <a:rPr lang="vi-VN" dirty="0"/>
              <a:t> Lưu trữ trạng thái thực thi hiện tại của tiến trình, bao gồm dữ liệu riêng tư, ngăn xếp, và bộ đếm chương trình (program counter).</a:t>
            </a:r>
          </a:p>
          <a:p>
            <a:endParaRPr lang="en-US" dirty="0"/>
          </a:p>
          <a:p>
            <a:r>
              <a:rPr lang="vi-VN" dirty="0"/>
              <a:t>Ngoài ra, còn có sự phân biệt giữa </a:t>
            </a:r>
            <a:r>
              <a:rPr lang="vi-VN" b="1" dirty="0"/>
              <a:t>di chuyển khởi tạo từ máy gửi (sender-initiated)</a:t>
            </a:r>
            <a:r>
              <a:rPr lang="vi-VN" dirty="0"/>
              <a:t> và </a:t>
            </a:r>
            <a:r>
              <a:rPr lang="vi-VN" b="1" dirty="0"/>
              <a:t>khởi tạo từ máy nhận (receiver-initiated)</a:t>
            </a:r>
            <a:r>
              <a:rPr lang="vi-VN" dirty="0"/>
              <a:t>:</a:t>
            </a:r>
          </a:p>
          <a:p>
            <a:pPr>
              <a:buFont typeface="Arial" panose="020B0604020202020204" pitchFamily="34" charset="0"/>
              <a:buChar char="•"/>
            </a:pPr>
            <a:r>
              <a:rPr lang="vi-VN" dirty="0"/>
              <a:t>Trong </a:t>
            </a:r>
            <a:r>
              <a:rPr lang="vi-VN" b="1" dirty="0"/>
              <a:t>di chuyển do máy gửi khởi tạo</a:t>
            </a:r>
            <a:r>
              <a:rPr lang="vi-VN" dirty="0"/>
              <a:t>, việc di chuyển được bắt đầu tại máy nơi mã hiện đang tồn tại hoặc được thực thi. Ví dụ, tải chương trình lên một máy chủ tính toán, hoặc gửi một truy vấn tới máy chủ cơ sở dữ liệu từ xa.</a:t>
            </a:r>
          </a:p>
          <a:p>
            <a:pPr>
              <a:buFont typeface="Arial" panose="020B0604020202020204" pitchFamily="34" charset="0"/>
              <a:buChar char="•"/>
            </a:pPr>
            <a:r>
              <a:rPr lang="vi-VN" dirty="0"/>
              <a:t>Trong </a:t>
            </a:r>
            <a:r>
              <a:rPr lang="vi-VN" b="1" dirty="0"/>
              <a:t>di chuyển do máy nhận khởi tạo</a:t>
            </a:r>
            <a:r>
              <a:rPr lang="vi-VN" dirty="0"/>
              <a:t>, chính máy đích sẽ chủ động yêu cầu mã. Ví dụ điển hình là </a:t>
            </a:r>
            <a:r>
              <a:rPr lang="vi-VN" b="1" dirty="0"/>
              <a:t>Java applet</a:t>
            </a:r>
            <a:r>
              <a:rPr lang="vi-VN" dirty="0"/>
              <a:t>, nơi trình duyệt khách tải mã từ máy chủ.</a:t>
            </a:r>
          </a:p>
          <a:p>
            <a:r>
              <a:rPr lang="vi-VN" dirty="0"/>
              <a:t>Di chuyển do máy nhận khởi tạo thường đơn giản hơn. Trong nhiều trường hợp, di chuyển mã xảy ra giữa client và server, nơi </a:t>
            </a:r>
            <a:r>
              <a:rPr lang="vi-VN" b="1" dirty="0"/>
              <a:t>client chủ động</a:t>
            </a:r>
            <a:r>
              <a:rPr lang="vi-VN" dirty="0"/>
              <a:t> yêu cầu mã từ server. Trong khi di chuyển do client khởi tạo (tải mã lên server) thường yêu cầu client đã được đăng ký và xác thực trước đó – vì server cần bảo vệ tài nguyên của mình. Ngược lại, trong mô hình tải mã từ server (receiver-initiated), client có thể thực hiện một cách ẩn danh, và server không quan tâm đến tài nguyên của client. Điều này giúp đơn giản hoá việc bảo vệ tài nguyên, vì chỉ cần bảo vệ bộ nhớ và kết nối mạng phía client.</a:t>
            </a:r>
          </a:p>
          <a:p>
            <a:endParaRPr lang="en-US" dirty="0"/>
          </a:p>
          <a:p>
            <a:r>
              <a:rPr lang="vi-VN" dirty="0"/>
              <a:t>Có bốn mô hình </a:t>
            </a:r>
            <a:r>
              <a:rPr lang="vi-VN" b="1" dirty="0"/>
              <a:t>di động mã lệnh</a:t>
            </a:r>
            <a:r>
              <a:rPr lang="vi-VN" dirty="0"/>
              <a:t> chính:</a:t>
            </a:r>
          </a:p>
          <a:p>
            <a:pPr>
              <a:buFont typeface="+mj-lt"/>
              <a:buAutoNum type="arabicPeriod"/>
            </a:pPr>
            <a:r>
              <a:rPr lang="vi-VN" b="1" dirty="0"/>
              <a:t>Client-Server đơn giản:</a:t>
            </a:r>
            <a:r>
              <a:rPr lang="vi-VN" dirty="0"/>
              <a:t> Mã, trạng thái thực thi và tài nguyên đều nằm ở server; chỉ trạng thái thực thi của server thay đổi sau khi chạy mã.</a:t>
            </a:r>
          </a:p>
          <a:p>
            <a:pPr>
              <a:buFont typeface="+mj-lt"/>
              <a:buAutoNum type="arabicPeriod"/>
            </a:pPr>
            <a:r>
              <a:rPr lang="vi-VN" b="1" dirty="0"/>
              <a:t>Remote Evaluation (đánh giá từ xa):</a:t>
            </a:r>
            <a:r>
              <a:rPr lang="vi-VN" dirty="0"/>
              <a:t> Client gửi mã lên server (di chuyển từ client đến server), mã được thực thi trên server, làm thay đổi trạng thái tại server.</a:t>
            </a:r>
          </a:p>
          <a:p>
            <a:pPr>
              <a:buFont typeface="+mj-lt"/>
              <a:buAutoNum type="arabicPeriod"/>
            </a:pPr>
            <a:r>
              <a:rPr lang="vi-VN" b="1" dirty="0"/>
              <a:t>Code-on-Demand (mã theo yêu cầu):</a:t>
            </a:r>
            <a:r>
              <a:rPr lang="vi-VN" dirty="0"/>
              <a:t> Client tải mã từ server (di chuyển từ server đến client), thực thi trên client, sử dụng tài nguyên client.</a:t>
            </a:r>
          </a:p>
          <a:p>
            <a:pPr>
              <a:buFont typeface="+mj-lt"/>
              <a:buAutoNum type="arabicPeriod"/>
            </a:pPr>
            <a:r>
              <a:rPr lang="vi-VN" b="1" dirty="0"/>
              <a:t>Tác nhân di động (Mobile Agents):</a:t>
            </a:r>
            <a:r>
              <a:rPr lang="vi-VN" dirty="0"/>
              <a:t> Client gửi cả mã lẫn trạng thái thực thi tới server. Tác nhân hoạt động trên cả tài nguyên của client và server, dẫn đến thay đổi trạng thái liên quan.</a:t>
            </a:r>
            <a:endParaRPr lang="en-US" dirty="0"/>
          </a:p>
          <a:p>
            <a:pPr>
              <a:buFont typeface="+mj-lt"/>
              <a:buNone/>
            </a:pPr>
            <a:endParaRPr lang="en-US" dirty="0"/>
          </a:p>
          <a:p>
            <a:pPr>
              <a:buFont typeface="+mj-lt"/>
              <a:buNone/>
            </a:pPr>
            <a:r>
              <a:rPr lang="en-US" dirty="0"/>
              <a:t>-------------------------------------------------------------------------------------------------------------------------------------</a:t>
            </a:r>
          </a:p>
          <a:p>
            <a:r>
              <a:rPr lang="en-US" b="1" dirty="0"/>
              <a:t>1. </a:t>
            </a:r>
            <a:r>
              <a:rPr lang="en-US" b="1" dirty="0" err="1"/>
              <a:t>Mô</a:t>
            </a:r>
            <a:r>
              <a:rPr lang="en-US" b="1" dirty="0"/>
              <a:t> </a:t>
            </a:r>
            <a:r>
              <a:rPr lang="en-US" b="1" dirty="0" err="1"/>
              <a:t>hình</a:t>
            </a:r>
            <a:r>
              <a:rPr lang="en-US" b="1" dirty="0"/>
              <a:t> </a:t>
            </a:r>
            <a:r>
              <a:rPr lang="vi-VN" b="1" dirty="0"/>
              <a:t>CS: Client-Server</a:t>
            </a:r>
            <a:r>
              <a:rPr lang="en-US" b="1" dirty="0"/>
              <a:t> </a:t>
            </a:r>
            <a:r>
              <a:rPr lang="en-US" b="1" dirty="0" err="1"/>
              <a:t>đơn</a:t>
            </a:r>
            <a:r>
              <a:rPr lang="en-US" b="1" dirty="0"/>
              <a:t> </a:t>
            </a:r>
            <a:r>
              <a:rPr lang="en-US" b="1" dirty="0" err="1"/>
              <a:t>giản</a:t>
            </a:r>
            <a:endParaRPr lang="vi-VN" b="1" dirty="0"/>
          </a:p>
          <a:p>
            <a:endParaRPr lang="en-US" b="1" dirty="0"/>
          </a:p>
          <a:p>
            <a:r>
              <a:rPr lang="vi-VN" b="1" dirty="0"/>
              <a:t>Ý tưởng:</a:t>
            </a:r>
          </a:p>
          <a:p>
            <a:pPr>
              <a:buFont typeface="Arial" panose="020B0604020202020204" pitchFamily="34" charset="0"/>
              <a:buChar char="•"/>
            </a:pPr>
            <a:r>
              <a:rPr lang="vi-VN" b="1" dirty="0"/>
              <a:t>Không có sự di chuyển mã nào.</a:t>
            </a:r>
            <a:endParaRPr lang="vi-VN" dirty="0"/>
          </a:p>
          <a:p>
            <a:pPr>
              <a:buFont typeface="Arial" panose="020B0604020202020204" pitchFamily="34" charset="0"/>
              <a:buChar char="•"/>
            </a:pPr>
            <a:r>
              <a:rPr lang="vi-VN" dirty="0"/>
              <a:t>Toàn bộ xử lý được thực hiện </a:t>
            </a:r>
            <a:r>
              <a:rPr lang="vi-VN" b="1" dirty="0"/>
              <a:t>tại server</a:t>
            </a:r>
            <a:r>
              <a:rPr lang="vi-VN" dirty="0"/>
              <a:t>.</a:t>
            </a:r>
          </a:p>
          <a:p>
            <a:pPr>
              <a:buFont typeface="Arial" panose="020B0604020202020204" pitchFamily="34" charset="0"/>
              <a:buChar char="•"/>
            </a:pPr>
            <a:r>
              <a:rPr lang="vi-VN" dirty="0"/>
              <a:t>Client gửi yêu cầu và nhận lại kết quả.</a:t>
            </a:r>
          </a:p>
          <a:p>
            <a:endParaRPr lang="en-US" b="1" dirty="0"/>
          </a:p>
          <a:p>
            <a:r>
              <a:rPr lang="vi-VN" b="1" dirty="0"/>
              <a:t>Trước khi thực thi:</a:t>
            </a:r>
          </a:p>
          <a:p>
            <a:pPr>
              <a:buFont typeface="Arial" panose="020B0604020202020204" pitchFamily="34" charset="0"/>
              <a:buChar char="•"/>
            </a:pPr>
            <a:r>
              <a:rPr lang="vi-VN" b="1" dirty="0"/>
              <a:t>Client</a:t>
            </a:r>
            <a:r>
              <a:rPr lang="vi-VN" dirty="0"/>
              <a:t> không chứa gì.</a:t>
            </a:r>
          </a:p>
          <a:p>
            <a:pPr>
              <a:buFont typeface="Arial" panose="020B0604020202020204" pitchFamily="34" charset="0"/>
              <a:buChar char="•"/>
            </a:pPr>
            <a:r>
              <a:rPr lang="vi-VN" b="1" dirty="0"/>
              <a:t>Server</a:t>
            </a:r>
            <a:r>
              <a:rPr lang="vi-VN" dirty="0"/>
              <a:t> có code, exec, và resource.</a:t>
            </a:r>
          </a:p>
          <a:p>
            <a:endParaRPr lang="en-US" b="1" dirty="0"/>
          </a:p>
          <a:p>
            <a:r>
              <a:rPr lang="vi-VN" b="1" dirty="0"/>
              <a:t>Sau khi thực thi:</a:t>
            </a:r>
          </a:p>
          <a:p>
            <a:pPr>
              <a:buFont typeface="Arial" panose="020B0604020202020204" pitchFamily="34" charset="0"/>
              <a:buChar char="•"/>
            </a:pPr>
            <a:r>
              <a:rPr lang="vi-VN" b="1" dirty="0"/>
              <a:t>Server</a:t>
            </a:r>
            <a:r>
              <a:rPr lang="vi-VN" dirty="0"/>
              <a:t> thực hiện exec* trên code và resource.</a:t>
            </a:r>
          </a:p>
          <a:p>
            <a:pPr>
              <a:buFont typeface="Arial" panose="020B0604020202020204" pitchFamily="34" charset="0"/>
              <a:buChar char="•"/>
            </a:pPr>
            <a:r>
              <a:rPr lang="vi-VN" b="1" dirty="0"/>
              <a:t>Client</a:t>
            </a:r>
            <a:r>
              <a:rPr lang="vi-VN" dirty="0"/>
              <a:t> vẫn không giữ gì.</a:t>
            </a:r>
          </a:p>
          <a:p>
            <a:endParaRPr lang="en-US" b="1" dirty="0"/>
          </a:p>
          <a:p>
            <a:r>
              <a:rPr lang="vi-VN" b="1" dirty="0"/>
              <a:t>Ví dụ thực tế:</a:t>
            </a:r>
          </a:p>
          <a:p>
            <a:pPr>
              <a:buFont typeface="Arial" panose="020B0604020202020204" pitchFamily="34" charset="0"/>
              <a:buChar char="•"/>
            </a:pPr>
            <a:r>
              <a:rPr lang="vi-VN" dirty="0"/>
              <a:t>Truy cập website thông thường, client chỉ gửi yêu cầu HTTP, server xử lý mọi thứ và gửi lại dữ liệu (HTML, JSON...).</a:t>
            </a:r>
          </a:p>
          <a:p>
            <a:endParaRPr lang="en-US" b="1" dirty="0"/>
          </a:p>
          <a:p>
            <a:r>
              <a:rPr lang="en-US" b="1" dirty="0"/>
              <a:t>2. </a:t>
            </a:r>
            <a:r>
              <a:rPr lang="vi-VN" b="1" dirty="0"/>
              <a:t>REV: Remote Evaluation (Đánh giá từ xa)</a:t>
            </a:r>
          </a:p>
          <a:p>
            <a:endParaRPr lang="en-US" b="1" dirty="0"/>
          </a:p>
          <a:p>
            <a:r>
              <a:rPr lang="vi-VN" b="1" dirty="0"/>
              <a:t>Ý tưởng:</a:t>
            </a:r>
          </a:p>
          <a:p>
            <a:pPr>
              <a:buFont typeface="Arial" panose="020B0604020202020204" pitchFamily="34" charset="0"/>
              <a:buChar char="•"/>
            </a:pPr>
            <a:r>
              <a:rPr lang="vi-VN" b="1" dirty="0"/>
              <a:t>Client gửi mã đến server để thực thi.</a:t>
            </a:r>
            <a:endParaRPr lang="vi-VN" dirty="0"/>
          </a:p>
          <a:p>
            <a:pPr>
              <a:buFont typeface="Arial" panose="020B0604020202020204" pitchFamily="34" charset="0"/>
              <a:buChar char="•"/>
            </a:pPr>
            <a:r>
              <a:rPr lang="vi-VN" dirty="0"/>
              <a:t>Mã được "evaluate" từ xa, tức là </a:t>
            </a:r>
            <a:r>
              <a:rPr lang="vi-VN" b="1" dirty="0"/>
              <a:t>thực thi tại phía server</a:t>
            </a:r>
            <a:r>
              <a:rPr lang="vi-VN" dirty="0"/>
              <a:t>.</a:t>
            </a:r>
          </a:p>
          <a:p>
            <a:endParaRPr lang="en-US" b="1" dirty="0"/>
          </a:p>
          <a:p>
            <a:r>
              <a:rPr lang="vi-VN" b="1" dirty="0"/>
              <a:t>Trước khi thực thi:</a:t>
            </a:r>
          </a:p>
          <a:p>
            <a:pPr>
              <a:buFont typeface="Arial" panose="020B0604020202020204" pitchFamily="34" charset="0"/>
              <a:buChar char="•"/>
            </a:pPr>
            <a:r>
              <a:rPr lang="vi-VN" b="1" dirty="0"/>
              <a:t>Client</a:t>
            </a:r>
            <a:r>
              <a:rPr lang="vi-VN" dirty="0"/>
              <a:t> có code.</a:t>
            </a:r>
          </a:p>
          <a:p>
            <a:pPr>
              <a:buFont typeface="Arial" panose="020B0604020202020204" pitchFamily="34" charset="0"/>
              <a:buChar char="•"/>
            </a:pPr>
            <a:r>
              <a:rPr lang="vi-VN" b="1" dirty="0"/>
              <a:t>Server</a:t>
            </a:r>
            <a:r>
              <a:rPr lang="vi-VN" dirty="0"/>
              <a:t> có exec và resource.</a:t>
            </a:r>
          </a:p>
          <a:p>
            <a:r>
              <a:rPr lang="en-US" dirty="0"/>
              <a:t>=&gt; </a:t>
            </a:r>
            <a:r>
              <a:rPr lang="vi-VN" dirty="0"/>
              <a:t>code được gửi từ client sang server.</a:t>
            </a:r>
          </a:p>
          <a:p>
            <a:endParaRPr lang="en-US" b="1" dirty="0"/>
          </a:p>
          <a:p>
            <a:r>
              <a:rPr lang="vi-VN" b="1" dirty="0"/>
              <a:t>Sau khi thực thi:</a:t>
            </a:r>
          </a:p>
          <a:p>
            <a:pPr>
              <a:buFont typeface="Arial" panose="020B0604020202020204" pitchFamily="34" charset="0"/>
              <a:buChar char="•"/>
            </a:pPr>
            <a:r>
              <a:rPr lang="vi-VN" b="1" dirty="0"/>
              <a:t>Server</a:t>
            </a:r>
            <a:r>
              <a:rPr lang="vi-VN" dirty="0"/>
              <a:t> nhận code, và sau đó cập nhật thành exec* sau khi chạy.</a:t>
            </a:r>
          </a:p>
          <a:p>
            <a:pPr>
              <a:buFont typeface="Arial" panose="020B0604020202020204" pitchFamily="34" charset="0"/>
              <a:buChar char="•"/>
            </a:pPr>
            <a:r>
              <a:rPr lang="vi-VN" b="1" dirty="0"/>
              <a:t>Client</a:t>
            </a:r>
            <a:r>
              <a:rPr lang="vi-VN" dirty="0"/>
              <a:t> vẫn không giữ gì.</a:t>
            </a:r>
          </a:p>
          <a:p>
            <a:endParaRPr lang="en-US" b="1" dirty="0"/>
          </a:p>
          <a:p>
            <a:r>
              <a:rPr lang="vi-VN" b="1" dirty="0"/>
              <a:t>Ví dụ thực tế:</a:t>
            </a:r>
          </a:p>
          <a:p>
            <a:pPr>
              <a:buFont typeface="Arial" panose="020B0604020202020204" pitchFamily="34" charset="0"/>
              <a:buChar char="•"/>
            </a:pPr>
            <a:r>
              <a:rPr lang="vi-VN" dirty="0"/>
              <a:t>Một app Python gửi đoạn mã phân tích dữ liệu đến một máy chủ HPC để thực thi từ xa.</a:t>
            </a:r>
          </a:p>
          <a:p>
            <a:pPr>
              <a:buFont typeface="+mj-lt"/>
              <a:buNone/>
            </a:pPr>
            <a:endParaRPr lang="vi-VN" dirty="0"/>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57</a:t>
            </a:fld>
            <a:endParaRPr lang="en-US"/>
          </a:p>
        </p:txBody>
      </p:sp>
    </p:spTree>
    <p:extLst>
      <p:ext uri="{BB962C8B-B14F-4D97-AF65-F5344CB8AC3E}">
        <p14:creationId xmlns:p14="http://schemas.microsoft.com/office/powerpoint/2010/main" val="259412758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b="1" dirty="0"/>
              <a:t>1. CoD: Code-on-Demand (Mã theo yêu cầu)</a:t>
            </a:r>
          </a:p>
          <a:p>
            <a:r>
              <a:rPr lang="vi-VN" b="1" dirty="0"/>
              <a:t>Ý tưởng:</a:t>
            </a:r>
          </a:p>
          <a:p>
            <a:pPr>
              <a:buFont typeface="Arial" panose="020B0604020202020204" pitchFamily="34" charset="0"/>
              <a:buChar char="•"/>
            </a:pPr>
            <a:r>
              <a:rPr lang="vi-VN" b="1" dirty="0"/>
              <a:t>Client cần thực hiện một tác vụ nhưng không có mã thực hiện</a:t>
            </a:r>
            <a:r>
              <a:rPr lang="vi-VN" dirty="0"/>
              <a:t>.</a:t>
            </a:r>
          </a:p>
          <a:p>
            <a:pPr>
              <a:buFont typeface="Arial" panose="020B0604020202020204" pitchFamily="34" charset="0"/>
              <a:buChar char="•"/>
            </a:pPr>
            <a:r>
              <a:rPr lang="vi-VN" dirty="0"/>
              <a:t>Mã được tải từ </a:t>
            </a:r>
            <a:r>
              <a:rPr lang="vi-VN" b="1" dirty="0"/>
              <a:t>server về client</a:t>
            </a:r>
            <a:r>
              <a:rPr lang="vi-VN" dirty="0"/>
              <a:t> khi cần.</a:t>
            </a:r>
          </a:p>
          <a:p>
            <a:pPr>
              <a:buFont typeface="Arial" panose="020B0604020202020204" pitchFamily="34" charset="0"/>
              <a:buChar char="•"/>
            </a:pPr>
            <a:r>
              <a:rPr lang="vi-VN" dirty="0"/>
              <a:t>Sau đó client </a:t>
            </a:r>
            <a:r>
              <a:rPr lang="vi-VN" b="1" dirty="0"/>
              <a:t>thực thi tại chỗ (tại phía client)</a:t>
            </a:r>
            <a:r>
              <a:rPr lang="vi-VN" dirty="0"/>
              <a:t>.</a:t>
            </a:r>
          </a:p>
          <a:p>
            <a:endParaRPr lang="en-US" b="1" dirty="0"/>
          </a:p>
          <a:p>
            <a:r>
              <a:rPr lang="vi-VN" b="1" dirty="0"/>
              <a:t>Trước khi thực thi:</a:t>
            </a:r>
          </a:p>
          <a:p>
            <a:pPr>
              <a:buFont typeface="Arial" panose="020B0604020202020204" pitchFamily="34" charset="0"/>
              <a:buChar char="•"/>
            </a:pPr>
            <a:r>
              <a:rPr lang="vi-VN" b="1" dirty="0"/>
              <a:t>Client</a:t>
            </a:r>
            <a:r>
              <a:rPr lang="vi-VN" dirty="0"/>
              <a:t> có exec và resource, nhưng </a:t>
            </a:r>
            <a:r>
              <a:rPr lang="vi-VN" b="1" dirty="0"/>
              <a:t>không có mã (code)</a:t>
            </a:r>
            <a:r>
              <a:rPr lang="vi-VN" dirty="0"/>
              <a:t>.</a:t>
            </a:r>
          </a:p>
          <a:p>
            <a:pPr>
              <a:buFont typeface="Arial" panose="020B0604020202020204" pitchFamily="34" charset="0"/>
              <a:buChar char="•"/>
            </a:pPr>
            <a:r>
              <a:rPr lang="vi-VN" b="1" dirty="0"/>
              <a:t>Server</a:t>
            </a:r>
            <a:r>
              <a:rPr lang="vi-VN" dirty="0"/>
              <a:t> giữ code.</a:t>
            </a:r>
          </a:p>
          <a:p>
            <a:r>
              <a:rPr lang="en-US" dirty="0"/>
              <a:t>=&gt; </a:t>
            </a:r>
            <a:r>
              <a:rPr lang="vi-VN" dirty="0"/>
              <a:t>code được gửi </a:t>
            </a:r>
            <a:r>
              <a:rPr lang="vi-VN" b="1" dirty="0"/>
              <a:t>từ server về client</a:t>
            </a:r>
            <a:r>
              <a:rPr lang="vi-VN" dirty="0"/>
              <a:t>.</a:t>
            </a:r>
          </a:p>
          <a:p>
            <a:endParaRPr lang="en-US" b="1" dirty="0"/>
          </a:p>
          <a:p>
            <a:r>
              <a:rPr lang="vi-VN" b="1" dirty="0"/>
              <a:t>Sau khi thực thi:</a:t>
            </a:r>
          </a:p>
          <a:p>
            <a:pPr>
              <a:buFont typeface="Arial" panose="020B0604020202020204" pitchFamily="34" charset="0"/>
              <a:buChar char="•"/>
            </a:pPr>
            <a:r>
              <a:rPr lang="vi-VN" b="1" dirty="0"/>
              <a:t>Client</a:t>
            </a:r>
            <a:r>
              <a:rPr lang="vi-VN" dirty="0"/>
              <a:t> có code và đã thực hiện exec*.</a:t>
            </a:r>
          </a:p>
          <a:p>
            <a:pPr>
              <a:buFont typeface="Arial" panose="020B0604020202020204" pitchFamily="34" charset="0"/>
              <a:buChar char="•"/>
            </a:pPr>
            <a:r>
              <a:rPr lang="vi-VN" b="1" dirty="0"/>
              <a:t>Server</a:t>
            </a:r>
            <a:r>
              <a:rPr lang="vi-VN" dirty="0"/>
              <a:t> vẫn giữ nguyên.</a:t>
            </a:r>
          </a:p>
          <a:p>
            <a:endParaRPr lang="en-US" b="1" dirty="0"/>
          </a:p>
          <a:p>
            <a:r>
              <a:rPr lang="vi-VN" b="1" dirty="0"/>
              <a:t>Ví dụ thực tế:</a:t>
            </a:r>
          </a:p>
          <a:p>
            <a:pPr>
              <a:buFont typeface="Arial" panose="020B0604020202020204" pitchFamily="34" charset="0"/>
              <a:buChar char="•"/>
            </a:pPr>
            <a:r>
              <a:rPr lang="vi-VN" dirty="0"/>
              <a:t>Khi một trình duyệt tải và thực thi JavaScript từ một trang web.</a:t>
            </a:r>
          </a:p>
          <a:p>
            <a:pPr>
              <a:buFont typeface="Arial" panose="020B0604020202020204" pitchFamily="34" charset="0"/>
              <a:buChar char="•"/>
            </a:pPr>
            <a:r>
              <a:rPr lang="vi-VN" dirty="0"/>
              <a:t>Plugin hoặc applet tải về và chạy cục bộ trên máy người dùng.</a:t>
            </a:r>
          </a:p>
          <a:p>
            <a:endParaRPr lang="en-US" b="1" dirty="0"/>
          </a:p>
          <a:p>
            <a:r>
              <a:rPr lang="en-US" b="1" dirty="0"/>
              <a:t>2. </a:t>
            </a:r>
            <a:r>
              <a:rPr lang="vi-VN" b="1" dirty="0"/>
              <a:t>MA: Mobile Agents (Tác tử di động)</a:t>
            </a:r>
          </a:p>
          <a:p>
            <a:r>
              <a:rPr lang="vi-VN" b="1" dirty="0"/>
              <a:t>Ý tưởng:</a:t>
            </a:r>
          </a:p>
          <a:p>
            <a:pPr>
              <a:buFont typeface="Arial" panose="020B0604020202020204" pitchFamily="34" charset="0"/>
              <a:buChar char="•"/>
            </a:pPr>
            <a:r>
              <a:rPr lang="vi-VN" b="1" dirty="0"/>
              <a:t>Toàn bộ tác tử (agent)</a:t>
            </a:r>
            <a:r>
              <a:rPr lang="vi-VN" dirty="0"/>
              <a:t> gồm code, exec, và resource di chuyển từ </a:t>
            </a:r>
            <a:r>
              <a:rPr lang="vi-VN" b="1" dirty="0"/>
              <a:t>client sang server</a:t>
            </a:r>
            <a:r>
              <a:rPr lang="vi-VN" dirty="0"/>
              <a:t> để thực hiện.</a:t>
            </a:r>
          </a:p>
          <a:p>
            <a:pPr>
              <a:buFont typeface="Arial" panose="020B0604020202020204" pitchFamily="34" charset="0"/>
              <a:buChar char="•"/>
            </a:pPr>
            <a:r>
              <a:rPr lang="vi-VN" dirty="0"/>
              <a:t>Tức là: toàn bộ logic xử lý chuyển sang nơi có tài nguyên.</a:t>
            </a:r>
          </a:p>
          <a:p>
            <a:endParaRPr lang="en-US" b="1" dirty="0"/>
          </a:p>
          <a:p>
            <a:r>
              <a:rPr lang="vi-VN" b="1" dirty="0"/>
              <a:t>Trước khi thực thi:</a:t>
            </a:r>
          </a:p>
          <a:p>
            <a:pPr>
              <a:buFont typeface="Arial" panose="020B0604020202020204" pitchFamily="34" charset="0"/>
              <a:buChar char="•"/>
            </a:pPr>
            <a:r>
              <a:rPr lang="vi-VN" b="1" dirty="0"/>
              <a:t>Client</a:t>
            </a:r>
            <a:r>
              <a:rPr lang="vi-VN" dirty="0"/>
              <a:t> có đủ mọi thứ: code, exec, resource.</a:t>
            </a:r>
          </a:p>
          <a:p>
            <a:pPr>
              <a:buFont typeface="Arial" panose="020B0604020202020204" pitchFamily="34" charset="0"/>
              <a:buChar char="•"/>
            </a:pPr>
            <a:r>
              <a:rPr lang="vi-VN" b="1" dirty="0"/>
              <a:t>Server</a:t>
            </a:r>
            <a:r>
              <a:rPr lang="vi-VN" dirty="0"/>
              <a:t> chỉ có resource.</a:t>
            </a:r>
          </a:p>
          <a:p>
            <a:r>
              <a:rPr lang="en-US" dirty="0"/>
              <a:t>=&gt; </a:t>
            </a:r>
            <a:r>
              <a:rPr lang="vi-VN" dirty="0"/>
              <a:t>code, exec được gửi từ client sang server.</a:t>
            </a:r>
          </a:p>
          <a:p>
            <a:endParaRPr lang="en-US" b="1" dirty="0"/>
          </a:p>
          <a:p>
            <a:r>
              <a:rPr lang="vi-VN" b="1" dirty="0"/>
              <a:t>Sau khi thực thi:</a:t>
            </a:r>
          </a:p>
          <a:p>
            <a:pPr>
              <a:buFont typeface="Arial" panose="020B0604020202020204" pitchFamily="34" charset="0"/>
              <a:buChar char="•"/>
            </a:pPr>
            <a:r>
              <a:rPr lang="vi-VN" b="1" dirty="0"/>
              <a:t>Server</a:t>
            </a:r>
            <a:r>
              <a:rPr lang="vi-VN" dirty="0"/>
              <a:t> có đủ code, exec*, resource.</a:t>
            </a:r>
          </a:p>
          <a:p>
            <a:pPr>
              <a:buFont typeface="Arial" panose="020B0604020202020204" pitchFamily="34" charset="0"/>
              <a:buChar char="•"/>
            </a:pPr>
            <a:r>
              <a:rPr lang="vi-VN" b="1" dirty="0"/>
              <a:t>Client</a:t>
            </a:r>
            <a:r>
              <a:rPr lang="vi-VN" dirty="0"/>
              <a:t> chỉ còn trống hoặc giữ dữ liệu phụ trợ.</a:t>
            </a:r>
          </a:p>
          <a:p>
            <a:endParaRPr lang="en-US" b="1" dirty="0"/>
          </a:p>
          <a:p>
            <a:r>
              <a:rPr lang="vi-VN" b="1" dirty="0"/>
              <a:t>Ví dụ thực tế:</a:t>
            </a:r>
          </a:p>
          <a:p>
            <a:pPr>
              <a:buFont typeface="Arial" panose="020B0604020202020204" pitchFamily="34" charset="0"/>
              <a:buChar char="•"/>
            </a:pPr>
            <a:r>
              <a:rPr lang="vi-VN" dirty="0"/>
              <a:t>Một agent giám sát mạng đi từ máy này sang máy khác để phân tích và phản ứng với sự cố.</a:t>
            </a:r>
          </a:p>
          <a:p>
            <a:pPr>
              <a:buFont typeface="Arial" panose="020B0604020202020204" pitchFamily="34" charset="0"/>
              <a:buChar char="•"/>
            </a:pPr>
            <a:r>
              <a:rPr lang="vi-VN" dirty="0"/>
              <a:t>Ứng dụng trong IoT hoặc phân tích dữ liệu phân tán.</a:t>
            </a:r>
          </a:p>
          <a:p>
            <a:endParaRPr lang="en-US" dirty="0"/>
          </a:p>
          <a:p>
            <a:r>
              <a:rPr lang="vi-VN" b="1" dirty="0"/>
              <a:t>Tổng so sánh 4 mô hình (CS, REV, CoD, MA):</a:t>
            </a:r>
          </a:p>
          <a:p>
            <a:r>
              <a:rPr lang="vi-VN" dirty="0"/>
              <a:t>Mô hình</a:t>
            </a:r>
            <a:r>
              <a:rPr lang="en-US" dirty="0"/>
              <a:t>	</a:t>
            </a:r>
            <a:r>
              <a:rPr lang="vi-VN" dirty="0"/>
              <a:t>Ai gửi mã?</a:t>
            </a:r>
            <a:r>
              <a:rPr lang="en-US" dirty="0"/>
              <a:t>	</a:t>
            </a:r>
            <a:r>
              <a:rPr lang="vi-VN" dirty="0"/>
              <a:t>Ai thực thi?</a:t>
            </a:r>
            <a:r>
              <a:rPr lang="en-US" dirty="0"/>
              <a:t>	</a:t>
            </a:r>
            <a:r>
              <a:rPr lang="vi-VN" dirty="0"/>
              <a:t>Di chuyển gì?</a:t>
            </a:r>
            <a:r>
              <a:rPr lang="en-US" dirty="0"/>
              <a:t>		</a:t>
            </a:r>
            <a:r>
              <a:rPr lang="vi-VN" dirty="0"/>
              <a:t>Đặc điểm chính</a:t>
            </a:r>
            <a:endParaRPr lang="en-US" dirty="0"/>
          </a:p>
          <a:p>
            <a:r>
              <a:rPr lang="vi-VN" dirty="0"/>
              <a:t>CS</a:t>
            </a:r>
            <a:r>
              <a:rPr lang="en-US" dirty="0"/>
              <a:t>	</a:t>
            </a:r>
            <a:r>
              <a:rPr lang="vi-VN" dirty="0"/>
              <a:t>Không gửi</a:t>
            </a:r>
            <a:r>
              <a:rPr lang="en-US" dirty="0"/>
              <a:t>	</a:t>
            </a:r>
            <a:r>
              <a:rPr lang="vi-VN" dirty="0"/>
              <a:t>Server</a:t>
            </a:r>
            <a:r>
              <a:rPr lang="en-US" dirty="0"/>
              <a:t>	</a:t>
            </a:r>
            <a:r>
              <a:rPr lang="vi-VN" dirty="0"/>
              <a:t>Không có</a:t>
            </a:r>
            <a:r>
              <a:rPr lang="en-US" dirty="0"/>
              <a:t>		</a:t>
            </a:r>
            <a:r>
              <a:rPr lang="vi-VN" dirty="0"/>
              <a:t>Cách làm truyền thống</a:t>
            </a:r>
            <a:endParaRPr lang="en-US" dirty="0"/>
          </a:p>
          <a:p>
            <a:r>
              <a:rPr lang="vi-VN" dirty="0"/>
              <a:t>REV</a:t>
            </a:r>
            <a:r>
              <a:rPr lang="en-US" dirty="0"/>
              <a:t>	</a:t>
            </a:r>
            <a:r>
              <a:rPr lang="vi-VN" dirty="0"/>
              <a:t>Client</a:t>
            </a:r>
            <a:r>
              <a:rPr lang="en-US" dirty="0"/>
              <a:t>	</a:t>
            </a:r>
            <a:r>
              <a:rPr lang="vi-VN" dirty="0"/>
              <a:t>Server</a:t>
            </a:r>
            <a:r>
              <a:rPr lang="en-US" dirty="0"/>
              <a:t>	</a:t>
            </a:r>
            <a:r>
              <a:rPr lang="vi-VN" dirty="0"/>
              <a:t>Gửi code</a:t>
            </a:r>
            <a:r>
              <a:rPr lang="en-US" dirty="0"/>
              <a:t>		</a:t>
            </a:r>
            <a:r>
              <a:rPr lang="vi-VN" dirty="0"/>
              <a:t>Tăng tính động, nhẹ hơn MA</a:t>
            </a:r>
            <a:endParaRPr lang="en-US" dirty="0"/>
          </a:p>
          <a:p>
            <a:r>
              <a:rPr lang="vi-VN" dirty="0"/>
              <a:t>CoD</a:t>
            </a:r>
            <a:r>
              <a:rPr lang="en-US" dirty="0"/>
              <a:t>	</a:t>
            </a:r>
            <a:r>
              <a:rPr lang="vi-VN" dirty="0"/>
              <a:t>Server</a:t>
            </a:r>
            <a:r>
              <a:rPr lang="en-US" dirty="0"/>
              <a:t>	</a:t>
            </a:r>
            <a:r>
              <a:rPr lang="vi-VN" dirty="0"/>
              <a:t>Client</a:t>
            </a:r>
            <a:r>
              <a:rPr lang="en-US" dirty="0"/>
              <a:t>	</a:t>
            </a:r>
            <a:r>
              <a:rPr lang="vi-VN" dirty="0"/>
              <a:t>Gửi code</a:t>
            </a:r>
            <a:r>
              <a:rPr lang="en-US" dirty="0"/>
              <a:t>		</a:t>
            </a:r>
            <a:r>
              <a:rPr lang="vi-VN" dirty="0"/>
              <a:t>Thường dùng trong trình duyệt, tải plugin</a:t>
            </a:r>
            <a:endParaRPr lang="en-US" dirty="0"/>
          </a:p>
          <a:p>
            <a:r>
              <a:rPr lang="vi-VN" dirty="0"/>
              <a:t>MA</a:t>
            </a:r>
            <a:r>
              <a:rPr lang="en-US" dirty="0"/>
              <a:t>	</a:t>
            </a:r>
            <a:r>
              <a:rPr lang="vi-VN" dirty="0"/>
              <a:t>Client</a:t>
            </a:r>
            <a:r>
              <a:rPr lang="en-US" dirty="0"/>
              <a:t>	</a:t>
            </a:r>
            <a:r>
              <a:rPr lang="vi-VN" dirty="0"/>
              <a:t>Server</a:t>
            </a:r>
            <a:r>
              <a:rPr lang="en-US" dirty="0"/>
              <a:t>	</a:t>
            </a:r>
            <a:r>
              <a:rPr lang="vi-VN" dirty="0"/>
              <a:t>Gửi code, exec, resource</a:t>
            </a:r>
            <a:r>
              <a:rPr lang="en-US" dirty="0"/>
              <a:t>	</a:t>
            </a:r>
            <a:r>
              <a:rPr lang="vi-VN" dirty="0"/>
              <a:t>Tác tử di động, phức tạp nhưng mạnh mẽ</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58</a:t>
            </a:fld>
            <a:endParaRPr lang="en-US"/>
          </a:p>
        </p:txBody>
      </p:sp>
    </p:spTree>
    <p:extLst>
      <p:ext uri="{BB962C8B-B14F-4D97-AF65-F5344CB8AC3E}">
        <p14:creationId xmlns:p14="http://schemas.microsoft.com/office/powerpoint/2010/main" val="67361405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Strong and Weak Mobility</a:t>
            </a:r>
            <a:r>
              <a:rPr lang="en-US" b="1" i="0" dirty="0">
                <a:solidFill>
                  <a:srgbClr val="404040"/>
                </a:solidFill>
                <a:effectLst/>
                <a:latin typeface="DeepSeek-CJK-patch"/>
              </a:rPr>
              <a:t>/ </a:t>
            </a:r>
            <a:r>
              <a:rPr lang="en-US" b="1" i="0" dirty="0" err="1">
                <a:solidFill>
                  <a:srgbClr val="404040"/>
                </a:solidFill>
                <a:effectLst/>
                <a:latin typeface="DeepSeek-CJK-patch"/>
              </a:rPr>
              <a:t>Tính</a:t>
            </a:r>
            <a:r>
              <a:rPr lang="en-US" b="1" i="0" dirty="0">
                <a:solidFill>
                  <a:srgbClr val="404040"/>
                </a:solidFill>
                <a:effectLst/>
                <a:latin typeface="DeepSeek-CJK-patch"/>
              </a:rPr>
              <a:t> di </a:t>
            </a:r>
            <a:r>
              <a:rPr lang="en-US" b="1" i="0" dirty="0" err="1">
                <a:solidFill>
                  <a:srgbClr val="404040"/>
                </a:solidFill>
                <a:effectLst/>
                <a:latin typeface="DeepSeek-CJK-patch"/>
              </a:rPr>
              <a:t>động</a:t>
            </a:r>
            <a:r>
              <a:rPr lang="en-US" b="1" i="0" dirty="0">
                <a:solidFill>
                  <a:srgbClr val="404040"/>
                </a:solidFill>
                <a:effectLst/>
                <a:latin typeface="DeepSeek-CJK-patch"/>
              </a:rPr>
              <a:t> </a:t>
            </a:r>
            <a:r>
              <a:rPr lang="en-US" b="1" i="0" dirty="0" err="1">
                <a:solidFill>
                  <a:srgbClr val="404040"/>
                </a:solidFill>
                <a:effectLst/>
                <a:latin typeface="DeepSeek-CJK-patch"/>
              </a:rPr>
              <a:t>mạnh</a:t>
            </a:r>
            <a:r>
              <a:rPr lang="en-US" b="1" i="0" dirty="0">
                <a:solidFill>
                  <a:srgbClr val="404040"/>
                </a:solidFill>
                <a:effectLst/>
                <a:latin typeface="DeepSeek-CJK-patch"/>
              </a:rPr>
              <a:t> </a:t>
            </a:r>
            <a:r>
              <a:rPr lang="en-US" b="1" i="0" dirty="0" err="1">
                <a:solidFill>
                  <a:srgbClr val="404040"/>
                </a:solidFill>
                <a:effectLst/>
                <a:latin typeface="DeepSeek-CJK-patch"/>
              </a:rPr>
              <a:t>và</a:t>
            </a:r>
            <a:r>
              <a:rPr lang="en-US" b="1" i="0" dirty="0">
                <a:solidFill>
                  <a:srgbClr val="404040"/>
                </a:solidFill>
                <a:effectLst/>
                <a:latin typeface="DeepSeek-CJK-patch"/>
              </a:rPr>
              <a:t> </a:t>
            </a:r>
            <a:r>
              <a:rPr lang="en-US" b="1" i="0" dirty="0" err="1">
                <a:solidFill>
                  <a:srgbClr val="404040"/>
                </a:solidFill>
                <a:effectLst/>
                <a:latin typeface="DeepSeek-CJK-patch"/>
              </a:rPr>
              <a:t>yếu</a:t>
            </a:r>
            <a:r>
              <a:rPr lang="en-US" b="1" i="0" dirty="0">
                <a:solidFill>
                  <a:srgbClr val="404040"/>
                </a:solidFill>
                <a:effectLst/>
                <a:latin typeface="DeepSeek-CJK-patch"/>
              </a:rPr>
              <a:t> </a:t>
            </a:r>
            <a:r>
              <a:rPr lang="en-US" b="1" i="0" dirty="0" err="1">
                <a:solidFill>
                  <a:srgbClr val="404040"/>
                </a:solidFill>
                <a:effectLst/>
                <a:latin typeface="DeepSeek-CJK-patch"/>
              </a:rPr>
              <a:t>của</a:t>
            </a:r>
            <a:r>
              <a:rPr lang="en-US" b="1" i="0" dirty="0">
                <a:solidFill>
                  <a:srgbClr val="404040"/>
                </a:solidFill>
                <a:effectLst/>
                <a:latin typeface="DeepSeek-CJK-patch"/>
              </a:rPr>
              <a:t> di </a:t>
            </a:r>
            <a:r>
              <a:rPr lang="en-US" b="1" i="0" dirty="0" err="1">
                <a:solidFill>
                  <a:srgbClr val="404040"/>
                </a:solidFill>
                <a:effectLst/>
                <a:latin typeface="DeepSeek-CJK-patch"/>
              </a:rPr>
              <a:t>chuyển</a:t>
            </a:r>
            <a:r>
              <a:rPr lang="en-US" b="1" i="0" dirty="0">
                <a:solidFill>
                  <a:srgbClr val="404040"/>
                </a:solidFill>
                <a:effectLst/>
                <a:latin typeface="DeepSeek-CJK-patch"/>
              </a:rPr>
              <a:t> code</a:t>
            </a:r>
          </a:p>
          <a:p>
            <a:pPr algn="l"/>
            <a:endParaRPr lang="vi-VN" b="0" i="0" dirty="0">
              <a:solidFill>
                <a:srgbClr val="404040"/>
              </a:solidFill>
              <a:effectLst/>
              <a:latin typeface="DeepSeek-CJK-patch"/>
            </a:endParaRPr>
          </a:p>
          <a:p>
            <a:pPr algn="l"/>
            <a:r>
              <a:rPr lang="vi-VN" b="1" i="0" dirty="0">
                <a:solidFill>
                  <a:srgbClr val="404040"/>
                </a:solidFill>
                <a:effectLst/>
                <a:latin typeface="DeepSeek-CJK-patch"/>
              </a:rPr>
              <a:t>1. Các thành phần của đối tượng (Object Components)</a:t>
            </a:r>
            <a:endParaRPr lang="vi-VN" b="0" i="0" dirty="0">
              <a:solidFill>
                <a:srgbClr val="404040"/>
              </a:solidFill>
              <a:effectLst/>
              <a:latin typeface="DeepSeek-CJK-patch"/>
            </a:endParaRPr>
          </a:p>
          <a:p>
            <a:pPr algn="l"/>
            <a:r>
              <a:rPr lang="vi-VN" b="0" i="0" dirty="0">
                <a:solidFill>
                  <a:srgbClr val="404040"/>
                </a:solidFill>
                <a:effectLst/>
                <a:latin typeface="DeepSeek-CJK-patch"/>
              </a:rPr>
              <a:t>Một đối tượng (hoặc tiến trình) trong di chuyển mã bao gồm 3 phần chính:</a:t>
            </a:r>
          </a:p>
          <a:p>
            <a:pPr algn="l">
              <a:buFont typeface="Arial" panose="020B0604020202020204" pitchFamily="34" charset="0"/>
              <a:buChar char="•"/>
            </a:pPr>
            <a:r>
              <a:rPr lang="vi-VN" b="1" i="0" dirty="0">
                <a:solidFill>
                  <a:srgbClr val="404040"/>
                </a:solidFill>
                <a:effectLst/>
                <a:latin typeface="DeepSeek-CJK-patch"/>
              </a:rPr>
              <a:t>Code segment (Phân đoạn mã):</a:t>
            </a:r>
            <a:r>
              <a:rPr lang="vi-VN" b="0" i="0" dirty="0">
                <a:solidFill>
                  <a:srgbClr val="404040"/>
                </a:solidFill>
                <a:effectLst/>
                <a:latin typeface="DeepSeek-CJK-patch"/>
              </a:rPr>
              <a:t> Chứa mã thực thi (các lệnh, chương trình).</a:t>
            </a:r>
          </a:p>
          <a:p>
            <a:pPr algn="l">
              <a:buFont typeface="Arial" panose="020B0604020202020204" pitchFamily="34" charset="0"/>
              <a:buChar char="•"/>
            </a:pPr>
            <a:r>
              <a:rPr lang="vi-VN" b="1" i="0" dirty="0">
                <a:solidFill>
                  <a:srgbClr val="404040"/>
                </a:solidFill>
                <a:effectLst/>
                <a:latin typeface="DeepSeek-CJK-patch"/>
              </a:rPr>
              <a:t>Data segment (Phân đoạn dữ liệu):</a:t>
            </a:r>
            <a:r>
              <a:rPr lang="vi-VN" b="0" i="0" dirty="0">
                <a:solidFill>
                  <a:srgbClr val="404040"/>
                </a:solidFill>
                <a:effectLst/>
                <a:latin typeface="DeepSeek-CJK-patch"/>
              </a:rPr>
              <a:t> Chứa trạng thái hiện tại của đối tượng (biến, dữ liệu).</a:t>
            </a:r>
          </a:p>
          <a:p>
            <a:pPr algn="l">
              <a:buFont typeface="Arial" panose="020B0604020202020204" pitchFamily="34" charset="0"/>
              <a:buChar char="•"/>
            </a:pPr>
            <a:r>
              <a:rPr lang="vi-VN" b="1" i="0" dirty="0">
                <a:solidFill>
                  <a:srgbClr val="404040"/>
                </a:solidFill>
                <a:effectLst/>
                <a:latin typeface="DeepSeek-CJK-patch"/>
              </a:rPr>
              <a:t>Execution state (Trạng thái thực thi):</a:t>
            </a:r>
            <a:r>
              <a:rPr lang="vi-VN" b="0" i="0" dirty="0">
                <a:solidFill>
                  <a:srgbClr val="404040"/>
                </a:solidFill>
                <a:effectLst/>
                <a:latin typeface="DeepSeek-CJK-patch"/>
              </a:rPr>
              <a:t> Chứa ngữ cảnh của luồng (thread) đang thực thi mã (ví dụ: bộ đếm chương trình, ngăn xếp, thanh ghi).</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Weak Mobility (Tính di động yếu)</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Chỉ di chuyển code segment và data segment</a:t>
            </a:r>
            <a:r>
              <a:rPr lang="vi-VN" b="0" i="0" dirty="0">
                <a:solidFill>
                  <a:srgbClr val="404040"/>
                </a:solidFill>
                <a:effectLst/>
                <a:latin typeface="DeepSeek-CJK-patch"/>
              </a:rPr>
              <a:t>, không di chuyển execution state.</a:t>
            </a:r>
          </a:p>
          <a:p>
            <a:pPr algn="l">
              <a:buFont typeface="Arial" panose="020B0604020202020204" pitchFamily="34" charset="0"/>
              <a:buChar char="•"/>
            </a:pPr>
            <a:r>
              <a:rPr lang="vi-VN" b="1" i="0" dirty="0">
                <a:solidFill>
                  <a:srgbClr val="404040"/>
                </a:solidFill>
                <a:effectLst/>
                <a:latin typeface="DeepSeek-CJK-patch"/>
              </a:rPr>
              <a:t>Khi di chuyển, chương trình phải khởi động lại từ đầu</a:t>
            </a:r>
            <a:r>
              <a:rPr lang="vi-VN" b="0" i="0" dirty="0">
                <a:solidFill>
                  <a:srgbClr val="404040"/>
                </a:solidFill>
                <a:effectLst/>
                <a:latin typeface="DeepSeek-CJK-patch"/>
              </a:rPr>
              <a:t> (không tiếp tục từ trạng thái trước đó).</a:t>
            </a:r>
          </a:p>
          <a:p>
            <a:pPr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Đơn giản, dễ triển khai.</a:t>
            </a:r>
          </a:p>
          <a:p>
            <a:pPr marL="742950" lvl="1" indent="-285750" algn="l">
              <a:buFont typeface="Arial" panose="020B0604020202020204" pitchFamily="34" charset="0"/>
              <a:buChar char="•"/>
            </a:pPr>
            <a:r>
              <a:rPr lang="vi-VN" b="0" i="0" dirty="0">
                <a:solidFill>
                  <a:srgbClr val="404040"/>
                </a:solidFill>
                <a:effectLst/>
                <a:latin typeface="DeepSeek-CJK-patch"/>
              </a:rPr>
              <a:t>Dễ thực hiện nếu mã có tính di động cao (ví dụ: Java applet).</a:t>
            </a:r>
          </a:p>
          <a:p>
            <a:pPr algn="l">
              <a:buFont typeface="Arial" panose="020B0604020202020204" pitchFamily="34" charset="0"/>
              <a:buChar char="•"/>
            </a:pPr>
            <a:r>
              <a:rPr lang="vi-VN" b="1" i="0" dirty="0">
                <a:solidFill>
                  <a:srgbClr val="404040"/>
                </a:solidFill>
                <a:effectLst/>
                <a:latin typeface="DeepSeek-CJK-patch"/>
              </a:rPr>
              <a:t>Phân biệt 2 cách di chuyển:</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Code shipping (Push):</a:t>
            </a:r>
            <a:r>
              <a:rPr lang="vi-VN" b="0" i="0" dirty="0">
                <a:solidFill>
                  <a:srgbClr val="404040"/>
                </a:solidFill>
                <a:effectLst/>
                <a:latin typeface="DeepSeek-CJK-patch"/>
              </a:rPr>
              <a:t> Máy nguồn chủ động gửi mã đến máy đích (ví dụ: gửi chương trình đến máy chủ).</a:t>
            </a:r>
          </a:p>
          <a:p>
            <a:pPr marL="742950" lvl="1" indent="-285750" algn="l">
              <a:buFont typeface="Arial" panose="020B0604020202020204" pitchFamily="34" charset="0"/>
              <a:buChar char="•"/>
            </a:pPr>
            <a:r>
              <a:rPr lang="vi-VN" b="1" i="0" dirty="0">
                <a:solidFill>
                  <a:srgbClr val="404040"/>
                </a:solidFill>
                <a:effectLst/>
                <a:latin typeface="DeepSeek-CJK-patch"/>
              </a:rPr>
              <a:t>Code fetching (Pull):</a:t>
            </a:r>
            <a:r>
              <a:rPr lang="vi-VN" b="0" i="0" dirty="0">
                <a:solidFill>
                  <a:srgbClr val="404040"/>
                </a:solidFill>
                <a:effectLst/>
                <a:latin typeface="DeepSeek-CJK-patch"/>
              </a:rPr>
              <a:t> Máy đích chủ động tải mã từ máy nguồn (ví dụ: trình duyệt tải Java applet từ web server).</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Strong Mobility (Tính di động mạnh)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Di chuyển toàn bộ đối tượng, bao gồm cả execution state.</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Cho phép dừng tiến trình ở máy nguồn, di chuyển sang máy đích và tiếp tục chạy ngay tại điểm dừng.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Có 2 hình thức:</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Migration (Di chuyển):</a:t>
            </a:r>
            <a:r>
              <a:rPr lang="vi-VN" b="0" i="0" dirty="0">
                <a:solidFill>
                  <a:srgbClr val="404040"/>
                </a:solidFill>
                <a:effectLst/>
                <a:latin typeface="DeepSeek-CJK-patch"/>
              </a:rPr>
              <a:t> Đối tượng được chuyển hoàn toàn từ máy nguồn sang máy đích.</a:t>
            </a:r>
          </a:p>
          <a:p>
            <a:pPr marL="742950" lvl="1" indent="-285750" algn="l">
              <a:buFont typeface="Arial" panose="020B0604020202020204" pitchFamily="34" charset="0"/>
              <a:buChar char="•"/>
            </a:pPr>
            <a:r>
              <a:rPr lang="vi-VN" b="1" i="0" dirty="0">
                <a:solidFill>
                  <a:srgbClr val="404040"/>
                </a:solidFill>
                <a:effectLst/>
                <a:latin typeface="DeepSeek-CJK-patch"/>
              </a:rPr>
              <a:t>Cloning (Nhân bản):</a:t>
            </a:r>
            <a:r>
              <a:rPr lang="vi-VN" b="0" i="0" dirty="0">
                <a:solidFill>
                  <a:srgbClr val="404040"/>
                </a:solidFill>
                <a:effectLst/>
                <a:latin typeface="DeepSeek-CJK-patch"/>
              </a:rPr>
              <a:t> Tạo một bản sao của đối tượng trên máy đích, giữ nguyên trạng thái thực thi và chạy song song với đối tượng gốc.</a:t>
            </a:r>
          </a:p>
          <a:p>
            <a:pPr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Linh hoạt hơn, cho phép tiếp tục công việc mà không cần khởi động lại.</a:t>
            </a:r>
          </a:p>
          <a:p>
            <a:pPr algn="l">
              <a:buFont typeface="Arial" panose="020B0604020202020204" pitchFamily="34" charset="0"/>
              <a:buChar char="•"/>
            </a:pPr>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Phức tạp hơn do phải đóng gói và khôi phục trạng thái thực thi.</a:t>
            </a:r>
          </a:p>
          <a:p>
            <a:pPr marL="742950" lvl="1" indent="-285750" algn="l">
              <a:buFont typeface="Arial" panose="020B0604020202020204" pitchFamily="34" charset="0"/>
              <a:buChar char="•"/>
            </a:pPr>
            <a:r>
              <a:rPr lang="vi-VN" b="0" i="0" dirty="0">
                <a:solidFill>
                  <a:srgbClr val="404040"/>
                </a:solidFill>
                <a:effectLst/>
                <a:latin typeface="DeepSeek-CJK-patch"/>
              </a:rPr>
              <a:t>Phụ thuộc vào hệ điều hành và phần cứng.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Tóm tắt sự khác biệt</a:t>
            </a:r>
            <a:endParaRPr lang="vi-VN" b="0" i="0" dirty="0">
              <a:solidFill>
                <a:srgbClr val="404040"/>
              </a:solidFill>
              <a:effectLst/>
              <a:latin typeface="DeepSeek-CJK-patch"/>
            </a:endParaRPr>
          </a:p>
          <a:p>
            <a:pPr algn="l"/>
            <a:r>
              <a:rPr lang="vi-VN" b="1" i="0" dirty="0">
                <a:solidFill>
                  <a:srgbClr val="404040"/>
                </a:solidFill>
                <a:effectLst/>
                <a:latin typeface="DeepSeek-CJK-patch"/>
              </a:rPr>
              <a:t>Tiêu chí</a:t>
            </a:r>
            <a:r>
              <a:rPr lang="en-US" b="1" i="0" dirty="0">
                <a:solidFill>
                  <a:srgbClr val="404040"/>
                </a:solidFill>
                <a:effectLst/>
                <a:latin typeface="DeepSeek-CJK-patch"/>
              </a:rPr>
              <a:t>		</a:t>
            </a:r>
            <a:r>
              <a:rPr lang="vi-VN" b="1" i="0" dirty="0">
                <a:solidFill>
                  <a:srgbClr val="404040"/>
                </a:solidFill>
                <a:effectLst/>
                <a:latin typeface="DeepSeek-CJK-patch"/>
              </a:rPr>
              <a:t>Weak Mobility</a:t>
            </a:r>
            <a:r>
              <a:rPr lang="en-US" b="1" i="0" dirty="0">
                <a:solidFill>
                  <a:srgbClr val="404040"/>
                </a:solidFill>
                <a:effectLst/>
                <a:latin typeface="DeepSeek-CJK-patch"/>
              </a:rPr>
              <a:t>	</a:t>
            </a:r>
            <a:r>
              <a:rPr lang="vi-VN" b="1" i="0" dirty="0">
                <a:solidFill>
                  <a:srgbClr val="404040"/>
                </a:solidFill>
                <a:effectLst/>
                <a:latin typeface="DeepSeek-CJK-patch"/>
              </a:rPr>
              <a:t>Strong Mobility</a:t>
            </a:r>
            <a:endParaRPr lang="en-US" b="1" i="0" dirty="0">
              <a:solidFill>
                <a:srgbClr val="404040"/>
              </a:solidFill>
              <a:effectLst/>
              <a:latin typeface="DeepSeek-CJK-patch"/>
            </a:endParaRPr>
          </a:p>
          <a:p>
            <a:pPr algn="l"/>
            <a:r>
              <a:rPr lang="vi-VN" b="1" i="0" dirty="0">
                <a:solidFill>
                  <a:srgbClr val="404040"/>
                </a:solidFill>
                <a:effectLst/>
                <a:latin typeface="DeepSeek-CJK-patch"/>
              </a:rPr>
              <a:t>Di chuyển gì?</a:t>
            </a:r>
            <a:r>
              <a:rPr lang="en-US" b="1" i="0" dirty="0">
                <a:solidFill>
                  <a:srgbClr val="404040"/>
                </a:solidFill>
                <a:effectLst/>
                <a:latin typeface="DeepSeek-CJK-patch"/>
              </a:rPr>
              <a:t>		</a:t>
            </a:r>
            <a:r>
              <a:rPr lang="vi-VN" b="0" i="0" dirty="0">
                <a:solidFill>
                  <a:srgbClr val="404040"/>
                </a:solidFill>
                <a:effectLst/>
                <a:latin typeface="DeepSeek-CJK-patch"/>
              </a:rPr>
              <a:t>Code + Data</a:t>
            </a:r>
            <a:r>
              <a:rPr lang="en-US" b="0" i="0" dirty="0">
                <a:solidFill>
                  <a:srgbClr val="404040"/>
                </a:solidFill>
                <a:effectLst/>
                <a:latin typeface="DeepSeek-CJK-patch"/>
              </a:rPr>
              <a:t>		</a:t>
            </a:r>
            <a:r>
              <a:rPr lang="vi-VN" b="0" i="0" dirty="0">
                <a:solidFill>
                  <a:srgbClr val="404040"/>
                </a:solidFill>
                <a:effectLst/>
                <a:latin typeface="DeepSeek-CJK-patch"/>
              </a:rPr>
              <a:t>Code + Data + Execution State</a:t>
            </a:r>
            <a:endParaRPr lang="en-US" b="0" i="0" dirty="0">
              <a:solidFill>
                <a:srgbClr val="404040"/>
              </a:solidFill>
              <a:effectLst/>
              <a:latin typeface="DeepSeek-CJK-patch"/>
            </a:endParaRPr>
          </a:p>
          <a:p>
            <a:pPr algn="l"/>
            <a:r>
              <a:rPr lang="vi-VN" b="1" i="0" dirty="0">
                <a:solidFill>
                  <a:srgbClr val="404040"/>
                </a:solidFill>
                <a:effectLst/>
                <a:latin typeface="DeepSeek-CJK-patch"/>
              </a:rPr>
              <a:t>Tiếp tục thực thi?</a:t>
            </a:r>
            <a:r>
              <a:rPr lang="en-US" b="1" i="0" dirty="0">
                <a:solidFill>
                  <a:srgbClr val="404040"/>
                </a:solidFill>
                <a:effectLst/>
                <a:latin typeface="DeepSeek-CJK-patch"/>
              </a:rPr>
              <a:t>	</a:t>
            </a:r>
            <a:r>
              <a:rPr lang="vi-VN" b="0" i="0" dirty="0">
                <a:solidFill>
                  <a:srgbClr val="404040"/>
                </a:solidFill>
                <a:effectLst/>
                <a:latin typeface="DeepSeek-CJK-patch"/>
              </a:rPr>
              <a:t>Khởi động lại từ đầu</a:t>
            </a:r>
            <a:r>
              <a:rPr lang="en-US" b="0" i="0" dirty="0">
                <a:solidFill>
                  <a:srgbClr val="404040"/>
                </a:solidFill>
                <a:effectLst/>
                <a:latin typeface="DeepSeek-CJK-patch"/>
              </a:rPr>
              <a:t>	</a:t>
            </a:r>
            <a:r>
              <a:rPr lang="vi-VN" b="0" i="0" dirty="0">
                <a:solidFill>
                  <a:srgbClr val="404040"/>
                </a:solidFill>
                <a:effectLst/>
                <a:latin typeface="DeepSeek-CJK-patch"/>
              </a:rPr>
              <a:t>Tiếp tục từ trạng thái trước đó</a:t>
            </a:r>
            <a:endParaRPr lang="en-US" b="0" i="0" dirty="0">
              <a:solidFill>
                <a:srgbClr val="404040"/>
              </a:solidFill>
              <a:effectLst/>
              <a:latin typeface="DeepSeek-CJK-patch"/>
            </a:endParaRPr>
          </a:p>
          <a:p>
            <a:pPr algn="l"/>
            <a:r>
              <a:rPr lang="vi-VN" b="1" i="0" dirty="0">
                <a:solidFill>
                  <a:srgbClr val="404040"/>
                </a:solidFill>
                <a:effectLst/>
                <a:latin typeface="DeepSeek-CJK-patch"/>
              </a:rPr>
              <a:t>Độ phức tạp</a:t>
            </a:r>
            <a:r>
              <a:rPr lang="en-US" b="1" i="0" dirty="0">
                <a:solidFill>
                  <a:srgbClr val="404040"/>
                </a:solidFill>
                <a:effectLst/>
                <a:latin typeface="DeepSeek-CJK-patch"/>
              </a:rPr>
              <a:t>		</a:t>
            </a:r>
            <a:r>
              <a:rPr lang="vi-VN" b="0" i="0" dirty="0">
                <a:solidFill>
                  <a:srgbClr val="404040"/>
                </a:solidFill>
                <a:effectLst/>
                <a:latin typeface="DeepSeek-CJK-patch"/>
              </a:rPr>
              <a:t>Đơn giản</a:t>
            </a:r>
            <a:r>
              <a:rPr lang="en-US" b="0" i="0" dirty="0">
                <a:solidFill>
                  <a:srgbClr val="404040"/>
                </a:solidFill>
                <a:effectLst/>
                <a:latin typeface="DeepSeek-CJK-patch"/>
              </a:rPr>
              <a:t>		</a:t>
            </a:r>
            <a:r>
              <a:rPr lang="vi-VN" b="0" i="0" dirty="0">
                <a:solidFill>
                  <a:srgbClr val="404040"/>
                </a:solidFill>
                <a:effectLst/>
                <a:latin typeface="DeepSeek-CJK-patch"/>
              </a:rPr>
              <a:t>Phức tạp hơn</a:t>
            </a:r>
            <a:endParaRPr lang="en-US" b="0" i="0" dirty="0">
              <a:solidFill>
                <a:srgbClr val="404040"/>
              </a:solidFill>
              <a:effectLst/>
              <a:latin typeface="DeepSeek-CJK-patch"/>
            </a:endParaRPr>
          </a:p>
          <a:p>
            <a:pPr algn="l"/>
            <a:r>
              <a:rPr lang="vi-VN" b="1" i="0" dirty="0">
                <a:solidFill>
                  <a:srgbClr val="404040"/>
                </a:solidFill>
                <a:effectLst/>
                <a:latin typeface="DeepSeek-CJK-patch"/>
              </a:rPr>
              <a:t>Ví dụ</a:t>
            </a:r>
            <a:r>
              <a:rPr lang="en-US" b="1" i="0" dirty="0">
                <a:solidFill>
                  <a:srgbClr val="404040"/>
                </a:solidFill>
                <a:effectLst/>
                <a:latin typeface="DeepSeek-CJK-patch"/>
              </a:rPr>
              <a:t>		</a:t>
            </a:r>
            <a:r>
              <a:rPr lang="vi-VN" b="0" i="0" dirty="0">
                <a:solidFill>
                  <a:srgbClr val="404040"/>
                </a:solidFill>
                <a:effectLst/>
                <a:latin typeface="DeepSeek-CJK-patch"/>
              </a:rPr>
              <a:t>Java Applet</a:t>
            </a:r>
            <a:r>
              <a:rPr lang="en-US" b="0" i="0" dirty="0">
                <a:solidFill>
                  <a:srgbClr val="404040"/>
                </a:solidFill>
                <a:effectLst/>
                <a:latin typeface="DeepSeek-CJK-patch"/>
              </a:rPr>
              <a:t>		</a:t>
            </a:r>
            <a:r>
              <a:rPr lang="vi-VN" b="0" i="0" dirty="0">
                <a:solidFill>
                  <a:srgbClr val="404040"/>
                </a:solidFill>
                <a:effectLst/>
                <a:latin typeface="DeepSeek-CJK-patch"/>
              </a:rPr>
              <a:t>Process Migration, Mobile Agents</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59</a:t>
            </a:fld>
            <a:endParaRPr lang="en-US"/>
          </a:p>
        </p:txBody>
      </p:sp>
    </p:spTree>
    <p:extLst>
      <p:ext uri="{BB962C8B-B14F-4D97-AF65-F5344CB8AC3E}">
        <p14:creationId xmlns:p14="http://schemas.microsoft.com/office/powerpoint/2010/main" val="22656880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Migration in Heterogeneous Systems (Di chuyển trong hệ thống không đồng nhất)</a:t>
            </a:r>
            <a:endParaRPr lang="vi-VN" b="0" i="0" dirty="0">
              <a:solidFill>
                <a:srgbClr val="404040"/>
              </a:solidFill>
              <a:effectLst/>
              <a:latin typeface="DeepSeek-CJK-patch"/>
            </a:endParaRP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Vấn đề chính (Main Problem)</a:t>
            </a:r>
            <a:endParaRPr lang="vi-VN" b="0" i="0" dirty="0">
              <a:solidFill>
                <a:srgbClr val="404040"/>
              </a:solidFill>
              <a:effectLst/>
              <a:latin typeface="DeepSeek-CJK-patch"/>
            </a:endParaRPr>
          </a:p>
          <a:p>
            <a:pPr algn="l"/>
            <a:r>
              <a:rPr lang="vi-VN" b="0" i="0" dirty="0">
                <a:solidFill>
                  <a:srgbClr val="404040"/>
                </a:solidFill>
                <a:effectLst/>
                <a:latin typeface="DeepSeek-CJK-patch"/>
              </a:rPr>
              <a:t>Khi di chuyển mã (code migration) giữa các hệ thống </a:t>
            </a:r>
            <a:r>
              <a:rPr lang="vi-VN" b="1" i="0" dirty="0">
                <a:solidFill>
                  <a:srgbClr val="404040"/>
                </a:solidFill>
                <a:effectLst/>
                <a:latin typeface="DeepSeek-CJK-patch"/>
              </a:rPr>
              <a:t>không đồng nhất</a:t>
            </a:r>
            <a:r>
              <a:rPr lang="vi-VN" b="0" i="0" dirty="0">
                <a:solidFill>
                  <a:srgbClr val="404040"/>
                </a:solidFill>
                <a:effectLst/>
                <a:latin typeface="DeepSeek-CJK-patch"/>
              </a:rPr>
              <a:t> (khác phần cứng, hệ điều hành, môi trường thực thi), hai vấn đề lớn xuất hiện:</a:t>
            </a: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Máy đích có thể không tương thích để thực thi mã di chuyển</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Mã được biên dịch cho kiến trúc CPU A (ví dụ: x86) sẽ không chạy được trên CPU B (ví dụ: ARM).</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Hệ điều hành khác nhau (Windows vs. Linux) có các hệ thống lời gọi hàm (system calls) khác nhau.</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Trạng thái thực thi (execution state) phụ thuộc vào phần cứng và hệ điều hành</a:t>
            </a:r>
            <a:endParaRPr lang="vi-VN" b="0" i="0" dirty="0">
              <a:solidFill>
                <a:srgbClr val="404040"/>
              </a:solidFill>
              <a:effectLst/>
              <a:latin typeface="DeepSeek-CJK-patch"/>
            </a:endParaRP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Các thanh ghi CPU (registers), bộ nhớ stack, bảng tiến trình (process table) được định nghĩa khác nhau giữa các nền tảng.</a:t>
            </a:r>
          </a:p>
          <a:p>
            <a:pPr marL="457200" lvl="1"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Ví dụ:</a:t>
            </a: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Một tiến trình đang chạy trên Linux không thể trực tiếp di chuyển sang Windows vì kernel quản lý tiến trình khác nhau.</a:t>
            </a:r>
          </a:p>
          <a:p>
            <a:pPr marL="914400" lvl="2" indent="0" algn="l">
              <a:buFont typeface="+mj-lt"/>
              <a:buNone/>
            </a:pPr>
            <a:r>
              <a:rPr lang="en-US" b="0" i="0" dirty="0">
                <a:solidFill>
                  <a:srgbClr val="404040"/>
                </a:solidFill>
                <a:effectLst/>
                <a:latin typeface="DeepSeek-CJK-patch"/>
              </a:rPr>
              <a:t>+ </a:t>
            </a:r>
            <a:r>
              <a:rPr lang="vi-VN" b="0" i="0" dirty="0">
                <a:solidFill>
                  <a:srgbClr val="404040"/>
                </a:solidFill>
                <a:effectLst/>
                <a:latin typeface="DeepSeek-CJK-patch"/>
              </a:rPr>
              <a:t>Một chương trình dùng thư viện đặc thù (VD: chỉ có trên macOS) sẽ không chạy được trên máy không có thư viện đó.</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Giải pháp: Máy ảo (Abstract Machine)</a:t>
            </a:r>
            <a:endParaRPr lang="vi-VN" b="0" i="0" dirty="0">
              <a:solidFill>
                <a:srgbClr val="404040"/>
              </a:solidFill>
              <a:effectLst/>
              <a:latin typeface="DeepSeek-CJK-patch"/>
            </a:endParaRPr>
          </a:p>
          <a:p>
            <a:pPr algn="l"/>
            <a:r>
              <a:rPr lang="vi-VN" b="0" i="0" dirty="0">
                <a:solidFill>
                  <a:srgbClr val="404040"/>
                </a:solidFill>
                <a:effectLst/>
                <a:latin typeface="DeepSeek-CJK-patch"/>
              </a:rPr>
              <a:t>Để giải quyết vấn đề này, </a:t>
            </a:r>
            <a:r>
              <a:rPr lang="vi-VN" b="1" i="0" dirty="0">
                <a:solidFill>
                  <a:srgbClr val="404040"/>
                </a:solidFill>
                <a:effectLst/>
                <a:latin typeface="DeepSeek-CJK-patch"/>
              </a:rPr>
              <a:t>chỉ có một cách là sử dụng lớp trừu tượng (abstract machine) chạy trên nhiều nền tảng khác nhau</a:t>
            </a:r>
            <a:r>
              <a:rPr lang="vi-VN" b="0" i="0" dirty="0">
                <a:solidFill>
                  <a:srgbClr val="404040"/>
                </a:solidFill>
                <a:effectLst/>
                <a:latin typeface="DeepSeek-CJK-patch"/>
              </a:rPr>
              <a:t>. Có hai cách tiếp cận chính:</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a) Ngôn ngữ thông dịch (Interpreted Languages) &amp; Máy ảo (Virtual Machine - VM)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Java (JVM), Python, .NET (CLR), WebAssembly.</a:t>
            </a:r>
          </a:p>
          <a:p>
            <a:pPr algn="l">
              <a:buFont typeface="Arial" panose="020B0604020202020204" pitchFamily="34" charset="0"/>
              <a:buChar char="•"/>
            </a:pPr>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Mã nguồn được biên dịch thành </a:t>
            </a:r>
            <a:r>
              <a:rPr lang="vi-VN" b="1" i="0" dirty="0">
                <a:solidFill>
                  <a:srgbClr val="404040"/>
                </a:solidFill>
                <a:effectLst/>
                <a:latin typeface="DeepSeek-CJK-patch"/>
              </a:rPr>
              <a:t>bytecode</a:t>
            </a:r>
            <a:r>
              <a:rPr lang="vi-VN" b="0" i="0" dirty="0">
                <a:solidFill>
                  <a:srgbClr val="404040"/>
                </a:solidFill>
                <a:effectLst/>
                <a:latin typeface="DeepSeek-CJK-patch"/>
              </a:rPr>
              <a:t> (trung gian, không phụ thuộc phần cứng).</a:t>
            </a:r>
          </a:p>
          <a:p>
            <a:pPr marL="742950" lvl="1" indent="-285750" algn="l">
              <a:buFont typeface="Arial" panose="020B0604020202020204" pitchFamily="34" charset="0"/>
              <a:buChar char="•"/>
            </a:pPr>
            <a:r>
              <a:rPr lang="vi-VN" b="0" i="0" dirty="0">
                <a:solidFill>
                  <a:srgbClr val="404040"/>
                </a:solidFill>
                <a:effectLst/>
                <a:latin typeface="DeepSeek-CJK-patch"/>
              </a:rPr>
              <a:t>Máy ảo (VM) trên mỗi nền tảng sẽ </a:t>
            </a:r>
            <a:r>
              <a:rPr lang="vi-VN" b="1" i="0" dirty="0">
                <a:solidFill>
                  <a:srgbClr val="404040"/>
                </a:solidFill>
                <a:effectLst/>
                <a:latin typeface="DeepSeek-CJK-patch"/>
              </a:rPr>
              <a:t>thông dịch bytecode</a:t>
            </a:r>
            <a:r>
              <a:rPr lang="vi-VN" b="0" i="0" dirty="0">
                <a:solidFill>
                  <a:srgbClr val="404040"/>
                </a:solidFill>
                <a:effectLst/>
                <a:latin typeface="DeepSeek-CJK-patch"/>
              </a:rPr>
              <a:t> thành mã máy tương ứng.</a:t>
            </a:r>
          </a:p>
          <a:p>
            <a:pPr marL="742950" lvl="1" indent="-285750" algn="l">
              <a:buFont typeface="Arial" panose="020B0604020202020204" pitchFamily="34" charset="0"/>
              <a:buChar char="•"/>
            </a:pPr>
            <a:r>
              <a:rPr lang="vi-VN" b="0" i="0" dirty="0">
                <a:solidFill>
                  <a:srgbClr val="404040"/>
                </a:solidFill>
                <a:effectLst/>
                <a:latin typeface="DeepSeek-CJK-patch"/>
              </a:rPr>
              <a:t>Nhờ đó, cùng một chương trình có thể chạy trên Windows, Linux, macOS mà không cần sửa đổi.</a:t>
            </a:r>
          </a:p>
          <a:p>
            <a:pPr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Tính di động cao (portable).</a:t>
            </a:r>
          </a:p>
          <a:p>
            <a:pPr marL="742950" lvl="1" indent="-285750" algn="l">
              <a:buFont typeface="Arial" panose="020B0604020202020204" pitchFamily="34" charset="0"/>
              <a:buChar char="•"/>
            </a:pPr>
            <a:r>
              <a:rPr lang="vi-VN" b="0" i="0" dirty="0">
                <a:solidFill>
                  <a:srgbClr val="404040"/>
                </a:solidFill>
                <a:effectLst/>
                <a:latin typeface="DeepSeek-CJK-patch"/>
              </a:rPr>
              <a:t>Không phụ thuộc vào phần cứng hoặc hệ điều hành cụ thể.</a:t>
            </a:r>
          </a:p>
          <a:p>
            <a:pPr algn="l">
              <a:buFont typeface="Arial" panose="020B0604020202020204" pitchFamily="34" charset="0"/>
              <a:buChar char="•"/>
            </a:pPr>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Hiệu suất thấp hơn so với mã biên dịch trực tiếp (do phải thông dịch).</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b) Virtual Machine Monitors (VMM) / Hypervisors</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Ví dụ:</a:t>
            </a:r>
            <a:r>
              <a:rPr lang="vi-VN" b="0" i="0" dirty="0">
                <a:solidFill>
                  <a:srgbClr val="404040"/>
                </a:solidFill>
                <a:effectLst/>
                <a:latin typeface="DeepSeek-CJK-patch"/>
              </a:rPr>
              <a:t> Docker, VMware, QEMU, Xen.</a:t>
            </a:r>
          </a:p>
          <a:p>
            <a:pPr algn="l">
              <a:buFont typeface="Arial" panose="020B0604020202020204" pitchFamily="34" charset="0"/>
              <a:buChar char="•"/>
            </a:pPr>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Tạo một </a:t>
            </a:r>
            <a:r>
              <a:rPr lang="vi-VN" b="1" i="0" dirty="0">
                <a:solidFill>
                  <a:srgbClr val="404040"/>
                </a:solidFill>
                <a:effectLst/>
                <a:latin typeface="DeepSeek-CJK-patch"/>
              </a:rPr>
              <a:t>môi trường ảo hóa</a:t>
            </a:r>
            <a:r>
              <a:rPr lang="vi-VN" b="0" i="0" dirty="0">
                <a:solidFill>
                  <a:srgbClr val="404040"/>
                </a:solidFill>
                <a:effectLst/>
                <a:latin typeface="DeepSeek-CJK-patch"/>
              </a:rPr>
              <a:t> (virtualized environment) mô phỏng phần cứng.</a:t>
            </a:r>
          </a:p>
          <a:p>
            <a:pPr marL="742950" lvl="1" indent="-285750" algn="l">
              <a:buFont typeface="Arial" panose="020B0604020202020204" pitchFamily="34" charset="0"/>
              <a:buChar char="•"/>
            </a:pPr>
            <a:r>
              <a:rPr lang="vi-VN" b="0" i="0" dirty="0">
                <a:solidFill>
                  <a:srgbClr val="404040"/>
                </a:solidFill>
                <a:effectLst/>
                <a:latin typeface="DeepSeek-CJK-patch"/>
              </a:rPr>
              <a:t>Cho phép chạy cả hệ điều hành khách (guest OS) bên trong máy ảo.</a:t>
            </a:r>
          </a:p>
          <a:p>
            <a:pPr marL="742950" lvl="1" indent="-285750" algn="l">
              <a:buFont typeface="Arial" panose="020B0604020202020204" pitchFamily="34" charset="0"/>
              <a:buChar char="•"/>
            </a:pPr>
            <a:r>
              <a:rPr lang="vi-VN" b="0" i="0" dirty="0">
                <a:solidFill>
                  <a:srgbClr val="404040"/>
                </a:solidFill>
                <a:effectLst/>
                <a:latin typeface="DeepSeek-CJK-patch"/>
              </a:rPr>
              <a:t>Nhờ đó, một tiến trình có thể di chuyển giữa các máy vật lý khác nhau mà không cần quan tâm đến phần cứng thật.</a:t>
            </a:r>
          </a:p>
          <a:p>
            <a:pPr algn="l">
              <a:buFont typeface="Arial" panose="020B0604020202020204" pitchFamily="34" charset="0"/>
              <a:buChar char="•"/>
            </a:pPr>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Cô lập hoàn toàn môi trường thực thi.</a:t>
            </a:r>
          </a:p>
          <a:p>
            <a:pPr marL="742950" lvl="1" indent="-285750" algn="l">
              <a:buFont typeface="Arial" panose="020B0604020202020204" pitchFamily="34" charset="0"/>
              <a:buChar char="•"/>
            </a:pPr>
            <a:r>
              <a:rPr lang="vi-VN" b="0" i="0" dirty="0">
                <a:solidFill>
                  <a:srgbClr val="404040"/>
                </a:solidFill>
                <a:effectLst/>
                <a:latin typeface="DeepSeek-CJK-patch"/>
              </a:rPr>
              <a:t>Hỗ trợ di chuyển live migration (VD: VMware vMotion).</a:t>
            </a:r>
          </a:p>
          <a:p>
            <a:pPr algn="l">
              <a:buFont typeface="Arial" panose="020B0604020202020204" pitchFamily="34" charset="0"/>
              <a:buChar char="•"/>
            </a:pPr>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Tốn tài nguyên (CPU, RAM) do phải chạy cả một hệ điều hành ảo.</a:t>
            </a:r>
          </a:p>
          <a:p>
            <a:endParaRPr lang="en-US" dirty="0"/>
          </a:p>
          <a:p>
            <a:endParaRPr lang="en-US" dirty="0"/>
          </a:p>
          <a:p>
            <a:pPr algn="l"/>
            <a:r>
              <a:rPr lang="en-US" b="1" i="0" dirty="0">
                <a:solidFill>
                  <a:srgbClr val="404040"/>
                </a:solidFill>
                <a:effectLst/>
                <a:latin typeface="DeepSeek-CJK-patch"/>
              </a:rPr>
              <a:t>3</a:t>
            </a:r>
            <a:r>
              <a:rPr lang="vi-VN" b="1" i="0" dirty="0">
                <a:solidFill>
                  <a:srgbClr val="404040"/>
                </a:solidFill>
                <a:effectLst/>
                <a:latin typeface="DeepSeek-CJK-patch"/>
              </a:rPr>
              <a:t>. 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Di chuyển trong hệ thống không đồng nhất rất khó do khác biệt phần cứng &amp; hệ điều hành.</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Giải pháp duy nhất là dùng lớp trừu tượng: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Máy ảo (VM) cho mã thông dịch</a:t>
            </a:r>
            <a:r>
              <a:rPr lang="vi-VN" b="0" i="0" dirty="0">
                <a:solidFill>
                  <a:srgbClr val="404040"/>
                </a:solidFill>
                <a:effectLst/>
                <a:latin typeface="DeepSeek-CJK-patch"/>
              </a:rPr>
              <a:t> → phù hợp ứng dụng di động (Java, Python).</a:t>
            </a:r>
          </a:p>
          <a:p>
            <a:pPr marL="742950" lvl="1" indent="-285750" algn="l">
              <a:buFont typeface="Arial" panose="020B0604020202020204" pitchFamily="34" charset="0"/>
              <a:buChar char="•"/>
            </a:pPr>
            <a:r>
              <a:rPr lang="vi-VN" b="1" i="0" dirty="0">
                <a:solidFill>
                  <a:srgbClr val="404040"/>
                </a:solidFill>
                <a:effectLst/>
                <a:latin typeface="DeepSeek-CJK-patch"/>
              </a:rPr>
              <a:t>Ảo hóa (VMM) để chạy cả hệ điều hành</a:t>
            </a:r>
            <a:r>
              <a:rPr lang="vi-VN" b="0" i="0" dirty="0">
                <a:solidFill>
                  <a:srgbClr val="404040"/>
                </a:solidFill>
                <a:effectLst/>
                <a:latin typeface="DeepSeek-CJK-patch"/>
              </a:rPr>
              <a:t> → phù hợp ảo hóa server (Docker, VMware).</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60</a:t>
            </a:fld>
            <a:endParaRPr lang="en-US"/>
          </a:p>
        </p:txBody>
      </p:sp>
    </p:spTree>
    <p:extLst>
      <p:ext uri="{BB962C8B-B14F-4D97-AF65-F5344CB8AC3E}">
        <p14:creationId xmlns:p14="http://schemas.microsoft.com/office/powerpoint/2010/main" val="259906053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Migrating a Virtual Machine (Di chuyển Máy ảo)</a:t>
            </a:r>
            <a:endParaRPr lang="vi-VN" b="0" i="0" dirty="0">
              <a:solidFill>
                <a:srgbClr val="404040"/>
              </a:solidFill>
              <a:effectLst/>
              <a:latin typeface="DeepSeek-CJK-patch"/>
            </a:endParaRPr>
          </a:p>
          <a:p>
            <a:pPr algn="l"/>
            <a:r>
              <a:rPr lang="vi-VN" b="0" i="0" dirty="0">
                <a:solidFill>
                  <a:srgbClr val="404040"/>
                </a:solidFill>
                <a:effectLst/>
                <a:latin typeface="DeepSeek-CJK-patch"/>
              </a:rPr>
              <a:t>Việc di chuyển máy ảo (VM migration) là quá trình chuyển một máy ảo đang chạy từ một máy chủ vật lý (host) này sang một máy chủ khác mà </a:t>
            </a:r>
            <a:r>
              <a:rPr lang="vi-VN" b="1" i="0" dirty="0">
                <a:solidFill>
                  <a:srgbClr val="404040"/>
                </a:solidFill>
                <a:effectLst/>
                <a:latin typeface="DeepSeek-CJK-patch"/>
              </a:rPr>
              <a:t>không làm gián đoạn dịch vụ</a:t>
            </a:r>
            <a:r>
              <a:rPr lang="vi-VN" b="0" i="0" dirty="0">
                <a:solidFill>
                  <a:srgbClr val="404040"/>
                </a:solidFill>
                <a:effectLst/>
                <a:latin typeface="DeepSeek-CJK-patch"/>
              </a:rPr>
              <a:t> (hoặc gián đoạn tối thiểu). Slide này trình bày </a:t>
            </a:r>
            <a:r>
              <a:rPr lang="vi-VN" b="1" i="0" dirty="0">
                <a:solidFill>
                  <a:srgbClr val="404040"/>
                </a:solidFill>
                <a:effectLst/>
                <a:latin typeface="DeepSeek-CJK-patch"/>
              </a:rPr>
              <a:t>3 phương pháp di chuyển bộ nhớ (memory) của máy ảo</a:t>
            </a:r>
            <a:r>
              <a:rPr lang="vi-VN" b="0" i="0" dirty="0">
                <a:solidFill>
                  <a:srgbClr val="404040"/>
                </a:solidFill>
                <a:effectLst/>
                <a:latin typeface="DeepSeek-CJK-patch"/>
              </a:rPr>
              <a:t>, mỗi phương pháp có ưu/nhược điểm riêng.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1. Pushing Memory Pages (Đẩy các trang bộ nhớ sang máy mới)</a:t>
            </a:r>
            <a:endParaRPr lang="vi-VN" b="0" i="0" dirty="0">
              <a:solidFill>
                <a:srgbClr val="404040"/>
              </a:solidFill>
              <a:effectLst/>
              <a:latin typeface="DeepSeek-CJK-patch"/>
            </a:endParaRPr>
          </a:p>
          <a:p>
            <a:pPr algn="l"/>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Bước 1:</a:t>
            </a:r>
            <a:r>
              <a:rPr lang="vi-VN" b="0" i="0" dirty="0">
                <a:solidFill>
                  <a:srgbClr val="404040"/>
                </a:solidFill>
                <a:effectLst/>
                <a:latin typeface="DeepSeek-CJK-patch"/>
              </a:rPr>
              <a:t> Máy nguồn (source host) liên tục gửi các </a:t>
            </a:r>
            <a:r>
              <a:rPr lang="vi-VN" b="1" i="0" dirty="0">
                <a:solidFill>
                  <a:srgbClr val="404040"/>
                </a:solidFill>
                <a:effectLst/>
                <a:latin typeface="DeepSeek-CJK-patch"/>
              </a:rPr>
              <a:t>trang bộ nhớ (memory pages)</a:t>
            </a:r>
            <a:r>
              <a:rPr lang="vi-VN" b="0" i="0" dirty="0">
                <a:solidFill>
                  <a:srgbClr val="404040"/>
                </a:solidFill>
                <a:effectLst/>
                <a:latin typeface="DeepSeek-CJK-patch"/>
              </a:rPr>
              <a:t> sang máy đích (destination host).</a:t>
            </a:r>
          </a:p>
          <a:p>
            <a:pPr algn="l">
              <a:buFont typeface="Arial" panose="020B0604020202020204" pitchFamily="34" charset="0"/>
              <a:buChar char="•"/>
            </a:pPr>
            <a:r>
              <a:rPr lang="vi-VN" b="1" i="0" dirty="0">
                <a:solidFill>
                  <a:srgbClr val="404040"/>
                </a:solidFill>
                <a:effectLst/>
                <a:latin typeface="DeepSeek-CJK-patch"/>
              </a:rPr>
              <a:t>Bước 2:</a:t>
            </a:r>
            <a:r>
              <a:rPr lang="vi-VN" b="0" i="0" dirty="0">
                <a:solidFill>
                  <a:srgbClr val="404040"/>
                </a:solidFill>
                <a:effectLst/>
                <a:latin typeface="DeepSeek-CJK-patch"/>
              </a:rPr>
              <a:t> Nếu một trang bộ nhớ bị thay đổi (modified) trong quá trình di chuyển, nó sẽ được gửi lại (</a:t>
            </a:r>
            <a:r>
              <a:rPr lang="vi-VN" b="1" i="0" dirty="0">
                <a:solidFill>
                  <a:srgbClr val="404040"/>
                </a:solidFill>
                <a:effectLst/>
                <a:latin typeface="DeepSeek-CJK-patch"/>
              </a:rPr>
              <a:t>resend</a:t>
            </a:r>
            <a:r>
              <a:rPr lang="vi-VN" b="0" i="0" dirty="0">
                <a:solidFill>
                  <a:srgbClr val="404040"/>
                </a:solidFill>
                <a:effectLst/>
                <a:latin typeface="DeepSeek-CJK-patch"/>
              </a:rPr>
              <a:t>).</a:t>
            </a:r>
          </a:p>
          <a:p>
            <a:pPr algn="l">
              <a:buFont typeface="Arial" panose="020B0604020202020204" pitchFamily="34" charset="0"/>
              <a:buChar char="•"/>
            </a:pPr>
            <a:r>
              <a:rPr lang="vi-VN" b="1" i="0" dirty="0">
                <a:solidFill>
                  <a:srgbClr val="404040"/>
                </a:solidFill>
                <a:effectLst/>
                <a:latin typeface="DeepSeek-CJK-patch"/>
              </a:rPr>
              <a:t>Bước 3:</a:t>
            </a:r>
            <a:r>
              <a:rPr lang="vi-VN" b="0" i="0" dirty="0">
                <a:solidFill>
                  <a:srgbClr val="404040"/>
                </a:solidFill>
                <a:effectLst/>
                <a:latin typeface="DeepSeek-CJK-patch"/>
              </a:rPr>
              <a:t> Khi hầu hết bộ nhớ đã được chuyển, máy ảo tạm dừng (pause), các trang còn lại được đồng bộ, và máy ảo tiếp tục chạy trên máy đích.</a:t>
            </a:r>
          </a:p>
          <a:p>
            <a:pPr algn="l"/>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Giảm thời gian downtime</a:t>
            </a:r>
            <a:r>
              <a:rPr lang="vi-VN" b="0" i="0" dirty="0">
                <a:solidFill>
                  <a:srgbClr val="404040"/>
                </a:solidFill>
                <a:effectLst/>
                <a:latin typeface="DeepSeek-CJK-patch"/>
              </a:rPr>
              <a:t> (thời gian máy ảo bị dừng) vì quá trình di chuyển diễn ra song song với hoạt động của VM.</a:t>
            </a:r>
          </a:p>
          <a:p>
            <a:pPr algn="l">
              <a:buFont typeface="Arial" panose="020B0604020202020204" pitchFamily="34" charset="0"/>
              <a:buChar char="•"/>
            </a:pPr>
            <a:r>
              <a:rPr lang="vi-VN" b="0" i="0" dirty="0">
                <a:solidFill>
                  <a:srgbClr val="404040"/>
                </a:solidFill>
                <a:effectLst/>
                <a:latin typeface="DeepSeek-CJK-patch"/>
              </a:rPr>
              <a:t>Phù hợp cho </a:t>
            </a:r>
            <a:r>
              <a:rPr lang="vi-VN" b="1" i="0" dirty="0">
                <a:solidFill>
                  <a:srgbClr val="404040"/>
                </a:solidFill>
                <a:effectLst/>
                <a:latin typeface="DeepSeek-CJK-patch"/>
              </a:rPr>
              <a:t>live migration</a:t>
            </a:r>
            <a:r>
              <a:rPr lang="vi-VN" b="0" i="0" dirty="0">
                <a:solidFill>
                  <a:srgbClr val="404040"/>
                </a:solidFill>
                <a:effectLst/>
                <a:latin typeface="DeepSeek-CJK-patch"/>
              </a:rPr>
              <a:t> (di chuyển mà không dừng dịch vụ).</a:t>
            </a:r>
          </a:p>
          <a:p>
            <a:pPr algn="l"/>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Có thể tốn băng thông mạng do phải gửi lại các trang bị thay đổi.</a:t>
            </a:r>
          </a:p>
          <a:p>
            <a:pPr algn="l"/>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VMware vMotion, Xen live migration.</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Stop-and-Copy (Dừng máy ảo, di chuyển bộ nhớ, rồi khởi động lại)</a:t>
            </a:r>
            <a:endParaRPr lang="vi-VN" b="0" i="0" dirty="0">
              <a:solidFill>
                <a:srgbClr val="404040"/>
              </a:solidFill>
              <a:effectLst/>
              <a:latin typeface="DeepSeek-CJK-patch"/>
            </a:endParaRPr>
          </a:p>
          <a:p>
            <a:pPr algn="l"/>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Dừng hoàn toàn máy ảo</a:t>
            </a:r>
            <a:r>
              <a:rPr lang="vi-VN" b="0" i="0" dirty="0">
                <a:solidFill>
                  <a:srgbClr val="404040"/>
                </a:solidFill>
                <a:effectLst/>
                <a:latin typeface="DeepSeek-CJK-patch"/>
              </a:rPr>
              <a:t> trên máy nguồn.</a:t>
            </a:r>
          </a:p>
          <a:p>
            <a:pPr algn="l">
              <a:buFont typeface="+mj-lt"/>
              <a:buNone/>
            </a:pPr>
            <a:r>
              <a:rPr lang="en-US" b="1" i="0" dirty="0">
                <a:solidFill>
                  <a:srgbClr val="404040"/>
                </a:solidFill>
                <a:effectLst/>
                <a:latin typeface="DeepSeek-CJK-patch"/>
              </a:rPr>
              <a:t>b. </a:t>
            </a:r>
            <a:r>
              <a:rPr lang="vi-VN" b="1" i="0" dirty="0">
                <a:solidFill>
                  <a:srgbClr val="404040"/>
                </a:solidFill>
                <a:effectLst/>
                <a:latin typeface="DeepSeek-CJK-patch"/>
              </a:rPr>
              <a:t>Chuyển toàn bộ trạng thái (memory, CPU state, devices)</a:t>
            </a:r>
            <a:r>
              <a:rPr lang="vi-VN" b="0" i="0" dirty="0">
                <a:solidFill>
                  <a:srgbClr val="404040"/>
                </a:solidFill>
                <a:effectLst/>
                <a:latin typeface="DeepSeek-CJK-patch"/>
              </a:rPr>
              <a:t> sang máy đích.</a:t>
            </a:r>
          </a:p>
          <a:p>
            <a:pPr algn="l">
              <a:buFont typeface="+mj-lt"/>
              <a:buNone/>
            </a:pPr>
            <a:r>
              <a:rPr lang="en-US" b="1" i="0" dirty="0">
                <a:solidFill>
                  <a:srgbClr val="404040"/>
                </a:solidFill>
                <a:effectLst/>
                <a:latin typeface="DeepSeek-CJK-patch"/>
              </a:rPr>
              <a:t>c. </a:t>
            </a:r>
            <a:r>
              <a:rPr lang="vi-VN" b="1" i="0" dirty="0">
                <a:solidFill>
                  <a:srgbClr val="404040"/>
                </a:solidFill>
                <a:effectLst/>
                <a:latin typeface="DeepSeek-CJK-patch"/>
              </a:rPr>
              <a:t>Khởi động lại máy ảo</a:t>
            </a:r>
            <a:r>
              <a:rPr lang="vi-VN" b="0" i="0" dirty="0">
                <a:solidFill>
                  <a:srgbClr val="404040"/>
                </a:solidFill>
                <a:effectLst/>
                <a:latin typeface="DeepSeek-CJK-patch"/>
              </a:rPr>
              <a:t> trên máy đích.</a:t>
            </a:r>
          </a:p>
          <a:p>
            <a:pPr algn="l"/>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Đơn giản</a:t>
            </a:r>
            <a:r>
              <a:rPr lang="vi-VN" b="0" i="0" dirty="0">
                <a:solidFill>
                  <a:srgbClr val="404040"/>
                </a:solidFill>
                <a:effectLst/>
                <a:latin typeface="DeepSeek-CJK-patch"/>
              </a:rPr>
              <a:t>, không cần cơ chế phức tạp để theo dõi thay đổi bộ nhớ.</a:t>
            </a:r>
          </a:p>
          <a:p>
            <a:pPr algn="l">
              <a:buFont typeface="Arial" panose="020B0604020202020204" pitchFamily="34" charset="0"/>
              <a:buChar char="•"/>
            </a:pPr>
            <a:r>
              <a:rPr lang="vi-VN" b="0" i="0" dirty="0">
                <a:solidFill>
                  <a:srgbClr val="404040"/>
                </a:solidFill>
                <a:effectLst/>
                <a:latin typeface="DeepSeek-CJK-patch"/>
              </a:rPr>
              <a:t>Đảm bảo </a:t>
            </a:r>
            <a:r>
              <a:rPr lang="vi-VN" b="1" i="0" dirty="0">
                <a:solidFill>
                  <a:srgbClr val="404040"/>
                </a:solidFill>
                <a:effectLst/>
                <a:latin typeface="DeepSeek-CJK-patch"/>
              </a:rPr>
              <a:t>tính nhất quán</a:t>
            </a:r>
            <a:r>
              <a:rPr lang="vi-VN" b="0" i="0" dirty="0">
                <a:solidFill>
                  <a:srgbClr val="404040"/>
                </a:solidFill>
                <a:effectLst/>
                <a:latin typeface="DeepSeek-CJK-patch"/>
              </a:rPr>
              <a:t> vì mọi thứ được chuyển cùng lúc.</a:t>
            </a:r>
          </a:p>
          <a:p>
            <a:pPr algn="l"/>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Dowtime cao</a:t>
            </a:r>
            <a:r>
              <a:rPr lang="vi-VN" b="0" i="0" dirty="0">
                <a:solidFill>
                  <a:srgbClr val="404040"/>
                </a:solidFill>
                <a:effectLst/>
                <a:latin typeface="DeepSeek-CJK-patch"/>
              </a:rPr>
              <a:t> (máy ảo bị dừng hoàn toàn trong quá trình di chuyển).</a:t>
            </a:r>
          </a:p>
          <a:p>
            <a:pPr algn="l">
              <a:buFont typeface="Arial" panose="020B0604020202020204" pitchFamily="34" charset="0"/>
              <a:buChar char="•"/>
            </a:pPr>
            <a:r>
              <a:rPr lang="vi-VN" b="0" i="0" dirty="0">
                <a:solidFill>
                  <a:srgbClr val="404040"/>
                </a:solidFill>
                <a:effectLst/>
                <a:latin typeface="DeepSeek-CJK-patch"/>
              </a:rPr>
              <a:t>Không phù hợp cho các ứng dụng yêu cầu </a:t>
            </a:r>
            <a:r>
              <a:rPr lang="vi-VN" b="1" i="0" dirty="0">
                <a:solidFill>
                  <a:srgbClr val="404040"/>
                </a:solidFill>
                <a:effectLst/>
                <a:latin typeface="DeepSeek-CJK-patch"/>
              </a:rPr>
              <a:t>high availability</a:t>
            </a:r>
            <a:r>
              <a:rPr lang="vi-VN" b="0" i="0" dirty="0">
                <a:solidFill>
                  <a:srgbClr val="404040"/>
                </a:solidFill>
                <a:effectLst/>
                <a:latin typeface="DeepSeek-CJK-patch"/>
              </a:rPr>
              <a:t>.</a:t>
            </a:r>
          </a:p>
          <a:p>
            <a:pPr algn="l"/>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algn="l">
              <a:buFont typeface="Arial" panose="020B0604020202020204" pitchFamily="34" charset="0"/>
              <a:buChar char="•"/>
            </a:pPr>
            <a:r>
              <a:rPr lang="vi-VN" b="0" i="0" dirty="0">
                <a:solidFill>
                  <a:srgbClr val="404040"/>
                </a:solidFill>
                <a:effectLst/>
                <a:latin typeface="DeepSeek-CJK-patch"/>
              </a:rPr>
              <a:t>Dùng khi không cần live migration (ví dụ: bảo trì hệ thống).</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On-Demand Paging (Kéo trang bộ nhớ khi cần)</a:t>
            </a:r>
            <a:endParaRPr lang="vi-VN" b="0" i="0" dirty="0">
              <a:solidFill>
                <a:srgbClr val="404040"/>
              </a:solidFill>
              <a:effectLst/>
              <a:latin typeface="DeepSeek-CJK-patch"/>
            </a:endParaRPr>
          </a:p>
          <a:p>
            <a:pPr algn="l"/>
            <a:r>
              <a:rPr lang="vi-VN" b="1" i="0" dirty="0">
                <a:solidFill>
                  <a:srgbClr val="404040"/>
                </a:solidFill>
                <a:effectLst/>
                <a:latin typeface="DeepSeek-CJK-patch"/>
              </a:rPr>
              <a:t>Cách hoạt động:</a:t>
            </a:r>
            <a:endParaRPr lang="vi-VN" b="0" i="0" dirty="0">
              <a:solidFill>
                <a:srgbClr val="404040"/>
              </a:solidFill>
              <a:effectLst/>
              <a:latin typeface="DeepSeek-CJK-patch"/>
            </a:endParaRPr>
          </a:p>
          <a:p>
            <a:pPr algn="l">
              <a:buFont typeface="+mj-lt"/>
              <a:buNone/>
            </a:pPr>
            <a:r>
              <a:rPr lang="en-US" b="1" i="0" dirty="0">
                <a:solidFill>
                  <a:srgbClr val="404040"/>
                </a:solidFill>
                <a:effectLst/>
                <a:latin typeface="DeepSeek-CJK-patch"/>
              </a:rPr>
              <a:t>a. </a:t>
            </a:r>
            <a:r>
              <a:rPr lang="vi-VN" b="1" i="0" dirty="0">
                <a:solidFill>
                  <a:srgbClr val="404040"/>
                </a:solidFill>
                <a:effectLst/>
                <a:latin typeface="DeepSeek-CJK-patch"/>
              </a:rPr>
              <a:t>Khởi động máy ảo ngay trên máy đích</a:t>
            </a:r>
            <a:r>
              <a:rPr lang="vi-VN" b="0" i="0" dirty="0">
                <a:solidFill>
                  <a:srgbClr val="404040"/>
                </a:solidFill>
                <a:effectLst/>
                <a:latin typeface="DeepSeek-CJK-patch"/>
              </a:rPr>
              <a:t> với bộ nhớ trống.</a:t>
            </a:r>
          </a:p>
          <a:p>
            <a:pPr algn="l">
              <a:buFont typeface="+mj-lt"/>
              <a:buNone/>
            </a:pPr>
            <a:r>
              <a:rPr lang="en-US" b="0" i="0" dirty="0">
                <a:solidFill>
                  <a:srgbClr val="404040"/>
                </a:solidFill>
                <a:effectLst/>
                <a:latin typeface="DeepSeek-CJK-patch"/>
              </a:rPr>
              <a:t>b. </a:t>
            </a:r>
            <a:r>
              <a:rPr lang="vi-VN" b="0" i="0" dirty="0">
                <a:solidFill>
                  <a:srgbClr val="404040"/>
                </a:solidFill>
                <a:effectLst/>
                <a:latin typeface="DeepSeek-CJK-patch"/>
              </a:rPr>
              <a:t>Khi máy ảo truy cập một trang bộ nhớ chưa có, nó sẽ </a:t>
            </a:r>
            <a:r>
              <a:rPr lang="vi-VN" b="1" i="0" dirty="0">
                <a:solidFill>
                  <a:srgbClr val="404040"/>
                </a:solidFill>
                <a:effectLst/>
                <a:latin typeface="DeepSeek-CJK-patch"/>
              </a:rPr>
              <a:t>request từ máy nguồn (pull)</a:t>
            </a:r>
            <a:r>
              <a:rPr lang="vi-VN" b="0" i="0" dirty="0">
                <a:solidFill>
                  <a:srgbClr val="404040"/>
                </a:solidFill>
                <a:effectLst/>
                <a:latin typeface="DeepSeek-CJK-patch"/>
              </a:rPr>
              <a:t>.</a:t>
            </a:r>
          </a:p>
          <a:p>
            <a:pPr algn="l">
              <a:buFont typeface="+mj-lt"/>
              <a:buNone/>
            </a:pPr>
            <a:r>
              <a:rPr lang="en-US" b="0" i="0" dirty="0">
                <a:solidFill>
                  <a:srgbClr val="404040"/>
                </a:solidFill>
                <a:effectLst/>
                <a:latin typeface="DeepSeek-CJK-patch"/>
              </a:rPr>
              <a:t>c. </a:t>
            </a:r>
            <a:r>
              <a:rPr lang="vi-VN" b="0" i="0" dirty="0">
                <a:solidFill>
                  <a:srgbClr val="404040"/>
                </a:solidFill>
                <a:effectLst/>
                <a:latin typeface="DeepSeek-CJK-patch"/>
              </a:rPr>
              <a:t>Máy nguồn gửi trang bộ nhớ đó sang, và máy đích cache lại để dùng sau.</a:t>
            </a:r>
          </a:p>
          <a:p>
            <a:pPr algn="l"/>
            <a:r>
              <a:rPr lang="vi-VN" b="1" i="0" dirty="0">
                <a:solidFill>
                  <a:srgbClr val="404040"/>
                </a:solidFill>
                <a:effectLst/>
                <a:latin typeface="DeepSeek-CJK-patch"/>
              </a:rPr>
              <a:t>Ưu điểm: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Thời gian downtime cực thấp</a:t>
            </a:r>
            <a:r>
              <a:rPr lang="vi-VN" b="0" i="0" dirty="0">
                <a:solidFill>
                  <a:srgbClr val="404040"/>
                </a:solidFill>
                <a:effectLst/>
                <a:latin typeface="DeepSeek-CJK-patch"/>
              </a:rPr>
              <a:t> (máy ảo chạy ngay trên máy đích).</a:t>
            </a:r>
          </a:p>
          <a:p>
            <a:pPr algn="l">
              <a:buFont typeface="Arial" panose="020B0604020202020204" pitchFamily="34" charset="0"/>
              <a:buChar char="•"/>
            </a:pPr>
            <a:r>
              <a:rPr lang="vi-VN" b="0" i="0" dirty="0">
                <a:solidFill>
                  <a:srgbClr val="404040"/>
                </a:solidFill>
                <a:effectLst/>
                <a:latin typeface="DeepSeek-CJK-patch"/>
              </a:rPr>
              <a:t>Tiết kiệm băng thông vì chỉ chuyển những trang thực sự cần thiết.</a:t>
            </a:r>
          </a:p>
          <a:p>
            <a:pPr algn="l"/>
            <a:r>
              <a:rPr lang="vi-VN" b="1" i="0" dirty="0">
                <a:solidFill>
                  <a:srgbClr val="404040"/>
                </a:solidFill>
                <a:effectLst/>
                <a:latin typeface="DeepSeek-CJK-patch"/>
              </a:rPr>
              <a:t>Nhược điểm: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Hiệu suất ban đầu có thể chậm</a:t>
            </a:r>
            <a:r>
              <a:rPr lang="vi-VN" b="0" i="0" dirty="0">
                <a:solidFill>
                  <a:srgbClr val="404040"/>
                </a:solidFill>
                <a:effectLst/>
                <a:latin typeface="DeepSeek-CJK-patch"/>
              </a:rPr>
              <a:t> do phải fetch từng trang bộ nhớ.</a:t>
            </a:r>
          </a:p>
          <a:p>
            <a:pPr algn="l">
              <a:buFont typeface="Arial" panose="020B0604020202020204" pitchFamily="34" charset="0"/>
              <a:buChar char="•"/>
            </a:pPr>
            <a:r>
              <a:rPr lang="vi-VN" b="0" i="0" dirty="0">
                <a:solidFill>
                  <a:srgbClr val="404040"/>
                </a:solidFill>
                <a:effectLst/>
                <a:latin typeface="DeepSeek-CJK-patch"/>
              </a:rPr>
              <a:t>Nếu máy nguồn bị tắt trước khi tất cả trang được chuyển, có thể gặp lỗi.</a:t>
            </a:r>
          </a:p>
          <a:p>
            <a:pPr algn="l"/>
            <a:r>
              <a:rPr lang="vi-VN" b="1" i="0" dirty="0">
                <a:solidFill>
                  <a:srgbClr val="404040"/>
                </a:solidFill>
                <a:effectLst/>
                <a:latin typeface="DeepSeek-CJK-patch"/>
              </a:rPr>
              <a:t>Ứng dụng:</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Post-copy migration</a:t>
            </a:r>
            <a:r>
              <a:rPr lang="vi-VN" b="0" i="0" dirty="0">
                <a:solidFill>
                  <a:srgbClr val="404040"/>
                </a:solidFill>
                <a:effectLst/>
                <a:latin typeface="DeepSeek-CJK-patch"/>
              </a:rPr>
              <a:t> (một biến thể của live migration).</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4. </a:t>
            </a:r>
            <a:r>
              <a:rPr lang="vi-VN" b="1" i="0" dirty="0">
                <a:solidFill>
                  <a:srgbClr val="404040"/>
                </a:solidFill>
                <a:effectLst/>
                <a:latin typeface="DeepSeek-CJK-patch"/>
              </a:rPr>
              <a:t>Tóm tắt so sánh 3 phương pháp</a:t>
            </a:r>
            <a:endParaRPr lang="vi-VN" b="0" i="0" dirty="0">
              <a:solidFill>
                <a:srgbClr val="404040"/>
              </a:solidFill>
              <a:effectLst/>
              <a:latin typeface="DeepSeek-CJK-patch"/>
            </a:endParaRPr>
          </a:p>
          <a:p>
            <a:pPr algn="l"/>
            <a:r>
              <a:rPr lang="vi-VN" b="1" i="0" dirty="0">
                <a:solidFill>
                  <a:srgbClr val="404040"/>
                </a:solidFill>
                <a:effectLst/>
                <a:latin typeface="DeepSeek-CJK-patch"/>
              </a:rPr>
              <a:t>Phương pháp</a:t>
            </a:r>
            <a:r>
              <a:rPr lang="en-US" b="1" i="0" dirty="0">
                <a:solidFill>
                  <a:srgbClr val="404040"/>
                </a:solidFill>
                <a:effectLst/>
                <a:latin typeface="DeepSeek-CJK-patch"/>
              </a:rPr>
              <a:t>		</a:t>
            </a:r>
            <a:r>
              <a:rPr lang="vi-VN" b="1" i="0" dirty="0">
                <a:solidFill>
                  <a:srgbClr val="404040"/>
                </a:solidFill>
                <a:effectLst/>
                <a:latin typeface="DeepSeek-CJK-patch"/>
              </a:rPr>
              <a:t>Downtime</a:t>
            </a:r>
            <a:r>
              <a:rPr lang="en-US" b="1" i="0" dirty="0">
                <a:solidFill>
                  <a:srgbClr val="404040"/>
                </a:solidFill>
                <a:effectLst/>
                <a:latin typeface="DeepSeek-CJK-patch"/>
              </a:rPr>
              <a:t>	</a:t>
            </a:r>
            <a:r>
              <a:rPr lang="vi-VN" b="1" i="0" dirty="0">
                <a:solidFill>
                  <a:srgbClr val="404040"/>
                </a:solidFill>
                <a:effectLst/>
                <a:latin typeface="DeepSeek-CJK-patch"/>
              </a:rPr>
              <a:t>Băng thông</a:t>
            </a:r>
            <a:r>
              <a:rPr lang="en-US" b="1" i="0" dirty="0">
                <a:solidFill>
                  <a:srgbClr val="404040"/>
                </a:solidFill>
                <a:effectLst/>
                <a:latin typeface="DeepSeek-CJK-patch"/>
              </a:rPr>
              <a:t>		</a:t>
            </a:r>
            <a:r>
              <a:rPr lang="vi-VN" b="1" i="0" dirty="0">
                <a:solidFill>
                  <a:srgbClr val="404040"/>
                </a:solidFill>
                <a:effectLst/>
                <a:latin typeface="DeepSeek-CJK-patch"/>
              </a:rPr>
              <a:t>Phức tạp</a:t>
            </a:r>
            <a:r>
              <a:rPr lang="en-US" b="1" i="0" dirty="0">
                <a:solidFill>
                  <a:srgbClr val="404040"/>
                </a:solidFill>
                <a:effectLst/>
                <a:latin typeface="DeepSeek-CJK-patch"/>
              </a:rPr>
              <a:t>	</a:t>
            </a:r>
            <a:r>
              <a:rPr lang="vi-VN" b="1" i="0" dirty="0">
                <a:solidFill>
                  <a:srgbClr val="404040"/>
                </a:solidFill>
                <a:effectLst/>
                <a:latin typeface="DeepSeek-CJK-patch"/>
              </a:rPr>
              <a:t>Phù hợp</a:t>
            </a:r>
            <a:endParaRPr lang="en-US" b="1" i="0" dirty="0">
              <a:solidFill>
                <a:srgbClr val="404040"/>
              </a:solidFill>
              <a:effectLst/>
              <a:latin typeface="DeepSeek-CJK-patch"/>
            </a:endParaRPr>
          </a:p>
          <a:p>
            <a:pPr algn="l"/>
            <a:r>
              <a:rPr lang="vi-VN" b="1" i="0" dirty="0">
                <a:solidFill>
                  <a:srgbClr val="404040"/>
                </a:solidFill>
                <a:effectLst/>
                <a:latin typeface="DeepSeek-CJK-patch"/>
              </a:rPr>
              <a:t>Pushing Memory Pages</a:t>
            </a:r>
            <a:r>
              <a:rPr lang="en-US" b="1" i="0" dirty="0">
                <a:solidFill>
                  <a:srgbClr val="404040"/>
                </a:solidFill>
                <a:effectLst/>
                <a:latin typeface="DeepSeek-CJK-patch"/>
              </a:rPr>
              <a:t>	</a:t>
            </a:r>
            <a:r>
              <a:rPr lang="vi-VN" b="0" i="0" dirty="0">
                <a:solidFill>
                  <a:srgbClr val="404040"/>
                </a:solidFill>
                <a:effectLst/>
                <a:latin typeface="DeepSeek-CJK-patch"/>
              </a:rPr>
              <a:t>Thấp</a:t>
            </a:r>
            <a:r>
              <a:rPr lang="en-US" b="0" i="0" dirty="0">
                <a:solidFill>
                  <a:srgbClr val="404040"/>
                </a:solidFill>
                <a:effectLst/>
                <a:latin typeface="DeepSeek-CJK-patch"/>
              </a:rPr>
              <a:t>	</a:t>
            </a:r>
            <a:r>
              <a:rPr lang="vi-VN" b="0" i="0" dirty="0">
                <a:solidFill>
                  <a:srgbClr val="404040"/>
                </a:solidFill>
                <a:effectLst/>
                <a:latin typeface="DeepSeek-CJK-patch"/>
              </a:rPr>
              <a:t>Cao (có resend)</a:t>
            </a:r>
            <a:r>
              <a:rPr lang="en-US" b="0" i="0" dirty="0">
                <a:solidFill>
                  <a:srgbClr val="404040"/>
                </a:solidFill>
                <a:effectLst/>
                <a:latin typeface="DeepSeek-CJK-patch"/>
              </a:rPr>
              <a:t>	</a:t>
            </a:r>
            <a:r>
              <a:rPr lang="vi-VN" b="0" i="0" dirty="0">
                <a:solidFill>
                  <a:srgbClr val="404040"/>
                </a:solidFill>
                <a:effectLst/>
                <a:latin typeface="DeepSeek-CJK-patch"/>
              </a:rPr>
              <a:t>Trung bình</a:t>
            </a:r>
            <a:r>
              <a:rPr lang="en-US" b="0" i="0" dirty="0">
                <a:solidFill>
                  <a:srgbClr val="404040"/>
                </a:solidFill>
                <a:effectLst/>
                <a:latin typeface="DeepSeek-CJK-patch"/>
              </a:rPr>
              <a:t>	</a:t>
            </a:r>
            <a:r>
              <a:rPr lang="vi-VN" b="0" i="0" dirty="0">
                <a:solidFill>
                  <a:srgbClr val="404040"/>
                </a:solidFill>
                <a:effectLst/>
                <a:latin typeface="DeepSeek-CJK-patch"/>
              </a:rPr>
              <a:t>Live migration (VMware/Xen)</a:t>
            </a:r>
            <a:endParaRPr lang="en-US" b="0" i="0" dirty="0">
              <a:solidFill>
                <a:srgbClr val="404040"/>
              </a:solidFill>
              <a:effectLst/>
              <a:latin typeface="DeepSeek-CJK-patch"/>
            </a:endParaRPr>
          </a:p>
          <a:p>
            <a:pPr algn="l"/>
            <a:r>
              <a:rPr lang="vi-VN" b="1" i="0" dirty="0">
                <a:solidFill>
                  <a:srgbClr val="404040"/>
                </a:solidFill>
                <a:effectLst/>
                <a:latin typeface="DeepSeek-CJK-patch"/>
              </a:rPr>
              <a:t>Stop-and-Copy</a:t>
            </a:r>
            <a:r>
              <a:rPr lang="en-US" b="1" i="0" dirty="0">
                <a:solidFill>
                  <a:srgbClr val="404040"/>
                </a:solidFill>
                <a:effectLst/>
                <a:latin typeface="DeepSeek-CJK-patch"/>
              </a:rPr>
              <a:t>	</a:t>
            </a:r>
            <a:r>
              <a:rPr lang="vi-VN" b="0" i="0" dirty="0">
                <a:solidFill>
                  <a:srgbClr val="404040"/>
                </a:solidFill>
                <a:effectLst/>
                <a:latin typeface="DeepSeek-CJK-patch"/>
              </a:rPr>
              <a:t>Cao</a:t>
            </a:r>
            <a:r>
              <a:rPr lang="en-US" b="0" i="0" dirty="0">
                <a:solidFill>
                  <a:srgbClr val="404040"/>
                </a:solidFill>
                <a:effectLst/>
                <a:latin typeface="DeepSeek-CJK-patch"/>
              </a:rPr>
              <a:t>	</a:t>
            </a:r>
            <a:r>
              <a:rPr lang="vi-VN" b="0" i="0" dirty="0">
                <a:solidFill>
                  <a:srgbClr val="404040"/>
                </a:solidFill>
                <a:effectLst/>
                <a:latin typeface="DeepSeek-CJK-patch"/>
              </a:rPr>
              <a:t>Trung bình</a:t>
            </a:r>
            <a:r>
              <a:rPr lang="en-US" b="0" i="0" dirty="0">
                <a:solidFill>
                  <a:srgbClr val="404040"/>
                </a:solidFill>
                <a:effectLst/>
                <a:latin typeface="DeepSeek-CJK-patch"/>
              </a:rPr>
              <a:t>		</a:t>
            </a:r>
            <a:r>
              <a:rPr lang="vi-VN" b="0" i="0" dirty="0">
                <a:solidFill>
                  <a:srgbClr val="404040"/>
                </a:solidFill>
                <a:effectLst/>
                <a:latin typeface="DeepSeek-CJK-patch"/>
              </a:rPr>
              <a:t>Đơn giản</a:t>
            </a:r>
            <a:r>
              <a:rPr lang="en-US" b="0" i="0" dirty="0">
                <a:solidFill>
                  <a:srgbClr val="404040"/>
                </a:solidFill>
                <a:effectLst/>
                <a:latin typeface="DeepSeek-CJK-patch"/>
              </a:rPr>
              <a:t>	</a:t>
            </a:r>
            <a:r>
              <a:rPr lang="vi-VN" b="0" i="0" dirty="0">
                <a:solidFill>
                  <a:srgbClr val="404040"/>
                </a:solidFill>
                <a:effectLst/>
                <a:latin typeface="DeepSeek-CJK-patch"/>
              </a:rPr>
              <a:t>Non-live migration</a:t>
            </a:r>
            <a:endParaRPr lang="en-US" b="0" i="0" dirty="0">
              <a:solidFill>
                <a:srgbClr val="404040"/>
              </a:solidFill>
              <a:effectLst/>
              <a:latin typeface="DeepSeek-CJK-patch"/>
            </a:endParaRPr>
          </a:p>
          <a:p>
            <a:pPr algn="l"/>
            <a:r>
              <a:rPr lang="vi-VN" b="1" i="0" dirty="0">
                <a:solidFill>
                  <a:srgbClr val="404040"/>
                </a:solidFill>
                <a:effectLst/>
                <a:latin typeface="DeepSeek-CJK-patch"/>
              </a:rPr>
              <a:t>On-Demand Paging</a:t>
            </a:r>
            <a:r>
              <a:rPr lang="en-US" b="1" i="0" dirty="0">
                <a:solidFill>
                  <a:srgbClr val="404040"/>
                </a:solidFill>
                <a:effectLst/>
                <a:latin typeface="DeepSeek-CJK-patch"/>
              </a:rPr>
              <a:t>	</a:t>
            </a:r>
            <a:r>
              <a:rPr lang="vi-VN" b="0" i="0" dirty="0">
                <a:solidFill>
                  <a:srgbClr val="404040"/>
                </a:solidFill>
                <a:effectLst/>
                <a:latin typeface="DeepSeek-CJK-patch"/>
              </a:rPr>
              <a:t>Rất thấp</a:t>
            </a:r>
            <a:r>
              <a:rPr lang="en-US" b="0" i="0" dirty="0">
                <a:solidFill>
                  <a:srgbClr val="404040"/>
                </a:solidFill>
                <a:effectLst/>
                <a:latin typeface="DeepSeek-CJK-patch"/>
              </a:rPr>
              <a:t>	</a:t>
            </a:r>
            <a:r>
              <a:rPr lang="vi-VN" b="0" i="0" dirty="0">
                <a:solidFill>
                  <a:srgbClr val="404040"/>
                </a:solidFill>
                <a:effectLst/>
                <a:latin typeface="DeepSeek-CJK-patch"/>
              </a:rPr>
              <a:t>Thấp (chỉ pull)</a:t>
            </a:r>
            <a:r>
              <a:rPr lang="en-US" b="0" i="0" dirty="0">
                <a:solidFill>
                  <a:srgbClr val="404040"/>
                </a:solidFill>
                <a:effectLst/>
                <a:latin typeface="DeepSeek-CJK-patch"/>
              </a:rPr>
              <a:t>		</a:t>
            </a:r>
            <a:r>
              <a:rPr lang="vi-VN" b="0" i="0" dirty="0">
                <a:solidFill>
                  <a:srgbClr val="404040"/>
                </a:solidFill>
                <a:effectLst/>
                <a:latin typeface="DeepSeek-CJK-patch"/>
              </a:rPr>
              <a:t>Phức tạp</a:t>
            </a:r>
            <a:r>
              <a:rPr lang="en-US" b="0" i="0" dirty="0">
                <a:solidFill>
                  <a:srgbClr val="404040"/>
                </a:solidFill>
                <a:effectLst/>
                <a:latin typeface="DeepSeek-CJK-patch"/>
              </a:rPr>
              <a:t>	</a:t>
            </a:r>
            <a:r>
              <a:rPr lang="vi-VN" b="0" i="0" dirty="0">
                <a:solidFill>
                  <a:srgbClr val="404040"/>
                </a:solidFill>
                <a:effectLst/>
                <a:latin typeface="DeepSeek-CJK-patch"/>
              </a:rPr>
              <a:t>Post-copy migration</a:t>
            </a:r>
          </a:p>
          <a:p>
            <a:pPr algn="l"/>
            <a:endParaRPr lang="en-US" b="1" i="0" dirty="0">
              <a:solidFill>
                <a:srgbClr val="404040"/>
              </a:solidFill>
              <a:effectLst/>
              <a:latin typeface="DeepSeek-CJK-patch"/>
            </a:endParaRPr>
          </a:p>
          <a:p>
            <a:pPr algn="l"/>
            <a:r>
              <a:rPr lang="en-US" b="1" i="0" dirty="0">
                <a:solidFill>
                  <a:srgbClr val="404040"/>
                </a:solidFill>
                <a:effectLst/>
                <a:latin typeface="DeepSeek-CJK-patch"/>
              </a:rPr>
              <a:t>5. </a:t>
            </a:r>
            <a:r>
              <a:rPr lang="vi-VN" b="1" i="0" dirty="0">
                <a:solidFill>
                  <a:srgbClr val="404040"/>
                </a:solidFill>
                <a:effectLst/>
                <a:latin typeface="DeepSeek-CJK-patch"/>
              </a:rPr>
              <a:t>Kết luận: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Live migration (Pushing pages)</a:t>
            </a:r>
            <a:r>
              <a:rPr lang="vi-VN" b="0" i="0" dirty="0">
                <a:solidFill>
                  <a:srgbClr val="404040"/>
                </a:solidFill>
                <a:effectLst/>
                <a:latin typeface="DeepSeek-CJK-patch"/>
              </a:rPr>
              <a:t> là phổ biến nhất, cân bằng giữa downtime và hiệu suất.</a:t>
            </a:r>
          </a:p>
          <a:p>
            <a:pPr algn="l">
              <a:buFont typeface="Arial" panose="020B0604020202020204" pitchFamily="34" charset="0"/>
              <a:buChar char="•"/>
            </a:pPr>
            <a:r>
              <a:rPr lang="vi-VN" b="1" i="0" dirty="0">
                <a:solidFill>
                  <a:srgbClr val="404040"/>
                </a:solidFill>
                <a:effectLst/>
                <a:latin typeface="DeepSeek-CJK-patch"/>
              </a:rPr>
              <a:t>Stop-and-Copy</a:t>
            </a:r>
            <a:r>
              <a:rPr lang="vi-VN" b="0" i="0" dirty="0">
                <a:solidFill>
                  <a:srgbClr val="404040"/>
                </a:solidFill>
                <a:effectLst/>
                <a:latin typeface="DeepSeek-CJK-patch"/>
              </a:rPr>
              <a:t> đơn giản nhưng gây gián đoạn.</a:t>
            </a:r>
          </a:p>
          <a:p>
            <a:pPr algn="l">
              <a:buFont typeface="Arial" panose="020B0604020202020204" pitchFamily="34" charset="0"/>
              <a:buChar char="•"/>
            </a:pPr>
            <a:r>
              <a:rPr lang="vi-VN" b="1" i="0" dirty="0">
                <a:solidFill>
                  <a:srgbClr val="404040"/>
                </a:solidFill>
                <a:effectLst/>
                <a:latin typeface="DeepSeek-CJK-patch"/>
              </a:rPr>
              <a:t>On-Demand Paging</a:t>
            </a:r>
            <a:r>
              <a:rPr lang="vi-VN" b="0" i="0" dirty="0">
                <a:solidFill>
                  <a:srgbClr val="404040"/>
                </a:solidFill>
                <a:effectLst/>
                <a:latin typeface="DeepSeek-CJK-patch"/>
              </a:rPr>
              <a:t> giảm downtime nhưng phức tạp hơn.</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61</a:t>
            </a:fld>
            <a:endParaRPr lang="en-US"/>
          </a:p>
        </p:txBody>
      </p:sp>
    </p:spTree>
    <p:extLst>
      <p:ext uri="{BB962C8B-B14F-4D97-AF65-F5344CB8AC3E}">
        <p14:creationId xmlns:p14="http://schemas.microsoft.com/office/powerpoint/2010/main" val="27778282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vi-VN" b="1" i="0" dirty="0">
                <a:solidFill>
                  <a:srgbClr val="404040"/>
                </a:solidFill>
                <a:effectLst/>
                <a:latin typeface="DeepSeek-CJK-patch"/>
              </a:rPr>
              <a:t>Performance of Migrating Virtual Machines (Hiệu suất khi di chuyển máy ảo)</a:t>
            </a:r>
            <a:endParaRPr lang="vi-VN" b="0" i="0" dirty="0">
              <a:solidFill>
                <a:srgbClr val="404040"/>
              </a:solidFill>
              <a:effectLst/>
              <a:latin typeface="DeepSeek-CJK-patch"/>
            </a:endParaRPr>
          </a:p>
          <a:p>
            <a:pPr algn="l"/>
            <a:r>
              <a:rPr lang="vi-VN" b="1" i="0" dirty="0">
                <a:solidFill>
                  <a:srgbClr val="404040"/>
                </a:solidFill>
                <a:effectLst/>
                <a:latin typeface="DeepSeek-CJK-patch"/>
              </a:rPr>
              <a:t>1. Vấn đề chính (Problem)</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Thời gian di chuyển hoàn toàn (complete migration)</a:t>
            </a:r>
            <a:r>
              <a:rPr lang="vi-VN" b="0" i="0" dirty="0">
                <a:solidFill>
                  <a:srgbClr val="404040"/>
                </a:solidFill>
                <a:effectLst/>
                <a:latin typeface="DeepSeek-CJK-patch"/>
              </a:rPr>
              <a:t> có thể mất </a:t>
            </a:r>
            <a:r>
              <a:rPr lang="vi-VN" b="1" i="0" dirty="0">
                <a:solidFill>
                  <a:srgbClr val="404040"/>
                </a:solidFill>
                <a:effectLst/>
                <a:latin typeface="DeepSeek-CJK-patch"/>
              </a:rPr>
              <a:t>hàng chục giây</a:t>
            </a:r>
            <a:r>
              <a:rPr lang="vi-VN" b="0" i="0" dirty="0">
                <a:solidFill>
                  <a:srgbClr val="404040"/>
                </a:solidFill>
                <a:effectLst/>
                <a:latin typeface="DeepSeek-CJK-patch"/>
              </a:rPr>
              <a:t> (tens of seconds), tùy thuộc vào:</a:t>
            </a:r>
          </a:p>
          <a:p>
            <a:pPr marL="742950" lvl="1" indent="-285750" algn="l">
              <a:buFont typeface="Arial" panose="020B0604020202020204" pitchFamily="34" charset="0"/>
              <a:buChar char="•"/>
            </a:pPr>
            <a:r>
              <a:rPr lang="vi-VN" b="0" i="0" dirty="0">
                <a:solidFill>
                  <a:srgbClr val="404040"/>
                </a:solidFill>
                <a:effectLst/>
                <a:latin typeface="DeepSeek-CJK-patch"/>
              </a:rPr>
              <a:t>Kích thước bộ nhớ của máy ảo.</a:t>
            </a:r>
          </a:p>
          <a:p>
            <a:pPr marL="742950" lvl="1" indent="-285750" algn="l">
              <a:buFont typeface="Arial" panose="020B0604020202020204" pitchFamily="34" charset="0"/>
              <a:buChar char="•"/>
            </a:pPr>
            <a:r>
              <a:rPr lang="vi-VN" b="0" i="0" dirty="0">
                <a:solidFill>
                  <a:srgbClr val="404040"/>
                </a:solidFill>
                <a:effectLst/>
                <a:latin typeface="DeepSeek-CJK-patch"/>
              </a:rPr>
              <a:t>Tốc độ mạng giữa các máy chủ vật lý.</a:t>
            </a:r>
          </a:p>
          <a:p>
            <a:pPr marL="742950" lvl="1" indent="-285750" algn="l">
              <a:buFont typeface="Arial" panose="020B0604020202020204" pitchFamily="34" charset="0"/>
              <a:buChar char="•"/>
            </a:pPr>
            <a:r>
              <a:rPr lang="vi-VN" b="0" i="0" dirty="0">
                <a:solidFill>
                  <a:srgbClr val="404040"/>
                </a:solidFill>
                <a:effectLst/>
                <a:latin typeface="DeepSeek-CJK-patch"/>
              </a:rPr>
              <a:t>Phương pháp di chuyển (live migration vs. stop-and-copy).</a:t>
            </a:r>
          </a:p>
          <a:p>
            <a:pPr algn="l">
              <a:buFont typeface="Arial" panose="020B0604020202020204" pitchFamily="34" charset="0"/>
              <a:buChar char="•"/>
            </a:pPr>
            <a:r>
              <a:rPr lang="vi-VN" b="1" i="0" dirty="0">
                <a:solidFill>
                  <a:srgbClr val="404040"/>
                </a:solidFill>
                <a:effectLst/>
                <a:latin typeface="DeepSeek-CJK-patch"/>
              </a:rPr>
              <a:t>Trong quá trình di chuyển, dịch vụ có thể bị gián đoạn (downtime)</a:t>
            </a:r>
            <a:r>
              <a:rPr lang="vi-VN" b="0" i="0" dirty="0">
                <a:solidFill>
                  <a:srgbClr val="404040"/>
                </a:solidFill>
                <a:effectLst/>
                <a:latin typeface="DeepSeek-CJK-patch"/>
              </a:rPr>
              <a:t> vài giây, gây ảnh hưởng đến:</a:t>
            </a:r>
          </a:p>
          <a:p>
            <a:pPr marL="742950" lvl="1" indent="-285750" algn="l">
              <a:buFont typeface="Arial" panose="020B0604020202020204" pitchFamily="34" charset="0"/>
              <a:buChar char="•"/>
            </a:pPr>
            <a:r>
              <a:rPr lang="vi-VN" b="0" i="0" dirty="0">
                <a:solidFill>
                  <a:srgbClr val="404040"/>
                </a:solidFill>
                <a:effectLst/>
                <a:latin typeface="DeepSeek-CJK-patch"/>
              </a:rPr>
              <a:t>Người dùng (timeout, mất kết nối).</a:t>
            </a:r>
          </a:p>
          <a:p>
            <a:pPr marL="742950" lvl="1" indent="-285750" algn="l">
              <a:buFont typeface="Arial" panose="020B0604020202020204" pitchFamily="34" charset="0"/>
              <a:buChar char="•"/>
            </a:pPr>
            <a:r>
              <a:rPr lang="vi-VN" b="0" i="0" dirty="0">
                <a:solidFill>
                  <a:srgbClr val="404040"/>
                </a:solidFill>
                <a:effectLst/>
                <a:latin typeface="DeepSeek-CJK-patch"/>
              </a:rPr>
              <a:t>Các ứng dụng nhạy cảm với độ trễ (VD: giao dịch tài chính, game online).</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2. Các chỉ số đo lường hiệu suất (Measurements)</a:t>
            </a:r>
            <a:endParaRPr lang="vi-VN" b="0" i="0" dirty="0">
              <a:solidFill>
                <a:srgbClr val="404040"/>
              </a:solidFill>
              <a:effectLst/>
              <a:latin typeface="DeepSeek-CJK-patch"/>
            </a:endParaRPr>
          </a:p>
          <a:p>
            <a:pPr algn="l"/>
            <a:r>
              <a:rPr lang="vi-VN" b="0" i="0" dirty="0">
                <a:solidFill>
                  <a:srgbClr val="404040"/>
                </a:solidFill>
                <a:effectLst/>
                <a:latin typeface="DeepSeek-CJK-patch"/>
              </a:rPr>
              <a:t>Slide sử dụng biểu đồ thời gian (time-series) để minh họa 3 giai đoạn quan trọng:</a:t>
            </a:r>
          </a:p>
          <a:p>
            <a:pPr algn="l"/>
            <a:r>
              <a:rPr lang="vi-VN" b="1" i="0" dirty="0">
                <a:solidFill>
                  <a:srgbClr val="404040"/>
                </a:solidFill>
                <a:effectLst/>
                <a:latin typeface="DeepSeek-CJK-patch"/>
              </a:rPr>
              <a:t>a) Response Time (Thời gian phản hồi)</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r>
              <a:rPr lang="vi-VN" b="0" i="0" dirty="0">
                <a:solidFill>
                  <a:srgbClr val="404040"/>
                </a:solidFill>
                <a:effectLst/>
                <a:latin typeface="DeepSeek-CJK-patch"/>
              </a:rPr>
              <a:t> Thời gian từ khi người dùng gửi yêu cầu đến khi nhận phản hồi.</a:t>
            </a:r>
          </a:p>
          <a:p>
            <a:pPr algn="l">
              <a:buFont typeface="Arial" panose="020B0604020202020204" pitchFamily="34" charset="0"/>
              <a:buChar char="•"/>
            </a:pPr>
            <a:r>
              <a:rPr lang="vi-VN" b="1" i="0" dirty="0">
                <a:solidFill>
                  <a:srgbClr val="404040"/>
                </a:solidFill>
                <a:effectLst/>
                <a:latin typeface="DeepSeek-CJK-patch"/>
              </a:rPr>
              <a:t>Ảnh hưởng bởi migration:</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Tăng đột biến do </a:t>
            </a:r>
            <a:r>
              <a:rPr lang="vi-VN" b="1" i="0" dirty="0">
                <a:solidFill>
                  <a:srgbClr val="404040"/>
                </a:solidFill>
                <a:effectLst/>
                <a:latin typeface="DeepSeek-CJK-patch"/>
              </a:rPr>
              <a:t>tải mạng</a:t>
            </a:r>
            <a:r>
              <a:rPr lang="vi-VN" b="0" i="0" dirty="0">
                <a:solidFill>
                  <a:srgbClr val="404040"/>
                </a:solidFill>
                <a:effectLst/>
                <a:latin typeface="DeepSeek-CJK-patch"/>
              </a:rPr>
              <a:t> (network overhead) khi chuyển dữ liệu.</a:t>
            </a:r>
          </a:p>
          <a:p>
            <a:pPr marL="742950" lvl="1" indent="-285750" algn="l">
              <a:buFont typeface="Arial" panose="020B0604020202020204" pitchFamily="34" charset="0"/>
              <a:buChar char="•"/>
            </a:pPr>
            <a:r>
              <a:rPr lang="vi-VN" b="0" i="0" dirty="0">
                <a:solidFill>
                  <a:srgbClr val="404040"/>
                </a:solidFill>
                <a:effectLst/>
                <a:latin typeface="DeepSeek-CJK-patch"/>
              </a:rPr>
              <a:t>Dao động khi máy ảo chuyển từ host nguồn sang host đích.</a:t>
            </a:r>
          </a:p>
          <a:p>
            <a:pPr algn="l"/>
            <a:r>
              <a:rPr lang="vi-VN" b="1" i="0" dirty="0">
                <a:solidFill>
                  <a:srgbClr val="404040"/>
                </a:solidFill>
                <a:effectLst/>
                <a:latin typeface="DeepSeek-CJK-patch"/>
              </a:rPr>
              <a:t>b) Migration Time (Thời gian di chuyển)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r>
              <a:rPr lang="vi-VN" b="0" i="0" dirty="0">
                <a:solidFill>
                  <a:srgbClr val="404040"/>
                </a:solidFill>
                <a:effectLst/>
                <a:latin typeface="DeepSeek-CJK-patch"/>
              </a:rPr>
              <a:t> Tổng thời gian để chuyển toàn bộ trạng thái máy ảo (CPU, memory, devices).</a:t>
            </a:r>
          </a:p>
          <a:p>
            <a:pPr algn="l">
              <a:buFont typeface="Arial" panose="020B0604020202020204" pitchFamily="34" charset="0"/>
              <a:buChar char="•"/>
            </a:pPr>
            <a:r>
              <a:rPr lang="vi-VN" b="1" i="0" dirty="0">
                <a:solidFill>
                  <a:srgbClr val="404040"/>
                </a:solidFill>
                <a:effectLst/>
                <a:latin typeface="DeepSeek-CJK-patch"/>
              </a:rPr>
              <a:t>Phụ thuộc vào:</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Phương pháp di chuyển:</a:t>
            </a:r>
            <a:endParaRPr lang="vi-VN" b="0" i="0" dirty="0">
              <a:solidFill>
                <a:srgbClr val="404040"/>
              </a:solidFill>
              <a:effectLst/>
              <a:latin typeface="DeepSeek-CJK-patch"/>
            </a:endParaRPr>
          </a:p>
          <a:p>
            <a:pPr marL="1143000" lvl="2" indent="-228600" algn="l">
              <a:buFont typeface="Arial" panose="020B0604020202020204" pitchFamily="34" charset="0"/>
              <a:buChar char="•"/>
            </a:pPr>
            <a:r>
              <a:rPr lang="vi-VN" b="1" i="0" dirty="0">
                <a:solidFill>
                  <a:srgbClr val="404040"/>
                </a:solidFill>
                <a:effectLst/>
                <a:latin typeface="DeepSeek-CJK-patch"/>
              </a:rPr>
              <a:t>Pre-copy (Live migration):</a:t>
            </a:r>
            <a:r>
              <a:rPr lang="vi-VN" b="0" i="0" dirty="0">
                <a:solidFill>
                  <a:srgbClr val="404040"/>
                </a:solidFill>
                <a:effectLst/>
                <a:latin typeface="DeepSeek-CJK-patch"/>
              </a:rPr>
              <a:t> Di chuyển trước các trang bộ nhớ không thay đổi → thời gian dài nhưng downtime thấp.</a:t>
            </a:r>
          </a:p>
          <a:p>
            <a:pPr marL="1143000" lvl="2" indent="-228600" algn="l">
              <a:buFont typeface="Arial" panose="020B0604020202020204" pitchFamily="34" charset="0"/>
              <a:buChar char="•"/>
            </a:pPr>
            <a:r>
              <a:rPr lang="vi-VN" b="1" i="0" dirty="0">
                <a:solidFill>
                  <a:srgbClr val="404040"/>
                </a:solidFill>
                <a:effectLst/>
                <a:latin typeface="DeepSeek-CJK-patch"/>
              </a:rPr>
              <a:t>Post-copy (On-demand):</a:t>
            </a:r>
            <a:r>
              <a:rPr lang="vi-VN" b="0" i="0" dirty="0">
                <a:solidFill>
                  <a:srgbClr val="404040"/>
                </a:solidFill>
                <a:effectLst/>
                <a:latin typeface="DeepSeek-CJK-patch"/>
              </a:rPr>
              <a:t> Downtime ngắn nhưng hiệu suất ban đầu kém.</a:t>
            </a:r>
          </a:p>
          <a:p>
            <a:pPr marL="742950" lvl="1" indent="-285750" algn="l">
              <a:buFont typeface="Arial" panose="020B0604020202020204" pitchFamily="34" charset="0"/>
              <a:buChar char="•"/>
            </a:pPr>
            <a:r>
              <a:rPr lang="vi-VN" b="1" i="0" dirty="0">
                <a:solidFill>
                  <a:srgbClr val="404040"/>
                </a:solidFill>
                <a:effectLst/>
                <a:latin typeface="DeepSeek-CJK-patch"/>
              </a:rPr>
              <a:t>Dung lượng bộ nhớ:</a:t>
            </a:r>
            <a:r>
              <a:rPr lang="vi-VN" b="0" i="0" dirty="0">
                <a:solidFill>
                  <a:srgbClr val="404040"/>
                </a:solidFill>
                <a:effectLst/>
                <a:latin typeface="DeepSeek-CJK-patch"/>
              </a:rPr>
              <a:t> VM càng nhiều RAM → thời gian di chuyển càng lâu.</a:t>
            </a:r>
          </a:p>
          <a:p>
            <a:pPr algn="l"/>
            <a:r>
              <a:rPr lang="vi-VN" b="1" i="0" dirty="0">
                <a:solidFill>
                  <a:srgbClr val="404040"/>
                </a:solidFill>
                <a:effectLst/>
                <a:latin typeface="DeepSeek-CJK-patch"/>
              </a:rPr>
              <a:t>c) Downtime (Thời gian gián đoạn)</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Định nghĩa:</a:t>
            </a:r>
            <a:r>
              <a:rPr lang="vi-VN" b="0" i="0" dirty="0">
                <a:solidFill>
                  <a:srgbClr val="404040"/>
                </a:solidFill>
                <a:effectLst/>
                <a:latin typeface="DeepSeek-CJK-patch"/>
              </a:rPr>
              <a:t> Khoảng thời gian </a:t>
            </a:r>
            <a:r>
              <a:rPr lang="vi-VN" b="1" i="0" dirty="0">
                <a:solidFill>
                  <a:srgbClr val="404040"/>
                </a:solidFill>
                <a:effectLst/>
                <a:latin typeface="DeepSeek-CJK-patch"/>
              </a:rPr>
              <a:t>dịch vụ ngừng hoạt động hoàn toàn</a:t>
            </a:r>
            <a:r>
              <a:rPr lang="vi-VN" b="0" i="0" dirty="0">
                <a:solidFill>
                  <a:srgbClr val="404040"/>
                </a:solidFill>
                <a:effectLst/>
                <a:latin typeface="DeepSeek-CJK-patch"/>
              </a:rPr>
              <a:t> (thường ở cuối quá trình migration).</a:t>
            </a:r>
          </a:p>
          <a:p>
            <a:pPr algn="l">
              <a:buFont typeface="Arial" panose="020B0604020202020204" pitchFamily="34" charset="0"/>
              <a:buChar char="•"/>
            </a:pPr>
            <a:r>
              <a:rPr lang="vi-VN" b="1" i="0" dirty="0">
                <a:solidFill>
                  <a:srgbClr val="404040"/>
                </a:solidFill>
                <a:effectLst/>
                <a:latin typeface="DeepSeek-CJK-patch"/>
              </a:rPr>
              <a:t>Nguyên nhân:</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Máy ảo tạm dừng để đồng bộ trạng thái cuối cùng (VD: CPU registers, dirty pages).</a:t>
            </a:r>
          </a:p>
          <a:p>
            <a:pPr marL="742950" lvl="1" indent="-285750" algn="l">
              <a:buFont typeface="Arial" panose="020B0604020202020204" pitchFamily="34" charset="0"/>
              <a:buChar char="•"/>
            </a:pPr>
            <a:r>
              <a:rPr lang="vi-VN" b="0" i="0" dirty="0">
                <a:solidFill>
                  <a:srgbClr val="404040"/>
                </a:solidFill>
                <a:effectLst/>
                <a:latin typeface="DeepSeek-CJK-patch"/>
              </a:rPr>
              <a:t>Chuyển đổi điều khiển mạng (network handover) sang host mới.</a:t>
            </a:r>
          </a:p>
          <a:p>
            <a:pPr algn="l">
              <a:buFont typeface="Arial" panose="020B0604020202020204" pitchFamily="34" charset="0"/>
              <a:buChar char="•"/>
            </a:pPr>
            <a:r>
              <a:rPr lang="vi-VN" b="1" i="0" dirty="0">
                <a:solidFill>
                  <a:srgbClr val="404040"/>
                </a:solidFill>
                <a:effectLst/>
                <a:latin typeface="DeepSeek-CJK-patch"/>
              </a:rPr>
              <a:t>Mục tiêu tối ưu:</a:t>
            </a:r>
            <a:r>
              <a:rPr lang="vi-VN" b="0" i="0" dirty="0">
                <a:solidFill>
                  <a:srgbClr val="404040"/>
                </a:solidFill>
                <a:effectLst/>
                <a:latin typeface="DeepSeek-CJK-patch"/>
              </a:rPr>
              <a:t> Giảm downtime xuống </a:t>
            </a:r>
            <a:r>
              <a:rPr lang="vi-VN" b="1" i="0" dirty="0">
                <a:solidFill>
                  <a:srgbClr val="404040"/>
                </a:solidFill>
                <a:effectLst/>
                <a:latin typeface="DeepSeek-CJK-patch"/>
              </a:rPr>
              <a:t>dưới 1 giây</a:t>
            </a:r>
            <a:r>
              <a:rPr lang="vi-VN" b="0" i="0" dirty="0">
                <a:solidFill>
                  <a:srgbClr val="404040"/>
                </a:solidFill>
                <a:effectLst/>
                <a:latin typeface="DeepSeek-CJK-patch"/>
              </a:rPr>
              <a:t> (VD: VMware vMotion đạt ~100ms).</a:t>
            </a:r>
          </a:p>
          <a:p>
            <a:pPr algn="l"/>
            <a:endParaRPr lang="en-US" b="1" i="0" dirty="0">
              <a:solidFill>
                <a:srgbClr val="404040"/>
              </a:solidFill>
              <a:effectLst/>
              <a:latin typeface="DeepSeek-CJK-patch"/>
            </a:endParaRPr>
          </a:p>
          <a:p>
            <a:pPr algn="l"/>
            <a:r>
              <a:rPr lang="vi-VN" b="1" i="0" dirty="0">
                <a:solidFill>
                  <a:srgbClr val="404040"/>
                </a:solidFill>
                <a:effectLst/>
                <a:latin typeface="DeepSeek-CJK-patch"/>
              </a:rPr>
              <a:t>3. Giải pháp cải thiện hiệu suất</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Tối ưu hóa mạng:</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Dùng </a:t>
            </a:r>
            <a:r>
              <a:rPr lang="vi-VN" b="1" i="0" dirty="0">
                <a:solidFill>
                  <a:srgbClr val="404040"/>
                </a:solidFill>
                <a:effectLst/>
                <a:latin typeface="DeepSeek-CJK-patch"/>
              </a:rPr>
              <a:t>RDMA (Remote Direct Memory Access)</a:t>
            </a:r>
            <a:r>
              <a:rPr lang="vi-VN" b="0" i="0" dirty="0">
                <a:solidFill>
                  <a:srgbClr val="404040"/>
                </a:solidFill>
                <a:effectLst/>
                <a:latin typeface="DeepSeek-CJK-patch"/>
              </a:rPr>
              <a:t> để giảm CPU overhead.</a:t>
            </a:r>
          </a:p>
          <a:p>
            <a:pPr marL="742950" lvl="1" indent="-285750" algn="l">
              <a:buFont typeface="Arial" panose="020B0604020202020204" pitchFamily="34" charset="0"/>
              <a:buChar char="•"/>
            </a:pPr>
            <a:r>
              <a:rPr lang="vi-VN" b="0" i="0" dirty="0">
                <a:solidFill>
                  <a:srgbClr val="404040"/>
                </a:solidFill>
                <a:effectLst/>
                <a:latin typeface="DeepSeek-CJK-patch"/>
              </a:rPr>
              <a:t>Nén dữ liệu (compression) hoặc deduplication memory pages.</a:t>
            </a:r>
          </a:p>
          <a:p>
            <a:pPr algn="l">
              <a:buFont typeface="Arial" panose="020B0604020202020204" pitchFamily="34" charset="0"/>
              <a:buChar char="•"/>
            </a:pPr>
            <a:r>
              <a:rPr lang="vi-VN" b="1" i="0" dirty="0">
                <a:solidFill>
                  <a:srgbClr val="404040"/>
                </a:solidFill>
                <a:effectLst/>
                <a:latin typeface="DeepSeek-CJK-patch"/>
              </a:rPr>
              <a:t>Chọn phương pháp phù hợp:</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Live migration (Pre-copy):</a:t>
            </a:r>
            <a:r>
              <a:rPr lang="vi-VN" b="0" i="0" dirty="0">
                <a:solidFill>
                  <a:srgbClr val="404040"/>
                </a:solidFill>
                <a:effectLst/>
                <a:latin typeface="DeepSeek-CJK-patch"/>
              </a:rPr>
              <a:t> Cho ứng dụng cần high availability (VD: cloud servers).</a:t>
            </a:r>
          </a:p>
          <a:p>
            <a:pPr marL="742950" lvl="1" indent="-285750" algn="l">
              <a:buFont typeface="Arial" panose="020B0604020202020204" pitchFamily="34" charset="0"/>
              <a:buChar char="•"/>
            </a:pPr>
            <a:r>
              <a:rPr lang="vi-VN" b="1" i="0" dirty="0">
                <a:solidFill>
                  <a:srgbClr val="404040"/>
                </a:solidFill>
                <a:effectLst/>
                <a:latin typeface="DeepSeek-CJK-patch"/>
              </a:rPr>
              <a:t>Stop-and-Copy:</a:t>
            </a:r>
            <a:r>
              <a:rPr lang="vi-VN" b="0" i="0" dirty="0">
                <a:solidFill>
                  <a:srgbClr val="404040"/>
                </a:solidFill>
                <a:effectLst/>
                <a:latin typeface="DeepSeek-CJK-patch"/>
              </a:rPr>
              <a:t> Khi downtime chấp nhận được (VD: bảo trì định kỳ).</a:t>
            </a:r>
          </a:p>
          <a:p>
            <a:pPr algn="l">
              <a:buFont typeface="Arial" panose="020B0604020202020204" pitchFamily="34" charset="0"/>
              <a:buChar char="•"/>
            </a:pPr>
            <a:r>
              <a:rPr lang="vi-VN" b="1" i="0" dirty="0">
                <a:solidFill>
                  <a:srgbClr val="404040"/>
                </a:solidFill>
                <a:effectLst/>
                <a:latin typeface="DeepSeek-CJK-patch"/>
              </a:rPr>
              <a:t>Giám sát hiệu suất:</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0" i="0" dirty="0">
                <a:solidFill>
                  <a:srgbClr val="404040"/>
                </a:solidFill>
                <a:effectLst/>
                <a:latin typeface="DeepSeek-CJK-patch"/>
              </a:rPr>
              <a:t>Theo dõi </a:t>
            </a:r>
            <a:r>
              <a:rPr lang="vi-VN" b="1" i="0" dirty="0">
                <a:solidFill>
                  <a:srgbClr val="404040"/>
                </a:solidFill>
                <a:effectLst/>
                <a:latin typeface="DeepSeek-CJK-patch"/>
              </a:rPr>
              <a:t>throughput mạng</a:t>
            </a:r>
            <a:r>
              <a:rPr lang="vi-VN" b="0" i="0" dirty="0">
                <a:solidFill>
                  <a:srgbClr val="404040"/>
                </a:solidFill>
                <a:effectLst/>
                <a:latin typeface="DeepSeek-CJK-patch"/>
              </a:rPr>
              <a:t>, </a:t>
            </a:r>
            <a:r>
              <a:rPr lang="vi-VN" b="1" i="0" dirty="0">
                <a:solidFill>
                  <a:srgbClr val="404040"/>
                </a:solidFill>
                <a:effectLst/>
                <a:latin typeface="DeepSeek-CJK-patch"/>
              </a:rPr>
              <a:t>tốc độ chuyển trang bộ nhớ</a:t>
            </a:r>
            <a:r>
              <a:rPr lang="vi-VN" b="0" i="0" dirty="0">
                <a:solidFill>
                  <a:srgbClr val="404040"/>
                </a:solidFill>
                <a:effectLst/>
                <a:latin typeface="DeepSeek-CJK-patch"/>
              </a:rPr>
              <a:t> để phát hiện nghẽn cổ chai.</a:t>
            </a:r>
          </a:p>
          <a:p>
            <a:pPr algn="l"/>
            <a:endParaRPr lang="en-US" b="1" i="0">
              <a:solidFill>
                <a:srgbClr val="404040"/>
              </a:solidFill>
              <a:effectLst/>
              <a:latin typeface="DeepSeek-CJK-patch"/>
            </a:endParaRPr>
          </a:p>
          <a:p>
            <a:pPr algn="l"/>
            <a:r>
              <a:rPr lang="vi-VN" b="1" i="0">
                <a:solidFill>
                  <a:srgbClr val="404040"/>
                </a:solidFill>
                <a:effectLst/>
                <a:latin typeface="DeepSeek-CJK-patch"/>
              </a:rPr>
              <a:t>4</a:t>
            </a:r>
            <a:r>
              <a:rPr lang="vi-VN" b="1" i="0" dirty="0">
                <a:solidFill>
                  <a:srgbClr val="404040"/>
                </a:solidFill>
                <a:effectLst/>
                <a:latin typeface="DeepSeek-CJK-patch"/>
              </a:rPr>
              <a:t>. Tóm tắt qua biểu đồ</a:t>
            </a:r>
            <a:endParaRPr lang="vi-VN" b="0" i="0" dirty="0">
              <a:solidFill>
                <a:srgbClr val="404040"/>
              </a:solidFill>
              <a:effectLst/>
              <a:latin typeface="DeepSeek-CJK-patch"/>
            </a:endParaRPr>
          </a:p>
          <a:p>
            <a:pPr algn="l">
              <a:buFont typeface="Arial" panose="020B0604020202020204" pitchFamily="34" charset="0"/>
              <a:buChar char="•"/>
            </a:pPr>
            <a:r>
              <a:rPr lang="vi-VN" b="1" i="0" dirty="0">
                <a:solidFill>
                  <a:srgbClr val="404040"/>
                </a:solidFill>
                <a:effectLst/>
                <a:latin typeface="DeepSeek-CJK-patch"/>
              </a:rPr>
              <a:t>Trục hoành (Time):</a:t>
            </a:r>
            <a:r>
              <a:rPr lang="vi-VN" b="0" i="0" dirty="0">
                <a:solidFill>
                  <a:srgbClr val="404040"/>
                </a:solidFill>
                <a:effectLst/>
                <a:latin typeface="DeepSeek-CJK-patch"/>
              </a:rPr>
              <a:t> Thời gian diễn ra migration.</a:t>
            </a:r>
          </a:p>
          <a:p>
            <a:pPr algn="l">
              <a:buFont typeface="Arial" panose="020B0604020202020204" pitchFamily="34" charset="0"/>
              <a:buChar char="•"/>
            </a:pPr>
            <a:r>
              <a:rPr lang="vi-VN" b="1" i="0" dirty="0">
                <a:solidFill>
                  <a:srgbClr val="404040"/>
                </a:solidFill>
                <a:effectLst/>
                <a:latin typeface="DeepSeek-CJK-patch"/>
              </a:rPr>
              <a:t>Các giai đoạn:</a:t>
            </a:r>
            <a:endParaRPr lang="vi-VN" b="0" i="0" dirty="0">
              <a:solidFill>
                <a:srgbClr val="404040"/>
              </a:solidFill>
              <a:effectLst/>
              <a:latin typeface="DeepSeek-CJK-patch"/>
            </a:endParaRPr>
          </a:p>
          <a:p>
            <a:pPr marL="742950" lvl="1" indent="-285750" algn="l">
              <a:buFont typeface="Arial" panose="020B0604020202020204" pitchFamily="34" charset="0"/>
              <a:buChar char="•"/>
            </a:pPr>
            <a:r>
              <a:rPr lang="vi-VN" b="1" i="0" dirty="0">
                <a:solidFill>
                  <a:srgbClr val="404040"/>
                </a:solidFill>
                <a:effectLst/>
                <a:latin typeface="DeepSeek-CJK-patch"/>
              </a:rPr>
              <a:t>Trước khi migration:</a:t>
            </a:r>
            <a:r>
              <a:rPr lang="vi-VN" b="0" i="0" dirty="0">
                <a:solidFill>
                  <a:srgbClr val="404040"/>
                </a:solidFill>
                <a:effectLst/>
                <a:latin typeface="DeepSeek-CJK-patch"/>
              </a:rPr>
              <a:t> Response time ổn định.</a:t>
            </a:r>
          </a:p>
          <a:p>
            <a:pPr marL="742950" lvl="1" indent="-285750" algn="l">
              <a:buFont typeface="Arial" panose="020B0604020202020204" pitchFamily="34" charset="0"/>
              <a:buChar char="•"/>
            </a:pPr>
            <a:r>
              <a:rPr lang="vi-VN" b="1" i="0" dirty="0">
                <a:solidFill>
                  <a:srgbClr val="404040"/>
                </a:solidFill>
                <a:effectLst/>
                <a:latin typeface="DeepSeek-CJK-patch"/>
              </a:rPr>
              <a:t>Trong migration:</a:t>
            </a:r>
            <a:r>
              <a:rPr lang="vi-VN" b="0" i="0" dirty="0">
                <a:solidFill>
                  <a:srgbClr val="404040"/>
                </a:solidFill>
                <a:effectLst/>
                <a:latin typeface="DeepSeek-CJK-patch"/>
              </a:rPr>
              <a:t> Response time tăng do tải mạng, downtime xuất hiện ở cuối.</a:t>
            </a:r>
          </a:p>
          <a:p>
            <a:pPr marL="742950" lvl="1" indent="-285750" algn="l">
              <a:buFont typeface="Arial" panose="020B0604020202020204" pitchFamily="34" charset="0"/>
              <a:buChar char="•"/>
            </a:pPr>
            <a:r>
              <a:rPr lang="vi-VN" b="1" i="0" dirty="0">
                <a:solidFill>
                  <a:srgbClr val="404040"/>
                </a:solidFill>
                <a:effectLst/>
                <a:latin typeface="DeepSeek-CJK-patch"/>
              </a:rPr>
              <a:t>Sau migration:</a:t>
            </a:r>
            <a:r>
              <a:rPr lang="vi-VN" b="0" i="0" dirty="0">
                <a:solidFill>
                  <a:srgbClr val="404040"/>
                </a:solidFill>
                <a:effectLst/>
                <a:latin typeface="DeepSeek-CJK-patch"/>
              </a:rPr>
              <a:t> Response time trở lại bình thường.</a:t>
            </a:r>
          </a:p>
          <a:p>
            <a:endParaRPr lang="en-US" dirty="0"/>
          </a:p>
        </p:txBody>
      </p:sp>
      <p:sp>
        <p:nvSpPr>
          <p:cNvPr id="4" name="Slide Number Placeholder 3"/>
          <p:cNvSpPr>
            <a:spLocks noGrp="1"/>
          </p:cNvSpPr>
          <p:nvPr>
            <p:ph type="sldNum" sz="quarter" idx="5"/>
          </p:nvPr>
        </p:nvSpPr>
        <p:spPr/>
        <p:txBody>
          <a:bodyPr/>
          <a:lstStyle/>
          <a:p>
            <a:fld id="{0EA9AC37-8FF6-483B-AAA6-B9FE5516F543}" type="slidenum">
              <a:rPr lang="en-US" smtClean="0"/>
              <a:t>62</a:t>
            </a:fld>
            <a:endParaRPr lang="en-US"/>
          </a:p>
        </p:txBody>
      </p:sp>
    </p:spTree>
    <p:extLst>
      <p:ext uri="{BB962C8B-B14F-4D97-AF65-F5344CB8AC3E}">
        <p14:creationId xmlns:p14="http://schemas.microsoft.com/office/powerpoint/2010/main" val="16053653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6" name="Holder 6"/>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7" name="Holder 7"/>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0" i="0">
                <a:solidFill>
                  <a:srgbClr val="3333B2"/>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5" name="Holder 5"/>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4" name="Holder 4"/>
          <p:cNvSpPr>
            <a:spLocks noGrp="1"/>
          </p:cNvSpPr>
          <p:nvPr>
            <p:ph type="sldNum" sz="quarter" idx="7"/>
          </p:nvPr>
        </p:nvSpPr>
        <p:spPr/>
        <p:txBody>
          <a:bodyPr lIns="0" tIns="0" rIns="0" bIns="0"/>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95300" y="188846"/>
            <a:ext cx="2059305" cy="244475"/>
          </a:xfrm>
          <a:prstGeom prst="rect">
            <a:avLst/>
          </a:prstGeom>
        </p:spPr>
        <p:txBody>
          <a:bodyPr wrap="square" lIns="0" tIns="0" rIns="0" bIns="0">
            <a:spAutoFit/>
          </a:bodyPr>
          <a:lstStyle>
            <a:lvl1pPr>
              <a:defRPr sz="1400" b="0" i="0">
                <a:solidFill>
                  <a:srgbClr val="3333B2"/>
                </a:solidFill>
                <a:latin typeface="Arial"/>
                <a:cs typeface="Arial"/>
              </a:defRPr>
            </a:lvl1pPr>
          </a:lstStyle>
          <a:p>
            <a:endParaRPr/>
          </a:p>
        </p:txBody>
      </p:sp>
      <p:sp>
        <p:nvSpPr>
          <p:cNvPr id="3" name="Holder 3"/>
          <p:cNvSpPr>
            <a:spLocks noGrp="1"/>
          </p:cNvSpPr>
          <p:nvPr>
            <p:ph type="body" idx="1"/>
          </p:nvPr>
        </p:nvSpPr>
        <p:spPr>
          <a:xfrm>
            <a:off x="1038948" y="756932"/>
            <a:ext cx="2530475" cy="839469"/>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1567434" y="3218497"/>
            <a:ext cx="1475232" cy="173037"/>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30505" y="3218497"/>
            <a:ext cx="1060323" cy="173037"/>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4/20/2025</a:t>
            </a:fld>
            <a:endParaRPr lang="en-US"/>
          </a:p>
        </p:txBody>
      </p:sp>
      <p:sp>
        <p:nvSpPr>
          <p:cNvPr id="6" name="Holder 6"/>
          <p:cNvSpPr>
            <a:spLocks noGrp="1"/>
          </p:cNvSpPr>
          <p:nvPr>
            <p:ph type="sldNum" sz="quarter" idx="7"/>
          </p:nvPr>
        </p:nvSpPr>
        <p:spPr>
          <a:xfrm>
            <a:off x="4258348" y="3331252"/>
            <a:ext cx="283210" cy="119379"/>
          </a:xfrm>
          <a:prstGeom prst="rect">
            <a:avLst/>
          </a:prstGeom>
        </p:spPr>
        <p:txBody>
          <a:bodyPr wrap="square" lIns="0" tIns="0" rIns="0" bIns="0">
            <a:spAutoFit/>
          </a:bodyPr>
          <a:lstStyle>
            <a:lvl1pPr>
              <a:defRPr sz="600" b="0" i="0">
                <a:solidFill>
                  <a:srgbClr val="262685"/>
                </a:solidFill>
                <a:latin typeface="Arial"/>
                <a:cs typeface="Arial"/>
              </a:defRPr>
            </a:lvl1pPr>
          </a:lstStyle>
          <a:p>
            <a:pPr marL="38100">
              <a:lnSpc>
                <a:spcPct val="100000"/>
              </a:lnSpc>
              <a:spcBef>
                <a:spcPts val="70"/>
              </a:spcBef>
            </a:pPr>
            <a:fld id="{81D60167-4931-47E6-BA6A-407CBD079E47}" type="slidenum">
              <a:rPr spc="-5" dirty="0"/>
              <a:t>‹#›</a:t>
            </a:fld>
            <a:r>
              <a:rPr spc="-40" dirty="0"/>
              <a:t> </a:t>
            </a:r>
            <a:r>
              <a:rPr spc="-5" dirty="0"/>
              <a:t>/</a:t>
            </a:r>
            <a:r>
              <a:rPr spc="-35" dirty="0"/>
              <a:t> </a:t>
            </a:r>
            <a:r>
              <a:rPr spc="-5" dirty="0"/>
              <a:t>47</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slide" Target="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5.xml"/><Relationship Id="rId5" Type="http://schemas.openxmlformats.org/officeDocument/2006/relationships/slide" Target="slide7.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slide" Target="slide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11.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1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slide" Target="slide10.xml"/></Relationships>
</file>

<file path=ppt/slides/_rels/slide1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slide" Target="slide10.xml"/><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19.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slide" Target="slide2.xml"/></Relationships>
</file>

<file path=ppt/slides/_rels/slide2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slide" Target="slide19.xml"/><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slide" Target="slide2.xml"/></Relationships>
</file>

<file path=ppt/slides/_rels/slide22.xml.rels><?xml version="1.0" encoding="UTF-8" standalone="yes"?>
<Relationships xmlns="http://schemas.openxmlformats.org/package/2006/relationships"><Relationship Id="rId3" Type="http://schemas.openxmlformats.org/officeDocument/2006/relationships/slide" Target="slide22.xml"/><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slide" Target="slide19.xml"/><Relationship Id="rId4" Type="http://schemas.openxmlformats.org/officeDocument/2006/relationships/slide" Target="slide2.xml"/></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slide" Target="slide2.xml"/><Relationship Id="rId7"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slide" Target="slide19.xml"/><Relationship Id="rId9" Type="http://schemas.openxmlformats.org/officeDocument/2006/relationships/slide" Target="slide22.xml"/></Relationships>
</file>

<file path=ppt/slides/_rels/slide2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5.xml"/><Relationship Id="rId1" Type="http://schemas.openxmlformats.org/officeDocument/2006/relationships/slideLayout" Target="../slideLayouts/slideLayout5.xml"/><Relationship Id="rId4" Type="http://schemas.openxmlformats.org/officeDocument/2006/relationships/slide" Target="slide24.xml"/></Relationships>
</file>

<file path=ppt/slides/_rels/slide25.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6.xml"/><Relationship Id="rId1" Type="http://schemas.openxmlformats.org/officeDocument/2006/relationships/slideLayout" Target="../slideLayouts/slideLayout5.xml"/><Relationship Id="rId5" Type="http://schemas.openxmlformats.org/officeDocument/2006/relationships/slide" Target="slide24.xml"/><Relationship Id="rId4" Type="http://schemas.openxmlformats.org/officeDocument/2006/relationships/slide" Target="slide2.xml"/></Relationships>
</file>

<file path=ppt/slides/_rels/slide26.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7.xml"/><Relationship Id="rId1" Type="http://schemas.openxmlformats.org/officeDocument/2006/relationships/slideLayout" Target="../slideLayouts/slideLayout5.xml"/><Relationship Id="rId5" Type="http://schemas.openxmlformats.org/officeDocument/2006/relationships/slide" Target="slide25.xml"/><Relationship Id="rId4" Type="http://schemas.openxmlformats.org/officeDocument/2006/relationships/slide" Target="slide24.xml"/></Relationships>
</file>

<file path=ppt/slides/_rels/slide2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slide" Target="slide25.xml"/><Relationship Id="rId4" Type="http://schemas.openxmlformats.org/officeDocument/2006/relationships/slide" Target="slide24.xml"/></Relationships>
</file>

<file path=ppt/slides/_rels/slide28.xml.rels><?xml version="1.0" encoding="UTF-8" standalone="yes"?>
<Relationships xmlns="http://schemas.openxmlformats.org/package/2006/relationships"><Relationship Id="rId3" Type="http://schemas.openxmlformats.org/officeDocument/2006/relationships/slide" Target="slide25.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slide" Target="slide24.xml"/><Relationship Id="rId4" Type="http://schemas.openxmlformats.org/officeDocument/2006/relationships/slide" Target="slide2.xml"/></Relationships>
</file>

<file path=ppt/slides/_rels/slide2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0.xml"/><Relationship Id="rId1" Type="http://schemas.openxmlformats.org/officeDocument/2006/relationships/slideLayout" Target="../slideLayouts/slideLayout5.xml"/><Relationship Id="rId5" Type="http://schemas.openxmlformats.org/officeDocument/2006/relationships/slide" Target="slide29.xml"/><Relationship Id="rId4" Type="http://schemas.openxmlformats.org/officeDocument/2006/relationships/slide" Target="slide24.xml"/></Relationships>
</file>

<file path=ppt/slides/_rels/slide3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slide" Target="slide2.xml"/><Relationship Id="rId7" Type="http://schemas.openxmlformats.org/officeDocument/2006/relationships/image" Target="../media/image8.png"/><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7.png"/><Relationship Id="rId5" Type="http://schemas.openxmlformats.org/officeDocument/2006/relationships/image" Target="../media/image3.png"/><Relationship Id="rId10" Type="http://schemas.openxmlformats.org/officeDocument/2006/relationships/image" Target="../media/image11.png"/><Relationship Id="rId4" Type="http://schemas.openxmlformats.org/officeDocument/2006/relationships/slide" Target="slide30.xml"/><Relationship Id="rId9" Type="http://schemas.openxmlformats.org/officeDocument/2006/relationships/image" Target="../media/image10.png"/></Relationships>
</file>

<file path=ppt/slides/_rels/slide31.xml.rels><?xml version="1.0" encoding="UTF-8" standalone="yes"?>
<Relationships xmlns="http://schemas.openxmlformats.org/package/2006/relationships"><Relationship Id="rId3" Type="http://schemas.openxmlformats.org/officeDocument/2006/relationships/slide" Target="slide30.xml"/><Relationship Id="rId7" Type="http://schemas.openxmlformats.org/officeDocument/2006/relationships/slide" Target="slide31.xml"/><Relationship Id="rId2" Type="http://schemas.openxmlformats.org/officeDocument/2006/relationships/slide" Target="slide2.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32.xml.rels><?xml version="1.0" encoding="UTF-8" standalone="yes"?>
<Relationships xmlns="http://schemas.openxmlformats.org/package/2006/relationships"><Relationship Id="rId8" Type="http://schemas.openxmlformats.org/officeDocument/2006/relationships/slide" Target="slide31.xml"/><Relationship Id="rId3" Type="http://schemas.openxmlformats.org/officeDocument/2006/relationships/slide" Target="slide2.xml"/><Relationship Id="rId7"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3.png"/><Relationship Id="rId4" Type="http://schemas.openxmlformats.org/officeDocument/2006/relationships/slide" Target="slide30.xml"/></Relationships>
</file>

<file path=ppt/slides/_rels/slide33.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3.xml"/><Relationship Id="rId1" Type="http://schemas.openxmlformats.org/officeDocument/2006/relationships/slideLayout" Target="../slideLayouts/slideLayout5.xml"/><Relationship Id="rId5" Type="http://schemas.openxmlformats.org/officeDocument/2006/relationships/slide" Target="slide33.xml"/><Relationship Id="rId4" Type="http://schemas.openxmlformats.org/officeDocument/2006/relationships/slide" Target="slide30.xml"/></Relationships>
</file>

<file path=ppt/slides/_rels/slide3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slide" Target="slide2.xml"/><Relationship Id="rId7"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slide" Target="slide34.xml"/><Relationship Id="rId4" Type="http://schemas.openxmlformats.org/officeDocument/2006/relationships/slide" Target="slide30.xml"/></Relationships>
</file>

<file path=ppt/slides/_rels/slide35.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5.xml"/><Relationship Id="rId1" Type="http://schemas.openxmlformats.org/officeDocument/2006/relationships/slideLayout" Target="../slideLayouts/slideLayout5.xml"/><Relationship Id="rId4" Type="http://schemas.openxmlformats.org/officeDocument/2006/relationships/slide" Target="slide35.xml"/></Relationships>
</file>

<file path=ppt/slides/_rels/slide36.xml.rels><?xml version="1.0" encoding="UTF-8" standalone="yes"?>
<Relationships xmlns="http://schemas.openxmlformats.org/package/2006/relationships"><Relationship Id="rId3" Type="http://schemas.openxmlformats.org/officeDocument/2006/relationships/slide" Target="slide36.xml"/><Relationship Id="rId2" Type="http://schemas.openxmlformats.org/officeDocument/2006/relationships/notesSlide" Target="../notesSlides/notesSlide26.xml"/><Relationship Id="rId1" Type="http://schemas.openxmlformats.org/officeDocument/2006/relationships/slideLayout" Target="../slideLayouts/slideLayout5.xml"/><Relationship Id="rId5" Type="http://schemas.openxmlformats.org/officeDocument/2006/relationships/slide" Target="slide35.xml"/><Relationship Id="rId4" Type="http://schemas.openxmlformats.org/officeDocument/2006/relationships/slide" Target="slide2.xml"/></Relationships>
</file>

<file path=ppt/slides/_rels/slide3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37.xml"/><Relationship Id="rId5" Type="http://schemas.openxmlformats.org/officeDocument/2006/relationships/image" Target="../media/image16.png"/><Relationship Id="rId4" Type="http://schemas.openxmlformats.org/officeDocument/2006/relationships/slide" Target="slide35.xml"/></Relationships>
</file>

<file path=ppt/slides/_rels/slide3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8.xml"/><Relationship Id="rId1" Type="http://schemas.openxmlformats.org/officeDocument/2006/relationships/slideLayout" Target="../slideLayouts/slideLayout5.xml"/><Relationship Id="rId4" Type="http://schemas.openxmlformats.org/officeDocument/2006/relationships/slide" Target="slide35.xml"/></Relationships>
</file>

<file path=ppt/slides/_rels/slide3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38.xml"/><Relationship Id="rId1" Type="http://schemas.openxmlformats.org/officeDocument/2006/relationships/slideLayout" Target="../slideLayouts/slideLayout5.xml"/><Relationship Id="rId4" Type="http://schemas.openxmlformats.org/officeDocument/2006/relationships/slide" Target="slide35.xml"/></Relationships>
</file>

<file path=ppt/slides/_rels/slide40.xml.rels><?xml version="1.0" encoding="UTF-8" standalone="yes"?>
<Relationships xmlns="http://schemas.openxmlformats.org/package/2006/relationships"><Relationship Id="rId3" Type="http://schemas.openxmlformats.org/officeDocument/2006/relationships/slide" Target="slide38.xml"/><Relationship Id="rId2" Type="http://schemas.openxmlformats.org/officeDocument/2006/relationships/notesSlide" Target="../notesSlides/notesSlide28.xml"/><Relationship Id="rId1" Type="http://schemas.openxmlformats.org/officeDocument/2006/relationships/slideLayout" Target="../slideLayouts/slideLayout5.xml"/><Relationship Id="rId5" Type="http://schemas.openxmlformats.org/officeDocument/2006/relationships/slide" Target="slide35.xml"/><Relationship Id="rId4" Type="http://schemas.openxmlformats.org/officeDocument/2006/relationships/slide" Target="slide2.xml"/></Relationships>
</file>

<file path=ppt/slides/_rels/slide4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1.xml"/><Relationship Id="rId1" Type="http://schemas.openxmlformats.org/officeDocument/2006/relationships/slideLayout" Target="../slideLayouts/slideLayout2.xml"/><Relationship Id="rId4" Type="http://schemas.openxmlformats.org/officeDocument/2006/relationships/slide" Target="slide35.xml"/></Relationships>
</file>

<file path=ppt/slides/_rels/slide42.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1.xml"/><Relationship Id="rId1" Type="http://schemas.openxmlformats.org/officeDocument/2006/relationships/slideLayout" Target="../slideLayouts/slideLayout2.xml"/><Relationship Id="rId4" Type="http://schemas.openxmlformats.org/officeDocument/2006/relationships/slide" Target="slide35.xml"/></Relationships>
</file>

<file path=ppt/slides/_rels/slide43.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slide" Target="slide35.xml"/><Relationship Id="rId4" Type="http://schemas.openxmlformats.org/officeDocument/2006/relationships/slide" Target="slide2.xml"/></Relationships>
</file>

<file path=ppt/slides/_rels/slide4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slide" Target="slide41.xml"/><Relationship Id="rId1" Type="http://schemas.openxmlformats.org/officeDocument/2006/relationships/slideLayout" Target="../slideLayouts/slideLayout5.xml"/><Relationship Id="rId4" Type="http://schemas.openxmlformats.org/officeDocument/2006/relationships/slide" Target="slide35.xml"/></Relationships>
</file>

<file path=ppt/slides/_rels/slide45.xml.rels><?xml version="1.0" encoding="UTF-8" standalone="yes"?>
<Relationships xmlns="http://schemas.openxmlformats.org/package/2006/relationships"><Relationship Id="rId3" Type="http://schemas.openxmlformats.org/officeDocument/2006/relationships/slide" Target="slide41.xml"/><Relationship Id="rId2" Type="http://schemas.openxmlformats.org/officeDocument/2006/relationships/notesSlide" Target="../notesSlides/notesSlide30.xml"/><Relationship Id="rId1" Type="http://schemas.openxmlformats.org/officeDocument/2006/relationships/slideLayout" Target="../slideLayouts/slideLayout5.xml"/><Relationship Id="rId5" Type="http://schemas.openxmlformats.org/officeDocument/2006/relationships/slide" Target="slide35.xml"/><Relationship Id="rId4" Type="http://schemas.openxmlformats.org/officeDocument/2006/relationships/slide" Target="slide2.xml"/></Relationships>
</file>

<file path=ppt/slides/_rels/slide46.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0.png"/><Relationship Id="rId3" Type="http://schemas.openxmlformats.org/officeDocument/2006/relationships/slide" Target="slide2.xml"/><Relationship Id="rId7" Type="http://schemas.openxmlformats.org/officeDocument/2006/relationships/image" Target="../media/image18.png"/><Relationship Id="rId12"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17.png"/><Relationship Id="rId11" Type="http://schemas.openxmlformats.org/officeDocument/2006/relationships/image" Target="../media/image7.png"/><Relationship Id="rId5" Type="http://schemas.openxmlformats.org/officeDocument/2006/relationships/slide" Target="slide46.xml"/><Relationship Id="rId15" Type="http://schemas.openxmlformats.org/officeDocument/2006/relationships/image" Target="../media/image22.png"/><Relationship Id="rId10" Type="http://schemas.openxmlformats.org/officeDocument/2006/relationships/image" Target="../media/image21.png"/><Relationship Id="rId4" Type="http://schemas.openxmlformats.org/officeDocument/2006/relationships/slide" Target="slide35.xml"/><Relationship Id="rId9" Type="http://schemas.openxmlformats.org/officeDocument/2006/relationships/image" Target="../media/image20.png"/><Relationship Id="rId14" Type="http://schemas.openxmlformats.org/officeDocument/2006/relationships/image" Target="../media/image11.png"/></Relationships>
</file>

<file path=ppt/slides/_rels/slide47.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slide" Target="slide46.xml"/><Relationship Id="rId4" Type="http://schemas.openxmlformats.org/officeDocument/2006/relationships/slide" Target="slide35.xml"/></Relationships>
</file>

<file path=ppt/slides/_rels/slide48.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slide" Target="slide2.xml"/><Relationship Id="rId7"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slide" Target="slide46.xml"/><Relationship Id="rId4" Type="http://schemas.openxmlformats.org/officeDocument/2006/relationships/slide" Target="slide35.xml"/></Relationships>
</file>

<file path=ppt/slides/_rels/slide49.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notesSlide" Target="../notesSlides/notesSlide34.xml"/><Relationship Id="rId1" Type="http://schemas.openxmlformats.org/officeDocument/2006/relationships/slideLayout" Target="../slideLayouts/slideLayout2.xml"/><Relationship Id="rId6" Type="http://schemas.openxmlformats.org/officeDocument/2006/relationships/slide" Target="slide46.xml"/><Relationship Id="rId5" Type="http://schemas.openxmlformats.org/officeDocument/2006/relationships/slide" Target="slide35.xml"/><Relationship Id="rId4" Type="http://schemas.openxmlformats.org/officeDocument/2006/relationships/slide" Target="slide2.xml"/></Relationships>
</file>

<file path=ppt/slides/_rels/slide5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slide" Target="slide49.xml"/><Relationship Id="rId5" Type="http://schemas.openxmlformats.org/officeDocument/2006/relationships/slide" Target="slide46.xml"/><Relationship Id="rId4" Type="http://schemas.openxmlformats.org/officeDocument/2006/relationships/slide" Target="slide35.xml"/></Relationships>
</file>

<file path=ppt/slides/_rels/slide51.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slide" Target="slide46.xml"/><Relationship Id="rId5" Type="http://schemas.openxmlformats.org/officeDocument/2006/relationships/slide" Target="slide35.xml"/><Relationship Id="rId4" Type="http://schemas.openxmlformats.org/officeDocument/2006/relationships/slide" Target="slide2.xml"/></Relationships>
</file>

<file path=ppt/slides/_rels/slide52.xml.rels><?xml version="1.0" encoding="UTF-8" standalone="yes"?>
<Relationships xmlns="http://schemas.openxmlformats.org/package/2006/relationships"><Relationship Id="rId3" Type="http://schemas.openxmlformats.org/officeDocument/2006/relationships/slide" Target="slide49.xml"/><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slide" Target="slide46.xml"/><Relationship Id="rId5" Type="http://schemas.openxmlformats.org/officeDocument/2006/relationships/slide" Target="slide35.xml"/><Relationship Id="rId4" Type="http://schemas.openxmlformats.org/officeDocument/2006/relationships/slide" Target="slide2.xml"/></Relationships>
</file>

<file path=ppt/slides/_rels/slide53.xml.rels><?xml version="1.0" encoding="UTF-8" standalone="yes"?>
<Relationships xmlns="http://schemas.openxmlformats.org/package/2006/relationships"><Relationship Id="rId3" Type="http://schemas.openxmlformats.org/officeDocument/2006/relationships/slide" Target="slide53.xml"/><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slide" Target="slide46.xml"/><Relationship Id="rId5" Type="http://schemas.openxmlformats.org/officeDocument/2006/relationships/slide" Target="slide35.xml"/><Relationship Id="rId4" Type="http://schemas.openxmlformats.org/officeDocument/2006/relationships/slide" Target="slide2.xml"/></Relationships>
</file>

<file path=ppt/slides/_rels/slide54.xml.rels><?xml version="1.0" encoding="UTF-8" standalone="yes"?>
<Relationships xmlns="http://schemas.openxmlformats.org/package/2006/relationships"><Relationship Id="rId8" Type="http://schemas.openxmlformats.org/officeDocument/2006/relationships/slide" Target="slide53.xml"/><Relationship Id="rId3" Type="http://schemas.openxmlformats.org/officeDocument/2006/relationships/slide" Target="slide2.xml"/><Relationship Id="rId7" Type="http://schemas.openxmlformats.org/officeDocument/2006/relationships/image" Target="../media/image27.png"/><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26.png"/><Relationship Id="rId5" Type="http://schemas.openxmlformats.org/officeDocument/2006/relationships/slide" Target="slide46.xml"/><Relationship Id="rId4" Type="http://schemas.openxmlformats.org/officeDocument/2006/relationships/slide" Target="slide35.xml"/></Relationships>
</file>

<file path=ppt/slides/_rels/slide5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slide" Target="slide2.xml"/><Relationship Id="rId7" Type="http://schemas.openxmlformats.org/officeDocument/2006/relationships/image" Target="../media/image29.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28.png"/><Relationship Id="rId5" Type="http://schemas.openxmlformats.org/officeDocument/2006/relationships/slide" Target="slide46.xml"/><Relationship Id="rId10" Type="http://schemas.openxmlformats.org/officeDocument/2006/relationships/slide" Target="slide53.xml"/><Relationship Id="rId4" Type="http://schemas.openxmlformats.org/officeDocument/2006/relationships/slide" Target="slide35.xml"/><Relationship Id="rId9" Type="http://schemas.openxmlformats.org/officeDocument/2006/relationships/image" Target="../media/image31.png"/></Relationships>
</file>

<file path=ppt/slides/_rels/slide56.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33.pn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32.png"/><Relationship Id="rId4" Type="http://schemas.openxmlformats.org/officeDocument/2006/relationships/slide" Target="slide56.xml"/></Relationships>
</file>

<file path=ppt/slides/_rels/slide57.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2.xml"/><Relationship Id="rId1" Type="http://schemas.openxmlformats.org/officeDocument/2006/relationships/slideLayout" Target="../slideLayouts/slideLayout5.xml"/><Relationship Id="rId4" Type="http://schemas.openxmlformats.org/officeDocument/2006/relationships/slide" Target="slide56.xml"/></Relationships>
</file>

<file path=ppt/slides/_rels/slide58.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3.xml"/><Relationship Id="rId1" Type="http://schemas.openxmlformats.org/officeDocument/2006/relationships/slideLayout" Target="../slideLayouts/slideLayout5.xml"/><Relationship Id="rId4" Type="http://schemas.openxmlformats.org/officeDocument/2006/relationships/slide" Target="slide56.xml"/></Relationships>
</file>

<file path=ppt/slides/_rels/slide59.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4.xml"/><Relationship Id="rId1" Type="http://schemas.openxmlformats.org/officeDocument/2006/relationships/slideLayout" Target="../slideLayouts/slideLayout2.xml"/><Relationship Id="rId4" Type="http://schemas.openxmlformats.org/officeDocument/2006/relationships/slide" Target="slide56.xml"/></Relationships>
</file>

<file path=ppt/slides/_rels/slide60.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5.xml"/><Relationship Id="rId1" Type="http://schemas.openxmlformats.org/officeDocument/2006/relationships/slideLayout" Target="../slideLayouts/slideLayout5.xml"/><Relationship Id="rId5" Type="http://schemas.openxmlformats.org/officeDocument/2006/relationships/slide" Target="slide60.xml"/><Relationship Id="rId4" Type="http://schemas.openxmlformats.org/officeDocument/2006/relationships/slide" Target="slide56.xml"/></Relationships>
</file>

<file path=ppt/slides/_rels/slide61.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46.xml"/><Relationship Id="rId1" Type="http://schemas.openxmlformats.org/officeDocument/2006/relationships/slideLayout" Target="../slideLayouts/slideLayout5.xml"/><Relationship Id="rId5" Type="http://schemas.openxmlformats.org/officeDocument/2006/relationships/slide" Target="slide60.xml"/><Relationship Id="rId4" Type="http://schemas.openxmlformats.org/officeDocument/2006/relationships/slide" Target="slide56.xml"/></Relationships>
</file>

<file path=ppt/slides/_rels/slide62.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image" Target="../media/image1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slide" Target="slide60.xml"/><Relationship Id="rId4" Type="http://schemas.openxmlformats.org/officeDocument/2006/relationships/slide" Target="slide5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1412303" y="503866"/>
            <a:ext cx="1783714" cy="554355"/>
          </a:xfrm>
          <a:prstGeom prst="rect">
            <a:avLst/>
          </a:prstGeom>
        </p:spPr>
        <p:txBody>
          <a:bodyPr vert="horz" wrap="square" lIns="0" tIns="110490" rIns="0" bIns="0" rtlCol="0">
            <a:spAutoFit/>
          </a:bodyPr>
          <a:lstStyle/>
          <a:p>
            <a:pPr algn="ctr">
              <a:lnSpc>
                <a:spcPct val="100000"/>
              </a:lnSpc>
              <a:spcBef>
                <a:spcPts val="870"/>
              </a:spcBef>
            </a:pPr>
            <a:r>
              <a:rPr sz="1400" b="1" spc="10" dirty="0">
                <a:solidFill>
                  <a:srgbClr val="3333B2"/>
                </a:solidFill>
                <a:latin typeface="Arial"/>
                <a:cs typeface="Arial"/>
              </a:rPr>
              <a:t>Distributed</a:t>
            </a:r>
            <a:r>
              <a:rPr sz="1400" b="1" spc="-35" dirty="0">
                <a:solidFill>
                  <a:srgbClr val="3333B2"/>
                </a:solidFill>
                <a:latin typeface="Arial"/>
                <a:cs typeface="Arial"/>
              </a:rPr>
              <a:t> </a:t>
            </a:r>
            <a:r>
              <a:rPr sz="1400" b="1" spc="20" dirty="0">
                <a:solidFill>
                  <a:srgbClr val="3333B2"/>
                </a:solidFill>
                <a:latin typeface="Arial"/>
                <a:cs typeface="Arial"/>
              </a:rPr>
              <a:t>Systems</a:t>
            </a:r>
            <a:endParaRPr sz="1400">
              <a:latin typeface="Arial"/>
              <a:cs typeface="Arial"/>
            </a:endParaRPr>
          </a:p>
          <a:p>
            <a:pPr marL="3810" algn="ctr">
              <a:lnSpc>
                <a:spcPct val="100000"/>
              </a:lnSpc>
              <a:spcBef>
                <a:spcPts val="509"/>
              </a:spcBef>
            </a:pPr>
            <a:r>
              <a:rPr sz="1000" spc="-5" dirty="0">
                <a:solidFill>
                  <a:srgbClr val="3333B2"/>
                </a:solidFill>
                <a:latin typeface="Arial"/>
                <a:cs typeface="Arial"/>
              </a:rPr>
              <a:t>(3rd</a:t>
            </a:r>
            <a:r>
              <a:rPr sz="1000" spc="-35" dirty="0">
                <a:solidFill>
                  <a:srgbClr val="3333B2"/>
                </a:solidFill>
                <a:latin typeface="Arial"/>
                <a:cs typeface="Arial"/>
              </a:rPr>
              <a:t> </a:t>
            </a:r>
            <a:r>
              <a:rPr sz="1000" spc="-5" dirty="0">
                <a:solidFill>
                  <a:srgbClr val="3333B2"/>
                </a:solidFill>
                <a:latin typeface="Arial"/>
                <a:cs typeface="Arial"/>
              </a:rPr>
              <a:t>Edition)</a:t>
            </a:r>
            <a:endParaRPr sz="1000">
              <a:latin typeface="Arial"/>
              <a:cs typeface="Arial"/>
            </a:endParaRPr>
          </a:p>
        </p:txBody>
      </p:sp>
      <p:sp>
        <p:nvSpPr>
          <p:cNvPr id="3" name="object 3"/>
          <p:cNvSpPr txBox="1"/>
          <p:nvPr/>
        </p:nvSpPr>
        <p:spPr>
          <a:xfrm>
            <a:off x="1358734" y="2243770"/>
            <a:ext cx="1891030" cy="521334"/>
          </a:xfrm>
          <a:prstGeom prst="rect">
            <a:avLst/>
          </a:prstGeom>
        </p:spPr>
        <p:txBody>
          <a:bodyPr vert="horz" wrap="square" lIns="0" tIns="17145" rIns="0" bIns="0" rtlCol="0">
            <a:spAutoFit/>
          </a:bodyPr>
          <a:lstStyle/>
          <a:p>
            <a:pPr algn="ctr">
              <a:lnSpc>
                <a:spcPct val="100000"/>
              </a:lnSpc>
              <a:spcBef>
                <a:spcPts val="135"/>
              </a:spcBef>
            </a:pPr>
            <a:r>
              <a:rPr sz="1400" spc="15" dirty="0">
                <a:latin typeface="Arial"/>
                <a:cs typeface="Arial"/>
              </a:rPr>
              <a:t>Chapter</a:t>
            </a:r>
            <a:r>
              <a:rPr sz="1400" spc="-15" dirty="0">
                <a:latin typeface="Arial"/>
                <a:cs typeface="Arial"/>
              </a:rPr>
              <a:t> </a:t>
            </a:r>
            <a:r>
              <a:rPr sz="1400" spc="15" dirty="0">
                <a:latin typeface="Arial"/>
                <a:cs typeface="Arial"/>
              </a:rPr>
              <a:t>03:</a:t>
            </a:r>
            <a:r>
              <a:rPr sz="1400" spc="75" dirty="0">
                <a:latin typeface="Arial"/>
                <a:cs typeface="Arial"/>
              </a:rPr>
              <a:t> </a:t>
            </a:r>
            <a:r>
              <a:rPr sz="1400" spc="15" dirty="0">
                <a:latin typeface="Arial"/>
                <a:cs typeface="Arial"/>
              </a:rPr>
              <a:t>Processes</a:t>
            </a:r>
            <a:endParaRPr sz="1400">
              <a:latin typeface="Arial"/>
              <a:cs typeface="Arial"/>
            </a:endParaRPr>
          </a:p>
          <a:p>
            <a:pPr algn="ctr">
              <a:lnSpc>
                <a:spcPct val="100000"/>
              </a:lnSpc>
              <a:spcBef>
                <a:spcPts val="869"/>
              </a:spcBef>
            </a:pPr>
            <a:r>
              <a:rPr sz="1100" spc="-20" dirty="0">
                <a:latin typeface="Arial"/>
                <a:cs typeface="Arial"/>
              </a:rPr>
              <a:t>Version:</a:t>
            </a:r>
            <a:r>
              <a:rPr sz="1100" spc="60" dirty="0">
                <a:latin typeface="Arial"/>
                <a:cs typeface="Arial"/>
              </a:rPr>
              <a:t> </a:t>
            </a:r>
            <a:r>
              <a:rPr sz="1100" spc="-10" dirty="0">
                <a:latin typeface="Arial"/>
                <a:cs typeface="Arial"/>
              </a:rPr>
              <a:t>March </a:t>
            </a:r>
            <a:r>
              <a:rPr sz="1100" spc="-5" dirty="0">
                <a:latin typeface="Arial"/>
                <a:cs typeface="Arial"/>
              </a:rPr>
              <a:t>20,</a:t>
            </a:r>
            <a:r>
              <a:rPr sz="1100" spc="-10" dirty="0">
                <a:latin typeface="Arial"/>
                <a:cs typeface="Arial"/>
              </a:rPr>
              <a:t> 2022</a:t>
            </a:r>
            <a:endParaRPr sz="1100">
              <a:latin typeface="Arial"/>
              <a:cs typeface="Arial"/>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00563" y="3331252"/>
            <a:ext cx="241300" cy="119380"/>
          </a:xfrm>
          <a:prstGeom prst="rect">
            <a:avLst/>
          </a:prstGeom>
        </p:spPr>
        <p:txBody>
          <a:bodyPr vert="horz" wrap="square" lIns="0" tIns="8890" rIns="0" bIns="0" rtlCol="0">
            <a:spAutoFit/>
          </a:bodyPr>
          <a:lstStyle/>
          <a:p>
            <a:pPr marL="38100">
              <a:lnSpc>
                <a:spcPct val="100000"/>
              </a:lnSpc>
              <a:spcBef>
                <a:spcPts val="70"/>
              </a:spcBef>
            </a:pPr>
            <a:fld id="{81D60167-4931-47E6-BA6A-407CBD079E47}" type="slidenum">
              <a:rPr sz="600" spc="-5" dirty="0">
                <a:solidFill>
                  <a:srgbClr val="262685"/>
                </a:solidFill>
                <a:latin typeface="Arial"/>
                <a:cs typeface="Arial"/>
              </a:rPr>
              <a:t>2</a:t>
            </a:fld>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4165600" cy="262318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Introduction</a:t>
            </a:r>
            <a:r>
              <a:rPr sz="1400" spc="-40" dirty="0">
                <a:solidFill>
                  <a:srgbClr val="3333B2"/>
                </a:solidFill>
                <a:latin typeface="Arial"/>
                <a:cs typeface="Arial"/>
              </a:rPr>
              <a:t> </a:t>
            </a:r>
            <a:r>
              <a:rPr sz="1400" spc="10" dirty="0">
                <a:solidFill>
                  <a:srgbClr val="3333B2"/>
                </a:solidFill>
                <a:latin typeface="Arial"/>
                <a:cs typeface="Arial"/>
              </a:rPr>
              <a:t>to</a:t>
            </a:r>
            <a:r>
              <a:rPr sz="1400" spc="-35" dirty="0">
                <a:solidFill>
                  <a:srgbClr val="3333B2"/>
                </a:solidFill>
                <a:latin typeface="Arial"/>
                <a:cs typeface="Arial"/>
              </a:rPr>
              <a:t> </a:t>
            </a:r>
            <a:r>
              <a:rPr sz="1400" spc="15" dirty="0">
                <a:solidFill>
                  <a:srgbClr val="3333B2"/>
                </a:solidFill>
                <a:latin typeface="Arial"/>
                <a:cs typeface="Arial"/>
              </a:rPr>
              <a:t>threads</a:t>
            </a:r>
            <a:endParaRPr sz="1400" dirty="0">
              <a:latin typeface="Arial"/>
              <a:cs typeface="Arial"/>
            </a:endParaRPr>
          </a:p>
          <a:p>
            <a:pPr>
              <a:lnSpc>
                <a:spcPct val="100000"/>
              </a:lnSpc>
              <a:spcBef>
                <a:spcPts val="45"/>
              </a:spcBef>
            </a:pPr>
            <a:endParaRPr sz="2050" dirty="0">
              <a:latin typeface="Arial"/>
              <a:cs typeface="Arial"/>
            </a:endParaRPr>
          </a:p>
          <a:p>
            <a:pPr marL="264160" algn="just">
              <a:lnSpc>
                <a:spcPts val="1410"/>
              </a:lnSpc>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dirty="0">
              <a:latin typeface="Arial"/>
              <a:cs typeface="Arial"/>
            </a:endParaRPr>
          </a:p>
          <a:p>
            <a:pPr marL="258445" algn="just">
              <a:lnSpc>
                <a:spcPts val="1170"/>
              </a:lnSpc>
            </a:pPr>
            <a:r>
              <a:rPr sz="1000" spc="-30" dirty="0">
                <a:latin typeface="Arial"/>
                <a:cs typeface="Arial"/>
              </a:rPr>
              <a:t>We</a:t>
            </a:r>
            <a:r>
              <a:rPr sz="1000" spc="-5" dirty="0">
                <a:latin typeface="Arial"/>
                <a:cs typeface="Arial"/>
              </a:rPr>
              <a:t> </a:t>
            </a:r>
            <a:r>
              <a:rPr sz="1000" spc="-15" dirty="0">
                <a:latin typeface="Arial"/>
                <a:cs typeface="Arial"/>
              </a:rPr>
              <a:t>build</a:t>
            </a:r>
            <a:r>
              <a:rPr sz="1000" dirty="0">
                <a:latin typeface="Arial"/>
                <a:cs typeface="Arial"/>
              </a:rPr>
              <a:t> </a:t>
            </a:r>
            <a:r>
              <a:rPr sz="1000" spc="-5" dirty="0">
                <a:solidFill>
                  <a:srgbClr val="0000FA"/>
                </a:solidFill>
                <a:latin typeface="Arial"/>
                <a:cs typeface="Arial"/>
              </a:rPr>
              <a:t>virtual</a:t>
            </a:r>
            <a:r>
              <a:rPr sz="1000" dirty="0">
                <a:solidFill>
                  <a:srgbClr val="0000FA"/>
                </a:solidFill>
                <a:latin typeface="Arial"/>
                <a:cs typeface="Arial"/>
              </a:rPr>
              <a:t> </a:t>
            </a:r>
            <a:r>
              <a:rPr sz="1000" spc="-10" dirty="0">
                <a:solidFill>
                  <a:srgbClr val="0000FA"/>
                </a:solidFill>
                <a:latin typeface="Arial"/>
                <a:cs typeface="Arial"/>
              </a:rPr>
              <a:t>processors</a:t>
            </a:r>
            <a:r>
              <a:rPr sz="1000" dirty="0">
                <a:solidFill>
                  <a:srgbClr val="0000FA"/>
                </a:solidFill>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software,</a:t>
            </a:r>
            <a:r>
              <a:rPr sz="1000" dirty="0">
                <a:latin typeface="Arial"/>
                <a:cs typeface="Arial"/>
              </a:rPr>
              <a:t> </a:t>
            </a:r>
            <a:r>
              <a:rPr sz="1000" spc="-10" dirty="0">
                <a:latin typeface="Arial"/>
                <a:cs typeface="Arial"/>
              </a:rPr>
              <a:t>on</a:t>
            </a:r>
            <a:r>
              <a:rPr sz="1000" dirty="0">
                <a:latin typeface="Arial"/>
                <a:cs typeface="Arial"/>
              </a:rPr>
              <a:t> </a:t>
            </a:r>
            <a:r>
              <a:rPr sz="1000" spc="-10" dirty="0">
                <a:latin typeface="Arial"/>
                <a:cs typeface="Arial"/>
              </a:rPr>
              <a:t>top</a:t>
            </a:r>
            <a:r>
              <a:rPr sz="1000" spc="-5" dirty="0">
                <a:latin typeface="Arial"/>
                <a:cs typeface="Arial"/>
              </a:rPr>
              <a:t> </a:t>
            </a:r>
            <a:r>
              <a:rPr sz="1000" spc="-10" dirty="0">
                <a:latin typeface="Arial"/>
                <a:cs typeface="Arial"/>
              </a:rPr>
              <a:t>of</a:t>
            </a:r>
            <a:r>
              <a:rPr sz="1000" dirty="0">
                <a:latin typeface="Arial"/>
                <a:cs typeface="Arial"/>
              </a:rPr>
              <a:t> </a:t>
            </a:r>
            <a:r>
              <a:rPr sz="1000" spc="-15" dirty="0">
                <a:latin typeface="Arial"/>
                <a:cs typeface="Arial"/>
              </a:rPr>
              <a:t>physical</a:t>
            </a:r>
            <a:r>
              <a:rPr sz="1000" dirty="0">
                <a:latin typeface="Arial"/>
                <a:cs typeface="Arial"/>
              </a:rPr>
              <a:t> </a:t>
            </a:r>
            <a:r>
              <a:rPr sz="1000" spc="-10" dirty="0">
                <a:latin typeface="Arial"/>
                <a:cs typeface="Arial"/>
              </a:rPr>
              <a:t>processors:</a:t>
            </a:r>
            <a:endParaRPr sz="1000" dirty="0">
              <a:latin typeface="Arial"/>
              <a:cs typeface="Arial"/>
            </a:endParaRPr>
          </a:p>
          <a:p>
            <a:pPr marL="1053465" marR="5080" indent="-674370" algn="just">
              <a:lnSpc>
                <a:spcPct val="100000"/>
              </a:lnSpc>
              <a:spcBef>
                <a:spcPts val="595"/>
              </a:spcBef>
            </a:pPr>
            <a:r>
              <a:rPr sz="1000" spc="-5" dirty="0">
                <a:solidFill>
                  <a:srgbClr val="FA0000"/>
                </a:solidFill>
                <a:latin typeface="Arial"/>
                <a:cs typeface="Arial"/>
              </a:rPr>
              <a:t>Processor</a:t>
            </a:r>
            <a:r>
              <a:rPr sz="1000" spc="-5" dirty="0">
                <a:solidFill>
                  <a:srgbClr val="3333B2"/>
                </a:solidFill>
                <a:latin typeface="Arial"/>
                <a:cs typeface="Arial"/>
              </a:rPr>
              <a:t>:</a:t>
            </a:r>
            <a:r>
              <a:rPr sz="1000" dirty="0">
                <a:solidFill>
                  <a:srgbClr val="3333B2"/>
                </a:solidFill>
                <a:latin typeface="Arial"/>
                <a:cs typeface="Arial"/>
              </a:rPr>
              <a:t> </a:t>
            </a:r>
            <a:r>
              <a:rPr sz="1000" spc="-15" dirty="0">
                <a:latin typeface="Arial"/>
                <a:cs typeface="Arial"/>
              </a:rPr>
              <a:t>Provides </a:t>
            </a:r>
            <a:r>
              <a:rPr sz="1000" spc="-10" dirty="0">
                <a:latin typeface="Arial"/>
                <a:cs typeface="Arial"/>
              </a:rPr>
              <a:t>a set of instructions along with the capability of </a:t>
            </a:r>
            <a:r>
              <a:rPr sz="1000" spc="-265" dirty="0">
                <a:latin typeface="Arial"/>
                <a:cs typeface="Arial"/>
              </a:rPr>
              <a:t> </a:t>
            </a:r>
            <a:r>
              <a:rPr sz="1000" spc="-5" dirty="0">
                <a:latin typeface="Arial"/>
                <a:cs typeface="Arial"/>
              </a:rPr>
              <a:t>automatically</a:t>
            </a:r>
            <a:r>
              <a:rPr sz="1000" dirty="0">
                <a:latin typeface="Arial"/>
                <a:cs typeface="Arial"/>
              </a:rPr>
              <a:t> </a:t>
            </a:r>
            <a:r>
              <a:rPr sz="1000" spc="-10" dirty="0">
                <a:latin typeface="Arial"/>
                <a:cs typeface="Arial"/>
              </a:rPr>
              <a:t>executing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series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those</a:t>
            </a:r>
            <a:r>
              <a:rPr sz="1000" dirty="0">
                <a:latin typeface="Arial"/>
                <a:cs typeface="Arial"/>
              </a:rPr>
              <a:t> </a:t>
            </a:r>
            <a:r>
              <a:rPr sz="1000" spc="-5" dirty="0">
                <a:latin typeface="Arial"/>
                <a:cs typeface="Arial"/>
              </a:rPr>
              <a:t>instructions.</a:t>
            </a:r>
            <a:endParaRPr sz="1000" dirty="0">
              <a:latin typeface="Arial"/>
              <a:cs typeface="Arial"/>
            </a:endParaRPr>
          </a:p>
          <a:p>
            <a:pPr marL="1053465" marR="5080" indent="-505459" algn="just">
              <a:lnSpc>
                <a:spcPct val="100000"/>
              </a:lnSpc>
              <a:spcBef>
                <a:spcPts val="585"/>
              </a:spcBef>
            </a:pPr>
            <a:r>
              <a:rPr sz="1000" spc="-5" dirty="0">
                <a:solidFill>
                  <a:srgbClr val="FA0000"/>
                </a:solidFill>
                <a:latin typeface="Arial"/>
                <a:cs typeface="Arial"/>
              </a:rPr>
              <a:t>Thread</a:t>
            </a:r>
            <a:r>
              <a:rPr sz="1000" spc="-5" dirty="0">
                <a:solidFill>
                  <a:srgbClr val="3333B2"/>
                </a:solidFill>
                <a:latin typeface="Arial"/>
                <a:cs typeface="Arial"/>
              </a:rPr>
              <a:t>:</a:t>
            </a:r>
            <a:r>
              <a:rPr sz="1000" dirty="0">
                <a:solidFill>
                  <a:srgbClr val="3333B2"/>
                </a:solidFill>
                <a:latin typeface="Arial"/>
                <a:cs typeface="Arial"/>
              </a:rPr>
              <a:t> </a:t>
            </a:r>
            <a:r>
              <a:rPr sz="1000" spc="-10" dirty="0">
                <a:latin typeface="Arial"/>
                <a:cs typeface="Arial"/>
              </a:rPr>
              <a:t>A </a:t>
            </a:r>
            <a:r>
              <a:rPr sz="1000" spc="-5" dirty="0">
                <a:latin typeface="Arial"/>
                <a:cs typeface="Arial"/>
              </a:rPr>
              <a:t>minimal </a:t>
            </a:r>
            <a:r>
              <a:rPr sz="1000" spc="-10" dirty="0">
                <a:latin typeface="Arial"/>
                <a:cs typeface="Arial"/>
              </a:rPr>
              <a:t>software </a:t>
            </a:r>
            <a:r>
              <a:rPr sz="1000" spc="-5" dirty="0">
                <a:latin typeface="Arial"/>
                <a:cs typeface="Arial"/>
              </a:rPr>
              <a:t>processor in whose </a:t>
            </a:r>
            <a:r>
              <a:rPr sz="1000" spc="-10" dirty="0">
                <a:solidFill>
                  <a:srgbClr val="0000FA"/>
                </a:solidFill>
                <a:latin typeface="Arial"/>
                <a:cs typeface="Arial"/>
              </a:rPr>
              <a:t>context </a:t>
            </a:r>
            <a:r>
              <a:rPr sz="1000" spc="-5" dirty="0">
                <a:latin typeface="Arial"/>
                <a:cs typeface="Arial"/>
              </a:rPr>
              <a:t>a series </a:t>
            </a:r>
            <a:r>
              <a:rPr sz="1000" spc="-265" dirty="0">
                <a:latin typeface="Arial"/>
                <a:cs typeface="Arial"/>
              </a:rPr>
              <a:t> </a:t>
            </a:r>
            <a:r>
              <a:rPr sz="1000" spc="-10" dirty="0">
                <a:latin typeface="Arial"/>
                <a:cs typeface="Arial"/>
              </a:rPr>
              <a:t>of instructions </a:t>
            </a:r>
            <a:r>
              <a:rPr sz="1000" spc="-15" dirty="0">
                <a:latin typeface="Arial"/>
                <a:cs typeface="Arial"/>
              </a:rPr>
              <a:t>can be </a:t>
            </a:r>
            <a:r>
              <a:rPr sz="1000" spc="-20" dirty="0">
                <a:latin typeface="Arial"/>
                <a:cs typeface="Arial"/>
              </a:rPr>
              <a:t>executed. </a:t>
            </a:r>
            <a:r>
              <a:rPr sz="1000" spc="-15" dirty="0">
                <a:latin typeface="Arial"/>
                <a:cs typeface="Arial"/>
              </a:rPr>
              <a:t>Saving a </a:t>
            </a:r>
            <a:r>
              <a:rPr sz="1000" spc="-10" dirty="0">
                <a:latin typeface="Arial"/>
                <a:cs typeface="Arial"/>
              </a:rPr>
              <a:t>thread </a:t>
            </a:r>
            <a:r>
              <a:rPr sz="1000" spc="-15" dirty="0">
                <a:latin typeface="Arial"/>
                <a:cs typeface="Arial"/>
              </a:rPr>
              <a:t>context </a:t>
            </a:r>
            <a:r>
              <a:rPr sz="1000" spc="-265" dirty="0">
                <a:latin typeface="Arial"/>
                <a:cs typeface="Arial"/>
              </a:rPr>
              <a:t> </a:t>
            </a:r>
            <a:r>
              <a:rPr sz="1000" spc="-10" dirty="0">
                <a:latin typeface="Arial"/>
                <a:cs typeface="Arial"/>
              </a:rPr>
              <a:t>implies stopping the current </a:t>
            </a:r>
            <a:r>
              <a:rPr sz="1000" spc="-15" dirty="0">
                <a:latin typeface="Arial"/>
                <a:cs typeface="Arial"/>
              </a:rPr>
              <a:t>execution </a:t>
            </a:r>
            <a:r>
              <a:rPr sz="1000" spc="-10" dirty="0">
                <a:latin typeface="Arial"/>
                <a:cs typeface="Arial"/>
              </a:rPr>
              <a:t>and </a:t>
            </a:r>
            <a:r>
              <a:rPr sz="1000" spc="-15" dirty="0">
                <a:latin typeface="Arial"/>
                <a:cs typeface="Arial"/>
              </a:rPr>
              <a:t>saving </a:t>
            </a:r>
            <a:r>
              <a:rPr sz="1000" spc="-10" dirty="0">
                <a:latin typeface="Arial"/>
                <a:cs typeface="Arial"/>
              </a:rPr>
              <a:t>all the </a:t>
            </a:r>
            <a:r>
              <a:rPr sz="1000" spc="-265" dirty="0">
                <a:latin typeface="Arial"/>
                <a:cs typeface="Arial"/>
              </a:rPr>
              <a:t> </a:t>
            </a:r>
            <a:r>
              <a:rPr sz="1000" spc="-5" dirty="0">
                <a:latin typeface="Arial"/>
                <a:cs typeface="Arial"/>
              </a:rPr>
              <a:t>data needed to continue the </a:t>
            </a:r>
            <a:r>
              <a:rPr sz="1000" spc="-10" dirty="0">
                <a:latin typeface="Arial"/>
                <a:cs typeface="Arial"/>
              </a:rPr>
              <a:t>execution</a:t>
            </a:r>
            <a:r>
              <a:rPr sz="1000" spc="-5" dirty="0">
                <a:latin typeface="Arial"/>
                <a:cs typeface="Arial"/>
              </a:rPr>
              <a:t> at a later stage.</a:t>
            </a:r>
            <a:endParaRPr sz="1000" dirty="0">
              <a:latin typeface="Arial"/>
              <a:cs typeface="Arial"/>
            </a:endParaRPr>
          </a:p>
          <a:p>
            <a:pPr marL="1053465" marR="100965" indent="-561975">
              <a:lnSpc>
                <a:spcPct val="100000"/>
              </a:lnSpc>
              <a:spcBef>
                <a:spcPts val="580"/>
              </a:spcBef>
            </a:pPr>
            <a:r>
              <a:rPr sz="1000" spc="-5" dirty="0">
                <a:solidFill>
                  <a:srgbClr val="FA0000"/>
                </a:solidFill>
                <a:latin typeface="Arial"/>
                <a:cs typeface="Arial"/>
              </a:rPr>
              <a:t>Process</a:t>
            </a:r>
            <a:r>
              <a:rPr sz="1000" spc="-5" dirty="0">
                <a:solidFill>
                  <a:srgbClr val="3333B2"/>
                </a:solidFill>
                <a:latin typeface="Arial"/>
                <a:cs typeface="Arial"/>
              </a:rPr>
              <a:t>:</a:t>
            </a:r>
            <a:r>
              <a:rPr sz="1000" dirty="0">
                <a:solidFill>
                  <a:srgbClr val="3333B2"/>
                </a:solidFill>
                <a:latin typeface="Arial"/>
                <a:cs typeface="Arial"/>
              </a:rPr>
              <a:t> </a:t>
            </a:r>
            <a:r>
              <a:rPr sz="1000" spc="-5" dirty="0">
                <a:latin typeface="Arial"/>
                <a:cs typeface="Arial"/>
              </a:rPr>
              <a:t>A software</a:t>
            </a:r>
            <a:r>
              <a:rPr sz="1000" dirty="0">
                <a:latin typeface="Arial"/>
                <a:cs typeface="Arial"/>
              </a:rPr>
              <a:t> </a:t>
            </a:r>
            <a:r>
              <a:rPr sz="1000" spc="-5" dirty="0">
                <a:latin typeface="Arial"/>
                <a:cs typeface="Arial"/>
              </a:rPr>
              <a:t>processor in</a:t>
            </a:r>
            <a:r>
              <a:rPr sz="1000" dirty="0">
                <a:latin typeface="Arial"/>
                <a:cs typeface="Arial"/>
              </a:rPr>
              <a:t> </a:t>
            </a:r>
            <a:r>
              <a:rPr sz="1000" spc="-5" dirty="0">
                <a:latin typeface="Arial"/>
                <a:cs typeface="Arial"/>
              </a:rPr>
              <a:t>whose </a:t>
            </a:r>
            <a:r>
              <a:rPr sz="1000" spc="-10" dirty="0">
                <a:latin typeface="Arial"/>
                <a:cs typeface="Arial"/>
              </a:rPr>
              <a:t>context</a:t>
            </a:r>
            <a:r>
              <a:rPr sz="1000" dirty="0">
                <a:latin typeface="Arial"/>
                <a:cs typeface="Arial"/>
              </a:rPr>
              <a:t> </a:t>
            </a:r>
            <a:r>
              <a:rPr sz="1000" spc="-5" dirty="0">
                <a:latin typeface="Arial"/>
                <a:cs typeface="Arial"/>
              </a:rPr>
              <a:t>one</a:t>
            </a:r>
            <a:r>
              <a:rPr sz="1000" dirty="0">
                <a:latin typeface="Arial"/>
                <a:cs typeface="Arial"/>
              </a:rPr>
              <a:t> </a:t>
            </a:r>
            <a:r>
              <a:rPr sz="1000" spc="-5" dirty="0">
                <a:latin typeface="Arial"/>
                <a:cs typeface="Arial"/>
              </a:rPr>
              <a:t>or more </a:t>
            </a:r>
            <a:r>
              <a:rPr sz="1000" dirty="0">
                <a:latin typeface="Arial"/>
                <a:cs typeface="Arial"/>
              </a:rPr>
              <a:t> </a:t>
            </a:r>
            <a:r>
              <a:rPr sz="1000" spc="-5" dirty="0">
                <a:latin typeface="Arial"/>
                <a:cs typeface="Arial"/>
              </a:rPr>
              <a:t>threads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10" dirty="0">
                <a:latin typeface="Arial"/>
                <a:cs typeface="Arial"/>
              </a:rPr>
              <a:t>executed.</a:t>
            </a:r>
            <a:r>
              <a:rPr sz="1000" spc="65" dirty="0">
                <a:latin typeface="Arial"/>
                <a:cs typeface="Arial"/>
              </a:rPr>
              <a:t> </a:t>
            </a:r>
            <a:r>
              <a:rPr sz="1000" spc="-10" dirty="0">
                <a:latin typeface="Arial"/>
                <a:cs typeface="Arial"/>
              </a:rPr>
              <a:t>Executing</a:t>
            </a:r>
            <a:r>
              <a:rPr sz="1000" dirty="0">
                <a:latin typeface="Arial"/>
                <a:cs typeface="Arial"/>
              </a:rPr>
              <a:t> </a:t>
            </a:r>
            <a:r>
              <a:rPr sz="1000" spc="-5" dirty="0">
                <a:latin typeface="Arial"/>
                <a:cs typeface="Arial"/>
              </a:rPr>
              <a:t>a thread,</a:t>
            </a:r>
            <a:r>
              <a:rPr sz="1000" dirty="0">
                <a:latin typeface="Arial"/>
                <a:cs typeface="Arial"/>
              </a:rPr>
              <a:t> </a:t>
            </a:r>
            <a:r>
              <a:rPr sz="1000" spc="-5" dirty="0">
                <a:latin typeface="Arial"/>
                <a:cs typeface="Arial"/>
              </a:rPr>
              <a:t>means </a:t>
            </a:r>
            <a:r>
              <a:rPr sz="1000" spc="-260" dirty="0">
                <a:latin typeface="Arial"/>
                <a:cs typeface="Arial"/>
              </a:rPr>
              <a:t> </a:t>
            </a:r>
            <a:r>
              <a:rPr sz="1000" spc="-10" dirty="0">
                <a:latin typeface="Arial"/>
                <a:cs typeface="Arial"/>
              </a:rPr>
              <a:t>executing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series</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instructions</a:t>
            </a:r>
            <a:r>
              <a:rPr sz="1000" spc="5"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context</a:t>
            </a:r>
            <a:r>
              <a:rPr sz="1000"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that </a:t>
            </a:r>
            <a:r>
              <a:rPr sz="1000" spc="-265" dirty="0">
                <a:latin typeface="Arial"/>
                <a:cs typeface="Arial"/>
              </a:rPr>
              <a:t> </a:t>
            </a:r>
            <a:r>
              <a:rPr sz="1000" spc="-5" dirty="0">
                <a:latin typeface="Arial"/>
                <a:cs typeface="Arial"/>
              </a:rPr>
              <a:t>thread.</a:t>
            </a:r>
            <a:endParaRPr sz="1000" dirty="0">
              <a:latin typeface="Arial"/>
              <a:cs typeface="Arial"/>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2"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Introduction</a:t>
            </a:r>
            <a:r>
              <a:rPr sz="600" spc="-1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to</a:t>
            </a:r>
            <a:r>
              <a:rPr sz="600" spc="-1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threads</a:t>
            </a:r>
            <a:endParaRPr sz="600">
              <a:latin typeface="Arial"/>
              <a:cs typeface="Arial"/>
            </a:endParaRPr>
          </a:p>
        </p:txBody>
      </p:sp>
      <p:sp>
        <p:nvSpPr>
          <p:cNvPr id="4" name="object 4"/>
          <p:cNvSpPr txBox="1"/>
          <p:nvPr/>
        </p:nvSpPr>
        <p:spPr>
          <a:xfrm>
            <a:off x="82600" y="188846"/>
            <a:ext cx="4214495" cy="1458595"/>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Context</a:t>
            </a:r>
            <a:r>
              <a:rPr sz="1400" spc="-40" dirty="0">
                <a:solidFill>
                  <a:srgbClr val="3333B2"/>
                </a:solidFill>
                <a:latin typeface="Arial"/>
                <a:cs typeface="Arial"/>
              </a:rPr>
              <a:t> </a:t>
            </a:r>
            <a:r>
              <a:rPr sz="1400" spc="10" dirty="0">
                <a:solidFill>
                  <a:srgbClr val="3333B2"/>
                </a:solidFill>
                <a:latin typeface="Arial"/>
                <a:cs typeface="Arial"/>
              </a:rPr>
              <a:t>switching</a:t>
            </a:r>
            <a:endParaRPr sz="1400">
              <a:latin typeface="Arial"/>
              <a:cs typeface="Arial"/>
            </a:endParaRPr>
          </a:p>
          <a:p>
            <a:pPr>
              <a:lnSpc>
                <a:spcPct val="100000"/>
              </a:lnSpc>
              <a:spcBef>
                <a:spcPts val="40"/>
              </a:spcBef>
            </a:pPr>
            <a:endParaRPr sz="2400">
              <a:latin typeface="Arial"/>
              <a:cs typeface="Arial"/>
            </a:endParaRPr>
          </a:p>
          <a:p>
            <a:pPr marL="276860">
              <a:lnSpc>
                <a:spcPct val="100000"/>
              </a:lnSpc>
            </a:pPr>
            <a:r>
              <a:rPr sz="1200" spc="-10" dirty="0">
                <a:solidFill>
                  <a:srgbClr val="3333B2"/>
                </a:solidFill>
                <a:latin typeface="Arial"/>
                <a:cs typeface="Arial"/>
              </a:rPr>
              <a:t>Contexts</a:t>
            </a:r>
            <a:endParaRPr sz="1200">
              <a:latin typeface="Arial"/>
              <a:cs typeface="Arial"/>
            </a:endParaRPr>
          </a:p>
          <a:p>
            <a:pPr marL="554355" marR="43180" indent="-168275">
              <a:lnSpc>
                <a:spcPct val="100000"/>
              </a:lnSpc>
              <a:spcBef>
                <a:spcPts val="540"/>
              </a:spcBef>
              <a:buClr>
                <a:srgbClr val="3333B2"/>
              </a:buClr>
              <a:buChar char="►"/>
              <a:tabLst>
                <a:tab pos="554990" algn="l"/>
              </a:tabLst>
            </a:pPr>
            <a:r>
              <a:rPr sz="1000" spc="-5" dirty="0">
                <a:solidFill>
                  <a:srgbClr val="FA0000"/>
                </a:solidFill>
                <a:latin typeface="Arial"/>
                <a:cs typeface="Arial"/>
              </a:rPr>
              <a:t>Processor</a:t>
            </a:r>
            <a:r>
              <a:rPr sz="1000" spc="5"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7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spc="5" dirty="0">
                <a:latin typeface="Arial"/>
                <a:cs typeface="Arial"/>
              </a:rPr>
              <a:t> </a:t>
            </a:r>
            <a:r>
              <a:rPr sz="1000" spc="-5" dirty="0">
                <a:latin typeface="Arial"/>
                <a:cs typeface="Arial"/>
              </a:rPr>
              <a:t>of</a:t>
            </a:r>
            <a:r>
              <a:rPr sz="1000" spc="5" dirty="0">
                <a:latin typeface="Arial"/>
                <a:cs typeface="Arial"/>
              </a:rPr>
              <a:t> </a:t>
            </a:r>
            <a:r>
              <a:rPr sz="1000" spc="-10" dirty="0">
                <a:latin typeface="Arial"/>
                <a:cs typeface="Arial"/>
              </a:rPr>
              <a:t>values</a:t>
            </a:r>
            <a:r>
              <a:rPr sz="1000" spc="5"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registers of</a:t>
            </a:r>
            <a:r>
              <a:rPr sz="1000" dirty="0">
                <a:latin typeface="Arial"/>
                <a:cs typeface="Arial"/>
              </a:rPr>
              <a:t> </a:t>
            </a:r>
            <a:r>
              <a:rPr sz="1000" spc="-5" dirty="0">
                <a:latin typeface="Arial"/>
                <a:cs typeface="Arial"/>
              </a:rPr>
              <a:t>a processor</a:t>
            </a:r>
            <a:r>
              <a:rPr sz="1000" dirty="0">
                <a:latin typeface="Arial"/>
                <a:cs typeface="Arial"/>
              </a:rPr>
              <a:t> </a:t>
            </a:r>
            <a:r>
              <a:rPr sz="1000" spc="-5" dirty="0">
                <a:latin typeface="Arial"/>
                <a:cs typeface="Arial"/>
              </a:rPr>
              <a:t>used</a:t>
            </a:r>
            <a:r>
              <a:rPr sz="1000" dirty="0">
                <a:latin typeface="Arial"/>
                <a:cs typeface="Arial"/>
              </a:rPr>
              <a:t> </a:t>
            </a:r>
            <a:r>
              <a:rPr sz="1000" spc="-15" dirty="0">
                <a:latin typeface="Arial"/>
                <a:cs typeface="Arial"/>
              </a:rPr>
              <a:t>for</a:t>
            </a:r>
            <a:r>
              <a:rPr sz="1000" spc="-5" dirty="0">
                <a:latin typeface="Arial"/>
                <a:cs typeface="Arial"/>
              </a:rPr>
              <a:t> the</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 a</a:t>
            </a:r>
            <a:r>
              <a:rPr sz="1000" dirty="0">
                <a:latin typeface="Arial"/>
                <a:cs typeface="Arial"/>
              </a:rPr>
              <a:t> </a:t>
            </a:r>
            <a:r>
              <a:rPr sz="1000" spc="-5" dirty="0">
                <a:latin typeface="Arial"/>
                <a:cs typeface="Arial"/>
              </a:rPr>
              <a:t>series of </a:t>
            </a:r>
            <a:r>
              <a:rPr sz="1000" dirty="0">
                <a:latin typeface="Arial"/>
                <a:cs typeface="Arial"/>
              </a:rPr>
              <a:t> </a:t>
            </a:r>
            <a:r>
              <a:rPr sz="1000" spc="-5" dirty="0">
                <a:latin typeface="Arial"/>
                <a:cs typeface="Arial"/>
              </a:rPr>
              <a:t>instructions (e.g.,</a:t>
            </a:r>
            <a:r>
              <a:rPr sz="1000" dirty="0">
                <a:latin typeface="Arial"/>
                <a:cs typeface="Arial"/>
              </a:rPr>
              <a:t> </a:t>
            </a:r>
            <a:r>
              <a:rPr sz="1000" spc="-10" dirty="0">
                <a:latin typeface="Arial"/>
                <a:cs typeface="Arial"/>
              </a:rPr>
              <a:t>stack</a:t>
            </a:r>
            <a:r>
              <a:rPr sz="1000" dirty="0">
                <a:latin typeface="Arial"/>
                <a:cs typeface="Arial"/>
              </a:rPr>
              <a:t> </a:t>
            </a:r>
            <a:r>
              <a:rPr sz="1000" spc="-10" dirty="0">
                <a:latin typeface="Arial"/>
                <a:cs typeface="Arial"/>
              </a:rPr>
              <a:t>pointer,</a:t>
            </a:r>
            <a:r>
              <a:rPr sz="1000" dirty="0">
                <a:latin typeface="Arial"/>
                <a:cs typeface="Arial"/>
              </a:rPr>
              <a:t> </a:t>
            </a:r>
            <a:r>
              <a:rPr sz="1000" spc="-5" dirty="0">
                <a:latin typeface="Arial"/>
                <a:cs typeface="Arial"/>
              </a:rPr>
              <a:t>addressing</a:t>
            </a:r>
            <a:r>
              <a:rPr sz="1000" dirty="0">
                <a:latin typeface="Arial"/>
                <a:cs typeface="Arial"/>
              </a:rPr>
              <a:t> </a:t>
            </a:r>
            <a:r>
              <a:rPr sz="1000" spc="-5" dirty="0">
                <a:latin typeface="Arial"/>
                <a:cs typeface="Arial"/>
              </a:rPr>
              <a:t>registers,</a:t>
            </a:r>
            <a:r>
              <a:rPr sz="1000" dirty="0">
                <a:latin typeface="Arial"/>
                <a:cs typeface="Arial"/>
              </a:rPr>
              <a:t> </a:t>
            </a:r>
            <a:r>
              <a:rPr sz="1000" spc="-5" dirty="0">
                <a:latin typeface="Arial"/>
                <a:cs typeface="Arial"/>
              </a:rPr>
              <a:t>program </a:t>
            </a:r>
            <a:r>
              <a:rPr sz="1000" dirty="0">
                <a:latin typeface="Arial"/>
                <a:cs typeface="Arial"/>
              </a:rPr>
              <a:t> </a:t>
            </a:r>
            <a:r>
              <a:rPr sz="1000" spc="-5" dirty="0">
                <a:latin typeface="Arial"/>
                <a:cs typeface="Arial"/>
              </a:rPr>
              <a:t>counter).</a:t>
            </a:r>
            <a:endParaRPr sz="1000">
              <a:latin typeface="Arial"/>
              <a:cs typeface="Arial"/>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2"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Introduction</a:t>
            </a:r>
            <a:r>
              <a:rPr sz="600" spc="-15"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to</a:t>
            </a:r>
            <a:r>
              <a:rPr sz="600" spc="-1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threads</a:t>
            </a:r>
            <a:endParaRPr sz="600">
              <a:latin typeface="Arial"/>
              <a:cs typeface="Arial"/>
            </a:endParaRPr>
          </a:p>
        </p:txBody>
      </p:sp>
      <p:sp>
        <p:nvSpPr>
          <p:cNvPr id="4" name="object 4"/>
          <p:cNvSpPr txBox="1"/>
          <p:nvPr/>
        </p:nvSpPr>
        <p:spPr>
          <a:xfrm>
            <a:off x="82600" y="188846"/>
            <a:ext cx="4214495" cy="1990089"/>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Context</a:t>
            </a:r>
            <a:r>
              <a:rPr sz="1400" spc="-40" dirty="0">
                <a:solidFill>
                  <a:srgbClr val="3333B2"/>
                </a:solidFill>
                <a:latin typeface="Arial"/>
                <a:cs typeface="Arial"/>
              </a:rPr>
              <a:t> </a:t>
            </a:r>
            <a:r>
              <a:rPr sz="1400" spc="10" dirty="0">
                <a:solidFill>
                  <a:srgbClr val="3333B2"/>
                </a:solidFill>
                <a:latin typeface="Arial"/>
                <a:cs typeface="Arial"/>
              </a:rPr>
              <a:t>switching</a:t>
            </a:r>
            <a:endParaRPr sz="1400">
              <a:latin typeface="Arial"/>
              <a:cs typeface="Arial"/>
            </a:endParaRPr>
          </a:p>
          <a:p>
            <a:pPr>
              <a:lnSpc>
                <a:spcPct val="100000"/>
              </a:lnSpc>
              <a:spcBef>
                <a:spcPts val="40"/>
              </a:spcBef>
            </a:pPr>
            <a:endParaRPr sz="2400">
              <a:latin typeface="Arial"/>
              <a:cs typeface="Arial"/>
            </a:endParaRPr>
          </a:p>
          <a:p>
            <a:pPr marL="276860">
              <a:lnSpc>
                <a:spcPct val="100000"/>
              </a:lnSpc>
            </a:pPr>
            <a:r>
              <a:rPr sz="1200" spc="-10" dirty="0">
                <a:solidFill>
                  <a:srgbClr val="3333B2"/>
                </a:solidFill>
                <a:latin typeface="Arial"/>
                <a:cs typeface="Arial"/>
              </a:rPr>
              <a:t>Contexts</a:t>
            </a:r>
            <a:endParaRPr sz="1200">
              <a:latin typeface="Arial"/>
              <a:cs typeface="Arial"/>
            </a:endParaRPr>
          </a:p>
          <a:p>
            <a:pPr marL="554355" marR="43180" indent="-168275">
              <a:lnSpc>
                <a:spcPct val="100000"/>
              </a:lnSpc>
              <a:spcBef>
                <a:spcPts val="540"/>
              </a:spcBef>
              <a:buClr>
                <a:srgbClr val="3333B2"/>
              </a:buClr>
              <a:buChar char="►"/>
              <a:tabLst>
                <a:tab pos="554990" algn="l"/>
              </a:tabLst>
            </a:pPr>
            <a:r>
              <a:rPr sz="1000" spc="-5" dirty="0">
                <a:solidFill>
                  <a:srgbClr val="FA0000"/>
                </a:solidFill>
                <a:latin typeface="Arial"/>
                <a:cs typeface="Arial"/>
              </a:rPr>
              <a:t>Processor</a:t>
            </a:r>
            <a:r>
              <a:rPr sz="1000" spc="5"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7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spc="5" dirty="0">
                <a:latin typeface="Arial"/>
                <a:cs typeface="Arial"/>
              </a:rPr>
              <a:t> </a:t>
            </a:r>
            <a:r>
              <a:rPr sz="1000" spc="-5" dirty="0">
                <a:latin typeface="Arial"/>
                <a:cs typeface="Arial"/>
              </a:rPr>
              <a:t>of</a:t>
            </a:r>
            <a:r>
              <a:rPr sz="1000" spc="5" dirty="0">
                <a:latin typeface="Arial"/>
                <a:cs typeface="Arial"/>
              </a:rPr>
              <a:t> </a:t>
            </a:r>
            <a:r>
              <a:rPr sz="1000" spc="-10" dirty="0">
                <a:latin typeface="Arial"/>
                <a:cs typeface="Arial"/>
              </a:rPr>
              <a:t>values</a:t>
            </a:r>
            <a:r>
              <a:rPr sz="1000" spc="5"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registers of</a:t>
            </a:r>
            <a:r>
              <a:rPr sz="1000" dirty="0">
                <a:latin typeface="Arial"/>
                <a:cs typeface="Arial"/>
              </a:rPr>
              <a:t> </a:t>
            </a:r>
            <a:r>
              <a:rPr sz="1000" spc="-5" dirty="0">
                <a:latin typeface="Arial"/>
                <a:cs typeface="Arial"/>
              </a:rPr>
              <a:t>a processor</a:t>
            </a:r>
            <a:r>
              <a:rPr sz="1000" dirty="0">
                <a:latin typeface="Arial"/>
                <a:cs typeface="Arial"/>
              </a:rPr>
              <a:t> </a:t>
            </a:r>
            <a:r>
              <a:rPr sz="1000" spc="-5" dirty="0">
                <a:latin typeface="Arial"/>
                <a:cs typeface="Arial"/>
              </a:rPr>
              <a:t>used</a:t>
            </a:r>
            <a:r>
              <a:rPr sz="1000" dirty="0">
                <a:latin typeface="Arial"/>
                <a:cs typeface="Arial"/>
              </a:rPr>
              <a:t> </a:t>
            </a:r>
            <a:r>
              <a:rPr sz="1000" spc="-15" dirty="0">
                <a:latin typeface="Arial"/>
                <a:cs typeface="Arial"/>
              </a:rPr>
              <a:t>for</a:t>
            </a:r>
            <a:r>
              <a:rPr sz="1000" spc="-5" dirty="0">
                <a:latin typeface="Arial"/>
                <a:cs typeface="Arial"/>
              </a:rPr>
              <a:t> the</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 a</a:t>
            </a:r>
            <a:r>
              <a:rPr sz="1000" dirty="0">
                <a:latin typeface="Arial"/>
                <a:cs typeface="Arial"/>
              </a:rPr>
              <a:t> </a:t>
            </a:r>
            <a:r>
              <a:rPr sz="1000" spc="-5" dirty="0">
                <a:latin typeface="Arial"/>
                <a:cs typeface="Arial"/>
              </a:rPr>
              <a:t>series of </a:t>
            </a:r>
            <a:r>
              <a:rPr sz="1000" dirty="0">
                <a:latin typeface="Arial"/>
                <a:cs typeface="Arial"/>
              </a:rPr>
              <a:t> </a:t>
            </a:r>
            <a:r>
              <a:rPr sz="1000" spc="-5" dirty="0">
                <a:latin typeface="Arial"/>
                <a:cs typeface="Arial"/>
              </a:rPr>
              <a:t>instructions (e.g.,</a:t>
            </a:r>
            <a:r>
              <a:rPr sz="1000" dirty="0">
                <a:latin typeface="Arial"/>
                <a:cs typeface="Arial"/>
              </a:rPr>
              <a:t> </a:t>
            </a:r>
            <a:r>
              <a:rPr sz="1000" spc="-10" dirty="0">
                <a:latin typeface="Arial"/>
                <a:cs typeface="Arial"/>
              </a:rPr>
              <a:t>stack</a:t>
            </a:r>
            <a:r>
              <a:rPr sz="1000" dirty="0">
                <a:latin typeface="Arial"/>
                <a:cs typeface="Arial"/>
              </a:rPr>
              <a:t> </a:t>
            </a:r>
            <a:r>
              <a:rPr sz="1000" spc="-10" dirty="0">
                <a:latin typeface="Arial"/>
                <a:cs typeface="Arial"/>
              </a:rPr>
              <a:t>pointer,</a:t>
            </a:r>
            <a:r>
              <a:rPr sz="1000" dirty="0">
                <a:latin typeface="Arial"/>
                <a:cs typeface="Arial"/>
              </a:rPr>
              <a:t> </a:t>
            </a:r>
            <a:r>
              <a:rPr sz="1000" spc="-5" dirty="0">
                <a:latin typeface="Arial"/>
                <a:cs typeface="Arial"/>
              </a:rPr>
              <a:t>addressing</a:t>
            </a:r>
            <a:r>
              <a:rPr sz="1000" dirty="0">
                <a:latin typeface="Arial"/>
                <a:cs typeface="Arial"/>
              </a:rPr>
              <a:t> </a:t>
            </a:r>
            <a:r>
              <a:rPr sz="1000" spc="-5" dirty="0">
                <a:latin typeface="Arial"/>
                <a:cs typeface="Arial"/>
              </a:rPr>
              <a:t>registers,</a:t>
            </a:r>
            <a:r>
              <a:rPr sz="1000" dirty="0">
                <a:latin typeface="Arial"/>
                <a:cs typeface="Arial"/>
              </a:rPr>
              <a:t> </a:t>
            </a:r>
            <a:r>
              <a:rPr sz="1000" spc="-5" dirty="0">
                <a:latin typeface="Arial"/>
                <a:cs typeface="Arial"/>
              </a:rPr>
              <a:t>program </a:t>
            </a:r>
            <a:r>
              <a:rPr sz="1000" dirty="0">
                <a:latin typeface="Arial"/>
                <a:cs typeface="Arial"/>
              </a:rPr>
              <a:t> </a:t>
            </a:r>
            <a:r>
              <a:rPr sz="1000" spc="-5" dirty="0">
                <a:latin typeface="Arial"/>
                <a:cs typeface="Arial"/>
              </a:rPr>
              <a:t>counter).</a:t>
            </a:r>
            <a:endParaRPr sz="1000">
              <a:latin typeface="Arial"/>
              <a:cs typeface="Arial"/>
            </a:endParaRPr>
          </a:p>
          <a:p>
            <a:pPr marL="554355" marR="372110" indent="-168275">
              <a:lnSpc>
                <a:spcPct val="100000"/>
              </a:lnSpc>
              <a:spcBef>
                <a:spcPts val="580"/>
              </a:spcBef>
              <a:buClr>
                <a:srgbClr val="3333B2"/>
              </a:buClr>
              <a:buChar char="►"/>
              <a:tabLst>
                <a:tab pos="554990" algn="l"/>
              </a:tabLst>
            </a:pPr>
            <a:r>
              <a:rPr sz="1000" spc="-5" dirty="0">
                <a:solidFill>
                  <a:srgbClr val="FA0000"/>
                </a:solidFill>
                <a:latin typeface="Arial"/>
                <a:cs typeface="Arial"/>
              </a:rPr>
              <a:t>Thread</a:t>
            </a:r>
            <a:r>
              <a:rPr sz="1000"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7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dirty="0">
                <a:latin typeface="Arial"/>
                <a:cs typeface="Arial"/>
              </a:rPr>
              <a:t> </a:t>
            </a:r>
            <a:r>
              <a:rPr sz="1000" spc="-5" dirty="0">
                <a:latin typeface="Arial"/>
                <a:cs typeface="Arial"/>
              </a:rPr>
              <a:t>of</a:t>
            </a:r>
            <a:r>
              <a:rPr sz="1000" spc="5" dirty="0">
                <a:latin typeface="Arial"/>
                <a:cs typeface="Arial"/>
              </a:rPr>
              <a:t> </a:t>
            </a:r>
            <a:r>
              <a:rPr sz="1000" spc="-10" dirty="0">
                <a:latin typeface="Arial"/>
                <a:cs typeface="Arial"/>
              </a:rPr>
              <a:t>values</a:t>
            </a:r>
            <a:r>
              <a:rPr sz="1000"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 </a:t>
            </a:r>
            <a:r>
              <a:rPr sz="1000" dirty="0">
                <a:latin typeface="Arial"/>
                <a:cs typeface="Arial"/>
              </a:rPr>
              <a:t> </a:t>
            </a:r>
            <a:r>
              <a:rPr sz="1000" spc="-5" dirty="0">
                <a:latin typeface="Arial"/>
                <a:cs typeface="Arial"/>
              </a:rPr>
              <a:t>registers and</a:t>
            </a:r>
            <a:r>
              <a:rPr sz="1000" dirty="0">
                <a:latin typeface="Arial"/>
                <a:cs typeface="Arial"/>
              </a:rPr>
              <a:t> </a:t>
            </a:r>
            <a:r>
              <a:rPr sz="1000" spc="-15" dirty="0">
                <a:latin typeface="Arial"/>
                <a:cs typeface="Arial"/>
              </a:rPr>
              <a:t>memory,</a:t>
            </a:r>
            <a:r>
              <a:rPr sz="1000" dirty="0">
                <a:latin typeface="Arial"/>
                <a:cs typeface="Arial"/>
              </a:rPr>
              <a:t> </a:t>
            </a:r>
            <a:r>
              <a:rPr sz="1000" spc="-5" dirty="0">
                <a:latin typeface="Arial"/>
                <a:cs typeface="Arial"/>
              </a:rPr>
              <a:t>used</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 series</a:t>
            </a:r>
            <a:r>
              <a:rPr sz="1000" dirty="0">
                <a:latin typeface="Arial"/>
                <a:cs typeface="Arial"/>
              </a:rPr>
              <a:t> </a:t>
            </a:r>
            <a:r>
              <a:rPr sz="1000" spc="-5" dirty="0">
                <a:latin typeface="Arial"/>
                <a:cs typeface="Arial"/>
              </a:rPr>
              <a:t>of </a:t>
            </a:r>
            <a:r>
              <a:rPr sz="1000" spc="-260" dirty="0">
                <a:latin typeface="Arial"/>
                <a:cs typeface="Arial"/>
              </a:rPr>
              <a:t> </a:t>
            </a:r>
            <a:r>
              <a:rPr sz="1000" spc="-5" dirty="0">
                <a:latin typeface="Arial"/>
                <a:cs typeface="Arial"/>
              </a:rPr>
              <a:t>instructions (i.e., processor </a:t>
            </a:r>
            <a:r>
              <a:rPr sz="1000" spc="-10" dirty="0">
                <a:latin typeface="Arial"/>
                <a:cs typeface="Arial"/>
              </a:rPr>
              <a:t>context,</a:t>
            </a:r>
            <a:r>
              <a:rPr sz="1000" dirty="0">
                <a:latin typeface="Arial"/>
                <a:cs typeface="Arial"/>
              </a:rPr>
              <a:t> </a:t>
            </a:r>
            <a:r>
              <a:rPr sz="1000" spc="-5" dirty="0">
                <a:latin typeface="Arial"/>
                <a:cs typeface="Arial"/>
              </a:rPr>
              <a:t>state).</a:t>
            </a:r>
            <a:endParaRPr sz="1000">
              <a:latin typeface="Arial"/>
              <a:cs typeface="Arial"/>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82600" y="188846"/>
            <a:ext cx="4214495" cy="2521585"/>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Context</a:t>
            </a:r>
            <a:r>
              <a:rPr sz="1400" spc="-40" dirty="0">
                <a:solidFill>
                  <a:srgbClr val="3333B2"/>
                </a:solidFill>
                <a:latin typeface="Arial"/>
                <a:cs typeface="Arial"/>
              </a:rPr>
              <a:t> </a:t>
            </a:r>
            <a:r>
              <a:rPr sz="1400" spc="10" dirty="0">
                <a:solidFill>
                  <a:srgbClr val="3333B2"/>
                </a:solidFill>
                <a:latin typeface="Arial"/>
                <a:cs typeface="Arial"/>
              </a:rPr>
              <a:t>switching</a:t>
            </a:r>
            <a:endParaRPr sz="1400" dirty="0">
              <a:latin typeface="Arial"/>
              <a:cs typeface="Arial"/>
            </a:endParaRPr>
          </a:p>
          <a:p>
            <a:pPr>
              <a:lnSpc>
                <a:spcPct val="100000"/>
              </a:lnSpc>
              <a:spcBef>
                <a:spcPts val="40"/>
              </a:spcBef>
            </a:pPr>
            <a:endParaRPr sz="2400" dirty="0">
              <a:latin typeface="Arial"/>
              <a:cs typeface="Arial"/>
            </a:endParaRPr>
          </a:p>
          <a:p>
            <a:pPr marL="276860">
              <a:lnSpc>
                <a:spcPct val="100000"/>
              </a:lnSpc>
            </a:pPr>
            <a:r>
              <a:rPr sz="1200" spc="-10" dirty="0">
                <a:solidFill>
                  <a:srgbClr val="3333B2"/>
                </a:solidFill>
                <a:latin typeface="Arial"/>
                <a:cs typeface="Arial"/>
              </a:rPr>
              <a:t>Contexts</a:t>
            </a:r>
            <a:endParaRPr sz="1200" dirty="0">
              <a:latin typeface="Arial"/>
              <a:cs typeface="Arial"/>
            </a:endParaRPr>
          </a:p>
          <a:p>
            <a:pPr marL="554355" marR="43180" indent="-168275">
              <a:lnSpc>
                <a:spcPct val="100000"/>
              </a:lnSpc>
              <a:spcBef>
                <a:spcPts val="540"/>
              </a:spcBef>
              <a:buClr>
                <a:srgbClr val="3333B2"/>
              </a:buClr>
              <a:buChar char="►"/>
              <a:tabLst>
                <a:tab pos="554990" algn="l"/>
              </a:tabLst>
            </a:pPr>
            <a:r>
              <a:rPr sz="1000" spc="-5" dirty="0">
                <a:solidFill>
                  <a:srgbClr val="FA0000"/>
                </a:solidFill>
                <a:latin typeface="Arial"/>
                <a:cs typeface="Arial"/>
              </a:rPr>
              <a:t>Processor</a:t>
            </a:r>
            <a:r>
              <a:rPr sz="1000" spc="5"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7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spc="5" dirty="0">
                <a:latin typeface="Arial"/>
                <a:cs typeface="Arial"/>
              </a:rPr>
              <a:t> </a:t>
            </a:r>
            <a:r>
              <a:rPr sz="1000" spc="-5" dirty="0">
                <a:latin typeface="Arial"/>
                <a:cs typeface="Arial"/>
              </a:rPr>
              <a:t>of</a:t>
            </a:r>
            <a:r>
              <a:rPr sz="1000" spc="5" dirty="0">
                <a:latin typeface="Arial"/>
                <a:cs typeface="Arial"/>
              </a:rPr>
              <a:t> </a:t>
            </a:r>
            <a:r>
              <a:rPr sz="1000" spc="-10" dirty="0">
                <a:latin typeface="Arial"/>
                <a:cs typeface="Arial"/>
              </a:rPr>
              <a:t>values</a:t>
            </a:r>
            <a:r>
              <a:rPr sz="1000" spc="5"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registers of</a:t>
            </a:r>
            <a:r>
              <a:rPr sz="1000" dirty="0">
                <a:latin typeface="Arial"/>
                <a:cs typeface="Arial"/>
              </a:rPr>
              <a:t> </a:t>
            </a:r>
            <a:r>
              <a:rPr sz="1000" spc="-5" dirty="0">
                <a:latin typeface="Arial"/>
                <a:cs typeface="Arial"/>
              </a:rPr>
              <a:t>a processor</a:t>
            </a:r>
            <a:r>
              <a:rPr sz="1000" dirty="0">
                <a:latin typeface="Arial"/>
                <a:cs typeface="Arial"/>
              </a:rPr>
              <a:t> </a:t>
            </a:r>
            <a:r>
              <a:rPr sz="1000" spc="-5" dirty="0">
                <a:latin typeface="Arial"/>
                <a:cs typeface="Arial"/>
              </a:rPr>
              <a:t>used</a:t>
            </a:r>
            <a:r>
              <a:rPr sz="1000" dirty="0">
                <a:latin typeface="Arial"/>
                <a:cs typeface="Arial"/>
              </a:rPr>
              <a:t> </a:t>
            </a:r>
            <a:r>
              <a:rPr sz="1000" spc="-15" dirty="0">
                <a:latin typeface="Arial"/>
                <a:cs typeface="Arial"/>
              </a:rPr>
              <a:t>for</a:t>
            </a:r>
            <a:r>
              <a:rPr sz="1000" spc="-5" dirty="0">
                <a:latin typeface="Arial"/>
                <a:cs typeface="Arial"/>
              </a:rPr>
              <a:t> the</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 a</a:t>
            </a:r>
            <a:r>
              <a:rPr sz="1000" dirty="0">
                <a:latin typeface="Arial"/>
                <a:cs typeface="Arial"/>
              </a:rPr>
              <a:t> </a:t>
            </a:r>
            <a:r>
              <a:rPr sz="1000" spc="-5" dirty="0">
                <a:latin typeface="Arial"/>
                <a:cs typeface="Arial"/>
              </a:rPr>
              <a:t>series of </a:t>
            </a:r>
            <a:r>
              <a:rPr sz="1000" dirty="0">
                <a:latin typeface="Arial"/>
                <a:cs typeface="Arial"/>
              </a:rPr>
              <a:t> </a:t>
            </a:r>
            <a:r>
              <a:rPr sz="1000" spc="-5" dirty="0">
                <a:latin typeface="Arial"/>
                <a:cs typeface="Arial"/>
              </a:rPr>
              <a:t>instructions (e.g.,</a:t>
            </a:r>
            <a:r>
              <a:rPr sz="1000" dirty="0">
                <a:latin typeface="Arial"/>
                <a:cs typeface="Arial"/>
              </a:rPr>
              <a:t> </a:t>
            </a:r>
            <a:r>
              <a:rPr sz="1000" spc="-10" dirty="0">
                <a:latin typeface="Arial"/>
                <a:cs typeface="Arial"/>
              </a:rPr>
              <a:t>stack</a:t>
            </a:r>
            <a:r>
              <a:rPr sz="1000" dirty="0">
                <a:latin typeface="Arial"/>
                <a:cs typeface="Arial"/>
              </a:rPr>
              <a:t> </a:t>
            </a:r>
            <a:r>
              <a:rPr sz="1000" spc="-10" dirty="0">
                <a:latin typeface="Arial"/>
                <a:cs typeface="Arial"/>
              </a:rPr>
              <a:t>pointer,</a:t>
            </a:r>
            <a:r>
              <a:rPr sz="1000" dirty="0">
                <a:latin typeface="Arial"/>
                <a:cs typeface="Arial"/>
              </a:rPr>
              <a:t> </a:t>
            </a:r>
            <a:r>
              <a:rPr sz="1000" spc="-5" dirty="0">
                <a:latin typeface="Arial"/>
                <a:cs typeface="Arial"/>
              </a:rPr>
              <a:t>addressing</a:t>
            </a:r>
            <a:r>
              <a:rPr sz="1000" dirty="0">
                <a:latin typeface="Arial"/>
                <a:cs typeface="Arial"/>
              </a:rPr>
              <a:t> </a:t>
            </a:r>
            <a:r>
              <a:rPr sz="1000" spc="-5" dirty="0">
                <a:latin typeface="Arial"/>
                <a:cs typeface="Arial"/>
              </a:rPr>
              <a:t>registers,</a:t>
            </a:r>
            <a:r>
              <a:rPr sz="1000" dirty="0">
                <a:latin typeface="Arial"/>
                <a:cs typeface="Arial"/>
              </a:rPr>
              <a:t> </a:t>
            </a:r>
            <a:r>
              <a:rPr sz="1000" spc="-5" dirty="0">
                <a:latin typeface="Arial"/>
                <a:cs typeface="Arial"/>
              </a:rPr>
              <a:t>program </a:t>
            </a:r>
            <a:r>
              <a:rPr sz="1000" dirty="0">
                <a:latin typeface="Arial"/>
                <a:cs typeface="Arial"/>
              </a:rPr>
              <a:t> </a:t>
            </a:r>
            <a:r>
              <a:rPr sz="1000" spc="-5" dirty="0">
                <a:latin typeface="Arial"/>
                <a:cs typeface="Arial"/>
              </a:rPr>
              <a:t>counter).</a:t>
            </a:r>
            <a:endParaRPr sz="1000" dirty="0">
              <a:latin typeface="Arial"/>
              <a:cs typeface="Arial"/>
            </a:endParaRPr>
          </a:p>
          <a:p>
            <a:pPr marL="554355" marR="372110" indent="-168275">
              <a:lnSpc>
                <a:spcPct val="100000"/>
              </a:lnSpc>
              <a:spcBef>
                <a:spcPts val="580"/>
              </a:spcBef>
              <a:buClr>
                <a:srgbClr val="3333B2"/>
              </a:buClr>
              <a:buChar char="►"/>
              <a:tabLst>
                <a:tab pos="554990" algn="l"/>
              </a:tabLst>
            </a:pPr>
            <a:r>
              <a:rPr sz="1000" spc="-5" dirty="0">
                <a:solidFill>
                  <a:srgbClr val="FA0000"/>
                </a:solidFill>
                <a:latin typeface="Arial"/>
                <a:cs typeface="Arial"/>
              </a:rPr>
              <a:t>Thread</a:t>
            </a:r>
            <a:r>
              <a:rPr sz="1000"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7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dirty="0">
                <a:latin typeface="Arial"/>
                <a:cs typeface="Arial"/>
              </a:rPr>
              <a:t> </a:t>
            </a:r>
            <a:r>
              <a:rPr sz="1000" spc="-5" dirty="0">
                <a:latin typeface="Arial"/>
                <a:cs typeface="Arial"/>
              </a:rPr>
              <a:t>of</a:t>
            </a:r>
            <a:r>
              <a:rPr sz="1000" spc="5" dirty="0">
                <a:latin typeface="Arial"/>
                <a:cs typeface="Arial"/>
              </a:rPr>
              <a:t> </a:t>
            </a:r>
            <a:r>
              <a:rPr sz="1000" spc="-10" dirty="0">
                <a:latin typeface="Arial"/>
                <a:cs typeface="Arial"/>
              </a:rPr>
              <a:t>values</a:t>
            </a:r>
            <a:r>
              <a:rPr sz="1000"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 </a:t>
            </a:r>
            <a:r>
              <a:rPr sz="1000" dirty="0">
                <a:latin typeface="Arial"/>
                <a:cs typeface="Arial"/>
              </a:rPr>
              <a:t> </a:t>
            </a:r>
            <a:r>
              <a:rPr sz="1000" spc="-5" dirty="0">
                <a:latin typeface="Arial"/>
                <a:cs typeface="Arial"/>
              </a:rPr>
              <a:t>registers and</a:t>
            </a:r>
            <a:r>
              <a:rPr sz="1000" dirty="0">
                <a:latin typeface="Arial"/>
                <a:cs typeface="Arial"/>
              </a:rPr>
              <a:t> </a:t>
            </a:r>
            <a:r>
              <a:rPr sz="1000" spc="-15" dirty="0">
                <a:latin typeface="Arial"/>
                <a:cs typeface="Arial"/>
              </a:rPr>
              <a:t>memory,</a:t>
            </a:r>
            <a:r>
              <a:rPr sz="1000" dirty="0">
                <a:latin typeface="Arial"/>
                <a:cs typeface="Arial"/>
              </a:rPr>
              <a:t> </a:t>
            </a:r>
            <a:r>
              <a:rPr sz="1000" spc="-5" dirty="0">
                <a:latin typeface="Arial"/>
                <a:cs typeface="Arial"/>
              </a:rPr>
              <a:t>used</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execution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 series</a:t>
            </a:r>
            <a:r>
              <a:rPr sz="1000" dirty="0">
                <a:latin typeface="Arial"/>
                <a:cs typeface="Arial"/>
              </a:rPr>
              <a:t> </a:t>
            </a:r>
            <a:r>
              <a:rPr sz="1000" spc="-5" dirty="0">
                <a:latin typeface="Arial"/>
                <a:cs typeface="Arial"/>
              </a:rPr>
              <a:t>of </a:t>
            </a:r>
            <a:r>
              <a:rPr sz="1000" spc="-260" dirty="0">
                <a:latin typeface="Arial"/>
                <a:cs typeface="Arial"/>
              </a:rPr>
              <a:t> </a:t>
            </a:r>
            <a:r>
              <a:rPr sz="1000" spc="-5" dirty="0">
                <a:latin typeface="Arial"/>
                <a:cs typeface="Arial"/>
              </a:rPr>
              <a:t>instructions (i.e., processor </a:t>
            </a:r>
            <a:r>
              <a:rPr sz="1000" spc="-10" dirty="0">
                <a:latin typeface="Arial"/>
                <a:cs typeface="Arial"/>
              </a:rPr>
              <a:t>context,</a:t>
            </a:r>
            <a:r>
              <a:rPr sz="1000" dirty="0">
                <a:latin typeface="Arial"/>
                <a:cs typeface="Arial"/>
              </a:rPr>
              <a:t> </a:t>
            </a:r>
            <a:r>
              <a:rPr sz="1000" spc="-5" dirty="0">
                <a:latin typeface="Arial"/>
                <a:cs typeface="Arial"/>
              </a:rPr>
              <a:t>state).</a:t>
            </a:r>
            <a:endParaRPr sz="1000" dirty="0">
              <a:latin typeface="Arial"/>
              <a:cs typeface="Arial"/>
            </a:endParaRPr>
          </a:p>
          <a:p>
            <a:pPr marL="554355" marR="213995" indent="-168275">
              <a:lnSpc>
                <a:spcPct val="100000"/>
              </a:lnSpc>
              <a:spcBef>
                <a:spcPts val="585"/>
              </a:spcBef>
              <a:buClr>
                <a:srgbClr val="3333B2"/>
              </a:buClr>
              <a:buChar char="►"/>
              <a:tabLst>
                <a:tab pos="554990" algn="l"/>
              </a:tabLst>
            </a:pPr>
            <a:r>
              <a:rPr sz="1000" spc="-5" dirty="0">
                <a:solidFill>
                  <a:srgbClr val="FA0000"/>
                </a:solidFill>
                <a:latin typeface="Arial"/>
                <a:cs typeface="Arial"/>
              </a:rPr>
              <a:t>Process</a:t>
            </a:r>
            <a:r>
              <a:rPr sz="1000" dirty="0">
                <a:solidFill>
                  <a:srgbClr val="FA0000"/>
                </a:solidFill>
                <a:latin typeface="Arial"/>
                <a:cs typeface="Arial"/>
              </a:rPr>
              <a:t> </a:t>
            </a:r>
            <a:r>
              <a:rPr sz="1000" spc="-10" dirty="0">
                <a:solidFill>
                  <a:srgbClr val="FA0000"/>
                </a:solidFill>
                <a:latin typeface="Arial"/>
                <a:cs typeface="Arial"/>
              </a:rPr>
              <a:t>context</a:t>
            </a:r>
            <a:r>
              <a:rPr sz="1000" spc="-10" dirty="0">
                <a:latin typeface="Arial"/>
                <a:cs typeface="Arial"/>
              </a:rPr>
              <a:t>:</a:t>
            </a:r>
            <a:r>
              <a:rPr sz="1000" spc="6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minimal</a:t>
            </a:r>
            <a:r>
              <a:rPr sz="1000" spc="5" dirty="0">
                <a:latin typeface="Arial"/>
                <a:cs typeface="Arial"/>
              </a:rPr>
              <a:t> </a:t>
            </a:r>
            <a:r>
              <a:rPr sz="1000" spc="-5" dirty="0">
                <a:latin typeface="Arial"/>
                <a:cs typeface="Arial"/>
              </a:rPr>
              <a:t>collection</a:t>
            </a:r>
            <a:r>
              <a:rPr sz="1000" dirty="0">
                <a:latin typeface="Arial"/>
                <a:cs typeface="Arial"/>
              </a:rPr>
              <a:t> </a:t>
            </a:r>
            <a:r>
              <a:rPr sz="1000" spc="-5" dirty="0">
                <a:latin typeface="Arial"/>
                <a:cs typeface="Arial"/>
              </a:rPr>
              <a:t>of</a:t>
            </a:r>
            <a:r>
              <a:rPr sz="1000" dirty="0">
                <a:latin typeface="Arial"/>
                <a:cs typeface="Arial"/>
              </a:rPr>
              <a:t> </a:t>
            </a:r>
            <a:r>
              <a:rPr sz="1000" spc="-10" dirty="0">
                <a:latin typeface="Arial"/>
                <a:cs typeface="Arial"/>
              </a:rPr>
              <a:t>values</a:t>
            </a:r>
            <a:r>
              <a:rPr sz="1000" dirty="0">
                <a:latin typeface="Arial"/>
                <a:cs typeface="Arial"/>
              </a:rPr>
              <a:t> </a:t>
            </a:r>
            <a:r>
              <a:rPr sz="1000" spc="-5" dirty="0">
                <a:latin typeface="Arial"/>
                <a:cs typeface="Arial"/>
              </a:rPr>
              <a:t>stored</a:t>
            </a:r>
            <a:r>
              <a:rPr sz="1000" spc="5" dirty="0">
                <a:latin typeface="Arial"/>
                <a:cs typeface="Arial"/>
              </a:rPr>
              <a:t> </a:t>
            </a:r>
            <a:r>
              <a:rPr sz="1000" spc="-5" dirty="0">
                <a:latin typeface="Arial"/>
                <a:cs typeface="Arial"/>
              </a:rPr>
              <a:t>in </a:t>
            </a:r>
            <a:r>
              <a:rPr sz="1000" dirty="0">
                <a:latin typeface="Arial"/>
                <a:cs typeface="Arial"/>
              </a:rPr>
              <a:t> </a:t>
            </a:r>
            <a:r>
              <a:rPr sz="1000" spc="-5" dirty="0">
                <a:latin typeface="Arial"/>
                <a:cs typeface="Arial"/>
              </a:rPr>
              <a:t>registers and</a:t>
            </a:r>
            <a:r>
              <a:rPr sz="1000" dirty="0">
                <a:latin typeface="Arial"/>
                <a:cs typeface="Arial"/>
              </a:rPr>
              <a:t> </a:t>
            </a:r>
            <a:r>
              <a:rPr sz="1000" spc="-15" dirty="0">
                <a:latin typeface="Arial"/>
                <a:cs typeface="Arial"/>
              </a:rPr>
              <a:t>memory,</a:t>
            </a:r>
            <a:r>
              <a:rPr sz="1000" dirty="0">
                <a:latin typeface="Arial"/>
                <a:cs typeface="Arial"/>
              </a:rPr>
              <a:t> </a:t>
            </a:r>
            <a:r>
              <a:rPr sz="1000" spc="-5" dirty="0">
                <a:latin typeface="Arial"/>
                <a:cs typeface="Arial"/>
              </a:rPr>
              <a:t>used </a:t>
            </a:r>
            <a:r>
              <a:rPr sz="1000" spc="-15" dirty="0">
                <a:latin typeface="Arial"/>
                <a:cs typeface="Arial"/>
              </a:rPr>
              <a:t>for</a:t>
            </a:r>
            <a:r>
              <a:rPr sz="1000"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execution</a:t>
            </a:r>
            <a:r>
              <a:rPr sz="1000" spc="-5" dirty="0">
                <a:latin typeface="Arial"/>
                <a:cs typeface="Arial"/>
              </a:rPr>
              <a:t> 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thread (i.e., </a:t>
            </a:r>
            <a:r>
              <a:rPr sz="1000" spc="-260" dirty="0">
                <a:latin typeface="Arial"/>
                <a:cs typeface="Arial"/>
              </a:rPr>
              <a:t> </a:t>
            </a:r>
            <a:r>
              <a:rPr sz="1000" spc="-5" dirty="0">
                <a:latin typeface="Arial"/>
                <a:cs typeface="Arial"/>
              </a:rPr>
              <a:t>thread </a:t>
            </a:r>
            <a:r>
              <a:rPr sz="1000" spc="-10" dirty="0">
                <a:latin typeface="Arial"/>
                <a:cs typeface="Arial"/>
              </a:rPr>
              <a:t>context,</a:t>
            </a:r>
            <a:r>
              <a:rPr sz="1000" dirty="0">
                <a:latin typeface="Arial"/>
                <a:cs typeface="Arial"/>
              </a:rPr>
              <a:t> </a:t>
            </a:r>
            <a:r>
              <a:rPr sz="1000" spc="-10" dirty="0">
                <a:latin typeface="Arial"/>
                <a:cs typeface="Arial"/>
              </a:rPr>
              <a:t>but</a:t>
            </a:r>
            <a:r>
              <a:rPr sz="1000" spc="-5" dirty="0">
                <a:latin typeface="Arial"/>
                <a:cs typeface="Arial"/>
              </a:rPr>
              <a:t> </a:t>
            </a:r>
            <a:r>
              <a:rPr sz="1000" spc="-10" dirty="0">
                <a:latin typeface="Arial"/>
                <a:cs typeface="Arial"/>
              </a:rPr>
              <a:t>now</a:t>
            </a:r>
            <a:r>
              <a:rPr sz="1000" dirty="0">
                <a:latin typeface="Arial"/>
                <a:cs typeface="Arial"/>
              </a:rPr>
              <a:t> </a:t>
            </a:r>
            <a:r>
              <a:rPr sz="1000" spc="-5" dirty="0">
                <a:latin typeface="Arial"/>
                <a:cs typeface="Arial"/>
              </a:rPr>
              <a:t>also at</a:t>
            </a:r>
            <a:r>
              <a:rPr sz="1000" dirty="0">
                <a:latin typeface="Arial"/>
                <a:cs typeface="Arial"/>
              </a:rPr>
              <a:t> </a:t>
            </a:r>
            <a:r>
              <a:rPr sz="1000" spc="-5" dirty="0">
                <a:latin typeface="Arial"/>
                <a:cs typeface="Arial"/>
              </a:rPr>
              <a:t>least</a:t>
            </a:r>
            <a:r>
              <a:rPr sz="1000" dirty="0">
                <a:latin typeface="Arial"/>
                <a:cs typeface="Arial"/>
              </a:rPr>
              <a:t> </a:t>
            </a:r>
            <a:r>
              <a:rPr sz="1000" spc="-5" dirty="0">
                <a:latin typeface="Arial"/>
                <a:cs typeface="Arial"/>
              </a:rPr>
              <a:t>MMU register</a:t>
            </a:r>
            <a:r>
              <a:rPr sz="1000" dirty="0">
                <a:latin typeface="Arial"/>
                <a:cs typeface="Arial"/>
              </a:rPr>
              <a:t> </a:t>
            </a:r>
            <a:r>
              <a:rPr sz="1000" spc="-5" dirty="0">
                <a:latin typeface="Arial"/>
                <a:cs typeface="Arial"/>
              </a:rPr>
              <a:t>values).</a:t>
            </a:r>
            <a:endParaRPr sz="1000" dirty="0">
              <a:latin typeface="Arial"/>
              <a:cs typeface="Arial"/>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144272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Context</a:t>
            </a:r>
            <a:r>
              <a:rPr sz="1400" spc="-65" dirty="0">
                <a:solidFill>
                  <a:srgbClr val="3333B2"/>
                </a:solidFill>
                <a:latin typeface="Arial"/>
                <a:cs typeface="Arial"/>
              </a:rPr>
              <a:t> </a:t>
            </a:r>
            <a:r>
              <a:rPr sz="1400" spc="10" dirty="0">
                <a:solidFill>
                  <a:srgbClr val="3333B2"/>
                </a:solidFill>
                <a:latin typeface="Arial"/>
                <a:cs typeface="Arial"/>
              </a:rPr>
              <a:t>switching</a:t>
            </a:r>
            <a:endParaRPr sz="1400" dirty="0">
              <a:latin typeface="Arial"/>
              <a:cs typeface="Arial"/>
            </a:endParaRPr>
          </a:p>
        </p:txBody>
      </p:sp>
      <p:sp>
        <p:nvSpPr>
          <p:cNvPr id="5" name="object 5"/>
          <p:cNvSpPr txBox="1"/>
          <p:nvPr/>
        </p:nvSpPr>
        <p:spPr>
          <a:xfrm>
            <a:off x="347294" y="923118"/>
            <a:ext cx="3913504" cy="1423670"/>
          </a:xfrm>
          <a:prstGeom prst="rect">
            <a:avLst/>
          </a:prstGeom>
        </p:spPr>
        <p:txBody>
          <a:bodyPr vert="horz" wrap="square" lIns="0" tIns="95250" rIns="0" bIns="0" rtlCol="0">
            <a:spAutoFit/>
          </a:bodyPr>
          <a:lstStyle/>
          <a:p>
            <a:pPr marL="12700">
              <a:lnSpc>
                <a:spcPct val="100000"/>
              </a:lnSpc>
              <a:spcBef>
                <a:spcPts val="750"/>
              </a:spcBef>
            </a:pPr>
            <a:r>
              <a:rPr sz="1200" spc="-5" dirty="0">
                <a:solidFill>
                  <a:srgbClr val="3333B2"/>
                </a:solidFill>
                <a:latin typeface="Arial"/>
                <a:cs typeface="Arial"/>
              </a:rPr>
              <a:t>Observations</a:t>
            </a:r>
            <a:endParaRPr sz="1200" dirty="0">
              <a:latin typeface="Arial"/>
              <a:cs typeface="Arial"/>
            </a:endParaRPr>
          </a:p>
          <a:p>
            <a:pPr marL="289560" marR="5080" indent="-175260">
              <a:lnSpc>
                <a:spcPct val="100000"/>
              </a:lnSpc>
              <a:spcBef>
                <a:spcPts val="545"/>
              </a:spcBef>
              <a:buClr>
                <a:srgbClr val="3333B2"/>
              </a:buClr>
              <a:buAutoNum type="arabicPeriod"/>
              <a:tabLst>
                <a:tab pos="290195" algn="l"/>
              </a:tabLst>
            </a:pPr>
            <a:r>
              <a:rPr sz="1000" spc="-15" dirty="0">
                <a:latin typeface="Arial"/>
                <a:cs typeface="Arial"/>
              </a:rPr>
              <a:t>Threads</a:t>
            </a:r>
            <a:r>
              <a:rPr sz="1000" spc="-25" dirty="0">
                <a:latin typeface="Arial"/>
                <a:cs typeface="Arial"/>
              </a:rPr>
              <a:t> </a:t>
            </a:r>
            <a:r>
              <a:rPr sz="1000" spc="-15" dirty="0">
                <a:latin typeface="Arial"/>
                <a:cs typeface="Arial"/>
              </a:rPr>
              <a:t>share</a:t>
            </a:r>
            <a:r>
              <a:rPr sz="1000" spc="-25" dirty="0">
                <a:latin typeface="Arial"/>
                <a:cs typeface="Arial"/>
              </a:rPr>
              <a:t> </a:t>
            </a:r>
            <a:r>
              <a:rPr sz="1000" spc="-15" dirty="0">
                <a:latin typeface="Arial"/>
                <a:cs typeface="Arial"/>
              </a:rPr>
              <a:t>the</a:t>
            </a:r>
            <a:r>
              <a:rPr sz="1000" spc="-20" dirty="0">
                <a:latin typeface="Arial"/>
                <a:cs typeface="Arial"/>
              </a:rPr>
              <a:t> </a:t>
            </a:r>
            <a:r>
              <a:rPr sz="1000" spc="-15" dirty="0">
                <a:latin typeface="Arial"/>
                <a:cs typeface="Arial"/>
              </a:rPr>
              <a:t>same</a:t>
            </a:r>
            <a:r>
              <a:rPr sz="1000" spc="-25" dirty="0">
                <a:latin typeface="Arial"/>
                <a:cs typeface="Arial"/>
              </a:rPr>
              <a:t> </a:t>
            </a:r>
            <a:r>
              <a:rPr sz="1000" spc="-15" dirty="0">
                <a:latin typeface="Arial"/>
                <a:cs typeface="Arial"/>
              </a:rPr>
              <a:t>address</a:t>
            </a:r>
            <a:r>
              <a:rPr sz="1000" spc="-20" dirty="0">
                <a:latin typeface="Arial"/>
                <a:cs typeface="Arial"/>
              </a:rPr>
              <a:t> </a:t>
            </a:r>
            <a:r>
              <a:rPr sz="1000" spc="-15" dirty="0">
                <a:latin typeface="Arial"/>
                <a:cs typeface="Arial"/>
              </a:rPr>
              <a:t>space.</a:t>
            </a:r>
            <a:r>
              <a:rPr sz="1000" spc="55" dirty="0">
                <a:latin typeface="Arial"/>
                <a:cs typeface="Arial"/>
              </a:rPr>
              <a:t> </a:t>
            </a:r>
            <a:r>
              <a:rPr sz="1000" spc="-15" dirty="0">
                <a:latin typeface="Arial"/>
                <a:cs typeface="Arial"/>
              </a:rPr>
              <a:t>Thread</a:t>
            </a:r>
            <a:r>
              <a:rPr sz="1000" spc="-25" dirty="0">
                <a:latin typeface="Arial"/>
                <a:cs typeface="Arial"/>
              </a:rPr>
              <a:t> </a:t>
            </a:r>
            <a:r>
              <a:rPr sz="1000" spc="-20" dirty="0">
                <a:latin typeface="Arial"/>
                <a:cs typeface="Arial"/>
              </a:rPr>
              <a:t>context </a:t>
            </a:r>
            <a:r>
              <a:rPr sz="1000" spc="-15" dirty="0">
                <a:latin typeface="Arial"/>
                <a:cs typeface="Arial"/>
              </a:rPr>
              <a:t>switching </a:t>
            </a:r>
            <a:r>
              <a:rPr sz="1000" spc="-265" dirty="0">
                <a:latin typeface="Arial"/>
                <a:cs typeface="Arial"/>
              </a:rPr>
              <a:t> </a:t>
            </a:r>
            <a:r>
              <a:rPr sz="1000" spc="-5" dirty="0">
                <a:latin typeface="Arial"/>
                <a:cs typeface="Arial"/>
              </a:rPr>
              <a:t>can be done</a:t>
            </a:r>
            <a:r>
              <a:rPr sz="1000" dirty="0">
                <a:latin typeface="Arial"/>
                <a:cs typeface="Arial"/>
              </a:rPr>
              <a:t> </a:t>
            </a:r>
            <a:r>
              <a:rPr sz="1000" spc="-5" dirty="0">
                <a:latin typeface="Arial"/>
                <a:cs typeface="Arial"/>
              </a:rPr>
              <a:t>entirely independent</a:t>
            </a:r>
            <a:r>
              <a:rPr sz="1000" dirty="0">
                <a:latin typeface="Arial"/>
                <a:cs typeface="Arial"/>
              </a:rPr>
              <a:t> </a:t>
            </a:r>
            <a:r>
              <a:rPr sz="1000" spc="-5" dirty="0">
                <a:latin typeface="Arial"/>
                <a:cs typeface="Arial"/>
              </a:rPr>
              <a:t>of the</a:t>
            </a:r>
            <a:r>
              <a:rPr sz="1000" dirty="0">
                <a:latin typeface="Arial"/>
                <a:cs typeface="Arial"/>
              </a:rPr>
              <a:t> </a:t>
            </a:r>
            <a:r>
              <a:rPr sz="1000" spc="-5" dirty="0">
                <a:latin typeface="Arial"/>
                <a:cs typeface="Arial"/>
              </a:rPr>
              <a:t>operating system.</a:t>
            </a:r>
            <a:endParaRPr sz="1000" dirty="0">
              <a:latin typeface="Arial"/>
              <a:cs typeface="Arial"/>
            </a:endParaRPr>
          </a:p>
          <a:p>
            <a:pPr marL="289560" marR="51435" indent="-175260">
              <a:lnSpc>
                <a:spcPct val="100000"/>
              </a:lnSpc>
              <a:spcBef>
                <a:spcPts val="585"/>
              </a:spcBef>
              <a:buClr>
                <a:srgbClr val="3333B2"/>
              </a:buClr>
              <a:buAutoNum type="arabicPeriod"/>
              <a:tabLst>
                <a:tab pos="290195" algn="l"/>
              </a:tabLst>
            </a:pPr>
            <a:r>
              <a:rPr sz="1000" spc="-5" dirty="0">
                <a:latin typeface="Arial"/>
                <a:cs typeface="Arial"/>
              </a:rPr>
              <a:t>Process</a:t>
            </a:r>
            <a:r>
              <a:rPr sz="1000" dirty="0">
                <a:latin typeface="Arial"/>
                <a:cs typeface="Arial"/>
              </a:rPr>
              <a:t> </a:t>
            </a:r>
            <a:r>
              <a:rPr sz="1000" spc="-10" dirty="0">
                <a:latin typeface="Arial"/>
                <a:cs typeface="Arial"/>
              </a:rPr>
              <a:t>switching</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generally</a:t>
            </a:r>
            <a:r>
              <a:rPr sz="1000" dirty="0">
                <a:latin typeface="Arial"/>
                <a:cs typeface="Arial"/>
              </a:rPr>
              <a:t> </a:t>
            </a:r>
            <a:r>
              <a:rPr sz="1000" spc="-5" dirty="0">
                <a:latin typeface="Arial"/>
                <a:cs typeface="Arial"/>
              </a:rPr>
              <a:t>(somewhat)</a:t>
            </a:r>
            <a:r>
              <a:rPr sz="1000" dirty="0">
                <a:latin typeface="Arial"/>
                <a:cs typeface="Arial"/>
              </a:rPr>
              <a:t> </a:t>
            </a:r>
            <a:r>
              <a:rPr sz="1000" spc="-5" dirty="0">
                <a:latin typeface="Arial"/>
                <a:cs typeface="Arial"/>
              </a:rPr>
              <a:t>more</a:t>
            </a:r>
            <a:r>
              <a:rPr sz="1000" dirty="0">
                <a:latin typeface="Arial"/>
                <a:cs typeface="Arial"/>
              </a:rPr>
              <a:t> </a:t>
            </a:r>
            <a:r>
              <a:rPr sz="1000" spc="-10" dirty="0">
                <a:latin typeface="Arial"/>
                <a:cs typeface="Arial"/>
              </a:rPr>
              <a:t>expensive</a:t>
            </a:r>
            <a:r>
              <a:rPr sz="1000" dirty="0">
                <a:latin typeface="Arial"/>
                <a:cs typeface="Arial"/>
              </a:rPr>
              <a:t> </a:t>
            </a:r>
            <a:r>
              <a:rPr sz="1000" spc="-5" dirty="0">
                <a:latin typeface="Arial"/>
                <a:cs typeface="Arial"/>
              </a:rPr>
              <a:t>as</a:t>
            </a:r>
            <a:r>
              <a:rPr sz="1000" dirty="0">
                <a:latin typeface="Arial"/>
                <a:cs typeface="Arial"/>
              </a:rPr>
              <a:t> </a:t>
            </a:r>
            <a:r>
              <a:rPr sz="1000" spc="-5" dirty="0">
                <a:latin typeface="Arial"/>
                <a:cs typeface="Arial"/>
              </a:rPr>
              <a:t>it </a:t>
            </a:r>
            <a:r>
              <a:rPr sz="1000" spc="-265" dirty="0">
                <a:latin typeface="Arial"/>
                <a:cs typeface="Arial"/>
              </a:rPr>
              <a:t> </a:t>
            </a:r>
            <a:r>
              <a:rPr sz="1000" spc="-15" dirty="0">
                <a:latin typeface="Arial"/>
                <a:cs typeface="Arial"/>
              </a:rPr>
              <a:t>involves</a:t>
            </a:r>
            <a:r>
              <a:rPr sz="1000" spc="-5" dirty="0">
                <a:latin typeface="Arial"/>
                <a:cs typeface="Arial"/>
              </a:rPr>
              <a:t> getting</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OS</a:t>
            </a:r>
            <a:r>
              <a:rPr sz="1000" dirty="0">
                <a:latin typeface="Arial"/>
                <a:cs typeface="Arial"/>
              </a:rPr>
              <a:t> </a:t>
            </a:r>
            <a:r>
              <a:rPr sz="1000" spc="-5" dirty="0">
                <a:latin typeface="Arial"/>
                <a:cs typeface="Arial"/>
              </a:rPr>
              <a:t>in the</a:t>
            </a:r>
            <a:r>
              <a:rPr sz="1000" dirty="0">
                <a:latin typeface="Arial"/>
                <a:cs typeface="Arial"/>
              </a:rPr>
              <a:t> </a:t>
            </a:r>
            <a:r>
              <a:rPr sz="1000" spc="-10" dirty="0">
                <a:latin typeface="Arial"/>
                <a:cs typeface="Arial"/>
              </a:rPr>
              <a:t>loop,</a:t>
            </a:r>
            <a:r>
              <a:rPr sz="1000" dirty="0">
                <a:latin typeface="Arial"/>
                <a:cs typeface="Arial"/>
              </a:rPr>
              <a:t> </a:t>
            </a:r>
            <a:r>
              <a:rPr sz="1000" spc="-5" dirty="0">
                <a:latin typeface="Arial"/>
                <a:cs typeface="Arial"/>
              </a:rPr>
              <a:t>i.e.,</a:t>
            </a:r>
            <a:r>
              <a:rPr sz="1000" dirty="0">
                <a:latin typeface="Arial"/>
                <a:cs typeface="Arial"/>
              </a:rPr>
              <a:t> </a:t>
            </a:r>
            <a:r>
              <a:rPr sz="1000" spc="-5" dirty="0">
                <a:latin typeface="Arial"/>
                <a:cs typeface="Arial"/>
              </a:rPr>
              <a:t>trapping 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kernel.</a:t>
            </a:r>
            <a:endParaRPr sz="1000" dirty="0">
              <a:latin typeface="Arial"/>
              <a:cs typeface="Arial"/>
            </a:endParaRPr>
          </a:p>
          <a:p>
            <a:pPr marL="289560" marR="62230" indent="-175260">
              <a:lnSpc>
                <a:spcPct val="100000"/>
              </a:lnSpc>
              <a:spcBef>
                <a:spcPts val="590"/>
              </a:spcBef>
              <a:buClr>
                <a:srgbClr val="3333B2"/>
              </a:buClr>
              <a:buAutoNum type="arabicPeriod"/>
              <a:tabLst>
                <a:tab pos="290195" algn="l"/>
              </a:tabLst>
            </a:pPr>
            <a:r>
              <a:rPr sz="1000" spc="-5" dirty="0">
                <a:latin typeface="Arial"/>
                <a:cs typeface="Arial"/>
              </a:rPr>
              <a:t>Creating and destroying</a:t>
            </a:r>
            <a:r>
              <a:rPr sz="1000" dirty="0">
                <a:latin typeface="Arial"/>
                <a:cs typeface="Arial"/>
              </a:rPr>
              <a:t> </a:t>
            </a:r>
            <a:r>
              <a:rPr sz="1000" spc="-5" dirty="0">
                <a:latin typeface="Arial"/>
                <a:cs typeface="Arial"/>
              </a:rPr>
              <a:t>threads is</a:t>
            </a:r>
            <a:r>
              <a:rPr sz="1000" dirty="0">
                <a:latin typeface="Arial"/>
                <a:cs typeface="Arial"/>
              </a:rPr>
              <a:t> </a:t>
            </a:r>
            <a:r>
              <a:rPr sz="1000" spc="-5" dirty="0">
                <a:latin typeface="Arial"/>
                <a:cs typeface="Arial"/>
              </a:rPr>
              <a:t>much cheaper than</a:t>
            </a:r>
            <a:r>
              <a:rPr sz="1000" dirty="0">
                <a:latin typeface="Arial"/>
                <a:cs typeface="Arial"/>
              </a:rPr>
              <a:t> </a:t>
            </a:r>
            <a:r>
              <a:rPr sz="1000" spc="-5" dirty="0">
                <a:latin typeface="Arial"/>
                <a:cs typeface="Arial"/>
              </a:rPr>
              <a:t>doing so </a:t>
            </a:r>
            <a:r>
              <a:rPr sz="1000" spc="-260" dirty="0">
                <a:latin typeface="Arial"/>
                <a:cs typeface="Arial"/>
              </a:rPr>
              <a:t> </a:t>
            </a:r>
            <a:r>
              <a:rPr sz="1000" spc="-15" dirty="0">
                <a:latin typeface="Arial"/>
                <a:cs typeface="Arial"/>
              </a:rPr>
              <a:t>for</a:t>
            </a:r>
            <a:r>
              <a:rPr sz="1000" spc="-10" dirty="0">
                <a:latin typeface="Arial"/>
                <a:cs typeface="Arial"/>
              </a:rPr>
              <a:t> </a:t>
            </a:r>
            <a:r>
              <a:rPr sz="1000" spc="-5" dirty="0">
                <a:latin typeface="Arial"/>
                <a:cs typeface="Arial"/>
              </a:rPr>
              <a:t>processes.</a:t>
            </a:r>
            <a:endParaRPr sz="1000" dirty="0">
              <a:latin typeface="Arial"/>
              <a:cs typeface="Arial"/>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3716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Thread usage</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in</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nondistributed</a:t>
            </a:r>
            <a:r>
              <a:rPr sz="60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systems</a:t>
            </a:r>
            <a:endParaRPr sz="600">
              <a:latin typeface="Arial"/>
              <a:cs typeface="Arial"/>
            </a:endParaRPr>
          </a:p>
        </p:txBody>
      </p:sp>
      <p:sp>
        <p:nvSpPr>
          <p:cNvPr id="7" name="object 7"/>
          <p:cNvSpPr txBox="1"/>
          <p:nvPr/>
        </p:nvSpPr>
        <p:spPr>
          <a:xfrm>
            <a:off x="4325963" y="3331252"/>
            <a:ext cx="21590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5</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Introduction</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to</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threads</a:t>
            </a:r>
            <a:endParaRPr sz="600">
              <a:latin typeface="Arial"/>
              <a:cs typeface="Arial"/>
            </a:endParaRPr>
          </a:p>
        </p:txBody>
      </p:sp>
      <p:sp>
        <p:nvSpPr>
          <p:cNvPr id="4" name="object 4"/>
          <p:cNvSpPr txBox="1"/>
          <p:nvPr/>
        </p:nvSpPr>
        <p:spPr>
          <a:xfrm>
            <a:off x="95300" y="188846"/>
            <a:ext cx="1387475" cy="244475"/>
          </a:xfrm>
          <a:prstGeom prst="rect">
            <a:avLst/>
          </a:prstGeom>
        </p:spPr>
        <p:txBody>
          <a:bodyPr vert="horz" wrap="square" lIns="0" tIns="17145" rIns="0" bIns="0" rtlCol="0">
            <a:spAutoFit/>
          </a:bodyPr>
          <a:lstStyle/>
          <a:p>
            <a:pPr marL="12700">
              <a:lnSpc>
                <a:spcPct val="100000"/>
              </a:lnSpc>
              <a:spcBef>
                <a:spcPts val="135"/>
              </a:spcBef>
            </a:pPr>
            <a:r>
              <a:rPr sz="1400" spc="5" dirty="0">
                <a:solidFill>
                  <a:srgbClr val="3333B2"/>
                </a:solidFill>
                <a:latin typeface="Arial"/>
                <a:cs typeface="Arial"/>
              </a:rPr>
              <a:t>Why</a:t>
            </a:r>
            <a:r>
              <a:rPr sz="1400" spc="-30" dirty="0">
                <a:solidFill>
                  <a:srgbClr val="3333B2"/>
                </a:solidFill>
                <a:latin typeface="Arial"/>
                <a:cs typeface="Arial"/>
              </a:rPr>
              <a:t> </a:t>
            </a:r>
            <a:r>
              <a:rPr sz="1400" spc="15" dirty="0">
                <a:solidFill>
                  <a:srgbClr val="3333B2"/>
                </a:solidFill>
                <a:latin typeface="Arial"/>
                <a:cs typeface="Arial"/>
              </a:rPr>
              <a:t>use</a:t>
            </a:r>
            <a:r>
              <a:rPr sz="1400" spc="-25" dirty="0">
                <a:solidFill>
                  <a:srgbClr val="3333B2"/>
                </a:solidFill>
                <a:latin typeface="Arial"/>
                <a:cs typeface="Arial"/>
              </a:rPr>
              <a:t> </a:t>
            </a:r>
            <a:r>
              <a:rPr sz="1400" spc="15" dirty="0">
                <a:solidFill>
                  <a:srgbClr val="3333B2"/>
                </a:solidFill>
                <a:latin typeface="Arial"/>
                <a:cs typeface="Arial"/>
              </a:rPr>
              <a:t>threads</a:t>
            </a:r>
            <a:endParaRPr sz="1400" dirty="0">
              <a:latin typeface="Arial"/>
              <a:cs typeface="Arial"/>
            </a:endParaRPr>
          </a:p>
        </p:txBody>
      </p:sp>
      <p:sp>
        <p:nvSpPr>
          <p:cNvPr id="5" name="object 5"/>
          <p:cNvSpPr txBox="1"/>
          <p:nvPr/>
        </p:nvSpPr>
        <p:spPr>
          <a:xfrm>
            <a:off x="321894" y="872639"/>
            <a:ext cx="3964304" cy="167322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Some</a:t>
            </a:r>
            <a:r>
              <a:rPr sz="1200" spc="-25" dirty="0">
                <a:solidFill>
                  <a:srgbClr val="3333B2"/>
                </a:solidFill>
                <a:latin typeface="Arial"/>
                <a:cs typeface="Arial"/>
              </a:rPr>
              <a:t> </a:t>
            </a:r>
            <a:r>
              <a:rPr sz="1200" spc="-5" dirty="0">
                <a:solidFill>
                  <a:srgbClr val="3333B2"/>
                </a:solidFill>
                <a:latin typeface="Arial"/>
                <a:cs typeface="Arial"/>
              </a:rPr>
              <a:t>simple</a:t>
            </a:r>
            <a:r>
              <a:rPr sz="1200" spc="-25" dirty="0">
                <a:solidFill>
                  <a:srgbClr val="3333B2"/>
                </a:solidFill>
                <a:latin typeface="Arial"/>
                <a:cs typeface="Arial"/>
              </a:rPr>
              <a:t> </a:t>
            </a:r>
            <a:r>
              <a:rPr sz="1200" spc="-5" dirty="0">
                <a:solidFill>
                  <a:srgbClr val="3333B2"/>
                </a:solidFill>
                <a:latin typeface="Arial"/>
                <a:cs typeface="Arial"/>
              </a:rPr>
              <a:t>reasons</a:t>
            </a:r>
            <a:endParaRPr sz="1200" dirty="0">
              <a:latin typeface="Arial"/>
              <a:cs typeface="Arial"/>
            </a:endParaRPr>
          </a:p>
          <a:p>
            <a:pPr marL="310515" marR="30480" indent="-163195">
              <a:lnSpc>
                <a:spcPct val="100000"/>
              </a:lnSpc>
              <a:spcBef>
                <a:spcPts val="770"/>
              </a:spcBef>
              <a:buClr>
                <a:srgbClr val="3333B2"/>
              </a:buClr>
              <a:buChar char="►"/>
              <a:tabLst>
                <a:tab pos="315595" algn="l"/>
              </a:tabLst>
            </a:pPr>
            <a:r>
              <a:rPr sz="1000" spc="-15" dirty="0">
                <a:solidFill>
                  <a:srgbClr val="0000FA"/>
                </a:solidFill>
                <a:latin typeface="Arial"/>
                <a:cs typeface="Arial"/>
              </a:rPr>
              <a:t>Avoid</a:t>
            </a:r>
            <a:r>
              <a:rPr sz="1000" spc="-5" dirty="0">
                <a:solidFill>
                  <a:srgbClr val="0000FA"/>
                </a:solidFill>
                <a:latin typeface="Arial"/>
                <a:cs typeface="Arial"/>
              </a:rPr>
              <a:t> needless</a:t>
            </a:r>
            <a:r>
              <a:rPr sz="1000" dirty="0">
                <a:solidFill>
                  <a:srgbClr val="0000FA"/>
                </a:solidFill>
                <a:latin typeface="Arial"/>
                <a:cs typeface="Arial"/>
              </a:rPr>
              <a:t> </a:t>
            </a:r>
            <a:r>
              <a:rPr sz="1000" spc="-10" dirty="0">
                <a:solidFill>
                  <a:srgbClr val="0000FA"/>
                </a:solidFill>
                <a:latin typeface="Arial"/>
                <a:cs typeface="Arial"/>
              </a:rPr>
              <a:t>blocking</a:t>
            </a:r>
            <a:r>
              <a:rPr sz="1000" spc="-10" dirty="0">
                <a:latin typeface="Arial"/>
                <a:cs typeface="Arial"/>
              </a:rPr>
              <a:t>:</a:t>
            </a:r>
            <a:r>
              <a:rPr sz="1000" spc="65" dirty="0">
                <a:latin typeface="Arial"/>
                <a:cs typeface="Arial"/>
              </a:rPr>
              <a:t> </a:t>
            </a:r>
            <a:r>
              <a:rPr sz="1000" spc="-5" dirty="0">
                <a:latin typeface="Arial"/>
                <a:cs typeface="Arial"/>
              </a:rPr>
              <a:t>a single-threaded</a:t>
            </a:r>
            <a:r>
              <a:rPr sz="1000"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will</a:t>
            </a:r>
            <a:r>
              <a:rPr sz="1000" dirty="0">
                <a:latin typeface="Arial"/>
                <a:cs typeface="Arial"/>
              </a:rPr>
              <a:t> </a:t>
            </a:r>
            <a:r>
              <a:rPr sz="1000" spc="-10" dirty="0">
                <a:solidFill>
                  <a:srgbClr val="FA0000"/>
                </a:solidFill>
                <a:latin typeface="Arial"/>
                <a:cs typeface="Arial"/>
              </a:rPr>
              <a:t>block </a:t>
            </a:r>
            <a:r>
              <a:rPr sz="1000" spc="-5" dirty="0">
                <a:solidFill>
                  <a:srgbClr val="FA0000"/>
                </a:solidFill>
                <a:latin typeface="Arial"/>
                <a:cs typeface="Arial"/>
              </a:rPr>
              <a:t> </a:t>
            </a:r>
            <a:r>
              <a:rPr sz="1000" spc="-15" dirty="0">
                <a:latin typeface="Arial"/>
                <a:cs typeface="Arial"/>
              </a:rPr>
              <a:t>when</a:t>
            </a:r>
            <a:r>
              <a:rPr sz="1000" spc="-10" dirty="0">
                <a:latin typeface="Arial"/>
                <a:cs typeface="Arial"/>
              </a:rPr>
              <a:t> </a:t>
            </a:r>
            <a:r>
              <a:rPr sz="1000" spc="-15" dirty="0">
                <a:latin typeface="Arial"/>
                <a:cs typeface="Arial"/>
              </a:rPr>
              <a:t>doing</a:t>
            </a:r>
            <a:r>
              <a:rPr sz="1000" dirty="0">
                <a:latin typeface="Arial"/>
                <a:cs typeface="Arial"/>
              </a:rPr>
              <a:t> </a:t>
            </a:r>
            <a:r>
              <a:rPr sz="1000" spc="-10" dirty="0">
                <a:latin typeface="Arial"/>
                <a:cs typeface="Arial"/>
              </a:rPr>
              <a:t>I/O;</a:t>
            </a:r>
            <a:r>
              <a:rPr sz="1000" spc="-5" dirty="0">
                <a:latin typeface="Arial"/>
                <a:cs typeface="Arial"/>
              </a:rPr>
              <a:t> </a:t>
            </a:r>
            <a:r>
              <a:rPr sz="1000" spc="-10" dirty="0">
                <a:latin typeface="Arial"/>
                <a:cs typeface="Arial"/>
              </a:rPr>
              <a:t>in</a:t>
            </a:r>
            <a:r>
              <a:rPr sz="1000" dirty="0">
                <a:latin typeface="Arial"/>
                <a:cs typeface="Arial"/>
              </a:rPr>
              <a:t> </a:t>
            </a:r>
            <a:r>
              <a:rPr sz="1000" spc="-15" dirty="0">
                <a:latin typeface="Arial"/>
                <a:cs typeface="Arial"/>
              </a:rPr>
              <a:t>a</a:t>
            </a:r>
            <a:r>
              <a:rPr sz="1000" spc="-10" dirty="0">
                <a:latin typeface="Arial"/>
                <a:cs typeface="Arial"/>
              </a:rPr>
              <a:t> </a:t>
            </a:r>
            <a:r>
              <a:rPr sz="1000" spc="-15" dirty="0">
                <a:latin typeface="Arial"/>
                <a:cs typeface="Arial"/>
              </a:rPr>
              <a:t>multi-threaded</a:t>
            </a:r>
            <a:r>
              <a:rPr sz="1000" dirty="0">
                <a:latin typeface="Arial"/>
                <a:cs typeface="Arial"/>
              </a:rPr>
              <a:t> </a:t>
            </a:r>
            <a:r>
              <a:rPr sz="1000" spc="-15" dirty="0">
                <a:latin typeface="Arial"/>
                <a:cs typeface="Arial"/>
              </a:rPr>
              <a:t>process,</a:t>
            </a:r>
            <a:r>
              <a:rPr sz="1000" dirty="0">
                <a:latin typeface="Arial"/>
                <a:cs typeface="Arial"/>
              </a:rPr>
              <a:t> </a:t>
            </a:r>
            <a:r>
              <a:rPr sz="1000" spc="-15" dirty="0">
                <a:latin typeface="Arial"/>
                <a:cs typeface="Arial"/>
              </a:rPr>
              <a:t>the</a:t>
            </a:r>
            <a:r>
              <a:rPr sz="1000" spc="-5" dirty="0">
                <a:latin typeface="Arial"/>
                <a:cs typeface="Arial"/>
              </a:rPr>
              <a:t> </a:t>
            </a:r>
            <a:r>
              <a:rPr sz="1000" spc="-15" dirty="0">
                <a:latin typeface="Arial"/>
                <a:cs typeface="Arial"/>
              </a:rPr>
              <a:t>operating</a:t>
            </a:r>
            <a:r>
              <a:rPr sz="1000" spc="-10" dirty="0">
                <a:latin typeface="Arial"/>
                <a:cs typeface="Arial"/>
              </a:rPr>
              <a:t> </a:t>
            </a:r>
            <a:r>
              <a:rPr sz="1000" spc="-15" dirty="0">
                <a:latin typeface="Arial"/>
                <a:cs typeface="Arial"/>
              </a:rPr>
              <a:t>system </a:t>
            </a:r>
            <a:r>
              <a:rPr sz="1000" spc="-260" dirty="0">
                <a:latin typeface="Arial"/>
                <a:cs typeface="Arial"/>
              </a:rPr>
              <a:t> </a:t>
            </a:r>
            <a:r>
              <a:rPr sz="1000" spc="-5" dirty="0">
                <a:latin typeface="Arial"/>
                <a:cs typeface="Arial"/>
              </a:rPr>
              <a:t>can </a:t>
            </a:r>
            <a:r>
              <a:rPr sz="1000" spc="-10" dirty="0">
                <a:latin typeface="Arial"/>
                <a:cs typeface="Arial"/>
              </a:rPr>
              <a:t>switch</a:t>
            </a:r>
            <a:r>
              <a:rPr sz="1000" spc="-5" dirty="0">
                <a:latin typeface="Arial"/>
                <a:cs typeface="Arial"/>
              </a:rPr>
              <a:t> the CPU to another</a:t>
            </a:r>
            <a:r>
              <a:rPr sz="1000" dirty="0">
                <a:latin typeface="Arial"/>
                <a:cs typeface="Arial"/>
              </a:rPr>
              <a:t> </a:t>
            </a:r>
            <a:r>
              <a:rPr sz="1000" spc="-5" dirty="0">
                <a:latin typeface="Arial"/>
                <a:cs typeface="Arial"/>
              </a:rPr>
              <a:t>thread in that process.</a:t>
            </a:r>
            <a:endParaRPr sz="1000" dirty="0">
              <a:latin typeface="Arial"/>
              <a:cs typeface="Arial"/>
            </a:endParaRPr>
          </a:p>
          <a:p>
            <a:pPr marL="314960" marR="112395" indent="-168275" algn="just">
              <a:lnSpc>
                <a:spcPct val="100000"/>
              </a:lnSpc>
              <a:spcBef>
                <a:spcPts val="585"/>
              </a:spcBef>
              <a:buClr>
                <a:srgbClr val="3333B2"/>
              </a:buClr>
              <a:buChar char="►"/>
              <a:tabLst>
                <a:tab pos="315595" algn="l"/>
              </a:tabLst>
            </a:pPr>
            <a:r>
              <a:rPr sz="1000" spc="-5" dirty="0">
                <a:solidFill>
                  <a:srgbClr val="0000FA"/>
                </a:solidFill>
                <a:latin typeface="Arial"/>
                <a:cs typeface="Arial"/>
              </a:rPr>
              <a:t>Exploit parallelism</a:t>
            </a:r>
            <a:r>
              <a:rPr sz="1000" spc="-5" dirty="0">
                <a:latin typeface="Arial"/>
                <a:cs typeface="Arial"/>
              </a:rPr>
              <a:t>: the threads in a multi-threaded process can </a:t>
            </a:r>
            <a:r>
              <a:rPr sz="1000" spc="-265" dirty="0">
                <a:latin typeface="Arial"/>
                <a:cs typeface="Arial"/>
              </a:rPr>
              <a:t> </a:t>
            </a:r>
            <a:r>
              <a:rPr sz="1000" spc="-5" dirty="0">
                <a:latin typeface="Arial"/>
                <a:cs typeface="Arial"/>
              </a:rPr>
              <a:t>be scheduled to </a:t>
            </a:r>
            <a:r>
              <a:rPr sz="1000" dirty="0">
                <a:latin typeface="Arial"/>
                <a:cs typeface="Arial"/>
              </a:rPr>
              <a:t>run </a:t>
            </a:r>
            <a:r>
              <a:rPr sz="1000" spc="-5" dirty="0">
                <a:latin typeface="Arial"/>
                <a:cs typeface="Arial"/>
              </a:rPr>
              <a:t>in parallel on a multiprocessor or multicore </a:t>
            </a:r>
            <a:r>
              <a:rPr sz="1000" spc="-265" dirty="0">
                <a:latin typeface="Arial"/>
                <a:cs typeface="Arial"/>
              </a:rPr>
              <a:t> </a:t>
            </a:r>
            <a:r>
              <a:rPr sz="1000" spc="-10" dirty="0">
                <a:latin typeface="Arial"/>
                <a:cs typeface="Arial"/>
              </a:rPr>
              <a:t>processor.</a:t>
            </a:r>
            <a:endParaRPr sz="1000" dirty="0">
              <a:latin typeface="Arial"/>
              <a:cs typeface="Arial"/>
            </a:endParaRPr>
          </a:p>
          <a:p>
            <a:pPr marL="314960" marR="225425" indent="-168275" algn="just">
              <a:lnSpc>
                <a:spcPct val="100000"/>
              </a:lnSpc>
              <a:spcBef>
                <a:spcPts val="585"/>
              </a:spcBef>
              <a:buClr>
                <a:srgbClr val="3333B2"/>
              </a:buClr>
              <a:buChar char="►"/>
              <a:tabLst>
                <a:tab pos="315595" algn="l"/>
              </a:tabLst>
            </a:pPr>
            <a:r>
              <a:rPr sz="1000" spc="-15" dirty="0">
                <a:solidFill>
                  <a:srgbClr val="0000FA"/>
                </a:solidFill>
                <a:latin typeface="Arial"/>
                <a:cs typeface="Arial"/>
              </a:rPr>
              <a:t>Avoid </a:t>
            </a:r>
            <a:r>
              <a:rPr sz="1000" spc="-5" dirty="0">
                <a:solidFill>
                  <a:srgbClr val="0000FA"/>
                </a:solidFill>
                <a:latin typeface="Arial"/>
                <a:cs typeface="Arial"/>
              </a:rPr>
              <a:t>process switching</a:t>
            </a:r>
            <a:r>
              <a:rPr sz="1000" spc="-5" dirty="0">
                <a:latin typeface="Arial"/>
                <a:cs typeface="Arial"/>
              </a:rPr>
              <a:t>: structure large applications not as a </a:t>
            </a:r>
            <a:r>
              <a:rPr sz="1000" spc="-265" dirty="0">
                <a:latin typeface="Arial"/>
                <a:cs typeface="Arial"/>
              </a:rPr>
              <a:t> </a:t>
            </a:r>
            <a:r>
              <a:rPr sz="1000" spc="-5" dirty="0">
                <a:latin typeface="Arial"/>
                <a:cs typeface="Arial"/>
              </a:rPr>
              <a:t>collection of processes, </a:t>
            </a:r>
            <a:r>
              <a:rPr sz="1000" spc="-10" dirty="0">
                <a:latin typeface="Arial"/>
                <a:cs typeface="Arial"/>
              </a:rPr>
              <a:t>but</a:t>
            </a:r>
            <a:r>
              <a:rPr sz="1000" spc="-5" dirty="0">
                <a:latin typeface="Arial"/>
                <a:cs typeface="Arial"/>
              </a:rPr>
              <a:t> through multiple threads.</a:t>
            </a:r>
            <a:endParaRPr sz="1000" dirty="0">
              <a:latin typeface="Arial"/>
              <a:cs typeface="Arial"/>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62640"/>
            <a:ext cx="2548890" cy="474345"/>
          </a:xfrm>
          <a:prstGeom prst="rect">
            <a:avLst/>
          </a:prstGeom>
        </p:spPr>
        <p:txBody>
          <a:bodyPr vert="horz" wrap="square" lIns="0" tIns="43180" rIns="0" bIns="0" rtlCol="0">
            <a:spAutoFit/>
          </a:bodyPr>
          <a:lstStyle/>
          <a:p>
            <a:pPr marL="12700">
              <a:lnSpc>
                <a:spcPct val="100000"/>
              </a:lnSpc>
              <a:spcBef>
                <a:spcPts val="340"/>
              </a:spcBef>
            </a:pPr>
            <a:r>
              <a:rPr sz="1400" spc="-5" dirty="0">
                <a:solidFill>
                  <a:srgbClr val="3333B2"/>
                </a:solidFill>
                <a:latin typeface="Arial"/>
                <a:cs typeface="Arial"/>
              </a:rPr>
              <a:t>Avoid</a:t>
            </a:r>
            <a:r>
              <a:rPr sz="1400" spc="-20" dirty="0">
                <a:solidFill>
                  <a:srgbClr val="3333B2"/>
                </a:solidFill>
                <a:latin typeface="Arial"/>
                <a:cs typeface="Arial"/>
              </a:rPr>
              <a:t> </a:t>
            </a:r>
            <a:r>
              <a:rPr sz="1400" spc="15" dirty="0">
                <a:solidFill>
                  <a:srgbClr val="3333B2"/>
                </a:solidFill>
                <a:latin typeface="Arial"/>
                <a:cs typeface="Arial"/>
              </a:rPr>
              <a:t>process</a:t>
            </a:r>
            <a:r>
              <a:rPr sz="1400" spc="-15" dirty="0">
                <a:solidFill>
                  <a:srgbClr val="3333B2"/>
                </a:solidFill>
                <a:latin typeface="Arial"/>
                <a:cs typeface="Arial"/>
              </a:rPr>
              <a:t> </a:t>
            </a:r>
            <a:r>
              <a:rPr sz="1400" spc="10" dirty="0">
                <a:solidFill>
                  <a:srgbClr val="3333B2"/>
                </a:solidFill>
                <a:latin typeface="Arial"/>
                <a:cs typeface="Arial"/>
              </a:rPr>
              <a:t>switching</a:t>
            </a:r>
            <a:endParaRPr sz="1400" dirty="0">
              <a:latin typeface="Arial"/>
              <a:cs typeface="Arial"/>
            </a:endParaRPr>
          </a:p>
          <a:p>
            <a:pPr marL="259079">
              <a:lnSpc>
                <a:spcPct val="100000"/>
              </a:lnSpc>
              <a:spcBef>
                <a:spcPts val="175"/>
              </a:spcBef>
            </a:pPr>
            <a:r>
              <a:rPr sz="1200" spc="-20" dirty="0">
                <a:solidFill>
                  <a:srgbClr val="3333B2"/>
                </a:solidFill>
                <a:latin typeface="Arial"/>
                <a:cs typeface="Arial"/>
              </a:rPr>
              <a:t>Avoid</a:t>
            </a:r>
            <a:r>
              <a:rPr sz="1200" spc="-10" dirty="0">
                <a:solidFill>
                  <a:srgbClr val="3333B2"/>
                </a:solidFill>
                <a:latin typeface="Arial"/>
                <a:cs typeface="Arial"/>
              </a:rPr>
              <a:t> </a:t>
            </a:r>
            <a:r>
              <a:rPr sz="1200" spc="-15" dirty="0">
                <a:solidFill>
                  <a:srgbClr val="3333B2"/>
                </a:solidFill>
                <a:latin typeface="Arial"/>
                <a:cs typeface="Arial"/>
              </a:rPr>
              <a:t>expensive</a:t>
            </a:r>
            <a:r>
              <a:rPr sz="1200" spc="-5" dirty="0">
                <a:solidFill>
                  <a:srgbClr val="3333B2"/>
                </a:solidFill>
                <a:latin typeface="Arial"/>
                <a:cs typeface="Arial"/>
              </a:rPr>
              <a:t> </a:t>
            </a:r>
            <a:r>
              <a:rPr sz="1200" spc="-10" dirty="0">
                <a:solidFill>
                  <a:srgbClr val="3333B2"/>
                </a:solidFill>
                <a:latin typeface="Arial"/>
                <a:cs typeface="Arial"/>
              </a:rPr>
              <a:t>context</a:t>
            </a:r>
            <a:r>
              <a:rPr sz="1200" spc="-5" dirty="0">
                <a:solidFill>
                  <a:srgbClr val="3333B2"/>
                </a:solidFill>
                <a:latin typeface="Arial"/>
                <a:cs typeface="Arial"/>
              </a:rPr>
              <a:t> </a:t>
            </a:r>
            <a:r>
              <a:rPr sz="1200" spc="-10" dirty="0">
                <a:solidFill>
                  <a:srgbClr val="3333B2"/>
                </a:solidFill>
                <a:latin typeface="Arial"/>
                <a:cs typeface="Arial"/>
              </a:rPr>
              <a:t>switching</a:t>
            </a:r>
            <a:endParaRPr sz="1200" dirty="0">
              <a:latin typeface="Arial"/>
              <a:cs typeface="Arial"/>
            </a:endParaRPr>
          </a:p>
        </p:txBody>
      </p:sp>
      <p:grpSp>
        <p:nvGrpSpPr>
          <p:cNvPr id="5" name="object 5"/>
          <p:cNvGrpSpPr/>
          <p:nvPr/>
        </p:nvGrpSpPr>
        <p:grpSpPr>
          <a:xfrm>
            <a:off x="1397478" y="755050"/>
            <a:ext cx="1746885" cy="1185545"/>
            <a:chOff x="1397478" y="755050"/>
            <a:chExt cx="1746885" cy="1185545"/>
          </a:xfrm>
        </p:grpSpPr>
        <p:sp>
          <p:nvSpPr>
            <p:cNvPr id="6" name="object 6"/>
            <p:cNvSpPr/>
            <p:nvPr/>
          </p:nvSpPr>
          <p:spPr>
            <a:xfrm>
              <a:off x="1762736" y="930043"/>
              <a:ext cx="1188085" cy="681990"/>
            </a:xfrm>
            <a:custGeom>
              <a:avLst/>
              <a:gdLst/>
              <a:ahLst/>
              <a:cxnLst/>
              <a:rect l="l" t="t" r="r" b="b"/>
              <a:pathLst>
                <a:path w="1188085" h="681990">
                  <a:moveTo>
                    <a:pt x="0" y="681858"/>
                  </a:moveTo>
                  <a:lnTo>
                    <a:pt x="509154" y="681858"/>
                  </a:lnTo>
                  <a:lnTo>
                    <a:pt x="509154" y="0"/>
                  </a:lnTo>
                  <a:lnTo>
                    <a:pt x="0" y="0"/>
                  </a:lnTo>
                  <a:lnTo>
                    <a:pt x="0" y="681858"/>
                  </a:lnTo>
                  <a:close/>
                </a:path>
                <a:path w="1188085" h="681990">
                  <a:moveTo>
                    <a:pt x="678871" y="681858"/>
                  </a:moveTo>
                  <a:lnTo>
                    <a:pt x="1188026" y="681858"/>
                  </a:lnTo>
                  <a:lnTo>
                    <a:pt x="1188026" y="0"/>
                  </a:lnTo>
                  <a:lnTo>
                    <a:pt x="678871" y="0"/>
                  </a:lnTo>
                  <a:lnTo>
                    <a:pt x="678871" y="681858"/>
                  </a:lnTo>
                  <a:close/>
                </a:path>
              </a:pathLst>
            </a:custGeom>
            <a:ln w="5270">
              <a:solidFill>
                <a:srgbClr val="231F20"/>
              </a:solidFill>
            </a:ln>
          </p:spPr>
          <p:txBody>
            <a:bodyPr wrap="square" lIns="0" tIns="0" rIns="0" bIns="0" rtlCol="0"/>
            <a:lstStyle/>
            <a:p>
              <a:endParaRPr/>
            </a:p>
          </p:txBody>
        </p:sp>
        <p:sp>
          <p:nvSpPr>
            <p:cNvPr id="7" name="object 7"/>
            <p:cNvSpPr/>
            <p:nvPr/>
          </p:nvSpPr>
          <p:spPr>
            <a:xfrm>
              <a:off x="1677881" y="760321"/>
              <a:ext cx="1358265" cy="1103630"/>
            </a:xfrm>
            <a:custGeom>
              <a:avLst/>
              <a:gdLst/>
              <a:ahLst/>
              <a:cxnLst/>
              <a:rect l="l" t="t" r="r" b="b"/>
              <a:pathLst>
                <a:path w="1358264" h="1103630">
                  <a:moveTo>
                    <a:pt x="0" y="1103168"/>
                  </a:moveTo>
                  <a:lnTo>
                    <a:pt x="1357743" y="1103168"/>
                  </a:lnTo>
                  <a:lnTo>
                    <a:pt x="1357743" y="0"/>
                  </a:lnTo>
                  <a:lnTo>
                    <a:pt x="0" y="0"/>
                  </a:lnTo>
                  <a:lnTo>
                    <a:pt x="0" y="1103168"/>
                  </a:lnTo>
                  <a:close/>
                </a:path>
              </a:pathLst>
            </a:custGeom>
            <a:ln w="10541">
              <a:solidFill>
                <a:srgbClr val="231F20"/>
              </a:solidFill>
            </a:ln>
          </p:spPr>
          <p:txBody>
            <a:bodyPr wrap="square" lIns="0" tIns="0" rIns="0" bIns="0" rtlCol="0"/>
            <a:lstStyle/>
            <a:p>
              <a:endParaRPr/>
            </a:p>
          </p:txBody>
        </p:sp>
        <p:sp>
          <p:nvSpPr>
            <p:cNvPr id="8" name="object 8"/>
            <p:cNvSpPr/>
            <p:nvPr/>
          </p:nvSpPr>
          <p:spPr>
            <a:xfrm>
              <a:off x="1679378" y="1432622"/>
              <a:ext cx="1358265" cy="254000"/>
            </a:xfrm>
            <a:custGeom>
              <a:avLst/>
              <a:gdLst/>
              <a:ahLst/>
              <a:cxnLst/>
              <a:rect l="l" t="t" r="r" b="b"/>
              <a:pathLst>
                <a:path w="1358264" h="254000">
                  <a:moveTo>
                    <a:pt x="0" y="179279"/>
                  </a:moveTo>
                  <a:lnTo>
                    <a:pt x="1357743" y="179279"/>
                  </a:lnTo>
                </a:path>
                <a:path w="1358264" h="254000">
                  <a:moveTo>
                    <a:pt x="341823" y="0"/>
                  </a:moveTo>
                  <a:lnTo>
                    <a:pt x="341823" y="179279"/>
                  </a:lnTo>
                </a:path>
                <a:path w="1358264" h="254000">
                  <a:moveTo>
                    <a:pt x="341823" y="179279"/>
                  </a:moveTo>
                  <a:lnTo>
                    <a:pt x="347193" y="209859"/>
                  </a:lnTo>
                  <a:lnTo>
                    <a:pt x="362367" y="233436"/>
                  </a:lnTo>
                  <a:lnTo>
                    <a:pt x="385946" y="248610"/>
                  </a:lnTo>
                  <a:lnTo>
                    <a:pt x="416527" y="253981"/>
                  </a:lnTo>
                </a:path>
                <a:path w="1358264" h="254000">
                  <a:moveTo>
                    <a:pt x="416527" y="253981"/>
                  </a:moveTo>
                  <a:lnTo>
                    <a:pt x="939424" y="253976"/>
                  </a:lnTo>
                </a:path>
              </a:pathLst>
            </a:custGeom>
            <a:ln w="5270">
              <a:solidFill>
                <a:srgbClr val="231F20"/>
              </a:solidFill>
            </a:ln>
          </p:spPr>
          <p:txBody>
            <a:bodyPr wrap="square" lIns="0" tIns="0" rIns="0" bIns="0" rtlCol="0"/>
            <a:lstStyle/>
            <a:p>
              <a:endParaRPr/>
            </a:p>
          </p:txBody>
        </p:sp>
        <p:pic>
          <p:nvPicPr>
            <p:cNvPr id="9" name="object 9"/>
            <p:cNvPicPr/>
            <p:nvPr/>
          </p:nvPicPr>
          <p:blipFill>
            <a:blip r:embed="rId4" cstate="print"/>
            <a:stretch>
              <a:fillRect/>
            </a:stretch>
          </p:blipFill>
          <p:spPr>
            <a:xfrm>
              <a:off x="2616167" y="1470001"/>
              <a:ext cx="109204" cy="219232"/>
            </a:xfrm>
            <a:prstGeom prst="rect">
              <a:avLst/>
            </a:prstGeom>
          </p:spPr>
        </p:pic>
        <p:sp>
          <p:nvSpPr>
            <p:cNvPr id="10" name="object 10"/>
            <p:cNvSpPr/>
            <p:nvPr/>
          </p:nvSpPr>
          <p:spPr>
            <a:xfrm>
              <a:off x="1400113" y="1433268"/>
              <a:ext cx="594360" cy="170180"/>
            </a:xfrm>
            <a:custGeom>
              <a:avLst/>
              <a:gdLst/>
              <a:ahLst/>
              <a:cxnLst/>
              <a:rect l="l" t="t" r="r" b="b"/>
              <a:pathLst>
                <a:path w="594360" h="170180">
                  <a:moveTo>
                    <a:pt x="0" y="0"/>
                  </a:moveTo>
                  <a:lnTo>
                    <a:pt x="594019" y="169714"/>
                  </a:lnTo>
                </a:path>
              </a:pathLst>
            </a:custGeom>
            <a:ln w="5270">
              <a:solidFill>
                <a:srgbClr val="231F20"/>
              </a:solidFill>
            </a:ln>
          </p:spPr>
          <p:txBody>
            <a:bodyPr wrap="square" lIns="0" tIns="0" rIns="0" bIns="0" rtlCol="0"/>
            <a:lstStyle/>
            <a:p>
              <a:endParaRPr/>
            </a:p>
          </p:txBody>
        </p:sp>
        <p:sp>
          <p:nvSpPr>
            <p:cNvPr id="11" name="object 11"/>
            <p:cNvSpPr/>
            <p:nvPr/>
          </p:nvSpPr>
          <p:spPr>
            <a:xfrm>
              <a:off x="1996103" y="1587698"/>
              <a:ext cx="42545" cy="42545"/>
            </a:xfrm>
            <a:custGeom>
              <a:avLst/>
              <a:gdLst/>
              <a:ahLst/>
              <a:cxnLst/>
              <a:rect l="l" t="t" r="r" b="b"/>
              <a:pathLst>
                <a:path w="42544" h="42544">
                  <a:moveTo>
                    <a:pt x="21219" y="0"/>
                  </a:moveTo>
                  <a:lnTo>
                    <a:pt x="12971" y="1671"/>
                  </a:lnTo>
                  <a:lnTo>
                    <a:pt x="6225" y="6224"/>
                  </a:lnTo>
                  <a:lnTo>
                    <a:pt x="1671" y="12969"/>
                  </a:lnTo>
                  <a:lnTo>
                    <a:pt x="0" y="21213"/>
                  </a:lnTo>
                  <a:lnTo>
                    <a:pt x="1671" y="29458"/>
                  </a:lnTo>
                  <a:lnTo>
                    <a:pt x="6225" y="36202"/>
                  </a:lnTo>
                  <a:lnTo>
                    <a:pt x="12971" y="40756"/>
                  </a:lnTo>
                  <a:lnTo>
                    <a:pt x="21219" y="42427"/>
                  </a:lnTo>
                  <a:lnTo>
                    <a:pt x="29460" y="40756"/>
                  </a:lnTo>
                  <a:lnTo>
                    <a:pt x="36203" y="36202"/>
                  </a:lnTo>
                  <a:lnTo>
                    <a:pt x="40756" y="29458"/>
                  </a:lnTo>
                  <a:lnTo>
                    <a:pt x="42427" y="21213"/>
                  </a:lnTo>
                  <a:lnTo>
                    <a:pt x="40756" y="12969"/>
                  </a:lnTo>
                  <a:lnTo>
                    <a:pt x="36203" y="6224"/>
                  </a:lnTo>
                  <a:lnTo>
                    <a:pt x="29460" y="1671"/>
                  </a:lnTo>
                  <a:lnTo>
                    <a:pt x="21219" y="0"/>
                  </a:lnTo>
                  <a:close/>
                </a:path>
              </a:pathLst>
            </a:custGeom>
            <a:solidFill>
              <a:srgbClr val="231F20"/>
            </a:solidFill>
          </p:spPr>
          <p:txBody>
            <a:bodyPr wrap="square" lIns="0" tIns="0" rIns="0" bIns="0" rtlCol="0"/>
            <a:lstStyle/>
            <a:p>
              <a:endParaRPr/>
            </a:p>
          </p:txBody>
        </p:sp>
        <p:sp>
          <p:nvSpPr>
            <p:cNvPr id="12" name="object 12"/>
            <p:cNvSpPr/>
            <p:nvPr/>
          </p:nvSpPr>
          <p:spPr>
            <a:xfrm>
              <a:off x="1996103" y="1587698"/>
              <a:ext cx="42545" cy="42545"/>
            </a:xfrm>
            <a:custGeom>
              <a:avLst/>
              <a:gdLst/>
              <a:ahLst/>
              <a:cxnLst/>
              <a:rect l="l" t="t" r="r" b="b"/>
              <a:pathLst>
                <a:path w="42544" h="42544">
                  <a:moveTo>
                    <a:pt x="21219" y="0"/>
                  </a:moveTo>
                  <a:lnTo>
                    <a:pt x="29460" y="1671"/>
                  </a:lnTo>
                  <a:lnTo>
                    <a:pt x="36203" y="6224"/>
                  </a:lnTo>
                  <a:lnTo>
                    <a:pt x="40756" y="12969"/>
                  </a:lnTo>
                  <a:lnTo>
                    <a:pt x="42427" y="21213"/>
                  </a:lnTo>
                  <a:lnTo>
                    <a:pt x="40756" y="29458"/>
                  </a:lnTo>
                  <a:lnTo>
                    <a:pt x="36203" y="36202"/>
                  </a:lnTo>
                  <a:lnTo>
                    <a:pt x="29460" y="40756"/>
                  </a:lnTo>
                  <a:lnTo>
                    <a:pt x="21219" y="42427"/>
                  </a:lnTo>
                  <a:lnTo>
                    <a:pt x="12971" y="40756"/>
                  </a:lnTo>
                  <a:lnTo>
                    <a:pt x="6225" y="36202"/>
                  </a:lnTo>
                  <a:lnTo>
                    <a:pt x="1671" y="29458"/>
                  </a:lnTo>
                  <a:lnTo>
                    <a:pt x="0" y="21213"/>
                  </a:lnTo>
                  <a:lnTo>
                    <a:pt x="1671" y="12969"/>
                  </a:lnTo>
                  <a:lnTo>
                    <a:pt x="6225" y="6224"/>
                  </a:lnTo>
                  <a:lnTo>
                    <a:pt x="12971" y="1671"/>
                  </a:lnTo>
                  <a:lnTo>
                    <a:pt x="21219" y="0"/>
                  </a:lnTo>
                  <a:close/>
                </a:path>
              </a:pathLst>
            </a:custGeom>
            <a:ln w="5270">
              <a:solidFill>
                <a:srgbClr val="231F20"/>
              </a:solidFill>
            </a:ln>
          </p:spPr>
          <p:txBody>
            <a:bodyPr wrap="square" lIns="0" tIns="0" rIns="0" bIns="0" rtlCol="0"/>
            <a:lstStyle/>
            <a:p>
              <a:endParaRPr/>
            </a:p>
          </p:txBody>
        </p:sp>
        <p:sp>
          <p:nvSpPr>
            <p:cNvPr id="13" name="object 13"/>
            <p:cNvSpPr/>
            <p:nvPr/>
          </p:nvSpPr>
          <p:spPr>
            <a:xfrm>
              <a:off x="2674975" y="1587698"/>
              <a:ext cx="42545" cy="42545"/>
            </a:xfrm>
            <a:custGeom>
              <a:avLst/>
              <a:gdLst/>
              <a:ahLst/>
              <a:cxnLst/>
              <a:rect l="l" t="t" r="r" b="b"/>
              <a:pathLst>
                <a:path w="42544" h="42544">
                  <a:moveTo>
                    <a:pt x="21219" y="0"/>
                  </a:moveTo>
                  <a:lnTo>
                    <a:pt x="12971" y="1671"/>
                  </a:lnTo>
                  <a:lnTo>
                    <a:pt x="6225" y="6224"/>
                  </a:lnTo>
                  <a:lnTo>
                    <a:pt x="1671" y="12969"/>
                  </a:lnTo>
                  <a:lnTo>
                    <a:pt x="0" y="21213"/>
                  </a:lnTo>
                  <a:lnTo>
                    <a:pt x="1671" y="29458"/>
                  </a:lnTo>
                  <a:lnTo>
                    <a:pt x="6225" y="36202"/>
                  </a:lnTo>
                  <a:lnTo>
                    <a:pt x="12971" y="40756"/>
                  </a:lnTo>
                  <a:lnTo>
                    <a:pt x="21219" y="42427"/>
                  </a:lnTo>
                  <a:lnTo>
                    <a:pt x="29460" y="40756"/>
                  </a:lnTo>
                  <a:lnTo>
                    <a:pt x="36203" y="36202"/>
                  </a:lnTo>
                  <a:lnTo>
                    <a:pt x="40756" y="29458"/>
                  </a:lnTo>
                  <a:lnTo>
                    <a:pt x="42427" y="21213"/>
                  </a:lnTo>
                  <a:lnTo>
                    <a:pt x="40756" y="12969"/>
                  </a:lnTo>
                  <a:lnTo>
                    <a:pt x="36203" y="6224"/>
                  </a:lnTo>
                  <a:lnTo>
                    <a:pt x="29460" y="1671"/>
                  </a:lnTo>
                  <a:lnTo>
                    <a:pt x="21219" y="0"/>
                  </a:lnTo>
                  <a:close/>
                </a:path>
              </a:pathLst>
            </a:custGeom>
            <a:solidFill>
              <a:srgbClr val="231F20"/>
            </a:solidFill>
          </p:spPr>
          <p:txBody>
            <a:bodyPr wrap="square" lIns="0" tIns="0" rIns="0" bIns="0" rtlCol="0"/>
            <a:lstStyle/>
            <a:p>
              <a:endParaRPr/>
            </a:p>
          </p:txBody>
        </p:sp>
        <p:sp>
          <p:nvSpPr>
            <p:cNvPr id="14" name="object 14"/>
            <p:cNvSpPr/>
            <p:nvPr/>
          </p:nvSpPr>
          <p:spPr>
            <a:xfrm>
              <a:off x="2674975" y="1587698"/>
              <a:ext cx="42545" cy="42545"/>
            </a:xfrm>
            <a:custGeom>
              <a:avLst/>
              <a:gdLst/>
              <a:ahLst/>
              <a:cxnLst/>
              <a:rect l="l" t="t" r="r" b="b"/>
              <a:pathLst>
                <a:path w="42544" h="42544">
                  <a:moveTo>
                    <a:pt x="21219" y="0"/>
                  </a:moveTo>
                  <a:lnTo>
                    <a:pt x="29460" y="1671"/>
                  </a:lnTo>
                  <a:lnTo>
                    <a:pt x="36203" y="6224"/>
                  </a:lnTo>
                  <a:lnTo>
                    <a:pt x="40756" y="12969"/>
                  </a:lnTo>
                  <a:lnTo>
                    <a:pt x="42427" y="21213"/>
                  </a:lnTo>
                  <a:lnTo>
                    <a:pt x="40756" y="29458"/>
                  </a:lnTo>
                  <a:lnTo>
                    <a:pt x="36203" y="36202"/>
                  </a:lnTo>
                  <a:lnTo>
                    <a:pt x="29460" y="40756"/>
                  </a:lnTo>
                  <a:lnTo>
                    <a:pt x="21219" y="42427"/>
                  </a:lnTo>
                  <a:lnTo>
                    <a:pt x="12971" y="40756"/>
                  </a:lnTo>
                  <a:lnTo>
                    <a:pt x="6225" y="36202"/>
                  </a:lnTo>
                  <a:lnTo>
                    <a:pt x="1671" y="29458"/>
                  </a:lnTo>
                  <a:lnTo>
                    <a:pt x="0" y="21213"/>
                  </a:lnTo>
                  <a:lnTo>
                    <a:pt x="1671" y="12969"/>
                  </a:lnTo>
                  <a:lnTo>
                    <a:pt x="6225" y="6224"/>
                  </a:lnTo>
                  <a:lnTo>
                    <a:pt x="12971" y="1671"/>
                  </a:lnTo>
                  <a:lnTo>
                    <a:pt x="21219" y="0"/>
                  </a:lnTo>
                  <a:close/>
                </a:path>
              </a:pathLst>
            </a:custGeom>
            <a:ln w="5270">
              <a:solidFill>
                <a:srgbClr val="231F20"/>
              </a:solidFill>
            </a:ln>
          </p:spPr>
          <p:txBody>
            <a:bodyPr wrap="square" lIns="0" tIns="0" rIns="0" bIns="0" rtlCol="0"/>
            <a:lstStyle/>
            <a:p>
              <a:endParaRPr/>
            </a:p>
          </p:txBody>
        </p:sp>
        <p:sp>
          <p:nvSpPr>
            <p:cNvPr id="15" name="object 15"/>
            <p:cNvSpPr/>
            <p:nvPr/>
          </p:nvSpPr>
          <p:spPr>
            <a:xfrm>
              <a:off x="2335534" y="1661951"/>
              <a:ext cx="42545" cy="42545"/>
            </a:xfrm>
            <a:custGeom>
              <a:avLst/>
              <a:gdLst/>
              <a:ahLst/>
              <a:cxnLst/>
              <a:rect l="l" t="t" r="r" b="b"/>
              <a:pathLst>
                <a:path w="42544" h="42544">
                  <a:moveTo>
                    <a:pt x="21219" y="0"/>
                  </a:moveTo>
                  <a:lnTo>
                    <a:pt x="12971" y="1671"/>
                  </a:lnTo>
                  <a:lnTo>
                    <a:pt x="6225" y="6224"/>
                  </a:lnTo>
                  <a:lnTo>
                    <a:pt x="1671" y="12969"/>
                  </a:lnTo>
                  <a:lnTo>
                    <a:pt x="0" y="21213"/>
                  </a:lnTo>
                  <a:lnTo>
                    <a:pt x="1671" y="29458"/>
                  </a:lnTo>
                  <a:lnTo>
                    <a:pt x="6225" y="36202"/>
                  </a:lnTo>
                  <a:lnTo>
                    <a:pt x="12971" y="40756"/>
                  </a:lnTo>
                  <a:lnTo>
                    <a:pt x="21219" y="42427"/>
                  </a:lnTo>
                  <a:lnTo>
                    <a:pt x="29466" y="40756"/>
                  </a:lnTo>
                  <a:lnTo>
                    <a:pt x="36212" y="36202"/>
                  </a:lnTo>
                  <a:lnTo>
                    <a:pt x="40766" y="29458"/>
                  </a:lnTo>
                  <a:lnTo>
                    <a:pt x="42438" y="21213"/>
                  </a:lnTo>
                  <a:lnTo>
                    <a:pt x="40766" y="12969"/>
                  </a:lnTo>
                  <a:lnTo>
                    <a:pt x="36212" y="6224"/>
                  </a:lnTo>
                  <a:lnTo>
                    <a:pt x="29466" y="1671"/>
                  </a:lnTo>
                  <a:lnTo>
                    <a:pt x="21219" y="0"/>
                  </a:lnTo>
                  <a:close/>
                </a:path>
              </a:pathLst>
            </a:custGeom>
            <a:solidFill>
              <a:srgbClr val="231F20"/>
            </a:solidFill>
          </p:spPr>
          <p:txBody>
            <a:bodyPr wrap="square" lIns="0" tIns="0" rIns="0" bIns="0" rtlCol="0"/>
            <a:lstStyle/>
            <a:p>
              <a:endParaRPr/>
            </a:p>
          </p:txBody>
        </p:sp>
        <p:sp>
          <p:nvSpPr>
            <p:cNvPr id="16" name="object 16"/>
            <p:cNvSpPr/>
            <p:nvPr/>
          </p:nvSpPr>
          <p:spPr>
            <a:xfrm>
              <a:off x="2335534" y="1661951"/>
              <a:ext cx="42545" cy="42545"/>
            </a:xfrm>
            <a:custGeom>
              <a:avLst/>
              <a:gdLst/>
              <a:ahLst/>
              <a:cxnLst/>
              <a:rect l="l" t="t" r="r" b="b"/>
              <a:pathLst>
                <a:path w="42544" h="42544">
                  <a:moveTo>
                    <a:pt x="21219" y="0"/>
                  </a:moveTo>
                  <a:lnTo>
                    <a:pt x="29466" y="1671"/>
                  </a:lnTo>
                  <a:lnTo>
                    <a:pt x="36212" y="6224"/>
                  </a:lnTo>
                  <a:lnTo>
                    <a:pt x="40766" y="12969"/>
                  </a:lnTo>
                  <a:lnTo>
                    <a:pt x="42438" y="21213"/>
                  </a:lnTo>
                  <a:lnTo>
                    <a:pt x="40766" y="29458"/>
                  </a:lnTo>
                  <a:lnTo>
                    <a:pt x="36212" y="36202"/>
                  </a:lnTo>
                  <a:lnTo>
                    <a:pt x="29466" y="40756"/>
                  </a:lnTo>
                  <a:lnTo>
                    <a:pt x="21219" y="42427"/>
                  </a:lnTo>
                  <a:lnTo>
                    <a:pt x="12971" y="40756"/>
                  </a:lnTo>
                  <a:lnTo>
                    <a:pt x="6225" y="36202"/>
                  </a:lnTo>
                  <a:lnTo>
                    <a:pt x="1671" y="29458"/>
                  </a:lnTo>
                  <a:lnTo>
                    <a:pt x="0" y="21213"/>
                  </a:lnTo>
                  <a:lnTo>
                    <a:pt x="1671" y="12969"/>
                  </a:lnTo>
                  <a:lnTo>
                    <a:pt x="6225" y="6224"/>
                  </a:lnTo>
                  <a:lnTo>
                    <a:pt x="12971" y="1671"/>
                  </a:lnTo>
                  <a:lnTo>
                    <a:pt x="21219" y="0"/>
                  </a:lnTo>
                  <a:close/>
                </a:path>
              </a:pathLst>
            </a:custGeom>
            <a:ln w="5270">
              <a:solidFill>
                <a:srgbClr val="231F20"/>
              </a:solidFill>
            </a:ln>
          </p:spPr>
          <p:txBody>
            <a:bodyPr wrap="square" lIns="0" tIns="0" rIns="0" bIns="0" rtlCol="0"/>
            <a:lstStyle/>
            <a:p>
              <a:endParaRPr/>
            </a:p>
          </p:txBody>
        </p:sp>
        <p:sp>
          <p:nvSpPr>
            <p:cNvPr id="17" name="object 17"/>
            <p:cNvSpPr/>
            <p:nvPr/>
          </p:nvSpPr>
          <p:spPr>
            <a:xfrm>
              <a:off x="2370593" y="1502839"/>
              <a:ext cx="771525" cy="434975"/>
            </a:xfrm>
            <a:custGeom>
              <a:avLst/>
              <a:gdLst/>
              <a:ahLst/>
              <a:cxnLst/>
              <a:rect l="l" t="t" r="r" b="b"/>
              <a:pathLst>
                <a:path w="771525" h="434975">
                  <a:moveTo>
                    <a:pt x="771105" y="0"/>
                  </a:moveTo>
                  <a:lnTo>
                    <a:pt x="332041" y="101013"/>
                  </a:lnTo>
                </a:path>
                <a:path w="771525" h="434975">
                  <a:moveTo>
                    <a:pt x="304381" y="434903"/>
                  </a:moveTo>
                  <a:lnTo>
                    <a:pt x="0" y="195882"/>
                  </a:lnTo>
                </a:path>
              </a:pathLst>
            </a:custGeom>
            <a:ln w="5270">
              <a:solidFill>
                <a:srgbClr val="231F20"/>
              </a:solidFill>
            </a:ln>
          </p:spPr>
          <p:txBody>
            <a:bodyPr wrap="square" lIns="0" tIns="0" rIns="0" bIns="0" rtlCol="0"/>
            <a:lstStyle/>
            <a:p>
              <a:endParaRPr/>
            </a:p>
          </p:txBody>
        </p:sp>
      </p:grpSp>
      <p:sp>
        <p:nvSpPr>
          <p:cNvPr id="18" name="object 18"/>
          <p:cNvSpPr txBox="1"/>
          <p:nvPr/>
        </p:nvSpPr>
        <p:spPr>
          <a:xfrm>
            <a:off x="1814284" y="812695"/>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a:t>
            </a:r>
            <a:r>
              <a:rPr sz="650" spc="-35" dirty="0">
                <a:solidFill>
                  <a:srgbClr val="231F20"/>
                </a:solidFill>
                <a:latin typeface="Arial"/>
                <a:cs typeface="Arial"/>
              </a:rPr>
              <a:t> </a:t>
            </a:r>
            <a:r>
              <a:rPr sz="650" spc="5" dirty="0">
                <a:solidFill>
                  <a:srgbClr val="231F20"/>
                </a:solidFill>
                <a:latin typeface="Arial"/>
                <a:cs typeface="Arial"/>
              </a:rPr>
              <a:t>A</a:t>
            </a:r>
            <a:endParaRPr sz="650">
              <a:latin typeface="Arial"/>
              <a:cs typeface="Arial"/>
            </a:endParaRPr>
          </a:p>
        </p:txBody>
      </p:sp>
      <p:sp>
        <p:nvSpPr>
          <p:cNvPr id="19" name="object 19"/>
          <p:cNvSpPr txBox="1"/>
          <p:nvPr/>
        </p:nvSpPr>
        <p:spPr>
          <a:xfrm>
            <a:off x="2486581" y="812695"/>
            <a:ext cx="4102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Process B</a:t>
            </a:r>
            <a:endParaRPr sz="650">
              <a:latin typeface="Arial"/>
              <a:cs typeface="Arial"/>
            </a:endParaRPr>
          </a:p>
        </p:txBody>
      </p:sp>
      <p:sp>
        <p:nvSpPr>
          <p:cNvPr id="20" name="object 20"/>
          <p:cNvSpPr txBox="1"/>
          <p:nvPr/>
        </p:nvSpPr>
        <p:spPr>
          <a:xfrm>
            <a:off x="527210" y="1247585"/>
            <a:ext cx="1051560" cy="220979"/>
          </a:xfrm>
          <a:prstGeom prst="rect">
            <a:avLst/>
          </a:prstGeom>
        </p:spPr>
        <p:txBody>
          <a:bodyPr vert="horz" wrap="square" lIns="0" tIns="21590" rIns="0" bIns="0" rtlCol="0">
            <a:spAutoFit/>
          </a:bodyPr>
          <a:lstStyle/>
          <a:p>
            <a:pPr marL="161925" marR="5080" indent="-149860">
              <a:lnSpc>
                <a:spcPts val="740"/>
              </a:lnSpc>
              <a:spcBef>
                <a:spcPts val="170"/>
              </a:spcBef>
            </a:pPr>
            <a:r>
              <a:rPr sz="650" spc="5" dirty="0">
                <a:solidFill>
                  <a:srgbClr val="231F20"/>
                </a:solidFill>
                <a:latin typeface="Arial"/>
                <a:cs typeface="Arial"/>
              </a:rPr>
              <a:t>S1:</a:t>
            </a:r>
            <a:r>
              <a:rPr sz="650" spc="-20" dirty="0">
                <a:solidFill>
                  <a:srgbClr val="231F20"/>
                </a:solidFill>
                <a:latin typeface="Arial"/>
                <a:cs typeface="Arial"/>
              </a:rPr>
              <a:t> </a:t>
            </a:r>
            <a:r>
              <a:rPr sz="650" spc="5" dirty="0">
                <a:solidFill>
                  <a:srgbClr val="231F20"/>
                </a:solidFill>
                <a:latin typeface="Arial"/>
                <a:cs typeface="Arial"/>
              </a:rPr>
              <a:t>Switch</a:t>
            </a:r>
            <a:r>
              <a:rPr sz="650" spc="-15" dirty="0">
                <a:solidFill>
                  <a:srgbClr val="231F20"/>
                </a:solidFill>
                <a:latin typeface="Arial"/>
                <a:cs typeface="Arial"/>
              </a:rPr>
              <a:t> </a:t>
            </a:r>
            <a:r>
              <a:rPr sz="650" spc="5" dirty="0">
                <a:solidFill>
                  <a:srgbClr val="231F20"/>
                </a:solidFill>
                <a:latin typeface="Arial"/>
                <a:cs typeface="Arial"/>
              </a:rPr>
              <a:t>from</a:t>
            </a:r>
            <a:r>
              <a:rPr sz="650" spc="-10" dirty="0">
                <a:solidFill>
                  <a:srgbClr val="231F20"/>
                </a:solidFill>
                <a:latin typeface="Arial"/>
                <a:cs typeface="Arial"/>
              </a:rPr>
              <a:t> </a:t>
            </a:r>
            <a:r>
              <a:rPr sz="650" spc="5" dirty="0">
                <a:solidFill>
                  <a:srgbClr val="231F20"/>
                </a:solidFill>
                <a:latin typeface="Arial"/>
                <a:cs typeface="Arial"/>
              </a:rPr>
              <a:t>user</a:t>
            </a:r>
            <a:r>
              <a:rPr sz="650" spc="-15" dirty="0">
                <a:solidFill>
                  <a:srgbClr val="231F20"/>
                </a:solidFill>
                <a:latin typeface="Arial"/>
                <a:cs typeface="Arial"/>
              </a:rPr>
              <a:t> </a:t>
            </a:r>
            <a:r>
              <a:rPr sz="650" spc="5" dirty="0">
                <a:solidFill>
                  <a:srgbClr val="231F20"/>
                </a:solidFill>
                <a:latin typeface="Arial"/>
                <a:cs typeface="Arial"/>
              </a:rPr>
              <a:t>space </a:t>
            </a:r>
            <a:r>
              <a:rPr sz="650" spc="-165" dirty="0">
                <a:solidFill>
                  <a:srgbClr val="231F20"/>
                </a:solidFill>
                <a:latin typeface="Arial"/>
                <a:cs typeface="Arial"/>
              </a:rPr>
              <a:t> </a:t>
            </a:r>
            <a:r>
              <a:rPr sz="650" spc="5" dirty="0">
                <a:solidFill>
                  <a:srgbClr val="231F20"/>
                </a:solidFill>
                <a:latin typeface="Arial"/>
                <a:cs typeface="Arial"/>
              </a:rPr>
              <a:t>to</a:t>
            </a:r>
            <a:r>
              <a:rPr sz="650" spc="-10" dirty="0">
                <a:solidFill>
                  <a:srgbClr val="231F20"/>
                </a:solidFill>
                <a:latin typeface="Arial"/>
                <a:cs typeface="Arial"/>
              </a:rPr>
              <a:t> </a:t>
            </a:r>
            <a:r>
              <a:rPr sz="650" spc="5" dirty="0">
                <a:solidFill>
                  <a:srgbClr val="231F20"/>
                </a:solidFill>
                <a:latin typeface="Arial"/>
                <a:cs typeface="Arial"/>
              </a:rPr>
              <a:t>kernel</a:t>
            </a:r>
            <a:r>
              <a:rPr sz="650" spc="-5"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p:txBody>
      </p:sp>
      <p:sp>
        <p:nvSpPr>
          <p:cNvPr id="21" name="object 21"/>
          <p:cNvSpPr txBox="1"/>
          <p:nvPr/>
        </p:nvSpPr>
        <p:spPr>
          <a:xfrm>
            <a:off x="1683152" y="1724034"/>
            <a:ext cx="1671955" cy="445134"/>
          </a:xfrm>
          <a:prstGeom prst="rect">
            <a:avLst/>
          </a:prstGeom>
        </p:spPr>
        <p:txBody>
          <a:bodyPr vert="horz" wrap="square" lIns="0" tIns="13970" rIns="0" bIns="0" rtlCol="0">
            <a:spAutoFit/>
          </a:bodyPr>
          <a:lstStyle/>
          <a:p>
            <a:pPr marL="24130">
              <a:lnSpc>
                <a:spcPct val="100000"/>
              </a:lnSpc>
              <a:spcBef>
                <a:spcPts val="110"/>
              </a:spcBef>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p>
            <a:pPr>
              <a:lnSpc>
                <a:spcPct val="100000"/>
              </a:lnSpc>
            </a:pPr>
            <a:endParaRPr sz="600">
              <a:latin typeface="Arial"/>
              <a:cs typeface="Arial"/>
            </a:endParaRPr>
          </a:p>
          <a:p>
            <a:pPr marL="800735" marR="5080" indent="-149860">
              <a:lnSpc>
                <a:spcPts val="740"/>
              </a:lnSpc>
              <a:spcBef>
                <a:spcPts val="355"/>
              </a:spcBef>
            </a:pPr>
            <a:r>
              <a:rPr sz="650" spc="5" dirty="0">
                <a:solidFill>
                  <a:srgbClr val="231F20"/>
                </a:solidFill>
                <a:latin typeface="Arial"/>
                <a:cs typeface="Arial"/>
              </a:rPr>
              <a:t>S2: Switch context from </a:t>
            </a:r>
            <a:r>
              <a:rPr sz="650" spc="10" dirty="0">
                <a:solidFill>
                  <a:srgbClr val="231F20"/>
                </a:solidFill>
                <a:latin typeface="Arial"/>
                <a:cs typeface="Arial"/>
              </a:rPr>
              <a:t> </a:t>
            </a:r>
            <a:r>
              <a:rPr sz="650" spc="5" dirty="0">
                <a:solidFill>
                  <a:srgbClr val="231F20"/>
                </a:solidFill>
                <a:latin typeface="Arial"/>
                <a:cs typeface="Arial"/>
              </a:rPr>
              <a:t>process</a:t>
            </a:r>
            <a:r>
              <a:rPr sz="650" spc="-35" dirty="0">
                <a:solidFill>
                  <a:srgbClr val="231F20"/>
                </a:solidFill>
                <a:latin typeface="Arial"/>
                <a:cs typeface="Arial"/>
              </a:rPr>
              <a:t> </a:t>
            </a:r>
            <a:r>
              <a:rPr sz="650" spc="5" dirty="0">
                <a:solidFill>
                  <a:srgbClr val="231F20"/>
                </a:solidFill>
                <a:latin typeface="Arial"/>
                <a:cs typeface="Arial"/>
              </a:rPr>
              <a:t>A</a:t>
            </a:r>
            <a:r>
              <a:rPr sz="650" spc="-35" dirty="0">
                <a:solidFill>
                  <a:srgbClr val="231F20"/>
                </a:solidFill>
                <a:latin typeface="Arial"/>
                <a:cs typeface="Arial"/>
              </a:rPr>
              <a:t> </a:t>
            </a:r>
            <a:r>
              <a:rPr sz="650" spc="5" dirty="0">
                <a:solidFill>
                  <a:srgbClr val="231F20"/>
                </a:solidFill>
                <a:latin typeface="Arial"/>
                <a:cs typeface="Arial"/>
              </a:rPr>
              <a:t>to</a:t>
            </a:r>
            <a:r>
              <a:rPr sz="650" dirty="0">
                <a:solidFill>
                  <a:srgbClr val="231F20"/>
                </a:solidFill>
                <a:latin typeface="Arial"/>
                <a:cs typeface="Arial"/>
              </a:rPr>
              <a:t> </a:t>
            </a:r>
            <a:r>
              <a:rPr sz="650" spc="5" dirty="0">
                <a:solidFill>
                  <a:srgbClr val="231F20"/>
                </a:solidFill>
                <a:latin typeface="Arial"/>
                <a:cs typeface="Arial"/>
              </a:rPr>
              <a:t>process</a:t>
            </a:r>
            <a:r>
              <a:rPr sz="650" dirty="0">
                <a:solidFill>
                  <a:srgbClr val="231F20"/>
                </a:solidFill>
                <a:latin typeface="Arial"/>
                <a:cs typeface="Arial"/>
              </a:rPr>
              <a:t> </a:t>
            </a:r>
            <a:r>
              <a:rPr sz="650" spc="5" dirty="0">
                <a:solidFill>
                  <a:srgbClr val="231F20"/>
                </a:solidFill>
                <a:latin typeface="Arial"/>
                <a:cs typeface="Arial"/>
              </a:rPr>
              <a:t>B</a:t>
            </a:r>
            <a:endParaRPr sz="650">
              <a:latin typeface="Arial"/>
              <a:cs typeface="Arial"/>
            </a:endParaRPr>
          </a:p>
        </p:txBody>
      </p:sp>
      <p:sp>
        <p:nvSpPr>
          <p:cNvPr id="22" name="object 22"/>
          <p:cNvSpPr txBox="1"/>
          <p:nvPr/>
        </p:nvSpPr>
        <p:spPr>
          <a:xfrm>
            <a:off x="3158875" y="1395356"/>
            <a:ext cx="929640" cy="220979"/>
          </a:xfrm>
          <a:prstGeom prst="rect">
            <a:avLst/>
          </a:prstGeom>
        </p:spPr>
        <p:txBody>
          <a:bodyPr vert="horz" wrap="square" lIns="0" tIns="21590" rIns="0" bIns="0" rtlCol="0">
            <a:spAutoFit/>
          </a:bodyPr>
          <a:lstStyle/>
          <a:p>
            <a:pPr marL="161925" marR="5080" indent="-149860">
              <a:lnSpc>
                <a:spcPts val="740"/>
              </a:lnSpc>
              <a:spcBef>
                <a:spcPts val="170"/>
              </a:spcBef>
            </a:pPr>
            <a:r>
              <a:rPr sz="650" spc="5" dirty="0">
                <a:solidFill>
                  <a:srgbClr val="231F20"/>
                </a:solidFill>
                <a:latin typeface="Arial"/>
                <a:cs typeface="Arial"/>
              </a:rPr>
              <a:t>S3: Switch from kernel </a:t>
            </a:r>
            <a:r>
              <a:rPr sz="650" spc="10" dirty="0">
                <a:solidFill>
                  <a:srgbClr val="231F20"/>
                </a:solidFill>
                <a:latin typeface="Arial"/>
                <a:cs typeface="Arial"/>
              </a:rPr>
              <a:t> </a:t>
            </a:r>
            <a:r>
              <a:rPr sz="650" spc="5" dirty="0">
                <a:solidFill>
                  <a:srgbClr val="231F20"/>
                </a:solidFill>
                <a:latin typeface="Arial"/>
                <a:cs typeface="Arial"/>
              </a:rPr>
              <a:t>space</a:t>
            </a:r>
            <a:r>
              <a:rPr sz="650" spc="-25" dirty="0">
                <a:solidFill>
                  <a:srgbClr val="231F20"/>
                </a:solidFill>
                <a:latin typeface="Arial"/>
                <a:cs typeface="Arial"/>
              </a:rPr>
              <a:t> </a:t>
            </a:r>
            <a:r>
              <a:rPr sz="650" spc="5" dirty="0">
                <a:solidFill>
                  <a:srgbClr val="231F20"/>
                </a:solidFill>
                <a:latin typeface="Arial"/>
                <a:cs typeface="Arial"/>
              </a:rPr>
              <a:t>to</a:t>
            </a:r>
            <a:r>
              <a:rPr sz="650" spc="-20" dirty="0">
                <a:solidFill>
                  <a:srgbClr val="231F20"/>
                </a:solidFill>
                <a:latin typeface="Arial"/>
                <a:cs typeface="Arial"/>
              </a:rPr>
              <a:t> </a:t>
            </a:r>
            <a:r>
              <a:rPr sz="650" spc="5" dirty="0">
                <a:solidFill>
                  <a:srgbClr val="231F20"/>
                </a:solidFill>
                <a:latin typeface="Arial"/>
                <a:cs typeface="Arial"/>
              </a:rPr>
              <a:t>user</a:t>
            </a:r>
            <a:r>
              <a:rPr sz="650" spc="-20"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p:txBody>
      </p:sp>
      <p:sp>
        <p:nvSpPr>
          <p:cNvPr id="23" name="object 23"/>
          <p:cNvSpPr txBox="1"/>
          <p:nvPr/>
        </p:nvSpPr>
        <p:spPr>
          <a:xfrm>
            <a:off x="317195" y="2256504"/>
            <a:ext cx="3809365" cy="892175"/>
          </a:xfrm>
          <a:prstGeom prst="rect">
            <a:avLst/>
          </a:prstGeom>
        </p:spPr>
        <p:txBody>
          <a:bodyPr vert="horz" wrap="square" lIns="0" tIns="95250" rIns="0" bIns="0" rtlCol="0">
            <a:spAutoFit/>
          </a:bodyPr>
          <a:lstStyle/>
          <a:p>
            <a:pPr marL="38100">
              <a:lnSpc>
                <a:spcPct val="100000"/>
              </a:lnSpc>
              <a:spcBef>
                <a:spcPts val="750"/>
              </a:spcBef>
            </a:pPr>
            <a:r>
              <a:rPr sz="1200" spc="-20" dirty="0">
                <a:solidFill>
                  <a:srgbClr val="3333B2"/>
                </a:solidFill>
                <a:latin typeface="Arial"/>
                <a:cs typeface="Arial"/>
              </a:rPr>
              <a:t>Trade-offs</a:t>
            </a:r>
            <a:endParaRPr sz="1200" dirty="0">
              <a:latin typeface="Arial"/>
              <a:cs typeface="Arial"/>
            </a:endParaRPr>
          </a:p>
          <a:p>
            <a:pPr marL="319405" indent="-168275">
              <a:lnSpc>
                <a:spcPct val="100000"/>
              </a:lnSpc>
              <a:spcBef>
                <a:spcPts val="545"/>
              </a:spcBef>
              <a:buClr>
                <a:srgbClr val="3333B2"/>
              </a:buClr>
              <a:buChar char="►"/>
              <a:tabLst>
                <a:tab pos="320040" algn="l"/>
              </a:tabLst>
            </a:pPr>
            <a:r>
              <a:rPr sz="1000" spc="-5" dirty="0">
                <a:latin typeface="Arial"/>
                <a:cs typeface="Arial"/>
              </a:rPr>
              <a:t>Threads use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a:t>
            </a:r>
            <a:r>
              <a:rPr sz="1000" dirty="0">
                <a:latin typeface="Arial"/>
                <a:cs typeface="Arial"/>
              </a:rPr>
              <a:t> </a:t>
            </a:r>
            <a:r>
              <a:rPr sz="1000" spc="-5" dirty="0">
                <a:latin typeface="Arial"/>
                <a:cs typeface="Arial"/>
              </a:rPr>
              <a:t>address</a:t>
            </a:r>
            <a:r>
              <a:rPr sz="1000" dirty="0">
                <a:latin typeface="Arial"/>
                <a:cs typeface="Arial"/>
              </a:rPr>
              <a:t> </a:t>
            </a:r>
            <a:r>
              <a:rPr sz="1000" spc="-5" dirty="0">
                <a:latin typeface="Arial"/>
                <a:cs typeface="Arial"/>
              </a:rPr>
              <a:t>space:</a:t>
            </a:r>
            <a:r>
              <a:rPr sz="1000" spc="65" dirty="0">
                <a:latin typeface="Arial"/>
                <a:cs typeface="Arial"/>
              </a:rPr>
              <a:t> </a:t>
            </a:r>
            <a:r>
              <a:rPr sz="1000" spc="-5" dirty="0">
                <a:latin typeface="Arial"/>
                <a:cs typeface="Arial"/>
              </a:rPr>
              <a:t>more prone</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errors</a:t>
            </a:r>
            <a:endParaRPr sz="1000" dirty="0">
              <a:latin typeface="Arial"/>
              <a:cs typeface="Arial"/>
            </a:endParaRPr>
          </a:p>
          <a:p>
            <a:pPr marL="319405" marR="30480" indent="-168275">
              <a:lnSpc>
                <a:spcPct val="100000"/>
              </a:lnSpc>
              <a:spcBef>
                <a:spcPts val="590"/>
              </a:spcBef>
              <a:buClr>
                <a:srgbClr val="3333B2"/>
              </a:buClr>
              <a:buChar char="►"/>
              <a:tabLst>
                <a:tab pos="320040" algn="l"/>
              </a:tabLst>
            </a:pPr>
            <a:r>
              <a:rPr sz="1000" spc="-5" dirty="0">
                <a:latin typeface="Arial"/>
                <a:cs typeface="Arial"/>
              </a:rPr>
              <a:t>No </a:t>
            </a:r>
            <a:r>
              <a:rPr sz="1000" dirty="0">
                <a:latin typeface="Arial"/>
                <a:cs typeface="Arial"/>
              </a:rPr>
              <a:t>support </a:t>
            </a:r>
            <a:r>
              <a:rPr sz="1000" spc="-5" dirty="0">
                <a:latin typeface="Arial"/>
                <a:cs typeface="Arial"/>
              </a:rPr>
              <a:t>from</a:t>
            </a:r>
            <a:r>
              <a:rPr sz="1000" dirty="0">
                <a:latin typeface="Arial"/>
                <a:cs typeface="Arial"/>
              </a:rPr>
              <a:t> </a:t>
            </a:r>
            <a:r>
              <a:rPr sz="1000" spc="-5" dirty="0">
                <a:latin typeface="Arial"/>
                <a:cs typeface="Arial"/>
              </a:rPr>
              <a:t>OS/HW</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protect</a:t>
            </a:r>
            <a:r>
              <a:rPr sz="1000" dirty="0">
                <a:latin typeface="Arial"/>
                <a:cs typeface="Arial"/>
              </a:rPr>
              <a:t> </a:t>
            </a:r>
            <a:r>
              <a:rPr sz="1000" spc="-5" dirty="0">
                <a:latin typeface="Arial"/>
                <a:cs typeface="Arial"/>
              </a:rPr>
              <a:t>threads using</a:t>
            </a:r>
            <a:r>
              <a:rPr sz="1000" dirty="0">
                <a:latin typeface="Arial"/>
                <a:cs typeface="Arial"/>
              </a:rPr>
              <a:t> </a:t>
            </a:r>
            <a:r>
              <a:rPr sz="1000" spc="-5" dirty="0">
                <a:latin typeface="Arial"/>
                <a:cs typeface="Arial"/>
              </a:rPr>
              <a:t>each</a:t>
            </a:r>
            <a:r>
              <a:rPr sz="1000" dirty="0">
                <a:latin typeface="Arial"/>
                <a:cs typeface="Arial"/>
              </a:rPr>
              <a:t> </a:t>
            </a:r>
            <a:r>
              <a:rPr sz="1000" spc="-10" dirty="0">
                <a:latin typeface="Arial"/>
                <a:cs typeface="Arial"/>
              </a:rPr>
              <a:t>other’s </a:t>
            </a:r>
            <a:r>
              <a:rPr sz="1000" spc="-260" dirty="0">
                <a:latin typeface="Arial"/>
                <a:cs typeface="Arial"/>
              </a:rPr>
              <a:t> </a:t>
            </a:r>
            <a:r>
              <a:rPr sz="1000" dirty="0">
                <a:latin typeface="Arial"/>
                <a:cs typeface="Arial"/>
              </a:rPr>
              <a:t>memory</a:t>
            </a:r>
          </a:p>
        </p:txBody>
      </p:sp>
      <p:sp>
        <p:nvSpPr>
          <p:cNvPr id="24" name="object 24"/>
          <p:cNvSpPr txBox="1"/>
          <p:nvPr/>
        </p:nvSpPr>
        <p:spPr>
          <a:xfrm>
            <a:off x="41313" y="3198843"/>
            <a:ext cx="4018915" cy="255904"/>
          </a:xfrm>
          <a:prstGeom prst="rect">
            <a:avLst/>
          </a:prstGeom>
        </p:spPr>
        <p:txBody>
          <a:bodyPr vert="horz" wrap="square" lIns="0" tIns="12065" rIns="0" bIns="0" rtlCol="0">
            <a:spAutoFit/>
          </a:bodyPr>
          <a:lstStyle/>
          <a:p>
            <a:pPr marL="595630" indent="-168275">
              <a:lnSpc>
                <a:spcPts val="910"/>
              </a:lnSpc>
              <a:spcBef>
                <a:spcPts val="95"/>
              </a:spcBef>
              <a:buClr>
                <a:srgbClr val="3333B2"/>
              </a:buClr>
              <a:buChar char="►"/>
              <a:tabLst>
                <a:tab pos="596265" algn="l"/>
              </a:tabLst>
            </a:pPr>
            <a:r>
              <a:rPr sz="1000" spc="-5" dirty="0">
                <a:latin typeface="Arial"/>
                <a:cs typeface="Arial"/>
              </a:rPr>
              <a:t>Thread</a:t>
            </a:r>
            <a:r>
              <a:rPr sz="1000" dirty="0">
                <a:latin typeface="Arial"/>
                <a:cs typeface="Arial"/>
              </a:rPr>
              <a:t> </a:t>
            </a:r>
            <a:r>
              <a:rPr sz="1000" spc="-10" dirty="0">
                <a:latin typeface="Arial"/>
                <a:cs typeface="Arial"/>
              </a:rPr>
              <a:t>context</a:t>
            </a:r>
            <a:r>
              <a:rPr sz="1000" spc="5" dirty="0">
                <a:latin typeface="Arial"/>
                <a:cs typeface="Arial"/>
              </a:rPr>
              <a:t> </a:t>
            </a:r>
            <a:r>
              <a:rPr sz="1000" spc="-10" dirty="0">
                <a:latin typeface="Arial"/>
                <a:cs typeface="Arial"/>
              </a:rPr>
              <a:t>switching</a:t>
            </a:r>
            <a:r>
              <a:rPr sz="1000" spc="5" dirty="0">
                <a:latin typeface="Arial"/>
                <a:cs typeface="Arial"/>
              </a:rPr>
              <a:t> </a:t>
            </a:r>
            <a:r>
              <a:rPr sz="1000" spc="-15" dirty="0">
                <a:latin typeface="Arial"/>
                <a:cs typeface="Arial"/>
              </a:rPr>
              <a:t>may</a:t>
            </a:r>
            <a:r>
              <a:rPr sz="1000" spc="5" dirty="0">
                <a:latin typeface="Arial"/>
                <a:cs typeface="Arial"/>
              </a:rPr>
              <a:t> </a:t>
            </a:r>
            <a:r>
              <a:rPr sz="1000" spc="-5" dirty="0">
                <a:latin typeface="Arial"/>
                <a:cs typeface="Arial"/>
              </a:rPr>
              <a:t>be</a:t>
            </a:r>
            <a:r>
              <a:rPr sz="1000" spc="5" dirty="0">
                <a:latin typeface="Arial"/>
                <a:cs typeface="Arial"/>
              </a:rPr>
              <a:t> </a:t>
            </a:r>
            <a:r>
              <a:rPr sz="1000" spc="-10" dirty="0">
                <a:latin typeface="Arial"/>
                <a:cs typeface="Arial"/>
              </a:rPr>
              <a:t>faster</a:t>
            </a:r>
            <a:r>
              <a:rPr sz="1000" spc="5" dirty="0">
                <a:latin typeface="Arial"/>
                <a:cs typeface="Arial"/>
              </a:rPr>
              <a:t> </a:t>
            </a:r>
            <a:r>
              <a:rPr sz="1000" spc="-5" dirty="0">
                <a:latin typeface="Arial"/>
                <a:cs typeface="Arial"/>
              </a:rPr>
              <a:t>than</a:t>
            </a:r>
            <a:r>
              <a:rPr sz="1000" dirty="0">
                <a:latin typeface="Arial"/>
                <a:cs typeface="Arial"/>
              </a:rPr>
              <a:t> </a:t>
            </a:r>
            <a:r>
              <a:rPr sz="1000" spc="-5" dirty="0">
                <a:latin typeface="Arial"/>
                <a:cs typeface="Arial"/>
              </a:rPr>
              <a:t>process</a:t>
            </a:r>
            <a:r>
              <a:rPr sz="1000" spc="5" dirty="0">
                <a:latin typeface="Arial"/>
                <a:cs typeface="Arial"/>
              </a:rPr>
              <a:t> </a:t>
            </a:r>
            <a:r>
              <a:rPr sz="1000" spc="-10" dirty="0">
                <a:latin typeface="Arial"/>
                <a:cs typeface="Arial"/>
              </a:rPr>
              <a:t>context</a:t>
            </a:r>
            <a:endParaRPr sz="1000" dirty="0">
              <a:latin typeface="Arial"/>
              <a:cs typeface="Arial"/>
            </a:endParaRPr>
          </a:p>
          <a:p>
            <a:pPr marL="38100">
              <a:lnSpc>
                <a:spcPts val="910"/>
              </a:lnSpc>
            </a:pPr>
            <a:r>
              <a:rPr sz="600" spc="-5" dirty="0">
                <a:solidFill>
                  <a:srgbClr val="3333B2"/>
                </a:solidFill>
                <a:latin typeface="Arial"/>
                <a:cs typeface="Arial"/>
                <a:hlinkClick r:id="rId5" action="ppaction://hlinksldjump"/>
              </a:rPr>
              <a:t>Thread</a:t>
            </a:r>
            <a:r>
              <a:rPr sz="600" spc="1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usage</a:t>
            </a:r>
            <a:r>
              <a:rPr sz="600" spc="2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in</a:t>
            </a:r>
            <a:r>
              <a:rPr sz="600" spc="-85" dirty="0">
                <a:solidFill>
                  <a:srgbClr val="3333B2"/>
                </a:solidFill>
                <a:latin typeface="Arial"/>
                <a:cs typeface="Arial"/>
                <a:hlinkClick r:id="rId5" action="ppaction://hlinksldjump"/>
              </a:rPr>
              <a:t> </a:t>
            </a:r>
            <a:r>
              <a:rPr sz="1500" spc="-202" baseline="-33333" dirty="0">
                <a:latin typeface="Arial"/>
                <a:cs typeface="Arial"/>
                <a:hlinkClick r:id="rId5" action="ppaction://hlinksldjump"/>
              </a:rPr>
              <a:t>s</a:t>
            </a:r>
            <a:r>
              <a:rPr sz="600" spc="-135" dirty="0">
                <a:solidFill>
                  <a:srgbClr val="3333B2"/>
                </a:solidFill>
                <a:latin typeface="Arial"/>
                <a:cs typeface="Arial"/>
                <a:hlinkClick r:id="rId5" action="ppaction://hlinksldjump"/>
              </a:rPr>
              <a:t>no</a:t>
            </a:r>
            <a:r>
              <a:rPr sz="1500" spc="-202" baseline="-33333" dirty="0">
                <a:latin typeface="Arial"/>
                <a:cs typeface="Arial"/>
                <a:hlinkClick r:id="rId5" action="ppaction://hlinksldjump"/>
              </a:rPr>
              <a:t>w</a:t>
            </a:r>
            <a:r>
              <a:rPr sz="600" spc="-135" dirty="0">
                <a:solidFill>
                  <a:srgbClr val="3333B2"/>
                </a:solidFill>
                <a:latin typeface="Arial"/>
                <a:cs typeface="Arial"/>
                <a:hlinkClick r:id="rId5" action="ppaction://hlinksldjump"/>
              </a:rPr>
              <a:t>nd</a:t>
            </a:r>
            <a:r>
              <a:rPr sz="1500" spc="-202" baseline="-33333" dirty="0">
                <a:latin typeface="Arial"/>
                <a:cs typeface="Arial"/>
                <a:hlinkClick r:id="rId5" action="ppaction://hlinksldjump"/>
              </a:rPr>
              <a:t>it</a:t>
            </a:r>
            <a:r>
              <a:rPr sz="600" spc="-135" dirty="0">
                <a:solidFill>
                  <a:srgbClr val="3333B2"/>
                </a:solidFill>
                <a:latin typeface="Arial"/>
                <a:cs typeface="Arial"/>
                <a:hlinkClick r:id="rId5" action="ppaction://hlinksldjump"/>
              </a:rPr>
              <a:t>is</a:t>
            </a:r>
            <a:r>
              <a:rPr sz="1500" spc="-202" baseline="-33333" dirty="0">
                <a:latin typeface="Arial"/>
                <a:cs typeface="Arial"/>
                <a:hlinkClick r:id="rId5" action="ppaction://hlinksldjump"/>
              </a:rPr>
              <a:t>c</a:t>
            </a:r>
            <a:r>
              <a:rPr sz="600" spc="-135" dirty="0">
                <a:solidFill>
                  <a:srgbClr val="3333B2"/>
                </a:solidFill>
                <a:latin typeface="Arial"/>
                <a:cs typeface="Arial"/>
                <a:hlinkClick r:id="rId5" action="ppaction://hlinksldjump"/>
              </a:rPr>
              <a:t>tr</a:t>
            </a:r>
            <a:r>
              <a:rPr sz="1500" spc="-202" baseline="-33333" dirty="0">
                <a:latin typeface="Arial"/>
                <a:cs typeface="Arial"/>
                <a:hlinkClick r:id="rId5" action="ppaction://hlinksldjump"/>
              </a:rPr>
              <a:t>h</a:t>
            </a:r>
            <a:r>
              <a:rPr sz="600" spc="-135" dirty="0">
                <a:solidFill>
                  <a:srgbClr val="3333B2"/>
                </a:solidFill>
                <a:latin typeface="Arial"/>
                <a:cs typeface="Arial"/>
                <a:hlinkClick r:id="rId5" action="ppaction://hlinksldjump"/>
              </a:rPr>
              <a:t>ibu</a:t>
            </a:r>
            <a:r>
              <a:rPr sz="1500" spc="-202" baseline="-33333" dirty="0">
                <a:latin typeface="Arial"/>
                <a:cs typeface="Arial"/>
                <a:hlinkClick r:id="rId5" action="ppaction://hlinksldjump"/>
              </a:rPr>
              <a:t>in</a:t>
            </a:r>
            <a:r>
              <a:rPr sz="600" spc="-135" dirty="0">
                <a:solidFill>
                  <a:srgbClr val="3333B2"/>
                </a:solidFill>
                <a:latin typeface="Arial"/>
                <a:cs typeface="Arial"/>
                <a:hlinkClick r:id="rId5" action="ppaction://hlinksldjump"/>
              </a:rPr>
              <a:t>ted</a:t>
            </a:r>
            <a:r>
              <a:rPr sz="1500" spc="-202" baseline="-33333" dirty="0">
                <a:latin typeface="Arial"/>
                <a:cs typeface="Arial"/>
                <a:hlinkClick r:id="rId5" action="ppaction://hlinksldjump"/>
              </a:rPr>
              <a:t>g</a:t>
            </a:r>
            <a:r>
              <a:rPr sz="600" spc="-135" dirty="0">
                <a:solidFill>
                  <a:srgbClr val="3333B2"/>
                </a:solidFill>
                <a:latin typeface="Arial"/>
                <a:cs typeface="Arial"/>
                <a:hlinkClick r:id="rId5" action="ppaction://hlinksldjump"/>
              </a:rPr>
              <a:t>systems</a:t>
            </a:r>
            <a:endParaRPr sz="600" dirty="0">
              <a:latin typeface="Arial"/>
              <a:cs typeface="Arial"/>
            </a:endParaRPr>
          </a:p>
        </p:txBody>
      </p:sp>
      <p:sp>
        <p:nvSpPr>
          <p:cNvPr id="25" name="object 25"/>
          <p:cNvSpPr txBox="1"/>
          <p:nvPr/>
        </p:nvSpPr>
        <p:spPr>
          <a:xfrm>
            <a:off x="4325963" y="3327684"/>
            <a:ext cx="2159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6</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05860"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Threads</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Introduction</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3" name="object 3"/>
          <p:cNvSpPr txBox="1">
            <a:spLocks noGrp="1"/>
          </p:cNvSpPr>
          <p:nvPr>
            <p:ph type="title"/>
          </p:nvPr>
        </p:nvSpPr>
        <p:spPr>
          <a:xfrm>
            <a:off x="95300" y="188846"/>
            <a:ext cx="2263140" cy="244475"/>
          </a:xfrm>
          <a:prstGeom prst="rect">
            <a:avLst/>
          </a:prstGeom>
        </p:spPr>
        <p:txBody>
          <a:bodyPr vert="horz" wrap="square" lIns="0" tIns="17145" rIns="0" bIns="0" rtlCol="0">
            <a:spAutoFit/>
          </a:bodyPr>
          <a:lstStyle/>
          <a:p>
            <a:pPr marL="12700">
              <a:lnSpc>
                <a:spcPct val="100000"/>
              </a:lnSpc>
              <a:spcBef>
                <a:spcPts val="135"/>
              </a:spcBef>
            </a:pPr>
            <a:r>
              <a:rPr spc="15" dirty="0"/>
              <a:t>The</a:t>
            </a:r>
            <a:r>
              <a:rPr dirty="0"/>
              <a:t> </a:t>
            </a:r>
            <a:r>
              <a:rPr spc="15" dirty="0"/>
              <a:t>cost</a:t>
            </a:r>
            <a:r>
              <a:rPr dirty="0"/>
              <a:t> </a:t>
            </a:r>
            <a:r>
              <a:rPr spc="10" dirty="0"/>
              <a:t>of</a:t>
            </a:r>
            <a:r>
              <a:rPr spc="5" dirty="0"/>
              <a:t> </a:t>
            </a:r>
            <a:r>
              <a:rPr spc="15" dirty="0"/>
              <a:t>a</a:t>
            </a:r>
            <a:r>
              <a:rPr dirty="0"/>
              <a:t> </a:t>
            </a:r>
            <a:r>
              <a:rPr spc="5" dirty="0"/>
              <a:t>context</a:t>
            </a:r>
            <a:r>
              <a:rPr dirty="0"/>
              <a:t> </a:t>
            </a:r>
            <a:r>
              <a:rPr spc="5" dirty="0"/>
              <a:t>switch</a:t>
            </a:r>
          </a:p>
        </p:txBody>
      </p:sp>
      <p:sp>
        <p:nvSpPr>
          <p:cNvPr id="4" name="object 4"/>
          <p:cNvSpPr txBox="1"/>
          <p:nvPr/>
        </p:nvSpPr>
        <p:spPr>
          <a:xfrm>
            <a:off x="321894" y="582127"/>
            <a:ext cx="3765550" cy="1186815"/>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Consider</a:t>
            </a:r>
            <a:r>
              <a:rPr sz="1200" spc="-10" dirty="0">
                <a:solidFill>
                  <a:srgbClr val="3333B2"/>
                </a:solidFill>
                <a:latin typeface="Arial"/>
                <a:cs typeface="Arial"/>
              </a:rPr>
              <a:t> </a:t>
            </a:r>
            <a:r>
              <a:rPr sz="1200" spc="-5" dirty="0">
                <a:solidFill>
                  <a:srgbClr val="3333B2"/>
                </a:solidFill>
                <a:latin typeface="Arial"/>
                <a:cs typeface="Arial"/>
              </a:rPr>
              <a:t>a simple clock-interrupt handler</a:t>
            </a:r>
            <a:endParaRPr sz="1200" dirty="0">
              <a:latin typeface="Arial"/>
              <a:cs typeface="Arial"/>
            </a:endParaRPr>
          </a:p>
          <a:p>
            <a:pPr marL="314960" indent="-168275">
              <a:lnSpc>
                <a:spcPct val="100000"/>
              </a:lnSpc>
              <a:spcBef>
                <a:spcPts val="770"/>
              </a:spcBef>
              <a:buClr>
                <a:srgbClr val="3333B2"/>
              </a:buClr>
              <a:buChar char="►"/>
              <a:tabLst>
                <a:tab pos="315595" algn="l"/>
              </a:tabLst>
            </a:pPr>
            <a:r>
              <a:rPr sz="1000" spc="-5" dirty="0">
                <a:solidFill>
                  <a:srgbClr val="FA0000"/>
                </a:solidFill>
                <a:latin typeface="Arial"/>
                <a:cs typeface="Arial"/>
              </a:rPr>
              <a:t>direct costs</a:t>
            </a:r>
            <a:r>
              <a:rPr sz="1000" spc="-5" dirty="0">
                <a:latin typeface="Arial"/>
                <a:cs typeface="Arial"/>
              </a:rPr>
              <a:t>:</a:t>
            </a:r>
            <a:r>
              <a:rPr sz="1000" spc="70" dirty="0">
                <a:latin typeface="Arial"/>
                <a:cs typeface="Arial"/>
              </a:rPr>
              <a:t> </a:t>
            </a:r>
            <a:r>
              <a:rPr sz="1000" spc="-5" dirty="0">
                <a:latin typeface="Arial"/>
                <a:cs typeface="Arial"/>
              </a:rPr>
              <a:t>actual</a:t>
            </a:r>
            <a:r>
              <a:rPr sz="1000" dirty="0">
                <a:latin typeface="Arial"/>
                <a:cs typeface="Arial"/>
              </a:rPr>
              <a:t> </a:t>
            </a:r>
            <a:r>
              <a:rPr sz="1000" spc="-10" dirty="0">
                <a:latin typeface="Arial"/>
                <a:cs typeface="Arial"/>
              </a:rPr>
              <a:t>switch</a:t>
            </a:r>
            <a:r>
              <a:rPr sz="1000" dirty="0">
                <a:latin typeface="Arial"/>
                <a:cs typeface="Arial"/>
              </a:rPr>
              <a:t> </a:t>
            </a:r>
            <a:r>
              <a:rPr sz="1000" spc="-5" dirty="0">
                <a:latin typeface="Arial"/>
                <a:cs typeface="Arial"/>
              </a:rPr>
              <a:t>and</a:t>
            </a:r>
            <a:r>
              <a:rPr sz="1000" dirty="0">
                <a:latin typeface="Arial"/>
                <a:cs typeface="Arial"/>
              </a:rPr>
              <a:t> </a:t>
            </a:r>
            <a:r>
              <a:rPr sz="1000" spc="-10" dirty="0">
                <a:latin typeface="Arial"/>
                <a:cs typeface="Arial"/>
              </a:rPr>
              <a:t>executing</a:t>
            </a:r>
            <a:r>
              <a:rPr sz="1000" dirty="0">
                <a:latin typeface="Arial"/>
                <a:cs typeface="Arial"/>
              </a:rPr>
              <a:t> </a:t>
            </a:r>
            <a:r>
              <a:rPr sz="1000" spc="-5" dirty="0">
                <a:latin typeface="Arial"/>
                <a:cs typeface="Arial"/>
              </a:rPr>
              <a:t>code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handler</a:t>
            </a:r>
            <a:endParaRPr sz="1000" dirty="0">
              <a:latin typeface="Arial"/>
              <a:cs typeface="Arial"/>
            </a:endParaRPr>
          </a:p>
          <a:p>
            <a:pPr marL="314960" marR="30480" indent="-168275">
              <a:lnSpc>
                <a:spcPct val="100000"/>
              </a:lnSpc>
              <a:spcBef>
                <a:spcPts val="595"/>
              </a:spcBef>
              <a:buClr>
                <a:srgbClr val="3333B2"/>
              </a:buClr>
              <a:buChar char="►"/>
              <a:tabLst>
                <a:tab pos="315595" algn="l"/>
              </a:tabLst>
            </a:pPr>
            <a:r>
              <a:rPr sz="1000" spc="-5" dirty="0">
                <a:solidFill>
                  <a:srgbClr val="FA0000"/>
                </a:solidFill>
                <a:latin typeface="Arial"/>
                <a:cs typeface="Arial"/>
              </a:rPr>
              <a:t>indirect costs</a:t>
            </a:r>
            <a:r>
              <a:rPr sz="1000" spc="-5" dirty="0">
                <a:latin typeface="Arial"/>
                <a:cs typeface="Arial"/>
              </a:rPr>
              <a:t>:</a:t>
            </a:r>
            <a:r>
              <a:rPr sz="1000" spc="65" dirty="0">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costs, notably</a:t>
            </a:r>
            <a:r>
              <a:rPr sz="1000" dirty="0">
                <a:latin typeface="Arial"/>
                <a:cs typeface="Arial"/>
              </a:rPr>
              <a:t> </a:t>
            </a:r>
            <a:r>
              <a:rPr sz="1000" spc="-5" dirty="0">
                <a:latin typeface="Arial"/>
                <a:cs typeface="Arial"/>
              </a:rPr>
              <a:t>caused</a:t>
            </a:r>
            <a:r>
              <a:rPr sz="1000" dirty="0">
                <a:latin typeface="Arial"/>
                <a:cs typeface="Arial"/>
              </a:rPr>
              <a:t> </a:t>
            </a:r>
            <a:r>
              <a:rPr sz="1000" spc="-15" dirty="0">
                <a:latin typeface="Arial"/>
                <a:cs typeface="Arial"/>
              </a:rPr>
              <a:t>by</a:t>
            </a:r>
            <a:r>
              <a:rPr sz="1000" spc="-5" dirty="0">
                <a:latin typeface="Arial"/>
                <a:cs typeface="Arial"/>
              </a:rPr>
              <a:t> messing</a:t>
            </a:r>
            <a:r>
              <a:rPr sz="1000" dirty="0">
                <a:latin typeface="Arial"/>
                <a:cs typeface="Arial"/>
              </a:rPr>
              <a:t> </a:t>
            </a:r>
            <a:r>
              <a:rPr sz="1000" spc="-5" dirty="0">
                <a:latin typeface="Arial"/>
                <a:cs typeface="Arial"/>
              </a:rPr>
              <a:t>up the </a:t>
            </a:r>
            <a:r>
              <a:rPr sz="1000" spc="-260" dirty="0">
                <a:latin typeface="Arial"/>
                <a:cs typeface="Arial"/>
              </a:rPr>
              <a:t> </a:t>
            </a:r>
            <a:r>
              <a:rPr sz="1000" spc="-5" dirty="0">
                <a:latin typeface="Arial"/>
                <a:cs typeface="Arial"/>
              </a:rPr>
              <a:t>cache</a:t>
            </a:r>
            <a:endParaRPr sz="1000" dirty="0">
              <a:latin typeface="Arial"/>
              <a:cs typeface="Arial"/>
            </a:endParaRPr>
          </a:p>
          <a:p>
            <a:pPr>
              <a:lnSpc>
                <a:spcPct val="100000"/>
              </a:lnSpc>
              <a:spcBef>
                <a:spcPts val="35"/>
              </a:spcBef>
            </a:pPr>
            <a:endParaRPr sz="1100" dirty="0">
              <a:latin typeface="Arial"/>
              <a:cs typeface="Arial"/>
            </a:endParaRPr>
          </a:p>
          <a:p>
            <a:pPr marL="30480">
              <a:lnSpc>
                <a:spcPct val="100000"/>
              </a:lnSpc>
            </a:pPr>
            <a:r>
              <a:rPr sz="1200" spc="-5" dirty="0">
                <a:solidFill>
                  <a:srgbClr val="3333B2"/>
                </a:solidFill>
                <a:latin typeface="Arial"/>
                <a:cs typeface="Arial"/>
              </a:rPr>
              <a:t>What a </a:t>
            </a:r>
            <a:r>
              <a:rPr sz="1200" spc="-10" dirty="0">
                <a:solidFill>
                  <a:srgbClr val="3333B2"/>
                </a:solidFill>
                <a:latin typeface="Arial"/>
                <a:cs typeface="Arial"/>
              </a:rPr>
              <a:t>context</a:t>
            </a:r>
            <a:r>
              <a:rPr sz="1200" spc="-5" dirty="0">
                <a:solidFill>
                  <a:srgbClr val="3333B2"/>
                </a:solidFill>
                <a:latin typeface="Arial"/>
                <a:cs typeface="Arial"/>
              </a:rPr>
              <a:t> </a:t>
            </a:r>
            <a:r>
              <a:rPr sz="1200" spc="-10" dirty="0">
                <a:solidFill>
                  <a:srgbClr val="3333B2"/>
                </a:solidFill>
                <a:latin typeface="Arial"/>
                <a:cs typeface="Arial"/>
              </a:rPr>
              <a:t>switch</a:t>
            </a:r>
            <a:r>
              <a:rPr sz="1200" spc="-5" dirty="0">
                <a:solidFill>
                  <a:srgbClr val="3333B2"/>
                </a:solidFill>
                <a:latin typeface="Arial"/>
                <a:cs typeface="Arial"/>
              </a:rPr>
              <a:t> </a:t>
            </a:r>
            <a:r>
              <a:rPr sz="1200" spc="-20" dirty="0">
                <a:solidFill>
                  <a:srgbClr val="3333B2"/>
                </a:solidFill>
                <a:latin typeface="Arial"/>
                <a:cs typeface="Arial"/>
              </a:rPr>
              <a:t>may</a:t>
            </a:r>
            <a:r>
              <a:rPr sz="1200" spc="-5" dirty="0">
                <a:solidFill>
                  <a:srgbClr val="3333B2"/>
                </a:solidFill>
                <a:latin typeface="Arial"/>
                <a:cs typeface="Arial"/>
              </a:rPr>
              <a:t> cause:</a:t>
            </a:r>
            <a:r>
              <a:rPr sz="1200" spc="75" dirty="0">
                <a:solidFill>
                  <a:srgbClr val="3333B2"/>
                </a:solidFill>
                <a:latin typeface="Arial"/>
                <a:cs typeface="Arial"/>
              </a:rPr>
              <a:t> </a:t>
            </a:r>
            <a:r>
              <a:rPr sz="1200" spc="-5" dirty="0">
                <a:solidFill>
                  <a:srgbClr val="3333B2"/>
                </a:solidFill>
                <a:latin typeface="Arial"/>
                <a:cs typeface="Arial"/>
              </a:rPr>
              <a:t>indirect costs</a:t>
            </a:r>
            <a:endParaRPr sz="1200" dirty="0">
              <a:latin typeface="Arial"/>
              <a:cs typeface="Arial"/>
            </a:endParaRPr>
          </a:p>
        </p:txBody>
      </p:sp>
      <p:sp>
        <p:nvSpPr>
          <p:cNvPr id="5" name="object 5"/>
          <p:cNvSpPr/>
          <p:nvPr/>
        </p:nvSpPr>
        <p:spPr>
          <a:xfrm>
            <a:off x="676522" y="1955958"/>
            <a:ext cx="158750" cy="158750"/>
          </a:xfrm>
          <a:custGeom>
            <a:avLst/>
            <a:gdLst/>
            <a:ahLst/>
            <a:cxnLst/>
            <a:rect l="l" t="t" r="r" b="b"/>
            <a:pathLst>
              <a:path w="158750" h="158750">
                <a:moveTo>
                  <a:pt x="0" y="158123"/>
                </a:moveTo>
                <a:lnTo>
                  <a:pt x="158127" y="158123"/>
                </a:lnTo>
                <a:lnTo>
                  <a:pt x="158127" y="0"/>
                </a:lnTo>
                <a:lnTo>
                  <a:pt x="0" y="0"/>
                </a:lnTo>
                <a:lnTo>
                  <a:pt x="0" y="158123"/>
                </a:lnTo>
                <a:close/>
              </a:path>
            </a:pathLst>
          </a:custGeom>
          <a:ln w="5270">
            <a:solidFill>
              <a:srgbClr val="231F20"/>
            </a:solidFill>
          </a:ln>
        </p:spPr>
        <p:txBody>
          <a:bodyPr wrap="square" lIns="0" tIns="0" rIns="0" bIns="0" rtlCol="0"/>
          <a:lstStyle/>
          <a:p>
            <a:endParaRPr/>
          </a:p>
        </p:txBody>
      </p:sp>
      <p:sp>
        <p:nvSpPr>
          <p:cNvPr id="6" name="object 6"/>
          <p:cNvSpPr/>
          <p:nvPr/>
        </p:nvSpPr>
        <p:spPr>
          <a:xfrm>
            <a:off x="676522" y="2166790"/>
            <a:ext cx="158750" cy="158750"/>
          </a:xfrm>
          <a:custGeom>
            <a:avLst/>
            <a:gdLst/>
            <a:ahLst/>
            <a:cxnLst/>
            <a:rect l="l" t="t" r="r" b="b"/>
            <a:pathLst>
              <a:path w="158750" h="158750">
                <a:moveTo>
                  <a:pt x="0" y="158127"/>
                </a:moveTo>
                <a:lnTo>
                  <a:pt x="158127" y="158127"/>
                </a:lnTo>
                <a:lnTo>
                  <a:pt x="158127" y="0"/>
                </a:lnTo>
                <a:lnTo>
                  <a:pt x="0" y="0"/>
                </a:lnTo>
                <a:lnTo>
                  <a:pt x="0" y="158127"/>
                </a:lnTo>
                <a:close/>
              </a:path>
            </a:pathLst>
          </a:custGeom>
          <a:ln w="5270">
            <a:solidFill>
              <a:srgbClr val="231F20"/>
            </a:solidFill>
          </a:ln>
        </p:spPr>
        <p:txBody>
          <a:bodyPr wrap="square" lIns="0" tIns="0" rIns="0" bIns="0" rtlCol="0"/>
          <a:lstStyle/>
          <a:p>
            <a:endParaRPr/>
          </a:p>
        </p:txBody>
      </p:sp>
      <p:sp>
        <p:nvSpPr>
          <p:cNvPr id="7" name="object 7"/>
          <p:cNvSpPr/>
          <p:nvPr/>
        </p:nvSpPr>
        <p:spPr>
          <a:xfrm>
            <a:off x="676522" y="2377623"/>
            <a:ext cx="158750" cy="158750"/>
          </a:xfrm>
          <a:custGeom>
            <a:avLst/>
            <a:gdLst/>
            <a:ahLst/>
            <a:cxnLst/>
            <a:rect l="l" t="t" r="r" b="b"/>
            <a:pathLst>
              <a:path w="158750" h="158750">
                <a:moveTo>
                  <a:pt x="0" y="158127"/>
                </a:moveTo>
                <a:lnTo>
                  <a:pt x="158127" y="158127"/>
                </a:lnTo>
                <a:lnTo>
                  <a:pt x="158127" y="0"/>
                </a:lnTo>
                <a:lnTo>
                  <a:pt x="0" y="0"/>
                </a:lnTo>
                <a:lnTo>
                  <a:pt x="0" y="158127"/>
                </a:lnTo>
                <a:close/>
              </a:path>
            </a:pathLst>
          </a:custGeom>
          <a:ln w="5270">
            <a:solidFill>
              <a:srgbClr val="231F20"/>
            </a:solidFill>
          </a:ln>
        </p:spPr>
        <p:txBody>
          <a:bodyPr wrap="square" lIns="0" tIns="0" rIns="0" bIns="0" rtlCol="0"/>
          <a:lstStyle/>
          <a:p>
            <a:endParaRPr/>
          </a:p>
        </p:txBody>
      </p:sp>
      <p:sp>
        <p:nvSpPr>
          <p:cNvPr id="8" name="object 8"/>
          <p:cNvSpPr/>
          <p:nvPr/>
        </p:nvSpPr>
        <p:spPr>
          <a:xfrm>
            <a:off x="676522" y="2588459"/>
            <a:ext cx="158750" cy="158750"/>
          </a:xfrm>
          <a:custGeom>
            <a:avLst/>
            <a:gdLst/>
            <a:ahLst/>
            <a:cxnLst/>
            <a:rect l="l" t="t" r="r" b="b"/>
            <a:pathLst>
              <a:path w="158750" h="158750">
                <a:moveTo>
                  <a:pt x="0" y="158123"/>
                </a:moveTo>
                <a:lnTo>
                  <a:pt x="158127" y="158123"/>
                </a:lnTo>
                <a:lnTo>
                  <a:pt x="158127" y="0"/>
                </a:lnTo>
                <a:lnTo>
                  <a:pt x="0" y="0"/>
                </a:lnTo>
                <a:lnTo>
                  <a:pt x="0" y="158123"/>
                </a:lnTo>
                <a:close/>
              </a:path>
            </a:pathLst>
          </a:custGeom>
          <a:ln w="5270">
            <a:solidFill>
              <a:srgbClr val="231F20"/>
            </a:solidFill>
          </a:ln>
        </p:spPr>
        <p:txBody>
          <a:bodyPr wrap="square" lIns="0" tIns="0" rIns="0" bIns="0" rtlCol="0"/>
          <a:lstStyle/>
          <a:p>
            <a:endParaRPr/>
          </a:p>
        </p:txBody>
      </p:sp>
      <p:sp>
        <p:nvSpPr>
          <p:cNvPr id="9" name="object 9"/>
          <p:cNvSpPr txBox="1"/>
          <p:nvPr/>
        </p:nvSpPr>
        <p:spPr>
          <a:xfrm>
            <a:off x="623813" y="1903249"/>
            <a:ext cx="264160" cy="896619"/>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00">
              <a:latin typeface="Times New Roman"/>
              <a:cs typeface="Times New Roman"/>
            </a:endParaRPr>
          </a:p>
          <a:p>
            <a:pPr algn="ctr">
              <a:lnSpc>
                <a:spcPct val="100000"/>
              </a:lnSpc>
            </a:pPr>
            <a:r>
              <a:rPr sz="650" spc="5" dirty="0">
                <a:solidFill>
                  <a:srgbClr val="231F20"/>
                </a:solidFill>
                <a:latin typeface="Arial"/>
                <a:cs typeface="Arial"/>
              </a:rPr>
              <a:t>A</a:t>
            </a:r>
            <a:endParaRPr sz="650">
              <a:latin typeface="Arial"/>
              <a:cs typeface="Arial"/>
            </a:endParaRPr>
          </a:p>
          <a:p>
            <a:pPr marL="100330" marR="89535" indent="4445" algn="just">
              <a:lnSpc>
                <a:spcPct val="212800"/>
              </a:lnSpc>
            </a:pPr>
            <a:r>
              <a:rPr sz="650" spc="5" dirty="0">
                <a:solidFill>
                  <a:srgbClr val="231F20"/>
                </a:solidFill>
                <a:latin typeface="Arial"/>
                <a:cs typeface="Arial"/>
              </a:rPr>
              <a:t>B  C  D</a:t>
            </a:r>
            <a:endParaRPr sz="650">
              <a:latin typeface="Arial"/>
              <a:cs typeface="Arial"/>
            </a:endParaRPr>
          </a:p>
        </p:txBody>
      </p:sp>
      <p:sp>
        <p:nvSpPr>
          <p:cNvPr id="10" name="object 10"/>
          <p:cNvSpPr txBox="1"/>
          <p:nvPr/>
        </p:nvSpPr>
        <p:spPr>
          <a:xfrm>
            <a:off x="347571" y="1910616"/>
            <a:ext cx="217804" cy="127000"/>
          </a:xfrm>
          <a:prstGeom prst="rect">
            <a:avLst/>
          </a:prstGeom>
        </p:spPr>
        <p:txBody>
          <a:bodyPr vert="horz" wrap="square" lIns="0" tIns="13970" rIns="0" bIns="0" rtlCol="0">
            <a:spAutoFit/>
          </a:bodyPr>
          <a:lstStyle/>
          <a:p>
            <a:pPr marL="12700">
              <a:lnSpc>
                <a:spcPct val="100000"/>
              </a:lnSpc>
              <a:spcBef>
                <a:spcPts val="110"/>
              </a:spcBef>
            </a:pPr>
            <a:r>
              <a:rPr sz="650" spc="10" dirty="0">
                <a:solidFill>
                  <a:srgbClr val="231F20"/>
                </a:solidFill>
                <a:latin typeface="Arial"/>
                <a:cs typeface="Arial"/>
              </a:rPr>
              <a:t>MRU</a:t>
            </a:r>
            <a:endParaRPr sz="650">
              <a:latin typeface="Arial"/>
              <a:cs typeface="Arial"/>
            </a:endParaRPr>
          </a:p>
        </p:txBody>
      </p:sp>
      <p:sp>
        <p:nvSpPr>
          <p:cNvPr id="11" name="object 11"/>
          <p:cNvSpPr txBox="1"/>
          <p:nvPr/>
        </p:nvSpPr>
        <p:spPr>
          <a:xfrm>
            <a:off x="343791" y="2657211"/>
            <a:ext cx="1943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LRU</a:t>
            </a:r>
            <a:endParaRPr sz="650">
              <a:latin typeface="Arial"/>
              <a:cs typeface="Arial"/>
            </a:endParaRPr>
          </a:p>
        </p:txBody>
      </p:sp>
      <p:grpSp>
        <p:nvGrpSpPr>
          <p:cNvPr id="12" name="object 12"/>
          <p:cNvGrpSpPr/>
          <p:nvPr/>
        </p:nvGrpSpPr>
        <p:grpSpPr>
          <a:xfrm>
            <a:off x="433807" y="2061373"/>
            <a:ext cx="64135" cy="580390"/>
            <a:chOff x="433807" y="2061373"/>
            <a:chExt cx="64135" cy="580390"/>
          </a:xfrm>
        </p:grpSpPr>
        <p:sp>
          <p:nvSpPr>
            <p:cNvPr id="13" name="object 13"/>
            <p:cNvSpPr/>
            <p:nvPr/>
          </p:nvSpPr>
          <p:spPr>
            <a:xfrm>
              <a:off x="465686" y="2061373"/>
              <a:ext cx="0" cy="542925"/>
            </a:xfrm>
            <a:custGeom>
              <a:avLst/>
              <a:gdLst/>
              <a:ahLst/>
              <a:cxnLst/>
              <a:rect l="l" t="t" r="r" b="b"/>
              <a:pathLst>
                <a:path h="542925">
                  <a:moveTo>
                    <a:pt x="0" y="0"/>
                  </a:moveTo>
                  <a:lnTo>
                    <a:pt x="0" y="542412"/>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4" cstate="print"/>
            <a:stretch>
              <a:fillRect/>
            </a:stretch>
          </p:blipFill>
          <p:spPr>
            <a:xfrm>
              <a:off x="433807" y="2566788"/>
              <a:ext cx="63752" cy="74376"/>
            </a:xfrm>
            <a:prstGeom prst="rect">
              <a:avLst/>
            </a:prstGeom>
          </p:spPr>
        </p:pic>
      </p:grpSp>
      <p:sp>
        <p:nvSpPr>
          <p:cNvPr id="15" name="object 15"/>
          <p:cNvSpPr/>
          <p:nvPr/>
        </p:nvSpPr>
        <p:spPr>
          <a:xfrm>
            <a:off x="1264815" y="2166790"/>
            <a:ext cx="158750" cy="158750"/>
          </a:xfrm>
          <a:custGeom>
            <a:avLst/>
            <a:gdLst/>
            <a:ahLst/>
            <a:cxnLst/>
            <a:rect l="l" t="t" r="r" b="b"/>
            <a:pathLst>
              <a:path w="158750" h="158750">
                <a:moveTo>
                  <a:pt x="0" y="158127"/>
                </a:moveTo>
                <a:lnTo>
                  <a:pt x="158127" y="158127"/>
                </a:lnTo>
                <a:lnTo>
                  <a:pt x="158127" y="0"/>
                </a:lnTo>
                <a:lnTo>
                  <a:pt x="0" y="0"/>
                </a:lnTo>
                <a:lnTo>
                  <a:pt x="0" y="158127"/>
                </a:lnTo>
                <a:close/>
              </a:path>
            </a:pathLst>
          </a:custGeom>
          <a:ln w="5270">
            <a:solidFill>
              <a:srgbClr val="231F20"/>
            </a:solidFill>
          </a:ln>
        </p:spPr>
        <p:txBody>
          <a:bodyPr wrap="square" lIns="0" tIns="0" rIns="0" bIns="0" rtlCol="0"/>
          <a:lstStyle/>
          <a:p>
            <a:endParaRPr/>
          </a:p>
        </p:txBody>
      </p:sp>
      <p:sp>
        <p:nvSpPr>
          <p:cNvPr id="16" name="object 16"/>
          <p:cNvSpPr/>
          <p:nvPr/>
        </p:nvSpPr>
        <p:spPr>
          <a:xfrm>
            <a:off x="1264815" y="2377623"/>
            <a:ext cx="158750" cy="158750"/>
          </a:xfrm>
          <a:custGeom>
            <a:avLst/>
            <a:gdLst/>
            <a:ahLst/>
            <a:cxnLst/>
            <a:rect l="l" t="t" r="r" b="b"/>
            <a:pathLst>
              <a:path w="158750" h="158750">
                <a:moveTo>
                  <a:pt x="0" y="158127"/>
                </a:moveTo>
                <a:lnTo>
                  <a:pt x="158127" y="158127"/>
                </a:lnTo>
                <a:lnTo>
                  <a:pt x="158127" y="0"/>
                </a:lnTo>
                <a:lnTo>
                  <a:pt x="0" y="0"/>
                </a:lnTo>
                <a:lnTo>
                  <a:pt x="0" y="158127"/>
                </a:lnTo>
                <a:close/>
              </a:path>
            </a:pathLst>
          </a:custGeom>
          <a:ln w="5270">
            <a:solidFill>
              <a:srgbClr val="231F20"/>
            </a:solidFill>
          </a:ln>
        </p:spPr>
        <p:txBody>
          <a:bodyPr wrap="square" lIns="0" tIns="0" rIns="0" bIns="0" rtlCol="0"/>
          <a:lstStyle/>
          <a:p>
            <a:endParaRPr/>
          </a:p>
        </p:txBody>
      </p:sp>
      <p:sp>
        <p:nvSpPr>
          <p:cNvPr id="17" name="object 17"/>
          <p:cNvSpPr/>
          <p:nvPr/>
        </p:nvSpPr>
        <p:spPr>
          <a:xfrm>
            <a:off x="1264815" y="2588459"/>
            <a:ext cx="158750" cy="158750"/>
          </a:xfrm>
          <a:custGeom>
            <a:avLst/>
            <a:gdLst/>
            <a:ahLst/>
            <a:cxnLst/>
            <a:rect l="l" t="t" r="r" b="b"/>
            <a:pathLst>
              <a:path w="158750" h="158750">
                <a:moveTo>
                  <a:pt x="0" y="158123"/>
                </a:moveTo>
                <a:lnTo>
                  <a:pt x="158127" y="158123"/>
                </a:lnTo>
                <a:lnTo>
                  <a:pt x="158127" y="0"/>
                </a:lnTo>
                <a:lnTo>
                  <a:pt x="0" y="0"/>
                </a:lnTo>
                <a:lnTo>
                  <a:pt x="0" y="158123"/>
                </a:lnTo>
                <a:close/>
              </a:path>
            </a:pathLst>
          </a:custGeom>
          <a:ln w="5270">
            <a:solidFill>
              <a:srgbClr val="231F20"/>
            </a:solidFill>
          </a:ln>
        </p:spPr>
        <p:txBody>
          <a:bodyPr wrap="square" lIns="0" tIns="0" rIns="0" bIns="0" rtlCol="0"/>
          <a:lstStyle/>
          <a:p>
            <a:endParaRPr/>
          </a:p>
        </p:txBody>
      </p:sp>
      <p:grpSp>
        <p:nvGrpSpPr>
          <p:cNvPr id="18" name="object 18"/>
          <p:cNvGrpSpPr/>
          <p:nvPr/>
        </p:nvGrpSpPr>
        <p:grpSpPr>
          <a:xfrm>
            <a:off x="1261957" y="1953101"/>
            <a:ext cx="164465" cy="164465"/>
            <a:chOff x="1261957" y="1953101"/>
            <a:chExt cx="164465" cy="164465"/>
          </a:xfrm>
        </p:grpSpPr>
        <p:sp>
          <p:nvSpPr>
            <p:cNvPr id="19" name="object 19"/>
            <p:cNvSpPr/>
            <p:nvPr/>
          </p:nvSpPr>
          <p:spPr>
            <a:xfrm>
              <a:off x="1264815" y="1955958"/>
              <a:ext cx="158750" cy="158750"/>
            </a:xfrm>
            <a:custGeom>
              <a:avLst/>
              <a:gdLst/>
              <a:ahLst/>
              <a:cxnLst/>
              <a:rect l="l" t="t" r="r" b="b"/>
              <a:pathLst>
                <a:path w="158750" h="158750">
                  <a:moveTo>
                    <a:pt x="158127" y="0"/>
                  </a:moveTo>
                  <a:lnTo>
                    <a:pt x="0" y="0"/>
                  </a:lnTo>
                  <a:lnTo>
                    <a:pt x="0" y="158123"/>
                  </a:lnTo>
                  <a:lnTo>
                    <a:pt x="158127" y="158123"/>
                  </a:lnTo>
                  <a:lnTo>
                    <a:pt x="158127" y="0"/>
                  </a:lnTo>
                  <a:close/>
                </a:path>
              </a:pathLst>
            </a:custGeom>
            <a:solidFill>
              <a:srgbClr val="D1D3D4"/>
            </a:solidFill>
          </p:spPr>
          <p:txBody>
            <a:bodyPr wrap="square" lIns="0" tIns="0" rIns="0" bIns="0" rtlCol="0"/>
            <a:lstStyle/>
            <a:p>
              <a:endParaRPr/>
            </a:p>
          </p:txBody>
        </p:sp>
        <p:sp>
          <p:nvSpPr>
            <p:cNvPr id="20" name="object 20"/>
            <p:cNvSpPr/>
            <p:nvPr/>
          </p:nvSpPr>
          <p:spPr>
            <a:xfrm>
              <a:off x="1264815" y="1955958"/>
              <a:ext cx="158750" cy="158750"/>
            </a:xfrm>
            <a:custGeom>
              <a:avLst/>
              <a:gdLst/>
              <a:ahLst/>
              <a:cxnLst/>
              <a:rect l="l" t="t" r="r" b="b"/>
              <a:pathLst>
                <a:path w="158750" h="158750">
                  <a:moveTo>
                    <a:pt x="0" y="158123"/>
                  </a:moveTo>
                  <a:lnTo>
                    <a:pt x="158127" y="158123"/>
                  </a:lnTo>
                  <a:lnTo>
                    <a:pt x="158127" y="0"/>
                  </a:lnTo>
                  <a:lnTo>
                    <a:pt x="0" y="0"/>
                  </a:lnTo>
                  <a:lnTo>
                    <a:pt x="0" y="158123"/>
                  </a:lnTo>
                  <a:close/>
                </a:path>
              </a:pathLst>
            </a:custGeom>
            <a:ln w="5270">
              <a:solidFill>
                <a:srgbClr val="231F20"/>
              </a:solidFill>
            </a:ln>
          </p:spPr>
          <p:txBody>
            <a:bodyPr wrap="square" lIns="0" tIns="0" rIns="0" bIns="0" rtlCol="0"/>
            <a:lstStyle/>
            <a:p>
              <a:endParaRPr/>
            </a:p>
          </p:txBody>
        </p:sp>
      </p:grpSp>
      <p:sp>
        <p:nvSpPr>
          <p:cNvPr id="21" name="object 21"/>
          <p:cNvSpPr txBox="1"/>
          <p:nvPr/>
        </p:nvSpPr>
        <p:spPr>
          <a:xfrm>
            <a:off x="1212110" y="1903249"/>
            <a:ext cx="264160" cy="896619"/>
          </a:xfrm>
          <a:prstGeom prst="rect">
            <a:avLst/>
          </a:prstGeom>
          <a:ln w="5270">
            <a:solidFill>
              <a:srgbClr val="231F20"/>
            </a:solidFill>
          </a:ln>
        </p:spPr>
        <p:txBody>
          <a:bodyPr vert="horz" wrap="square" lIns="0" tIns="0" rIns="0" bIns="0" rtlCol="0">
            <a:spAutoFit/>
          </a:bodyPr>
          <a:lstStyle/>
          <a:p>
            <a:pPr>
              <a:lnSpc>
                <a:spcPct val="100000"/>
              </a:lnSpc>
            </a:pPr>
            <a:endParaRPr sz="600">
              <a:latin typeface="Times New Roman"/>
              <a:cs typeface="Times New Roman"/>
            </a:endParaRPr>
          </a:p>
          <a:p>
            <a:pPr>
              <a:lnSpc>
                <a:spcPct val="100000"/>
              </a:lnSpc>
              <a:spcBef>
                <a:spcPts val="50"/>
              </a:spcBef>
            </a:pPr>
            <a:endParaRPr sz="550">
              <a:latin typeface="Times New Roman"/>
              <a:cs typeface="Times New Roman"/>
            </a:endParaRPr>
          </a:p>
          <a:p>
            <a:pPr marL="100330" marR="93980" indent="635" algn="just">
              <a:lnSpc>
                <a:spcPct val="212800"/>
              </a:lnSpc>
            </a:pPr>
            <a:r>
              <a:rPr sz="650" spc="5" dirty="0">
                <a:solidFill>
                  <a:srgbClr val="231F20"/>
                </a:solidFill>
                <a:latin typeface="Arial"/>
                <a:cs typeface="Arial"/>
              </a:rPr>
              <a:t>A  B  </a:t>
            </a:r>
            <a:r>
              <a:rPr sz="650" spc="10" dirty="0">
                <a:solidFill>
                  <a:srgbClr val="231F20"/>
                </a:solidFill>
                <a:latin typeface="Arial"/>
                <a:cs typeface="Arial"/>
              </a:rPr>
              <a:t>C</a:t>
            </a:r>
            <a:endParaRPr sz="650">
              <a:latin typeface="Arial"/>
              <a:cs typeface="Arial"/>
            </a:endParaRPr>
          </a:p>
        </p:txBody>
      </p:sp>
      <p:sp>
        <p:nvSpPr>
          <p:cNvPr id="22" name="object 22"/>
          <p:cNvSpPr/>
          <p:nvPr/>
        </p:nvSpPr>
        <p:spPr>
          <a:xfrm>
            <a:off x="1317524" y="2008668"/>
            <a:ext cx="52705" cy="52705"/>
          </a:xfrm>
          <a:custGeom>
            <a:avLst/>
            <a:gdLst/>
            <a:ahLst/>
            <a:cxnLst/>
            <a:rect l="l" t="t" r="r" b="b"/>
            <a:pathLst>
              <a:path w="52705" h="52705">
                <a:moveTo>
                  <a:pt x="26356" y="0"/>
                </a:moveTo>
                <a:lnTo>
                  <a:pt x="36613" y="2071"/>
                </a:lnTo>
                <a:lnTo>
                  <a:pt x="44989" y="7719"/>
                </a:lnTo>
                <a:lnTo>
                  <a:pt x="50637" y="16095"/>
                </a:lnTo>
                <a:lnTo>
                  <a:pt x="52709" y="26352"/>
                </a:lnTo>
                <a:lnTo>
                  <a:pt x="50637" y="36608"/>
                </a:lnTo>
                <a:lnTo>
                  <a:pt x="44989" y="44985"/>
                </a:lnTo>
                <a:lnTo>
                  <a:pt x="36613" y="50633"/>
                </a:lnTo>
                <a:lnTo>
                  <a:pt x="26356" y="52704"/>
                </a:lnTo>
                <a:lnTo>
                  <a:pt x="16099" y="50633"/>
                </a:lnTo>
                <a:lnTo>
                  <a:pt x="7721" y="44985"/>
                </a:lnTo>
                <a:lnTo>
                  <a:pt x="2072" y="36608"/>
                </a:lnTo>
                <a:lnTo>
                  <a:pt x="0" y="26352"/>
                </a:lnTo>
                <a:lnTo>
                  <a:pt x="2072" y="16095"/>
                </a:lnTo>
                <a:lnTo>
                  <a:pt x="7721" y="7719"/>
                </a:lnTo>
                <a:lnTo>
                  <a:pt x="16099" y="2071"/>
                </a:lnTo>
                <a:lnTo>
                  <a:pt x="26356" y="0"/>
                </a:lnTo>
                <a:close/>
              </a:path>
              <a:path w="52705" h="52705">
                <a:moveTo>
                  <a:pt x="52709" y="0"/>
                </a:moveTo>
                <a:lnTo>
                  <a:pt x="0" y="52704"/>
                </a:lnTo>
              </a:path>
            </a:pathLst>
          </a:custGeom>
          <a:ln w="7906">
            <a:solidFill>
              <a:srgbClr val="231F20"/>
            </a:solidFill>
          </a:ln>
        </p:spPr>
        <p:txBody>
          <a:bodyPr wrap="square" lIns="0" tIns="0" rIns="0" bIns="0" rtlCol="0"/>
          <a:lstStyle/>
          <a:p>
            <a:endParaRPr/>
          </a:p>
        </p:txBody>
      </p:sp>
      <p:sp>
        <p:nvSpPr>
          <p:cNvPr id="23" name="object 23"/>
          <p:cNvSpPr/>
          <p:nvPr/>
        </p:nvSpPr>
        <p:spPr>
          <a:xfrm>
            <a:off x="1853112" y="2377623"/>
            <a:ext cx="158750" cy="158750"/>
          </a:xfrm>
          <a:custGeom>
            <a:avLst/>
            <a:gdLst/>
            <a:ahLst/>
            <a:cxnLst/>
            <a:rect l="l" t="t" r="r" b="b"/>
            <a:pathLst>
              <a:path w="158750" h="158750">
                <a:moveTo>
                  <a:pt x="0" y="158127"/>
                </a:moveTo>
                <a:lnTo>
                  <a:pt x="158123" y="158127"/>
                </a:lnTo>
                <a:lnTo>
                  <a:pt x="158123" y="0"/>
                </a:lnTo>
                <a:lnTo>
                  <a:pt x="0" y="0"/>
                </a:lnTo>
                <a:lnTo>
                  <a:pt x="0" y="158127"/>
                </a:lnTo>
                <a:close/>
              </a:path>
            </a:pathLst>
          </a:custGeom>
          <a:ln w="5270">
            <a:solidFill>
              <a:srgbClr val="231F20"/>
            </a:solidFill>
          </a:ln>
        </p:spPr>
        <p:txBody>
          <a:bodyPr wrap="square" lIns="0" tIns="0" rIns="0" bIns="0" rtlCol="0"/>
          <a:lstStyle/>
          <a:p>
            <a:endParaRPr/>
          </a:p>
        </p:txBody>
      </p:sp>
      <p:sp>
        <p:nvSpPr>
          <p:cNvPr id="24" name="object 24"/>
          <p:cNvSpPr/>
          <p:nvPr/>
        </p:nvSpPr>
        <p:spPr>
          <a:xfrm>
            <a:off x="1853112" y="2588459"/>
            <a:ext cx="158750" cy="158750"/>
          </a:xfrm>
          <a:custGeom>
            <a:avLst/>
            <a:gdLst/>
            <a:ahLst/>
            <a:cxnLst/>
            <a:rect l="l" t="t" r="r" b="b"/>
            <a:pathLst>
              <a:path w="158750" h="158750">
                <a:moveTo>
                  <a:pt x="0" y="158123"/>
                </a:moveTo>
                <a:lnTo>
                  <a:pt x="158123" y="158123"/>
                </a:lnTo>
                <a:lnTo>
                  <a:pt x="158123" y="0"/>
                </a:lnTo>
                <a:lnTo>
                  <a:pt x="0" y="0"/>
                </a:lnTo>
                <a:lnTo>
                  <a:pt x="0" y="158123"/>
                </a:lnTo>
                <a:close/>
              </a:path>
            </a:pathLst>
          </a:custGeom>
          <a:ln w="5270">
            <a:solidFill>
              <a:srgbClr val="231F20"/>
            </a:solidFill>
          </a:ln>
        </p:spPr>
        <p:txBody>
          <a:bodyPr wrap="square" lIns="0" tIns="0" rIns="0" bIns="0" rtlCol="0"/>
          <a:lstStyle/>
          <a:p>
            <a:endParaRPr/>
          </a:p>
        </p:txBody>
      </p:sp>
      <p:sp>
        <p:nvSpPr>
          <p:cNvPr id="25" name="object 25"/>
          <p:cNvSpPr/>
          <p:nvPr/>
        </p:nvSpPr>
        <p:spPr>
          <a:xfrm>
            <a:off x="1853112" y="1955958"/>
            <a:ext cx="158750" cy="158750"/>
          </a:xfrm>
          <a:custGeom>
            <a:avLst/>
            <a:gdLst/>
            <a:ahLst/>
            <a:cxnLst/>
            <a:rect l="l" t="t" r="r" b="b"/>
            <a:pathLst>
              <a:path w="158750" h="158750">
                <a:moveTo>
                  <a:pt x="0" y="158123"/>
                </a:moveTo>
                <a:lnTo>
                  <a:pt x="158123" y="158123"/>
                </a:lnTo>
                <a:lnTo>
                  <a:pt x="158123" y="0"/>
                </a:lnTo>
                <a:lnTo>
                  <a:pt x="0" y="0"/>
                </a:lnTo>
                <a:lnTo>
                  <a:pt x="0" y="158123"/>
                </a:lnTo>
                <a:close/>
              </a:path>
            </a:pathLst>
          </a:custGeom>
          <a:ln w="5270">
            <a:solidFill>
              <a:srgbClr val="231F20"/>
            </a:solidFill>
          </a:ln>
        </p:spPr>
        <p:txBody>
          <a:bodyPr wrap="square" lIns="0" tIns="0" rIns="0" bIns="0" rtlCol="0"/>
          <a:lstStyle/>
          <a:p>
            <a:endParaRPr/>
          </a:p>
        </p:txBody>
      </p:sp>
      <p:grpSp>
        <p:nvGrpSpPr>
          <p:cNvPr id="26" name="object 26"/>
          <p:cNvGrpSpPr/>
          <p:nvPr/>
        </p:nvGrpSpPr>
        <p:grpSpPr>
          <a:xfrm>
            <a:off x="1850254" y="2163932"/>
            <a:ext cx="164465" cy="164465"/>
            <a:chOff x="1850254" y="2163932"/>
            <a:chExt cx="164465" cy="164465"/>
          </a:xfrm>
        </p:grpSpPr>
        <p:sp>
          <p:nvSpPr>
            <p:cNvPr id="27" name="object 27"/>
            <p:cNvSpPr/>
            <p:nvPr/>
          </p:nvSpPr>
          <p:spPr>
            <a:xfrm>
              <a:off x="1853112" y="2166790"/>
              <a:ext cx="158750" cy="158750"/>
            </a:xfrm>
            <a:custGeom>
              <a:avLst/>
              <a:gdLst/>
              <a:ahLst/>
              <a:cxnLst/>
              <a:rect l="l" t="t" r="r" b="b"/>
              <a:pathLst>
                <a:path w="158750" h="158750">
                  <a:moveTo>
                    <a:pt x="158123" y="0"/>
                  </a:moveTo>
                  <a:lnTo>
                    <a:pt x="0" y="0"/>
                  </a:lnTo>
                  <a:lnTo>
                    <a:pt x="0" y="158127"/>
                  </a:lnTo>
                  <a:lnTo>
                    <a:pt x="158123" y="158127"/>
                  </a:lnTo>
                  <a:lnTo>
                    <a:pt x="158123" y="0"/>
                  </a:lnTo>
                  <a:close/>
                </a:path>
              </a:pathLst>
            </a:custGeom>
            <a:solidFill>
              <a:srgbClr val="D1D3D4"/>
            </a:solidFill>
          </p:spPr>
          <p:txBody>
            <a:bodyPr wrap="square" lIns="0" tIns="0" rIns="0" bIns="0" rtlCol="0"/>
            <a:lstStyle/>
            <a:p>
              <a:endParaRPr/>
            </a:p>
          </p:txBody>
        </p:sp>
        <p:sp>
          <p:nvSpPr>
            <p:cNvPr id="28" name="object 28"/>
            <p:cNvSpPr/>
            <p:nvPr/>
          </p:nvSpPr>
          <p:spPr>
            <a:xfrm>
              <a:off x="1853112" y="2166790"/>
              <a:ext cx="158750" cy="158750"/>
            </a:xfrm>
            <a:custGeom>
              <a:avLst/>
              <a:gdLst/>
              <a:ahLst/>
              <a:cxnLst/>
              <a:rect l="l" t="t" r="r" b="b"/>
              <a:pathLst>
                <a:path w="158750" h="158750">
                  <a:moveTo>
                    <a:pt x="0" y="158127"/>
                  </a:moveTo>
                  <a:lnTo>
                    <a:pt x="158123" y="158127"/>
                  </a:lnTo>
                  <a:lnTo>
                    <a:pt x="158123" y="0"/>
                  </a:lnTo>
                  <a:lnTo>
                    <a:pt x="0" y="0"/>
                  </a:lnTo>
                  <a:lnTo>
                    <a:pt x="0" y="158127"/>
                  </a:lnTo>
                  <a:close/>
                </a:path>
              </a:pathLst>
            </a:custGeom>
            <a:ln w="5270">
              <a:solidFill>
                <a:srgbClr val="231F20"/>
              </a:solidFill>
            </a:ln>
          </p:spPr>
          <p:txBody>
            <a:bodyPr wrap="square" lIns="0" tIns="0" rIns="0" bIns="0" rtlCol="0"/>
            <a:lstStyle/>
            <a:p>
              <a:endParaRPr/>
            </a:p>
          </p:txBody>
        </p:sp>
      </p:grpSp>
      <p:sp>
        <p:nvSpPr>
          <p:cNvPr id="29" name="object 29"/>
          <p:cNvSpPr txBox="1"/>
          <p:nvPr/>
        </p:nvSpPr>
        <p:spPr>
          <a:xfrm>
            <a:off x="1800403" y="1903249"/>
            <a:ext cx="264160" cy="896619"/>
          </a:xfrm>
          <a:prstGeom prst="rect">
            <a:avLst/>
          </a:prstGeom>
          <a:ln w="5270">
            <a:solidFill>
              <a:srgbClr val="231F20"/>
            </a:solidFill>
          </a:ln>
        </p:spPr>
        <p:txBody>
          <a:bodyPr vert="horz" wrap="square" lIns="0" tIns="2540" rIns="0" bIns="0" rtlCol="0">
            <a:spAutoFit/>
          </a:bodyPr>
          <a:lstStyle/>
          <a:p>
            <a:pPr>
              <a:lnSpc>
                <a:spcPct val="100000"/>
              </a:lnSpc>
              <a:spcBef>
                <a:spcPts val="20"/>
              </a:spcBef>
            </a:pPr>
            <a:endParaRPr sz="500">
              <a:latin typeface="Times New Roman"/>
              <a:cs typeface="Times New Roman"/>
            </a:endParaRPr>
          </a:p>
          <a:p>
            <a:pPr marL="7620" algn="ctr">
              <a:lnSpc>
                <a:spcPct val="100000"/>
              </a:lnSpc>
            </a:pPr>
            <a:r>
              <a:rPr sz="650" spc="10" dirty="0">
                <a:solidFill>
                  <a:srgbClr val="231F20"/>
                </a:solidFill>
                <a:latin typeface="Arial"/>
                <a:cs typeface="Arial"/>
              </a:rPr>
              <a:t>D</a:t>
            </a:r>
            <a:endParaRPr sz="650">
              <a:latin typeface="Arial"/>
              <a:cs typeface="Arial"/>
            </a:endParaRPr>
          </a:p>
          <a:p>
            <a:pPr>
              <a:lnSpc>
                <a:spcPct val="100000"/>
              </a:lnSpc>
            </a:pPr>
            <a:endParaRPr sz="600">
              <a:latin typeface="Arial"/>
              <a:cs typeface="Arial"/>
            </a:endParaRPr>
          </a:p>
          <a:p>
            <a:pPr>
              <a:lnSpc>
                <a:spcPct val="100000"/>
              </a:lnSpc>
              <a:spcBef>
                <a:spcPts val="50"/>
              </a:spcBef>
            </a:pPr>
            <a:endParaRPr sz="800">
              <a:latin typeface="Arial"/>
              <a:cs typeface="Arial"/>
            </a:endParaRPr>
          </a:p>
          <a:p>
            <a:pPr marL="101600" marR="93980" indent="-3810" algn="ctr">
              <a:lnSpc>
                <a:spcPct val="212800"/>
              </a:lnSpc>
            </a:pPr>
            <a:r>
              <a:rPr sz="650" spc="5" dirty="0">
                <a:solidFill>
                  <a:srgbClr val="231F20"/>
                </a:solidFill>
                <a:latin typeface="Arial"/>
                <a:cs typeface="Arial"/>
              </a:rPr>
              <a:t>A  B</a:t>
            </a:r>
            <a:endParaRPr sz="650">
              <a:latin typeface="Arial"/>
              <a:cs typeface="Arial"/>
            </a:endParaRPr>
          </a:p>
        </p:txBody>
      </p:sp>
      <p:sp>
        <p:nvSpPr>
          <p:cNvPr id="30" name="object 30"/>
          <p:cNvSpPr/>
          <p:nvPr/>
        </p:nvSpPr>
        <p:spPr>
          <a:xfrm>
            <a:off x="1905821" y="2219499"/>
            <a:ext cx="52705" cy="52705"/>
          </a:xfrm>
          <a:custGeom>
            <a:avLst/>
            <a:gdLst/>
            <a:ahLst/>
            <a:cxnLst/>
            <a:rect l="l" t="t" r="r" b="b"/>
            <a:pathLst>
              <a:path w="52705" h="52705">
                <a:moveTo>
                  <a:pt x="26352" y="0"/>
                </a:moveTo>
                <a:lnTo>
                  <a:pt x="36608" y="2071"/>
                </a:lnTo>
                <a:lnTo>
                  <a:pt x="44985" y="7719"/>
                </a:lnTo>
                <a:lnTo>
                  <a:pt x="50633" y="16096"/>
                </a:lnTo>
                <a:lnTo>
                  <a:pt x="52704" y="26352"/>
                </a:lnTo>
                <a:lnTo>
                  <a:pt x="50633" y="36609"/>
                </a:lnTo>
                <a:lnTo>
                  <a:pt x="44985" y="44987"/>
                </a:lnTo>
                <a:lnTo>
                  <a:pt x="36608" y="50637"/>
                </a:lnTo>
                <a:lnTo>
                  <a:pt x="26352" y="52709"/>
                </a:lnTo>
                <a:lnTo>
                  <a:pt x="16095" y="50637"/>
                </a:lnTo>
                <a:lnTo>
                  <a:pt x="7719" y="44987"/>
                </a:lnTo>
                <a:lnTo>
                  <a:pt x="2071" y="36609"/>
                </a:lnTo>
                <a:lnTo>
                  <a:pt x="0" y="26352"/>
                </a:lnTo>
                <a:lnTo>
                  <a:pt x="2071" y="16096"/>
                </a:lnTo>
                <a:lnTo>
                  <a:pt x="7719" y="7719"/>
                </a:lnTo>
                <a:lnTo>
                  <a:pt x="16095" y="2071"/>
                </a:lnTo>
                <a:lnTo>
                  <a:pt x="26352" y="0"/>
                </a:lnTo>
                <a:close/>
              </a:path>
              <a:path w="52705" h="52705">
                <a:moveTo>
                  <a:pt x="52704" y="0"/>
                </a:moveTo>
                <a:lnTo>
                  <a:pt x="0" y="52709"/>
                </a:lnTo>
              </a:path>
            </a:pathLst>
          </a:custGeom>
          <a:ln w="7906">
            <a:solidFill>
              <a:srgbClr val="231F20"/>
            </a:solidFill>
          </a:ln>
        </p:spPr>
        <p:txBody>
          <a:bodyPr wrap="square" lIns="0" tIns="0" rIns="0" bIns="0" rtlCol="0"/>
          <a:lstStyle/>
          <a:p>
            <a:endParaRPr/>
          </a:p>
        </p:txBody>
      </p:sp>
      <p:sp>
        <p:nvSpPr>
          <p:cNvPr id="31" name="object 31"/>
          <p:cNvSpPr txBox="1"/>
          <p:nvPr/>
        </p:nvSpPr>
        <p:spPr>
          <a:xfrm>
            <a:off x="641730" y="2853263"/>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(a)</a:t>
            </a:r>
            <a:endParaRPr sz="1000">
              <a:latin typeface="Arial"/>
              <a:cs typeface="Arial"/>
            </a:endParaRPr>
          </a:p>
        </p:txBody>
      </p:sp>
      <p:sp>
        <p:nvSpPr>
          <p:cNvPr id="32" name="object 32"/>
          <p:cNvSpPr txBox="1"/>
          <p:nvPr/>
        </p:nvSpPr>
        <p:spPr>
          <a:xfrm>
            <a:off x="1253732" y="2853263"/>
            <a:ext cx="18034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(b)</a:t>
            </a:r>
            <a:endParaRPr sz="1000">
              <a:latin typeface="Arial"/>
              <a:cs typeface="Arial"/>
            </a:endParaRPr>
          </a:p>
        </p:txBody>
      </p:sp>
      <p:sp>
        <p:nvSpPr>
          <p:cNvPr id="33" name="object 33"/>
          <p:cNvSpPr txBox="1"/>
          <p:nvPr/>
        </p:nvSpPr>
        <p:spPr>
          <a:xfrm>
            <a:off x="1845616" y="2853263"/>
            <a:ext cx="17335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a:t>
            </a:r>
            <a:endParaRPr sz="1000">
              <a:latin typeface="Arial"/>
              <a:cs typeface="Arial"/>
            </a:endParaRPr>
          </a:p>
        </p:txBody>
      </p:sp>
      <p:sp>
        <p:nvSpPr>
          <p:cNvPr id="34" name="object 34"/>
          <p:cNvSpPr txBox="1"/>
          <p:nvPr/>
        </p:nvSpPr>
        <p:spPr>
          <a:xfrm>
            <a:off x="2464511" y="2063832"/>
            <a:ext cx="1637664" cy="708660"/>
          </a:xfrm>
          <a:prstGeom prst="rect">
            <a:avLst/>
          </a:prstGeom>
        </p:spPr>
        <p:txBody>
          <a:bodyPr vert="horz" wrap="square" lIns="0" tIns="88265" rIns="0" bIns="0" rtlCol="0">
            <a:spAutoFit/>
          </a:bodyPr>
          <a:lstStyle/>
          <a:p>
            <a:pPr marL="236220" indent="-224154">
              <a:lnSpc>
                <a:spcPct val="100000"/>
              </a:lnSpc>
              <a:spcBef>
                <a:spcPts val="695"/>
              </a:spcBef>
              <a:buClr>
                <a:srgbClr val="3333B2"/>
              </a:buClr>
              <a:buAutoNum type="alphaLcParenBoth"/>
              <a:tabLst>
                <a:tab pos="236854" algn="l"/>
              </a:tabLst>
            </a:pPr>
            <a:r>
              <a:rPr sz="1000" spc="-10" dirty="0">
                <a:latin typeface="Arial"/>
                <a:cs typeface="Arial"/>
              </a:rPr>
              <a:t>before</a:t>
            </a:r>
            <a:r>
              <a:rPr sz="1000" spc="-15" dirty="0">
                <a:latin typeface="Arial"/>
                <a:cs typeface="Arial"/>
              </a:rPr>
              <a:t> </a:t>
            </a:r>
            <a:r>
              <a:rPr sz="1000" spc="-5" dirty="0">
                <a:latin typeface="Arial"/>
                <a:cs typeface="Arial"/>
              </a:rPr>
              <a:t>the</a:t>
            </a:r>
            <a:r>
              <a:rPr sz="1000" spc="-15" dirty="0">
                <a:latin typeface="Arial"/>
                <a:cs typeface="Arial"/>
              </a:rPr>
              <a:t> </a:t>
            </a:r>
            <a:r>
              <a:rPr sz="1000" spc="-10" dirty="0">
                <a:latin typeface="Arial"/>
                <a:cs typeface="Arial"/>
              </a:rPr>
              <a:t>context switch</a:t>
            </a:r>
            <a:endParaRPr sz="1000" dirty="0">
              <a:latin typeface="Arial"/>
              <a:cs typeface="Arial"/>
            </a:endParaRPr>
          </a:p>
          <a:p>
            <a:pPr marL="236220" indent="-224154">
              <a:lnSpc>
                <a:spcPct val="100000"/>
              </a:lnSpc>
              <a:spcBef>
                <a:spcPts val="590"/>
              </a:spcBef>
              <a:buClr>
                <a:srgbClr val="3333B2"/>
              </a:buClr>
              <a:buAutoNum type="alphaLcParenBoth"/>
              <a:tabLst>
                <a:tab pos="236854" algn="l"/>
              </a:tabLst>
            </a:pPr>
            <a:r>
              <a:rPr sz="1000" spc="-5" dirty="0">
                <a:latin typeface="Arial"/>
                <a:cs typeface="Arial"/>
              </a:rPr>
              <a:t>after</a:t>
            </a:r>
            <a:r>
              <a:rPr sz="1000" spc="-15" dirty="0">
                <a:latin typeface="Arial"/>
                <a:cs typeface="Arial"/>
              </a:rPr>
              <a:t> </a:t>
            </a:r>
            <a:r>
              <a:rPr sz="1000" spc="-5" dirty="0">
                <a:latin typeface="Arial"/>
                <a:cs typeface="Arial"/>
              </a:rPr>
              <a:t>the</a:t>
            </a:r>
            <a:r>
              <a:rPr sz="1000" spc="-15" dirty="0">
                <a:latin typeface="Arial"/>
                <a:cs typeface="Arial"/>
              </a:rPr>
              <a:t> </a:t>
            </a:r>
            <a:r>
              <a:rPr sz="1000" spc="-10" dirty="0">
                <a:latin typeface="Arial"/>
                <a:cs typeface="Arial"/>
              </a:rPr>
              <a:t>context</a:t>
            </a:r>
            <a:r>
              <a:rPr sz="1000" spc="-15" dirty="0">
                <a:latin typeface="Arial"/>
                <a:cs typeface="Arial"/>
              </a:rPr>
              <a:t> </a:t>
            </a:r>
            <a:r>
              <a:rPr sz="1000" spc="-10" dirty="0">
                <a:latin typeface="Arial"/>
                <a:cs typeface="Arial"/>
              </a:rPr>
              <a:t>switch</a:t>
            </a:r>
            <a:endParaRPr sz="1000" dirty="0">
              <a:latin typeface="Arial"/>
              <a:cs typeface="Arial"/>
            </a:endParaRPr>
          </a:p>
          <a:p>
            <a:pPr marL="236220" indent="-217170">
              <a:lnSpc>
                <a:spcPct val="100000"/>
              </a:lnSpc>
              <a:spcBef>
                <a:spcPts val="595"/>
              </a:spcBef>
              <a:buClr>
                <a:srgbClr val="3333B2"/>
              </a:buClr>
              <a:buAutoNum type="alphaLcParenBoth"/>
              <a:tabLst>
                <a:tab pos="236854" algn="l"/>
              </a:tabLst>
            </a:pPr>
            <a:r>
              <a:rPr sz="1000" spc="-5" dirty="0">
                <a:latin typeface="Arial"/>
                <a:cs typeface="Arial"/>
              </a:rPr>
              <a:t>after</a:t>
            </a:r>
            <a:r>
              <a:rPr sz="1000" spc="-20" dirty="0">
                <a:latin typeface="Arial"/>
                <a:cs typeface="Arial"/>
              </a:rPr>
              <a:t> </a:t>
            </a:r>
            <a:r>
              <a:rPr sz="1000" spc="-5" dirty="0">
                <a:latin typeface="Arial"/>
                <a:cs typeface="Arial"/>
              </a:rPr>
              <a:t>accessing</a:t>
            </a:r>
            <a:r>
              <a:rPr sz="1000" spc="-15" dirty="0">
                <a:latin typeface="Arial"/>
                <a:cs typeface="Arial"/>
              </a:rPr>
              <a:t> </a:t>
            </a:r>
            <a:r>
              <a:rPr sz="1000" spc="-10" dirty="0">
                <a:latin typeface="Arial"/>
                <a:cs typeface="Arial"/>
              </a:rPr>
              <a:t>block</a:t>
            </a:r>
            <a:r>
              <a:rPr sz="1000" spc="-20" dirty="0">
                <a:latin typeface="Arial"/>
                <a:cs typeface="Arial"/>
              </a:rPr>
              <a:t> </a:t>
            </a:r>
            <a:r>
              <a:rPr sz="900" i="1" spc="15" dirty="0">
                <a:latin typeface="Arial"/>
                <a:cs typeface="Arial"/>
              </a:rPr>
              <a:t>D</a:t>
            </a:r>
            <a:r>
              <a:rPr sz="1000" spc="15" dirty="0">
                <a:latin typeface="Arial"/>
                <a:cs typeface="Arial"/>
              </a:rPr>
              <a:t>.</a:t>
            </a:r>
            <a:endParaRPr sz="1000" dirty="0">
              <a:latin typeface="Arial"/>
              <a:cs typeface="Arial"/>
            </a:endParaRPr>
          </a:p>
        </p:txBody>
      </p:sp>
      <p:sp>
        <p:nvSpPr>
          <p:cNvPr id="35" name="object 35"/>
          <p:cNvSpPr txBox="1"/>
          <p:nvPr/>
        </p:nvSpPr>
        <p:spPr>
          <a:xfrm>
            <a:off x="66713" y="3327684"/>
            <a:ext cx="13716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Thread usage</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in</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nondistributed</a:t>
            </a:r>
            <a:r>
              <a:rPr sz="600"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systems</a:t>
            </a:r>
            <a:endParaRPr sz="600">
              <a:latin typeface="Arial"/>
              <a:cs typeface="Arial"/>
            </a:endParaRPr>
          </a:p>
        </p:txBody>
      </p:sp>
      <p:sp>
        <p:nvSpPr>
          <p:cNvPr id="36" name="object 36"/>
          <p:cNvSpPr txBox="1"/>
          <p:nvPr/>
        </p:nvSpPr>
        <p:spPr>
          <a:xfrm>
            <a:off x="4325963" y="3327684"/>
            <a:ext cx="2159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object 8"/>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Thread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implementation</a:t>
            </a:r>
            <a:endParaRPr sz="600">
              <a:latin typeface="Arial"/>
              <a:cs typeface="Arial"/>
            </a:endParaRPr>
          </a:p>
        </p:txBody>
      </p:sp>
      <p:sp>
        <p:nvSpPr>
          <p:cNvPr id="9" name="object 9"/>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8</a:t>
            </a:r>
            <a:r>
              <a:rPr spc="-40" dirty="0"/>
              <a:t> </a:t>
            </a:r>
            <a:r>
              <a:rPr spc="-5" dirty="0"/>
              <a:t>/</a:t>
            </a:r>
            <a:r>
              <a:rPr spc="-35" dirty="0"/>
              <a:t> </a:t>
            </a:r>
            <a:r>
              <a:rPr spc="-5" dirty="0"/>
              <a:t>47</a:t>
            </a: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Introduction</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to</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threads</a:t>
            </a:r>
            <a:endParaRPr sz="600">
              <a:latin typeface="Arial"/>
              <a:cs typeface="Arial"/>
            </a:endParaRPr>
          </a:p>
        </p:txBody>
      </p:sp>
      <p:sp>
        <p:nvSpPr>
          <p:cNvPr id="4" name="object 4"/>
          <p:cNvSpPr txBox="1"/>
          <p:nvPr/>
        </p:nvSpPr>
        <p:spPr>
          <a:xfrm>
            <a:off x="82600" y="188846"/>
            <a:ext cx="4215765" cy="1862455"/>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Threads</a:t>
            </a:r>
            <a:r>
              <a:rPr sz="1400" dirty="0">
                <a:solidFill>
                  <a:srgbClr val="3333B2"/>
                </a:solidFill>
                <a:latin typeface="Arial"/>
                <a:cs typeface="Arial"/>
              </a:rPr>
              <a:t> </a:t>
            </a:r>
            <a:r>
              <a:rPr sz="1400" spc="15" dirty="0">
                <a:solidFill>
                  <a:srgbClr val="3333B2"/>
                </a:solidFill>
                <a:latin typeface="Arial"/>
                <a:cs typeface="Arial"/>
              </a:rPr>
              <a:t>and</a:t>
            </a:r>
            <a:r>
              <a:rPr sz="1400" spc="5" dirty="0">
                <a:solidFill>
                  <a:srgbClr val="3333B2"/>
                </a:solidFill>
                <a:latin typeface="Arial"/>
                <a:cs typeface="Arial"/>
              </a:rPr>
              <a:t> </a:t>
            </a:r>
            <a:r>
              <a:rPr sz="1400" spc="10" dirty="0">
                <a:solidFill>
                  <a:srgbClr val="3333B2"/>
                </a:solidFill>
                <a:latin typeface="Arial"/>
                <a:cs typeface="Arial"/>
              </a:rPr>
              <a:t>operating</a:t>
            </a:r>
            <a:r>
              <a:rPr sz="1400" spc="5"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a:lnSpc>
                <a:spcPct val="100000"/>
              </a:lnSpc>
              <a:spcBef>
                <a:spcPts val="35"/>
              </a:spcBef>
            </a:pPr>
            <a:endParaRPr sz="1600" dirty="0">
              <a:latin typeface="Arial"/>
              <a:cs typeface="Arial"/>
            </a:endParaRPr>
          </a:p>
          <a:p>
            <a:pPr marL="276860">
              <a:lnSpc>
                <a:spcPts val="1410"/>
              </a:lnSpc>
            </a:pPr>
            <a:r>
              <a:rPr sz="1200" spc="-5" dirty="0">
                <a:solidFill>
                  <a:srgbClr val="FA0000"/>
                </a:solidFill>
                <a:latin typeface="Arial"/>
                <a:cs typeface="Arial"/>
              </a:rPr>
              <a:t>Main</a:t>
            </a:r>
            <a:r>
              <a:rPr sz="1200" spc="-40" dirty="0">
                <a:solidFill>
                  <a:srgbClr val="FA0000"/>
                </a:solidFill>
                <a:latin typeface="Arial"/>
                <a:cs typeface="Arial"/>
              </a:rPr>
              <a:t> </a:t>
            </a:r>
            <a:r>
              <a:rPr sz="1200" spc="-5" dirty="0">
                <a:solidFill>
                  <a:srgbClr val="FA0000"/>
                </a:solidFill>
                <a:latin typeface="Arial"/>
                <a:cs typeface="Arial"/>
              </a:rPr>
              <a:t>issue</a:t>
            </a:r>
            <a:endParaRPr sz="1200" dirty="0">
              <a:latin typeface="Arial"/>
              <a:cs typeface="Arial"/>
            </a:endParaRPr>
          </a:p>
          <a:p>
            <a:pPr marL="276860" marR="60960">
              <a:lnSpc>
                <a:spcPts val="1200"/>
              </a:lnSpc>
              <a:spcBef>
                <a:spcPts val="10"/>
              </a:spcBef>
            </a:pPr>
            <a:r>
              <a:rPr sz="1000" spc="-5" dirty="0">
                <a:latin typeface="Arial"/>
                <a:cs typeface="Arial"/>
              </a:rPr>
              <a:t>Should an</a:t>
            </a:r>
            <a:r>
              <a:rPr sz="1000" dirty="0">
                <a:latin typeface="Arial"/>
                <a:cs typeface="Arial"/>
              </a:rPr>
              <a:t> </a:t>
            </a:r>
            <a:r>
              <a:rPr sz="1000" spc="-5" dirty="0">
                <a:latin typeface="Arial"/>
                <a:cs typeface="Arial"/>
              </a:rPr>
              <a:t>OS</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provide</a:t>
            </a:r>
            <a:r>
              <a:rPr sz="1000" dirty="0">
                <a:latin typeface="Arial"/>
                <a:cs typeface="Arial"/>
              </a:rPr>
              <a:t> </a:t>
            </a:r>
            <a:r>
              <a:rPr sz="1000" spc="-5" dirty="0">
                <a:latin typeface="Arial"/>
                <a:cs typeface="Arial"/>
              </a:rPr>
              <a:t>threads, or</a:t>
            </a:r>
            <a:r>
              <a:rPr sz="1000" dirty="0">
                <a:latin typeface="Arial"/>
                <a:cs typeface="Arial"/>
              </a:rPr>
              <a:t> </a:t>
            </a:r>
            <a:r>
              <a:rPr sz="1000" spc="-5" dirty="0">
                <a:latin typeface="Arial"/>
                <a:cs typeface="Arial"/>
              </a:rPr>
              <a:t>should</a:t>
            </a:r>
            <a:r>
              <a:rPr sz="1000" dirty="0">
                <a:latin typeface="Arial"/>
                <a:cs typeface="Arial"/>
              </a:rPr>
              <a:t> </a:t>
            </a:r>
            <a:r>
              <a:rPr sz="1000" spc="-10" dirty="0">
                <a:latin typeface="Arial"/>
                <a:cs typeface="Arial"/>
              </a:rPr>
              <a:t>they</a:t>
            </a:r>
            <a:r>
              <a:rPr sz="1000" dirty="0">
                <a:latin typeface="Arial"/>
                <a:cs typeface="Arial"/>
              </a:rPr>
              <a:t> </a:t>
            </a:r>
            <a:r>
              <a:rPr sz="1000" spc="-5" dirty="0">
                <a:latin typeface="Arial"/>
                <a:cs typeface="Arial"/>
              </a:rPr>
              <a:t>be implemented </a:t>
            </a:r>
            <a:r>
              <a:rPr sz="1000" spc="-260" dirty="0">
                <a:latin typeface="Arial"/>
                <a:cs typeface="Arial"/>
              </a:rPr>
              <a:t> </a:t>
            </a:r>
            <a:r>
              <a:rPr sz="1000" spc="-5" dirty="0">
                <a:latin typeface="Arial"/>
                <a:cs typeface="Arial"/>
              </a:rPr>
              <a:t>as</a:t>
            </a:r>
            <a:r>
              <a:rPr sz="1000" spc="-10" dirty="0">
                <a:latin typeface="Arial"/>
                <a:cs typeface="Arial"/>
              </a:rPr>
              <a:t> user-level</a:t>
            </a:r>
            <a:r>
              <a:rPr sz="1000" spc="-5" dirty="0">
                <a:latin typeface="Arial"/>
                <a:cs typeface="Arial"/>
              </a:rPr>
              <a:t> packages?</a:t>
            </a:r>
            <a:endParaRPr sz="1000" dirty="0">
              <a:latin typeface="Arial"/>
              <a:cs typeface="Arial"/>
            </a:endParaRPr>
          </a:p>
          <a:p>
            <a:pPr marL="276860">
              <a:lnSpc>
                <a:spcPct val="100000"/>
              </a:lnSpc>
              <a:spcBef>
                <a:spcPts val="650"/>
              </a:spcBef>
            </a:pPr>
            <a:r>
              <a:rPr sz="1200" spc="-5" dirty="0">
                <a:solidFill>
                  <a:srgbClr val="3333B2"/>
                </a:solidFill>
                <a:latin typeface="Arial"/>
                <a:cs typeface="Arial"/>
              </a:rPr>
              <a:t>User-space</a:t>
            </a:r>
            <a:r>
              <a:rPr sz="1200" spc="-60" dirty="0">
                <a:solidFill>
                  <a:srgbClr val="3333B2"/>
                </a:solidFill>
                <a:latin typeface="Arial"/>
                <a:cs typeface="Arial"/>
              </a:rPr>
              <a:t> </a:t>
            </a:r>
            <a:r>
              <a:rPr sz="1200" spc="-5" dirty="0">
                <a:solidFill>
                  <a:srgbClr val="3333B2"/>
                </a:solidFill>
                <a:latin typeface="Arial"/>
                <a:cs typeface="Arial"/>
              </a:rPr>
              <a:t>solution</a:t>
            </a:r>
            <a:endParaRPr sz="1200" dirty="0">
              <a:latin typeface="Arial"/>
              <a:cs typeface="Arial"/>
            </a:endParaRPr>
          </a:p>
          <a:p>
            <a:pPr marL="554355" indent="-168275">
              <a:lnSpc>
                <a:spcPts val="1200"/>
              </a:lnSpc>
              <a:spcBef>
                <a:spcPts val="770"/>
              </a:spcBef>
              <a:buClr>
                <a:srgbClr val="3333B2"/>
              </a:buClr>
              <a:buChar char="►"/>
              <a:tabLst>
                <a:tab pos="554990" algn="l"/>
              </a:tabLst>
            </a:pPr>
            <a:r>
              <a:rPr sz="1000" spc="-5" dirty="0">
                <a:latin typeface="Arial"/>
                <a:cs typeface="Arial"/>
              </a:rPr>
              <a:t>All operations</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 completely</a:t>
            </a:r>
            <a:r>
              <a:rPr sz="1000" dirty="0">
                <a:latin typeface="Arial"/>
                <a:cs typeface="Arial"/>
              </a:rPr>
              <a:t> </a:t>
            </a:r>
            <a:r>
              <a:rPr sz="1000" spc="-5" dirty="0">
                <a:latin typeface="Arial"/>
                <a:cs typeface="Arial"/>
              </a:rPr>
              <a:t>handled</a:t>
            </a:r>
            <a:r>
              <a:rPr sz="1000" dirty="0">
                <a:latin typeface="Arial"/>
                <a:cs typeface="Arial"/>
              </a:rPr>
              <a:t> </a:t>
            </a:r>
            <a:r>
              <a:rPr sz="1000" spc="-5" dirty="0">
                <a:solidFill>
                  <a:srgbClr val="0000FA"/>
                </a:solidFill>
                <a:latin typeface="Arial"/>
                <a:cs typeface="Arial"/>
              </a:rPr>
              <a:t>within a</a:t>
            </a:r>
            <a:r>
              <a:rPr sz="1000" dirty="0">
                <a:solidFill>
                  <a:srgbClr val="0000FA"/>
                </a:solidFill>
                <a:latin typeface="Arial"/>
                <a:cs typeface="Arial"/>
              </a:rPr>
              <a:t> </a:t>
            </a:r>
            <a:r>
              <a:rPr sz="1000" spc="-5" dirty="0">
                <a:solidFill>
                  <a:srgbClr val="0000FA"/>
                </a:solidFill>
                <a:latin typeface="Arial"/>
                <a:cs typeface="Arial"/>
              </a:rPr>
              <a:t>single</a:t>
            </a:r>
            <a:r>
              <a:rPr sz="1000" dirty="0">
                <a:solidFill>
                  <a:srgbClr val="0000FA"/>
                </a:solidFill>
                <a:latin typeface="Arial"/>
                <a:cs typeface="Arial"/>
              </a:rPr>
              <a:t> </a:t>
            </a:r>
            <a:r>
              <a:rPr sz="1000" spc="-5" dirty="0">
                <a:solidFill>
                  <a:srgbClr val="0000FA"/>
                </a:solidFill>
                <a:latin typeface="Arial"/>
                <a:cs typeface="Arial"/>
              </a:rPr>
              <a:t>process</a:t>
            </a:r>
            <a:endParaRPr sz="1000" dirty="0">
              <a:latin typeface="Arial"/>
              <a:cs typeface="Arial"/>
            </a:endParaRPr>
          </a:p>
          <a:p>
            <a:pPr marL="554355">
              <a:lnSpc>
                <a:spcPts val="1200"/>
              </a:lnSpc>
            </a:pPr>
            <a:r>
              <a:rPr sz="1000" i="1" spc="-5" dirty="0">
                <a:latin typeface="メイリオ"/>
                <a:cs typeface="メイリオ"/>
              </a:rPr>
              <a:t>⇒</a:t>
            </a:r>
            <a:r>
              <a:rPr sz="1000" i="1" spc="-60" dirty="0">
                <a:latin typeface="メイリオ"/>
                <a:cs typeface="メイリオ"/>
              </a:rPr>
              <a:t> </a:t>
            </a:r>
            <a:r>
              <a:rPr sz="1000" spc="-5" dirty="0">
                <a:latin typeface="Arial"/>
                <a:cs typeface="Arial"/>
              </a:rPr>
              <a:t>implementations</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be</a:t>
            </a:r>
            <a:r>
              <a:rPr sz="1000" spc="5" dirty="0">
                <a:latin typeface="Arial"/>
                <a:cs typeface="Arial"/>
              </a:rPr>
              <a:t> </a:t>
            </a:r>
            <a:r>
              <a:rPr sz="1000" spc="-10" dirty="0">
                <a:latin typeface="Arial"/>
                <a:cs typeface="Arial"/>
              </a:rPr>
              <a:t>extremely</a:t>
            </a:r>
            <a:r>
              <a:rPr sz="1000" dirty="0">
                <a:latin typeface="Arial"/>
                <a:cs typeface="Arial"/>
              </a:rPr>
              <a:t> </a:t>
            </a:r>
            <a:r>
              <a:rPr sz="1000" spc="-5" dirty="0">
                <a:latin typeface="Arial"/>
                <a:cs typeface="Arial"/>
              </a:rPr>
              <a:t>efficient.</a:t>
            </a:r>
            <a:endParaRPr sz="1000" dirty="0">
              <a:latin typeface="Arial"/>
              <a:cs typeface="Arial"/>
            </a:endParaRPr>
          </a:p>
          <a:p>
            <a:pPr marL="554355" indent="-168275">
              <a:lnSpc>
                <a:spcPct val="100000"/>
              </a:lnSpc>
              <a:spcBef>
                <a:spcPts val="595"/>
              </a:spcBef>
              <a:buClr>
                <a:srgbClr val="3333B2"/>
              </a:buClr>
              <a:buChar char="►"/>
              <a:tabLst>
                <a:tab pos="554990" algn="l"/>
              </a:tabLst>
            </a:pPr>
            <a:r>
              <a:rPr sz="1000" spc="-5" dirty="0">
                <a:solidFill>
                  <a:srgbClr val="0000FA"/>
                </a:solidFill>
                <a:latin typeface="Arial"/>
                <a:cs typeface="Arial"/>
              </a:rPr>
              <a:t>All </a:t>
            </a:r>
            <a:r>
              <a:rPr sz="1000" dirty="0">
                <a:latin typeface="Arial"/>
                <a:cs typeface="Arial"/>
              </a:rPr>
              <a:t>services</a:t>
            </a:r>
            <a:r>
              <a:rPr sz="1000" spc="-5" dirty="0">
                <a:latin typeface="Arial"/>
                <a:cs typeface="Arial"/>
              </a:rPr>
              <a:t> provided</a:t>
            </a:r>
            <a:r>
              <a:rPr sz="1000" dirty="0">
                <a:latin typeface="Arial"/>
                <a:cs typeface="Arial"/>
              </a:rPr>
              <a:t> </a:t>
            </a:r>
            <a:r>
              <a:rPr sz="1000" spc="-15" dirty="0">
                <a:latin typeface="Arial"/>
                <a:cs typeface="Arial"/>
              </a:rPr>
              <a:t>by</a:t>
            </a:r>
            <a:r>
              <a:rPr sz="1000" spc="-5" dirty="0">
                <a:latin typeface="Arial"/>
                <a:cs typeface="Arial"/>
              </a:rPr>
              <a:t> the</a:t>
            </a:r>
            <a:r>
              <a:rPr sz="1000" dirty="0">
                <a:latin typeface="Arial"/>
                <a:cs typeface="Arial"/>
              </a:rPr>
              <a:t> </a:t>
            </a:r>
            <a:r>
              <a:rPr sz="1000" spc="-5" dirty="0">
                <a:latin typeface="Arial"/>
                <a:cs typeface="Arial"/>
              </a:rPr>
              <a:t>kernel are</a:t>
            </a:r>
            <a:r>
              <a:rPr sz="1000" dirty="0">
                <a:latin typeface="Arial"/>
                <a:cs typeface="Arial"/>
              </a:rPr>
              <a:t> </a:t>
            </a:r>
            <a:r>
              <a:rPr sz="1000" spc="-5" dirty="0">
                <a:latin typeface="Arial"/>
                <a:cs typeface="Arial"/>
              </a:rPr>
              <a:t>done </a:t>
            </a:r>
            <a:r>
              <a:rPr sz="1000" spc="-5" dirty="0">
                <a:solidFill>
                  <a:srgbClr val="0000FA"/>
                </a:solidFill>
                <a:latin typeface="Arial"/>
                <a:cs typeface="Arial"/>
              </a:rPr>
              <a:t>on</a:t>
            </a:r>
            <a:r>
              <a:rPr sz="1000" dirty="0">
                <a:solidFill>
                  <a:srgbClr val="0000FA"/>
                </a:solidFill>
                <a:latin typeface="Arial"/>
                <a:cs typeface="Arial"/>
              </a:rPr>
              <a:t> </a:t>
            </a:r>
            <a:r>
              <a:rPr sz="1000" spc="-5" dirty="0">
                <a:solidFill>
                  <a:srgbClr val="0000FA"/>
                </a:solidFill>
                <a:latin typeface="Arial"/>
                <a:cs typeface="Arial"/>
              </a:rPr>
              <a:t>behalf of the</a:t>
            </a:r>
            <a:endParaRPr sz="1000" dirty="0">
              <a:latin typeface="Arial"/>
              <a:cs typeface="Arial"/>
            </a:endParaRPr>
          </a:p>
        </p:txBody>
      </p:sp>
      <p:sp>
        <p:nvSpPr>
          <p:cNvPr id="5" name="object 5"/>
          <p:cNvSpPr txBox="1"/>
          <p:nvPr/>
        </p:nvSpPr>
        <p:spPr>
          <a:xfrm>
            <a:off x="624395" y="2025642"/>
            <a:ext cx="3639185" cy="177800"/>
          </a:xfrm>
          <a:prstGeom prst="rect">
            <a:avLst/>
          </a:prstGeom>
        </p:spPr>
        <p:txBody>
          <a:bodyPr vert="horz" wrap="square" lIns="0" tIns="12065" rIns="0" bIns="0" rtlCol="0">
            <a:spAutoFit/>
          </a:bodyPr>
          <a:lstStyle/>
          <a:p>
            <a:pPr marL="12700">
              <a:lnSpc>
                <a:spcPct val="100000"/>
              </a:lnSpc>
              <a:spcBef>
                <a:spcPts val="95"/>
              </a:spcBef>
            </a:pPr>
            <a:r>
              <a:rPr sz="1000" spc="-15" dirty="0">
                <a:solidFill>
                  <a:srgbClr val="0000FA"/>
                </a:solidFill>
                <a:latin typeface="Arial"/>
                <a:cs typeface="Arial"/>
              </a:rPr>
              <a:t>process</a:t>
            </a:r>
            <a:r>
              <a:rPr sz="1000" spc="-5" dirty="0">
                <a:solidFill>
                  <a:srgbClr val="0000FA"/>
                </a:solidFill>
                <a:latin typeface="Arial"/>
                <a:cs typeface="Arial"/>
              </a:rPr>
              <a:t> </a:t>
            </a:r>
            <a:r>
              <a:rPr sz="1000" spc="-10" dirty="0">
                <a:solidFill>
                  <a:srgbClr val="0000FA"/>
                </a:solidFill>
                <a:latin typeface="Arial"/>
                <a:cs typeface="Arial"/>
              </a:rPr>
              <a:t>in</a:t>
            </a:r>
            <a:r>
              <a:rPr sz="1000" spc="-5" dirty="0">
                <a:solidFill>
                  <a:srgbClr val="0000FA"/>
                </a:solidFill>
                <a:latin typeface="Arial"/>
                <a:cs typeface="Arial"/>
              </a:rPr>
              <a:t> </a:t>
            </a:r>
            <a:r>
              <a:rPr sz="1000" spc="-15" dirty="0">
                <a:solidFill>
                  <a:srgbClr val="0000FA"/>
                </a:solidFill>
                <a:latin typeface="Arial"/>
                <a:cs typeface="Arial"/>
              </a:rPr>
              <a:t>which</a:t>
            </a:r>
            <a:r>
              <a:rPr sz="1000" dirty="0">
                <a:solidFill>
                  <a:srgbClr val="0000FA"/>
                </a:solidFill>
                <a:latin typeface="Arial"/>
                <a:cs typeface="Arial"/>
              </a:rPr>
              <a:t> </a:t>
            </a:r>
            <a:r>
              <a:rPr sz="1000" spc="-15" dirty="0">
                <a:solidFill>
                  <a:srgbClr val="0000FA"/>
                </a:solidFill>
                <a:latin typeface="Arial"/>
                <a:cs typeface="Arial"/>
              </a:rPr>
              <a:t>a</a:t>
            </a:r>
            <a:r>
              <a:rPr sz="1000" spc="-5" dirty="0">
                <a:solidFill>
                  <a:srgbClr val="0000FA"/>
                </a:solidFill>
                <a:latin typeface="Arial"/>
                <a:cs typeface="Arial"/>
              </a:rPr>
              <a:t> </a:t>
            </a:r>
            <a:r>
              <a:rPr sz="1000" spc="-10" dirty="0">
                <a:solidFill>
                  <a:srgbClr val="0000FA"/>
                </a:solidFill>
                <a:latin typeface="Arial"/>
                <a:cs typeface="Arial"/>
              </a:rPr>
              <a:t>thread</a:t>
            </a:r>
            <a:r>
              <a:rPr sz="1000" spc="-5" dirty="0">
                <a:solidFill>
                  <a:srgbClr val="0000FA"/>
                </a:solidFill>
                <a:latin typeface="Arial"/>
                <a:cs typeface="Arial"/>
              </a:rPr>
              <a:t> </a:t>
            </a:r>
            <a:r>
              <a:rPr sz="1000" spc="-10" dirty="0">
                <a:solidFill>
                  <a:srgbClr val="0000FA"/>
                </a:solidFill>
                <a:latin typeface="Arial"/>
                <a:cs typeface="Arial"/>
              </a:rPr>
              <a:t>resides</a:t>
            </a:r>
            <a:r>
              <a:rPr sz="1000" dirty="0">
                <a:solidFill>
                  <a:srgbClr val="0000FA"/>
                </a:solidFill>
                <a:latin typeface="Arial"/>
                <a:cs typeface="Arial"/>
              </a:rPr>
              <a:t> </a:t>
            </a:r>
            <a:r>
              <a:rPr sz="1000" i="1" spc="-5" dirty="0">
                <a:latin typeface="メイリオ"/>
                <a:cs typeface="メイリオ"/>
              </a:rPr>
              <a:t>⇒</a:t>
            </a:r>
            <a:r>
              <a:rPr sz="1000" i="1" spc="-65" dirty="0">
                <a:latin typeface="メイリオ"/>
                <a:cs typeface="メイリオ"/>
              </a:rPr>
              <a:t> </a:t>
            </a:r>
            <a:r>
              <a:rPr sz="1000" spc="-10" dirty="0">
                <a:latin typeface="Arial"/>
                <a:cs typeface="Arial"/>
              </a:rPr>
              <a:t>if</a:t>
            </a:r>
            <a:r>
              <a:rPr sz="1000" spc="-5" dirty="0">
                <a:latin typeface="Arial"/>
                <a:cs typeface="Arial"/>
              </a:rPr>
              <a:t> </a:t>
            </a:r>
            <a:r>
              <a:rPr sz="1000" spc="-10" dirty="0">
                <a:latin typeface="Arial"/>
                <a:cs typeface="Arial"/>
              </a:rPr>
              <a:t>the</a:t>
            </a:r>
            <a:r>
              <a:rPr sz="1000" dirty="0">
                <a:latin typeface="Arial"/>
                <a:cs typeface="Arial"/>
              </a:rPr>
              <a:t> </a:t>
            </a:r>
            <a:r>
              <a:rPr sz="1000" spc="-10" dirty="0">
                <a:latin typeface="Arial"/>
                <a:cs typeface="Arial"/>
              </a:rPr>
              <a:t>kernel</a:t>
            </a:r>
            <a:r>
              <a:rPr sz="1000" spc="-5" dirty="0">
                <a:latin typeface="Arial"/>
                <a:cs typeface="Arial"/>
              </a:rPr>
              <a:t> </a:t>
            </a:r>
            <a:r>
              <a:rPr sz="1000" spc="-15" dirty="0">
                <a:latin typeface="Arial"/>
                <a:cs typeface="Arial"/>
              </a:rPr>
              <a:t>decides</a:t>
            </a:r>
            <a:r>
              <a:rPr sz="1000" spc="-5" dirty="0">
                <a:latin typeface="Arial"/>
                <a:cs typeface="Arial"/>
              </a:rPr>
              <a:t> </a:t>
            </a:r>
            <a:r>
              <a:rPr sz="1000" spc="-10" dirty="0">
                <a:latin typeface="Arial"/>
                <a:cs typeface="Arial"/>
              </a:rPr>
              <a:t>to</a:t>
            </a:r>
            <a:r>
              <a:rPr sz="1000" dirty="0">
                <a:latin typeface="Arial"/>
                <a:cs typeface="Arial"/>
              </a:rPr>
              <a:t> </a:t>
            </a:r>
            <a:r>
              <a:rPr sz="1000" spc="-20" dirty="0">
                <a:latin typeface="Arial"/>
                <a:cs typeface="Arial"/>
              </a:rPr>
              <a:t>block</a:t>
            </a:r>
            <a:endParaRPr sz="1000" dirty="0">
              <a:latin typeface="Arial"/>
              <a:cs typeface="Arial"/>
            </a:endParaRPr>
          </a:p>
        </p:txBody>
      </p:sp>
      <p:sp>
        <p:nvSpPr>
          <p:cNvPr id="6" name="object 6"/>
          <p:cNvSpPr txBox="1"/>
          <p:nvPr/>
        </p:nvSpPr>
        <p:spPr>
          <a:xfrm>
            <a:off x="431304" y="2101577"/>
            <a:ext cx="3853815" cy="481330"/>
          </a:xfrm>
          <a:prstGeom prst="rect">
            <a:avLst/>
          </a:prstGeom>
        </p:spPr>
        <p:txBody>
          <a:bodyPr vert="horz" wrap="square" lIns="0" tIns="87630" rIns="0" bIns="0" rtlCol="0">
            <a:spAutoFit/>
          </a:bodyPr>
          <a:lstStyle/>
          <a:p>
            <a:pPr marL="205740">
              <a:lnSpc>
                <a:spcPct val="100000"/>
              </a:lnSpc>
              <a:spcBef>
                <a:spcPts val="690"/>
              </a:spcBef>
            </a:pPr>
            <a:r>
              <a:rPr sz="1000" spc="-5" dirty="0">
                <a:latin typeface="Arial"/>
                <a:cs typeface="Arial"/>
              </a:rPr>
              <a:t>a thread, the entire process will be </a:t>
            </a:r>
            <a:r>
              <a:rPr sz="1000" spc="-10" dirty="0">
                <a:latin typeface="Arial"/>
                <a:cs typeface="Arial"/>
              </a:rPr>
              <a:t>blocked.</a:t>
            </a:r>
            <a:endParaRPr sz="1000" dirty="0">
              <a:latin typeface="Arial"/>
              <a:cs typeface="Arial"/>
            </a:endParaRPr>
          </a:p>
          <a:p>
            <a:pPr marL="205740" indent="-168275">
              <a:lnSpc>
                <a:spcPct val="100000"/>
              </a:lnSpc>
              <a:spcBef>
                <a:spcPts val="595"/>
              </a:spcBef>
              <a:buClr>
                <a:srgbClr val="3333B2"/>
              </a:buClr>
              <a:buChar char="►"/>
              <a:tabLst>
                <a:tab pos="206375" algn="l"/>
              </a:tabLst>
            </a:pPr>
            <a:r>
              <a:rPr sz="1000" spc="-10" dirty="0">
                <a:latin typeface="Arial"/>
                <a:cs typeface="Arial"/>
              </a:rPr>
              <a:t>Threads</a:t>
            </a:r>
            <a:r>
              <a:rPr sz="1000" spc="-5" dirty="0">
                <a:latin typeface="Arial"/>
                <a:cs typeface="Arial"/>
              </a:rPr>
              <a:t> are</a:t>
            </a:r>
            <a:r>
              <a:rPr sz="1000" dirty="0">
                <a:latin typeface="Arial"/>
                <a:cs typeface="Arial"/>
              </a:rPr>
              <a:t> </a:t>
            </a:r>
            <a:r>
              <a:rPr sz="1000" spc="-10" dirty="0">
                <a:latin typeface="Arial"/>
                <a:cs typeface="Arial"/>
              </a:rPr>
              <a:t>used</a:t>
            </a:r>
            <a:r>
              <a:rPr sz="1000" spc="-5" dirty="0">
                <a:latin typeface="Arial"/>
                <a:cs typeface="Arial"/>
              </a:rPr>
              <a:t> </a:t>
            </a:r>
            <a:r>
              <a:rPr sz="1000" spc="-10" dirty="0">
                <a:latin typeface="Arial"/>
                <a:cs typeface="Arial"/>
              </a:rPr>
              <a:t>when</a:t>
            </a:r>
            <a:r>
              <a:rPr sz="1000" dirty="0">
                <a:latin typeface="Arial"/>
                <a:cs typeface="Arial"/>
              </a:rPr>
              <a:t> </a:t>
            </a:r>
            <a:r>
              <a:rPr sz="1000" spc="-5" dirty="0">
                <a:latin typeface="Arial"/>
                <a:cs typeface="Arial"/>
              </a:rPr>
              <a:t>there are</a:t>
            </a:r>
            <a:r>
              <a:rPr sz="1000" dirty="0">
                <a:latin typeface="Arial"/>
                <a:cs typeface="Arial"/>
              </a:rPr>
              <a:t> </a:t>
            </a:r>
            <a:r>
              <a:rPr sz="1000" spc="-5" dirty="0">
                <a:latin typeface="Arial"/>
                <a:cs typeface="Arial"/>
              </a:rPr>
              <a:t>lots of</a:t>
            </a:r>
            <a:r>
              <a:rPr sz="1000" dirty="0">
                <a:latin typeface="Arial"/>
                <a:cs typeface="Arial"/>
              </a:rPr>
              <a:t> </a:t>
            </a:r>
            <a:r>
              <a:rPr sz="1000" spc="-10" dirty="0">
                <a:latin typeface="Arial"/>
                <a:cs typeface="Arial"/>
              </a:rPr>
              <a:t>external</a:t>
            </a:r>
            <a:r>
              <a:rPr sz="1000" spc="-5" dirty="0">
                <a:latin typeface="Arial"/>
                <a:cs typeface="Arial"/>
              </a:rPr>
              <a:t> </a:t>
            </a:r>
            <a:r>
              <a:rPr sz="1000" spc="-15" dirty="0">
                <a:latin typeface="Arial"/>
                <a:cs typeface="Arial"/>
              </a:rPr>
              <a:t>events:</a:t>
            </a:r>
            <a:r>
              <a:rPr sz="1000" spc="65" dirty="0">
                <a:latin typeface="Arial"/>
                <a:cs typeface="Arial"/>
              </a:rPr>
              <a:t> </a:t>
            </a:r>
            <a:r>
              <a:rPr sz="1000" spc="-5" dirty="0">
                <a:solidFill>
                  <a:srgbClr val="0000FA"/>
                </a:solidFill>
                <a:latin typeface="Arial"/>
                <a:cs typeface="Arial"/>
              </a:rPr>
              <a:t>threads</a:t>
            </a:r>
            <a:endParaRPr sz="1000" dirty="0">
              <a:latin typeface="Arial"/>
              <a:cs typeface="Arial"/>
            </a:endParaRPr>
          </a:p>
        </p:txBody>
      </p:sp>
      <p:sp>
        <p:nvSpPr>
          <p:cNvPr id="7" name="object 7"/>
          <p:cNvSpPr txBox="1"/>
          <p:nvPr/>
        </p:nvSpPr>
        <p:spPr>
          <a:xfrm>
            <a:off x="624395" y="2557048"/>
            <a:ext cx="3277235" cy="329565"/>
          </a:xfrm>
          <a:prstGeom prst="rect">
            <a:avLst/>
          </a:prstGeom>
        </p:spPr>
        <p:txBody>
          <a:bodyPr vert="horz" wrap="square" lIns="0" tIns="12065" rIns="0" bIns="0" rtlCol="0">
            <a:spAutoFit/>
          </a:bodyPr>
          <a:lstStyle/>
          <a:p>
            <a:pPr marL="12700" marR="5080">
              <a:lnSpc>
                <a:spcPct val="100000"/>
              </a:lnSpc>
              <a:spcBef>
                <a:spcPts val="95"/>
              </a:spcBef>
            </a:pPr>
            <a:r>
              <a:rPr sz="1000" spc="-10" dirty="0">
                <a:solidFill>
                  <a:srgbClr val="0000FA"/>
                </a:solidFill>
                <a:latin typeface="Arial"/>
                <a:cs typeface="Arial"/>
              </a:rPr>
              <a:t>block </a:t>
            </a:r>
            <a:r>
              <a:rPr sz="1000" spc="-5" dirty="0">
                <a:solidFill>
                  <a:srgbClr val="0000FA"/>
                </a:solidFill>
                <a:latin typeface="Arial"/>
                <a:cs typeface="Arial"/>
              </a:rPr>
              <a:t>on a </a:t>
            </a:r>
            <a:r>
              <a:rPr sz="1000" spc="-10" dirty="0">
                <a:solidFill>
                  <a:srgbClr val="0000FA"/>
                </a:solidFill>
                <a:latin typeface="Arial"/>
                <a:cs typeface="Arial"/>
              </a:rPr>
              <a:t>per-event </a:t>
            </a:r>
            <a:r>
              <a:rPr sz="1000" spc="-5" dirty="0">
                <a:solidFill>
                  <a:srgbClr val="0000FA"/>
                </a:solidFill>
                <a:latin typeface="Arial"/>
                <a:cs typeface="Arial"/>
              </a:rPr>
              <a:t>basis </a:t>
            </a:r>
            <a:r>
              <a:rPr sz="1000" i="1" spc="-5" dirty="0">
                <a:latin typeface="メイリオ"/>
                <a:cs typeface="メイリオ"/>
              </a:rPr>
              <a:t>⇒ </a:t>
            </a:r>
            <a:r>
              <a:rPr sz="1000" spc="-5" dirty="0">
                <a:latin typeface="Arial"/>
                <a:cs typeface="Arial"/>
              </a:rPr>
              <a:t>if the kernel can’t distinguish </a:t>
            </a:r>
            <a:r>
              <a:rPr sz="1000" spc="-265" dirty="0">
                <a:latin typeface="Arial"/>
                <a:cs typeface="Arial"/>
              </a:rPr>
              <a:t> </a:t>
            </a:r>
            <a:r>
              <a:rPr sz="1000" spc="-5" dirty="0">
                <a:latin typeface="Arial"/>
                <a:cs typeface="Arial"/>
              </a:rPr>
              <a:t>threads, </a:t>
            </a:r>
            <a:r>
              <a:rPr sz="1000" spc="-10" dirty="0">
                <a:latin typeface="Arial"/>
                <a:cs typeface="Arial"/>
              </a:rPr>
              <a:t>how</a:t>
            </a:r>
            <a:r>
              <a:rPr sz="1000" spc="-5" dirty="0">
                <a:latin typeface="Arial"/>
                <a:cs typeface="Arial"/>
              </a:rPr>
              <a:t> can</a:t>
            </a:r>
            <a:r>
              <a:rPr sz="1000" dirty="0">
                <a:latin typeface="Arial"/>
                <a:cs typeface="Arial"/>
              </a:rPr>
              <a:t> </a:t>
            </a:r>
            <a:r>
              <a:rPr sz="1000" spc="-5" dirty="0">
                <a:latin typeface="Arial"/>
                <a:cs typeface="Arial"/>
              </a:rPr>
              <a:t>it </a:t>
            </a:r>
            <a:r>
              <a:rPr sz="1000" dirty="0">
                <a:latin typeface="Arial"/>
                <a:cs typeface="Arial"/>
              </a:rPr>
              <a:t>support</a:t>
            </a:r>
            <a:r>
              <a:rPr sz="1000" spc="-5" dirty="0">
                <a:latin typeface="Arial"/>
                <a:cs typeface="Arial"/>
              </a:rPr>
              <a:t> signaling</a:t>
            </a:r>
            <a:r>
              <a:rPr sz="1000" dirty="0">
                <a:latin typeface="Arial"/>
                <a:cs typeface="Arial"/>
              </a:rPr>
              <a:t> </a:t>
            </a:r>
            <a:r>
              <a:rPr sz="1000" spc="-15" dirty="0">
                <a:latin typeface="Arial"/>
                <a:cs typeface="Arial"/>
              </a:rPr>
              <a:t>events</a:t>
            </a:r>
            <a:r>
              <a:rPr sz="1000" spc="-5" dirty="0">
                <a:latin typeface="Arial"/>
                <a:cs typeface="Arial"/>
              </a:rPr>
              <a:t> to</a:t>
            </a:r>
            <a:r>
              <a:rPr sz="1000" dirty="0">
                <a:latin typeface="Arial"/>
                <a:cs typeface="Arial"/>
              </a:rPr>
              <a:t> </a:t>
            </a:r>
            <a:r>
              <a:rPr sz="1000" spc="-5" dirty="0">
                <a:latin typeface="Arial"/>
                <a:cs typeface="Arial"/>
              </a:rPr>
              <a:t>them?</a:t>
            </a:r>
            <a:endParaRPr sz="1000" dirty="0">
              <a:latin typeface="Arial"/>
              <a:cs typeface="Arial"/>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Thread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implementation</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9</a:t>
            </a:r>
            <a:r>
              <a:rPr spc="-40" dirty="0"/>
              <a:t> </a:t>
            </a:r>
            <a:r>
              <a:rPr spc="-5" dirty="0"/>
              <a:t>/</a:t>
            </a:r>
            <a:r>
              <a:rPr spc="-35" dirty="0"/>
              <a:t> </a:t>
            </a:r>
            <a:r>
              <a:rPr spc="-5" dirty="0"/>
              <a:t>47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05860" algn="l"/>
              </a:tabLst>
            </a:pPr>
            <a:r>
              <a:rPr sz="600" spc="-5" dirty="0">
                <a:solidFill>
                  <a:srgbClr val="3333B2"/>
                </a:solidFill>
                <a:latin typeface="Arial"/>
                <a:cs typeface="Arial"/>
                <a:hlinkClick r:id="rId4"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Threads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Introduction</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to</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threads</a:t>
            </a:r>
            <a:endParaRPr sz="600">
              <a:latin typeface="Arial"/>
              <a:cs typeface="Arial"/>
            </a:endParaRPr>
          </a:p>
        </p:txBody>
      </p:sp>
      <p:sp>
        <p:nvSpPr>
          <p:cNvPr id="3" name="object 3"/>
          <p:cNvSpPr txBox="1">
            <a:spLocks noGrp="1"/>
          </p:cNvSpPr>
          <p:nvPr>
            <p:ph type="title"/>
          </p:nvPr>
        </p:nvSpPr>
        <p:spPr>
          <a:xfrm>
            <a:off x="95300" y="188846"/>
            <a:ext cx="2575560" cy="244475"/>
          </a:xfrm>
          <a:prstGeom prst="rect">
            <a:avLst/>
          </a:prstGeom>
        </p:spPr>
        <p:txBody>
          <a:bodyPr vert="horz" wrap="square" lIns="0" tIns="17145" rIns="0" bIns="0" rtlCol="0">
            <a:spAutoFit/>
          </a:bodyPr>
          <a:lstStyle/>
          <a:p>
            <a:pPr marL="12700">
              <a:lnSpc>
                <a:spcPct val="100000"/>
              </a:lnSpc>
              <a:spcBef>
                <a:spcPts val="135"/>
              </a:spcBef>
            </a:pPr>
            <a:r>
              <a:rPr spc="15" dirty="0"/>
              <a:t>Threads</a:t>
            </a:r>
            <a:r>
              <a:rPr dirty="0"/>
              <a:t> </a:t>
            </a:r>
            <a:r>
              <a:rPr spc="15" dirty="0"/>
              <a:t>and</a:t>
            </a:r>
            <a:r>
              <a:rPr spc="5" dirty="0"/>
              <a:t> </a:t>
            </a:r>
            <a:r>
              <a:rPr spc="10" dirty="0"/>
              <a:t>operating</a:t>
            </a:r>
            <a:r>
              <a:rPr dirty="0"/>
              <a:t> </a:t>
            </a:r>
            <a:r>
              <a:rPr spc="15" dirty="0"/>
              <a:t>systems</a:t>
            </a:r>
          </a:p>
        </p:txBody>
      </p:sp>
      <p:sp>
        <p:nvSpPr>
          <p:cNvPr id="4" name="object 4"/>
          <p:cNvSpPr txBox="1"/>
          <p:nvPr/>
        </p:nvSpPr>
        <p:spPr>
          <a:xfrm>
            <a:off x="317982" y="586254"/>
            <a:ext cx="3968750" cy="2465705"/>
          </a:xfrm>
          <a:prstGeom prst="rect">
            <a:avLst/>
          </a:prstGeom>
        </p:spPr>
        <p:txBody>
          <a:bodyPr vert="horz" wrap="square" lIns="0" tIns="12065" rIns="0" bIns="0" rtlCol="0">
            <a:spAutoFit/>
          </a:bodyPr>
          <a:lstStyle/>
          <a:p>
            <a:pPr marL="41910">
              <a:lnSpc>
                <a:spcPts val="1410"/>
              </a:lnSpc>
              <a:spcBef>
                <a:spcPts val="95"/>
              </a:spcBef>
            </a:pPr>
            <a:r>
              <a:rPr sz="1200" spc="-10" dirty="0">
                <a:solidFill>
                  <a:srgbClr val="3333B2"/>
                </a:solidFill>
                <a:latin typeface="Arial"/>
                <a:cs typeface="Arial"/>
              </a:rPr>
              <a:t>Kernel</a:t>
            </a:r>
            <a:r>
              <a:rPr sz="1200" spc="-30" dirty="0">
                <a:solidFill>
                  <a:srgbClr val="3333B2"/>
                </a:solidFill>
                <a:latin typeface="Arial"/>
                <a:cs typeface="Arial"/>
              </a:rPr>
              <a:t> </a:t>
            </a:r>
            <a:r>
              <a:rPr sz="1200" spc="-5" dirty="0">
                <a:solidFill>
                  <a:srgbClr val="3333B2"/>
                </a:solidFill>
                <a:latin typeface="Arial"/>
                <a:cs typeface="Arial"/>
              </a:rPr>
              <a:t>solution</a:t>
            </a:r>
            <a:endParaRPr sz="1200" dirty="0">
              <a:latin typeface="Arial"/>
              <a:cs typeface="Arial"/>
            </a:endParaRPr>
          </a:p>
          <a:p>
            <a:pPr marL="41910" marR="73025"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whole</a:t>
            </a:r>
            <a:r>
              <a:rPr sz="1000" dirty="0">
                <a:latin typeface="Arial"/>
                <a:cs typeface="Arial"/>
              </a:rPr>
              <a:t> </a:t>
            </a:r>
            <a:r>
              <a:rPr sz="1000" spc="-5" dirty="0">
                <a:latin typeface="Arial"/>
                <a:cs typeface="Arial"/>
              </a:rPr>
              <a:t>idea</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to</a:t>
            </a:r>
            <a:r>
              <a:rPr sz="1000"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contain</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implementation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 </a:t>
            </a:r>
            <a:r>
              <a:rPr sz="1000" dirty="0">
                <a:latin typeface="Arial"/>
                <a:cs typeface="Arial"/>
              </a:rPr>
              <a:t> </a:t>
            </a:r>
            <a:r>
              <a:rPr sz="1000" spc="-15" dirty="0">
                <a:latin typeface="Arial"/>
                <a:cs typeface="Arial"/>
              </a:rPr>
              <a:t>thread</a:t>
            </a:r>
            <a:r>
              <a:rPr sz="1000" spc="-10" dirty="0">
                <a:latin typeface="Arial"/>
                <a:cs typeface="Arial"/>
              </a:rPr>
              <a:t> </a:t>
            </a:r>
            <a:r>
              <a:rPr sz="1000" spc="-20" dirty="0">
                <a:latin typeface="Arial"/>
                <a:cs typeface="Arial"/>
              </a:rPr>
              <a:t>package.</a:t>
            </a:r>
            <a:r>
              <a:rPr sz="1000" spc="65" dirty="0">
                <a:latin typeface="Arial"/>
                <a:cs typeface="Arial"/>
              </a:rPr>
              <a:t> </a:t>
            </a:r>
            <a:r>
              <a:rPr sz="1000" spc="-15" dirty="0">
                <a:latin typeface="Arial"/>
                <a:cs typeface="Arial"/>
              </a:rPr>
              <a:t>This</a:t>
            </a:r>
            <a:r>
              <a:rPr sz="1000" spc="-10" dirty="0">
                <a:latin typeface="Arial"/>
                <a:cs typeface="Arial"/>
              </a:rPr>
              <a:t> </a:t>
            </a:r>
            <a:r>
              <a:rPr sz="1000" spc="-15" dirty="0">
                <a:latin typeface="Arial"/>
                <a:cs typeface="Arial"/>
              </a:rPr>
              <a:t>means</a:t>
            </a:r>
            <a:r>
              <a:rPr sz="1000" spc="-10" dirty="0">
                <a:latin typeface="Arial"/>
                <a:cs typeface="Arial"/>
              </a:rPr>
              <a:t> that </a:t>
            </a:r>
            <a:r>
              <a:rPr sz="1000" spc="-10" dirty="0">
                <a:solidFill>
                  <a:srgbClr val="0000FA"/>
                </a:solidFill>
                <a:latin typeface="Arial"/>
                <a:cs typeface="Arial"/>
              </a:rPr>
              <a:t>all </a:t>
            </a:r>
            <a:r>
              <a:rPr sz="1000" spc="-15" dirty="0">
                <a:latin typeface="Arial"/>
                <a:cs typeface="Arial"/>
              </a:rPr>
              <a:t>operations</a:t>
            </a:r>
            <a:r>
              <a:rPr sz="1000" spc="-10" dirty="0">
                <a:latin typeface="Arial"/>
                <a:cs typeface="Arial"/>
              </a:rPr>
              <a:t> return </a:t>
            </a:r>
            <a:r>
              <a:rPr sz="1000" spc="-15" dirty="0">
                <a:latin typeface="Arial"/>
                <a:cs typeface="Arial"/>
              </a:rPr>
              <a:t>as</a:t>
            </a:r>
            <a:r>
              <a:rPr sz="1000" spc="-10" dirty="0">
                <a:latin typeface="Arial"/>
                <a:cs typeface="Arial"/>
              </a:rPr>
              <a:t> </a:t>
            </a:r>
            <a:r>
              <a:rPr sz="1000" spc="-15" dirty="0">
                <a:latin typeface="Arial"/>
                <a:cs typeface="Arial"/>
              </a:rPr>
              <a:t>system</a:t>
            </a:r>
            <a:r>
              <a:rPr sz="1000" spc="-10" dirty="0">
                <a:latin typeface="Arial"/>
                <a:cs typeface="Arial"/>
              </a:rPr>
              <a:t> calls:</a:t>
            </a:r>
            <a:endParaRPr sz="1000" dirty="0">
              <a:latin typeface="Arial"/>
              <a:cs typeface="Arial"/>
            </a:endParaRPr>
          </a:p>
          <a:p>
            <a:pPr marL="318770" marR="30480" indent="-168275">
              <a:lnSpc>
                <a:spcPct val="100000"/>
              </a:lnSpc>
              <a:spcBef>
                <a:spcPts val="550"/>
              </a:spcBef>
              <a:buClr>
                <a:srgbClr val="3333B2"/>
              </a:buClr>
              <a:buChar char="►"/>
              <a:tabLst>
                <a:tab pos="319405" algn="l"/>
              </a:tabLst>
            </a:pPr>
            <a:r>
              <a:rPr sz="1000" spc="-15" dirty="0">
                <a:latin typeface="Arial"/>
                <a:cs typeface="Arial"/>
              </a:rPr>
              <a:t>Operations</a:t>
            </a:r>
            <a:r>
              <a:rPr sz="1000" spc="-20" dirty="0">
                <a:latin typeface="Arial"/>
                <a:cs typeface="Arial"/>
              </a:rPr>
              <a:t> </a:t>
            </a:r>
            <a:r>
              <a:rPr sz="1000" spc="-10" dirty="0">
                <a:latin typeface="Arial"/>
                <a:cs typeface="Arial"/>
              </a:rPr>
              <a:t>that</a:t>
            </a:r>
            <a:r>
              <a:rPr sz="1000" spc="-20" dirty="0">
                <a:latin typeface="Arial"/>
                <a:cs typeface="Arial"/>
              </a:rPr>
              <a:t> </a:t>
            </a:r>
            <a:r>
              <a:rPr sz="1000" spc="-25" dirty="0">
                <a:latin typeface="Arial"/>
                <a:cs typeface="Arial"/>
              </a:rPr>
              <a:t>block</a:t>
            </a:r>
            <a:r>
              <a:rPr sz="1000" spc="-15" dirty="0">
                <a:latin typeface="Arial"/>
                <a:cs typeface="Arial"/>
              </a:rPr>
              <a:t> a</a:t>
            </a:r>
            <a:r>
              <a:rPr sz="1000" spc="-20" dirty="0">
                <a:latin typeface="Arial"/>
                <a:cs typeface="Arial"/>
              </a:rPr>
              <a:t> </a:t>
            </a:r>
            <a:r>
              <a:rPr sz="1000" spc="-15" dirty="0">
                <a:latin typeface="Arial"/>
                <a:cs typeface="Arial"/>
              </a:rPr>
              <a:t>thread</a:t>
            </a:r>
            <a:r>
              <a:rPr sz="1000" spc="-20" dirty="0">
                <a:latin typeface="Arial"/>
                <a:cs typeface="Arial"/>
              </a:rPr>
              <a:t> </a:t>
            </a:r>
            <a:r>
              <a:rPr sz="1000" spc="-15" dirty="0">
                <a:latin typeface="Arial"/>
                <a:cs typeface="Arial"/>
              </a:rPr>
              <a:t>are no</a:t>
            </a:r>
            <a:r>
              <a:rPr sz="1000" spc="-20" dirty="0">
                <a:latin typeface="Arial"/>
                <a:cs typeface="Arial"/>
              </a:rPr>
              <a:t> </a:t>
            </a:r>
            <a:r>
              <a:rPr sz="1000" spc="-15" dirty="0">
                <a:latin typeface="Arial"/>
                <a:cs typeface="Arial"/>
              </a:rPr>
              <a:t>longer</a:t>
            </a:r>
            <a:r>
              <a:rPr sz="1000" spc="-20" dirty="0">
                <a:latin typeface="Arial"/>
                <a:cs typeface="Arial"/>
              </a:rPr>
              <a:t> </a:t>
            </a:r>
            <a:r>
              <a:rPr sz="1000" spc="-15" dirty="0">
                <a:latin typeface="Arial"/>
                <a:cs typeface="Arial"/>
              </a:rPr>
              <a:t>a problem:</a:t>
            </a:r>
            <a:r>
              <a:rPr sz="1000" spc="55" dirty="0">
                <a:latin typeface="Arial"/>
                <a:cs typeface="Arial"/>
              </a:rPr>
              <a:t> </a:t>
            </a:r>
            <a:r>
              <a:rPr sz="1000" spc="-15" dirty="0">
                <a:latin typeface="Arial"/>
                <a:cs typeface="Arial"/>
              </a:rPr>
              <a:t>the </a:t>
            </a:r>
            <a:r>
              <a:rPr sz="1000" spc="-10" dirty="0">
                <a:solidFill>
                  <a:srgbClr val="0000FA"/>
                </a:solidFill>
                <a:latin typeface="Arial"/>
                <a:cs typeface="Arial"/>
              </a:rPr>
              <a:t>kernel </a:t>
            </a:r>
            <a:r>
              <a:rPr sz="1000" spc="-265" dirty="0">
                <a:solidFill>
                  <a:srgbClr val="0000FA"/>
                </a:solidFill>
                <a:latin typeface="Arial"/>
                <a:cs typeface="Arial"/>
              </a:rPr>
              <a:t> </a:t>
            </a:r>
            <a:r>
              <a:rPr sz="1000" spc="-5" dirty="0">
                <a:solidFill>
                  <a:srgbClr val="0000FA"/>
                </a:solidFill>
                <a:latin typeface="Arial"/>
                <a:cs typeface="Arial"/>
              </a:rPr>
              <a:t>schedules another </a:t>
            </a:r>
            <a:r>
              <a:rPr sz="1000" spc="-10" dirty="0">
                <a:solidFill>
                  <a:srgbClr val="0000FA"/>
                </a:solidFill>
                <a:latin typeface="Arial"/>
                <a:cs typeface="Arial"/>
              </a:rPr>
              <a:t>available</a:t>
            </a:r>
            <a:r>
              <a:rPr sz="1000" dirty="0">
                <a:solidFill>
                  <a:srgbClr val="0000FA"/>
                </a:solidFill>
                <a:latin typeface="Arial"/>
                <a:cs typeface="Arial"/>
              </a:rPr>
              <a:t> </a:t>
            </a:r>
            <a:r>
              <a:rPr sz="1000" spc="-5" dirty="0">
                <a:solidFill>
                  <a:srgbClr val="0000FA"/>
                </a:solidFill>
                <a:latin typeface="Arial"/>
                <a:cs typeface="Arial"/>
              </a:rPr>
              <a:t>thread </a:t>
            </a:r>
            <a:r>
              <a:rPr sz="1000" spc="-5" dirty="0">
                <a:latin typeface="Arial"/>
                <a:cs typeface="Arial"/>
              </a:rPr>
              <a:t>within the</a:t>
            </a:r>
            <a:r>
              <a:rPr sz="1000" dirty="0">
                <a:latin typeface="Arial"/>
                <a:cs typeface="Arial"/>
              </a:rPr>
              <a:t> </a:t>
            </a:r>
            <a:r>
              <a:rPr sz="1000" spc="-5" dirty="0">
                <a:latin typeface="Arial"/>
                <a:cs typeface="Arial"/>
              </a:rPr>
              <a:t>same process.</a:t>
            </a:r>
            <a:endParaRPr sz="1000" dirty="0">
              <a:latin typeface="Arial"/>
              <a:cs typeface="Arial"/>
            </a:endParaRPr>
          </a:p>
          <a:p>
            <a:pPr marL="318770" marR="81915" indent="-168275">
              <a:lnSpc>
                <a:spcPct val="100000"/>
              </a:lnSpc>
              <a:spcBef>
                <a:spcPts val="590"/>
              </a:spcBef>
              <a:buClr>
                <a:srgbClr val="3333B2"/>
              </a:buClr>
              <a:buChar char="►"/>
              <a:tabLst>
                <a:tab pos="319405" algn="l"/>
              </a:tabLst>
            </a:pPr>
            <a:r>
              <a:rPr sz="1000" spc="-5" dirty="0">
                <a:latin typeface="Arial"/>
                <a:cs typeface="Arial"/>
              </a:rPr>
              <a:t>handling</a:t>
            </a:r>
            <a:r>
              <a:rPr sz="1000" dirty="0">
                <a:latin typeface="Arial"/>
                <a:cs typeface="Arial"/>
              </a:rPr>
              <a:t> </a:t>
            </a:r>
            <a:r>
              <a:rPr sz="1000" spc="-5" dirty="0">
                <a:latin typeface="Arial"/>
                <a:cs typeface="Arial"/>
              </a:rPr>
              <a:t>external</a:t>
            </a:r>
            <a:r>
              <a:rPr sz="1000" spc="5" dirty="0">
                <a:latin typeface="Arial"/>
                <a:cs typeface="Arial"/>
              </a:rPr>
              <a:t> </a:t>
            </a:r>
            <a:r>
              <a:rPr sz="1000" spc="-15" dirty="0">
                <a:latin typeface="Arial"/>
                <a:cs typeface="Arial"/>
              </a:rPr>
              <a:t>events</a:t>
            </a:r>
            <a:r>
              <a:rPr sz="1000"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simple:</a:t>
            </a:r>
            <a:r>
              <a:rPr sz="1000" spc="70" dirty="0">
                <a:latin typeface="Arial"/>
                <a:cs typeface="Arial"/>
              </a:rPr>
              <a:t> </a:t>
            </a:r>
            <a:r>
              <a:rPr sz="1000" spc="-5" dirty="0">
                <a:latin typeface="Arial"/>
                <a:cs typeface="Arial"/>
              </a:rPr>
              <a:t>the</a:t>
            </a:r>
            <a:r>
              <a:rPr sz="1000" dirty="0">
                <a:latin typeface="Arial"/>
                <a:cs typeface="Arial"/>
              </a:rPr>
              <a:t> </a:t>
            </a:r>
            <a:r>
              <a:rPr sz="1000" spc="-5" dirty="0">
                <a:solidFill>
                  <a:srgbClr val="0000FA"/>
                </a:solidFill>
                <a:latin typeface="Arial"/>
                <a:cs typeface="Arial"/>
              </a:rPr>
              <a:t>kernel</a:t>
            </a:r>
            <a:r>
              <a:rPr sz="1000" spc="5" dirty="0">
                <a:solidFill>
                  <a:srgbClr val="0000FA"/>
                </a:solidFill>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catches</a:t>
            </a:r>
            <a:r>
              <a:rPr sz="1000" spc="5" dirty="0">
                <a:latin typeface="Arial"/>
                <a:cs typeface="Arial"/>
              </a:rPr>
              <a:t> </a:t>
            </a:r>
            <a:r>
              <a:rPr sz="1000" spc="-5" dirty="0">
                <a:latin typeface="Arial"/>
                <a:cs typeface="Arial"/>
              </a:rPr>
              <a:t>all </a:t>
            </a:r>
            <a:r>
              <a:rPr sz="1000" spc="-265" dirty="0">
                <a:latin typeface="Arial"/>
                <a:cs typeface="Arial"/>
              </a:rPr>
              <a:t> </a:t>
            </a:r>
            <a:r>
              <a:rPr sz="1000" spc="-10" dirty="0">
                <a:latin typeface="Arial"/>
                <a:cs typeface="Arial"/>
              </a:rPr>
              <a:t>events)</a:t>
            </a:r>
            <a:r>
              <a:rPr sz="1000" spc="-5" dirty="0">
                <a:latin typeface="Arial"/>
                <a:cs typeface="Arial"/>
              </a:rPr>
              <a:t> </a:t>
            </a:r>
            <a:r>
              <a:rPr sz="1000" spc="-5" dirty="0">
                <a:solidFill>
                  <a:srgbClr val="0000FA"/>
                </a:solidFill>
                <a:latin typeface="Arial"/>
                <a:cs typeface="Arial"/>
              </a:rPr>
              <a:t>schedules the</a:t>
            </a:r>
            <a:r>
              <a:rPr sz="1000" dirty="0">
                <a:solidFill>
                  <a:srgbClr val="0000FA"/>
                </a:solidFill>
                <a:latin typeface="Arial"/>
                <a:cs typeface="Arial"/>
              </a:rPr>
              <a:t> </a:t>
            </a:r>
            <a:r>
              <a:rPr sz="1000" spc="-5" dirty="0">
                <a:solidFill>
                  <a:srgbClr val="0000FA"/>
                </a:solidFill>
                <a:latin typeface="Arial"/>
                <a:cs typeface="Arial"/>
              </a:rPr>
              <a:t>thread associated with</a:t>
            </a:r>
            <a:r>
              <a:rPr sz="1000" dirty="0">
                <a:solidFill>
                  <a:srgbClr val="0000FA"/>
                </a:solidFill>
                <a:latin typeface="Arial"/>
                <a:cs typeface="Arial"/>
              </a:rPr>
              <a:t> </a:t>
            </a:r>
            <a:r>
              <a:rPr sz="1000" spc="-5" dirty="0">
                <a:solidFill>
                  <a:srgbClr val="0000FA"/>
                </a:solidFill>
                <a:latin typeface="Arial"/>
                <a:cs typeface="Arial"/>
              </a:rPr>
              <a:t>the </a:t>
            </a:r>
            <a:r>
              <a:rPr sz="1000" spc="-15" dirty="0">
                <a:solidFill>
                  <a:srgbClr val="0000FA"/>
                </a:solidFill>
                <a:latin typeface="Arial"/>
                <a:cs typeface="Arial"/>
              </a:rPr>
              <a:t>event</a:t>
            </a:r>
            <a:r>
              <a:rPr sz="1000" spc="-15" dirty="0">
                <a:latin typeface="Arial"/>
                <a:cs typeface="Arial"/>
              </a:rPr>
              <a:t>.</a:t>
            </a:r>
            <a:endParaRPr sz="1000" dirty="0">
              <a:latin typeface="Arial"/>
              <a:cs typeface="Arial"/>
            </a:endParaRPr>
          </a:p>
          <a:p>
            <a:pPr marL="318770" marR="176530" indent="-168275">
              <a:lnSpc>
                <a:spcPct val="100000"/>
              </a:lnSpc>
              <a:spcBef>
                <a:spcPts val="590"/>
              </a:spcBef>
              <a:buClr>
                <a:srgbClr val="3333B2"/>
              </a:buClr>
              <a:buChar char="►"/>
              <a:tabLst>
                <a:tab pos="319405" algn="l"/>
              </a:tabLst>
            </a:pPr>
            <a:r>
              <a:rPr sz="1000" spc="-5" dirty="0">
                <a:latin typeface="Arial"/>
                <a:cs typeface="Arial"/>
              </a:rPr>
              <a:t>The problem</a:t>
            </a:r>
            <a:r>
              <a:rPr sz="1000" dirty="0">
                <a:latin typeface="Arial"/>
                <a:cs typeface="Arial"/>
              </a:rPr>
              <a:t> </a:t>
            </a:r>
            <a:r>
              <a:rPr sz="1000" spc="-5" dirty="0">
                <a:latin typeface="Arial"/>
                <a:cs typeface="Arial"/>
              </a:rPr>
              <a:t>is (or</a:t>
            </a:r>
            <a:r>
              <a:rPr sz="1000" dirty="0">
                <a:latin typeface="Arial"/>
                <a:cs typeface="Arial"/>
              </a:rPr>
              <a:t> </a:t>
            </a:r>
            <a:r>
              <a:rPr sz="1000" spc="-5" dirty="0">
                <a:latin typeface="Arial"/>
                <a:cs typeface="Arial"/>
              </a:rPr>
              <a:t>used</a:t>
            </a:r>
            <a:r>
              <a:rPr sz="1000" dirty="0">
                <a:latin typeface="Arial"/>
                <a:cs typeface="Arial"/>
              </a:rPr>
              <a:t> </a:t>
            </a:r>
            <a:r>
              <a:rPr sz="1000" spc="-5" dirty="0">
                <a:latin typeface="Arial"/>
                <a:cs typeface="Arial"/>
              </a:rPr>
              <a:t>to be)</a:t>
            </a:r>
            <a:r>
              <a:rPr sz="1000" dirty="0">
                <a:latin typeface="Arial"/>
                <a:cs typeface="Arial"/>
              </a:rPr>
              <a:t> </a:t>
            </a:r>
            <a:r>
              <a:rPr sz="1000" spc="-5" dirty="0">
                <a:latin typeface="Arial"/>
                <a:cs typeface="Arial"/>
              </a:rPr>
              <a:t>the</a:t>
            </a:r>
            <a:r>
              <a:rPr sz="1000" dirty="0">
                <a:latin typeface="Arial"/>
                <a:cs typeface="Arial"/>
              </a:rPr>
              <a:t> </a:t>
            </a:r>
            <a:r>
              <a:rPr sz="1000" spc="-5" dirty="0">
                <a:solidFill>
                  <a:srgbClr val="0000FA"/>
                </a:solidFill>
                <a:latin typeface="Arial"/>
                <a:cs typeface="Arial"/>
              </a:rPr>
              <a:t>loss of</a:t>
            </a:r>
            <a:r>
              <a:rPr sz="1000" dirty="0">
                <a:solidFill>
                  <a:srgbClr val="0000FA"/>
                </a:solidFill>
                <a:latin typeface="Arial"/>
                <a:cs typeface="Arial"/>
              </a:rPr>
              <a:t> </a:t>
            </a:r>
            <a:r>
              <a:rPr sz="1000" spc="-5" dirty="0">
                <a:solidFill>
                  <a:srgbClr val="0000FA"/>
                </a:solidFill>
                <a:latin typeface="Arial"/>
                <a:cs typeface="Arial"/>
              </a:rPr>
              <a:t>efficiency</a:t>
            </a:r>
            <a:r>
              <a:rPr sz="1000" dirty="0">
                <a:solidFill>
                  <a:srgbClr val="0000FA"/>
                </a:solidFill>
                <a:latin typeface="Arial"/>
                <a:cs typeface="Arial"/>
              </a:rPr>
              <a:t> </a:t>
            </a:r>
            <a:r>
              <a:rPr sz="1000" spc="-5" dirty="0">
                <a:latin typeface="Arial"/>
                <a:cs typeface="Arial"/>
              </a:rPr>
              <a:t>due to</a:t>
            </a:r>
            <a:r>
              <a:rPr sz="1000" dirty="0">
                <a:latin typeface="Arial"/>
                <a:cs typeface="Arial"/>
              </a:rPr>
              <a:t> </a:t>
            </a:r>
            <a:r>
              <a:rPr sz="1000" spc="-5" dirty="0">
                <a:latin typeface="Arial"/>
                <a:cs typeface="Arial"/>
              </a:rPr>
              <a:t>the </a:t>
            </a:r>
            <a:r>
              <a:rPr sz="1000" spc="-265" dirty="0">
                <a:latin typeface="Arial"/>
                <a:cs typeface="Arial"/>
              </a:rPr>
              <a:t> </a:t>
            </a:r>
            <a:r>
              <a:rPr sz="1000" spc="-10" dirty="0">
                <a:latin typeface="Arial"/>
                <a:cs typeface="Arial"/>
              </a:rPr>
              <a:t>fact</a:t>
            </a:r>
            <a:r>
              <a:rPr sz="1000" spc="-5" dirty="0">
                <a:latin typeface="Arial"/>
                <a:cs typeface="Arial"/>
              </a:rPr>
              <a:t> that</a:t>
            </a:r>
            <a:r>
              <a:rPr sz="1000" dirty="0">
                <a:latin typeface="Arial"/>
                <a:cs typeface="Arial"/>
              </a:rPr>
              <a:t> </a:t>
            </a:r>
            <a:r>
              <a:rPr sz="1000" spc="-5" dirty="0">
                <a:latin typeface="Arial"/>
                <a:cs typeface="Arial"/>
              </a:rPr>
              <a:t>each thread</a:t>
            </a:r>
            <a:r>
              <a:rPr sz="1000" dirty="0">
                <a:latin typeface="Arial"/>
                <a:cs typeface="Arial"/>
              </a:rPr>
              <a:t> </a:t>
            </a:r>
            <a:r>
              <a:rPr sz="1000" spc="-5" dirty="0">
                <a:latin typeface="Arial"/>
                <a:cs typeface="Arial"/>
              </a:rPr>
              <a:t>operation requires</a:t>
            </a:r>
            <a:r>
              <a:rPr sz="1000" dirty="0">
                <a:latin typeface="Arial"/>
                <a:cs typeface="Arial"/>
              </a:rPr>
              <a:t> </a:t>
            </a:r>
            <a:r>
              <a:rPr sz="1000" spc="-5" dirty="0">
                <a:latin typeface="Arial"/>
                <a:cs typeface="Arial"/>
              </a:rPr>
              <a:t>a trap</a:t>
            </a:r>
            <a:r>
              <a:rPr sz="1000" dirty="0">
                <a:latin typeface="Arial"/>
                <a:cs typeface="Arial"/>
              </a:rPr>
              <a:t> </a:t>
            </a:r>
            <a:r>
              <a:rPr sz="1000" spc="-5" dirty="0">
                <a:latin typeface="Arial"/>
                <a:cs typeface="Arial"/>
              </a:rPr>
              <a:t>to the</a:t>
            </a:r>
            <a:r>
              <a:rPr sz="1000" dirty="0">
                <a:latin typeface="Arial"/>
                <a:cs typeface="Arial"/>
              </a:rPr>
              <a:t> </a:t>
            </a:r>
            <a:r>
              <a:rPr sz="1000" spc="-5" dirty="0">
                <a:latin typeface="Arial"/>
                <a:cs typeface="Arial"/>
              </a:rPr>
              <a:t>kernel.</a:t>
            </a:r>
            <a:endParaRPr sz="1000" dirty="0">
              <a:latin typeface="Arial"/>
              <a:cs typeface="Arial"/>
            </a:endParaRPr>
          </a:p>
          <a:p>
            <a:pPr>
              <a:lnSpc>
                <a:spcPct val="100000"/>
              </a:lnSpc>
              <a:spcBef>
                <a:spcPts val="50"/>
              </a:spcBef>
            </a:pPr>
            <a:endParaRPr sz="1250" dirty="0">
              <a:latin typeface="Arial"/>
              <a:cs typeface="Arial"/>
            </a:endParaRPr>
          </a:p>
          <a:p>
            <a:pPr marL="41910">
              <a:lnSpc>
                <a:spcPts val="1410"/>
              </a:lnSpc>
              <a:spcBef>
                <a:spcPts val="5"/>
              </a:spcBef>
            </a:pPr>
            <a:r>
              <a:rPr sz="1200" spc="-5" dirty="0">
                <a:solidFill>
                  <a:srgbClr val="FA0000"/>
                </a:solidFill>
                <a:latin typeface="Arial"/>
                <a:cs typeface="Arial"/>
              </a:rPr>
              <a:t>Conclusion</a:t>
            </a:r>
            <a:r>
              <a:rPr sz="1200" spc="-25" dirty="0">
                <a:solidFill>
                  <a:srgbClr val="FA0000"/>
                </a:solidFill>
                <a:latin typeface="Arial"/>
                <a:cs typeface="Arial"/>
              </a:rPr>
              <a:t> </a:t>
            </a:r>
            <a:r>
              <a:rPr sz="1200" spc="-5" dirty="0">
                <a:solidFill>
                  <a:srgbClr val="FA0000"/>
                </a:solidFill>
                <a:latin typeface="Arial"/>
                <a:cs typeface="Arial"/>
              </a:rPr>
              <a:t>–</a:t>
            </a:r>
            <a:r>
              <a:rPr sz="1200" spc="-25" dirty="0">
                <a:solidFill>
                  <a:srgbClr val="FA0000"/>
                </a:solidFill>
                <a:latin typeface="Arial"/>
                <a:cs typeface="Arial"/>
              </a:rPr>
              <a:t> </a:t>
            </a:r>
            <a:r>
              <a:rPr sz="1200" spc="-15" dirty="0">
                <a:solidFill>
                  <a:srgbClr val="FA0000"/>
                </a:solidFill>
                <a:latin typeface="Arial"/>
                <a:cs typeface="Arial"/>
              </a:rPr>
              <a:t>but</a:t>
            </a:r>
            <a:endParaRPr sz="1200" dirty="0">
              <a:latin typeface="Arial"/>
              <a:cs typeface="Arial"/>
            </a:endParaRPr>
          </a:p>
          <a:p>
            <a:pPr marL="41910" marR="198755" indent="-4445">
              <a:lnSpc>
                <a:spcPts val="1200"/>
              </a:lnSpc>
              <a:spcBef>
                <a:spcPts val="10"/>
              </a:spcBef>
            </a:pPr>
            <a:r>
              <a:rPr sz="1000" spc="-35" dirty="0">
                <a:latin typeface="Arial"/>
                <a:cs typeface="Arial"/>
              </a:rPr>
              <a:t>Try</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mix</a:t>
            </a:r>
            <a:r>
              <a:rPr sz="1000" dirty="0">
                <a:latin typeface="Arial"/>
                <a:cs typeface="Arial"/>
              </a:rPr>
              <a:t> </a:t>
            </a:r>
            <a:r>
              <a:rPr sz="1000" spc="-10" dirty="0">
                <a:latin typeface="Arial"/>
                <a:cs typeface="Arial"/>
              </a:rPr>
              <a:t>user-level</a:t>
            </a:r>
            <a:r>
              <a:rPr sz="1000" spc="5" dirty="0">
                <a:latin typeface="Arial"/>
                <a:cs typeface="Arial"/>
              </a:rPr>
              <a:t> </a:t>
            </a:r>
            <a:r>
              <a:rPr sz="1000" spc="-5" dirty="0">
                <a:latin typeface="Arial"/>
                <a:cs typeface="Arial"/>
              </a:rPr>
              <a:t>and</a:t>
            </a:r>
            <a:r>
              <a:rPr sz="1000" spc="5" dirty="0">
                <a:latin typeface="Arial"/>
                <a:cs typeface="Arial"/>
              </a:rPr>
              <a:t> </a:t>
            </a:r>
            <a:r>
              <a:rPr sz="1000" spc="-10" dirty="0">
                <a:latin typeface="Arial"/>
                <a:cs typeface="Arial"/>
              </a:rPr>
              <a:t>kernel-level</a:t>
            </a:r>
            <a:r>
              <a:rPr sz="1000" dirty="0">
                <a:latin typeface="Arial"/>
                <a:cs typeface="Arial"/>
              </a:rPr>
              <a:t> </a:t>
            </a:r>
            <a:r>
              <a:rPr sz="1000" spc="-5" dirty="0">
                <a:latin typeface="Arial"/>
                <a:cs typeface="Arial"/>
              </a:rPr>
              <a:t>threads</a:t>
            </a:r>
            <a:r>
              <a:rPr sz="1000" spc="5" dirty="0">
                <a:latin typeface="Arial"/>
                <a:cs typeface="Arial"/>
              </a:rPr>
              <a:t> </a:t>
            </a:r>
            <a:r>
              <a:rPr sz="1000" spc="-5" dirty="0">
                <a:latin typeface="Arial"/>
                <a:cs typeface="Arial"/>
              </a:rPr>
              <a:t>into</a:t>
            </a:r>
            <a:r>
              <a:rPr sz="1000" spc="5"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single</a:t>
            </a:r>
            <a:r>
              <a:rPr sz="1000" spc="5" dirty="0">
                <a:latin typeface="Arial"/>
                <a:cs typeface="Arial"/>
              </a:rPr>
              <a:t> </a:t>
            </a:r>
            <a:r>
              <a:rPr sz="1000" spc="-5" dirty="0">
                <a:latin typeface="Arial"/>
                <a:cs typeface="Arial"/>
              </a:rPr>
              <a:t>concept, </a:t>
            </a:r>
            <a:r>
              <a:rPr sz="1000" spc="-265" dirty="0">
                <a:latin typeface="Arial"/>
                <a:cs typeface="Arial"/>
              </a:rPr>
              <a:t> </a:t>
            </a:r>
            <a:r>
              <a:rPr sz="1000" spc="-20" dirty="0">
                <a:latin typeface="Arial"/>
                <a:cs typeface="Arial"/>
              </a:rPr>
              <a:t>however,</a:t>
            </a:r>
            <a:r>
              <a:rPr sz="1000" spc="-5" dirty="0">
                <a:latin typeface="Arial"/>
                <a:cs typeface="Arial"/>
              </a:rPr>
              <a:t> performance gain has not</a:t>
            </a:r>
            <a:r>
              <a:rPr sz="1000" dirty="0">
                <a:latin typeface="Arial"/>
                <a:cs typeface="Arial"/>
              </a:rPr>
              <a:t> turned</a:t>
            </a:r>
            <a:r>
              <a:rPr sz="1000" spc="-5" dirty="0">
                <a:latin typeface="Arial"/>
                <a:cs typeface="Arial"/>
              </a:rPr>
              <a:t> out to outweigh the </a:t>
            </a:r>
            <a:r>
              <a:rPr sz="1000" dirty="0">
                <a:latin typeface="Arial"/>
                <a:cs typeface="Arial"/>
              </a:rPr>
              <a:t> </a:t>
            </a:r>
            <a:r>
              <a:rPr sz="1000" spc="-5" dirty="0">
                <a:latin typeface="Arial"/>
                <a:cs typeface="Arial"/>
              </a:rPr>
              <a:t>increased</a:t>
            </a:r>
            <a:r>
              <a:rPr sz="1000" spc="-10" dirty="0">
                <a:latin typeface="Arial"/>
                <a:cs typeface="Arial"/>
              </a:rPr>
              <a:t> </a:t>
            </a:r>
            <a:r>
              <a:rPr sz="1000" spc="-15" dirty="0">
                <a:latin typeface="Arial"/>
                <a:cs typeface="Arial"/>
              </a:rPr>
              <a:t>complexity.</a:t>
            </a:r>
            <a:endParaRPr sz="1000" dirty="0">
              <a:latin typeface="Arial"/>
              <a:cs typeface="Arial"/>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4095115" cy="948690"/>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Lightweight</a:t>
            </a:r>
            <a:r>
              <a:rPr sz="1400" spc="-10" dirty="0">
                <a:solidFill>
                  <a:srgbClr val="3333B2"/>
                </a:solidFill>
                <a:latin typeface="Arial"/>
                <a:cs typeface="Arial"/>
              </a:rPr>
              <a:t> </a:t>
            </a:r>
            <a:r>
              <a:rPr sz="1400" spc="15" dirty="0">
                <a:solidFill>
                  <a:srgbClr val="3333B2"/>
                </a:solidFill>
                <a:latin typeface="Arial"/>
                <a:cs typeface="Arial"/>
              </a:rPr>
              <a:t>processes</a:t>
            </a:r>
            <a:endParaRPr sz="1400" dirty="0">
              <a:latin typeface="Arial"/>
              <a:cs typeface="Arial"/>
            </a:endParaRPr>
          </a:p>
          <a:p>
            <a:pPr>
              <a:lnSpc>
                <a:spcPct val="100000"/>
              </a:lnSpc>
              <a:spcBef>
                <a:spcPts val="45"/>
              </a:spcBef>
            </a:pPr>
            <a:endParaRPr sz="1500" dirty="0">
              <a:latin typeface="Arial"/>
              <a:cs typeface="Arial"/>
            </a:endParaRPr>
          </a:p>
          <a:p>
            <a:pPr marL="264160">
              <a:lnSpc>
                <a:spcPts val="1410"/>
              </a:lnSpc>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idea</a:t>
            </a:r>
            <a:endParaRPr sz="1200" dirty="0">
              <a:latin typeface="Arial"/>
              <a:cs typeface="Arial"/>
            </a:endParaRPr>
          </a:p>
          <a:p>
            <a:pPr marL="264160" marR="5080">
              <a:lnSpc>
                <a:spcPts val="1200"/>
              </a:lnSpc>
              <a:spcBef>
                <a:spcPts val="15"/>
              </a:spcBef>
            </a:pPr>
            <a:r>
              <a:rPr sz="1000" spc="-5" dirty="0">
                <a:latin typeface="Arial"/>
                <a:cs typeface="Arial"/>
              </a:rPr>
              <a:t>Introduce</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two-level</a:t>
            </a:r>
            <a:r>
              <a:rPr sz="1000" spc="5" dirty="0">
                <a:latin typeface="Arial"/>
                <a:cs typeface="Arial"/>
              </a:rPr>
              <a:t> </a:t>
            </a:r>
            <a:r>
              <a:rPr sz="1000" spc="-5" dirty="0">
                <a:latin typeface="Arial"/>
                <a:cs typeface="Arial"/>
              </a:rPr>
              <a:t>threading</a:t>
            </a:r>
            <a:r>
              <a:rPr sz="1000" dirty="0">
                <a:latin typeface="Arial"/>
                <a:cs typeface="Arial"/>
              </a:rPr>
              <a:t> </a:t>
            </a:r>
            <a:r>
              <a:rPr sz="1000" spc="-5" dirty="0">
                <a:latin typeface="Arial"/>
                <a:cs typeface="Arial"/>
              </a:rPr>
              <a:t>approach:</a:t>
            </a:r>
            <a:r>
              <a:rPr sz="1000" spc="75" dirty="0">
                <a:latin typeface="Arial"/>
                <a:cs typeface="Arial"/>
              </a:rPr>
              <a:t> </a:t>
            </a:r>
            <a:r>
              <a:rPr sz="1000" spc="-5" dirty="0">
                <a:solidFill>
                  <a:srgbClr val="FA0000"/>
                </a:solidFill>
                <a:latin typeface="Arial"/>
                <a:cs typeface="Arial"/>
              </a:rPr>
              <a:t>lightweight</a:t>
            </a:r>
            <a:r>
              <a:rPr sz="1000" dirty="0">
                <a:solidFill>
                  <a:srgbClr val="FA0000"/>
                </a:solidFill>
                <a:latin typeface="Arial"/>
                <a:cs typeface="Arial"/>
              </a:rPr>
              <a:t> </a:t>
            </a:r>
            <a:r>
              <a:rPr sz="1000" spc="-5" dirty="0">
                <a:solidFill>
                  <a:srgbClr val="FA0000"/>
                </a:solidFill>
                <a:latin typeface="Arial"/>
                <a:cs typeface="Arial"/>
              </a:rPr>
              <a:t>processes</a:t>
            </a:r>
            <a:r>
              <a:rPr sz="1000" spc="5" dirty="0">
                <a:solidFill>
                  <a:srgbClr val="FA0000"/>
                </a:solidFill>
                <a:latin typeface="Arial"/>
                <a:cs typeface="Arial"/>
              </a:rPr>
              <a:t> </a:t>
            </a:r>
            <a:r>
              <a:rPr sz="1000" spc="-5" dirty="0">
                <a:latin typeface="Arial"/>
                <a:cs typeface="Arial"/>
              </a:rPr>
              <a:t>that </a:t>
            </a:r>
            <a:r>
              <a:rPr sz="1000" spc="-260" dirty="0">
                <a:latin typeface="Arial"/>
                <a:cs typeface="Arial"/>
              </a:rPr>
              <a:t> </a:t>
            </a:r>
            <a:r>
              <a:rPr sz="1000" spc="-5" dirty="0">
                <a:latin typeface="Arial"/>
                <a:cs typeface="Arial"/>
              </a:rPr>
              <a:t>can</a:t>
            </a:r>
            <a:r>
              <a:rPr sz="1000" spc="-10" dirty="0">
                <a:latin typeface="Arial"/>
                <a:cs typeface="Arial"/>
              </a:rPr>
              <a:t> </a:t>
            </a:r>
            <a:r>
              <a:rPr sz="1000" spc="-15" dirty="0">
                <a:latin typeface="Arial"/>
                <a:cs typeface="Arial"/>
              </a:rPr>
              <a:t>execute</a:t>
            </a:r>
            <a:r>
              <a:rPr sz="1000" spc="-5" dirty="0">
                <a:latin typeface="Arial"/>
                <a:cs typeface="Arial"/>
              </a:rPr>
              <a:t> </a:t>
            </a:r>
            <a:r>
              <a:rPr sz="1000" spc="-10" dirty="0">
                <a:latin typeface="Arial"/>
                <a:cs typeface="Arial"/>
              </a:rPr>
              <a:t>user-level</a:t>
            </a:r>
            <a:r>
              <a:rPr sz="1000" spc="-5" dirty="0">
                <a:latin typeface="Arial"/>
                <a:cs typeface="Arial"/>
              </a:rPr>
              <a:t> threads.</a:t>
            </a:r>
            <a:endParaRPr sz="1000" dirty="0">
              <a:latin typeface="Arial"/>
              <a:cs typeface="Arial"/>
            </a:endParaRPr>
          </a:p>
        </p:txBody>
      </p:sp>
      <p:sp>
        <p:nvSpPr>
          <p:cNvPr id="5" name="object 5"/>
          <p:cNvSpPr txBox="1"/>
          <p:nvPr/>
        </p:nvSpPr>
        <p:spPr>
          <a:xfrm>
            <a:off x="3204315" y="2356722"/>
            <a:ext cx="77089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Lightweight</a:t>
            </a:r>
            <a:r>
              <a:rPr sz="650" spc="-45" dirty="0">
                <a:solidFill>
                  <a:srgbClr val="231F20"/>
                </a:solidFill>
                <a:latin typeface="Arial"/>
                <a:cs typeface="Arial"/>
              </a:rPr>
              <a:t> </a:t>
            </a:r>
            <a:r>
              <a:rPr sz="650" spc="5" dirty="0">
                <a:solidFill>
                  <a:srgbClr val="231F20"/>
                </a:solidFill>
                <a:latin typeface="Arial"/>
                <a:cs typeface="Arial"/>
              </a:rPr>
              <a:t>process</a:t>
            </a:r>
            <a:endParaRPr sz="650">
              <a:latin typeface="Arial"/>
              <a:cs typeface="Arial"/>
            </a:endParaRPr>
          </a:p>
        </p:txBody>
      </p:sp>
      <p:sp>
        <p:nvSpPr>
          <p:cNvPr id="6" name="object 6"/>
          <p:cNvSpPr txBox="1"/>
          <p:nvPr/>
        </p:nvSpPr>
        <p:spPr>
          <a:xfrm>
            <a:off x="3249135" y="1863704"/>
            <a:ext cx="29273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Thread</a:t>
            </a:r>
            <a:endParaRPr sz="650">
              <a:latin typeface="Arial"/>
              <a:cs typeface="Arial"/>
            </a:endParaRPr>
          </a:p>
        </p:txBody>
      </p:sp>
      <p:sp>
        <p:nvSpPr>
          <p:cNvPr id="7" name="object 7"/>
          <p:cNvSpPr txBox="1"/>
          <p:nvPr/>
        </p:nvSpPr>
        <p:spPr>
          <a:xfrm>
            <a:off x="619703" y="2446362"/>
            <a:ext cx="1844039" cy="32131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Kernel</a:t>
            </a:r>
            <a:r>
              <a:rPr sz="650" spc="-40" dirty="0">
                <a:solidFill>
                  <a:srgbClr val="231F20"/>
                </a:solidFill>
                <a:latin typeface="Arial"/>
                <a:cs typeface="Arial"/>
              </a:rPr>
              <a:t> </a:t>
            </a:r>
            <a:r>
              <a:rPr sz="650" spc="5" dirty="0">
                <a:solidFill>
                  <a:srgbClr val="231F20"/>
                </a:solidFill>
                <a:latin typeface="Arial"/>
                <a:cs typeface="Arial"/>
              </a:rPr>
              <a:t>space</a:t>
            </a:r>
            <a:endParaRPr sz="650">
              <a:latin typeface="Arial"/>
              <a:cs typeface="Arial"/>
            </a:endParaRPr>
          </a:p>
          <a:p>
            <a:pPr>
              <a:lnSpc>
                <a:spcPct val="100000"/>
              </a:lnSpc>
              <a:spcBef>
                <a:spcPts val="5"/>
              </a:spcBef>
            </a:pPr>
            <a:endParaRPr sz="650">
              <a:latin typeface="Arial"/>
              <a:cs typeface="Arial"/>
            </a:endParaRPr>
          </a:p>
          <a:p>
            <a:pPr marL="938530">
              <a:lnSpc>
                <a:spcPct val="100000"/>
              </a:lnSpc>
            </a:pPr>
            <a:r>
              <a:rPr sz="650" spc="-10" dirty="0">
                <a:solidFill>
                  <a:srgbClr val="231F20"/>
                </a:solidFill>
                <a:latin typeface="Arial"/>
                <a:cs typeface="Arial"/>
              </a:rPr>
              <a:t>LWP</a:t>
            </a:r>
            <a:r>
              <a:rPr sz="650" spc="-30" dirty="0">
                <a:solidFill>
                  <a:srgbClr val="231F20"/>
                </a:solidFill>
                <a:latin typeface="Arial"/>
                <a:cs typeface="Arial"/>
              </a:rPr>
              <a:t> </a:t>
            </a:r>
            <a:r>
              <a:rPr sz="650" spc="5" dirty="0">
                <a:solidFill>
                  <a:srgbClr val="231F20"/>
                </a:solidFill>
                <a:latin typeface="Arial"/>
                <a:cs typeface="Arial"/>
              </a:rPr>
              <a:t>executing</a:t>
            </a:r>
            <a:r>
              <a:rPr sz="650" spc="-15" dirty="0">
                <a:solidFill>
                  <a:srgbClr val="231F20"/>
                </a:solidFill>
                <a:latin typeface="Arial"/>
                <a:cs typeface="Arial"/>
              </a:rPr>
              <a:t> </a:t>
            </a:r>
            <a:r>
              <a:rPr sz="650" spc="5" dirty="0">
                <a:solidFill>
                  <a:srgbClr val="231F20"/>
                </a:solidFill>
                <a:latin typeface="Arial"/>
                <a:cs typeface="Arial"/>
              </a:rPr>
              <a:t>a</a:t>
            </a:r>
            <a:r>
              <a:rPr sz="650" spc="-20" dirty="0">
                <a:solidFill>
                  <a:srgbClr val="231F20"/>
                </a:solidFill>
                <a:latin typeface="Arial"/>
                <a:cs typeface="Arial"/>
              </a:rPr>
              <a:t> </a:t>
            </a:r>
            <a:r>
              <a:rPr sz="650" spc="5" dirty="0">
                <a:solidFill>
                  <a:srgbClr val="231F20"/>
                </a:solidFill>
                <a:latin typeface="Arial"/>
                <a:cs typeface="Arial"/>
              </a:rPr>
              <a:t>thread</a:t>
            </a:r>
            <a:endParaRPr sz="650">
              <a:latin typeface="Arial"/>
              <a:cs typeface="Arial"/>
            </a:endParaRPr>
          </a:p>
        </p:txBody>
      </p:sp>
      <p:sp>
        <p:nvSpPr>
          <p:cNvPr id="8" name="object 8"/>
          <p:cNvSpPr txBox="1"/>
          <p:nvPr/>
        </p:nvSpPr>
        <p:spPr>
          <a:xfrm>
            <a:off x="685387" y="1759121"/>
            <a:ext cx="4521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User space</a:t>
            </a:r>
            <a:endParaRPr sz="650">
              <a:latin typeface="Arial"/>
              <a:cs typeface="Arial"/>
            </a:endParaRPr>
          </a:p>
        </p:txBody>
      </p:sp>
      <p:sp>
        <p:nvSpPr>
          <p:cNvPr id="9" name="object 9"/>
          <p:cNvSpPr txBox="1"/>
          <p:nvPr/>
        </p:nvSpPr>
        <p:spPr>
          <a:xfrm>
            <a:off x="1319635" y="1497589"/>
            <a:ext cx="1782445" cy="689610"/>
          </a:xfrm>
          <a:prstGeom prst="rect">
            <a:avLst/>
          </a:prstGeom>
          <a:ln w="5270">
            <a:solidFill>
              <a:srgbClr val="231F20"/>
            </a:solidFill>
          </a:ln>
        </p:spPr>
        <p:txBody>
          <a:bodyPr vert="horz" wrap="square" lIns="0" tIns="51435" rIns="0" bIns="0" rtlCol="0">
            <a:spAutoFit/>
          </a:bodyPr>
          <a:lstStyle/>
          <a:p>
            <a:pPr marL="133985">
              <a:lnSpc>
                <a:spcPct val="100000"/>
              </a:lnSpc>
              <a:spcBef>
                <a:spcPts val="405"/>
              </a:spcBef>
            </a:pPr>
            <a:r>
              <a:rPr sz="650" spc="5" dirty="0">
                <a:solidFill>
                  <a:srgbClr val="231F20"/>
                </a:solidFill>
                <a:latin typeface="Arial"/>
                <a:cs typeface="Arial"/>
              </a:rPr>
              <a:t>Thread</a:t>
            </a:r>
            <a:r>
              <a:rPr sz="650" spc="-40" dirty="0">
                <a:solidFill>
                  <a:srgbClr val="231F20"/>
                </a:solidFill>
                <a:latin typeface="Arial"/>
                <a:cs typeface="Arial"/>
              </a:rPr>
              <a:t> </a:t>
            </a:r>
            <a:r>
              <a:rPr sz="650" spc="5" dirty="0">
                <a:solidFill>
                  <a:srgbClr val="231F20"/>
                </a:solidFill>
                <a:latin typeface="Arial"/>
                <a:cs typeface="Arial"/>
              </a:rPr>
              <a:t>state</a:t>
            </a:r>
            <a:endParaRPr sz="650">
              <a:latin typeface="Arial"/>
              <a:cs typeface="Arial"/>
            </a:endParaRPr>
          </a:p>
        </p:txBody>
      </p:sp>
      <p:grpSp>
        <p:nvGrpSpPr>
          <p:cNvPr id="10" name="object 10"/>
          <p:cNvGrpSpPr/>
          <p:nvPr/>
        </p:nvGrpSpPr>
        <p:grpSpPr>
          <a:xfrm>
            <a:off x="1316999" y="1494954"/>
            <a:ext cx="1904364" cy="1352550"/>
            <a:chOff x="1316999" y="1494954"/>
            <a:chExt cx="1904364" cy="1352550"/>
          </a:xfrm>
        </p:grpSpPr>
        <p:sp>
          <p:nvSpPr>
            <p:cNvPr id="11" name="object 11"/>
            <p:cNvSpPr/>
            <p:nvPr/>
          </p:nvSpPr>
          <p:spPr>
            <a:xfrm>
              <a:off x="1319635" y="1497589"/>
              <a:ext cx="1782445" cy="1347470"/>
            </a:xfrm>
            <a:custGeom>
              <a:avLst/>
              <a:gdLst/>
              <a:ahLst/>
              <a:cxnLst/>
              <a:rect l="l" t="t" r="r" b="b"/>
              <a:pathLst>
                <a:path w="1782445" h="1347470">
                  <a:moveTo>
                    <a:pt x="0" y="1347139"/>
                  </a:moveTo>
                  <a:lnTo>
                    <a:pt x="1782040" y="1347139"/>
                  </a:lnTo>
                  <a:lnTo>
                    <a:pt x="1782040" y="0"/>
                  </a:lnTo>
                  <a:lnTo>
                    <a:pt x="0" y="0"/>
                  </a:lnTo>
                  <a:lnTo>
                    <a:pt x="0" y="1347139"/>
                  </a:lnTo>
                  <a:close/>
                </a:path>
              </a:pathLst>
            </a:custGeom>
            <a:ln w="5270">
              <a:solidFill>
                <a:srgbClr val="231F20"/>
              </a:solidFill>
            </a:ln>
          </p:spPr>
          <p:txBody>
            <a:bodyPr wrap="square" lIns="0" tIns="0" rIns="0" bIns="0" rtlCol="0"/>
            <a:lstStyle/>
            <a:p>
              <a:endParaRPr/>
            </a:p>
          </p:txBody>
        </p:sp>
        <p:sp>
          <p:nvSpPr>
            <p:cNvPr id="12" name="object 12"/>
            <p:cNvSpPr/>
            <p:nvPr/>
          </p:nvSpPr>
          <p:spPr>
            <a:xfrm>
              <a:off x="1775754" y="2314999"/>
              <a:ext cx="520065" cy="138430"/>
            </a:xfrm>
            <a:custGeom>
              <a:avLst/>
              <a:gdLst/>
              <a:ahLst/>
              <a:cxnLst/>
              <a:rect l="l" t="t" r="r" b="b"/>
              <a:pathLst>
                <a:path w="520064" h="138430">
                  <a:moveTo>
                    <a:pt x="0" y="137893"/>
                  </a:moveTo>
                  <a:lnTo>
                    <a:pt x="148504" y="137893"/>
                  </a:lnTo>
                  <a:lnTo>
                    <a:pt x="148504" y="0"/>
                  </a:lnTo>
                  <a:lnTo>
                    <a:pt x="0" y="0"/>
                  </a:lnTo>
                  <a:lnTo>
                    <a:pt x="0" y="137893"/>
                  </a:lnTo>
                  <a:close/>
                </a:path>
                <a:path w="520064" h="138430">
                  <a:moveTo>
                    <a:pt x="371254" y="137893"/>
                  </a:moveTo>
                  <a:lnTo>
                    <a:pt x="519754" y="137893"/>
                  </a:lnTo>
                  <a:lnTo>
                    <a:pt x="519754" y="0"/>
                  </a:lnTo>
                  <a:lnTo>
                    <a:pt x="371254" y="0"/>
                  </a:lnTo>
                  <a:lnTo>
                    <a:pt x="371254" y="137893"/>
                  </a:lnTo>
                  <a:close/>
                </a:path>
              </a:pathLst>
            </a:custGeom>
            <a:ln w="5270">
              <a:solidFill>
                <a:srgbClr val="231F20"/>
              </a:solidFill>
              <a:prstDash val="lgDash"/>
            </a:ln>
          </p:spPr>
          <p:txBody>
            <a:bodyPr wrap="square" lIns="0" tIns="0" rIns="0" bIns="0" rtlCol="0"/>
            <a:lstStyle/>
            <a:p>
              <a:endParaRPr/>
            </a:p>
          </p:txBody>
        </p:sp>
        <p:sp>
          <p:nvSpPr>
            <p:cNvPr id="13" name="object 13"/>
            <p:cNvSpPr/>
            <p:nvPr/>
          </p:nvSpPr>
          <p:spPr>
            <a:xfrm>
              <a:off x="1637858" y="1730953"/>
              <a:ext cx="148590" cy="138430"/>
            </a:xfrm>
            <a:custGeom>
              <a:avLst/>
              <a:gdLst/>
              <a:ahLst/>
              <a:cxnLst/>
              <a:rect l="l" t="t" r="r" b="b"/>
              <a:pathLst>
                <a:path w="148589" h="138430">
                  <a:moveTo>
                    <a:pt x="148500" y="0"/>
                  </a:moveTo>
                  <a:lnTo>
                    <a:pt x="0" y="0"/>
                  </a:lnTo>
                  <a:lnTo>
                    <a:pt x="0" y="137893"/>
                  </a:lnTo>
                  <a:lnTo>
                    <a:pt x="148500" y="137893"/>
                  </a:lnTo>
                  <a:lnTo>
                    <a:pt x="148500" y="0"/>
                  </a:lnTo>
                  <a:close/>
                </a:path>
              </a:pathLst>
            </a:custGeom>
            <a:solidFill>
              <a:srgbClr val="BCBEC0"/>
            </a:solidFill>
          </p:spPr>
          <p:txBody>
            <a:bodyPr wrap="square" lIns="0" tIns="0" rIns="0" bIns="0" rtlCol="0"/>
            <a:lstStyle/>
            <a:p>
              <a:endParaRPr/>
            </a:p>
          </p:txBody>
        </p:sp>
        <p:sp>
          <p:nvSpPr>
            <p:cNvPr id="14" name="object 14"/>
            <p:cNvSpPr/>
            <p:nvPr/>
          </p:nvSpPr>
          <p:spPr>
            <a:xfrm>
              <a:off x="1637858" y="1730953"/>
              <a:ext cx="148590" cy="138430"/>
            </a:xfrm>
            <a:custGeom>
              <a:avLst/>
              <a:gdLst/>
              <a:ahLst/>
              <a:cxnLst/>
              <a:rect l="l" t="t" r="r" b="b"/>
              <a:pathLst>
                <a:path w="148589" h="138430">
                  <a:moveTo>
                    <a:pt x="0" y="137893"/>
                  </a:moveTo>
                  <a:lnTo>
                    <a:pt x="148500" y="137893"/>
                  </a:lnTo>
                  <a:lnTo>
                    <a:pt x="148500" y="0"/>
                  </a:lnTo>
                  <a:lnTo>
                    <a:pt x="0" y="0"/>
                  </a:lnTo>
                  <a:lnTo>
                    <a:pt x="0" y="137893"/>
                  </a:lnTo>
                  <a:close/>
                </a:path>
              </a:pathLst>
            </a:custGeom>
            <a:ln w="5270">
              <a:solidFill>
                <a:srgbClr val="231F20"/>
              </a:solidFill>
            </a:ln>
          </p:spPr>
          <p:txBody>
            <a:bodyPr wrap="square" lIns="0" tIns="0" rIns="0" bIns="0" rtlCol="0"/>
            <a:lstStyle/>
            <a:p>
              <a:endParaRPr/>
            </a:p>
          </p:txBody>
        </p:sp>
        <p:sp>
          <p:nvSpPr>
            <p:cNvPr id="15" name="object 15"/>
            <p:cNvSpPr/>
            <p:nvPr/>
          </p:nvSpPr>
          <p:spPr>
            <a:xfrm>
              <a:off x="2147008" y="1730953"/>
              <a:ext cx="148590" cy="138430"/>
            </a:xfrm>
            <a:custGeom>
              <a:avLst/>
              <a:gdLst/>
              <a:ahLst/>
              <a:cxnLst/>
              <a:rect l="l" t="t" r="r" b="b"/>
              <a:pathLst>
                <a:path w="148589" h="138430">
                  <a:moveTo>
                    <a:pt x="148500" y="0"/>
                  </a:moveTo>
                  <a:lnTo>
                    <a:pt x="0" y="0"/>
                  </a:lnTo>
                  <a:lnTo>
                    <a:pt x="0" y="137893"/>
                  </a:lnTo>
                  <a:lnTo>
                    <a:pt x="148500" y="137893"/>
                  </a:lnTo>
                  <a:lnTo>
                    <a:pt x="148500" y="0"/>
                  </a:lnTo>
                  <a:close/>
                </a:path>
              </a:pathLst>
            </a:custGeom>
            <a:solidFill>
              <a:srgbClr val="BCBEC0"/>
            </a:solidFill>
          </p:spPr>
          <p:txBody>
            <a:bodyPr wrap="square" lIns="0" tIns="0" rIns="0" bIns="0" rtlCol="0"/>
            <a:lstStyle/>
            <a:p>
              <a:endParaRPr/>
            </a:p>
          </p:txBody>
        </p:sp>
        <p:sp>
          <p:nvSpPr>
            <p:cNvPr id="16" name="object 16"/>
            <p:cNvSpPr/>
            <p:nvPr/>
          </p:nvSpPr>
          <p:spPr>
            <a:xfrm>
              <a:off x="1510567" y="1730953"/>
              <a:ext cx="785495" cy="329565"/>
            </a:xfrm>
            <a:custGeom>
              <a:avLst/>
              <a:gdLst/>
              <a:ahLst/>
              <a:cxnLst/>
              <a:rect l="l" t="t" r="r" b="b"/>
              <a:pathLst>
                <a:path w="785494" h="329564">
                  <a:moveTo>
                    <a:pt x="636441" y="137893"/>
                  </a:moveTo>
                  <a:lnTo>
                    <a:pt x="784941" y="137893"/>
                  </a:lnTo>
                  <a:lnTo>
                    <a:pt x="784941" y="0"/>
                  </a:lnTo>
                  <a:lnTo>
                    <a:pt x="636441" y="0"/>
                  </a:lnTo>
                  <a:lnTo>
                    <a:pt x="636441" y="137893"/>
                  </a:lnTo>
                  <a:close/>
                </a:path>
                <a:path w="785494" h="329564">
                  <a:moveTo>
                    <a:pt x="0" y="329475"/>
                  </a:moveTo>
                  <a:lnTo>
                    <a:pt x="148504" y="329475"/>
                  </a:lnTo>
                  <a:lnTo>
                    <a:pt x="148504" y="191578"/>
                  </a:lnTo>
                  <a:lnTo>
                    <a:pt x="0" y="191578"/>
                  </a:lnTo>
                  <a:lnTo>
                    <a:pt x="0" y="329475"/>
                  </a:lnTo>
                  <a:close/>
                </a:path>
              </a:pathLst>
            </a:custGeom>
            <a:ln w="5270">
              <a:solidFill>
                <a:srgbClr val="231F20"/>
              </a:solidFill>
            </a:ln>
          </p:spPr>
          <p:txBody>
            <a:bodyPr wrap="square" lIns="0" tIns="0" rIns="0" bIns="0" rtlCol="0"/>
            <a:lstStyle/>
            <a:p>
              <a:endParaRPr/>
            </a:p>
          </p:txBody>
        </p:sp>
        <p:sp>
          <p:nvSpPr>
            <p:cNvPr id="17" name="object 17"/>
            <p:cNvSpPr/>
            <p:nvPr/>
          </p:nvSpPr>
          <p:spPr>
            <a:xfrm>
              <a:off x="2528877" y="1730953"/>
              <a:ext cx="148590" cy="138430"/>
            </a:xfrm>
            <a:custGeom>
              <a:avLst/>
              <a:gdLst/>
              <a:ahLst/>
              <a:cxnLst/>
              <a:rect l="l" t="t" r="r" b="b"/>
              <a:pathLst>
                <a:path w="148589" h="138430">
                  <a:moveTo>
                    <a:pt x="148504" y="0"/>
                  </a:moveTo>
                  <a:lnTo>
                    <a:pt x="0" y="0"/>
                  </a:lnTo>
                  <a:lnTo>
                    <a:pt x="0" y="137897"/>
                  </a:lnTo>
                  <a:lnTo>
                    <a:pt x="148504" y="137897"/>
                  </a:lnTo>
                  <a:lnTo>
                    <a:pt x="148504" y="0"/>
                  </a:lnTo>
                  <a:close/>
                </a:path>
              </a:pathLst>
            </a:custGeom>
            <a:solidFill>
              <a:srgbClr val="BCBEC0"/>
            </a:solidFill>
          </p:spPr>
          <p:txBody>
            <a:bodyPr wrap="square" lIns="0" tIns="0" rIns="0" bIns="0" rtlCol="0"/>
            <a:lstStyle/>
            <a:p>
              <a:endParaRPr/>
            </a:p>
          </p:txBody>
        </p:sp>
        <p:sp>
          <p:nvSpPr>
            <p:cNvPr id="18" name="object 18"/>
            <p:cNvSpPr/>
            <p:nvPr/>
          </p:nvSpPr>
          <p:spPr>
            <a:xfrm>
              <a:off x="1765139" y="1730953"/>
              <a:ext cx="912494" cy="329565"/>
            </a:xfrm>
            <a:custGeom>
              <a:avLst/>
              <a:gdLst/>
              <a:ahLst/>
              <a:cxnLst/>
              <a:rect l="l" t="t" r="r" b="b"/>
              <a:pathLst>
                <a:path w="912494" h="329564">
                  <a:moveTo>
                    <a:pt x="763737" y="137897"/>
                  </a:moveTo>
                  <a:lnTo>
                    <a:pt x="912242" y="137897"/>
                  </a:lnTo>
                  <a:lnTo>
                    <a:pt x="912242" y="0"/>
                  </a:lnTo>
                  <a:lnTo>
                    <a:pt x="763737" y="0"/>
                  </a:lnTo>
                  <a:lnTo>
                    <a:pt x="763737" y="137897"/>
                  </a:lnTo>
                  <a:close/>
                </a:path>
                <a:path w="912494" h="329564">
                  <a:moveTo>
                    <a:pt x="254586" y="329475"/>
                  </a:moveTo>
                  <a:lnTo>
                    <a:pt x="403090" y="329475"/>
                  </a:lnTo>
                  <a:lnTo>
                    <a:pt x="403090" y="191578"/>
                  </a:lnTo>
                  <a:lnTo>
                    <a:pt x="254586" y="191578"/>
                  </a:lnTo>
                  <a:lnTo>
                    <a:pt x="254586" y="329475"/>
                  </a:lnTo>
                  <a:close/>
                </a:path>
                <a:path w="912494" h="329564">
                  <a:moveTo>
                    <a:pt x="0" y="328825"/>
                  </a:moveTo>
                  <a:lnTo>
                    <a:pt x="148504" y="328825"/>
                  </a:lnTo>
                  <a:lnTo>
                    <a:pt x="148504" y="190932"/>
                  </a:lnTo>
                  <a:lnTo>
                    <a:pt x="0" y="190932"/>
                  </a:lnTo>
                  <a:lnTo>
                    <a:pt x="0" y="328825"/>
                  </a:lnTo>
                  <a:close/>
                </a:path>
              </a:pathLst>
            </a:custGeom>
            <a:ln w="5270">
              <a:solidFill>
                <a:srgbClr val="231F20"/>
              </a:solidFill>
            </a:ln>
          </p:spPr>
          <p:txBody>
            <a:bodyPr wrap="square" lIns="0" tIns="0" rIns="0" bIns="0" rtlCol="0"/>
            <a:lstStyle/>
            <a:p>
              <a:endParaRPr/>
            </a:p>
          </p:txBody>
        </p:sp>
        <p:sp>
          <p:nvSpPr>
            <p:cNvPr id="19" name="object 19"/>
            <p:cNvSpPr/>
            <p:nvPr/>
          </p:nvSpPr>
          <p:spPr>
            <a:xfrm>
              <a:off x="2783453" y="1730953"/>
              <a:ext cx="148590" cy="138430"/>
            </a:xfrm>
            <a:custGeom>
              <a:avLst/>
              <a:gdLst/>
              <a:ahLst/>
              <a:cxnLst/>
              <a:rect l="l" t="t" r="r" b="b"/>
              <a:pathLst>
                <a:path w="148589" h="138430">
                  <a:moveTo>
                    <a:pt x="148504" y="0"/>
                  </a:moveTo>
                  <a:lnTo>
                    <a:pt x="0" y="0"/>
                  </a:lnTo>
                  <a:lnTo>
                    <a:pt x="0" y="137897"/>
                  </a:lnTo>
                  <a:lnTo>
                    <a:pt x="148504" y="137897"/>
                  </a:lnTo>
                  <a:lnTo>
                    <a:pt x="148504" y="0"/>
                  </a:lnTo>
                  <a:close/>
                </a:path>
              </a:pathLst>
            </a:custGeom>
            <a:solidFill>
              <a:srgbClr val="BCBEC0"/>
            </a:solidFill>
          </p:spPr>
          <p:txBody>
            <a:bodyPr wrap="square" lIns="0" tIns="0" rIns="0" bIns="0" rtlCol="0"/>
            <a:lstStyle/>
            <a:p>
              <a:endParaRPr/>
            </a:p>
          </p:txBody>
        </p:sp>
        <p:sp>
          <p:nvSpPr>
            <p:cNvPr id="20" name="object 20"/>
            <p:cNvSpPr/>
            <p:nvPr/>
          </p:nvSpPr>
          <p:spPr>
            <a:xfrm>
              <a:off x="2274301" y="1730953"/>
              <a:ext cx="657860" cy="329565"/>
            </a:xfrm>
            <a:custGeom>
              <a:avLst/>
              <a:gdLst/>
              <a:ahLst/>
              <a:cxnLst/>
              <a:rect l="l" t="t" r="r" b="b"/>
              <a:pathLst>
                <a:path w="657860" h="329564">
                  <a:moveTo>
                    <a:pt x="509151" y="137897"/>
                  </a:moveTo>
                  <a:lnTo>
                    <a:pt x="657656" y="137897"/>
                  </a:lnTo>
                  <a:lnTo>
                    <a:pt x="657656" y="0"/>
                  </a:lnTo>
                  <a:lnTo>
                    <a:pt x="509151" y="0"/>
                  </a:lnTo>
                  <a:lnTo>
                    <a:pt x="509151" y="137897"/>
                  </a:lnTo>
                  <a:close/>
                </a:path>
                <a:path w="657860" h="329564">
                  <a:moveTo>
                    <a:pt x="0" y="329475"/>
                  </a:moveTo>
                  <a:lnTo>
                    <a:pt x="148500" y="329475"/>
                  </a:lnTo>
                  <a:lnTo>
                    <a:pt x="148500" y="191578"/>
                  </a:lnTo>
                  <a:lnTo>
                    <a:pt x="0" y="191578"/>
                  </a:lnTo>
                  <a:lnTo>
                    <a:pt x="0" y="329475"/>
                  </a:lnTo>
                  <a:close/>
                </a:path>
                <a:path w="657860" h="329564">
                  <a:moveTo>
                    <a:pt x="254575" y="329475"/>
                  </a:moveTo>
                  <a:lnTo>
                    <a:pt x="403080" y="329475"/>
                  </a:lnTo>
                  <a:lnTo>
                    <a:pt x="403080" y="191578"/>
                  </a:lnTo>
                  <a:lnTo>
                    <a:pt x="254575" y="191578"/>
                  </a:lnTo>
                  <a:lnTo>
                    <a:pt x="254575" y="329475"/>
                  </a:lnTo>
                  <a:close/>
                </a:path>
                <a:path w="657860" h="329564">
                  <a:moveTo>
                    <a:pt x="509151" y="329475"/>
                  </a:moveTo>
                  <a:lnTo>
                    <a:pt x="657656" y="329475"/>
                  </a:lnTo>
                  <a:lnTo>
                    <a:pt x="657656" y="191578"/>
                  </a:lnTo>
                  <a:lnTo>
                    <a:pt x="509151" y="191578"/>
                  </a:lnTo>
                  <a:lnTo>
                    <a:pt x="509151" y="329475"/>
                  </a:lnTo>
                  <a:close/>
                </a:path>
              </a:pathLst>
            </a:custGeom>
            <a:ln w="5270">
              <a:solidFill>
                <a:srgbClr val="231F20"/>
              </a:solidFill>
            </a:ln>
          </p:spPr>
          <p:txBody>
            <a:bodyPr wrap="square" lIns="0" tIns="0" rIns="0" bIns="0" rtlCol="0"/>
            <a:lstStyle/>
            <a:p>
              <a:endParaRPr/>
            </a:p>
          </p:txBody>
        </p:sp>
        <p:sp>
          <p:nvSpPr>
            <p:cNvPr id="21" name="object 21"/>
            <p:cNvSpPr/>
            <p:nvPr/>
          </p:nvSpPr>
          <p:spPr>
            <a:xfrm>
              <a:off x="1733327" y="2272566"/>
              <a:ext cx="975994" cy="222885"/>
            </a:xfrm>
            <a:custGeom>
              <a:avLst/>
              <a:gdLst/>
              <a:ahLst/>
              <a:cxnLst/>
              <a:rect l="l" t="t" r="r" b="b"/>
              <a:pathLst>
                <a:path w="975994" h="222885">
                  <a:moveTo>
                    <a:pt x="0" y="222756"/>
                  </a:moveTo>
                  <a:lnTo>
                    <a:pt x="233359" y="222756"/>
                  </a:lnTo>
                  <a:lnTo>
                    <a:pt x="233359" y="0"/>
                  </a:lnTo>
                  <a:lnTo>
                    <a:pt x="0" y="0"/>
                  </a:lnTo>
                  <a:lnTo>
                    <a:pt x="0" y="222756"/>
                  </a:lnTo>
                  <a:close/>
                </a:path>
                <a:path w="975994" h="222885">
                  <a:moveTo>
                    <a:pt x="371254" y="222756"/>
                  </a:moveTo>
                  <a:lnTo>
                    <a:pt x="604613" y="222756"/>
                  </a:lnTo>
                  <a:lnTo>
                    <a:pt x="604613" y="0"/>
                  </a:lnTo>
                  <a:lnTo>
                    <a:pt x="371254" y="0"/>
                  </a:lnTo>
                  <a:lnTo>
                    <a:pt x="371254" y="222756"/>
                  </a:lnTo>
                  <a:close/>
                </a:path>
                <a:path w="975994" h="222885">
                  <a:moveTo>
                    <a:pt x="742508" y="222756"/>
                  </a:moveTo>
                  <a:lnTo>
                    <a:pt x="975872" y="222756"/>
                  </a:lnTo>
                  <a:lnTo>
                    <a:pt x="975872" y="0"/>
                  </a:lnTo>
                  <a:lnTo>
                    <a:pt x="742508" y="0"/>
                  </a:lnTo>
                  <a:lnTo>
                    <a:pt x="742508" y="222756"/>
                  </a:lnTo>
                  <a:close/>
                </a:path>
              </a:pathLst>
            </a:custGeom>
            <a:ln w="5270">
              <a:solidFill>
                <a:srgbClr val="231F20"/>
              </a:solidFill>
            </a:ln>
          </p:spPr>
          <p:txBody>
            <a:bodyPr wrap="square" lIns="0" tIns="0" rIns="0" bIns="0" rtlCol="0"/>
            <a:lstStyle/>
            <a:p>
              <a:endParaRPr/>
            </a:p>
          </p:txBody>
        </p:sp>
        <p:sp>
          <p:nvSpPr>
            <p:cNvPr id="22" name="object 22"/>
            <p:cNvSpPr/>
            <p:nvPr/>
          </p:nvSpPr>
          <p:spPr>
            <a:xfrm>
              <a:off x="1595426" y="2059778"/>
              <a:ext cx="753745" cy="254635"/>
            </a:xfrm>
            <a:custGeom>
              <a:avLst/>
              <a:gdLst/>
              <a:ahLst/>
              <a:cxnLst/>
              <a:rect l="l" t="t" r="r" b="b"/>
              <a:pathLst>
                <a:path w="753744" h="254635">
                  <a:moveTo>
                    <a:pt x="254578" y="254573"/>
                  </a:moveTo>
                  <a:lnTo>
                    <a:pt x="0" y="0"/>
                  </a:lnTo>
                </a:path>
                <a:path w="753744" h="254635">
                  <a:moveTo>
                    <a:pt x="625832" y="254573"/>
                  </a:moveTo>
                  <a:lnTo>
                    <a:pt x="753125" y="0"/>
                  </a:lnTo>
                </a:path>
              </a:pathLst>
            </a:custGeom>
            <a:ln w="5270">
              <a:solidFill>
                <a:srgbClr val="231F20"/>
              </a:solidFill>
              <a:prstDash val="lgDash"/>
            </a:ln>
          </p:spPr>
          <p:txBody>
            <a:bodyPr wrap="square" lIns="0" tIns="0" rIns="0" bIns="0" rtlCol="0"/>
            <a:lstStyle/>
            <a:p>
              <a:endParaRPr/>
            </a:p>
          </p:txBody>
        </p:sp>
        <p:sp>
          <p:nvSpPr>
            <p:cNvPr id="23" name="object 23"/>
            <p:cNvSpPr/>
            <p:nvPr/>
          </p:nvSpPr>
          <p:spPr>
            <a:xfrm>
              <a:off x="1595426" y="1624877"/>
              <a:ext cx="1623060" cy="1007744"/>
            </a:xfrm>
            <a:custGeom>
              <a:avLst/>
              <a:gdLst/>
              <a:ahLst/>
              <a:cxnLst/>
              <a:rect l="l" t="t" r="r" b="b"/>
              <a:pathLst>
                <a:path w="1623060" h="1007744">
                  <a:moveTo>
                    <a:pt x="0" y="297008"/>
                  </a:moveTo>
                  <a:lnTo>
                    <a:pt x="74251" y="243969"/>
                  </a:lnTo>
                </a:path>
                <a:path w="1623060" h="1007744">
                  <a:moveTo>
                    <a:pt x="243974" y="297008"/>
                  </a:moveTo>
                  <a:lnTo>
                    <a:pt x="169713" y="243969"/>
                  </a:lnTo>
                </a:path>
                <a:path w="1623060" h="1007744">
                  <a:moveTo>
                    <a:pt x="498550" y="297008"/>
                  </a:moveTo>
                  <a:lnTo>
                    <a:pt x="583405" y="243969"/>
                  </a:lnTo>
                </a:path>
                <a:path w="1623060" h="1007744">
                  <a:moveTo>
                    <a:pt x="753125" y="297008"/>
                  </a:moveTo>
                  <a:lnTo>
                    <a:pt x="678875" y="243969"/>
                  </a:lnTo>
                </a:path>
                <a:path w="1623060" h="1007744">
                  <a:moveTo>
                    <a:pt x="1007701" y="297008"/>
                  </a:moveTo>
                  <a:lnTo>
                    <a:pt x="1007701" y="243969"/>
                  </a:lnTo>
                </a:path>
                <a:path w="1623060" h="1007744">
                  <a:moveTo>
                    <a:pt x="1262277" y="297008"/>
                  </a:moveTo>
                  <a:lnTo>
                    <a:pt x="1262277" y="243969"/>
                  </a:lnTo>
                </a:path>
                <a:path w="1623060" h="1007744">
                  <a:moveTo>
                    <a:pt x="1622927" y="297650"/>
                  </a:moveTo>
                  <a:lnTo>
                    <a:pt x="1336275" y="377461"/>
                  </a:lnTo>
                </a:path>
                <a:path w="1623060" h="1007744">
                  <a:moveTo>
                    <a:pt x="1580499" y="784945"/>
                  </a:moveTo>
                  <a:lnTo>
                    <a:pt x="1114914" y="785044"/>
                  </a:lnTo>
                </a:path>
                <a:path w="1623060" h="1007744">
                  <a:moveTo>
                    <a:pt x="466727" y="1007698"/>
                  </a:moveTo>
                  <a:lnTo>
                    <a:pt x="559751" y="872888"/>
                  </a:lnTo>
                </a:path>
                <a:path w="1623060" h="1007744">
                  <a:moveTo>
                    <a:pt x="360652" y="0"/>
                  </a:moveTo>
                  <a:lnTo>
                    <a:pt x="608946" y="106906"/>
                  </a:lnTo>
                </a:path>
              </a:pathLst>
            </a:custGeom>
            <a:ln w="5270">
              <a:solidFill>
                <a:srgbClr val="231F20"/>
              </a:solidFill>
            </a:ln>
          </p:spPr>
          <p:txBody>
            <a:bodyPr wrap="square" lIns="0" tIns="0" rIns="0" bIns="0" rtlCol="0"/>
            <a:lstStyle/>
            <a:p>
              <a:endParaRPr/>
            </a:p>
          </p:txBody>
        </p:sp>
      </p:grpSp>
      <p:sp>
        <p:nvSpPr>
          <p:cNvPr id="24" name="object 24"/>
          <p:cNvSpPr/>
          <p:nvPr/>
        </p:nvSpPr>
        <p:spPr>
          <a:xfrm>
            <a:off x="1200113" y="1497594"/>
            <a:ext cx="60325" cy="1344930"/>
          </a:xfrm>
          <a:custGeom>
            <a:avLst/>
            <a:gdLst/>
            <a:ahLst/>
            <a:cxnLst/>
            <a:rect l="l" t="t" r="r" b="b"/>
            <a:pathLst>
              <a:path w="60325" h="1344930">
                <a:moveTo>
                  <a:pt x="59759" y="0"/>
                </a:moveTo>
                <a:lnTo>
                  <a:pt x="46686" y="14443"/>
                </a:lnTo>
                <a:lnTo>
                  <a:pt x="38416" y="52522"/>
                </a:lnTo>
                <a:lnTo>
                  <a:pt x="33347" y="106357"/>
                </a:lnTo>
                <a:lnTo>
                  <a:pt x="29879" y="168070"/>
                </a:lnTo>
                <a:lnTo>
                  <a:pt x="26412" y="229784"/>
                </a:lnTo>
                <a:lnTo>
                  <a:pt x="21343" y="283619"/>
                </a:lnTo>
                <a:lnTo>
                  <a:pt x="13073" y="321698"/>
                </a:lnTo>
                <a:lnTo>
                  <a:pt x="0" y="336141"/>
                </a:lnTo>
              </a:path>
              <a:path w="60325" h="1344930">
                <a:moveTo>
                  <a:pt x="59759" y="672292"/>
                </a:moveTo>
                <a:lnTo>
                  <a:pt x="46686" y="657848"/>
                </a:lnTo>
                <a:lnTo>
                  <a:pt x="38416" y="619768"/>
                </a:lnTo>
                <a:lnTo>
                  <a:pt x="33347" y="565932"/>
                </a:lnTo>
                <a:lnTo>
                  <a:pt x="29879" y="504217"/>
                </a:lnTo>
                <a:lnTo>
                  <a:pt x="26412" y="442502"/>
                </a:lnTo>
                <a:lnTo>
                  <a:pt x="21343" y="388665"/>
                </a:lnTo>
                <a:lnTo>
                  <a:pt x="13073" y="350585"/>
                </a:lnTo>
                <a:lnTo>
                  <a:pt x="0" y="336141"/>
                </a:lnTo>
              </a:path>
              <a:path w="60325" h="1344930">
                <a:moveTo>
                  <a:pt x="59759" y="717112"/>
                </a:moveTo>
                <a:lnTo>
                  <a:pt x="46686" y="730593"/>
                </a:lnTo>
                <a:lnTo>
                  <a:pt x="38416" y="766134"/>
                </a:lnTo>
                <a:lnTo>
                  <a:pt x="33347" y="816381"/>
                </a:lnTo>
                <a:lnTo>
                  <a:pt x="29879" y="873981"/>
                </a:lnTo>
                <a:lnTo>
                  <a:pt x="26412" y="931582"/>
                </a:lnTo>
                <a:lnTo>
                  <a:pt x="21343" y="981829"/>
                </a:lnTo>
                <a:lnTo>
                  <a:pt x="13073" y="1017369"/>
                </a:lnTo>
                <a:lnTo>
                  <a:pt x="0" y="1030850"/>
                </a:lnTo>
              </a:path>
              <a:path w="60325" h="1344930">
                <a:moveTo>
                  <a:pt x="59759" y="1344589"/>
                </a:moveTo>
                <a:lnTo>
                  <a:pt x="46686" y="1331109"/>
                </a:lnTo>
                <a:lnTo>
                  <a:pt x="38416" y="1295568"/>
                </a:lnTo>
                <a:lnTo>
                  <a:pt x="33347" y="1245320"/>
                </a:lnTo>
                <a:lnTo>
                  <a:pt x="29879" y="1187720"/>
                </a:lnTo>
                <a:lnTo>
                  <a:pt x="26412" y="1130119"/>
                </a:lnTo>
                <a:lnTo>
                  <a:pt x="21343" y="1079872"/>
                </a:lnTo>
                <a:lnTo>
                  <a:pt x="13073" y="1044331"/>
                </a:lnTo>
                <a:lnTo>
                  <a:pt x="0" y="1030850"/>
                </a:lnTo>
              </a:path>
            </a:pathLst>
          </a:custGeom>
          <a:ln w="5270">
            <a:solidFill>
              <a:srgbClr val="231F20"/>
            </a:solidFill>
          </a:ln>
        </p:spPr>
        <p:txBody>
          <a:bodyPr wrap="square" lIns="0" tIns="0" rIns="0" bIns="0" rtlCol="0"/>
          <a:lstStyle/>
          <a:p>
            <a:endParaRPr/>
          </a:p>
        </p:txBody>
      </p:sp>
      <p:sp>
        <p:nvSpPr>
          <p:cNvPr id="25" name="object 25"/>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4" action="ppaction://hlinksldjump"/>
              </a:rPr>
              <a:t>Thread</a:t>
            </a:r>
            <a:r>
              <a:rPr sz="600" spc="-2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implementation</a:t>
            </a:r>
            <a:endParaRPr sz="600">
              <a:latin typeface="Arial"/>
              <a:cs typeface="Arial"/>
            </a:endParaRP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10</a:t>
            </a:r>
            <a:r>
              <a:rPr spc="-40" dirty="0"/>
              <a:t> </a:t>
            </a:r>
            <a:r>
              <a:rPr spc="-5" dirty="0"/>
              <a:t>/</a:t>
            </a:r>
            <a:r>
              <a:rPr spc="-35" dirty="0"/>
              <a:t> </a:t>
            </a:r>
            <a:r>
              <a:rPr spc="-5" dirty="0"/>
              <a:t>47</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Thread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implementation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1826260" cy="572770"/>
          </a:xfrm>
          <a:prstGeom prst="rect">
            <a:avLst/>
          </a:prstGeom>
        </p:spPr>
        <p:txBody>
          <a:bodyPr vert="horz" wrap="square" lIns="0" tIns="17145" rIns="0" bIns="0" rtlCol="0">
            <a:spAutoFit/>
          </a:bodyPr>
          <a:lstStyle/>
          <a:p>
            <a:pPr algn="ctr">
              <a:lnSpc>
                <a:spcPct val="100000"/>
              </a:lnSpc>
              <a:spcBef>
                <a:spcPts val="135"/>
              </a:spcBef>
            </a:pPr>
            <a:r>
              <a:rPr sz="1400" spc="10" dirty="0">
                <a:solidFill>
                  <a:srgbClr val="3333B2"/>
                </a:solidFill>
                <a:latin typeface="Arial"/>
                <a:cs typeface="Arial"/>
              </a:rPr>
              <a:t>Lightweight</a:t>
            </a:r>
            <a:r>
              <a:rPr sz="1400" spc="-15" dirty="0">
                <a:solidFill>
                  <a:srgbClr val="3333B2"/>
                </a:solidFill>
                <a:latin typeface="Arial"/>
                <a:cs typeface="Arial"/>
              </a:rPr>
              <a:t> </a:t>
            </a:r>
            <a:r>
              <a:rPr sz="1400" spc="15" dirty="0">
                <a:solidFill>
                  <a:srgbClr val="3333B2"/>
                </a:solidFill>
                <a:latin typeface="Arial"/>
                <a:cs typeface="Arial"/>
              </a:rPr>
              <a:t>processes</a:t>
            </a:r>
            <a:endParaRPr sz="1400">
              <a:latin typeface="Arial"/>
              <a:cs typeface="Arial"/>
            </a:endParaRPr>
          </a:p>
          <a:p>
            <a:pPr marR="30480"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Thread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implementation</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69900" y="188846"/>
            <a:ext cx="4147185" cy="975360"/>
          </a:xfrm>
          <a:prstGeom prst="rect">
            <a:avLst/>
          </a:prstGeom>
        </p:spPr>
        <p:txBody>
          <a:bodyPr vert="horz" wrap="square" lIns="0" tIns="17145" rIns="0" bIns="0" rtlCol="0">
            <a:spAutoFit/>
          </a:bodyPr>
          <a:lstStyle/>
          <a:p>
            <a:pPr marR="2261870" algn="ctr">
              <a:lnSpc>
                <a:spcPct val="100000"/>
              </a:lnSpc>
              <a:spcBef>
                <a:spcPts val="135"/>
              </a:spcBef>
            </a:pPr>
            <a:r>
              <a:rPr sz="1400" spc="10" dirty="0">
                <a:solidFill>
                  <a:srgbClr val="3333B2"/>
                </a:solidFill>
                <a:latin typeface="Arial"/>
                <a:cs typeface="Arial"/>
              </a:rPr>
              <a:t>Lightweight</a:t>
            </a:r>
            <a:r>
              <a:rPr sz="1400" spc="-10" dirty="0">
                <a:solidFill>
                  <a:srgbClr val="3333B2"/>
                </a:solidFill>
                <a:latin typeface="Arial"/>
                <a:cs typeface="Arial"/>
              </a:rPr>
              <a:t> </a:t>
            </a:r>
            <a:r>
              <a:rPr sz="1400" spc="15" dirty="0">
                <a:solidFill>
                  <a:srgbClr val="3333B2"/>
                </a:solidFill>
                <a:latin typeface="Arial"/>
                <a:cs typeface="Arial"/>
              </a:rPr>
              <a:t>processes</a:t>
            </a:r>
            <a:endParaRPr sz="1400">
              <a:latin typeface="Arial"/>
              <a:cs typeface="Arial"/>
            </a:endParaRPr>
          </a:p>
          <a:p>
            <a:pPr marR="2300605"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a:p>
            <a:pPr marL="567055" marR="30480" indent="-168275">
              <a:lnSpc>
                <a:spcPct val="100000"/>
              </a:lnSpc>
              <a:spcBef>
                <a:spcPts val="770"/>
              </a:spcBef>
              <a:buClr>
                <a:srgbClr val="3333B2"/>
              </a:buClr>
              <a:buChar char="►"/>
              <a:tabLst>
                <a:tab pos="567690" algn="l"/>
              </a:tabLst>
            </a:pPr>
            <a:r>
              <a:rPr sz="1000" spc="-10" dirty="0">
                <a:latin typeface="Arial"/>
                <a:cs typeface="Arial"/>
              </a:rPr>
              <a:t>User-level</a:t>
            </a:r>
            <a:r>
              <a:rPr sz="1000" spc="-5" dirty="0">
                <a:latin typeface="Arial"/>
                <a:cs typeface="Arial"/>
              </a:rPr>
              <a:t> thread</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FA0000"/>
                </a:solidFill>
                <a:latin typeface="Arial"/>
                <a:cs typeface="Arial"/>
              </a:rPr>
              <a:t>the</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5" dirty="0">
                <a:solidFill>
                  <a:srgbClr val="FA0000"/>
                </a:solidFill>
                <a:latin typeface="Arial"/>
                <a:cs typeface="Arial"/>
              </a:rPr>
              <a:t>that</a:t>
            </a:r>
            <a:r>
              <a:rPr sz="1000" dirty="0">
                <a:solidFill>
                  <a:srgbClr val="FA0000"/>
                </a:solidFill>
                <a:latin typeface="Arial"/>
                <a:cs typeface="Arial"/>
              </a:rPr>
              <a:t> </a:t>
            </a:r>
            <a:r>
              <a:rPr sz="1000" spc="-5" dirty="0">
                <a:solidFill>
                  <a:srgbClr val="FA0000"/>
                </a:solidFill>
                <a:latin typeface="Arial"/>
                <a:cs typeface="Arial"/>
              </a:rPr>
              <a:t>is</a:t>
            </a:r>
            <a:r>
              <a:rPr sz="1000" dirty="0">
                <a:solidFill>
                  <a:srgbClr val="FA0000"/>
                </a:solidFill>
                <a:latin typeface="Arial"/>
                <a:cs typeface="Arial"/>
              </a:rPr>
              <a:t> </a:t>
            </a:r>
            <a:r>
              <a:rPr sz="1000" spc="-10" dirty="0">
                <a:solidFill>
                  <a:srgbClr val="FA0000"/>
                </a:solidFill>
                <a:latin typeface="Arial"/>
                <a:cs typeface="Arial"/>
              </a:rPr>
              <a:t>executing </a:t>
            </a:r>
            <a:r>
              <a:rPr sz="1000" spc="-265" dirty="0">
                <a:solidFill>
                  <a:srgbClr val="FA0000"/>
                </a:solidFill>
                <a:latin typeface="Arial"/>
                <a:cs typeface="Arial"/>
              </a:rPr>
              <a:t> </a:t>
            </a:r>
            <a:r>
              <a:rPr sz="1000" spc="-5" dirty="0">
                <a:solidFill>
                  <a:srgbClr val="FA0000"/>
                </a:solidFill>
                <a:latin typeface="Arial"/>
                <a:cs typeface="Arial"/>
              </a:rPr>
              <a:t>that thread, </a:t>
            </a:r>
            <a:r>
              <a:rPr sz="1000" spc="-10" dirty="0">
                <a:solidFill>
                  <a:srgbClr val="FA0000"/>
                </a:solidFill>
                <a:latin typeface="Arial"/>
                <a:cs typeface="Arial"/>
              </a:rPr>
              <a:t>blocks</a:t>
            </a:r>
            <a:r>
              <a:rPr sz="1000" spc="-10" dirty="0">
                <a:latin typeface="Arial"/>
                <a:cs typeface="Arial"/>
              </a:rPr>
              <a:t>.</a:t>
            </a:r>
            <a:r>
              <a:rPr sz="1000" spc="65" dirty="0">
                <a:latin typeface="Arial"/>
                <a:cs typeface="Arial"/>
              </a:rPr>
              <a:t> </a:t>
            </a:r>
            <a:r>
              <a:rPr sz="1000" spc="-5" dirty="0">
                <a:latin typeface="Arial"/>
                <a:cs typeface="Arial"/>
              </a:rPr>
              <a:t>The thread</a:t>
            </a:r>
            <a:r>
              <a:rPr sz="1000" dirty="0">
                <a:latin typeface="Arial"/>
                <a:cs typeface="Arial"/>
              </a:rPr>
              <a:t> </a:t>
            </a:r>
            <a:r>
              <a:rPr sz="1000" spc="-5" dirty="0">
                <a:latin typeface="Arial"/>
                <a:cs typeface="Arial"/>
              </a:rPr>
              <a:t>remains </a:t>
            </a:r>
            <a:r>
              <a:rPr sz="1000" spc="-5" dirty="0">
                <a:solidFill>
                  <a:srgbClr val="0000FA"/>
                </a:solidFill>
                <a:latin typeface="Arial"/>
                <a:cs typeface="Arial"/>
              </a:rPr>
              <a:t>bound </a:t>
            </a:r>
            <a:r>
              <a:rPr sz="1000" spc="-5" dirty="0">
                <a:latin typeface="Arial"/>
                <a:cs typeface="Arial"/>
              </a:rPr>
              <a:t>to</a:t>
            </a:r>
            <a:r>
              <a:rPr sz="1000" dirty="0">
                <a:latin typeface="Arial"/>
                <a:cs typeface="Arial"/>
              </a:rPr>
              <a:t> </a:t>
            </a:r>
            <a:r>
              <a:rPr sz="1000" spc="-5" dirty="0">
                <a:latin typeface="Arial"/>
                <a:cs typeface="Arial"/>
              </a:rPr>
              <a:t>the </a:t>
            </a:r>
            <a:r>
              <a:rPr sz="1000" spc="-65" dirty="0">
                <a:latin typeface="Arial"/>
                <a:cs typeface="Arial"/>
              </a:rPr>
              <a:t>LWP.</a:t>
            </a:r>
            <a:endParaRPr sz="1000">
              <a:latin typeface="Arial"/>
              <a:cs typeface="Arial"/>
            </a:endParaRP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 name="object 7"/>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Thread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implementation</a:t>
            </a:r>
            <a:endParaRPr sz="600">
              <a:latin typeface="Arial"/>
              <a:cs typeface="Arial"/>
            </a:endParaRPr>
          </a:p>
        </p:txBody>
      </p:sp>
      <p:sp>
        <p:nvSpPr>
          <p:cNvPr id="8" name="object 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1826260" cy="572770"/>
          </a:xfrm>
          <a:prstGeom prst="rect">
            <a:avLst/>
          </a:prstGeom>
        </p:spPr>
        <p:txBody>
          <a:bodyPr vert="horz" wrap="square" lIns="0" tIns="17145" rIns="0" bIns="0" rtlCol="0">
            <a:spAutoFit/>
          </a:bodyPr>
          <a:lstStyle/>
          <a:p>
            <a:pPr algn="ctr">
              <a:lnSpc>
                <a:spcPct val="100000"/>
              </a:lnSpc>
              <a:spcBef>
                <a:spcPts val="135"/>
              </a:spcBef>
            </a:pPr>
            <a:r>
              <a:rPr sz="1400" spc="10" dirty="0">
                <a:solidFill>
                  <a:srgbClr val="3333B2"/>
                </a:solidFill>
                <a:latin typeface="Arial"/>
                <a:cs typeface="Arial"/>
              </a:rPr>
              <a:t>Lightweight</a:t>
            </a:r>
            <a:r>
              <a:rPr sz="1400" spc="-15" dirty="0">
                <a:solidFill>
                  <a:srgbClr val="3333B2"/>
                </a:solidFill>
                <a:latin typeface="Arial"/>
                <a:cs typeface="Arial"/>
              </a:rPr>
              <a:t> </a:t>
            </a:r>
            <a:r>
              <a:rPr sz="1400" spc="15" dirty="0">
                <a:solidFill>
                  <a:srgbClr val="3333B2"/>
                </a:solidFill>
                <a:latin typeface="Arial"/>
                <a:cs typeface="Arial"/>
              </a:rPr>
              <a:t>processes</a:t>
            </a:r>
            <a:endParaRPr sz="1400">
              <a:latin typeface="Arial"/>
              <a:cs typeface="Arial"/>
            </a:endParaRPr>
          </a:p>
          <a:p>
            <a:pPr marR="30480"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p:txBody>
      </p:sp>
      <p:sp>
        <p:nvSpPr>
          <p:cNvPr id="5" name="object 5"/>
          <p:cNvSpPr txBox="1"/>
          <p:nvPr/>
        </p:nvSpPr>
        <p:spPr>
          <a:xfrm>
            <a:off x="456704" y="834763"/>
            <a:ext cx="373507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0" dirty="0">
                <a:latin typeface="Arial"/>
                <a:cs typeface="Arial"/>
              </a:rPr>
              <a:t>User-level</a:t>
            </a:r>
            <a:r>
              <a:rPr sz="1000" spc="-5" dirty="0">
                <a:latin typeface="Arial"/>
                <a:cs typeface="Arial"/>
              </a:rPr>
              <a:t> thread</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FA0000"/>
                </a:solidFill>
                <a:latin typeface="Arial"/>
                <a:cs typeface="Arial"/>
              </a:rPr>
              <a:t>the</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5" dirty="0">
                <a:solidFill>
                  <a:srgbClr val="FA0000"/>
                </a:solidFill>
                <a:latin typeface="Arial"/>
                <a:cs typeface="Arial"/>
              </a:rPr>
              <a:t>that is</a:t>
            </a:r>
            <a:r>
              <a:rPr sz="1000" dirty="0">
                <a:solidFill>
                  <a:srgbClr val="FA0000"/>
                </a:solidFill>
                <a:latin typeface="Arial"/>
                <a:cs typeface="Arial"/>
              </a:rPr>
              <a:t> </a:t>
            </a:r>
            <a:r>
              <a:rPr sz="1000" spc="-10" dirty="0">
                <a:solidFill>
                  <a:srgbClr val="FA0000"/>
                </a:solidFill>
                <a:latin typeface="Arial"/>
                <a:cs typeface="Arial"/>
              </a:rPr>
              <a:t>executing</a:t>
            </a:r>
            <a:endParaRPr sz="1000">
              <a:latin typeface="Arial"/>
              <a:cs typeface="Arial"/>
            </a:endParaRPr>
          </a:p>
        </p:txBody>
      </p:sp>
      <p:sp>
        <p:nvSpPr>
          <p:cNvPr id="6" name="object 6"/>
          <p:cNvSpPr txBox="1"/>
          <p:nvPr/>
        </p:nvSpPr>
        <p:spPr>
          <a:xfrm>
            <a:off x="431304" y="910672"/>
            <a:ext cx="3819525" cy="784860"/>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FA0000"/>
                </a:solidFill>
                <a:latin typeface="Arial"/>
                <a:cs typeface="Arial"/>
              </a:rPr>
              <a:t>that thread,</a:t>
            </a:r>
            <a:r>
              <a:rPr sz="1000" dirty="0">
                <a:solidFill>
                  <a:srgbClr val="FA0000"/>
                </a:solidFill>
                <a:latin typeface="Arial"/>
                <a:cs typeface="Arial"/>
              </a:rPr>
              <a:t> </a:t>
            </a:r>
            <a:r>
              <a:rPr sz="1000" spc="-10" dirty="0">
                <a:solidFill>
                  <a:srgbClr val="FA0000"/>
                </a:solidFill>
                <a:latin typeface="Arial"/>
                <a:cs typeface="Arial"/>
              </a:rPr>
              <a:t>blocks</a:t>
            </a:r>
            <a:r>
              <a:rPr sz="1000" spc="-10" dirty="0">
                <a:latin typeface="Arial"/>
                <a:cs typeface="Arial"/>
              </a:rPr>
              <a:t>.</a:t>
            </a:r>
            <a:r>
              <a:rPr sz="1000" spc="65" dirty="0">
                <a:latin typeface="Arial"/>
                <a:cs typeface="Arial"/>
              </a:rPr>
              <a:t> </a:t>
            </a:r>
            <a:r>
              <a:rPr sz="1000" spc="-5" dirty="0">
                <a:latin typeface="Arial"/>
                <a:cs typeface="Arial"/>
              </a:rPr>
              <a:t>The thread</a:t>
            </a:r>
            <a:r>
              <a:rPr sz="1000" dirty="0">
                <a:latin typeface="Arial"/>
                <a:cs typeface="Arial"/>
              </a:rPr>
              <a:t> </a:t>
            </a:r>
            <a:r>
              <a:rPr sz="1000" spc="-5" dirty="0">
                <a:latin typeface="Arial"/>
                <a:cs typeface="Arial"/>
              </a:rPr>
              <a:t>remains</a:t>
            </a:r>
            <a:r>
              <a:rPr sz="1000" dirty="0">
                <a:latin typeface="Arial"/>
                <a:cs typeface="Arial"/>
              </a:rPr>
              <a:t> </a:t>
            </a:r>
            <a:r>
              <a:rPr sz="1000" spc="-5" dirty="0">
                <a:solidFill>
                  <a:srgbClr val="0000FA"/>
                </a:solidFill>
                <a:latin typeface="Arial"/>
                <a:cs typeface="Arial"/>
              </a:rPr>
              <a:t>bound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65" dirty="0">
                <a:latin typeface="Arial"/>
                <a:cs typeface="Arial"/>
              </a:rPr>
              <a:t>LWP.</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5" dirty="0">
                <a:latin typeface="Arial"/>
                <a:cs typeface="Arial"/>
              </a:rPr>
              <a:t>The</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can</a:t>
            </a:r>
            <a:r>
              <a:rPr sz="1000" dirty="0">
                <a:latin typeface="Arial"/>
                <a:cs typeface="Arial"/>
              </a:rPr>
              <a:t> </a:t>
            </a:r>
            <a:r>
              <a:rPr sz="1000" spc="-5" dirty="0">
                <a:solidFill>
                  <a:srgbClr val="FA0000"/>
                </a:solidFill>
                <a:latin typeface="Arial"/>
                <a:cs typeface="Arial"/>
              </a:rPr>
              <a:t>schedule</a:t>
            </a:r>
            <a:r>
              <a:rPr sz="1000" spc="5" dirty="0">
                <a:solidFill>
                  <a:srgbClr val="FA0000"/>
                </a:solidFill>
                <a:latin typeface="Arial"/>
                <a:cs typeface="Arial"/>
              </a:rPr>
              <a:t> </a:t>
            </a:r>
            <a:r>
              <a:rPr sz="1000" spc="-5" dirty="0">
                <a:solidFill>
                  <a:srgbClr val="FA0000"/>
                </a:solidFill>
                <a:latin typeface="Arial"/>
                <a:cs typeface="Arial"/>
              </a:rPr>
              <a:t>another</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10" dirty="0">
                <a:solidFill>
                  <a:srgbClr val="FA0000"/>
                </a:solidFill>
                <a:latin typeface="Arial"/>
                <a:cs typeface="Arial"/>
              </a:rPr>
              <a:t>having</a:t>
            </a:r>
            <a:r>
              <a:rPr sz="1000" dirty="0">
                <a:solidFill>
                  <a:srgbClr val="FA0000"/>
                </a:solidFill>
                <a:latin typeface="Arial"/>
                <a:cs typeface="Arial"/>
              </a:rPr>
              <a:t> </a:t>
            </a:r>
            <a:r>
              <a:rPr sz="1000" spc="-5" dirty="0">
                <a:solidFill>
                  <a:srgbClr val="FA0000"/>
                </a:solidFill>
                <a:latin typeface="Arial"/>
                <a:cs typeface="Arial"/>
              </a:rPr>
              <a:t>a</a:t>
            </a:r>
            <a:r>
              <a:rPr sz="1000" spc="5" dirty="0">
                <a:solidFill>
                  <a:srgbClr val="FA0000"/>
                </a:solidFill>
                <a:latin typeface="Arial"/>
                <a:cs typeface="Arial"/>
              </a:rPr>
              <a:t> </a:t>
            </a:r>
            <a:r>
              <a:rPr sz="1000" spc="-5" dirty="0">
                <a:solidFill>
                  <a:srgbClr val="FA0000"/>
                </a:solidFill>
                <a:latin typeface="Arial"/>
                <a:cs typeface="Arial"/>
              </a:rPr>
              <a:t>runnable</a:t>
            </a:r>
            <a:r>
              <a:rPr sz="1000" dirty="0">
                <a:solidFill>
                  <a:srgbClr val="FA0000"/>
                </a:solidFill>
                <a:latin typeface="Arial"/>
                <a:cs typeface="Arial"/>
              </a:rPr>
              <a:t> </a:t>
            </a:r>
            <a:r>
              <a:rPr sz="1000" spc="-5" dirty="0">
                <a:solidFill>
                  <a:srgbClr val="FA0000"/>
                </a:solidFill>
                <a:latin typeface="Arial"/>
                <a:cs typeface="Arial"/>
              </a:rPr>
              <a:t>thread </a:t>
            </a:r>
            <a:r>
              <a:rPr sz="1000" spc="-265" dirty="0">
                <a:solidFill>
                  <a:srgbClr val="FA0000"/>
                </a:solidFill>
                <a:latin typeface="Arial"/>
                <a:cs typeface="Arial"/>
              </a:rPr>
              <a:t> </a:t>
            </a:r>
            <a:r>
              <a:rPr sz="1000" spc="-5" dirty="0">
                <a:solidFill>
                  <a:srgbClr val="FA0000"/>
                </a:solidFill>
                <a:latin typeface="Arial"/>
                <a:cs typeface="Arial"/>
              </a:rPr>
              <a:t>bound to</a:t>
            </a:r>
            <a:r>
              <a:rPr sz="1000" dirty="0">
                <a:solidFill>
                  <a:srgbClr val="FA0000"/>
                </a:solidFill>
                <a:latin typeface="Arial"/>
                <a:cs typeface="Arial"/>
              </a:rPr>
              <a:t> </a:t>
            </a:r>
            <a:r>
              <a:rPr sz="1000" spc="-5" dirty="0">
                <a:solidFill>
                  <a:srgbClr val="FA0000"/>
                </a:solidFill>
                <a:latin typeface="Arial"/>
                <a:cs typeface="Arial"/>
              </a:rPr>
              <a:t>it</a:t>
            </a:r>
            <a:r>
              <a:rPr sz="1000" spc="-5" dirty="0">
                <a:latin typeface="Arial"/>
                <a:cs typeface="Arial"/>
              </a:rPr>
              <a:t>.</a:t>
            </a:r>
            <a:r>
              <a:rPr sz="1000" spc="65" dirty="0">
                <a:latin typeface="Arial"/>
                <a:cs typeface="Arial"/>
              </a:rPr>
              <a:t> </a:t>
            </a:r>
            <a:r>
              <a:rPr sz="1000" spc="-5" dirty="0">
                <a:latin typeface="Arial"/>
                <a:cs typeface="Arial"/>
              </a:rPr>
              <a:t>Note:</a:t>
            </a:r>
            <a:r>
              <a:rPr sz="1000" spc="65" dirty="0">
                <a:latin typeface="Arial"/>
                <a:cs typeface="Arial"/>
              </a:rPr>
              <a:t> </a:t>
            </a:r>
            <a:r>
              <a:rPr sz="1000" spc="-5" dirty="0">
                <a:latin typeface="Arial"/>
                <a:cs typeface="Arial"/>
              </a:rPr>
              <a:t>this</a:t>
            </a:r>
            <a:r>
              <a:rPr sz="1000" dirty="0">
                <a:latin typeface="Arial"/>
                <a:cs typeface="Arial"/>
              </a:rPr>
              <a:t> </a:t>
            </a:r>
            <a:r>
              <a:rPr sz="1000" spc="-5" dirty="0">
                <a:latin typeface="Arial"/>
                <a:cs typeface="Arial"/>
              </a:rPr>
              <a:t>thread can</a:t>
            </a:r>
            <a:r>
              <a:rPr sz="1000" dirty="0">
                <a:latin typeface="Arial"/>
                <a:cs typeface="Arial"/>
              </a:rPr>
              <a:t> </a:t>
            </a:r>
            <a:r>
              <a:rPr sz="1000" spc="-10" dirty="0">
                <a:latin typeface="Arial"/>
                <a:cs typeface="Arial"/>
              </a:rPr>
              <a:t>switch</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0000FA"/>
                </a:solidFill>
                <a:latin typeface="Arial"/>
                <a:cs typeface="Arial"/>
              </a:rPr>
              <a:t>any</a:t>
            </a:r>
            <a:r>
              <a:rPr sz="1000" spc="-5" dirty="0">
                <a:solidFill>
                  <a:srgbClr val="0000FA"/>
                </a:solidFill>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runnable </a:t>
            </a:r>
            <a:r>
              <a:rPr sz="1000" dirty="0">
                <a:latin typeface="Arial"/>
                <a:cs typeface="Arial"/>
              </a:rPr>
              <a:t> </a:t>
            </a:r>
            <a:r>
              <a:rPr sz="1000" spc="-5" dirty="0">
                <a:latin typeface="Arial"/>
                <a:cs typeface="Arial"/>
              </a:rPr>
              <a:t>thread</a:t>
            </a:r>
            <a:r>
              <a:rPr sz="1000" spc="-10" dirty="0">
                <a:latin typeface="Arial"/>
                <a:cs typeface="Arial"/>
              </a:rPr>
              <a:t> </a:t>
            </a:r>
            <a:r>
              <a:rPr sz="1000" spc="-5" dirty="0">
                <a:latin typeface="Arial"/>
                <a:cs typeface="Arial"/>
              </a:rPr>
              <a:t>currently in user space.</a:t>
            </a:r>
            <a:endParaRPr sz="1000">
              <a:latin typeface="Arial"/>
              <a:cs typeface="Arial"/>
            </a:endParaRP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 name="object 8"/>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Thread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implementation</a:t>
            </a:r>
            <a:endParaRPr sz="600">
              <a:latin typeface="Arial"/>
              <a:cs typeface="Arial"/>
            </a:endParaRPr>
          </a:p>
        </p:txBody>
      </p:sp>
      <p:sp>
        <p:nvSpPr>
          <p:cNvPr id="9" name="object 9"/>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1826260" cy="572770"/>
          </a:xfrm>
          <a:prstGeom prst="rect">
            <a:avLst/>
          </a:prstGeom>
        </p:spPr>
        <p:txBody>
          <a:bodyPr vert="horz" wrap="square" lIns="0" tIns="17145" rIns="0" bIns="0" rtlCol="0">
            <a:spAutoFit/>
          </a:bodyPr>
          <a:lstStyle/>
          <a:p>
            <a:pPr algn="ctr">
              <a:lnSpc>
                <a:spcPct val="100000"/>
              </a:lnSpc>
              <a:spcBef>
                <a:spcPts val="135"/>
              </a:spcBef>
            </a:pPr>
            <a:r>
              <a:rPr sz="1400" spc="10" dirty="0">
                <a:solidFill>
                  <a:srgbClr val="3333B2"/>
                </a:solidFill>
                <a:latin typeface="Arial"/>
                <a:cs typeface="Arial"/>
              </a:rPr>
              <a:t>Lightweight</a:t>
            </a:r>
            <a:r>
              <a:rPr sz="1400" spc="-15" dirty="0">
                <a:solidFill>
                  <a:srgbClr val="3333B2"/>
                </a:solidFill>
                <a:latin typeface="Arial"/>
                <a:cs typeface="Arial"/>
              </a:rPr>
              <a:t> </a:t>
            </a:r>
            <a:r>
              <a:rPr sz="1400" spc="15" dirty="0">
                <a:solidFill>
                  <a:srgbClr val="3333B2"/>
                </a:solidFill>
                <a:latin typeface="Arial"/>
                <a:cs typeface="Arial"/>
              </a:rPr>
              <a:t>processes</a:t>
            </a:r>
            <a:endParaRPr sz="1400">
              <a:latin typeface="Arial"/>
              <a:cs typeface="Arial"/>
            </a:endParaRPr>
          </a:p>
          <a:p>
            <a:pPr marR="30480"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p:txBody>
      </p:sp>
      <p:sp>
        <p:nvSpPr>
          <p:cNvPr id="5" name="object 5"/>
          <p:cNvSpPr txBox="1"/>
          <p:nvPr/>
        </p:nvSpPr>
        <p:spPr>
          <a:xfrm>
            <a:off x="456704" y="834763"/>
            <a:ext cx="373507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0" dirty="0">
                <a:latin typeface="Arial"/>
                <a:cs typeface="Arial"/>
              </a:rPr>
              <a:t>User-level</a:t>
            </a:r>
            <a:r>
              <a:rPr sz="1000" spc="-5" dirty="0">
                <a:latin typeface="Arial"/>
                <a:cs typeface="Arial"/>
              </a:rPr>
              <a:t> thread</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FA0000"/>
                </a:solidFill>
                <a:latin typeface="Arial"/>
                <a:cs typeface="Arial"/>
              </a:rPr>
              <a:t>the</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5" dirty="0">
                <a:solidFill>
                  <a:srgbClr val="FA0000"/>
                </a:solidFill>
                <a:latin typeface="Arial"/>
                <a:cs typeface="Arial"/>
              </a:rPr>
              <a:t>that is</a:t>
            </a:r>
            <a:r>
              <a:rPr sz="1000" dirty="0">
                <a:solidFill>
                  <a:srgbClr val="FA0000"/>
                </a:solidFill>
                <a:latin typeface="Arial"/>
                <a:cs typeface="Arial"/>
              </a:rPr>
              <a:t> </a:t>
            </a:r>
            <a:r>
              <a:rPr sz="1000" spc="-10" dirty="0">
                <a:solidFill>
                  <a:srgbClr val="FA0000"/>
                </a:solidFill>
                <a:latin typeface="Arial"/>
                <a:cs typeface="Arial"/>
              </a:rPr>
              <a:t>executing</a:t>
            </a:r>
            <a:endParaRPr sz="1000">
              <a:latin typeface="Arial"/>
              <a:cs typeface="Arial"/>
            </a:endParaRPr>
          </a:p>
        </p:txBody>
      </p:sp>
      <p:sp>
        <p:nvSpPr>
          <p:cNvPr id="6" name="object 6"/>
          <p:cNvSpPr txBox="1"/>
          <p:nvPr/>
        </p:nvSpPr>
        <p:spPr>
          <a:xfrm>
            <a:off x="431304" y="910672"/>
            <a:ext cx="3819525" cy="784860"/>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FA0000"/>
                </a:solidFill>
                <a:latin typeface="Arial"/>
                <a:cs typeface="Arial"/>
              </a:rPr>
              <a:t>that thread,</a:t>
            </a:r>
            <a:r>
              <a:rPr sz="1000" dirty="0">
                <a:solidFill>
                  <a:srgbClr val="FA0000"/>
                </a:solidFill>
                <a:latin typeface="Arial"/>
                <a:cs typeface="Arial"/>
              </a:rPr>
              <a:t> </a:t>
            </a:r>
            <a:r>
              <a:rPr sz="1000" spc="-10" dirty="0">
                <a:solidFill>
                  <a:srgbClr val="FA0000"/>
                </a:solidFill>
                <a:latin typeface="Arial"/>
                <a:cs typeface="Arial"/>
              </a:rPr>
              <a:t>blocks</a:t>
            </a:r>
            <a:r>
              <a:rPr sz="1000" spc="-10" dirty="0">
                <a:latin typeface="Arial"/>
                <a:cs typeface="Arial"/>
              </a:rPr>
              <a:t>.</a:t>
            </a:r>
            <a:r>
              <a:rPr sz="1000" spc="65" dirty="0">
                <a:latin typeface="Arial"/>
                <a:cs typeface="Arial"/>
              </a:rPr>
              <a:t> </a:t>
            </a:r>
            <a:r>
              <a:rPr sz="1000" spc="-5" dirty="0">
                <a:latin typeface="Arial"/>
                <a:cs typeface="Arial"/>
              </a:rPr>
              <a:t>The thread</a:t>
            </a:r>
            <a:r>
              <a:rPr sz="1000" dirty="0">
                <a:latin typeface="Arial"/>
                <a:cs typeface="Arial"/>
              </a:rPr>
              <a:t> </a:t>
            </a:r>
            <a:r>
              <a:rPr sz="1000" spc="-5" dirty="0">
                <a:latin typeface="Arial"/>
                <a:cs typeface="Arial"/>
              </a:rPr>
              <a:t>remains</a:t>
            </a:r>
            <a:r>
              <a:rPr sz="1000" dirty="0">
                <a:latin typeface="Arial"/>
                <a:cs typeface="Arial"/>
              </a:rPr>
              <a:t> </a:t>
            </a:r>
            <a:r>
              <a:rPr sz="1000" spc="-5" dirty="0">
                <a:solidFill>
                  <a:srgbClr val="0000FA"/>
                </a:solidFill>
                <a:latin typeface="Arial"/>
                <a:cs typeface="Arial"/>
              </a:rPr>
              <a:t>bound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65" dirty="0">
                <a:latin typeface="Arial"/>
                <a:cs typeface="Arial"/>
              </a:rPr>
              <a:t>LWP.</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5" dirty="0">
                <a:latin typeface="Arial"/>
                <a:cs typeface="Arial"/>
              </a:rPr>
              <a:t>The</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can</a:t>
            </a:r>
            <a:r>
              <a:rPr sz="1000" dirty="0">
                <a:latin typeface="Arial"/>
                <a:cs typeface="Arial"/>
              </a:rPr>
              <a:t> </a:t>
            </a:r>
            <a:r>
              <a:rPr sz="1000" spc="-5" dirty="0">
                <a:solidFill>
                  <a:srgbClr val="FA0000"/>
                </a:solidFill>
                <a:latin typeface="Arial"/>
                <a:cs typeface="Arial"/>
              </a:rPr>
              <a:t>schedule</a:t>
            </a:r>
            <a:r>
              <a:rPr sz="1000" spc="5" dirty="0">
                <a:solidFill>
                  <a:srgbClr val="FA0000"/>
                </a:solidFill>
                <a:latin typeface="Arial"/>
                <a:cs typeface="Arial"/>
              </a:rPr>
              <a:t> </a:t>
            </a:r>
            <a:r>
              <a:rPr sz="1000" spc="-5" dirty="0">
                <a:solidFill>
                  <a:srgbClr val="FA0000"/>
                </a:solidFill>
                <a:latin typeface="Arial"/>
                <a:cs typeface="Arial"/>
              </a:rPr>
              <a:t>another</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10" dirty="0">
                <a:solidFill>
                  <a:srgbClr val="FA0000"/>
                </a:solidFill>
                <a:latin typeface="Arial"/>
                <a:cs typeface="Arial"/>
              </a:rPr>
              <a:t>having</a:t>
            </a:r>
            <a:r>
              <a:rPr sz="1000" dirty="0">
                <a:solidFill>
                  <a:srgbClr val="FA0000"/>
                </a:solidFill>
                <a:latin typeface="Arial"/>
                <a:cs typeface="Arial"/>
              </a:rPr>
              <a:t> </a:t>
            </a:r>
            <a:r>
              <a:rPr sz="1000" spc="-5" dirty="0">
                <a:solidFill>
                  <a:srgbClr val="FA0000"/>
                </a:solidFill>
                <a:latin typeface="Arial"/>
                <a:cs typeface="Arial"/>
              </a:rPr>
              <a:t>a</a:t>
            </a:r>
            <a:r>
              <a:rPr sz="1000" spc="5" dirty="0">
                <a:solidFill>
                  <a:srgbClr val="FA0000"/>
                </a:solidFill>
                <a:latin typeface="Arial"/>
                <a:cs typeface="Arial"/>
              </a:rPr>
              <a:t> </a:t>
            </a:r>
            <a:r>
              <a:rPr sz="1000" spc="-5" dirty="0">
                <a:solidFill>
                  <a:srgbClr val="FA0000"/>
                </a:solidFill>
                <a:latin typeface="Arial"/>
                <a:cs typeface="Arial"/>
              </a:rPr>
              <a:t>runnable</a:t>
            </a:r>
            <a:r>
              <a:rPr sz="1000" dirty="0">
                <a:solidFill>
                  <a:srgbClr val="FA0000"/>
                </a:solidFill>
                <a:latin typeface="Arial"/>
                <a:cs typeface="Arial"/>
              </a:rPr>
              <a:t> </a:t>
            </a:r>
            <a:r>
              <a:rPr sz="1000" spc="-5" dirty="0">
                <a:solidFill>
                  <a:srgbClr val="FA0000"/>
                </a:solidFill>
                <a:latin typeface="Arial"/>
                <a:cs typeface="Arial"/>
              </a:rPr>
              <a:t>thread </a:t>
            </a:r>
            <a:r>
              <a:rPr sz="1000" spc="-265" dirty="0">
                <a:solidFill>
                  <a:srgbClr val="FA0000"/>
                </a:solidFill>
                <a:latin typeface="Arial"/>
                <a:cs typeface="Arial"/>
              </a:rPr>
              <a:t> </a:t>
            </a:r>
            <a:r>
              <a:rPr sz="1000" spc="-5" dirty="0">
                <a:solidFill>
                  <a:srgbClr val="FA0000"/>
                </a:solidFill>
                <a:latin typeface="Arial"/>
                <a:cs typeface="Arial"/>
              </a:rPr>
              <a:t>bound to</a:t>
            </a:r>
            <a:r>
              <a:rPr sz="1000" dirty="0">
                <a:solidFill>
                  <a:srgbClr val="FA0000"/>
                </a:solidFill>
                <a:latin typeface="Arial"/>
                <a:cs typeface="Arial"/>
              </a:rPr>
              <a:t> </a:t>
            </a:r>
            <a:r>
              <a:rPr sz="1000" spc="-5" dirty="0">
                <a:solidFill>
                  <a:srgbClr val="FA0000"/>
                </a:solidFill>
                <a:latin typeface="Arial"/>
                <a:cs typeface="Arial"/>
              </a:rPr>
              <a:t>it</a:t>
            </a:r>
            <a:r>
              <a:rPr sz="1000" spc="-5" dirty="0">
                <a:latin typeface="Arial"/>
                <a:cs typeface="Arial"/>
              </a:rPr>
              <a:t>.</a:t>
            </a:r>
            <a:r>
              <a:rPr sz="1000" spc="65" dirty="0">
                <a:latin typeface="Arial"/>
                <a:cs typeface="Arial"/>
              </a:rPr>
              <a:t> </a:t>
            </a:r>
            <a:r>
              <a:rPr sz="1000" spc="-5" dirty="0">
                <a:latin typeface="Arial"/>
                <a:cs typeface="Arial"/>
              </a:rPr>
              <a:t>Note:</a:t>
            </a:r>
            <a:r>
              <a:rPr sz="1000" spc="65" dirty="0">
                <a:latin typeface="Arial"/>
                <a:cs typeface="Arial"/>
              </a:rPr>
              <a:t> </a:t>
            </a:r>
            <a:r>
              <a:rPr sz="1000" spc="-5" dirty="0">
                <a:latin typeface="Arial"/>
                <a:cs typeface="Arial"/>
              </a:rPr>
              <a:t>this</a:t>
            </a:r>
            <a:r>
              <a:rPr sz="1000" dirty="0">
                <a:latin typeface="Arial"/>
                <a:cs typeface="Arial"/>
              </a:rPr>
              <a:t> </a:t>
            </a:r>
            <a:r>
              <a:rPr sz="1000" spc="-5" dirty="0">
                <a:latin typeface="Arial"/>
                <a:cs typeface="Arial"/>
              </a:rPr>
              <a:t>thread can</a:t>
            </a:r>
            <a:r>
              <a:rPr sz="1000" dirty="0">
                <a:latin typeface="Arial"/>
                <a:cs typeface="Arial"/>
              </a:rPr>
              <a:t> </a:t>
            </a:r>
            <a:r>
              <a:rPr sz="1000" spc="-10" dirty="0">
                <a:latin typeface="Arial"/>
                <a:cs typeface="Arial"/>
              </a:rPr>
              <a:t>switch</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0000FA"/>
                </a:solidFill>
                <a:latin typeface="Arial"/>
                <a:cs typeface="Arial"/>
              </a:rPr>
              <a:t>any</a:t>
            </a:r>
            <a:r>
              <a:rPr sz="1000" spc="-5" dirty="0">
                <a:solidFill>
                  <a:srgbClr val="0000FA"/>
                </a:solidFill>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runnable </a:t>
            </a:r>
            <a:r>
              <a:rPr sz="1000" dirty="0">
                <a:latin typeface="Arial"/>
                <a:cs typeface="Arial"/>
              </a:rPr>
              <a:t> </a:t>
            </a:r>
            <a:r>
              <a:rPr sz="1000" spc="-5" dirty="0">
                <a:latin typeface="Arial"/>
                <a:cs typeface="Arial"/>
              </a:rPr>
              <a:t>thread</a:t>
            </a:r>
            <a:r>
              <a:rPr sz="1000" spc="-10" dirty="0">
                <a:latin typeface="Arial"/>
                <a:cs typeface="Arial"/>
              </a:rPr>
              <a:t> </a:t>
            </a:r>
            <a:r>
              <a:rPr sz="1000" spc="-5" dirty="0">
                <a:latin typeface="Arial"/>
                <a:cs typeface="Arial"/>
              </a:rPr>
              <a:t>currently in user space.</a:t>
            </a:r>
            <a:endParaRPr sz="1000">
              <a:latin typeface="Arial"/>
              <a:cs typeface="Arial"/>
            </a:endParaRPr>
          </a:p>
        </p:txBody>
      </p:sp>
      <p:sp>
        <p:nvSpPr>
          <p:cNvPr id="7" name="object 7"/>
          <p:cNvSpPr txBox="1"/>
          <p:nvPr/>
        </p:nvSpPr>
        <p:spPr>
          <a:xfrm>
            <a:off x="456704" y="1745747"/>
            <a:ext cx="3803015" cy="329565"/>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Char char="►"/>
              <a:tabLst>
                <a:tab pos="180975" algn="l"/>
              </a:tabLst>
            </a:pPr>
            <a:r>
              <a:rPr sz="1000" spc="-15" dirty="0">
                <a:latin typeface="Arial"/>
                <a:cs typeface="Arial"/>
              </a:rPr>
              <a:t>A</a:t>
            </a:r>
            <a:r>
              <a:rPr sz="1000" dirty="0">
                <a:latin typeface="Arial"/>
                <a:cs typeface="Arial"/>
              </a:rPr>
              <a:t> </a:t>
            </a:r>
            <a:r>
              <a:rPr sz="1000" spc="-10" dirty="0">
                <a:latin typeface="Arial"/>
                <a:cs typeface="Arial"/>
              </a:rPr>
              <a:t>thread</a:t>
            </a:r>
            <a:r>
              <a:rPr sz="1000" dirty="0">
                <a:latin typeface="Arial"/>
                <a:cs typeface="Arial"/>
              </a:rPr>
              <a:t> </a:t>
            </a:r>
            <a:r>
              <a:rPr sz="1000" spc="-10" dirty="0">
                <a:latin typeface="Arial"/>
                <a:cs typeface="Arial"/>
              </a:rPr>
              <a:t>calls</a:t>
            </a:r>
            <a:r>
              <a:rPr sz="1000" dirty="0">
                <a:latin typeface="Arial"/>
                <a:cs typeface="Arial"/>
              </a:rPr>
              <a:t> </a:t>
            </a:r>
            <a:r>
              <a:rPr sz="1000" spc="-15" dirty="0">
                <a:latin typeface="Arial"/>
                <a:cs typeface="Arial"/>
              </a:rPr>
              <a:t>a</a:t>
            </a:r>
            <a:r>
              <a:rPr sz="1000" dirty="0">
                <a:latin typeface="Arial"/>
                <a:cs typeface="Arial"/>
              </a:rPr>
              <a:t> </a:t>
            </a:r>
            <a:r>
              <a:rPr sz="1000" spc="-20" dirty="0">
                <a:latin typeface="Arial"/>
                <a:cs typeface="Arial"/>
              </a:rPr>
              <a:t>blocking</a:t>
            </a:r>
            <a:r>
              <a:rPr sz="1000" dirty="0">
                <a:latin typeface="Arial"/>
                <a:cs typeface="Arial"/>
              </a:rPr>
              <a:t> </a:t>
            </a:r>
            <a:r>
              <a:rPr sz="1000" spc="-20" dirty="0">
                <a:latin typeface="Arial"/>
                <a:cs typeface="Arial"/>
              </a:rPr>
              <a:t>user-level</a:t>
            </a:r>
            <a:r>
              <a:rPr sz="1000" dirty="0">
                <a:latin typeface="Arial"/>
                <a:cs typeface="Arial"/>
              </a:rPr>
              <a:t> </a:t>
            </a:r>
            <a:r>
              <a:rPr sz="1000" spc="-15" dirty="0">
                <a:latin typeface="Arial"/>
                <a:cs typeface="Arial"/>
              </a:rPr>
              <a:t>operation</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5" dirty="0">
                <a:latin typeface="Arial"/>
                <a:cs typeface="Arial"/>
              </a:rPr>
              <a:t>do</a:t>
            </a:r>
            <a:r>
              <a:rPr sz="1000" dirty="0">
                <a:latin typeface="Arial"/>
                <a:cs typeface="Arial"/>
              </a:rPr>
              <a:t> </a:t>
            </a:r>
            <a:r>
              <a:rPr sz="1000" spc="-15" dirty="0">
                <a:latin typeface="Arial"/>
                <a:cs typeface="Arial"/>
              </a:rPr>
              <a:t>context</a:t>
            </a:r>
            <a:r>
              <a:rPr sz="1000" dirty="0">
                <a:latin typeface="Arial"/>
                <a:cs typeface="Arial"/>
              </a:rPr>
              <a:t> </a:t>
            </a:r>
            <a:r>
              <a:rPr sz="1000" spc="-15" dirty="0">
                <a:latin typeface="Arial"/>
                <a:cs typeface="Arial"/>
              </a:rPr>
              <a:t>switch </a:t>
            </a:r>
            <a:r>
              <a:rPr sz="1000" spc="-265" dirty="0">
                <a:latin typeface="Arial"/>
                <a:cs typeface="Arial"/>
              </a:rPr>
              <a:t> </a:t>
            </a:r>
            <a:r>
              <a:rPr sz="1000" spc="-5" dirty="0">
                <a:latin typeface="Arial"/>
                <a:cs typeface="Arial"/>
              </a:rPr>
              <a:t>to a runnable thread, (then bound</a:t>
            </a:r>
            <a:r>
              <a:rPr sz="1000" dirty="0">
                <a:latin typeface="Arial"/>
                <a:cs typeface="Arial"/>
              </a:rPr>
              <a:t> </a:t>
            </a:r>
            <a:r>
              <a:rPr sz="1000" spc="-5" dirty="0">
                <a:latin typeface="Arial"/>
                <a:cs typeface="Arial"/>
              </a:rPr>
              <a:t>to the same </a:t>
            </a:r>
            <a:r>
              <a:rPr sz="1000" spc="-20" dirty="0">
                <a:latin typeface="Arial"/>
                <a:cs typeface="Arial"/>
              </a:rPr>
              <a:t>LWP).</a:t>
            </a:r>
            <a:endParaRPr sz="1000">
              <a:latin typeface="Arial"/>
              <a:cs typeface="Arial"/>
            </a:endParaRP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9" name="object 9"/>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Thread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implementation</a:t>
            </a:r>
            <a:endParaRPr sz="600">
              <a:latin typeface="Arial"/>
              <a:cs typeface="Arial"/>
            </a:endParaRPr>
          </a:p>
        </p:txBody>
      </p:sp>
      <p:sp>
        <p:nvSpPr>
          <p:cNvPr id="10" name="object 10"/>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Introduction</a:t>
            </a:r>
            <a:r>
              <a:rPr sz="600" spc="-1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to</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threads</a:t>
            </a:r>
            <a:endParaRPr sz="600">
              <a:latin typeface="Arial"/>
              <a:cs typeface="Arial"/>
            </a:endParaRPr>
          </a:p>
        </p:txBody>
      </p:sp>
      <p:sp>
        <p:nvSpPr>
          <p:cNvPr id="4" name="object 4"/>
          <p:cNvSpPr txBox="1"/>
          <p:nvPr/>
        </p:nvSpPr>
        <p:spPr>
          <a:xfrm>
            <a:off x="95300" y="188846"/>
            <a:ext cx="1826260" cy="572770"/>
          </a:xfrm>
          <a:prstGeom prst="rect">
            <a:avLst/>
          </a:prstGeom>
        </p:spPr>
        <p:txBody>
          <a:bodyPr vert="horz" wrap="square" lIns="0" tIns="17145" rIns="0" bIns="0" rtlCol="0">
            <a:spAutoFit/>
          </a:bodyPr>
          <a:lstStyle/>
          <a:p>
            <a:pPr algn="ctr">
              <a:lnSpc>
                <a:spcPct val="100000"/>
              </a:lnSpc>
              <a:spcBef>
                <a:spcPts val="135"/>
              </a:spcBef>
            </a:pPr>
            <a:r>
              <a:rPr sz="1400" spc="10" dirty="0">
                <a:solidFill>
                  <a:srgbClr val="3333B2"/>
                </a:solidFill>
                <a:latin typeface="Arial"/>
                <a:cs typeface="Arial"/>
              </a:rPr>
              <a:t>Lightweight</a:t>
            </a:r>
            <a:r>
              <a:rPr sz="1400" spc="-15" dirty="0">
                <a:solidFill>
                  <a:srgbClr val="3333B2"/>
                </a:solidFill>
                <a:latin typeface="Arial"/>
                <a:cs typeface="Arial"/>
              </a:rPr>
              <a:t> </a:t>
            </a:r>
            <a:r>
              <a:rPr sz="1400" spc="15" dirty="0">
                <a:solidFill>
                  <a:srgbClr val="3333B2"/>
                </a:solidFill>
                <a:latin typeface="Arial"/>
                <a:cs typeface="Arial"/>
              </a:rPr>
              <a:t>processes</a:t>
            </a:r>
            <a:endParaRPr sz="1400">
              <a:latin typeface="Arial"/>
              <a:cs typeface="Arial"/>
            </a:endParaRPr>
          </a:p>
          <a:p>
            <a:pPr marR="30480"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a:latin typeface="Arial"/>
              <a:cs typeface="Arial"/>
            </a:endParaRPr>
          </a:p>
        </p:txBody>
      </p:sp>
      <p:sp>
        <p:nvSpPr>
          <p:cNvPr id="5" name="object 5"/>
          <p:cNvSpPr txBox="1"/>
          <p:nvPr/>
        </p:nvSpPr>
        <p:spPr>
          <a:xfrm>
            <a:off x="456704" y="834763"/>
            <a:ext cx="373507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0" dirty="0">
                <a:latin typeface="Arial"/>
                <a:cs typeface="Arial"/>
              </a:rPr>
              <a:t>User-level</a:t>
            </a:r>
            <a:r>
              <a:rPr sz="1000" spc="-5" dirty="0">
                <a:latin typeface="Arial"/>
                <a:cs typeface="Arial"/>
              </a:rPr>
              <a:t> thread</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FA0000"/>
                </a:solidFill>
                <a:latin typeface="Arial"/>
                <a:cs typeface="Arial"/>
              </a:rPr>
              <a:t>the</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5" dirty="0">
                <a:solidFill>
                  <a:srgbClr val="FA0000"/>
                </a:solidFill>
                <a:latin typeface="Arial"/>
                <a:cs typeface="Arial"/>
              </a:rPr>
              <a:t>that is</a:t>
            </a:r>
            <a:r>
              <a:rPr sz="1000" dirty="0">
                <a:solidFill>
                  <a:srgbClr val="FA0000"/>
                </a:solidFill>
                <a:latin typeface="Arial"/>
                <a:cs typeface="Arial"/>
              </a:rPr>
              <a:t> </a:t>
            </a:r>
            <a:r>
              <a:rPr sz="1000" spc="-10" dirty="0">
                <a:solidFill>
                  <a:srgbClr val="FA0000"/>
                </a:solidFill>
                <a:latin typeface="Arial"/>
                <a:cs typeface="Arial"/>
              </a:rPr>
              <a:t>executing</a:t>
            </a:r>
            <a:endParaRPr sz="1000">
              <a:latin typeface="Arial"/>
              <a:cs typeface="Arial"/>
            </a:endParaRPr>
          </a:p>
        </p:txBody>
      </p:sp>
      <p:sp>
        <p:nvSpPr>
          <p:cNvPr id="6" name="object 6"/>
          <p:cNvSpPr txBox="1"/>
          <p:nvPr/>
        </p:nvSpPr>
        <p:spPr>
          <a:xfrm>
            <a:off x="431304" y="910672"/>
            <a:ext cx="3819525" cy="784860"/>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FA0000"/>
                </a:solidFill>
                <a:latin typeface="Arial"/>
                <a:cs typeface="Arial"/>
              </a:rPr>
              <a:t>that thread,</a:t>
            </a:r>
            <a:r>
              <a:rPr sz="1000" dirty="0">
                <a:solidFill>
                  <a:srgbClr val="FA0000"/>
                </a:solidFill>
                <a:latin typeface="Arial"/>
                <a:cs typeface="Arial"/>
              </a:rPr>
              <a:t> </a:t>
            </a:r>
            <a:r>
              <a:rPr sz="1000" spc="-10" dirty="0">
                <a:solidFill>
                  <a:srgbClr val="FA0000"/>
                </a:solidFill>
                <a:latin typeface="Arial"/>
                <a:cs typeface="Arial"/>
              </a:rPr>
              <a:t>blocks</a:t>
            </a:r>
            <a:r>
              <a:rPr sz="1000" spc="-10" dirty="0">
                <a:latin typeface="Arial"/>
                <a:cs typeface="Arial"/>
              </a:rPr>
              <a:t>.</a:t>
            </a:r>
            <a:r>
              <a:rPr sz="1000" spc="65" dirty="0">
                <a:latin typeface="Arial"/>
                <a:cs typeface="Arial"/>
              </a:rPr>
              <a:t> </a:t>
            </a:r>
            <a:r>
              <a:rPr sz="1000" spc="-5" dirty="0">
                <a:latin typeface="Arial"/>
                <a:cs typeface="Arial"/>
              </a:rPr>
              <a:t>The thread</a:t>
            </a:r>
            <a:r>
              <a:rPr sz="1000" dirty="0">
                <a:latin typeface="Arial"/>
                <a:cs typeface="Arial"/>
              </a:rPr>
              <a:t> </a:t>
            </a:r>
            <a:r>
              <a:rPr sz="1000" spc="-5" dirty="0">
                <a:latin typeface="Arial"/>
                <a:cs typeface="Arial"/>
              </a:rPr>
              <a:t>remains</a:t>
            </a:r>
            <a:r>
              <a:rPr sz="1000" dirty="0">
                <a:latin typeface="Arial"/>
                <a:cs typeface="Arial"/>
              </a:rPr>
              <a:t> </a:t>
            </a:r>
            <a:r>
              <a:rPr sz="1000" spc="-5" dirty="0">
                <a:solidFill>
                  <a:srgbClr val="0000FA"/>
                </a:solidFill>
                <a:latin typeface="Arial"/>
                <a:cs typeface="Arial"/>
              </a:rPr>
              <a:t>bound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65" dirty="0">
                <a:latin typeface="Arial"/>
                <a:cs typeface="Arial"/>
              </a:rPr>
              <a:t>LWP.</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5" dirty="0">
                <a:latin typeface="Arial"/>
                <a:cs typeface="Arial"/>
              </a:rPr>
              <a:t>The</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can</a:t>
            </a:r>
            <a:r>
              <a:rPr sz="1000" dirty="0">
                <a:latin typeface="Arial"/>
                <a:cs typeface="Arial"/>
              </a:rPr>
              <a:t> </a:t>
            </a:r>
            <a:r>
              <a:rPr sz="1000" spc="-5" dirty="0">
                <a:solidFill>
                  <a:srgbClr val="FA0000"/>
                </a:solidFill>
                <a:latin typeface="Arial"/>
                <a:cs typeface="Arial"/>
              </a:rPr>
              <a:t>schedule</a:t>
            </a:r>
            <a:r>
              <a:rPr sz="1000" spc="5" dirty="0">
                <a:solidFill>
                  <a:srgbClr val="FA0000"/>
                </a:solidFill>
                <a:latin typeface="Arial"/>
                <a:cs typeface="Arial"/>
              </a:rPr>
              <a:t> </a:t>
            </a:r>
            <a:r>
              <a:rPr sz="1000" spc="-5" dirty="0">
                <a:solidFill>
                  <a:srgbClr val="FA0000"/>
                </a:solidFill>
                <a:latin typeface="Arial"/>
                <a:cs typeface="Arial"/>
              </a:rPr>
              <a:t>another</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10" dirty="0">
                <a:solidFill>
                  <a:srgbClr val="FA0000"/>
                </a:solidFill>
                <a:latin typeface="Arial"/>
                <a:cs typeface="Arial"/>
              </a:rPr>
              <a:t>having</a:t>
            </a:r>
            <a:r>
              <a:rPr sz="1000" dirty="0">
                <a:solidFill>
                  <a:srgbClr val="FA0000"/>
                </a:solidFill>
                <a:latin typeface="Arial"/>
                <a:cs typeface="Arial"/>
              </a:rPr>
              <a:t> </a:t>
            </a:r>
            <a:r>
              <a:rPr sz="1000" spc="-5" dirty="0">
                <a:solidFill>
                  <a:srgbClr val="FA0000"/>
                </a:solidFill>
                <a:latin typeface="Arial"/>
                <a:cs typeface="Arial"/>
              </a:rPr>
              <a:t>a</a:t>
            </a:r>
            <a:r>
              <a:rPr sz="1000" spc="5" dirty="0">
                <a:solidFill>
                  <a:srgbClr val="FA0000"/>
                </a:solidFill>
                <a:latin typeface="Arial"/>
                <a:cs typeface="Arial"/>
              </a:rPr>
              <a:t> </a:t>
            </a:r>
            <a:r>
              <a:rPr sz="1000" spc="-5" dirty="0">
                <a:solidFill>
                  <a:srgbClr val="FA0000"/>
                </a:solidFill>
                <a:latin typeface="Arial"/>
                <a:cs typeface="Arial"/>
              </a:rPr>
              <a:t>runnable</a:t>
            </a:r>
            <a:r>
              <a:rPr sz="1000" dirty="0">
                <a:solidFill>
                  <a:srgbClr val="FA0000"/>
                </a:solidFill>
                <a:latin typeface="Arial"/>
                <a:cs typeface="Arial"/>
              </a:rPr>
              <a:t> </a:t>
            </a:r>
            <a:r>
              <a:rPr sz="1000" spc="-5" dirty="0">
                <a:solidFill>
                  <a:srgbClr val="FA0000"/>
                </a:solidFill>
                <a:latin typeface="Arial"/>
                <a:cs typeface="Arial"/>
              </a:rPr>
              <a:t>thread </a:t>
            </a:r>
            <a:r>
              <a:rPr sz="1000" spc="-265" dirty="0">
                <a:solidFill>
                  <a:srgbClr val="FA0000"/>
                </a:solidFill>
                <a:latin typeface="Arial"/>
                <a:cs typeface="Arial"/>
              </a:rPr>
              <a:t> </a:t>
            </a:r>
            <a:r>
              <a:rPr sz="1000" spc="-5" dirty="0">
                <a:solidFill>
                  <a:srgbClr val="FA0000"/>
                </a:solidFill>
                <a:latin typeface="Arial"/>
                <a:cs typeface="Arial"/>
              </a:rPr>
              <a:t>bound to</a:t>
            </a:r>
            <a:r>
              <a:rPr sz="1000" dirty="0">
                <a:solidFill>
                  <a:srgbClr val="FA0000"/>
                </a:solidFill>
                <a:latin typeface="Arial"/>
                <a:cs typeface="Arial"/>
              </a:rPr>
              <a:t> </a:t>
            </a:r>
            <a:r>
              <a:rPr sz="1000" spc="-5" dirty="0">
                <a:solidFill>
                  <a:srgbClr val="FA0000"/>
                </a:solidFill>
                <a:latin typeface="Arial"/>
                <a:cs typeface="Arial"/>
              </a:rPr>
              <a:t>it</a:t>
            </a:r>
            <a:r>
              <a:rPr sz="1000" spc="-5" dirty="0">
                <a:latin typeface="Arial"/>
                <a:cs typeface="Arial"/>
              </a:rPr>
              <a:t>.</a:t>
            </a:r>
            <a:r>
              <a:rPr sz="1000" spc="65" dirty="0">
                <a:latin typeface="Arial"/>
                <a:cs typeface="Arial"/>
              </a:rPr>
              <a:t> </a:t>
            </a:r>
            <a:r>
              <a:rPr sz="1000" spc="-5" dirty="0">
                <a:latin typeface="Arial"/>
                <a:cs typeface="Arial"/>
              </a:rPr>
              <a:t>Note:</a:t>
            </a:r>
            <a:r>
              <a:rPr sz="1000" spc="65" dirty="0">
                <a:latin typeface="Arial"/>
                <a:cs typeface="Arial"/>
              </a:rPr>
              <a:t> </a:t>
            </a:r>
            <a:r>
              <a:rPr sz="1000" spc="-5" dirty="0">
                <a:latin typeface="Arial"/>
                <a:cs typeface="Arial"/>
              </a:rPr>
              <a:t>this</a:t>
            </a:r>
            <a:r>
              <a:rPr sz="1000" dirty="0">
                <a:latin typeface="Arial"/>
                <a:cs typeface="Arial"/>
              </a:rPr>
              <a:t> </a:t>
            </a:r>
            <a:r>
              <a:rPr sz="1000" spc="-5" dirty="0">
                <a:latin typeface="Arial"/>
                <a:cs typeface="Arial"/>
              </a:rPr>
              <a:t>thread can</a:t>
            </a:r>
            <a:r>
              <a:rPr sz="1000" dirty="0">
                <a:latin typeface="Arial"/>
                <a:cs typeface="Arial"/>
              </a:rPr>
              <a:t> </a:t>
            </a:r>
            <a:r>
              <a:rPr sz="1000" spc="-10" dirty="0">
                <a:latin typeface="Arial"/>
                <a:cs typeface="Arial"/>
              </a:rPr>
              <a:t>switch</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0000FA"/>
                </a:solidFill>
                <a:latin typeface="Arial"/>
                <a:cs typeface="Arial"/>
              </a:rPr>
              <a:t>any</a:t>
            </a:r>
            <a:r>
              <a:rPr sz="1000" spc="-5" dirty="0">
                <a:solidFill>
                  <a:srgbClr val="0000FA"/>
                </a:solidFill>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runnable </a:t>
            </a:r>
            <a:r>
              <a:rPr sz="1000" dirty="0">
                <a:latin typeface="Arial"/>
                <a:cs typeface="Arial"/>
              </a:rPr>
              <a:t> </a:t>
            </a:r>
            <a:r>
              <a:rPr sz="1000" spc="-5" dirty="0">
                <a:latin typeface="Arial"/>
                <a:cs typeface="Arial"/>
              </a:rPr>
              <a:t>thread</a:t>
            </a:r>
            <a:r>
              <a:rPr sz="1000" spc="-10" dirty="0">
                <a:latin typeface="Arial"/>
                <a:cs typeface="Arial"/>
              </a:rPr>
              <a:t> </a:t>
            </a:r>
            <a:r>
              <a:rPr sz="1000" spc="-5" dirty="0">
                <a:latin typeface="Arial"/>
                <a:cs typeface="Arial"/>
              </a:rPr>
              <a:t>currently in user space.</a:t>
            </a:r>
            <a:endParaRPr sz="1000">
              <a:latin typeface="Arial"/>
              <a:cs typeface="Arial"/>
            </a:endParaRPr>
          </a:p>
        </p:txBody>
      </p:sp>
      <p:sp>
        <p:nvSpPr>
          <p:cNvPr id="7" name="object 7"/>
          <p:cNvSpPr txBox="1"/>
          <p:nvPr/>
        </p:nvSpPr>
        <p:spPr>
          <a:xfrm>
            <a:off x="456704" y="1745747"/>
            <a:ext cx="3803015"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5" dirty="0">
                <a:latin typeface="Arial"/>
                <a:cs typeface="Arial"/>
              </a:rPr>
              <a:t>A</a:t>
            </a:r>
            <a:r>
              <a:rPr sz="1000" dirty="0">
                <a:latin typeface="Arial"/>
                <a:cs typeface="Arial"/>
              </a:rPr>
              <a:t> </a:t>
            </a:r>
            <a:r>
              <a:rPr sz="1000" spc="-10" dirty="0">
                <a:latin typeface="Arial"/>
                <a:cs typeface="Arial"/>
              </a:rPr>
              <a:t>thread</a:t>
            </a:r>
            <a:r>
              <a:rPr sz="1000" spc="-5" dirty="0">
                <a:latin typeface="Arial"/>
                <a:cs typeface="Arial"/>
              </a:rPr>
              <a:t> </a:t>
            </a:r>
            <a:r>
              <a:rPr sz="1000" spc="-10" dirty="0">
                <a:latin typeface="Arial"/>
                <a:cs typeface="Arial"/>
              </a:rPr>
              <a:t>calls</a:t>
            </a:r>
            <a:r>
              <a:rPr sz="1000" dirty="0">
                <a:latin typeface="Arial"/>
                <a:cs typeface="Arial"/>
              </a:rPr>
              <a:t> </a:t>
            </a:r>
            <a:r>
              <a:rPr sz="1000" spc="-15" dirty="0">
                <a:latin typeface="Arial"/>
                <a:cs typeface="Arial"/>
              </a:rPr>
              <a:t>a</a:t>
            </a:r>
            <a:r>
              <a:rPr sz="1000" dirty="0">
                <a:latin typeface="Arial"/>
                <a:cs typeface="Arial"/>
              </a:rPr>
              <a:t> </a:t>
            </a:r>
            <a:r>
              <a:rPr sz="1000" spc="-20" dirty="0">
                <a:latin typeface="Arial"/>
                <a:cs typeface="Arial"/>
              </a:rPr>
              <a:t>blocking</a:t>
            </a:r>
            <a:r>
              <a:rPr sz="1000" dirty="0">
                <a:latin typeface="Arial"/>
                <a:cs typeface="Arial"/>
              </a:rPr>
              <a:t> </a:t>
            </a:r>
            <a:r>
              <a:rPr sz="1000" spc="-20" dirty="0">
                <a:latin typeface="Arial"/>
                <a:cs typeface="Arial"/>
              </a:rPr>
              <a:t>user-level</a:t>
            </a:r>
            <a:r>
              <a:rPr sz="1000" dirty="0">
                <a:latin typeface="Arial"/>
                <a:cs typeface="Arial"/>
              </a:rPr>
              <a:t> </a:t>
            </a:r>
            <a:r>
              <a:rPr sz="1000" spc="-15" dirty="0">
                <a:latin typeface="Arial"/>
                <a:cs typeface="Arial"/>
              </a:rPr>
              <a:t>operation</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5" dirty="0">
                <a:latin typeface="Arial"/>
                <a:cs typeface="Arial"/>
              </a:rPr>
              <a:t>do</a:t>
            </a:r>
            <a:r>
              <a:rPr sz="1000" dirty="0">
                <a:latin typeface="Arial"/>
                <a:cs typeface="Arial"/>
              </a:rPr>
              <a:t> </a:t>
            </a:r>
            <a:r>
              <a:rPr sz="1000" spc="-15" dirty="0">
                <a:latin typeface="Arial"/>
                <a:cs typeface="Arial"/>
              </a:rPr>
              <a:t>context</a:t>
            </a:r>
            <a:r>
              <a:rPr sz="1000" dirty="0">
                <a:latin typeface="Arial"/>
                <a:cs typeface="Arial"/>
              </a:rPr>
              <a:t> </a:t>
            </a:r>
            <a:r>
              <a:rPr sz="1000" spc="-15" dirty="0">
                <a:latin typeface="Arial"/>
                <a:cs typeface="Arial"/>
              </a:rPr>
              <a:t>switch</a:t>
            </a:r>
            <a:endParaRPr sz="1000">
              <a:latin typeface="Arial"/>
              <a:cs typeface="Arial"/>
            </a:endParaRPr>
          </a:p>
        </p:txBody>
      </p:sp>
      <p:sp>
        <p:nvSpPr>
          <p:cNvPr id="8" name="object 8"/>
          <p:cNvSpPr txBox="1"/>
          <p:nvPr/>
        </p:nvSpPr>
        <p:spPr>
          <a:xfrm>
            <a:off x="431304" y="1821656"/>
            <a:ext cx="3872229" cy="633095"/>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to a runnable</a:t>
            </a:r>
            <a:r>
              <a:rPr sz="1000" dirty="0">
                <a:latin typeface="Arial"/>
                <a:cs typeface="Arial"/>
              </a:rPr>
              <a:t> </a:t>
            </a:r>
            <a:r>
              <a:rPr sz="1000" spc="-5" dirty="0">
                <a:latin typeface="Arial"/>
                <a:cs typeface="Arial"/>
              </a:rPr>
              <a:t>thread, (then</a:t>
            </a:r>
            <a:r>
              <a:rPr sz="1000" dirty="0">
                <a:latin typeface="Arial"/>
                <a:cs typeface="Arial"/>
              </a:rPr>
              <a:t> </a:t>
            </a:r>
            <a:r>
              <a:rPr sz="1000" spc="-5" dirty="0">
                <a:latin typeface="Arial"/>
                <a:cs typeface="Arial"/>
              </a:rPr>
              <a:t>bound to</a:t>
            </a:r>
            <a:r>
              <a:rPr sz="1000" dirty="0">
                <a:latin typeface="Arial"/>
                <a:cs typeface="Arial"/>
              </a:rPr>
              <a:t> </a:t>
            </a:r>
            <a:r>
              <a:rPr sz="1000" spc="-5" dirty="0">
                <a:latin typeface="Arial"/>
                <a:cs typeface="Arial"/>
              </a:rPr>
              <a:t>the same</a:t>
            </a:r>
            <a:r>
              <a:rPr sz="1000" dirty="0">
                <a:latin typeface="Arial"/>
                <a:cs typeface="Arial"/>
              </a:rPr>
              <a:t> </a:t>
            </a:r>
            <a:r>
              <a:rPr sz="1000" spc="-20" dirty="0">
                <a:latin typeface="Arial"/>
                <a:cs typeface="Arial"/>
              </a:rPr>
              <a:t>LWP).</a:t>
            </a:r>
            <a:endParaRPr sz="1000">
              <a:latin typeface="Arial"/>
              <a:cs typeface="Arial"/>
            </a:endParaRPr>
          </a:p>
          <a:p>
            <a:pPr marL="205740" marR="30480" indent="-168275">
              <a:lnSpc>
                <a:spcPct val="100000"/>
              </a:lnSpc>
              <a:spcBef>
                <a:spcPts val="590"/>
              </a:spcBef>
              <a:buClr>
                <a:srgbClr val="3333B2"/>
              </a:buClr>
              <a:buChar char="►"/>
              <a:tabLst>
                <a:tab pos="206375" algn="l"/>
              </a:tabLst>
            </a:pPr>
            <a:r>
              <a:rPr sz="1000" spc="-10" dirty="0">
                <a:latin typeface="Arial"/>
                <a:cs typeface="Arial"/>
              </a:rPr>
              <a:t>When</a:t>
            </a:r>
            <a:r>
              <a:rPr sz="1000" dirty="0">
                <a:latin typeface="Arial"/>
                <a:cs typeface="Arial"/>
              </a:rPr>
              <a:t> </a:t>
            </a:r>
            <a:r>
              <a:rPr sz="1000" spc="-10" dirty="0">
                <a:latin typeface="Arial"/>
                <a:cs typeface="Arial"/>
              </a:rPr>
              <a:t>there</a:t>
            </a:r>
            <a:r>
              <a:rPr sz="1000" dirty="0">
                <a:latin typeface="Arial"/>
                <a:cs typeface="Arial"/>
              </a:rPr>
              <a:t> </a:t>
            </a:r>
            <a:r>
              <a:rPr sz="1000" spc="-10" dirty="0">
                <a:latin typeface="Arial"/>
                <a:cs typeface="Arial"/>
              </a:rPr>
              <a:t>are</a:t>
            </a:r>
            <a:r>
              <a:rPr sz="1000" dirty="0">
                <a:latin typeface="Arial"/>
                <a:cs typeface="Arial"/>
              </a:rPr>
              <a:t> </a:t>
            </a:r>
            <a:r>
              <a:rPr sz="1000" spc="-10" dirty="0">
                <a:latin typeface="Arial"/>
                <a:cs typeface="Arial"/>
              </a:rPr>
              <a:t>no</a:t>
            </a:r>
            <a:r>
              <a:rPr sz="1000" dirty="0">
                <a:latin typeface="Arial"/>
                <a:cs typeface="Arial"/>
              </a:rPr>
              <a:t> </a:t>
            </a:r>
            <a:r>
              <a:rPr sz="1000" spc="-10" dirty="0">
                <a:latin typeface="Arial"/>
                <a:cs typeface="Arial"/>
              </a:rPr>
              <a:t>threads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schedule,</a:t>
            </a:r>
            <a:r>
              <a:rPr sz="1000" dirty="0">
                <a:latin typeface="Arial"/>
                <a:cs typeface="Arial"/>
              </a:rPr>
              <a:t> </a:t>
            </a:r>
            <a:r>
              <a:rPr sz="1000" spc="-10" dirty="0">
                <a:latin typeface="Arial"/>
                <a:cs typeface="Arial"/>
              </a:rPr>
              <a:t>an</a:t>
            </a:r>
            <a:r>
              <a:rPr sz="1000" dirty="0">
                <a:latin typeface="Arial"/>
                <a:cs typeface="Arial"/>
              </a:rPr>
              <a:t> </a:t>
            </a:r>
            <a:r>
              <a:rPr sz="1000" spc="-35" dirty="0">
                <a:latin typeface="Arial"/>
                <a:cs typeface="Arial"/>
              </a:rPr>
              <a:t>LWP</a:t>
            </a:r>
            <a:r>
              <a:rPr sz="1000" dirty="0">
                <a:latin typeface="Arial"/>
                <a:cs typeface="Arial"/>
              </a:rPr>
              <a:t> </a:t>
            </a:r>
            <a:r>
              <a:rPr sz="1000" spc="-20" dirty="0">
                <a:latin typeface="Arial"/>
                <a:cs typeface="Arial"/>
              </a:rPr>
              <a:t>may</a:t>
            </a:r>
            <a:r>
              <a:rPr sz="1000" spc="5" dirty="0">
                <a:latin typeface="Arial"/>
                <a:cs typeface="Arial"/>
              </a:rPr>
              <a:t> </a:t>
            </a:r>
            <a:r>
              <a:rPr sz="1000" spc="-10" dirty="0">
                <a:latin typeface="Arial"/>
                <a:cs typeface="Arial"/>
              </a:rPr>
              <a:t>remain</a:t>
            </a:r>
            <a:r>
              <a:rPr sz="1000" dirty="0">
                <a:latin typeface="Arial"/>
                <a:cs typeface="Arial"/>
              </a:rPr>
              <a:t> </a:t>
            </a:r>
            <a:r>
              <a:rPr sz="1000" spc="-10" dirty="0">
                <a:latin typeface="Arial"/>
                <a:cs typeface="Arial"/>
              </a:rPr>
              <a:t>idle, </a:t>
            </a:r>
            <a:r>
              <a:rPr sz="1000" spc="-265" dirty="0">
                <a:latin typeface="Arial"/>
                <a:cs typeface="Arial"/>
              </a:rPr>
              <a:t> </a:t>
            </a:r>
            <a:r>
              <a:rPr sz="1000" spc="-5" dirty="0">
                <a:latin typeface="Arial"/>
                <a:cs typeface="Arial"/>
              </a:rPr>
              <a:t>and </a:t>
            </a:r>
            <a:r>
              <a:rPr sz="1000" spc="-15" dirty="0">
                <a:latin typeface="Arial"/>
                <a:cs typeface="Arial"/>
              </a:rPr>
              <a:t>may</a:t>
            </a:r>
            <a:r>
              <a:rPr sz="1000" spc="-5" dirty="0">
                <a:latin typeface="Arial"/>
                <a:cs typeface="Arial"/>
              </a:rPr>
              <a:t> </a:t>
            </a:r>
            <a:r>
              <a:rPr sz="1000" spc="-20" dirty="0">
                <a:latin typeface="Arial"/>
                <a:cs typeface="Arial"/>
              </a:rPr>
              <a:t>even</a:t>
            </a:r>
            <a:r>
              <a:rPr sz="1000" spc="-5" dirty="0">
                <a:latin typeface="Arial"/>
                <a:cs typeface="Arial"/>
              </a:rPr>
              <a:t> be </a:t>
            </a:r>
            <a:r>
              <a:rPr sz="1000" spc="-10" dirty="0">
                <a:latin typeface="Arial"/>
                <a:cs typeface="Arial"/>
              </a:rPr>
              <a:t>removed</a:t>
            </a:r>
            <a:r>
              <a:rPr sz="1000" dirty="0">
                <a:latin typeface="Arial"/>
                <a:cs typeface="Arial"/>
              </a:rPr>
              <a:t> </a:t>
            </a:r>
            <a:r>
              <a:rPr sz="1000" spc="-10" dirty="0">
                <a:latin typeface="Arial"/>
                <a:cs typeface="Arial"/>
              </a:rPr>
              <a:t>(destroyed)</a:t>
            </a:r>
            <a:r>
              <a:rPr sz="1000" spc="-5" dirty="0">
                <a:latin typeface="Arial"/>
                <a:cs typeface="Arial"/>
              </a:rPr>
              <a:t> </a:t>
            </a:r>
            <a:r>
              <a:rPr sz="1000" spc="-15" dirty="0">
                <a:latin typeface="Arial"/>
                <a:cs typeface="Arial"/>
              </a:rPr>
              <a:t>by</a:t>
            </a:r>
            <a:r>
              <a:rPr sz="1000" spc="-5" dirty="0">
                <a:latin typeface="Arial"/>
                <a:cs typeface="Arial"/>
              </a:rPr>
              <a:t> the kernel.</a:t>
            </a:r>
            <a:endParaRPr sz="1000">
              <a:latin typeface="Arial"/>
              <a:cs typeface="Arial"/>
            </a:endParaRP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0" name="object 10"/>
          <p:cNvSpPr txBox="1"/>
          <p:nvPr/>
        </p:nvSpPr>
        <p:spPr>
          <a:xfrm>
            <a:off x="66713" y="3331252"/>
            <a:ext cx="80200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Thread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implementation</a:t>
            </a:r>
            <a:endParaRPr sz="600">
              <a:latin typeface="Arial"/>
              <a:cs typeface="Arial"/>
            </a:endParaRPr>
          </a:p>
        </p:txBody>
      </p:sp>
      <p:sp>
        <p:nvSpPr>
          <p:cNvPr id="11" name="object 11"/>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Threads</a:t>
            </a:r>
            <a:endParaRPr sz="600">
              <a:latin typeface="Arial"/>
              <a:cs typeface="Arial"/>
            </a:endParaRPr>
          </a:p>
        </p:txBody>
      </p:sp>
      <p:sp>
        <p:nvSpPr>
          <p:cNvPr id="3" name="object 3"/>
          <p:cNvSpPr txBox="1"/>
          <p:nvPr/>
        </p:nvSpPr>
        <p:spPr>
          <a:xfrm>
            <a:off x="3760546" y="716"/>
            <a:ext cx="7810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Introduction</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to</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threads</a:t>
            </a:r>
            <a:endParaRPr sz="600">
              <a:latin typeface="Arial"/>
              <a:cs typeface="Arial"/>
            </a:endParaRPr>
          </a:p>
        </p:txBody>
      </p:sp>
      <p:sp>
        <p:nvSpPr>
          <p:cNvPr id="4" name="object 4"/>
          <p:cNvSpPr txBox="1"/>
          <p:nvPr/>
        </p:nvSpPr>
        <p:spPr>
          <a:xfrm>
            <a:off x="95300" y="188846"/>
            <a:ext cx="1826260" cy="572770"/>
          </a:xfrm>
          <a:prstGeom prst="rect">
            <a:avLst/>
          </a:prstGeom>
        </p:spPr>
        <p:txBody>
          <a:bodyPr vert="horz" wrap="square" lIns="0" tIns="17145" rIns="0" bIns="0" rtlCol="0">
            <a:spAutoFit/>
          </a:bodyPr>
          <a:lstStyle/>
          <a:p>
            <a:pPr algn="ctr">
              <a:lnSpc>
                <a:spcPct val="100000"/>
              </a:lnSpc>
              <a:spcBef>
                <a:spcPts val="135"/>
              </a:spcBef>
            </a:pPr>
            <a:r>
              <a:rPr sz="1400" spc="10" dirty="0">
                <a:solidFill>
                  <a:srgbClr val="3333B2"/>
                </a:solidFill>
                <a:latin typeface="Arial"/>
                <a:cs typeface="Arial"/>
              </a:rPr>
              <a:t>Lightweight</a:t>
            </a:r>
            <a:r>
              <a:rPr sz="1400" spc="-15" dirty="0">
                <a:solidFill>
                  <a:srgbClr val="3333B2"/>
                </a:solidFill>
                <a:latin typeface="Arial"/>
                <a:cs typeface="Arial"/>
              </a:rPr>
              <a:t> </a:t>
            </a:r>
            <a:r>
              <a:rPr sz="1400" spc="15" dirty="0">
                <a:solidFill>
                  <a:srgbClr val="3333B2"/>
                </a:solidFill>
                <a:latin typeface="Arial"/>
                <a:cs typeface="Arial"/>
              </a:rPr>
              <a:t>processes</a:t>
            </a:r>
            <a:endParaRPr sz="1400" dirty="0">
              <a:latin typeface="Arial"/>
              <a:cs typeface="Arial"/>
            </a:endParaRPr>
          </a:p>
          <a:p>
            <a:pPr marR="30480" algn="ctr">
              <a:lnSpc>
                <a:spcPct val="100000"/>
              </a:lnSpc>
              <a:spcBef>
                <a:spcPts val="1155"/>
              </a:spcBef>
            </a:pPr>
            <a:r>
              <a:rPr sz="1200" spc="-5" dirty="0">
                <a:solidFill>
                  <a:srgbClr val="3333B2"/>
                </a:solidFill>
                <a:latin typeface="Arial"/>
                <a:cs typeface="Arial"/>
              </a:rPr>
              <a:t>Principle</a:t>
            </a:r>
            <a:r>
              <a:rPr sz="1200" spc="-30" dirty="0">
                <a:solidFill>
                  <a:srgbClr val="3333B2"/>
                </a:solidFill>
                <a:latin typeface="Arial"/>
                <a:cs typeface="Arial"/>
              </a:rPr>
              <a:t> </a:t>
            </a:r>
            <a:r>
              <a:rPr sz="1200" spc="-5" dirty="0">
                <a:solidFill>
                  <a:srgbClr val="3333B2"/>
                </a:solidFill>
                <a:latin typeface="Arial"/>
                <a:cs typeface="Arial"/>
              </a:rPr>
              <a:t>operation</a:t>
            </a:r>
            <a:endParaRPr sz="1200" dirty="0">
              <a:latin typeface="Arial"/>
              <a:cs typeface="Arial"/>
            </a:endParaRPr>
          </a:p>
        </p:txBody>
      </p:sp>
      <p:sp>
        <p:nvSpPr>
          <p:cNvPr id="5" name="object 5"/>
          <p:cNvSpPr txBox="1"/>
          <p:nvPr/>
        </p:nvSpPr>
        <p:spPr>
          <a:xfrm>
            <a:off x="456704" y="834763"/>
            <a:ext cx="3735070"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0" dirty="0">
                <a:latin typeface="Arial"/>
                <a:cs typeface="Arial"/>
              </a:rPr>
              <a:t>User-level</a:t>
            </a:r>
            <a:r>
              <a:rPr sz="1000" spc="-5" dirty="0">
                <a:latin typeface="Arial"/>
                <a:cs typeface="Arial"/>
              </a:rPr>
              <a:t> thread</a:t>
            </a:r>
            <a:r>
              <a:rPr sz="1000" dirty="0">
                <a:latin typeface="Arial"/>
                <a:cs typeface="Arial"/>
              </a:rPr>
              <a:t> </a:t>
            </a:r>
            <a:r>
              <a:rPr sz="1000" spc="-5" dirty="0">
                <a:latin typeface="Arial"/>
                <a:cs typeface="Arial"/>
              </a:rPr>
              <a:t>does</a:t>
            </a:r>
            <a:r>
              <a:rPr sz="1000"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FA0000"/>
                </a:solidFill>
                <a:latin typeface="Arial"/>
                <a:cs typeface="Arial"/>
              </a:rPr>
              <a:t>the</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5" dirty="0">
                <a:solidFill>
                  <a:srgbClr val="FA0000"/>
                </a:solidFill>
                <a:latin typeface="Arial"/>
                <a:cs typeface="Arial"/>
              </a:rPr>
              <a:t>that is</a:t>
            </a:r>
            <a:r>
              <a:rPr sz="1000" dirty="0">
                <a:solidFill>
                  <a:srgbClr val="FA0000"/>
                </a:solidFill>
                <a:latin typeface="Arial"/>
                <a:cs typeface="Arial"/>
              </a:rPr>
              <a:t> </a:t>
            </a:r>
            <a:r>
              <a:rPr sz="1000" spc="-10" dirty="0">
                <a:solidFill>
                  <a:srgbClr val="FA0000"/>
                </a:solidFill>
                <a:latin typeface="Arial"/>
                <a:cs typeface="Arial"/>
              </a:rPr>
              <a:t>executing</a:t>
            </a:r>
            <a:endParaRPr sz="1000" dirty="0">
              <a:latin typeface="Arial"/>
              <a:cs typeface="Arial"/>
            </a:endParaRPr>
          </a:p>
        </p:txBody>
      </p:sp>
      <p:sp>
        <p:nvSpPr>
          <p:cNvPr id="6" name="object 6"/>
          <p:cNvSpPr txBox="1"/>
          <p:nvPr/>
        </p:nvSpPr>
        <p:spPr>
          <a:xfrm>
            <a:off x="431304" y="910672"/>
            <a:ext cx="3819525" cy="784860"/>
          </a:xfrm>
          <a:prstGeom prst="rect">
            <a:avLst/>
          </a:prstGeom>
        </p:spPr>
        <p:txBody>
          <a:bodyPr vert="horz" wrap="square" lIns="0" tIns="88265" rIns="0" bIns="0" rtlCol="0">
            <a:spAutoFit/>
          </a:bodyPr>
          <a:lstStyle/>
          <a:p>
            <a:pPr marL="205740">
              <a:lnSpc>
                <a:spcPct val="100000"/>
              </a:lnSpc>
              <a:spcBef>
                <a:spcPts val="695"/>
              </a:spcBef>
            </a:pPr>
            <a:r>
              <a:rPr sz="1000" spc="-5" dirty="0">
                <a:solidFill>
                  <a:srgbClr val="FA0000"/>
                </a:solidFill>
                <a:latin typeface="Arial"/>
                <a:cs typeface="Arial"/>
              </a:rPr>
              <a:t>that thread,</a:t>
            </a:r>
            <a:r>
              <a:rPr sz="1000" dirty="0">
                <a:solidFill>
                  <a:srgbClr val="FA0000"/>
                </a:solidFill>
                <a:latin typeface="Arial"/>
                <a:cs typeface="Arial"/>
              </a:rPr>
              <a:t> </a:t>
            </a:r>
            <a:r>
              <a:rPr sz="1000" spc="-10" dirty="0">
                <a:solidFill>
                  <a:srgbClr val="FA0000"/>
                </a:solidFill>
                <a:latin typeface="Arial"/>
                <a:cs typeface="Arial"/>
              </a:rPr>
              <a:t>blocks</a:t>
            </a:r>
            <a:r>
              <a:rPr sz="1000" spc="-10" dirty="0">
                <a:latin typeface="Arial"/>
                <a:cs typeface="Arial"/>
              </a:rPr>
              <a:t>.</a:t>
            </a:r>
            <a:r>
              <a:rPr sz="1000" spc="65" dirty="0">
                <a:latin typeface="Arial"/>
                <a:cs typeface="Arial"/>
              </a:rPr>
              <a:t> </a:t>
            </a:r>
            <a:r>
              <a:rPr sz="1000" spc="-5" dirty="0">
                <a:latin typeface="Arial"/>
                <a:cs typeface="Arial"/>
              </a:rPr>
              <a:t>The thread</a:t>
            </a:r>
            <a:r>
              <a:rPr sz="1000" dirty="0">
                <a:latin typeface="Arial"/>
                <a:cs typeface="Arial"/>
              </a:rPr>
              <a:t> </a:t>
            </a:r>
            <a:r>
              <a:rPr sz="1000" spc="-5" dirty="0">
                <a:latin typeface="Arial"/>
                <a:cs typeface="Arial"/>
              </a:rPr>
              <a:t>remains</a:t>
            </a:r>
            <a:r>
              <a:rPr sz="1000" dirty="0">
                <a:latin typeface="Arial"/>
                <a:cs typeface="Arial"/>
              </a:rPr>
              <a:t> </a:t>
            </a:r>
            <a:r>
              <a:rPr sz="1000" spc="-5" dirty="0">
                <a:solidFill>
                  <a:srgbClr val="0000FA"/>
                </a:solidFill>
                <a:latin typeface="Arial"/>
                <a:cs typeface="Arial"/>
              </a:rPr>
              <a:t>bound </a:t>
            </a:r>
            <a:r>
              <a:rPr sz="1000" spc="-5" dirty="0">
                <a:latin typeface="Arial"/>
                <a:cs typeface="Arial"/>
              </a:rPr>
              <a:t>to</a:t>
            </a:r>
            <a:r>
              <a:rPr sz="1000" dirty="0">
                <a:latin typeface="Arial"/>
                <a:cs typeface="Arial"/>
              </a:rPr>
              <a:t> </a:t>
            </a:r>
            <a:r>
              <a:rPr sz="1000" spc="-5" dirty="0">
                <a:latin typeface="Arial"/>
                <a:cs typeface="Arial"/>
              </a:rPr>
              <a:t>the</a:t>
            </a:r>
            <a:r>
              <a:rPr sz="1000" dirty="0">
                <a:latin typeface="Arial"/>
                <a:cs typeface="Arial"/>
              </a:rPr>
              <a:t> </a:t>
            </a:r>
            <a:r>
              <a:rPr sz="1000" spc="-65" dirty="0">
                <a:latin typeface="Arial"/>
                <a:cs typeface="Arial"/>
              </a:rPr>
              <a:t>LWP.</a:t>
            </a:r>
            <a:endParaRPr sz="1000" dirty="0">
              <a:latin typeface="Arial"/>
              <a:cs typeface="Arial"/>
            </a:endParaRPr>
          </a:p>
          <a:p>
            <a:pPr marL="205740" marR="30480" indent="-168275">
              <a:lnSpc>
                <a:spcPct val="100000"/>
              </a:lnSpc>
              <a:spcBef>
                <a:spcPts val="590"/>
              </a:spcBef>
              <a:buClr>
                <a:srgbClr val="3333B2"/>
              </a:buClr>
              <a:buChar char="►"/>
              <a:tabLst>
                <a:tab pos="206375" algn="l"/>
              </a:tabLst>
            </a:pPr>
            <a:r>
              <a:rPr sz="1000" spc="-5" dirty="0">
                <a:latin typeface="Arial"/>
                <a:cs typeface="Arial"/>
              </a:rPr>
              <a:t>The</a:t>
            </a:r>
            <a:r>
              <a:rPr sz="1000" dirty="0">
                <a:latin typeface="Arial"/>
                <a:cs typeface="Arial"/>
              </a:rPr>
              <a:t> </a:t>
            </a:r>
            <a:r>
              <a:rPr sz="1000" spc="-5" dirty="0">
                <a:latin typeface="Arial"/>
                <a:cs typeface="Arial"/>
              </a:rPr>
              <a:t>kernel</a:t>
            </a:r>
            <a:r>
              <a:rPr sz="1000" dirty="0">
                <a:latin typeface="Arial"/>
                <a:cs typeface="Arial"/>
              </a:rPr>
              <a:t> </a:t>
            </a:r>
            <a:r>
              <a:rPr sz="1000" spc="-5" dirty="0">
                <a:latin typeface="Arial"/>
                <a:cs typeface="Arial"/>
              </a:rPr>
              <a:t>can</a:t>
            </a:r>
            <a:r>
              <a:rPr sz="1000" dirty="0">
                <a:latin typeface="Arial"/>
                <a:cs typeface="Arial"/>
              </a:rPr>
              <a:t> </a:t>
            </a:r>
            <a:r>
              <a:rPr sz="1000" spc="-5" dirty="0">
                <a:solidFill>
                  <a:srgbClr val="FA0000"/>
                </a:solidFill>
                <a:latin typeface="Arial"/>
                <a:cs typeface="Arial"/>
              </a:rPr>
              <a:t>schedule</a:t>
            </a:r>
            <a:r>
              <a:rPr sz="1000" spc="5" dirty="0">
                <a:solidFill>
                  <a:srgbClr val="FA0000"/>
                </a:solidFill>
                <a:latin typeface="Arial"/>
                <a:cs typeface="Arial"/>
              </a:rPr>
              <a:t> </a:t>
            </a:r>
            <a:r>
              <a:rPr sz="1000" spc="-5" dirty="0">
                <a:solidFill>
                  <a:srgbClr val="FA0000"/>
                </a:solidFill>
                <a:latin typeface="Arial"/>
                <a:cs typeface="Arial"/>
              </a:rPr>
              <a:t>another</a:t>
            </a:r>
            <a:r>
              <a:rPr sz="1000" dirty="0">
                <a:solidFill>
                  <a:srgbClr val="FA0000"/>
                </a:solidFill>
                <a:latin typeface="Arial"/>
                <a:cs typeface="Arial"/>
              </a:rPr>
              <a:t> </a:t>
            </a:r>
            <a:r>
              <a:rPr sz="1000" spc="-30" dirty="0">
                <a:solidFill>
                  <a:srgbClr val="FA0000"/>
                </a:solidFill>
                <a:latin typeface="Arial"/>
                <a:cs typeface="Arial"/>
              </a:rPr>
              <a:t>LWP</a:t>
            </a:r>
            <a:r>
              <a:rPr sz="1000" dirty="0">
                <a:solidFill>
                  <a:srgbClr val="FA0000"/>
                </a:solidFill>
                <a:latin typeface="Arial"/>
                <a:cs typeface="Arial"/>
              </a:rPr>
              <a:t> </a:t>
            </a:r>
            <a:r>
              <a:rPr sz="1000" spc="-10" dirty="0">
                <a:solidFill>
                  <a:srgbClr val="FA0000"/>
                </a:solidFill>
                <a:latin typeface="Arial"/>
                <a:cs typeface="Arial"/>
              </a:rPr>
              <a:t>having</a:t>
            </a:r>
            <a:r>
              <a:rPr sz="1000" dirty="0">
                <a:solidFill>
                  <a:srgbClr val="FA0000"/>
                </a:solidFill>
                <a:latin typeface="Arial"/>
                <a:cs typeface="Arial"/>
              </a:rPr>
              <a:t> </a:t>
            </a:r>
            <a:r>
              <a:rPr sz="1000" spc="-5" dirty="0">
                <a:solidFill>
                  <a:srgbClr val="FA0000"/>
                </a:solidFill>
                <a:latin typeface="Arial"/>
                <a:cs typeface="Arial"/>
              </a:rPr>
              <a:t>a</a:t>
            </a:r>
            <a:r>
              <a:rPr sz="1000" spc="5" dirty="0">
                <a:solidFill>
                  <a:srgbClr val="FA0000"/>
                </a:solidFill>
                <a:latin typeface="Arial"/>
                <a:cs typeface="Arial"/>
              </a:rPr>
              <a:t> </a:t>
            </a:r>
            <a:r>
              <a:rPr sz="1000" spc="-5" dirty="0">
                <a:solidFill>
                  <a:srgbClr val="FA0000"/>
                </a:solidFill>
                <a:latin typeface="Arial"/>
                <a:cs typeface="Arial"/>
              </a:rPr>
              <a:t>runnable</a:t>
            </a:r>
            <a:r>
              <a:rPr sz="1000" dirty="0">
                <a:solidFill>
                  <a:srgbClr val="FA0000"/>
                </a:solidFill>
                <a:latin typeface="Arial"/>
                <a:cs typeface="Arial"/>
              </a:rPr>
              <a:t> </a:t>
            </a:r>
            <a:r>
              <a:rPr sz="1000" spc="-5" dirty="0">
                <a:solidFill>
                  <a:srgbClr val="FA0000"/>
                </a:solidFill>
                <a:latin typeface="Arial"/>
                <a:cs typeface="Arial"/>
              </a:rPr>
              <a:t>thread </a:t>
            </a:r>
            <a:r>
              <a:rPr sz="1000" spc="-265" dirty="0">
                <a:solidFill>
                  <a:srgbClr val="FA0000"/>
                </a:solidFill>
                <a:latin typeface="Arial"/>
                <a:cs typeface="Arial"/>
              </a:rPr>
              <a:t> </a:t>
            </a:r>
            <a:r>
              <a:rPr sz="1000" spc="-5" dirty="0">
                <a:solidFill>
                  <a:srgbClr val="FA0000"/>
                </a:solidFill>
                <a:latin typeface="Arial"/>
                <a:cs typeface="Arial"/>
              </a:rPr>
              <a:t>bound to</a:t>
            </a:r>
            <a:r>
              <a:rPr sz="1000" dirty="0">
                <a:solidFill>
                  <a:srgbClr val="FA0000"/>
                </a:solidFill>
                <a:latin typeface="Arial"/>
                <a:cs typeface="Arial"/>
              </a:rPr>
              <a:t> </a:t>
            </a:r>
            <a:r>
              <a:rPr sz="1000" spc="-5" dirty="0">
                <a:solidFill>
                  <a:srgbClr val="FA0000"/>
                </a:solidFill>
                <a:latin typeface="Arial"/>
                <a:cs typeface="Arial"/>
              </a:rPr>
              <a:t>it</a:t>
            </a:r>
            <a:r>
              <a:rPr sz="1000" spc="-5" dirty="0">
                <a:latin typeface="Arial"/>
                <a:cs typeface="Arial"/>
              </a:rPr>
              <a:t>.</a:t>
            </a:r>
            <a:r>
              <a:rPr sz="1000" spc="65" dirty="0">
                <a:latin typeface="Arial"/>
                <a:cs typeface="Arial"/>
              </a:rPr>
              <a:t> </a:t>
            </a:r>
            <a:r>
              <a:rPr sz="1000" spc="-5" dirty="0">
                <a:latin typeface="Arial"/>
                <a:cs typeface="Arial"/>
              </a:rPr>
              <a:t>Note:</a:t>
            </a:r>
            <a:r>
              <a:rPr sz="1000" spc="65" dirty="0">
                <a:latin typeface="Arial"/>
                <a:cs typeface="Arial"/>
              </a:rPr>
              <a:t> </a:t>
            </a:r>
            <a:r>
              <a:rPr sz="1000" spc="-5" dirty="0">
                <a:latin typeface="Arial"/>
                <a:cs typeface="Arial"/>
              </a:rPr>
              <a:t>this</a:t>
            </a:r>
            <a:r>
              <a:rPr sz="1000" dirty="0">
                <a:latin typeface="Arial"/>
                <a:cs typeface="Arial"/>
              </a:rPr>
              <a:t> </a:t>
            </a:r>
            <a:r>
              <a:rPr sz="1000" spc="-5" dirty="0">
                <a:latin typeface="Arial"/>
                <a:cs typeface="Arial"/>
              </a:rPr>
              <a:t>thread can</a:t>
            </a:r>
            <a:r>
              <a:rPr sz="1000" dirty="0">
                <a:latin typeface="Arial"/>
                <a:cs typeface="Arial"/>
              </a:rPr>
              <a:t> </a:t>
            </a:r>
            <a:r>
              <a:rPr sz="1000" spc="-10" dirty="0">
                <a:latin typeface="Arial"/>
                <a:cs typeface="Arial"/>
              </a:rPr>
              <a:t>switch</a:t>
            </a:r>
            <a:r>
              <a:rPr sz="1000" dirty="0">
                <a:latin typeface="Arial"/>
                <a:cs typeface="Arial"/>
              </a:rPr>
              <a:t> </a:t>
            </a:r>
            <a:r>
              <a:rPr sz="1000" spc="-5" dirty="0">
                <a:latin typeface="Arial"/>
                <a:cs typeface="Arial"/>
              </a:rPr>
              <a:t>to</a:t>
            </a:r>
            <a:r>
              <a:rPr sz="1000" dirty="0">
                <a:latin typeface="Arial"/>
                <a:cs typeface="Arial"/>
              </a:rPr>
              <a:t> </a:t>
            </a:r>
            <a:r>
              <a:rPr sz="1000" spc="-10" dirty="0">
                <a:solidFill>
                  <a:srgbClr val="0000FA"/>
                </a:solidFill>
                <a:latin typeface="Arial"/>
                <a:cs typeface="Arial"/>
              </a:rPr>
              <a:t>any</a:t>
            </a:r>
            <a:r>
              <a:rPr sz="1000" spc="-5" dirty="0">
                <a:solidFill>
                  <a:srgbClr val="0000FA"/>
                </a:solidFill>
                <a:latin typeface="Arial"/>
                <a:cs typeface="Arial"/>
              </a:rPr>
              <a:t> </a:t>
            </a:r>
            <a:r>
              <a:rPr sz="1000" spc="-5" dirty="0">
                <a:latin typeface="Arial"/>
                <a:cs typeface="Arial"/>
              </a:rPr>
              <a:t>other</a:t>
            </a:r>
            <a:r>
              <a:rPr sz="1000" dirty="0">
                <a:latin typeface="Arial"/>
                <a:cs typeface="Arial"/>
              </a:rPr>
              <a:t> </a:t>
            </a:r>
            <a:r>
              <a:rPr sz="1000" spc="-5" dirty="0">
                <a:latin typeface="Arial"/>
                <a:cs typeface="Arial"/>
              </a:rPr>
              <a:t>runnable </a:t>
            </a:r>
            <a:r>
              <a:rPr sz="1000" dirty="0">
                <a:latin typeface="Arial"/>
                <a:cs typeface="Arial"/>
              </a:rPr>
              <a:t> </a:t>
            </a:r>
            <a:r>
              <a:rPr sz="1000" spc="-5" dirty="0">
                <a:latin typeface="Arial"/>
                <a:cs typeface="Arial"/>
              </a:rPr>
              <a:t>thread</a:t>
            </a:r>
            <a:r>
              <a:rPr sz="1000" spc="-10" dirty="0">
                <a:latin typeface="Arial"/>
                <a:cs typeface="Arial"/>
              </a:rPr>
              <a:t> </a:t>
            </a:r>
            <a:r>
              <a:rPr sz="1000" spc="-5" dirty="0">
                <a:latin typeface="Arial"/>
                <a:cs typeface="Arial"/>
              </a:rPr>
              <a:t>currently in user space.</a:t>
            </a:r>
            <a:endParaRPr sz="1000" dirty="0">
              <a:latin typeface="Arial"/>
              <a:cs typeface="Arial"/>
            </a:endParaRPr>
          </a:p>
        </p:txBody>
      </p:sp>
      <p:sp>
        <p:nvSpPr>
          <p:cNvPr id="7" name="object 7"/>
          <p:cNvSpPr txBox="1"/>
          <p:nvPr/>
        </p:nvSpPr>
        <p:spPr>
          <a:xfrm>
            <a:off x="456704" y="1745747"/>
            <a:ext cx="3803015" cy="177800"/>
          </a:xfrm>
          <a:prstGeom prst="rect">
            <a:avLst/>
          </a:prstGeom>
        </p:spPr>
        <p:txBody>
          <a:bodyPr vert="horz" wrap="square" lIns="0" tIns="12065" rIns="0" bIns="0" rtlCol="0">
            <a:spAutoFit/>
          </a:bodyPr>
          <a:lstStyle/>
          <a:p>
            <a:pPr marL="180340" indent="-168275">
              <a:lnSpc>
                <a:spcPct val="100000"/>
              </a:lnSpc>
              <a:spcBef>
                <a:spcPts val="95"/>
              </a:spcBef>
              <a:buClr>
                <a:srgbClr val="3333B2"/>
              </a:buClr>
              <a:buChar char="►"/>
              <a:tabLst>
                <a:tab pos="180975" algn="l"/>
              </a:tabLst>
            </a:pPr>
            <a:r>
              <a:rPr sz="1000" spc="-15" dirty="0">
                <a:latin typeface="Arial"/>
                <a:cs typeface="Arial"/>
              </a:rPr>
              <a:t>A</a:t>
            </a:r>
            <a:r>
              <a:rPr sz="1000" dirty="0">
                <a:latin typeface="Arial"/>
                <a:cs typeface="Arial"/>
              </a:rPr>
              <a:t> </a:t>
            </a:r>
            <a:r>
              <a:rPr sz="1000" spc="-10" dirty="0">
                <a:latin typeface="Arial"/>
                <a:cs typeface="Arial"/>
              </a:rPr>
              <a:t>thread</a:t>
            </a:r>
            <a:r>
              <a:rPr sz="1000" spc="-5" dirty="0">
                <a:latin typeface="Arial"/>
                <a:cs typeface="Arial"/>
              </a:rPr>
              <a:t> </a:t>
            </a:r>
            <a:r>
              <a:rPr sz="1000" spc="-10" dirty="0">
                <a:latin typeface="Arial"/>
                <a:cs typeface="Arial"/>
              </a:rPr>
              <a:t>calls</a:t>
            </a:r>
            <a:r>
              <a:rPr sz="1000" dirty="0">
                <a:latin typeface="Arial"/>
                <a:cs typeface="Arial"/>
              </a:rPr>
              <a:t> </a:t>
            </a:r>
            <a:r>
              <a:rPr sz="1000" spc="-15" dirty="0">
                <a:latin typeface="Arial"/>
                <a:cs typeface="Arial"/>
              </a:rPr>
              <a:t>a</a:t>
            </a:r>
            <a:r>
              <a:rPr sz="1000" dirty="0">
                <a:latin typeface="Arial"/>
                <a:cs typeface="Arial"/>
              </a:rPr>
              <a:t> </a:t>
            </a:r>
            <a:r>
              <a:rPr sz="1000" spc="-20" dirty="0">
                <a:latin typeface="Arial"/>
                <a:cs typeface="Arial"/>
              </a:rPr>
              <a:t>blocking</a:t>
            </a:r>
            <a:r>
              <a:rPr sz="1000" dirty="0">
                <a:latin typeface="Arial"/>
                <a:cs typeface="Arial"/>
              </a:rPr>
              <a:t> </a:t>
            </a:r>
            <a:r>
              <a:rPr sz="1000" spc="-20" dirty="0">
                <a:latin typeface="Arial"/>
                <a:cs typeface="Arial"/>
              </a:rPr>
              <a:t>user-level</a:t>
            </a:r>
            <a:r>
              <a:rPr sz="1000" dirty="0">
                <a:latin typeface="Arial"/>
                <a:cs typeface="Arial"/>
              </a:rPr>
              <a:t> </a:t>
            </a:r>
            <a:r>
              <a:rPr sz="1000" spc="-15" dirty="0">
                <a:latin typeface="Arial"/>
                <a:cs typeface="Arial"/>
              </a:rPr>
              <a:t>operation</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15" dirty="0">
                <a:latin typeface="Arial"/>
                <a:cs typeface="Arial"/>
              </a:rPr>
              <a:t>do</a:t>
            </a:r>
            <a:r>
              <a:rPr sz="1000" dirty="0">
                <a:latin typeface="Arial"/>
                <a:cs typeface="Arial"/>
              </a:rPr>
              <a:t> </a:t>
            </a:r>
            <a:r>
              <a:rPr sz="1000" spc="-15" dirty="0">
                <a:latin typeface="Arial"/>
                <a:cs typeface="Arial"/>
              </a:rPr>
              <a:t>context</a:t>
            </a:r>
            <a:r>
              <a:rPr sz="1000" dirty="0">
                <a:latin typeface="Arial"/>
                <a:cs typeface="Arial"/>
              </a:rPr>
              <a:t> </a:t>
            </a:r>
            <a:r>
              <a:rPr sz="1000" spc="-15" dirty="0">
                <a:latin typeface="Arial"/>
                <a:cs typeface="Arial"/>
              </a:rPr>
              <a:t>switch</a:t>
            </a:r>
            <a:endParaRPr sz="1000" dirty="0">
              <a:latin typeface="Arial"/>
              <a:cs typeface="Arial"/>
            </a:endParaRPr>
          </a:p>
        </p:txBody>
      </p:sp>
      <p:sp>
        <p:nvSpPr>
          <p:cNvPr id="8" name="object 8"/>
          <p:cNvSpPr txBox="1"/>
          <p:nvPr/>
        </p:nvSpPr>
        <p:spPr>
          <a:xfrm>
            <a:off x="431304" y="1821656"/>
            <a:ext cx="3872229" cy="633095"/>
          </a:xfrm>
          <a:prstGeom prst="rect">
            <a:avLst/>
          </a:prstGeom>
        </p:spPr>
        <p:txBody>
          <a:bodyPr vert="horz" wrap="square" lIns="0" tIns="88265" rIns="0" bIns="0" rtlCol="0">
            <a:spAutoFit/>
          </a:bodyPr>
          <a:lstStyle/>
          <a:p>
            <a:pPr marL="205740">
              <a:lnSpc>
                <a:spcPct val="100000"/>
              </a:lnSpc>
              <a:spcBef>
                <a:spcPts val="695"/>
              </a:spcBef>
            </a:pPr>
            <a:r>
              <a:rPr sz="1000" spc="-5" dirty="0">
                <a:latin typeface="Arial"/>
                <a:cs typeface="Arial"/>
              </a:rPr>
              <a:t>to a runnable</a:t>
            </a:r>
            <a:r>
              <a:rPr sz="1000" dirty="0">
                <a:latin typeface="Arial"/>
                <a:cs typeface="Arial"/>
              </a:rPr>
              <a:t> </a:t>
            </a:r>
            <a:r>
              <a:rPr sz="1000" spc="-5" dirty="0">
                <a:latin typeface="Arial"/>
                <a:cs typeface="Arial"/>
              </a:rPr>
              <a:t>thread, (then</a:t>
            </a:r>
            <a:r>
              <a:rPr sz="1000" dirty="0">
                <a:latin typeface="Arial"/>
                <a:cs typeface="Arial"/>
              </a:rPr>
              <a:t> </a:t>
            </a:r>
            <a:r>
              <a:rPr sz="1000" spc="-5" dirty="0">
                <a:latin typeface="Arial"/>
                <a:cs typeface="Arial"/>
              </a:rPr>
              <a:t>bound to</a:t>
            </a:r>
            <a:r>
              <a:rPr sz="1000" dirty="0">
                <a:latin typeface="Arial"/>
                <a:cs typeface="Arial"/>
              </a:rPr>
              <a:t> </a:t>
            </a:r>
            <a:r>
              <a:rPr sz="1000" spc="-5" dirty="0">
                <a:latin typeface="Arial"/>
                <a:cs typeface="Arial"/>
              </a:rPr>
              <a:t>the same</a:t>
            </a:r>
            <a:r>
              <a:rPr sz="1000" dirty="0">
                <a:latin typeface="Arial"/>
                <a:cs typeface="Arial"/>
              </a:rPr>
              <a:t> </a:t>
            </a:r>
            <a:r>
              <a:rPr sz="1000" spc="-20" dirty="0">
                <a:latin typeface="Arial"/>
                <a:cs typeface="Arial"/>
              </a:rPr>
              <a:t>LWP).</a:t>
            </a:r>
            <a:endParaRPr sz="1000" dirty="0">
              <a:latin typeface="Arial"/>
              <a:cs typeface="Arial"/>
            </a:endParaRPr>
          </a:p>
          <a:p>
            <a:pPr marL="205740" marR="30480" indent="-168275">
              <a:lnSpc>
                <a:spcPct val="100000"/>
              </a:lnSpc>
              <a:spcBef>
                <a:spcPts val="590"/>
              </a:spcBef>
              <a:buClr>
                <a:srgbClr val="3333B2"/>
              </a:buClr>
              <a:buChar char="►"/>
              <a:tabLst>
                <a:tab pos="206375" algn="l"/>
              </a:tabLst>
            </a:pPr>
            <a:r>
              <a:rPr sz="1000" spc="-10" dirty="0">
                <a:latin typeface="Arial"/>
                <a:cs typeface="Arial"/>
              </a:rPr>
              <a:t>When</a:t>
            </a:r>
            <a:r>
              <a:rPr sz="1000" dirty="0">
                <a:latin typeface="Arial"/>
                <a:cs typeface="Arial"/>
              </a:rPr>
              <a:t> </a:t>
            </a:r>
            <a:r>
              <a:rPr sz="1000" spc="-10" dirty="0">
                <a:latin typeface="Arial"/>
                <a:cs typeface="Arial"/>
              </a:rPr>
              <a:t>there</a:t>
            </a:r>
            <a:r>
              <a:rPr sz="1000" dirty="0">
                <a:latin typeface="Arial"/>
                <a:cs typeface="Arial"/>
              </a:rPr>
              <a:t> </a:t>
            </a:r>
            <a:r>
              <a:rPr sz="1000" spc="-10" dirty="0">
                <a:latin typeface="Arial"/>
                <a:cs typeface="Arial"/>
              </a:rPr>
              <a:t>are</a:t>
            </a:r>
            <a:r>
              <a:rPr sz="1000" dirty="0">
                <a:latin typeface="Arial"/>
                <a:cs typeface="Arial"/>
              </a:rPr>
              <a:t> </a:t>
            </a:r>
            <a:r>
              <a:rPr sz="1000" spc="-10" dirty="0">
                <a:latin typeface="Arial"/>
                <a:cs typeface="Arial"/>
              </a:rPr>
              <a:t>no</a:t>
            </a:r>
            <a:r>
              <a:rPr sz="1000" dirty="0">
                <a:latin typeface="Arial"/>
                <a:cs typeface="Arial"/>
              </a:rPr>
              <a:t> </a:t>
            </a:r>
            <a:r>
              <a:rPr sz="1000" spc="-10" dirty="0">
                <a:latin typeface="Arial"/>
                <a:cs typeface="Arial"/>
              </a:rPr>
              <a:t>threads</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schedule,</a:t>
            </a:r>
            <a:r>
              <a:rPr sz="1000" dirty="0">
                <a:latin typeface="Arial"/>
                <a:cs typeface="Arial"/>
              </a:rPr>
              <a:t> </a:t>
            </a:r>
            <a:r>
              <a:rPr sz="1000" spc="-10" dirty="0">
                <a:latin typeface="Arial"/>
                <a:cs typeface="Arial"/>
              </a:rPr>
              <a:t>an</a:t>
            </a:r>
            <a:r>
              <a:rPr sz="1000" dirty="0">
                <a:latin typeface="Arial"/>
                <a:cs typeface="Arial"/>
              </a:rPr>
              <a:t> </a:t>
            </a:r>
            <a:r>
              <a:rPr sz="1000" spc="-35" dirty="0">
                <a:latin typeface="Arial"/>
                <a:cs typeface="Arial"/>
              </a:rPr>
              <a:t>LWP</a:t>
            </a:r>
            <a:r>
              <a:rPr sz="1000" dirty="0">
                <a:latin typeface="Arial"/>
                <a:cs typeface="Arial"/>
              </a:rPr>
              <a:t> </a:t>
            </a:r>
            <a:r>
              <a:rPr sz="1000" spc="-20" dirty="0">
                <a:latin typeface="Arial"/>
                <a:cs typeface="Arial"/>
              </a:rPr>
              <a:t>may</a:t>
            </a:r>
            <a:r>
              <a:rPr sz="1000" spc="5" dirty="0">
                <a:latin typeface="Arial"/>
                <a:cs typeface="Arial"/>
              </a:rPr>
              <a:t> </a:t>
            </a:r>
            <a:r>
              <a:rPr sz="1000" spc="-10" dirty="0">
                <a:latin typeface="Arial"/>
                <a:cs typeface="Arial"/>
              </a:rPr>
              <a:t>remain</a:t>
            </a:r>
            <a:r>
              <a:rPr sz="1000" dirty="0">
                <a:latin typeface="Arial"/>
                <a:cs typeface="Arial"/>
              </a:rPr>
              <a:t> </a:t>
            </a:r>
            <a:r>
              <a:rPr sz="1000" spc="-10" dirty="0">
                <a:latin typeface="Arial"/>
                <a:cs typeface="Arial"/>
              </a:rPr>
              <a:t>idle, </a:t>
            </a:r>
            <a:r>
              <a:rPr sz="1000" spc="-265" dirty="0">
                <a:latin typeface="Arial"/>
                <a:cs typeface="Arial"/>
              </a:rPr>
              <a:t> </a:t>
            </a:r>
            <a:r>
              <a:rPr sz="1000" spc="-5" dirty="0">
                <a:latin typeface="Arial"/>
                <a:cs typeface="Arial"/>
              </a:rPr>
              <a:t>and </a:t>
            </a:r>
            <a:r>
              <a:rPr sz="1000" spc="-15" dirty="0">
                <a:latin typeface="Arial"/>
                <a:cs typeface="Arial"/>
              </a:rPr>
              <a:t>may</a:t>
            </a:r>
            <a:r>
              <a:rPr sz="1000" spc="-5" dirty="0">
                <a:latin typeface="Arial"/>
                <a:cs typeface="Arial"/>
              </a:rPr>
              <a:t> </a:t>
            </a:r>
            <a:r>
              <a:rPr sz="1000" spc="-20" dirty="0">
                <a:latin typeface="Arial"/>
                <a:cs typeface="Arial"/>
              </a:rPr>
              <a:t>even</a:t>
            </a:r>
            <a:r>
              <a:rPr sz="1000" spc="-5" dirty="0">
                <a:latin typeface="Arial"/>
                <a:cs typeface="Arial"/>
              </a:rPr>
              <a:t> be </a:t>
            </a:r>
            <a:r>
              <a:rPr sz="1000" spc="-10" dirty="0">
                <a:latin typeface="Arial"/>
                <a:cs typeface="Arial"/>
              </a:rPr>
              <a:t>removed</a:t>
            </a:r>
            <a:r>
              <a:rPr sz="1000" dirty="0">
                <a:latin typeface="Arial"/>
                <a:cs typeface="Arial"/>
              </a:rPr>
              <a:t> </a:t>
            </a:r>
            <a:r>
              <a:rPr sz="1000" spc="-10" dirty="0">
                <a:latin typeface="Arial"/>
                <a:cs typeface="Arial"/>
              </a:rPr>
              <a:t>(destroyed)</a:t>
            </a:r>
            <a:r>
              <a:rPr sz="1000" spc="-5" dirty="0">
                <a:latin typeface="Arial"/>
                <a:cs typeface="Arial"/>
              </a:rPr>
              <a:t> </a:t>
            </a:r>
            <a:r>
              <a:rPr sz="1000" spc="-15" dirty="0">
                <a:latin typeface="Arial"/>
                <a:cs typeface="Arial"/>
              </a:rPr>
              <a:t>by</a:t>
            </a:r>
            <a:r>
              <a:rPr sz="1000" spc="-5" dirty="0">
                <a:latin typeface="Arial"/>
                <a:cs typeface="Arial"/>
              </a:rPr>
              <a:t> the kernel.</a:t>
            </a:r>
            <a:endParaRPr sz="1000" dirty="0">
              <a:latin typeface="Arial"/>
              <a:cs typeface="Arial"/>
            </a:endParaRPr>
          </a:p>
        </p:txBody>
      </p:sp>
      <p:sp>
        <p:nvSpPr>
          <p:cNvPr id="9" name="object 9"/>
          <p:cNvSpPr txBox="1"/>
          <p:nvPr/>
        </p:nvSpPr>
        <p:spPr>
          <a:xfrm>
            <a:off x="343382" y="2620541"/>
            <a:ext cx="3884929" cy="50482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FA0000"/>
                </a:solidFill>
                <a:latin typeface="Arial"/>
                <a:cs typeface="Arial"/>
              </a:rPr>
              <a:t>Note</a:t>
            </a:r>
            <a:endParaRPr sz="1200" dirty="0">
              <a:latin typeface="Arial"/>
              <a:cs typeface="Arial"/>
            </a:endParaRPr>
          </a:p>
          <a:p>
            <a:pPr marL="16510" marR="5080" indent="-4445">
              <a:lnSpc>
                <a:spcPts val="1200"/>
              </a:lnSpc>
              <a:spcBef>
                <a:spcPts val="10"/>
              </a:spcBef>
            </a:pPr>
            <a:r>
              <a:rPr sz="1000" spc="-5" dirty="0">
                <a:latin typeface="Arial"/>
                <a:cs typeface="Arial"/>
              </a:rPr>
              <a:t>This</a:t>
            </a:r>
            <a:r>
              <a:rPr sz="1000" dirty="0">
                <a:latin typeface="Arial"/>
                <a:cs typeface="Arial"/>
              </a:rPr>
              <a:t> </a:t>
            </a:r>
            <a:r>
              <a:rPr sz="1000" spc="-5" dirty="0">
                <a:latin typeface="Arial"/>
                <a:cs typeface="Arial"/>
              </a:rPr>
              <a:t>concept</a:t>
            </a:r>
            <a:r>
              <a:rPr sz="1000" dirty="0">
                <a:latin typeface="Arial"/>
                <a:cs typeface="Arial"/>
              </a:rPr>
              <a:t> </a:t>
            </a:r>
            <a:r>
              <a:rPr sz="1000" spc="-5" dirty="0">
                <a:latin typeface="Arial"/>
                <a:cs typeface="Arial"/>
              </a:rPr>
              <a:t>has</a:t>
            </a:r>
            <a:r>
              <a:rPr sz="1000" spc="5" dirty="0">
                <a:latin typeface="Arial"/>
                <a:cs typeface="Arial"/>
              </a:rPr>
              <a:t> </a:t>
            </a:r>
            <a:r>
              <a:rPr sz="1000" spc="-5" dirty="0">
                <a:latin typeface="Arial"/>
                <a:cs typeface="Arial"/>
              </a:rPr>
              <a:t>been</a:t>
            </a:r>
            <a:r>
              <a:rPr sz="1000" dirty="0">
                <a:latin typeface="Arial"/>
                <a:cs typeface="Arial"/>
              </a:rPr>
              <a:t> virtually </a:t>
            </a:r>
            <a:r>
              <a:rPr sz="1000" spc="-5" dirty="0">
                <a:latin typeface="Arial"/>
                <a:cs typeface="Arial"/>
              </a:rPr>
              <a:t>abandoned</a:t>
            </a:r>
            <a:r>
              <a:rPr sz="1000" spc="5" dirty="0">
                <a:latin typeface="Arial"/>
                <a:cs typeface="Arial"/>
              </a:rPr>
              <a:t> </a:t>
            </a:r>
            <a:r>
              <a:rPr sz="1000" spc="-5" dirty="0">
                <a:latin typeface="Arial"/>
                <a:cs typeface="Arial"/>
              </a:rPr>
              <a:t>–</a:t>
            </a:r>
            <a:r>
              <a:rPr sz="1000" dirty="0">
                <a:latin typeface="Arial"/>
                <a:cs typeface="Arial"/>
              </a:rPr>
              <a:t> </a:t>
            </a:r>
            <a:r>
              <a:rPr sz="1000" spc="-15" dirty="0">
                <a:latin typeface="Arial"/>
                <a:cs typeface="Arial"/>
              </a:rPr>
              <a:t>it’s</a:t>
            </a:r>
            <a:r>
              <a:rPr sz="1000" dirty="0">
                <a:latin typeface="Arial"/>
                <a:cs typeface="Arial"/>
              </a:rPr>
              <a:t> </a:t>
            </a:r>
            <a:r>
              <a:rPr sz="1000" spc="-5" dirty="0">
                <a:latin typeface="Arial"/>
                <a:cs typeface="Arial"/>
              </a:rPr>
              <a:t>just</a:t>
            </a:r>
            <a:r>
              <a:rPr sz="1000" spc="5" dirty="0">
                <a:latin typeface="Arial"/>
                <a:cs typeface="Arial"/>
              </a:rPr>
              <a:t> </a:t>
            </a:r>
            <a:r>
              <a:rPr sz="1000" spc="-5" dirty="0">
                <a:latin typeface="Arial"/>
                <a:cs typeface="Arial"/>
              </a:rPr>
              <a:t>either</a:t>
            </a:r>
            <a:r>
              <a:rPr sz="1000" dirty="0">
                <a:latin typeface="Arial"/>
                <a:cs typeface="Arial"/>
              </a:rPr>
              <a:t> </a:t>
            </a:r>
            <a:r>
              <a:rPr sz="1000" spc="-10" dirty="0">
                <a:latin typeface="Arial"/>
                <a:cs typeface="Arial"/>
              </a:rPr>
              <a:t>user-level </a:t>
            </a:r>
            <a:r>
              <a:rPr sz="1000" spc="-260" dirty="0">
                <a:latin typeface="Arial"/>
                <a:cs typeface="Arial"/>
              </a:rPr>
              <a:t> </a:t>
            </a:r>
            <a:r>
              <a:rPr sz="1000" spc="-5" dirty="0">
                <a:latin typeface="Arial"/>
                <a:cs typeface="Arial"/>
              </a:rPr>
              <a:t>or</a:t>
            </a:r>
            <a:r>
              <a:rPr sz="1000" spc="-10" dirty="0">
                <a:latin typeface="Arial"/>
                <a:cs typeface="Arial"/>
              </a:rPr>
              <a:t> kernel-level</a:t>
            </a:r>
            <a:r>
              <a:rPr sz="1000" spc="-5" dirty="0">
                <a:latin typeface="Arial"/>
                <a:cs typeface="Arial"/>
              </a:rPr>
              <a:t> threads.</a:t>
            </a:r>
            <a:endParaRPr sz="1000" dirty="0">
              <a:latin typeface="Arial"/>
              <a:cs typeface="Arial"/>
            </a:endParaRPr>
          </a:p>
        </p:txBody>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21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Multithreaded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clients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12</a:t>
            </a:r>
            <a:r>
              <a:rPr spc="-40" dirty="0"/>
              <a:t> </a:t>
            </a:r>
            <a:r>
              <a:rPr spc="-5" dirty="0"/>
              <a:t>/</a:t>
            </a:r>
            <a:r>
              <a:rPr spc="-35" dirty="0"/>
              <a:t> </a:t>
            </a:r>
            <a:r>
              <a:rPr spc="-5" dirty="0"/>
              <a:t>47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32175" algn="l"/>
              </a:tabLst>
            </a:pPr>
            <a:r>
              <a:rPr sz="600" spc="-5" dirty="0">
                <a:solidFill>
                  <a:srgbClr val="3333B2"/>
                </a:solidFill>
                <a:latin typeface="Arial"/>
                <a:cs typeface="Arial"/>
                <a:hlinkClick r:id="rId4"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Threads</a:t>
            </a:r>
            <a:r>
              <a:rPr sz="600" spc="-5" dirty="0">
                <a:solidFill>
                  <a:srgbClr val="3333B2"/>
                </a:solidFill>
                <a:latin typeface="Arial"/>
                <a:cs typeface="Arial"/>
              </a:rPr>
              <a:t>	</a:t>
            </a:r>
            <a:r>
              <a:rPr sz="600" spc="-5" dirty="0">
                <a:solidFill>
                  <a:srgbClr val="262685"/>
                </a:solidFill>
                <a:latin typeface="Arial"/>
                <a:cs typeface="Arial"/>
                <a:hlinkClick r:id="rId3" action="ppaction://hlinksldjump"/>
              </a:rPr>
              <a:t>Threads in</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distributed systems</a:t>
            </a:r>
            <a:endParaRPr sz="600">
              <a:latin typeface="Arial"/>
              <a:cs typeface="Arial"/>
            </a:endParaRPr>
          </a:p>
        </p:txBody>
      </p:sp>
      <p:sp>
        <p:nvSpPr>
          <p:cNvPr id="3" name="object 3"/>
          <p:cNvSpPr txBox="1">
            <a:spLocks noGrp="1"/>
          </p:cNvSpPr>
          <p:nvPr>
            <p:ph type="title"/>
          </p:nvPr>
        </p:nvSpPr>
        <p:spPr>
          <a:xfrm>
            <a:off x="95300" y="188846"/>
            <a:ext cx="2517140" cy="244475"/>
          </a:xfrm>
          <a:prstGeom prst="rect">
            <a:avLst/>
          </a:prstGeom>
        </p:spPr>
        <p:txBody>
          <a:bodyPr vert="horz" wrap="square" lIns="0" tIns="17145" rIns="0" bIns="0" rtlCol="0">
            <a:spAutoFit/>
          </a:bodyPr>
          <a:lstStyle/>
          <a:p>
            <a:pPr marL="12700">
              <a:lnSpc>
                <a:spcPct val="100000"/>
              </a:lnSpc>
              <a:spcBef>
                <a:spcPts val="135"/>
              </a:spcBef>
            </a:pPr>
            <a:r>
              <a:rPr spc="15" dirty="0"/>
              <a:t>Using</a:t>
            </a:r>
            <a:r>
              <a:rPr spc="-5" dirty="0"/>
              <a:t> </a:t>
            </a:r>
            <a:r>
              <a:rPr spc="15" dirty="0"/>
              <a:t>threads</a:t>
            </a:r>
            <a:r>
              <a:rPr spc="-5" dirty="0"/>
              <a:t> </a:t>
            </a:r>
            <a:r>
              <a:rPr spc="10" dirty="0"/>
              <a:t>at</a:t>
            </a:r>
            <a:r>
              <a:rPr spc="-5" dirty="0"/>
              <a:t> </a:t>
            </a:r>
            <a:r>
              <a:rPr spc="15" dirty="0"/>
              <a:t>the</a:t>
            </a:r>
            <a:r>
              <a:rPr dirty="0"/>
              <a:t> </a:t>
            </a:r>
            <a:r>
              <a:rPr spc="10" dirty="0"/>
              <a:t>client</a:t>
            </a:r>
            <a:r>
              <a:rPr spc="-5" dirty="0"/>
              <a:t> </a:t>
            </a:r>
            <a:r>
              <a:rPr spc="15" dirty="0"/>
              <a:t>side</a:t>
            </a:r>
          </a:p>
        </p:txBody>
      </p:sp>
      <p:sp>
        <p:nvSpPr>
          <p:cNvPr id="4" name="object 4"/>
          <p:cNvSpPr txBox="1"/>
          <p:nvPr/>
        </p:nvSpPr>
        <p:spPr>
          <a:xfrm>
            <a:off x="309194" y="574596"/>
            <a:ext cx="3985895" cy="2419985"/>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Multithreaded</a:t>
            </a:r>
            <a:r>
              <a:rPr sz="1200" spc="-20" dirty="0">
                <a:solidFill>
                  <a:srgbClr val="3333B2"/>
                </a:solidFill>
                <a:latin typeface="Arial"/>
                <a:cs typeface="Arial"/>
              </a:rPr>
              <a:t> </a:t>
            </a:r>
            <a:r>
              <a:rPr sz="1200" spc="-10" dirty="0">
                <a:solidFill>
                  <a:srgbClr val="3333B2"/>
                </a:solidFill>
                <a:latin typeface="Arial"/>
                <a:cs typeface="Arial"/>
              </a:rPr>
              <a:t>web</a:t>
            </a:r>
            <a:r>
              <a:rPr sz="1200" spc="-15" dirty="0">
                <a:solidFill>
                  <a:srgbClr val="3333B2"/>
                </a:solidFill>
                <a:latin typeface="Arial"/>
                <a:cs typeface="Arial"/>
              </a:rPr>
              <a:t> </a:t>
            </a:r>
            <a:r>
              <a:rPr sz="1200" spc="-5" dirty="0">
                <a:solidFill>
                  <a:srgbClr val="3333B2"/>
                </a:solidFill>
                <a:latin typeface="Arial"/>
                <a:cs typeface="Arial"/>
              </a:rPr>
              <a:t>client</a:t>
            </a:r>
            <a:endParaRPr sz="1200" dirty="0">
              <a:latin typeface="Arial"/>
              <a:cs typeface="Arial"/>
            </a:endParaRPr>
          </a:p>
          <a:p>
            <a:pPr marL="50800">
              <a:lnSpc>
                <a:spcPts val="1170"/>
              </a:lnSpc>
            </a:pPr>
            <a:r>
              <a:rPr sz="1000" spc="-5" dirty="0">
                <a:latin typeface="Arial"/>
                <a:cs typeface="Arial"/>
              </a:rPr>
              <a:t>Hiding</a:t>
            </a:r>
            <a:r>
              <a:rPr sz="1000" spc="-15" dirty="0">
                <a:latin typeface="Arial"/>
                <a:cs typeface="Arial"/>
              </a:rPr>
              <a:t> </a:t>
            </a:r>
            <a:r>
              <a:rPr sz="1000" spc="-5" dirty="0">
                <a:latin typeface="Arial"/>
                <a:cs typeface="Arial"/>
              </a:rPr>
              <a:t>network</a:t>
            </a:r>
            <a:r>
              <a:rPr sz="1000" spc="-15" dirty="0">
                <a:latin typeface="Arial"/>
                <a:cs typeface="Arial"/>
              </a:rPr>
              <a:t> </a:t>
            </a:r>
            <a:r>
              <a:rPr sz="1000" spc="-5" dirty="0">
                <a:latin typeface="Arial"/>
                <a:cs typeface="Arial"/>
              </a:rPr>
              <a:t>latencies:</a:t>
            </a:r>
            <a:endParaRPr sz="1000" dirty="0">
              <a:latin typeface="Arial"/>
              <a:cs typeface="Arial"/>
            </a:endParaRPr>
          </a:p>
          <a:p>
            <a:pPr marL="327660" marR="39370" indent="-168275">
              <a:lnSpc>
                <a:spcPct val="100000"/>
              </a:lnSpc>
              <a:spcBef>
                <a:spcPts val="590"/>
              </a:spcBef>
              <a:buClr>
                <a:srgbClr val="3333B2"/>
              </a:buClr>
              <a:buChar char="►"/>
              <a:tabLst>
                <a:tab pos="328295" algn="l"/>
              </a:tabLst>
            </a:pPr>
            <a:r>
              <a:rPr sz="1000" spc="-30" dirty="0">
                <a:latin typeface="Arial"/>
                <a:cs typeface="Arial"/>
              </a:rPr>
              <a:t>Web</a:t>
            </a:r>
            <a:r>
              <a:rPr sz="1000" spc="-5" dirty="0">
                <a:latin typeface="Arial"/>
                <a:cs typeface="Arial"/>
              </a:rPr>
              <a:t> </a:t>
            </a:r>
            <a:r>
              <a:rPr sz="1000" spc="-15" dirty="0">
                <a:latin typeface="Arial"/>
                <a:cs typeface="Arial"/>
              </a:rPr>
              <a:t>browser</a:t>
            </a:r>
            <a:r>
              <a:rPr sz="1000" spc="-5" dirty="0">
                <a:latin typeface="Arial"/>
                <a:cs typeface="Arial"/>
              </a:rPr>
              <a:t> </a:t>
            </a:r>
            <a:r>
              <a:rPr sz="1000" spc="-15" dirty="0">
                <a:latin typeface="Arial"/>
                <a:cs typeface="Arial"/>
              </a:rPr>
              <a:t>scans</a:t>
            </a:r>
            <a:r>
              <a:rPr sz="1000" spc="-5" dirty="0">
                <a:latin typeface="Arial"/>
                <a:cs typeface="Arial"/>
              </a:rPr>
              <a:t> </a:t>
            </a:r>
            <a:r>
              <a:rPr sz="1000" spc="-15" dirty="0">
                <a:latin typeface="Arial"/>
                <a:cs typeface="Arial"/>
              </a:rPr>
              <a:t>an</a:t>
            </a:r>
            <a:r>
              <a:rPr sz="1000" spc="-5" dirty="0">
                <a:latin typeface="Arial"/>
                <a:cs typeface="Arial"/>
              </a:rPr>
              <a:t> </a:t>
            </a:r>
            <a:r>
              <a:rPr sz="1000" spc="-15" dirty="0">
                <a:latin typeface="Arial"/>
                <a:cs typeface="Arial"/>
              </a:rPr>
              <a:t>incoming</a:t>
            </a:r>
            <a:r>
              <a:rPr sz="1000" dirty="0">
                <a:latin typeface="Arial"/>
                <a:cs typeface="Arial"/>
              </a:rPr>
              <a:t> </a:t>
            </a:r>
            <a:r>
              <a:rPr sz="1000" spc="-15" dirty="0">
                <a:latin typeface="Arial"/>
                <a:cs typeface="Arial"/>
              </a:rPr>
              <a:t>HTML</a:t>
            </a:r>
            <a:r>
              <a:rPr sz="1000" spc="-5" dirty="0">
                <a:latin typeface="Arial"/>
                <a:cs typeface="Arial"/>
              </a:rPr>
              <a:t> </a:t>
            </a:r>
            <a:r>
              <a:rPr sz="1000" spc="-15" dirty="0">
                <a:latin typeface="Arial"/>
                <a:cs typeface="Arial"/>
              </a:rPr>
              <a:t>page,</a:t>
            </a:r>
            <a:r>
              <a:rPr sz="1000" spc="-5" dirty="0">
                <a:latin typeface="Arial"/>
                <a:cs typeface="Arial"/>
              </a:rPr>
              <a:t> </a:t>
            </a:r>
            <a:r>
              <a:rPr sz="1000" spc="-15" dirty="0">
                <a:latin typeface="Arial"/>
                <a:cs typeface="Arial"/>
              </a:rPr>
              <a:t>and</a:t>
            </a:r>
            <a:r>
              <a:rPr sz="1000" spc="-5" dirty="0">
                <a:latin typeface="Arial"/>
                <a:cs typeface="Arial"/>
              </a:rPr>
              <a:t> </a:t>
            </a:r>
            <a:r>
              <a:rPr sz="1000" spc="-10" dirty="0">
                <a:latin typeface="Arial"/>
                <a:cs typeface="Arial"/>
              </a:rPr>
              <a:t>finds</a:t>
            </a:r>
            <a:r>
              <a:rPr sz="1000" spc="5" dirty="0">
                <a:latin typeface="Arial"/>
                <a:cs typeface="Arial"/>
              </a:rPr>
              <a:t> </a:t>
            </a:r>
            <a:r>
              <a:rPr sz="1000" spc="-10" dirty="0">
                <a:latin typeface="Arial"/>
                <a:cs typeface="Arial"/>
              </a:rPr>
              <a:t>that</a:t>
            </a:r>
            <a:r>
              <a:rPr sz="1000" spc="-5" dirty="0">
                <a:latin typeface="Arial"/>
                <a:cs typeface="Arial"/>
              </a:rPr>
              <a:t> </a:t>
            </a:r>
            <a:r>
              <a:rPr sz="1000" spc="-15" dirty="0">
                <a:solidFill>
                  <a:srgbClr val="0000FA"/>
                </a:solidFill>
                <a:latin typeface="Arial"/>
                <a:cs typeface="Arial"/>
              </a:rPr>
              <a:t>more </a:t>
            </a:r>
            <a:r>
              <a:rPr sz="1000" spc="-265" dirty="0">
                <a:solidFill>
                  <a:srgbClr val="0000FA"/>
                </a:solidFill>
                <a:latin typeface="Arial"/>
                <a:cs typeface="Arial"/>
              </a:rPr>
              <a:t> </a:t>
            </a:r>
            <a:r>
              <a:rPr sz="1000" spc="-5" dirty="0">
                <a:solidFill>
                  <a:srgbClr val="0000FA"/>
                </a:solidFill>
                <a:latin typeface="Arial"/>
                <a:cs typeface="Arial"/>
              </a:rPr>
              <a:t>files</a:t>
            </a:r>
            <a:r>
              <a:rPr sz="1000" spc="-10" dirty="0">
                <a:solidFill>
                  <a:srgbClr val="0000FA"/>
                </a:solidFill>
                <a:latin typeface="Arial"/>
                <a:cs typeface="Arial"/>
              </a:rPr>
              <a:t> </a:t>
            </a:r>
            <a:r>
              <a:rPr sz="1000" spc="-5" dirty="0">
                <a:solidFill>
                  <a:srgbClr val="0000FA"/>
                </a:solidFill>
                <a:latin typeface="Arial"/>
                <a:cs typeface="Arial"/>
              </a:rPr>
              <a:t>need to be </a:t>
            </a:r>
            <a:r>
              <a:rPr sz="1000" spc="-10" dirty="0">
                <a:solidFill>
                  <a:srgbClr val="0000FA"/>
                </a:solidFill>
                <a:latin typeface="Arial"/>
                <a:cs typeface="Arial"/>
              </a:rPr>
              <a:t>fetched</a:t>
            </a:r>
            <a:r>
              <a:rPr sz="1000" spc="-10" dirty="0">
                <a:latin typeface="Arial"/>
                <a:cs typeface="Arial"/>
              </a:rPr>
              <a:t>.</a:t>
            </a:r>
            <a:endParaRPr sz="1000" dirty="0">
              <a:latin typeface="Arial"/>
              <a:cs typeface="Arial"/>
            </a:endParaRPr>
          </a:p>
          <a:p>
            <a:pPr marL="327660" marR="30480" indent="-168275">
              <a:lnSpc>
                <a:spcPts val="1200"/>
              </a:lnSpc>
              <a:spcBef>
                <a:spcPts val="35"/>
              </a:spcBef>
              <a:buClr>
                <a:srgbClr val="3333B2"/>
              </a:buClr>
              <a:buChar char="►"/>
              <a:tabLst>
                <a:tab pos="328295" algn="l"/>
              </a:tabLst>
            </a:pPr>
            <a:r>
              <a:rPr sz="1000" spc="-5" dirty="0">
                <a:solidFill>
                  <a:srgbClr val="0000FA"/>
                </a:solidFill>
                <a:latin typeface="Arial"/>
                <a:cs typeface="Arial"/>
              </a:rPr>
              <a:t>Each file</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10" dirty="0">
                <a:solidFill>
                  <a:srgbClr val="0000FA"/>
                </a:solidFill>
                <a:latin typeface="Arial"/>
                <a:cs typeface="Arial"/>
              </a:rPr>
              <a:t>fetched</a:t>
            </a:r>
            <a:r>
              <a:rPr sz="1000" dirty="0">
                <a:solidFill>
                  <a:srgbClr val="0000FA"/>
                </a:solidFill>
                <a:latin typeface="Arial"/>
                <a:cs typeface="Arial"/>
              </a:rPr>
              <a:t> </a:t>
            </a:r>
            <a:r>
              <a:rPr sz="1000" spc="-15" dirty="0">
                <a:solidFill>
                  <a:srgbClr val="0000FA"/>
                </a:solidFill>
                <a:latin typeface="Arial"/>
                <a:cs typeface="Arial"/>
              </a:rPr>
              <a:t>by</a:t>
            </a:r>
            <a:r>
              <a:rPr sz="1000" dirty="0">
                <a:solidFill>
                  <a:srgbClr val="0000FA"/>
                </a:solidFill>
                <a:latin typeface="Arial"/>
                <a:cs typeface="Arial"/>
              </a:rPr>
              <a:t> </a:t>
            </a:r>
            <a:r>
              <a:rPr sz="1000" spc="-5" dirty="0">
                <a:solidFill>
                  <a:srgbClr val="0000FA"/>
                </a:solidFill>
                <a:latin typeface="Arial"/>
                <a:cs typeface="Arial"/>
              </a:rPr>
              <a:t>a</a:t>
            </a:r>
            <a:r>
              <a:rPr sz="1000" dirty="0">
                <a:solidFill>
                  <a:srgbClr val="0000FA"/>
                </a:solidFill>
                <a:latin typeface="Arial"/>
                <a:cs typeface="Arial"/>
              </a:rPr>
              <a:t> </a:t>
            </a:r>
            <a:r>
              <a:rPr sz="1000" spc="-5" dirty="0">
                <a:solidFill>
                  <a:srgbClr val="0000FA"/>
                </a:solidFill>
                <a:latin typeface="Arial"/>
                <a:cs typeface="Arial"/>
              </a:rPr>
              <a:t>separate</a:t>
            </a:r>
            <a:r>
              <a:rPr sz="1000" dirty="0">
                <a:solidFill>
                  <a:srgbClr val="0000FA"/>
                </a:solidFill>
                <a:latin typeface="Arial"/>
                <a:cs typeface="Arial"/>
              </a:rPr>
              <a:t> </a:t>
            </a:r>
            <a:r>
              <a:rPr sz="1000" spc="-5" dirty="0">
                <a:solidFill>
                  <a:srgbClr val="0000FA"/>
                </a:solidFill>
                <a:latin typeface="Arial"/>
                <a:cs typeface="Arial"/>
              </a:rPr>
              <a:t>thread</a:t>
            </a:r>
            <a:r>
              <a:rPr sz="1000" spc="-5" dirty="0">
                <a:latin typeface="Arial"/>
                <a:cs typeface="Arial"/>
              </a:rPr>
              <a:t>,</a:t>
            </a:r>
            <a:r>
              <a:rPr sz="1000" dirty="0">
                <a:latin typeface="Arial"/>
                <a:cs typeface="Arial"/>
              </a:rPr>
              <a:t> </a:t>
            </a:r>
            <a:r>
              <a:rPr sz="1000" spc="-5" dirty="0">
                <a:latin typeface="Arial"/>
                <a:cs typeface="Arial"/>
              </a:rPr>
              <a:t>each</a:t>
            </a:r>
            <a:r>
              <a:rPr sz="1000" dirty="0">
                <a:latin typeface="Arial"/>
                <a:cs typeface="Arial"/>
              </a:rPr>
              <a:t> </a:t>
            </a:r>
            <a:r>
              <a:rPr sz="1000" spc="-5" dirty="0">
                <a:latin typeface="Arial"/>
                <a:cs typeface="Arial"/>
              </a:rPr>
              <a:t>doing</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(blocking) </a:t>
            </a:r>
            <a:r>
              <a:rPr sz="1000" spc="-260" dirty="0">
                <a:latin typeface="Arial"/>
                <a:cs typeface="Arial"/>
              </a:rPr>
              <a:t> </a:t>
            </a:r>
            <a:r>
              <a:rPr sz="1000" spc="-5" dirty="0">
                <a:latin typeface="Arial"/>
                <a:cs typeface="Arial"/>
              </a:rPr>
              <a:t>HTTP</a:t>
            </a:r>
            <a:r>
              <a:rPr sz="1000" spc="-10" dirty="0">
                <a:latin typeface="Arial"/>
                <a:cs typeface="Arial"/>
              </a:rPr>
              <a:t> </a:t>
            </a:r>
            <a:r>
              <a:rPr sz="1000" spc="-5" dirty="0">
                <a:latin typeface="Arial"/>
                <a:cs typeface="Arial"/>
              </a:rPr>
              <a:t>request.</a:t>
            </a:r>
            <a:endParaRPr sz="1000" dirty="0">
              <a:latin typeface="Arial"/>
              <a:cs typeface="Arial"/>
            </a:endParaRPr>
          </a:p>
          <a:p>
            <a:pPr marL="327660" indent="-168275">
              <a:lnSpc>
                <a:spcPts val="1150"/>
              </a:lnSpc>
              <a:buClr>
                <a:srgbClr val="3333B2"/>
              </a:buClr>
              <a:buChar char="►"/>
              <a:tabLst>
                <a:tab pos="328295" algn="l"/>
              </a:tabLst>
            </a:pPr>
            <a:r>
              <a:rPr sz="1000" spc="-5" dirty="0">
                <a:latin typeface="Arial"/>
                <a:cs typeface="Arial"/>
              </a:rPr>
              <a:t>As files come in,</a:t>
            </a:r>
            <a:r>
              <a:rPr sz="1000" dirty="0">
                <a:latin typeface="Arial"/>
                <a:cs typeface="Arial"/>
              </a:rPr>
              <a:t> </a:t>
            </a:r>
            <a:r>
              <a:rPr sz="1000" spc="-5" dirty="0">
                <a:latin typeface="Arial"/>
                <a:cs typeface="Arial"/>
              </a:rPr>
              <a:t>the browser </a:t>
            </a:r>
            <a:r>
              <a:rPr sz="1000" spc="-10" dirty="0">
                <a:latin typeface="Arial"/>
                <a:cs typeface="Arial"/>
              </a:rPr>
              <a:t>displays</a:t>
            </a:r>
            <a:r>
              <a:rPr sz="1000" dirty="0">
                <a:latin typeface="Arial"/>
                <a:cs typeface="Arial"/>
              </a:rPr>
              <a:t> </a:t>
            </a:r>
            <a:r>
              <a:rPr sz="1000" spc="-5" dirty="0">
                <a:latin typeface="Arial"/>
                <a:cs typeface="Arial"/>
              </a:rPr>
              <a:t>them.</a:t>
            </a:r>
            <a:endParaRPr sz="1000" dirty="0">
              <a:latin typeface="Arial"/>
              <a:cs typeface="Arial"/>
            </a:endParaRPr>
          </a:p>
          <a:p>
            <a:pPr>
              <a:lnSpc>
                <a:spcPct val="100000"/>
              </a:lnSpc>
              <a:spcBef>
                <a:spcPts val="5"/>
              </a:spcBef>
              <a:buClr>
                <a:srgbClr val="3333B2"/>
              </a:buClr>
              <a:buFont typeface="Arial"/>
              <a:buChar char="►"/>
            </a:pPr>
            <a:endParaRPr sz="1300" dirty="0">
              <a:latin typeface="Arial"/>
              <a:cs typeface="Arial"/>
            </a:endParaRPr>
          </a:p>
          <a:p>
            <a:pPr marL="50800">
              <a:lnSpc>
                <a:spcPct val="100000"/>
              </a:lnSpc>
            </a:pPr>
            <a:r>
              <a:rPr sz="1200" spc="-5" dirty="0">
                <a:solidFill>
                  <a:srgbClr val="3333B2"/>
                </a:solidFill>
                <a:latin typeface="Arial"/>
                <a:cs typeface="Arial"/>
              </a:rPr>
              <a:t>Multiple request-response</a:t>
            </a:r>
            <a:r>
              <a:rPr sz="1200" dirty="0">
                <a:solidFill>
                  <a:srgbClr val="3333B2"/>
                </a:solidFill>
                <a:latin typeface="Arial"/>
                <a:cs typeface="Arial"/>
              </a:rPr>
              <a:t> </a:t>
            </a:r>
            <a:r>
              <a:rPr sz="1200" spc="-5" dirty="0">
                <a:solidFill>
                  <a:srgbClr val="3333B2"/>
                </a:solidFill>
                <a:latin typeface="Arial"/>
                <a:cs typeface="Arial"/>
              </a:rPr>
              <a:t>calls</a:t>
            </a:r>
            <a:r>
              <a:rPr sz="1200" dirty="0">
                <a:solidFill>
                  <a:srgbClr val="3333B2"/>
                </a:solidFill>
                <a:latin typeface="Arial"/>
                <a:cs typeface="Arial"/>
              </a:rPr>
              <a:t> </a:t>
            </a:r>
            <a:r>
              <a:rPr sz="1200" spc="-5" dirty="0">
                <a:solidFill>
                  <a:srgbClr val="3333B2"/>
                </a:solidFill>
                <a:latin typeface="Arial"/>
                <a:cs typeface="Arial"/>
              </a:rPr>
              <a:t>to</a:t>
            </a:r>
            <a:r>
              <a:rPr sz="1200" dirty="0">
                <a:solidFill>
                  <a:srgbClr val="3333B2"/>
                </a:solidFill>
                <a:latin typeface="Arial"/>
                <a:cs typeface="Arial"/>
              </a:rPr>
              <a:t> </a:t>
            </a:r>
            <a:r>
              <a:rPr sz="1200" spc="-5" dirty="0">
                <a:solidFill>
                  <a:srgbClr val="3333B2"/>
                </a:solidFill>
                <a:latin typeface="Arial"/>
                <a:cs typeface="Arial"/>
              </a:rPr>
              <a:t>other</a:t>
            </a:r>
            <a:r>
              <a:rPr sz="1200" dirty="0">
                <a:solidFill>
                  <a:srgbClr val="3333B2"/>
                </a:solidFill>
                <a:latin typeface="Arial"/>
                <a:cs typeface="Arial"/>
              </a:rPr>
              <a:t> </a:t>
            </a:r>
            <a:r>
              <a:rPr sz="1200" spc="-5" dirty="0">
                <a:solidFill>
                  <a:srgbClr val="3333B2"/>
                </a:solidFill>
                <a:latin typeface="Arial"/>
                <a:cs typeface="Arial"/>
              </a:rPr>
              <a:t>machines</a:t>
            </a:r>
            <a:r>
              <a:rPr sz="1200" dirty="0">
                <a:solidFill>
                  <a:srgbClr val="3333B2"/>
                </a:solidFill>
                <a:latin typeface="Arial"/>
                <a:cs typeface="Arial"/>
              </a:rPr>
              <a:t> </a:t>
            </a:r>
            <a:r>
              <a:rPr sz="1200" spc="-5" dirty="0">
                <a:solidFill>
                  <a:srgbClr val="3333B2"/>
                </a:solidFill>
                <a:latin typeface="Arial"/>
                <a:cs typeface="Arial"/>
              </a:rPr>
              <a:t>(RPC)</a:t>
            </a:r>
            <a:endParaRPr sz="1200" dirty="0">
              <a:latin typeface="Arial"/>
              <a:cs typeface="Arial"/>
            </a:endParaRPr>
          </a:p>
          <a:p>
            <a:pPr marL="327660" marR="370840" indent="-168275">
              <a:lnSpc>
                <a:spcPct val="100000"/>
              </a:lnSpc>
              <a:spcBef>
                <a:spcPts val="775"/>
              </a:spcBef>
              <a:buClr>
                <a:srgbClr val="3333B2"/>
              </a:buClr>
              <a:buChar char="►"/>
              <a:tabLst>
                <a:tab pos="328295" algn="l"/>
              </a:tabLst>
            </a:pPr>
            <a:r>
              <a:rPr sz="1000" spc="-5" dirty="0">
                <a:latin typeface="Arial"/>
                <a:cs typeface="Arial"/>
              </a:rPr>
              <a:t>A client</a:t>
            </a:r>
            <a:r>
              <a:rPr sz="1000" dirty="0">
                <a:latin typeface="Arial"/>
                <a:cs typeface="Arial"/>
              </a:rPr>
              <a:t> </a:t>
            </a:r>
            <a:r>
              <a:rPr sz="1000" spc="-5" dirty="0">
                <a:latin typeface="Arial"/>
                <a:cs typeface="Arial"/>
              </a:rPr>
              <a:t>does </a:t>
            </a:r>
            <a:r>
              <a:rPr sz="1000" spc="-15" dirty="0">
                <a:latin typeface="Arial"/>
                <a:cs typeface="Arial"/>
              </a:rPr>
              <a:t>several</a:t>
            </a:r>
            <a:r>
              <a:rPr sz="1000" dirty="0">
                <a:latin typeface="Arial"/>
                <a:cs typeface="Arial"/>
              </a:rPr>
              <a:t> </a:t>
            </a:r>
            <a:r>
              <a:rPr sz="1000" spc="-5" dirty="0">
                <a:latin typeface="Arial"/>
                <a:cs typeface="Arial"/>
              </a:rPr>
              <a:t>calls at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same time,</a:t>
            </a:r>
            <a:r>
              <a:rPr sz="1000" dirty="0">
                <a:latin typeface="Arial"/>
                <a:cs typeface="Arial"/>
              </a:rPr>
              <a:t> </a:t>
            </a:r>
            <a:r>
              <a:rPr sz="1000" spc="-5" dirty="0">
                <a:latin typeface="Arial"/>
                <a:cs typeface="Arial"/>
              </a:rPr>
              <a:t>each one</a:t>
            </a:r>
            <a:r>
              <a:rPr sz="1000"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 </a:t>
            </a:r>
            <a:r>
              <a:rPr sz="1000" spc="-265" dirty="0">
                <a:latin typeface="Arial"/>
                <a:cs typeface="Arial"/>
              </a:rPr>
              <a:t> </a:t>
            </a:r>
            <a:r>
              <a:rPr sz="1000" spc="-5" dirty="0">
                <a:latin typeface="Arial"/>
                <a:cs typeface="Arial"/>
              </a:rPr>
              <a:t>different</a:t>
            </a:r>
            <a:r>
              <a:rPr sz="1000" spc="-10" dirty="0">
                <a:latin typeface="Arial"/>
                <a:cs typeface="Arial"/>
              </a:rPr>
              <a:t> </a:t>
            </a:r>
            <a:r>
              <a:rPr sz="1000" spc="-5" dirty="0">
                <a:latin typeface="Arial"/>
                <a:cs typeface="Arial"/>
              </a:rPr>
              <a:t>thread.</a:t>
            </a:r>
            <a:endParaRPr sz="1000" dirty="0">
              <a:latin typeface="Arial"/>
              <a:cs typeface="Arial"/>
            </a:endParaRPr>
          </a:p>
          <a:p>
            <a:pPr marL="327660" indent="-168275">
              <a:lnSpc>
                <a:spcPts val="1190"/>
              </a:lnSpc>
              <a:buClr>
                <a:srgbClr val="3333B2"/>
              </a:buClr>
              <a:buChar char="►"/>
              <a:tabLst>
                <a:tab pos="328295" algn="l"/>
              </a:tabLst>
            </a:pPr>
            <a:r>
              <a:rPr sz="1000" spc="-5" dirty="0">
                <a:latin typeface="Arial"/>
                <a:cs typeface="Arial"/>
              </a:rPr>
              <a:t>It</a:t>
            </a:r>
            <a:r>
              <a:rPr sz="1000" spc="-10" dirty="0">
                <a:latin typeface="Arial"/>
                <a:cs typeface="Arial"/>
              </a:rPr>
              <a:t> </a:t>
            </a:r>
            <a:r>
              <a:rPr sz="1000" spc="-5" dirty="0">
                <a:latin typeface="Arial"/>
                <a:cs typeface="Arial"/>
              </a:rPr>
              <a:t>then waits until all results </a:t>
            </a:r>
            <a:r>
              <a:rPr sz="1000" spc="-15" dirty="0">
                <a:latin typeface="Arial"/>
                <a:cs typeface="Arial"/>
              </a:rPr>
              <a:t>have</a:t>
            </a:r>
            <a:r>
              <a:rPr sz="1000" spc="-5" dirty="0">
                <a:latin typeface="Arial"/>
                <a:cs typeface="Arial"/>
              </a:rPr>
              <a:t> been </a:t>
            </a:r>
            <a:r>
              <a:rPr sz="1000" dirty="0">
                <a:latin typeface="Arial"/>
                <a:cs typeface="Arial"/>
              </a:rPr>
              <a:t>returned.</a:t>
            </a:r>
          </a:p>
          <a:p>
            <a:pPr marL="327660" marR="401320" indent="-168275">
              <a:lnSpc>
                <a:spcPts val="1200"/>
              </a:lnSpc>
              <a:spcBef>
                <a:spcPts val="35"/>
              </a:spcBef>
              <a:buClr>
                <a:srgbClr val="3333B2"/>
              </a:buClr>
              <a:buChar char="►"/>
              <a:tabLst>
                <a:tab pos="328295" algn="l"/>
              </a:tabLst>
            </a:pPr>
            <a:r>
              <a:rPr sz="1000" spc="-5" dirty="0">
                <a:latin typeface="Arial"/>
                <a:cs typeface="Arial"/>
              </a:rPr>
              <a:t>Note:</a:t>
            </a:r>
            <a:r>
              <a:rPr sz="1000" spc="60" dirty="0">
                <a:latin typeface="Arial"/>
                <a:cs typeface="Arial"/>
              </a:rPr>
              <a:t> </a:t>
            </a:r>
            <a:r>
              <a:rPr sz="1000" spc="-5" dirty="0">
                <a:latin typeface="Arial"/>
                <a:cs typeface="Arial"/>
              </a:rPr>
              <a:t>if calls are to</a:t>
            </a:r>
            <a:r>
              <a:rPr sz="1000" dirty="0">
                <a:latin typeface="Arial"/>
                <a:cs typeface="Arial"/>
              </a:rPr>
              <a:t> </a:t>
            </a:r>
            <a:r>
              <a:rPr sz="1000" spc="-5" dirty="0">
                <a:latin typeface="Arial"/>
                <a:cs typeface="Arial"/>
              </a:rPr>
              <a:t>different servers, </a:t>
            </a:r>
            <a:r>
              <a:rPr sz="1000" spc="-10" dirty="0">
                <a:latin typeface="Arial"/>
                <a:cs typeface="Arial"/>
              </a:rPr>
              <a:t>we</a:t>
            </a:r>
            <a:r>
              <a:rPr sz="1000" spc="-5" dirty="0">
                <a:latin typeface="Arial"/>
                <a:cs typeface="Arial"/>
              </a:rPr>
              <a:t> </a:t>
            </a:r>
            <a:r>
              <a:rPr sz="1000" spc="-15" dirty="0">
                <a:latin typeface="Arial"/>
                <a:cs typeface="Arial"/>
              </a:rPr>
              <a:t>may</a:t>
            </a:r>
            <a:r>
              <a:rPr sz="1000" spc="-5" dirty="0">
                <a:latin typeface="Arial"/>
                <a:cs typeface="Arial"/>
              </a:rPr>
              <a:t> </a:t>
            </a:r>
            <a:r>
              <a:rPr sz="1000" spc="-15" dirty="0">
                <a:latin typeface="Arial"/>
                <a:cs typeface="Arial"/>
              </a:rPr>
              <a:t>have</a:t>
            </a:r>
            <a:r>
              <a:rPr sz="1000" dirty="0">
                <a:latin typeface="Arial"/>
                <a:cs typeface="Arial"/>
              </a:rPr>
              <a:t> </a:t>
            </a:r>
            <a:r>
              <a:rPr sz="1000" spc="-5" dirty="0">
                <a:latin typeface="Arial"/>
                <a:cs typeface="Arial"/>
              </a:rPr>
              <a:t>a </a:t>
            </a:r>
            <a:r>
              <a:rPr sz="1000" spc="-5" dirty="0">
                <a:solidFill>
                  <a:srgbClr val="0000FA"/>
                </a:solidFill>
                <a:latin typeface="Arial"/>
                <a:cs typeface="Arial"/>
              </a:rPr>
              <a:t>linear </a:t>
            </a:r>
            <a:r>
              <a:rPr sz="1000" spc="-265" dirty="0">
                <a:solidFill>
                  <a:srgbClr val="0000FA"/>
                </a:solidFill>
                <a:latin typeface="Arial"/>
                <a:cs typeface="Arial"/>
              </a:rPr>
              <a:t> </a:t>
            </a:r>
            <a:r>
              <a:rPr sz="1000" spc="-5" dirty="0">
                <a:solidFill>
                  <a:srgbClr val="0000FA"/>
                </a:solidFill>
                <a:latin typeface="Arial"/>
                <a:cs typeface="Arial"/>
              </a:rPr>
              <a:t>speed-up</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2" name="object 12"/>
          <p:cNvSpPr txBox="1"/>
          <p:nvPr/>
        </p:nvSpPr>
        <p:spPr>
          <a:xfrm>
            <a:off x="66713" y="3331252"/>
            <a:ext cx="721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Multithreaded</a:t>
            </a:r>
            <a:r>
              <a:rPr sz="600" spc="-2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clients</a:t>
            </a:r>
            <a:endParaRPr sz="600">
              <a:latin typeface="Arial"/>
              <a:cs typeface="Arial"/>
            </a:endParaRPr>
          </a:p>
        </p:txBody>
      </p:sp>
      <p:sp>
        <p:nvSpPr>
          <p:cNvPr id="13" name="object 13"/>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3" action="ppaction://hlinksldjump"/>
              </a:rPr>
              <a:t>Threads</a:t>
            </a:r>
            <a:endParaRPr sz="600">
              <a:latin typeface="Arial"/>
              <a:cs typeface="Arial"/>
            </a:endParaRPr>
          </a:p>
        </p:txBody>
      </p:sp>
      <p:sp>
        <p:nvSpPr>
          <p:cNvPr id="3" name="object 3"/>
          <p:cNvSpPr txBox="1"/>
          <p:nvPr/>
        </p:nvSpPr>
        <p:spPr>
          <a:xfrm>
            <a:off x="3486873" y="716"/>
            <a:ext cx="1054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2" action="ppaction://hlinksldjump"/>
              </a:rPr>
              <a:t>Threads</a:t>
            </a:r>
            <a:r>
              <a:rPr sz="600" spc="-10" dirty="0">
                <a:solidFill>
                  <a:srgbClr val="262685"/>
                </a:solidFill>
                <a:latin typeface="Arial"/>
                <a:cs typeface="Arial"/>
                <a:hlinkClick r:id="rId2" action="ppaction://hlinksldjump"/>
              </a:rPr>
              <a:t> </a:t>
            </a:r>
            <a:r>
              <a:rPr sz="600" spc="-5" dirty="0">
                <a:solidFill>
                  <a:srgbClr val="262685"/>
                </a:solidFill>
                <a:latin typeface="Arial"/>
                <a:cs typeface="Arial"/>
                <a:hlinkClick r:id="rId2" action="ppaction://hlinksldjump"/>
              </a:rPr>
              <a:t>in distributed systems</a:t>
            </a:r>
            <a:endParaRPr sz="600">
              <a:latin typeface="Arial"/>
              <a:cs typeface="Arial"/>
            </a:endParaRPr>
          </a:p>
        </p:txBody>
      </p:sp>
      <p:sp>
        <p:nvSpPr>
          <p:cNvPr id="4" name="object 4"/>
          <p:cNvSpPr txBox="1"/>
          <p:nvPr/>
        </p:nvSpPr>
        <p:spPr>
          <a:xfrm>
            <a:off x="82600" y="188846"/>
            <a:ext cx="3900170" cy="113030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Multithreaded</a:t>
            </a:r>
            <a:r>
              <a:rPr sz="1400" spc="-5" dirty="0">
                <a:solidFill>
                  <a:srgbClr val="3333B2"/>
                </a:solidFill>
                <a:latin typeface="Arial"/>
                <a:cs typeface="Arial"/>
              </a:rPr>
              <a:t> </a:t>
            </a:r>
            <a:r>
              <a:rPr sz="1400" spc="10" dirty="0">
                <a:solidFill>
                  <a:srgbClr val="3333B2"/>
                </a:solidFill>
                <a:latin typeface="Arial"/>
                <a:cs typeface="Arial"/>
              </a:rPr>
              <a:t>clients:</a:t>
            </a:r>
            <a:r>
              <a:rPr sz="1400" spc="95" dirty="0">
                <a:solidFill>
                  <a:srgbClr val="3333B2"/>
                </a:solidFill>
                <a:latin typeface="Arial"/>
                <a:cs typeface="Arial"/>
              </a:rPr>
              <a:t> </a:t>
            </a:r>
            <a:r>
              <a:rPr sz="1400" spc="15" dirty="0">
                <a:solidFill>
                  <a:srgbClr val="3333B2"/>
                </a:solidFill>
                <a:latin typeface="Arial"/>
                <a:cs typeface="Arial"/>
              </a:rPr>
              <a:t>does</a:t>
            </a:r>
            <a:r>
              <a:rPr sz="1400" dirty="0">
                <a:solidFill>
                  <a:srgbClr val="3333B2"/>
                </a:solidFill>
                <a:latin typeface="Arial"/>
                <a:cs typeface="Arial"/>
              </a:rPr>
              <a:t> </a:t>
            </a:r>
            <a:r>
              <a:rPr sz="1400" spc="5" dirty="0">
                <a:solidFill>
                  <a:srgbClr val="3333B2"/>
                </a:solidFill>
                <a:latin typeface="Arial"/>
                <a:cs typeface="Arial"/>
              </a:rPr>
              <a:t>it</a:t>
            </a:r>
            <a:r>
              <a:rPr sz="1400" dirty="0">
                <a:solidFill>
                  <a:srgbClr val="3333B2"/>
                </a:solidFill>
                <a:latin typeface="Arial"/>
                <a:cs typeface="Arial"/>
              </a:rPr>
              <a:t> </a:t>
            </a:r>
            <a:r>
              <a:rPr sz="1400" spc="15" dirty="0">
                <a:solidFill>
                  <a:srgbClr val="3333B2"/>
                </a:solidFill>
                <a:latin typeface="Arial"/>
                <a:cs typeface="Arial"/>
              </a:rPr>
              <a:t>help?</a:t>
            </a:r>
            <a:endParaRPr sz="1400" dirty="0">
              <a:latin typeface="Arial"/>
              <a:cs typeface="Arial"/>
            </a:endParaRPr>
          </a:p>
          <a:p>
            <a:pPr>
              <a:lnSpc>
                <a:spcPct val="100000"/>
              </a:lnSpc>
              <a:spcBef>
                <a:spcPts val="40"/>
              </a:spcBef>
            </a:pPr>
            <a:endParaRPr sz="2550" dirty="0">
              <a:latin typeface="Arial"/>
              <a:cs typeface="Arial"/>
            </a:endParaRPr>
          </a:p>
          <a:p>
            <a:pPr marL="272415">
              <a:lnSpc>
                <a:spcPct val="100000"/>
              </a:lnSpc>
            </a:pPr>
            <a:r>
              <a:rPr sz="1200" spc="-10" dirty="0">
                <a:solidFill>
                  <a:srgbClr val="3333B2"/>
                </a:solidFill>
                <a:latin typeface="Arial"/>
                <a:cs typeface="Arial"/>
              </a:rPr>
              <a:t>Thread-level</a:t>
            </a:r>
            <a:r>
              <a:rPr sz="1200" spc="-20" dirty="0">
                <a:solidFill>
                  <a:srgbClr val="3333B2"/>
                </a:solidFill>
                <a:latin typeface="Arial"/>
                <a:cs typeface="Arial"/>
              </a:rPr>
              <a:t> </a:t>
            </a:r>
            <a:r>
              <a:rPr sz="1200" spc="-5" dirty="0">
                <a:solidFill>
                  <a:srgbClr val="3333B2"/>
                </a:solidFill>
                <a:latin typeface="Arial"/>
                <a:cs typeface="Arial"/>
              </a:rPr>
              <a:t>parallelism:</a:t>
            </a:r>
            <a:r>
              <a:rPr sz="1200" spc="55" dirty="0">
                <a:solidFill>
                  <a:srgbClr val="3333B2"/>
                </a:solidFill>
                <a:latin typeface="Arial"/>
                <a:cs typeface="Arial"/>
              </a:rPr>
              <a:t> </a:t>
            </a:r>
            <a:r>
              <a:rPr sz="1200" spc="-5" dirty="0">
                <a:solidFill>
                  <a:srgbClr val="3333B2"/>
                </a:solidFill>
                <a:latin typeface="Arial"/>
                <a:cs typeface="Arial"/>
              </a:rPr>
              <a:t>TLP</a:t>
            </a:r>
            <a:endParaRPr sz="1200" dirty="0">
              <a:latin typeface="Arial"/>
              <a:cs typeface="Arial"/>
            </a:endParaRPr>
          </a:p>
          <a:p>
            <a:pPr marL="276860" marR="43180">
              <a:lnSpc>
                <a:spcPct val="100000"/>
              </a:lnSpc>
              <a:spcBef>
                <a:spcPts val="175"/>
              </a:spcBef>
            </a:pPr>
            <a:r>
              <a:rPr sz="1000" spc="-5" dirty="0">
                <a:latin typeface="Arial"/>
                <a:cs typeface="Arial"/>
              </a:rPr>
              <a:t>Let</a:t>
            </a:r>
            <a:r>
              <a:rPr sz="1000" dirty="0">
                <a:latin typeface="Arial"/>
                <a:cs typeface="Arial"/>
              </a:rPr>
              <a:t> </a:t>
            </a:r>
            <a:r>
              <a:rPr sz="1000" i="1" dirty="0">
                <a:latin typeface="Arial"/>
                <a:cs typeface="Arial"/>
              </a:rPr>
              <a:t>c</a:t>
            </a:r>
            <a:r>
              <a:rPr sz="1050" i="1" baseline="-15873" dirty="0">
                <a:latin typeface="Arial"/>
                <a:cs typeface="Arial"/>
              </a:rPr>
              <a:t>i</a:t>
            </a:r>
            <a:r>
              <a:rPr sz="1050" i="1" spc="22" baseline="-15873" dirty="0">
                <a:latin typeface="Arial"/>
                <a:cs typeface="Arial"/>
              </a:rPr>
              <a:t> </a:t>
            </a:r>
            <a:r>
              <a:rPr sz="1000" spc="-5" dirty="0">
                <a:latin typeface="Arial"/>
                <a:cs typeface="Arial"/>
              </a:rPr>
              <a:t>denote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fraction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time</a:t>
            </a:r>
            <a:r>
              <a:rPr sz="1000" dirty="0">
                <a:latin typeface="Arial"/>
                <a:cs typeface="Arial"/>
              </a:rPr>
              <a:t> </a:t>
            </a:r>
            <a:r>
              <a:rPr sz="1000" spc="-5" dirty="0">
                <a:latin typeface="Arial"/>
                <a:cs typeface="Arial"/>
              </a:rPr>
              <a:t>that</a:t>
            </a:r>
            <a:r>
              <a:rPr sz="1000" dirty="0">
                <a:latin typeface="Arial"/>
                <a:cs typeface="Arial"/>
              </a:rPr>
              <a:t> </a:t>
            </a:r>
            <a:r>
              <a:rPr sz="1000" spc="-10" dirty="0">
                <a:latin typeface="Arial"/>
                <a:cs typeface="Arial"/>
              </a:rPr>
              <a:t>exactly</a:t>
            </a:r>
            <a:r>
              <a:rPr sz="1000" spc="5" dirty="0">
                <a:latin typeface="Arial"/>
                <a:cs typeface="Arial"/>
              </a:rPr>
              <a:t> </a:t>
            </a:r>
            <a:r>
              <a:rPr sz="1000" i="1" spc="-5" dirty="0">
                <a:latin typeface="Arial"/>
                <a:cs typeface="Arial"/>
              </a:rPr>
              <a:t>i</a:t>
            </a:r>
            <a:r>
              <a:rPr sz="1000" i="1" spc="85" dirty="0">
                <a:latin typeface="Arial"/>
                <a:cs typeface="Arial"/>
              </a:rPr>
              <a:t> </a:t>
            </a:r>
            <a:r>
              <a:rPr sz="1000" spc="-5" dirty="0">
                <a:latin typeface="Arial"/>
                <a:cs typeface="Arial"/>
              </a:rPr>
              <a:t>threads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being </a:t>
            </a:r>
            <a:r>
              <a:rPr sz="1000" spc="-265" dirty="0">
                <a:latin typeface="Arial"/>
                <a:cs typeface="Arial"/>
              </a:rPr>
              <a:t> </a:t>
            </a:r>
            <a:r>
              <a:rPr sz="1000" spc="-10" dirty="0">
                <a:latin typeface="Arial"/>
                <a:cs typeface="Arial"/>
              </a:rPr>
              <a:t>executed simultaneously.</a:t>
            </a:r>
            <a:endParaRPr sz="1000" dirty="0">
              <a:latin typeface="Arial"/>
              <a:cs typeface="Arial"/>
            </a:endParaRPr>
          </a:p>
        </p:txBody>
      </p:sp>
      <p:sp>
        <p:nvSpPr>
          <p:cNvPr id="5" name="object 5"/>
          <p:cNvSpPr txBox="1"/>
          <p:nvPr/>
        </p:nvSpPr>
        <p:spPr>
          <a:xfrm>
            <a:off x="1842211" y="1513019"/>
            <a:ext cx="25781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TLP</a:t>
            </a:r>
            <a:endParaRPr sz="1000">
              <a:latin typeface="Arial"/>
              <a:cs typeface="Arial"/>
            </a:endParaRPr>
          </a:p>
        </p:txBody>
      </p:sp>
      <p:sp>
        <p:nvSpPr>
          <p:cNvPr id="6" name="object 6"/>
          <p:cNvSpPr txBox="1"/>
          <p:nvPr/>
        </p:nvSpPr>
        <p:spPr>
          <a:xfrm>
            <a:off x="2227541" y="1375796"/>
            <a:ext cx="234315" cy="177800"/>
          </a:xfrm>
          <a:prstGeom prst="rect">
            <a:avLst/>
          </a:prstGeom>
        </p:spPr>
        <p:txBody>
          <a:bodyPr vert="horz" wrap="square" lIns="0" tIns="12065" rIns="0" bIns="0" rtlCol="0">
            <a:spAutoFit/>
          </a:bodyPr>
          <a:lstStyle/>
          <a:p>
            <a:pPr marL="38100">
              <a:lnSpc>
                <a:spcPct val="100000"/>
              </a:lnSpc>
              <a:spcBef>
                <a:spcPts val="95"/>
              </a:spcBef>
            </a:pPr>
            <a:r>
              <a:rPr sz="1500" spc="15" baseline="-25000" dirty="0">
                <a:latin typeface="Times New Roman"/>
                <a:cs typeface="Times New Roman"/>
              </a:rPr>
              <a:t>∑</a:t>
            </a:r>
            <a:r>
              <a:rPr sz="700" i="1" spc="10" dirty="0">
                <a:latin typeface="Arial"/>
                <a:cs typeface="Arial"/>
              </a:rPr>
              <a:t>N</a:t>
            </a:r>
            <a:endParaRPr sz="700">
              <a:latin typeface="Arial"/>
              <a:cs typeface="Arial"/>
            </a:endParaRPr>
          </a:p>
        </p:txBody>
      </p:sp>
      <p:sp>
        <p:nvSpPr>
          <p:cNvPr id="7" name="object 7"/>
          <p:cNvSpPr txBox="1"/>
          <p:nvPr/>
        </p:nvSpPr>
        <p:spPr>
          <a:xfrm>
            <a:off x="2085835" y="1463680"/>
            <a:ext cx="690245" cy="177800"/>
          </a:xfrm>
          <a:prstGeom prst="rect">
            <a:avLst/>
          </a:prstGeom>
        </p:spPr>
        <p:txBody>
          <a:bodyPr vert="horz" wrap="square" lIns="0" tIns="12065" rIns="0" bIns="0" rtlCol="0">
            <a:spAutoFit/>
          </a:bodyPr>
          <a:lstStyle/>
          <a:p>
            <a:pPr marL="38100">
              <a:lnSpc>
                <a:spcPct val="100000"/>
              </a:lnSpc>
              <a:spcBef>
                <a:spcPts val="95"/>
              </a:spcBef>
              <a:tabLst>
                <a:tab pos="651510" algn="l"/>
              </a:tabLst>
            </a:pPr>
            <a:r>
              <a:rPr sz="1500" spc="284" baseline="-22222" dirty="0">
                <a:latin typeface="Arial"/>
                <a:cs typeface="Arial"/>
              </a:rPr>
              <a:t>=</a:t>
            </a:r>
            <a:r>
              <a:rPr sz="1000" u="sng" spc="190" dirty="0">
                <a:uFill>
                  <a:solidFill>
                    <a:srgbClr val="000000"/>
                  </a:solidFill>
                </a:uFill>
                <a:latin typeface="Arial"/>
                <a:cs typeface="Arial"/>
              </a:rPr>
              <a:t> </a:t>
            </a:r>
            <a:r>
              <a:rPr sz="1000" u="sng" spc="300" dirty="0">
                <a:uFill>
                  <a:solidFill>
                    <a:srgbClr val="000000"/>
                  </a:solidFill>
                </a:uFill>
                <a:latin typeface="Arial"/>
                <a:cs typeface="Arial"/>
              </a:rPr>
              <a:t> </a:t>
            </a:r>
            <a:r>
              <a:rPr sz="700" i="1" u="sng" spc="85" dirty="0">
                <a:uFill>
                  <a:solidFill>
                    <a:srgbClr val="000000"/>
                  </a:solidFill>
                </a:uFill>
                <a:latin typeface="Arial"/>
                <a:cs typeface="Arial"/>
              </a:rPr>
              <a:t>i</a:t>
            </a:r>
            <a:r>
              <a:rPr sz="700" u="sng" spc="85" dirty="0">
                <a:uFill>
                  <a:solidFill>
                    <a:srgbClr val="000000"/>
                  </a:solidFill>
                </a:uFill>
                <a:latin typeface="Arial"/>
                <a:cs typeface="Arial"/>
              </a:rPr>
              <a:t>=1	</a:t>
            </a:r>
            <a:endParaRPr sz="700">
              <a:latin typeface="Arial"/>
              <a:cs typeface="Arial"/>
            </a:endParaRPr>
          </a:p>
        </p:txBody>
      </p:sp>
      <p:sp>
        <p:nvSpPr>
          <p:cNvPr id="8" name="object 8"/>
          <p:cNvSpPr txBox="1"/>
          <p:nvPr/>
        </p:nvSpPr>
        <p:spPr>
          <a:xfrm>
            <a:off x="2517622" y="1425478"/>
            <a:ext cx="19812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i</a:t>
            </a:r>
            <a:r>
              <a:rPr sz="1000" i="1" spc="-55"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c</a:t>
            </a:r>
            <a:endParaRPr sz="1000" dirty="0">
              <a:latin typeface="Arial"/>
              <a:cs typeface="Arial"/>
            </a:endParaRPr>
          </a:p>
        </p:txBody>
      </p:sp>
      <p:sp>
        <p:nvSpPr>
          <p:cNvPr id="9" name="object 9"/>
          <p:cNvSpPr txBox="1"/>
          <p:nvPr/>
        </p:nvSpPr>
        <p:spPr>
          <a:xfrm>
            <a:off x="2690037" y="1482492"/>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i</a:t>
            </a:r>
            <a:endParaRPr sz="700">
              <a:latin typeface="Arial"/>
              <a:cs typeface="Arial"/>
            </a:endParaRPr>
          </a:p>
        </p:txBody>
      </p:sp>
      <p:sp>
        <p:nvSpPr>
          <p:cNvPr id="10" name="object 10"/>
          <p:cNvSpPr txBox="1"/>
          <p:nvPr/>
        </p:nvSpPr>
        <p:spPr>
          <a:xfrm>
            <a:off x="2300947" y="1599824"/>
            <a:ext cx="395605" cy="177800"/>
          </a:xfrm>
          <a:prstGeom prst="rect">
            <a:avLst/>
          </a:prstGeom>
        </p:spPr>
        <p:txBody>
          <a:bodyPr vert="horz" wrap="square" lIns="0" tIns="12065" rIns="0" bIns="0" rtlCol="0">
            <a:spAutoFit/>
          </a:bodyPr>
          <a:lstStyle/>
          <a:p>
            <a:pPr marL="38100">
              <a:lnSpc>
                <a:spcPct val="100000"/>
              </a:lnSpc>
              <a:spcBef>
                <a:spcPts val="95"/>
              </a:spcBef>
            </a:pP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c</a:t>
            </a:r>
            <a:r>
              <a:rPr sz="1050" spc="30" baseline="-15873" dirty="0">
                <a:latin typeface="Arial"/>
                <a:cs typeface="Arial"/>
              </a:rPr>
              <a:t>0</a:t>
            </a:r>
            <a:endParaRPr sz="1050" baseline="-15873">
              <a:latin typeface="Arial"/>
              <a:cs typeface="Arial"/>
            </a:endParaRPr>
          </a:p>
        </p:txBody>
      </p:sp>
      <p:sp>
        <p:nvSpPr>
          <p:cNvPr id="11" name="object 11"/>
          <p:cNvSpPr txBox="1"/>
          <p:nvPr/>
        </p:nvSpPr>
        <p:spPr>
          <a:xfrm>
            <a:off x="342747" y="1855411"/>
            <a:ext cx="3917315" cy="329565"/>
          </a:xfrm>
          <a:prstGeom prst="rect">
            <a:avLst/>
          </a:prstGeom>
        </p:spPr>
        <p:txBody>
          <a:bodyPr vert="horz" wrap="square" lIns="0" tIns="12065" rIns="0" bIns="0" rtlCol="0">
            <a:spAutoFit/>
          </a:bodyPr>
          <a:lstStyle/>
          <a:p>
            <a:pPr marL="17145" marR="5080" indent="-5080">
              <a:lnSpc>
                <a:spcPct val="100000"/>
              </a:lnSpc>
              <a:spcBef>
                <a:spcPts val="95"/>
              </a:spcBef>
            </a:pPr>
            <a:r>
              <a:rPr sz="1000" spc="-10" dirty="0">
                <a:latin typeface="Arial"/>
                <a:cs typeface="Arial"/>
              </a:rPr>
              <a:t>with </a:t>
            </a:r>
            <a:r>
              <a:rPr sz="1000" i="1" spc="-20" dirty="0">
                <a:latin typeface="Arial"/>
                <a:cs typeface="Arial"/>
              </a:rPr>
              <a:t>N</a:t>
            </a:r>
            <a:r>
              <a:rPr sz="1000" i="1" spc="70" dirty="0">
                <a:latin typeface="Arial"/>
                <a:cs typeface="Arial"/>
              </a:rPr>
              <a:t> </a:t>
            </a:r>
            <a:r>
              <a:rPr sz="1000" spc="-10" dirty="0">
                <a:latin typeface="Arial"/>
                <a:cs typeface="Arial"/>
              </a:rPr>
              <a:t>the </a:t>
            </a:r>
            <a:r>
              <a:rPr sz="1000" spc="-15" dirty="0">
                <a:latin typeface="Arial"/>
                <a:cs typeface="Arial"/>
              </a:rPr>
              <a:t>maximum</a:t>
            </a:r>
            <a:r>
              <a:rPr sz="1000" spc="-10" dirty="0">
                <a:latin typeface="Arial"/>
                <a:cs typeface="Arial"/>
              </a:rPr>
              <a:t> </a:t>
            </a:r>
            <a:r>
              <a:rPr sz="1000" spc="-15" dirty="0">
                <a:latin typeface="Arial"/>
                <a:cs typeface="Arial"/>
              </a:rPr>
              <a:t>number</a:t>
            </a:r>
            <a:r>
              <a:rPr sz="1000" spc="-10" dirty="0">
                <a:latin typeface="Arial"/>
                <a:cs typeface="Arial"/>
              </a:rPr>
              <a:t> of threads</a:t>
            </a:r>
            <a:r>
              <a:rPr sz="1000" spc="-5" dirty="0">
                <a:latin typeface="Arial"/>
                <a:cs typeface="Arial"/>
              </a:rPr>
              <a:t> </a:t>
            </a:r>
            <a:r>
              <a:rPr sz="1000" spc="-10" dirty="0">
                <a:latin typeface="Arial"/>
                <a:cs typeface="Arial"/>
              </a:rPr>
              <a:t>that (can) </a:t>
            </a:r>
            <a:r>
              <a:rPr sz="1000" spc="-20" dirty="0">
                <a:latin typeface="Arial"/>
                <a:cs typeface="Arial"/>
              </a:rPr>
              <a:t>execute</a:t>
            </a:r>
            <a:r>
              <a:rPr sz="1000" spc="-10" dirty="0">
                <a:latin typeface="Arial"/>
                <a:cs typeface="Arial"/>
              </a:rPr>
              <a:t> at the</a:t>
            </a:r>
            <a:r>
              <a:rPr sz="1000" spc="-5" dirty="0">
                <a:latin typeface="Arial"/>
                <a:cs typeface="Arial"/>
              </a:rPr>
              <a:t> </a:t>
            </a:r>
            <a:r>
              <a:rPr sz="1000" spc="-15" dirty="0">
                <a:latin typeface="Arial"/>
                <a:cs typeface="Arial"/>
              </a:rPr>
              <a:t>same </a:t>
            </a:r>
            <a:r>
              <a:rPr sz="1000" spc="-265" dirty="0">
                <a:latin typeface="Arial"/>
                <a:cs typeface="Arial"/>
              </a:rPr>
              <a:t> </a:t>
            </a:r>
            <a:r>
              <a:rPr sz="1000" spc="-5" dirty="0">
                <a:latin typeface="Arial"/>
                <a:cs typeface="Arial"/>
              </a:rPr>
              <a:t>time.</a:t>
            </a:r>
            <a:endParaRPr sz="1000" dirty="0">
              <a:latin typeface="Arial"/>
              <a:cs typeface="Arial"/>
            </a:endParaRPr>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object 12"/>
          <p:cNvSpPr txBox="1"/>
          <p:nvPr/>
        </p:nvSpPr>
        <p:spPr>
          <a:xfrm>
            <a:off x="66713" y="3331252"/>
            <a:ext cx="7219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Multithreaded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clients</a:t>
            </a:r>
            <a:endParaRPr sz="600">
              <a:latin typeface="Arial"/>
              <a:cs typeface="Arial"/>
            </a:endParaRPr>
          </a:p>
        </p:txBody>
      </p:sp>
      <p:sp>
        <p:nvSpPr>
          <p:cNvPr id="13" name="object 13"/>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13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Threads</a:t>
            </a:r>
            <a:endParaRPr sz="600">
              <a:latin typeface="Arial"/>
              <a:cs typeface="Arial"/>
            </a:endParaRPr>
          </a:p>
        </p:txBody>
      </p:sp>
      <p:sp>
        <p:nvSpPr>
          <p:cNvPr id="3" name="object 3"/>
          <p:cNvSpPr txBox="1"/>
          <p:nvPr/>
        </p:nvSpPr>
        <p:spPr>
          <a:xfrm>
            <a:off x="3486873" y="716"/>
            <a:ext cx="1054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Threads</a:t>
            </a:r>
            <a:r>
              <a:rPr sz="600" spc="-10"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in distributed systems</a:t>
            </a:r>
            <a:endParaRPr sz="600">
              <a:latin typeface="Arial"/>
              <a:cs typeface="Arial"/>
            </a:endParaRPr>
          </a:p>
        </p:txBody>
      </p:sp>
      <p:sp>
        <p:nvSpPr>
          <p:cNvPr id="4" name="object 4"/>
          <p:cNvSpPr txBox="1"/>
          <p:nvPr/>
        </p:nvSpPr>
        <p:spPr>
          <a:xfrm>
            <a:off x="82600" y="188846"/>
            <a:ext cx="3900170" cy="1130300"/>
          </a:xfrm>
          <a:prstGeom prst="rect">
            <a:avLst/>
          </a:prstGeom>
        </p:spPr>
        <p:txBody>
          <a:bodyPr vert="horz" wrap="square" lIns="0" tIns="17145" rIns="0" bIns="0" rtlCol="0">
            <a:spAutoFit/>
          </a:bodyPr>
          <a:lstStyle/>
          <a:p>
            <a:pPr marL="25400">
              <a:lnSpc>
                <a:spcPct val="100000"/>
              </a:lnSpc>
              <a:spcBef>
                <a:spcPts val="135"/>
              </a:spcBef>
            </a:pPr>
            <a:r>
              <a:rPr sz="1400" spc="15" dirty="0">
                <a:solidFill>
                  <a:srgbClr val="3333B2"/>
                </a:solidFill>
                <a:latin typeface="Arial"/>
                <a:cs typeface="Arial"/>
              </a:rPr>
              <a:t>Multithreaded</a:t>
            </a:r>
            <a:r>
              <a:rPr sz="1400" spc="-5" dirty="0">
                <a:solidFill>
                  <a:srgbClr val="3333B2"/>
                </a:solidFill>
                <a:latin typeface="Arial"/>
                <a:cs typeface="Arial"/>
              </a:rPr>
              <a:t> </a:t>
            </a:r>
            <a:r>
              <a:rPr sz="1400" spc="10" dirty="0">
                <a:solidFill>
                  <a:srgbClr val="3333B2"/>
                </a:solidFill>
                <a:latin typeface="Arial"/>
                <a:cs typeface="Arial"/>
              </a:rPr>
              <a:t>clients:</a:t>
            </a:r>
            <a:r>
              <a:rPr sz="1400" spc="95" dirty="0">
                <a:solidFill>
                  <a:srgbClr val="3333B2"/>
                </a:solidFill>
                <a:latin typeface="Arial"/>
                <a:cs typeface="Arial"/>
              </a:rPr>
              <a:t> </a:t>
            </a:r>
            <a:r>
              <a:rPr sz="1400" spc="15" dirty="0">
                <a:solidFill>
                  <a:srgbClr val="3333B2"/>
                </a:solidFill>
                <a:latin typeface="Arial"/>
                <a:cs typeface="Arial"/>
              </a:rPr>
              <a:t>does</a:t>
            </a:r>
            <a:r>
              <a:rPr sz="1400" dirty="0">
                <a:solidFill>
                  <a:srgbClr val="3333B2"/>
                </a:solidFill>
                <a:latin typeface="Arial"/>
                <a:cs typeface="Arial"/>
              </a:rPr>
              <a:t> </a:t>
            </a:r>
            <a:r>
              <a:rPr sz="1400" spc="5" dirty="0">
                <a:solidFill>
                  <a:srgbClr val="3333B2"/>
                </a:solidFill>
                <a:latin typeface="Arial"/>
                <a:cs typeface="Arial"/>
              </a:rPr>
              <a:t>it</a:t>
            </a:r>
            <a:r>
              <a:rPr sz="1400" dirty="0">
                <a:solidFill>
                  <a:srgbClr val="3333B2"/>
                </a:solidFill>
                <a:latin typeface="Arial"/>
                <a:cs typeface="Arial"/>
              </a:rPr>
              <a:t> </a:t>
            </a:r>
            <a:r>
              <a:rPr sz="1400" spc="15" dirty="0">
                <a:solidFill>
                  <a:srgbClr val="3333B2"/>
                </a:solidFill>
                <a:latin typeface="Arial"/>
                <a:cs typeface="Arial"/>
              </a:rPr>
              <a:t>help?</a:t>
            </a:r>
            <a:endParaRPr sz="1400" dirty="0">
              <a:latin typeface="Arial"/>
              <a:cs typeface="Arial"/>
            </a:endParaRPr>
          </a:p>
          <a:p>
            <a:pPr>
              <a:lnSpc>
                <a:spcPct val="100000"/>
              </a:lnSpc>
              <a:spcBef>
                <a:spcPts val="40"/>
              </a:spcBef>
            </a:pPr>
            <a:endParaRPr sz="2550" dirty="0">
              <a:latin typeface="Arial"/>
              <a:cs typeface="Arial"/>
            </a:endParaRPr>
          </a:p>
          <a:p>
            <a:pPr marL="272415">
              <a:lnSpc>
                <a:spcPct val="100000"/>
              </a:lnSpc>
            </a:pPr>
            <a:r>
              <a:rPr sz="1200" spc="-10" dirty="0">
                <a:solidFill>
                  <a:srgbClr val="3333B2"/>
                </a:solidFill>
                <a:latin typeface="Arial"/>
                <a:cs typeface="Arial"/>
              </a:rPr>
              <a:t>Thread-level</a:t>
            </a:r>
            <a:r>
              <a:rPr sz="1200" spc="-20" dirty="0">
                <a:solidFill>
                  <a:srgbClr val="3333B2"/>
                </a:solidFill>
                <a:latin typeface="Arial"/>
                <a:cs typeface="Arial"/>
              </a:rPr>
              <a:t> </a:t>
            </a:r>
            <a:r>
              <a:rPr sz="1200" spc="-5" dirty="0">
                <a:solidFill>
                  <a:srgbClr val="3333B2"/>
                </a:solidFill>
                <a:latin typeface="Arial"/>
                <a:cs typeface="Arial"/>
              </a:rPr>
              <a:t>parallelism:</a:t>
            </a:r>
            <a:r>
              <a:rPr sz="1200" spc="55" dirty="0">
                <a:solidFill>
                  <a:srgbClr val="3333B2"/>
                </a:solidFill>
                <a:latin typeface="Arial"/>
                <a:cs typeface="Arial"/>
              </a:rPr>
              <a:t> </a:t>
            </a:r>
            <a:r>
              <a:rPr sz="1200" spc="-5" dirty="0">
                <a:solidFill>
                  <a:srgbClr val="3333B2"/>
                </a:solidFill>
                <a:latin typeface="Arial"/>
                <a:cs typeface="Arial"/>
              </a:rPr>
              <a:t>TLP</a:t>
            </a:r>
            <a:endParaRPr sz="1200" dirty="0">
              <a:latin typeface="Arial"/>
              <a:cs typeface="Arial"/>
            </a:endParaRPr>
          </a:p>
          <a:p>
            <a:pPr marL="276860" marR="43180">
              <a:lnSpc>
                <a:spcPct val="100000"/>
              </a:lnSpc>
              <a:spcBef>
                <a:spcPts val="175"/>
              </a:spcBef>
            </a:pPr>
            <a:r>
              <a:rPr sz="1000" spc="-5" dirty="0">
                <a:latin typeface="Arial"/>
                <a:cs typeface="Arial"/>
              </a:rPr>
              <a:t>Let</a:t>
            </a:r>
            <a:r>
              <a:rPr sz="1000" dirty="0">
                <a:latin typeface="Arial"/>
                <a:cs typeface="Arial"/>
              </a:rPr>
              <a:t> </a:t>
            </a:r>
            <a:r>
              <a:rPr sz="1000" i="1" dirty="0">
                <a:latin typeface="Arial"/>
                <a:cs typeface="Arial"/>
              </a:rPr>
              <a:t>c</a:t>
            </a:r>
            <a:r>
              <a:rPr sz="1050" i="1" baseline="-15873" dirty="0">
                <a:latin typeface="Arial"/>
                <a:cs typeface="Arial"/>
              </a:rPr>
              <a:t>i</a:t>
            </a:r>
            <a:r>
              <a:rPr sz="1050" i="1" spc="22" baseline="-15873" dirty="0">
                <a:latin typeface="Arial"/>
                <a:cs typeface="Arial"/>
              </a:rPr>
              <a:t> </a:t>
            </a:r>
            <a:r>
              <a:rPr sz="1000" spc="-5" dirty="0">
                <a:latin typeface="Arial"/>
                <a:cs typeface="Arial"/>
              </a:rPr>
              <a:t>denote</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fraction</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time</a:t>
            </a:r>
            <a:r>
              <a:rPr sz="1000" dirty="0">
                <a:latin typeface="Arial"/>
                <a:cs typeface="Arial"/>
              </a:rPr>
              <a:t> </a:t>
            </a:r>
            <a:r>
              <a:rPr sz="1000" spc="-5" dirty="0">
                <a:latin typeface="Arial"/>
                <a:cs typeface="Arial"/>
              </a:rPr>
              <a:t>that</a:t>
            </a:r>
            <a:r>
              <a:rPr sz="1000" dirty="0">
                <a:latin typeface="Arial"/>
                <a:cs typeface="Arial"/>
              </a:rPr>
              <a:t> </a:t>
            </a:r>
            <a:r>
              <a:rPr sz="1000" spc="-10" dirty="0">
                <a:latin typeface="Arial"/>
                <a:cs typeface="Arial"/>
              </a:rPr>
              <a:t>exactly</a:t>
            </a:r>
            <a:r>
              <a:rPr sz="1000" spc="5" dirty="0">
                <a:latin typeface="Arial"/>
                <a:cs typeface="Arial"/>
              </a:rPr>
              <a:t> </a:t>
            </a:r>
            <a:r>
              <a:rPr sz="1000" i="1" spc="-5" dirty="0">
                <a:latin typeface="Arial"/>
                <a:cs typeface="Arial"/>
              </a:rPr>
              <a:t>i</a:t>
            </a:r>
            <a:r>
              <a:rPr sz="1000" i="1" spc="85" dirty="0">
                <a:latin typeface="Arial"/>
                <a:cs typeface="Arial"/>
              </a:rPr>
              <a:t> </a:t>
            </a:r>
            <a:r>
              <a:rPr sz="1000" spc="-5" dirty="0">
                <a:latin typeface="Arial"/>
                <a:cs typeface="Arial"/>
              </a:rPr>
              <a:t>threads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being </a:t>
            </a:r>
            <a:r>
              <a:rPr sz="1000" spc="-265" dirty="0">
                <a:latin typeface="Arial"/>
                <a:cs typeface="Arial"/>
              </a:rPr>
              <a:t> </a:t>
            </a:r>
            <a:r>
              <a:rPr sz="1000" spc="-10" dirty="0">
                <a:latin typeface="Arial"/>
                <a:cs typeface="Arial"/>
              </a:rPr>
              <a:t>executed simultaneously.</a:t>
            </a:r>
            <a:endParaRPr sz="1000" dirty="0">
              <a:latin typeface="Arial"/>
              <a:cs typeface="Arial"/>
            </a:endParaRPr>
          </a:p>
        </p:txBody>
      </p:sp>
      <p:sp>
        <p:nvSpPr>
          <p:cNvPr id="5" name="object 5"/>
          <p:cNvSpPr txBox="1"/>
          <p:nvPr/>
        </p:nvSpPr>
        <p:spPr>
          <a:xfrm>
            <a:off x="1842211" y="1513019"/>
            <a:ext cx="25781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TLP</a:t>
            </a:r>
            <a:endParaRPr sz="1000">
              <a:latin typeface="Arial"/>
              <a:cs typeface="Arial"/>
            </a:endParaRPr>
          </a:p>
        </p:txBody>
      </p:sp>
      <p:sp>
        <p:nvSpPr>
          <p:cNvPr id="6" name="object 6"/>
          <p:cNvSpPr txBox="1"/>
          <p:nvPr/>
        </p:nvSpPr>
        <p:spPr>
          <a:xfrm>
            <a:off x="2227541" y="1375796"/>
            <a:ext cx="234315" cy="177800"/>
          </a:xfrm>
          <a:prstGeom prst="rect">
            <a:avLst/>
          </a:prstGeom>
        </p:spPr>
        <p:txBody>
          <a:bodyPr vert="horz" wrap="square" lIns="0" tIns="12065" rIns="0" bIns="0" rtlCol="0">
            <a:spAutoFit/>
          </a:bodyPr>
          <a:lstStyle/>
          <a:p>
            <a:pPr marL="38100">
              <a:lnSpc>
                <a:spcPct val="100000"/>
              </a:lnSpc>
              <a:spcBef>
                <a:spcPts val="95"/>
              </a:spcBef>
            </a:pPr>
            <a:r>
              <a:rPr sz="1500" spc="15" baseline="-25000" dirty="0">
                <a:latin typeface="Times New Roman"/>
                <a:cs typeface="Times New Roman"/>
              </a:rPr>
              <a:t>∑</a:t>
            </a:r>
            <a:r>
              <a:rPr sz="700" i="1" spc="10" dirty="0">
                <a:latin typeface="Arial"/>
                <a:cs typeface="Arial"/>
              </a:rPr>
              <a:t>N</a:t>
            </a:r>
            <a:endParaRPr sz="700">
              <a:latin typeface="Arial"/>
              <a:cs typeface="Arial"/>
            </a:endParaRPr>
          </a:p>
        </p:txBody>
      </p:sp>
      <p:sp>
        <p:nvSpPr>
          <p:cNvPr id="7" name="object 7"/>
          <p:cNvSpPr txBox="1"/>
          <p:nvPr/>
        </p:nvSpPr>
        <p:spPr>
          <a:xfrm>
            <a:off x="2085835" y="1463680"/>
            <a:ext cx="690245" cy="177800"/>
          </a:xfrm>
          <a:prstGeom prst="rect">
            <a:avLst/>
          </a:prstGeom>
        </p:spPr>
        <p:txBody>
          <a:bodyPr vert="horz" wrap="square" lIns="0" tIns="12065" rIns="0" bIns="0" rtlCol="0">
            <a:spAutoFit/>
          </a:bodyPr>
          <a:lstStyle/>
          <a:p>
            <a:pPr marL="38100">
              <a:lnSpc>
                <a:spcPct val="100000"/>
              </a:lnSpc>
              <a:spcBef>
                <a:spcPts val="95"/>
              </a:spcBef>
              <a:tabLst>
                <a:tab pos="651510" algn="l"/>
              </a:tabLst>
            </a:pPr>
            <a:r>
              <a:rPr sz="1500" spc="284" baseline="-22222" dirty="0">
                <a:latin typeface="Arial"/>
                <a:cs typeface="Arial"/>
              </a:rPr>
              <a:t>=</a:t>
            </a:r>
            <a:r>
              <a:rPr sz="1000" u="sng" spc="190" dirty="0">
                <a:uFill>
                  <a:solidFill>
                    <a:srgbClr val="000000"/>
                  </a:solidFill>
                </a:uFill>
                <a:latin typeface="Arial"/>
                <a:cs typeface="Arial"/>
              </a:rPr>
              <a:t> </a:t>
            </a:r>
            <a:r>
              <a:rPr sz="1000" u="sng" spc="300" dirty="0">
                <a:uFill>
                  <a:solidFill>
                    <a:srgbClr val="000000"/>
                  </a:solidFill>
                </a:uFill>
                <a:latin typeface="Arial"/>
                <a:cs typeface="Arial"/>
              </a:rPr>
              <a:t> </a:t>
            </a:r>
            <a:r>
              <a:rPr sz="700" i="1" u="sng" spc="85" dirty="0">
                <a:uFill>
                  <a:solidFill>
                    <a:srgbClr val="000000"/>
                  </a:solidFill>
                </a:uFill>
                <a:latin typeface="Arial"/>
                <a:cs typeface="Arial"/>
              </a:rPr>
              <a:t>i</a:t>
            </a:r>
            <a:r>
              <a:rPr sz="700" u="sng" spc="85" dirty="0">
                <a:uFill>
                  <a:solidFill>
                    <a:srgbClr val="000000"/>
                  </a:solidFill>
                </a:uFill>
                <a:latin typeface="Arial"/>
                <a:cs typeface="Arial"/>
              </a:rPr>
              <a:t>=1	</a:t>
            </a:r>
            <a:endParaRPr sz="700">
              <a:latin typeface="Arial"/>
              <a:cs typeface="Arial"/>
            </a:endParaRPr>
          </a:p>
        </p:txBody>
      </p:sp>
      <p:sp>
        <p:nvSpPr>
          <p:cNvPr id="8" name="object 8"/>
          <p:cNvSpPr txBox="1"/>
          <p:nvPr/>
        </p:nvSpPr>
        <p:spPr>
          <a:xfrm>
            <a:off x="2517622" y="1425478"/>
            <a:ext cx="198120" cy="177800"/>
          </a:xfrm>
          <a:prstGeom prst="rect">
            <a:avLst/>
          </a:prstGeom>
        </p:spPr>
        <p:txBody>
          <a:bodyPr vert="horz" wrap="square" lIns="0" tIns="12065" rIns="0" bIns="0" rtlCol="0">
            <a:spAutoFit/>
          </a:bodyPr>
          <a:lstStyle/>
          <a:p>
            <a:pPr marL="12700">
              <a:lnSpc>
                <a:spcPct val="100000"/>
              </a:lnSpc>
              <a:spcBef>
                <a:spcPts val="95"/>
              </a:spcBef>
            </a:pPr>
            <a:r>
              <a:rPr sz="1000" i="1" spc="-5" dirty="0">
                <a:latin typeface="Arial"/>
                <a:cs typeface="Arial"/>
              </a:rPr>
              <a:t>i</a:t>
            </a:r>
            <a:r>
              <a:rPr sz="1000" i="1" spc="-55" dirty="0">
                <a:latin typeface="Arial"/>
                <a:cs typeface="Arial"/>
              </a:rPr>
              <a:t> </a:t>
            </a:r>
            <a:r>
              <a:rPr sz="1000" i="1" spc="-75" dirty="0">
                <a:latin typeface="メイリオ"/>
                <a:cs typeface="メイリオ"/>
              </a:rPr>
              <a:t>·</a:t>
            </a:r>
            <a:r>
              <a:rPr sz="1000" i="1" spc="-204" dirty="0">
                <a:latin typeface="メイリオ"/>
                <a:cs typeface="メイリオ"/>
              </a:rPr>
              <a:t> </a:t>
            </a:r>
            <a:r>
              <a:rPr sz="1000" i="1" spc="-5" dirty="0">
                <a:latin typeface="Arial"/>
                <a:cs typeface="Arial"/>
              </a:rPr>
              <a:t>c</a:t>
            </a:r>
            <a:endParaRPr sz="1000">
              <a:latin typeface="Arial"/>
              <a:cs typeface="Arial"/>
            </a:endParaRPr>
          </a:p>
        </p:txBody>
      </p:sp>
      <p:sp>
        <p:nvSpPr>
          <p:cNvPr id="9" name="object 9"/>
          <p:cNvSpPr txBox="1"/>
          <p:nvPr/>
        </p:nvSpPr>
        <p:spPr>
          <a:xfrm>
            <a:off x="2690037" y="1482492"/>
            <a:ext cx="46355" cy="137795"/>
          </a:xfrm>
          <a:prstGeom prst="rect">
            <a:avLst/>
          </a:prstGeom>
        </p:spPr>
        <p:txBody>
          <a:bodyPr vert="horz" wrap="square" lIns="0" tIns="17145" rIns="0" bIns="0" rtlCol="0">
            <a:spAutoFit/>
          </a:bodyPr>
          <a:lstStyle/>
          <a:p>
            <a:pPr marL="12700">
              <a:lnSpc>
                <a:spcPct val="100000"/>
              </a:lnSpc>
              <a:spcBef>
                <a:spcPts val="135"/>
              </a:spcBef>
            </a:pPr>
            <a:r>
              <a:rPr sz="700" i="1" spc="5" dirty="0">
                <a:latin typeface="Arial"/>
                <a:cs typeface="Arial"/>
              </a:rPr>
              <a:t>i</a:t>
            </a:r>
            <a:endParaRPr sz="700">
              <a:latin typeface="Arial"/>
              <a:cs typeface="Arial"/>
            </a:endParaRPr>
          </a:p>
        </p:txBody>
      </p:sp>
      <p:sp>
        <p:nvSpPr>
          <p:cNvPr id="10" name="object 10"/>
          <p:cNvSpPr txBox="1"/>
          <p:nvPr/>
        </p:nvSpPr>
        <p:spPr>
          <a:xfrm>
            <a:off x="2300947" y="1599824"/>
            <a:ext cx="395605" cy="177800"/>
          </a:xfrm>
          <a:prstGeom prst="rect">
            <a:avLst/>
          </a:prstGeom>
        </p:spPr>
        <p:txBody>
          <a:bodyPr vert="horz" wrap="square" lIns="0" tIns="12065" rIns="0" bIns="0" rtlCol="0">
            <a:spAutoFit/>
          </a:bodyPr>
          <a:lstStyle/>
          <a:p>
            <a:pPr marL="38100">
              <a:lnSpc>
                <a:spcPct val="100000"/>
              </a:lnSpc>
              <a:spcBef>
                <a:spcPts val="95"/>
              </a:spcBef>
            </a:pPr>
            <a:r>
              <a:rPr sz="1000" spc="-5" dirty="0">
                <a:latin typeface="Arial"/>
                <a:cs typeface="Arial"/>
              </a:rPr>
              <a:t>1</a:t>
            </a:r>
            <a:r>
              <a:rPr sz="1000" spc="-140" dirty="0">
                <a:latin typeface="Arial"/>
                <a:cs typeface="Arial"/>
              </a:rPr>
              <a:t> </a:t>
            </a:r>
            <a:r>
              <a:rPr sz="1000" i="1" spc="105" dirty="0">
                <a:latin typeface="メイリオ"/>
                <a:cs typeface="メイリオ"/>
              </a:rPr>
              <a:t>−</a:t>
            </a:r>
            <a:r>
              <a:rPr sz="1000" i="1" spc="-5" dirty="0">
                <a:latin typeface="Arial"/>
                <a:cs typeface="Arial"/>
              </a:rPr>
              <a:t>c</a:t>
            </a:r>
            <a:r>
              <a:rPr sz="1050" spc="30" baseline="-15873" dirty="0">
                <a:latin typeface="Arial"/>
                <a:cs typeface="Arial"/>
              </a:rPr>
              <a:t>0</a:t>
            </a:r>
            <a:endParaRPr sz="1050" baseline="-15873">
              <a:latin typeface="Arial"/>
              <a:cs typeface="Arial"/>
            </a:endParaRPr>
          </a:p>
        </p:txBody>
      </p:sp>
      <p:sp>
        <p:nvSpPr>
          <p:cNvPr id="11" name="object 11"/>
          <p:cNvSpPr txBox="1"/>
          <p:nvPr/>
        </p:nvSpPr>
        <p:spPr>
          <a:xfrm>
            <a:off x="342747" y="1855411"/>
            <a:ext cx="3917315" cy="897255"/>
          </a:xfrm>
          <a:prstGeom prst="rect">
            <a:avLst/>
          </a:prstGeom>
        </p:spPr>
        <p:txBody>
          <a:bodyPr vert="horz" wrap="square" lIns="0" tIns="12065" rIns="0" bIns="0" rtlCol="0">
            <a:spAutoFit/>
          </a:bodyPr>
          <a:lstStyle/>
          <a:p>
            <a:pPr marL="17145" marR="5080" indent="-5080">
              <a:lnSpc>
                <a:spcPct val="100000"/>
              </a:lnSpc>
              <a:spcBef>
                <a:spcPts val="95"/>
              </a:spcBef>
            </a:pPr>
            <a:r>
              <a:rPr sz="1000" spc="-10" dirty="0">
                <a:latin typeface="Arial"/>
                <a:cs typeface="Arial"/>
              </a:rPr>
              <a:t>with </a:t>
            </a:r>
            <a:r>
              <a:rPr sz="1000" i="1" spc="-20" dirty="0">
                <a:latin typeface="Arial"/>
                <a:cs typeface="Arial"/>
              </a:rPr>
              <a:t>N</a:t>
            </a:r>
            <a:r>
              <a:rPr sz="1000" i="1" spc="70" dirty="0">
                <a:latin typeface="Arial"/>
                <a:cs typeface="Arial"/>
              </a:rPr>
              <a:t> </a:t>
            </a:r>
            <a:r>
              <a:rPr sz="1000" spc="-10" dirty="0">
                <a:latin typeface="Arial"/>
                <a:cs typeface="Arial"/>
              </a:rPr>
              <a:t>the </a:t>
            </a:r>
            <a:r>
              <a:rPr sz="1000" spc="-15" dirty="0">
                <a:latin typeface="Arial"/>
                <a:cs typeface="Arial"/>
              </a:rPr>
              <a:t>maximum</a:t>
            </a:r>
            <a:r>
              <a:rPr sz="1000" spc="-10" dirty="0">
                <a:latin typeface="Arial"/>
                <a:cs typeface="Arial"/>
              </a:rPr>
              <a:t> </a:t>
            </a:r>
            <a:r>
              <a:rPr sz="1000" spc="-15" dirty="0">
                <a:latin typeface="Arial"/>
                <a:cs typeface="Arial"/>
              </a:rPr>
              <a:t>number</a:t>
            </a:r>
            <a:r>
              <a:rPr sz="1000" spc="-10" dirty="0">
                <a:latin typeface="Arial"/>
                <a:cs typeface="Arial"/>
              </a:rPr>
              <a:t> of threads</a:t>
            </a:r>
            <a:r>
              <a:rPr sz="1000" spc="-5" dirty="0">
                <a:latin typeface="Arial"/>
                <a:cs typeface="Arial"/>
              </a:rPr>
              <a:t> </a:t>
            </a:r>
            <a:r>
              <a:rPr sz="1000" spc="-10" dirty="0">
                <a:latin typeface="Arial"/>
                <a:cs typeface="Arial"/>
              </a:rPr>
              <a:t>that (can) </a:t>
            </a:r>
            <a:r>
              <a:rPr sz="1000" spc="-20" dirty="0">
                <a:latin typeface="Arial"/>
                <a:cs typeface="Arial"/>
              </a:rPr>
              <a:t>execute</a:t>
            </a:r>
            <a:r>
              <a:rPr sz="1000" spc="-10" dirty="0">
                <a:latin typeface="Arial"/>
                <a:cs typeface="Arial"/>
              </a:rPr>
              <a:t> at the</a:t>
            </a:r>
            <a:r>
              <a:rPr sz="1000" spc="-5" dirty="0">
                <a:latin typeface="Arial"/>
                <a:cs typeface="Arial"/>
              </a:rPr>
              <a:t> </a:t>
            </a:r>
            <a:r>
              <a:rPr sz="1000" spc="-15" dirty="0">
                <a:latin typeface="Arial"/>
                <a:cs typeface="Arial"/>
              </a:rPr>
              <a:t>same </a:t>
            </a:r>
            <a:r>
              <a:rPr sz="1000" spc="-265" dirty="0">
                <a:latin typeface="Arial"/>
                <a:cs typeface="Arial"/>
              </a:rPr>
              <a:t> </a:t>
            </a:r>
            <a:r>
              <a:rPr sz="1000" spc="-5" dirty="0">
                <a:latin typeface="Arial"/>
                <a:cs typeface="Arial"/>
              </a:rPr>
              <a:t>time.</a:t>
            </a:r>
            <a:endParaRPr sz="1000" dirty="0">
              <a:latin typeface="Arial"/>
              <a:cs typeface="Arial"/>
            </a:endParaRPr>
          </a:p>
          <a:p>
            <a:pPr marL="17145">
              <a:lnSpc>
                <a:spcPts val="1410"/>
              </a:lnSpc>
              <a:spcBef>
                <a:spcPts val="685"/>
              </a:spcBef>
            </a:pPr>
            <a:r>
              <a:rPr sz="1200" spc="-5" dirty="0">
                <a:solidFill>
                  <a:srgbClr val="3333B2"/>
                </a:solidFill>
                <a:latin typeface="Arial"/>
                <a:cs typeface="Arial"/>
              </a:rPr>
              <a:t>Practical</a:t>
            </a:r>
            <a:r>
              <a:rPr sz="1200" spc="-35" dirty="0">
                <a:solidFill>
                  <a:srgbClr val="3333B2"/>
                </a:solidFill>
                <a:latin typeface="Arial"/>
                <a:cs typeface="Arial"/>
              </a:rPr>
              <a:t> </a:t>
            </a:r>
            <a:r>
              <a:rPr sz="1200" spc="-5" dirty="0">
                <a:solidFill>
                  <a:srgbClr val="3333B2"/>
                </a:solidFill>
                <a:latin typeface="Arial"/>
                <a:cs typeface="Arial"/>
              </a:rPr>
              <a:t>measurements</a:t>
            </a:r>
            <a:endParaRPr sz="1200" dirty="0">
              <a:latin typeface="Arial"/>
              <a:cs typeface="Arial"/>
            </a:endParaRPr>
          </a:p>
          <a:p>
            <a:pPr marL="12700">
              <a:lnSpc>
                <a:spcPts val="1170"/>
              </a:lnSpc>
            </a:pPr>
            <a:r>
              <a:rPr sz="1000" spc="-5" dirty="0">
                <a:latin typeface="Arial"/>
                <a:cs typeface="Arial"/>
              </a:rPr>
              <a:t>A typical </a:t>
            </a:r>
            <a:r>
              <a:rPr sz="1000" spc="-15" dirty="0">
                <a:latin typeface="Arial"/>
                <a:cs typeface="Arial"/>
              </a:rPr>
              <a:t>Web</a:t>
            </a:r>
            <a:r>
              <a:rPr sz="1000" spc="-5" dirty="0">
                <a:latin typeface="Arial"/>
                <a:cs typeface="Arial"/>
              </a:rPr>
              <a:t> browser has</a:t>
            </a:r>
            <a:r>
              <a:rPr sz="1000" dirty="0">
                <a:latin typeface="Arial"/>
                <a:cs typeface="Arial"/>
              </a:rPr>
              <a:t> </a:t>
            </a:r>
            <a:r>
              <a:rPr sz="1000" spc="-5" dirty="0">
                <a:latin typeface="Arial"/>
                <a:cs typeface="Arial"/>
              </a:rPr>
              <a:t>a TLP </a:t>
            </a:r>
            <a:r>
              <a:rPr sz="1000" spc="-10" dirty="0">
                <a:latin typeface="Arial"/>
                <a:cs typeface="Arial"/>
              </a:rPr>
              <a:t>value</a:t>
            </a:r>
            <a:r>
              <a:rPr sz="1000" spc="-5" dirty="0">
                <a:latin typeface="Arial"/>
                <a:cs typeface="Arial"/>
              </a:rPr>
              <a:t> between 1.5</a:t>
            </a:r>
            <a:r>
              <a:rPr sz="1000" dirty="0">
                <a:latin typeface="Arial"/>
                <a:cs typeface="Arial"/>
              </a:rPr>
              <a:t> </a:t>
            </a:r>
            <a:r>
              <a:rPr sz="1000" spc="-5" dirty="0">
                <a:latin typeface="Arial"/>
                <a:cs typeface="Arial"/>
              </a:rPr>
              <a:t>and 2.5 </a:t>
            </a:r>
            <a:r>
              <a:rPr sz="1000" i="1" spc="-5" dirty="0">
                <a:latin typeface="メイリオ"/>
                <a:cs typeface="メイリオ"/>
              </a:rPr>
              <a:t>⇒</a:t>
            </a:r>
            <a:endParaRPr sz="1000" dirty="0">
              <a:latin typeface="メイリオ"/>
              <a:cs typeface="メイリオ"/>
            </a:endParaRPr>
          </a:p>
          <a:p>
            <a:pPr marL="17145">
              <a:lnSpc>
                <a:spcPts val="1200"/>
              </a:lnSpc>
            </a:pPr>
            <a:r>
              <a:rPr sz="1000" spc="-5" dirty="0">
                <a:latin typeface="Arial"/>
                <a:cs typeface="Arial"/>
              </a:rPr>
              <a:t>threads</a:t>
            </a:r>
            <a:r>
              <a:rPr sz="1000" dirty="0">
                <a:latin typeface="Arial"/>
                <a:cs typeface="Arial"/>
              </a:rPr>
              <a:t> </a:t>
            </a:r>
            <a:r>
              <a:rPr sz="1000" spc="-5" dirty="0">
                <a:latin typeface="Arial"/>
                <a:cs typeface="Arial"/>
              </a:rPr>
              <a:t>are</a:t>
            </a:r>
            <a:r>
              <a:rPr sz="1000" spc="5" dirty="0">
                <a:latin typeface="Arial"/>
                <a:cs typeface="Arial"/>
              </a:rPr>
              <a:t> </a:t>
            </a:r>
            <a:r>
              <a:rPr sz="1000" dirty="0">
                <a:latin typeface="Arial"/>
                <a:cs typeface="Arial"/>
              </a:rPr>
              <a:t>primarily </a:t>
            </a:r>
            <a:r>
              <a:rPr sz="1000" spc="-5" dirty="0">
                <a:latin typeface="Arial"/>
                <a:cs typeface="Arial"/>
              </a:rPr>
              <a:t>used</a:t>
            </a:r>
            <a:r>
              <a:rPr sz="1000" spc="5" dirty="0">
                <a:latin typeface="Arial"/>
                <a:cs typeface="Arial"/>
              </a:rPr>
              <a:t> </a:t>
            </a:r>
            <a:r>
              <a:rPr sz="1000" spc="-15" dirty="0">
                <a:latin typeface="Arial"/>
                <a:cs typeface="Arial"/>
              </a:rPr>
              <a:t>for</a:t>
            </a:r>
            <a:r>
              <a:rPr sz="1000" dirty="0">
                <a:latin typeface="Arial"/>
                <a:cs typeface="Arial"/>
              </a:rPr>
              <a:t> </a:t>
            </a:r>
            <a:r>
              <a:rPr sz="1000" spc="-5" dirty="0">
                <a:solidFill>
                  <a:srgbClr val="0000FA"/>
                </a:solidFill>
                <a:latin typeface="Arial"/>
                <a:cs typeface="Arial"/>
              </a:rPr>
              <a:t>logically</a:t>
            </a:r>
            <a:r>
              <a:rPr sz="1000" spc="5" dirty="0">
                <a:solidFill>
                  <a:srgbClr val="0000FA"/>
                </a:solidFill>
                <a:latin typeface="Arial"/>
                <a:cs typeface="Arial"/>
              </a:rPr>
              <a:t> </a:t>
            </a:r>
            <a:r>
              <a:rPr sz="1000" spc="-5" dirty="0">
                <a:solidFill>
                  <a:srgbClr val="0000FA"/>
                </a:solidFill>
                <a:latin typeface="Arial"/>
                <a:cs typeface="Arial"/>
              </a:rPr>
              <a:t>organizing</a:t>
            </a:r>
            <a:r>
              <a:rPr sz="1000" dirty="0">
                <a:solidFill>
                  <a:srgbClr val="0000FA"/>
                </a:solidFill>
                <a:latin typeface="Arial"/>
                <a:cs typeface="Arial"/>
              </a:rPr>
              <a:t> </a:t>
            </a:r>
            <a:r>
              <a:rPr sz="1000" spc="-10" dirty="0">
                <a:latin typeface="Arial"/>
                <a:cs typeface="Arial"/>
              </a:rPr>
              <a:t>browsers.</a:t>
            </a:r>
            <a:endParaRPr sz="1000" dirty="0">
              <a:latin typeface="Arial"/>
              <a:cs typeface="Arial"/>
            </a:endParaRPr>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55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Multithreaded</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servers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14</a:t>
            </a:r>
            <a:r>
              <a:rPr spc="-40" dirty="0"/>
              <a:t> </a:t>
            </a:r>
            <a:r>
              <a:rPr spc="-5" dirty="0"/>
              <a:t>/</a:t>
            </a:r>
            <a:r>
              <a:rPr spc="-35" dirty="0"/>
              <a:t> </a:t>
            </a:r>
            <a:r>
              <a:rPr spc="-5" dirty="0"/>
              <a:t>47</a:t>
            </a:r>
          </a:p>
        </p:txBody>
      </p:sp>
      <p:sp>
        <p:nvSpPr>
          <p:cNvPr id="2" name="object 2"/>
          <p:cNvSpPr txBox="1"/>
          <p:nvPr/>
        </p:nvSpPr>
        <p:spPr>
          <a:xfrm>
            <a:off x="66713" y="716"/>
            <a:ext cx="71945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Threads</a:t>
            </a:r>
            <a:endParaRPr sz="600">
              <a:latin typeface="Arial"/>
              <a:cs typeface="Arial"/>
            </a:endParaRPr>
          </a:p>
        </p:txBody>
      </p:sp>
      <p:sp>
        <p:nvSpPr>
          <p:cNvPr id="3" name="object 3"/>
          <p:cNvSpPr txBox="1"/>
          <p:nvPr/>
        </p:nvSpPr>
        <p:spPr>
          <a:xfrm>
            <a:off x="3486873" y="716"/>
            <a:ext cx="105473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Threads</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 distributed systems</a:t>
            </a:r>
            <a:endParaRPr sz="600">
              <a:latin typeface="Arial"/>
              <a:cs typeface="Arial"/>
            </a:endParaRPr>
          </a:p>
        </p:txBody>
      </p:sp>
      <p:sp>
        <p:nvSpPr>
          <p:cNvPr id="4" name="object 4"/>
          <p:cNvSpPr txBox="1"/>
          <p:nvPr/>
        </p:nvSpPr>
        <p:spPr>
          <a:xfrm>
            <a:off x="69900" y="188846"/>
            <a:ext cx="4184650" cy="2623820"/>
          </a:xfrm>
          <a:prstGeom prst="rect">
            <a:avLst/>
          </a:prstGeom>
        </p:spPr>
        <p:txBody>
          <a:bodyPr vert="horz" wrap="square" lIns="0" tIns="17145" rIns="0" bIns="0" rtlCol="0">
            <a:spAutoFit/>
          </a:bodyPr>
          <a:lstStyle/>
          <a:p>
            <a:pPr marL="38100">
              <a:lnSpc>
                <a:spcPct val="100000"/>
              </a:lnSpc>
              <a:spcBef>
                <a:spcPts val="135"/>
              </a:spcBef>
            </a:pPr>
            <a:r>
              <a:rPr sz="1400" spc="15" dirty="0">
                <a:solidFill>
                  <a:srgbClr val="3333B2"/>
                </a:solidFill>
                <a:latin typeface="Arial"/>
                <a:cs typeface="Arial"/>
              </a:rPr>
              <a:t>Using</a:t>
            </a:r>
            <a:r>
              <a:rPr sz="1400" spc="-5" dirty="0">
                <a:solidFill>
                  <a:srgbClr val="3333B2"/>
                </a:solidFill>
                <a:latin typeface="Arial"/>
                <a:cs typeface="Arial"/>
              </a:rPr>
              <a:t> </a:t>
            </a:r>
            <a:r>
              <a:rPr sz="1400" spc="15" dirty="0">
                <a:solidFill>
                  <a:srgbClr val="3333B2"/>
                </a:solidFill>
                <a:latin typeface="Arial"/>
                <a:cs typeface="Arial"/>
              </a:rPr>
              <a:t>threads</a:t>
            </a:r>
            <a:r>
              <a:rPr sz="1400" spc="-5" dirty="0">
                <a:solidFill>
                  <a:srgbClr val="3333B2"/>
                </a:solidFill>
                <a:latin typeface="Arial"/>
                <a:cs typeface="Arial"/>
              </a:rPr>
              <a:t> </a:t>
            </a:r>
            <a:r>
              <a:rPr sz="1400" spc="10" dirty="0">
                <a:solidFill>
                  <a:srgbClr val="3333B2"/>
                </a:solidFill>
                <a:latin typeface="Arial"/>
                <a:cs typeface="Arial"/>
              </a:rPr>
              <a:t>at</a:t>
            </a:r>
            <a:r>
              <a:rPr sz="1400" spc="-5" dirty="0">
                <a:solidFill>
                  <a:srgbClr val="3333B2"/>
                </a:solidFill>
                <a:latin typeface="Arial"/>
                <a:cs typeface="Arial"/>
              </a:rPr>
              <a:t> </a:t>
            </a:r>
            <a:r>
              <a:rPr sz="1400" spc="15" dirty="0">
                <a:solidFill>
                  <a:srgbClr val="3333B2"/>
                </a:solidFill>
                <a:latin typeface="Arial"/>
                <a:cs typeface="Arial"/>
              </a:rPr>
              <a:t>the</a:t>
            </a:r>
            <a:r>
              <a:rPr sz="1400" spc="-5" dirty="0">
                <a:solidFill>
                  <a:srgbClr val="3333B2"/>
                </a:solidFill>
                <a:latin typeface="Arial"/>
                <a:cs typeface="Arial"/>
              </a:rPr>
              <a:t> </a:t>
            </a:r>
            <a:r>
              <a:rPr sz="1400" spc="15" dirty="0">
                <a:solidFill>
                  <a:srgbClr val="3333B2"/>
                </a:solidFill>
                <a:latin typeface="Arial"/>
                <a:cs typeface="Arial"/>
              </a:rPr>
              <a:t>server</a:t>
            </a:r>
            <a:r>
              <a:rPr sz="1400" spc="-5" dirty="0">
                <a:solidFill>
                  <a:srgbClr val="3333B2"/>
                </a:solidFill>
                <a:latin typeface="Arial"/>
                <a:cs typeface="Arial"/>
              </a:rPr>
              <a:t> </a:t>
            </a:r>
            <a:r>
              <a:rPr sz="1400" spc="15" dirty="0">
                <a:solidFill>
                  <a:srgbClr val="3333B2"/>
                </a:solidFill>
                <a:latin typeface="Arial"/>
                <a:cs typeface="Arial"/>
              </a:rPr>
              <a:t>side</a:t>
            </a:r>
            <a:endParaRPr sz="1400" dirty="0">
              <a:latin typeface="Arial"/>
              <a:cs typeface="Arial"/>
            </a:endParaRPr>
          </a:p>
          <a:p>
            <a:pPr>
              <a:lnSpc>
                <a:spcPct val="100000"/>
              </a:lnSpc>
              <a:spcBef>
                <a:spcPts val="25"/>
              </a:spcBef>
            </a:pPr>
            <a:endParaRPr sz="1950" dirty="0">
              <a:latin typeface="Arial"/>
              <a:cs typeface="Arial"/>
            </a:endParaRPr>
          </a:p>
          <a:p>
            <a:pPr marL="289560">
              <a:lnSpc>
                <a:spcPct val="100000"/>
              </a:lnSpc>
            </a:pPr>
            <a:r>
              <a:rPr sz="1200" spc="-10" dirty="0">
                <a:solidFill>
                  <a:srgbClr val="3333B2"/>
                </a:solidFill>
                <a:latin typeface="Arial"/>
                <a:cs typeface="Arial"/>
              </a:rPr>
              <a:t>Improve</a:t>
            </a:r>
            <a:r>
              <a:rPr sz="1200" spc="-45" dirty="0">
                <a:solidFill>
                  <a:srgbClr val="3333B2"/>
                </a:solidFill>
                <a:latin typeface="Arial"/>
                <a:cs typeface="Arial"/>
              </a:rPr>
              <a:t> </a:t>
            </a:r>
            <a:r>
              <a:rPr sz="1200" spc="-5" dirty="0">
                <a:solidFill>
                  <a:srgbClr val="3333B2"/>
                </a:solidFill>
                <a:latin typeface="Arial"/>
                <a:cs typeface="Arial"/>
              </a:rPr>
              <a:t>performance</a:t>
            </a:r>
            <a:endParaRPr sz="1200" dirty="0">
              <a:latin typeface="Arial"/>
              <a:cs typeface="Arial"/>
            </a:endParaRPr>
          </a:p>
          <a:p>
            <a:pPr marL="567055" indent="-168275">
              <a:lnSpc>
                <a:spcPts val="1200"/>
              </a:lnSpc>
              <a:spcBef>
                <a:spcPts val="775"/>
              </a:spcBef>
              <a:buClr>
                <a:srgbClr val="3333B2"/>
              </a:buClr>
              <a:buChar char="►"/>
              <a:tabLst>
                <a:tab pos="567690" algn="l"/>
              </a:tabLst>
            </a:pPr>
            <a:r>
              <a:rPr sz="1000" dirty="0">
                <a:latin typeface="Arial"/>
                <a:cs typeface="Arial"/>
              </a:rPr>
              <a:t>Starting</a:t>
            </a:r>
            <a:r>
              <a:rPr sz="1000" spc="-5" dirty="0">
                <a:latin typeface="Arial"/>
                <a:cs typeface="Arial"/>
              </a:rPr>
              <a:t> a thread</a:t>
            </a:r>
            <a:r>
              <a:rPr sz="1000" dirty="0">
                <a:latin typeface="Arial"/>
                <a:cs typeface="Arial"/>
              </a:rPr>
              <a:t> </a:t>
            </a:r>
            <a:r>
              <a:rPr sz="1000" spc="-5" dirty="0">
                <a:latin typeface="Arial"/>
                <a:cs typeface="Arial"/>
              </a:rPr>
              <a:t>is cheaper</a:t>
            </a:r>
            <a:r>
              <a:rPr sz="1000" dirty="0">
                <a:latin typeface="Arial"/>
                <a:cs typeface="Arial"/>
              </a:rPr>
              <a:t> </a:t>
            </a:r>
            <a:r>
              <a:rPr sz="1000" spc="-5" dirty="0">
                <a:latin typeface="Arial"/>
                <a:cs typeface="Arial"/>
              </a:rPr>
              <a:t>than </a:t>
            </a:r>
            <a:r>
              <a:rPr sz="1000" dirty="0">
                <a:latin typeface="Arial"/>
                <a:cs typeface="Arial"/>
              </a:rPr>
              <a:t>starting </a:t>
            </a:r>
            <a:r>
              <a:rPr sz="1000" spc="-5" dirty="0">
                <a:latin typeface="Arial"/>
                <a:cs typeface="Arial"/>
              </a:rPr>
              <a:t>a </a:t>
            </a:r>
            <a:r>
              <a:rPr sz="1000" spc="-10" dirty="0">
                <a:latin typeface="Arial"/>
                <a:cs typeface="Arial"/>
              </a:rPr>
              <a:t>new</a:t>
            </a:r>
            <a:r>
              <a:rPr sz="1000" spc="-5" dirty="0">
                <a:latin typeface="Arial"/>
                <a:cs typeface="Arial"/>
              </a:rPr>
              <a:t> process.</a:t>
            </a:r>
            <a:endParaRPr sz="1000" dirty="0">
              <a:latin typeface="Arial"/>
              <a:cs typeface="Arial"/>
            </a:endParaRPr>
          </a:p>
          <a:p>
            <a:pPr marL="567055" marR="144780" indent="-168275">
              <a:lnSpc>
                <a:spcPts val="1200"/>
              </a:lnSpc>
              <a:spcBef>
                <a:spcPts val="35"/>
              </a:spcBef>
              <a:buClr>
                <a:srgbClr val="3333B2"/>
              </a:buClr>
              <a:buChar char="►"/>
              <a:tabLst>
                <a:tab pos="567690" algn="l"/>
              </a:tabLst>
            </a:pPr>
            <a:r>
              <a:rPr sz="1000" spc="-10" dirty="0">
                <a:latin typeface="Arial"/>
                <a:cs typeface="Arial"/>
              </a:rPr>
              <a:t>Having</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single-threaded</a:t>
            </a:r>
            <a:r>
              <a:rPr sz="1000" spc="5"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prohibits</a:t>
            </a:r>
            <a:r>
              <a:rPr sz="1000" spc="5" dirty="0">
                <a:latin typeface="Arial"/>
                <a:cs typeface="Arial"/>
              </a:rPr>
              <a:t> </a:t>
            </a:r>
            <a:r>
              <a:rPr sz="1000" spc="-5" dirty="0">
                <a:latin typeface="Arial"/>
                <a:cs typeface="Arial"/>
              </a:rPr>
              <a:t>simple</a:t>
            </a:r>
            <a:r>
              <a:rPr sz="1000" spc="5" dirty="0">
                <a:latin typeface="Arial"/>
                <a:cs typeface="Arial"/>
              </a:rPr>
              <a:t> </a:t>
            </a:r>
            <a:r>
              <a:rPr sz="1000" spc="-5" dirty="0">
                <a:latin typeface="Arial"/>
                <a:cs typeface="Arial"/>
              </a:rPr>
              <a:t>scale-up</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a </a:t>
            </a:r>
            <a:r>
              <a:rPr sz="1000" spc="-260" dirty="0">
                <a:latin typeface="Arial"/>
                <a:cs typeface="Arial"/>
              </a:rPr>
              <a:t> </a:t>
            </a:r>
            <a:r>
              <a:rPr sz="1000" spc="-5" dirty="0">
                <a:solidFill>
                  <a:srgbClr val="0000FA"/>
                </a:solidFill>
                <a:latin typeface="Arial"/>
                <a:cs typeface="Arial"/>
              </a:rPr>
              <a:t>multiprocessor</a:t>
            </a:r>
            <a:r>
              <a:rPr sz="1000" spc="-10" dirty="0">
                <a:solidFill>
                  <a:srgbClr val="0000FA"/>
                </a:solidFill>
                <a:latin typeface="Arial"/>
                <a:cs typeface="Arial"/>
              </a:rPr>
              <a:t> </a:t>
            </a:r>
            <a:r>
              <a:rPr sz="1000" spc="-5" dirty="0">
                <a:solidFill>
                  <a:srgbClr val="0000FA"/>
                </a:solidFill>
                <a:latin typeface="Arial"/>
                <a:cs typeface="Arial"/>
              </a:rPr>
              <a:t>system</a:t>
            </a:r>
            <a:r>
              <a:rPr sz="1000" spc="-5" dirty="0">
                <a:latin typeface="Arial"/>
                <a:cs typeface="Arial"/>
              </a:rPr>
              <a:t>.</a:t>
            </a:r>
            <a:endParaRPr sz="1000" dirty="0">
              <a:latin typeface="Arial"/>
              <a:cs typeface="Arial"/>
            </a:endParaRPr>
          </a:p>
          <a:p>
            <a:pPr marL="567055" indent="-168275">
              <a:lnSpc>
                <a:spcPts val="1150"/>
              </a:lnSpc>
              <a:buClr>
                <a:srgbClr val="3333B2"/>
              </a:buClr>
              <a:buChar char="►"/>
              <a:tabLst>
                <a:tab pos="567690" algn="l"/>
              </a:tabLst>
            </a:pPr>
            <a:r>
              <a:rPr sz="1000" spc="-5" dirty="0">
                <a:latin typeface="Arial"/>
                <a:cs typeface="Arial"/>
              </a:rPr>
              <a:t>As</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clients:</a:t>
            </a:r>
            <a:r>
              <a:rPr sz="1000" spc="65" dirty="0">
                <a:latin typeface="Arial"/>
                <a:cs typeface="Arial"/>
              </a:rPr>
              <a:t> </a:t>
            </a:r>
            <a:r>
              <a:rPr sz="1000" spc="-5" dirty="0">
                <a:solidFill>
                  <a:srgbClr val="0000FA"/>
                </a:solidFill>
                <a:latin typeface="Arial"/>
                <a:cs typeface="Arial"/>
              </a:rPr>
              <a:t>hide</a:t>
            </a:r>
            <a:r>
              <a:rPr sz="1000" dirty="0">
                <a:solidFill>
                  <a:srgbClr val="0000FA"/>
                </a:solidFill>
                <a:latin typeface="Arial"/>
                <a:cs typeface="Arial"/>
              </a:rPr>
              <a:t> </a:t>
            </a:r>
            <a:r>
              <a:rPr sz="1000" spc="-5" dirty="0">
                <a:solidFill>
                  <a:srgbClr val="0000FA"/>
                </a:solidFill>
                <a:latin typeface="Arial"/>
                <a:cs typeface="Arial"/>
              </a:rPr>
              <a:t>network</a:t>
            </a:r>
            <a:r>
              <a:rPr sz="1000" spc="5" dirty="0">
                <a:solidFill>
                  <a:srgbClr val="0000FA"/>
                </a:solidFill>
                <a:latin typeface="Arial"/>
                <a:cs typeface="Arial"/>
              </a:rPr>
              <a:t> </a:t>
            </a:r>
            <a:r>
              <a:rPr sz="1000" spc="-5" dirty="0">
                <a:solidFill>
                  <a:srgbClr val="0000FA"/>
                </a:solidFill>
                <a:latin typeface="Arial"/>
                <a:cs typeface="Arial"/>
              </a:rPr>
              <a:t>latency</a:t>
            </a:r>
            <a:r>
              <a:rPr sz="1000" dirty="0">
                <a:solidFill>
                  <a:srgbClr val="0000FA"/>
                </a:solidFill>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reacting</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next</a:t>
            </a:r>
            <a:r>
              <a:rPr sz="1000" dirty="0">
                <a:latin typeface="Arial"/>
                <a:cs typeface="Arial"/>
              </a:rPr>
              <a:t> </a:t>
            </a:r>
            <a:r>
              <a:rPr sz="1000" spc="-5" dirty="0">
                <a:latin typeface="Arial"/>
                <a:cs typeface="Arial"/>
              </a:rPr>
              <a:t>request</a:t>
            </a:r>
            <a:endParaRPr sz="1000" dirty="0">
              <a:latin typeface="Arial"/>
              <a:cs typeface="Arial"/>
            </a:endParaRPr>
          </a:p>
          <a:p>
            <a:pPr marL="562610">
              <a:lnSpc>
                <a:spcPts val="1200"/>
              </a:lnSpc>
            </a:pPr>
            <a:r>
              <a:rPr sz="1000" spc="-5" dirty="0">
                <a:latin typeface="Arial"/>
                <a:cs typeface="Arial"/>
              </a:rPr>
              <a:t>while </a:t>
            </a:r>
            <a:r>
              <a:rPr sz="1000" spc="-10" dirty="0">
                <a:latin typeface="Arial"/>
                <a:cs typeface="Arial"/>
              </a:rPr>
              <a:t>previous</a:t>
            </a:r>
            <a:r>
              <a:rPr sz="1000" spc="-5" dirty="0">
                <a:latin typeface="Arial"/>
                <a:cs typeface="Arial"/>
              </a:rPr>
              <a:t> one is</a:t>
            </a:r>
            <a:r>
              <a:rPr sz="1000" dirty="0">
                <a:latin typeface="Arial"/>
                <a:cs typeface="Arial"/>
              </a:rPr>
              <a:t> </a:t>
            </a:r>
            <a:r>
              <a:rPr sz="1000" spc="-5" dirty="0">
                <a:latin typeface="Arial"/>
                <a:cs typeface="Arial"/>
              </a:rPr>
              <a:t>being replied.</a:t>
            </a:r>
            <a:endParaRPr sz="1000" dirty="0">
              <a:latin typeface="Arial"/>
              <a:cs typeface="Arial"/>
            </a:endParaRPr>
          </a:p>
          <a:p>
            <a:pPr>
              <a:lnSpc>
                <a:spcPct val="100000"/>
              </a:lnSpc>
              <a:spcBef>
                <a:spcPts val="20"/>
              </a:spcBef>
            </a:pPr>
            <a:endParaRPr sz="1300" dirty="0">
              <a:latin typeface="Arial"/>
              <a:cs typeface="Arial"/>
            </a:endParaRPr>
          </a:p>
          <a:p>
            <a:pPr marL="289560">
              <a:lnSpc>
                <a:spcPct val="100000"/>
              </a:lnSpc>
            </a:pPr>
            <a:r>
              <a:rPr sz="1200" spc="-5" dirty="0">
                <a:solidFill>
                  <a:srgbClr val="3333B2"/>
                </a:solidFill>
                <a:latin typeface="Arial"/>
                <a:cs typeface="Arial"/>
              </a:rPr>
              <a:t>Better</a:t>
            </a:r>
            <a:r>
              <a:rPr sz="1200" spc="-25" dirty="0">
                <a:solidFill>
                  <a:srgbClr val="3333B2"/>
                </a:solidFill>
                <a:latin typeface="Arial"/>
                <a:cs typeface="Arial"/>
              </a:rPr>
              <a:t> </a:t>
            </a:r>
            <a:r>
              <a:rPr sz="1200" spc="-5" dirty="0">
                <a:solidFill>
                  <a:srgbClr val="3333B2"/>
                </a:solidFill>
                <a:latin typeface="Arial"/>
                <a:cs typeface="Arial"/>
              </a:rPr>
              <a:t>structure</a:t>
            </a:r>
            <a:endParaRPr sz="1200" dirty="0">
              <a:latin typeface="Arial"/>
              <a:cs typeface="Arial"/>
            </a:endParaRPr>
          </a:p>
          <a:p>
            <a:pPr marL="567055" indent="-168275">
              <a:lnSpc>
                <a:spcPts val="1200"/>
              </a:lnSpc>
              <a:spcBef>
                <a:spcPts val="540"/>
              </a:spcBef>
              <a:buClr>
                <a:srgbClr val="3333B2"/>
              </a:buClr>
              <a:buChar char="►"/>
              <a:tabLst>
                <a:tab pos="567690" algn="l"/>
              </a:tabLst>
            </a:pPr>
            <a:r>
              <a:rPr sz="1000" spc="-5" dirty="0">
                <a:latin typeface="Arial"/>
                <a:cs typeface="Arial"/>
              </a:rPr>
              <a:t>Most</a:t>
            </a:r>
            <a:r>
              <a:rPr sz="1000" spc="-10" dirty="0">
                <a:latin typeface="Arial"/>
                <a:cs typeface="Arial"/>
              </a:rPr>
              <a:t> </a:t>
            </a:r>
            <a:r>
              <a:rPr sz="1000" spc="-5" dirty="0">
                <a:latin typeface="Arial"/>
                <a:cs typeface="Arial"/>
              </a:rPr>
              <a:t>servers </a:t>
            </a:r>
            <a:r>
              <a:rPr sz="1000" spc="-15" dirty="0">
                <a:latin typeface="Arial"/>
                <a:cs typeface="Arial"/>
              </a:rPr>
              <a:t>have</a:t>
            </a:r>
            <a:r>
              <a:rPr sz="1000" spc="-5" dirty="0">
                <a:latin typeface="Arial"/>
                <a:cs typeface="Arial"/>
              </a:rPr>
              <a:t> high I/O demands.</a:t>
            </a:r>
            <a:r>
              <a:rPr sz="1000" spc="60" dirty="0">
                <a:latin typeface="Arial"/>
                <a:cs typeface="Arial"/>
              </a:rPr>
              <a:t> </a:t>
            </a:r>
            <a:r>
              <a:rPr sz="1000" spc="-5" dirty="0">
                <a:latin typeface="Arial"/>
                <a:cs typeface="Arial"/>
              </a:rPr>
              <a:t>Using</a:t>
            </a:r>
            <a:r>
              <a:rPr sz="1000" spc="-10" dirty="0">
                <a:latin typeface="Arial"/>
                <a:cs typeface="Arial"/>
              </a:rPr>
              <a:t> </a:t>
            </a:r>
            <a:r>
              <a:rPr sz="1000" spc="-5" dirty="0">
                <a:latin typeface="Arial"/>
                <a:cs typeface="Arial"/>
              </a:rPr>
              <a:t>simple,</a:t>
            </a:r>
            <a:endParaRPr sz="1000" dirty="0">
              <a:latin typeface="Arial"/>
              <a:cs typeface="Arial"/>
            </a:endParaRPr>
          </a:p>
          <a:p>
            <a:pPr marL="562610">
              <a:lnSpc>
                <a:spcPts val="1195"/>
              </a:lnSpc>
            </a:pPr>
            <a:r>
              <a:rPr sz="1000" spc="-5" dirty="0">
                <a:solidFill>
                  <a:srgbClr val="0000FA"/>
                </a:solidFill>
                <a:latin typeface="Arial"/>
                <a:cs typeface="Arial"/>
              </a:rPr>
              <a:t>well-understood</a:t>
            </a:r>
            <a:r>
              <a:rPr sz="1000" dirty="0">
                <a:solidFill>
                  <a:srgbClr val="0000FA"/>
                </a:solidFill>
                <a:latin typeface="Arial"/>
                <a:cs typeface="Arial"/>
              </a:rPr>
              <a:t> </a:t>
            </a:r>
            <a:r>
              <a:rPr sz="1000" spc="-10" dirty="0">
                <a:solidFill>
                  <a:srgbClr val="0000FA"/>
                </a:solidFill>
                <a:latin typeface="Arial"/>
                <a:cs typeface="Arial"/>
              </a:rPr>
              <a:t>blocking</a:t>
            </a:r>
            <a:r>
              <a:rPr sz="1000" spc="5" dirty="0">
                <a:solidFill>
                  <a:srgbClr val="0000FA"/>
                </a:solidFill>
                <a:latin typeface="Arial"/>
                <a:cs typeface="Arial"/>
              </a:rPr>
              <a:t> </a:t>
            </a:r>
            <a:r>
              <a:rPr sz="1000" spc="-5" dirty="0">
                <a:solidFill>
                  <a:srgbClr val="0000FA"/>
                </a:solidFill>
                <a:latin typeface="Arial"/>
                <a:cs typeface="Arial"/>
              </a:rPr>
              <a:t>calls</a:t>
            </a:r>
            <a:r>
              <a:rPr sz="1000" spc="5" dirty="0">
                <a:solidFill>
                  <a:srgbClr val="0000FA"/>
                </a:solidFill>
                <a:latin typeface="Arial"/>
                <a:cs typeface="Arial"/>
              </a:rPr>
              <a:t> </a:t>
            </a:r>
            <a:r>
              <a:rPr sz="1000" spc="-5" dirty="0">
                <a:latin typeface="Arial"/>
                <a:cs typeface="Arial"/>
              </a:rPr>
              <a:t>simplifies</a:t>
            </a:r>
            <a:r>
              <a:rPr sz="1000"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overall</a:t>
            </a:r>
            <a:r>
              <a:rPr sz="1000" spc="5" dirty="0">
                <a:latin typeface="Arial"/>
                <a:cs typeface="Arial"/>
              </a:rPr>
              <a:t> </a:t>
            </a:r>
            <a:r>
              <a:rPr sz="1000" spc="-5" dirty="0">
                <a:latin typeface="Arial"/>
                <a:cs typeface="Arial"/>
              </a:rPr>
              <a:t>structure.</a:t>
            </a:r>
            <a:endParaRPr sz="1000" dirty="0">
              <a:latin typeface="Arial"/>
              <a:cs typeface="Arial"/>
            </a:endParaRPr>
          </a:p>
          <a:p>
            <a:pPr marL="567055" marR="468630" indent="-168275">
              <a:lnSpc>
                <a:spcPts val="1200"/>
              </a:lnSpc>
              <a:spcBef>
                <a:spcPts val="40"/>
              </a:spcBef>
              <a:buClr>
                <a:srgbClr val="3333B2"/>
              </a:buClr>
              <a:buChar char="►"/>
              <a:tabLst>
                <a:tab pos="567690" algn="l"/>
              </a:tabLst>
            </a:pPr>
            <a:r>
              <a:rPr sz="1000" spc="-5" dirty="0">
                <a:latin typeface="Arial"/>
                <a:cs typeface="Arial"/>
              </a:rPr>
              <a:t>Multithreaded programs</a:t>
            </a:r>
            <a:r>
              <a:rPr sz="1000" dirty="0">
                <a:latin typeface="Arial"/>
                <a:cs typeface="Arial"/>
              </a:rPr>
              <a:t> </a:t>
            </a:r>
            <a:r>
              <a:rPr sz="1000" spc="-5" dirty="0">
                <a:latin typeface="Arial"/>
                <a:cs typeface="Arial"/>
              </a:rPr>
              <a:t>tend to</a:t>
            </a:r>
            <a:r>
              <a:rPr sz="1000" dirty="0">
                <a:latin typeface="Arial"/>
                <a:cs typeface="Arial"/>
              </a:rPr>
              <a:t> </a:t>
            </a:r>
            <a:r>
              <a:rPr sz="1000" spc="-5" dirty="0">
                <a:latin typeface="Arial"/>
                <a:cs typeface="Arial"/>
              </a:rPr>
              <a:t>be</a:t>
            </a:r>
            <a:r>
              <a:rPr sz="1000" dirty="0">
                <a:latin typeface="Arial"/>
                <a:cs typeface="Arial"/>
              </a:rPr>
              <a:t> </a:t>
            </a:r>
            <a:r>
              <a:rPr sz="1000" spc="-5" dirty="0">
                <a:solidFill>
                  <a:srgbClr val="0000FA"/>
                </a:solidFill>
                <a:latin typeface="Arial"/>
                <a:cs typeface="Arial"/>
              </a:rPr>
              <a:t>smaller and</a:t>
            </a:r>
            <a:r>
              <a:rPr sz="1000" dirty="0">
                <a:solidFill>
                  <a:srgbClr val="0000FA"/>
                </a:solidFill>
                <a:latin typeface="Arial"/>
                <a:cs typeface="Arial"/>
              </a:rPr>
              <a:t> </a:t>
            </a:r>
            <a:r>
              <a:rPr sz="1000" spc="-5" dirty="0">
                <a:solidFill>
                  <a:srgbClr val="0000FA"/>
                </a:solidFill>
                <a:latin typeface="Arial"/>
                <a:cs typeface="Arial"/>
              </a:rPr>
              <a:t>easier</a:t>
            </a:r>
            <a:r>
              <a:rPr sz="1000" dirty="0">
                <a:solidFill>
                  <a:srgbClr val="0000FA"/>
                </a:solidFill>
                <a:latin typeface="Arial"/>
                <a:cs typeface="Arial"/>
              </a:rPr>
              <a:t> </a:t>
            </a:r>
            <a:r>
              <a:rPr sz="1000" spc="-5" dirty="0">
                <a:solidFill>
                  <a:srgbClr val="0000FA"/>
                </a:solidFill>
                <a:latin typeface="Arial"/>
                <a:cs typeface="Arial"/>
              </a:rPr>
              <a:t>to </a:t>
            </a:r>
            <a:r>
              <a:rPr sz="1000" spc="-265" dirty="0">
                <a:solidFill>
                  <a:srgbClr val="0000FA"/>
                </a:solidFill>
                <a:latin typeface="Arial"/>
                <a:cs typeface="Arial"/>
              </a:rPr>
              <a:t> </a:t>
            </a:r>
            <a:r>
              <a:rPr sz="1000" spc="-5" dirty="0">
                <a:solidFill>
                  <a:srgbClr val="0000FA"/>
                </a:solidFill>
                <a:latin typeface="Arial"/>
                <a:cs typeface="Arial"/>
              </a:rPr>
              <a:t>understand </a:t>
            </a:r>
            <a:r>
              <a:rPr sz="1000" spc="-5" dirty="0">
                <a:latin typeface="Arial"/>
                <a:cs typeface="Arial"/>
              </a:rPr>
              <a:t>due to </a:t>
            </a:r>
            <a:r>
              <a:rPr sz="1000" spc="-5" dirty="0">
                <a:solidFill>
                  <a:srgbClr val="0000FA"/>
                </a:solidFill>
                <a:latin typeface="Arial"/>
                <a:cs typeface="Arial"/>
              </a:rPr>
              <a:t>simplified </a:t>
            </a:r>
            <a:r>
              <a:rPr sz="1000" spc="-10" dirty="0">
                <a:solidFill>
                  <a:srgbClr val="0000FA"/>
                </a:solidFill>
                <a:latin typeface="Arial"/>
                <a:cs typeface="Arial"/>
              </a:rPr>
              <a:t>flow</a:t>
            </a:r>
            <a:r>
              <a:rPr sz="1000" dirty="0">
                <a:solidFill>
                  <a:srgbClr val="0000FA"/>
                </a:solidFill>
                <a:latin typeface="Arial"/>
                <a:cs typeface="Arial"/>
              </a:rPr>
              <a:t> </a:t>
            </a:r>
            <a:r>
              <a:rPr sz="1000" spc="-5" dirty="0">
                <a:solidFill>
                  <a:srgbClr val="0000FA"/>
                </a:solidFill>
                <a:latin typeface="Arial"/>
                <a:cs typeface="Arial"/>
              </a:rPr>
              <a:t>of control</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432175"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3" action="ppaction://hlinksldjump"/>
              </a:rPr>
              <a:t>Threads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Threads in distributed</a:t>
            </a:r>
            <a:r>
              <a:rPr sz="600" spc="-1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systems</a:t>
            </a:r>
            <a:endParaRPr sz="600">
              <a:latin typeface="Arial"/>
              <a:cs typeface="Arial"/>
            </a:endParaRPr>
          </a:p>
        </p:txBody>
      </p:sp>
      <p:sp>
        <p:nvSpPr>
          <p:cNvPr id="3" name="object 3"/>
          <p:cNvSpPr txBox="1">
            <a:spLocks noGrp="1"/>
          </p:cNvSpPr>
          <p:nvPr>
            <p:ph type="title"/>
          </p:nvPr>
        </p:nvSpPr>
        <p:spPr>
          <a:xfrm>
            <a:off x="95300" y="188846"/>
            <a:ext cx="3529329" cy="244475"/>
          </a:xfrm>
          <a:prstGeom prst="rect">
            <a:avLst/>
          </a:prstGeom>
        </p:spPr>
        <p:txBody>
          <a:bodyPr vert="horz" wrap="square" lIns="0" tIns="17145" rIns="0" bIns="0" rtlCol="0">
            <a:spAutoFit/>
          </a:bodyPr>
          <a:lstStyle/>
          <a:p>
            <a:pPr marL="12700">
              <a:lnSpc>
                <a:spcPct val="100000"/>
              </a:lnSpc>
              <a:spcBef>
                <a:spcPts val="135"/>
              </a:spcBef>
            </a:pPr>
            <a:r>
              <a:rPr spc="5" dirty="0"/>
              <a:t>Why</a:t>
            </a:r>
            <a:r>
              <a:rPr dirty="0"/>
              <a:t> </a:t>
            </a:r>
            <a:r>
              <a:rPr spc="10" dirty="0"/>
              <a:t>multithreading</a:t>
            </a:r>
            <a:r>
              <a:rPr dirty="0"/>
              <a:t> </a:t>
            </a:r>
            <a:r>
              <a:rPr spc="10" dirty="0"/>
              <a:t>is</a:t>
            </a:r>
            <a:r>
              <a:rPr spc="5" dirty="0"/>
              <a:t> </a:t>
            </a:r>
            <a:r>
              <a:rPr spc="20" dirty="0"/>
              <a:t>popular:</a:t>
            </a:r>
            <a:r>
              <a:rPr spc="95" dirty="0"/>
              <a:t> </a:t>
            </a:r>
            <a:r>
              <a:rPr spc="15" dirty="0"/>
              <a:t>organization</a:t>
            </a:r>
          </a:p>
        </p:txBody>
      </p:sp>
      <p:sp>
        <p:nvSpPr>
          <p:cNvPr id="4" name="object 4"/>
          <p:cNvSpPr txBox="1"/>
          <p:nvPr/>
        </p:nvSpPr>
        <p:spPr>
          <a:xfrm>
            <a:off x="1249322" y="787381"/>
            <a:ext cx="69151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Dispatcher thread</a:t>
            </a:r>
            <a:endParaRPr sz="650">
              <a:latin typeface="Arial"/>
              <a:cs typeface="Arial"/>
            </a:endParaRPr>
          </a:p>
        </p:txBody>
      </p:sp>
      <p:sp>
        <p:nvSpPr>
          <p:cNvPr id="5" name="object 5"/>
          <p:cNvSpPr txBox="1"/>
          <p:nvPr/>
        </p:nvSpPr>
        <p:spPr>
          <a:xfrm>
            <a:off x="3221395" y="1265461"/>
            <a:ext cx="5581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W</a:t>
            </a:r>
            <a:r>
              <a:rPr sz="650" spc="5" dirty="0">
                <a:solidFill>
                  <a:srgbClr val="231F20"/>
                </a:solidFill>
                <a:latin typeface="Arial"/>
                <a:cs typeface="Arial"/>
              </a:rPr>
              <a:t>orker</a:t>
            </a:r>
            <a:r>
              <a:rPr sz="650" dirty="0">
                <a:solidFill>
                  <a:srgbClr val="231F20"/>
                </a:solidFill>
                <a:latin typeface="Arial"/>
                <a:cs typeface="Arial"/>
              </a:rPr>
              <a:t> </a:t>
            </a:r>
            <a:r>
              <a:rPr sz="650" spc="5" dirty="0">
                <a:solidFill>
                  <a:srgbClr val="231F20"/>
                </a:solidFill>
                <a:latin typeface="Arial"/>
                <a:cs typeface="Arial"/>
              </a:rPr>
              <a:t>thread</a:t>
            </a:r>
            <a:endParaRPr sz="650">
              <a:latin typeface="Arial"/>
              <a:cs typeface="Arial"/>
            </a:endParaRPr>
          </a:p>
        </p:txBody>
      </p:sp>
      <p:sp>
        <p:nvSpPr>
          <p:cNvPr id="6" name="object 6"/>
          <p:cNvSpPr txBox="1"/>
          <p:nvPr/>
        </p:nvSpPr>
        <p:spPr>
          <a:xfrm>
            <a:off x="1929263" y="1760839"/>
            <a:ext cx="1223010" cy="127000"/>
          </a:xfrm>
          <a:prstGeom prst="rect">
            <a:avLst/>
          </a:prstGeom>
        </p:spPr>
        <p:txBody>
          <a:bodyPr vert="horz" wrap="square" lIns="0" tIns="13970" rIns="0" bIns="0" rtlCol="0">
            <a:spAutoFit/>
          </a:bodyPr>
          <a:lstStyle/>
          <a:p>
            <a:pPr marL="130175">
              <a:lnSpc>
                <a:spcPct val="100000"/>
              </a:lnSpc>
              <a:spcBef>
                <a:spcPts val="110"/>
              </a:spcBef>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p:txBody>
      </p:sp>
      <p:sp>
        <p:nvSpPr>
          <p:cNvPr id="7" name="object 7"/>
          <p:cNvSpPr txBox="1"/>
          <p:nvPr/>
        </p:nvSpPr>
        <p:spPr>
          <a:xfrm>
            <a:off x="829143" y="1502481"/>
            <a:ext cx="723900" cy="220979"/>
          </a:xfrm>
          <a:prstGeom prst="rect">
            <a:avLst/>
          </a:prstGeom>
        </p:spPr>
        <p:txBody>
          <a:bodyPr vert="horz" wrap="square" lIns="0" tIns="21590" rIns="0" bIns="0" rtlCol="0">
            <a:spAutoFit/>
          </a:bodyPr>
          <a:lstStyle/>
          <a:p>
            <a:pPr marL="12700" marR="5080">
              <a:lnSpc>
                <a:spcPts val="740"/>
              </a:lnSpc>
              <a:spcBef>
                <a:spcPts val="170"/>
              </a:spcBef>
            </a:pPr>
            <a:r>
              <a:rPr sz="650" spc="5" dirty="0">
                <a:solidFill>
                  <a:srgbClr val="231F20"/>
                </a:solidFill>
                <a:latin typeface="Arial"/>
                <a:cs typeface="Arial"/>
              </a:rPr>
              <a:t>Request</a:t>
            </a:r>
            <a:r>
              <a:rPr sz="650" spc="-35" dirty="0">
                <a:solidFill>
                  <a:srgbClr val="231F20"/>
                </a:solidFill>
                <a:latin typeface="Arial"/>
                <a:cs typeface="Arial"/>
              </a:rPr>
              <a:t> </a:t>
            </a:r>
            <a:r>
              <a:rPr sz="650" spc="5" dirty="0">
                <a:solidFill>
                  <a:srgbClr val="231F20"/>
                </a:solidFill>
                <a:latin typeface="Arial"/>
                <a:cs typeface="Arial"/>
              </a:rPr>
              <a:t>coming</a:t>
            </a:r>
            <a:r>
              <a:rPr sz="650" spc="-30" dirty="0">
                <a:solidFill>
                  <a:srgbClr val="231F20"/>
                </a:solidFill>
                <a:latin typeface="Arial"/>
                <a:cs typeface="Arial"/>
              </a:rPr>
              <a:t> </a:t>
            </a:r>
            <a:r>
              <a:rPr sz="650" spc="5" dirty="0">
                <a:solidFill>
                  <a:srgbClr val="231F20"/>
                </a:solidFill>
                <a:latin typeface="Arial"/>
                <a:cs typeface="Arial"/>
              </a:rPr>
              <a:t>in </a:t>
            </a:r>
            <a:r>
              <a:rPr sz="650" spc="-170" dirty="0">
                <a:solidFill>
                  <a:srgbClr val="231F20"/>
                </a:solidFill>
                <a:latin typeface="Arial"/>
                <a:cs typeface="Arial"/>
              </a:rPr>
              <a:t> </a:t>
            </a:r>
            <a:r>
              <a:rPr sz="650" spc="5" dirty="0">
                <a:solidFill>
                  <a:srgbClr val="231F20"/>
                </a:solidFill>
                <a:latin typeface="Arial"/>
                <a:cs typeface="Arial"/>
              </a:rPr>
              <a:t>from</a:t>
            </a:r>
            <a:r>
              <a:rPr sz="650" spc="-15" dirty="0">
                <a:solidFill>
                  <a:srgbClr val="231F20"/>
                </a:solidFill>
                <a:latin typeface="Arial"/>
                <a:cs typeface="Arial"/>
              </a:rPr>
              <a:t> </a:t>
            </a:r>
            <a:r>
              <a:rPr sz="650" spc="5" dirty="0">
                <a:solidFill>
                  <a:srgbClr val="231F20"/>
                </a:solidFill>
                <a:latin typeface="Arial"/>
                <a:cs typeface="Arial"/>
              </a:rPr>
              <a:t>the</a:t>
            </a:r>
            <a:r>
              <a:rPr sz="650" spc="-15" dirty="0">
                <a:solidFill>
                  <a:srgbClr val="231F20"/>
                </a:solidFill>
                <a:latin typeface="Arial"/>
                <a:cs typeface="Arial"/>
              </a:rPr>
              <a:t> </a:t>
            </a:r>
            <a:r>
              <a:rPr sz="650" spc="5" dirty="0">
                <a:solidFill>
                  <a:srgbClr val="231F20"/>
                </a:solidFill>
                <a:latin typeface="Arial"/>
                <a:cs typeface="Arial"/>
              </a:rPr>
              <a:t>network</a:t>
            </a:r>
            <a:endParaRPr sz="650">
              <a:latin typeface="Arial"/>
              <a:cs typeface="Arial"/>
            </a:endParaRPr>
          </a:p>
        </p:txBody>
      </p:sp>
      <p:sp>
        <p:nvSpPr>
          <p:cNvPr id="8" name="object 8"/>
          <p:cNvSpPr txBox="1"/>
          <p:nvPr/>
        </p:nvSpPr>
        <p:spPr>
          <a:xfrm>
            <a:off x="347294" y="429321"/>
            <a:ext cx="2689225" cy="410209"/>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Dispatcher/worker</a:t>
            </a:r>
            <a:r>
              <a:rPr sz="1200" spc="-35" dirty="0">
                <a:solidFill>
                  <a:srgbClr val="3333B2"/>
                </a:solidFill>
                <a:latin typeface="Arial"/>
                <a:cs typeface="Arial"/>
              </a:rPr>
              <a:t> </a:t>
            </a:r>
            <a:r>
              <a:rPr sz="1200" spc="-5" dirty="0">
                <a:solidFill>
                  <a:srgbClr val="3333B2"/>
                </a:solidFill>
                <a:latin typeface="Arial"/>
                <a:cs typeface="Arial"/>
              </a:rPr>
              <a:t>model</a:t>
            </a:r>
            <a:endParaRPr sz="1200">
              <a:latin typeface="Arial"/>
              <a:cs typeface="Arial"/>
            </a:endParaRPr>
          </a:p>
          <a:p>
            <a:pPr marR="5080" algn="r">
              <a:lnSpc>
                <a:spcPct val="100000"/>
              </a:lnSpc>
              <a:spcBef>
                <a:spcPts val="810"/>
              </a:spcBef>
            </a:pPr>
            <a:r>
              <a:rPr sz="650" spc="5" dirty="0">
                <a:solidFill>
                  <a:srgbClr val="231F20"/>
                </a:solidFill>
                <a:latin typeface="Arial"/>
                <a:cs typeface="Arial"/>
              </a:rPr>
              <a:t>Request</a:t>
            </a:r>
            <a:r>
              <a:rPr sz="650" spc="-35" dirty="0">
                <a:solidFill>
                  <a:srgbClr val="231F20"/>
                </a:solidFill>
                <a:latin typeface="Arial"/>
                <a:cs typeface="Arial"/>
              </a:rPr>
              <a:t> </a:t>
            </a:r>
            <a:r>
              <a:rPr sz="650" spc="5" dirty="0">
                <a:solidFill>
                  <a:srgbClr val="231F20"/>
                </a:solidFill>
                <a:latin typeface="Arial"/>
                <a:cs typeface="Arial"/>
              </a:rPr>
              <a:t>dispatched</a:t>
            </a:r>
            <a:endParaRPr sz="650">
              <a:latin typeface="Arial"/>
              <a:cs typeface="Arial"/>
            </a:endParaRPr>
          </a:p>
        </p:txBody>
      </p:sp>
      <p:sp>
        <p:nvSpPr>
          <p:cNvPr id="9" name="object 9"/>
          <p:cNvSpPr txBox="1"/>
          <p:nvPr/>
        </p:nvSpPr>
        <p:spPr>
          <a:xfrm>
            <a:off x="2239838" y="817263"/>
            <a:ext cx="1445260" cy="127000"/>
          </a:xfrm>
          <a:prstGeom prst="rect">
            <a:avLst/>
          </a:prstGeom>
        </p:spPr>
        <p:txBody>
          <a:bodyPr vert="horz" wrap="square" lIns="0" tIns="13970" rIns="0" bIns="0" rtlCol="0">
            <a:spAutoFit/>
          </a:bodyPr>
          <a:lstStyle/>
          <a:p>
            <a:pPr marL="38100">
              <a:lnSpc>
                <a:spcPct val="100000"/>
              </a:lnSpc>
              <a:spcBef>
                <a:spcPts val="110"/>
              </a:spcBef>
              <a:tabLst>
                <a:tab pos="1158240" algn="l"/>
              </a:tabLst>
            </a:pPr>
            <a:r>
              <a:rPr sz="975" spc="7" baseline="8547" dirty="0">
                <a:solidFill>
                  <a:srgbClr val="231F20"/>
                </a:solidFill>
                <a:latin typeface="Arial"/>
                <a:cs typeface="Arial"/>
              </a:rPr>
              <a:t>to</a:t>
            </a:r>
            <a:r>
              <a:rPr sz="975" baseline="8547" dirty="0">
                <a:solidFill>
                  <a:srgbClr val="231F20"/>
                </a:solidFill>
                <a:latin typeface="Arial"/>
                <a:cs typeface="Arial"/>
              </a:rPr>
              <a:t> </a:t>
            </a:r>
            <a:r>
              <a:rPr sz="975" spc="7" baseline="8547" dirty="0">
                <a:solidFill>
                  <a:srgbClr val="231F20"/>
                </a:solidFill>
                <a:latin typeface="Arial"/>
                <a:cs typeface="Arial"/>
              </a:rPr>
              <a:t>a worker thread	</a:t>
            </a:r>
            <a:r>
              <a:rPr sz="650" spc="5" dirty="0">
                <a:solidFill>
                  <a:srgbClr val="231F20"/>
                </a:solidFill>
                <a:latin typeface="Arial"/>
                <a:cs typeface="Arial"/>
              </a:rPr>
              <a:t>Server</a:t>
            </a:r>
            <a:endParaRPr sz="650">
              <a:latin typeface="Arial"/>
              <a:cs typeface="Arial"/>
            </a:endParaRPr>
          </a:p>
        </p:txBody>
      </p:sp>
      <p:grpSp>
        <p:nvGrpSpPr>
          <p:cNvPr id="10" name="object 10"/>
          <p:cNvGrpSpPr/>
          <p:nvPr/>
        </p:nvGrpSpPr>
        <p:grpSpPr>
          <a:xfrm>
            <a:off x="1500355" y="881466"/>
            <a:ext cx="1840230" cy="1152525"/>
            <a:chOff x="1500355" y="881466"/>
            <a:chExt cx="1840230" cy="1152525"/>
          </a:xfrm>
        </p:grpSpPr>
        <p:sp>
          <p:nvSpPr>
            <p:cNvPr id="11" name="object 11"/>
            <p:cNvSpPr/>
            <p:nvPr/>
          </p:nvSpPr>
          <p:spPr>
            <a:xfrm>
              <a:off x="1756909" y="1075039"/>
              <a:ext cx="1241425" cy="642620"/>
            </a:xfrm>
            <a:custGeom>
              <a:avLst/>
              <a:gdLst/>
              <a:ahLst/>
              <a:cxnLst/>
              <a:rect l="l" t="t" r="r" b="b"/>
              <a:pathLst>
                <a:path w="1241425" h="642619">
                  <a:moveTo>
                    <a:pt x="0" y="642452"/>
                  </a:moveTo>
                  <a:lnTo>
                    <a:pt x="1241065" y="642452"/>
                  </a:lnTo>
                  <a:lnTo>
                    <a:pt x="1241065" y="0"/>
                  </a:lnTo>
                  <a:lnTo>
                    <a:pt x="0" y="0"/>
                  </a:lnTo>
                  <a:lnTo>
                    <a:pt x="0" y="642452"/>
                  </a:lnTo>
                  <a:close/>
                </a:path>
                <a:path w="1241425" h="642619">
                  <a:moveTo>
                    <a:pt x="84859" y="441996"/>
                  </a:moveTo>
                  <a:lnTo>
                    <a:pt x="254577" y="441996"/>
                  </a:lnTo>
                  <a:lnTo>
                    <a:pt x="254577" y="272282"/>
                  </a:lnTo>
                  <a:lnTo>
                    <a:pt x="84859" y="272282"/>
                  </a:lnTo>
                  <a:lnTo>
                    <a:pt x="84859" y="441996"/>
                  </a:lnTo>
                  <a:close/>
                </a:path>
                <a:path w="1241425" h="642619">
                  <a:moveTo>
                    <a:pt x="424294" y="441996"/>
                  </a:moveTo>
                  <a:lnTo>
                    <a:pt x="594008" y="441996"/>
                  </a:lnTo>
                  <a:lnTo>
                    <a:pt x="594008" y="272282"/>
                  </a:lnTo>
                  <a:lnTo>
                    <a:pt x="424294" y="272282"/>
                  </a:lnTo>
                  <a:lnTo>
                    <a:pt x="424294" y="441996"/>
                  </a:lnTo>
                  <a:close/>
                </a:path>
                <a:path w="1241425" h="642619">
                  <a:moveTo>
                    <a:pt x="678869" y="441996"/>
                  </a:moveTo>
                  <a:lnTo>
                    <a:pt x="848588" y="441996"/>
                  </a:lnTo>
                  <a:lnTo>
                    <a:pt x="848588" y="272282"/>
                  </a:lnTo>
                  <a:lnTo>
                    <a:pt x="678869" y="272282"/>
                  </a:lnTo>
                  <a:lnTo>
                    <a:pt x="678869" y="441996"/>
                  </a:lnTo>
                  <a:close/>
                </a:path>
                <a:path w="1241425" h="642619">
                  <a:moveTo>
                    <a:pt x="933445" y="441996"/>
                  </a:moveTo>
                  <a:lnTo>
                    <a:pt x="1103164" y="441996"/>
                  </a:lnTo>
                  <a:lnTo>
                    <a:pt x="1103164" y="272282"/>
                  </a:lnTo>
                  <a:lnTo>
                    <a:pt x="933445" y="272282"/>
                  </a:lnTo>
                  <a:lnTo>
                    <a:pt x="933445" y="441996"/>
                  </a:lnTo>
                  <a:close/>
                </a:path>
              </a:pathLst>
            </a:custGeom>
            <a:ln w="5270">
              <a:solidFill>
                <a:srgbClr val="231F20"/>
              </a:solidFill>
            </a:ln>
          </p:spPr>
          <p:txBody>
            <a:bodyPr wrap="square" lIns="0" tIns="0" rIns="0" bIns="0" rtlCol="0"/>
            <a:lstStyle/>
            <a:p>
              <a:endParaRPr/>
            </a:p>
          </p:txBody>
        </p:sp>
        <p:sp>
          <p:nvSpPr>
            <p:cNvPr id="12" name="object 12"/>
            <p:cNvSpPr/>
            <p:nvPr/>
          </p:nvSpPr>
          <p:spPr>
            <a:xfrm>
              <a:off x="1608404" y="979573"/>
              <a:ext cx="1548765" cy="948690"/>
            </a:xfrm>
            <a:custGeom>
              <a:avLst/>
              <a:gdLst/>
              <a:ahLst/>
              <a:cxnLst/>
              <a:rect l="l" t="t" r="r" b="b"/>
              <a:pathLst>
                <a:path w="1548764" h="948689">
                  <a:moveTo>
                    <a:pt x="0" y="948068"/>
                  </a:moveTo>
                  <a:lnTo>
                    <a:pt x="1548683" y="948068"/>
                  </a:lnTo>
                  <a:lnTo>
                    <a:pt x="1548683" y="0"/>
                  </a:lnTo>
                  <a:lnTo>
                    <a:pt x="0" y="0"/>
                  </a:lnTo>
                  <a:lnTo>
                    <a:pt x="0" y="948068"/>
                  </a:lnTo>
                  <a:close/>
                </a:path>
              </a:pathLst>
            </a:custGeom>
            <a:ln w="10541">
              <a:solidFill>
                <a:srgbClr val="231F20"/>
              </a:solidFill>
            </a:ln>
          </p:spPr>
          <p:txBody>
            <a:bodyPr wrap="square" lIns="0" tIns="0" rIns="0" bIns="0" rtlCol="0"/>
            <a:lstStyle/>
            <a:p>
              <a:endParaRPr/>
            </a:p>
          </p:txBody>
        </p:sp>
        <p:sp>
          <p:nvSpPr>
            <p:cNvPr id="13" name="object 13"/>
            <p:cNvSpPr/>
            <p:nvPr/>
          </p:nvSpPr>
          <p:spPr>
            <a:xfrm>
              <a:off x="1608404" y="1554645"/>
              <a:ext cx="1548765" cy="479425"/>
            </a:xfrm>
            <a:custGeom>
              <a:avLst/>
              <a:gdLst/>
              <a:ahLst/>
              <a:cxnLst/>
              <a:rect l="l" t="t" r="r" b="b"/>
              <a:pathLst>
                <a:path w="1548764" h="479425">
                  <a:moveTo>
                    <a:pt x="0" y="162846"/>
                  </a:moveTo>
                  <a:lnTo>
                    <a:pt x="1548674" y="162846"/>
                  </a:lnTo>
                </a:path>
                <a:path w="1548764" h="479425">
                  <a:moveTo>
                    <a:pt x="318223" y="479162"/>
                  </a:moveTo>
                  <a:lnTo>
                    <a:pt x="318223" y="0"/>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5" cstate="print"/>
            <a:stretch>
              <a:fillRect/>
            </a:stretch>
          </p:blipFill>
          <p:spPr>
            <a:xfrm>
              <a:off x="1894752" y="1517263"/>
              <a:ext cx="63751" cy="74379"/>
            </a:xfrm>
            <a:prstGeom prst="rect">
              <a:avLst/>
            </a:prstGeom>
          </p:spPr>
        </p:pic>
        <p:sp>
          <p:nvSpPr>
            <p:cNvPr id="15" name="object 15"/>
            <p:cNvSpPr/>
            <p:nvPr/>
          </p:nvSpPr>
          <p:spPr>
            <a:xfrm>
              <a:off x="1703871" y="947748"/>
              <a:ext cx="1496060" cy="459105"/>
            </a:xfrm>
            <a:custGeom>
              <a:avLst/>
              <a:gdLst/>
              <a:ahLst/>
              <a:cxnLst/>
              <a:rect l="l" t="t" r="r" b="b"/>
              <a:pathLst>
                <a:path w="1496060" h="459105">
                  <a:moveTo>
                    <a:pt x="0" y="0"/>
                  </a:moveTo>
                  <a:lnTo>
                    <a:pt x="160720" y="399573"/>
                  </a:lnTo>
                </a:path>
                <a:path w="1496060" h="459105">
                  <a:moveTo>
                    <a:pt x="1495635" y="381867"/>
                  </a:moveTo>
                  <a:lnTo>
                    <a:pt x="1158892" y="458681"/>
                  </a:lnTo>
                </a:path>
                <a:path w="1496060" h="459105">
                  <a:moveTo>
                    <a:pt x="268557" y="399573"/>
                  </a:moveTo>
                  <a:lnTo>
                    <a:pt x="343965" y="365712"/>
                  </a:lnTo>
                  <a:lnTo>
                    <a:pt x="403077" y="344801"/>
                  </a:lnTo>
                  <a:lnTo>
                    <a:pt x="448760" y="335615"/>
                  </a:lnTo>
                  <a:lnTo>
                    <a:pt x="483881" y="336932"/>
                  </a:lnTo>
                  <a:lnTo>
                    <a:pt x="511307" y="347526"/>
                  </a:lnTo>
                  <a:lnTo>
                    <a:pt x="533905" y="366175"/>
                  </a:lnTo>
                </a:path>
              </a:pathLst>
            </a:custGeom>
            <a:ln w="5270">
              <a:solidFill>
                <a:srgbClr val="231F20"/>
              </a:solidFill>
            </a:ln>
          </p:spPr>
          <p:txBody>
            <a:bodyPr wrap="square" lIns="0" tIns="0" rIns="0" bIns="0" rtlCol="0"/>
            <a:lstStyle/>
            <a:p>
              <a:endParaRPr/>
            </a:p>
          </p:txBody>
        </p:sp>
        <p:pic>
          <p:nvPicPr>
            <p:cNvPr id="16" name="object 16"/>
            <p:cNvPicPr/>
            <p:nvPr/>
          </p:nvPicPr>
          <p:blipFill>
            <a:blip r:embed="rId6" cstate="print"/>
            <a:stretch>
              <a:fillRect/>
            </a:stretch>
          </p:blipFill>
          <p:spPr>
            <a:xfrm>
              <a:off x="2189193" y="1265143"/>
              <a:ext cx="74324" cy="75890"/>
            </a:xfrm>
            <a:prstGeom prst="rect">
              <a:avLst/>
            </a:prstGeom>
          </p:spPr>
        </p:pic>
        <p:sp>
          <p:nvSpPr>
            <p:cNvPr id="17" name="object 17"/>
            <p:cNvSpPr/>
            <p:nvPr/>
          </p:nvSpPr>
          <p:spPr>
            <a:xfrm>
              <a:off x="1918205" y="1228418"/>
              <a:ext cx="581660" cy="119380"/>
            </a:xfrm>
            <a:custGeom>
              <a:avLst/>
              <a:gdLst/>
              <a:ahLst/>
              <a:cxnLst/>
              <a:rect l="l" t="t" r="r" b="b"/>
              <a:pathLst>
                <a:path w="581660" h="119380">
                  <a:moveTo>
                    <a:pt x="0" y="118903"/>
                  </a:moveTo>
                  <a:lnTo>
                    <a:pt x="274289" y="948"/>
                  </a:lnTo>
                  <a:lnTo>
                    <a:pt x="453697" y="0"/>
                  </a:lnTo>
                  <a:lnTo>
                    <a:pt x="551562" y="48773"/>
                  </a:lnTo>
                  <a:lnTo>
                    <a:pt x="581220" y="79984"/>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7" cstate="print"/>
            <a:stretch>
              <a:fillRect/>
            </a:stretch>
          </p:blipFill>
          <p:spPr>
            <a:xfrm>
              <a:off x="2452571" y="1260020"/>
              <a:ext cx="67156" cy="79765"/>
            </a:xfrm>
            <a:prstGeom prst="rect">
              <a:avLst/>
            </a:prstGeom>
          </p:spPr>
        </p:pic>
        <p:sp>
          <p:nvSpPr>
            <p:cNvPr id="19" name="object 19"/>
            <p:cNvSpPr/>
            <p:nvPr/>
          </p:nvSpPr>
          <p:spPr>
            <a:xfrm>
              <a:off x="1884200" y="1148201"/>
              <a:ext cx="859790" cy="199390"/>
            </a:xfrm>
            <a:custGeom>
              <a:avLst/>
              <a:gdLst/>
              <a:ahLst/>
              <a:cxnLst/>
              <a:rect l="l" t="t" r="r" b="b"/>
              <a:pathLst>
                <a:path w="859789" h="199390">
                  <a:moveTo>
                    <a:pt x="0" y="199120"/>
                  </a:moveTo>
                  <a:lnTo>
                    <a:pt x="62808" y="150597"/>
                  </a:lnTo>
                  <a:lnTo>
                    <a:pt x="123890" y="109844"/>
                  </a:lnTo>
                  <a:lnTo>
                    <a:pt x="183162" y="76361"/>
                  </a:lnTo>
                  <a:lnTo>
                    <a:pt x="240540" y="49644"/>
                  </a:lnTo>
                  <a:lnTo>
                    <a:pt x="295941" y="29193"/>
                  </a:lnTo>
                  <a:lnTo>
                    <a:pt x="349279" y="14504"/>
                  </a:lnTo>
                  <a:lnTo>
                    <a:pt x="400471" y="5077"/>
                  </a:lnTo>
                  <a:lnTo>
                    <a:pt x="449434" y="410"/>
                  </a:lnTo>
                  <a:lnTo>
                    <a:pt x="496082" y="0"/>
                  </a:lnTo>
                  <a:lnTo>
                    <a:pt x="540333" y="3345"/>
                  </a:lnTo>
                  <a:lnTo>
                    <a:pt x="582103" y="9943"/>
                  </a:lnTo>
                  <a:lnTo>
                    <a:pt x="621306" y="19294"/>
                  </a:lnTo>
                  <a:lnTo>
                    <a:pt x="657860" y="30894"/>
                  </a:lnTo>
                  <a:lnTo>
                    <a:pt x="722683" y="58835"/>
                  </a:lnTo>
                  <a:lnTo>
                    <a:pt x="775900" y="89752"/>
                  </a:lnTo>
                  <a:lnTo>
                    <a:pt x="816839" y="119628"/>
                  </a:lnTo>
                  <a:lnTo>
                    <a:pt x="853757" y="153710"/>
                  </a:lnTo>
                  <a:lnTo>
                    <a:pt x="859196" y="160200"/>
                  </a:lnTo>
                </a:path>
              </a:pathLst>
            </a:custGeom>
            <a:ln w="5270">
              <a:solidFill>
                <a:srgbClr val="231F20"/>
              </a:solidFill>
            </a:ln>
          </p:spPr>
          <p:txBody>
            <a:bodyPr wrap="square" lIns="0" tIns="0" rIns="0" bIns="0" rtlCol="0"/>
            <a:lstStyle/>
            <a:p>
              <a:endParaRPr/>
            </a:p>
          </p:txBody>
        </p:sp>
        <p:pic>
          <p:nvPicPr>
            <p:cNvPr id="20" name="object 20"/>
            <p:cNvPicPr/>
            <p:nvPr/>
          </p:nvPicPr>
          <p:blipFill>
            <a:blip r:embed="rId8" cstate="print"/>
            <a:stretch>
              <a:fillRect/>
            </a:stretch>
          </p:blipFill>
          <p:spPr>
            <a:xfrm>
              <a:off x="2695741" y="1259691"/>
              <a:ext cx="69939" cy="78715"/>
            </a:xfrm>
            <a:prstGeom prst="rect">
              <a:avLst/>
            </a:prstGeom>
          </p:spPr>
        </p:pic>
        <p:sp>
          <p:nvSpPr>
            <p:cNvPr id="21" name="object 21"/>
            <p:cNvSpPr/>
            <p:nvPr/>
          </p:nvSpPr>
          <p:spPr>
            <a:xfrm>
              <a:off x="1502990" y="884102"/>
              <a:ext cx="1834514" cy="781050"/>
            </a:xfrm>
            <a:custGeom>
              <a:avLst/>
              <a:gdLst/>
              <a:ahLst/>
              <a:cxnLst/>
              <a:rect l="l" t="t" r="r" b="b"/>
              <a:pathLst>
                <a:path w="1834514" h="781050">
                  <a:moveTo>
                    <a:pt x="0" y="780368"/>
                  </a:moveTo>
                  <a:lnTo>
                    <a:pt x="425787" y="780676"/>
                  </a:lnTo>
                </a:path>
                <a:path w="1834514" h="781050">
                  <a:moveTo>
                    <a:pt x="1834423" y="0"/>
                  </a:moveTo>
                  <a:lnTo>
                    <a:pt x="1496806" y="216638"/>
                  </a:lnTo>
                </a:path>
                <a:path w="1834514" h="781050">
                  <a:moveTo>
                    <a:pt x="964612" y="53042"/>
                  </a:moveTo>
                  <a:lnTo>
                    <a:pt x="892448" y="262314"/>
                  </a:lnTo>
                </a:path>
              </a:pathLst>
            </a:custGeom>
            <a:ln w="5270">
              <a:solidFill>
                <a:srgbClr val="231F20"/>
              </a:solidFill>
            </a:ln>
          </p:spPr>
          <p:txBody>
            <a:bodyPr wrap="square" lIns="0" tIns="0" rIns="0" bIns="0" rtlCol="0"/>
            <a:lstStyle/>
            <a:p>
              <a:endParaRPr/>
            </a:p>
          </p:txBody>
        </p:sp>
      </p:grpSp>
      <p:sp>
        <p:nvSpPr>
          <p:cNvPr id="22" name="object 22"/>
          <p:cNvSpPr txBox="1"/>
          <p:nvPr/>
        </p:nvSpPr>
        <p:spPr>
          <a:xfrm>
            <a:off x="347294" y="2211232"/>
            <a:ext cx="655955"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O</a:t>
            </a:r>
            <a:r>
              <a:rPr sz="1200" spc="-35" dirty="0">
                <a:solidFill>
                  <a:srgbClr val="3333B2"/>
                </a:solidFill>
                <a:latin typeface="Arial"/>
                <a:cs typeface="Arial"/>
              </a:rPr>
              <a:t>v</a:t>
            </a:r>
            <a:r>
              <a:rPr sz="1200" spc="-5" dirty="0">
                <a:solidFill>
                  <a:srgbClr val="3333B2"/>
                </a:solidFill>
                <a:latin typeface="Arial"/>
                <a:cs typeface="Arial"/>
              </a:rPr>
              <a:t>e</a:t>
            </a:r>
            <a:r>
              <a:rPr sz="1200" spc="30" dirty="0">
                <a:solidFill>
                  <a:srgbClr val="3333B2"/>
                </a:solidFill>
                <a:latin typeface="Arial"/>
                <a:cs typeface="Arial"/>
              </a:rPr>
              <a:t>r</a:t>
            </a:r>
            <a:r>
              <a:rPr sz="1200" spc="-5" dirty="0">
                <a:solidFill>
                  <a:srgbClr val="3333B2"/>
                </a:solidFill>
                <a:latin typeface="Arial"/>
                <a:cs typeface="Arial"/>
              </a:rPr>
              <a:t>vi</a:t>
            </a:r>
            <a:r>
              <a:rPr sz="1200" spc="-30" dirty="0">
                <a:solidFill>
                  <a:srgbClr val="3333B2"/>
                </a:solidFill>
                <a:latin typeface="Arial"/>
                <a:cs typeface="Arial"/>
              </a:rPr>
              <a:t>e</a:t>
            </a:r>
            <a:r>
              <a:rPr sz="1200" spc="-5" dirty="0">
                <a:solidFill>
                  <a:srgbClr val="3333B2"/>
                </a:solidFill>
                <a:latin typeface="Arial"/>
                <a:cs typeface="Arial"/>
              </a:rPr>
              <a:t>w</a:t>
            </a:r>
            <a:endParaRPr sz="1200">
              <a:latin typeface="Arial"/>
              <a:cs typeface="Arial"/>
            </a:endParaRPr>
          </a:p>
        </p:txBody>
      </p:sp>
      <p:sp>
        <p:nvSpPr>
          <p:cNvPr id="24" name="object 24"/>
          <p:cNvSpPr txBox="1"/>
          <p:nvPr/>
        </p:nvSpPr>
        <p:spPr>
          <a:xfrm>
            <a:off x="66713" y="3331252"/>
            <a:ext cx="7556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9" action="ppaction://hlinksldjump"/>
              </a:rPr>
              <a:t>Multithreaded</a:t>
            </a:r>
            <a:r>
              <a:rPr sz="600" spc="-20" dirty="0">
                <a:solidFill>
                  <a:srgbClr val="3333B2"/>
                </a:solidFill>
                <a:latin typeface="Arial"/>
                <a:cs typeface="Arial"/>
                <a:hlinkClick r:id="rId9" action="ppaction://hlinksldjump"/>
              </a:rPr>
              <a:t> </a:t>
            </a:r>
            <a:r>
              <a:rPr sz="600" spc="-5" dirty="0">
                <a:solidFill>
                  <a:srgbClr val="3333B2"/>
                </a:solidFill>
                <a:latin typeface="Arial"/>
                <a:cs typeface="Arial"/>
                <a:hlinkClick r:id="rId9" action="ppaction://hlinksldjump"/>
              </a:rPr>
              <a:t>servers</a:t>
            </a:r>
            <a:endParaRPr sz="600">
              <a:latin typeface="Arial"/>
              <a:cs typeface="Arial"/>
            </a:endParaRPr>
          </a:p>
        </p:txBody>
      </p:sp>
      <p:sp>
        <p:nvSpPr>
          <p:cNvPr id="25" name="object 2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15</a:t>
            </a:r>
            <a:r>
              <a:rPr spc="-40" dirty="0"/>
              <a:t> </a:t>
            </a:r>
            <a:r>
              <a:rPr spc="-5" dirty="0"/>
              <a:t>/</a:t>
            </a:r>
            <a:r>
              <a:rPr spc="-35" dirty="0"/>
              <a:t> </a:t>
            </a:r>
            <a:r>
              <a:rPr spc="-5" dirty="0"/>
              <a:t>47</a:t>
            </a:r>
          </a:p>
        </p:txBody>
      </p:sp>
      <p:graphicFrame>
        <p:nvGraphicFramePr>
          <p:cNvPr id="23" name="object 23"/>
          <p:cNvGraphicFramePr>
            <a:graphicFrameLocks noGrp="1"/>
          </p:cNvGraphicFramePr>
          <p:nvPr/>
        </p:nvGraphicFramePr>
        <p:xfrm>
          <a:off x="420560" y="2500909"/>
          <a:ext cx="3762375" cy="746760"/>
        </p:xfrm>
        <a:graphic>
          <a:graphicData uri="http://schemas.openxmlformats.org/drawingml/2006/table">
            <a:tbl>
              <a:tblPr firstRow="1" bandRow="1">
                <a:tableStyleId>{2D5ABB26-0587-4C30-8999-92F81FD0307C}</a:tableStyleId>
              </a:tblPr>
              <a:tblGrid>
                <a:gridCol w="1530985">
                  <a:extLst>
                    <a:ext uri="{9D8B030D-6E8A-4147-A177-3AD203B41FA5}">
                      <a16:colId xmlns:a16="http://schemas.microsoft.com/office/drawing/2014/main" val="20000"/>
                    </a:ext>
                  </a:extLst>
                </a:gridCol>
                <a:gridCol w="2231390">
                  <a:extLst>
                    <a:ext uri="{9D8B030D-6E8A-4147-A177-3AD203B41FA5}">
                      <a16:colId xmlns:a16="http://schemas.microsoft.com/office/drawing/2014/main" val="20001"/>
                    </a:ext>
                  </a:extLst>
                </a:gridCol>
              </a:tblGrid>
              <a:tr h="186690">
                <a:tc>
                  <a:txBody>
                    <a:bodyPr/>
                    <a:lstStyle/>
                    <a:p>
                      <a:pPr algn="ctr">
                        <a:lnSpc>
                          <a:spcPct val="100000"/>
                        </a:lnSpc>
                        <a:spcBef>
                          <a:spcPts val="25"/>
                        </a:spcBef>
                      </a:pPr>
                      <a:r>
                        <a:rPr sz="1000" b="1" spc="-5" dirty="0">
                          <a:latin typeface="Arial"/>
                          <a:cs typeface="Arial"/>
                        </a:rPr>
                        <a:t>Model</a:t>
                      </a:r>
                      <a:endParaRPr sz="1000">
                        <a:latin typeface="Arial"/>
                        <a:cs typeface="Arial"/>
                      </a:endParaRPr>
                    </a:p>
                  </a:txBody>
                  <a:tcPr marL="0" marR="0" marT="3175" marB="0">
                    <a:lnL w="635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tc>
                  <a:txBody>
                    <a:bodyPr/>
                    <a:lstStyle/>
                    <a:p>
                      <a:pPr marL="659130">
                        <a:lnSpc>
                          <a:spcPct val="100000"/>
                        </a:lnSpc>
                        <a:spcBef>
                          <a:spcPts val="25"/>
                        </a:spcBef>
                      </a:pPr>
                      <a:r>
                        <a:rPr sz="1000" b="1" spc="-5" dirty="0">
                          <a:latin typeface="Arial"/>
                          <a:cs typeface="Arial"/>
                        </a:rPr>
                        <a:t>Characteristics</a:t>
                      </a:r>
                      <a:endParaRPr sz="1000">
                        <a:latin typeface="Arial"/>
                        <a:cs typeface="Arial"/>
                      </a:endParaRPr>
                    </a:p>
                  </a:txBody>
                  <a:tcPr marL="0" marR="0" marT="3175" marB="0">
                    <a:lnL w="1270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86690">
                <a:tc>
                  <a:txBody>
                    <a:bodyPr/>
                    <a:lstStyle/>
                    <a:p>
                      <a:pPr marL="78105">
                        <a:lnSpc>
                          <a:spcPct val="100000"/>
                        </a:lnSpc>
                        <a:spcBef>
                          <a:spcPts val="25"/>
                        </a:spcBef>
                      </a:pPr>
                      <a:r>
                        <a:rPr sz="1000" spc="-5" dirty="0">
                          <a:latin typeface="Arial"/>
                          <a:cs typeface="Arial"/>
                        </a:rPr>
                        <a:t>Multithreading</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ct val="100000"/>
                        </a:lnSpc>
                        <a:spcBef>
                          <a:spcPts val="25"/>
                        </a:spcBef>
                      </a:pPr>
                      <a:r>
                        <a:rPr sz="1000" spc="-10" dirty="0">
                          <a:latin typeface="Arial"/>
                          <a:cs typeface="Arial"/>
                        </a:rPr>
                        <a:t>Parallelism,</a:t>
                      </a:r>
                      <a:r>
                        <a:rPr sz="1000" spc="-5" dirty="0">
                          <a:latin typeface="Arial"/>
                          <a:cs typeface="Arial"/>
                        </a:rPr>
                        <a:t> </a:t>
                      </a:r>
                      <a:r>
                        <a:rPr sz="1000" spc="-10" dirty="0">
                          <a:latin typeface="Arial"/>
                          <a:cs typeface="Arial"/>
                        </a:rPr>
                        <a:t>blocking</a:t>
                      </a:r>
                      <a:r>
                        <a:rPr sz="1000" spc="-5" dirty="0">
                          <a:latin typeface="Arial"/>
                          <a:cs typeface="Arial"/>
                        </a:rPr>
                        <a:t> system</a:t>
                      </a:r>
                      <a:r>
                        <a:rPr sz="1000" dirty="0">
                          <a:latin typeface="Arial"/>
                          <a:cs typeface="Arial"/>
                        </a:rPr>
                        <a:t> </a:t>
                      </a:r>
                      <a:r>
                        <a:rPr sz="1000" spc="-5" dirty="0">
                          <a:latin typeface="Arial"/>
                          <a:cs typeface="Arial"/>
                        </a:rPr>
                        <a:t>calls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86690">
                <a:tc>
                  <a:txBody>
                    <a:bodyPr/>
                    <a:lstStyle/>
                    <a:p>
                      <a:pPr marL="78105">
                        <a:lnSpc>
                          <a:spcPct val="100000"/>
                        </a:lnSpc>
                        <a:spcBef>
                          <a:spcPts val="25"/>
                        </a:spcBef>
                      </a:pPr>
                      <a:r>
                        <a:rPr sz="1000" spc="-5" dirty="0">
                          <a:latin typeface="Arial"/>
                          <a:cs typeface="Arial"/>
                        </a:rPr>
                        <a:t>Single-threaded</a:t>
                      </a:r>
                      <a:r>
                        <a:rPr sz="1000" spc="-20" dirty="0">
                          <a:latin typeface="Arial"/>
                          <a:cs typeface="Arial"/>
                        </a:rPr>
                        <a:t> </a:t>
                      </a:r>
                      <a:r>
                        <a:rPr sz="1000" spc="-5" dirty="0">
                          <a:latin typeface="Arial"/>
                          <a:cs typeface="Arial"/>
                        </a:rPr>
                        <a:t>process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ct val="100000"/>
                        </a:lnSpc>
                        <a:spcBef>
                          <a:spcPts val="25"/>
                        </a:spcBef>
                      </a:pPr>
                      <a:r>
                        <a:rPr sz="1000" spc="-5" dirty="0">
                          <a:latin typeface="Arial"/>
                          <a:cs typeface="Arial"/>
                        </a:rPr>
                        <a:t>No</a:t>
                      </a:r>
                      <a:r>
                        <a:rPr sz="1000" spc="-10" dirty="0">
                          <a:latin typeface="Arial"/>
                          <a:cs typeface="Arial"/>
                        </a:rPr>
                        <a:t> </a:t>
                      </a:r>
                      <a:r>
                        <a:rPr sz="1000" spc="-5" dirty="0">
                          <a:latin typeface="Arial"/>
                          <a:cs typeface="Arial"/>
                        </a:rPr>
                        <a:t>parallelism, </a:t>
                      </a:r>
                      <a:r>
                        <a:rPr sz="1000" spc="-10" dirty="0">
                          <a:latin typeface="Arial"/>
                          <a:cs typeface="Arial"/>
                        </a:rPr>
                        <a:t>blocking</a:t>
                      </a:r>
                      <a:r>
                        <a:rPr sz="1000" spc="-5" dirty="0">
                          <a:latin typeface="Arial"/>
                          <a:cs typeface="Arial"/>
                        </a:rPr>
                        <a:t> system calls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2"/>
                  </a:ext>
                </a:extLst>
              </a:tr>
              <a:tr h="186690">
                <a:tc>
                  <a:txBody>
                    <a:bodyPr/>
                    <a:lstStyle/>
                    <a:p>
                      <a:pPr marL="78105">
                        <a:lnSpc>
                          <a:spcPct val="100000"/>
                        </a:lnSpc>
                        <a:spcBef>
                          <a:spcPts val="25"/>
                        </a:spcBef>
                      </a:pPr>
                      <a:r>
                        <a:rPr sz="1000" spc="-5" dirty="0">
                          <a:latin typeface="Arial"/>
                          <a:cs typeface="Arial"/>
                        </a:rPr>
                        <a:t>Finite-state</a:t>
                      </a:r>
                      <a:r>
                        <a:rPr sz="1000" spc="-25" dirty="0">
                          <a:latin typeface="Arial"/>
                          <a:cs typeface="Arial"/>
                        </a:rPr>
                        <a:t> </a:t>
                      </a:r>
                      <a:r>
                        <a:rPr sz="1000" spc="-5" dirty="0">
                          <a:latin typeface="Arial"/>
                          <a:cs typeface="Arial"/>
                        </a:rPr>
                        <a:t>machine</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tc>
                  <a:txBody>
                    <a:bodyPr/>
                    <a:lstStyle/>
                    <a:p>
                      <a:pPr marL="75565">
                        <a:lnSpc>
                          <a:spcPct val="100000"/>
                        </a:lnSpc>
                        <a:spcBef>
                          <a:spcPts val="25"/>
                        </a:spcBef>
                      </a:pPr>
                      <a:r>
                        <a:rPr sz="1000" spc="-10" dirty="0">
                          <a:latin typeface="Arial"/>
                          <a:cs typeface="Arial"/>
                        </a:rPr>
                        <a:t>Parallelism,</a:t>
                      </a:r>
                      <a:r>
                        <a:rPr sz="1000" dirty="0">
                          <a:latin typeface="Arial"/>
                          <a:cs typeface="Arial"/>
                        </a:rPr>
                        <a:t> </a:t>
                      </a:r>
                      <a:r>
                        <a:rPr sz="1000" spc="-10" dirty="0">
                          <a:latin typeface="Arial"/>
                          <a:cs typeface="Arial"/>
                        </a:rPr>
                        <a:t>nonblocking</a:t>
                      </a:r>
                      <a:r>
                        <a:rPr sz="1000" spc="5" dirty="0">
                          <a:latin typeface="Arial"/>
                          <a:cs typeface="Arial"/>
                        </a:rPr>
                        <a:t> </a:t>
                      </a:r>
                      <a:r>
                        <a:rPr sz="1000" spc="-5" dirty="0">
                          <a:latin typeface="Arial"/>
                          <a:cs typeface="Arial"/>
                        </a:rPr>
                        <a:t>system</a:t>
                      </a:r>
                      <a:r>
                        <a:rPr sz="1000" dirty="0">
                          <a:latin typeface="Arial"/>
                          <a:cs typeface="Arial"/>
                        </a:rPr>
                        <a:t> </a:t>
                      </a:r>
                      <a:r>
                        <a:rPr sz="1000" spc="-5" dirty="0">
                          <a:latin typeface="Arial"/>
                          <a:cs typeface="Arial"/>
                        </a:rPr>
                        <a:t>calls</a:t>
                      </a:r>
                      <a:endParaRPr sz="1000">
                        <a:latin typeface="Arial"/>
                        <a:cs typeface="Arial"/>
                      </a:endParaRPr>
                    </a:p>
                  </a:txBody>
                  <a:tcPr marL="0" marR="0" marT="3175" marB="0">
                    <a:lnL w="6350">
                      <a:solidFill>
                        <a:srgbClr val="000000"/>
                      </a:solidFill>
                      <a:prstDash val="solid"/>
                    </a:lnL>
                    <a:lnR w="635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16</a:t>
            </a:r>
            <a:r>
              <a:rPr spc="-40" dirty="0"/>
              <a:t> </a:t>
            </a:r>
            <a:r>
              <a:rPr spc="-5" dirty="0"/>
              <a:t>/</a:t>
            </a:r>
            <a:r>
              <a:rPr spc="-35" dirty="0"/>
              <a:t> </a:t>
            </a:r>
            <a:r>
              <a:rPr spc="-5" dirty="0"/>
              <a:t>47</a:t>
            </a:r>
          </a:p>
        </p:txBody>
      </p:sp>
      <p:sp>
        <p:nvSpPr>
          <p:cNvPr id="2" name="object 2"/>
          <p:cNvSpPr txBox="1"/>
          <p:nvPr/>
        </p:nvSpPr>
        <p:spPr>
          <a:xfrm>
            <a:off x="66713"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85" dirty="0">
                <a:solidFill>
                  <a:srgbClr val="3333B2"/>
                </a:solidFill>
                <a:latin typeface="Arial"/>
                <a:cs typeface="Arial"/>
              </a:rPr>
              <a:t> </a:t>
            </a:r>
            <a:r>
              <a:rPr sz="600" dirty="0">
                <a:solidFill>
                  <a:srgbClr val="3333B2"/>
                </a:solidFill>
                <a:latin typeface="Arial"/>
                <a:cs typeface="Arial"/>
                <a:hlinkClick r:id="rId4" action="ppaction://hlinksldjump"/>
              </a:rPr>
              <a:t>Virtualization</a:t>
            </a:r>
            <a:endParaRPr sz="600">
              <a:latin typeface="Arial"/>
              <a:cs typeface="Arial"/>
            </a:endParaRPr>
          </a:p>
        </p:txBody>
      </p:sp>
      <p:sp>
        <p:nvSpPr>
          <p:cNvPr id="3" name="object 3"/>
          <p:cNvSpPr txBox="1"/>
          <p:nvPr/>
        </p:nvSpPr>
        <p:spPr>
          <a:xfrm>
            <a:off x="3693286" y="716"/>
            <a:ext cx="8483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Principle</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dirty="0">
                <a:solidFill>
                  <a:srgbClr val="262685"/>
                </a:solidFill>
                <a:latin typeface="Arial"/>
                <a:cs typeface="Arial"/>
                <a:hlinkClick r:id="rId4" action="ppaction://hlinksldjump"/>
              </a:rPr>
              <a:t>virtualization</a:t>
            </a:r>
            <a:endParaRPr sz="600">
              <a:latin typeface="Arial"/>
              <a:cs typeface="Arial"/>
            </a:endParaRPr>
          </a:p>
        </p:txBody>
      </p:sp>
      <p:sp>
        <p:nvSpPr>
          <p:cNvPr id="4" name="object 4"/>
          <p:cNvSpPr txBox="1"/>
          <p:nvPr/>
        </p:nvSpPr>
        <p:spPr>
          <a:xfrm>
            <a:off x="69900" y="162640"/>
            <a:ext cx="2959735" cy="1488440"/>
          </a:xfrm>
          <a:prstGeom prst="rect">
            <a:avLst/>
          </a:prstGeom>
        </p:spPr>
        <p:txBody>
          <a:bodyPr vert="horz" wrap="square" lIns="0" tIns="36195" rIns="0" bIns="0" rtlCol="0">
            <a:spAutoFit/>
          </a:bodyPr>
          <a:lstStyle/>
          <a:p>
            <a:pPr marL="285750" marR="1207135" indent="-248285">
              <a:lnSpc>
                <a:spcPct val="103299"/>
              </a:lnSpc>
              <a:spcBef>
                <a:spcPts val="285"/>
              </a:spcBef>
            </a:pPr>
            <a:r>
              <a:rPr sz="1400" spc="15" dirty="0">
                <a:solidFill>
                  <a:srgbClr val="3333B2"/>
                </a:solidFill>
                <a:latin typeface="Arial"/>
                <a:cs typeface="Arial"/>
              </a:rPr>
              <a:t>Virtualization </a:t>
            </a:r>
            <a:r>
              <a:rPr sz="1400" spc="20" dirty="0">
                <a:solidFill>
                  <a:srgbClr val="3333B2"/>
                </a:solidFill>
                <a:latin typeface="Arial"/>
                <a:cs typeface="Arial"/>
              </a:rPr>
              <a:t> </a:t>
            </a:r>
            <a:r>
              <a:rPr sz="1200" spc="-5" dirty="0">
                <a:solidFill>
                  <a:srgbClr val="3333B2"/>
                </a:solidFill>
                <a:latin typeface="Arial"/>
                <a:cs typeface="Arial"/>
              </a:rPr>
              <a:t>Observation </a:t>
            </a:r>
            <a:r>
              <a:rPr sz="1200" dirty="0">
                <a:solidFill>
                  <a:srgbClr val="3333B2"/>
                </a:solidFill>
                <a:latin typeface="Arial"/>
                <a:cs typeface="Arial"/>
              </a:rPr>
              <a:t> </a:t>
            </a:r>
            <a:r>
              <a:rPr sz="1000" dirty="0">
                <a:solidFill>
                  <a:srgbClr val="0000FA"/>
                </a:solidFill>
                <a:latin typeface="Arial"/>
                <a:cs typeface="Arial"/>
              </a:rPr>
              <a:t>Virtualization</a:t>
            </a:r>
            <a:r>
              <a:rPr sz="1000" spc="-35" dirty="0">
                <a:solidFill>
                  <a:srgbClr val="0000FA"/>
                </a:solidFill>
                <a:latin typeface="Arial"/>
                <a:cs typeface="Arial"/>
              </a:rPr>
              <a:t> </a:t>
            </a:r>
            <a:r>
              <a:rPr sz="1000" spc="-5" dirty="0">
                <a:latin typeface="Arial"/>
                <a:cs typeface="Arial"/>
              </a:rPr>
              <a:t>is</a:t>
            </a:r>
            <a:r>
              <a:rPr sz="1000" spc="-35" dirty="0">
                <a:latin typeface="Arial"/>
                <a:cs typeface="Arial"/>
              </a:rPr>
              <a:t> </a:t>
            </a:r>
            <a:r>
              <a:rPr sz="1000" dirty="0">
                <a:latin typeface="Arial"/>
                <a:cs typeface="Arial"/>
              </a:rPr>
              <a:t>important:</a:t>
            </a:r>
          </a:p>
          <a:p>
            <a:pPr marL="567055" indent="-168275">
              <a:lnSpc>
                <a:spcPts val="1200"/>
              </a:lnSpc>
              <a:spcBef>
                <a:spcPts val="590"/>
              </a:spcBef>
              <a:buClr>
                <a:srgbClr val="3333B2"/>
              </a:buClr>
              <a:buChar char="►"/>
              <a:tabLst>
                <a:tab pos="567690" algn="l"/>
              </a:tabLst>
            </a:pPr>
            <a:r>
              <a:rPr sz="1000" spc="-5" dirty="0">
                <a:latin typeface="Arial"/>
                <a:cs typeface="Arial"/>
              </a:rPr>
              <a:t>Hardware</a:t>
            </a:r>
            <a:r>
              <a:rPr sz="1000" spc="-15" dirty="0">
                <a:latin typeface="Arial"/>
                <a:cs typeface="Arial"/>
              </a:rPr>
              <a:t> </a:t>
            </a:r>
            <a:r>
              <a:rPr sz="1000" spc="-5" dirty="0">
                <a:solidFill>
                  <a:srgbClr val="0000FA"/>
                </a:solidFill>
                <a:latin typeface="Arial"/>
                <a:cs typeface="Arial"/>
              </a:rPr>
              <a:t>changes</a:t>
            </a:r>
            <a:r>
              <a:rPr sz="1000" spc="-10" dirty="0">
                <a:solidFill>
                  <a:srgbClr val="0000FA"/>
                </a:solidFill>
                <a:latin typeface="Arial"/>
                <a:cs typeface="Arial"/>
              </a:rPr>
              <a:t> faster </a:t>
            </a:r>
            <a:r>
              <a:rPr sz="1000" spc="-5" dirty="0">
                <a:latin typeface="Arial"/>
                <a:cs typeface="Arial"/>
              </a:rPr>
              <a:t>than</a:t>
            </a:r>
            <a:r>
              <a:rPr sz="1000" spc="-10" dirty="0">
                <a:latin typeface="Arial"/>
                <a:cs typeface="Arial"/>
              </a:rPr>
              <a:t> </a:t>
            </a:r>
            <a:r>
              <a:rPr sz="1000" spc="-5" dirty="0">
                <a:latin typeface="Arial"/>
                <a:cs typeface="Arial"/>
              </a:rPr>
              <a:t>software</a:t>
            </a:r>
            <a:endParaRPr sz="1000" dirty="0">
              <a:latin typeface="Arial"/>
              <a:cs typeface="Arial"/>
            </a:endParaRPr>
          </a:p>
          <a:p>
            <a:pPr marL="567055" indent="-168275">
              <a:lnSpc>
                <a:spcPts val="1195"/>
              </a:lnSpc>
              <a:buClr>
                <a:srgbClr val="3333B2"/>
              </a:buClr>
              <a:buChar char="►"/>
              <a:tabLst>
                <a:tab pos="567690" algn="l"/>
              </a:tabLst>
            </a:pPr>
            <a:r>
              <a:rPr sz="1000" spc="-5" dirty="0">
                <a:latin typeface="Arial"/>
                <a:cs typeface="Arial"/>
              </a:rPr>
              <a:t>Ease</a:t>
            </a:r>
            <a:r>
              <a:rPr sz="1000" spc="-15" dirty="0">
                <a:latin typeface="Arial"/>
                <a:cs typeface="Arial"/>
              </a:rPr>
              <a:t> </a:t>
            </a:r>
            <a:r>
              <a:rPr sz="1000" spc="-5" dirty="0">
                <a:latin typeface="Arial"/>
                <a:cs typeface="Arial"/>
              </a:rPr>
              <a:t>of</a:t>
            </a:r>
            <a:r>
              <a:rPr sz="1000" spc="-10" dirty="0">
                <a:latin typeface="Arial"/>
                <a:cs typeface="Arial"/>
              </a:rPr>
              <a:t> </a:t>
            </a:r>
            <a:r>
              <a:rPr sz="1000" dirty="0">
                <a:solidFill>
                  <a:srgbClr val="0000FA"/>
                </a:solidFill>
                <a:latin typeface="Arial"/>
                <a:cs typeface="Arial"/>
              </a:rPr>
              <a:t>portability</a:t>
            </a:r>
            <a:r>
              <a:rPr sz="1000" spc="-10" dirty="0">
                <a:solidFill>
                  <a:srgbClr val="0000FA"/>
                </a:solidFill>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code</a:t>
            </a:r>
            <a:r>
              <a:rPr sz="1000" spc="-10" dirty="0">
                <a:latin typeface="Arial"/>
                <a:cs typeface="Arial"/>
              </a:rPr>
              <a:t> </a:t>
            </a:r>
            <a:r>
              <a:rPr sz="1000" spc="-5" dirty="0">
                <a:latin typeface="Arial"/>
                <a:cs typeface="Arial"/>
              </a:rPr>
              <a:t>migration</a:t>
            </a:r>
            <a:endParaRPr sz="1000" dirty="0">
              <a:latin typeface="Arial"/>
              <a:cs typeface="Arial"/>
            </a:endParaRPr>
          </a:p>
          <a:p>
            <a:pPr marL="567055" indent="-168275">
              <a:lnSpc>
                <a:spcPts val="1200"/>
              </a:lnSpc>
              <a:buClr>
                <a:srgbClr val="3333B2"/>
              </a:buClr>
              <a:buChar char="►"/>
              <a:tabLst>
                <a:tab pos="567690" algn="l"/>
              </a:tabLst>
            </a:pPr>
            <a:r>
              <a:rPr sz="1000" spc="-5" dirty="0">
                <a:solidFill>
                  <a:srgbClr val="0000FA"/>
                </a:solidFill>
                <a:latin typeface="Arial"/>
                <a:cs typeface="Arial"/>
              </a:rPr>
              <a:t>Isolation </a:t>
            </a:r>
            <a:r>
              <a:rPr sz="1000" spc="-5" dirty="0">
                <a:latin typeface="Arial"/>
                <a:cs typeface="Arial"/>
              </a:rPr>
              <a:t>of</a:t>
            </a:r>
            <a:r>
              <a:rPr sz="1000" dirty="0">
                <a:latin typeface="Arial"/>
                <a:cs typeface="Arial"/>
              </a:rPr>
              <a:t> </a:t>
            </a:r>
            <a:r>
              <a:rPr sz="1000" spc="-10" dirty="0">
                <a:latin typeface="Arial"/>
                <a:cs typeface="Arial"/>
              </a:rPr>
              <a:t>failing</a:t>
            </a:r>
            <a:r>
              <a:rPr sz="1000" dirty="0">
                <a:latin typeface="Arial"/>
                <a:cs typeface="Arial"/>
              </a:rPr>
              <a:t> </a:t>
            </a:r>
            <a:r>
              <a:rPr sz="1000" spc="-5" dirty="0">
                <a:latin typeface="Arial"/>
                <a:cs typeface="Arial"/>
              </a:rPr>
              <a:t>or</a:t>
            </a:r>
            <a:r>
              <a:rPr sz="1000" dirty="0">
                <a:latin typeface="Arial"/>
                <a:cs typeface="Arial"/>
              </a:rPr>
              <a:t> </a:t>
            </a:r>
            <a:r>
              <a:rPr sz="1000" spc="-10" dirty="0">
                <a:latin typeface="Arial"/>
                <a:cs typeface="Arial"/>
              </a:rPr>
              <a:t>attacked</a:t>
            </a:r>
            <a:r>
              <a:rPr sz="1000" dirty="0">
                <a:latin typeface="Arial"/>
                <a:cs typeface="Arial"/>
              </a:rPr>
              <a:t> </a:t>
            </a:r>
            <a:r>
              <a:rPr sz="1000" spc="-5" dirty="0">
                <a:latin typeface="Arial"/>
                <a:cs typeface="Arial"/>
              </a:rPr>
              <a:t>components</a:t>
            </a:r>
            <a:endParaRPr sz="1000" dirty="0">
              <a:latin typeface="Arial"/>
              <a:cs typeface="Arial"/>
            </a:endParaRPr>
          </a:p>
          <a:p>
            <a:pPr marL="289560">
              <a:lnSpc>
                <a:spcPct val="100000"/>
              </a:lnSpc>
              <a:spcBef>
                <a:spcPts val="1215"/>
              </a:spcBef>
            </a:pPr>
            <a:r>
              <a:rPr sz="1200" spc="-5" dirty="0">
                <a:solidFill>
                  <a:srgbClr val="3333B2"/>
                </a:solidFill>
                <a:latin typeface="Arial"/>
                <a:cs typeface="Arial"/>
              </a:rPr>
              <a:t>Principle:</a:t>
            </a:r>
            <a:r>
              <a:rPr sz="1200" spc="85" dirty="0">
                <a:solidFill>
                  <a:srgbClr val="3333B2"/>
                </a:solidFill>
                <a:latin typeface="Arial"/>
                <a:cs typeface="Arial"/>
              </a:rPr>
              <a:t> </a:t>
            </a:r>
            <a:r>
              <a:rPr sz="1200" spc="-10" dirty="0">
                <a:solidFill>
                  <a:srgbClr val="3333B2"/>
                </a:solidFill>
                <a:latin typeface="Arial"/>
                <a:cs typeface="Arial"/>
              </a:rPr>
              <a:t>mimicking</a:t>
            </a:r>
            <a:r>
              <a:rPr sz="1200" dirty="0">
                <a:solidFill>
                  <a:srgbClr val="3333B2"/>
                </a:solidFill>
                <a:latin typeface="Arial"/>
                <a:cs typeface="Arial"/>
              </a:rPr>
              <a:t> </a:t>
            </a:r>
            <a:r>
              <a:rPr sz="1200" spc="-10" dirty="0">
                <a:solidFill>
                  <a:srgbClr val="3333B2"/>
                </a:solidFill>
                <a:latin typeface="Arial"/>
                <a:cs typeface="Arial"/>
              </a:rPr>
              <a:t>interfaces</a:t>
            </a:r>
            <a:endParaRPr sz="1200" dirty="0">
              <a:latin typeface="Arial"/>
              <a:cs typeface="Arial"/>
            </a:endParaRPr>
          </a:p>
        </p:txBody>
      </p:sp>
      <p:graphicFrame>
        <p:nvGraphicFramePr>
          <p:cNvPr id="5" name="object 5"/>
          <p:cNvGraphicFramePr>
            <a:graphicFrameLocks noGrp="1"/>
          </p:cNvGraphicFramePr>
          <p:nvPr/>
        </p:nvGraphicFramePr>
        <p:xfrm>
          <a:off x="924795" y="2237273"/>
          <a:ext cx="1214120" cy="838200"/>
        </p:xfrm>
        <a:graphic>
          <a:graphicData uri="http://schemas.openxmlformats.org/drawingml/2006/table">
            <a:tbl>
              <a:tblPr firstRow="1" bandRow="1">
                <a:tableStyleId>{2D5ABB26-0587-4C30-8999-92F81FD0307C}</a:tableStyleId>
              </a:tblPr>
              <a:tblGrid>
                <a:gridCol w="53975">
                  <a:extLst>
                    <a:ext uri="{9D8B030D-6E8A-4147-A177-3AD203B41FA5}">
                      <a16:colId xmlns:a16="http://schemas.microsoft.com/office/drawing/2014/main" val="20000"/>
                    </a:ext>
                  </a:extLst>
                </a:gridCol>
                <a:gridCol w="1106805">
                  <a:extLst>
                    <a:ext uri="{9D8B030D-6E8A-4147-A177-3AD203B41FA5}">
                      <a16:colId xmlns:a16="http://schemas.microsoft.com/office/drawing/2014/main" val="20001"/>
                    </a:ext>
                  </a:extLst>
                </a:gridCol>
                <a:gridCol w="53340">
                  <a:extLst>
                    <a:ext uri="{9D8B030D-6E8A-4147-A177-3AD203B41FA5}">
                      <a16:colId xmlns:a16="http://schemas.microsoft.com/office/drawing/2014/main" val="20002"/>
                    </a:ext>
                  </a:extLst>
                </a:gridCol>
              </a:tblGrid>
              <a:tr h="366395">
                <a:tc gridSpan="3">
                  <a:txBody>
                    <a:bodyPr/>
                    <a:lstStyle/>
                    <a:p>
                      <a:pPr>
                        <a:lnSpc>
                          <a:spcPct val="100000"/>
                        </a:lnSpc>
                        <a:spcBef>
                          <a:spcPts val="45"/>
                        </a:spcBef>
                      </a:pPr>
                      <a:endParaRPr sz="700">
                        <a:latin typeface="Times New Roman"/>
                        <a:cs typeface="Times New Roman"/>
                      </a:endParaRPr>
                    </a:p>
                    <a:p>
                      <a:pPr algn="ctr">
                        <a:lnSpc>
                          <a:spcPct val="100000"/>
                        </a:lnSpc>
                        <a:spcBef>
                          <a:spcPts val="5"/>
                        </a:spcBef>
                      </a:pPr>
                      <a:r>
                        <a:rPr sz="650" spc="5" dirty="0">
                          <a:solidFill>
                            <a:srgbClr val="231F20"/>
                          </a:solidFill>
                          <a:latin typeface="Arial"/>
                          <a:cs typeface="Arial"/>
                        </a:rPr>
                        <a:t>Program</a:t>
                      </a:r>
                      <a:endParaRPr sz="650">
                        <a:latin typeface="Arial"/>
                        <a:cs typeface="Arial"/>
                      </a:endParaRPr>
                    </a:p>
                  </a:txBody>
                  <a:tcPr marL="0" marR="0" marT="57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05410">
                <a:tc>
                  <a:txBody>
                    <a:bodyPr/>
                    <a:lstStyle/>
                    <a:p>
                      <a:pPr>
                        <a:lnSpc>
                          <a:spcPct val="100000"/>
                        </a:lnSpc>
                      </a:pPr>
                      <a:endParaRPr sz="500">
                        <a:latin typeface="Times New Roman"/>
                        <a:cs typeface="Times New Roman"/>
                      </a:endParaRPr>
                    </a:p>
                  </a:txBody>
                  <a:tcPr marL="0" marR="0" marT="0" marB="0">
                    <a:lnR w="6350">
                      <a:solidFill>
                        <a:srgbClr val="231F20"/>
                      </a:solidFill>
                      <a:prstDash val="solid"/>
                    </a:lnR>
                    <a:lnT w="6350">
                      <a:solidFill>
                        <a:srgbClr val="231F20"/>
                      </a:solidFill>
                      <a:prstDash val="solid"/>
                    </a:lnT>
                    <a:lnB w="6350">
                      <a:solidFill>
                        <a:srgbClr val="231F20"/>
                      </a:solidFill>
                      <a:prstDash val="solid"/>
                    </a:lnB>
                    <a:solidFill>
                      <a:srgbClr val="BCBEC0"/>
                    </a:solidFill>
                  </a:tcPr>
                </a:tc>
                <a:tc>
                  <a:txBody>
                    <a:bodyPr/>
                    <a:lstStyle/>
                    <a:p>
                      <a:pPr marL="347345">
                        <a:lnSpc>
                          <a:spcPts val="725"/>
                        </a:lnSpc>
                      </a:pPr>
                      <a:r>
                        <a:rPr sz="650" dirty="0">
                          <a:solidFill>
                            <a:srgbClr val="231F20"/>
                          </a:solidFill>
                          <a:latin typeface="Arial"/>
                          <a:cs typeface="Arial"/>
                        </a:rPr>
                        <a:t>Interface</a:t>
                      </a:r>
                      <a:r>
                        <a:rPr sz="650" spc="-35" dirty="0">
                          <a:solidFill>
                            <a:srgbClr val="231F20"/>
                          </a:solidFill>
                          <a:latin typeface="Arial"/>
                          <a:cs typeface="Arial"/>
                        </a:rPr>
                        <a:t> </a:t>
                      </a:r>
                      <a:r>
                        <a:rPr sz="650" dirty="0">
                          <a:solidFill>
                            <a:srgbClr val="231F20"/>
                          </a:solidFill>
                          <a:latin typeface="Arial"/>
                          <a:cs typeface="Arial"/>
                        </a:rPr>
                        <a:t>A</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BCBEC0"/>
                    </a:solidFill>
                  </a:tcPr>
                </a:tc>
                <a:tc>
                  <a:txBody>
                    <a:bodyPr/>
                    <a:lstStyle/>
                    <a:p>
                      <a:pPr>
                        <a:lnSpc>
                          <a:spcPct val="100000"/>
                        </a:lnSpc>
                      </a:pPr>
                      <a:endParaRPr sz="500">
                        <a:latin typeface="Times New Roman"/>
                        <a:cs typeface="Times New Roman"/>
                      </a:endParaRPr>
                    </a:p>
                  </a:txBody>
                  <a:tcPr marL="0" marR="0" marT="0" marB="0">
                    <a:lnL w="6350">
                      <a:solidFill>
                        <a:srgbClr val="231F20"/>
                      </a:solidFill>
                      <a:prstDash val="solid"/>
                    </a:lnL>
                    <a:lnT w="6350">
                      <a:solidFill>
                        <a:srgbClr val="231F20"/>
                      </a:solidFill>
                      <a:prstDash val="solid"/>
                    </a:lnT>
                    <a:lnB w="6350">
                      <a:solidFill>
                        <a:srgbClr val="231F20"/>
                      </a:solidFill>
                      <a:prstDash val="solid"/>
                    </a:lnB>
                    <a:solidFill>
                      <a:srgbClr val="BCBEC0"/>
                    </a:solidFill>
                  </a:tcPr>
                </a:tc>
                <a:extLst>
                  <a:ext uri="{0D108BD9-81ED-4DB2-BD59-A6C34878D82A}">
                    <a16:rowId xmlns:a16="http://schemas.microsoft.com/office/drawing/2014/main" val="10001"/>
                  </a:ext>
                </a:extLst>
              </a:tr>
              <a:tr h="366395">
                <a:tc gridSpan="3">
                  <a:txBody>
                    <a:bodyPr/>
                    <a:lstStyle/>
                    <a:p>
                      <a:pPr>
                        <a:lnSpc>
                          <a:spcPct val="100000"/>
                        </a:lnSpc>
                      </a:pPr>
                      <a:endParaRPr sz="600">
                        <a:latin typeface="Times New Roman"/>
                        <a:cs typeface="Times New Roman"/>
                      </a:endParaRPr>
                    </a:p>
                    <a:p>
                      <a:pPr marL="67310">
                        <a:lnSpc>
                          <a:spcPct val="100000"/>
                        </a:lnSpc>
                        <a:spcBef>
                          <a:spcPts val="500"/>
                        </a:spcBef>
                      </a:pPr>
                      <a:r>
                        <a:rPr sz="650" dirty="0">
                          <a:solidFill>
                            <a:srgbClr val="231F20"/>
                          </a:solidFill>
                          <a:latin typeface="Arial"/>
                          <a:cs typeface="Arial"/>
                        </a:rPr>
                        <a:t>Hardware/software system</a:t>
                      </a:r>
                      <a:r>
                        <a:rPr sz="650" spc="-35" dirty="0">
                          <a:solidFill>
                            <a:srgbClr val="231F20"/>
                          </a:solidFill>
                          <a:latin typeface="Arial"/>
                          <a:cs typeface="Arial"/>
                        </a:rPr>
                        <a:t> </a:t>
                      </a:r>
                      <a:r>
                        <a:rPr sz="650" dirty="0">
                          <a:solidFill>
                            <a:srgbClr val="231F20"/>
                          </a:solidFill>
                          <a:latin typeface="Arial"/>
                          <a:cs typeface="Arial"/>
                        </a:rPr>
                        <a:t>A</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bl>
          </a:graphicData>
        </a:graphic>
      </p:graphicFrame>
      <p:graphicFrame>
        <p:nvGraphicFramePr>
          <p:cNvPr id="6" name="object 6"/>
          <p:cNvGraphicFramePr>
            <a:graphicFrameLocks noGrp="1"/>
          </p:cNvGraphicFramePr>
          <p:nvPr/>
        </p:nvGraphicFramePr>
        <p:xfrm>
          <a:off x="2463903" y="1771356"/>
          <a:ext cx="1214120" cy="1311910"/>
        </p:xfrm>
        <a:graphic>
          <a:graphicData uri="http://schemas.openxmlformats.org/drawingml/2006/table">
            <a:tbl>
              <a:tblPr firstRow="1" bandRow="1">
                <a:tableStyleId>{2D5ABB26-0587-4C30-8999-92F81FD0307C}</a:tableStyleId>
              </a:tblPr>
              <a:tblGrid>
                <a:gridCol w="54610">
                  <a:extLst>
                    <a:ext uri="{9D8B030D-6E8A-4147-A177-3AD203B41FA5}">
                      <a16:colId xmlns:a16="http://schemas.microsoft.com/office/drawing/2014/main" val="20000"/>
                    </a:ext>
                  </a:extLst>
                </a:gridCol>
                <a:gridCol w="1106805">
                  <a:extLst>
                    <a:ext uri="{9D8B030D-6E8A-4147-A177-3AD203B41FA5}">
                      <a16:colId xmlns:a16="http://schemas.microsoft.com/office/drawing/2014/main" val="20001"/>
                    </a:ext>
                  </a:extLst>
                </a:gridCol>
                <a:gridCol w="52705">
                  <a:extLst>
                    <a:ext uri="{9D8B030D-6E8A-4147-A177-3AD203B41FA5}">
                      <a16:colId xmlns:a16="http://schemas.microsoft.com/office/drawing/2014/main" val="20002"/>
                    </a:ext>
                  </a:extLst>
                </a:gridCol>
              </a:tblGrid>
              <a:tr h="366395">
                <a:tc gridSpan="3">
                  <a:txBody>
                    <a:bodyPr/>
                    <a:lstStyle/>
                    <a:p>
                      <a:pPr>
                        <a:lnSpc>
                          <a:spcPct val="100000"/>
                        </a:lnSpc>
                        <a:spcBef>
                          <a:spcPts val="45"/>
                        </a:spcBef>
                      </a:pPr>
                      <a:endParaRPr sz="700">
                        <a:latin typeface="Times New Roman"/>
                        <a:cs typeface="Times New Roman"/>
                      </a:endParaRPr>
                    </a:p>
                    <a:p>
                      <a:pPr algn="ctr">
                        <a:lnSpc>
                          <a:spcPct val="100000"/>
                        </a:lnSpc>
                        <a:spcBef>
                          <a:spcPts val="5"/>
                        </a:spcBef>
                      </a:pPr>
                      <a:r>
                        <a:rPr sz="650" spc="5" dirty="0">
                          <a:solidFill>
                            <a:srgbClr val="231F20"/>
                          </a:solidFill>
                          <a:latin typeface="Arial"/>
                          <a:cs typeface="Arial"/>
                        </a:rPr>
                        <a:t>Program</a:t>
                      </a:r>
                      <a:endParaRPr sz="650">
                        <a:latin typeface="Arial"/>
                        <a:cs typeface="Arial"/>
                      </a:endParaRPr>
                    </a:p>
                  </a:txBody>
                  <a:tcPr marL="0" marR="0" marT="5715"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06045">
                <a:tc>
                  <a:txBody>
                    <a:bodyPr/>
                    <a:lstStyle/>
                    <a:p>
                      <a:pPr>
                        <a:lnSpc>
                          <a:spcPct val="100000"/>
                        </a:lnSpc>
                      </a:pPr>
                      <a:endParaRPr sz="500">
                        <a:latin typeface="Times New Roman"/>
                        <a:cs typeface="Times New Roman"/>
                      </a:endParaRPr>
                    </a:p>
                  </a:txBody>
                  <a:tcPr marL="0" marR="0" marT="0" marB="0">
                    <a:lnR w="6350">
                      <a:solidFill>
                        <a:srgbClr val="231F20"/>
                      </a:solidFill>
                      <a:prstDash val="solid"/>
                    </a:lnR>
                    <a:lnT w="6350">
                      <a:solidFill>
                        <a:srgbClr val="231F20"/>
                      </a:solidFill>
                      <a:prstDash val="solid"/>
                    </a:lnT>
                    <a:lnB w="6350">
                      <a:solidFill>
                        <a:srgbClr val="231F20"/>
                      </a:solidFill>
                      <a:prstDash val="solid"/>
                    </a:lnB>
                    <a:solidFill>
                      <a:srgbClr val="BCBEC0"/>
                    </a:solidFill>
                  </a:tcPr>
                </a:tc>
                <a:tc>
                  <a:txBody>
                    <a:bodyPr/>
                    <a:lstStyle/>
                    <a:p>
                      <a:pPr marL="347345">
                        <a:lnSpc>
                          <a:spcPts val="735"/>
                        </a:lnSpc>
                      </a:pPr>
                      <a:r>
                        <a:rPr sz="650" dirty="0">
                          <a:solidFill>
                            <a:srgbClr val="231F20"/>
                          </a:solidFill>
                          <a:latin typeface="Arial"/>
                          <a:cs typeface="Arial"/>
                        </a:rPr>
                        <a:t>Interface</a:t>
                      </a:r>
                      <a:r>
                        <a:rPr sz="650" spc="-35" dirty="0">
                          <a:solidFill>
                            <a:srgbClr val="231F20"/>
                          </a:solidFill>
                          <a:latin typeface="Arial"/>
                          <a:cs typeface="Arial"/>
                        </a:rPr>
                        <a:t> </a:t>
                      </a:r>
                      <a:r>
                        <a:rPr sz="650" dirty="0">
                          <a:solidFill>
                            <a:srgbClr val="231F20"/>
                          </a:solidFill>
                          <a:latin typeface="Arial"/>
                          <a:cs typeface="Arial"/>
                        </a:rPr>
                        <a:t>A</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9525">
                      <a:solidFill>
                        <a:srgbClr val="231F20"/>
                      </a:solidFill>
                      <a:prstDash val="solid"/>
                    </a:lnB>
                    <a:solidFill>
                      <a:srgbClr val="BCBEC0"/>
                    </a:solidFill>
                  </a:tcPr>
                </a:tc>
                <a:tc>
                  <a:txBody>
                    <a:bodyPr/>
                    <a:lstStyle/>
                    <a:p>
                      <a:pPr>
                        <a:lnSpc>
                          <a:spcPct val="100000"/>
                        </a:lnSpc>
                      </a:pPr>
                      <a:endParaRPr sz="500">
                        <a:latin typeface="Times New Roman"/>
                        <a:cs typeface="Times New Roman"/>
                      </a:endParaRPr>
                    </a:p>
                  </a:txBody>
                  <a:tcPr marL="0" marR="0" marT="0" marB="0">
                    <a:lnL w="6350">
                      <a:solidFill>
                        <a:srgbClr val="231F20"/>
                      </a:solidFill>
                      <a:prstDash val="solid"/>
                    </a:lnL>
                    <a:lnT w="6350">
                      <a:solidFill>
                        <a:srgbClr val="231F20"/>
                      </a:solidFill>
                      <a:prstDash val="solid"/>
                    </a:lnT>
                    <a:lnB w="6350">
                      <a:solidFill>
                        <a:srgbClr val="231F20"/>
                      </a:solidFill>
                      <a:prstDash val="solid"/>
                    </a:lnB>
                    <a:solidFill>
                      <a:srgbClr val="BCBEC0"/>
                    </a:solidFill>
                  </a:tcPr>
                </a:tc>
                <a:extLst>
                  <a:ext uri="{0D108BD9-81ED-4DB2-BD59-A6C34878D82A}">
                    <a16:rowId xmlns:a16="http://schemas.microsoft.com/office/drawing/2014/main" val="10001"/>
                  </a:ext>
                </a:extLst>
              </a:tr>
              <a:tr h="367665">
                <a:tc gridSpan="3">
                  <a:txBody>
                    <a:bodyPr/>
                    <a:lstStyle/>
                    <a:p>
                      <a:pPr>
                        <a:lnSpc>
                          <a:spcPct val="100000"/>
                        </a:lnSpc>
                        <a:spcBef>
                          <a:spcPts val="35"/>
                        </a:spcBef>
                      </a:pPr>
                      <a:endParaRPr sz="600">
                        <a:latin typeface="Times New Roman"/>
                        <a:cs typeface="Times New Roman"/>
                      </a:endParaRPr>
                    </a:p>
                    <a:p>
                      <a:pPr marL="288925" marR="260985" indent="-14604">
                        <a:lnSpc>
                          <a:spcPts val="740"/>
                        </a:lnSpc>
                        <a:spcBef>
                          <a:spcPts val="5"/>
                        </a:spcBef>
                      </a:pPr>
                      <a:r>
                        <a:rPr sz="650" dirty="0">
                          <a:solidFill>
                            <a:srgbClr val="231F20"/>
                          </a:solidFill>
                          <a:latin typeface="Arial"/>
                          <a:cs typeface="Arial"/>
                        </a:rPr>
                        <a:t>Implementation of  mimicking</a:t>
                      </a:r>
                      <a:r>
                        <a:rPr sz="650" spc="-35" dirty="0">
                          <a:solidFill>
                            <a:srgbClr val="231F20"/>
                          </a:solidFill>
                          <a:latin typeface="Arial"/>
                          <a:cs typeface="Arial"/>
                        </a:rPr>
                        <a:t> </a:t>
                      </a:r>
                      <a:r>
                        <a:rPr sz="650" dirty="0">
                          <a:solidFill>
                            <a:srgbClr val="231F20"/>
                          </a:solidFill>
                          <a:latin typeface="Arial"/>
                          <a:cs typeface="Arial"/>
                        </a:rPr>
                        <a:t>A</a:t>
                      </a:r>
                      <a:r>
                        <a:rPr sz="650" spc="-35" dirty="0">
                          <a:solidFill>
                            <a:srgbClr val="231F20"/>
                          </a:solidFill>
                          <a:latin typeface="Arial"/>
                          <a:cs typeface="Arial"/>
                        </a:rPr>
                        <a:t> </a:t>
                      </a:r>
                      <a:r>
                        <a:rPr sz="650" dirty="0">
                          <a:solidFill>
                            <a:srgbClr val="231F20"/>
                          </a:solidFill>
                          <a:latin typeface="Arial"/>
                          <a:cs typeface="Arial"/>
                        </a:rPr>
                        <a:t>on B</a:t>
                      </a:r>
                      <a:endParaRPr sz="650">
                        <a:latin typeface="Arial"/>
                        <a:cs typeface="Arial"/>
                      </a:endParaRPr>
                    </a:p>
                  </a:txBody>
                  <a:tcPr marL="0" marR="0" marT="4445" marB="0">
                    <a:lnL w="6350">
                      <a:solidFill>
                        <a:srgbClr val="231F20"/>
                      </a:solidFill>
                      <a:prstDash val="solid"/>
                    </a:lnL>
                    <a:lnR w="6350">
                      <a:solidFill>
                        <a:srgbClr val="231F20"/>
                      </a:solidFill>
                      <a:prstDash val="solid"/>
                    </a:lnR>
                    <a:lnT w="6350" cap="flat" cmpd="sng" algn="ctr">
                      <a:solidFill>
                        <a:srgbClr val="231F20"/>
                      </a:solidFill>
                      <a:prstDash val="solid"/>
                      <a:round/>
                      <a:headEnd type="none" w="med" len="med"/>
                      <a:tailEnd type="none" w="med" len="me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105410">
                <a:tc>
                  <a:txBody>
                    <a:bodyPr/>
                    <a:lstStyle/>
                    <a:p>
                      <a:pPr>
                        <a:lnSpc>
                          <a:spcPct val="100000"/>
                        </a:lnSpc>
                      </a:pPr>
                      <a:endParaRPr sz="500">
                        <a:latin typeface="Times New Roman"/>
                        <a:cs typeface="Times New Roman"/>
                      </a:endParaRPr>
                    </a:p>
                  </a:txBody>
                  <a:tcPr marL="0" marR="0" marT="0" marB="0">
                    <a:lnR w="6350">
                      <a:solidFill>
                        <a:srgbClr val="231F20"/>
                      </a:solidFill>
                      <a:prstDash val="solid"/>
                    </a:lnR>
                    <a:lnT w="6350">
                      <a:solidFill>
                        <a:srgbClr val="231F20"/>
                      </a:solidFill>
                      <a:prstDash val="solid"/>
                    </a:lnT>
                    <a:lnB w="6350">
                      <a:solidFill>
                        <a:srgbClr val="231F20"/>
                      </a:solidFill>
                      <a:prstDash val="solid"/>
                    </a:lnB>
                    <a:solidFill>
                      <a:srgbClr val="BCBEC0"/>
                    </a:solidFill>
                  </a:tcPr>
                </a:tc>
                <a:tc>
                  <a:txBody>
                    <a:bodyPr/>
                    <a:lstStyle/>
                    <a:p>
                      <a:pPr marL="345440">
                        <a:lnSpc>
                          <a:spcPts val="725"/>
                        </a:lnSpc>
                      </a:pPr>
                      <a:r>
                        <a:rPr sz="650" spc="5" dirty="0">
                          <a:solidFill>
                            <a:srgbClr val="231F20"/>
                          </a:solidFill>
                          <a:latin typeface="Arial"/>
                          <a:cs typeface="Arial"/>
                        </a:rPr>
                        <a:t>Interface</a:t>
                      </a:r>
                      <a:r>
                        <a:rPr sz="650" spc="-40" dirty="0">
                          <a:solidFill>
                            <a:srgbClr val="231F20"/>
                          </a:solidFill>
                          <a:latin typeface="Arial"/>
                          <a:cs typeface="Arial"/>
                        </a:rPr>
                        <a:t> </a:t>
                      </a:r>
                      <a:r>
                        <a:rPr sz="650" spc="5" dirty="0">
                          <a:solidFill>
                            <a:srgbClr val="231F20"/>
                          </a:solidFill>
                          <a:latin typeface="Arial"/>
                          <a:cs typeface="Arial"/>
                        </a:rPr>
                        <a:t>B</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solidFill>
                      <a:srgbClr val="BCBEC0"/>
                    </a:solidFill>
                  </a:tcPr>
                </a:tc>
                <a:tc>
                  <a:txBody>
                    <a:bodyPr/>
                    <a:lstStyle/>
                    <a:p>
                      <a:pPr>
                        <a:lnSpc>
                          <a:spcPct val="100000"/>
                        </a:lnSpc>
                      </a:pPr>
                      <a:endParaRPr sz="500">
                        <a:latin typeface="Times New Roman"/>
                        <a:cs typeface="Times New Roman"/>
                      </a:endParaRPr>
                    </a:p>
                  </a:txBody>
                  <a:tcPr marL="0" marR="0" marT="0" marB="0">
                    <a:lnL w="6350">
                      <a:solidFill>
                        <a:srgbClr val="231F20"/>
                      </a:solidFill>
                      <a:prstDash val="solid"/>
                    </a:lnL>
                    <a:lnT w="6350">
                      <a:solidFill>
                        <a:srgbClr val="231F20"/>
                      </a:solidFill>
                      <a:prstDash val="solid"/>
                    </a:lnT>
                    <a:lnB w="6350">
                      <a:solidFill>
                        <a:srgbClr val="231F20"/>
                      </a:solidFill>
                      <a:prstDash val="solid"/>
                    </a:lnB>
                    <a:solidFill>
                      <a:srgbClr val="BCBEC0"/>
                    </a:solidFill>
                  </a:tcPr>
                </a:tc>
                <a:extLst>
                  <a:ext uri="{0D108BD9-81ED-4DB2-BD59-A6C34878D82A}">
                    <a16:rowId xmlns:a16="http://schemas.microsoft.com/office/drawing/2014/main" val="10003"/>
                  </a:ext>
                </a:extLst>
              </a:tr>
              <a:tr h="366395">
                <a:tc gridSpan="3">
                  <a:txBody>
                    <a:bodyPr/>
                    <a:lstStyle/>
                    <a:p>
                      <a:pPr>
                        <a:lnSpc>
                          <a:spcPct val="100000"/>
                        </a:lnSpc>
                      </a:pPr>
                      <a:endParaRPr sz="600">
                        <a:latin typeface="Times New Roman"/>
                        <a:cs typeface="Times New Roman"/>
                      </a:endParaRPr>
                    </a:p>
                    <a:p>
                      <a:pPr marL="67310">
                        <a:lnSpc>
                          <a:spcPct val="100000"/>
                        </a:lnSpc>
                        <a:spcBef>
                          <a:spcPts val="500"/>
                        </a:spcBef>
                      </a:pPr>
                      <a:r>
                        <a:rPr sz="650" spc="5" dirty="0">
                          <a:solidFill>
                            <a:srgbClr val="231F20"/>
                          </a:solidFill>
                          <a:latin typeface="Arial"/>
                          <a:cs typeface="Arial"/>
                        </a:rPr>
                        <a:t>Hardware/software</a:t>
                      </a:r>
                      <a:r>
                        <a:rPr sz="650" spc="-20" dirty="0">
                          <a:solidFill>
                            <a:srgbClr val="231F20"/>
                          </a:solidFill>
                          <a:latin typeface="Arial"/>
                          <a:cs typeface="Arial"/>
                        </a:rPr>
                        <a:t> </a:t>
                      </a:r>
                      <a:r>
                        <a:rPr sz="650" spc="5" dirty="0">
                          <a:solidFill>
                            <a:srgbClr val="231F20"/>
                          </a:solidFill>
                          <a:latin typeface="Arial"/>
                          <a:cs typeface="Arial"/>
                        </a:rPr>
                        <a:t>system</a:t>
                      </a:r>
                      <a:r>
                        <a:rPr sz="650" spc="-15" dirty="0">
                          <a:solidFill>
                            <a:srgbClr val="231F20"/>
                          </a:solidFill>
                          <a:latin typeface="Arial"/>
                          <a:cs typeface="Arial"/>
                        </a:rPr>
                        <a:t> </a:t>
                      </a:r>
                      <a:r>
                        <a:rPr sz="650" spc="5" dirty="0">
                          <a:solidFill>
                            <a:srgbClr val="231F20"/>
                          </a:solidFill>
                          <a:latin typeface="Arial"/>
                          <a:cs typeface="Arial"/>
                        </a:rPr>
                        <a:t>B</a:t>
                      </a:r>
                      <a:endParaRPr sz="650">
                        <a:latin typeface="Arial"/>
                        <a:cs typeface="Arial"/>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53745" cy="119380"/>
          </a:xfrm>
          <a:prstGeom prst="rect">
            <a:avLst/>
          </a:prstGeom>
        </p:spPr>
        <p:txBody>
          <a:bodyPr vert="horz" wrap="square" lIns="0" tIns="8890" rIns="0" bIns="0" rtlCol="0">
            <a:spAutoFit/>
          </a:bodyPr>
          <a:lstStyle/>
          <a:p>
            <a:pPr marL="12700">
              <a:lnSpc>
                <a:spcPct val="100000"/>
              </a:lnSpc>
              <a:spcBef>
                <a:spcPts val="70"/>
              </a:spcBef>
            </a:pPr>
            <a:r>
              <a:rPr sz="600" spc="-80" dirty="0">
                <a:solidFill>
                  <a:srgbClr val="3333B2"/>
                </a:solidFill>
                <a:latin typeface="Arial"/>
                <a:cs typeface="Arial"/>
                <a:hlinkClick r:id="rId3" action="ppaction://hlinksldjump"/>
              </a:rPr>
              <a:t>T</a:t>
            </a:r>
            <a:r>
              <a:rPr sz="600" spc="-5" dirty="0">
                <a:solidFill>
                  <a:srgbClr val="3333B2"/>
                </a:solidFill>
                <a:latin typeface="Arial"/>
                <a:cs typeface="Arial"/>
                <a:hlinkClick r:id="rId3" action="ppaction://hlinksldjump"/>
              </a:rPr>
              <a:t>ypes of vi</a:t>
            </a:r>
            <a:r>
              <a:rPr sz="600" spc="1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tualization</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17</a:t>
            </a:r>
            <a:r>
              <a:rPr spc="-40" dirty="0"/>
              <a:t> </a:t>
            </a:r>
            <a:r>
              <a:rPr spc="-5" dirty="0"/>
              <a:t>/</a:t>
            </a:r>
            <a:r>
              <a:rPr spc="-35" dirty="0"/>
              <a:t> </a:t>
            </a:r>
            <a:r>
              <a:rPr spc="-5" dirty="0"/>
              <a:t>47</a:t>
            </a:r>
          </a:p>
        </p:txBody>
      </p:sp>
      <p:sp>
        <p:nvSpPr>
          <p:cNvPr id="2" name="object 2"/>
          <p:cNvSpPr txBox="1"/>
          <p:nvPr/>
        </p:nvSpPr>
        <p:spPr>
          <a:xfrm>
            <a:off x="66713"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85" dirty="0">
                <a:solidFill>
                  <a:srgbClr val="3333B2"/>
                </a:solidFill>
                <a:latin typeface="Arial"/>
                <a:cs typeface="Arial"/>
              </a:rPr>
              <a:t> </a:t>
            </a:r>
            <a:r>
              <a:rPr sz="600" dirty="0">
                <a:solidFill>
                  <a:srgbClr val="3333B2"/>
                </a:solidFill>
                <a:latin typeface="Arial"/>
                <a:cs typeface="Arial"/>
                <a:hlinkClick r:id="rId5" action="ppaction://hlinksldjump"/>
              </a:rPr>
              <a:t>Virtualization</a:t>
            </a:r>
            <a:endParaRPr sz="600">
              <a:latin typeface="Arial"/>
              <a:cs typeface="Arial"/>
            </a:endParaRPr>
          </a:p>
        </p:txBody>
      </p:sp>
      <p:sp>
        <p:nvSpPr>
          <p:cNvPr id="3" name="object 3"/>
          <p:cNvSpPr txBox="1"/>
          <p:nvPr/>
        </p:nvSpPr>
        <p:spPr>
          <a:xfrm>
            <a:off x="3693286" y="716"/>
            <a:ext cx="8483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Principle</a:t>
            </a:r>
            <a:r>
              <a:rPr sz="600" spc="-2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a:t>
            </a:r>
            <a:r>
              <a:rPr sz="600" spc="-20" dirty="0">
                <a:solidFill>
                  <a:srgbClr val="262685"/>
                </a:solidFill>
                <a:latin typeface="Arial"/>
                <a:cs typeface="Arial"/>
                <a:hlinkClick r:id="rId5" action="ppaction://hlinksldjump"/>
              </a:rPr>
              <a:t> </a:t>
            </a:r>
            <a:r>
              <a:rPr sz="600" dirty="0">
                <a:solidFill>
                  <a:srgbClr val="262685"/>
                </a:solidFill>
                <a:latin typeface="Arial"/>
                <a:cs typeface="Arial"/>
                <a:hlinkClick r:id="rId5" action="ppaction://hlinksldjump"/>
              </a:rPr>
              <a:t>virtualization</a:t>
            </a:r>
            <a:endParaRPr sz="600">
              <a:latin typeface="Arial"/>
              <a:cs typeface="Arial"/>
            </a:endParaRPr>
          </a:p>
        </p:txBody>
      </p:sp>
      <p:sp>
        <p:nvSpPr>
          <p:cNvPr id="4" name="object 4"/>
          <p:cNvSpPr txBox="1"/>
          <p:nvPr/>
        </p:nvSpPr>
        <p:spPr>
          <a:xfrm>
            <a:off x="95300" y="188846"/>
            <a:ext cx="1666875"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Mimicking</a:t>
            </a:r>
            <a:r>
              <a:rPr sz="1400" spc="-45" dirty="0">
                <a:solidFill>
                  <a:srgbClr val="3333B2"/>
                </a:solidFill>
                <a:latin typeface="Arial"/>
                <a:cs typeface="Arial"/>
              </a:rPr>
              <a:t> </a:t>
            </a:r>
            <a:r>
              <a:rPr sz="1400" spc="10" dirty="0">
                <a:solidFill>
                  <a:srgbClr val="3333B2"/>
                </a:solidFill>
                <a:latin typeface="Arial"/>
                <a:cs typeface="Arial"/>
              </a:rPr>
              <a:t>interfaces</a:t>
            </a:r>
            <a:endParaRPr sz="1400" dirty="0">
              <a:latin typeface="Arial"/>
              <a:cs typeface="Arial"/>
            </a:endParaRPr>
          </a:p>
        </p:txBody>
      </p:sp>
      <p:sp>
        <p:nvSpPr>
          <p:cNvPr id="5" name="object 5"/>
          <p:cNvSpPr txBox="1"/>
          <p:nvPr/>
        </p:nvSpPr>
        <p:spPr>
          <a:xfrm>
            <a:off x="321894" y="913495"/>
            <a:ext cx="3921760" cy="1572895"/>
          </a:xfrm>
          <a:prstGeom prst="rect">
            <a:avLst/>
          </a:prstGeom>
        </p:spPr>
        <p:txBody>
          <a:bodyPr vert="horz" wrap="square" lIns="0" tIns="12065" rIns="0" bIns="0" rtlCol="0">
            <a:spAutoFit/>
          </a:bodyPr>
          <a:lstStyle/>
          <a:p>
            <a:pPr marL="38100">
              <a:lnSpc>
                <a:spcPct val="100000"/>
              </a:lnSpc>
              <a:spcBef>
                <a:spcPts val="95"/>
              </a:spcBef>
            </a:pPr>
            <a:r>
              <a:rPr sz="1200" spc="-15" dirty="0">
                <a:solidFill>
                  <a:srgbClr val="3333B2"/>
                </a:solidFill>
                <a:latin typeface="Arial"/>
                <a:cs typeface="Arial"/>
              </a:rPr>
              <a:t>Four</a:t>
            </a:r>
            <a:r>
              <a:rPr sz="1200" spc="-5" dirty="0">
                <a:solidFill>
                  <a:srgbClr val="3333B2"/>
                </a:solidFill>
                <a:latin typeface="Arial"/>
                <a:cs typeface="Arial"/>
              </a:rPr>
              <a:t> types</a:t>
            </a:r>
            <a:r>
              <a:rPr sz="1200" dirty="0">
                <a:solidFill>
                  <a:srgbClr val="3333B2"/>
                </a:solidFill>
                <a:latin typeface="Arial"/>
                <a:cs typeface="Arial"/>
              </a:rPr>
              <a:t> </a:t>
            </a:r>
            <a:r>
              <a:rPr sz="1200" spc="-5" dirty="0">
                <a:solidFill>
                  <a:srgbClr val="3333B2"/>
                </a:solidFill>
                <a:latin typeface="Arial"/>
                <a:cs typeface="Arial"/>
              </a:rPr>
              <a:t>of</a:t>
            </a:r>
            <a:r>
              <a:rPr sz="1200" dirty="0">
                <a:solidFill>
                  <a:srgbClr val="3333B2"/>
                </a:solidFill>
                <a:latin typeface="Arial"/>
                <a:cs typeface="Arial"/>
              </a:rPr>
              <a:t> </a:t>
            </a:r>
            <a:r>
              <a:rPr sz="1200" spc="-10" dirty="0">
                <a:solidFill>
                  <a:srgbClr val="3333B2"/>
                </a:solidFill>
                <a:latin typeface="Arial"/>
                <a:cs typeface="Arial"/>
              </a:rPr>
              <a:t>interfaces</a:t>
            </a:r>
            <a:r>
              <a:rPr sz="1200" dirty="0">
                <a:solidFill>
                  <a:srgbClr val="3333B2"/>
                </a:solidFill>
                <a:latin typeface="Arial"/>
                <a:cs typeface="Arial"/>
              </a:rPr>
              <a:t> </a:t>
            </a:r>
            <a:r>
              <a:rPr sz="1200" spc="-5" dirty="0">
                <a:solidFill>
                  <a:srgbClr val="3333B2"/>
                </a:solidFill>
                <a:latin typeface="Arial"/>
                <a:cs typeface="Arial"/>
              </a:rPr>
              <a:t>at</a:t>
            </a:r>
            <a:r>
              <a:rPr sz="1200" dirty="0">
                <a:solidFill>
                  <a:srgbClr val="3333B2"/>
                </a:solidFill>
                <a:latin typeface="Arial"/>
                <a:cs typeface="Arial"/>
              </a:rPr>
              <a:t> </a:t>
            </a:r>
            <a:r>
              <a:rPr sz="1200" spc="-5" dirty="0">
                <a:solidFill>
                  <a:srgbClr val="3333B2"/>
                </a:solidFill>
                <a:latin typeface="Arial"/>
                <a:cs typeface="Arial"/>
              </a:rPr>
              <a:t>three </a:t>
            </a:r>
            <a:r>
              <a:rPr sz="1200" spc="-10" dirty="0">
                <a:solidFill>
                  <a:srgbClr val="3333B2"/>
                </a:solidFill>
                <a:latin typeface="Arial"/>
                <a:cs typeface="Arial"/>
              </a:rPr>
              <a:t>different</a:t>
            </a:r>
            <a:r>
              <a:rPr sz="1200" dirty="0">
                <a:solidFill>
                  <a:srgbClr val="3333B2"/>
                </a:solidFill>
                <a:latin typeface="Arial"/>
                <a:cs typeface="Arial"/>
              </a:rPr>
              <a:t> </a:t>
            </a:r>
            <a:r>
              <a:rPr sz="1200" spc="-15" dirty="0">
                <a:solidFill>
                  <a:srgbClr val="3333B2"/>
                </a:solidFill>
                <a:latin typeface="Arial"/>
                <a:cs typeface="Arial"/>
              </a:rPr>
              <a:t>levels</a:t>
            </a:r>
            <a:endParaRPr sz="1200" dirty="0">
              <a:latin typeface="Arial"/>
              <a:cs typeface="Arial"/>
            </a:endParaRPr>
          </a:p>
          <a:p>
            <a:pPr marL="314960" marR="30480" indent="-175260">
              <a:lnSpc>
                <a:spcPct val="100000"/>
              </a:lnSpc>
              <a:spcBef>
                <a:spcPts val="780"/>
              </a:spcBef>
              <a:buClr>
                <a:srgbClr val="3333B2"/>
              </a:buClr>
              <a:buAutoNum type="arabicPeriod"/>
              <a:tabLst>
                <a:tab pos="315595" algn="l"/>
              </a:tabLst>
            </a:pPr>
            <a:r>
              <a:rPr sz="1000" spc="-5" dirty="0">
                <a:solidFill>
                  <a:srgbClr val="FA0000"/>
                </a:solidFill>
                <a:latin typeface="Arial"/>
                <a:cs typeface="Arial"/>
              </a:rPr>
              <a:t>Instruction</a:t>
            </a:r>
            <a:r>
              <a:rPr sz="1000" spc="5" dirty="0">
                <a:solidFill>
                  <a:srgbClr val="FA0000"/>
                </a:solidFill>
                <a:latin typeface="Arial"/>
                <a:cs typeface="Arial"/>
              </a:rPr>
              <a:t> </a:t>
            </a:r>
            <a:r>
              <a:rPr sz="1000" spc="-5" dirty="0">
                <a:solidFill>
                  <a:srgbClr val="FA0000"/>
                </a:solidFill>
                <a:latin typeface="Arial"/>
                <a:cs typeface="Arial"/>
              </a:rPr>
              <a:t>set</a:t>
            </a:r>
            <a:r>
              <a:rPr sz="1000" spc="5" dirty="0">
                <a:solidFill>
                  <a:srgbClr val="FA0000"/>
                </a:solidFill>
                <a:latin typeface="Arial"/>
                <a:cs typeface="Arial"/>
              </a:rPr>
              <a:t> </a:t>
            </a:r>
            <a:r>
              <a:rPr sz="1000" spc="-5" dirty="0">
                <a:solidFill>
                  <a:srgbClr val="FA0000"/>
                </a:solidFill>
                <a:latin typeface="Arial"/>
                <a:cs typeface="Arial"/>
              </a:rPr>
              <a:t>architecture</a:t>
            </a:r>
            <a:r>
              <a:rPr sz="1000" spc="-5" dirty="0">
                <a:latin typeface="Arial"/>
                <a:cs typeface="Arial"/>
              </a:rPr>
              <a:t>:</a:t>
            </a:r>
            <a:r>
              <a:rPr sz="1000" spc="75"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set</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machine</a:t>
            </a:r>
            <a:r>
              <a:rPr sz="1000" spc="10" dirty="0">
                <a:latin typeface="Arial"/>
                <a:cs typeface="Arial"/>
              </a:rPr>
              <a:t> </a:t>
            </a:r>
            <a:r>
              <a:rPr sz="1000" spc="-5" dirty="0">
                <a:latin typeface="Arial"/>
                <a:cs typeface="Arial"/>
              </a:rPr>
              <a:t>instructions,</a:t>
            </a:r>
            <a:r>
              <a:rPr sz="1000" spc="5" dirty="0">
                <a:latin typeface="Arial"/>
                <a:cs typeface="Arial"/>
              </a:rPr>
              <a:t> </a:t>
            </a:r>
            <a:r>
              <a:rPr sz="1000" spc="-5" dirty="0">
                <a:latin typeface="Arial"/>
                <a:cs typeface="Arial"/>
              </a:rPr>
              <a:t>with </a:t>
            </a:r>
            <a:r>
              <a:rPr sz="1000" spc="-260" dirty="0">
                <a:latin typeface="Arial"/>
                <a:cs typeface="Arial"/>
              </a:rPr>
              <a:t> </a:t>
            </a:r>
            <a:r>
              <a:rPr sz="1000" spc="-10" dirty="0">
                <a:latin typeface="Arial"/>
                <a:cs typeface="Arial"/>
              </a:rPr>
              <a:t>two </a:t>
            </a:r>
            <a:r>
              <a:rPr sz="1000" spc="-5" dirty="0">
                <a:latin typeface="Arial"/>
                <a:cs typeface="Arial"/>
              </a:rPr>
              <a:t>subsets:</a:t>
            </a:r>
            <a:endParaRPr sz="1000" dirty="0">
              <a:latin typeface="Arial"/>
              <a:cs typeface="Arial"/>
            </a:endParaRPr>
          </a:p>
          <a:p>
            <a:pPr marL="591820" marR="80645" lvl="1" indent="-168275">
              <a:lnSpc>
                <a:spcPct val="100000"/>
              </a:lnSpc>
              <a:spcBef>
                <a:spcPts val="190"/>
              </a:spcBef>
              <a:buClr>
                <a:srgbClr val="3333B2"/>
              </a:buClr>
              <a:buChar char="►"/>
              <a:tabLst>
                <a:tab pos="592455" algn="l"/>
              </a:tabLst>
            </a:pPr>
            <a:r>
              <a:rPr sz="1000" spc="-5" dirty="0">
                <a:latin typeface="Arial"/>
                <a:cs typeface="Arial"/>
              </a:rPr>
              <a:t>Privileged</a:t>
            </a:r>
            <a:r>
              <a:rPr sz="1000" dirty="0">
                <a:latin typeface="Arial"/>
                <a:cs typeface="Arial"/>
              </a:rPr>
              <a:t> </a:t>
            </a:r>
            <a:r>
              <a:rPr sz="1000" spc="-5" dirty="0">
                <a:latin typeface="Arial"/>
                <a:cs typeface="Arial"/>
              </a:rPr>
              <a:t>instructions:</a:t>
            </a:r>
            <a:r>
              <a:rPr sz="1000" spc="70" dirty="0">
                <a:latin typeface="Arial"/>
                <a:cs typeface="Arial"/>
              </a:rPr>
              <a:t> </a:t>
            </a:r>
            <a:r>
              <a:rPr sz="1000" spc="-10" dirty="0">
                <a:latin typeface="Arial"/>
                <a:cs typeface="Arial"/>
              </a:rPr>
              <a:t>allowed</a:t>
            </a:r>
            <a:r>
              <a:rPr sz="1000" spc="5"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be</a:t>
            </a:r>
            <a:r>
              <a:rPr sz="1000" spc="5" dirty="0">
                <a:latin typeface="Arial"/>
                <a:cs typeface="Arial"/>
              </a:rPr>
              <a:t> </a:t>
            </a:r>
            <a:r>
              <a:rPr sz="1000" spc="-10" dirty="0">
                <a:latin typeface="Arial"/>
                <a:cs typeface="Arial"/>
              </a:rPr>
              <a:t>executed</a:t>
            </a:r>
            <a:r>
              <a:rPr sz="1000" dirty="0">
                <a:latin typeface="Arial"/>
                <a:cs typeface="Arial"/>
              </a:rPr>
              <a:t> </a:t>
            </a:r>
            <a:r>
              <a:rPr sz="1000" spc="-5" dirty="0">
                <a:latin typeface="Arial"/>
                <a:cs typeface="Arial"/>
              </a:rPr>
              <a:t>only</a:t>
            </a:r>
            <a:r>
              <a:rPr sz="1000" spc="5" dirty="0">
                <a:latin typeface="Arial"/>
                <a:cs typeface="Arial"/>
              </a:rPr>
              <a:t> </a:t>
            </a:r>
            <a:r>
              <a:rPr sz="1000" spc="-15" dirty="0">
                <a:latin typeface="Arial"/>
                <a:cs typeface="Arial"/>
              </a:rPr>
              <a:t>by</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operating</a:t>
            </a:r>
            <a:r>
              <a:rPr sz="1000" spc="-10" dirty="0">
                <a:latin typeface="Arial"/>
                <a:cs typeface="Arial"/>
              </a:rPr>
              <a:t> </a:t>
            </a:r>
            <a:r>
              <a:rPr sz="1000" spc="-5" dirty="0">
                <a:latin typeface="Arial"/>
                <a:cs typeface="Arial"/>
              </a:rPr>
              <a:t>system.</a:t>
            </a:r>
            <a:endParaRPr sz="1000" dirty="0">
              <a:latin typeface="Arial"/>
              <a:cs typeface="Arial"/>
            </a:endParaRPr>
          </a:p>
          <a:p>
            <a:pPr marL="591820" lvl="1" indent="-168275">
              <a:lnSpc>
                <a:spcPts val="1190"/>
              </a:lnSpc>
              <a:buClr>
                <a:srgbClr val="3333B2"/>
              </a:buClr>
              <a:buChar char="►"/>
              <a:tabLst>
                <a:tab pos="592455" algn="l"/>
              </a:tabLst>
            </a:pPr>
            <a:r>
              <a:rPr sz="1000" spc="-5" dirty="0">
                <a:latin typeface="Arial"/>
                <a:cs typeface="Arial"/>
              </a:rPr>
              <a:t>General instructions:</a:t>
            </a:r>
            <a:r>
              <a:rPr sz="1000" spc="60" dirty="0">
                <a:latin typeface="Arial"/>
                <a:cs typeface="Arial"/>
              </a:rPr>
              <a:t> </a:t>
            </a:r>
            <a:r>
              <a:rPr sz="1000" spc="-5" dirty="0">
                <a:latin typeface="Arial"/>
                <a:cs typeface="Arial"/>
              </a:rPr>
              <a:t>can be </a:t>
            </a:r>
            <a:r>
              <a:rPr sz="1000" spc="-10" dirty="0">
                <a:latin typeface="Arial"/>
                <a:cs typeface="Arial"/>
              </a:rPr>
              <a:t>executed</a:t>
            </a:r>
            <a:r>
              <a:rPr sz="1000" spc="-5" dirty="0">
                <a:latin typeface="Arial"/>
                <a:cs typeface="Arial"/>
              </a:rPr>
              <a:t> </a:t>
            </a:r>
            <a:r>
              <a:rPr sz="1000" spc="-15" dirty="0">
                <a:latin typeface="Arial"/>
                <a:cs typeface="Arial"/>
              </a:rPr>
              <a:t>by</a:t>
            </a:r>
            <a:r>
              <a:rPr sz="1000" spc="-5" dirty="0">
                <a:latin typeface="Arial"/>
                <a:cs typeface="Arial"/>
              </a:rPr>
              <a:t> </a:t>
            </a:r>
            <a:r>
              <a:rPr sz="1000" spc="-10" dirty="0">
                <a:latin typeface="Arial"/>
                <a:cs typeface="Arial"/>
              </a:rPr>
              <a:t>any</a:t>
            </a:r>
            <a:r>
              <a:rPr sz="1000" spc="-5" dirty="0">
                <a:latin typeface="Arial"/>
                <a:cs typeface="Arial"/>
              </a:rPr>
              <a:t> program.</a:t>
            </a:r>
            <a:endParaRPr sz="1000" dirty="0">
              <a:latin typeface="Arial"/>
              <a:cs typeface="Arial"/>
            </a:endParaRPr>
          </a:p>
          <a:p>
            <a:pPr marL="314960" indent="-175260">
              <a:lnSpc>
                <a:spcPts val="1200"/>
              </a:lnSpc>
              <a:spcBef>
                <a:spcPts val="195"/>
              </a:spcBef>
              <a:buClr>
                <a:srgbClr val="3333B2"/>
              </a:buClr>
              <a:buAutoNum type="arabicPeriod"/>
              <a:tabLst>
                <a:tab pos="315595" algn="l"/>
              </a:tabLst>
            </a:pPr>
            <a:r>
              <a:rPr sz="1000" spc="-5" dirty="0">
                <a:solidFill>
                  <a:srgbClr val="FA0000"/>
                </a:solidFill>
                <a:latin typeface="Arial"/>
                <a:cs typeface="Arial"/>
              </a:rPr>
              <a:t>System calls</a:t>
            </a:r>
            <a:r>
              <a:rPr sz="1000" dirty="0">
                <a:solidFill>
                  <a:srgbClr val="FA0000"/>
                </a:solidFill>
                <a:latin typeface="Arial"/>
                <a:cs typeface="Arial"/>
              </a:rPr>
              <a:t> </a:t>
            </a:r>
            <a:r>
              <a:rPr sz="1000" spc="-5" dirty="0">
                <a:latin typeface="Arial"/>
                <a:cs typeface="Arial"/>
              </a:rPr>
              <a:t>as </a:t>
            </a:r>
            <a:r>
              <a:rPr sz="1000" spc="-10" dirty="0">
                <a:latin typeface="Arial"/>
                <a:cs typeface="Arial"/>
              </a:rPr>
              <a:t>offered</a:t>
            </a:r>
            <a:r>
              <a:rPr sz="1000" dirty="0">
                <a:latin typeface="Arial"/>
                <a:cs typeface="Arial"/>
              </a:rPr>
              <a:t> </a:t>
            </a:r>
            <a:r>
              <a:rPr sz="1000" spc="-15" dirty="0">
                <a:latin typeface="Arial"/>
                <a:cs typeface="Arial"/>
              </a:rPr>
              <a:t>by</a:t>
            </a:r>
            <a:r>
              <a:rPr sz="1000" spc="-5" dirty="0">
                <a:latin typeface="Arial"/>
                <a:cs typeface="Arial"/>
              </a:rPr>
              <a:t> an</a:t>
            </a:r>
            <a:r>
              <a:rPr sz="1000" dirty="0">
                <a:latin typeface="Arial"/>
                <a:cs typeface="Arial"/>
              </a:rPr>
              <a:t> </a:t>
            </a:r>
            <a:r>
              <a:rPr sz="1000" spc="-5" dirty="0">
                <a:latin typeface="Arial"/>
                <a:cs typeface="Arial"/>
              </a:rPr>
              <a:t>operating system.</a:t>
            </a:r>
            <a:endParaRPr sz="1000" dirty="0">
              <a:latin typeface="Arial"/>
              <a:cs typeface="Arial"/>
            </a:endParaRPr>
          </a:p>
          <a:p>
            <a:pPr marL="310515" marR="208279" indent="-170815">
              <a:lnSpc>
                <a:spcPts val="1200"/>
              </a:lnSpc>
              <a:spcBef>
                <a:spcPts val="35"/>
              </a:spcBef>
              <a:buClr>
                <a:srgbClr val="3333B2"/>
              </a:buClr>
              <a:buAutoNum type="arabicPeriod"/>
              <a:tabLst>
                <a:tab pos="315595" algn="l"/>
              </a:tabLst>
            </a:pPr>
            <a:r>
              <a:rPr sz="1000" dirty="0">
                <a:solidFill>
                  <a:srgbClr val="FA0000"/>
                </a:solidFill>
                <a:latin typeface="Arial"/>
                <a:cs typeface="Arial"/>
              </a:rPr>
              <a:t>Library</a:t>
            </a:r>
            <a:r>
              <a:rPr sz="1000" spc="-5" dirty="0">
                <a:solidFill>
                  <a:srgbClr val="FA0000"/>
                </a:solidFill>
                <a:latin typeface="Arial"/>
                <a:cs typeface="Arial"/>
              </a:rPr>
              <a:t> calls</a:t>
            </a:r>
            <a:r>
              <a:rPr sz="1000" spc="-5" dirty="0">
                <a:latin typeface="Arial"/>
                <a:cs typeface="Arial"/>
              </a:rPr>
              <a:t>, </a:t>
            </a:r>
            <a:r>
              <a:rPr sz="1000" spc="-10" dirty="0">
                <a:latin typeface="Arial"/>
                <a:cs typeface="Arial"/>
              </a:rPr>
              <a:t>known</a:t>
            </a:r>
            <a:r>
              <a:rPr sz="1000" spc="-5" dirty="0">
                <a:latin typeface="Arial"/>
                <a:cs typeface="Arial"/>
              </a:rPr>
              <a:t> as an </a:t>
            </a:r>
            <a:r>
              <a:rPr sz="1000" spc="-5" dirty="0">
                <a:solidFill>
                  <a:srgbClr val="FA0000"/>
                </a:solidFill>
                <a:latin typeface="Arial"/>
                <a:cs typeface="Arial"/>
              </a:rPr>
              <a:t>application programming interface </a:t>
            </a:r>
            <a:r>
              <a:rPr sz="1000" spc="-265" dirty="0">
                <a:solidFill>
                  <a:srgbClr val="FA0000"/>
                </a:solidFill>
                <a:latin typeface="Arial"/>
                <a:cs typeface="Arial"/>
              </a:rPr>
              <a:t> </a:t>
            </a:r>
            <a:r>
              <a:rPr sz="1000" spc="-5" dirty="0">
                <a:latin typeface="Arial"/>
                <a:cs typeface="Arial"/>
              </a:rPr>
              <a:t>(API)</a:t>
            </a:r>
            <a:endParaRPr sz="1000" dirty="0">
              <a:latin typeface="Arial"/>
              <a:cs typeface="Arial"/>
            </a:endParaRPr>
          </a:p>
        </p:txBody>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0" dirty="0">
                <a:solidFill>
                  <a:srgbClr val="3333B2"/>
                </a:solidFill>
                <a:latin typeface="Arial"/>
                <a:cs typeface="Arial"/>
              </a:rPr>
              <a:t> </a:t>
            </a:r>
            <a:r>
              <a:rPr sz="600" dirty="0">
                <a:solidFill>
                  <a:srgbClr val="3333B2"/>
                </a:solidFill>
                <a:latin typeface="Arial"/>
                <a:cs typeface="Arial"/>
                <a:hlinkClick r:id="rId4" action="ppaction://hlinksldjump"/>
              </a:rPr>
              <a:t>Virtualization</a:t>
            </a:r>
            <a:endParaRPr sz="600">
              <a:latin typeface="Arial"/>
              <a:cs typeface="Arial"/>
            </a:endParaRPr>
          </a:p>
        </p:txBody>
      </p:sp>
      <p:sp>
        <p:nvSpPr>
          <p:cNvPr id="3" name="object 3"/>
          <p:cNvSpPr txBox="1"/>
          <p:nvPr/>
        </p:nvSpPr>
        <p:spPr>
          <a:xfrm>
            <a:off x="3693286" y="716"/>
            <a:ext cx="8483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Principle</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dirty="0">
                <a:solidFill>
                  <a:srgbClr val="262685"/>
                </a:solidFill>
                <a:latin typeface="Arial"/>
                <a:cs typeface="Arial"/>
                <a:hlinkClick r:id="rId4" action="ppaction://hlinksldjump"/>
              </a:rPr>
              <a:t>virtualization</a:t>
            </a:r>
            <a:endParaRPr sz="600">
              <a:latin typeface="Arial"/>
              <a:cs typeface="Arial"/>
            </a:endParaRPr>
          </a:p>
        </p:txBody>
      </p:sp>
      <p:sp>
        <p:nvSpPr>
          <p:cNvPr id="4" name="object 4"/>
          <p:cNvSpPr txBox="1"/>
          <p:nvPr/>
        </p:nvSpPr>
        <p:spPr>
          <a:xfrm>
            <a:off x="95300" y="162640"/>
            <a:ext cx="3634740" cy="474345"/>
          </a:xfrm>
          <a:prstGeom prst="rect">
            <a:avLst/>
          </a:prstGeom>
        </p:spPr>
        <p:txBody>
          <a:bodyPr vert="horz" wrap="square" lIns="0" tIns="43180" rIns="0" bIns="0" rtlCol="0">
            <a:spAutoFit/>
          </a:bodyPr>
          <a:lstStyle/>
          <a:p>
            <a:pPr marL="12700">
              <a:lnSpc>
                <a:spcPct val="100000"/>
              </a:lnSpc>
              <a:spcBef>
                <a:spcPts val="340"/>
              </a:spcBef>
            </a:pPr>
            <a:r>
              <a:rPr sz="1400" spc="-5" dirty="0">
                <a:solidFill>
                  <a:srgbClr val="3333B2"/>
                </a:solidFill>
                <a:latin typeface="Arial"/>
                <a:cs typeface="Arial"/>
              </a:rPr>
              <a:t>Ways</a:t>
            </a:r>
            <a:r>
              <a:rPr sz="1400" spc="-15" dirty="0">
                <a:solidFill>
                  <a:srgbClr val="3333B2"/>
                </a:solidFill>
                <a:latin typeface="Arial"/>
                <a:cs typeface="Arial"/>
              </a:rPr>
              <a:t> </a:t>
            </a:r>
            <a:r>
              <a:rPr sz="1400" spc="10" dirty="0">
                <a:solidFill>
                  <a:srgbClr val="3333B2"/>
                </a:solidFill>
                <a:latin typeface="Arial"/>
                <a:cs typeface="Arial"/>
              </a:rPr>
              <a:t>of</a:t>
            </a:r>
            <a:r>
              <a:rPr sz="1400" spc="-10" dirty="0">
                <a:solidFill>
                  <a:srgbClr val="3333B2"/>
                </a:solidFill>
                <a:latin typeface="Arial"/>
                <a:cs typeface="Arial"/>
              </a:rPr>
              <a:t> </a:t>
            </a:r>
            <a:r>
              <a:rPr sz="1400" spc="15" dirty="0">
                <a:solidFill>
                  <a:srgbClr val="3333B2"/>
                </a:solidFill>
                <a:latin typeface="Arial"/>
                <a:cs typeface="Arial"/>
              </a:rPr>
              <a:t>virtualization</a:t>
            </a:r>
            <a:endParaRPr sz="1400" dirty="0">
              <a:latin typeface="Arial"/>
              <a:cs typeface="Arial"/>
            </a:endParaRPr>
          </a:p>
          <a:p>
            <a:pPr marL="259079">
              <a:lnSpc>
                <a:spcPct val="100000"/>
              </a:lnSpc>
              <a:spcBef>
                <a:spcPts val="175"/>
              </a:spcBef>
            </a:pPr>
            <a:r>
              <a:rPr sz="1200" spc="-5" dirty="0">
                <a:solidFill>
                  <a:srgbClr val="3333B2"/>
                </a:solidFill>
                <a:latin typeface="Arial"/>
                <a:cs typeface="Arial"/>
              </a:rPr>
              <a:t>(a)</a:t>
            </a:r>
            <a:r>
              <a:rPr sz="1200" spc="-10" dirty="0">
                <a:solidFill>
                  <a:srgbClr val="3333B2"/>
                </a:solidFill>
                <a:latin typeface="Arial"/>
                <a:cs typeface="Arial"/>
              </a:rPr>
              <a:t> </a:t>
            </a:r>
            <a:r>
              <a:rPr sz="1200" spc="-5" dirty="0">
                <a:solidFill>
                  <a:srgbClr val="3333B2"/>
                </a:solidFill>
                <a:latin typeface="Arial"/>
                <a:cs typeface="Arial"/>
              </a:rPr>
              <a:t>Process VM, (b) </a:t>
            </a:r>
            <a:r>
              <a:rPr sz="1200" spc="-10" dirty="0">
                <a:solidFill>
                  <a:srgbClr val="3333B2"/>
                </a:solidFill>
                <a:latin typeface="Arial"/>
                <a:cs typeface="Arial"/>
              </a:rPr>
              <a:t>Native</a:t>
            </a:r>
            <a:r>
              <a:rPr sz="1200" spc="-5" dirty="0">
                <a:solidFill>
                  <a:srgbClr val="3333B2"/>
                </a:solidFill>
                <a:latin typeface="Arial"/>
                <a:cs typeface="Arial"/>
              </a:rPr>
              <a:t> VMM, (c) Hosted VMM</a:t>
            </a:r>
            <a:endParaRPr sz="1200" dirty="0">
              <a:latin typeface="Arial"/>
              <a:cs typeface="Arial"/>
            </a:endParaRPr>
          </a:p>
        </p:txBody>
      </p:sp>
      <p:graphicFrame>
        <p:nvGraphicFramePr>
          <p:cNvPr id="5" name="object 5"/>
          <p:cNvGraphicFramePr>
            <a:graphicFrameLocks noGrp="1"/>
          </p:cNvGraphicFramePr>
          <p:nvPr/>
        </p:nvGraphicFramePr>
        <p:xfrm>
          <a:off x="547398" y="1019100"/>
          <a:ext cx="1054099" cy="1000758"/>
        </p:xfrm>
        <a:graphic>
          <a:graphicData uri="http://schemas.openxmlformats.org/drawingml/2006/table">
            <a:tbl>
              <a:tblPr firstRow="1" bandRow="1">
                <a:tableStyleId>{2D5ABB26-0587-4C30-8999-92F81FD0307C}</a:tableStyleId>
              </a:tblPr>
              <a:tblGrid>
                <a:gridCol w="790575">
                  <a:extLst>
                    <a:ext uri="{9D8B030D-6E8A-4147-A177-3AD203B41FA5}">
                      <a16:colId xmlns:a16="http://schemas.microsoft.com/office/drawing/2014/main" val="20000"/>
                    </a:ext>
                  </a:extLst>
                </a:gridCol>
                <a:gridCol w="52705">
                  <a:extLst>
                    <a:ext uri="{9D8B030D-6E8A-4147-A177-3AD203B41FA5}">
                      <a16:colId xmlns:a16="http://schemas.microsoft.com/office/drawing/2014/main" val="20001"/>
                    </a:ext>
                  </a:extLst>
                </a:gridCol>
                <a:gridCol w="210819">
                  <a:extLst>
                    <a:ext uri="{9D8B030D-6E8A-4147-A177-3AD203B41FA5}">
                      <a16:colId xmlns:a16="http://schemas.microsoft.com/office/drawing/2014/main" val="20002"/>
                    </a:ext>
                  </a:extLst>
                </a:gridCol>
              </a:tblGrid>
              <a:tr h="236854">
                <a:tc gridSpan="3">
                  <a:txBody>
                    <a:bodyPr/>
                    <a:lstStyle/>
                    <a:p>
                      <a:pPr marL="59690">
                        <a:lnSpc>
                          <a:spcPct val="100000"/>
                        </a:lnSpc>
                        <a:spcBef>
                          <a:spcPts val="350"/>
                        </a:spcBef>
                      </a:pPr>
                      <a:r>
                        <a:rPr sz="650" spc="5" dirty="0">
                          <a:solidFill>
                            <a:srgbClr val="231F20"/>
                          </a:solidFill>
                          <a:latin typeface="Arial"/>
                          <a:cs typeface="Arial"/>
                        </a:rPr>
                        <a:t>Application/Libraries</a:t>
                      </a:r>
                      <a:endParaRPr sz="650">
                        <a:latin typeface="Arial"/>
                        <a:cs typeface="Arial"/>
                      </a:endParaRPr>
                    </a:p>
                  </a:txBody>
                  <a:tcPr marL="0" marR="0" marT="44450" marB="0">
                    <a:lnL w="6350">
                      <a:solidFill>
                        <a:srgbClr val="231F20"/>
                      </a:solidFill>
                      <a:prstDash val="solid"/>
                    </a:lnL>
                    <a:lnR w="6350">
                      <a:solidFill>
                        <a:srgbClr val="231F20"/>
                      </a:solidFill>
                      <a:prstDash val="solid"/>
                    </a:lnR>
                    <a:lnT w="6350">
                      <a:solidFill>
                        <a:srgbClr val="231F20"/>
                      </a:solidFill>
                      <a:prstDash val="solid"/>
                    </a:lnT>
                    <a:lnB w="76200">
                      <a:solidFill>
                        <a:srgbClr val="BCBEC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63525">
                <a:tc gridSpan="3">
                  <a:txBody>
                    <a:bodyPr/>
                    <a:lstStyle/>
                    <a:p>
                      <a:pPr>
                        <a:lnSpc>
                          <a:spcPct val="100000"/>
                        </a:lnSpc>
                        <a:spcBef>
                          <a:spcPts val="30"/>
                        </a:spcBef>
                      </a:pPr>
                      <a:endParaRPr sz="550">
                        <a:latin typeface="Times New Roman"/>
                        <a:cs typeface="Times New Roman"/>
                      </a:endParaRPr>
                    </a:p>
                    <a:p>
                      <a:pPr marL="46355">
                        <a:lnSpc>
                          <a:spcPct val="100000"/>
                        </a:lnSpc>
                      </a:pPr>
                      <a:r>
                        <a:rPr sz="650" spc="5" dirty="0">
                          <a:solidFill>
                            <a:srgbClr val="231F20"/>
                          </a:solidFill>
                          <a:latin typeface="Arial"/>
                          <a:cs typeface="Arial"/>
                        </a:rPr>
                        <a:t>Runtime</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txBody>
                  <a:tcPr marL="0" marR="0" marT="3810" marB="0">
                    <a:lnL w="6350">
                      <a:solidFill>
                        <a:srgbClr val="231F20"/>
                      </a:solidFill>
                      <a:prstDash val="solid"/>
                    </a:lnL>
                    <a:lnR w="6350">
                      <a:solidFill>
                        <a:srgbClr val="231F20"/>
                      </a:solidFill>
                      <a:prstDash val="solid"/>
                    </a:lnR>
                    <a:lnT w="76200">
                      <a:solidFill>
                        <a:srgbClr val="BCBEC0"/>
                      </a:solidFill>
                      <a:prstDash val="solid"/>
                    </a:lnT>
                    <a:solidFill>
                      <a:srgbClr val="E6E7E8"/>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263525">
                <a:tc>
                  <a:txBody>
                    <a:bodyPr/>
                    <a:lstStyle/>
                    <a:p>
                      <a:pPr>
                        <a:lnSpc>
                          <a:spcPct val="100000"/>
                        </a:lnSpc>
                        <a:spcBef>
                          <a:spcPts val="30"/>
                        </a:spcBef>
                      </a:pPr>
                      <a:endParaRPr sz="550">
                        <a:latin typeface="Times New Roman"/>
                        <a:cs typeface="Times New Roman"/>
                      </a:endParaRPr>
                    </a:p>
                    <a:p>
                      <a:pPr marL="48260">
                        <a:lnSpc>
                          <a:spcPct val="100000"/>
                        </a:lnSpc>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txBody>
                  <a:tcPr marL="0" marR="0" marT="3810" marB="0">
                    <a:lnR w="6350">
                      <a:solidFill>
                        <a:srgbClr val="231F20"/>
                      </a:solidFill>
                      <a:prstDash val="solid"/>
                    </a:lnR>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76200">
                      <a:solidFill>
                        <a:srgbClr val="BCBEC0"/>
                      </a:solidFill>
                      <a:prstDash val="solid"/>
                    </a:lnB>
                    <a:solidFill>
                      <a:srgbClr val="E6E7E8"/>
                    </a:solidFill>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B w="76200">
                      <a:solidFill>
                        <a:srgbClr val="BCBEC0"/>
                      </a:solidFill>
                      <a:prstDash val="solid"/>
                    </a:lnB>
                    <a:solidFill>
                      <a:srgbClr val="E6E7E8"/>
                    </a:solidFill>
                  </a:tcPr>
                </a:tc>
                <a:extLst>
                  <a:ext uri="{0D108BD9-81ED-4DB2-BD59-A6C34878D82A}">
                    <a16:rowId xmlns:a16="http://schemas.microsoft.com/office/drawing/2014/main" val="10002"/>
                  </a:ext>
                </a:extLst>
              </a:tr>
              <a:tr h="236854">
                <a:tc gridSpan="3">
                  <a:txBody>
                    <a:bodyPr/>
                    <a:lstStyle/>
                    <a:p>
                      <a:pPr>
                        <a:lnSpc>
                          <a:spcPct val="100000"/>
                        </a:lnSpc>
                        <a:spcBef>
                          <a:spcPts val="40"/>
                        </a:spcBef>
                      </a:pPr>
                      <a:endParaRPr sz="500">
                        <a:latin typeface="Times New Roman"/>
                        <a:cs typeface="Times New Roman"/>
                      </a:endParaRPr>
                    </a:p>
                    <a:p>
                      <a:pPr marL="48260">
                        <a:lnSpc>
                          <a:spcPct val="100000"/>
                        </a:lnSpc>
                      </a:pPr>
                      <a:r>
                        <a:rPr sz="650" spc="5" dirty="0">
                          <a:solidFill>
                            <a:srgbClr val="231F20"/>
                          </a:solidFill>
                          <a:latin typeface="Arial"/>
                          <a:cs typeface="Arial"/>
                        </a:rPr>
                        <a:t>Hardware</a:t>
                      </a:r>
                      <a:endParaRPr sz="650">
                        <a:latin typeface="Arial"/>
                        <a:cs typeface="Arial"/>
                      </a:endParaRPr>
                    </a:p>
                  </a:txBody>
                  <a:tcPr marL="0" marR="0" marT="5080" marB="0">
                    <a:lnL w="6350">
                      <a:solidFill>
                        <a:srgbClr val="231F20"/>
                      </a:solidFill>
                      <a:prstDash val="solid"/>
                    </a:lnL>
                    <a:lnR w="6350">
                      <a:solidFill>
                        <a:srgbClr val="231F20"/>
                      </a:solidFill>
                      <a:prstDash val="solid"/>
                    </a:lnR>
                    <a:lnT w="76200">
                      <a:solidFill>
                        <a:srgbClr val="BCBEC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graphicFrame>
        <p:nvGraphicFramePr>
          <p:cNvPr id="6" name="object 6"/>
          <p:cNvGraphicFramePr>
            <a:graphicFrameLocks noGrp="1"/>
          </p:cNvGraphicFramePr>
          <p:nvPr/>
        </p:nvGraphicFramePr>
        <p:xfrm>
          <a:off x="1774487" y="1019101"/>
          <a:ext cx="1054099" cy="1000758"/>
        </p:xfrm>
        <a:graphic>
          <a:graphicData uri="http://schemas.openxmlformats.org/drawingml/2006/table">
            <a:tbl>
              <a:tblPr firstRow="1" bandRow="1">
                <a:tableStyleId>{2D5ABB26-0587-4C30-8999-92F81FD0307C}</a:tableStyleId>
              </a:tblPr>
              <a:tblGrid>
                <a:gridCol w="790575">
                  <a:extLst>
                    <a:ext uri="{9D8B030D-6E8A-4147-A177-3AD203B41FA5}">
                      <a16:colId xmlns:a16="http://schemas.microsoft.com/office/drawing/2014/main" val="20000"/>
                    </a:ext>
                  </a:extLst>
                </a:gridCol>
                <a:gridCol w="52705">
                  <a:extLst>
                    <a:ext uri="{9D8B030D-6E8A-4147-A177-3AD203B41FA5}">
                      <a16:colId xmlns:a16="http://schemas.microsoft.com/office/drawing/2014/main" val="20001"/>
                    </a:ext>
                  </a:extLst>
                </a:gridCol>
                <a:gridCol w="210819">
                  <a:extLst>
                    <a:ext uri="{9D8B030D-6E8A-4147-A177-3AD203B41FA5}">
                      <a16:colId xmlns:a16="http://schemas.microsoft.com/office/drawing/2014/main" val="20002"/>
                    </a:ext>
                  </a:extLst>
                </a:gridCol>
              </a:tblGrid>
              <a:tr h="236854">
                <a:tc gridSpan="3">
                  <a:txBody>
                    <a:bodyPr/>
                    <a:lstStyle/>
                    <a:p>
                      <a:pPr marL="59690">
                        <a:lnSpc>
                          <a:spcPct val="100000"/>
                        </a:lnSpc>
                        <a:spcBef>
                          <a:spcPts val="350"/>
                        </a:spcBef>
                      </a:pPr>
                      <a:r>
                        <a:rPr sz="650" spc="5" dirty="0">
                          <a:solidFill>
                            <a:srgbClr val="231F20"/>
                          </a:solidFill>
                          <a:latin typeface="Arial"/>
                          <a:cs typeface="Arial"/>
                        </a:rPr>
                        <a:t>Application/Libraries</a:t>
                      </a:r>
                      <a:endParaRPr sz="650">
                        <a:latin typeface="Arial"/>
                        <a:cs typeface="Arial"/>
                      </a:endParaRPr>
                    </a:p>
                  </a:txBody>
                  <a:tcPr marL="0" marR="0" marT="44450" marB="0">
                    <a:lnL w="6350">
                      <a:solidFill>
                        <a:srgbClr val="231F20"/>
                      </a:solidFill>
                      <a:prstDash val="solid"/>
                    </a:lnL>
                    <a:lnR w="6350">
                      <a:solidFill>
                        <a:srgbClr val="231F20"/>
                      </a:solidFill>
                      <a:prstDash val="solid"/>
                    </a:lnR>
                    <a:lnT w="6350">
                      <a:solidFill>
                        <a:srgbClr val="231F2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63525">
                <a:tc>
                  <a:txBody>
                    <a:bodyPr/>
                    <a:lstStyle/>
                    <a:p>
                      <a:pPr>
                        <a:lnSpc>
                          <a:spcPct val="100000"/>
                        </a:lnSpc>
                        <a:spcBef>
                          <a:spcPts val="30"/>
                        </a:spcBef>
                      </a:pPr>
                      <a:endParaRPr sz="550">
                        <a:latin typeface="Times New Roman"/>
                        <a:cs typeface="Times New Roman"/>
                      </a:endParaRPr>
                    </a:p>
                    <a:p>
                      <a:pPr marL="48260">
                        <a:lnSpc>
                          <a:spcPct val="100000"/>
                        </a:lnSpc>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txBody>
                  <a:tcPr marL="0" marR="0" marT="3810" marB="0">
                    <a:lnR w="6350">
                      <a:solidFill>
                        <a:srgbClr val="231F20"/>
                      </a:solidFill>
                      <a:prstDash val="solid"/>
                    </a:lnR>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B w="76200">
                      <a:solidFill>
                        <a:srgbClr val="BCBEC0"/>
                      </a:solidFill>
                      <a:prstDash val="solid"/>
                    </a:lnB>
                  </a:tcPr>
                </a:tc>
                <a:extLst>
                  <a:ext uri="{0D108BD9-81ED-4DB2-BD59-A6C34878D82A}">
                    <a16:rowId xmlns:a16="http://schemas.microsoft.com/office/drawing/2014/main" val="10001"/>
                  </a:ext>
                </a:extLst>
              </a:tr>
              <a:tr h="263525">
                <a:tc gridSpan="3">
                  <a:txBody>
                    <a:bodyPr/>
                    <a:lstStyle/>
                    <a:p>
                      <a:pPr>
                        <a:lnSpc>
                          <a:spcPct val="100000"/>
                        </a:lnSpc>
                        <a:spcBef>
                          <a:spcPts val="15"/>
                        </a:spcBef>
                      </a:pPr>
                      <a:endParaRPr sz="550">
                        <a:latin typeface="Times New Roman"/>
                        <a:cs typeface="Times New Roman"/>
                      </a:endParaRPr>
                    </a:p>
                    <a:p>
                      <a:pPr marL="57785">
                        <a:lnSpc>
                          <a:spcPct val="100000"/>
                        </a:lnSpc>
                      </a:pPr>
                      <a:r>
                        <a:rPr sz="650" dirty="0">
                          <a:solidFill>
                            <a:srgbClr val="231F20"/>
                          </a:solidFill>
                          <a:latin typeface="Arial"/>
                          <a:cs typeface="Arial"/>
                        </a:rPr>
                        <a:t>Virtual</a:t>
                      </a:r>
                      <a:r>
                        <a:rPr sz="650" spc="-15" dirty="0">
                          <a:solidFill>
                            <a:srgbClr val="231F20"/>
                          </a:solidFill>
                          <a:latin typeface="Arial"/>
                          <a:cs typeface="Arial"/>
                        </a:rPr>
                        <a:t> </a:t>
                      </a:r>
                      <a:r>
                        <a:rPr sz="650" spc="5" dirty="0">
                          <a:solidFill>
                            <a:srgbClr val="231F20"/>
                          </a:solidFill>
                          <a:latin typeface="Arial"/>
                          <a:cs typeface="Arial"/>
                        </a:rPr>
                        <a:t>machine</a:t>
                      </a:r>
                      <a:r>
                        <a:rPr sz="650" spc="-15" dirty="0">
                          <a:solidFill>
                            <a:srgbClr val="231F20"/>
                          </a:solidFill>
                          <a:latin typeface="Arial"/>
                          <a:cs typeface="Arial"/>
                        </a:rPr>
                        <a:t> </a:t>
                      </a:r>
                      <a:r>
                        <a:rPr sz="650" spc="5" dirty="0">
                          <a:solidFill>
                            <a:srgbClr val="231F20"/>
                          </a:solidFill>
                          <a:latin typeface="Arial"/>
                          <a:cs typeface="Arial"/>
                        </a:rPr>
                        <a:t>monitor</a:t>
                      </a:r>
                      <a:endParaRPr sz="650">
                        <a:latin typeface="Arial"/>
                        <a:cs typeface="Arial"/>
                      </a:endParaRPr>
                    </a:p>
                  </a:txBody>
                  <a:tcPr marL="0" marR="0" marT="1905" marB="0">
                    <a:lnL w="6350">
                      <a:solidFill>
                        <a:srgbClr val="231F20"/>
                      </a:solidFill>
                      <a:prstDash val="solid"/>
                    </a:lnL>
                    <a:lnR w="6350">
                      <a:solidFill>
                        <a:srgbClr val="231F20"/>
                      </a:solidFill>
                      <a:prstDash val="solid"/>
                    </a:lnR>
                    <a:lnT w="76200">
                      <a:solidFill>
                        <a:srgbClr val="BCBEC0"/>
                      </a:solidFill>
                      <a:prstDash val="solid"/>
                    </a:lnT>
                    <a:lnB w="76200">
                      <a:solidFill>
                        <a:srgbClr val="BCBEC0"/>
                      </a:solidFill>
                      <a:prstDash val="solid"/>
                    </a:lnB>
                    <a:solidFill>
                      <a:srgbClr val="E6E7E8"/>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36854">
                <a:tc gridSpan="3">
                  <a:txBody>
                    <a:bodyPr/>
                    <a:lstStyle/>
                    <a:p>
                      <a:pPr>
                        <a:lnSpc>
                          <a:spcPct val="100000"/>
                        </a:lnSpc>
                        <a:spcBef>
                          <a:spcPts val="40"/>
                        </a:spcBef>
                      </a:pPr>
                      <a:endParaRPr sz="500">
                        <a:latin typeface="Times New Roman"/>
                        <a:cs typeface="Times New Roman"/>
                      </a:endParaRPr>
                    </a:p>
                    <a:p>
                      <a:pPr marL="48260">
                        <a:lnSpc>
                          <a:spcPct val="100000"/>
                        </a:lnSpc>
                      </a:pPr>
                      <a:r>
                        <a:rPr sz="650" spc="5" dirty="0">
                          <a:solidFill>
                            <a:srgbClr val="231F20"/>
                          </a:solidFill>
                          <a:latin typeface="Arial"/>
                          <a:cs typeface="Arial"/>
                        </a:rPr>
                        <a:t>Hardware</a:t>
                      </a:r>
                      <a:endParaRPr sz="650">
                        <a:latin typeface="Arial"/>
                        <a:cs typeface="Arial"/>
                      </a:endParaRPr>
                    </a:p>
                  </a:txBody>
                  <a:tcPr marL="0" marR="0" marT="5080" marB="0">
                    <a:lnL w="6350">
                      <a:solidFill>
                        <a:srgbClr val="231F20"/>
                      </a:solidFill>
                      <a:prstDash val="solid"/>
                    </a:lnL>
                    <a:lnR w="6350">
                      <a:solidFill>
                        <a:srgbClr val="231F20"/>
                      </a:solidFill>
                      <a:prstDash val="solid"/>
                    </a:lnR>
                    <a:lnT w="76200">
                      <a:solidFill>
                        <a:srgbClr val="BCBEC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bl>
          </a:graphicData>
        </a:graphic>
      </p:graphicFrame>
      <p:graphicFrame>
        <p:nvGraphicFramePr>
          <p:cNvPr id="7" name="object 7"/>
          <p:cNvGraphicFramePr>
            <a:graphicFrameLocks noGrp="1"/>
          </p:cNvGraphicFramePr>
          <p:nvPr/>
        </p:nvGraphicFramePr>
        <p:xfrm>
          <a:off x="3001589" y="755565"/>
          <a:ext cx="1054099" cy="1264283"/>
        </p:xfrm>
        <a:graphic>
          <a:graphicData uri="http://schemas.openxmlformats.org/drawingml/2006/table">
            <a:tbl>
              <a:tblPr firstRow="1" bandRow="1">
                <a:tableStyleId>{2D5ABB26-0587-4C30-8999-92F81FD0307C}</a:tableStyleId>
              </a:tblPr>
              <a:tblGrid>
                <a:gridCol w="790575">
                  <a:extLst>
                    <a:ext uri="{9D8B030D-6E8A-4147-A177-3AD203B41FA5}">
                      <a16:colId xmlns:a16="http://schemas.microsoft.com/office/drawing/2014/main" val="20000"/>
                    </a:ext>
                  </a:extLst>
                </a:gridCol>
                <a:gridCol w="52705">
                  <a:extLst>
                    <a:ext uri="{9D8B030D-6E8A-4147-A177-3AD203B41FA5}">
                      <a16:colId xmlns:a16="http://schemas.microsoft.com/office/drawing/2014/main" val="20001"/>
                    </a:ext>
                  </a:extLst>
                </a:gridCol>
                <a:gridCol w="210819">
                  <a:extLst>
                    <a:ext uri="{9D8B030D-6E8A-4147-A177-3AD203B41FA5}">
                      <a16:colId xmlns:a16="http://schemas.microsoft.com/office/drawing/2014/main" val="20002"/>
                    </a:ext>
                  </a:extLst>
                </a:gridCol>
              </a:tblGrid>
              <a:tr h="236854">
                <a:tc gridSpan="3">
                  <a:txBody>
                    <a:bodyPr/>
                    <a:lstStyle/>
                    <a:p>
                      <a:pPr marL="59690">
                        <a:lnSpc>
                          <a:spcPct val="100000"/>
                        </a:lnSpc>
                        <a:spcBef>
                          <a:spcPts val="350"/>
                        </a:spcBef>
                      </a:pPr>
                      <a:r>
                        <a:rPr sz="650" spc="5" dirty="0">
                          <a:solidFill>
                            <a:srgbClr val="231F20"/>
                          </a:solidFill>
                          <a:latin typeface="Arial"/>
                          <a:cs typeface="Arial"/>
                        </a:rPr>
                        <a:t>Application/Libraries</a:t>
                      </a:r>
                      <a:endParaRPr sz="650">
                        <a:latin typeface="Arial"/>
                        <a:cs typeface="Arial"/>
                      </a:endParaRPr>
                    </a:p>
                  </a:txBody>
                  <a:tcPr marL="0" marR="0" marT="44450" marB="0">
                    <a:lnL w="6350">
                      <a:solidFill>
                        <a:srgbClr val="231F20"/>
                      </a:solidFill>
                      <a:prstDash val="solid"/>
                    </a:lnL>
                    <a:lnR w="6350">
                      <a:solidFill>
                        <a:srgbClr val="231F20"/>
                      </a:solidFill>
                      <a:prstDash val="solid"/>
                    </a:lnR>
                    <a:lnT w="6350">
                      <a:solidFill>
                        <a:srgbClr val="231F20"/>
                      </a:solidFill>
                      <a:prstDash val="solid"/>
                    </a:lnT>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63525">
                <a:tc>
                  <a:txBody>
                    <a:bodyPr/>
                    <a:lstStyle/>
                    <a:p>
                      <a:pPr>
                        <a:lnSpc>
                          <a:spcPct val="100000"/>
                        </a:lnSpc>
                        <a:spcBef>
                          <a:spcPts val="30"/>
                        </a:spcBef>
                      </a:pPr>
                      <a:endParaRPr sz="550">
                        <a:latin typeface="Times New Roman"/>
                        <a:cs typeface="Times New Roman"/>
                      </a:endParaRPr>
                    </a:p>
                    <a:p>
                      <a:pPr marL="48260">
                        <a:lnSpc>
                          <a:spcPct val="100000"/>
                        </a:lnSpc>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txBody>
                  <a:tcPr marL="0" marR="0" marT="3810" marB="0">
                    <a:lnR w="6350">
                      <a:solidFill>
                        <a:srgbClr val="231F20"/>
                      </a:solidFill>
                      <a:prstDash val="solid"/>
                    </a:lnR>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B w="76200">
                      <a:solidFill>
                        <a:srgbClr val="BCBEC0"/>
                      </a:solidFill>
                      <a:prstDash val="solid"/>
                    </a:lnB>
                  </a:tcPr>
                </a:tc>
                <a:extLst>
                  <a:ext uri="{0D108BD9-81ED-4DB2-BD59-A6C34878D82A}">
                    <a16:rowId xmlns:a16="http://schemas.microsoft.com/office/drawing/2014/main" val="10001"/>
                  </a:ext>
                </a:extLst>
              </a:tr>
              <a:tr h="263525">
                <a:tc gridSpan="3">
                  <a:txBody>
                    <a:bodyPr/>
                    <a:lstStyle/>
                    <a:p>
                      <a:pPr>
                        <a:lnSpc>
                          <a:spcPct val="100000"/>
                        </a:lnSpc>
                        <a:spcBef>
                          <a:spcPts val="30"/>
                        </a:spcBef>
                      </a:pPr>
                      <a:endParaRPr sz="550">
                        <a:latin typeface="Times New Roman"/>
                        <a:cs typeface="Times New Roman"/>
                      </a:endParaRPr>
                    </a:p>
                    <a:p>
                      <a:pPr marL="46355">
                        <a:lnSpc>
                          <a:spcPct val="100000"/>
                        </a:lnSpc>
                      </a:pPr>
                      <a:r>
                        <a:rPr sz="650" dirty="0">
                          <a:solidFill>
                            <a:srgbClr val="231F20"/>
                          </a:solidFill>
                          <a:latin typeface="Arial"/>
                          <a:cs typeface="Arial"/>
                        </a:rPr>
                        <a:t>Virtual</a:t>
                      </a:r>
                      <a:r>
                        <a:rPr sz="650" spc="-15" dirty="0">
                          <a:solidFill>
                            <a:srgbClr val="231F20"/>
                          </a:solidFill>
                          <a:latin typeface="Arial"/>
                          <a:cs typeface="Arial"/>
                        </a:rPr>
                        <a:t> </a:t>
                      </a:r>
                      <a:r>
                        <a:rPr sz="650" spc="5" dirty="0">
                          <a:solidFill>
                            <a:srgbClr val="231F20"/>
                          </a:solidFill>
                          <a:latin typeface="Arial"/>
                          <a:cs typeface="Arial"/>
                        </a:rPr>
                        <a:t>machine</a:t>
                      </a:r>
                      <a:r>
                        <a:rPr sz="650" spc="-15" dirty="0">
                          <a:solidFill>
                            <a:srgbClr val="231F20"/>
                          </a:solidFill>
                          <a:latin typeface="Arial"/>
                          <a:cs typeface="Arial"/>
                        </a:rPr>
                        <a:t> </a:t>
                      </a:r>
                      <a:r>
                        <a:rPr sz="650" spc="5" dirty="0">
                          <a:solidFill>
                            <a:srgbClr val="231F20"/>
                          </a:solidFill>
                          <a:latin typeface="Arial"/>
                          <a:cs typeface="Arial"/>
                        </a:rPr>
                        <a:t>monitor</a:t>
                      </a:r>
                      <a:endParaRPr sz="650">
                        <a:latin typeface="Arial"/>
                        <a:cs typeface="Arial"/>
                      </a:endParaRPr>
                    </a:p>
                  </a:txBody>
                  <a:tcPr marL="0" marR="0" marT="3810" marB="0">
                    <a:lnL w="6350">
                      <a:solidFill>
                        <a:srgbClr val="231F20"/>
                      </a:solidFill>
                      <a:prstDash val="solid"/>
                    </a:lnL>
                    <a:lnR w="6350">
                      <a:solidFill>
                        <a:srgbClr val="231F20"/>
                      </a:solidFill>
                      <a:prstDash val="solid"/>
                    </a:lnR>
                    <a:lnT w="76200">
                      <a:solidFill>
                        <a:srgbClr val="BCBEC0"/>
                      </a:solidFill>
                      <a:prstDash val="solid"/>
                    </a:lnT>
                    <a:solidFill>
                      <a:srgbClr val="E6E7E8"/>
                    </a:solidFill>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2"/>
                  </a:ext>
                </a:extLst>
              </a:tr>
              <a:tr h="263525">
                <a:tc>
                  <a:txBody>
                    <a:bodyPr/>
                    <a:lstStyle/>
                    <a:p>
                      <a:pPr>
                        <a:lnSpc>
                          <a:spcPct val="100000"/>
                        </a:lnSpc>
                        <a:spcBef>
                          <a:spcPts val="30"/>
                        </a:spcBef>
                      </a:pPr>
                      <a:endParaRPr sz="550">
                        <a:latin typeface="Times New Roman"/>
                        <a:cs typeface="Times New Roman"/>
                      </a:endParaRPr>
                    </a:p>
                    <a:p>
                      <a:pPr marL="48260">
                        <a:lnSpc>
                          <a:spcPct val="100000"/>
                        </a:lnSpc>
                      </a:pPr>
                      <a:r>
                        <a:rPr sz="650" spc="5" dirty="0">
                          <a:solidFill>
                            <a:srgbClr val="231F20"/>
                          </a:solidFill>
                          <a:latin typeface="Arial"/>
                          <a:cs typeface="Arial"/>
                        </a:rPr>
                        <a:t>Operating</a:t>
                      </a:r>
                      <a:r>
                        <a:rPr sz="650" spc="-35"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a:txBody>
                  <a:tcPr marL="0" marR="0" marT="3810" marB="0">
                    <a:lnR w="6350">
                      <a:solidFill>
                        <a:srgbClr val="231F20"/>
                      </a:solidFill>
                      <a:prstDash val="solid"/>
                    </a:lnR>
                    <a:lnB w="76200">
                      <a:solidFill>
                        <a:srgbClr val="BCBEC0"/>
                      </a:solidFill>
                      <a:prstDash val="solid"/>
                    </a:lnB>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T w="6350">
                      <a:solidFill>
                        <a:srgbClr val="231F20"/>
                      </a:solidFill>
                      <a:prstDash val="solid"/>
                    </a:lnT>
                    <a:lnB w="76200">
                      <a:solidFill>
                        <a:srgbClr val="BCBEC0"/>
                      </a:solidFill>
                      <a:prstDash val="solid"/>
                    </a:lnB>
                    <a:solidFill>
                      <a:srgbClr val="E6E7E8"/>
                    </a:solidFill>
                  </a:tcPr>
                </a:tc>
                <a:tc>
                  <a:txBody>
                    <a:bodyPr/>
                    <a:lstStyle/>
                    <a:p>
                      <a:pPr>
                        <a:lnSpc>
                          <a:spcPct val="100000"/>
                        </a:lnSpc>
                      </a:pPr>
                      <a:endParaRPr sz="800">
                        <a:latin typeface="Times New Roman"/>
                        <a:cs typeface="Times New Roman"/>
                      </a:endParaRPr>
                    </a:p>
                  </a:txBody>
                  <a:tcPr marL="0" marR="0" marT="0" marB="0">
                    <a:lnL w="6350">
                      <a:solidFill>
                        <a:srgbClr val="231F20"/>
                      </a:solidFill>
                      <a:prstDash val="solid"/>
                    </a:lnL>
                    <a:lnR w="6350">
                      <a:solidFill>
                        <a:srgbClr val="231F20"/>
                      </a:solidFill>
                      <a:prstDash val="solid"/>
                    </a:lnR>
                    <a:lnB w="76200">
                      <a:solidFill>
                        <a:srgbClr val="BCBEC0"/>
                      </a:solidFill>
                      <a:prstDash val="solid"/>
                    </a:lnB>
                    <a:solidFill>
                      <a:srgbClr val="E6E7E8"/>
                    </a:solidFill>
                  </a:tcPr>
                </a:tc>
                <a:extLst>
                  <a:ext uri="{0D108BD9-81ED-4DB2-BD59-A6C34878D82A}">
                    <a16:rowId xmlns:a16="http://schemas.microsoft.com/office/drawing/2014/main" val="10003"/>
                  </a:ext>
                </a:extLst>
              </a:tr>
              <a:tr h="236854">
                <a:tc gridSpan="3">
                  <a:txBody>
                    <a:bodyPr/>
                    <a:lstStyle/>
                    <a:p>
                      <a:pPr>
                        <a:lnSpc>
                          <a:spcPct val="100000"/>
                        </a:lnSpc>
                        <a:spcBef>
                          <a:spcPts val="40"/>
                        </a:spcBef>
                      </a:pPr>
                      <a:endParaRPr sz="500">
                        <a:latin typeface="Times New Roman"/>
                        <a:cs typeface="Times New Roman"/>
                      </a:endParaRPr>
                    </a:p>
                    <a:p>
                      <a:pPr marL="48260">
                        <a:lnSpc>
                          <a:spcPct val="100000"/>
                        </a:lnSpc>
                      </a:pPr>
                      <a:r>
                        <a:rPr sz="650" spc="5" dirty="0">
                          <a:solidFill>
                            <a:srgbClr val="231F20"/>
                          </a:solidFill>
                          <a:latin typeface="Arial"/>
                          <a:cs typeface="Arial"/>
                        </a:rPr>
                        <a:t>Hardware</a:t>
                      </a:r>
                      <a:endParaRPr sz="650">
                        <a:latin typeface="Arial"/>
                        <a:cs typeface="Arial"/>
                      </a:endParaRPr>
                    </a:p>
                  </a:txBody>
                  <a:tcPr marL="0" marR="0" marT="5080" marB="0">
                    <a:lnL w="6350">
                      <a:solidFill>
                        <a:srgbClr val="231F20"/>
                      </a:solidFill>
                      <a:prstDash val="solid"/>
                    </a:lnL>
                    <a:lnR w="6350">
                      <a:solidFill>
                        <a:srgbClr val="231F20"/>
                      </a:solidFill>
                      <a:prstDash val="solid"/>
                    </a:lnR>
                    <a:lnT w="76200">
                      <a:solidFill>
                        <a:srgbClr val="BCBEC0"/>
                      </a:solidFill>
                      <a:prstDash val="solid"/>
                    </a:lnT>
                    <a:lnB w="6350">
                      <a:solidFill>
                        <a:srgbClr val="231F2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bl>
          </a:graphicData>
        </a:graphic>
      </p:graphicFrame>
      <p:sp>
        <p:nvSpPr>
          <p:cNvPr id="8" name="object 8"/>
          <p:cNvSpPr txBox="1"/>
          <p:nvPr/>
        </p:nvSpPr>
        <p:spPr>
          <a:xfrm>
            <a:off x="28613" y="2077115"/>
            <a:ext cx="4551045" cy="1407795"/>
          </a:xfrm>
          <a:prstGeom prst="rect">
            <a:avLst/>
          </a:prstGeom>
        </p:spPr>
        <p:txBody>
          <a:bodyPr vert="horz" wrap="square" lIns="0" tIns="12065" rIns="0" bIns="0" rtlCol="0">
            <a:spAutoFit/>
          </a:bodyPr>
          <a:lstStyle/>
          <a:p>
            <a:pPr marL="970915">
              <a:lnSpc>
                <a:spcPct val="100000"/>
              </a:lnSpc>
              <a:spcBef>
                <a:spcPts val="95"/>
              </a:spcBef>
              <a:tabLst>
                <a:tab pos="2197735" algn="l"/>
                <a:tab pos="3428365" algn="l"/>
              </a:tabLst>
            </a:pPr>
            <a:r>
              <a:rPr sz="1000" spc="-5" dirty="0">
                <a:latin typeface="Arial"/>
                <a:cs typeface="Arial"/>
              </a:rPr>
              <a:t>(a)	(b)	(c)</a:t>
            </a:r>
            <a:endParaRPr sz="1000" dirty="0">
              <a:latin typeface="Arial"/>
              <a:cs typeface="Arial"/>
            </a:endParaRPr>
          </a:p>
          <a:p>
            <a:pPr>
              <a:lnSpc>
                <a:spcPct val="100000"/>
              </a:lnSpc>
              <a:spcBef>
                <a:spcPts val="50"/>
              </a:spcBef>
            </a:pPr>
            <a:endParaRPr sz="1450" dirty="0">
              <a:latin typeface="Arial"/>
              <a:cs typeface="Arial"/>
            </a:endParaRPr>
          </a:p>
          <a:p>
            <a:pPr marL="330835">
              <a:lnSpc>
                <a:spcPct val="100000"/>
              </a:lnSpc>
              <a:spcBef>
                <a:spcPts val="5"/>
              </a:spcBef>
            </a:pPr>
            <a:r>
              <a:rPr sz="1200" spc="-10" dirty="0">
                <a:solidFill>
                  <a:srgbClr val="3333B2"/>
                </a:solidFill>
                <a:latin typeface="Arial"/>
                <a:cs typeface="Arial"/>
              </a:rPr>
              <a:t>Differences</a:t>
            </a:r>
            <a:endParaRPr sz="1200" dirty="0">
              <a:latin typeface="Arial"/>
              <a:cs typeface="Arial"/>
            </a:endParaRPr>
          </a:p>
          <a:p>
            <a:pPr marL="608330" marR="325120" indent="-224154">
              <a:lnSpc>
                <a:spcPct val="100000"/>
              </a:lnSpc>
              <a:spcBef>
                <a:spcPts val="540"/>
              </a:spcBef>
              <a:buClr>
                <a:srgbClr val="3333B2"/>
              </a:buClr>
              <a:buAutoNum type="alphaLcParenBoth"/>
              <a:tabLst>
                <a:tab pos="608965" algn="l"/>
              </a:tabLst>
            </a:pPr>
            <a:r>
              <a:rPr sz="1000" spc="-10" dirty="0">
                <a:latin typeface="Arial"/>
                <a:cs typeface="Arial"/>
              </a:rPr>
              <a:t>Separate</a:t>
            </a:r>
            <a:r>
              <a:rPr sz="1000" spc="-5" dirty="0">
                <a:latin typeface="Arial"/>
                <a:cs typeface="Arial"/>
              </a:rPr>
              <a:t> </a:t>
            </a:r>
            <a:r>
              <a:rPr sz="1000" spc="-10" dirty="0">
                <a:latin typeface="Arial"/>
                <a:cs typeface="Arial"/>
              </a:rPr>
              <a:t>set</a:t>
            </a:r>
            <a:r>
              <a:rPr sz="1000" spc="-5" dirty="0">
                <a:latin typeface="Arial"/>
                <a:cs typeface="Arial"/>
              </a:rPr>
              <a:t> </a:t>
            </a:r>
            <a:r>
              <a:rPr sz="1000" spc="-10" dirty="0">
                <a:latin typeface="Arial"/>
                <a:cs typeface="Arial"/>
              </a:rPr>
              <a:t>of</a:t>
            </a:r>
            <a:r>
              <a:rPr sz="1000" spc="-5" dirty="0">
                <a:latin typeface="Arial"/>
                <a:cs typeface="Arial"/>
              </a:rPr>
              <a:t> </a:t>
            </a:r>
            <a:r>
              <a:rPr sz="1000" spc="-10" dirty="0">
                <a:latin typeface="Arial"/>
                <a:cs typeface="Arial"/>
              </a:rPr>
              <a:t>instructions,</a:t>
            </a:r>
            <a:r>
              <a:rPr sz="1000" spc="-5" dirty="0">
                <a:latin typeface="Arial"/>
                <a:cs typeface="Arial"/>
              </a:rPr>
              <a:t> </a:t>
            </a:r>
            <a:r>
              <a:rPr sz="1000" spc="-10" dirty="0">
                <a:latin typeface="Arial"/>
                <a:cs typeface="Arial"/>
              </a:rPr>
              <a:t>an</a:t>
            </a:r>
            <a:r>
              <a:rPr sz="1000" spc="-5" dirty="0">
                <a:latin typeface="Arial"/>
                <a:cs typeface="Arial"/>
              </a:rPr>
              <a:t> </a:t>
            </a:r>
            <a:r>
              <a:rPr sz="1000" spc="-10" dirty="0">
                <a:latin typeface="Arial"/>
                <a:cs typeface="Arial"/>
              </a:rPr>
              <a:t>interpreter/emulator,</a:t>
            </a:r>
            <a:r>
              <a:rPr sz="1000" spc="-5" dirty="0">
                <a:latin typeface="Arial"/>
                <a:cs typeface="Arial"/>
              </a:rPr>
              <a:t> </a:t>
            </a:r>
            <a:r>
              <a:rPr sz="1000" spc="-10" dirty="0">
                <a:latin typeface="Arial"/>
                <a:cs typeface="Arial"/>
              </a:rPr>
              <a:t>running</a:t>
            </a:r>
            <a:r>
              <a:rPr sz="1000" spc="-5" dirty="0">
                <a:latin typeface="Arial"/>
                <a:cs typeface="Arial"/>
              </a:rPr>
              <a:t> </a:t>
            </a:r>
            <a:r>
              <a:rPr sz="1000" spc="-10" dirty="0">
                <a:latin typeface="Arial"/>
                <a:cs typeface="Arial"/>
              </a:rPr>
              <a:t>atop </a:t>
            </a:r>
            <a:r>
              <a:rPr sz="1000" spc="-265" dirty="0">
                <a:latin typeface="Arial"/>
                <a:cs typeface="Arial"/>
              </a:rPr>
              <a:t> </a:t>
            </a:r>
            <a:r>
              <a:rPr sz="1000" spc="-5" dirty="0">
                <a:latin typeface="Arial"/>
                <a:cs typeface="Arial"/>
              </a:rPr>
              <a:t>an</a:t>
            </a:r>
            <a:r>
              <a:rPr sz="1000" spc="-10" dirty="0">
                <a:latin typeface="Arial"/>
                <a:cs typeface="Arial"/>
              </a:rPr>
              <a:t> OS.</a:t>
            </a:r>
            <a:endParaRPr sz="1000" dirty="0">
              <a:latin typeface="Arial"/>
              <a:cs typeface="Arial"/>
            </a:endParaRPr>
          </a:p>
          <a:p>
            <a:pPr marL="608330" marR="386715" indent="-224154">
              <a:lnSpc>
                <a:spcPts val="1200"/>
              </a:lnSpc>
              <a:spcBef>
                <a:spcPts val="30"/>
              </a:spcBef>
              <a:buClr>
                <a:srgbClr val="3333B2"/>
              </a:buClr>
              <a:buAutoNum type="alphaLcParenBoth"/>
              <a:tabLst>
                <a:tab pos="608965" algn="l"/>
              </a:tabLst>
            </a:pPr>
            <a:r>
              <a:rPr sz="1000" spc="-10" dirty="0">
                <a:latin typeface="Arial"/>
                <a:cs typeface="Arial"/>
              </a:rPr>
              <a:t>Low-level</a:t>
            </a:r>
            <a:r>
              <a:rPr sz="1000" dirty="0">
                <a:latin typeface="Arial"/>
                <a:cs typeface="Arial"/>
              </a:rPr>
              <a:t> </a:t>
            </a:r>
            <a:r>
              <a:rPr sz="1000" spc="-5" dirty="0">
                <a:latin typeface="Arial"/>
                <a:cs typeface="Arial"/>
              </a:rPr>
              <a:t>instructions,</a:t>
            </a:r>
            <a:r>
              <a:rPr sz="1000" dirty="0">
                <a:latin typeface="Arial"/>
                <a:cs typeface="Arial"/>
              </a:rPr>
              <a:t> </a:t>
            </a:r>
            <a:r>
              <a:rPr sz="1000" spc="-5" dirty="0">
                <a:latin typeface="Arial"/>
                <a:cs typeface="Arial"/>
              </a:rPr>
              <a:t>along</a:t>
            </a:r>
            <a:r>
              <a:rPr sz="1000" dirty="0">
                <a:latin typeface="Arial"/>
                <a:cs typeface="Arial"/>
              </a:rPr>
              <a:t> </a:t>
            </a:r>
            <a:r>
              <a:rPr sz="1000" spc="-5" dirty="0">
                <a:latin typeface="Arial"/>
                <a:cs typeface="Arial"/>
              </a:rPr>
              <a:t>with</a:t>
            </a:r>
            <a:r>
              <a:rPr sz="1000" spc="5" dirty="0">
                <a:latin typeface="Arial"/>
                <a:cs typeface="Arial"/>
              </a:rPr>
              <a:t> </a:t>
            </a:r>
            <a:r>
              <a:rPr sz="1000" spc="-5" dirty="0">
                <a:latin typeface="Arial"/>
                <a:cs typeface="Arial"/>
              </a:rPr>
              <a:t>bare-bones</a:t>
            </a:r>
            <a:r>
              <a:rPr sz="1000" dirty="0">
                <a:latin typeface="Arial"/>
                <a:cs typeface="Arial"/>
              </a:rPr>
              <a:t> </a:t>
            </a:r>
            <a:r>
              <a:rPr sz="1000" spc="-5" dirty="0">
                <a:latin typeface="Arial"/>
                <a:cs typeface="Arial"/>
              </a:rPr>
              <a:t>minimal</a:t>
            </a:r>
            <a:r>
              <a:rPr sz="1000" dirty="0">
                <a:latin typeface="Arial"/>
                <a:cs typeface="Arial"/>
              </a:rPr>
              <a:t> </a:t>
            </a:r>
            <a:r>
              <a:rPr sz="1000" spc="-5" dirty="0">
                <a:latin typeface="Arial"/>
                <a:cs typeface="Arial"/>
              </a:rPr>
              <a:t>operating </a:t>
            </a:r>
            <a:r>
              <a:rPr sz="1000" spc="-260" dirty="0">
                <a:latin typeface="Arial"/>
                <a:cs typeface="Arial"/>
              </a:rPr>
              <a:t> </a:t>
            </a:r>
            <a:r>
              <a:rPr sz="1000" spc="-5" dirty="0">
                <a:latin typeface="Arial"/>
                <a:cs typeface="Arial"/>
              </a:rPr>
              <a:t>system</a:t>
            </a:r>
            <a:endParaRPr sz="1000" dirty="0">
              <a:latin typeface="Arial"/>
              <a:cs typeface="Arial"/>
            </a:endParaRPr>
          </a:p>
          <a:p>
            <a:pPr marL="50800">
              <a:lnSpc>
                <a:spcPts val="1150"/>
              </a:lnSpc>
            </a:pPr>
            <a:r>
              <a:rPr sz="900" spc="-30" baseline="23148" dirty="0">
                <a:solidFill>
                  <a:srgbClr val="3333B2"/>
                </a:solidFill>
                <a:latin typeface="Arial"/>
                <a:cs typeface="Arial"/>
                <a:hlinkClick r:id="rId5" action="ppaction://hlinksldjump"/>
              </a:rPr>
              <a:t>Types</a:t>
            </a:r>
            <a:r>
              <a:rPr sz="900" baseline="23148" dirty="0">
                <a:solidFill>
                  <a:srgbClr val="3333B2"/>
                </a:solidFill>
                <a:latin typeface="Arial"/>
                <a:cs typeface="Arial"/>
                <a:hlinkClick r:id="rId5" action="ppaction://hlinksldjump"/>
              </a:rPr>
              <a:t> </a:t>
            </a:r>
            <a:r>
              <a:rPr sz="900" spc="-7" baseline="23148" dirty="0">
                <a:solidFill>
                  <a:srgbClr val="3333B2"/>
                </a:solidFill>
                <a:latin typeface="Arial"/>
                <a:cs typeface="Arial"/>
                <a:hlinkClick r:id="rId5" action="ppaction://hlinksldjump"/>
              </a:rPr>
              <a:t>of</a:t>
            </a:r>
            <a:r>
              <a:rPr sz="900" spc="7" baseline="23148" dirty="0">
                <a:solidFill>
                  <a:srgbClr val="3333B2"/>
                </a:solidFill>
                <a:latin typeface="Arial"/>
                <a:cs typeface="Arial"/>
                <a:hlinkClick r:id="rId5" action="ppaction://hlinksldjump"/>
              </a:rPr>
              <a:t> </a:t>
            </a:r>
            <a:r>
              <a:rPr sz="900" spc="-157" baseline="23148" dirty="0">
                <a:solidFill>
                  <a:srgbClr val="3333B2"/>
                </a:solidFill>
                <a:latin typeface="Arial"/>
                <a:cs typeface="Arial"/>
                <a:hlinkClick r:id="rId5" action="ppaction://hlinksldjump"/>
              </a:rPr>
              <a:t>v</a:t>
            </a:r>
            <a:r>
              <a:rPr sz="1000" spc="-105" dirty="0">
                <a:solidFill>
                  <a:srgbClr val="3333B2"/>
                </a:solidFill>
                <a:latin typeface="Arial"/>
                <a:cs typeface="Arial"/>
                <a:hlinkClick r:id="rId5" action="ppaction://hlinksldjump"/>
              </a:rPr>
              <a:t>(</a:t>
            </a:r>
            <a:r>
              <a:rPr sz="900" spc="-157" baseline="23148" dirty="0">
                <a:solidFill>
                  <a:srgbClr val="3333B2"/>
                </a:solidFill>
                <a:latin typeface="Arial"/>
                <a:cs typeface="Arial"/>
                <a:hlinkClick r:id="rId5" action="ppaction://hlinksldjump"/>
              </a:rPr>
              <a:t>ir</a:t>
            </a:r>
            <a:r>
              <a:rPr sz="1000" spc="-105" dirty="0">
                <a:solidFill>
                  <a:srgbClr val="3333B2"/>
                </a:solidFill>
                <a:latin typeface="Arial"/>
                <a:cs typeface="Arial"/>
                <a:hlinkClick r:id="rId5" action="ppaction://hlinksldjump"/>
              </a:rPr>
              <a:t>c</a:t>
            </a:r>
            <a:r>
              <a:rPr sz="900" spc="-157" baseline="23148" dirty="0">
                <a:solidFill>
                  <a:srgbClr val="3333B2"/>
                </a:solidFill>
                <a:latin typeface="Arial"/>
                <a:cs typeface="Arial"/>
                <a:hlinkClick r:id="rId5" action="ppaction://hlinksldjump"/>
              </a:rPr>
              <a:t>tu</a:t>
            </a:r>
            <a:r>
              <a:rPr sz="1000" spc="-105" dirty="0">
                <a:solidFill>
                  <a:srgbClr val="3333B2"/>
                </a:solidFill>
                <a:latin typeface="Arial"/>
                <a:cs typeface="Arial"/>
                <a:hlinkClick r:id="rId5" action="ppaction://hlinksldjump"/>
              </a:rPr>
              <a:t>)</a:t>
            </a:r>
            <a:r>
              <a:rPr sz="900" spc="-157" baseline="23148" dirty="0">
                <a:solidFill>
                  <a:srgbClr val="3333B2"/>
                </a:solidFill>
                <a:latin typeface="Arial"/>
                <a:cs typeface="Arial"/>
                <a:hlinkClick r:id="rId5" action="ppaction://hlinksldjump"/>
              </a:rPr>
              <a:t>aliz</a:t>
            </a:r>
            <a:r>
              <a:rPr sz="1000" spc="-105" dirty="0">
                <a:latin typeface="Arial"/>
                <a:cs typeface="Arial"/>
                <a:hlinkClick r:id="rId5" action="ppaction://hlinksldjump"/>
              </a:rPr>
              <a:t>L</a:t>
            </a:r>
            <a:r>
              <a:rPr sz="900" spc="-157" baseline="23148" dirty="0">
                <a:solidFill>
                  <a:srgbClr val="3333B2"/>
                </a:solidFill>
                <a:latin typeface="Arial"/>
                <a:cs typeface="Arial"/>
                <a:hlinkClick r:id="rId5" action="ppaction://hlinksldjump"/>
              </a:rPr>
              <a:t>ati</a:t>
            </a:r>
            <a:r>
              <a:rPr sz="1000" spc="-105" dirty="0">
                <a:latin typeface="Arial"/>
                <a:cs typeface="Arial"/>
                <a:hlinkClick r:id="rId5" action="ppaction://hlinksldjump"/>
              </a:rPr>
              <a:t>o</a:t>
            </a:r>
            <a:r>
              <a:rPr sz="900" spc="-157" baseline="23148" dirty="0">
                <a:solidFill>
                  <a:srgbClr val="3333B2"/>
                </a:solidFill>
                <a:latin typeface="Arial"/>
                <a:cs typeface="Arial"/>
                <a:hlinkClick r:id="rId5" action="ppaction://hlinksldjump"/>
              </a:rPr>
              <a:t>on</a:t>
            </a:r>
            <a:r>
              <a:rPr sz="1000" spc="-105" dirty="0">
                <a:latin typeface="Arial"/>
                <a:cs typeface="Arial"/>
              </a:rPr>
              <a:t>w-level</a:t>
            </a:r>
            <a:r>
              <a:rPr sz="1000" spc="10" dirty="0">
                <a:latin typeface="Arial"/>
                <a:cs typeface="Arial"/>
              </a:rPr>
              <a:t> </a:t>
            </a:r>
            <a:r>
              <a:rPr sz="1000" spc="-5" dirty="0">
                <a:latin typeface="Arial"/>
                <a:cs typeface="Arial"/>
              </a:rPr>
              <a:t>instructions,</a:t>
            </a:r>
            <a:r>
              <a:rPr sz="1000" spc="10" dirty="0">
                <a:latin typeface="Arial"/>
                <a:cs typeface="Arial"/>
              </a:rPr>
              <a:t> </a:t>
            </a:r>
            <a:r>
              <a:rPr sz="1000" spc="-10" dirty="0">
                <a:latin typeface="Arial"/>
                <a:cs typeface="Arial"/>
              </a:rPr>
              <a:t>but</a:t>
            </a:r>
            <a:r>
              <a:rPr sz="1000" spc="15" dirty="0">
                <a:latin typeface="Arial"/>
                <a:cs typeface="Arial"/>
              </a:rPr>
              <a:t> </a:t>
            </a:r>
            <a:r>
              <a:rPr sz="1000" spc="-5" dirty="0">
                <a:latin typeface="Arial"/>
                <a:cs typeface="Arial"/>
              </a:rPr>
              <a:t>delegating</a:t>
            </a:r>
            <a:r>
              <a:rPr sz="1000" spc="10" dirty="0">
                <a:latin typeface="Arial"/>
                <a:cs typeface="Arial"/>
              </a:rPr>
              <a:t> </a:t>
            </a:r>
            <a:r>
              <a:rPr sz="1000" spc="-5" dirty="0">
                <a:latin typeface="Arial"/>
                <a:cs typeface="Arial"/>
              </a:rPr>
              <a:t>most</a:t>
            </a:r>
            <a:r>
              <a:rPr sz="1000" spc="10" dirty="0">
                <a:latin typeface="Arial"/>
                <a:cs typeface="Arial"/>
              </a:rPr>
              <a:t> </a:t>
            </a:r>
            <a:r>
              <a:rPr sz="1000" spc="-5" dirty="0">
                <a:latin typeface="Arial"/>
                <a:cs typeface="Arial"/>
              </a:rPr>
              <a:t>work</a:t>
            </a:r>
            <a:r>
              <a:rPr sz="1000" spc="10" dirty="0">
                <a:latin typeface="Arial"/>
                <a:cs typeface="Arial"/>
              </a:rPr>
              <a:t> </a:t>
            </a:r>
            <a:r>
              <a:rPr sz="1000" spc="-5" dirty="0">
                <a:latin typeface="Arial"/>
                <a:cs typeface="Arial"/>
              </a:rPr>
              <a:t>to</a:t>
            </a:r>
            <a:r>
              <a:rPr sz="1000" spc="10"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full-fledged</a:t>
            </a:r>
            <a:r>
              <a:rPr sz="1000" spc="415" dirty="0">
                <a:latin typeface="Arial"/>
                <a:cs typeface="Arial"/>
              </a:rPr>
              <a:t> </a:t>
            </a:r>
            <a:r>
              <a:rPr sz="900" spc="-7" baseline="23148" dirty="0">
                <a:solidFill>
                  <a:srgbClr val="262685"/>
                </a:solidFill>
                <a:latin typeface="Arial"/>
                <a:cs typeface="Arial"/>
              </a:rPr>
              <a:t>18</a:t>
            </a:r>
            <a:r>
              <a:rPr sz="900" spc="7" baseline="23148" dirty="0">
                <a:solidFill>
                  <a:srgbClr val="262685"/>
                </a:solidFill>
                <a:latin typeface="Arial"/>
                <a:cs typeface="Arial"/>
              </a:rPr>
              <a:t> </a:t>
            </a:r>
            <a:r>
              <a:rPr sz="900" spc="-7" baseline="23148" dirty="0">
                <a:solidFill>
                  <a:srgbClr val="262685"/>
                </a:solidFill>
                <a:latin typeface="Arial"/>
                <a:cs typeface="Arial"/>
              </a:rPr>
              <a:t>/</a:t>
            </a:r>
            <a:r>
              <a:rPr sz="900" spc="7" baseline="23148" dirty="0">
                <a:solidFill>
                  <a:srgbClr val="262685"/>
                </a:solidFill>
                <a:latin typeface="Arial"/>
                <a:cs typeface="Arial"/>
              </a:rPr>
              <a:t> </a:t>
            </a:r>
            <a:r>
              <a:rPr sz="900" spc="-7" baseline="23148" dirty="0">
                <a:solidFill>
                  <a:srgbClr val="262685"/>
                </a:solidFill>
                <a:latin typeface="Arial"/>
                <a:cs typeface="Arial"/>
              </a:rPr>
              <a:t>47</a:t>
            </a:r>
            <a:endParaRPr sz="900" baseline="23148" dirty="0">
              <a:latin typeface="Arial"/>
              <a:cs typeface="Arial"/>
            </a:endParaRPr>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0" dirty="0">
                <a:solidFill>
                  <a:srgbClr val="3333B2"/>
                </a:solidFill>
                <a:latin typeface="Arial"/>
                <a:cs typeface="Arial"/>
              </a:rPr>
              <a:t> </a:t>
            </a:r>
            <a:r>
              <a:rPr sz="600" dirty="0">
                <a:solidFill>
                  <a:srgbClr val="3333B2"/>
                </a:solidFill>
                <a:latin typeface="Arial"/>
                <a:cs typeface="Arial"/>
                <a:hlinkClick r:id="rId4" action="ppaction://hlinksldjump"/>
              </a:rPr>
              <a:t>Virtualization</a:t>
            </a:r>
            <a:endParaRPr sz="600">
              <a:latin typeface="Arial"/>
              <a:cs typeface="Arial"/>
            </a:endParaRPr>
          </a:p>
        </p:txBody>
      </p:sp>
      <p:sp>
        <p:nvSpPr>
          <p:cNvPr id="3" name="object 3"/>
          <p:cNvSpPr txBox="1"/>
          <p:nvPr/>
        </p:nvSpPr>
        <p:spPr>
          <a:xfrm>
            <a:off x="3693286" y="716"/>
            <a:ext cx="8483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Principle</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of</a:t>
            </a:r>
            <a:r>
              <a:rPr sz="600" spc="-20" dirty="0">
                <a:solidFill>
                  <a:srgbClr val="262685"/>
                </a:solidFill>
                <a:latin typeface="Arial"/>
                <a:cs typeface="Arial"/>
                <a:hlinkClick r:id="rId4" action="ppaction://hlinksldjump"/>
              </a:rPr>
              <a:t> </a:t>
            </a:r>
            <a:r>
              <a:rPr sz="600" dirty="0">
                <a:solidFill>
                  <a:srgbClr val="262685"/>
                </a:solidFill>
                <a:latin typeface="Arial"/>
                <a:cs typeface="Arial"/>
                <a:hlinkClick r:id="rId4" action="ppaction://hlinksldjump"/>
              </a:rPr>
              <a:t>virtualization</a:t>
            </a:r>
            <a:endParaRPr sz="600">
              <a:latin typeface="Arial"/>
              <a:cs typeface="Arial"/>
            </a:endParaRPr>
          </a:p>
        </p:txBody>
      </p:sp>
      <p:sp>
        <p:nvSpPr>
          <p:cNvPr id="4" name="object 4"/>
          <p:cNvSpPr txBox="1"/>
          <p:nvPr/>
        </p:nvSpPr>
        <p:spPr>
          <a:xfrm>
            <a:off x="95300" y="64205"/>
            <a:ext cx="2628900" cy="655320"/>
          </a:xfrm>
          <a:prstGeom prst="rect">
            <a:avLst/>
          </a:prstGeom>
        </p:spPr>
        <p:txBody>
          <a:bodyPr vert="horz" wrap="square" lIns="0" tIns="141605" rIns="0" bIns="0" rtlCol="0">
            <a:spAutoFit/>
          </a:bodyPr>
          <a:lstStyle/>
          <a:p>
            <a:pPr marL="12700">
              <a:lnSpc>
                <a:spcPct val="100000"/>
              </a:lnSpc>
              <a:spcBef>
                <a:spcPts val="1115"/>
              </a:spcBef>
            </a:pPr>
            <a:r>
              <a:rPr sz="1400" spc="15" dirty="0">
                <a:solidFill>
                  <a:srgbClr val="3333B2"/>
                </a:solidFill>
                <a:latin typeface="Arial"/>
                <a:cs typeface="Arial"/>
              </a:rPr>
              <a:t>Zooming</a:t>
            </a:r>
            <a:r>
              <a:rPr sz="1400" spc="-5" dirty="0">
                <a:solidFill>
                  <a:srgbClr val="3333B2"/>
                </a:solidFill>
                <a:latin typeface="Arial"/>
                <a:cs typeface="Arial"/>
              </a:rPr>
              <a:t> </a:t>
            </a:r>
            <a:r>
              <a:rPr sz="1400" spc="10" dirty="0">
                <a:solidFill>
                  <a:srgbClr val="3333B2"/>
                </a:solidFill>
                <a:latin typeface="Arial"/>
                <a:cs typeface="Arial"/>
              </a:rPr>
              <a:t>into</a:t>
            </a:r>
            <a:r>
              <a:rPr sz="1400" dirty="0">
                <a:solidFill>
                  <a:srgbClr val="3333B2"/>
                </a:solidFill>
                <a:latin typeface="Arial"/>
                <a:cs typeface="Arial"/>
              </a:rPr>
              <a:t> </a:t>
            </a:r>
            <a:r>
              <a:rPr sz="1400" spc="15" dirty="0">
                <a:solidFill>
                  <a:srgbClr val="3333B2"/>
                </a:solidFill>
                <a:latin typeface="Arial"/>
                <a:cs typeface="Arial"/>
              </a:rPr>
              <a:t>VMs:</a:t>
            </a:r>
            <a:r>
              <a:rPr sz="1400" spc="95" dirty="0">
                <a:solidFill>
                  <a:srgbClr val="3333B2"/>
                </a:solidFill>
                <a:latin typeface="Arial"/>
                <a:cs typeface="Arial"/>
              </a:rPr>
              <a:t> </a:t>
            </a:r>
            <a:r>
              <a:rPr sz="1400" spc="15" dirty="0">
                <a:solidFill>
                  <a:srgbClr val="3333B2"/>
                </a:solidFill>
                <a:latin typeface="Arial"/>
                <a:cs typeface="Arial"/>
              </a:rPr>
              <a:t>performance</a:t>
            </a:r>
            <a:endParaRPr sz="1400" dirty="0">
              <a:latin typeface="Arial"/>
              <a:cs typeface="Arial"/>
            </a:endParaRPr>
          </a:p>
          <a:p>
            <a:pPr marL="264160">
              <a:lnSpc>
                <a:spcPct val="100000"/>
              </a:lnSpc>
              <a:spcBef>
                <a:spcPts val="819"/>
              </a:spcBef>
            </a:pPr>
            <a:r>
              <a:rPr sz="1200" spc="-5" dirty="0">
                <a:solidFill>
                  <a:srgbClr val="3333B2"/>
                </a:solidFill>
                <a:latin typeface="Arial"/>
                <a:cs typeface="Arial"/>
              </a:rPr>
              <a:t>Refining</a:t>
            </a:r>
            <a:r>
              <a:rPr sz="1200" spc="-20" dirty="0">
                <a:solidFill>
                  <a:srgbClr val="3333B2"/>
                </a:solidFill>
                <a:latin typeface="Arial"/>
                <a:cs typeface="Arial"/>
              </a:rPr>
              <a:t> </a:t>
            </a:r>
            <a:r>
              <a:rPr sz="1200" spc="-5" dirty="0">
                <a:solidFill>
                  <a:srgbClr val="3333B2"/>
                </a:solidFill>
                <a:latin typeface="Arial"/>
                <a:cs typeface="Arial"/>
              </a:rPr>
              <a:t>the</a:t>
            </a:r>
            <a:r>
              <a:rPr sz="1200" spc="-15" dirty="0">
                <a:solidFill>
                  <a:srgbClr val="3333B2"/>
                </a:solidFill>
                <a:latin typeface="Arial"/>
                <a:cs typeface="Arial"/>
              </a:rPr>
              <a:t> </a:t>
            </a:r>
            <a:r>
              <a:rPr sz="1200" spc="-5" dirty="0">
                <a:solidFill>
                  <a:srgbClr val="3333B2"/>
                </a:solidFill>
                <a:latin typeface="Arial"/>
                <a:cs typeface="Arial"/>
              </a:rPr>
              <a:t>organization</a:t>
            </a:r>
            <a:endParaRPr sz="1200" dirty="0">
              <a:latin typeface="Arial"/>
              <a:cs typeface="Arial"/>
            </a:endParaRPr>
          </a:p>
        </p:txBody>
      </p:sp>
      <p:grpSp>
        <p:nvGrpSpPr>
          <p:cNvPr id="5" name="object 5"/>
          <p:cNvGrpSpPr/>
          <p:nvPr/>
        </p:nvGrpSpPr>
        <p:grpSpPr>
          <a:xfrm>
            <a:off x="911451" y="724497"/>
            <a:ext cx="1493520" cy="1087755"/>
            <a:chOff x="911451" y="724497"/>
            <a:chExt cx="1493520" cy="1087755"/>
          </a:xfrm>
        </p:grpSpPr>
        <p:sp>
          <p:nvSpPr>
            <p:cNvPr id="6" name="object 6"/>
            <p:cNvSpPr/>
            <p:nvPr/>
          </p:nvSpPr>
          <p:spPr>
            <a:xfrm>
              <a:off x="913991" y="952480"/>
              <a:ext cx="1263015" cy="631825"/>
            </a:xfrm>
            <a:custGeom>
              <a:avLst/>
              <a:gdLst/>
              <a:ahLst/>
              <a:cxnLst/>
              <a:rect l="l" t="t" r="r" b="b"/>
              <a:pathLst>
                <a:path w="1263014" h="631825">
                  <a:moveTo>
                    <a:pt x="0" y="0"/>
                  </a:moveTo>
                  <a:lnTo>
                    <a:pt x="1262465" y="0"/>
                  </a:lnTo>
                  <a:lnTo>
                    <a:pt x="1262465" y="631228"/>
                  </a:lnTo>
                  <a:lnTo>
                    <a:pt x="1082107" y="631228"/>
                  </a:lnTo>
                  <a:lnTo>
                    <a:pt x="1082107" y="180354"/>
                  </a:lnTo>
                  <a:lnTo>
                    <a:pt x="0" y="180354"/>
                  </a:lnTo>
                  <a:lnTo>
                    <a:pt x="0" y="0"/>
                  </a:lnTo>
                  <a:close/>
                </a:path>
              </a:pathLst>
            </a:custGeom>
            <a:ln w="4508">
              <a:solidFill>
                <a:srgbClr val="231F20"/>
              </a:solidFill>
            </a:ln>
          </p:spPr>
          <p:txBody>
            <a:bodyPr wrap="square" lIns="0" tIns="0" rIns="0" bIns="0" rtlCol="0"/>
            <a:lstStyle/>
            <a:p>
              <a:endParaRPr/>
            </a:p>
          </p:txBody>
        </p:sp>
        <p:sp>
          <p:nvSpPr>
            <p:cNvPr id="7" name="object 7"/>
            <p:cNvSpPr/>
            <p:nvPr/>
          </p:nvSpPr>
          <p:spPr>
            <a:xfrm>
              <a:off x="913991" y="1403358"/>
              <a:ext cx="1488440" cy="406400"/>
            </a:xfrm>
            <a:custGeom>
              <a:avLst/>
              <a:gdLst/>
              <a:ahLst/>
              <a:cxnLst/>
              <a:rect l="l" t="t" r="r" b="b"/>
              <a:pathLst>
                <a:path w="1488439" h="406400">
                  <a:moveTo>
                    <a:pt x="0" y="405793"/>
                  </a:moveTo>
                  <a:lnTo>
                    <a:pt x="1487904" y="405793"/>
                  </a:lnTo>
                  <a:lnTo>
                    <a:pt x="1487904" y="225439"/>
                  </a:lnTo>
                  <a:lnTo>
                    <a:pt x="0" y="225439"/>
                  </a:lnTo>
                  <a:lnTo>
                    <a:pt x="0" y="405793"/>
                  </a:lnTo>
                  <a:close/>
                </a:path>
                <a:path w="1488439" h="406400">
                  <a:moveTo>
                    <a:pt x="0" y="180350"/>
                  </a:moveTo>
                  <a:lnTo>
                    <a:pt x="811583" y="180350"/>
                  </a:lnTo>
                  <a:lnTo>
                    <a:pt x="811583" y="0"/>
                  </a:lnTo>
                  <a:lnTo>
                    <a:pt x="0" y="0"/>
                  </a:lnTo>
                  <a:lnTo>
                    <a:pt x="0" y="180350"/>
                  </a:lnTo>
                  <a:close/>
                </a:path>
              </a:pathLst>
            </a:custGeom>
            <a:ln w="4508">
              <a:solidFill>
                <a:srgbClr val="231F20"/>
              </a:solidFill>
            </a:ln>
          </p:spPr>
          <p:txBody>
            <a:bodyPr wrap="square" lIns="0" tIns="0" rIns="0" bIns="0" rtlCol="0"/>
            <a:lstStyle/>
            <a:p>
              <a:endParaRPr/>
            </a:p>
          </p:txBody>
        </p:sp>
        <p:sp>
          <p:nvSpPr>
            <p:cNvPr id="8" name="object 8"/>
            <p:cNvSpPr/>
            <p:nvPr/>
          </p:nvSpPr>
          <p:spPr>
            <a:xfrm>
              <a:off x="959080" y="1358274"/>
              <a:ext cx="721995" cy="45085"/>
            </a:xfrm>
            <a:custGeom>
              <a:avLst/>
              <a:gdLst/>
              <a:ahLst/>
              <a:cxnLst/>
              <a:rect l="l" t="t" r="r" b="b"/>
              <a:pathLst>
                <a:path w="721994" h="45084">
                  <a:moveTo>
                    <a:pt x="721406" y="0"/>
                  </a:moveTo>
                  <a:lnTo>
                    <a:pt x="0" y="0"/>
                  </a:lnTo>
                  <a:lnTo>
                    <a:pt x="0" y="45085"/>
                  </a:lnTo>
                  <a:lnTo>
                    <a:pt x="721406" y="45085"/>
                  </a:lnTo>
                  <a:lnTo>
                    <a:pt x="721406" y="0"/>
                  </a:lnTo>
                  <a:close/>
                </a:path>
              </a:pathLst>
            </a:custGeom>
            <a:solidFill>
              <a:srgbClr val="BCBEC0"/>
            </a:solidFill>
          </p:spPr>
          <p:txBody>
            <a:bodyPr wrap="square" lIns="0" tIns="0" rIns="0" bIns="0" rtlCol="0"/>
            <a:lstStyle/>
            <a:p>
              <a:endParaRPr/>
            </a:p>
          </p:txBody>
        </p:sp>
        <p:sp>
          <p:nvSpPr>
            <p:cNvPr id="9" name="object 9"/>
            <p:cNvSpPr/>
            <p:nvPr/>
          </p:nvSpPr>
          <p:spPr>
            <a:xfrm>
              <a:off x="959080" y="1358274"/>
              <a:ext cx="721995" cy="45085"/>
            </a:xfrm>
            <a:custGeom>
              <a:avLst/>
              <a:gdLst/>
              <a:ahLst/>
              <a:cxnLst/>
              <a:rect l="l" t="t" r="r" b="b"/>
              <a:pathLst>
                <a:path w="721994" h="45084">
                  <a:moveTo>
                    <a:pt x="0" y="45085"/>
                  </a:moveTo>
                  <a:lnTo>
                    <a:pt x="721406" y="45085"/>
                  </a:lnTo>
                  <a:lnTo>
                    <a:pt x="721406" y="0"/>
                  </a:lnTo>
                  <a:lnTo>
                    <a:pt x="0" y="0"/>
                  </a:lnTo>
                  <a:lnTo>
                    <a:pt x="0" y="45085"/>
                  </a:lnTo>
                  <a:close/>
                </a:path>
              </a:pathLst>
            </a:custGeom>
            <a:ln w="4508">
              <a:solidFill>
                <a:srgbClr val="231F20"/>
              </a:solidFill>
            </a:ln>
          </p:spPr>
          <p:txBody>
            <a:bodyPr wrap="square" lIns="0" tIns="0" rIns="0" bIns="0" rtlCol="0"/>
            <a:lstStyle/>
            <a:p>
              <a:endParaRPr/>
            </a:p>
          </p:txBody>
        </p:sp>
        <p:sp>
          <p:nvSpPr>
            <p:cNvPr id="10" name="object 10"/>
            <p:cNvSpPr/>
            <p:nvPr/>
          </p:nvSpPr>
          <p:spPr>
            <a:xfrm>
              <a:off x="913991" y="1177920"/>
              <a:ext cx="1038860" cy="421005"/>
            </a:xfrm>
            <a:custGeom>
              <a:avLst/>
              <a:gdLst/>
              <a:ahLst/>
              <a:cxnLst/>
              <a:rect l="l" t="t" r="r" b="b"/>
              <a:pathLst>
                <a:path w="1038860" h="421005">
                  <a:moveTo>
                    <a:pt x="1037022" y="3"/>
                  </a:moveTo>
                  <a:lnTo>
                    <a:pt x="0" y="0"/>
                  </a:lnTo>
                  <a:lnTo>
                    <a:pt x="0" y="180354"/>
                  </a:lnTo>
                  <a:lnTo>
                    <a:pt x="856664" y="180354"/>
                  </a:lnTo>
                  <a:lnTo>
                    <a:pt x="856664" y="405789"/>
                  </a:lnTo>
                  <a:lnTo>
                    <a:pt x="1038248" y="420625"/>
                  </a:lnTo>
                  <a:lnTo>
                    <a:pt x="1037022" y="3"/>
                  </a:lnTo>
                  <a:close/>
                </a:path>
              </a:pathLst>
            </a:custGeom>
            <a:solidFill>
              <a:srgbClr val="E6E7E8"/>
            </a:solidFill>
          </p:spPr>
          <p:txBody>
            <a:bodyPr wrap="square" lIns="0" tIns="0" rIns="0" bIns="0" rtlCol="0"/>
            <a:lstStyle/>
            <a:p>
              <a:endParaRPr/>
            </a:p>
          </p:txBody>
        </p:sp>
        <p:sp>
          <p:nvSpPr>
            <p:cNvPr id="11" name="object 11"/>
            <p:cNvSpPr/>
            <p:nvPr/>
          </p:nvSpPr>
          <p:spPr>
            <a:xfrm>
              <a:off x="913991" y="727037"/>
              <a:ext cx="1488440" cy="871855"/>
            </a:xfrm>
            <a:custGeom>
              <a:avLst/>
              <a:gdLst/>
              <a:ahLst/>
              <a:cxnLst/>
              <a:rect l="l" t="t" r="r" b="b"/>
              <a:pathLst>
                <a:path w="1488439" h="871855">
                  <a:moveTo>
                    <a:pt x="0" y="450882"/>
                  </a:moveTo>
                  <a:lnTo>
                    <a:pt x="0" y="631236"/>
                  </a:lnTo>
                  <a:lnTo>
                    <a:pt x="856664" y="631236"/>
                  </a:lnTo>
                  <a:lnTo>
                    <a:pt x="856664" y="856671"/>
                  </a:lnTo>
                  <a:lnTo>
                    <a:pt x="1038248" y="871507"/>
                  </a:lnTo>
                  <a:lnTo>
                    <a:pt x="1037022" y="450886"/>
                  </a:lnTo>
                  <a:lnTo>
                    <a:pt x="0" y="450882"/>
                  </a:lnTo>
                  <a:close/>
                </a:path>
                <a:path w="1488439" h="871855">
                  <a:moveTo>
                    <a:pt x="0" y="0"/>
                  </a:moveTo>
                  <a:lnTo>
                    <a:pt x="0" y="180358"/>
                  </a:lnTo>
                  <a:lnTo>
                    <a:pt x="1307550" y="180358"/>
                  </a:lnTo>
                  <a:lnTo>
                    <a:pt x="1307550" y="856671"/>
                  </a:lnTo>
                  <a:lnTo>
                    <a:pt x="1487899" y="856671"/>
                  </a:lnTo>
                  <a:lnTo>
                    <a:pt x="1487899" y="0"/>
                  </a:lnTo>
                  <a:lnTo>
                    <a:pt x="0" y="0"/>
                  </a:lnTo>
                  <a:close/>
                </a:path>
              </a:pathLst>
            </a:custGeom>
            <a:ln w="4508">
              <a:solidFill>
                <a:srgbClr val="231F20"/>
              </a:solidFill>
            </a:ln>
          </p:spPr>
          <p:txBody>
            <a:bodyPr wrap="square" lIns="0" tIns="0" rIns="0" bIns="0" rtlCol="0"/>
            <a:lstStyle/>
            <a:p>
              <a:endParaRPr/>
            </a:p>
          </p:txBody>
        </p:sp>
        <p:sp>
          <p:nvSpPr>
            <p:cNvPr id="12" name="object 12"/>
            <p:cNvSpPr/>
            <p:nvPr/>
          </p:nvSpPr>
          <p:spPr>
            <a:xfrm>
              <a:off x="959080" y="907392"/>
              <a:ext cx="1172845" cy="45085"/>
            </a:xfrm>
            <a:custGeom>
              <a:avLst/>
              <a:gdLst/>
              <a:ahLst/>
              <a:cxnLst/>
              <a:rect l="l" t="t" r="r" b="b"/>
              <a:pathLst>
                <a:path w="1172845" h="45084">
                  <a:moveTo>
                    <a:pt x="1172282" y="0"/>
                  </a:moveTo>
                  <a:lnTo>
                    <a:pt x="0" y="0"/>
                  </a:lnTo>
                  <a:lnTo>
                    <a:pt x="0" y="45088"/>
                  </a:lnTo>
                  <a:lnTo>
                    <a:pt x="1172282" y="45088"/>
                  </a:lnTo>
                  <a:lnTo>
                    <a:pt x="1172282" y="0"/>
                  </a:lnTo>
                  <a:close/>
                </a:path>
              </a:pathLst>
            </a:custGeom>
            <a:solidFill>
              <a:srgbClr val="BCBEC0"/>
            </a:solidFill>
          </p:spPr>
          <p:txBody>
            <a:bodyPr wrap="square" lIns="0" tIns="0" rIns="0" bIns="0" rtlCol="0"/>
            <a:lstStyle/>
            <a:p>
              <a:endParaRPr/>
            </a:p>
          </p:txBody>
        </p:sp>
        <p:sp>
          <p:nvSpPr>
            <p:cNvPr id="13" name="object 13"/>
            <p:cNvSpPr/>
            <p:nvPr/>
          </p:nvSpPr>
          <p:spPr>
            <a:xfrm>
              <a:off x="959080" y="907392"/>
              <a:ext cx="1172845" cy="45085"/>
            </a:xfrm>
            <a:custGeom>
              <a:avLst/>
              <a:gdLst/>
              <a:ahLst/>
              <a:cxnLst/>
              <a:rect l="l" t="t" r="r" b="b"/>
              <a:pathLst>
                <a:path w="1172845" h="45084">
                  <a:moveTo>
                    <a:pt x="0" y="45088"/>
                  </a:moveTo>
                  <a:lnTo>
                    <a:pt x="1172282" y="45088"/>
                  </a:lnTo>
                  <a:lnTo>
                    <a:pt x="1172282" y="0"/>
                  </a:lnTo>
                  <a:lnTo>
                    <a:pt x="0" y="0"/>
                  </a:lnTo>
                  <a:lnTo>
                    <a:pt x="0" y="45088"/>
                  </a:lnTo>
                  <a:close/>
                </a:path>
              </a:pathLst>
            </a:custGeom>
            <a:ln w="4508">
              <a:solidFill>
                <a:srgbClr val="231F20"/>
              </a:solidFill>
            </a:ln>
          </p:spPr>
          <p:txBody>
            <a:bodyPr wrap="square" lIns="0" tIns="0" rIns="0" bIns="0" rtlCol="0"/>
            <a:lstStyle/>
            <a:p>
              <a:endParaRPr/>
            </a:p>
          </p:txBody>
        </p:sp>
      </p:grpSp>
      <p:sp>
        <p:nvSpPr>
          <p:cNvPr id="14" name="object 14"/>
          <p:cNvSpPr txBox="1"/>
          <p:nvPr/>
        </p:nvSpPr>
        <p:spPr>
          <a:xfrm>
            <a:off x="941104" y="1213163"/>
            <a:ext cx="78232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Virtual</a:t>
            </a:r>
            <a:r>
              <a:rPr sz="550" spc="-15" dirty="0">
                <a:solidFill>
                  <a:srgbClr val="231F20"/>
                </a:solidFill>
                <a:latin typeface="Arial"/>
                <a:cs typeface="Arial"/>
              </a:rPr>
              <a:t> </a:t>
            </a:r>
            <a:r>
              <a:rPr sz="550" spc="5" dirty="0">
                <a:solidFill>
                  <a:srgbClr val="231F20"/>
                </a:solidFill>
                <a:latin typeface="Arial"/>
                <a:cs typeface="Arial"/>
              </a:rPr>
              <a:t>machine</a:t>
            </a:r>
            <a:r>
              <a:rPr sz="550" spc="-10" dirty="0">
                <a:solidFill>
                  <a:srgbClr val="231F20"/>
                </a:solidFill>
                <a:latin typeface="Arial"/>
                <a:cs typeface="Arial"/>
              </a:rPr>
              <a:t> </a:t>
            </a:r>
            <a:r>
              <a:rPr sz="550" spc="5" dirty="0">
                <a:solidFill>
                  <a:srgbClr val="231F20"/>
                </a:solidFill>
                <a:latin typeface="Arial"/>
                <a:cs typeface="Arial"/>
              </a:rPr>
              <a:t>monitor</a:t>
            </a:r>
            <a:endParaRPr sz="550">
              <a:latin typeface="Arial"/>
              <a:cs typeface="Arial"/>
            </a:endParaRPr>
          </a:p>
        </p:txBody>
      </p:sp>
      <p:sp>
        <p:nvSpPr>
          <p:cNvPr id="15" name="object 15"/>
          <p:cNvSpPr txBox="1"/>
          <p:nvPr/>
        </p:nvSpPr>
        <p:spPr>
          <a:xfrm>
            <a:off x="952819" y="751034"/>
            <a:ext cx="67500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Application/Libraries</a:t>
            </a:r>
            <a:endParaRPr sz="550">
              <a:latin typeface="Arial"/>
              <a:cs typeface="Arial"/>
            </a:endParaRPr>
          </a:p>
        </p:txBody>
      </p:sp>
      <p:sp>
        <p:nvSpPr>
          <p:cNvPr id="16" name="object 16"/>
          <p:cNvSpPr txBox="1"/>
          <p:nvPr/>
        </p:nvSpPr>
        <p:spPr>
          <a:xfrm>
            <a:off x="916246" y="1658956"/>
            <a:ext cx="1483995" cy="112395"/>
          </a:xfrm>
          <a:prstGeom prst="rect">
            <a:avLst/>
          </a:prstGeom>
        </p:spPr>
        <p:txBody>
          <a:bodyPr vert="horz" wrap="square" lIns="0" tIns="14604" rIns="0" bIns="0" rtlCol="0">
            <a:spAutoFit/>
          </a:bodyPr>
          <a:lstStyle/>
          <a:p>
            <a:pPr marL="39370">
              <a:lnSpc>
                <a:spcPct val="100000"/>
              </a:lnSpc>
              <a:spcBef>
                <a:spcPts val="114"/>
              </a:spcBef>
            </a:pPr>
            <a:r>
              <a:rPr sz="550" spc="5" dirty="0">
                <a:solidFill>
                  <a:srgbClr val="231F20"/>
                </a:solidFill>
                <a:latin typeface="Arial"/>
                <a:cs typeface="Arial"/>
              </a:rPr>
              <a:t>Hardware</a:t>
            </a:r>
            <a:endParaRPr sz="550">
              <a:latin typeface="Arial"/>
              <a:cs typeface="Arial"/>
            </a:endParaRPr>
          </a:p>
        </p:txBody>
      </p:sp>
      <p:sp>
        <p:nvSpPr>
          <p:cNvPr id="17" name="object 17"/>
          <p:cNvSpPr txBox="1"/>
          <p:nvPr/>
        </p:nvSpPr>
        <p:spPr>
          <a:xfrm>
            <a:off x="942893" y="1438607"/>
            <a:ext cx="743585"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Host</a:t>
            </a:r>
            <a:r>
              <a:rPr sz="550" spc="-5" dirty="0">
                <a:solidFill>
                  <a:srgbClr val="231F20"/>
                </a:solidFill>
                <a:latin typeface="Arial"/>
                <a:cs typeface="Arial"/>
              </a:rPr>
              <a:t> </a:t>
            </a:r>
            <a:r>
              <a:rPr sz="550" spc="5" dirty="0">
                <a:solidFill>
                  <a:srgbClr val="231F20"/>
                </a:solidFill>
                <a:latin typeface="Arial"/>
                <a:cs typeface="Arial"/>
              </a:rPr>
              <a:t>operating</a:t>
            </a:r>
            <a:r>
              <a:rPr sz="550" spc="-5" dirty="0">
                <a:solidFill>
                  <a:srgbClr val="231F20"/>
                </a:solidFill>
                <a:latin typeface="Arial"/>
                <a:cs typeface="Arial"/>
              </a:rPr>
              <a:t> </a:t>
            </a:r>
            <a:r>
              <a:rPr sz="550" spc="5" dirty="0">
                <a:solidFill>
                  <a:srgbClr val="231F20"/>
                </a:solidFill>
                <a:latin typeface="Arial"/>
                <a:cs typeface="Arial"/>
              </a:rPr>
              <a:t>system</a:t>
            </a:r>
            <a:endParaRPr sz="550">
              <a:latin typeface="Arial"/>
              <a:cs typeface="Arial"/>
            </a:endParaRPr>
          </a:p>
        </p:txBody>
      </p:sp>
      <p:sp>
        <p:nvSpPr>
          <p:cNvPr id="18" name="object 18"/>
          <p:cNvSpPr txBox="1"/>
          <p:nvPr/>
        </p:nvSpPr>
        <p:spPr>
          <a:xfrm>
            <a:off x="942893" y="987729"/>
            <a:ext cx="78740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Guest</a:t>
            </a:r>
            <a:r>
              <a:rPr sz="550" spc="-5" dirty="0">
                <a:solidFill>
                  <a:srgbClr val="231F20"/>
                </a:solidFill>
                <a:latin typeface="Arial"/>
                <a:cs typeface="Arial"/>
              </a:rPr>
              <a:t> </a:t>
            </a:r>
            <a:r>
              <a:rPr sz="550" spc="5" dirty="0">
                <a:solidFill>
                  <a:srgbClr val="231F20"/>
                </a:solidFill>
                <a:latin typeface="Arial"/>
                <a:cs typeface="Arial"/>
              </a:rPr>
              <a:t>operating</a:t>
            </a:r>
            <a:r>
              <a:rPr sz="550" spc="-5" dirty="0">
                <a:solidFill>
                  <a:srgbClr val="231F20"/>
                </a:solidFill>
                <a:latin typeface="Arial"/>
                <a:cs typeface="Arial"/>
              </a:rPr>
              <a:t> </a:t>
            </a:r>
            <a:r>
              <a:rPr sz="550" spc="5" dirty="0">
                <a:solidFill>
                  <a:srgbClr val="231F20"/>
                </a:solidFill>
                <a:latin typeface="Arial"/>
                <a:cs typeface="Arial"/>
              </a:rPr>
              <a:t>system</a:t>
            </a:r>
            <a:endParaRPr sz="550">
              <a:latin typeface="Arial"/>
              <a:cs typeface="Arial"/>
            </a:endParaRPr>
          </a:p>
        </p:txBody>
      </p:sp>
      <p:grpSp>
        <p:nvGrpSpPr>
          <p:cNvPr id="19" name="object 19"/>
          <p:cNvGrpSpPr/>
          <p:nvPr/>
        </p:nvGrpSpPr>
        <p:grpSpPr>
          <a:xfrm>
            <a:off x="821560" y="1130580"/>
            <a:ext cx="1673225" cy="501015"/>
            <a:chOff x="821560" y="1130580"/>
            <a:chExt cx="1673225" cy="501015"/>
          </a:xfrm>
        </p:grpSpPr>
        <p:sp>
          <p:nvSpPr>
            <p:cNvPr id="20" name="object 20"/>
            <p:cNvSpPr/>
            <p:nvPr/>
          </p:nvSpPr>
          <p:spPr>
            <a:xfrm>
              <a:off x="957833" y="1583709"/>
              <a:ext cx="452120" cy="45085"/>
            </a:xfrm>
            <a:custGeom>
              <a:avLst/>
              <a:gdLst/>
              <a:ahLst/>
              <a:cxnLst/>
              <a:rect l="l" t="t" r="r" b="b"/>
              <a:pathLst>
                <a:path w="452119" h="45085">
                  <a:moveTo>
                    <a:pt x="452125" y="0"/>
                  </a:moveTo>
                  <a:lnTo>
                    <a:pt x="0" y="0"/>
                  </a:lnTo>
                  <a:lnTo>
                    <a:pt x="0" y="45088"/>
                  </a:lnTo>
                  <a:lnTo>
                    <a:pt x="452125" y="45088"/>
                  </a:lnTo>
                  <a:lnTo>
                    <a:pt x="452125" y="0"/>
                  </a:lnTo>
                  <a:close/>
                </a:path>
              </a:pathLst>
            </a:custGeom>
            <a:solidFill>
              <a:srgbClr val="BCBEC0"/>
            </a:solidFill>
          </p:spPr>
          <p:txBody>
            <a:bodyPr wrap="square" lIns="0" tIns="0" rIns="0" bIns="0" rtlCol="0"/>
            <a:lstStyle/>
            <a:p>
              <a:endParaRPr/>
            </a:p>
          </p:txBody>
        </p:sp>
        <p:sp>
          <p:nvSpPr>
            <p:cNvPr id="21" name="object 21"/>
            <p:cNvSpPr/>
            <p:nvPr/>
          </p:nvSpPr>
          <p:spPr>
            <a:xfrm>
              <a:off x="957833" y="1583709"/>
              <a:ext cx="452120" cy="45085"/>
            </a:xfrm>
            <a:custGeom>
              <a:avLst/>
              <a:gdLst/>
              <a:ahLst/>
              <a:cxnLst/>
              <a:rect l="l" t="t" r="r" b="b"/>
              <a:pathLst>
                <a:path w="452119" h="45085">
                  <a:moveTo>
                    <a:pt x="0" y="45088"/>
                  </a:moveTo>
                  <a:lnTo>
                    <a:pt x="452125" y="45088"/>
                  </a:lnTo>
                  <a:lnTo>
                    <a:pt x="452125" y="0"/>
                  </a:lnTo>
                  <a:lnTo>
                    <a:pt x="0" y="0"/>
                  </a:lnTo>
                  <a:lnTo>
                    <a:pt x="0" y="45088"/>
                  </a:lnTo>
                  <a:close/>
                </a:path>
              </a:pathLst>
            </a:custGeom>
            <a:ln w="4508">
              <a:solidFill>
                <a:srgbClr val="231F20"/>
              </a:solidFill>
            </a:ln>
          </p:spPr>
          <p:txBody>
            <a:bodyPr wrap="square" lIns="0" tIns="0" rIns="0" bIns="0" rtlCol="0"/>
            <a:lstStyle/>
            <a:p>
              <a:endParaRPr/>
            </a:p>
          </p:txBody>
        </p:sp>
        <p:sp>
          <p:nvSpPr>
            <p:cNvPr id="22" name="object 22"/>
            <p:cNvSpPr/>
            <p:nvPr/>
          </p:nvSpPr>
          <p:spPr>
            <a:xfrm>
              <a:off x="959080" y="1132835"/>
              <a:ext cx="407034" cy="45085"/>
            </a:xfrm>
            <a:custGeom>
              <a:avLst/>
              <a:gdLst/>
              <a:ahLst/>
              <a:cxnLst/>
              <a:rect l="l" t="t" r="r" b="b"/>
              <a:pathLst>
                <a:path w="407034" h="45084">
                  <a:moveTo>
                    <a:pt x="407032" y="0"/>
                  </a:moveTo>
                  <a:lnTo>
                    <a:pt x="0" y="0"/>
                  </a:lnTo>
                  <a:lnTo>
                    <a:pt x="0" y="45085"/>
                  </a:lnTo>
                  <a:lnTo>
                    <a:pt x="407032" y="45085"/>
                  </a:lnTo>
                  <a:lnTo>
                    <a:pt x="407032" y="0"/>
                  </a:lnTo>
                  <a:close/>
                </a:path>
              </a:pathLst>
            </a:custGeom>
            <a:solidFill>
              <a:srgbClr val="BCBEC0"/>
            </a:solidFill>
          </p:spPr>
          <p:txBody>
            <a:bodyPr wrap="square" lIns="0" tIns="0" rIns="0" bIns="0" rtlCol="0"/>
            <a:lstStyle/>
            <a:p>
              <a:endParaRPr/>
            </a:p>
          </p:txBody>
        </p:sp>
        <p:sp>
          <p:nvSpPr>
            <p:cNvPr id="23" name="object 23"/>
            <p:cNvSpPr/>
            <p:nvPr/>
          </p:nvSpPr>
          <p:spPr>
            <a:xfrm>
              <a:off x="959080" y="1132835"/>
              <a:ext cx="407034" cy="45085"/>
            </a:xfrm>
            <a:custGeom>
              <a:avLst/>
              <a:gdLst/>
              <a:ahLst/>
              <a:cxnLst/>
              <a:rect l="l" t="t" r="r" b="b"/>
              <a:pathLst>
                <a:path w="407034" h="45084">
                  <a:moveTo>
                    <a:pt x="0" y="45085"/>
                  </a:moveTo>
                  <a:lnTo>
                    <a:pt x="407032" y="45085"/>
                  </a:lnTo>
                  <a:lnTo>
                    <a:pt x="407032" y="0"/>
                  </a:lnTo>
                  <a:lnTo>
                    <a:pt x="0" y="0"/>
                  </a:lnTo>
                  <a:lnTo>
                    <a:pt x="0" y="45085"/>
                  </a:lnTo>
                  <a:close/>
                </a:path>
              </a:pathLst>
            </a:custGeom>
            <a:ln w="4508">
              <a:solidFill>
                <a:srgbClr val="231F20"/>
              </a:solidFill>
            </a:ln>
          </p:spPr>
          <p:txBody>
            <a:bodyPr wrap="square" lIns="0" tIns="0" rIns="0" bIns="0" rtlCol="0"/>
            <a:lstStyle/>
            <a:p>
              <a:endParaRPr/>
            </a:p>
          </p:txBody>
        </p:sp>
        <p:sp>
          <p:nvSpPr>
            <p:cNvPr id="24" name="object 24"/>
            <p:cNvSpPr/>
            <p:nvPr/>
          </p:nvSpPr>
          <p:spPr>
            <a:xfrm>
              <a:off x="1455043" y="1583709"/>
              <a:ext cx="902335" cy="45085"/>
            </a:xfrm>
            <a:custGeom>
              <a:avLst/>
              <a:gdLst/>
              <a:ahLst/>
              <a:cxnLst/>
              <a:rect l="l" t="t" r="r" b="b"/>
              <a:pathLst>
                <a:path w="902335" h="45085">
                  <a:moveTo>
                    <a:pt x="901754" y="0"/>
                  </a:moveTo>
                  <a:lnTo>
                    <a:pt x="0" y="0"/>
                  </a:lnTo>
                  <a:lnTo>
                    <a:pt x="0" y="45088"/>
                  </a:lnTo>
                  <a:lnTo>
                    <a:pt x="901754" y="45088"/>
                  </a:lnTo>
                  <a:lnTo>
                    <a:pt x="901754" y="0"/>
                  </a:lnTo>
                  <a:close/>
                </a:path>
              </a:pathLst>
            </a:custGeom>
            <a:solidFill>
              <a:srgbClr val="BCBEC0"/>
            </a:solidFill>
          </p:spPr>
          <p:txBody>
            <a:bodyPr wrap="square" lIns="0" tIns="0" rIns="0" bIns="0" rtlCol="0"/>
            <a:lstStyle/>
            <a:p>
              <a:endParaRPr/>
            </a:p>
          </p:txBody>
        </p:sp>
        <p:sp>
          <p:nvSpPr>
            <p:cNvPr id="25" name="object 25"/>
            <p:cNvSpPr/>
            <p:nvPr/>
          </p:nvSpPr>
          <p:spPr>
            <a:xfrm>
              <a:off x="1455043" y="1583709"/>
              <a:ext cx="902335" cy="45085"/>
            </a:xfrm>
            <a:custGeom>
              <a:avLst/>
              <a:gdLst/>
              <a:ahLst/>
              <a:cxnLst/>
              <a:rect l="l" t="t" r="r" b="b"/>
              <a:pathLst>
                <a:path w="902335" h="45085">
                  <a:moveTo>
                    <a:pt x="0" y="45088"/>
                  </a:moveTo>
                  <a:lnTo>
                    <a:pt x="901754" y="45088"/>
                  </a:lnTo>
                  <a:lnTo>
                    <a:pt x="901754" y="0"/>
                  </a:lnTo>
                  <a:lnTo>
                    <a:pt x="0" y="0"/>
                  </a:lnTo>
                  <a:lnTo>
                    <a:pt x="0" y="45088"/>
                  </a:lnTo>
                  <a:close/>
                </a:path>
              </a:pathLst>
            </a:custGeom>
            <a:ln w="4508">
              <a:solidFill>
                <a:srgbClr val="231F20"/>
              </a:solidFill>
            </a:ln>
          </p:spPr>
          <p:txBody>
            <a:bodyPr wrap="square" lIns="0" tIns="0" rIns="0" bIns="0" rtlCol="0"/>
            <a:lstStyle/>
            <a:p>
              <a:endParaRPr/>
            </a:p>
          </p:txBody>
        </p:sp>
        <p:sp>
          <p:nvSpPr>
            <p:cNvPr id="26" name="object 26"/>
            <p:cNvSpPr/>
            <p:nvPr/>
          </p:nvSpPr>
          <p:spPr>
            <a:xfrm>
              <a:off x="1406856" y="1132835"/>
              <a:ext cx="499109" cy="45085"/>
            </a:xfrm>
            <a:custGeom>
              <a:avLst/>
              <a:gdLst/>
              <a:ahLst/>
              <a:cxnLst/>
              <a:rect l="l" t="t" r="r" b="b"/>
              <a:pathLst>
                <a:path w="499110" h="45084">
                  <a:moveTo>
                    <a:pt x="499066" y="0"/>
                  </a:moveTo>
                  <a:lnTo>
                    <a:pt x="0" y="0"/>
                  </a:lnTo>
                  <a:lnTo>
                    <a:pt x="0" y="45085"/>
                  </a:lnTo>
                  <a:lnTo>
                    <a:pt x="499066" y="45085"/>
                  </a:lnTo>
                  <a:lnTo>
                    <a:pt x="499066" y="0"/>
                  </a:lnTo>
                  <a:close/>
                </a:path>
              </a:pathLst>
            </a:custGeom>
            <a:solidFill>
              <a:srgbClr val="BCBEC0"/>
            </a:solidFill>
          </p:spPr>
          <p:txBody>
            <a:bodyPr wrap="square" lIns="0" tIns="0" rIns="0" bIns="0" rtlCol="0"/>
            <a:lstStyle/>
            <a:p>
              <a:endParaRPr/>
            </a:p>
          </p:txBody>
        </p:sp>
        <p:sp>
          <p:nvSpPr>
            <p:cNvPr id="27" name="object 27"/>
            <p:cNvSpPr/>
            <p:nvPr/>
          </p:nvSpPr>
          <p:spPr>
            <a:xfrm>
              <a:off x="823815" y="1132835"/>
              <a:ext cx="1668780" cy="473709"/>
            </a:xfrm>
            <a:custGeom>
              <a:avLst/>
              <a:gdLst/>
              <a:ahLst/>
              <a:cxnLst/>
              <a:rect l="l" t="t" r="r" b="b"/>
              <a:pathLst>
                <a:path w="1668780" h="473709">
                  <a:moveTo>
                    <a:pt x="583041" y="45085"/>
                  </a:moveTo>
                  <a:lnTo>
                    <a:pt x="1082107" y="45085"/>
                  </a:lnTo>
                  <a:lnTo>
                    <a:pt x="1082107" y="0"/>
                  </a:lnTo>
                  <a:lnTo>
                    <a:pt x="583041" y="0"/>
                  </a:lnTo>
                  <a:lnTo>
                    <a:pt x="583041" y="45085"/>
                  </a:lnTo>
                  <a:close/>
                </a:path>
                <a:path w="1668780" h="473709">
                  <a:moveTo>
                    <a:pt x="1668246" y="450874"/>
                  </a:moveTo>
                  <a:lnTo>
                    <a:pt x="1532991" y="473420"/>
                  </a:lnTo>
                </a:path>
                <a:path w="1668780" h="473709">
                  <a:moveTo>
                    <a:pt x="134017" y="473420"/>
                  </a:moveTo>
                  <a:lnTo>
                    <a:pt x="0" y="450874"/>
                  </a:lnTo>
                </a:path>
              </a:pathLst>
            </a:custGeom>
            <a:ln w="4508">
              <a:solidFill>
                <a:srgbClr val="231F20"/>
              </a:solidFill>
            </a:ln>
          </p:spPr>
          <p:txBody>
            <a:bodyPr wrap="square" lIns="0" tIns="0" rIns="0" bIns="0" rtlCol="0"/>
            <a:lstStyle/>
            <a:p>
              <a:endParaRPr/>
            </a:p>
          </p:txBody>
        </p:sp>
      </p:grpSp>
      <p:sp>
        <p:nvSpPr>
          <p:cNvPr id="28" name="object 28"/>
          <p:cNvSpPr txBox="1"/>
          <p:nvPr/>
        </p:nvSpPr>
        <p:spPr>
          <a:xfrm>
            <a:off x="426656" y="1453790"/>
            <a:ext cx="390525" cy="193040"/>
          </a:xfrm>
          <a:prstGeom prst="rect">
            <a:avLst/>
          </a:prstGeom>
        </p:spPr>
        <p:txBody>
          <a:bodyPr vert="horz" wrap="square" lIns="0" tIns="20320" rIns="0" bIns="0" rtlCol="0">
            <a:spAutoFit/>
          </a:bodyPr>
          <a:lstStyle/>
          <a:p>
            <a:pPr marL="12700" marR="5080" indent="47625">
              <a:lnSpc>
                <a:spcPts val="630"/>
              </a:lnSpc>
              <a:spcBef>
                <a:spcPts val="160"/>
              </a:spcBef>
            </a:pPr>
            <a:r>
              <a:rPr sz="550" spc="5" dirty="0">
                <a:solidFill>
                  <a:srgbClr val="231F20"/>
                </a:solidFill>
                <a:latin typeface="Arial"/>
                <a:cs typeface="Arial"/>
              </a:rPr>
              <a:t>Privileged  instructions</a:t>
            </a:r>
            <a:endParaRPr sz="550">
              <a:latin typeface="Arial"/>
              <a:cs typeface="Arial"/>
            </a:endParaRPr>
          </a:p>
        </p:txBody>
      </p:sp>
      <p:sp>
        <p:nvSpPr>
          <p:cNvPr id="32" name="object 32"/>
          <p:cNvSpPr txBox="1"/>
          <p:nvPr/>
        </p:nvSpPr>
        <p:spPr>
          <a:xfrm>
            <a:off x="66713" y="3331252"/>
            <a:ext cx="753745" cy="119380"/>
          </a:xfrm>
          <a:prstGeom prst="rect">
            <a:avLst/>
          </a:prstGeom>
        </p:spPr>
        <p:txBody>
          <a:bodyPr vert="horz" wrap="square" lIns="0" tIns="8890" rIns="0" bIns="0" rtlCol="0">
            <a:spAutoFit/>
          </a:bodyPr>
          <a:lstStyle/>
          <a:p>
            <a:pPr marL="12700">
              <a:lnSpc>
                <a:spcPct val="100000"/>
              </a:lnSpc>
              <a:spcBef>
                <a:spcPts val="70"/>
              </a:spcBef>
            </a:pPr>
            <a:r>
              <a:rPr sz="600" spc="-80" dirty="0">
                <a:solidFill>
                  <a:srgbClr val="3333B2"/>
                </a:solidFill>
                <a:latin typeface="Arial"/>
                <a:cs typeface="Arial"/>
                <a:hlinkClick r:id="rId5" action="ppaction://hlinksldjump"/>
              </a:rPr>
              <a:t>T</a:t>
            </a:r>
            <a:r>
              <a:rPr sz="600" spc="-5" dirty="0">
                <a:solidFill>
                  <a:srgbClr val="3333B2"/>
                </a:solidFill>
                <a:latin typeface="Arial"/>
                <a:cs typeface="Arial"/>
                <a:hlinkClick r:id="rId5" action="ppaction://hlinksldjump"/>
              </a:rPr>
              <a:t>ypes of vi</a:t>
            </a:r>
            <a:r>
              <a:rPr sz="600" spc="15" dirty="0">
                <a:solidFill>
                  <a:srgbClr val="3333B2"/>
                </a:solidFill>
                <a:latin typeface="Arial"/>
                <a:cs typeface="Arial"/>
                <a:hlinkClick r:id="rId5" action="ppaction://hlinksldjump"/>
              </a:rPr>
              <a:t>r</a:t>
            </a:r>
            <a:r>
              <a:rPr sz="600" spc="-5" dirty="0">
                <a:solidFill>
                  <a:srgbClr val="3333B2"/>
                </a:solidFill>
                <a:latin typeface="Arial"/>
                <a:cs typeface="Arial"/>
                <a:hlinkClick r:id="rId5" action="ppaction://hlinksldjump"/>
              </a:rPr>
              <a:t>tualization</a:t>
            </a:r>
            <a:endParaRPr sz="600">
              <a:latin typeface="Arial"/>
              <a:cs typeface="Arial"/>
            </a:endParaRPr>
          </a:p>
        </p:txBody>
      </p:sp>
      <p:sp>
        <p:nvSpPr>
          <p:cNvPr id="33" name="object 3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19</a:t>
            </a:r>
            <a:r>
              <a:rPr spc="-40" dirty="0"/>
              <a:t> </a:t>
            </a:r>
            <a:r>
              <a:rPr spc="-5" dirty="0"/>
              <a:t>/</a:t>
            </a:r>
            <a:r>
              <a:rPr spc="-35" dirty="0"/>
              <a:t> </a:t>
            </a:r>
            <a:r>
              <a:rPr spc="-5" dirty="0"/>
              <a:t>47</a:t>
            </a:r>
          </a:p>
        </p:txBody>
      </p:sp>
      <p:sp>
        <p:nvSpPr>
          <p:cNvPr id="29" name="object 29"/>
          <p:cNvSpPr txBox="1"/>
          <p:nvPr/>
        </p:nvSpPr>
        <p:spPr>
          <a:xfrm>
            <a:off x="2523099" y="1462539"/>
            <a:ext cx="390525" cy="193040"/>
          </a:xfrm>
          <a:prstGeom prst="rect">
            <a:avLst/>
          </a:prstGeom>
        </p:spPr>
        <p:txBody>
          <a:bodyPr vert="horz" wrap="square" lIns="0" tIns="20320" rIns="0" bIns="0" rtlCol="0">
            <a:spAutoFit/>
          </a:bodyPr>
          <a:lstStyle/>
          <a:p>
            <a:pPr marL="12700" marR="5080">
              <a:lnSpc>
                <a:spcPts val="630"/>
              </a:lnSpc>
              <a:spcBef>
                <a:spcPts val="160"/>
              </a:spcBef>
            </a:pPr>
            <a:r>
              <a:rPr sz="550" spc="5" dirty="0">
                <a:solidFill>
                  <a:srgbClr val="231F20"/>
                </a:solidFill>
                <a:latin typeface="Arial"/>
                <a:cs typeface="Arial"/>
              </a:rPr>
              <a:t>General </a:t>
            </a:r>
            <a:r>
              <a:rPr sz="550" spc="10" dirty="0">
                <a:solidFill>
                  <a:srgbClr val="231F20"/>
                </a:solidFill>
                <a:latin typeface="Arial"/>
                <a:cs typeface="Arial"/>
              </a:rPr>
              <a:t> </a:t>
            </a:r>
            <a:r>
              <a:rPr sz="550" spc="5" dirty="0">
                <a:solidFill>
                  <a:srgbClr val="231F20"/>
                </a:solidFill>
                <a:latin typeface="Arial"/>
                <a:cs typeface="Arial"/>
              </a:rPr>
              <a:t>instructions</a:t>
            </a:r>
            <a:endParaRPr sz="550">
              <a:latin typeface="Arial"/>
              <a:cs typeface="Arial"/>
            </a:endParaRPr>
          </a:p>
        </p:txBody>
      </p:sp>
      <p:sp>
        <p:nvSpPr>
          <p:cNvPr id="30" name="object 30"/>
          <p:cNvSpPr txBox="1"/>
          <p:nvPr/>
        </p:nvSpPr>
        <p:spPr>
          <a:xfrm>
            <a:off x="3013075" y="768291"/>
            <a:ext cx="1522095" cy="1088390"/>
          </a:xfrm>
          <a:prstGeom prst="rect">
            <a:avLst/>
          </a:prstGeom>
        </p:spPr>
        <p:txBody>
          <a:bodyPr vert="horz" wrap="square" lIns="0" tIns="12065" rIns="0" bIns="0" rtlCol="0">
            <a:spAutoFit/>
          </a:bodyPr>
          <a:lstStyle/>
          <a:p>
            <a:pPr marL="205740" marR="30480" indent="-168275">
              <a:lnSpc>
                <a:spcPct val="100000"/>
              </a:lnSpc>
              <a:spcBef>
                <a:spcPts val="95"/>
              </a:spcBef>
              <a:buClr>
                <a:srgbClr val="3333B2"/>
              </a:buClr>
              <a:buChar char="►"/>
              <a:tabLst>
                <a:tab pos="206375" algn="l"/>
              </a:tabLst>
            </a:pPr>
            <a:r>
              <a:rPr sz="1000" spc="-5" dirty="0">
                <a:solidFill>
                  <a:srgbClr val="FA0000"/>
                </a:solidFill>
                <a:latin typeface="Arial"/>
                <a:cs typeface="Arial"/>
              </a:rPr>
              <a:t>Privileged</a:t>
            </a:r>
            <a:r>
              <a:rPr sz="1000" spc="265" dirty="0">
                <a:solidFill>
                  <a:srgbClr val="FA0000"/>
                </a:solidFill>
                <a:latin typeface="Arial"/>
                <a:cs typeface="Arial"/>
              </a:rPr>
              <a:t> </a:t>
            </a:r>
            <a:r>
              <a:rPr sz="1000" spc="-5" dirty="0">
                <a:solidFill>
                  <a:srgbClr val="FA0000"/>
                </a:solidFill>
                <a:latin typeface="Arial"/>
                <a:cs typeface="Arial"/>
              </a:rPr>
              <a:t>instruction</a:t>
            </a:r>
            <a:r>
              <a:rPr sz="1000" spc="-5" dirty="0">
                <a:latin typeface="Arial"/>
                <a:cs typeface="Arial"/>
              </a:rPr>
              <a:t>: </a:t>
            </a:r>
            <a:r>
              <a:rPr sz="1000" dirty="0">
                <a:latin typeface="Arial"/>
                <a:cs typeface="Arial"/>
              </a:rPr>
              <a:t> </a:t>
            </a:r>
            <a:r>
              <a:rPr sz="1000" spc="-5" dirty="0">
                <a:latin typeface="Arial"/>
                <a:cs typeface="Arial"/>
              </a:rPr>
              <a:t>if and only if </a:t>
            </a:r>
            <a:r>
              <a:rPr sz="1000" spc="-10" dirty="0">
                <a:latin typeface="Arial"/>
                <a:cs typeface="Arial"/>
              </a:rPr>
              <a:t>executed </a:t>
            </a:r>
            <a:r>
              <a:rPr sz="1000" spc="-5" dirty="0">
                <a:latin typeface="Arial"/>
                <a:cs typeface="Arial"/>
              </a:rPr>
              <a:t> </a:t>
            </a:r>
            <a:r>
              <a:rPr sz="1000" spc="-10" dirty="0">
                <a:latin typeface="Arial"/>
                <a:cs typeface="Arial"/>
              </a:rPr>
              <a:t>in</a:t>
            </a:r>
            <a:r>
              <a:rPr sz="1000" spc="-15" dirty="0">
                <a:latin typeface="Arial"/>
                <a:cs typeface="Arial"/>
              </a:rPr>
              <a:t> user</a:t>
            </a:r>
            <a:r>
              <a:rPr sz="1000" spc="-10" dirty="0">
                <a:latin typeface="Arial"/>
                <a:cs typeface="Arial"/>
              </a:rPr>
              <a:t> </a:t>
            </a:r>
            <a:r>
              <a:rPr sz="1000" spc="-20" dirty="0">
                <a:latin typeface="Arial"/>
                <a:cs typeface="Arial"/>
              </a:rPr>
              <a:t>mode,</a:t>
            </a:r>
            <a:r>
              <a:rPr sz="1000" spc="-10" dirty="0">
                <a:latin typeface="Arial"/>
                <a:cs typeface="Arial"/>
              </a:rPr>
              <a:t> it </a:t>
            </a:r>
            <a:r>
              <a:rPr sz="1000" spc="-15" dirty="0">
                <a:latin typeface="Arial"/>
                <a:cs typeface="Arial"/>
              </a:rPr>
              <a:t>causes </a:t>
            </a:r>
            <a:r>
              <a:rPr sz="1000" spc="-265" dirty="0">
                <a:latin typeface="Arial"/>
                <a:cs typeface="Arial"/>
              </a:rPr>
              <a:t> </a:t>
            </a:r>
            <a:r>
              <a:rPr sz="1000" spc="-5" dirty="0">
                <a:latin typeface="Arial"/>
                <a:cs typeface="Arial"/>
              </a:rPr>
              <a:t>a </a:t>
            </a:r>
            <a:r>
              <a:rPr sz="1000" spc="-5" dirty="0">
                <a:solidFill>
                  <a:srgbClr val="0000FA"/>
                </a:solidFill>
                <a:latin typeface="Arial"/>
                <a:cs typeface="Arial"/>
              </a:rPr>
              <a:t>trap </a:t>
            </a:r>
            <a:r>
              <a:rPr sz="1000" spc="-5" dirty="0">
                <a:latin typeface="Arial"/>
                <a:cs typeface="Arial"/>
              </a:rPr>
              <a:t>to the operating </a:t>
            </a:r>
            <a:r>
              <a:rPr sz="1000" dirty="0">
                <a:latin typeface="Arial"/>
                <a:cs typeface="Arial"/>
              </a:rPr>
              <a:t> </a:t>
            </a:r>
            <a:r>
              <a:rPr sz="1000" spc="-5" dirty="0">
                <a:latin typeface="Arial"/>
                <a:cs typeface="Arial"/>
              </a:rPr>
              <a:t>system</a:t>
            </a:r>
            <a:endParaRPr sz="1000" dirty="0">
              <a:latin typeface="Arial"/>
              <a:cs typeface="Arial"/>
            </a:endParaRPr>
          </a:p>
          <a:p>
            <a:pPr marL="205740" marR="229235" indent="-168275">
              <a:lnSpc>
                <a:spcPts val="1200"/>
              </a:lnSpc>
              <a:spcBef>
                <a:spcPts val="15"/>
              </a:spcBef>
              <a:buClr>
                <a:srgbClr val="3333B2"/>
              </a:buClr>
              <a:buChar char="►"/>
              <a:tabLst>
                <a:tab pos="206375" algn="l"/>
              </a:tabLst>
            </a:pPr>
            <a:r>
              <a:rPr sz="1000" spc="-5" dirty="0">
                <a:solidFill>
                  <a:srgbClr val="FA0000"/>
                </a:solidFill>
                <a:latin typeface="Arial"/>
                <a:cs typeface="Arial"/>
              </a:rPr>
              <a:t>Nonpriviliged </a:t>
            </a:r>
            <a:r>
              <a:rPr sz="1000" dirty="0">
                <a:solidFill>
                  <a:srgbClr val="FA0000"/>
                </a:solidFill>
                <a:latin typeface="Arial"/>
                <a:cs typeface="Arial"/>
              </a:rPr>
              <a:t> </a:t>
            </a:r>
            <a:r>
              <a:rPr sz="1000" spc="-5" dirty="0">
                <a:solidFill>
                  <a:srgbClr val="FA0000"/>
                </a:solidFill>
                <a:latin typeface="Arial"/>
                <a:cs typeface="Arial"/>
              </a:rPr>
              <a:t>instruction</a:t>
            </a:r>
            <a:r>
              <a:rPr sz="1000" spc="-5" dirty="0">
                <a:latin typeface="Arial"/>
                <a:cs typeface="Arial"/>
              </a:rPr>
              <a:t>:</a:t>
            </a:r>
            <a:r>
              <a:rPr sz="1000" spc="45" dirty="0">
                <a:latin typeface="Arial"/>
                <a:cs typeface="Arial"/>
              </a:rPr>
              <a:t> </a:t>
            </a:r>
            <a:r>
              <a:rPr sz="1000" spc="-5" dirty="0">
                <a:latin typeface="Arial"/>
                <a:cs typeface="Arial"/>
              </a:rPr>
              <a:t>the</a:t>
            </a:r>
            <a:r>
              <a:rPr sz="1000" spc="-15" dirty="0">
                <a:latin typeface="Arial"/>
                <a:cs typeface="Arial"/>
              </a:rPr>
              <a:t> </a:t>
            </a:r>
            <a:r>
              <a:rPr sz="1000" spc="-5" dirty="0">
                <a:latin typeface="Arial"/>
                <a:cs typeface="Arial"/>
              </a:rPr>
              <a:t>rest</a:t>
            </a:r>
            <a:endParaRPr sz="1000" dirty="0">
              <a:latin typeface="Arial"/>
              <a:cs typeface="Arial"/>
            </a:endParaRPr>
          </a:p>
        </p:txBody>
      </p:sp>
      <p:sp>
        <p:nvSpPr>
          <p:cNvPr id="31" name="object 31"/>
          <p:cNvSpPr txBox="1"/>
          <p:nvPr/>
        </p:nvSpPr>
        <p:spPr>
          <a:xfrm>
            <a:off x="321894" y="1947060"/>
            <a:ext cx="3982720" cy="1141730"/>
          </a:xfrm>
          <a:prstGeom prst="rect">
            <a:avLst/>
          </a:prstGeom>
        </p:spPr>
        <p:txBody>
          <a:bodyPr vert="horz" wrap="square" lIns="0" tIns="12065" rIns="0" bIns="0" rtlCol="0">
            <a:spAutoFit/>
          </a:bodyPr>
          <a:lstStyle/>
          <a:p>
            <a:pPr marL="38100">
              <a:lnSpc>
                <a:spcPct val="100000"/>
              </a:lnSpc>
              <a:spcBef>
                <a:spcPts val="95"/>
              </a:spcBef>
            </a:pPr>
            <a:r>
              <a:rPr sz="1200" spc="-5" dirty="0">
                <a:solidFill>
                  <a:srgbClr val="3333B2"/>
                </a:solidFill>
                <a:latin typeface="Arial"/>
                <a:cs typeface="Arial"/>
              </a:rPr>
              <a:t>Special</a:t>
            </a:r>
            <a:r>
              <a:rPr sz="1200" spc="-20" dirty="0">
                <a:solidFill>
                  <a:srgbClr val="3333B2"/>
                </a:solidFill>
                <a:latin typeface="Arial"/>
                <a:cs typeface="Arial"/>
              </a:rPr>
              <a:t> </a:t>
            </a:r>
            <a:r>
              <a:rPr sz="1200" spc="-5" dirty="0">
                <a:solidFill>
                  <a:srgbClr val="3333B2"/>
                </a:solidFill>
                <a:latin typeface="Arial"/>
                <a:cs typeface="Arial"/>
              </a:rPr>
              <a:t>instructions</a:t>
            </a:r>
            <a:endParaRPr sz="1200" dirty="0">
              <a:latin typeface="Arial"/>
              <a:cs typeface="Arial"/>
            </a:endParaRPr>
          </a:p>
          <a:p>
            <a:pPr marL="314960" marR="30480" indent="-168275">
              <a:lnSpc>
                <a:spcPct val="100000"/>
              </a:lnSpc>
              <a:spcBef>
                <a:spcPts val="770"/>
              </a:spcBef>
              <a:buClr>
                <a:srgbClr val="3333B2"/>
              </a:buClr>
              <a:buChar char="►"/>
              <a:tabLst>
                <a:tab pos="315595" algn="l"/>
              </a:tabLst>
            </a:pPr>
            <a:r>
              <a:rPr sz="1000" spc="-5" dirty="0">
                <a:solidFill>
                  <a:srgbClr val="FA0000"/>
                </a:solidFill>
                <a:latin typeface="Arial"/>
                <a:cs typeface="Arial"/>
              </a:rPr>
              <a:t>Control-sensitive instruction</a:t>
            </a:r>
            <a:r>
              <a:rPr sz="1000" spc="-5" dirty="0">
                <a:latin typeface="Arial"/>
                <a:cs typeface="Arial"/>
              </a:rPr>
              <a:t>:</a:t>
            </a:r>
            <a:r>
              <a:rPr sz="1000" spc="65" dirty="0">
                <a:latin typeface="Arial"/>
                <a:cs typeface="Arial"/>
              </a:rPr>
              <a:t> </a:t>
            </a:r>
            <a:r>
              <a:rPr sz="1000" spc="-15" dirty="0">
                <a:latin typeface="Arial"/>
                <a:cs typeface="Arial"/>
              </a:rPr>
              <a:t>may</a:t>
            </a:r>
            <a:r>
              <a:rPr sz="1000" spc="-5" dirty="0">
                <a:latin typeface="Arial"/>
                <a:cs typeface="Arial"/>
              </a:rPr>
              <a:t> </a:t>
            </a:r>
            <a:r>
              <a:rPr sz="1000" spc="-10" dirty="0">
                <a:latin typeface="Arial"/>
                <a:cs typeface="Arial"/>
              </a:rPr>
              <a:t>affect</a:t>
            </a:r>
            <a:r>
              <a:rPr sz="1000" dirty="0">
                <a:latin typeface="Arial"/>
                <a:cs typeface="Arial"/>
              </a:rPr>
              <a:t> </a:t>
            </a:r>
            <a:r>
              <a:rPr sz="1000" spc="-5" dirty="0">
                <a:latin typeface="Arial"/>
                <a:cs typeface="Arial"/>
              </a:rPr>
              <a:t>configuration</a:t>
            </a:r>
            <a:r>
              <a:rPr sz="1000" dirty="0">
                <a:latin typeface="Arial"/>
                <a:cs typeface="Arial"/>
              </a:rPr>
              <a:t> </a:t>
            </a:r>
            <a:r>
              <a:rPr sz="1000" spc="-5" dirty="0">
                <a:latin typeface="Arial"/>
                <a:cs typeface="Arial"/>
              </a:rPr>
              <a:t>of a </a:t>
            </a:r>
            <a:r>
              <a:rPr sz="1000" dirty="0">
                <a:latin typeface="Arial"/>
                <a:cs typeface="Arial"/>
              </a:rPr>
              <a:t> </a:t>
            </a:r>
            <a:r>
              <a:rPr sz="1000" spc="-5" dirty="0">
                <a:latin typeface="Arial"/>
                <a:cs typeface="Arial"/>
              </a:rPr>
              <a:t>machine</a:t>
            </a:r>
            <a:r>
              <a:rPr sz="1000" dirty="0">
                <a:latin typeface="Arial"/>
                <a:cs typeface="Arial"/>
              </a:rPr>
              <a:t> </a:t>
            </a:r>
            <a:r>
              <a:rPr sz="1000" spc="-5" dirty="0">
                <a:latin typeface="Arial"/>
                <a:cs typeface="Arial"/>
              </a:rPr>
              <a:t>(e.g.,</a:t>
            </a:r>
            <a:r>
              <a:rPr sz="1000" dirty="0">
                <a:latin typeface="Arial"/>
                <a:cs typeface="Arial"/>
              </a:rPr>
              <a:t> </a:t>
            </a:r>
            <a:r>
              <a:rPr sz="1000" spc="-5" dirty="0">
                <a:latin typeface="Arial"/>
                <a:cs typeface="Arial"/>
              </a:rPr>
              <a:t>one</a:t>
            </a:r>
            <a:r>
              <a:rPr sz="1000" dirty="0">
                <a:latin typeface="Arial"/>
                <a:cs typeface="Arial"/>
              </a:rPr>
              <a:t> </a:t>
            </a:r>
            <a:r>
              <a:rPr sz="1000" spc="-5" dirty="0">
                <a:latin typeface="Arial"/>
                <a:cs typeface="Arial"/>
              </a:rPr>
              <a:t>affecting</a:t>
            </a:r>
            <a:r>
              <a:rPr sz="1000" dirty="0">
                <a:latin typeface="Arial"/>
                <a:cs typeface="Arial"/>
              </a:rPr>
              <a:t> </a:t>
            </a:r>
            <a:r>
              <a:rPr sz="1000" spc="-5" dirty="0">
                <a:latin typeface="Arial"/>
                <a:cs typeface="Arial"/>
              </a:rPr>
              <a:t>relocation</a:t>
            </a:r>
            <a:r>
              <a:rPr sz="1000" dirty="0">
                <a:latin typeface="Arial"/>
                <a:cs typeface="Arial"/>
              </a:rPr>
              <a:t> </a:t>
            </a:r>
            <a:r>
              <a:rPr sz="1000" spc="-5" dirty="0">
                <a:latin typeface="Arial"/>
                <a:cs typeface="Arial"/>
              </a:rPr>
              <a:t>register</a:t>
            </a:r>
            <a:r>
              <a:rPr sz="1000" dirty="0">
                <a:latin typeface="Arial"/>
                <a:cs typeface="Arial"/>
              </a:rPr>
              <a:t> </a:t>
            </a:r>
            <a:r>
              <a:rPr sz="1000" spc="-5" dirty="0">
                <a:latin typeface="Arial"/>
                <a:cs typeface="Arial"/>
              </a:rPr>
              <a:t>or</a:t>
            </a:r>
            <a:r>
              <a:rPr sz="1000" spc="5" dirty="0">
                <a:latin typeface="Arial"/>
                <a:cs typeface="Arial"/>
              </a:rPr>
              <a:t> </a:t>
            </a:r>
            <a:r>
              <a:rPr sz="1000" spc="-5" dirty="0">
                <a:latin typeface="Arial"/>
                <a:cs typeface="Arial"/>
              </a:rPr>
              <a:t>interrupt</a:t>
            </a:r>
            <a:r>
              <a:rPr sz="1000" dirty="0">
                <a:latin typeface="Arial"/>
                <a:cs typeface="Arial"/>
              </a:rPr>
              <a:t> </a:t>
            </a:r>
            <a:r>
              <a:rPr sz="1000" spc="-5" dirty="0">
                <a:latin typeface="Arial"/>
                <a:cs typeface="Arial"/>
              </a:rPr>
              <a:t>table).</a:t>
            </a:r>
            <a:endParaRPr sz="1000" dirty="0">
              <a:latin typeface="Arial"/>
              <a:cs typeface="Arial"/>
            </a:endParaRPr>
          </a:p>
          <a:p>
            <a:pPr marL="314960" marR="193675" indent="-168275">
              <a:lnSpc>
                <a:spcPct val="100000"/>
              </a:lnSpc>
              <a:spcBef>
                <a:spcPts val="590"/>
              </a:spcBef>
              <a:buClr>
                <a:srgbClr val="3333B2"/>
              </a:buClr>
              <a:buChar char="►"/>
              <a:tabLst>
                <a:tab pos="315595" algn="l"/>
              </a:tabLst>
            </a:pPr>
            <a:r>
              <a:rPr sz="1000" spc="-5" dirty="0">
                <a:solidFill>
                  <a:srgbClr val="FA0000"/>
                </a:solidFill>
                <a:latin typeface="Arial"/>
                <a:cs typeface="Arial"/>
              </a:rPr>
              <a:t>Behavior-sensitive instruction</a:t>
            </a:r>
            <a:r>
              <a:rPr sz="1000" spc="-5" dirty="0">
                <a:latin typeface="Arial"/>
                <a:cs typeface="Arial"/>
              </a:rPr>
              <a:t>:</a:t>
            </a:r>
            <a:r>
              <a:rPr sz="1000" spc="65" dirty="0">
                <a:latin typeface="Arial"/>
                <a:cs typeface="Arial"/>
              </a:rPr>
              <a:t> </a:t>
            </a:r>
            <a:r>
              <a:rPr sz="1000" spc="-10" dirty="0">
                <a:latin typeface="Arial"/>
                <a:cs typeface="Arial"/>
              </a:rPr>
              <a:t>effect</a:t>
            </a:r>
            <a:r>
              <a:rPr sz="1000" dirty="0">
                <a:latin typeface="Arial"/>
                <a:cs typeface="Arial"/>
              </a:rPr>
              <a:t> </a:t>
            </a:r>
            <a:r>
              <a:rPr sz="1000" spc="-5" dirty="0">
                <a:latin typeface="Arial"/>
                <a:cs typeface="Arial"/>
              </a:rPr>
              <a:t>is </a:t>
            </a:r>
            <a:r>
              <a:rPr sz="1000" dirty="0">
                <a:latin typeface="Arial"/>
                <a:cs typeface="Arial"/>
              </a:rPr>
              <a:t>partially determined</a:t>
            </a:r>
            <a:r>
              <a:rPr sz="1000" spc="-5" dirty="0">
                <a:latin typeface="Arial"/>
                <a:cs typeface="Arial"/>
              </a:rPr>
              <a:t> </a:t>
            </a:r>
            <a:r>
              <a:rPr sz="1000" spc="-15" dirty="0">
                <a:latin typeface="Arial"/>
                <a:cs typeface="Arial"/>
              </a:rPr>
              <a:t>by </a:t>
            </a:r>
            <a:r>
              <a:rPr sz="1000" spc="-260" dirty="0">
                <a:latin typeface="Arial"/>
                <a:cs typeface="Arial"/>
              </a:rPr>
              <a:t> </a:t>
            </a:r>
            <a:r>
              <a:rPr sz="1000" spc="-10" dirty="0">
                <a:latin typeface="Arial"/>
                <a:cs typeface="Arial"/>
              </a:rPr>
              <a:t>context</a:t>
            </a:r>
            <a:r>
              <a:rPr sz="1000" spc="-5" dirty="0">
                <a:latin typeface="Arial"/>
                <a:cs typeface="Arial"/>
              </a:rPr>
              <a:t> (e.g.,</a:t>
            </a:r>
            <a:r>
              <a:rPr sz="1000" spc="215" dirty="0">
                <a:latin typeface="Arial"/>
                <a:cs typeface="Arial"/>
              </a:rPr>
              <a:t> </a:t>
            </a:r>
            <a:r>
              <a:rPr sz="1000" spc="-75" dirty="0">
                <a:latin typeface="Times New Roman"/>
                <a:cs typeface="Times New Roman"/>
              </a:rPr>
              <a:t>POPF</a:t>
            </a:r>
            <a:r>
              <a:rPr sz="1000" spc="-55" dirty="0">
                <a:latin typeface="Times New Roman"/>
                <a:cs typeface="Times New Roman"/>
              </a:rPr>
              <a:t> </a:t>
            </a:r>
            <a:r>
              <a:rPr sz="1000" spc="-5" dirty="0">
                <a:latin typeface="Arial"/>
                <a:cs typeface="Arial"/>
              </a:rPr>
              <a:t>sets</a:t>
            </a:r>
            <a:r>
              <a:rPr sz="1000" dirty="0">
                <a:latin typeface="Arial"/>
                <a:cs typeface="Arial"/>
              </a:rPr>
              <a:t> </a:t>
            </a:r>
            <a:r>
              <a:rPr sz="1000" spc="-5" dirty="0">
                <a:latin typeface="Arial"/>
                <a:cs typeface="Arial"/>
              </a:rPr>
              <a:t>an</a:t>
            </a:r>
            <a:r>
              <a:rPr sz="1000" dirty="0">
                <a:latin typeface="Arial"/>
                <a:cs typeface="Arial"/>
              </a:rPr>
              <a:t> </a:t>
            </a:r>
            <a:r>
              <a:rPr sz="1000" spc="-5" dirty="0">
                <a:latin typeface="Arial"/>
                <a:cs typeface="Arial"/>
              </a:rPr>
              <a:t>interrupt-enabled flag,</a:t>
            </a:r>
            <a:r>
              <a:rPr sz="1000" dirty="0">
                <a:latin typeface="Arial"/>
                <a:cs typeface="Arial"/>
              </a:rPr>
              <a:t> </a:t>
            </a:r>
            <a:r>
              <a:rPr sz="1000" spc="-10" dirty="0">
                <a:latin typeface="Arial"/>
                <a:cs typeface="Arial"/>
              </a:rPr>
              <a:t>but</a:t>
            </a:r>
            <a:r>
              <a:rPr sz="1000" dirty="0">
                <a:latin typeface="Arial"/>
                <a:cs typeface="Arial"/>
              </a:rPr>
              <a:t> </a:t>
            </a:r>
            <a:r>
              <a:rPr sz="1000" spc="-5" dirty="0">
                <a:latin typeface="Arial"/>
                <a:cs typeface="Arial"/>
              </a:rPr>
              <a:t>only in </a:t>
            </a:r>
            <a:r>
              <a:rPr sz="1000" dirty="0">
                <a:latin typeface="Arial"/>
                <a:cs typeface="Arial"/>
              </a:rPr>
              <a:t> </a:t>
            </a:r>
            <a:r>
              <a:rPr sz="1000" spc="-5" dirty="0">
                <a:latin typeface="Arial"/>
                <a:cs typeface="Arial"/>
              </a:rPr>
              <a:t>system</a:t>
            </a:r>
            <a:r>
              <a:rPr sz="1000" spc="-10" dirty="0">
                <a:latin typeface="Arial"/>
                <a:cs typeface="Arial"/>
              </a:rPr>
              <a:t> </a:t>
            </a:r>
            <a:r>
              <a:rPr sz="1000" spc="-5" dirty="0">
                <a:latin typeface="Arial"/>
                <a:cs typeface="Arial"/>
              </a:rPr>
              <a:t>mode).</a:t>
            </a:r>
            <a:endParaRPr sz="1000" dirty="0">
              <a:latin typeface="Arial"/>
              <a:cs typeface="Arial"/>
            </a:endParaRPr>
          </a:p>
        </p:txBody>
      </p:sp>
    </p:spTree>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53745" cy="119380"/>
          </a:xfrm>
          <a:prstGeom prst="rect">
            <a:avLst/>
          </a:prstGeom>
        </p:spPr>
        <p:txBody>
          <a:bodyPr vert="horz" wrap="square" lIns="0" tIns="8890" rIns="0" bIns="0" rtlCol="0">
            <a:spAutoFit/>
          </a:bodyPr>
          <a:lstStyle/>
          <a:p>
            <a:pPr marL="12700">
              <a:lnSpc>
                <a:spcPct val="100000"/>
              </a:lnSpc>
              <a:spcBef>
                <a:spcPts val="70"/>
              </a:spcBef>
            </a:pPr>
            <a:r>
              <a:rPr sz="600" spc="-80" dirty="0">
                <a:solidFill>
                  <a:srgbClr val="3333B2"/>
                </a:solidFill>
                <a:latin typeface="Arial"/>
                <a:cs typeface="Arial"/>
                <a:hlinkClick r:id="rId3" action="ppaction://hlinksldjump"/>
              </a:rPr>
              <a:t>T</a:t>
            </a:r>
            <a:r>
              <a:rPr sz="600" spc="-5" dirty="0">
                <a:solidFill>
                  <a:srgbClr val="3333B2"/>
                </a:solidFill>
                <a:latin typeface="Arial"/>
                <a:cs typeface="Arial"/>
                <a:hlinkClick r:id="rId3" action="ppaction://hlinksldjump"/>
              </a:rPr>
              <a:t>ypes of vi</a:t>
            </a:r>
            <a:r>
              <a:rPr sz="600" spc="15" dirty="0">
                <a:solidFill>
                  <a:srgbClr val="3333B2"/>
                </a:solidFill>
                <a:latin typeface="Arial"/>
                <a:cs typeface="Arial"/>
                <a:hlinkClick r:id="rId3" action="ppaction://hlinksldjump"/>
              </a:rPr>
              <a:t>r</a:t>
            </a:r>
            <a:r>
              <a:rPr sz="600" spc="-5" dirty="0">
                <a:solidFill>
                  <a:srgbClr val="3333B2"/>
                </a:solidFill>
                <a:latin typeface="Arial"/>
                <a:cs typeface="Arial"/>
                <a:hlinkClick r:id="rId3" action="ppaction://hlinksldjump"/>
              </a:rPr>
              <a:t>tualization</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20</a:t>
            </a:r>
            <a:r>
              <a:rPr spc="-40" dirty="0"/>
              <a:t> </a:t>
            </a:r>
            <a:r>
              <a:rPr spc="-5" dirty="0"/>
              <a:t>/</a:t>
            </a:r>
            <a:r>
              <a:rPr spc="-35" dirty="0"/>
              <a:t> </a:t>
            </a:r>
            <a:r>
              <a:rPr spc="-5" dirty="0"/>
              <a:t>47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639185" algn="l"/>
              </a:tabLst>
            </a:pPr>
            <a:r>
              <a:rPr sz="600" spc="-5" dirty="0">
                <a:solidFill>
                  <a:srgbClr val="3333B2"/>
                </a:solidFill>
                <a:latin typeface="Arial"/>
                <a:cs typeface="Arial"/>
                <a:hlinkClick r:id="rId4" action="ppaction://hlinksldjump"/>
              </a:rPr>
              <a:t>Processes:</a:t>
            </a:r>
            <a:r>
              <a:rPr sz="600" spc="160" dirty="0">
                <a:solidFill>
                  <a:srgbClr val="3333B2"/>
                </a:solidFill>
                <a:latin typeface="Arial"/>
                <a:cs typeface="Arial"/>
              </a:rPr>
              <a:t> </a:t>
            </a:r>
            <a:r>
              <a:rPr sz="600" dirty="0">
                <a:solidFill>
                  <a:srgbClr val="3333B2"/>
                </a:solidFill>
                <a:latin typeface="Arial"/>
                <a:cs typeface="Arial"/>
                <a:hlinkClick r:id="rId5" action="ppaction://hlinksldjump"/>
              </a:rPr>
              <a:t>Virtualization</a:t>
            </a:r>
            <a:r>
              <a:rPr sz="600" dirty="0">
                <a:solidFill>
                  <a:srgbClr val="3333B2"/>
                </a:solidFill>
                <a:latin typeface="Arial"/>
                <a:cs typeface="Arial"/>
              </a:rPr>
              <a:t>	</a:t>
            </a:r>
            <a:r>
              <a:rPr sz="600" spc="-5" dirty="0">
                <a:solidFill>
                  <a:srgbClr val="262685"/>
                </a:solidFill>
                <a:latin typeface="Arial"/>
                <a:cs typeface="Arial"/>
                <a:hlinkClick r:id="rId5" action="ppaction://hlinksldjump"/>
              </a:rPr>
              <a:t>Principle</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a:t>
            </a:r>
            <a:r>
              <a:rPr sz="600" spc="-20" dirty="0">
                <a:solidFill>
                  <a:srgbClr val="262685"/>
                </a:solidFill>
                <a:latin typeface="Arial"/>
                <a:cs typeface="Arial"/>
                <a:hlinkClick r:id="rId5" action="ppaction://hlinksldjump"/>
              </a:rPr>
              <a:t> </a:t>
            </a:r>
            <a:r>
              <a:rPr sz="600" dirty="0">
                <a:solidFill>
                  <a:srgbClr val="262685"/>
                </a:solidFill>
                <a:latin typeface="Arial"/>
                <a:cs typeface="Arial"/>
                <a:hlinkClick r:id="rId5" action="ppaction://hlinksldjump"/>
              </a:rPr>
              <a:t>virtualization</a:t>
            </a:r>
            <a:endParaRPr sz="600">
              <a:latin typeface="Arial"/>
              <a:cs typeface="Arial"/>
            </a:endParaRPr>
          </a:p>
        </p:txBody>
      </p:sp>
      <p:sp>
        <p:nvSpPr>
          <p:cNvPr id="3" name="object 3"/>
          <p:cNvSpPr txBox="1">
            <a:spLocks noGrp="1"/>
          </p:cNvSpPr>
          <p:nvPr>
            <p:ph type="title"/>
          </p:nvPr>
        </p:nvSpPr>
        <p:spPr>
          <a:xfrm>
            <a:off x="95300" y="188846"/>
            <a:ext cx="2123440" cy="244475"/>
          </a:xfrm>
          <a:prstGeom prst="rect">
            <a:avLst/>
          </a:prstGeom>
        </p:spPr>
        <p:txBody>
          <a:bodyPr vert="horz" wrap="square" lIns="0" tIns="17145" rIns="0" bIns="0" rtlCol="0">
            <a:spAutoFit/>
          </a:bodyPr>
          <a:lstStyle/>
          <a:p>
            <a:pPr marL="12700">
              <a:lnSpc>
                <a:spcPct val="100000"/>
              </a:lnSpc>
              <a:spcBef>
                <a:spcPts val="135"/>
              </a:spcBef>
            </a:pPr>
            <a:r>
              <a:rPr spc="15" dirty="0"/>
              <a:t>Condition</a:t>
            </a:r>
            <a:r>
              <a:rPr spc="-15" dirty="0"/>
              <a:t> </a:t>
            </a:r>
            <a:r>
              <a:rPr spc="-5" dirty="0"/>
              <a:t>for</a:t>
            </a:r>
            <a:r>
              <a:rPr spc="-15" dirty="0"/>
              <a:t> </a:t>
            </a:r>
            <a:r>
              <a:rPr spc="15" dirty="0"/>
              <a:t>virtualization</a:t>
            </a:r>
          </a:p>
        </p:txBody>
      </p:sp>
      <p:sp>
        <p:nvSpPr>
          <p:cNvPr id="4" name="object 4"/>
          <p:cNvSpPr txBox="1"/>
          <p:nvPr/>
        </p:nvSpPr>
        <p:spPr>
          <a:xfrm>
            <a:off x="330047" y="499145"/>
            <a:ext cx="3943350" cy="2564130"/>
          </a:xfrm>
          <a:prstGeom prst="rect">
            <a:avLst/>
          </a:prstGeom>
        </p:spPr>
        <p:txBody>
          <a:bodyPr vert="horz" wrap="square" lIns="0" tIns="40005" rIns="0" bIns="0" rtlCol="0">
            <a:spAutoFit/>
          </a:bodyPr>
          <a:lstStyle/>
          <a:p>
            <a:pPr marL="29845">
              <a:lnSpc>
                <a:spcPct val="100000"/>
              </a:lnSpc>
              <a:spcBef>
                <a:spcPts val="315"/>
              </a:spcBef>
            </a:pPr>
            <a:r>
              <a:rPr sz="1200" dirty="0">
                <a:solidFill>
                  <a:srgbClr val="FA0000"/>
                </a:solidFill>
                <a:latin typeface="Arial"/>
                <a:cs typeface="Arial"/>
              </a:rPr>
              <a:t>Necessary</a:t>
            </a:r>
            <a:r>
              <a:rPr sz="1200" spc="-35" dirty="0">
                <a:solidFill>
                  <a:srgbClr val="FA0000"/>
                </a:solidFill>
                <a:latin typeface="Arial"/>
                <a:cs typeface="Arial"/>
              </a:rPr>
              <a:t> </a:t>
            </a:r>
            <a:r>
              <a:rPr sz="1200" spc="-5" dirty="0">
                <a:solidFill>
                  <a:srgbClr val="FA0000"/>
                </a:solidFill>
                <a:latin typeface="Arial"/>
                <a:cs typeface="Arial"/>
              </a:rPr>
              <a:t>condition</a:t>
            </a:r>
            <a:endParaRPr sz="1200" dirty="0">
              <a:latin typeface="Arial"/>
              <a:cs typeface="Arial"/>
            </a:endParaRPr>
          </a:p>
          <a:p>
            <a:pPr marL="29845" marR="173990">
              <a:lnSpc>
                <a:spcPct val="100000"/>
              </a:lnSpc>
              <a:spcBef>
                <a:spcPts val="180"/>
              </a:spcBef>
            </a:pPr>
            <a:r>
              <a:rPr sz="1000" i="1" spc="-15" dirty="0">
                <a:latin typeface="Arial"/>
                <a:cs typeface="Arial"/>
              </a:rPr>
              <a:t>For</a:t>
            </a:r>
            <a:r>
              <a:rPr sz="1000" i="1" dirty="0">
                <a:latin typeface="Arial"/>
                <a:cs typeface="Arial"/>
              </a:rPr>
              <a:t> </a:t>
            </a:r>
            <a:r>
              <a:rPr sz="1000" i="1" spc="-10" dirty="0">
                <a:latin typeface="Arial"/>
                <a:cs typeface="Arial"/>
              </a:rPr>
              <a:t>any</a:t>
            </a:r>
            <a:r>
              <a:rPr sz="1000" i="1" dirty="0">
                <a:latin typeface="Arial"/>
                <a:cs typeface="Arial"/>
              </a:rPr>
              <a:t> </a:t>
            </a:r>
            <a:r>
              <a:rPr sz="1000" i="1" spc="-10" dirty="0">
                <a:latin typeface="Arial"/>
                <a:cs typeface="Arial"/>
              </a:rPr>
              <a:t>conventional</a:t>
            </a:r>
            <a:r>
              <a:rPr sz="1000" i="1" spc="5" dirty="0">
                <a:latin typeface="Arial"/>
                <a:cs typeface="Arial"/>
              </a:rPr>
              <a:t> </a:t>
            </a:r>
            <a:r>
              <a:rPr sz="1000" i="1" spc="-10" dirty="0">
                <a:latin typeface="Arial"/>
                <a:cs typeface="Arial"/>
              </a:rPr>
              <a:t>computer,</a:t>
            </a:r>
            <a:r>
              <a:rPr sz="1000" i="1" dirty="0">
                <a:latin typeface="Arial"/>
                <a:cs typeface="Arial"/>
              </a:rPr>
              <a:t> </a:t>
            </a:r>
            <a:r>
              <a:rPr sz="1000" i="1" spc="-5" dirty="0">
                <a:latin typeface="Arial"/>
                <a:cs typeface="Arial"/>
              </a:rPr>
              <a:t>a</a:t>
            </a:r>
            <a:r>
              <a:rPr sz="1000" i="1" dirty="0">
                <a:latin typeface="Arial"/>
                <a:cs typeface="Arial"/>
              </a:rPr>
              <a:t> virtual</a:t>
            </a:r>
            <a:r>
              <a:rPr sz="1000" i="1" spc="5" dirty="0">
                <a:latin typeface="Arial"/>
                <a:cs typeface="Arial"/>
              </a:rPr>
              <a:t> </a:t>
            </a:r>
            <a:r>
              <a:rPr sz="1000" i="1" spc="-5" dirty="0">
                <a:latin typeface="Arial"/>
                <a:cs typeface="Arial"/>
              </a:rPr>
              <a:t>machine</a:t>
            </a:r>
            <a:r>
              <a:rPr sz="1000" i="1" dirty="0">
                <a:latin typeface="Arial"/>
                <a:cs typeface="Arial"/>
              </a:rPr>
              <a:t> </a:t>
            </a:r>
            <a:r>
              <a:rPr sz="1000" i="1" spc="-5" dirty="0">
                <a:latin typeface="Arial"/>
                <a:cs typeface="Arial"/>
              </a:rPr>
              <a:t>monitor</a:t>
            </a:r>
            <a:r>
              <a:rPr sz="1000" i="1" dirty="0">
                <a:latin typeface="Arial"/>
                <a:cs typeface="Arial"/>
              </a:rPr>
              <a:t> </a:t>
            </a:r>
            <a:r>
              <a:rPr sz="1000" i="1" spc="-15" dirty="0">
                <a:latin typeface="Arial"/>
                <a:cs typeface="Arial"/>
              </a:rPr>
              <a:t>may</a:t>
            </a:r>
            <a:r>
              <a:rPr sz="1000" i="1" spc="5" dirty="0">
                <a:latin typeface="Arial"/>
                <a:cs typeface="Arial"/>
              </a:rPr>
              <a:t> </a:t>
            </a:r>
            <a:r>
              <a:rPr sz="1000" i="1" spc="-5" dirty="0">
                <a:latin typeface="Arial"/>
                <a:cs typeface="Arial"/>
              </a:rPr>
              <a:t>be </a:t>
            </a:r>
            <a:r>
              <a:rPr sz="1000" i="1" dirty="0">
                <a:latin typeface="Arial"/>
                <a:cs typeface="Arial"/>
              </a:rPr>
              <a:t> </a:t>
            </a:r>
            <a:r>
              <a:rPr sz="1000" i="1" spc="-5" dirty="0">
                <a:latin typeface="Arial"/>
                <a:cs typeface="Arial"/>
              </a:rPr>
              <a:t>constructed</a:t>
            </a:r>
            <a:r>
              <a:rPr sz="1000" i="1" dirty="0">
                <a:latin typeface="Arial"/>
                <a:cs typeface="Arial"/>
              </a:rPr>
              <a:t> </a:t>
            </a:r>
            <a:r>
              <a:rPr sz="1000" i="1" spc="-5" dirty="0">
                <a:latin typeface="Arial"/>
                <a:cs typeface="Arial"/>
              </a:rPr>
              <a:t>if</a:t>
            </a:r>
            <a:r>
              <a:rPr sz="1000" i="1" spc="5" dirty="0">
                <a:latin typeface="Arial"/>
                <a:cs typeface="Arial"/>
              </a:rPr>
              <a:t> </a:t>
            </a:r>
            <a:r>
              <a:rPr sz="1000" i="1" spc="-5" dirty="0">
                <a:latin typeface="Arial"/>
                <a:cs typeface="Arial"/>
              </a:rPr>
              <a:t>the</a:t>
            </a:r>
            <a:r>
              <a:rPr sz="1000" i="1" spc="5" dirty="0">
                <a:latin typeface="Arial"/>
                <a:cs typeface="Arial"/>
              </a:rPr>
              <a:t> </a:t>
            </a:r>
            <a:r>
              <a:rPr sz="1000" i="1" spc="-5" dirty="0">
                <a:latin typeface="Arial"/>
                <a:cs typeface="Arial"/>
              </a:rPr>
              <a:t>set</a:t>
            </a:r>
            <a:r>
              <a:rPr sz="1000" i="1" dirty="0">
                <a:latin typeface="Arial"/>
                <a:cs typeface="Arial"/>
              </a:rPr>
              <a:t> </a:t>
            </a:r>
            <a:r>
              <a:rPr sz="1000" i="1" spc="-5" dirty="0">
                <a:latin typeface="Arial"/>
                <a:cs typeface="Arial"/>
              </a:rPr>
              <a:t>of</a:t>
            </a:r>
            <a:r>
              <a:rPr sz="1000" i="1" spc="5" dirty="0">
                <a:latin typeface="Arial"/>
                <a:cs typeface="Arial"/>
              </a:rPr>
              <a:t> </a:t>
            </a:r>
            <a:r>
              <a:rPr sz="1000" i="1" spc="-5" dirty="0">
                <a:latin typeface="Arial"/>
                <a:cs typeface="Arial"/>
              </a:rPr>
              <a:t>sensitive</a:t>
            </a:r>
            <a:r>
              <a:rPr sz="1000" i="1" spc="5" dirty="0">
                <a:latin typeface="Arial"/>
                <a:cs typeface="Arial"/>
              </a:rPr>
              <a:t> </a:t>
            </a:r>
            <a:r>
              <a:rPr sz="1000" i="1" spc="-5" dirty="0">
                <a:latin typeface="Arial"/>
                <a:cs typeface="Arial"/>
              </a:rPr>
              <a:t>instructions</a:t>
            </a:r>
            <a:r>
              <a:rPr sz="1000" i="1" dirty="0">
                <a:latin typeface="Arial"/>
                <a:cs typeface="Arial"/>
              </a:rPr>
              <a:t> </a:t>
            </a:r>
            <a:r>
              <a:rPr sz="1000" i="1" spc="-15" dirty="0">
                <a:latin typeface="Arial"/>
                <a:cs typeface="Arial"/>
              </a:rPr>
              <a:t>for</a:t>
            </a:r>
            <a:r>
              <a:rPr sz="1000" i="1" spc="5" dirty="0">
                <a:latin typeface="Arial"/>
                <a:cs typeface="Arial"/>
              </a:rPr>
              <a:t> </a:t>
            </a:r>
            <a:r>
              <a:rPr sz="1000" i="1" spc="-5" dirty="0">
                <a:latin typeface="Arial"/>
                <a:cs typeface="Arial"/>
              </a:rPr>
              <a:t>that</a:t>
            </a:r>
            <a:r>
              <a:rPr sz="1000" i="1" spc="5" dirty="0">
                <a:latin typeface="Arial"/>
                <a:cs typeface="Arial"/>
              </a:rPr>
              <a:t> </a:t>
            </a:r>
            <a:r>
              <a:rPr sz="1000" i="1" spc="-5" dirty="0">
                <a:latin typeface="Arial"/>
                <a:cs typeface="Arial"/>
              </a:rPr>
              <a:t>computer</a:t>
            </a:r>
            <a:r>
              <a:rPr sz="1000" i="1" dirty="0">
                <a:latin typeface="Arial"/>
                <a:cs typeface="Arial"/>
              </a:rPr>
              <a:t> </a:t>
            </a:r>
            <a:r>
              <a:rPr sz="1000" i="1" spc="-5" dirty="0">
                <a:latin typeface="Arial"/>
                <a:cs typeface="Arial"/>
              </a:rPr>
              <a:t>is</a:t>
            </a:r>
            <a:r>
              <a:rPr sz="1000" i="1" spc="5" dirty="0">
                <a:latin typeface="Arial"/>
                <a:cs typeface="Arial"/>
              </a:rPr>
              <a:t> </a:t>
            </a:r>
            <a:r>
              <a:rPr sz="1000" i="1" spc="-5" dirty="0">
                <a:latin typeface="Arial"/>
                <a:cs typeface="Arial"/>
              </a:rPr>
              <a:t>a </a:t>
            </a:r>
            <a:r>
              <a:rPr sz="1000" i="1" spc="-265" dirty="0">
                <a:latin typeface="Arial"/>
                <a:cs typeface="Arial"/>
              </a:rPr>
              <a:t> </a:t>
            </a:r>
            <a:r>
              <a:rPr sz="1000" i="1" spc="-5" dirty="0">
                <a:latin typeface="Arial"/>
                <a:cs typeface="Arial"/>
              </a:rPr>
              <a:t>subset of the set of privileged instructions.</a:t>
            </a:r>
            <a:endParaRPr sz="1000" dirty="0">
              <a:latin typeface="Arial"/>
              <a:cs typeface="Arial"/>
            </a:endParaRPr>
          </a:p>
          <a:p>
            <a:pPr marL="29845">
              <a:lnSpc>
                <a:spcPct val="100000"/>
              </a:lnSpc>
              <a:spcBef>
                <a:spcPts val="685"/>
              </a:spcBef>
            </a:pPr>
            <a:r>
              <a:rPr sz="1200" spc="-10" dirty="0">
                <a:solidFill>
                  <a:srgbClr val="3333B2"/>
                </a:solidFill>
                <a:latin typeface="Arial"/>
                <a:cs typeface="Arial"/>
              </a:rPr>
              <a:t>Problem:</a:t>
            </a:r>
            <a:r>
              <a:rPr sz="1200" spc="75" dirty="0">
                <a:solidFill>
                  <a:srgbClr val="3333B2"/>
                </a:solidFill>
                <a:latin typeface="Arial"/>
                <a:cs typeface="Arial"/>
              </a:rPr>
              <a:t> </a:t>
            </a:r>
            <a:r>
              <a:rPr sz="1200" spc="-5" dirty="0">
                <a:solidFill>
                  <a:srgbClr val="3333B2"/>
                </a:solidFill>
                <a:latin typeface="Arial"/>
                <a:cs typeface="Arial"/>
              </a:rPr>
              <a:t>condition</a:t>
            </a:r>
            <a:r>
              <a:rPr sz="1200" dirty="0">
                <a:solidFill>
                  <a:srgbClr val="3333B2"/>
                </a:solidFill>
                <a:latin typeface="Arial"/>
                <a:cs typeface="Arial"/>
              </a:rPr>
              <a:t> </a:t>
            </a:r>
            <a:r>
              <a:rPr sz="1200" spc="-5" dirty="0">
                <a:solidFill>
                  <a:srgbClr val="3333B2"/>
                </a:solidFill>
                <a:latin typeface="Arial"/>
                <a:cs typeface="Arial"/>
              </a:rPr>
              <a:t>is</a:t>
            </a:r>
            <a:r>
              <a:rPr sz="1200" dirty="0">
                <a:solidFill>
                  <a:srgbClr val="3333B2"/>
                </a:solidFill>
                <a:latin typeface="Arial"/>
                <a:cs typeface="Arial"/>
              </a:rPr>
              <a:t> </a:t>
            </a:r>
            <a:r>
              <a:rPr sz="1200" spc="-5" dirty="0">
                <a:solidFill>
                  <a:srgbClr val="3333B2"/>
                </a:solidFill>
                <a:latin typeface="Arial"/>
                <a:cs typeface="Arial"/>
              </a:rPr>
              <a:t>not </a:t>
            </a:r>
            <a:r>
              <a:rPr sz="1200" spc="-15" dirty="0">
                <a:solidFill>
                  <a:srgbClr val="3333B2"/>
                </a:solidFill>
                <a:latin typeface="Arial"/>
                <a:cs typeface="Arial"/>
              </a:rPr>
              <a:t>always</a:t>
            </a:r>
            <a:r>
              <a:rPr sz="1200" dirty="0">
                <a:solidFill>
                  <a:srgbClr val="3333B2"/>
                </a:solidFill>
                <a:latin typeface="Arial"/>
                <a:cs typeface="Arial"/>
              </a:rPr>
              <a:t> </a:t>
            </a:r>
            <a:r>
              <a:rPr sz="1200" spc="-5" dirty="0">
                <a:solidFill>
                  <a:srgbClr val="3333B2"/>
                </a:solidFill>
                <a:latin typeface="Arial"/>
                <a:cs typeface="Arial"/>
              </a:rPr>
              <a:t>satisfied</a:t>
            </a:r>
            <a:endParaRPr sz="1200" dirty="0">
              <a:latin typeface="Arial"/>
              <a:cs typeface="Arial"/>
            </a:endParaRPr>
          </a:p>
          <a:p>
            <a:pPr marL="25400" marR="159385" indent="635">
              <a:lnSpc>
                <a:spcPct val="100000"/>
              </a:lnSpc>
              <a:spcBef>
                <a:spcPts val="180"/>
              </a:spcBef>
            </a:pPr>
            <a:r>
              <a:rPr sz="1000" spc="-5" dirty="0">
                <a:latin typeface="Arial"/>
                <a:cs typeface="Arial"/>
              </a:rPr>
              <a:t>There </a:t>
            </a:r>
            <a:r>
              <a:rPr sz="1000" spc="-15" dirty="0">
                <a:latin typeface="Arial"/>
                <a:cs typeface="Arial"/>
              </a:rPr>
              <a:t>may</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sensitive</a:t>
            </a:r>
            <a:r>
              <a:rPr sz="1000" dirty="0">
                <a:latin typeface="Arial"/>
                <a:cs typeface="Arial"/>
              </a:rPr>
              <a:t> </a:t>
            </a:r>
            <a:r>
              <a:rPr sz="1000" spc="-5" dirty="0">
                <a:latin typeface="Arial"/>
                <a:cs typeface="Arial"/>
              </a:rPr>
              <a:t>instructions that</a:t>
            </a:r>
            <a:r>
              <a:rPr sz="1000" dirty="0">
                <a:latin typeface="Arial"/>
                <a:cs typeface="Arial"/>
              </a:rPr>
              <a:t> </a:t>
            </a:r>
            <a:r>
              <a:rPr sz="1000" spc="-5" dirty="0">
                <a:latin typeface="Arial"/>
                <a:cs typeface="Arial"/>
              </a:rPr>
              <a:t>are</a:t>
            </a:r>
            <a:r>
              <a:rPr sz="1000" dirty="0">
                <a:latin typeface="Arial"/>
                <a:cs typeface="Arial"/>
              </a:rPr>
              <a:t> </a:t>
            </a:r>
            <a:r>
              <a:rPr sz="1000" spc="-10" dirty="0">
                <a:latin typeface="Arial"/>
                <a:cs typeface="Arial"/>
              </a:rPr>
              <a:t>executed</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user mode </a:t>
            </a:r>
            <a:r>
              <a:rPr sz="1000" spc="-260" dirty="0">
                <a:latin typeface="Arial"/>
                <a:cs typeface="Arial"/>
              </a:rPr>
              <a:t> </a:t>
            </a:r>
            <a:r>
              <a:rPr sz="1000" spc="-5" dirty="0">
                <a:latin typeface="Arial"/>
                <a:cs typeface="Arial"/>
              </a:rPr>
              <a:t>without causing a trap to the operating system.</a:t>
            </a:r>
            <a:endParaRPr sz="1000" dirty="0">
              <a:latin typeface="Arial"/>
              <a:cs typeface="Arial"/>
            </a:endParaRPr>
          </a:p>
          <a:p>
            <a:pPr marL="29845">
              <a:lnSpc>
                <a:spcPct val="100000"/>
              </a:lnSpc>
              <a:spcBef>
                <a:spcPts val="690"/>
              </a:spcBef>
            </a:pPr>
            <a:r>
              <a:rPr sz="1200" spc="-5" dirty="0">
                <a:solidFill>
                  <a:srgbClr val="3333B2"/>
                </a:solidFill>
                <a:latin typeface="Arial"/>
                <a:cs typeface="Arial"/>
              </a:rPr>
              <a:t>Solutions</a:t>
            </a:r>
            <a:endParaRPr sz="1200" dirty="0">
              <a:latin typeface="Arial"/>
              <a:cs typeface="Arial"/>
            </a:endParaRPr>
          </a:p>
          <a:p>
            <a:pPr marL="306705" indent="-168275">
              <a:lnSpc>
                <a:spcPct val="100000"/>
              </a:lnSpc>
              <a:spcBef>
                <a:spcPts val="540"/>
              </a:spcBef>
              <a:buClr>
                <a:srgbClr val="3333B2"/>
              </a:buClr>
              <a:buChar char="►"/>
              <a:tabLst>
                <a:tab pos="307340" algn="l"/>
              </a:tabLst>
            </a:pPr>
            <a:r>
              <a:rPr sz="1000" spc="-5" dirty="0">
                <a:latin typeface="Arial"/>
                <a:cs typeface="Arial"/>
              </a:rPr>
              <a:t>Emulate</a:t>
            </a:r>
            <a:r>
              <a:rPr sz="1000" spc="-15" dirty="0">
                <a:latin typeface="Arial"/>
                <a:cs typeface="Arial"/>
              </a:rPr>
              <a:t> </a:t>
            </a:r>
            <a:r>
              <a:rPr sz="1000" spc="-5" dirty="0">
                <a:latin typeface="Arial"/>
                <a:cs typeface="Arial"/>
              </a:rPr>
              <a:t>all</a:t>
            </a:r>
            <a:r>
              <a:rPr sz="1000" spc="-15" dirty="0">
                <a:latin typeface="Arial"/>
                <a:cs typeface="Arial"/>
              </a:rPr>
              <a:t> </a:t>
            </a:r>
            <a:r>
              <a:rPr sz="1000" spc="-5" dirty="0">
                <a:latin typeface="Arial"/>
                <a:cs typeface="Arial"/>
              </a:rPr>
              <a:t>instructions</a:t>
            </a:r>
            <a:endParaRPr sz="1000" dirty="0">
              <a:latin typeface="Arial"/>
              <a:cs typeface="Arial"/>
            </a:endParaRPr>
          </a:p>
          <a:p>
            <a:pPr marL="306705" indent="-168275">
              <a:lnSpc>
                <a:spcPct val="100000"/>
              </a:lnSpc>
              <a:spcBef>
                <a:spcPts val="595"/>
              </a:spcBef>
              <a:buClr>
                <a:srgbClr val="3333B2"/>
              </a:buClr>
              <a:buChar char="►"/>
              <a:tabLst>
                <a:tab pos="307340" algn="l"/>
              </a:tabLst>
            </a:pPr>
            <a:r>
              <a:rPr sz="1000" spc="-15" dirty="0">
                <a:latin typeface="Arial"/>
                <a:cs typeface="Arial"/>
              </a:rPr>
              <a:t>Wrap</a:t>
            </a:r>
            <a:r>
              <a:rPr sz="1000" dirty="0">
                <a:latin typeface="Arial"/>
                <a:cs typeface="Arial"/>
              </a:rPr>
              <a:t> </a:t>
            </a:r>
            <a:r>
              <a:rPr sz="1000" spc="-10" dirty="0">
                <a:latin typeface="Arial"/>
                <a:cs typeface="Arial"/>
              </a:rPr>
              <a:t>nonprivileged</a:t>
            </a:r>
            <a:r>
              <a:rPr sz="1000" dirty="0">
                <a:latin typeface="Arial"/>
                <a:cs typeface="Arial"/>
              </a:rPr>
              <a:t> </a:t>
            </a:r>
            <a:r>
              <a:rPr sz="1000" spc="-15" dirty="0">
                <a:latin typeface="Arial"/>
                <a:cs typeface="Arial"/>
              </a:rPr>
              <a:t>sensitive</a:t>
            </a:r>
            <a:r>
              <a:rPr sz="1000" dirty="0">
                <a:latin typeface="Arial"/>
                <a:cs typeface="Arial"/>
              </a:rPr>
              <a:t> </a:t>
            </a:r>
            <a:r>
              <a:rPr sz="1000" spc="-10" dirty="0">
                <a:latin typeface="Arial"/>
                <a:cs typeface="Arial"/>
              </a:rPr>
              <a:t>instructions</a:t>
            </a:r>
            <a:r>
              <a:rPr sz="1000" dirty="0">
                <a:latin typeface="Arial"/>
                <a:cs typeface="Arial"/>
              </a:rPr>
              <a:t> </a:t>
            </a:r>
            <a:r>
              <a:rPr sz="1000" spc="-10" dirty="0">
                <a:latin typeface="Arial"/>
                <a:cs typeface="Arial"/>
              </a:rPr>
              <a:t>to</a:t>
            </a:r>
            <a:r>
              <a:rPr sz="1000" dirty="0">
                <a:latin typeface="Arial"/>
                <a:cs typeface="Arial"/>
              </a:rPr>
              <a:t> </a:t>
            </a:r>
            <a:r>
              <a:rPr sz="1000" spc="-10" dirty="0">
                <a:latin typeface="Arial"/>
                <a:cs typeface="Arial"/>
              </a:rPr>
              <a:t>divert</a:t>
            </a:r>
            <a:r>
              <a:rPr sz="1000" dirty="0">
                <a:latin typeface="Arial"/>
                <a:cs typeface="Arial"/>
              </a:rPr>
              <a:t> </a:t>
            </a:r>
            <a:r>
              <a:rPr sz="1000" spc="-10" dirty="0">
                <a:latin typeface="Arial"/>
                <a:cs typeface="Arial"/>
              </a:rPr>
              <a:t>control</a:t>
            </a:r>
            <a:r>
              <a:rPr sz="1000" dirty="0">
                <a:latin typeface="Arial"/>
                <a:cs typeface="Arial"/>
              </a:rPr>
              <a:t> </a:t>
            </a:r>
            <a:r>
              <a:rPr sz="1000" spc="-10" dirty="0">
                <a:latin typeface="Arial"/>
                <a:cs typeface="Arial"/>
              </a:rPr>
              <a:t>to</a:t>
            </a:r>
            <a:r>
              <a:rPr sz="1000" dirty="0">
                <a:latin typeface="Arial"/>
                <a:cs typeface="Arial"/>
              </a:rPr>
              <a:t> </a:t>
            </a:r>
            <a:r>
              <a:rPr sz="1000" spc="-20" dirty="0">
                <a:latin typeface="Arial"/>
                <a:cs typeface="Arial"/>
              </a:rPr>
              <a:t>VMM</a:t>
            </a:r>
            <a:endParaRPr sz="1000" dirty="0">
              <a:latin typeface="Arial"/>
              <a:cs typeface="Arial"/>
            </a:endParaRPr>
          </a:p>
          <a:p>
            <a:pPr marL="302260" marR="17780" indent="-163830">
              <a:lnSpc>
                <a:spcPct val="100000"/>
              </a:lnSpc>
              <a:spcBef>
                <a:spcPts val="595"/>
              </a:spcBef>
              <a:buClr>
                <a:srgbClr val="3333B2"/>
              </a:buClr>
              <a:buChar char="►"/>
              <a:tabLst>
                <a:tab pos="307340" algn="l"/>
              </a:tabLst>
            </a:pPr>
            <a:r>
              <a:rPr sz="1000" spc="-5" dirty="0">
                <a:solidFill>
                  <a:srgbClr val="FA0000"/>
                </a:solidFill>
                <a:latin typeface="Arial"/>
                <a:cs typeface="Arial"/>
              </a:rPr>
              <a:t>Paravirtualization</a:t>
            </a:r>
            <a:r>
              <a:rPr sz="1000" spc="-5" dirty="0">
                <a:latin typeface="Arial"/>
                <a:cs typeface="Arial"/>
              </a:rPr>
              <a:t>:</a:t>
            </a:r>
            <a:r>
              <a:rPr sz="1000" spc="60" dirty="0">
                <a:latin typeface="Arial"/>
                <a:cs typeface="Arial"/>
              </a:rPr>
              <a:t> </a:t>
            </a:r>
            <a:r>
              <a:rPr sz="1000" spc="-5" dirty="0">
                <a:latin typeface="Arial"/>
                <a:cs typeface="Arial"/>
              </a:rPr>
              <a:t>modify guest </a:t>
            </a:r>
            <a:r>
              <a:rPr sz="1000" spc="-10" dirty="0">
                <a:latin typeface="Arial"/>
                <a:cs typeface="Arial"/>
              </a:rPr>
              <a:t>OS,</a:t>
            </a:r>
            <a:r>
              <a:rPr sz="1000" spc="-5" dirty="0">
                <a:latin typeface="Arial"/>
                <a:cs typeface="Arial"/>
              </a:rPr>
              <a:t> either</a:t>
            </a:r>
            <a:r>
              <a:rPr sz="1000" dirty="0">
                <a:latin typeface="Arial"/>
                <a:cs typeface="Arial"/>
              </a:rPr>
              <a:t> </a:t>
            </a:r>
            <a:r>
              <a:rPr sz="1000" spc="-15" dirty="0">
                <a:latin typeface="Arial"/>
                <a:cs typeface="Arial"/>
              </a:rPr>
              <a:t>by</a:t>
            </a:r>
            <a:r>
              <a:rPr sz="1000" spc="-5" dirty="0">
                <a:latin typeface="Arial"/>
                <a:cs typeface="Arial"/>
              </a:rPr>
              <a:t> </a:t>
            </a:r>
            <a:r>
              <a:rPr sz="1000" spc="-10" dirty="0">
                <a:latin typeface="Arial"/>
                <a:cs typeface="Arial"/>
              </a:rPr>
              <a:t>preventing </a:t>
            </a:r>
            <a:r>
              <a:rPr sz="1000" spc="-5" dirty="0">
                <a:latin typeface="Arial"/>
                <a:cs typeface="Arial"/>
              </a:rPr>
              <a:t> nonprivileged</a:t>
            </a:r>
            <a:r>
              <a:rPr sz="1000" dirty="0">
                <a:latin typeface="Arial"/>
                <a:cs typeface="Arial"/>
              </a:rPr>
              <a:t> </a:t>
            </a:r>
            <a:r>
              <a:rPr sz="1000" spc="-10" dirty="0">
                <a:latin typeface="Arial"/>
                <a:cs typeface="Arial"/>
              </a:rPr>
              <a:t>sensitive</a:t>
            </a:r>
            <a:r>
              <a:rPr sz="1000" dirty="0">
                <a:latin typeface="Arial"/>
                <a:cs typeface="Arial"/>
              </a:rPr>
              <a:t> </a:t>
            </a:r>
            <a:r>
              <a:rPr sz="1000" spc="-5" dirty="0">
                <a:latin typeface="Arial"/>
                <a:cs typeface="Arial"/>
              </a:rPr>
              <a:t>instructions,</a:t>
            </a:r>
            <a:r>
              <a:rPr sz="1000" dirty="0">
                <a:latin typeface="Arial"/>
                <a:cs typeface="Arial"/>
              </a:rPr>
              <a:t> </a:t>
            </a:r>
            <a:r>
              <a:rPr sz="1000" spc="-5" dirty="0">
                <a:latin typeface="Arial"/>
                <a:cs typeface="Arial"/>
              </a:rPr>
              <a:t>or</a:t>
            </a:r>
            <a:r>
              <a:rPr sz="1000" dirty="0">
                <a:latin typeface="Arial"/>
                <a:cs typeface="Arial"/>
              </a:rPr>
              <a:t> </a:t>
            </a:r>
            <a:r>
              <a:rPr sz="1000" spc="-10" dirty="0">
                <a:latin typeface="Arial"/>
                <a:cs typeface="Arial"/>
              </a:rPr>
              <a:t>making</a:t>
            </a:r>
            <a:r>
              <a:rPr sz="1000" dirty="0">
                <a:latin typeface="Arial"/>
                <a:cs typeface="Arial"/>
              </a:rPr>
              <a:t> </a:t>
            </a:r>
            <a:r>
              <a:rPr sz="1000" spc="-10" dirty="0">
                <a:latin typeface="Arial"/>
                <a:cs typeface="Arial"/>
              </a:rPr>
              <a:t>them</a:t>
            </a:r>
            <a:r>
              <a:rPr sz="1000" spc="5" dirty="0">
                <a:latin typeface="Arial"/>
                <a:cs typeface="Arial"/>
              </a:rPr>
              <a:t> </a:t>
            </a:r>
            <a:r>
              <a:rPr sz="1000" spc="-10" dirty="0">
                <a:latin typeface="Arial"/>
                <a:cs typeface="Arial"/>
              </a:rPr>
              <a:t>nonsensitive </a:t>
            </a:r>
            <a:r>
              <a:rPr sz="1000" spc="-265" dirty="0">
                <a:latin typeface="Arial"/>
                <a:cs typeface="Arial"/>
              </a:rPr>
              <a:t> </a:t>
            </a:r>
            <a:r>
              <a:rPr sz="1000" spc="-5" dirty="0">
                <a:latin typeface="Arial"/>
                <a:cs typeface="Arial"/>
              </a:rPr>
              <a:t>(i.e.,</a:t>
            </a:r>
            <a:r>
              <a:rPr sz="1000" spc="-10" dirty="0">
                <a:latin typeface="Arial"/>
                <a:cs typeface="Arial"/>
              </a:rPr>
              <a:t> </a:t>
            </a:r>
            <a:r>
              <a:rPr sz="1000" spc="-5" dirty="0">
                <a:latin typeface="Arial"/>
                <a:cs typeface="Arial"/>
              </a:rPr>
              <a:t>changing the context).</a:t>
            </a:r>
            <a:endParaRPr sz="1000" dirty="0">
              <a:latin typeface="Arial"/>
              <a:cs typeface="Arial"/>
            </a:endParaRP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21</a:t>
            </a:r>
            <a:r>
              <a:rPr spc="-40" dirty="0"/>
              <a:t> </a:t>
            </a:r>
            <a:r>
              <a:rPr spc="-5" dirty="0"/>
              <a:t>/</a:t>
            </a:r>
            <a:r>
              <a:rPr spc="-35" dirty="0"/>
              <a:t> </a:t>
            </a:r>
            <a:r>
              <a:rPr spc="-5" dirty="0"/>
              <a:t>47</a:t>
            </a:r>
          </a:p>
        </p:txBody>
      </p:sp>
      <p:sp>
        <p:nvSpPr>
          <p:cNvPr id="2" name="object 2"/>
          <p:cNvSpPr txBox="1"/>
          <p:nvPr/>
        </p:nvSpPr>
        <p:spPr>
          <a:xfrm>
            <a:off x="66713" y="716"/>
            <a:ext cx="87820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85" dirty="0">
                <a:solidFill>
                  <a:srgbClr val="3333B2"/>
                </a:solidFill>
                <a:latin typeface="Arial"/>
                <a:cs typeface="Arial"/>
              </a:rPr>
              <a:t> </a:t>
            </a:r>
            <a:r>
              <a:rPr sz="600" dirty="0">
                <a:solidFill>
                  <a:srgbClr val="3333B2"/>
                </a:solidFill>
                <a:latin typeface="Arial"/>
                <a:cs typeface="Arial"/>
                <a:hlinkClick r:id="rId4" action="ppaction://hlinksldjump"/>
              </a:rPr>
              <a:t>Virtualization</a:t>
            </a:r>
            <a:endParaRPr sz="600">
              <a:latin typeface="Arial"/>
              <a:cs typeface="Arial"/>
            </a:endParaRPr>
          </a:p>
        </p:txBody>
      </p:sp>
      <p:sp>
        <p:nvSpPr>
          <p:cNvPr id="3" name="object 3"/>
          <p:cNvSpPr txBox="1"/>
          <p:nvPr/>
        </p:nvSpPr>
        <p:spPr>
          <a:xfrm>
            <a:off x="2732790" y="716"/>
            <a:ext cx="1809114"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Application</a:t>
            </a:r>
            <a:r>
              <a:rPr sz="60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of</a:t>
            </a:r>
            <a:r>
              <a:rPr sz="600" spc="5" dirty="0">
                <a:solidFill>
                  <a:srgbClr val="262685"/>
                </a:solidFill>
                <a:latin typeface="Arial"/>
                <a:cs typeface="Arial"/>
                <a:hlinkClick r:id="rId5" action="ppaction://hlinksldjump"/>
              </a:rPr>
              <a:t> </a:t>
            </a:r>
            <a:r>
              <a:rPr sz="600" dirty="0">
                <a:solidFill>
                  <a:srgbClr val="262685"/>
                </a:solidFill>
                <a:latin typeface="Arial"/>
                <a:cs typeface="Arial"/>
                <a:hlinkClick r:id="rId5" action="ppaction://hlinksldjump"/>
              </a:rPr>
              <a:t>virtual</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machines</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to</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distributed</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systems</a:t>
            </a:r>
            <a:endParaRPr sz="600">
              <a:latin typeface="Arial"/>
              <a:cs typeface="Arial"/>
            </a:endParaRPr>
          </a:p>
        </p:txBody>
      </p:sp>
      <p:sp>
        <p:nvSpPr>
          <p:cNvPr id="4" name="object 4"/>
          <p:cNvSpPr txBox="1"/>
          <p:nvPr/>
        </p:nvSpPr>
        <p:spPr>
          <a:xfrm>
            <a:off x="95300" y="188846"/>
            <a:ext cx="2122170" cy="244475"/>
          </a:xfrm>
          <a:prstGeom prst="rect">
            <a:avLst/>
          </a:prstGeom>
        </p:spPr>
        <p:txBody>
          <a:bodyPr vert="horz" wrap="square" lIns="0" tIns="17145" rIns="0" bIns="0" rtlCol="0">
            <a:spAutoFit/>
          </a:bodyPr>
          <a:lstStyle/>
          <a:p>
            <a:pPr marL="12700">
              <a:lnSpc>
                <a:spcPct val="100000"/>
              </a:lnSpc>
              <a:spcBef>
                <a:spcPts val="135"/>
              </a:spcBef>
            </a:pPr>
            <a:r>
              <a:rPr sz="1400" spc="20" dirty="0">
                <a:solidFill>
                  <a:srgbClr val="3333B2"/>
                </a:solidFill>
                <a:latin typeface="Arial"/>
                <a:cs typeface="Arial"/>
              </a:rPr>
              <a:t>VMs</a:t>
            </a:r>
            <a:r>
              <a:rPr sz="1400" spc="-15" dirty="0">
                <a:solidFill>
                  <a:srgbClr val="3333B2"/>
                </a:solidFill>
                <a:latin typeface="Arial"/>
                <a:cs typeface="Arial"/>
              </a:rPr>
              <a:t> </a:t>
            </a:r>
            <a:r>
              <a:rPr sz="1400" spc="15" dirty="0">
                <a:solidFill>
                  <a:srgbClr val="3333B2"/>
                </a:solidFill>
                <a:latin typeface="Arial"/>
                <a:cs typeface="Arial"/>
              </a:rPr>
              <a:t>and</a:t>
            </a:r>
            <a:r>
              <a:rPr sz="1400" spc="-10" dirty="0">
                <a:solidFill>
                  <a:srgbClr val="3333B2"/>
                </a:solidFill>
                <a:latin typeface="Arial"/>
                <a:cs typeface="Arial"/>
              </a:rPr>
              <a:t> </a:t>
            </a:r>
            <a:r>
              <a:rPr sz="1400" spc="15" dirty="0">
                <a:solidFill>
                  <a:srgbClr val="3333B2"/>
                </a:solidFill>
                <a:latin typeface="Arial"/>
                <a:cs typeface="Arial"/>
              </a:rPr>
              <a:t>cloud</a:t>
            </a:r>
            <a:r>
              <a:rPr sz="1400" spc="-10" dirty="0">
                <a:solidFill>
                  <a:srgbClr val="3333B2"/>
                </a:solidFill>
                <a:latin typeface="Arial"/>
                <a:cs typeface="Arial"/>
              </a:rPr>
              <a:t> </a:t>
            </a:r>
            <a:r>
              <a:rPr sz="1400" spc="15" dirty="0">
                <a:solidFill>
                  <a:srgbClr val="3333B2"/>
                </a:solidFill>
                <a:latin typeface="Arial"/>
                <a:cs typeface="Arial"/>
              </a:rPr>
              <a:t>computing</a:t>
            </a:r>
            <a:endParaRPr sz="1400" dirty="0">
              <a:latin typeface="Arial"/>
              <a:cs typeface="Arial"/>
            </a:endParaRPr>
          </a:p>
        </p:txBody>
      </p:sp>
      <p:sp>
        <p:nvSpPr>
          <p:cNvPr id="5" name="object 5"/>
          <p:cNvSpPr txBox="1"/>
          <p:nvPr/>
        </p:nvSpPr>
        <p:spPr>
          <a:xfrm>
            <a:off x="279095" y="876780"/>
            <a:ext cx="4020185" cy="1738630"/>
          </a:xfrm>
          <a:prstGeom prst="rect">
            <a:avLst/>
          </a:prstGeom>
        </p:spPr>
        <p:txBody>
          <a:bodyPr vert="horz" wrap="square" lIns="0" tIns="12065" rIns="0" bIns="0" rtlCol="0">
            <a:spAutoFit/>
          </a:bodyPr>
          <a:lstStyle/>
          <a:p>
            <a:pPr marL="76200">
              <a:lnSpc>
                <a:spcPct val="100000"/>
              </a:lnSpc>
              <a:spcBef>
                <a:spcPts val="95"/>
              </a:spcBef>
            </a:pPr>
            <a:r>
              <a:rPr sz="1200" spc="-5" dirty="0">
                <a:solidFill>
                  <a:srgbClr val="3333B2"/>
                </a:solidFill>
                <a:latin typeface="Arial"/>
                <a:cs typeface="Arial"/>
              </a:rPr>
              <a:t>Three</a:t>
            </a:r>
            <a:r>
              <a:rPr sz="1200" spc="-15" dirty="0">
                <a:solidFill>
                  <a:srgbClr val="3333B2"/>
                </a:solidFill>
                <a:latin typeface="Arial"/>
                <a:cs typeface="Arial"/>
              </a:rPr>
              <a:t> </a:t>
            </a:r>
            <a:r>
              <a:rPr sz="1200" spc="-5" dirty="0">
                <a:solidFill>
                  <a:srgbClr val="3333B2"/>
                </a:solidFill>
                <a:latin typeface="Arial"/>
                <a:cs typeface="Arial"/>
              </a:rPr>
              <a:t>types</a:t>
            </a:r>
            <a:r>
              <a:rPr sz="1200" spc="-10" dirty="0">
                <a:solidFill>
                  <a:srgbClr val="3333B2"/>
                </a:solidFill>
                <a:latin typeface="Arial"/>
                <a:cs typeface="Arial"/>
              </a:rPr>
              <a:t> </a:t>
            </a:r>
            <a:r>
              <a:rPr sz="1200" spc="-5" dirty="0">
                <a:solidFill>
                  <a:srgbClr val="3333B2"/>
                </a:solidFill>
                <a:latin typeface="Arial"/>
                <a:cs typeface="Arial"/>
              </a:rPr>
              <a:t>of</a:t>
            </a:r>
            <a:r>
              <a:rPr sz="1200" spc="-15" dirty="0">
                <a:solidFill>
                  <a:srgbClr val="3333B2"/>
                </a:solidFill>
                <a:latin typeface="Arial"/>
                <a:cs typeface="Arial"/>
              </a:rPr>
              <a:t> </a:t>
            </a:r>
            <a:r>
              <a:rPr sz="1200" spc="-5" dirty="0">
                <a:solidFill>
                  <a:srgbClr val="3333B2"/>
                </a:solidFill>
                <a:latin typeface="Arial"/>
                <a:cs typeface="Arial"/>
              </a:rPr>
              <a:t>cloud</a:t>
            </a:r>
            <a:r>
              <a:rPr sz="1200" spc="-10" dirty="0">
                <a:solidFill>
                  <a:srgbClr val="3333B2"/>
                </a:solidFill>
                <a:latin typeface="Arial"/>
                <a:cs typeface="Arial"/>
              </a:rPr>
              <a:t> </a:t>
            </a:r>
            <a:r>
              <a:rPr sz="1200" dirty="0">
                <a:solidFill>
                  <a:srgbClr val="3333B2"/>
                </a:solidFill>
                <a:latin typeface="Arial"/>
                <a:cs typeface="Arial"/>
              </a:rPr>
              <a:t>services</a:t>
            </a:r>
            <a:endParaRPr sz="1200" dirty="0">
              <a:latin typeface="Arial"/>
              <a:cs typeface="Arial"/>
            </a:endParaRPr>
          </a:p>
          <a:p>
            <a:pPr marL="357505" indent="-168275">
              <a:lnSpc>
                <a:spcPts val="1200"/>
              </a:lnSpc>
              <a:spcBef>
                <a:spcPts val="780"/>
              </a:spcBef>
              <a:buClr>
                <a:srgbClr val="3333B2"/>
              </a:buClr>
              <a:buChar char="►"/>
              <a:tabLst>
                <a:tab pos="358140" algn="l"/>
              </a:tabLst>
            </a:pPr>
            <a:r>
              <a:rPr sz="1000" spc="-5" dirty="0">
                <a:solidFill>
                  <a:srgbClr val="FA0000"/>
                </a:solidFill>
                <a:latin typeface="Arial"/>
                <a:cs typeface="Arial"/>
              </a:rPr>
              <a:t>Infrastructure-as-a-Service</a:t>
            </a:r>
            <a:r>
              <a:rPr sz="1000" spc="15" dirty="0">
                <a:solidFill>
                  <a:srgbClr val="FA0000"/>
                </a:solidFill>
                <a:latin typeface="Arial"/>
                <a:cs typeface="Arial"/>
              </a:rPr>
              <a:t> </a:t>
            </a:r>
            <a:r>
              <a:rPr sz="1000" spc="-10" dirty="0">
                <a:latin typeface="Arial"/>
                <a:cs typeface="Arial"/>
              </a:rPr>
              <a:t>covering</a:t>
            </a:r>
            <a:r>
              <a:rPr sz="1000" spc="20" dirty="0">
                <a:latin typeface="Arial"/>
                <a:cs typeface="Arial"/>
              </a:rPr>
              <a:t> </a:t>
            </a:r>
            <a:r>
              <a:rPr sz="1000" spc="-5" dirty="0">
                <a:latin typeface="Arial"/>
                <a:cs typeface="Arial"/>
              </a:rPr>
              <a:t>the</a:t>
            </a:r>
            <a:r>
              <a:rPr sz="1000" spc="20" dirty="0">
                <a:latin typeface="Arial"/>
                <a:cs typeface="Arial"/>
              </a:rPr>
              <a:t> </a:t>
            </a:r>
            <a:r>
              <a:rPr sz="1000" spc="-5" dirty="0">
                <a:latin typeface="Arial"/>
                <a:cs typeface="Arial"/>
              </a:rPr>
              <a:t>basic</a:t>
            </a:r>
            <a:r>
              <a:rPr sz="1000" spc="15" dirty="0">
                <a:latin typeface="Arial"/>
                <a:cs typeface="Arial"/>
              </a:rPr>
              <a:t> </a:t>
            </a:r>
            <a:r>
              <a:rPr sz="1000" spc="-5" dirty="0">
                <a:latin typeface="Arial"/>
                <a:cs typeface="Arial"/>
              </a:rPr>
              <a:t>infrastructure</a:t>
            </a:r>
            <a:endParaRPr sz="1000" dirty="0">
              <a:latin typeface="Arial"/>
              <a:cs typeface="Arial"/>
            </a:endParaRPr>
          </a:p>
          <a:p>
            <a:pPr marL="357505" indent="-168275">
              <a:lnSpc>
                <a:spcPts val="1195"/>
              </a:lnSpc>
              <a:buClr>
                <a:srgbClr val="3333B2"/>
              </a:buClr>
              <a:buChar char="►"/>
              <a:tabLst>
                <a:tab pos="358140" algn="l"/>
              </a:tabLst>
            </a:pPr>
            <a:r>
              <a:rPr sz="1000" spc="-5" dirty="0">
                <a:solidFill>
                  <a:srgbClr val="FA0000"/>
                </a:solidFill>
                <a:latin typeface="Arial"/>
                <a:cs typeface="Arial"/>
              </a:rPr>
              <a:t>Platform-as-a-Service</a:t>
            </a:r>
            <a:r>
              <a:rPr sz="1000" spc="10" dirty="0">
                <a:solidFill>
                  <a:srgbClr val="FA0000"/>
                </a:solidFill>
                <a:latin typeface="Arial"/>
                <a:cs typeface="Arial"/>
              </a:rPr>
              <a:t> </a:t>
            </a:r>
            <a:r>
              <a:rPr sz="1000" spc="-10" dirty="0">
                <a:latin typeface="Arial"/>
                <a:cs typeface="Arial"/>
              </a:rPr>
              <a:t>covering</a:t>
            </a:r>
            <a:r>
              <a:rPr sz="1000" spc="10" dirty="0">
                <a:latin typeface="Arial"/>
                <a:cs typeface="Arial"/>
              </a:rPr>
              <a:t> </a:t>
            </a:r>
            <a:r>
              <a:rPr sz="1000" spc="-10" dirty="0">
                <a:latin typeface="Arial"/>
                <a:cs typeface="Arial"/>
              </a:rPr>
              <a:t>system-level</a:t>
            </a:r>
            <a:r>
              <a:rPr sz="1000" spc="15" dirty="0">
                <a:latin typeface="Arial"/>
                <a:cs typeface="Arial"/>
              </a:rPr>
              <a:t> </a:t>
            </a:r>
            <a:r>
              <a:rPr sz="1000" dirty="0">
                <a:latin typeface="Arial"/>
                <a:cs typeface="Arial"/>
              </a:rPr>
              <a:t>services</a:t>
            </a:r>
          </a:p>
          <a:p>
            <a:pPr marL="357505" indent="-168275">
              <a:lnSpc>
                <a:spcPts val="1200"/>
              </a:lnSpc>
              <a:buClr>
                <a:srgbClr val="3333B2"/>
              </a:buClr>
              <a:buChar char="►"/>
              <a:tabLst>
                <a:tab pos="358140" algn="l"/>
              </a:tabLst>
            </a:pPr>
            <a:r>
              <a:rPr sz="1000" spc="-5" dirty="0">
                <a:solidFill>
                  <a:srgbClr val="FA0000"/>
                </a:solidFill>
                <a:latin typeface="Arial"/>
                <a:cs typeface="Arial"/>
              </a:rPr>
              <a:t>Software-as-a-Service</a:t>
            </a:r>
            <a:r>
              <a:rPr sz="1000" spc="10" dirty="0">
                <a:solidFill>
                  <a:srgbClr val="FA0000"/>
                </a:solidFill>
                <a:latin typeface="Arial"/>
                <a:cs typeface="Arial"/>
              </a:rPr>
              <a:t> </a:t>
            </a:r>
            <a:r>
              <a:rPr sz="1000" spc="-5" dirty="0">
                <a:latin typeface="Arial"/>
                <a:cs typeface="Arial"/>
              </a:rPr>
              <a:t>containing</a:t>
            </a:r>
            <a:r>
              <a:rPr sz="1000" spc="10" dirty="0">
                <a:latin typeface="Arial"/>
                <a:cs typeface="Arial"/>
              </a:rPr>
              <a:t> </a:t>
            </a:r>
            <a:r>
              <a:rPr sz="1000" spc="-5" dirty="0">
                <a:latin typeface="Arial"/>
                <a:cs typeface="Arial"/>
              </a:rPr>
              <a:t>actual</a:t>
            </a:r>
            <a:r>
              <a:rPr sz="1000" spc="10" dirty="0">
                <a:latin typeface="Arial"/>
                <a:cs typeface="Arial"/>
              </a:rPr>
              <a:t> </a:t>
            </a:r>
            <a:r>
              <a:rPr sz="1000" spc="-5" dirty="0">
                <a:latin typeface="Arial"/>
                <a:cs typeface="Arial"/>
              </a:rPr>
              <a:t>applications</a:t>
            </a:r>
            <a:endParaRPr sz="1000" dirty="0">
              <a:latin typeface="Arial"/>
              <a:cs typeface="Arial"/>
            </a:endParaRPr>
          </a:p>
          <a:p>
            <a:pPr>
              <a:lnSpc>
                <a:spcPct val="100000"/>
              </a:lnSpc>
              <a:spcBef>
                <a:spcPts val="15"/>
              </a:spcBef>
            </a:pPr>
            <a:endParaRPr sz="1300" dirty="0">
              <a:latin typeface="Arial"/>
              <a:cs typeface="Arial"/>
            </a:endParaRPr>
          </a:p>
          <a:p>
            <a:pPr marL="80645">
              <a:lnSpc>
                <a:spcPts val="1410"/>
              </a:lnSpc>
            </a:pPr>
            <a:r>
              <a:rPr sz="1200" spc="-5" dirty="0">
                <a:solidFill>
                  <a:srgbClr val="FA0000"/>
                </a:solidFill>
                <a:latin typeface="Arial"/>
                <a:cs typeface="Arial"/>
              </a:rPr>
              <a:t>IaaS</a:t>
            </a:r>
            <a:endParaRPr sz="1200" dirty="0">
              <a:latin typeface="Arial"/>
              <a:cs typeface="Arial"/>
            </a:endParaRPr>
          </a:p>
          <a:p>
            <a:pPr marL="76200" marR="43180" indent="3810">
              <a:lnSpc>
                <a:spcPts val="1200"/>
              </a:lnSpc>
              <a:spcBef>
                <a:spcPts val="10"/>
              </a:spcBef>
            </a:pPr>
            <a:r>
              <a:rPr sz="1000" spc="-10" dirty="0">
                <a:latin typeface="Arial"/>
                <a:cs typeface="Arial"/>
              </a:rPr>
              <a:t>Instead</a:t>
            </a:r>
            <a:r>
              <a:rPr sz="1000" spc="-5" dirty="0">
                <a:latin typeface="Arial"/>
                <a:cs typeface="Arial"/>
              </a:rPr>
              <a:t> </a:t>
            </a:r>
            <a:r>
              <a:rPr sz="1000" spc="-10" dirty="0">
                <a:latin typeface="Arial"/>
                <a:cs typeface="Arial"/>
              </a:rPr>
              <a:t>of</a:t>
            </a:r>
            <a:r>
              <a:rPr sz="1000" spc="-5" dirty="0">
                <a:latin typeface="Arial"/>
                <a:cs typeface="Arial"/>
              </a:rPr>
              <a:t> </a:t>
            </a:r>
            <a:r>
              <a:rPr sz="1000" spc="-10" dirty="0">
                <a:latin typeface="Arial"/>
                <a:cs typeface="Arial"/>
              </a:rPr>
              <a:t>renting</a:t>
            </a:r>
            <a:r>
              <a:rPr sz="1000" dirty="0">
                <a:latin typeface="Arial"/>
                <a:cs typeface="Arial"/>
              </a:rPr>
              <a:t> </a:t>
            </a:r>
            <a:r>
              <a:rPr sz="1000" spc="-10" dirty="0">
                <a:latin typeface="Arial"/>
                <a:cs typeface="Arial"/>
              </a:rPr>
              <a:t>out</a:t>
            </a:r>
            <a:r>
              <a:rPr sz="1000" spc="-5" dirty="0">
                <a:latin typeface="Arial"/>
                <a:cs typeface="Arial"/>
              </a:rPr>
              <a:t> </a:t>
            </a:r>
            <a:r>
              <a:rPr sz="1000" spc="-10" dirty="0">
                <a:latin typeface="Arial"/>
                <a:cs typeface="Arial"/>
              </a:rPr>
              <a:t>a</a:t>
            </a:r>
            <a:r>
              <a:rPr sz="1000" dirty="0">
                <a:latin typeface="Arial"/>
                <a:cs typeface="Arial"/>
              </a:rPr>
              <a:t> </a:t>
            </a:r>
            <a:r>
              <a:rPr sz="1000" spc="-15" dirty="0">
                <a:latin typeface="Arial"/>
                <a:cs typeface="Arial"/>
              </a:rPr>
              <a:t>physical</a:t>
            </a:r>
            <a:r>
              <a:rPr sz="1000" spc="-5" dirty="0">
                <a:latin typeface="Arial"/>
                <a:cs typeface="Arial"/>
              </a:rPr>
              <a:t> </a:t>
            </a:r>
            <a:r>
              <a:rPr sz="1000" spc="-15" dirty="0">
                <a:latin typeface="Arial"/>
                <a:cs typeface="Arial"/>
              </a:rPr>
              <a:t>machine,</a:t>
            </a:r>
            <a:r>
              <a:rPr sz="1000" dirty="0">
                <a:latin typeface="Arial"/>
                <a:cs typeface="Arial"/>
              </a:rPr>
              <a:t> </a:t>
            </a:r>
            <a:r>
              <a:rPr sz="1000" spc="-10" dirty="0">
                <a:latin typeface="Arial"/>
                <a:cs typeface="Arial"/>
              </a:rPr>
              <a:t>a</a:t>
            </a:r>
            <a:r>
              <a:rPr sz="1000" spc="-5" dirty="0">
                <a:latin typeface="Arial"/>
                <a:cs typeface="Arial"/>
              </a:rPr>
              <a:t> </a:t>
            </a:r>
            <a:r>
              <a:rPr sz="1000" spc="-10" dirty="0">
                <a:latin typeface="Arial"/>
                <a:cs typeface="Arial"/>
              </a:rPr>
              <a:t>cloud</a:t>
            </a:r>
            <a:r>
              <a:rPr sz="1000" dirty="0">
                <a:latin typeface="Arial"/>
                <a:cs typeface="Arial"/>
              </a:rPr>
              <a:t> </a:t>
            </a:r>
            <a:r>
              <a:rPr sz="1000" spc="-10" dirty="0">
                <a:latin typeface="Arial"/>
                <a:cs typeface="Arial"/>
              </a:rPr>
              <a:t>provider</a:t>
            </a:r>
            <a:r>
              <a:rPr sz="1000" spc="-5" dirty="0">
                <a:latin typeface="Arial"/>
                <a:cs typeface="Arial"/>
              </a:rPr>
              <a:t> </a:t>
            </a:r>
            <a:r>
              <a:rPr sz="1000" spc="-10" dirty="0">
                <a:latin typeface="Arial"/>
                <a:cs typeface="Arial"/>
              </a:rPr>
              <a:t>will</a:t>
            </a:r>
            <a:r>
              <a:rPr sz="1000" spc="-5" dirty="0">
                <a:latin typeface="Arial"/>
                <a:cs typeface="Arial"/>
              </a:rPr>
              <a:t> </a:t>
            </a:r>
            <a:r>
              <a:rPr sz="1000" spc="-10" dirty="0">
                <a:latin typeface="Arial"/>
                <a:cs typeface="Arial"/>
              </a:rPr>
              <a:t>rent</a:t>
            </a:r>
            <a:r>
              <a:rPr sz="1000" dirty="0">
                <a:latin typeface="Arial"/>
                <a:cs typeface="Arial"/>
              </a:rPr>
              <a:t> </a:t>
            </a:r>
            <a:r>
              <a:rPr sz="1000" spc="-10" dirty="0">
                <a:latin typeface="Arial"/>
                <a:cs typeface="Arial"/>
              </a:rPr>
              <a:t>out </a:t>
            </a:r>
            <a:r>
              <a:rPr sz="1000" spc="-265" dirty="0">
                <a:latin typeface="Arial"/>
                <a:cs typeface="Arial"/>
              </a:rPr>
              <a:t> </a:t>
            </a:r>
            <a:r>
              <a:rPr sz="1000" spc="-5" dirty="0">
                <a:latin typeface="Arial"/>
                <a:cs typeface="Arial"/>
              </a:rPr>
              <a:t>a VM</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VMM)</a:t>
            </a:r>
            <a:r>
              <a:rPr sz="1000" dirty="0">
                <a:latin typeface="Arial"/>
                <a:cs typeface="Arial"/>
              </a:rPr>
              <a:t> </a:t>
            </a:r>
            <a:r>
              <a:rPr sz="1000" spc="-5" dirty="0">
                <a:latin typeface="Arial"/>
                <a:cs typeface="Arial"/>
              </a:rPr>
              <a:t>that</a:t>
            </a:r>
            <a:r>
              <a:rPr sz="1000" dirty="0">
                <a:latin typeface="Arial"/>
                <a:cs typeface="Arial"/>
              </a:rPr>
              <a:t> </a:t>
            </a:r>
            <a:r>
              <a:rPr sz="1000" spc="-15" dirty="0">
                <a:latin typeface="Arial"/>
                <a:cs typeface="Arial"/>
              </a:rPr>
              <a:t>may</a:t>
            </a:r>
            <a:r>
              <a:rPr sz="1000" dirty="0">
                <a:latin typeface="Arial"/>
                <a:cs typeface="Arial"/>
              </a:rPr>
              <a:t> </a:t>
            </a:r>
            <a:r>
              <a:rPr sz="1000" spc="-5" dirty="0">
                <a:latin typeface="Arial"/>
                <a:cs typeface="Arial"/>
              </a:rPr>
              <a:t>possibly</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sharing</a:t>
            </a:r>
            <a:r>
              <a:rPr sz="1000" dirty="0">
                <a:latin typeface="Arial"/>
                <a:cs typeface="Arial"/>
              </a:rPr>
              <a:t> </a:t>
            </a:r>
            <a:r>
              <a:rPr sz="1000" spc="-5" dirty="0">
                <a:latin typeface="Arial"/>
                <a:cs typeface="Arial"/>
              </a:rPr>
              <a:t>a</a:t>
            </a:r>
            <a:r>
              <a:rPr sz="1000" dirty="0">
                <a:latin typeface="Arial"/>
                <a:cs typeface="Arial"/>
              </a:rPr>
              <a:t> </a:t>
            </a:r>
            <a:r>
              <a:rPr sz="1000" spc="-10" dirty="0">
                <a:latin typeface="Arial"/>
                <a:cs typeface="Arial"/>
              </a:rPr>
              <a:t>physical</a:t>
            </a:r>
            <a:r>
              <a:rPr sz="1000" dirty="0">
                <a:latin typeface="Arial"/>
                <a:cs typeface="Arial"/>
              </a:rPr>
              <a:t> </a:t>
            </a:r>
            <a:r>
              <a:rPr sz="1000" spc="-5" dirty="0">
                <a:latin typeface="Arial"/>
                <a:cs typeface="Arial"/>
              </a:rPr>
              <a:t>machine</a:t>
            </a:r>
            <a:r>
              <a:rPr sz="1000" dirty="0">
                <a:latin typeface="Arial"/>
                <a:cs typeface="Arial"/>
              </a:rPr>
              <a:t> </a:t>
            </a:r>
            <a:r>
              <a:rPr sz="1000" spc="-5" dirty="0">
                <a:latin typeface="Arial"/>
                <a:cs typeface="Arial"/>
              </a:rPr>
              <a:t>with </a:t>
            </a:r>
            <a:r>
              <a:rPr sz="1000" dirty="0">
                <a:latin typeface="Arial"/>
                <a:cs typeface="Arial"/>
              </a:rPr>
              <a:t> </a:t>
            </a:r>
            <a:r>
              <a:rPr sz="1000" spc="-5" dirty="0">
                <a:latin typeface="Arial"/>
                <a:cs typeface="Arial"/>
              </a:rPr>
              <a:t>other customers </a:t>
            </a:r>
            <a:r>
              <a:rPr sz="1000" i="1" spc="-5" dirty="0">
                <a:latin typeface="メイリオ"/>
                <a:cs typeface="メイリオ"/>
              </a:rPr>
              <a:t>⇒ </a:t>
            </a:r>
            <a:r>
              <a:rPr sz="1000" spc="-5" dirty="0">
                <a:latin typeface="Arial"/>
                <a:cs typeface="Arial"/>
              </a:rPr>
              <a:t>almost complete isolation between customers </a:t>
            </a:r>
            <a:r>
              <a:rPr sz="1000" dirty="0">
                <a:latin typeface="Arial"/>
                <a:cs typeface="Arial"/>
              </a:rPr>
              <a:t> </a:t>
            </a:r>
            <a:r>
              <a:rPr sz="1000" spc="-5" dirty="0">
                <a:latin typeface="Arial"/>
                <a:cs typeface="Arial"/>
              </a:rPr>
              <a:t>(although performance isolation </a:t>
            </a:r>
            <a:r>
              <a:rPr sz="1000" spc="-15" dirty="0">
                <a:latin typeface="Arial"/>
                <a:cs typeface="Arial"/>
              </a:rPr>
              <a:t>may</a:t>
            </a:r>
            <a:r>
              <a:rPr sz="1000" spc="-5" dirty="0">
                <a:latin typeface="Arial"/>
                <a:cs typeface="Arial"/>
              </a:rPr>
              <a:t> not</a:t>
            </a:r>
            <a:r>
              <a:rPr sz="1000" dirty="0">
                <a:latin typeface="Arial"/>
                <a:cs typeface="Arial"/>
              </a:rPr>
              <a:t> </a:t>
            </a:r>
            <a:r>
              <a:rPr sz="1000" spc="-5" dirty="0">
                <a:latin typeface="Arial"/>
                <a:cs typeface="Arial"/>
              </a:rPr>
              <a:t>be reached).</a:t>
            </a:r>
            <a:endParaRPr sz="1000" dirty="0">
              <a:latin typeface="Arial"/>
              <a:cs typeface="Arial"/>
            </a:endParaRP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6731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Clients</a:t>
            </a:r>
            <a:endParaRPr sz="600">
              <a:latin typeface="Arial"/>
              <a:cs typeface="Arial"/>
            </a:endParaRPr>
          </a:p>
        </p:txBody>
      </p:sp>
      <p:sp>
        <p:nvSpPr>
          <p:cNvPr id="3" name="object 3"/>
          <p:cNvSpPr txBox="1"/>
          <p:nvPr/>
        </p:nvSpPr>
        <p:spPr>
          <a:xfrm>
            <a:off x="3637572" y="716"/>
            <a:ext cx="9042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Networked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user</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interfaces</a:t>
            </a:r>
            <a:endParaRPr sz="600">
              <a:latin typeface="Arial"/>
              <a:cs typeface="Arial"/>
            </a:endParaRPr>
          </a:p>
        </p:txBody>
      </p:sp>
      <p:sp>
        <p:nvSpPr>
          <p:cNvPr id="4" name="object 4"/>
          <p:cNvSpPr txBox="1"/>
          <p:nvPr/>
        </p:nvSpPr>
        <p:spPr>
          <a:xfrm>
            <a:off x="95300" y="188846"/>
            <a:ext cx="1948180"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Client-server</a:t>
            </a:r>
            <a:r>
              <a:rPr sz="1400" spc="-65" dirty="0">
                <a:solidFill>
                  <a:srgbClr val="3333B2"/>
                </a:solidFill>
                <a:latin typeface="Arial"/>
                <a:cs typeface="Arial"/>
              </a:rPr>
              <a:t> </a:t>
            </a:r>
            <a:r>
              <a:rPr sz="1400" spc="10" dirty="0">
                <a:solidFill>
                  <a:srgbClr val="3333B2"/>
                </a:solidFill>
                <a:latin typeface="Arial"/>
                <a:cs typeface="Arial"/>
              </a:rPr>
              <a:t>interaction</a:t>
            </a:r>
            <a:endParaRPr sz="1400" dirty="0">
              <a:latin typeface="Arial"/>
              <a:cs typeface="Arial"/>
            </a:endParaRPr>
          </a:p>
        </p:txBody>
      </p:sp>
      <p:sp>
        <p:nvSpPr>
          <p:cNvPr id="5" name="object 5"/>
          <p:cNvSpPr txBox="1"/>
          <p:nvPr/>
        </p:nvSpPr>
        <p:spPr>
          <a:xfrm>
            <a:off x="347294" y="885759"/>
            <a:ext cx="3913504" cy="207645"/>
          </a:xfrm>
          <a:prstGeom prst="rect">
            <a:avLst/>
          </a:prstGeom>
        </p:spPr>
        <p:txBody>
          <a:bodyPr vert="horz" wrap="square" lIns="0" tIns="12065" rIns="0" bIns="0" rtlCol="0">
            <a:spAutoFit/>
          </a:bodyPr>
          <a:lstStyle/>
          <a:p>
            <a:pPr marL="12700">
              <a:lnSpc>
                <a:spcPct val="100000"/>
              </a:lnSpc>
              <a:spcBef>
                <a:spcPts val="95"/>
              </a:spcBef>
            </a:pPr>
            <a:r>
              <a:rPr sz="1200" spc="-15" dirty="0">
                <a:solidFill>
                  <a:srgbClr val="3333B2"/>
                </a:solidFill>
                <a:latin typeface="Arial"/>
                <a:cs typeface="Arial"/>
              </a:rPr>
              <a:t>Distinguish</a:t>
            </a:r>
            <a:r>
              <a:rPr sz="1200" spc="10" dirty="0">
                <a:solidFill>
                  <a:srgbClr val="3333B2"/>
                </a:solidFill>
                <a:latin typeface="Arial"/>
                <a:cs typeface="Arial"/>
              </a:rPr>
              <a:t> </a:t>
            </a:r>
            <a:r>
              <a:rPr sz="1200" spc="-20" dirty="0">
                <a:solidFill>
                  <a:srgbClr val="3333B2"/>
                </a:solidFill>
                <a:latin typeface="Arial"/>
                <a:cs typeface="Arial"/>
              </a:rPr>
              <a:t>application-level</a:t>
            </a:r>
            <a:r>
              <a:rPr sz="1200" spc="10" dirty="0">
                <a:solidFill>
                  <a:srgbClr val="3333B2"/>
                </a:solidFill>
                <a:latin typeface="Arial"/>
                <a:cs typeface="Arial"/>
              </a:rPr>
              <a:t> </a:t>
            </a:r>
            <a:r>
              <a:rPr sz="1200" spc="-20" dirty="0">
                <a:solidFill>
                  <a:srgbClr val="3333B2"/>
                </a:solidFill>
                <a:latin typeface="Arial"/>
                <a:cs typeface="Arial"/>
              </a:rPr>
              <a:t>and</a:t>
            </a:r>
            <a:r>
              <a:rPr sz="1200" spc="10" dirty="0">
                <a:solidFill>
                  <a:srgbClr val="3333B2"/>
                </a:solidFill>
                <a:latin typeface="Arial"/>
                <a:cs typeface="Arial"/>
              </a:rPr>
              <a:t> </a:t>
            </a:r>
            <a:r>
              <a:rPr sz="1200" spc="-25" dirty="0">
                <a:solidFill>
                  <a:srgbClr val="3333B2"/>
                </a:solidFill>
                <a:latin typeface="Arial"/>
                <a:cs typeface="Arial"/>
              </a:rPr>
              <a:t>middleware-level</a:t>
            </a:r>
            <a:r>
              <a:rPr sz="1200" spc="10" dirty="0">
                <a:solidFill>
                  <a:srgbClr val="3333B2"/>
                </a:solidFill>
                <a:latin typeface="Arial"/>
                <a:cs typeface="Arial"/>
              </a:rPr>
              <a:t> </a:t>
            </a:r>
            <a:r>
              <a:rPr sz="1200" spc="-15" dirty="0">
                <a:solidFill>
                  <a:srgbClr val="3333B2"/>
                </a:solidFill>
                <a:latin typeface="Arial"/>
                <a:cs typeface="Arial"/>
              </a:rPr>
              <a:t>solutions</a:t>
            </a:r>
            <a:endParaRPr sz="1200" dirty="0">
              <a:latin typeface="Arial"/>
              <a:cs typeface="Arial"/>
            </a:endParaRPr>
          </a:p>
        </p:txBody>
      </p:sp>
      <p:grpSp>
        <p:nvGrpSpPr>
          <p:cNvPr id="6" name="object 6"/>
          <p:cNvGrpSpPr/>
          <p:nvPr/>
        </p:nvGrpSpPr>
        <p:grpSpPr>
          <a:xfrm>
            <a:off x="365187" y="1468624"/>
            <a:ext cx="1856105" cy="859790"/>
            <a:chOff x="365187" y="1468624"/>
            <a:chExt cx="1856105" cy="859790"/>
          </a:xfrm>
        </p:grpSpPr>
        <p:sp>
          <p:nvSpPr>
            <p:cNvPr id="7" name="object 7"/>
            <p:cNvSpPr/>
            <p:nvPr/>
          </p:nvSpPr>
          <p:spPr>
            <a:xfrm>
              <a:off x="792253" y="1774942"/>
              <a:ext cx="1002030" cy="490220"/>
            </a:xfrm>
            <a:custGeom>
              <a:avLst/>
              <a:gdLst/>
              <a:ahLst/>
              <a:cxnLst/>
              <a:rect l="l" t="t" r="r" b="b"/>
              <a:pathLst>
                <a:path w="1002030" h="490219">
                  <a:moveTo>
                    <a:pt x="0" y="0"/>
                  </a:moveTo>
                  <a:lnTo>
                    <a:pt x="0" y="384285"/>
                  </a:lnTo>
                  <a:lnTo>
                    <a:pt x="15627" y="445230"/>
                  </a:lnTo>
                  <a:lnTo>
                    <a:pt x="50008" y="476526"/>
                  </a:lnTo>
                  <a:lnTo>
                    <a:pt x="84388" y="488056"/>
                  </a:lnTo>
                  <a:lnTo>
                    <a:pt x="100016" y="489703"/>
                  </a:lnTo>
                  <a:lnTo>
                    <a:pt x="900144" y="489703"/>
                  </a:lnTo>
                  <a:lnTo>
                    <a:pt x="958171" y="473231"/>
                  </a:lnTo>
                  <a:lnTo>
                    <a:pt x="988308" y="436994"/>
                  </a:lnTo>
                  <a:lnTo>
                    <a:pt x="999690" y="400757"/>
                  </a:lnTo>
                  <a:lnTo>
                    <a:pt x="1001453" y="384285"/>
                  </a:lnTo>
                  <a:lnTo>
                    <a:pt x="1001453" y="0"/>
                  </a:lnTo>
                </a:path>
              </a:pathLst>
            </a:custGeom>
            <a:ln w="5270">
              <a:solidFill>
                <a:srgbClr val="231F20"/>
              </a:solidFill>
              <a:prstDash val="lgDash"/>
            </a:ln>
          </p:spPr>
          <p:txBody>
            <a:bodyPr wrap="square" lIns="0" tIns="0" rIns="0" bIns="0" rtlCol="0"/>
            <a:lstStyle/>
            <a:p>
              <a:endParaRPr/>
            </a:p>
          </p:txBody>
        </p:sp>
        <p:pic>
          <p:nvPicPr>
            <p:cNvPr id="8" name="object 8"/>
            <p:cNvPicPr/>
            <p:nvPr/>
          </p:nvPicPr>
          <p:blipFill>
            <a:blip r:embed="rId5" cstate="print"/>
            <a:stretch>
              <a:fillRect/>
            </a:stretch>
          </p:blipFill>
          <p:spPr>
            <a:xfrm>
              <a:off x="760375" y="1737563"/>
              <a:ext cx="63753" cy="74376"/>
            </a:xfrm>
            <a:prstGeom prst="rect">
              <a:avLst/>
            </a:prstGeom>
          </p:spPr>
        </p:pic>
        <p:pic>
          <p:nvPicPr>
            <p:cNvPr id="9" name="object 9"/>
            <p:cNvPicPr/>
            <p:nvPr/>
          </p:nvPicPr>
          <p:blipFill>
            <a:blip r:embed="rId5" cstate="print"/>
            <a:stretch>
              <a:fillRect/>
            </a:stretch>
          </p:blipFill>
          <p:spPr>
            <a:xfrm>
              <a:off x="1761831" y="1737563"/>
              <a:ext cx="63751" cy="74376"/>
            </a:xfrm>
            <a:prstGeom prst="rect">
              <a:avLst/>
            </a:prstGeom>
          </p:spPr>
        </p:pic>
        <p:sp>
          <p:nvSpPr>
            <p:cNvPr id="10" name="object 10"/>
            <p:cNvSpPr/>
            <p:nvPr/>
          </p:nvSpPr>
          <p:spPr>
            <a:xfrm>
              <a:off x="987756" y="1632144"/>
              <a:ext cx="610870" cy="0"/>
            </a:xfrm>
            <a:custGeom>
              <a:avLst/>
              <a:gdLst/>
              <a:ahLst/>
              <a:cxnLst/>
              <a:rect l="l" t="t" r="r" b="b"/>
              <a:pathLst>
                <a:path w="610869">
                  <a:moveTo>
                    <a:pt x="0" y="0"/>
                  </a:moveTo>
                  <a:lnTo>
                    <a:pt x="610447" y="0"/>
                  </a:lnTo>
                </a:path>
              </a:pathLst>
            </a:custGeom>
            <a:ln w="5270">
              <a:solidFill>
                <a:srgbClr val="231F20"/>
              </a:solidFill>
            </a:ln>
          </p:spPr>
          <p:txBody>
            <a:bodyPr wrap="square" lIns="0" tIns="0" rIns="0" bIns="0" rtlCol="0"/>
            <a:lstStyle/>
            <a:p>
              <a:endParaRPr/>
            </a:p>
          </p:txBody>
        </p:sp>
        <p:pic>
          <p:nvPicPr>
            <p:cNvPr id="11" name="object 11"/>
            <p:cNvPicPr/>
            <p:nvPr/>
          </p:nvPicPr>
          <p:blipFill>
            <a:blip r:embed="rId6" cstate="print"/>
            <a:stretch>
              <a:fillRect/>
            </a:stretch>
          </p:blipFill>
          <p:spPr>
            <a:xfrm>
              <a:off x="950376" y="1600270"/>
              <a:ext cx="74376" cy="63751"/>
            </a:xfrm>
            <a:prstGeom prst="rect">
              <a:avLst/>
            </a:prstGeom>
          </p:spPr>
        </p:pic>
        <p:pic>
          <p:nvPicPr>
            <p:cNvPr id="12" name="object 12"/>
            <p:cNvPicPr/>
            <p:nvPr/>
          </p:nvPicPr>
          <p:blipFill>
            <a:blip r:embed="rId7" cstate="print"/>
            <a:stretch>
              <a:fillRect/>
            </a:stretch>
          </p:blipFill>
          <p:spPr>
            <a:xfrm>
              <a:off x="1561204" y="1600270"/>
              <a:ext cx="74377" cy="63751"/>
            </a:xfrm>
            <a:prstGeom prst="rect">
              <a:avLst/>
            </a:prstGeom>
          </p:spPr>
        </p:pic>
        <p:sp>
          <p:nvSpPr>
            <p:cNvPr id="13" name="object 13"/>
            <p:cNvSpPr/>
            <p:nvPr/>
          </p:nvSpPr>
          <p:spPr>
            <a:xfrm>
              <a:off x="370584" y="1474022"/>
              <a:ext cx="1845310" cy="685800"/>
            </a:xfrm>
            <a:custGeom>
              <a:avLst/>
              <a:gdLst/>
              <a:ahLst/>
              <a:cxnLst/>
              <a:rect l="l" t="t" r="r" b="b"/>
              <a:pathLst>
                <a:path w="1845310" h="685800">
                  <a:moveTo>
                    <a:pt x="0" y="685206"/>
                  </a:moveTo>
                  <a:lnTo>
                    <a:pt x="632501" y="685206"/>
                  </a:lnTo>
                  <a:lnTo>
                    <a:pt x="632501" y="0"/>
                  </a:lnTo>
                  <a:lnTo>
                    <a:pt x="0" y="0"/>
                  </a:lnTo>
                  <a:lnTo>
                    <a:pt x="0" y="685206"/>
                  </a:lnTo>
                  <a:close/>
                </a:path>
                <a:path w="1845310" h="685800">
                  <a:moveTo>
                    <a:pt x="1212292" y="685206"/>
                  </a:moveTo>
                  <a:lnTo>
                    <a:pt x="1844793" y="685206"/>
                  </a:lnTo>
                  <a:lnTo>
                    <a:pt x="1844793" y="0"/>
                  </a:lnTo>
                  <a:lnTo>
                    <a:pt x="1212292" y="0"/>
                  </a:lnTo>
                  <a:lnTo>
                    <a:pt x="1212292" y="685206"/>
                  </a:lnTo>
                  <a:close/>
                </a:path>
              </a:pathLst>
            </a:custGeom>
            <a:ln w="10541">
              <a:solidFill>
                <a:srgbClr val="231F20"/>
              </a:solidFill>
            </a:ln>
          </p:spPr>
          <p:txBody>
            <a:bodyPr wrap="square" lIns="0" tIns="0" rIns="0" bIns="0" rtlCol="0"/>
            <a:lstStyle/>
            <a:p>
              <a:endParaRPr/>
            </a:p>
          </p:txBody>
        </p:sp>
        <p:sp>
          <p:nvSpPr>
            <p:cNvPr id="14" name="object 14"/>
            <p:cNvSpPr/>
            <p:nvPr/>
          </p:nvSpPr>
          <p:spPr>
            <a:xfrm>
              <a:off x="581417" y="2159224"/>
              <a:ext cx="1476375" cy="158750"/>
            </a:xfrm>
            <a:custGeom>
              <a:avLst/>
              <a:gdLst/>
              <a:ahLst/>
              <a:cxnLst/>
              <a:rect l="l" t="t" r="r" b="b"/>
              <a:pathLst>
                <a:path w="1476375" h="158750">
                  <a:moveTo>
                    <a:pt x="105417" y="4"/>
                  </a:moveTo>
                  <a:lnTo>
                    <a:pt x="105417" y="158130"/>
                  </a:lnTo>
                </a:path>
                <a:path w="1476375" h="158750">
                  <a:moveTo>
                    <a:pt x="1370415" y="0"/>
                  </a:moveTo>
                  <a:lnTo>
                    <a:pt x="1370415" y="158122"/>
                  </a:lnTo>
                </a:path>
                <a:path w="1476375" h="158750">
                  <a:moveTo>
                    <a:pt x="0" y="158130"/>
                  </a:moveTo>
                  <a:lnTo>
                    <a:pt x="210835" y="158130"/>
                  </a:lnTo>
                </a:path>
                <a:path w="1476375" h="158750">
                  <a:moveTo>
                    <a:pt x="1265005" y="158122"/>
                  </a:moveTo>
                  <a:lnTo>
                    <a:pt x="1475835" y="158122"/>
                  </a:lnTo>
                </a:path>
              </a:pathLst>
            </a:custGeom>
            <a:ln w="21083">
              <a:solidFill>
                <a:srgbClr val="231F20"/>
              </a:solidFill>
            </a:ln>
          </p:spPr>
          <p:txBody>
            <a:bodyPr wrap="square" lIns="0" tIns="0" rIns="0" bIns="0" rtlCol="0"/>
            <a:lstStyle/>
            <a:p>
              <a:endParaRPr/>
            </a:p>
          </p:txBody>
        </p:sp>
        <p:sp>
          <p:nvSpPr>
            <p:cNvPr id="15" name="object 15"/>
            <p:cNvSpPr/>
            <p:nvPr/>
          </p:nvSpPr>
          <p:spPr>
            <a:xfrm>
              <a:off x="770915" y="1879269"/>
              <a:ext cx="1050290" cy="245745"/>
            </a:xfrm>
            <a:custGeom>
              <a:avLst/>
              <a:gdLst/>
              <a:ahLst/>
              <a:cxnLst/>
              <a:rect l="l" t="t" r="r" b="b"/>
              <a:pathLst>
                <a:path w="1050289" h="245744">
                  <a:moveTo>
                    <a:pt x="42125" y="151676"/>
                  </a:moveTo>
                  <a:lnTo>
                    <a:pt x="0" y="151676"/>
                  </a:lnTo>
                  <a:lnTo>
                    <a:pt x="0" y="242671"/>
                  </a:lnTo>
                  <a:lnTo>
                    <a:pt x="42125" y="242671"/>
                  </a:lnTo>
                  <a:lnTo>
                    <a:pt x="42125" y="151676"/>
                  </a:lnTo>
                  <a:close/>
                </a:path>
                <a:path w="1050289" h="245744">
                  <a:moveTo>
                    <a:pt x="42392" y="0"/>
                  </a:moveTo>
                  <a:lnTo>
                    <a:pt x="266" y="0"/>
                  </a:lnTo>
                  <a:lnTo>
                    <a:pt x="266" y="91008"/>
                  </a:lnTo>
                  <a:lnTo>
                    <a:pt x="42392" y="91008"/>
                  </a:lnTo>
                  <a:lnTo>
                    <a:pt x="42392" y="0"/>
                  </a:lnTo>
                  <a:close/>
                </a:path>
                <a:path w="1050289" h="245744">
                  <a:moveTo>
                    <a:pt x="1049451" y="154152"/>
                  </a:moveTo>
                  <a:lnTo>
                    <a:pt x="1007325" y="154152"/>
                  </a:lnTo>
                  <a:lnTo>
                    <a:pt x="1007325" y="245160"/>
                  </a:lnTo>
                  <a:lnTo>
                    <a:pt x="1049451" y="245160"/>
                  </a:lnTo>
                  <a:lnTo>
                    <a:pt x="1049451" y="154152"/>
                  </a:lnTo>
                  <a:close/>
                </a:path>
                <a:path w="1050289" h="245744">
                  <a:moveTo>
                    <a:pt x="1049731" y="2489"/>
                  </a:moveTo>
                  <a:lnTo>
                    <a:pt x="1007592" y="2489"/>
                  </a:lnTo>
                  <a:lnTo>
                    <a:pt x="1007592" y="93484"/>
                  </a:lnTo>
                  <a:lnTo>
                    <a:pt x="1049731" y="93484"/>
                  </a:lnTo>
                  <a:lnTo>
                    <a:pt x="1049731" y="2489"/>
                  </a:lnTo>
                  <a:close/>
                </a:path>
              </a:pathLst>
            </a:custGeom>
            <a:solidFill>
              <a:srgbClr val="FFFFFF"/>
            </a:solidFill>
          </p:spPr>
          <p:txBody>
            <a:bodyPr wrap="square" lIns="0" tIns="0" rIns="0" bIns="0" rtlCol="0"/>
            <a:lstStyle/>
            <a:p>
              <a:endParaRPr/>
            </a:p>
          </p:txBody>
        </p:sp>
      </p:grpSp>
      <p:sp>
        <p:nvSpPr>
          <p:cNvPr id="16" name="object 16"/>
          <p:cNvSpPr txBox="1"/>
          <p:nvPr/>
        </p:nvSpPr>
        <p:spPr>
          <a:xfrm>
            <a:off x="1619097" y="1323261"/>
            <a:ext cx="6159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machine</a:t>
            </a:r>
            <a:endParaRPr sz="650">
              <a:latin typeface="Arial"/>
              <a:cs typeface="Arial"/>
            </a:endParaRPr>
          </a:p>
        </p:txBody>
      </p:sp>
      <p:sp>
        <p:nvSpPr>
          <p:cNvPr id="17" name="object 17"/>
          <p:cNvSpPr txBox="1"/>
          <p:nvPr/>
        </p:nvSpPr>
        <p:spPr>
          <a:xfrm>
            <a:off x="423293" y="1526730"/>
            <a:ext cx="527685" cy="211454"/>
          </a:xfrm>
          <a:prstGeom prst="rect">
            <a:avLst/>
          </a:prstGeom>
          <a:ln w="5270">
            <a:solidFill>
              <a:srgbClr val="231F20"/>
            </a:solidFill>
          </a:ln>
        </p:spPr>
        <p:txBody>
          <a:bodyPr vert="horz" wrap="square" lIns="0" tIns="30480" rIns="0" bIns="0" rtlCol="0">
            <a:spAutoFit/>
          </a:bodyPr>
          <a:lstStyle/>
          <a:p>
            <a:pPr marL="52705">
              <a:lnSpc>
                <a:spcPct val="100000"/>
              </a:lnSpc>
              <a:spcBef>
                <a:spcPts val="240"/>
              </a:spcBef>
            </a:pPr>
            <a:r>
              <a:rPr sz="650" spc="5" dirty="0">
                <a:solidFill>
                  <a:srgbClr val="231F20"/>
                </a:solidFill>
                <a:latin typeface="Arial"/>
                <a:cs typeface="Arial"/>
              </a:rPr>
              <a:t>Application</a:t>
            </a:r>
            <a:endParaRPr sz="650">
              <a:latin typeface="Arial"/>
              <a:cs typeface="Arial"/>
            </a:endParaRPr>
          </a:p>
        </p:txBody>
      </p:sp>
      <p:sp>
        <p:nvSpPr>
          <p:cNvPr id="18" name="object 18"/>
          <p:cNvSpPr txBox="1"/>
          <p:nvPr/>
        </p:nvSpPr>
        <p:spPr>
          <a:xfrm>
            <a:off x="1635592" y="1526730"/>
            <a:ext cx="527685" cy="211454"/>
          </a:xfrm>
          <a:prstGeom prst="rect">
            <a:avLst/>
          </a:prstGeom>
          <a:ln w="5270">
            <a:solidFill>
              <a:srgbClr val="231F20"/>
            </a:solidFill>
          </a:ln>
        </p:spPr>
        <p:txBody>
          <a:bodyPr vert="horz" wrap="square" lIns="0" tIns="30480" rIns="0" bIns="0" rtlCol="0">
            <a:spAutoFit/>
          </a:bodyPr>
          <a:lstStyle/>
          <a:p>
            <a:pPr marL="52705">
              <a:lnSpc>
                <a:spcPct val="100000"/>
              </a:lnSpc>
              <a:spcBef>
                <a:spcPts val="240"/>
              </a:spcBef>
            </a:pPr>
            <a:r>
              <a:rPr sz="650" spc="5" dirty="0">
                <a:solidFill>
                  <a:srgbClr val="231F20"/>
                </a:solidFill>
                <a:latin typeface="Arial"/>
                <a:cs typeface="Arial"/>
              </a:rPr>
              <a:t>Application</a:t>
            </a:r>
            <a:endParaRPr sz="650">
              <a:latin typeface="Arial"/>
              <a:cs typeface="Arial"/>
            </a:endParaRPr>
          </a:p>
        </p:txBody>
      </p:sp>
      <p:grpSp>
        <p:nvGrpSpPr>
          <p:cNvPr id="19" name="object 19"/>
          <p:cNvGrpSpPr/>
          <p:nvPr/>
        </p:nvGrpSpPr>
        <p:grpSpPr>
          <a:xfrm>
            <a:off x="370584" y="1840337"/>
            <a:ext cx="1845310" cy="487680"/>
            <a:chOff x="370584" y="1840337"/>
            <a:chExt cx="1845310" cy="487680"/>
          </a:xfrm>
        </p:grpSpPr>
        <p:sp>
          <p:nvSpPr>
            <p:cNvPr id="20" name="object 20"/>
            <p:cNvSpPr/>
            <p:nvPr/>
          </p:nvSpPr>
          <p:spPr>
            <a:xfrm>
              <a:off x="370584" y="1842973"/>
              <a:ext cx="1845310" cy="158750"/>
            </a:xfrm>
            <a:custGeom>
              <a:avLst/>
              <a:gdLst/>
              <a:ahLst/>
              <a:cxnLst/>
              <a:rect l="l" t="t" r="r" b="b"/>
              <a:pathLst>
                <a:path w="1845310" h="158750">
                  <a:moveTo>
                    <a:pt x="0" y="0"/>
                  </a:moveTo>
                  <a:lnTo>
                    <a:pt x="632501" y="0"/>
                  </a:lnTo>
                </a:path>
                <a:path w="1845310" h="158750">
                  <a:moveTo>
                    <a:pt x="1212292" y="0"/>
                  </a:moveTo>
                  <a:lnTo>
                    <a:pt x="1844794" y="0"/>
                  </a:lnTo>
                </a:path>
                <a:path w="1845310" h="158750">
                  <a:moveTo>
                    <a:pt x="0" y="158123"/>
                  </a:moveTo>
                  <a:lnTo>
                    <a:pt x="632501" y="158123"/>
                  </a:lnTo>
                </a:path>
                <a:path w="1845310" h="158750">
                  <a:moveTo>
                    <a:pt x="1212292" y="158123"/>
                  </a:moveTo>
                  <a:lnTo>
                    <a:pt x="1844794" y="158123"/>
                  </a:lnTo>
                </a:path>
              </a:pathLst>
            </a:custGeom>
            <a:ln w="5270">
              <a:solidFill>
                <a:srgbClr val="231F20"/>
              </a:solidFill>
            </a:ln>
          </p:spPr>
          <p:txBody>
            <a:bodyPr wrap="square" lIns="0" tIns="0" rIns="0" bIns="0" rtlCol="0"/>
            <a:lstStyle/>
            <a:p>
              <a:endParaRPr/>
            </a:p>
          </p:txBody>
        </p:sp>
        <p:sp>
          <p:nvSpPr>
            <p:cNvPr id="21" name="object 21"/>
            <p:cNvSpPr/>
            <p:nvPr/>
          </p:nvSpPr>
          <p:spPr>
            <a:xfrm>
              <a:off x="792253" y="2317359"/>
              <a:ext cx="1062990" cy="0"/>
            </a:xfrm>
            <a:custGeom>
              <a:avLst/>
              <a:gdLst/>
              <a:ahLst/>
              <a:cxnLst/>
              <a:rect l="l" t="t" r="r" b="b"/>
              <a:pathLst>
                <a:path w="1062989">
                  <a:moveTo>
                    <a:pt x="0" y="0"/>
                  </a:moveTo>
                  <a:lnTo>
                    <a:pt x="1062528" y="0"/>
                  </a:lnTo>
                </a:path>
              </a:pathLst>
            </a:custGeom>
            <a:ln w="21083">
              <a:solidFill>
                <a:srgbClr val="231F20"/>
              </a:solidFill>
              <a:prstDash val="lgDash"/>
            </a:ln>
          </p:spPr>
          <p:txBody>
            <a:bodyPr wrap="square" lIns="0" tIns="0" rIns="0" bIns="0" rtlCol="0"/>
            <a:lstStyle/>
            <a:p>
              <a:endParaRPr/>
            </a:p>
          </p:txBody>
        </p:sp>
      </p:grpSp>
      <p:sp>
        <p:nvSpPr>
          <p:cNvPr id="22" name="object 22"/>
          <p:cNvSpPr txBox="1"/>
          <p:nvPr/>
        </p:nvSpPr>
        <p:spPr>
          <a:xfrm>
            <a:off x="406393" y="1323261"/>
            <a:ext cx="583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machine</a:t>
            </a:r>
            <a:endParaRPr sz="650">
              <a:latin typeface="Arial"/>
              <a:cs typeface="Arial"/>
            </a:endParaRPr>
          </a:p>
        </p:txBody>
      </p:sp>
      <p:sp>
        <p:nvSpPr>
          <p:cNvPr id="23" name="object 23"/>
          <p:cNvSpPr txBox="1"/>
          <p:nvPr/>
        </p:nvSpPr>
        <p:spPr>
          <a:xfrm>
            <a:off x="1043223" y="1648191"/>
            <a:ext cx="466090" cy="327025"/>
          </a:xfrm>
          <a:prstGeom prst="rect">
            <a:avLst/>
          </a:prstGeom>
        </p:spPr>
        <p:txBody>
          <a:bodyPr vert="horz" wrap="square" lIns="0" tIns="13970" rIns="0" bIns="0" rtlCol="0">
            <a:spAutoFit/>
          </a:bodyPr>
          <a:lstStyle/>
          <a:p>
            <a:pPr marL="82550" marR="5080" indent="-70485">
              <a:lnSpc>
                <a:spcPct val="100000"/>
              </a:lnSpc>
              <a:spcBef>
                <a:spcPts val="110"/>
              </a:spcBef>
            </a:pPr>
            <a:r>
              <a:rPr sz="650" spc="5" dirty="0">
                <a:solidFill>
                  <a:srgbClr val="231F20"/>
                </a:solidFill>
                <a:latin typeface="Arial"/>
                <a:cs typeface="Arial"/>
              </a:rPr>
              <a:t>Application-  specific </a:t>
            </a:r>
            <a:r>
              <a:rPr sz="650" spc="10" dirty="0">
                <a:solidFill>
                  <a:srgbClr val="231F20"/>
                </a:solidFill>
                <a:latin typeface="Arial"/>
                <a:cs typeface="Arial"/>
              </a:rPr>
              <a:t> </a:t>
            </a:r>
            <a:r>
              <a:rPr sz="650" spc="5" dirty="0">
                <a:solidFill>
                  <a:srgbClr val="231F20"/>
                </a:solidFill>
                <a:latin typeface="Arial"/>
                <a:cs typeface="Arial"/>
              </a:rPr>
              <a:t>protocol</a:t>
            </a:r>
            <a:endParaRPr sz="650">
              <a:latin typeface="Arial"/>
              <a:cs typeface="Arial"/>
            </a:endParaRPr>
          </a:p>
        </p:txBody>
      </p:sp>
      <p:sp>
        <p:nvSpPr>
          <p:cNvPr id="24" name="object 24"/>
          <p:cNvSpPr txBox="1"/>
          <p:nvPr/>
        </p:nvSpPr>
        <p:spPr>
          <a:xfrm>
            <a:off x="1724001" y="2323824"/>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sp>
        <p:nvSpPr>
          <p:cNvPr id="25" name="object 25"/>
          <p:cNvSpPr txBox="1"/>
          <p:nvPr/>
        </p:nvSpPr>
        <p:spPr>
          <a:xfrm>
            <a:off x="457047" y="1850384"/>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Middleware</a:t>
            </a:r>
            <a:endParaRPr sz="650">
              <a:latin typeface="Arial"/>
              <a:cs typeface="Arial"/>
            </a:endParaRPr>
          </a:p>
        </p:txBody>
      </p:sp>
      <p:sp>
        <p:nvSpPr>
          <p:cNvPr id="26" name="object 26"/>
          <p:cNvSpPr txBox="1"/>
          <p:nvPr/>
        </p:nvSpPr>
        <p:spPr>
          <a:xfrm>
            <a:off x="1588147" y="1793489"/>
            <a:ext cx="622300" cy="341630"/>
          </a:xfrm>
          <a:prstGeom prst="rect">
            <a:avLst/>
          </a:prstGeom>
        </p:spPr>
        <p:txBody>
          <a:bodyPr vert="horz" wrap="square" lIns="0" tIns="12065" rIns="0" bIns="0" rtlCol="0">
            <a:spAutoFit/>
          </a:bodyPr>
          <a:lstStyle/>
          <a:p>
            <a:pPr marL="146685" marR="88900" indent="-53340">
              <a:lnSpc>
                <a:spcPct val="159600"/>
              </a:lnSpc>
              <a:spcBef>
                <a:spcPts val="95"/>
              </a:spcBef>
            </a:pPr>
            <a:r>
              <a:rPr sz="650" spc="5" dirty="0">
                <a:solidFill>
                  <a:srgbClr val="231F20"/>
                </a:solidFill>
                <a:latin typeface="Arial"/>
                <a:cs typeface="Arial"/>
              </a:rPr>
              <a:t>Middleware  Local</a:t>
            </a:r>
            <a:r>
              <a:rPr sz="650" spc="-40"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27" name="object 27"/>
          <p:cNvSpPr txBox="1"/>
          <p:nvPr/>
        </p:nvSpPr>
        <p:spPr>
          <a:xfrm>
            <a:off x="509846" y="2008471"/>
            <a:ext cx="3727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Local </a:t>
            </a:r>
            <a:r>
              <a:rPr sz="650" spc="10" dirty="0">
                <a:solidFill>
                  <a:srgbClr val="231F20"/>
                </a:solidFill>
                <a:latin typeface="Arial"/>
                <a:cs typeface="Arial"/>
              </a:rPr>
              <a:t>O</a:t>
            </a:r>
            <a:r>
              <a:rPr sz="650" spc="5" dirty="0">
                <a:solidFill>
                  <a:srgbClr val="231F20"/>
                </a:solidFill>
                <a:latin typeface="Arial"/>
                <a:cs typeface="Arial"/>
              </a:rPr>
              <a:t>S</a:t>
            </a:r>
            <a:endParaRPr sz="650">
              <a:latin typeface="Arial"/>
              <a:cs typeface="Arial"/>
            </a:endParaRPr>
          </a:p>
        </p:txBody>
      </p:sp>
      <p:grpSp>
        <p:nvGrpSpPr>
          <p:cNvPr id="28" name="object 28"/>
          <p:cNvGrpSpPr/>
          <p:nvPr/>
        </p:nvGrpSpPr>
        <p:grpSpPr>
          <a:xfrm>
            <a:off x="2382925" y="1469562"/>
            <a:ext cx="1856105" cy="859790"/>
            <a:chOff x="2382925" y="1469562"/>
            <a:chExt cx="1856105" cy="859790"/>
          </a:xfrm>
        </p:grpSpPr>
        <p:sp>
          <p:nvSpPr>
            <p:cNvPr id="29" name="object 29"/>
            <p:cNvSpPr/>
            <p:nvPr/>
          </p:nvSpPr>
          <p:spPr>
            <a:xfrm>
              <a:off x="2809987" y="1775881"/>
              <a:ext cx="1002030" cy="490220"/>
            </a:xfrm>
            <a:custGeom>
              <a:avLst/>
              <a:gdLst/>
              <a:ahLst/>
              <a:cxnLst/>
              <a:rect l="l" t="t" r="r" b="b"/>
              <a:pathLst>
                <a:path w="1002029" h="490219">
                  <a:moveTo>
                    <a:pt x="0" y="0"/>
                  </a:moveTo>
                  <a:lnTo>
                    <a:pt x="0" y="384284"/>
                  </a:lnTo>
                  <a:lnTo>
                    <a:pt x="15628" y="445229"/>
                  </a:lnTo>
                  <a:lnTo>
                    <a:pt x="50010" y="476525"/>
                  </a:lnTo>
                  <a:lnTo>
                    <a:pt x="84392" y="488056"/>
                  </a:lnTo>
                  <a:lnTo>
                    <a:pt x="100020" y="489703"/>
                  </a:lnTo>
                  <a:lnTo>
                    <a:pt x="900156" y="489703"/>
                  </a:lnTo>
                  <a:lnTo>
                    <a:pt x="958178" y="473231"/>
                  </a:lnTo>
                  <a:lnTo>
                    <a:pt x="988315" y="436994"/>
                  </a:lnTo>
                  <a:lnTo>
                    <a:pt x="999700" y="400756"/>
                  </a:lnTo>
                  <a:lnTo>
                    <a:pt x="1001465" y="384284"/>
                  </a:lnTo>
                  <a:lnTo>
                    <a:pt x="1001465" y="0"/>
                  </a:lnTo>
                </a:path>
              </a:pathLst>
            </a:custGeom>
            <a:ln w="5270">
              <a:solidFill>
                <a:srgbClr val="231F20"/>
              </a:solidFill>
              <a:prstDash val="lgDash"/>
            </a:ln>
          </p:spPr>
          <p:txBody>
            <a:bodyPr wrap="square" lIns="0" tIns="0" rIns="0" bIns="0" rtlCol="0"/>
            <a:lstStyle/>
            <a:p>
              <a:endParaRPr/>
            </a:p>
          </p:txBody>
        </p:sp>
        <p:pic>
          <p:nvPicPr>
            <p:cNvPr id="30" name="object 30"/>
            <p:cNvPicPr/>
            <p:nvPr/>
          </p:nvPicPr>
          <p:blipFill>
            <a:blip r:embed="rId8" cstate="print"/>
            <a:stretch>
              <a:fillRect/>
            </a:stretch>
          </p:blipFill>
          <p:spPr>
            <a:xfrm>
              <a:off x="2778113" y="1738502"/>
              <a:ext cx="63751" cy="74375"/>
            </a:xfrm>
            <a:prstGeom prst="rect">
              <a:avLst/>
            </a:prstGeom>
          </p:spPr>
        </p:pic>
        <p:pic>
          <p:nvPicPr>
            <p:cNvPr id="31" name="object 31"/>
            <p:cNvPicPr/>
            <p:nvPr/>
          </p:nvPicPr>
          <p:blipFill>
            <a:blip r:embed="rId5" cstate="print"/>
            <a:stretch>
              <a:fillRect/>
            </a:stretch>
          </p:blipFill>
          <p:spPr>
            <a:xfrm>
              <a:off x="3779566" y="1738502"/>
              <a:ext cx="63751" cy="74375"/>
            </a:xfrm>
            <a:prstGeom prst="rect">
              <a:avLst/>
            </a:prstGeom>
          </p:spPr>
        </p:pic>
        <p:sp>
          <p:nvSpPr>
            <p:cNvPr id="32" name="object 32"/>
            <p:cNvSpPr/>
            <p:nvPr/>
          </p:nvSpPr>
          <p:spPr>
            <a:xfrm>
              <a:off x="3058203" y="2002042"/>
              <a:ext cx="505459" cy="0"/>
            </a:xfrm>
            <a:custGeom>
              <a:avLst/>
              <a:gdLst/>
              <a:ahLst/>
              <a:cxnLst/>
              <a:rect l="l" t="t" r="r" b="b"/>
              <a:pathLst>
                <a:path w="505460">
                  <a:moveTo>
                    <a:pt x="0" y="0"/>
                  </a:moveTo>
                  <a:lnTo>
                    <a:pt x="505029" y="0"/>
                  </a:lnTo>
                </a:path>
              </a:pathLst>
            </a:custGeom>
            <a:ln w="5270">
              <a:solidFill>
                <a:srgbClr val="231F20"/>
              </a:solidFill>
            </a:ln>
          </p:spPr>
          <p:txBody>
            <a:bodyPr wrap="square" lIns="0" tIns="0" rIns="0" bIns="0" rtlCol="0"/>
            <a:lstStyle/>
            <a:p>
              <a:endParaRPr/>
            </a:p>
          </p:txBody>
        </p:sp>
        <p:pic>
          <p:nvPicPr>
            <p:cNvPr id="33" name="object 33"/>
            <p:cNvPicPr/>
            <p:nvPr/>
          </p:nvPicPr>
          <p:blipFill>
            <a:blip r:embed="rId9" cstate="print"/>
            <a:stretch>
              <a:fillRect/>
            </a:stretch>
          </p:blipFill>
          <p:spPr>
            <a:xfrm>
              <a:off x="3020824" y="1970164"/>
              <a:ext cx="74375" cy="63753"/>
            </a:xfrm>
            <a:prstGeom prst="rect">
              <a:avLst/>
            </a:prstGeom>
          </p:spPr>
        </p:pic>
        <p:pic>
          <p:nvPicPr>
            <p:cNvPr id="34" name="object 34"/>
            <p:cNvPicPr/>
            <p:nvPr/>
          </p:nvPicPr>
          <p:blipFill>
            <a:blip r:embed="rId10" cstate="print"/>
            <a:stretch>
              <a:fillRect/>
            </a:stretch>
          </p:blipFill>
          <p:spPr>
            <a:xfrm>
              <a:off x="3526234" y="1970164"/>
              <a:ext cx="74377" cy="63753"/>
            </a:xfrm>
            <a:prstGeom prst="rect">
              <a:avLst/>
            </a:prstGeom>
          </p:spPr>
        </p:pic>
        <p:sp>
          <p:nvSpPr>
            <p:cNvPr id="35" name="object 35"/>
            <p:cNvSpPr/>
            <p:nvPr/>
          </p:nvSpPr>
          <p:spPr>
            <a:xfrm>
              <a:off x="2388322" y="1474960"/>
              <a:ext cx="1845310" cy="685800"/>
            </a:xfrm>
            <a:custGeom>
              <a:avLst/>
              <a:gdLst/>
              <a:ahLst/>
              <a:cxnLst/>
              <a:rect l="l" t="t" r="r" b="b"/>
              <a:pathLst>
                <a:path w="1845310" h="685800">
                  <a:moveTo>
                    <a:pt x="0" y="685206"/>
                  </a:moveTo>
                  <a:lnTo>
                    <a:pt x="632501" y="685206"/>
                  </a:lnTo>
                  <a:lnTo>
                    <a:pt x="632501" y="0"/>
                  </a:lnTo>
                  <a:lnTo>
                    <a:pt x="0" y="0"/>
                  </a:lnTo>
                  <a:lnTo>
                    <a:pt x="0" y="685206"/>
                  </a:lnTo>
                  <a:close/>
                </a:path>
                <a:path w="1845310" h="685800">
                  <a:moveTo>
                    <a:pt x="1212289" y="685206"/>
                  </a:moveTo>
                  <a:lnTo>
                    <a:pt x="1844785" y="685206"/>
                  </a:lnTo>
                  <a:lnTo>
                    <a:pt x="1844785" y="0"/>
                  </a:lnTo>
                  <a:lnTo>
                    <a:pt x="1212289" y="0"/>
                  </a:lnTo>
                  <a:lnTo>
                    <a:pt x="1212289" y="685206"/>
                  </a:lnTo>
                  <a:close/>
                </a:path>
              </a:pathLst>
            </a:custGeom>
            <a:ln w="10541">
              <a:solidFill>
                <a:srgbClr val="231F20"/>
              </a:solidFill>
            </a:ln>
          </p:spPr>
          <p:txBody>
            <a:bodyPr wrap="square" lIns="0" tIns="0" rIns="0" bIns="0" rtlCol="0"/>
            <a:lstStyle/>
            <a:p>
              <a:endParaRPr/>
            </a:p>
          </p:txBody>
        </p:sp>
        <p:sp>
          <p:nvSpPr>
            <p:cNvPr id="36" name="object 36"/>
            <p:cNvSpPr/>
            <p:nvPr/>
          </p:nvSpPr>
          <p:spPr>
            <a:xfrm>
              <a:off x="2599154" y="2160162"/>
              <a:ext cx="1423670" cy="158750"/>
            </a:xfrm>
            <a:custGeom>
              <a:avLst/>
              <a:gdLst/>
              <a:ahLst/>
              <a:cxnLst/>
              <a:rect l="l" t="t" r="r" b="b"/>
              <a:pathLst>
                <a:path w="1423670" h="158750">
                  <a:moveTo>
                    <a:pt x="105418" y="4"/>
                  </a:moveTo>
                  <a:lnTo>
                    <a:pt x="105418" y="158131"/>
                  </a:lnTo>
                </a:path>
                <a:path w="1423670" h="158750">
                  <a:moveTo>
                    <a:pt x="1317708" y="0"/>
                  </a:moveTo>
                  <a:lnTo>
                    <a:pt x="1317708" y="158123"/>
                  </a:lnTo>
                </a:path>
                <a:path w="1423670" h="158750">
                  <a:moveTo>
                    <a:pt x="0" y="158131"/>
                  </a:moveTo>
                  <a:lnTo>
                    <a:pt x="210832" y="158131"/>
                  </a:lnTo>
                </a:path>
                <a:path w="1423670" h="158750">
                  <a:moveTo>
                    <a:pt x="1212298" y="158123"/>
                  </a:moveTo>
                  <a:lnTo>
                    <a:pt x="1423128" y="158123"/>
                  </a:lnTo>
                </a:path>
              </a:pathLst>
            </a:custGeom>
            <a:ln w="21083">
              <a:solidFill>
                <a:srgbClr val="231F20"/>
              </a:solidFill>
            </a:ln>
          </p:spPr>
          <p:txBody>
            <a:bodyPr wrap="square" lIns="0" tIns="0" rIns="0" bIns="0" rtlCol="0"/>
            <a:lstStyle/>
            <a:p>
              <a:endParaRPr/>
            </a:p>
          </p:txBody>
        </p:sp>
        <p:sp>
          <p:nvSpPr>
            <p:cNvPr id="37" name="object 37"/>
            <p:cNvSpPr/>
            <p:nvPr/>
          </p:nvSpPr>
          <p:spPr>
            <a:xfrm>
              <a:off x="2788653" y="1880209"/>
              <a:ext cx="1050290" cy="245745"/>
            </a:xfrm>
            <a:custGeom>
              <a:avLst/>
              <a:gdLst/>
              <a:ahLst/>
              <a:cxnLst/>
              <a:rect l="l" t="t" r="r" b="b"/>
              <a:pathLst>
                <a:path w="1050289" h="245744">
                  <a:moveTo>
                    <a:pt x="42125" y="151676"/>
                  </a:moveTo>
                  <a:lnTo>
                    <a:pt x="0" y="151676"/>
                  </a:lnTo>
                  <a:lnTo>
                    <a:pt x="0" y="242671"/>
                  </a:lnTo>
                  <a:lnTo>
                    <a:pt x="42125" y="242671"/>
                  </a:lnTo>
                  <a:lnTo>
                    <a:pt x="42125" y="151676"/>
                  </a:lnTo>
                  <a:close/>
                </a:path>
                <a:path w="1050289" h="245744">
                  <a:moveTo>
                    <a:pt x="42392" y="0"/>
                  </a:moveTo>
                  <a:lnTo>
                    <a:pt x="266" y="0"/>
                  </a:lnTo>
                  <a:lnTo>
                    <a:pt x="266" y="91008"/>
                  </a:lnTo>
                  <a:lnTo>
                    <a:pt x="42392" y="91008"/>
                  </a:lnTo>
                  <a:lnTo>
                    <a:pt x="42392" y="0"/>
                  </a:lnTo>
                  <a:close/>
                </a:path>
                <a:path w="1050289" h="245744">
                  <a:moveTo>
                    <a:pt x="1049451" y="154152"/>
                  </a:moveTo>
                  <a:lnTo>
                    <a:pt x="1007313" y="154152"/>
                  </a:lnTo>
                  <a:lnTo>
                    <a:pt x="1007313" y="245160"/>
                  </a:lnTo>
                  <a:lnTo>
                    <a:pt x="1049451" y="245160"/>
                  </a:lnTo>
                  <a:lnTo>
                    <a:pt x="1049451" y="154152"/>
                  </a:lnTo>
                  <a:close/>
                </a:path>
                <a:path w="1050289" h="245744">
                  <a:moveTo>
                    <a:pt x="1049718" y="2489"/>
                  </a:moveTo>
                  <a:lnTo>
                    <a:pt x="1007592" y="2489"/>
                  </a:lnTo>
                  <a:lnTo>
                    <a:pt x="1007592" y="93484"/>
                  </a:lnTo>
                  <a:lnTo>
                    <a:pt x="1049718" y="93484"/>
                  </a:lnTo>
                  <a:lnTo>
                    <a:pt x="1049718" y="2489"/>
                  </a:lnTo>
                  <a:close/>
                </a:path>
              </a:pathLst>
            </a:custGeom>
            <a:solidFill>
              <a:srgbClr val="FFFFFF"/>
            </a:solidFill>
          </p:spPr>
          <p:txBody>
            <a:bodyPr wrap="square" lIns="0" tIns="0" rIns="0" bIns="0" rtlCol="0"/>
            <a:lstStyle/>
            <a:p>
              <a:endParaRPr/>
            </a:p>
          </p:txBody>
        </p:sp>
        <p:sp>
          <p:nvSpPr>
            <p:cNvPr id="38" name="object 38"/>
            <p:cNvSpPr/>
            <p:nvPr/>
          </p:nvSpPr>
          <p:spPr>
            <a:xfrm>
              <a:off x="2388322" y="1843912"/>
              <a:ext cx="1845310" cy="158750"/>
            </a:xfrm>
            <a:custGeom>
              <a:avLst/>
              <a:gdLst/>
              <a:ahLst/>
              <a:cxnLst/>
              <a:rect l="l" t="t" r="r" b="b"/>
              <a:pathLst>
                <a:path w="1845310" h="158750">
                  <a:moveTo>
                    <a:pt x="0" y="0"/>
                  </a:moveTo>
                  <a:lnTo>
                    <a:pt x="632501" y="0"/>
                  </a:lnTo>
                </a:path>
                <a:path w="1845310" h="158750">
                  <a:moveTo>
                    <a:pt x="1212289" y="0"/>
                  </a:moveTo>
                  <a:lnTo>
                    <a:pt x="1844791" y="0"/>
                  </a:lnTo>
                </a:path>
                <a:path w="1845310" h="158750">
                  <a:moveTo>
                    <a:pt x="0" y="158123"/>
                  </a:moveTo>
                  <a:lnTo>
                    <a:pt x="632501" y="158123"/>
                  </a:lnTo>
                </a:path>
                <a:path w="1845310" h="158750">
                  <a:moveTo>
                    <a:pt x="1212289" y="158123"/>
                  </a:moveTo>
                  <a:lnTo>
                    <a:pt x="1844791" y="158123"/>
                  </a:lnTo>
                </a:path>
              </a:pathLst>
            </a:custGeom>
            <a:ln w="5270">
              <a:solidFill>
                <a:srgbClr val="231F20"/>
              </a:solidFill>
            </a:ln>
          </p:spPr>
          <p:txBody>
            <a:bodyPr wrap="square" lIns="0" tIns="0" rIns="0" bIns="0" rtlCol="0"/>
            <a:lstStyle/>
            <a:p>
              <a:endParaRPr/>
            </a:p>
          </p:txBody>
        </p:sp>
      </p:grpSp>
      <p:sp>
        <p:nvSpPr>
          <p:cNvPr id="39" name="object 39"/>
          <p:cNvSpPr txBox="1"/>
          <p:nvPr/>
        </p:nvSpPr>
        <p:spPr>
          <a:xfrm>
            <a:off x="3636832" y="1324200"/>
            <a:ext cx="6159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machine</a:t>
            </a:r>
            <a:endParaRPr sz="650">
              <a:latin typeface="Arial"/>
              <a:cs typeface="Arial"/>
            </a:endParaRPr>
          </a:p>
        </p:txBody>
      </p:sp>
      <p:sp>
        <p:nvSpPr>
          <p:cNvPr id="40" name="object 40"/>
          <p:cNvSpPr txBox="1"/>
          <p:nvPr/>
        </p:nvSpPr>
        <p:spPr>
          <a:xfrm>
            <a:off x="2424132" y="1324200"/>
            <a:ext cx="583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machine</a:t>
            </a:r>
            <a:endParaRPr sz="650">
              <a:latin typeface="Arial"/>
              <a:cs typeface="Arial"/>
            </a:endParaRPr>
          </a:p>
        </p:txBody>
      </p:sp>
      <p:sp>
        <p:nvSpPr>
          <p:cNvPr id="41" name="object 41"/>
          <p:cNvSpPr txBox="1"/>
          <p:nvPr/>
        </p:nvSpPr>
        <p:spPr>
          <a:xfrm>
            <a:off x="3055241" y="1634340"/>
            <a:ext cx="489584" cy="327025"/>
          </a:xfrm>
          <a:prstGeom prst="rect">
            <a:avLst/>
          </a:prstGeom>
        </p:spPr>
        <p:txBody>
          <a:bodyPr vert="horz" wrap="square" lIns="0" tIns="13970" rIns="0" bIns="0" rtlCol="0">
            <a:spAutoFit/>
          </a:bodyPr>
          <a:lstStyle/>
          <a:p>
            <a:pPr marL="12700" marR="5080" algn="ctr">
              <a:lnSpc>
                <a:spcPct val="100000"/>
              </a:lnSpc>
              <a:spcBef>
                <a:spcPts val="110"/>
              </a:spcBef>
            </a:pPr>
            <a:r>
              <a:rPr sz="650" spc="5" dirty="0">
                <a:solidFill>
                  <a:srgbClr val="231F20"/>
                </a:solidFill>
                <a:latin typeface="Arial"/>
                <a:cs typeface="Arial"/>
              </a:rPr>
              <a:t>Application- </a:t>
            </a:r>
            <a:r>
              <a:rPr sz="650" spc="-170" dirty="0">
                <a:solidFill>
                  <a:srgbClr val="231F20"/>
                </a:solidFill>
                <a:latin typeface="Arial"/>
                <a:cs typeface="Arial"/>
              </a:rPr>
              <a:t> </a:t>
            </a:r>
            <a:r>
              <a:rPr sz="650" spc="5" dirty="0">
                <a:solidFill>
                  <a:srgbClr val="231F20"/>
                </a:solidFill>
                <a:latin typeface="Arial"/>
                <a:cs typeface="Arial"/>
              </a:rPr>
              <a:t>independent  protocol</a:t>
            </a:r>
            <a:endParaRPr sz="650">
              <a:latin typeface="Arial"/>
              <a:cs typeface="Arial"/>
            </a:endParaRPr>
          </a:p>
        </p:txBody>
      </p:sp>
      <p:sp>
        <p:nvSpPr>
          <p:cNvPr id="42" name="object 42"/>
          <p:cNvSpPr/>
          <p:nvPr/>
        </p:nvSpPr>
        <p:spPr>
          <a:xfrm>
            <a:off x="2809987" y="2318298"/>
            <a:ext cx="1062990" cy="0"/>
          </a:xfrm>
          <a:custGeom>
            <a:avLst/>
            <a:gdLst/>
            <a:ahLst/>
            <a:cxnLst/>
            <a:rect l="l" t="t" r="r" b="b"/>
            <a:pathLst>
              <a:path w="1062989">
                <a:moveTo>
                  <a:pt x="0" y="0"/>
                </a:moveTo>
                <a:lnTo>
                  <a:pt x="1062529" y="0"/>
                </a:lnTo>
              </a:path>
            </a:pathLst>
          </a:custGeom>
          <a:ln w="21083">
            <a:solidFill>
              <a:srgbClr val="231F20"/>
            </a:solidFill>
            <a:prstDash val="lgDash"/>
          </a:ln>
        </p:spPr>
        <p:txBody>
          <a:bodyPr wrap="square" lIns="0" tIns="0" rIns="0" bIns="0" rtlCol="0"/>
          <a:lstStyle/>
          <a:p>
            <a:endParaRPr/>
          </a:p>
        </p:txBody>
      </p:sp>
      <p:sp>
        <p:nvSpPr>
          <p:cNvPr id="43" name="object 43"/>
          <p:cNvSpPr txBox="1"/>
          <p:nvPr/>
        </p:nvSpPr>
        <p:spPr>
          <a:xfrm>
            <a:off x="3689031" y="2324763"/>
            <a:ext cx="3346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Network</a:t>
            </a:r>
            <a:endParaRPr sz="650">
              <a:latin typeface="Arial"/>
              <a:cs typeface="Arial"/>
            </a:endParaRPr>
          </a:p>
        </p:txBody>
      </p:sp>
      <p:sp>
        <p:nvSpPr>
          <p:cNvPr id="44" name="object 44"/>
          <p:cNvSpPr txBox="1"/>
          <p:nvPr/>
        </p:nvSpPr>
        <p:spPr>
          <a:xfrm>
            <a:off x="2474782" y="1851323"/>
            <a:ext cx="45656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Middleware</a:t>
            </a:r>
            <a:endParaRPr sz="650">
              <a:latin typeface="Arial"/>
              <a:cs typeface="Arial"/>
            </a:endParaRPr>
          </a:p>
        </p:txBody>
      </p:sp>
      <p:sp>
        <p:nvSpPr>
          <p:cNvPr id="45" name="object 45"/>
          <p:cNvSpPr txBox="1"/>
          <p:nvPr/>
        </p:nvSpPr>
        <p:spPr>
          <a:xfrm>
            <a:off x="3605882" y="1794428"/>
            <a:ext cx="622300" cy="341630"/>
          </a:xfrm>
          <a:prstGeom prst="rect">
            <a:avLst/>
          </a:prstGeom>
        </p:spPr>
        <p:txBody>
          <a:bodyPr vert="horz" wrap="square" lIns="0" tIns="12065" rIns="0" bIns="0" rtlCol="0">
            <a:spAutoFit/>
          </a:bodyPr>
          <a:lstStyle/>
          <a:p>
            <a:pPr marL="146050" marR="88900" indent="-53340">
              <a:lnSpc>
                <a:spcPct val="159600"/>
              </a:lnSpc>
              <a:spcBef>
                <a:spcPts val="95"/>
              </a:spcBef>
            </a:pPr>
            <a:r>
              <a:rPr sz="650" spc="5" dirty="0">
                <a:solidFill>
                  <a:srgbClr val="231F20"/>
                </a:solidFill>
                <a:latin typeface="Arial"/>
                <a:cs typeface="Arial"/>
              </a:rPr>
              <a:t>Middleware  Local</a:t>
            </a:r>
            <a:r>
              <a:rPr sz="650" spc="-40"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46" name="object 46"/>
          <p:cNvSpPr txBox="1"/>
          <p:nvPr/>
        </p:nvSpPr>
        <p:spPr>
          <a:xfrm>
            <a:off x="2527571" y="2009410"/>
            <a:ext cx="3727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Local </a:t>
            </a:r>
            <a:r>
              <a:rPr sz="650" spc="10" dirty="0">
                <a:solidFill>
                  <a:srgbClr val="231F20"/>
                </a:solidFill>
                <a:latin typeface="Arial"/>
                <a:cs typeface="Arial"/>
              </a:rPr>
              <a:t>O</a:t>
            </a:r>
            <a:r>
              <a:rPr sz="650" spc="5" dirty="0">
                <a:solidFill>
                  <a:srgbClr val="231F20"/>
                </a:solidFill>
                <a:latin typeface="Arial"/>
                <a:cs typeface="Arial"/>
              </a:rPr>
              <a:t>S</a:t>
            </a:r>
            <a:endParaRPr sz="650">
              <a:latin typeface="Arial"/>
              <a:cs typeface="Arial"/>
            </a:endParaRPr>
          </a:p>
        </p:txBody>
      </p:sp>
      <p:grpSp>
        <p:nvGrpSpPr>
          <p:cNvPr id="47" name="object 47"/>
          <p:cNvGrpSpPr/>
          <p:nvPr/>
        </p:nvGrpSpPr>
        <p:grpSpPr>
          <a:xfrm>
            <a:off x="2441032" y="1526731"/>
            <a:ext cx="1689100" cy="158750"/>
            <a:chOff x="2441032" y="1526731"/>
            <a:chExt cx="1689100" cy="158750"/>
          </a:xfrm>
        </p:grpSpPr>
        <p:sp>
          <p:nvSpPr>
            <p:cNvPr id="48" name="object 48"/>
            <p:cNvSpPr/>
            <p:nvPr/>
          </p:nvSpPr>
          <p:spPr>
            <a:xfrm>
              <a:off x="2441032" y="1527665"/>
              <a:ext cx="476884" cy="157480"/>
            </a:xfrm>
            <a:custGeom>
              <a:avLst/>
              <a:gdLst/>
              <a:ahLst/>
              <a:cxnLst/>
              <a:rect l="l" t="t" r="r" b="b"/>
              <a:pathLst>
                <a:path w="476885" h="157480">
                  <a:moveTo>
                    <a:pt x="476345" y="0"/>
                  </a:moveTo>
                  <a:lnTo>
                    <a:pt x="0" y="0"/>
                  </a:lnTo>
                  <a:lnTo>
                    <a:pt x="0" y="157188"/>
                  </a:lnTo>
                  <a:lnTo>
                    <a:pt x="476345" y="157188"/>
                  </a:lnTo>
                  <a:lnTo>
                    <a:pt x="476345" y="0"/>
                  </a:lnTo>
                  <a:close/>
                </a:path>
              </a:pathLst>
            </a:custGeom>
            <a:solidFill>
              <a:srgbClr val="FFFFFF"/>
            </a:solidFill>
          </p:spPr>
          <p:txBody>
            <a:bodyPr wrap="square" lIns="0" tIns="0" rIns="0" bIns="0" rtlCol="0"/>
            <a:lstStyle/>
            <a:p>
              <a:endParaRPr/>
            </a:p>
          </p:txBody>
        </p:sp>
        <p:sp>
          <p:nvSpPr>
            <p:cNvPr id="49" name="object 49"/>
            <p:cNvSpPr/>
            <p:nvPr/>
          </p:nvSpPr>
          <p:spPr>
            <a:xfrm>
              <a:off x="3653316" y="1526731"/>
              <a:ext cx="476884" cy="157480"/>
            </a:xfrm>
            <a:custGeom>
              <a:avLst/>
              <a:gdLst/>
              <a:ahLst/>
              <a:cxnLst/>
              <a:rect l="l" t="t" r="r" b="b"/>
              <a:pathLst>
                <a:path w="476885" h="157480">
                  <a:moveTo>
                    <a:pt x="476349" y="0"/>
                  </a:moveTo>
                  <a:lnTo>
                    <a:pt x="0" y="0"/>
                  </a:lnTo>
                  <a:lnTo>
                    <a:pt x="0" y="157184"/>
                  </a:lnTo>
                  <a:lnTo>
                    <a:pt x="476349" y="157184"/>
                  </a:lnTo>
                  <a:lnTo>
                    <a:pt x="476349" y="0"/>
                  </a:lnTo>
                  <a:close/>
                </a:path>
              </a:pathLst>
            </a:custGeom>
            <a:solidFill>
              <a:srgbClr val="FFFFFF"/>
            </a:solidFill>
          </p:spPr>
          <p:txBody>
            <a:bodyPr wrap="square" lIns="0" tIns="0" rIns="0" bIns="0" rtlCol="0"/>
            <a:lstStyle/>
            <a:p>
              <a:endParaRPr/>
            </a:p>
          </p:txBody>
        </p:sp>
      </p:grpSp>
      <p:sp>
        <p:nvSpPr>
          <p:cNvPr id="52" name="object 52"/>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22</a:t>
            </a:r>
            <a:r>
              <a:rPr spc="-40" dirty="0"/>
              <a:t> </a:t>
            </a:r>
            <a:r>
              <a:rPr spc="-5" dirty="0"/>
              <a:t>/</a:t>
            </a:r>
            <a:r>
              <a:rPr spc="-35" dirty="0"/>
              <a:t> </a:t>
            </a:r>
            <a:r>
              <a:rPr spc="-5" dirty="0"/>
              <a:t>47</a:t>
            </a:r>
          </a:p>
        </p:txBody>
      </p:sp>
      <p:sp>
        <p:nvSpPr>
          <p:cNvPr id="53" name="object 17">
            <a:extLst>
              <a:ext uri="{FF2B5EF4-FFF2-40B4-BE49-F238E27FC236}">
                <a16:creationId xmlns:a16="http://schemas.microsoft.com/office/drawing/2014/main" id="{A81B88A7-EE48-DFF5-2C0B-844B09481584}"/>
              </a:ext>
            </a:extLst>
          </p:cNvPr>
          <p:cNvSpPr txBox="1"/>
          <p:nvPr/>
        </p:nvSpPr>
        <p:spPr>
          <a:xfrm>
            <a:off x="2426888" y="1553392"/>
            <a:ext cx="527685" cy="211454"/>
          </a:xfrm>
          <a:prstGeom prst="rect">
            <a:avLst/>
          </a:prstGeom>
          <a:ln w="5270">
            <a:solidFill>
              <a:srgbClr val="231F20"/>
            </a:solidFill>
          </a:ln>
        </p:spPr>
        <p:txBody>
          <a:bodyPr vert="horz" wrap="square" lIns="0" tIns="30480" rIns="0" bIns="0" rtlCol="0">
            <a:spAutoFit/>
          </a:bodyPr>
          <a:lstStyle/>
          <a:p>
            <a:pPr marL="52705">
              <a:lnSpc>
                <a:spcPct val="100000"/>
              </a:lnSpc>
              <a:spcBef>
                <a:spcPts val="240"/>
              </a:spcBef>
            </a:pPr>
            <a:r>
              <a:rPr sz="650" spc="5" dirty="0">
                <a:solidFill>
                  <a:srgbClr val="231F20"/>
                </a:solidFill>
                <a:latin typeface="Arial"/>
                <a:cs typeface="Arial"/>
              </a:rPr>
              <a:t>Application</a:t>
            </a:r>
            <a:endParaRPr sz="650" dirty="0">
              <a:latin typeface="Arial"/>
              <a:cs typeface="Arial"/>
            </a:endParaRPr>
          </a:p>
        </p:txBody>
      </p:sp>
      <p:sp>
        <p:nvSpPr>
          <p:cNvPr id="54" name="object 17">
            <a:extLst>
              <a:ext uri="{FF2B5EF4-FFF2-40B4-BE49-F238E27FC236}">
                <a16:creationId xmlns:a16="http://schemas.microsoft.com/office/drawing/2014/main" id="{7A97A642-5AE4-675F-4AB3-9C92F504E2C2}"/>
              </a:ext>
            </a:extLst>
          </p:cNvPr>
          <p:cNvSpPr txBox="1"/>
          <p:nvPr/>
        </p:nvSpPr>
        <p:spPr>
          <a:xfrm>
            <a:off x="3659724" y="1530549"/>
            <a:ext cx="527685" cy="211454"/>
          </a:xfrm>
          <a:prstGeom prst="rect">
            <a:avLst/>
          </a:prstGeom>
          <a:ln w="5270">
            <a:solidFill>
              <a:srgbClr val="231F20"/>
            </a:solidFill>
          </a:ln>
        </p:spPr>
        <p:txBody>
          <a:bodyPr vert="horz" wrap="square" lIns="0" tIns="30480" rIns="0" bIns="0" rtlCol="0">
            <a:spAutoFit/>
          </a:bodyPr>
          <a:lstStyle/>
          <a:p>
            <a:pPr marL="52705">
              <a:lnSpc>
                <a:spcPct val="100000"/>
              </a:lnSpc>
              <a:spcBef>
                <a:spcPts val="240"/>
              </a:spcBef>
            </a:pPr>
            <a:r>
              <a:rPr sz="650" spc="5" dirty="0">
                <a:solidFill>
                  <a:srgbClr val="231F20"/>
                </a:solidFill>
                <a:latin typeface="Arial"/>
                <a:cs typeface="Arial"/>
              </a:rPr>
              <a:t>Application</a:t>
            </a:r>
            <a:endParaRPr sz="650" dirty="0">
              <a:latin typeface="Arial"/>
              <a:cs typeface="Arial"/>
            </a:endParaRP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object 2"/>
          <p:cNvSpPr txBox="1"/>
          <p:nvPr/>
        </p:nvSpPr>
        <p:spPr>
          <a:xfrm>
            <a:off x="66713" y="716"/>
            <a:ext cx="6731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2"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3" action="ppaction://hlinksldjump"/>
              </a:rPr>
              <a:t>Clients</a:t>
            </a:r>
            <a:endParaRPr sz="600">
              <a:latin typeface="Arial"/>
              <a:cs typeface="Arial"/>
            </a:endParaRPr>
          </a:p>
        </p:txBody>
      </p:sp>
      <p:sp>
        <p:nvSpPr>
          <p:cNvPr id="3" name="object 3"/>
          <p:cNvSpPr txBox="1"/>
          <p:nvPr/>
        </p:nvSpPr>
        <p:spPr>
          <a:xfrm>
            <a:off x="3637572" y="716"/>
            <a:ext cx="9042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3" action="ppaction://hlinksldjump"/>
              </a:rPr>
              <a:t>Networked</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user</a:t>
            </a:r>
            <a:r>
              <a:rPr sz="600" spc="-25" dirty="0">
                <a:solidFill>
                  <a:srgbClr val="262685"/>
                </a:solidFill>
                <a:latin typeface="Arial"/>
                <a:cs typeface="Arial"/>
                <a:hlinkClick r:id="rId3" action="ppaction://hlinksldjump"/>
              </a:rPr>
              <a:t> </a:t>
            </a:r>
            <a:r>
              <a:rPr sz="600" spc="-5" dirty="0">
                <a:solidFill>
                  <a:srgbClr val="262685"/>
                </a:solidFill>
                <a:latin typeface="Arial"/>
                <a:cs typeface="Arial"/>
                <a:hlinkClick r:id="rId3" action="ppaction://hlinksldjump"/>
              </a:rPr>
              <a:t>interfaces</a:t>
            </a:r>
            <a:endParaRPr sz="600">
              <a:latin typeface="Arial"/>
              <a:cs typeface="Arial"/>
            </a:endParaRPr>
          </a:p>
        </p:txBody>
      </p:sp>
      <p:grpSp>
        <p:nvGrpSpPr>
          <p:cNvPr id="4" name="object 4"/>
          <p:cNvGrpSpPr/>
          <p:nvPr/>
        </p:nvGrpSpPr>
        <p:grpSpPr>
          <a:xfrm>
            <a:off x="612087" y="1042764"/>
            <a:ext cx="1592580" cy="749300"/>
            <a:chOff x="612087" y="1042764"/>
            <a:chExt cx="1592580" cy="749300"/>
          </a:xfrm>
        </p:grpSpPr>
        <p:sp>
          <p:nvSpPr>
            <p:cNvPr id="5" name="object 5"/>
            <p:cNvSpPr/>
            <p:nvPr/>
          </p:nvSpPr>
          <p:spPr>
            <a:xfrm>
              <a:off x="617485" y="1048161"/>
              <a:ext cx="738505" cy="738505"/>
            </a:xfrm>
            <a:custGeom>
              <a:avLst/>
              <a:gdLst/>
              <a:ahLst/>
              <a:cxnLst/>
              <a:rect l="l" t="t" r="r" b="b"/>
              <a:pathLst>
                <a:path w="738505" h="738505">
                  <a:moveTo>
                    <a:pt x="0" y="737915"/>
                  </a:moveTo>
                  <a:lnTo>
                    <a:pt x="737915" y="737915"/>
                  </a:lnTo>
                  <a:lnTo>
                    <a:pt x="737915" y="0"/>
                  </a:lnTo>
                  <a:lnTo>
                    <a:pt x="0" y="0"/>
                  </a:lnTo>
                  <a:lnTo>
                    <a:pt x="0" y="737915"/>
                  </a:lnTo>
                  <a:close/>
                </a:path>
              </a:pathLst>
            </a:custGeom>
            <a:ln w="10541">
              <a:solidFill>
                <a:srgbClr val="231F20"/>
              </a:solidFill>
            </a:ln>
          </p:spPr>
          <p:txBody>
            <a:bodyPr wrap="square" lIns="0" tIns="0" rIns="0" bIns="0" rtlCol="0"/>
            <a:lstStyle/>
            <a:p>
              <a:endParaRPr/>
            </a:p>
          </p:txBody>
        </p:sp>
        <p:sp>
          <p:nvSpPr>
            <p:cNvPr id="6" name="object 6"/>
            <p:cNvSpPr/>
            <p:nvPr/>
          </p:nvSpPr>
          <p:spPr>
            <a:xfrm>
              <a:off x="722903" y="1417120"/>
              <a:ext cx="527685" cy="105410"/>
            </a:xfrm>
            <a:custGeom>
              <a:avLst/>
              <a:gdLst/>
              <a:ahLst/>
              <a:cxnLst/>
              <a:rect l="l" t="t" r="r" b="b"/>
              <a:pathLst>
                <a:path w="527685" h="105409">
                  <a:moveTo>
                    <a:pt x="0" y="105414"/>
                  </a:moveTo>
                  <a:lnTo>
                    <a:pt x="527082" y="105414"/>
                  </a:lnTo>
                  <a:lnTo>
                    <a:pt x="527082" y="0"/>
                  </a:lnTo>
                  <a:lnTo>
                    <a:pt x="0" y="0"/>
                  </a:lnTo>
                  <a:lnTo>
                    <a:pt x="0" y="105414"/>
                  </a:lnTo>
                  <a:close/>
                </a:path>
              </a:pathLst>
            </a:custGeom>
            <a:ln w="5270">
              <a:solidFill>
                <a:srgbClr val="231F20"/>
              </a:solidFill>
            </a:ln>
          </p:spPr>
          <p:txBody>
            <a:bodyPr wrap="square" lIns="0" tIns="0" rIns="0" bIns="0" rtlCol="0"/>
            <a:lstStyle/>
            <a:p>
              <a:endParaRPr/>
            </a:p>
          </p:txBody>
        </p:sp>
        <p:sp>
          <p:nvSpPr>
            <p:cNvPr id="7" name="object 7"/>
            <p:cNvSpPr/>
            <p:nvPr/>
          </p:nvSpPr>
          <p:spPr>
            <a:xfrm>
              <a:off x="775613" y="1364411"/>
              <a:ext cx="422275" cy="52705"/>
            </a:xfrm>
            <a:custGeom>
              <a:avLst/>
              <a:gdLst/>
              <a:ahLst/>
              <a:cxnLst/>
              <a:rect l="l" t="t" r="r" b="b"/>
              <a:pathLst>
                <a:path w="422275" h="52705">
                  <a:moveTo>
                    <a:pt x="421664" y="0"/>
                  </a:moveTo>
                  <a:lnTo>
                    <a:pt x="0" y="0"/>
                  </a:lnTo>
                  <a:lnTo>
                    <a:pt x="0" y="52709"/>
                  </a:lnTo>
                  <a:lnTo>
                    <a:pt x="421664" y="52709"/>
                  </a:lnTo>
                  <a:lnTo>
                    <a:pt x="421664" y="0"/>
                  </a:lnTo>
                  <a:close/>
                </a:path>
              </a:pathLst>
            </a:custGeom>
            <a:solidFill>
              <a:srgbClr val="D1D3D4"/>
            </a:solidFill>
          </p:spPr>
          <p:txBody>
            <a:bodyPr wrap="square" lIns="0" tIns="0" rIns="0" bIns="0" rtlCol="0"/>
            <a:lstStyle/>
            <a:p>
              <a:endParaRPr/>
            </a:p>
          </p:txBody>
        </p:sp>
        <p:sp>
          <p:nvSpPr>
            <p:cNvPr id="8" name="object 8"/>
            <p:cNvSpPr/>
            <p:nvPr/>
          </p:nvSpPr>
          <p:spPr>
            <a:xfrm>
              <a:off x="722903" y="1100869"/>
              <a:ext cx="527685" cy="316865"/>
            </a:xfrm>
            <a:custGeom>
              <a:avLst/>
              <a:gdLst/>
              <a:ahLst/>
              <a:cxnLst/>
              <a:rect l="l" t="t" r="r" b="b"/>
              <a:pathLst>
                <a:path w="527685" h="316865">
                  <a:moveTo>
                    <a:pt x="52709" y="316251"/>
                  </a:moveTo>
                  <a:lnTo>
                    <a:pt x="474373" y="316251"/>
                  </a:lnTo>
                  <a:lnTo>
                    <a:pt x="474373" y="263541"/>
                  </a:lnTo>
                  <a:lnTo>
                    <a:pt x="52709" y="263541"/>
                  </a:lnTo>
                  <a:lnTo>
                    <a:pt x="52709" y="316251"/>
                  </a:lnTo>
                  <a:close/>
                </a:path>
                <a:path w="527685" h="316865">
                  <a:moveTo>
                    <a:pt x="0" y="263541"/>
                  </a:moveTo>
                  <a:lnTo>
                    <a:pt x="527082" y="263541"/>
                  </a:lnTo>
                  <a:lnTo>
                    <a:pt x="527082" y="0"/>
                  </a:lnTo>
                  <a:lnTo>
                    <a:pt x="0" y="0"/>
                  </a:lnTo>
                  <a:lnTo>
                    <a:pt x="0" y="263541"/>
                  </a:lnTo>
                  <a:close/>
                </a:path>
              </a:pathLst>
            </a:custGeom>
            <a:ln w="5270">
              <a:solidFill>
                <a:srgbClr val="231F20"/>
              </a:solidFill>
            </a:ln>
          </p:spPr>
          <p:txBody>
            <a:bodyPr wrap="square" lIns="0" tIns="0" rIns="0" bIns="0" rtlCol="0"/>
            <a:lstStyle/>
            <a:p>
              <a:endParaRPr/>
            </a:p>
          </p:txBody>
        </p:sp>
        <p:sp>
          <p:nvSpPr>
            <p:cNvPr id="9" name="object 9"/>
            <p:cNvSpPr/>
            <p:nvPr/>
          </p:nvSpPr>
          <p:spPr>
            <a:xfrm>
              <a:off x="1460819" y="1048161"/>
              <a:ext cx="738505" cy="738505"/>
            </a:xfrm>
            <a:custGeom>
              <a:avLst/>
              <a:gdLst/>
              <a:ahLst/>
              <a:cxnLst/>
              <a:rect l="l" t="t" r="r" b="b"/>
              <a:pathLst>
                <a:path w="738505" h="738505">
                  <a:moveTo>
                    <a:pt x="0" y="737915"/>
                  </a:moveTo>
                  <a:lnTo>
                    <a:pt x="737915" y="737915"/>
                  </a:lnTo>
                  <a:lnTo>
                    <a:pt x="737915" y="0"/>
                  </a:lnTo>
                  <a:lnTo>
                    <a:pt x="0" y="0"/>
                  </a:lnTo>
                  <a:lnTo>
                    <a:pt x="0" y="737915"/>
                  </a:lnTo>
                  <a:close/>
                </a:path>
              </a:pathLst>
            </a:custGeom>
            <a:ln w="10541">
              <a:solidFill>
                <a:srgbClr val="231F20"/>
              </a:solidFill>
            </a:ln>
          </p:spPr>
          <p:txBody>
            <a:bodyPr wrap="square" lIns="0" tIns="0" rIns="0" bIns="0" rtlCol="0"/>
            <a:lstStyle/>
            <a:p>
              <a:endParaRPr/>
            </a:p>
          </p:txBody>
        </p:sp>
        <p:sp>
          <p:nvSpPr>
            <p:cNvPr id="10" name="object 10"/>
            <p:cNvSpPr/>
            <p:nvPr/>
          </p:nvSpPr>
          <p:spPr>
            <a:xfrm>
              <a:off x="1566236" y="1417120"/>
              <a:ext cx="527685" cy="105410"/>
            </a:xfrm>
            <a:custGeom>
              <a:avLst/>
              <a:gdLst/>
              <a:ahLst/>
              <a:cxnLst/>
              <a:rect l="l" t="t" r="r" b="b"/>
              <a:pathLst>
                <a:path w="527685" h="105409">
                  <a:moveTo>
                    <a:pt x="0" y="105414"/>
                  </a:moveTo>
                  <a:lnTo>
                    <a:pt x="527082" y="105414"/>
                  </a:lnTo>
                  <a:lnTo>
                    <a:pt x="527082" y="0"/>
                  </a:lnTo>
                  <a:lnTo>
                    <a:pt x="0" y="0"/>
                  </a:lnTo>
                  <a:lnTo>
                    <a:pt x="0" y="105414"/>
                  </a:lnTo>
                  <a:close/>
                </a:path>
              </a:pathLst>
            </a:custGeom>
            <a:ln w="5270">
              <a:solidFill>
                <a:srgbClr val="231F20"/>
              </a:solidFill>
            </a:ln>
          </p:spPr>
          <p:txBody>
            <a:bodyPr wrap="square" lIns="0" tIns="0" rIns="0" bIns="0" rtlCol="0"/>
            <a:lstStyle/>
            <a:p>
              <a:endParaRPr/>
            </a:p>
          </p:txBody>
        </p:sp>
        <p:sp>
          <p:nvSpPr>
            <p:cNvPr id="11" name="object 11"/>
            <p:cNvSpPr/>
            <p:nvPr/>
          </p:nvSpPr>
          <p:spPr>
            <a:xfrm>
              <a:off x="1618941" y="1364411"/>
              <a:ext cx="422275" cy="52705"/>
            </a:xfrm>
            <a:custGeom>
              <a:avLst/>
              <a:gdLst/>
              <a:ahLst/>
              <a:cxnLst/>
              <a:rect l="l" t="t" r="r" b="b"/>
              <a:pathLst>
                <a:path w="422275" h="52705">
                  <a:moveTo>
                    <a:pt x="421668" y="0"/>
                  </a:moveTo>
                  <a:lnTo>
                    <a:pt x="0" y="0"/>
                  </a:lnTo>
                  <a:lnTo>
                    <a:pt x="0" y="52709"/>
                  </a:lnTo>
                  <a:lnTo>
                    <a:pt x="421668" y="52709"/>
                  </a:lnTo>
                  <a:lnTo>
                    <a:pt x="421668" y="0"/>
                  </a:lnTo>
                  <a:close/>
                </a:path>
              </a:pathLst>
            </a:custGeom>
            <a:solidFill>
              <a:srgbClr val="D1D3D4"/>
            </a:solidFill>
          </p:spPr>
          <p:txBody>
            <a:bodyPr wrap="square" lIns="0" tIns="0" rIns="0" bIns="0" rtlCol="0"/>
            <a:lstStyle/>
            <a:p>
              <a:endParaRPr/>
            </a:p>
          </p:txBody>
        </p:sp>
        <p:sp>
          <p:nvSpPr>
            <p:cNvPr id="12" name="object 12"/>
            <p:cNvSpPr/>
            <p:nvPr/>
          </p:nvSpPr>
          <p:spPr>
            <a:xfrm>
              <a:off x="1566236" y="1100869"/>
              <a:ext cx="527685" cy="316865"/>
            </a:xfrm>
            <a:custGeom>
              <a:avLst/>
              <a:gdLst/>
              <a:ahLst/>
              <a:cxnLst/>
              <a:rect l="l" t="t" r="r" b="b"/>
              <a:pathLst>
                <a:path w="527685" h="316865">
                  <a:moveTo>
                    <a:pt x="52704" y="316251"/>
                  </a:moveTo>
                  <a:lnTo>
                    <a:pt x="474373" y="316251"/>
                  </a:lnTo>
                  <a:lnTo>
                    <a:pt x="474373" y="263541"/>
                  </a:lnTo>
                  <a:lnTo>
                    <a:pt x="52704" y="263541"/>
                  </a:lnTo>
                  <a:lnTo>
                    <a:pt x="52704" y="316251"/>
                  </a:lnTo>
                  <a:close/>
                </a:path>
                <a:path w="527685" h="316865">
                  <a:moveTo>
                    <a:pt x="0" y="263541"/>
                  </a:moveTo>
                  <a:lnTo>
                    <a:pt x="527082" y="263541"/>
                  </a:lnTo>
                  <a:lnTo>
                    <a:pt x="527082" y="0"/>
                  </a:lnTo>
                  <a:lnTo>
                    <a:pt x="0" y="0"/>
                  </a:lnTo>
                  <a:lnTo>
                    <a:pt x="0" y="263541"/>
                  </a:lnTo>
                  <a:close/>
                </a:path>
              </a:pathLst>
            </a:custGeom>
            <a:ln w="5270">
              <a:solidFill>
                <a:srgbClr val="231F20"/>
              </a:solidFill>
            </a:ln>
          </p:spPr>
          <p:txBody>
            <a:bodyPr wrap="square" lIns="0" tIns="0" rIns="0" bIns="0" rtlCol="0"/>
            <a:lstStyle/>
            <a:p>
              <a:endParaRPr/>
            </a:p>
          </p:txBody>
        </p:sp>
      </p:grpSp>
      <p:sp>
        <p:nvSpPr>
          <p:cNvPr id="13" name="object 13"/>
          <p:cNvSpPr txBox="1"/>
          <p:nvPr/>
        </p:nvSpPr>
        <p:spPr>
          <a:xfrm>
            <a:off x="725539" y="1102716"/>
            <a:ext cx="521970" cy="220979"/>
          </a:xfrm>
          <a:prstGeom prst="rect">
            <a:avLst/>
          </a:prstGeom>
        </p:spPr>
        <p:txBody>
          <a:bodyPr vert="horz" wrap="square" lIns="0" tIns="21590" rIns="0" bIns="0" rtlCol="0">
            <a:spAutoFit/>
          </a:bodyPr>
          <a:lstStyle/>
          <a:p>
            <a:pPr marL="84455" marR="95885" indent="15875">
              <a:lnSpc>
                <a:spcPts val="740"/>
              </a:lnSpc>
              <a:spcBef>
                <a:spcPts val="170"/>
              </a:spcBef>
            </a:pPr>
            <a:r>
              <a:rPr sz="650" spc="5" dirty="0">
                <a:solidFill>
                  <a:srgbClr val="231F20"/>
                </a:solidFill>
                <a:latin typeface="Arial"/>
                <a:cs typeface="Arial"/>
              </a:rPr>
              <a:t>Window </a:t>
            </a:r>
            <a:r>
              <a:rPr sz="650" spc="-170" dirty="0">
                <a:solidFill>
                  <a:srgbClr val="231F20"/>
                </a:solidFill>
                <a:latin typeface="Arial"/>
                <a:cs typeface="Arial"/>
              </a:rPr>
              <a:t> </a:t>
            </a:r>
            <a:r>
              <a:rPr sz="650" spc="5" dirty="0">
                <a:solidFill>
                  <a:srgbClr val="231F20"/>
                </a:solidFill>
                <a:latin typeface="Arial"/>
                <a:cs typeface="Arial"/>
              </a:rPr>
              <a:t>manager</a:t>
            </a:r>
            <a:endParaRPr sz="650">
              <a:latin typeface="Arial"/>
              <a:cs typeface="Arial"/>
            </a:endParaRPr>
          </a:p>
        </p:txBody>
      </p:sp>
      <p:sp>
        <p:nvSpPr>
          <p:cNvPr id="14" name="object 14"/>
          <p:cNvSpPr txBox="1"/>
          <p:nvPr/>
        </p:nvSpPr>
        <p:spPr>
          <a:xfrm>
            <a:off x="1568871" y="1135973"/>
            <a:ext cx="521970" cy="127000"/>
          </a:xfrm>
          <a:prstGeom prst="rect">
            <a:avLst/>
          </a:prstGeom>
        </p:spPr>
        <p:txBody>
          <a:bodyPr vert="horz" wrap="square" lIns="0" tIns="13970" rIns="0" bIns="0" rtlCol="0">
            <a:spAutoFit/>
          </a:bodyPr>
          <a:lstStyle/>
          <a:p>
            <a:pPr marL="5588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grpSp>
        <p:nvGrpSpPr>
          <p:cNvPr id="15" name="object 15"/>
          <p:cNvGrpSpPr/>
          <p:nvPr/>
        </p:nvGrpSpPr>
        <p:grpSpPr>
          <a:xfrm>
            <a:off x="1112694" y="1469830"/>
            <a:ext cx="2883535" cy="690880"/>
            <a:chOff x="1112694" y="1469830"/>
            <a:chExt cx="2883535" cy="690880"/>
          </a:xfrm>
        </p:grpSpPr>
        <p:sp>
          <p:nvSpPr>
            <p:cNvPr id="16" name="object 16"/>
            <p:cNvSpPr/>
            <p:nvPr/>
          </p:nvSpPr>
          <p:spPr>
            <a:xfrm>
              <a:off x="2883940" y="1838785"/>
              <a:ext cx="1107440" cy="316865"/>
            </a:xfrm>
            <a:custGeom>
              <a:avLst/>
              <a:gdLst/>
              <a:ahLst/>
              <a:cxnLst/>
              <a:rect l="l" t="t" r="r" b="b"/>
              <a:pathLst>
                <a:path w="1107439" h="316864">
                  <a:moveTo>
                    <a:pt x="0" y="316251"/>
                  </a:moveTo>
                  <a:lnTo>
                    <a:pt x="1106878" y="316251"/>
                  </a:lnTo>
                  <a:lnTo>
                    <a:pt x="1106878" y="0"/>
                  </a:lnTo>
                  <a:lnTo>
                    <a:pt x="0" y="0"/>
                  </a:lnTo>
                  <a:lnTo>
                    <a:pt x="0" y="316251"/>
                  </a:lnTo>
                  <a:close/>
                </a:path>
              </a:pathLst>
            </a:custGeom>
            <a:ln w="10541">
              <a:solidFill>
                <a:srgbClr val="231F20"/>
              </a:solidFill>
            </a:ln>
          </p:spPr>
          <p:txBody>
            <a:bodyPr wrap="square" lIns="0" tIns="0" rIns="0" bIns="0" rtlCol="0"/>
            <a:lstStyle/>
            <a:p>
              <a:endParaRPr/>
            </a:p>
          </p:txBody>
        </p:sp>
        <p:sp>
          <p:nvSpPr>
            <p:cNvPr id="17" name="object 17"/>
            <p:cNvSpPr/>
            <p:nvPr/>
          </p:nvSpPr>
          <p:spPr>
            <a:xfrm>
              <a:off x="1987902" y="1507209"/>
              <a:ext cx="859155" cy="437515"/>
            </a:xfrm>
            <a:custGeom>
              <a:avLst/>
              <a:gdLst/>
              <a:ahLst/>
              <a:cxnLst/>
              <a:rect l="l" t="t" r="r" b="b"/>
              <a:pathLst>
                <a:path w="859155" h="437514">
                  <a:moveTo>
                    <a:pt x="0" y="0"/>
                  </a:moveTo>
                  <a:lnTo>
                    <a:pt x="0" y="278867"/>
                  </a:lnTo>
                  <a:lnTo>
                    <a:pt x="24707" y="370284"/>
                  </a:lnTo>
                  <a:lnTo>
                    <a:pt x="79062" y="417228"/>
                  </a:lnTo>
                  <a:lnTo>
                    <a:pt x="133418" y="434523"/>
                  </a:lnTo>
                  <a:lnTo>
                    <a:pt x="158125" y="436994"/>
                  </a:lnTo>
                  <a:lnTo>
                    <a:pt x="858659" y="436994"/>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4" cstate="print"/>
            <a:stretch>
              <a:fillRect/>
            </a:stretch>
          </p:blipFill>
          <p:spPr>
            <a:xfrm>
              <a:off x="1956026" y="1469830"/>
              <a:ext cx="63751" cy="74376"/>
            </a:xfrm>
            <a:prstGeom prst="rect">
              <a:avLst/>
            </a:prstGeom>
          </p:spPr>
        </p:pic>
        <p:pic>
          <p:nvPicPr>
            <p:cNvPr id="19" name="object 19"/>
            <p:cNvPicPr/>
            <p:nvPr/>
          </p:nvPicPr>
          <p:blipFill>
            <a:blip r:embed="rId5" cstate="print"/>
            <a:stretch>
              <a:fillRect/>
            </a:stretch>
          </p:blipFill>
          <p:spPr>
            <a:xfrm>
              <a:off x="2809563" y="1912325"/>
              <a:ext cx="74377" cy="63753"/>
            </a:xfrm>
            <a:prstGeom prst="rect">
              <a:avLst/>
            </a:prstGeom>
          </p:spPr>
        </p:pic>
        <p:sp>
          <p:nvSpPr>
            <p:cNvPr id="20" name="object 20"/>
            <p:cNvSpPr/>
            <p:nvPr/>
          </p:nvSpPr>
          <p:spPr>
            <a:xfrm>
              <a:off x="1144568" y="1507209"/>
              <a:ext cx="1702435" cy="542925"/>
            </a:xfrm>
            <a:custGeom>
              <a:avLst/>
              <a:gdLst/>
              <a:ahLst/>
              <a:cxnLst/>
              <a:rect l="l" t="t" r="r" b="b"/>
              <a:pathLst>
                <a:path w="1702435" h="542925">
                  <a:moveTo>
                    <a:pt x="0" y="0"/>
                  </a:moveTo>
                  <a:lnTo>
                    <a:pt x="0" y="384284"/>
                  </a:lnTo>
                  <a:lnTo>
                    <a:pt x="24707" y="475699"/>
                  </a:lnTo>
                  <a:lnTo>
                    <a:pt x="79063" y="522642"/>
                  </a:lnTo>
                  <a:lnTo>
                    <a:pt x="133420" y="539937"/>
                  </a:lnTo>
                  <a:lnTo>
                    <a:pt x="158127" y="542408"/>
                  </a:lnTo>
                  <a:lnTo>
                    <a:pt x="1701994" y="534988"/>
                  </a:lnTo>
                </a:path>
              </a:pathLst>
            </a:custGeom>
            <a:ln w="5270">
              <a:solidFill>
                <a:srgbClr val="231F20"/>
              </a:solidFill>
            </a:ln>
          </p:spPr>
          <p:txBody>
            <a:bodyPr wrap="square" lIns="0" tIns="0" rIns="0" bIns="0" rtlCol="0"/>
            <a:lstStyle/>
            <a:p>
              <a:endParaRPr/>
            </a:p>
          </p:txBody>
        </p:sp>
        <p:pic>
          <p:nvPicPr>
            <p:cNvPr id="21" name="object 21"/>
            <p:cNvPicPr/>
            <p:nvPr/>
          </p:nvPicPr>
          <p:blipFill>
            <a:blip r:embed="rId4" cstate="print"/>
            <a:stretch>
              <a:fillRect/>
            </a:stretch>
          </p:blipFill>
          <p:spPr>
            <a:xfrm>
              <a:off x="1112694" y="1469830"/>
              <a:ext cx="63751" cy="74376"/>
            </a:xfrm>
            <a:prstGeom prst="rect">
              <a:avLst/>
            </a:prstGeom>
          </p:spPr>
        </p:pic>
        <p:pic>
          <p:nvPicPr>
            <p:cNvPr id="22" name="object 22"/>
            <p:cNvPicPr/>
            <p:nvPr/>
          </p:nvPicPr>
          <p:blipFill>
            <a:blip r:embed="rId6" cstate="print"/>
            <a:stretch>
              <a:fillRect/>
            </a:stretch>
          </p:blipFill>
          <p:spPr>
            <a:xfrm>
              <a:off x="2809415" y="2010501"/>
              <a:ext cx="74524" cy="63751"/>
            </a:xfrm>
            <a:prstGeom prst="rect">
              <a:avLst/>
            </a:prstGeom>
          </p:spPr>
        </p:pic>
      </p:grpSp>
      <p:sp>
        <p:nvSpPr>
          <p:cNvPr id="23" name="object 23"/>
          <p:cNvSpPr txBox="1"/>
          <p:nvPr/>
        </p:nvSpPr>
        <p:spPr>
          <a:xfrm>
            <a:off x="2291089" y="1117946"/>
            <a:ext cx="5130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Xlib interface</a:t>
            </a:r>
            <a:endParaRPr sz="650">
              <a:latin typeface="Arial"/>
              <a:cs typeface="Arial"/>
            </a:endParaRPr>
          </a:p>
        </p:txBody>
      </p:sp>
      <p:sp>
        <p:nvSpPr>
          <p:cNvPr id="24" name="object 24"/>
          <p:cNvSpPr txBox="1"/>
          <p:nvPr/>
        </p:nvSpPr>
        <p:spPr>
          <a:xfrm>
            <a:off x="2315230" y="1605439"/>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X protocol</a:t>
            </a:r>
            <a:endParaRPr sz="650">
              <a:latin typeface="Arial"/>
              <a:cs typeface="Arial"/>
            </a:endParaRPr>
          </a:p>
        </p:txBody>
      </p:sp>
      <p:sp>
        <p:nvSpPr>
          <p:cNvPr id="25" name="object 25"/>
          <p:cNvSpPr txBox="1"/>
          <p:nvPr/>
        </p:nvSpPr>
        <p:spPr>
          <a:xfrm>
            <a:off x="2889211" y="1795228"/>
            <a:ext cx="1096645" cy="610870"/>
          </a:xfrm>
          <a:prstGeom prst="rect">
            <a:avLst/>
          </a:prstGeom>
        </p:spPr>
        <p:txBody>
          <a:bodyPr vert="horz" wrap="square" lIns="0" tIns="12065" rIns="0" bIns="0" rtlCol="0">
            <a:spAutoFit/>
          </a:bodyPr>
          <a:lstStyle/>
          <a:p>
            <a:pPr marL="285750" marR="267970" indent="-27940" algn="ctr">
              <a:lnSpc>
                <a:spcPct val="155600"/>
              </a:lnSpc>
              <a:spcBef>
                <a:spcPts val="95"/>
              </a:spcBef>
            </a:pPr>
            <a:r>
              <a:rPr sz="650" spc="5" dirty="0">
                <a:solidFill>
                  <a:srgbClr val="231F20"/>
                </a:solidFill>
                <a:latin typeface="Arial"/>
                <a:cs typeface="Arial"/>
              </a:rPr>
              <a:t>X kernel </a:t>
            </a:r>
            <a:r>
              <a:rPr sz="650" spc="10" dirty="0">
                <a:solidFill>
                  <a:srgbClr val="231F20"/>
                </a:solidFill>
                <a:latin typeface="Arial"/>
                <a:cs typeface="Arial"/>
              </a:rPr>
              <a:t> </a:t>
            </a:r>
            <a:r>
              <a:rPr sz="650" spc="5" dirty="0">
                <a:solidFill>
                  <a:srgbClr val="231F20"/>
                </a:solidFill>
                <a:latin typeface="Arial"/>
                <a:cs typeface="Arial"/>
              </a:rPr>
              <a:t>Device</a:t>
            </a:r>
            <a:r>
              <a:rPr sz="650" dirty="0">
                <a:solidFill>
                  <a:srgbClr val="231F20"/>
                </a:solidFill>
                <a:latin typeface="Arial"/>
                <a:cs typeface="Arial"/>
              </a:rPr>
              <a:t> </a:t>
            </a:r>
            <a:r>
              <a:rPr sz="650" spc="5" dirty="0">
                <a:solidFill>
                  <a:srgbClr val="231F20"/>
                </a:solidFill>
                <a:latin typeface="Arial"/>
                <a:cs typeface="Arial"/>
              </a:rPr>
              <a:t>drivers</a:t>
            </a:r>
            <a:endParaRPr sz="650">
              <a:latin typeface="Arial"/>
              <a:cs typeface="Arial"/>
            </a:endParaRPr>
          </a:p>
          <a:p>
            <a:pPr>
              <a:lnSpc>
                <a:spcPct val="100000"/>
              </a:lnSpc>
              <a:spcBef>
                <a:spcPts val="30"/>
              </a:spcBef>
            </a:pPr>
            <a:endParaRPr sz="600">
              <a:latin typeface="Arial"/>
              <a:cs typeface="Arial"/>
            </a:endParaRPr>
          </a:p>
          <a:p>
            <a:pPr marL="90805" marR="31750" algn="ctr">
              <a:lnSpc>
                <a:spcPts val="740"/>
              </a:lnSpc>
            </a:pPr>
            <a:r>
              <a:rPr sz="650" spc="-5" dirty="0">
                <a:solidFill>
                  <a:srgbClr val="231F20"/>
                </a:solidFill>
                <a:latin typeface="Arial"/>
                <a:cs typeface="Arial"/>
              </a:rPr>
              <a:t>Terminal</a:t>
            </a:r>
            <a:r>
              <a:rPr sz="650" spc="-30" dirty="0">
                <a:solidFill>
                  <a:srgbClr val="231F20"/>
                </a:solidFill>
                <a:latin typeface="Arial"/>
                <a:cs typeface="Arial"/>
              </a:rPr>
              <a:t> </a:t>
            </a:r>
            <a:r>
              <a:rPr sz="650" spc="5" dirty="0">
                <a:solidFill>
                  <a:srgbClr val="231F20"/>
                </a:solidFill>
                <a:latin typeface="Arial"/>
                <a:cs typeface="Arial"/>
              </a:rPr>
              <a:t>(includes</a:t>
            </a:r>
            <a:r>
              <a:rPr sz="650" spc="-30" dirty="0">
                <a:solidFill>
                  <a:srgbClr val="231F20"/>
                </a:solidFill>
                <a:latin typeface="Arial"/>
                <a:cs typeface="Arial"/>
              </a:rPr>
              <a:t> </a:t>
            </a:r>
            <a:r>
              <a:rPr sz="650" spc="5" dirty="0">
                <a:solidFill>
                  <a:srgbClr val="231F20"/>
                </a:solidFill>
                <a:latin typeface="Arial"/>
                <a:cs typeface="Arial"/>
              </a:rPr>
              <a:t>display </a:t>
            </a:r>
            <a:r>
              <a:rPr sz="650" spc="-165" dirty="0">
                <a:solidFill>
                  <a:srgbClr val="231F20"/>
                </a:solidFill>
                <a:latin typeface="Arial"/>
                <a:cs typeface="Arial"/>
              </a:rPr>
              <a:t> </a:t>
            </a:r>
            <a:r>
              <a:rPr sz="650" spc="5" dirty="0">
                <a:solidFill>
                  <a:srgbClr val="231F20"/>
                </a:solidFill>
                <a:latin typeface="Arial"/>
                <a:cs typeface="Arial"/>
              </a:rPr>
              <a:t>keyboard,</a:t>
            </a:r>
            <a:r>
              <a:rPr sz="650" spc="-10" dirty="0">
                <a:solidFill>
                  <a:srgbClr val="231F20"/>
                </a:solidFill>
                <a:latin typeface="Arial"/>
                <a:cs typeface="Arial"/>
              </a:rPr>
              <a:t> </a:t>
            </a:r>
            <a:r>
              <a:rPr sz="650" spc="5" dirty="0">
                <a:solidFill>
                  <a:srgbClr val="231F20"/>
                </a:solidFill>
                <a:latin typeface="Arial"/>
                <a:cs typeface="Arial"/>
              </a:rPr>
              <a:t>mouse,</a:t>
            </a:r>
            <a:r>
              <a:rPr sz="650" spc="-10" dirty="0">
                <a:solidFill>
                  <a:srgbClr val="231F20"/>
                </a:solidFill>
                <a:latin typeface="Arial"/>
                <a:cs typeface="Arial"/>
              </a:rPr>
              <a:t> </a:t>
            </a:r>
            <a:r>
              <a:rPr sz="650" spc="5" dirty="0">
                <a:solidFill>
                  <a:srgbClr val="231F20"/>
                </a:solidFill>
                <a:latin typeface="Arial"/>
                <a:cs typeface="Arial"/>
              </a:rPr>
              <a:t>etc.)</a:t>
            </a:r>
            <a:endParaRPr sz="650">
              <a:latin typeface="Arial"/>
              <a:cs typeface="Arial"/>
            </a:endParaRPr>
          </a:p>
        </p:txBody>
      </p:sp>
      <p:grpSp>
        <p:nvGrpSpPr>
          <p:cNvPr id="26" name="object 26"/>
          <p:cNvGrpSpPr/>
          <p:nvPr/>
        </p:nvGrpSpPr>
        <p:grpSpPr>
          <a:xfrm>
            <a:off x="2037750" y="990054"/>
            <a:ext cx="1956435" cy="1010285"/>
            <a:chOff x="2037750" y="990054"/>
            <a:chExt cx="1956435" cy="1010285"/>
          </a:xfrm>
        </p:grpSpPr>
        <p:sp>
          <p:nvSpPr>
            <p:cNvPr id="27" name="object 27"/>
            <p:cNvSpPr/>
            <p:nvPr/>
          </p:nvSpPr>
          <p:spPr>
            <a:xfrm>
              <a:off x="2883940" y="995452"/>
              <a:ext cx="1103630" cy="763905"/>
            </a:xfrm>
            <a:custGeom>
              <a:avLst/>
              <a:gdLst/>
              <a:ahLst/>
              <a:cxnLst/>
              <a:rect l="l" t="t" r="r" b="b"/>
              <a:pathLst>
                <a:path w="1103629" h="763905">
                  <a:moveTo>
                    <a:pt x="0" y="763732"/>
                  </a:moveTo>
                  <a:lnTo>
                    <a:pt x="1103168" y="763732"/>
                  </a:lnTo>
                  <a:lnTo>
                    <a:pt x="1103168" y="0"/>
                  </a:lnTo>
                  <a:lnTo>
                    <a:pt x="0" y="0"/>
                  </a:lnTo>
                  <a:lnTo>
                    <a:pt x="0" y="763732"/>
                  </a:lnTo>
                  <a:close/>
                </a:path>
              </a:pathLst>
            </a:custGeom>
            <a:ln w="10541">
              <a:solidFill>
                <a:srgbClr val="231F20"/>
              </a:solidFill>
            </a:ln>
          </p:spPr>
          <p:txBody>
            <a:bodyPr wrap="square" lIns="0" tIns="0" rIns="0" bIns="0" rtlCol="0"/>
            <a:lstStyle/>
            <a:p>
              <a:endParaRPr/>
            </a:p>
          </p:txBody>
        </p:sp>
        <p:sp>
          <p:nvSpPr>
            <p:cNvPr id="28" name="object 28"/>
            <p:cNvSpPr/>
            <p:nvPr/>
          </p:nvSpPr>
          <p:spPr>
            <a:xfrm>
              <a:off x="2936656" y="1048162"/>
              <a:ext cx="1018540" cy="671830"/>
            </a:xfrm>
            <a:custGeom>
              <a:avLst/>
              <a:gdLst/>
              <a:ahLst/>
              <a:cxnLst/>
              <a:rect l="l" t="t" r="r" b="b"/>
              <a:pathLst>
                <a:path w="1018539" h="671830">
                  <a:moveTo>
                    <a:pt x="952748" y="0"/>
                  </a:moveTo>
                  <a:lnTo>
                    <a:pt x="65554" y="0"/>
                  </a:lnTo>
                  <a:lnTo>
                    <a:pt x="40098" y="5021"/>
                  </a:lnTo>
                  <a:lnTo>
                    <a:pt x="19254" y="18695"/>
                  </a:lnTo>
                  <a:lnTo>
                    <a:pt x="5171" y="38933"/>
                  </a:lnTo>
                  <a:lnTo>
                    <a:pt x="0" y="63646"/>
                  </a:lnTo>
                  <a:lnTo>
                    <a:pt x="0" y="607798"/>
                  </a:lnTo>
                  <a:lnTo>
                    <a:pt x="5171" y="632511"/>
                  </a:lnTo>
                  <a:lnTo>
                    <a:pt x="19254" y="652746"/>
                  </a:lnTo>
                  <a:lnTo>
                    <a:pt x="40098" y="666418"/>
                  </a:lnTo>
                  <a:lnTo>
                    <a:pt x="65554" y="671439"/>
                  </a:lnTo>
                  <a:lnTo>
                    <a:pt x="952748" y="671439"/>
                  </a:lnTo>
                  <a:lnTo>
                    <a:pt x="978199" y="666418"/>
                  </a:lnTo>
                  <a:lnTo>
                    <a:pt x="999044" y="652746"/>
                  </a:lnTo>
                  <a:lnTo>
                    <a:pt x="1013129" y="632511"/>
                  </a:lnTo>
                  <a:lnTo>
                    <a:pt x="1018302" y="607798"/>
                  </a:lnTo>
                  <a:lnTo>
                    <a:pt x="1018302" y="63646"/>
                  </a:lnTo>
                  <a:lnTo>
                    <a:pt x="1013129" y="38933"/>
                  </a:lnTo>
                  <a:lnTo>
                    <a:pt x="999044" y="18695"/>
                  </a:lnTo>
                  <a:lnTo>
                    <a:pt x="978199" y="5021"/>
                  </a:lnTo>
                  <a:lnTo>
                    <a:pt x="952748" y="0"/>
                  </a:lnTo>
                  <a:close/>
                </a:path>
              </a:pathLst>
            </a:custGeom>
            <a:solidFill>
              <a:srgbClr val="BCBEC0"/>
            </a:solidFill>
          </p:spPr>
          <p:txBody>
            <a:bodyPr wrap="square" lIns="0" tIns="0" rIns="0" bIns="0" rtlCol="0"/>
            <a:lstStyle/>
            <a:p>
              <a:endParaRPr/>
            </a:p>
          </p:txBody>
        </p:sp>
        <p:sp>
          <p:nvSpPr>
            <p:cNvPr id="29" name="object 29"/>
            <p:cNvSpPr/>
            <p:nvPr/>
          </p:nvSpPr>
          <p:spPr>
            <a:xfrm>
              <a:off x="2936656" y="1048162"/>
              <a:ext cx="1018540" cy="671830"/>
            </a:xfrm>
            <a:custGeom>
              <a:avLst/>
              <a:gdLst/>
              <a:ahLst/>
              <a:cxnLst/>
              <a:rect l="l" t="t" r="r" b="b"/>
              <a:pathLst>
                <a:path w="1018539" h="671830">
                  <a:moveTo>
                    <a:pt x="65554" y="0"/>
                  </a:moveTo>
                  <a:lnTo>
                    <a:pt x="952748" y="0"/>
                  </a:lnTo>
                  <a:lnTo>
                    <a:pt x="978199" y="5021"/>
                  </a:lnTo>
                  <a:lnTo>
                    <a:pt x="999044" y="18695"/>
                  </a:lnTo>
                  <a:lnTo>
                    <a:pt x="1013129" y="38933"/>
                  </a:lnTo>
                  <a:lnTo>
                    <a:pt x="1018302" y="63646"/>
                  </a:lnTo>
                  <a:lnTo>
                    <a:pt x="1018302" y="607798"/>
                  </a:lnTo>
                  <a:lnTo>
                    <a:pt x="1013129" y="632511"/>
                  </a:lnTo>
                  <a:lnTo>
                    <a:pt x="999044" y="652746"/>
                  </a:lnTo>
                  <a:lnTo>
                    <a:pt x="978199" y="666418"/>
                  </a:lnTo>
                  <a:lnTo>
                    <a:pt x="952748" y="671439"/>
                  </a:lnTo>
                  <a:lnTo>
                    <a:pt x="65554" y="671439"/>
                  </a:lnTo>
                  <a:lnTo>
                    <a:pt x="40098" y="666418"/>
                  </a:lnTo>
                  <a:lnTo>
                    <a:pt x="19254" y="652746"/>
                  </a:lnTo>
                  <a:lnTo>
                    <a:pt x="5171" y="632511"/>
                  </a:lnTo>
                  <a:lnTo>
                    <a:pt x="0" y="607798"/>
                  </a:lnTo>
                  <a:lnTo>
                    <a:pt x="0" y="63646"/>
                  </a:lnTo>
                  <a:lnTo>
                    <a:pt x="5171" y="38933"/>
                  </a:lnTo>
                  <a:lnTo>
                    <a:pt x="19254" y="18695"/>
                  </a:lnTo>
                  <a:lnTo>
                    <a:pt x="40098" y="5021"/>
                  </a:lnTo>
                  <a:lnTo>
                    <a:pt x="65554" y="0"/>
                  </a:lnTo>
                  <a:close/>
                </a:path>
              </a:pathLst>
            </a:custGeom>
            <a:ln w="5270">
              <a:solidFill>
                <a:srgbClr val="231F20"/>
              </a:solidFill>
            </a:ln>
          </p:spPr>
          <p:txBody>
            <a:bodyPr wrap="square" lIns="0" tIns="0" rIns="0" bIns="0" rtlCol="0"/>
            <a:lstStyle/>
            <a:p>
              <a:endParaRPr/>
            </a:p>
          </p:txBody>
        </p:sp>
        <p:sp>
          <p:nvSpPr>
            <p:cNvPr id="30" name="object 30"/>
            <p:cNvSpPr/>
            <p:nvPr/>
          </p:nvSpPr>
          <p:spPr>
            <a:xfrm>
              <a:off x="3162612" y="1135800"/>
              <a:ext cx="304800" cy="502284"/>
            </a:xfrm>
            <a:custGeom>
              <a:avLst/>
              <a:gdLst/>
              <a:ahLst/>
              <a:cxnLst/>
              <a:rect l="l" t="t" r="r" b="b"/>
              <a:pathLst>
                <a:path w="304800" h="502285">
                  <a:moveTo>
                    <a:pt x="88301" y="0"/>
                  </a:moveTo>
                  <a:lnTo>
                    <a:pt x="0" y="822"/>
                  </a:lnTo>
                  <a:lnTo>
                    <a:pt x="231901" y="242623"/>
                  </a:lnTo>
                  <a:lnTo>
                    <a:pt x="21461" y="501750"/>
                  </a:lnTo>
                  <a:lnTo>
                    <a:pt x="63551" y="501750"/>
                  </a:lnTo>
                  <a:lnTo>
                    <a:pt x="304529" y="221167"/>
                  </a:lnTo>
                  <a:lnTo>
                    <a:pt x="88301" y="0"/>
                  </a:lnTo>
                  <a:close/>
                </a:path>
              </a:pathLst>
            </a:custGeom>
            <a:solidFill>
              <a:srgbClr val="FFFFFF"/>
            </a:solidFill>
          </p:spPr>
          <p:txBody>
            <a:bodyPr wrap="square" lIns="0" tIns="0" rIns="0" bIns="0" rtlCol="0"/>
            <a:lstStyle/>
            <a:p>
              <a:endParaRPr/>
            </a:p>
          </p:txBody>
        </p:sp>
        <p:sp>
          <p:nvSpPr>
            <p:cNvPr id="31" name="object 31"/>
            <p:cNvSpPr/>
            <p:nvPr/>
          </p:nvSpPr>
          <p:spPr>
            <a:xfrm>
              <a:off x="3162612" y="1135800"/>
              <a:ext cx="304800" cy="502284"/>
            </a:xfrm>
            <a:custGeom>
              <a:avLst/>
              <a:gdLst/>
              <a:ahLst/>
              <a:cxnLst/>
              <a:rect l="l" t="t" r="r" b="b"/>
              <a:pathLst>
                <a:path w="304800" h="502285">
                  <a:moveTo>
                    <a:pt x="0" y="822"/>
                  </a:moveTo>
                  <a:lnTo>
                    <a:pt x="88301" y="0"/>
                  </a:lnTo>
                  <a:lnTo>
                    <a:pt x="304529" y="221167"/>
                  </a:lnTo>
                  <a:lnTo>
                    <a:pt x="63551" y="501750"/>
                  </a:lnTo>
                  <a:lnTo>
                    <a:pt x="21461" y="501750"/>
                  </a:lnTo>
                  <a:lnTo>
                    <a:pt x="231901" y="242623"/>
                  </a:lnTo>
                  <a:lnTo>
                    <a:pt x="0" y="822"/>
                  </a:lnTo>
                  <a:close/>
                </a:path>
              </a:pathLst>
            </a:custGeom>
            <a:ln w="5270">
              <a:solidFill>
                <a:srgbClr val="231F20"/>
              </a:solidFill>
            </a:ln>
          </p:spPr>
          <p:txBody>
            <a:bodyPr wrap="square" lIns="0" tIns="0" rIns="0" bIns="0" rtlCol="0"/>
            <a:lstStyle/>
            <a:p>
              <a:endParaRPr/>
            </a:p>
          </p:txBody>
        </p:sp>
        <p:sp>
          <p:nvSpPr>
            <p:cNvPr id="32" name="object 32"/>
            <p:cNvSpPr/>
            <p:nvPr/>
          </p:nvSpPr>
          <p:spPr>
            <a:xfrm>
              <a:off x="3423797" y="1142156"/>
              <a:ext cx="304800" cy="502284"/>
            </a:xfrm>
            <a:custGeom>
              <a:avLst/>
              <a:gdLst/>
              <a:ahLst/>
              <a:cxnLst/>
              <a:rect l="l" t="t" r="r" b="b"/>
              <a:pathLst>
                <a:path w="304800" h="502285">
                  <a:moveTo>
                    <a:pt x="283068" y="0"/>
                  </a:moveTo>
                  <a:lnTo>
                    <a:pt x="240977" y="0"/>
                  </a:lnTo>
                  <a:lnTo>
                    <a:pt x="0" y="280584"/>
                  </a:lnTo>
                  <a:lnTo>
                    <a:pt x="216216" y="501751"/>
                  </a:lnTo>
                  <a:lnTo>
                    <a:pt x="304529" y="500924"/>
                  </a:lnTo>
                  <a:lnTo>
                    <a:pt x="72627" y="259128"/>
                  </a:lnTo>
                  <a:lnTo>
                    <a:pt x="283068" y="0"/>
                  </a:lnTo>
                  <a:close/>
                </a:path>
              </a:pathLst>
            </a:custGeom>
            <a:solidFill>
              <a:srgbClr val="FFFFFF"/>
            </a:solidFill>
          </p:spPr>
          <p:txBody>
            <a:bodyPr wrap="square" lIns="0" tIns="0" rIns="0" bIns="0" rtlCol="0"/>
            <a:lstStyle/>
            <a:p>
              <a:endParaRPr/>
            </a:p>
          </p:txBody>
        </p:sp>
        <p:sp>
          <p:nvSpPr>
            <p:cNvPr id="33" name="object 33"/>
            <p:cNvSpPr/>
            <p:nvPr/>
          </p:nvSpPr>
          <p:spPr>
            <a:xfrm>
              <a:off x="3423797" y="1142156"/>
              <a:ext cx="304800" cy="502284"/>
            </a:xfrm>
            <a:custGeom>
              <a:avLst/>
              <a:gdLst/>
              <a:ahLst/>
              <a:cxnLst/>
              <a:rect l="l" t="t" r="r" b="b"/>
              <a:pathLst>
                <a:path w="304800" h="502285">
                  <a:moveTo>
                    <a:pt x="304529" y="500924"/>
                  </a:moveTo>
                  <a:lnTo>
                    <a:pt x="216216" y="501751"/>
                  </a:lnTo>
                  <a:lnTo>
                    <a:pt x="0" y="280584"/>
                  </a:lnTo>
                  <a:lnTo>
                    <a:pt x="240977" y="0"/>
                  </a:lnTo>
                  <a:lnTo>
                    <a:pt x="283068" y="0"/>
                  </a:lnTo>
                  <a:lnTo>
                    <a:pt x="72627" y="259128"/>
                  </a:lnTo>
                  <a:lnTo>
                    <a:pt x="304529" y="500924"/>
                  </a:lnTo>
                  <a:close/>
                </a:path>
              </a:pathLst>
            </a:custGeom>
            <a:ln w="5270">
              <a:solidFill>
                <a:srgbClr val="231F20"/>
              </a:solidFill>
            </a:ln>
          </p:spPr>
          <p:txBody>
            <a:bodyPr wrap="square" lIns="0" tIns="0" rIns="0" bIns="0" rtlCol="0"/>
            <a:lstStyle/>
            <a:p>
              <a:endParaRPr/>
            </a:p>
          </p:txBody>
        </p:sp>
        <p:sp>
          <p:nvSpPr>
            <p:cNvPr id="34" name="object 34"/>
            <p:cNvSpPr/>
            <p:nvPr/>
          </p:nvSpPr>
          <p:spPr>
            <a:xfrm>
              <a:off x="2040607" y="1258993"/>
              <a:ext cx="1950720" cy="738505"/>
            </a:xfrm>
            <a:custGeom>
              <a:avLst/>
              <a:gdLst/>
              <a:ahLst/>
              <a:cxnLst/>
              <a:rect l="l" t="t" r="r" b="b"/>
              <a:pathLst>
                <a:path w="1950720" h="738505">
                  <a:moveTo>
                    <a:pt x="843332" y="737911"/>
                  </a:moveTo>
                  <a:lnTo>
                    <a:pt x="1950211" y="737911"/>
                  </a:lnTo>
                </a:path>
                <a:path w="1950720" h="738505">
                  <a:moveTo>
                    <a:pt x="272442" y="0"/>
                  </a:moveTo>
                  <a:lnTo>
                    <a:pt x="0" y="141998"/>
                  </a:lnTo>
                </a:path>
                <a:path w="1950720" h="738505">
                  <a:moveTo>
                    <a:pt x="474387" y="474378"/>
                  </a:moveTo>
                  <a:lnTo>
                    <a:pt x="474387" y="685210"/>
                  </a:lnTo>
                </a:path>
              </a:pathLst>
            </a:custGeom>
            <a:ln w="5270">
              <a:solidFill>
                <a:srgbClr val="231F20"/>
              </a:solidFill>
            </a:ln>
          </p:spPr>
          <p:txBody>
            <a:bodyPr wrap="square" lIns="0" tIns="0" rIns="0" bIns="0" rtlCol="0"/>
            <a:lstStyle/>
            <a:p>
              <a:endParaRPr/>
            </a:p>
          </p:txBody>
        </p:sp>
      </p:grpSp>
      <p:sp>
        <p:nvSpPr>
          <p:cNvPr id="35" name="object 35"/>
          <p:cNvSpPr txBox="1"/>
          <p:nvPr/>
        </p:nvSpPr>
        <p:spPr>
          <a:xfrm>
            <a:off x="95300" y="188846"/>
            <a:ext cx="2657475" cy="805815"/>
          </a:xfrm>
          <a:prstGeom prst="rect">
            <a:avLst/>
          </a:prstGeom>
        </p:spPr>
        <p:txBody>
          <a:bodyPr vert="horz" wrap="square" lIns="0" tIns="17145" rIns="0" bIns="0" rtlCol="0">
            <a:spAutoFit/>
          </a:bodyPr>
          <a:lstStyle/>
          <a:p>
            <a:pPr algn="ctr">
              <a:lnSpc>
                <a:spcPct val="100000"/>
              </a:lnSpc>
              <a:spcBef>
                <a:spcPts val="135"/>
              </a:spcBef>
            </a:pPr>
            <a:r>
              <a:rPr sz="1400" spc="15" dirty="0">
                <a:solidFill>
                  <a:srgbClr val="3333B2"/>
                </a:solidFill>
                <a:latin typeface="Arial"/>
                <a:cs typeface="Arial"/>
              </a:rPr>
              <a:t>Example:</a:t>
            </a:r>
            <a:r>
              <a:rPr sz="1400" spc="90" dirty="0">
                <a:solidFill>
                  <a:srgbClr val="3333B2"/>
                </a:solidFill>
                <a:latin typeface="Arial"/>
                <a:cs typeface="Arial"/>
              </a:rPr>
              <a:t> </a:t>
            </a:r>
            <a:r>
              <a:rPr sz="1400" spc="15" dirty="0">
                <a:solidFill>
                  <a:srgbClr val="3333B2"/>
                </a:solidFill>
                <a:latin typeface="Arial"/>
                <a:cs typeface="Arial"/>
              </a:rPr>
              <a:t>The</a:t>
            </a:r>
            <a:r>
              <a:rPr sz="1400" dirty="0">
                <a:solidFill>
                  <a:srgbClr val="3333B2"/>
                </a:solidFill>
                <a:latin typeface="Arial"/>
                <a:cs typeface="Arial"/>
              </a:rPr>
              <a:t> </a:t>
            </a:r>
            <a:r>
              <a:rPr sz="1400" spc="20" dirty="0">
                <a:solidFill>
                  <a:srgbClr val="3333B2"/>
                </a:solidFill>
                <a:latin typeface="Arial"/>
                <a:cs typeface="Arial"/>
              </a:rPr>
              <a:t>X</a:t>
            </a:r>
            <a:r>
              <a:rPr sz="1400" spc="-5" dirty="0">
                <a:solidFill>
                  <a:srgbClr val="3333B2"/>
                </a:solidFill>
                <a:latin typeface="Arial"/>
                <a:cs typeface="Arial"/>
              </a:rPr>
              <a:t> </a:t>
            </a:r>
            <a:r>
              <a:rPr sz="1400" spc="15" dirty="0">
                <a:solidFill>
                  <a:srgbClr val="3333B2"/>
                </a:solidFill>
                <a:latin typeface="Arial"/>
                <a:cs typeface="Arial"/>
              </a:rPr>
              <a:t>Window</a:t>
            </a:r>
            <a:r>
              <a:rPr sz="1400" dirty="0">
                <a:solidFill>
                  <a:srgbClr val="3333B2"/>
                </a:solidFill>
                <a:latin typeface="Arial"/>
                <a:cs typeface="Arial"/>
              </a:rPr>
              <a:t> </a:t>
            </a:r>
            <a:r>
              <a:rPr sz="1400" spc="15" dirty="0">
                <a:solidFill>
                  <a:srgbClr val="3333B2"/>
                </a:solidFill>
                <a:latin typeface="Arial"/>
                <a:cs typeface="Arial"/>
              </a:rPr>
              <a:t>system</a:t>
            </a:r>
            <a:endParaRPr sz="1400">
              <a:latin typeface="Arial"/>
              <a:cs typeface="Arial"/>
            </a:endParaRPr>
          </a:p>
          <a:p>
            <a:pPr marL="264160">
              <a:lnSpc>
                <a:spcPct val="100000"/>
              </a:lnSpc>
              <a:spcBef>
                <a:spcPts val="1195"/>
              </a:spcBef>
            </a:pPr>
            <a:r>
              <a:rPr sz="1200" spc="-5" dirty="0">
                <a:solidFill>
                  <a:srgbClr val="3333B2"/>
                </a:solidFill>
                <a:latin typeface="Arial"/>
                <a:cs typeface="Arial"/>
              </a:rPr>
              <a:t>Basic</a:t>
            </a:r>
            <a:r>
              <a:rPr sz="1200" spc="-30" dirty="0">
                <a:solidFill>
                  <a:srgbClr val="3333B2"/>
                </a:solidFill>
                <a:latin typeface="Arial"/>
                <a:cs typeface="Arial"/>
              </a:rPr>
              <a:t> </a:t>
            </a:r>
            <a:r>
              <a:rPr sz="1200" spc="-5" dirty="0">
                <a:solidFill>
                  <a:srgbClr val="3333B2"/>
                </a:solidFill>
                <a:latin typeface="Arial"/>
                <a:cs typeface="Arial"/>
              </a:rPr>
              <a:t>organization</a:t>
            </a:r>
            <a:endParaRPr sz="1200">
              <a:latin typeface="Arial"/>
              <a:cs typeface="Arial"/>
            </a:endParaRPr>
          </a:p>
          <a:p>
            <a:pPr marL="19685" algn="ctr">
              <a:lnSpc>
                <a:spcPct val="100000"/>
              </a:lnSpc>
              <a:spcBef>
                <a:spcPts val="1005"/>
              </a:spcBef>
              <a:tabLst>
                <a:tab pos="915669" algn="l"/>
              </a:tabLst>
            </a:pPr>
            <a:r>
              <a:rPr sz="650" spc="5" dirty="0">
                <a:solidFill>
                  <a:srgbClr val="231F20"/>
                </a:solidFill>
                <a:latin typeface="Arial"/>
                <a:cs typeface="Arial"/>
              </a:rPr>
              <a:t>Application server	Application</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36" name="object 36"/>
          <p:cNvSpPr txBox="1"/>
          <p:nvPr/>
        </p:nvSpPr>
        <p:spPr>
          <a:xfrm>
            <a:off x="3120731" y="853373"/>
            <a:ext cx="5854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User</a:t>
            </a:r>
            <a:r>
              <a:rPr sz="650" dirty="0">
                <a:solidFill>
                  <a:srgbClr val="231F20"/>
                </a:solidFill>
                <a:latin typeface="Arial"/>
                <a:cs typeface="Arial"/>
              </a:rPr>
              <a:t>'s </a:t>
            </a:r>
            <a:r>
              <a:rPr sz="650" spc="5" dirty="0">
                <a:solidFill>
                  <a:srgbClr val="231F20"/>
                </a:solidFill>
                <a:latin typeface="Arial"/>
                <a:cs typeface="Arial"/>
              </a:rPr>
              <a:t>terminal</a:t>
            </a:r>
            <a:endParaRPr sz="650">
              <a:latin typeface="Arial"/>
              <a:cs typeface="Arial"/>
            </a:endParaRPr>
          </a:p>
        </p:txBody>
      </p:sp>
      <p:sp>
        <p:nvSpPr>
          <p:cNvPr id="37" name="object 37"/>
          <p:cNvSpPr txBox="1"/>
          <p:nvPr/>
        </p:nvSpPr>
        <p:spPr>
          <a:xfrm>
            <a:off x="725539" y="1406808"/>
            <a:ext cx="521970" cy="127000"/>
          </a:xfrm>
          <a:prstGeom prst="rect">
            <a:avLst/>
          </a:prstGeom>
        </p:spPr>
        <p:txBody>
          <a:bodyPr vert="horz" wrap="square" lIns="0" tIns="13970" rIns="0" bIns="0" rtlCol="0">
            <a:spAutoFit/>
          </a:bodyPr>
          <a:lstStyle/>
          <a:p>
            <a:pPr marL="9525" algn="ctr">
              <a:lnSpc>
                <a:spcPct val="100000"/>
              </a:lnSpc>
              <a:spcBef>
                <a:spcPts val="110"/>
              </a:spcBef>
            </a:pPr>
            <a:r>
              <a:rPr sz="650" spc="5" dirty="0">
                <a:solidFill>
                  <a:srgbClr val="231F20"/>
                </a:solidFill>
                <a:latin typeface="Arial"/>
                <a:cs typeface="Arial"/>
              </a:rPr>
              <a:t>Xlib</a:t>
            </a:r>
            <a:endParaRPr sz="650">
              <a:latin typeface="Arial"/>
              <a:cs typeface="Arial"/>
            </a:endParaRPr>
          </a:p>
        </p:txBody>
      </p:sp>
      <p:sp>
        <p:nvSpPr>
          <p:cNvPr id="38" name="object 38"/>
          <p:cNvSpPr txBox="1"/>
          <p:nvPr/>
        </p:nvSpPr>
        <p:spPr>
          <a:xfrm>
            <a:off x="1568871" y="1406808"/>
            <a:ext cx="521970" cy="127000"/>
          </a:xfrm>
          <a:prstGeom prst="rect">
            <a:avLst/>
          </a:prstGeom>
        </p:spPr>
        <p:txBody>
          <a:bodyPr vert="horz" wrap="square" lIns="0" tIns="13970" rIns="0" bIns="0" rtlCol="0">
            <a:spAutoFit/>
          </a:bodyPr>
          <a:lstStyle/>
          <a:p>
            <a:pPr marL="9525" algn="ctr">
              <a:lnSpc>
                <a:spcPct val="100000"/>
              </a:lnSpc>
              <a:spcBef>
                <a:spcPts val="110"/>
              </a:spcBef>
            </a:pPr>
            <a:r>
              <a:rPr sz="650" spc="5" dirty="0">
                <a:solidFill>
                  <a:srgbClr val="231F20"/>
                </a:solidFill>
                <a:latin typeface="Arial"/>
                <a:cs typeface="Arial"/>
              </a:rPr>
              <a:t>Xlib</a:t>
            </a:r>
            <a:endParaRPr sz="650">
              <a:latin typeface="Arial"/>
              <a:cs typeface="Arial"/>
            </a:endParaRPr>
          </a:p>
        </p:txBody>
      </p:sp>
      <p:grpSp>
        <p:nvGrpSpPr>
          <p:cNvPr id="39" name="object 39"/>
          <p:cNvGrpSpPr/>
          <p:nvPr/>
        </p:nvGrpSpPr>
        <p:grpSpPr>
          <a:xfrm>
            <a:off x="617485" y="1519908"/>
            <a:ext cx="1581785" cy="5715"/>
            <a:chOff x="617485" y="1519908"/>
            <a:chExt cx="1581785" cy="5715"/>
          </a:xfrm>
        </p:grpSpPr>
        <p:sp>
          <p:nvSpPr>
            <p:cNvPr id="40" name="object 40"/>
            <p:cNvSpPr/>
            <p:nvPr/>
          </p:nvSpPr>
          <p:spPr>
            <a:xfrm>
              <a:off x="617485" y="1522543"/>
              <a:ext cx="738505" cy="0"/>
            </a:xfrm>
            <a:custGeom>
              <a:avLst/>
              <a:gdLst/>
              <a:ahLst/>
              <a:cxnLst/>
              <a:rect l="l" t="t" r="r" b="b"/>
              <a:pathLst>
                <a:path w="738505">
                  <a:moveTo>
                    <a:pt x="737915" y="0"/>
                  </a:moveTo>
                  <a:lnTo>
                    <a:pt x="0" y="0"/>
                  </a:lnTo>
                  <a:lnTo>
                    <a:pt x="737915" y="0"/>
                  </a:lnTo>
                  <a:close/>
                </a:path>
              </a:pathLst>
            </a:custGeom>
            <a:solidFill>
              <a:srgbClr val="231F20"/>
            </a:solidFill>
          </p:spPr>
          <p:txBody>
            <a:bodyPr wrap="square" lIns="0" tIns="0" rIns="0" bIns="0" rtlCol="0"/>
            <a:lstStyle/>
            <a:p>
              <a:endParaRPr/>
            </a:p>
          </p:txBody>
        </p:sp>
        <p:sp>
          <p:nvSpPr>
            <p:cNvPr id="41" name="object 41"/>
            <p:cNvSpPr/>
            <p:nvPr/>
          </p:nvSpPr>
          <p:spPr>
            <a:xfrm>
              <a:off x="617485" y="1522543"/>
              <a:ext cx="738505" cy="0"/>
            </a:xfrm>
            <a:custGeom>
              <a:avLst/>
              <a:gdLst/>
              <a:ahLst/>
              <a:cxnLst/>
              <a:rect l="l" t="t" r="r" b="b"/>
              <a:pathLst>
                <a:path w="738505">
                  <a:moveTo>
                    <a:pt x="0" y="0"/>
                  </a:moveTo>
                  <a:lnTo>
                    <a:pt x="737915" y="0"/>
                  </a:lnTo>
                  <a:lnTo>
                    <a:pt x="0" y="0"/>
                  </a:lnTo>
                  <a:close/>
                </a:path>
              </a:pathLst>
            </a:custGeom>
            <a:ln w="5270">
              <a:solidFill>
                <a:srgbClr val="231F20"/>
              </a:solidFill>
            </a:ln>
          </p:spPr>
          <p:txBody>
            <a:bodyPr wrap="square" lIns="0" tIns="0" rIns="0" bIns="0" rtlCol="0"/>
            <a:lstStyle/>
            <a:p>
              <a:endParaRPr/>
            </a:p>
          </p:txBody>
        </p:sp>
        <p:sp>
          <p:nvSpPr>
            <p:cNvPr id="42" name="object 42"/>
            <p:cNvSpPr/>
            <p:nvPr/>
          </p:nvSpPr>
          <p:spPr>
            <a:xfrm>
              <a:off x="1460819" y="1522543"/>
              <a:ext cx="738505" cy="0"/>
            </a:xfrm>
            <a:custGeom>
              <a:avLst/>
              <a:gdLst/>
              <a:ahLst/>
              <a:cxnLst/>
              <a:rect l="l" t="t" r="r" b="b"/>
              <a:pathLst>
                <a:path w="738505">
                  <a:moveTo>
                    <a:pt x="737914" y="0"/>
                  </a:moveTo>
                  <a:lnTo>
                    <a:pt x="0" y="0"/>
                  </a:lnTo>
                  <a:lnTo>
                    <a:pt x="737914" y="0"/>
                  </a:lnTo>
                  <a:close/>
                </a:path>
              </a:pathLst>
            </a:custGeom>
            <a:solidFill>
              <a:srgbClr val="231F20"/>
            </a:solidFill>
          </p:spPr>
          <p:txBody>
            <a:bodyPr wrap="square" lIns="0" tIns="0" rIns="0" bIns="0" rtlCol="0"/>
            <a:lstStyle/>
            <a:p>
              <a:endParaRPr/>
            </a:p>
          </p:txBody>
        </p:sp>
        <p:sp>
          <p:nvSpPr>
            <p:cNvPr id="43" name="object 43"/>
            <p:cNvSpPr/>
            <p:nvPr/>
          </p:nvSpPr>
          <p:spPr>
            <a:xfrm>
              <a:off x="1460819" y="1522543"/>
              <a:ext cx="738505" cy="0"/>
            </a:xfrm>
            <a:custGeom>
              <a:avLst/>
              <a:gdLst/>
              <a:ahLst/>
              <a:cxnLst/>
              <a:rect l="l" t="t" r="r" b="b"/>
              <a:pathLst>
                <a:path w="738505">
                  <a:moveTo>
                    <a:pt x="0" y="0"/>
                  </a:moveTo>
                  <a:lnTo>
                    <a:pt x="737914" y="0"/>
                  </a:lnTo>
                  <a:lnTo>
                    <a:pt x="0" y="0"/>
                  </a:lnTo>
                  <a:close/>
                </a:path>
              </a:pathLst>
            </a:custGeom>
            <a:ln w="5270">
              <a:solidFill>
                <a:srgbClr val="231F20"/>
              </a:solidFill>
            </a:ln>
          </p:spPr>
          <p:txBody>
            <a:bodyPr wrap="square" lIns="0" tIns="0" rIns="0" bIns="0" rtlCol="0"/>
            <a:lstStyle/>
            <a:p>
              <a:endParaRPr/>
            </a:p>
          </p:txBody>
        </p:sp>
      </p:grpSp>
      <p:sp>
        <p:nvSpPr>
          <p:cNvPr id="44" name="object 44"/>
          <p:cNvSpPr txBox="1"/>
          <p:nvPr/>
        </p:nvSpPr>
        <p:spPr>
          <a:xfrm>
            <a:off x="622756" y="1582611"/>
            <a:ext cx="727710" cy="127000"/>
          </a:xfrm>
          <a:prstGeom prst="rect">
            <a:avLst/>
          </a:prstGeom>
        </p:spPr>
        <p:txBody>
          <a:bodyPr vert="horz" wrap="square" lIns="0" tIns="13970" rIns="0" bIns="0" rtlCol="0">
            <a:spAutoFit/>
          </a:bodyPr>
          <a:lstStyle/>
          <a:p>
            <a:pPr marL="40640">
              <a:lnSpc>
                <a:spcPct val="100000"/>
              </a:lnSpc>
              <a:spcBef>
                <a:spcPts val="110"/>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46" name="object 46"/>
          <p:cNvSpPr txBox="1"/>
          <p:nvPr/>
        </p:nvSpPr>
        <p:spPr>
          <a:xfrm>
            <a:off x="66713" y="3331252"/>
            <a:ext cx="110553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7" action="ppaction://hlinksldjump"/>
              </a:rPr>
              <a:t>Example:</a:t>
            </a:r>
            <a:r>
              <a:rPr sz="600" spc="3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The</a:t>
            </a:r>
            <a:r>
              <a:rPr sz="600" spc="-1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X</a:t>
            </a:r>
            <a:r>
              <a:rPr sz="600" spc="-1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window</a:t>
            </a:r>
            <a:r>
              <a:rPr sz="600" spc="-10" dirty="0">
                <a:solidFill>
                  <a:srgbClr val="3333B2"/>
                </a:solidFill>
                <a:latin typeface="Arial"/>
                <a:cs typeface="Arial"/>
                <a:hlinkClick r:id="rId7" action="ppaction://hlinksldjump"/>
              </a:rPr>
              <a:t> </a:t>
            </a:r>
            <a:r>
              <a:rPr sz="600" spc="-5" dirty="0">
                <a:solidFill>
                  <a:srgbClr val="3333B2"/>
                </a:solidFill>
                <a:latin typeface="Arial"/>
                <a:cs typeface="Arial"/>
                <a:hlinkClick r:id="rId7" action="ppaction://hlinksldjump"/>
              </a:rPr>
              <a:t>system</a:t>
            </a:r>
            <a:endParaRPr sz="600">
              <a:latin typeface="Arial"/>
              <a:cs typeface="Arial"/>
            </a:endParaRPr>
          </a:p>
        </p:txBody>
      </p:sp>
      <p:sp>
        <p:nvSpPr>
          <p:cNvPr id="47" name="object 4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45" name="object 45"/>
          <p:cNvSpPr txBox="1"/>
          <p:nvPr/>
        </p:nvSpPr>
        <p:spPr>
          <a:xfrm>
            <a:off x="1466089" y="1582611"/>
            <a:ext cx="727710" cy="127000"/>
          </a:xfrm>
          <a:prstGeom prst="rect">
            <a:avLst/>
          </a:prstGeom>
        </p:spPr>
        <p:txBody>
          <a:bodyPr vert="horz" wrap="square" lIns="0" tIns="13970" rIns="0" bIns="0" rtlCol="0">
            <a:spAutoFit/>
          </a:bodyPr>
          <a:lstStyle/>
          <a:p>
            <a:pPr marL="40640">
              <a:lnSpc>
                <a:spcPct val="100000"/>
              </a:lnSpc>
              <a:spcBef>
                <a:spcPts val="110"/>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6731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Clients</a:t>
            </a:r>
            <a:endParaRPr sz="600">
              <a:latin typeface="Arial"/>
              <a:cs typeface="Arial"/>
            </a:endParaRPr>
          </a:p>
        </p:txBody>
      </p:sp>
      <p:sp>
        <p:nvSpPr>
          <p:cNvPr id="3" name="object 3"/>
          <p:cNvSpPr txBox="1"/>
          <p:nvPr/>
        </p:nvSpPr>
        <p:spPr>
          <a:xfrm>
            <a:off x="3637572" y="716"/>
            <a:ext cx="9042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Networked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user</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interfaces</a:t>
            </a:r>
            <a:endParaRPr sz="600">
              <a:latin typeface="Arial"/>
              <a:cs typeface="Arial"/>
            </a:endParaRPr>
          </a:p>
        </p:txBody>
      </p:sp>
      <p:grpSp>
        <p:nvGrpSpPr>
          <p:cNvPr id="4" name="object 4"/>
          <p:cNvGrpSpPr/>
          <p:nvPr/>
        </p:nvGrpSpPr>
        <p:grpSpPr>
          <a:xfrm>
            <a:off x="612087" y="1042764"/>
            <a:ext cx="1592580" cy="749300"/>
            <a:chOff x="612087" y="1042764"/>
            <a:chExt cx="1592580" cy="749300"/>
          </a:xfrm>
        </p:grpSpPr>
        <p:sp>
          <p:nvSpPr>
            <p:cNvPr id="5" name="object 5"/>
            <p:cNvSpPr/>
            <p:nvPr/>
          </p:nvSpPr>
          <p:spPr>
            <a:xfrm>
              <a:off x="617485" y="1048161"/>
              <a:ext cx="738505" cy="738505"/>
            </a:xfrm>
            <a:custGeom>
              <a:avLst/>
              <a:gdLst/>
              <a:ahLst/>
              <a:cxnLst/>
              <a:rect l="l" t="t" r="r" b="b"/>
              <a:pathLst>
                <a:path w="738505" h="738505">
                  <a:moveTo>
                    <a:pt x="0" y="737915"/>
                  </a:moveTo>
                  <a:lnTo>
                    <a:pt x="737915" y="737915"/>
                  </a:lnTo>
                  <a:lnTo>
                    <a:pt x="737915" y="0"/>
                  </a:lnTo>
                  <a:lnTo>
                    <a:pt x="0" y="0"/>
                  </a:lnTo>
                  <a:lnTo>
                    <a:pt x="0" y="737915"/>
                  </a:lnTo>
                  <a:close/>
                </a:path>
              </a:pathLst>
            </a:custGeom>
            <a:ln w="10541">
              <a:solidFill>
                <a:srgbClr val="231F20"/>
              </a:solidFill>
            </a:ln>
          </p:spPr>
          <p:txBody>
            <a:bodyPr wrap="square" lIns="0" tIns="0" rIns="0" bIns="0" rtlCol="0"/>
            <a:lstStyle/>
            <a:p>
              <a:endParaRPr/>
            </a:p>
          </p:txBody>
        </p:sp>
        <p:sp>
          <p:nvSpPr>
            <p:cNvPr id="6" name="object 6"/>
            <p:cNvSpPr/>
            <p:nvPr/>
          </p:nvSpPr>
          <p:spPr>
            <a:xfrm>
              <a:off x="722903" y="1417120"/>
              <a:ext cx="527685" cy="105410"/>
            </a:xfrm>
            <a:custGeom>
              <a:avLst/>
              <a:gdLst/>
              <a:ahLst/>
              <a:cxnLst/>
              <a:rect l="l" t="t" r="r" b="b"/>
              <a:pathLst>
                <a:path w="527685" h="105409">
                  <a:moveTo>
                    <a:pt x="0" y="105414"/>
                  </a:moveTo>
                  <a:lnTo>
                    <a:pt x="527082" y="105414"/>
                  </a:lnTo>
                  <a:lnTo>
                    <a:pt x="527082" y="0"/>
                  </a:lnTo>
                  <a:lnTo>
                    <a:pt x="0" y="0"/>
                  </a:lnTo>
                  <a:lnTo>
                    <a:pt x="0" y="105414"/>
                  </a:lnTo>
                  <a:close/>
                </a:path>
              </a:pathLst>
            </a:custGeom>
            <a:ln w="5270">
              <a:solidFill>
                <a:srgbClr val="231F20"/>
              </a:solidFill>
            </a:ln>
          </p:spPr>
          <p:txBody>
            <a:bodyPr wrap="square" lIns="0" tIns="0" rIns="0" bIns="0" rtlCol="0"/>
            <a:lstStyle/>
            <a:p>
              <a:endParaRPr/>
            </a:p>
          </p:txBody>
        </p:sp>
        <p:sp>
          <p:nvSpPr>
            <p:cNvPr id="7" name="object 7"/>
            <p:cNvSpPr/>
            <p:nvPr/>
          </p:nvSpPr>
          <p:spPr>
            <a:xfrm>
              <a:off x="775613" y="1364411"/>
              <a:ext cx="422275" cy="52705"/>
            </a:xfrm>
            <a:custGeom>
              <a:avLst/>
              <a:gdLst/>
              <a:ahLst/>
              <a:cxnLst/>
              <a:rect l="l" t="t" r="r" b="b"/>
              <a:pathLst>
                <a:path w="422275" h="52705">
                  <a:moveTo>
                    <a:pt x="421664" y="0"/>
                  </a:moveTo>
                  <a:lnTo>
                    <a:pt x="0" y="0"/>
                  </a:lnTo>
                  <a:lnTo>
                    <a:pt x="0" y="52709"/>
                  </a:lnTo>
                  <a:lnTo>
                    <a:pt x="421664" y="52709"/>
                  </a:lnTo>
                  <a:lnTo>
                    <a:pt x="421664" y="0"/>
                  </a:lnTo>
                  <a:close/>
                </a:path>
              </a:pathLst>
            </a:custGeom>
            <a:solidFill>
              <a:srgbClr val="D1D3D4"/>
            </a:solidFill>
          </p:spPr>
          <p:txBody>
            <a:bodyPr wrap="square" lIns="0" tIns="0" rIns="0" bIns="0" rtlCol="0"/>
            <a:lstStyle/>
            <a:p>
              <a:endParaRPr/>
            </a:p>
          </p:txBody>
        </p:sp>
        <p:sp>
          <p:nvSpPr>
            <p:cNvPr id="8" name="object 8"/>
            <p:cNvSpPr/>
            <p:nvPr/>
          </p:nvSpPr>
          <p:spPr>
            <a:xfrm>
              <a:off x="722903" y="1100869"/>
              <a:ext cx="527685" cy="316865"/>
            </a:xfrm>
            <a:custGeom>
              <a:avLst/>
              <a:gdLst/>
              <a:ahLst/>
              <a:cxnLst/>
              <a:rect l="l" t="t" r="r" b="b"/>
              <a:pathLst>
                <a:path w="527685" h="316865">
                  <a:moveTo>
                    <a:pt x="52709" y="316251"/>
                  </a:moveTo>
                  <a:lnTo>
                    <a:pt x="474373" y="316251"/>
                  </a:lnTo>
                  <a:lnTo>
                    <a:pt x="474373" y="263541"/>
                  </a:lnTo>
                  <a:lnTo>
                    <a:pt x="52709" y="263541"/>
                  </a:lnTo>
                  <a:lnTo>
                    <a:pt x="52709" y="316251"/>
                  </a:lnTo>
                  <a:close/>
                </a:path>
                <a:path w="527685" h="316865">
                  <a:moveTo>
                    <a:pt x="0" y="263541"/>
                  </a:moveTo>
                  <a:lnTo>
                    <a:pt x="527082" y="263541"/>
                  </a:lnTo>
                  <a:lnTo>
                    <a:pt x="527082" y="0"/>
                  </a:lnTo>
                  <a:lnTo>
                    <a:pt x="0" y="0"/>
                  </a:lnTo>
                  <a:lnTo>
                    <a:pt x="0" y="263541"/>
                  </a:lnTo>
                  <a:close/>
                </a:path>
              </a:pathLst>
            </a:custGeom>
            <a:ln w="5270">
              <a:solidFill>
                <a:srgbClr val="231F20"/>
              </a:solidFill>
            </a:ln>
          </p:spPr>
          <p:txBody>
            <a:bodyPr wrap="square" lIns="0" tIns="0" rIns="0" bIns="0" rtlCol="0"/>
            <a:lstStyle/>
            <a:p>
              <a:endParaRPr/>
            </a:p>
          </p:txBody>
        </p:sp>
        <p:sp>
          <p:nvSpPr>
            <p:cNvPr id="9" name="object 9"/>
            <p:cNvSpPr/>
            <p:nvPr/>
          </p:nvSpPr>
          <p:spPr>
            <a:xfrm>
              <a:off x="1460819" y="1048161"/>
              <a:ext cx="738505" cy="738505"/>
            </a:xfrm>
            <a:custGeom>
              <a:avLst/>
              <a:gdLst/>
              <a:ahLst/>
              <a:cxnLst/>
              <a:rect l="l" t="t" r="r" b="b"/>
              <a:pathLst>
                <a:path w="738505" h="738505">
                  <a:moveTo>
                    <a:pt x="0" y="737915"/>
                  </a:moveTo>
                  <a:lnTo>
                    <a:pt x="737915" y="737915"/>
                  </a:lnTo>
                  <a:lnTo>
                    <a:pt x="737915" y="0"/>
                  </a:lnTo>
                  <a:lnTo>
                    <a:pt x="0" y="0"/>
                  </a:lnTo>
                  <a:lnTo>
                    <a:pt x="0" y="737915"/>
                  </a:lnTo>
                  <a:close/>
                </a:path>
              </a:pathLst>
            </a:custGeom>
            <a:ln w="10541">
              <a:solidFill>
                <a:srgbClr val="231F20"/>
              </a:solidFill>
            </a:ln>
          </p:spPr>
          <p:txBody>
            <a:bodyPr wrap="square" lIns="0" tIns="0" rIns="0" bIns="0" rtlCol="0"/>
            <a:lstStyle/>
            <a:p>
              <a:endParaRPr/>
            </a:p>
          </p:txBody>
        </p:sp>
        <p:sp>
          <p:nvSpPr>
            <p:cNvPr id="10" name="object 10"/>
            <p:cNvSpPr/>
            <p:nvPr/>
          </p:nvSpPr>
          <p:spPr>
            <a:xfrm>
              <a:off x="1566236" y="1417120"/>
              <a:ext cx="527685" cy="105410"/>
            </a:xfrm>
            <a:custGeom>
              <a:avLst/>
              <a:gdLst/>
              <a:ahLst/>
              <a:cxnLst/>
              <a:rect l="l" t="t" r="r" b="b"/>
              <a:pathLst>
                <a:path w="527685" h="105409">
                  <a:moveTo>
                    <a:pt x="0" y="105414"/>
                  </a:moveTo>
                  <a:lnTo>
                    <a:pt x="527082" y="105414"/>
                  </a:lnTo>
                  <a:lnTo>
                    <a:pt x="527082" y="0"/>
                  </a:lnTo>
                  <a:lnTo>
                    <a:pt x="0" y="0"/>
                  </a:lnTo>
                  <a:lnTo>
                    <a:pt x="0" y="105414"/>
                  </a:lnTo>
                  <a:close/>
                </a:path>
              </a:pathLst>
            </a:custGeom>
            <a:ln w="5270">
              <a:solidFill>
                <a:srgbClr val="231F20"/>
              </a:solidFill>
            </a:ln>
          </p:spPr>
          <p:txBody>
            <a:bodyPr wrap="square" lIns="0" tIns="0" rIns="0" bIns="0" rtlCol="0"/>
            <a:lstStyle/>
            <a:p>
              <a:endParaRPr/>
            </a:p>
          </p:txBody>
        </p:sp>
        <p:sp>
          <p:nvSpPr>
            <p:cNvPr id="11" name="object 11"/>
            <p:cNvSpPr/>
            <p:nvPr/>
          </p:nvSpPr>
          <p:spPr>
            <a:xfrm>
              <a:off x="1618941" y="1364411"/>
              <a:ext cx="422275" cy="52705"/>
            </a:xfrm>
            <a:custGeom>
              <a:avLst/>
              <a:gdLst/>
              <a:ahLst/>
              <a:cxnLst/>
              <a:rect l="l" t="t" r="r" b="b"/>
              <a:pathLst>
                <a:path w="422275" h="52705">
                  <a:moveTo>
                    <a:pt x="421668" y="0"/>
                  </a:moveTo>
                  <a:lnTo>
                    <a:pt x="0" y="0"/>
                  </a:lnTo>
                  <a:lnTo>
                    <a:pt x="0" y="52709"/>
                  </a:lnTo>
                  <a:lnTo>
                    <a:pt x="421668" y="52709"/>
                  </a:lnTo>
                  <a:lnTo>
                    <a:pt x="421668" y="0"/>
                  </a:lnTo>
                  <a:close/>
                </a:path>
              </a:pathLst>
            </a:custGeom>
            <a:solidFill>
              <a:srgbClr val="D1D3D4"/>
            </a:solidFill>
          </p:spPr>
          <p:txBody>
            <a:bodyPr wrap="square" lIns="0" tIns="0" rIns="0" bIns="0" rtlCol="0"/>
            <a:lstStyle/>
            <a:p>
              <a:endParaRPr/>
            </a:p>
          </p:txBody>
        </p:sp>
        <p:sp>
          <p:nvSpPr>
            <p:cNvPr id="12" name="object 12"/>
            <p:cNvSpPr/>
            <p:nvPr/>
          </p:nvSpPr>
          <p:spPr>
            <a:xfrm>
              <a:off x="1566236" y="1100869"/>
              <a:ext cx="527685" cy="316865"/>
            </a:xfrm>
            <a:custGeom>
              <a:avLst/>
              <a:gdLst/>
              <a:ahLst/>
              <a:cxnLst/>
              <a:rect l="l" t="t" r="r" b="b"/>
              <a:pathLst>
                <a:path w="527685" h="316865">
                  <a:moveTo>
                    <a:pt x="52704" y="316251"/>
                  </a:moveTo>
                  <a:lnTo>
                    <a:pt x="474373" y="316251"/>
                  </a:lnTo>
                  <a:lnTo>
                    <a:pt x="474373" y="263541"/>
                  </a:lnTo>
                  <a:lnTo>
                    <a:pt x="52704" y="263541"/>
                  </a:lnTo>
                  <a:lnTo>
                    <a:pt x="52704" y="316251"/>
                  </a:lnTo>
                  <a:close/>
                </a:path>
                <a:path w="527685" h="316865">
                  <a:moveTo>
                    <a:pt x="0" y="263541"/>
                  </a:moveTo>
                  <a:lnTo>
                    <a:pt x="527082" y="263541"/>
                  </a:lnTo>
                  <a:lnTo>
                    <a:pt x="527082" y="0"/>
                  </a:lnTo>
                  <a:lnTo>
                    <a:pt x="0" y="0"/>
                  </a:lnTo>
                  <a:lnTo>
                    <a:pt x="0" y="263541"/>
                  </a:lnTo>
                  <a:close/>
                </a:path>
              </a:pathLst>
            </a:custGeom>
            <a:ln w="5270">
              <a:solidFill>
                <a:srgbClr val="231F20"/>
              </a:solidFill>
            </a:ln>
          </p:spPr>
          <p:txBody>
            <a:bodyPr wrap="square" lIns="0" tIns="0" rIns="0" bIns="0" rtlCol="0"/>
            <a:lstStyle/>
            <a:p>
              <a:endParaRPr/>
            </a:p>
          </p:txBody>
        </p:sp>
      </p:grpSp>
      <p:sp>
        <p:nvSpPr>
          <p:cNvPr id="13" name="object 13"/>
          <p:cNvSpPr txBox="1"/>
          <p:nvPr/>
        </p:nvSpPr>
        <p:spPr>
          <a:xfrm>
            <a:off x="725539" y="1102716"/>
            <a:ext cx="521970" cy="220979"/>
          </a:xfrm>
          <a:prstGeom prst="rect">
            <a:avLst/>
          </a:prstGeom>
        </p:spPr>
        <p:txBody>
          <a:bodyPr vert="horz" wrap="square" lIns="0" tIns="21590" rIns="0" bIns="0" rtlCol="0">
            <a:spAutoFit/>
          </a:bodyPr>
          <a:lstStyle/>
          <a:p>
            <a:pPr marL="84455" marR="95885" indent="15875">
              <a:lnSpc>
                <a:spcPts val="740"/>
              </a:lnSpc>
              <a:spcBef>
                <a:spcPts val="170"/>
              </a:spcBef>
            </a:pPr>
            <a:r>
              <a:rPr sz="650" spc="5" dirty="0">
                <a:solidFill>
                  <a:srgbClr val="231F20"/>
                </a:solidFill>
                <a:latin typeface="Arial"/>
                <a:cs typeface="Arial"/>
              </a:rPr>
              <a:t>Window </a:t>
            </a:r>
            <a:r>
              <a:rPr sz="650" spc="-170" dirty="0">
                <a:solidFill>
                  <a:srgbClr val="231F20"/>
                </a:solidFill>
                <a:latin typeface="Arial"/>
                <a:cs typeface="Arial"/>
              </a:rPr>
              <a:t> </a:t>
            </a:r>
            <a:r>
              <a:rPr sz="650" spc="5" dirty="0">
                <a:solidFill>
                  <a:srgbClr val="231F20"/>
                </a:solidFill>
                <a:latin typeface="Arial"/>
                <a:cs typeface="Arial"/>
              </a:rPr>
              <a:t>manager</a:t>
            </a:r>
            <a:endParaRPr sz="650">
              <a:latin typeface="Arial"/>
              <a:cs typeface="Arial"/>
            </a:endParaRPr>
          </a:p>
        </p:txBody>
      </p:sp>
      <p:sp>
        <p:nvSpPr>
          <p:cNvPr id="14" name="object 14"/>
          <p:cNvSpPr txBox="1"/>
          <p:nvPr/>
        </p:nvSpPr>
        <p:spPr>
          <a:xfrm>
            <a:off x="1568871" y="1135973"/>
            <a:ext cx="521970" cy="127000"/>
          </a:xfrm>
          <a:prstGeom prst="rect">
            <a:avLst/>
          </a:prstGeom>
        </p:spPr>
        <p:txBody>
          <a:bodyPr vert="horz" wrap="square" lIns="0" tIns="13970" rIns="0" bIns="0" rtlCol="0">
            <a:spAutoFit/>
          </a:bodyPr>
          <a:lstStyle/>
          <a:p>
            <a:pPr marL="55880">
              <a:lnSpc>
                <a:spcPct val="100000"/>
              </a:lnSpc>
              <a:spcBef>
                <a:spcPts val="110"/>
              </a:spcBef>
            </a:pPr>
            <a:r>
              <a:rPr sz="650" spc="5" dirty="0">
                <a:solidFill>
                  <a:srgbClr val="231F20"/>
                </a:solidFill>
                <a:latin typeface="Arial"/>
                <a:cs typeface="Arial"/>
              </a:rPr>
              <a:t>Application</a:t>
            </a:r>
            <a:endParaRPr sz="650">
              <a:latin typeface="Arial"/>
              <a:cs typeface="Arial"/>
            </a:endParaRPr>
          </a:p>
        </p:txBody>
      </p:sp>
      <p:grpSp>
        <p:nvGrpSpPr>
          <p:cNvPr id="15" name="object 15"/>
          <p:cNvGrpSpPr/>
          <p:nvPr/>
        </p:nvGrpSpPr>
        <p:grpSpPr>
          <a:xfrm>
            <a:off x="1112694" y="1469830"/>
            <a:ext cx="2883535" cy="690880"/>
            <a:chOff x="1112694" y="1469830"/>
            <a:chExt cx="2883535" cy="690880"/>
          </a:xfrm>
        </p:grpSpPr>
        <p:sp>
          <p:nvSpPr>
            <p:cNvPr id="16" name="object 16"/>
            <p:cNvSpPr/>
            <p:nvPr/>
          </p:nvSpPr>
          <p:spPr>
            <a:xfrm>
              <a:off x="2883940" y="1838785"/>
              <a:ext cx="1107440" cy="316865"/>
            </a:xfrm>
            <a:custGeom>
              <a:avLst/>
              <a:gdLst/>
              <a:ahLst/>
              <a:cxnLst/>
              <a:rect l="l" t="t" r="r" b="b"/>
              <a:pathLst>
                <a:path w="1107439" h="316864">
                  <a:moveTo>
                    <a:pt x="0" y="316251"/>
                  </a:moveTo>
                  <a:lnTo>
                    <a:pt x="1106878" y="316251"/>
                  </a:lnTo>
                  <a:lnTo>
                    <a:pt x="1106878" y="0"/>
                  </a:lnTo>
                  <a:lnTo>
                    <a:pt x="0" y="0"/>
                  </a:lnTo>
                  <a:lnTo>
                    <a:pt x="0" y="316251"/>
                  </a:lnTo>
                  <a:close/>
                </a:path>
              </a:pathLst>
            </a:custGeom>
            <a:ln w="10541">
              <a:solidFill>
                <a:srgbClr val="231F20"/>
              </a:solidFill>
            </a:ln>
          </p:spPr>
          <p:txBody>
            <a:bodyPr wrap="square" lIns="0" tIns="0" rIns="0" bIns="0" rtlCol="0"/>
            <a:lstStyle/>
            <a:p>
              <a:endParaRPr/>
            </a:p>
          </p:txBody>
        </p:sp>
        <p:sp>
          <p:nvSpPr>
            <p:cNvPr id="17" name="object 17"/>
            <p:cNvSpPr/>
            <p:nvPr/>
          </p:nvSpPr>
          <p:spPr>
            <a:xfrm>
              <a:off x="1987902" y="1507209"/>
              <a:ext cx="859155" cy="437515"/>
            </a:xfrm>
            <a:custGeom>
              <a:avLst/>
              <a:gdLst/>
              <a:ahLst/>
              <a:cxnLst/>
              <a:rect l="l" t="t" r="r" b="b"/>
              <a:pathLst>
                <a:path w="859155" h="437514">
                  <a:moveTo>
                    <a:pt x="0" y="0"/>
                  </a:moveTo>
                  <a:lnTo>
                    <a:pt x="0" y="278867"/>
                  </a:lnTo>
                  <a:lnTo>
                    <a:pt x="24707" y="370284"/>
                  </a:lnTo>
                  <a:lnTo>
                    <a:pt x="79062" y="417228"/>
                  </a:lnTo>
                  <a:lnTo>
                    <a:pt x="133418" y="434523"/>
                  </a:lnTo>
                  <a:lnTo>
                    <a:pt x="158125" y="436994"/>
                  </a:lnTo>
                  <a:lnTo>
                    <a:pt x="858659" y="436994"/>
                  </a:lnTo>
                </a:path>
              </a:pathLst>
            </a:custGeom>
            <a:ln w="5270">
              <a:solidFill>
                <a:srgbClr val="231F20"/>
              </a:solidFill>
            </a:ln>
          </p:spPr>
          <p:txBody>
            <a:bodyPr wrap="square" lIns="0" tIns="0" rIns="0" bIns="0" rtlCol="0"/>
            <a:lstStyle/>
            <a:p>
              <a:endParaRPr/>
            </a:p>
          </p:txBody>
        </p:sp>
        <p:pic>
          <p:nvPicPr>
            <p:cNvPr id="18" name="object 18"/>
            <p:cNvPicPr/>
            <p:nvPr/>
          </p:nvPicPr>
          <p:blipFill>
            <a:blip r:embed="rId5" cstate="print"/>
            <a:stretch>
              <a:fillRect/>
            </a:stretch>
          </p:blipFill>
          <p:spPr>
            <a:xfrm>
              <a:off x="1956026" y="1469830"/>
              <a:ext cx="63751" cy="74376"/>
            </a:xfrm>
            <a:prstGeom prst="rect">
              <a:avLst/>
            </a:prstGeom>
          </p:spPr>
        </p:pic>
        <p:pic>
          <p:nvPicPr>
            <p:cNvPr id="19" name="object 19"/>
            <p:cNvPicPr/>
            <p:nvPr/>
          </p:nvPicPr>
          <p:blipFill>
            <a:blip r:embed="rId6" cstate="print"/>
            <a:stretch>
              <a:fillRect/>
            </a:stretch>
          </p:blipFill>
          <p:spPr>
            <a:xfrm>
              <a:off x="2809563" y="1912325"/>
              <a:ext cx="74377" cy="63753"/>
            </a:xfrm>
            <a:prstGeom prst="rect">
              <a:avLst/>
            </a:prstGeom>
          </p:spPr>
        </p:pic>
        <p:sp>
          <p:nvSpPr>
            <p:cNvPr id="20" name="object 20"/>
            <p:cNvSpPr/>
            <p:nvPr/>
          </p:nvSpPr>
          <p:spPr>
            <a:xfrm>
              <a:off x="1144568" y="1507209"/>
              <a:ext cx="1702435" cy="542925"/>
            </a:xfrm>
            <a:custGeom>
              <a:avLst/>
              <a:gdLst/>
              <a:ahLst/>
              <a:cxnLst/>
              <a:rect l="l" t="t" r="r" b="b"/>
              <a:pathLst>
                <a:path w="1702435" h="542925">
                  <a:moveTo>
                    <a:pt x="0" y="0"/>
                  </a:moveTo>
                  <a:lnTo>
                    <a:pt x="0" y="384284"/>
                  </a:lnTo>
                  <a:lnTo>
                    <a:pt x="24707" y="475699"/>
                  </a:lnTo>
                  <a:lnTo>
                    <a:pt x="79063" y="522642"/>
                  </a:lnTo>
                  <a:lnTo>
                    <a:pt x="133420" y="539937"/>
                  </a:lnTo>
                  <a:lnTo>
                    <a:pt x="158127" y="542408"/>
                  </a:lnTo>
                  <a:lnTo>
                    <a:pt x="1701994" y="534988"/>
                  </a:lnTo>
                </a:path>
              </a:pathLst>
            </a:custGeom>
            <a:ln w="5270">
              <a:solidFill>
                <a:srgbClr val="231F20"/>
              </a:solidFill>
            </a:ln>
          </p:spPr>
          <p:txBody>
            <a:bodyPr wrap="square" lIns="0" tIns="0" rIns="0" bIns="0" rtlCol="0"/>
            <a:lstStyle/>
            <a:p>
              <a:endParaRPr/>
            </a:p>
          </p:txBody>
        </p:sp>
        <p:pic>
          <p:nvPicPr>
            <p:cNvPr id="21" name="object 21"/>
            <p:cNvPicPr/>
            <p:nvPr/>
          </p:nvPicPr>
          <p:blipFill>
            <a:blip r:embed="rId5" cstate="print"/>
            <a:stretch>
              <a:fillRect/>
            </a:stretch>
          </p:blipFill>
          <p:spPr>
            <a:xfrm>
              <a:off x="1112694" y="1469830"/>
              <a:ext cx="63751" cy="74376"/>
            </a:xfrm>
            <a:prstGeom prst="rect">
              <a:avLst/>
            </a:prstGeom>
          </p:spPr>
        </p:pic>
        <p:pic>
          <p:nvPicPr>
            <p:cNvPr id="22" name="object 22"/>
            <p:cNvPicPr/>
            <p:nvPr/>
          </p:nvPicPr>
          <p:blipFill>
            <a:blip r:embed="rId7" cstate="print"/>
            <a:stretch>
              <a:fillRect/>
            </a:stretch>
          </p:blipFill>
          <p:spPr>
            <a:xfrm>
              <a:off x="2809415" y="2010501"/>
              <a:ext cx="74524" cy="63751"/>
            </a:xfrm>
            <a:prstGeom prst="rect">
              <a:avLst/>
            </a:prstGeom>
          </p:spPr>
        </p:pic>
      </p:grpSp>
      <p:sp>
        <p:nvSpPr>
          <p:cNvPr id="23" name="object 23"/>
          <p:cNvSpPr txBox="1"/>
          <p:nvPr/>
        </p:nvSpPr>
        <p:spPr>
          <a:xfrm>
            <a:off x="2291089" y="1117946"/>
            <a:ext cx="5130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Xlib interface</a:t>
            </a:r>
            <a:endParaRPr sz="650">
              <a:latin typeface="Arial"/>
              <a:cs typeface="Arial"/>
            </a:endParaRPr>
          </a:p>
        </p:txBody>
      </p:sp>
      <p:sp>
        <p:nvSpPr>
          <p:cNvPr id="24" name="object 24"/>
          <p:cNvSpPr txBox="1"/>
          <p:nvPr/>
        </p:nvSpPr>
        <p:spPr>
          <a:xfrm>
            <a:off x="2315230" y="1605439"/>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X protocol</a:t>
            </a:r>
            <a:endParaRPr sz="650">
              <a:latin typeface="Arial"/>
              <a:cs typeface="Arial"/>
            </a:endParaRPr>
          </a:p>
        </p:txBody>
      </p:sp>
      <p:sp>
        <p:nvSpPr>
          <p:cNvPr id="25" name="object 25"/>
          <p:cNvSpPr txBox="1"/>
          <p:nvPr/>
        </p:nvSpPr>
        <p:spPr>
          <a:xfrm>
            <a:off x="2889211" y="1795228"/>
            <a:ext cx="1096645" cy="610870"/>
          </a:xfrm>
          <a:prstGeom prst="rect">
            <a:avLst/>
          </a:prstGeom>
        </p:spPr>
        <p:txBody>
          <a:bodyPr vert="horz" wrap="square" lIns="0" tIns="12065" rIns="0" bIns="0" rtlCol="0">
            <a:spAutoFit/>
          </a:bodyPr>
          <a:lstStyle/>
          <a:p>
            <a:pPr marL="285750" marR="267970" indent="-27940" algn="ctr">
              <a:lnSpc>
                <a:spcPct val="155600"/>
              </a:lnSpc>
              <a:spcBef>
                <a:spcPts val="95"/>
              </a:spcBef>
            </a:pPr>
            <a:r>
              <a:rPr sz="650" spc="5" dirty="0">
                <a:solidFill>
                  <a:srgbClr val="231F20"/>
                </a:solidFill>
                <a:latin typeface="Arial"/>
                <a:cs typeface="Arial"/>
              </a:rPr>
              <a:t>X kernel </a:t>
            </a:r>
            <a:r>
              <a:rPr sz="650" spc="10" dirty="0">
                <a:solidFill>
                  <a:srgbClr val="231F20"/>
                </a:solidFill>
                <a:latin typeface="Arial"/>
                <a:cs typeface="Arial"/>
              </a:rPr>
              <a:t> </a:t>
            </a:r>
            <a:r>
              <a:rPr sz="650" spc="5" dirty="0">
                <a:solidFill>
                  <a:srgbClr val="231F20"/>
                </a:solidFill>
                <a:latin typeface="Arial"/>
                <a:cs typeface="Arial"/>
              </a:rPr>
              <a:t>Device</a:t>
            </a:r>
            <a:r>
              <a:rPr sz="650" dirty="0">
                <a:solidFill>
                  <a:srgbClr val="231F20"/>
                </a:solidFill>
                <a:latin typeface="Arial"/>
                <a:cs typeface="Arial"/>
              </a:rPr>
              <a:t> </a:t>
            </a:r>
            <a:r>
              <a:rPr sz="650" spc="5" dirty="0">
                <a:solidFill>
                  <a:srgbClr val="231F20"/>
                </a:solidFill>
                <a:latin typeface="Arial"/>
                <a:cs typeface="Arial"/>
              </a:rPr>
              <a:t>drivers</a:t>
            </a:r>
            <a:endParaRPr sz="650">
              <a:latin typeface="Arial"/>
              <a:cs typeface="Arial"/>
            </a:endParaRPr>
          </a:p>
          <a:p>
            <a:pPr>
              <a:lnSpc>
                <a:spcPct val="100000"/>
              </a:lnSpc>
              <a:spcBef>
                <a:spcPts val="30"/>
              </a:spcBef>
            </a:pPr>
            <a:endParaRPr sz="600">
              <a:latin typeface="Arial"/>
              <a:cs typeface="Arial"/>
            </a:endParaRPr>
          </a:p>
          <a:p>
            <a:pPr marL="90805" marR="31750" algn="ctr">
              <a:lnSpc>
                <a:spcPts val="740"/>
              </a:lnSpc>
            </a:pPr>
            <a:r>
              <a:rPr sz="650" spc="-5" dirty="0">
                <a:solidFill>
                  <a:srgbClr val="231F20"/>
                </a:solidFill>
                <a:latin typeface="Arial"/>
                <a:cs typeface="Arial"/>
              </a:rPr>
              <a:t>Terminal</a:t>
            </a:r>
            <a:r>
              <a:rPr sz="650" spc="-30" dirty="0">
                <a:solidFill>
                  <a:srgbClr val="231F20"/>
                </a:solidFill>
                <a:latin typeface="Arial"/>
                <a:cs typeface="Arial"/>
              </a:rPr>
              <a:t> </a:t>
            </a:r>
            <a:r>
              <a:rPr sz="650" spc="5" dirty="0">
                <a:solidFill>
                  <a:srgbClr val="231F20"/>
                </a:solidFill>
                <a:latin typeface="Arial"/>
                <a:cs typeface="Arial"/>
              </a:rPr>
              <a:t>(includes</a:t>
            </a:r>
            <a:r>
              <a:rPr sz="650" spc="-30" dirty="0">
                <a:solidFill>
                  <a:srgbClr val="231F20"/>
                </a:solidFill>
                <a:latin typeface="Arial"/>
                <a:cs typeface="Arial"/>
              </a:rPr>
              <a:t> </a:t>
            </a:r>
            <a:r>
              <a:rPr sz="650" spc="5" dirty="0">
                <a:solidFill>
                  <a:srgbClr val="231F20"/>
                </a:solidFill>
                <a:latin typeface="Arial"/>
                <a:cs typeface="Arial"/>
              </a:rPr>
              <a:t>display </a:t>
            </a:r>
            <a:r>
              <a:rPr sz="650" spc="-165" dirty="0">
                <a:solidFill>
                  <a:srgbClr val="231F20"/>
                </a:solidFill>
                <a:latin typeface="Arial"/>
                <a:cs typeface="Arial"/>
              </a:rPr>
              <a:t> </a:t>
            </a:r>
            <a:r>
              <a:rPr sz="650" spc="5" dirty="0">
                <a:solidFill>
                  <a:srgbClr val="231F20"/>
                </a:solidFill>
                <a:latin typeface="Arial"/>
                <a:cs typeface="Arial"/>
              </a:rPr>
              <a:t>keyboard,</a:t>
            </a:r>
            <a:r>
              <a:rPr sz="650" spc="-10" dirty="0">
                <a:solidFill>
                  <a:srgbClr val="231F20"/>
                </a:solidFill>
                <a:latin typeface="Arial"/>
                <a:cs typeface="Arial"/>
              </a:rPr>
              <a:t> </a:t>
            </a:r>
            <a:r>
              <a:rPr sz="650" spc="5" dirty="0">
                <a:solidFill>
                  <a:srgbClr val="231F20"/>
                </a:solidFill>
                <a:latin typeface="Arial"/>
                <a:cs typeface="Arial"/>
              </a:rPr>
              <a:t>mouse,</a:t>
            </a:r>
            <a:r>
              <a:rPr sz="650" spc="-10" dirty="0">
                <a:solidFill>
                  <a:srgbClr val="231F20"/>
                </a:solidFill>
                <a:latin typeface="Arial"/>
                <a:cs typeface="Arial"/>
              </a:rPr>
              <a:t> </a:t>
            </a:r>
            <a:r>
              <a:rPr sz="650" spc="5" dirty="0">
                <a:solidFill>
                  <a:srgbClr val="231F20"/>
                </a:solidFill>
                <a:latin typeface="Arial"/>
                <a:cs typeface="Arial"/>
              </a:rPr>
              <a:t>etc.)</a:t>
            </a:r>
            <a:endParaRPr sz="650">
              <a:latin typeface="Arial"/>
              <a:cs typeface="Arial"/>
            </a:endParaRPr>
          </a:p>
        </p:txBody>
      </p:sp>
      <p:grpSp>
        <p:nvGrpSpPr>
          <p:cNvPr id="26" name="object 26"/>
          <p:cNvGrpSpPr/>
          <p:nvPr/>
        </p:nvGrpSpPr>
        <p:grpSpPr>
          <a:xfrm>
            <a:off x="2037750" y="990054"/>
            <a:ext cx="1956435" cy="1010285"/>
            <a:chOff x="2037750" y="990054"/>
            <a:chExt cx="1956435" cy="1010285"/>
          </a:xfrm>
        </p:grpSpPr>
        <p:sp>
          <p:nvSpPr>
            <p:cNvPr id="27" name="object 27"/>
            <p:cNvSpPr/>
            <p:nvPr/>
          </p:nvSpPr>
          <p:spPr>
            <a:xfrm>
              <a:off x="2883940" y="995452"/>
              <a:ext cx="1103630" cy="763905"/>
            </a:xfrm>
            <a:custGeom>
              <a:avLst/>
              <a:gdLst/>
              <a:ahLst/>
              <a:cxnLst/>
              <a:rect l="l" t="t" r="r" b="b"/>
              <a:pathLst>
                <a:path w="1103629" h="763905">
                  <a:moveTo>
                    <a:pt x="0" y="763732"/>
                  </a:moveTo>
                  <a:lnTo>
                    <a:pt x="1103168" y="763732"/>
                  </a:lnTo>
                  <a:lnTo>
                    <a:pt x="1103168" y="0"/>
                  </a:lnTo>
                  <a:lnTo>
                    <a:pt x="0" y="0"/>
                  </a:lnTo>
                  <a:lnTo>
                    <a:pt x="0" y="763732"/>
                  </a:lnTo>
                  <a:close/>
                </a:path>
              </a:pathLst>
            </a:custGeom>
            <a:ln w="10541">
              <a:solidFill>
                <a:srgbClr val="231F20"/>
              </a:solidFill>
            </a:ln>
          </p:spPr>
          <p:txBody>
            <a:bodyPr wrap="square" lIns="0" tIns="0" rIns="0" bIns="0" rtlCol="0"/>
            <a:lstStyle/>
            <a:p>
              <a:endParaRPr/>
            </a:p>
          </p:txBody>
        </p:sp>
        <p:sp>
          <p:nvSpPr>
            <p:cNvPr id="28" name="object 28"/>
            <p:cNvSpPr/>
            <p:nvPr/>
          </p:nvSpPr>
          <p:spPr>
            <a:xfrm>
              <a:off x="2936656" y="1048162"/>
              <a:ext cx="1018540" cy="671830"/>
            </a:xfrm>
            <a:custGeom>
              <a:avLst/>
              <a:gdLst/>
              <a:ahLst/>
              <a:cxnLst/>
              <a:rect l="l" t="t" r="r" b="b"/>
              <a:pathLst>
                <a:path w="1018539" h="671830">
                  <a:moveTo>
                    <a:pt x="952748" y="0"/>
                  </a:moveTo>
                  <a:lnTo>
                    <a:pt x="65554" y="0"/>
                  </a:lnTo>
                  <a:lnTo>
                    <a:pt x="40098" y="5021"/>
                  </a:lnTo>
                  <a:lnTo>
                    <a:pt x="19254" y="18695"/>
                  </a:lnTo>
                  <a:lnTo>
                    <a:pt x="5171" y="38933"/>
                  </a:lnTo>
                  <a:lnTo>
                    <a:pt x="0" y="63646"/>
                  </a:lnTo>
                  <a:lnTo>
                    <a:pt x="0" y="607798"/>
                  </a:lnTo>
                  <a:lnTo>
                    <a:pt x="5171" y="632511"/>
                  </a:lnTo>
                  <a:lnTo>
                    <a:pt x="19254" y="652746"/>
                  </a:lnTo>
                  <a:lnTo>
                    <a:pt x="40098" y="666418"/>
                  </a:lnTo>
                  <a:lnTo>
                    <a:pt x="65554" y="671439"/>
                  </a:lnTo>
                  <a:lnTo>
                    <a:pt x="952748" y="671439"/>
                  </a:lnTo>
                  <a:lnTo>
                    <a:pt x="978199" y="666418"/>
                  </a:lnTo>
                  <a:lnTo>
                    <a:pt x="999044" y="652746"/>
                  </a:lnTo>
                  <a:lnTo>
                    <a:pt x="1013129" y="632511"/>
                  </a:lnTo>
                  <a:lnTo>
                    <a:pt x="1018302" y="607798"/>
                  </a:lnTo>
                  <a:lnTo>
                    <a:pt x="1018302" y="63646"/>
                  </a:lnTo>
                  <a:lnTo>
                    <a:pt x="1013129" y="38933"/>
                  </a:lnTo>
                  <a:lnTo>
                    <a:pt x="999044" y="18695"/>
                  </a:lnTo>
                  <a:lnTo>
                    <a:pt x="978199" y="5021"/>
                  </a:lnTo>
                  <a:lnTo>
                    <a:pt x="952748" y="0"/>
                  </a:lnTo>
                  <a:close/>
                </a:path>
              </a:pathLst>
            </a:custGeom>
            <a:solidFill>
              <a:srgbClr val="BCBEC0"/>
            </a:solidFill>
          </p:spPr>
          <p:txBody>
            <a:bodyPr wrap="square" lIns="0" tIns="0" rIns="0" bIns="0" rtlCol="0"/>
            <a:lstStyle/>
            <a:p>
              <a:endParaRPr/>
            </a:p>
          </p:txBody>
        </p:sp>
        <p:sp>
          <p:nvSpPr>
            <p:cNvPr id="29" name="object 29"/>
            <p:cNvSpPr/>
            <p:nvPr/>
          </p:nvSpPr>
          <p:spPr>
            <a:xfrm>
              <a:off x="2936656" y="1048162"/>
              <a:ext cx="1018540" cy="671830"/>
            </a:xfrm>
            <a:custGeom>
              <a:avLst/>
              <a:gdLst/>
              <a:ahLst/>
              <a:cxnLst/>
              <a:rect l="l" t="t" r="r" b="b"/>
              <a:pathLst>
                <a:path w="1018539" h="671830">
                  <a:moveTo>
                    <a:pt x="65554" y="0"/>
                  </a:moveTo>
                  <a:lnTo>
                    <a:pt x="952748" y="0"/>
                  </a:lnTo>
                  <a:lnTo>
                    <a:pt x="978199" y="5021"/>
                  </a:lnTo>
                  <a:lnTo>
                    <a:pt x="999044" y="18695"/>
                  </a:lnTo>
                  <a:lnTo>
                    <a:pt x="1013129" y="38933"/>
                  </a:lnTo>
                  <a:lnTo>
                    <a:pt x="1018302" y="63646"/>
                  </a:lnTo>
                  <a:lnTo>
                    <a:pt x="1018302" y="607798"/>
                  </a:lnTo>
                  <a:lnTo>
                    <a:pt x="1013129" y="632511"/>
                  </a:lnTo>
                  <a:lnTo>
                    <a:pt x="999044" y="652746"/>
                  </a:lnTo>
                  <a:lnTo>
                    <a:pt x="978199" y="666418"/>
                  </a:lnTo>
                  <a:lnTo>
                    <a:pt x="952748" y="671439"/>
                  </a:lnTo>
                  <a:lnTo>
                    <a:pt x="65554" y="671439"/>
                  </a:lnTo>
                  <a:lnTo>
                    <a:pt x="40098" y="666418"/>
                  </a:lnTo>
                  <a:lnTo>
                    <a:pt x="19254" y="652746"/>
                  </a:lnTo>
                  <a:lnTo>
                    <a:pt x="5171" y="632511"/>
                  </a:lnTo>
                  <a:lnTo>
                    <a:pt x="0" y="607798"/>
                  </a:lnTo>
                  <a:lnTo>
                    <a:pt x="0" y="63646"/>
                  </a:lnTo>
                  <a:lnTo>
                    <a:pt x="5171" y="38933"/>
                  </a:lnTo>
                  <a:lnTo>
                    <a:pt x="19254" y="18695"/>
                  </a:lnTo>
                  <a:lnTo>
                    <a:pt x="40098" y="5021"/>
                  </a:lnTo>
                  <a:lnTo>
                    <a:pt x="65554" y="0"/>
                  </a:lnTo>
                  <a:close/>
                </a:path>
              </a:pathLst>
            </a:custGeom>
            <a:ln w="5270">
              <a:solidFill>
                <a:srgbClr val="231F20"/>
              </a:solidFill>
            </a:ln>
          </p:spPr>
          <p:txBody>
            <a:bodyPr wrap="square" lIns="0" tIns="0" rIns="0" bIns="0" rtlCol="0"/>
            <a:lstStyle/>
            <a:p>
              <a:endParaRPr/>
            </a:p>
          </p:txBody>
        </p:sp>
        <p:sp>
          <p:nvSpPr>
            <p:cNvPr id="30" name="object 30"/>
            <p:cNvSpPr/>
            <p:nvPr/>
          </p:nvSpPr>
          <p:spPr>
            <a:xfrm>
              <a:off x="3162612" y="1135800"/>
              <a:ext cx="304800" cy="502284"/>
            </a:xfrm>
            <a:custGeom>
              <a:avLst/>
              <a:gdLst/>
              <a:ahLst/>
              <a:cxnLst/>
              <a:rect l="l" t="t" r="r" b="b"/>
              <a:pathLst>
                <a:path w="304800" h="502285">
                  <a:moveTo>
                    <a:pt x="88301" y="0"/>
                  </a:moveTo>
                  <a:lnTo>
                    <a:pt x="0" y="822"/>
                  </a:lnTo>
                  <a:lnTo>
                    <a:pt x="231901" y="242623"/>
                  </a:lnTo>
                  <a:lnTo>
                    <a:pt x="21461" y="501750"/>
                  </a:lnTo>
                  <a:lnTo>
                    <a:pt x="63551" y="501750"/>
                  </a:lnTo>
                  <a:lnTo>
                    <a:pt x="304529" y="221167"/>
                  </a:lnTo>
                  <a:lnTo>
                    <a:pt x="88301" y="0"/>
                  </a:lnTo>
                  <a:close/>
                </a:path>
              </a:pathLst>
            </a:custGeom>
            <a:solidFill>
              <a:srgbClr val="FFFFFF"/>
            </a:solidFill>
          </p:spPr>
          <p:txBody>
            <a:bodyPr wrap="square" lIns="0" tIns="0" rIns="0" bIns="0" rtlCol="0"/>
            <a:lstStyle/>
            <a:p>
              <a:endParaRPr/>
            </a:p>
          </p:txBody>
        </p:sp>
        <p:sp>
          <p:nvSpPr>
            <p:cNvPr id="31" name="object 31"/>
            <p:cNvSpPr/>
            <p:nvPr/>
          </p:nvSpPr>
          <p:spPr>
            <a:xfrm>
              <a:off x="3162612" y="1135800"/>
              <a:ext cx="304800" cy="502284"/>
            </a:xfrm>
            <a:custGeom>
              <a:avLst/>
              <a:gdLst/>
              <a:ahLst/>
              <a:cxnLst/>
              <a:rect l="l" t="t" r="r" b="b"/>
              <a:pathLst>
                <a:path w="304800" h="502285">
                  <a:moveTo>
                    <a:pt x="0" y="822"/>
                  </a:moveTo>
                  <a:lnTo>
                    <a:pt x="88301" y="0"/>
                  </a:lnTo>
                  <a:lnTo>
                    <a:pt x="304529" y="221167"/>
                  </a:lnTo>
                  <a:lnTo>
                    <a:pt x="63551" y="501750"/>
                  </a:lnTo>
                  <a:lnTo>
                    <a:pt x="21461" y="501750"/>
                  </a:lnTo>
                  <a:lnTo>
                    <a:pt x="231901" y="242623"/>
                  </a:lnTo>
                  <a:lnTo>
                    <a:pt x="0" y="822"/>
                  </a:lnTo>
                  <a:close/>
                </a:path>
              </a:pathLst>
            </a:custGeom>
            <a:ln w="5270">
              <a:solidFill>
                <a:srgbClr val="231F20"/>
              </a:solidFill>
            </a:ln>
          </p:spPr>
          <p:txBody>
            <a:bodyPr wrap="square" lIns="0" tIns="0" rIns="0" bIns="0" rtlCol="0"/>
            <a:lstStyle/>
            <a:p>
              <a:endParaRPr/>
            </a:p>
          </p:txBody>
        </p:sp>
        <p:sp>
          <p:nvSpPr>
            <p:cNvPr id="32" name="object 32"/>
            <p:cNvSpPr/>
            <p:nvPr/>
          </p:nvSpPr>
          <p:spPr>
            <a:xfrm>
              <a:off x="3423797" y="1142156"/>
              <a:ext cx="304800" cy="502284"/>
            </a:xfrm>
            <a:custGeom>
              <a:avLst/>
              <a:gdLst/>
              <a:ahLst/>
              <a:cxnLst/>
              <a:rect l="l" t="t" r="r" b="b"/>
              <a:pathLst>
                <a:path w="304800" h="502285">
                  <a:moveTo>
                    <a:pt x="283068" y="0"/>
                  </a:moveTo>
                  <a:lnTo>
                    <a:pt x="240977" y="0"/>
                  </a:lnTo>
                  <a:lnTo>
                    <a:pt x="0" y="280584"/>
                  </a:lnTo>
                  <a:lnTo>
                    <a:pt x="216216" y="501751"/>
                  </a:lnTo>
                  <a:lnTo>
                    <a:pt x="304529" y="500924"/>
                  </a:lnTo>
                  <a:lnTo>
                    <a:pt x="72627" y="259128"/>
                  </a:lnTo>
                  <a:lnTo>
                    <a:pt x="283068" y="0"/>
                  </a:lnTo>
                  <a:close/>
                </a:path>
              </a:pathLst>
            </a:custGeom>
            <a:solidFill>
              <a:srgbClr val="FFFFFF"/>
            </a:solidFill>
          </p:spPr>
          <p:txBody>
            <a:bodyPr wrap="square" lIns="0" tIns="0" rIns="0" bIns="0" rtlCol="0"/>
            <a:lstStyle/>
            <a:p>
              <a:endParaRPr/>
            </a:p>
          </p:txBody>
        </p:sp>
        <p:sp>
          <p:nvSpPr>
            <p:cNvPr id="33" name="object 33"/>
            <p:cNvSpPr/>
            <p:nvPr/>
          </p:nvSpPr>
          <p:spPr>
            <a:xfrm>
              <a:off x="3423797" y="1142156"/>
              <a:ext cx="304800" cy="502284"/>
            </a:xfrm>
            <a:custGeom>
              <a:avLst/>
              <a:gdLst/>
              <a:ahLst/>
              <a:cxnLst/>
              <a:rect l="l" t="t" r="r" b="b"/>
              <a:pathLst>
                <a:path w="304800" h="502285">
                  <a:moveTo>
                    <a:pt x="304529" y="500924"/>
                  </a:moveTo>
                  <a:lnTo>
                    <a:pt x="216216" y="501751"/>
                  </a:lnTo>
                  <a:lnTo>
                    <a:pt x="0" y="280584"/>
                  </a:lnTo>
                  <a:lnTo>
                    <a:pt x="240977" y="0"/>
                  </a:lnTo>
                  <a:lnTo>
                    <a:pt x="283068" y="0"/>
                  </a:lnTo>
                  <a:lnTo>
                    <a:pt x="72627" y="259128"/>
                  </a:lnTo>
                  <a:lnTo>
                    <a:pt x="304529" y="500924"/>
                  </a:lnTo>
                  <a:close/>
                </a:path>
              </a:pathLst>
            </a:custGeom>
            <a:ln w="5270">
              <a:solidFill>
                <a:srgbClr val="231F20"/>
              </a:solidFill>
            </a:ln>
          </p:spPr>
          <p:txBody>
            <a:bodyPr wrap="square" lIns="0" tIns="0" rIns="0" bIns="0" rtlCol="0"/>
            <a:lstStyle/>
            <a:p>
              <a:endParaRPr/>
            </a:p>
          </p:txBody>
        </p:sp>
        <p:sp>
          <p:nvSpPr>
            <p:cNvPr id="34" name="object 34"/>
            <p:cNvSpPr/>
            <p:nvPr/>
          </p:nvSpPr>
          <p:spPr>
            <a:xfrm>
              <a:off x="2040607" y="1258993"/>
              <a:ext cx="1950720" cy="738505"/>
            </a:xfrm>
            <a:custGeom>
              <a:avLst/>
              <a:gdLst/>
              <a:ahLst/>
              <a:cxnLst/>
              <a:rect l="l" t="t" r="r" b="b"/>
              <a:pathLst>
                <a:path w="1950720" h="738505">
                  <a:moveTo>
                    <a:pt x="843332" y="737911"/>
                  </a:moveTo>
                  <a:lnTo>
                    <a:pt x="1950211" y="737911"/>
                  </a:lnTo>
                </a:path>
                <a:path w="1950720" h="738505">
                  <a:moveTo>
                    <a:pt x="272442" y="0"/>
                  </a:moveTo>
                  <a:lnTo>
                    <a:pt x="0" y="141998"/>
                  </a:lnTo>
                </a:path>
                <a:path w="1950720" h="738505">
                  <a:moveTo>
                    <a:pt x="474387" y="474378"/>
                  </a:moveTo>
                  <a:lnTo>
                    <a:pt x="474387" y="685210"/>
                  </a:lnTo>
                </a:path>
              </a:pathLst>
            </a:custGeom>
            <a:ln w="5270">
              <a:solidFill>
                <a:srgbClr val="231F20"/>
              </a:solidFill>
            </a:ln>
          </p:spPr>
          <p:txBody>
            <a:bodyPr wrap="square" lIns="0" tIns="0" rIns="0" bIns="0" rtlCol="0"/>
            <a:lstStyle/>
            <a:p>
              <a:endParaRPr/>
            </a:p>
          </p:txBody>
        </p:sp>
      </p:grpSp>
      <p:sp>
        <p:nvSpPr>
          <p:cNvPr id="35" name="object 35"/>
          <p:cNvSpPr txBox="1"/>
          <p:nvPr/>
        </p:nvSpPr>
        <p:spPr>
          <a:xfrm>
            <a:off x="95300" y="188846"/>
            <a:ext cx="2657475" cy="805815"/>
          </a:xfrm>
          <a:prstGeom prst="rect">
            <a:avLst/>
          </a:prstGeom>
        </p:spPr>
        <p:txBody>
          <a:bodyPr vert="horz" wrap="square" lIns="0" tIns="17145" rIns="0" bIns="0" rtlCol="0">
            <a:spAutoFit/>
          </a:bodyPr>
          <a:lstStyle/>
          <a:p>
            <a:pPr algn="ctr">
              <a:lnSpc>
                <a:spcPct val="100000"/>
              </a:lnSpc>
              <a:spcBef>
                <a:spcPts val="135"/>
              </a:spcBef>
            </a:pPr>
            <a:r>
              <a:rPr sz="1400" spc="15" dirty="0">
                <a:solidFill>
                  <a:srgbClr val="3333B2"/>
                </a:solidFill>
                <a:latin typeface="Arial"/>
                <a:cs typeface="Arial"/>
              </a:rPr>
              <a:t>Example:</a:t>
            </a:r>
            <a:r>
              <a:rPr sz="1400" spc="90" dirty="0">
                <a:solidFill>
                  <a:srgbClr val="3333B2"/>
                </a:solidFill>
                <a:latin typeface="Arial"/>
                <a:cs typeface="Arial"/>
              </a:rPr>
              <a:t> </a:t>
            </a:r>
            <a:r>
              <a:rPr sz="1400" spc="15" dirty="0">
                <a:solidFill>
                  <a:srgbClr val="3333B2"/>
                </a:solidFill>
                <a:latin typeface="Arial"/>
                <a:cs typeface="Arial"/>
              </a:rPr>
              <a:t>The</a:t>
            </a:r>
            <a:r>
              <a:rPr sz="1400" dirty="0">
                <a:solidFill>
                  <a:srgbClr val="3333B2"/>
                </a:solidFill>
                <a:latin typeface="Arial"/>
                <a:cs typeface="Arial"/>
              </a:rPr>
              <a:t> </a:t>
            </a:r>
            <a:r>
              <a:rPr sz="1400" spc="20" dirty="0">
                <a:solidFill>
                  <a:srgbClr val="3333B2"/>
                </a:solidFill>
                <a:latin typeface="Arial"/>
                <a:cs typeface="Arial"/>
              </a:rPr>
              <a:t>X</a:t>
            </a:r>
            <a:r>
              <a:rPr sz="1400" spc="-5" dirty="0">
                <a:solidFill>
                  <a:srgbClr val="3333B2"/>
                </a:solidFill>
                <a:latin typeface="Arial"/>
                <a:cs typeface="Arial"/>
              </a:rPr>
              <a:t> </a:t>
            </a:r>
            <a:r>
              <a:rPr sz="1400" spc="15" dirty="0">
                <a:solidFill>
                  <a:srgbClr val="3333B2"/>
                </a:solidFill>
                <a:latin typeface="Arial"/>
                <a:cs typeface="Arial"/>
              </a:rPr>
              <a:t>Window</a:t>
            </a:r>
            <a:r>
              <a:rPr sz="1400" dirty="0">
                <a:solidFill>
                  <a:srgbClr val="3333B2"/>
                </a:solidFill>
                <a:latin typeface="Arial"/>
                <a:cs typeface="Arial"/>
              </a:rPr>
              <a:t> </a:t>
            </a:r>
            <a:r>
              <a:rPr sz="1400" spc="15" dirty="0">
                <a:solidFill>
                  <a:srgbClr val="3333B2"/>
                </a:solidFill>
                <a:latin typeface="Arial"/>
                <a:cs typeface="Arial"/>
              </a:rPr>
              <a:t>system</a:t>
            </a:r>
            <a:endParaRPr sz="1400">
              <a:latin typeface="Arial"/>
              <a:cs typeface="Arial"/>
            </a:endParaRPr>
          </a:p>
          <a:p>
            <a:pPr marL="264160">
              <a:lnSpc>
                <a:spcPct val="100000"/>
              </a:lnSpc>
              <a:spcBef>
                <a:spcPts val="1195"/>
              </a:spcBef>
            </a:pPr>
            <a:r>
              <a:rPr sz="1200" spc="-5" dirty="0">
                <a:solidFill>
                  <a:srgbClr val="3333B2"/>
                </a:solidFill>
                <a:latin typeface="Arial"/>
                <a:cs typeface="Arial"/>
              </a:rPr>
              <a:t>Basic</a:t>
            </a:r>
            <a:r>
              <a:rPr sz="1200" spc="-30" dirty="0">
                <a:solidFill>
                  <a:srgbClr val="3333B2"/>
                </a:solidFill>
                <a:latin typeface="Arial"/>
                <a:cs typeface="Arial"/>
              </a:rPr>
              <a:t> </a:t>
            </a:r>
            <a:r>
              <a:rPr sz="1200" spc="-5" dirty="0">
                <a:solidFill>
                  <a:srgbClr val="3333B2"/>
                </a:solidFill>
                <a:latin typeface="Arial"/>
                <a:cs typeface="Arial"/>
              </a:rPr>
              <a:t>organization</a:t>
            </a:r>
            <a:endParaRPr sz="1200">
              <a:latin typeface="Arial"/>
              <a:cs typeface="Arial"/>
            </a:endParaRPr>
          </a:p>
          <a:p>
            <a:pPr marL="19685" algn="ctr">
              <a:lnSpc>
                <a:spcPct val="100000"/>
              </a:lnSpc>
              <a:spcBef>
                <a:spcPts val="1005"/>
              </a:spcBef>
              <a:tabLst>
                <a:tab pos="915669" algn="l"/>
              </a:tabLst>
            </a:pPr>
            <a:r>
              <a:rPr sz="650" spc="5" dirty="0">
                <a:solidFill>
                  <a:srgbClr val="231F20"/>
                </a:solidFill>
                <a:latin typeface="Arial"/>
                <a:cs typeface="Arial"/>
              </a:rPr>
              <a:t>Application server	Application</a:t>
            </a:r>
            <a:r>
              <a:rPr sz="650" spc="-35" dirty="0">
                <a:solidFill>
                  <a:srgbClr val="231F20"/>
                </a:solidFill>
                <a:latin typeface="Arial"/>
                <a:cs typeface="Arial"/>
              </a:rPr>
              <a:t> </a:t>
            </a:r>
            <a:r>
              <a:rPr sz="650" spc="5" dirty="0">
                <a:solidFill>
                  <a:srgbClr val="231F20"/>
                </a:solidFill>
                <a:latin typeface="Arial"/>
                <a:cs typeface="Arial"/>
              </a:rPr>
              <a:t>server</a:t>
            </a:r>
            <a:endParaRPr sz="650">
              <a:latin typeface="Arial"/>
              <a:cs typeface="Arial"/>
            </a:endParaRPr>
          </a:p>
        </p:txBody>
      </p:sp>
      <p:sp>
        <p:nvSpPr>
          <p:cNvPr id="36" name="object 36"/>
          <p:cNvSpPr txBox="1"/>
          <p:nvPr/>
        </p:nvSpPr>
        <p:spPr>
          <a:xfrm>
            <a:off x="3120731" y="853373"/>
            <a:ext cx="5854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User</a:t>
            </a:r>
            <a:r>
              <a:rPr sz="650" dirty="0">
                <a:solidFill>
                  <a:srgbClr val="231F20"/>
                </a:solidFill>
                <a:latin typeface="Arial"/>
                <a:cs typeface="Arial"/>
              </a:rPr>
              <a:t>'s </a:t>
            </a:r>
            <a:r>
              <a:rPr sz="650" spc="5" dirty="0">
                <a:solidFill>
                  <a:srgbClr val="231F20"/>
                </a:solidFill>
                <a:latin typeface="Arial"/>
                <a:cs typeface="Arial"/>
              </a:rPr>
              <a:t>terminal</a:t>
            </a:r>
            <a:endParaRPr sz="650">
              <a:latin typeface="Arial"/>
              <a:cs typeface="Arial"/>
            </a:endParaRPr>
          </a:p>
        </p:txBody>
      </p:sp>
      <p:sp>
        <p:nvSpPr>
          <p:cNvPr id="37" name="object 37"/>
          <p:cNvSpPr txBox="1"/>
          <p:nvPr/>
        </p:nvSpPr>
        <p:spPr>
          <a:xfrm>
            <a:off x="725539" y="1406808"/>
            <a:ext cx="521970" cy="127000"/>
          </a:xfrm>
          <a:prstGeom prst="rect">
            <a:avLst/>
          </a:prstGeom>
        </p:spPr>
        <p:txBody>
          <a:bodyPr vert="horz" wrap="square" lIns="0" tIns="13970" rIns="0" bIns="0" rtlCol="0">
            <a:spAutoFit/>
          </a:bodyPr>
          <a:lstStyle/>
          <a:p>
            <a:pPr marL="9525" algn="ctr">
              <a:lnSpc>
                <a:spcPct val="100000"/>
              </a:lnSpc>
              <a:spcBef>
                <a:spcPts val="110"/>
              </a:spcBef>
            </a:pPr>
            <a:r>
              <a:rPr sz="650" spc="5" dirty="0">
                <a:solidFill>
                  <a:srgbClr val="231F20"/>
                </a:solidFill>
                <a:latin typeface="Arial"/>
                <a:cs typeface="Arial"/>
              </a:rPr>
              <a:t>Xlib</a:t>
            </a:r>
            <a:endParaRPr sz="650">
              <a:latin typeface="Arial"/>
              <a:cs typeface="Arial"/>
            </a:endParaRPr>
          </a:p>
        </p:txBody>
      </p:sp>
      <p:sp>
        <p:nvSpPr>
          <p:cNvPr id="38" name="object 38"/>
          <p:cNvSpPr txBox="1"/>
          <p:nvPr/>
        </p:nvSpPr>
        <p:spPr>
          <a:xfrm>
            <a:off x="1568871" y="1406808"/>
            <a:ext cx="521970" cy="127000"/>
          </a:xfrm>
          <a:prstGeom prst="rect">
            <a:avLst/>
          </a:prstGeom>
        </p:spPr>
        <p:txBody>
          <a:bodyPr vert="horz" wrap="square" lIns="0" tIns="13970" rIns="0" bIns="0" rtlCol="0">
            <a:spAutoFit/>
          </a:bodyPr>
          <a:lstStyle/>
          <a:p>
            <a:pPr marL="9525" algn="ctr">
              <a:lnSpc>
                <a:spcPct val="100000"/>
              </a:lnSpc>
              <a:spcBef>
                <a:spcPts val="110"/>
              </a:spcBef>
            </a:pPr>
            <a:r>
              <a:rPr sz="650" spc="5" dirty="0">
                <a:solidFill>
                  <a:srgbClr val="231F20"/>
                </a:solidFill>
                <a:latin typeface="Arial"/>
                <a:cs typeface="Arial"/>
              </a:rPr>
              <a:t>Xlib</a:t>
            </a:r>
            <a:endParaRPr sz="650">
              <a:latin typeface="Arial"/>
              <a:cs typeface="Arial"/>
            </a:endParaRPr>
          </a:p>
        </p:txBody>
      </p:sp>
      <p:grpSp>
        <p:nvGrpSpPr>
          <p:cNvPr id="39" name="object 39"/>
          <p:cNvGrpSpPr/>
          <p:nvPr/>
        </p:nvGrpSpPr>
        <p:grpSpPr>
          <a:xfrm>
            <a:off x="617485" y="1519908"/>
            <a:ext cx="1581785" cy="5715"/>
            <a:chOff x="617485" y="1519908"/>
            <a:chExt cx="1581785" cy="5715"/>
          </a:xfrm>
        </p:grpSpPr>
        <p:sp>
          <p:nvSpPr>
            <p:cNvPr id="40" name="object 40"/>
            <p:cNvSpPr/>
            <p:nvPr/>
          </p:nvSpPr>
          <p:spPr>
            <a:xfrm>
              <a:off x="617485" y="1522543"/>
              <a:ext cx="738505" cy="0"/>
            </a:xfrm>
            <a:custGeom>
              <a:avLst/>
              <a:gdLst/>
              <a:ahLst/>
              <a:cxnLst/>
              <a:rect l="l" t="t" r="r" b="b"/>
              <a:pathLst>
                <a:path w="738505">
                  <a:moveTo>
                    <a:pt x="737915" y="0"/>
                  </a:moveTo>
                  <a:lnTo>
                    <a:pt x="0" y="0"/>
                  </a:lnTo>
                  <a:lnTo>
                    <a:pt x="737915" y="0"/>
                  </a:lnTo>
                  <a:close/>
                </a:path>
              </a:pathLst>
            </a:custGeom>
            <a:solidFill>
              <a:srgbClr val="231F20"/>
            </a:solidFill>
          </p:spPr>
          <p:txBody>
            <a:bodyPr wrap="square" lIns="0" tIns="0" rIns="0" bIns="0" rtlCol="0"/>
            <a:lstStyle/>
            <a:p>
              <a:endParaRPr/>
            </a:p>
          </p:txBody>
        </p:sp>
        <p:sp>
          <p:nvSpPr>
            <p:cNvPr id="41" name="object 41"/>
            <p:cNvSpPr/>
            <p:nvPr/>
          </p:nvSpPr>
          <p:spPr>
            <a:xfrm>
              <a:off x="617485" y="1522543"/>
              <a:ext cx="738505" cy="0"/>
            </a:xfrm>
            <a:custGeom>
              <a:avLst/>
              <a:gdLst/>
              <a:ahLst/>
              <a:cxnLst/>
              <a:rect l="l" t="t" r="r" b="b"/>
              <a:pathLst>
                <a:path w="738505">
                  <a:moveTo>
                    <a:pt x="0" y="0"/>
                  </a:moveTo>
                  <a:lnTo>
                    <a:pt x="737915" y="0"/>
                  </a:lnTo>
                  <a:lnTo>
                    <a:pt x="0" y="0"/>
                  </a:lnTo>
                  <a:close/>
                </a:path>
              </a:pathLst>
            </a:custGeom>
            <a:ln w="5270">
              <a:solidFill>
                <a:srgbClr val="231F20"/>
              </a:solidFill>
            </a:ln>
          </p:spPr>
          <p:txBody>
            <a:bodyPr wrap="square" lIns="0" tIns="0" rIns="0" bIns="0" rtlCol="0"/>
            <a:lstStyle/>
            <a:p>
              <a:endParaRPr/>
            </a:p>
          </p:txBody>
        </p:sp>
        <p:sp>
          <p:nvSpPr>
            <p:cNvPr id="42" name="object 42"/>
            <p:cNvSpPr/>
            <p:nvPr/>
          </p:nvSpPr>
          <p:spPr>
            <a:xfrm>
              <a:off x="1460819" y="1522543"/>
              <a:ext cx="738505" cy="0"/>
            </a:xfrm>
            <a:custGeom>
              <a:avLst/>
              <a:gdLst/>
              <a:ahLst/>
              <a:cxnLst/>
              <a:rect l="l" t="t" r="r" b="b"/>
              <a:pathLst>
                <a:path w="738505">
                  <a:moveTo>
                    <a:pt x="737914" y="0"/>
                  </a:moveTo>
                  <a:lnTo>
                    <a:pt x="0" y="0"/>
                  </a:lnTo>
                  <a:lnTo>
                    <a:pt x="737914" y="0"/>
                  </a:lnTo>
                  <a:close/>
                </a:path>
              </a:pathLst>
            </a:custGeom>
            <a:solidFill>
              <a:srgbClr val="231F20"/>
            </a:solidFill>
          </p:spPr>
          <p:txBody>
            <a:bodyPr wrap="square" lIns="0" tIns="0" rIns="0" bIns="0" rtlCol="0"/>
            <a:lstStyle/>
            <a:p>
              <a:endParaRPr/>
            </a:p>
          </p:txBody>
        </p:sp>
        <p:sp>
          <p:nvSpPr>
            <p:cNvPr id="43" name="object 43"/>
            <p:cNvSpPr/>
            <p:nvPr/>
          </p:nvSpPr>
          <p:spPr>
            <a:xfrm>
              <a:off x="1460819" y="1522543"/>
              <a:ext cx="738505" cy="0"/>
            </a:xfrm>
            <a:custGeom>
              <a:avLst/>
              <a:gdLst/>
              <a:ahLst/>
              <a:cxnLst/>
              <a:rect l="l" t="t" r="r" b="b"/>
              <a:pathLst>
                <a:path w="738505">
                  <a:moveTo>
                    <a:pt x="0" y="0"/>
                  </a:moveTo>
                  <a:lnTo>
                    <a:pt x="737914" y="0"/>
                  </a:lnTo>
                  <a:lnTo>
                    <a:pt x="0" y="0"/>
                  </a:lnTo>
                  <a:close/>
                </a:path>
              </a:pathLst>
            </a:custGeom>
            <a:ln w="5270">
              <a:solidFill>
                <a:srgbClr val="231F20"/>
              </a:solidFill>
            </a:ln>
          </p:spPr>
          <p:txBody>
            <a:bodyPr wrap="square" lIns="0" tIns="0" rIns="0" bIns="0" rtlCol="0"/>
            <a:lstStyle/>
            <a:p>
              <a:endParaRPr/>
            </a:p>
          </p:txBody>
        </p:sp>
      </p:grpSp>
      <p:sp>
        <p:nvSpPr>
          <p:cNvPr id="44" name="object 44"/>
          <p:cNvSpPr txBox="1"/>
          <p:nvPr/>
        </p:nvSpPr>
        <p:spPr>
          <a:xfrm>
            <a:off x="622756" y="1582611"/>
            <a:ext cx="727710" cy="127000"/>
          </a:xfrm>
          <a:prstGeom prst="rect">
            <a:avLst/>
          </a:prstGeom>
        </p:spPr>
        <p:txBody>
          <a:bodyPr vert="horz" wrap="square" lIns="0" tIns="13970" rIns="0" bIns="0" rtlCol="0">
            <a:spAutoFit/>
          </a:bodyPr>
          <a:lstStyle/>
          <a:p>
            <a:pPr marL="40640">
              <a:lnSpc>
                <a:spcPct val="100000"/>
              </a:lnSpc>
              <a:spcBef>
                <a:spcPts val="110"/>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47" name="object 47"/>
          <p:cNvSpPr txBox="1"/>
          <p:nvPr/>
        </p:nvSpPr>
        <p:spPr>
          <a:xfrm>
            <a:off x="66713" y="3331252"/>
            <a:ext cx="110553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8" action="ppaction://hlinksldjump"/>
              </a:rPr>
              <a:t>Example:</a:t>
            </a:r>
            <a:r>
              <a:rPr sz="600" spc="3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The</a:t>
            </a:r>
            <a:r>
              <a:rPr sz="600" spc="-1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X</a:t>
            </a:r>
            <a:r>
              <a:rPr sz="600" spc="-1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window</a:t>
            </a:r>
            <a:r>
              <a:rPr sz="600" spc="-1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system</a:t>
            </a:r>
            <a:endParaRPr sz="600">
              <a:latin typeface="Arial"/>
              <a:cs typeface="Arial"/>
            </a:endParaRPr>
          </a:p>
        </p:txBody>
      </p:sp>
      <p:sp>
        <p:nvSpPr>
          <p:cNvPr id="48" name="object 48"/>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23</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45" name="object 45"/>
          <p:cNvSpPr txBox="1"/>
          <p:nvPr/>
        </p:nvSpPr>
        <p:spPr>
          <a:xfrm>
            <a:off x="1466089" y="1582611"/>
            <a:ext cx="727710" cy="127000"/>
          </a:xfrm>
          <a:prstGeom prst="rect">
            <a:avLst/>
          </a:prstGeom>
        </p:spPr>
        <p:txBody>
          <a:bodyPr vert="horz" wrap="square" lIns="0" tIns="13970" rIns="0" bIns="0" rtlCol="0">
            <a:spAutoFit/>
          </a:bodyPr>
          <a:lstStyle/>
          <a:p>
            <a:pPr marL="40640">
              <a:lnSpc>
                <a:spcPct val="100000"/>
              </a:lnSpc>
              <a:spcBef>
                <a:spcPts val="110"/>
              </a:spcBef>
            </a:pPr>
            <a:r>
              <a:rPr sz="650" spc="5" dirty="0">
                <a:solidFill>
                  <a:srgbClr val="231F20"/>
                </a:solidFill>
                <a:latin typeface="Arial"/>
                <a:cs typeface="Arial"/>
              </a:rPr>
              <a:t>Local</a:t>
            </a:r>
            <a:r>
              <a:rPr sz="650" spc="-45" dirty="0">
                <a:solidFill>
                  <a:srgbClr val="231F20"/>
                </a:solidFill>
                <a:latin typeface="Arial"/>
                <a:cs typeface="Arial"/>
              </a:rPr>
              <a:t> </a:t>
            </a:r>
            <a:r>
              <a:rPr sz="650" spc="10" dirty="0">
                <a:solidFill>
                  <a:srgbClr val="231F20"/>
                </a:solidFill>
                <a:latin typeface="Arial"/>
                <a:cs typeface="Arial"/>
              </a:rPr>
              <a:t>OS</a:t>
            </a:r>
            <a:endParaRPr sz="650">
              <a:latin typeface="Arial"/>
              <a:cs typeface="Arial"/>
            </a:endParaRPr>
          </a:p>
        </p:txBody>
      </p:sp>
      <p:sp>
        <p:nvSpPr>
          <p:cNvPr id="46" name="object 46"/>
          <p:cNvSpPr txBox="1"/>
          <p:nvPr/>
        </p:nvSpPr>
        <p:spPr>
          <a:xfrm>
            <a:off x="342290" y="2612920"/>
            <a:ext cx="3911600" cy="5048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FA0000"/>
                </a:solidFill>
                <a:latin typeface="Arial"/>
                <a:cs typeface="Arial"/>
              </a:rPr>
              <a:t>X</a:t>
            </a:r>
            <a:r>
              <a:rPr sz="1200" spc="-20" dirty="0">
                <a:solidFill>
                  <a:srgbClr val="FA0000"/>
                </a:solidFill>
                <a:latin typeface="Arial"/>
                <a:cs typeface="Arial"/>
              </a:rPr>
              <a:t> </a:t>
            </a:r>
            <a:r>
              <a:rPr sz="1200" spc="-5" dirty="0">
                <a:solidFill>
                  <a:srgbClr val="FA0000"/>
                </a:solidFill>
                <a:latin typeface="Arial"/>
                <a:cs typeface="Arial"/>
              </a:rPr>
              <a:t>client</a:t>
            </a:r>
            <a:r>
              <a:rPr sz="1200" spc="-15" dirty="0">
                <a:solidFill>
                  <a:srgbClr val="FA0000"/>
                </a:solidFill>
                <a:latin typeface="Arial"/>
                <a:cs typeface="Arial"/>
              </a:rPr>
              <a:t> </a:t>
            </a:r>
            <a:r>
              <a:rPr sz="1200" spc="-5" dirty="0">
                <a:solidFill>
                  <a:srgbClr val="FA0000"/>
                </a:solidFill>
                <a:latin typeface="Arial"/>
                <a:cs typeface="Arial"/>
              </a:rPr>
              <a:t>and</a:t>
            </a:r>
            <a:r>
              <a:rPr sz="1200" spc="-20" dirty="0">
                <a:solidFill>
                  <a:srgbClr val="FA0000"/>
                </a:solidFill>
                <a:latin typeface="Arial"/>
                <a:cs typeface="Arial"/>
              </a:rPr>
              <a:t> </a:t>
            </a:r>
            <a:r>
              <a:rPr sz="1200" spc="-5" dirty="0">
                <a:solidFill>
                  <a:srgbClr val="FA0000"/>
                </a:solidFill>
                <a:latin typeface="Arial"/>
                <a:cs typeface="Arial"/>
              </a:rPr>
              <a:t>server</a:t>
            </a:r>
            <a:endParaRPr sz="1200">
              <a:latin typeface="Arial"/>
              <a:cs typeface="Arial"/>
            </a:endParaRPr>
          </a:p>
          <a:p>
            <a:pPr marL="17145" marR="508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application</a:t>
            </a:r>
            <a:r>
              <a:rPr sz="1000" spc="5" dirty="0">
                <a:latin typeface="Arial"/>
                <a:cs typeface="Arial"/>
              </a:rPr>
              <a:t> </a:t>
            </a:r>
            <a:r>
              <a:rPr sz="1000" spc="-5" dirty="0">
                <a:latin typeface="Arial"/>
                <a:cs typeface="Arial"/>
              </a:rPr>
              <a:t>acts</a:t>
            </a:r>
            <a:r>
              <a:rPr sz="1000"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a</a:t>
            </a:r>
            <a:r>
              <a:rPr sz="1000" dirty="0">
                <a:latin typeface="Arial"/>
                <a:cs typeface="Arial"/>
              </a:rPr>
              <a:t> </a:t>
            </a:r>
            <a:r>
              <a:rPr sz="1000" spc="-5" dirty="0">
                <a:solidFill>
                  <a:srgbClr val="FA0000"/>
                </a:solidFill>
                <a:latin typeface="Arial"/>
                <a:cs typeface="Arial"/>
              </a:rPr>
              <a:t>client</a:t>
            </a:r>
            <a:r>
              <a:rPr sz="1000" spc="5" dirty="0">
                <a:solidFill>
                  <a:srgbClr val="FA0000"/>
                </a:solidFill>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X-kernel,</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latter</a:t>
            </a:r>
            <a:r>
              <a:rPr sz="1000" spc="5" dirty="0">
                <a:latin typeface="Arial"/>
                <a:cs typeface="Arial"/>
              </a:rPr>
              <a:t> </a:t>
            </a:r>
            <a:r>
              <a:rPr sz="1000" spc="-5" dirty="0">
                <a:latin typeface="Arial"/>
                <a:cs typeface="Arial"/>
              </a:rPr>
              <a:t>running</a:t>
            </a:r>
            <a:r>
              <a:rPr sz="1000"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a </a:t>
            </a:r>
            <a:r>
              <a:rPr sz="1000" spc="-265" dirty="0">
                <a:latin typeface="Arial"/>
                <a:cs typeface="Arial"/>
              </a:rPr>
              <a:t> </a:t>
            </a:r>
            <a:r>
              <a:rPr sz="1000" spc="-5" dirty="0">
                <a:solidFill>
                  <a:srgbClr val="FA0000"/>
                </a:solidFill>
                <a:latin typeface="Arial"/>
                <a:cs typeface="Arial"/>
              </a:rPr>
              <a:t>server</a:t>
            </a:r>
            <a:r>
              <a:rPr sz="1000" spc="-10" dirty="0">
                <a:solidFill>
                  <a:srgbClr val="FA0000"/>
                </a:solidFill>
                <a:latin typeface="Arial"/>
                <a:cs typeface="Arial"/>
              </a:rPr>
              <a:t> </a:t>
            </a:r>
            <a:r>
              <a:rPr sz="1000" spc="-5" dirty="0">
                <a:latin typeface="Arial"/>
                <a:cs typeface="Arial"/>
              </a:rPr>
              <a:t>on the </a:t>
            </a:r>
            <a:r>
              <a:rPr sz="1000" spc="-10" dirty="0">
                <a:latin typeface="Arial"/>
                <a:cs typeface="Arial"/>
              </a:rPr>
              <a:t>client’s</a:t>
            </a:r>
            <a:r>
              <a:rPr sz="1000" spc="-5" dirty="0">
                <a:latin typeface="Arial"/>
                <a:cs typeface="Arial"/>
              </a:rPr>
              <a:t> machine.</a:t>
            </a:r>
            <a:endParaRPr sz="1000">
              <a:latin typeface="Arial"/>
              <a:cs typeface="Arial"/>
            </a:endParaRP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67310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Clients</a:t>
            </a:r>
            <a:endParaRPr sz="600">
              <a:latin typeface="Arial"/>
              <a:cs typeface="Arial"/>
            </a:endParaRPr>
          </a:p>
        </p:txBody>
      </p:sp>
      <p:sp>
        <p:nvSpPr>
          <p:cNvPr id="3" name="object 3"/>
          <p:cNvSpPr txBox="1"/>
          <p:nvPr/>
        </p:nvSpPr>
        <p:spPr>
          <a:xfrm>
            <a:off x="3637572" y="716"/>
            <a:ext cx="90424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Networked</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user</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interfaces</a:t>
            </a:r>
            <a:endParaRPr sz="600">
              <a:latin typeface="Arial"/>
              <a:cs typeface="Arial"/>
            </a:endParaRPr>
          </a:p>
        </p:txBody>
      </p:sp>
      <p:sp>
        <p:nvSpPr>
          <p:cNvPr id="4" name="object 4"/>
          <p:cNvSpPr txBox="1"/>
          <p:nvPr/>
        </p:nvSpPr>
        <p:spPr>
          <a:xfrm>
            <a:off x="69900" y="188846"/>
            <a:ext cx="4241800" cy="2562225"/>
          </a:xfrm>
          <a:prstGeom prst="rect">
            <a:avLst/>
          </a:prstGeom>
        </p:spPr>
        <p:txBody>
          <a:bodyPr vert="horz" wrap="square" lIns="0" tIns="17145" rIns="0" bIns="0" rtlCol="0">
            <a:spAutoFit/>
          </a:bodyPr>
          <a:lstStyle/>
          <a:p>
            <a:pPr marL="38100">
              <a:lnSpc>
                <a:spcPct val="100000"/>
              </a:lnSpc>
              <a:spcBef>
                <a:spcPts val="135"/>
              </a:spcBef>
            </a:pPr>
            <a:r>
              <a:rPr sz="1400" spc="10" dirty="0">
                <a:solidFill>
                  <a:srgbClr val="3333B2"/>
                </a:solidFill>
                <a:latin typeface="Arial"/>
                <a:cs typeface="Arial"/>
              </a:rPr>
              <a:t>Improving</a:t>
            </a:r>
            <a:r>
              <a:rPr sz="1400" spc="-25" dirty="0">
                <a:solidFill>
                  <a:srgbClr val="3333B2"/>
                </a:solidFill>
                <a:latin typeface="Arial"/>
                <a:cs typeface="Arial"/>
              </a:rPr>
              <a:t> </a:t>
            </a:r>
            <a:r>
              <a:rPr sz="1400" spc="20" dirty="0">
                <a:solidFill>
                  <a:srgbClr val="3333B2"/>
                </a:solidFill>
                <a:latin typeface="Arial"/>
                <a:cs typeface="Arial"/>
              </a:rPr>
              <a:t>X</a:t>
            </a:r>
            <a:endParaRPr sz="1400" dirty="0">
              <a:latin typeface="Arial"/>
              <a:cs typeface="Arial"/>
            </a:endParaRPr>
          </a:p>
          <a:p>
            <a:pPr>
              <a:lnSpc>
                <a:spcPct val="100000"/>
              </a:lnSpc>
              <a:spcBef>
                <a:spcPts val="55"/>
              </a:spcBef>
            </a:pPr>
            <a:endParaRPr sz="2200" dirty="0">
              <a:latin typeface="Arial"/>
              <a:cs typeface="Arial"/>
            </a:endParaRPr>
          </a:p>
          <a:p>
            <a:pPr marL="289560">
              <a:lnSpc>
                <a:spcPct val="100000"/>
              </a:lnSpc>
            </a:pPr>
            <a:r>
              <a:rPr sz="1200" spc="-5" dirty="0">
                <a:solidFill>
                  <a:srgbClr val="3333B2"/>
                </a:solidFill>
                <a:latin typeface="Arial"/>
                <a:cs typeface="Arial"/>
              </a:rPr>
              <a:t>Practical</a:t>
            </a:r>
            <a:r>
              <a:rPr sz="1200" spc="-30" dirty="0">
                <a:solidFill>
                  <a:srgbClr val="3333B2"/>
                </a:solidFill>
                <a:latin typeface="Arial"/>
                <a:cs typeface="Arial"/>
              </a:rPr>
              <a:t> </a:t>
            </a:r>
            <a:r>
              <a:rPr sz="1200" spc="-5" dirty="0">
                <a:solidFill>
                  <a:srgbClr val="3333B2"/>
                </a:solidFill>
                <a:latin typeface="Arial"/>
                <a:cs typeface="Arial"/>
              </a:rPr>
              <a:t>observations</a:t>
            </a:r>
            <a:endParaRPr sz="1200" dirty="0">
              <a:latin typeface="Arial"/>
              <a:cs typeface="Arial"/>
            </a:endParaRPr>
          </a:p>
          <a:p>
            <a:pPr marL="567055" marR="89535" indent="-168275">
              <a:lnSpc>
                <a:spcPct val="100000"/>
              </a:lnSpc>
              <a:spcBef>
                <a:spcPts val="545"/>
              </a:spcBef>
              <a:buClr>
                <a:srgbClr val="3333B2"/>
              </a:buClr>
              <a:buChar char="►"/>
              <a:tabLst>
                <a:tab pos="567690" algn="l"/>
              </a:tabLst>
            </a:pPr>
            <a:r>
              <a:rPr sz="1000" spc="-5" dirty="0">
                <a:latin typeface="Arial"/>
                <a:cs typeface="Arial"/>
              </a:rPr>
              <a:t>There</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no</a:t>
            </a:r>
            <a:r>
              <a:rPr sz="1000" dirty="0">
                <a:latin typeface="Arial"/>
                <a:cs typeface="Arial"/>
              </a:rPr>
              <a:t> </a:t>
            </a:r>
            <a:r>
              <a:rPr sz="1000" spc="-5" dirty="0">
                <a:latin typeface="Arial"/>
                <a:cs typeface="Arial"/>
              </a:rPr>
              <a:t>clear</a:t>
            </a:r>
            <a:r>
              <a:rPr sz="1000" dirty="0">
                <a:latin typeface="Arial"/>
                <a:cs typeface="Arial"/>
              </a:rPr>
              <a:t> </a:t>
            </a:r>
            <a:r>
              <a:rPr sz="1000" spc="-5" dirty="0">
                <a:latin typeface="Arial"/>
                <a:cs typeface="Arial"/>
              </a:rPr>
              <a:t>separation</a:t>
            </a:r>
            <a:r>
              <a:rPr sz="1000" dirty="0">
                <a:latin typeface="Arial"/>
                <a:cs typeface="Arial"/>
              </a:rPr>
              <a:t> </a:t>
            </a:r>
            <a:r>
              <a:rPr sz="1000" spc="-5" dirty="0">
                <a:latin typeface="Arial"/>
                <a:cs typeface="Arial"/>
              </a:rPr>
              <a:t>between</a:t>
            </a:r>
            <a:r>
              <a:rPr sz="1000" spc="5" dirty="0">
                <a:latin typeface="Arial"/>
                <a:cs typeface="Arial"/>
              </a:rPr>
              <a:t> </a:t>
            </a:r>
            <a:r>
              <a:rPr sz="1000" spc="-5" dirty="0">
                <a:latin typeface="Arial"/>
                <a:cs typeface="Arial"/>
              </a:rPr>
              <a:t>application</a:t>
            </a:r>
            <a:r>
              <a:rPr sz="1000" dirty="0">
                <a:latin typeface="Arial"/>
                <a:cs typeface="Arial"/>
              </a:rPr>
              <a:t> </a:t>
            </a:r>
            <a:r>
              <a:rPr sz="1000" spc="-5" dirty="0">
                <a:latin typeface="Arial"/>
                <a:cs typeface="Arial"/>
              </a:rPr>
              <a:t>logic</a:t>
            </a:r>
            <a:r>
              <a:rPr sz="1000" dirty="0">
                <a:latin typeface="Arial"/>
                <a:cs typeface="Arial"/>
              </a:rPr>
              <a:t> </a:t>
            </a:r>
            <a:r>
              <a:rPr sz="1000" spc="-5" dirty="0">
                <a:latin typeface="Arial"/>
                <a:cs typeface="Arial"/>
              </a:rPr>
              <a:t>and </a:t>
            </a:r>
            <a:r>
              <a:rPr sz="1000" spc="-265" dirty="0">
                <a:latin typeface="Arial"/>
                <a:cs typeface="Arial"/>
              </a:rPr>
              <a:t> </a:t>
            </a:r>
            <a:r>
              <a:rPr sz="1000" spc="-5" dirty="0">
                <a:latin typeface="Arial"/>
                <a:cs typeface="Arial"/>
              </a:rPr>
              <a:t>user-interface</a:t>
            </a:r>
            <a:r>
              <a:rPr sz="1000" spc="-10" dirty="0">
                <a:latin typeface="Arial"/>
                <a:cs typeface="Arial"/>
              </a:rPr>
              <a:t> </a:t>
            </a:r>
            <a:r>
              <a:rPr sz="1000" spc="-5" dirty="0">
                <a:latin typeface="Arial"/>
                <a:cs typeface="Arial"/>
              </a:rPr>
              <a:t>commands</a:t>
            </a:r>
            <a:endParaRPr sz="1000" dirty="0">
              <a:latin typeface="Arial"/>
              <a:cs typeface="Arial"/>
            </a:endParaRPr>
          </a:p>
          <a:p>
            <a:pPr marL="567055" marR="55880" indent="-168275">
              <a:lnSpc>
                <a:spcPts val="1200"/>
              </a:lnSpc>
              <a:spcBef>
                <a:spcPts val="30"/>
              </a:spcBef>
              <a:buClr>
                <a:srgbClr val="3333B2"/>
              </a:buClr>
              <a:buChar char="►"/>
              <a:tabLst>
                <a:tab pos="567690" algn="l"/>
              </a:tabLst>
            </a:pPr>
            <a:r>
              <a:rPr sz="1000" spc="-10" dirty="0">
                <a:latin typeface="Arial"/>
                <a:cs typeface="Arial"/>
              </a:rPr>
              <a:t>Applications</a:t>
            </a:r>
            <a:r>
              <a:rPr sz="1000" dirty="0">
                <a:latin typeface="Arial"/>
                <a:cs typeface="Arial"/>
              </a:rPr>
              <a:t> </a:t>
            </a:r>
            <a:r>
              <a:rPr sz="1000" spc="-10" dirty="0">
                <a:latin typeface="Arial"/>
                <a:cs typeface="Arial"/>
              </a:rPr>
              <a:t>tend</a:t>
            </a:r>
            <a:r>
              <a:rPr sz="1000" dirty="0">
                <a:latin typeface="Arial"/>
                <a:cs typeface="Arial"/>
              </a:rPr>
              <a:t> </a:t>
            </a:r>
            <a:r>
              <a:rPr sz="1000" spc="-10" dirty="0">
                <a:latin typeface="Arial"/>
                <a:cs typeface="Arial"/>
              </a:rPr>
              <a:t>to</a:t>
            </a:r>
            <a:r>
              <a:rPr sz="1000" dirty="0">
                <a:latin typeface="Arial"/>
                <a:cs typeface="Arial"/>
              </a:rPr>
              <a:t> </a:t>
            </a:r>
            <a:r>
              <a:rPr sz="1000" spc="-10" dirty="0">
                <a:latin typeface="Arial"/>
                <a:cs typeface="Arial"/>
              </a:rPr>
              <a:t>operate</a:t>
            </a:r>
            <a:r>
              <a:rPr sz="1000" spc="5" dirty="0">
                <a:latin typeface="Arial"/>
                <a:cs typeface="Arial"/>
              </a:rPr>
              <a:t> </a:t>
            </a:r>
            <a:r>
              <a:rPr sz="1000" spc="-10" dirty="0">
                <a:latin typeface="Arial"/>
                <a:cs typeface="Arial"/>
              </a:rPr>
              <a:t>in</a:t>
            </a:r>
            <a:r>
              <a:rPr sz="1000"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tightly</a:t>
            </a:r>
            <a:r>
              <a:rPr sz="1000" dirty="0">
                <a:latin typeface="Arial"/>
                <a:cs typeface="Arial"/>
              </a:rPr>
              <a:t> </a:t>
            </a:r>
            <a:r>
              <a:rPr sz="1000" spc="-10" dirty="0">
                <a:latin typeface="Arial"/>
                <a:cs typeface="Arial"/>
              </a:rPr>
              <a:t>synchronous</a:t>
            </a:r>
            <a:r>
              <a:rPr sz="1000" spc="5" dirty="0">
                <a:latin typeface="Arial"/>
                <a:cs typeface="Arial"/>
              </a:rPr>
              <a:t> </a:t>
            </a:r>
            <a:r>
              <a:rPr sz="1000" spc="-10" dirty="0">
                <a:latin typeface="Arial"/>
                <a:cs typeface="Arial"/>
              </a:rPr>
              <a:t>manner</a:t>
            </a:r>
            <a:r>
              <a:rPr sz="1000" dirty="0">
                <a:latin typeface="Arial"/>
                <a:cs typeface="Arial"/>
              </a:rPr>
              <a:t> </a:t>
            </a:r>
            <a:r>
              <a:rPr sz="1000" spc="-10" dirty="0">
                <a:latin typeface="Arial"/>
                <a:cs typeface="Arial"/>
              </a:rPr>
              <a:t>with </a:t>
            </a:r>
            <a:r>
              <a:rPr sz="1000" spc="-265" dirty="0">
                <a:latin typeface="Arial"/>
                <a:cs typeface="Arial"/>
              </a:rPr>
              <a:t> </a:t>
            </a:r>
            <a:r>
              <a:rPr sz="1000" spc="-5" dirty="0">
                <a:latin typeface="Arial"/>
                <a:cs typeface="Arial"/>
              </a:rPr>
              <a:t>an</a:t>
            </a:r>
            <a:r>
              <a:rPr sz="1000" spc="-10" dirty="0">
                <a:latin typeface="Arial"/>
                <a:cs typeface="Arial"/>
              </a:rPr>
              <a:t> </a:t>
            </a:r>
            <a:r>
              <a:rPr sz="1000" spc="-5" dirty="0">
                <a:latin typeface="Arial"/>
                <a:cs typeface="Arial"/>
              </a:rPr>
              <a:t>X kernel</a:t>
            </a:r>
            <a:endParaRPr sz="1000" dirty="0">
              <a:latin typeface="Arial"/>
              <a:cs typeface="Arial"/>
            </a:endParaRPr>
          </a:p>
          <a:p>
            <a:pPr>
              <a:lnSpc>
                <a:spcPct val="100000"/>
              </a:lnSpc>
              <a:spcBef>
                <a:spcPts val="50"/>
              </a:spcBef>
              <a:buClr>
                <a:srgbClr val="3333B2"/>
              </a:buClr>
              <a:buFont typeface="Arial"/>
              <a:buChar char="►"/>
            </a:pPr>
            <a:endParaRPr sz="1050" dirty="0">
              <a:latin typeface="Arial"/>
              <a:cs typeface="Arial"/>
            </a:endParaRPr>
          </a:p>
          <a:p>
            <a:pPr marL="284480">
              <a:lnSpc>
                <a:spcPct val="100000"/>
              </a:lnSpc>
              <a:spcBef>
                <a:spcPts val="5"/>
              </a:spcBef>
            </a:pPr>
            <a:r>
              <a:rPr sz="1200" spc="-5" dirty="0">
                <a:solidFill>
                  <a:srgbClr val="3333B2"/>
                </a:solidFill>
                <a:latin typeface="Arial"/>
                <a:cs typeface="Arial"/>
              </a:rPr>
              <a:t>Alternative</a:t>
            </a:r>
            <a:r>
              <a:rPr sz="1200" spc="-30" dirty="0">
                <a:solidFill>
                  <a:srgbClr val="3333B2"/>
                </a:solidFill>
                <a:latin typeface="Arial"/>
                <a:cs typeface="Arial"/>
              </a:rPr>
              <a:t> </a:t>
            </a:r>
            <a:r>
              <a:rPr sz="1200" spc="-5" dirty="0">
                <a:solidFill>
                  <a:srgbClr val="3333B2"/>
                </a:solidFill>
                <a:latin typeface="Arial"/>
                <a:cs typeface="Arial"/>
              </a:rPr>
              <a:t>approaches</a:t>
            </a:r>
            <a:endParaRPr sz="1200" dirty="0">
              <a:latin typeface="Arial"/>
              <a:cs typeface="Arial"/>
            </a:endParaRPr>
          </a:p>
          <a:p>
            <a:pPr marL="567055" marR="241935" indent="-168275">
              <a:lnSpc>
                <a:spcPct val="100000"/>
              </a:lnSpc>
              <a:spcBef>
                <a:spcPts val="770"/>
              </a:spcBef>
              <a:buClr>
                <a:srgbClr val="3333B2"/>
              </a:buClr>
              <a:buChar char="►"/>
              <a:tabLst>
                <a:tab pos="567690" algn="l"/>
              </a:tabLst>
            </a:pPr>
            <a:r>
              <a:rPr sz="1000" spc="-5" dirty="0">
                <a:latin typeface="Arial"/>
                <a:cs typeface="Arial"/>
              </a:rPr>
              <a:t>Let</a:t>
            </a:r>
            <a:r>
              <a:rPr sz="1000" dirty="0">
                <a:latin typeface="Arial"/>
                <a:cs typeface="Arial"/>
              </a:rPr>
              <a:t> </a:t>
            </a:r>
            <a:r>
              <a:rPr sz="1000" spc="-5" dirty="0">
                <a:latin typeface="Arial"/>
                <a:cs typeface="Arial"/>
              </a:rPr>
              <a:t>applications</a:t>
            </a:r>
            <a:r>
              <a:rPr sz="1000" spc="5" dirty="0">
                <a:latin typeface="Arial"/>
                <a:cs typeface="Arial"/>
              </a:rPr>
              <a:t> </a:t>
            </a:r>
            <a:r>
              <a:rPr sz="1000" spc="-5" dirty="0">
                <a:latin typeface="Arial"/>
                <a:cs typeface="Arial"/>
              </a:rPr>
              <a:t>control</a:t>
            </a:r>
            <a:r>
              <a:rPr sz="1000" spc="5" dirty="0">
                <a:latin typeface="Arial"/>
                <a:cs typeface="Arial"/>
              </a:rPr>
              <a:t> </a:t>
            </a:r>
            <a:r>
              <a:rPr sz="1000" spc="-5" dirty="0">
                <a:latin typeface="Arial"/>
                <a:cs typeface="Arial"/>
              </a:rPr>
              <a:t>the</a:t>
            </a:r>
            <a:r>
              <a:rPr sz="1000" dirty="0">
                <a:latin typeface="Arial"/>
                <a:cs typeface="Arial"/>
              </a:rPr>
              <a:t> </a:t>
            </a:r>
            <a:r>
              <a:rPr sz="1000" spc="-10" dirty="0">
                <a:latin typeface="Arial"/>
                <a:cs typeface="Arial"/>
              </a:rPr>
              <a:t>display</a:t>
            </a:r>
            <a:r>
              <a:rPr sz="1000" spc="5" dirty="0">
                <a:latin typeface="Arial"/>
                <a:cs typeface="Arial"/>
              </a:rPr>
              <a:t> </a:t>
            </a:r>
            <a:r>
              <a:rPr sz="1000" spc="-5" dirty="0">
                <a:solidFill>
                  <a:srgbClr val="0000FA"/>
                </a:solidFill>
                <a:latin typeface="Arial"/>
                <a:cs typeface="Arial"/>
              </a:rPr>
              <a:t>completely</a:t>
            </a:r>
            <a:r>
              <a:rPr sz="1000" spc="-5" dirty="0">
                <a:latin typeface="Arial"/>
                <a:cs typeface="Arial"/>
              </a:rPr>
              <a:t>,</a:t>
            </a:r>
            <a:r>
              <a:rPr sz="1000" spc="5" dirty="0">
                <a:latin typeface="Arial"/>
                <a:cs typeface="Arial"/>
              </a:rPr>
              <a:t> </a:t>
            </a:r>
            <a:r>
              <a:rPr sz="1000" spc="-5" dirty="0">
                <a:latin typeface="Arial"/>
                <a:cs typeface="Arial"/>
              </a:rPr>
              <a:t>up</a:t>
            </a:r>
            <a:r>
              <a:rPr sz="1000" dirty="0">
                <a:latin typeface="Arial"/>
                <a:cs typeface="Arial"/>
              </a:rPr>
              <a:t> </a:t>
            </a:r>
            <a:r>
              <a:rPr sz="1000" spc="-5" dirty="0">
                <a:latin typeface="Arial"/>
                <a:cs typeface="Arial"/>
              </a:rPr>
              <a:t>to</a:t>
            </a:r>
            <a:r>
              <a:rPr sz="1000" spc="5" dirty="0">
                <a:latin typeface="Arial"/>
                <a:cs typeface="Arial"/>
              </a:rPr>
              <a:t> </a:t>
            </a:r>
            <a:r>
              <a:rPr sz="1000" spc="-5" dirty="0">
                <a:latin typeface="Arial"/>
                <a:cs typeface="Arial"/>
              </a:rPr>
              <a:t>the</a:t>
            </a:r>
            <a:r>
              <a:rPr sz="1000" spc="5" dirty="0">
                <a:latin typeface="Arial"/>
                <a:cs typeface="Arial"/>
              </a:rPr>
              <a:t> </a:t>
            </a:r>
            <a:r>
              <a:rPr sz="1000" spc="-10" dirty="0">
                <a:latin typeface="Arial"/>
                <a:cs typeface="Arial"/>
              </a:rPr>
              <a:t>pixel </a:t>
            </a:r>
            <a:r>
              <a:rPr sz="1000" spc="-265" dirty="0">
                <a:latin typeface="Arial"/>
                <a:cs typeface="Arial"/>
              </a:rPr>
              <a:t> </a:t>
            </a:r>
            <a:r>
              <a:rPr sz="1000" spc="-15" dirty="0">
                <a:latin typeface="Arial"/>
                <a:cs typeface="Arial"/>
              </a:rPr>
              <a:t>level</a:t>
            </a:r>
            <a:r>
              <a:rPr sz="1000" spc="-10" dirty="0">
                <a:latin typeface="Arial"/>
                <a:cs typeface="Arial"/>
              </a:rPr>
              <a:t> </a:t>
            </a:r>
            <a:r>
              <a:rPr sz="1000" spc="-5" dirty="0">
                <a:latin typeface="Arial"/>
                <a:cs typeface="Arial"/>
              </a:rPr>
              <a:t>(e.g., </a:t>
            </a:r>
            <a:r>
              <a:rPr sz="1000" spc="-5" dirty="0">
                <a:solidFill>
                  <a:srgbClr val="FA0000"/>
                </a:solidFill>
                <a:latin typeface="Arial"/>
                <a:cs typeface="Arial"/>
              </a:rPr>
              <a:t>VNC</a:t>
            </a:r>
            <a:r>
              <a:rPr sz="1000" spc="-5" dirty="0">
                <a:latin typeface="Arial"/>
                <a:cs typeface="Arial"/>
              </a:rPr>
              <a:t>)</a:t>
            </a:r>
            <a:endParaRPr sz="1000" dirty="0">
              <a:latin typeface="Arial"/>
              <a:cs typeface="Arial"/>
            </a:endParaRPr>
          </a:p>
          <a:p>
            <a:pPr marL="567055" marR="170180" indent="-168275">
              <a:lnSpc>
                <a:spcPct val="100000"/>
              </a:lnSpc>
              <a:spcBef>
                <a:spcPts val="590"/>
              </a:spcBef>
              <a:buClr>
                <a:srgbClr val="3333B2"/>
              </a:buClr>
              <a:buChar char="►"/>
              <a:tabLst>
                <a:tab pos="567690" algn="l"/>
              </a:tabLst>
            </a:pPr>
            <a:r>
              <a:rPr sz="1000" spc="-5" dirty="0">
                <a:latin typeface="Arial"/>
                <a:cs typeface="Arial"/>
              </a:rPr>
              <a:t>Provide only</a:t>
            </a:r>
            <a:r>
              <a:rPr sz="1000" dirty="0">
                <a:latin typeface="Arial"/>
                <a:cs typeface="Arial"/>
              </a:rPr>
              <a:t> </a:t>
            </a:r>
            <a:r>
              <a:rPr sz="1000" spc="-5" dirty="0">
                <a:latin typeface="Arial"/>
                <a:cs typeface="Arial"/>
              </a:rPr>
              <a:t>a</a:t>
            </a:r>
            <a:r>
              <a:rPr sz="1000" dirty="0">
                <a:latin typeface="Arial"/>
                <a:cs typeface="Arial"/>
              </a:rPr>
              <a:t> </a:t>
            </a:r>
            <a:r>
              <a:rPr sz="1000" spc="-20" dirty="0">
                <a:latin typeface="Arial"/>
                <a:cs typeface="Arial"/>
              </a:rPr>
              <a:t>few</a:t>
            </a:r>
            <a:r>
              <a:rPr sz="1000" dirty="0">
                <a:latin typeface="Arial"/>
                <a:cs typeface="Arial"/>
              </a:rPr>
              <a:t> </a:t>
            </a:r>
            <a:r>
              <a:rPr sz="1000" spc="-10" dirty="0">
                <a:latin typeface="Arial"/>
                <a:cs typeface="Arial"/>
              </a:rPr>
              <a:t>high-level</a:t>
            </a:r>
            <a:r>
              <a:rPr sz="1000" dirty="0">
                <a:latin typeface="Arial"/>
                <a:cs typeface="Arial"/>
              </a:rPr>
              <a:t> </a:t>
            </a:r>
            <a:r>
              <a:rPr sz="1000" spc="-10" dirty="0">
                <a:latin typeface="Arial"/>
                <a:cs typeface="Arial"/>
              </a:rPr>
              <a:t>display</a:t>
            </a:r>
            <a:r>
              <a:rPr sz="1000" dirty="0">
                <a:latin typeface="Arial"/>
                <a:cs typeface="Arial"/>
              </a:rPr>
              <a:t> </a:t>
            </a:r>
            <a:r>
              <a:rPr sz="1000" spc="-5" dirty="0">
                <a:latin typeface="Arial"/>
                <a:cs typeface="Arial"/>
              </a:rPr>
              <a:t>operations</a:t>
            </a:r>
            <a:r>
              <a:rPr sz="1000" dirty="0">
                <a:latin typeface="Arial"/>
                <a:cs typeface="Arial"/>
              </a:rPr>
              <a:t> </a:t>
            </a:r>
            <a:r>
              <a:rPr sz="1000" spc="-5" dirty="0">
                <a:latin typeface="Arial"/>
                <a:cs typeface="Arial"/>
              </a:rPr>
              <a:t>(dependent</a:t>
            </a:r>
            <a:r>
              <a:rPr sz="1000" dirty="0">
                <a:latin typeface="Arial"/>
                <a:cs typeface="Arial"/>
              </a:rPr>
              <a:t> </a:t>
            </a:r>
            <a:r>
              <a:rPr sz="1000" spc="-5" dirty="0">
                <a:latin typeface="Arial"/>
                <a:cs typeface="Arial"/>
              </a:rPr>
              <a:t>on </a:t>
            </a:r>
            <a:r>
              <a:rPr sz="1000" spc="-265" dirty="0">
                <a:latin typeface="Arial"/>
                <a:cs typeface="Arial"/>
              </a:rPr>
              <a:t> </a:t>
            </a:r>
            <a:r>
              <a:rPr sz="1000" spc="-5" dirty="0">
                <a:latin typeface="Arial"/>
                <a:cs typeface="Arial"/>
              </a:rPr>
              <a:t>local video</a:t>
            </a:r>
            <a:r>
              <a:rPr sz="1000" dirty="0">
                <a:latin typeface="Arial"/>
                <a:cs typeface="Arial"/>
              </a:rPr>
              <a:t> </a:t>
            </a:r>
            <a:r>
              <a:rPr sz="1000" spc="-5" dirty="0">
                <a:latin typeface="Arial"/>
                <a:cs typeface="Arial"/>
              </a:rPr>
              <a:t>drivers),</a:t>
            </a:r>
            <a:r>
              <a:rPr sz="1000" dirty="0">
                <a:latin typeface="Arial"/>
                <a:cs typeface="Arial"/>
              </a:rPr>
              <a:t> </a:t>
            </a:r>
            <a:r>
              <a:rPr sz="1000" spc="-5" dirty="0">
                <a:latin typeface="Arial"/>
                <a:cs typeface="Arial"/>
              </a:rPr>
              <a:t>allowing</a:t>
            </a:r>
            <a:r>
              <a:rPr sz="1000" dirty="0">
                <a:latin typeface="Arial"/>
                <a:cs typeface="Arial"/>
              </a:rPr>
              <a:t> </a:t>
            </a:r>
            <a:r>
              <a:rPr sz="1000" spc="-5" dirty="0">
                <a:latin typeface="Arial"/>
                <a:cs typeface="Arial"/>
              </a:rPr>
              <a:t>more</a:t>
            </a:r>
            <a:r>
              <a:rPr sz="1000" dirty="0">
                <a:latin typeface="Arial"/>
                <a:cs typeface="Arial"/>
              </a:rPr>
              <a:t> </a:t>
            </a:r>
            <a:r>
              <a:rPr sz="1000" spc="-5" dirty="0">
                <a:latin typeface="Arial"/>
                <a:cs typeface="Arial"/>
              </a:rPr>
              <a:t>efficient</a:t>
            </a:r>
            <a:r>
              <a:rPr sz="1000" dirty="0">
                <a:latin typeface="Arial"/>
                <a:cs typeface="Arial"/>
              </a:rPr>
              <a:t> </a:t>
            </a:r>
            <a:r>
              <a:rPr sz="1000" spc="-10" dirty="0">
                <a:latin typeface="Arial"/>
                <a:cs typeface="Arial"/>
              </a:rPr>
              <a:t>display</a:t>
            </a:r>
            <a:r>
              <a:rPr sz="1000" dirty="0">
                <a:latin typeface="Arial"/>
                <a:cs typeface="Arial"/>
              </a:rPr>
              <a:t> </a:t>
            </a:r>
            <a:r>
              <a:rPr sz="1000" spc="-5" dirty="0">
                <a:latin typeface="Arial"/>
                <a:cs typeface="Arial"/>
              </a:rPr>
              <a:t>operations.</a:t>
            </a:r>
            <a:endParaRPr sz="1000" dirty="0">
              <a:latin typeface="Arial"/>
              <a:cs typeface="Arial"/>
            </a:endParaRPr>
          </a:p>
        </p:txBody>
      </p:sp>
      <p:sp>
        <p:nvSpPr>
          <p:cNvPr id="5" name="object 5"/>
          <p:cNvSpPr txBox="1"/>
          <p:nvPr/>
        </p:nvSpPr>
        <p:spPr>
          <a:xfrm>
            <a:off x="66713" y="3327684"/>
            <a:ext cx="103441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Thin-client network computing</a:t>
            </a:r>
            <a:endParaRPr sz="600">
              <a:latin typeface="Arial"/>
              <a:cs typeface="Arial"/>
            </a:endParaRPr>
          </a:p>
        </p:txBody>
      </p:sp>
      <p:sp>
        <p:nvSpPr>
          <p:cNvPr id="6" name="object 6"/>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2841625"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Clients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Client-side</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software</a:t>
            </a:r>
            <a:r>
              <a:rPr sz="600" spc="5" dirty="0">
                <a:solidFill>
                  <a:srgbClr val="262685"/>
                </a:solidFill>
                <a:latin typeface="Arial"/>
                <a:cs typeface="Arial"/>
                <a:hlinkClick r:id="rId5" action="ppaction://hlinksldjump"/>
              </a:rPr>
              <a:t> </a:t>
            </a:r>
            <a:r>
              <a:rPr sz="600" spc="-10" dirty="0">
                <a:solidFill>
                  <a:srgbClr val="262685"/>
                </a:solidFill>
                <a:latin typeface="Arial"/>
                <a:cs typeface="Arial"/>
                <a:hlinkClick r:id="rId5" action="ppaction://hlinksldjump"/>
              </a:rPr>
              <a:t>for</a:t>
            </a:r>
            <a:r>
              <a:rPr sz="600" spc="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distribution</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transparency</a:t>
            </a:r>
            <a:endParaRPr sz="600">
              <a:latin typeface="Arial"/>
              <a:cs typeface="Arial"/>
            </a:endParaRPr>
          </a:p>
        </p:txBody>
      </p:sp>
      <p:sp>
        <p:nvSpPr>
          <p:cNvPr id="3" name="object 3"/>
          <p:cNvSpPr txBox="1">
            <a:spLocks noGrp="1"/>
          </p:cNvSpPr>
          <p:nvPr>
            <p:ph type="title"/>
          </p:nvPr>
        </p:nvSpPr>
        <p:spPr>
          <a:xfrm>
            <a:off x="95300" y="188846"/>
            <a:ext cx="1622425" cy="244475"/>
          </a:xfrm>
          <a:prstGeom prst="rect">
            <a:avLst/>
          </a:prstGeom>
        </p:spPr>
        <p:txBody>
          <a:bodyPr vert="horz" wrap="square" lIns="0" tIns="17145" rIns="0" bIns="0" rtlCol="0">
            <a:spAutoFit/>
          </a:bodyPr>
          <a:lstStyle/>
          <a:p>
            <a:pPr marL="12700">
              <a:lnSpc>
                <a:spcPct val="100000"/>
              </a:lnSpc>
              <a:spcBef>
                <a:spcPts val="135"/>
              </a:spcBef>
            </a:pPr>
            <a:r>
              <a:rPr spc="10" dirty="0"/>
              <a:t>Client-side</a:t>
            </a:r>
            <a:r>
              <a:rPr spc="-20" dirty="0"/>
              <a:t> </a:t>
            </a:r>
            <a:r>
              <a:rPr spc="10" dirty="0"/>
              <a:t>software</a:t>
            </a:r>
          </a:p>
        </p:txBody>
      </p:sp>
      <p:sp>
        <p:nvSpPr>
          <p:cNvPr id="4" name="object 4"/>
          <p:cNvSpPr txBox="1"/>
          <p:nvPr/>
        </p:nvSpPr>
        <p:spPr>
          <a:xfrm>
            <a:off x="334594" y="463331"/>
            <a:ext cx="3876675" cy="1210310"/>
          </a:xfrm>
          <a:prstGeom prst="rect">
            <a:avLst/>
          </a:prstGeom>
        </p:spPr>
        <p:txBody>
          <a:bodyPr vert="horz" wrap="square" lIns="0" tIns="12065" rIns="0" bIns="0" rtlCol="0">
            <a:spAutoFit/>
          </a:bodyPr>
          <a:lstStyle/>
          <a:p>
            <a:pPr marL="25400">
              <a:lnSpc>
                <a:spcPct val="100000"/>
              </a:lnSpc>
              <a:spcBef>
                <a:spcPts val="95"/>
              </a:spcBef>
            </a:pPr>
            <a:r>
              <a:rPr sz="1200" spc="-5" dirty="0">
                <a:solidFill>
                  <a:srgbClr val="3333B2"/>
                </a:solidFill>
                <a:latin typeface="Arial"/>
                <a:cs typeface="Arial"/>
              </a:rPr>
              <a:t>Generally</a:t>
            </a:r>
            <a:r>
              <a:rPr sz="1200" spc="-10" dirty="0">
                <a:solidFill>
                  <a:srgbClr val="3333B2"/>
                </a:solidFill>
                <a:latin typeface="Arial"/>
                <a:cs typeface="Arial"/>
              </a:rPr>
              <a:t> </a:t>
            </a:r>
            <a:r>
              <a:rPr sz="1200" spc="-5" dirty="0">
                <a:solidFill>
                  <a:srgbClr val="3333B2"/>
                </a:solidFill>
                <a:latin typeface="Arial"/>
                <a:cs typeface="Arial"/>
              </a:rPr>
              <a:t>tailored </a:t>
            </a:r>
            <a:r>
              <a:rPr sz="1200" spc="-20" dirty="0">
                <a:solidFill>
                  <a:srgbClr val="3333B2"/>
                </a:solidFill>
                <a:latin typeface="Arial"/>
                <a:cs typeface="Arial"/>
              </a:rPr>
              <a:t>for</a:t>
            </a:r>
            <a:r>
              <a:rPr sz="1200" spc="-5" dirty="0">
                <a:solidFill>
                  <a:srgbClr val="3333B2"/>
                </a:solidFill>
                <a:latin typeface="Arial"/>
                <a:cs typeface="Arial"/>
              </a:rPr>
              <a:t> distribution transparency</a:t>
            </a:r>
            <a:endParaRPr sz="1200" dirty="0">
              <a:latin typeface="Arial"/>
              <a:cs typeface="Arial"/>
            </a:endParaRPr>
          </a:p>
          <a:p>
            <a:pPr marL="302260" indent="-168275">
              <a:lnSpc>
                <a:spcPts val="1200"/>
              </a:lnSpc>
              <a:spcBef>
                <a:spcPts val="780"/>
              </a:spcBef>
              <a:buClr>
                <a:srgbClr val="3333B2"/>
              </a:buClr>
              <a:buChar char="►"/>
              <a:tabLst>
                <a:tab pos="302895" algn="l"/>
              </a:tabLst>
            </a:pPr>
            <a:r>
              <a:rPr sz="1000" spc="-5" dirty="0">
                <a:solidFill>
                  <a:srgbClr val="0000FA"/>
                </a:solidFill>
                <a:latin typeface="Arial"/>
                <a:cs typeface="Arial"/>
              </a:rPr>
              <a:t>Access transparency</a:t>
            </a:r>
            <a:r>
              <a:rPr sz="1000" spc="-5" dirty="0">
                <a:latin typeface="Arial"/>
                <a:cs typeface="Arial"/>
              </a:rPr>
              <a:t>:</a:t>
            </a:r>
            <a:r>
              <a:rPr sz="1000" spc="65" dirty="0">
                <a:latin typeface="Arial"/>
                <a:cs typeface="Arial"/>
              </a:rPr>
              <a:t> </a:t>
            </a:r>
            <a:r>
              <a:rPr sz="1000" spc="-5" dirty="0">
                <a:latin typeface="Arial"/>
                <a:cs typeface="Arial"/>
              </a:rPr>
              <a:t>client-side</a:t>
            </a:r>
            <a:r>
              <a:rPr sz="1000" dirty="0">
                <a:latin typeface="Arial"/>
                <a:cs typeface="Arial"/>
              </a:rPr>
              <a:t> </a:t>
            </a:r>
            <a:r>
              <a:rPr sz="1000" spc="-5" dirty="0">
                <a:latin typeface="Arial"/>
                <a:cs typeface="Arial"/>
              </a:rPr>
              <a:t>stubs</a:t>
            </a:r>
            <a:r>
              <a:rPr sz="1000" dirty="0">
                <a:latin typeface="Arial"/>
                <a:cs typeface="Arial"/>
              </a:rPr>
              <a:t> </a:t>
            </a:r>
            <a:r>
              <a:rPr sz="1000" spc="-15" dirty="0">
                <a:latin typeface="Arial"/>
                <a:cs typeface="Arial"/>
              </a:rPr>
              <a:t>for</a:t>
            </a:r>
            <a:r>
              <a:rPr sz="1000" spc="-5" dirty="0">
                <a:latin typeface="Arial"/>
                <a:cs typeface="Arial"/>
              </a:rPr>
              <a:t> RPCs</a:t>
            </a:r>
            <a:endParaRPr sz="1000" dirty="0">
              <a:latin typeface="Arial"/>
              <a:cs typeface="Arial"/>
            </a:endParaRPr>
          </a:p>
          <a:p>
            <a:pPr marL="302260" marR="134620" indent="-168275">
              <a:lnSpc>
                <a:spcPts val="1200"/>
              </a:lnSpc>
              <a:spcBef>
                <a:spcPts val="35"/>
              </a:spcBef>
              <a:buClr>
                <a:srgbClr val="3333B2"/>
              </a:buClr>
              <a:buChar char="►"/>
              <a:tabLst>
                <a:tab pos="302895" algn="l"/>
              </a:tabLst>
            </a:pPr>
            <a:r>
              <a:rPr sz="1000" spc="-5" dirty="0">
                <a:solidFill>
                  <a:srgbClr val="0000FA"/>
                </a:solidFill>
                <a:latin typeface="Arial"/>
                <a:cs typeface="Arial"/>
              </a:rPr>
              <a:t>Location/migration</a:t>
            </a:r>
            <a:r>
              <a:rPr sz="1000" dirty="0">
                <a:solidFill>
                  <a:srgbClr val="0000FA"/>
                </a:solidFill>
                <a:latin typeface="Arial"/>
                <a:cs typeface="Arial"/>
              </a:rPr>
              <a:t> </a:t>
            </a:r>
            <a:r>
              <a:rPr sz="1000" spc="-5" dirty="0">
                <a:solidFill>
                  <a:srgbClr val="0000FA"/>
                </a:solidFill>
                <a:latin typeface="Arial"/>
                <a:cs typeface="Arial"/>
              </a:rPr>
              <a:t>transparency</a:t>
            </a:r>
            <a:r>
              <a:rPr sz="1000" spc="-5" dirty="0">
                <a:latin typeface="Arial"/>
                <a:cs typeface="Arial"/>
              </a:rPr>
              <a:t>:</a:t>
            </a:r>
            <a:r>
              <a:rPr sz="1000" spc="70" dirty="0">
                <a:latin typeface="Arial"/>
                <a:cs typeface="Arial"/>
              </a:rPr>
              <a:t> </a:t>
            </a:r>
            <a:r>
              <a:rPr sz="1000" spc="-5" dirty="0">
                <a:latin typeface="Arial"/>
                <a:cs typeface="Arial"/>
              </a:rPr>
              <a:t>let</a:t>
            </a:r>
            <a:r>
              <a:rPr sz="1000" dirty="0">
                <a:latin typeface="Arial"/>
                <a:cs typeface="Arial"/>
              </a:rPr>
              <a:t> </a:t>
            </a:r>
            <a:r>
              <a:rPr sz="1000" spc="-5" dirty="0">
                <a:latin typeface="Arial"/>
                <a:cs typeface="Arial"/>
              </a:rPr>
              <a:t>client-side</a:t>
            </a:r>
            <a:r>
              <a:rPr sz="1000" spc="5" dirty="0">
                <a:latin typeface="Arial"/>
                <a:cs typeface="Arial"/>
              </a:rPr>
              <a:t> </a:t>
            </a:r>
            <a:r>
              <a:rPr sz="1000" spc="-5" dirty="0">
                <a:latin typeface="Arial"/>
                <a:cs typeface="Arial"/>
              </a:rPr>
              <a:t>software</a:t>
            </a:r>
            <a:r>
              <a:rPr sz="1000" dirty="0">
                <a:latin typeface="Arial"/>
                <a:cs typeface="Arial"/>
              </a:rPr>
              <a:t> </a:t>
            </a:r>
            <a:r>
              <a:rPr sz="1000" spc="-10" dirty="0">
                <a:latin typeface="Arial"/>
                <a:cs typeface="Arial"/>
              </a:rPr>
              <a:t>keep </a:t>
            </a:r>
            <a:r>
              <a:rPr sz="1000" spc="-260" dirty="0">
                <a:latin typeface="Arial"/>
                <a:cs typeface="Arial"/>
              </a:rPr>
              <a:t> </a:t>
            </a:r>
            <a:r>
              <a:rPr sz="1000" spc="-10" dirty="0">
                <a:latin typeface="Arial"/>
                <a:cs typeface="Arial"/>
              </a:rPr>
              <a:t>track </a:t>
            </a:r>
            <a:r>
              <a:rPr sz="1000" spc="-5" dirty="0">
                <a:latin typeface="Arial"/>
                <a:cs typeface="Arial"/>
              </a:rPr>
              <a:t>of actual location</a:t>
            </a:r>
            <a:endParaRPr sz="1000" dirty="0">
              <a:latin typeface="Arial"/>
              <a:cs typeface="Arial"/>
            </a:endParaRPr>
          </a:p>
          <a:p>
            <a:pPr marL="302260" indent="-168275">
              <a:lnSpc>
                <a:spcPts val="1150"/>
              </a:lnSpc>
              <a:buClr>
                <a:srgbClr val="3333B2"/>
              </a:buClr>
              <a:buChar char="►"/>
              <a:tabLst>
                <a:tab pos="302895" algn="l"/>
              </a:tabLst>
            </a:pPr>
            <a:r>
              <a:rPr sz="1000" spc="-5" dirty="0">
                <a:solidFill>
                  <a:srgbClr val="0000FA"/>
                </a:solidFill>
                <a:latin typeface="Arial"/>
                <a:cs typeface="Arial"/>
              </a:rPr>
              <a:t>Replication</a:t>
            </a:r>
            <a:r>
              <a:rPr sz="1000" spc="5" dirty="0">
                <a:solidFill>
                  <a:srgbClr val="0000FA"/>
                </a:solidFill>
                <a:latin typeface="Arial"/>
                <a:cs typeface="Arial"/>
              </a:rPr>
              <a:t> </a:t>
            </a:r>
            <a:r>
              <a:rPr sz="1000" spc="-5" dirty="0">
                <a:solidFill>
                  <a:srgbClr val="0000FA"/>
                </a:solidFill>
                <a:latin typeface="Arial"/>
                <a:cs typeface="Arial"/>
              </a:rPr>
              <a:t>transparency</a:t>
            </a:r>
            <a:r>
              <a:rPr sz="1000" spc="-5" dirty="0">
                <a:latin typeface="Arial"/>
                <a:cs typeface="Arial"/>
              </a:rPr>
              <a:t>:</a:t>
            </a:r>
            <a:r>
              <a:rPr sz="1000" spc="75" dirty="0">
                <a:latin typeface="Arial"/>
                <a:cs typeface="Arial"/>
              </a:rPr>
              <a:t> </a:t>
            </a:r>
            <a:r>
              <a:rPr sz="1000" spc="-5" dirty="0">
                <a:latin typeface="Arial"/>
                <a:cs typeface="Arial"/>
              </a:rPr>
              <a:t>multiple</a:t>
            </a:r>
            <a:r>
              <a:rPr sz="1000" spc="10" dirty="0">
                <a:latin typeface="Arial"/>
                <a:cs typeface="Arial"/>
              </a:rPr>
              <a:t> </a:t>
            </a:r>
            <a:r>
              <a:rPr sz="1000" spc="-10" dirty="0">
                <a:latin typeface="Arial"/>
                <a:cs typeface="Arial"/>
              </a:rPr>
              <a:t>invocations</a:t>
            </a:r>
            <a:r>
              <a:rPr sz="1000" spc="5" dirty="0">
                <a:latin typeface="Arial"/>
                <a:cs typeface="Arial"/>
              </a:rPr>
              <a:t> </a:t>
            </a:r>
            <a:r>
              <a:rPr sz="1000" spc="-5" dirty="0">
                <a:latin typeface="Arial"/>
                <a:cs typeface="Arial"/>
              </a:rPr>
              <a:t>handled</a:t>
            </a:r>
            <a:r>
              <a:rPr sz="1000" spc="5" dirty="0">
                <a:latin typeface="Arial"/>
                <a:cs typeface="Arial"/>
              </a:rPr>
              <a:t> </a:t>
            </a:r>
            <a:r>
              <a:rPr sz="1000" spc="-15" dirty="0">
                <a:latin typeface="Arial"/>
                <a:cs typeface="Arial"/>
              </a:rPr>
              <a:t>by</a:t>
            </a:r>
            <a:r>
              <a:rPr sz="1000" spc="10" dirty="0">
                <a:latin typeface="Arial"/>
                <a:cs typeface="Arial"/>
              </a:rPr>
              <a:t> </a:t>
            </a:r>
            <a:r>
              <a:rPr sz="1000" spc="-5" dirty="0">
                <a:latin typeface="Arial"/>
                <a:cs typeface="Arial"/>
              </a:rPr>
              <a:t>client</a:t>
            </a:r>
            <a:endParaRPr sz="1000" dirty="0">
              <a:latin typeface="Arial"/>
              <a:cs typeface="Arial"/>
            </a:endParaRPr>
          </a:p>
          <a:p>
            <a:pPr marL="302260">
              <a:lnSpc>
                <a:spcPts val="1200"/>
              </a:lnSpc>
            </a:pPr>
            <a:r>
              <a:rPr sz="1000" spc="-5" dirty="0">
                <a:latin typeface="Arial"/>
                <a:cs typeface="Arial"/>
              </a:rPr>
              <a:t>stub:</a:t>
            </a:r>
            <a:endParaRPr sz="1000" dirty="0">
              <a:latin typeface="Arial"/>
              <a:cs typeface="Arial"/>
            </a:endParaRPr>
          </a:p>
          <a:p>
            <a:pPr marL="871219">
              <a:lnSpc>
                <a:spcPct val="100000"/>
              </a:lnSpc>
              <a:spcBef>
                <a:spcPts val="350"/>
              </a:spcBef>
              <a:tabLst>
                <a:tab pos="1755775" algn="l"/>
                <a:tab pos="2509520" algn="l"/>
                <a:tab pos="3268345" algn="l"/>
              </a:tabLst>
            </a:pPr>
            <a:r>
              <a:rPr sz="650" spc="5" dirty="0">
                <a:solidFill>
                  <a:srgbClr val="231F20"/>
                </a:solidFill>
                <a:latin typeface="Arial"/>
                <a:cs typeface="Arial"/>
              </a:rPr>
              <a:t>Client machine	Server 1	Server 2	Server</a:t>
            </a:r>
            <a:r>
              <a:rPr sz="650" spc="-40" dirty="0">
                <a:solidFill>
                  <a:srgbClr val="231F20"/>
                </a:solidFill>
                <a:latin typeface="Arial"/>
                <a:cs typeface="Arial"/>
              </a:rPr>
              <a:t> </a:t>
            </a:r>
            <a:r>
              <a:rPr sz="650" spc="5" dirty="0">
                <a:solidFill>
                  <a:srgbClr val="231F20"/>
                </a:solidFill>
                <a:latin typeface="Arial"/>
                <a:cs typeface="Arial"/>
              </a:rPr>
              <a:t>3</a:t>
            </a:r>
            <a:endParaRPr sz="650" dirty="0">
              <a:latin typeface="Arial"/>
              <a:cs typeface="Arial"/>
            </a:endParaRPr>
          </a:p>
        </p:txBody>
      </p:sp>
      <p:grpSp>
        <p:nvGrpSpPr>
          <p:cNvPr id="5" name="object 5"/>
          <p:cNvGrpSpPr/>
          <p:nvPr/>
        </p:nvGrpSpPr>
        <p:grpSpPr>
          <a:xfrm>
            <a:off x="1214468" y="1692287"/>
            <a:ext cx="2819400" cy="580390"/>
            <a:chOff x="1214468" y="1692287"/>
            <a:chExt cx="2819400" cy="580390"/>
          </a:xfrm>
        </p:grpSpPr>
        <p:sp>
          <p:nvSpPr>
            <p:cNvPr id="6" name="object 6"/>
            <p:cNvSpPr/>
            <p:nvPr/>
          </p:nvSpPr>
          <p:spPr>
            <a:xfrm>
              <a:off x="1219866" y="1697685"/>
              <a:ext cx="1290320" cy="569595"/>
            </a:xfrm>
            <a:custGeom>
              <a:avLst/>
              <a:gdLst/>
              <a:ahLst/>
              <a:cxnLst/>
              <a:rect l="l" t="t" r="r" b="b"/>
              <a:pathLst>
                <a:path w="1290320" h="569594">
                  <a:moveTo>
                    <a:pt x="758956" y="569213"/>
                  </a:moveTo>
                  <a:lnTo>
                    <a:pt x="1290231" y="569213"/>
                  </a:lnTo>
                  <a:lnTo>
                    <a:pt x="1290231" y="0"/>
                  </a:lnTo>
                  <a:lnTo>
                    <a:pt x="758956" y="0"/>
                  </a:lnTo>
                  <a:lnTo>
                    <a:pt x="758956" y="569213"/>
                  </a:lnTo>
                  <a:close/>
                </a:path>
                <a:path w="1290320" h="569594">
                  <a:moveTo>
                    <a:pt x="0" y="569213"/>
                  </a:moveTo>
                  <a:lnTo>
                    <a:pt x="531274" y="569213"/>
                  </a:lnTo>
                  <a:lnTo>
                    <a:pt x="531274" y="0"/>
                  </a:lnTo>
                  <a:lnTo>
                    <a:pt x="0" y="0"/>
                  </a:lnTo>
                  <a:lnTo>
                    <a:pt x="0" y="569213"/>
                  </a:lnTo>
                  <a:close/>
                </a:path>
              </a:pathLst>
            </a:custGeom>
            <a:ln w="10541">
              <a:solidFill>
                <a:srgbClr val="231F20"/>
              </a:solidFill>
            </a:ln>
          </p:spPr>
          <p:txBody>
            <a:bodyPr wrap="square" lIns="0" tIns="0" rIns="0" bIns="0" rtlCol="0"/>
            <a:lstStyle/>
            <a:p>
              <a:endParaRPr/>
            </a:p>
          </p:txBody>
        </p:sp>
        <p:sp>
          <p:nvSpPr>
            <p:cNvPr id="7" name="object 7"/>
            <p:cNvSpPr/>
            <p:nvPr/>
          </p:nvSpPr>
          <p:spPr>
            <a:xfrm>
              <a:off x="1295761" y="1773580"/>
              <a:ext cx="379730" cy="341630"/>
            </a:xfrm>
            <a:custGeom>
              <a:avLst/>
              <a:gdLst/>
              <a:ahLst/>
              <a:cxnLst/>
              <a:rect l="l" t="t" r="r" b="b"/>
              <a:pathLst>
                <a:path w="379730" h="341630">
                  <a:moveTo>
                    <a:pt x="0" y="341528"/>
                  </a:moveTo>
                  <a:lnTo>
                    <a:pt x="379475" y="341528"/>
                  </a:lnTo>
                  <a:lnTo>
                    <a:pt x="379475" y="0"/>
                  </a:lnTo>
                  <a:lnTo>
                    <a:pt x="0" y="0"/>
                  </a:lnTo>
                  <a:lnTo>
                    <a:pt x="0" y="341528"/>
                  </a:lnTo>
                  <a:close/>
                </a:path>
              </a:pathLst>
            </a:custGeom>
            <a:ln w="5270">
              <a:solidFill>
                <a:srgbClr val="231F20"/>
              </a:solidFill>
            </a:ln>
          </p:spPr>
          <p:txBody>
            <a:bodyPr wrap="square" lIns="0" tIns="0" rIns="0" bIns="0" rtlCol="0"/>
            <a:lstStyle/>
            <a:p>
              <a:endParaRPr/>
            </a:p>
          </p:txBody>
        </p:sp>
        <p:sp>
          <p:nvSpPr>
            <p:cNvPr id="8" name="object 8"/>
            <p:cNvSpPr/>
            <p:nvPr/>
          </p:nvSpPr>
          <p:spPr>
            <a:xfrm>
              <a:off x="2737764" y="1697685"/>
              <a:ext cx="1290320" cy="569595"/>
            </a:xfrm>
            <a:custGeom>
              <a:avLst/>
              <a:gdLst/>
              <a:ahLst/>
              <a:cxnLst/>
              <a:rect l="l" t="t" r="r" b="b"/>
              <a:pathLst>
                <a:path w="1290320" h="569594">
                  <a:moveTo>
                    <a:pt x="0" y="569213"/>
                  </a:moveTo>
                  <a:lnTo>
                    <a:pt x="531274" y="569213"/>
                  </a:lnTo>
                  <a:lnTo>
                    <a:pt x="531274" y="0"/>
                  </a:lnTo>
                  <a:lnTo>
                    <a:pt x="0" y="0"/>
                  </a:lnTo>
                  <a:lnTo>
                    <a:pt x="0" y="569213"/>
                  </a:lnTo>
                  <a:close/>
                </a:path>
                <a:path w="1290320" h="569594">
                  <a:moveTo>
                    <a:pt x="758962" y="569213"/>
                  </a:moveTo>
                  <a:lnTo>
                    <a:pt x="1290237" y="569213"/>
                  </a:lnTo>
                  <a:lnTo>
                    <a:pt x="1290237" y="0"/>
                  </a:lnTo>
                  <a:lnTo>
                    <a:pt x="758962" y="0"/>
                  </a:lnTo>
                  <a:lnTo>
                    <a:pt x="758962" y="569213"/>
                  </a:lnTo>
                  <a:close/>
                </a:path>
              </a:pathLst>
            </a:custGeom>
            <a:ln w="10541">
              <a:solidFill>
                <a:srgbClr val="231F20"/>
              </a:solidFill>
            </a:ln>
          </p:spPr>
          <p:txBody>
            <a:bodyPr wrap="square" lIns="0" tIns="0" rIns="0" bIns="0" rtlCol="0"/>
            <a:lstStyle/>
            <a:p>
              <a:endParaRPr/>
            </a:p>
          </p:txBody>
        </p:sp>
      </p:grpSp>
      <p:sp>
        <p:nvSpPr>
          <p:cNvPr id="9" name="object 9"/>
          <p:cNvSpPr txBox="1"/>
          <p:nvPr/>
        </p:nvSpPr>
        <p:spPr>
          <a:xfrm>
            <a:off x="1363214" y="1790396"/>
            <a:ext cx="241300" cy="227329"/>
          </a:xfrm>
          <a:prstGeom prst="rect">
            <a:avLst/>
          </a:prstGeom>
        </p:spPr>
        <p:txBody>
          <a:bodyPr vert="horz" wrap="square" lIns="0" tIns="13970" rIns="0" bIns="0" rtlCol="0">
            <a:spAutoFit/>
          </a:bodyPr>
          <a:lstStyle/>
          <a:p>
            <a:pPr marL="43815" marR="5080" indent="-31750">
              <a:lnSpc>
                <a:spcPct val="100000"/>
              </a:lnSpc>
              <a:spcBef>
                <a:spcPts val="110"/>
              </a:spcBef>
            </a:pPr>
            <a:r>
              <a:rPr sz="650" spc="5" dirty="0">
                <a:solidFill>
                  <a:srgbClr val="231F20"/>
                </a:solidFill>
                <a:latin typeface="Arial"/>
                <a:cs typeface="Arial"/>
              </a:rPr>
              <a:t>Client  appl</a:t>
            </a:r>
            <a:endParaRPr sz="650">
              <a:latin typeface="Arial"/>
              <a:cs typeface="Arial"/>
            </a:endParaRPr>
          </a:p>
        </p:txBody>
      </p:sp>
      <p:sp>
        <p:nvSpPr>
          <p:cNvPr id="10" name="object 10"/>
          <p:cNvSpPr txBox="1"/>
          <p:nvPr/>
        </p:nvSpPr>
        <p:spPr>
          <a:xfrm>
            <a:off x="2054717" y="1773580"/>
            <a:ext cx="379730" cy="341630"/>
          </a:xfrm>
          <a:prstGeom prst="rect">
            <a:avLst/>
          </a:prstGeom>
          <a:ln w="5270">
            <a:solidFill>
              <a:srgbClr val="231F20"/>
            </a:solidFill>
          </a:ln>
        </p:spPr>
        <p:txBody>
          <a:bodyPr vert="horz" wrap="square" lIns="0" tIns="31115" rIns="0" bIns="0" rtlCol="0">
            <a:spAutoFit/>
          </a:bodyPr>
          <a:lstStyle/>
          <a:p>
            <a:pPr marL="111125" marR="60325" indent="-48895">
              <a:lnSpc>
                <a:spcPct val="100000"/>
              </a:lnSpc>
              <a:spcBef>
                <a:spcPts val="245"/>
              </a:spcBef>
            </a:pPr>
            <a:r>
              <a:rPr sz="650" spc="5" dirty="0">
                <a:solidFill>
                  <a:srgbClr val="231F20"/>
                </a:solidFill>
                <a:latin typeface="Arial"/>
                <a:cs typeface="Arial"/>
              </a:rPr>
              <a:t>Server  appl</a:t>
            </a:r>
            <a:endParaRPr sz="650">
              <a:latin typeface="Arial"/>
              <a:cs typeface="Arial"/>
            </a:endParaRPr>
          </a:p>
        </p:txBody>
      </p:sp>
      <p:sp>
        <p:nvSpPr>
          <p:cNvPr id="11" name="object 11"/>
          <p:cNvSpPr txBox="1"/>
          <p:nvPr/>
        </p:nvSpPr>
        <p:spPr>
          <a:xfrm>
            <a:off x="2813669" y="1773580"/>
            <a:ext cx="379730" cy="341630"/>
          </a:xfrm>
          <a:prstGeom prst="rect">
            <a:avLst/>
          </a:prstGeom>
          <a:ln w="5270">
            <a:solidFill>
              <a:srgbClr val="231F20"/>
            </a:solidFill>
          </a:ln>
        </p:spPr>
        <p:txBody>
          <a:bodyPr vert="horz" wrap="square" lIns="0" tIns="31115" rIns="0" bIns="0" rtlCol="0">
            <a:spAutoFit/>
          </a:bodyPr>
          <a:lstStyle/>
          <a:p>
            <a:pPr marL="111125" marR="60325" indent="-48895">
              <a:lnSpc>
                <a:spcPct val="100000"/>
              </a:lnSpc>
              <a:spcBef>
                <a:spcPts val="245"/>
              </a:spcBef>
            </a:pPr>
            <a:r>
              <a:rPr sz="650" spc="5" dirty="0">
                <a:solidFill>
                  <a:srgbClr val="231F20"/>
                </a:solidFill>
                <a:latin typeface="Arial"/>
                <a:cs typeface="Arial"/>
              </a:rPr>
              <a:t>Server  appl</a:t>
            </a:r>
            <a:endParaRPr sz="650">
              <a:latin typeface="Arial"/>
              <a:cs typeface="Arial"/>
            </a:endParaRPr>
          </a:p>
        </p:txBody>
      </p:sp>
      <p:sp>
        <p:nvSpPr>
          <p:cNvPr id="12" name="object 12"/>
          <p:cNvSpPr txBox="1"/>
          <p:nvPr/>
        </p:nvSpPr>
        <p:spPr>
          <a:xfrm>
            <a:off x="3581054" y="1773592"/>
            <a:ext cx="379730" cy="341630"/>
          </a:xfrm>
          <a:prstGeom prst="rect">
            <a:avLst/>
          </a:prstGeom>
          <a:ln w="5270">
            <a:solidFill>
              <a:srgbClr val="231F20"/>
            </a:solidFill>
          </a:ln>
        </p:spPr>
        <p:txBody>
          <a:bodyPr vert="horz" wrap="square" lIns="0" tIns="31115" rIns="0" bIns="0" rtlCol="0">
            <a:spAutoFit/>
          </a:bodyPr>
          <a:lstStyle/>
          <a:p>
            <a:pPr marL="102870" marR="68580" indent="-48895">
              <a:lnSpc>
                <a:spcPct val="100000"/>
              </a:lnSpc>
              <a:spcBef>
                <a:spcPts val="245"/>
              </a:spcBef>
            </a:pPr>
            <a:r>
              <a:rPr sz="650" spc="5" dirty="0">
                <a:solidFill>
                  <a:srgbClr val="231F20"/>
                </a:solidFill>
                <a:latin typeface="Arial"/>
                <a:cs typeface="Arial"/>
              </a:rPr>
              <a:t>Server  appl</a:t>
            </a:r>
            <a:endParaRPr sz="650">
              <a:latin typeface="Arial"/>
              <a:cs typeface="Arial"/>
            </a:endParaRPr>
          </a:p>
        </p:txBody>
      </p:sp>
      <p:grpSp>
        <p:nvGrpSpPr>
          <p:cNvPr id="13" name="object 13"/>
          <p:cNvGrpSpPr/>
          <p:nvPr/>
        </p:nvGrpSpPr>
        <p:grpSpPr>
          <a:xfrm>
            <a:off x="1217008" y="2036355"/>
            <a:ext cx="2814320" cy="669290"/>
            <a:chOff x="1217008" y="2036355"/>
            <a:chExt cx="2814320" cy="669290"/>
          </a:xfrm>
        </p:grpSpPr>
        <p:sp>
          <p:nvSpPr>
            <p:cNvPr id="14" name="object 14"/>
            <p:cNvSpPr/>
            <p:nvPr/>
          </p:nvSpPr>
          <p:spPr>
            <a:xfrm>
              <a:off x="1219866" y="2039213"/>
              <a:ext cx="1290320" cy="102235"/>
            </a:xfrm>
            <a:custGeom>
              <a:avLst/>
              <a:gdLst/>
              <a:ahLst/>
              <a:cxnLst/>
              <a:rect l="l" t="t" r="r" b="b"/>
              <a:pathLst>
                <a:path w="1290320" h="102235">
                  <a:moveTo>
                    <a:pt x="758956" y="75895"/>
                  </a:moveTo>
                  <a:lnTo>
                    <a:pt x="1290222" y="75895"/>
                  </a:lnTo>
                </a:path>
                <a:path w="1290320" h="102235">
                  <a:moveTo>
                    <a:pt x="0" y="75895"/>
                  </a:moveTo>
                  <a:lnTo>
                    <a:pt x="531266" y="75895"/>
                  </a:lnTo>
                </a:path>
                <a:path w="1290320" h="102235">
                  <a:moveTo>
                    <a:pt x="265633" y="0"/>
                  </a:moveTo>
                  <a:lnTo>
                    <a:pt x="265633" y="101795"/>
                  </a:lnTo>
                </a:path>
              </a:pathLst>
            </a:custGeom>
            <a:ln w="5270">
              <a:solidFill>
                <a:srgbClr val="231F20"/>
              </a:solidFill>
            </a:ln>
          </p:spPr>
          <p:txBody>
            <a:bodyPr wrap="square" lIns="0" tIns="0" rIns="0" bIns="0" rtlCol="0"/>
            <a:lstStyle/>
            <a:p>
              <a:endParaRPr/>
            </a:p>
          </p:txBody>
        </p:sp>
        <p:sp>
          <p:nvSpPr>
            <p:cNvPr id="15" name="object 15"/>
            <p:cNvSpPr/>
            <p:nvPr/>
          </p:nvSpPr>
          <p:spPr>
            <a:xfrm>
              <a:off x="1453621" y="2104007"/>
              <a:ext cx="64135" cy="74930"/>
            </a:xfrm>
            <a:custGeom>
              <a:avLst/>
              <a:gdLst/>
              <a:ahLst/>
              <a:cxnLst/>
              <a:rect l="l" t="t" r="r" b="b"/>
              <a:pathLst>
                <a:path w="64134" h="74930">
                  <a:moveTo>
                    <a:pt x="63753" y="0"/>
                  </a:moveTo>
                  <a:lnTo>
                    <a:pt x="47814" y="5977"/>
                  </a:lnTo>
                  <a:lnTo>
                    <a:pt x="31876" y="7970"/>
                  </a:lnTo>
                  <a:lnTo>
                    <a:pt x="15938" y="5977"/>
                  </a:lnTo>
                  <a:lnTo>
                    <a:pt x="0" y="0"/>
                  </a:lnTo>
                  <a:lnTo>
                    <a:pt x="31878" y="74380"/>
                  </a:lnTo>
                  <a:lnTo>
                    <a:pt x="63753" y="0"/>
                  </a:lnTo>
                  <a:close/>
                </a:path>
              </a:pathLst>
            </a:custGeom>
            <a:solidFill>
              <a:srgbClr val="231F20"/>
            </a:solidFill>
          </p:spPr>
          <p:txBody>
            <a:bodyPr wrap="square" lIns="0" tIns="0" rIns="0" bIns="0" rtlCol="0"/>
            <a:lstStyle/>
            <a:p>
              <a:endParaRPr/>
            </a:p>
          </p:txBody>
        </p:sp>
        <p:sp>
          <p:nvSpPr>
            <p:cNvPr id="16" name="object 16"/>
            <p:cNvSpPr/>
            <p:nvPr/>
          </p:nvSpPr>
          <p:spPr>
            <a:xfrm>
              <a:off x="1485499" y="2189460"/>
              <a:ext cx="723900" cy="200660"/>
            </a:xfrm>
            <a:custGeom>
              <a:avLst/>
              <a:gdLst/>
              <a:ahLst/>
              <a:cxnLst/>
              <a:rect l="l" t="t" r="r" b="b"/>
              <a:pathLst>
                <a:path w="723900" h="200660">
                  <a:moveTo>
                    <a:pt x="723306" y="0"/>
                  </a:moveTo>
                  <a:lnTo>
                    <a:pt x="539945" y="150310"/>
                  </a:lnTo>
                  <a:lnTo>
                    <a:pt x="403481" y="200575"/>
                  </a:lnTo>
                  <a:lnTo>
                    <a:pt x="246102" y="150937"/>
                  </a:lnTo>
                  <a:lnTo>
                    <a:pt x="0" y="1543"/>
                  </a:lnTo>
                </a:path>
              </a:pathLst>
            </a:custGeom>
            <a:ln w="5270">
              <a:solidFill>
                <a:srgbClr val="231F20"/>
              </a:solidFill>
            </a:ln>
          </p:spPr>
          <p:txBody>
            <a:bodyPr wrap="square" lIns="0" tIns="0" rIns="0" bIns="0" rtlCol="0"/>
            <a:lstStyle/>
            <a:p>
              <a:endParaRPr/>
            </a:p>
          </p:txBody>
        </p:sp>
        <p:pic>
          <p:nvPicPr>
            <p:cNvPr id="17" name="object 17"/>
            <p:cNvPicPr/>
            <p:nvPr/>
          </p:nvPicPr>
          <p:blipFill>
            <a:blip r:embed="rId6" cstate="print"/>
            <a:stretch>
              <a:fillRect/>
            </a:stretch>
          </p:blipFill>
          <p:spPr>
            <a:xfrm>
              <a:off x="2159969" y="2164873"/>
              <a:ext cx="76980" cy="72935"/>
            </a:xfrm>
            <a:prstGeom prst="rect">
              <a:avLst/>
            </a:prstGeom>
          </p:spPr>
        </p:pic>
        <p:sp>
          <p:nvSpPr>
            <p:cNvPr id="18" name="object 18"/>
            <p:cNvSpPr/>
            <p:nvPr/>
          </p:nvSpPr>
          <p:spPr>
            <a:xfrm>
              <a:off x="1485499" y="2115108"/>
              <a:ext cx="1783714" cy="365125"/>
            </a:xfrm>
            <a:custGeom>
              <a:avLst/>
              <a:gdLst/>
              <a:ahLst/>
              <a:cxnLst/>
              <a:rect l="l" t="t" r="r" b="b"/>
              <a:pathLst>
                <a:path w="1783714" h="365125">
                  <a:moveTo>
                    <a:pt x="1252274" y="0"/>
                  </a:moveTo>
                  <a:lnTo>
                    <a:pt x="1783541" y="0"/>
                  </a:lnTo>
                </a:path>
                <a:path w="1783714" h="365125">
                  <a:moveTo>
                    <a:pt x="0" y="75895"/>
                  </a:moveTo>
                  <a:lnTo>
                    <a:pt x="601275" y="364593"/>
                  </a:lnTo>
                  <a:lnTo>
                    <a:pt x="1073103" y="333748"/>
                  </a:lnTo>
                  <a:lnTo>
                    <a:pt x="1381281" y="174830"/>
                  </a:lnTo>
                  <a:lnTo>
                    <a:pt x="1491608" y="79309"/>
                  </a:lnTo>
                </a:path>
              </a:pathLst>
            </a:custGeom>
            <a:ln w="5270">
              <a:solidFill>
                <a:srgbClr val="231F20"/>
              </a:solidFill>
            </a:ln>
          </p:spPr>
          <p:txBody>
            <a:bodyPr wrap="square" lIns="0" tIns="0" rIns="0" bIns="0" rtlCol="0"/>
            <a:lstStyle/>
            <a:p>
              <a:endParaRPr/>
            </a:p>
          </p:txBody>
        </p:sp>
        <p:pic>
          <p:nvPicPr>
            <p:cNvPr id="19" name="object 19"/>
            <p:cNvPicPr/>
            <p:nvPr/>
          </p:nvPicPr>
          <p:blipFill>
            <a:blip r:embed="rId7" cstate="print"/>
            <a:stretch>
              <a:fillRect/>
            </a:stretch>
          </p:blipFill>
          <p:spPr>
            <a:xfrm>
              <a:off x="2928629" y="2166780"/>
              <a:ext cx="73649" cy="76454"/>
            </a:xfrm>
            <a:prstGeom prst="rect">
              <a:avLst/>
            </a:prstGeom>
          </p:spPr>
        </p:pic>
        <p:sp>
          <p:nvSpPr>
            <p:cNvPr id="20" name="object 20"/>
            <p:cNvSpPr/>
            <p:nvPr/>
          </p:nvSpPr>
          <p:spPr>
            <a:xfrm>
              <a:off x="1485499" y="2115108"/>
              <a:ext cx="2542540" cy="587375"/>
            </a:xfrm>
            <a:custGeom>
              <a:avLst/>
              <a:gdLst/>
              <a:ahLst/>
              <a:cxnLst/>
              <a:rect l="l" t="t" r="r" b="b"/>
              <a:pathLst>
                <a:path w="2542540" h="587375">
                  <a:moveTo>
                    <a:pt x="2011226" y="0"/>
                  </a:moveTo>
                  <a:lnTo>
                    <a:pt x="2542493" y="0"/>
                  </a:lnTo>
                </a:path>
                <a:path w="2542540" h="587375">
                  <a:moveTo>
                    <a:pt x="0" y="75895"/>
                  </a:moveTo>
                  <a:lnTo>
                    <a:pt x="884061" y="587123"/>
                  </a:lnTo>
                  <a:lnTo>
                    <a:pt x="1608027" y="527859"/>
                  </a:lnTo>
                  <a:lnTo>
                    <a:pt x="2097193" y="240910"/>
                  </a:lnTo>
                  <a:lnTo>
                    <a:pt x="2276849" y="69081"/>
                  </a:lnTo>
                </a:path>
              </a:pathLst>
            </a:custGeom>
            <a:ln w="5270">
              <a:solidFill>
                <a:srgbClr val="231F20"/>
              </a:solidFill>
            </a:ln>
          </p:spPr>
          <p:txBody>
            <a:bodyPr wrap="square" lIns="0" tIns="0" rIns="0" bIns="0" rtlCol="0"/>
            <a:lstStyle/>
            <a:p>
              <a:endParaRPr/>
            </a:p>
          </p:txBody>
        </p:sp>
        <p:pic>
          <p:nvPicPr>
            <p:cNvPr id="21" name="object 21"/>
            <p:cNvPicPr/>
            <p:nvPr/>
          </p:nvPicPr>
          <p:blipFill>
            <a:blip r:embed="rId8" cstate="print"/>
            <a:stretch>
              <a:fillRect/>
            </a:stretch>
          </p:blipFill>
          <p:spPr>
            <a:xfrm>
              <a:off x="3714155" y="2155555"/>
              <a:ext cx="72226" cy="77468"/>
            </a:xfrm>
            <a:prstGeom prst="rect">
              <a:avLst/>
            </a:prstGeom>
          </p:spPr>
        </p:pic>
      </p:grpSp>
      <p:sp>
        <p:nvSpPr>
          <p:cNvPr id="22" name="object 22"/>
          <p:cNvSpPr txBox="1"/>
          <p:nvPr/>
        </p:nvSpPr>
        <p:spPr>
          <a:xfrm>
            <a:off x="2402530" y="2511397"/>
            <a:ext cx="7289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Replicated request</a:t>
            </a:r>
            <a:endParaRPr sz="650">
              <a:latin typeface="Arial"/>
              <a:cs typeface="Arial"/>
            </a:endParaRPr>
          </a:p>
        </p:txBody>
      </p:sp>
      <p:sp>
        <p:nvSpPr>
          <p:cNvPr id="23" name="object 23"/>
          <p:cNvSpPr txBox="1"/>
          <p:nvPr/>
        </p:nvSpPr>
        <p:spPr>
          <a:xfrm>
            <a:off x="834005" y="2353586"/>
            <a:ext cx="737870" cy="227329"/>
          </a:xfrm>
          <a:prstGeom prst="rect">
            <a:avLst/>
          </a:prstGeom>
        </p:spPr>
        <p:txBody>
          <a:bodyPr vert="horz" wrap="square" lIns="0" tIns="13970" rIns="0" bIns="0" rtlCol="0">
            <a:spAutoFit/>
          </a:bodyPr>
          <a:lstStyle/>
          <a:p>
            <a:pPr marL="12700" marR="5080">
              <a:lnSpc>
                <a:spcPct val="100000"/>
              </a:lnSpc>
              <a:spcBef>
                <a:spcPts val="110"/>
              </a:spcBef>
            </a:pPr>
            <a:r>
              <a:rPr sz="650" spc="5" dirty="0">
                <a:solidFill>
                  <a:srgbClr val="231F20"/>
                </a:solidFill>
                <a:latin typeface="Arial"/>
                <a:cs typeface="Arial"/>
              </a:rPr>
              <a:t>Client</a:t>
            </a:r>
            <a:r>
              <a:rPr sz="650" spc="-40" dirty="0">
                <a:solidFill>
                  <a:srgbClr val="231F20"/>
                </a:solidFill>
                <a:latin typeface="Arial"/>
                <a:cs typeface="Arial"/>
              </a:rPr>
              <a:t> </a:t>
            </a:r>
            <a:r>
              <a:rPr sz="650" spc="5" dirty="0">
                <a:solidFill>
                  <a:srgbClr val="231F20"/>
                </a:solidFill>
                <a:latin typeface="Arial"/>
                <a:cs typeface="Arial"/>
              </a:rPr>
              <a:t>side</a:t>
            </a:r>
            <a:r>
              <a:rPr sz="650" spc="-35" dirty="0">
                <a:solidFill>
                  <a:srgbClr val="231F20"/>
                </a:solidFill>
                <a:latin typeface="Arial"/>
                <a:cs typeface="Arial"/>
              </a:rPr>
              <a:t> </a:t>
            </a:r>
            <a:r>
              <a:rPr sz="650" spc="5" dirty="0">
                <a:solidFill>
                  <a:srgbClr val="231F20"/>
                </a:solidFill>
                <a:latin typeface="Arial"/>
                <a:cs typeface="Arial"/>
              </a:rPr>
              <a:t>handles </a:t>
            </a:r>
            <a:r>
              <a:rPr sz="650" spc="-170" dirty="0">
                <a:solidFill>
                  <a:srgbClr val="231F20"/>
                </a:solidFill>
                <a:latin typeface="Arial"/>
                <a:cs typeface="Arial"/>
              </a:rPr>
              <a:t> </a:t>
            </a:r>
            <a:r>
              <a:rPr sz="650" spc="5" dirty="0">
                <a:solidFill>
                  <a:srgbClr val="231F20"/>
                </a:solidFill>
                <a:latin typeface="Arial"/>
                <a:cs typeface="Arial"/>
              </a:rPr>
              <a:t>request</a:t>
            </a:r>
            <a:r>
              <a:rPr sz="650" spc="-40" dirty="0">
                <a:solidFill>
                  <a:srgbClr val="231F20"/>
                </a:solidFill>
                <a:latin typeface="Arial"/>
                <a:cs typeface="Arial"/>
              </a:rPr>
              <a:t> </a:t>
            </a:r>
            <a:r>
              <a:rPr sz="650" spc="5" dirty="0">
                <a:solidFill>
                  <a:srgbClr val="231F20"/>
                </a:solidFill>
                <a:latin typeface="Arial"/>
                <a:cs typeface="Arial"/>
              </a:rPr>
              <a:t>replication</a:t>
            </a:r>
            <a:endParaRPr sz="650">
              <a:latin typeface="Arial"/>
              <a:cs typeface="Arial"/>
            </a:endParaRPr>
          </a:p>
        </p:txBody>
      </p:sp>
      <p:sp>
        <p:nvSpPr>
          <p:cNvPr id="24" name="object 24"/>
          <p:cNvSpPr/>
          <p:nvPr/>
        </p:nvSpPr>
        <p:spPr>
          <a:xfrm>
            <a:off x="1219866" y="2191003"/>
            <a:ext cx="227965" cy="189865"/>
          </a:xfrm>
          <a:custGeom>
            <a:avLst/>
            <a:gdLst/>
            <a:ahLst/>
            <a:cxnLst/>
            <a:rect l="l" t="t" r="r" b="b"/>
            <a:pathLst>
              <a:path w="227965" h="189864">
                <a:moveTo>
                  <a:pt x="0" y="189737"/>
                </a:moveTo>
                <a:lnTo>
                  <a:pt x="227685" y="0"/>
                </a:lnTo>
              </a:path>
            </a:pathLst>
          </a:custGeom>
          <a:ln w="5270">
            <a:solidFill>
              <a:srgbClr val="231F20"/>
            </a:solidFill>
          </a:ln>
        </p:spPr>
        <p:txBody>
          <a:bodyPr wrap="square" lIns="0" tIns="0" rIns="0" bIns="0" rtlCol="0"/>
          <a:lstStyle/>
          <a:p>
            <a:endParaRPr/>
          </a:p>
        </p:txBody>
      </p:sp>
      <p:sp>
        <p:nvSpPr>
          <p:cNvPr id="25" name="object 25"/>
          <p:cNvSpPr txBox="1"/>
          <p:nvPr/>
        </p:nvSpPr>
        <p:spPr>
          <a:xfrm>
            <a:off x="456704" y="2830212"/>
            <a:ext cx="3632200" cy="329565"/>
          </a:xfrm>
          <a:prstGeom prst="rect">
            <a:avLst/>
          </a:prstGeom>
        </p:spPr>
        <p:txBody>
          <a:bodyPr vert="horz" wrap="square" lIns="0" tIns="12065" rIns="0" bIns="0" rtlCol="0">
            <a:spAutoFit/>
          </a:bodyPr>
          <a:lstStyle/>
          <a:p>
            <a:pPr marL="180340" marR="5080" indent="-168275">
              <a:lnSpc>
                <a:spcPct val="100000"/>
              </a:lnSpc>
              <a:spcBef>
                <a:spcPts val="95"/>
              </a:spcBef>
              <a:buClr>
                <a:srgbClr val="3333B2"/>
              </a:buClr>
              <a:buChar char="►"/>
              <a:tabLst>
                <a:tab pos="180975" algn="l"/>
              </a:tabLst>
            </a:pPr>
            <a:r>
              <a:rPr sz="1000" spc="-10" dirty="0">
                <a:solidFill>
                  <a:srgbClr val="0000FA"/>
                </a:solidFill>
                <a:latin typeface="Arial"/>
                <a:cs typeface="Arial"/>
              </a:rPr>
              <a:t>Failure</a:t>
            </a:r>
            <a:r>
              <a:rPr sz="1000" dirty="0">
                <a:solidFill>
                  <a:srgbClr val="0000FA"/>
                </a:solidFill>
                <a:latin typeface="Arial"/>
                <a:cs typeface="Arial"/>
              </a:rPr>
              <a:t> </a:t>
            </a:r>
            <a:r>
              <a:rPr sz="1000" spc="-5" dirty="0">
                <a:solidFill>
                  <a:srgbClr val="0000FA"/>
                </a:solidFill>
                <a:latin typeface="Arial"/>
                <a:cs typeface="Arial"/>
              </a:rPr>
              <a:t>transparency</a:t>
            </a:r>
            <a:r>
              <a:rPr sz="1000" spc="-5" dirty="0">
                <a:latin typeface="Arial"/>
                <a:cs typeface="Arial"/>
              </a:rPr>
              <a:t>:</a:t>
            </a:r>
            <a:r>
              <a:rPr sz="1000" spc="65"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often</a:t>
            </a:r>
            <a:r>
              <a:rPr sz="1000"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placed</a:t>
            </a:r>
            <a:r>
              <a:rPr sz="1000" dirty="0">
                <a:latin typeface="Arial"/>
                <a:cs typeface="Arial"/>
              </a:rPr>
              <a:t> </a:t>
            </a:r>
            <a:r>
              <a:rPr sz="1000" spc="-5" dirty="0">
                <a:latin typeface="Arial"/>
                <a:cs typeface="Arial"/>
              </a:rPr>
              <a:t>only</a:t>
            </a:r>
            <a:r>
              <a:rPr sz="1000" dirty="0">
                <a:latin typeface="Arial"/>
                <a:cs typeface="Arial"/>
              </a:rPr>
              <a:t> </a:t>
            </a:r>
            <a:r>
              <a:rPr sz="1000" spc="-5" dirty="0">
                <a:latin typeface="Arial"/>
                <a:cs typeface="Arial"/>
              </a:rPr>
              <a:t>at</a:t>
            </a:r>
            <a:r>
              <a:rPr sz="1000" dirty="0">
                <a:latin typeface="Arial"/>
                <a:cs typeface="Arial"/>
              </a:rPr>
              <a:t> </a:t>
            </a:r>
            <a:r>
              <a:rPr sz="1000" spc="-5" dirty="0">
                <a:latin typeface="Arial"/>
                <a:cs typeface="Arial"/>
              </a:rPr>
              <a:t>client</a:t>
            </a:r>
            <a:r>
              <a:rPr sz="1000" dirty="0">
                <a:latin typeface="Arial"/>
                <a:cs typeface="Arial"/>
              </a:rPr>
              <a:t> </a:t>
            </a:r>
            <a:r>
              <a:rPr sz="1000" spc="-15" dirty="0">
                <a:latin typeface="Arial"/>
                <a:cs typeface="Arial"/>
              </a:rPr>
              <a:t>(we’re </a:t>
            </a:r>
            <a:r>
              <a:rPr sz="1000" spc="-265" dirty="0">
                <a:latin typeface="Arial"/>
                <a:cs typeface="Arial"/>
              </a:rPr>
              <a:t> </a:t>
            </a:r>
            <a:r>
              <a:rPr sz="1000" dirty="0">
                <a:latin typeface="Arial"/>
                <a:cs typeface="Arial"/>
              </a:rPr>
              <a:t>trying</a:t>
            </a:r>
            <a:r>
              <a:rPr sz="1000" spc="-10" dirty="0">
                <a:latin typeface="Arial"/>
                <a:cs typeface="Arial"/>
              </a:rPr>
              <a:t> </a:t>
            </a:r>
            <a:r>
              <a:rPr sz="1000" spc="-5" dirty="0">
                <a:latin typeface="Arial"/>
                <a:cs typeface="Arial"/>
              </a:rPr>
              <a:t>to mask server and communication failures).</a:t>
            </a:r>
            <a:endParaRPr sz="1000" dirty="0">
              <a:latin typeface="Arial"/>
              <a:cs typeface="Arial"/>
            </a:endParaRPr>
          </a:p>
        </p:txBody>
      </p:sp>
      <p:sp>
        <p:nvSpPr>
          <p:cNvPr id="26" name="object 2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25</a:t>
            </a:r>
            <a:r>
              <a:rPr spc="-40" dirty="0"/>
              <a:t> </a:t>
            </a:r>
            <a:r>
              <a:rPr spc="-5" dirty="0"/>
              <a:t>/</a:t>
            </a:r>
            <a:r>
              <a:rPr spc="-35" dirty="0"/>
              <a:t> </a:t>
            </a:r>
            <a:r>
              <a:rPr spc="-5" dirty="0"/>
              <a:t>47</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26</a:t>
            </a:r>
            <a:r>
              <a:rPr spc="-40" dirty="0"/>
              <a:t> </a:t>
            </a:r>
            <a:r>
              <a:rPr spc="-5" dirty="0"/>
              <a:t>/</a:t>
            </a:r>
            <a:r>
              <a:rPr spc="-35" dirty="0"/>
              <a:t> </a:t>
            </a:r>
            <a:r>
              <a:rPr spc="-5" dirty="0"/>
              <a:t>47</a:t>
            </a: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General</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4" name="object 4"/>
          <p:cNvSpPr txBox="1"/>
          <p:nvPr/>
        </p:nvSpPr>
        <p:spPr>
          <a:xfrm>
            <a:off x="95300" y="188846"/>
            <a:ext cx="245681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Servers:</a:t>
            </a:r>
            <a:r>
              <a:rPr sz="1400" spc="50" dirty="0">
                <a:solidFill>
                  <a:srgbClr val="3333B2"/>
                </a:solidFill>
                <a:latin typeface="Arial"/>
                <a:cs typeface="Arial"/>
              </a:rPr>
              <a:t> </a:t>
            </a:r>
            <a:r>
              <a:rPr sz="1400" spc="15" dirty="0">
                <a:solidFill>
                  <a:srgbClr val="3333B2"/>
                </a:solidFill>
                <a:latin typeface="Arial"/>
                <a:cs typeface="Arial"/>
              </a:rPr>
              <a:t>General</a:t>
            </a:r>
            <a:r>
              <a:rPr sz="1400" spc="-30" dirty="0">
                <a:solidFill>
                  <a:srgbClr val="3333B2"/>
                </a:solidFill>
                <a:latin typeface="Arial"/>
                <a:cs typeface="Arial"/>
              </a:rPr>
              <a:t> </a:t>
            </a:r>
            <a:r>
              <a:rPr sz="1400" spc="15" dirty="0">
                <a:solidFill>
                  <a:srgbClr val="3333B2"/>
                </a:solidFill>
                <a:latin typeface="Arial"/>
                <a:cs typeface="Arial"/>
              </a:rPr>
              <a:t>organization</a:t>
            </a:r>
            <a:endParaRPr sz="1400" dirty="0">
              <a:latin typeface="Arial"/>
              <a:cs typeface="Arial"/>
            </a:endParaRPr>
          </a:p>
        </p:txBody>
      </p:sp>
      <p:sp>
        <p:nvSpPr>
          <p:cNvPr id="5" name="object 5"/>
          <p:cNvSpPr txBox="1"/>
          <p:nvPr/>
        </p:nvSpPr>
        <p:spPr>
          <a:xfrm>
            <a:off x="343128" y="1248686"/>
            <a:ext cx="3921125" cy="808990"/>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Basic</a:t>
            </a:r>
            <a:r>
              <a:rPr sz="1200" spc="-40" dirty="0">
                <a:solidFill>
                  <a:srgbClr val="3333B2"/>
                </a:solidFill>
                <a:latin typeface="Arial"/>
                <a:cs typeface="Arial"/>
              </a:rPr>
              <a:t> </a:t>
            </a:r>
            <a:r>
              <a:rPr sz="1200" spc="-5" dirty="0">
                <a:solidFill>
                  <a:srgbClr val="3333B2"/>
                </a:solidFill>
                <a:latin typeface="Arial"/>
                <a:cs typeface="Arial"/>
              </a:rPr>
              <a:t>model</a:t>
            </a:r>
            <a:endParaRPr sz="1200" dirty="0">
              <a:latin typeface="Arial"/>
              <a:cs typeface="Arial"/>
            </a:endParaRPr>
          </a:p>
          <a:p>
            <a:pPr marL="16510" marR="5080" indent="-4445">
              <a:lnSpc>
                <a:spcPts val="1200"/>
              </a:lnSpc>
              <a:spcBef>
                <a:spcPts val="10"/>
              </a:spcBef>
            </a:pPr>
            <a:r>
              <a:rPr sz="1000" spc="-5" dirty="0">
                <a:latin typeface="Arial"/>
                <a:cs typeface="Arial"/>
              </a:rPr>
              <a:t>A</a:t>
            </a:r>
            <a:r>
              <a:rPr sz="1000"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implementing</a:t>
            </a:r>
            <a:r>
              <a:rPr sz="1000" dirty="0">
                <a:latin typeface="Arial"/>
                <a:cs typeface="Arial"/>
              </a:rPr>
              <a:t> </a:t>
            </a:r>
            <a:r>
              <a:rPr sz="1000" spc="-5" dirty="0">
                <a:latin typeface="Arial"/>
                <a:cs typeface="Arial"/>
              </a:rPr>
              <a:t>a</a:t>
            </a:r>
            <a:r>
              <a:rPr sz="1000" spc="5" dirty="0">
                <a:latin typeface="Arial"/>
                <a:cs typeface="Arial"/>
              </a:rPr>
              <a:t> </a:t>
            </a:r>
            <a:r>
              <a:rPr sz="1000" spc="-5" dirty="0">
                <a:latin typeface="Arial"/>
                <a:cs typeface="Arial"/>
              </a:rPr>
              <a:t>specific</a:t>
            </a:r>
            <a:r>
              <a:rPr sz="1000" dirty="0">
                <a:latin typeface="Arial"/>
                <a:cs typeface="Arial"/>
              </a:rPr>
              <a:t> service </a:t>
            </a:r>
            <a:r>
              <a:rPr sz="1000" spc="-5" dirty="0">
                <a:latin typeface="Arial"/>
                <a:cs typeface="Arial"/>
              </a:rPr>
              <a:t>on</a:t>
            </a:r>
            <a:r>
              <a:rPr sz="1000" dirty="0">
                <a:latin typeface="Arial"/>
                <a:cs typeface="Arial"/>
              </a:rPr>
              <a:t> </a:t>
            </a:r>
            <a:r>
              <a:rPr sz="1000" spc="-5" dirty="0">
                <a:latin typeface="Arial"/>
                <a:cs typeface="Arial"/>
              </a:rPr>
              <a:t>behalf</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collection</a:t>
            </a:r>
            <a:r>
              <a:rPr sz="1000" dirty="0">
                <a:latin typeface="Arial"/>
                <a:cs typeface="Arial"/>
              </a:rPr>
              <a:t> </a:t>
            </a:r>
            <a:r>
              <a:rPr sz="1000" spc="-5" dirty="0">
                <a:latin typeface="Arial"/>
                <a:cs typeface="Arial"/>
              </a:rPr>
              <a:t>of </a:t>
            </a:r>
            <a:r>
              <a:rPr sz="1000" dirty="0">
                <a:latin typeface="Arial"/>
                <a:cs typeface="Arial"/>
              </a:rPr>
              <a:t> </a:t>
            </a:r>
            <a:r>
              <a:rPr sz="1000" spc="-10" dirty="0">
                <a:latin typeface="Arial"/>
                <a:cs typeface="Arial"/>
              </a:rPr>
              <a:t>clients.</a:t>
            </a:r>
            <a:r>
              <a:rPr sz="1000" spc="65" dirty="0">
                <a:latin typeface="Arial"/>
                <a:cs typeface="Arial"/>
              </a:rPr>
              <a:t> </a:t>
            </a:r>
            <a:r>
              <a:rPr sz="1000" spc="-5" dirty="0">
                <a:latin typeface="Arial"/>
                <a:cs typeface="Arial"/>
              </a:rPr>
              <a:t>It </a:t>
            </a:r>
            <a:r>
              <a:rPr sz="1000" spc="-10" dirty="0">
                <a:latin typeface="Arial"/>
                <a:cs typeface="Arial"/>
              </a:rPr>
              <a:t>waits</a:t>
            </a:r>
            <a:r>
              <a:rPr sz="1000" dirty="0">
                <a:latin typeface="Arial"/>
                <a:cs typeface="Arial"/>
              </a:rPr>
              <a:t> </a:t>
            </a:r>
            <a:r>
              <a:rPr sz="1000" spc="-20" dirty="0">
                <a:latin typeface="Arial"/>
                <a:cs typeface="Arial"/>
              </a:rPr>
              <a:t>for</a:t>
            </a:r>
            <a:r>
              <a:rPr sz="1000" dirty="0">
                <a:latin typeface="Arial"/>
                <a:cs typeface="Arial"/>
              </a:rPr>
              <a:t> </a:t>
            </a:r>
            <a:r>
              <a:rPr sz="1000" spc="-10" dirty="0">
                <a:latin typeface="Arial"/>
                <a:cs typeface="Arial"/>
              </a:rPr>
              <a:t>an</a:t>
            </a:r>
            <a:r>
              <a:rPr sz="1000" dirty="0">
                <a:latin typeface="Arial"/>
                <a:cs typeface="Arial"/>
              </a:rPr>
              <a:t> </a:t>
            </a:r>
            <a:r>
              <a:rPr sz="1000" spc="-10" dirty="0">
                <a:latin typeface="Arial"/>
                <a:cs typeface="Arial"/>
              </a:rPr>
              <a:t>incoming</a:t>
            </a:r>
            <a:r>
              <a:rPr sz="1000" dirty="0">
                <a:latin typeface="Arial"/>
                <a:cs typeface="Arial"/>
              </a:rPr>
              <a:t> </a:t>
            </a:r>
            <a:r>
              <a:rPr sz="1000" spc="-10" dirty="0">
                <a:latin typeface="Arial"/>
                <a:cs typeface="Arial"/>
              </a:rPr>
              <a:t>request</a:t>
            </a:r>
            <a:r>
              <a:rPr sz="1000" dirty="0">
                <a:latin typeface="Arial"/>
                <a:cs typeface="Arial"/>
              </a:rPr>
              <a:t> </a:t>
            </a:r>
            <a:r>
              <a:rPr sz="1000" spc="-10" dirty="0">
                <a:latin typeface="Arial"/>
                <a:cs typeface="Arial"/>
              </a:rPr>
              <a:t>from</a:t>
            </a:r>
            <a:r>
              <a:rPr sz="1000" dirty="0">
                <a:latin typeface="Arial"/>
                <a:cs typeface="Arial"/>
              </a:rPr>
              <a:t> </a:t>
            </a:r>
            <a:r>
              <a:rPr sz="1000" spc="-10" dirty="0">
                <a:latin typeface="Arial"/>
                <a:cs typeface="Arial"/>
              </a:rPr>
              <a:t>a</a:t>
            </a:r>
            <a:r>
              <a:rPr sz="1000" spc="-5" dirty="0">
                <a:latin typeface="Arial"/>
                <a:cs typeface="Arial"/>
              </a:rPr>
              <a:t> </a:t>
            </a:r>
            <a:r>
              <a:rPr sz="1000" spc="-10" dirty="0">
                <a:latin typeface="Arial"/>
                <a:cs typeface="Arial"/>
              </a:rPr>
              <a:t>client</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subsequently </a:t>
            </a:r>
            <a:r>
              <a:rPr sz="1000" spc="-260" dirty="0">
                <a:latin typeface="Arial"/>
                <a:cs typeface="Arial"/>
              </a:rPr>
              <a:t> </a:t>
            </a:r>
            <a:r>
              <a:rPr sz="1000" spc="-5" dirty="0">
                <a:latin typeface="Arial"/>
                <a:cs typeface="Arial"/>
              </a:rPr>
              <a:t>ensures that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request</a:t>
            </a:r>
            <a:r>
              <a:rPr sz="1000" dirty="0">
                <a:latin typeface="Arial"/>
                <a:cs typeface="Arial"/>
              </a:rPr>
              <a:t> </a:t>
            </a:r>
            <a:r>
              <a:rPr sz="1000" spc="-5" dirty="0">
                <a:latin typeface="Arial"/>
                <a:cs typeface="Arial"/>
              </a:rPr>
              <a:t>is</a:t>
            </a:r>
            <a:r>
              <a:rPr sz="1000" dirty="0">
                <a:latin typeface="Arial"/>
                <a:cs typeface="Arial"/>
              </a:rPr>
              <a:t> </a:t>
            </a:r>
            <a:r>
              <a:rPr sz="1000" spc="-10" dirty="0">
                <a:latin typeface="Arial"/>
                <a:cs typeface="Arial"/>
              </a:rPr>
              <a:t>taken</a:t>
            </a:r>
            <a:r>
              <a:rPr sz="1000" dirty="0">
                <a:latin typeface="Arial"/>
                <a:cs typeface="Arial"/>
              </a:rPr>
              <a:t> </a:t>
            </a:r>
            <a:r>
              <a:rPr sz="1000" spc="-5" dirty="0">
                <a:latin typeface="Arial"/>
                <a:cs typeface="Arial"/>
              </a:rPr>
              <a:t>care</a:t>
            </a:r>
            <a:r>
              <a:rPr sz="1000" dirty="0">
                <a:latin typeface="Arial"/>
                <a:cs typeface="Arial"/>
              </a:rPr>
              <a:t> </a:t>
            </a:r>
            <a:r>
              <a:rPr sz="1000" spc="-15" dirty="0">
                <a:latin typeface="Arial"/>
                <a:cs typeface="Arial"/>
              </a:rPr>
              <a:t>of,</a:t>
            </a:r>
            <a:r>
              <a:rPr sz="1000" dirty="0">
                <a:latin typeface="Arial"/>
                <a:cs typeface="Arial"/>
              </a:rPr>
              <a:t> </a:t>
            </a:r>
            <a:r>
              <a:rPr sz="1000" spc="-5" dirty="0">
                <a:latin typeface="Arial"/>
                <a:cs typeface="Arial"/>
              </a:rPr>
              <a:t>after</a:t>
            </a:r>
            <a:r>
              <a:rPr sz="1000" dirty="0">
                <a:latin typeface="Arial"/>
                <a:cs typeface="Arial"/>
              </a:rPr>
              <a:t> </a:t>
            </a:r>
            <a:r>
              <a:rPr sz="1000" spc="-5" dirty="0">
                <a:latin typeface="Arial"/>
                <a:cs typeface="Arial"/>
              </a:rPr>
              <a:t>which</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waits </a:t>
            </a:r>
            <a:r>
              <a:rPr sz="1000" spc="-15" dirty="0">
                <a:latin typeface="Arial"/>
                <a:cs typeface="Arial"/>
              </a:rPr>
              <a:t>for</a:t>
            </a:r>
            <a:r>
              <a:rPr sz="1000" dirty="0">
                <a:latin typeface="Arial"/>
                <a:cs typeface="Arial"/>
              </a:rPr>
              <a:t> </a:t>
            </a:r>
            <a:r>
              <a:rPr sz="1000" spc="-5" dirty="0">
                <a:latin typeface="Arial"/>
                <a:cs typeface="Arial"/>
              </a:rPr>
              <a:t>the </a:t>
            </a:r>
            <a:r>
              <a:rPr sz="1000" dirty="0">
                <a:latin typeface="Arial"/>
                <a:cs typeface="Arial"/>
              </a:rPr>
              <a:t> </a:t>
            </a:r>
            <a:r>
              <a:rPr sz="1000" spc="-10" dirty="0">
                <a:latin typeface="Arial"/>
                <a:cs typeface="Arial"/>
              </a:rPr>
              <a:t>next </a:t>
            </a:r>
            <a:r>
              <a:rPr sz="1000" spc="-5" dirty="0">
                <a:latin typeface="Arial"/>
                <a:cs typeface="Arial"/>
              </a:rPr>
              <a:t>incoming request.</a:t>
            </a:r>
            <a:endParaRPr sz="1000" dirty="0">
              <a:latin typeface="Arial"/>
              <a:cs typeface="Arial"/>
            </a:endParaRPr>
          </a:p>
        </p:txBody>
      </p:sp>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19824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Concurrent</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versus</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iterative</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servers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27</a:t>
            </a:r>
            <a:r>
              <a:rPr spc="-40" dirty="0"/>
              <a:t> </a:t>
            </a:r>
            <a:r>
              <a:rPr spc="-5" dirty="0"/>
              <a:t>/</a:t>
            </a:r>
            <a:r>
              <a:rPr spc="-35" dirty="0"/>
              <a:t> </a:t>
            </a:r>
            <a:r>
              <a:rPr spc="-5" dirty="0"/>
              <a:t>47</a:t>
            </a: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General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design</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issues</a:t>
            </a:r>
            <a:endParaRPr sz="600">
              <a:latin typeface="Arial"/>
              <a:cs typeface="Arial"/>
            </a:endParaRPr>
          </a:p>
        </p:txBody>
      </p:sp>
      <p:sp>
        <p:nvSpPr>
          <p:cNvPr id="4" name="object 4"/>
          <p:cNvSpPr txBox="1"/>
          <p:nvPr/>
        </p:nvSpPr>
        <p:spPr>
          <a:xfrm>
            <a:off x="69900" y="188846"/>
            <a:ext cx="4113529" cy="2562860"/>
          </a:xfrm>
          <a:prstGeom prst="rect">
            <a:avLst/>
          </a:prstGeom>
        </p:spPr>
        <p:txBody>
          <a:bodyPr vert="horz" wrap="square" lIns="0" tIns="17145" rIns="0" bIns="0" rtlCol="0">
            <a:spAutoFit/>
          </a:bodyPr>
          <a:lstStyle/>
          <a:p>
            <a:pPr marR="2479040" algn="ctr">
              <a:lnSpc>
                <a:spcPct val="100000"/>
              </a:lnSpc>
              <a:spcBef>
                <a:spcPts val="135"/>
              </a:spcBef>
            </a:pPr>
            <a:r>
              <a:rPr sz="1400" spc="15" dirty="0">
                <a:solidFill>
                  <a:srgbClr val="3333B2"/>
                </a:solidFill>
                <a:latin typeface="Arial"/>
                <a:cs typeface="Arial"/>
              </a:rPr>
              <a:t>Concurrent</a:t>
            </a:r>
            <a:r>
              <a:rPr sz="1400" spc="-30" dirty="0">
                <a:solidFill>
                  <a:srgbClr val="3333B2"/>
                </a:solidFill>
                <a:latin typeface="Arial"/>
                <a:cs typeface="Arial"/>
              </a:rPr>
              <a:t> </a:t>
            </a:r>
            <a:r>
              <a:rPr sz="1400" spc="15" dirty="0">
                <a:solidFill>
                  <a:srgbClr val="3333B2"/>
                </a:solidFill>
                <a:latin typeface="Arial"/>
                <a:cs typeface="Arial"/>
              </a:rPr>
              <a:t>servers</a:t>
            </a:r>
            <a:endParaRPr sz="1400" dirty="0">
              <a:latin typeface="Arial"/>
              <a:cs typeface="Arial"/>
            </a:endParaRPr>
          </a:p>
          <a:p>
            <a:pPr>
              <a:lnSpc>
                <a:spcPct val="100000"/>
              </a:lnSpc>
            </a:pPr>
            <a:endParaRPr sz="2600" dirty="0">
              <a:latin typeface="Arial"/>
              <a:cs typeface="Arial"/>
            </a:endParaRPr>
          </a:p>
          <a:p>
            <a:pPr marR="2465705" algn="ctr">
              <a:lnSpc>
                <a:spcPct val="100000"/>
              </a:lnSpc>
            </a:pPr>
            <a:r>
              <a:rPr sz="1200" spc="-150" dirty="0">
                <a:solidFill>
                  <a:srgbClr val="3333B2"/>
                </a:solidFill>
                <a:latin typeface="Arial"/>
                <a:cs typeface="Arial"/>
              </a:rPr>
              <a:t>T</a:t>
            </a:r>
            <a:r>
              <a:rPr sz="1200" spc="-20" dirty="0">
                <a:solidFill>
                  <a:srgbClr val="3333B2"/>
                </a:solidFill>
                <a:latin typeface="Arial"/>
                <a:cs typeface="Arial"/>
              </a:rPr>
              <a:t>w</a:t>
            </a:r>
            <a:r>
              <a:rPr sz="1200" spc="-5" dirty="0">
                <a:solidFill>
                  <a:srgbClr val="3333B2"/>
                </a:solidFill>
                <a:latin typeface="Arial"/>
                <a:cs typeface="Arial"/>
              </a:rPr>
              <a:t>o basic types</a:t>
            </a:r>
            <a:endParaRPr sz="1200" dirty="0">
              <a:latin typeface="Arial"/>
              <a:cs typeface="Arial"/>
            </a:endParaRPr>
          </a:p>
          <a:p>
            <a:pPr marL="567055" marR="55880" indent="-168275">
              <a:lnSpc>
                <a:spcPct val="100000"/>
              </a:lnSpc>
              <a:spcBef>
                <a:spcPts val="780"/>
              </a:spcBef>
              <a:buClr>
                <a:srgbClr val="3333B2"/>
              </a:buClr>
              <a:buChar char="►"/>
              <a:tabLst>
                <a:tab pos="567690" algn="l"/>
              </a:tabLst>
            </a:pPr>
            <a:r>
              <a:rPr sz="1000" spc="-10" dirty="0">
                <a:solidFill>
                  <a:srgbClr val="FA0000"/>
                </a:solidFill>
                <a:latin typeface="Arial"/>
                <a:cs typeface="Arial"/>
              </a:rPr>
              <a:t>Iterative</a:t>
            </a:r>
            <a:r>
              <a:rPr sz="1000" spc="5" dirty="0">
                <a:solidFill>
                  <a:srgbClr val="FA0000"/>
                </a:solidFill>
                <a:latin typeface="Arial"/>
                <a:cs typeface="Arial"/>
              </a:rPr>
              <a:t> </a:t>
            </a:r>
            <a:r>
              <a:rPr sz="1000" spc="-5" dirty="0">
                <a:solidFill>
                  <a:srgbClr val="FA0000"/>
                </a:solidFill>
                <a:latin typeface="Arial"/>
                <a:cs typeface="Arial"/>
              </a:rPr>
              <a:t>server</a:t>
            </a:r>
            <a:r>
              <a:rPr sz="1000" spc="-5" dirty="0">
                <a:latin typeface="Arial"/>
                <a:cs typeface="Arial"/>
              </a:rPr>
              <a:t>:</a:t>
            </a:r>
            <a:r>
              <a:rPr sz="1000" spc="70" dirty="0">
                <a:latin typeface="Arial"/>
                <a:cs typeface="Arial"/>
              </a:rPr>
              <a:t> </a:t>
            </a:r>
            <a:r>
              <a:rPr sz="1000" spc="-5" dirty="0">
                <a:latin typeface="Arial"/>
                <a:cs typeface="Arial"/>
              </a:rPr>
              <a:t>Server</a:t>
            </a:r>
            <a:r>
              <a:rPr sz="1000" spc="5" dirty="0">
                <a:latin typeface="Arial"/>
                <a:cs typeface="Arial"/>
              </a:rPr>
              <a:t> </a:t>
            </a:r>
            <a:r>
              <a:rPr sz="1000" spc="-5" dirty="0">
                <a:latin typeface="Arial"/>
                <a:cs typeface="Arial"/>
              </a:rPr>
              <a:t>handles</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request</a:t>
            </a:r>
            <a:r>
              <a:rPr sz="1000" spc="5" dirty="0">
                <a:latin typeface="Arial"/>
                <a:cs typeface="Arial"/>
              </a:rPr>
              <a:t> </a:t>
            </a:r>
            <a:r>
              <a:rPr sz="1000" spc="-10" dirty="0">
                <a:latin typeface="Arial"/>
                <a:cs typeface="Arial"/>
              </a:rPr>
              <a:t>before</a:t>
            </a:r>
            <a:r>
              <a:rPr sz="1000" spc="5" dirty="0">
                <a:latin typeface="Arial"/>
                <a:cs typeface="Arial"/>
              </a:rPr>
              <a:t> </a:t>
            </a:r>
            <a:r>
              <a:rPr sz="1000" spc="-5" dirty="0">
                <a:latin typeface="Arial"/>
                <a:cs typeface="Arial"/>
              </a:rPr>
              <a:t>attending</a:t>
            </a:r>
            <a:r>
              <a:rPr sz="1000" spc="5" dirty="0">
                <a:latin typeface="Arial"/>
                <a:cs typeface="Arial"/>
              </a:rPr>
              <a:t> </a:t>
            </a:r>
            <a:r>
              <a:rPr sz="1000" spc="-5" dirty="0">
                <a:latin typeface="Arial"/>
                <a:cs typeface="Arial"/>
              </a:rPr>
              <a:t>a </a:t>
            </a:r>
            <a:r>
              <a:rPr sz="1000" spc="-260" dirty="0">
                <a:latin typeface="Arial"/>
                <a:cs typeface="Arial"/>
              </a:rPr>
              <a:t> </a:t>
            </a:r>
            <a:r>
              <a:rPr sz="1000" spc="-10" dirty="0">
                <a:latin typeface="Arial"/>
                <a:cs typeface="Arial"/>
              </a:rPr>
              <a:t>next </a:t>
            </a:r>
            <a:r>
              <a:rPr sz="1000" spc="-5" dirty="0">
                <a:latin typeface="Arial"/>
                <a:cs typeface="Arial"/>
              </a:rPr>
              <a:t>request.</a:t>
            </a:r>
            <a:endParaRPr sz="1000" dirty="0">
              <a:latin typeface="Arial"/>
              <a:cs typeface="Arial"/>
            </a:endParaRPr>
          </a:p>
          <a:p>
            <a:pPr marL="567055" marR="367665" indent="-168275">
              <a:lnSpc>
                <a:spcPct val="100000"/>
              </a:lnSpc>
              <a:spcBef>
                <a:spcPts val="585"/>
              </a:spcBef>
              <a:buClr>
                <a:srgbClr val="3333B2"/>
              </a:buClr>
              <a:buChar char="►"/>
              <a:tabLst>
                <a:tab pos="567690" algn="l"/>
              </a:tabLst>
            </a:pPr>
            <a:r>
              <a:rPr sz="1000" spc="-5" dirty="0">
                <a:solidFill>
                  <a:srgbClr val="FA0000"/>
                </a:solidFill>
                <a:latin typeface="Arial"/>
                <a:cs typeface="Arial"/>
              </a:rPr>
              <a:t>Concurrent</a:t>
            </a:r>
            <a:r>
              <a:rPr sz="1000" dirty="0">
                <a:solidFill>
                  <a:srgbClr val="FA0000"/>
                </a:solidFill>
                <a:latin typeface="Arial"/>
                <a:cs typeface="Arial"/>
              </a:rPr>
              <a:t> </a:t>
            </a:r>
            <a:r>
              <a:rPr sz="1000" spc="-5" dirty="0">
                <a:solidFill>
                  <a:srgbClr val="FA0000"/>
                </a:solidFill>
                <a:latin typeface="Arial"/>
                <a:cs typeface="Arial"/>
              </a:rPr>
              <a:t>server</a:t>
            </a:r>
            <a:r>
              <a:rPr sz="1000" spc="-5" dirty="0">
                <a:latin typeface="Arial"/>
                <a:cs typeface="Arial"/>
              </a:rPr>
              <a:t>:</a:t>
            </a:r>
            <a:r>
              <a:rPr sz="1000" spc="65" dirty="0">
                <a:latin typeface="Arial"/>
                <a:cs typeface="Arial"/>
              </a:rPr>
              <a:t> </a:t>
            </a:r>
            <a:r>
              <a:rPr sz="1000" spc="-5" dirty="0">
                <a:latin typeface="Arial"/>
                <a:cs typeface="Arial"/>
              </a:rPr>
              <a:t>Uses</a:t>
            </a:r>
            <a:r>
              <a:rPr sz="1000" dirty="0">
                <a:latin typeface="Arial"/>
                <a:cs typeface="Arial"/>
              </a:rPr>
              <a:t> </a:t>
            </a:r>
            <a:r>
              <a:rPr sz="1000" spc="-5" dirty="0">
                <a:latin typeface="Arial"/>
                <a:cs typeface="Arial"/>
              </a:rPr>
              <a:t>a</a:t>
            </a:r>
            <a:r>
              <a:rPr sz="1000" spc="5" dirty="0">
                <a:latin typeface="Arial"/>
                <a:cs typeface="Arial"/>
              </a:rPr>
              <a:t> </a:t>
            </a:r>
            <a:r>
              <a:rPr sz="1000" spc="-5" dirty="0">
                <a:solidFill>
                  <a:srgbClr val="0000FA"/>
                </a:solidFill>
                <a:latin typeface="Arial"/>
                <a:cs typeface="Arial"/>
              </a:rPr>
              <a:t>dispatcher</a:t>
            </a:r>
            <a:r>
              <a:rPr sz="1000" spc="-5" dirty="0">
                <a:latin typeface="Arial"/>
                <a:cs typeface="Arial"/>
              </a:rPr>
              <a:t>,</a:t>
            </a:r>
            <a:r>
              <a:rPr sz="1000" dirty="0">
                <a:latin typeface="Arial"/>
                <a:cs typeface="Arial"/>
              </a:rPr>
              <a:t> </a:t>
            </a:r>
            <a:r>
              <a:rPr sz="1000" spc="-5" dirty="0">
                <a:latin typeface="Arial"/>
                <a:cs typeface="Arial"/>
              </a:rPr>
              <a:t>which</a:t>
            </a:r>
            <a:r>
              <a:rPr sz="1000" dirty="0">
                <a:latin typeface="Arial"/>
                <a:cs typeface="Arial"/>
              </a:rPr>
              <a:t> </a:t>
            </a:r>
            <a:r>
              <a:rPr sz="1000" spc="-10" dirty="0">
                <a:latin typeface="Arial"/>
                <a:cs typeface="Arial"/>
              </a:rPr>
              <a:t>picks</a:t>
            </a:r>
            <a:r>
              <a:rPr sz="1000" dirty="0">
                <a:latin typeface="Arial"/>
                <a:cs typeface="Arial"/>
              </a:rPr>
              <a:t> </a:t>
            </a:r>
            <a:r>
              <a:rPr sz="1000" spc="-5" dirty="0">
                <a:latin typeface="Arial"/>
                <a:cs typeface="Arial"/>
              </a:rPr>
              <a:t>up</a:t>
            </a:r>
            <a:r>
              <a:rPr sz="1000" spc="5" dirty="0">
                <a:latin typeface="Arial"/>
                <a:cs typeface="Arial"/>
              </a:rPr>
              <a:t> </a:t>
            </a:r>
            <a:r>
              <a:rPr sz="1000" spc="-5" dirty="0">
                <a:latin typeface="Arial"/>
                <a:cs typeface="Arial"/>
              </a:rPr>
              <a:t>an </a:t>
            </a:r>
            <a:r>
              <a:rPr sz="1000" spc="-265" dirty="0">
                <a:latin typeface="Arial"/>
                <a:cs typeface="Arial"/>
              </a:rPr>
              <a:t> </a:t>
            </a:r>
            <a:r>
              <a:rPr sz="1000" spc="-5" dirty="0">
                <a:latin typeface="Arial"/>
                <a:cs typeface="Arial"/>
              </a:rPr>
              <a:t>incoming request that</a:t>
            </a:r>
            <a:r>
              <a:rPr sz="1000" dirty="0">
                <a:latin typeface="Arial"/>
                <a:cs typeface="Arial"/>
              </a:rPr>
              <a:t> </a:t>
            </a:r>
            <a:r>
              <a:rPr sz="1000" spc="-5" dirty="0">
                <a:latin typeface="Arial"/>
                <a:cs typeface="Arial"/>
              </a:rPr>
              <a:t>is then passed</a:t>
            </a:r>
            <a:r>
              <a:rPr sz="1000" dirty="0">
                <a:latin typeface="Arial"/>
                <a:cs typeface="Arial"/>
              </a:rPr>
              <a:t> </a:t>
            </a:r>
            <a:r>
              <a:rPr sz="1000" spc="-5" dirty="0">
                <a:latin typeface="Arial"/>
                <a:cs typeface="Arial"/>
              </a:rPr>
              <a:t>on to</a:t>
            </a:r>
            <a:r>
              <a:rPr sz="1000" dirty="0">
                <a:latin typeface="Arial"/>
                <a:cs typeface="Arial"/>
              </a:rPr>
              <a:t> </a:t>
            </a:r>
            <a:r>
              <a:rPr sz="1000" spc="-5" dirty="0">
                <a:latin typeface="Arial"/>
                <a:cs typeface="Arial"/>
              </a:rPr>
              <a:t>a separate </a:t>
            </a:r>
            <a:r>
              <a:rPr sz="1000" dirty="0">
                <a:latin typeface="Arial"/>
                <a:cs typeface="Arial"/>
              </a:rPr>
              <a:t> </a:t>
            </a:r>
            <a:r>
              <a:rPr sz="1000" spc="-5" dirty="0">
                <a:latin typeface="Arial"/>
                <a:cs typeface="Arial"/>
              </a:rPr>
              <a:t>thread/process.</a:t>
            </a:r>
            <a:endParaRPr sz="1000" dirty="0">
              <a:latin typeface="Arial"/>
              <a:cs typeface="Arial"/>
            </a:endParaRPr>
          </a:p>
          <a:p>
            <a:pPr>
              <a:lnSpc>
                <a:spcPct val="100000"/>
              </a:lnSpc>
              <a:spcBef>
                <a:spcPts val="55"/>
              </a:spcBef>
            </a:pPr>
            <a:endParaRPr sz="1250" dirty="0">
              <a:latin typeface="Arial"/>
              <a:cs typeface="Arial"/>
            </a:endParaRPr>
          </a:p>
          <a:p>
            <a:pPr marL="289560">
              <a:lnSpc>
                <a:spcPts val="1410"/>
              </a:lnSpc>
            </a:pPr>
            <a:r>
              <a:rPr sz="1200" spc="-5" dirty="0">
                <a:solidFill>
                  <a:srgbClr val="FA0000"/>
                </a:solidFill>
                <a:latin typeface="Arial"/>
                <a:cs typeface="Arial"/>
              </a:rPr>
              <a:t>Observation</a:t>
            </a:r>
            <a:endParaRPr sz="1200" dirty="0">
              <a:latin typeface="Arial"/>
              <a:cs typeface="Arial"/>
            </a:endParaRPr>
          </a:p>
          <a:p>
            <a:pPr marL="289560" marR="42545">
              <a:lnSpc>
                <a:spcPts val="1200"/>
              </a:lnSpc>
              <a:spcBef>
                <a:spcPts val="10"/>
              </a:spcBef>
            </a:pPr>
            <a:r>
              <a:rPr sz="1000" spc="-5" dirty="0">
                <a:latin typeface="Arial"/>
                <a:cs typeface="Arial"/>
              </a:rPr>
              <a:t>Concurrent servers</a:t>
            </a:r>
            <a:r>
              <a:rPr sz="1000" dirty="0">
                <a:latin typeface="Arial"/>
                <a:cs typeface="Arial"/>
              </a:rPr>
              <a:t> </a:t>
            </a:r>
            <a:r>
              <a:rPr sz="1000" spc="-5" dirty="0">
                <a:latin typeface="Arial"/>
                <a:cs typeface="Arial"/>
              </a:rPr>
              <a:t>are</a:t>
            </a:r>
            <a:r>
              <a:rPr sz="1000" dirty="0">
                <a:latin typeface="Arial"/>
                <a:cs typeface="Arial"/>
              </a:rPr>
              <a:t> </a:t>
            </a:r>
            <a:r>
              <a:rPr sz="1000" spc="-5" dirty="0">
                <a:latin typeface="Arial"/>
                <a:cs typeface="Arial"/>
              </a:rPr>
              <a:t>the</a:t>
            </a:r>
            <a:r>
              <a:rPr sz="1000" dirty="0">
                <a:latin typeface="Arial"/>
                <a:cs typeface="Arial"/>
              </a:rPr>
              <a:t> norm:</a:t>
            </a:r>
            <a:r>
              <a:rPr sz="1000" spc="65" dirty="0">
                <a:latin typeface="Arial"/>
                <a:cs typeface="Arial"/>
              </a:rPr>
              <a:t> </a:t>
            </a:r>
            <a:r>
              <a:rPr sz="1000" spc="-10" dirty="0">
                <a:latin typeface="Arial"/>
                <a:cs typeface="Arial"/>
              </a:rPr>
              <a:t>they</a:t>
            </a:r>
            <a:r>
              <a:rPr sz="1000" dirty="0">
                <a:latin typeface="Arial"/>
                <a:cs typeface="Arial"/>
              </a:rPr>
              <a:t> </a:t>
            </a:r>
            <a:r>
              <a:rPr sz="1000" spc="-5" dirty="0">
                <a:latin typeface="Arial"/>
                <a:cs typeface="Arial"/>
              </a:rPr>
              <a:t>can</a:t>
            </a:r>
            <a:r>
              <a:rPr sz="1000" dirty="0">
                <a:latin typeface="Arial"/>
                <a:cs typeface="Arial"/>
              </a:rPr>
              <a:t> </a:t>
            </a:r>
            <a:r>
              <a:rPr sz="1000" spc="-5" dirty="0">
                <a:latin typeface="Arial"/>
                <a:cs typeface="Arial"/>
              </a:rPr>
              <a:t>easily</a:t>
            </a:r>
            <a:r>
              <a:rPr sz="1000" dirty="0">
                <a:latin typeface="Arial"/>
                <a:cs typeface="Arial"/>
              </a:rPr>
              <a:t> </a:t>
            </a:r>
            <a:r>
              <a:rPr sz="1000" spc="-5" dirty="0">
                <a:latin typeface="Arial"/>
                <a:cs typeface="Arial"/>
              </a:rPr>
              <a:t>handle multiple </a:t>
            </a:r>
            <a:r>
              <a:rPr sz="1000" dirty="0">
                <a:latin typeface="Arial"/>
                <a:cs typeface="Arial"/>
              </a:rPr>
              <a:t> </a:t>
            </a:r>
            <a:r>
              <a:rPr sz="1000" spc="-5" dirty="0">
                <a:latin typeface="Arial"/>
                <a:cs typeface="Arial"/>
              </a:rPr>
              <a:t>requests, notably</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presence</a:t>
            </a:r>
            <a:r>
              <a:rPr sz="1000" dirty="0">
                <a:latin typeface="Arial"/>
                <a:cs typeface="Arial"/>
              </a:rPr>
              <a:t> </a:t>
            </a:r>
            <a:r>
              <a:rPr sz="1000" spc="-5" dirty="0">
                <a:latin typeface="Arial"/>
                <a:cs typeface="Arial"/>
              </a:rPr>
              <a:t>of</a:t>
            </a:r>
            <a:r>
              <a:rPr sz="1000" dirty="0">
                <a:latin typeface="Arial"/>
                <a:cs typeface="Arial"/>
              </a:rPr>
              <a:t> </a:t>
            </a:r>
            <a:r>
              <a:rPr sz="1000" spc="-10" dirty="0">
                <a:latin typeface="Arial"/>
                <a:cs typeface="Arial"/>
              </a:rPr>
              <a:t>blocking</a:t>
            </a:r>
            <a:r>
              <a:rPr sz="1000" dirty="0">
                <a:latin typeface="Arial"/>
                <a:cs typeface="Arial"/>
              </a:rPr>
              <a:t> </a:t>
            </a:r>
            <a:r>
              <a:rPr sz="1000" spc="-5" dirty="0">
                <a:latin typeface="Arial"/>
                <a:cs typeface="Arial"/>
              </a:rPr>
              <a:t>operations (to</a:t>
            </a:r>
            <a:r>
              <a:rPr sz="1000" dirty="0">
                <a:latin typeface="Arial"/>
                <a:cs typeface="Arial"/>
              </a:rPr>
              <a:t> </a:t>
            </a:r>
            <a:r>
              <a:rPr sz="1000" spc="-5" dirty="0">
                <a:latin typeface="Arial"/>
                <a:cs typeface="Arial"/>
              </a:rPr>
              <a:t>disks</a:t>
            </a:r>
            <a:r>
              <a:rPr sz="1000" dirty="0">
                <a:latin typeface="Arial"/>
                <a:cs typeface="Arial"/>
              </a:rPr>
              <a:t> </a:t>
            </a:r>
            <a:r>
              <a:rPr sz="1000" spc="-5" dirty="0">
                <a:latin typeface="Arial"/>
                <a:cs typeface="Arial"/>
              </a:rPr>
              <a:t>or </a:t>
            </a:r>
            <a:r>
              <a:rPr sz="1000" spc="-260" dirty="0">
                <a:latin typeface="Arial"/>
                <a:cs typeface="Arial"/>
              </a:rPr>
              <a:t> </a:t>
            </a:r>
            <a:r>
              <a:rPr sz="1000" spc="-5" dirty="0">
                <a:latin typeface="Arial"/>
                <a:cs typeface="Arial"/>
              </a:rPr>
              <a:t>other</a:t>
            </a:r>
            <a:r>
              <a:rPr sz="1000" spc="-10" dirty="0">
                <a:latin typeface="Arial"/>
                <a:cs typeface="Arial"/>
              </a:rPr>
              <a:t> </a:t>
            </a:r>
            <a:r>
              <a:rPr sz="1000" spc="-5" dirty="0">
                <a:latin typeface="Arial"/>
                <a:cs typeface="Arial"/>
              </a:rPr>
              <a:t>servers).</a:t>
            </a:r>
            <a:endParaRPr sz="1000" dirty="0">
              <a:latin typeface="Arial"/>
              <a:cs typeface="Arial"/>
            </a:endParaRP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10940"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General</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3" name="object 3"/>
          <p:cNvSpPr txBox="1">
            <a:spLocks noGrp="1"/>
          </p:cNvSpPr>
          <p:nvPr>
            <p:ph type="title"/>
          </p:nvPr>
        </p:nvSpPr>
        <p:spPr>
          <a:xfrm>
            <a:off x="95300" y="155127"/>
            <a:ext cx="3826510" cy="488315"/>
          </a:xfrm>
          <a:prstGeom prst="rect">
            <a:avLst/>
          </a:prstGeom>
        </p:spPr>
        <p:txBody>
          <a:bodyPr vert="horz" wrap="square" lIns="0" tIns="50800" rIns="0" bIns="0" rtlCol="0">
            <a:spAutoFit/>
          </a:bodyPr>
          <a:lstStyle/>
          <a:p>
            <a:pPr marL="12700">
              <a:lnSpc>
                <a:spcPct val="100000"/>
              </a:lnSpc>
              <a:spcBef>
                <a:spcPts val="400"/>
              </a:spcBef>
            </a:pPr>
            <a:r>
              <a:rPr spc="15" dirty="0"/>
              <a:t>Contacting</a:t>
            </a:r>
            <a:r>
              <a:rPr spc="-20" dirty="0"/>
              <a:t> </a:t>
            </a:r>
            <a:r>
              <a:rPr spc="15" dirty="0"/>
              <a:t>a</a:t>
            </a:r>
            <a:r>
              <a:rPr spc="-20" dirty="0"/>
              <a:t> </a:t>
            </a:r>
            <a:r>
              <a:rPr spc="15" dirty="0"/>
              <a:t>server</a:t>
            </a:r>
          </a:p>
          <a:p>
            <a:pPr marL="264160">
              <a:lnSpc>
                <a:spcPct val="100000"/>
              </a:lnSpc>
              <a:spcBef>
                <a:spcPts val="220"/>
              </a:spcBef>
            </a:pPr>
            <a:r>
              <a:rPr sz="1200" spc="-5" dirty="0"/>
              <a:t>Observation:</a:t>
            </a:r>
            <a:r>
              <a:rPr sz="1200" spc="80" dirty="0"/>
              <a:t> </a:t>
            </a:r>
            <a:r>
              <a:rPr sz="1200" spc="-5" dirty="0"/>
              <a:t>most </a:t>
            </a:r>
            <a:r>
              <a:rPr sz="1200" dirty="0"/>
              <a:t>services </a:t>
            </a:r>
            <a:r>
              <a:rPr sz="1200" spc="-5" dirty="0"/>
              <a:t>are</a:t>
            </a:r>
            <a:r>
              <a:rPr sz="1200" dirty="0"/>
              <a:t> </a:t>
            </a:r>
            <a:r>
              <a:rPr sz="1200" spc="-5" dirty="0"/>
              <a:t>tied</a:t>
            </a:r>
            <a:r>
              <a:rPr sz="1200" dirty="0"/>
              <a:t> </a:t>
            </a:r>
            <a:r>
              <a:rPr sz="1200" spc="-5" dirty="0"/>
              <a:t>to</a:t>
            </a:r>
            <a:r>
              <a:rPr sz="1200" dirty="0"/>
              <a:t> </a:t>
            </a:r>
            <a:r>
              <a:rPr sz="1200" spc="-5" dirty="0"/>
              <a:t>a</a:t>
            </a:r>
            <a:r>
              <a:rPr sz="1200" dirty="0"/>
              <a:t> </a:t>
            </a:r>
            <a:r>
              <a:rPr sz="1200" spc="-5" dirty="0"/>
              <a:t>specific</a:t>
            </a:r>
            <a:r>
              <a:rPr sz="1200" dirty="0"/>
              <a:t> </a:t>
            </a:r>
            <a:r>
              <a:rPr sz="1200" spc="5" dirty="0"/>
              <a:t>port</a:t>
            </a:r>
            <a:endParaRPr sz="1200"/>
          </a:p>
        </p:txBody>
      </p:sp>
      <p:graphicFrame>
        <p:nvGraphicFramePr>
          <p:cNvPr id="4" name="object 4"/>
          <p:cNvGraphicFramePr>
            <a:graphicFrameLocks noGrp="1"/>
          </p:cNvGraphicFramePr>
          <p:nvPr/>
        </p:nvGraphicFramePr>
        <p:xfrm>
          <a:off x="1038948" y="756932"/>
          <a:ext cx="2525394" cy="839470"/>
        </p:xfrm>
        <a:graphic>
          <a:graphicData uri="http://schemas.openxmlformats.org/drawingml/2006/table">
            <a:tbl>
              <a:tblPr firstRow="1" bandRow="1">
                <a:tableStyleId>{2D5ABB26-0587-4C30-8999-92F81FD0307C}</a:tableStyleId>
              </a:tblPr>
              <a:tblGrid>
                <a:gridCol w="583565">
                  <a:extLst>
                    <a:ext uri="{9D8B030D-6E8A-4147-A177-3AD203B41FA5}">
                      <a16:colId xmlns:a16="http://schemas.microsoft.com/office/drawing/2014/main" val="20000"/>
                    </a:ext>
                  </a:extLst>
                </a:gridCol>
                <a:gridCol w="292734">
                  <a:extLst>
                    <a:ext uri="{9D8B030D-6E8A-4147-A177-3AD203B41FA5}">
                      <a16:colId xmlns:a16="http://schemas.microsoft.com/office/drawing/2014/main" val="20001"/>
                    </a:ext>
                  </a:extLst>
                </a:gridCol>
                <a:gridCol w="1649095">
                  <a:extLst>
                    <a:ext uri="{9D8B030D-6E8A-4147-A177-3AD203B41FA5}">
                      <a16:colId xmlns:a16="http://schemas.microsoft.com/office/drawing/2014/main" val="20002"/>
                    </a:ext>
                  </a:extLst>
                </a:gridCol>
              </a:tblGrid>
              <a:tr h="160655">
                <a:tc>
                  <a:txBody>
                    <a:bodyPr/>
                    <a:lstStyle/>
                    <a:p>
                      <a:pPr marL="78105">
                        <a:lnSpc>
                          <a:spcPts val="1140"/>
                        </a:lnSpc>
                      </a:pPr>
                      <a:r>
                        <a:rPr sz="1000" spc="-5" dirty="0">
                          <a:latin typeface="Arial"/>
                          <a:cs typeface="Arial"/>
                        </a:rPr>
                        <a:t>ftp-data</a:t>
                      </a:r>
                      <a:endParaRPr sz="1000">
                        <a:latin typeface="Arial"/>
                        <a:cs typeface="Arial"/>
                      </a:endParaRPr>
                    </a:p>
                  </a:txBody>
                  <a:tcPr marL="0" marR="0" marT="0" marB="0">
                    <a:lnL w="6350">
                      <a:solidFill>
                        <a:srgbClr val="000000"/>
                      </a:solidFill>
                      <a:prstDash val="solid"/>
                    </a:lnL>
                    <a:lnT w="6350">
                      <a:solidFill>
                        <a:srgbClr val="000000"/>
                      </a:solidFill>
                      <a:prstDash val="solid"/>
                    </a:lnT>
                  </a:tcPr>
                </a:tc>
                <a:tc>
                  <a:txBody>
                    <a:bodyPr/>
                    <a:lstStyle/>
                    <a:p>
                      <a:pPr marL="75565">
                        <a:lnSpc>
                          <a:spcPts val="1140"/>
                        </a:lnSpc>
                      </a:pPr>
                      <a:r>
                        <a:rPr sz="1000" spc="-5" dirty="0">
                          <a:latin typeface="Arial"/>
                          <a:cs typeface="Arial"/>
                        </a:rPr>
                        <a:t>20</a:t>
                      </a:r>
                      <a:endParaRPr sz="1000">
                        <a:latin typeface="Arial"/>
                        <a:cs typeface="Arial"/>
                      </a:endParaRPr>
                    </a:p>
                  </a:txBody>
                  <a:tcPr marL="0" marR="0" marT="0" marB="0">
                    <a:lnT w="6350">
                      <a:solidFill>
                        <a:srgbClr val="000000"/>
                      </a:solidFill>
                      <a:prstDash val="solid"/>
                    </a:lnT>
                  </a:tcPr>
                </a:tc>
                <a:tc>
                  <a:txBody>
                    <a:bodyPr/>
                    <a:lstStyle/>
                    <a:p>
                      <a:pPr marL="75565">
                        <a:lnSpc>
                          <a:spcPts val="1140"/>
                        </a:lnSpc>
                      </a:pPr>
                      <a:r>
                        <a:rPr sz="1000" spc="-5" dirty="0">
                          <a:latin typeface="Arial"/>
                          <a:cs typeface="Arial"/>
                        </a:rPr>
                        <a:t>File</a:t>
                      </a:r>
                      <a:r>
                        <a:rPr sz="1000" spc="-10" dirty="0">
                          <a:latin typeface="Arial"/>
                          <a:cs typeface="Arial"/>
                        </a:rPr>
                        <a:t> </a:t>
                      </a:r>
                      <a:r>
                        <a:rPr sz="1000" spc="-25" dirty="0">
                          <a:latin typeface="Arial"/>
                          <a:cs typeface="Arial"/>
                        </a:rPr>
                        <a:t>Transfer</a:t>
                      </a:r>
                      <a:r>
                        <a:rPr sz="1000" spc="-5" dirty="0">
                          <a:latin typeface="Arial"/>
                          <a:cs typeface="Arial"/>
                        </a:rPr>
                        <a:t> </a:t>
                      </a:r>
                      <a:r>
                        <a:rPr sz="1000" spc="-10" dirty="0">
                          <a:latin typeface="Arial"/>
                          <a:cs typeface="Arial"/>
                        </a:rPr>
                        <a:t>[Default </a:t>
                      </a:r>
                      <a:r>
                        <a:rPr sz="1000" spc="-5" dirty="0">
                          <a:latin typeface="Arial"/>
                          <a:cs typeface="Arial"/>
                        </a:rPr>
                        <a:t>Data]</a:t>
                      </a:r>
                      <a:endParaRPr sz="1000">
                        <a:latin typeface="Arial"/>
                        <a:cs typeface="Arial"/>
                      </a:endParaRPr>
                    </a:p>
                  </a:txBody>
                  <a:tcPr marL="0" marR="0" marT="0" marB="0">
                    <a:lnR w="6350">
                      <a:solidFill>
                        <a:srgbClr val="000000"/>
                      </a:solidFill>
                      <a:prstDash val="solid"/>
                    </a:lnR>
                    <a:lnT w="6350">
                      <a:solidFill>
                        <a:srgbClr val="000000"/>
                      </a:solidFill>
                      <a:prstDash val="solid"/>
                    </a:lnT>
                  </a:tcPr>
                </a:tc>
                <a:extLst>
                  <a:ext uri="{0D108BD9-81ED-4DB2-BD59-A6C34878D82A}">
                    <a16:rowId xmlns:a16="http://schemas.microsoft.com/office/drawing/2014/main" val="10000"/>
                  </a:ext>
                </a:extLst>
              </a:tr>
              <a:tr h="167005">
                <a:tc>
                  <a:txBody>
                    <a:bodyPr/>
                    <a:lstStyle/>
                    <a:p>
                      <a:pPr marL="78105">
                        <a:lnSpc>
                          <a:spcPts val="1190"/>
                        </a:lnSpc>
                      </a:pPr>
                      <a:r>
                        <a:rPr sz="1000" spc="-5" dirty="0">
                          <a:latin typeface="Arial"/>
                          <a:cs typeface="Arial"/>
                        </a:rPr>
                        <a:t>ftp</a:t>
                      </a:r>
                      <a:endParaRPr sz="1000">
                        <a:latin typeface="Arial"/>
                        <a:cs typeface="Arial"/>
                      </a:endParaRPr>
                    </a:p>
                  </a:txBody>
                  <a:tcPr marL="0" marR="0" marT="0" marB="0">
                    <a:lnL w="6350">
                      <a:solidFill>
                        <a:srgbClr val="000000"/>
                      </a:solidFill>
                      <a:prstDash val="solid"/>
                    </a:lnL>
                  </a:tcPr>
                </a:tc>
                <a:tc>
                  <a:txBody>
                    <a:bodyPr/>
                    <a:lstStyle/>
                    <a:p>
                      <a:pPr marL="75565">
                        <a:lnSpc>
                          <a:spcPts val="1190"/>
                        </a:lnSpc>
                      </a:pPr>
                      <a:r>
                        <a:rPr sz="1000" spc="-5" dirty="0">
                          <a:latin typeface="Arial"/>
                          <a:cs typeface="Arial"/>
                        </a:rPr>
                        <a:t>21</a:t>
                      </a:r>
                      <a:endParaRPr sz="1000">
                        <a:latin typeface="Arial"/>
                        <a:cs typeface="Arial"/>
                      </a:endParaRPr>
                    </a:p>
                  </a:txBody>
                  <a:tcPr marL="0" marR="0" marT="0" marB="0"/>
                </a:tc>
                <a:tc>
                  <a:txBody>
                    <a:bodyPr/>
                    <a:lstStyle/>
                    <a:p>
                      <a:pPr marL="75565">
                        <a:lnSpc>
                          <a:spcPts val="1190"/>
                        </a:lnSpc>
                      </a:pPr>
                      <a:r>
                        <a:rPr sz="1000" spc="-5" dirty="0">
                          <a:latin typeface="Arial"/>
                          <a:cs typeface="Arial"/>
                        </a:rPr>
                        <a:t>File</a:t>
                      </a:r>
                      <a:r>
                        <a:rPr sz="1000" spc="-15" dirty="0">
                          <a:latin typeface="Arial"/>
                          <a:cs typeface="Arial"/>
                        </a:rPr>
                        <a:t> </a:t>
                      </a:r>
                      <a:r>
                        <a:rPr sz="1000" spc="-25" dirty="0">
                          <a:latin typeface="Arial"/>
                          <a:cs typeface="Arial"/>
                        </a:rPr>
                        <a:t>Transfer</a:t>
                      </a:r>
                      <a:r>
                        <a:rPr sz="1000" spc="-15" dirty="0">
                          <a:latin typeface="Arial"/>
                          <a:cs typeface="Arial"/>
                        </a:rPr>
                        <a:t> </a:t>
                      </a:r>
                      <a:r>
                        <a:rPr sz="1000" spc="-5" dirty="0">
                          <a:latin typeface="Arial"/>
                          <a:cs typeface="Arial"/>
                        </a:rPr>
                        <a:t>[Control]</a:t>
                      </a:r>
                      <a:endParaRPr sz="1000">
                        <a:latin typeface="Arial"/>
                        <a:cs typeface="Arial"/>
                      </a:endParaRPr>
                    </a:p>
                  </a:txBody>
                  <a:tcPr marL="0" marR="0" marT="0" marB="0">
                    <a:lnR w="6350">
                      <a:solidFill>
                        <a:srgbClr val="000000"/>
                      </a:solidFill>
                      <a:prstDash val="solid"/>
                    </a:lnR>
                  </a:tcPr>
                </a:tc>
                <a:extLst>
                  <a:ext uri="{0D108BD9-81ED-4DB2-BD59-A6C34878D82A}">
                    <a16:rowId xmlns:a16="http://schemas.microsoft.com/office/drawing/2014/main" val="10001"/>
                  </a:ext>
                </a:extLst>
              </a:tr>
              <a:tr h="167005">
                <a:tc>
                  <a:txBody>
                    <a:bodyPr/>
                    <a:lstStyle/>
                    <a:p>
                      <a:pPr marL="78105">
                        <a:lnSpc>
                          <a:spcPts val="1190"/>
                        </a:lnSpc>
                      </a:pPr>
                      <a:r>
                        <a:rPr sz="1000" spc="-5" dirty="0">
                          <a:latin typeface="Arial"/>
                          <a:cs typeface="Arial"/>
                        </a:rPr>
                        <a:t>telnet</a:t>
                      </a:r>
                      <a:endParaRPr sz="1000">
                        <a:latin typeface="Arial"/>
                        <a:cs typeface="Arial"/>
                      </a:endParaRPr>
                    </a:p>
                  </a:txBody>
                  <a:tcPr marL="0" marR="0" marT="0" marB="0">
                    <a:lnL w="6350">
                      <a:solidFill>
                        <a:srgbClr val="000000"/>
                      </a:solidFill>
                      <a:prstDash val="solid"/>
                    </a:lnL>
                  </a:tcPr>
                </a:tc>
                <a:tc>
                  <a:txBody>
                    <a:bodyPr/>
                    <a:lstStyle/>
                    <a:p>
                      <a:pPr marL="75565">
                        <a:lnSpc>
                          <a:spcPts val="1190"/>
                        </a:lnSpc>
                      </a:pPr>
                      <a:r>
                        <a:rPr sz="1000" spc="-5" dirty="0">
                          <a:latin typeface="Arial"/>
                          <a:cs typeface="Arial"/>
                        </a:rPr>
                        <a:t>23</a:t>
                      </a:r>
                      <a:endParaRPr sz="1000">
                        <a:latin typeface="Arial"/>
                        <a:cs typeface="Arial"/>
                      </a:endParaRPr>
                    </a:p>
                  </a:txBody>
                  <a:tcPr marL="0" marR="0" marT="0" marB="0"/>
                </a:tc>
                <a:tc>
                  <a:txBody>
                    <a:bodyPr/>
                    <a:lstStyle/>
                    <a:p>
                      <a:pPr marL="75565">
                        <a:lnSpc>
                          <a:spcPts val="1190"/>
                        </a:lnSpc>
                      </a:pPr>
                      <a:r>
                        <a:rPr sz="1000" spc="-25" dirty="0">
                          <a:latin typeface="Arial"/>
                          <a:cs typeface="Arial"/>
                        </a:rPr>
                        <a:t>Telnet</a:t>
                      </a:r>
                      <a:endParaRPr sz="1000">
                        <a:latin typeface="Arial"/>
                        <a:cs typeface="Arial"/>
                      </a:endParaRPr>
                    </a:p>
                  </a:txBody>
                  <a:tcPr marL="0" marR="0" marT="0" marB="0">
                    <a:lnR w="6350">
                      <a:solidFill>
                        <a:srgbClr val="000000"/>
                      </a:solidFill>
                      <a:prstDash val="solid"/>
                    </a:lnR>
                  </a:tcPr>
                </a:tc>
                <a:extLst>
                  <a:ext uri="{0D108BD9-81ED-4DB2-BD59-A6C34878D82A}">
                    <a16:rowId xmlns:a16="http://schemas.microsoft.com/office/drawing/2014/main" val="10002"/>
                  </a:ext>
                </a:extLst>
              </a:tr>
              <a:tr h="167005">
                <a:tc>
                  <a:txBody>
                    <a:bodyPr/>
                    <a:lstStyle/>
                    <a:p>
                      <a:pPr marL="78105">
                        <a:lnSpc>
                          <a:spcPts val="1190"/>
                        </a:lnSpc>
                      </a:pPr>
                      <a:r>
                        <a:rPr sz="1000" spc="-5" dirty="0">
                          <a:latin typeface="Arial"/>
                          <a:cs typeface="Arial"/>
                        </a:rPr>
                        <a:t>smtp</a:t>
                      </a:r>
                      <a:endParaRPr sz="1000">
                        <a:latin typeface="Arial"/>
                        <a:cs typeface="Arial"/>
                      </a:endParaRPr>
                    </a:p>
                  </a:txBody>
                  <a:tcPr marL="0" marR="0" marT="0" marB="0">
                    <a:lnL w="6350">
                      <a:solidFill>
                        <a:srgbClr val="000000"/>
                      </a:solidFill>
                      <a:prstDash val="solid"/>
                    </a:lnL>
                  </a:tcPr>
                </a:tc>
                <a:tc>
                  <a:txBody>
                    <a:bodyPr/>
                    <a:lstStyle/>
                    <a:p>
                      <a:pPr marL="75565">
                        <a:lnSpc>
                          <a:spcPts val="1190"/>
                        </a:lnSpc>
                      </a:pPr>
                      <a:r>
                        <a:rPr sz="1000" spc="-5" dirty="0">
                          <a:latin typeface="Arial"/>
                          <a:cs typeface="Arial"/>
                        </a:rPr>
                        <a:t>25</a:t>
                      </a:r>
                      <a:endParaRPr sz="1000">
                        <a:latin typeface="Arial"/>
                        <a:cs typeface="Arial"/>
                      </a:endParaRPr>
                    </a:p>
                  </a:txBody>
                  <a:tcPr marL="0" marR="0" marT="0" marB="0"/>
                </a:tc>
                <a:tc>
                  <a:txBody>
                    <a:bodyPr/>
                    <a:lstStyle/>
                    <a:p>
                      <a:pPr marL="75565">
                        <a:lnSpc>
                          <a:spcPts val="1190"/>
                        </a:lnSpc>
                      </a:pPr>
                      <a:r>
                        <a:rPr sz="1000" spc="-5" dirty="0">
                          <a:latin typeface="Arial"/>
                          <a:cs typeface="Arial"/>
                        </a:rPr>
                        <a:t>Simple</a:t>
                      </a:r>
                      <a:r>
                        <a:rPr sz="1000" spc="-20" dirty="0">
                          <a:latin typeface="Arial"/>
                          <a:cs typeface="Arial"/>
                        </a:rPr>
                        <a:t> </a:t>
                      </a:r>
                      <a:r>
                        <a:rPr sz="1000" spc="-5" dirty="0">
                          <a:latin typeface="Arial"/>
                          <a:cs typeface="Arial"/>
                        </a:rPr>
                        <a:t>Mail</a:t>
                      </a:r>
                      <a:r>
                        <a:rPr sz="1000" spc="-20" dirty="0">
                          <a:latin typeface="Arial"/>
                          <a:cs typeface="Arial"/>
                        </a:rPr>
                        <a:t> </a:t>
                      </a:r>
                      <a:r>
                        <a:rPr sz="1000" spc="-25" dirty="0">
                          <a:latin typeface="Arial"/>
                          <a:cs typeface="Arial"/>
                        </a:rPr>
                        <a:t>Transfer</a:t>
                      </a:r>
                      <a:endParaRPr sz="1000">
                        <a:latin typeface="Arial"/>
                        <a:cs typeface="Arial"/>
                      </a:endParaRPr>
                    </a:p>
                  </a:txBody>
                  <a:tcPr marL="0" marR="0" marT="0" marB="0">
                    <a:lnR w="6350">
                      <a:solidFill>
                        <a:srgbClr val="000000"/>
                      </a:solidFill>
                      <a:prstDash val="solid"/>
                    </a:lnR>
                  </a:tcPr>
                </a:tc>
                <a:extLst>
                  <a:ext uri="{0D108BD9-81ED-4DB2-BD59-A6C34878D82A}">
                    <a16:rowId xmlns:a16="http://schemas.microsoft.com/office/drawing/2014/main" val="10003"/>
                  </a:ext>
                </a:extLst>
              </a:tr>
              <a:tr h="177800">
                <a:tc>
                  <a:txBody>
                    <a:bodyPr/>
                    <a:lstStyle/>
                    <a:p>
                      <a:pPr marL="78105">
                        <a:lnSpc>
                          <a:spcPts val="1190"/>
                        </a:lnSpc>
                      </a:pPr>
                      <a:r>
                        <a:rPr sz="1000" spc="-5" dirty="0">
                          <a:latin typeface="Arial"/>
                          <a:cs typeface="Arial"/>
                        </a:rPr>
                        <a:t>www</a:t>
                      </a:r>
                      <a:endParaRPr sz="1000">
                        <a:latin typeface="Arial"/>
                        <a:cs typeface="Arial"/>
                      </a:endParaRPr>
                    </a:p>
                  </a:txBody>
                  <a:tcPr marL="0" marR="0" marT="0" marB="0">
                    <a:lnL w="6350">
                      <a:solidFill>
                        <a:srgbClr val="000000"/>
                      </a:solidFill>
                      <a:prstDash val="solid"/>
                    </a:lnL>
                    <a:lnB w="6350">
                      <a:solidFill>
                        <a:srgbClr val="000000"/>
                      </a:solidFill>
                      <a:prstDash val="solid"/>
                    </a:lnB>
                  </a:tcPr>
                </a:tc>
                <a:tc>
                  <a:txBody>
                    <a:bodyPr/>
                    <a:lstStyle/>
                    <a:p>
                      <a:pPr marL="75565">
                        <a:lnSpc>
                          <a:spcPts val="1190"/>
                        </a:lnSpc>
                      </a:pPr>
                      <a:r>
                        <a:rPr sz="1000" spc="-5" dirty="0">
                          <a:latin typeface="Arial"/>
                          <a:cs typeface="Arial"/>
                        </a:rPr>
                        <a:t>80</a:t>
                      </a:r>
                      <a:endParaRPr sz="1000">
                        <a:latin typeface="Arial"/>
                        <a:cs typeface="Arial"/>
                      </a:endParaRPr>
                    </a:p>
                  </a:txBody>
                  <a:tcPr marL="0" marR="0" marT="0" marB="0">
                    <a:lnB w="6350">
                      <a:solidFill>
                        <a:srgbClr val="000000"/>
                      </a:solidFill>
                      <a:prstDash val="solid"/>
                    </a:lnB>
                  </a:tcPr>
                </a:tc>
                <a:tc>
                  <a:txBody>
                    <a:bodyPr/>
                    <a:lstStyle/>
                    <a:p>
                      <a:pPr marL="75565">
                        <a:lnSpc>
                          <a:spcPts val="1190"/>
                        </a:lnSpc>
                      </a:pPr>
                      <a:r>
                        <a:rPr sz="1000" spc="-15" dirty="0">
                          <a:latin typeface="Arial"/>
                          <a:cs typeface="Arial"/>
                        </a:rPr>
                        <a:t>Web</a:t>
                      </a:r>
                      <a:r>
                        <a:rPr sz="1000" spc="-40" dirty="0">
                          <a:latin typeface="Arial"/>
                          <a:cs typeface="Arial"/>
                        </a:rPr>
                        <a:t> </a:t>
                      </a:r>
                      <a:r>
                        <a:rPr sz="1000" spc="-5" dirty="0">
                          <a:latin typeface="Arial"/>
                          <a:cs typeface="Arial"/>
                        </a:rPr>
                        <a:t>(HTTP)</a:t>
                      </a:r>
                      <a:endParaRPr sz="1000">
                        <a:latin typeface="Arial"/>
                        <a:cs typeface="Arial"/>
                      </a:endParaRPr>
                    </a:p>
                  </a:txBody>
                  <a:tcPr marL="0" marR="0" marT="0" marB="0">
                    <a:lnR w="6350">
                      <a:solidFill>
                        <a:srgbClr val="000000"/>
                      </a:solidFill>
                      <a:prstDash val="solid"/>
                    </a:lnR>
                    <a:lnB w="6350">
                      <a:solidFill>
                        <a:srgbClr val="000000"/>
                      </a:solidFill>
                      <a:prstDash val="solid"/>
                    </a:lnB>
                  </a:tcPr>
                </a:tc>
                <a:extLst>
                  <a:ext uri="{0D108BD9-81ED-4DB2-BD59-A6C34878D82A}">
                    <a16:rowId xmlns:a16="http://schemas.microsoft.com/office/drawing/2014/main" val="10004"/>
                  </a:ext>
                </a:extLst>
              </a:tr>
            </a:tbl>
          </a:graphicData>
        </a:graphic>
      </p:graphicFrame>
      <p:sp>
        <p:nvSpPr>
          <p:cNvPr id="5" name="object 5"/>
          <p:cNvSpPr txBox="1"/>
          <p:nvPr/>
        </p:nvSpPr>
        <p:spPr>
          <a:xfrm>
            <a:off x="347294" y="1786062"/>
            <a:ext cx="2405380" cy="207645"/>
          </a:xfrm>
          <a:prstGeom prst="rect">
            <a:avLst/>
          </a:prstGeom>
        </p:spPr>
        <p:txBody>
          <a:bodyPr vert="horz" wrap="square" lIns="0" tIns="12065" rIns="0" bIns="0" rtlCol="0">
            <a:spAutoFit/>
          </a:bodyPr>
          <a:lstStyle/>
          <a:p>
            <a:pPr marL="12700">
              <a:lnSpc>
                <a:spcPct val="100000"/>
              </a:lnSpc>
              <a:spcBef>
                <a:spcPts val="95"/>
              </a:spcBef>
            </a:pPr>
            <a:r>
              <a:rPr sz="1200" spc="-5" dirty="0">
                <a:solidFill>
                  <a:srgbClr val="3333B2"/>
                </a:solidFill>
                <a:latin typeface="Arial"/>
                <a:cs typeface="Arial"/>
              </a:rPr>
              <a:t>Dynamically</a:t>
            </a:r>
            <a:r>
              <a:rPr sz="1200" spc="-10" dirty="0">
                <a:solidFill>
                  <a:srgbClr val="3333B2"/>
                </a:solidFill>
                <a:latin typeface="Arial"/>
                <a:cs typeface="Arial"/>
              </a:rPr>
              <a:t> </a:t>
            </a:r>
            <a:r>
              <a:rPr sz="1200" spc="-5" dirty="0">
                <a:solidFill>
                  <a:srgbClr val="3333B2"/>
                </a:solidFill>
                <a:latin typeface="Arial"/>
                <a:cs typeface="Arial"/>
              </a:rPr>
              <a:t>assigning</a:t>
            </a:r>
            <a:r>
              <a:rPr sz="1200" spc="-10" dirty="0">
                <a:solidFill>
                  <a:srgbClr val="3333B2"/>
                </a:solidFill>
                <a:latin typeface="Arial"/>
                <a:cs typeface="Arial"/>
              </a:rPr>
              <a:t> </a:t>
            </a:r>
            <a:r>
              <a:rPr sz="1200" spc="-5" dirty="0">
                <a:solidFill>
                  <a:srgbClr val="3333B2"/>
                </a:solidFill>
                <a:latin typeface="Arial"/>
                <a:cs typeface="Arial"/>
              </a:rPr>
              <a:t>an</a:t>
            </a:r>
            <a:r>
              <a:rPr sz="1200" spc="-10" dirty="0">
                <a:solidFill>
                  <a:srgbClr val="3333B2"/>
                </a:solidFill>
                <a:latin typeface="Arial"/>
                <a:cs typeface="Arial"/>
              </a:rPr>
              <a:t> </a:t>
            </a:r>
            <a:r>
              <a:rPr sz="1200" spc="-5" dirty="0">
                <a:solidFill>
                  <a:srgbClr val="3333B2"/>
                </a:solidFill>
                <a:latin typeface="Arial"/>
                <a:cs typeface="Arial"/>
              </a:rPr>
              <a:t>end</a:t>
            </a:r>
            <a:r>
              <a:rPr sz="1200" spc="-10" dirty="0">
                <a:solidFill>
                  <a:srgbClr val="3333B2"/>
                </a:solidFill>
                <a:latin typeface="Arial"/>
                <a:cs typeface="Arial"/>
              </a:rPr>
              <a:t> </a:t>
            </a:r>
            <a:r>
              <a:rPr sz="1200" spc="-5" dirty="0">
                <a:solidFill>
                  <a:srgbClr val="3333B2"/>
                </a:solidFill>
                <a:latin typeface="Arial"/>
                <a:cs typeface="Arial"/>
              </a:rPr>
              <a:t>point</a:t>
            </a:r>
            <a:endParaRPr sz="1200">
              <a:latin typeface="Arial"/>
              <a:cs typeface="Arial"/>
            </a:endParaRPr>
          </a:p>
        </p:txBody>
      </p:sp>
      <p:pic>
        <p:nvPicPr>
          <p:cNvPr id="6" name="object 6"/>
          <p:cNvPicPr/>
          <p:nvPr/>
        </p:nvPicPr>
        <p:blipFill>
          <a:blip r:embed="rId5" cstate="print"/>
          <a:stretch>
            <a:fillRect/>
          </a:stretch>
        </p:blipFill>
        <p:spPr>
          <a:xfrm>
            <a:off x="1595395" y="2760741"/>
            <a:ext cx="176913" cy="113396"/>
          </a:xfrm>
          <a:prstGeom prst="rect">
            <a:avLst/>
          </a:prstGeom>
        </p:spPr>
      </p:pic>
      <p:sp>
        <p:nvSpPr>
          <p:cNvPr id="7" name="object 7"/>
          <p:cNvSpPr txBox="1"/>
          <p:nvPr/>
        </p:nvSpPr>
        <p:spPr>
          <a:xfrm>
            <a:off x="1936441" y="2912354"/>
            <a:ext cx="334645" cy="193040"/>
          </a:xfrm>
          <a:prstGeom prst="rect">
            <a:avLst/>
          </a:prstGeom>
        </p:spPr>
        <p:txBody>
          <a:bodyPr vert="horz" wrap="square" lIns="0" tIns="20320" rIns="0" bIns="0" rtlCol="0">
            <a:spAutoFit/>
          </a:bodyPr>
          <a:lstStyle/>
          <a:p>
            <a:pPr marL="12700" marR="5080">
              <a:lnSpc>
                <a:spcPts val="630"/>
              </a:lnSpc>
              <a:spcBef>
                <a:spcPts val="160"/>
              </a:spcBef>
            </a:pPr>
            <a:r>
              <a:rPr sz="550" spc="5" dirty="0">
                <a:solidFill>
                  <a:srgbClr val="231F20"/>
                </a:solidFill>
                <a:latin typeface="Arial"/>
                <a:cs typeface="Arial"/>
              </a:rPr>
              <a:t>End-point  table</a:t>
            </a:r>
            <a:endParaRPr sz="550">
              <a:latin typeface="Arial"/>
              <a:cs typeface="Arial"/>
            </a:endParaRPr>
          </a:p>
        </p:txBody>
      </p:sp>
      <p:sp>
        <p:nvSpPr>
          <p:cNvPr id="8" name="object 8"/>
          <p:cNvSpPr txBox="1"/>
          <p:nvPr/>
        </p:nvSpPr>
        <p:spPr>
          <a:xfrm>
            <a:off x="381459" y="2371298"/>
            <a:ext cx="891540" cy="193040"/>
          </a:xfrm>
          <a:prstGeom prst="rect">
            <a:avLst/>
          </a:prstGeom>
        </p:spPr>
        <p:txBody>
          <a:bodyPr vert="horz" wrap="square" lIns="0" tIns="20320" rIns="0" bIns="0" rtlCol="0">
            <a:spAutoFit/>
          </a:bodyPr>
          <a:lstStyle/>
          <a:p>
            <a:pPr marL="12700" marR="5080" indent="516890">
              <a:lnSpc>
                <a:spcPts val="630"/>
              </a:lnSpc>
              <a:spcBef>
                <a:spcPts val="160"/>
              </a:spcBef>
            </a:pPr>
            <a:r>
              <a:rPr sz="550" spc="5" dirty="0">
                <a:solidFill>
                  <a:srgbClr val="231F20"/>
                </a:solidFill>
                <a:latin typeface="Arial"/>
                <a:cs typeface="Arial"/>
              </a:rPr>
              <a:t>2. Request  Client</a:t>
            </a:r>
            <a:r>
              <a:rPr sz="550" spc="50" dirty="0">
                <a:solidFill>
                  <a:srgbClr val="231F20"/>
                </a:solidFill>
                <a:latin typeface="Arial"/>
                <a:cs typeface="Arial"/>
              </a:rPr>
              <a:t> </a:t>
            </a:r>
            <a:r>
              <a:rPr sz="550" spc="5" dirty="0">
                <a:solidFill>
                  <a:srgbClr val="231F20"/>
                </a:solidFill>
                <a:latin typeface="Arial"/>
                <a:cs typeface="Arial"/>
              </a:rPr>
              <a:t>machine    </a:t>
            </a:r>
            <a:r>
              <a:rPr sz="550" spc="160" dirty="0">
                <a:solidFill>
                  <a:srgbClr val="231F20"/>
                </a:solidFill>
                <a:latin typeface="Arial"/>
                <a:cs typeface="Arial"/>
              </a:rPr>
              <a:t> </a:t>
            </a:r>
            <a:r>
              <a:rPr sz="550" spc="5" dirty="0">
                <a:solidFill>
                  <a:srgbClr val="231F20"/>
                </a:solidFill>
                <a:latin typeface="Arial"/>
                <a:cs typeface="Arial"/>
              </a:rPr>
              <a:t>service</a:t>
            </a:r>
            <a:endParaRPr sz="550">
              <a:latin typeface="Arial"/>
              <a:cs typeface="Arial"/>
            </a:endParaRPr>
          </a:p>
        </p:txBody>
      </p:sp>
      <p:sp>
        <p:nvSpPr>
          <p:cNvPr id="9" name="object 9"/>
          <p:cNvSpPr txBox="1"/>
          <p:nvPr/>
        </p:nvSpPr>
        <p:spPr>
          <a:xfrm>
            <a:off x="1345359" y="2271495"/>
            <a:ext cx="53086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Server</a:t>
            </a:r>
            <a:r>
              <a:rPr sz="550" spc="-25" dirty="0">
                <a:solidFill>
                  <a:srgbClr val="231F20"/>
                </a:solidFill>
                <a:latin typeface="Arial"/>
                <a:cs typeface="Arial"/>
              </a:rPr>
              <a:t> </a:t>
            </a:r>
            <a:r>
              <a:rPr sz="550" spc="5" dirty="0">
                <a:solidFill>
                  <a:srgbClr val="231F20"/>
                </a:solidFill>
                <a:latin typeface="Arial"/>
                <a:cs typeface="Arial"/>
              </a:rPr>
              <a:t>machine</a:t>
            </a:r>
            <a:endParaRPr sz="550">
              <a:latin typeface="Arial"/>
              <a:cs typeface="Arial"/>
            </a:endParaRPr>
          </a:p>
        </p:txBody>
      </p:sp>
      <p:sp>
        <p:nvSpPr>
          <p:cNvPr id="10" name="object 10"/>
          <p:cNvSpPr/>
          <p:nvPr/>
        </p:nvSpPr>
        <p:spPr>
          <a:xfrm>
            <a:off x="372332" y="2582645"/>
            <a:ext cx="496570" cy="271145"/>
          </a:xfrm>
          <a:custGeom>
            <a:avLst/>
            <a:gdLst/>
            <a:ahLst/>
            <a:cxnLst/>
            <a:rect l="l" t="t" r="r" b="b"/>
            <a:pathLst>
              <a:path w="496569" h="271144">
                <a:moveTo>
                  <a:pt x="0" y="270528"/>
                </a:moveTo>
                <a:lnTo>
                  <a:pt x="495962" y="270528"/>
                </a:lnTo>
                <a:lnTo>
                  <a:pt x="495962" y="0"/>
                </a:lnTo>
                <a:lnTo>
                  <a:pt x="0" y="0"/>
                </a:lnTo>
                <a:lnTo>
                  <a:pt x="0" y="270528"/>
                </a:lnTo>
                <a:close/>
              </a:path>
            </a:pathLst>
          </a:custGeom>
          <a:ln w="9017">
            <a:solidFill>
              <a:srgbClr val="231F20"/>
            </a:solidFill>
          </a:ln>
        </p:spPr>
        <p:txBody>
          <a:bodyPr wrap="square" lIns="0" tIns="0" rIns="0" bIns="0" rtlCol="0"/>
          <a:lstStyle/>
          <a:p>
            <a:endParaRPr/>
          </a:p>
        </p:txBody>
      </p:sp>
      <p:sp>
        <p:nvSpPr>
          <p:cNvPr id="11" name="object 11"/>
          <p:cNvSpPr txBox="1"/>
          <p:nvPr/>
        </p:nvSpPr>
        <p:spPr>
          <a:xfrm>
            <a:off x="417417" y="2627733"/>
            <a:ext cx="406400" cy="180975"/>
          </a:xfrm>
          <a:prstGeom prst="rect">
            <a:avLst/>
          </a:prstGeom>
          <a:ln w="4508">
            <a:solidFill>
              <a:srgbClr val="231F20"/>
            </a:solidFill>
          </a:ln>
        </p:spPr>
        <p:txBody>
          <a:bodyPr vert="horz" wrap="square" lIns="0" tIns="45720" rIns="0" bIns="0" rtlCol="0">
            <a:spAutoFit/>
          </a:bodyPr>
          <a:lstStyle/>
          <a:p>
            <a:pPr marL="108585">
              <a:lnSpc>
                <a:spcPct val="100000"/>
              </a:lnSpc>
              <a:spcBef>
                <a:spcPts val="360"/>
              </a:spcBef>
            </a:pPr>
            <a:r>
              <a:rPr sz="550" spc="5" dirty="0">
                <a:solidFill>
                  <a:srgbClr val="231F20"/>
                </a:solidFill>
                <a:latin typeface="Arial"/>
                <a:cs typeface="Arial"/>
              </a:rPr>
              <a:t>Client</a:t>
            </a:r>
            <a:endParaRPr sz="550">
              <a:latin typeface="Arial"/>
              <a:cs typeface="Arial"/>
            </a:endParaRPr>
          </a:p>
        </p:txBody>
      </p:sp>
      <p:sp>
        <p:nvSpPr>
          <p:cNvPr id="12" name="object 12"/>
          <p:cNvSpPr/>
          <p:nvPr/>
        </p:nvSpPr>
        <p:spPr>
          <a:xfrm>
            <a:off x="1409347" y="2717911"/>
            <a:ext cx="406400" cy="268605"/>
          </a:xfrm>
          <a:custGeom>
            <a:avLst/>
            <a:gdLst/>
            <a:ahLst/>
            <a:cxnLst/>
            <a:rect l="l" t="t" r="r" b="b"/>
            <a:pathLst>
              <a:path w="406400" h="268605">
                <a:moveTo>
                  <a:pt x="0" y="268143"/>
                </a:moveTo>
                <a:lnTo>
                  <a:pt x="405789" y="268143"/>
                </a:lnTo>
                <a:lnTo>
                  <a:pt x="405789" y="0"/>
                </a:lnTo>
                <a:lnTo>
                  <a:pt x="0" y="0"/>
                </a:lnTo>
                <a:lnTo>
                  <a:pt x="0" y="268143"/>
                </a:lnTo>
                <a:close/>
              </a:path>
            </a:pathLst>
          </a:custGeom>
          <a:ln w="4508">
            <a:solidFill>
              <a:srgbClr val="231F20"/>
            </a:solidFill>
          </a:ln>
        </p:spPr>
        <p:txBody>
          <a:bodyPr wrap="square" lIns="0" tIns="0" rIns="0" bIns="0" rtlCol="0"/>
          <a:lstStyle/>
          <a:p>
            <a:endParaRPr/>
          </a:p>
        </p:txBody>
      </p:sp>
      <p:sp>
        <p:nvSpPr>
          <p:cNvPr id="13" name="object 13"/>
          <p:cNvSpPr txBox="1"/>
          <p:nvPr/>
        </p:nvSpPr>
        <p:spPr>
          <a:xfrm>
            <a:off x="1409347" y="2447383"/>
            <a:ext cx="406400" cy="180975"/>
          </a:xfrm>
          <a:prstGeom prst="rect">
            <a:avLst/>
          </a:prstGeom>
          <a:ln w="4508">
            <a:solidFill>
              <a:srgbClr val="231F20"/>
            </a:solidFill>
          </a:ln>
        </p:spPr>
        <p:txBody>
          <a:bodyPr vert="horz" wrap="square" lIns="0" tIns="45720" rIns="0" bIns="0" rtlCol="0">
            <a:spAutoFit/>
          </a:bodyPr>
          <a:lstStyle/>
          <a:p>
            <a:pPr marL="95885">
              <a:lnSpc>
                <a:spcPct val="100000"/>
              </a:lnSpc>
              <a:spcBef>
                <a:spcPts val="360"/>
              </a:spcBef>
            </a:pPr>
            <a:r>
              <a:rPr sz="550" spc="5" dirty="0">
                <a:solidFill>
                  <a:srgbClr val="231F20"/>
                </a:solidFill>
                <a:latin typeface="Arial"/>
                <a:cs typeface="Arial"/>
              </a:rPr>
              <a:t>Server</a:t>
            </a:r>
            <a:endParaRPr sz="550">
              <a:latin typeface="Arial"/>
              <a:cs typeface="Arial"/>
            </a:endParaRPr>
          </a:p>
        </p:txBody>
      </p:sp>
      <p:sp>
        <p:nvSpPr>
          <p:cNvPr id="14" name="object 14"/>
          <p:cNvSpPr txBox="1"/>
          <p:nvPr/>
        </p:nvSpPr>
        <p:spPr>
          <a:xfrm>
            <a:off x="1465701" y="2857674"/>
            <a:ext cx="298450" cy="112395"/>
          </a:xfrm>
          <a:prstGeom prst="rect">
            <a:avLst/>
          </a:prstGeom>
        </p:spPr>
        <p:txBody>
          <a:bodyPr vert="horz" wrap="square" lIns="0" tIns="14604" rIns="0" bIns="0" rtlCol="0">
            <a:spAutoFit/>
          </a:bodyPr>
          <a:lstStyle/>
          <a:p>
            <a:pPr marL="12700">
              <a:lnSpc>
                <a:spcPct val="100000"/>
              </a:lnSpc>
              <a:spcBef>
                <a:spcPts val="114"/>
              </a:spcBef>
            </a:pPr>
            <a:r>
              <a:rPr sz="550" spc="10" dirty="0">
                <a:solidFill>
                  <a:srgbClr val="231F20"/>
                </a:solidFill>
                <a:latin typeface="Arial"/>
                <a:cs typeface="Arial"/>
              </a:rPr>
              <a:t>Daemon</a:t>
            </a:r>
            <a:endParaRPr sz="550">
              <a:latin typeface="Arial"/>
              <a:cs typeface="Arial"/>
            </a:endParaRPr>
          </a:p>
        </p:txBody>
      </p:sp>
      <p:grpSp>
        <p:nvGrpSpPr>
          <p:cNvPr id="15" name="object 15"/>
          <p:cNvGrpSpPr/>
          <p:nvPr/>
        </p:nvGrpSpPr>
        <p:grpSpPr>
          <a:xfrm>
            <a:off x="1359500" y="2397532"/>
            <a:ext cx="652780" cy="641350"/>
            <a:chOff x="1359500" y="2397532"/>
            <a:chExt cx="652780" cy="641350"/>
          </a:xfrm>
        </p:grpSpPr>
        <p:sp>
          <p:nvSpPr>
            <p:cNvPr id="16" name="object 16"/>
            <p:cNvSpPr/>
            <p:nvPr/>
          </p:nvSpPr>
          <p:spPr>
            <a:xfrm>
              <a:off x="1364262" y="2402295"/>
              <a:ext cx="496570" cy="631825"/>
            </a:xfrm>
            <a:custGeom>
              <a:avLst/>
              <a:gdLst/>
              <a:ahLst/>
              <a:cxnLst/>
              <a:rect l="l" t="t" r="r" b="b"/>
              <a:pathLst>
                <a:path w="496569" h="631825">
                  <a:moveTo>
                    <a:pt x="0" y="631228"/>
                  </a:moveTo>
                  <a:lnTo>
                    <a:pt x="495966" y="631228"/>
                  </a:lnTo>
                  <a:lnTo>
                    <a:pt x="495966" y="0"/>
                  </a:lnTo>
                  <a:lnTo>
                    <a:pt x="0" y="0"/>
                  </a:lnTo>
                  <a:lnTo>
                    <a:pt x="0" y="631228"/>
                  </a:lnTo>
                  <a:close/>
                </a:path>
              </a:pathLst>
            </a:custGeom>
            <a:ln w="9017">
              <a:solidFill>
                <a:srgbClr val="231F20"/>
              </a:solidFill>
            </a:ln>
          </p:spPr>
          <p:txBody>
            <a:bodyPr wrap="square" lIns="0" tIns="0" rIns="0" bIns="0" rtlCol="0"/>
            <a:lstStyle/>
            <a:p>
              <a:endParaRPr/>
            </a:p>
          </p:txBody>
        </p:sp>
        <p:sp>
          <p:nvSpPr>
            <p:cNvPr id="17" name="object 17"/>
            <p:cNvSpPr/>
            <p:nvPr/>
          </p:nvSpPr>
          <p:spPr>
            <a:xfrm>
              <a:off x="1815139" y="2537557"/>
              <a:ext cx="194310" cy="307340"/>
            </a:xfrm>
            <a:custGeom>
              <a:avLst/>
              <a:gdLst/>
              <a:ahLst/>
              <a:cxnLst/>
              <a:rect l="l" t="t" r="r" b="b"/>
              <a:pathLst>
                <a:path w="194310" h="307339">
                  <a:moveTo>
                    <a:pt x="0" y="0"/>
                  </a:moveTo>
                  <a:lnTo>
                    <a:pt x="194034" y="105029"/>
                  </a:lnTo>
                  <a:lnTo>
                    <a:pt x="181305" y="204212"/>
                  </a:lnTo>
                  <a:lnTo>
                    <a:pt x="84037" y="278032"/>
                  </a:lnTo>
                  <a:lnTo>
                    <a:pt x="24454" y="306975"/>
                  </a:lnTo>
                </a:path>
              </a:pathLst>
            </a:custGeom>
            <a:ln w="4508">
              <a:solidFill>
                <a:srgbClr val="231F20"/>
              </a:solidFill>
            </a:ln>
          </p:spPr>
          <p:txBody>
            <a:bodyPr wrap="square" lIns="0" tIns="0" rIns="0" bIns="0" rtlCol="0"/>
            <a:lstStyle/>
            <a:p>
              <a:endParaRPr/>
            </a:p>
          </p:txBody>
        </p:sp>
        <p:sp>
          <p:nvSpPr>
            <p:cNvPr id="18" name="object 18"/>
            <p:cNvSpPr/>
            <p:nvPr/>
          </p:nvSpPr>
          <p:spPr>
            <a:xfrm>
              <a:off x="1809927" y="2807412"/>
              <a:ext cx="69215" cy="50800"/>
            </a:xfrm>
            <a:custGeom>
              <a:avLst/>
              <a:gdLst/>
              <a:ahLst/>
              <a:cxnLst/>
              <a:rect l="l" t="t" r="r" b="b"/>
              <a:pathLst>
                <a:path w="69214" h="50800">
                  <a:moveTo>
                    <a:pt x="48836" y="0"/>
                  </a:moveTo>
                  <a:lnTo>
                    <a:pt x="0" y="49061"/>
                  </a:lnTo>
                  <a:lnTo>
                    <a:pt x="69205" y="50590"/>
                  </a:lnTo>
                  <a:lnTo>
                    <a:pt x="59374" y="39852"/>
                  </a:lnTo>
                  <a:lnTo>
                    <a:pt x="52700" y="27841"/>
                  </a:lnTo>
                  <a:lnTo>
                    <a:pt x="49187" y="14557"/>
                  </a:lnTo>
                  <a:lnTo>
                    <a:pt x="48836" y="0"/>
                  </a:lnTo>
                  <a:close/>
                </a:path>
              </a:pathLst>
            </a:custGeom>
            <a:solidFill>
              <a:srgbClr val="231F20"/>
            </a:solidFill>
          </p:spPr>
          <p:txBody>
            <a:bodyPr wrap="square" lIns="0" tIns="0" rIns="0" bIns="0" rtlCol="0"/>
            <a:lstStyle/>
            <a:p>
              <a:endParaRPr/>
            </a:p>
          </p:txBody>
        </p:sp>
      </p:grpSp>
      <p:sp>
        <p:nvSpPr>
          <p:cNvPr id="19" name="object 19"/>
          <p:cNvSpPr txBox="1"/>
          <p:nvPr/>
        </p:nvSpPr>
        <p:spPr>
          <a:xfrm>
            <a:off x="1982797" y="2407638"/>
            <a:ext cx="322580" cy="193040"/>
          </a:xfrm>
          <a:prstGeom prst="rect">
            <a:avLst/>
          </a:prstGeom>
        </p:spPr>
        <p:txBody>
          <a:bodyPr vert="horz" wrap="square" lIns="0" tIns="20320" rIns="0" bIns="0" rtlCol="0">
            <a:spAutoFit/>
          </a:bodyPr>
          <a:lstStyle/>
          <a:p>
            <a:pPr marL="12700" marR="5080">
              <a:lnSpc>
                <a:spcPts val="630"/>
              </a:lnSpc>
              <a:spcBef>
                <a:spcPts val="160"/>
              </a:spcBef>
            </a:pPr>
            <a:r>
              <a:rPr sz="550" spc="5" dirty="0">
                <a:solidFill>
                  <a:srgbClr val="231F20"/>
                </a:solidFill>
                <a:latin typeface="Arial"/>
                <a:cs typeface="Arial"/>
              </a:rPr>
              <a:t>Register </a:t>
            </a:r>
            <a:r>
              <a:rPr sz="550" spc="10" dirty="0">
                <a:solidFill>
                  <a:srgbClr val="231F20"/>
                </a:solidFill>
                <a:latin typeface="Arial"/>
                <a:cs typeface="Arial"/>
              </a:rPr>
              <a:t> </a:t>
            </a:r>
            <a:r>
              <a:rPr sz="550" spc="5" dirty="0">
                <a:solidFill>
                  <a:srgbClr val="231F20"/>
                </a:solidFill>
                <a:latin typeface="Arial"/>
                <a:cs typeface="Arial"/>
              </a:rPr>
              <a:t>end point</a:t>
            </a:r>
            <a:endParaRPr sz="550">
              <a:latin typeface="Arial"/>
              <a:cs typeface="Arial"/>
            </a:endParaRPr>
          </a:p>
        </p:txBody>
      </p:sp>
      <p:sp>
        <p:nvSpPr>
          <p:cNvPr id="20" name="object 20"/>
          <p:cNvSpPr txBox="1"/>
          <p:nvPr/>
        </p:nvSpPr>
        <p:spPr>
          <a:xfrm>
            <a:off x="892804" y="2837312"/>
            <a:ext cx="402590" cy="193040"/>
          </a:xfrm>
          <a:prstGeom prst="rect">
            <a:avLst/>
          </a:prstGeom>
        </p:spPr>
        <p:txBody>
          <a:bodyPr vert="horz" wrap="square" lIns="0" tIns="20320" rIns="0" bIns="0" rtlCol="0">
            <a:spAutoFit/>
          </a:bodyPr>
          <a:lstStyle/>
          <a:p>
            <a:pPr marL="92710" marR="5080" indent="-80645">
              <a:lnSpc>
                <a:spcPts val="630"/>
              </a:lnSpc>
              <a:spcBef>
                <a:spcPts val="160"/>
              </a:spcBef>
            </a:pPr>
            <a:r>
              <a:rPr sz="550" spc="5" dirty="0">
                <a:solidFill>
                  <a:srgbClr val="231F20"/>
                </a:solidFill>
                <a:latin typeface="Arial"/>
                <a:cs typeface="Arial"/>
              </a:rPr>
              <a:t>1.</a:t>
            </a:r>
            <a:r>
              <a:rPr sz="550" spc="-30" dirty="0">
                <a:solidFill>
                  <a:srgbClr val="231F20"/>
                </a:solidFill>
                <a:latin typeface="Arial"/>
                <a:cs typeface="Arial"/>
              </a:rPr>
              <a:t> </a:t>
            </a:r>
            <a:r>
              <a:rPr sz="550" spc="10" dirty="0">
                <a:solidFill>
                  <a:srgbClr val="231F20"/>
                </a:solidFill>
                <a:latin typeface="Arial"/>
                <a:cs typeface="Arial"/>
              </a:rPr>
              <a:t>Ask</a:t>
            </a:r>
            <a:r>
              <a:rPr sz="550" spc="5" dirty="0">
                <a:solidFill>
                  <a:srgbClr val="231F20"/>
                </a:solidFill>
                <a:latin typeface="Arial"/>
                <a:cs typeface="Arial"/>
              </a:rPr>
              <a:t> for  end point</a:t>
            </a:r>
            <a:endParaRPr sz="550">
              <a:latin typeface="Arial"/>
              <a:cs typeface="Arial"/>
            </a:endParaRPr>
          </a:p>
        </p:txBody>
      </p:sp>
      <p:grpSp>
        <p:nvGrpSpPr>
          <p:cNvPr id="21" name="object 21"/>
          <p:cNvGrpSpPr/>
          <p:nvPr/>
        </p:nvGrpSpPr>
        <p:grpSpPr>
          <a:xfrm>
            <a:off x="820956" y="2525296"/>
            <a:ext cx="1087120" cy="465455"/>
            <a:chOff x="820956" y="2525296"/>
            <a:chExt cx="1087120" cy="465455"/>
          </a:xfrm>
        </p:grpSpPr>
        <p:sp>
          <p:nvSpPr>
            <p:cNvPr id="22" name="object 22"/>
            <p:cNvSpPr/>
            <p:nvPr/>
          </p:nvSpPr>
          <p:spPr>
            <a:xfrm>
              <a:off x="854365" y="2544745"/>
              <a:ext cx="1051560" cy="443865"/>
            </a:xfrm>
            <a:custGeom>
              <a:avLst/>
              <a:gdLst/>
              <a:ahLst/>
              <a:cxnLst/>
              <a:rect l="l" t="t" r="r" b="b"/>
              <a:pathLst>
                <a:path w="1051560" h="443864">
                  <a:moveTo>
                    <a:pt x="915689" y="308427"/>
                  </a:moveTo>
                  <a:lnTo>
                    <a:pt x="1050953" y="443689"/>
                  </a:lnTo>
                </a:path>
                <a:path w="1051560" h="443864">
                  <a:moveTo>
                    <a:pt x="0" y="120888"/>
                  </a:moveTo>
                  <a:lnTo>
                    <a:pt x="523828" y="0"/>
                  </a:lnTo>
                </a:path>
              </a:pathLst>
            </a:custGeom>
            <a:ln w="4508">
              <a:solidFill>
                <a:srgbClr val="231F20"/>
              </a:solidFill>
            </a:ln>
          </p:spPr>
          <p:txBody>
            <a:bodyPr wrap="square" lIns="0" tIns="0" rIns="0" bIns="0" rtlCol="0"/>
            <a:lstStyle/>
            <a:p>
              <a:endParaRPr/>
            </a:p>
          </p:txBody>
        </p:sp>
        <p:sp>
          <p:nvSpPr>
            <p:cNvPr id="23" name="object 23"/>
            <p:cNvSpPr/>
            <p:nvPr/>
          </p:nvSpPr>
          <p:spPr>
            <a:xfrm>
              <a:off x="823201" y="2525306"/>
              <a:ext cx="586740" cy="160020"/>
            </a:xfrm>
            <a:custGeom>
              <a:avLst/>
              <a:gdLst/>
              <a:ahLst/>
              <a:cxnLst/>
              <a:rect l="l" t="t" r="r" b="b"/>
              <a:pathLst>
                <a:path w="586740" h="160019">
                  <a:moveTo>
                    <a:pt x="68122" y="159791"/>
                  </a:moveTo>
                  <a:lnTo>
                    <a:pt x="60083" y="147650"/>
                  </a:lnTo>
                  <a:lnTo>
                    <a:pt x="55359" y="134747"/>
                  </a:lnTo>
                  <a:lnTo>
                    <a:pt x="53949" y="121081"/>
                  </a:lnTo>
                  <a:lnTo>
                    <a:pt x="55867" y="106641"/>
                  </a:lnTo>
                  <a:lnTo>
                    <a:pt x="0" y="147523"/>
                  </a:lnTo>
                  <a:lnTo>
                    <a:pt x="68122" y="159791"/>
                  </a:lnTo>
                  <a:close/>
                </a:path>
                <a:path w="586740" h="160019">
                  <a:moveTo>
                    <a:pt x="586143" y="12255"/>
                  </a:moveTo>
                  <a:lnTo>
                    <a:pt x="518020" y="0"/>
                  </a:lnTo>
                  <a:lnTo>
                    <a:pt x="526072" y="12128"/>
                  </a:lnTo>
                  <a:lnTo>
                    <a:pt x="530796" y="25031"/>
                  </a:lnTo>
                  <a:lnTo>
                    <a:pt x="532193" y="38696"/>
                  </a:lnTo>
                  <a:lnTo>
                    <a:pt x="530275" y="53136"/>
                  </a:lnTo>
                  <a:lnTo>
                    <a:pt x="586143" y="12255"/>
                  </a:lnTo>
                  <a:close/>
                </a:path>
              </a:pathLst>
            </a:custGeom>
            <a:solidFill>
              <a:srgbClr val="231F20"/>
            </a:solidFill>
          </p:spPr>
          <p:txBody>
            <a:bodyPr wrap="square" lIns="0" tIns="0" rIns="0" bIns="0" rtlCol="0"/>
            <a:lstStyle/>
            <a:p>
              <a:endParaRPr/>
            </a:p>
          </p:txBody>
        </p:sp>
        <p:sp>
          <p:nvSpPr>
            <p:cNvPr id="24" name="object 24"/>
            <p:cNvSpPr/>
            <p:nvPr/>
          </p:nvSpPr>
          <p:spPr>
            <a:xfrm>
              <a:off x="823211" y="2762996"/>
              <a:ext cx="554990" cy="85725"/>
            </a:xfrm>
            <a:custGeom>
              <a:avLst/>
              <a:gdLst/>
              <a:ahLst/>
              <a:cxnLst/>
              <a:rect l="l" t="t" r="r" b="b"/>
              <a:pathLst>
                <a:path w="554990" h="85725">
                  <a:moveTo>
                    <a:pt x="0" y="0"/>
                  </a:moveTo>
                  <a:lnTo>
                    <a:pt x="554541" y="85317"/>
                  </a:lnTo>
                </a:path>
              </a:pathLst>
            </a:custGeom>
            <a:ln w="4508">
              <a:solidFill>
                <a:srgbClr val="231F20"/>
              </a:solidFill>
            </a:ln>
          </p:spPr>
          <p:txBody>
            <a:bodyPr wrap="square" lIns="0" tIns="0" rIns="0" bIns="0" rtlCol="0"/>
            <a:lstStyle/>
            <a:p>
              <a:endParaRPr/>
            </a:p>
          </p:txBody>
        </p:sp>
        <p:sp>
          <p:nvSpPr>
            <p:cNvPr id="25" name="object 25"/>
            <p:cNvSpPr/>
            <p:nvPr/>
          </p:nvSpPr>
          <p:spPr>
            <a:xfrm>
              <a:off x="1342315" y="2816548"/>
              <a:ext cx="67310" cy="53975"/>
            </a:xfrm>
            <a:custGeom>
              <a:avLst/>
              <a:gdLst/>
              <a:ahLst/>
              <a:cxnLst/>
              <a:rect l="l" t="t" r="r" b="b"/>
              <a:pathLst>
                <a:path w="67309" h="53975">
                  <a:moveTo>
                    <a:pt x="8295" y="0"/>
                  </a:moveTo>
                  <a:lnTo>
                    <a:pt x="11277" y="14251"/>
                  </a:lnTo>
                  <a:lnTo>
                    <a:pt x="10890" y="27986"/>
                  </a:lnTo>
                  <a:lnTo>
                    <a:pt x="7131" y="41202"/>
                  </a:lnTo>
                  <a:lnTo>
                    <a:pt x="0" y="53900"/>
                  </a:lnTo>
                  <a:lnTo>
                    <a:pt x="67032" y="36624"/>
                  </a:lnTo>
                  <a:lnTo>
                    <a:pt x="8295" y="0"/>
                  </a:lnTo>
                  <a:close/>
                </a:path>
              </a:pathLst>
            </a:custGeom>
            <a:solidFill>
              <a:srgbClr val="231F20"/>
            </a:solidFill>
          </p:spPr>
          <p:txBody>
            <a:bodyPr wrap="square" lIns="0" tIns="0" rIns="0" bIns="0" rtlCol="0"/>
            <a:lstStyle/>
            <a:p>
              <a:endParaRPr/>
            </a:p>
          </p:txBody>
        </p:sp>
      </p:grpSp>
      <p:sp>
        <p:nvSpPr>
          <p:cNvPr id="26" name="object 26"/>
          <p:cNvSpPr txBox="1"/>
          <p:nvPr/>
        </p:nvSpPr>
        <p:spPr>
          <a:xfrm>
            <a:off x="2473581" y="2371298"/>
            <a:ext cx="911860" cy="193040"/>
          </a:xfrm>
          <a:prstGeom prst="rect">
            <a:avLst/>
          </a:prstGeom>
        </p:spPr>
        <p:txBody>
          <a:bodyPr vert="horz" wrap="square" lIns="0" tIns="20320" rIns="0" bIns="0" rtlCol="0">
            <a:spAutoFit/>
          </a:bodyPr>
          <a:lstStyle/>
          <a:p>
            <a:pPr marL="12700" marR="5080" indent="516890">
              <a:lnSpc>
                <a:spcPts val="630"/>
              </a:lnSpc>
              <a:spcBef>
                <a:spcPts val="160"/>
              </a:spcBef>
            </a:pPr>
            <a:r>
              <a:rPr sz="550" spc="5" dirty="0">
                <a:solidFill>
                  <a:srgbClr val="231F20"/>
                </a:solidFill>
                <a:latin typeface="Arial"/>
                <a:cs typeface="Arial"/>
              </a:rPr>
              <a:t>2. Continue  Client</a:t>
            </a:r>
            <a:r>
              <a:rPr sz="550" spc="50" dirty="0">
                <a:solidFill>
                  <a:srgbClr val="231F20"/>
                </a:solidFill>
                <a:latin typeface="Arial"/>
                <a:cs typeface="Arial"/>
              </a:rPr>
              <a:t> </a:t>
            </a:r>
            <a:r>
              <a:rPr sz="550" spc="5" dirty="0">
                <a:solidFill>
                  <a:srgbClr val="231F20"/>
                </a:solidFill>
                <a:latin typeface="Arial"/>
                <a:cs typeface="Arial"/>
              </a:rPr>
              <a:t>machine    </a:t>
            </a:r>
            <a:r>
              <a:rPr sz="550" spc="160" dirty="0">
                <a:solidFill>
                  <a:srgbClr val="231F20"/>
                </a:solidFill>
                <a:latin typeface="Arial"/>
                <a:cs typeface="Arial"/>
              </a:rPr>
              <a:t> </a:t>
            </a:r>
            <a:r>
              <a:rPr sz="550" spc="5" dirty="0">
                <a:solidFill>
                  <a:srgbClr val="231F20"/>
                </a:solidFill>
                <a:latin typeface="Arial"/>
                <a:cs typeface="Arial"/>
              </a:rPr>
              <a:t>service</a:t>
            </a:r>
            <a:endParaRPr sz="550">
              <a:latin typeface="Arial"/>
              <a:cs typeface="Arial"/>
            </a:endParaRPr>
          </a:p>
        </p:txBody>
      </p:sp>
      <p:sp>
        <p:nvSpPr>
          <p:cNvPr id="27" name="object 27"/>
          <p:cNvSpPr txBox="1"/>
          <p:nvPr/>
        </p:nvSpPr>
        <p:spPr>
          <a:xfrm>
            <a:off x="3437480" y="2271495"/>
            <a:ext cx="530860" cy="112395"/>
          </a:xfrm>
          <a:prstGeom prst="rect">
            <a:avLst/>
          </a:prstGeom>
        </p:spPr>
        <p:txBody>
          <a:bodyPr vert="horz" wrap="square" lIns="0" tIns="14604" rIns="0" bIns="0" rtlCol="0">
            <a:spAutoFit/>
          </a:bodyPr>
          <a:lstStyle/>
          <a:p>
            <a:pPr marL="12700">
              <a:lnSpc>
                <a:spcPct val="100000"/>
              </a:lnSpc>
              <a:spcBef>
                <a:spcPts val="114"/>
              </a:spcBef>
            </a:pPr>
            <a:r>
              <a:rPr sz="550" spc="5" dirty="0">
                <a:solidFill>
                  <a:srgbClr val="231F20"/>
                </a:solidFill>
                <a:latin typeface="Arial"/>
                <a:cs typeface="Arial"/>
              </a:rPr>
              <a:t>Server</a:t>
            </a:r>
            <a:r>
              <a:rPr sz="550" spc="-25" dirty="0">
                <a:solidFill>
                  <a:srgbClr val="231F20"/>
                </a:solidFill>
                <a:latin typeface="Arial"/>
                <a:cs typeface="Arial"/>
              </a:rPr>
              <a:t> </a:t>
            </a:r>
            <a:r>
              <a:rPr sz="550" spc="5" dirty="0">
                <a:solidFill>
                  <a:srgbClr val="231F20"/>
                </a:solidFill>
                <a:latin typeface="Arial"/>
                <a:cs typeface="Arial"/>
              </a:rPr>
              <a:t>machine</a:t>
            </a:r>
            <a:endParaRPr sz="550">
              <a:latin typeface="Arial"/>
              <a:cs typeface="Arial"/>
            </a:endParaRPr>
          </a:p>
        </p:txBody>
      </p:sp>
      <p:sp>
        <p:nvSpPr>
          <p:cNvPr id="28" name="object 28"/>
          <p:cNvSpPr/>
          <p:nvPr/>
        </p:nvSpPr>
        <p:spPr>
          <a:xfrm>
            <a:off x="2464450" y="2582645"/>
            <a:ext cx="496570" cy="271145"/>
          </a:xfrm>
          <a:custGeom>
            <a:avLst/>
            <a:gdLst/>
            <a:ahLst/>
            <a:cxnLst/>
            <a:rect l="l" t="t" r="r" b="b"/>
            <a:pathLst>
              <a:path w="496569" h="271144">
                <a:moveTo>
                  <a:pt x="0" y="270528"/>
                </a:moveTo>
                <a:lnTo>
                  <a:pt x="495966" y="270528"/>
                </a:lnTo>
                <a:lnTo>
                  <a:pt x="495966" y="0"/>
                </a:lnTo>
                <a:lnTo>
                  <a:pt x="0" y="0"/>
                </a:lnTo>
                <a:lnTo>
                  <a:pt x="0" y="270528"/>
                </a:lnTo>
                <a:close/>
              </a:path>
            </a:pathLst>
          </a:custGeom>
          <a:ln w="9017">
            <a:solidFill>
              <a:srgbClr val="231F20"/>
            </a:solidFill>
          </a:ln>
        </p:spPr>
        <p:txBody>
          <a:bodyPr wrap="square" lIns="0" tIns="0" rIns="0" bIns="0" rtlCol="0"/>
          <a:lstStyle/>
          <a:p>
            <a:endParaRPr/>
          </a:p>
        </p:txBody>
      </p:sp>
      <p:sp>
        <p:nvSpPr>
          <p:cNvPr id="29" name="object 29"/>
          <p:cNvSpPr txBox="1"/>
          <p:nvPr/>
        </p:nvSpPr>
        <p:spPr>
          <a:xfrm>
            <a:off x="2509538" y="2627733"/>
            <a:ext cx="406400" cy="180975"/>
          </a:xfrm>
          <a:prstGeom prst="rect">
            <a:avLst/>
          </a:prstGeom>
          <a:ln w="4508">
            <a:solidFill>
              <a:srgbClr val="231F20"/>
            </a:solidFill>
          </a:ln>
        </p:spPr>
        <p:txBody>
          <a:bodyPr vert="horz" wrap="square" lIns="0" tIns="45720" rIns="0" bIns="0" rtlCol="0">
            <a:spAutoFit/>
          </a:bodyPr>
          <a:lstStyle/>
          <a:p>
            <a:pPr marL="108585">
              <a:lnSpc>
                <a:spcPct val="100000"/>
              </a:lnSpc>
              <a:spcBef>
                <a:spcPts val="360"/>
              </a:spcBef>
            </a:pPr>
            <a:r>
              <a:rPr sz="550" spc="5" dirty="0">
                <a:solidFill>
                  <a:srgbClr val="231F20"/>
                </a:solidFill>
                <a:latin typeface="Arial"/>
                <a:cs typeface="Arial"/>
              </a:rPr>
              <a:t>Client</a:t>
            </a:r>
            <a:endParaRPr sz="550">
              <a:latin typeface="Arial"/>
              <a:cs typeface="Arial"/>
            </a:endParaRPr>
          </a:p>
        </p:txBody>
      </p:sp>
      <p:sp>
        <p:nvSpPr>
          <p:cNvPr id="30" name="object 30"/>
          <p:cNvSpPr txBox="1"/>
          <p:nvPr/>
        </p:nvSpPr>
        <p:spPr>
          <a:xfrm>
            <a:off x="3501470" y="2447383"/>
            <a:ext cx="406400" cy="180975"/>
          </a:xfrm>
          <a:prstGeom prst="rect">
            <a:avLst/>
          </a:prstGeom>
          <a:ln w="4508">
            <a:solidFill>
              <a:srgbClr val="231F20"/>
            </a:solidFill>
          </a:ln>
        </p:spPr>
        <p:txBody>
          <a:bodyPr vert="horz" wrap="square" lIns="0" tIns="11430" rIns="0" bIns="0" rtlCol="0">
            <a:spAutoFit/>
          </a:bodyPr>
          <a:lstStyle/>
          <a:p>
            <a:pPr marL="102870" marR="68580" indent="-26670">
              <a:lnSpc>
                <a:spcPts val="630"/>
              </a:lnSpc>
              <a:spcBef>
                <a:spcPts val="90"/>
              </a:spcBef>
            </a:pPr>
            <a:r>
              <a:rPr sz="550" spc="5" dirty="0">
                <a:solidFill>
                  <a:srgbClr val="231F20"/>
                </a:solidFill>
                <a:latin typeface="Arial"/>
                <a:cs typeface="Arial"/>
              </a:rPr>
              <a:t>Specific  server</a:t>
            </a:r>
            <a:endParaRPr sz="550">
              <a:latin typeface="Arial"/>
              <a:cs typeface="Arial"/>
            </a:endParaRPr>
          </a:p>
        </p:txBody>
      </p:sp>
      <p:sp>
        <p:nvSpPr>
          <p:cNvPr id="31" name="object 31"/>
          <p:cNvSpPr txBox="1"/>
          <p:nvPr/>
        </p:nvSpPr>
        <p:spPr>
          <a:xfrm>
            <a:off x="3501470" y="2717911"/>
            <a:ext cx="406400" cy="268605"/>
          </a:xfrm>
          <a:prstGeom prst="rect">
            <a:avLst/>
          </a:prstGeom>
          <a:ln w="4508">
            <a:solidFill>
              <a:srgbClr val="231F20"/>
            </a:solidFill>
          </a:ln>
        </p:spPr>
        <p:txBody>
          <a:bodyPr vert="horz" wrap="square" lIns="0" tIns="55244" rIns="0" bIns="0" rtlCol="0">
            <a:spAutoFit/>
          </a:bodyPr>
          <a:lstStyle/>
          <a:p>
            <a:pPr marL="103505" marR="85725" indent="-8255">
              <a:lnSpc>
                <a:spcPts val="630"/>
              </a:lnSpc>
              <a:spcBef>
                <a:spcPts val="434"/>
              </a:spcBef>
            </a:pPr>
            <a:r>
              <a:rPr sz="550" spc="5" dirty="0">
                <a:solidFill>
                  <a:srgbClr val="231F20"/>
                </a:solidFill>
                <a:latin typeface="Arial"/>
                <a:cs typeface="Arial"/>
              </a:rPr>
              <a:t>Super-  server</a:t>
            </a:r>
            <a:endParaRPr sz="550">
              <a:latin typeface="Arial"/>
              <a:cs typeface="Arial"/>
            </a:endParaRPr>
          </a:p>
        </p:txBody>
      </p:sp>
      <p:grpSp>
        <p:nvGrpSpPr>
          <p:cNvPr id="32" name="object 32"/>
          <p:cNvGrpSpPr/>
          <p:nvPr/>
        </p:nvGrpSpPr>
        <p:grpSpPr>
          <a:xfrm>
            <a:off x="3451622" y="2397532"/>
            <a:ext cx="667385" cy="641350"/>
            <a:chOff x="3451622" y="2397532"/>
            <a:chExt cx="667385" cy="641350"/>
          </a:xfrm>
        </p:grpSpPr>
        <p:sp>
          <p:nvSpPr>
            <p:cNvPr id="33" name="object 33"/>
            <p:cNvSpPr/>
            <p:nvPr/>
          </p:nvSpPr>
          <p:spPr>
            <a:xfrm>
              <a:off x="3456385" y="2402295"/>
              <a:ext cx="496570" cy="631825"/>
            </a:xfrm>
            <a:custGeom>
              <a:avLst/>
              <a:gdLst/>
              <a:ahLst/>
              <a:cxnLst/>
              <a:rect l="l" t="t" r="r" b="b"/>
              <a:pathLst>
                <a:path w="496570" h="631825">
                  <a:moveTo>
                    <a:pt x="0" y="631228"/>
                  </a:moveTo>
                  <a:lnTo>
                    <a:pt x="495966" y="631228"/>
                  </a:lnTo>
                  <a:lnTo>
                    <a:pt x="495966" y="0"/>
                  </a:lnTo>
                  <a:lnTo>
                    <a:pt x="0" y="0"/>
                  </a:lnTo>
                  <a:lnTo>
                    <a:pt x="0" y="631228"/>
                  </a:lnTo>
                  <a:close/>
                </a:path>
              </a:pathLst>
            </a:custGeom>
            <a:ln w="9017">
              <a:solidFill>
                <a:srgbClr val="231F20"/>
              </a:solidFill>
            </a:ln>
          </p:spPr>
          <p:txBody>
            <a:bodyPr wrap="square" lIns="0" tIns="0" rIns="0" bIns="0" rtlCol="0"/>
            <a:lstStyle/>
            <a:p>
              <a:endParaRPr/>
            </a:p>
          </p:txBody>
        </p:sp>
        <p:sp>
          <p:nvSpPr>
            <p:cNvPr id="34" name="object 34"/>
            <p:cNvSpPr/>
            <p:nvPr/>
          </p:nvSpPr>
          <p:spPr>
            <a:xfrm>
              <a:off x="3907262" y="2544387"/>
              <a:ext cx="208915" cy="309245"/>
            </a:xfrm>
            <a:custGeom>
              <a:avLst/>
              <a:gdLst/>
              <a:ahLst/>
              <a:cxnLst/>
              <a:rect l="l" t="t" r="r" b="b"/>
              <a:pathLst>
                <a:path w="208914" h="309244">
                  <a:moveTo>
                    <a:pt x="21893" y="0"/>
                  </a:moveTo>
                  <a:lnTo>
                    <a:pt x="208686" y="105313"/>
                  </a:lnTo>
                  <a:lnTo>
                    <a:pt x="180025" y="205117"/>
                  </a:lnTo>
                  <a:lnTo>
                    <a:pt x="66825" y="279560"/>
                  </a:lnTo>
                  <a:lnTo>
                    <a:pt x="0" y="308786"/>
                  </a:lnTo>
                </a:path>
              </a:pathLst>
            </a:custGeom>
            <a:ln w="4508">
              <a:solidFill>
                <a:srgbClr val="231F20"/>
              </a:solidFill>
            </a:ln>
          </p:spPr>
          <p:txBody>
            <a:bodyPr wrap="square" lIns="0" tIns="0" rIns="0" bIns="0" rtlCol="0"/>
            <a:lstStyle/>
            <a:p>
              <a:endParaRPr/>
            </a:p>
          </p:txBody>
        </p:sp>
        <p:sp>
          <p:nvSpPr>
            <p:cNvPr id="35" name="object 35"/>
            <p:cNvSpPr/>
            <p:nvPr/>
          </p:nvSpPr>
          <p:spPr>
            <a:xfrm>
              <a:off x="3898533" y="2527367"/>
              <a:ext cx="69215" cy="52705"/>
            </a:xfrm>
            <a:custGeom>
              <a:avLst/>
              <a:gdLst/>
              <a:ahLst/>
              <a:cxnLst/>
              <a:rect l="l" t="t" r="r" b="b"/>
              <a:pathLst>
                <a:path w="69214" h="52705">
                  <a:moveTo>
                    <a:pt x="68772" y="0"/>
                  </a:moveTo>
                  <a:lnTo>
                    <a:pt x="0" y="7833"/>
                  </a:lnTo>
                  <a:lnTo>
                    <a:pt x="53101" y="52235"/>
                  </a:lnTo>
                  <a:lnTo>
                    <a:pt x="52122" y="37707"/>
                  </a:lnTo>
                  <a:lnTo>
                    <a:pt x="54407" y="24158"/>
                  </a:lnTo>
                  <a:lnTo>
                    <a:pt x="59957" y="11589"/>
                  </a:lnTo>
                  <a:lnTo>
                    <a:pt x="68772" y="0"/>
                  </a:lnTo>
                  <a:close/>
                </a:path>
              </a:pathLst>
            </a:custGeom>
            <a:solidFill>
              <a:srgbClr val="231F20"/>
            </a:solidFill>
          </p:spPr>
          <p:txBody>
            <a:bodyPr wrap="square" lIns="0" tIns="0" rIns="0" bIns="0" rtlCol="0"/>
            <a:lstStyle/>
            <a:p>
              <a:endParaRPr/>
            </a:p>
          </p:txBody>
        </p:sp>
      </p:grpSp>
      <p:sp>
        <p:nvSpPr>
          <p:cNvPr id="36" name="object 36"/>
          <p:cNvSpPr txBox="1"/>
          <p:nvPr/>
        </p:nvSpPr>
        <p:spPr>
          <a:xfrm>
            <a:off x="4074911" y="2775767"/>
            <a:ext cx="462915" cy="273685"/>
          </a:xfrm>
          <a:prstGeom prst="rect">
            <a:avLst/>
          </a:prstGeom>
        </p:spPr>
        <p:txBody>
          <a:bodyPr vert="horz" wrap="square" lIns="0" tIns="20320" rIns="0" bIns="0" rtlCol="0">
            <a:spAutoFit/>
          </a:bodyPr>
          <a:lstStyle/>
          <a:p>
            <a:pPr marL="12700" marR="5080">
              <a:lnSpc>
                <a:spcPts val="630"/>
              </a:lnSpc>
              <a:spcBef>
                <a:spcPts val="160"/>
              </a:spcBef>
            </a:pPr>
            <a:r>
              <a:rPr sz="550" spc="5" dirty="0">
                <a:solidFill>
                  <a:srgbClr val="231F20"/>
                </a:solidFill>
                <a:latin typeface="Arial"/>
                <a:cs typeface="Arial"/>
              </a:rPr>
              <a:t>Create server  and hand </a:t>
            </a:r>
            <a:r>
              <a:rPr sz="550" dirty="0">
                <a:solidFill>
                  <a:srgbClr val="231F20"/>
                </a:solidFill>
                <a:latin typeface="Arial"/>
                <a:cs typeface="Arial"/>
              </a:rPr>
              <a:t>off </a:t>
            </a:r>
            <a:r>
              <a:rPr sz="550" spc="5" dirty="0">
                <a:solidFill>
                  <a:srgbClr val="231F20"/>
                </a:solidFill>
                <a:latin typeface="Arial"/>
                <a:cs typeface="Arial"/>
              </a:rPr>
              <a:t> request</a:t>
            </a:r>
            <a:endParaRPr sz="550">
              <a:latin typeface="Arial"/>
              <a:cs typeface="Arial"/>
            </a:endParaRPr>
          </a:p>
        </p:txBody>
      </p:sp>
      <p:sp>
        <p:nvSpPr>
          <p:cNvPr id="37" name="object 37"/>
          <p:cNvSpPr txBox="1"/>
          <p:nvPr/>
        </p:nvSpPr>
        <p:spPr>
          <a:xfrm>
            <a:off x="2984927" y="2837308"/>
            <a:ext cx="374650" cy="193040"/>
          </a:xfrm>
          <a:prstGeom prst="rect">
            <a:avLst/>
          </a:prstGeom>
        </p:spPr>
        <p:txBody>
          <a:bodyPr vert="horz" wrap="square" lIns="0" tIns="20320" rIns="0" bIns="0" rtlCol="0">
            <a:spAutoFit/>
          </a:bodyPr>
          <a:lstStyle/>
          <a:p>
            <a:pPr marL="92710" marR="5080" indent="-80645">
              <a:lnSpc>
                <a:spcPts val="630"/>
              </a:lnSpc>
              <a:spcBef>
                <a:spcPts val="160"/>
              </a:spcBef>
            </a:pPr>
            <a:r>
              <a:rPr sz="550" spc="5" dirty="0">
                <a:solidFill>
                  <a:srgbClr val="231F20"/>
                </a:solidFill>
                <a:latin typeface="Arial"/>
                <a:cs typeface="Arial"/>
              </a:rPr>
              <a:t>1. Request  service</a:t>
            </a:r>
            <a:endParaRPr sz="550">
              <a:latin typeface="Arial"/>
              <a:cs typeface="Arial"/>
            </a:endParaRPr>
          </a:p>
        </p:txBody>
      </p:sp>
      <p:grpSp>
        <p:nvGrpSpPr>
          <p:cNvPr id="38" name="object 38"/>
          <p:cNvGrpSpPr/>
          <p:nvPr/>
        </p:nvGrpSpPr>
        <p:grpSpPr>
          <a:xfrm>
            <a:off x="2913073" y="2525296"/>
            <a:ext cx="588645" cy="345440"/>
            <a:chOff x="2913073" y="2525296"/>
            <a:chExt cx="588645" cy="345440"/>
          </a:xfrm>
        </p:grpSpPr>
        <p:sp>
          <p:nvSpPr>
            <p:cNvPr id="39" name="object 39"/>
            <p:cNvSpPr/>
            <p:nvPr/>
          </p:nvSpPr>
          <p:spPr>
            <a:xfrm>
              <a:off x="2946486" y="2544745"/>
              <a:ext cx="523875" cy="121285"/>
            </a:xfrm>
            <a:custGeom>
              <a:avLst/>
              <a:gdLst/>
              <a:ahLst/>
              <a:cxnLst/>
              <a:rect l="l" t="t" r="r" b="b"/>
              <a:pathLst>
                <a:path w="523875" h="121285">
                  <a:moveTo>
                    <a:pt x="0" y="120888"/>
                  </a:moveTo>
                  <a:lnTo>
                    <a:pt x="523830" y="0"/>
                  </a:lnTo>
                </a:path>
              </a:pathLst>
            </a:custGeom>
            <a:ln w="4508">
              <a:solidFill>
                <a:srgbClr val="231F20"/>
              </a:solidFill>
            </a:ln>
          </p:spPr>
          <p:txBody>
            <a:bodyPr wrap="square" lIns="0" tIns="0" rIns="0" bIns="0" rtlCol="0"/>
            <a:lstStyle/>
            <a:p>
              <a:endParaRPr/>
            </a:p>
          </p:txBody>
        </p:sp>
        <p:sp>
          <p:nvSpPr>
            <p:cNvPr id="40" name="object 40"/>
            <p:cNvSpPr/>
            <p:nvPr/>
          </p:nvSpPr>
          <p:spPr>
            <a:xfrm>
              <a:off x="2915323" y="2525306"/>
              <a:ext cx="586740" cy="160020"/>
            </a:xfrm>
            <a:custGeom>
              <a:avLst/>
              <a:gdLst/>
              <a:ahLst/>
              <a:cxnLst/>
              <a:rect l="l" t="t" r="r" b="b"/>
              <a:pathLst>
                <a:path w="586739" h="160019">
                  <a:moveTo>
                    <a:pt x="68122" y="159791"/>
                  </a:moveTo>
                  <a:lnTo>
                    <a:pt x="60083" y="147650"/>
                  </a:lnTo>
                  <a:lnTo>
                    <a:pt x="55359" y="134747"/>
                  </a:lnTo>
                  <a:lnTo>
                    <a:pt x="53949" y="121081"/>
                  </a:lnTo>
                  <a:lnTo>
                    <a:pt x="55867" y="106641"/>
                  </a:lnTo>
                  <a:lnTo>
                    <a:pt x="0" y="147523"/>
                  </a:lnTo>
                  <a:lnTo>
                    <a:pt x="68122" y="159791"/>
                  </a:lnTo>
                  <a:close/>
                </a:path>
                <a:path w="586739" h="160019">
                  <a:moveTo>
                    <a:pt x="586143" y="12255"/>
                  </a:moveTo>
                  <a:lnTo>
                    <a:pt x="518020" y="0"/>
                  </a:lnTo>
                  <a:lnTo>
                    <a:pt x="526059" y="12128"/>
                  </a:lnTo>
                  <a:lnTo>
                    <a:pt x="530783" y="25031"/>
                  </a:lnTo>
                  <a:lnTo>
                    <a:pt x="532193" y="38696"/>
                  </a:lnTo>
                  <a:lnTo>
                    <a:pt x="530275" y="53136"/>
                  </a:lnTo>
                  <a:lnTo>
                    <a:pt x="586143" y="12255"/>
                  </a:lnTo>
                  <a:close/>
                </a:path>
              </a:pathLst>
            </a:custGeom>
            <a:solidFill>
              <a:srgbClr val="231F20"/>
            </a:solidFill>
          </p:spPr>
          <p:txBody>
            <a:bodyPr wrap="square" lIns="0" tIns="0" rIns="0" bIns="0" rtlCol="0"/>
            <a:lstStyle/>
            <a:p>
              <a:endParaRPr/>
            </a:p>
          </p:txBody>
        </p:sp>
        <p:sp>
          <p:nvSpPr>
            <p:cNvPr id="41" name="object 41"/>
            <p:cNvSpPr/>
            <p:nvPr/>
          </p:nvSpPr>
          <p:spPr>
            <a:xfrm>
              <a:off x="2915328" y="2762996"/>
              <a:ext cx="554990" cy="85725"/>
            </a:xfrm>
            <a:custGeom>
              <a:avLst/>
              <a:gdLst/>
              <a:ahLst/>
              <a:cxnLst/>
              <a:rect l="l" t="t" r="r" b="b"/>
              <a:pathLst>
                <a:path w="554989" h="85725">
                  <a:moveTo>
                    <a:pt x="0" y="0"/>
                  </a:moveTo>
                  <a:lnTo>
                    <a:pt x="554546" y="85317"/>
                  </a:lnTo>
                </a:path>
              </a:pathLst>
            </a:custGeom>
            <a:ln w="4508">
              <a:solidFill>
                <a:srgbClr val="231F20"/>
              </a:solidFill>
            </a:ln>
          </p:spPr>
          <p:txBody>
            <a:bodyPr wrap="square" lIns="0" tIns="0" rIns="0" bIns="0" rtlCol="0"/>
            <a:lstStyle/>
            <a:p>
              <a:endParaRPr/>
            </a:p>
          </p:txBody>
        </p:sp>
        <p:sp>
          <p:nvSpPr>
            <p:cNvPr id="42" name="object 42"/>
            <p:cNvSpPr/>
            <p:nvPr/>
          </p:nvSpPr>
          <p:spPr>
            <a:xfrm>
              <a:off x="3434437" y="2816548"/>
              <a:ext cx="67310" cy="53975"/>
            </a:xfrm>
            <a:custGeom>
              <a:avLst/>
              <a:gdLst/>
              <a:ahLst/>
              <a:cxnLst/>
              <a:rect l="l" t="t" r="r" b="b"/>
              <a:pathLst>
                <a:path w="67310" h="53975">
                  <a:moveTo>
                    <a:pt x="8295" y="0"/>
                  </a:moveTo>
                  <a:lnTo>
                    <a:pt x="11276" y="14251"/>
                  </a:lnTo>
                  <a:lnTo>
                    <a:pt x="10886" y="27986"/>
                  </a:lnTo>
                  <a:lnTo>
                    <a:pt x="7127" y="41202"/>
                  </a:lnTo>
                  <a:lnTo>
                    <a:pt x="0" y="53900"/>
                  </a:lnTo>
                  <a:lnTo>
                    <a:pt x="67032" y="36624"/>
                  </a:lnTo>
                  <a:lnTo>
                    <a:pt x="8295" y="0"/>
                  </a:lnTo>
                  <a:close/>
                </a:path>
              </a:pathLst>
            </a:custGeom>
            <a:solidFill>
              <a:srgbClr val="231F20"/>
            </a:solidFill>
          </p:spPr>
          <p:txBody>
            <a:bodyPr wrap="square" lIns="0" tIns="0" rIns="0" bIns="0" rtlCol="0"/>
            <a:lstStyle/>
            <a:p>
              <a:endParaRPr/>
            </a:p>
          </p:txBody>
        </p:sp>
      </p:grpSp>
      <p:sp>
        <p:nvSpPr>
          <p:cNvPr id="43" name="object 43"/>
          <p:cNvSpPr txBox="1"/>
          <p:nvPr/>
        </p:nvSpPr>
        <p:spPr>
          <a:xfrm>
            <a:off x="66713" y="3327684"/>
            <a:ext cx="1083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6" action="ppaction://hlinksldjump"/>
              </a:rPr>
              <a:t>Contacting</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a</a:t>
            </a:r>
            <a:r>
              <a:rPr sz="600" spc="-10" dirty="0">
                <a:solidFill>
                  <a:srgbClr val="3333B2"/>
                </a:solidFill>
                <a:latin typeface="Arial"/>
                <a:cs typeface="Arial"/>
                <a:hlinkClick r:id="rId6" action="ppaction://hlinksldjump"/>
              </a:rPr>
              <a:t> </a:t>
            </a:r>
            <a:r>
              <a:rPr sz="600" dirty="0">
                <a:solidFill>
                  <a:srgbClr val="3333B2"/>
                </a:solidFill>
                <a:latin typeface="Arial"/>
                <a:cs typeface="Arial"/>
                <a:hlinkClick r:id="rId6" action="ppaction://hlinksldjump"/>
              </a:rPr>
              <a:t>server:</a:t>
            </a:r>
            <a:r>
              <a:rPr sz="600" spc="35"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end</a:t>
            </a:r>
            <a:r>
              <a:rPr sz="600" spc="-1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points</a:t>
            </a:r>
            <a:endParaRPr sz="600">
              <a:latin typeface="Arial"/>
              <a:cs typeface="Arial"/>
            </a:endParaRPr>
          </a:p>
        </p:txBody>
      </p:sp>
      <p:sp>
        <p:nvSpPr>
          <p:cNvPr id="44" name="object 44"/>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28</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67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Interrupting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server</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General</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4" name="object 4"/>
          <p:cNvSpPr txBox="1"/>
          <p:nvPr/>
        </p:nvSpPr>
        <p:spPr>
          <a:xfrm>
            <a:off x="95300" y="188846"/>
            <a:ext cx="3962400" cy="1014094"/>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Out-of-band</a:t>
            </a:r>
            <a:r>
              <a:rPr sz="1400" spc="-25" dirty="0">
                <a:solidFill>
                  <a:srgbClr val="3333B2"/>
                </a:solidFill>
                <a:latin typeface="Arial"/>
                <a:cs typeface="Arial"/>
              </a:rPr>
              <a:t> </a:t>
            </a:r>
            <a:r>
              <a:rPr sz="1400" spc="15" dirty="0">
                <a:solidFill>
                  <a:srgbClr val="3333B2"/>
                </a:solidFill>
                <a:latin typeface="Arial"/>
                <a:cs typeface="Arial"/>
              </a:rPr>
              <a:t>communication</a:t>
            </a:r>
            <a:endParaRPr sz="1400">
              <a:latin typeface="Arial"/>
              <a:cs typeface="Arial"/>
            </a:endParaRPr>
          </a:p>
          <a:p>
            <a:pPr>
              <a:lnSpc>
                <a:spcPct val="100000"/>
              </a:lnSpc>
              <a:spcBef>
                <a:spcPts val="45"/>
              </a:spcBef>
            </a:pPr>
            <a:endParaRPr sz="1950">
              <a:latin typeface="Arial"/>
              <a:cs typeface="Arial"/>
            </a:endParaRPr>
          </a:p>
          <a:p>
            <a:pPr marL="264160">
              <a:lnSpc>
                <a:spcPts val="1410"/>
              </a:lnSpc>
            </a:pPr>
            <a:r>
              <a:rPr sz="1200" spc="-5" dirty="0">
                <a:solidFill>
                  <a:srgbClr val="3333B2"/>
                </a:solidFill>
                <a:latin typeface="Arial"/>
                <a:cs typeface="Arial"/>
              </a:rPr>
              <a:t>Issue</a:t>
            </a:r>
            <a:endParaRPr sz="1200">
              <a:latin typeface="Arial"/>
              <a:cs typeface="Arial"/>
            </a:endParaRPr>
          </a:p>
          <a:p>
            <a:pPr marL="264160" marR="5080">
              <a:lnSpc>
                <a:spcPts val="1200"/>
              </a:lnSpc>
              <a:spcBef>
                <a:spcPts val="10"/>
              </a:spcBef>
            </a:pPr>
            <a:r>
              <a:rPr sz="1000" spc="-5" dirty="0">
                <a:latin typeface="Arial"/>
                <a:cs typeface="Arial"/>
              </a:rPr>
              <a:t>Is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interrupt</a:t>
            </a:r>
            <a:r>
              <a:rPr sz="1000" dirty="0">
                <a:solidFill>
                  <a:srgbClr val="0000FA"/>
                </a:solidFill>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once</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accepted</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process of accepting) a </a:t>
            </a:r>
            <a:r>
              <a:rPr sz="1000" dirty="0">
                <a:latin typeface="Arial"/>
                <a:cs typeface="Arial"/>
              </a:rPr>
              <a:t>service</a:t>
            </a:r>
            <a:r>
              <a:rPr sz="1000" spc="-5" dirty="0">
                <a:latin typeface="Arial"/>
                <a:cs typeface="Arial"/>
              </a:rPr>
              <a:t> request?</a:t>
            </a:r>
            <a:endParaRPr sz="1000">
              <a:latin typeface="Arial"/>
              <a:cs typeface="Arial"/>
            </a:endParaRPr>
          </a:p>
        </p:txBody>
      </p:sp>
    </p:spTree>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7067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Interrupting</a:t>
            </a:r>
            <a:r>
              <a:rPr sz="600" spc="-15"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a</a:t>
            </a:r>
            <a:r>
              <a:rPr sz="600" spc="-10" dirty="0">
                <a:solidFill>
                  <a:srgbClr val="3333B2"/>
                </a:solidFill>
                <a:latin typeface="Arial"/>
                <a:cs typeface="Arial"/>
                <a:hlinkClick r:id="rId2" action="ppaction://hlinksldjump"/>
              </a:rPr>
              <a:t> </a:t>
            </a:r>
            <a:r>
              <a:rPr sz="600" spc="-5" dirty="0">
                <a:solidFill>
                  <a:srgbClr val="3333B2"/>
                </a:solidFill>
                <a:latin typeface="Arial"/>
                <a:cs typeface="Arial"/>
                <a:hlinkClick r:id="rId2" action="ppaction://hlinksldjump"/>
              </a:rPr>
              <a:t>server</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General</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4" name="object 4"/>
          <p:cNvSpPr txBox="1"/>
          <p:nvPr/>
        </p:nvSpPr>
        <p:spPr>
          <a:xfrm>
            <a:off x="57200" y="188846"/>
            <a:ext cx="4134485" cy="1840864"/>
          </a:xfrm>
          <a:prstGeom prst="rect">
            <a:avLst/>
          </a:prstGeom>
        </p:spPr>
        <p:txBody>
          <a:bodyPr vert="horz" wrap="square" lIns="0" tIns="17145" rIns="0" bIns="0" rtlCol="0">
            <a:spAutoFit/>
          </a:bodyPr>
          <a:lstStyle/>
          <a:p>
            <a:pPr marL="50800">
              <a:lnSpc>
                <a:spcPct val="100000"/>
              </a:lnSpc>
              <a:spcBef>
                <a:spcPts val="135"/>
              </a:spcBef>
            </a:pPr>
            <a:r>
              <a:rPr sz="1400" spc="15" dirty="0">
                <a:solidFill>
                  <a:srgbClr val="3333B2"/>
                </a:solidFill>
                <a:latin typeface="Arial"/>
                <a:cs typeface="Arial"/>
              </a:rPr>
              <a:t>Out-of-band</a:t>
            </a:r>
            <a:r>
              <a:rPr sz="1400" spc="-25" dirty="0">
                <a:solidFill>
                  <a:srgbClr val="3333B2"/>
                </a:solidFill>
                <a:latin typeface="Arial"/>
                <a:cs typeface="Arial"/>
              </a:rPr>
              <a:t> </a:t>
            </a:r>
            <a:r>
              <a:rPr sz="1400" spc="15" dirty="0">
                <a:solidFill>
                  <a:srgbClr val="3333B2"/>
                </a:solidFill>
                <a:latin typeface="Arial"/>
                <a:cs typeface="Arial"/>
              </a:rPr>
              <a:t>communication</a:t>
            </a:r>
            <a:endParaRPr sz="1400">
              <a:latin typeface="Arial"/>
              <a:cs typeface="Arial"/>
            </a:endParaRPr>
          </a:p>
          <a:p>
            <a:pPr>
              <a:lnSpc>
                <a:spcPct val="100000"/>
              </a:lnSpc>
              <a:spcBef>
                <a:spcPts val="45"/>
              </a:spcBef>
            </a:pPr>
            <a:endParaRPr sz="1950">
              <a:latin typeface="Arial"/>
              <a:cs typeface="Arial"/>
            </a:endParaRPr>
          </a:p>
          <a:p>
            <a:pPr marL="302260">
              <a:lnSpc>
                <a:spcPts val="1410"/>
              </a:lnSpc>
            </a:pPr>
            <a:r>
              <a:rPr sz="1200" spc="-5" dirty="0">
                <a:solidFill>
                  <a:srgbClr val="3333B2"/>
                </a:solidFill>
                <a:latin typeface="Arial"/>
                <a:cs typeface="Arial"/>
              </a:rPr>
              <a:t>Issue</a:t>
            </a:r>
            <a:endParaRPr sz="1200">
              <a:latin typeface="Arial"/>
              <a:cs typeface="Arial"/>
            </a:endParaRPr>
          </a:p>
          <a:p>
            <a:pPr marL="302260" marR="138430">
              <a:lnSpc>
                <a:spcPts val="1200"/>
              </a:lnSpc>
              <a:spcBef>
                <a:spcPts val="10"/>
              </a:spcBef>
            </a:pPr>
            <a:r>
              <a:rPr sz="1000" spc="-5" dirty="0">
                <a:latin typeface="Arial"/>
                <a:cs typeface="Arial"/>
              </a:rPr>
              <a:t>Is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interrupt</a:t>
            </a:r>
            <a:r>
              <a:rPr sz="1000" dirty="0">
                <a:solidFill>
                  <a:srgbClr val="0000FA"/>
                </a:solidFill>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once</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accepted</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process of accepting) a </a:t>
            </a:r>
            <a:r>
              <a:rPr sz="1000" dirty="0">
                <a:latin typeface="Arial"/>
                <a:cs typeface="Arial"/>
              </a:rPr>
              <a:t>service</a:t>
            </a:r>
            <a:r>
              <a:rPr sz="1000" spc="-5" dirty="0">
                <a:latin typeface="Arial"/>
                <a:cs typeface="Arial"/>
              </a:rPr>
              <a:t> request?</a:t>
            </a:r>
            <a:endParaRPr sz="1000">
              <a:latin typeface="Arial"/>
              <a:cs typeface="Arial"/>
            </a:endParaRPr>
          </a:p>
          <a:p>
            <a:pPr marL="302260">
              <a:lnSpc>
                <a:spcPct val="100000"/>
              </a:lnSpc>
              <a:spcBef>
                <a:spcPts val="650"/>
              </a:spcBef>
            </a:pPr>
            <a:r>
              <a:rPr sz="1200" spc="-5" dirty="0">
                <a:solidFill>
                  <a:srgbClr val="3333B2"/>
                </a:solidFill>
                <a:latin typeface="Arial"/>
                <a:cs typeface="Arial"/>
              </a:rPr>
              <a:t>Solution 1:</a:t>
            </a:r>
            <a:r>
              <a:rPr sz="1200" spc="75" dirty="0">
                <a:solidFill>
                  <a:srgbClr val="3333B2"/>
                </a:solidFill>
                <a:latin typeface="Arial"/>
                <a:cs typeface="Arial"/>
              </a:rPr>
              <a:t> </a:t>
            </a:r>
            <a:r>
              <a:rPr sz="1200" spc="-5" dirty="0">
                <a:solidFill>
                  <a:srgbClr val="3333B2"/>
                </a:solidFill>
                <a:latin typeface="Arial"/>
                <a:cs typeface="Arial"/>
              </a:rPr>
              <a:t>Use a separate </a:t>
            </a:r>
            <a:r>
              <a:rPr sz="1200" spc="5" dirty="0">
                <a:solidFill>
                  <a:srgbClr val="3333B2"/>
                </a:solidFill>
                <a:latin typeface="Arial"/>
                <a:cs typeface="Arial"/>
              </a:rPr>
              <a:t>port</a:t>
            </a:r>
            <a:r>
              <a:rPr sz="1200" spc="-5" dirty="0">
                <a:solidFill>
                  <a:srgbClr val="3333B2"/>
                </a:solidFill>
                <a:latin typeface="Arial"/>
                <a:cs typeface="Arial"/>
              </a:rPr>
              <a:t> </a:t>
            </a:r>
            <a:r>
              <a:rPr sz="1200" spc="-20" dirty="0">
                <a:solidFill>
                  <a:srgbClr val="3333B2"/>
                </a:solidFill>
                <a:latin typeface="Arial"/>
                <a:cs typeface="Arial"/>
              </a:rPr>
              <a:t>for</a:t>
            </a:r>
            <a:r>
              <a:rPr sz="1200" spc="-5" dirty="0">
                <a:solidFill>
                  <a:srgbClr val="3333B2"/>
                </a:solidFill>
                <a:latin typeface="Arial"/>
                <a:cs typeface="Arial"/>
              </a:rPr>
              <a:t> urgent data</a:t>
            </a:r>
            <a:endParaRPr sz="1200">
              <a:latin typeface="Arial"/>
              <a:cs typeface="Arial"/>
            </a:endParaRPr>
          </a:p>
          <a:p>
            <a:pPr marL="579755" indent="-168275">
              <a:lnSpc>
                <a:spcPts val="1200"/>
              </a:lnSpc>
              <a:spcBef>
                <a:spcPts val="790"/>
              </a:spcBef>
              <a:buClr>
                <a:srgbClr val="3333B2"/>
              </a:buClr>
              <a:buChar char="►"/>
              <a:tabLst>
                <a:tab pos="580390" algn="l"/>
              </a:tabLst>
            </a:pPr>
            <a:r>
              <a:rPr sz="1000" spc="-5" dirty="0">
                <a:latin typeface="Arial"/>
                <a:cs typeface="Arial"/>
              </a:rPr>
              <a:t>Server</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separate</a:t>
            </a:r>
            <a:r>
              <a:rPr sz="1000" dirty="0">
                <a:latin typeface="Arial"/>
                <a:cs typeface="Arial"/>
              </a:rPr>
              <a:t> </a:t>
            </a:r>
            <a:r>
              <a:rPr sz="1000" spc="-5" dirty="0">
                <a:latin typeface="Arial"/>
                <a:cs typeface="Arial"/>
              </a:rPr>
              <a:t>thread/process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urgent</a:t>
            </a:r>
            <a:r>
              <a:rPr sz="1000" dirty="0">
                <a:latin typeface="Arial"/>
                <a:cs typeface="Arial"/>
              </a:rPr>
              <a:t> </a:t>
            </a:r>
            <a:r>
              <a:rPr sz="1000" spc="-5" dirty="0">
                <a:latin typeface="Arial"/>
                <a:cs typeface="Arial"/>
              </a:rPr>
              <a:t>messages</a:t>
            </a:r>
            <a:endParaRPr sz="1000">
              <a:latin typeface="Arial"/>
              <a:cs typeface="Arial"/>
            </a:endParaRPr>
          </a:p>
          <a:p>
            <a:pPr marL="579755" indent="-168275">
              <a:lnSpc>
                <a:spcPts val="1195"/>
              </a:lnSpc>
              <a:buClr>
                <a:srgbClr val="3333B2"/>
              </a:buClr>
              <a:buChar char="►"/>
              <a:tabLst>
                <a:tab pos="580390" algn="l"/>
              </a:tabLst>
            </a:pPr>
            <a:r>
              <a:rPr sz="1000" spc="-5" dirty="0">
                <a:latin typeface="Arial"/>
                <a:cs typeface="Arial"/>
              </a:rPr>
              <a:t>Urgent message</a:t>
            </a:r>
            <a:r>
              <a:rPr sz="1000" dirty="0">
                <a:latin typeface="Arial"/>
                <a:cs typeface="Arial"/>
              </a:rPr>
              <a:t> </a:t>
            </a:r>
            <a:r>
              <a:rPr sz="1000" spc="-5" dirty="0">
                <a:latin typeface="Arial"/>
                <a:cs typeface="Arial"/>
              </a:rPr>
              <a:t>comes</a:t>
            </a:r>
            <a:r>
              <a:rPr sz="1000" dirty="0">
                <a:latin typeface="Arial"/>
                <a:cs typeface="Arial"/>
              </a:rPr>
              <a:t> </a:t>
            </a:r>
            <a:r>
              <a:rPr sz="1000" spc="-5" dirty="0">
                <a:latin typeface="Arial"/>
                <a:cs typeface="Arial"/>
              </a:rPr>
              <a:t>in</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0000FA"/>
                </a:solidFill>
                <a:latin typeface="Arial"/>
                <a:cs typeface="Arial"/>
              </a:rPr>
              <a:t>associated</a:t>
            </a:r>
            <a:r>
              <a:rPr sz="1000" dirty="0">
                <a:solidFill>
                  <a:srgbClr val="0000FA"/>
                </a:solidFill>
                <a:latin typeface="Arial"/>
                <a:cs typeface="Arial"/>
              </a:rPr>
              <a:t> </a:t>
            </a:r>
            <a:r>
              <a:rPr sz="1000" spc="-5" dirty="0">
                <a:solidFill>
                  <a:srgbClr val="0000FA"/>
                </a:solidFill>
                <a:latin typeface="Arial"/>
                <a:cs typeface="Arial"/>
              </a:rPr>
              <a:t>request</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put</a:t>
            </a:r>
            <a:r>
              <a:rPr sz="1000" dirty="0">
                <a:solidFill>
                  <a:srgbClr val="0000FA"/>
                </a:solidFill>
                <a:latin typeface="Arial"/>
                <a:cs typeface="Arial"/>
              </a:rPr>
              <a:t> </a:t>
            </a:r>
            <a:r>
              <a:rPr sz="1000" spc="-5" dirty="0">
                <a:solidFill>
                  <a:srgbClr val="0000FA"/>
                </a:solidFill>
                <a:latin typeface="Arial"/>
                <a:cs typeface="Arial"/>
              </a:rPr>
              <a:t>on</a:t>
            </a:r>
            <a:r>
              <a:rPr sz="1000" dirty="0">
                <a:solidFill>
                  <a:srgbClr val="0000FA"/>
                </a:solidFill>
                <a:latin typeface="Arial"/>
                <a:cs typeface="Arial"/>
              </a:rPr>
              <a:t> </a:t>
            </a:r>
            <a:r>
              <a:rPr sz="1000" spc="-5" dirty="0">
                <a:solidFill>
                  <a:srgbClr val="0000FA"/>
                </a:solidFill>
                <a:latin typeface="Arial"/>
                <a:cs typeface="Arial"/>
              </a:rPr>
              <a:t>hold</a:t>
            </a:r>
            <a:endParaRPr sz="1000">
              <a:latin typeface="Arial"/>
              <a:cs typeface="Arial"/>
            </a:endParaRPr>
          </a:p>
          <a:p>
            <a:pPr marL="579755" indent="-168275">
              <a:lnSpc>
                <a:spcPts val="1200"/>
              </a:lnSpc>
              <a:buClr>
                <a:srgbClr val="3333B2"/>
              </a:buClr>
              <a:buChar char="►"/>
              <a:tabLst>
                <a:tab pos="580390" algn="l"/>
              </a:tabLst>
            </a:pPr>
            <a:r>
              <a:rPr sz="1000" spc="-5" dirty="0">
                <a:latin typeface="Arial"/>
                <a:cs typeface="Arial"/>
              </a:rPr>
              <a:t>Note:</a:t>
            </a:r>
            <a:r>
              <a:rPr sz="1000" spc="70" dirty="0">
                <a:latin typeface="Arial"/>
                <a:cs typeface="Arial"/>
              </a:rPr>
              <a:t> </a:t>
            </a:r>
            <a:r>
              <a:rPr sz="1000" spc="-10" dirty="0">
                <a:latin typeface="Arial"/>
                <a:cs typeface="Arial"/>
              </a:rPr>
              <a:t>we</a:t>
            </a:r>
            <a:r>
              <a:rPr sz="1000" spc="5" dirty="0">
                <a:latin typeface="Arial"/>
                <a:cs typeface="Arial"/>
              </a:rPr>
              <a:t> </a:t>
            </a:r>
            <a:r>
              <a:rPr sz="1000" spc="-5" dirty="0">
                <a:latin typeface="Arial"/>
                <a:cs typeface="Arial"/>
              </a:rPr>
              <a:t>require</a:t>
            </a:r>
            <a:r>
              <a:rPr sz="1000" spc="5" dirty="0">
                <a:latin typeface="Arial"/>
                <a:cs typeface="Arial"/>
              </a:rPr>
              <a:t> </a:t>
            </a:r>
            <a:r>
              <a:rPr sz="1000" spc="-5" dirty="0">
                <a:solidFill>
                  <a:srgbClr val="0000FA"/>
                </a:solidFill>
                <a:latin typeface="Arial"/>
                <a:cs typeface="Arial"/>
              </a:rPr>
              <a:t>OS</a:t>
            </a:r>
            <a:r>
              <a:rPr sz="1000" spc="10" dirty="0">
                <a:solidFill>
                  <a:srgbClr val="0000FA"/>
                </a:solidFill>
                <a:latin typeface="Arial"/>
                <a:cs typeface="Arial"/>
              </a:rPr>
              <a:t> </a:t>
            </a:r>
            <a:r>
              <a:rPr sz="1000" dirty="0">
                <a:solidFill>
                  <a:srgbClr val="0000FA"/>
                </a:solidFill>
                <a:latin typeface="Arial"/>
                <a:cs typeface="Arial"/>
              </a:rPr>
              <a:t>supports</a:t>
            </a:r>
            <a:r>
              <a:rPr sz="1000" spc="5" dirty="0">
                <a:solidFill>
                  <a:srgbClr val="0000FA"/>
                </a:solidFill>
                <a:latin typeface="Arial"/>
                <a:cs typeface="Arial"/>
              </a:rPr>
              <a:t> </a:t>
            </a:r>
            <a:r>
              <a:rPr sz="1000" spc="-5" dirty="0">
                <a:solidFill>
                  <a:srgbClr val="0000FA"/>
                </a:solidFill>
                <a:latin typeface="Arial"/>
                <a:cs typeface="Arial"/>
              </a:rPr>
              <a:t>priority-based</a:t>
            </a:r>
            <a:r>
              <a:rPr sz="1000" spc="5" dirty="0">
                <a:solidFill>
                  <a:srgbClr val="0000FA"/>
                </a:solidFill>
                <a:latin typeface="Arial"/>
                <a:cs typeface="Arial"/>
              </a:rPr>
              <a:t> </a:t>
            </a:r>
            <a:r>
              <a:rPr sz="1000" spc="-5" dirty="0">
                <a:solidFill>
                  <a:srgbClr val="0000FA"/>
                </a:solidFill>
                <a:latin typeface="Arial"/>
                <a:cs typeface="Arial"/>
              </a:rPr>
              <a:t>scheduling</a:t>
            </a:r>
            <a:endParaRPr sz="1000">
              <a:latin typeface="Arial"/>
              <a:cs typeface="Arial"/>
            </a:endParaRP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70675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Interrupting</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a</a:t>
            </a:r>
            <a:r>
              <a:rPr sz="600" spc="-1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server</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29</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General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design</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issues</a:t>
            </a:r>
            <a:endParaRPr sz="600">
              <a:latin typeface="Arial"/>
              <a:cs typeface="Arial"/>
            </a:endParaRPr>
          </a:p>
        </p:txBody>
      </p:sp>
      <p:sp>
        <p:nvSpPr>
          <p:cNvPr id="4" name="object 4"/>
          <p:cNvSpPr txBox="1"/>
          <p:nvPr/>
        </p:nvSpPr>
        <p:spPr>
          <a:xfrm>
            <a:off x="44500" y="188846"/>
            <a:ext cx="4202430" cy="2618740"/>
          </a:xfrm>
          <a:prstGeom prst="rect">
            <a:avLst/>
          </a:prstGeom>
        </p:spPr>
        <p:txBody>
          <a:bodyPr vert="horz" wrap="square" lIns="0" tIns="17145" rIns="0" bIns="0" rtlCol="0">
            <a:spAutoFit/>
          </a:bodyPr>
          <a:lstStyle/>
          <a:p>
            <a:pPr marL="63500">
              <a:lnSpc>
                <a:spcPct val="100000"/>
              </a:lnSpc>
              <a:spcBef>
                <a:spcPts val="135"/>
              </a:spcBef>
            </a:pPr>
            <a:r>
              <a:rPr sz="1400" spc="15" dirty="0">
                <a:solidFill>
                  <a:srgbClr val="3333B2"/>
                </a:solidFill>
                <a:latin typeface="Arial"/>
                <a:cs typeface="Arial"/>
              </a:rPr>
              <a:t>Out-of-band</a:t>
            </a:r>
            <a:r>
              <a:rPr sz="1400" spc="-25" dirty="0">
                <a:solidFill>
                  <a:srgbClr val="3333B2"/>
                </a:solidFill>
                <a:latin typeface="Arial"/>
                <a:cs typeface="Arial"/>
              </a:rPr>
              <a:t> </a:t>
            </a:r>
            <a:r>
              <a:rPr sz="1400" spc="15" dirty="0">
                <a:solidFill>
                  <a:srgbClr val="3333B2"/>
                </a:solidFill>
                <a:latin typeface="Arial"/>
                <a:cs typeface="Arial"/>
              </a:rPr>
              <a:t>communication</a:t>
            </a:r>
            <a:endParaRPr sz="1400" dirty="0">
              <a:latin typeface="Arial"/>
              <a:cs typeface="Arial"/>
            </a:endParaRPr>
          </a:p>
          <a:p>
            <a:pPr>
              <a:lnSpc>
                <a:spcPct val="100000"/>
              </a:lnSpc>
              <a:spcBef>
                <a:spcPts val="45"/>
              </a:spcBef>
            </a:pPr>
            <a:endParaRPr sz="1950" dirty="0">
              <a:latin typeface="Arial"/>
              <a:cs typeface="Arial"/>
            </a:endParaRPr>
          </a:p>
          <a:p>
            <a:pPr marL="314960">
              <a:lnSpc>
                <a:spcPts val="1410"/>
              </a:lnSpc>
            </a:pPr>
            <a:r>
              <a:rPr sz="1200" spc="-5" dirty="0">
                <a:solidFill>
                  <a:srgbClr val="3333B2"/>
                </a:solidFill>
                <a:latin typeface="Arial"/>
                <a:cs typeface="Arial"/>
              </a:rPr>
              <a:t>Issue</a:t>
            </a:r>
            <a:endParaRPr sz="1200" dirty="0">
              <a:latin typeface="Arial"/>
              <a:cs typeface="Arial"/>
            </a:endParaRPr>
          </a:p>
          <a:p>
            <a:pPr marL="314960" marR="193675">
              <a:lnSpc>
                <a:spcPts val="1200"/>
              </a:lnSpc>
              <a:spcBef>
                <a:spcPts val="10"/>
              </a:spcBef>
            </a:pPr>
            <a:r>
              <a:rPr sz="1000" spc="-5" dirty="0">
                <a:latin typeface="Arial"/>
                <a:cs typeface="Arial"/>
              </a:rPr>
              <a:t>Is</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possible</a:t>
            </a:r>
            <a:r>
              <a:rPr sz="1000" dirty="0">
                <a:latin typeface="Arial"/>
                <a:cs typeface="Arial"/>
              </a:rPr>
              <a:t> </a:t>
            </a:r>
            <a:r>
              <a:rPr sz="1000" spc="-5" dirty="0">
                <a:latin typeface="Arial"/>
                <a:cs typeface="Arial"/>
              </a:rPr>
              <a:t>to</a:t>
            </a:r>
            <a:r>
              <a:rPr sz="1000" dirty="0">
                <a:latin typeface="Arial"/>
                <a:cs typeface="Arial"/>
              </a:rPr>
              <a:t> </a:t>
            </a:r>
            <a:r>
              <a:rPr sz="1000" spc="-5" dirty="0">
                <a:solidFill>
                  <a:srgbClr val="0000FA"/>
                </a:solidFill>
                <a:latin typeface="Arial"/>
                <a:cs typeface="Arial"/>
              </a:rPr>
              <a:t>interrupt</a:t>
            </a:r>
            <a:r>
              <a:rPr sz="1000" dirty="0">
                <a:solidFill>
                  <a:srgbClr val="0000FA"/>
                </a:solidFill>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once</a:t>
            </a:r>
            <a:r>
              <a:rPr sz="1000" dirty="0">
                <a:latin typeface="Arial"/>
                <a:cs typeface="Arial"/>
              </a:rPr>
              <a:t> </a:t>
            </a:r>
            <a:r>
              <a:rPr sz="1000" spc="-5" dirty="0">
                <a:latin typeface="Arial"/>
                <a:cs typeface="Arial"/>
              </a:rPr>
              <a:t>it</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accepted</a:t>
            </a:r>
            <a:r>
              <a:rPr sz="1000" dirty="0">
                <a:latin typeface="Arial"/>
                <a:cs typeface="Arial"/>
              </a:rPr>
              <a:t> </a:t>
            </a:r>
            <a:r>
              <a:rPr sz="1000" spc="-5" dirty="0">
                <a:latin typeface="Arial"/>
                <a:cs typeface="Arial"/>
              </a:rPr>
              <a:t>(or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in</a:t>
            </a:r>
            <a:r>
              <a:rPr sz="1000" spc="5"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process of accepting) a </a:t>
            </a:r>
            <a:r>
              <a:rPr sz="1000" dirty="0">
                <a:latin typeface="Arial"/>
                <a:cs typeface="Arial"/>
              </a:rPr>
              <a:t>service</a:t>
            </a:r>
            <a:r>
              <a:rPr sz="1000" spc="-5" dirty="0">
                <a:latin typeface="Arial"/>
                <a:cs typeface="Arial"/>
              </a:rPr>
              <a:t> request?</a:t>
            </a:r>
            <a:endParaRPr sz="1000" dirty="0">
              <a:latin typeface="Arial"/>
              <a:cs typeface="Arial"/>
            </a:endParaRPr>
          </a:p>
          <a:p>
            <a:pPr marL="314960">
              <a:lnSpc>
                <a:spcPct val="100000"/>
              </a:lnSpc>
              <a:spcBef>
                <a:spcPts val="650"/>
              </a:spcBef>
            </a:pPr>
            <a:r>
              <a:rPr sz="1200" spc="-5" dirty="0">
                <a:solidFill>
                  <a:srgbClr val="3333B2"/>
                </a:solidFill>
                <a:latin typeface="Arial"/>
                <a:cs typeface="Arial"/>
              </a:rPr>
              <a:t>Solution 1:</a:t>
            </a:r>
            <a:r>
              <a:rPr sz="1200" spc="75" dirty="0">
                <a:solidFill>
                  <a:srgbClr val="3333B2"/>
                </a:solidFill>
                <a:latin typeface="Arial"/>
                <a:cs typeface="Arial"/>
              </a:rPr>
              <a:t> </a:t>
            </a:r>
            <a:r>
              <a:rPr sz="1200" spc="-5" dirty="0">
                <a:solidFill>
                  <a:srgbClr val="3333B2"/>
                </a:solidFill>
                <a:latin typeface="Arial"/>
                <a:cs typeface="Arial"/>
              </a:rPr>
              <a:t>Use a separate </a:t>
            </a:r>
            <a:r>
              <a:rPr sz="1200" spc="5" dirty="0">
                <a:solidFill>
                  <a:srgbClr val="3333B2"/>
                </a:solidFill>
                <a:latin typeface="Arial"/>
                <a:cs typeface="Arial"/>
              </a:rPr>
              <a:t>port</a:t>
            </a:r>
            <a:r>
              <a:rPr sz="1200" spc="-5" dirty="0">
                <a:solidFill>
                  <a:srgbClr val="3333B2"/>
                </a:solidFill>
                <a:latin typeface="Arial"/>
                <a:cs typeface="Arial"/>
              </a:rPr>
              <a:t> </a:t>
            </a:r>
            <a:r>
              <a:rPr sz="1200" spc="-20" dirty="0">
                <a:solidFill>
                  <a:srgbClr val="3333B2"/>
                </a:solidFill>
                <a:latin typeface="Arial"/>
                <a:cs typeface="Arial"/>
              </a:rPr>
              <a:t>for</a:t>
            </a:r>
            <a:r>
              <a:rPr sz="1200" spc="-5" dirty="0">
                <a:solidFill>
                  <a:srgbClr val="3333B2"/>
                </a:solidFill>
                <a:latin typeface="Arial"/>
                <a:cs typeface="Arial"/>
              </a:rPr>
              <a:t> urgent data</a:t>
            </a:r>
            <a:endParaRPr sz="1200" dirty="0">
              <a:latin typeface="Arial"/>
              <a:cs typeface="Arial"/>
            </a:endParaRPr>
          </a:p>
          <a:p>
            <a:pPr marL="592455" indent="-168275">
              <a:lnSpc>
                <a:spcPts val="1200"/>
              </a:lnSpc>
              <a:spcBef>
                <a:spcPts val="790"/>
              </a:spcBef>
              <a:buClr>
                <a:srgbClr val="3333B2"/>
              </a:buClr>
              <a:buChar char="►"/>
              <a:tabLst>
                <a:tab pos="593090" algn="l"/>
              </a:tabLst>
            </a:pPr>
            <a:r>
              <a:rPr sz="1000" spc="-5" dirty="0">
                <a:latin typeface="Arial"/>
                <a:cs typeface="Arial"/>
              </a:rPr>
              <a:t>Server</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separate</a:t>
            </a:r>
            <a:r>
              <a:rPr sz="1000" dirty="0">
                <a:latin typeface="Arial"/>
                <a:cs typeface="Arial"/>
              </a:rPr>
              <a:t> </a:t>
            </a:r>
            <a:r>
              <a:rPr sz="1000" spc="-5" dirty="0">
                <a:latin typeface="Arial"/>
                <a:cs typeface="Arial"/>
              </a:rPr>
              <a:t>thread/process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urgent</a:t>
            </a:r>
            <a:r>
              <a:rPr sz="1000" dirty="0">
                <a:latin typeface="Arial"/>
                <a:cs typeface="Arial"/>
              </a:rPr>
              <a:t> </a:t>
            </a:r>
            <a:r>
              <a:rPr sz="1000" spc="-5" dirty="0">
                <a:latin typeface="Arial"/>
                <a:cs typeface="Arial"/>
              </a:rPr>
              <a:t>messages</a:t>
            </a:r>
            <a:endParaRPr sz="1000" dirty="0">
              <a:latin typeface="Arial"/>
              <a:cs typeface="Arial"/>
            </a:endParaRPr>
          </a:p>
          <a:p>
            <a:pPr marL="592455" indent="-168275">
              <a:lnSpc>
                <a:spcPts val="1195"/>
              </a:lnSpc>
              <a:buClr>
                <a:srgbClr val="3333B2"/>
              </a:buClr>
              <a:buChar char="►"/>
              <a:tabLst>
                <a:tab pos="593090" algn="l"/>
              </a:tabLst>
            </a:pPr>
            <a:r>
              <a:rPr sz="1000" spc="-5" dirty="0">
                <a:latin typeface="Arial"/>
                <a:cs typeface="Arial"/>
              </a:rPr>
              <a:t>Urgent message</a:t>
            </a:r>
            <a:r>
              <a:rPr sz="1000" dirty="0">
                <a:latin typeface="Arial"/>
                <a:cs typeface="Arial"/>
              </a:rPr>
              <a:t> </a:t>
            </a:r>
            <a:r>
              <a:rPr sz="1000" spc="-5" dirty="0">
                <a:latin typeface="Arial"/>
                <a:cs typeface="Arial"/>
              </a:rPr>
              <a:t>comes</a:t>
            </a:r>
            <a:r>
              <a:rPr sz="1000" dirty="0">
                <a:latin typeface="Arial"/>
                <a:cs typeface="Arial"/>
              </a:rPr>
              <a:t> </a:t>
            </a:r>
            <a:r>
              <a:rPr sz="1000" spc="-5" dirty="0">
                <a:latin typeface="Arial"/>
                <a:cs typeface="Arial"/>
              </a:rPr>
              <a:t>in</a:t>
            </a:r>
            <a:r>
              <a:rPr sz="1000" dirty="0">
                <a:latin typeface="Arial"/>
                <a:cs typeface="Arial"/>
              </a:rPr>
              <a:t> </a:t>
            </a:r>
            <a:r>
              <a:rPr sz="1000" i="1" spc="-5" dirty="0">
                <a:latin typeface="メイリオ"/>
                <a:cs typeface="メイリオ"/>
              </a:rPr>
              <a:t>⇒</a:t>
            </a:r>
            <a:r>
              <a:rPr sz="1000" i="1" spc="-60" dirty="0">
                <a:latin typeface="メイリオ"/>
                <a:cs typeface="メイリオ"/>
              </a:rPr>
              <a:t> </a:t>
            </a:r>
            <a:r>
              <a:rPr sz="1000" spc="-5" dirty="0">
                <a:solidFill>
                  <a:srgbClr val="0000FA"/>
                </a:solidFill>
                <a:latin typeface="Arial"/>
                <a:cs typeface="Arial"/>
              </a:rPr>
              <a:t>associated</a:t>
            </a:r>
            <a:r>
              <a:rPr sz="1000" dirty="0">
                <a:solidFill>
                  <a:srgbClr val="0000FA"/>
                </a:solidFill>
                <a:latin typeface="Arial"/>
                <a:cs typeface="Arial"/>
              </a:rPr>
              <a:t> </a:t>
            </a:r>
            <a:r>
              <a:rPr sz="1000" spc="-5" dirty="0">
                <a:solidFill>
                  <a:srgbClr val="0000FA"/>
                </a:solidFill>
                <a:latin typeface="Arial"/>
                <a:cs typeface="Arial"/>
              </a:rPr>
              <a:t>request</a:t>
            </a:r>
            <a:r>
              <a:rPr sz="1000" dirty="0">
                <a:solidFill>
                  <a:srgbClr val="0000FA"/>
                </a:solidFill>
                <a:latin typeface="Arial"/>
                <a:cs typeface="Arial"/>
              </a:rPr>
              <a:t> </a:t>
            </a:r>
            <a:r>
              <a:rPr sz="1000" spc="-5" dirty="0">
                <a:solidFill>
                  <a:srgbClr val="0000FA"/>
                </a:solidFill>
                <a:latin typeface="Arial"/>
                <a:cs typeface="Arial"/>
              </a:rPr>
              <a:t>is</a:t>
            </a:r>
            <a:r>
              <a:rPr sz="1000" dirty="0">
                <a:solidFill>
                  <a:srgbClr val="0000FA"/>
                </a:solidFill>
                <a:latin typeface="Arial"/>
                <a:cs typeface="Arial"/>
              </a:rPr>
              <a:t> </a:t>
            </a:r>
            <a:r>
              <a:rPr sz="1000" spc="-5" dirty="0">
                <a:solidFill>
                  <a:srgbClr val="0000FA"/>
                </a:solidFill>
                <a:latin typeface="Arial"/>
                <a:cs typeface="Arial"/>
              </a:rPr>
              <a:t>put</a:t>
            </a:r>
            <a:r>
              <a:rPr sz="1000" dirty="0">
                <a:solidFill>
                  <a:srgbClr val="0000FA"/>
                </a:solidFill>
                <a:latin typeface="Arial"/>
                <a:cs typeface="Arial"/>
              </a:rPr>
              <a:t> </a:t>
            </a:r>
            <a:r>
              <a:rPr sz="1000" spc="-5" dirty="0">
                <a:solidFill>
                  <a:srgbClr val="0000FA"/>
                </a:solidFill>
                <a:latin typeface="Arial"/>
                <a:cs typeface="Arial"/>
              </a:rPr>
              <a:t>on</a:t>
            </a:r>
            <a:r>
              <a:rPr sz="1000" dirty="0">
                <a:solidFill>
                  <a:srgbClr val="0000FA"/>
                </a:solidFill>
                <a:latin typeface="Arial"/>
                <a:cs typeface="Arial"/>
              </a:rPr>
              <a:t> </a:t>
            </a:r>
            <a:r>
              <a:rPr sz="1000" spc="-5" dirty="0">
                <a:solidFill>
                  <a:srgbClr val="0000FA"/>
                </a:solidFill>
                <a:latin typeface="Arial"/>
                <a:cs typeface="Arial"/>
              </a:rPr>
              <a:t>hold</a:t>
            </a:r>
            <a:endParaRPr sz="1000" dirty="0">
              <a:latin typeface="Arial"/>
              <a:cs typeface="Arial"/>
            </a:endParaRPr>
          </a:p>
          <a:p>
            <a:pPr marL="592455" indent="-168275">
              <a:lnSpc>
                <a:spcPts val="1200"/>
              </a:lnSpc>
              <a:buClr>
                <a:srgbClr val="3333B2"/>
              </a:buClr>
              <a:buChar char="►"/>
              <a:tabLst>
                <a:tab pos="593090" algn="l"/>
              </a:tabLst>
            </a:pPr>
            <a:r>
              <a:rPr sz="1000" spc="-5" dirty="0">
                <a:latin typeface="Arial"/>
                <a:cs typeface="Arial"/>
              </a:rPr>
              <a:t>Note:</a:t>
            </a:r>
            <a:r>
              <a:rPr sz="1000" spc="70" dirty="0">
                <a:latin typeface="Arial"/>
                <a:cs typeface="Arial"/>
              </a:rPr>
              <a:t> </a:t>
            </a:r>
            <a:r>
              <a:rPr sz="1000" spc="-10" dirty="0">
                <a:latin typeface="Arial"/>
                <a:cs typeface="Arial"/>
              </a:rPr>
              <a:t>we</a:t>
            </a:r>
            <a:r>
              <a:rPr sz="1000" spc="5" dirty="0">
                <a:latin typeface="Arial"/>
                <a:cs typeface="Arial"/>
              </a:rPr>
              <a:t> </a:t>
            </a:r>
            <a:r>
              <a:rPr sz="1000" spc="-5" dirty="0">
                <a:latin typeface="Arial"/>
                <a:cs typeface="Arial"/>
              </a:rPr>
              <a:t>require</a:t>
            </a:r>
            <a:r>
              <a:rPr sz="1000" spc="5" dirty="0">
                <a:latin typeface="Arial"/>
                <a:cs typeface="Arial"/>
              </a:rPr>
              <a:t> </a:t>
            </a:r>
            <a:r>
              <a:rPr sz="1000" spc="-5" dirty="0">
                <a:solidFill>
                  <a:srgbClr val="0000FA"/>
                </a:solidFill>
                <a:latin typeface="Arial"/>
                <a:cs typeface="Arial"/>
              </a:rPr>
              <a:t>OS</a:t>
            </a:r>
            <a:r>
              <a:rPr sz="1000" spc="10" dirty="0">
                <a:solidFill>
                  <a:srgbClr val="0000FA"/>
                </a:solidFill>
                <a:latin typeface="Arial"/>
                <a:cs typeface="Arial"/>
              </a:rPr>
              <a:t> </a:t>
            </a:r>
            <a:r>
              <a:rPr sz="1000" dirty="0">
                <a:solidFill>
                  <a:srgbClr val="0000FA"/>
                </a:solidFill>
                <a:latin typeface="Arial"/>
                <a:cs typeface="Arial"/>
              </a:rPr>
              <a:t>supports</a:t>
            </a:r>
            <a:r>
              <a:rPr sz="1000" spc="5" dirty="0">
                <a:solidFill>
                  <a:srgbClr val="0000FA"/>
                </a:solidFill>
                <a:latin typeface="Arial"/>
                <a:cs typeface="Arial"/>
              </a:rPr>
              <a:t> </a:t>
            </a:r>
            <a:r>
              <a:rPr sz="1000" spc="-5" dirty="0">
                <a:solidFill>
                  <a:srgbClr val="0000FA"/>
                </a:solidFill>
                <a:latin typeface="Arial"/>
                <a:cs typeface="Arial"/>
              </a:rPr>
              <a:t>priority-based</a:t>
            </a:r>
            <a:r>
              <a:rPr sz="1000" spc="5" dirty="0">
                <a:solidFill>
                  <a:srgbClr val="0000FA"/>
                </a:solidFill>
                <a:latin typeface="Arial"/>
                <a:cs typeface="Arial"/>
              </a:rPr>
              <a:t> </a:t>
            </a:r>
            <a:r>
              <a:rPr sz="1000" spc="-5" dirty="0">
                <a:solidFill>
                  <a:srgbClr val="0000FA"/>
                </a:solidFill>
                <a:latin typeface="Arial"/>
                <a:cs typeface="Arial"/>
              </a:rPr>
              <a:t>scheduling</a:t>
            </a:r>
            <a:endParaRPr sz="1000" dirty="0">
              <a:latin typeface="Arial"/>
              <a:cs typeface="Arial"/>
            </a:endParaRPr>
          </a:p>
          <a:p>
            <a:pPr>
              <a:lnSpc>
                <a:spcPct val="100000"/>
              </a:lnSpc>
              <a:spcBef>
                <a:spcPts val="15"/>
              </a:spcBef>
              <a:buClr>
                <a:srgbClr val="3333B2"/>
              </a:buClr>
              <a:buFont typeface="Arial"/>
              <a:buChar char="►"/>
            </a:pPr>
            <a:endParaRPr sz="1300" dirty="0">
              <a:latin typeface="Arial"/>
              <a:cs typeface="Arial"/>
            </a:endParaRPr>
          </a:p>
          <a:p>
            <a:pPr marL="314960">
              <a:lnSpc>
                <a:spcPct val="100000"/>
              </a:lnSpc>
            </a:pPr>
            <a:r>
              <a:rPr sz="1200" spc="-5" dirty="0">
                <a:solidFill>
                  <a:srgbClr val="3333B2"/>
                </a:solidFill>
                <a:latin typeface="Arial"/>
                <a:cs typeface="Arial"/>
              </a:rPr>
              <a:t>Solution 2:</a:t>
            </a:r>
            <a:r>
              <a:rPr sz="1200" spc="80" dirty="0">
                <a:solidFill>
                  <a:srgbClr val="3333B2"/>
                </a:solidFill>
                <a:latin typeface="Arial"/>
                <a:cs typeface="Arial"/>
              </a:rPr>
              <a:t> </a:t>
            </a:r>
            <a:r>
              <a:rPr sz="1200" spc="-5" dirty="0">
                <a:solidFill>
                  <a:srgbClr val="3333B2"/>
                </a:solidFill>
                <a:latin typeface="Arial"/>
                <a:cs typeface="Arial"/>
              </a:rPr>
              <a:t>Use</a:t>
            </a:r>
            <a:r>
              <a:rPr sz="1200" dirty="0">
                <a:solidFill>
                  <a:srgbClr val="3333B2"/>
                </a:solidFill>
                <a:latin typeface="Arial"/>
                <a:cs typeface="Arial"/>
              </a:rPr>
              <a:t> </a:t>
            </a:r>
            <a:r>
              <a:rPr sz="1200" spc="-10" dirty="0">
                <a:solidFill>
                  <a:srgbClr val="3333B2"/>
                </a:solidFill>
                <a:latin typeface="Arial"/>
                <a:cs typeface="Arial"/>
              </a:rPr>
              <a:t>facilities</a:t>
            </a:r>
            <a:r>
              <a:rPr sz="1200" dirty="0">
                <a:solidFill>
                  <a:srgbClr val="3333B2"/>
                </a:solidFill>
                <a:latin typeface="Arial"/>
                <a:cs typeface="Arial"/>
              </a:rPr>
              <a:t> </a:t>
            </a:r>
            <a:r>
              <a:rPr sz="1200" spc="-5" dirty="0">
                <a:solidFill>
                  <a:srgbClr val="3333B2"/>
                </a:solidFill>
                <a:latin typeface="Arial"/>
                <a:cs typeface="Arial"/>
              </a:rPr>
              <a:t>of the</a:t>
            </a:r>
            <a:r>
              <a:rPr sz="1200" dirty="0">
                <a:solidFill>
                  <a:srgbClr val="3333B2"/>
                </a:solidFill>
                <a:latin typeface="Arial"/>
                <a:cs typeface="Arial"/>
              </a:rPr>
              <a:t> transport </a:t>
            </a:r>
            <a:r>
              <a:rPr sz="1200" spc="-20" dirty="0">
                <a:solidFill>
                  <a:srgbClr val="3333B2"/>
                </a:solidFill>
                <a:latin typeface="Arial"/>
                <a:cs typeface="Arial"/>
              </a:rPr>
              <a:t>layer</a:t>
            </a:r>
            <a:endParaRPr sz="1200" dirty="0">
              <a:latin typeface="Arial"/>
              <a:cs typeface="Arial"/>
            </a:endParaRPr>
          </a:p>
          <a:p>
            <a:pPr marL="592455" indent="-168275">
              <a:lnSpc>
                <a:spcPts val="1200"/>
              </a:lnSpc>
              <a:spcBef>
                <a:spcPts val="780"/>
              </a:spcBef>
              <a:buClr>
                <a:srgbClr val="3333B2"/>
              </a:buClr>
              <a:buChar char="►"/>
              <a:tabLst>
                <a:tab pos="593090" algn="l"/>
              </a:tabLst>
            </a:pPr>
            <a:r>
              <a:rPr sz="1000" spc="-5" dirty="0">
                <a:latin typeface="Arial"/>
                <a:cs typeface="Arial"/>
              </a:rPr>
              <a:t>Example:</a:t>
            </a:r>
            <a:r>
              <a:rPr sz="1000" spc="65" dirty="0">
                <a:latin typeface="Arial"/>
                <a:cs typeface="Arial"/>
              </a:rPr>
              <a:t> </a:t>
            </a:r>
            <a:r>
              <a:rPr sz="1000" spc="-5" dirty="0">
                <a:latin typeface="Arial"/>
                <a:cs typeface="Arial"/>
              </a:rPr>
              <a:t>TCP allows</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urgent</a:t>
            </a:r>
            <a:r>
              <a:rPr sz="1000"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in</a:t>
            </a:r>
            <a:r>
              <a:rPr sz="1000" dirty="0">
                <a:latin typeface="Arial"/>
                <a:cs typeface="Arial"/>
              </a:rPr>
              <a:t> </a:t>
            </a:r>
            <a:r>
              <a:rPr sz="1000" spc="-5" dirty="0">
                <a:latin typeface="Arial"/>
                <a:cs typeface="Arial"/>
              </a:rPr>
              <a:t>same</a:t>
            </a:r>
            <a:r>
              <a:rPr sz="1000" dirty="0">
                <a:latin typeface="Arial"/>
                <a:cs typeface="Arial"/>
              </a:rPr>
              <a:t> </a:t>
            </a:r>
            <a:r>
              <a:rPr sz="1000" spc="-5" dirty="0">
                <a:latin typeface="Arial"/>
                <a:cs typeface="Arial"/>
              </a:rPr>
              <a:t>connection</a:t>
            </a:r>
            <a:endParaRPr sz="1000" dirty="0">
              <a:latin typeface="Arial"/>
              <a:cs typeface="Arial"/>
            </a:endParaRPr>
          </a:p>
          <a:p>
            <a:pPr marL="592455" indent="-168275">
              <a:lnSpc>
                <a:spcPts val="1200"/>
              </a:lnSpc>
              <a:buClr>
                <a:srgbClr val="3333B2"/>
              </a:buClr>
              <a:buChar char="►"/>
              <a:tabLst>
                <a:tab pos="593090" algn="l"/>
              </a:tabLst>
            </a:pPr>
            <a:r>
              <a:rPr sz="1000" spc="-5" dirty="0">
                <a:latin typeface="Arial"/>
                <a:cs typeface="Arial"/>
              </a:rPr>
              <a:t>Urgent</a:t>
            </a:r>
            <a:r>
              <a:rPr sz="1000" dirty="0">
                <a:latin typeface="Arial"/>
                <a:cs typeface="Arial"/>
              </a:rPr>
              <a:t> </a:t>
            </a:r>
            <a:r>
              <a:rPr sz="1000" spc="-5" dirty="0">
                <a:latin typeface="Arial"/>
                <a:cs typeface="Arial"/>
              </a:rPr>
              <a:t>messages</a:t>
            </a:r>
            <a:r>
              <a:rPr sz="1000" dirty="0">
                <a:latin typeface="Arial"/>
                <a:cs typeface="Arial"/>
              </a:rPr>
              <a:t> </a:t>
            </a:r>
            <a:r>
              <a:rPr sz="1000" spc="-5" dirty="0">
                <a:latin typeface="Arial"/>
                <a:cs typeface="Arial"/>
              </a:rPr>
              <a:t>can</a:t>
            </a:r>
            <a:r>
              <a:rPr sz="1000" spc="5" dirty="0">
                <a:latin typeface="Arial"/>
                <a:cs typeface="Arial"/>
              </a:rPr>
              <a:t> </a:t>
            </a:r>
            <a:r>
              <a:rPr sz="1000" spc="-5" dirty="0">
                <a:latin typeface="Arial"/>
                <a:cs typeface="Arial"/>
              </a:rPr>
              <a:t>be</a:t>
            </a:r>
            <a:r>
              <a:rPr sz="1000" dirty="0">
                <a:latin typeface="Arial"/>
                <a:cs typeface="Arial"/>
              </a:rPr>
              <a:t> </a:t>
            </a:r>
            <a:r>
              <a:rPr sz="1000" spc="-5" dirty="0">
                <a:latin typeface="Arial"/>
                <a:cs typeface="Arial"/>
              </a:rPr>
              <a:t>caught</a:t>
            </a:r>
            <a:r>
              <a:rPr sz="1000" dirty="0">
                <a:latin typeface="Arial"/>
                <a:cs typeface="Arial"/>
              </a:rPr>
              <a:t> </a:t>
            </a:r>
            <a:r>
              <a:rPr sz="1000" spc="-5" dirty="0">
                <a:latin typeface="Arial"/>
                <a:cs typeface="Arial"/>
              </a:rPr>
              <a:t>using</a:t>
            </a:r>
            <a:r>
              <a:rPr sz="1000" spc="5" dirty="0">
                <a:latin typeface="Arial"/>
                <a:cs typeface="Arial"/>
              </a:rPr>
              <a:t> </a:t>
            </a:r>
            <a:r>
              <a:rPr sz="1000" spc="-5" dirty="0">
                <a:latin typeface="Arial"/>
                <a:cs typeface="Arial"/>
              </a:rPr>
              <a:t>OS</a:t>
            </a:r>
            <a:r>
              <a:rPr sz="1000" dirty="0">
                <a:latin typeface="Arial"/>
                <a:cs typeface="Arial"/>
              </a:rPr>
              <a:t> </a:t>
            </a:r>
            <a:r>
              <a:rPr sz="1000" spc="-5" dirty="0">
                <a:latin typeface="Arial"/>
                <a:cs typeface="Arial"/>
              </a:rPr>
              <a:t>signaling</a:t>
            </a:r>
            <a:r>
              <a:rPr sz="1000" dirty="0">
                <a:latin typeface="Arial"/>
                <a:cs typeface="Arial"/>
              </a:rPr>
              <a:t> </a:t>
            </a:r>
            <a:r>
              <a:rPr sz="1000" spc="-5" dirty="0">
                <a:latin typeface="Arial"/>
                <a:cs typeface="Arial"/>
              </a:rPr>
              <a:t>techniques</a:t>
            </a:r>
            <a:endParaRPr sz="1000" dirty="0">
              <a:latin typeface="Arial"/>
              <a:cs typeface="Arial"/>
            </a:endParaRPr>
          </a:p>
        </p:txBody>
      </p:sp>
    </p:spTree>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1169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Stateless versus stateful servers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10940"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General</a:t>
            </a:r>
            <a:r>
              <a:rPr sz="600" spc="-2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3" name="object 3"/>
          <p:cNvSpPr txBox="1">
            <a:spLocks noGrp="1"/>
          </p:cNvSpPr>
          <p:nvPr>
            <p:ph type="title"/>
          </p:nvPr>
        </p:nvSpPr>
        <p:spPr>
          <a:xfrm>
            <a:off x="95300" y="188846"/>
            <a:ext cx="1454785" cy="244475"/>
          </a:xfrm>
          <a:prstGeom prst="rect">
            <a:avLst/>
          </a:prstGeom>
        </p:spPr>
        <p:txBody>
          <a:bodyPr vert="horz" wrap="square" lIns="0" tIns="17145" rIns="0" bIns="0" rtlCol="0">
            <a:spAutoFit/>
          </a:bodyPr>
          <a:lstStyle/>
          <a:p>
            <a:pPr marL="12700">
              <a:lnSpc>
                <a:spcPct val="100000"/>
              </a:lnSpc>
              <a:spcBef>
                <a:spcPts val="135"/>
              </a:spcBef>
            </a:pPr>
            <a:r>
              <a:rPr spc="15" dirty="0"/>
              <a:t>Servers</a:t>
            </a:r>
            <a:r>
              <a:rPr spc="-30" dirty="0"/>
              <a:t> </a:t>
            </a:r>
            <a:r>
              <a:rPr spc="15" dirty="0"/>
              <a:t>and</a:t>
            </a:r>
            <a:r>
              <a:rPr spc="-25" dirty="0"/>
              <a:t> </a:t>
            </a:r>
            <a:r>
              <a:rPr spc="15" dirty="0"/>
              <a:t>state</a:t>
            </a:r>
          </a:p>
        </p:txBody>
      </p:sp>
      <p:sp>
        <p:nvSpPr>
          <p:cNvPr id="4" name="object 4"/>
          <p:cNvSpPr txBox="1"/>
          <p:nvPr/>
        </p:nvSpPr>
        <p:spPr>
          <a:xfrm>
            <a:off x="334594" y="456333"/>
            <a:ext cx="3682365" cy="1188085"/>
          </a:xfrm>
          <a:prstGeom prst="rect">
            <a:avLst/>
          </a:prstGeom>
        </p:spPr>
        <p:txBody>
          <a:bodyPr vert="horz" wrap="square" lIns="0" tIns="12065" rIns="0" bIns="0" rtlCol="0">
            <a:spAutoFit/>
          </a:bodyPr>
          <a:lstStyle/>
          <a:p>
            <a:pPr marL="25400">
              <a:lnSpc>
                <a:spcPts val="1410"/>
              </a:lnSpc>
              <a:spcBef>
                <a:spcPts val="95"/>
              </a:spcBef>
            </a:pPr>
            <a:r>
              <a:rPr sz="1200" spc="-5" dirty="0">
                <a:solidFill>
                  <a:srgbClr val="3333B2"/>
                </a:solidFill>
                <a:latin typeface="Arial"/>
                <a:cs typeface="Arial"/>
              </a:rPr>
              <a:t>Stateless</a:t>
            </a:r>
            <a:r>
              <a:rPr sz="1200" spc="-30" dirty="0">
                <a:solidFill>
                  <a:srgbClr val="3333B2"/>
                </a:solidFill>
                <a:latin typeface="Arial"/>
                <a:cs typeface="Arial"/>
              </a:rPr>
              <a:t> </a:t>
            </a:r>
            <a:r>
              <a:rPr sz="1200" spc="-5" dirty="0">
                <a:solidFill>
                  <a:srgbClr val="3333B2"/>
                </a:solidFill>
                <a:latin typeface="Arial"/>
                <a:cs typeface="Arial"/>
              </a:rPr>
              <a:t>servers</a:t>
            </a:r>
            <a:endParaRPr sz="1200">
              <a:latin typeface="Arial"/>
              <a:cs typeface="Arial"/>
            </a:endParaRPr>
          </a:p>
          <a:p>
            <a:pPr marL="25400" marR="31115">
              <a:lnSpc>
                <a:spcPts val="1200"/>
              </a:lnSpc>
              <a:spcBef>
                <a:spcPts val="10"/>
              </a:spcBef>
            </a:pPr>
            <a:r>
              <a:rPr sz="1000" spc="-15" dirty="0">
                <a:latin typeface="Arial"/>
                <a:cs typeface="Arial"/>
              </a:rPr>
              <a:t>Never</a:t>
            </a:r>
            <a:r>
              <a:rPr sz="1000" dirty="0">
                <a:latin typeface="Arial"/>
                <a:cs typeface="Arial"/>
              </a:rPr>
              <a:t> </a:t>
            </a:r>
            <a:r>
              <a:rPr sz="1000" spc="-10" dirty="0">
                <a:latin typeface="Arial"/>
                <a:cs typeface="Arial"/>
              </a:rPr>
              <a:t>keep</a:t>
            </a:r>
            <a:r>
              <a:rPr sz="1000" dirty="0">
                <a:latin typeface="Arial"/>
                <a:cs typeface="Arial"/>
              </a:rPr>
              <a:t> </a:t>
            </a:r>
            <a:r>
              <a:rPr sz="1000" spc="-5" dirty="0">
                <a:solidFill>
                  <a:srgbClr val="0000FA"/>
                </a:solidFill>
                <a:latin typeface="Arial"/>
                <a:cs typeface="Arial"/>
              </a:rPr>
              <a:t>accurate</a:t>
            </a:r>
            <a:r>
              <a:rPr sz="1000" dirty="0">
                <a:solidFill>
                  <a:srgbClr val="0000FA"/>
                </a:solidFill>
                <a:latin typeface="Arial"/>
                <a:cs typeface="Arial"/>
              </a:rPr>
              <a:t> </a:t>
            </a:r>
            <a:r>
              <a:rPr sz="1000" spc="-5" dirty="0">
                <a:latin typeface="Arial"/>
                <a:cs typeface="Arial"/>
              </a:rPr>
              <a:t>information</a:t>
            </a:r>
            <a:r>
              <a:rPr sz="1000" dirty="0">
                <a:latin typeface="Arial"/>
                <a:cs typeface="Arial"/>
              </a:rPr>
              <a:t> </a:t>
            </a:r>
            <a:r>
              <a:rPr sz="1000" spc="-5" dirty="0">
                <a:latin typeface="Arial"/>
                <a:cs typeface="Arial"/>
              </a:rPr>
              <a:t>about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status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after </a:t>
            </a:r>
            <a:r>
              <a:rPr sz="1000" spc="-260" dirty="0">
                <a:latin typeface="Arial"/>
                <a:cs typeface="Arial"/>
              </a:rPr>
              <a:t> </a:t>
            </a:r>
            <a:r>
              <a:rPr sz="1000" spc="-10" dirty="0">
                <a:latin typeface="Arial"/>
                <a:cs typeface="Arial"/>
              </a:rPr>
              <a:t>having </a:t>
            </a:r>
            <a:r>
              <a:rPr sz="1000" spc="-5" dirty="0">
                <a:latin typeface="Arial"/>
                <a:cs typeface="Arial"/>
              </a:rPr>
              <a:t>handled a request:</a:t>
            </a:r>
            <a:endParaRPr sz="1000">
              <a:latin typeface="Arial"/>
              <a:cs typeface="Arial"/>
            </a:endParaRPr>
          </a:p>
          <a:p>
            <a:pPr marL="302260" marR="17780" indent="-168275">
              <a:lnSpc>
                <a:spcPct val="100000"/>
              </a:lnSpc>
              <a:spcBef>
                <a:spcPts val="550"/>
              </a:spcBef>
              <a:buClr>
                <a:srgbClr val="3333B2"/>
              </a:buClr>
              <a:buChar char="►"/>
              <a:tabLst>
                <a:tab pos="302895" algn="l"/>
              </a:tabLst>
            </a:pPr>
            <a:r>
              <a:rPr sz="1000" spc="-5" dirty="0">
                <a:latin typeface="Arial"/>
                <a:cs typeface="Arial"/>
              </a:rPr>
              <a:t>Don’t</a:t>
            </a:r>
            <a:r>
              <a:rPr sz="1000" dirty="0">
                <a:latin typeface="Arial"/>
                <a:cs typeface="Arial"/>
              </a:rPr>
              <a:t> </a:t>
            </a:r>
            <a:r>
              <a:rPr sz="1000" spc="-5" dirty="0">
                <a:latin typeface="Arial"/>
                <a:cs typeface="Arial"/>
              </a:rPr>
              <a:t>record</a:t>
            </a:r>
            <a:r>
              <a:rPr sz="1000" dirty="0">
                <a:latin typeface="Arial"/>
                <a:cs typeface="Arial"/>
              </a:rPr>
              <a:t> </a:t>
            </a:r>
            <a:r>
              <a:rPr sz="1000" spc="-5" dirty="0">
                <a:latin typeface="Arial"/>
                <a:cs typeface="Arial"/>
              </a:rPr>
              <a:t>whether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opened</a:t>
            </a:r>
            <a:r>
              <a:rPr sz="1000" dirty="0">
                <a:latin typeface="Arial"/>
                <a:cs typeface="Arial"/>
              </a:rPr>
              <a:t> </a:t>
            </a:r>
            <a:r>
              <a:rPr sz="1000" spc="-5" dirty="0">
                <a:latin typeface="Arial"/>
                <a:cs typeface="Arial"/>
              </a:rPr>
              <a:t>(simply</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it </a:t>
            </a:r>
            <a:r>
              <a:rPr sz="1000" spc="-260" dirty="0">
                <a:latin typeface="Arial"/>
                <a:cs typeface="Arial"/>
              </a:rPr>
              <a:t> </a:t>
            </a:r>
            <a:r>
              <a:rPr sz="1000" spc="-5" dirty="0">
                <a:latin typeface="Arial"/>
                <a:cs typeface="Arial"/>
              </a:rPr>
              <a:t>again</a:t>
            </a:r>
            <a:r>
              <a:rPr sz="1000" spc="-10" dirty="0">
                <a:latin typeface="Arial"/>
                <a:cs typeface="Arial"/>
              </a:rPr>
              <a:t> </a:t>
            </a:r>
            <a:r>
              <a:rPr sz="1000" spc="-5" dirty="0">
                <a:latin typeface="Arial"/>
                <a:cs typeface="Arial"/>
              </a:rPr>
              <a:t>after access)</a:t>
            </a:r>
            <a:endParaRPr sz="1000">
              <a:latin typeface="Arial"/>
              <a:cs typeface="Arial"/>
            </a:endParaRPr>
          </a:p>
          <a:p>
            <a:pPr marL="302260" indent="-168275">
              <a:lnSpc>
                <a:spcPts val="1190"/>
              </a:lnSpc>
              <a:buClr>
                <a:srgbClr val="3333B2"/>
              </a:buClr>
              <a:buChar char="►"/>
              <a:tabLst>
                <a:tab pos="302895" algn="l"/>
              </a:tabLst>
            </a:pPr>
            <a:r>
              <a:rPr sz="1000" spc="-5" dirty="0">
                <a:latin typeface="Arial"/>
                <a:cs typeface="Arial"/>
              </a:rPr>
              <a:t>Don’t promise to</a:t>
            </a:r>
            <a:r>
              <a:rPr sz="1000" dirty="0">
                <a:latin typeface="Arial"/>
                <a:cs typeface="Arial"/>
              </a:rPr>
              <a:t> </a:t>
            </a:r>
            <a:r>
              <a:rPr sz="1000" spc="-10" dirty="0">
                <a:latin typeface="Arial"/>
                <a:cs typeface="Arial"/>
              </a:rPr>
              <a:t>invalidate</a:t>
            </a:r>
            <a:r>
              <a:rPr sz="1000" spc="-5" dirty="0">
                <a:latin typeface="Arial"/>
                <a:cs typeface="Arial"/>
              </a:rPr>
              <a:t> a</a:t>
            </a:r>
            <a:r>
              <a:rPr sz="1000" dirty="0">
                <a:latin typeface="Arial"/>
                <a:cs typeface="Arial"/>
              </a:rPr>
              <a:t> </a:t>
            </a:r>
            <a:r>
              <a:rPr sz="1000" spc="-10" dirty="0">
                <a:latin typeface="Arial"/>
                <a:cs typeface="Arial"/>
              </a:rPr>
              <a:t>client’s</a:t>
            </a:r>
            <a:r>
              <a:rPr sz="1000" spc="-5" dirty="0">
                <a:latin typeface="Arial"/>
                <a:cs typeface="Arial"/>
              </a:rPr>
              <a:t> cache</a:t>
            </a:r>
            <a:endParaRPr sz="1000">
              <a:latin typeface="Arial"/>
              <a:cs typeface="Arial"/>
            </a:endParaRPr>
          </a:p>
          <a:p>
            <a:pPr marL="302260" indent="-168275">
              <a:lnSpc>
                <a:spcPts val="1200"/>
              </a:lnSpc>
              <a:buClr>
                <a:srgbClr val="3333B2"/>
              </a:buClr>
              <a:buChar char="►"/>
              <a:tabLst>
                <a:tab pos="302895" algn="l"/>
              </a:tabLst>
            </a:pPr>
            <a:r>
              <a:rPr sz="1000" spc="-5" dirty="0">
                <a:latin typeface="Arial"/>
                <a:cs typeface="Arial"/>
              </a:rPr>
              <a:t>Don’t</a:t>
            </a:r>
            <a:r>
              <a:rPr sz="1000" spc="-10" dirty="0">
                <a:latin typeface="Arial"/>
                <a:cs typeface="Arial"/>
              </a:rPr>
              <a:t> keep track</a:t>
            </a:r>
            <a:r>
              <a:rPr sz="1000" spc="-5" dirty="0">
                <a:latin typeface="Arial"/>
                <a:cs typeface="Arial"/>
              </a:rPr>
              <a:t> of</a:t>
            </a:r>
            <a:r>
              <a:rPr sz="1000" spc="-10" dirty="0">
                <a:latin typeface="Arial"/>
                <a:cs typeface="Arial"/>
              </a:rPr>
              <a:t> your</a:t>
            </a:r>
            <a:r>
              <a:rPr sz="1000" spc="-5" dirty="0">
                <a:latin typeface="Arial"/>
                <a:cs typeface="Arial"/>
              </a:rPr>
              <a:t> clients</a:t>
            </a:r>
            <a:endParaRPr sz="1000">
              <a:latin typeface="Arial"/>
              <a:cs typeface="Arial"/>
            </a:endParaRPr>
          </a:p>
        </p:txBody>
      </p:sp>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11169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Stateless versus stateful servers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10940"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General</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3" name="object 3"/>
          <p:cNvSpPr txBox="1">
            <a:spLocks noGrp="1"/>
          </p:cNvSpPr>
          <p:nvPr>
            <p:ph type="title"/>
          </p:nvPr>
        </p:nvSpPr>
        <p:spPr>
          <a:xfrm>
            <a:off x="95300" y="188846"/>
            <a:ext cx="1454785" cy="244475"/>
          </a:xfrm>
          <a:prstGeom prst="rect">
            <a:avLst/>
          </a:prstGeom>
        </p:spPr>
        <p:txBody>
          <a:bodyPr vert="horz" wrap="square" lIns="0" tIns="17145" rIns="0" bIns="0" rtlCol="0">
            <a:spAutoFit/>
          </a:bodyPr>
          <a:lstStyle/>
          <a:p>
            <a:pPr marL="12700">
              <a:lnSpc>
                <a:spcPct val="100000"/>
              </a:lnSpc>
              <a:spcBef>
                <a:spcPts val="135"/>
              </a:spcBef>
            </a:pPr>
            <a:r>
              <a:rPr spc="15" dirty="0"/>
              <a:t>Servers</a:t>
            </a:r>
            <a:r>
              <a:rPr spc="-30" dirty="0"/>
              <a:t> </a:t>
            </a:r>
            <a:r>
              <a:rPr spc="15" dirty="0"/>
              <a:t>and</a:t>
            </a:r>
            <a:r>
              <a:rPr spc="-25" dirty="0"/>
              <a:t> </a:t>
            </a:r>
            <a:r>
              <a:rPr spc="15" dirty="0"/>
              <a:t>state</a:t>
            </a:r>
          </a:p>
        </p:txBody>
      </p:sp>
      <p:sp>
        <p:nvSpPr>
          <p:cNvPr id="4" name="object 4"/>
          <p:cNvSpPr txBox="1"/>
          <p:nvPr/>
        </p:nvSpPr>
        <p:spPr>
          <a:xfrm>
            <a:off x="309194" y="456333"/>
            <a:ext cx="3989704" cy="2268220"/>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Stateless</a:t>
            </a:r>
            <a:r>
              <a:rPr sz="1200" spc="-30" dirty="0">
                <a:solidFill>
                  <a:srgbClr val="3333B2"/>
                </a:solidFill>
                <a:latin typeface="Arial"/>
                <a:cs typeface="Arial"/>
              </a:rPr>
              <a:t> </a:t>
            </a:r>
            <a:r>
              <a:rPr sz="1200" spc="-5" dirty="0">
                <a:solidFill>
                  <a:srgbClr val="3333B2"/>
                </a:solidFill>
                <a:latin typeface="Arial"/>
                <a:cs typeface="Arial"/>
              </a:rPr>
              <a:t>servers</a:t>
            </a:r>
            <a:endParaRPr sz="1200">
              <a:latin typeface="Arial"/>
              <a:cs typeface="Arial"/>
            </a:endParaRPr>
          </a:p>
          <a:p>
            <a:pPr marL="50800" marR="313055">
              <a:lnSpc>
                <a:spcPts val="1200"/>
              </a:lnSpc>
              <a:spcBef>
                <a:spcPts val="10"/>
              </a:spcBef>
            </a:pPr>
            <a:r>
              <a:rPr sz="1000" spc="-15" dirty="0">
                <a:latin typeface="Arial"/>
                <a:cs typeface="Arial"/>
              </a:rPr>
              <a:t>Never</a:t>
            </a:r>
            <a:r>
              <a:rPr sz="1000" dirty="0">
                <a:latin typeface="Arial"/>
                <a:cs typeface="Arial"/>
              </a:rPr>
              <a:t> </a:t>
            </a:r>
            <a:r>
              <a:rPr sz="1000" spc="-10" dirty="0">
                <a:latin typeface="Arial"/>
                <a:cs typeface="Arial"/>
              </a:rPr>
              <a:t>keep</a:t>
            </a:r>
            <a:r>
              <a:rPr sz="1000" dirty="0">
                <a:latin typeface="Arial"/>
                <a:cs typeface="Arial"/>
              </a:rPr>
              <a:t> </a:t>
            </a:r>
            <a:r>
              <a:rPr sz="1000" spc="-5" dirty="0">
                <a:solidFill>
                  <a:srgbClr val="0000FA"/>
                </a:solidFill>
                <a:latin typeface="Arial"/>
                <a:cs typeface="Arial"/>
              </a:rPr>
              <a:t>accurate</a:t>
            </a:r>
            <a:r>
              <a:rPr sz="1000" dirty="0">
                <a:solidFill>
                  <a:srgbClr val="0000FA"/>
                </a:solidFill>
                <a:latin typeface="Arial"/>
                <a:cs typeface="Arial"/>
              </a:rPr>
              <a:t> </a:t>
            </a:r>
            <a:r>
              <a:rPr sz="1000" spc="-5" dirty="0">
                <a:latin typeface="Arial"/>
                <a:cs typeface="Arial"/>
              </a:rPr>
              <a:t>information</a:t>
            </a:r>
            <a:r>
              <a:rPr sz="1000" dirty="0">
                <a:latin typeface="Arial"/>
                <a:cs typeface="Arial"/>
              </a:rPr>
              <a:t> </a:t>
            </a:r>
            <a:r>
              <a:rPr sz="1000" spc="-5" dirty="0">
                <a:latin typeface="Arial"/>
                <a:cs typeface="Arial"/>
              </a:rPr>
              <a:t>about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status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after </a:t>
            </a:r>
            <a:r>
              <a:rPr sz="1000" spc="-260" dirty="0">
                <a:latin typeface="Arial"/>
                <a:cs typeface="Arial"/>
              </a:rPr>
              <a:t> </a:t>
            </a:r>
            <a:r>
              <a:rPr sz="1000" spc="-10" dirty="0">
                <a:latin typeface="Arial"/>
                <a:cs typeface="Arial"/>
              </a:rPr>
              <a:t>having </a:t>
            </a:r>
            <a:r>
              <a:rPr sz="1000" spc="-5" dirty="0">
                <a:latin typeface="Arial"/>
                <a:cs typeface="Arial"/>
              </a:rPr>
              <a:t>handled a request:</a:t>
            </a:r>
            <a:endParaRPr sz="1000">
              <a:latin typeface="Arial"/>
              <a:cs typeface="Arial"/>
            </a:endParaRPr>
          </a:p>
          <a:p>
            <a:pPr marL="327660" marR="299720" indent="-168275">
              <a:lnSpc>
                <a:spcPct val="100000"/>
              </a:lnSpc>
              <a:spcBef>
                <a:spcPts val="550"/>
              </a:spcBef>
              <a:buClr>
                <a:srgbClr val="3333B2"/>
              </a:buClr>
              <a:buChar char="►"/>
              <a:tabLst>
                <a:tab pos="328295" algn="l"/>
              </a:tabLst>
            </a:pPr>
            <a:r>
              <a:rPr sz="1000" spc="-5" dirty="0">
                <a:latin typeface="Arial"/>
                <a:cs typeface="Arial"/>
              </a:rPr>
              <a:t>Don’t</a:t>
            </a:r>
            <a:r>
              <a:rPr sz="1000" dirty="0">
                <a:latin typeface="Arial"/>
                <a:cs typeface="Arial"/>
              </a:rPr>
              <a:t> </a:t>
            </a:r>
            <a:r>
              <a:rPr sz="1000" spc="-5" dirty="0">
                <a:latin typeface="Arial"/>
                <a:cs typeface="Arial"/>
              </a:rPr>
              <a:t>record</a:t>
            </a:r>
            <a:r>
              <a:rPr sz="1000" dirty="0">
                <a:latin typeface="Arial"/>
                <a:cs typeface="Arial"/>
              </a:rPr>
              <a:t> </a:t>
            </a:r>
            <a:r>
              <a:rPr sz="1000" spc="-5" dirty="0">
                <a:latin typeface="Arial"/>
                <a:cs typeface="Arial"/>
              </a:rPr>
              <a:t>whether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opened</a:t>
            </a:r>
            <a:r>
              <a:rPr sz="1000" dirty="0">
                <a:latin typeface="Arial"/>
                <a:cs typeface="Arial"/>
              </a:rPr>
              <a:t> </a:t>
            </a:r>
            <a:r>
              <a:rPr sz="1000" spc="-5" dirty="0">
                <a:latin typeface="Arial"/>
                <a:cs typeface="Arial"/>
              </a:rPr>
              <a:t>(simply</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it </a:t>
            </a:r>
            <a:r>
              <a:rPr sz="1000" spc="-260" dirty="0">
                <a:latin typeface="Arial"/>
                <a:cs typeface="Arial"/>
              </a:rPr>
              <a:t> </a:t>
            </a:r>
            <a:r>
              <a:rPr sz="1000" spc="-5" dirty="0">
                <a:latin typeface="Arial"/>
                <a:cs typeface="Arial"/>
              </a:rPr>
              <a:t>again</a:t>
            </a:r>
            <a:r>
              <a:rPr sz="1000" spc="-10" dirty="0">
                <a:latin typeface="Arial"/>
                <a:cs typeface="Arial"/>
              </a:rPr>
              <a:t> </a:t>
            </a:r>
            <a:r>
              <a:rPr sz="1000" spc="-5" dirty="0">
                <a:latin typeface="Arial"/>
                <a:cs typeface="Arial"/>
              </a:rPr>
              <a:t>after access)</a:t>
            </a:r>
            <a:endParaRPr sz="1000">
              <a:latin typeface="Arial"/>
              <a:cs typeface="Arial"/>
            </a:endParaRPr>
          </a:p>
          <a:p>
            <a:pPr marL="327660" indent="-168275">
              <a:lnSpc>
                <a:spcPts val="1190"/>
              </a:lnSpc>
              <a:buClr>
                <a:srgbClr val="3333B2"/>
              </a:buClr>
              <a:buChar char="►"/>
              <a:tabLst>
                <a:tab pos="328295" algn="l"/>
              </a:tabLst>
            </a:pPr>
            <a:r>
              <a:rPr sz="1000" spc="-5" dirty="0">
                <a:latin typeface="Arial"/>
                <a:cs typeface="Arial"/>
              </a:rPr>
              <a:t>Don’t promise to</a:t>
            </a:r>
            <a:r>
              <a:rPr sz="1000" dirty="0">
                <a:latin typeface="Arial"/>
                <a:cs typeface="Arial"/>
              </a:rPr>
              <a:t> </a:t>
            </a:r>
            <a:r>
              <a:rPr sz="1000" spc="-10" dirty="0">
                <a:latin typeface="Arial"/>
                <a:cs typeface="Arial"/>
              </a:rPr>
              <a:t>invalidate</a:t>
            </a:r>
            <a:r>
              <a:rPr sz="1000" spc="-5" dirty="0">
                <a:latin typeface="Arial"/>
                <a:cs typeface="Arial"/>
              </a:rPr>
              <a:t> a</a:t>
            </a:r>
            <a:r>
              <a:rPr sz="1000" dirty="0">
                <a:latin typeface="Arial"/>
                <a:cs typeface="Arial"/>
              </a:rPr>
              <a:t> </a:t>
            </a:r>
            <a:r>
              <a:rPr sz="1000" spc="-10" dirty="0">
                <a:latin typeface="Arial"/>
                <a:cs typeface="Arial"/>
              </a:rPr>
              <a:t>client’s</a:t>
            </a:r>
            <a:r>
              <a:rPr sz="1000" spc="-5" dirty="0">
                <a:latin typeface="Arial"/>
                <a:cs typeface="Arial"/>
              </a:rPr>
              <a:t> cache</a:t>
            </a:r>
            <a:endParaRPr sz="1000">
              <a:latin typeface="Arial"/>
              <a:cs typeface="Arial"/>
            </a:endParaRPr>
          </a:p>
          <a:p>
            <a:pPr marL="327660" indent="-168275">
              <a:lnSpc>
                <a:spcPts val="1200"/>
              </a:lnSpc>
              <a:buClr>
                <a:srgbClr val="3333B2"/>
              </a:buClr>
              <a:buChar char="►"/>
              <a:tabLst>
                <a:tab pos="328295" algn="l"/>
              </a:tabLst>
            </a:pPr>
            <a:r>
              <a:rPr sz="1000" spc="-5" dirty="0">
                <a:latin typeface="Arial"/>
                <a:cs typeface="Arial"/>
              </a:rPr>
              <a:t>Don’t</a:t>
            </a:r>
            <a:r>
              <a:rPr sz="1000" spc="-10" dirty="0">
                <a:latin typeface="Arial"/>
                <a:cs typeface="Arial"/>
              </a:rPr>
              <a:t> keep track</a:t>
            </a:r>
            <a:r>
              <a:rPr sz="1000" spc="-5" dirty="0">
                <a:latin typeface="Arial"/>
                <a:cs typeface="Arial"/>
              </a:rPr>
              <a:t> of</a:t>
            </a:r>
            <a:r>
              <a:rPr sz="1000" spc="-10" dirty="0">
                <a:latin typeface="Arial"/>
                <a:cs typeface="Arial"/>
              </a:rPr>
              <a:t> your</a:t>
            </a:r>
            <a:r>
              <a:rPr sz="1000" spc="-5" dirty="0">
                <a:latin typeface="Arial"/>
                <a:cs typeface="Arial"/>
              </a:rPr>
              <a:t> clients</a:t>
            </a:r>
            <a:endParaRPr sz="1000">
              <a:latin typeface="Arial"/>
              <a:cs typeface="Arial"/>
            </a:endParaRPr>
          </a:p>
          <a:p>
            <a:pPr>
              <a:lnSpc>
                <a:spcPct val="100000"/>
              </a:lnSpc>
              <a:spcBef>
                <a:spcPts val="5"/>
              </a:spcBef>
              <a:buClr>
                <a:srgbClr val="3333B2"/>
              </a:buClr>
              <a:buFont typeface="Arial"/>
              <a:buChar char="►"/>
            </a:pPr>
            <a:endParaRPr sz="1300">
              <a:latin typeface="Arial"/>
              <a:cs typeface="Arial"/>
            </a:endParaRPr>
          </a:p>
          <a:p>
            <a:pPr marL="50800">
              <a:lnSpc>
                <a:spcPct val="100000"/>
              </a:lnSpc>
              <a:spcBef>
                <a:spcPts val="5"/>
              </a:spcBef>
            </a:pPr>
            <a:r>
              <a:rPr sz="1200" spc="-5" dirty="0">
                <a:solidFill>
                  <a:srgbClr val="3333B2"/>
                </a:solidFill>
                <a:latin typeface="Arial"/>
                <a:cs typeface="Arial"/>
              </a:rPr>
              <a:t>Consequences</a:t>
            </a:r>
            <a:endParaRPr sz="1200">
              <a:latin typeface="Arial"/>
              <a:cs typeface="Arial"/>
            </a:endParaRPr>
          </a:p>
          <a:p>
            <a:pPr marL="327660" indent="-168275">
              <a:lnSpc>
                <a:spcPts val="1200"/>
              </a:lnSpc>
              <a:spcBef>
                <a:spcPts val="770"/>
              </a:spcBef>
              <a:buClr>
                <a:srgbClr val="3333B2"/>
              </a:buClr>
              <a:buChar char="►"/>
              <a:tabLst>
                <a:tab pos="328295" algn="l"/>
              </a:tabLst>
            </a:pPr>
            <a:r>
              <a:rPr sz="1000" spc="-5" dirty="0">
                <a:latin typeface="Arial"/>
                <a:cs typeface="Arial"/>
              </a:rPr>
              <a:t>Clients and</a:t>
            </a:r>
            <a:r>
              <a:rPr sz="1000"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are</a:t>
            </a:r>
            <a:r>
              <a:rPr sz="1000" dirty="0">
                <a:latin typeface="Arial"/>
                <a:cs typeface="Arial"/>
              </a:rPr>
              <a:t> </a:t>
            </a:r>
            <a:r>
              <a:rPr sz="1000" spc="-5" dirty="0">
                <a:solidFill>
                  <a:srgbClr val="0000FA"/>
                </a:solidFill>
                <a:latin typeface="Arial"/>
                <a:cs typeface="Arial"/>
              </a:rPr>
              <a:t>completely</a:t>
            </a:r>
            <a:r>
              <a:rPr sz="1000" dirty="0">
                <a:solidFill>
                  <a:srgbClr val="0000FA"/>
                </a:solidFill>
                <a:latin typeface="Arial"/>
                <a:cs typeface="Arial"/>
              </a:rPr>
              <a:t> </a:t>
            </a:r>
            <a:r>
              <a:rPr sz="1000" spc="-5" dirty="0">
                <a:solidFill>
                  <a:srgbClr val="0000FA"/>
                </a:solidFill>
                <a:latin typeface="Arial"/>
                <a:cs typeface="Arial"/>
              </a:rPr>
              <a:t>independent</a:t>
            </a:r>
            <a:endParaRPr sz="1000">
              <a:latin typeface="Arial"/>
              <a:cs typeface="Arial"/>
            </a:endParaRPr>
          </a:p>
          <a:p>
            <a:pPr marL="327660" indent="-168275">
              <a:lnSpc>
                <a:spcPts val="1195"/>
              </a:lnSpc>
              <a:buClr>
                <a:srgbClr val="3333B2"/>
              </a:buClr>
              <a:buChar char="►"/>
              <a:tabLst>
                <a:tab pos="328295" algn="l"/>
              </a:tabLst>
            </a:pPr>
            <a:r>
              <a:rPr sz="1000" spc="-5" dirty="0">
                <a:solidFill>
                  <a:srgbClr val="0000FA"/>
                </a:solidFill>
                <a:latin typeface="Arial"/>
                <a:cs typeface="Arial"/>
              </a:rPr>
              <a:t>State</a:t>
            </a:r>
            <a:r>
              <a:rPr sz="1000" spc="-10" dirty="0">
                <a:solidFill>
                  <a:srgbClr val="0000FA"/>
                </a:solidFill>
                <a:latin typeface="Arial"/>
                <a:cs typeface="Arial"/>
              </a:rPr>
              <a:t> </a:t>
            </a:r>
            <a:r>
              <a:rPr sz="1000" spc="-5" dirty="0">
                <a:solidFill>
                  <a:srgbClr val="0000FA"/>
                </a:solidFill>
                <a:latin typeface="Arial"/>
                <a:cs typeface="Arial"/>
              </a:rPr>
              <a:t>inconsistencies</a:t>
            </a:r>
            <a:r>
              <a:rPr sz="1000" spc="-10" dirty="0">
                <a:solidFill>
                  <a:srgbClr val="0000FA"/>
                </a:solidFill>
                <a:latin typeface="Arial"/>
                <a:cs typeface="Arial"/>
              </a:rPr>
              <a:t> </a:t>
            </a:r>
            <a:r>
              <a:rPr sz="1000" spc="-5" dirty="0">
                <a:latin typeface="Arial"/>
                <a:cs typeface="Arial"/>
              </a:rPr>
              <a:t>due to</a:t>
            </a:r>
            <a:r>
              <a:rPr sz="1000" spc="-10" dirty="0">
                <a:latin typeface="Arial"/>
                <a:cs typeface="Arial"/>
              </a:rPr>
              <a:t> </a:t>
            </a:r>
            <a:r>
              <a:rPr sz="1000" spc="-5" dirty="0">
                <a:latin typeface="Arial"/>
                <a:cs typeface="Arial"/>
              </a:rPr>
              <a:t>client or</a:t>
            </a:r>
            <a:r>
              <a:rPr sz="1000" spc="-10" dirty="0">
                <a:latin typeface="Arial"/>
                <a:cs typeface="Arial"/>
              </a:rPr>
              <a:t> </a:t>
            </a:r>
            <a:r>
              <a:rPr sz="1000" spc="-5" dirty="0">
                <a:latin typeface="Arial"/>
                <a:cs typeface="Arial"/>
              </a:rPr>
              <a:t>server </a:t>
            </a:r>
            <a:r>
              <a:rPr sz="1000" spc="-10" dirty="0">
                <a:latin typeface="Arial"/>
                <a:cs typeface="Arial"/>
              </a:rPr>
              <a:t>crashes </a:t>
            </a:r>
            <a:r>
              <a:rPr sz="1000" spc="-5" dirty="0">
                <a:solidFill>
                  <a:srgbClr val="0000FA"/>
                </a:solidFill>
                <a:latin typeface="Arial"/>
                <a:cs typeface="Arial"/>
              </a:rPr>
              <a:t>are reduced</a:t>
            </a:r>
            <a:endParaRPr sz="1000">
              <a:latin typeface="Arial"/>
              <a:cs typeface="Arial"/>
            </a:endParaRPr>
          </a:p>
          <a:p>
            <a:pPr marL="327660" marR="304800" indent="-168275">
              <a:lnSpc>
                <a:spcPts val="1200"/>
              </a:lnSpc>
              <a:spcBef>
                <a:spcPts val="40"/>
              </a:spcBef>
              <a:buClr>
                <a:srgbClr val="3333B2"/>
              </a:buClr>
              <a:buChar char="►"/>
              <a:tabLst>
                <a:tab pos="328295" algn="l"/>
              </a:tabLst>
            </a:pPr>
            <a:r>
              <a:rPr sz="1000" spc="-15" dirty="0">
                <a:latin typeface="Arial"/>
                <a:cs typeface="Arial"/>
              </a:rPr>
              <a:t>Possible</a:t>
            </a:r>
            <a:r>
              <a:rPr sz="1000" spc="-5" dirty="0">
                <a:latin typeface="Arial"/>
                <a:cs typeface="Arial"/>
              </a:rPr>
              <a:t> </a:t>
            </a:r>
            <a:r>
              <a:rPr sz="1000" spc="-5" dirty="0">
                <a:solidFill>
                  <a:srgbClr val="0000FA"/>
                </a:solidFill>
                <a:latin typeface="Arial"/>
                <a:cs typeface="Arial"/>
              </a:rPr>
              <a:t>loss</a:t>
            </a:r>
            <a:r>
              <a:rPr sz="1000" dirty="0">
                <a:solidFill>
                  <a:srgbClr val="0000FA"/>
                </a:solidFill>
                <a:latin typeface="Arial"/>
                <a:cs typeface="Arial"/>
              </a:rPr>
              <a:t> </a:t>
            </a:r>
            <a:r>
              <a:rPr sz="1000" spc="-5" dirty="0">
                <a:solidFill>
                  <a:srgbClr val="0000FA"/>
                </a:solidFill>
                <a:latin typeface="Arial"/>
                <a:cs typeface="Arial"/>
              </a:rPr>
              <a:t>of</a:t>
            </a:r>
            <a:r>
              <a:rPr sz="1000" dirty="0">
                <a:solidFill>
                  <a:srgbClr val="0000FA"/>
                </a:solidFill>
                <a:latin typeface="Arial"/>
                <a:cs typeface="Arial"/>
              </a:rPr>
              <a:t> </a:t>
            </a:r>
            <a:r>
              <a:rPr sz="1000" spc="-5" dirty="0">
                <a:solidFill>
                  <a:srgbClr val="0000FA"/>
                </a:solidFill>
                <a:latin typeface="Arial"/>
                <a:cs typeface="Arial"/>
              </a:rPr>
              <a:t>performance</a:t>
            </a:r>
            <a:r>
              <a:rPr sz="1000" dirty="0">
                <a:solidFill>
                  <a:srgbClr val="0000FA"/>
                </a:solidFill>
                <a:latin typeface="Arial"/>
                <a:cs typeface="Arial"/>
              </a:rPr>
              <a:t> </a:t>
            </a:r>
            <a:r>
              <a:rPr sz="1000" spc="-5" dirty="0">
                <a:latin typeface="Arial"/>
                <a:cs typeface="Arial"/>
              </a:rPr>
              <a:t>because, e.g.,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cannot </a:t>
            </a:r>
            <a:r>
              <a:rPr sz="1000" spc="-265" dirty="0">
                <a:latin typeface="Arial"/>
                <a:cs typeface="Arial"/>
              </a:rPr>
              <a:t> </a:t>
            </a:r>
            <a:r>
              <a:rPr sz="1000" spc="-5" dirty="0">
                <a:latin typeface="Arial"/>
                <a:cs typeface="Arial"/>
              </a:rPr>
              <a:t>anticipate client behavior</a:t>
            </a:r>
            <a:r>
              <a:rPr sz="1000" dirty="0">
                <a:latin typeface="Arial"/>
                <a:cs typeface="Arial"/>
              </a:rPr>
              <a:t> </a:t>
            </a:r>
            <a:r>
              <a:rPr sz="1000" spc="-5" dirty="0">
                <a:latin typeface="Arial"/>
                <a:cs typeface="Arial"/>
              </a:rPr>
              <a:t>(think of prefetching</a:t>
            </a:r>
            <a:r>
              <a:rPr sz="1000" dirty="0">
                <a:latin typeface="Arial"/>
                <a:cs typeface="Arial"/>
              </a:rPr>
              <a:t> </a:t>
            </a:r>
            <a:r>
              <a:rPr sz="1000" spc="-5" dirty="0">
                <a:latin typeface="Arial"/>
                <a:cs typeface="Arial"/>
              </a:rPr>
              <a:t>file </a:t>
            </a:r>
            <a:r>
              <a:rPr sz="1000" spc="-10" dirty="0">
                <a:latin typeface="Arial"/>
                <a:cs typeface="Arial"/>
              </a:rPr>
              <a:t>blocks)</a:t>
            </a:r>
            <a:endParaRPr sz="1000">
              <a:latin typeface="Arial"/>
              <a:cs typeface="Arial"/>
            </a:endParaRPr>
          </a:p>
        </p:txBody>
      </p:sp>
    </p:spTree>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11169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Stateless versus stateful servers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30</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710940" algn="l"/>
              </a:tabLst>
            </a:pPr>
            <a:r>
              <a:rPr sz="600" spc="-5" dirty="0">
                <a:solidFill>
                  <a:srgbClr val="3333B2"/>
                </a:solidFill>
                <a:latin typeface="Arial"/>
                <a:cs typeface="Arial"/>
                <a:hlinkClick r:id="rId4"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5"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General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design</a:t>
            </a:r>
            <a:r>
              <a:rPr sz="600" spc="-1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issues</a:t>
            </a:r>
            <a:endParaRPr sz="600">
              <a:latin typeface="Arial"/>
              <a:cs typeface="Arial"/>
            </a:endParaRPr>
          </a:p>
        </p:txBody>
      </p:sp>
      <p:sp>
        <p:nvSpPr>
          <p:cNvPr id="3" name="object 3"/>
          <p:cNvSpPr txBox="1">
            <a:spLocks noGrp="1"/>
          </p:cNvSpPr>
          <p:nvPr>
            <p:ph type="title"/>
          </p:nvPr>
        </p:nvSpPr>
        <p:spPr>
          <a:xfrm>
            <a:off x="95300" y="188846"/>
            <a:ext cx="1454785" cy="244475"/>
          </a:xfrm>
          <a:prstGeom prst="rect">
            <a:avLst/>
          </a:prstGeom>
        </p:spPr>
        <p:txBody>
          <a:bodyPr vert="horz" wrap="square" lIns="0" tIns="17145" rIns="0" bIns="0" rtlCol="0">
            <a:spAutoFit/>
          </a:bodyPr>
          <a:lstStyle/>
          <a:p>
            <a:pPr marL="12700">
              <a:lnSpc>
                <a:spcPct val="100000"/>
              </a:lnSpc>
              <a:spcBef>
                <a:spcPts val="135"/>
              </a:spcBef>
            </a:pPr>
            <a:r>
              <a:rPr spc="15" dirty="0"/>
              <a:t>Servers</a:t>
            </a:r>
            <a:r>
              <a:rPr spc="-30" dirty="0"/>
              <a:t> </a:t>
            </a:r>
            <a:r>
              <a:rPr spc="15" dirty="0"/>
              <a:t>and</a:t>
            </a:r>
            <a:r>
              <a:rPr spc="-25" dirty="0"/>
              <a:t> </a:t>
            </a:r>
            <a:r>
              <a:rPr spc="15" dirty="0"/>
              <a:t>state</a:t>
            </a:r>
          </a:p>
        </p:txBody>
      </p:sp>
      <p:sp>
        <p:nvSpPr>
          <p:cNvPr id="4" name="object 4"/>
          <p:cNvSpPr txBox="1"/>
          <p:nvPr/>
        </p:nvSpPr>
        <p:spPr>
          <a:xfrm>
            <a:off x="296494" y="456333"/>
            <a:ext cx="4015104" cy="2789555"/>
          </a:xfrm>
          <a:prstGeom prst="rect">
            <a:avLst/>
          </a:prstGeom>
        </p:spPr>
        <p:txBody>
          <a:bodyPr vert="horz" wrap="square" lIns="0" tIns="12065" rIns="0" bIns="0" rtlCol="0">
            <a:spAutoFit/>
          </a:bodyPr>
          <a:lstStyle/>
          <a:p>
            <a:pPr marL="63500">
              <a:lnSpc>
                <a:spcPts val="1410"/>
              </a:lnSpc>
              <a:spcBef>
                <a:spcPts val="95"/>
              </a:spcBef>
            </a:pPr>
            <a:r>
              <a:rPr sz="1200" spc="-5" dirty="0">
                <a:solidFill>
                  <a:srgbClr val="3333B2"/>
                </a:solidFill>
                <a:latin typeface="Arial"/>
                <a:cs typeface="Arial"/>
              </a:rPr>
              <a:t>Stateless</a:t>
            </a:r>
            <a:r>
              <a:rPr sz="1200" spc="-30" dirty="0">
                <a:solidFill>
                  <a:srgbClr val="3333B2"/>
                </a:solidFill>
                <a:latin typeface="Arial"/>
                <a:cs typeface="Arial"/>
              </a:rPr>
              <a:t> </a:t>
            </a:r>
            <a:r>
              <a:rPr sz="1200" spc="-5" dirty="0">
                <a:solidFill>
                  <a:srgbClr val="3333B2"/>
                </a:solidFill>
                <a:latin typeface="Arial"/>
                <a:cs typeface="Arial"/>
              </a:rPr>
              <a:t>servers</a:t>
            </a:r>
            <a:endParaRPr sz="1200" dirty="0">
              <a:latin typeface="Arial"/>
              <a:cs typeface="Arial"/>
            </a:endParaRPr>
          </a:p>
          <a:p>
            <a:pPr marL="63500" marR="325755">
              <a:lnSpc>
                <a:spcPts val="1200"/>
              </a:lnSpc>
              <a:spcBef>
                <a:spcPts val="10"/>
              </a:spcBef>
            </a:pPr>
            <a:r>
              <a:rPr sz="1000" spc="-15" dirty="0">
                <a:latin typeface="Arial"/>
                <a:cs typeface="Arial"/>
              </a:rPr>
              <a:t>Never</a:t>
            </a:r>
            <a:r>
              <a:rPr sz="1000" dirty="0">
                <a:latin typeface="Arial"/>
                <a:cs typeface="Arial"/>
              </a:rPr>
              <a:t> </a:t>
            </a:r>
            <a:r>
              <a:rPr sz="1000" spc="-10" dirty="0">
                <a:latin typeface="Arial"/>
                <a:cs typeface="Arial"/>
              </a:rPr>
              <a:t>keep</a:t>
            </a:r>
            <a:r>
              <a:rPr sz="1000" dirty="0">
                <a:latin typeface="Arial"/>
                <a:cs typeface="Arial"/>
              </a:rPr>
              <a:t> </a:t>
            </a:r>
            <a:r>
              <a:rPr sz="1000" spc="-5" dirty="0">
                <a:solidFill>
                  <a:srgbClr val="0000FA"/>
                </a:solidFill>
                <a:latin typeface="Arial"/>
                <a:cs typeface="Arial"/>
              </a:rPr>
              <a:t>accurate</a:t>
            </a:r>
            <a:r>
              <a:rPr sz="1000" dirty="0">
                <a:solidFill>
                  <a:srgbClr val="0000FA"/>
                </a:solidFill>
                <a:latin typeface="Arial"/>
                <a:cs typeface="Arial"/>
              </a:rPr>
              <a:t> </a:t>
            </a:r>
            <a:r>
              <a:rPr sz="1000" spc="-5" dirty="0">
                <a:latin typeface="Arial"/>
                <a:cs typeface="Arial"/>
              </a:rPr>
              <a:t>information</a:t>
            </a:r>
            <a:r>
              <a:rPr sz="1000" dirty="0">
                <a:latin typeface="Arial"/>
                <a:cs typeface="Arial"/>
              </a:rPr>
              <a:t> </a:t>
            </a:r>
            <a:r>
              <a:rPr sz="1000" spc="-5" dirty="0">
                <a:latin typeface="Arial"/>
                <a:cs typeface="Arial"/>
              </a:rPr>
              <a:t>about</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status</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client</a:t>
            </a:r>
            <a:r>
              <a:rPr sz="1000" dirty="0">
                <a:latin typeface="Arial"/>
                <a:cs typeface="Arial"/>
              </a:rPr>
              <a:t> </a:t>
            </a:r>
            <a:r>
              <a:rPr sz="1000" spc="-5" dirty="0">
                <a:latin typeface="Arial"/>
                <a:cs typeface="Arial"/>
              </a:rPr>
              <a:t>after </a:t>
            </a:r>
            <a:r>
              <a:rPr sz="1000" spc="-260" dirty="0">
                <a:latin typeface="Arial"/>
                <a:cs typeface="Arial"/>
              </a:rPr>
              <a:t> </a:t>
            </a:r>
            <a:r>
              <a:rPr sz="1000" spc="-10" dirty="0">
                <a:latin typeface="Arial"/>
                <a:cs typeface="Arial"/>
              </a:rPr>
              <a:t>having </a:t>
            </a:r>
            <a:r>
              <a:rPr sz="1000" spc="-5" dirty="0">
                <a:latin typeface="Arial"/>
                <a:cs typeface="Arial"/>
              </a:rPr>
              <a:t>handled a request:</a:t>
            </a:r>
            <a:endParaRPr sz="1000" dirty="0">
              <a:latin typeface="Arial"/>
              <a:cs typeface="Arial"/>
            </a:endParaRPr>
          </a:p>
          <a:p>
            <a:pPr marL="340360" marR="312420" indent="-168275">
              <a:lnSpc>
                <a:spcPct val="100000"/>
              </a:lnSpc>
              <a:spcBef>
                <a:spcPts val="550"/>
              </a:spcBef>
              <a:buClr>
                <a:srgbClr val="3333B2"/>
              </a:buClr>
              <a:buChar char="►"/>
              <a:tabLst>
                <a:tab pos="340995" algn="l"/>
              </a:tabLst>
            </a:pPr>
            <a:r>
              <a:rPr sz="1000" spc="-5" dirty="0">
                <a:latin typeface="Arial"/>
                <a:cs typeface="Arial"/>
              </a:rPr>
              <a:t>Don’t</a:t>
            </a:r>
            <a:r>
              <a:rPr sz="1000" dirty="0">
                <a:latin typeface="Arial"/>
                <a:cs typeface="Arial"/>
              </a:rPr>
              <a:t> </a:t>
            </a:r>
            <a:r>
              <a:rPr sz="1000" spc="-5" dirty="0">
                <a:latin typeface="Arial"/>
                <a:cs typeface="Arial"/>
              </a:rPr>
              <a:t>record</a:t>
            </a:r>
            <a:r>
              <a:rPr sz="1000" dirty="0">
                <a:latin typeface="Arial"/>
                <a:cs typeface="Arial"/>
              </a:rPr>
              <a:t> </a:t>
            </a:r>
            <a:r>
              <a:rPr sz="1000" spc="-5" dirty="0">
                <a:latin typeface="Arial"/>
                <a:cs typeface="Arial"/>
              </a:rPr>
              <a:t>whether</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file</a:t>
            </a:r>
            <a:r>
              <a:rPr sz="1000" dirty="0">
                <a:latin typeface="Arial"/>
                <a:cs typeface="Arial"/>
              </a:rPr>
              <a:t> </a:t>
            </a:r>
            <a:r>
              <a:rPr sz="1000" spc="-5" dirty="0">
                <a:latin typeface="Arial"/>
                <a:cs typeface="Arial"/>
              </a:rPr>
              <a:t>has</a:t>
            </a:r>
            <a:r>
              <a:rPr sz="1000" dirty="0">
                <a:latin typeface="Arial"/>
                <a:cs typeface="Arial"/>
              </a:rPr>
              <a:t> </a:t>
            </a:r>
            <a:r>
              <a:rPr sz="1000" spc="-5" dirty="0">
                <a:latin typeface="Arial"/>
                <a:cs typeface="Arial"/>
              </a:rPr>
              <a:t>been</a:t>
            </a:r>
            <a:r>
              <a:rPr sz="1000" dirty="0">
                <a:latin typeface="Arial"/>
                <a:cs typeface="Arial"/>
              </a:rPr>
              <a:t> </a:t>
            </a:r>
            <a:r>
              <a:rPr sz="1000" spc="-5" dirty="0">
                <a:latin typeface="Arial"/>
                <a:cs typeface="Arial"/>
              </a:rPr>
              <a:t>opened</a:t>
            </a:r>
            <a:r>
              <a:rPr sz="1000" dirty="0">
                <a:latin typeface="Arial"/>
                <a:cs typeface="Arial"/>
              </a:rPr>
              <a:t> </a:t>
            </a:r>
            <a:r>
              <a:rPr sz="1000" spc="-5" dirty="0">
                <a:latin typeface="Arial"/>
                <a:cs typeface="Arial"/>
              </a:rPr>
              <a:t>(simply</a:t>
            </a:r>
            <a:r>
              <a:rPr sz="1000" dirty="0">
                <a:latin typeface="Arial"/>
                <a:cs typeface="Arial"/>
              </a:rPr>
              <a:t> </a:t>
            </a:r>
            <a:r>
              <a:rPr sz="1000" spc="-5" dirty="0">
                <a:latin typeface="Arial"/>
                <a:cs typeface="Arial"/>
              </a:rPr>
              <a:t>close</a:t>
            </a:r>
            <a:r>
              <a:rPr sz="1000" dirty="0">
                <a:latin typeface="Arial"/>
                <a:cs typeface="Arial"/>
              </a:rPr>
              <a:t> </a:t>
            </a:r>
            <a:r>
              <a:rPr sz="1000" spc="-5" dirty="0">
                <a:latin typeface="Arial"/>
                <a:cs typeface="Arial"/>
              </a:rPr>
              <a:t>it </a:t>
            </a:r>
            <a:r>
              <a:rPr sz="1000" spc="-260" dirty="0">
                <a:latin typeface="Arial"/>
                <a:cs typeface="Arial"/>
              </a:rPr>
              <a:t> </a:t>
            </a:r>
            <a:r>
              <a:rPr sz="1000" spc="-5" dirty="0">
                <a:latin typeface="Arial"/>
                <a:cs typeface="Arial"/>
              </a:rPr>
              <a:t>again</a:t>
            </a:r>
            <a:r>
              <a:rPr sz="1000" spc="-10" dirty="0">
                <a:latin typeface="Arial"/>
                <a:cs typeface="Arial"/>
              </a:rPr>
              <a:t> </a:t>
            </a:r>
            <a:r>
              <a:rPr sz="1000" spc="-5" dirty="0">
                <a:latin typeface="Arial"/>
                <a:cs typeface="Arial"/>
              </a:rPr>
              <a:t>after access)</a:t>
            </a:r>
            <a:endParaRPr sz="1000" dirty="0">
              <a:latin typeface="Arial"/>
              <a:cs typeface="Arial"/>
            </a:endParaRPr>
          </a:p>
          <a:p>
            <a:pPr marL="340360" indent="-168275">
              <a:lnSpc>
                <a:spcPts val="1190"/>
              </a:lnSpc>
              <a:buClr>
                <a:srgbClr val="3333B2"/>
              </a:buClr>
              <a:buChar char="►"/>
              <a:tabLst>
                <a:tab pos="340995" algn="l"/>
              </a:tabLst>
            </a:pPr>
            <a:r>
              <a:rPr sz="1000" spc="-5" dirty="0">
                <a:latin typeface="Arial"/>
                <a:cs typeface="Arial"/>
              </a:rPr>
              <a:t>Don’t promise to</a:t>
            </a:r>
            <a:r>
              <a:rPr sz="1000" dirty="0">
                <a:latin typeface="Arial"/>
                <a:cs typeface="Arial"/>
              </a:rPr>
              <a:t> </a:t>
            </a:r>
            <a:r>
              <a:rPr sz="1000" spc="-10" dirty="0">
                <a:latin typeface="Arial"/>
                <a:cs typeface="Arial"/>
              </a:rPr>
              <a:t>invalidate</a:t>
            </a:r>
            <a:r>
              <a:rPr sz="1000" spc="-5" dirty="0">
                <a:latin typeface="Arial"/>
                <a:cs typeface="Arial"/>
              </a:rPr>
              <a:t> a</a:t>
            </a:r>
            <a:r>
              <a:rPr sz="1000" dirty="0">
                <a:latin typeface="Arial"/>
                <a:cs typeface="Arial"/>
              </a:rPr>
              <a:t> </a:t>
            </a:r>
            <a:r>
              <a:rPr sz="1000" spc="-10" dirty="0">
                <a:latin typeface="Arial"/>
                <a:cs typeface="Arial"/>
              </a:rPr>
              <a:t>client’s</a:t>
            </a:r>
            <a:r>
              <a:rPr sz="1000" spc="-5" dirty="0">
                <a:latin typeface="Arial"/>
                <a:cs typeface="Arial"/>
              </a:rPr>
              <a:t> cache</a:t>
            </a:r>
            <a:endParaRPr sz="1000" dirty="0">
              <a:latin typeface="Arial"/>
              <a:cs typeface="Arial"/>
            </a:endParaRPr>
          </a:p>
          <a:p>
            <a:pPr marL="340360" indent="-168275">
              <a:lnSpc>
                <a:spcPts val="1200"/>
              </a:lnSpc>
              <a:buClr>
                <a:srgbClr val="3333B2"/>
              </a:buClr>
              <a:buChar char="►"/>
              <a:tabLst>
                <a:tab pos="340995" algn="l"/>
              </a:tabLst>
            </a:pPr>
            <a:r>
              <a:rPr sz="1000" spc="-5" dirty="0">
                <a:latin typeface="Arial"/>
                <a:cs typeface="Arial"/>
              </a:rPr>
              <a:t>Don’t</a:t>
            </a:r>
            <a:r>
              <a:rPr sz="1000" spc="-10" dirty="0">
                <a:latin typeface="Arial"/>
                <a:cs typeface="Arial"/>
              </a:rPr>
              <a:t> keep track</a:t>
            </a:r>
            <a:r>
              <a:rPr sz="1000" spc="-5" dirty="0">
                <a:latin typeface="Arial"/>
                <a:cs typeface="Arial"/>
              </a:rPr>
              <a:t> of</a:t>
            </a:r>
            <a:r>
              <a:rPr sz="1000" spc="-10" dirty="0">
                <a:latin typeface="Arial"/>
                <a:cs typeface="Arial"/>
              </a:rPr>
              <a:t> your</a:t>
            </a:r>
            <a:r>
              <a:rPr sz="1000" spc="-5" dirty="0">
                <a:latin typeface="Arial"/>
                <a:cs typeface="Arial"/>
              </a:rPr>
              <a:t> clients</a:t>
            </a:r>
            <a:endParaRPr sz="1000" dirty="0">
              <a:latin typeface="Arial"/>
              <a:cs typeface="Arial"/>
            </a:endParaRPr>
          </a:p>
          <a:p>
            <a:pPr>
              <a:lnSpc>
                <a:spcPct val="100000"/>
              </a:lnSpc>
              <a:spcBef>
                <a:spcPts val="5"/>
              </a:spcBef>
              <a:buClr>
                <a:srgbClr val="3333B2"/>
              </a:buClr>
              <a:buFont typeface="Arial"/>
              <a:buChar char="►"/>
            </a:pPr>
            <a:endParaRPr sz="1300" dirty="0">
              <a:latin typeface="Arial"/>
              <a:cs typeface="Arial"/>
            </a:endParaRPr>
          </a:p>
          <a:p>
            <a:pPr marL="63500">
              <a:lnSpc>
                <a:spcPct val="100000"/>
              </a:lnSpc>
              <a:spcBef>
                <a:spcPts val="5"/>
              </a:spcBef>
            </a:pPr>
            <a:r>
              <a:rPr sz="1200" spc="-5" dirty="0">
                <a:solidFill>
                  <a:srgbClr val="3333B2"/>
                </a:solidFill>
                <a:latin typeface="Arial"/>
                <a:cs typeface="Arial"/>
              </a:rPr>
              <a:t>Consequences</a:t>
            </a:r>
            <a:endParaRPr sz="1200" dirty="0">
              <a:latin typeface="Arial"/>
              <a:cs typeface="Arial"/>
            </a:endParaRPr>
          </a:p>
          <a:p>
            <a:pPr marL="340360" indent="-168275">
              <a:lnSpc>
                <a:spcPts val="1200"/>
              </a:lnSpc>
              <a:spcBef>
                <a:spcPts val="770"/>
              </a:spcBef>
              <a:buClr>
                <a:srgbClr val="3333B2"/>
              </a:buClr>
              <a:buChar char="►"/>
              <a:tabLst>
                <a:tab pos="340995" algn="l"/>
              </a:tabLst>
            </a:pPr>
            <a:r>
              <a:rPr sz="1000" spc="-5" dirty="0">
                <a:latin typeface="Arial"/>
                <a:cs typeface="Arial"/>
              </a:rPr>
              <a:t>Clients and</a:t>
            </a:r>
            <a:r>
              <a:rPr sz="1000"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are</a:t>
            </a:r>
            <a:r>
              <a:rPr sz="1000" dirty="0">
                <a:latin typeface="Arial"/>
                <a:cs typeface="Arial"/>
              </a:rPr>
              <a:t> </a:t>
            </a:r>
            <a:r>
              <a:rPr sz="1000" spc="-5" dirty="0">
                <a:solidFill>
                  <a:srgbClr val="0000FA"/>
                </a:solidFill>
                <a:latin typeface="Arial"/>
                <a:cs typeface="Arial"/>
              </a:rPr>
              <a:t>completely</a:t>
            </a:r>
            <a:r>
              <a:rPr sz="1000" dirty="0">
                <a:solidFill>
                  <a:srgbClr val="0000FA"/>
                </a:solidFill>
                <a:latin typeface="Arial"/>
                <a:cs typeface="Arial"/>
              </a:rPr>
              <a:t> </a:t>
            </a:r>
            <a:r>
              <a:rPr sz="1000" spc="-5" dirty="0">
                <a:solidFill>
                  <a:srgbClr val="0000FA"/>
                </a:solidFill>
                <a:latin typeface="Arial"/>
                <a:cs typeface="Arial"/>
              </a:rPr>
              <a:t>independent</a:t>
            </a:r>
            <a:endParaRPr sz="1000" dirty="0">
              <a:latin typeface="Arial"/>
              <a:cs typeface="Arial"/>
            </a:endParaRPr>
          </a:p>
          <a:p>
            <a:pPr marL="340360" indent="-168275">
              <a:lnSpc>
                <a:spcPts val="1195"/>
              </a:lnSpc>
              <a:buClr>
                <a:srgbClr val="3333B2"/>
              </a:buClr>
              <a:buChar char="►"/>
              <a:tabLst>
                <a:tab pos="340995" algn="l"/>
              </a:tabLst>
            </a:pPr>
            <a:r>
              <a:rPr sz="1000" spc="-5" dirty="0">
                <a:solidFill>
                  <a:srgbClr val="0000FA"/>
                </a:solidFill>
                <a:latin typeface="Arial"/>
                <a:cs typeface="Arial"/>
              </a:rPr>
              <a:t>State</a:t>
            </a:r>
            <a:r>
              <a:rPr sz="1000" spc="-10" dirty="0">
                <a:solidFill>
                  <a:srgbClr val="0000FA"/>
                </a:solidFill>
                <a:latin typeface="Arial"/>
                <a:cs typeface="Arial"/>
              </a:rPr>
              <a:t> </a:t>
            </a:r>
            <a:r>
              <a:rPr sz="1000" spc="-5" dirty="0">
                <a:solidFill>
                  <a:srgbClr val="0000FA"/>
                </a:solidFill>
                <a:latin typeface="Arial"/>
                <a:cs typeface="Arial"/>
              </a:rPr>
              <a:t>inconsistencies</a:t>
            </a:r>
            <a:r>
              <a:rPr sz="1000" spc="-10" dirty="0">
                <a:solidFill>
                  <a:srgbClr val="0000FA"/>
                </a:solidFill>
                <a:latin typeface="Arial"/>
                <a:cs typeface="Arial"/>
              </a:rPr>
              <a:t> </a:t>
            </a:r>
            <a:r>
              <a:rPr sz="1000" spc="-5" dirty="0">
                <a:latin typeface="Arial"/>
                <a:cs typeface="Arial"/>
              </a:rPr>
              <a:t>due to</a:t>
            </a:r>
            <a:r>
              <a:rPr sz="1000" spc="-10" dirty="0">
                <a:latin typeface="Arial"/>
                <a:cs typeface="Arial"/>
              </a:rPr>
              <a:t> </a:t>
            </a:r>
            <a:r>
              <a:rPr sz="1000" spc="-5" dirty="0">
                <a:latin typeface="Arial"/>
                <a:cs typeface="Arial"/>
              </a:rPr>
              <a:t>client or</a:t>
            </a:r>
            <a:r>
              <a:rPr sz="1000" spc="-10" dirty="0">
                <a:latin typeface="Arial"/>
                <a:cs typeface="Arial"/>
              </a:rPr>
              <a:t> </a:t>
            </a:r>
            <a:r>
              <a:rPr sz="1000" spc="-5" dirty="0">
                <a:latin typeface="Arial"/>
                <a:cs typeface="Arial"/>
              </a:rPr>
              <a:t>server </a:t>
            </a:r>
            <a:r>
              <a:rPr sz="1000" spc="-10" dirty="0">
                <a:latin typeface="Arial"/>
                <a:cs typeface="Arial"/>
              </a:rPr>
              <a:t>crashes </a:t>
            </a:r>
            <a:r>
              <a:rPr sz="1000" spc="-5" dirty="0">
                <a:solidFill>
                  <a:srgbClr val="0000FA"/>
                </a:solidFill>
                <a:latin typeface="Arial"/>
                <a:cs typeface="Arial"/>
              </a:rPr>
              <a:t>are reduced</a:t>
            </a:r>
            <a:endParaRPr sz="1000" dirty="0">
              <a:latin typeface="Arial"/>
              <a:cs typeface="Arial"/>
            </a:endParaRPr>
          </a:p>
          <a:p>
            <a:pPr marL="340360" marR="317500" indent="-168275">
              <a:lnSpc>
                <a:spcPts val="1200"/>
              </a:lnSpc>
              <a:spcBef>
                <a:spcPts val="40"/>
              </a:spcBef>
              <a:buClr>
                <a:srgbClr val="3333B2"/>
              </a:buClr>
              <a:buChar char="►"/>
              <a:tabLst>
                <a:tab pos="340995" algn="l"/>
              </a:tabLst>
            </a:pPr>
            <a:r>
              <a:rPr sz="1000" spc="-15" dirty="0">
                <a:latin typeface="Arial"/>
                <a:cs typeface="Arial"/>
              </a:rPr>
              <a:t>Possible</a:t>
            </a:r>
            <a:r>
              <a:rPr sz="1000" spc="-5" dirty="0">
                <a:latin typeface="Arial"/>
                <a:cs typeface="Arial"/>
              </a:rPr>
              <a:t> </a:t>
            </a:r>
            <a:r>
              <a:rPr sz="1000" spc="-5" dirty="0">
                <a:solidFill>
                  <a:srgbClr val="0000FA"/>
                </a:solidFill>
                <a:latin typeface="Arial"/>
                <a:cs typeface="Arial"/>
              </a:rPr>
              <a:t>loss</a:t>
            </a:r>
            <a:r>
              <a:rPr sz="1000" dirty="0">
                <a:solidFill>
                  <a:srgbClr val="0000FA"/>
                </a:solidFill>
                <a:latin typeface="Arial"/>
                <a:cs typeface="Arial"/>
              </a:rPr>
              <a:t> </a:t>
            </a:r>
            <a:r>
              <a:rPr sz="1000" spc="-5" dirty="0">
                <a:solidFill>
                  <a:srgbClr val="0000FA"/>
                </a:solidFill>
                <a:latin typeface="Arial"/>
                <a:cs typeface="Arial"/>
              </a:rPr>
              <a:t>of</a:t>
            </a:r>
            <a:r>
              <a:rPr sz="1000" dirty="0">
                <a:solidFill>
                  <a:srgbClr val="0000FA"/>
                </a:solidFill>
                <a:latin typeface="Arial"/>
                <a:cs typeface="Arial"/>
              </a:rPr>
              <a:t> </a:t>
            </a:r>
            <a:r>
              <a:rPr sz="1000" spc="-5" dirty="0">
                <a:solidFill>
                  <a:srgbClr val="0000FA"/>
                </a:solidFill>
                <a:latin typeface="Arial"/>
                <a:cs typeface="Arial"/>
              </a:rPr>
              <a:t>performance</a:t>
            </a:r>
            <a:r>
              <a:rPr sz="1000" dirty="0">
                <a:solidFill>
                  <a:srgbClr val="0000FA"/>
                </a:solidFill>
                <a:latin typeface="Arial"/>
                <a:cs typeface="Arial"/>
              </a:rPr>
              <a:t> </a:t>
            </a:r>
            <a:r>
              <a:rPr sz="1000" spc="-5" dirty="0">
                <a:latin typeface="Arial"/>
                <a:cs typeface="Arial"/>
              </a:rPr>
              <a:t>because, e.g.,</a:t>
            </a:r>
            <a:r>
              <a:rPr sz="1000" dirty="0">
                <a:latin typeface="Arial"/>
                <a:cs typeface="Arial"/>
              </a:rPr>
              <a:t> </a:t>
            </a:r>
            <a:r>
              <a:rPr sz="1000" spc="-5" dirty="0">
                <a:latin typeface="Arial"/>
                <a:cs typeface="Arial"/>
              </a:rPr>
              <a:t>a</a:t>
            </a:r>
            <a:r>
              <a:rPr sz="1000" dirty="0">
                <a:latin typeface="Arial"/>
                <a:cs typeface="Arial"/>
              </a:rPr>
              <a:t> </a:t>
            </a:r>
            <a:r>
              <a:rPr sz="1000" spc="-5" dirty="0">
                <a:latin typeface="Arial"/>
                <a:cs typeface="Arial"/>
              </a:rPr>
              <a:t>server</a:t>
            </a:r>
            <a:r>
              <a:rPr sz="1000" dirty="0">
                <a:latin typeface="Arial"/>
                <a:cs typeface="Arial"/>
              </a:rPr>
              <a:t> </a:t>
            </a:r>
            <a:r>
              <a:rPr sz="1000" spc="-5" dirty="0">
                <a:latin typeface="Arial"/>
                <a:cs typeface="Arial"/>
              </a:rPr>
              <a:t>cannot </a:t>
            </a:r>
            <a:r>
              <a:rPr sz="1000" spc="-265" dirty="0">
                <a:latin typeface="Arial"/>
                <a:cs typeface="Arial"/>
              </a:rPr>
              <a:t> </a:t>
            </a:r>
            <a:r>
              <a:rPr sz="1000" spc="-5" dirty="0">
                <a:latin typeface="Arial"/>
                <a:cs typeface="Arial"/>
              </a:rPr>
              <a:t>anticipate client behavior</a:t>
            </a:r>
            <a:r>
              <a:rPr sz="1000" dirty="0">
                <a:latin typeface="Arial"/>
                <a:cs typeface="Arial"/>
              </a:rPr>
              <a:t> </a:t>
            </a:r>
            <a:r>
              <a:rPr sz="1000" spc="-5" dirty="0">
                <a:latin typeface="Arial"/>
                <a:cs typeface="Arial"/>
              </a:rPr>
              <a:t>(think of prefetching</a:t>
            </a:r>
            <a:r>
              <a:rPr sz="1000" dirty="0">
                <a:latin typeface="Arial"/>
                <a:cs typeface="Arial"/>
              </a:rPr>
              <a:t> </a:t>
            </a:r>
            <a:r>
              <a:rPr sz="1000" spc="-5" dirty="0">
                <a:latin typeface="Arial"/>
                <a:cs typeface="Arial"/>
              </a:rPr>
              <a:t>file </a:t>
            </a:r>
            <a:r>
              <a:rPr sz="1000" spc="-10" dirty="0">
                <a:latin typeface="Arial"/>
                <a:cs typeface="Arial"/>
              </a:rPr>
              <a:t>blocks)</a:t>
            </a:r>
            <a:endParaRPr sz="1000" dirty="0">
              <a:latin typeface="Arial"/>
              <a:cs typeface="Arial"/>
            </a:endParaRPr>
          </a:p>
          <a:p>
            <a:pPr>
              <a:lnSpc>
                <a:spcPct val="100000"/>
              </a:lnSpc>
              <a:spcBef>
                <a:spcPts val="25"/>
              </a:spcBef>
            </a:pPr>
            <a:endParaRPr sz="1250" dirty="0">
              <a:latin typeface="Arial"/>
              <a:cs typeface="Arial"/>
            </a:endParaRPr>
          </a:p>
          <a:p>
            <a:pPr marL="63500">
              <a:lnSpc>
                <a:spcPts val="1420"/>
              </a:lnSpc>
              <a:spcBef>
                <a:spcPts val="5"/>
              </a:spcBef>
            </a:pPr>
            <a:r>
              <a:rPr sz="1200" spc="-5" dirty="0">
                <a:solidFill>
                  <a:srgbClr val="FA0000"/>
                </a:solidFill>
                <a:latin typeface="Arial"/>
                <a:cs typeface="Arial"/>
              </a:rPr>
              <a:t>Question</a:t>
            </a:r>
            <a:endParaRPr sz="1200" dirty="0">
              <a:latin typeface="Arial"/>
              <a:cs typeface="Arial"/>
            </a:endParaRPr>
          </a:p>
          <a:p>
            <a:pPr marL="63500">
              <a:lnSpc>
                <a:spcPts val="1180"/>
              </a:lnSpc>
            </a:pPr>
            <a:r>
              <a:rPr sz="1000" spc="-5" dirty="0">
                <a:latin typeface="Arial"/>
                <a:cs typeface="Arial"/>
              </a:rPr>
              <a:t>Does</a:t>
            </a:r>
            <a:r>
              <a:rPr sz="1000" spc="5" dirty="0">
                <a:latin typeface="Arial"/>
                <a:cs typeface="Arial"/>
              </a:rPr>
              <a:t> </a:t>
            </a:r>
            <a:r>
              <a:rPr sz="1000" spc="-5" dirty="0">
                <a:latin typeface="Arial"/>
                <a:cs typeface="Arial"/>
              </a:rPr>
              <a:t>connection-oriented</a:t>
            </a:r>
            <a:r>
              <a:rPr sz="1000" spc="5" dirty="0">
                <a:latin typeface="Arial"/>
                <a:cs typeface="Arial"/>
              </a:rPr>
              <a:t> </a:t>
            </a:r>
            <a:r>
              <a:rPr sz="1000" spc="-5" dirty="0">
                <a:latin typeface="Arial"/>
                <a:cs typeface="Arial"/>
              </a:rPr>
              <a:t>communication</a:t>
            </a:r>
            <a:r>
              <a:rPr sz="1000" spc="5" dirty="0">
                <a:latin typeface="Arial"/>
                <a:cs typeface="Arial"/>
              </a:rPr>
              <a:t> </a:t>
            </a:r>
            <a:r>
              <a:rPr sz="1000" spc="-5" dirty="0">
                <a:latin typeface="Arial"/>
                <a:cs typeface="Arial"/>
              </a:rPr>
              <a:t>fit</a:t>
            </a:r>
            <a:r>
              <a:rPr sz="1000" spc="5" dirty="0">
                <a:latin typeface="Arial"/>
                <a:cs typeface="Arial"/>
              </a:rPr>
              <a:t> </a:t>
            </a:r>
            <a:r>
              <a:rPr sz="1000" spc="-5" dirty="0">
                <a:latin typeface="Arial"/>
                <a:cs typeface="Arial"/>
              </a:rPr>
              <a:t>into</a:t>
            </a:r>
            <a:r>
              <a:rPr sz="1000" spc="5" dirty="0">
                <a:latin typeface="Arial"/>
                <a:cs typeface="Arial"/>
              </a:rPr>
              <a:t> </a:t>
            </a:r>
            <a:r>
              <a:rPr sz="1000" spc="-5" dirty="0">
                <a:latin typeface="Arial"/>
                <a:cs typeface="Arial"/>
              </a:rPr>
              <a:t>a</a:t>
            </a:r>
            <a:r>
              <a:rPr sz="1000" spc="10" dirty="0">
                <a:latin typeface="Arial"/>
                <a:cs typeface="Arial"/>
              </a:rPr>
              <a:t> </a:t>
            </a:r>
            <a:r>
              <a:rPr sz="1000" spc="-5" dirty="0">
                <a:latin typeface="Arial"/>
                <a:cs typeface="Arial"/>
              </a:rPr>
              <a:t>stateless</a:t>
            </a:r>
            <a:r>
              <a:rPr sz="1000" spc="5" dirty="0">
                <a:latin typeface="Arial"/>
                <a:cs typeface="Arial"/>
              </a:rPr>
              <a:t> </a:t>
            </a:r>
            <a:r>
              <a:rPr sz="1000" spc="-5" dirty="0">
                <a:latin typeface="Arial"/>
                <a:cs typeface="Arial"/>
              </a:rPr>
              <a:t>design?</a:t>
            </a:r>
            <a:endParaRPr sz="1000" dirty="0">
              <a:latin typeface="Arial"/>
              <a:cs typeface="Arial"/>
            </a:endParaRPr>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6" name="object 6"/>
          <p:cNvSpPr txBox="1"/>
          <p:nvPr/>
        </p:nvSpPr>
        <p:spPr>
          <a:xfrm>
            <a:off x="66713" y="3331252"/>
            <a:ext cx="11169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2" action="ppaction://hlinksldjump"/>
              </a:rPr>
              <a:t>Stateless versus stateful servers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General</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design</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issues</a:t>
            </a:r>
            <a:endParaRPr sz="600">
              <a:latin typeface="Arial"/>
              <a:cs typeface="Arial"/>
            </a:endParaRPr>
          </a:p>
        </p:txBody>
      </p:sp>
      <p:sp>
        <p:nvSpPr>
          <p:cNvPr id="4" name="object 4"/>
          <p:cNvSpPr txBox="1"/>
          <p:nvPr/>
        </p:nvSpPr>
        <p:spPr>
          <a:xfrm>
            <a:off x="95300" y="188846"/>
            <a:ext cx="145478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Servers</a:t>
            </a:r>
            <a:r>
              <a:rPr sz="1400" spc="-30" dirty="0">
                <a:solidFill>
                  <a:srgbClr val="3333B2"/>
                </a:solidFill>
                <a:latin typeface="Arial"/>
                <a:cs typeface="Arial"/>
              </a:rPr>
              <a:t> </a:t>
            </a:r>
            <a:r>
              <a:rPr sz="1400" spc="15" dirty="0">
                <a:solidFill>
                  <a:srgbClr val="3333B2"/>
                </a:solidFill>
                <a:latin typeface="Arial"/>
                <a:cs typeface="Arial"/>
              </a:rPr>
              <a:t>and</a:t>
            </a:r>
            <a:r>
              <a:rPr sz="1400" spc="-25" dirty="0">
                <a:solidFill>
                  <a:srgbClr val="3333B2"/>
                </a:solidFill>
                <a:latin typeface="Arial"/>
                <a:cs typeface="Arial"/>
              </a:rPr>
              <a:t> </a:t>
            </a:r>
            <a:r>
              <a:rPr sz="1400" spc="15" dirty="0">
                <a:solidFill>
                  <a:srgbClr val="3333B2"/>
                </a:solidFill>
                <a:latin typeface="Arial"/>
                <a:cs typeface="Arial"/>
              </a:rPr>
              <a:t>state</a:t>
            </a:r>
            <a:endParaRPr sz="1400">
              <a:latin typeface="Arial"/>
              <a:cs typeface="Arial"/>
            </a:endParaRPr>
          </a:p>
        </p:txBody>
      </p:sp>
      <p:sp>
        <p:nvSpPr>
          <p:cNvPr id="5" name="object 5"/>
          <p:cNvSpPr txBox="1"/>
          <p:nvPr/>
        </p:nvSpPr>
        <p:spPr>
          <a:xfrm>
            <a:off x="321894" y="829460"/>
            <a:ext cx="3964304" cy="1036319"/>
          </a:xfrm>
          <a:prstGeom prst="rect">
            <a:avLst/>
          </a:prstGeom>
        </p:spPr>
        <p:txBody>
          <a:bodyPr vert="horz" wrap="square" lIns="0" tIns="12065" rIns="0" bIns="0" rtlCol="0">
            <a:spAutoFit/>
          </a:bodyPr>
          <a:lstStyle/>
          <a:p>
            <a:pPr marL="38100">
              <a:lnSpc>
                <a:spcPts val="1410"/>
              </a:lnSpc>
              <a:spcBef>
                <a:spcPts val="95"/>
              </a:spcBef>
            </a:pPr>
            <a:r>
              <a:rPr sz="1200" spc="-5" dirty="0">
                <a:solidFill>
                  <a:srgbClr val="3333B2"/>
                </a:solidFill>
                <a:latin typeface="Arial"/>
                <a:cs typeface="Arial"/>
              </a:rPr>
              <a:t>Stateful</a:t>
            </a:r>
            <a:r>
              <a:rPr sz="1200" spc="-30" dirty="0">
                <a:solidFill>
                  <a:srgbClr val="3333B2"/>
                </a:solidFill>
                <a:latin typeface="Arial"/>
                <a:cs typeface="Arial"/>
              </a:rPr>
              <a:t> </a:t>
            </a:r>
            <a:r>
              <a:rPr sz="1200" spc="-5" dirty="0">
                <a:solidFill>
                  <a:srgbClr val="3333B2"/>
                </a:solidFill>
                <a:latin typeface="Arial"/>
                <a:cs typeface="Arial"/>
              </a:rPr>
              <a:t>servers</a:t>
            </a:r>
            <a:endParaRPr sz="1200">
              <a:latin typeface="Arial"/>
              <a:cs typeface="Arial"/>
            </a:endParaRPr>
          </a:p>
          <a:p>
            <a:pPr marL="38100">
              <a:lnSpc>
                <a:spcPts val="1170"/>
              </a:lnSpc>
            </a:pPr>
            <a:r>
              <a:rPr sz="1000" spc="-15" dirty="0">
                <a:latin typeface="Arial"/>
                <a:cs typeface="Arial"/>
              </a:rPr>
              <a:t>Keeps</a:t>
            </a:r>
            <a:r>
              <a:rPr sz="1000" spc="-5" dirty="0">
                <a:latin typeface="Arial"/>
                <a:cs typeface="Arial"/>
              </a:rPr>
              <a:t> </a:t>
            </a:r>
            <a:r>
              <a:rPr sz="1000" spc="-10" dirty="0">
                <a:latin typeface="Arial"/>
                <a:cs typeface="Arial"/>
              </a:rPr>
              <a:t>track</a:t>
            </a:r>
            <a:r>
              <a:rPr sz="1000" spc="-5" dirty="0">
                <a:latin typeface="Arial"/>
                <a:cs typeface="Arial"/>
              </a:rPr>
              <a:t> of</a:t>
            </a:r>
            <a:r>
              <a:rPr sz="1000" dirty="0">
                <a:latin typeface="Arial"/>
                <a:cs typeface="Arial"/>
              </a:rPr>
              <a:t> </a:t>
            </a:r>
            <a:r>
              <a:rPr sz="1000" spc="-5" dirty="0">
                <a:latin typeface="Arial"/>
                <a:cs typeface="Arial"/>
              </a:rPr>
              <a:t>the status</a:t>
            </a:r>
            <a:r>
              <a:rPr sz="1000" dirty="0">
                <a:latin typeface="Arial"/>
                <a:cs typeface="Arial"/>
              </a:rPr>
              <a:t> </a:t>
            </a:r>
            <a:r>
              <a:rPr sz="1000" spc="-5" dirty="0">
                <a:latin typeface="Arial"/>
                <a:cs typeface="Arial"/>
              </a:rPr>
              <a:t>of its</a:t>
            </a:r>
            <a:r>
              <a:rPr sz="1000" dirty="0">
                <a:latin typeface="Arial"/>
                <a:cs typeface="Arial"/>
              </a:rPr>
              <a:t> </a:t>
            </a:r>
            <a:r>
              <a:rPr sz="1000" spc="-5" dirty="0">
                <a:latin typeface="Arial"/>
                <a:cs typeface="Arial"/>
              </a:rPr>
              <a:t>clients:</a:t>
            </a:r>
            <a:endParaRPr sz="1000">
              <a:latin typeface="Arial"/>
              <a:cs typeface="Arial"/>
            </a:endParaRPr>
          </a:p>
          <a:p>
            <a:pPr marL="314960" marR="149225" indent="-168275">
              <a:lnSpc>
                <a:spcPct val="100000"/>
              </a:lnSpc>
              <a:spcBef>
                <a:spcPts val="590"/>
              </a:spcBef>
              <a:buClr>
                <a:srgbClr val="3333B2"/>
              </a:buClr>
              <a:buChar char="►"/>
              <a:tabLst>
                <a:tab pos="315595" algn="l"/>
              </a:tabLst>
            </a:pPr>
            <a:r>
              <a:rPr sz="1000" spc="-5" dirty="0">
                <a:latin typeface="Arial"/>
                <a:cs typeface="Arial"/>
              </a:rPr>
              <a:t>Record that</a:t>
            </a:r>
            <a:r>
              <a:rPr sz="1000" dirty="0">
                <a:latin typeface="Arial"/>
                <a:cs typeface="Arial"/>
              </a:rPr>
              <a:t> </a:t>
            </a:r>
            <a:r>
              <a:rPr sz="1000" spc="-5" dirty="0">
                <a:latin typeface="Arial"/>
                <a:cs typeface="Arial"/>
              </a:rPr>
              <a:t>a file</a:t>
            </a:r>
            <a:r>
              <a:rPr sz="1000" dirty="0">
                <a:latin typeface="Arial"/>
                <a:cs typeface="Arial"/>
              </a:rPr>
              <a:t> </a:t>
            </a:r>
            <a:r>
              <a:rPr sz="1000" spc="-5" dirty="0">
                <a:latin typeface="Arial"/>
                <a:cs typeface="Arial"/>
              </a:rPr>
              <a:t>has been</a:t>
            </a:r>
            <a:r>
              <a:rPr sz="1000" dirty="0">
                <a:latin typeface="Arial"/>
                <a:cs typeface="Arial"/>
              </a:rPr>
              <a:t> </a:t>
            </a:r>
            <a:r>
              <a:rPr sz="1000" spc="-5" dirty="0">
                <a:latin typeface="Arial"/>
                <a:cs typeface="Arial"/>
              </a:rPr>
              <a:t>opened, so</a:t>
            </a:r>
            <a:r>
              <a:rPr sz="1000" dirty="0">
                <a:latin typeface="Arial"/>
                <a:cs typeface="Arial"/>
              </a:rPr>
              <a:t> </a:t>
            </a:r>
            <a:r>
              <a:rPr sz="1000" spc="-5" dirty="0">
                <a:latin typeface="Arial"/>
                <a:cs typeface="Arial"/>
              </a:rPr>
              <a:t>that prefetching</a:t>
            </a:r>
            <a:r>
              <a:rPr sz="1000" dirty="0">
                <a:latin typeface="Arial"/>
                <a:cs typeface="Arial"/>
              </a:rPr>
              <a:t> </a:t>
            </a:r>
            <a:r>
              <a:rPr sz="1000" spc="-5" dirty="0">
                <a:latin typeface="Arial"/>
                <a:cs typeface="Arial"/>
              </a:rPr>
              <a:t>can be </a:t>
            </a:r>
            <a:r>
              <a:rPr sz="1000" spc="-260" dirty="0">
                <a:latin typeface="Arial"/>
                <a:cs typeface="Arial"/>
              </a:rPr>
              <a:t> </a:t>
            </a:r>
            <a:r>
              <a:rPr sz="1000" spc="-5" dirty="0">
                <a:latin typeface="Arial"/>
                <a:cs typeface="Arial"/>
              </a:rPr>
              <a:t>done</a:t>
            </a:r>
            <a:endParaRPr sz="1000">
              <a:latin typeface="Arial"/>
              <a:cs typeface="Arial"/>
            </a:endParaRPr>
          </a:p>
          <a:p>
            <a:pPr marL="314960" marR="30480" indent="-168275">
              <a:lnSpc>
                <a:spcPts val="1200"/>
              </a:lnSpc>
              <a:spcBef>
                <a:spcPts val="35"/>
              </a:spcBef>
              <a:buClr>
                <a:srgbClr val="3333B2"/>
              </a:buClr>
              <a:buChar char="►"/>
              <a:tabLst>
                <a:tab pos="315595" algn="l"/>
              </a:tabLst>
            </a:pPr>
            <a:r>
              <a:rPr sz="1000" spc="-15" dirty="0">
                <a:latin typeface="Arial"/>
                <a:cs typeface="Arial"/>
              </a:rPr>
              <a:t>Knows</a:t>
            </a:r>
            <a:r>
              <a:rPr sz="1000" dirty="0">
                <a:latin typeface="Arial"/>
                <a:cs typeface="Arial"/>
              </a:rPr>
              <a:t> </a:t>
            </a:r>
            <a:r>
              <a:rPr sz="1000" spc="-10" dirty="0">
                <a:latin typeface="Arial"/>
                <a:cs typeface="Arial"/>
              </a:rPr>
              <a:t>which</a:t>
            </a:r>
            <a:r>
              <a:rPr sz="1000" dirty="0">
                <a:latin typeface="Arial"/>
                <a:cs typeface="Arial"/>
              </a:rPr>
              <a:t> </a:t>
            </a:r>
            <a:r>
              <a:rPr sz="1000" spc="-10" dirty="0">
                <a:latin typeface="Arial"/>
                <a:cs typeface="Arial"/>
              </a:rPr>
              <a:t>data</a:t>
            </a:r>
            <a:r>
              <a:rPr sz="1000"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client</a:t>
            </a:r>
            <a:r>
              <a:rPr sz="1000" dirty="0">
                <a:latin typeface="Arial"/>
                <a:cs typeface="Arial"/>
              </a:rPr>
              <a:t> </a:t>
            </a:r>
            <a:r>
              <a:rPr sz="1000" spc="-10" dirty="0">
                <a:latin typeface="Arial"/>
                <a:cs typeface="Arial"/>
              </a:rPr>
              <a:t>has</a:t>
            </a:r>
            <a:r>
              <a:rPr sz="1000" spc="5" dirty="0">
                <a:latin typeface="Arial"/>
                <a:cs typeface="Arial"/>
              </a:rPr>
              <a:t> </a:t>
            </a:r>
            <a:r>
              <a:rPr sz="1000" spc="-10" dirty="0">
                <a:latin typeface="Arial"/>
                <a:cs typeface="Arial"/>
              </a:rPr>
              <a:t>cached,</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allows</a:t>
            </a:r>
            <a:r>
              <a:rPr sz="1000" dirty="0">
                <a:latin typeface="Arial"/>
                <a:cs typeface="Arial"/>
              </a:rPr>
              <a:t> </a:t>
            </a:r>
            <a:r>
              <a:rPr sz="1000" spc="-10" dirty="0">
                <a:latin typeface="Arial"/>
                <a:cs typeface="Arial"/>
              </a:rPr>
              <a:t>clients</a:t>
            </a:r>
            <a:r>
              <a:rPr sz="1000"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keep </a:t>
            </a:r>
            <a:r>
              <a:rPr sz="1000" spc="-265" dirty="0">
                <a:latin typeface="Arial"/>
                <a:cs typeface="Arial"/>
              </a:rPr>
              <a:t> </a:t>
            </a:r>
            <a:r>
              <a:rPr sz="1000" spc="-5" dirty="0">
                <a:latin typeface="Arial"/>
                <a:cs typeface="Arial"/>
              </a:rPr>
              <a:t>local</a:t>
            </a:r>
            <a:r>
              <a:rPr sz="1000" spc="-10" dirty="0">
                <a:latin typeface="Arial"/>
                <a:cs typeface="Arial"/>
              </a:rPr>
              <a:t> </a:t>
            </a:r>
            <a:r>
              <a:rPr sz="1000" spc="-5" dirty="0">
                <a:latin typeface="Arial"/>
                <a:cs typeface="Arial"/>
              </a:rPr>
              <a:t>copies of shared data</a:t>
            </a:r>
            <a:endParaRPr sz="1000">
              <a:latin typeface="Arial"/>
              <a:cs typeface="Arial"/>
            </a:endParaRPr>
          </a:p>
        </p:txBody>
      </p:sp>
    </p:spTree>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111696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Stateless versus stateful servers</a:t>
            </a:r>
            <a:endParaRPr sz="600">
              <a:latin typeface="Arial"/>
              <a:cs typeface="Arial"/>
            </a:endParaRPr>
          </a:p>
        </p:txBody>
      </p:sp>
      <p:sp>
        <p:nvSpPr>
          <p:cNvPr id="7" name="object 7"/>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3765638" y="716"/>
            <a:ext cx="77597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General</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design</a:t>
            </a:r>
            <a:r>
              <a:rPr sz="600" spc="-2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issues</a:t>
            </a:r>
            <a:endParaRPr sz="600">
              <a:latin typeface="Arial"/>
              <a:cs typeface="Arial"/>
            </a:endParaRPr>
          </a:p>
        </p:txBody>
      </p:sp>
      <p:sp>
        <p:nvSpPr>
          <p:cNvPr id="4" name="object 4"/>
          <p:cNvSpPr txBox="1"/>
          <p:nvPr/>
        </p:nvSpPr>
        <p:spPr>
          <a:xfrm>
            <a:off x="95300" y="188846"/>
            <a:ext cx="145478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Servers</a:t>
            </a:r>
            <a:r>
              <a:rPr sz="1400" spc="-30" dirty="0">
                <a:solidFill>
                  <a:srgbClr val="3333B2"/>
                </a:solidFill>
                <a:latin typeface="Arial"/>
                <a:cs typeface="Arial"/>
              </a:rPr>
              <a:t> </a:t>
            </a:r>
            <a:r>
              <a:rPr sz="1400" spc="15" dirty="0">
                <a:solidFill>
                  <a:srgbClr val="3333B2"/>
                </a:solidFill>
                <a:latin typeface="Arial"/>
                <a:cs typeface="Arial"/>
              </a:rPr>
              <a:t>and</a:t>
            </a:r>
            <a:r>
              <a:rPr sz="1400" spc="-25" dirty="0">
                <a:solidFill>
                  <a:srgbClr val="3333B2"/>
                </a:solidFill>
                <a:latin typeface="Arial"/>
                <a:cs typeface="Arial"/>
              </a:rPr>
              <a:t> </a:t>
            </a:r>
            <a:r>
              <a:rPr sz="1400" spc="15" dirty="0">
                <a:solidFill>
                  <a:srgbClr val="3333B2"/>
                </a:solidFill>
                <a:latin typeface="Arial"/>
                <a:cs typeface="Arial"/>
              </a:rPr>
              <a:t>state</a:t>
            </a:r>
            <a:endParaRPr sz="1400" dirty="0">
              <a:latin typeface="Arial"/>
              <a:cs typeface="Arial"/>
            </a:endParaRPr>
          </a:p>
        </p:txBody>
      </p:sp>
      <p:sp>
        <p:nvSpPr>
          <p:cNvPr id="5" name="object 5"/>
          <p:cNvSpPr txBox="1"/>
          <p:nvPr/>
        </p:nvSpPr>
        <p:spPr>
          <a:xfrm>
            <a:off x="309194" y="829460"/>
            <a:ext cx="3989704" cy="1858645"/>
          </a:xfrm>
          <a:prstGeom prst="rect">
            <a:avLst/>
          </a:prstGeom>
        </p:spPr>
        <p:txBody>
          <a:bodyPr vert="horz" wrap="square" lIns="0" tIns="12065" rIns="0" bIns="0" rtlCol="0">
            <a:spAutoFit/>
          </a:bodyPr>
          <a:lstStyle/>
          <a:p>
            <a:pPr marL="50800">
              <a:lnSpc>
                <a:spcPts val="1410"/>
              </a:lnSpc>
              <a:spcBef>
                <a:spcPts val="95"/>
              </a:spcBef>
            </a:pPr>
            <a:r>
              <a:rPr sz="1200" spc="-5" dirty="0">
                <a:solidFill>
                  <a:srgbClr val="3333B2"/>
                </a:solidFill>
                <a:latin typeface="Arial"/>
                <a:cs typeface="Arial"/>
              </a:rPr>
              <a:t>Stateful</a:t>
            </a:r>
            <a:r>
              <a:rPr sz="1200" spc="-30" dirty="0">
                <a:solidFill>
                  <a:srgbClr val="3333B2"/>
                </a:solidFill>
                <a:latin typeface="Arial"/>
                <a:cs typeface="Arial"/>
              </a:rPr>
              <a:t> </a:t>
            </a:r>
            <a:r>
              <a:rPr sz="1200" spc="-5" dirty="0">
                <a:solidFill>
                  <a:srgbClr val="3333B2"/>
                </a:solidFill>
                <a:latin typeface="Arial"/>
                <a:cs typeface="Arial"/>
              </a:rPr>
              <a:t>servers</a:t>
            </a:r>
            <a:endParaRPr sz="1200" dirty="0">
              <a:latin typeface="Arial"/>
              <a:cs typeface="Arial"/>
            </a:endParaRPr>
          </a:p>
          <a:p>
            <a:pPr marL="50800">
              <a:lnSpc>
                <a:spcPts val="1170"/>
              </a:lnSpc>
            </a:pPr>
            <a:r>
              <a:rPr sz="1000" spc="-15" dirty="0">
                <a:latin typeface="Arial"/>
                <a:cs typeface="Arial"/>
              </a:rPr>
              <a:t>Keeps</a:t>
            </a:r>
            <a:r>
              <a:rPr sz="1000" spc="-5" dirty="0">
                <a:latin typeface="Arial"/>
                <a:cs typeface="Arial"/>
              </a:rPr>
              <a:t> </a:t>
            </a:r>
            <a:r>
              <a:rPr sz="1000" spc="-10" dirty="0">
                <a:latin typeface="Arial"/>
                <a:cs typeface="Arial"/>
              </a:rPr>
              <a:t>track</a:t>
            </a:r>
            <a:r>
              <a:rPr sz="1000" spc="-5" dirty="0">
                <a:latin typeface="Arial"/>
                <a:cs typeface="Arial"/>
              </a:rPr>
              <a:t> of</a:t>
            </a:r>
            <a:r>
              <a:rPr sz="1000" dirty="0">
                <a:latin typeface="Arial"/>
                <a:cs typeface="Arial"/>
              </a:rPr>
              <a:t> </a:t>
            </a:r>
            <a:r>
              <a:rPr sz="1000" spc="-5" dirty="0">
                <a:latin typeface="Arial"/>
                <a:cs typeface="Arial"/>
              </a:rPr>
              <a:t>the status</a:t>
            </a:r>
            <a:r>
              <a:rPr sz="1000" dirty="0">
                <a:latin typeface="Arial"/>
                <a:cs typeface="Arial"/>
              </a:rPr>
              <a:t> </a:t>
            </a:r>
            <a:r>
              <a:rPr sz="1000" spc="-5" dirty="0">
                <a:latin typeface="Arial"/>
                <a:cs typeface="Arial"/>
              </a:rPr>
              <a:t>of its</a:t>
            </a:r>
            <a:r>
              <a:rPr sz="1000" dirty="0">
                <a:latin typeface="Arial"/>
                <a:cs typeface="Arial"/>
              </a:rPr>
              <a:t> </a:t>
            </a:r>
            <a:r>
              <a:rPr sz="1000" spc="-5" dirty="0">
                <a:latin typeface="Arial"/>
                <a:cs typeface="Arial"/>
              </a:rPr>
              <a:t>clients:</a:t>
            </a:r>
            <a:endParaRPr sz="1000" dirty="0">
              <a:latin typeface="Arial"/>
              <a:cs typeface="Arial"/>
            </a:endParaRPr>
          </a:p>
          <a:p>
            <a:pPr marL="327660" marR="161925" indent="-168275">
              <a:lnSpc>
                <a:spcPct val="100000"/>
              </a:lnSpc>
              <a:spcBef>
                <a:spcPts val="590"/>
              </a:spcBef>
              <a:buClr>
                <a:srgbClr val="3333B2"/>
              </a:buClr>
              <a:buChar char="►"/>
              <a:tabLst>
                <a:tab pos="328295" algn="l"/>
              </a:tabLst>
            </a:pPr>
            <a:r>
              <a:rPr sz="1000" spc="-5" dirty="0">
                <a:latin typeface="Arial"/>
                <a:cs typeface="Arial"/>
              </a:rPr>
              <a:t>Record that</a:t>
            </a:r>
            <a:r>
              <a:rPr sz="1000" dirty="0">
                <a:latin typeface="Arial"/>
                <a:cs typeface="Arial"/>
              </a:rPr>
              <a:t> </a:t>
            </a:r>
            <a:r>
              <a:rPr sz="1000" spc="-5" dirty="0">
                <a:latin typeface="Arial"/>
                <a:cs typeface="Arial"/>
              </a:rPr>
              <a:t>a file</a:t>
            </a:r>
            <a:r>
              <a:rPr sz="1000" dirty="0">
                <a:latin typeface="Arial"/>
                <a:cs typeface="Arial"/>
              </a:rPr>
              <a:t> </a:t>
            </a:r>
            <a:r>
              <a:rPr sz="1000" spc="-5" dirty="0">
                <a:latin typeface="Arial"/>
                <a:cs typeface="Arial"/>
              </a:rPr>
              <a:t>has been</a:t>
            </a:r>
            <a:r>
              <a:rPr sz="1000" dirty="0">
                <a:latin typeface="Arial"/>
                <a:cs typeface="Arial"/>
              </a:rPr>
              <a:t> </a:t>
            </a:r>
            <a:r>
              <a:rPr sz="1000" spc="-5" dirty="0">
                <a:latin typeface="Arial"/>
                <a:cs typeface="Arial"/>
              </a:rPr>
              <a:t>opened, so</a:t>
            </a:r>
            <a:r>
              <a:rPr sz="1000" dirty="0">
                <a:latin typeface="Arial"/>
                <a:cs typeface="Arial"/>
              </a:rPr>
              <a:t> </a:t>
            </a:r>
            <a:r>
              <a:rPr sz="1000" spc="-5" dirty="0">
                <a:latin typeface="Arial"/>
                <a:cs typeface="Arial"/>
              </a:rPr>
              <a:t>that prefetching</a:t>
            </a:r>
            <a:r>
              <a:rPr sz="1000" dirty="0">
                <a:latin typeface="Arial"/>
                <a:cs typeface="Arial"/>
              </a:rPr>
              <a:t> </a:t>
            </a:r>
            <a:r>
              <a:rPr sz="1000" spc="-5" dirty="0">
                <a:latin typeface="Arial"/>
                <a:cs typeface="Arial"/>
              </a:rPr>
              <a:t>can be </a:t>
            </a:r>
            <a:r>
              <a:rPr sz="1000" spc="-260" dirty="0">
                <a:latin typeface="Arial"/>
                <a:cs typeface="Arial"/>
              </a:rPr>
              <a:t> </a:t>
            </a:r>
            <a:r>
              <a:rPr sz="1000" spc="-5" dirty="0">
                <a:latin typeface="Arial"/>
                <a:cs typeface="Arial"/>
              </a:rPr>
              <a:t>done</a:t>
            </a:r>
            <a:endParaRPr sz="1000" dirty="0">
              <a:latin typeface="Arial"/>
              <a:cs typeface="Arial"/>
            </a:endParaRPr>
          </a:p>
          <a:p>
            <a:pPr marL="327660" marR="43180" indent="-168275">
              <a:lnSpc>
                <a:spcPts val="1200"/>
              </a:lnSpc>
              <a:spcBef>
                <a:spcPts val="35"/>
              </a:spcBef>
              <a:buClr>
                <a:srgbClr val="3333B2"/>
              </a:buClr>
              <a:buChar char="►"/>
              <a:tabLst>
                <a:tab pos="328295" algn="l"/>
              </a:tabLst>
            </a:pPr>
            <a:r>
              <a:rPr sz="1000" spc="-15" dirty="0">
                <a:latin typeface="Arial"/>
                <a:cs typeface="Arial"/>
              </a:rPr>
              <a:t>Knows</a:t>
            </a:r>
            <a:r>
              <a:rPr sz="1000" dirty="0">
                <a:latin typeface="Arial"/>
                <a:cs typeface="Arial"/>
              </a:rPr>
              <a:t> </a:t>
            </a:r>
            <a:r>
              <a:rPr sz="1000" spc="-10" dirty="0">
                <a:latin typeface="Arial"/>
                <a:cs typeface="Arial"/>
              </a:rPr>
              <a:t>which</a:t>
            </a:r>
            <a:r>
              <a:rPr sz="1000" dirty="0">
                <a:latin typeface="Arial"/>
                <a:cs typeface="Arial"/>
              </a:rPr>
              <a:t> </a:t>
            </a:r>
            <a:r>
              <a:rPr sz="1000" spc="-10" dirty="0">
                <a:latin typeface="Arial"/>
                <a:cs typeface="Arial"/>
              </a:rPr>
              <a:t>data</a:t>
            </a:r>
            <a:r>
              <a:rPr sz="1000" dirty="0">
                <a:latin typeface="Arial"/>
                <a:cs typeface="Arial"/>
              </a:rPr>
              <a:t> </a:t>
            </a:r>
            <a:r>
              <a:rPr sz="1000" spc="-10" dirty="0">
                <a:latin typeface="Arial"/>
                <a:cs typeface="Arial"/>
              </a:rPr>
              <a:t>a</a:t>
            </a:r>
            <a:r>
              <a:rPr sz="1000" dirty="0">
                <a:latin typeface="Arial"/>
                <a:cs typeface="Arial"/>
              </a:rPr>
              <a:t> </a:t>
            </a:r>
            <a:r>
              <a:rPr sz="1000" spc="-10" dirty="0">
                <a:latin typeface="Arial"/>
                <a:cs typeface="Arial"/>
              </a:rPr>
              <a:t>client</a:t>
            </a:r>
            <a:r>
              <a:rPr sz="1000" dirty="0">
                <a:latin typeface="Arial"/>
                <a:cs typeface="Arial"/>
              </a:rPr>
              <a:t> </a:t>
            </a:r>
            <a:r>
              <a:rPr sz="1000" spc="-10" dirty="0">
                <a:latin typeface="Arial"/>
                <a:cs typeface="Arial"/>
              </a:rPr>
              <a:t>has</a:t>
            </a:r>
            <a:r>
              <a:rPr sz="1000" spc="5" dirty="0">
                <a:latin typeface="Arial"/>
                <a:cs typeface="Arial"/>
              </a:rPr>
              <a:t> </a:t>
            </a:r>
            <a:r>
              <a:rPr sz="1000" spc="-10" dirty="0">
                <a:latin typeface="Arial"/>
                <a:cs typeface="Arial"/>
              </a:rPr>
              <a:t>cached,</a:t>
            </a:r>
            <a:r>
              <a:rPr sz="1000" dirty="0">
                <a:latin typeface="Arial"/>
                <a:cs typeface="Arial"/>
              </a:rPr>
              <a:t> </a:t>
            </a:r>
            <a:r>
              <a:rPr sz="1000" spc="-10" dirty="0">
                <a:latin typeface="Arial"/>
                <a:cs typeface="Arial"/>
              </a:rPr>
              <a:t>and</a:t>
            </a:r>
            <a:r>
              <a:rPr sz="1000" dirty="0">
                <a:latin typeface="Arial"/>
                <a:cs typeface="Arial"/>
              </a:rPr>
              <a:t> </a:t>
            </a:r>
            <a:r>
              <a:rPr sz="1000" spc="-10" dirty="0">
                <a:latin typeface="Arial"/>
                <a:cs typeface="Arial"/>
              </a:rPr>
              <a:t>allows</a:t>
            </a:r>
            <a:r>
              <a:rPr sz="1000" dirty="0">
                <a:latin typeface="Arial"/>
                <a:cs typeface="Arial"/>
              </a:rPr>
              <a:t> </a:t>
            </a:r>
            <a:r>
              <a:rPr sz="1000" spc="-10" dirty="0">
                <a:latin typeface="Arial"/>
                <a:cs typeface="Arial"/>
              </a:rPr>
              <a:t>clients</a:t>
            </a:r>
            <a:r>
              <a:rPr sz="1000" dirty="0">
                <a:latin typeface="Arial"/>
                <a:cs typeface="Arial"/>
              </a:rPr>
              <a:t> </a:t>
            </a:r>
            <a:r>
              <a:rPr sz="1000" spc="-10" dirty="0">
                <a:latin typeface="Arial"/>
                <a:cs typeface="Arial"/>
              </a:rPr>
              <a:t>to</a:t>
            </a:r>
            <a:r>
              <a:rPr sz="1000" spc="5" dirty="0">
                <a:latin typeface="Arial"/>
                <a:cs typeface="Arial"/>
              </a:rPr>
              <a:t> </a:t>
            </a:r>
            <a:r>
              <a:rPr sz="1000" spc="-15" dirty="0">
                <a:latin typeface="Arial"/>
                <a:cs typeface="Arial"/>
              </a:rPr>
              <a:t>keep </a:t>
            </a:r>
            <a:r>
              <a:rPr sz="1000" spc="-265" dirty="0">
                <a:latin typeface="Arial"/>
                <a:cs typeface="Arial"/>
              </a:rPr>
              <a:t> </a:t>
            </a:r>
            <a:r>
              <a:rPr sz="1000" spc="-5" dirty="0">
                <a:latin typeface="Arial"/>
                <a:cs typeface="Arial"/>
              </a:rPr>
              <a:t>local</a:t>
            </a:r>
            <a:r>
              <a:rPr sz="1000" spc="-10" dirty="0">
                <a:latin typeface="Arial"/>
                <a:cs typeface="Arial"/>
              </a:rPr>
              <a:t> </a:t>
            </a:r>
            <a:r>
              <a:rPr sz="1000" spc="-5" dirty="0">
                <a:latin typeface="Arial"/>
                <a:cs typeface="Arial"/>
              </a:rPr>
              <a:t>copies of shared data</a:t>
            </a:r>
            <a:endParaRPr sz="1000" dirty="0">
              <a:latin typeface="Arial"/>
              <a:cs typeface="Arial"/>
            </a:endParaRPr>
          </a:p>
          <a:p>
            <a:pPr>
              <a:lnSpc>
                <a:spcPct val="100000"/>
              </a:lnSpc>
              <a:spcBef>
                <a:spcPts val="15"/>
              </a:spcBef>
            </a:pPr>
            <a:endParaRPr sz="1250" dirty="0">
              <a:latin typeface="Arial"/>
              <a:cs typeface="Arial"/>
            </a:endParaRPr>
          </a:p>
          <a:p>
            <a:pPr marL="50800">
              <a:lnSpc>
                <a:spcPts val="1410"/>
              </a:lnSpc>
            </a:pPr>
            <a:r>
              <a:rPr sz="1200" spc="-5" dirty="0">
                <a:solidFill>
                  <a:srgbClr val="FA0000"/>
                </a:solidFill>
                <a:latin typeface="Arial"/>
                <a:cs typeface="Arial"/>
              </a:rPr>
              <a:t>Observation</a:t>
            </a:r>
            <a:endParaRPr sz="1200" dirty="0">
              <a:latin typeface="Arial"/>
              <a:cs typeface="Arial"/>
            </a:endParaRPr>
          </a:p>
          <a:p>
            <a:pPr marL="50800" marR="114935" indent="-4445">
              <a:lnSpc>
                <a:spcPts val="1200"/>
              </a:lnSpc>
              <a:spcBef>
                <a:spcPts val="10"/>
              </a:spcBef>
            </a:pPr>
            <a:r>
              <a:rPr sz="1000" spc="-5" dirty="0">
                <a:latin typeface="Arial"/>
                <a:cs typeface="Arial"/>
              </a:rPr>
              <a:t>The</a:t>
            </a:r>
            <a:r>
              <a:rPr sz="1000" dirty="0">
                <a:latin typeface="Arial"/>
                <a:cs typeface="Arial"/>
              </a:rPr>
              <a:t> </a:t>
            </a:r>
            <a:r>
              <a:rPr sz="1000" spc="-5" dirty="0">
                <a:solidFill>
                  <a:srgbClr val="0000FA"/>
                </a:solidFill>
                <a:latin typeface="Arial"/>
                <a:cs typeface="Arial"/>
              </a:rPr>
              <a:t>performance</a:t>
            </a:r>
            <a:r>
              <a:rPr sz="1000" spc="5" dirty="0">
                <a:solidFill>
                  <a:srgbClr val="0000FA"/>
                </a:solidFill>
                <a:latin typeface="Arial"/>
                <a:cs typeface="Arial"/>
              </a:rPr>
              <a:t> </a:t>
            </a:r>
            <a:r>
              <a:rPr sz="1000" spc="-5" dirty="0">
                <a:solidFill>
                  <a:srgbClr val="0000FA"/>
                </a:solidFill>
                <a:latin typeface="Arial"/>
                <a:cs typeface="Arial"/>
              </a:rPr>
              <a:t>of</a:t>
            </a:r>
            <a:r>
              <a:rPr sz="1000" dirty="0">
                <a:solidFill>
                  <a:srgbClr val="0000FA"/>
                </a:solidFill>
                <a:latin typeface="Arial"/>
                <a:cs typeface="Arial"/>
              </a:rPr>
              <a:t> </a:t>
            </a:r>
            <a:r>
              <a:rPr sz="1000" spc="-5" dirty="0">
                <a:solidFill>
                  <a:srgbClr val="0000FA"/>
                </a:solidFill>
                <a:latin typeface="Arial"/>
                <a:cs typeface="Arial"/>
              </a:rPr>
              <a:t>stateful</a:t>
            </a:r>
            <a:r>
              <a:rPr sz="1000" spc="5" dirty="0">
                <a:solidFill>
                  <a:srgbClr val="0000FA"/>
                </a:solidFill>
                <a:latin typeface="Arial"/>
                <a:cs typeface="Arial"/>
              </a:rPr>
              <a:t> </a:t>
            </a:r>
            <a:r>
              <a:rPr sz="1000" spc="-5" dirty="0">
                <a:solidFill>
                  <a:srgbClr val="0000FA"/>
                </a:solidFill>
                <a:latin typeface="Arial"/>
                <a:cs typeface="Arial"/>
              </a:rPr>
              <a:t>servers</a:t>
            </a:r>
            <a:r>
              <a:rPr sz="1000" dirty="0">
                <a:solidFill>
                  <a:srgbClr val="0000FA"/>
                </a:solidFill>
                <a:latin typeface="Arial"/>
                <a:cs typeface="Arial"/>
              </a:rPr>
              <a:t> </a:t>
            </a:r>
            <a:r>
              <a:rPr sz="1000" spc="-5" dirty="0">
                <a:solidFill>
                  <a:srgbClr val="0000FA"/>
                </a:solidFill>
                <a:latin typeface="Arial"/>
                <a:cs typeface="Arial"/>
              </a:rPr>
              <a:t>can</a:t>
            </a:r>
            <a:r>
              <a:rPr sz="1000" spc="5" dirty="0">
                <a:solidFill>
                  <a:srgbClr val="0000FA"/>
                </a:solidFill>
                <a:latin typeface="Arial"/>
                <a:cs typeface="Arial"/>
              </a:rPr>
              <a:t> </a:t>
            </a:r>
            <a:r>
              <a:rPr sz="1000" spc="-5" dirty="0">
                <a:solidFill>
                  <a:srgbClr val="0000FA"/>
                </a:solidFill>
                <a:latin typeface="Arial"/>
                <a:cs typeface="Arial"/>
              </a:rPr>
              <a:t>be</a:t>
            </a:r>
            <a:r>
              <a:rPr sz="1000" spc="5" dirty="0">
                <a:solidFill>
                  <a:srgbClr val="0000FA"/>
                </a:solidFill>
                <a:latin typeface="Arial"/>
                <a:cs typeface="Arial"/>
              </a:rPr>
              <a:t> </a:t>
            </a:r>
            <a:r>
              <a:rPr sz="1000" spc="-10" dirty="0">
                <a:solidFill>
                  <a:srgbClr val="0000FA"/>
                </a:solidFill>
                <a:latin typeface="Arial"/>
                <a:cs typeface="Arial"/>
              </a:rPr>
              <a:t>extremely</a:t>
            </a:r>
            <a:r>
              <a:rPr sz="1000" dirty="0">
                <a:solidFill>
                  <a:srgbClr val="0000FA"/>
                </a:solidFill>
                <a:latin typeface="Arial"/>
                <a:cs typeface="Arial"/>
              </a:rPr>
              <a:t> </a:t>
            </a:r>
            <a:r>
              <a:rPr sz="1000" spc="-5" dirty="0">
                <a:solidFill>
                  <a:srgbClr val="0000FA"/>
                </a:solidFill>
                <a:latin typeface="Arial"/>
                <a:cs typeface="Arial"/>
              </a:rPr>
              <a:t>high</a:t>
            </a:r>
            <a:r>
              <a:rPr sz="1000" spc="-5" dirty="0">
                <a:latin typeface="Arial"/>
                <a:cs typeface="Arial"/>
              </a:rPr>
              <a:t>,</a:t>
            </a:r>
            <a:r>
              <a:rPr sz="1000" spc="5" dirty="0">
                <a:latin typeface="Arial"/>
                <a:cs typeface="Arial"/>
              </a:rPr>
              <a:t> </a:t>
            </a:r>
            <a:r>
              <a:rPr sz="1000" spc="-5" dirty="0">
                <a:latin typeface="Arial"/>
                <a:cs typeface="Arial"/>
              </a:rPr>
              <a:t>provided </a:t>
            </a:r>
            <a:r>
              <a:rPr sz="1000" spc="-265" dirty="0">
                <a:latin typeface="Arial"/>
                <a:cs typeface="Arial"/>
              </a:rPr>
              <a:t> </a:t>
            </a:r>
            <a:r>
              <a:rPr sz="1000" spc="-5" dirty="0">
                <a:latin typeface="Arial"/>
                <a:cs typeface="Arial"/>
              </a:rPr>
              <a:t>clients</a:t>
            </a:r>
            <a:r>
              <a:rPr sz="1000" dirty="0">
                <a:latin typeface="Arial"/>
                <a:cs typeface="Arial"/>
              </a:rPr>
              <a:t> </a:t>
            </a:r>
            <a:r>
              <a:rPr sz="1000" spc="-5" dirty="0">
                <a:latin typeface="Arial"/>
                <a:cs typeface="Arial"/>
              </a:rPr>
              <a:t>are</a:t>
            </a:r>
            <a:r>
              <a:rPr sz="1000" dirty="0">
                <a:latin typeface="Arial"/>
                <a:cs typeface="Arial"/>
              </a:rPr>
              <a:t> </a:t>
            </a:r>
            <a:r>
              <a:rPr sz="1000" spc="-10" dirty="0">
                <a:latin typeface="Arial"/>
                <a:cs typeface="Arial"/>
              </a:rPr>
              <a:t>allowed</a:t>
            </a:r>
            <a:r>
              <a:rPr sz="1000" dirty="0">
                <a:latin typeface="Arial"/>
                <a:cs typeface="Arial"/>
              </a:rPr>
              <a:t> </a:t>
            </a:r>
            <a:r>
              <a:rPr sz="1000" spc="-5" dirty="0">
                <a:latin typeface="Arial"/>
                <a:cs typeface="Arial"/>
              </a:rPr>
              <a:t>to</a:t>
            </a:r>
            <a:r>
              <a:rPr sz="1000" dirty="0">
                <a:latin typeface="Arial"/>
                <a:cs typeface="Arial"/>
              </a:rPr>
              <a:t> </a:t>
            </a:r>
            <a:r>
              <a:rPr sz="1000" spc="-10" dirty="0">
                <a:latin typeface="Arial"/>
                <a:cs typeface="Arial"/>
              </a:rPr>
              <a:t>keep</a:t>
            </a:r>
            <a:r>
              <a:rPr sz="1000" spc="5" dirty="0">
                <a:latin typeface="Arial"/>
                <a:cs typeface="Arial"/>
              </a:rPr>
              <a:t> </a:t>
            </a:r>
            <a:r>
              <a:rPr sz="1000" spc="-5" dirty="0">
                <a:latin typeface="Arial"/>
                <a:cs typeface="Arial"/>
              </a:rPr>
              <a:t>local</a:t>
            </a:r>
            <a:r>
              <a:rPr sz="1000" dirty="0">
                <a:latin typeface="Arial"/>
                <a:cs typeface="Arial"/>
              </a:rPr>
              <a:t> </a:t>
            </a:r>
            <a:r>
              <a:rPr sz="1000" spc="-5" dirty="0">
                <a:latin typeface="Arial"/>
                <a:cs typeface="Arial"/>
              </a:rPr>
              <a:t>copies.</a:t>
            </a:r>
            <a:r>
              <a:rPr sz="1000" spc="65" dirty="0">
                <a:latin typeface="Arial"/>
                <a:cs typeface="Arial"/>
              </a:rPr>
              <a:t> </a:t>
            </a:r>
            <a:r>
              <a:rPr sz="1000" spc="-5" dirty="0">
                <a:latin typeface="Arial"/>
                <a:cs typeface="Arial"/>
              </a:rPr>
              <a:t>As</a:t>
            </a:r>
            <a:r>
              <a:rPr sz="1000" spc="5" dirty="0">
                <a:latin typeface="Arial"/>
                <a:cs typeface="Arial"/>
              </a:rPr>
              <a:t> </a:t>
            </a:r>
            <a:r>
              <a:rPr sz="1000" spc="-5" dirty="0">
                <a:latin typeface="Arial"/>
                <a:cs typeface="Arial"/>
              </a:rPr>
              <a:t>it</a:t>
            </a:r>
            <a:r>
              <a:rPr sz="1000" dirty="0">
                <a:latin typeface="Arial"/>
                <a:cs typeface="Arial"/>
              </a:rPr>
              <a:t> turns </a:t>
            </a:r>
            <a:r>
              <a:rPr sz="1000" spc="-5" dirty="0">
                <a:latin typeface="Arial"/>
                <a:cs typeface="Arial"/>
              </a:rPr>
              <a:t>out,</a:t>
            </a:r>
            <a:r>
              <a:rPr sz="1000" dirty="0">
                <a:latin typeface="Arial"/>
                <a:cs typeface="Arial"/>
              </a:rPr>
              <a:t> </a:t>
            </a:r>
            <a:r>
              <a:rPr sz="1000" spc="-5" dirty="0">
                <a:solidFill>
                  <a:srgbClr val="0000FA"/>
                </a:solidFill>
                <a:latin typeface="Arial"/>
                <a:cs typeface="Arial"/>
              </a:rPr>
              <a:t>reliability</a:t>
            </a:r>
            <a:r>
              <a:rPr sz="1000" dirty="0">
                <a:solidFill>
                  <a:srgbClr val="0000FA"/>
                </a:solidFill>
                <a:latin typeface="Arial"/>
                <a:cs typeface="Arial"/>
              </a:rPr>
              <a:t> </a:t>
            </a:r>
            <a:r>
              <a:rPr sz="1000" spc="-5" dirty="0">
                <a:solidFill>
                  <a:srgbClr val="0000FA"/>
                </a:solidFill>
                <a:latin typeface="Arial"/>
                <a:cs typeface="Arial"/>
              </a:rPr>
              <a:t>is </a:t>
            </a:r>
            <a:r>
              <a:rPr sz="1000" dirty="0">
                <a:solidFill>
                  <a:srgbClr val="0000FA"/>
                </a:solidFill>
                <a:latin typeface="Arial"/>
                <a:cs typeface="Arial"/>
              </a:rPr>
              <a:t> </a:t>
            </a:r>
            <a:r>
              <a:rPr sz="1000" spc="-5" dirty="0">
                <a:solidFill>
                  <a:srgbClr val="0000FA"/>
                </a:solidFill>
                <a:latin typeface="Arial"/>
                <a:cs typeface="Arial"/>
              </a:rPr>
              <a:t>often</a:t>
            </a:r>
            <a:r>
              <a:rPr sz="1000" spc="-10" dirty="0">
                <a:solidFill>
                  <a:srgbClr val="0000FA"/>
                </a:solidFill>
                <a:latin typeface="Arial"/>
                <a:cs typeface="Arial"/>
              </a:rPr>
              <a:t> </a:t>
            </a:r>
            <a:r>
              <a:rPr sz="1000" spc="-5" dirty="0">
                <a:solidFill>
                  <a:srgbClr val="0000FA"/>
                </a:solidFill>
                <a:latin typeface="Arial"/>
                <a:cs typeface="Arial"/>
              </a:rPr>
              <a:t>not a major problem</a:t>
            </a:r>
            <a:r>
              <a:rPr sz="1000" spc="-5" dirty="0">
                <a:latin typeface="Arial"/>
                <a:cs typeface="Arial"/>
              </a:rPr>
              <a:t>.</a:t>
            </a:r>
            <a:endParaRPr sz="1000" dirty="0">
              <a:latin typeface="Arial"/>
              <a:cs typeface="Arial"/>
            </a:endParaRPr>
          </a:p>
        </p:txBody>
      </p:sp>
    </p:spTree>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Server</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4" name="object 4"/>
          <p:cNvSpPr txBox="1"/>
          <p:nvPr/>
        </p:nvSpPr>
        <p:spPr>
          <a:xfrm>
            <a:off x="95300" y="188846"/>
            <a:ext cx="1762760" cy="55943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Three</a:t>
            </a:r>
            <a:r>
              <a:rPr sz="1400" spc="-15" dirty="0">
                <a:solidFill>
                  <a:srgbClr val="3333B2"/>
                </a:solidFill>
                <a:latin typeface="Arial"/>
                <a:cs typeface="Arial"/>
              </a:rPr>
              <a:t> </a:t>
            </a:r>
            <a:r>
              <a:rPr sz="1400" spc="5" dirty="0">
                <a:solidFill>
                  <a:srgbClr val="3333B2"/>
                </a:solidFill>
                <a:latin typeface="Arial"/>
                <a:cs typeface="Arial"/>
              </a:rPr>
              <a:t>different</a:t>
            </a:r>
            <a:r>
              <a:rPr sz="1400" spc="-15" dirty="0">
                <a:solidFill>
                  <a:srgbClr val="3333B2"/>
                </a:solidFill>
                <a:latin typeface="Arial"/>
                <a:cs typeface="Arial"/>
              </a:rPr>
              <a:t> </a:t>
            </a:r>
            <a:r>
              <a:rPr sz="1400" spc="10" dirty="0">
                <a:solidFill>
                  <a:srgbClr val="3333B2"/>
                </a:solidFill>
                <a:latin typeface="Arial"/>
                <a:cs typeface="Arial"/>
              </a:rPr>
              <a:t>tiers</a:t>
            </a:r>
            <a:endParaRPr sz="1400">
              <a:latin typeface="Arial"/>
              <a:cs typeface="Arial"/>
            </a:endParaRPr>
          </a:p>
          <a:p>
            <a:pPr marL="264160">
              <a:lnSpc>
                <a:spcPct val="100000"/>
              </a:lnSpc>
              <a:spcBef>
                <a:spcPts val="1045"/>
              </a:spcBef>
            </a:pPr>
            <a:r>
              <a:rPr sz="1200" spc="-5" dirty="0">
                <a:solidFill>
                  <a:srgbClr val="3333B2"/>
                </a:solidFill>
                <a:latin typeface="Arial"/>
                <a:cs typeface="Arial"/>
              </a:rPr>
              <a:t>Common</a:t>
            </a:r>
            <a:r>
              <a:rPr sz="1200" spc="-50" dirty="0">
                <a:solidFill>
                  <a:srgbClr val="3333B2"/>
                </a:solidFill>
                <a:latin typeface="Arial"/>
                <a:cs typeface="Arial"/>
              </a:rPr>
              <a:t> </a:t>
            </a:r>
            <a:r>
              <a:rPr sz="1200" spc="-5" dirty="0">
                <a:solidFill>
                  <a:srgbClr val="3333B2"/>
                </a:solidFill>
                <a:latin typeface="Arial"/>
                <a:cs typeface="Arial"/>
              </a:rPr>
              <a:t>organization</a:t>
            </a:r>
            <a:endParaRPr sz="1200">
              <a:latin typeface="Arial"/>
              <a:cs typeface="Arial"/>
            </a:endParaRPr>
          </a:p>
        </p:txBody>
      </p:sp>
      <p:grpSp>
        <p:nvGrpSpPr>
          <p:cNvPr id="5" name="object 5"/>
          <p:cNvGrpSpPr/>
          <p:nvPr/>
        </p:nvGrpSpPr>
        <p:grpSpPr>
          <a:xfrm>
            <a:off x="564784" y="1682641"/>
            <a:ext cx="580390" cy="64135"/>
            <a:chOff x="564784" y="1682641"/>
            <a:chExt cx="580390" cy="64135"/>
          </a:xfrm>
        </p:grpSpPr>
        <p:sp>
          <p:nvSpPr>
            <p:cNvPr id="6" name="object 6"/>
            <p:cNvSpPr/>
            <p:nvPr/>
          </p:nvSpPr>
          <p:spPr>
            <a:xfrm>
              <a:off x="564784" y="1714515"/>
              <a:ext cx="542925" cy="0"/>
            </a:xfrm>
            <a:custGeom>
              <a:avLst/>
              <a:gdLst/>
              <a:ahLst/>
              <a:cxnLst/>
              <a:rect l="l" t="t" r="r" b="b"/>
              <a:pathLst>
                <a:path w="542925">
                  <a:moveTo>
                    <a:pt x="0" y="0"/>
                  </a:moveTo>
                  <a:lnTo>
                    <a:pt x="542412" y="0"/>
                  </a:lnTo>
                </a:path>
              </a:pathLst>
            </a:custGeom>
            <a:ln w="5270">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1070196" y="1682641"/>
              <a:ext cx="74380" cy="63753"/>
            </a:xfrm>
            <a:prstGeom prst="rect">
              <a:avLst/>
            </a:prstGeom>
          </p:spPr>
        </p:pic>
      </p:grpSp>
      <p:grpSp>
        <p:nvGrpSpPr>
          <p:cNvPr id="8" name="object 8"/>
          <p:cNvGrpSpPr/>
          <p:nvPr/>
        </p:nvGrpSpPr>
        <p:grpSpPr>
          <a:xfrm>
            <a:off x="1218655" y="1247805"/>
            <a:ext cx="1257935" cy="954405"/>
            <a:chOff x="1218655" y="1247805"/>
            <a:chExt cx="1257935" cy="954405"/>
          </a:xfrm>
        </p:grpSpPr>
        <p:sp>
          <p:nvSpPr>
            <p:cNvPr id="9" name="object 9"/>
            <p:cNvSpPr/>
            <p:nvPr/>
          </p:nvSpPr>
          <p:spPr>
            <a:xfrm>
              <a:off x="1566278" y="1740930"/>
              <a:ext cx="436245" cy="1905"/>
            </a:xfrm>
            <a:custGeom>
              <a:avLst/>
              <a:gdLst/>
              <a:ahLst/>
              <a:cxnLst/>
              <a:rect l="l" t="t" r="r" b="b"/>
              <a:pathLst>
                <a:path w="436244" h="1905">
                  <a:moveTo>
                    <a:pt x="0" y="1552"/>
                  </a:moveTo>
                  <a:lnTo>
                    <a:pt x="436170" y="0"/>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7" cstate="print"/>
            <a:stretch>
              <a:fillRect/>
            </a:stretch>
          </p:blipFill>
          <p:spPr>
            <a:xfrm>
              <a:off x="1965334" y="1709188"/>
              <a:ext cx="74493" cy="63751"/>
            </a:xfrm>
            <a:prstGeom prst="rect">
              <a:avLst/>
            </a:prstGeom>
          </p:spPr>
        </p:pic>
        <p:sp>
          <p:nvSpPr>
            <p:cNvPr id="11" name="object 11"/>
            <p:cNvSpPr/>
            <p:nvPr/>
          </p:nvSpPr>
          <p:spPr>
            <a:xfrm>
              <a:off x="1566240" y="1503683"/>
              <a:ext cx="474980" cy="211454"/>
            </a:xfrm>
            <a:custGeom>
              <a:avLst/>
              <a:gdLst/>
              <a:ahLst/>
              <a:cxnLst/>
              <a:rect l="l" t="t" r="r" b="b"/>
              <a:pathLst>
                <a:path w="474980" h="211455">
                  <a:moveTo>
                    <a:pt x="0" y="210831"/>
                  </a:moveTo>
                  <a:lnTo>
                    <a:pt x="207540" y="177889"/>
                  </a:lnTo>
                  <a:lnTo>
                    <a:pt x="355783" y="105415"/>
                  </a:lnTo>
                  <a:lnTo>
                    <a:pt x="444729" y="32942"/>
                  </a:lnTo>
                  <a:lnTo>
                    <a:pt x="474377" y="0"/>
                  </a:lnTo>
                </a:path>
              </a:pathLst>
            </a:custGeom>
            <a:ln w="5270">
              <a:solidFill>
                <a:srgbClr val="231F20"/>
              </a:solidFill>
            </a:ln>
          </p:spPr>
          <p:txBody>
            <a:bodyPr wrap="square" lIns="0" tIns="0" rIns="0" bIns="0" rtlCol="0"/>
            <a:lstStyle/>
            <a:p>
              <a:endParaRPr/>
            </a:p>
          </p:txBody>
        </p:sp>
        <p:pic>
          <p:nvPicPr>
            <p:cNvPr id="12" name="object 12"/>
            <p:cNvPicPr/>
            <p:nvPr/>
          </p:nvPicPr>
          <p:blipFill>
            <a:blip r:embed="rId8" cstate="print"/>
            <a:stretch>
              <a:fillRect/>
            </a:stretch>
          </p:blipFill>
          <p:spPr>
            <a:xfrm>
              <a:off x="1992920" y="1473778"/>
              <a:ext cx="70118" cy="78628"/>
            </a:xfrm>
            <a:prstGeom prst="rect">
              <a:avLst/>
            </a:prstGeom>
          </p:spPr>
        </p:pic>
        <p:sp>
          <p:nvSpPr>
            <p:cNvPr id="13" name="object 13"/>
            <p:cNvSpPr/>
            <p:nvPr/>
          </p:nvSpPr>
          <p:spPr>
            <a:xfrm>
              <a:off x="1566240" y="1767224"/>
              <a:ext cx="474980" cy="211454"/>
            </a:xfrm>
            <a:custGeom>
              <a:avLst/>
              <a:gdLst/>
              <a:ahLst/>
              <a:cxnLst/>
              <a:rect l="l" t="t" r="r" b="b"/>
              <a:pathLst>
                <a:path w="474980" h="211455">
                  <a:moveTo>
                    <a:pt x="0" y="0"/>
                  </a:moveTo>
                  <a:lnTo>
                    <a:pt x="207540" y="32942"/>
                  </a:lnTo>
                  <a:lnTo>
                    <a:pt x="355783" y="105416"/>
                  </a:lnTo>
                  <a:lnTo>
                    <a:pt x="444729" y="177890"/>
                  </a:lnTo>
                  <a:lnTo>
                    <a:pt x="474377" y="210832"/>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9" cstate="print"/>
            <a:stretch>
              <a:fillRect/>
            </a:stretch>
          </p:blipFill>
          <p:spPr>
            <a:xfrm>
              <a:off x="1992920" y="1929333"/>
              <a:ext cx="70118" cy="78629"/>
            </a:xfrm>
            <a:prstGeom prst="rect">
              <a:avLst/>
            </a:prstGeom>
          </p:spPr>
        </p:pic>
        <p:pic>
          <p:nvPicPr>
            <p:cNvPr id="15" name="object 15"/>
            <p:cNvPicPr/>
            <p:nvPr/>
          </p:nvPicPr>
          <p:blipFill>
            <a:blip r:embed="rId10" cstate="print"/>
            <a:stretch>
              <a:fillRect/>
            </a:stretch>
          </p:blipFill>
          <p:spPr>
            <a:xfrm>
              <a:off x="1218655" y="1589551"/>
              <a:ext cx="308851" cy="270899"/>
            </a:xfrm>
            <a:prstGeom prst="rect">
              <a:avLst/>
            </a:prstGeom>
          </p:spPr>
        </p:pic>
        <p:sp>
          <p:nvSpPr>
            <p:cNvPr id="16" name="object 16"/>
            <p:cNvSpPr/>
            <p:nvPr/>
          </p:nvSpPr>
          <p:spPr>
            <a:xfrm>
              <a:off x="2094082" y="1250663"/>
              <a:ext cx="379730" cy="948690"/>
            </a:xfrm>
            <a:custGeom>
              <a:avLst/>
              <a:gdLst/>
              <a:ahLst/>
              <a:cxnLst/>
              <a:rect l="l" t="t" r="r" b="b"/>
              <a:pathLst>
                <a:path w="379730" h="948689">
                  <a:moveTo>
                    <a:pt x="0" y="265633"/>
                  </a:moveTo>
                  <a:lnTo>
                    <a:pt x="379471" y="265633"/>
                  </a:lnTo>
                  <a:lnTo>
                    <a:pt x="379471" y="0"/>
                  </a:lnTo>
                  <a:lnTo>
                    <a:pt x="0" y="0"/>
                  </a:lnTo>
                  <a:lnTo>
                    <a:pt x="0" y="265633"/>
                  </a:lnTo>
                  <a:close/>
                </a:path>
                <a:path w="379730" h="948689">
                  <a:moveTo>
                    <a:pt x="0" y="607157"/>
                  </a:moveTo>
                  <a:lnTo>
                    <a:pt x="379471" y="607157"/>
                  </a:lnTo>
                  <a:lnTo>
                    <a:pt x="379471" y="341524"/>
                  </a:lnTo>
                  <a:lnTo>
                    <a:pt x="0" y="341524"/>
                  </a:lnTo>
                  <a:lnTo>
                    <a:pt x="0" y="607157"/>
                  </a:lnTo>
                  <a:close/>
                </a:path>
                <a:path w="379730" h="948689">
                  <a:moveTo>
                    <a:pt x="0" y="948685"/>
                  </a:moveTo>
                  <a:lnTo>
                    <a:pt x="379471" y="948685"/>
                  </a:lnTo>
                  <a:lnTo>
                    <a:pt x="379471" y="683052"/>
                  </a:lnTo>
                  <a:lnTo>
                    <a:pt x="0" y="683052"/>
                  </a:lnTo>
                  <a:lnTo>
                    <a:pt x="0" y="948685"/>
                  </a:lnTo>
                  <a:close/>
                </a:path>
              </a:pathLst>
            </a:custGeom>
            <a:ln w="5270">
              <a:solidFill>
                <a:srgbClr val="231F20"/>
              </a:solidFill>
            </a:ln>
          </p:spPr>
          <p:txBody>
            <a:bodyPr wrap="square" lIns="0" tIns="0" rIns="0" bIns="0" rtlCol="0"/>
            <a:lstStyle/>
            <a:p>
              <a:endParaRPr/>
            </a:p>
          </p:txBody>
        </p:sp>
      </p:grpSp>
      <p:grpSp>
        <p:nvGrpSpPr>
          <p:cNvPr id="17" name="object 17"/>
          <p:cNvGrpSpPr/>
          <p:nvPr/>
        </p:nvGrpSpPr>
        <p:grpSpPr>
          <a:xfrm>
            <a:off x="3042076" y="909125"/>
            <a:ext cx="959485" cy="1442085"/>
            <a:chOff x="3042076" y="909125"/>
            <a:chExt cx="959485" cy="1442085"/>
          </a:xfrm>
        </p:grpSpPr>
        <p:sp>
          <p:nvSpPr>
            <p:cNvPr id="18" name="object 18"/>
            <p:cNvSpPr/>
            <p:nvPr/>
          </p:nvSpPr>
          <p:spPr>
            <a:xfrm>
              <a:off x="3079455" y="1398265"/>
              <a:ext cx="452755" cy="0"/>
            </a:xfrm>
            <a:custGeom>
              <a:avLst/>
              <a:gdLst/>
              <a:ahLst/>
              <a:cxnLst/>
              <a:rect l="l" t="t" r="r" b="b"/>
              <a:pathLst>
                <a:path w="452754">
                  <a:moveTo>
                    <a:pt x="0" y="0"/>
                  </a:moveTo>
                  <a:lnTo>
                    <a:pt x="452324" y="0"/>
                  </a:lnTo>
                </a:path>
              </a:pathLst>
            </a:custGeom>
            <a:ln w="5270">
              <a:solidFill>
                <a:srgbClr val="231F20"/>
              </a:solidFill>
            </a:ln>
          </p:spPr>
          <p:txBody>
            <a:bodyPr wrap="square" lIns="0" tIns="0" rIns="0" bIns="0" rtlCol="0"/>
            <a:lstStyle/>
            <a:p>
              <a:endParaRPr/>
            </a:p>
          </p:txBody>
        </p:sp>
        <p:pic>
          <p:nvPicPr>
            <p:cNvPr id="19" name="object 19"/>
            <p:cNvPicPr/>
            <p:nvPr/>
          </p:nvPicPr>
          <p:blipFill>
            <a:blip r:embed="rId11" cstate="print"/>
            <a:stretch>
              <a:fillRect/>
            </a:stretch>
          </p:blipFill>
          <p:spPr>
            <a:xfrm>
              <a:off x="3042076" y="1366391"/>
              <a:ext cx="74377" cy="63751"/>
            </a:xfrm>
            <a:prstGeom prst="rect">
              <a:avLst/>
            </a:prstGeom>
          </p:spPr>
        </p:pic>
        <p:pic>
          <p:nvPicPr>
            <p:cNvPr id="20" name="object 20"/>
            <p:cNvPicPr/>
            <p:nvPr/>
          </p:nvPicPr>
          <p:blipFill>
            <a:blip r:embed="rId12" cstate="print"/>
            <a:stretch>
              <a:fillRect/>
            </a:stretch>
          </p:blipFill>
          <p:spPr>
            <a:xfrm>
              <a:off x="3494781" y="1366391"/>
              <a:ext cx="74377" cy="63751"/>
            </a:xfrm>
            <a:prstGeom prst="rect">
              <a:avLst/>
            </a:prstGeom>
          </p:spPr>
        </p:pic>
        <p:sp>
          <p:nvSpPr>
            <p:cNvPr id="21" name="object 21"/>
            <p:cNvSpPr/>
            <p:nvPr/>
          </p:nvSpPr>
          <p:spPr>
            <a:xfrm>
              <a:off x="3611954" y="1324651"/>
              <a:ext cx="387350" cy="234315"/>
            </a:xfrm>
            <a:custGeom>
              <a:avLst/>
              <a:gdLst/>
              <a:ahLst/>
              <a:cxnLst/>
              <a:rect l="l" t="t" r="r" b="b"/>
              <a:pathLst>
                <a:path w="387350" h="234315">
                  <a:moveTo>
                    <a:pt x="386865" y="0"/>
                  </a:moveTo>
                  <a:lnTo>
                    <a:pt x="0" y="0"/>
                  </a:lnTo>
                  <a:lnTo>
                    <a:pt x="0" y="187040"/>
                  </a:lnTo>
                  <a:lnTo>
                    <a:pt x="16645" y="207499"/>
                  </a:lnTo>
                  <a:lnTo>
                    <a:pt x="60506" y="222113"/>
                  </a:lnTo>
                  <a:lnTo>
                    <a:pt x="122474" y="230881"/>
                  </a:lnTo>
                  <a:lnTo>
                    <a:pt x="193437" y="233804"/>
                  </a:lnTo>
                  <a:lnTo>
                    <a:pt x="264390" y="230881"/>
                  </a:lnTo>
                  <a:lnTo>
                    <a:pt x="326355" y="222113"/>
                  </a:lnTo>
                  <a:lnTo>
                    <a:pt x="370218" y="207499"/>
                  </a:lnTo>
                  <a:lnTo>
                    <a:pt x="386865" y="187040"/>
                  </a:lnTo>
                  <a:lnTo>
                    <a:pt x="386865" y="0"/>
                  </a:lnTo>
                  <a:close/>
                </a:path>
              </a:pathLst>
            </a:custGeom>
            <a:solidFill>
              <a:srgbClr val="BCBEC0"/>
            </a:solidFill>
          </p:spPr>
          <p:txBody>
            <a:bodyPr wrap="square" lIns="0" tIns="0" rIns="0" bIns="0" rtlCol="0"/>
            <a:lstStyle/>
            <a:p>
              <a:endParaRPr/>
            </a:p>
          </p:txBody>
        </p:sp>
        <p:sp>
          <p:nvSpPr>
            <p:cNvPr id="22" name="object 22"/>
            <p:cNvSpPr/>
            <p:nvPr/>
          </p:nvSpPr>
          <p:spPr>
            <a:xfrm>
              <a:off x="3611954" y="1324651"/>
              <a:ext cx="387350" cy="234315"/>
            </a:xfrm>
            <a:custGeom>
              <a:avLst/>
              <a:gdLst/>
              <a:ahLst/>
              <a:cxnLst/>
              <a:rect l="l" t="t" r="r" b="b"/>
              <a:pathLst>
                <a:path w="387350" h="234315">
                  <a:moveTo>
                    <a:pt x="0" y="0"/>
                  </a:moveTo>
                  <a:lnTo>
                    <a:pt x="386865" y="0"/>
                  </a:lnTo>
                  <a:lnTo>
                    <a:pt x="386865" y="29823"/>
                  </a:lnTo>
                  <a:lnTo>
                    <a:pt x="386865" y="93304"/>
                  </a:lnTo>
                  <a:lnTo>
                    <a:pt x="386865" y="156893"/>
                  </a:lnTo>
                  <a:lnTo>
                    <a:pt x="386865" y="187040"/>
                  </a:lnTo>
                  <a:lnTo>
                    <a:pt x="370218" y="207499"/>
                  </a:lnTo>
                  <a:lnTo>
                    <a:pt x="326355" y="222113"/>
                  </a:lnTo>
                  <a:lnTo>
                    <a:pt x="264390" y="230881"/>
                  </a:lnTo>
                  <a:lnTo>
                    <a:pt x="193437" y="233804"/>
                  </a:lnTo>
                  <a:lnTo>
                    <a:pt x="122474" y="230881"/>
                  </a:lnTo>
                  <a:lnTo>
                    <a:pt x="60506" y="222113"/>
                  </a:lnTo>
                  <a:lnTo>
                    <a:pt x="16645" y="207499"/>
                  </a:lnTo>
                  <a:lnTo>
                    <a:pt x="0" y="187040"/>
                  </a:lnTo>
                  <a:lnTo>
                    <a:pt x="0" y="156552"/>
                  </a:lnTo>
                  <a:lnTo>
                    <a:pt x="0" y="92398"/>
                  </a:lnTo>
                  <a:lnTo>
                    <a:pt x="0" y="28804"/>
                  </a:lnTo>
                  <a:lnTo>
                    <a:pt x="0" y="0"/>
                  </a:lnTo>
                  <a:close/>
                </a:path>
              </a:pathLst>
            </a:custGeom>
            <a:ln w="5270">
              <a:solidFill>
                <a:srgbClr val="231F20"/>
              </a:solidFill>
            </a:ln>
          </p:spPr>
          <p:txBody>
            <a:bodyPr wrap="square" lIns="0" tIns="0" rIns="0" bIns="0" rtlCol="0"/>
            <a:lstStyle/>
            <a:p>
              <a:endParaRPr/>
            </a:p>
          </p:txBody>
        </p:sp>
        <p:sp>
          <p:nvSpPr>
            <p:cNvPr id="23" name="object 23"/>
            <p:cNvSpPr/>
            <p:nvPr/>
          </p:nvSpPr>
          <p:spPr>
            <a:xfrm>
              <a:off x="3611954" y="1292817"/>
              <a:ext cx="387350" cy="64135"/>
            </a:xfrm>
            <a:custGeom>
              <a:avLst/>
              <a:gdLst/>
              <a:ahLst/>
              <a:cxnLst/>
              <a:rect l="l" t="t" r="r" b="b"/>
              <a:pathLst>
                <a:path w="387350" h="64134">
                  <a:moveTo>
                    <a:pt x="193437" y="0"/>
                  </a:moveTo>
                  <a:lnTo>
                    <a:pt x="118267" y="2508"/>
                  </a:lnTo>
                  <a:lnTo>
                    <a:pt x="56767" y="9343"/>
                  </a:lnTo>
                  <a:lnTo>
                    <a:pt x="15242" y="19464"/>
                  </a:lnTo>
                  <a:lnTo>
                    <a:pt x="0" y="31833"/>
                  </a:lnTo>
                  <a:lnTo>
                    <a:pt x="15242" y="44196"/>
                  </a:lnTo>
                  <a:lnTo>
                    <a:pt x="56767" y="54311"/>
                  </a:lnTo>
                  <a:lnTo>
                    <a:pt x="118267" y="61143"/>
                  </a:lnTo>
                  <a:lnTo>
                    <a:pt x="193437" y="63650"/>
                  </a:lnTo>
                  <a:lnTo>
                    <a:pt x="268606" y="61143"/>
                  </a:lnTo>
                  <a:lnTo>
                    <a:pt x="330103" y="54311"/>
                  </a:lnTo>
                  <a:lnTo>
                    <a:pt x="371624" y="44196"/>
                  </a:lnTo>
                  <a:lnTo>
                    <a:pt x="386865" y="31833"/>
                  </a:lnTo>
                  <a:lnTo>
                    <a:pt x="371624" y="19464"/>
                  </a:lnTo>
                  <a:lnTo>
                    <a:pt x="330103" y="9343"/>
                  </a:lnTo>
                  <a:lnTo>
                    <a:pt x="268606" y="2508"/>
                  </a:lnTo>
                  <a:lnTo>
                    <a:pt x="193437" y="0"/>
                  </a:lnTo>
                  <a:close/>
                </a:path>
              </a:pathLst>
            </a:custGeom>
            <a:solidFill>
              <a:srgbClr val="FFFFFF"/>
            </a:solidFill>
          </p:spPr>
          <p:txBody>
            <a:bodyPr wrap="square" lIns="0" tIns="0" rIns="0" bIns="0" rtlCol="0"/>
            <a:lstStyle/>
            <a:p>
              <a:endParaRPr/>
            </a:p>
          </p:txBody>
        </p:sp>
        <p:sp>
          <p:nvSpPr>
            <p:cNvPr id="24" name="object 24"/>
            <p:cNvSpPr/>
            <p:nvPr/>
          </p:nvSpPr>
          <p:spPr>
            <a:xfrm>
              <a:off x="3082248" y="1292817"/>
              <a:ext cx="916940" cy="456565"/>
            </a:xfrm>
            <a:custGeom>
              <a:avLst/>
              <a:gdLst/>
              <a:ahLst/>
              <a:cxnLst/>
              <a:rect l="l" t="t" r="r" b="b"/>
              <a:pathLst>
                <a:path w="916939" h="456564">
                  <a:moveTo>
                    <a:pt x="723144" y="0"/>
                  </a:moveTo>
                  <a:lnTo>
                    <a:pt x="798312" y="2508"/>
                  </a:lnTo>
                  <a:lnTo>
                    <a:pt x="859809" y="9343"/>
                  </a:lnTo>
                  <a:lnTo>
                    <a:pt x="901330" y="19464"/>
                  </a:lnTo>
                  <a:lnTo>
                    <a:pt x="916571" y="31833"/>
                  </a:lnTo>
                  <a:lnTo>
                    <a:pt x="901330" y="44196"/>
                  </a:lnTo>
                  <a:lnTo>
                    <a:pt x="859809" y="54311"/>
                  </a:lnTo>
                  <a:lnTo>
                    <a:pt x="798312" y="61143"/>
                  </a:lnTo>
                  <a:lnTo>
                    <a:pt x="723144" y="63650"/>
                  </a:lnTo>
                  <a:lnTo>
                    <a:pt x="647973" y="61143"/>
                  </a:lnTo>
                  <a:lnTo>
                    <a:pt x="586473" y="54311"/>
                  </a:lnTo>
                  <a:lnTo>
                    <a:pt x="544949" y="44196"/>
                  </a:lnTo>
                  <a:lnTo>
                    <a:pt x="529706" y="31833"/>
                  </a:lnTo>
                  <a:lnTo>
                    <a:pt x="544949" y="19464"/>
                  </a:lnTo>
                  <a:lnTo>
                    <a:pt x="586473" y="9343"/>
                  </a:lnTo>
                  <a:lnTo>
                    <a:pt x="647973" y="2508"/>
                  </a:lnTo>
                  <a:lnTo>
                    <a:pt x="723144" y="0"/>
                  </a:lnTo>
                  <a:close/>
                </a:path>
                <a:path w="916939" h="456564">
                  <a:moveTo>
                    <a:pt x="0" y="456409"/>
                  </a:moveTo>
                  <a:lnTo>
                    <a:pt x="452324" y="456409"/>
                  </a:lnTo>
                </a:path>
              </a:pathLst>
            </a:custGeom>
            <a:ln w="5270">
              <a:solidFill>
                <a:srgbClr val="231F20"/>
              </a:solidFill>
            </a:ln>
          </p:spPr>
          <p:txBody>
            <a:bodyPr wrap="square" lIns="0" tIns="0" rIns="0" bIns="0" rtlCol="0"/>
            <a:lstStyle/>
            <a:p>
              <a:endParaRPr/>
            </a:p>
          </p:txBody>
        </p:sp>
        <p:pic>
          <p:nvPicPr>
            <p:cNvPr id="25" name="object 25"/>
            <p:cNvPicPr/>
            <p:nvPr/>
          </p:nvPicPr>
          <p:blipFill>
            <a:blip r:embed="rId13" cstate="print"/>
            <a:stretch>
              <a:fillRect/>
            </a:stretch>
          </p:blipFill>
          <p:spPr>
            <a:xfrm>
              <a:off x="3044870" y="1717349"/>
              <a:ext cx="74377" cy="63751"/>
            </a:xfrm>
            <a:prstGeom prst="rect">
              <a:avLst/>
            </a:prstGeom>
          </p:spPr>
        </p:pic>
        <p:pic>
          <p:nvPicPr>
            <p:cNvPr id="26" name="object 26"/>
            <p:cNvPicPr/>
            <p:nvPr/>
          </p:nvPicPr>
          <p:blipFill>
            <a:blip r:embed="rId14" cstate="print"/>
            <a:stretch>
              <a:fillRect/>
            </a:stretch>
          </p:blipFill>
          <p:spPr>
            <a:xfrm>
              <a:off x="3497574" y="1717349"/>
              <a:ext cx="74377" cy="63751"/>
            </a:xfrm>
            <a:prstGeom prst="rect">
              <a:avLst/>
            </a:prstGeom>
          </p:spPr>
        </p:pic>
        <p:sp>
          <p:nvSpPr>
            <p:cNvPr id="27" name="object 27"/>
            <p:cNvSpPr/>
            <p:nvPr/>
          </p:nvSpPr>
          <p:spPr>
            <a:xfrm>
              <a:off x="3611986" y="1661959"/>
              <a:ext cx="387350" cy="234315"/>
            </a:xfrm>
            <a:custGeom>
              <a:avLst/>
              <a:gdLst/>
              <a:ahLst/>
              <a:cxnLst/>
              <a:rect l="l" t="t" r="r" b="b"/>
              <a:pathLst>
                <a:path w="387350" h="234314">
                  <a:moveTo>
                    <a:pt x="386865" y="0"/>
                  </a:moveTo>
                  <a:lnTo>
                    <a:pt x="0" y="0"/>
                  </a:lnTo>
                  <a:lnTo>
                    <a:pt x="0" y="187044"/>
                  </a:lnTo>
                  <a:lnTo>
                    <a:pt x="16646" y="207503"/>
                  </a:lnTo>
                  <a:lnTo>
                    <a:pt x="60509" y="222117"/>
                  </a:lnTo>
                  <a:lnTo>
                    <a:pt x="122474" y="230885"/>
                  </a:lnTo>
                  <a:lnTo>
                    <a:pt x="193427" y="233808"/>
                  </a:lnTo>
                  <a:lnTo>
                    <a:pt x="264386" y="230885"/>
                  </a:lnTo>
                  <a:lnTo>
                    <a:pt x="326354" y="222117"/>
                  </a:lnTo>
                  <a:lnTo>
                    <a:pt x="370218" y="207503"/>
                  </a:lnTo>
                  <a:lnTo>
                    <a:pt x="386865" y="187044"/>
                  </a:lnTo>
                  <a:lnTo>
                    <a:pt x="386865" y="0"/>
                  </a:lnTo>
                  <a:close/>
                </a:path>
              </a:pathLst>
            </a:custGeom>
            <a:solidFill>
              <a:srgbClr val="BCBEC0"/>
            </a:solidFill>
          </p:spPr>
          <p:txBody>
            <a:bodyPr wrap="square" lIns="0" tIns="0" rIns="0" bIns="0" rtlCol="0"/>
            <a:lstStyle/>
            <a:p>
              <a:endParaRPr/>
            </a:p>
          </p:txBody>
        </p:sp>
        <p:sp>
          <p:nvSpPr>
            <p:cNvPr id="28" name="object 28"/>
            <p:cNvSpPr/>
            <p:nvPr/>
          </p:nvSpPr>
          <p:spPr>
            <a:xfrm>
              <a:off x="3611986" y="1661959"/>
              <a:ext cx="387350" cy="234315"/>
            </a:xfrm>
            <a:custGeom>
              <a:avLst/>
              <a:gdLst/>
              <a:ahLst/>
              <a:cxnLst/>
              <a:rect l="l" t="t" r="r" b="b"/>
              <a:pathLst>
                <a:path w="387350" h="234314">
                  <a:moveTo>
                    <a:pt x="0" y="0"/>
                  </a:moveTo>
                  <a:lnTo>
                    <a:pt x="386865" y="0"/>
                  </a:lnTo>
                  <a:lnTo>
                    <a:pt x="386865" y="29823"/>
                  </a:lnTo>
                  <a:lnTo>
                    <a:pt x="386865" y="93306"/>
                  </a:lnTo>
                  <a:lnTo>
                    <a:pt x="386865" y="156897"/>
                  </a:lnTo>
                  <a:lnTo>
                    <a:pt x="386865" y="187044"/>
                  </a:lnTo>
                  <a:lnTo>
                    <a:pt x="370218" y="207503"/>
                  </a:lnTo>
                  <a:lnTo>
                    <a:pt x="326354" y="222117"/>
                  </a:lnTo>
                  <a:lnTo>
                    <a:pt x="264386" y="230885"/>
                  </a:lnTo>
                  <a:lnTo>
                    <a:pt x="193427" y="233808"/>
                  </a:lnTo>
                  <a:lnTo>
                    <a:pt x="122474" y="230885"/>
                  </a:lnTo>
                  <a:lnTo>
                    <a:pt x="60509" y="222117"/>
                  </a:lnTo>
                  <a:lnTo>
                    <a:pt x="16646" y="207503"/>
                  </a:lnTo>
                  <a:lnTo>
                    <a:pt x="0" y="187044"/>
                  </a:lnTo>
                  <a:lnTo>
                    <a:pt x="0" y="156556"/>
                  </a:lnTo>
                  <a:lnTo>
                    <a:pt x="0" y="92400"/>
                  </a:lnTo>
                  <a:lnTo>
                    <a:pt x="0" y="28804"/>
                  </a:lnTo>
                  <a:lnTo>
                    <a:pt x="0" y="0"/>
                  </a:lnTo>
                  <a:close/>
                </a:path>
              </a:pathLst>
            </a:custGeom>
            <a:ln w="5270">
              <a:solidFill>
                <a:srgbClr val="231F20"/>
              </a:solidFill>
            </a:ln>
          </p:spPr>
          <p:txBody>
            <a:bodyPr wrap="square" lIns="0" tIns="0" rIns="0" bIns="0" rtlCol="0"/>
            <a:lstStyle/>
            <a:p>
              <a:endParaRPr/>
            </a:p>
          </p:txBody>
        </p:sp>
        <p:sp>
          <p:nvSpPr>
            <p:cNvPr id="29" name="object 29"/>
            <p:cNvSpPr/>
            <p:nvPr/>
          </p:nvSpPr>
          <p:spPr>
            <a:xfrm>
              <a:off x="3611986" y="1630134"/>
              <a:ext cx="387350" cy="64135"/>
            </a:xfrm>
            <a:custGeom>
              <a:avLst/>
              <a:gdLst/>
              <a:ahLst/>
              <a:cxnLst/>
              <a:rect l="l" t="t" r="r" b="b"/>
              <a:pathLst>
                <a:path w="387350" h="64135">
                  <a:moveTo>
                    <a:pt x="193427" y="0"/>
                  </a:moveTo>
                  <a:lnTo>
                    <a:pt x="118258" y="2507"/>
                  </a:lnTo>
                  <a:lnTo>
                    <a:pt x="56761" y="9338"/>
                  </a:lnTo>
                  <a:lnTo>
                    <a:pt x="15241" y="19456"/>
                  </a:lnTo>
                  <a:lnTo>
                    <a:pt x="0" y="31824"/>
                  </a:lnTo>
                  <a:lnTo>
                    <a:pt x="15241" y="44191"/>
                  </a:lnTo>
                  <a:lnTo>
                    <a:pt x="56761" y="54308"/>
                  </a:lnTo>
                  <a:lnTo>
                    <a:pt x="118258" y="61138"/>
                  </a:lnTo>
                  <a:lnTo>
                    <a:pt x="193427" y="63645"/>
                  </a:lnTo>
                  <a:lnTo>
                    <a:pt x="268602" y="61138"/>
                  </a:lnTo>
                  <a:lnTo>
                    <a:pt x="330101" y="54308"/>
                  </a:lnTo>
                  <a:lnTo>
                    <a:pt x="371623" y="44191"/>
                  </a:lnTo>
                  <a:lnTo>
                    <a:pt x="386865" y="31824"/>
                  </a:lnTo>
                  <a:lnTo>
                    <a:pt x="371623" y="19456"/>
                  </a:lnTo>
                  <a:lnTo>
                    <a:pt x="330101" y="9338"/>
                  </a:lnTo>
                  <a:lnTo>
                    <a:pt x="268602" y="2507"/>
                  </a:lnTo>
                  <a:lnTo>
                    <a:pt x="193427" y="0"/>
                  </a:lnTo>
                  <a:close/>
                </a:path>
              </a:pathLst>
            </a:custGeom>
            <a:solidFill>
              <a:srgbClr val="FFFFFF"/>
            </a:solidFill>
          </p:spPr>
          <p:txBody>
            <a:bodyPr wrap="square" lIns="0" tIns="0" rIns="0" bIns="0" rtlCol="0"/>
            <a:lstStyle/>
            <a:p>
              <a:endParaRPr/>
            </a:p>
          </p:txBody>
        </p:sp>
        <p:sp>
          <p:nvSpPr>
            <p:cNvPr id="30" name="object 30"/>
            <p:cNvSpPr/>
            <p:nvPr/>
          </p:nvSpPr>
          <p:spPr>
            <a:xfrm>
              <a:off x="3079455" y="1630134"/>
              <a:ext cx="919480" cy="453390"/>
            </a:xfrm>
            <a:custGeom>
              <a:avLst/>
              <a:gdLst/>
              <a:ahLst/>
              <a:cxnLst/>
              <a:rect l="l" t="t" r="r" b="b"/>
              <a:pathLst>
                <a:path w="919479" h="453389">
                  <a:moveTo>
                    <a:pt x="725958" y="0"/>
                  </a:moveTo>
                  <a:lnTo>
                    <a:pt x="801133" y="2507"/>
                  </a:lnTo>
                  <a:lnTo>
                    <a:pt x="862633" y="9338"/>
                  </a:lnTo>
                  <a:lnTo>
                    <a:pt x="904155" y="19456"/>
                  </a:lnTo>
                  <a:lnTo>
                    <a:pt x="919396" y="31824"/>
                  </a:lnTo>
                  <a:lnTo>
                    <a:pt x="904155" y="44191"/>
                  </a:lnTo>
                  <a:lnTo>
                    <a:pt x="862633" y="54308"/>
                  </a:lnTo>
                  <a:lnTo>
                    <a:pt x="801133" y="61138"/>
                  </a:lnTo>
                  <a:lnTo>
                    <a:pt x="725958" y="63645"/>
                  </a:lnTo>
                  <a:lnTo>
                    <a:pt x="650789" y="61138"/>
                  </a:lnTo>
                  <a:lnTo>
                    <a:pt x="589293" y="54308"/>
                  </a:lnTo>
                  <a:lnTo>
                    <a:pt x="547772" y="44191"/>
                  </a:lnTo>
                  <a:lnTo>
                    <a:pt x="532531" y="31824"/>
                  </a:lnTo>
                  <a:lnTo>
                    <a:pt x="547772" y="19456"/>
                  </a:lnTo>
                  <a:lnTo>
                    <a:pt x="589293" y="9338"/>
                  </a:lnTo>
                  <a:lnTo>
                    <a:pt x="650789" y="2507"/>
                  </a:lnTo>
                  <a:lnTo>
                    <a:pt x="725958" y="0"/>
                  </a:lnTo>
                  <a:close/>
                </a:path>
                <a:path w="919479" h="453389">
                  <a:moveTo>
                    <a:pt x="0" y="453332"/>
                  </a:moveTo>
                  <a:lnTo>
                    <a:pt x="452324" y="453332"/>
                  </a:lnTo>
                </a:path>
              </a:pathLst>
            </a:custGeom>
            <a:ln w="5270">
              <a:solidFill>
                <a:srgbClr val="231F20"/>
              </a:solidFill>
            </a:ln>
          </p:spPr>
          <p:txBody>
            <a:bodyPr wrap="square" lIns="0" tIns="0" rIns="0" bIns="0" rtlCol="0"/>
            <a:lstStyle/>
            <a:p>
              <a:endParaRPr/>
            </a:p>
          </p:txBody>
        </p:sp>
        <p:pic>
          <p:nvPicPr>
            <p:cNvPr id="31" name="object 31"/>
            <p:cNvPicPr/>
            <p:nvPr/>
          </p:nvPicPr>
          <p:blipFill>
            <a:blip r:embed="rId15" cstate="print"/>
            <a:stretch>
              <a:fillRect/>
            </a:stretch>
          </p:blipFill>
          <p:spPr>
            <a:xfrm>
              <a:off x="3042076" y="2051593"/>
              <a:ext cx="74377" cy="63751"/>
            </a:xfrm>
            <a:prstGeom prst="rect">
              <a:avLst/>
            </a:prstGeom>
          </p:spPr>
        </p:pic>
        <p:pic>
          <p:nvPicPr>
            <p:cNvPr id="32" name="object 32"/>
            <p:cNvPicPr/>
            <p:nvPr/>
          </p:nvPicPr>
          <p:blipFill>
            <a:blip r:embed="rId6" cstate="print"/>
            <a:stretch>
              <a:fillRect/>
            </a:stretch>
          </p:blipFill>
          <p:spPr>
            <a:xfrm>
              <a:off x="3494781" y="2051593"/>
              <a:ext cx="74377" cy="63751"/>
            </a:xfrm>
            <a:prstGeom prst="rect">
              <a:avLst/>
            </a:prstGeom>
          </p:spPr>
        </p:pic>
        <p:sp>
          <p:nvSpPr>
            <p:cNvPr id="33" name="object 33"/>
            <p:cNvSpPr/>
            <p:nvPr/>
          </p:nvSpPr>
          <p:spPr>
            <a:xfrm>
              <a:off x="3611986" y="2003487"/>
              <a:ext cx="387350" cy="234315"/>
            </a:xfrm>
            <a:custGeom>
              <a:avLst/>
              <a:gdLst/>
              <a:ahLst/>
              <a:cxnLst/>
              <a:rect l="l" t="t" r="r" b="b"/>
              <a:pathLst>
                <a:path w="387350" h="234314">
                  <a:moveTo>
                    <a:pt x="386865" y="0"/>
                  </a:moveTo>
                  <a:lnTo>
                    <a:pt x="0" y="0"/>
                  </a:lnTo>
                  <a:lnTo>
                    <a:pt x="0" y="187044"/>
                  </a:lnTo>
                  <a:lnTo>
                    <a:pt x="16646" y="207502"/>
                  </a:lnTo>
                  <a:lnTo>
                    <a:pt x="60509" y="222115"/>
                  </a:lnTo>
                  <a:lnTo>
                    <a:pt x="122474" y="230882"/>
                  </a:lnTo>
                  <a:lnTo>
                    <a:pt x="193427" y="233804"/>
                  </a:lnTo>
                  <a:lnTo>
                    <a:pt x="264386" y="230882"/>
                  </a:lnTo>
                  <a:lnTo>
                    <a:pt x="326354" y="222115"/>
                  </a:lnTo>
                  <a:lnTo>
                    <a:pt x="370218" y="207502"/>
                  </a:lnTo>
                  <a:lnTo>
                    <a:pt x="386865" y="187044"/>
                  </a:lnTo>
                  <a:lnTo>
                    <a:pt x="386865" y="0"/>
                  </a:lnTo>
                  <a:close/>
                </a:path>
              </a:pathLst>
            </a:custGeom>
            <a:solidFill>
              <a:srgbClr val="BCBEC0"/>
            </a:solidFill>
          </p:spPr>
          <p:txBody>
            <a:bodyPr wrap="square" lIns="0" tIns="0" rIns="0" bIns="0" rtlCol="0"/>
            <a:lstStyle/>
            <a:p>
              <a:endParaRPr/>
            </a:p>
          </p:txBody>
        </p:sp>
        <p:sp>
          <p:nvSpPr>
            <p:cNvPr id="34" name="object 34"/>
            <p:cNvSpPr/>
            <p:nvPr/>
          </p:nvSpPr>
          <p:spPr>
            <a:xfrm>
              <a:off x="3611986" y="2003487"/>
              <a:ext cx="387350" cy="234315"/>
            </a:xfrm>
            <a:custGeom>
              <a:avLst/>
              <a:gdLst/>
              <a:ahLst/>
              <a:cxnLst/>
              <a:rect l="l" t="t" r="r" b="b"/>
              <a:pathLst>
                <a:path w="387350" h="234314">
                  <a:moveTo>
                    <a:pt x="0" y="0"/>
                  </a:moveTo>
                  <a:lnTo>
                    <a:pt x="386865" y="0"/>
                  </a:lnTo>
                  <a:lnTo>
                    <a:pt x="386865" y="29822"/>
                  </a:lnTo>
                  <a:lnTo>
                    <a:pt x="386865" y="93304"/>
                  </a:lnTo>
                  <a:lnTo>
                    <a:pt x="386865" y="156895"/>
                  </a:lnTo>
                  <a:lnTo>
                    <a:pt x="386865" y="187044"/>
                  </a:lnTo>
                  <a:lnTo>
                    <a:pt x="370218" y="207502"/>
                  </a:lnTo>
                  <a:lnTo>
                    <a:pt x="326354" y="222115"/>
                  </a:lnTo>
                  <a:lnTo>
                    <a:pt x="264386" y="230882"/>
                  </a:lnTo>
                  <a:lnTo>
                    <a:pt x="193427" y="233804"/>
                  </a:lnTo>
                  <a:lnTo>
                    <a:pt x="122474" y="230882"/>
                  </a:lnTo>
                  <a:lnTo>
                    <a:pt x="60509" y="222115"/>
                  </a:lnTo>
                  <a:lnTo>
                    <a:pt x="16646" y="207502"/>
                  </a:lnTo>
                  <a:lnTo>
                    <a:pt x="0" y="187044"/>
                  </a:lnTo>
                  <a:lnTo>
                    <a:pt x="0" y="156554"/>
                  </a:lnTo>
                  <a:lnTo>
                    <a:pt x="0" y="92398"/>
                  </a:lnTo>
                  <a:lnTo>
                    <a:pt x="0" y="28804"/>
                  </a:lnTo>
                  <a:lnTo>
                    <a:pt x="0" y="0"/>
                  </a:lnTo>
                  <a:close/>
                </a:path>
              </a:pathLst>
            </a:custGeom>
            <a:ln w="5270">
              <a:solidFill>
                <a:srgbClr val="231F20"/>
              </a:solidFill>
            </a:ln>
          </p:spPr>
          <p:txBody>
            <a:bodyPr wrap="square" lIns="0" tIns="0" rIns="0" bIns="0" rtlCol="0"/>
            <a:lstStyle/>
            <a:p>
              <a:endParaRPr/>
            </a:p>
          </p:txBody>
        </p:sp>
        <p:sp>
          <p:nvSpPr>
            <p:cNvPr id="35" name="object 35"/>
            <p:cNvSpPr/>
            <p:nvPr/>
          </p:nvSpPr>
          <p:spPr>
            <a:xfrm>
              <a:off x="3611986" y="1971663"/>
              <a:ext cx="387350" cy="64135"/>
            </a:xfrm>
            <a:custGeom>
              <a:avLst/>
              <a:gdLst/>
              <a:ahLst/>
              <a:cxnLst/>
              <a:rect l="l" t="t" r="r" b="b"/>
              <a:pathLst>
                <a:path w="387350" h="64135">
                  <a:moveTo>
                    <a:pt x="193427" y="0"/>
                  </a:moveTo>
                  <a:lnTo>
                    <a:pt x="118258" y="2507"/>
                  </a:lnTo>
                  <a:lnTo>
                    <a:pt x="56761" y="9338"/>
                  </a:lnTo>
                  <a:lnTo>
                    <a:pt x="15241" y="19456"/>
                  </a:lnTo>
                  <a:lnTo>
                    <a:pt x="0" y="31824"/>
                  </a:lnTo>
                  <a:lnTo>
                    <a:pt x="15241" y="44189"/>
                  </a:lnTo>
                  <a:lnTo>
                    <a:pt x="56761" y="54306"/>
                  </a:lnTo>
                  <a:lnTo>
                    <a:pt x="118258" y="61137"/>
                  </a:lnTo>
                  <a:lnTo>
                    <a:pt x="193427" y="63645"/>
                  </a:lnTo>
                  <a:lnTo>
                    <a:pt x="268602" y="61137"/>
                  </a:lnTo>
                  <a:lnTo>
                    <a:pt x="330101" y="54306"/>
                  </a:lnTo>
                  <a:lnTo>
                    <a:pt x="371623" y="44189"/>
                  </a:lnTo>
                  <a:lnTo>
                    <a:pt x="386865" y="31824"/>
                  </a:lnTo>
                  <a:lnTo>
                    <a:pt x="371623" y="19456"/>
                  </a:lnTo>
                  <a:lnTo>
                    <a:pt x="330101" y="9338"/>
                  </a:lnTo>
                  <a:lnTo>
                    <a:pt x="268602" y="2507"/>
                  </a:lnTo>
                  <a:lnTo>
                    <a:pt x="193427" y="0"/>
                  </a:lnTo>
                  <a:close/>
                </a:path>
              </a:pathLst>
            </a:custGeom>
            <a:solidFill>
              <a:srgbClr val="FFFFFF"/>
            </a:solidFill>
          </p:spPr>
          <p:txBody>
            <a:bodyPr wrap="square" lIns="0" tIns="0" rIns="0" bIns="0" rtlCol="0"/>
            <a:lstStyle/>
            <a:p>
              <a:endParaRPr/>
            </a:p>
          </p:txBody>
        </p:sp>
        <p:sp>
          <p:nvSpPr>
            <p:cNvPr id="36" name="object 36"/>
            <p:cNvSpPr/>
            <p:nvPr/>
          </p:nvSpPr>
          <p:spPr>
            <a:xfrm>
              <a:off x="3611986" y="1971663"/>
              <a:ext cx="387350" cy="64135"/>
            </a:xfrm>
            <a:custGeom>
              <a:avLst/>
              <a:gdLst/>
              <a:ahLst/>
              <a:cxnLst/>
              <a:rect l="l" t="t" r="r" b="b"/>
              <a:pathLst>
                <a:path w="387350" h="64135">
                  <a:moveTo>
                    <a:pt x="193427" y="0"/>
                  </a:moveTo>
                  <a:lnTo>
                    <a:pt x="268602" y="2507"/>
                  </a:lnTo>
                  <a:lnTo>
                    <a:pt x="330101" y="9338"/>
                  </a:lnTo>
                  <a:lnTo>
                    <a:pt x="371623" y="19456"/>
                  </a:lnTo>
                  <a:lnTo>
                    <a:pt x="386865" y="31824"/>
                  </a:lnTo>
                  <a:lnTo>
                    <a:pt x="371623" y="44189"/>
                  </a:lnTo>
                  <a:lnTo>
                    <a:pt x="330101" y="54306"/>
                  </a:lnTo>
                  <a:lnTo>
                    <a:pt x="268602" y="61137"/>
                  </a:lnTo>
                  <a:lnTo>
                    <a:pt x="193427" y="63645"/>
                  </a:lnTo>
                  <a:lnTo>
                    <a:pt x="118258" y="61137"/>
                  </a:lnTo>
                  <a:lnTo>
                    <a:pt x="56761" y="54306"/>
                  </a:lnTo>
                  <a:lnTo>
                    <a:pt x="15241" y="44189"/>
                  </a:lnTo>
                  <a:lnTo>
                    <a:pt x="0" y="31824"/>
                  </a:lnTo>
                  <a:lnTo>
                    <a:pt x="15241" y="19456"/>
                  </a:lnTo>
                  <a:lnTo>
                    <a:pt x="56761" y="9338"/>
                  </a:lnTo>
                  <a:lnTo>
                    <a:pt x="118258" y="2507"/>
                  </a:lnTo>
                  <a:lnTo>
                    <a:pt x="193427" y="0"/>
                  </a:lnTo>
                  <a:close/>
                </a:path>
              </a:pathLst>
            </a:custGeom>
            <a:ln w="5270">
              <a:solidFill>
                <a:srgbClr val="231F20"/>
              </a:solidFill>
            </a:ln>
          </p:spPr>
          <p:txBody>
            <a:bodyPr wrap="square" lIns="0" tIns="0" rIns="0" bIns="0" rtlCol="0"/>
            <a:lstStyle/>
            <a:p>
              <a:endParaRPr/>
            </a:p>
          </p:txBody>
        </p:sp>
        <p:sp>
          <p:nvSpPr>
            <p:cNvPr id="37" name="object 37"/>
            <p:cNvSpPr/>
            <p:nvPr/>
          </p:nvSpPr>
          <p:spPr>
            <a:xfrm>
              <a:off x="3308405" y="909125"/>
              <a:ext cx="0" cy="1442085"/>
            </a:xfrm>
            <a:custGeom>
              <a:avLst/>
              <a:gdLst/>
              <a:ahLst/>
              <a:cxnLst/>
              <a:rect l="l" t="t" r="r" b="b"/>
              <a:pathLst>
                <a:path h="1442085">
                  <a:moveTo>
                    <a:pt x="0" y="0"/>
                  </a:moveTo>
                  <a:lnTo>
                    <a:pt x="0" y="1442009"/>
                  </a:lnTo>
                  <a:lnTo>
                    <a:pt x="0" y="0"/>
                  </a:lnTo>
                  <a:close/>
                </a:path>
              </a:pathLst>
            </a:custGeom>
            <a:solidFill>
              <a:srgbClr val="231F20"/>
            </a:solidFill>
          </p:spPr>
          <p:txBody>
            <a:bodyPr wrap="square" lIns="0" tIns="0" rIns="0" bIns="0" rtlCol="0"/>
            <a:lstStyle/>
            <a:p>
              <a:endParaRPr/>
            </a:p>
          </p:txBody>
        </p:sp>
        <p:sp>
          <p:nvSpPr>
            <p:cNvPr id="38" name="object 38"/>
            <p:cNvSpPr/>
            <p:nvPr/>
          </p:nvSpPr>
          <p:spPr>
            <a:xfrm>
              <a:off x="3308405" y="909125"/>
              <a:ext cx="0" cy="1442085"/>
            </a:xfrm>
            <a:custGeom>
              <a:avLst/>
              <a:gdLst/>
              <a:ahLst/>
              <a:cxnLst/>
              <a:rect l="l" t="t" r="r" b="b"/>
              <a:pathLst>
                <a:path h="1442085">
                  <a:moveTo>
                    <a:pt x="0" y="0"/>
                  </a:moveTo>
                  <a:lnTo>
                    <a:pt x="0" y="1442009"/>
                  </a:lnTo>
                  <a:lnTo>
                    <a:pt x="0" y="0"/>
                  </a:lnTo>
                  <a:close/>
                </a:path>
              </a:pathLst>
            </a:custGeom>
            <a:ln w="5270">
              <a:solidFill>
                <a:srgbClr val="231F20"/>
              </a:solidFill>
              <a:prstDash val="lgDash"/>
            </a:ln>
          </p:spPr>
          <p:txBody>
            <a:bodyPr wrap="square" lIns="0" tIns="0" rIns="0" bIns="0" rtlCol="0"/>
            <a:lstStyle/>
            <a:p>
              <a:endParaRPr/>
            </a:p>
          </p:txBody>
        </p:sp>
      </p:grpSp>
      <p:sp>
        <p:nvSpPr>
          <p:cNvPr id="39" name="object 39"/>
          <p:cNvSpPr txBox="1"/>
          <p:nvPr/>
        </p:nvSpPr>
        <p:spPr>
          <a:xfrm>
            <a:off x="1022970" y="887994"/>
            <a:ext cx="700405" cy="227329"/>
          </a:xfrm>
          <a:prstGeom prst="rect">
            <a:avLst/>
          </a:prstGeom>
        </p:spPr>
        <p:txBody>
          <a:bodyPr vert="horz" wrap="square" lIns="0" tIns="13970" rIns="0" bIns="0" rtlCol="0">
            <a:spAutoFit/>
          </a:bodyPr>
          <a:lstStyle/>
          <a:p>
            <a:pPr marL="12700" marR="5080" indent="74930">
              <a:lnSpc>
                <a:spcPct val="100000"/>
              </a:lnSpc>
              <a:spcBef>
                <a:spcPts val="110"/>
              </a:spcBef>
            </a:pPr>
            <a:r>
              <a:rPr sz="650" spc="5" dirty="0">
                <a:solidFill>
                  <a:srgbClr val="231F20"/>
                </a:solidFill>
                <a:latin typeface="Arial"/>
                <a:cs typeface="Arial"/>
              </a:rPr>
              <a:t>Logical switch </a:t>
            </a:r>
            <a:r>
              <a:rPr sz="650" spc="10" dirty="0">
                <a:solidFill>
                  <a:srgbClr val="231F20"/>
                </a:solidFill>
                <a:latin typeface="Arial"/>
                <a:cs typeface="Arial"/>
              </a:rPr>
              <a:t> </a:t>
            </a:r>
            <a:r>
              <a:rPr sz="650" spc="5" dirty="0">
                <a:solidFill>
                  <a:srgbClr val="231F20"/>
                </a:solidFill>
                <a:latin typeface="Arial"/>
                <a:cs typeface="Arial"/>
              </a:rPr>
              <a:t>(possibly</a:t>
            </a:r>
            <a:r>
              <a:rPr sz="650" dirty="0">
                <a:solidFill>
                  <a:srgbClr val="231F20"/>
                </a:solidFill>
                <a:latin typeface="Arial"/>
                <a:cs typeface="Arial"/>
              </a:rPr>
              <a:t> </a:t>
            </a:r>
            <a:r>
              <a:rPr sz="650" spc="5" dirty="0">
                <a:solidFill>
                  <a:srgbClr val="231F20"/>
                </a:solidFill>
                <a:latin typeface="Arial"/>
                <a:cs typeface="Arial"/>
              </a:rPr>
              <a:t>multiple)</a:t>
            </a:r>
            <a:endParaRPr sz="650">
              <a:latin typeface="Arial"/>
              <a:cs typeface="Arial"/>
            </a:endParaRPr>
          </a:p>
        </p:txBody>
      </p:sp>
      <p:sp>
        <p:nvSpPr>
          <p:cNvPr id="40" name="object 40"/>
          <p:cNvSpPr/>
          <p:nvPr/>
        </p:nvSpPr>
        <p:spPr>
          <a:xfrm>
            <a:off x="2587401" y="1250658"/>
            <a:ext cx="379730" cy="266065"/>
          </a:xfrm>
          <a:custGeom>
            <a:avLst/>
            <a:gdLst/>
            <a:ahLst/>
            <a:cxnLst/>
            <a:rect l="l" t="t" r="r" b="b"/>
            <a:pathLst>
              <a:path w="379730" h="266065">
                <a:moveTo>
                  <a:pt x="0" y="265633"/>
                </a:moveTo>
                <a:lnTo>
                  <a:pt x="379475" y="265633"/>
                </a:lnTo>
                <a:lnTo>
                  <a:pt x="379475" y="0"/>
                </a:lnTo>
                <a:lnTo>
                  <a:pt x="0" y="0"/>
                </a:lnTo>
                <a:lnTo>
                  <a:pt x="0" y="265633"/>
                </a:lnTo>
                <a:close/>
              </a:path>
            </a:pathLst>
          </a:custGeom>
          <a:ln w="5270">
            <a:solidFill>
              <a:srgbClr val="231F20"/>
            </a:solidFill>
          </a:ln>
        </p:spPr>
        <p:txBody>
          <a:bodyPr wrap="square" lIns="0" tIns="0" rIns="0" bIns="0" rtlCol="0"/>
          <a:lstStyle/>
          <a:p>
            <a:endParaRPr/>
          </a:p>
        </p:txBody>
      </p:sp>
      <p:sp>
        <p:nvSpPr>
          <p:cNvPr id="41" name="object 41"/>
          <p:cNvSpPr/>
          <p:nvPr/>
        </p:nvSpPr>
        <p:spPr>
          <a:xfrm>
            <a:off x="2587401" y="1592187"/>
            <a:ext cx="379730" cy="266065"/>
          </a:xfrm>
          <a:custGeom>
            <a:avLst/>
            <a:gdLst/>
            <a:ahLst/>
            <a:cxnLst/>
            <a:rect l="l" t="t" r="r" b="b"/>
            <a:pathLst>
              <a:path w="379730" h="266064">
                <a:moveTo>
                  <a:pt x="0" y="265633"/>
                </a:moveTo>
                <a:lnTo>
                  <a:pt x="379475" y="265633"/>
                </a:lnTo>
                <a:lnTo>
                  <a:pt x="379475" y="0"/>
                </a:lnTo>
                <a:lnTo>
                  <a:pt x="0" y="0"/>
                </a:lnTo>
                <a:lnTo>
                  <a:pt x="0" y="265633"/>
                </a:lnTo>
                <a:close/>
              </a:path>
            </a:pathLst>
          </a:custGeom>
          <a:ln w="5270">
            <a:solidFill>
              <a:srgbClr val="231F20"/>
            </a:solidFill>
          </a:ln>
        </p:spPr>
        <p:txBody>
          <a:bodyPr wrap="square" lIns="0" tIns="0" rIns="0" bIns="0" rtlCol="0"/>
          <a:lstStyle/>
          <a:p>
            <a:endParaRPr/>
          </a:p>
        </p:txBody>
      </p:sp>
      <p:sp>
        <p:nvSpPr>
          <p:cNvPr id="42" name="object 42"/>
          <p:cNvSpPr/>
          <p:nvPr/>
        </p:nvSpPr>
        <p:spPr>
          <a:xfrm>
            <a:off x="2587401" y="1933715"/>
            <a:ext cx="379730" cy="266065"/>
          </a:xfrm>
          <a:custGeom>
            <a:avLst/>
            <a:gdLst/>
            <a:ahLst/>
            <a:cxnLst/>
            <a:rect l="l" t="t" r="r" b="b"/>
            <a:pathLst>
              <a:path w="379730" h="266064">
                <a:moveTo>
                  <a:pt x="0" y="265633"/>
                </a:moveTo>
                <a:lnTo>
                  <a:pt x="379475" y="265633"/>
                </a:lnTo>
                <a:lnTo>
                  <a:pt x="379475" y="0"/>
                </a:lnTo>
                <a:lnTo>
                  <a:pt x="0" y="0"/>
                </a:lnTo>
                <a:lnTo>
                  <a:pt x="0" y="265633"/>
                </a:lnTo>
                <a:close/>
              </a:path>
            </a:pathLst>
          </a:custGeom>
          <a:ln w="5270">
            <a:solidFill>
              <a:srgbClr val="231F20"/>
            </a:solidFill>
          </a:ln>
        </p:spPr>
        <p:txBody>
          <a:bodyPr wrap="square" lIns="0" tIns="0" rIns="0" bIns="0" rtlCol="0"/>
          <a:lstStyle/>
          <a:p>
            <a:endParaRPr/>
          </a:p>
        </p:txBody>
      </p:sp>
      <p:sp>
        <p:nvSpPr>
          <p:cNvPr id="43" name="object 43"/>
          <p:cNvSpPr txBox="1"/>
          <p:nvPr/>
        </p:nvSpPr>
        <p:spPr>
          <a:xfrm>
            <a:off x="2005487" y="887994"/>
            <a:ext cx="108458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Application/compute</a:t>
            </a:r>
            <a:r>
              <a:rPr sz="650" spc="-40" dirty="0">
                <a:solidFill>
                  <a:srgbClr val="231F20"/>
                </a:solidFill>
                <a:latin typeface="Arial"/>
                <a:cs typeface="Arial"/>
              </a:rPr>
              <a:t> </a:t>
            </a:r>
            <a:r>
              <a:rPr sz="650" spc="5" dirty="0">
                <a:solidFill>
                  <a:srgbClr val="231F20"/>
                </a:solidFill>
                <a:latin typeface="Arial"/>
                <a:cs typeface="Arial"/>
              </a:rPr>
              <a:t>servers</a:t>
            </a:r>
            <a:endParaRPr sz="650">
              <a:latin typeface="Arial"/>
              <a:cs typeface="Arial"/>
            </a:endParaRPr>
          </a:p>
        </p:txBody>
      </p:sp>
      <p:sp>
        <p:nvSpPr>
          <p:cNvPr id="44" name="object 44"/>
          <p:cNvSpPr txBox="1"/>
          <p:nvPr/>
        </p:nvSpPr>
        <p:spPr>
          <a:xfrm>
            <a:off x="3545712" y="892202"/>
            <a:ext cx="503555" cy="327025"/>
          </a:xfrm>
          <a:prstGeom prst="rect">
            <a:avLst/>
          </a:prstGeom>
        </p:spPr>
        <p:txBody>
          <a:bodyPr vert="horz" wrap="square" lIns="0" tIns="13970" rIns="0" bIns="0" rtlCol="0">
            <a:spAutoFit/>
          </a:bodyPr>
          <a:lstStyle/>
          <a:p>
            <a:pPr marL="12700" marR="5080" algn="ctr">
              <a:lnSpc>
                <a:spcPct val="100000"/>
              </a:lnSpc>
              <a:spcBef>
                <a:spcPts val="110"/>
              </a:spcBef>
            </a:pPr>
            <a:r>
              <a:rPr sz="650" spc="5" dirty="0">
                <a:solidFill>
                  <a:srgbClr val="231F20"/>
                </a:solidFill>
                <a:latin typeface="Arial"/>
                <a:cs typeface="Arial"/>
              </a:rPr>
              <a:t>Distributed </a:t>
            </a:r>
            <a:r>
              <a:rPr sz="650" spc="10" dirty="0">
                <a:solidFill>
                  <a:srgbClr val="231F20"/>
                </a:solidFill>
                <a:latin typeface="Arial"/>
                <a:cs typeface="Arial"/>
              </a:rPr>
              <a:t> </a:t>
            </a:r>
            <a:r>
              <a:rPr sz="650" spc="5" dirty="0">
                <a:solidFill>
                  <a:srgbClr val="231F20"/>
                </a:solidFill>
                <a:latin typeface="Arial"/>
                <a:cs typeface="Arial"/>
              </a:rPr>
              <a:t>file/database  system</a:t>
            </a:r>
            <a:endParaRPr sz="650">
              <a:latin typeface="Arial"/>
              <a:cs typeface="Arial"/>
            </a:endParaRPr>
          </a:p>
        </p:txBody>
      </p:sp>
      <p:sp>
        <p:nvSpPr>
          <p:cNvPr id="45" name="object 45"/>
          <p:cNvSpPr txBox="1"/>
          <p:nvPr/>
        </p:nvSpPr>
        <p:spPr>
          <a:xfrm>
            <a:off x="547889" y="1533108"/>
            <a:ext cx="5880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requests</a:t>
            </a:r>
            <a:endParaRPr sz="650">
              <a:latin typeface="Arial"/>
              <a:cs typeface="Arial"/>
            </a:endParaRPr>
          </a:p>
        </p:txBody>
      </p:sp>
      <p:sp>
        <p:nvSpPr>
          <p:cNvPr id="46" name="object 46"/>
          <p:cNvSpPr txBox="1"/>
          <p:nvPr/>
        </p:nvSpPr>
        <p:spPr>
          <a:xfrm>
            <a:off x="1415072" y="1381317"/>
            <a:ext cx="447675" cy="227329"/>
          </a:xfrm>
          <a:prstGeom prst="rect">
            <a:avLst/>
          </a:prstGeom>
        </p:spPr>
        <p:txBody>
          <a:bodyPr vert="horz" wrap="square" lIns="0" tIns="13970" rIns="0" bIns="0" rtlCol="0">
            <a:spAutoFit/>
          </a:bodyPr>
          <a:lstStyle/>
          <a:p>
            <a:pPr marL="82550" marR="5080" indent="-70485">
              <a:lnSpc>
                <a:spcPct val="100000"/>
              </a:lnSpc>
              <a:spcBef>
                <a:spcPts val="110"/>
              </a:spcBef>
            </a:pPr>
            <a:r>
              <a:rPr sz="650" spc="5" dirty="0">
                <a:solidFill>
                  <a:srgbClr val="231F20"/>
                </a:solidFill>
                <a:latin typeface="Arial"/>
                <a:cs typeface="Arial"/>
              </a:rPr>
              <a:t>Dispatched  request</a:t>
            </a:r>
            <a:endParaRPr sz="650">
              <a:latin typeface="Arial"/>
              <a:cs typeface="Arial"/>
            </a:endParaRPr>
          </a:p>
        </p:txBody>
      </p:sp>
      <p:grpSp>
        <p:nvGrpSpPr>
          <p:cNvPr id="47" name="object 47"/>
          <p:cNvGrpSpPr/>
          <p:nvPr/>
        </p:nvGrpSpPr>
        <p:grpSpPr>
          <a:xfrm>
            <a:off x="1901708" y="871177"/>
            <a:ext cx="5715" cy="1442085"/>
            <a:chOff x="1901708" y="871177"/>
            <a:chExt cx="5715" cy="1442085"/>
          </a:xfrm>
        </p:grpSpPr>
        <p:sp>
          <p:nvSpPr>
            <p:cNvPr id="48" name="object 48"/>
            <p:cNvSpPr/>
            <p:nvPr/>
          </p:nvSpPr>
          <p:spPr>
            <a:xfrm>
              <a:off x="1904344" y="871177"/>
              <a:ext cx="0" cy="1442085"/>
            </a:xfrm>
            <a:custGeom>
              <a:avLst/>
              <a:gdLst/>
              <a:ahLst/>
              <a:cxnLst/>
              <a:rect l="l" t="t" r="r" b="b"/>
              <a:pathLst>
                <a:path h="1442085">
                  <a:moveTo>
                    <a:pt x="0" y="0"/>
                  </a:moveTo>
                  <a:lnTo>
                    <a:pt x="0" y="1442013"/>
                  </a:lnTo>
                  <a:lnTo>
                    <a:pt x="0" y="0"/>
                  </a:lnTo>
                  <a:close/>
                </a:path>
              </a:pathLst>
            </a:custGeom>
            <a:solidFill>
              <a:srgbClr val="231F20"/>
            </a:solidFill>
          </p:spPr>
          <p:txBody>
            <a:bodyPr wrap="square" lIns="0" tIns="0" rIns="0" bIns="0" rtlCol="0"/>
            <a:lstStyle/>
            <a:p>
              <a:endParaRPr/>
            </a:p>
          </p:txBody>
        </p:sp>
        <p:sp>
          <p:nvSpPr>
            <p:cNvPr id="49" name="object 49"/>
            <p:cNvSpPr/>
            <p:nvPr/>
          </p:nvSpPr>
          <p:spPr>
            <a:xfrm>
              <a:off x="1904344" y="871177"/>
              <a:ext cx="0" cy="1442085"/>
            </a:xfrm>
            <a:custGeom>
              <a:avLst/>
              <a:gdLst/>
              <a:ahLst/>
              <a:cxnLst/>
              <a:rect l="l" t="t" r="r" b="b"/>
              <a:pathLst>
                <a:path h="1442085">
                  <a:moveTo>
                    <a:pt x="0" y="0"/>
                  </a:moveTo>
                  <a:lnTo>
                    <a:pt x="0" y="1442013"/>
                  </a:lnTo>
                  <a:lnTo>
                    <a:pt x="0" y="0"/>
                  </a:lnTo>
                  <a:close/>
                </a:path>
              </a:pathLst>
            </a:custGeom>
            <a:ln w="5270">
              <a:solidFill>
                <a:srgbClr val="231F20"/>
              </a:solidFill>
              <a:prstDash val="lgDash"/>
            </a:ln>
          </p:spPr>
          <p:txBody>
            <a:bodyPr wrap="square" lIns="0" tIns="0" rIns="0" bIns="0" rtlCol="0"/>
            <a:lstStyle/>
            <a:p>
              <a:endParaRPr/>
            </a:p>
          </p:txBody>
        </p:sp>
      </p:grpSp>
      <p:sp>
        <p:nvSpPr>
          <p:cNvPr id="50" name="object 50"/>
          <p:cNvSpPr txBox="1"/>
          <p:nvPr/>
        </p:nvSpPr>
        <p:spPr>
          <a:xfrm>
            <a:off x="1170182" y="2292056"/>
            <a:ext cx="3302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First </a:t>
            </a:r>
            <a:r>
              <a:rPr sz="650" dirty="0">
                <a:solidFill>
                  <a:srgbClr val="231F20"/>
                </a:solidFill>
                <a:latin typeface="Arial"/>
                <a:cs typeface="Arial"/>
              </a:rPr>
              <a:t>tier</a:t>
            </a:r>
            <a:endParaRPr sz="650">
              <a:latin typeface="Arial"/>
              <a:cs typeface="Arial"/>
            </a:endParaRPr>
          </a:p>
        </p:txBody>
      </p:sp>
      <p:sp>
        <p:nvSpPr>
          <p:cNvPr id="54" name="object 54"/>
          <p:cNvSpPr txBox="1"/>
          <p:nvPr/>
        </p:nvSpPr>
        <p:spPr>
          <a:xfrm>
            <a:off x="66713" y="3331252"/>
            <a:ext cx="6667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Local-area</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clusters</a:t>
            </a:r>
            <a:endParaRPr sz="600">
              <a:latin typeface="Arial"/>
              <a:cs typeface="Arial"/>
            </a:endParaRPr>
          </a:p>
        </p:txBody>
      </p:sp>
      <p:sp>
        <p:nvSpPr>
          <p:cNvPr id="55" name="object 5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32</a:t>
            </a:r>
            <a:r>
              <a:rPr spc="-40" dirty="0"/>
              <a:t> </a:t>
            </a:r>
            <a:r>
              <a:rPr spc="-5" dirty="0"/>
              <a:t>/</a:t>
            </a:r>
            <a:r>
              <a:rPr spc="-35" dirty="0"/>
              <a:t> </a:t>
            </a:r>
            <a:r>
              <a:rPr spc="-5" dirty="0"/>
              <a:t>47</a:t>
            </a:r>
          </a:p>
        </p:txBody>
      </p:sp>
      <p:sp>
        <p:nvSpPr>
          <p:cNvPr id="51" name="object 51"/>
          <p:cNvSpPr txBox="1"/>
          <p:nvPr/>
        </p:nvSpPr>
        <p:spPr>
          <a:xfrm>
            <a:off x="2323467" y="2292056"/>
            <a:ext cx="4521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Second</a:t>
            </a:r>
            <a:r>
              <a:rPr sz="650" spc="-45" dirty="0">
                <a:solidFill>
                  <a:srgbClr val="231F20"/>
                </a:solidFill>
                <a:latin typeface="Arial"/>
                <a:cs typeface="Arial"/>
              </a:rPr>
              <a:t> </a:t>
            </a:r>
            <a:r>
              <a:rPr sz="650" dirty="0">
                <a:solidFill>
                  <a:srgbClr val="231F20"/>
                </a:solidFill>
                <a:latin typeface="Arial"/>
                <a:cs typeface="Arial"/>
              </a:rPr>
              <a:t>tier</a:t>
            </a:r>
            <a:endParaRPr sz="650">
              <a:latin typeface="Arial"/>
              <a:cs typeface="Arial"/>
            </a:endParaRPr>
          </a:p>
        </p:txBody>
      </p:sp>
      <p:sp>
        <p:nvSpPr>
          <p:cNvPr id="52" name="object 52"/>
          <p:cNvSpPr txBox="1"/>
          <p:nvPr/>
        </p:nvSpPr>
        <p:spPr>
          <a:xfrm>
            <a:off x="3508835" y="2292056"/>
            <a:ext cx="35814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Third </a:t>
            </a:r>
            <a:r>
              <a:rPr sz="650" dirty="0">
                <a:solidFill>
                  <a:srgbClr val="231F20"/>
                </a:solidFill>
                <a:latin typeface="Arial"/>
                <a:cs typeface="Arial"/>
              </a:rPr>
              <a:t>tier</a:t>
            </a:r>
            <a:endParaRPr sz="650">
              <a:latin typeface="Arial"/>
              <a:cs typeface="Arial"/>
            </a:endParaRPr>
          </a:p>
        </p:txBody>
      </p:sp>
      <p:sp>
        <p:nvSpPr>
          <p:cNvPr id="53" name="object 53"/>
          <p:cNvSpPr txBox="1"/>
          <p:nvPr/>
        </p:nvSpPr>
        <p:spPr>
          <a:xfrm>
            <a:off x="343382" y="2615143"/>
            <a:ext cx="3534410" cy="504825"/>
          </a:xfrm>
          <a:prstGeom prst="rect">
            <a:avLst/>
          </a:prstGeom>
        </p:spPr>
        <p:txBody>
          <a:bodyPr vert="horz" wrap="square" lIns="0" tIns="12065" rIns="0" bIns="0" rtlCol="0">
            <a:spAutoFit/>
          </a:bodyPr>
          <a:lstStyle/>
          <a:p>
            <a:pPr marL="16510">
              <a:lnSpc>
                <a:spcPts val="1410"/>
              </a:lnSpc>
              <a:spcBef>
                <a:spcPts val="95"/>
              </a:spcBef>
            </a:pPr>
            <a:r>
              <a:rPr sz="1200" dirty="0">
                <a:solidFill>
                  <a:srgbClr val="FA0000"/>
                </a:solidFill>
                <a:latin typeface="Arial"/>
                <a:cs typeface="Arial"/>
              </a:rPr>
              <a:t>Crucial</a:t>
            </a:r>
            <a:r>
              <a:rPr sz="1200" spc="-45" dirty="0">
                <a:solidFill>
                  <a:srgbClr val="FA0000"/>
                </a:solidFill>
                <a:latin typeface="Arial"/>
                <a:cs typeface="Arial"/>
              </a:rPr>
              <a:t> </a:t>
            </a:r>
            <a:r>
              <a:rPr sz="1200" spc="-5" dirty="0">
                <a:solidFill>
                  <a:srgbClr val="FA0000"/>
                </a:solidFill>
                <a:latin typeface="Arial"/>
                <a:cs typeface="Arial"/>
              </a:rPr>
              <a:t>element</a:t>
            </a:r>
            <a:endParaRPr sz="1200">
              <a:latin typeface="Arial"/>
              <a:cs typeface="Arial"/>
            </a:endParaRPr>
          </a:p>
          <a:p>
            <a:pPr marL="16510" marR="5080" indent="-4445">
              <a:lnSpc>
                <a:spcPts val="1200"/>
              </a:lnSpc>
              <a:spcBef>
                <a:spcPts val="10"/>
              </a:spcBef>
            </a:pPr>
            <a:r>
              <a:rPr sz="1000" spc="-5" dirty="0">
                <a:latin typeface="Arial"/>
                <a:cs typeface="Arial"/>
              </a:rPr>
              <a:t>The</a:t>
            </a:r>
            <a:r>
              <a:rPr sz="1000" dirty="0">
                <a:latin typeface="Arial"/>
                <a:cs typeface="Arial"/>
              </a:rPr>
              <a:t> </a:t>
            </a:r>
            <a:r>
              <a:rPr sz="1000" spc="-5" dirty="0">
                <a:latin typeface="Arial"/>
                <a:cs typeface="Arial"/>
              </a:rPr>
              <a:t>first</a:t>
            </a:r>
            <a:r>
              <a:rPr sz="1000" dirty="0">
                <a:latin typeface="Arial"/>
                <a:cs typeface="Arial"/>
              </a:rPr>
              <a:t> </a:t>
            </a:r>
            <a:r>
              <a:rPr sz="1000" spc="-5" dirty="0">
                <a:latin typeface="Arial"/>
                <a:cs typeface="Arial"/>
              </a:rPr>
              <a:t>tier</a:t>
            </a:r>
            <a:r>
              <a:rPr sz="1000" dirty="0">
                <a:latin typeface="Arial"/>
                <a:cs typeface="Arial"/>
              </a:rPr>
              <a:t> </a:t>
            </a:r>
            <a:r>
              <a:rPr sz="1000" spc="-5" dirty="0">
                <a:latin typeface="Arial"/>
                <a:cs typeface="Arial"/>
              </a:rPr>
              <a:t>is</a:t>
            </a:r>
            <a:r>
              <a:rPr sz="1000" dirty="0">
                <a:latin typeface="Arial"/>
                <a:cs typeface="Arial"/>
              </a:rPr>
              <a:t> </a:t>
            </a:r>
            <a:r>
              <a:rPr sz="1000" spc="-5" dirty="0">
                <a:latin typeface="Arial"/>
                <a:cs typeface="Arial"/>
              </a:rPr>
              <a:t>generally</a:t>
            </a:r>
            <a:r>
              <a:rPr sz="1000" dirty="0">
                <a:latin typeface="Arial"/>
                <a:cs typeface="Arial"/>
              </a:rPr>
              <a:t> </a:t>
            </a:r>
            <a:r>
              <a:rPr sz="1000" spc="-5" dirty="0">
                <a:latin typeface="Arial"/>
                <a:cs typeface="Arial"/>
              </a:rPr>
              <a:t>responsible</a:t>
            </a:r>
            <a:r>
              <a:rPr sz="1000" dirty="0">
                <a:latin typeface="Arial"/>
                <a:cs typeface="Arial"/>
              </a:rPr>
              <a:t> </a:t>
            </a:r>
            <a:r>
              <a:rPr sz="1000" spc="-15" dirty="0">
                <a:latin typeface="Arial"/>
                <a:cs typeface="Arial"/>
              </a:rPr>
              <a:t>for</a:t>
            </a:r>
            <a:r>
              <a:rPr sz="1000" dirty="0">
                <a:latin typeface="Arial"/>
                <a:cs typeface="Arial"/>
              </a:rPr>
              <a:t> </a:t>
            </a:r>
            <a:r>
              <a:rPr sz="1000" spc="-5" dirty="0">
                <a:latin typeface="Arial"/>
                <a:cs typeface="Arial"/>
              </a:rPr>
              <a:t>passing</a:t>
            </a:r>
            <a:r>
              <a:rPr sz="1000" dirty="0">
                <a:latin typeface="Arial"/>
                <a:cs typeface="Arial"/>
              </a:rPr>
              <a:t> </a:t>
            </a:r>
            <a:r>
              <a:rPr sz="1000" spc="-5" dirty="0">
                <a:latin typeface="Arial"/>
                <a:cs typeface="Arial"/>
              </a:rPr>
              <a:t>requests</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an </a:t>
            </a:r>
            <a:r>
              <a:rPr sz="1000" spc="-265" dirty="0">
                <a:latin typeface="Arial"/>
                <a:cs typeface="Arial"/>
              </a:rPr>
              <a:t> </a:t>
            </a:r>
            <a:r>
              <a:rPr sz="1000" spc="-5" dirty="0">
                <a:latin typeface="Arial"/>
                <a:cs typeface="Arial"/>
              </a:rPr>
              <a:t>appropriate </a:t>
            </a:r>
            <a:r>
              <a:rPr sz="1000" dirty="0">
                <a:latin typeface="Arial"/>
                <a:cs typeface="Arial"/>
              </a:rPr>
              <a:t>server:</a:t>
            </a:r>
            <a:r>
              <a:rPr sz="1000" spc="60" dirty="0">
                <a:latin typeface="Arial"/>
                <a:cs typeface="Arial"/>
              </a:rPr>
              <a:t> </a:t>
            </a:r>
            <a:r>
              <a:rPr sz="1000" spc="-5" dirty="0">
                <a:solidFill>
                  <a:srgbClr val="0000FA"/>
                </a:solidFill>
                <a:latin typeface="Arial"/>
                <a:cs typeface="Arial"/>
              </a:rPr>
              <a:t>request dispatching</a:t>
            </a:r>
            <a:endParaRPr sz="1000">
              <a:latin typeface="Arial"/>
              <a:cs typeface="Arial"/>
            </a:endParaRPr>
          </a:p>
        </p:txBody>
      </p:sp>
    </p:spTree>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Server</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4" name="object 4"/>
          <p:cNvSpPr txBox="1"/>
          <p:nvPr/>
        </p:nvSpPr>
        <p:spPr>
          <a:xfrm>
            <a:off x="95300" y="188846"/>
            <a:ext cx="4109085" cy="12350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Request</a:t>
            </a:r>
            <a:r>
              <a:rPr sz="1400" spc="-25" dirty="0">
                <a:solidFill>
                  <a:srgbClr val="3333B2"/>
                </a:solidFill>
                <a:latin typeface="Arial"/>
                <a:cs typeface="Arial"/>
              </a:rPr>
              <a:t> </a:t>
            </a:r>
            <a:r>
              <a:rPr sz="1400" spc="15" dirty="0">
                <a:solidFill>
                  <a:srgbClr val="3333B2"/>
                </a:solidFill>
                <a:latin typeface="Arial"/>
                <a:cs typeface="Arial"/>
              </a:rPr>
              <a:t>Handling</a:t>
            </a:r>
            <a:endParaRPr sz="1400" dirty="0">
              <a:latin typeface="Arial"/>
              <a:cs typeface="Arial"/>
            </a:endParaRPr>
          </a:p>
          <a:p>
            <a:pPr>
              <a:lnSpc>
                <a:spcPct val="100000"/>
              </a:lnSpc>
            </a:pPr>
            <a:endParaRPr sz="1650" dirty="0">
              <a:latin typeface="Arial"/>
              <a:cs typeface="Arial"/>
            </a:endParaRPr>
          </a:p>
          <a:p>
            <a:pPr marL="264160">
              <a:lnSpc>
                <a:spcPts val="1410"/>
              </a:lnSpc>
            </a:pPr>
            <a:r>
              <a:rPr sz="1200" spc="-5" dirty="0">
                <a:solidFill>
                  <a:srgbClr val="3333B2"/>
                </a:solidFill>
                <a:latin typeface="Arial"/>
                <a:cs typeface="Arial"/>
              </a:rPr>
              <a:t>Observation</a:t>
            </a:r>
            <a:endParaRPr sz="1200" dirty="0">
              <a:latin typeface="Arial"/>
              <a:cs typeface="Arial"/>
            </a:endParaRPr>
          </a:p>
          <a:p>
            <a:pPr marL="264160" marR="5080">
              <a:lnSpc>
                <a:spcPts val="1200"/>
              </a:lnSpc>
              <a:spcBef>
                <a:spcPts val="10"/>
              </a:spcBef>
            </a:pPr>
            <a:r>
              <a:rPr sz="1000" spc="-10" dirty="0">
                <a:latin typeface="Arial"/>
                <a:cs typeface="Arial"/>
              </a:rPr>
              <a:t>Having</a:t>
            </a:r>
            <a:r>
              <a:rPr sz="1000"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first</a:t>
            </a:r>
            <a:r>
              <a:rPr sz="1000" spc="5" dirty="0">
                <a:latin typeface="Arial"/>
                <a:cs typeface="Arial"/>
              </a:rPr>
              <a:t> </a:t>
            </a:r>
            <a:r>
              <a:rPr sz="1000" spc="-5" dirty="0">
                <a:latin typeface="Arial"/>
                <a:cs typeface="Arial"/>
              </a:rPr>
              <a:t>tier</a:t>
            </a:r>
            <a:r>
              <a:rPr sz="1000" spc="5" dirty="0">
                <a:latin typeface="Arial"/>
                <a:cs typeface="Arial"/>
              </a:rPr>
              <a:t> </a:t>
            </a:r>
            <a:r>
              <a:rPr sz="1000" spc="-5" dirty="0">
                <a:latin typeface="Arial"/>
                <a:cs typeface="Arial"/>
              </a:rPr>
              <a:t>handle</a:t>
            </a:r>
            <a:r>
              <a:rPr sz="1000" spc="5" dirty="0">
                <a:latin typeface="Arial"/>
                <a:cs typeface="Arial"/>
              </a:rPr>
              <a:t> </a:t>
            </a:r>
            <a:r>
              <a:rPr sz="1000" spc="-5" dirty="0">
                <a:latin typeface="Arial"/>
                <a:cs typeface="Arial"/>
              </a:rPr>
              <a:t>all</a:t>
            </a:r>
            <a:r>
              <a:rPr sz="1000" dirty="0">
                <a:latin typeface="Arial"/>
                <a:cs typeface="Arial"/>
              </a:rPr>
              <a:t> </a:t>
            </a:r>
            <a:r>
              <a:rPr sz="1000" spc="-5" dirty="0">
                <a:latin typeface="Arial"/>
                <a:cs typeface="Arial"/>
              </a:rPr>
              <a:t>communication</a:t>
            </a:r>
            <a:r>
              <a:rPr sz="1000" spc="5" dirty="0">
                <a:latin typeface="Arial"/>
                <a:cs typeface="Arial"/>
              </a:rPr>
              <a:t> </a:t>
            </a:r>
            <a:r>
              <a:rPr sz="1000" spc="-5" dirty="0">
                <a:latin typeface="Arial"/>
                <a:cs typeface="Arial"/>
              </a:rPr>
              <a:t>from/to</a:t>
            </a:r>
            <a:r>
              <a:rPr sz="1000" spc="5" dirty="0">
                <a:latin typeface="Arial"/>
                <a:cs typeface="Arial"/>
              </a:rPr>
              <a:t> </a:t>
            </a:r>
            <a:r>
              <a:rPr sz="1000" spc="-5" dirty="0">
                <a:latin typeface="Arial"/>
                <a:cs typeface="Arial"/>
              </a:rPr>
              <a:t>the</a:t>
            </a:r>
            <a:r>
              <a:rPr sz="1000" spc="5" dirty="0">
                <a:latin typeface="Arial"/>
                <a:cs typeface="Arial"/>
              </a:rPr>
              <a:t> </a:t>
            </a:r>
            <a:r>
              <a:rPr sz="1000" spc="-5" dirty="0">
                <a:latin typeface="Arial"/>
                <a:cs typeface="Arial"/>
              </a:rPr>
              <a:t>cluster</a:t>
            </a:r>
            <a:r>
              <a:rPr sz="1000" spc="5" dirty="0">
                <a:latin typeface="Arial"/>
                <a:cs typeface="Arial"/>
              </a:rPr>
              <a:t> </a:t>
            </a:r>
            <a:r>
              <a:rPr sz="1000" spc="-15" dirty="0">
                <a:latin typeface="Arial"/>
                <a:cs typeface="Arial"/>
              </a:rPr>
              <a:t>may </a:t>
            </a:r>
            <a:r>
              <a:rPr sz="1000" spc="-265" dirty="0">
                <a:latin typeface="Arial"/>
                <a:cs typeface="Arial"/>
              </a:rPr>
              <a:t> </a:t>
            </a:r>
            <a:r>
              <a:rPr sz="1000" spc="-5" dirty="0">
                <a:latin typeface="Arial"/>
                <a:cs typeface="Arial"/>
              </a:rPr>
              <a:t>lead</a:t>
            </a:r>
            <a:r>
              <a:rPr sz="1000" spc="-10" dirty="0">
                <a:latin typeface="Arial"/>
                <a:cs typeface="Arial"/>
              </a:rPr>
              <a:t> </a:t>
            </a:r>
            <a:r>
              <a:rPr sz="1000" spc="-5" dirty="0">
                <a:latin typeface="Arial"/>
                <a:cs typeface="Arial"/>
              </a:rPr>
              <a:t>to a </a:t>
            </a:r>
            <a:r>
              <a:rPr sz="1000" spc="-5" dirty="0">
                <a:solidFill>
                  <a:srgbClr val="0000FA"/>
                </a:solidFill>
                <a:latin typeface="Arial"/>
                <a:cs typeface="Arial"/>
              </a:rPr>
              <a:t>bottleneck</a:t>
            </a:r>
            <a:r>
              <a:rPr sz="1000" spc="-5" dirty="0">
                <a:latin typeface="Arial"/>
                <a:cs typeface="Arial"/>
              </a:rPr>
              <a:t>.</a:t>
            </a:r>
            <a:endParaRPr sz="1000" dirty="0">
              <a:latin typeface="Arial"/>
              <a:cs typeface="Arial"/>
            </a:endParaRPr>
          </a:p>
          <a:p>
            <a:pPr marL="259079">
              <a:lnSpc>
                <a:spcPct val="100000"/>
              </a:lnSpc>
              <a:spcBef>
                <a:spcPts val="650"/>
              </a:spcBef>
            </a:pPr>
            <a:r>
              <a:rPr sz="1200" spc="-5" dirty="0">
                <a:solidFill>
                  <a:srgbClr val="007C00"/>
                </a:solidFill>
                <a:latin typeface="Arial"/>
                <a:cs typeface="Arial"/>
              </a:rPr>
              <a:t>A</a:t>
            </a:r>
            <a:r>
              <a:rPr sz="1200" spc="-15" dirty="0">
                <a:solidFill>
                  <a:srgbClr val="007C00"/>
                </a:solidFill>
                <a:latin typeface="Arial"/>
                <a:cs typeface="Arial"/>
              </a:rPr>
              <a:t> </a:t>
            </a:r>
            <a:r>
              <a:rPr sz="1200" spc="-5" dirty="0">
                <a:solidFill>
                  <a:srgbClr val="007C00"/>
                </a:solidFill>
                <a:latin typeface="Arial"/>
                <a:cs typeface="Arial"/>
              </a:rPr>
              <a:t>solution:</a:t>
            </a:r>
            <a:r>
              <a:rPr sz="1200" spc="60" dirty="0">
                <a:solidFill>
                  <a:srgbClr val="007C00"/>
                </a:solidFill>
                <a:latin typeface="Arial"/>
                <a:cs typeface="Arial"/>
              </a:rPr>
              <a:t> </a:t>
            </a:r>
            <a:r>
              <a:rPr sz="1200" spc="-5" dirty="0">
                <a:solidFill>
                  <a:srgbClr val="007C00"/>
                </a:solidFill>
                <a:latin typeface="Arial"/>
                <a:cs typeface="Arial"/>
              </a:rPr>
              <a:t>TCP</a:t>
            </a:r>
            <a:r>
              <a:rPr sz="1200" spc="-15" dirty="0">
                <a:solidFill>
                  <a:srgbClr val="007C00"/>
                </a:solidFill>
                <a:latin typeface="Arial"/>
                <a:cs typeface="Arial"/>
              </a:rPr>
              <a:t> </a:t>
            </a:r>
            <a:r>
              <a:rPr sz="1200" spc="-5" dirty="0">
                <a:solidFill>
                  <a:srgbClr val="007C00"/>
                </a:solidFill>
                <a:latin typeface="Arial"/>
                <a:cs typeface="Arial"/>
              </a:rPr>
              <a:t>handoff</a:t>
            </a:r>
            <a:endParaRPr sz="1200" dirty="0">
              <a:latin typeface="Arial"/>
              <a:cs typeface="Arial"/>
            </a:endParaRPr>
          </a:p>
        </p:txBody>
      </p:sp>
      <p:grpSp>
        <p:nvGrpSpPr>
          <p:cNvPr id="5" name="object 5"/>
          <p:cNvGrpSpPr/>
          <p:nvPr/>
        </p:nvGrpSpPr>
        <p:grpSpPr>
          <a:xfrm>
            <a:off x="1563490" y="1618049"/>
            <a:ext cx="1440180" cy="583565"/>
            <a:chOff x="1563490" y="1618049"/>
            <a:chExt cx="1440180" cy="583565"/>
          </a:xfrm>
        </p:grpSpPr>
        <p:sp>
          <p:nvSpPr>
            <p:cNvPr id="6" name="object 6"/>
            <p:cNvSpPr/>
            <p:nvPr/>
          </p:nvSpPr>
          <p:spPr>
            <a:xfrm>
              <a:off x="1566348" y="2169644"/>
              <a:ext cx="680085" cy="0"/>
            </a:xfrm>
            <a:custGeom>
              <a:avLst/>
              <a:gdLst/>
              <a:ahLst/>
              <a:cxnLst/>
              <a:rect l="l" t="t" r="r" b="b"/>
              <a:pathLst>
                <a:path w="680085">
                  <a:moveTo>
                    <a:pt x="0" y="0"/>
                  </a:moveTo>
                  <a:lnTo>
                    <a:pt x="679745" y="0"/>
                  </a:lnTo>
                </a:path>
              </a:pathLst>
            </a:custGeom>
            <a:ln w="5270">
              <a:solidFill>
                <a:srgbClr val="231F20"/>
              </a:solidFill>
            </a:ln>
          </p:spPr>
          <p:txBody>
            <a:bodyPr wrap="square" lIns="0" tIns="0" rIns="0" bIns="0" rtlCol="0"/>
            <a:lstStyle/>
            <a:p>
              <a:endParaRPr/>
            </a:p>
          </p:txBody>
        </p:sp>
        <p:pic>
          <p:nvPicPr>
            <p:cNvPr id="7" name="object 7"/>
            <p:cNvPicPr/>
            <p:nvPr/>
          </p:nvPicPr>
          <p:blipFill>
            <a:blip r:embed="rId6" cstate="print"/>
            <a:stretch>
              <a:fillRect/>
            </a:stretch>
          </p:blipFill>
          <p:spPr>
            <a:xfrm>
              <a:off x="2209089" y="2137770"/>
              <a:ext cx="74382" cy="63751"/>
            </a:xfrm>
            <a:prstGeom prst="rect">
              <a:avLst/>
            </a:prstGeom>
          </p:spPr>
        </p:pic>
        <p:sp>
          <p:nvSpPr>
            <p:cNvPr id="8" name="object 8"/>
            <p:cNvSpPr/>
            <p:nvPr/>
          </p:nvSpPr>
          <p:spPr>
            <a:xfrm>
              <a:off x="2642024" y="1826271"/>
              <a:ext cx="329565" cy="260985"/>
            </a:xfrm>
            <a:custGeom>
              <a:avLst/>
              <a:gdLst/>
              <a:ahLst/>
              <a:cxnLst/>
              <a:rect l="l" t="t" r="r" b="b"/>
              <a:pathLst>
                <a:path w="329564" h="260985">
                  <a:moveTo>
                    <a:pt x="0" y="260716"/>
                  </a:moveTo>
                  <a:lnTo>
                    <a:pt x="329258" y="0"/>
                  </a:lnTo>
                </a:path>
              </a:pathLst>
            </a:custGeom>
            <a:ln w="5270">
              <a:solidFill>
                <a:srgbClr val="231F20"/>
              </a:solidFill>
            </a:ln>
          </p:spPr>
          <p:txBody>
            <a:bodyPr wrap="square" lIns="0" tIns="0" rIns="0" bIns="0" rtlCol="0"/>
            <a:lstStyle/>
            <a:p>
              <a:endParaRPr/>
            </a:p>
          </p:txBody>
        </p:sp>
        <p:pic>
          <p:nvPicPr>
            <p:cNvPr id="9" name="object 9"/>
            <p:cNvPicPr/>
            <p:nvPr/>
          </p:nvPicPr>
          <p:blipFill>
            <a:blip r:embed="rId7" cstate="print"/>
            <a:stretch>
              <a:fillRect/>
            </a:stretch>
          </p:blipFill>
          <p:spPr>
            <a:xfrm>
              <a:off x="2922489" y="1803068"/>
              <a:ext cx="78098" cy="71164"/>
            </a:xfrm>
            <a:prstGeom prst="rect">
              <a:avLst/>
            </a:prstGeom>
          </p:spPr>
        </p:pic>
        <p:sp>
          <p:nvSpPr>
            <p:cNvPr id="10" name="object 10"/>
            <p:cNvSpPr/>
            <p:nvPr/>
          </p:nvSpPr>
          <p:spPr>
            <a:xfrm>
              <a:off x="1602047" y="1620907"/>
              <a:ext cx="1398905" cy="434340"/>
            </a:xfrm>
            <a:custGeom>
              <a:avLst/>
              <a:gdLst/>
              <a:ahLst/>
              <a:cxnLst/>
              <a:rect l="l" t="t" r="r" b="b"/>
              <a:pathLst>
                <a:path w="1398905" h="434339">
                  <a:moveTo>
                    <a:pt x="1398539" y="0"/>
                  </a:moveTo>
                  <a:lnTo>
                    <a:pt x="0" y="434211"/>
                  </a:lnTo>
                </a:path>
              </a:pathLst>
            </a:custGeom>
            <a:ln w="5270">
              <a:solidFill>
                <a:srgbClr val="231F20"/>
              </a:solidFill>
            </a:ln>
          </p:spPr>
          <p:txBody>
            <a:bodyPr wrap="square" lIns="0" tIns="0" rIns="0" bIns="0" rtlCol="0"/>
            <a:lstStyle/>
            <a:p>
              <a:endParaRPr/>
            </a:p>
          </p:txBody>
        </p:sp>
        <p:sp>
          <p:nvSpPr>
            <p:cNvPr id="11" name="object 11"/>
            <p:cNvSpPr/>
            <p:nvPr/>
          </p:nvSpPr>
          <p:spPr>
            <a:xfrm>
              <a:off x="1566348" y="2013703"/>
              <a:ext cx="80645" cy="60960"/>
            </a:xfrm>
            <a:custGeom>
              <a:avLst/>
              <a:gdLst/>
              <a:ahLst/>
              <a:cxnLst/>
              <a:rect l="l" t="t" r="r" b="b"/>
              <a:pathLst>
                <a:path w="80644" h="60960">
                  <a:moveTo>
                    <a:pt x="61578" y="0"/>
                  </a:moveTo>
                  <a:lnTo>
                    <a:pt x="0" y="52494"/>
                  </a:lnTo>
                  <a:lnTo>
                    <a:pt x="80485" y="60881"/>
                  </a:lnTo>
                  <a:lnTo>
                    <a:pt x="70051" y="47434"/>
                  </a:lnTo>
                  <a:lnTo>
                    <a:pt x="63421" y="32805"/>
                  </a:lnTo>
                  <a:lnTo>
                    <a:pt x="60596" y="16993"/>
                  </a:lnTo>
                  <a:lnTo>
                    <a:pt x="61578" y="0"/>
                  </a:lnTo>
                  <a:close/>
                </a:path>
              </a:pathLst>
            </a:custGeom>
            <a:solidFill>
              <a:srgbClr val="231F20"/>
            </a:solidFill>
          </p:spPr>
          <p:txBody>
            <a:bodyPr wrap="square" lIns="0" tIns="0" rIns="0" bIns="0" rtlCol="0"/>
            <a:lstStyle/>
            <a:p>
              <a:endParaRPr/>
            </a:p>
          </p:txBody>
        </p:sp>
      </p:grpSp>
      <p:sp>
        <p:nvSpPr>
          <p:cNvPr id="12" name="object 12"/>
          <p:cNvSpPr txBox="1"/>
          <p:nvPr/>
        </p:nvSpPr>
        <p:spPr>
          <a:xfrm>
            <a:off x="2327198" y="2103524"/>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Switch</a:t>
            </a:r>
            <a:endParaRPr sz="650">
              <a:latin typeface="Arial"/>
              <a:cs typeface="Arial"/>
            </a:endParaRPr>
          </a:p>
        </p:txBody>
      </p:sp>
      <p:sp>
        <p:nvSpPr>
          <p:cNvPr id="13" name="object 13"/>
          <p:cNvSpPr/>
          <p:nvPr/>
        </p:nvSpPr>
        <p:spPr>
          <a:xfrm>
            <a:off x="1207789" y="1512285"/>
            <a:ext cx="2211705" cy="836930"/>
          </a:xfrm>
          <a:custGeom>
            <a:avLst/>
            <a:gdLst/>
            <a:ahLst/>
            <a:cxnLst/>
            <a:rect l="l" t="t" r="r" b="b"/>
            <a:pathLst>
              <a:path w="2211704" h="836930">
                <a:moveTo>
                  <a:pt x="1075682" y="836642"/>
                </a:moveTo>
                <a:lnTo>
                  <a:pt x="1434237" y="836642"/>
                </a:lnTo>
                <a:lnTo>
                  <a:pt x="1434237" y="478079"/>
                </a:lnTo>
                <a:lnTo>
                  <a:pt x="1075682" y="478079"/>
                </a:lnTo>
                <a:lnTo>
                  <a:pt x="1075682" y="836642"/>
                </a:lnTo>
                <a:close/>
              </a:path>
              <a:path w="2211704" h="836930">
                <a:moveTo>
                  <a:pt x="1792797" y="358562"/>
                </a:moveTo>
                <a:lnTo>
                  <a:pt x="2211633" y="358562"/>
                </a:lnTo>
                <a:lnTo>
                  <a:pt x="2211633" y="0"/>
                </a:lnTo>
                <a:lnTo>
                  <a:pt x="1792797" y="0"/>
                </a:lnTo>
                <a:lnTo>
                  <a:pt x="1792797" y="358562"/>
                </a:lnTo>
                <a:close/>
              </a:path>
              <a:path w="2211704" h="836930">
                <a:moveTo>
                  <a:pt x="0" y="836642"/>
                </a:moveTo>
                <a:lnTo>
                  <a:pt x="358558" y="836642"/>
                </a:lnTo>
                <a:lnTo>
                  <a:pt x="358558" y="478079"/>
                </a:lnTo>
                <a:lnTo>
                  <a:pt x="0" y="478079"/>
                </a:lnTo>
                <a:lnTo>
                  <a:pt x="0" y="836642"/>
                </a:lnTo>
                <a:close/>
              </a:path>
            </a:pathLst>
          </a:custGeom>
          <a:ln w="5270">
            <a:solidFill>
              <a:srgbClr val="231F20"/>
            </a:solidFill>
          </a:ln>
        </p:spPr>
        <p:txBody>
          <a:bodyPr wrap="square" lIns="0" tIns="0" rIns="0" bIns="0" rtlCol="0"/>
          <a:lstStyle/>
          <a:p>
            <a:endParaRPr/>
          </a:p>
        </p:txBody>
      </p:sp>
      <p:sp>
        <p:nvSpPr>
          <p:cNvPr id="14" name="object 14"/>
          <p:cNvSpPr/>
          <p:nvPr/>
        </p:nvSpPr>
        <p:spPr>
          <a:xfrm>
            <a:off x="3000587" y="2468448"/>
            <a:ext cx="419100" cy="358775"/>
          </a:xfrm>
          <a:custGeom>
            <a:avLst/>
            <a:gdLst/>
            <a:ahLst/>
            <a:cxnLst/>
            <a:rect l="l" t="t" r="r" b="b"/>
            <a:pathLst>
              <a:path w="419100" h="358775">
                <a:moveTo>
                  <a:pt x="0" y="358558"/>
                </a:moveTo>
                <a:lnTo>
                  <a:pt x="418836" y="358558"/>
                </a:lnTo>
                <a:lnTo>
                  <a:pt x="418836" y="0"/>
                </a:lnTo>
                <a:lnTo>
                  <a:pt x="0" y="0"/>
                </a:lnTo>
                <a:lnTo>
                  <a:pt x="0" y="358558"/>
                </a:lnTo>
                <a:close/>
              </a:path>
            </a:pathLst>
          </a:custGeom>
          <a:ln w="5270">
            <a:solidFill>
              <a:srgbClr val="231F20"/>
            </a:solidFill>
          </a:ln>
        </p:spPr>
        <p:txBody>
          <a:bodyPr wrap="square" lIns="0" tIns="0" rIns="0" bIns="0" rtlCol="0"/>
          <a:lstStyle/>
          <a:p>
            <a:endParaRPr/>
          </a:p>
        </p:txBody>
      </p:sp>
      <p:sp>
        <p:nvSpPr>
          <p:cNvPr id="15" name="object 15"/>
          <p:cNvSpPr txBox="1"/>
          <p:nvPr/>
        </p:nvSpPr>
        <p:spPr>
          <a:xfrm>
            <a:off x="1266916" y="2102804"/>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16" name="object 16"/>
          <p:cNvSpPr txBox="1"/>
          <p:nvPr/>
        </p:nvSpPr>
        <p:spPr>
          <a:xfrm>
            <a:off x="3083109" y="1611602"/>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17" name="object 17"/>
          <p:cNvSpPr txBox="1"/>
          <p:nvPr/>
        </p:nvSpPr>
        <p:spPr>
          <a:xfrm>
            <a:off x="3093650" y="2585331"/>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a:t>
            </a:r>
            <a:endParaRPr sz="650">
              <a:latin typeface="Arial"/>
              <a:cs typeface="Arial"/>
            </a:endParaRPr>
          </a:p>
        </p:txBody>
      </p:sp>
      <p:sp>
        <p:nvSpPr>
          <p:cNvPr id="18" name="object 18"/>
          <p:cNvSpPr txBox="1"/>
          <p:nvPr/>
        </p:nvSpPr>
        <p:spPr>
          <a:xfrm>
            <a:off x="1681009" y="2042741"/>
            <a:ext cx="3397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Request</a:t>
            </a:r>
            <a:endParaRPr sz="650">
              <a:latin typeface="Arial"/>
              <a:cs typeface="Arial"/>
            </a:endParaRPr>
          </a:p>
        </p:txBody>
      </p:sp>
      <p:sp>
        <p:nvSpPr>
          <p:cNvPr id="19" name="object 19"/>
          <p:cNvSpPr txBox="1"/>
          <p:nvPr/>
        </p:nvSpPr>
        <p:spPr>
          <a:xfrm>
            <a:off x="2687116" y="1982983"/>
            <a:ext cx="478790" cy="220979"/>
          </a:xfrm>
          <a:prstGeom prst="rect">
            <a:avLst/>
          </a:prstGeom>
        </p:spPr>
        <p:txBody>
          <a:bodyPr vert="horz" wrap="square" lIns="0" tIns="21590" rIns="0" bIns="0" rtlCol="0">
            <a:spAutoFit/>
          </a:bodyPr>
          <a:lstStyle/>
          <a:p>
            <a:pPr marL="12700" marR="5080" indent="69215">
              <a:lnSpc>
                <a:spcPts val="740"/>
              </a:lnSpc>
              <a:spcBef>
                <a:spcPts val="170"/>
              </a:spcBef>
            </a:pPr>
            <a:r>
              <a:rPr sz="650" spc="5" dirty="0">
                <a:solidFill>
                  <a:srgbClr val="231F20"/>
                </a:solidFill>
                <a:latin typeface="Arial"/>
                <a:cs typeface="Arial"/>
              </a:rPr>
              <a:t>Request </a:t>
            </a:r>
            <a:r>
              <a:rPr sz="650" spc="10" dirty="0">
                <a:solidFill>
                  <a:srgbClr val="231F20"/>
                </a:solidFill>
                <a:latin typeface="Arial"/>
                <a:cs typeface="Arial"/>
              </a:rPr>
              <a:t> </a:t>
            </a:r>
            <a:r>
              <a:rPr sz="650" spc="5" dirty="0">
                <a:solidFill>
                  <a:srgbClr val="231F20"/>
                </a:solidFill>
                <a:latin typeface="Arial"/>
                <a:cs typeface="Arial"/>
              </a:rPr>
              <a:t>(handed</a:t>
            </a:r>
            <a:r>
              <a:rPr sz="650" dirty="0">
                <a:solidFill>
                  <a:srgbClr val="231F20"/>
                </a:solidFill>
                <a:latin typeface="Arial"/>
                <a:cs typeface="Arial"/>
              </a:rPr>
              <a:t> </a:t>
            </a:r>
            <a:r>
              <a:rPr sz="650" spc="5" dirty="0">
                <a:solidFill>
                  <a:srgbClr val="231F20"/>
                </a:solidFill>
                <a:latin typeface="Arial"/>
                <a:cs typeface="Arial"/>
              </a:rPr>
              <a:t>o</a:t>
            </a:r>
            <a:r>
              <a:rPr sz="650" spc="-15" dirty="0">
                <a:solidFill>
                  <a:srgbClr val="231F20"/>
                </a:solidFill>
                <a:latin typeface="Arial"/>
                <a:cs typeface="Arial"/>
              </a:rPr>
              <a:t>f</a:t>
            </a:r>
            <a:r>
              <a:rPr sz="650" dirty="0">
                <a:solidFill>
                  <a:srgbClr val="231F20"/>
                </a:solidFill>
                <a:latin typeface="Arial"/>
                <a:cs typeface="Arial"/>
              </a:rPr>
              <a:t>f)</a:t>
            </a:r>
            <a:endParaRPr sz="650">
              <a:latin typeface="Arial"/>
              <a:cs typeface="Arial"/>
            </a:endParaRPr>
          </a:p>
        </p:txBody>
      </p:sp>
      <p:sp>
        <p:nvSpPr>
          <p:cNvPr id="20" name="object 20"/>
          <p:cNvSpPr txBox="1"/>
          <p:nvPr/>
        </p:nvSpPr>
        <p:spPr>
          <a:xfrm>
            <a:off x="2426781" y="1546186"/>
            <a:ext cx="40513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Response</a:t>
            </a:r>
            <a:endParaRPr sz="650">
              <a:latin typeface="Arial"/>
              <a:cs typeface="Arial"/>
            </a:endParaRPr>
          </a:p>
        </p:txBody>
      </p:sp>
      <p:sp>
        <p:nvSpPr>
          <p:cNvPr id="21" name="object 21"/>
          <p:cNvSpPr txBox="1"/>
          <p:nvPr/>
        </p:nvSpPr>
        <p:spPr>
          <a:xfrm>
            <a:off x="1168702" y="1489961"/>
            <a:ext cx="436880" cy="315595"/>
          </a:xfrm>
          <a:prstGeom prst="rect">
            <a:avLst/>
          </a:prstGeom>
        </p:spPr>
        <p:txBody>
          <a:bodyPr vert="horz" wrap="square" lIns="0" tIns="21590" rIns="0" bIns="0" rtlCol="0">
            <a:spAutoFit/>
          </a:bodyPr>
          <a:lstStyle/>
          <a:p>
            <a:pPr marL="12700" marR="5080" indent="6985" algn="just">
              <a:lnSpc>
                <a:spcPts val="740"/>
              </a:lnSpc>
              <a:spcBef>
                <a:spcPts val="170"/>
              </a:spcBef>
            </a:pPr>
            <a:r>
              <a:rPr sz="650" spc="5" dirty="0">
                <a:solidFill>
                  <a:srgbClr val="231F20"/>
                </a:solidFill>
                <a:latin typeface="Arial"/>
                <a:cs typeface="Arial"/>
              </a:rPr>
              <a:t>Logically a  single</a:t>
            </a:r>
            <a:r>
              <a:rPr sz="650" spc="-10" dirty="0">
                <a:solidFill>
                  <a:srgbClr val="231F20"/>
                </a:solidFill>
                <a:latin typeface="Arial"/>
                <a:cs typeface="Arial"/>
              </a:rPr>
              <a:t> </a:t>
            </a:r>
            <a:r>
              <a:rPr sz="650" spc="5" dirty="0">
                <a:solidFill>
                  <a:srgbClr val="231F20"/>
                </a:solidFill>
                <a:latin typeface="Arial"/>
                <a:cs typeface="Arial"/>
              </a:rPr>
              <a:t>TCP  connection</a:t>
            </a:r>
            <a:endParaRPr sz="650">
              <a:latin typeface="Arial"/>
              <a:cs typeface="Arial"/>
            </a:endParaRPr>
          </a:p>
        </p:txBody>
      </p:sp>
      <p:grpSp>
        <p:nvGrpSpPr>
          <p:cNvPr id="22" name="object 22"/>
          <p:cNvGrpSpPr/>
          <p:nvPr/>
        </p:nvGrpSpPr>
        <p:grpSpPr>
          <a:xfrm>
            <a:off x="1626625" y="1644118"/>
            <a:ext cx="1631314" cy="722630"/>
            <a:chOff x="1626625" y="1644118"/>
            <a:chExt cx="1631314" cy="722630"/>
          </a:xfrm>
        </p:grpSpPr>
        <p:sp>
          <p:nvSpPr>
            <p:cNvPr id="23" name="object 23"/>
            <p:cNvSpPr/>
            <p:nvPr/>
          </p:nvSpPr>
          <p:spPr>
            <a:xfrm>
              <a:off x="1626625" y="1646753"/>
              <a:ext cx="1236980" cy="523240"/>
            </a:xfrm>
            <a:custGeom>
              <a:avLst/>
              <a:gdLst/>
              <a:ahLst/>
              <a:cxnLst/>
              <a:rect l="l" t="t" r="r" b="b"/>
              <a:pathLst>
                <a:path w="1236980" h="523239">
                  <a:moveTo>
                    <a:pt x="239037" y="0"/>
                  </a:moveTo>
                  <a:lnTo>
                    <a:pt x="577722" y="41512"/>
                  </a:lnTo>
                  <a:lnTo>
                    <a:pt x="900398" y="132838"/>
                  </a:lnTo>
                  <a:lnTo>
                    <a:pt x="1141837" y="224165"/>
                  </a:lnTo>
                  <a:lnTo>
                    <a:pt x="1236812" y="265677"/>
                  </a:lnTo>
                </a:path>
                <a:path w="1236980" h="523239">
                  <a:moveTo>
                    <a:pt x="239037" y="0"/>
                  </a:moveTo>
                  <a:lnTo>
                    <a:pt x="462715" y="94304"/>
                  </a:lnTo>
                  <a:lnTo>
                    <a:pt x="532377" y="272647"/>
                  </a:lnTo>
                  <a:lnTo>
                    <a:pt x="520802" y="445389"/>
                  </a:lnTo>
                  <a:lnTo>
                    <a:pt x="500771" y="522890"/>
                  </a:lnTo>
                </a:path>
                <a:path w="1236980" h="523239">
                  <a:moveTo>
                    <a:pt x="239037" y="0"/>
                  </a:moveTo>
                  <a:lnTo>
                    <a:pt x="475365" y="40938"/>
                  </a:lnTo>
                  <a:lnTo>
                    <a:pt x="616555" y="101877"/>
                  </a:lnTo>
                  <a:lnTo>
                    <a:pt x="684912" y="157214"/>
                  </a:lnTo>
                  <a:lnTo>
                    <a:pt x="702742" y="181349"/>
                  </a:lnTo>
                </a:path>
                <a:path w="1236980" h="523239">
                  <a:moveTo>
                    <a:pt x="239037" y="0"/>
                  </a:moveTo>
                  <a:lnTo>
                    <a:pt x="0" y="0"/>
                  </a:lnTo>
                </a:path>
              </a:pathLst>
            </a:custGeom>
            <a:ln w="5270">
              <a:solidFill>
                <a:srgbClr val="231F20"/>
              </a:solidFill>
              <a:prstDash val="lgDash"/>
            </a:ln>
          </p:spPr>
          <p:txBody>
            <a:bodyPr wrap="square" lIns="0" tIns="0" rIns="0" bIns="0" rtlCol="0"/>
            <a:lstStyle/>
            <a:p>
              <a:endParaRPr/>
            </a:p>
          </p:txBody>
        </p:sp>
        <p:sp>
          <p:nvSpPr>
            <p:cNvPr id="24" name="object 24"/>
            <p:cNvSpPr/>
            <p:nvPr/>
          </p:nvSpPr>
          <p:spPr>
            <a:xfrm>
              <a:off x="3225205" y="1975426"/>
              <a:ext cx="30480" cy="30480"/>
            </a:xfrm>
            <a:custGeom>
              <a:avLst/>
              <a:gdLst/>
              <a:ahLst/>
              <a:cxnLst/>
              <a:rect l="l" t="t" r="r" b="b"/>
              <a:pathLst>
                <a:path w="30479" h="30480">
                  <a:moveTo>
                    <a:pt x="23169" y="0"/>
                  </a:moveTo>
                  <a:lnTo>
                    <a:pt x="14936" y="0"/>
                  </a:lnTo>
                  <a:lnTo>
                    <a:pt x="6704" y="0"/>
                  </a:lnTo>
                  <a:lnTo>
                    <a:pt x="0" y="6711"/>
                  </a:lnTo>
                  <a:lnTo>
                    <a:pt x="0" y="23170"/>
                  </a:lnTo>
                  <a:lnTo>
                    <a:pt x="6704" y="29881"/>
                  </a:lnTo>
                  <a:lnTo>
                    <a:pt x="23169" y="29881"/>
                  </a:lnTo>
                  <a:lnTo>
                    <a:pt x="29873" y="23170"/>
                  </a:lnTo>
                  <a:lnTo>
                    <a:pt x="29873" y="6711"/>
                  </a:lnTo>
                  <a:lnTo>
                    <a:pt x="23169" y="0"/>
                  </a:lnTo>
                  <a:close/>
                </a:path>
              </a:pathLst>
            </a:custGeom>
            <a:solidFill>
              <a:srgbClr val="231F20"/>
            </a:solidFill>
          </p:spPr>
          <p:txBody>
            <a:bodyPr wrap="square" lIns="0" tIns="0" rIns="0" bIns="0" rtlCol="0"/>
            <a:lstStyle/>
            <a:p>
              <a:endParaRPr/>
            </a:p>
          </p:txBody>
        </p:sp>
        <p:sp>
          <p:nvSpPr>
            <p:cNvPr id="25" name="object 25"/>
            <p:cNvSpPr/>
            <p:nvPr/>
          </p:nvSpPr>
          <p:spPr>
            <a:xfrm>
              <a:off x="3225205" y="1975426"/>
              <a:ext cx="30480" cy="30480"/>
            </a:xfrm>
            <a:custGeom>
              <a:avLst/>
              <a:gdLst/>
              <a:ahLst/>
              <a:cxnLst/>
              <a:rect l="l" t="t" r="r" b="b"/>
              <a:pathLst>
                <a:path w="30479" h="30480">
                  <a:moveTo>
                    <a:pt x="14936" y="0"/>
                  </a:moveTo>
                  <a:lnTo>
                    <a:pt x="23169" y="0"/>
                  </a:lnTo>
                  <a:lnTo>
                    <a:pt x="29873" y="6711"/>
                  </a:lnTo>
                  <a:lnTo>
                    <a:pt x="29873" y="14938"/>
                  </a:lnTo>
                  <a:lnTo>
                    <a:pt x="29873" y="23170"/>
                  </a:lnTo>
                  <a:lnTo>
                    <a:pt x="23169" y="29881"/>
                  </a:lnTo>
                  <a:lnTo>
                    <a:pt x="14936" y="29881"/>
                  </a:lnTo>
                  <a:lnTo>
                    <a:pt x="6704" y="29881"/>
                  </a:lnTo>
                  <a:lnTo>
                    <a:pt x="0" y="23170"/>
                  </a:lnTo>
                  <a:lnTo>
                    <a:pt x="0" y="14938"/>
                  </a:lnTo>
                  <a:lnTo>
                    <a:pt x="0" y="6711"/>
                  </a:lnTo>
                  <a:lnTo>
                    <a:pt x="6704" y="0"/>
                  </a:lnTo>
                  <a:lnTo>
                    <a:pt x="14936" y="0"/>
                  </a:lnTo>
                  <a:close/>
                </a:path>
              </a:pathLst>
            </a:custGeom>
            <a:ln w="5270">
              <a:solidFill>
                <a:srgbClr val="231F20"/>
              </a:solidFill>
            </a:ln>
          </p:spPr>
          <p:txBody>
            <a:bodyPr wrap="square" lIns="0" tIns="0" rIns="0" bIns="0" rtlCol="0"/>
            <a:lstStyle/>
            <a:p>
              <a:endParaRPr/>
            </a:p>
          </p:txBody>
        </p:sp>
        <p:sp>
          <p:nvSpPr>
            <p:cNvPr id="26" name="object 26"/>
            <p:cNvSpPr/>
            <p:nvPr/>
          </p:nvSpPr>
          <p:spPr>
            <a:xfrm>
              <a:off x="3225205" y="2094947"/>
              <a:ext cx="30480" cy="30480"/>
            </a:xfrm>
            <a:custGeom>
              <a:avLst/>
              <a:gdLst/>
              <a:ahLst/>
              <a:cxnLst/>
              <a:rect l="l" t="t" r="r" b="b"/>
              <a:pathLst>
                <a:path w="30479" h="30480">
                  <a:moveTo>
                    <a:pt x="23169" y="0"/>
                  </a:moveTo>
                  <a:lnTo>
                    <a:pt x="14936" y="0"/>
                  </a:lnTo>
                  <a:lnTo>
                    <a:pt x="6704" y="0"/>
                  </a:lnTo>
                  <a:lnTo>
                    <a:pt x="0" y="6711"/>
                  </a:lnTo>
                  <a:lnTo>
                    <a:pt x="0" y="23169"/>
                  </a:lnTo>
                  <a:lnTo>
                    <a:pt x="6704" y="29877"/>
                  </a:lnTo>
                  <a:lnTo>
                    <a:pt x="23169" y="29877"/>
                  </a:lnTo>
                  <a:lnTo>
                    <a:pt x="29873" y="23169"/>
                  </a:lnTo>
                  <a:lnTo>
                    <a:pt x="29873" y="6711"/>
                  </a:lnTo>
                  <a:lnTo>
                    <a:pt x="23169" y="0"/>
                  </a:lnTo>
                  <a:close/>
                </a:path>
              </a:pathLst>
            </a:custGeom>
            <a:solidFill>
              <a:srgbClr val="231F20"/>
            </a:solidFill>
          </p:spPr>
          <p:txBody>
            <a:bodyPr wrap="square" lIns="0" tIns="0" rIns="0" bIns="0" rtlCol="0"/>
            <a:lstStyle/>
            <a:p>
              <a:endParaRPr/>
            </a:p>
          </p:txBody>
        </p:sp>
        <p:sp>
          <p:nvSpPr>
            <p:cNvPr id="27" name="object 27"/>
            <p:cNvSpPr/>
            <p:nvPr/>
          </p:nvSpPr>
          <p:spPr>
            <a:xfrm>
              <a:off x="3225205" y="2094947"/>
              <a:ext cx="30480" cy="30480"/>
            </a:xfrm>
            <a:custGeom>
              <a:avLst/>
              <a:gdLst/>
              <a:ahLst/>
              <a:cxnLst/>
              <a:rect l="l" t="t" r="r" b="b"/>
              <a:pathLst>
                <a:path w="30479" h="30480">
                  <a:moveTo>
                    <a:pt x="14936" y="0"/>
                  </a:moveTo>
                  <a:lnTo>
                    <a:pt x="23169" y="0"/>
                  </a:lnTo>
                  <a:lnTo>
                    <a:pt x="29873" y="6711"/>
                  </a:lnTo>
                  <a:lnTo>
                    <a:pt x="29873" y="14938"/>
                  </a:lnTo>
                  <a:lnTo>
                    <a:pt x="29873" y="23169"/>
                  </a:lnTo>
                  <a:lnTo>
                    <a:pt x="23169" y="29877"/>
                  </a:lnTo>
                  <a:lnTo>
                    <a:pt x="14936" y="29877"/>
                  </a:lnTo>
                  <a:lnTo>
                    <a:pt x="6704" y="29877"/>
                  </a:lnTo>
                  <a:lnTo>
                    <a:pt x="0" y="23169"/>
                  </a:lnTo>
                  <a:lnTo>
                    <a:pt x="0" y="14938"/>
                  </a:lnTo>
                  <a:lnTo>
                    <a:pt x="0" y="6711"/>
                  </a:lnTo>
                  <a:lnTo>
                    <a:pt x="6704" y="0"/>
                  </a:lnTo>
                  <a:lnTo>
                    <a:pt x="14936" y="0"/>
                  </a:lnTo>
                  <a:close/>
                </a:path>
              </a:pathLst>
            </a:custGeom>
            <a:ln w="5270">
              <a:solidFill>
                <a:srgbClr val="231F20"/>
              </a:solidFill>
            </a:ln>
          </p:spPr>
          <p:txBody>
            <a:bodyPr wrap="square" lIns="0" tIns="0" rIns="0" bIns="0" rtlCol="0"/>
            <a:lstStyle/>
            <a:p>
              <a:endParaRPr/>
            </a:p>
          </p:txBody>
        </p:sp>
        <p:sp>
          <p:nvSpPr>
            <p:cNvPr id="28" name="object 28"/>
            <p:cNvSpPr/>
            <p:nvPr/>
          </p:nvSpPr>
          <p:spPr>
            <a:xfrm>
              <a:off x="3225205" y="2214464"/>
              <a:ext cx="30480" cy="30480"/>
            </a:xfrm>
            <a:custGeom>
              <a:avLst/>
              <a:gdLst/>
              <a:ahLst/>
              <a:cxnLst/>
              <a:rect l="l" t="t" r="r" b="b"/>
              <a:pathLst>
                <a:path w="30479" h="30480">
                  <a:moveTo>
                    <a:pt x="23169" y="0"/>
                  </a:moveTo>
                  <a:lnTo>
                    <a:pt x="14936" y="0"/>
                  </a:lnTo>
                  <a:lnTo>
                    <a:pt x="6704" y="0"/>
                  </a:lnTo>
                  <a:lnTo>
                    <a:pt x="0" y="6715"/>
                  </a:lnTo>
                  <a:lnTo>
                    <a:pt x="0" y="23169"/>
                  </a:lnTo>
                  <a:lnTo>
                    <a:pt x="6704" y="29884"/>
                  </a:lnTo>
                  <a:lnTo>
                    <a:pt x="23169" y="29884"/>
                  </a:lnTo>
                  <a:lnTo>
                    <a:pt x="29873" y="23169"/>
                  </a:lnTo>
                  <a:lnTo>
                    <a:pt x="29873" y="6715"/>
                  </a:lnTo>
                  <a:lnTo>
                    <a:pt x="23169" y="0"/>
                  </a:lnTo>
                  <a:close/>
                </a:path>
              </a:pathLst>
            </a:custGeom>
            <a:solidFill>
              <a:srgbClr val="231F20"/>
            </a:solidFill>
          </p:spPr>
          <p:txBody>
            <a:bodyPr wrap="square" lIns="0" tIns="0" rIns="0" bIns="0" rtlCol="0"/>
            <a:lstStyle/>
            <a:p>
              <a:endParaRPr/>
            </a:p>
          </p:txBody>
        </p:sp>
        <p:sp>
          <p:nvSpPr>
            <p:cNvPr id="29" name="object 29"/>
            <p:cNvSpPr/>
            <p:nvPr/>
          </p:nvSpPr>
          <p:spPr>
            <a:xfrm>
              <a:off x="3225205" y="2214464"/>
              <a:ext cx="30480" cy="30480"/>
            </a:xfrm>
            <a:custGeom>
              <a:avLst/>
              <a:gdLst/>
              <a:ahLst/>
              <a:cxnLst/>
              <a:rect l="l" t="t" r="r" b="b"/>
              <a:pathLst>
                <a:path w="30479" h="30480">
                  <a:moveTo>
                    <a:pt x="14936" y="0"/>
                  </a:moveTo>
                  <a:lnTo>
                    <a:pt x="23169" y="0"/>
                  </a:lnTo>
                  <a:lnTo>
                    <a:pt x="29873" y="6715"/>
                  </a:lnTo>
                  <a:lnTo>
                    <a:pt x="29873" y="14941"/>
                  </a:lnTo>
                  <a:lnTo>
                    <a:pt x="29873" y="23169"/>
                  </a:lnTo>
                  <a:lnTo>
                    <a:pt x="23169" y="29884"/>
                  </a:lnTo>
                  <a:lnTo>
                    <a:pt x="14936" y="29884"/>
                  </a:lnTo>
                  <a:lnTo>
                    <a:pt x="6704" y="29884"/>
                  </a:lnTo>
                  <a:lnTo>
                    <a:pt x="0" y="23169"/>
                  </a:lnTo>
                  <a:lnTo>
                    <a:pt x="0" y="14941"/>
                  </a:lnTo>
                  <a:lnTo>
                    <a:pt x="0" y="6715"/>
                  </a:lnTo>
                  <a:lnTo>
                    <a:pt x="6704" y="0"/>
                  </a:lnTo>
                  <a:lnTo>
                    <a:pt x="14936" y="0"/>
                  </a:lnTo>
                  <a:close/>
                </a:path>
              </a:pathLst>
            </a:custGeom>
            <a:ln w="5270">
              <a:solidFill>
                <a:srgbClr val="231F20"/>
              </a:solidFill>
            </a:ln>
          </p:spPr>
          <p:txBody>
            <a:bodyPr wrap="square" lIns="0" tIns="0" rIns="0" bIns="0" rtlCol="0"/>
            <a:lstStyle/>
            <a:p>
              <a:endParaRPr/>
            </a:p>
          </p:txBody>
        </p:sp>
        <p:sp>
          <p:nvSpPr>
            <p:cNvPr id="30" name="object 30"/>
            <p:cNvSpPr/>
            <p:nvPr/>
          </p:nvSpPr>
          <p:spPr>
            <a:xfrm>
              <a:off x="3225205" y="2333988"/>
              <a:ext cx="30480" cy="30480"/>
            </a:xfrm>
            <a:custGeom>
              <a:avLst/>
              <a:gdLst/>
              <a:ahLst/>
              <a:cxnLst/>
              <a:rect l="l" t="t" r="r" b="b"/>
              <a:pathLst>
                <a:path w="30479" h="30480">
                  <a:moveTo>
                    <a:pt x="23169" y="0"/>
                  </a:moveTo>
                  <a:lnTo>
                    <a:pt x="14936" y="0"/>
                  </a:lnTo>
                  <a:lnTo>
                    <a:pt x="6704" y="0"/>
                  </a:lnTo>
                  <a:lnTo>
                    <a:pt x="0" y="6707"/>
                  </a:lnTo>
                  <a:lnTo>
                    <a:pt x="0" y="23170"/>
                  </a:lnTo>
                  <a:lnTo>
                    <a:pt x="6704" y="29877"/>
                  </a:lnTo>
                  <a:lnTo>
                    <a:pt x="23169" y="29877"/>
                  </a:lnTo>
                  <a:lnTo>
                    <a:pt x="29873" y="23170"/>
                  </a:lnTo>
                  <a:lnTo>
                    <a:pt x="29873" y="6707"/>
                  </a:lnTo>
                  <a:lnTo>
                    <a:pt x="23169" y="0"/>
                  </a:lnTo>
                  <a:close/>
                </a:path>
              </a:pathLst>
            </a:custGeom>
            <a:solidFill>
              <a:srgbClr val="231F20"/>
            </a:solidFill>
          </p:spPr>
          <p:txBody>
            <a:bodyPr wrap="square" lIns="0" tIns="0" rIns="0" bIns="0" rtlCol="0"/>
            <a:lstStyle/>
            <a:p>
              <a:endParaRPr/>
            </a:p>
          </p:txBody>
        </p:sp>
        <p:sp>
          <p:nvSpPr>
            <p:cNvPr id="31" name="object 31"/>
            <p:cNvSpPr/>
            <p:nvPr/>
          </p:nvSpPr>
          <p:spPr>
            <a:xfrm>
              <a:off x="3225205" y="2333988"/>
              <a:ext cx="30480" cy="30480"/>
            </a:xfrm>
            <a:custGeom>
              <a:avLst/>
              <a:gdLst/>
              <a:ahLst/>
              <a:cxnLst/>
              <a:rect l="l" t="t" r="r" b="b"/>
              <a:pathLst>
                <a:path w="30479" h="30480">
                  <a:moveTo>
                    <a:pt x="14936" y="0"/>
                  </a:moveTo>
                  <a:lnTo>
                    <a:pt x="23169" y="0"/>
                  </a:lnTo>
                  <a:lnTo>
                    <a:pt x="29873" y="6707"/>
                  </a:lnTo>
                  <a:lnTo>
                    <a:pt x="29873" y="14938"/>
                  </a:lnTo>
                  <a:lnTo>
                    <a:pt x="29873" y="23170"/>
                  </a:lnTo>
                  <a:lnTo>
                    <a:pt x="23169" y="29877"/>
                  </a:lnTo>
                  <a:lnTo>
                    <a:pt x="14936" y="29877"/>
                  </a:lnTo>
                  <a:lnTo>
                    <a:pt x="6704" y="29877"/>
                  </a:lnTo>
                  <a:lnTo>
                    <a:pt x="0" y="23170"/>
                  </a:lnTo>
                  <a:lnTo>
                    <a:pt x="0" y="14938"/>
                  </a:lnTo>
                  <a:lnTo>
                    <a:pt x="0" y="6707"/>
                  </a:lnTo>
                  <a:lnTo>
                    <a:pt x="6704" y="0"/>
                  </a:lnTo>
                  <a:lnTo>
                    <a:pt x="14936" y="0"/>
                  </a:lnTo>
                  <a:close/>
                </a:path>
              </a:pathLst>
            </a:custGeom>
            <a:ln w="5270">
              <a:solidFill>
                <a:srgbClr val="231F20"/>
              </a:solidFill>
            </a:ln>
          </p:spPr>
          <p:txBody>
            <a:bodyPr wrap="square" lIns="0" tIns="0" rIns="0" bIns="0" rtlCol="0"/>
            <a:lstStyle/>
            <a:p>
              <a:endParaRPr/>
            </a:p>
          </p:txBody>
        </p:sp>
      </p:grpSp>
      <p:sp>
        <p:nvSpPr>
          <p:cNvPr id="32" name="object 32"/>
          <p:cNvSpPr txBox="1"/>
          <p:nvPr/>
        </p:nvSpPr>
        <p:spPr>
          <a:xfrm>
            <a:off x="66713" y="3331252"/>
            <a:ext cx="66675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5" action="ppaction://hlinksldjump"/>
              </a:rPr>
              <a:t>Local-area</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clusters</a:t>
            </a:r>
            <a:endParaRPr sz="600">
              <a:latin typeface="Arial"/>
              <a:cs typeface="Arial"/>
            </a:endParaRPr>
          </a:p>
        </p:txBody>
      </p:sp>
      <p:sp>
        <p:nvSpPr>
          <p:cNvPr id="33" name="object 3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33</a:t>
            </a:r>
            <a:r>
              <a:rPr spc="-40" dirty="0"/>
              <a:t> </a:t>
            </a:r>
            <a:r>
              <a:rPr spc="-5" dirty="0"/>
              <a:t>/</a:t>
            </a:r>
            <a:r>
              <a:rPr spc="-35" dirty="0"/>
              <a:t> </a:t>
            </a:r>
            <a:r>
              <a:rPr spc="-5" dirty="0"/>
              <a:t>47</a:t>
            </a:r>
          </a:p>
        </p:txBody>
      </p:sp>
    </p:spTree>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54779"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Server</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3" name="object 3"/>
          <p:cNvSpPr txBox="1">
            <a:spLocks noGrp="1"/>
          </p:cNvSpPr>
          <p:nvPr>
            <p:ph type="title"/>
          </p:nvPr>
        </p:nvSpPr>
        <p:spPr>
          <a:xfrm>
            <a:off x="95300" y="188846"/>
            <a:ext cx="1241425" cy="244475"/>
          </a:xfrm>
          <a:prstGeom prst="rect">
            <a:avLst/>
          </a:prstGeom>
        </p:spPr>
        <p:txBody>
          <a:bodyPr vert="horz" wrap="square" lIns="0" tIns="17145" rIns="0" bIns="0" rtlCol="0">
            <a:spAutoFit/>
          </a:bodyPr>
          <a:lstStyle/>
          <a:p>
            <a:pPr marL="12700">
              <a:lnSpc>
                <a:spcPct val="100000"/>
              </a:lnSpc>
              <a:spcBef>
                <a:spcPts val="135"/>
              </a:spcBef>
            </a:pPr>
            <a:r>
              <a:rPr spc="15" dirty="0"/>
              <a:t>Server</a:t>
            </a:r>
            <a:r>
              <a:rPr spc="-35" dirty="0"/>
              <a:t> </a:t>
            </a:r>
            <a:r>
              <a:rPr spc="10" dirty="0"/>
              <a:t>clusters</a:t>
            </a:r>
          </a:p>
        </p:txBody>
      </p:sp>
      <p:sp>
        <p:nvSpPr>
          <p:cNvPr id="4" name="object 4"/>
          <p:cNvSpPr txBox="1"/>
          <p:nvPr/>
        </p:nvSpPr>
        <p:spPr>
          <a:xfrm>
            <a:off x="2535067" y="2165994"/>
            <a:ext cx="438150" cy="239395"/>
          </a:xfrm>
          <a:prstGeom prst="rect">
            <a:avLst/>
          </a:prstGeom>
        </p:spPr>
        <p:txBody>
          <a:bodyPr vert="horz" wrap="square" lIns="0" tIns="12065" rIns="0" bIns="0" rtlCol="0">
            <a:spAutoFit/>
          </a:bodyPr>
          <a:lstStyle/>
          <a:p>
            <a:pPr marL="96520" marR="5080" indent="-84455">
              <a:lnSpc>
                <a:spcPct val="107900"/>
              </a:lnSpc>
              <a:spcBef>
                <a:spcPts val="95"/>
              </a:spcBef>
            </a:pPr>
            <a:r>
              <a:rPr sz="650" spc="5" dirty="0">
                <a:solidFill>
                  <a:srgbClr val="231F20"/>
                </a:solidFill>
                <a:latin typeface="Arial"/>
                <a:cs typeface="Arial"/>
              </a:rPr>
              <a:t>Application  server</a:t>
            </a:r>
            <a:endParaRPr sz="650">
              <a:latin typeface="Arial"/>
              <a:cs typeface="Arial"/>
            </a:endParaRPr>
          </a:p>
        </p:txBody>
      </p:sp>
      <p:sp>
        <p:nvSpPr>
          <p:cNvPr id="5" name="object 5"/>
          <p:cNvSpPr txBox="1"/>
          <p:nvPr/>
        </p:nvSpPr>
        <p:spPr>
          <a:xfrm>
            <a:off x="2532320" y="3249419"/>
            <a:ext cx="438150" cy="239395"/>
          </a:xfrm>
          <a:prstGeom prst="rect">
            <a:avLst/>
          </a:prstGeom>
        </p:spPr>
        <p:txBody>
          <a:bodyPr vert="horz" wrap="square" lIns="0" tIns="12065" rIns="0" bIns="0" rtlCol="0">
            <a:spAutoFit/>
          </a:bodyPr>
          <a:lstStyle/>
          <a:p>
            <a:pPr marL="96520" marR="5080" indent="-84455">
              <a:lnSpc>
                <a:spcPct val="107900"/>
              </a:lnSpc>
              <a:spcBef>
                <a:spcPts val="95"/>
              </a:spcBef>
            </a:pPr>
            <a:r>
              <a:rPr sz="650" spc="5" dirty="0">
                <a:solidFill>
                  <a:srgbClr val="231F20"/>
                </a:solidFill>
                <a:latin typeface="Arial"/>
                <a:cs typeface="Arial"/>
              </a:rPr>
              <a:t>Application  server</a:t>
            </a:r>
            <a:endParaRPr sz="650">
              <a:latin typeface="Arial"/>
              <a:cs typeface="Arial"/>
            </a:endParaRPr>
          </a:p>
        </p:txBody>
      </p:sp>
      <p:sp>
        <p:nvSpPr>
          <p:cNvPr id="6" name="object 6"/>
          <p:cNvSpPr txBox="1"/>
          <p:nvPr/>
        </p:nvSpPr>
        <p:spPr>
          <a:xfrm>
            <a:off x="1840954" y="2769761"/>
            <a:ext cx="27432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Switch</a:t>
            </a:r>
            <a:endParaRPr sz="650">
              <a:latin typeface="Arial"/>
              <a:cs typeface="Arial"/>
            </a:endParaRPr>
          </a:p>
        </p:txBody>
      </p:sp>
      <p:sp>
        <p:nvSpPr>
          <p:cNvPr id="7" name="object 7"/>
          <p:cNvSpPr/>
          <p:nvPr/>
        </p:nvSpPr>
        <p:spPr>
          <a:xfrm>
            <a:off x="2512802" y="3195163"/>
            <a:ext cx="476884" cy="260985"/>
          </a:xfrm>
          <a:custGeom>
            <a:avLst/>
            <a:gdLst/>
            <a:ahLst/>
            <a:cxnLst/>
            <a:rect l="l" t="t" r="r" b="b"/>
            <a:pathLst>
              <a:path w="476885" h="260985">
                <a:moveTo>
                  <a:pt x="476531" y="260837"/>
                </a:moveTo>
                <a:lnTo>
                  <a:pt x="476531" y="0"/>
                </a:lnTo>
                <a:lnTo>
                  <a:pt x="0" y="0"/>
                </a:lnTo>
                <a:lnTo>
                  <a:pt x="0" y="260837"/>
                </a:lnTo>
              </a:path>
            </a:pathLst>
          </a:custGeom>
          <a:ln w="5270">
            <a:solidFill>
              <a:srgbClr val="231F20"/>
            </a:solidFill>
          </a:ln>
        </p:spPr>
        <p:txBody>
          <a:bodyPr wrap="square" lIns="0" tIns="0" rIns="0" bIns="0" rtlCol="0"/>
          <a:lstStyle/>
          <a:p>
            <a:endParaRPr/>
          </a:p>
        </p:txBody>
      </p:sp>
      <p:grpSp>
        <p:nvGrpSpPr>
          <p:cNvPr id="8" name="object 8"/>
          <p:cNvGrpSpPr/>
          <p:nvPr/>
        </p:nvGrpSpPr>
        <p:grpSpPr>
          <a:xfrm>
            <a:off x="717151" y="2116627"/>
            <a:ext cx="3053715" cy="1020444"/>
            <a:chOff x="717151" y="2116627"/>
            <a:chExt cx="3053715" cy="1020444"/>
          </a:xfrm>
        </p:grpSpPr>
        <p:sp>
          <p:nvSpPr>
            <p:cNvPr id="9" name="object 9"/>
            <p:cNvSpPr/>
            <p:nvPr/>
          </p:nvSpPr>
          <p:spPr>
            <a:xfrm>
              <a:off x="720008" y="2657324"/>
              <a:ext cx="1434465" cy="358775"/>
            </a:xfrm>
            <a:custGeom>
              <a:avLst/>
              <a:gdLst/>
              <a:ahLst/>
              <a:cxnLst/>
              <a:rect l="l" t="t" r="r" b="b"/>
              <a:pathLst>
                <a:path w="1434464" h="358775">
                  <a:moveTo>
                    <a:pt x="1075678" y="358558"/>
                  </a:moveTo>
                  <a:lnTo>
                    <a:pt x="1434237" y="358558"/>
                  </a:lnTo>
                  <a:lnTo>
                    <a:pt x="1434237" y="0"/>
                  </a:lnTo>
                  <a:lnTo>
                    <a:pt x="1075678" y="0"/>
                  </a:lnTo>
                  <a:lnTo>
                    <a:pt x="1075678" y="358558"/>
                  </a:lnTo>
                  <a:close/>
                </a:path>
                <a:path w="1434464" h="358775">
                  <a:moveTo>
                    <a:pt x="0" y="358558"/>
                  </a:moveTo>
                  <a:lnTo>
                    <a:pt x="358558" y="358558"/>
                  </a:lnTo>
                  <a:lnTo>
                    <a:pt x="358558" y="0"/>
                  </a:lnTo>
                  <a:lnTo>
                    <a:pt x="0" y="0"/>
                  </a:lnTo>
                  <a:lnTo>
                    <a:pt x="0" y="358558"/>
                  </a:lnTo>
                  <a:close/>
                </a:path>
                <a:path w="1434464" h="358775">
                  <a:moveTo>
                    <a:pt x="358558" y="237691"/>
                  </a:moveTo>
                  <a:lnTo>
                    <a:pt x="1038300" y="237691"/>
                  </a:lnTo>
                </a:path>
              </a:pathLst>
            </a:custGeom>
            <a:ln w="5270">
              <a:solidFill>
                <a:srgbClr val="231F20"/>
              </a:solidFill>
            </a:ln>
          </p:spPr>
          <p:txBody>
            <a:bodyPr wrap="square" lIns="0" tIns="0" rIns="0" bIns="0" rtlCol="0"/>
            <a:lstStyle/>
            <a:p>
              <a:endParaRPr/>
            </a:p>
          </p:txBody>
        </p:sp>
        <p:pic>
          <p:nvPicPr>
            <p:cNvPr id="10" name="object 10"/>
            <p:cNvPicPr/>
            <p:nvPr/>
          </p:nvPicPr>
          <p:blipFill>
            <a:blip r:embed="rId6" cstate="print"/>
            <a:stretch>
              <a:fillRect/>
            </a:stretch>
          </p:blipFill>
          <p:spPr>
            <a:xfrm>
              <a:off x="1721313" y="2863137"/>
              <a:ext cx="74374" cy="63753"/>
            </a:xfrm>
            <a:prstGeom prst="rect">
              <a:avLst/>
            </a:prstGeom>
          </p:spPr>
        </p:pic>
        <p:sp>
          <p:nvSpPr>
            <p:cNvPr id="11" name="object 11"/>
            <p:cNvSpPr/>
            <p:nvPr/>
          </p:nvSpPr>
          <p:spPr>
            <a:xfrm>
              <a:off x="1078567" y="2809361"/>
              <a:ext cx="680085" cy="0"/>
            </a:xfrm>
            <a:custGeom>
              <a:avLst/>
              <a:gdLst/>
              <a:ahLst/>
              <a:cxnLst/>
              <a:rect l="l" t="t" r="r" b="b"/>
              <a:pathLst>
                <a:path w="680085">
                  <a:moveTo>
                    <a:pt x="0" y="0"/>
                  </a:moveTo>
                  <a:lnTo>
                    <a:pt x="679741" y="0"/>
                  </a:lnTo>
                </a:path>
              </a:pathLst>
            </a:custGeom>
            <a:ln w="5270">
              <a:solidFill>
                <a:srgbClr val="231F20"/>
              </a:solidFill>
            </a:ln>
          </p:spPr>
          <p:txBody>
            <a:bodyPr wrap="square" lIns="0" tIns="0" rIns="0" bIns="0" rtlCol="0"/>
            <a:lstStyle/>
            <a:p>
              <a:endParaRPr/>
            </a:p>
          </p:txBody>
        </p:sp>
        <p:pic>
          <p:nvPicPr>
            <p:cNvPr id="12" name="object 12"/>
            <p:cNvPicPr/>
            <p:nvPr/>
          </p:nvPicPr>
          <p:blipFill>
            <a:blip r:embed="rId6" cstate="print"/>
            <a:stretch>
              <a:fillRect/>
            </a:stretch>
          </p:blipFill>
          <p:spPr>
            <a:xfrm>
              <a:off x="1721313" y="2777488"/>
              <a:ext cx="74374" cy="63753"/>
            </a:xfrm>
            <a:prstGeom prst="rect">
              <a:avLst/>
            </a:prstGeom>
          </p:spPr>
        </p:pic>
        <p:sp>
          <p:nvSpPr>
            <p:cNvPr id="13" name="object 13"/>
            <p:cNvSpPr/>
            <p:nvPr/>
          </p:nvSpPr>
          <p:spPr>
            <a:xfrm>
              <a:off x="2154250" y="2119485"/>
              <a:ext cx="835660" cy="568325"/>
            </a:xfrm>
            <a:custGeom>
              <a:avLst/>
              <a:gdLst/>
              <a:ahLst/>
              <a:cxnLst/>
              <a:rect l="l" t="t" r="r" b="b"/>
              <a:pathLst>
                <a:path w="835660" h="568325">
                  <a:moveTo>
                    <a:pt x="358552" y="358562"/>
                  </a:moveTo>
                  <a:lnTo>
                    <a:pt x="835083" y="358562"/>
                  </a:lnTo>
                  <a:lnTo>
                    <a:pt x="835083" y="0"/>
                  </a:lnTo>
                  <a:lnTo>
                    <a:pt x="358552" y="0"/>
                  </a:lnTo>
                  <a:lnTo>
                    <a:pt x="358552" y="358562"/>
                  </a:lnTo>
                  <a:close/>
                </a:path>
                <a:path w="835660" h="568325">
                  <a:moveTo>
                    <a:pt x="358552" y="493020"/>
                  </a:moveTo>
                  <a:lnTo>
                    <a:pt x="835083" y="493020"/>
                  </a:lnTo>
                  <a:lnTo>
                    <a:pt x="835083" y="358560"/>
                  </a:lnTo>
                  <a:lnTo>
                    <a:pt x="358552" y="358560"/>
                  </a:lnTo>
                  <a:lnTo>
                    <a:pt x="358552" y="493020"/>
                  </a:lnTo>
                  <a:close/>
                </a:path>
                <a:path w="835660" h="568325">
                  <a:moveTo>
                    <a:pt x="0" y="567717"/>
                  </a:moveTo>
                  <a:lnTo>
                    <a:pt x="327477" y="322101"/>
                  </a:lnTo>
                </a:path>
              </a:pathLst>
            </a:custGeom>
            <a:ln w="5270">
              <a:solidFill>
                <a:srgbClr val="231F20"/>
              </a:solidFill>
            </a:ln>
          </p:spPr>
          <p:txBody>
            <a:bodyPr wrap="square" lIns="0" tIns="0" rIns="0" bIns="0" rtlCol="0"/>
            <a:lstStyle/>
            <a:p>
              <a:endParaRPr/>
            </a:p>
          </p:txBody>
        </p:sp>
        <p:pic>
          <p:nvPicPr>
            <p:cNvPr id="14" name="object 14"/>
            <p:cNvPicPr/>
            <p:nvPr/>
          </p:nvPicPr>
          <p:blipFill>
            <a:blip r:embed="rId7" cstate="print"/>
            <a:stretch>
              <a:fillRect/>
            </a:stretch>
          </p:blipFill>
          <p:spPr>
            <a:xfrm>
              <a:off x="2433007" y="2419155"/>
              <a:ext cx="78625" cy="70139"/>
            </a:xfrm>
            <a:prstGeom prst="rect">
              <a:avLst/>
            </a:prstGeom>
          </p:spPr>
        </p:pic>
        <p:sp>
          <p:nvSpPr>
            <p:cNvPr id="15" name="object 15"/>
            <p:cNvSpPr/>
            <p:nvPr/>
          </p:nvSpPr>
          <p:spPr>
            <a:xfrm>
              <a:off x="2154250" y="2956121"/>
              <a:ext cx="327660" cy="163830"/>
            </a:xfrm>
            <a:custGeom>
              <a:avLst/>
              <a:gdLst/>
              <a:ahLst/>
              <a:cxnLst/>
              <a:rect l="l" t="t" r="r" b="b"/>
              <a:pathLst>
                <a:path w="327660" h="163830">
                  <a:moveTo>
                    <a:pt x="0" y="0"/>
                  </a:moveTo>
                  <a:lnTo>
                    <a:pt x="327276" y="163649"/>
                  </a:lnTo>
                </a:path>
              </a:pathLst>
            </a:custGeom>
            <a:ln w="5270">
              <a:solidFill>
                <a:srgbClr val="231F20"/>
              </a:solidFill>
            </a:ln>
          </p:spPr>
          <p:txBody>
            <a:bodyPr wrap="square" lIns="0" tIns="0" rIns="0" bIns="0" rtlCol="0"/>
            <a:lstStyle/>
            <a:p>
              <a:endParaRPr/>
            </a:p>
          </p:txBody>
        </p:sp>
        <p:sp>
          <p:nvSpPr>
            <p:cNvPr id="16" name="object 16"/>
            <p:cNvSpPr/>
            <p:nvPr/>
          </p:nvSpPr>
          <p:spPr>
            <a:xfrm>
              <a:off x="2434177" y="3074711"/>
              <a:ext cx="81280" cy="62230"/>
            </a:xfrm>
            <a:custGeom>
              <a:avLst/>
              <a:gdLst/>
              <a:ahLst/>
              <a:cxnLst/>
              <a:rect l="l" t="t" r="r" b="b"/>
              <a:pathLst>
                <a:path w="81280" h="62230">
                  <a:moveTo>
                    <a:pt x="28513" y="0"/>
                  </a:moveTo>
                  <a:lnTo>
                    <a:pt x="26732" y="16927"/>
                  </a:lnTo>
                  <a:lnTo>
                    <a:pt x="21387" y="32073"/>
                  </a:lnTo>
                  <a:lnTo>
                    <a:pt x="12477" y="45437"/>
                  </a:lnTo>
                  <a:lnTo>
                    <a:pt x="0" y="57020"/>
                  </a:lnTo>
                  <a:lnTo>
                    <a:pt x="80786" y="61771"/>
                  </a:lnTo>
                  <a:lnTo>
                    <a:pt x="28513" y="0"/>
                  </a:lnTo>
                  <a:close/>
                </a:path>
              </a:pathLst>
            </a:custGeom>
            <a:solidFill>
              <a:srgbClr val="231F20"/>
            </a:solidFill>
          </p:spPr>
          <p:txBody>
            <a:bodyPr wrap="square" lIns="0" tIns="0" rIns="0" bIns="0" rtlCol="0"/>
            <a:lstStyle/>
            <a:p>
              <a:endParaRPr/>
            </a:p>
          </p:txBody>
        </p:sp>
        <p:sp>
          <p:nvSpPr>
            <p:cNvPr id="17" name="object 17"/>
            <p:cNvSpPr/>
            <p:nvPr/>
          </p:nvSpPr>
          <p:spPr>
            <a:xfrm>
              <a:off x="3025938" y="2657324"/>
              <a:ext cx="742315" cy="445770"/>
            </a:xfrm>
            <a:custGeom>
              <a:avLst/>
              <a:gdLst/>
              <a:ahLst/>
              <a:cxnLst/>
              <a:rect l="l" t="t" r="r" b="b"/>
              <a:pathLst>
                <a:path w="742314" h="445769">
                  <a:moveTo>
                    <a:pt x="383260" y="358558"/>
                  </a:moveTo>
                  <a:lnTo>
                    <a:pt x="741822" y="358558"/>
                  </a:lnTo>
                  <a:lnTo>
                    <a:pt x="741822" y="0"/>
                  </a:lnTo>
                  <a:lnTo>
                    <a:pt x="383260" y="0"/>
                  </a:lnTo>
                  <a:lnTo>
                    <a:pt x="383260" y="358558"/>
                  </a:lnTo>
                  <a:close/>
                </a:path>
                <a:path w="742314" h="445769">
                  <a:moveTo>
                    <a:pt x="347916" y="325881"/>
                  </a:moveTo>
                  <a:lnTo>
                    <a:pt x="0" y="445488"/>
                  </a:lnTo>
                </a:path>
              </a:pathLst>
            </a:custGeom>
            <a:ln w="5270">
              <a:solidFill>
                <a:srgbClr val="231F20"/>
              </a:solidFill>
            </a:ln>
          </p:spPr>
          <p:txBody>
            <a:bodyPr wrap="square" lIns="0" tIns="0" rIns="0" bIns="0" rtlCol="0"/>
            <a:lstStyle/>
            <a:p>
              <a:endParaRPr/>
            </a:p>
          </p:txBody>
        </p:sp>
        <p:sp>
          <p:nvSpPr>
            <p:cNvPr id="18" name="object 18"/>
            <p:cNvSpPr/>
            <p:nvPr/>
          </p:nvSpPr>
          <p:spPr>
            <a:xfrm>
              <a:off x="2990583" y="2965107"/>
              <a:ext cx="419100" cy="156210"/>
            </a:xfrm>
            <a:custGeom>
              <a:avLst/>
              <a:gdLst/>
              <a:ahLst/>
              <a:cxnLst/>
              <a:rect l="l" t="t" r="r" b="b"/>
              <a:pathLst>
                <a:path w="419100" h="156210">
                  <a:moveTo>
                    <a:pt x="80695" y="155829"/>
                  </a:moveTo>
                  <a:lnTo>
                    <a:pt x="69862" y="142697"/>
                  </a:lnTo>
                  <a:lnTo>
                    <a:pt x="62801" y="128270"/>
                  </a:lnTo>
                  <a:lnTo>
                    <a:pt x="59512" y="112547"/>
                  </a:lnTo>
                  <a:lnTo>
                    <a:pt x="59969" y="95542"/>
                  </a:lnTo>
                  <a:lnTo>
                    <a:pt x="0" y="149860"/>
                  </a:lnTo>
                  <a:lnTo>
                    <a:pt x="80695" y="155829"/>
                  </a:lnTo>
                  <a:close/>
                </a:path>
                <a:path w="419100" h="156210">
                  <a:moveTo>
                    <a:pt x="418604" y="5956"/>
                  </a:moveTo>
                  <a:lnTo>
                    <a:pt x="337921" y="0"/>
                  </a:lnTo>
                  <a:lnTo>
                    <a:pt x="348754" y="13119"/>
                  </a:lnTo>
                  <a:lnTo>
                    <a:pt x="355815" y="27546"/>
                  </a:lnTo>
                  <a:lnTo>
                    <a:pt x="359117" y="43268"/>
                  </a:lnTo>
                  <a:lnTo>
                    <a:pt x="358635" y="60286"/>
                  </a:lnTo>
                  <a:lnTo>
                    <a:pt x="418604" y="5956"/>
                  </a:lnTo>
                  <a:close/>
                </a:path>
              </a:pathLst>
            </a:custGeom>
            <a:solidFill>
              <a:srgbClr val="231F20"/>
            </a:solidFill>
          </p:spPr>
          <p:txBody>
            <a:bodyPr wrap="square" lIns="0" tIns="0" rIns="0" bIns="0" rtlCol="0"/>
            <a:lstStyle/>
            <a:p>
              <a:endParaRPr/>
            </a:p>
          </p:txBody>
        </p:sp>
      </p:grpSp>
      <p:sp>
        <p:nvSpPr>
          <p:cNvPr id="19" name="object 19"/>
          <p:cNvSpPr txBox="1"/>
          <p:nvPr/>
        </p:nvSpPr>
        <p:spPr>
          <a:xfrm>
            <a:off x="779135" y="2769760"/>
            <a:ext cx="24130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a:t>
            </a:r>
            <a:endParaRPr sz="650">
              <a:latin typeface="Arial"/>
              <a:cs typeface="Arial"/>
            </a:endParaRPr>
          </a:p>
        </p:txBody>
      </p:sp>
      <p:sp>
        <p:nvSpPr>
          <p:cNvPr id="20" name="object 20"/>
          <p:cNvSpPr txBox="1"/>
          <p:nvPr/>
        </p:nvSpPr>
        <p:spPr>
          <a:xfrm>
            <a:off x="2542413" y="2470659"/>
            <a:ext cx="410209"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Distributor</a:t>
            </a:r>
            <a:endParaRPr sz="650">
              <a:latin typeface="Arial"/>
              <a:cs typeface="Arial"/>
            </a:endParaRPr>
          </a:p>
        </p:txBody>
      </p:sp>
      <p:sp>
        <p:nvSpPr>
          <p:cNvPr id="21" name="object 21"/>
          <p:cNvSpPr txBox="1"/>
          <p:nvPr/>
        </p:nvSpPr>
        <p:spPr>
          <a:xfrm>
            <a:off x="2512802" y="3060702"/>
            <a:ext cx="476884" cy="134620"/>
          </a:xfrm>
          <a:prstGeom prst="rect">
            <a:avLst/>
          </a:prstGeom>
          <a:ln w="5270">
            <a:solidFill>
              <a:srgbClr val="231F20"/>
            </a:solidFill>
          </a:ln>
        </p:spPr>
        <p:txBody>
          <a:bodyPr vert="horz" wrap="square" lIns="0" tIns="6985" rIns="0" bIns="0" rtlCol="0">
            <a:spAutoFit/>
          </a:bodyPr>
          <a:lstStyle/>
          <a:p>
            <a:pPr marL="41910">
              <a:lnSpc>
                <a:spcPct val="100000"/>
              </a:lnSpc>
              <a:spcBef>
                <a:spcPts val="55"/>
              </a:spcBef>
            </a:pPr>
            <a:r>
              <a:rPr sz="650" spc="5" dirty="0">
                <a:solidFill>
                  <a:srgbClr val="231F20"/>
                </a:solidFill>
                <a:latin typeface="Arial"/>
                <a:cs typeface="Arial"/>
              </a:rPr>
              <a:t>Distributor</a:t>
            </a:r>
            <a:endParaRPr sz="650">
              <a:latin typeface="Arial"/>
              <a:cs typeface="Arial"/>
            </a:endParaRPr>
          </a:p>
        </p:txBody>
      </p:sp>
      <p:sp>
        <p:nvSpPr>
          <p:cNvPr id="22" name="object 22"/>
          <p:cNvSpPr txBox="1"/>
          <p:nvPr/>
        </p:nvSpPr>
        <p:spPr>
          <a:xfrm>
            <a:off x="3450113" y="2709697"/>
            <a:ext cx="306705" cy="220979"/>
          </a:xfrm>
          <a:prstGeom prst="rect">
            <a:avLst/>
          </a:prstGeom>
        </p:spPr>
        <p:txBody>
          <a:bodyPr vert="horz" wrap="square" lIns="0" tIns="21590" rIns="0" bIns="0" rtlCol="0">
            <a:spAutoFit/>
          </a:bodyPr>
          <a:lstStyle/>
          <a:p>
            <a:pPr marL="12700" marR="5080" indent="65405">
              <a:lnSpc>
                <a:spcPts val="740"/>
              </a:lnSpc>
              <a:spcBef>
                <a:spcPts val="170"/>
              </a:spcBef>
            </a:pPr>
            <a:r>
              <a:rPr sz="650" spc="5" dirty="0">
                <a:solidFill>
                  <a:srgbClr val="231F20"/>
                </a:solidFill>
                <a:latin typeface="Arial"/>
                <a:cs typeface="Arial"/>
              </a:rPr>
              <a:t>Dis- </a:t>
            </a:r>
            <a:r>
              <a:rPr sz="650" spc="10" dirty="0">
                <a:solidFill>
                  <a:srgbClr val="231F20"/>
                </a:solidFill>
                <a:latin typeface="Arial"/>
                <a:cs typeface="Arial"/>
              </a:rPr>
              <a:t> </a:t>
            </a:r>
            <a:r>
              <a:rPr sz="650" spc="5" dirty="0">
                <a:solidFill>
                  <a:srgbClr val="231F20"/>
                </a:solidFill>
                <a:latin typeface="Arial"/>
                <a:cs typeface="Arial"/>
              </a:rPr>
              <a:t>patcher</a:t>
            </a:r>
            <a:endParaRPr sz="650">
              <a:latin typeface="Arial"/>
              <a:cs typeface="Arial"/>
            </a:endParaRPr>
          </a:p>
        </p:txBody>
      </p:sp>
      <p:sp>
        <p:nvSpPr>
          <p:cNvPr id="23" name="object 23"/>
          <p:cNvSpPr txBox="1"/>
          <p:nvPr/>
        </p:nvSpPr>
        <p:spPr>
          <a:xfrm>
            <a:off x="1538186" y="3060272"/>
            <a:ext cx="83693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1.</a:t>
            </a:r>
            <a:r>
              <a:rPr sz="650" spc="-30" dirty="0">
                <a:solidFill>
                  <a:srgbClr val="231F20"/>
                </a:solidFill>
                <a:latin typeface="Arial"/>
                <a:cs typeface="Arial"/>
              </a:rPr>
              <a:t> </a:t>
            </a:r>
            <a:r>
              <a:rPr sz="650" spc="5" dirty="0">
                <a:solidFill>
                  <a:srgbClr val="231F20"/>
                </a:solidFill>
                <a:latin typeface="Arial"/>
                <a:cs typeface="Arial"/>
              </a:rPr>
              <a:t>Pass</a:t>
            </a:r>
            <a:r>
              <a:rPr sz="650" dirty="0">
                <a:solidFill>
                  <a:srgbClr val="231F20"/>
                </a:solidFill>
                <a:latin typeface="Arial"/>
                <a:cs typeface="Arial"/>
              </a:rPr>
              <a:t> </a:t>
            </a:r>
            <a:r>
              <a:rPr sz="650" spc="5" dirty="0">
                <a:solidFill>
                  <a:srgbClr val="231F20"/>
                </a:solidFill>
                <a:latin typeface="Arial"/>
                <a:cs typeface="Arial"/>
              </a:rPr>
              <a:t>setup</a:t>
            </a:r>
            <a:r>
              <a:rPr sz="650" dirty="0">
                <a:solidFill>
                  <a:srgbClr val="231F20"/>
                </a:solidFill>
                <a:latin typeface="Arial"/>
                <a:cs typeface="Arial"/>
              </a:rPr>
              <a:t> </a:t>
            </a:r>
            <a:r>
              <a:rPr sz="650" spc="5" dirty="0">
                <a:solidFill>
                  <a:srgbClr val="231F20"/>
                </a:solidFill>
                <a:latin typeface="Arial"/>
                <a:cs typeface="Arial"/>
              </a:rPr>
              <a:t>request  to</a:t>
            </a:r>
            <a:r>
              <a:rPr sz="650" spc="-10" dirty="0">
                <a:solidFill>
                  <a:srgbClr val="231F20"/>
                </a:solidFill>
                <a:latin typeface="Arial"/>
                <a:cs typeface="Arial"/>
              </a:rPr>
              <a:t> </a:t>
            </a:r>
            <a:r>
              <a:rPr sz="650" spc="5" dirty="0">
                <a:solidFill>
                  <a:srgbClr val="231F20"/>
                </a:solidFill>
                <a:latin typeface="Arial"/>
                <a:cs typeface="Arial"/>
              </a:rPr>
              <a:t>a</a:t>
            </a:r>
            <a:r>
              <a:rPr sz="650" spc="-10" dirty="0">
                <a:solidFill>
                  <a:srgbClr val="231F20"/>
                </a:solidFill>
                <a:latin typeface="Arial"/>
                <a:cs typeface="Arial"/>
              </a:rPr>
              <a:t> </a:t>
            </a:r>
            <a:r>
              <a:rPr sz="650" spc="5" dirty="0">
                <a:solidFill>
                  <a:srgbClr val="231F20"/>
                </a:solidFill>
                <a:latin typeface="Arial"/>
                <a:cs typeface="Arial"/>
              </a:rPr>
              <a:t>distributor</a:t>
            </a:r>
            <a:endParaRPr sz="650">
              <a:latin typeface="Arial"/>
              <a:cs typeface="Arial"/>
            </a:endParaRPr>
          </a:p>
        </p:txBody>
      </p:sp>
      <p:grpSp>
        <p:nvGrpSpPr>
          <p:cNvPr id="24" name="object 24"/>
          <p:cNvGrpSpPr/>
          <p:nvPr/>
        </p:nvGrpSpPr>
        <p:grpSpPr>
          <a:xfrm>
            <a:off x="2155051" y="2344935"/>
            <a:ext cx="1046480" cy="734060"/>
            <a:chOff x="2155051" y="2344935"/>
            <a:chExt cx="1046480" cy="734060"/>
          </a:xfrm>
        </p:grpSpPr>
        <p:sp>
          <p:nvSpPr>
            <p:cNvPr id="25" name="object 25"/>
            <p:cNvSpPr/>
            <p:nvPr/>
          </p:nvSpPr>
          <p:spPr>
            <a:xfrm>
              <a:off x="2188477" y="2913479"/>
              <a:ext cx="324485" cy="162560"/>
            </a:xfrm>
            <a:custGeom>
              <a:avLst/>
              <a:gdLst/>
              <a:ahLst/>
              <a:cxnLst/>
              <a:rect l="l" t="t" r="r" b="b"/>
              <a:pathLst>
                <a:path w="324485" h="162560">
                  <a:moveTo>
                    <a:pt x="324325" y="162166"/>
                  </a:moveTo>
                  <a:lnTo>
                    <a:pt x="0" y="0"/>
                  </a:lnTo>
                </a:path>
              </a:pathLst>
            </a:custGeom>
            <a:ln w="5270">
              <a:solidFill>
                <a:srgbClr val="231F20"/>
              </a:solidFill>
            </a:ln>
          </p:spPr>
          <p:txBody>
            <a:bodyPr wrap="square" lIns="0" tIns="0" rIns="0" bIns="0" rtlCol="0"/>
            <a:lstStyle/>
            <a:p>
              <a:endParaRPr/>
            </a:p>
          </p:txBody>
        </p:sp>
        <p:sp>
          <p:nvSpPr>
            <p:cNvPr id="26" name="object 26"/>
            <p:cNvSpPr/>
            <p:nvPr/>
          </p:nvSpPr>
          <p:spPr>
            <a:xfrm>
              <a:off x="2155051" y="2896762"/>
              <a:ext cx="81280" cy="62230"/>
            </a:xfrm>
            <a:custGeom>
              <a:avLst/>
              <a:gdLst/>
              <a:ahLst/>
              <a:cxnLst/>
              <a:rect l="l" t="t" r="r" b="b"/>
              <a:pathLst>
                <a:path w="81280" h="62230">
                  <a:moveTo>
                    <a:pt x="0" y="0"/>
                  </a:moveTo>
                  <a:lnTo>
                    <a:pt x="52272" y="61775"/>
                  </a:lnTo>
                  <a:lnTo>
                    <a:pt x="54053" y="44847"/>
                  </a:lnTo>
                  <a:lnTo>
                    <a:pt x="59397" y="29700"/>
                  </a:lnTo>
                  <a:lnTo>
                    <a:pt x="68304" y="16335"/>
                  </a:lnTo>
                  <a:lnTo>
                    <a:pt x="80775" y="4755"/>
                  </a:lnTo>
                  <a:lnTo>
                    <a:pt x="0" y="0"/>
                  </a:lnTo>
                  <a:close/>
                </a:path>
              </a:pathLst>
            </a:custGeom>
            <a:solidFill>
              <a:srgbClr val="231F20"/>
            </a:solidFill>
          </p:spPr>
          <p:txBody>
            <a:bodyPr wrap="square" lIns="0" tIns="0" rIns="0" bIns="0" rtlCol="0"/>
            <a:lstStyle/>
            <a:p>
              <a:endParaRPr/>
            </a:p>
          </p:txBody>
        </p:sp>
        <p:sp>
          <p:nvSpPr>
            <p:cNvPr id="27" name="object 27"/>
            <p:cNvSpPr/>
            <p:nvPr/>
          </p:nvSpPr>
          <p:spPr>
            <a:xfrm>
              <a:off x="2886312" y="2363888"/>
              <a:ext cx="312420" cy="697230"/>
            </a:xfrm>
            <a:custGeom>
              <a:avLst/>
              <a:gdLst/>
              <a:ahLst/>
              <a:cxnLst/>
              <a:rect l="l" t="t" r="r" b="b"/>
              <a:pathLst>
                <a:path w="312419" h="697230">
                  <a:moveTo>
                    <a:pt x="0" y="696814"/>
                  </a:moveTo>
                  <a:lnTo>
                    <a:pt x="55387" y="634174"/>
                  </a:lnTo>
                  <a:lnTo>
                    <a:pt x="105082" y="576055"/>
                  </a:lnTo>
                  <a:lnTo>
                    <a:pt x="149184" y="522191"/>
                  </a:lnTo>
                  <a:lnTo>
                    <a:pt x="187787" y="472316"/>
                  </a:lnTo>
                  <a:lnTo>
                    <a:pt x="220991" y="426165"/>
                  </a:lnTo>
                  <a:lnTo>
                    <a:pt x="248891" y="383472"/>
                  </a:lnTo>
                  <a:lnTo>
                    <a:pt x="271585" y="343970"/>
                  </a:lnTo>
                  <a:lnTo>
                    <a:pt x="289169" y="307395"/>
                  </a:lnTo>
                  <a:lnTo>
                    <a:pt x="309399" y="241960"/>
                  </a:lnTo>
                  <a:lnTo>
                    <a:pt x="312238" y="212569"/>
                  </a:lnTo>
                  <a:lnTo>
                    <a:pt x="310356" y="185041"/>
                  </a:lnTo>
                  <a:lnTo>
                    <a:pt x="292818" y="134512"/>
                  </a:lnTo>
                  <a:lnTo>
                    <a:pt x="257559" y="88246"/>
                  </a:lnTo>
                  <a:lnTo>
                    <a:pt x="205358" y="44117"/>
                  </a:lnTo>
                  <a:lnTo>
                    <a:pt x="173147" y="22190"/>
                  </a:lnTo>
                  <a:lnTo>
                    <a:pt x="136990" y="0"/>
                  </a:lnTo>
                </a:path>
              </a:pathLst>
            </a:custGeom>
            <a:ln w="5270">
              <a:solidFill>
                <a:srgbClr val="231F20"/>
              </a:solidFill>
            </a:ln>
          </p:spPr>
          <p:txBody>
            <a:bodyPr wrap="square" lIns="0" tIns="0" rIns="0" bIns="0" rtlCol="0"/>
            <a:lstStyle/>
            <a:p>
              <a:endParaRPr/>
            </a:p>
          </p:txBody>
        </p:sp>
        <p:pic>
          <p:nvPicPr>
            <p:cNvPr id="28" name="object 28"/>
            <p:cNvPicPr/>
            <p:nvPr/>
          </p:nvPicPr>
          <p:blipFill>
            <a:blip r:embed="rId8" cstate="print"/>
            <a:stretch>
              <a:fillRect/>
            </a:stretch>
          </p:blipFill>
          <p:spPr>
            <a:xfrm>
              <a:off x="2991079" y="2344935"/>
              <a:ext cx="80280" cy="65196"/>
            </a:xfrm>
            <a:prstGeom prst="rect">
              <a:avLst/>
            </a:prstGeom>
          </p:spPr>
        </p:pic>
      </p:grpSp>
      <p:sp>
        <p:nvSpPr>
          <p:cNvPr id="29" name="object 29"/>
          <p:cNvSpPr txBox="1"/>
          <p:nvPr/>
        </p:nvSpPr>
        <p:spPr>
          <a:xfrm>
            <a:off x="3097345" y="3090156"/>
            <a:ext cx="80391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2.</a:t>
            </a:r>
            <a:r>
              <a:rPr sz="650" spc="-30" dirty="0">
                <a:solidFill>
                  <a:srgbClr val="231F20"/>
                </a:solidFill>
                <a:latin typeface="Arial"/>
                <a:cs typeface="Arial"/>
              </a:rPr>
              <a:t> </a:t>
            </a:r>
            <a:r>
              <a:rPr sz="650" spc="5" dirty="0">
                <a:solidFill>
                  <a:srgbClr val="231F20"/>
                </a:solidFill>
                <a:latin typeface="Arial"/>
                <a:cs typeface="Arial"/>
              </a:rPr>
              <a:t>Dispatcher</a:t>
            </a:r>
            <a:r>
              <a:rPr sz="650" dirty="0">
                <a:solidFill>
                  <a:srgbClr val="231F20"/>
                </a:solidFill>
                <a:latin typeface="Arial"/>
                <a:cs typeface="Arial"/>
              </a:rPr>
              <a:t> </a:t>
            </a:r>
            <a:r>
              <a:rPr sz="650" spc="5" dirty="0">
                <a:solidFill>
                  <a:srgbClr val="231F20"/>
                </a:solidFill>
                <a:latin typeface="Arial"/>
                <a:cs typeface="Arial"/>
              </a:rPr>
              <a:t>selects  server</a:t>
            </a:r>
            <a:endParaRPr sz="650">
              <a:latin typeface="Arial"/>
              <a:cs typeface="Arial"/>
            </a:endParaRPr>
          </a:p>
        </p:txBody>
      </p:sp>
      <p:sp>
        <p:nvSpPr>
          <p:cNvPr id="30" name="object 30"/>
          <p:cNvSpPr txBox="1"/>
          <p:nvPr/>
        </p:nvSpPr>
        <p:spPr>
          <a:xfrm>
            <a:off x="3096509" y="2290403"/>
            <a:ext cx="713740" cy="220979"/>
          </a:xfrm>
          <a:prstGeom prst="rect">
            <a:avLst/>
          </a:prstGeom>
        </p:spPr>
        <p:txBody>
          <a:bodyPr vert="horz" wrap="square" lIns="0" tIns="13970" rIns="0" bIns="0" rtlCol="0">
            <a:spAutoFit/>
          </a:bodyPr>
          <a:lstStyle/>
          <a:p>
            <a:pPr marL="12700">
              <a:lnSpc>
                <a:spcPts val="760"/>
              </a:lnSpc>
              <a:spcBef>
                <a:spcPts val="110"/>
              </a:spcBef>
            </a:pPr>
            <a:r>
              <a:rPr sz="650" spc="5" dirty="0">
                <a:solidFill>
                  <a:srgbClr val="231F20"/>
                </a:solidFill>
                <a:latin typeface="Arial"/>
                <a:cs typeface="Arial"/>
              </a:rPr>
              <a:t>3.</a:t>
            </a:r>
            <a:r>
              <a:rPr sz="650" spc="-30" dirty="0">
                <a:solidFill>
                  <a:srgbClr val="231F20"/>
                </a:solidFill>
                <a:latin typeface="Arial"/>
                <a:cs typeface="Arial"/>
              </a:rPr>
              <a:t> </a:t>
            </a:r>
            <a:r>
              <a:rPr sz="650" spc="5" dirty="0">
                <a:solidFill>
                  <a:srgbClr val="231F20"/>
                </a:solidFill>
                <a:latin typeface="Arial"/>
                <a:cs typeface="Arial"/>
              </a:rPr>
              <a:t>Hand</a:t>
            </a:r>
            <a:r>
              <a:rPr sz="650" dirty="0">
                <a:solidFill>
                  <a:srgbClr val="231F20"/>
                </a:solidFill>
                <a:latin typeface="Arial"/>
                <a:cs typeface="Arial"/>
              </a:rPr>
              <a:t> </a:t>
            </a:r>
            <a:r>
              <a:rPr sz="650" spc="5" dirty="0">
                <a:solidFill>
                  <a:srgbClr val="231F20"/>
                </a:solidFill>
                <a:latin typeface="Arial"/>
                <a:cs typeface="Arial"/>
              </a:rPr>
              <a:t>o</a:t>
            </a:r>
            <a:r>
              <a:rPr sz="650" spc="-15" dirty="0">
                <a:solidFill>
                  <a:srgbClr val="231F20"/>
                </a:solidFill>
                <a:latin typeface="Arial"/>
                <a:cs typeface="Arial"/>
              </a:rPr>
              <a:t>f</a:t>
            </a:r>
            <a:r>
              <a:rPr sz="650" dirty="0">
                <a:solidFill>
                  <a:srgbClr val="231F20"/>
                </a:solidFill>
                <a:latin typeface="Arial"/>
                <a:cs typeface="Arial"/>
              </a:rPr>
              <a:t>f</a:t>
            </a:r>
            <a:endParaRPr sz="650">
              <a:latin typeface="Arial"/>
              <a:cs typeface="Arial"/>
            </a:endParaRPr>
          </a:p>
          <a:p>
            <a:pPr marL="102235">
              <a:lnSpc>
                <a:spcPts val="760"/>
              </a:lnSpc>
            </a:pPr>
            <a:r>
              <a:rPr sz="650" spc="5" dirty="0">
                <a:solidFill>
                  <a:srgbClr val="231F20"/>
                </a:solidFill>
                <a:latin typeface="Arial"/>
                <a:cs typeface="Arial"/>
              </a:rPr>
              <a:t>TCP</a:t>
            </a:r>
            <a:r>
              <a:rPr sz="650" spc="-10" dirty="0">
                <a:solidFill>
                  <a:srgbClr val="231F20"/>
                </a:solidFill>
                <a:latin typeface="Arial"/>
                <a:cs typeface="Arial"/>
              </a:rPr>
              <a:t> </a:t>
            </a:r>
            <a:r>
              <a:rPr sz="650" spc="5" dirty="0">
                <a:solidFill>
                  <a:srgbClr val="231F20"/>
                </a:solidFill>
                <a:latin typeface="Arial"/>
                <a:cs typeface="Arial"/>
              </a:rPr>
              <a:t>connection</a:t>
            </a:r>
            <a:endParaRPr sz="650">
              <a:latin typeface="Arial"/>
              <a:cs typeface="Arial"/>
            </a:endParaRPr>
          </a:p>
        </p:txBody>
      </p:sp>
      <p:sp>
        <p:nvSpPr>
          <p:cNvPr id="31" name="object 31"/>
          <p:cNvSpPr txBox="1"/>
          <p:nvPr/>
        </p:nvSpPr>
        <p:spPr>
          <a:xfrm>
            <a:off x="2336712" y="2797566"/>
            <a:ext cx="354330" cy="220979"/>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4.</a:t>
            </a:r>
            <a:r>
              <a:rPr sz="650" spc="-30" dirty="0">
                <a:solidFill>
                  <a:srgbClr val="231F20"/>
                </a:solidFill>
                <a:latin typeface="Arial"/>
                <a:cs typeface="Arial"/>
              </a:rPr>
              <a:t> </a:t>
            </a:r>
            <a:r>
              <a:rPr sz="650" spc="5" dirty="0">
                <a:solidFill>
                  <a:srgbClr val="231F20"/>
                </a:solidFill>
                <a:latin typeface="Arial"/>
                <a:cs typeface="Arial"/>
              </a:rPr>
              <a:t>Inform  switch</a:t>
            </a:r>
            <a:endParaRPr sz="650">
              <a:latin typeface="Arial"/>
              <a:cs typeface="Arial"/>
            </a:endParaRPr>
          </a:p>
        </p:txBody>
      </p:sp>
      <p:sp>
        <p:nvSpPr>
          <p:cNvPr id="32" name="object 32"/>
          <p:cNvSpPr txBox="1"/>
          <p:nvPr/>
        </p:nvSpPr>
        <p:spPr>
          <a:xfrm>
            <a:off x="1161924" y="2903919"/>
            <a:ext cx="55054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Setup request</a:t>
            </a:r>
            <a:endParaRPr sz="650">
              <a:latin typeface="Arial"/>
              <a:cs typeface="Arial"/>
            </a:endParaRPr>
          </a:p>
        </p:txBody>
      </p:sp>
      <p:sp>
        <p:nvSpPr>
          <p:cNvPr id="33" name="object 33"/>
          <p:cNvSpPr txBox="1"/>
          <p:nvPr/>
        </p:nvSpPr>
        <p:spPr>
          <a:xfrm>
            <a:off x="1115123" y="2664877"/>
            <a:ext cx="64452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Other</a:t>
            </a:r>
            <a:r>
              <a:rPr sz="650" spc="-45" dirty="0">
                <a:solidFill>
                  <a:srgbClr val="231F20"/>
                </a:solidFill>
                <a:latin typeface="Arial"/>
                <a:cs typeface="Arial"/>
              </a:rPr>
              <a:t> </a:t>
            </a:r>
            <a:r>
              <a:rPr sz="650" spc="5" dirty="0">
                <a:solidFill>
                  <a:srgbClr val="231F20"/>
                </a:solidFill>
                <a:latin typeface="Arial"/>
                <a:cs typeface="Arial"/>
              </a:rPr>
              <a:t>messages</a:t>
            </a:r>
            <a:endParaRPr sz="650">
              <a:latin typeface="Arial"/>
              <a:cs typeface="Arial"/>
            </a:endParaRPr>
          </a:p>
        </p:txBody>
      </p:sp>
      <p:sp>
        <p:nvSpPr>
          <p:cNvPr id="34" name="object 34"/>
          <p:cNvSpPr txBox="1"/>
          <p:nvPr/>
        </p:nvSpPr>
        <p:spPr>
          <a:xfrm>
            <a:off x="1784332" y="2275482"/>
            <a:ext cx="499745" cy="315595"/>
          </a:xfrm>
          <a:prstGeom prst="rect">
            <a:avLst/>
          </a:prstGeom>
        </p:spPr>
        <p:txBody>
          <a:bodyPr vert="horz" wrap="square" lIns="0" tIns="21590" rIns="0" bIns="0" rtlCol="0">
            <a:spAutoFit/>
          </a:bodyPr>
          <a:lstStyle/>
          <a:p>
            <a:pPr marL="102235" marR="5080" indent="-90170">
              <a:lnSpc>
                <a:spcPts val="740"/>
              </a:lnSpc>
              <a:spcBef>
                <a:spcPts val="170"/>
              </a:spcBef>
            </a:pPr>
            <a:r>
              <a:rPr sz="650" spc="5" dirty="0">
                <a:solidFill>
                  <a:srgbClr val="231F20"/>
                </a:solidFill>
                <a:latin typeface="Arial"/>
                <a:cs typeface="Arial"/>
              </a:rPr>
              <a:t>5.</a:t>
            </a:r>
            <a:r>
              <a:rPr sz="650" spc="-30" dirty="0">
                <a:solidFill>
                  <a:srgbClr val="231F20"/>
                </a:solidFill>
                <a:latin typeface="Arial"/>
                <a:cs typeface="Arial"/>
              </a:rPr>
              <a:t> </a:t>
            </a:r>
            <a:r>
              <a:rPr sz="650" spc="5" dirty="0">
                <a:solidFill>
                  <a:srgbClr val="231F20"/>
                </a:solidFill>
                <a:latin typeface="Arial"/>
                <a:cs typeface="Arial"/>
              </a:rPr>
              <a:t>Forward  other </a:t>
            </a:r>
            <a:r>
              <a:rPr sz="650" spc="10" dirty="0">
                <a:solidFill>
                  <a:srgbClr val="231F20"/>
                </a:solidFill>
                <a:latin typeface="Arial"/>
                <a:cs typeface="Arial"/>
              </a:rPr>
              <a:t> </a:t>
            </a:r>
            <a:r>
              <a:rPr sz="650" spc="5" dirty="0">
                <a:solidFill>
                  <a:srgbClr val="231F20"/>
                </a:solidFill>
                <a:latin typeface="Arial"/>
                <a:cs typeface="Arial"/>
              </a:rPr>
              <a:t>messages</a:t>
            </a:r>
            <a:endParaRPr sz="650">
              <a:latin typeface="Arial"/>
              <a:cs typeface="Arial"/>
            </a:endParaRPr>
          </a:p>
        </p:txBody>
      </p:sp>
      <p:grpSp>
        <p:nvGrpSpPr>
          <p:cNvPr id="35" name="object 35"/>
          <p:cNvGrpSpPr/>
          <p:nvPr/>
        </p:nvGrpSpPr>
        <p:grpSpPr>
          <a:xfrm>
            <a:off x="971893" y="2199488"/>
            <a:ext cx="1546225" cy="454025"/>
            <a:chOff x="971893" y="2199488"/>
            <a:chExt cx="1546225" cy="454025"/>
          </a:xfrm>
        </p:grpSpPr>
        <p:sp>
          <p:nvSpPr>
            <p:cNvPr id="36" name="object 36"/>
            <p:cNvSpPr/>
            <p:nvPr/>
          </p:nvSpPr>
          <p:spPr>
            <a:xfrm>
              <a:off x="990434" y="2202123"/>
              <a:ext cx="1524635" cy="415925"/>
            </a:xfrm>
            <a:custGeom>
              <a:avLst/>
              <a:gdLst/>
              <a:ahLst/>
              <a:cxnLst/>
              <a:rect l="l" t="t" r="r" b="b"/>
              <a:pathLst>
                <a:path w="1524635" h="415925">
                  <a:moveTo>
                    <a:pt x="1524528" y="6200"/>
                  </a:moveTo>
                  <a:lnTo>
                    <a:pt x="1414938" y="2643"/>
                  </a:lnTo>
                  <a:lnTo>
                    <a:pt x="1310899" y="596"/>
                  </a:lnTo>
                  <a:lnTo>
                    <a:pt x="1212263" y="0"/>
                  </a:lnTo>
                  <a:lnTo>
                    <a:pt x="1118878" y="795"/>
                  </a:lnTo>
                  <a:lnTo>
                    <a:pt x="1030595" y="2921"/>
                  </a:lnTo>
                  <a:lnTo>
                    <a:pt x="947264" y="6319"/>
                  </a:lnTo>
                  <a:lnTo>
                    <a:pt x="868733" y="10928"/>
                  </a:lnTo>
                  <a:lnTo>
                    <a:pt x="794852" y="16690"/>
                  </a:lnTo>
                  <a:lnTo>
                    <a:pt x="725473" y="23543"/>
                  </a:lnTo>
                  <a:lnTo>
                    <a:pt x="660443" y="31428"/>
                  </a:lnTo>
                  <a:lnTo>
                    <a:pt x="599614" y="40286"/>
                  </a:lnTo>
                  <a:lnTo>
                    <a:pt x="542834" y="50056"/>
                  </a:lnTo>
                  <a:lnTo>
                    <a:pt x="489954" y="60678"/>
                  </a:lnTo>
                  <a:lnTo>
                    <a:pt x="440823" y="72093"/>
                  </a:lnTo>
                  <a:lnTo>
                    <a:pt x="395291" y="84242"/>
                  </a:lnTo>
                  <a:lnTo>
                    <a:pt x="353207" y="97063"/>
                  </a:lnTo>
                  <a:lnTo>
                    <a:pt x="314422" y="110497"/>
                  </a:lnTo>
                  <a:lnTo>
                    <a:pt x="278785" y="124485"/>
                  </a:lnTo>
                  <a:lnTo>
                    <a:pt x="216355" y="153882"/>
                  </a:lnTo>
                  <a:lnTo>
                    <a:pt x="164714" y="184774"/>
                  </a:lnTo>
                  <a:lnTo>
                    <a:pt x="122662" y="216682"/>
                  </a:lnTo>
                  <a:lnTo>
                    <a:pt x="88994" y="249129"/>
                  </a:lnTo>
                  <a:lnTo>
                    <a:pt x="62510" y="281634"/>
                  </a:lnTo>
                  <a:lnTo>
                    <a:pt x="33624" y="329457"/>
                  </a:lnTo>
                  <a:lnTo>
                    <a:pt x="14140" y="374720"/>
                  </a:lnTo>
                  <a:lnTo>
                    <a:pt x="4369" y="402676"/>
                  </a:lnTo>
                  <a:lnTo>
                    <a:pt x="0" y="415808"/>
                  </a:lnTo>
                </a:path>
              </a:pathLst>
            </a:custGeom>
            <a:ln w="5270">
              <a:solidFill>
                <a:srgbClr val="231F20"/>
              </a:solidFill>
            </a:ln>
          </p:spPr>
          <p:txBody>
            <a:bodyPr wrap="square" lIns="0" tIns="0" rIns="0" bIns="0" rtlCol="0"/>
            <a:lstStyle/>
            <a:p>
              <a:endParaRPr/>
            </a:p>
          </p:txBody>
        </p:sp>
        <p:sp>
          <p:nvSpPr>
            <p:cNvPr id="37" name="object 37"/>
            <p:cNvSpPr/>
            <p:nvPr/>
          </p:nvSpPr>
          <p:spPr>
            <a:xfrm>
              <a:off x="971893" y="2572754"/>
              <a:ext cx="60960" cy="80645"/>
            </a:xfrm>
            <a:custGeom>
              <a:avLst/>
              <a:gdLst/>
              <a:ahLst/>
              <a:cxnLst/>
              <a:rect l="l" t="t" r="r" b="b"/>
              <a:pathLst>
                <a:path w="60959" h="80644">
                  <a:moveTo>
                    <a:pt x="0" y="0"/>
                  </a:moveTo>
                  <a:lnTo>
                    <a:pt x="6719" y="80638"/>
                  </a:lnTo>
                  <a:lnTo>
                    <a:pt x="60478" y="20159"/>
                  </a:lnTo>
                  <a:lnTo>
                    <a:pt x="43468" y="20789"/>
                  </a:lnTo>
                  <a:lnTo>
                    <a:pt x="27719" y="17639"/>
                  </a:lnTo>
                  <a:lnTo>
                    <a:pt x="13229" y="10709"/>
                  </a:lnTo>
                  <a:lnTo>
                    <a:pt x="0" y="0"/>
                  </a:lnTo>
                  <a:close/>
                </a:path>
              </a:pathLst>
            </a:custGeom>
            <a:solidFill>
              <a:srgbClr val="231F20"/>
            </a:solidFill>
          </p:spPr>
          <p:txBody>
            <a:bodyPr wrap="square" lIns="0" tIns="0" rIns="0" bIns="0" rtlCol="0"/>
            <a:lstStyle/>
            <a:p>
              <a:endParaRPr/>
            </a:p>
          </p:txBody>
        </p:sp>
      </p:grpSp>
      <p:sp>
        <p:nvSpPr>
          <p:cNvPr id="38" name="object 38"/>
          <p:cNvSpPr txBox="1"/>
          <p:nvPr/>
        </p:nvSpPr>
        <p:spPr>
          <a:xfrm>
            <a:off x="317195" y="401063"/>
            <a:ext cx="3969385" cy="1793239"/>
          </a:xfrm>
          <a:prstGeom prst="rect">
            <a:avLst/>
          </a:prstGeom>
        </p:spPr>
        <p:txBody>
          <a:bodyPr vert="horz" wrap="square" lIns="0" tIns="22860" rIns="0" bIns="0" rtlCol="0">
            <a:spAutoFit/>
          </a:bodyPr>
          <a:lstStyle/>
          <a:p>
            <a:pPr marL="42545" marR="30480" indent="-5080">
              <a:lnSpc>
                <a:spcPts val="1390"/>
              </a:lnSpc>
              <a:spcBef>
                <a:spcPts val="180"/>
              </a:spcBef>
            </a:pPr>
            <a:r>
              <a:rPr sz="1200" spc="-20" dirty="0">
                <a:solidFill>
                  <a:srgbClr val="3333B2"/>
                </a:solidFill>
                <a:latin typeface="Arial"/>
                <a:cs typeface="Arial"/>
              </a:rPr>
              <a:t>The</a:t>
            </a:r>
            <a:r>
              <a:rPr sz="1200" spc="-10" dirty="0">
                <a:solidFill>
                  <a:srgbClr val="3333B2"/>
                </a:solidFill>
                <a:latin typeface="Arial"/>
                <a:cs typeface="Arial"/>
              </a:rPr>
              <a:t> </a:t>
            </a:r>
            <a:r>
              <a:rPr sz="1200" spc="-15" dirty="0">
                <a:solidFill>
                  <a:srgbClr val="3333B2"/>
                </a:solidFill>
                <a:latin typeface="Arial"/>
                <a:cs typeface="Arial"/>
              </a:rPr>
              <a:t>front</a:t>
            </a:r>
            <a:r>
              <a:rPr sz="1200" spc="-10" dirty="0">
                <a:solidFill>
                  <a:srgbClr val="3333B2"/>
                </a:solidFill>
                <a:latin typeface="Arial"/>
                <a:cs typeface="Arial"/>
              </a:rPr>
              <a:t> </a:t>
            </a:r>
            <a:r>
              <a:rPr sz="1200" spc="-20" dirty="0">
                <a:solidFill>
                  <a:srgbClr val="3333B2"/>
                </a:solidFill>
                <a:latin typeface="Arial"/>
                <a:cs typeface="Arial"/>
              </a:rPr>
              <a:t>end</a:t>
            </a:r>
            <a:r>
              <a:rPr sz="1200" spc="-10" dirty="0">
                <a:solidFill>
                  <a:srgbClr val="3333B2"/>
                </a:solidFill>
                <a:latin typeface="Arial"/>
                <a:cs typeface="Arial"/>
              </a:rPr>
              <a:t> </a:t>
            </a:r>
            <a:r>
              <a:rPr sz="1200" spc="-35" dirty="0">
                <a:solidFill>
                  <a:srgbClr val="3333B2"/>
                </a:solidFill>
                <a:latin typeface="Arial"/>
                <a:cs typeface="Arial"/>
              </a:rPr>
              <a:t>may</a:t>
            </a:r>
            <a:r>
              <a:rPr sz="1200" spc="-5" dirty="0">
                <a:solidFill>
                  <a:srgbClr val="3333B2"/>
                </a:solidFill>
                <a:latin typeface="Arial"/>
                <a:cs typeface="Arial"/>
              </a:rPr>
              <a:t> </a:t>
            </a:r>
            <a:r>
              <a:rPr sz="1200" spc="-15" dirty="0">
                <a:solidFill>
                  <a:srgbClr val="3333B2"/>
                </a:solidFill>
                <a:latin typeface="Arial"/>
                <a:cs typeface="Arial"/>
              </a:rPr>
              <a:t>easily</a:t>
            </a:r>
            <a:r>
              <a:rPr sz="1200" spc="-10" dirty="0">
                <a:solidFill>
                  <a:srgbClr val="3333B2"/>
                </a:solidFill>
                <a:latin typeface="Arial"/>
                <a:cs typeface="Arial"/>
              </a:rPr>
              <a:t> </a:t>
            </a:r>
            <a:r>
              <a:rPr sz="1200" spc="-15" dirty="0">
                <a:solidFill>
                  <a:srgbClr val="3333B2"/>
                </a:solidFill>
                <a:latin typeface="Arial"/>
                <a:cs typeface="Arial"/>
              </a:rPr>
              <a:t>get</a:t>
            </a:r>
            <a:r>
              <a:rPr sz="1200" spc="-10" dirty="0">
                <a:solidFill>
                  <a:srgbClr val="3333B2"/>
                </a:solidFill>
                <a:latin typeface="Arial"/>
                <a:cs typeface="Arial"/>
              </a:rPr>
              <a:t> </a:t>
            </a:r>
            <a:r>
              <a:rPr sz="1200" spc="-20" dirty="0">
                <a:solidFill>
                  <a:srgbClr val="3333B2"/>
                </a:solidFill>
                <a:latin typeface="Arial"/>
                <a:cs typeface="Arial"/>
              </a:rPr>
              <a:t>overloaded:</a:t>
            </a:r>
            <a:r>
              <a:rPr sz="1200" spc="80" dirty="0">
                <a:solidFill>
                  <a:srgbClr val="3333B2"/>
                </a:solidFill>
                <a:latin typeface="Arial"/>
                <a:cs typeface="Arial"/>
              </a:rPr>
              <a:t> </a:t>
            </a:r>
            <a:r>
              <a:rPr sz="1200" spc="-15" dirty="0">
                <a:solidFill>
                  <a:srgbClr val="3333B2"/>
                </a:solidFill>
                <a:latin typeface="Arial"/>
                <a:cs typeface="Arial"/>
              </a:rPr>
              <a:t>special</a:t>
            </a:r>
            <a:r>
              <a:rPr sz="1200" spc="-10" dirty="0">
                <a:solidFill>
                  <a:srgbClr val="3333B2"/>
                </a:solidFill>
                <a:latin typeface="Arial"/>
                <a:cs typeface="Arial"/>
              </a:rPr>
              <a:t> </a:t>
            </a:r>
            <a:r>
              <a:rPr sz="1200" spc="-20" dirty="0">
                <a:solidFill>
                  <a:srgbClr val="3333B2"/>
                </a:solidFill>
                <a:latin typeface="Arial"/>
                <a:cs typeface="Arial"/>
              </a:rPr>
              <a:t>measures </a:t>
            </a:r>
            <a:r>
              <a:rPr sz="1200" spc="-315" dirty="0">
                <a:solidFill>
                  <a:srgbClr val="3333B2"/>
                </a:solidFill>
                <a:latin typeface="Arial"/>
                <a:cs typeface="Arial"/>
              </a:rPr>
              <a:t> </a:t>
            </a:r>
            <a:r>
              <a:rPr sz="1200" spc="-20" dirty="0">
                <a:solidFill>
                  <a:srgbClr val="3333B2"/>
                </a:solidFill>
                <a:latin typeface="Arial"/>
                <a:cs typeface="Arial"/>
              </a:rPr>
              <a:t>may</a:t>
            </a:r>
            <a:r>
              <a:rPr sz="1200" spc="-10" dirty="0">
                <a:solidFill>
                  <a:srgbClr val="3333B2"/>
                </a:solidFill>
                <a:latin typeface="Arial"/>
                <a:cs typeface="Arial"/>
              </a:rPr>
              <a:t> </a:t>
            </a:r>
            <a:r>
              <a:rPr sz="1200" spc="-5" dirty="0">
                <a:solidFill>
                  <a:srgbClr val="3333B2"/>
                </a:solidFill>
                <a:latin typeface="Arial"/>
                <a:cs typeface="Arial"/>
              </a:rPr>
              <a:t>be needed</a:t>
            </a:r>
            <a:endParaRPr sz="1200" dirty="0">
              <a:latin typeface="Arial"/>
              <a:cs typeface="Arial"/>
            </a:endParaRPr>
          </a:p>
          <a:p>
            <a:pPr marL="319405" marR="153035" indent="-168275">
              <a:lnSpc>
                <a:spcPct val="100000"/>
              </a:lnSpc>
              <a:spcBef>
                <a:spcPts val="745"/>
              </a:spcBef>
              <a:buClr>
                <a:srgbClr val="3333B2"/>
              </a:buClr>
              <a:buChar char="►"/>
              <a:tabLst>
                <a:tab pos="320040" algn="l"/>
              </a:tabLst>
            </a:pPr>
            <a:r>
              <a:rPr sz="1000" spc="-15" dirty="0">
                <a:solidFill>
                  <a:srgbClr val="FA0000"/>
                </a:solidFill>
                <a:latin typeface="Arial"/>
                <a:cs typeface="Arial"/>
              </a:rPr>
              <a:t>Transport-layer</a:t>
            </a:r>
            <a:r>
              <a:rPr sz="1000" spc="-5" dirty="0">
                <a:solidFill>
                  <a:srgbClr val="FA0000"/>
                </a:solidFill>
                <a:latin typeface="Arial"/>
                <a:cs typeface="Arial"/>
              </a:rPr>
              <a:t> switching</a:t>
            </a:r>
            <a:r>
              <a:rPr sz="1000" spc="-5" dirty="0">
                <a:latin typeface="Arial"/>
                <a:cs typeface="Arial"/>
              </a:rPr>
              <a:t>:</a:t>
            </a:r>
            <a:r>
              <a:rPr sz="1000" spc="65" dirty="0">
                <a:latin typeface="Arial"/>
                <a:cs typeface="Arial"/>
              </a:rPr>
              <a:t> </a:t>
            </a:r>
            <a:r>
              <a:rPr sz="1000" spc="-15" dirty="0">
                <a:latin typeface="Arial"/>
                <a:cs typeface="Arial"/>
              </a:rPr>
              <a:t>Front</a:t>
            </a:r>
            <a:r>
              <a:rPr sz="1000" dirty="0">
                <a:latin typeface="Arial"/>
                <a:cs typeface="Arial"/>
              </a:rPr>
              <a:t> </a:t>
            </a:r>
            <a:r>
              <a:rPr sz="1000" spc="-5" dirty="0">
                <a:latin typeface="Arial"/>
                <a:cs typeface="Arial"/>
              </a:rPr>
              <a:t>end simply</a:t>
            </a:r>
            <a:r>
              <a:rPr sz="1000" dirty="0">
                <a:latin typeface="Arial"/>
                <a:cs typeface="Arial"/>
              </a:rPr>
              <a:t> </a:t>
            </a:r>
            <a:r>
              <a:rPr sz="1000" spc="-5" dirty="0">
                <a:latin typeface="Arial"/>
                <a:cs typeface="Arial"/>
              </a:rPr>
              <a:t>passes</a:t>
            </a:r>
            <a:r>
              <a:rPr sz="1000" dirty="0">
                <a:latin typeface="Arial"/>
                <a:cs typeface="Arial"/>
              </a:rPr>
              <a:t> </a:t>
            </a:r>
            <a:r>
              <a:rPr sz="1000" spc="-5" dirty="0">
                <a:latin typeface="Arial"/>
                <a:cs typeface="Arial"/>
              </a:rPr>
              <a:t>the TCP </a:t>
            </a:r>
            <a:r>
              <a:rPr sz="1000" dirty="0">
                <a:latin typeface="Arial"/>
                <a:cs typeface="Arial"/>
              </a:rPr>
              <a:t> </a:t>
            </a:r>
            <a:r>
              <a:rPr sz="1000" spc="-5" dirty="0">
                <a:latin typeface="Arial"/>
                <a:cs typeface="Arial"/>
              </a:rPr>
              <a:t>request</a:t>
            </a:r>
            <a:r>
              <a:rPr sz="1000" dirty="0">
                <a:latin typeface="Arial"/>
                <a:cs typeface="Arial"/>
              </a:rPr>
              <a:t> </a:t>
            </a:r>
            <a:r>
              <a:rPr sz="1000" spc="-5" dirty="0">
                <a:latin typeface="Arial"/>
                <a:cs typeface="Arial"/>
              </a:rPr>
              <a:t>to</a:t>
            </a:r>
            <a:r>
              <a:rPr sz="1000" dirty="0">
                <a:latin typeface="Arial"/>
                <a:cs typeface="Arial"/>
              </a:rPr>
              <a:t> </a:t>
            </a:r>
            <a:r>
              <a:rPr sz="1000" spc="-5" dirty="0">
                <a:latin typeface="Arial"/>
                <a:cs typeface="Arial"/>
              </a:rPr>
              <a:t>one</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servers,</a:t>
            </a:r>
            <a:r>
              <a:rPr sz="1000" dirty="0">
                <a:latin typeface="Arial"/>
                <a:cs typeface="Arial"/>
              </a:rPr>
              <a:t> </a:t>
            </a:r>
            <a:r>
              <a:rPr sz="1000" spc="-5" dirty="0">
                <a:latin typeface="Arial"/>
                <a:cs typeface="Arial"/>
              </a:rPr>
              <a:t>taking</a:t>
            </a:r>
            <a:r>
              <a:rPr sz="1000" dirty="0">
                <a:latin typeface="Arial"/>
                <a:cs typeface="Arial"/>
              </a:rPr>
              <a:t> </a:t>
            </a:r>
            <a:r>
              <a:rPr sz="1000" spc="-5" dirty="0">
                <a:latin typeface="Arial"/>
                <a:cs typeface="Arial"/>
              </a:rPr>
              <a:t>some</a:t>
            </a:r>
            <a:r>
              <a:rPr sz="1000" dirty="0">
                <a:latin typeface="Arial"/>
                <a:cs typeface="Arial"/>
              </a:rPr>
              <a:t> </a:t>
            </a:r>
            <a:r>
              <a:rPr sz="1000" spc="-5" dirty="0">
                <a:latin typeface="Arial"/>
                <a:cs typeface="Arial"/>
              </a:rPr>
              <a:t>performance</a:t>
            </a:r>
            <a:r>
              <a:rPr sz="1000" dirty="0">
                <a:latin typeface="Arial"/>
                <a:cs typeface="Arial"/>
              </a:rPr>
              <a:t> </a:t>
            </a:r>
            <a:r>
              <a:rPr sz="1000" spc="-5" dirty="0">
                <a:latin typeface="Arial"/>
                <a:cs typeface="Arial"/>
              </a:rPr>
              <a:t>metric </a:t>
            </a:r>
            <a:r>
              <a:rPr sz="1000" spc="-265" dirty="0">
                <a:latin typeface="Arial"/>
                <a:cs typeface="Arial"/>
              </a:rPr>
              <a:t> </a:t>
            </a:r>
            <a:r>
              <a:rPr sz="1000" spc="-5" dirty="0">
                <a:latin typeface="Arial"/>
                <a:cs typeface="Arial"/>
              </a:rPr>
              <a:t>into</a:t>
            </a:r>
            <a:r>
              <a:rPr sz="1000" spc="-10" dirty="0">
                <a:latin typeface="Arial"/>
                <a:cs typeface="Arial"/>
              </a:rPr>
              <a:t> </a:t>
            </a:r>
            <a:r>
              <a:rPr sz="1000" spc="-5" dirty="0">
                <a:latin typeface="Arial"/>
                <a:cs typeface="Arial"/>
              </a:rPr>
              <a:t>account.</a:t>
            </a:r>
            <a:endParaRPr sz="1000" dirty="0">
              <a:latin typeface="Arial"/>
              <a:cs typeface="Arial"/>
            </a:endParaRPr>
          </a:p>
          <a:p>
            <a:pPr marL="319405" marR="190500" indent="-168275">
              <a:lnSpc>
                <a:spcPts val="1200"/>
              </a:lnSpc>
              <a:spcBef>
                <a:spcPts val="30"/>
              </a:spcBef>
              <a:buClr>
                <a:srgbClr val="3333B2"/>
              </a:buClr>
              <a:buChar char="►"/>
              <a:tabLst>
                <a:tab pos="320040" algn="l"/>
              </a:tabLst>
            </a:pPr>
            <a:r>
              <a:rPr sz="1000" spc="-5" dirty="0">
                <a:solidFill>
                  <a:srgbClr val="FA0000"/>
                </a:solidFill>
                <a:latin typeface="Arial"/>
                <a:cs typeface="Arial"/>
              </a:rPr>
              <a:t>Content-aware distribution</a:t>
            </a:r>
            <a:r>
              <a:rPr sz="1000" spc="-5" dirty="0">
                <a:latin typeface="Arial"/>
                <a:cs typeface="Arial"/>
              </a:rPr>
              <a:t>:</a:t>
            </a:r>
            <a:r>
              <a:rPr sz="1000" spc="65" dirty="0">
                <a:latin typeface="Arial"/>
                <a:cs typeface="Arial"/>
              </a:rPr>
              <a:t> </a:t>
            </a:r>
            <a:r>
              <a:rPr sz="1000" spc="-15" dirty="0">
                <a:latin typeface="Arial"/>
                <a:cs typeface="Arial"/>
              </a:rPr>
              <a:t>Front</a:t>
            </a:r>
            <a:r>
              <a:rPr sz="1000" dirty="0">
                <a:latin typeface="Arial"/>
                <a:cs typeface="Arial"/>
              </a:rPr>
              <a:t> </a:t>
            </a:r>
            <a:r>
              <a:rPr sz="1000" spc="-5" dirty="0">
                <a:latin typeface="Arial"/>
                <a:cs typeface="Arial"/>
              </a:rPr>
              <a:t>end</a:t>
            </a:r>
            <a:r>
              <a:rPr sz="1000" dirty="0">
                <a:latin typeface="Arial"/>
                <a:cs typeface="Arial"/>
              </a:rPr>
              <a:t> </a:t>
            </a:r>
            <a:r>
              <a:rPr sz="1000" spc="-5" dirty="0">
                <a:latin typeface="Arial"/>
                <a:cs typeface="Arial"/>
              </a:rPr>
              <a:t>reads</a:t>
            </a:r>
            <a:r>
              <a:rPr sz="1000" dirty="0">
                <a:latin typeface="Arial"/>
                <a:cs typeface="Arial"/>
              </a:rPr>
              <a:t> </a:t>
            </a:r>
            <a:r>
              <a:rPr sz="1000" spc="-5" dirty="0">
                <a:latin typeface="Arial"/>
                <a:cs typeface="Arial"/>
              </a:rPr>
              <a:t>the content</a:t>
            </a:r>
            <a:r>
              <a:rPr sz="1000"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request</a:t>
            </a:r>
            <a:r>
              <a:rPr sz="1000" spc="-10" dirty="0">
                <a:latin typeface="Arial"/>
                <a:cs typeface="Arial"/>
              </a:rPr>
              <a:t> </a:t>
            </a:r>
            <a:r>
              <a:rPr sz="1000" spc="-5" dirty="0">
                <a:latin typeface="Arial"/>
                <a:cs typeface="Arial"/>
              </a:rPr>
              <a:t>and then selects the best </a:t>
            </a:r>
            <a:r>
              <a:rPr sz="1000" spc="-10" dirty="0">
                <a:latin typeface="Arial"/>
                <a:cs typeface="Arial"/>
              </a:rPr>
              <a:t>server.</a:t>
            </a:r>
            <a:endParaRPr sz="1000" dirty="0">
              <a:latin typeface="Arial"/>
              <a:cs typeface="Arial"/>
            </a:endParaRPr>
          </a:p>
          <a:p>
            <a:pPr>
              <a:lnSpc>
                <a:spcPct val="100000"/>
              </a:lnSpc>
            </a:pPr>
            <a:endParaRPr sz="1000" dirty="0">
              <a:latin typeface="Arial"/>
              <a:cs typeface="Arial"/>
            </a:endParaRPr>
          </a:p>
          <a:p>
            <a:pPr marL="42545">
              <a:lnSpc>
                <a:spcPct val="100000"/>
              </a:lnSpc>
              <a:spcBef>
                <a:spcPts val="5"/>
              </a:spcBef>
            </a:pPr>
            <a:r>
              <a:rPr sz="1200" spc="-5" dirty="0">
                <a:solidFill>
                  <a:srgbClr val="007C00"/>
                </a:solidFill>
                <a:latin typeface="Arial"/>
                <a:cs typeface="Arial"/>
              </a:rPr>
              <a:t>Combining</a:t>
            </a:r>
            <a:r>
              <a:rPr sz="1200" spc="-20" dirty="0">
                <a:solidFill>
                  <a:srgbClr val="007C00"/>
                </a:solidFill>
                <a:latin typeface="Arial"/>
                <a:cs typeface="Arial"/>
              </a:rPr>
              <a:t> </a:t>
            </a:r>
            <a:r>
              <a:rPr sz="1200" spc="-10" dirty="0">
                <a:solidFill>
                  <a:srgbClr val="007C00"/>
                </a:solidFill>
                <a:latin typeface="Arial"/>
                <a:cs typeface="Arial"/>
              </a:rPr>
              <a:t>two</a:t>
            </a:r>
            <a:r>
              <a:rPr sz="1200" spc="-20" dirty="0">
                <a:solidFill>
                  <a:srgbClr val="007C00"/>
                </a:solidFill>
                <a:latin typeface="Arial"/>
                <a:cs typeface="Arial"/>
              </a:rPr>
              <a:t> </a:t>
            </a:r>
            <a:r>
              <a:rPr sz="1200" spc="-5" dirty="0">
                <a:solidFill>
                  <a:srgbClr val="007C00"/>
                </a:solidFill>
                <a:latin typeface="Arial"/>
                <a:cs typeface="Arial"/>
              </a:rPr>
              <a:t>solutions</a:t>
            </a:r>
            <a:endParaRPr sz="1200" dirty="0">
              <a:latin typeface="Arial"/>
              <a:cs typeface="Arial"/>
            </a:endParaRPr>
          </a:p>
          <a:p>
            <a:pPr marL="1130935">
              <a:lnSpc>
                <a:spcPct val="100000"/>
              </a:lnSpc>
              <a:spcBef>
                <a:spcPts val="900"/>
              </a:spcBef>
            </a:pPr>
            <a:r>
              <a:rPr sz="650" spc="5" dirty="0">
                <a:solidFill>
                  <a:srgbClr val="231F20"/>
                </a:solidFill>
                <a:latin typeface="Arial"/>
                <a:cs typeface="Arial"/>
              </a:rPr>
              <a:t>6.</a:t>
            </a:r>
            <a:r>
              <a:rPr sz="650" spc="-25" dirty="0">
                <a:solidFill>
                  <a:srgbClr val="231F20"/>
                </a:solidFill>
                <a:latin typeface="Arial"/>
                <a:cs typeface="Arial"/>
              </a:rPr>
              <a:t> </a:t>
            </a:r>
            <a:r>
              <a:rPr sz="650" spc="5" dirty="0">
                <a:solidFill>
                  <a:srgbClr val="231F20"/>
                </a:solidFill>
                <a:latin typeface="Arial"/>
                <a:cs typeface="Arial"/>
              </a:rPr>
              <a:t>Server</a:t>
            </a:r>
            <a:r>
              <a:rPr sz="650" spc="-20" dirty="0">
                <a:solidFill>
                  <a:srgbClr val="231F20"/>
                </a:solidFill>
                <a:latin typeface="Arial"/>
                <a:cs typeface="Arial"/>
              </a:rPr>
              <a:t> </a:t>
            </a:r>
            <a:r>
              <a:rPr sz="650" spc="5" dirty="0">
                <a:solidFill>
                  <a:srgbClr val="231F20"/>
                </a:solidFill>
                <a:latin typeface="Arial"/>
                <a:cs typeface="Arial"/>
              </a:rPr>
              <a:t>responses</a:t>
            </a:r>
            <a:endParaRPr sz="650" dirty="0">
              <a:latin typeface="Arial"/>
              <a:cs typeface="Arial"/>
            </a:endParaRPr>
          </a:p>
        </p:txBody>
      </p:sp>
      <p:sp>
        <p:nvSpPr>
          <p:cNvPr id="39" name="object 39"/>
          <p:cNvSpPr txBox="1"/>
          <p:nvPr/>
        </p:nvSpPr>
        <p:spPr>
          <a:xfrm>
            <a:off x="66713" y="3327684"/>
            <a:ext cx="66675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5" action="ppaction://hlinksldjump"/>
              </a:rPr>
              <a:t>Local-area</a:t>
            </a:r>
            <a:r>
              <a:rPr sz="600" spc="-25" dirty="0">
                <a:solidFill>
                  <a:srgbClr val="3333B2"/>
                </a:solidFill>
                <a:latin typeface="Arial"/>
                <a:cs typeface="Arial"/>
                <a:hlinkClick r:id="rId5" action="ppaction://hlinksldjump"/>
              </a:rPr>
              <a:t> </a:t>
            </a:r>
            <a:r>
              <a:rPr sz="600" spc="-5" dirty="0">
                <a:solidFill>
                  <a:srgbClr val="3333B2"/>
                </a:solidFill>
                <a:latin typeface="Arial"/>
                <a:cs typeface="Arial"/>
                <a:hlinkClick r:id="rId5" action="ppaction://hlinksldjump"/>
              </a:rPr>
              <a:t>clusters</a:t>
            </a:r>
            <a:endParaRPr sz="600">
              <a:latin typeface="Arial"/>
              <a:cs typeface="Arial"/>
            </a:endParaRPr>
          </a:p>
        </p:txBody>
      </p:sp>
      <p:sp>
        <p:nvSpPr>
          <p:cNvPr id="40" name="object 40"/>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34</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584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Wide-area</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clusters</a:t>
            </a:r>
            <a:endParaRPr sz="600">
              <a:latin typeface="Arial"/>
              <a:cs typeface="Arial"/>
            </a:endParaRPr>
          </a:p>
        </p:txBody>
      </p:sp>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35</a:t>
            </a:r>
            <a:r>
              <a:rPr spc="-40" dirty="0"/>
              <a:t> </a:t>
            </a:r>
            <a:r>
              <a:rPr spc="-5" dirty="0"/>
              <a:t>/</a:t>
            </a:r>
            <a:r>
              <a:rPr spc="-35" dirty="0"/>
              <a:t> </a:t>
            </a:r>
            <a:r>
              <a:rPr spc="-5" dirty="0"/>
              <a:t>47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54779" algn="l"/>
              </a:tabLst>
            </a:pPr>
            <a:r>
              <a:rPr sz="600" spc="-5" dirty="0">
                <a:solidFill>
                  <a:srgbClr val="3333B2"/>
                </a:solidFill>
                <a:latin typeface="Arial"/>
                <a:cs typeface="Arial"/>
                <a:hlinkClick r:id="rId4" action="ppaction://hlinksldjump"/>
              </a:rPr>
              <a:t>Processes:</a:t>
            </a:r>
            <a:r>
              <a:rPr sz="600" spc="-5" dirty="0">
                <a:solidFill>
                  <a:srgbClr val="3333B2"/>
                </a:solidFill>
                <a:latin typeface="Arial"/>
                <a:cs typeface="Arial"/>
              </a:rPr>
              <a:t> </a:t>
            </a:r>
            <a:r>
              <a:rPr sz="600" spc="-25" dirty="0">
                <a:solidFill>
                  <a:srgbClr val="3333B2"/>
                </a:solidFill>
                <a:latin typeface="Arial"/>
                <a:cs typeface="Arial"/>
              </a:rPr>
              <a:t> </a:t>
            </a:r>
            <a:r>
              <a:rPr sz="600" spc="-5" dirty="0">
                <a:solidFill>
                  <a:srgbClr val="3333B2"/>
                </a:solidFill>
                <a:latin typeface="Arial"/>
                <a:cs typeface="Arial"/>
                <a:hlinkClick r:id="rId5" action="ppaction://hlinksldjump"/>
              </a:rPr>
              <a:t>Se</a:t>
            </a:r>
            <a:r>
              <a:rPr sz="600" spc="10" dirty="0">
                <a:solidFill>
                  <a:srgbClr val="3333B2"/>
                </a:solidFill>
                <a:latin typeface="Arial"/>
                <a:cs typeface="Arial"/>
                <a:hlinkClick r:id="rId5" action="ppaction://hlinksldjump"/>
              </a:rPr>
              <a:t>r</a:t>
            </a:r>
            <a:r>
              <a:rPr sz="600" spc="-20" dirty="0">
                <a:solidFill>
                  <a:srgbClr val="3333B2"/>
                </a:solidFill>
                <a:latin typeface="Arial"/>
                <a:cs typeface="Arial"/>
                <a:hlinkClick r:id="rId5" action="ppaction://hlinksldjump"/>
              </a:rPr>
              <a:t>v</a:t>
            </a:r>
            <a:r>
              <a:rPr sz="600" spc="-5" dirty="0">
                <a:solidFill>
                  <a:srgbClr val="3333B2"/>
                </a:solidFill>
                <a:latin typeface="Arial"/>
                <a:cs typeface="Arial"/>
                <a:hlinkClick r:id="rId5" action="ppaction://hlinksldjump"/>
              </a:rPr>
              <a:t>ers</a:t>
            </a:r>
            <a:r>
              <a:rPr sz="600" dirty="0">
                <a:solidFill>
                  <a:srgbClr val="3333B2"/>
                </a:solidFill>
                <a:latin typeface="Arial"/>
                <a:cs typeface="Arial"/>
              </a:rPr>
              <a:t>	</a:t>
            </a:r>
            <a:r>
              <a:rPr sz="600" spc="-5" dirty="0">
                <a:solidFill>
                  <a:srgbClr val="262685"/>
                </a:solidFill>
                <a:latin typeface="Arial"/>
                <a:cs typeface="Arial"/>
                <a:hlinkClick r:id="rId6" action="ppaction://hlinksldjump"/>
              </a:rPr>
              <a:t>Se</a:t>
            </a:r>
            <a:r>
              <a:rPr sz="600" spc="10" dirty="0">
                <a:solidFill>
                  <a:srgbClr val="262685"/>
                </a:solidFill>
                <a:latin typeface="Arial"/>
                <a:cs typeface="Arial"/>
                <a:hlinkClick r:id="rId6" action="ppaction://hlinksldjump"/>
              </a:rPr>
              <a:t>r</a:t>
            </a:r>
            <a:r>
              <a:rPr sz="600" spc="-20" dirty="0">
                <a:solidFill>
                  <a:srgbClr val="262685"/>
                </a:solidFill>
                <a:latin typeface="Arial"/>
                <a:cs typeface="Arial"/>
                <a:hlinkClick r:id="rId6" action="ppaction://hlinksldjump"/>
              </a:rPr>
              <a:t>v</a:t>
            </a:r>
            <a:r>
              <a:rPr sz="600" spc="-5" dirty="0">
                <a:solidFill>
                  <a:srgbClr val="262685"/>
                </a:solidFill>
                <a:latin typeface="Arial"/>
                <a:cs typeface="Arial"/>
                <a:hlinkClick r:id="rId6" action="ppaction://hlinksldjump"/>
              </a:rPr>
              <a:t>er clusters</a:t>
            </a:r>
            <a:endParaRPr sz="600">
              <a:latin typeface="Arial"/>
              <a:cs typeface="Arial"/>
            </a:endParaRPr>
          </a:p>
        </p:txBody>
      </p:sp>
      <p:sp>
        <p:nvSpPr>
          <p:cNvPr id="3" name="object 3"/>
          <p:cNvSpPr txBox="1">
            <a:spLocks noGrp="1"/>
          </p:cNvSpPr>
          <p:nvPr>
            <p:ph type="title"/>
          </p:nvPr>
        </p:nvSpPr>
        <p:spPr>
          <a:xfrm>
            <a:off x="95300" y="188846"/>
            <a:ext cx="3636010" cy="244475"/>
          </a:xfrm>
          <a:prstGeom prst="rect">
            <a:avLst/>
          </a:prstGeom>
        </p:spPr>
        <p:txBody>
          <a:bodyPr vert="horz" wrap="square" lIns="0" tIns="17145" rIns="0" bIns="0" rtlCol="0">
            <a:spAutoFit/>
          </a:bodyPr>
          <a:lstStyle/>
          <a:p>
            <a:pPr marL="12700">
              <a:lnSpc>
                <a:spcPct val="100000"/>
              </a:lnSpc>
              <a:spcBef>
                <a:spcPts val="135"/>
              </a:spcBef>
            </a:pPr>
            <a:r>
              <a:rPr spc="20" dirty="0"/>
              <a:t>When</a:t>
            </a:r>
            <a:r>
              <a:rPr dirty="0"/>
              <a:t> </a:t>
            </a:r>
            <a:r>
              <a:rPr spc="15" dirty="0"/>
              <a:t>servers</a:t>
            </a:r>
            <a:r>
              <a:rPr spc="5" dirty="0"/>
              <a:t> </a:t>
            </a:r>
            <a:r>
              <a:rPr spc="15" dirty="0"/>
              <a:t>are</a:t>
            </a:r>
            <a:r>
              <a:rPr dirty="0"/>
              <a:t> </a:t>
            </a:r>
            <a:r>
              <a:rPr spc="15" dirty="0"/>
              <a:t>spread</a:t>
            </a:r>
            <a:r>
              <a:rPr spc="5" dirty="0"/>
              <a:t> </a:t>
            </a:r>
            <a:r>
              <a:rPr spc="15" dirty="0"/>
              <a:t>across</a:t>
            </a:r>
            <a:r>
              <a:rPr dirty="0"/>
              <a:t> </a:t>
            </a:r>
            <a:r>
              <a:rPr spc="15" dirty="0"/>
              <a:t>the</a:t>
            </a:r>
            <a:r>
              <a:rPr spc="5" dirty="0"/>
              <a:t> </a:t>
            </a:r>
            <a:r>
              <a:rPr spc="15" dirty="0"/>
              <a:t>Internet</a:t>
            </a:r>
          </a:p>
        </p:txBody>
      </p:sp>
      <p:sp>
        <p:nvSpPr>
          <p:cNvPr id="4" name="object 4"/>
          <p:cNvSpPr txBox="1"/>
          <p:nvPr/>
        </p:nvSpPr>
        <p:spPr>
          <a:xfrm>
            <a:off x="343382" y="529854"/>
            <a:ext cx="3917315" cy="2632075"/>
          </a:xfrm>
          <a:prstGeom prst="rect">
            <a:avLst/>
          </a:prstGeom>
        </p:spPr>
        <p:txBody>
          <a:bodyPr vert="horz" wrap="square" lIns="0" tIns="12065" rIns="0" bIns="0" rtlCol="0">
            <a:spAutoFit/>
          </a:bodyPr>
          <a:lstStyle/>
          <a:p>
            <a:pPr marL="16510">
              <a:lnSpc>
                <a:spcPts val="1410"/>
              </a:lnSpc>
              <a:spcBef>
                <a:spcPts val="95"/>
              </a:spcBef>
            </a:pPr>
            <a:r>
              <a:rPr sz="1200" spc="-5" dirty="0">
                <a:solidFill>
                  <a:srgbClr val="3333B2"/>
                </a:solidFill>
                <a:latin typeface="Arial"/>
                <a:cs typeface="Arial"/>
              </a:rPr>
              <a:t>Observation</a:t>
            </a:r>
            <a:endParaRPr sz="1200" dirty="0">
              <a:latin typeface="Arial"/>
              <a:cs typeface="Arial"/>
            </a:endParaRPr>
          </a:p>
          <a:p>
            <a:pPr marL="16510" marR="104139" algn="just">
              <a:lnSpc>
                <a:spcPts val="1200"/>
              </a:lnSpc>
              <a:spcBef>
                <a:spcPts val="10"/>
              </a:spcBef>
            </a:pPr>
            <a:r>
              <a:rPr sz="1000" spc="-5" dirty="0">
                <a:latin typeface="Arial"/>
                <a:cs typeface="Arial"/>
              </a:rPr>
              <a:t>Spreading servers across the </a:t>
            </a:r>
            <a:r>
              <a:rPr sz="1000" dirty="0">
                <a:latin typeface="Arial"/>
                <a:cs typeface="Arial"/>
              </a:rPr>
              <a:t>Internet </a:t>
            </a:r>
            <a:r>
              <a:rPr sz="1000" spc="-15" dirty="0">
                <a:latin typeface="Arial"/>
                <a:cs typeface="Arial"/>
              </a:rPr>
              <a:t>may </a:t>
            </a:r>
            <a:r>
              <a:rPr sz="1000" spc="-5" dirty="0">
                <a:latin typeface="Arial"/>
                <a:cs typeface="Arial"/>
              </a:rPr>
              <a:t>introduce administrative </a:t>
            </a:r>
            <a:r>
              <a:rPr sz="1000" dirty="0">
                <a:latin typeface="Arial"/>
                <a:cs typeface="Arial"/>
              </a:rPr>
              <a:t> </a:t>
            </a:r>
            <a:r>
              <a:rPr sz="1000" spc="-10" dirty="0">
                <a:latin typeface="Arial"/>
                <a:cs typeface="Arial"/>
              </a:rPr>
              <a:t>problems. </a:t>
            </a:r>
            <a:r>
              <a:rPr sz="1000" spc="-5" dirty="0">
                <a:latin typeface="Arial"/>
                <a:cs typeface="Arial"/>
              </a:rPr>
              <a:t>These can be largely circumvented </a:t>
            </a:r>
            <a:r>
              <a:rPr sz="1000" spc="-15" dirty="0">
                <a:latin typeface="Arial"/>
                <a:cs typeface="Arial"/>
              </a:rPr>
              <a:t>by </a:t>
            </a:r>
            <a:r>
              <a:rPr sz="1000" spc="-5" dirty="0">
                <a:latin typeface="Arial"/>
                <a:cs typeface="Arial"/>
              </a:rPr>
              <a:t>using data centers </a:t>
            </a:r>
            <a:r>
              <a:rPr sz="1000" spc="-265" dirty="0">
                <a:latin typeface="Arial"/>
                <a:cs typeface="Arial"/>
              </a:rPr>
              <a:t> </a:t>
            </a:r>
            <a:r>
              <a:rPr sz="1000" spc="-5" dirty="0">
                <a:latin typeface="Arial"/>
                <a:cs typeface="Arial"/>
              </a:rPr>
              <a:t>from</a:t>
            </a:r>
            <a:r>
              <a:rPr sz="1000" spc="-10" dirty="0">
                <a:latin typeface="Arial"/>
                <a:cs typeface="Arial"/>
              </a:rPr>
              <a:t> </a:t>
            </a:r>
            <a:r>
              <a:rPr sz="1000" spc="-5" dirty="0">
                <a:latin typeface="Arial"/>
                <a:cs typeface="Arial"/>
              </a:rPr>
              <a:t>a single cloud </a:t>
            </a:r>
            <a:r>
              <a:rPr sz="1000" spc="-10" dirty="0">
                <a:latin typeface="Arial"/>
                <a:cs typeface="Arial"/>
              </a:rPr>
              <a:t>provider.</a:t>
            </a:r>
            <a:endParaRPr sz="1000" dirty="0">
              <a:latin typeface="Arial"/>
              <a:cs typeface="Arial"/>
            </a:endParaRPr>
          </a:p>
          <a:p>
            <a:pPr marL="16510">
              <a:lnSpc>
                <a:spcPct val="100000"/>
              </a:lnSpc>
              <a:spcBef>
                <a:spcPts val="645"/>
              </a:spcBef>
            </a:pPr>
            <a:r>
              <a:rPr sz="1200" spc="-5" dirty="0">
                <a:solidFill>
                  <a:srgbClr val="3333B2"/>
                </a:solidFill>
                <a:latin typeface="Arial"/>
                <a:cs typeface="Arial"/>
              </a:rPr>
              <a:t>Request dispatching:</a:t>
            </a:r>
            <a:r>
              <a:rPr sz="1200" spc="80" dirty="0">
                <a:solidFill>
                  <a:srgbClr val="3333B2"/>
                </a:solidFill>
                <a:latin typeface="Arial"/>
                <a:cs typeface="Arial"/>
              </a:rPr>
              <a:t> </a:t>
            </a:r>
            <a:r>
              <a:rPr sz="1200" spc="-5" dirty="0">
                <a:solidFill>
                  <a:srgbClr val="3333B2"/>
                </a:solidFill>
                <a:latin typeface="Arial"/>
                <a:cs typeface="Arial"/>
              </a:rPr>
              <a:t>if locality</a:t>
            </a:r>
            <a:r>
              <a:rPr sz="1200" dirty="0">
                <a:solidFill>
                  <a:srgbClr val="3333B2"/>
                </a:solidFill>
                <a:latin typeface="Arial"/>
                <a:cs typeface="Arial"/>
              </a:rPr>
              <a:t> </a:t>
            </a:r>
            <a:r>
              <a:rPr sz="1200" spc="-5" dirty="0">
                <a:solidFill>
                  <a:srgbClr val="3333B2"/>
                </a:solidFill>
                <a:latin typeface="Arial"/>
                <a:cs typeface="Arial"/>
              </a:rPr>
              <a:t>is </a:t>
            </a:r>
            <a:r>
              <a:rPr sz="1200" dirty="0">
                <a:solidFill>
                  <a:srgbClr val="3333B2"/>
                </a:solidFill>
                <a:latin typeface="Arial"/>
                <a:cs typeface="Arial"/>
              </a:rPr>
              <a:t>important</a:t>
            </a:r>
            <a:endParaRPr sz="1200" dirty="0">
              <a:latin typeface="Arial"/>
              <a:cs typeface="Arial"/>
            </a:endParaRPr>
          </a:p>
          <a:p>
            <a:pPr marL="16510">
              <a:lnSpc>
                <a:spcPct val="100000"/>
              </a:lnSpc>
              <a:spcBef>
                <a:spcPts val="190"/>
              </a:spcBef>
            </a:pPr>
            <a:r>
              <a:rPr sz="1000" spc="-5" dirty="0">
                <a:latin typeface="Arial"/>
                <a:cs typeface="Arial"/>
              </a:rPr>
              <a:t>Common</a:t>
            </a:r>
            <a:r>
              <a:rPr sz="1000" spc="-20" dirty="0">
                <a:latin typeface="Arial"/>
                <a:cs typeface="Arial"/>
              </a:rPr>
              <a:t> </a:t>
            </a:r>
            <a:r>
              <a:rPr sz="1000" spc="-5" dirty="0">
                <a:latin typeface="Arial"/>
                <a:cs typeface="Arial"/>
              </a:rPr>
              <a:t>approach:</a:t>
            </a:r>
            <a:r>
              <a:rPr sz="1000" spc="45" dirty="0">
                <a:latin typeface="Arial"/>
                <a:cs typeface="Arial"/>
              </a:rPr>
              <a:t> </a:t>
            </a:r>
            <a:r>
              <a:rPr sz="1000" spc="-5" dirty="0">
                <a:latin typeface="Arial"/>
                <a:cs typeface="Arial"/>
              </a:rPr>
              <a:t>use</a:t>
            </a:r>
            <a:r>
              <a:rPr sz="1000" spc="-15" dirty="0">
                <a:latin typeface="Arial"/>
                <a:cs typeface="Arial"/>
              </a:rPr>
              <a:t> </a:t>
            </a:r>
            <a:r>
              <a:rPr sz="1000" spc="-5" dirty="0">
                <a:latin typeface="Arial"/>
                <a:cs typeface="Arial"/>
              </a:rPr>
              <a:t>DNS:</a:t>
            </a:r>
            <a:endParaRPr sz="1000" dirty="0">
              <a:latin typeface="Arial"/>
              <a:cs typeface="Arial"/>
            </a:endParaRPr>
          </a:p>
          <a:p>
            <a:pPr marL="293370" marR="6350" indent="-175260">
              <a:lnSpc>
                <a:spcPct val="100000"/>
              </a:lnSpc>
              <a:spcBef>
                <a:spcPts val="595"/>
              </a:spcBef>
              <a:buClr>
                <a:srgbClr val="3333B2"/>
              </a:buClr>
              <a:buAutoNum type="arabicPeriod"/>
              <a:tabLst>
                <a:tab pos="294005" algn="l"/>
              </a:tabLst>
            </a:pPr>
            <a:r>
              <a:rPr sz="1000" spc="-5" dirty="0">
                <a:latin typeface="Arial"/>
                <a:cs typeface="Arial"/>
              </a:rPr>
              <a:t>Client looks up specific </a:t>
            </a:r>
            <a:r>
              <a:rPr sz="1000" dirty="0">
                <a:latin typeface="Arial"/>
                <a:cs typeface="Arial"/>
              </a:rPr>
              <a:t>service </a:t>
            </a:r>
            <a:r>
              <a:rPr sz="1000" spc="-5" dirty="0">
                <a:latin typeface="Arial"/>
                <a:cs typeface="Arial"/>
              </a:rPr>
              <a:t>through </a:t>
            </a:r>
            <a:r>
              <a:rPr sz="1000" spc="-10" dirty="0">
                <a:latin typeface="Arial"/>
                <a:cs typeface="Arial"/>
              </a:rPr>
              <a:t>DNS </a:t>
            </a:r>
            <a:r>
              <a:rPr sz="1000" spc="-5" dirty="0">
                <a:latin typeface="Arial"/>
                <a:cs typeface="Arial"/>
              </a:rPr>
              <a:t>- </a:t>
            </a:r>
            <a:r>
              <a:rPr sz="1000" spc="-10" dirty="0">
                <a:latin typeface="Arial"/>
                <a:cs typeface="Arial"/>
              </a:rPr>
              <a:t>client’s </a:t>
            </a:r>
            <a:r>
              <a:rPr sz="1000" spc="-5" dirty="0">
                <a:latin typeface="Arial"/>
                <a:cs typeface="Arial"/>
              </a:rPr>
              <a:t>IP address </a:t>
            </a:r>
            <a:r>
              <a:rPr sz="1000" spc="-270" dirty="0">
                <a:latin typeface="Arial"/>
                <a:cs typeface="Arial"/>
              </a:rPr>
              <a:t> </a:t>
            </a:r>
            <a:r>
              <a:rPr sz="1000" spc="-5" dirty="0">
                <a:latin typeface="Arial"/>
                <a:cs typeface="Arial"/>
              </a:rPr>
              <a:t>is</a:t>
            </a:r>
            <a:r>
              <a:rPr sz="1000" spc="-10" dirty="0">
                <a:latin typeface="Arial"/>
                <a:cs typeface="Arial"/>
              </a:rPr>
              <a:t> </a:t>
            </a:r>
            <a:r>
              <a:rPr sz="1000" spc="5" dirty="0">
                <a:latin typeface="Arial"/>
                <a:cs typeface="Arial"/>
              </a:rPr>
              <a:t>part</a:t>
            </a:r>
            <a:r>
              <a:rPr sz="1000" spc="-5" dirty="0">
                <a:latin typeface="Arial"/>
                <a:cs typeface="Arial"/>
              </a:rPr>
              <a:t> of request</a:t>
            </a:r>
            <a:endParaRPr sz="1000" dirty="0">
              <a:latin typeface="Arial"/>
              <a:cs typeface="Arial"/>
            </a:endParaRPr>
          </a:p>
          <a:p>
            <a:pPr marL="293370" marR="298450" indent="-175260">
              <a:lnSpc>
                <a:spcPts val="1200"/>
              </a:lnSpc>
              <a:spcBef>
                <a:spcPts val="30"/>
              </a:spcBef>
              <a:buClr>
                <a:srgbClr val="3333B2"/>
              </a:buClr>
              <a:buAutoNum type="arabicPeriod"/>
              <a:tabLst>
                <a:tab pos="294005" algn="l"/>
              </a:tabLst>
            </a:pPr>
            <a:r>
              <a:rPr sz="1000" spc="-5" dirty="0">
                <a:latin typeface="Arial"/>
                <a:cs typeface="Arial"/>
              </a:rPr>
              <a:t>DNS</a:t>
            </a:r>
            <a:r>
              <a:rPr sz="1000" dirty="0">
                <a:latin typeface="Arial"/>
                <a:cs typeface="Arial"/>
              </a:rPr>
              <a:t> </a:t>
            </a:r>
            <a:r>
              <a:rPr sz="1000" spc="-5" dirty="0">
                <a:latin typeface="Arial"/>
                <a:cs typeface="Arial"/>
              </a:rPr>
              <a:t>server</a:t>
            </a:r>
            <a:r>
              <a:rPr sz="1000" dirty="0">
                <a:latin typeface="Arial"/>
                <a:cs typeface="Arial"/>
              </a:rPr>
              <a:t> </a:t>
            </a:r>
            <a:r>
              <a:rPr sz="1000" spc="-10" dirty="0">
                <a:latin typeface="Arial"/>
                <a:cs typeface="Arial"/>
              </a:rPr>
              <a:t>keeps</a:t>
            </a:r>
            <a:r>
              <a:rPr sz="1000" dirty="0">
                <a:latin typeface="Arial"/>
                <a:cs typeface="Arial"/>
              </a:rPr>
              <a:t> </a:t>
            </a:r>
            <a:r>
              <a:rPr sz="1000" spc="-10" dirty="0">
                <a:latin typeface="Arial"/>
                <a:cs typeface="Arial"/>
              </a:rPr>
              <a:t>track</a:t>
            </a:r>
            <a:r>
              <a:rPr sz="1000" spc="5" dirty="0">
                <a:latin typeface="Arial"/>
                <a:cs typeface="Arial"/>
              </a:rPr>
              <a:t> </a:t>
            </a:r>
            <a:r>
              <a:rPr sz="1000" spc="-5" dirty="0">
                <a:latin typeface="Arial"/>
                <a:cs typeface="Arial"/>
              </a:rPr>
              <a:t>of</a:t>
            </a:r>
            <a:r>
              <a:rPr sz="1000" dirty="0">
                <a:latin typeface="Arial"/>
                <a:cs typeface="Arial"/>
              </a:rPr>
              <a:t> </a:t>
            </a:r>
            <a:r>
              <a:rPr sz="1000" spc="-5" dirty="0">
                <a:latin typeface="Arial"/>
                <a:cs typeface="Arial"/>
              </a:rPr>
              <a:t>replica</a:t>
            </a:r>
            <a:r>
              <a:rPr sz="1000" dirty="0">
                <a:latin typeface="Arial"/>
                <a:cs typeface="Arial"/>
              </a:rPr>
              <a:t> </a:t>
            </a:r>
            <a:r>
              <a:rPr sz="1000" spc="-5" dirty="0">
                <a:latin typeface="Arial"/>
                <a:cs typeface="Arial"/>
              </a:rPr>
              <a:t>servers</a:t>
            </a:r>
            <a:r>
              <a:rPr sz="1000" dirty="0">
                <a:latin typeface="Arial"/>
                <a:cs typeface="Arial"/>
              </a:rPr>
              <a:t> </a:t>
            </a:r>
            <a:r>
              <a:rPr sz="1000" spc="-15" dirty="0">
                <a:latin typeface="Arial"/>
                <a:cs typeface="Arial"/>
              </a:rPr>
              <a:t>for</a:t>
            </a:r>
            <a:r>
              <a:rPr sz="1000" spc="5"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requested </a:t>
            </a:r>
            <a:r>
              <a:rPr sz="1000" spc="-265" dirty="0">
                <a:latin typeface="Arial"/>
                <a:cs typeface="Arial"/>
              </a:rPr>
              <a:t> </a:t>
            </a:r>
            <a:r>
              <a:rPr sz="1000" spc="-5" dirty="0">
                <a:latin typeface="Arial"/>
                <a:cs typeface="Arial"/>
              </a:rPr>
              <a:t>service, and </a:t>
            </a:r>
            <a:r>
              <a:rPr sz="1000" dirty="0">
                <a:latin typeface="Arial"/>
                <a:cs typeface="Arial"/>
              </a:rPr>
              <a:t>returns</a:t>
            </a:r>
            <a:r>
              <a:rPr sz="1000" spc="-5" dirty="0">
                <a:latin typeface="Arial"/>
                <a:cs typeface="Arial"/>
              </a:rPr>
              <a:t> address of most local</a:t>
            </a:r>
            <a:r>
              <a:rPr sz="1000" dirty="0">
                <a:latin typeface="Arial"/>
                <a:cs typeface="Arial"/>
              </a:rPr>
              <a:t> </a:t>
            </a:r>
            <a:r>
              <a:rPr sz="1000" spc="-10" dirty="0">
                <a:latin typeface="Arial"/>
                <a:cs typeface="Arial"/>
              </a:rPr>
              <a:t>server.</a:t>
            </a:r>
            <a:endParaRPr sz="1000" dirty="0">
              <a:latin typeface="Arial"/>
              <a:cs typeface="Arial"/>
            </a:endParaRPr>
          </a:p>
          <a:p>
            <a:pPr>
              <a:lnSpc>
                <a:spcPct val="100000"/>
              </a:lnSpc>
              <a:spcBef>
                <a:spcPts val="10"/>
              </a:spcBef>
            </a:pPr>
            <a:endParaRPr sz="1200" dirty="0">
              <a:latin typeface="Arial"/>
              <a:cs typeface="Arial"/>
            </a:endParaRPr>
          </a:p>
          <a:p>
            <a:pPr marL="16510">
              <a:lnSpc>
                <a:spcPct val="100000"/>
              </a:lnSpc>
            </a:pPr>
            <a:r>
              <a:rPr sz="1200" spc="-5" dirty="0">
                <a:solidFill>
                  <a:srgbClr val="FA0000"/>
                </a:solidFill>
                <a:latin typeface="Arial"/>
                <a:cs typeface="Arial"/>
              </a:rPr>
              <a:t>Client</a:t>
            </a:r>
            <a:r>
              <a:rPr sz="1200" spc="-35" dirty="0">
                <a:solidFill>
                  <a:srgbClr val="FA0000"/>
                </a:solidFill>
                <a:latin typeface="Arial"/>
                <a:cs typeface="Arial"/>
              </a:rPr>
              <a:t> </a:t>
            </a:r>
            <a:r>
              <a:rPr sz="1200" spc="-5" dirty="0">
                <a:solidFill>
                  <a:srgbClr val="FA0000"/>
                </a:solidFill>
                <a:latin typeface="Arial"/>
                <a:cs typeface="Arial"/>
              </a:rPr>
              <a:t>transparency</a:t>
            </a:r>
            <a:endParaRPr sz="1200" dirty="0">
              <a:latin typeface="Arial"/>
              <a:cs typeface="Arial"/>
            </a:endParaRPr>
          </a:p>
          <a:p>
            <a:pPr marL="16510" marR="5080" indent="-4445" algn="just">
              <a:lnSpc>
                <a:spcPct val="100000"/>
              </a:lnSpc>
              <a:spcBef>
                <a:spcPts val="180"/>
              </a:spcBef>
            </a:pPr>
            <a:r>
              <a:rPr sz="1000" spc="-75" dirty="0">
                <a:latin typeface="Arial"/>
                <a:cs typeface="Arial"/>
              </a:rPr>
              <a:t>To </a:t>
            </a:r>
            <a:r>
              <a:rPr sz="1000" spc="-20" dirty="0">
                <a:latin typeface="Arial"/>
                <a:cs typeface="Arial"/>
              </a:rPr>
              <a:t>keep </a:t>
            </a:r>
            <a:r>
              <a:rPr sz="1000" spc="-10" dirty="0">
                <a:latin typeface="Arial"/>
                <a:cs typeface="Arial"/>
              </a:rPr>
              <a:t>client </a:t>
            </a:r>
            <a:r>
              <a:rPr sz="1000" spc="-20" dirty="0">
                <a:latin typeface="Arial"/>
                <a:cs typeface="Arial"/>
              </a:rPr>
              <a:t>unaware </a:t>
            </a:r>
            <a:r>
              <a:rPr sz="1000" spc="-10" dirty="0">
                <a:latin typeface="Arial"/>
                <a:cs typeface="Arial"/>
              </a:rPr>
              <a:t>of </a:t>
            </a:r>
            <a:r>
              <a:rPr sz="1000" spc="-15" dirty="0">
                <a:latin typeface="Arial"/>
                <a:cs typeface="Arial"/>
              </a:rPr>
              <a:t>distribution, </a:t>
            </a:r>
            <a:r>
              <a:rPr sz="1000" spc="-10" dirty="0">
                <a:latin typeface="Arial"/>
                <a:cs typeface="Arial"/>
              </a:rPr>
              <a:t>let </a:t>
            </a:r>
            <a:r>
              <a:rPr sz="1000" spc="-20" dirty="0">
                <a:latin typeface="Arial"/>
                <a:cs typeface="Arial"/>
              </a:rPr>
              <a:t>DNS </a:t>
            </a:r>
            <a:r>
              <a:rPr sz="1000" spc="-15" dirty="0">
                <a:latin typeface="Arial"/>
                <a:cs typeface="Arial"/>
              </a:rPr>
              <a:t>resolver act on behalf </a:t>
            </a:r>
            <a:r>
              <a:rPr sz="1000" spc="-10" dirty="0">
                <a:latin typeface="Arial"/>
                <a:cs typeface="Arial"/>
              </a:rPr>
              <a:t>of </a:t>
            </a:r>
            <a:r>
              <a:rPr sz="1000" spc="-5" dirty="0">
                <a:latin typeface="Arial"/>
                <a:cs typeface="Arial"/>
              </a:rPr>
              <a:t> </a:t>
            </a:r>
            <a:r>
              <a:rPr sz="1000" spc="-10" dirty="0">
                <a:latin typeface="Arial"/>
                <a:cs typeface="Arial"/>
              </a:rPr>
              <a:t>client. </a:t>
            </a:r>
            <a:r>
              <a:rPr sz="1000" spc="-15" dirty="0">
                <a:latin typeface="Arial"/>
                <a:cs typeface="Arial"/>
              </a:rPr>
              <a:t>Problem </a:t>
            </a:r>
            <a:r>
              <a:rPr sz="1000" spc="-10" dirty="0">
                <a:latin typeface="Arial"/>
                <a:cs typeface="Arial"/>
              </a:rPr>
              <a:t>is that the </a:t>
            </a:r>
            <a:r>
              <a:rPr sz="1000" spc="-15" dirty="0">
                <a:latin typeface="Arial"/>
                <a:cs typeface="Arial"/>
              </a:rPr>
              <a:t>resolver </a:t>
            </a:r>
            <a:r>
              <a:rPr sz="1000" spc="-25" dirty="0">
                <a:latin typeface="Arial"/>
                <a:cs typeface="Arial"/>
              </a:rPr>
              <a:t>may </a:t>
            </a:r>
            <a:r>
              <a:rPr sz="1000" spc="-10" dirty="0">
                <a:latin typeface="Arial"/>
                <a:cs typeface="Arial"/>
              </a:rPr>
              <a:t>actually be </a:t>
            </a:r>
            <a:r>
              <a:rPr sz="1000" spc="-20" dirty="0">
                <a:solidFill>
                  <a:srgbClr val="0000FA"/>
                </a:solidFill>
                <a:latin typeface="Arial"/>
                <a:cs typeface="Arial"/>
              </a:rPr>
              <a:t>far </a:t>
            </a:r>
            <a:r>
              <a:rPr sz="1000" spc="-10" dirty="0">
                <a:solidFill>
                  <a:srgbClr val="0000FA"/>
                </a:solidFill>
                <a:latin typeface="Arial"/>
                <a:cs typeface="Arial"/>
              </a:rPr>
              <a:t>from local </a:t>
            </a:r>
            <a:r>
              <a:rPr sz="1000" spc="-10" dirty="0">
                <a:latin typeface="Arial"/>
                <a:cs typeface="Arial"/>
              </a:rPr>
              <a:t>to the </a:t>
            </a:r>
            <a:r>
              <a:rPr sz="1000" spc="-5" dirty="0">
                <a:latin typeface="Arial"/>
                <a:cs typeface="Arial"/>
              </a:rPr>
              <a:t> actual</a:t>
            </a:r>
            <a:r>
              <a:rPr sz="1000" spc="-10" dirty="0">
                <a:latin typeface="Arial"/>
                <a:cs typeface="Arial"/>
              </a:rPr>
              <a:t> </a:t>
            </a:r>
            <a:r>
              <a:rPr sz="1000" spc="-5" dirty="0">
                <a:latin typeface="Arial"/>
                <a:cs typeface="Arial"/>
              </a:rPr>
              <a:t>client.</a:t>
            </a:r>
            <a:endParaRPr sz="1000" dirty="0">
              <a:latin typeface="Arial"/>
              <a:cs typeface="Arial"/>
            </a:endParaRPr>
          </a:p>
        </p:txBody>
      </p:sp>
    </p:spTree>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Server</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4" name="object 4"/>
          <p:cNvSpPr txBox="1"/>
          <p:nvPr/>
        </p:nvSpPr>
        <p:spPr>
          <a:xfrm>
            <a:off x="95300" y="82493"/>
            <a:ext cx="3879850" cy="621665"/>
          </a:xfrm>
          <a:prstGeom prst="rect">
            <a:avLst/>
          </a:prstGeom>
        </p:spPr>
        <p:txBody>
          <a:bodyPr vert="horz" wrap="square" lIns="0" tIns="123189" rIns="0" bIns="0" rtlCol="0">
            <a:spAutoFit/>
          </a:bodyPr>
          <a:lstStyle/>
          <a:p>
            <a:pPr marL="12700">
              <a:lnSpc>
                <a:spcPct val="100000"/>
              </a:lnSpc>
              <a:spcBef>
                <a:spcPts val="969"/>
              </a:spcBef>
            </a:pPr>
            <a:r>
              <a:rPr sz="1400" spc="10" dirty="0">
                <a:solidFill>
                  <a:srgbClr val="3333B2"/>
                </a:solidFill>
                <a:latin typeface="Arial"/>
                <a:cs typeface="Arial"/>
              </a:rPr>
              <a:t>Distributed</a:t>
            </a:r>
            <a:r>
              <a:rPr sz="1400" dirty="0">
                <a:solidFill>
                  <a:srgbClr val="3333B2"/>
                </a:solidFill>
                <a:latin typeface="Arial"/>
                <a:cs typeface="Arial"/>
              </a:rPr>
              <a:t> </a:t>
            </a:r>
            <a:r>
              <a:rPr sz="1400" spc="15" dirty="0">
                <a:solidFill>
                  <a:srgbClr val="3333B2"/>
                </a:solidFill>
                <a:latin typeface="Arial"/>
                <a:cs typeface="Arial"/>
              </a:rPr>
              <a:t>servers</a:t>
            </a:r>
            <a:r>
              <a:rPr sz="1400" dirty="0">
                <a:solidFill>
                  <a:srgbClr val="3333B2"/>
                </a:solidFill>
                <a:latin typeface="Arial"/>
                <a:cs typeface="Arial"/>
              </a:rPr>
              <a:t> </a:t>
            </a:r>
            <a:r>
              <a:rPr sz="1400" spc="15" dirty="0">
                <a:solidFill>
                  <a:srgbClr val="3333B2"/>
                </a:solidFill>
                <a:latin typeface="Arial"/>
                <a:cs typeface="Arial"/>
              </a:rPr>
              <a:t>with</a:t>
            </a:r>
            <a:r>
              <a:rPr sz="1400" dirty="0">
                <a:solidFill>
                  <a:srgbClr val="3333B2"/>
                </a:solidFill>
                <a:latin typeface="Arial"/>
                <a:cs typeface="Arial"/>
              </a:rPr>
              <a:t> </a:t>
            </a:r>
            <a:r>
              <a:rPr sz="1400" spc="10" dirty="0">
                <a:solidFill>
                  <a:srgbClr val="3333B2"/>
                </a:solidFill>
                <a:latin typeface="Arial"/>
                <a:cs typeface="Arial"/>
              </a:rPr>
              <a:t>stable</a:t>
            </a:r>
            <a:r>
              <a:rPr sz="1400" spc="5" dirty="0">
                <a:solidFill>
                  <a:srgbClr val="3333B2"/>
                </a:solidFill>
                <a:latin typeface="Arial"/>
                <a:cs typeface="Arial"/>
              </a:rPr>
              <a:t> </a:t>
            </a:r>
            <a:r>
              <a:rPr sz="1400" spc="15" dirty="0">
                <a:solidFill>
                  <a:srgbClr val="3333B2"/>
                </a:solidFill>
                <a:latin typeface="Arial"/>
                <a:cs typeface="Arial"/>
              </a:rPr>
              <a:t>IPv6</a:t>
            </a:r>
            <a:r>
              <a:rPr sz="1400" dirty="0">
                <a:solidFill>
                  <a:srgbClr val="3333B2"/>
                </a:solidFill>
                <a:latin typeface="Arial"/>
                <a:cs typeface="Arial"/>
              </a:rPr>
              <a:t> </a:t>
            </a:r>
            <a:r>
              <a:rPr sz="1400" spc="15" dirty="0">
                <a:solidFill>
                  <a:srgbClr val="3333B2"/>
                </a:solidFill>
                <a:latin typeface="Arial"/>
                <a:cs typeface="Arial"/>
              </a:rPr>
              <a:t>address(es)</a:t>
            </a:r>
            <a:endParaRPr sz="1400" dirty="0">
              <a:latin typeface="Arial"/>
              <a:cs typeface="Arial"/>
            </a:endParaRPr>
          </a:p>
          <a:p>
            <a:pPr marL="259715">
              <a:lnSpc>
                <a:spcPct val="100000"/>
              </a:lnSpc>
              <a:spcBef>
                <a:spcPts val="700"/>
              </a:spcBef>
            </a:pPr>
            <a:r>
              <a:rPr sz="1200" spc="-20" dirty="0">
                <a:solidFill>
                  <a:srgbClr val="3333B2"/>
                </a:solidFill>
                <a:latin typeface="Arial"/>
                <a:cs typeface="Arial"/>
              </a:rPr>
              <a:t>Transparency</a:t>
            </a:r>
            <a:r>
              <a:rPr sz="1200" spc="-10" dirty="0">
                <a:solidFill>
                  <a:srgbClr val="3333B2"/>
                </a:solidFill>
                <a:latin typeface="Arial"/>
                <a:cs typeface="Arial"/>
              </a:rPr>
              <a:t> </a:t>
            </a:r>
            <a:r>
              <a:rPr sz="1200" spc="-5" dirty="0">
                <a:solidFill>
                  <a:srgbClr val="3333B2"/>
                </a:solidFill>
                <a:latin typeface="Arial"/>
                <a:cs typeface="Arial"/>
              </a:rPr>
              <a:t>through Mobile</a:t>
            </a:r>
            <a:r>
              <a:rPr sz="1200" spc="-10" dirty="0">
                <a:solidFill>
                  <a:srgbClr val="3333B2"/>
                </a:solidFill>
                <a:latin typeface="Arial"/>
                <a:cs typeface="Arial"/>
              </a:rPr>
              <a:t> </a:t>
            </a:r>
            <a:r>
              <a:rPr sz="1200" spc="-5" dirty="0">
                <a:solidFill>
                  <a:srgbClr val="3333B2"/>
                </a:solidFill>
                <a:latin typeface="Arial"/>
                <a:cs typeface="Arial"/>
              </a:rPr>
              <a:t>IP</a:t>
            </a:r>
            <a:endParaRPr sz="1200" dirty="0">
              <a:latin typeface="Arial"/>
              <a:cs typeface="Arial"/>
            </a:endParaRPr>
          </a:p>
        </p:txBody>
      </p:sp>
      <p:sp>
        <p:nvSpPr>
          <p:cNvPr id="5" name="object 5"/>
          <p:cNvSpPr txBox="1"/>
          <p:nvPr/>
        </p:nvSpPr>
        <p:spPr>
          <a:xfrm>
            <a:off x="878653" y="1094046"/>
            <a:ext cx="588010" cy="227329"/>
          </a:xfrm>
          <a:prstGeom prst="rect">
            <a:avLst/>
          </a:prstGeom>
        </p:spPr>
        <p:txBody>
          <a:bodyPr vert="horz" wrap="square" lIns="0" tIns="13970" rIns="0" bIns="0" rtlCol="0">
            <a:spAutoFit/>
          </a:bodyPr>
          <a:lstStyle/>
          <a:p>
            <a:pPr marL="12700" marR="5080" indent="93345">
              <a:lnSpc>
                <a:spcPct val="100000"/>
              </a:lnSpc>
              <a:spcBef>
                <a:spcPts val="110"/>
              </a:spcBef>
            </a:pPr>
            <a:r>
              <a:rPr sz="650" spc="5" dirty="0">
                <a:solidFill>
                  <a:srgbClr val="231F20"/>
                </a:solidFill>
                <a:latin typeface="Arial"/>
                <a:cs typeface="Arial"/>
              </a:rPr>
              <a:t>Believes</a:t>
            </a:r>
            <a:r>
              <a:rPr sz="650" spc="-40" dirty="0">
                <a:solidFill>
                  <a:srgbClr val="231F20"/>
                </a:solidFill>
                <a:latin typeface="Arial"/>
                <a:cs typeface="Arial"/>
              </a:rPr>
              <a:t> </a:t>
            </a:r>
            <a:r>
              <a:rPr sz="650" dirty="0">
                <a:solidFill>
                  <a:srgbClr val="231F20"/>
                </a:solidFill>
                <a:latin typeface="Arial"/>
                <a:cs typeface="Arial"/>
              </a:rPr>
              <a:t>it</a:t>
            </a:r>
            <a:r>
              <a:rPr sz="650" spc="-40" dirty="0">
                <a:solidFill>
                  <a:srgbClr val="231F20"/>
                </a:solidFill>
                <a:latin typeface="Arial"/>
                <a:cs typeface="Arial"/>
              </a:rPr>
              <a:t> </a:t>
            </a:r>
            <a:r>
              <a:rPr sz="650" spc="5" dirty="0">
                <a:solidFill>
                  <a:srgbClr val="231F20"/>
                </a:solidFill>
                <a:latin typeface="Arial"/>
                <a:cs typeface="Arial"/>
              </a:rPr>
              <a:t>is </a:t>
            </a:r>
            <a:r>
              <a:rPr sz="650" spc="-165" dirty="0">
                <a:solidFill>
                  <a:srgbClr val="231F20"/>
                </a:solidFill>
                <a:latin typeface="Arial"/>
                <a:cs typeface="Arial"/>
              </a:rPr>
              <a:t> </a:t>
            </a:r>
            <a:r>
              <a:rPr sz="650" spc="5" dirty="0">
                <a:solidFill>
                  <a:srgbClr val="231F20"/>
                </a:solidFill>
                <a:latin typeface="Arial"/>
                <a:cs typeface="Arial"/>
              </a:rPr>
              <a:t>connected</a:t>
            </a:r>
            <a:r>
              <a:rPr sz="650" spc="-40" dirty="0">
                <a:solidFill>
                  <a:srgbClr val="231F20"/>
                </a:solidFill>
                <a:latin typeface="Arial"/>
                <a:cs typeface="Arial"/>
              </a:rPr>
              <a:t> </a:t>
            </a:r>
            <a:r>
              <a:rPr sz="650" spc="5" dirty="0">
                <a:solidFill>
                  <a:srgbClr val="231F20"/>
                </a:solidFill>
                <a:latin typeface="Arial"/>
                <a:cs typeface="Arial"/>
              </a:rPr>
              <a:t>to</a:t>
            </a:r>
            <a:r>
              <a:rPr sz="650" spc="-35"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6" name="object 6"/>
          <p:cNvSpPr txBox="1"/>
          <p:nvPr/>
        </p:nvSpPr>
        <p:spPr>
          <a:xfrm>
            <a:off x="816396" y="1354623"/>
            <a:ext cx="658495" cy="227329"/>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Believes location</a:t>
            </a:r>
            <a:endParaRPr sz="650">
              <a:latin typeface="Arial"/>
              <a:cs typeface="Arial"/>
            </a:endParaRPr>
          </a:p>
          <a:p>
            <a:pPr marL="223520">
              <a:lnSpc>
                <a:spcPct val="100000"/>
              </a:lnSpc>
              <a:spcBef>
                <a:spcPts val="10"/>
              </a:spcBef>
            </a:pPr>
            <a:r>
              <a:rPr sz="650" spc="5" dirty="0">
                <a:solidFill>
                  <a:srgbClr val="231F20"/>
                </a:solidFill>
                <a:latin typeface="Arial"/>
                <a:cs typeface="Arial"/>
              </a:rPr>
              <a:t>of</a:t>
            </a:r>
            <a:r>
              <a:rPr sz="650" spc="-30" dirty="0">
                <a:solidFill>
                  <a:srgbClr val="231F20"/>
                </a:solidFill>
                <a:latin typeface="Arial"/>
                <a:cs typeface="Arial"/>
              </a:rPr>
              <a:t> </a:t>
            </a:r>
            <a:r>
              <a:rPr sz="650" spc="5" dirty="0">
                <a:solidFill>
                  <a:srgbClr val="231F20"/>
                </a:solidFill>
                <a:latin typeface="Arial"/>
                <a:cs typeface="Arial"/>
              </a:rPr>
              <a:t>X</a:t>
            </a:r>
            <a:r>
              <a:rPr sz="650" spc="-25" dirty="0">
                <a:solidFill>
                  <a:srgbClr val="231F20"/>
                </a:solidFill>
                <a:latin typeface="Arial"/>
                <a:cs typeface="Arial"/>
              </a:rPr>
              <a:t> </a:t>
            </a:r>
            <a:r>
              <a:rPr sz="650" spc="5" dirty="0">
                <a:solidFill>
                  <a:srgbClr val="231F20"/>
                </a:solidFill>
                <a:latin typeface="Arial"/>
                <a:cs typeface="Arial"/>
              </a:rPr>
              <a:t>is</a:t>
            </a:r>
            <a:r>
              <a:rPr sz="650" spc="-30" dirty="0">
                <a:solidFill>
                  <a:srgbClr val="231F20"/>
                </a:solidFill>
                <a:latin typeface="Arial"/>
                <a:cs typeface="Arial"/>
              </a:rPr>
              <a:t> </a:t>
            </a:r>
            <a:r>
              <a:rPr sz="650" spc="5" dirty="0">
                <a:solidFill>
                  <a:srgbClr val="231F20"/>
                </a:solidFill>
                <a:latin typeface="Arial"/>
                <a:cs typeface="Arial"/>
              </a:rPr>
              <a:t>CA1</a:t>
            </a:r>
            <a:endParaRPr sz="650">
              <a:latin typeface="Arial"/>
              <a:cs typeface="Arial"/>
            </a:endParaRPr>
          </a:p>
        </p:txBody>
      </p:sp>
      <p:sp>
        <p:nvSpPr>
          <p:cNvPr id="7" name="object 7"/>
          <p:cNvSpPr txBox="1"/>
          <p:nvPr/>
        </p:nvSpPr>
        <p:spPr>
          <a:xfrm>
            <a:off x="537124" y="2232474"/>
            <a:ext cx="588010" cy="227329"/>
          </a:xfrm>
          <a:prstGeom prst="rect">
            <a:avLst/>
          </a:prstGeom>
        </p:spPr>
        <p:txBody>
          <a:bodyPr vert="horz" wrap="square" lIns="0" tIns="13970" rIns="0" bIns="0" rtlCol="0">
            <a:spAutoFit/>
          </a:bodyPr>
          <a:lstStyle/>
          <a:p>
            <a:pPr marL="12700" marR="5080" indent="93345">
              <a:lnSpc>
                <a:spcPct val="100000"/>
              </a:lnSpc>
              <a:spcBef>
                <a:spcPts val="110"/>
              </a:spcBef>
            </a:pPr>
            <a:r>
              <a:rPr sz="650" spc="5" dirty="0">
                <a:solidFill>
                  <a:srgbClr val="231F20"/>
                </a:solidFill>
                <a:latin typeface="Arial"/>
                <a:cs typeface="Arial"/>
              </a:rPr>
              <a:t>Believes</a:t>
            </a:r>
            <a:r>
              <a:rPr sz="650" spc="-40" dirty="0">
                <a:solidFill>
                  <a:srgbClr val="231F20"/>
                </a:solidFill>
                <a:latin typeface="Arial"/>
                <a:cs typeface="Arial"/>
              </a:rPr>
              <a:t> </a:t>
            </a:r>
            <a:r>
              <a:rPr sz="650" dirty="0">
                <a:solidFill>
                  <a:srgbClr val="231F20"/>
                </a:solidFill>
                <a:latin typeface="Arial"/>
                <a:cs typeface="Arial"/>
              </a:rPr>
              <a:t>it</a:t>
            </a:r>
            <a:r>
              <a:rPr sz="650" spc="-40" dirty="0">
                <a:solidFill>
                  <a:srgbClr val="231F20"/>
                </a:solidFill>
                <a:latin typeface="Arial"/>
                <a:cs typeface="Arial"/>
              </a:rPr>
              <a:t> </a:t>
            </a:r>
            <a:r>
              <a:rPr sz="650" spc="5" dirty="0">
                <a:solidFill>
                  <a:srgbClr val="231F20"/>
                </a:solidFill>
                <a:latin typeface="Arial"/>
                <a:cs typeface="Arial"/>
              </a:rPr>
              <a:t>is </a:t>
            </a:r>
            <a:r>
              <a:rPr sz="650" spc="-165" dirty="0">
                <a:solidFill>
                  <a:srgbClr val="231F20"/>
                </a:solidFill>
                <a:latin typeface="Arial"/>
                <a:cs typeface="Arial"/>
              </a:rPr>
              <a:t> </a:t>
            </a:r>
            <a:r>
              <a:rPr sz="650" spc="5" dirty="0">
                <a:solidFill>
                  <a:srgbClr val="231F20"/>
                </a:solidFill>
                <a:latin typeface="Arial"/>
                <a:cs typeface="Arial"/>
              </a:rPr>
              <a:t>connected</a:t>
            </a:r>
            <a:r>
              <a:rPr sz="650" spc="-40" dirty="0">
                <a:solidFill>
                  <a:srgbClr val="231F20"/>
                </a:solidFill>
                <a:latin typeface="Arial"/>
                <a:cs typeface="Arial"/>
              </a:rPr>
              <a:t> </a:t>
            </a:r>
            <a:r>
              <a:rPr sz="650" spc="5" dirty="0">
                <a:solidFill>
                  <a:srgbClr val="231F20"/>
                </a:solidFill>
                <a:latin typeface="Arial"/>
                <a:cs typeface="Arial"/>
              </a:rPr>
              <a:t>to</a:t>
            </a:r>
            <a:r>
              <a:rPr sz="650" spc="-35"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8" name="object 8"/>
          <p:cNvSpPr txBox="1"/>
          <p:nvPr/>
        </p:nvSpPr>
        <p:spPr>
          <a:xfrm>
            <a:off x="466874" y="2536055"/>
            <a:ext cx="658495" cy="227329"/>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Believes location</a:t>
            </a:r>
            <a:endParaRPr sz="650">
              <a:latin typeface="Arial"/>
              <a:cs typeface="Arial"/>
            </a:endParaRPr>
          </a:p>
          <a:p>
            <a:pPr marL="223520">
              <a:lnSpc>
                <a:spcPct val="100000"/>
              </a:lnSpc>
              <a:spcBef>
                <a:spcPts val="10"/>
              </a:spcBef>
            </a:pPr>
            <a:r>
              <a:rPr sz="650" spc="5" dirty="0">
                <a:solidFill>
                  <a:srgbClr val="231F20"/>
                </a:solidFill>
                <a:latin typeface="Arial"/>
                <a:cs typeface="Arial"/>
              </a:rPr>
              <a:t>of</a:t>
            </a:r>
            <a:r>
              <a:rPr sz="650" spc="-30" dirty="0">
                <a:solidFill>
                  <a:srgbClr val="231F20"/>
                </a:solidFill>
                <a:latin typeface="Arial"/>
                <a:cs typeface="Arial"/>
              </a:rPr>
              <a:t> </a:t>
            </a:r>
            <a:r>
              <a:rPr sz="650" spc="5" dirty="0">
                <a:solidFill>
                  <a:srgbClr val="231F20"/>
                </a:solidFill>
                <a:latin typeface="Arial"/>
                <a:cs typeface="Arial"/>
              </a:rPr>
              <a:t>X</a:t>
            </a:r>
            <a:r>
              <a:rPr sz="650" spc="-25" dirty="0">
                <a:solidFill>
                  <a:srgbClr val="231F20"/>
                </a:solidFill>
                <a:latin typeface="Arial"/>
                <a:cs typeface="Arial"/>
              </a:rPr>
              <a:t> </a:t>
            </a:r>
            <a:r>
              <a:rPr sz="650" spc="5" dirty="0">
                <a:solidFill>
                  <a:srgbClr val="231F20"/>
                </a:solidFill>
                <a:latin typeface="Arial"/>
                <a:cs typeface="Arial"/>
              </a:rPr>
              <a:t>is</a:t>
            </a:r>
            <a:r>
              <a:rPr sz="650" spc="-30" dirty="0">
                <a:solidFill>
                  <a:srgbClr val="231F20"/>
                </a:solidFill>
                <a:latin typeface="Arial"/>
                <a:cs typeface="Arial"/>
              </a:rPr>
              <a:t> </a:t>
            </a:r>
            <a:r>
              <a:rPr sz="650" spc="5" dirty="0">
                <a:solidFill>
                  <a:srgbClr val="231F20"/>
                </a:solidFill>
                <a:latin typeface="Arial"/>
                <a:cs typeface="Arial"/>
              </a:rPr>
              <a:t>CA2</a:t>
            </a:r>
            <a:endParaRPr sz="650">
              <a:latin typeface="Arial"/>
              <a:cs typeface="Arial"/>
            </a:endParaRPr>
          </a:p>
        </p:txBody>
      </p:sp>
      <p:sp>
        <p:nvSpPr>
          <p:cNvPr id="9" name="object 9"/>
          <p:cNvSpPr txBox="1"/>
          <p:nvPr/>
        </p:nvSpPr>
        <p:spPr>
          <a:xfrm>
            <a:off x="1336209" y="1966845"/>
            <a:ext cx="311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Client 2</a:t>
            </a:r>
            <a:endParaRPr sz="650">
              <a:latin typeface="Arial"/>
              <a:cs typeface="Arial"/>
            </a:endParaRPr>
          </a:p>
        </p:txBody>
      </p:sp>
      <p:sp>
        <p:nvSpPr>
          <p:cNvPr id="10" name="object 10"/>
          <p:cNvSpPr txBox="1"/>
          <p:nvPr/>
        </p:nvSpPr>
        <p:spPr>
          <a:xfrm>
            <a:off x="3558737" y="980207"/>
            <a:ext cx="3441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1</a:t>
            </a:r>
            <a:endParaRPr sz="650">
              <a:latin typeface="Arial"/>
              <a:cs typeface="Arial"/>
            </a:endParaRPr>
          </a:p>
        </p:txBody>
      </p:sp>
      <p:sp>
        <p:nvSpPr>
          <p:cNvPr id="11" name="object 11"/>
          <p:cNvSpPr txBox="1"/>
          <p:nvPr/>
        </p:nvSpPr>
        <p:spPr>
          <a:xfrm>
            <a:off x="3520789" y="2004793"/>
            <a:ext cx="34417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Server 2</a:t>
            </a:r>
            <a:endParaRPr sz="650">
              <a:latin typeface="Arial"/>
              <a:cs typeface="Arial"/>
            </a:endParaRPr>
          </a:p>
        </p:txBody>
      </p:sp>
      <p:sp>
        <p:nvSpPr>
          <p:cNvPr id="12" name="object 12"/>
          <p:cNvSpPr txBox="1"/>
          <p:nvPr/>
        </p:nvSpPr>
        <p:spPr>
          <a:xfrm>
            <a:off x="2242725" y="1696991"/>
            <a:ext cx="311785"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Internet</a:t>
            </a:r>
            <a:endParaRPr sz="650">
              <a:latin typeface="Arial"/>
              <a:cs typeface="Arial"/>
            </a:endParaRPr>
          </a:p>
        </p:txBody>
      </p:sp>
      <p:sp>
        <p:nvSpPr>
          <p:cNvPr id="13" name="object 13"/>
          <p:cNvSpPr txBox="1"/>
          <p:nvPr/>
        </p:nvSpPr>
        <p:spPr>
          <a:xfrm>
            <a:off x="2444075" y="828417"/>
            <a:ext cx="752475" cy="227329"/>
          </a:xfrm>
          <a:prstGeom prst="rect">
            <a:avLst/>
          </a:prstGeom>
        </p:spPr>
        <p:txBody>
          <a:bodyPr vert="horz" wrap="square" lIns="0" tIns="13970" rIns="0" bIns="0" rtlCol="0">
            <a:spAutoFit/>
          </a:bodyPr>
          <a:lstStyle/>
          <a:p>
            <a:pPr marL="106045" marR="5080" indent="-93980">
              <a:lnSpc>
                <a:spcPct val="100000"/>
              </a:lnSpc>
              <a:spcBef>
                <a:spcPts val="110"/>
              </a:spcBef>
            </a:pPr>
            <a:r>
              <a:rPr sz="650" spc="5" dirty="0">
                <a:solidFill>
                  <a:srgbClr val="231F20"/>
                </a:solidFill>
                <a:latin typeface="Arial"/>
                <a:cs typeface="Arial"/>
              </a:rPr>
              <a:t>Knows</a:t>
            </a:r>
            <a:r>
              <a:rPr sz="650" spc="-25" dirty="0">
                <a:solidFill>
                  <a:srgbClr val="231F20"/>
                </a:solidFill>
                <a:latin typeface="Arial"/>
                <a:cs typeface="Arial"/>
              </a:rPr>
              <a:t> </a:t>
            </a:r>
            <a:r>
              <a:rPr sz="650" spc="5" dirty="0">
                <a:solidFill>
                  <a:srgbClr val="231F20"/>
                </a:solidFill>
                <a:latin typeface="Arial"/>
                <a:cs typeface="Arial"/>
              </a:rPr>
              <a:t>that</a:t>
            </a:r>
            <a:r>
              <a:rPr sz="650" spc="-25" dirty="0">
                <a:solidFill>
                  <a:srgbClr val="231F20"/>
                </a:solidFill>
                <a:latin typeface="Arial"/>
                <a:cs typeface="Arial"/>
              </a:rPr>
              <a:t> </a:t>
            </a:r>
            <a:r>
              <a:rPr sz="650" spc="5" dirty="0">
                <a:solidFill>
                  <a:srgbClr val="231F20"/>
                </a:solidFill>
                <a:latin typeface="Arial"/>
                <a:cs typeface="Arial"/>
              </a:rPr>
              <a:t>Client</a:t>
            </a:r>
            <a:r>
              <a:rPr sz="650" spc="-20" dirty="0">
                <a:solidFill>
                  <a:srgbClr val="231F20"/>
                </a:solidFill>
                <a:latin typeface="Arial"/>
                <a:cs typeface="Arial"/>
              </a:rPr>
              <a:t> </a:t>
            </a:r>
            <a:r>
              <a:rPr sz="650" spc="5" dirty="0">
                <a:solidFill>
                  <a:srgbClr val="231F20"/>
                </a:solidFill>
                <a:latin typeface="Arial"/>
                <a:cs typeface="Arial"/>
              </a:rPr>
              <a:t>1 </a:t>
            </a:r>
            <a:r>
              <a:rPr sz="650" spc="-165" dirty="0">
                <a:solidFill>
                  <a:srgbClr val="231F20"/>
                </a:solidFill>
                <a:latin typeface="Arial"/>
                <a:cs typeface="Arial"/>
              </a:rPr>
              <a:t> </a:t>
            </a:r>
            <a:r>
              <a:rPr sz="650" spc="5" dirty="0">
                <a:solidFill>
                  <a:srgbClr val="231F20"/>
                </a:solidFill>
                <a:latin typeface="Arial"/>
                <a:cs typeface="Arial"/>
              </a:rPr>
              <a:t>believes</a:t>
            </a:r>
            <a:r>
              <a:rPr sz="650" spc="-15" dirty="0">
                <a:solidFill>
                  <a:srgbClr val="231F20"/>
                </a:solidFill>
                <a:latin typeface="Arial"/>
                <a:cs typeface="Arial"/>
              </a:rPr>
              <a:t> </a:t>
            </a:r>
            <a:r>
              <a:rPr sz="650" dirty="0">
                <a:solidFill>
                  <a:srgbClr val="231F20"/>
                </a:solidFill>
                <a:latin typeface="Arial"/>
                <a:cs typeface="Arial"/>
              </a:rPr>
              <a:t>it</a:t>
            </a:r>
            <a:r>
              <a:rPr sz="650" spc="-10" dirty="0">
                <a:solidFill>
                  <a:srgbClr val="231F20"/>
                </a:solidFill>
                <a:latin typeface="Arial"/>
                <a:cs typeface="Arial"/>
              </a:rPr>
              <a:t> </a:t>
            </a:r>
            <a:r>
              <a:rPr sz="650" spc="5" dirty="0">
                <a:solidFill>
                  <a:srgbClr val="231F20"/>
                </a:solidFill>
                <a:latin typeface="Arial"/>
                <a:cs typeface="Arial"/>
              </a:rPr>
              <a:t>is</a:t>
            </a:r>
            <a:r>
              <a:rPr sz="650" spc="-1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14" name="object 14"/>
          <p:cNvSpPr txBox="1"/>
          <p:nvPr/>
        </p:nvSpPr>
        <p:spPr>
          <a:xfrm>
            <a:off x="2482018" y="2763734"/>
            <a:ext cx="752475" cy="227329"/>
          </a:xfrm>
          <a:prstGeom prst="rect">
            <a:avLst/>
          </a:prstGeom>
        </p:spPr>
        <p:txBody>
          <a:bodyPr vert="horz" wrap="square" lIns="0" tIns="13970" rIns="0" bIns="0" rtlCol="0">
            <a:spAutoFit/>
          </a:bodyPr>
          <a:lstStyle/>
          <a:p>
            <a:pPr marL="106045" marR="5080" indent="-93980">
              <a:lnSpc>
                <a:spcPct val="100000"/>
              </a:lnSpc>
              <a:spcBef>
                <a:spcPts val="110"/>
              </a:spcBef>
            </a:pPr>
            <a:r>
              <a:rPr sz="650" spc="5" dirty="0">
                <a:solidFill>
                  <a:srgbClr val="231F20"/>
                </a:solidFill>
                <a:latin typeface="Arial"/>
                <a:cs typeface="Arial"/>
              </a:rPr>
              <a:t>Knows</a:t>
            </a:r>
            <a:r>
              <a:rPr sz="650" spc="-25" dirty="0">
                <a:solidFill>
                  <a:srgbClr val="231F20"/>
                </a:solidFill>
                <a:latin typeface="Arial"/>
                <a:cs typeface="Arial"/>
              </a:rPr>
              <a:t> </a:t>
            </a:r>
            <a:r>
              <a:rPr sz="650" spc="5" dirty="0">
                <a:solidFill>
                  <a:srgbClr val="231F20"/>
                </a:solidFill>
                <a:latin typeface="Arial"/>
                <a:cs typeface="Arial"/>
              </a:rPr>
              <a:t>that</a:t>
            </a:r>
            <a:r>
              <a:rPr sz="650" spc="-25" dirty="0">
                <a:solidFill>
                  <a:srgbClr val="231F20"/>
                </a:solidFill>
                <a:latin typeface="Arial"/>
                <a:cs typeface="Arial"/>
              </a:rPr>
              <a:t> </a:t>
            </a:r>
            <a:r>
              <a:rPr sz="650" spc="5" dirty="0">
                <a:solidFill>
                  <a:srgbClr val="231F20"/>
                </a:solidFill>
                <a:latin typeface="Arial"/>
                <a:cs typeface="Arial"/>
              </a:rPr>
              <a:t>Client</a:t>
            </a:r>
            <a:r>
              <a:rPr sz="650" spc="-20" dirty="0">
                <a:solidFill>
                  <a:srgbClr val="231F20"/>
                </a:solidFill>
                <a:latin typeface="Arial"/>
                <a:cs typeface="Arial"/>
              </a:rPr>
              <a:t> </a:t>
            </a:r>
            <a:r>
              <a:rPr sz="650" spc="5" dirty="0">
                <a:solidFill>
                  <a:srgbClr val="231F20"/>
                </a:solidFill>
                <a:latin typeface="Arial"/>
                <a:cs typeface="Arial"/>
              </a:rPr>
              <a:t>2 </a:t>
            </a:r>
            <a:r>
              <a:rPr sz="650" spc="-165" dirty="0">
                <a:solidFill>
                  <a:srgbClr val="231F20"/>
                </a:solidFill>
                <a:latin typeface="Arial"/>
                <a:cs typeface="Arial"/>
              </a:rPr>
              <a:t> </a:t>
            </a:r>
            <a:r>
              <a:rPr sz="650" spc="5" dirty="0">
                <a:solidFill>
                  <a:srgbClr val="231F20"/>
                </a:solidFill>
                <a:latin typeface="Arial"/>
                <a:cs typeface="Arial"/>
              </a:rPr>
              <a:t>believes</a:t>
            </a:r>
            <a:r>
              <a:rPr sz="650" spc="-15" dirty="0">
                <a:solidFill>
                  <a:srgbClr val="231F20"/>
                </a:solidFill>
                <a:latin typeface="Arial"/>
                <a:cs typeface="Arial"/>
              </a:rPr>
              <a:t> </a:t>
            </a:r>
            <a:r>
              <a:rPr sz="650" dirty="0">
                <a:solidFill>
                  <a:srgbClr val="231F20"/>
                </a:solidFill>
                <a:latin typeface="Arial"/>
                <a:cs typeface="Arial"/>
              </a:rPr>
              <a:t>it</a:t>
            </a:r>
            <a:r>
              <a:rPr sz="650" spc="-10" dirty="0">
                <a:solidFill>
                  <a:srgbClr val="231F20"/>
                </a:solidFill>
                <a:latin typeface="Arial"/>
                <a:cs typeface="Arial"/>
              </a:rPr>
              <a:t> </a:t>
            </a:r>
            <a:r>
              <a:rPr sz="650" spc="5" dirty="0">
                <a:solidFill>
                  <a:srgbClr val="231F20"/>
                </a:solidFill>
                <a:latin typeface="Arial"/>
                <a:cs typeface="Arial"/>
              </a:rPr>
              <a:t>is</a:t>
            </a:r>
            <a:r>
              <a:rPr sz="650" spc="-1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15" name="object 15"/>
          <p:cNvSpPr txBox="1"/>
          <p:nvPr/>
        </p:nvSpPr>
        <p:spPr>
          <a:xfrm>
            <a:off x="841266" y="828407"/>
            <a:ext cx="1148080" cy="227329"/>
          </a:xfrm>
          <a:prstGeom prst="rect">
            <a:avLst/>
          </a:prstGeom>
        </p:spPr>
        <p:txBody>
          <a:bodyPr vert="horz" wrap="square" lIns="0" tIns="13970" rIns="0" bIns="0" rtlCol="0">
            <a:spAutoFit/>
          </a:bodyPr>
          <a:lstStyle/>
          <a:p>
            <a:pPr marL="12700" marR="5080" indent="23495">
              <a:lnSpc>
                <a:spcPct val="100000"/>
              </a:lnSpc>
              <a:spcBef>
                <a:spcPts val="110"/>
              </a:spcBef>
              <a:tabLst>
                <a:tab pos="848994" algn="l"/>
              </a:tabLst>
            </a:pPr>
            <a:r>
              <a:rPr sz="650" spc="5" dirty="0">
                <a:solidFill>
                  <a:srgbClr val="231F20"/>
                </a:solidFill>
                <a:latin typeface="Arial"/>
                <a:cs typeface="Arial"/>
              </a:rPr>
              <a:t>Believes server	Client 1  has</a:t>
            </a:r>
            <a:r>
              <a:rPr sz="650" spc="-5" dirty="0">
                <a:solidFill>
                  <a:srgbClr val="231F20"/>
                </a:solidFill>
                <a:latin typeface="Arial"/>
                <a:cs typeface="Arial"/>
              </a:rPr>
              <a:t> </a:t>
            </a:r>
            <a:r>
              <a:rPr sz="650" spc="5" dirty="0">
                <a:solidFill>
                  <a:srgbClr val="231F20"/>
                </a:solidFill>
                <a:latin typeface="Arial"/>
                <a:cs typeface="Arial"/>
              </a:rPr>
              <a:t>address</a:t>
            </a:r>
            <a:r>
              <a:rPr sz="650" spc="-5" dirty="0">
                <a:solidFill>
                  <a:srgbClr val="231F20"/>
                </a:solidFill>
                <a:latin typeface="Arial"/>
                <a:cs typeface="Arial"/>
              </a:rPr>
              <a:t> </a:t>
            </a:r>
            <a:r>
              <a:rPr sz="650" spc="5" dirty="0">
                <a:solidFill>
                  <a:srgbClr val="231F20"/>
                </a:solidFill>
                <a:latin typeface="Arial"/>
                <a:cs typeface="Arial"/>
              </a:rPr>
              <a:t>HA</a:t>
            </a:r>
            <a:endParaRPr sz="650">
              <a:latin typeface="Arial"/>
              <a:cs typeface="Arial"/>
            </a:endParaRPr>
          </a:p>
        </p:txBody>
      </p:sp>
      <p:sp>
        <p:nvSpPr>
          <p:cNvPr id="16" name="object 16"/>
          <p:cNvSpPr txBox="1"/>
          <p:nvPr/>
        </p:nvSpPr>
        <p:spPr>
          <a:xfrm>
            <a:off x="3347858" y="790459"/>
            <a:ext cx="76581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Distributed</a:t>
            </a:r>
            <a:r>
              <a:rPr sz="650" spc="-30" dirty="0">
                <a:solidFill>
                  <a:srgbClr val="231F20"/>
                </a:solidFill>
                <a:latin typeface="Arial"/>
                <a:cs typeface="Arial"/>
              </a:rPr>
              <a:t> </a:t>
            </a:r>
            <a:r>
              <a:rPr sz="650" spc="5" dirty="0">
                <a:solidFill>
                  <a:srgbClr val="231F20"/>
                </a:solidFill>
                <a:latin typeface="Arial"/>
                <a:cs typeface="Arial"/>
              </a:rPr>
              <a:t>server</a:t>
            </a:r>
            <a:r>
              <a:rPr sz="650" spc="-30" dirty="0">
                <a:solidFill>
                  <a:srgbClr val="231F20"/>
                </a:solidFill>
                <a:latin typeface="Arial"/>
                <a:cs typeface="Arial"/>
              </a:rPr>
              <a:t> </a:t>
            </a:r>
            <a:r>
              <a:rPr sz="650" spc="5" dirty="0">
                <a:solidFill>
                  <a:srgbClr val="231F20"/>
                </a:solidFill>
                <a:latin typeface="Arial"/>
                <a:cs typeface="Arial"/>
              </a:rPr>
              <a:t>X</a:t>
            </a:r>
            <a:endParaRPr sz="650">
              <a:latin typeface="Arial"/>
              <a:cs typeface="Arial"/>
            </a:endParaRPr>
          </a:p>
        </p:txBody>
      </p:sp>
      <p:sp>
        <p:nvSpPr>
          <p:cNvPr id="17" name="object 17"/>
          <p:cNvSpPr txBox="1"/>
          <p:nvPr/>
        </p:nvSpPr>
        <p:spPr>
          <a:xfrm>
            <a:off x="503955" y="1971038"/>
            <a:ext cx="625475" cy="227329"/>
          </a:xfrm>
          <a:prstGeom prst="rect">
            <a:avLst/>
          </a:prstGeom>
        </p:spPr>
        <p:txBody>
          <a:bodyPr vert="horz" wrap="square" lIns="0" tIns="13970" rIns="0" bIns="0" rtlCol="0">
            <a:spAutoFit/>
          </a:bodyPr>
          <a:lstStyle/>
          <a:p>
            <a:pPr marL="12700" marR="5080" indent="23495">
              <a:lnSpc>
                <a:spcPct val="100000"/>
              </a:lnSpc>
              <a:spcBef>
                <a:spcPts val="110"/>
              </a:spcBef>
            </a:pPr>
            <a:r>
              <a:rPr sz="650" spc="5" dirty="0">
                <a:solidFill>
                  <a:srgbClr val="231F20"/>
                </a:solidFill>
                <a:latin typeface="Arial"/>
                <a:cs typeface="Arial"/>
              </a:rPr>
              <a:t>Believes server  has</a:t>
            </a:r>
            <a:r>
              <a:rPr sz="650" spc="-35" dirty="0">
                <a:solidFill>
                  <a:srgbClr val="231F20"/>
                </a:solidFill>
                <a:latin typeface="Arial"/>
                <a:cs typeface="Arial"/>
              </a:rPr>
              <a:t> </a:t>
            </a:r>
            <a:r>
              <a:rPr sz="650" spc="5" dirty="0">
                <a:solidFill>
                  <a:srgbClr val="231F20"/>
                </a:solidFill>
                <a:latin typeface="Arial"/>
                <a:cs typeface="Arial"/>
              </a:rPr>
              <a:t>address</a:t>
            </a:r>
            <a:r>
              <a:rPr sz="650" spc="-35" dirty="0">
                <a:solidFill>
                  <a:srgbClr val="231F20"/>
                </a:solidFill>
                <a:latin typeface="Arial"/>
                <a:cs typeface="Arial"/>
              </a:rPr>
              <a:t> </a:t>
            </a:r>
            <a:r>
              <a:rPr sz="650" spc="5" dirty="0">
                <a:solidFill>
                  <a:srgbClr val="231F20"/>
                </a:solidFill>
                <a:latin typeface="Arial"/>
                <a:cs typeface="Arial"/>
              </a:rPr>
              <a:t>HA</a:t>
            </a:r>
            <a:endParaRPr sz="650">
              <a:latin typeface="Arial"/>
              <a:cs typeface="Arial"/>
            </a:endParaRPr>
          </a:p>
        </p:txBody>
      </p:sp>
      <p:sp>
        <p:nvSpPr>
          <p:cNvPr id="18" name="object 18"/>
          <p:cNvSpPr txBox="1"/>
          <p:nvPr/>
        </p:nvSpPr>
        <p:spPr>
          <a:xfrm>
            <a:off x="2590747" y="1169935"/>
            <a:ext cx="686435" cy="227329"/>
          </a:xfrm>
          <a:prstGeom prst="rect">
            <a:avLst/>
          </a:prstGeom>
        </p:spPr>
        <p:txBody>
          <a:bodyPr vert="horz" wrap="square" lIns="0" tIns="13970" rIns="0" bIns="0" rtlCol="0">
            <a:spAutoFit/>
          </a:bodyPr>
          <a:lstStyle/>
          <a:p>
            <a:pPr marL="12700" marR="5080" indent="90805">
              <a:lnSpc>
                <a:spcPct val="100000"/>
              </a:lnSpc>
              <a:spcBef>
                <a:spcPts val="110"/>
              </a:spcBef>
            </a:pPr>
            <a:r>
              <a:rPr sz="650" spc="5" dirty="0">
                <a:solidFill>
                  <a:srgbClr val="231F20"/>
                </a:solidFill>
                <a:latin typeface="Arial"/>
                <a:cs typeface="Arial"/>
              </a:rPr>
              <a:t>Access point </a:t>
            </a:r>
            <a:r>
              <a:rPr sz="650" spc="10" dirty="0">
                <a:solidFill>
                  <a:srgbClr val="231F20"/>
                </a:solidFill>
                <a:latin typeface="Arial"/>
                <a:cs typeface="Arial"/>
              </a:rPr>
              <a:t> </a:t>
            </a:r>
            <a:r>
              <a:rPr sz="650" spc="5" dirty="0">
                <a:solidFill>
                  <a:srgbClr val="231F20"/>
                </a:solidFill>
                <a:latin typeface="Arial"/>
                <a:cs typeface="Arial"/>
              </a:rPr>
              <a:t>with</a:t>
            </a:r>
            <a:r>
              <a:rPr sz="650" spc="-35" dirty="0">
                <a:solidFill>
                  <a:srgbClr val="231F20"/>
                </a:solidFill>
                <a:latin typeface="Arial"/>
                <a:cs typeface="Arial"/>
              </a:rPr>
              <a:t> </a:t>
            </a:r>
            <a:r>
              <a:rPr sz="650" spc="5" dirty="0">
                <a:solidFill>
                  <a:srgbClr val="231F20"/>
                </a:solidFill>
                <a:latin typeface="Arial"/>
                <a:cs typeface="Arial"/>
              </a:rPr>
              <a:t>address</a:t>
            </a:r>
            <a:r>
              <a:rPr sz="650" spc="-35" dirty="0">
                <a:solidFill>
                  <a:srgbClr val="231F20"/>
                </a:solidFill>
                <a:latin typeface="Arial"/>
                <a:cs typeface="Arial"/>
              </a:rPr>
              <a:t> </a:t>
            </a:r>
            <a:r>
              <a:rPr sz="650" spc="5" dirty="0">
                <a:solidFill>
                  <a:srgbClr val="231F20"/>
                </a:solidFill>
                <a:latin typeface="Arial"/>
                <a:cs typeface="Arial"/>
              </a:rPr>
              <a:t>CA1</a:t>
            </a:r>
            <a:endParaRPr sz="650">
              <a:latin typeface="Arial"/>
              <a:cs typeface="Arial"/>
            </a:endParaRPr>
          </a:p>
        </p:txBody>
      </p:sp>
      <p:sp>
        <p:nvSpPr>
          <p:cNvPr id="19" name="object 19"/>
          <p:cNvSpPr txBox="1"/>
          <p:nvPr/>
        </p:nvSpPr>
        <p:spPr>
          <a:xfrm>
            <a:off x="2552799" y="2422206"/>
            <a:ext cx="686435" cy="227329"/>
          </a:xfrm>
          <a:prstGeom prst="rect">
            <a:avLst/>
          </a:prstGeom>
        </p:spPr>
        <p:txBody>
          <a:bodyPr vert="horz" wrap="square" lIns="0" tIns="13970" rIns="0" bIns="0" rtlCol="0">
            <a:spAutoFit/>
          </a:bodyPr>
          <a:lstStyle/>
          <a:p>
            <a:pPr marL="12700" marR="5080" indent="90805">
              <a:lnSpc>
                <a:spcPct val="100000"/>
              </a:lnSpc>
              <a:spcBef>
                <a:spcPts val="110"/>
              </a:spcBef>
            </a:pPr>
            <a:r>
              <a:rPr sz="650" spc="5" dirty="0">
                <a:solidFill>
                  <a:srgbClr val="231F20"/>
                </a:solidFill>
                <a:latin typeface="Arial"/>
                <a:cs typeface="Arial"/>
              </a:rPr>
              <a:t>Access point </a:t>
            </a:r>
            <a:r>
              <a:rPr sz="650" spc="10" dirty="0">
                <a:solidFill>
                  <a:srgbClr val="231F20"/>
                </a:solidFill>
                <a:latin typeface="Arial"/>
                <a:cs typeface="Arial"/>
              </a:rPr>
              <a:t> </a:t>
            </a:r>
            <a:r>
              <a:rPr sz="650" spc="5" dirty="0">
                <a:solidFill>
                  <a:srgbClr val="231F20"/>
                </a:solidFill>
                <a:latin typeface="Arial"/>
                <a:cs typeface="Arial"/>
              </a:rPr>
              <a:t>with</a:t>
            </a:r>
            <a:r>
              <a:rPr sz="650" spc="-35" dirty="0">
                <a:solidFill>
                  <a:srgbClr val="231F20"/>
                </a:solidFill>
                <a:latin typeface="Arial"/>
                <a:cs typeface="Arial"/>
              </a:rPr>
              <a:t> </a:t>
            </a:r>
            <a:r>
              <a:rPr sz="650" spc="5" dirty="0">
                <a:solidFill>
                  <a:srgbClr val="231F20"/>
                </a:solidFill>
                <a:latin typeface="Arial"/>
                <a:cs typeface="Arial"/>
              </a:rPr>
              <a:t>address</a:t>
            </a:r>
            <a:r>
              <a:rPr sz="650" spc="-35" dirty="0">
                <a:solidFill>
                  <a:srgbClr val="231F20"/>
                </a:solidFill>
                <a:latin typeface="Arial"/>
                <a:cs typeface="Arial"/>
              </a:rPr>
              <a:t> </a:t>
            </a:r>
            <a:r>
              <a:rPr sz="650" spc="5" dirty="0">
                <a:solidFill>
                  <a:srgbClr val="231F20"/>
                </a:solidFill>
                <a:latin typeface="Arial"/>
                <a:cs typeface="Arial"/>
              </a:rPr>
              <a:t>CA2</a:t>
            </a:r>
            <a:endParaRPr sz="650">
              <a:latin typeface="Arial"/>
              <a:cs typeface="Arial"/>
            </a:endParaRPr>
          </a:p>
        </p:txBody>
      </p:sp>
      <p:grpSp>
        <p:nvGrpSpPr>
          <p:cNvPr id="20" name="object 20"/>
          <p:cNvGrpSpPr/>
          <p:nvPr/>
        </p:nvGrpSpPr>
        <p:grpSpPr>
          <a:xfrm>
            <a:off x="1640807" y="1604532"/>
            <a:ext cx="1815464" cy="1126490"/>
            <a:chOff x="1640807" y="1604532"/>
            <a:chExt cx="1815464" cy="1126490"/>
          </a:xfrm>
        </p:grpSpPr>
        <p:sp>
          <p:nvSpPr>
            <p:cNvPr id="21" name="object 21"/>
            <p:cNvSpPr/>
            <p:nvPr/>
          </p:nvSpPr>
          <p:spPr>
            <a:xfrm>
              <a:off x="1833403" y="1622304"/>
              <a:ext cx="1584325" cy="372745"/>
            </a:xfrm>
            <a:custGeom>
              <a:avLst/>
              <a:gdLst/>
              <a:ahLst/>
              <a:cxnLst/>
              <a:rect l="l" t="t" r="r" b="b"/>
              <a:pathLst>
                <a:path w="1584325" h="372744">
                  <a:moveTo>
                    <a:pt x="0" y="24012"/>
                  </a:moveTo>
                  <a:lnTo>
                    <a:pt x="245037" y="372568"/>
                  </a:lnTo>
                  <a:lnTo>
                    <a:pt x="789873" y="325168"/>
                  </a:lnTo>
                  <a:lnTo>
                    <a:pt x="1335817" y="121187"/>
                  </a:lnTo>
                  <a:lnTo>
                    <a:pt x="1584175" y="0"/>
                  </a:lnTo>
                </a:path>
              </a:pathLst>
            </a:custGeom>
            <a:ln w="5270">
              <a:solidFill>
                <a:srgbClr val="231F20"/>
              </a:solidFill>
            </a:ln>
          </p:spPr>
          <p:txBody>
            <a:bodyPr wrap="square" lIns="0" tIns="0" rIns="0" bIns="0" rtlCol="0"/>
            <a:lstStyle/>
            <a:p>
              <a:endParaRPr/>
            </a:p>
          </p:txBody>
        </p:sp>
        <p:sp>
          <p:nvSpPr>
            <p:cNvPr id="22" name="object 22"/>
            <p:cNvSpPr/>
            <p:nvPr/>
          </p:nvSpPr>
          <p:spPr>
            <a:xfrm>
              <a:off x="3369880" y="1604532"/>
              <a:ext cx="80645" cy="63500"/>
            </a:xfrm>
            <a:custGeom>
              <a:avLst/>
              <a:gdLst/>
              <a:ahLst/>
              <a:cxnLst/>
              <a:rect l="l" t="t" r="r" b="b"/>
              <a:pathLst>
                <a:path w="80645" h="63500">
                  <a:moveTo>
                    <a:pt x="80585" y="0"/>
                  </a:moveTo>
                  <a:lnTo>
                    <a:pt x="0" y="7315"/>
                  </a:lnTo>
                  <a:lnTo>
                    <a:pt x="12833" y="18499"/>
                  </a:lnTo>
                  <a:lnTo>
                    <a:pt x="22161" y="31576"/>
                  </a:lnTo>
                  <a:lnTo>
                    <a:pt x="27984" y="46545"/>
                  </a:lnTo>
                  <a:lnTo>
                    <a:pt x="30305" y="63404"/>
                  </a:lnTo>
                  <a:lnTo>
                    <a:pt x="80585" y="0"/>
                  </a:lnTo>
                  <a:close/>
                </a:path>
              </a:pathLst>
            </a:custGeom>
            <a:solidFill>
              <a:srgbClr val="231F20"/>
            </a:solidFill>
          </p:spPr>
          <p:txBody>
            <a:bodyPr wrap="square" lIns="0" tIns="0" rIns="0" bIns="0" rtlCol="0"/>
            <a:lstStyle/>
            <a:p>
              <a:endParaRPr/>
            </a:p>
          </p:txBody>
        </p:sp>
        <p:sp>
          <p:nvSpPr>
            <p:cNvPr id="23" name="object 23"/>
            <p:cNvSpPr/>
            <p:nvPr/>
          </p:nvSpPr>
          <p:spPr>
            <a:xfrm>
              <a:off x="1643665" y="2187397"/>
              <a:ext cx="1779270" cy="541020"/>
            </a:xfrm>
            <a:custGeom>
              <a:avLst/>
              <a:gdLst/>
              <a:ahLst/>
              <a:cxnLst/>
              <a:rect l="l" t="t" r="r" b="b"/>
              <a:pathLst>
                <a:path w="1779270" h="541019">
                  <a:moveTo>
                    <a:pt x="0" y="540423"/>
                  </a:moveTo>
                  <a:lnTo>
                    <a:pt x="612222" y="97557"/>
                  </a:lnTo>
                  <a:lnTo>
                    <a:pt x="1186646" y="0"/>
                  </a:lnTo>
                  <a:lnTo>
                    <a:pt x="1612519" y="71048"/>
                  </a:lnTo>
                  <a:lnTo>
                    <a:pt x="1779088" y="133998"/>
                  </a:lnTo>
                </a:path>
              </a:pathLst>
            </a:custGeom>
            <a:ln w="5270">
              <a:solidFill>
                <a:srgbClr val="231F20"/>
              </a:solidFill>
            </a:ln>
          </p:spPr>
          <p:txBody>
            <a:bodyPr wrap="square" lIns="0" tIns="0" rIns="0" bIns="0" rtlCol="0"/>
            <a:lstStyle/>
            <a:p>
              <a:endParaRPr/>
            </a:p>
          </p:txBody>
        </p:sp>
        <p:sp>
          <p:nvSpPr>
            <p:cNvPr id="24" name="object 24"/>
            <p:cNvSpPr/>
            <p:nvPr/>
          </p:nvSpPr>
          <p:spPr>
            <a:xfrm>
              <a:off x="3375414" y="2276349"/>
              <a:ext cx="81280" cy="62230"/>
            </a:xfrm>
            <a:custGeom>
              <a:avLst/>
              <a:gdLst/>
              <a:ahLst/>
              <a:cxnLst/>
              <a:rect l="l" t="t" r="r" b="b"/>
              <a:pathLst>
                <a:path w="81279" h="62230">
                  <a:moveTo>
                    <a:pt x="28481" y="0"/>
                  </a:moveTo>
                  <a:lnTo>
                    <a:pt x="26707" y="16928"/>
                  </a:lnTo>
                  <a:lnTo>
                    <a:pt x="21367" y="32076"/>
                  </a:lnTo>
                  <a:lnTo>
                    <a:pt x="12465" y="45444"/>
                  </a:lnTo>
                  <a:lnTo>
                    <a:pt x="0" y="57032"/>
                  </a:lnTo>
                  <a:lnTo>
                    <a:pt x="80786" y="61747"/>
                  </a:lnTo>
                  <a:lnTo>
                    <a:pt x="28481" y="0"/>
                  </a:lnTo>
                  <a:close/>
                </a:path>
              </a:pathLst>
            </a:custGeom>
            <a:solidFill>
              <a:srgbClr val="231F20"/>
            </a:solidFill>
          </p:spPr>
          <p:txBody>
            <a:bodyPr wrap="square" lIns="0" tIns="0" rIns="0" bIns="0" rtlCol="0"/>
            <a:lstStyle/>
            <a:p>
              <a:endParaRPr/>
            </a:p>
          </p:txBody>
        </p:sp>
      </p:grpSp>
      <p:graphicFrame>
        <p:nvGraphicFramePr>
          <p:cNvPr id="25" name="object 25"/>
          <p:cNvGraphicFramePr>
            <a:graphicFrameLocks noGrp="1"/>
          </p:cNvGraphicFramePr>
          <p:nvPr/>
        </p:nvGraphicFramePr>
        <p:xfrm>
          <a:off x="1678977" y="1074467"/>
          <a:ext cx="303530" cy="568960"/>
        </p:xfrm>
        <a:graphic>
          <a:graphicData uri="http://schemas.openxmlformats.org/drawingml/2006/table">
            <a:tbl>
              <a:tblPr firstRow="1" bandRow="1">
                <a:tableStyleId>{2D5ABB26-0587-4C30-8999-92F81FD0307C}</a:tableStyleId>
              </a:tblPr>
              <a:tblGrid>
                <a:gridCol w="303530">
                  <a:extLst>
                    <a:ext uri="{9D8B030D-6E8A-4147-A177-3AD203B41FA5}">
                      <a16:colId xmlns:a16="http://schemas.microsoft.com/office/drawing/2014/main" val="20000"/>
                    </a:ext>
                  </a:extLst>
                </a:gridCol>
              </a:tblGrid>
              <a:tr h="132715">
                <a:tc>
                  <a:txBody>
                    <a:bodyPr/>
                    <a:lstStyle/>
                    <a:p>
                      <a:pPr marL="3175" algn="ctr">
                        <a:lnSpc>
                          <a:spcPct val="100000"/>
                        </a:lnSpc>
                        <a:spcBef>
                          <a:spcPts val="110"/>
                        </a:spcBef>
                      </a:pPr>
                      <a:r>
                        <a:rPr sz="650" spc="5" dirty="0">
                          <a:solidFill>
                            <a:srgbClr val="231F20"/>
                          </a:solidFill>
                          <a:latin typeface="Arial"/>
                          <a:cs typeface="Arial"/>
                        </a:rPr>
                        <a:t>APP</a:t>
                      </a:r>
                      <a:endParaRPr sz="650">
                        <a:latin typeface="Arial"/>
                        <a:cs typeface="Arial"/>
                      </a:endParaRPr>
                    </a:p>
                  </a:txBody>
                  <a:tcPr marL="0" marR="0" marT="1397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51765">
                <a:tc>
                  <a:txBody>
                    <a:bodyPr/>
                    <a:lstStyle/>
                    <a:p>
                      <a:pPr marL="3175" algn="ctr">
                        <a:lnSpc>
                          <a:spcPct val="100000"/>
                        </a:lnSpc>
                        <a:spcBef>
                          <a:spcPts val="140"/>
                        </a:spcBef>
                      </a:pPr>
                      <a:r>
                        <a:rPr sz="650" spc="5" dirty="0">
                          <a:solidFill>
                            <a:srgbClr val="231F20"/>
                          </a:solidFill>
                          <a:latin typeface="Arial"/>
                          <a:cs typeface="Arial"/>
                        </a:rPr>
                        <a:t>TCP</a:t>
                      </a:r>
                      <a:endParaRPr sz="650">
                        <a:latin typeface="Arial"/>
                        <a:cs typeface="Arial"/>
                      </a:endParaRPr>
                    </a:p>
                  </a:txBody>
                  <a:tcPr marL="0" marR="0" marT="1778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51765">
                <a:tc>
                  <a:txBody>
                    <a:bodyPr/>
                    <a:lstStyle/>
                    <a:p>
                      <a:pPr marL="3810" algn="ctr">
                        <a:lnSpc>
                          <a:spcPct val="100000"/>
                        </a:lnSpc>
                        <a:spcBef>
                          <a:spcPts val="180"/>
                        </a:spcBef>
                      </a:pPr>
                      <a:r>
                        <a:rPr sz="650" spc="5" dirty="0">
                          <a:solidFill>
                            <a:srgbClr val="231F20"/>
                          </a:solidFill>
                          <a:latin typeface="Arial"/>
                          <a:cs typeface="Arial"/>
                        </a:rPr>
                        <a:t>MIPv6</a:t>
                      </a:r>
                      <a:endParaRPr sz="650">
                        <a:latin typeface="Arial"/>
                        <a:cs typeface="Arial"/>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32715">
                <a:tc>
                  <a:txBody>
                    <a:bodyPr/>
                    <a:lstStyle/>
                    <a:p>
                      <a:pPr marL="3175" algn="ctr">
                        <a:lnSpc>
                          <a:spcPts val="715"/>
                        </a:lnSpc>
                        <a:spcBef>
                          <a:spcPts val="229"/>
                        </a:spcBef>
                      </a:pPr>
                      <a:r>
                        <a:rPr sz="650" spc="5" dirty="0">
                          <a:solidFill>
                            <a:srgbClr val="231F20"/>
                          </a:solidFill>
                          <a:latin typeface="Arial"/>
                          <a:cs typeface="Arial"/>
                        </a:rPr>
                        <a:t>IP</a:t>
                      </a:r>
                      <a:endParaRPr sz="650">
                        <a:latin typeface="Arial"/>
                        <a:cs typeface="Arial"/>
                      </a:endParaRPr>
                    </a:p>
                  </a:txBody>
                  <a:tcPr marL="0" marR="0" marT="29209"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graphicFrame>
        <p:nvGraphicFramePr>
          <p:cNvPr id="26" name="object 26"/>
          <p:cNvGraphicFramePr>
            <a:graphicFrameLocks noGrp="1"/>
          </p:cNvGraphicFramePr>
          <p:nvPr/>
        </p:nvGraphicFramePr>
        <p:xfrm>
          <a:off x="1337452" y="2212896"/>
          <a:ext cx="303530" cy="568960"/>
        </p:xfrm>
        <a:graphic>
          <a:graphicData uri="http://schemas.openxmlformats.org/drawingml/2006/table">
            <a:tbl>
              <a:tblPr firstRow="1" bandRow="1">
                <a:tableStyleId>{2D5ABB26-0587-4C30-8999-92F81FD0307C}</a:tableStyleId>
              </a:tblPr>
              <a:tblGrid>
                <a:gridCol w="303530">
                  <a:extLst>
                    <a:ext uri="{9D8B030D-6E8A-4147-A177-3AD203B41FA5}">
                      <a16:colId xmlns:a16="http://schemas.microsoft.com/office/drawing/2014/main" val="20000"/>
                    </a:ext>
                  </a:extLst>
                </a:gridCol>
              </a:tblGrid>
              <a:tr h="132715">
                <a:tc>
                  <a:txBody>
                    <a:bodyPr/>
                    <a:lstStyle/>
                    <a:p>
                      <a:pPr marL="3175" algn="ctr">
                        <a:lnSpc>
                          <a:spcPct val="100000"/>
                        </a:lnSpc>
                        <a:spcBef>
                          <a:spcPts val="110"/>
                        </a:spcBef>
                      </a:pPr>
                      <a:r>
                        <a:rPr sz="650" spc="5" dirty="0">
                          <a:solidFill>
                            <a:srgbClr val="231F20"/>
                          </a:solidFill>
                          <a:latin typeface="Arial"/>
                          <a:cs typeface="Arial"/>
                        </a:rPr>
                        <a:t>APP</a:t>
                      </a:r>
                      <a:endParaRPr sz="650">
                        <a:latin typeface="Arial"/>
                        <a:cs typeface="Arial"/>
                      </a:endParaRPr>
                    </a:p>
                  </a:txBody>
                  <a:tcPr marL="0" marR="0" marT="1397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0"/>
                  </a:ext>
                </a:extLst>
              </a:tr>
              <a:tr h="151765">
                <a:tc>
                  <a:txBody>
                    <a:bodyPr/>
                    <a:lstStyle/>
                    <a:p>
                      <a:pPr marL="3175" algn="ctr">
                        <a:lnSpc>
                          <a:spcPct val="100000"/>
                        </a:lnSpc>
                        <a:spcBef>
                          <a:spcPts val="140"/>
                        </a:spcBef>
                      </a:pPr>
                      <a:r>
                        <a:rPr sz="650" spc="5" dirty="0">
                          <a:solidFill>
                            <a:srgbClr val="231F20"/>
                          </a:solidFill>
                          <a:latin typeface="Arial"/>
                          <a:cs typeface="Arial"/>
                        </a:rPr>
                        <a:t>TCP</a:t>
                      </a:r>
                      <a:endParaRPr sz="650">
                        <a:latin typeface="Arial"/>
                        <a:cs typeface="Arial"/>
                      </a:endParaRPr>
                    </a:p>
                  </a:txBody>
                  <a:tcPr marL="0" marR="0" marT="1778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1"/>
                  </a:ext>
                </a:extLst>
              </a:tr>
              <a:tr h="151765">
                <a:tc>
                  <a:txBody>
                    <a:bodyPr/>
                    <a:lstStyle/>
                    <a:p>
                      <a:pPr marL="3810" algn="ctr">
                        <a:lnSpc>
                          <a:spcPct val="100000"/>
                        </a:lnSpc>
                        <a:spcBef>
                          <a:spcPts val="180"/>
                        </a:spcBef>
                      </a:pPr>
                      <a:r>
                        <a:rPr sz="650" spc="5" dirty="0">
                          <a:solidFill>
                            <a:srgbClr val="231F20"/>
                          </a:solidFill>
                          <a:latin typeface="Arial"/>
                          <a:cs typeface="Arial"/>
                        </a:rPr>
                        <a:t>MIPv6</a:t>
                      </a:r>
                      <a:endParaRPr sz="650">
                        <a:latin typeface="Arial"/>
                        <a:cs typeface="Arial"/>
                      </a:endParaRPr>
                    </a:p>
                  </a:txBody>
                  <a:tcPr marL="0" marR="0" marT="22860"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2"/>
                  </a:ext>
                </a:extLst>
              </a:tr>
              <a:tr h="132715">
                <a:tc>
                  <a:txBody>
                    <a:bodyPr/>
                    <a:lstStyle/>
                    <a:p>
                      <a:pPr marL="3175" algn="ctr">
                        <a:lnSpc>
                          <a:spcPts val="715"/>
                        </a:lnSpc>
                        <a:spcBef>
                          <a:spcPts val="229"/>
                        </a:spcBef>
                      </a:pPr>
                      <a:r>
                        <a:rPr sz="650" spc="5" dirty="0">
                          <a:solidFill>
                            <a:srgbClr val="231F20"/>
                          </a:solidFill>
                          <a:latin typeface="Arial"/>
                          <a:cs typeface="Arial"/>
                        </a:rPr>
                        <a:t>IP</a:t>
                      </a:r>
                      <a:endParaRPr sz="650">
                        <a:latin typeface="Arial"/>
                        <a:cs typeface="Arial"/>
                      </a:endParaRPr>
                    </a:p>
                  </a:txBody>
                  <a:tcPr marL="0" marR="0" marT="29209" marB="0">
                    <a:lnL w="6350">
                      <a:solidFill>
                        <a:srgbClr val="231F20"/>
                      </a:solidFill>
                      <a:prstDash val="solid"/>
                    </a:lnL>
                    <a:lnR w="6350">
                      <a:solidFill>
                        <a:srgbClr val="231F20"/>
                      </a:solidFill>
                      <a:prstDash val="solid"/>
                    </a:lnR>
                    <a:lnT w="6350">
                      <a:solidFill>
                        <a:srgbClr val="231F20"/>
                      </a:solidFill>
                      <a:prstDash val="solid"/>
                    </a:lnT>
                    <a:lnB w="6350">
                      <a:solidFill>
                        <a:srgbClr val="231F20"/>
                      </a:solidFill>
                      <a:prstDash val="solid"/>
                    </a:lnB>
                  </a:tcPr>
                </a:tc>
                <a:extLst>
                  <a:ext uri="{0D108BD9-81ED-4DB2-BD59-A6C34878D82A}">
                    <a16:rowId xmlns:a16="http://schemas.microsoft.com/office/drawing/2014/main" val="10003"/>
                  </a:ext>
                </a:extLst>
              </a:tr>
            </a:tbl>
          </a:graphicData>
        </a:graphic>
      </p:graphicFrame>
      <p:grpSp>
        <p:nvGrpSpPr>
          <p:cNvPr id="27" name="object 27"/>
          <p:cNvGrpSpPr/>
          <p:nvPr/>
        </p:nvGrpSpPr>
        <p:grpSpPr>
          <a:xfrm>
            <a:off x="1147714" y="958116"/>
            <a:ext cx="2967990" cy="2098040"/>
            <a:chOff x="1147714" y="958116"/>
            <a:chExt cx="2967990" cy="2098040"/>
          </a:xfrm>
        </p:grpSpPr>
        <p:sp>
          <p:nvSpPr>
            <p:cNvPr id="28" name="object 28"/>
            <p:cNvSpPr/>
            <p:nvPr/>
          </p:nvSpPr>
          <p:spPr>
            <a:xfrm>
              <a:off x="1605717" y="1001330"/>
              <a:ext cx="455930" cy="721360"/>
            </a:xfrm>
            <a:custGeom>
              <a:avLst/>
              <a:gdLst/>
              <a:ahLst/>
              <a:cxnLst/>
              <a:rect l="l" t="t" r="r" b="b"/>
              <a:pathLst>
                <a:path w="455930" h="721360">
                  <a:moveTo>
                    <a:pt x="0" y="721008"/>
                  </a:moveTo>
                  <a:lnTo>
                    <a:pt x="455366" y="721008"/>
                  </a:lnTo>
                  <a:lnTo>
                    <a:pt x="455366" y="0"/>
                  </a:lnTo>
                  <a:lnTo>
                    <a:pt x="0" y="0"/>
                  </a:lnTo>
                  <a:lnTo>
                    <a:pt x="0" y="721008"/>
                  </a:lnTo>
                  <a:close/>
                </a:path>
              </a:pathLst>
            </a:custGeom>
            <a:ln w="10541">
              <a:solidFill>
                <a:srgbClr val="231F20"/>
              </a:solidFill>
            </a:ln>
          </p:spPr>
          <p:txBody>
            <a:bodyPr wrap="square" lIns="0" tIns="0" rIns="0" bIns="0" rtlCol="0"/>
            <a:lstStyle/>
            <a:p>
              <a:endParaRPr/>
            </a:p>
          </p:txBody>
        </p:sp>
        <p:sp>
          <p:nvSpPr>
            <p:cNvPr id="29" name="object 29"/>
            <p:cNvSpPr/>
            <p:nvPr/>
          </p:nvSpPr>
          <p:spPr>
            <a:xfrm>
              <a:off x="1491874" y="1191072"/>
              <a:ext cx="189865" cy="76200"/>
            </a:xfrm>
            <a:custGeom>
              <a:avLst/>
              <a:gdLst/>
              <a:ahLst/>
              <a:cxnLst/>
              <a:rect l="l" t="t" r="r" b="b"/>
              <a:pathLst>
                <a:path w="189864" h="76200">
                  <a:moveTo>
                    <a:pt x="0" y="0"/>
                  </a:moveTo>
                  <a:lnTo>
                    <a:pt x="189739" y="75895"/>
                  </a:lnTo>
                  <a:lnTo>
                    <a:pt x="0" y="0"/>
                  </a:lnTo>
                  <a:close/>
                </a:path>
              </a:pathLst>
            </a:custGeom>
            <a:solidFill>
              <a:srgbClr val="231F20"/>
            </a:solidFill>
          </p:spPr>
          <p:txBody>
            <a:bodyPr wrap="square" lIns="0" tIns="0" rIns="0" bIns="0" rtlCol="0"/>
            <a:lstStyle/>
            <a:p>
              <a:endParaRPr/>
            </a:p>
          </p:txBody>
        </p:sp>
        <p:sp>
          <p:nvSpPr>
            <p:cNvPr id="30" name="object 30"/>
            <p:cNvSpPr/>
            <p:nvPr/>
          </p:nvSpPr>
          <p:spPr>
            <a:xfrm>
              <a:off x="1491874" y="1191072"/>
              <a:ext cx="189865" cy="76200"/>
            </a:xfrm>
            <a:custGeom>
              <a:avLst/>
              <a:gdLst/>
              <a:ahLst/>
              <a:cxnLst/>
              <a:rect l="l" t="t" r="r" b="b"/>
              <a:pathLst>
                <a:path w="189864" h="76200">
                  <a:moveTo>
                    <a:pt x="189739" y="75895"/>
                  </a:moveTo>
                  <a:lnTo>
                    <a:pt x="0" y="0"/>
                  </a:lnTo>
                  <a:lnTo>
                    <a:pt x="189739" y="75895"/>
                  </a:lnTo>
                  <a:close/>
                </a:path>
              </a:pathLst>
            </a:custGeom>
            <a:ln w="5270">
              <a:solidFill>
                <a:srgbClr val="231F20"/>
              </a:solidFill>
            </a:ln>
          </p:spPr>
          <p:txBody>
            <a:bodyPr wrap="square" lIns="0" tIns="0" rIns="0" bIns="0" rtlCol="0"/>
            <a:lstStyle/>
            <a:p>
              <a:endParaRPr/>
            </a:p>
          </p:txBody>
        </p:sp>
        <p:sp>
          <p:nvSpPr>
            <p:cNvPr id="31" name="object 31"/>
            <p:cNvSpPr/>
            <p:nvPr/>
          </p:nvSpPr>
          <p:spPr>
            <a:xfrm>
              <a:off x="1491874" y="1456705"/>
              <a:ext cx="189865" cy="38100"/>
            </a:xfrm>
            <a:custGeom>
              <a:avLst/>
              <a:gdLst/>
              <a:ahLst/>
              <a:cxnLst/>
              <a:rect l="l" t="t" r="r" b="b"/>
              <a:pathLst>
                <a:path w="189864" h="38100">
                  <a:moveTo>
                    <a:pt x="189739" y="0"/>
                  </a:moveTo>
                  <a:lnTo>
                    <a:pt x="0" y="37947"/>
                  </a:lnTo>
                  <a:lnTo>
                    <a:pt x="189739" y="0"/>
                  </a:lnTo>
                  <a:close/>
                </a:path>
              </a:pathLst>
            </a:custGeom>
            <a:solidFill>
              <a:srgbClr val="231F20"/>
            </a:solidFill>
          </p:spPr>
          <p:txBody>
            <a:bodyPr wrap="square" lIns="0" tIns="0" rIns="0" bIns="0" rtlCol="0"/>
            <a:lstStyle/>
            <a:p>
              <a:endParaRPr/>
            </a:p>
          </p:txBody>
        </p:sp>
        <p:sp>
          <p:nvSpPr>
            <p:cNvPr id="32" name="object 32"/>
            <p:cNvSpPr/>
            <p:nvPr/>
          </p:nvSpPr>
          <p:spPr>
            <a:xfrm>
              <a:off x="1491874" y="1456705"/>
              <a:ext cx="189865" cy="38100"/>
            </a:xfrm>
            <a:custGeom>
              <a:avLst/>
              <a:gdLst/>
              <a:ahLst/>
              <a:cxnLst/>
              <a:rect l="l" t="t" r="r" b="b"/>
              <a:pathLst>
                <a:path w="189864" h="38100">
                  <a:moveTo>
                    <a:pt x="189739" y="0"/>
                  </a:moveTo>
                  <a:lnTo>
                    <a:pt x="0" y="37947"/>
                  </a:lnTo>
                  <a:lnTo>
                    <a:pt x="189739" y="0"/>
                  </a:lnTo>
                  <a:close/>
                </a:path>
              </a:pathLst>
            </a:custGeom>
            <a:ln w="5270">
              <a:solidFill>
                <a:srgbClr val="231F20"/>
              </a:solidFill>
            </a:ln>
          </p:spPr>
          <p:txBody>
            <a:bodyPr wrap="square" lIns="0" tIns="0" rIns="0" bIns="0" rtlCol="0"/>
            <a:lstStyle/>
            <a:p>
              <a:endParaRPr/>
            </a:p>
          </p:txBody>
        </p:sp>
        <p:sp>
          <p:nvSpPr>
            <p:cNvPr id="33" name="object 33"/>
            <p:cNvSpPr/>
            <p:nvPr/>
          </p:nvSpPr>
          <p:spPr>
            <a:xfrm>
              <a:off x="1264192" y="2139760"/>
              <a:ext cx="2694305" cy="759460"/>
            </a:xfrm>
            <a:custGeom>
              <a:avLst/>
              <a:gdLst/>
              <a:ahLst/>
              <a:cxnLst/>
              <a:rect l="l" t="t" r="r" b="b"/>
              <a:pathLst>
                <a:path w="2694304" h="759460">
                  <a:moveTo>
                    <a:pt x="2238905" y="758960"/>
                  </a:moveTo>
                  <a:lnTo>
                    <a:pt x="2694276" y="758960"/>
                  </a:lnTo>
                  <a:lnTo>
                    <a:pt x="2694276" y="37956"/>
                  </a:lnTo>
                  <a:lnTo>
                    <a:pt x="2238905" y="37956"/>
                  </a:lnTo>
                  <a:lnTo>
                    <a:pt x="2238905" y="758960"/>
                  </a:lnTo>
                  <a:close/>
                </a:path>
                <a:path w="2694304" h="759460">
                  <a:moveTo>
                    <a:pt x="0" y="721008"/>
                  </a:moveTo>
                  <a:lnTo>
                    <a:pt x="455371" y="721008"/>
                  </a:lnTo>
                  <a:lnTo>
                    <a:pt x="455371" y="0"/>
                  </a:lnTo>
                  <a:lnTo>
                    <a:pt x="0" y="0"/>
                  </a:lnTo>
                  <a:lnTo>
                    <a:pt x="0" y="721008"/>
                  </a:lnTo>
                  <a:close/>
                </a:path>
              </a:pathLst>
            </a:custGeom>
            <a:ln w="10541">
              <a:solidFill>
                <a:srgbClr val="231F20"/>
              </a:solidFill>
            </a:ln>
          </p:spPr>
          <p:txBody>
            <a:bodyPr wrap="square" lIns="0" tIns="0" rIns="0" bIns="0" rtlCol="0"/>
            <a:lstStyle/>
            <a:p>
              <a:endParaRPr/>
            </a:p>
          </p:txBody>
        </p:sp>
        <p:sp>
          <p:nvSpPr>
            <p:cNvPr id="34" name="object 34"/>
            <p:cNvSpPr/>
            <p:nvPr/>
          </p:nvSpPr>
          <p:spPr>
            <a:xfrm>
              <a:off x="1150349" y="2329502"/>
              <a:ext cx="189865" cy="76200"/>
            </a:xfrm>
            <a:custGeom>
              <a:avLst/>
              <a:gdLst/>
              <a:ahLst/>
              <a:cxnLst/>
              <a:rect l="l" t="t" r="r" b="b"/>
              <a:pathLst>
                <a:path w="189865" h="76200">
                  <a:moveTo>
                    <a:pt x="0" y="0"/>
                  </a:moveTo>
                  <a:lnTo>
                    <a:pt x="189737" y="75895"/>
                  </a:lnTo>
                  <a:lnTo>
                    <a:pt x="0" y="0"/>
                  </a:lnTo>
                  <a:close/>
                </a:path>
              </a:pathLst>
            </a:custGeom>
            <a:solidFill>
              <a:srgbClr val="231F20"/>
            </a:solidFill>
          </p:spPr>
          <p:txBody>
            <a:bodyPr wrap="square" lIns="0" tIns="0" rIns="0" bIns="0" rtlCol="0"/>
            <a:lstStyle/>
            <a:p>
              <a:endParaRPr/>
            </a:p>
          </p:txBody>
        </p:sp>
        <p:sp>
          <p:nvSpPr>
            <p:cNvPr id="35" name="object 35"/>
            <p:cNvSpPr/>
            <p:nvPr/>
          </p:nvSpPr>
          <p:spPr>
            <a:xfrm>
              <a:off x="1150349" y="2329502"/>
              <a:ext cx="189865" cy="76200"/>
            </a:xfrm>
            <a:custGeom>
              <a:avLst/>
              <a:gdLst/>
              <a:ahLst/>
              <a:cxnLst/>
              <a:rect l="l" t="t" r="r" b="b"/>
              <a:pathLst>
                <a:path w="189865" h="76200">
                  <a:moveTo>
                    <a:pt x="189737" y="75895"/>
                  </a:moveTo>
                  <a:lnTo>
                    <a:pt x="0" y="0"/>
                  </a:lnTo>
                  <a:lnTo>
                    <a:pt x="189737" y="75895"/>
                  </a:lnTo>
                  <a:close/>
                </a:path>
              </a:pathLst>
            </a:custGeom>
            <a:ln w="5270">
              <a:solidFill>
                <a:srgbClr val="231F20"/>
              </a:solidFill>
            </a:ln>
          </p:spPr>
          <p:txBody>
            <a:bodyPr wrap="square" lIns="0" tIns="0" rIns="0" bIns="0" rtlCol="0"/>
            <a:lstStyle/>
            <a:p>
              <a:endParaRPr/>
            </a:p>
          </p:txBody>
        </p:sp>
        <p:sp>
          <p:nvSpPr>
            <p:cNvPr id="36" name="object 36"/>
            <p:cNvSpPr/>
            <p:nvPr/>
          </p:nvSpPr>
          <p:spPr>
            <a:xfrm>
              <a:off x="1150349" y="2595135"/>
              <a:ext cx="189865" cy="38100"/>
            </a:xfrm>
            <a:custGeom>
              <a:avLst/>
              <a:gdLst/>
              <a:ahLst/>
              <a:cxnLst/>
              <a:rect l="l" t="t" r="r" b="b"/>
              <a:pathLst>
                <a:path w="189865" h="38100">
                  <a:moveTo>
                    <a:pt x="189737" y="0"/>
                  </a:moveTo>
                  <a:lnTo>
                    <a:pt x="0" y="37947"/>
                  </a:lnTo>
                  <a:lnTo>
                    <a:pt x="189737" y="0"/>
                  </a:lnTo>
                  <a:close/>
                </a:path>
              </a:pathLst>
            </a:custGeom>
            <a:solidFill>
              <a:srgbClr val="231F20"/>
            </a:solidFill>
          </p:spPr>
          <p:txBody>
            <a:bodyPr wrap="square" lIns="0" tIns="0" rIns="0" bIns="0" rtlCol="0"/>
            <a:lstStyle/>
            <a:p>
              <a:endParaRPr/>
            </a:p>
          </p:txBody>
        </p:sp>
        <p:sp>
          <p:nvSpPr>
            <p:cNvPr id="37" name="object 37"/>
            <p:cNvSpPr/>
            <p:nvPr/>
          </p:nvSpPr>
          <p:spPr>
            <a:xfrm>
              <a:off x="1150349" y="2595135"/>
              <a:ext cx="189865" cy="38100"/>
            </a:xfrm>
            <a:custGeom>
              <a:avLst/>
              <a:gdLst/>
              <a:ahLst/>
              <a:cxnLst/>
              <a:rect l="l" t="t" r="r" b="b"/>
              <a:pathLst>
                <a:path w="189865" h="38100">
                  <a:moveTo>
                    <a:pt x="189737" y="0"/>
                  </a:moveTo>
                  <a:lnTo>
                    <a:pt x="0" y="37947"/>
                  </a:lnTo>
                  <a:lnTo>
                    <a:pt x="189737" y="0"/>
                  </a:lnTo>
                  <a:close/>
                </a:path>
              </a:pathLst>
            </a:custGeom>
            <a:ln w="5270">
              <a:solidFill>
                <a:srgbClr val="231F20"/>
              </a:solidFill>
            </a:ln>
          </p:spPr>
          <p:txBody>
            <a:bodyPr wrap="square" lIns="0" tIns="0" rIns="0" bIns="0" rtlCol="0"/>
            <a:lstStyle/>
            <a:p>
              <a:endParaRPr/>
            </a:p>
          </p:txBody>
        </p:sp>
        <p:sp>
          <p:nvSpPr>
            <p:cNvPr id="38" name="object 38"/>
            <p:cNvSpPr/>
            <p:nvPr/>
          </p:nvSpPr>
          <p:spPr>
            <a:xfrm>
              <a:off x="2057336" y="1491475"/>
              <a:ext cx="650875" cy="1014730"/>
            </a:xfrm>
            <a:custGeom>
              <a:avLst/>
              <a:gdLst/>
              <a:ahLst/>
              <a:cxnLst/>
              <a:rect l="l" t="t" r="r" b="b"/>
              <a:pathLst>
                <a:path w="650875" h="1014730">
                  <a:moveTo>
                    <a:pt x="575486" y="447797"/>
                  </a:moveTo>
                  <a:lnTo>
                    <a:pt x="594866" y="414649"/>
                  </a:lnTo>
                  <a:lnTo>
                    <a:pt x="613173" y="398340"/>
                  </a:lnTo>
                  <a:lnTo>
                    <a:pt x="626119" y="386508"/>
                  </a:lnTo>
                  <a:lnTo>
                    <a:pt x="629417" y="366792"/>
                  </a:lnTo>
                  <a:lnTo>
                    <a:pt x="618778" y="326828"/>
                  </a:lnTo>
                  <a:lnTo>
                    <a:pt x="631177" y="303157"/>
                  </a:lnTo>
                  <a:lnTo>
                    <a:pt x="628367" y="279611"/>
                  </a:lnTo>
                  <a:lnTo>
                    <a:pt x="612501" y="259870"/>
                  </a:lnTo>
                  <a:lnTo>
                    <a:pt x="585732" y="247613"/>
                  </a:lnTo>
                  <a:lnTo>
                    <a:pt x="591635" y="216874"/>
                  </a:lnTo>
                  <a:lnTo>
                    <a:pt x="589899" y="191139"/>
                  </a:lnTo>
                  <a:lnTo>
                    <a:pt x="577820" y="173840"/>
                  </a:lnTo>
                  <a:lnTo>
                    <a:pt x="552696" y="168408"/>
                  </a:lnTo>
                  <a:lnTo>
                    <a:pt x="570244" y="129508"/>
                  </a:lnTo>
                  <a:lnTo>
                    <a:pt x="562812" y="94418"/>
                  </a:lnTo>
                  <a:lnTo>
                    <a:pt x="536105" y="65638"/>
                  </a:lnTo>
                  <a:lnTo>
                    <a:pt x="495829" y="45667"/>
                  </a:lnTo>
                  <a:lnTo>
                    <a:pt x="447687" y="37004"/>
                  </a:lnTo>
                  <a:lnTo>
                    <a:pt x="417448" y="16633"/>
                  </a:lnTo>
                  <a:lnTo>
                    <a:pt x="376502" y="4392"/>
                  </a:lnTo>
                  <a:lnTo>
                    <a:pt x="329383" y="0"/>
                  </a:lnTo>
                  <a:lnTo>
                    <a:pt x="280626" y="3178"/>
                  </a:lnTo>
                  <a:lnTo>
                    <a:pt x="234767" y="13647"/>
                  </a:lnTo>
                  <a:lnTo>
                    <a:pt x="196339" y="31128"/>
                  </a:lnTo>
                  <a:lnTo>
                    <a:pt x="169877" y="55341"/>
                  </a:lnTo>
                  <a:lnTo>
                    <a:pt x="159917" y="86009"/>
                  </a:lnTo>
                  <a:lnTo>
                    <a:pt x="122929" y="112357"/>
                  </a:lnTo>
                  <a:lnTo>
                    <a:pt x="102280" y="147371"/>
                  </a:lnTo>
                  <a:lnTo>
                    <a:pt x="95777" y="186836"/>
                  </a:lnTo>
                  <a:lnTo>
                    <a:pt x="101225" y="226536"/>
                  </a:lnTo>
                  <a:lnTo>
                    <a:pt x="116431" y="262255"/>
                  </a:lnTo>
                  <a:lnTo>
                    <a:pt x="139200" y="289775"/>
                  </a:lnTo>
                  <a:lnTo>
                    <a:pt x="167338" y="304882"/>
                  </a:lnTo>
                  <a:lnTo>
                    <a:pt x="125227" y="318150"/>
                  </a:lnTo>
                  <a:lnTo>
                    <a:pt x="86469" y="341596"/>
                  </a:lnTo>
                  <a:lnTo>
                    <a:pt x="59142" y="369939"/>
                  </a:lnTo>
                  <a:lnTo>
                    <a:pt x="51320" y="397901"/>
                  </a:lnTo>
                  <a:lnTo>
                    <a:pt x="71078" y="420201"/>
                  </a:lnTo>
                  <a:lnTo>
                    <a:pt x="45280" y="451865"/>
                  </a:lnTo>
                  <a:lnTo>
                    <a:pt x="43371" y="487194"/>
                  </a:lnTo>
                  <a:lnTo>
                    <a:pt x="62981" y="519113"/>
                  </a:lnTo>
                  <a:lnTo>
                    <a:pt x="101742" y="540545"/>
                  </a:lnTo>
                  <a:lnTo>
                    <a:pt x="63711" y="556908"/>
                  </a:lnTo>
                  <a:lnTo>
                    <a:pt x="32605" y="581301"/>
                  </a:lnTo>
                  <a:lnTo>
                    <a:pt x="10632" y="611704"/>
                  </a:lnTo>
                  <a:lnTo>
                    <a:pt x="0" y="646102"/>
                  </a:lnTo>
                  <a:lnTo>
                    <a:pt x="2915" y="682476"/>
                  </a:lnTo>
                  <a:lnTo>
                    <a:pt x="21585" y="718810"/>
                  </a:lnTo>
                  <a:lnTo>
                    <a:pt x="58218" y="753085"/>
                  </a:lnTo>
                  <a:lnTo>
                    <a:pt x="50881" y="775263"/>
                  </a:lnTo>
                  <a:lnTo>
                    <a:pt x="53155" y="792523"/>
                  </a:lnTo>
                  <a:lnTo>
                    <a:pt x="63735" y="805262"/>
                  </a:lnTo>
                  <a:lnTo>
                    <a:pt x="81313" y="813873"/>
                  </a:lnTo>
                  <a:lnTo>
                    <a:pt x="59055" y="836943"/>
                  </a:lnTo>
                  <a:lnTo>
                    <a:pt x="48944" y="864651"/>
                  </a:lnTo>
                  <a:lnTo>
                    <a:pt x="51177" y="894159"/>
                  </a:lnTo>
                  <a:lnTo>
                    <a:pt x="65951" y="922628"/>
                  </a:lnTo>
                  <a:lnTo>
                    <a:pt x="93462" y="947220"/>
                  </a:lnTo>
                  <a:lnTo>
                    <a:pt x="133907" y="965098"/>
                  </a:lnTo>
                  <a:lnTo>
                    <a:pt x="187482" y="973422"/>
                  </a:lnTo>
                  <a:lnTo>
                    <a:pt x="197908" y="989472"/>
                  </a:lnTo>
                  <a:lnTo>
                    <a:pt x="223070" y="1001296"/>
                  </a:lnTo>
                  <a:lnTo>
                    <a:pt x="255214" y="1006463"/>
                  </a:lnTo>
                  <a:lnTo>
                    <a:pt x="286589" y="1002541"/>
                  </a:lnTo>
                  <a:lnTo>
                    <a:pt x="337282" y="1014060"/>
                  </a:lnTo>
                  <a:lnTo>
                    <a:pt x="389315" y="1014348"/>
                  </a:lnTo>
                  <a:lnTo>
                    <a:pt x="437744" y="1004256"/>
                  </a:lnTo>
                  <a:lnTo>
                    <a:pt x="477630" y="984632"/>
                  </a:lnTo>
                  <a:lnTo>
                    <a:pt x="504031" y="956327"/>
                  </a:lnTo>
                  <a:lnTo>
                    <a:pt x="512008" y="920190"/>
                  </a:lnTo>
                  <a:lnTo>
                    <a:pt x="541403" y="904393"/>
                  </a:lnTo>
                  <a:lnTo>
                    <a:pt x="556465" y="885863"/>
                  </a:lnTo>
                  <a:lnTo>
                    <a:pt x="557177" y="865176"/>
                  </a:lnTo>
                  <a:lnTo>
                    <a:pt x="543525" y="842910"/>
                  </a:lnTo>
                  <a:lnTo>
                    <a:pt x="588089" y="812725"/>
                  </a:lnTo>
                  <a:lnTo>
                    <a:pt x="614122" y="778664"/>
                  </a:lnTo>
                  <a:lnTo>
                    <a:pt x="622151" y="742870"/>
                  </a:lnTo>
                  <a:lnTo>
                    <a:pt x="612704" y="707484"/>
                  </a:lnTo>
                  <a:lnTo>
                    <a:pt x="586311" y="674650"/>
                  </a:lnTo>
                  <a:lnTo>
                    <a:pt x="622114" y="645345"/>
                  </a:lnTo>
                  <a:lnTo>
                    <a:pt x="642963" y="609776"/>
                  </a:lnTo>
                  <a:lnTo>
                    <a:pt x="650361" y="571081"/>
                  </a:lnTo>
                  <a:lnTo>
                    <a:pt x="645810" y="532398"/>
                  </a:lnTo>
                  <a:lnTo>
                    <a:pt x="630812" y="496865"/>
                  </a:lnTo>
                  <a:lnTo>
                    <a:pt x="606870" y="467618"/>
                  </a:lnTo>
                  <a:lnTo>
                    <a:pt x="575486" y="447797"/>
                  </a:lnTo>
                </a:path>
              </a:pathLst>
            </a:custGeom>
            <a:ln w="5270">
              <a:solidFill>
                <a:srgbClr val="231F20"/>
              </a:solidFill>
            </a:ln>
          </p:spPr>
          <p:txBody>
            <a:bodyPr wrap="square" lIns="0" tIns="0" rIns="0" bIns="0" rtlCol="0"/>
            <a:lstStyle/>
            <a:p>
              <a:endParaRPr/>
            </a:p>
          </p:txBody>
        </p:sp>
        <p:sp>
          <p:nvSpPr>
            <p:cNvPr id="39" name="object 39"/>
            <p:cNvSpPr/>
            <p:nvPr/>
          </p:nvSpPr>
          <p:spPr>
            <a:xfrm>
              <a:off x="3351307" y="963386"/>
              <a:ext cx="759460" cy="2087245"/>
            </a:xfrm>
            <a:custGeom>
              <a:avLst/>
              <a:gdLst/>
              <a:ahLst/>
              <a:cxnLst/>
              <a:rect l="l" t="t" r="r" b="b"/>
              <a:pathLst>
                <a:path w="759460" h="2087245">
                  <a:moveTo>
                    <a:pt x="653541" y="2087120"/>
                  </a:moveTo>
                  <a:lnTo>
                    <a:pt x="694470" y="2078803"/>
                  </a:lnTo>
                  <a:lnTo>
                    <a:pt x="727987" y="2056156"/>
                  </a:lnTo>
                  <a:lnTo>
                    <a:pt x="750634" y="2022639"/>
                  </a:lnTo>
                  <a:lnTo>
                    <a:pt x="758951" y="1981710"/>
                  </a:lnTo>
                </a:path>
                <a:path w="759460" h="2087245">
                  <a:moveTo>
                    <a:pt x="758951" y="1981710"/>
                  </a:moveTo>
                  <a:lnTo>
                    <a:pt x="758951" y="105409"/>
                  </a:lnTo>
                </a:path>
                <a:path w="759460" h="2087245">
                  <a:moveTo>
                    <a:pt x="758951" y="105409"/>
                  </a:moveTo>
                  <a:lnTo>
                    <a:pt x="750634" y="64481"/>
                  </a:lnTo>
                  <a:lnTo>
                    <a:pt x="727987" y="30964"/>
                  </a:lnTo>
                  <a:lnTo>
                    <a:pt x="694470" y="8317"/>
                  </a:lnTo>
                  <a:lnTo>
                    <a:pt x="653541" y="0"/>
                  </a:lnTo>
                </a:path>
                <a:path w="759460" h="2087245">
                  <a:moveTo>
                    <a:pt x="653541" y="0"/>
                  </a:moveTo>
                  <a:lnTo>
                    <a:pt x="105409" y="0"/>
                  </a:lnTo>
                </a:path>
                <a:path w="759460" h="2087245">
                  <a:moveTo>
                    <a:pt x="105409" y="0"/>
                  </a:moveTo>
                  <a:lnTo>
                    <a:pt x="64481" y="8317"/>
                  </a:lnTo>
                  <a:lnTo>
                    <a:pt x="30964" y="30964"/>
                  </a:lnTo>
                  <a:lnTo>
                    <a:pt x="8317" y="64481"/>
                  </a:lnTo>
                  <a:lnTo>
                    <a:pt x="0" y="105409"/>
                  </a:lnTo>
                </a:path>
                <a:path w="759460" h="2087245">
                  <a:moveTo>
                    <a:pt x="0" y="105409"/>
                  </a:moveTo>
                  <a:lnTo>
                    <a:pt x="0" y="1981710"/>
                  </a:lnTo>
                </a:path>
                <a:path w="759460" h="2087245">
                  <a:moveTo>
                    <a:pt x="0" y="1981710"/>
                  </a:moveTo>
                  <a:lnTo>
                    <a:pt x="8317" y="2022639"/>
                  </a:lnTo>
                  <a:lnTo>
                    <a:pt x="30964" y="2056156"/>
                  </a:lnTo>
                  <a:lnTo>
                    <a:pt x="64481" y="2078803"/>
                  </a:lnTo>
                  <a:lnTo>
                    <a:pt x="105409" y="2087120"/>
                  </a:lnTo>
                </a:path>
                <a:path w="759460" h="2087245">
                  <a:moveTo>
                    <a:pt x="105409" y="2087120"/>
                  </a:moveTo>
                  <a:lnTo>
                    <a:pt x="653541" y="2087120"/>
                  </a:lnTo>
                </a:path>
              </a:pathLst>
            </a:custGeom>
            <a:ln w="10541">
              <a:solidFill>
                <a:srgbClr val="231F20"/>
              </a:solidFill>
              <a:prstDash val="lgDash"/>
            </a:ln>
          </p:spPr>
          <p:txBody>
            <a:bodyPr wrap="square" lIns="0" tIns="0" rIns="0" bIns="0" rtlCol="0"/>
            <a:lstStyle/>
            <a:p>
              <a:endParaRPr/>
            </a:p>
          </p:txBody>
        </p:sp>
        <p:sp>
          <p:nvSpPr>
            <p:cNvPr id="40" name="object 40"/>
            <p:cNvSpPr/>
            <p:nvPr/>
          </p:nvSpPr>
          <p:spPr>
            <a:xfrm>
              <a:off x="3503097" y="1153127"/>
              <a:ext cx="455930" cy="721360"/>
            </a:xfrm>
            <a:custGeom>
              <a:avLst/>
              <a:gdLst/>
              <a:ahLst/>
              <a:cxnLst/>
              <a:rect l="l" t="t" r="r" b="b"/>
              <a:pathLst>
                <a:path w="455929" h="721360">
                  <a:moveTo>
                    <a:pt x="0" y="721012"/>
                  </a:moveTo>
                  <a:lnTo>
                    <a:pt x="455375" y="721012"/>
                  </a:lnTo>
                  <a:lnTo>
                    <a:pt x="455375" y="0"/>
                  </a:lnTo>
                  <a:lnTo>
                    <a:pt x="0" y="0"/>
                  </a:lnTo>
                  <a:lnTo>
                    <a:pt x="0" y="721012"/>
                  </a:lnTo>
                  <a:close/>
                </a:path>
              </a:pathLst>
            </a:custGeom>
            <a:ln w="10541">
              <a:solidFill>
                <a:srgbClr val="231F20"/>
              </a:solidFill>
            </a:ln>
          </p:spPr>
          <p:txBody>
            <a:bodyPr wrap="square" lIns="0" tIns="0" rIns="0" bIns="0" rtlCol="0"/>
            <a:lstStyle/>
            <a:p>
              <a:endParaRPr/>
            </a:p>
          </p:txBody>
        </p:sp>
        <p:sp>
          <p:nvSpPr>
            <p:cNvPr id="41" name="object 41"/>
            <p:cNvSpPr/>
            <p:nvPr/>
          </p:nvSpPr>
          <p:spPr>
            <a:xfrm>
              <a:off x="3161569" y="1039292"/>
              <a:ext cx="341630" cy="189865"/>
            </a:xfrm>
            <a:custGeom>
              <a:avLst/>
              <a:gdLst/>
              <a:ahLst/>
              <a:cxnLst/>
              <a:rect l="l" t="t" r="r" b="b"/>
              <a:pathLst>
                <a:path w="341629" h="189865">
                  <a:moveTo>
                    <a:pt x="0" y="0"/>
                  </a:moveTo>
                  <a:lnTo>
                    <a:pt x="341528" y="189737"/>
                  </a:lnTo>
                  <a:lnTo>
                    <a:pt x="0" y="0"/>
                  </a:lnTo>
                  <a:close/>
                </a:path>
              </a:pathLst>
            </a:custGeom>
            <a:solidFill>
              <a:srgbClr val="231F20"/>
            </a:solidFill>
          </p:spPr>
          <p:txBody>
            <a:bodyPr wrap="square" lIns="0" tIns="0" rIns="0" bIns="0" rtlCol="0"/>
            <a:lstStyle/>
            <a:p>
              <a:endParaRPr/>
            </a:p>
          </p:txBody>
        </p:sp>
        <p:sp>
          <p:nvSpPr>
            <p:cNvPr id="42" name="object 42"/>
            <p:cNvSpPr/>
            <p:nvPr/>
          </p:nvSpPr>
          <p:spPr>
            <a:xfrm>
              <a:off x="3161569" y="1039292"/>
              <a:ext cx="341630" cy="189865"/>
            </a:xfrm>
            <a:custGeom>
              <a:avLst/>
              <a:gdLst/>
              <a:ahLst/>
              <a:cxnLst/>
              <a:rect l="l" t="t" r="r" b="b"/>
              <a:pathLst>
                <a:path w="341629" h="189865">
                  <a:moveTo>
                    <a:pt x="0" y="0"/>
                  </a:moveTo>
                  <a:lnTo>
                    <a:pt x="341528" y="189737"/>
                  </a:lnTo>
                  <a:lnTo>
                    <a:pt x="0" y="0"/>
                  </a:lnTo>
                  <a:close/>
                </a:path>
              </a:pathLst>
            </a:custGeom>
            <a:ln w="5270">
              <a:solidFill>
                <a:srgbClr val="231F20"/>
              </a:solidFill>
            </a:ln>
          </p:spPr>
          <p:txBody>
            <a:bodyPr wrap="square" lIns="0" tIns="0" rIns="0" bIns="0" rtlCol="0"/>
            <a:lstStyle/>
            <a:p>
              <a:endParaRPr/>
            </a:p>
          </p:txBody>
        </p:sp>
        <p:sp>
          <p:nvSpPr>
            <p:cNvPr id="43" name="object 43"/>
            <p:cNvSpPr/>
            <p:nvPr/>
          </p:nvSpPr>
          <p:spPr>
            <a:xfrm>
              <a:off x="3237464" y="2822818"/>
              <a:ext cx="266065" cy="76200"/>
            </a:xfrm>
            <a:custGeom>
              <a:avLst/>
              <a:gdLst/>
              <a:ahLst/>
              <a:cxnLst/>
              <a:rect l="l" t="t" r="r" b="b"/>
              <a:pathLst>
                <a:path w="266064" h="76200">
                  <a:moveTo>
                    <a:pt x="265633" y="0"/>
                  </a:moveTo>
                  <a:lnTo>
                    <a:pt x="0" y="75890"/>
                  </a:lnTo>
                  <a:lnTo>
                    <a:pt x="265633" y="0"/>
                  </a:lnTo>
                  <a:close/>
                </a:path>
              </a:pathLst>
            </a:custGeom>
            <a:solidFill>
              <a:srgbClr val="231F20"/>
            </a:solidFill>
          </p:spPr>
          <p:txBody>
            <a:bodyPr wrap="square" lIns="0" tIns="0" rIns="0" bIns="0" rtlCol="0"/>
            <a:lstStyle/>
            <a:p>
              <a:endParaRPr/>
            </a:p>
          </p:txBody>
        </p:sp>
        <p:sp>
          <p:nvSpPr>
            <p:cNvPr id="44" name="object 44"/>
            <p:cNvSpPr/>
            <p:nvPr/>
          </p:nvSpPr>
          <p:spPr>
            <a:xfrm>
              <a:off x="3237464" y="2822818"/>
              <a:ext cx="266065" cy="76200"/>
            </a:xfrm>
            <a:custGeom>
              <a:avLst/>
              <a:gdLst/>
              <a:ahLst/>
              <a:cxnLst/>
              <a:rect l="l" t="t" r="r" b="b"/>
              <a:pathLst>
                <a:path w="266064" h="76200">
                  <a:moveTo>
                    <a:pt x="0" y="75890"/>
                  </a:moveTo>
                  <a:lnTo>
                    <a:pt x="265633" y="0"/>
                  </a:lnTo>
                  <a:lnTo>
                    <a:pt x="0" y="75890"/>
                  </a:lnTo>
                  <a:close/>
                </a:path>
              </a:pathLst>
            </a:custGeom>
            <a:ln w="5270">
              <a:solidFill>
                <a:srgbClr val="231F20"/>
              </a:solidFill>
            </a:ln>
          </p:spPr>
          <p:txBody>
            <a:bodyPr wrap="square" lIns="0" tIns="0" rIns="0" bIns="0" rtlCol="0"/>
            <a:lstStyle/>
            <a:p>
              <a:endParaRPr/>
            </a:p>
          </p:txBody>
        </p:sp>
        <p:sp>
          <p:nvSpPr>
            <p:cNvPr id="45" name="object 45"/>
            <p:cNvSpPr/>
            <p:nvPr/>
          </p:nvSpPr>
          <p:spPr>
            <a:xfrm>
              <a:off x="1487241" y="1030016"/>
              <a:ext cx="189865" cy="76200"/>
            </a:xfrm>
            <a:custGeom>
              <a:avLst/>
              <a:gdLst/>
              <a:ahLst/>
              <a:cxnLst/>
              <a:rect l="l" t="t" r="r" b="b"/>
              <a:pathLst>
                <a:path w="189864" h="76200">
                  <a:moveTo>
                    <a:pt x="0" y="0"/>
                  </a:moveTo>
                  <a:lnTo>
                    <a:pt x="189733" y="75895"/>
                  </a:lnTo>
                  <a:lnTo>
                    <a:pt x="0" y="0"/>
                  </a:lnTo>
                  <a:close/>
                </a:path>
              </a:pathLst>
            </a:custGeom>
            <a:solidFill>
              <a:srgbClr val="231F20"/>
            </a:solidFill>
          </p:spPr>
          <p:txBody>
            <a:bodyPr wrap="square" lIns="0" tIns="0" rIns="0" bIns="0" rtlCol="0"/>
            <a:lstStyle/>
            <a:p>
              <a:endParaRPr/>
            </a:p>
          </p:txBody>
        </p:sp>
        <p:sp>
          <p:nvSpPr>
            <p:cNvPr id="46" name="object 46"/>
            <p:cNvSpPr/>
            <p:nvPr/>
          </p:nvSpPr>
          <p:spPr>
            <a:xfrm>
              <a:off x="1487241" y="1030016"/>
              <a:ext cx="189865" cy="76200"/>
            </a:xfrm>
            <a:custGeom>
              <a:avLst/>
              <a:gdLst/>
              <a:ahLst/>
              <a:cxnLst/>
              <a:rect l="l" t="t" r="r" b="b"/>
              <a:pathLst>
                <a:path w="189864" h="76200">
                  <a:moveTo>
                    <a:pt x="0" y="0"/>
                  </a:moveTo>
                  <a:lnTo>
                    <a:pt x="189733" y="75895"/>
                  </a:lnTo>
                  <a:lnTo>
                    <a:pt x="0" y="0"/>
                  </a:lnTo>
                  <a:close/>
                </a:path>
              </a:pathLst>
            </a:custGeom>
            <a:ln w="5270">
              <a:solidFill>
                <a:srgbClr val="231F20"/>
              </a:solidFill>
            </a:ln>
          </p:spPr>
          <p:txBody>
            <a:bodyPr wrap="square" lIns="0" tIns="0" rIns="0" bIns="0" rtlCol="0"/>
            <a:lstStyle/>
            <a:p>
              <a:endParaRPr/>
            </a:p>
          </p:txBody>
        </p:sp>
        <p:sp>
          <p:nvSpPr>
            <p:cNvPr id="47" name="object 47"/>
            <p:cNvSpPr/>
            <p:nvPr/>
          </p:nvSpPr>
          <p:spPr>
            <a:xfrm>
              <a:off x="1150349" y="2177712"/>
              <a:ext cx="189865" cy="76200"/>
            </a:xfrm>
            <a:custGeom>
              <a:avLst/>
              <a:gdLst/>
              <a:ahLst/>
              <a:cxnLst/>
              <a:rect l="l" t="t" r="r" b="b"/>
              <a:pathLst>
                <a:path w="189865" h="76200">
                  <a:moveTo>
                    <a:pt x="0" y="0"/>
                  </a:moveTo>
                  <a:lnTo>
                    <a:pt x="189737" y="75895"/>
                  </a:lnTo>
                  <a:lnTo>
                    <a:pt x="0" y="0"/>
                  </a:lnTo>
                  <a:close/>
                </a:path>
              </a:pathLst>
            </a:custGeom>
            <a:solidFill>
              <a:srgbClr val="231F20"/>
            </a:solidFill>
          </p:spPr>
          <p:txBody>
            <a:bodyPr wrap="square" lIns="0" tIns="0" rIns="0" bIns="0" rtlCol="0"/>
            <a:lstStyle/>
            <a:p>
              <a:endParaRPr/>
            </a:p>
          </p:txBody>
        </p:sp>
        <p:sp>
          <p:nvSpPr>
            <p:cNvPr id="48" name="object 48"/>
            <p:cNvSpPr/>
            <p:nvPr/>
          </p:nvSpPr>
          <p:spPr>
            <a:xfrm>
              <a:off x="1150349" y="2177712"/>
              <a:ext cx="189865" cy="76200"/>
            </a:xfrm>
            <a:custGeom>
              <a:avLst/>
              <a:gdLst/>
              <a:ahLst/>
              <a:cxnLst/>
              <a:rect l="l" t="t" r="r" b="b"/>
              <a:pathLst>
                <a:path w="189865" h="76200">
                  <a:moveTo>
                    <a:pt x="0" y="0"/>
                  </a:moveTo>
                  <a:lnTo>
                    <a:pt x="189737" y="75895"/>
                  </a:lnTo>
                  <a:lnTo>
                    <a:pt x="0" y="0"/>
                  </a:lnTo>
                  <a:close/>
                </a:path>
              </a:pathLst>
            </a:custGeom>
            <a:ln w="5270">
              <a:solidFill>
                <a:srgbClr val="231F20"/>
              </a:solidFill>
            </a:ln>
          </p:spPr>
          <p:txBody>
            <a:bodyPr wrap="square" lIns="0" tIns="0" rIns="0" bIns="0" rtlCol="0"/>
            <a:lstStyle/>
            <a:p>
              <a:endParaRPr/>
            </a:p>
          </p:txBody>
        </p:sp>
        <p:sp>
          <p:nvSpPr>
            <p:cNvPr id="49" name="object 49"/>
            <p:cNvSpPr/>
            <p:nvPr/>
          </p:nvSpPr>
          <p:spPr>
            <a:xfrm>
              <a:off x="3465150" y="1570548"/>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50" name="object 50"/>
            <p:cNvSpPr/>
            <p:nvPr/>
          </p:nvSpPr>
          <p:spPr>
            <a:xfrm>
              <a:off x="3465150" y="1570548"/>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51" name="object 51"/>
            <p:cNvSpPr/>
            <p:nvPr/>
          </p:nvSpPr>
          <p:spPr>
            <a:xfrm>
              <a:off x="3465150" y="2291559"/>
              <a:ext cx="76200" cy="76200"/>
            </a:xfrm>
            <a:custGeom>
              <a:avLst/>
              <a:gdLst/>
              <a:ahLst/>
              <a:cxnLst/>
              <a:rect l="l" t="t" r="r" b="b"/>
              <a:pathLst>
                <a:path w="76200" h="76200">
                  <a:moveTo>
                    <a:pt x="75895" y="0"/>
                  </a:moveTo>
                  <a:lnTo>
                    <a:pt x="0" y="0"/>
                  </a:lnTo>
                  <a:lnTo>
                    <a:pt x="0" y="75895"/>
                  </a:lnTo>
                  <a:lnTo>
                    <a:pt x="75895" y="75895"/>
                  </a:lnTo>
                  <a:lnTo>
                    <a:pt x="75895" y="0"/>
                  </a:lnTo>
                  <a:close/>
                </a:path>
              </a:pathLst>
            </a:custGeom>
            <a:solidFill>
              <a:srgbClr val="FFFFFF"/>
            </a:solidFill>
          </p:spPr>
          <p:txBody>
            <a:bodyPr wrap="square" lIns="0" tIns="0" rIns="0" bIns="0" rtlCol="0"/>
            <a:lstStyle/>
            <a:p>
              <a:endParaRPr/>
            </a:p>
          </p:txBody>
        </p:sp>
        <p:sp>
          <p:nvSpPr>
            <p:cNvPr id="52" name="object 52"/>
            <p:cNvSpPr/>
            <p:nvPr/>
          </p:nvSpPr>
          <p:spPr>
            <a:xfrm>
              <a:off x="3465150" y="2291559"/>
              <a:ext cx="76200" cy="76200"/>
            </a:xfrm>
            <a:custGeom>
              <a:avLst/>
              <a:gdLst/>
              <a:ahLst/>
              <a:cxnLst/>
              <a:rect l="l" t="t" r="r" b="b"/>
              <a:pathLst>
                <a:path w="76200" h="76200">
                  <a:moveTo>
                    <a:pt x="0" y="75895"/>
                  </a:moveTo>
                  <a:lnTo>
                    <a:pt x="75895" y="75895"/>
                  </a:lnTo>
                  <a:lnTo>
                    <a:pt x="75895" y="0"/>
                  </a:lnTo>
                  <a:lnTo>
                    <a:pt x="0" y="0"/>
                  </a:lnTo>
                  <a:lnTo>
                    <a:pt x="0" y="75895"/>
                  </a:lnTo>
                  <a:close/>
                </a:path>
              </a:pathLst>
            </a:custGeom>
            <a:ln w="5270">
              <a:solidFill>
                <a:srgbClr val="231F20"/>
              </a:solidFill>
            </a:ln>
          </p:spPr>
          <p:txBody>
            <a:bodyPr wrap="square" lIns="0" tIns="0" rIns="0" bIns="0" rtlCol="0"/>
            <a:lstStyle/>
            <a:p>
              <a:endParaRPr/>
            </a:p>
          </p:txBody>
        </p:sp>
        <p:sp>
          <p:nvSpPr>
            <p:cNvPr id="53" name="object 53"/>
            <p:cNvSpPr/>
            <p:nvPr/>
          </p:nvSpPr>
          <p:spPr>
            <a:xfrm>
              <a:off x="3161569" y="1418768"/>
              <a:ext cx="304165" cy="152400"/>
            </a:xfrm>
            <a:custGeom>
              <a:avLst/>
              <a:gdLst/>
              <a:ahLst/>
              <a:cxnLst/>
              <a:rect l="l" t="t" r="r" b="b"/>
              <a:pathLst>
                <a:path w="304164" h="152400">
                  <a:moveTo>
                    <a:pt x="0" y="0"/>
                  </a:moveTo>
                  <a:lnTo>
                    <a:pt x="303580" y="151779"/>
                  </a:lnTo>
                  <a:lnTo>
                    <a:pt x="0" y="0"/>
                  </a:lnTo>
                  <a:close/>
                </a:path>
              </a:pathLst>
            </a:custGeom>
            <a:solidFill>
              <a:srgbClr val="231F20"/>
            </a:solidFill>
          </p:spPr>
          <p:txBody>
            <a:bodyPr wrap="square" lIns="0" tIns="0" rIns="0" bIns="0" rtlCol="0"/>
            <a:lstStyle/>
            <a:p>
              <a:endParaRPr/>
            </a:p>
          </p:txBody>
        </p:sp>
        <p:sp>
          <p:nvSpPr>
            <p:cNvPr id="54" name="object 54"/>
            <p:cNvSpPr/>
            <p:nvPr/>
          </p:nvSpPr>
          <p:spPr>
            <a:xfrm>
              <a:off x="3161569" y="1418768"/>
              <a:ext cx="304165" cy="152400"/>
            </a:xfrm>
            <a:custGeom>
              <a:avLst/>
              <a:gdLst/>
              <a:ahLst/>
              <a:cxnLst/>
              <a:rect l="l" t="t" r="r" b="b"/>
              <a:pathLst>
                <a:path w="304164" h="152400">
                  <a:moveTo>
                    <a:pt x="0" y="0"/>
                  </a:moveTo>
                  <a:lnTo>
                    <a:pt x="303580" y="151779"/>
                  </a:lnTo>
                  <a:lnTo>
                    <a:pt x="0" y="0"/>
                  </a:lnTo>
                  <a:close/>
                </a:path>
              </a:pathLst>
            </a:custGeom>
            <a:ln w="5270">
              <a:solidFill>
                <a:srgbClr val="231F20"/>
              </a:solidFill>
            </a:ln>
          </p:spPr>
          <p:txBody>
            <a:bodyPr wrap="square" lIns="0" tIns="0" rIns="0" bIns="0" rtlCol="0"/>
            <a:lstStyle/>
            <a:p>
              <a:endParaRPr/>
            </a:p>
          </p:txBody>
        </p:sp>
        <p:sp>
          <p:nvSpPr>
            <p:cNvPr id="55" name="object 55"/>
            <p:cNvSpPr/>
            <p:nvPr/>
          </p:nvSpPr>
          <p:spPr>
            <a:xfrm>
              <a:off x="3237464" y="2367450"/>
              <a:ext cx="227965" cy="152400"/>
            </a:xfrm>
            <a:custGeom>
              <a:avLst/>
              <a:gdLst/>
              <a:ahLst/>
              <a:cxnLst/>
              <a:rect l="l" t="t" r="r" b="b"/>
              <a:pathLst>
                <a:path w="227964" h="152400">
                  <a:moveTo>
                    <a:pt x="227685" y="0"/>
                  </a:moveTo>
                  <a:lnTo>
                    <a:pt x="0" y="151790"/>
                  </a:lnTo>
                  <a:lnTo>
                    <a:pt x="227685" y="0"/>
                  </a:lnTo>
                  <a:close/>
                </a:path>
              </a:pathLst>
            </a:custGeom>
            <a:solidFill>
              <a:srgbClr val="231F20"/>
            </a:solidFill>
          </p:spPr>
          <p:txBody>
            <a:bodyPr wrap="square" lIns="0" tIns="0" rIns="0" bIns="0" rtlCol="0"/>
            <a:lstStyle/>
            <a:p>
              <a:endParaRPr/>
            </a:p>
          </p:txBody>
        </p:sp>
        <p:sp>
          <p:nvSpPr>
            <p:cNvPr id="56" name="object 56"/>
            <p:cNvSpPr/>
            <p:nvPr/>
          </p:nvSpPr>
          <p:spPr>
            <a:xfrm>
              <a:off x="3237464" y="2367450"/>
              <a:ext cx="227965" cy="152400"/>
            </a:xfrm>
            <a:custGeom>
              <a:avLst/>
              <a:gdLst/>
              <a:ahLst/>
              <a:cxnLst/>
              <a:rect l="l" t="t" r="r" b="b"/>
              <a:pathLst>
                <a:path w="227964" h="152400">
                  <a:moveTo>
                    <a:pt x="0" y="151790"/>
                  </a:moveTo>
                  <a:lnTo>
                    <a:pt x="227685" y="0"/>
                  </a:lnTo>
                  <a:lnTo>
                    <a:pt x="0" y="151790"/>
                  </a:lnTo>
                  <a:close/>
                </a:path>
              </a:pathLst>
            </a:custGeom>
            <a:ln w="5270">
              <a:solidFill>
                <a:srgbClr val="231F20"/>
              </a:solidFill>
            </a:ln>
          </p:spPr>
          <p:txBody>
            <a:bodyPr wrap="square" lIns="0" tIns="0" rIns="0" bIns="0" rtlCol="0"/>
            <a:lstStyle/>
            <a:p>
              <a:endParaRPr/>
            </a:p>
          </p:txBody>
        </p:sp>
      </p:grpSp>
      <p:sp>
        <p:nvSpPr>
          <p:cNvPr id="57" name="object 57"/>
          <p:cNvSpPr txBox="1"/>
          <p:nvPr/>
        </p:nvSpPr>
        <p:spPr>
          <a:xfrm>
            <a:off x="66713" y="3331252"/>
            <a:ext cx="6584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6" action="ppaction://hlinksldjump"/>
              </a:rPr>
              <a:t>Wide-area</a:t>
            </a:r>
            <a:r>
              <a:rPr sz="600" spc="-30" dirty="0">
                <a:solidFill>
                  <a:srgbClr val="3333B2"/>
                </a:solidFill>
                <a:latin typeface="Arial"/>
                <a:cs typeface="Arial"/>
                <a:hlinkClick r:id="rId6" action="ppaction://hlinksldjump"/>
              </a:rPr>
              <a:t> </a:t>
            </a:r>
            <a:r>
              <a:rPr sz="600" spc="-5" dirty="0">
                <a:solidFill>
                  <a:srgbClr val="3333B2"/>
                </a:solidFill>
                <a:latin typeface="Arial"/>
                <a:cs typeface="Arial"/>
                <a:hlinkClick r:id="rId6" action="ppaction://hlinksldjump"/>
              </a:rPr>
              <a:t>clusters</a:t>
            </a:r>
            <a:endParaRPr sz="600">
              <a:latin typeface="Arial"/>
              <a:cs typeface="Arial"/>
            </a:endParaRPr>
          </a:p>
        </p:txBody>
      </p:sp>
      <p:sp>
        <p:nvSpPr>
          <p:cNvPr id="58" name="object 5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36</a:t>
            </a:r>
            <a:r>
              <a:rPr spc="-40" dirty="0"/>
              <a:t> </a:t>
            </a:r>
            <a:r>
              <a:rPr spc="-5" dirty="0"/>
              <a:t>/</a:t>
            </a:r>
            <a:r>
              <a:rPr spc="-35" dirty="0"/>
              <a:t> </a:t>
            </a:r>
            <a:r>
              <a:rPr spc="-5" dirty="0"/>
              <a:t>47</a:t>
            </a:r>
          </a:p>
        </p:txBody>
      </p:sp>
    </p:spTree>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 name="object 5"/>
          <p:cNvSpPr txBox="1"/>
          <p:nvPr/>
        </p:nvSpPr>
        <p:spPr>
          <a:xfrm>
            <a:off x="66713" y="3331252"/>
            <a:ext cx="6584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Wide-area</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clusters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Server</a:t>
            </a:r>
            <a:r>
              <a:rPr sz="600" spc="-3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clusters</a:t>
            </a:r>
            <a:endParaRPr sz="600">
              <a:latin typeface="Arial"/>
              <a:cs typeface="Arial"/>
            </a:endParaRPr>
          </a:p>
        </p:txBody>
      </p:sp>
      <p:sp>
        <p:nvSpPr>
          <p:cNvPr id="4" name="object 4"/>
          <p:cNvSpPr txBox="1"/>
          <p:nvPr/>
        </p:nvSpPr>
        <p:spPr>
          <a:xfrm>
            <a:off x="82600" y="188846"/>
            <a:ext cx="4240530" cy="1873250"/>
          </a:xfrm>
          <a:prstGeom prst="rect">
            <a:avLst/>
          </a:prstGeom>
        </p:spPr>
        <p:txBody>
          <a:bodyPr vert="horz" wrap="square" lIns="0" tIns="17145" rIns="0" bIns="0" rtlCol="0">
            <a:spAutoFit/>
          </a:bodyPr>
          <a:lstStyle/>
          <a:p>
            <a:pPr marL="25400">
              <a:lnSpc>
                <a:spcPct val="100000"/>
              </a:lnSpc>
              <a:spcBef>
                <a:spcPts val="135"/>
              </a:spcBef>
            </a:pPr>
            <a:r>
              <a:rPr sz="1400" spc="10" dirty="0">
                <a:solidFill>
                  <a:srgbClr val="3333B2"/>
                </a:solidFill>
                <a:latin typeface="Arial"/>
                <a:cs typeface="Arial"/>
              </a:rPr>
              <a:t>Distributed</a:t>
            </a:r>
            <a:r>
              <a:rPr sz="1400" dirty="0">
                <a:solidFill>
                  <a:srgbClr val="3333B2"/>
                </a:solidFill>
                <a:latin typeface="Arial"/>
                <a:cs typeface="Arial"/>
              </a:rPr>
              <a:t> </a:t>
            </a:r>
            <a:r>
              <a:rPr sz="1400" spc="15" dirty="0">
                <a:solidFill>
                  <a:srgbClr val="3333B2"/>
                </a:solidFill>
                <a:latin typeface="Arial"/>
                <a:cs typeface="Arial"/>
              </a:rPr>
              <a:t>servers:</a:t>
            </a:r>
            <a:r>
              <a:rPr sz="1400" spc="100" dirty="0">
                <a:solidFill>
                  <a:srgbClr val="3333B2"/>
                </a:solidFill>
                <a:latin typeface="Arial"/>
                <a:cs typeface="Arial"/>
              </a:rPr>
              <a:t> </a:t>
            </a:r>
            <a:r>
              <a:rPr sz="1400" spc="15" dirty="0">
                <a:solidFill>
                  <a:srgbClr val="3333B2"/>
                </a:solidFill>
                <a:latin typeface="Arial"/>
                <a:cs typeface="Arial"/>
              </a:rPr>
              <a:t>addressing</a:t>
            </a:r>
            <a:r>
              <a:rPr sz="1400" spc="5" dirty="0">
                <a:solidFill>
                  <a:srgbClr val="3333B2"/>
                </a:solidFill>
                <a:latin typeface="Arial"/>
                <a:cs typeface="Arial"/>
              </a:rPr>
              <a:t> </a:t>
            </a:r>
            <a:r>
              <a:rPr sz="1400" spc="10" dirty="0">
                <a:solidFill>
                  <a:srgbClr val="3333B2"/>
                </a:solidFill>
                <a:latin typeface="Arial"/>
                <a:cs typeface="Arial"/>
              </a:rPr>
              <a:t>details</a:t>
            </a:r>
            <a:endParaRPr sz="1400" dirty="0">
              <a:latin typeface="Arial"/>
              <a:cs typeface="Arial"/>
            </a:endParaRPr>
          </a:p>
          <a:p>
            <a:pPr>
              <a:lnSpc>
                <a:spcPct val="100000"/>
              </a:lnSpc>
            </a:pPr>
            <a:endParaRPr sz="1850" dirty="0">
              <a:latin typeface="Arial"/>
              <a:cs typeface="Arial"/>
            </a:endParaRPr>
          </a:p>
          <a:p>
            <a:pPr marL="276860" marR="84455">
              <a:lnSpc>
                <a:spcPts val="1390"/>
              </a:lnSpc>
            </a:pPr>
            <a:r>
              <a:rPr sz="1200" spc="-5" dirty="0">
                <a:solidFill>
                  <a:srgbClr val="3333B2"/>
                </a:solidFill>
                <a:latin typeface="Arial"/>
                <a:cs typeface="Arial"/>
              </a:rPr>
              <a:t>Essence:</a:t>
            </a:r>
            <a:r>
              <a:rPr sz="1200" spc="80" dirty="0">
                <a:solidFill>
                  <a:srgbClr val="3333B2"/>
                </a:solidFill>
                <a:latin typeface="Arial"/>
                <a:cs typeface="Arial"/>
              </a:rPr>
              <a:t> </a:t>
            </a:r>
            <a:r>
              <a:rPr sz="1200" spc="-5" dirty="0">
                <a:solidFill>
                  <a:srgbClr val="3333B2"/>
                </a:solidFill>
                <a:latin typeface="Arial"/>
                <a:cs typeface="Arial"/>
              </a:rPr>
              <a:t>Clients</a:t>
            </a:r>
            <a:r>
              <a:rPr sz="1200" dirty="0">
                <a:solidFill>
                  <a:srgbClr val="3333B2"/>
                </a:solidFill>
                <a:latin typeface="Arial"/>
                <a:cs typeface="Arial"/>
              </a:rPr>
              <a:t> </a:t>
            </a:r>
            <a:r>
              <a:rPr sz="1200" spc="-10" dirty="0">
                <a:solidFill>
                  <a:srgbClr val="3333B2"/>
                </a:solidFill>
                <a:latin typeface="Arial"/>
                <a:cs typeface="Arial"/>
              </a:rPr>
              <a:t>having</a:t>
            </a:r>
            <a:r>
              <a:rPr sz="1200" spc="-5" dirty="0">
                <a:solidFill>
                  <a:srgbClr val="3333B2"/>
                </a:solidFill>
                <a:latin typeface="Arial"/>
                <a:cs typeface="Arial"/>
              </a:rPr>
              <a:t> MobileIPv6</a:t>
            </a:r>
            <a:r>
              <a:rPr sz="1200" dirty="0">
                <a:solidFill>
                  <a:srgbClr val="3333B2"/>
                </a:solidFill>
                <a:latin typeface="Arial"/>
                <a:cs typeface="Arial"/>
              </a:rPr>
              <a:t> </a:t>
            </a:r>
            <a:r>
              <a:rPr sz="1200" spc="-5" dirty="0">
                <a:solidFill>
                  <a:srgbClr val="3333B2"/>
                </a:solidFill>
                <a:latin typeface="Arial"/>
                <a:cs typeface="Arial"/>
              </a:rPr>
              <a:t>can</a:t>
            </a:r>
            <a:r>
              <a:rPr sz="1200" dirty="0">
                <a:solidFill>
                  <a:srgbClr val="3333B2"/>
                </a:solidFill>
                <a:latin typeface="Arial"/>
                <a:cs typeface="Arial"/>
              </a:rPr>
              <a:t> </a:t>
            </a:r>
            <a:r>
              <a:rPr sz="1200" spc="-5" dirty="0">
                <a:solidFill>
                  <a:srgbClr val="3333B2"/>
                </a:solidFill>
                <a:latin typeface="Arial"/>
                <a:cs typeface="Arial"/>
              </a:rPr>
              <a:t>transparently</a:t>
            </a:r>
            <a:r>
              <a:rPr sz="1200" dirty="0">
                <a:solidFill>
                  <a:srgbClr val="3333B2"/>
                </a:solidFill>
                <a:latin typeface="Arial"/>
                <a:cs typeface="Arial"/>
              </a:rPr>
              <a:t> </a:t>
            </a:r>
            <a:r>
              <a:rPr sz="1200" spc="-5" dirty="0">
                <a:solidFill>
                  <a:srgbClr val="3333B2"/>
                </a:solidFill>
                <a:latin typeface="Arial"/>
                <a:cs typeface="Arial"/>
              </a:rPr>
              <a:t>set </a:t>
            </a:r>
            <a:r>
              <a:rPr sz="1200" spc="-315" dirty="0">
                <a:solidFill>
                  <a:srgbClr val="3333B2"/>
                </a:solidFill>
                <a:latin typeface="Arial"/>
                <a:cs typeface="Arial"/>
              </a:rPr>
              <a:t> </a:t>
            </a:r>
            <a:r>
              <a:rPr sz="1200" spc="-5" dirty="0">
                <a:solidFill>
                  <a:srgbClr val="3333B2"/>
                </a:solidFill>
                <a:latin typeface="Arial"/>
                <a:cs typeface="Arial"/>
              </a:rPr>
              <a:t>up</a:t>
            </a:r>
            <a:r>
              <a:rPr sz="1200" spc="-10" dirty="0">
                <a:solidFill>
                  <a:srgbClr val="3333B2"/>
                </a:solidFill>
                <a:latin typeface="Arial"/>
                <a:cs typeface="Arial"/>
              </a:rPr>
              <a:t> </a:t>
            </a:r>
            <a:r>
              <a:rPr sz="1200" spc="-5" dirty="0">
                <a:solidFill>
                  <a:srgbClr val="3333B2"/>
                </a:solidFill>
                <a:latin typeface="Arial"/>
                <a:cs typeface="Arial"/>
              </a:rPr>
              <a:t>a connection to </a:t>
            </a:r>
            <a:r>
              <a:rPr sz="1200" spc="-10" dirty="0">
                <a:solidFill>
                  <a:srgbClr val="3333B2"/>
                </a:solidFill>
                <a:latin typeface="Arial"/>
                <a:cs typeface="Arial"/>
              </a:rPr>
              <a:t>any</a:t>
            </a:r>
            <a:r>
              <a:rPr sz="1200" spc="-5" dirty="0">
                <a:solidFill>
                  <a:srgbClr val="3333B2"/>
                </a:solidFill>
                <a:latin typeface="Arial"/>
                <a:cs typeface="Arial"/>
              </a:rPr>
              <a:t> peer</a:t>
            </a:r>
            <a:endParaRPr sz="1200" dirty="0">
              <a:latin typeface="Arial"/>
              <a:cs typeface="Arial"/>
            </a:endParaRPr>
          </a:p>
          <a:p>
            <a:pPr marL="554355" indent="-168275">
              <a:lnSpc>
                <a:spcPct val="100000"/>
              </a:lnSpc>
              <a:spcBef>
                <a:spcPts val="745"/>
              </a:spcBef>
              <a:buClr>
                <a:srgbClr val="3333B2"/>
              </a:buClr>
              <a:buChar char="►"/>
              <a:tabLst>
                <a:tab pos="554990" algn="l"/>
              </a:tabLst>
            </a:pPr>
            <a:r>
              <a:rPr sz="1000" spc="-5" dirty="0">
                <a:latin typeface="Arial"/>
                <a:cs typeface="Arial"/>
              </a:rPr>
              <a:t>Client </a:t>
            </a:r>
            <a:r>
              <a:rPr sz="1000" i="1" spc="-5" dirty="0">
                <a:latin typeface="Arial"/>
                <a:cs typeface="Arial"/>
              </a:rPr>
              <a:t>C</a:t>
            </a:r>
            <a:r>
              <a:rPr sz="1000" i="1" spc="60" dirty="0">
                <a:latin typeface="Arial"/>
                <a:cs typeface="Arial"/>
              </a:rPr>
              <a:t> </a:t>
            </a:r>
            <a:r>
              <a:rPr sz="1000" spc="-5" dirty="0">
                <a:latin typeface="Arial"/>
                <a:cs typeface="Arial"/>
              </a:rPr>
              <a:t>sets up</a:t>
            </a:r>
            <a:r>
              <a:rPr sz="1000" dirty="0">
                <a:latin typeface="Arial"/>
                <a:cs typeface="Arial"/>
              </a:rPr>
              <a:t> </a:t>
            </a:r>
            <a:r>
              <a:rPr sz="1000" spc="-5" dirty="0">
                <a:latin typeface="Arial"/>
                <a:cs typeface="Arial"/>
              </a:rPr>
              <a:t>connection to</a:t>
            </a:r>
            <a:r>
              <a:rPr sz="1000" dirty="0">
                <a:latin typeface="Arial"/>
                <a:cs typeface="Arial"/>
              </a:rPr>
              <a:t> </a:t>
            </a:r>
            <a:r>
              <a:rPr sz="1000" spc="-5" dirty="0">
                <a:latin typeface="Arial"/>
                <a:cs typeface="Arial"/>
              </a:rPr>
              <a:t>IPv6 </a:t>
            </a:r>
            <a:r>
              <a:rPr sz="1000" spc="-5" dirty="0">
                <a:solidFill>
                  <a:srgbClr val="0000FA"/>
                </a:solidFill>
                <a:latin typeface="Arial"/>
                <a:cs typeface="Arial"/>
              </a:rPr>
              <a:t>home</a:t>
            </a:r>
            <a:r>
              <a:rPr sz="1000" dirty="0">
                <a:solidFill>
                  <a:srgbClr val="0000FA"/>
                </a:solidFill>
                <a:latin typeface="Arial"/>
                <a:cs typeface="Arial"/>
              </a:rPr>
              <a:t> </a:t>
            </a:r>
            <a:r>
              <a:rPr sz="1000" spc="-5" dirty="0">
                <a:solidFill>
                  <a:srgbClr val="0000FA"/>
                </a:solidFill>
                <a:latin typeface="Arial"/>
                <a:cs typeface="Arial"/>
              </a:rPr>
              <a:t>address </a:t>
            </a:r>
            <a:r>
              <a:rPr sz="1000" i="1" spc="-5" dirty="0">
                <a:latin typeface="Arial"/>
                <a:cs typeface="Arial"/>
              </a:rPr>
              <a:t>HA</a:t>
            </a:r>
            <a:endParaRPr sz="1000" dirty="0">
              <a:latin typeface="Arial"/>
              <a:cs typeface="Arial"/>
            </a:endParaRPr>
          </a:p>
          <a:p>
            <a:pPr marL="554355" marR="114300" indent="-168275">
              <a:lnSpc>
                <a:spcPct val="100000"/>
              </a:lnSpc>
              <a:spcBef>
                <a:spcPts val="595"/>
              </a:spcBef>
              <a:buClr>
                <a:srgbClr val="3333B2"/>
              </a:buClr>
              <a:buFont typeface="Arial"/>
              <a:buChar char="►"/>
              <a:tabLst>
                <a:tab pos="554990" algn="l"/>
              </a:tabLst>
            </a:pPr>
            <a:r>
              <a:rPr sz="1000" i="1" spc="-5" dirty="0">
                <a:latin typeface="Arial"/>
                <a:cs typeface="Arial"/>
              </a:rPr>
              <a:t>HA</a:t>
            </a:r>
            <a:r>
              <a:rPr sz="1000" i="1"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maintained</a:t>
            </a:r>
            <a:r>
              <a:rPr sz="1000" spc="5"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(network-level)</a:t>
            </a:r>
            <a:r>
              <a:rPr sz="1000" spc="5" dirty="0">
                <a:latin typeface="Arial"/>
                <a:cs typeface="Arial"/>
              </a:rPr>
              <a:t> </a:t>
            </a:r>
            <a:r>
              <a:rPr sz="1000" spc="-5" dirty="0">
                <a:solidFill>
                  <a:srgbClr val="0000FA"/>
                </a:solidFill>
                <a:latin typeface="Arial"/>
                <a:cs typeface="Arial"/>
              </a:rPr>
              <a:t>home</a:t>
            </a:r>
            <a:r>
              <a:rPr sz="1000" spc="5" dirty="0">
                <a:solidFill>
                  <a:srgbClr val="0000FA"/>
                </a:solidFill>
                <a:latin typeface="Arial"/>
                <a:cs typeface="Arial"/>
              </a:rPr>
              <a:t> </a:t>
            </a:r>
            <a:r>
              <a:rPr sz="1000" spc="-5" dirty="0">
                <a:solidFill>
                  <a:srgbClr val="0000FA"/>
                </a:solidFill>
                <a:latin typeface="Arial"/>
                <a:cs typeface="Arial"/>
              </a:rPr>
              <a:t>agent</a:t>
            </a:r>
            <a:r>
              <a:rPr sz="1000" spc="-5" dirty="0">
                <a:latin typeface="Arial"/>
                <a:cs typeface="Arial"/>
              </a:rPr>
              <a:t>,</a:t>
            </a:r>
            <a:r>
              <a:rPr sz="1000" dirty="0">
                <a:latin typeface="Arial"/>
                <a:cs typeface="Arial"/>
              </a:rPr>
              <a:t> </a:t>
            </a:r>
            <a:r>
              <a:rPr sz="1000" spc="-5" dirty="0">
                <a:latin typeface="Arial"/>
                <a:cs typeface="Arial"/>
              </a:rPr>
              <a:t>which</a:t>
            </a:r>
            <a:r>
              <a:rPr sz="1000" spc="5" dirty="0">
                <a:latin typeface="Arial"/>
                <a:cs typeface="Arial"/>
              </a:rPr>
              <a:t> </a:t>
            </a:r>
            <a:r>
              <a:rPr sz="1000" spc="-5" dirty="0">
                <a:latin typeface="Arial"/>
                <a:cs typeface="Arial"/>
              </a:rPr>
              <a:t>hands </a:t>
            </a:r>
            <a:r>
              <a:rPr sz="1000" spc="-265" dirty="0">
                <a:latin typeface="Arial"/>
                <a:cs typeface="Arial"/>
              </a:rPr>
              <a:t> </a:t>
            </a:r>
            <a:r>
              <a:rPr sz="1000" spc="-5" dirty="0">
                <a:latin typeface="Arial"/>
                <a:cs typeface="Arial"/>
              </a:rPr>
              <a:t>off the connection</a:t>
            </a:r>
            <a:r>
              <a:rPr sz="1000" dirty="0">
                <a:latin typeface="Arial"/>
                <a:cs typeface="Arial"/>
              </a:rPr>
              <a:t> </a:t>
            </a:r>
            <a:r>
              <a:rPr sz="1000" spc="-5" dirty="0">
                <a:latin typeface="Arial"/>
                <a:cs typeface="Arial"/>
              </a:rPr>
              <a:t>to a registered</a:t>
            </a:r>
            <a:r>
              <a:rPr sz="1000" dirty="0">
                <a:latin typeface="Arial"/>
                <a:cs typeface="Arial"/>
              </a:rPr>
              <a:t> </a:t>
            </a:r>
            <a:r>
              <a:rPr sz="1000" spc="-5" dirty="0">
                <a:solidFill>
                  <a:srgbClr val="0000FA"/>
                </a:solidFill>
                <a:latin typeface="Arial"/>
                <a:cs typeface="Arial"/>
              </a:rPr>
              <a:t>care-of address</a:t>
            </a:r>
            <a:r>
              <a:rPr sz="1000" dirty="0">
                <a:solidFill>
                  <a:srgbClr val="0000FA"/>
                </a:solidFill>
                <a:latin typeface="Arial"/>
                <a:cs typeface="Arial"/>
              </a:rPr>
              <a:t> </a:t>
            </a:r>
            <a:r>
              <a:rPr sz="1000" i="1" spc="-5" dirty="0">
                <a:latin typeface="Arial"/>
                <a:cs typeface="Arial"/>
              </a:rPr>
              <a:t>CA</a:t>
            </a:r>
            <a:r>
              <a:rPr sz="1000" spc="-5" dirty="0">
                <a:latin typeface="Arial"/>
                <a:cs typeface="Arial"/>
              </a:rPr>
              <a:t>.</a:t>
            </a:r>
            <a:endParaRPr sz="1000" dirty="0">
              <a:latin typeface="Arial"/>
              <a:cs typeface="Arial"/>
            </a:endParaRPr>
          </a:p>
          <a:p>
            <a:pPr marL="554355" marR="43180" indent="-168275">
              <a:lnSpc>
                <a:spcPct val="100000"/>
              </a:lnSpc>
              <a:spcBef>
                <a:spcPts val="590"/>
              </a:spcBef>
              <a:buClr>
                <a:srgbClr val="3333B2"/>
              </a:buClr>
              <a:buFont typeface="Arial"/>
              <a:buChar char="►"/>
              <a:tabLst>
                <a:tab pos="554990" algn="l"/>
              </a:tabLst>
            </a:pPr>
            <a:r>
              <a:rPr sz="1000" i="1" spc="-5" dirty="0">
                <a:latin typeface="Arial"/>
                <a:cs typeface="Arial"/>
              </a:rPr>
              <a:t>C</a:t>
            </a:r>
            <a:r>
              <a:rPr sz="1000" i="1" spc="6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then</a:t>
            </a:r>
            <a:r>
              <a:rPr sz="1000" dirty="0">
                <a:latin typeface="Arial"/>
                <a:cs typeface="Arial"/>
              </a:rPr>
              <a:t> </a:t>
            </a:r>
            <a:r>
              <a:rPr sz="1000" spc="-15" dirty="0">
                <a:latin typeface="Arial"/>
                <a:cs typeface="Arial"/>
              </a:rPr>
              <a:t>apply</a:t>
            </a:r>
            <a:r>
              <a:rPr sz="1000" spc="5" dirty="0">
                <a:latin typeface="Arial"/>
                <a:cs typeface="Arial"/>
              </a:rPr>
              <a:t> </a:t>
            </a:r>
            <a:r>
              <a:rPr sz="1000" spc="-15" dirty="0">
                <a:solidFill>
                  <a:srgbClr val="0000FA"/>
                </a:solidFill>
                <a:latin typeface="Arial"/>
                <a:cs typeface="Arial"/>
              </a:rPr>
              <a:t>route</a:t>
            </a:r>
            <a:r>
              <a:rPr sz="1000" dirty="0">
                <a:solidFill>
                  <a:srgbClr val="0000FA"/>
                </a:solidFill>
                <a:latin typeface="Arial"/>
                <a:cs typeface="Arial"/>
              </a:rPr>
              <a:t> </a:t>
            </a:r>
            <a:r>
              <a:rPr sz="1000" spc="-15" dirty="0">
                <a:solidFill>
                  <a:srgbClr val="0000FA"/>
                </a:solidFill>
                <a:latin typeface="Arial"/>
                <a:cs typeface="Arial"/>
              </a:rPr>
              <a:t>optimization</a:t>
            </a:r>
            <a:r>
              <a:rPr sz="1000" spc="5" dirty="0">
                <a:solidFill>
                  <a:srgbClr val="0000FA"/>
                </a:solidFill>
                <a:latin typeface="Arial"/>
                <a:cs typeface="Arial"/>
              </a:rPr>
              <a:t> </a:t>
            </a:r>
            <a:r>
              <a:rPr sz="1000" spc="-25" dirty="0">
                <a:latin typeface="Arial"/>
                <a:cs typeface="Arial"/>
              </a:rPr>
              <a:t>by</a:t>
            </a:r>
            <a:r>
              <a:rPr sz="1000" dirty="0">
                <a:latin typeface="Arial"/>
                <a:cs typeface="Arial"/>
              </a:rPr>
              <a:t> </a:t>
            </a:r>
            <a:r>
              <a:rPr sz="1000" spc="-10" dirty="0">
                <a:latin typeface="Arial"/>
                <a:cs typeface="Arial"/>
              </a:rPr>
              <a:t>directly</a:t>
            </a:r>
            <a:r>
              <a:rPr sz="1000" spc="5" dirty="0">
                <a:latin typeface="Arial"/>
                <a:cs typeface="Arial"/>
              </a:rPr>
              <a:t> </a:t>
            </a:r>
            <a:r>
              <a:rPr sz="1000" spc="-20" dirty="0">
                <a:latin typeface="Arial"/>
                <a:cs typeface="Arial"/>
              </a:rPr>
              <a:t>forwarding</a:t>
            </a:r>
            <a:r>
              <a:rPr sz="1000" dirty="0">
                <a:latin typeface="Arial"/>
                <a:cs typeface="Arial"/>
              </a:rPr>
              <a:t> </a:t>
            </a:r>
            <a:r>
              <a:rPr sz="1000" spc="-20" dirty="0">
                <a:latin typeface="Arial"/>
                <a:cs typeface="Arial"/>
              </a:rPr>
              <a:t>packets </a:t>
            </a:r>
            <a:r>
              <a:rPr sz="1000" spc="-260" dirty="0">
                <a:latin typeface="Arial"/>
                <a:cs typeface="Arial"/>
              </a:rPr>
              <a:t> </a:t>
            </a:r>
            <a:r>
              <a:rPr sz="1000" spc="-5" dirty="0">
                <a:latin typeface="Arial"/>
                <a:cs typeface="Arial"/>
              </a:rPr>
              <a:t>to address </a:t>
            </a:r>
            <a:r>
              <a:rPr sz="1000" i="1" spc="-5" dirty="0">
                <a:latin typeface="Arial"/>
                <a:cs typeface="Arial"/>
              </a:rPr>
              <a:t>CA </a:t>
            </a:r>
            <a:r>
              <a:rPr sz="1000" spc="-5" dirty="0">
                <a:latin typeface="Arial"/>
                <a:cs typeface="Arial"/>
              </a:rPr>
              <a:t>(i.e., without the handoff through the home agent).</a:t>
            </a:r>
            <a:endParaRPr sz="1000" dirty="0">
              <a:latin typeface="Arial"/>
              <a:cs typeface="Arial"/>
            </a:endParaRPr>
          </a:p>
        </p:txBody>
      </p:sp>
    </p:spTree>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p:nvPr/>
        </p:nvSpPr>
        <p:spPr>
          <a:xfrm>
            <a:off x="66713" y="3331252"/>
            <a:ext cx="65849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Wide-area</a:t>
            </a:r>
            <a:r>
              <a:rPr sz="600" spc="-3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clusters</a:t>
            </a:r>
            <a:endParaRPr sz="600">
              <a:latin typeface="Arial"/>
              <a:cs typeface="Arial"/>
            </a:endParaRPr>
          </a:p>
        </p:txBody>
      </p:sp>
      <p:sp>
        <p:nvSpPr>
          <p:cNvPr id="6" name="object 6"/>
          <p:cNvSpPr txBox="1"/>
          <p:nvPr/>
        </p:nvSpPr>
        <p:spPr>
          <a:xfrm>
            <a:off x="4283748" y="3331252"/>
            <a:ext cx="257810"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262685"/>
                </a:solidFill>
                <a:latin typeface="Arial"/>
                <a:cs typeface="Arial"/>
              </a:rPr>
              <a:t>37</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Server</a:t>
            </a:r>
            <a:r>
              <a:rPr sz="600" spc="-3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clusters</a:t>
            </a:r>
            <a:endParaRPr sz="600">
              <a:latin typeface="Arial"/>
              <a:cs typeface="Arial"/>
            </a:endParaRPr>
          </a:p>
        </p:txBody>
      </p:sp>
      <p:sp>
        <p:nvSpPr>
          <p:cNvPr id="4" name="object 4"/>
          <p:cNvSpPr txBox="1"/>
          <p:nvPr/>
        </p:nvSpPr>
        <p:spPr>
          <a:xfrm>
            <a:off x="44500" y="188846"/>
            <a:ext cx="4316730" cy="2727325"/>
          </a:xfrm>
          <a:prstGeom prst="rect">
            <a:avLst/>
          </a:prstGeom>
        </p:spPr>
        <p:txBody>
          <a:bodyPr vert="horz" wrap="square" lIns="0" tIns="17145" rIns="0" bIns="0" rtlCol="0">
            <a:spAutoFit/>
          </a:bodyPr>
          <a:lstStyle/>
          <a:p>
            <a:pPr marL="63500">
              <a:lnSpc>
                <a:spcPct val="100000"/>
              </a:lnSpc>
              <a:spcBef>
                <a:spcPts val="135"/>
              </a:spcBef>
            </a:pPr>
            <a:r>
              <a:rPr sz="1400" spc="10" dirty="0">
                <a:solidFill>
                  <a:srgbClr val="3333B2"/>
                </a:solidFill>
                <a:latin typeface="Arial"/>
                <a:cs typeface="Arial"/>
              </a:rPr>
              <a:t>Distributed</a:t>
            </a:r>
            <a:r>
              <a:rPr sz="1400" dirty="0">
                <a:solidFill>
                  <a:srgbClr val="3333B2"/>
                </a:solidFill>
                <a:latin typeface="Arial"/>
                <a:cs typeface="Arial"/>
              </a:rPr>
              <a:t> </a:t>
            </a:r>
            <a:r>
              <a:rPr sz="1400" spc="15" dirty="0">
                <a:solidFill>
                  <a:srgbClr val="3333B2"/>
                </a:solidFill>
                <a:latin typeface="Arial"/>
                <a:cs typeface="Arial"/>
              </a:rPr>
              <a:t>servers:</a:t>
            </a:r>
            <a:r>
              <a:rPr sz="1400" spc="100" dirty="0">
                <a:solidFill>
                  <a:srgbClr val="3333B2"/>
                </a:solidFill>
                <a:latin typeface="Arial"/>
                <a:cs typeface="Arial"/>
              </a:rPr>
              <a:t> </a:t>
            </a:r>
            <a:r>
              <a:rPr sz="1400" spc="15" dirty="0">
                <a:solidFill>
                  <a:srgbClr val="3333B2"/>
                </a:solidFill>
                <a:latin typeface="Arial"/>
                <a:cs typeface="Arial"/>
              </a:rPr>
              <a:t>addressing</a:t>
            </a:r>
            <a:r>
              <a:rPr sz="1400" spc="5" dirty="0">
                <a:solidFill>
                  <a:srgbClr val="3333B2"/>
                </a:solidFill>
                <a:latin typeface="Arial"/>
                <a:cs typeface="Arial"/>
              </a:rPr>
              <a:t> </a:t>
            </a:r>
            <a:r>
              <a:rPr sz="1400" spc="10" dirty="0">
                <a:solidFill>
                  <a:srgbClr val="3333B2"/>
                </a:solidFill>
                <a:latin typeface="Arial"/>
                <a:cs typeface="Arial"/>
              </a:rPr>
              <a:t>details</a:t>
            </a:r>
            <a:endParaRPr sz="1400" dirty="0">
              <a:latin typeface="Arial"/>
              <a:cs typeface="Arial"/>
            </a:endParaRPr>
          </a:p>
          <a:p>
            <a:pPr>
              <a:lnSpc>
                <a:spcPct val="100000"/>
              </a:lnSpc>
            </a:pPr>
            <a:endParaRPr sz="1850" dirty="0">
              <a:latin typeface="Arial"/>
              <a:cs typeface="Arial"/>
            </a:endParaRPr>
          </a:p>
          <a:p>
            <a:pPr marL="314960" marR="122555" algn="just">
              <a:lnSpc>
                <a:spcPts val="1390"/>
              </a:lnSpc>
            </a:pPr>
            <a:r>
              <a:rPr sz="1200" spc="-5" dirty="0">
                <a:solidFill>
                  <a:srgbClr val="3333B2"/>
                </a:solidFill>
                <a:latin typeface="Arial"/>
                <a:cs typeface="Arial"/>
              </a:rPr>
              <a:t>Essence: Clients </a:t>
            </a:r>
            <a:r>
              <a:rPr sz="1200" spc="-10" dirty="0">
                <a:solidFill>
                  <a:srgbClr val="3333B2"/>
                </a:solidFill>
                <a:latin typeface="Arial"/>
                <a:cs typeface="Arial"/>
              </a:rPr>
              <a:t>having </a:t>
            </a:r>
            <a:r>
              <a:rPr sz="1200" spc="-5" dirty="0">
                <a:solidFill>
                  <a:srgbClr val="3333B2"/>
                </a:solidFill>
                <a:latin typeface="Arial"/>
                <a:cs typeface="Arial"/>
              </a:rPr>
              <a:t>MobileIPv6 can transparently set </a:t>
            </a:r>
            <a:r>
              <a:rPr sz="1200" spc="-320" dirty="0">
                <a:solidFill>
                  <a:srgbClr val="3333B2"/>
                </a:solidFill>
                <a:latin typeface="Arial"/>
                <a:cs typeface="Arial"/>
              </a:rPr>
              <a:t> </a:t>
            </a:r>
            <a:r>
              <a:rPr sz="1200" spc="-5" dirty="0">
                <a:solidFill>
                  <a:srgbClr val="3333B2"/>
                </a:solidFill>
                <a:latin typeface="Arial"/>
                <a:cs typeface="Arial"/>
              </a:rPr>
              <a:t>up</a:t>
            </a:r>
            <a:r>
              <a:rPr sz="1200" spc="-10" dirty="0">
                <a:solidFill>
                  <a:srgbClr val="3333B2"/>
                </a:solidFill>
                <a:latin typeface="Arial"/>
                <a:cs typeface="Arial"/>
              </a:rPr>
              <a:t> </a:t>
            </a:r>
            <a:r>
              <a:rPr sz="1200" spc="-5" dirty="0">
                <a:solidFill>
                  <a:srgbClr val="3333B2"/>
                </a:solidFill>
                <a:latin typeface="Arial"/>
                <a:cs typeface="Arial"/>
              </a:rPr>
              <a:t>a connection to </a:t>
            </a:r>
            <a:r>
              <a:rPr sz="1200" spc="-10" dirty="0">
                <a:solidFill>
                  <a:srgbClr val="3333B2"/>
                </a:solidFill>
                <a:latin typeface="Arial"/>
                <a:cs typeface="Arial"/>
              </a:rPr>
              <a:t>any</a:t>
            </a:r>
            <a:r>
              <a:rPr sz="1200" spc="-5" dirty="0">
                <a:solidFill>
                  <a:srgbClr val="3333B2"/>
                </a:solidFill>
                <a:latin typeface="Arial"/>
                <a:cs typeface="Arial"/>
              </a:rPr>
              <a:t> peer</a:t>
            </a:r>
            <a:endParaRPr sz="1200" dirty="0">
              <a:latin typeface="Arial"/>
              <a:cs typeface="Arial"/>
            </a:endParaRPr>
          </a:p>
          <a:p>
            <a:pPr marL="592455" indent="-168275">
              <a:lnSpc>
                <a:spcPct val="100000"/>
              </a:lnSpc>
              <a:spcBef>
                <a:spcPts val="745"/>
              </a:spcBef>
              <a:buClr>
                <a:srgbClr val="3333B2"/>
              </a:buClr>
              <a:buChar char="►"/>
              <a:tabLst>
                <a:tab pos="593090" algn="l"/>
              </a:tabLst>
            </a:pPr>
            <a:r>
              <a:rPr sz="1000" spc="-5" dirty="0">
                <a:latin typeface="Arial"/>
                <a:cs typeface="Arial"/>
              </a:rPr>
              <a:t>Client </a:t>
            </a:r>
            <a:r>
              <a:rPr sz="1000" i="1" spc="-5" dirty="0">
                <a:latin typeface="Arial"/>
                <a:cs typeface="Arial"/>
              </a:rPr>
              <a:t>C</a:t>
            </a:r>
            <a:r>
              <a:rPr sz="1000" i="1" spc="60" dirty="0">
                <a:latin typeface="Arial"/>
                <a:cs typeface="Arial"/>
              </a:rPr>
              <a:t> </a:t>
            </a:r>
            <a:r>
              <a:rPr sz="1000" spc="-5" dirty="0">
                <a:latin typeface="Arial"/>
                <a:cs typeface="Arial"/>
              </a:rPr>
              <a:t>sets up</a:t>
            </a:r>
            <a:r>
              <a:rPr sz="1000" dirty="0">
                <a:latin typeface="Arial"/>
                <a:cs typeface="Arial"/>
              </a:rPr>
              <a:t> </a:t>
            </a:r>
            <a:r>
              <a:rPr sz="1000" spc="-5" dirty="0">
                <a:latin typeface="Arial"/>
                <a:cs typeface="Arial"/>
              </a:rPr>
              <a:t>connection to</a:t>
            </a:r>
            <a:r>
              <a:rPr sz="1000" dirty="0">
                <a:latin typeface="Arial"/>
                <a:cs typeface="Arial"/>
              </a:rPr>
              <a:t> </a:t>
            </a:r>
            <a:r>
              <a:rPr sz="1000" spc="-5" dirty="0">
                <a:latin typeface="Arial"/>
                <a:cs typeface="Arial"/>
              </a:rPr>
              <a:t>IPv6 </a:t>
            </a:r>
            <a:r>
              <a:rPr sz="1000" spc="-5" dirty="0">
                <a:solidFill>
                  <a:srgbClr val="0000FA"/>
                </a:solidFill>
                <a:latin typeface="Arial"/>
                <a:cs typeface="Arial"/>
              </a:rPr>
              <a:t>home</a:t>
            </a:r>
            <a:r>
              <a:rPr sz="1000" dirty="0">
                <a:solidFill>
                  <a:srgbClr val="0000FA"/>
                </a:solidFill>
                <a:latin typeface="Arial"/>
                <a:cs typeface="Arial"/>
              </a:rPr>
              <a:t> </a:t>
            </a:r>
            <a:r>
              <a:rPr sz="1000" spc="-5" dirty="0">
                <a:solidFill>
                  <a:srgbClr val="0000FA"/>
                </a:solidFill>
                <a:latin typeface="Arial"/>
                <a:cs typeface="Arial"/>
              </a:rPr>
              <a:t>address </a:t>
            </a:r>
            <a:r>
              <a:rPr sz="1000" i="1" spc="-5" dirty="0">
                <a:latin typeface="Arial"/>
                <a:cs typeface="Arial"/>
              </a:rPr>
              <a:t>HA</a:t>
            </a:r>
            <a:endParaRPr sz="1000" dirty="0">
              <a:latin typeface="Arial"/>
              <a:cs typeface="Arial"/>
            </a:endParaRPr>
          </a:p>
          <a:p>
            <a:pPr marL="592455" marR="152400" indent="-168275">
              <a:lnSpc>
                <a:spcPct val="100000"/>
              </a:lnSpc>
              <a:spcBef>
                <a:spcPts val="595"/>
              </a:spcBef>
              <a:buClr>
                <a:srgbClr val="3333B2"/>
              </a:buClr>
              <a:buFont typeface="Arial"/>
              <a:buChar char="►"/>
              <a:tabLst>
                <a:tab pos="593090" algn="l"/>
              </a:tabLst>
            </a:pPr>
            <a:r>
              <a:rPr sz="1000" i="1" spc="-5" dirty="0">
                <a:latin typeface="Arial"/>
                <a:cs typeface="Arial"/>
              </a:rPr>
              <a:t>HA</a:t>
            </a:r>
            <a:r>
              <a:rPr sz="1000" i="1" dirty="0">
                <a:latin typeface="Arial"/>
                <a:cs typeface="Arial"/>
              </a:rPr>
              <a:t> </a:t>
            </a:r>
            <a:r>
              <a:rPr sz="1000" spc="-5" dirty="0">
                <a:latin typeface="Arial"/>
                <a:cs typeface="Arial"/>
              </a:rPr>
              <a:t>is</a:t>
            </a:r>
            <a:r>
              <a:rPr sz="1000" spc="5" dirty="0">
                <a:latin typeface="Arial"/>
                <a:cs typeface="Arial"/>
              </a:rPr>
              <a:t> </a:t>
            </a:r>
            <a:r>
              <a:rPr sz="1000" spc="-5" dirty="0">
                <a:latin typeface="Arial"/>
                <a:cs typeface="Arial"/>
              </a:rPr>
              <a:t>maintained</a:t>
            </a:r>
            <a:r>
              <a:rPr sz="1000" spc="5" dirty="0">
                <a:latin typeface="Arial"/>
                <a:cs typeface="Arial"/>
              </a:rPr>
              <a:t> </a:t>
            </a:r>
            <a:r>
              <a:rPr sz="1000" spc="-15" dirty="0">
                <a:latin typeface="Arial"/>
                <a:cs typeface="Arial"/>
              </a:rPr>
              <a:t>by</a:t>
            </a:r>
            <a:r>
              <a:rPr sz="1000" dirty="0">
                <a:latin typeface="Arial"/>
                <a:cs typeface="Arial"/>
              </a:rPr>
              <a:t> </a:t>
            </a:r>
            <a:r>
              <a:rPr sz="1000" spc="-5" dirty="0">
                <a:latin typeface="Arial"/>
                <a:cs typeface="Arial"/>
              </a:rPr>
              <a:t>a</a:t>
            </a:r>
            <a:r>
              <a:rPr sz="1000" spc="5" dirty="0">
                <a:latin typeface="Arial"/>
                <a:cs typeface="Arial"/>
              </a:rPr>
              <a:t> </a:t>
            </a:r>
            <a:r>
              <a:rPr sz="1000" spc="-10" dirty="0">
                <a:latin typeface="Arial"/>
                <a:cs typeface="Arial"/>
              </a:rPr>
              <a:t>(network-level)</a:t>
            </a:r>
            <a:r>
              <a:rPr sz="1000" spc="5" dirty="0">
                <a:latin typeface="Arial"/>
                <a:cs typeface="Arial"/>
              </a:rPr>
              <a:t> </a:t>
            </a:r>
            <a:r>
              <a:rPr sz="1000" spc="-5" dirty="0">
                <a:solidFill>
                  <a:srgbClr val="0000FA"/>
                </a:solidFill>
                <a:latin typeface="Arial"/>
                <a:cs typeface="Arial"/>
              </a:rPr>
              <a:t>home</a:t>
            </a:r>
            <a:r>
              <a:rPr sz="1000" spc="5" dirty="0">
                <a:solidFill>
                  <a:srgbClr val="0000FA"/>
                </a:solidFill>
                <a:latin typeface="Arial"/>
                <a:cs typeface="Arial"/>
              </a:rPr>
              <a:t> </a:t>
            </a:r>
            <a:r>
              <a:rPr sz="1000" spc="-5" dirty="0">
                <a:solidFill>
                  <a:srgbClr val="0000FA"/>
                </a:solidFill>
                <a:latin typeface="Arial"/>
                <a:cs typeface="Arial"/>
              </a:rPr>
              <a:t>agent</a:t>
            </a:r>
            <a:r>
              <a:rPr sz="1000" spc="-5" dirty="0">
                <a:latin typeface="Arial"/>
                <a:cs typeface="Arial"/>
              </a:rPr>
              <a:t>,</a:t>
            </a:r>
            <a:r>
              <a:rPr sz="1000" dirty="0">
                <a:latin typeface="Arial"/>
                <a:cs typeface="Arial"/>
              </a:rPr>
              <a:t> </a:t>
            </a:r>
            <a:r>
              <a:rPr sz="1000" spc="-5" dirty="0">
                <a:latin typeface="Arial"/>
                <a:cs typeface="Arial"/>
              </a:rPr>
              <a:t>which</a:t>
            </a:r>
            <a:r>
              <a:rPr sz="1000" spc="5" dirty="0">
                <a:latin typeface="Arial"/>
                <a:cs typeface="Arial"/>
              </a:rPr>
              <a:t> </a:t>
            </a:r>
            <a:r>
              <a:rPr sz="1000" spc="-5" dirty="0">
                <a:latin typeface="Arial"/>
                <a:cs typeface="Arial"/>
              </a:rPr>
              <a:t>hands </a:t>
            </a:r>
            <a:r>
              <a:rPr sz="1000" spc="-265" dirty="0">
                <a:latin typeface="Arial"/>
                <a:cs typeface="Arial"/>
              </a:rPr>
              <a:t> </a:t>
            </a:r>
            <a:r>
              <a:rPr sz="1000" spc="-5" dirty="0">
                <a:latin typeface="Arial"/>
                <a:cs typeface="Arial"/>
              </a:rPr>
              <a:t>off the connection</a:t>
            </a:r>
            <a:r>
              <a:rPr sz="1000" dirty="0">
                <a:latin typeface="Arial"/>
                <a:cs typeface="Arial"/>
              </a:rPr>
              <a:t> </a:t>
            </a:r>
            <a:r>
              <a:rPr sz="1000" spc="-5" dirty="0">
                <a:latin typeface="Arial"/>
                <a:cs typeface="Arial"/>
              </a:rPr>
              <a:t>to a registered</a:t>
            </a:r>
            <a:r>
              <a:rPr sz="1000" dirty="0">
                <a:latin typeface="Arial"/>
                <a:cs typeface="Arial"/>
              </a:rPr>
              <a:t> </a:t>
            </a:r>
            <a:r>
              <a:rPr sz="1000" spc="-5" dirty="0">
                <a:solidFill>
                  <a:srgbClr val="0000FA"/>
                </a:solidFill>
                <a:latin typeface="Arial"/>
                <a:cs typeface="Arial"/>
              </a:rPr>
              <a:t>care-of address</a:t>
            </a:r>
            <a:r>
              <a:rPr sz="1000" dirty="0">
                <a:solidFill>
                  <a:srgbClr val="0000FA"/>
                </a:solidFill>
                <a:latin typeface="Arial"/>
                <a:cs typeface="Arial"/>
              </a:rPr>
              <a:t> </a:t>
            </a:r>
            <a:r>
              <a:rPr sz="1000" i="1" spc="-5" dirty="0">
                <a:latin typeface="Arial"/>
                <a:cs typeface="Arial"/>
              </a:rPr>
              <a:t>CA</a:t>
            </a:r>
            <a:r>
              <a:rPr sz="1000" spc="-5" dirty="0">
                <a:latin typeface="Arial"/>
                <a:cs typeface="Arial"/>
              </a:rPr>
              <a:t>.</a:t>
            </a:r>
            <a:endParaRPr sz="1000" dirty="0">
              <a:latin typeface="Arial"/>
              <a:cs typeface="Arial"/>
            </a:endParaRPr>
          </a:p>
          <a:p>
            <a:pPr marL="592455" marR="81280" indent="-168275">
              <a:lnSpc>
                <a:spcPct val="100000"/>
              </a:lnSpc>
              <a:spcBef>
                <a:spcPts val="590"/>
              </a:spcBef>
              <a:buClr>
                <a:srgbClr val="3333B2"/>
              </a:buClr>
              <a:buFont typeface="Arial"/>
              <a:buChar char="►"/>
              <a:tabLst>
                <a:tab pos="593090" algn="l"/>
              </a:tabLst>
            </a:pPr>
            <a:r>
              <a:rPr sz="1000" i="1" spc="-5" dirty="0">
                <a:latin typeface="Arial"/>
                <a:cs typeface="Arial"/>
              </a:rPr>
              <a:t>C</a:t>
            </a:r>
            <a:r>
              <a:rPr sz="1000" i="1" spc="60" dirty="0">
                <a:latin typeface="Arial"/>
                <a:cs typeface="Arial"/>
              </a:rPr>
              <a:t> </a:t>
            </a:r>
            <a:r>
              <a:rPr sz="1000" spc="-15" dirty="0">
                <a:latin typeface="Arial"/>
                <a:cs typeface="Arial"/>
              </a:rPr>
              <a:t>can</a:t>
            </a:r>
            <a:r>
              <a:rPr sz="1000" spc="5" dirty="0">
                <a:latin typeface="Arial"/>
                <a:cs typeface="Arial"/>
              </a:rPr>
              <a:t> </a:t>
            </a:r>
            <a:r>
              <a:rPr sz="1000" spc="-15" dirty="0">
                <a:latin typeface="Arial"/>
                <a:cs typeface="Arial"/>
              </a:rPr>
              <a:t>then</a:t>
            </a:r>
            <a:r>
              <a:rPr sz="1000" dirty="0">
                <a:latin typeface="Arial"/>
                <a:cs typeface="Arial"/>
              </a:rPr>
              <a:t> </a:t>
            </a:r>
            <a:r>
              <a:rPr sz="1000" spc="-15" dirty="0">
                <a:latin typeface="Arial"/>
                <a:cs typeface="Arial"/>
              </a:rPr>
              <a:t>apply</a:t>
            </a:r>
            <a:r>
              <a:rPr sz="1000" spc="5" dirty="0">
                <a:latin typeface="Arial"/>
                <a:cs typeface="Arial"/>
              </a:rPr>
              <a:t> </a:t>
            </a:r>
            <a:r>
              <a:rPr sz="1000" spc="-15" dirty="0">
                <a:solidFill>
                  <a:srgbClr val="0000FA"/>
                </a:solidFill>
                <a:latin typeface="Arial"/>
                <a:cs typeface="Arial"/>
              </a:rPr>
              <a:t>route</a:t>
            </a:r>
            <a:r>
              <a:rPr sz="1000" dirty="0">
                <a:solidFill>
                  <a:srgbClr val="0000FA"/>
                </a:solidFill>
                <a:latin typeface="Arial"/>
                <a:cs typeface="Arial"/>
              </a:rPr>
              <a:t> </a:t>
            </a:r>
            <a:r>
              <a:rPr sz="1000" spc="-15" dirty="0">
                <a:solidFill>
                  <a:srgbClr val="0000FA"/>
                </a:solidFill>
                <a:latin typeface="Arial"/>
                <a:cs typeface="Arial"/>
              </a:rPr>
              <a:t>optimization</a:t>
            </a:r>
            <a:r>
              <a:rPr sz="1000" spc="5" dirty="0">
                <a:solidFill>
                  <a:srgbClr val="0000FA"/>
                </a:solidFill>
                <a:latin typeface="Arial"/>
                <a:cs typeface="Arial"/>
              </a:rPr>
              <a:t> </a:t>
            </a:r>
            <a:r>
              <a:rPr sz="1000" spc="-25" dirty="0">
                <a:latin typeface="Arial"/>
                <a:cs typeface="Arial"/>
              </a:rPr>
              <a:t>by</a:t>
            </a:r>
            <a:r>
              <a:rPr sz="1000" dirty="0">
                <a:latin typeface="Arial"/>
                <a:cs typeface="Arial"/>
              </a:rPr>
              <a:t> </a:t>
            </a:r>
            <a:r>
              <a:rPr sz="1000" spc="-10" dirty="0">
                <a:latin typeface="Arial"/>
                <a:cs typeface="Arial"/>
              </a:rPr>
              <a:t>directly</a:t>
            </a:r>
            <a:r>
              <a:rPr sz="1000" spc="5" dirty="0">
                <a:latin typeface="Arial"/>
                <a:cs typeface="Arial"/>
              </a:rPr>
              <a:t> </a:t>
            </a:r>
            <a:r>
              <a:rPr sz="1000" spc="-20" dirty="0">
                <a:latin typeface="Arial"/>
                <a:cs typeface="Arial"/>
              </a:rPr>
              <a:t>forwarding</a:t>
            </a:r>
            <a:r>
              <a:rPr sz="1000" dirty="0">
                <a:latin typeface="Arial"/>
                <a:cs typeface="Arial"/>
              </a:rPr>
              <a:t> </a:t>
            </a:r>
            <a:r>
              <a:rPr sz="1000" spc="-20" dirty="0">
                <a:latin typeface="Arial"/>
                <a:cs typeface="Arial"/>
              </a:rPr>
              <a:t>packets </a:t>
            </a:r>
            <a:r>
              <a:rPr sz="1000" spc="-260" dirty="0">
                <a:latin typeface="Arial"/>
                <a:cs typeface="Arial"/>
              </a:rPr>
              <a:t> </a:t>
            </a:r>
            <a:r>
              <a:rPr sz="1000" spc="-5" dirty="0">
                <a:latin typeface="Arial"/>
                <a:cs typeface="Arial"/>
              </a:rPr>
              <a:t>to address </a:t>
            </a:r>
            <a:r>
              <a:rPr sz="1000" i="1" spc="-5" dirty="0">
                <a:latin typeface="Arial"/>
                <a:cs typeface="Arial"/>
              </a:rPr>
              <a:t>CA </a:t>
            </a:r>
            <a:r>
              <a:rPr sz="1000" spc="-5" dirty="0">
                <a:latin typeface="Arial"/>
                <a:cs typeface="Arial"/>
              </a:rPr>
              <a:t>(i.e., without the handoff through the home agent).</a:t>
            </a:r>
            <a:endParaRPr sz="1000" dirty="0">
              <a:latin typeface="Arial"/>
              <a:cs typeface="Arial"/>
            </a:endParaRPr>
          </a:p>
          <a:p>
            <a:pPr>
              <a:lnSpc>
                <a:spcPct val="100000"/>
              </a:lnSpc>
              <a:spcBef>
                <a:spcPts val="10"/>
              </a:spcBef>
            </a:pPr>
            <a:endParaRPr sz="1300" dirty="0">
              <a:latin typeface="Arial"/>
              <a:cs typeface="Arial"/>
            </a:endParaRPr>
          </a:p>
          <a:p>
            <a:pPr marL="314960" algn="just">
              <a:lnSpc>
                <a:spcPct val="100000"/>
              </a:lnSpc>
            </a:pPr>
            <a:r>
              <a:rPr sz="1200" spc="-10" dirty="0">
                <a:solidFill>
                  <a:srgbClr val="007C00"/>
                </a:solidFill>
                <a:latin typeface="Arial"/>
                <a:cs typeface="Arial"/>
              </a:rPr>
              <a:t>Collaborative </a:t>
            </a:r>
            <a:r>
              <a:rPr sz="1200" spc="-5" dirty="0">
                <a:solidFill>
                  <a:srgbClr val="007C00"/>
                </a:solidFill>
                <a:latin typeface="Arial"/>
                <a:cs typeface="Arial"/>
              </a:rPr>
              <a:t>distributed systems</a:t>
            </a:r>
            <a:endParaRPr sz="1200" dirty="0">
              <a:latin typeface="Arial"/>
              <a:cs typeface="Arial"/>
            </a:endParaRPr>
          </a:p>
          <a:p>
            <a:pPr marL="314960" marR="106045" algn="just">
              <a:lnSpc>
                <a:spcPct val="100000"/>
              </a:lnSpc>
              <a:spcBef>
                <a:spcPts val="180"/>
              </a:spcBef>
            </a:pPr>
            <a:r>
              <a:rPr sz="1000" spc="-5" dirty="0">
                <a:latin typeface="Arial"/>
                <a:cs typeface="Arial"/>
              </a:rPr>
              <a:t>Origin server maintains a home address, </a:t>
            </a:r>
            <a:r>
              <a:rPr sz="1000" spc="-10" dirty="0">
                <a:latin typeface="Arial"/>
                <a:cs typeface="Arial"/>
              </a:rPr>
              <a:t>but </a:t>
            </a:r>
            <a:r>
              <a:rPr sz="1000" spc="-5" dirty="0">
                <a:latin typeface="Arial"/>
                <a:cs typeface="Arial"/>
              </a:rPr>
              <a:t>hands off connections to </a:t>
            </a:r>
            <a:r>
              <a:rPr sz="1000" spc="-265" dirty="0">
                <a:latin typeface="Arial"/>
                <a:cs typeface="Arial"/>
              </a:rPr>
              <a:t> </a:t>
            </a:r>
            <a:r>
              <a:rPr sz="1000" spc="-5" dirty="0">
                <a:latin typeface="Arial"/>
                <a:cs typeface="Arial"/>
              </a:rPr>
              <a:t>address</a:t>
            </a:r>
            <a:r>
              <a:rPr sz="1000" spc="-15" dirty="0">
                <a:latin typeface="Arial"/>
                <a:cs typeface="Arial"/>
              </a:rPr>
              <a:t> </a:t>
            </a:r>
            <a:r>
              <a:rPr sz="1000" spc="-5" dirty="0">
                <a:latin typeface="Arial"/>
                <a:cs typeface="Arial"/>
              </a:rPr>
              <a:t>of</a:t>
            </a:r>
            <a:r>
              <a:rPr sz="1000" spc="-10" dirty="0">
                <a:latin typeface="Arial"/>
                <a:cs typeface="Arial"/>
              </a:rPr>
              <a:t> </a:t>
            </a:r>
            <a:r>
              <a:rPr sz="1000" spc="-5" dirty="0">
                <a:latin typeface="Arial"/>
                <a:cs typeface="Arial"/>
              </a:rPr>
              <a:t>collaborating</a:t>
            </a:r>
            <a:r>
              <a:rPr sz="1000" spc="-10" dirty="0">
                <a:latin typeface="Arial"/>
                <a:cs typeface="Arial"/>
              </a:rPr>
              <a:t> </a:t>
            </a:r>
            <a:r>
              <a:rPr sz="1000" spc="-5" dirty="0">
                <a:latin typeface="Arial"/>
                <a:cs typeface="Arial"/>
              </a:rPr>
              <a:t>peer</a:t>
            </a:r>
            <a:r>
              <a:rPr sz="1000" spc="-10" dirty="0">
                <a:latin typeface="Arial"/>
                <a:cs typeface="Arial"/>
              </a:rPr>
              <a:t> </a:t>
            </a:r>
            <a:r>
              <a:rPr sz="1000" i="1" spc="-5" dirty="0">
                <a:latin typeface="メイリオ"/>
                <a:cs typeface="メイリオ"/>
              </a:rPr>
              <a:t>⇒</a:t>
            </a:r>
            <a:r>
              <a:rPr sz="1000" i="1" spc="-70" dirty="0">
                <a:latin typeface="メイリオ"/>
                <a:cs typeface="メイリオ"/>
              </a:rPr>
              <a:t> </a:t>
            </a:r>
            <a:r>
              <a:rPr sz="1000" spc="-5" dirty="0">
                <a:latin typeface="Arial"/>
                <a:cs typeface="Arial"/>
              </a:rPr>
              <a:t>origin</a:t>
            </a:r>
            <a:r>
              <a:rPr sz="1000" spc="-10" dirty="0">
                <a:latin typeface="Arial"/>
                <a:cs typeface="Arial"/>
              </a:rPr>
              <a:t> </a:t>
            </a:r>
            <a:r>
              <a:rPr sz="1000" spc="-5" dirty="0">
                <a:latin typeface="Arial"/>
                <a:cs typeface="Arial"/>
              </a:rPr>
              <a:t>server</a:t>
            </a:r>
            <a:r>
              <a:rPr sz="1000" spc="-10" dirty="0">
                <a:latin typeface="Arial"/>
                <a:cs typeface="Arial"/>
              </a:rPr>
              <a:t> </a:t>
            </a:r>
            <a:r>
              <a:rPr sz="1000" spc="-5" dirty="0">
                <a:latin typeface="Arial"/>
                <a:cs typeface="Arial"/>
              </a:rPr>
              <a:t>and</a:t>
            </a:r>
            <a:r>
              <a:rPr sz="1000" spc="-10" dirty="0">
                <a:latin typeface="Arial"/>
                <a:cs typeface="Arial"/>
              </a:rPr>
              <a:t> </a:t>
            </a:r>
            <a:r>
              <a:rPr sz="1000" spc="-5" dirty="0">
                <a:latin typeface="Arial"/>
                <a:cs typeface="Arial"/>
              </a:rPr>
              <a:t>peer</a:t>
            </a:r>
            <a:r>
              <a:rPr sz="1000" spc="-10" dirty="0">
                <a:latin typeface="Arial"/>
                <a:cs typeface="Arial"/>
              </a:rPr>
              <a:t> </a:t>
            </a:r>
            <a:r>
              <a:rPr sz="1000" spc="-5" dirty="0">
                <a:latin typeface="Arial"/>
                <a:cs typeface="Arial"/>
              </a:rPr>
              <a:t>appear</a:t>
            </a:r>
            <a:r>
              <a:rPr sz="1000" spc="-10" dirty="0">
                <a:latin typeface="Arial"/>
                <a:cs typeface="Arial"/>
              </a:rPr>
              <a:t> </a:t>
            </a:r>
            <a:r>
              <a:rPr sz="1000" spc="-5" dirty="0">
                <a:latin typeface="Arial"/>
                <a:cs typeface="Arial"/>
              </a:rPr>
              <a:t>as</a:t>
            </a:r>
            <a:r>
              <a:rPr sz="1000" spc="-10" dirty="0">
                <a:latin typeface="Arial"/>
                <a:cs typeface="Arial"/>
              </a:rPr>
              <a:t> </a:t>
            </a:r>
            <a:r>
              <a:rPr sz="1000" spc="-5" dirty="0">
                <a:latin typeface="Arial"/>
                <a:cs typeface="Arial"/>
              </a:rPr>
              <a:t>one </a:t>
            </a:r>
            <a:r>
              <a:rPr sz="1000" spc="-265" dirty="0">
                <a:latin typeface="Arial"/>
                <a:cs typeface="Arial"/>
              </a:rPr>
              <a:t> </a:t>
            </a:r>
            <a:r>
              <a:rPr sz="1000" spc="-10" dirty="0">
                <a:latin typeface="Arial"/>
                <a:cs typeface="Arial"/>
              </a:rPr>
              <a:t>server.</a:t>
            </a:r>
            <a:endParaRPr sz="1000" dirty="0">
              <a:latin typeface="Arial"/>
              <a:cs typeface="Arial"/>
            </a:endParaRPr>
          </a:p>
        </p:txBody>
      </p:sp>
    </p:spTree>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p:nvPr/>
        </p:nvSpPr>
        <p:spPr>
          <a:xfrm>
            <a:off x="66713" y="3331252"/>
            <a:ext cx="7943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3" action="ppaction://hlinksldjump"/>
              </a:rPr>
              <a:t>Case</a:t>
            </a:r>
            <a:r>
              <a:rPr sz="600" spc="-15"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study:</a:t>
            </a:r>
            <a:r>
              <a:rPr sz="600" spc="20" dirty="0">
                <a:solidFill>
                  <a:srgbClr val="3333B2"/>
                </a:solidFill>
                <a:latin typeface="Arial"/>
                <a:cs typeface="Arial"/>
                <a:hlinkClick r:id="rId3" action="ppaction://hlinksldjump"/>
              </a:rPr>
              <a:t> </a:t>
            </a:r>
            <a:r>
              <a:rPr sz="600" spc="-5" dirty="0">
                <a:solidFill>
                  <a:srgbClr val="3333B2"/>
                </a:solidFill>
                <a:latin typeface="Arial"/>
                <a:cs typeface="Arial"/>
                <a:hlinkClick r:id="rId3" action="ppaction://hlinksldjump"/>
              </a:rPr>
              <a:t>PlanetLab</a:t>
            </a:r>
            <a:endParaRPr sz="600">
              <a:latin typeface="Arial"/>
              <a:cs typeface="Arial"/>
            </a:endParaRPr>
          </a:p>
        </p:txBody>
      </p:sp>
      <p:sp>
        <p:nvSpPr>
          <p:cNvPr id="7" name="object 7"/>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38</a:t>
            </a:r>
            <a:r>
              <a:rPr spc="-40" dirty="0"/>
              <a:t> </a:t>
            </a:r>
            <a:r>
              <a:rPr spc="-5" dirty="0"/>
              <a:t>/</a:t>
            </a:r>
            <a:r>
              <a:rPr spc="-35" dirty="0"/>
              <a:t> </a:t>
            </a:r>
            <a:r>
              <a:rPr spc="-5" dirty="0"/>
              <a:t>47</a:t>
            </a:r>
          </a:p>
        </p:txBody>
      </p:sp>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4" action="ppaction://hlinksldjump"/>
              </a:rPr>
              <a:t>Processes:</a:t>
            </a:r>
            <a:r>
              <a:rPr sz="600" spc="105" dirty="0">
                <a:solidFill>
                  <a:srgbClr val="3333B2"/>
                </a:solidFill>
                <a:latin typeface="Arial"/>
                <a:cs typeface="Arial"/>
              </a:rPr>
              <a:t> </a:t>
            </a:r>
            <a:r>
              <a:rPr sz="600" spc="-5" dirty="0">
                <a:solidFill>
                  <a:srgbClr val="3333B2"/>
                </a:solidFill>
                <a:latin typeface="Arial"/>
                <a:cs typeface="Arial"/>
                <a:hlinkClick r:id="rId5"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6" action="ppaction://hlinksldjump"/>
              </a:rPr>
              <a:t>Server</a:t>
            </a:r>
            <a:r>
              <a:rPr sz="600" spc="-35" dirty="0">
                <a:solidFill>
                  <a:srgbClr val="262685"/>
                </a:solidFill>
                <a:latin typeface="Arial"/>
                <a:cs typeface="Arial"/>
                <a:hlinkClick r:id="rId6" action="ppaction://hlinksldjump"/>
              </a:rPr>
              <a:t> </a:t>
            </a:r>
            <a:r>
              <a:rPr sz="600" spc="-5" dirty="0">
                <a:solidFill>
                  <a:srgbClr val="262685"/>
                </a:solidFill>
                <a:latin typeface="Arial"/>
                <a:cs typeface="Arial"/>
                <a:hlinkClick r:id="rId6" action="ppaction://hlinksldjump"/>
              </a:rPr>
              <a:t>clusters</a:t>
            </a:r>
            <a:endParaRPr sz="600">
              <a:latin typeface="Arial"/>
              <a:cs typeface="Arial"/>
            </a:endParaRPr>
          </a:p>
        </p:txBody>
      </p:sp>
      <p:sp>
        <p:nvSpPr>
          <p:cNvPr id="4" name="object 4"/>
          <p:cNvSpPr txBox="1"/>
          <p:nvPr/>
        </p:nvSpPr>
        <p:spPr>
          <a:xfrm>
            <a:off x="95300" y="188846"/>
            <a:ext cx="16681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Example:</a:t>
            </a:r>
            <a:r>
              <a:rPr sz="1400" spc="50" dirty="0">
                <a:solidFill>
                  <a:srgbClr val="3333B2"/>
                </a:solidFill>
                <a:latin typeface="Arial"/>
                <a:cs typeface="Arial"/>
              </a:rPr>
              <a:t> </a:t>
            </a:r>
            <a:r>
              <a:rPr sz="1400" spc="15" dirty="0">
                <a:solidFill>
                  <a:srgbClr val="3333B2"/>
                </a:solidFill>
                <a:latin typeface="Arial"/>
                <a:cs typeface="Arial"/>
              </a:rPr>
              <a:t>PlanetLab</a:t>
            </a:r>
            <a:endParaRPr sz="1400" dirty="0">
              <a:latin typeface="Arial"/>
              <a:cs typeface="Arial"/>
            </a:endParaRPr>
          </a:p>
        </p:txBody>
      </p:sp>
      <p:sp>
        <p:nvSpPr>
          <p:cNvPr id="5" name="object 5"/>
          <p:cNvSpPr txBox="1"/>
          <p:nvPr/>
        </p:nvSpPr>
        <p:spPr>
          <a:xfrm>
            <a:off x="341350" y="1143391"/>
            <a:ext cx="3919854" cy="1073150"/>
          </a:xfrm>
          <a:prstGeom prst="rect">
            <a:avLst/>
          </a:prstGeom>
        </p:spPr>
        <p:txBody>
          <a:bodyPr vert="horz" wrap="square" lIns="0" tIns="12065" rIns="0" bIns="0" rtlCol="0">
            <a:spAutoFit/>
          </a:bodyPr>
          <a:lstStyle/>
          <a:p>
            <a:pPr marL="18415">
              <a:lnSpc>
                <a:spcPts val="1410"/>
              </a:lnSpc>
              <a:spcBef>
                <a:spcPts val="95"/>
              </a:spcBef>
            </a:pPr>
            <a:r>
              <a:rPr sz="1200" spc="-5" dirty="0">
                <a:solidFill>
                  <a:srgbClr val="3333B2"/>
                </a:solidFill>
                <a:latin typeface="Arial"/>
                <a:cs typeface="Arial"/>
              </a:rPr>
              <a:t>Essence</a:t>
            </a:r>
            <a:endParaRPr sz="1200" dirty="0">
              <a:latin typeface="Arial"/>
              <a:cs typeface="Arial"/>
            </a:endParaRPr>
          </a:p>
          <a:p>
            <a:pPr marL="18415" marR="19685">
              <a:lnSpc>
                <a:spcPts val="1200"/>
              </a:lnSpc>
              <a:spcBef>
                <a:spcPts val="10"/>
              </a:spcBef>
            </a:pPr>
            <a:r>
              <a:rPr sz="1000" spc="-5" dirty="0">
                <a:latin typeface="Arial"/>
                <a:cs typeface="Arial"/>
              </a:rPr>
              <a:t>Different</a:t>
            </a:r>
            <a:r>
              <a:rPr sz="1000" dirty="0">
                <a:latin typeface="Arial"/>
                <a:cs typeface="Arial"/>
              </a:rPr>
              <a:t> </a:t>
            </a:r>
            <a:r>
              <a:rPr sz="1000" spc="-5" dirty="0">
                <a:latin typeface="Arial"/>
                <a:cs typeface="Arial"/>
              </a:rPr>
              <a:t>organizations</a:t>
            </a:r>
            <a:r>
              <a:rPr sz="1000" dirty="0">
                <a:latin typeface="Arial"/>
                <a:cs typeface="Arial"/>
              </a:rPr>
              <a:t> </a:t>
            </a:r>
            <a:r>
              <a:rPr sz="1000" spc="-5" dirty="0">
                <a:latin typeface="Arial"/>
                <a:cs typeface="Arial"/>
              </a:rPr>
              <a:t>contribute</a:t>
            </a:r>
            <a:r>
              <a:rPr sz="1000" spc="5" dirty="0">
                <a:latin typeface="Arial"/>
                <a:cs typeface="Arial"/>
              </a:rPr>
              <a:t> </a:t>
            </a:r>
            <a:r>
              <a:rPr sz="1000" spc="-5" dirty="0">
                <a:latin typeface="Arial"/>
                <a:cs typeface="Arial"/>
              </a:rPr>
              <a:t>machines,</a:t>
            </a:r>
            <a:r>
              <a:rPr sz="1000" dirty="0">
                <a:latin typeface="Arial"/>
                <a:cs typeface="Arial"/>
              </a:rPr>
              <a:t> </a:t>
            </a:r>
            <a:r>
              <a:rPr sz="1000" spc="-5" dirty="0">
                <a:latin typeface="Arial"/>
                <a:cs typeface="Arial"/>
              </a:rPr>
              <a:t>which</a:t>
            </a:r>
            <a:r>
              <a:rPr sz="1000" dirty="0">
                <a:latin typeface="Arial"/>
                <a:cs typeface="Arial"/>
              </a:rPr>
              <a:t> </a:t>
            </a:r>
            <a:r>
              <a:rPr sz="1000" spc="-10" dirty="0">
                <a:latin typeface="Arial"/>
                <a:cs typeface="Arial"/>
              </a:rPr>
              <a:t>they</a:t>
            </a:r>
            <a:r>
              <a:rPr sz="1000" spc="5" dirty="0">
                <a:latin typeface="Arial"/>
                <a:cs typeface="Arial"/>
              </a:rPr>
              <a:t> </a:t>
            </a:r>
            <a:r>
              <a:rPr sz="1000" spc="-5" dirty="0">
                <a:latin typeface="Arial"/>
                <a:cs typeface="Arial"/>
              </a:rPr>
              <a:t>subsequently </a:t>
            </a:r>
            <a:r>
              <a:rPr sz="1000" spc="-265" dirty="0">
                <a:latin typeface="Arial"/>
                <a:cs typeface="Arial"/>
              </a:rPr>
              <a:t> </a:t>
            </a:r>
            <a:r>
              <a:rPr sz="1000" spc="-5" dirty="0">
                <a:solidFill>
                  <a:srgbClr val="0000FA"/>
                </a:solidFill>
                <a:latin typeface="Arial"/>
                <a:cs typeface="Arial"/>
              </a:rPr>
              <a:t>share</a:t>
            </a:r>
            <a:r>
              <a:rPr sz="1000" spc="-10" dirty="0">
                <a:solidFill>
                  <a:srgbClr val="0000FA"/>
                </a:solidFill>
                <a:latin typeface="Arial"/>
                <a:cs typeface="Arial"/>
              </a:rPr>
              <a:t> </a:t>
            </a:r>
            <a:r>
              <a:rPr sz="1000" spc="-15" dirty="0">
                <a:latin typeface="Arial"/>
                <a:cs typeface="Arial"/>
              </a:rPr>
              <a:t>for</a:t>
            </a:r>
            <a:r>
              <a:rPr sz="1000" spc="-5" dirty="0">
                <a:latin typeface="Arial"/>
                <a:cs typeface="Arial"/>
              </a:rPr>
              <a:t> various experiments.</a:t>
            </a:r>
            <a:endParaRPr sz="1000" dirty="0">
              <a:latin typeface="Arial"/>
              <a:cs typeface="Arial"/>
            </a:endParaRPr>
          </a:p>
          <a:p>
            <a:pPr marL="18415">
              <a:lnSpc>
                <a:spcPts val="1410"/>
              </a:lnSpc>
              <a:spcBef>
                <a:spcPts val="650"/>
              </a:spcBef>
            </a:pPr>
            <a:r>
              <a:rPr sz="1200" spc="-10" dirty="0">
                <a:solidFill>
                  <a:srgbClr val="FA0000"/>
                </a:solidFill>
                <a:latin typeface="Arial"/>
                <a:cs typeface="Arial"/>
              </a:rPr>
              <a:t>Problem</a:t>
            </a:r>
            <a:endParaRPr sz="1200" dirty="0">
              <a:latin typeface="Arial"/>
              <a:cs typeface="Arial"/>
            </a:endParaRPr>
          </a:p>
          <a:p>
            <a:pPr marL="18415" marR="5080" indent="-6350">
              <a:lnSpc>
                <a:spcPts val="1200"/>
              </a:lnSpc>
              <a:spcBef>
                <a:spcPts val="10"/>
              </a:spcBef>
            </a:pPr>
            <a:r>
              <a:rPr sz="1000" spc="-35" dirty="0">
                <a:latin typeface="Arial"/>
                <a:cs typeface="Arial"/>
              </a:rPr>
              <a:t>We</a:t>
            </a:r>
            <a:r>
              <a:rPr sz="1000" spc="5" dirty="0">
                <a:latin typeface="Arial"/>
                <a:cs typeface="Arial"/>
              </a:rPr>
              <a:t> </a:t>
            </a:r>
            <a:r>
              <a:rPr sz="1000" spc="-15" dirty="0">
                <a:latin typeface="Arial"/>
                <a:cs typeface="Arial"/>
              </a:rPr>
              <a:t>need</a:t>
            </a:r>
            <a:r>
              <a:rPr sz="1000" dirty="0">
                <a:latin typeface="Arial"/>
                <a:cs typeface="Arial"/>
              </a:rPr>
              <a:t> </a:t>
            </a:r>
            <a:r>
              <a:rPr sz="1000" spc="-10" dirty="0">
                <a:latin typeface="Arial"/>
                <a:cs typeface="Arial"/>
              </a:rPr>
              <a:t>to</a:t>
            </a:r>
            <a:r>
              <a:rPr sz="1000" dirty="0">
                <a:latin typeface="Arial"/>
                <a:cs typeface="Arial"/>
              </a:rPr>
              <a:t> </a:t>
            </a:r>
            <a:r>
              <a:rPr sz="1000" spc="-15" dirty="0">
                <a:latin typeface="Arial"/>
                <a:cs typeface="Arial"/>
              </a:rPr>
              <a:t>ensure</a:t>
            </a:r>
            <a:r>
              <a:rPr sz="1000" dirty="0">
                <a:latin typeface="Arial"/>
                <a:cs typeface="Arial"/>
              </a:rPr>
              <a:t> </a:t>
            </a:r>
            <a:r>
              <a:rPr sz="1000" spc="-10" dirty="0">
                <a:latin typeface="Arial"/>
                <a:cs typeface="Arial"/>
              </a:rPr>
              <a:t>that</a:t>
            </a:r>
            <a:r>
              <a:rPr sz="1000" dirty="0">
                <a:latin typeface="Arial"/>
                <a:cs typeface="Arial"/>
              </a:rPr>
              <a:t> </a:t>
            </a:r>
            <a:r>
              <a:rPr sz="1000" spc="-15" dirty="0">
                <a:latin typeface="Arial"/>
                <a:cs typeface="Arial"/>
              </a:rPr>
              <a:t>different</a:t>
            </a:r>
            <a:r>
              <a:rPr sz="1000" dirty="0">
                <a:latin typeface="Arial"/>
                <a:cs typeface="Arial"/>
              </a:rPr>
              <a:t> </a:t>
            </a:r>
            <a:r>
              <a:rPr sz="1000" spc="-15" dirty="0">
                <a:latin typeface="Arial"/>
                <a:cs typeface="Arial"/>
              </a:rPr>
              <a:t>distributed</a:t>
            </a:r>
            <a:r>
              <a:rPr sz="1000" dirty="0">
                <a:latin typeface="Arial"/>
                <a:cs typeface="Arial"/>
              </a:rPr>
              <a:t> </a:t>
            </a:r>
            <a:r>
              <a:rPr sz="1000" spc="-10" dirty="0">
                <a:latin typeface="Arial"/>
                <a:cs typeface="Arial"/>
              </a:rPr>
              <a:t>applications</a:t>
            </a:r>
            <a:r>
              <a:rPr sz="1000" dirty="0">
                <a:latin typeface="Arial"/>
                <a:cs typeface="Arial"/>
              </a:rPr>
              <a:t> </a:t>
            </a:r>
            <a:r>
              <a:rPr sz="1000" spc="-15" dirty="0">
                <a:latin typeface="Arial"/>
                <a:cs typeface="Arial"/>
              </a:rPr>
              <a:t>do</a:t>
            </a:r>
            <a:r>
              <a:rPr sz="1000" dirty="0">
                <a:latin typeface="Arial"/>
                <a:cs typeface="Arial"/>
              </a:rPr>
              <a:t> </a:t>
            </a:r>
            <a:r>
              <a:rPr sz="1000" spc="-15" dirty="0">
                <a:latin typeface="Arial"/>
                <a:cs typeface="Arial"/>
              </a:rPr>
              <a:t>not</a:t>
            </a:r>
            <a:r>
              <a:rPr sz="1000" spc="5" dirty="0">
                <a:latin typeface="Arial"/>
                <a:cs typeface="Arial"/>
              </a:rPr>
              <a:t> </a:t>
            </a:r>
            <a:r>
              <a:rPr sz="1000" spc="-15" dirty="0">
                <a:latin typeface="Arial"/>
                <a:cs typeface="Arial"/>
              </a:rPr>
              <a:t>get</a:t>
            </a:r>
            <a:r>
              <a:rPr sz="1000" dirty="0">
                <a:latin typeface="Arial"/>
                <a:cs typeface="Arial"/>
              </a:rPr>
              <a:t> </a:t>
            </a:r>
            <a:r>
              <a:rPr sz="1000" spc="-10" dirty="0">
                <a:latin typeface="Arial"/>
                <a:cs typeface="Arial"/>
              </a:rPr>
              <a:t>into </a:t>
            </a:r>
            <a:r>
              <a:rPr sz="1000" spc="-265" dirty="0">
                <a:latin typeface="Arial"/>
                <a:cs typeface="Arial"/>
              </a:rPr>
              <a:t> </a:t>
            </a:r>
            <a:r>
              <a:rPr sz="1000" spc="-5" dirty="0">
                <a:latin typeface="Arial"/>
                <a:cs typeface="Arial"/>
              </a:rPr>
              <a:t>each</a:t>
            </a:r>
            <a:r>
              <a:rPr sz="1000" spc="-10" dirty="0">
                <a:latin typeface="Arial"/>
                <a:cs typeface="Arial"/>
              </a:rPr>
              <a:t> other’s</a:t>
            </a:r>
            <a:r>
              <a:rPr sz="1000" spc="-5" dirty="0">
                <a:latin typeface="Arial"/>
                <a:cs typeface="Arial"/>
              </a:rPr>
              <a:t> </a:t>
            </a:r>
            <a:r>
              <a:rPr sz="1000" spc="-20" dirty="0">
                <a:latin typeface="Arial"/>
                <a:cs typeface="Arial"/>
              </a:rPr>
              <a:t>way</a:t>
            </a:r>
            <a:r>
              <a:rPr sz="1000" dirty="0">
                <a:latin typeface="Arial"/>
                <a:cs typeface="Arial"/>
              </a:rPr>
              <a:t> </a:t>
            </a:r>
            <a:r>
              <a:rPr sz="1000" i="1" spc="-5" dirty="0">
                <a:latin typeface="メイリオ"/>
                <a:cs typeface="メイリオ"/>
              </a:rPr>
              <a:t>⇒</a:t>
            </a:r>
            <a:r>
              <a:rPr sz="1000" i="1" spc="-65" dirty="0">
                <a:latin typeface="メイリオ"/>
                <a:cs typeface="メイリオ"/>
              </a:rPr>
              <a:t> </a:t>
            </a:r>
            <a:r>
              <a:rPr sz="1000" dirty="0">
                <a:solidFill>
                  <a:srgbClr val="0000FA"/>
                </a:solidFill>
                <a:latin typeface="Arial"/>
                <a:cs typeface="Arial"/>
              </a:rPr>
              <a:t>virtualization</a:t>
            </a:r>
            <a:endParaRPr sz="1000" dirty="0">
              <a:latin typeface="Arial"/>
              <a:cs typeface="Arial"/>
            </a:endParaRPr>
          </a:p>
        </p:txBody>
      </p:sp>
    </p:spTree>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702945"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14" dirty="0">
                <a:solidFill>
                  <a:srgbClr val="3333B2"/>
                </a:solidFill>
                <a:latin typeface="Arial"/>
                <a:cs typeface="Arial"/>
              </a:rPr>
              <a:t> </a:t>
            </a:r>
            <a:r>
              <a:rPr sz="600" spc="-5" dirty="0">
                <a:solidFill>
                  <a:srgbClr val="3333B2"/>
                </a:solidFill>
                <a:latin typeface="Arial"/>
                <a:cs typeface="Arial"/>
                <a:hlinkClick r:id="rId4" action="ppaction://hlinksldjump"/>
              </a:rPr>
              <a:t>Servers</a:t>
            </a:r>
            <a:endParaRPr sz="600">
              <a:latin typeface="Arial"/>
              <a:cs typeface="Arial"/>
            </a:endParaRPr>
          </a:p>
        </p:txBody>
      </p:sp>
      <p:sp>
        <p:nvSpPr>
          <p:cNvPr id="3" name="object 3"/>
          <p:cNvSpPr txBox="1"/>
          <p:nvPr/>
        </p:nvSpPr>
        <p:spPr>
          <a:xfrm>
            <a:off x="4009313" y="716"/>
            <a:ext cx="5321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Server</a:t>
            </a:r>
            <a:r>
              <a:rPr sz="600" spc="-35"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4" name="object 4"/>
          <p:cNvSpPr txBox="1"/>
          <p:nvPr/>
        </p:nvSpPr>
        <p:spPr>
          <a:xfrm>
            <a:off x="95300" y="188846"/>
            <a:ext cx="2365375" cy="695960"/>
          </a:xfrm>
          <a:prstGeom prst="rect">
            <a:avLst/>
          </a:prstGeom>
        </p:spPr>
        <p:txBody>
          <a:bodyPr vert="horz" wrap="square" lIns="0" tIns="17145" rIns="0" bIns="0" rtlCol="0">
            <a:spAutoFit/>
          </a:bodyPr>
          <a:lstStyle/>
          <a:p>
            <a:pPr marL="12700">
              <a:lnSpc>
                <a:spcPts val="1660"/>
              </a:lnSpc>
              <a:spcBef>
                <a:spcPts val="135"/>
              </a:spcBef>
            </a:pPr>
            <a:r>
              <a:rPr sz="1400" spc="15" dirty="0">
                <a:solidFill>
                  <a:srgbClr val="3333B2"/>
                </a:solidFill>
                <a:latin typeface="Arial"/>
                <a:cs typeface="Arial"/>
              </a:rPr>
              <a:t>PlanetLab</a:t>
            </a:r>
            <a:r>
              <a:rPr sz="1400" spc="-25" dirty="0">
                <a:solidFill>
                  <a:srgbClr val="3333B2"/>
                </a:solidFill>
                <a:latin typeface="Arial"/>
                <a:cs typeface="Arial"/>
              </a:rPr>
              <a:t> </a:t>
            </a:r>
            <a:r>
              <a:rPr sz="1400" spc="15" dirty="0">
                <a:solidFill>
                  <a:srgbClr val="3333B2"/>
                </a:solidFill>
                <a:latin typeface="Arial"/>
                <a:cs typeface="Arial"/>
              </a:rPr>
              <a:t>basic</a:t>
            </a:r>
            <a:r>
              <a:rPr sz="1400" spc="-25" dirty="0">
                <a:solidFill>
                  <a:srgbClr val="3333B2"/>
                </a:solidFill>
                <a:latin typeface="Arial"/>
                <a:cs typeface="Arial"/>
              </a:rPr>
              <a:t> </a:t>
            </a:r>
            <a:r>
              <a:rPr sz="1400" spc="15" dirty="0">
                <a:solidFill>
                  <a:srgbClr val="3333B2"/>
                </a:solidFill>
                <a:latin typeface="Arial"/>
                <a:cs typeface="Arial"/>
              </a:rPr>
              <a:t>organization</a:t>
            </a:r>
            <a:endParaRPr sz="1400">
              <a:latin typeface="Arial"/>
              <a:cs typeface="Arial"/>
            </a:endParaRPr>
          </a:p>
          <a:p>
            <a:pPr marL="264160">
              <a:lnSpc>
                <a:spcPts val="1420"/>
              </a:lnSpc>
            </a:pPr>
            <a:r>
              <a:rPr sz="1200" spc="-5" dirty="0">
                <a:solidFill>
                  <a:srgbClr val="3333B2"/>
                </a:solidFill>
                <a:latin typeface="Arial"/>
                <a:cs typeface="Arial"/>
              </a:rPr>
              <a:t>Overview</a:t>
            </a:r>
            <a:endParaRPr sz="1200">
              <a:latin typeface="Arial"/>
              <a:cs typeface="Arial"/>
            </a:endParaRPr>
          </a:p>
          <a:p>
            <a:pPr marL="1376680" marR="370840" indent="32384">
              <a:lnSpc>
                <a:spcPct val="100000"/>
              </a:lnSpc>
              <a:spcBef>
                <a:spcPts val="590"/>
              </a:spcBef>
            </a:pPr>
            <a:r>
              <a:rPr sz="650" spc="5" dirty="0">
                <a:solidFill>
                  <a:srgbClr val="231F20"/>
                </a:solidFill>
                <a:latin typeface="Arial"/>
                <a:cs typeface="Arial"/>
              </a:rPr>
              <a:t>User-assigned </a:t>
            </a:r>
            <a:r>
              <a:rPr sz="650" spc="10" dirty="0">
                <a:solidFill>
                  <a:srgbClr val="231F20"/>
                </a:solidFill>
                <a:latin typeface="Arial"/>
                <a:cs typeface="Arial"/>
              </a:rPr>
              <a:t> </a:t>
            </a:r>
            <a:r>
              <a:rPr sz="650" spc="5" dirty="0">
                <a:solidFill>
                  <a:srgbClr val="231F20"/>
                </a:solidFill>
                <a:latin typeface="Arial"/>
                <a:cs typeface="Arial"/>
              </a:rPr>
              <a:t>virtual</a:t>
            </a:r>
            <a:r>
              <a:rPr sz="650" dirty="0">
                <a:solidFill>
                  <a:srgbClr val="231F20"/>
                </a:solidFill>
                <a:latin typeface="Arial"/>
                <a:cs typeface="Arial"/>
              </a:rPr>
              <a:t> </a:t>
            </a:r>
            <a:r>
              <a:rPr sz="650" spc="5" dirty="0">
                <a:solidFill>
                  <a:srgbClr val="231F20"/>
                </a:solidFill>
                <a:latin typeface="Arial"/>
                <a:cs typeface="Arial"/>
              </a:rPr>
              <a:t>machines</a:t>
            </a:r>
            <a:endParaRPr sz="650">
              <a:latin typeface="Arial"/>
              <a:cs typeface="Arial"/>
            </a:endParaRPr>
          </a:p>
        </p:txBody>
      </p:sp>
      <p:sp>
        <p:nvSpPr>
          <p:cNvPr id="5" name="object 5"/>
          <p:cNvSpPr txBox="1"/>
          <p:nvPr/>
        </p:nvSpPr>
        <p:spPr>
          <a:xfrm>
            <a:off x="2660568" y="657853"/>
            <a:ext cx="883285" cy="227329"/>
          </a:xfrm>
          <a:prstGeom prst="rect">
            <a:avLst/>
          </a:prstGeom>
        </p:spPr>
        <p:txBody>
          <a:bodyPr vert="horz" wrap="square" lIns="0" tIns="13970" rIns="0" bIns="0" rtlCol="0">
            <a:spAutoFit/>
          </a:bodyPr>
          <a:lstStyle/>
          <a:p>
            <a:pPr marL="136525" marR="5080" indent="-124460">
              <a:lnSpc>
                <a:spcPct val="100000"/>
              </a:lnSpc>
              <a:spcBef>
                <a:spcPts val="110"/>
              </a:spcBef>
            </a:pPr>
            <a:r>
              <a:rPr sz="650" spc="5" dirty="0">
                <a:solidFill>
                  <a:srgbClr val="231F20"/>
                </a:solidFill>
                <a:latin typeface="Arial"/>
                <a:cs typeface="Arial"/>
              </a:rPr>
              <a:t>Priviliged management  virtual</a:t>
            </a:r>
            <a:r>
              <a:rPr sz="650" spc="-15" dirty="0">
                <a:solidFill>
                  <a:srgbClr val="231F20"/>
                </a:solidFill>
                <a:latin typeface="Arial"/>
                <a:cs typeface="Arial"/>
              </a:rPr>
              <a:t> </a:t>
            </a:r>
            <a:r>
              <a:rPr sz="650" spc="5" dirty="0">
                <a:solidFill>
                  <a:srgbClr val="231F20"/>
                </a:solidFill>
                <a:latin typeface="Arial"/>
                <a:cs typeface="Arial"/>
              </a:rPr>
              <a:t>machines</a:t>
            </a:r>
            <a:endParaRPr sz="650">
              <a:latin typeface="Arial"/>
              <a:cs typeface="Arial"/>
            </a:endParaRPr>
          </a:p>
        </p:txBody>
      </p:sp>
      <p:sp>
        <p:nvSpPr>
          <p:cNvPr id="6" name="object 6"/>
          <p:cNvSpPr/>
          <p:nvPr/>
        </p:nvSpPr>
        <p:spPr>
          <a:xfrm>
            <a:off x="2608831" y="944606"/>
            <a:ext cx="986790" cy="76200"/>
          </a:xfrm>
          <a:custGeom>
            <a:avLst/>
            <a:gdLst/>
            <a:ahLst/>
            <a:cxnLst/>
            <a:rect l="l" t="t" r="r" b="b"/>
            <a:pathLst>
              <a:path w="986789" h="76200">
                <a:moveTo>
                  <a:pt x="0" y="75905"/>
                </a:moveTo>
                <a:lnTo>
                  <a:pt x="31435" y="50546"/>
                </a:lnTo>
                <a:lnTo>
                  <a:pt x="111370" y="40112"/>
                </a:lnTo>
                <a:lnTo>
                  <a:pt x="162789" y="38419"/>
                </a:lnTo>
                <a:lnTo>
                  <a:pt x="218250" y="37970"/>
                </a:lnTo>
                <a:lnTo>
                  <a:pt x="275058" y="37935"/>
                </a:lnTo>
                <a:lnTo>
                  <a:pt x="330518" y="37486"/>
                </a:lnTo>
                <a:lnTo>
                  <a:pt x="381937" y="35793"/>
                </a:lnTo>
                <a:lnTo>
                  <a:pt x="426620" y="32027"/>
                </a:lnTo>
                <a:lnTo>
                  <a:pt x="461873" y="25359"/>
                </a:lnTo>
                <a:lnTo>
                  <a:pt x="485000" y="14960"/>
                </a:lnTo>
                <a:lnTo>
                  <a:pt x="493308" y="0"/>
                </a:lnTo>
              </a:path>
              <a:path w="986789" h="76200">
                <a:moveTo>
                  <a:pt x="986627" y="75905"/>
                </a:moveTo>
                <a:lnTo>
                  <a:pt x="955191" y="50546"/>
                </a:lnTo>
                <a:lnTo>
                  <a:pt x="875254" y="40112"/>
                </a:lnTo>
                <a:lnTo>
                  <a:pt x="823834" y="38419"/>
                </a:lnTo>
                <a:lnTo>
                  <a:pt x="768372" y="37970"/>
                </a:lnTo>
                <a:lnTo>
                  <a:pt x="711563" y="37935"/>
                </a:lnTo>
                <a:lnTo>
                  <a:pt x="656101" y="37486"/>
                </a:lnTo>
                <a:lnTo>
                  <a:pt x="604681" y="35793"/>
                </a:lnTo>
                <a:lnTo>
                  <a:pt x="559997" y="32027"/>
                </a:lnTo>
                <a:lnTo>
                  <a:pt x="524744" y="25359"/>
                </a:lnTo>
                <a:lnTo>
                  <a:pt x="501616" y="14960"/>
                </a:lnTo>
                <a:lnTo>
                  <a:pt x="493308" y="0"/>
                </a:lnTo>
              </a:path>
            </a:pathLst>
          </a:custGeom>
          <a:ln w="5270">
            <a:solidFill>
              <a:srgbClr val="231F20"/>
            </a:solidFill>
          </a:ln>
        </p:spPr>
        <p:txBody>
          <a:bodyPr wrap="square" lIns="0" tIns="0" rIns="0" bIns="0" rtlCol="0"/>
          <a:lstStyle/>
          <a:p>
            <a:endParaRPr/>
          </a:p>
        </p:txBody>
      </p:sp>
      <p:sp>
        <p:nvSpPr>
          <p:cNvPr id="7" name="object 7"/>
          <p:cNvSpPr/>
          <p:nvPr/>
        </p:nvSpPr>
        <p:spPr>
          <a:xfrm>
            <a:off x="1018080" y="944606"/>
            <a:ext cx="1518285" cy="76200"/>
          </a:xfrm>
          <a:custGeom>
            <a:avLst/>
            <a:gdLst/>
            <a:ahLst/>
            <a:cxnLst/>
            <a:rect l="l" t="t" r="r" b="b"/>
            <a:pathLst>
              <a:path w="1518285" h="76200">
                <a:moveTo>
                  <a:pt x="0" y="75905"/>
                </a:moveTo>
                <a:lnTo>
                  <a:pt x="56218" y="49198"/>
                </a:lnTo>
                <a:lnTo>
                  <a:pt x="95779" y="44460"/>
                </a:lnTo>
                <a:lnTo>
                  <a:pt x="143149" y="41284"/>
                </a:lnTo>
                <a:lnTo>
                  <a:pt x="196765" y="39358"/>
                </a:lnTo>
                <a:lnTo>
                  <a:pt x="255066" y="38369"/>
                </a:lnTo>
                <a:lnTo>
                  <a:pt x="316490" y="38004"/>
                </a:lnTo>
                <a:lnTo>
                  <a:pt x="379475" y="37952"/>
                </a:lnTo>
                <a:lnTo>
                  <a:pt x="442461" y="37900"/>
                </a:lnTo>
                <a:lnTo>
                  <a:pt x="503885" y="37536"/>
                </a:lnTo>
                <a:lnTo>
                  <a:pt x="562186" y="36547"/>
                </a:lnTo>
                <a:lnTo>
                  <a:pt x="615802" y="34620"/>
                </a:lnTo>
                <a:lnTo>
                  <a:pt x="663172" y="31445"/>
                </a:lnTo>
                <a:lnTo>
                  <a:pt x="702733" y="26707"/>
                </a:lnTo>
                <a:lnTo>
                  <a:pt x="752184" y="11297"/>
                </a:lnTo>
                <a:lnTo>
                  <a:pt x="758951" y="0"/>
                </a:lnTo>
              </a:path>
              <a:path w="1518285" h="76200">
                <a:moveTo>
                  <a:pt x="1517901" y="75905"/>
                </a:moveTo>
                <a:lnTo>
                  <a:pt x="1461683" y="49198"/>
                </a:lnTo>
                <a:lnTo>
                  <a:pt x="1422122" y="44460"/>
                </a:lnTo>
                <a:lnTo>
                  <a:pt x="1374752" y="41284"/>
                </a:lnTo>
                <a:lnTo>
                  <a:pt x="1321137" y="39358"/>
                </a:lnTo>
                <a:lnTo>
                  <a:pt x="1262836" y="38369"/>
                </a:lnTo>
                <a:lnTo>
                  <a:pt x="1201412" y="38004"/>
                </a:lnTo>
                <a:lnTo>
                  <a:pt x="1138426" y="37952"/>
                </a:lnTo>
                <a:lnTo>
                  <a:pt x="1075441" y="37900"/>
                </a:lnTo>
                <a:lnTo>
                  <a:pt x="1014017" y="37536"/>
                </a:lnTo>
                <a:lnTo>
                  <a:pt x="955716" y="36547"/>
                </a:lnTo>
                <a:lnTo>
                  <a:pt x="902100" y="34620"/>
                </a:lnTo>
                <a:lnTo>
                  <a:pt x="854731" y="31445"/>
                </a:lnTo>
                <a:lnTo>
                  <a:pt x="815170" y="26707"/>
                </a:lnTo>
                <a:lnTo>
                  <a:pt x="765719" y="11297"/>
                </a:lnTo>
                <a:lnTo>
                  <a:pt x="758951" y="0"/>
                </a:lnTo>
              </a:path>
            </a:pathLst>
          </a:custGeom>
          <a:ln w="5270">
            <a:solidFill>
              <a:srgbClr val="231F20"/>
            </a:solidFill>
          </a:ln>
        </p:spPr>
        <p:txBody>
          <a:bodyPr wrap="square" lIns="0" tIns="0" rIns="0" bIns="0" rtlCol="0"/>
          <a:lstStyle/>
          <a:p>
            <a:endParaRPr/>
          </a:p>
        </p:txBody>
      </p:sp>
      <p:sp>
        <p:nvSpPr>
          <p:cNvPr id="8" name="object 8"/>
          <p:cNvSpPr/>
          <p:nvPr/>
        </p:nvSpPr>
        <p:spPr>
          <a:xfrm>
            <a:off x="1166490" y="1572381"/>
            <a:ext cx="264160" cy="209550"/>
          </a:xfrm>
          <a:custGeom>
            <a:avLst/>
            <a:gdLst/>
            <a:ahLst/>
            <a:cxnLst/>
            <a:rect l="l" t="t" r="r" b="b"/>
            <a:pathLst>
              <a:path w="264159" h="209550">
                <a:moveTo>
                  <a:pt x="187115" y="208996"/>
                </a:moveTo>
                <a:lnTo>
                  <a:pt x="263619" y="208996"/>
                </a:lnTo>
                <a:lnTo>
                  <a:pt x="263619" y="0"/>
                </a:lnTo>
                <a:lnTo>
                  <a:pt x="187115" y="0"/>
                </a:lnTo>
                <a:lnTo>
                  <a:pt x="187115" y="208996"/>
                </a:lnTo>
                <a:close/>
              </a:path>
              <a:path w="264159" h="209550">
                <a:moveTo>
                  <a:pt x="93555" y="208996"/>
                </a:moveTo>
                <a:lnTo>
                  <a:pt x="170064" y="208996"/>
                </a:lnTo>
                <a:lnTo>
                  <a:pt x="170064" y="0"/>
                </a:lnTo>
                <a:lnTo>
                  <a:pt x="93555" y="0"/>
                </a:lnTo>
                <a:lnTo>
                  <a:pt x="93555" y="208996"/>
                </a:lnTo>
                <a:close/>
              </a:path>
              <a:path w="264159" h="209550">
                <a:moveTo>
                  <a:pt x="0" y="208996"/>
                </a:moveTo>
                <a:lnTo>
                  <a:pt x="76508" y="208996"/>
                </a:lnTo>
                <a:lnTo>
                  <a:pt x="76508" y="0"/>
                </a:lnTo>
                <a:lnTo>
                  <a:pt x="0" y="0"/>
                </a:lnTo>
                <a:lnTo>
                  <a:pt x="0" y="208996"/>
                </a:lnTo>
                <a:close/>
              </a:path>
            </a:pathLst>
          </a:custGeom>
          <a:ln w="5270">
            <a:solidFill>
              <a:srgbClr val="231F20"/>
            </a:solidFill>
          </a:ln>
        </p:spPr>
        <p:txBody>
          <a:bodyPr wrap="square" lIns="0" tIns="0" rIns="0" bIns="0" rtlCol="0"/>
          <a:lstStyle/>
          <a:p>
            <a:endParaRPr/>
          </a:p>
        </p:txBody>
      </p:sp>
      <p:sp>
        <p:nvSpPr>
          <p:cNvPr id="9" name="object 9"/>
          <p:cNvSpPr txBox="1"/>
          <p:nvPr/>
        </p:nvSpPr>
        <p:spPr>
          <a:xfrm>
            <a:off x="1061689" y="1580914"/>
            <a:ext cx="375285" cy="202565"/>
          </a:xfrm>
          <a:prstGeom prst="rect">
            <a:avLst/>
          </a:prstGeom>
        </p:spPr>
        <p:txBody>
          <a:bodyPr vert="vert" wrap="square" lIns="0" tIns="0" rIns="0" bIns="0" rtlCol="0">
            <a:spAutoFit/>
          </a:bodyPr>
          <a:lstStyle/>
          <a:p>
            <a:pPr marL="13335">
              <a:lnSpc>
                <a:spcPts val="585"/>
              </a:lnSpc>
            </a:pPr>
            <a:r>
              <a:rPr sz="500" spc="-5" dirty="0">
                <a:solidFill>
                  <a:srgbClr val="231F20"/>
                </a:solidFill>
                <a:latin typeface="Arial"/>
                <a:cs typeface="Arial"/>
              </a:rPr>
              <a:t>/proc</a:t>
            </a:r>
            <a:endParaRPr sz="500">
              <a:latin typeface="Arial"/>
              <a:cs typeface="Arial"/>
            </a:endParaRPr>
          </a:p>
          <a:p>
            <a:pPr marL="13335">
              <a:lnSpc>
                <a:spcPct val="100000"/>
              </a:lnSpc>
              <a:spcBef>
                <a:spcPts val="180"/>
              </a:spcBef>
            </a:pPr>
            <a:r>
              <a:rPr sz="500" dirty="0">
                <a:solidFill>
                  <a:srgbClr val="231F20"/>
                </a:solidFill>
                <a:latin typeface="Arial"/>
                <a:cs typeface="Arial"/>
              </a:rPr>
              <a:t>/home</a:t>
            </a:r>
            <a:endParaRPr sz="500">
              <a:latin typeface="Arial"/>
              <a:cs typeface="Arial"/>
            </a:endParaRPr>
          </a:p>
          <a:p>
            <a:pPr marL="12700">
              <a:lnSpc>
                <a:spcPct val="100000"/>
              </a:lnSpc>
              <a:spcBef>
                <a:spcPts val="140"/>
              </a:spcBef>
            </a:pPr>
            <a:r>
              <a:rPr sz="500" spc="-5" dirty="0">
                <a:solidFill>
                  <a:srgbClr val="231F20"/>
                </a:solidFill>
                <a:latin typeface="Arial"/>
                <a:cs typeface="Arial"/>
              </a:rPr>
              <a:t>/usr</a:t>
            </a:r>
            <a:endParaRPr sz="500">
              <a:latin typeface="Arial"/>
              <a:cs typeface="Arial"/>
            </a:endParaRPr>
          </a:p>
          <a:p>
            <a:pPr marL="13335">
              <a:lnSpc>
                <a:spcPct val="100000"/>
              </a:lnSpc>
              <a:spcBef>
                <a:spcPts val="135"/>
              </a:spcBef>
            </a:pPr>
            <a:r>
              <a:rPr sz="500" spc="-5" dirty="0">
                <a:solidFill>
                  <a:srgbClr val="231F20"/>
                </a:solidFill>
                <a:latin typeface="Arial"/>
                <a:cs typeface="Arial"/>
              </a:rPr>
              <a:t>/dev</a:t>
            </a:r>
            <a:endParaRPr sz="500">
              <a:latin typeface="Arial"/>
              <a:cs typeface="Arial"/>
            </a:endParaRPr>
          </a:p>
        </p:txBody>
      </p:sp>
      <p:sp>
        <p:nvSpPr>
          <p:cNvPr id="10" name="object 10"/>
          <p:cNvSpPr/>
          <p:nvPr/>
        </p:nvSpPr>
        <p:spPr>
          <a:xfrm>
            <a:off x="1012760" y="1503252"/>
            <a:ext cx="474980" cy="422275"/>
          </a:xfrm>
          <a:custGeom>
            <a:avLst/>
            <a:gdLst/>
            <a:ahLst/>
            <a:cxnLst/>
            <a:rect l="l" t="t" r="r" b="b"/>
            <a:pathLst>
              <a:path w="474980" h="422275">
                <a:moveTo>
                  <a:pt x="60170" y="278125"/>
                </a:moveTo>
                <a:lnTo>
                  <a:pt x="136678" y="278125"/>
                </a:lnTo>
                <a:lnTo>
                  <a:pt x="136678" y="69128"/>
                </a:lnTo>
                <a:lnTo>
                  <a:pt x="60170" y="69128"/>
                </a:lnTo>
                <a:lnTo>
                  <a:pt x="60170" y="278125"/>
                </a:lnTo>
                <a:close/>
              </a:path>
              <a:path w="474980" h="422275">
                <a:moveTo>
                  <a:pt x="0" y="421664"/>
                </a:moveTo>
                <a:lnTo>
                  <a:pt x="474373" y="421664"/>
                </a:lnTo>
                <a:lnTo>
                  <a:pt x="474373" y="0"/>
                </a:lnTo>
                <a:lnTo>
                  <a:pt x="0" y="0"/>
                </a:lnTo>
                <a:lnTo>
                  <a:pt x="0" y="421664"/>
                </a:lnTo>
                <a:close/>
              </a:path>
            </a:pathLst>
          </a:custGeom>
          <a:ln w="5270">
            <a:solidFill>
              <a:srgbClr val="231F20"/>
            </a:solidFill>
          </a:ln>
        </p:spPr>
        <p:txBody>
          <a:bodyPr wrap="square" lIns="0" tIns="0" rIns="0" bIns="0" rtlCol="0"/>
          <a:lstStyle/>
          <a:p>
            <a:endParaRPr/>
          </a:p>
        </p:txBody>
      </p:sp>
      <p:sp>
        <p:nvSpPr>
          <p:cNvPr id="11" name="object 11"/>
          <p:cNvSpPr txBox="1"/>
          <p:nvPr/>
        </p:nvSpPr>
        <p:spPr>
          <a:xfrm>
            <a:off x="1017803"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sp>
        <p:nvSpPr>
          <p:cNvPr id="12" name="object 12"/>
          <p:cNvSpPr/>
          <p:nvPr/>
        </p:nvSpPr>
        <p:spPr>
          <a:xfrm>
            <a:off x="1012760" y="1081583"/>
            <a:ext cx="132715" cy="422275"/>
          </a:xfrm>
          <a:custGeom>
            <a:avLst/>
            <a:gdLst/>
            <a:ahLst/>
            <a:cxnLst/>
            <a:rect l="l" t="t" r="r" b="b"/>
            <a:pathLst>
              <a:path w="132715"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13" name="object 13"/>
          <p:cNvSpPr txBox="1"/>
          <p:nvPr/>
        </p:nvSpPr>
        <p:spPr>
          <a:xfrm>
            <a:off x="1359553"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grpSp>
        <p:nvGrpSpPr>
          <p:cNvPr id="14" name="object 14"/>
          <p:cNvGrpSpPr/>
          <p:nvPr/>
        </p:nvGrpSpPr>
        <p:grpSpPr>
          <a:xfrm>
            <a:off x="1160342" y="1078948"/>
            <a:ext cx="329565" cy="427355"/>
            <a:chOff x="1160342" y="1078948"/>
            <a:chExt cx="329565" cy="427355"/>
          </a:xfrm>
        </p:grpSpPr>
        <p:sp>
          <p:nvSpPr>
            <p:cNvPr id="15" name="object 15"/>
            <p:cNvSpPr/>
            <p:nvPr/>
          </p:nvSpPr>
          <p:spPr>
            <a:xfrm>
              <a:off x="1354511" y="1081583"/>
              <a:ext cx="132715" cy="422275"/>
            </a:xfrm>
            <a:custGeom>
              <a:avLst/>
              <a:gdLst/>
              <a:ahLst/>
              <a:cxnLst/>
              <a:rect l="l" t="t" r="r" b="b"/>
              <a:pathLst>
                <a:path w="132715"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16" name="object 16"/>
            <p:cNvSpPr/>
            <p:nvPr/>
          </p:nvSpPr>
          <p:spPr>
            <a:xfrm>
              <a:off x="1162977" y="1284511"/>
              <a:ext cx="15875" cy="15875"/>
            </a:xfrm>
            <a:custGeom>
              <a:avLst/>
              <a:gdLst/>
              <a:ahLst/>
              <a:cxnLst/>
              <a:rect l="l" t="t" r="r" b="b"/>
              <a:pathLst>
                <a:path w="15875" h="15875">
                  <a:moveTo>
                    <a:pt x="12274" y="0"/>
                  </a:moveTo>
                  <a:lnTo>
                    <a:pt x="7905" y="0"/>
                  </a:lnTo>
                  <a:lnTo>
                    <a:pt x="3536" y="0"/>
                  </a:lnTo>
                  <a:lnTo>
                    <a:pt x="0" y="3541"/>
                  </a:lnTo>
                  <a:lnTo>
                    <a:pt x="0" y="12269"/>
                  </a:lnTo>
                  <a:lnTo>
                    <a:pt x="3536" y="15811"/>
                  </a:lnTo>
                  <a:lnTo>
                    <a:pt x="12274" y="15811"/>
                  </a:lnTo>
                  <a:lnTo>
                    <a:pt x="15811" y="12269"/>
                  </a:lnTo>
                  <a:lnTo>
                    <a:pt x="15811" y="3541"/>
                  </a:lnTo>
                  <a:lnTo>
                    <a:pt x="12274" y="0"/>
                  </a:lnTo>
                  <a:close/>
                </a:path>
              </a:pathLst>
            </a:custGeom>
            <a:solidFill>
              <a:srgbClr val="231F20"/>
            </a:solidFill>
          </p:spPr>
          <p:txBody>
            <a:bodyPr wrap="square" lIns="0" tIns="0" rIns="0" bIns="0" rtlCol="0"/>
            <a:lstStyle/>
            <a:p>
              <a:endParaRPr/>
            </a:p>
          </p:txBody>
        </p:sp>
        <p:sp>
          <p:nvSpPr>
            <p:cNvPr id="17" name="object 17"/>
            <p:cNvSpPr/>
            <p:nvPr/>
          </p:nvSpPr>
          <p:spPr>
            <a:xfrm>
              <a:off x="1162977" y="1284511"/>
              <a:ext cx="15875" cy="15875"/>
            </a:xfrm>
            <a:custGeom>
              <a:avLst/>
              <a:gdLst/>
              <a:ahLst/>
              <a:cxnLst/>
              <a:rect l="l" t="t" r="r" b="b"/>
              <a:pathLst>
                <a:path w="15875" h="15875">
                  <a:moveTo>
                    <a:pt x="7905" y="0"/>
                  </a:moveTo>
                  <a:lnTo>
                    <a:pt x="12274" y="0"/>
                  </a:lnTo>
                  <a:lnTo>
                    <a:pt x="15811" y="3541"/>
                  </a:lnTo>
                  <a:lnTo>
                    <a:pt x="15811" y="7905"/>
                  </a:lnTo>
                  <a:lnTo>
                    <a:pt x="15811" y="12269"/>
                  </a:lnTo>
                  <a:lnTo>
                    <a:pt x="12274" y="15811"/>
                  </a:lnTo>
                  <a:lnTo>
                    <a:pt x="7905" y="15811"/>
                  </a:lnTo>
                  <a:lnTo>
                    <a:pt x="3536" y="15811"/>
                  </a:lnTo>
                  <a:lnTo>
                    <a:pt x="0" y="12269"/>
                  </a:lnTo>
                  <a:lnTo>
                    <a:pt x="0" y="7905"/>
                  </a:lnTo>
                  <a:lnTo>
                    <a:pt x="0" y="3541"/>
                  </a:lnTo>
                  <a:lnTo>
                    <a:pt x="3536" y="0"/>
                  </a:lnTo>
                  <a:lnTo>
                    <a:pt x="7905" y="0"/>
                  </a:lnTo>
                  <a:close/>
                </a:path>
              </a:pathLst>
            </a:custGeom>
            <a:ln w="5270">
              <a:solidFill>
                <a:srgbClr val="231F20"/>
              </a:solidFill>
            </a:ln>
          </p:spPr>
          <p:txBody>
            <a:bodyPr wrap="square" lIns="0" tIns="0" rIns="0" bIns="0" rtlCol="0"/>
            <a:lstStyle/>
            <a:p>
              <a:endParaRPr/>
            </a:p>
          </p:txBody>
        </p:sp>
        <p:sp>
          <p:nvSpPr>
            <p:cNvPr id="18" name="object 18"/>
            <p:cNvSpPr/>
            <p:nvPr/>
          </p:nvSpPr>
          <p:spPr>
            <a:xfrm>
              <a:off x="1215687" y="1284511"/>
              <a:ext cx="15875" cy="15875"/>
            </a:xfrm>
            <a:custGeom>
              <a:avLst/>
              <a:gdLst/>
              <a:ahLst/>
              <a:cxnLst/>
              <a:rect l="l" t="t" r="r" b="b"/>
              <a:pathLst>
                <a:path w="15875" h="15875">
                  <a:moveTo>
                    <a:pt x="12273" y="0"/>
                  </a:moveTo>
                  <a:lnTo>
                    <a:pt x="7905" y="0"/>
                  </a:lnTo>
                  <a:lnTo>
                    <a:pt x="3536" y="0"/>
                  </a:lnTo>
                  <a:lnTo>
                    <a:pt x="0" y="3541"/>
                  </a:lnTo>
                  <a:lnTo>
                    <a:pt x="0" y="12269"/>
                  </a:lnTo>
                  <a:lnTo>
                    <a:pt x="3536" y="15811"/>
                  </a:lnTo>
                  <a:lnTo>
                    <a:pt x="12273" y="15811"/>
                  </a:lnTo>
                  <a:lnTo>
                    <a:pt x="15811" y="12269"/>
                  </a:lnTo>
                  <a:lnTo>
                    <a:pt x="15811" y="3541"/>
                  </a:lnTo>
                  <a:lnTo>
                    <a:pt x="12273" y="0"/>
                  </a:lnTo>
                  <a:close/>
                </a:path>
              </a:pathLst>
            </a:custGeom>
            <a:solidFill>
              <a:srgbClr val="231F20"/>
            </a:solidFill>
          </p:spPr>
          <p:txBody>
            <a:bodyPr wrap="square" lIns="0" tIns="0" rIns="0" bIns="0" rtlCol="0"/>
            <a:lstStyle/>
            <a:p>
              <a:endParaRPr/>
            </a:p>
          </p:txBody>
        </p:sp>
        <p:sp>
          <p:nvSpPr>
            <p:cNvPr id="19" name="object 19"/>
            <p:cNvSpPr/>
            <p:nvPr/>
          </p:nvSpPr>
          <p:spPr>
            <a:xfrm>
              <a:off x="1215687" y="1284511"/>
              <a:ext cx="15875" cy="15875"/>
            </a:xfrm>
            <a:custGeom>
              <a:avLst/>
              <a:gdLst/>
              <a:ahLst/>
              <a:cxnLst/>
              <a:rect l="l" t="t" r="r" b="b"/>
              <a:pathLst>
                <a:path w="15875" h="15875">
                  <a:moveTo>
                    <a:pt x="7905" y="0"/>
                  </a:moveTo>
                  <a:lnTo>
                    <a:pt x="12273" y="0"/>
                  </a:lnTo>
                  <a:lnTo>
                    <a:pt x="15811" y="3541"/>
                  </a:lnTo>
                  <a:lnTo>
                    <a:pt x="15811" y="7905"/>
                  </a:lnTo>
                  <a:lnTo>
                    <a:pt x="15811" y="12269"/>
                  </a:lnTo>
                  <a:lnTo>
                    <a:pt x="12273" y="15811"/>
                  </a:lnTo>
                  <a:lnTo>
                    <a:pt x="7905" y="15811"/>
                  </a:lnTo>
                  <a:lnTo>
                    <a:pt x="3536" y="15811"/>
                  </a:lnTo>
                  <a:lnTo>
                    <a:pt x="0" y="12269"/>
                  </a:lnTo>
                  <a:lnTo>
                    <a:pt x="0" y="7905"/>
                  </a:lnTo>
                  <a:lnTo>
                    <a:pt x="0" y="3541"/>
                  </a:lnTo>
                  <a:lnTo>
                    <a:pt x="3536" y="0"/>
                  </a:lnTo>
                  <a:lnTo>
                    <a:pt x="7905" y="0"/>
                  </a:lnTo>
                  <a:close/>
                </a:path>
              </a:pathLst>
            </a:custGeom>
            <a:ln w="5270">
              <a:solidFill>
                <a:srgbClr val="231F20"/>
              </a:solidFill>
            </a:ln>
          </p:spPr>
          <p:txBody>
            <a:bodyPr wrap="square" lIns="0" tIns="0" rIns="0" bIns="0" rtlCol="0"/>
            <a:lstStyle/>
            <a:p>
              <a:endParaRPr/>
            </a:p>
          </p:txBody>
        </p:sp>
        <p:sp>
          <p:nvSpPr>
            <p:cNvPr id="20" name="object 20"/>
            <p:cNvSpPr/>
            <p:nvPr/>
          </p:nvSpPr>
          <p:spPr>
            <a:xfrm>
              <a:off x="1268396" y="1284511"/>
              <a:ext cx="15875" cy="15875"/>
            </a:xfrm>
            <a:custGeom>
              <a:avLst/>
              <a:gdLst/>
              <a:ahLst/>
              <a:cxnLst/>
              <a:rect l="l" t="t" r="r" b="b"/>
              <a:pathLst>
                <a:path w="15875" h="15875">
                  <a:moveTo>
                    <a:pt x="12273" y="0"/>
                  </a:moveTo>
                  <a:lnTo>
                    <a:pt x="7905" y="0"/>
                  </a:lnTo>
                  <a:lnTo>
                    <a:pt x="3536" y="0"/>
                  </a:lnTo>
                  <a:lnTo>
                    <a:pt x="0" y="3541"/>
                  </a:lnTo>
                  <a:lnTo>
                    <a:pt x="0" y="12269"/>
                  </a:lnTo>
                  <a:lnTo>
                    <a:pt x="3536" y="15811"/>
                  </a:lnTo>
                  <a:lnTo>
                    <a:pt x="12273" y="15811"/>
                  </a:lnTo>
                  <a:lnTo>
                    <a:pt x="15811" y="12269"/>
                  </a:lnTo>
                  <a:lnTo>
                    <a:pt x="15811" y="3541"/>
                  </a:lnTo>
                  <a:lnTo>
                    <a:pt x="12273" y="0"/>
                  </a:lnTo>
                  <a:close/>
                </a:path>
              </a:pathLst>
            </a:custGeom>
            <a:solidFill>
              <a:srgbClr val="231F20"/>
            </a:solidFill>
          </p:spPr>
          <p:txBody>
            <a:bodyPr wrap="square" lIns="0" tIns="0" rIns="0" bIns="0" rtlCol="0"/>
            <a:lstStyle/>
            <a:p>
              <a:endParaRPr/>
            </a:p>
          </p:txBody>
        </p:sp>
        <p:sp>
          <p:nvSpPr>
            <p:cNvPr id="21" name="object 21"/>
            <p:cNvSpPr/>
            <p:nvPr/>
          </p:nvSpPr>
          <p:spPr>
            <a:xfrm>
              <a:off x="1268396" y="1284511"/>
              <a:ext cx="15875" cy="15875"/>
            </a:xfrm>
            <a:custGeom>
              <a:avLst/>
              <a:gdLst/>
              <a:ahLst/>
              <a:cxnLst/>
              <a:rect l="l" t="t" r="r" b="b"/>
              <a:pathLst>
                <a:path w="15875" h="15875">
                  <a:moveTo>
                    <a:pt x="7905" y="0"/>
                  </a:moveTo>
                  <a:lnTo>
                    <a:pt x="12273" y="0"/>
                  </a:lnTo>
                  <a:lnTo>
                    <a:pt x="15811" y="3541"/>
                  </a:lnTo>
                  <a:lnTo>
                    <a:pt x="15811" y="7905"/>
                  </a:lnTo>
                  <a:lnTo>
                    <a:pt x="15811" y="12269"/>
                  </a:lnTo>
                  <a:lnTo>
                    <a:pt x="12273" y="15811"/>
                  </a:lnTo>
                  <a:lnTo>
                    <a:pt x="7905" y="15811"/>
                  </a:lnTo>
                  <a:lnTo>
                    <a:pt x="3536" y="15811"/>
                  </a:lnTo>
                  <a:lnTo>
                    <a:pt x="0" y="12269"/>
                  </a:lnTo>
                  <a:lnTo>
                    <a:pt x="0" y="7905"/>
                  </a:lnTo>
                  <a:lnTo>
                    <a:pt x="0" y="3541"/>
                  </a:lnTo>
                  <a:lnTo>
                    <a:pt x="3536" y="0"/>
                  </a:lnTo>
                  <a:lnTo>
                    <a:pt x="7905" y="0"/>
                  </a:lnTo>
                  <a:close/>
                </a:path>
              </a:pathLst>
            </a:custGeom>
            <a:ln w="5270">
              <a:solidFill>
                <a:srgbClr val="231F20"/>
              </a:solidFill>
            </a:ln>
          </p:spPr>
          <p:txBody>
            <a:bodyPr wrap="square" lIns="0" tIns="0" rIns="0" bIns="0" rtlCol="0"/>
            <a:lstStyle/>
            <a:p>
              <a:endParaRPr/>
            </a:p>
          </p:txBody>
        </p:sp>
        <p:sp>
          <p:nvSpPr>
            <p:cNvPr id="22" name="object 22"/>
            <p:cNvSpPr/>
            <p:nvPr/>
          </p:nvSpPr>
          <p:spPr>
            <a:xfrm>
              <a:off x="1321105" y="1284511"/>
              <a:ext cx="15875" cy="15875"/>
            </a:xfrm>
            <a:custGeom>
              <a:avLst/>
              <a:gdLst/>
              <a:ahLst/>
              <a:cxnLst/>
              <a:rect l="l" t="t" r="r" b="b"/>
              <a:pathLst>
                <a:path w="15875" h="15875">
                  <a:moveTo>
                    <a:pt x="12273" y="0"/>
                  </a:moveTo>
                  <a:lnTo>
                    <a:pt x="7905" y="0"/>
                  </a:lnTo>
                  <a:lnTo>
                    <a:pt x="3536" y="0"/>
                  </a:lnTo>
                  <a:lnTo>
                    <a:pt x="0" y="3541"/>
                  </a:lnTo>
                  <a:lnTo>
                    <a:pt x="0" y="12269"/>
                  </a:lnTo>
                  <a:lnTo>
                    <a:pt x="3536" y="15811"/>
                  </a:lnTo>
                  <a:lnTo>
                    <a:pt x="12273" y="15811"/>
                  </a:lnTo>
                  <a:lnTo>
                    <a:pt x="15811" y="12269"/>
                  </a:lnTo>
                  <a:lnTo>
                    <a:pt x="15811" y="3541"/>
                  </a:lnTo>
                  <a:lnTo>
                    <a:pt x="12273" y="0"/>
                  </a:lnTo>
                  <a:close/>
                </a:path>
              </a:pathLst>
            </a:custGeom>
            <a:solidFill>
              <a:srgbClr val="231F20"/>
            </a:solidFill>
          </p:spPr>
          <p:txBody>
            <a:bodyPr wrap="square" lIns="0" tIns="0" rIns="0" bIns="0" rtlCol="0"/>
            <a:lstStyle/>
            <a:p>
              <a:endParaRPr/>
            </a:p>
          </p:txBody>
        </p:sp>
        <p:sp>
          <p:nvSpPr>
            <p:cNvPr id="23" name="object 23"/>
            <p:cNvSpPr/>
            <p:nvPr/>
          </p:nvSpPr>
          <p:spPr>
            <a:xfrm>
              <a:off x="1321105" y="1284511"/>
              <a:ext cx="15875" cy="15875"/>
            </a:xfrm>
            <a:custGeom>
              <a:avLst/>
              <a:gdLst/>
              <a:ahLst/>
              <a:cxnLst/>
              <a:rect l="l" t="t" r="r" b="b"/>
              <a:pathLst>
                <a:path w="15875" h="15875">
                  <a:moveTo>
                    <a:pt x="7905" y="0"/>
                  </a:moveTo>
                  <a:lnTo>
                    <a:pt x="12273" y="0"/>
                  </a:lnTo>
                  <a:lnTo>
                    <a:pt x="15811" y="3541"/>
                  </a:lnTo>
                  <a:lnTo>
                    <a:pt x="15811" y="7905"/>
                  </a:lnTo>
                  <a:lnTo>
                    <a:pt x="15811" y="12269"/>
                  </a:lnTo>
                  <a:lnTo>
                    <a:pt x="12273" y="15811"/>
                  </a:lnTo>
                  <a:lnTo>
                    <a:pt x="7905" y="15811"/>
                  </a:lnTo>
                  <a:lnTo>
                    <a:pt x="3536" y="15811"/>
                  </a:lnTo>
                  <a:lnTo>
                    <a:pt x="0" y="12269"/>
                  </a:lnTo>
                  <a:lnTo>
                    <a:pt x="0" y="7905"/>
                  </a:lnTo>
                  <a:lnTo>
                    <a:pt x="0" y="3541"/>
                  </a:lnTo>
                  <a:lnTo>
                    <a:pt x="3536" y="0"/>
                  </a:lnTo>
                  <a:lnTo>
                    <a:pt x="7905" y="0"/>
                  </a:lnTo>
                  <a:close/>
                </a:path>
              </a:pathLst>
            </a:custGeom>
            <a:ln w="5270">
              <a:solidFill>
                <a:srgbClr val="231F20"/>
              </a:solidFill>
            </a:ln>
          </p:spPr>
          <p:txBody>
            <a:bodyPr wrap="square" lIns="0" tIns="0" rIns="0" bIns="0" rtlCol="0"/>
            <a:lstStyle/>
            <a:p>
              <a:endParaRPr/>
            </a:p>
          </p:txBody>
        </p:sp>
      </p:grpSp>
      <p:sp>
        <p:nvSpPr>
          <p:cNvPr id="24" name="object 24"/>
          <p:cNvSpPr/>
          <p:nvPr/>
        </p:nvSpPr>
        <p:spPr>
          <a:xfrm>
            <a:off x="1693572" y="1572381"/>
            <a:ext cx="264160" cy="209550"/>
          </a:xfrm>
          <a:custGeom>
            <a:avLst/>
            <a:gdLst/>
            <a:ahLst/>
            <a:cxnLst/>
            <a:rect l="l" t="t" r="r" b="b"/>
            <a:pathLst>
              <a:path w="264160" h="209550">
                <a:moveTo>
                  <a:pt x="187115" y="208996"/>
                </a:moveTo>
                <a:lnTo>
                  <a:pt x="263624" y="208996"/>
                </a:lnTo>
                <a:lnTo>
                  <a:pt x="263624" y="0"/>
                </a:lnTo>
                <a:lnTo>
                  <a:pt x="187115" y="0"/>
                </a:lnTo>
                <a:lnTo>
                  <a:pt x="187115" y="208996"/>
                </a:lnTo>
                <a:close/>
              </a:path>
              <a:path w="264160" h="209550">
                <a:moveTo>
                  <a:pt x="93555" y="208996"/>
                </a:moveTo>
                <a:lnTo>
                  <a:pt x="170064" y="208996"/>
                </a:lnTo>
                <a:lnTo>
                  <a:pt x="170064" y="0"/>
                </a:lnTo>
                <a:lnTo>
                  <a:pt x="93555" y="0"/>
                </a:lnTo>
                <a:lnTo>
                  <a:pt x="93555" y="208996"/>
                </a:lnTo>
                <a:close/>
              </a:path>
              <a:path w="264160" h="209550">
                <a:moveTo>
                  <a:pt x="0" y="208996"/>
                </a:moveTo>
                <a:lnTo>
                  <a:pt x="76508" y="208996"/>
                </a:lnTo>
                <a:lnTo>
                  <a:pt x="76508" y="0"/>
                </a:lnTo>
                <a:lnTo>
                  <a:pt x="0" y="0"/>
                </a:lnTo>
                <a:lnTo>
                  <a:pt x="0" y="208996"/>
                </a:lnTo>
                <a:close/>
              </a:path>
            </a:pathLst>
          </a:custGeom>
          <a:ln w="5270">
            <a:solidFill>
              <a:srgbClr val="231F20"/>
            </a:solidFill>
          </a:ln>
        </p:spPr>
        <p:txBody>
          <a:bodyPr wrap="square" lIns="0" tIns="0" rIns="0" bIns="0" rtlCol="0"/>
          <a:lstStyle/>
          <a:p>
            <a:endParaRPr/>
          </a:p>
        </p:txBody>
      </p:sp>
      <p:sp>
        <p:nvSpPr>
          <p:cNvPr id="25" name="object 25"/>
          <p:cNvSpPr txBox="1"/>
          <p:nvPr/>
        </p:nvSpPr>
        <p:spPr>
          <a:xfrm>
            <a:off x="1588777" y="1580914"/>
            <a:ext cx="375285" cy="202565"/>
          </a:xfrm>
          <a:prstGeom prst="rect">
            <a:avLst/>
          </a:prstGeom>
        </p:spPr>
        <p:txBody>
          <a:bodyPr vert="vert" wrap="square" lIns="0" tIns="0" rIns="0" bIns="0" rtlCol="0">
            <a:spAutoFit/>
          </a:bodyPr>
          <a:lstStyle/>
          <a:p>
            <a:pPr marL="13335">
              <a:lnSpc>
                <a:spcPts val="585"/>
              </a:lnSpc>
            </a:pPr>
            <a:r>
              <a:rPr sz="500" spc="-5" dirty="0">
                <a:solidFill>
                  <a:srgbClr val="231F20"/>
                </a:solidFill>
                <a:latin typeface="Arial"/>
                <a:cs typeface="Arial"/>
              </a:rPr>
              <a:t>/proc</a:t>
            </a:r>
            <a:endParaRPr sz="500">
              <a:latin typeface="Arial"/>
              <a:cs typeface="Arial"/>
            </a:endParaRPr>
          </a:p>
          <a:p>
            <a:pPr marL="13335">
              <a:lnSpc>
                <a:spcPct val="100000"/>
              </a:lnSpc>
              <a:spcBef>
                <a:spcPts val="180"/>
              </a:spcBef>
            </a:pPr>
            <a:r>
              <a:rPr sz="500" dirty="0">
                <a:solidFill>
                  <a:srgbClr val="231F20"/>
                </a:solidFill>
                <a:latin typeface="Arial"/>
                <a:cs typeface="Arial"/>
              </a:rPr>
              <a:t>/home</a:t>
            </a:r>
            <a:endParaRPr sz="500">
              <a:latin typeface="Arial"/>
              <a:cs typeface="Arial"/>
            </a:endParaRPr>
          </a:p>
          <a:p>
            <a:pPr marL="12700">
              <a:lnSpc>
                <a:spcPct val="100000"/>
              </a:lnSpc>
              <a:spcBef>
                <a:spcPts val="140"/>
              </a:spcBef>
            </a:pPr>
            <a:r>
              <a:rPr sz="500" spc="-5" dirty="0">
                <a:solidFill>
                  <a:srgbClr val="231F20"/>
                </a:solidFill>
                <a:latin typeface="Arial"/>
                <a:cs typeface="Arial"/>
              </a:rPr>
              <a:t>/usr</a:t>
            </a:r>
            <a:endParaRPr sz="500">
              <a:latin typeface="Arial"/>
              <a:cs typeface="Arial"/>
            </a:endParaRPr>
          </a:p>
          <a:p>
            <a:pPr marL="13335">
              <a:lnSpc>
                <a:spcPct val="100000"/>
              </a:lnSpc>
              <a:spcBef>
                <a:spcPts val="135"/>
              </a:spcBef>
            </a:pPr>
            <a:r>
              <a:rPr sz="500" spc="-5" dirty="0">
                <a:solidFill>
                  <a:srgbClr val="231F20"/>
                </a:solidFill>
                <a:latin typeface="Arial"/>
                <a:cs typeface="Arial"/>
              </a:rPr>
              <a:t>/dev</a:t>
            </a:r>
            <a:endParaRPr sz="500">
              <a:latin typeface="Arial"/>
              <a:cs typeface="Arial"/>
            </a:endParaRPr>
          </a:p>
        </p:txBody>
      </p:sp>
      <p:sp>
        <p:nvSpPr>
          <p:cNvPr id="26" name="object 26"/>
          <p:cNvSpPr/>
          <p:nvPr/>
        </p:nvSpPr>
        <p:spPr>
          <a:xfrm>
            <a:off x="1539842" y="1503252"/>
            <a:ext cx="474980" cy="422275"/>
          </a:xfrm>
          <a:custGeom>
            <a:avLst/>
            <a:gdLst/>
            <a:ahLst/>
            <a:cxnLst/>
            <a:rect l="l" t="t" r="r" b="b"/>
            <a:pathLst>
              <a:path w="474980" h="422275">
                <a:moveTo>
                  <a:pt x="60170" y="278125"/>
                </a:moveTo>
                <a:lnTo>
                  <a:pt x="136678" y="278125"/>
                </a:lnTo>
                <a:lnTo>
                  <a:pt x="136678" y="69128"/>
                </a:lnTo>
                <a:lnTo>
                  <a:pt x="60170" y="69128"/>
                </a:lnTo>
                <a:lnTo>
                  <a:pt x="60170" y="278125"/>
                </a:lnTo>
                <a:close/>
              </a:path>
              <a:path w="474980" h="422275">
                <a:moveTo>
                  <a:pt x="0" y="421664"/>
                </a:moveTo>
                <a:lnTo>
                  <a:pt x="474373" y="421664"/>
                </a:lnTo>
                <a:lnTo>
                  <a:pt x="474373" y="0"/>
                </a:lnTo>
                <a:lnTo>
                  <a:pt x="0" y="0"/>
                </a:lnTo>
                <a:lnTo>
                  <a:pt x="0" y="421664"/>
                </a:lnTo>
                <a:close/>
              </a:path>
            </a:pathLst>
          </a:custGeom>
          <a:ln w="5270">
            <a:solidFill>
              <a:srgbClr val="231F20"/>
            </a:solidFill>
          </a:ln>
        </p:spPr>
        <p:txBody>
          <a:bodyPr wrap="square" lIns="0" tIns="0" rIns="0" bIns="0" rtlCol="0"/>
          <a:lstStyle/>
          <a:p>
            <a:endParaRPr/>
          </a:p>
        </p:txBody>
      </p:sp>
      <p:sp>
        <p:nvSpPr>
          <p:cNvPr id="27" name="object 27"/>
          <p:cNvSpPr txBox="1"/>
          <p:nvPr/>
        </p:nvSpPr>
        <p:spPr>
          <a:xfrm>
            <a:off x="1544886"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sp>
        <p:nvSpPr>
          <p:cNvPr id="28" name="object 28"/>
          <p:cNvSpPr/>
          <p:nvPr/>
        </p:nvSpPr>
        <p:spPr>
          <a:xfrm>
            <a:off x="1539842"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29" name="object 29"/>
          <p:cNvSpPr txBox="1"/>
          <p:nvPr/>
        </p:nvSpPr>
        <p:spPr>
          <a:xfrm>
            <a:off x="1886637"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grpSp>
        <p:nvGrpSpPr>
          <p:cNvPr id="30" name="object 30"/>
          <p:cNvGrpSpPr/>
          <p:nvPr/>
        </p:nvGrpSpPr>
        <p:grpSpPr>
          <a:xfrm>
            <a:off x="1687425" y="1078948"/>
            <a:ext cx="329565" cy="427355"/>
            <a:chOff x="1687425" y="1078948"/>
            <a:chExt cx="329565" cy="427355"/>
          </a:xfrm>
        </p:grpSpPr>
        <p:sp>
          <p:nvSpPr>
            <p:cNvPr id="31" name="object 31"/>
            <p:cNvSpPr/>
            <p:nvPr/>
          </p:nvSpPr>
          <p:spPr>
            <a:xfrm>
              <a:off x="1881593"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32" name="object 32"/>
            <p:cNvSpPr/>
            <p:nvPr/>
          </p:nvSpPr>
          <p:spPr>
            <a:xfrm>
              <a:off x="1690060" y="1284511"/>
              <a:ext cx="15875" cy="15875"/>
            </a:xfrm>
            <a:custGeom>
              <a:avLst/>
              <a:gdLst/>
              <a:ahLst/>
              <a:cxnLst/>
              <a:rect l="l" t="t" r="r" b="b"/>
              <a:pathLst>
                <a:path w="15875" h="15875">
                  <a:moveTo>
                    <a:pt x="12274" y="0"/>
                  </a:moveTo>
                  <a:lnTo>
                    <a:pt x="7905" y="0"/>
                  </a:lnTo>
                  <a:lnTo>
                    <a:pt x="3537" y="0"/>
                  </a:lnTo>
                  <a:lnTo>
                    <a:pt x="0" y="3541"/>
                  </a:lnTo>
                  <a:lnTo>
                    <a:pt x="0" y="12269"/>
                  </a:lnTo>
                  <a:lnTo>
                    <a:pt x="3537" y="15811"/>
                  </a:lnTo>
                  <a:lnTo>
                    <a:pt x="12274" y="15811"/>
                  </a:lnTo>
                  <a:lnTo>
                    <a:pt x="15811" y="12269"/>
                  </a:lnTo>
                  <a:lnTo>
                    <a:pt x="15811" y="3541"/>
                  </a:lnTo>
                  <a:lnTo>
                    <a:pt x="12274" y="0"/>
                  </a:lnTo>
                  <a:close/>
                </a:path>
              </a:pathLst>
            </a:custGeom>
            <a:solidFill>
              <a:srgbClr val="231F20"/>
            </a:solidFill>
          </p:spPr>
          <p:txBody>
            <a:bodyPr wrap="square" lIns="0" tIns="0" rIns="0" bIns="0" rtlCol="0"/>
            <a:lstStyle/>
            <a:p>
              <a:endParaRPr/>
            </a:p>
          </p:txBody>
        </p:sp>
        <p:sp>
          <p:nvSpPr>
            <p:cNvPr id="33" name="object 33"/>
            <p:cNvSpPr/>
            <p:nvPr/>
          </p:nvSpPr>
          <p:spPr>
            <a:xfrm>
              <a:off x="1690060" y="1284511"/>
              <a:ext cx="15875" cy="15875"/>
            </a:xfrm>
            <a:custGeom>
              <a:avLst/>
              <a:gdLst/>
              <a:ahLst/>
              <a:cxnLst/>
              <a:rect l="l" t="t" r="r" b="b"/>
              <a:pathLst>
                <a:path w="15875" h="15875">
                  <a:moveTo>
                    <a:pt x="7905" y="0"/>
                  </a:moveTo>
                  <a:lnTo>
                    <a:pt x="12274" y="0"/>
                  </a:lnTo>
                  <a:lnTo>
                    <a:pt x="15811" y="3541"/>
                  </a:lnTo>
                  <a:lnTo>
                    <a:pt x="15811" y="7905"/>
                  </a:lnTo>
                  <a:lnTo>
                    <a:pt x="15811" y="12269"/>
                  </a:lnTo>
                  <a:lnTo>
                    <a:pt x="12274" y="15811"/>
                  </a:lnTo>
                  <a:lnTo>
                    <a:pt x="7905" y="15811"/>
                  </a:lnTo>
                  <a:lnTo>
                    <a:pt x="3537" y="15811"/>
                  </a:lnTo>
                  <a:lnTo>
                    <a:pt x="0" y="12269"/>
                  </a:lnTo>
                  <a:lnTo>
                    <a:pt x="0" y="7905"/>
                  </a:lnTo>
                  <a:lnTo>
                    <a:pt x="0" y="3541"/>
                  </a:lnTo>
                  <a:lnTo>
                    <a:pt x="3537" y="0"/>
                  </a:lnTo>
                  <a:lnTo>
                    <a:pt x="7905" y="0"/>
                  </a:lnTo>
                  <a:close/>
                </a:path>
              </a:pathLst>
            </a:custGeom>
            <a:ln w="5270">
              <a:solidFill>
                <a:srgbClr val="231F20"/>
              </a:solidFill>
            </a:ln>
          </p:spPr>
          <p:txBody>
            <a:bodyPr wrap="square" lIns="0" tIns="0" rIns="0" bIns="0" rtlCol="0"/>
            <a:lstStyle/>
            <a:p>
              <a:endParaRPr/>
            </a:p>
          </p:txBody>
        </p:sp>
        <p:sp>
          <p:nvSpPr>
            <p:cNvPr id="34" name="object 34"/>
            <p:cNvSpPr/>
            <p:nvPr/>
          </p:nvSpPr>
          <p:spPr>
            <a:xfrm>
              <a:off x="1742769" y="1284511"/>
              <a:ext cx="15875" cy="15875"/>
            </a:xfrm>
            <a:custGeom>
              <a:avLst/>
              <a:gdLst/>
              <a:ahLst/>
              <a:cxnLst/>
              <a:rect l="l" t="t" r="r" b="b"/>
              <a:pathLst>
                <a:path w="15875" h="15875">
                  <a:moveTo>
                    <a:pt x="12274" y="0"/>
                  </a:moveTo>
                  <a:lnTo>
                    <a:pt x="7905" y="0"/>
                  </a:lnTo>
                  <a:lnTo>
                    <a:pt x="3537" y="0"/>
                  </a:lnTo>
                  <a:lnTo>
                    <a:pt x="0" y="3541"/>
                  </a:lnTo>
                  <a:lnTo>
                    <a:pt x="0" y="12269"/>
                  </a:lnTo>
                  <a:lnTo>
                    <a:pt x="3537" y="15811"/>
                  </a:lnTo>
                  <a:lnTo>
                    <a:pt x="12274" y="15811"/>
                  </a:lnTo>
                  <a:lnTo>
                    <a:pt x="15811" y="12269"/>
                  </a:lnTo>
                  <a:lnTo>
                    <a:pt x="15811" y="3541"/>
                  </a:lnTo>
                  <a:lnTo>
                    <a:pt x="12274" y="0"/>
                  </a:lnTo>
                  <a:close/>
                </a:path>
              </a:pathLst>
            </a:custGeom>
            <a:solidFill>
              <a:srgbClr val="231F20"/>
            </a:solidFill>
          </p:spPr>
          <p:txBody>
            <a:bodyPr wrap="square" lIns="0" tIns="0" rIns="0" bIns="0" rtlCol="0"/>
            <a:lstStyle/>
            <a:p>
              <a:endParaRPr/>
            </a:p>
          </p:txBody>
        </p:sp>
        <p:sp>
          <p:nvSpPr>
            <p:cNvPr id="35" name="object 35"/>
            <p:cNvSpPr/>
            <p:nvPr/>
          </p:nvSpPr>
          <p:spPr>
            <a:xfrm>
              <a:off x="1742769" y="1284511"/>
              <a:ext cx="15875" cy="15875"/>
            </a:xfrm>
            <a:custGeom>
              <a:avLst/>
              <a:gdLst/>
              <a:ahLst/>
              <a:cxnLst/>
              <a:rect l="l" t="t" r="r" b="b"/>
              <a:pathLst>
                <a:path w="15875" h="15875">
                  <a:moveTo>
                    <a:pt x="7905" y="0"/>
                  </a:moveTo>
                  <a:lnTo>
                    <a:pt x="12274" y="0"/>
                  </a:lnTo>
                  <a:lnTo>
                    <a:pt x="15811" y="3541"/>
                  </a:lnTo>
                  <a:lnTo>
                    <a:pt x="15811" y="7905"/>
                  </a:lnTo>
                  <a:lnTo>
                    <a:pt x="15811" y="12269"/>
                  </a:lnTo>
                  <a:lnTo>
                    <a:pt x="12274" y="15811"/>
                  </a:lnTo>
                  <a:lnTo>
                    <a:pt x="7905" y="15811"/>
                  </a:lnTo>
                  <a:lnTo>
                    <a:pt x="3537" y="15811"/>
                  </a:lnTo>
                  <a:lnTo>
                    <a:pt x="0" y="12269"/>
                  </a:lnTo>
                  <a:lnTo>
                    <a:pt x="0" y="7905"/>
                  </a:lnTo>
                  <a:lnTo>
                    <a:pt x="0" y="3541"/>
                  </a:lnTo>
                  <a:lnTo>
                    <a:pt x="3537" y="0"/>
                  </a:lnTo>
                  <a:lnTo>
                    <a:pt x="7905" y="0"/>
                  </a:lnTo>
                  <a:close/>
                </a:path>
              </a:pathLst>
            </a:custGeom>
            <a:ln w="5270">
              <a:solidFill>
                <a:srgbClr val="231F20"/>
              </a:solidFill>
            </a:ln>
          </p:spPr>
          <p:txBody>
            <a:bodyPr wrap="square" lIns="0" tIns="0" rIns="0" bIns="0" rtlCol="0"/>
            <a:lstStyle/>
            <a:p>
              <a:endParaRPr/>
            </a:p>
          </p:txBody>
        </p:sp>
        <p:sp>
          <p:nvSpPr>
            <p:cNvPr id="36" name="object 36"/>
            <p:cNvSpPr/>
            <p:nvPr/>
          </p:nvSpPr>
          <p:spPr>
            <a:xfrm>
              <a:off x="1795479" y="1284511"/>
              <a:ext cx="15875" cy="15875"/>
            </a:xfrm>
            <a:custGeom>
              <a:avLst/>
              <a:gdLst/>
              <a:ahLst/>
              <a:cxnLst/>
              <a:rect l="l" t="t" r="r" b="b"/>
              <a:pathLst>
                <a:path w="15875" h="15875">
                  <a:moveTo>
                    <a:pt x="12274" y="0"/>
                  </a:moveTo>
                  <a:lnTo>
                    <a:pt x="7905" y="0"/>
                  </a:lnTo>
                  <a:lnTo>
                    <a:pt x="3537" y="0"/>
                  </a:lnTo>
                  <a:lnTo>
                    <a:pt x="0" y="3541"/>
                  </a:lnTo>
                  <a:lnTo>
                    <a:pt x="0" y="12269"/>
                  </a:lnTo>
                  <a:lnTo>
                    <a:pt x="3537" y="15811"/>
                  </a:lnTo>
                  <a:lnTo>
                    <a:pt x="12274" y="15811"/>
                  </a:lnTo>
                  <a:lnTo>
                    <a:pt x="15811" y="12269"/>
                  </a:lnTo>
                  <a:lnTo>
                    <a:pt x="15811" y="3541"/>
                  </a:lnTo>
                  <a:lnTo>
                    <a:pt x="12274" y="0"/>
                  </a:lnTo>
                  <a:close/>
                </a:path>
              </a:pathLst>
            </a:custGeom>
            <a:solidFill>
              <a:srgbClr val="231F20"/>
            </a:solidFill>
          </p:spPr>
          <p:txBody>
            <a:bodyPr wrap="square" lIns="0" tIns="0" rIns="0" bIns="0" rtlCol="0"/>
            <a:lstStyle/>
            <a:p>
              <a:endParaRPr/>
            </a:p>
          </p:txBody>
        </p:sp>
        <p:sp>
          <p:nvSpPr>
            <p:cNvPr id="37" name="object 37"/>
            <p:cNvSpPr/>
            <p:nvPr/>
          </p:nvSpPr>
          <p:spPr>
            <a:xfrm>
              <a:off x="1795479" y="1284511"/>
              <a:ext cx="15875" cy="15875"/>
            </a:xfrm>
            <a:custGeom>
              <a:avLst/>
              <a:gdLst/>
              <a:ahLst/>
              <a:cxnLst/>
              <a:rect l="l" t="t" r="r" b="b"/>
              <a:pathLst>
                <a:path w="15875" h="15875">
                  <a:moveTo>
                    <a:pt x="7905" y="0"/>
                  </a:moveTo>
                  <a:lnTo>
                    <a:pt x="12274" y="0"/>
                  </a:lnTo>
                  <a:lnTo>
                    <a:pt x="15811" y="3541"/>
                  </a:lnTo>
                  <a:lnTo>
                    <a:pt x="15811" y="7905"/>
                  </a:lnTo>
                  <a:lnTo>
                    <a:pt x="15811" y="12269"/>
                  </a:lnTo>
                  <a:lnTo>
                    <a:pt x="12274" y="15811"/>
                  </a:lnTo>
                  <a:lnTo>
                    <a:pt x="7905" y="15811"/>
                  </a:lnTo>
                  <a:lnTo>
                    <a:pt x="3537" y="15811"/>
                  </a:lnTo>
                  <a:lnTo>
                    <a:pt x="0" y="12269"/>
                  </a:lnTo>
                  <a:lnTo>
                    <a:pt x="0" y="7905"/>
                  </a:lnTo>
                  <a:lnTo>
                    <a:pt x="0" y="3541"/>
                  </a:lnTo>
                  <a:lnTo>
                    <a:pt x="3537" y="0"/>
                  </a:lnTo>
                  <a:lnTo>
                    <a:pt x="7905" y="0"/>
                  </a:lnTo>
                  <a:close/>
                </a:path>
              </a:pathLst>
            </a:custGeom>
            <a:ln w="5270">
              <a:solidFill>
                <a:srgbClr val="231F20"/>
              </a:solidFill>
            </a:ln>
          </p:spPr>
          <p:txBody>
            <a:bodyPr wrap="square" lIns="0" tIns="0" rIns="0" bIns="0" rtlCol="0"/>
            <a:lstStyle/>
            <a:p>
              <a:endParaRPr/>
            </a:p>
          </p:txBody>
        </p:sp>
        <p:sp>
          <p:nvSpPr>
            <p:cNvPr id="38" name="object 38"/>
            <p:cNvSpPr/>
            <p:nvPr/>
          </p:nvSpPr>
          <p:spPr>
            <a:xfrm>
              <a:off x="1848188" y="1284511"/>
              <a:ext cx="15875" cy="15875"/>
            </a:xfrm>
            <a:custGeom>
              <a:avLst/>
              <a:gdLst/>
              <a:ahLst/>
              <a:cxnLst/>
              <a:rect l="l" t="t" r="r" b="b"/>
              <a:pathLst>
                <a:path w="15875" h="15875">
                  <a:moveTo>
                    <a:pt x="12273" y="0"/>
                  </a:moveTo>
                  <a:lnTo>
                    <a:pt x="7905" y="0"/>
                  </a:lnTo>
                  <a:lnTo>
                    <a:pt x="3536" y="0"/>
                  </a:lnTo>
                  <a:lnTo>
                    <a:pt x="0" y="3541"/>
                  </a:lnTo>
                  <a:lnTo>
                    <a:pt x="0" y="12269"/>
                  </a:lnTo>
                  <a:lnTo>
                    <a:pt x="3536" y="15811"/>
                  </a:lnTo>
                  <a:lnTo>
                    <a:pt x="12273" y="15811"/>
                  </a:lnTo>
                  <a:lnTo>
                    <a:pt x="15811" y="12269"/>
                  </a:lnTo>
                  <a:lnTo>
                    <a:pt x="15811" y="3541"/>
                  </a:lnTo>
                  <a:lnTo>
                    <a:pt x="12273" y="0"/>
                  </a:lnTo>
                  <a:close/>
                </a:path>
              </a:pathLst>
            </a:custGeom>
            <a:solidFill>
              <a:srgbClr val="231F20"/>
            </a:solidFill>
          </p:spPr>
          <p:txBody>
            <a:bodyPr wrap="square" lIns="0" tIns="0" rIns="0" bIns="0" rtlCol="0"/>
            <a:lstStyle/>
            <a:p>
              <a:endParaRPr/>
            </a:p>
          </p:txBody>
        </p:sp>
        <p:sp>
          <p:nvSpPr>
            <p:cNvPr id="39" name="object 39"/>
            <p:cNvSpPr/>
            <p:nvPr/>
          </p:nvSpPr>
          <p:spPr>
            <a:xfrm>
              <a:off x="1848188" y="1284511"/>
              <a:ext cx="15875" cy="15875"/>
            </a:xfrm>
            <a:custGeom>
              <a:avLst/>
              <a:gdLst/>
              <a:ahLst/>
              <a:cxnLst/>
              <a:rect l="l" t="t" r="r" b="b"/>
              <a:pathLst>
                <a:path w="15875" h="15875">
                  <a:moveTo>
                    <a:pt x="7905" y="0"/>
                  </a:moveTo>
                  <a:lnTo>
                    <a:pt x="12273" y="0"/>
                  </a:lnTo>
                  <a:lnTo>
                    <a:pt x="15811" y="3541"/>
                  </a:lnTo>
                  <a:lnTo>
                    <a:pt x="15811" y="7905"/>
                  </a:lnTo>
                  <a:lnTo>
                    <a:pt x="15811" y="12269"/>
                  </a:lnTo>
                  <a:lnTo>
                    <a:pt x="12273" y="15811"/>
                  </a:lnTo>
                  <a:lnTo>
                    <a:pt x="7905" y="15811"/>
                  </a:lnTo>
                  <a:lnTo>
                    <a:pt x="3536" y="15811"/>
                  </a:lnTo>
                  <a:lnTo>
                    <a:pt x="0" y="12269"/>
                  </a:lnTo>
                  <a:lnTo>
                    <a:pt x="0" y="7905"/>
                  </a:lnTo>
                  <a:lnTo>
                    <a:pt x="0" y="3541"/>
                  </a:lnTo>
                  <a:lnTo>
                    <a:pt x="3536" y="0"/>
                  </a:lnTo>
                  <a:lnTo>
                    <a:pt x="7905" y="0"/>
                  </a:lnTo>
                  <a:close/>
                </a:path>
              </a:pathLst>
            </a:custGeom>
            <a:ln w="5270">
              <a:solidFill>
                <a:srgbClr val="231F20"/>
              </a:solidFill>
            </a:ln>
          </p:spPr>
          <p:txBody>
            <a:bodyPr wrap="square" lIns="0" tIns="0" rIns="0" bIns="0" rtlCol="0"/>
            <a:lstStyle/>
            <a:p>
              <a:endParaRPr/>
            </a:p>
          </p:txBody>
        </p:sp>
      </p:grpSp>
      <p:sp>
        <p:nvSpPr>
          <p:cNvPr id="40" name="object 40"/>
          <p:cNvSpPr/>
          <p:nvPr/>
        </p:nvSpPr>
        <p:spPr>
          <a:xfrm>
            <a:off x="2220658" y="1572381"/>
            <a:ext cx="264160" cy="209550"/>
          </a:xfrm>
          <a:custGeom>
            <a:avLst/>
            <a:gdLst/>
            <a:ahLst/>
            <a:cxnLst/>
            <a:rect l="l" t="t" r="r" b="b"/>
            <a:pathLst>
              <a:path w="264160" h="209550">
                <a:moveTo>
                  <a:pt x="187113" y="208996"/>
                </a:moveTo>
                <a:lnTo>
                  <a:pt x="263621" y="208996"/>
                </a:lnTo>
                <a:lnTo>
                  <a:pt x="263621" y="0"/>
                </a:lnTo>
                <a:lnTo>
                  <a:pt x="187113" y="0"/>
                </a:lnTo>
                <a:lnTo>
                  <a:pt x="187113" y="208996"/>
                </a:lnTo>
                <a:close/>
              </a:path>
              <a:path w="264160" h="209550">
                <a:moveTo>
                  <a:pt x="93551" y="208996"/>
                </a:moveTo>
                <a:lnTo>
                  <a:pt x="170060" y="208996"/>
                </a:lnTo>
                <a:lnTo>
                  <a:pt x="170060" y="0"/>
                </a:lnTo>
                <a:lnTo>
                  <a:pt x="93551" y="0"/>
                </a:lnTo>
                <a:lnTo>
                  <a:pt x="93551" y="208996"/>
                </a:lnTo>
                <a:close/>
              </a:path>
              <a:path w="264160" h="209550">
                <a:moveTo>
                  <a:pt x="0" y="208996"/>
                </a:moveTo>
                <a:lnTo>
                  <a:pt x="76508" y="208996"/>
                </a:lnTo>
                <a:lnTo>
                  <a:pt x="76508" y="0"/>
                </a:lnTo>
                <a:lnTo>
                  <a:pt x="0" y="0"/>
                </a:lnTo>
                <a:lnTo>
                  <a:pt x="0" y="208996"/>
                </a:lnTo>
                <a:close/>
              </a:path>
            </a:pathLst>
          </a:custGeom>
          <a:ln w="5270">
            <a:solidFill>
              <a:srgbClr val="231F20"/>
            </a:solidFill>
          </a:ln>
        </p:spPr>
        <p:txBody>
          <a:bodyPr wrap="square" lIns="0" tIns="0" rIns="0" bIns="0" rtlCol="0"/>
          <a:lstStyle/>
          <a:p>
            <a:endParaRPr/>
          </a:p>
        </p:txBody>
      </p:sp>
      <p:sp>
        <p:nvSpPr>
          <p:cNvPr id="41" name="object 41"/>
          <p:cNvSpPr txBox="1"/>
          <p:nvPr/>
        </p:nvSpPr>
        <p:spPr>
          <a:xfrm>
            <a:off x="2115859" y="1580914"/>
            <a:ext cx="375285" cy="202565"/>
          </a:xfrm>
          <a:prstGeom prst="rect">
            <a:avLst/>
          </a:prstGeom>
        </p:spPr>
        <p:txBody>
          <a:bodyPr vert="vert" wrap="square" lIns="0" tIns="0" rIns="0" bIns="0" rtlCol="0">
            <a:spAutoFit/>
          </a:bodyPr>
          <a:lstStyle/>
          <a:p>
            <a:pPr marL="13335">
              <a:lnSpc>
                <a:spcPts val="585"/>
              </a:lnSpc>
            </a:pPr>
            <a:r>
              <a:rPr sz="500" spc="-5" dirty="0">
                <a:solidFill>
                  <a:srgbClr val="231F20"/>
                </a:solidFill>
                <a:latin typeface="Arial"/>
                <a:cs typeface="Arial"/>
              </a:rPr>
              <a:t>/proc</a:t>
            </a:r>
            <a:endParaRPr sz="500">
              <a:latin typeface="Arial"/>
              <a:cs typeface="Arial"/>
            </a:endParaRPr>
          </a:p>
          <a:p>
            <a:pPr marL="13335">
              <a:lnSpc>
                <a:spcPct val="100000"/>
              </a:lnSpc>
              <a:spcBef>
                <a:spcPts val="180"/>
              </a:spcBef>
            </a:pPr>
            <a:r>
              <a:rPr sz="500" dirty="0">
                <a:solidFill>
                  <a:srgbClr val="231F20"/>
                </a:solidFill>
                <a:latin typeface="Arial"/>
                <a:cs typeface="Arial"/>
              </a:rPr>
              <a:t>/home</a:t>
            </a:r>
            <a:endParaRPr sz="500">
              <a:latin typeface="Arial"/>
              <a:cs typeface="Arial"/>
            </a:endParaRPr>
          </a:p>
          <a:p>
            <a:pPr marL="12700">
              <a:lnSpc>
                <a:spcPct val="100000"/>
              </a:lnSpc>
              <a:spcBef>
                <a:spcPts val="140"/>
              </a:spcBef>
            </a:pPr>
            <a:r>
              <a:rPr sz="500" spc="-5" dirty="0">
                <a:solidFill>
                  <a:srgbClr val="231F20"/>
                </a:solidFill>
                <a:latin typeface="Arial"/>
                <a:cs typeface="Arial"/>
              </a:rPr>
              <a:t>/usr</a:t>
            </a:r>
            <a:endParaRPr sz="500">
              <a:latin typeface="Arial"/>
              <a:cs typeface="Arial"/>
            </a:endParaRPr>
          </a:p>
          <a:p>
            <a:pPr marL="13335">
              <a:lnSpc>
                <a:spcPct val="100000"/>
              </a:lnSpc>
              <a:spcBef>
                <a:spcPts val="135"/>
              </a:spcBef>
            </a:pPr>
            <a:r>
              <a:rPr sz="500" spc="-5" dirty="0">
                <a:solidFill>
                  <a:srgbClr val="231F20"/>
                </a:solidFill>
                <a:latin typeface="Arial"/>
                <a:cs typeface="Arial"/>
              </a:rPr>
              <a:t>/dev</a:t>
            </a:r>
            <a:endParaRPr sz="500">
              <a:latin typeface="Arial"/>
              <a:cs typeface="Arial"/>
            </a:endParaRPr>
          </a:p>
        </p:txBody>
      </p:sp>
      <p:sp>
        <p:nvSpPr>
          <p:cNvPr id="42" name="object 42"/>
          <p:cNvSpPr/>
          <p:nvPr/>
        </p:nvSpPr>
        <p:spPr>
          <a:xfrm>
            <a:off x="2127096" y="1572381"/>
            <a:ext cx="76835" cy="209550"/>
          </a:xfrm>
          <a:custGeom>
            <a:avLst/>
            <a:gdLst/>
            <a:ahLst/>
            <a:cxnLst/>
            <a:rect l="l" t="t" r="r" b="b"/>
            <a:pathLst>
              <a:path w="76835" h="209550">
                <a:moveTo>
                  <a:pt x="0" y="208996"/>
                </a:moveTo>
                <a:lnTo>
                  <a:pt x="76504" y="208996"/>
                </a:lnTo>
                <a:lnTo>
                  <a:pt x="76504" y="0"/>
                </a:lnTo>
                <a:lnTo>
                  <a:pt x="0" y="0"/>
                </a:lnTo>
                <a:lnTo>
                  <a:pt x="0" y="208996"/>
                </a:lnTo>
                <a:close/>
              </a:path>
            </a:pathLst>
          </a:custGeom>
          <a:ln w="5270">
            <a:solidFill>
              <a:srgbClr val="231F20"/>
            </a:solidFill>
          </a:ln>
        </p:spPr>
        <p:txBody>
          <a:bodyPr wrap="square" lIns="0" tIns="0" rIns="0" bIns="0" rtlCol="0"/>
          <a:lstStyle/>
          <a:p>
            <a:endParaRPr/>
          </a:p>
        </p:txBody>
      </p:sp>
      <p:sp>
        <p:nvSpPr>
          <p:cNvPr id="43" name="object 43"/>
          <p:cNvSpPr txBox="1"/>
          <p:nvPr/>
        </p:nvSpPr>
        <p:spPr>
          <a:xfrm>
            <a:off x="1105474" y="1774201"/>
            <a:ext cx="1370330" cy="127000"/>
          </a:xfrm>
          <a:prstGeom prst="rect">
            <a:avLst/>
          </a:prstGeom>
        </p:spPr>
        <p:txBody>
          <a:bodyPr vert="horz" wrap="square" lIns="0" tIns="13970" rIns="0" bIns="0" rtlCol="0">
            <a:spAutoFit/>
          </a:bodyPr>
          <a:lstStyle/>
          <a:p>
            <a:pPr marL="12700">
              <a:lnSpc>
                <a:spcPct val="100000"/>
              </a:lnSpc>
              <a:spcBef>
                <a:spcPts val="110"/>
              </a:spcBef>
              <a:tabLst>
                <a:tab pos="539115" algn="l"/>
                <a:tab pos="1066800" algn="l"/>
              </a:tabLst>
            </a:pPr>
            <a:r>
              <a:rPr sz="650" spc="5" dirty="0">
                <a:solidFill>
                  <a:srgbClr val="231F20"/>
                </a:solidFill>
                <a:latin typeface="Arial"/>
                <a:cs typeface="Arial"/>
              </a:rPr>
              <a:t>Vserver	Vserver	Vserver</a:t>
            </a:r>
            <a:endParaRPr sz="650">
              <a:latin typeface="Arial"/>
              <a:cs typeface="Arial"/>
            </a:endParaRPr>
          </a:p>
        </p:txBody>
      </p:sp>
      <p:sp>
        <p:nvSpPr>
          <p:cNvPr id="44" name="object 44"/>
          <p:cNvSpPr/>
          <p:nvPr/>
        </p:nvSpPr>
        <p:spPr>
          <a:xfrm>
            <a:off x="2066928" y="1503252"/>
            <a:ext cx="474980" cy="422275"/>
          </a:xfrm>
          <a:custGeom>
            <a:avLst/>
            <a:gdLst/>
            <a:ahLst/>
            <a:cxnLst/>
            <a:rect l="l" t="t" r="r" b="b"/>
            <a:pathLst>
              <a:path w="474980" h="422275">
                <a:moveTo>
                  <a:pt x="0" y="421664"/>
                </a:moveTo>
                <a:lnTo>
                  <a:pt x="474373" y="421664"/>
                </a:lnTo>
                <a:lnTo>
                  <a:pt x="474373" y="0"/>
                </a:lnTo>
                <a:lnTo>
                  <a:pt x="0" y="0"/>
                </a:lnTo>
                <a:lnTo>
                  <a:pt x="0" y="421664"/>
                </a:lnTo>
                <a:close/>
              </a:path>
            </a:pathLst>
          </a:custGeom>
          <a:ln w="5270">
            <a:solidFill>
              <a:srgbClr val="231F20"/>
            </a:solidFill>
          </a:ln>
        </p:spPr>
        <p:txBody>
          <a:bodyPr wrap="square" lIns="0" tIns="0" rIns="0" bIns="0" rtlCol="0"/>
          <a:lstStyle/>
          <a:p>
            <a:endParaRPr/>
          </a:p>
        </p:txBody>
      </p:sp>
      <p:sp>
        <p:nvSpPr>
          <p:cNvPr id="45" name="object 45"/>
          <p:cNvSpPr txBox="1"/>
          <p:nvPr/>
        </p:nvSpPr>
        <p:spPr>
          <a:xfrm>
            <a:off x="2071969"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sp>
        <p:nvSpPr>
          <p:cNvPr id="46" name="object 46"/>
          <p:cNvSpPr/>
          <p:nvPr/>
        </p:nvSpPr>
        <p:spPr>
          <a:xfrm>
            <a:off x="2066928"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47" name="object 47"/>
          <p:cNvSpPr txBox="1"/>
          <p:nvPr/>
        </p:nvSpPr>
        <p:spPr>
          <a:xfrm>
            <a:off x="2413719"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grpSp>
        <p:nvGrpSpPr>
          <p:cNvPr id="48" name="object 48"/>
          <p:cNvGrpSpPr/>
          <p:nvPr/>
        </p:nvGrpSpPr>
        <p:grpSpPr>
          <a:xfrm>
            <a:off x="2214513" y="1078948"/>
            <a:ext cx="329565" cy="427355"/>
            <a:chOff x="2214513" y="1078948"/>
            <a:chExt cx="329565" cy="427355"/>
          </a:xfrm>
        </p:grpSpPr>
        <p:sp>
          <p:nvSpPr>
            <p:cNvPr id="49" name="object 49"/>
            <p:cNvSpPr/>
            <p:nvPr/>
          </p:nvSpPr>
          <p:spPr>
            <a:xfrm>
              <a:off x="2408678"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50" name="object 50"/>
            <p:cNvSpPr/>
            <p:nvPr/>
          </p:nvSpPr>
          <p:spPr>
            <a:xfrm>
              <a:off x="2217148" y="1284511"/>
              <a:ext cx="15875" cy="15875"/>
            </a:xfrm>
            <a:custGeom>
              <a:avLst/>
              <a:gdLst/>
              <a:ahLst/>
              <a:cxnLst/>
              <a:rect l="l" t="t" r="r" b="b"/>
              <a:pathLst>
                <a:path w="15875" h="15875">
                  <a:moveTo>
                    <a:pt x="12269" y="0"/>
                  </a:moveTo>
                  <a:lnTo>
                    <a:pt x="7905" y="0"/>
                  </a:lnTo>
                  <a:lnTo>
                    <a:pt x="3531" y="0"/>
                  </a:lnTo>
                  <a:lnTo>
                    <a:pt x="0" y="3541"/>
                  </a:lnTo>
                  <a:lnTo>
                    <a:pt x="0" y="12269"/>
                  </a:lnTo>
                  <a:lnTo>
                    <a:pt x="353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51" name="object 51"/>
            <p:cNvSpPr/>
            <p:nvPr/>
          </p:nvSpPr>
          <p:spPr>
            <a:xfrm>
              <a:off x="2217148"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31" y="15811"/>
                  </a:lnTo>
                  <a:lnTo>
                    <a:pt x="0" y="12269"/>
                  </a:lnTo>
                  <a:lnTo>
                    <a:pt x="0" y="7905"/>
                  </a:lnTo>
                  <a:lnTo>
                    <a:pt x="0" y="3541"/>
                  </a:lnTo>
                  <a:lnTo>
                    <a:pt x="3531" y="0"/>
                  </a:lnTo>
                  <a:lnTo>
                    <a:pt x="7905" y="0"/>
                  </a:lnTo>
                  <a:close/>
                </a:path>
              </a:pathLst>
            </a:custGeom>
            <a:ln w="5270">
              <a:solidFill>
                <a:srgbClr val="231F20"/>
              </a:solidFill>
            </a:ln>
          </p:spPr>
          <p:txBody>
            <a:bodyPr wrap="square" lIns="0" tIns="0" rIns="0" bIns="0" rtlCol="0"/>
            <a:lstStyle/>
            <a:p>
              <a:endParaRPr/>
            </a:p>
          </p:txBody>
        </p:sp>
        <p:sp>
          <p:nvSpPr>
            <p:cNvPr id="52" name="object 52"/>
            <p:cNvSpPr/>
            <p:nvPr/>
          </p:nvSpPr>
          <p:spPr>
            <a:xfrm>
              <a:off x="2269853" y="1284511"/>
              <a:ext cx="15875" cy="15875"/>
            </a:xfrm>
            <a:custGeom>
              <a:avLst/>
              <a:gdLst/>
              <a:ahLst/>
              <a:cxnLst/>
              <a:rect l="l" t="t" r="r" b="b"/>
              <a:pathLst>
                <a:path w="15875" h="15875">
                  <a:moveTo>
                    <a:pt x="12269" y="0"/>
                  </a:moveTo>
                  <a:lnTo>
                    <a:pt x="7905" y="0"/>
                  </a:lnTo>
                  <a:lnTo>
                    <a:pt x="3531" y="0"/>
                  </a:lnTo>
                  <a:lnTo>
                    <a:pt x="0" y="3541"/>
                  </a:lnTo>
                  <a:lnTo>
                    <a:pt x="0" y="12269"/>
                  </a:lnTo>
                  <a:lnTo>
                    <a:pt x="353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53" name="object 53"/>
            <p:cNvSpPr/>
            <p:nvPr/>
          </p:nvSpPr>
          <p:spPr>
            <a:xfrm>
              <a:off x="2269853"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31" y="15811"/>
                  </a:lnTo>
                  <a:lnTo>
                    <a:pt x="0" y="12269"/>
                  </a:lnTo>
                  <a:lnTo>
                    <a:pt x="0" y="7905"/>
                  </a:lnTo>
                  <a:lnTo>
                    <a:pt x="0" y="3541"/>
                  </a:lnTo>
                  <a:lnTo>
                    <a:pt x="3531" y="0"/>
                  </a:lnTo>
                  <a:lnTo>
                    <a:pt x="7905" y="0"/>
                  </a:lnTo>
                  <a:close/>
                </a:path>
              </a:pathLst>
            </a:custGeom>
            <a:ln w="5270">
              <a:solidFill>
                <a:srgbClr val="231F20"/>
              </a:solidFill>
            </a:ln>
          </p:spPr>
          <p:txBody>
            <a:bodyPr wrap="square" lIns="0" tIns="0" rIns="0" bIns="0" rtlCol="0"/>
            <a:lstStyle/>
            <a:p>
              <a:endParaRPr/>
            </a:p>
          </p:txBody>
        </p:sp>
        <p:sp>
          <p:nvSpPr>
            <p:cNvPr id="54" name="object 54"/>
            <p:cNvSpPr/>
            <p:nvPr/>
          </p:nvSpPr>
          <p:spPr>
            <a:xfrm>
              <a:off x="2322558" y="1284511"/>
              <a:ext cx="15875" cy="15875"/>
            </a:xfrm>
            <a:custGeom>
              <a:avLst/>
              <a:gdLst/>
              <a:ahLst/>
              <a:cxnLst/>
              <a:rect l="l" t="t" r="r" b="b"/>
              <a:pathLst>
                <a:path w="15875" h="15875">
                  <a:moveTo>
                    <a:pt x="12280" y="0"/>
                  </a:moveTo>
                  <a:lnTo>
                    <a:pt x="7905" y="0"/>
                  </a:lnTo>
                  <a:lnTo>
                    <a:pt x="3541" y="0"/>
                  </a:lnTo>
                  <a:lnTo>
                    <a:pt x="0" y="3541"/>
                  </a:lnTo>
                  <a:lnTo>
                    <a:pt x="0" y="12269"/>
                  </a:lnTo>
                  <a:lnTo>
                    <a:pt x="3541" y="15811"/>
                  </a:lnTo>
                  <a:lnTo>
                    <a:pt x="12280" y="15811"/>
                  </a:lnTo>
                  <a:lnTo>
                    <a:pt x="15811" y="12269"/>
                  </a:lnTo>
                  <a:lnTo>
                    <a:pt x="15811" y="3541"/>
                  </a:lnTo>
                  <a:lnTo>
                    <a:pt x="12280" y="0"/>
                  </a:lnTo>
                  <a:close/>
                </a:path>
              </a:pathLst>
            </a:custGeom>
            <a:solidFill>
              <a:srgbClr val="231F20"/>
            </a:solidFill>
          </p:spPr>
          <p:txBody>
            <a:bodyPr wrap="square" lIns="0" tIns="0" rIns="0" bIns="0" rtlCol="0"/>
            <a:lstStyle/>
            <a:p>
              <a:endParaRPr/>
            </a:p>
          </p:txBody>
        </p:sp>
        <p:sp>
          <p:nvSpPr>
            <p:cNvPr id="55" name="object 55"/>
            <p:cNvSpPr/>
            <p:nvPr/>
          </p:nvSpPr>
          <p:spPr>
            <a:xfrm>
              <a:off x="2322558" y="1284511"/>
              <a:ext cx="15875" cy="15875"/>
            </a:xfrm>
            <a:custGeom>
              <a:avLst/>
              <a:gdLst/>
              <a:ahLst/>
              <a:cxnLst/>
              <a:rect l="l" t="t" r="r" b="b"/>
              <a:pathLst>
                <a:path w="15875" h="15875">
                  <a:moveTo>
                    <a:pt x="7905" y="0"/>
                  </a:moveTo>
                  <a:lnTo>
                    <a:pt x="12280" y="0"/>
                  </a:lnTo>
                  <a:lnTo>
                    <a:pt x="15811" y="3541"/>
                  </a:lnTo>
                  <a:lnTo>
                    <a:pt x="15811" y="7905"/>
                  </a:lnTo>
                  <a:lnTo>
                    <a:pt x="15811" y="12269"/>
                  </a:lnTo>
                  <a:lnTo>
                    <a:pt x="12280"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56" name="object 56"/>
            <p:cNvSpPr/>
            <p:nvPr/>
          </p:nvSpPr>
          <p:spPr>
            <a:xfrm>
              <a:off x="2375274" y="1284511"/>
              <a:ext cx="15875" cy="15875"/>
            </a:xfrm>
            <a:custGeom>
              <a:avLst/>
              <a:gdLst/>
              <a:ahLst/>
              <a:cxnLst/>
              <a:rect l="l" t="t" r="r" b="b"/>
              <a:pathLst>
                <a:path w="15875" h="15875">
                  <a:moveTo>
                    <a:pt x="12269" y="0"/>
                  </a:moveTo>
                  <a:lnTo>
                    <a:pt x="7905" y="0"/>
                  </a:lnTo>
                  <a:lnTo>
                    <a:pt x="3531" y="0"/>
                  </a:lnTo>
                  <a:lnTo>
                    <a:pt x="0" y="3541"/>
                  </a:lnTo>
                  <a:lnTo>
                    <a:pt x="0" y="12269"/>
                  </a:lnTo>
                  <a:lnTo>
                    <a:pt x="353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57" name="object 57"/>
            <p:cNvSpPr/>
            <p:nvPr/>
          </p:nvSpPr>
          <p:spPr>
            <a:xfrm>
              <a:off x="2375274"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31" y="15811"/>
                  </a:lnTo>
                  <a:lnTo>
                    <a:pt x="0" y="12269"/>
                  </a:lnTo>
                  <a:lnTo>
                    <a:pt x="0" y="7905"/>
                  </a:lnTo>
                  <a:lnTo>
                    <a:pt x="0" y="3541"/>
                  </a:lnTo>
                  <a:lnTo>
                    <a:pt x="3531" y="0"/>
                  </a:lnTo>
                  <a:lnTo>
                    <a:pt x="7905" y="0"/>
                  </a:lnTo>
                  <a:close/>
                </a:path>
              </a:pathLst>
            </a:custGeom>
            <a:ln w="5270">
              <a:solidFill>
                <a:srgbClr val="231F20"/>
              </a:solidFill>
            </a:ln>
          </p:spPr>
          <p:txBody>
            <a:bodyPr wrap="square" lIns="0" tIns="0" rIns="0" bIns="0" rtlCol="0"/>
            <a:lstStyle/>
            <a:p>
              <a:endParaRPr/>
            </a:p>
          </p:txBody>
        </p:sp>
      </p:grpSp>
      <p:grpSp>
        <p:nvGrpSpPr>
          <p:cNvPr id="58" name="object 58"/>
          <p:cNvGrpSpPr/>
          <p:nvPr/>
        </p:nvGrpSpPr>
        <p:grpSpPr>
          <a:xfrm>
            <a:off x="2591152" y="1078726"/>
            <a:ext cx="480695" cy="846455"/>
            <a:chOff x="2591152" y="1078726"/>
            <a:chExt cx="480695" cy="846455"/>
          </a:xfrm>
        </p:grpSpPr>
        <p:sp>
          <p:nvSpPr>
            <p:cNvPr id="59" name="object 59"/>
            <p:cNvSpPr/>
            <p:nvPr/>
          </p:nvSpPr>
          <p:spPr>
            <a:xfrm>
              <a:off x="2594000" y="1081595"/>
              <a:ext cx="474980" cy="843915"/>
            </a:xfrm>
            <a:custGeom>
              <a:avLst/>
              <a:gdLst/>
              <a:ahLst/>
              <a:cxnLst/>
              <a:rect l="l" t="t" r="r" b="b"/>
              <a:pathLst>
                <a:path w="474980" h="843914">
                  <a:moveTo>
                    <a:pt x="474383" y="421665"/>
                  </a:moveTo>
                  <a:lnTo>
                    <a:pt x="132626" y="421665"/>
                  </a:lnTo>
                  <a:lnTo>
                    <a:pt x="132626" y="0"/>
                  </a:lnTo>
                  <a:lnTo>
                    <a:pt x="0" y="0"/>
                  </a:lnTo>
                  <a:lnTo>
                    <a:pt x="0" y="421665"/>
                  </a:lnTo>
                  <a:lnTo>
                    <a:pt x="0" y="843330"/>
                  </a:lnTo>
                  <a:lnTo>
                    <a:pt x="474383" y="843330"/>
                  </a:lnTo>
                  <a:lnTo>
                    <a:pt x="474383" y="421665"/>
                  </a:lnTo>
                  <a:close/>
                </a:path>
              </a:pathLst>
            </a:custGeom>
            <a:solidFill>
              <a:srgbClr val="E6E7E8"/>
            </a:solidFill>
          </p:spPr>
          <p:txBody>
            <a:bodyPr wrap="square" lIns="0" tIns="0" rIns="0" bIns="0" rtlCol="0"/>
            <a:lstStyle/>
            <a:p>
              <a:endParaRPr/>
            </a:p>
          </p:txBody>
        </p:sp>
        <p:sp>
          <p:nvSpPr>
            <p:cNvPr id="60" name="object 60"/>
            <p:cNvSpPr/>
            <p:nvPr/>
          </p:nvSpPr>
          <p:spPr>
            <a:xfrm>
              <a:off x="2594010"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61" name="object 61"/>
            <p:cNvSpPr/>
            <p:nvPr/>
          </p:nvSpPr>
          <p:spPr>
            <a:xfrm>
              <a:off x="2935760" y="1081583"/>
              <a:ext cx="132715" cy="422275"/>
            </a:xfrm>
            <a:custGeom>
              <a:avLst/>
              <a:gdLst/>
              <a:ahLst/>
              <a:cxnLst/>
              <a:rect l="l" t="t" r="r" b="b"/>
              <a:pathLst>
                <a:path w="132714" h="422275">
                  <a:moveTo>
                    <a:pt x="132619" y="0"/>
                  </a:moveTo>
                  <a:lnTo>
                    <a:pt x="0" y="0"/>
                  </a:lnTo>
                  <a:lnTo>
                    <a:pt x="0" y="421668"/>
                  </a:lnTo>
                  <a:lnTo>
                    <a:pt x="132619" y="421668"/>
                  </a:lnTo>
                  <a:lnTo>
                    <a:pt x="132619" y="0"/>
                  </a:lnTo>
                  <a:close/>
                </a:path>
              </a:pathLst>
            </a:custGeom>
            <a:solidFill>
              <a:srgbClr val="E6E7E8"/>
            </a:solidFill>
          </p:spPr>
          <p:txBody>
            <a:bodyPr wrap="square" lIns="0" tIns="0" rIns="0" bIns="0" rtlCol="0"/>
            <a:lstStyle/>
            <a:p>
              <a:endParaRPr/>
            </a:p>
          </p:txBody>
        </p:sp>
        <p:sp>
          <p:nvSpPr>
            <p:cNvPr id="62" name="object 62"/>
            <p:cNvSpPr/>
            <p:nvPr/>
          </p:nvSpPr>
          <p:spPr>
            <a:xfrm>
              <a:off x="2935760" y="1081583"/>
              <a:ext cx="132715" cy="422275"/>
            </a:xfrm>
            <a:custGeom>
              <a:avLst/>
              <a:gdLst/>
              <a:ahLst/>
              <a:cxnLst/>
              <a:rect l="l" t="t" r="r" b="b"/>
              <a:pathLst>
                <a:path w="132714" h="422275">
                  <a:moveTo>
                    <a:pt x="0" y="421668"/>
                  </a:moveTo>
                  <a:lnTo>
                    <a:pt x="132619" y="421668"/>
                  </a:lnTo>
                  <a:lnTo>
                    <a:pt x="132619" y="0"/>
                  </a:lnTo>
                  <a:lnTo>
                    <a:pt x="0" y="0"/>
                  </a:lnTo>
                  <a:lnTo>
                    <a:pt x="0" y="421668"/>
                  </a:lnTo>
                  <a:close/>
                </a:path>
              </a:pathLst>
            </a:custGeom>
            <a:ln w="5270">
              <a:solidFill>
                <a:srgbClr val="231F20"/>
              </a:solidFill>
            </a:ln>
          </p:spPr>
          <p:txBody>
            <a:bodyPr wrap="square" lIns="0" tIns="0" rIns="0" bIns="0" rtlCol="0"/>
            <a:lstStyle/>
            <a:p>
              <a:endParaRPr/>
            </a:p>
          </p:txBody>
        </p:sp>
        <p:pic>
          <p:nvPicPr>
            <p:cNvPr id="63" name="object 63"/>
            <p:cNvPicPr/>
            <p:nvPr/>
          </p:nvPicPr>
          <p:blipFill>
            <a:blip r:embed="rId6" cstate="print"/>
            <a:stretch>
              <a:fillRect/>
            </a:stretch>
          </p:blipFill>
          <p:spPr>
            <a:xfrm>
              <a:off x="2651543" y="1569745"/>
              <a:ext cx="362454" cy="214267"/>
            </a:xfrm>
            <a:prstGeom prst="rect">
              <a:avLst/>
            </a:prstGeom>
          </p:spPr>
        </p:pic>
      </p:grpSp>
      <p:sp>
        <p:nvSpPr>
          <p:cNvPr id="64" name="object 64"/>
          <p:cNvSpPr txBox="1"/>
          <p:nvPr/>
        </p:nvSpPr>
        <p:spPr>
          <a:xfrm>
            <a:off x="2642941" y="1580917"/>
            <a:ext cx="375285" cy="202565"/>
          </a:xfrm>
          <a:prstGeom prst="rect">
            <a:avLst/>
          </a:prstGeom>
        </p:spPr>
        <p:txBody>
          <a:bodyPr vert="vert" wrap="square" lIns="0" tIns="0" rIns="0" bIns="0" rtlCol="0">
            <a:spAutoFit/>
          </a:bodyPr>
          <a:lstStyle/>
          <a:p>
            <a:pPr marL="13335">
              <a:lnSpc>
                <a:spcPts val="585"/>
              </a:lnSpc>
            </a:pPr>
            <a:r>
              <a:rPr sz="500" spc="-5" dirty="0">
                <a:solidFill>
                  <a:srgbClr val="231F20"/>
                </a:solidFill>
                <a:latin typeface="Arial"/>
                <a:cs typeface="Arial"/>
              </a:rPr>
              <a:t>/proc</a:t>
            </a:r>
            <a:endParaRPr sz="500">
              <a:latin typeface="Arial"/>
              <a:cs typeface="Arial"/>
            </a:endParaRPr>
          </a:p>
          <a:p>
            <a:pPr marL="13335">
              <a:lnSpc>
                <a:spcPct val="100000"/>
              </a:lnSpc>
              <a:spcBef>
                <a:spcPts val="180"/>
              </a:spcBef>
            </a:pPr>
            <a:r>
              <a:rPr sz="500" dirty="0">
                <a:solidFill>
                  <a:srgbClr val="231F20"/>
                </a:solidFill>
                <a:latin typeface="Arial"/>
                <a:cs typeface="Arial"/>
              </a:rPr>
              <a:t>/home</a:t>
            </a:r>
            <a:endParaRPr sz="500">
              <a:latin typeface="Arial"/>
              <a:cs typeface="Arial"/>
            </a:endParaRPr>
          </a:p>
          <a:p>
            <a:pPr marL="12700">
              <a:lnSpc>
                <a:spcPct val="100000"/>
              </a:lnSpc>
              <a:spcBef>
                <a:spcPts val="140"/>
              </a:spcBef>
            </a:pPr>
            <a:r>
              <a:rPr sz="500" spc="-5" dirty="0">
                <a:solidFill>
                  <a:srgbClr val="231F20"/>
                </a:solidFill>
                <a:latin typeface="Arial"/>
                <a:cs typeface="Arial"/>
              </a:rPr>
              <a:t>/usr</a:t>
            </a:r>
            <a:endParaRPr sz="500">
              <a:latin typeface="Arial"/>
              <a:cs typeface="Arial"/>
            </a:endParaRPr>
          </a:p>
          <a:p>
            <a:pPr marL="13335">
              <a:lnSpc>
                <a:spcPct val="100000"/>
              </a:lnSpc>
              <a:spcBef>
                <a:spcPts val="135"/>
              </a:spcBef>
            </a:pPr>
            <a:r>
              <a:rPr sz="500" spc="-5" dirty="0">
                <a:solidFill>
                  <a:srgbClr val="231F20"/>
                </a:solidFill>
                <a:latin typeface="Arial"/>
                <a:cs typeface="Arial"/>
              </a:rPr>
              <a:t>/dev</a:t>
            </a:r>
            <a:endParaRPr sz="500">
              <a:latin typeface="Arial"/>
              <a:cs typeface="Arial"/>
            </a:endParaRPr>
          </a:p>
        </p:txBody>
      </p:sp>
      <p:sp>
        <p:nvSpPr>
          <p:cNvPr id="65" name="object 65"/>
          <p:cNvSpPr txBox="1"/>
          <p:nvPr/>
        </p:nvSpPr>
        <p:spPr>
          <a:xfrm>
            <a:off x="2594010" y="1503252"/>
            <a:ext cx="474980" cy="422275"/>
          </a:xfrm>
          <a:prstGeom prst="rect">
            <a:avLst/>
          </a:prstGeom>
          <a:ln w="5270">
            <a:solidFill>
              <a:srgbClr val="231F20"/>
            </a:solidFill>
          </a:ln>
        </p:spPr>
        <p:txBody>
          <a:bodyPr vert="horz" wrap="square" lIns="0" tIns="0" rIns="0" bIns="0" rtlCol="0">
            <a:spAutoFit/>
          </a:bodyPr>
          <a:lstStyle/>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spcBef>
                <a:spcPts val="5"/>
              </a:spcBef>
            </a:pPr>
            <a:endParaRPr sz="750">
              <a:latin typeface="Times New Roman"/>
              <a:cs typeface="Times New Roman"/>
            </a:endParaRPr>
          </a:p>
          <a:p>
            <a:pPr marL="105410">
              <a:lnSpc>
                <a:spcPct val="100000"/>
              </a:lnSpc>
            </a:pPr>
            <a:r>
              <a:rPr sz="650" spc="5" dirty="0">
                <a:solidFill>
                  <a:srgbClr val="231F20"/>
                </a:solidFill>
                <a:latin typeface="Arial"/>
                <a:cs typeface="Arial"/>
              </a:rPr>
              <a:t>Vserver</a:t>
            </a:r>
            <a:endParaRPr sz="650">
              <a:latin typeface="Arial"/>
              <a:cs typeface="Arial"/>
            </a:endParaRPr>
          </a:p>
        </p:txBody>
      </p:sp>
      <p:sp>
        <p:nvSpPr>
          <p:cNvPr id="66" name="object 66"/>
          <p:cNvSpPr txBox="1"/>
          <p:nvPr/>
        </p:nvSpPr>
        <p:spPr>
          <a:xfrm>
            <a:off x="2599050"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sp>
        <p:nvSpPr>
          <p:cNvPr id="67" name="object 67"/>
          <p:cNvSpPr txBox="1"/>
          <p:nvPr/>
        </p:nvSpPr>
        <p:spPr>
          <a:xfrm>
            <a:off x="2940801"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grpSp>
        <p:nvGrpSpPr>
          <p:cNvPr id="68" name="object 68"/>
          <p:cNvGrpSpPr/>
          <p:nvPr/>
        </p:nvGrpSpPr>
        <p:grpSpPr>
          <a:xfrm>
            <a:off x="2741594" y="1281876"/>
            <a:ext cx="179705" cy="21590"/>
            <a:chOff x="2741594" y="1281876"/>
            <a:chExt cx="179705" cy="21590"/>
          </a:xfrm>
        </p:grpSpPr>
        <p:sp>
          <p:nvSpPr>
            <p:cNvPr id="69" name="object 69"/>
            <p:cNvSpPr/>
            <p:nvPr/>
          </p:nvSpPr>
          <p:spPr>
            <a:xfrm>
              <a:off x="2744230" y="1284511"/>
              <a:ext cx="15875" cy="15875"/>
            </a:xfrm>
            <a:custGeom>
              <a:avLst/>
              <a:gdLst/>
              <a:ahLst/>
              <a:cxnLst/>
              <a:rect l="l" t="t" r="r" b="b"/>
              <a:pathLst>
                <a:path w="15875" h="15875">
                  <a:moveTo>
                    <a:pt x="12269" y="0"/>
                  </a:moveTo>
                  <a:lnTo>
                    <a:pt x="7905" y="0"/>
                  </a:lnTo>
                  <a:lnTo>
                    <a:pt x="3541" y="0"/>
                  </a:lnTo>
                  <a:lnTo>
                    <a:pt x="0" y="3541"/>
                  </a:lnTo>
                  <a:lnTo>
                    <a:pt x="0" y="12269"/>
                  </a:lnTo>
                  <a:lnTo>
                    <a:pt x="354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70" name="object 70"/>
            <p:cNvSpPr/>
            <p:nvPr/>
          </p:nvSpPr>
          <p:spPr>
            <a:xfrm>
              <a:off x="2744230"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71" name="object 71"/>
            <p:cNvSpPr/>
            <p:nvPr/>
          </p:nvSpPr>
          <p:spPr>
            <a:xfrm>
              <a:off x="2796935" y="1284511"/>
              <a:ext cx="15875" cy="15875"/>
            </a:xfrm>
            <a:custGeom>
              <a:avLst/>
              <a:gdLst/>
              <a:ahLst/>
              <a:cxnLst/>
              <a:rect l="l" t="t" r="r" b="b"/>
              <a:pathLst>
                <a:path w="15875" h="15875">
                  <a:moveTo>
                    <a:pt x="12280" y="0"/>
                  </a:moveTo>
                  <a:lnTo>
                    <a:pt x="7905" y="0"/>
                  </a:lnTo>
                  <a:lnTo>
                    <a:pt x="3541" y="0"/>
                  </a:lnTo>
                  <a:lnTo>
                    <a:pt x="0" y="3541"/>
                  </a:lnTo>
                  <a:lnTo>
                    <a:pt x="0" y="12269"/>
                  </a:lnTo>
                  <a:lnTo>
                    <a:pt x="3541" y="15811"/>
                  </a:lnTo>
                  <a:lnTo>
                    <a:pt x="12280" y="15811"/>
                  </a:lnTo>
                  <a:lnTo>
                    <a:pt x="15811" y="12269"/>
                  </a:lnTo>
                  <a:lnTo>
                    <a:pt x="15811" y="3541"/>
                  </a:lnTo>
                  <a:lnTo>
                    <a:pt x="12280" y="0"/>
                  </a:lnTo>
                  <a:close/>
                </a:path>
              </a:pathLst>
            </a:custGeom>
            <a:solidFill>
              <a:srgbClr val="231F20"/>
            </a:solidFill>
          </p:spPr>
          <p:txBody>
            <a:bodyPr wrap="square" lIns="0" tIns="0" rIns="0" bIns="0" rtlCol="0"/>
            <a:lstStyle/>
            <a:p>
              <a:endParaRPr/>
            </a:p>
          </p:txBody>
        </p:sp>
        <p:sp>
          <p:nvSpPr>
            <p:cNvPr id="72" name="object 72"/>
            <p:cNvSpPr/>
            <p:nvPr/>
          </p:nvSpPr>
          <p:spPr>
            <a:xfrm>
              <a:off x="2796935" y="1284511"/>
              <a:ext cx="15875" cy="15875"/>
            </a:xfrm>
            <a:custGeom>
              <a:avLst/>
              <a:gdLst/>
              <a:ahLst/>
              <a:cxnLst/>
              <a:rect l="l" t="t" r="r" b="b"/>
              <a:pathLst>
                <a:path w="15875" h="15875">
                  <a:moveTo>
                    <a:pt x="7905" y="0"/>
                  </a:moveTo>
                  <a:lnTo>
                    <a:pt x="12280" y="0"/>
                  </a:lnTo>
                  <a:lnTo>
                    <a:pt x="15811" y="3541"/>
                  </a:lnTo>
                  <a:lnTo>
                    <a:pt x="15811" y="7905"/>
                  </a:lnTo>
                  <a:lnTo>
                    <a:pt x="15811" y="12269"/>
                  </a:lnTo>
                  <a:lnTo>
                    <a:pt x="12280"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73" name="object 73"/>
            <p:cNvSpPr/>
            <p:nvPr/>
          </p:nvSpPr>
          <p:spPr>
            <a:xfrm>
              <a:off x="2849640" y="1284511"/>
              <a:ext cx="15875" cy="15875"/>
            </a:xfrm>
            <a:custGeom>
              <a:avLst/>
              <a:gdLst/>
              <a:ahLst/>
              <a:cxnLst/>
              <a:rect l="l" t="t" r="r" b="b"/>
              <a:pathLst>
                <a:path w="15875" h="15875">
                  <a:moveTo>
                    <a:pt x="12280" y="0"/>
                  </a:moveTo>
                  <a:lnTo>
                    <a:pt x="7905" y="0"/>
                  </a:lnTo>
                  <a:lnTo>
                    <a:pt x="3541" y="0"/>
                  </a:lnTo>
                  <a:lnTo>
                    <a:pt x="0" y="3541"/>
                  </a:lnTo>
                  <a:lnTo>
                    <a:pt x="0" y="12269"/>
                  </a:lnTo>
                  <a:lnTo>
                    <a:pt x="3541" y="15811"/>
                  </a:lnTo>
                  <a:lnTo>
                    <a:pt x="12280" y="15811"/>
                  </a:lnTo>
                  <a:lnTo>
                    <a:pt x="15811" y="12269"/>
                  </a:lnTo>
                  <a:lnTo>
                    <a:pt x="15811" y="3541"/>
                  </a:lnTo>
                  <a:lnTo>
                    <a:pt x="12280" y="0"/>
                  </a:lnTo>
                  <a:close/>
                </a:path>
              </a:pathLst>
            </a:custGeom>
            <a:solidFill>
              <a:srgbClr val="231F20"/>
            </a:solidFill>
          </p:spPr>
          <p:txBody>
            <a:bodyPr wrap="square" lIns="0" tIns="0" rIns="0" bIns="0" rtlCol="0"/>
            <a:lstStyle/>
            <a:p>
              <a:endParaRPr/>
            </a:p>
          </p:txBody>
        </p:sp>
        <p:sp>
          <p:nvSpPr>
            <p:cNvPr id="74" name="object 74"/>
            <p:cNvSpPr/>
            <p:nvPr/>
          </p:nvSpPr>
          <p:spPr>
            <a:xfrm>
              <a:off x="2849640" y="1284511"/>
              <a:ext cx="15875" cy="15875"/>
            </a:xfrm>
            <a:custGeom>
              <a:avLst/>
              <a:gdLst/>
              <a:ahLst/>
              <a:cxnLst/>
              <a:rect l="l" t="t" r="r" b="b"/>
              <a:pathLst>
                <a:path w="15875" h="15875">
                  <a:moveTo>
                    <a:pt x="7905" y="0"/>
                  </a:moveTo>
                  <a:lnTo>
                    <a:pt x="12280" y="0"/>
                  </a:lnTo>
                  <a:lnTo>
                    <a:pt x="15811" y="3541"/>
                  </a:lnTo>
                  <a:lnTo>
                    <a:pt x="15811" y="7905"/>
                  </a:lnTo>
                  <a:lnTo>
                    <a:pt x="15811" y="12269"/>
                  </a:lnTo>
                  <a:lnTo>
                    <a:pt x="12280"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75" name="object 75"/>
            <p:cNvSpPr/>
            <p:nvPr/>
          </p:nvSpPr>
          <p:spPr>
            <a:xfrm>
              <a:off x="2902355" y="1284511"/>
              <a:ext cx="15875" cy="15875"/>
            </a:xfrm>
            <a:custGeom>
              <a:avLst/>
              <a:gdLst/>
              <a:ahLst/>
              <a:cxnLst/>
              <a:rect l="l" t="t" r="r" b="b"/>
              <a:pathLst>
                <a:path w="15875" h="15875">
                  <a:moveTo>
                    <a:pt x="12269" y="0"/>
                  </a:moveTo>
                  <a:lnTo>
                    <a:pt x="7905" y="0"/>
                  </a:lnTo>
                  <a:lnTo>
                    <a:pt x="3531" y="0"/>
                  </a:lnTo>
                  <a:lnTo>
                    <a:pt x="0" y="3541"/>
                  </a:lnTo>
                  <a:lnTo>
                    <a:pt x="0" y="12269"/>
                  </a:lnTo>
                  <a:lnTo>
                    <a:pt x="353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76" name="object 76"/>
            <p:cNvSpPr/>
            <p:nvPr/>
          </p:nvSpPr>
          <p:spPr>
            <a:xfrm>
              <a:off x="2902355"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31" y="15811"/>
                  </a:lnTo>
                  <a:lnTo>
                    <a:pt x="0" y="12269"/>
                  </a:lnTo>
                  <a:lnTo>
                    <a:pt x="0" y="7905"/>
                  </a:lnTo>
                  <a:lnTo>
                    <a:pt x="0" y="3541"/>
                  </a:lnTo>
                  <a:lnTo>
                    <a:pt x="3531" y="0"/>
                  </a:lnTo>
                  <a:lnTo>
                    <a:pt x="7905" y="0"/>
                  </a:lnTo>
                  <a:close/>
                </a:path>
              </a:pathLst>
            </a:custGeom>
            <a:ln w="5270">
              <a:solidFill>
                <a:srgbClr val="231F20"/>
              </a:solidFill>
            </a:ln>
          </p:spPr>
          <p:txBody>
            <a:bodyPr wrap="square" lIns="0" tIns="0" rIns="0" bIns="0" rtlCol="0"/>
            <a:lstStyle/>
            <a:p>
              <a:endParaRPr/>
            </a:p>
          </p:txBody>
        </p:sp>
      </p:grpSp>
      <p:grpSp>
        <p:nvGrpSpPr>
          <p:cNvPr id="77" name="object 77"/>
          <p:cNvGrpSpPr/>
          <p:nvPr/>
        </p:nvGrpSpPr>
        <p:grpSpPr>
          <a:xfrm>
            <a:off x="3118234" y="1078726"/>
            <a:ext cx="480695" cy="846455"/>
            <a:chOff x="3118234" y="1078726"/>
            <a:chExt cx="480695" cy="846455"/>
          </a:xfrm>
        </p:grpSpPr>
        <p:sp>
          <p:nvSpPr>
            <p:cNvPr id="78" name="object 78"/>
            <p:cNvSpPr/>
            <p:nvPr/>
          </p:nvSpPr>
          <p:spPr>
            <a:xfrm>
              <a:off x="3121088" y="1081595"/>
              <a:ext cx="474980" cy="843915"/>
            </a:xfrm>
            <a:custGeom>
              <a:avLst/>
              <a:gdLst/>
              <a:ahLst/>
              <a:cxnLst/>
              <a:rect l="l" t="t" r="r" b="b"/>
              <a:pathLst>
                <a:path w="474979" h="843914">
                  <a:moveTo>
                    <a:pt x="474370" y="421665"/>
                  </a:moveTo>
                  <a:lnTo>
                    <a:pt x="132626" y="421665"/>
                  </a:lnTo>
                  <a:lnTo>
                    <a:pt x="132626" y="0"/>
                  </a:lnTo>
                  <a:lnTo>
                    <a:pt x="0" y="0"/>
                  </a:lnTo>
                  <a:lnTo>
                    <a:pt x="0" y="421665"/>
                  </a:lnTo>
                  <a:lnTo>
                    <a:pt x="0" y="843330"/>
                  </a:lnTo>
                  <a:lnTo>
                    <a:pt x="474370" y="843330"/>
                  </a:lnTo>
                  <a:lnTo>
                    <a:pt x="474370" y="421665"/>
                  </a:lnTo>
                  <a:close/>
                </a:path>
              </a:pathLst>
            </a:custGeom>
            <a:solidFill>
              <a:srgbClr val="E6E7E8"/>
            </a:solidFill>
          </p:spPr>
          <p:txBody>
            <a:bodyPr wrap="square" lIns="0" tIns="0" rIns="0" bIns="0" rtlCol="0"/>
            <a:lstStyle/>
            <a:p>
              <a:endParaRPr/>
            </a:p>
          </p:txBody>
        </p:sp>
        <p:sp>
          <p:nvSpPr>
            <p:cNvPr id="79" name="object 79"/>
            <p:cNvSpPr/>
            <p:nvPr/>
          </p:nvSpPr>
          <p:spPr>
            <a:xfrm>
              <a:off x="3121091" y="1081583"/>
              <a:ext cx="132715" cy="422275"/>
            </a:xfrm>
            <a:custGeom>
              <a:avLst/>
              <a:gdLst/>
              <a:ahLst/>
              <a:cxnLst/>
              <a:rect l="l" t="t" r="r" b="b"/>
              <a:pathLst>
                <a:path w="132714" h="422275">
                  <a:moveTo>
                    <a:pt x="0" y="421668"/>
                  </a:moveTo>
                  <a:lnTo>
                    <a:pt x="132622" y="421668"/>
                  </a:lnTo>
                  <a:lnTo>
                    <a:pt x="132622" y="0"/>
                  </a:lnTo>
                  <a:lnTo>
                    <a:pt x="0" y="0"/>
                  </a:lnTo>
                  <a:lnTo>
                    <a:pt x="0" y="421668"/>
                  </a:lnTo>
                  <a:close/>
                </a:path>
              </a:pathLst>
            </a:custGeom>
            <a:ln w="5270">
              <a:solidFill>
                <a:srgbClr val="231F20"/>
              </a:solidFill>
            </a:ln>
          </p:spPr>
          <p:txBody>
            <a:bodyPr wrap="square" lIns="0" tIns="0" rIns="0" bIns="0" rtlCol="0"/>
            <a:lstStyle/>
            <a:p>
              <a:endParaRPr/>
            </a:p>
          </p:txBody>
        </p:sp>
        <p:sp>
          <p:nvSpPr>
            <p:cNvPr id="80" name="object 80"/>
            <p:cNvSpPr/>
            <p:nvPr/>
          </p:nvSpPr>
          <p:spPr>
            <a:xfrm>
              <a:off x="3462852" y="1081583"/>
              <a:ext cx="132715" cy="422275"/>
            </a:xfrm>
            <a:custGeom>
              <a:avLst/>
              <a:gdLst/>
              <a:ahLst/>
              <a:cxnLst/>
              <a:rect l="l" t="t" r="r" b="b"/>
              <a:pathLst>
                <a:path w="132714" h="422275">
                  <a:moveTo>
                    <a:pt x="132619" y="0"/>
                  </a:moveTo>
                  <a:lnTo>
                    <a:pt x="0" y="0"/>
                  </a:lnTo>
                  <a:lnTo>
                    <a:pt x="0" y="421668"/>
                  </a:lnTo>
                  <a:lnTo>
                    <a:pt x="132619" y="421668"/>
                  </a:lnTo>
                  <a:lnTo>
                    <a:pt x="132619" y="0"/>
                  </a:lnTo>
                  <a:close/>
                </a:path>
              </a:pathLst>
            </a:custGeom>
            <a:solidFill>
              <a:srgbClr val="E6E7E8"/>
            </a:solidFill>
          </p:spPr>
          <p:txBody>
            <a:bodyPr wrap="square" lIns="0" tIns="0" rIns="0" bIns="0" rtlCol="0"/>
            <a:lstStyle/>
            <a:p>
              <a:endParaRPr/>
            </a:p>
          </p:txBody>
        </p:sp>
        <p:sp>
          <p:nvSpPr>
            <p:cNvPr id="81" name="object 81"/>
            <p:cNvSpPr/>
            <p:nvPr/>
          </p:nvSpPr>
          <p:spPr>
            <a:xfrm>
              <a:off x="3462852" y="1081583"/>
              <a:ext cx="132715" cy="422275"/>
            </a:xfrm>
            <a:custGeom>
              <a:avLst/>
              <a:gdLst/>
              <a:ahLst/>
              <a:cxnLst/>
              <a:rect l="l" t="t" r="r" b="b"/>
              <a:pathLst>
                <a:path w="132714" h="422275">
                  <a:moveTo>
                    <a:pt x="0" y="421668"/>
                  </a:moveTo>
                  <a:lnTo>
                    <a:pt x="132619" y="421668"/>
                  </a:lnTo>
                  <a:lnTo>
                    <a:pt x="132619" y="0"/>
                  </a:lnTo>
                  <a:lnTo>
                    <a:pt x="0" y="0"/>
                  </a:lnTo>
                  <a:lnTo>
                    <a:pt x="0" y="421668"/>
                  </a:lnTo>
                  <a:close/>
                </a:path>
              </a:pathLst>
            </a:custGeom>
            <a:ln w="5270">
              <a:solidFill>
                <a:srgbClr val="231F20"/>
              </a:solidFill>
            </a:ln>
          </p:spPr>
          <p:txBody>
            <a:bodyPr wrap="square" lIns="0" tIns="0" rIns="0" bIns="0" rtlCol="0"/>
            <a:lstStyle/>
            <a:p>
              <a:endParaRPr/>
            </a:p>
          </p:txBody>
        </p:sp>
        <p:pic>
          <p:nvPicPr>
            <p:cNvPr id="82" name="object 82"/>
            <p:cNvPicPr/>
            <p:nvPr/>
          </p:nvPicPr>
          <p:blipFill>
            <a:blip r:embed="rId7" cstate="print"/>
            <a:stretch>
              <a:fillRect/>
            </a:stretch>
          </p:blipFill>
          <p:spPr>
            <a:xfrm>
              <a:off x="3178635" y="1569745"/>
              <a:ext cx="362444" cy="214267"/>
            </a:xfrm>
            <a:prstGeom prst="rect">
              <a:avLst/>
            </a:prstGeom>
          </p:spPr>
        </p:pic>
      </p:grpSp>
      <p:sp>
        <p:nvSpPr>
          <p:cNvPr id="83" name="object 83"/>
          <p:cNvSpPr txBox="1"/>
          <p:nvPr/>
        </p:nvSpPr>
        <p:spPr>
          <a:xfrm>
            <a:off x="3170023" y="1580917"/>
            <a:ext cx="375285" cy="202565"/>
          </a:xfrm>
          <a:prstGeom prst="rect">
            <a:avLst/>
          </a:prstGeom>
        </p:spPr>
        <p:txBody>
          <a:bodyPr vert="vert" wrap="square" lIns="0" tIns="0" rIns="0" bIns="0" rtlCol="0">
            <a:spAutoFit/>
          </a:bodyPr>
          <a:lstStyle/>
          <a:p>
            <a:pPr marL="13335">
              <a:lnSpc>
                <a:spcPts val="585"/>
              </a:lnSpc>
            </a:pPr>
            <a:r>
              <a:rPr sz="500" spc="-5" dirty="0">
                <a:solidFill>
                  <a:srgbClr val="231F20"/>
                </a:solidFill>
                <a:latin typeface="Arial"/>
                <a:cs typeface="Arial"/>
              </a:rPr>
              <a:t>/proc</a:t>
            </a:r>
            <a:endParaRPr sz="500">
              <a:latin typeface="Arial"/>
              <a:cs typeface="Arial"/>
            </a:endParaRPr>
          </a:p>
          <a:p>
            <a:pPr marL="13335">
              <a:lnSpc>
                <a:spcPct val="100000"/>
              </a:lnSpc>
              <a:spcBef>
                <a:spcPts val="180"/>
              </a:spcBef>
            </a:pPr>
            <a:r>
              <a:rPr sz="500" dirty="0">
                <a:solidFill>
                  <a:srgbClr val="231F20"/>
                </a:solidFill>
                <a:latin typeface="Arial"/>
                <a:cs typeface="Arial"/>
              </a:rPr>
              <a:t>/home</a:t>
            </a:r>
            <a:endParaRPr sz="500">
              <a:latin typeface="Arial"/>
              <a:cs typeface="Arial"/>
            </a:endParaRPr>
          </a:p>
          <a:p>
            <a:pPr marL="12700">
              <a:lnSpc>
                <a:spcPct val="100000"/>
              </a:lnSpc>
              <a:spcBef>
                <a:spcPts val="140"/>
              </a:spcBef>
            </a:pPr>
            <a:r>
              <a:rPr sz="500" spc="-5" dirty="0">
                <a:solidFill>
                  <a:srgbClr val="231F20"/>
                </a:solidFill>
                <a:latin typeface="Arial"/>
                <a:cs typeface="Arial"/>
              </a:rPr>
              <a:t>/usr</a:t>
            </a:r>
            <a:endParaRPr sz="500">
              <a:latin typeface="Arial"/>
              <a:cs typeface="Arial"/>
            </a:endParaRPr>
          </a:p>
          <a:p>
            <a:pPr marL="13335">
              <a:lnSpc>
                <a:spcPct val="100000"/>
              </a:lnSpc>
              <a:spcBef>
                <a:spcPts val="135"/>
              </a:spcBef>
            </a:pPr>
            <a:r>
              <a:rPr sz="500" spc="-5" dirty="0">
                <a:solidFill>
                  <a:srgbClr val="231F20"/>
                </a:solidFill>
                <a:latin typeface="Arial"/>
                <a:cs typeface="Arial"/>
              </a:rPr>
              <a:t>/dev</a:t>
            </a:r>
            <a:endParaRPr sz="500">
              <a:latin typeface="Arial"/>
              <a:cs typeface="Arial"/>
            </a:endParaRPr>
          </a:p>
        </p:txBody>
      </p:sp>
      <p:sp>
        <p:nvSpPr>
          <p:cNvPr id="84" name="object 84"/>
          <p:cNvSpPr txBox="1"/>
          <p:nvPr/>
        </p:nvSpPr>
        <p:spPr>
          <a:xfrm>
            <a:off x="3121092" y="1503252"/>
            <a:ext cx="474980" cy="422275"/>
          </a:xfrm>
          <a:prstGeom prst="rect">
            <a:avLst/>
          </a:prstGeom>
          <a:ln w="5270">
            <a:solidFill>
              <a:srgbClr val="231F20"/>
            </a:solidFill>
          </a:ln>
        </p:spPr>
        <p:txBody>
          <a:bodyPr vert="horz" wrap="square" lIns="0" tIns="0" rIns="0" bIns="0" rtlCol="0">
            <a:spAutoFit/>
          </a:bodyPr>
          <a:lstStyle/>
          <a:p>
            <a:pPr>
              <a:lnSpc>
                <a:spcPct val="100000"/>
              </a:lnSpc>
            </a:pPr>
            <a:endParaRPr sz="600">
              <a:latin typeface="Times New Roman"/>
              <a:cs typeface="Times New Roman"/>
            </a:endParaRPr>
          </a:p>
          <a:p>
            <a:pPr>
              <a:lnSpc>
                <a:spcPct val="100000"/>
              </a:lnSpc>
            </a:pPr>
            <a:endParaRPr sz="600">
              <a:latin typeface="Times New Roman"/>
              <a:cs typeface="Times New Roman"/>
            </a:endParaRPr>
          </a:p>
          <a:p>
            <a:pPr>
              <a:lnSpc>
                <a:spcPct val="100000"/>
              </a:lnSpc>
              <a:spcBef>
                <a:spcPts val="5"/>
              </a:spcBef>
            </a:pPr>
            <a:endParaRPr sz="750">
              <a:latin typeface="Times New Roman"/>
              <a:cs typeface="Times New Roman"/>
            </a:endParaRPr>
          </a:p>
          <a:p>
            <a:pPr marL="105410">
              <a:lnSpc>
                <a:spcPct val="100000"/>
              </a:lnSpc>
            </a:pPr>
            <a:r>
              <a:rPr sz="650" spc="5" dirty="0">
                <a:solidFill>
                  <a:srgbClr val="231F20"/>
                </a:solidFill>
                <a:latin typeface="Arial"/>
                <a:cs typeface="Arial"/>
              </a:rPr>
              <a:t>Vserver</a:t>
            </a:r>
            <a:endParaRPr sz="650">
              <a:latin typeface="Arial"/>
              <a:cs typeface="Arial"/>
            </a:endParaRPr>
          </a:p>
        </p:txBody>
      </p:sp>
      <p:sp>
        <p:nvSpPr>
          <p:cNvPr id="85" name="object 85"/>
          <p:cNvSpPr txBox="1"/>
          <p:nvPr/>
        </p:nvSpPr>
        <p:spPr>
          <a:xfrm>
            <a:off x="3126132"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sp>
        <p:nvSpPr>
          <p:cNvPr id="86" name="object 86"/>
          <p:cNvSpPr txBox="1"/>
          <p:nvPr/>
        </p:nvSpPr>
        <p:spPr>
          <a:xfrm>
            <a:off x="3467883" y="1121589"/>
            <a:ext cx="109855" cy="330200"/>
          </a:xfrm>
          <a:prstGeom prst="rect">
            <a:avLst/>
          </a:prstGeom>
        </p:spPr>
        <p:txBody>
          <a:bodyPr vert="vert" wrap="square" lIns="0" tIns="0" rIns="0" bIns="0" rtlCol="0">
            <a:spAutoFit/>
          </a:bodyPr>
          <a:lstStyle/>
          <a:p>
            <a:pPr marL="12700">
              <a:lnSpc>
                <a:spcPts val="745"/>
              </a:lnSpc>
            </a:pPr>
            <a:r>
              <a:rPr sz="650" dirty="0">
                <a:solidFill>
                  <a:srgbClr val="231F20"/>
                </a:solidFill>
                <a:latin typeface="Arial"/>
                <a:cs typeface="Arial"/>
              </a:rPr>
              <a:t>Process</a:t>
            </a:r>
            <a:endParaRPr sz="650">
              <a:latin typeface="Arial"/>
              <a:cs typeface="Arial"/>
            </a:endParaRPr>
          </a:p>
        </p:txBody>
      </p:sp>
      <p:grpSp>
        <p:nvGrpSpPr>
          <p:cNvPr id="87" name="object 87"/>
          <p:cNvGrpSpPr/>
          <p:nvPr/>
        </p:nvGrpSpPr>
        <p:grpSpPr>
          <a:xfrm>
            <a:off x="3268676" y="1281876"/>
            <a:ext cx="179705" cy="21590"/>
            <a:chOff x="3268676" y="1281876"/>
            <a:chExt cx="179705" cy="21590"/>
          </a:xfrm>
        </p:grpSpPr>
        <p:sp>
          <p:nvSpPr>
            <p:cNvPr id="88" name="object 88"/>
            <p:cNvSpPr/>
            <p:nvPr/>
          </p:nvSpPr>
          <p:spPr>
            <a:xfrm>
              <a:off x="3271311" y="1284511"/>
              <a:ext cx="15875" cy="15875"/>
            </a:xfrm>
            <a:custGeom>
              <a:avLst/>
              <a:gdLst/>
              <a:ahLst/>
              <a:cxnLst/>
              <a:rect l="l" t="t" r="r" b="b"/>
              <a:pathLst>
                <a:path w="15875" h="15875">
                  <a:moveTo>
                    <a:pt x="12269" y="0"/>
                  </a:moveTo>
                  <a:lnTo>
                    <a:pt x="7905" y="0"/>
                  </a:lnTo>
                  <a:lnTo>
                    <a:pt x="3541" y="0"/>
                  </a:lnTo>
                  <a:lnTo>
                    <a:pt x="0" y="3541"/>
                  </a:lnTo>
                  <a:lnTo>
                    <a:pt x="0" y="12269"/>
                  </a:lnTo>
                  <a:lnTo>
                    <a:pt x="354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89" name="object 89"/>
            <p:cNvSpPr/>
            <p:nvPr/>
          </p:nvSpPr>
          <p:spPr>
            <a:xfrm>
              <a:off x="3271311"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90" name="object 90"/>
            <p:cNvSpPr/>
            <p:nvPr/>
          </p:nvSpPr>
          <p:spPr>
            <a:xfrm>
              <a:off x="3324016" y="1284511"/>
              <a:ext cx="15875" cy="15875"/>
            </a:xfrm>
            <a:custGeom>
              <a:avLst/>
              <a:gdLst/>
              <a:ahLst/>
              <a:cxnLst/>
              <a:rect l="l" t="t" r="r" b="b"/>
              <a:pathLst>
                <a:path w="15875" h="15875">
                  <a:moveTo>
                    <a:pt x="12280" y="0"/>
                  </a:moveTo>
                  <a:lnTo>
                    <a:pt x="7905" y="0"/>
                  </a:lnTo>
                  <a:lnTo>
                    <a:pt x="3541" y="0"/>
                  </a:lnTo>
                  <a:lnTo>
                    <a:pt x="0" y="3541"/>
                  </a:lnTo>
                  <a:lnTo>
                    <a:pt x="0" y="12269"/>
                  </a:lnTo>
                  <a:lnTo>
                    <a:pt x="3541" y="15811"/>
                  </a:lnTo>
                  <a:lnTo>
                    <a:pt x="12280" y="15811"/>
                  </a:lnTo>
                  <a:lnTo>
                    <a:pt x="15811" y="12269"/>
                  </a:lnTo>
                  <a:lnTo>
                    <a:pt x="15811" y="3541"/>
                  </a:lnTo>
                  <a:lnTo>
                    <a:pt x="12280" y="0"/>
                  </a:lnTo>
                  <a:close/>
                </a:path>
              </a:pathLst>
            </a:custGeom>
            <a:solidFill>
              <a:srgbClr val="231F20"/>
            </a:solidFill>
          </p:spPr>
          <p:txBody>
            <a:bodyPr wrap="square" lIns="0" tIns="0" rIns="0" bIns="0" rtlCol="0"/>
            <a:lstStyle/>
            <a:p>
              <a:endParaRPr/>
            </a:p>
          </p:txBody>
        </p:sp>
        <p:sp>
          <p:nvSpPr>
            <p:cNvPr id="91" name="object 91"/>
            <p:cNvSpPr/>
            <p:nvPr/>
          </p:nvSpPr>
          <p:spPr>
            <a:xfrm>
              <a:off x="3324016" y="1284511"/>
              <a:ext cx="15875" cy="15875"/>
            </a:xfrm>
            <a:custGeom>
              <a:avLst/>
              <a:gdLst/>
              <a:ahLst/>
              <a:cxnLst/>
              <a:rect l="l" t="t" r="r" b="b"/>
              <a:pathLst>
                <a:path w="15875" h="15875">
                  <a:moveTo>
                    <a:pt x="7905" y="0"/>
                  </a:moveTo>
                  <a:lnTo>
                    <a:pt x="12280" y="0"/>
                  </a:lnTo>
                  <a:lnTo>
                    <a:pt x="15811" y="3541"/>
                  </a:lnTo>
                  <a:lnTo>
                    <a:pt x="15811" y="7905"/>
                  </a:lnTo>
                  <a:lnTo>
                    <a:pt x="15811" y="12269"/>
                  </a:lnTo>
                  <a:lnTo>
                    <a:pt x="12280"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sp>
          <p:nvSpPr>
            <p:cNvPr id="92" name="object 92"/>
            <p:cNvSpPr/>
            <p:nvPr/>
          </p:nvSpPr>
          <p:spPr>
            <a:xfrm>
              <a:off x="3376732" y="1284511"/>
              <a:ext cx="15875" cy="15875"/>
            </a:xfrm>
            <a:custGeom>
              <a:avLst/>
              <a:gdLst/>
              <a:ahLst/>
              <a:cxnLst/>
              <a:rect l="l" t="t" r="r" b="b"/>
              <a:pathLst>
                <a:path w="15875" h="15875">
                  <a:moveTo>
                    <a:pt x="12269" y="0"/>
                  </a:moveTo>
                  <a:lnTo>
                    <a:pt x="7905" y="0"/>
                  </a:lnTo>
                  <a:lnTo>
                    <a:pt x="3531" y="0"/>
                  </a:lnTo>
                  <a:lnTo>
                    <a:pt x="0" y="3541"/>
                  </a:lnTo>
                  <a:lnTo>
                    <a:pt x="0" y="12269"/>
                  </a:lnTo>
                  <a:lnTo>
                    <a:pt x="353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93" name="object 93"/>
            <p:cNvSpPr/>
            <p:nvPr/>
          </p:nvSpPr>
          <p:spPr>
            <a:xfrm>
              <a:off x="3376732"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31" y="15811"/>
                  </a:lnTo>
                  <a:lnTo>
                    <a:pt x="0" y="12269"/>
                  </a:lnTo>
                  <a:lnTo>
                    <a:pt x="0" y="7905"/>
                  </a:lnTo>
                  <a:lnTo>
                    <a:pt x="0" y="3541"/>
                  </a:lnTo>
                  <a:lnTo>
                    <a:pt x="3531" y="0"/>
                  </a:lnTo>
                  <a:lnTo>
                    <a:pt x="7905" y="0"/>
                  </a:lnTo>
                  <a:close/>
                </a:path>
              </a:pathLst>
            </a:custGeom>
            <a:ln w="5270">
              <a:solidFill>
                <a:srgbClr val="231F20"/>
              </a:solidFill>
            </a:ln>
          </p:spPr>
          <p:txBody>
            <a:bodyPr wrap="square" lIns="0" tIns="0" rIns="0" bIns="0" rtlCol="0"/>
            <a:lstStyle/>
            <a:p>
              <a:endParaRPr/>
            </a:p>
          </p:txBody>
        </p:sp>
        <p:sp>
          <p:nvSpPr>
            <p:cNvPr id="94" name="object 94"/>
            <p:cNvSpPr/>
            <p:nvPr/>
          </p:nvSpPr>
          <p:spPr>
            <a:xfrm>
              <a:off x="3429437" y="1284511"/>
              <a:ext cx="15875" cy="15875"/>
            </a:xfrm>
            <a:custGeom>
              <a:avLst/>
              <a:gdLst/>
              <a:ahLst/>
              <a:cxnLst/>
              <a:rect l="l" t="t" r="r" b="b"/>
              <a:pathLst>
                <a:path w="15875" h="15875">
                  <a:moveTo>
                    <a:pt x="12269" y="0"/>
                  </a:moveTo>
                  <a:lnTo>
                    <a:pt x="7905" y="0"/>
                  </a:lnTo>
                  <a:lnTo>
                    <a:pt x="3541" y="0"/>
                  </a:lnTo>
                  <a:lnTo>
                    <a:pt x="0" y="3541"/>
                  </a:lnTo>
                  <a:lnTo>
                    <a:pt x="0" y="12269"/>
                  </a:lnTo>
                  <a:lnTo>
                    <a:pt x="3541" y="15811"/>
                  </a:lnTo>
                  <a:lnTo>
                    <a:pt x="12269" y="15811"/>
                  </a:lnTo>
                  <a:lnTo>
                    <a:pt x="15811" y="12269"/>
                  </a:lnTo>
                  <a:lnTo>
                    <a:pt x="15811" y="3541"/>
                  </a:lnTo>
                  <a:lnTo>
                    <a:pt x="12269" y="0"/>
                  </a:lnTo>
                  <a:close/>
                </a:path>
              </a:pathLst>
            </a:custGeom>
            <a:solidFill>
              <a:srgbClr val="231F20"/>
            </a:solidFill>
          </p:spPr>
          <p:txBody>
            <a:bodyPr wrap="square" lIns="0" tIns="0" rIns="0" bIns="0" rtlCol="0"/>
            <a:lstStyle/>
            <a:p>
              <a:endParaRPr/>
            </a:p>
          </p:txBody>
        </p:sp>
        <p:sp>
          <p:nvSpPr>
            <p:cNvPr id="95" name="object 95"/>
            <p:cNvSpPr/>
            <p:nvPr/>
          </p:nvSpPr>
          <p:spPr>
            <a:xfrm>
              <a:off x="3429437" y="1284511"/>
              <a:ext cx="15875" cy="15875"/>
            </a:xfrm>
            <a:custGeom>
              <a:avLst/>
              <a:gdLst/>
              <a:ahLst/>
              <a:cxnLst/>
              <a:rect l="l" t="t" r="r" b="b"/>
              <a:pathLst>
                <a:path w="15875" h="15875">
                  <a:moveTo>
                    <a:pt x="7905" y="0"/>
                  </a:moveTo>
                  <a:lnTo>
                    <a:pt x="12269" y="0"/>
                  </a:lnTo>
                  <a:lnTo>
                    <a:pt x="15811" y="3541"/>
                  </a:lnTo>
                  <a:lnTo>
                    <a:pt x="15811" y="7905"/>
                  </a:lnTo>
                  <a:lnTo>
                    <a:pt x="15811" y="12269"/>
                  </a:lnTo>
                  <a:lnTo>
                    <a:pt x="12269" y="15811"/>
                  </a:lnTo>
                  <a:lnTo>
                    <a:pt x="7905" y="15811"/>
                  </a:lnTo>
                  <a:lnTo>
                    <a:pt x="3541" y="15811"/>
                  </a:lnTo>
                  <a:lnTo>
                    <a:pt x="0" y="12269"/>
                  </a:lnTo>
                  <a:lnTo>
                    <a:pt x="0" y="7905"/>
                  </a:lnTo>
                  <a:lnTo>
                    <a:pt x="0" y="3541"/>
                  </a:lnTo>
                  <a:lnTo>
                    <a:pt x="3541" y="0"/>
                  </a:lnTo>
                  <a:lnTo>
                    <a:pt x="7905" y="0"/>
                  </a:lnTo>
                  <a:close/>
                </a:path>
              </a:pathLst>
            </a:custGeom>
            <a:ln w="5270">
              <a:solidFill>
                <a:srgbClr val="231F20"/>
              </a:solidFill>
            </a:ln>
          </p:spPr>
          <p:txBody>
            <a:bodyPr wrap="square" lIns="0" tIns="0" rIns="0" bIns="0" rtlCol="0"/>
            <a:lstStyle/>
            <a:p>
              <a:endParaRPr/>
            </a:p>
          </p:txBody>
        </p:sp>
      </p:grpSp>
      <p:sp>
        <p:nvSpPr>
          <p:cNvPr id="96" name="object 96"/>
          <p:cNvSpPr txBox="1"/>
          <p:nvPr/>
        </p:nvSpPr>
        <p:spPr>
          <a:xfrm>
            <a:off x="1012760" y="2135752"/>
            <a:ext cx="2583180" cy="211454"/>
          </a:xfrm>
          <a:prstGeom prst="rect">
            <a:avLst/>
          </a:prstGeom>
          <a:solidFill>
            <a:srgbClr val="A7A9AC"/>
          </a:solidFill>
          <a:ln w="5270">
            <a:solidFill>
              <a:srgbClr val="231F20"/>
            </a:solidFill>
          </a:ln>
        </p:spPr>
        <p:txBody>
          <a:bodyPr vert="horz" wrap="square" lIns="0" tIns="52069" rIns="0" bIns="0" rtlCol="0">
            <a:spAutoFit/>
          </a:bodyPr>
          <a:lstStyle/>
          <a:p>
            <a:pPr algn="ctr">
              <a:lnSpc>
                <a:spcPct val="100000"/>
              </a:lnSpc>
              <a:spcBef>
                <a:spcPts val="409"/>
              </a:spcBef>
            </a:pPr>
            <a:r>
              <a:rPr sz="650" spc="5" dirty="0">
                <a:solidFill>
                  <a:srgbClr val="231F20"/>
                </a:solidFill>
                <a:latin typeface="Arial"/>
                <a:cs typeface="Arial"/>
              </a:rPr>
              <a:t>Hardware</a:t>
            </a:r>
            <a:endParaRPr sz="650">
              <a:latin typeface="Arial"/>
              <a:cs typeface="Arial"/>
            </a:endParaRPr>
          </a:p>
        </p:txBody>
      </p:sp>
      <p:sp>
        <p:nvSpPr>
          <p:cNvPr id="99" name="object 99"/>
          <p:cNvSpPr txBox="1"/>
          <p:nvPr/>
        </p:nvSpPr>
        <p:spPr>
          <a:xfrm>
            <a:off x="66713" y="3331252"/>
            <a:ext cx="7943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8" action="ppaction://hlinksldjump"/>
              </a:rPr>
              <a:t>Case</a:t>
            </a:r>
            <a:r>
              <a:rPr sz="600" spc="-15"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study:</a:t>
            </a:r>
            <a:r>
              <a:rPr sz="600" spc="20" dirty="0">
                <a:solidFill>
                  <a:srgbClr val="3333B2"/>
                </a:solidFill>
                <a:latin typeface="Arial"/>
                <a:cs typeface="Arial"/>
                <a:hlinkClick r:id="rId8" action="ppaction://hlinksldjump"/>
              </a:rPr>
              <a:t> </a:t>
            </a:r>
            <a:r>
              <a:rPr sz="600" spc="-5" dirty="0">
                <a:solidFill>
                  <a:srgbClr val="3333B2"/>
                </a:solidFill>
                <a:latin typeface="Arial"/>
                <a:cs typeface="Arial"/>
                <a:hlinkClick r:id="rId8" action="ppaction://hlinksldjump"/>
              </a:rPr>
              <a:t>PlanetLab</a:t>
            </a:r>
            <a:endParaRPr sz="600">
              <a:latin typeface="Arial"/>
              <a:cs typeface="Arial"/>
            </a:endParaRPr>
          </a:p>
        </p:txBody>
      </p:sp>
      <p:sp>
        <p:nvSpPr>
          <p:cNvPr id="100" name="object 100"/>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39</a:t>
            </a:r>
            <a:r>
              <a:rPr spc="-40" dirty="0"/>
              <a:t> </a:t>
            </a:r>
            <a:r>
              <a:rPr spc="-5" dirty="0"/>
              <a:t>/</a:t>
            </a:r>
            <a:r>
              <a:rPr spc="-35" dirty="0"/>
              <a:t> </a:t>
            </a:r>
            <a:r>
              <a:rPr spc="-5" dirty="0"/>
              <a:t>47</a:t>
            </a:r>
          </a:p>
        </p:txBody>
      </p:sp>
      <p:sp>
        <p:nvSpPr>
          <p:cNvPr id="97" name="object 97"/>
          <p:cNvSpPr txBox="1"/>
          <p:nvPr/>
        </p:nvSpPr>
        <p:spPr>
          <a:xfrm>
            <a:off x="1012760" y="1924916"/>
            <a:ext cx="2583180" cy="211454"/>
          </a:xfrm>
          <a:prstGeom prst="rect">
            <a:avLst/>
          </a:prstGeom>
          <a:solidFill>
            <a:srgbClr val="D1D3D4"/>
          </a:solidFill>
          <a:ln w="5270">
            <a:solidFill>
              <a:srgbClr val="231F20"/>
            </a:solidFill>
          </a:ln>
        </p:spPr>
        <p:txBody>
          <a:bodyPr vert="horz" wrap="square" lIns="0" tIns="57785" rIns="0" bIns="0" rtlCol="0">
            <a:spAutoFit/>
          </a:bodyPr>
          <a:lstStyle/>
          <a:p>
            <a:pPr marL="678815">
              <a:lnSpc>
                <a:spcPct val="100000"/>
              </a:lnSpc>
              <a:spcBef>
                <a:spcPts val="455"/>
              </a:spcBef>
            </a:pPr>
            <a:r>
              <a:rPr sz="650" spc="5" dirty="0">
                <a:solidFill>
                  <a:srgbClr val="231F20"/>
                </a:solidFill>
                <a:latin typeface="Arial"/>
                <a:cs typeface="Arial"/>
              </a:rPr>
              <a:t>Linux</a:t>
            </a:r>
            <a:r>
              <a:rPr sz="650" spc="-15" dirty="0">
                <a:solidFill>
                  <a:srgbClr val="231F20"/>
                </a:solidFill>
                <a:latin typeface="Arial"/>
                <a:cs typeface="Arial"/>
              </a:rPr>
              <a:t> </a:t>
            </a:r>
            <a:r>
              <a:rPr sz="650" spc="5" dirty="0">
                <a:solidFill>
                  <a:srgbClr val="231F20"/>
                </a:solidFill>
                <a:latin typeface="Arial"/>
                <a:cs typeface="Arial"/>
              </a:rPr>
              <a:t>enhanced</a:t>
            </a:r>
            <a:r>
              <a:rPr sz="650" spc="-10" dirty="0">
                <a:solidFill>
                  <a:srgbClr val="231F20"/>
                </a:solidFill>
                <a:latin typeface="Arial"/>
                <a:cs typeface="Arial"/>
              </a:rPr>
              <a:t> </a:t>
            </a:r>
            <a:r>
              <a:rPr sz="650" spc="5" dirty="0">
                <a:solidFill>
                  <a:srgbClr val="231F20"/>
                </a:solidFill>
                <a:latin typeface="Arial"/>
                <a:cs typeface="Arial"/>
              </a:rPr>
              <a:t>operating</a:t>
            </a:r>
            <a:r>
              <a:rPr sz="650" spc="-10" dirty="0">
                <a:solidFill>
                  <a:srgbClr val="231F20"/>
                </a:solidFill>
                <a:latin typeface="Arial"/>
                <a:cs typeface="Arial"/>
              </a:rPr>
              <a:t> </a:t>
            </a:r>
            <a:r>
              <a:rPr sz="650" spc="5" dirty="0">
                <a:solidFill>
                  <a:srgbClr val="231F20"/>
                </a:solidFill>
                <a:latin typeface="Arial"/>
                <a:cs typeface="Arial"/>
              </a:rPr>
              <a:t>system</a:t>
            </a:r>
            <a:endParaRPr sz="650">
              <a:latin typeface="Arial"/>
              <a:cs typeface="Arial"/>
            </a:endParaRPr>
          </a:p>
        </p:txBody>
      </p:sp>
      <p:sp>
        <p:nvSpPr>
          <p:cNvPr id="98" name="object 98"/>
          <p:cNvSpPr txBox="1"/>
          <p:nvPr/>
        </p:nvSpPr>
        <p:spPr>
          <a:xfrm>
            <a:off x="342290" y="2572547"/>
            <a:ext cx="3918585" cy="657225"/>
          </a:xfrm>
          <a:prstGeom prst="rect">
            <a:avLst/>
          </a:prstGeom>
        </p:spPr>
        <p:txBody>
          <a:bodyPr vert="horz" wrap="square" lIns="0" tIns="12065" rIns="0" bIns="0" rtlCol="0">
            <a:spAutoFit/>
          </a:bodyPr>
          <a:lstStyle/>
          <a:p>
            <a:pPr marL="12700">
              <a:lnSpc>
                <a:spcPts val="1410"/>
              </a:lnSpc>
              <a:spcBef>
                <a:spcPts val="95"/>
              </a:spcBef>
            </a:pPr>
            <a:r>
              <a:rPr sz="1200" spc="-5" dirty="0">
                <a:solidFill>
                  <a:srgbClr val="3333B2"/>
                </a:solidFill>
                <a:latin typeface="Arial"/>
                <a:cs typeface="Arial"/>
              </a:rPr>
              <a:t>Vserver</a:t>
            </a:r>
            <a:endParaRPr sz="1200">
              <a:latin typeface="Arial"/>
              <a:cs typeface="Arial"/>
            </a:endParaRPr>
          </a:p>
          <a:p>
            <a:pPr marL="13970" marR="5080" indent="2540">
              <a:lnSpc>
                <a:spcPts val="1200"/>
              </a:lnSpc>
              <a:spcBef>
                <a:spcPts val="10"/>
              </a:spcBef>
            </a:pPr>
            <a:r>
              <a:rPr sz="1000" spc="-5" dirty="0">
                <a:latin typeface="Arial"/>
                <a:cs typeface="Arial"/>
              </a:rPr>
              <a:t>Independent</a:t>
            </a:r>
            <a:r>
              <a:rPr sz="1000" dirty="0">
                <a:latin typeface="Arial"/>
                <a:cs typeface="Arial"/>
              </a:rPr>
              <a:t> </a:t>
            </a:r>
            <a:r>
              <a:rPr sz="1000" spc="-5" dirty="0">
                <a:latin typeface="Arial"/>
                <a:cs typeface="Arial"/>
              </a:rPr>
              <a:t>and</a:t>
            </a:r>
            <a:r>
              <a:rPr sz="1000" dirty="0">
                <a:latin typeface="Arial"/>
                <a:cs typeface="Arial"/>
              </a:rPr>
              <a:t> </a:t>
            </a:r>
            <a:r>
              <a:rPr sz="1000" spc="-5" dirty="0">
                <a:latin typeface="Arial"/>
                <a:cs typeface="Arial"/>
              </a:rPr>
              <a:t>protected</a:t>
            </a:r>
            <a:r>
              <a:rPr sz="1000" dirty="0">
                <a:latin typeface="Arial"/>
                <a:cs typeface="Arial"/>
              </a:rPr>
              <a:t> </a:t>
            </a:r>
            <a:r>
              <a:rPr sz="1000" spc="-5" dirty="0">
                <a:latin typeface="Arial"/>
                <a:cs typeface="Arial"/>
              </a:rPr>
              <a:t>environment</a:t>
            </a:r>
            <a:r>
              <a:rPr sz="1000" dirty="0">
                <a:latin typeface="Arial"/>
                <a:cs typeface="Arial"/>
              </a:rPr>
              <a:t> </a:t>
            </a:r>
            <a:r>
              <a:rPr sz="1000" spc="-5" dirty="0">
                <a:latin typeface="Arial"/>
                <a:cs typeface="Arial"/>
              </a:rPr>
              <a:t>with</a:t>
            </a:r>
            <a:r>
              <a:rPr sz="1000" dirty="0">
                <a:latin typeface="Arial"/>
                <a:cs typeface="Arial"/>
              </a:rPr>
              <a:t> </a:t>
            </a:r>
            <a:r>
              <a:rPr sz="1000" spc="-5" dirty="0">
                <a:latin typeface="Arial"/>
                <a:cs typeface="Arial"/>
              </a:rPr>
              <a:t>its</a:t>
            </a:r>
            <a:r>
              <a:rPr sz="1000" dirty="0">
                <a:latin typeface="Arial"/>
                <a:cs typeface="Arial"/>
              </a:rPr>
              <a:t> </a:t>
            </a:r>
            <a:r>
              <a:rPr sz="1000" spc="-10" dirty="0">
                <a:latin typeface="Arial"/>
                <a:cs typeface="Arial"/>
              </a:rPr>
              <a:t>own</a:t>
            </a:r>
            <a:r>
              <a:rPr sz="1000" dirty="0">
                <a:latin typeface="Arial"/>
                <a:cs typeface="Arial"/>
              </a:rPr>
              <a:t> </a:t>
            </a:r>
            <a:r>
              <a:rPr sz="1000" spc="-5" dirty="0">
                <a:latin typeface="Arial"/>
                <a:cs typeface="Arial"/>
              </a:rPr>
              <a:t>libraries,</a:t>
            </a:r>
            <a:r>
              <a:rPr sz="1000" dirty="0">
                <a:latin typeface="Arial"/>
                <a:cs typeface="Arial"/>
              </a:rPr>
              <a:t> </a:t>
            </a:r>
            <a:r>
              <a:rPr sz="1000" spc="-5" dirty="0">
                <a:latin typeface="Arial"/>
                <a:cs typeface="Arial"/>
              </a:rPr>
              <a:t>server </a:t>
            </a:r>
            <a:r>
              <a:rPr sz="1000" dirty="0">
                <a:latin typeface="Arial"/>
                <a:cs typeface="Arial"/>
              </a:rPr>
              <a:t> </a:t>
            </a:r>
            <a:r>
              <a:rPr sz="1000" spc="-10" dirty="0">
                <a:latin typeface="Arial"/>
                <a:cs typeface="Arial"/>
              </a:rPr>
              <a:t>versions, </a:t>
            </a:r>
            <a:r>
              <a:rPr sz="1000" spc="-5" dirty="0">
                <a:latin typeface="Arial"/>
                <a:cs typeface="Arial"/>
              </a:rPr>
              <a:t>and so</a:t>
            </a:r>
            <a:r>
              <a:rPr sz="1000" spc="-10" dirty="0">
                <a:latin typeface="Arial"/>
                <a:cs typeface="Arial"/>
              </a:rPr>
              <a:t> </a:t>
            </a:r>
            <a:r>
              <a:rPr sz="1000" spc="-5" dirty="0">
                <a:latin typeface="Arial"/>
                <a:cs typeface="Arial"/>
              </a:rPr>
              <a:t>on.</a:t>
            </a:r>
            <a:r>
              <a:rPr sz="1000" spc="60" dirty="0">
                <a:latin typeface="Arial"/>
                <a:cs typeface="Arial"/>
              </a:rPr>
              <a:t> </a:t>
            </a:r>
            <a:r>
              <a:rPr sz="1000" spc="-5" dirty="0">
                <a:latin typeface="Arial"/>
                <a:cs typeface="Arial"/>
              </a:rPr>
              <a:t>Distributed</a:t>
            </a:r>
            <a:r>
              <a:rPr sz="1000" spc="-10" dirty="0">
                <a:latin typeface="Arial"/>
                <a:cs typeface="Arial"/>
              </a:rPr>
              <a:t> </a:t>
            </a:r>
            <a:r>
              <a:rPr sz="1000" spc="-5" dirty="0">
                <a:latin typeface="Arial"/>
                <a:cs typeface="Arial"/>
              </a:rPr>
              <a:t>applications are</a:t>
            </a:r>
            <a:r>
              <a:rPr sz="1000" dirty="0">
                <a:latin typeface="Arial"/>
                <a:cs typeface="Arial"/>
              </a:rPr>
              <a:t> </a:t>
            </a:r>
            <a:r>
              <a:rPr sz="1000" spc="-5" dirty="0">
                <a:latin typeface="Arial"/>
                <a:cs typeface="Arial"/>
              </a:rPr>
              <a:t>assigned</a:t>
            </a:r>
            <a:r>
              <a:rPr sz="1000" spc="-10" dirty="0">
                <a:latin typeface="Arial"/>
                <a:cs typeface="Arial"/>
              </a:rPr>
              <a:t> </a:t>
            </a:r>
            <a:r>
              <a:rPr sz="1000" spc="-5" dirty="0">
                <a:latin typeface="Arial"/>
                <a:cs typeface="Arial"/>
              </a:rPr>
              <a:t>a </a:t>
            </a:r>
            <a:r>
              <a:rPr sz="1000" spc="-5" dirty="0">
                <a:solidFill>
                  <a:srgbClr val="0000FA"/>
                </a:solidFill>
                <a:latin typeface="Arial"/>
                <a:cs typeface="Arial"/>
              </a:rPr>
              <a:t>collection </a:t>
            </a:r>
            <a:r>
              <a:rPr sz="1000" spc="-265" dirty="0">
                <a:solidFill>
                  <a:srgbClr val="0000FA"/>
                </a:solidFill>
                <a:latin typeface="Arial"/>
                <a:cs typeface="Arial"/>
              </a:rPr>
              <a:t> </a:t>
            </a:r>
            <a:r>
              <a:rPr sz="1000" spc="-5" dirty="0">
                <a:solidFill>
                  <a:srgbClr val="0000FA"/>
                </a:solidFill>
                <a:latin typeface="Arial"/>
                <a:cs typeface="Arial"/>
              </a:rPr>
              <a:t>of vservers </a:t>
            </a:r>
            <a:r>
              <a:rPr sz="1000" spc="-5" dirty="0">
                <a:solidFill>
                  <a:srgbClr val="FA0000"/>
                </a:solidFill>
                <a:latin typeface="Arial"/>
                <a:cs typeface="Arial"/>
              </a:rPr>
              <a:t>distributed across multiple machines</a:t>
            </a:r>
            <a:endParaRPr sz="1000">
              <a:latin typeface="Arial"/>
              <a:cs typeface="Arial"/>
            </a:endParaRPr>
          </a:p>
        </p:txBody>
      </p:sp>
    </p:spTree>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954779" algn="l"/>
              </a:tabLst>
            </a:pPr>
            <a:r>
              <a:rPr sz="600" spc="-5" dirty="0">
                <a:solidFill>
                  <a:srgbClr val="3333B2"/>
                </a:solidFill>
                <a:latin typeface="Arial"/>
                <a:cs typeface="Arial"/>
                <a:hlinkClick r:id="rId3" action="ppaction://hlinksldjump"/>
              </a:rPr>
              <a:t>Processes:</a:t>
            </a:r>
            <a:r>
              <a:rPr sz="600" spc="170" dirty="0">
                <a:solidFill>
                  <a:srgbClr val="3333B2"/>
                </a:solidFill>
                <a:latin typeface="Arial"/>
                <a:cs typeface="Arial"/>
              </a:rPr>
              <a:t> </a:t>
            </a:r>
            <a:r>
              <a:rPr sz="600" spc="-5" dirty="0">
                <a:solidFill>
                  <a:srgbClr val="3333B2"/>
                </a:solidFill>
                <a:latin typeface="Arial"/>
                <a:cs typeface="Arial"/>
                <a:hlinkClick r:id="rId4" action="ppaction://hlinksldjump"/>
              </a:rPr>
              <a:t>Servers</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Server</a:t>
            </a:r>
            <a:r>
              <a:rPr sz="600" spc="-3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clusters</a:t>
            </a:r>
            <a:endParaRPr sz="600">
              <a:latin typeface="Arial"/>
              <a:cs typeface="Arial"/>
            </a:endParaRPr>
          </a:p>
        </p:txBody>
      </p:sp>
      <p:sp>
        <p:nvSpPr>
          <p:cNvPr id="3" name="object 3"/>
          <p:cNvSpPr txBox="1">
            <a:spLocks noGrp="1"/>
          </p:cNvSpPr>
          <p:nvPr>
            <p:ph type="title"/>
          </p:nvPr>
        </p:nvSpPr>
        <p:spPr>
          <a:xfrm>
            <a:off x="95300" y="188846"/>
            <a:ext cx="2507615" cy="244475"/>
          </a:xfrm>
          <a:prstGeom prst="rect">
            <a:avLst/>
          </a:prstGeom>
        </p:spPr>
        <p:txBody>
          <a:bodyPr vert="horz" wrap="square" lIns="0" tIns="17145" rIns="0" bIns="0" rtlCol="0">
            <a:spAutoFit/>
          </a:bodyPr>
          <a:lstStyle/>
          <a:p>
            <a:pPr marL="12700">
              <a:lnSpc>
                <a:spcPct val="100000"/>
              </a:lnSpc>
              <a:spcBef>
                <a:spcPts val="135"/>
              </a:spcBef>
            </a:pPr>
            <a:r>
              <a:rPr spc="15" dirty="0"/>
              <a:t>PlanetLab</a:t>
            </a:r>
            <a:r>
              <a:rPr spc="-5" dirty="0"/>
              <a:t> </a:t>
            </a:r>
            <a:r>
              <a:rPr spc="15" dirty="0"/>
              <a:t>VServers</a:t>
            </a:r>
            <a:r>
              <a:rPr dirty="0"/>
              <a:t> </a:t>
            </a:r>
            <a:r>
              <a:rPr spc="15" dirty="0"/>
              <a:t>and</a:t>
            </a:r>
            <a:r>
              <a:rPr dirty="0"/>
              <a:t> </a:t>
            </a:r>
            <a:r>
              <a:rPr spc="10" dirty="0"/>
              <a:t>slices</a:t>
            </a:r>
          </a:p>
        </p:txBody>
      </p:sp>
      <p:grpSp>
        <p:nvGrpSpPr>
          <p:cNvPr id="4" name="object 4"/>
          <p:cNvGrpSpPr/>
          <p:nvPr/>
        </p:nvGrpSpPr>
        <p:grpSpPr>
          <a:xfrm>
            <a:off x="1770683" y="2195907"/>
            <a:ext cx="1664335" cy="927735"/>
            <a:chOff x="1770683" y="2195907"/>
            <a:chExt cx="1664335" cy="927735"/>
          </a:xfrm>
        </p:grpSpPr>
        <p:sp>
          <p:nvSpPr>
            <p:cNvPr id="5" name="object 5"/>
            <p:cNvSpPr/>
            <p:nvPr/>
          </p:nvSpPr>
          <p:spPr>
            <a:xfrm>
              <a:off x="3224923" y="2684886"/>
              <a:ext cx="178435" cy="178435"/>
            </a:xfrm>
            <a:custGeom>
              <a:avLst/>
              <a:gdLst/>
              <a:ahLst/>
              <a:cxnLst/>
              <a:rect l="l" t="t" r="r" b="b"/>
              <a:pathLst>
                <a:path w="178435" h="178435">
                  <a:moveTo>
                    <a:pt x="25400" y="0"/>
                  </a:moveTo>
                  <a:lnTo>
                    <a:pt x="152412" y="0"/>
                  </a:lnTo>
                  <a:lnTo>
                    <a:pt x="162275" y="2005"/>
                  </a:lnTo>
                  <a:lnTo>
                    <a:pt x="170351" y="7463"/>
                  </a:lnTo>
                  <a:lnTo>
                    <a:pt x="175808" y="15541"/>
                  </a:lnTo>
                  <a:lnTo>
                    <a:pt x="177812" y="25405"/>
                  </a:lnTo>
                  <a:lnTo>
                    <a:pt x="177812" y="152415"/>
                  </a:lnTo>
                  <a:lnTo>
                    <a:pt x="175808" y="162277"/>
                  </a:lnTo>
                  <a:lnTo>
                    <a:pt x="170351" y="170353"/>
                  </a:lnTo>
                  <a:lnTo>
                    <a:pt x="162275" y="175811"/>
                  </a:lnTo>
                  <a:lnTo>
                    <a:pt x="152412" y="177815"/>
                  </a:lnTo>
                  <a:lnTo>
                    <a:pt x="25400" y="177815"/>
                  </a:lnTo>
                  <a:lnTo>
                    <a:pt x="15537" y="175811"/>
                  </a:lnTo>
                  <a:lnTo>
                    <a:pt x="7461" y="170353"/>
                  </a:lnTo>
                  <a:lnTo>
                    <a:pt x="2004" y="162277"/>
                  </a:lnTo>
                  <a:lnTo>
                    <a:pt x="0" y="152415"/>
                  </a:lnTo>
                  <a:lnTo>
                    <a:pt x="0" y="25405"/>
                  </a:lnTo>
                  <a:lnTo>
                    <a:pt x="2004" y="15541"/>
                  </a:lnTo>
                  <a:lnTo>
                    <a:pt x="7461" y="7463"/>
                  </a:lnTo>
                  <a:lnTo>
                    <a:pt x="15537" y="2005"/>
                  </a:lnTo>
                  <a:lnTo>
                    <a:pt x="25400" y="0"/>
                  </a:lnTo>
                  <a:close/>
                </a:path>
              </a:pathLst>
            </a:custGeom>
            <a:ln w="6350">
              <a:solidFill>
                <a:srgbClr val="231F20"/>
              </a:solidFill>
            </a:ln>
          </p:spPr>
          <p:txBody>
            <a:bodyPr wrap="square" lIns="0" tIns="0" rIns="0" bIns="0" rtlCol="0"/>
            <a:lstStyle/>
            <a:p>
              <a:endParaRPr/>
            </a:p>
          </p:txBody>
        </p:sp>
        <p:pic>
          <p:nvPicPr>
            <p:cNvPr id="6" name="object 6"/>
            <p:cNvPicPr/>
            <p:nvPr/>
          </p:nvPicPr>
          <p:blipFill>
            <a:blip r:embed="rId6" cstate="print"/>
            <a:stretch>
              <a:fillRect/>
            </a:stretch>
          </p:blipFill>
          <p:spPr>
            <a:xfrm>
              <a:off x="3250323" y="2710291"/>
              <a:ext cx="127010" cy="127010"/>
            </a:xfrm>
            <a:prstGeom prst="rect">
              <a:avLst/>
            </a:prstGeom>
          </p:spPr>
        </p:pic>
        <p:sp>
          <p:nvSpPr>
            <p:cNvPr id="7" name="object 7"/>
            <p:cNvSpPr/>
            <p:nvPr/>
          </p:nvSpPr>
          <p:spPr>
            <a:xfrm>
              <a:off x="3250323" y="2710291"/>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8" name="object 8"/>
            <p:cNvSpPr/>
            <p:nvPr/>
          </p:nvSpPr>
          <p:spPr>
            <a:xfrm>
              <a:off x="1777033" y="2202257"/>
              <a:ext cx="1651635" cy="915035"/>
            </a:xfrm>
            <a:custGeom>
              <a:avLst/>
              <a:gdLst/>
              <a:ahLst/>
              <a:cxnLst/>
              <a:rect l="l" t="t" r="r" b="b"/>
              <a:pathLst>
                <a:path w="1651635" h="915035">
                  <a:moveTo>
                    <a:pt x="1473290" y="0"/>
                  </a:moveTo>
                  <a:lnTo>
                    <a:pt x="1600302" y="0"/>
                  </a:lnTo>
                  <a:lnTo>
                    <a:pt x="1620027" y="4009"/>
                  </a:lnTo>
                  <a:lnTo>
                    <a:pt x="1636180" y="14925"/>
                  </a:lnTo>
                  <a:lnTo>
                    <a:pt x="1647094" y="31079"/>
                  </a:lnTo>
                  <a:lnTo>
                    <a:pt x="1651102" y="50805"/>
                  </a:lnTo>
                  <a:lnTo>
                    <a:pt x="1651102" y="863654"/>
                  </a:lnTo>
                  <a:lnTo>
                    <a:pt x="1647094" y="883381"/>
                  </a:lnTo>
                  <a:lnTo>
                    <a:pt x="1636180" y="899536"/>
                  </a:lnTo>
                  <a:lnTo>
                    <a:pt x="1620027" y="910450"/>
                  </a:lnTo>
                  <a:lnTo>
                    <a:pt x="1600302" y="914459"/>
                  </a:lnTo>
                  <a:lnTo>
                    <a:pt x="1473290" y="914459"/>
                  </a:lnTo>
                  <a:lnTo>
                    <a:pt x="1453565" y="910450"/>
                  </a:lnTo>
                  <a:lnTo>
                    <a:pt x="1437412" y="899536"/>
                  </a:lnTo>
                  <a:lnTo>
                    <a:pt x="1426498" y="883381"/>
                  </a:lnTo>
                  <a:lnTo>
                    <a:pt x="1422490" y="863654"/>
                  </a:lnTo>
                  <a:lnTo>
                    <a:pt x="1422490" y="50805"/>
                  </a:lnTo>
                  <a:lnTo>
                    <a:pt x="1426498" y="31079"/>
                  </a:lnTo>
                  <a:lnTo>
                    <a:pt x="1437412" y="14925"/>
                  </a:lnTo>
                  <a:lnTo>
                    <a:pt x="1453565" y="4009"/>
                  </a:lnTo>
                  <a:lnTo>
                    <a:pt x="1473290" y="0"/>
                  </a:lnTo>
                  <a:close/>
                </a:path>
                <a:path w="1651635" h="915035">
                  <a:moveTo>
                    <a:pt x="762052" y="0"/>
                  </a:moveTo>
                  <a:lnTo>
                    <a:pt x="889064" y="0"/>
                  </a:lnTo>
                  <a:lnTo>
                    <a:pt x="908789" y="4009"/>
                  </a:lnTo>
                  <a:lnTo>
                    <a:pt x="924942" y="14925"/>
                  </a:lnTo>
                  <a:lnTo>
                    <a:pt x="935856" y="31079"/>
                  </a:lnTo>
                  <a:lnTo>
                    <a:pt x="939864" y="50805"/>
                  </a:lnTo>
                  <a:lnTo>
                    <a:pt x="939864" y="863654"/>
                  </a:lnTo>
                  <a:lnTo>
                    <a:pt x="935856" y="883381"/>
                  </a:lnTo>
                  <a:lnTo>
                    <a:pt x="924942" y="899536"/>
                  </a:lnTo>
                  <a:lnTo>
                    <a:pt x="908789" y="910450"/>
                  </a:lnTo>
                  <a:lnTo>
                    <a:pt x="889064" y="914459"/>
                  </a:lnTo>
                  <a:lnTo>
                    <a:pt x="762052" y="914459"/>
                  </a:lnTo>
                  <a:lnTo>
                    <a:pt x="742327" y="910450"/>
                  </a:lnTo>
                  <a:lnTo>
                    <a:pt x="726174" y="899536"/>
                  </a:lnTo>
                  <a:lnTo>
                    <a:pt x="715260" y="883381"/>
                  </a:lnTo>
                  <a:lnTo>
                    <a:pt x="711252" y="863654"/>
                  </a:lnTo>
                  <a:lnTo>
                    <a:pt x="711252" y="50805"/>
                  </a:lnTo>
                  <a:lnTo>
                    <a:pt x="715260" y="31079"/>
                  </a:lnTo>
                  <a:lnTo>
                    <a:pt x="726174" y="14925"/>
                  </a:lnTo>
                  <a:lnTo>
                    <a:pt x="742327" y="4009"/>
                  </a:lnTo>
                  <a:lnTo>
                    <a:pt x="762052" y="0"/>
                  </a:lnTo>
                  <a:close/>
                </a:path>
                <a:path w="1651635" h="915035">
                  <a:moveTo>
                    <a:pt x="1117677" y="0"/>
                  </a:moveTo>
                  <a:lnTo>
                    <a:pt x="1244677" y="0"/>
                  </a:lnTo>
                  <a:lnTo>
                    <a:pt x="1264409" y="4009"/>
                  </a:lnTo>
                  <a:lnTo>
                    <a:pt x="1280566" y="14925"/>
                  </a:lnTo>
                  <a:lnTo>
                    <a:pt x="1291481" y="31079"/>
                  </a:lnTo>
                  <a:lnTo>
                    <a:pt x="1295490" y="50805"/>
                  </a:lnTo>
                  <a:lnTo>
                    <a:pt x="1295490" y="863654"/>
                  </a:lnTo>
                  <a:lnTo>
                    <a:pt x="1291481" y="883381"/>
                  </a:lnTo>
                  <a:lnTo>
                    <a:pt x="1280566" y="899536"/>
                  </a:lnTo>
                  <a:lnTo>
                    <a:pt x="1264409" y="910450"/>
                  </a:lnTo>
                  <a:lnTo>
                    <a:pt x="1244677" y="914459"/>
                  </a:lnTo>
                  <a:lnTo>
                    <a:pt x="1117677" y="914459"/>
                  </a:lnTo>
                  <a:lnTo>
                    <a:pt x="1097945" y="910450"/>
                  </a:lnTo>
                  <a:lnTo>
                    <a:pt x="1081788" y="899536"/>
                  </a:lnTo>
                  <a:lnTo>
                    <a:pt x="1070873" y="883381"/>
                  </a:lnTo>
                  <a:lnTo>
                    <a:pt x="1066864" y="863654"/>
                  </a:lnTo>
                  <a:lnTo>
                    <a:pt x="1066864" y="50805"/>
                  </a:lnTo>
                  <a:lnTo>
                    <a:pt x="1070873" y="31079"/>
                  </a:lnTo>
                  <a:lnTo>
                    <a:pt x="1081788" y="14925"/>
                  </a:lnTo>
                  <a:lnTo>
                    <a:pt x="1097945" y="4009"/>
                  </a:lnTo>
                  <a:lnTo>
                    <a:pt x="1117677" y="0"/>
                  </a:lnTo>
                  <a:close/>
                </a:path>
                <a:path w="1651635" h="915035">
                  <a:moveTo>
                    <a:pt x="50805" y="0"/>
                  </a:moveTo>
                  <a:lnTo>
                    <a:pt x="177813" y="0"/>
                  </a:lnTo>
                  <a:lnTo>
                    <a:pt x="197538" y="4009"/>
                  </a:lnTo>
                  <a:lnTo>
                    <a:pt x="213691" y="14925"/>
                  </a:lnTo>
                  <a:lnTo>
                    <a:pt x="224605" y="31079"/>
                  </a:lnTo>
                  <a:lnTo>
                    <a:pt x="228613" y="50805"/>
                  </a:lnTo>
                  <a:lnTo>
                    <a:pt x="228613" y="863654"/>
                  </a:lnTo>
                  <a:lnTo>
                    <a:pt x="224605" y="883381"/>
                  </a:lnTo>
                  <a:lnTo>
                    <a:pt x="213691" y="899536"/>
                  </a:lnTo>
                  <a:lnTo>
                    <a:pt x="197538" y="910450"/>
                  </a:lnTo>
                  <a:lnTo>
                    <a:pt x="177813" y="914459"/>
                  </a:lnTo>
                  <a:lnTo>
                    <a:pt x="50805" y="914459"/>
                  </a:lnTo>
                  <a:lnTo>
                    <a:pt x="31079" y="910450"/>
                  </a:lnTo>
                  <a:lnTo>
                    <a:pt x="14925" y="899536"/>
                  </a:lnTo>
                  <a:lnTo>
                    <a:pt x="4009" y="883381"/>
                  </a:lnTo>
                  <a:lnTo>
                    <a:pt x="0" y="863654"/>
                  </a:lnTo>
                  <a:lnTo>
                    <a:pt x="0" y="50805"/>
                  </a:lnTo>
                  <a:lnTo>
                    <a:pt x="4009" y="31079"/>
                  </a:lnTo>
                  <a:lnTo>
                    <a:pt x="14925" y="14925"/>
                  </a:lnTo>
                  <a:lnTo>
                    <a:pt x="31079" y="4009"/>
                  </a:lnTo>
                  <a:lnTo>
                    <a:pt x="50805" y="0"/>
                  </a:lnTo>
                  <a:close/>
                </a:path>
                <a:path w="1651635" h="915035">
                  <a:moveTo>
                    <a:pt x="406429" y="0"/>
                  </a:moveTo>
                  <a:lnTo>
                    <a:pt x="533434" y="0"/>
                  </a:lnTo>
                  <a:lnTo>
                    <a:pt x="553161" y="4009"/>
                  </a:lnTo>
                  <a:lnTo>
                    <a:pt x="569316" y="14925"/>
                  </a:lnTo>
                  <a:lnTo>
                    <a:pt x="580230" y="31079"/>
                  </a:lnTo>
                  <a:lnTo>
                    <a:pt x="584239" y="50805"/>
                  </a:lnTo>
                  <a:lnTo>
                    <a:pt x="584239" y="863654"/>
                  </a:lnTo>
                  <a:lnTo>
                    <a:pt x="580230" y="883381"/>
                  </a:lnTo>
                  <a:lnTo>
                    <a:pt x="569316" y="899536"/>
                  </a:lnTo>
                  <a:lnTo>
                    <a:pt x="553161" y="910450"/>
                  </a:lnTo>
                  <a:lnTo>
                    <a:pt x="533434" y="914459"/>
                  </a:lnTo>
                  <a:lnTo>
                    <a:pt x="406429" y="914459"/>
                  </a:lnTo>
                  <a:lnTo>
                    <a:pt x="386701" y="910450"/>
                  </a:lnTo>
                  <a:lnTo>
                    <a:pt x="370547" y="899536"/>
                  </a:lnTo>
                  <a:lnTo>
                    <a:pt x="359632" y="883381"/>
                  </a:lnTo>
                  <a:lnTo>
                    <a:pt x="355624" y="863654"/>
                  </a:lnTo>
                  <a:lnTo>
                    <a:pt x="355624" y="50805"/>
                  </a:lnTo>
                  <a:lnTo>
                    <a:pt x="359632" y="31079"/>
                  </a:lnTo>
                  <a:lnTo>
                    <a:pt x="370547" y="14925"/>
                  </a:lnTo>
                  <a:lnTo>
                    <a:pt x="386701" y="4009"/>
                  </a:lnTo>
                  <a:lnTo>
                    <a:pt x="406429" y="0"/>
                  </a:lnTo>
                  <a:close/>
                </a:path>
              </a:pathLst>
            </a:custGeom>
            <a:ln w="12700">
              <a:solidFill>
                <a:srgbClr val="231F20"/>
              </a:solidFill>
            </a:ln>
          </p:spPr>
          <p:txBody>
            <a:bodyPr wrap="square" lIns="0" tIns="0" rIns="0" bIns="0" rtlCol="0"/>
            <a:lstStyle/>
            <a:p>
              <a:endParaRPr/>
            </a:p>
          </p:txBody>
        </p:sp>
      </p:grpSp>
      <p:sp>
        <p:nvSpPr>
          <p:cNvPr id="9" name="object 9"/>
          <p:cNvSpPr txBox="1"/>
          <p:nvPr/>
        </p:nvSpPr>
        <p:spPr>
          <a:xfrm>
            <a:off x="1154698" y="2694121"/>
            <a:ext cx="375920" cy="147320"/>
          </a:xfrm>
          <a:prstGeom prst="rect">
            <a:avLst/>
          </a:prstGeom>
        </p:spPr>
        <p:txBody>
          <a:bodyPr vert="horz" wrap="square" lIns="0" tIns="12700" rIns="0" bIns="0" rtlCol="0">
            <a:spAutoFit/>
          </a:bodyPr>
          <a:lstStyle/>
          <a:p>
            <a:pPr marL="12700">
              <a:lnSpc>
                <a:spcPct val="100000"/>
              </a:lnSpc>
              <a:spcBef>
                <a:spcPts val="100"/>
              </a:spcBef>
            </a:pPr>
            <a:r>
              <a:rPr sz="800" dirty="0">
                <a:solidFill>
                  <a:srgbClr val="231F20"/>
                </a:solidFill>
                <a:latin typeface="Arial"/>
                <a:cs typeface="Arial"/>
              </a:rPr>
              <a:t>Vserver</a:t>
            </a:r>
            <a:endParaRPr sz="800">
              <a:latin typeface="Arial"/>
              <a:cs typeface="Arial"/>
            </a:endParaRPr>
          </a:p>
        </p:txBody>
      </p:sp>
      <p:grpSp>
        <p:nvGrpSpPr>
          <p:cNvPr id="10" name="object 10"/>
          <p:cNvGrpSpPr/>
          <p:nvPr/>
        </p:nvGrpSpPr>
        <p:grpSpPr>
          <a:xfrm>
            <a:off x="1799263" y="2224487"/>
            <a:ext cx="1607185" cy="870585"/>
            <a:chOff x="1799263" y="2224487"/>
            <a:chExt cx="1607185" cy="870585"/>
          </a:xfrm>
        </p:grpSpPr>
        <p:sp>
          <p:nvSpPr>
            <p:cNvPr id="11" name="object 11"/>
            <p:cNvSpPr/>
            <p:nvPr/>
          </p:nvSpPr>
          <p:spPr>
            <a:xfrm>
              <a:off x="2539085" y="2253061"/>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231F20"/>
            </a:solidFill>
          </p:spPr>
          <p:txBody>
            <a:bodyPr wrap="square" lIns="0" tIns="0" rIns="0" bIns="0" rtlCol="0"/>
            <a:lstStyle/>
            <a:p>
              <a:endParaRPr/>
            </a:p>
          </p:txBody>
        </p:sp>
        <p:sp>
          <p:nvSpPr>
            <p:cNvPr id="12" name="object 12"/>
            <p:cNvSpPr/>
            <p:nvPr/>
          </p:nvSpPr>
          <p:spPr>
            <a:xfrm>
              <a:off x="2539085" y="2253061"/>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13" name="object 13"/>
            <p:cNvSpPr/>
            <p:nvPr/>
          </p:nvSpPr>
          <p:spPr>
            <a:xfrm>
              <a:off x="2539085" y="2481676"/>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A7A9AC"/>
            </a:solidFill>
          </p:spPr>
          <p:txBody>
            <a:bodyPr wrap="square" lIns="0" tIns="0" rIns="0" bIns="0" rtlCol="0"/>
            <a:lstStyle/>
            <a:p>
              <a:endParaRPr/>
            </a:p>
          </p:txBody>
        </p:sp>
        <p:sp>
          <p:nvSpPr>
            <p:cNvPr id="14" name="object 14"/>
            <p:cNvSpPr/>
            <p:nvPr/>
          </p:nvSpPr>
          <p:spPr>
            <a:xfrm>
              <a:off x="2539085" y="2481676"/>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15" name="object 15"/>
            <p:cNvSpPr/>
            <p:nvPr/>
          </p:nvSpPr>
          <p:spPr>
            <a:xfrm>
              <a:off x="2539085" y="2710291"/>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E6E7E8"/>
            </a:solidFill>
          </p:spPr>
          <p:txBody>
            <a:bodyPr wrap="square" lIns="0" tIns="0" rIns="0" bIns="0" rtlCol="0"/>
            <a:lstStyle/>
            <a:p>
              <a:endParaRPr/>
            </a:p>
          </p:txBody>
        </p:sp>
        <p:sp>
          <p:nvSpPr>
            <p:cNvPr id="16" name="object 16"/>
            <p:cNvSpPr/>
            <p:nvPr/>
          </p:nvSpPr>
          <p:spPr>
            <a:xfrm>
              <a:off x="2539085" y="2710291"/>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17" name="object 17"/>
            <p:cNvSpPr/>
            <p:nvPr/>
          </p:nvSpPr>
          <p:spPr>
            <a:xfrm>
              <a:off x="2894711" y="2253061"/>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FFFFFF"/>
            </a:solidFill>
          </p:spPr>
          <p:txBody>
            <a:bodyPr wrap="square" lIns="0" tIns="0" rIns="0" bIns="0" rtlCol="0"/>
            <a:lstStyle/>
            <a:p>
              <a:endParaRPr/>
            </a:p>
          </p:txBody>
        </p:sp>
        <p:sp>
          <p:nvSpPr>
            <p:cNvPr id="18" name="object 18"/>
            <p:cNvSpPr/>
            <p:nvPr/>
          </p:nvSpPr>
          <p:spPr>
            <a:xfrm>
              <a:off x="2894711" y="2253061"/>
              <a:ext cx="127000" cy="127635"/>
            </a:xfrm>
            <a:custGeom>
              <a:avLst/>
              <a:gdLst/>
              <a:ahLst/>
              <a:cxnLst/>
              <a:rect l="l" t="t" r="r" b="b"/>
              <a:pathLst>
                <a:path w="127000" h="127635">
                  <a:moveTo>
                    <a:pt x="0" y="127010"/>
                  </a:moveTo>
                  <a:lnTo>
                    <a:pt x="127005" y="127010"/>
                  </a:lnTo>
                  <a:lnTo>
                    <a:pt x="127005" y="0"/>
                  </a:lnTo>
                  <a:lnTo>
                    <a:pt x="0" y="0"/>
                  </a:lnTo>
                  <a:lnTo>
                    <a:pt x="0" y="127010"/>
                  </a:lnTo>
                  <a:close/>
                </a:path>
              </a:pathLst>
            </a:custGeom>
            <a:ln w="6350">
              <a:solidFill>
                <a:srgbClr val="231F20"/>
              </a:solidFill>
            </a:ln>
          </p:spPr>
          <p:txBody>
            <a:bodyPr wrap="square" lIns="0" tIns="0" rIns="0" bIns="0" rtlCol="0"/>
            <a:lstStyle/>
            <a:p>
              <a:endParaRPr/>
            </a:p>
          </p:txBody>
        </p:sp>
        <p:sp>
          <p:nvSpPr>
            <p:cNvPr id="19" name="object 19"/>
            <p:cNvSpPr/>
            <p:nvPr/>
          </p:nvSpPr>
          <p:spPr>
            <a:xfrm>
              <a:off x="2894711" y="2481676"/>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A7A9AC"/>
            </a:solidFill>
          </p:spPr>
          <p:txBody>
            <a:bodyPr wrap="square" lIns="0" tIns="0" rIns="0" bIns="0" rtlCol="0"/>
            <a:lstStyle/>
            <a:p>
              <a:endParaRPr/>
            </a:p>
          </p:txBody>
        </p:sp>
        <p:sp>
          <p:nvSpPr>
            <p:cNvPr id="20" name="object 20"/>
            <p:cNvSpPr/>
            <p:nvPr/>
          </p:nvSpPr>
          <p:spPr>
            <a:xfrm>
              <a:off x="2894711" y="2481676"/>
              <a:ext cx="127000" cy="127635"/>
            </a:xfrm>
            <a:custGeom>
              <a:avLst/>
              <a:gdLst/>
              <a:ahLst/>
              <a:cxnLst/>
              <a:rect l="l" t="t" r="r" b="b"/>
              <a:pathLst>
                <a:path w="127000" h="127635">
                  <a:moveTo>
                    <a:pt x="0" y="127010"/>
                  </a:moveTo>
                  <a:lnTo>
                    <a:pt x="127005" y="127010"/>
                  </a:lnTo>
                  <a:lnTo>
                    <a:pt x="127005" y="0"/>
                  </a:lnTo>
                  <a:lnTo>
                    <a:pt x="0" y="0"/>
                  </a:lnTo>
                  <a:lnTo>
                    <a:pt x="0" y="127010"/>
                  </a:lnTo>
                  <a:close/>
                </a:path>
              </a:pathLst>
            </a:custGeom>
            <a:ln w="6350">
              <a:solidFill>
                <a:srgbClr val="231F20"/>
              </a:solidFill>
            </a:ln>
          </p:spPr>
          <p:txBody>
            <a:bodyPr wrap="square" lIns="0" tIns="0" rIns="0" bIns="0" rtlCol="0"/>
            <a:lstStyle/>
            <a:p>
              <a:endParaRPr/>
            </a:p>
          </p:txBody>
        </p:sp>
        <p:sp>
          <p:nvSpPr>
            <p:cNvPr id="21" name="object 21"/>
            <p:cNvSpPr/>
            <p:nvPr/>
          </p:nvSpPr>
          <p:spPr>
            <a:xfrm>
              <a:off x="2894711" y="2710291"/>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E6E7E8"/>
            </a:solidFill>
          </p:spPr>
          <p:txBody>
            <a:bodyPr wrap="square" lIns="0" tIns="0" rIns="0" bIns="0" rtlCol="0"/>
            <a:lstStyle/>
            <a:p>
              <a:endParaRPr/>
            </a:p>
          </p:txBody>
        </p:sp>
        <p:sp>
          <p:nvSpPr>
            <p:cNvPr id="22" name="object 22"/>
            <p:cNvSpPr/>
            <p:nvPr/>
          </p:nvSpPr>
          <p:spPr>
            <a:xfrm>
              <a:off x="2894711" y="2710291"/>
              <a:ext cx="127000" cy="127635"/>
            </a:xfrm>
            <a:custGeom>
              <a:avLst/>
              <a:gdLst/>
              <a:ahLst/>
              <a:cxnLst/>
              <a:rect l="l" t="t" r="r" b="b"/>
              <a:pathLst>
                <a:path w="127000" h="127635">
                  <a:moveTo>
                    <a:pt x="0" y="127010"/>
                  </a:moveTo>
                  <a:lnTo>
                    <a:pt x="127005" y="127010"/>
                  </a:lnTo>
                  <a:lnTo>
                    <a:pt x="127005" y="0"/>
                  </a:lnTo>
                  <a:lnTo>
                    <a:pt x="0" y="0"/>
                  </a:lnTo>
                  <a:lnTo>
                    <a:pt x="0" y="127010"/>
                  </a:lnTo>
                  <a:close/>
                </a:path>
              </a:pathLst>
            </a:custGeom>
            <a:ln w="6350">
              <a:solidFill>
                <a:srgbClr val="231F20"/>
              </a:solidFill>
            </a:ln>
          </p:spPr>
          <p:txBody>
            <a:bodyPr wrap="square" lIns="0" tIns="0" rIns="0" bIns="0" rtlCol="0"/>
            <a:lstStyle/>
            <a:p>
              <a:endParaRPr/>
            </a:p>
          </p:txBody>
        </p:sp>
        <p:pic>
          <p:nvPicPr>
            <p:cNvPr id="23" name="object 23"/>
            <p:cNvPicPr/>
            <p:nvPr/>
          </p:nvPicPr>
          <p:blipFill>
            <a:blip r:embed="rId7" cstate="print"/>
            <a:stretch>
              <a:fillRect/>
            </a:stretch>
          </p:blipFill>
          <p:spPr>
            <a:xfrm>
              <a:off x="2510510" y="2910326"/>
              <a:ext cx="895401" cy="184165"/>
            </a:xfrm>
            <a:prstGeom prst="rect">
              <a:avLst/>
            </a:prstGeom>
          </p:spPr>
        </p:pic>
        <p:sp>
          <p:nvSpPr>
            <p:cNvPr id="24" name="object 24"/>
            <p:cNvSpPr/>
            <p:nvPr/>
          </p:nvSpPr>
          <p:spPr>
            <a:xfrm>
              <a:off x="3250323" y="2253061"/>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FFFFFF"/>
            </a:solidFill>
          </p:spPr>
          <p:txBody>
            <a:bodyPr wrap="square" lIns="0" tIns="0" rIns="0" bIns="0" rtlCol="0"/>
            <a:lstStyle/>
            <a:p>
              <a:endParaRPr/>
            </a:p>
          </p:txBody>
        </p:sp>
        <p:sp>
          <p:nvSpPr>
            <p:cNvPr id="25" name="object 25"/>
            <p:cNvSpPr/>
            <p:nvPr/>
          </p:nvSpPr>
          <p:spPr>
            <a:xfrm>
              <a:off x="3250323" y="2253061"/>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26" name="object 26"/>
            <p:cNvSpPr/>
            <p:nvPr/>
          </p:nvSpPr>
          <p:spPr>
            <a:xfrm>
              <a:off x="3250323" y="2481676"/>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A7A9AC"/>
            </a:solidFill>
          </p:spPr>
          <p:txBody>
            <a:bodyPr wrap="square" lIns="0" tIns="0" rIns="0" bIns="0" rtlCol="0"/>
            <a:lstStyle/>
            <a:p>
              <a:endParaRPr/>
            </a:p>
          </p:txBody>
        </p:sp>
        <p:sp>
          <p:nvSpPr>
            <p:cNvPr id="27" name="object 27"/>
            <p:cNvSpPr/>
            <p:nvPr/>
          </p:nvSpPr>
          <p:spPr>
            <a:xfrm>
              <a:off x="3250323" y="2481676"/>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28" name="object 28"/>
            <p:cNvSpPr/>
            <p:nvPr/>
          </p:nvSpPr>
          <p:spPr>
            <a:xfrm>
              <a:off x="1827838" y="2253061"/>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231F20"/>
            </a:solidFill>
          </p:spPr>
          <p:txBody>
            <a:bodyPr wrap="square" lIns="0" tIns="0" rIns="0" bIns="0" rtlCol="0"/>
            <a:lstStyle/>
            <a:p>
              <a:endParaRPr/>
            </a:p>
          </p:txBody>
        </p:sp>
        <p:sp>
          <p:nvSpPr>
            <p:cNvPr id="29" name="object 29"/>
            <p:cNvSpPr/>
            <p:nvPr/>
          </p:nvSpPr>
          <p:spPr>
            <a:xfrm>
              <a:off x="1827838" y="2253061"/>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30" name="object 30"/>
            <p:cNvSpPr/>
            <p:nvPr/>
          </p:nvSpPr>
          <p:spPr>
            <a:xfrm>
              <a:off x="1827838" y="2481676"/>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A7A9AC"/>
            </a:solidFill>
          </p:spPr>
          <p:txBody>
            <a:bodyPr wrap="square" lIns="0" tIns="0" rIns="0" bIns="0" rtlCol="0"/>
            <a:lstStyle/>
            <a:p>
              <a:endParaRPr/>
            </a:p>
          </p:txBody>
        </p:sp>
        <p:sp>
          <p:nvSpPr>
            <p:cNvPr id="31" name="object 31"/>
            <p:cNvSpPr/>
            <p:nvPr/>
          </p:nvSpPr>
          <p:spPr>
            <a:xfrm>
              <a:off x="1827838" y="2481676"/>
              <a:ext cx="127635" cy="127635"/>
            </a:xfrm>
            <a:custGeom>
              <a:avLst/>
              <a:gdLst/>
              <a:ahLst/>
              <a:cxnLst/>
              <a:rect l="l" t="t" r="r" b="b"/>
              <a:pathLst>
                <a:path w="127635" h="127635">
                  <a:moveTo>
                    <a:pt x="0" y="127010"/>
                  </a:moveTo>
                  <a:lnTo>
                    <a:pt x="127010" y="127010"/>
                  </a:lnTo>
                  <a:lnTo>
                    <a:pt x="127010" y="0"/>
                  </a:lnTo>
                  <a:lnTo>
                    <a:pt x="0" y="0"/>
                  </a:lnTo>
                  <a:lnTo>
                    <a:pt x="0" y="127010"/>
                  </a:lnTo>
                  <a:close/>
                </a:path>
              </a:pathLst>
            </a:custGeom>
            <a:ln w="6350">
              <a:solidFill>
                <a:srgbClr val="231F20"/>
              </a:solidFill>
            </a:ln>
          </p:spPr>
          <p:txBody>
            <a:bodyPr wrap="square" lIns="0" tIns="0" rIns="0" bIns="0" rtlCol="0"/>
            <a:lstStyle/>
            <a:p>
              <a:endParaRPr/>
            </a:p>
          </p:txBody>
        </p:sp>
        <p:sp>
          <p:nvSpPr>
            <p:cNvPr id="32" name="object 32"/>
            <p:cNvSpPr/>
            <p:nvPr/>
          </p:nvSpPr>
          <p:spPr>
            <a:xfrm>
              <a:off x="1827838" y="2710291"/>
              <a:ext cx="127635" cy="127635"/>
            </a:xfrm>
            <a:custGeom>
              <a:avLst/>
              <a:gdLst/>
              <a:ahLst/>
              <a:cxnLst/>
              <a:rect l="l" t="t" r="r" b="b"/>
              <a:pathLst>
                <a:path w="127635" h="127635">
                  <a:moveTo>
                    <a:pt x="127010" y="0"/>
                  </a:moveTo>
                  <a:lnTo>
                    <a:pt x="0" y="0"/>
                  </a:lnTo>
                  <a:lnTo>
                    <a:pt x="0" y="127010"/>
                  </a:lnTo>
                  <a:lnTo>
                    <a:pt x="127010" y="127010"/>
                  </a:lnTo>
                  <a:lnTo>
                    <a:pt x="127010" y="0"/>
                  </a:lnTo>
                  <a:close/>
                </a:path>
              </a:pathLst>
            </a:custGeom>
            <a:solidFill>
              <a:srgbClr val="E6E7E8"/>
            </a:solidFill>
          </p:spPr>
          <p:txBody>
            <a:bodyPr wrap="square" lIns="0" tIns="0" rIns="0" bIns="0" rtlCol="0"/>
            <a:lstStyle/>
            <a:p>
              <a:endParaRPr/>
            </a:p>
          </p:txBody>
        </p:sp>
        <p:sp>
          <p:nvSpPr>
            <p:cNvPr id="33" name="object 33"/>
            <p:cNvSpPr/>
            <p:nvPr/>
          </p:nvSpPr>
          <p:spPr>
            <a:xfrm>
              <a:off x="1827838" y="2710291"/>
              <a:ext cx="127635" cy="356235"/>
            </a:xfrm>
            <a:custGeom>
              <a:avLst/>
              <a:gdLst/>
              <a:ahLst/>
              <a:cxnLst/>
              <a:rect l="l" t="t" r="r" b="b"/>
              <a:pathLst>
                <a:path w="127635" h="356235">
                  <a:moveTo>
                    <a:pt x="0" y="127010"/>
                  </a:moveTo>
                  <a:lnTo>
                    <a:pt x="127010" y="127010"/>
                  </a:lnTo>
                  <a:lnTo>
                    <a:pt x="127010" y="0"/>
                  </a:lnTo>
                  <a:lnTo>
                    <a:pt x="0" y="0"/>
                  </a:lnTo>
                  <a:lnTo>
                    <a:pt x="0" y="127010"/>
                  </a:lnTo>
                  <a:close/>
                </a:path>
                <a:path w="127635" h="356235">
                  <a:moveTo>
                    <a:pt x="0" y="355619"/>
                  </a:moveTo>
                  <a:lnTo>
                    <a:pt x="127010" y="355619"/>
                  </a:lnTo>
                  <a:lnTo>
                    <a:pt x="127010" y="228614"/>
                  </a:lnTo>
                  <a:lnTo>
                    <a:pt x="0" y="228614"/>
                  </a:lnTo>
                  <a:lnTo>
                    <a:pt x="0" y="355619"/>
                  </a:lnTo>
                  <a:close/>
                </a:path>
              </a:pathLst>
            </a:custGeom>
            <a:ln w="6350">
              <a:solidFill>
                <a:srgbClr val="231F20"/>
              </a:solidFill>
            </a:ln>
          </p:spPr>
          <p:txBody>
            <a:bodyPr wrap="square" lIns="0" tIns="0" rIns="0" bIns="0" rtlCol="0"/>
            <a:lstStyle/>
            <a:p>
              <a:endParaRPr/>
            </a:p>
          </p:txBody>
        </p:sp>
        <p:sp>
          <p:nvSpPr>
            <p:cNvPr id="34" name="object 34"/>
            <p:cNvSpPr/>
            <p:nvPr/>
          </p:nvSpPr>
          <p:spPr>
            <a:xfrm>
              <a:off x="2183462" y="2253061"/>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231F20"/>
            </a:solidFill>
          </p:spPr>
          <p:txBody>
            <a:bodyPr wrap="square" lIns="0" tIns="0" rIns="0" bIns="0" rtlCol="0"/>
            <a:lstStyle/>
            <a:p>
              <a:endParaRPr/>
            </a:p>
          </p:txBody>
        </p:sp>
        <p:sp>
          <p:nvSpPr>
            <p:cNvPr id="35" name="object 35"/>
            <p:cNvSpPr/>
            <p:nvPr/>
          </p:nvSpPr>
          <p:spPr>
            <a:xfrm>
              <a:off x="2183462" y="2253061"/>
              <a:ext cx="127000" cy="127635"/>
            </a:xfrm>
            <a:custGeom>
              <a:avLst/>
              <a:gdLst/>
              <a:ahLst/>
              <a:cxnLst/>
              <a:rect l="l" t="t" r="r" b="b"/>
              <a:pathLst>
                <a:path w="127000" h="127635">
                  <a:moveTo>
                    <a:pt x="0" y="127010"/>
                  </a:moveTo>
                  <a:lnTo>
                    <a:pt x="127005" y="127010"/>
                  </a:lnTo>
                  <a:lnTo>
                    <a:pt x="127005" y="0"/>
                  </a:lnTo>
                  <a:lnTo>
                    <a:pt x="0" y="0"/>
                  </a:lnTo>
                  <a:lnTo>
                    <a:pt x="0" y="127010"/>
                  </a:lnTo>
                  <a:close/>
                </a:path>
              </a:pathLst>
            </a:custGeom>
            <a:ln w="6350">
              <a:solidFill>
                <a:srgbClr val="231F20"/>
              </a:solidFill>
            </a:ln>
          </p:spPr>
          <p:txBody>
            <a:bodyPr wrap="square" lIns="0" tIns="0" rIns="0" bIns="0" rtlCol="0"/>
            <a:lstStyle/>
            <a:p>
              <a:endParaRPr/>
            </a:p>
          </p:txBody>
        </p:sp>
        <p:sp>
          <p:nvSpPr>
            <p:cNvPr id="36" name="object 36"/>
            <p:cNvSpPr/>
            <p:nvPr/>
          </p:nvSpPr>
          <p:spPr>
            <a:xfrm>
              <a:off x="2183462" y="2481676"/>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A7A9AC"/>
            </a:solidFill>
          </p:spPr>
          <p:txBody>
            <a:bodyPr wrap="square" lIns="0" tIns="0" rIns="0" bIns="0" rtlCol="0"/>
            <a:lstStyle/>
            <a:p>
              <a:endParaRPr/>
            </a:p>
          </p:txBody>
        </p:sp>
        <p:sp>
          <p:nvSpPr>
            <p:cNvPr id="37" name="object 37"/>
            <p:cNvSpPr/>
            <p:nvPr/>
          </p:nvSpPr>
          <p:spPr>
            <a:xfrm>
              <a:off x="2183462" y="2481676"/>
              <a:ext cx="127000" cy="127635"/>
            </a:xfrm>
            <a:custGeom>
              <a:avLst/>
              <a:gdLst/>
              <a:ahLst/>
              <a:cxnLst/>
              <a:rect l="l" t="t" r="r" b="b"/>
              <a:pathLst>
                <a:path w="127000" h="127635">
                  <a:moveTo>
                    <a:pt x="0" y="127010"/>
                  </a:moveTo>
                  <a:lnTo>
                    <a:pt x="127005" y="127010"/>
                  </a:lnTo>
                  <a:lnTo>
                    <a:pt x="127005" y="0"/>
                  </a:lnTo>
                  <a:lnTo>
                    <a:pt x="0" y="0"/>
                  </a:lnTo>
                  <a:lnTo>
                    <a:pt x="0" y="127010"/>
                  </a:lnTo>
                  <a:close/>
                </a:path>
              </a:pathLst>
            </a:custGeom>
            <a:ln w="6350">
              <a:solidFill>
                <a:srgbClr val="231F20"/>
              </a:solidFill>
            </a:ln>
          </p:spPr>
          <p:txBody>
            <a:bodyPr wrap="square" lIns="0" tIns="0" rIns="0" bIns="0" rtlCol="0"/>
            <a:lstStyle/>
            <a:p>
              <a:endParaRPr/>
            </a:p>
          </p:txBody>
        </p:sp>
        <p:sp>
          <p:nvSpPr>
            <p:cNvPr id="38" name="object 38"/>
            <p:cNvSpPr/>
            <p:nvPr/>
          </p:nvSpPr>
          <p:spPr>
            <a:xfrm>
              <a:off x="2183462" y="2710291"/>
              <a:ext cx="127000" cy="127635"/>
            </a:xfrm>
            <a:custGeom>
              <a:avLst/>
              <a:gdLst/>
              <a:ahLst/>
              <a:cxnLst/>
              <a:rect l="l" t="t" r="r" b="b"/>
              <a:pathLst>
                <a:path w="127000" h="127635">
                  <a:moveTo>
                    <a:pt x="127005" y="0"/>
                  </a:moveTo>
                  <a:lnTo>
                    <a:pt x="0" y="0"/>
                  </a:lnTo>
                  <a:lnTo>
                    <a:pt x="0" y="127010"/>
                  </a:lnTo>
                  <a:lnTo>
                    <a:pt x="127005" y="127010"/>
                  </a:lnTo>
                  <a:lnTo>
                    <a:pt x="127005" y="0"/>
                  </a:lnTo>
                  <a:close/>
                </a:path>
              </a:pathLst>
            </a:custGeom>
            <a:solidFill>
              <a:srgbClr val="E6E7E8"/>
            </a:solidFill>
          </p:spPr>
          <p:txBody>
            <a:bodyPr wrap="square" lIns="0" tIns="0" rIns="0" bIns="0" rtlCol="0"/>
            <a:lstStyle/>
            <a:p>
              <a:endParaRPr/>
            </a:p>
          </p:txBody>
        </p:sp>
        <p:sp>
          <p:nvSpPr>
            <p:cNvPr id="39" name="object 39"/>
            <p:cNvSpPr/>
            <p:nvPr/>
          </p:nvSpPr>
          <p:spPr>
            <a:xfrm>
              <a:off x="1802438" y="2227662"/>
              <a:ext cx="1600835" cy="838835"/>
            </a:xfrm>
            <a:custGeom>
              <a:avLst/>
              <a:gdLst/>
              <a:ahLst/>
              <a:cxnLst/>
              <a:rect l="l" t="t" r="r" b="b"/>
              <a:pathLst>
                <a:path w="1600835" h="838835">
                  <a:moveTo>
                    <a:pt x="381024" y="609639"/>
                  </a:moveTo>
                  <a:lnTo>
                    <a:pt x="508029" y="609639"/>
                  </a:lnTo>
                  <a:lnTo>
                    <a:pt x="508029" y="482629"/>
                  </a:lnTo>
                  <a:lnTo>
                    <a:pt x="381024" y="482629"/>
                  </a:lnTo>
                  <a:lnTo>
                    <a:pt x="381024" y="609639"/>
                  </a:lnTo>
                  <a:close/>
                </a:path>
                <a:path w="1600835" h="838835">
                  <a:moveTo>
                    <a:pt x="381024" y="838249"/>
                  </a:moveTo>
                  <a:lnTo>
                    <a:pt x="508029" y="838249"/>
                  </a:lnTo>
                  <a:lnTo>
                    <a:pt x="508029" y="711244"/>
                  </a:lnTo>
                  <a:lnTo>
                    <a:pt x="381024" y="711244"/>
                  </a:lnTo>
                  <a:lnTo>
                    <a:pt x="381024" y="838249"/>
                  </a:lnTo>
                  <a:close/>
                </a:path>
                <a:path w="1600835" h="838835">
                  <a:moveTo>
                    <a:pt x="25400" y="0"/>
                  </a:moveTo>
                  <a:lnTo>
                    <a:pt x="863659" y="0"/>
                  </a:lnTo>
                  <a:lnTo>
                    <a:pt x="873522" y="2004"/>
                  </a:lnTo>
                  <a:lnTo>
                    <a:pt x="881598" y="7461"/>
                  </a:lnTo>
                  <a:lnTo>
                    <a:pt x="887055" y="15537"/>
                  </a:lnTo>
                  <a:lnTo>
                    <a:pt x="889059" y="25400"/>
                  </a:lnTo>
                  <a:lnTo>
                    <a:pt x="889059" y="152408"/>
                  </a:lnTo>
                  <a:lnTo>
                    <a:pt x="887055" y="162271"/>
                  </a:lnTo>
                  <a:lnTo>
                    <a:pt x="881598" y="170347"/>
                  </a:lnTo>
                  <a:lnTo>
                    <a:pt x="873522" y="175804"/>
                  </a:lnTo>
                  <a:lnTo>
                    <a:pt x="863659" y="177808"/>
                  </a:lnTo>
                  <a:lnTo>
                    <a:pt x="25400" y="177808"/>
                  </a:lnTo>
                  <a:lnTo>
                    <a:pt x="15537" y="175804"/>
                  </a:lnTo>
                  <a:lnTo>
                    <a:pt x="7461" y="170347"/>
                  </a:lnTo>
                  <a:lnTo>
                    <a:pt x="2004" y="162271"/>
                  </a:lnTo>
                  <a:lnTo>
                    <a:pt x="0" y="152408"/>
                  </a:lnTo>
                  <a:lnTo>
                    <a:pt x="0" y="25400"/>
                  </a:lnTo>
                  <a:lnTo>
                    <a:pt x="2004" y="15537"/>
                  </a:lnTo>
                  <a:lnTo>
                    <a:pt x="7461" y="7461"/>
                  </a:lnTo>
                  <a:lnTo>
                    <a:pt x="15537" y="2004"/>
                  </a:lnTo>
                  <a:lnTo>
                    <a:pt x="25400" y="0"/>
                  </a:lnTo>
                  <a:close/>
                </a:path>
                <a:path w="1600835" h="838835">
                  <a:moveTo>
                    <a:pt x="1092272" y="0"/>
                  </a:moveTo>
                  <a:lnTo>
                    <a:pt x="1574897" y="0"/>
                  </a:lnTo>
                  <a:lnTo>
                    <a:pt x="1584760" y="2004"/>
                  </a:lnTo>
                  <a:lnTo>
                    <a:pt x="1592836" y="7461"/>
                  </a:lnTo>
                  <a:lnTo>
                    <a:pt x="1598293" y="15537"/>
                  </a:lnTo>
                  <a:lnTo>
                    <a:pt x="1600297" y="25400"/>
                  </a:lnTo>
                  <a:lnTo>
                    <a:pt x="1600297" y="152408"/>
                  </a:lnTo>
                  <a:lnTo>
                    <a:pt x="1598293" y="162271"/>
                  </a:lnTo>
                  <a:lnTo>
                    <a:pt x="1592836" y="170347"/>
                  </a:lnTo>
                  <a:lnTo>
                    <a:pt x="1584760" y="175804"/>
                  </a:lnTo>
                  <a:lnTo>
                    <a:pt x="1574897" y="177808"/>
                  </a:lnTo>
                  <a:lnTo>
                    <a:pt x="1092272" y="177808"/>
                  </a:lnTo>
                  <a:lnTo>
                    <a:pt x="1082402" y="175804"/>
                  </a:lnTo>
                  <a:lnTo>
                    <a:pt x="1074322" y="170347"/>
                  </a:lnTo>
                  <a:lnTo>
                    <a:pt x="1068864" y="162271"/>
                  </a:lnTo>
                  <a:lnTo>
                    <a:pt x="1066859" y="152408"/>
                  </a:lnTo>
                  <a:lnTo>
                    <a:pt x="1066859" y="25400"/>
                  </a:lnTo>
                  <a:lnTo>
                    <a:pt x="1068864" y="15537"/>
                  </a:lnTo>
                  <a:lnTo>
                    <a:pt x="1074322" y="7461"/>
                  </a:lnTo>
                  <a:lnTo>
                    <a:pt x="1082402" y="2004"/>
                  </a:lnTo>
                  <a:lnTo>
                    <a:pt x="1092272" y="0"/>
                  </a:lnTo>
                  <a:close/>
                </a:path>
                <a:path w="1600835" h="838835">
                  <a:moveTo>
                    <a:pt x="25400" y="228613"/>
                  </a:moveTo>
                  <a:lnTo>
                    <a:pt x="1574897" y="228613"/>
                  </a:lnTo>
                  <a:lnTo>
                    <a:pt x="1584760" y="230618"/>
                  </a:lnTo>
                  <a:lnTo>
                    <a:pt x="1592836" y="236075"/>
                  </a:lnTo>
                  <a:lnTo>
                    <a:pt x="1598293" y="244151"/>
                  </a:lnTo>
                  <a:lnTo>
                    <a:pt x="1600297" y="254013"/>
                  </a:lnTo>
                  <a:lnTo>
                    <a:pt x="1600297" y="381024"/>
                  </a:lnTo>
                  <a:lnTo>
                    <a:pt x="1598293" y="390886"/>
                  </a:lnTo>
                  <a:lnTo>
                    <a:pt x="1592836" y="398962"/>
                  </a:lnTo>
                  <a:lnTo>
                    <a:pt x="1584760" y="404419"/>
                  </a:lnTo>
                  <a:lnTo>
                    <a:pt x="1574897" y="406424"/>
                  </a:lnTo>
                  <a:lnTo>
                    <a:pt x="25400" y="406424"/>
                  </a:lnTo>
                  <a:lnTo>
                    <a:pt x="15537" y="404419"/>
                  </a:lnTo>
                  <a:lnTo>
                    <a:pt x="7461" y="398962"/>
                  </a:lnTo>
                  <a:lnTo>
                    <a:pt x="2004" y="390886"/>
                  </a:lnTo>
                  <a:lnTo>
                    <a:pt x="0" y="381024"/>
                  </a:lnTo>
                  <a:lnTo>
                    <a:pt x="0" y="254013"/>
                  </a:lnTo>
                  <a:lnTo>
                    <a:pt x="2004" y="244151"/>
                  </a:lnTo>
                  <a:lnTo>
                    <a:pt x="7461" y="236075"/>
                  </a:lnTo>
                  <a:lnTo>
                    <a:pt x="15537" y="230618"/>
                  </a:lnTo>
                  <a:lnTo>
                    <a:pt x="25400" y="228613"/>
                  </a:lnTo>
                  <a:close/>
                </a:path>
                <a:path w="1600835" h="838835">
                  <a:moveTo>
                    <a:pt x="25400" y="457224"/>
                  </a:moveTo>
                  <a:lnTo>
                    <a:pt x="1219272" y="457224"/>
                  </a:lnTo>
                  <a:lnTo>
                    <a:pt x="1229142" y="459229"/>
                  </a:lnTo>
                  <a:lnTo>
                    <a:pt x="1237222" y="464687"/>
                  </a:lnTo>
                  <a:lnTo>
                    <a:pt x="1242680" y="472766"/>
                  </a:lnTo>
                  <a:lnTo>
                    <a:pt x="1244685" y="482629"/>
                  </a:lnTo>
                  <a:lnTo>
                    <a:pt x="1244685" y="609639"/>
                  </a:lnTo>
                  <a:lnTo>
                    <a:pt x="1242680" y="619501"/>
                  </a:lnTo>
                  <a:lnTo>
                    <a:pt x="1237222" y="627578"/>
                  </a:lnTo>
                  <a:lnTo>
                    <a:pt x="1229142" y="633035"/>
                  </a:lnTo>
                  <a:lnTo>
                    <a:pt x="1219272" y="635039"/>
                  </a:lnTo>
                  <a:lnTo>
                    <a:pt x="25400" y="635039"/>
                  </a:lnTo>
                  <a:lnTo>
                    <a:pt x="15537" y="633035"/>
                  </a:lnTo>
                  <a:lnTo>
                    <a:pt x="7461" y="627578"/>
                  </a:lnTo>
                  <a:lnTo>
                    <a:pt x="2004" y="619501"/>
                  </a:lnTo>
                  <a:lnTo>
                    <a:pt x="0" y="609639"/>
                  </a:lnTo>
                  <a:lnTo>
                    <a:pt x="0" y="482629"/>
                  </a:lnTo>
                  <a:lnTo>
                    <a:pt x="2004" y="472766"/>
                  </a:lnTo>
                  <a:lnTo>
                    <a:pt x="7461" y="464687"/>
                  </a:lnTo>
                  <a:lnTo>
                    <a:pt x="15537" y="459229"/>
                  </a:lnTo>
                  <a:lnTo>
                    <a:pt x="25400" y="457224"/>
                  </a:lnTo>
                  <a:close/>
                </a:path>
              </a:pathLst>
            </a:custGeom>
            <a:ln w="6350">
              <a:solidFill>
                <a:srgbClr val="231F20"/>
              </a:solidFill>
            </a:ln>
          </p:spPr>
          <p:txBody>
            <a:bodyPr wrap="square" lIns="0" tIns="0" rIns="0" bIns="0" rtlCol="0"/>
            <a:lstStyle/>
            <a:p>
              <a:endParaRPr/>
            </a:p>
          </p:txBody>
        </p:sp>
      </p:grpSp>
      <p:sp>
        <p:nvSpPr>
          <p:cNvPr id="40" name="object 40"/>
          <p:cNvSpPr txBox="1"/>
          <p:nvPr/>
        </p:nvSpPr>
        <p:spPr>
          <a:xfrm>
            <a:off x="309194" y="360455"/>
            <a:ext cx="3966845" cy="2000885"/>
          </a:xfrm>
          <a:prstGeom prst="rect">
            <a:avLst/>
          </a:prstGeom>
        </p:spPr>
        <p:txBody>
          <a:bodyPr vert="horz" wrap="square" lIns="0" tIns="95250" rIns="0" bIns="0" rtlCol="0">
            <a:spAutoFit/>
          </a:bodyPr>
          <a:lstStyle/>
          <a:p>
            <a:pPr marL="50800">
              <a:lnSpc>
                <a:spcPct val="100000"/>
              </a:lnSpc>
              <a:spcBef>
                <a:spcPts val="750"/>
              </a:spcBef>
            </a:pPr>
            <a:r>
              <a:rPr sz="1200" spc="-5" dirty="0">
                <a:solidFill>
                  <a:srgbClr val="3333B2"/>
                </a:solidFill>
                <a:latin typeface="Arial"/>
                <a:cs typeface="Arial"/>
              </a:rPr>
              <a:t>Essence</a:t>
            </a:r>
            <a:endParaRPr sz="1200">
              <a:latin typeface="Arial"/>
              <a:cs typeface="Arial"/>
            </a:endParaRPr>
          </a:p>
          <a:p>
            <a:pPr marL="327660" indent="-168275">
              <a:lnSpc>
                <a:spcPts val="1200"/>
              </a:lnSpc>
              <a:spcBef>
                <a:spcPts val="545"/>
              </a:spcBef>
              <a:buClr>
                <a:srgbClr val="3333B2"/>
              </a:buClr>
              <a:buChar char="►"/>
              <a:tabLst>
                <a:tab pos="328295" algn="l"/>
              </a:tabLst>
            </a:pPr>
            <a:r>
              <a:rPr sz="1000" spc="-5" dirty="0">
                <a:latin typeface="Arial"/>
                <a:cs typeface="Arial"/>
              </a:rPr>
              <a:t>Each</a:t>
            </a:r>
            <a:r>
              <a:rPr sz="1000" spc="-10" dirty="0">
                <a:latin typeface="Arial"/>
                <a:cs typeface="Arial"/>
              </a:rPr>
              <a:t> </a:t>
            </a:r>
            <a:r>
              <a:rPr sz="1000" spc="-5" dirty="0">
                <a:latin typeface="Arial"/>
                <a:cs typeface="Arial"/>
              </a:rPr>
              <a:t>Vserver operates in its </a:t>
            </a:r>
            <a:r>
              <a:rPr sz="1000" spc="-10" dirty="0">
                <a:latin typeface="Arial"/>
                <a:cs typeface="Arial"/>
              </a:rPr>
              <a:t>own</a:t>
            </a:r>
            <a:r>
              <a:rPr sz="1000" spc="-5" dirty="0">
                <a:latin typeface="Arial"/>
                <a:cs typeface="Arial"/>
              </a:rPr>
              <a:t> environment</a:t>
            </a:r>
            <a:r>
              <a:rPr sz="1000" spc="-10" dirty="0">
                <a:latin typeface="Arial"/>
                <a:cs typeface="Arial"/>
              </a:rPr>
              <a:t> (cf.</a:t>
            </a:r>
            <a:r>
              <a:rPr sz="1000" spc="210" dirty="0">
                <a:latin typeface="Arial"/>
                <a:cs typeface="Arial"/>
              </a:rPr>
              <a:t> </a:t>
            </a:r>
            <a:r>
              <a:rPr sz="1000" spc="60" dirty="0">
                <a:latin typeface="Times New Roman"/>
                <a:cs typeface="Times New Roman"/>
              </a:rPr>
              <a:t>chroot</a:t>
            </a:r>
            <a:r>
              <a:rPr sz="1000" spc="60" dirty="0">
                <a:latin typeface="Arial"/>
                <a:cs typeface="Arial"/>
              </a:rPr>
              <a:t>).</a:t>
            </a:r>
            <a:endParaRPr sz="1000">
              <a:latin typeface="Arial"/>
              <a:cs typeface="Arial"/>
            </a:endParaRPr>
          </a:p>
          <a:p>
            <a:pPr marL="323215" marR="130175" indent="-163830">
              <a:lnSpc>
                <a:spcPts val="1200"/>
              </a:lnSpc>
              <a:spcBef>
                <a:spcPts val="35"/>
              </a:spcBef>
              <a:buClr>
                <a:srgbClr val="3333B2"/>
              </a:buClr>
              <a:buChar char="►"/>
              <a:tabLst>
                <a:tab pos="328295" algn="l"/>
              </a:tabLst>
            </a:pPr>
            <a:r>
              <a:rPr sz="1000" spc="-5" dirty="0">
                <a:latin typeface="Arial"/>
                <a:cs typeface="Arial"/>
              </a:rPr>
              <a:t>Linux</a:t>
            </a:r>
            <a:r>
              <a:rPr sz="1000" dirty="0">
                <a:latin typeface="Arial"/>
                <a:cs typeface="Arial"/>
              </a:rPr>
              <a:t> </a:t>
            </a:r>
            <a:r>
              <a:rPr sz="1000" spc="-5" dirty="0">
                <a:latin typeface="Arial"/>
                <a:cs typeface="Arial"/>
              </a:rPr>
              <a:t>enhancements</a:t>
            </a:r>
            <a:r>
              <a:rPr sz="1000" dirty="0">
                <a:latin typeface="Arial"/>
                <a:cs typeface="Arial"/>
              </a:rPr>
              <a:t> </a:t>
            </a:r>
            <a:r>
              <a:rPr sz="1000" spc="-5" dirty="0">
                <a:latin typeface="Arial"/>
                <a:cs typeface="Arial"/>
              </a:rPr>
              <a:t>include</a:t>
            </a:r>
            <a:r>
              <a:rPr sz="1000" spc="5" dirty="0">
                <a:latin typeface="Arial"/>
                <a:cs typeface="Arial"/>
              </a:rPr>
              <a:t> </a:t>
            </a:r>
            <a:r>
              <a:rPr sz="1000" spc="-5" dirty="0">
                <a:latin typeface="Arial"/>
                <a:cs typeface="Arial"/>
              </a:rPr>
              <a:t>proper</a:t>
            </a:r>
            <a:r>
              <a:rPr sz="1000" dirty="0">
                <a:latin typeface="Arial"/>
                <a:cs typeface="Arial"/>
              </a:rPr>
              <a:t> </a:t>
            </a:r>
            <a:r>
              <a:rPr sz="1000" spc="-5" dirty="0">
                <a:latin typeface="Arial"/>
                <a:cs typeface="Arial"/>
              </a:rPr>
              <a:t>adjustment</a:t>
            </a:r>
            <a:r>
              <a:rPr sz="1000"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process</a:t>
            </a:r>
            <a:r>
              <a:rPr sz="1000" dirty="0">
                <a:latin typeface="Arial"/>
                <a:cs typeface="Arial"/>
              </a:rPr>
              <a:t> </a:t>
            </a:r>
            <a:r>
              <a:rPr sz="1000" spc="-5" dirty="0">
                <a:latin typeface="Arial"/>
                <a:cs typeface="Arial"/>
              </a:rPr>
              <a:t>IDs </a:t>
            </a:r>
            <a:r>
              <a:rPr sz="1000" spc="-260" dirty="0">
                <a:latin typeface="Arial"/>
                <a:cs typeface="Arial"/>
              </a:rPr>
              <a:t> </a:t>
            </a:r>
            <a:r>
              <a:rPr sz="1000" spc="-5" dirty="0">
                <a:latin typeface="Arial"/>
                <a:cs typeface="Arial"/>
              </a:rPr>
              <a:t>(e.g.,</a:t>
            </a:r>
            <a:r>
              <a:rPr sz="1000" spc="204" dirty="0">
                <a:latin typeface="Arial"/>
                <a:cs typeface="Arial"/>
              </a:rPr>
              <a:t> </a:t>
            </a:r>
            <a:r>
              <a:rPr sz="1000" spc="185" dirty="0">
                <a:latin typeface="Times New Roman"/>
                <a:cs typeface="Times New Roman"/>
              </a:rPr>
              <a:t>init</a:t>
            </a:r>
            <a:r>
              <a:rPr sz="1000" spc="-55" dirty="0">
                <a:latin typeface="Times New Roman"/>
                <a:cs typeface="Times New Roman"/>
              </a:rPr>
              <a:t> </a:t>
            </a:r>
            <a:r>
              <a:rPr sz="1000" spc="-10" dirty="0">
                <a:latin typeface="Arial"/>
                <a:cs typeface="Arial"/>
              </a:rPr>
              <a:t>having</a:t>
            </a:r>
            <a:r>
              <a:rPr sz="1000" spc="-5" dirty="0">
                <a:latin typeface="Arial"/>
                <a:cs typeface="Arial"/>
              </a:rPr>
              <a:t> ID 0).</a:t>
            </a:r>
            <a:endParaRPr sz="1000">
              <a:latin typeface="Arial"/>
              <a:cs typeface="Arial"/>
            </a:endParaRPr>
          </a:p>
          <a:p>
            <a:pPr marL="327660" indent="-168275">
              <a:lnSpc>
                <a:spcPts val="1150"/>
              </a:lnSpc>
              <a:buClr>
                <a:srgbClr val="3333B2"/>
              </a:buClr>
              <a:buChar char="►"/>
              <a:tabLst>
                <a:tab pos="328295" algn="l"/>
              </a:tabLst>
            </a:pPr>
            <a:r>
              <a:rPr sz="1000" spc="-50" dirty="0">
                <a:latin typeface="Arial"/>
                <a:cs typeface="Arial"/>
              </a:rPr>
              <a:t>Two</a:t>
            </a:r>
            <a:r>
              <a:rPr sz="1000" spc="-5" dirty="0">
                <a:latin typeface="Arial"/>
                <a:cs typeface="Arial"/>
              </a:rPr>
              <a:t> processes in different</a:t>
            </a:r>
            <a:r>
              <a:rPr sz="1000" dirty="0">
                <a:latin typeface="Arial"/>
                <a:cs typeface="Arial"/>
              </a:rPr>
              <a:t> </a:t>
            </a:r>
            <a:r>
              <a:rPr sz="1000" spc="-5" dirty="0">
                <a:latin typeface="Arial"/>
                <a:cs typeface="Arial"/>
              </a:rPr>
              <a:t>Vservers </a:t>
            </a:r>
            <a:r>
              <a:rPr sz="1000" spc="-15" dirty="0">
                <a:latin typeface="Arial"/>
                <a:cs typeface="Arial"/>
              </a:rPr>
              <a:t>may</a:t>
            </a:r>
            <a:r>
              <a:rPr sz="1000" spc="-5" dirty="0">
                <a:latin typeface="Arial"/>
                <a:cs typeface="Arial"/>
              </a:rPr>
              <a:t> </a:t>
            </a:r>
            <a:r>
              <a:rPr sz="1000" spc="-15" dirty="0">
                <a:latin typeface="Arial"/>
                <a:cs typeface="Arial"/>
              </a:rPr>
              <a:t>have</a:t>
            </a:r>
            <a:r>
              <a:rPr sz="1000" spc="-5" dirty="0">
                <a:latin typeface="Arial"/>
                <a:cs typeface="Arial"/>
              </a:rPr>
              <a:t> same</a:t>
            </a:r>
            <a:r>
              <a:rPr sz="1000" dirty="0">
                <a:latin typeface="Arial"/>
                <a:cs typeface="Arial"/>
              </a:rPr>
              <a:t> </a:t>
            </a:r>
            <a:r>
              <a:rPr sz="1000" spc="-5" dirty="0">
                <a:latin typeface="Arial"/>
                <a:cs typeface="Arial"/>
              </a:rPr>
              <a:t>user </a:t>
            </a:r>
            <a:r>
              <a:rPr sz="1000" spc="-25" dirty="0">
                <a:latin typeface="Arial"/>
                <a:cs typeface="Arial"/>
              </a:rPr>
              <a:t>ID,</a:t>
            </a:r>
            <a:r>
              <a:rPr sz="1000" spc="-5" dirty="0">
                <a:latin typeface="Arial"/>
                <a:cs typeface="Arial"/>
              </a:rPr>
              <a:t> </a:t>
            </a:r>
            <a:r>
              <a:rPr sz="1000" spc="-10" dirty="0">
                <a:latin typeface="Arial"/>
                <a:cs typeface="Arial"/>
              </a:rPr>
              <a:t>but</a:t>
            </a:r>
            <a:endParaRPr sz="1000">
              <a:latin typeface="Arial"/>
              <a:cs typeface="Arial"/>
            </a:endParaRPr>
          </a:p>
          <a:p>
            <a:pPr marL="327660">
              <a:lnSpc>
                <a:spcPts val="1200"/>
              </a:lnSpc>
            </a:pPr>
            <a:r>
              <a:rPr sz="1000" spc="-5" dirty="0">
                <a:latin typeface="Arial"/>
                <a:cs typeface="Arial"/>
              </a:rPr>
              <a:t>does</a:t>
            </a:r>
            <a:r>
              <a:rPr sz="1000" spc="-10" dirty="0">
                <a:latin typeface="Arial"/>
                <a:cs typeface="Arial"/>
              </a:rPr>
              <a:t> </a:t>
            </a:r>
            <a:r>
              <a:rPr sz="1000" spc="-5" dirty="0">
                <a:latin typeface="Arial"/>
                <a:cs typeface="Arial"/>
              </a:rPr>
              <a:t>not</a:t>
            </a:r>
            <a:r>
              <a:rPr sz="1000" spc="-10" dirty="0">
                <a:latin typeface="Arial"/>
                <a:cs typeface="Arial"/>
              </a:rPr>
              <a:t> </a:t>
            </a:r>
            <a:r>
              <a:rPr sz="1000" spc="-5" dirty="0">
                <a:latin typeface="Arial"/>
                <a:cs typeface="Arial"/>
              </a:rPr>
              <a:t>imply</a:t>
            </a:r>
            <a:r>
              <a:rPr sz="1000" spc="-10" dirty="0">
                <a:latin typeface="Arial"/>
                <a:cs typeface="Arial"/>
              </a:rPr>
              <a:t> </a:t>
            </a:r>
            <a:r>
              <a:rPr sz="1000" spc="-5" dirty="0">
                <a:latin typeface="Arial"/>
                <a:cs typeface="Arial"/>
              </a:rPr>
              <a:t>the</a:t>
            </a:r>
            <a:r>
              <a:rPr sz="1000" spc="-10" dirty="0">
                <a:latin typeface="Arial"/>
                <a:cs typeface="Arial"/>
              </a:rPr>
              <a:t> </a:t>
            </a:r>
            <a:r>
              <a:rPr sz="1000" spc="-5" dirty="0">
                <a:latin typeface="Arial"/>
                <a:cs typeface="Arial"/>
              </a:rPr>
              <a:t>same</a:t>
            </a:r>
            <a:r>
              <a:rPr sz="1000" spc="-10" dirty="0">
                <a:latin typeface="Arial"/>
                <a:cs typeface="Arial"/>
              </a:rPr>
              <a:t> </a:t>
            </a:r>
            <a:r>
              <a:rPr sz="1000" spc="-15" dirty="0">
                <a:latin typeface="Arial"/>
                <a:cs typeface="Arial"/>
              </a:rPr>
              <a:t>user.</a:t>
            </a:r>
            <a:endParaRPr sz="1000">
              <a:latin typeface="Arial"/>
              <a:cs typeface="Arial"/>
            </a:endParaRPr>
          </a:p>
          <a:p>
            <a:pPr>
              <a:lnSpc>
                <a:spcPct val="100000"/>
              </a:lnSpc>
              <a:spcBef>
                <a:spcPts val="55"/>
              </a:spcBef>
            </a:pPr>
            <a:endParaRPr sz="1150">
              <a:latin typeface="Arial"/>
              <a:cs typeface="Arial"/>
            </a:endParaRPr>
          </a:p>
          <a:p>
            <a:pPr marL="50800">
              <a:lnSpc>
                <a:spcPct val="100000"/>
              </a:lnSpc>
            </a:pPr>
            <a:r>
              <a:rPr sz="1200" spc="-5" dirty="0">
                <a:solidFill>
                  <a:srgbClr val="3333B2"/>
                </a:solidFill>
                <a:latin typeface="Arial"/>
                <a:cs typeface="Arial"/>
              </a:rPr>
              <a:t>Separation</a:t>
            </a:r>
            <a:r>
              <a:rPr sz="1200" spc="-20" dirty="0">
                <a:solidFill>
                  <a:srgbClr val="3333B2"/>
                </a:solidFill>
                <a:latin typeface="Arial"/>
                <a:cs typeface="Arial"/>
              </a:rPr>
              <a:t> </a:t>
            </a:r>
            <a:r>
              <a:rPr sz="1200" spc="-5" dirty="0">
                <a:solidFill>
                  <a:srgbClr val="3333B2"/>
                </a:solidFill>
                <a:latin typeface="Arial"/>
                <a:cs typeface="Arial"/>
              </a:rPr>
              <a:t>leads</a:t>
            </a:r>
            <a:r>
              <a:rPr sz="1200" spc="-15" dirty="0">
                <a:solidFill>
                  <a:srgbClr val="3333B2"/>
                </a:solidFill>
                <a:latin typeface="Arial"/>
                <a:cs typeface="Arial"/>
              </a:rPr>
              <a:t> </a:t>
            </a:r>
            <a:r>
              <a:rPr sz="1200" spc="-5" dirty="0">
                <a:solidFill>
                  <a:srgbClr val="3333B2"/>
                </a:solidFill>
                <a:latin typeface="Arial"/>
                <a:cs typeface="Arial"/>
              </a:rPr>
              <a:t>to</a:t>
            </a:r>
            <a:r>
              <a:rPr sz="1200" spc="-20" dirty="0">
                <a:solidFill>
                  <a:srgbClr val="3333B2"/>
                </a:solidFill>
                <a:latin typeface="Arial"/>
                <a:cs typeface="Arial"/>
              </a:rPr>
              <a:t> </a:t>
            </a:r>
            <a:r>
              <a:rPr sz="1200" spc="-5" dirty="0">
                <a:solidFill>
                  <a:srgbClr val="3333B2"/>
                </a:solidFill>
                <a:latin typeface="Arial"/>
                <a:cs typeface="Arial"/>
              </a:rPr>
              <a:t>slices</a:t>
            </a:r>
            <a:endParaRPr sz="1200">
              <a:latin typeface="Arial"/>
              <a:cs typeface="Arial"/>
            </a:endParaRPr>
          </a:p>
          <a:p>
            <a:pPr marR="777875" algn="ctr">
              <a:lnSpc>
                <a:spcPct val="100000"/>
              </a:lnSpc>
              <a:spcBef>
                <a:spcPts val="760"/>
              </a:spcBef>
            </a:pPr>
            <a:r>
              <a:rPr sz="800" spc="-5" dirty="0">
                <a:solidFill>
                  <a:srgbClr val="231F20"/>
                </a:solidFill>
                <a:latin typeface="Arial"/>
                <a:cs typeface="Arial"/>
              </a:rPr>
              <a:t>Slice</a:t>
            </a:r>
            <a:endParaRPr sz="800">
              <a:latin typeface="Arial"/>
              <a:cs typeface="Arial"/>
            </a:endParaRPr>
          </a:p>
          <a:p>
            <a:pPr>
              <a:lnSpc>
                <a:spcPct val="100000"/>
              </a:lnSpc>
            </a:pPr>
            <a:endParaRPr sz="800">
              <a:latin typeface="Arial"/>
              <a:cs typeface="Arial"/>
            </a:endParaRPr>
          </a:p>
          <a:p>
            <a:pPr marL="923925">
              <a:lnSpc>
                <a:spcPct val="100000"/>
              </a:lnSpc>
              <a:spcBef>
                <a:spcPts val="520"/>
              </a:spcBef>
            </a:pPr>
            <a:r>
              <a:rPr sz="800" spc="-5" dirty="0">
                <a:solidFill>
                  <a:srgbClr val="231F20"/>
                </a:solidFill>
                <a:latin typeface="Arial"/>
                <a:cs typeface="Arial"/>
              </a:rPr>
              <a:t>Node</a:t>
            </a:r>
            <a:endParaRPr sz="800">
              <a:latin typeface="Arial"/>
              <a:cs typeface="Arial"/>
            </a:endParaRPr>
          </a:p>
        </p:txBody>
      </p:sp>
      <p:grpSp>
        <p:nvGrpSpPr>
          <p:cNvPr id="41" name="object 41"/>
          <p:cNvGrpSpPr/>
          <p:nvPr/>
        </p:nvGrpSpPr>
        <p:grpSpPr>
          <a:xfrm>
            <a:off x="1523018" y="2046677"/>
            <a:ext cx="816610" cy="1048385"/>
            <a:chOff x="1523018" y="2046677"/>
            <a:chExt cx="816610" cy="1048385"/>
          </a:xfrm>
        </p:grpSpPr>
        <p:sp>
          <p:nvSpPr>
            <p:cNvPr id="42" name="object 42"/>
            <p:cNvSpPr/>
            <p:nvPr/>
          </p:nvSpPr>
          <p:spPr>
            <a:xfrm>
              <a:off x="1802438" y="2913501"/>
              <a:ext cx="534035" cy="178435"/>
            </a:xfrm>
            <a:custGeom>
              <a:avLst/>
              <a:gdLst/>
              <a:ahLst/>
              <a:cxnLst/>
              <a:rect l="l" t="t" r="r" b="b"/>
              <a:pathLst>
                <a:path w="534035" h="178435">
                  <a:moveTo>
                    <a:pt x="25400" y="0"/>
                  </a:moveTo>
                  <a:lnTo>
                    <a:pt x="508029" y="0"/>
                  </a:lnTo>
                  <a:lnTo>
                    <a:pt x="517894" y="2005"/>
                  </a:lnTo>
                  <a:lnTo>
                    <a:pt x="525972" y="7463"/>
                  </a:lnTo>
                  <a:lnTo>
                    <a:pt x="531429" y="15541"/>
                  </a:lnTo>
                  <a:lnTo>
                    <a:pt x="533434" y="25405"/>
                  </a:lnTo>
                  <a:lnTo>
                    <a:pt x="533434" y="152409"/>
                  </a:lnTo>
                  <a:lnTo>
                    <a:pt x="531429" y="162275"/>
                  </a:lnTo>
                  <a:lnTo>
                    <a:pt x="525972" y="170352"/>
                  </a:lnTo>
                  <a:lnTo>
                    <a:pt x="517894" y="175810"/>
                  </a:lnTo>
                  <a:lnTo>
                    <a:pt x="508029" y="177814"/>
                  </a:lnTo>
                  <a:lnTo>
                    <a:pt x="25400" y="177814"/>
                  </a:lnTo>
                  <a:lnTo>
                    <a:pt x="15537" y="175810"/>
                  </a:lnTo>
                  <a:lnTo>
                    <a:pt x="7461" y="170352"/>
                  </a:lnTo>
                  <a:lnTo>
                    <a:pt x="2004" y="162275"/>
                  </a:lnTo>
                  <a:lnTo>
                    <a:pt x="0" y="152409"/>
                  </a:lnTo>
                  <a:lnTo>
                    <a:pt x="0" y="25405"/>
                  </a:lnTo>
                  <a:lnTo>
                    <a:pt x="2004" y="15541"/>
                  </a:lnTo>
                  <a:lnTo>
                    <a:pt x="7461" y="7463"/>
                  </a:lnTo>
                  <a:lnTo>
                    <a:pt x="15537" y="2005"/>
                  </a:lnTo>
                  <a:lnTo>
                    <a:pt x="25400" y="0"/>
                  </a:lnTo>
                  <a:close/>
                </a:path>
              </a:pathLst>
            </a:custGeom>
            <a:ln w="6350">
              <a:solidFill>
                <a:srgbClr val="231F20"/>
              </a:solidFill>
            </a:ln>
          </p:spPr>
          <p:txBody>
            <a:bodyPr wrap="square" lIns="0" tIns="0" rIns="0" bIns="0" rtlCol="0"/>
            <a:lstStyle/>
            <a:p>
              <a:endParaRPr/>
            </a:p>
          </p:txBody>
        </p:sp>
        <p:pic>
          <p:nvPicPr>
            <p:cNvPr id="43" name="object 43"/>
            <p:cNvPicPr/>
            <p:nvPr/>
          </p:nvPicPr>
          <p:blipFill>
            <a:blip r:embed="rId8" cstate="print"/>
            <a:stretch>
              <a:fillRect/>
            </a:stretch>
          </p:blipFill>
          <p:spPr>
            <a:xfrm>
              <a:off x="1951672" y="2046677"/>
              <a:ext cx="130185" cy="180985"/>
            </a:xfrm>
            <a:prstGeom prst="rect">
              <a:avLst/>
            </a:prstGeom>
          </p:spPr>
        </p:pic>
        <p:pic>
          <p:nvPicPr>
            <p:cNvPr id="44" name="object 44"/>
            <p:cNvPicPr/>
            <p:nvPr/>
          </p:nvPicPr>
          <p:blipFill>
            <a:blip r:embed="rId9" cstate="print"/>
            <a:stretch>
              <a:fillRect/>
            </a:stretch>
          </p:blipFill>
          <p:spPr>
            <a:xfrm>
              <a:off x="1545248" y="2608686"/>
              <a:ext cx="282590" cy="155585"/>
            </a:xfrm>
            <a:prstGeom prst="rect">
              <a:avLst/>
            </a:prstGeom>
          </p:spPr>
        </p:pic>
        <p:sp>
          <p:nvSpPr>
            <p:cNvPr id="45" name="object 45"/>
            <p:cNvSpPr/>
            <p:nvPr/>
          </p:nvSpPr>
          <p:spPr>
            <a:xfrm>
              <a:off x="1523018" y="2303857"/>
              <a:ext cx="209550" cy="0"/>
            </a:xfrm>
            <a:custGeom>
              <a:avLst/>
              <a:gdLst/>
              <a:ahLst/>
              <a:cxnLst/>
              <a:rect l="l" t="t" r="r" b="b"/>
              <a:pathLst>
                <a:path w="209550">
                  <a:moveTo>
                    <a:pt x="0" y="0"/>
                  </a:moveTo>
                  <a:lnTo>
                    <a:pt x="208979" y="0"/>
                  </a:lnTo>
                </a:path>
              </a:pathLst>
            </a:custGeom>
            <a:ln w="6350">
              <a:solidFill>
                <a:srgbClr val="231F20"/>
              </a:solidFill>
            </a:ln>
          </p:spPr>
          <p:txBody>
            <a:bodyPr wrap="square" lIns="0" tIns="0" rIns="0" bIns="0" rtlCol="0"/>
            <a:lstStyle/>
            <a:p>
              <a:endParaRPr/>
            </a:p>
          </p:txBody>
        </p:sp>
        <p:sp>
          <p:nvSpPr>
            <p:cNvPr id="46" name="object 46"/>
            <p:cNvSpPr/>
            <p:nvPr/>
          </p:nvSpPr>
          <p:spPr>
            <a:xfrm>
              <a:off x="1687423" y="2265453"/>
              <a:ext cx="90170" cy="76835"/>
            </a:xfrm>
            <a:custGeom>
              <a:avLst/>
              <a:gdLst/>
              <a:ahLst/>
              <a:cxnLst/>
              <a:rect l="l" t="t" r="r" b="b"/>
              <a:pathLst>
                <a:path w="90169" h="76835">
                  <a:moveTo>
                    <a:pt x="0" y="0"/>
                  </a:moveTo>
                  <a:lnTo>
                    <a:pt x="7202" y="19203"/>
                  </a:lnTo>
                  <a:lnTo>
                    <a:pt x="9603" y="38405"/>
                  </a:lnTo>
                  <a:lnTo>
                    <a:pt x="7202" y="57608"/>
                  </a:lnTo>
                  <a:lnTo>
                    <a:pt x="0" y="76810"/>
                  </a:lnTo>
                  <a:lnTo>
                    <a:pt x="89609" y="38403"/>
                  </a:lnTo>
                  <a:lnTo>
                    <a:pt x="0" y="0"/>
                  </a:lnTo>
                  <a:close/>
                </a:path>
              </a:pathLst>
            </a:custGeom>
            <a:solidFill>
              <a:srgbClr val="231F20"/>
            </a:solidFill>
          </p:spPr>
          <p:txBody>
            <a:bodyPr wrap="square" lIns="0" tIns="0" rIns="0" bIns="0" rtlCol="0"/>
            <a:lstStyle/>
            <a:p>
              <a:endParaRPr/>
            </a:p>
          </p:txBody>
        </p:sp>
      </p:grpSp>
      <p:sp>
        <p:nvSpPr>
          <p:cNvPr id="47" name="object 47"/>
          <p:cNvSpPr txBox="1"/>
          <p:nvPr/>
        </p:nvSpPr>
        <p:spPr>
          <a:xfrm>
            <a:off x="66713" y="3331252"/>
            <a:ext cx="794385" cy="119380"/>
          </a:xfrm>
          <a:prstGeom prst="rect">
            <a:avLst/>
          </a:prstGeom>
        </p:spPr>
        <p:txBody>
          <a:bodyPr vert="horz" wrap="square" lIns="0" tIns="8890" rIns="0" bIns="0" rtlCol="0">
            <a:spAutoFit/>
          </a:bodyPr>
          <a:lstStyle/>
          <a:p>
            <a:pPr marL="12700">
              <a:lnSpc>
                <a:spcPct val="100000"/>
              </a:lnSpc>
              <a:spcBef>
                <a:spcPts val="70"/>
              </a:spcBef>
            </a:pPr>
            <a:r>
              <a:rPr sz="600" spc="-5" dirty="0">
                <a:solidFill>
                  <a:srgbClr val="3333B2"/>
                </a:solidFill>
                <a:latin typeface="Arial"/>
                <a:cs typeface="Arial"/>
                <a:hlinkClick r:id="rId10" action="ppaction://hlinksldjump"/>
              </a:rPr>
              <a:t>Case</a:t>
            </a:r>
            <a:r>
              <a:rPr sz="600" spc="-15" dirty="0">
                <a:solidFill>
                  <a:srgbClr val="3333B2"/>
                </a:solidFill>
                <a:latin typeface="Arial"/>
                <a:cs typeface="Arial"/>
                <a:hlinkClick r:id="rId10" action="ppaction://hlinksldjump"/>
              </a:rPr>
              <a:t> </a:t>
            </a:r>
            <a:r>
              <a:rPr sz="600" spc="-5" dirty="0">
                <a:solidFill>
                  <a:srgbClr val="3333B2"/>
                </a:solidFill>
                <a:latin typeface="Arial"/>
                <a:cs typeface="Arial"/>
                <a:hlinkClick r:id="rId10" action="ppaction://hlinksldjump"/>
              </a:rPr>
              <a:t>study:</a:t>
            </a:r>
            <a:r>
              <a:rPr sz="600" spc="20" dirty="0">
                <a:solidFill>
                  <a:srgbClr val="3333B2"/>
                </a:solidFill>
                <a:latin typeface="Arial"/>
                <a:cs typeface="Arial"/>
                <a:hlinkClick r:id="rId10" action="ppaction://hlinksldjump"/>
              </a:rPr>
              <a:t> </a:t>
            </a:r>
            <a:r>
              <a:rPr sz="600" spc="-5" dirty="0">
                <a:solidFill>
                  <a:srgbClr val="3333B2"/>
                </a:solidFill>
                <a:latin typeface="Arial"/>
                <a:cs typeface="Arial"/>
                <a:hlinkClick r:id="rId10" action="ppaction://hlinksldjump"/>
              </a:rPr>
              <a:t>PlanetLab</a:t>
            </a:r>
            <a:endParaRPr sz="600">
              <a:latin typeface="Arial"/>
              <a:cs typeface="Arial"/>
            </a:endParaRPr>
          </a:p>
        </p:txBody>
      </p:sp>
      <p:sp>
        <p:nvSpPr>
          <p:cNvPr id="48" name="object 4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40</a:t>
            </a:r>
            <a:r>
              <a:rPr spc="-40" dirty="0"/>
              <a:t> </a:t>
            </a:r>
            <a:r>
              <a:rPr spc="-5" dirty="0"/>
              <a:t>/</a:t>
            </a:r>
            <a:r>
              <a:rPr spc="-35" dirty="0"/>
              <a:t> </a:t>
            </a:r>
            <a:r>
              <a:rPr spc="-5" dirty="0"/>
              <a:t>47</a:t>
            </a:r>
          </a:p>
        </p:txBody>
      </p:sp>
    </p:spTree>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536950" algn="l"/>
              </a:tabLst>
            </a:pPr>
            <a:r>
              <a:rPr sz="600" spc="-5" dirty="0">
                <a:solidFill>
                  <a:srgbClr val="3333B2"/>
                </a:solidFill>
                <a:latin typeface="Arial"/>
                <a:cs typeface="Arial"/>
                <a:hlinkClick r:id="rId3" action="ppaction://hlinksldjump"/>
              </a:rPr>
              <a:t>Processes:</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Reasons</a:t>
            </a:r>
            <a:r>
              <a:rPr sz="600" spc="-20"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for</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migrating</a:t>
            </a:r>
            <a:r>
              <a:rPr sz="600" spc="-20"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code</a:t>
            </a:r>
            <a:endParaRPr sz="600">
              <a:latin typeface="Arial"/>
              <a:cs typeface="Arial"/>
            </a:endParaRPr>
          </a:p>
        </p:txBody>
      </p:sp>
      <p:sp>
        <p:nvSpPr>
          <p:cNvPr id="3" name="object 3"/>
          <p:cNvSpPr txBox="1">
            <a:spLocks noGrp="1"/>
          </p:cNvSpPr>
          <p:nvPr>
            <p:ph type="title"/>
          </p:nvPr>
        </p:nvSpPr>
        <p:spPr>
          <a:xfrm>
            <a:off x="95300" y="188846"/>
            <a:ext cx="2047239" cy="244475"/>
          </a:xfrm>
          <a:prstGeom prst="rect">
            <a:avLst/>
          </a:prstGeom>
        </p:spPr>
        <p:txBody>
          <a:bodyPr vert="horz" wrap="square" lIns="0" tIns="17145" rIns="0" bIns="0" rtlCol="0">
            <a:spAutoFit/>
          </a:bodyPr>
          <a:lstStyle/>
          <a:p>
            <a:pPr marL="12700">
              <a:lnSpc>
                <a:spcPct val="100000"/>
              </a:lnSpc>
              <a:spcBef>
                <a:spcPts val="135"/>
              </a:spcBef>
            </a:pPr>
            <a:r>
              <a:rPr spc="15" dirty="0"/>
              <a:t>Reasons</a:t>
            </a:r>
            <a:r>
              <a:rPr spc="-10" dirty="0"/>
              <a:t> </a:t>
            </a:r>
            <a:r>
              <a:rPr spc="10" dirty="0"/>
              <a:t>to</a:t>
            </a:r>
            <a:r>
              <a:rPr spc="-5" dirty="0"/>
              <a:t> </a:t>
            </a:r>
            <a:r>
              <a:rPr spc="10" dirty="0"/>
              <a:t>migrate</a:t>
            </a:r>
            <a:r>
              <a:rPr spc="-5" dirty="0"/>
              <a:t> </a:t>
            </a:r>
            <a:r>
              <a:rPr spc="15" dirty="0"/>
              <a:t>code</a:t>
            </a:r>
          </a:p>
        </p:txBody>
      </p:sp>
      <p:sp>
        <p:nvSpPr>
          <p:cNvPr id="4" name="object 4"/>
          <p:cNvSpPr txBox="1"/>
          <p:nvPr/>
        </p:nvSpPr>
        <p:spPr>
          <a:xfrm>
            <a:off x="1658193" y="1962750"/>
            <a:ext cx="1469390" cy="127000"/>
          </a:xfrm>
          <a:prstGeom prst="rect">
            <a:avLst/>
          </a:prstGeom>
        </p:spPr>
        <p:txBody>
          <a:bodyPr vert="horz" wrap="square" lIns="0" tIns="13970" rIns="0" bIns="0" rtlCol="0">
            <a:spAutoFit/>
          </a:bodyPr>
          <a:lstStyle/>
          <a:p>
            <a:pPr marL="12700">
              <a:lnSpc>
                <a:spcPct val="100000"/>
              </a:lnSpc>
              <a:spcBef>
                <a:spcPts val="110"/>
              </a:spcBef>
              <a:tabLst>
                <a:tab pos="1207770" algn="l"/>
              </a:tabLst>
            </a:pPr>
            <a:r>
              <a:rPr sz="650" spc="5" dirty="0">
                <a:solidFill>
                  <a:srgbClr val="231F20"/>
                </a:solidFill>
                <a:latin typeface="Arial"/>
                <a:cs typeface="Arial"/>
              </a:rPr>
              <a:t>Client	Server</a:t>
            </a:r>
            <a:endParaRPr sz="650">
              <a:latin typeface="Arial"/>
              <a:cs typeface="Arial"/>
            </a:endParaRPr>
          </a:p>
        </p:txBody>
      </p:sp>
      <p:sp>
        <p:nvSpPr>
          <p:cNvPr id="5" name="object 5"/>
          <p:cNvSpPr txBox="1"/>
          <p:nvPr/>
        </p:nvSpPr>
        <p:spPr>
          <a:xfrm>
            <a:off x="1239876" y="2814331"/>
            <a:ext cx="1412875" cy="381000"/>
          </a:xfrm>
          <a:prstGeom prst="rect">
            <a:avLst/>
          </a:prstGeom>
        </p:spPr>
        <p:txBody>
          <a:bodyPr vert="horz" wrap="square" lIns="0" tIns="21590" rIns="0" bIns="0" rtlCol="0">
            <a:spAutoFit/>
          </a:bodyPr>
          <a:lstStyle/>
          <a:p>
            <a:pPr marL="12700" marR="801370">
              <a:lnSpc>
                <a:spcPts val="740"/>
              </a:lnSpc>
              <a:spcBef>
                <a:spcPts val="170"/>
              </a:spcBef>
            </a:pPr>
            <a:r>
              <a:rPr sz="650" spc="5" dirty="0">
                <a:solidFill>
                  <a:srgbClr val="231F20"/>
                </a:solidFill>
                <a:latin typeface="Arial"/>
                <a:cs typeface="Arial"/>
              </a:rPr>
              <a:t>Service-specific  client-side code</a:t>
            </a:r>
            <a:endParaRPr sz="650">
              <a:latin typeface="Arial"/>
              <a:cs typeface="Arial"/>
            </a:endParaRPr>
          </a:p>
          <a:p>
            <a:pPr marL="803910">
              <a:lnSpc>
                <a:spcPct val="100000"/>
              </a:lnSpc>
              <a:spcBef>
                <a:spcPts val="459"/>
              </a:spcBef>
            </a:pPr>
            <a:r>
              <a:rPr sz="650" spc="5" dirty="0">
                <a:solidFill>
                  <a:srgbClr val="231F20"/>
                </a:solidFill>
                <a:latin typeface="Arial"/>
                <a:cs typeface="Arial"/>
              </a:rPr>
              <a:t>Code repository</a:t>
            </a:r>
            <a:endParaRPr sz="650">
              <a:latin typeface="Arial"/>
              <a:cs typeface="Arial"/>
            </a:endParaRPr>
          </a:p>
        </p:txBody>
      </p:sp>
      <p:sp>
        <p:nvSpPr>
          <p:cNvPr id="6" name="object 6"/>
          <p:cNvSpPr txBox="1"/>
          <p:nvPr/>
        </p:nvSpPr>
        <p:spPr>
          <a:xfrm>
            <a:off x="2539655" y="2739630"/>
            <a:ext cx="836294"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1.</a:t>
            </a:r>
            <a:r>
              <a:rPr sz="650" spc="-25" dirty="0">
                <a:solidFill>
                  <a:srgbClr val="231F20"/>
                </a:solidFill>
                <a:latin typeface="Arial"/>
                <a:cs typeface="Arial"/>
              </a:rPr>
              <a:t> </a:t>
            </a:r>
            <a:r>
              <a:rPr sz="650" spc="5" dirty="0">
                <a:solidFill>
                  <a:srgbClr val="231F20"/>
                </a:solidFill>
                <a:latin typeface="Arial"/>
                <a:cs typeface="Arial"/>
              </a:rPr>
              <a:t>Client</a:t>
            </a:r>
            <a:r>
              <a:rPr sz="650" spc="-20" dirty="0">
                <a:solidFill>
                  <a:srgbClr val="231F20"/>
                </a:solidFill>
                <a:latin typeface="Arial"/>
                <a:cs typeface="Arial"/>
              </a:rPr>
              <a:t> </a:t>
            </a:r>
            <a:r>
              <a:rPr sz="650" spc="5" dirty="0">
                <a:solidFill>
                  <a:srgbClr val="231F20"/>
                </a:solidFill>
                <a:latin typeface="Arial"/>
                <a:cs typeface="Arial"/>
              </a:rPr>
              <a:t>fetches</a:t>
            </a:r>
            <a:r>
              <a:rPr sz="650" spc="-20" dirty="0">
                <a:solidFill>
                  <a:srgbClr val="231F20"/>
                </a:solidFill>
                <a:latin typeface="Arial"/>
                <a:cs typeface="Arial"/>
              </a:rPr>
              <a:t> </a:t>
            </a:r>
            <a:r>
              <a:rPr sz="650" spc="5" dirty="0">
                <a:solidFill>
                  <a:srgbClr val="231F20"/>
                </a:solidFill>
                <a:latin typeface="Arial"/>
                <a:cs typeface="Arial"/>
              </a:rPr>
              <a:t>code</a:t>
            </a:r>
            <a:endParaRPr sz="650">
              <a:latin typeface="Arial"/>
              <a:cs typeface="Arial"/>
            </a:endParaRPr>
          </a:p>
        </p:txBody>
      </p:sp>
      <p:sp>
        <p:nvSpPr>
          <p:cNvPr id="7" name="object 7"/>
          <p:cNvSpPr txBox="1"/>
          <p:nvPr/>
        </p:nvSpPr>
        <p:spPr>
          <a:xfrm>
            <a:off x="321894" y="345952"/>
            <a:ext cx="3982085" cy="1594485"/>
          </a:xfrm>
          <a:prstGeom prst="rect">
            <a:avLst/>
          </a:prstGeom>
        </p:spPr>
        <p:txBody>
          <a:bodyPr vert="horz" wrap="square" lIns="0" tIns="95250" rIns="0" bIns="0" rtlCol="0">
            <a:spAutoFit/>
          </a:bodyPr>
          <a:lstStyle/>
          <a:p>
            <a:pPr marL="38100">
              <a:lnSpc>
                <a:spcPct val="100000"/>
              </a:lnSpc>
              <a:spcBef>
                <a:spcPts val="750"/>
              </a:spcBef>
            </a:pPr>
            <a:r>
              <a:rPr sz="1200" spc="-5" dirty="0">
                <a:solidFill>
                  <a:srgbClr val="3333B2"/>
                </a:solidFill>
                <a:latin typeface="Arial"/>
                <a:cs typeface="Arial"/>
              </a:rPr>
              <a:t>Load</a:t>
            </a:r>
            <a:r>
              <a:rPr sz="1200" spc="-35" dirty="0">
                <a:solidFill>
                  <a:srgbClr val="3333B2"/>
                </a:solidFill>
                <a:latin typeface="Arial"/>
                <a:cs typeface="Arial"/>
              </a:rPr>
              <a:t> </a:t>
            </a:r>
            <a:r>
              <a:rPr sz="1200" spc="-5" dirty="0">
                <a:solidFill>
                  <a:srgbClr val="3333B2"/>
                </a:solidFill>
                <a:latin typeface="Arial"/>
                <a:cs typeface="Arial"/>
              </a:rPr>
              <a:t>distribution</a:t>
            </a:r>
            <a:endParaRPr sz="1200" dirty="0">
              <a:latin typeface="Arial"/>
              <a:cs typeface="Arial"/>
            </a:endParaRPr>
          </a:p>
          <a:p>
            <a:pPr marL="314960" marR="30480" indent="-168275">
              <a:lnSpc>
                <a:spcPct val="100000"/>
              </a:lnSpc>
              <a:spcBef>
                <a:spcPts val="545"/>
              </a:spcBef>
              <a:buClr>
                <a:srgbClr val="3333B2"/>
              </a:buClr>
              <a:buChar char="►"/>
              <a:tabLst>
                <a:tab pos="315595" algn="l"/>
              </a:tabLst>
            </a:pPr>
            <a:r>
              <a:rPr sz="1000" spc="-10" dirty="0">
                <a:latin typeface="Arial"/>
                <a:cs typeface="Arial"/>
              </a:rPr>
              <a:t>Ensuring</a:t>
            </a:r>
            <a:r>
              <a:rPr sz="1000" spc="-5" dirty="0">
                <a:latin typeface="Arial"/>
                <a:cs typeface="Arial"/>
              </a:rPr>
              <a:t> </a:t>
            </a:r>
            <a:r>
              <a:rPr sz="1000" spc="-10" dirty="0">
                <a:latin typeface="Arial"/>
                <a:cs typeface="Arial"/>
              </a:rPr>
              <a:t>that</a:t>
            </a:r>
            <a:r>
              <a:rPr sz="1000" dirty="0">
                <a:latin typeface="Arial"/>
                <a:cs typeface="Arial"/>
              </a:rPr>
              <a:t> </a:t>
            </a:r>
            <a:r>
              <a:rPr sz="1000" spc="-10" dirty="0">
                <a:latin typeface="Arial"/>
                <a:cs typeface="Arial"/>
              </a:rPr>
              <a:t>servers</a:t>
            </a:r>
            <a:r>
              <a:rPr sz="1000" dirty="0">
                <a:latin typeface="Arial"/>
                <a:cs typeface="Arial"/>
              </a:rPr>
              <a:t> </a:t>
            </a:r>
            <a:r>
              <a:rPr sz="1000" spc="-10" dirty="0">
                <a:latin typeface="Arial"/>
                <a:cs typeface="Arial"/>
              </a:rPr>
              <a:t>in</a:t>
            </a:r>
            <a:r>
              <a:rPr sz="1000" spc="-5" dirty="0">
                <a:latin typeface="Arial"/>
                <a:cs typeface="Arial"/>
              </a:rPr>
              <a:t> </a:t>
            </a:r>
            <a:r>
              <a:rPr sz="1000" spc="-15" dirty="0">
                <a:latin typeface="Arial"/>
                <a:cs typeface="Arial"/>
              </a:rPr>
              <a:t>a</a:t>
            </a:r>
            <a:r>
              <a:rPr sz="1000" dirty="0">
                <a:latin typeface="Arial"/>
                <a:cs typeface="Arial"/>
              </a:rPr>
              <a:t> </a:t>
            </a:r>
            <a:r>
              <a:rPr sz="1000" spc="-15" dirty="0">
                <a:latin typeface="Arial"/>
                <a:cs typeface="Arial"/>
              </a:rPr>
              <a:t>data</a:t>
            </a:r>
            <a:r>
              <a:rPr sz="1000" dirty="0">
                <a:latin typeface="Arial"/>
                <a:cs typeface="Arial"/>
              </a:rPr>
              <a:t> </a:t>
            </a:r>
            <a:r>
              <a:rPr sz="1000" spc="-10" dirty="0">
                <a:latin typeface="Arial"/>
                <a:cs typeface="Arial"/>
              </a:rPr>
              <a:t>center</a:t>
            </a:r>
            <a:r>
              <a:rPr sz="1000" dirty="0">
                <a:latin typeface="Arial"/>
                <a:cs typeface="Arial"/>
              </a:rPr>
              <a:t> </a:t>
            </a:r>
            <a:r>
              <a:rPr sz="1000" spc="-15" dirty="0">
                <a:latin typeface="Arial"/>
                <a:cs typeface="Arial"/>
              </a:rPr>
              <a:t>are</a:t>
            </a:r>
            <a:r>
              <a:rPr sz="1000" spc="-5" dirty="0">
                <a:latin typeface="Arial"/>
                <a:cs typeface="Arial"/>
              </a:rPr>
              <a:t> </a:t>
            </a:r>
            <a:r>
              <a:rPr sz="1000" spc="-10" dirty="0">
                <a:solidFill>
                  <a:srgbClr val="0000FA"/>
                </a:solidFill>
                <a:latin typeface="Arial"/>
                <a:cs typeface="Arial"/>
              </a:rPr>
              <a:t>sufficiently</a:t>
            </a:r>
            <a:r>
              <a:rPr sz="1000" dirty="0">
                <a:solidFill>
                  <a:srgbClr val="0000FA"/>
                </a:solidFill>
                <a:latin typeface="Arial"/>
                <a:cs typeface="Arial"/>
              </a:rPr>
              <a:t> </a:t>
            </a:r>
            <a:r>
              <a:rPr sz="1000" spc="-15" dirty="0">
                <a:latin typeface="Arial"/>
                <a:cs typeface="Arial"/>
              </a:rPr>
              <a:t>loaded</a:t>
            </a:r>
            <a:r>
              <a:rPr sz="1000" dirty="0">
                <a:latin typeface="Arial"/>
                <a:cs typeface="Arial"/>
              </a:rPr>
              <a:t> </a:t>
            </a:r>
            <a:r>
              <a:rPr sz="1000" spc="-15" dirty="0">
                <a:latin typeface="Arial"/>
                <a:cs typeface="Arial"/>
              </a:rPr>
              <a:t>(e.g., </a:t>
            </a:r>
            <a:r>
              <a:rPr sz="1000" spc="-265" dirty="0">
                <a:latin typeface="Arial"/>
                <a:cs typeface="Arial"/>
              </a:rPr>
              <a:t> </a:t>
            </a:r>
            <a:r>
              <a:rPr sz="1000" spc="-5" dirty="0">
                <a:latin typeface="Arial"/>
                <a:cs typeface="Arial"/>
              </a:rPr>
              <a:t>to</a:t>
            </a:r>
            <a:r>
              <a:rPr sz="1000" spc="-10" dirty="0">
                <a:latin typeface="Arial"/>
                <a:cs typeface="Arial"/>
              </a:rPr>
              <a:t> prevent</a:t>
            </a:r>
            <a:r>
              <a:rPr sz="1000" spc="-5" dirty="0">
                <a:latin typeface="Arial"/>
                <a:cs typeface="Arial"/>
              </a:rPr>
              <a:t> waste of energy)</a:t>
            </a:r>
            <a:endParaRPr sz="1000" dirty="0">
              <a:latin typeface="Arial"/>
              <a:cs typeface="Arial"/>
            </a:endParaRPr>
          </a:p>
          <a:p>
            <a:pPr marL="314960" marR="236220" indent="-168275">
              <a:lnSpc>
                <a:spcPct val="100000"/>
              </a:lnSpc>
              <a:spcBef>
                <a:spcPts val="585"/>
              </a:spcBef>
              <a:buClr>
                <a:srgbClr val="3333B2"/>
              </a:buClr>
              <a:buChar char="►"/>
              <a:tabLst>
                <a:tab pos="315595" algn="l"/>
              </a:tabLst>
            </a:pPr>
            <a:r>
              <a:rPr sz="1000" spc="-5" dirty="0">
                <a:latin typeface="Arial"/>
                <a:cs typeface="Arial"/>
              </a:rPr>
              <a:t>Minimizing</a:t>
            </a:r>
            <a:r>
              <a:rPr sz="1000" dirty="0">
                <a:latin typeface="Arial"/>
                <a:cs typeface="Arial"/>
              </a:rPr>
              <a:t> </a:t>
            </a:r>
            <a:r>
              <a:rPr sz="1000" spc="-5" dirty="0">
                <a:latin typeface="Arial"/>
                <a:cs typeface="Arial"/>
              </a:rPr>
              <a:t>communication</a:t>
            </a:r>
            <a:r>
              <a:rPr sz="1000" spc="5" dirty="0">
                <a:latin typeface="Arial"/>
                <a:cs typeface="Arial"/>
              </a:rPr>
              <a:t> </a:t>
            </a:r>
            <a:r>
              <a:rPr sz="1000" spc="-15" dirty="0">
                <a:latin typeface="Arial"/>
                <a:cs typeface="Arial"/>
              </a:rPr>
              <a:t>by</a:t>
            </a:r>
            <a:r>
              <a:rPr sz="1000" spc="5" dirty="0">
                <a:latin typeface="Arial"/>
                <a:cs typeface="Arial"/>
              </a:rPr>
              <a:t> </a:t>
            </a:r>
            <a:r>
              <a:rPr sz="1000" spc="-5" dirty="0">
                <a:latin typeface="Arial"/>
                <a:cs typeface="Arial"/>
              </a:rPr>
              <a:t>ensuring</a:t>
            </a:r>
            <a:r>
              <a:rPr sz="1000" spc="5" dirty="0">
                <a:latin typeface="Arial"/>
                <a:cs typeface="Arial"/>
              </a:rPr>
              <a:t> </a:t>
            </a:r>
            <a:r>
              <a:rPr sz="1000" spc="-5" dirty="0">
                <a:latin typeface="Arial"/>
                <a:cs typeface="Arial"/>
              </a:rPr>
              <a:t>that</a:t>
            </a:r>
            <a:r>
              <a:rPr sz="1000" spc="5" dirty="0">
                <a:latin typeface="Arial"/>
                <a:cs typeface="Arial"/>
              </a:rPr>
              <a:t> </a:t>
            </a:r>
            <a:r>
              <a:rPr sz="1000" spc="-5" dirty="0">
                <a:latin typeface="Arial"/>
                <a:cs typeface="Arial"/>
              </a:rPr>
              <a:t>computations</a:t>
            </a:r>
            <a:r>
              <a:rPr sz="1000" spc="5" dirty="0">
                <a:latin typeface="Arial"/>
                <a:cs typeface="Arial"/>
              </a:rPr>
              <a:t> </a:t>
            </a:r>
            <a:r>
              <a:rPr sz="1000" spc="-5" dirty="0">
                <a:latin typeface="Arial"/>
                <a:cs typeface="Arial"/>
              </a:rPr>
              <a:t>are </a:t>
            </a:r>
            <a:r>
              <a:rPr sz="1000" spc="-260" dirty="0">
                <a:latin typeface="Arial"/>
                <a:cs typeface="Arial"/>
              </a:rPr>
              <a:t> </a:t>
            </a:r>
            <a:r>
              <a:rPr sz="1000" spc="-5" dirty="0">
                <a:latin typeface="Arial"/>
                <a:cs typeface="Arial"/>
              </a:rPr>
              <a:t>close to where</a:t>
            </a:r>
            <a:r>
              <a:rPr sz="1000" dirty="0">
                <a:latin typeface="Arial"/>
                <a:cs typeface="Arial"/>
              </a:rPr>
              <a:t> </a:t>
            </a:r>
            <a:r>
              <a:rPr sz="1000" spc="-5" dirty="0">
                <a:latin typeface="Arial"/>
                <a:cs typeface="Arial"/>
              </a:rPr>
              <a:t>the data</a:t>
            </a:r>
            <a:r>
              <a:rPr sz="1000" dirty="0">
                <a:latin typeface="Arial"/>
                <a:cs typeface="Arial"/>
              </a:rPr>
              <a:t> </a:t>
            </a:r>
            <a:r>
              <a:rPr sz="1000" spc="-5" dirty="0">
                <a:latin typeface="Arial"/>
                <a:cs typeface="Arial"/>
              </a:rPr>
              <a:t>is (think</a:t>
            </a:r>
            <a:r>
              <a:rPr sz="1000" dirty="0">
                <a:latin typeface="Arial"/>
                <a:cs typeface="Arial"/>
              </a:rPr>
              <a:t> </a:t>
            </a:r>
            <a:r>
              <a:rPr sz="1000" spc="-5" dirty="0">
                <a:latin typeface="Arial"/>
                <a:cs typeface="Arial"/>
              </a:rPr>
              <a:t>of mobile</a:t>
            </a:r>
            <a:r>
              <a:rPr sz="1000" dirty="0">
                <a:latin typeface="Arial"/>
                <a:cs typeface="Arial"/>
              </a:rPr>
              <a:t> </a:t>
            </a:r>
            <a:r>
              <a:rPr sz="1000" spc="-5" dirty="0">
                <a:latin typeface="Arial"/>
                <a:cs typeface="Arial"/>
              </a:rPr>
              <a:t>computing).</a:t>
            </a:r>
            <a:endParaRPr sz="1000" dirty="0">
              <a:latin typeface="Arial"/>
              <a:cs typeface="Arial"/>
            </a:endParaRPr>
          </a:p>
          <a:p>
            <a:pPr>
              <a:lnSpc>
                <a:spcPct val="100000"/>
              </a:lnSpc>
            </a:pPr>
            <a:endParaRPr sz="1050" dirty="0">
              <a:latin typeface="Arial"/>
              <a:cs typeface="Arial"/>
            </a:endParaRPr>
          </a:p>
          <a:p>
            <a:pPr marL="38100">
              <a:lnSpc>
                <a:spcPct val="100000"/>
              </a:lnSpc>
            </a:pPr>
            <a:r>
              <a:rPr sz="1200" spc="-5" dirty="0">
                <a:solidFill>
                  <a:srgbClr val="3333B2"/>
                </a:solidFill>
                <a:latin typeface="Arial"/>
                <a:cs typeface="Arial"/>
              </a:rPr>
              <a:t>Flexibility:</a:t>
            </a:r>
            <a:r>
              <a:rPr sz="1200" spc="70" dirty="0">
                <a:solidFill>
                  <a:srgbClr val="3333B2"/>
                </a:solidFill>
                <a:latin typeface="Arial"/>
                <a:cs typeface="Arial"/>
              </a:rPr>
              <a:t> </a:t>
            </a:r>
            <a:r>
              <a:rPr sz="1200" spc="-10" dirty="0">
                <a:solidFill>
                  <a:srgbClr val="3333B2"/>
                </a:solidFill>
                <a:latin typeface="Arial"/>
                <a:cs typeface="Arial"/>
              </a:rPr>
              <a:t>moving</a:t>
            </a:r>
            <a:r>
              <a:rPr sz="1200" spc="-5" dirty="0">
                <a:solidFill>
                  <a:srgbClr val="3333B2"/>
                </a:solidFill>
                <a:latin typeface="Arial"/>
                <a:cs typeface="Arial"/>
              </a:rPr>
              <a:t> code</a:t>
            </a:r>
            <a:r>
              <a:rPr sz="1200" spc="-10" dirty="0">
                <a:solidFill>
                  <a:srgbClr val="3333B2"/>
                </a:solidFill>
                <a:latin typeface="Arial"/>
                <a:cs typeface="Arial"/>
              </a:rPr>
              <a:t> </a:t>
            </a:r>
            <a:r>
              <a:rPr sz="1200" spc="-5" dirty="0">
                <a:solidFill>
                  <a:srgbClr val="3333B2"/>
                </a:solidFill>
                <a:latin typeface="Arial"/>
                <a:cs typeface="Arial"/>
              </a:rPr>
              <a:t>to a client</a:t>
            </a:r>
            <a:r>
              <a:rPr sz="1200" spc="-10" dirty="0">
                <a:solidFill>
                  <a:srgbClr val="3333B2"/>
                </a:solidFill>
                <a:latin typeface="Arial"/>
                <a:cs typeface="Arial"/>
              </a:rPr>
              <a:t> </a:t>
            </a:r>
            <a:r>
              <a:rPr sz="1200" spc="-5" dirty="0">
                <a:solidFill>
                  <a:srgbClr val="3333B2"/>
                </a:solidFill>
                <a:latin typeface="Arial"/>
                <a:cs typeface="Arial"/>
              </a:rPr>
              <a:t>when needed</a:t>
            </a:r>
            <a:endParaRPr sz="1200" dirty="0">
              <a:latin typeface="Arial"/>
              <a:cs typeface="Arial"/>
            </a:endParaRPr>
          </a:p>
          <a:p>
            <a:pPr marL="1730375">
              <a:lnSpc>
                <a:spcPct val="100000"/>
              </a:lnSpc>
              <a:spcBef>
                <a:spcPts val="900"/>
              </a:spcBef>
            </a:pPr>
            <a:r>
              <a:rPr sz="650" spc="5" dirty="0">
                <a:solidFill>
                  <a:srgbClr val="231F20"/>
                </a:solidFill>
                <a:latin typeface="Arial"/>
                <a:cs typeface="Arial"/>
              </a:rPr>
              <a:t>2.</a:t>
            </a:r>
            <a:r>
              <a:rPr sz="650" spc="-20" dirty="0">
                <a:solidFill>
                  <a:srgbClr val="231F20"/>
                </a:solidFill>
                <a:latin typeface="Arial"/>
                <a:cs typeface="Arial"/>
              </a:rPr>
              <a:t> </a:t>
            </a:r>
            <a:r>
              <a:rPr sz="650" spc="5" dirty="0">
                <a:solidFill>
                  <a:srgbClr val="231F20"/>
                </a:solidFill>
                <a:latin typeface="Arial"/>
                <a:cs typeface="Arial"/>
              </a:rPr>
              <a:t>Client</a:t>
            </a:r>
            <a:r>
              <a:rPr sz="650" spc="-20" dirty="0">
                <a:solidFill>
                  <a:srgbClr val="231F20"/>
                </a:solidFill>
                <a:latin typeface="Arial"/>
                <a:cs typeface="Arial"/>
              </a:rPr>
              <a:t> </a:t>
            </a:r>
            <a:r>
              <a:rPr sz="650" spc="5" dirty="0">
                <a:solidFill>
                  <a:srgbClr val="231F20"/>
                </a:solidFill>
                <a:latin typeface="Arial"/>
                <a:cs typeface="Arial"/>
              </a:rPr>
              <a:t>and</a:t>
            </a:r>
            <a:r>
              <a:rPr sz="650" spc="-15" dirty="0">
                <a:solidFill>
                  <a:srgbClr val="231F20"/>
                </a:solidFill>
                <a:latin typeface="Arial"/>
                <a:cs typeface="Arial"/>
              </a:rPr>
              <a:t> </a:t>
            </a:r>
            <a:r>
              <a:rPr sz="650" spc="5" dirty="0">
                <a:solidFill>
                  <a:srgbClr val="231F20"/>
                </a:solidFill>
                <a:latin typeface="Arial"/>
                <a:cs typeface="Arial"/>
              </a:rPr>
              <a:t>server</a:t>
            </a:r>
            <a:endParaRPr sz="650" dirty="0">
              <a:latin typeface="Arial"/>
              <a:cs typeface="Arial"/>
            </a:endParaRPr>
          </a:p>
        </p:txBody>
      </p:sp>
      <p:sp>
        <p:nvSpPr>
          <p:cNvPr id="8" name="object 8"/>
          <p:cNvSpPr txBox="1"/>
          <p:nvPr/>
        </p:nvSpPr>
        <p:spPr>
          <a:xfrm>
            <a:off x="2154496" y="1907559"/>
            <a:ext cx="527050" cy="127000"/>
          </a:xfrm>
          <a:prstGeom prst="rect">
            <a:avLst/>
          </a:prstGeom>
        </p:spPr>
        <p:txBody>
          <a:bodyPr vert="horz" wrap="square" lIns="0" tIns="13970" rIns="0" bIns="0" rtlCol="0">
            <a:spAutoFit/>
          </a:bodyPr>
          <a:lstStyle/>
          <a:p>
            <a:pPr marL="12700">
              <a:lnSpc>
                <a:spcPct val="100000"/>
              </a:lnSpc>
              <a:spcBef>
                <a:spcPts val="110"/>
              </a:spcBef>
            </a:pPr>
            <a:r>
              <a:rPr sz="650" spc="5" dirty="0">
                <a:solidFill>
                  <a:srgbClr val="231F20"/>
                </a:solidFill>
                <a:latin typeface="Arial"/>
                <a:cs typeface="Arial"/>
              </a:rPr>
              <a:t>communicate</a:t>
            </a:r>
            <a:endParaRPr sz="650">
              <a:latin typeface="Arial"/>
              <a:cs typeface="Arial"/>
            </a:endParaRPr>
          </a:p>
        </p:txBody>
      </p:sp>
      <p:grpSp>
        <p:nvGrpSpPr>
          <p:cNvPr id="9" name="object 9"/>
          <p:cNvGrpSpPr/>
          <p:nvPr/>
        </p:nvGrpSpPr>
        <p:grpSpPr>
          <a:xfrm>
            <a:off x="1579219" y="2036681"/>
            <a:ext cx="1617980" cy="1002665"/>
            <a:chOff x="1579219" y="2036681"/>
            <a:chExt cx="1617980" cy="1002665"/>
          </a:xfrm>
        </p:grpSpPr>
        <p:sp>
          <p:nvSpPr>
            <p:cNvPr id="10" name="object 10"/>
            <p:cNvSpPr/>
            <p:nvPr/>
          </p:nvSpPr>
          <p:spPr>
            <a:xfrm>
              <a:off x="2175868" y="2877297"/>
              <a:ext cx="339725" cy="159385"/>
            </a:xfrm>
            <a:custGeom>
              <a:avLst/>
              <a:gdLst/>
              <a:ahLst/>
              <a:cxnLst/>
              <a:rect l="l" t="t" r="r" b="b"/>
              <a:pathLst>
                <a:path w="339725" h="159385">
                  <a:moveTo>
                    <a:pt x="339431" y="0"/>
                  </a:moveTo>
                  <a:lnTo>
                    <a:pt x="0" y="0"/>
                  </a:lnTo>
                  <a:lnTo>
                    <a:pt x="0" y="127286"/>
                  </a:lnTo>
                  <a:lnTo>
                    <a:pt x="14605" y="141208"/>
                  </a:lnTo>
                  <a:lnTo>
                    <a:pt x="53090" y="151154"/>
                  </a:lnTo>
                  <a:lnTo>
                    <a:pt x="107457" y="157121"/>
                  </a:lnTo>
                  <a:lnTo>
                    <a:pt x="169711" y="159111"/>
                  </a:lnTo>
                  <a:lnTo>
                    <a:pt x="231970" y="157121"/>
                  </a:lnTo>
                  <a:lnTo>
                    <a:pt x="286340" y="151154"/>
                  </a:lnTo>
                  <a:lnTo>
                    <a:pt x="324826" y="141208"/>
                  </a:lnTo>
                  <a:lnTo>
                    <a:pt x="339431" y="127286"/>
                  </a:lnTo>
                  <a:lnTo>
                    <a:pt x="339431" y="0"/>
                  </a:lnTo>
                  <a:close/>
                </a:path>
              </a:pathLst>
            </a:custGeom>
            <a:solidFill>
              <a:srgbClr val="BCBEC0"/>
            </a:solidFill>
          </p:spPr>
          <p:txBody>
            <a:bodyPr wrap="square" lIns="0" tIns="0" rIns="0" bIns="0" rtlCol="0"/>
            <a:lstStyle/>
            <a:p>
              <a:endParaRPr/>
            </a:p>
          </p:txBody>
        </p:sp>
        <p:sp>
          <p:nvSpPr>
            <p:cNvPr id="11" name="object 11"/>
            <p:cNvSpPr/>
            <p:nvPr/>
          </p:nvSpPr>
          <p:spPr>
            <a:xfrm>
              <a:off x="2175868" y="2877297"/>
              <a:ext cx="339725" cy="159385"/>
            </a:xfrm>
            <a:custGeom>
              <a:avLst/>
              <a:gdLst/>
              <a:ahLst/>
              <a:cxnLst/>
              <a:rect l="l" t="t" r="r" b="b"/>
              <a:pathLst>
                <a:path w="339725" h="159385">
                  <a:moveTo>
                    <a:pt x="0" y="0"/>
                  </a:moveTo>
                  <a:lnTo>
                    <a:pt x="339431" y="0"/>
                  </a:lnTo>
                  <a:lnTo>
                    <a:pt x="339431" y="20295"/>
                  </a:lnTo>
                  <a:lnTo>
                    <a:pt x="339431" y="63496"/>
                  </a:lnTo>
                  <a:lnTo>
                    <a:pt x="339431" y="106771"/>
                  </a:lnTo>
                  <a:lnTo>
                    <a:pt x="339431" y="127286"/>
                  </a:lnTo>
                  <a:lnTo>
                    <a:pt x="324826" y="141208"/>
                  </a:lnTo>
                  <a:lnTo>
                    <a:pt x="286340" y="151154"/>
                  </a:lnTo>
                  <a:lnTo>
                    <a:pt x="231970" y="157121"/>
                  </a:lnTo>
                  <a:lnTo>
                    <a:pt x="169711" y="159111"/>
                  </a:lnTo>
                  <a:lnTo>
                    <a:pt x="107457" y="157121"/>
                  </a:lnTo>
                  <a:lnTo>
                    <a:pt x="53090" y="151154"/>
                  </a:lnTo>
                  <a:lnTo>
                    <a:pt x="14605" y="141208"/>
                  </a:lnTo>
                  <a:lnTo>
                    <a:pt x="0" y="127286"/>
                  </a:lnTo>
                  <a:lnTo>
                    <a:pt x="0" y="106538"/>
                  </a:lnTo>
                  <a:lnTo>
                    <a:pt x="0" y="62878"/>
                  </a:lnTo>
                  <a:lnTo>
                    <a:pt x="0" y="19601"/>
                  </a:lnTo>
                  <a:lnTo>
                    <a:pt x="0" y="0"/>
                  </a:lnTo>
                  <a:close/>
                </a:path>
              </a:pathLst>
            </a:custGeom>
            <a:ln w="5270">
              <a:solidFill>
                <a:srgbClr val="231F20"/>
              </a:solidFill>
            </a:ln>
          </p:spPr>
          <p:txBody>
            <a:bodyPr wrap="square" lIns="0" tIns="0" rIns="0" bIns="0" rtlCol="0"/>
            <a:lstStyle/>
            <a:p>
              <a:endParaRPr/>
            </a:p>
          </p:txBody>
        </p:sp>
        <p:sp>
          <p:nvSpPr>
            <p:cNvPr id="12" name="object 12"/>
            <p:cNvSpPr/>
            <p:nvPr/>
          </p:nvSpPr>
          <p:spPr>
            <a:xfrm>
              <a:off x="2175868" y="2845473"/>
              <a:ext cx="339725" cy="64135"/>
            </a:xfrm>
            <a:custGeom>
              <a:avLst/>
              <a:gdLst/>
              <a:ahLst/>
              <a:cxnLst/>
              <a:rect l="l" t="t" r="r" b="b"/>
              <a:pathLst>
                <a:path w="339725" h="64135">
                  <a:moveTo>
                    <a:pt x="169711" y="0"/>
                  </a:moveTo>
                  <a:lnTo>
                    <a:pt x="103761" y="2507"/>
                  </a:lnTo>
                  <a:lnTo>
                    <a:pt x="49804" y="9338"/>
                  </a:lnTo>
                  <a:lnTo>
                    <a:pt x="13373" y="19456"/>
                  </a:lnTo>
                  <a:lnTo>
                    <a:pt x="0" y="31824"/>
                  </a:lnTo>
                  <a:lnTo>
                    <a:pt x="13373" y="44189"/>
                  </a:lnTo>
                  <a:lnTo>
                    <a:pt x="49804" y="54306"/>
                  </a:lnTo>
                  <a:lnTo>
                    <a:pt x="103761" y="61137"/>
                  </a:lnTo>
                  <a:lnTo>
                    <a:pt x="169711" y="63645"/>
                  </a:lnTo>
                  <a:lnTo>
                    <a:pt x="235670" y="61137"/>
                  </a:lnTo>
                  <a:lnTo>
                    <a:pt x="289629" y="54306"/>
                  </a:lnTo>
                  <a:lnTo>
                    <a:pt x="326059" y="44189"/>
                  </a:lnTo>
                  <a:lnTo>
                    <a:pt x="339431" y="31824"/>
                  </a:lnTo>
                  <a:lnTo>
                    <a:pt x="326059" y="19456"/>
                  </a:lnTo>
                  <a:lnTo>
                    <a:pt x="289629" y="9338"/>
                  </a:lnTo>
                  <a:lnTo>
                    <a:pt x="235670" y="2507"/>
                  </a:lnTo>
                  <a:lnTo>
                    <a:pt x="169711" y="0"/>
                  </a:lnTo>
                  <a:close/>
                </a:path>
              </a:pathLst>
            </a:custGeom>
            <a:solidFill>
              <a:srgbClr val="FFFFFF"/>
            </a:solidFill>
          </p:spPr>
          <p:txBody>
            <a:bodyPr wrap="square" lIns="0" tIns="0" rIns="0" bIns="0" rtlCol="0"/>
            <a:lstStyle/>
            <a:p>
              <a:endParaRPr/>
            </a:p>
          </p:txBody>
        </p:sp>
        <p:sp>
          <p:nvSpPr>
            <p:cNvPr id="13" name="object 13"/>
            <p:cNvSpPr/>
            <p:nvPr/>
          </p:nvSpPr>
          <p:spPr>
            <a:xfrm>
              <a:off x="2175868" y="2845473"/>
              <a:ext cx="339725" cy="64135"/>
            </a:xfrm>
            <a:custGeom>
              <a:avLst/>
              <a:gdLst/>
              <a:ahLst/>
              <a:cxnLst/>
              <a:rect l="l" t="t" r="r" b="b"/>
              <a:pathLst>
                <a:path w="339725" h="64135">
                  <a:moveTo>
                    <a:pt x="169711" y="0"/>
                  </a:moveTo>
                  <a:lnTo>
                    <a:pt x="235670" y="2507"/>
                  </a:lnTo>
                  <a:lnTo>
                    <a:pt x="289629" y="9338"/>
                  </a:lnTo>
                  <a:lnTo>
                    <a:pt x="326059" y="19456"/>
                  </a:lnTo>
                  <a:lnTo>
                    <a:pt x="339431" y="31824"/>
                  </a:lnTo>
                  <a:lnTo>
                    <a:pt x="326059" y="44189"/>
                  </a:lnTo>
                  <a:lnTo>
                    <a:pt x="289629" y="54306"/>
                  </a:lnTo>
                  <a:lnTo>
                    <a:pt x="235670" y="61137"/>
                  </a:lnTo>
                  <a:lnTo>
                    <a:pt x="169711" y="63645"/>
                  </a:lnTo>
                  <a:lnTo>
                    <a:pt x="103761" y="61137"/>
                  </a:lnTo>
                  <a:lnTo>
                    <a:pt x="49804" y="54306"/>
                  </a:lnTo>
                  <a:lnTo>
                    <a:pt x="13373" y="44189"/>
                  </a:lnTo>
                  <a:lnTo>
                    <a:pt x="0" y="31824"/>
                  </a:lnTo>
                  <a:lnTo>
                    <a:pt x="13373" y="19456"/>
                  </a:lnTo>
                  <a:lnTo>
                    <a:pt x="49804" y="9338"/>
                  </a:lnTo>
                  <a:lnTo>
                    <a:pt x="103761" y="2507"/>
                  </a:lnTo>
                  <a:lnTo>
                    <a:pt x="169711" y="0"/>
                  </a:lnTo>
                  <a:close/>
                </a:path>
              </a:pathLst>
            </a:custGeom>
            <a:ln w="5270">
              <a:solidFill>
                <a:srgbClr val="231F20"/>
              </a:solidFill>
            </a:ln>
          </p:spPr>
          <p:txBody>
            <a:bodyPr wrap="square" lIns="0" tIns="0" rIns="0" bIns="0" rtlCol="0"/>
            <a:lstStyle/>
            <a:p>
              <a:endParaRPr/>
            </a:p>
          </p:txBody>
        </p:sp>
        <p:sp>
          <p:nvSpPr>
            <p:cNvPr id="14" name="object 14"/>
            <p:cNvSpPr/>
            <p:nvPr/>
          </p:nvSpPr>
          <p:spPr>
            <a:xfrm>
              <a:off x="1603068" y="2092351"/>
              <a:ext cx="742950" cy="774700"/>
            </a:xfrm>
            <a:custGeom>
              <a:avLst/>
              <a:gdLst/>
              <a:ahLst/>
              <a:cxnLst/>
              <a:rect l="l" t="t" r="r" b="b"/>
              <a:pathLst>
                <a:path w="742950" h="774700">
                  <a:moveTo>
                    <a:pt x="0" y="469033"/>
                  </a:moveTo>
                  <a:lnTo>
                    <a:pt x="360650" y="469033"/>
                  </a:lnTo>
                  <a:lnTo>
                    <a:pt x="360650" y="0"/>
                  </a:lnTo>
                  <a:lnTo>
                    <a:pt x="0" y="0"/>
                  </a:lnTo>
                  <a:lnTo>
                    <a:pt x="0" y="469033"/>
                  </a:lnTo>
                  <a:close/>
                </a:path>
                <a:path w="742950" h="774700">
                  <a:moveTo>
                    <a:pt x="84859" y="278101"/>
                  </a:moveTo>
                  <a:lnTo>
                    <a:pt x="212150" y="278101"/>
                  </a:lnTo>
                  <a:lnTo>
                    <a:pt x="212150" y="65955"/>
                  </a:lnTo>
                  <a:lnTo>
                    <a:pt x="84859" y="65955"/>
                  </a:lnTo>
                  <a:lnTo>
                    <a:pt x="84859" y="278101"/>
                  </a:lnTo>
                  <a:close/>
                </a:path>
                <a:path w="742950" h="774700">
                  <a:moveTo>
                    <a:pt x="742511" y="774335"/>
                  </a:moveTo>
                  <a:lnTo>
                    <a:pt x="660140" y="474998"/>
                  </a:lnTo>
                  <a:lnTo>
                    <a:pt x="489264" y="316737"/>
                  </a:lnTo>
                  <a:lnTo>
                    <a:pt x="320376" y="254684"/>
                  </a:lnTo>
                  <a:lnTo>
                    <a:pt x="243970" y="243970"/>
                  </a:lnTo>
                </a:path>
              </a:pathLst>
            </a:custGeom>
            <a:ln w="5270">
              <a:solidFill>
                <a:srgbClr val="231F20"/>
              </a:solidFill>
            </a:ln>
          </p:spPr>
          <p:txBody>
            <a:bodyPr wrap="square" lIns="0" tIns="0" rIns="0" bIns="0" rtlCol="0"/>
            <a:lstStyle/>
            <a:p>
              <a:endParaRPr/>
            </a:p>
          </p:txBody>
        </p:sp>
        <p:pic>
          <p:nvPicPr>
            <p:cNvPr id="15" name="object 15"/>
            <p:cNvPicPr/>
            <p:nvPr/>
          </p:nvPicPr>
          <p:blipFill>
            <a:blip r:embed="rId5" cstate="print"/>
            <a:stretch>
              <a:fillRect/>
            </a:stretch>
          </p:blipFill>
          <p:spPr>
            <a:xfrm>
              <a:off x="1809685" y="2305774"/>
              <a:ext cx="75454" cy="63710"/>
            </a:xfrm>
            <a:prstGeom prst="rect">
              <a:avLst/>
            </a:prstGeom>
          </p:spPr>
        </p:pic>
        <p:sp>
          <p:nvSpPr>
            <p:cNvPr id="16" name="object 16"/>
            <p:cNvSpPr/>
            <p:nvPr/>
          </p:nvSpPr>
          <p:spPr>
            <a:xfrm>
              <a:off x="1581855" y="2369275"/>
              <a:ext cx="146685" cy="401955"/>
            </a:xfrm>
            <a:custGeom>
              <a:avLst/>
              <a:gdLst/>
              <a:ahLst/>
              <a:cxnLst/>
              <a:rect l="l" t="t" r="r" b="b"/>
              <a:pathLst>
                <a:path w="146685" h="401955">
                  <a:moveTo>
                    <a:pt x="0" y="401945"/>
                  </a:moveTo>
                  <a:lnTo>
                    <a:pt x="146577" y="0"/>
                  </a:lnTo>
                </a:path>
              </a:pathLst>
            </a:custGeom>
            <a:ln w="5270">
              <a:solidFill>
                <a:srgbClr val="231F20"/>
              </a:solidFill>
            </a:ln>
          </p:spPr>
          <p:txBody>
            <a:bodyPr wrap="square" lIns="0" tIns="0" rIns="0" bIns="0" rtlCol="0"/>
            <a:lstStyle/>
            <a:p>
              <a:endParaRPr/>
            </a:p>
          </p:txBody>
        </p:sp>
        <p:sp>
          <p:nvSpPr>
            <p:cNvPr id="17" name="object 17"/>
            <p:cNvSpPr/>
            <p:nvPr/>
          </p:nvSpPr>
          <p:spPr>
            <a:xfrm>
              <a:off x="1592461" y="2559074"/>
              <a:ext cx="1602105" cy="127635"/>
            </a:xfrm>
            <a:custGeom>
              <a:avLst/>
              <a:gdLst/>
              <a:ahLst/>
              <a:cxnLst/>
              <a:rect l="l" t="t" r="r" b="b"/>
              <a:pathLst>
                <a:path w="1602105" h="127635">
                  <a:moveTo>
                    <a:pt x="0" y="127286"/>
                  </a:moveTo>
                  <a:lnTo>
                    <a:pt x="1601711" y="127286"/>
                  </a:lnTo>
                </a:path>
                <a:path w="1602105" h="127635">
                  <a:moveTo>
                    <a:pt x="180325" y="0"/>
                  </a:moveTo>
                  <a:lnTo>
                    <a:pt x="180325" y="127286"/>
                  </a:lnTo>
                </a:path>
              </a:pathLst>
            </a:custGeom>
            <a:ln w="15812">
              <a:solidFill>
                <a:srgbClr val="231F20"/>
              </a:solidFill>
            </a:ln>
          </p:spPr>
          <p:txBody>
            <a:bodyPr wrap="square" lIns="0" tIns="0" rIns="0" bIns="0" rtlCol="0"/>
            <a:lstStyle/>
            <a:p>
              <a:endParaRPr/>
            </a:p>
          </p:txBody>
        </p:sp>
        <p:sp>
          <p:nvSpPr>
            <p:cNvPr id="18" name="object 18"/>
            <p:cNvSpPr/>
            <p:nvPr/>
          </p:nvSpPr>
          <p:spPr>
            <a:xfrm>
              <a:off x="2833522" y="2092350"/>
              <a:ext cx="360680" cy="466725"/>
            </a:xfrm>
            <a:custGeom>
              <a:avLst/>
              <a:gdLst/>
              <a:ahLst/>
              <a:cxnLst/>
              <a:rect l="l" t="t" r="r" b="b"/>
              <a:pathLst>
                <a:path w="360680" h="466725">
                  <a:moveTo>
                    <a:pt x="0" y="466723"/>
                  </a:moveTo>
                  <a:lnTo>
                    <a:pt x="360650" y="466723"/>
                  </a:lnTo>
                  <a:lnTo>
                    <a:pt x="360650" y="0"/>
                  </a:lnTo>
                  <a:lnTo>
                    <a:pt x="0" y="0"/>
                  </a:lnTo>
                  <a:lnTo>
                    <a:pt x="0" y="466723"/>
                  </a:lnTo>
                  <a:close/>
                </a:path>
                <a:path w="360680" h="466725">
                  <a:moveTo>
                    <a:pt x="106074" y="297010"/>
                  </a:moveTo>
                  <a:lnTo>
                    <a:pt x="233365" y="297010"/>
                  </a:lnTo>
                  <a:lnTo>
                    <a:pt x="233365" y="84860"/>
                  </a:lnTo>
                  <a:lnTo>
                    <a:pt x="106074" y="84860"/>
                  </a:lnTo>
                  <a:lnTo>
                    <a:pt x="106074" y="297010"/>
                  </a:lnTo>
                  <a:close/>
                </a:path>
              </a:pathLst>
            </a:custGeom>
            <a:ln w="5270">
              <a:solidFill>
                <a:srgbClr val="231F20"/>
              </a:solidFill>
            </a:ln>
          </p:spPr>
          <p:txBody>
            <a:bodyPr wrap="square" lIns="0" tIns="0" rIns="0" bIns="0" rtlCol="0"/>
            <a:lstStyle/>
            <a:p>
              <a:endParaRPr/>
            </a:p>
          </p:txBody>
        </p:sp>
        <p:sp>
          <p:nvSpPr>
            <p:cNvPr id="19" name="object 19"/>
            <p:cNvSpPr/>
            <p:nvPr/>
          </p:nvSpPr>
          <p:spPr>
            <a:xfrm>
              <a:off x="3024452" y="2559074"/>
              <a:ext cx="0" cy="127635"/>
            </a:xfrm>
            <a:custGeom>
              <a:avLst/>
              <a:gdLst/>
              <a:ahLst/>
              <a:cxnLst/>
              <a:rect l="l" t="t" r="r" b="b"/>
              <a:pathLst>
                <a:path h="127635">
                  <a:moveTo>
                    <a:pt x="0" y="0"/>
                  </a:moveTo>
                  <a:lnTo>
                    <a:pt x="0" y="127286"/>
                  </a:lnTo>
                </a:path>
              </a:pathLst>
            </a:custGeom>
            <a:ln w="15812">
              <a:solidFill>
                <a:srgbClr val="231F20"/>
              </a:solidFill>
            </a:ln>
          </p:spPr>
          <p:txBody>
            <a:bodyPr wrap="square" lIns="0" tIns="0" rIns="0" bIns="0" rtlCol="0"/>
            <a:lstStyle/>
            <a:p>
              <a:endParaRPr/>
            </a:p>
          </p:txBody>
        </p:sp>
        <p:sp>
          <p:nvSpPr>
            <p:cNvPr id="20" name="object 20"/>
            <p:cNvSpPr/>
            <p:nvPr/>
          </p:nvSpPr>
          <p:spPr>
            <a:xfrm>
              <a:off x="1851281" y="2240856"/>
              <a:ext cx="944880" cy="0"/>
            </a:xfrm>
            <a:custGeom>
              <a:avLst/>
              <a:gdLst/>
              <a:ahLst/>
              <a:cxnLst/>
              <a:rect l="l" t="t" r="r" b="b"/>
              <a:pathLst>
                <a:path w="944880">
                  <a:moveTo>
                    <a:pt x="0" y="0"/>
                  </a:moveTo>
                  <a:lnTo>
                    <a:pt x="944863" y="0"/>
                  </a:lnTo>
                </a:path>
              </a:pathLst>
            </a:custGeom>
            <a:ln w="5270">
              <a:solidFill>
                <a:srgbClr val="231F20"/>
              </a:solidFill>
            </a:ln>
          </p:spPr>
          <p:txBody>
            <a:bodyPr wrap="square" lIns="0" tIns="0" rIns="0" bIns="0" rtlCol="0"/>
            <a:lstStyle/>
            <a:p>
              <a:endParaRPr/>
            </a:p>
          </p:txBody>
        </p:sp>
        <p:pic>
          <p:nvPicPr>
            <p:cNvPr id="21" name="object 21"/>
            <p:cNvPicPr/>
            <p:nvPr/>
          </p:nvPicPr>
          <p:blipFill>
            <a:blip r:embed="rId6" cstate="print"/>
            <a:stretch>
              <a:fillRect/>
            </a:stretch>
          </p:blipFill>
          <p:spPr>
            <a:xfrm>
              <a:off x="1813901" y="2208978"/>
              <a:ext cx="74379" cy="63751"/>
            </a:xfrm>
            <a:prstGeom prst="rect">
              <a:avLst/>
            </a:prstGeom>
          </p:spPr>
        </p:pic>
        <p:pic>
          <p:nvPicPr>
            <p:cNvPr id="22" name="object 22"/>
            <p:cNvPicPr/>
            <p:nvPr/>
          </p:nvPicPr>
          <p:blipFill>
            <a:blip r:embed="rId7" cstate="print"/>
            <a:stretch>
              <a:fillRect/>
            </a:stretch>
          </p:blipFill>
          <p:spPr>
            <a:xfrm>
              <a:off x="2759145" y="2208978"/>
              <a:ext cx="74377" cy="63751"/>
            </a:xfrm>
            <a:prstGeom prst="rect">
              <a:avLst/>
            </a:prstGeom>
          </p:spPr>
        </p:pic>
        <p:sp>
          <p:nvSpPr>
            <p:cNvPr id="23" name="object 23"/>
            <p:cNvSpPr/>
            <p:nvPr/>
          </p:nvSpPr>
          <p:spPr>
            <a:xfrm>
              <a:off x="2339803" y="2039316"/>
              <a:ext cx="165100" cy="753745"/>
            </a:xfrm>
            <a:custGeom>
              <a:avLst/>
              <a:gdLst/>
              <a:ahLst/>
              <a:cxnLst/>
              <a:rect l="l" t="t" r="r" b="b"/>
              <a:pathLst>
                <a:path w="165100" h="753744">
                  <a:moveTo>
                    <a:pt x="80027" y="0"/>
                  </a:moveTo>
                  <a:lnTo>
                    <a:pt x="17571" y="199954"/>
                  </a:lnTo>
                </a:path>
                <a:path w="165100" h="753744">
                  <a:moveTo>
                    <a:pt x="164892" y="753121"/>
                  </a:moveTo>
                  <a:lnTo>
                    <a:pt x="0" y="719971"/>
                  </a:lnTo>
                </a:path>
              </a:pathLst>
            </a:custGeom>
            <a:ln w="5270">
              <a:solidFill>
                <a:srgbClr val="231F20"/>
              </a:solidFill>
            </a:ln>
          </p:spPr>
          <p:txBody>
            <a:bodyPr wrap="square" lIns="0" tIns="0" rIns="0" bIns="0" rtlCol="0"/>
            <a:lstStyle/>
            <a:p>
              <a:endParaRPr/>
            </a:p>
          </p:txBody>
        </p:sp>
      </p:grpSp>
      <p:sp>
        <p:nvSpPr>
          <p:cNvPr id="24" name="object 24"/>
          <p:cNvSpPr txBox="1"/>
          <p:nvPr/>
        </p:nvSpPr>
        <p:spPr>
          <a:xfrm>
            <a:off x="343128" y="3315581"/>
            <a:ext cx="3783329"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Arial"/>
                <a:cs typeface="Arial"/>
              </a:rPr>
              <a:t>Avoids</a:t>
            </a:r>
            <a:r>
              <a:rPr sz="1000" spc="5" dirty="0">
                <a:latin typeface="Arial"/>
                <a:cs typeface="Arial"/>
              </a:rPr>
              <a:t> </a:t>
            </a:r>
            <a:r>
              <a:rPr sz="1000" spc="-5" dirty="0">
                <a:latin typeface="Arial"/>
                <a:cs typeface="Arial"/>
              </a:rPr>
              <a:t>pre-installing</a:t>
            </a:r>
            <a:r>
              <a:rPr sz="1000" spc="5" dirty="0">
                <a:latin typeface="Arial"/>
                <a:cs typeface="Arial"/>
              </a:rPr>
              <a:t> </a:t>
            </a:r>
            <a:r>
              <a:rPr sz="1000" spc="-5" dirty="0">
                <a:latin typeface="Arial"/>
                <a:cs typeface="Arial"/>
              </a:rPr>
              <a:t>software</a:t>
            </a:r>
            <a:r>
              <a:rPr sz="1000" spc="5" dirty="0">
                <a:latin typeface="Arial"/>
                <a:cs typeface="Arial"/>
              </a:rPr>
              <a:t> </a:t>
            </a:r>
            <a:r>
              <a:rPr sz="1000" spc="-5" dirty="0">
                <a:latin typeface="Arial"/>
                <a:cs typeface="Arial"/>
              </a:rPr>
              <a:t>and</a:t>
            </a:r>
            <a:r>
              <a:rPr sz="1000" spc="5" dirty="0">
                <a:latin typeface="Arial"/>
                <a:cs typeface="Arial"/>
              </a:rPr>
              <a:t> </a:t>
            </a:r>
            <a:r>
              <a:rPr sz="1000" spc="-5" dirty="0">
                <a:latin typeface="Arial"/>
                <a:cs typeface="Arial"/>
              </a:rPr>
              <a:t>increases</a:t>
            </a:r>
            <a:r>
              <a:rPr sz="1000" spc="5" dirty="0">
                <a:latin typeface="Arial"/>
                <a:cs typeface="Arial"/>
              </a:rPr>
              <a:t> </a:t>
            </a:r>
            <a:r>
              <a:rPr sz="1000" spc="-5" dirty="0">
                <a:latin typeface="Arial"/>
                <a:cs typeface="Arial"/>
              </a:rPr>
              <a:t>dynamic</a:t>
            </a:r>
            <a:r>
              <a:rPr sz="1000" spc="5" dirty="0">
                <a:latin typeface="Arial"/>
                <a:cs typeface="Arial"/>
              </a:rPr>
              <a:t> </a:t>
            </a:r>
            <a:r>
              <a:rPr sz="1000" spc="-5" dirty="0">
                <a:latin typeface="Arial"/>
                <a:cs typeface="Arial"/>
              </a:rPr>
              <a:t>configuration.</a:t>
            </a:r>
            <a:endParaRPr sz="1000" dirty="0">
              <a:latin typeface="Arial"/>
              <a:cs typeface="Arial"/>
            </a:endParaRPr>
          </a:p>
        </p:txBody>
      </p:sp>
      <p:sp>
        <p:nvSpPr>
          <p:cNvPr id="25" name="object 25"/>
          <p:cNvSpPr txBox="1"/>
          <p:nvPr/>
        </p:nvSpPr>
        <p:spPr>
          <a:xfrm>
            <a:off x="4283748" y="3327684"/>
            <a:ext cx="25781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rPr>
              <a:t>41</a:t>
            </a:r>
            <a:r>
              <a:rPr sz="600" spc="-40" dirty="0">
                <a:solidFill>
                  <a:srgbClr val="262685"/>
                </a:solidFill>
                <a:latin typeface="Arial"/>
                <a:cs typeface="Arial"/>
              </a:rPr>
              <a:t> </a:t>
            </a:r>
            <a:r>
              <a:rPr sz="600" spc="-5" dirty="0">
                <a:solidFill>
                  <a:srgbClr val="262685"/>
                </a:solidFill>
                <a:latin typeface="Arial"/>
                <a:cs typeface="Arial"/>
              </a:rPr>
              <a:t>/</a:t>
            </a:r>
            <a:r>
              <a:rPr sz="600" spc="-35" dirty="0">
                <a:solidFill>
                  <a:srgbClr val="262685"/>
                </a:solidFill>
                <a:latin typeface="Arial"/>
                <a:cs typeface="Arial"/>
              </a:rPr>
              <a:t> </a:t>
            </a:r>
            <a:r>
              <a:rPr sz="600" spc="-5" dirty="0">
                <a:solidFill>
                  <a:srgbClr val="262685"/>
                </a:solidFill>
                <a:latin typeface="Arial"/>
                <a:cs typeface="Arial"/>
              </a:rPr>
              <a:t>47</a:t>
            </a:r>
            <a:endParaRPr sz="600">
              <a:latin typeface="Arial"/>
              <a:cs typeface="Arial"/>
            </a:endParaRP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53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2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endParaRPr sz="600">
              <a:latin typeface="Arial"/>
              <a:cs typeface="Arial"/>
            </a:endParaRPr>
          </a:p>
        </p:txBody>
      </p:sp>
      <p:sp>
        <p:nvSpPr>
          <p:cNvPr id="3" name="object 3"/>
          <p:cNvSpPr txBox="1"/>
          <p:nvPr/>
        </p:nvSpPr>
        <p:spPr>
          <a:xfrm>
            <a:off x="3591483" y="716"/>
            <a:ext cx="9499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Reasons</a:t>
            </a:r>
            <a:r>
              <a:rPr sz="600" spc="-15"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for</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migrating</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code</a:t>
            </a:r>
            <a:endParaRPr sz="600">
              <a:latin typeface="Arial"/>
              <a:cs typeface="Arial"/>
            </a:endParaRPr>
          </a:p>
        </p:txBody>
      </p:sp>
      <p:sp>
        <p:nvSpPr>
          <p:cNvPr id="4" name="object 4"/>
          <p:cNvSpPr txBox="1"/>
          <p:nvPr/>
        </p:nvSpPr>
        <p:spPr>
          <a:xfrm>
            <a:off x="95300" y="188846"/>
            <a:ext cx="21126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Models</a:t>
            </a:r>
            <a:r>
              <a:rPr sz="1400" spc="-10" dirty="0">
                <a:solidFill>
                  <a:srgbClr val="3333B2"/>
                </a:solidFill>
                <a:latin typeface="Arial"/>
                <a:cs typeface="Arial"/>
              </a:rPr>
              <a:t> </a:t>
            </a:r>
            <a:r>
              <a:rPr sz="1400" spc="-5" dirty="0">
                <a:solidFill>
                  <a:srgbClr val="3333B2"/>
                </a:solidFill>
                <a:latin typeface="Arial"/>
                <a:cs typeface="Arial"/>
              </a:rPr>
              <a:t>for </a:t>
            </a:r>
            <a:r>
              <a:rPr sz="1400" spc="15" dirty="0">
                <a:solidFill>
                  <a:srgbClr val="3333B2"/>
                </a:solidFill>
                <a:latin typeface="Arial"/>
                <a:cs typeface="Arial"/>
              </a:rPr>
              <a:t>code</a:t>
            </a:r>
            <a:r>
              <a:rPr sz="1400" spc="-5" dirty="0">
                <a:solidFill>
                  <a:srgbClr val="3333B2"/>
                </a:solidFill>
                <a:latin typeface="Arial"/>
                <a:cs typeface="Arial"/>
              </a:rPr>
              <a:t> </a:t>
            </a:r>
            <a:r>
              <a:rPr sz="1400" spc="10" dirty="0">
                <a:solidFill>
                  <a:srgbClr val="3333B2"/>
                </a:solidFill>
                <a:latin typeface="Arial"/>
                <a:cs typeface="Arial"/>
              </a:rPr>
              <a:t>migration</a:t>
            </a:r>
            <a:endParaRPr sz="1400">
              <a:latin typeface="Arial"/>
              <a:cs typeface="Arial"/>
            </a:endParaRPr>
          </a:p>
        </p:txBody>
      </p:sp>
      <p:sp>
        <p:nvSpPr>
          <p:cNvPr id="5" name="object 5"/>
          <p:cNvSpPr txBox="1"/>
          <p:nvPr/>
        </p:nvSpPr>
        <p:spPr>
          <a:xfrm>
            <a:off x="1283080" y="836433"/>
            <a:ext cx="842644"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Be</a:t>
            </a:r>
            <a:r>
              <a:rPr sz="800" b="1" spc="-25" dirty="0">
                <a:latin typeface="Arial"/>
                <a:cs typeface="Arial"/>
              </a:rPr>
              <a:t>f</a:t>
            </a:r>
            <a:r>
              <a:rPr sz="800" b="1" spc="-5" dirty="0">
                <a:latin typeface="Arial"/>
                <a:cs typeface="Arial"/>
              </a:rPr>
              <a:t>ore </a:t>
            </a:r>
            <a:r>
              <a:rPr sz="800" b="1" spc="-20" dirty="0">
                <a:latin typeface="Arial"/>
                <a:cs typeface="Arial"/>
              </a:rPr>
              <a:t>e</a:t>
            </a:r>
            <a:r>
              <a:rPr sz="800" b="1" spc="-15" dirty="0">
                <a:latin typeface="Arial"/>
                <a:cs typeface="Arial"/>
              </a:rPr>
              <a:t>x</a:t>
            </a:r>
            <a:r>
              <a:rPr sz="800" b="1" spc="-5" dirty="0">
                <a:latin typeface="Arial"/>
                <a:cs typeface="Arial"/>
              </a:rPr>
              <a:t>ecution</a:t>
            </a:r>
            <a:endParaRPr sz="800">
              <a:latin typeface="Arial"/>
              <a:cs typeface="Arial"/>
            </a:endParaRPr>
          </a:p>
        </p:txBody>
      </p:sp>
      <p:sp>
        <p:nvSpPr>
          <p:cNvPr id="6" name="object 6"/>
          <p:cNvSpPr txBox="1"/>
          <p:nvPr/>
        </p:nvSpPr>
        <p:spPr>
          <a:xfrm>
            <a:off x="3035811" y="836433"/>
            <a:ext cx="76009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After </a:t>
            </a:r>
            <a:r>
              <a:rPr sz="800" b="1" spc="-20" dirty="0">
                <a:latin typeface="Arial"/>
                <a:cs typeface="Arial"/>
              </a:rPr>
              <a:t>e</a:t>
            </a:r>
            <a:r>
              <a:rPr sz="800" b="1" spc="-15" dirty="0">
                <a:latin typeface="Arial"/>
                <a:cs typeface="Arial"/>
              </a:rPr>
              <a:t>x</a:t>
            </a:r>
            <a:r>
              <a:rPr sz="800" b="1" spc="-5" dirty="0">
                <a:latin typeface="Arial"/>
                <a:cs typeface="Arial"/>
              </a:rPr>
              <a:t>ecution</a:t>
            </a:r>
            <a:endParaRPr sz="800">
              <a:latin typeface="Arial"/>
              <a:cs typeface="Arial"/>
            </a:endParaRPr>
          </a:p>
        </p:txBody>
      </p:sp>
      <p:sp>
        <p:nvSpPr>
          <p:cNvPr id="7" name="object 7"/>
          <p:cNvSpPr txBox="1"/>
          <p:nvPr/>
        </p:nvSpPr>
        <p:spPr>
          <a:xfrm>
            <a:off x="1011148" y="980667"/>
            <a:ext cx="30670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Client</a:t>
            </a:r>
            <a:endParaRPr sz="800">
              <a:latin typeface="Arial"/>
              <a:cs typeface="Arial"/>
            </a:endParaRPr>
          </a:p>
        </p:txBody>
      </p:sp>
      <p:sp>
        <p:nvSpPr>
          <p:cNvPr id="8" name="object 8"/>
          <p:cNvSpPr txBox="1"/>
          <p:nvPr/>
        </p:nvSpPr>
        <p:spPr>
          <a:xfrm>
            <a:off x="1845203" y="980667"/>
            <a:ext cx="34163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Se</a:t>
            </a:r>
            <a:r>
              <a:rPr sz="800" b="1" dirty="0">
                <a:latin typeface="Arial"/>
                <a:cs typeface="Arial"/>
              </a:rPr>
              <a:t>r</a:t>
            </a:r>
            <a:r>
              <a:rPr sz="800" b="1" spc="-5" dirty="0">
                <a:latin typeface="Arial"/>
                <a:cs typeface="Arial"/>
              </a:rPr>
              <a:t>ver</a:t>
            </a:r>
            <a:endParaRPr sz="800">
              <a:latin typeface="Arial"/>
              <a:cs typeface="Arial"/>
            </a:endParaRPr>
          </a:p>
        </p:txBody>
      </p:sp>
      <p:sp>
        <p:nvSpPr>
          <p:cNvPr id="9" name="object 9"/>
          <p:cNvSpPr txBox="1"/>
          <p:nvPr/>
        </p:nvSpPr>
        <p:spPr>
          <a:xfrm>
            <a:off x="2798597" y="980667"/>
            <a:ext cx="30670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Client</a:t>
            </a:r>
            <a:endParaRPr sz="800">
              <a:latin typeface="Arial"/>
              <a:cs typeface="Arial"/>
            </a:endParaRPr>
          </a:p>
        </p:txBody>
      </p:sp>
      <p:sp>
        <p:nvSpPr>
          <p:cNvPr id="10" name="object 10"/>
          <p:cNvSpPr txBox="1"/>
          <p:nvPr/>
        </p:nvSpPr>
        <p:spPr>
          <a:xfrm>
            <a:off x="3632753" y="980667"/>
            <a:ext cx="34163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Se</a:t>
            </a:r>
            <a:r>
              <a:rPr sz="800" b="1" dirty="0">
                <a:latin typeface="Arial"/>
                <a:cs typeface="Arial"/>
              </a:rPr>
              <a:t>r</a:t>
            </a:r>
            <a:r>
              <a:rPr sz="800" b="1" spc="-5" dirty="0">
                <a:latin typeface="Arial"/>
                <a:cs typeface="Arial"/>
              </a:rPr>
              <a:t>ver</a:t>
            </a:r>
            <a:endParaRPr sz="800">
              <a:latin typeface="Arial"/>
              <a:cs typeface="Arial"/>
            </a:endParaRPr>
          </a:p>
        </p:txBody>
      </p:sp>
      <p:sp>
        <p:nvSpPr>
          <p:cNvPr id="11" name="object 11"/>
          <p:cNvSpPr txBox="1"/>
          <p:nvPr/>
        </p:nvSpPr>
        <p:spPr>
          <a:xfrm>
            <a:off x="475665" y="1494941"/>
            <a:ext cx="16637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CS</a:t>
            </a:r>
            <a:endParaRPr sz="800">
              <a:latin typeface="Arial"/>
              <a:cs typeface="Arial"/>
            </a:endParaRPr>
          </a:p>
        </p:txBody>
      </p:sp>
      <p:grpSp>
        <p:nvGrpSpPr>
          <p:cNvPr id="12" name="object 12"/>
          <p:cNvGrpSpPr/>
          <p:nvPr/>
        </p:nvGrpSpPr>
        <p:grpSpPr>
          <a:xfrm>
            <a:off x="912444" y="1346962"/>
            <a:ext cx="504190" cy="473709"/>
            <a:chOff x="912444" y="1346962"/>
            <a:chExt cx="504190" cy="473709"/>
          </a:xfrm>
        </p:grpSpPr>
        <p:sp>
          <p:nvSpPr>
            <p:cNvPr id="13" name="object 13"/>
            <p:cNvSpPr/>
            <p:nvPr/>
          </p:nvSpPr>
          <p:spPr>
            <a:xfrm>
              <a:off x="912444" y="1350124"/>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14" name="object 14"/>
            <p:cNvSpPr/>
            <p:nvPr/>
          </p:nvSpPr>
          <p:spPr>
            <a:xfrm>
              <a:off x="915606"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15" name="object 15"/>
            <p:cNvSpPr/>
            <p:nvPr/>
          </p:nvSpPr>
          <p:spPr>
            <a:xfrm>
              <a:off x="1413281"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16" name="object 16"/>
            <p:cNvSpPr/>
            <p:nvPr/>
          </p:nvSpPr>
          <p:spPr>
            <a:xfrm>
              <a:off x="915606"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17" name="object 17"/>
            <p:cNvSpPr/>
            <p:nvPr/>
          </p:nvSpPr>
          <p:spPr>
            <a:xfrm>
              <a:off x="1413281"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18" name="object 18"/>
            <p:cNvSpPr/>
            <p:nvPr/>
          </p:nvSpPr>
          <p:spPr>
            <a:xfrm>
              <a:off x="915606"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19" name="object 19"/>
            <p:cNvSpPr/>
            <p:nvPr/>
          </p:nvSpPr>
          <p:spPr>
            <a:xfrm>
              <a:off x="1413281"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20" name="object 20"/>
            <p:cNvSpPr/>
            <p:nvPr/>
          </p:nvSpPr>
          <p:spPr>
            <a:xfrm>
              <a:off x="912444" y="1817001"/>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21" name="object 21"/>
          <p:cNvGraphicFramePr>
            <a:graphicFrameLocks noGrp="1"/>
          </p:cNvGraphicFramePr>
          <p:nvPr/>
        </p:nvGraphicFramePr>
        <p:xfrm>
          <a:off x="876452" y="1296352"/>
          <a:ext cx="563245" cy="56070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22" name="object 22"/>
          <p:cNvGrpSpPr/>
          <p:nvPr/>
        </p:nvGrpSpPr>
        <p:grpSpPr>
          <a:xfrm>
            <a:off x="1760829" y="1338567"/>
            <a:ext cx="510540" cy="326390"/>
            <a:chOff x="1760829" y="1338567"/>
            <a:chExt cx="510540" cy="326390"/>
          </a:xfrm>
        </p:grpSpPr>
        <p:sp>
          <p:nvSpPr>
            <p:cNvPr id="23" name="object 23"/>
            <p:cNvSpPr/>
            <p:nvPr/>
          </p:nvSpPr>
          <p:spPr>
            <a:xfrm>
              <a:off x="1764004" y="1341742"/>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24" name="object 24"/>
            <p:cNvSpPr/>
            <p:nvPr/>
          </p:nvSpPr>
          <p:spPr>
            <a:xfrm>
              <a:off x="1767166" y="1341755"/>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25" name="object 25"/>
            <p:cNvSpPr/>
            <p:nvPr/>
          </p:nvSpPr>
          <p:spPr>
            <a:xfrm>
              <a:off x="2264829" y="1341755"/>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26" name="object 26"/>
            <p:cNvSpPr/>
            <p:nvPr/>
          </p:nvSpPr>
          <p:spPr>
            <a:xfrm>
              <a:off x="1767166" y="1517777"/>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sp>
          <p:nvSpPr>
            <p:cNvPr id="27" name="object 27"/>
            <p:cNvSpPr/>
            <p:nvPr/>
          </p:nvSpPr>
          <p:spPr>
            <a:xfrm>
              <a:off x="2264829" y="1517777"/>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grpSp>
      <p:graphicFrame>
        <p:nvGraphicFramePr>
          <p:cNvPr id="28" name="object 28"/>
          <p:cNvGraphicFramePr>
            <a:graphicFrameLocks noGrp="1"/>
          </p:cNvGraphicFramePr>
          <p:nvPr/>
        </p:nvGraphicFramePr>
        <p:xfrm>
          <a:off x="1728000" y="1287970"/>
          <a:ext cx="563245" cy="57721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algn="ctr">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2085">
                <a:tc>
                  <a:txBody>
                    <a:bodyPr/>
                    <a:lstStyle/>
                    <a:p>
                      <a:pPr algn="ctr">
                        <a:lnSpc>
                          <a:spcPct val="100000"/>
                        </a:lnSpc>
                        <a:spcBef>
                          <a:spcPts val="75"/>
                        </a:spcBef>
                        <a:tabLst>
                          <a:tab pos="503555" algn="l"/>
                        </a:tabLst>
                      </a:pPr>
                      <a:r>
                        <a:rPr sz="800" u="sng" dirty="0">
                          <a:uFill>
                            <a:solidFill>
                              <a:srgbClr val="000000"/>
                            </a:solidFill>
                          </a:uFill>
                          <a:latin typeface="Times New Roman"/>
                          <a:cs typeface="Times New Roman"/>
                        </a:rPr>
                        <a:t>     </a:t>
                      </a:r>
                      <a:r>
                        <a:rPr sz="800" u="sng" spc="-95" dirty="0">
                          <a:uFill>
                            <a:solidFill>
                              <a:srgbClr val="000000"/>
                            </a:solidFill>
                          </a:uFill>
                          <a:latin typeface="Times New Roman"/>
                          <a:cs typeface="Times New Roman"/>
                        </a:rPr>
                        <a:t> </a:t>
                      </a:r>
                      <a:r>
                        <a:rPr sz="800" b="1" u="sng" spc="-10" dirty="0">
                          <a:uFill>
                            <a:solidFill>
                              <a:srgbClr val="000000"/>
                            </a:solidFill>
                          </a:uFill>
                          <a:latin typeface="Arial"/>
                          <a:cs typeface="Arial"/>
                        </a:rPr>
                        <a:t>exec	</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1770">
                <a:tc>
                  <a:txBody>
                    <a:bodyPr/>
                    <a:lstStyle/>
                    <a:p>
                      <a:pPr algn="ctr">
                        <a:lnSpc>
                          <a:spcPct val="100000"/>
                        </a:lnSpc>
                      </a:pPr>
                      <a:r>
                        <a:rPr sz="800" spc="-5" dirty="0">
                          <a:latin typeface="Arial"/>
                          <a:cs typeface="Arial"/>
                        </a:rPr>
                        <a:t>resource</a:t>
                      </a:r>
                      <a:endParaRPr sz="800">
                        <a:latin typeface="Arial"/>
                        <a:cs typeface="Arial"/>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29" name="object 29"/>
          <p:cNvGrpSpPr/>
          <p:nvPr/>
        </p:nvGrpSpPr>
        <p:grpSpPr>
          <a:xfrm>
            <a:off x="1764004" y="1680730"/>
            <a:ext cx="504190" cy="147955"/>
            <a:chOff x="1764004" y="1680730"/>
            <a:chExt cx="504190" cy="147955"/>
          </a:xfrm>
        </p:grpSpPr>
        <p:sp>
          <p:nvSpPr>
            <p:cNvPr id="30" name="object 30"/>
            <p:cNvSpPr/>
            <p:nvPr/>
          </p:nvSpPr>
          <p:spPr>
            <a:xfrm>
              <a:off x="1767166" y="168073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31" name="object 31"/>
            <p:cNvSpPr/>
            <p:nvPr/>
          </p:nvSpPr>
          <p:spPr>
            <a:xfrm>
              <a:off x="2264829" y="168073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32" name="object 32"/>
            <p:cNvSpPr/>
            <p:nvPr/>
          </p:nvSpPr>
          <p:spPr>
            <a:xfrm>
              <a:off x="1764004" y="182537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pSp>
        <p:nvGrpSpPr>
          <p:cNvPr id="33" name="object 33"/>
          <p:cNvGrpSpPr/>
          <p:nvPr/>
        </p:nvGrpSpPr>
        <p:grpSpPr>
          <a:xfrm>
            <a:off x="2699943" y="1346962"/>
            <a:ext cx="504190" cy="473709"/>
            <a:chOff x="2699943" y="1346962"/>
            <a:chExt cx="504190" cy="473709"/>
          </a:xfrm>
        </p:grpSpPr>
        <p:sp>
          <p:nvSpPr>
            <p:cNvPr id="34" name="object 34"/>
            <p:cNvSpPr/>
            <p:nvPr/>
          </p:nvSpPr>
          <p:spPr>
            <a:xfrm>
              <a:off x="2699943" y="1350124"/>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35" name="object 35"/>
            <p:cNvSpPr/>
            <p:nvPr/>
          </p:nvSpPr>
          <p:spPr>
            <a:xfrm>
              <a:off x="2703106"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36" name="object 36"/>
            <p:cNvSpPr/>
            <p:nvPr/>
          </p:nvSpPr>
          <p:spPr>
            <a:xfrm>
              <a:off x="3200780"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37" name="object 37"/>
            <p:cNvSpPr/>
            <p:nvPr/>
          </p:nvSpPr>
          <p:spPr>
            <a:xfrm>
              <a:off x="2703106"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8" name="object 38"/>
            <p:cNvSpPr/>
            <p:nvPr/>
          </p:nvSpPr>
          <p:spPr>
            <a:xfrm>
              <a:off x="3200780"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9" name="object 39"/>
            <p:cNvSpPr/>
            <p:nvPr/>
          </p:nvSpPr>
          <p:spPr>
            <a:xfrm>
              <a:off x="2703106"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40" name="object 40"/>
            <p:cNvSpPr/>
            <p:nvPr/>
          </p:nvSpPr>
          <p:spPr>
            <a:xfrm>
              <a:off x="3200780"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41" name="object 41"/>
            <p:cNvSpPr/>
            <p:nvPr/>
          </p:nvSpPr>
          <p:spPr>
            <a:xfrm>
              <a:off x="2699943" y="181700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42" name="object 42"/>
          <p:cNvGraphicFramePr>
            <a:graphicFrameLocks noGrp="1"/>
          </p:cNvGraphicFramePr>
          <p:nvPr/>
        </p:nvGraphicFramePr>
        <p:xfrm>
          <a:off x="2663939" y="1296352"/>
          <a:ext cx="563245" cy="56070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43" name="object 43"/>
          <p:cNvGrpSpPr/>
          <p:nvPr/>
        </p:nvGrpSpPr>
        <p:grpSpPr>
          <a:xfrm>
            <a:off x="3548316" y="1332699"/>
            <a:ext cx="510540" cy="338455"/>
            <a:chOff x="3548316" y="1332699"/>
            <a:chExt cx="510540" cy="338455"/>
          </a:xfrm>
        </p:grpSpPr>
        <p:sp>
          <p:nvSpPr>
            <p:cNvPr id="44" name="object 44"/>
            <p:cNvSpPr/>
            <p:nvPr/>
          </p:nvSpPr>
          <p:spPr>
            <a:xfrm>
              <a:off x="3551491" y="1335874"/>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45" name="object 45"/>
            <p:cNvSpPr/>
            <p:nvPr/>
          </p:nvSpPr>
          <p:spPr>
            <a:xfrm>
              <a:off x="3554653" y="1335887"/>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46" name="object 46"/>
            <p:cNvSpPr/>
            <p:nvPr/>
          </p:nvSpPr>
          <p:spPr>
            <a:xfrm>
              <a:off x="4052328" y="1335887"/>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47" name="object 47"/>
            <p:cNvSpPr/>
            <p:nvPr/>
          </p:nvSpPr>
          <p:spPr>
            <a:xfrm>
              <a:off x="3554653" y="1511896"/>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sp>
          <p:nvSpPr>
            <p:cNvPr id="48" name="object 48"/>
            <p:cNvSpPr/>
            <p:nvPr/>
          </p:nvSpPr>
          <p:spPr>
            <a:xfrm>
              <a:off x="4052328" y="1511896"/>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grpSp>
      <p:graphicFrame>
        <p:nvGraphicFramePr>
          <p:cNvPr id="49" name="object 49"/>
          <p:cNvGraphicFramePr>
            <a:graphicFrameLocks noGrp="1"/>
          </p:cNvGraphicFramePr>
          <p:nvPr/>
        </p:nvGraphicFramePr>
        <p:xfrm>
          <a:off x="3515499" y="1282103"/>
          <a:ext cx="563245" cy="589280"/>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algn="ctr">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4625">
                <a:tc>
                  <a:txBody>
                    <a:bodyPr/>
                    <a:lstStyle/>
                    <a:p>
                      <a:pPr algn="ctr">
                        <a:lnSpc>
                          <a:spcPct val="100000"/>
                        </a:lnSpc>
                        <a:spcBef>
                          <a:spcPts val="170"/>
                        </a:spcBef>
                      </a:pPr>
                      <a:r>
                        <a:rPr sz="800" b="1" spc="-10" dirty="0">
                          <a:latin typeface="Arial"/>
                          <a:cs typeface="Arial"/>
                        </a:rPr>
                        <a:t>exec*</a:t>
                      </a:r>
                      <a:endParaRPr sz="800">
                        <a:latin typeface="Arial"/>
                        <a:cs typeface="Arial"/>
                      </a:endParaRPr>
                    </a:p>
                  </a:txBody>
                  <a:tcPr marL="0" marR="0" marT="2159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01295">
                <a:tc>
                  <a:txBody>
                    <a:bodyPr/>
                    <a:lstStyle/>
                    <a:p>
                      <a:pPr algn="ctr">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50" name="object 50"/>
          <p:cNvGrpSpPr/>
          <p:nvPr/>
        </p:nvGrpSpPr>
        <p:grpSpPr>
          <a:xfrm>
            <a:off x="3551491" y="1686610"/>
            <a:ext cx="504190" cy="147955"/>
            <a:chOff x="3551491" y="1686610"/>
            <a:chExt cx="504190" cy="147955"/>
          </a:xfrm>
        </p:grpSpPr>
        <p:sp>
          <p:nvSpPr>
            <p:cNvPr id="51" name="object 51"/>
            <p:cNvSpPr/>
            <p:nvPr/>
          </p:nvSpPr>
          <p:spPr>
            <a:xfrm>
              <a:off x="3554653" y="168661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52" name="object 52"/>
            <p:cNvSpPr/>
            <p:nvPr/>
          </p:nvSpPr>
          <p:spPr>
            <a:xfrm>
              <a:off x="4052328" y="168661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53" name="object 53"/>
            <p:cNvSpPr/>
            <p:nvPr/>
          </p:nvSpPr>
          <p:spPr>
            <a:xfrm>
              <a:off x="3551491" y="183125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sp>
        <p:nvSpPr>
          <p:cNvPr id="54" name="object 54"/>
          <p:cNvSpPr txBox="1"/>
          <p:nvPr/>
        </p:nvSpPr>
        <p:spPr>
          <a:xfrm>
            <a:off x="475665" y="2242107"/>
            <a:ext cx="233679"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REV</a:t>
            </a:r>
            <a:endParaRPr sz="800">
              <a:latin typeface="Arial"/>
              <a:cs typeface="Arial"/>
            </a:endParaRPr>
          </a:p>
        </p:txBody>
      </p:sp>
      <p:grpSp>
        <p:nvGrpSpPr>
          <p:cNvPr id="55" name="object 55"/>
          <p:cNvGrpSpPr/>
          <p:nvPr/>
        </p:nvGrpSpPr>
        <p:grpSpPr>
          <a:xfrm>
            <a:off x="912444" y="2087079"/>
            <a:ext cx="504190" cy="487680"/>
            <a:chOff x="912444" y="2087079"/>
            <a:chExt cx="504190" cy="487680"/>
          </a:xfrm>
        </p:grpSpPr>
        <p:sp>
          <p:nvSpPr>
            <p:cNvPr id="56" name="object 56"/>
            <p:cNvSpPr/>
            <p:nvPr/>
          </p:nvSpPr>
          <p:spPr>
            <a:xfrm>
              <a:off x="912444" y="2090242"/>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57" name="object 57"/>
            <p:cNvSpPr/>
            <p:nvPr/>
          </p:nvSpPr>
          <p:spPr>
            <a:xfrm>
              <a:off x="915606" y="2090254"/>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58" name="object 58"/>
            <p:cNvSpPr/>
            <p:nvPr/>
          </p:nvSpPr>
          <p:spPr>
            <a:xfrm>
              <a:off x="1413281" y="2090254"/>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59" name="object 59"/>
            <p:cNvSpPr/>
            <p:nvPr/>
          </p:nvSpPr>
          <p:spPr>
            <a:xfrm>
              <a:off x="915606" y="226626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60" name="object 60"/>
            <p:cNvSpPr/>
            <p:nvPr/>
          </p:nvSpPr>
          <p:spPr>
            <a:xfrm>
              <a:off x="1413281" y="226626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61" name="object 61"/>
            <p:cNvSpPr/>
            <p:nvPr/>
          </p:nvSpPr>
          <p:spPr>
            <a:xfrm>
              <a:off x="915606" y="242821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62" name="object 62"/>
            <p:cNvSpPr/>
            <p:nvPr/>
          </p:nvSpPr>
          <p:spPr>
            <a:xfrm>
              <a:off x="1413281" y="242821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63" name="object 63"/>
            <p:cNvSpPr/>
            <p:nvPr/>
          </p:nvSpPr>
          <p:spPr>
            <a:xfrm>
              <a:off x="912444" y="2571191"/>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64" name="object 64"/>
          <p:cNvGraphicFramePr>
            <a:graphicFrameLocks noGrp="1"/>
          </p:cNvGraphicFramePr>
          <p:nvPr/>
        </p:nvGraphicFramePr>
        <p:xfrm>
          <a:off x="876452" y="2036470"/>
          <a:ext cx="563245" cy="57467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marL="171450">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5" name="object 65"/>
          <p:cNvSpPr txBox="1"/>
          <p:nvPr/>
        </p:nvSpPr>
        <p:spPr>
          <a:xfrm>
            <a:off x="1496021" y="2242107"/>
            <a:ext cx="188595" cy="147320"/>
          </a:xfrm>
          <a:prstGeom prst="rect">
            <a:avLst/>
          </a:prstGeom>
        </p:spPr>
        <p:txBody>
          <a:bodyPr vert="horz" wrap="square" lIns="0" tIns="12065" rIns="0" bIns="0" rtlCol="0">
            <a:spAutoFit/>
          </a:bodyPr>
          <a:lstStyle/>
          <a:p>
            <a:pPr marL="12700">
              <a:lnSpc>
                <a:spcPct val="100000"/>
              </a:lnSpc>
              <a:spcBef>
                <a:spcPts val="95"/>
              </a:spcBef>
            </a:pPr>
            <a:r>
              <a:rPr sz="800" i="1" spc="-160" dirty="0">
                <a:latin typeface="メイリオ"/>
                <a:cs typeface="メイリオ"/>
              </a:rPr>
              <a:t>−</a:t>
            </a:r>
            <a:r>
              <a:rPr sz="800" i="1" spc="-5" dirty="0">
                <a:latin typeface="メイリオ"/>
                <a:cs typeface="メイリオ"/>
              </a:rPr>
              <a:t>→</a:t>
            </a:r>
            <a:endParaRPr sz="800">
              <a:latin typeface="メイリオ"/>
              <a:cs typeface="メイリオ"/>
            </a:endParaRPr>
          </a:p>
        </p:txBody>
      </p:sp>
      <p:grpSp>
        <p:nvGrpSpPr>
          <p:cNvPr id="66" name="object 66"/>
          <p:cNvGrpSpPr/>
          <p:nvPr/>
        </p:nvGrpSpPr>
        <p:grpSpPr>
          <a:xfrm>
            <a:off x="1760829" y="2092756"/>
            <a:ext cx="510540" cy="312420"/>
            <a:chOff x="1760829" y="2092756"/>
            <a:chExt cx="510540" cy="312420"/>
          </a:xfrm>
        </p:grpSpPr>
        <p:sp>
          <p:nvSpPr>
            <p:cNvPr id="67" name="object 67"/>
            <p:cNvSpPr/>
            <p:nvPr/>
          </p:nvSpPr>
          <p:spPr>
            <a:xfrm>
              <a:off x="1764004" y="209593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68" name="object 68"/>
            <p:cNvSpPr/>
            <p:nvPr/>
          </p:nvSpPr>
          <p:spPr>
            <a:xfrm>
              <a:off x="1767166" y="2095931"/>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69" name="object 69"/>
            <p:cNvSpPr/>
            <p:nvPr/>
          </p:nvSpPr>
          <p:spPr>
            <a:xfrm>
              <a:off x="2264829" y="2095931"/>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70" name="object 70"/>
            <p:cNvSpPr/>
            <p:nvPr/>
          </p:nvSpPr>
          <p:spPr>
            <a:xfrm>
              <a:off x="1767166" y="2257895"/>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sp>
          <p:nvSpPr>
            <p:cNvPr id="71" name="object 71"/>
            <p:cNvSpPr/>
            <p:nvPr/>
          </p:nvSpPr>
          <p:spPr>
            <a:xfrm>
              <a:off x="2264829" y="2257895"/>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grpSp>
      <p:graphicFrame>
        <p:nvGraphicFramePr>
          <p:cNvPr id="72" name="object 72"/>
          <p:cNvGraphicFramePr>
            <a:graphicFrameLocks noGrp="1"/>
          </p:cNvGraphicFramePr>
          <p:nvPr/>
        </p:nvGraphicFramePr>
        <p:xfrm>
          <a:off x="1728000" y="2042160"/>
          <a:ext cx="563245" cy="56324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2560">
                <a:tc>
                  <a:txBody>
                    <a:bodyPr/>
                    <a:lstStyle/>
                    <a:p>
                      <a:pPr algn="ctr">
                        <a:lnSpc>
                          <a:spcPct val="100000"/>
                        </a:lnSpc>
                        <a:spcBef>
                          <a:spcPts val="75"/>
                        </a:spcBef>
                      </a:pPr>
                      <a:r>
                        <a:rPr sz="800" b="1" spc="-10" dirty="0">
                          <a:latin typeface="Arial"/>
                          <a:cs typeface="Arial"/>
                        </a:rPr>
                        <a:t>exec</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01295">
                <a:tc>
                  <a:txBody>
                    <a:bodyPr/>
                    <a:lstStyle/>
                    <a:p>
                      <a:pPr algn="ctr">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73" name="object 73"/>
          <p:cNvGrpSpPr/>
          <p:nvPr/>
        </p:nvGrpSpPr>
        <p:grpSpPr>
          <a:xfrm>
            <a:off x="1764004" y="2420861"/>
            <a:ext cx="504190" cy="147955"/>
            <a:chOff x="1764004" y="2420861"/>
            <a:chExt cx="504190" cy="147955"/>
          </a:xfrm>
        </p:grpSpPr>
        <p:sp>
          <p:nvSpPr>
            <p:cNvPr id="74" name="object 74"/>
            <p:cNvSpPr/>
            <p:nvPr/>
          </p:nvSpPr>
          <p:spPr>
            <a:xfrm>
              <a:off x="1767166" y="2420861"/>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75" name="object 75"/>
            <p:cNvSpPr/>
            <p:nvPr/>
          </p:nvSpPr>
          <p:spPr>
            <a:xfrm>
              <a:off x="2264829" y="2420861"/>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76" name="object 76"/>
            <p:cNvSpPr/>
            <p:nvPr/>
          </p:nvSpPr>
          <p:spPr>
            <a:xfrm>
              <a:off x="1764004" y="256550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pSp>
        <p:nvGrpSpPr>
          <p:cNvPr id="77" name="object 77"/>
          <p:cNvGrpSpPr/>
          <p:nvPr/>
        </p:nvGrpSpPr>
        <p:grpSpPr>
          <a:xfrm>
            <a:off x="2699943" y="2094115"/>
            <a:ext cx="504190" cy="473709"/>
            <a:chOff x="2699943" y="2094115"/>
            <a:chExt cx="504190" cy="473709"/>
          </a:xfrm>
        </p:grpSpPr>
        <p:sp>
          <p:nvSpPr>
            <p:cNvPr id="78" name="object 78"/>
            <p:cNvSpPr/>
            <p:nvPr/>
          </p:nvSpPr>
          <p:spPr>
            <a:xfrm>
              <a:off x="2699943" y="2097278"/>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79" name="object 79"/>
            <p:cNvSpPr/>
            <p:nvPr/>
          </p:nvSpPr>
          <p:spPr>
            <a:xfrm>
              <a:off x="2703106" y="209727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0" name="object 80"/>
            <p:cNvSpPr/>
            <p:nvPr/>
          </p:nvSpPr>
          <p:spPr>
            <a:xfrm>
              <a:off x="3200780" y="209727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1" name="object 81"/>
            <p:cNvSpPr/>
            <p:nvPr/>
          </p:nvSpPr>
          <p:spPr>
            <a:xfrm>
              <a:off x="2703106" y="225922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2" name="object 82"/>
            <p:cNvSpPr/>
            <p:nvPr/>
          </p:nvSpPr>
          <p:spPr>
            <a:xfrm>
              <a:off x="3200780" y="225922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3" name="object 83"/>
            <p:cNvSpPr/>
            <p:nvPr/>
          </p:nvSpPr>
          <p:spPr>
            <a:xfrm>
              <a:off x="2703106" y="242117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4" name="object 84"/>
            <p:cNvSpPr/>
            <p:nvPr/>
          </p:nvSpPr>
          <p:spPr>
            <a:xfrm>
              <a:off x="3200780" y="2421178"/>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85" name="object 85"/>
            <p:cNvSpPr/>
            <p:nvPr/>
          </p:nvSpPr>
          <p:spPr>
            <a:xfrm>
              <a:off x="2699943" y="2564155"/>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86" name="object 86"/>
          <p:cNvGraphicFramePr>
            <a:graphicFrameLocks noGrp="1"/>
          </p:cNvGraphicFramePr>
          <p:nvPr/>
        </p:nvGraphicFramePr>
        <p:xfrm>
          <a:off x="2663939" y="2043506"/>
          <a:ext cx="563245" cy="56070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87" name="object 87"/>
          <p:cNvSpPr txBox="1"/>
          <p:nvPr/>
        </p:nvSpPr>
        <p:spPr>
          <a:xfrm>
            <a:off x="3283521" y="2242107"/>
            <a:ext cx="188595" cy="147320"/>
          </a:xfrm>
          <a:prstGeom prst="rect">
            <a:avLst/>
          </a:prstGeom>
        </p:spPr>
        <p:txBody>
          <a:bodyPr vert="horz" wrap="square" lIns="0" tIns="12065" rIns="0" bIns="0" rtlCol="0">
            <a:spAutoFit/>
          </a:bodyPr>
          <a:lstStyle/>
          <a:p>
            <a:pPr marL="12700">
              <a:lnSpc>
                <a:spcPct val="100000"/>
              </a:lnSpc>
              <a:spcBef>
                <a:spcPts val="95"/>
              </a:spcBef>
            </a:pPr>
            <a:r>
              <a:rPr sz="800" i="1" spc="-160" dirty="0">
                <a:latin typeface="メイリオ"/>
                <a:cs typeface="メイリオ"/>
              </a:rPr>
              <a:t>−</a:t>
            </a:r>
            <a:r>
              <a:rPr sz="800" i="1" spc="-5" dirty="0">
                <a:latin typeface="メイリオ"/>
                <a:cs typeface="メイリオ"/>
              </a:rPr>
              <a:t>→</a:t>
            </a:r>
            <a:endParaRPr sz="800">
              <a:latin typeface="メイリオ"/>
              <a:cs typeface="メイリオ"/>
            </a:endParaRPr>
          </a:p>
        </p:txBody>
      </p:sp>
      <p:grpSp>
        <p:nvGrpSpPr>
          <p:cNvPr id="88" name="object 88"/>
          <p:cNvGrpSpPr/>
          <p:nvPr/>
        </p:nvGrpSpPr>
        <p:grpSpPr>
          <a:xfrm>
            <a:off x="3548316" y="2079853"/>
            <a:ext cx="510540" cy="338455"/>
            <a:chOff x="3548316" y="2079853"/>
            <a:chExt cx="510540" cy="338455"/>
          </a:xfrm>
        </p:grpSpPr>
        <p:sp>
          <p:nvSpPr>
            <p:cNvPr id="89" name="object 89"/>
            <p:cNvSpPr/>
            <p:nvPr/>
          </p:nvSpPr>
          <p:spPr>
            <a:xfrm>
              <a:off x="3551491" y="2083028"/>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90" name="object 90"/>
            <p:cNvSpPr/>
            <p:nvPr/>
          </p:nvSpPr>
          <p:spPr>
            <a:xfrm>
              <a:off x="3554653" y="2083041"/>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91" name="object 91"/>
            <p:cNvSpPr/>
            <p:nvPr/>
          </p:nvSpPr>
          <p:spPr>
            <a:xfrm>
              <a:off x="4052328" y="2083041"/>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92" name="object 92"/>
            <p:cNvSpPr/>
            <p:nvPr/>
          </p:nvSpPr>
          <p:spPr>
            <a:xfrm>
              <a:off x="3554653" y="2259050"/>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sp>
          <p:nvSpPr>
            <p:cNvPr id="93" name="object 93"/>
            <p:cNvSpPr/>
            <p:nvPr/>
          </p:nvSpPr>
          <p:spPr>
            <a:xfrm>
              <a:off x="4052328" y="2259050"/>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grpSp>
      <p:graphicFrame>
        <p:nvGraphicFramePr>
          <p:cNvPr id="94" name="object 94"/>
          <p:cNvGraphicFramePr>
            <a:graphicFrameLocks noGrp="1"/>
          </p:cNvGraphicFramePr>
          <p:nvPr/>
        </p:nvGraphicFramePr>
        <p:xfrm>
          <a:off x="3515499" y="2029256"/>
          <a:ext cx="563245" cy="589280"/>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algn="ctr">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4625">
                <a:tc>
                  <a:txBody>
                    <a:bodyPr/>
                    <a:lstStyle/>
                    <a:p>
                      <a:pPr algn="ctr">
                        <a:lnSpc>
                          <a:spcPct val="100000"/>
                        </a:lnSpc>
                        <a:spcBef>
                          <a:spcPts val="170"/>
                        </a:spcBef>
                      </a:pPr>
                      <a:r>
                        <a:rPr sz="800" b="1" spc="-10" dirty="0">
                          <a:latin typeface="Arial"/>
                          <a:cs typeface="Arial"/>
                        </a:rPr>
                        <a:t>exec*</a:t>
                      </a:r>
                      <a:endParaRPr sz="800">
                        <a:latin typeface="Arial"/>
                        <a:cs typeface="Arial"/>
                      </a:endParaRPr>
                    </a:p>
                  </a:txBody>
                  <a:tcPr marL="0" marR="0" marT="2159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201295">
                <a:tc>
                  <a:txBody>
                    <a:bodyPr/>
                    <a:lstStyle/>
                    <a:p>
                      <a:pPr algn="ctr">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95" name="object 95"/>
          <p:cNvGrpSpPr/>
          <p:nvPr/>
        </p:nvGrpSpPr>
        <p:grpSpPr>
          <a:xfrm>
            <a:off x="3551491" y="2433764"/>
            <a:ext cx="504190" cy="147955"/>
            <a:chOff x="3551491" y="2433764"/>
            <a:chExt cx="504190" cy="147955"/>
          </a:xfrm>
        </p:grpSpPr>
        <p:sp>
          <p:nvSpPr>
            <p:cNvPr id="96" name="object 96"/>
            <p:cNvSpPr/>
            <p:nvPr/>
          </p:nvSpPr>
          <p:spPr>
            <a:xfrm>
              <a:off x="3554653" y="2433764"/>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97" name="object 97"/>
            <p:cNvSpPr/>
            <p:nvPr/>
          </p:nvSpPr>
          <p:spPr>
            <a:xfrm>
              <a:off x="4052328" y="2433764"/>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98" name="object 98"/>
            <p:cNvSpPr/>
            <p:nvPr/>
          </p:nvSpPr>
          <p:spPr>
            <a:xfrm>
              <a:off x="3551491" y="2578404"/>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sp>
        <p:nvSpPr>
          <p:cNvPr id="99" name="object 99"/>
          <p:cNvSpPr txBox="1"/>
          <p:nvPr/>
        </p:nvSpPr>
        <p:spPr>
          <a:xfrm>
            <a:off x="835609" y="2738150"/>
            <a:ext cx="1010285"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CS:</a:t>
            </a:r>
            <a:r>
              <a:rPr sz="1000" spc="-40" dirty="0">
                <a:latin typeface="Arial"/>
                <a:cs typeface="Arial"/>
              </a:rPr>
              <a:t> </a:t>
            </a:r>
            <a:r>
              <a:rPr sz="1000" spc="-5" dirty="0">
                <a:latin typeface="Arial"/>
                <a:cs typeface="Arial"/>
              </a:rPr>
              <a:t>Client-Server</a:t>
            </a:r>
            <a:endParaRPr sz="1000">
              <a:latin typeface="Arial"/>
              <a:cs typeface="Arial"/>
            </a:endParaRPr>
          </a:p>
        </p:txBody>
      </p:sp>
      <p:sp>
        <p:nvSpPr>
          <p:cNvPr id="101" name="object 101"/>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42</a:t>
            </a:r>
            <a:r>
              <a:rPr spc="-40" dirty="0"/>
              <a:t> </a:t>
            </a:r>
            <a:r>
              <a:rPr spc="-5" dirty="0"/>
              <a:t>/</a:t>
            </a:r>
            <a:r>
              <a:rPr spc="-35" dirty="0"/>
              <a:t> </a:t>
            </a:r>
            <a:r>
              <a:rPr spc="-5" dirty="0"/>
              <a:t>47</a:t>
            </a:r>
          </a:p>
        </p:txBody>
      </p:sp>
      <p:sp>
        <p:nvSpPr>
          <p:cNvPr id="100" name="object 100"/>
          <p:cNvSpPr txBox="1"/>
          <p:nvPr/>
        </p:nvSpPr>
        <p:spPr>
          <a:xfrm>
            <a:off x="2699069" y="2738150"/>
            <a:ext cx="1398905" cy="177800"/>
          </a:xfrm>
          <a:prstGeom prst="rect">
            <a:avLst/>
          </a:prstGeom>
        </p:spPr>
        <p:txBody>
          <a:bodyPr vert="horz" wrap="square" lIns="0" tIns="12065" rIns="0" bIns="0" rtlCol="0">
            <a:spAutoFit/>
          </a:bodyPr>
          <a:lstStyle/>
          <a:p>
            <a:pPr marL="12700">
              <a:lnSpc>
                <a:spcPct val="100000"/>
              </a:lnSpc>
              <a:spcBef>
                <a:spcPts val="95"/>
              </a:spcBef>
            </a:pPr>
            <a:r>
              <a:rPr sz="1000" spc="-15" dirty="0">
                <a:latin typeface="Arial"/>
                <a:cs typeface="Arial"/>
              </a:rPr>
              <a:t>REV:</a:t>
            </a:r>
            <a:r>
              <a:rPr sz="1000" spc="-30" dirty="0">
                <a:latin typeface="Arial"/>
                <a:cs typeface="Arial"/>
              </a:rPr>
              <a:t> </a:t>
            </a:r>
            <a:r>
              <a:rPr sz="1000" spc="-5" dirty="0">
                <a:latin typeface="Arial"/>
                <a:cs typeface="Arial"/>
              </a:rPr>
              <a:t>Remote</a:t>
            </a:r>
            <a:r>
              <a:rPr sz="1000" spc="-25" dirty="0">
                <a:latin typeface="Arial"/>
                <a:cs typeface="Arial"/>
              </a:rPr>
              <a:t> </a:t>
            </a:r>
            <a:r>
              <a:rPr sz="1000" spc="-10" dirty="0">
                <a:latin typeface="Arial"/>
                <a:cs typeface="Arial"/>
              </a:rPr>
              <a:t>evaluation</a:t>
            </a:r>
            <a:endParaRPr sz="1000">
              <a:latin typeface="Arial"/>
              <a:cs typeface="Arial"/>
            </a:endParaRPr>
          </a:p>
        </p:txBody>
      </p:sp>
    </p:spTree>
  </p:cSld>
  <p:clrMapOvr>
    <a:masterClrMapping/>
  </p:clrMapOvr>
  <p:transition>
    <p:cut/>
  </p:transition>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953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2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endParaRPr sz="600">
              <a:latin typeface="Arial"/>
              <a:cs typeface="Arial"/>
            </a:endParaRPr>
          </a:p>
        </p:txBody>
      </p:sp>
      <p:sp>
        <p:nvSpPr>
          <p:cNvPr id="3" name="object 3"/>
          <p:cNvSpPr txBox="1"/>
          <p:nvPr/>
        </p:nvSpPr>
        <p:spPr>
          <a:xfrm>
            <a:off x="3591483" y="716"/>
            <a:ext cx="94996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4" action="ppaction://hlinksldjump"/>
              </a:rPr>
              <a:t>Reasons</a:t>
            </a:r>
            <a:r>
              <a:rPr sz="600" spc="-15"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for</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migrating</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code</a:t>
            </a:r>
            <a:endParaRPr sz="600">
              <a:latin typeface="Arial"/>
              <a:cs typeface="Arial"/>
            </a:endParaRPr>
          </a:p>
        </p:txBody>
      </p:sp>
      <p:sp>
        <p:nvSpPr>
          <p:cNvPr id="4" name="object 4"/>
          <p:cNvSpPr txBox="1"/>
          <p:nvPr/>
        </p:nvSpPr>
        <p:spPr>
          <a:xfrm>
            <a:off x="95300" y="188846"/>
            <a:ext cx="2112645" cy="244475"/>
          </a:xfrm>
          <a:prstGeom prst="rect">
            <a:avLst/>
          </a:prstGeom>
        </p:spPr>
        <p:txBody>
          <a:bodyPr vert="horz" wrap="square" lIns="0" tIns="17145" rIns="0" bIns="0" rtlCol="0">
            <a:spAutoFit/>
          </a:bodyPr>
          <a:lstStyle/>
          <a:p>
            <a:pPr marL="12700">
              <a:lnSpc>
                <a:spcPct val="100000"/>
              </a:lnSpc>
              <a:spcBef>
                <a:spcPts val="135"/>
              </a:spcBef>
            </a:pPr>
            <a:r>
              <a:rPr sz="1400" spc="15" dirty="0">
                <a:solidFill>
                  <a:srgbClr val="3333B2"/>
                </a:solidFill>
                <a:latin typeface="Arial"/>
                <a:cs typeface="Arial"/>
              </a:rPr>
              <a:t>Models</a:t>
            </a:r>
            <a:r>
              <a:rPr sz="1400" spc="-10" dirty="0">
                <a:solidFill>
                  <a:srgbClr val="3333B2"/>
                </a:solidFill>
                <a:latin typeface="Arial"/>
                <a:cs typeface="Arial"/>
              </a:rPr>
              <a:t> </a:t>
            </a:r>
            <a:r>
              <a:rPr sz="1400" spc="-5" dirty="0">
                <a:solidFill>
                  <a:srgbClr val="3333B2"/>
                </a:solidFill>
                <a:latin typeface="Arial"/>
                <a:cs typeface="Arial"/>
              </a:rPr>
              <a:t>for </a:t>
            </a:r>
            <a:r>
              <a:rPr sz="1400" spc="15" dirty="0">
                <a:solidFill>
                  <a:srgbClr val="3333B2"/>
                </a:solidFill>
                <a:latin typeface="Arial"/>
                <a:cs typeface="Arial"/>
              </a:rPr>
              <a:t>code</a:t>
            </a:r>
            <a:r>
              <a:rPr sz="1400" spc="-5" dirty="0">
                <a:solidFill>
                  <a:srgbClr val="3333B2"/>
                </a:solidFill>
                <a:latin typeface="Arial"/>
                <a:cs typeface="Arial"/>
              </a:rPr>
              <a:t> </a:t>
            </a:r>
            <a:r>
              <a:rPr sz="1400" spc="10" dirty="0">
                <a:solidFill>
                  <a:srgbClr val="3333B2"/>
                </a:solidFill>
                <a:latin typeface="Arial"/>
                <a:cs typeface="Arial"/>
              </a:rPr>
              <a:t>migration</a:t>
            </a:r>
            <a:endParaRPr sz="1400">
              <a:latin typeface="Arial"/>
              <a:cs typeface="Arial"/>
            </a:endParaRPr>
          </a:p>
        </p:txBody>
      </p:sp>
      <p:sp>
        <p:nvSpPr>
          <p:cNvPr id="5" name="object 5"/>
          <p:cNvSpPr txBox="1"/>
          <p:nvPr/>
        </p:nvSpPr>
        <p:spPr>
          <a:xfrm>
            <a:off x="1283030" y="836433"/>
            <a:ext cx="842644"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Be</a:t>
            </a:r>
            <a:r>
              <a:rPr sz="800" b="1" spc="-25" dirty="0">
                <a:latin typeface="Arial"/>
                <a:cs typeface="Arial"/>
              </a:rPr>
              <a:t>f</a:t>
            </a:r>
            <a:r>
              <a:rPr sz="800" b="1" spc="-5" dirty="0">
                <a:latin typeface="Arial"/>
                <a:cs typeface="Arial"/>
              </a:rPr>
              <a:t>ore </a:t>
            </a:r>
            <a:r>
              <a:rPr sz="800" b="1" spc="-20" dirty="0">
                <a:latin typeface="Arial"/>
                <a:cs typeface="Arial"/>
              </a:rPr>
              <a:t>e</a:t>
            </a:r>
            <a:r>
              <a:rPr sz="800" b="1" spc="-15" dirty="0">
                <a:latin typeface="Arial"/>
                <a:cs typeface="Arial"/>
              </a:rPr>
              <a:t>x</a:t>
            </a:r>
            <a:r>
              <a:rPr sz="800" b="1" spc="-5" dirty="0">
                <a:latin typeface="Arial"/>
                <a:cs typeface="Arial"/>
              </a:rPr>
              <a:t>ecution</a:t>
            </a:r>
            <a:endParaRPr sz="800">
              <a:latin typeface="Arial"/>
              <a:cs typeface="Arial"/>
            </a:endParaRPr>
          </a:p>
        </p:txBody>
      </p:sp>
      <p:sp>
        <p:nvSpPr>
          <p:cNvPr id="6" name="object 6"/>
          <p:cNvSpPr txBox="1"/>
          <p:nvPr/>
        </p:nvSpPr>
        <p:spPr>
          <a:xfrm>
            <a:off x="3035760" y="836433"/>
            <a:ext cx="76009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After </a:t>
            </a:r>
            <a:r>
              <a:rPr sz="800" b="1" spc="-20" dirty="0">
                <a:latin typeface="Arial"/>
                <a:cs typeface="Arial"/>
              </a:rPr>
              <a:t>e</a:t>
            </a:r>
            <a:r>
              <a:rPr sz="800" b="1" spc="-15" dirty="0">
                <a:latin typeface="Arial"/>
                <a:cs typeface="Arial"/>
              </a:rPr>
              <a:t>x</a:t>
            </a:r>
            <a:r>
              <a:rPr sz="800" b="1" spc="-5" dirty="0">
                <a:latin typeface="Arial"/>
                <a:cs typeface="Arial"/>
              </a:rPr>
              <a:t>ecution</a:t>
            </a:r>
            <a:endParaRPr sz="800">
              <a:latin typeface="Arial"/>
              <a:cs typeface="Arial"/>
            </a:endParaRPr>
          </a:p>
        </p:txBody>
      </p:sp>
      <p:sp>
        <p:nvSpPr>
          <p:cNvPr id="7" name="object 7"/>
          <p:cNvSpPr txBox="1"/>
          <p:nvPr/>
        </p:nvSpPr>
        <p:spPr>
          <a:xfrm>
            <a:off x="1011097" y="980667"/>
            <a:ext cx="30670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Client</a:t>
            </a:r>
            <a:endParaRPr sz="800">
              <a:latin typeface="Arial"/>
              <a:cs typeface="Arial"/>
            </a:endParaRPr>
          </a:p>
        </p:txBody>
      </p:sp>
      <p:sp>
        <p:nvSpPr>
          <p:cNvPr id="8" name="object 8"/>
          <p:cNvSpPr txBox="1"/>
          <p:nvPr/>
        </p:nvSpPr>
        <p:spPr>
          <a:xfrm>
            <a:off x="1845152" y="980667"/>
            <a:ext cx="34163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Se</a:t>
            </a:r>
            <a:r>
              <a:rPr sz="800" b="1" dirty="0">
                <a:latin typeface="Arial"/>
                <a:cs typeface="Arial"/>
              </a:rPr>
              <a:t>r</a:t>
            </a:r>
            <a:r>
              <a:rPr sz="800" b="1" spc="-5" dirty="0">
                <a:latin typeface="Arial"/>
                <a:cs typeface="Arial"/>
              </a:rPr>
              <a:t>ver</a:t>
            </a:r>
            <a:endParaRPr sz="800">
              <a:latin typeface="Arial"/>
              <a:cs typeface="Arial"/>
            </a:endParaRPr>
          </a:p>
        </p:txBody>
      </p:sp>
      <p:sp>
        <p:nvSpPr>
          <p:cNvPr id="9" name="object 9"/>
          <p:cNvSpPr txBox="1"/>
          <p:nvPr/>
        </p:nvSpPr>
        <p:spPr>
          <a:xfrm>
            <a:off x="2798546" y="980667"/>
            <a:ext cx="306705"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Client</a:t>
            </a:r>
            <a:endParaRPr sz="800">
              <a:latin typeface="Arial"/>
              <a:cs typeface="Arial"/>
            </a:endParaRPr>
          </a:p>
        </p:txBody>
      </p:sp>
      <p:sp>
        <p:nvSpPr>
          <p:cNvPr id="10" name="object 10"/>
          <p:cNvSpPr txBox="1"/>
          <p:nvPr/>
        </p:nvSpPr>
        <p:spPr>
          <a:xfrm>
            <a:off x="3632702" y="980667"/>
            <a:ext cx="34163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Se</a:t>
            </a:r>
            <a:r>
              <a:rPr sz="800" b="1" dirty="0">
                <a:latin typeface="Arial"/>
                <a:cs typeface="Arial"/>
              </a:rPr>
              <a:t>r</a:t>
            </a:r>
            <a:r>
              <a:rPr sz="800" b="1" spc="-5" dirty="0">
                <a:latin typeface="Arial"/>
                <a:cs typeface="Arial"/>
              </a:rPr>
              <a:t>ver</a:t>
            </a:r>
            <a:endParaRPr sz="800">
              <a:latin typeface="Arial"/>
              <a:cs typeface="Arial"/>
            </a:endParaRPr>
          </a:p>
        </p:txBody>
      </p:sp>
      <p:grpSp>
        <p:nvGrpSpPr>
          <p:cNvPr id="11" name="object 11"/>
          <p:cNvGrpSpPr/>
          <p:nvPr/>
        </p:nvGrpSpPr>
        <p:grpSpPr>
          <a:xfrm>
            <a:off x="876388" y="1295006"/>
            <a:ext cx="576580" cy="577215"/>
            <a:chOff x="876388" y="1295006"/>
            <a:chExt cx="576580" cy="577215"/>
          </a:xfrm>
        </p:grpSpPr>
        <p:sp>
          <p:nvSpPr>
            <p:cNvPr id="12" name="object 12"/>
            <p:cNvSpPr/>
            <p:nvPr/>
          </p:nvSpPr>
          <p:spPr>
            <a:xfrm>
              <a:off x="912393" y="1348778"/>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13" name="object 13"/>
            <p:cNvSpPr/>
            <p:nvPr/>
          </p:nvSpPr>
          <p:spPr>
            <a:xfrm>
              <a:off x="915555" y="1348778"/>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14" name="object 14"/>
            <p:cNvSpPr/>
            <p:nvPr/>
          </p:nvSpPr>
          <p:spPr>
            <a:xfrm>
              <a:off x="1413230" y="1348778"/>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15" name="object 15"/>
            <p:cNvSpPr/>
            <p:nvPr/>
          </p:nvSpPr>
          <p:spPr>
            <a:xfrm>
              <a:off x="912393" y="1491754"/>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16" name="object 16"/>
            <p:cNvSpPr/>
            <p:nvPr/>
          </p:nvSpPr>
          <p:spPr>
            <a:xfrm>
              <a:off x="912393" y="1510728"/>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17" name="object 17"/>
            <p:cNvSpPr/>
            <p:nvPr/>
          </p:nvSpPr>
          <p:spPr>
            <a:xfrm>
              <a:off x="915555" y="1510741"/>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sp>
          <p:nvSpPr>
            <p:cNvPr id="18" name="object 18"/>
            <p:cNvSpPr/>
            <p:nvPr/>
          </p:nvSpPr>
          <p:spPr>
            <a:xfrm>
              <a:off x="1413230" y="1510741"/>
              <a:ext cx="0" cy="144145"/>
            </a:xfrm>
            <a:custGeom>
              <a:avLst/>
              <a:gdLst/>
              <a:ahLst/>
              <a:cxnLst/>
              <a:rect l="l" t="t" r="r" b="b"/>
              <a:pathLst>
                <a:path h="144144">
                  <a:moveTo>
                    <a:pt x="0" y="143979"/>
                  </a:moveTo>
                  <a:lnTo>
                    <a:pt x="0" y="0"/>
                  </a:lnTo>
                </a:path>
              </a:pathLst>
            </a:custGeom>
            <a:ln w="6324">
              <a:solidFill>
                <a:srgbClr val="000000"/>
              </a:solidFill>
            </a:ln>
          </p:spPr>
          <p:txBody>
            <a:bodyPr wrap="square" lIns="0" tIns="0" rIns="0" bIns="0" rtlCol="0"/>
            <a:lstStyle/>
            <a:p>
              <a:endParaRPr/>
            </a:p>
          </p:txBody>
        </p:sp>
        <p:sp>
          <p:nvSpPr>
            <p:cNvPr id="19" name="object 19"/>
            <p:cNvSpPr/>
            <p:nvPr/>
          </p:nvSpPr>
          <p:spPr>
            <a:xfrm>
              <a:off x="915555" y="1673707"/>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20" name="object 20"/>
            <p:cNvSpPr/>
            <p:nvPr/>
          </p:nvSpPr>
          <p:spPr>
            <a:xfrm>
              <a:off x="1413230" y="1673707"/>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21" name="object 21"/>
            <p:cNvSpPr/>
            <p:nvPr/>
          </p:nvSpPr>
          <p:spPr>
            <a:xfrm>
              <a:off x="912393" y="1818348"/>
              <a:ext cx="504190" cy="0"/>
            </a:xfrm>
            <a:custGeom>
              <a:avLst/>
              <a:gdLst/>
              <a:ahLst/>
              <a:cxnLst/>
              <a:rect l="l" t="t" r="r" b="b"/>
              <a:pathLst>
                <a:path w="504190">
                  <a:moveTo>
                    <a:pt x="0" y="0"/>
                  </a:moveTo>
                  <a:lnTo>
                    <a:pt x="503999" y="0"/>
                  </a:lnTo>
                </a:path>
              </a:pathLst>
            </a:custGeom>
            <a:ln w="6324">
              <a:solidFill>
                <a:srgbClr val="000000"/>
              </a:solidFill>
            </a:ln>
          </p:spPr>
          <p:txBody>
            <a:bodyPr wrap="square" lIns="0" tIns="0" rIns="0" bIns="0" rtlCol="0"/>
            <a:lstStyle/>
            <a:p>
              <a:endParaRPr/>
            </a:p>
          </p:txBody>
        </p:sp>
        <p:sp>
          <p:nvSpPr>
            <p:cNvPr id="22" name="object 22"/>
            <p:cNvSpPr/>
            <p:nvPr/>
          </p:nvSpPr>
          <p:spPr>
            <a:xfrm>
              <a:off x="876388" y="1301331"/>
              <a:ext cx="576580" cy="0"/>
            </a:xfrm>
            <a:custGeom>
              <a:avLst/>
              <a:gdLst/>
              <a:ahLst/>
              <a:cxnLst/>
              <a:rect l="l" t="t" r="r" b="b"/>
              <a:pathLst>
                <a:path w="576580">
                  <a:moveTo>
                    <a:pt x="0" y="0"/>
                  </a:moveTo>
                  <a:lnTo>
                    <a:pt x="576008" y="0"/>
                  </a:lnTo>
                </a:path>
              </a:pathLst>
            </a:custGeom>
            <a:ln w="12649">
              <a:solidFill>
                <a:srgbClr val="000000"/>
              </a:solidFill>
            </a:ln>
          </p:spPr>
          <p:txBody>
            <a:bodyPr wrap="square" lIns="0" tIns="0" rIns="0" bIns="0" rtlCol="0"/>
            <a:lstStyle/>
            <a:p>
              <a:endParaRPr/>
            </a:p>
          </p:txBody>
        </p:sp>
        <p:sp>
          <p:nvSpPr>
            <p:cNvPr id="23" name="object 23"/>
            <p:cNvSpPr/>
            <p:nvPr/>
          </p:nvSpPr>
          <p:spPr>
            <a:xfrm>
              <a:off x="882726" y="1301343"/>
              <a:ext cx="0" cy="564515"/>
            </a:xfrm>
            <a:custGeom>
              <a:avLst/>
              <a:gdLst/>
              <a:ahLst/>
              <a:cxnLst/>
              <a:rect l="l" t="t" r="r" b="b"/>
              <a:pathLst>
                <a:path h="564514">
                  <a:moveTo>
                    <a:pt x="0" y="564451"/>
                  </a:moveTo>
                  <a:lnTo>
                    <a:pt x="0" y="0"/>
                  </a:lnTo>
                </a:path>
              </a:pathLst>
            </a:custGeom>
            <a:ln w="12649">
              <a:solidFill>
                <a:srgbClr val="000000"/>
              </a:solidFill>
            </a:ln>
          </p:spPr>
          <p:txBody>
            <a:bodyPr wrap="square" lIns="0" tIns="0" rIns="0" bIns="0" rtlCol="0"/>
            <a:lstStyle/>
            <a:p>
              <a:endParaRPr/>
            </a:p>
          </p:txBody>
        </p:sp>
        <p:sp>
          <p:nvSpPr>
            <p:cNvPr id="24" name="object 24"/>
            <p:cNvSpPr/>
            <p:nvPr/>
          </p:nvSpPr>
          <p:spPr>
            <a:xfrm>
              <a:off x="1446072" y="1301343"/>
              <a:ext cx="0" cy="564515"/>
            </a:xfrm>
            <a:custGeom>
              <a:avLst/>
              <a:gdLst/>
              <a:ahLst/>
              <a:cxnLst/>
              <a:rect l="l" t="t" r="r" b="b"/>
              <a:pathLst>
                <a:path h="564514">
                  <a:moveTo>
                    <a:pt x="0" y="564451"/>
                  </a:moveTo>
                  <a:lnTo>
                    <a:pt x="0" y="0"/>
                  </a:lnTo>
                </a:path>
              </a:pathLst>
            </a:custGeom>
            <a:ln w="12649">
              <a:solidFill>
                <a:srgbClr val="000000"/>
              </a:solidFill>
            </a:ln>
          </p:spPr>
          <p:txBody>
            <a:bodyPr wrap="square" lIns="0" tIns="0" rIns="0" bIns="0" rtlCol="0"/>
            <a:lstStyle/>
            <a:p>
              <a:endParaRPr/>
            </a:p>
          </p:txBody>
        </p:sp>
        <p:sp>
          <p:nvSpPr>
            <p:cNvPr id="25" name="object 25"/>
            <p:cNvSpPr/>
            <p:nvPr/>
          </p:nvSpPr>
          <p:spPr>
            <a:xfrm>
              <a:off x="876388" y="1865795"/>
              <a:ext cx="576580" cy="0"/>
            </a:xfrm>
            <a:custGeom>
              <a:avLst/>
              <a:gdLst/>
              <a:ahLst/>
              <a:cxnLst/>
              <a:rect l="l" t="t" r="r" b="b"/>
              <a:pathLst>
                <a:path w="576580">
                  <a:moveTo>
                    <a:pt x="0" y="0"/>
                  </a:moveTo>
                  <a:lnTo>
                    <a:pt x="576008" y="0"/>
                  </a:lnTo>
                </a:path>
              </a:pathLst>
            </a:custGeom>
            <a:ln w="12649">
              <a:solidFill>
                <a:srgbClr val="000000"/>
              </a:solidFill>
            </a:ln>
          </p:spPr>
          <p:txBody>
            <a:bodyPr wrap="square" lIns="0" tIns="0" rIns="0" bIns="0" rtlCol="0"/>
            <a:lstStyle/>
            <a:p>
              <a:endParaRPr/>
            </a:p>
          </p:txBody>
        </p:sp>
      </p:grpSp>
      <p:sp>
        <p:nvSpPr>
          <p:cNvPr id="26" name="object 26"/>
          <p:cNvSpPr txBox="1"/>
          <p:nvPr/>
        </p:nvSpPr>
        <p:spPr>
          <a:xfrm>
            <a:off x="475716" y="1457160"/>
            <a:ext cx="1209040" cy="351790"/>
          </a:xfrm>
          <a:prstGeom prst="rect">
            <a:avLst/>
          </a:prstGeom>
        </p:spPr>
        <p:txBody>
          <a:bodyPr vert="horz" wrap="square" lIns="0" tIns="53340" rIns="0" bIns="0" rtlCol="0">
            <a:spAutoFit/>
          </a:bodyPr>
          <a:lstStyle/>
          <a:p>
            <a:pPr marL="12700">
              <a:lnSpc>
                <a:spcPct val="100000"/>
              </a:lnSpc>
              <a:spcBef>
                <a:spcPts val="420"/>
              </a:spcBef>
              <a:tabLst>
                <a:tab pos="436245" algn="l"/>
                <a:tab pos="940435" algn="l"/>
              </a:tabLst>
            </a:pPr>
            <a:r>
              <a:rPr sz="1200" b="1" spc="-7" baseline="3472" dirty="0">
                <a:latin typeface="Arial"/>
                <a:cs typeface="Arial"/>
              </a:rPr>
              <a:t>CoD	</a:t>
            </a:r>
            <a:r>
              <a:rPr sz="800" u="dbl" spc="-5" dirty="0">
                <a:uFill>
                  <a:solidFill>
                    <a:srgbClr val="000000"/>
                  </a:solidFill>
                </a:uFill>
                <a:latin typeface="Times New Roman"/>
                <a:cs typeface="Times New Roman"/>
              </a:rPr>
              <a:t>     </a:t>
            </a:r>
            <a:r>
              <a:rPr sz="800" u="dbl" spc="-95" dirty="0">
                <a:uFill>
                  <a:solidFill>
                    <a:srgbClr val="000000"/>
                  </a:solidFill>
                </a:uFill>
                <a:latin typeface="Times New Roman"/>
                <a:cs typeface="Times New Roman"/>
              </a:rPr>
              <a:t> </a:t>
            </a:r>
            <a:r>
              <a:rPr sz="800" b="1" u="dbl" spc="-20" dirty="0">
                <a:uFill>
                  <a:solidFill>
                    <a:srgbClr val="000000"/>
                  </a:solidFill>
                </a:uFill>
                <a:latin typeface="Arial"/>
                <a:cs typeface="Arial"/>
              </a:rPr>
              <a:t>e</a:t>
            </a:r>
            <a:r>
              <a:rPr sz="800" b="1" u="dbl" spc="-15" dirty="0">
                <a:uFill>
                  <a:solidFill>
                    <a:srgbClr val="000000"/>
                  </a:solidFill>
                </a:uFill>
                <a:latin typeface="Arial"/>
                <a:cs typeface="Arial"/>
              </a:rPr>
              <a:t>x</a:t>
            </a:r>
            <a:r>
              <a:rPr sz="800" b="1" u="dbl" spc="-5" dirty="0">
                <a:uFill>
                  <a:solidFill>
                    <a:srgbClr val="000000"/>
                  </a:solidFill>
                </a:uFill>
                <a:latin typeface="Arial"/>
                <a:cs typeface="Arial"/>
              </a:rPr>
              <a:t>ec</a:t>
            </a:r>
            <a:r>
              <a:rPr sz="800" b="1" u="dbl" dirty="0">
                <a:uFill>
                  <a:solidFill>
                    <a:srgbClr val="000000"/>
                  </a:solidFill>
                </a:uFill>
                <a:latin typeface="Arial"/>
                <a:cs typeface="Arial"/>
              </a:rPr>
              <a:t>	</a:t>
            </a:r>
            <a:r>
              <a:rPr sz="800" b="1" dirty="0">
                <a:latin typeface="Arial"/>
                <a:cs typeface="Arial"/>
              </a:rPr>
              <a:t>  </a:t>
            </a:r>
            <a:r>
              <a:rPr sz="800" b="1" spc="55" dirty="0">
                <a:latin typeface="Arial"/>
                <a:cs typeface="Arial"/>
              </a:rPr>
              <a:t> </a:t>
            </a:r>
            <a:r>
              <a:rPr sz="1200" i="1" spc="-209" baseline="3472" dirty="0">
                <a:latin typeface="メイリオ"/>
                <a:cs typeface="メイリオ"/>
              </a:rPr>
              <a:t>←</a:t>
            </a:r>
            <a:r>
              <a:rPr sz="1200" i="1" spc="-37" baseline="3472" dirty="0">
                <a:latin typeface="メイリオ"/>
                <a:cs typeface="メイリオ"/>
              </a:rPr>
              <a:t>−</a:t>
            </a:r>
            <a:endParaRPr sz="1200" baseline="3472">
              <a:latin typeface="メイリオ"/>
              <a:cs typeface="メイリオ"/>
            </a:endParaRPr>
          </a:p>
          <a:p>
            <a:pPr marL="491490">
              <a:lnSpc>
                <a:spcPct val="100000"/>
              </a:lnSpc>
              <a:spcBef>
                <a:spcPts val="325"/>
              </a:spcBef>
            </a:pPr>
            <a:r>
              <a:rPr sz="800" spc="-5" dirty="0">
                <a:latin typeface="Arial"/>
                <a:cs typeface="Arial"/>
              </a:rPr>
              <a:t>resource</a:t>
            </a:r>
            <a:endParaRPr sz="800">
              <a:latin typeface="Arial"/>
              <a:cs typeface="Arial"/>
            </a:endParaRPr>
          </a:p>
        </p:txBody>
      </p:sp>
      <p:grpSp>
        <p:nvGrpSpPr>
          <p:cNvPr id="27" name="object 27"/>
          <p:cNvGrpSpPr/>
          <p:nvPr/>
        </p:nvGrpSpPr>
        <p:grpSpPr>
          <a:xfrm>
            <a:off x="1763953" y="1339926"/>
            <a:ext cx="504190" cy="487680"/>
            <a:chOff x="1763953" y="1339926"/>
            <a:chExt cx="504190" cy="487680"/>
          </a:xfrm>
        </p:grpSpPr>
        <p:sp>
          <p:nvSpPr>
            <p:cNvPr id="28" name="object 28"/>
            <p:cNvSpPr/>
            <p:nvPr/>
          </p:nvSpPr>
          <p:spPr>
            <a:xfrm>
              <a:off x="1763953" y="1343088"/>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29" name="object 29"/>
            <p:cNvSpPr/>
            <p:nvPr/>
          </p:nvSpPr>
          <p:spPr>
            <a:xfrm>
              <a:off x="1767116" y="1343088"/>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30" name="object 30"/>
            <p:cNvSpPr/>
            <p:nvPr/>
          </p:nvSpPr>
          <p:spPr>
            <a:xfrm>
              <a:off x="2264790" y="1343088"/>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31" name="object 31"/>
            <p:cNvSpPr/>
            <p:nvPr/>
          </p:nvSpPr>
          <p:spPr>
            <a:xfrm>
              <a:off x="1767116" y="1519110"/>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2" name="object 32"/>
            <p:cNvSpPr/>
            <p:nvPr/>
          </p:nvSpPr>
          <p:spPr>
            <a:xfrm>
              <a:off x="2264790" y="1519110"/>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3" name="object 33"/>
            <p:cNvSpPr/>
            <p:nvPr/>
          </p:nvSpPr>
          <p:spPr>
            <a:xfrm>
              <a:off x="1767116" y="1681060"/>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4" name="object 34"/>
            <p:cNvSpPr/>
            <p:nvPr/>
          </p:nvSpPr>
          <p:spPr>
            <a:xfrm>
              <a:off x="2264790" y="1681060"/>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35" name="object 35"/>
            <p:cNvSpPr/>
            <p:nvPr/>
          </p:nvSpPr>
          <p:spPr>
            <a:xfrm>
              <a:off x="1763953" y="1824037"/>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36" name="object 36"/>
          <p:cNvGraphicFramePr>
            <a:graphicFrameLocks noGrp="1"/>
          </p:cNvGraphicFramePr>
          <p:nvPr/>
        </p:nvGraphicFramePr>
        <p:xfrm>
          <a:off x="1727949" y="1289316"/>
          <a:ext cx="563245" cy="57467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marL="171450">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37" name="object 37"/>
          <p:cNvGrpSpPr/>
          <p:nvPr/>
        </p:nvGrpSpPr>
        <p:grpSpPr>
          <a:xfrm>
            <a:off x="2696717" y="1332699"/>
            <a:ext cx="510540" cy="338455"/>
            <a:chOff x="2696717" y="1332699"/>
            <a:chExt cx="510540" cy="338455"/>
          </a:xfrm>
        </p:grpSpPr>
        <p:sp>
          <p:nvSpPr>
            <p:cNvPr id="38" name="object 38"/>
            <p:cNvSpPr/>
            <p:nvPr/>
          </p:nvSpPr>
          <p:spPr>
            <a:xfrm>
              <a:off x="2699892" y="1335874"/>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39" name="object 39"/>
            <p:cNvSpPr/>
            <p:nvPr/>
          </p:nvSpPr>
          <p:spPr>
            <a:xfrm>
              <a:off x="2703055" y="1335887"/>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40" name="object 40"/>
            <p:cNvSpPr/>
            <p:nvPr/>
          </p:nvSpPr>
          <p:spPr>
            <a:xfrm>
              <a:off x="3200730" y="1335887"/>
              <a:ext cx="0" cy="157480"/>
            </a:xfrm>
            <a:custGeom>
              <a:avLst/>
              <a:gdLst/>
              <a:ahLst/>
              <a:cxnLst/>
              <a:rect l="l" t="t" r="r" b="b"/>
              <a:pathLst>
                <a:path h="157480">
                  <a:moveTo>
                    <a:pt x="0" y="157035"/>
                  </a:moveTo>
                  <a:lnTo>
                    <a:pt x="0" y="0"/>
                  </a:lnTo>
                </a:path>
              </a:pathLst>
            </a:custGeom>
            <a:ln w="6324">
              <a:solidFill>
                <a:srgbClr val="000000"/>
              </a:solidFill>
            </a:ln>
          </p:spPr>
          <p:txBody>
            <a:bodyPr wrap="square" lIns="0" tIns="0" rIns="0" bIns="0" rtlCol="0"/>
            <a:lstStyle/>
            <a:p>
              <a:endParaRPr/>
            </a:p>
          </p:txBody>
        </p:sp>
        <p:sp>
          <p:nvSpPr>
            <p:cNvPr id="41" name="object 41"/>
            <p:cNvSpPr/>
            <p:nvPr/>
          </p:nvSpPr>
          <p:spPr>
            <a:xfrm>
              <a:off x="2703055" y="1511896"/>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sp>
          <p:nvSpPr>
            <p:cNvPr id="42" name="object 42"/>
            <p:cNvSpPr/>
            <p:nvPr/>
          </p:nvSpPr>
          <p:spPr>
            <a:xfrm>
              <a:off x="3200730" y="1511896"/>
              <a:ext cx="0" cy="156210"/>
            </a:xfrm>
            <a:custGeom>
              <a:avLst/>
              <a:gdLst/>
              <a:ahLst/>
              <a:cxnLst/>
              <a:rect l="l" t="t" r="r" b="b"/>
              <a:pathLst>
                <a:path h="156210">
                  <a:moveTo>
                    <a:pt x="0" y="155727"/>
                  </a:moveTo>
                  <a:lnTo>
                    <a:pt x="0" y="0"/>
                  </a:lnTo>
                </a:path>
              </a:pathLst>
            </a:custGeom>
            <a:ln w="6324">
              <a:solidFill>
                <a:srgbClr val="000000"/>
              </a:solidFill>
            </a:ln>
          </p:spPr>
          <p:txBody>
            <a:bodyPr wrap="square" lIns="0" tIns="0" rIns="0" bIns="0" rtlCol="0"/>
            <a:lstStyle/>
            <a:p>
              <a:endParaRPr/>
            </a:p>
          </p:txBody>
        </p:sp>
      </p:grpSp>
      <p:graphicFrame>
        <p:nvGraphicFramePr>
          <p:cNvPr id="43" name="object 43"/>
          <p:cNvGraphicFramePr>
            <a:graphicFrameLocks noGrp="1"/>
          </p:cNvGraphicFramePr>
          <p:nvPr/>
        </p:nvGraphicFramePr>
        <p:xfrm>
          <a:off x="2663888" y="1282103"/>
          <a:ext cx="563245" cy="589280"/>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213360">
                <a:tc>
                  <a:txBody>
                    <a:bodyPr/>
                    <a:lstStyle/>
                    <a:p>
                      <a:pPr algn="ctr">
                        <a:lnSpc>
                          <a:spcPct val="100000"/>
                        </a:lnSpc>
                        <a:spcBef>
                          <a:spcPts val="470"/>
                        </a:spcBef>
                      </a:pPr>
                      <a:r>
                        <a:rPr sz="800" spc="-5" dirty="0">
                          <a:latin typeface="Arial"/>
                          <a:cs typeface="Arial"/>
                        </a:rPr>
                        <a:t>code</a:t>
                      </a:r>
                      <a:endParaRPr sz="800">
                        <a:latin typeface="Arial"/>
                        <a:cs typeface="Arial"/>
                      </a:endParaRPr>
                    </a:p>
                  </a:txBody>
                  <a:tcPr marL="0" marR="0" marT="5969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84150">
                <a:tc>
                  <a:txBody>
                    <a:bodyPr/>
                    <a:lstStyle/>
                    <a:p>
                      <a:pPr algn="ctr">
                        <a:lnSpc>
                          <a:spcPct val="100000"/>
                        </a:lnSpc>
                        <a:spcBef>
                          <a:spcPts val="170"/>
                        </a:spcBef>
                      </a:pPr>
                      <a:r>
                        <a:rPr sz="800" u="sng" dirty="0">
                          <a:uFill>
                            <a:solidFill>
                              <a:srgbClr val="000000"/>
                            </a:solidFill>
                          </a:uFill>
                          <a:latin typeface="Times New Roman"/>
                          <a:cs typeface="Times New Roman"/>
                        </a:rPr>
                        <a:t>    </a:t>
                      </a:r>
                      <a:r>
                        <a:rPr sz="800" u="sng" spc="-50" dirty="0">
                          <a:uFill>
                            <a:solidFill>
                              <a:srgbClr val="000000"/>
                            </a:solidFill>
                          </a:uFill>
                          <a:latin typeface="Times New Roman"/>
                          <a:cs typeface="Times New Roman"/>
                        </a:rPr>
                        <a:t> </a:t>
                      </a:r>
                      <a:r>
                        <a:rPr sz="800" b="1" u="sng" spc="-10" dirty="0">
                          <a:uFill>
                            <a:solidFill>
                              <a:srgbClr val="000000"/>
                            </a:solidFill>
                          </a:uFill>
                          <a:latin typeface="Arial"/>
                          <a:cs typeface="Arial"/>
                        </a:rPr>
                        <a:t>exec*</a:t>
                      </a:r>
                      <a:r>
                        <a:rPr sz="800" b="1" u="sng" spc="60" dirty="0">
                          <a:uFill>
                            <a:solidFill>
                              <a:srgbClr val="000000"/>
                            </a:solidFill>
                          </a:uFill>
                          <a:latin typeface="Arial"/>
                          <a:cs typeface="Arial"/>
                        </a:rPr>
                        <a:t> </a:t>
                      </a:r>
                      <a:endParaRPr sz="800">
                        <a:latin typeface="Arial"/>
                        <a:cs typeface="Arial"/>
                      </a:endParaRPr>
                    </a:p>
                  </a:txBody>
                  <a:tcPr marL="0" marR="0" marT="2159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1770">
                <a:tc>
                  <a:txBody>
                    <a:bodyPr/>
                    <a:lstStyle/>
                    <a:p>
                      <a:pPr algn="ctr">
                        <a:lnSpc>
                          <a:spcPct val="100000"/>
                        </a:lnSpc>
                      </a:pPr>
                      <a:r>
                        <a:rPr sz="800" spc="-5" dirty="0">
                          <a:latin typeface="Arial"/>
                          <a:cs typeface="Arial"/>
                        </a:rPr>
                        <a:t>resource</a:t>
                      </a:r>
                      <a:endParaRPr sz="800">
                        <a:latin typeface="Arial"/>
                        <a:cs typeface="Arial"/>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pSp>
        <p:nvGrpSpPr>
          <p:cNvPr id="44" name="object 44"/>
          <p:cNvGrpSpPr/>
          <p:nvPr/>
        </p:nvGrpSpPr>
        <p:grpSpPr>
          <a:xfrm>
            <a:off x="2699892" y="1686610"/>
            <a:ext cx="504190" cy="147955"/>
            <a:chOff x="2699892" y="1686610"/>
            <a:chExt cx="504190" cy="147955"/>
          </a:xfrm>
        </p:grpSpPr>
        <p:sp>
          <p:nvSpPr>
            <p:cNvPr id="45" name="object 45"/>
            <p:cNvSpPr/>
            <p:nvPr/>
          </p:nvSpPr>
          <p:spPr>
            <a:xfrm>
              <a:off x="2703055" y="168661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46" name="object 46"/>
            <p:cNvSpPr/>
            <p:nvPr/>
          </p:nvSpPr>
          <p:spPr>
            <a:xfrm>
              <a:off x="3200730" y="1686610"/>
              <a:ext cx="0" cy="144780"/>
            </a:xfrm>
            <a:custGeom>
              <a:avLst/>
              <a:gdLst/>
              <a:ahLst/>
              <a:cxnLst/>
              <a:rect l="l" t="t" r="r" b="b"/>
              <a:pathLst>
                <a:path h="144780">
                  <a:moveTo>
                    <a:pt x="0" y="144640"/>
                  </a:moveTo>
                  <a:lnTo>
                    <a:pt x="0" y="0"/>
                  </a:lnTo>
                </a:path>
              </a:pathLst>
            </a:custGeom>
            <a:ln w="6324">
              <a:solidFill>
                <a:srgbClr val="000000"/>
              </a:solidFill>
            </a:ln>
          </p:spPr>
          <p:txBody>
            <a:bodyPr wrap="square" lIns="0" tIns="0" rIns="0" bIns="0" rtlCol="0"/>
            <a:lstStyle/>
            <a:p>
              <a:endParaRPr/>
            </a:p>
          </p:txBody>
        </p:sp>
        <p:sp>
          <p:nvSpPr>
            <p:cNvPr id="47" name="object 47"/>
            <p:cNvSpPr/>
            <p:nvPr/>
          </p:nvSpPr>
          <p:spPr>
            <a:xfrm>
              <a:off x="2699892" y="183125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sp>
        <p:nvSpPr>
          <p:cNvPr id="48" name="object 48"/>
          <p:cNvSpPr txBox="1"/>
          <p:nvPr/>
        </p:nvSpPr>
        <p:spPr>
          <a:xfrm>
            <a:off x="3283470" y="1494941"/>
            <a:ext cx="188595" cy="147320"/>
          </a:xfrm>
          <a:prstGeom prst="rect">
            <a:avLst/>
          </a:prstGeom>
        </p:spPr>
        <p:txBody>
          <a:bodyPr vert="horz" wrap="square" lIns="0" tIns="12065" rIns="0" bIns="0" rtlCol="0">
            <a:spAutoFit/>
          </a:bodyPr>
          <a:lstStyle/>
          <a:p>
            <a:pPr marL="12700">
              <a:lnSpc>
                <a:spcPct val="100000"/>
              </a:lnSpc>
              <a:spcBef>
                <a:spcPts val="95"/>
              </a:spcBef>
            </a:pPr>
            <a:r>
              <a:rPr sz="800" i="1" spc="-140" dirty="0">
                <a:latin typeface="メイリオ"/>
                <a:cs typeface="メイリオ"/>
              </a:rPr>
              <a:t>←</a:t>
            </a:r>
            <a:r>
              <a:rPr sz="800" i="1" spc="-25" dirty="0">
                <a:latin typeface="メイリオ"/>
                <a:cs typeface="メイリオ"/>
              </a:rPr>
              <a:t>−</a:t>
            </a:r>
            <a:endParaRPr sz="800">
              <a:latin typeface="メイリオ"/>
              <a:cs typeface="メイリオ"/>
            </a:endParaRPr>
          </a:p>
        </p:txBody>
      </p:sp>
      <p:grpSp>
        <p:nvGrpSpPr>
          <p:cNvPr id="49" name="object 49"/>
          <p:cNvGrpSpPr/>
          <p:nvPr/>
        </p:nvGrpSpPr>
        <p:grpSpPr>
          <a:xfrm>
            <a:off x="3551440" y="1346962"/>
            <a:ext cx="504190" cy="473709"/>
            <a:chOff x="3551440" y="1346962"/>
            <a:chExt cx="504190" cy="473709"/>
          </a:xfrm>
        </p:grpSpPr>
        <p:sp>
          <p:nvSpPr>
            <p:cNvPr id="50" name="object 50"/>
            <p:cNvSpPr/>
            <p:nvPr/>
          </p:nvSpPr>
          <p:spPr>
            <a:xfrm>
              <a:off x="3551440" y="1350124"/>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sp>
          <p:nvSpPr>
            <p:cNvPr id="51" name="object 51"/>
            <p:cNvSpPr/>
            <p:nvPr/>
          </p:nvSpPr>
          <p:spPr>
            <a:xfrm>
              <a:off x="3554602"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52" name="object 52"/>
            <p:cNvSpPr/>
            <p:nvPr/>
          </p:nvSpPr>
          <p:spPr>
            <a:xfrm>
              <a:off x="4052277" y="1350124"/>
              <a:ext cx="0" cy="143510"/>
            </a:xfrm>
            <a:custGeom>
              <a:avLst/>
              <a:gdLst/>
              <a:ahLst/>
              <a:cxnLst/>
              <a:rect l="l" t="t" r="r" b="b"/>
              <a:pathLst>
                <a:path h="143509">
                  <a:moveTo>
                    <a:pt x="0" y="142976"/>
                  </a:moveTo>
                  <a:lnTo>
                    <a:pt x="0" y="0"/>
                  </a:lnTo>
                </a:path>
              </a:pathLst>
            </a:custGeom>
            <a:ln w="6324">
              <a:solidFill>
                <a:srgbClr val="000000"/>
              </a:solidFill>
            </a:ln>
          </p:spPr>
          <p:txBody>
            <a:bodyPr wrap="square" lIns="0" tIns="0" rIns="0" bIns="0" rtlCol="0"/>
            <a:lstStyle/>
            <a:p>
              <a:endParaRPr/>
            </a:p>
          </p:txBody>
        </p:sp>
        <p:sp>
          <p:nvSpPr>
            <p:cNvPr id="53" name="object 53"/>
            <p:cNvSpPr/>
            <p:nvPr/>
          </p:nvSpPr>
          <p:spPr>
            <a:xfrm>
              <a:off x="3554602"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54" name="object 54"/>
            <p:cNvSpPr/>
            <p:nvPr/>
          </p:nvSpPr>
          <p:spPr>
            <a:xfrm>
              <a:off x="4052277" y="1512074"/>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55" name="object 55"/>
            <p:cNvSpPr/>
            <p:nvPr/>
          </p:nvSpPr>
          <p:spPr>
            <a:xfrm>
              <a:off x="3554602"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56" name="object 56"/>
            <p:cNvSpPr/>
            <p:nvPr/>
          </p:nvSpPr>
          <p:spPr>
            <a:xfrm>
              <a:off x="4052277" y="1674025"/>
              <a:ext cx="0" cy="143510"/>
            </a:xfrm>
            <a:custGeom>
              <a:avLst/>
              <a:gdLst/>
              <a:ahLst/>
              <a:cxnLst/>
              <a:rect l="l" t="t" r="r" b="b"/>
              <a:pathLst>
                <a:path h="143510">
                  <a:moveTo>
                    <a:pt x="0" y="142976"/>
                  </a:moveTo>
                  <a:lnTo>
                    <a:pt x="0" y="0"/>
                  </a:lnTo>
                </a:path>
              </a:pathLst>
            </a:custGeom>
            <a:ln w="6324">
              <a:solidFill>
                <a:srgbClr val="000000"/>
              </a:solidFill>
            </a:ln>
          </p:spPr>
          <p:txBody>
            <a:bodyPr wrap="square" lIns="0" tIns="0" rIns="0" bIns="0" rtlCol="0"/>
            <a:lstStyle/>
            <a:p>
              <a:endParaRPr/>
            </a:p>
          </p:txBody>
        </p:sp>
        <p:sp>
          <p:nvSpPr>
            <p:cNvPr id="57" name="object 57"/>
            <p:cNvSpPr/>
            <p:nvPr/>
          </p:nvSpPr>
          <p:spPr>
            <a:xfrm>
              <a:off x="3551440" y="1817001"/>
              <a:ext cx="504190" cy="0"/>
            </a:xfrm>
            <a:custGeom>
              <a:avLst/>
              <a:gdLst/>
              <a:ahLst/>
              <a:cxnLst/>
              <a:rect l="l" t="t" r="r" b="b"/>
              <a:pathLst>
                <a:path w="504189">
                  <a:moveTo>
                    <a:pt x="0" y="0"/>
                  </a:moveTo>
                  <a:lnTo>
                    <a:pt x="503999" y="0"/>
                  </a:lnTo>
                </a:path>
              </a:pathLst>
            </a:custGeom>
            <a:ln w="6324">
              <a:solidFill>
                <a:srgbClr val="000000"/>
              </a:solidFill>
            </a:ln>
          </p:spPr>
          <p:txBody>
            <a:bodyPr wrap="square" lIns="0" tIns="0" rIns="0" bIns="0" rtlCol="0"/>
            <a:lstStyle/>
            <a:p>
              <a:endParaRPr/>
            </a:p>
          </p:txBody>
        </p:sp>
      </p:grpSp>
      <p:graphicFrame>
        <p:nvGraphicFramePr>
          <p:cNvPr id="58" name="object 58"/>
          <p:cNvGraphicFramePr>
            <a:graphicFrameLocks noGrp="1"/>
          </p:cNvGraphicFramePr>
          <p:nvPr/>
        </p:nvGraphicFramePr>
        <p:xfrm>
          <a:off x="3515448" y="1296352"/>
          <a:ext cx="563245" cy="560705"/>
        </p:xfrm>
        <a:graphic>
          <a:graphicData uri="http://schemas.openxmlformats.org/drawingml/2006/table">
            <a:tbl>
              <a:tblPr firstRow="1" bandRow="1">
                <a:tableStyleId>{2D5ABB26-0587-4C30-8999-92F81FD0307C}</a:tableStyleId>
              </a:tblPr>
              <a:tblGrid>
                <a:gridCol w="563245">
                  <a:extLst>
                    <a:ext uri="{9D8B030D-6E8A-4147-A177-3AD203B41FA5}">
                      <a16:colId xmlns:a16="http://schemas.microsoft.com/office/drawing/2014/main" val="20000"/>
                    </a:ext>
                  </a:extLst>
                </a:gridCol>
              </a:tblGrid>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9939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8" name="object 68"/>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43</a:t>
            </a:r>
            <a:r>
              <a:rPr spc="-40" dirty="0"/>
              <a:t> </a:t>
            </a:r>
            <a:r>
              <a:rPr spc="-5" dirty="0"/>
              <a:t>/</a:t>
            </a:r>
            <a:r>
              <a:rPr spc="-35" dirty="0"/>
              <a:t> </a:t>
            </a:r>
            <a:r>
              <a:rPr spc="-5" dirty="0"/>
              <a:t>47</a:t>
            </a:r>
          </a:p>
        </p:txBody>
      </p:sp>
      <p:sp>
        <p:nvSpPr>
          <p:cNvPr id="59" name="object 59"/>
          <p:cNvSpPr txBox="1"/>
          <p:nvPr/>
        </p:nvSpPr>
        <p:spPr>
          <a:xfrm>
            <a:off x="475716" y="2242107"/>
            <a:ext cx="182880" cy="147320"/>
          </a:xfrm>
          <a:prstGeom prst="rect">
            <a:avLst/>
          </a:prstGeom>
        </p:spPr>
        <p:txBody>
          <a:bodyPr vert="horz" wrap="square" lIns="0" tIns="12065" rIns="0" bIns="0" rtlCol="0">
            <a:spAutoFit/>
          </a:bodyPr>
          <a:lstStyle/>
          <a:p>
            <a:pPr marL="12700">
              <a:lnSpc>
                <a:spcPct val="100000"/>
              </a:lnSpc>
              <a:spcBef>
                <a:spcPts val="95"/>
              </a:spcBef>
            </a:pPr>
            <a:r>
              <a:rPr sz="800" b="1" spc="-5" dirty="0">
                <a:latin typeface="Arial"/>
                <a:cs typeface="Arial"/>
              </a:rPr>
              <a:t>MA</a:t>
            </a:r>
            <a:endParaRPr sz="800">
              <a:latin typeface="Arial"/>
              <a:cs typeface="Arial"/>
            </a:endParaRPr>
          </a:p>
        </p:txBody>
      </p:sp>
      <p:graphicFrame>
        <p:nvGraphicFramePr>
          <p:cNvPr id="60" name="object 60"/>
          <p:cNvGraphicFramePr>
            <a:graphicFrameLocks noGrp="1"/>
          </p:cNvGraphicFramePr>
          <p:nvPr/>
        </p:nvGraphicFramePr>
        <p:xfrm>
          <a:off x="905300" y="2057273"/>
          <a:ext cx="533400" cy="53340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tblGrid>
              <a:tr h="191770">
                <a:tc>
                  <a:txBody>
                    <a:bodyPr/>
                    <a:lstStyle/>
                    <a:p>
                      <a:pPr algn="ctr">
                        <a:lnSpc>
                          <a:spcPct val="100000"/>
                        </a:lnSpc>
                        <a:spcBef>
                          <a:spcPts val="295"/>
                        </a:spcBef>
                      </a:pPr>
                      <a:r>
                        <a:rPr sz="800" spc="-5" dirty="0">
                          <a:latin typeface="Arial"/>
                          <a:cs typeface="Arial"/>
                        </a:rPr>
                        <a:t>code</a:t>
                      </a:r>
                      <a:endParaRPr sz="800">
                        <a:latin typeface="Arial"/>
                        <a:cs typeface="Arial"/>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2560">
                <a:tc>
                  <a:txBody>
                    <a:bodyPr/>
                    <a:lstStyle/>
                    <a:p>
                      <a:pPr algn="ctr">
                        <a:lnSpc>
                          <a:spcPct val="100000"/>
                        </a:lnSpc>
                        <a:spcBef>
                          <a:spcPts val="75"/>
                        </a:spcBef>
                      </a:pPr>
                      <a:r>
                        <a:rPr sz="800" b="1" spc="-10" dirty="0">
                          <a:latin typeface="Arial"/>
                          <a:cs typeface="Arial"/>
                        </a:rPr>
                        <a:t>exec</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9070">
                <a:tc>
                  <a:txBody>
                    <a:bodyPr/>
                    <a:lstStyle/>
                    <a:p>
                      <a:pPr algn="ctr">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1" name="object 61"/>
          <p:cNvSpPr txBox="1"/>
          <p:nvPr/>
        </p:nvSpPr>
        <p:spPr>
          <a:xfrm>
            <a:off x="1495971" y="2242107"/>
            <a:ext cx="188595" cy="147320"/>
          </a:xfrm>
          <a:prstGeom prst="rect">
            <a:avLst/>
          </a:prstGeom>
        </p:spPr>
        <p:txBody>
          <a:bodyPr vert="horz" wrap="square" lIns="0" tIns="12065" rIns="0" bIns="0" rtlCol="0">
            <a:spAutoFit/>
          </a:bodyPr>
          <a:lstStyle/>
          <a:p>
            <a:pPr marL="12700">
              <a:lnSpc>
                <a:spcPct val="100000"/>
              </a:lnSpc>
              <a:spcBef>
                <a:spcPts val="95"/>
              </a:spcBef>
            </a:pPr>
            <a:r>
              <a:rPr sz="800" i="1" spc="-160" dirty="0">
                <a:latin typeface="メイリオ"/>
                <a:cs typeface="メイリオ"/>
              </a:rPr>
              <a:t>−</a:t>
            </a:r>
            <a:r>
              <a:rPr sz="800" i="1" spc="-5" dirty="0">
                <a:latin typeface="メイリオ"/>
                <a:cs typeface="メイリオ"/>
              </a:rPr>
              <a:t>→</a:t>
            </a:r>
            <a:endParaRPr sz="800">
              <a:latin typeface="メイリオ"/>
              <a:cs typeface="メイリオ"/>
            </a:endParaRPr>
          </a:p>
        </p:txBody>
      </p:sp>
      <p:graphicFrame>
        <p:nvGraphicFramePr>
          <p:cNvPr id="62" name="object 62"/>
          <p:cNvGraphicFramePr>
            <a:graphicFrameLocks noGrp="1"/>
          </p:cNvGraphicFramePr>
          <p:nvPr/>
        </p:nvGraphicFramePr>
        <p:xfrm>
          <a:off x="1742789" y="2064810"/>
          <a:ext cx="533400" cy="51816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tblGrid>
              <a:tr h="17716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9070">
                <a:tc>
                  <a:txBody>
                    <a:bodyPr/>
                    <a:lstStyle/>
                    <a:p>
                      <a:pPr marL="69850">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graphicFrame>
        <p:nvGraphicFramePr>
          <p:cNvPr id="63" name="object 63"/>
          <p:cNvGraphicFramePr>
            <a:graphicFrameLocks noGrp="1"/>
          </p:cNvGraphicFramePr>
          <p:nvPr/>
        </p:nvGraphicFramePr>
        <p:xfrm>
          <a:off x="2678728" y="2064810"/>
          <a:ext cx="533400" cy="518160"/>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tblGrid>
              <a:tr h="17716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61925">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9070">
                <a:tc>
                  <a:txBody>
                    <a:bodyPr/>
                    <a:lstStyle/>
                    <a:p>
                      <a:pPr marL="69850">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4" name="object 64"/>
          <p:cNvSpPr txBox="1"/>
          <p:nvPr/>
        </p:nvSpPr>
        <p:spPr>
          <a:xfrm>
            <a:off x="3283470" y="2242107"/>
            <a:ext cx="188595" cy="147320"/>
          </a:xfrm>
          <a:prstGeom prst="rect">
            <a:avLst/>
          </a:prstGeom>
        </p:spPr>
        <p:txBody>
          <a:bodyPr vert="horz" wrap="square" lIns="0" tIns="12065" rIns="0" bIns="0" rtlCol="0">
            <a:spAutoFit/>
          </a:bodyPr>
          <a:lstStyle/>
          <a:p>
            <a:pPr marL="12700">
              <a:lnSpc>
                <a:spcPct val="100000"/>
              </a:lnSpc>
              <a:spcBef>
                <a:spcPts val="95"/>
              </a:spcBef>
            </a:pPr>
            <a:r>
              <a:rPr sz="800" i="1" spc="-160" dirty="0">
                <a:latin typeface="メイリオ"/>
                <a:cs typeface="メイリオ"/>
              </a:rPr>
              <a:t>−</a:t>
            </a:r>
            <a:r>
              <a:rPr sz="800" i="1" spc="-5" dirty="0">
                <a:latin typeface="メイリオ"/>
                <a:cs typeface="メイリオ"/>
              </a:rPr>
              <a:t>→</a:t>
            </a:r>
            <a:endParaRPr sz="800">
              <a:latin typeface="メイリオ"/>
              <a:cs typeface="メイリオ"/>
            </a:endParaRPr>
          </a:p>
        </p:txBody>
      </p:sp>
      <p:graphicFrame>
        <p:nvGraphicFramePr>
          <p:cNvPr id="65" name="object 65"/>
          <p:cNvGraphicFramePr>
            <a:graphicFrameLocks noGrp="1"/>
          </p:cNvGraphicFramePr>
          <p:nvPr/>
        </p:nvGraphicFramePr>
        <p:xfrm>
          <a:off x="3530282" y="2051399"/>
          <a:ext cx="533400" cy="545465"/>
        </p:xfrm>
        <a:graphic>
          <a:graphicData uri="http://schemas.openxmlformats.org/drawingml/2006/table">
            <a:tbl>
              <a:tblPr firstRow="1" bandRow="1">
                <a:tableStyleId>{2D5ABB26-0587-4C30-8999-92F81FD0307C}</a:tableStyleId>
              </a:tblPr>
              <a:tblGrid>
                <a:gridCol w="533400">
                  <a:extLst>
                    <a:ext uri="{9D8B030D-6E8A-4147-A177-3AD203B41FA5}">
                      <a16:colId xmlns:a16="http://schemas.microsoft.com/office/drawing/2014/main" val="20000"/>
                    </a:ext>
                  </a:extLst>
                </a:gridCol>
              </a:tblGrid>
              <a:tr h="191770">
                <a:tc>
                  <a:txBody>
                    <a:bodyPr/>
                    <a:lstStyle/>
                    <a:p>
                      <a:pPr algn="ctr">
                        <a:lnSpc>
                          <a:spcPct val="100000"/>
                        </a:lnSpc>
                        <a:spcBef>
                          <a:spcPts val="295"/>
                        </a:spcBef>
                      </a:pPr>
                      <a:r>
                        <a:rPr sz="800" spc="-5" dirty="0">
                          <a:latin typeface="Arial"/>
                          <a:cs typeface="Arial"/>
                        </a:rPr>
                        <a:t>code</a:t>
                      </a:r>
                      <a:endParaRPr sz="800">
                        <a:latin typeface="Arial"/>
                        <a:cs typeface="Arial"/>
                      </a:endParaRPr>
                    </a:p>
                  </a:txBody>
                  <a:tcPr marL="0" marR="0" marT="37465" marB="0">
                    <a:lnL w="12700">
                      <a:solidFill>
                        <a:srgbClr val="000000"/>
                      </a:solidFill>
                      <a:prstDash val="solid"/>
                    </a:lnL>
                    <a:lnR w="12700">
                      <a:solidFill>
                        <a:srgbClr val="000000"/>
                      </a:solidFill>
                      <a:prstDash val="solid"/>
                    </a:lnR>
                    <a:lnT w="12700">
                      <a:solidFill>
                        <a:srgbClr val="000000"/>
                      </a:solidFill>
                      <a:prstDash val="solid"/>
                    </a:lnT>
                    <a:lnB w="6350">
                      <a:solidFill>
                        <a:srgbClr val="000000"/>
                      </a:solidFill>
                      <a:prstDash val="solid"/>
                    </a:lnB>
                  </a:tcPr>
                </a:tc>
                <a:extLst>
                  <a:ext uri="{0D108BD9-81ED-4DB2-BD59-A6C34878D82A}">
                    <a16:rowId xmlns:a16="http://schemas.microsoft.com/office/drawing/2014/main" val="10000"/>
                  </a:ext>
                </a:extLst>
              </a:tr>
              <a:tr h="174625">
                <a:tc>
                  <a:txBody>
                    <a:bodyPr/>
                    <a:lstStyle/>
                    <a:p>
                      <a:pPr algn="ctr">
                        <a:lnSpc>
                          <a:spcPct val="100000"/>
                        </a:lnSpc>
                        <a:spcBef>
                          <a:spcPts val="170"/>
                        </a:spcBef>
                      </a:pPr>
                      <a:r>
                        <a:rPr sz="800" b="1" spc="-10" dirty="0">
                          <a:latin typeface="Arial"/>
                          <a:cs typeface="Arial"/>
                        </a:rPr>
                        <a:t>exec*</a:t>
                      </a:r>
                      <a:endParaRPr sz="800">
                        <a:latin typeface="Arial"/>
                        <a:cs typeface="Arial"/>
                      </a:endParaRPr>
                    </a:p>
                  </a:txBody>
                  <a:tcPr marL="0" marR="0" marT="21590" marB="0">
                    <a:lnL w="12700">
                      <a:solidFill>
                        <a:srgbClr val="000000"/>
                      </a:solidFill>
                      <a:prstDash val="solid"/>
                    </a:lnL>
                    <a:lnR w="12700">
                      <a:solidFill>
                        <a:srgbClr val="000000"/>
                      </a:solidFill>
                      <a:prstDash val="solid"/>
                    </a:lnR>
                    <a:lnT w="6350">
                      <a:solidFill>
                        <a:srgbClr val="000000"/>
                      </a:solidFill>
                      <a:prstDash val="solid"/>
                    </a:lnT>
                    <a:lnB w="6350">
                      <a:solidFill>
                        <a:srgbClr val="000000"/>
                      </a:solidFill>
                      <a:prstDash val="solid"/>
                    </a:lnB>
                  </a:tcPr>
                </a:tc>
                <a:extLst>
                  <a:ext uri="{0D108BD9-81ED-4DB2-BD59-A6C34878D82A}">
                    <a16:rowId xmlns:a16="http://schemas.microsoft.com/office/drawing/2014/main" val="10001"/>
                  </a:ext>
                </a:extLst>
              </a:tr>
              <a:tr h="179070">
                <a:tc>
                  <a:txBody>
                    <a:bodyPr/>
                    <a:lstStyle/>
                    <a:p>
                      <a:pPr algn="ctr">
                        <a:lnSpc>
                          <a:spcPct val="100000"/>
                        </a:lnSpc>
                        <a:spcBef>
                          <a:spcPts val="75"/>
                        </a:spcBef>
                      </a:pPr>
                      <a:r>
                        <a:rPr sz="800" spc="-5" dirty="0">
                          <a:latin typeface="Arial"/>
                          <a:cs typeface="Arial"/>
                        </a:rPr>
                        <a:t>resource</a:t>
                      </a:r>
                      <a:endParaRPr sz="800">
                        <a:latin typeface="Arial"/>
                        <a:cs typeface="Arial"/>
                      </a:endParaRPr>
                    </a:p>
                  </a:txBody>
                  <a:tcPr marL="0" marR="0" marT="9525" marB="0">
                    <a:lnL w="12700">
                      <a:solidFill>
                        <a:srgbClr val="000000"/>
                      </a:solidFill>
                      <a:prstDash val="solid"/>
                    </a:lnL>
                    <a:lnR w="12700">
                      <a:solidFill>
                        <a:srgbClr val="000000"/>
                      </a:solidFill>
                      <a:prstDash val="solid"/>
                    </a:lnR>
                    <a:lnT w="635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sp>
        <p:nvSpPr>
          <p:cNvPr id="66" name="object 66"/>
          <p:cNvSpPr txBox="1"/>
          <p:nvPr/>
        </p:nvSpPr>
        <p:spPr>
          <a:xfrm>
            <a:off x="835558" y="2738150"/>
            <a:ext cx="133350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CoD:</a:t>
            </a:r>
            <a:r>
              <a:rPr sz="1000" spc="-45" dirty="0">
                <a:latin typeface="Arial"/>
                <a:cs typeface="Arial"/>
              </a:rPr>
              <a:t> </a:t>
            </a:r>
            <a:r>
              <a:rPr sz="1000" spc="-5" dirty="0">
                <a:latin typeface="Arial"/>
                <a:cs typeface="Arial"/>
              </a:rPr>
              <a:t>Code-on-demand</a:t>
            </a:r>
            <a:endParaRPr sz="1000">
              <a:latin typeface="Arial"/>
              <a:cs typeface="Arial"/>
            </a:endParaRPr>
          </a:p>
        </p:txBody>
      </p:sp>
      <p:sp>
        <p:nvSpPr>
          <p:cNvPr id="67" name="object 67"/>
          <p:cNvSpPr txBox="1"/>
          <p:nvPr/>
        </p:nvSpPr>
        <p:spPr>
          <a:xfrm>
            <a:off x="2699018" y="2738150"/>
            <a:ext cx="1073150" cy="177800"/>
          </a:xfrm>
          <a:prstGeom prst="rect">
            <a:avLst/>
          </a:prstGeom>
        </p:spPr>
        <p:txBody>
          <a:bodyPr vert="horz" wrap="square" lIns="0" tIns="12065" rIns="0" bIns="0" rtlCol="0">
            <a:spAutoFit/>
          </a:bodyPr>
          <a:lstStyle/>
          <a:p>
            <a:pPr marL="12700">
              <a:lnSpc>
                <a:spcPct val="100000"/>
              </a:lnSpc>
              <a:spcBef>
                <a:spcPts val="95"/>
              </a:spcBef>
            </a:pPr>
            <a:r>
              <a:rPr sz="1000" spc="-5" dirty="0">
                <a:latin typeface="Arial"/>
                <a:cs typeface="Arial"/>
              </a:rPr>
              <a:t>MA:</a:t>
            </a:r>
            <a:r>
              <a:rPr sz="1000" spc="-30" dirty="0">
                <a:latin typeface="Arial"/>
                <a:cs typeface="Arial"/>
              </a:rPr>
              <a:t> </a:t>
            </a:r>
            <a:r>
              <a:rPr sz="1000" spc="-5" dirty="0">
                <a:latin typeface="Arial"/>
                <a:cs typeface="Arial"/>
              </a:rPr>
              <a:t>Mobile</a:t>
            </a:r>
            <a:r>
              <a:rPr sz="1000" spc="-30" dirty="0">
                <a:latin typeface="Arial"/>
                <a:cs typeface="Arial"/>
              </a:rPr>
              <a:t> </a:t>
            </a:r>
            <a:r>
              <a:rPr sz="1000" spc="-5" dirty="0">
                <a:latin typeface="Arial"/>
                <a:cs typeface="Arial"/>
              </a:rPr>
              <a:t>agents</a:t>
            </a:r>
            <a:endParaRPr sz="1000">
              <a:latin typeface="Arial"/>
              <a:cs typeface="Arial"/>
            </a:endParaRPr>
          </a:p>
        </p:txBody>
      </p:sp>
    </p:spTree>
  </p:cSld>
  <p:clrMapOvr>
    <a:masterClrMapping/>
  </p:clrMapOvr>
  <p:transition>
    <p:cut/>
  </p:transition>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44</a:t>
            </a:r>
            <a:r>
              <a:rPr spc="-40" dirty="0"/>
              <a:t> </a:t>
            </a:r>
            <a:r>
              <a:rPr spc="-5" dirty="0"/>
              <a:t>/</a:t>
            </a:r>
            <a:r>
              <a:rPr spc="-35" dirty="0"/>
              <a:t> </a:t>
            </a:r>
            <a:r>
              <a:rPr spc="-5" dirty="0"/>
              <a:t>47</a:t>
            </a:r>
          </a:p>
        </p:txBody>
      </p:sp>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536950" algn="l"/>
              </a:tabLst>
            </a:pPr>
            <a:r>
              <a:rPr sz="600" spc="-5" dirty="0">
                <a:solidFill>
                  <a:srgbClr val="3333B2"/>
                </a:solidFill>
                <a:latin typeface="Arial"/>
                <a:cs typeface="Arial"/>
                <a:hlinkClick r:id="rId3" action="ppaction://hlinksldjump"/>
              </a:rPr>
              <a:t>Processes:</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r>
              <a:rPr sz="600" spc="-5" dirty="0">
                <a:solidFill>
                  <a:srgbClr val="3333B2"/>
                </a:solidFill>
                <a:latin typeface="Arial"/>
                <a:cs typeface="Arial"/>
              </a:rPr>
              <a:t>	</a:t>
            </a:r>
            <a:r>
              <a:rPr sz="600" spc="-5" dirty="0">
                <a:solidFill>
                  <a:srgbClr val="262685"/>
                </a:solidFill>
                <a:latin typeface="Arial"/>
                <a:cs typeface="Arial"/>
                <a:hlinkClick r:id="rId4" action="ppaction://hlinksldjump"/>
              </a:rPr>
              <a:t>Reasons</a:t>
            </a:r>
            <a:r>
              <a:rPr sz="600" spc="-15" dirty="0">
                <a:solidFill>
                  <a:srgbClr val="262685"/>
                </a:solidFill>
                <a:latin typeface="Arial"/>
                <a:cs typeface="Arial"/>
                <a:hlinkClick r:id="rId4" action="ppaction://hlinksldjump"/>
              </a:rPr>
              <a:t> </a:t>
            </a:r>
            <a:r>
              <a:rPr sz="600" spc="-10" dirty="0">
                <a:solidFill>
                  <a:srgbClr val="262685"/>
                </a:solidFill>
                <a:latin typeface="Arial"/>
                <a:cs typeface="Arial"/>
                <a:hlinkClick r:id="rId4" action="ppaction://hlinksldjump"/>
              </a:rPr>
              <a:t>for</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migrating</a:t>
            </a:r>
            <a:r>
              <a:rPr sz="600" spc="-15" dirty="0">
                <a:solidFill>
                  <a:srgbClr val="262685"/>
                </a:solidFill>
                <a:latin typeface="Arial"/>
                <a:cs typeface="Arial"/>
                <a:hlinkClick r:id="rId4" action="ppaction://hlinksldjump"/>
              </a:rPr>
              <a:t> </a:t>
            </a:r>
            <a:r>
              <a:rPr sz="600" spc="-5" dirty="0">
                <a:solidFill>
                  <a:srgbClr val="262685"/>
                </a:solidFill>
                <a:latin typeface="Arial"/>
                <a:cs typeface="Arial"/>
                <a:hlinkClick r:id="rId4" action="ppaction://hlinksldjump"/>
              </a:rPr>
              <a:t>code</a:t>
            </a:r>
            <a:endParaRPr sz="600">
              <a:latin typeface="Arial"/>
              <a:cs typeface="Arial"/>
            </a:endParaRPr>
          </a:p>
        </p:txBody>
      </p:sp>
      <p:sp>
        <p:nvSpPr>
          <p:cNvPr id="3" name="object 3"/>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15" dirty="0"/>
              <a:t>Strong</a:t>
            </a:r>
            <a:r>
              <a:rPr spc="-10" dirty="0"/>
              <a:t> </a:t>
            </a:r>
            <a:r>
              <a:rPr spc="15" dirty="0"/>
              <a:t>and</a:t>
            </a:r>
            <a:r>
              <a:rPr spc="-5" dirty="0"/>
              <a:t> </a:t>
            </a:r>
            <a:r>
              <a:rPr spc="15" dirty="0"/>
              <a:t>weak</a:t>
            </a:r>
            <a:r>
              <a:rPr spc="-5" dirty="0"/>
              <a:t> </a:t>
            </a:r>
            <a:r>
              <a:rPr spc="10" dirty="0"/>
              <a:t>mobility</a:t>
            </a:r>
          </a:p>
        </p:txBody>
      </p:sp>
      <p:sp>
        <p:nvSpPr>
          <p:cNvPr id="4" name="object 4"/>
          <p:cNvSpPr txBox="1"/>
          <p:nvPr/>
        </p:nvSpPr>
        <p:spPr>
          <a:xfrm>
            <a:off x="327469" y="429321"/>
            <a:ext cx="3944620" cy="2939415"/>
          </a:xfrm>
          <a:prstGeom prst="rect">
            <a:avLst/>
          </a:prstGeom>
        </p:spPr>
        <p:txBody>
          <a:bodyPr vert="horz" wrap="square" lIns="0" tIns="12065" rIns="0" bIns="0" rtlCol="0">
            <a:spAutoFit/>
          </a:bodyPr>
          <a:lstStyle/>
          <a:p>
            <a:pPr marL="32384">
              <a:lnSpc>
                <a:spcPct val="100000"/>
              </a:lnSpc>
              <a:spcBef>
                <a:spcPts val="95"/>
              </a:spcBef>
            </a:pPr>
            <a:r>
              <a:rPr sz="1200" spc="-5" dirty="0">
                <a:solidFill>
                  <a:srgbClr val="3333B2"/>
                </a:solidFill>
                <a:latin typeface="Arial"/>
                <a:cs typeface="Arial"/>
              </a:rPr>
              <a:t>Object</a:t>
            </a:r>
            <a:r>
              <a:rPr sz="1200" spc="-35" dirty="0">
                <a:solidFill>
                  <a:srgbClr val="3333B2"/>
                </a:solidFill>
                <a:latin typeface="Arial"/>
                <a:cs typeface="Arial"/>
              </a:rPr>
              <a:t> </a:t>
            </a:r>
            <a:r>
              <a:rPr sz="1200" spc="-5" dirty="0">
                <a:solidFill>
                  <a:srgbClr val="3333B2"/>
                </a:solidFill>
                <a:latin typeface="Arial"/>
                <a:cs typeface="Arial"/>
              </a:rPr>
              <a:t>components</a:t>
            </a:r>
            <a:endParaRPr sz="1200" dirty="0">
              <a:latin typeface="Arial"/>
              <a:cs typeface="Arial"/>
            </a:endParaRPr>
          </a:p>
          <a:p>
            <a:pPr marL="309245" indent="-168275">
              <a:lnSpc>
                <a:spcPct val="100000"/>
              </a:lnSpc>
              <a:spcBef>
                <a:spcPts val="770"/>
              </a:spcBef>
              <a:buClr>
                <a:srgbClr val="3333B2"/>
              </a:buClr>
              <a:buChar char="►"/>
              <a:tabLst>
                <a:tab pos="309880" algn="l"/>
              </a:tabLst>
            </a:pPr>
            <a:r>
              <a:rPr sz="1000" spc="-5" dirty="0">
                <a:solidFill>
                  <a:srgbClr val="0000FA"/>
                </a:solidFill>
                <a:latin typeface="Arial"/>
                <a:cs typeface="Arial"/>
              </a:rPr>
              <a:t>Code segment</a:t>
            </a:r>
            <a:r>
              <a:rPr sz="1000" spc="-5" dirty="0">
                <a:latin typeface="Arial"/>
                <a:cs typeface="Arial"/>
              </a:rPr>
              <a:t>:</a:t>
            </a:r>
            <a:r>
              <a:rPr sz="1000" spc="60" dirty="0">
                <a:latin typeface="Arial"/>
                <a:cs typeface="Arial"/>
              </a:rPr>
              <a:t> </a:t>
            </a:r>
            <a:r>
              <a:rPr sz="1000" spc="-5" dirty="0">
                <a:latin typeface="Arial"/>
                <a:cs typeface="Arial"/>
              </a:rPr>
              <a:t>contains the actual code</a:t>
            </a:r>
            <a:endParaRPr sz="1000" dirty="0">
              <a:latin typeface="Arial"/>
              <a:cs typeface="Arial"/>
            </a:endParaRPr>
          </a:p>
          <a:p>
            <a:pPr marL="309245" indent="-168275">
              <a:lnSpc>
                <a:spcPct val="100000"/>
              </a:lnSpc>
              <a:spcBef>
                <a:spcPts val="595"/>
              </a:spcBef>
              <a:buClr>
                <a:srgbClr val="3333B2"/>
              </a:buClr>
              <a:buChar char="►"/>
              <a:tabLst>
                <a:tab pos="309880" algn="l"/>
              </a:tabLst>
            </a:pPr>
            <a:r>
              <a:rPr sz="1000" spc="-5" dirty="0">
                <a:solidFill>
                  <a:srgbClr val="0000FA"/>
                </a:solidFill>
                <a:latin typeface="Arial"/>
                <a:cs typeface="Arial"/>
              </a:rPr>
              <a:t>Data</a:t>
            </a:r>
            <a:r>
              <a:rPr sz="1000" spc="-10" dirty="0">
                <a:solidFill>
                  <a:srgbClr val="0000FA"/>
                </a:solidFill>
                <a:latin typeface="Arial"/>
                <a:cs typeface="Arial"/>
              </a:rPr>
              <a:t> </a:t>
            </a:r>
            <a:r>
              <a:rPr sz="1000" spc="-5" dirty="0">
                <a:solidFill>
                  <a:srgbClr val="0000FA"/>
                </a:solidFill>
                <a:latin typeface="Arial"/>
                <a:cs typeface="Arial"/>
              </a:rPr>
              <a:t>segment</a:t>
            </a:r>
            <a:r>
              <a:rPr sz="1000" spc="-5" dirty="0">
                <a:latin typeface="Arial"/>
                <a:cs typeface="Arial"/>
              </a:rPr>
              <a:t>:</a:t>
            </a:r>
            <a:r>
              <a:rPr sz="1000" spc="60" dirty="0">
                <a:latin typeface="Arial"/>
                <a:cs typeface="Arial"/>
              </a:rPr>
              <a:t> </a:t>
            </a:r>
            <a:r>
              <a:rPr sz="1000" spc="-5" dirty="0">
                <a:latin typeface="Arial"/>
                <a:cs typeface="Arial"/>
              </a:rPr>
              <a:t>contains</a:t>
            </a:r>
            <a:r>
              <a:rPr sz="1000" spc="-10" dirty="0">
                <a:latin typeface="Arial"/>
                <a:cs typeface="Arial"/>
              </a:rPr>
              <a:t> </a:t>
            </a:r>
            <a:r>
              <a:rPr sz="1000" spc="-5" dirty="0">
                <a:latin typeface="Arial"/>
                <a:cs typeface="Arial"/>
              </a:rPr>
              <a:t>the state</a:t>
            </a:r>
            <a:endParaRPr sz="1000" dirty="0">
              <a:latin typeface="Arial"/>
              <a:cs typeface="Arial"/>
            </a:endParaRPr>
          </a:p>
          <a:p>
            <a:pPr marL="309245" marR="17780" indent="-168275">
              <a:lnSpc>
                <a:spcPct val="100000"/>
              </a:lnSpc>
              <a:spcBef>
                <a:spcPts val="595"/>
              </a:spcBef>
              <a:buClr>
                <a:srgbClr val="3333B2"/>
              </a:buClr>
              <a:buChar char="►"/>
              <a:tabLst>
                <a:tab pos="309880" algn="l"/>
              </a:tabLst>
            </a:pPr>
            <a:r>
              <a:rPr sz="1000" spc="-10" dirty="0">
                <a:solidFill>
                  <a:srgbClr val="0000FA"/>
                </a:solidFill>
                <a:latin typeface="Arial"/>
                <a:cs typeface="Arial"/>
              </a:rPr>
              <a:t>Execution</a:t>
            </a:r>
            <a:r>
              <a:rPr sz="1000" spc="-5" dirty="0">
                <a:solidFill>
                  <a:srgbClr val="0000FA"/>
                </a:solidFill>
                <a:latin typeface="Arial"/>
                <a:cs typeface="Arial"/>
              </a:rPr>
              <a:t> state</a:t>
            </a:r>
            <a:r>
              <a:rPr sz="1000" spc="-5" dirty="0">
                <a:latin typeface="Arial"/>
                <a:cs typeface="Arial"/>
              </a:rPr>
              <a:t>:</a:t>
            </a:r>
            <a:r>
              <a:rPr sz="1000" spc="65" dirty="0">
                <a:latin typeface="Arial"/>
                <a:cs typeface="Arial"/>
              </a:rPr>
              <a:t> </a:t>
            </a:r>
            <a:r>
              <a:rPr sz="1000" spc="-5" dirty="0">
                <a:latin typeface="Arial"/>
                <a:cs typeface="Arial"/>
              </a:rPr>
              <a:t>contains </a:t>
            </a:r>
            <a:r>
              <a:rPr sz="1000" spc="-10" dirty="0">
                <a:latin typeface="Arial"/>
                <a:cs typeface="Arial"/>
              </a:rPr>
              <a:t>context</a:t>
            </a:r>
            <a:r>
              <a:rPr sz="1000" dirty="0">
                <a:latin typeface="Arial"/>
                <a:cs typeface="Arial"/>
              </a:rPr>
              <a:t> </a:t>
            </a:r>
            <a:r>
              <a:rPr sz="1000" spc="-5" dirty="0">
                <a:latin typeface="Arial"/>
                <a:cs typeface="Arial"/>
              </a:rPr>
              <a:t>of thread</a:t>
            </a:r>
            <a:r>
              <a:rPr sz="1000" dirty="0">
                <a:latin typeface="Arial"/>
                <a:cs typeface="Arial"/>
              </a:rPr>
              <a:t> </a:t>
            </a:r>
            <a:r>
              <a:rPr sz="1000" spc="-15" dirty="0">
                <a:latin typeface="Arial"/>
                <a:cs typeface="Arial"/>
              </a:rPr>
              <a:t>executing</a:t>
            </a:r>
            <a:r>
              <a:rPr sz="1000" spc="-5" dirty="0">
                <a:latin typeface="Arial"/>
                <a:cs typeface="Arial"/>
              </a:rPr>
              <a:t> the</a:t>
            </a:r>
            <a:r>
              <a:rPr sz="1000" dirty="0">
                <a:latin typeface="Arial"/>
                <a:cs typeface="Arial"/>
              </a:rPr>
              <a:t> </a:t>
            </a:r>
            <a:r>
              <a:rPr sz="1000" spc="-10" dirty="0">
                <a:latin typeface="Arial"/>
                <a:cs typeface="Arial"/>
              </a:rPr>
              <a:t>object’s </a:t>
            </a:r>
            <a:r>
              <a:rPr sz="1000" spc="-265" dirty="0">
                <a:latin typeface="Arial"/>
                <a:cs typeface="Arial"/>
              </a:rPr>
              <a:t> </a:t>
            </a:r>
            <a:r>
              <a:rPr sz="1000" spc="-5" dirty="0">
                <a:latin typeface="Arial"/>
                <a:cs typeface="Arial"/>
              </a:rPr>
              <a:t>code</a:t>
            </a:r>
            <a:endParaRPr sz="1000" dirty="0">
              <a:latin typeface="Arial"/>
              <a:cs typeface="Arial"/>
            </a:endParaRPr>
          </a:p>
          <a:p>
            <a:pPr marL="32384" marR="215265" indent="-7620">
              <a:lnSpc>
                <a:spcPts val="1390"/>
              </a:lnSpc>
              <a:spcBef>
                <a:spcPts val="865"/>
              </a:spcBef>
            </a:pPr>
            <a:r>
              <a:rPr sz="1200" spc="-15" dirty="0">
                <a:solidFill>
                  <a:srgbClr val="3333B2"/>
                </a:solidFill>
                <a:latin typeface="Arial"/>
                <a:cs typeface="Arial"/>
              </a:rPr>
              <a:t>Weak</a:t>
            </a:r>
            <a:r>
              <a:rPr sz="1200" spc="-5" dirty="0">
                <a:solidFill>
                  <a:srgbClr val="3333B2"/>
                </a:solidFill>
                <a:latin typeface="Arial"/>
                <a:cs typeface="Arial"/>
              </a:rPr>
              <a:t> mobility:</a:t>
            </a:r>
            <a:r>
              <a:rPr sz="1200" spc="80" dirty="0">
                <a:solidFill>
                  <a:srgbClr val="3333B2"/>
                </a:solidFill>
                <a:latin typeface="Arial"/>
                <a:cs typeface="Arial"/>
              </a:rPr>
              <a:t> </a:t>
            </a:r>
            <a:r>
              <a:rPr sz="1200" spc="-20" dirty="0">
                <a:solidFill>
                  <a:srgbClr val="3333B2"/>
                </a:solidFill>
                <a:latin typeface="Arial"/>
                <a:cs typeface="Arial"/>
              </a:rPr>
              <a:t>Move</a:t>
            </a:r>
            <a:r>
              <a:rPr sz="1200" spc="-5" dirty="0">
                <a:solidFill>
                  <a:srgbClr val="3333B2"/>
                </a:solidFill>
                <a:latin typeface="Arial"/>
                <a:cs typeface="Arial"/>
              </a:rPr>
              <a:t> only</a:t>
            </a:r>
            <a:r>
              <a:rPr sz="1200" dirty="0">
                <a:solidFill>
                  <a:srgbClr val="3333B2"/>
                </a:solidFill>
                <a:latin typeface="Arial"/>
                <a:cs typeface="Arial"/>
              </a:rPr>
              <a:t> </a:t>
            </a:r>
            <a:r>
              <a:rPr sz="1200" spc="-5" dirty="0">
                <a:solidFill>
                  <a:srgbClr val="3333B2"/>
                </a:solidFill>
                <a:latin typeface="Arial"/>
                <a:cs typeface="Arial"/>
              </a:rPr>
              <a:t>code and</a:t>
            </a:r>
            <a:r>
              <a:rPr sz="1200" dirty="0">
                <a:solidFill>
                  <a:srgbClr val="3333B2"/>
                </a:solidFill>
                <a:latin typeface="Arial"/>
                <a:cs typeface="Arial"/>
              </a:rPr>
              <a:t> </a:t>
            </a:r>
            <a:r>
              <a:rPr sz="1200" spc="-5" dirty="0">
                <a:solidFill>
                  <a:srgbClr val="3333B2"/>
                </a:solidFill>
                <a:latin typeface="Arial"/>
                <a:cs typeface="Arial"/>
              </a:rPr>
              <a:t>data segment</a:t>
            </a:r>
            <a:r>
              <a:rPr sz="1200" dirty="0">
                <a:solidFill>
                  <a:srgbClr val="3333B2"/>
                </a:solidFill>
                <a:latin typeface="Arial"/>
                <a:cs typeface="Arial"/>
              </a:rPr>
              <a:t> </a:t>
            </a:r>
            <a:r>
              <a:rPr sz="1200" spc="-5" dirty="0">
                <a:solidFill>
                  <a:srgbClr val="3333B2"/>
                </a:solidFill>
                <a:latin typeface="Arial"/>
                <a:cs typeface="Arial"/>
              </a:rPr>
              <a:t>(and </a:t>
            </a:r>
            <a:r>
              <a:rPr sz="1200" spc="-320" dirty="0">
                <a:solidFill>
                  <a:srgbClr val="3333B2"/>
                </a:solidFill>
                <a:latin typeface="Arial"/>
                <a:cs typeface="Arial"/>
              </a:rPr>
              <a:t> </a:t>
            </a:r>
            <a:r>
              <a:rPr sz="1200" spc="-5" dirty="0">
                <a:solidFill>
                  <a:srgbClr val="3333B2"/>
                </a:solidFill>
                <a:latin typeface="Arial"/>
                <a:cs typeface="Arial"/>
              </a:rPr>
              <a:t>reboot</a:t>
            </a:r>
            <a:r>
              <a:rPr sz="1200" spc="-10" dirty="0">
                <a:solidFill>
                  <a:srgbClr val="3333B2"/>
                </a:solidFill>
                <a:latin typeface="Arial"/>
                <a:cs typeface="Arial"/>
              </a:rPr>
              <a:t> </a:t>
            </a:r>
            <a:r>
              <a:rPr sz="1200" spc="-15" dirty="0">
                <a:solidFill>
                  <a:srgbClr val="3333B2"/>
                </a:solidFill>
                <a:latin typeface="Arial"/>
                <a:cs typeface="Arial"/>
              </a:rPr>
              <a:t>execution)</a:t>
            </a:r>
            <a:endParaRPr sz="1200" dirty="0">
              <a:latin typeface="Arial"/>
              <a:cs typeface="Arial"/>
            </a:endParaRPr>
          </a:p>
          <a:p>
            <a:pPr marL="309245" indent="-168275">
              <a:lnSpc>
                <a:spcPct val="100000"/>
              </a:lnSpc>
              <a:spcBef>
                <a:spcPts val="740"/>
              </a:spcBef>
              <a:buClr>
                <a:srgbClr val="3333B2"/>
              </a:buClr>
              <a:buChar char="►"/>
              <a:tabLst>
                <a:tab pos="309880" algn="l"/>
              </a:tabLst>
            </a:pPr>
            <a:r>
              <a:rPr sz="1000" spc="-5" dirty="0">
                <a:latin typeface="Arial"/>
                <a:cs typeface="Arial"/>
              </a:rPr>
              <a:t>Relatively</a:t>
            </a:r>
            <a:r>
              <a:rPr sz="1000" spc="-10" dirty="0">
                <a:latin typeface="Arial"/>
                <a:cs typeface="Arial"/>
              </a:rPr>
              <a:t> </a:t>
            </a:r>
            <a:r>
              <a:rPr sz="1000" spc="-5" dirty="0">
                <a:latin typeface="Arial"/>
                <a:cs typeface="Arial"/>
              </a:rPr>
              <a:t>simple,</a:t>
            </a:r>
            <a:r>
              <a:rPr sz="1000" spc="-10" dirty="0">
                <a:latin typeface="Arial"/>
                <a:cs typeface="Arial"/>
              </a:rPr>
              <a:t> </a:t>
            </a:r>
            <a:r>
              <a:rPr sz="1000" spc="-5" dirty="0">
                <a:latin typeface="Arial"/>
                <a:cs typeface="Arial"/>
              </a:rPr>
              <a:t>especially</a:t>
            </a:r>
            <a:r>
              <a:rPr sz="1000" spc="-10" dirty="0">
                <a:latin typeface="Arial"/>
                <a:cs typeface="Arial"/>
              </a:rPr>
              <a:t> </a:t>
            </a:r>
            <a:r>
              <a:rPr sz="1000" spc="-5" dirty="0">
                <a:latin typeface="Arial"/>
                <a:cs typeface="Arial"/>
              </a:rPr>
              <a:t>if code</a:t>
            </a:r>
            <a:r>
              <a:rPr sz="1000" spc="-10" dirty="0">
                <a:latin typeface="Arial"/>
                <a:cs typeface="Arial"/>
              </a:rPr>
              <a:t> </a:t>
            </a:r>
            <a:r>
              <a:rPr sz="1000" spc="-5" dirty="0">
                <a:latin typeface="Arial"/>
                <a:cs typeface="Arial"/>
              </a:rPr>
              <a:t>is</a:t>
            </a:r>
            <a:r>
              <a:rPr sz="1000" spc="-10" dirty="0">
                <a:latin typeface="Arial"/>
                <a:cs typeface="Arial"/>
              </a:rPr>
              <a:t> </a:t>
            </a:r>
            <a:r>
              <a:rPr sz="1000" dirty="0">
                <a:latin typeface="Arial"/>
                <a:cs typeface="Arial"/>
              </a:rPr>
              <a:t>portable</a:t>
            </a:r>
          </a:p>
          <a:p>
            <a:pPr marL="309245" indent="-168275">
              <a:lnSpc>
                <a:spcPct val="100000"/>
              </a:lnSpc>
              <a:spcBef>
                <a:spcPts val="595"/>
              </a:spcBef>
              <a:buClr>
                <a:srgbClr val="3333B2"/>
              </a:buClr>
              <a:buChar char="►"/>
              <a:tabLst>
                <a:tab pos="309880" algn="l"/>
              </a:tabLst>
            </a:pPr>
            <a:r>
              <a:rPr sz="1000" spc="-5" dirty="0">
                <a:latin typeface="Arial"/>
                <a:cs typeface="Arial"/>
              </a:rPr>
              <a:t>Distinguish</a:t>
            </a:r>
            <a:r>
              <a:rPr sz="1000" dirty="0">
                <a:latin typeface="Arial"/>
                <a:cs typeface="Arial"/>
              </a:rPr>
              <a:t> </a:t>
            </a:r>
            <a:r>
              <a:rPr sz="1000" spc="-5" dirty="0">
                <a:solidFill>
                  <a:srgbClr val="0000FA"/>
                </a:solidFill>
                <a:latin typeface="Arial"/>
                <a:cs typeface="Arial"/>
              </a:rPr>
              <a:t>code</a:t>
            </a:r>
            <a:r>
              <a:rPr sz="1000" spc="5" dirty="0">
                <a:solidFill>
                  <a:srgbClr val="0000FA"/>
                </a:solidFill>
                <a:latin typeface="Arial"/>
                <a:cs typeface="Arial"/>
              </a:rPr>
              <a:t> </a:t>
            </a:r>
            <a:r>
              <a:rPr sz="1000" spc="-5" dirty="0">
                <a:solidFill>
                  <a:srgbClr val="0000FA"/>
                </a:solidFill>
                <a:latin typeface="Arial"/>
                <a:cs typeface="Arial"/>
              </a:rPr>
              <a:t>shipping</a:t>
            </a:r>
            <a:r>
              <a:rPr sz="1000" spc="5" dirty="0">
                <a:solidFill>
                  <a:srgbClr val="0000FA"/>
                </a:solidFill>
                <a:latin typeface="Arial"/>
                <a:cs typeface="Arial"/>
              </a:rPr>
              <a:t> </a:t>
            </a:r>
            <a:r>
              <a:rPr sz="1000" spc="-5" dirty="0">
                <a:latin typeface="Arial"/>
                <a:cs typeface="Arial"/>
              </a:rPr>
              <a:t>(push)</a:t>
            </a:r>
            <a:r>
              <a:rPr sz="1000" spc="5" dirty="0">
                <a:latin typeface="Arial"/>
                <a:cs typeface="Arial"/>
              </a:rPr>
              <a:t> </a:t>
            </a:r>
            <a:r>
              <a:rPr sz="1000" spc="-5" dirty="0">
                <a:latin typeface="Arial"/>
                <a:cs typeface="Arial"/>
              </a:rPr>
              <a:t>from</a:t>
            </a:r>
            <a:r>
              <a:rPr sz="1000" dirty="0">
                <a:latin typeface="Arial"/>
                <a:cs typeface="Arial"/>
              </a:rPr>
              <a:t> </a:t>
            </a:r>
            <a:r>
              <a:rPr sz="1000" spc="-5" dirty="0">
                <a:solidFill>
                  <a:srgbClr val="0000FA"/>
                </a:solidFill>
                <a:latin typeface="Arial"/>
                <a:cs typeface="Arial"/>
              </a:rPr>
              <a:t>code</a:t>
            </a:r>
            <a:r>
              <a:rPr sz="1000" spc="5" dirty="0">
                <a:solidFill>
                  <a:srgbClr val="0000FA"/>
                </a:solidFill>
                <a:latin typeface="Arial"/>
                <a:cs typeface="Arial"/>
              </a:rPr>
              <a:t> </a:t>
            </a:r>
            <a:r>
              <a:rPr sz="1000" spc="-10" dirty="0">
                <a:solidFill>
                  <a:srgbClr val="0000FA"/>
                </a:solidFill>
                <a:latin typeface="Arial"/>
                <a:cs typeface="Arial"/>
              </a:rPr>
              <a:t>fetching</a:t>
            </a:r>
            <a:r>
              <a:rPr sz="1000" spc="5" dirty="0">
                <a:solidFill>
                  <a:srgbClr val="0000FA"/>
                </a:solidFill>
                <a:latin typeface="Arial"/>
                <a:cs typeface="Arial"/>
              </a:rPr>
              <a:t> </a:t>
            </a:r>
            <a:r>
              <a:rPr sz="1000" spc="-5" dirty="0">
                <a:latin typeface="Arial"/>
                <a:cs typeface="Arial"/>
              </a:rPr>
              <a:t>(pull)</a:t>
            </a:r>
            <a:endParaRPr sz="1000" dirty="0">
              <a:latin typeface="Arial"/>
              <a:cs typeface="Arial"/>
            </a:endParaRPr>
          </a:p>
          <a:p>
            <a:pPr marL="32384" marR="280670">
              <a:lnSpc>
                <a:spcPts val="1390"/>
              </a:lnSpc>
              <a:spcBef>
                <a:spcPts val="1085"/>
              </a:spcBef>
            </a:pPr>
            <a:r>
              <a:rPr sz="1200" spc="-5" dirty="0">
                <a:solidFill>
                  <a:srgbClr val="3333B2"/>
                </a:solidFill>
                <a:latin typeface="Arial"/>
                <a:cs typeface="Arial"/>
              </a:rPr>
              <a:t>Strong</a:t>
            </a:r>
            <a:r>
              <a:rPr sz="1200" dirty="0">
                <a:solidFill>
                  <a:srgbClr val="3333B2"/>
                </a:solidFill>
                <a:latin typeface="Arial"/>
                <a:cs typeface="Arial"/>
              </a:rPr>
              <a:t> </a:t>
            </a:r>
            <a:r>
              <a:rPr sz="1200" spc="-5" dirty="0">
                <a:solidFill>
                  <a:srgbClr val="3333B2"/>
                </a:solidFill>
                <a:latin typeface="Arial"/>
                <a:cs typeface="Arial"/>
              </a:rPr>
              <a:t>mobility:</a:t>
            </a:r>
            <a:r>
              <a:rPr sz="1200" spc="90" dirty="0">
                <a:solidFill>
                  <a:srgbClr val="3333B2"/>
                </a:solidFill>
                <a:latin typeface="Arial"/>
                <a:cs typeface="Arial"/>
              </a:rPr>
              <a:t> </a:t>
            </a:r>
            <a:r>
              <a:rPr sz="1200" spc="-20" dirty="0">
                <a:solidFill>
                  <a:srgbClr val="3333B2"/>
                </a:solidFill>
                <a:latin typeface="Arial"/>
                <a:cs typeface="Arial"/>
              </a:rPr>
              <a:t>Move</a:t>
            </a:r>
            <a:r>
              <a:rPr sz="1200" spc="5" dirty="0">
                <a:solidFill>
                  <a:srgbClr val="3333B2"/>
                </a:solidFill>
                <a:latin typeface="Arial"/>
                <a:cs typeface="Arial"/>
              </a:rPr>
              <a:t> </a:t>
            </a:r>
            <a:r>
              <a:rPr sz="1200" spc="-5" dirty="0">
                <a:solidFill>
                  <a:srgbClr val="3333B2"/>
                </a:solidFill>
                <a:latin typeface="Arial"/>
                <a:cs typeface="Arial"/>
              </a:rPr>
              <a:t>component,</a:t>
            </a:r>
            <a:r>
              <a:rPr sz="1200" dirty="0">
                <a:solidFill>
                  <a:srgbClr val="3333B2"/>
                </a:solidFill>
                <a:latin typeface="Arial"/>
                <a:cs typeface="Arial"/>
              </a:rPr>
              <a:t> </a:t>
            </a:r>
            <a:r>
              <a:rPr sz="1200" spc="-5" dirty="0">
                <a:solidFill>
                  <a:srgbClr val="3333B2"/>
                </a:solidFill>
                <a:latin typeface="Arial"/>
                <a:cs typeface="Arial"/>
              </a:rPr>
              <a:t>including</a:t>
            </a:r>
            <a:r>
              <a:rPr sz="1200" spc="5" dirty="0">
                <a:solidFill>
                  <a:srgbClr val="3333B2"/>
                </a:solidFill>
                <a:latin typeface="Arial"/>
                <a:cs typeface="Arial"/>
              </a:rPr>
              <a:t> </a:t>
            </a:r>
            <a:r>
              <a:rPr sz="1200" spc="-15" dirty="0">
                <a:solidFill>
                  <a:srgbClr val="3333B2"/>
                </a:solidFill>
                <a:latin typeface="Arial"/>
                <a:cs typeface="Arial"/>
              </a:rPr>
              <a:t>execution </a:t>
            </a:r>
            <a:r>
              <a:rPr sz="1200" spc="-315" dirty="0">
                <a:solidFill>
                  <a:srgbClr val="3333B2"/>
                </a:solidFill>
                <a:latin typeface="Arial"/>
                <a:cs typeface="Arial"/>
              </a:rPr>
              <a:t> </a:t>
            </a:r>
            <a:r>
              <a:rPr sz="1200" spc="-5" dirty="0">
                <a:solidFill>
                  <a:srgbClr val="3333B2"/>
                </a:solidFill>
                <a:latin typeface="Arial"/>
                <a:cs typeface="Arial"/>
              </a:rPr>
              <a:t>state</a:t>
            </a:r>
            <a:endParaRPr sz="1200" dirty="0">
              <a:latin typeface="Arial"/>
              <a:cs typeface="Arial"/>
            </a:endParaRPr>
          </a:p>
          <a:p>
            <a:pPr marL="309245" indent="-168275">
              <a:lnSpc>
                <a:spcPct val="100000"/>
              </a:lnSpc>
              <a:spcBef>
                <a:spcPts val="509"/>
              </a:spcBef>
              <a:buClr>
                <a:srgbClr val="3333B2"/>
              </a:buClr>
              <a:buChar char="►"/>
              <a:tabLst>
                <a:tab pos="309880" algn="l"/>
              </a:tabLst>
            </a:pPr>
            <a:r>
              <a:rPr sz="1000" spc="-5" dirty="0">
                <a:solidFill>
                  <a:srgbClr val="0000FA"/>
                </a:solidFill>
                <a:latin typeface="Arial"/>
                <a:cs typeface="Arial"/>
              </a:rPr>
              <a:t>Migration</a:t>
            </a:r>
            <a:r>
              <a:rPr sz="1000" spc="-5" dirty="0">
                <a:latin typeface="Arial"/>
                <a:cs typeface="Arial"/>
              </a:rPr>
              <a:t>:</a:t>
            </a:r>
            <a:r>
              <a:rPr sz="1000" spc="65" dirty="0">
                <a:latin typeface="Arial"/>
                <a:cs typeface="Arial"/>
              </a:rPr>
              <a:t> </a:t>
            </a:r>
            <a:r>
              <a:rPr sz="1000" spc="-15" dirty="0">
                <a:latin typeface="Arial"/>
                <a:cs typeface="Arial"/>
              </a:rPr>
              <a:t>move</a:t>
            </a:r>
            <a:r>
              <a:rPr sz="1000" spc="-5" dirty="0">
                <a:latin typeface="Arial"/>
                <a:cs typeface="Arial"/>
              </a:rPr>
              <a:t> entire</a:t>
            </a:r>
            <a:r>
              <a:rPr sz="1000" dirty="0">
                <a:latin typeface="Arial"/>
                <a:cs typeface="Arial"/>
              </a:rPr>
              <a:t> </a:t>
            </a:r>
            <a:r>
              <a:rPr sz="1000" spc="-5" dirty="0">
                <a:latin typeface="Arial"/>
                <a:cs typeface="Arial"/>
              </a:rPr>
              <a:t>object</a:t>
            </a:r>
            <a:r>
              <a:rPr sz="1000" dirty="0">
                <a:latin typeface="Arial"/>
                <a:cs typeface="Arial"/>
              </a:rPr>
              <a:t> </a:t>
            </a:r>
            <a:r>
              <a:rPr sz="1000" spc="-5" dirty="0">
                <a:latin typeface="Arial"/>
                <a:cs typeface="Arial"/>
              </a:rPr>
              <a:t>from</a:t>
            </a:r>
            <a:r>
              <a:rPr sz="1000" dirty="0">
                <a:latin typeface="Arial"/>
                <a:cs typeface="Arial"/>
              </a:rPr>
              <a:t> </a:t>
            </a:r>
            <a:r>
              <a:rPr sz="1000" spc="-5" dirty="0">
                <a:latin typeface="Arial"/>
                <a:cs typeface="Arial"/>
              </a:rPr>
              <a:t>one</a:t>
            </a:r>
            <a:r>
              <a:rPr sz="1000" dirty="0">
                <a:latin typeface="Arial"/>
                <a:cs typeface="Arial"/>
              </a:rPr>
              <a:t> </a:t>
            </a:r>
            <a:r>
              <a:rPr sz="1000" spc="-5" dirty="0">
                <a:latin typeface="Arial"/>
                <a:cs typeface="Arial"/>
              </a:rPr>
              <a:t>machine to</a:t>
            </a:r>
            <a:r>
              <a:rPr sz="1000" dirty="0">
                <a:latin typeface="Arial"/>
                <a:cs typeface="Arial"/>
              </a:rPr>
              <a:t> </a:t>
            </a:r>
            <a:r>
              <a:rPr sz="1000" spc="-5" dirty="0">
                <a:latin typeface="Arial"/>
                <a:cs typeface="Arial"/>
              </a:rPr>
              <a:t>the</a:t>
            </a:r>
            <a:r>
              <a:rPr sz="1000" dirty="0">
                <a:latin typeface="Arial"/>
                <a:cs typeface="Arial"/>
              </a:rPr>
              <a:t> </a:t>
            </a:r>
            <a:r>
              <a:rPr sz="1000" spc="-5" dirty="0">
                <a:latin typeface="Arial"/>
                <a:cs typeface="Arial"/>
              </a:rPr>
              <a:t>other</a:t>
            </a:r>
            <a:endParaRPr sz="1000" dirty="0">
              <a:latin typeface="Arial"/>
              <a:cs typeface="Arial"/>
            </a:endParaRPr>
          </a:p>
          <a:p>
            <a:pPr marL="309245" indent="-168275">
              <a:lnSpc>
                <a:spcPct val="100000"/>
              </a:lnSpc>
              <a:spcBef>
                <a:spcPts val="590"/>
              </a:spcBef>
              <a:buClr>
                <a:srgbClr val="3333B2"/>
              </a:buClr>
              <a:buChar char="►"/>
              <a:tabLst>
                <a:tab pos="309880" algn="l"/>
              </a:tabLst>
            </a:pPr>
            <a:r>
              <a:rPr sz="1000" spc="-5" dirty="0">
                <a:solidFill>
                  <a:srgbClr val="0000FA"/>
                </a:solidFill>
                <a:latin typeface="Arial"/>
                <a:cs typeface="Arial"/>
              </a:rPr>
              <a:t>Cloning</a:t>
            </a:r>
            <a:r>
              <a:rPr sz="1000" spc="-5" dirty="0">
                <a:latin typeface="Arial"/>
                <a:cs typeface="Arial"/>
              </a:rPr>
              <a:t>:</a:t>
            </a:r>
            <a:r>
              <a:rPr sz="1000" spc="60" dirty="0">
                <a:latin typeface="Arial"/>
                <a:cs typeface="Arial"/>
              </a:rPr>
              <a:t> </a:t>
            </a:r>
            <a:r>
              <a:rPr sz="1000" spc="5" dirty="0">
                <a:latin typeface="Arial"/>
                <a:cs typeface="Arial"/>
              </a:rPr>
              <a:t>start</a:t>
            </a:r>
            <a:r>
              <a:rPr sz="1000" spc="-5" dirty="0">
                <a:latin typeface="Arial"/>
                <a:cs typeface="Arial"/>
              </a:rPr>
              <a:t> a clone, and set</a:t>
            </a:r>
            <a:r>
              <a:rPr sz="1000" dirty="0">
                <a:latin typeface="Arial"/>
                <a:cs typeface="Arial"/>
              </a:rPr>
              <a:t> </a:t>
            </a:r>
            <a:r>
              <a:rPr sz="1000" spc="-5" dirty="0">
                <a:latin typeface="Arial"/>
                <a:cs typeface="Arial"/>
              </a:rPr>
              <a:t>it in the same </a:t>
            </a:r>
            <a:r>
              <a:rPr sz="1000" spc="-10" dirty="0">
                <a:latin typeface="Arial"/>
                <a:cs typeface="Arial"/>
              </a:rPr>
              <a:t>execution</a:t>
            </a:r>
            <a:r>
              <a:rPr sz="1000" spc="-5" dirty="0">
                <a:latin typeface="Arial"/>
                <a:cs typeface="Arial"/>
              </a:rPr>
              <a:t> state.</a:t>
            </a:r>
            <a:endParaRPr sz="1000" dirty="0">
              <a:latin typeface="Arial"/>
              <a:cs typeface="Arial"/>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object 5"/>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45</a:t>
            </a:r>
            <a:r>
              <a:rPr spc="-40" dirty="0"/>
              <a:t> </a:t>
            </a:r>
            <a:r>
              <a:rPr spc="-5" dirty="0"/>
              <a:t>/</a:t>
            </a:r>
            <a:r>
              <a:rPr spc="-35" dirty="0"/>
              <a:t> </a:t>
            </a:r>
            <a:r>
              <a:rPr spc="-5" dirty="0"/>
              <a:t>47</a:t>
            </a:r>
          </a:p>
        </p:txBody>
      </p:sp>
      <p:sp>
        <p:nvSpPr>
          <p:cNvPr id="2" name="object 2"/>
          <p:cNvSpPr txBox="1"/>
          <p:nvPr/>
        </p:nvSpPr>
        <p:spPr>
          <a:xfrm>
            <a:off x="66713" y="716"/>
            <a:ext cx="953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20"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endParaRPr sz="600">
              <a:latin typeface="Arial"/>
              <a:cs typeface="Arial"/>
            </a:endParaRPr>
          </a:p>
        </p:txBody>
      </p:sp>
      <p:sp>
        <p:nvSpPr>
          <p:cNvPr id="3" name="object 3"/>
          <p:cNvSpPr txBox="1"/>
          <p:nvPr/>
        </p:nvSpPr>
        <p:spPr>
          <a:xfrm>
            <a:off x="3298057" y="716"/>
            <a:ext cx="12433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Migration</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 heterogeneous systems</a:t>
            </a:r>
            <a:endParaRPr sz="600">
              <a:latin typeface="Arial"/>
              <a:cs typeface="Arial"/>
            </a:endParaRPr>
          </a:p>
        </p:txBody>
      </p:sp>
      <p:sp>
        <p:nvSpPr>
          <p:cNvPr id="4" name="object 4"/>
          <p:cNvSpPr txBox="1"/>
          <p:nvPr/>
        </p:nvSpPr>
        <p:spPr>
          <a:xfrm>
            <a:off x="69900" y="188846"/>
            <a:ext cx="4194175" cy="2649220"/>
          </a:xfrm>
          <a:prstGeom prst="rect">
            <a:avLst/>
          </a:prstGeom>
        </p:spPr>
        <p:txBody>
          <a:bodyPr vert="horz" wrap="square" lIns="0" tIns="17145" rIns="0" bIns="0" rtlCol="0">
            <a:spAutoFit/>
          </a:bodyPr>
          <a:lstStyle/>
          <a:p>
            <a:pPr marL="38100">
              <a:lnSpc>
                <a:spcPct val="100000"/>
              </a:lnSpc>
              <a:spcBef>
                <a:spcPts val="135"/>
              </a:spcBef>
            </a:pPr>
            <a:r>
              <a:rPr sz="1400" spc="10" dirty="0">
                <a:solidFill>
                  <a:srgbClr val="3333B2"/>
                </a:solidFill>
                <a:latin typeface="Arial"/>
                <a:cs typeface="Arial"/>
              </a:rPr>
              <a:t>Migration</a:t>
            </a:r>
            <a:r>
              <a:rPr sz="1400" spc="-5" dirty="0">
                <a:solidFill>
                  <a:srgbClr val="3333B2"/>
                </a:solidFill>
                <a:latin typeface="Arial"/>
                <a:cs typeface="Arial"/>
              </a:rPr>
              <a:t> </a:t>
            </a:r>
            <a:r>
              <a:rPr sz="1400" spc="10" dirty="0">
                <a:solidFill>
                  <a:srgbClr val="3333B2"/>
                </a:solidFill>
                <a:latin typeface="Arial"/>
                <a:cs typeface="Arial"/>
              </a:rPr>
              <a:t>in</a:t>
            </a:r>
            <a:r>
              <a:rPr sz="1400" dirty="0">
                <a:solidFill>
                  <a:srgbClr val="3333B2"/>
                </a:solidFill>
                <a:latin typeface="Arial"/>
                <a:cs typeface="Arial"/>
              </a:rPr>
              <a:t> </a:t>
            </a:r>
            <a:r>
              <a:rPr sz="1400" spc="15" dirty="0">
                <a:solidFill>
                  <a:srgbClr val="3333B2"/>
                </a:solidFill>
                <a:latin typeface="Arial"/>
                <a:cs typeface="Arial"/>
              </a:rPr>
              <a:t>heterogeneous</a:t>
            </a:r>
            <a:r>
              <a:rPr sz="1400" dirty="0">
                <a:solidFill>
                  <a:srgbClr val="3333B2"/>
                </a:solidFill>
                <a:latin typeface="Arial"/>
                <a:cs typeface="Arial"/>
              </a:rPr>
              <a:t> </a:t>
            </a:r>
            <a:r>
              <a:rPr sz="1400" spc="15" dirty="0">
                <a:solidFill>
                  <a:srgbClr val="3333B2"/>
                </a:solidFill>
                <a:latin typeface="Arial"/>
                <a:cs typeface="Arial"/>
              </a:rPr>
              <a:t>systems</a:t>
            </a:r>
            <a:endParaRPr sz="1400" dirty="0">
              <a:latin typeface="Arial"/>
              <a:cs typeface="Arial"/>
            </a:endParaRPr>
          </a:p>
          <a:p>
            <a:pPr>
              <a:lnSpc>
                <a:spcPct val="100000"/>
              </a:lnSpc>
              <a:spcBef>
                <a:spcPts val="20"/>
              </a:spcBef>
            </a:pPr>
            <a:endParaRPr sz="1950" dirty="0">
              <a:latin typeface="Arial"/>
              <a:cs typeface="Arial"/>
            </a:endParaRPr>
          </a:p>
          <a:p>
            <a:pPr marL="289560">
              <a:lnSpc>
                <a:spcPct val="100000"/>
              </a:lnSpc>
            </a:pPr>
            <a:r>
              <a:rPr sz="1200" spc="-5" dirty="0">
                <a:solidFill>
                  <a:srgbClr val="3333B2"/>
                </a:solidFill>
                <a:latin typeface="Arial"/>
                <a:cs typeface="Arial"/>
              </a:rPr>
              <a:t>Main</a:t>
            </a:r>
            <a:r>
              <a:rPr sz="1200" spc="-35" dirty="0">
                <a:solidFill>
                  <a:srgbClr val="3333B2"/>
                </a:solidFill>
                <a:latin typeface="Arial"/>
                <a:cs typeface="Arial"/>
              </a:rPr>
              <a:t> </a:t>
            </a:r>
            <a:r>
              <a:rPr sz="1200" spc="-10" dirty="0">
                <a:solidFill>
                  <a:srgbClr val="3333B2"/>
                </a:solidFill>
                <a:latin typeface="Arial"/>
                <a:cs typeface="Arial"/>
              </a:rPr>
              <a:t>problem</a:t>
            </a:r>
            <a:endParaRPr sz="1200" dirty="0">
              <a:latin typeface="Arial"/>
              <a:cs typeface="Arial"/>
            </a:endParaRPr>
          </a:p>
          <a:p>
            <a:pPr marL="567055" marR="55880" indent="-168275">
              <a:lnSpc>
                <a:spcPct val="100000"/>
              </a:lnSpc>
              <a:spcBef>
                <a:spcPts val="775"/>
              </a:spcBef>
              <a:buClr>
                <a:srgbClr val="3333B2"/>
              </a:buClr>
              <a:buChar char="►"/>
              <a:tabLst>
                <a:tab pos="567690" algn="l"/>
              </a:tabLst>
            </a:pPr>
            <a:r>
              <a:rPr sz="1000" spc="-5" dirty="0">
                <a:latin typeface="Arial"/>
                <a:cs typeface="Arial"/>
              </a:rPr>
              <a:t>The target</a:t>
            </a:r>
            <a:r>
              <a:rPr sz="1000" dirty="0">
                <a:latin typeface="Arial"/>
                <a:cs typeface="Arial"/>
              </a:rPr>
              <a:t> </a:t>
            </a:r>
            <a:r>
              <a:rPr sz="1000" spc="-5" dirty="0">
                <a:latin typeface="Arial"/>
                <a:cs typeface="Arial"/>
              </a:rPr>
              <a:t>machine </a:t>
            </a:r>
            <a:r>
              <a:rPr sz="1000" spc="-15" dirty="0">
                <a:latin typeface="Arial"/>
                <a:cs typeface="Arial"/>
              </a:rPr>
              <a:t>may</a:t>
            </a:r>
            <a:r>
              <a:rPr sz="1000" dirty="0">
                <a:latin typeface="Arial"/>
                <a:cs typeface="Arial"/>
              </a:rPr>
              <a:t> </a:t>
            </a:r>
            <a:r>
              <a:rPr sz="1000" spc="-5" dirty="0">
                <a:latin typeface="Arial"/>
                <a:cs typeface="Arial"/>
              </a:rPr>
              <a:t>not</a:t>
            </a:r>
            <a:r>
              <a:rPr sz="1000" dirty="0">
                <a:latin typeface="Arial"/>
                <a:cs typeface="Arial"/>
              </a:rPr>
              <a:t> </a:t>
            </a:r>
            <a:r>
              <a:rPr sz="1000" spc="-5" dirty="0">
                <a:latin typeface="Arial"/>
                <a:cs typeface="Arial"/>
              </a:rPr>
              <a:t>be </a:t>
            </a:r>
            <a:r>
              <a:rPr sz="1000" spc="-5" dirty="0">
                <a:solidFill>
                  <a:srgbClr val="0000FA"/>
                </a:solidFill>
                <a:latin typeface="Arial"/>
                <a:cs typeface="Arial"/>
              </a:rPr>
              <a:t>suitable</a:t>
            </a:r>
            <a:r>
              <a:rPr sz="1000" dirty="0">
                <a:solidFill>
                  <a:srgbClr val="0000FA"/>
                </a:solidFill>
                <a:latin typeface="Arial"/>
                <a:cs typeface="Arial"/>
              </a:rPr>
              <a:t> </a:t>
            </a:r>
            <a:r>
              <a:rPr sz="1000" spc="-5" dirty="0">
                <a:solidFill>
                  <a:srgbClr val="0000FA"/>
                </a:solidFill>
                <a:latin typeface="Arial"/>
                <a:cs typeface="Arial"/>
              </a:rPr>
              <a:t>to </a:t>
            </a:r>
            <a:r>
              <a:rPr sz="1000" spc="-15" dirty="0">
                <a:solidFill>
                  <a:srgbClr val="0000FA"/>
                </a:solidFill>
                <a:latin typeface="Arial"/>
                <a:cs typeface="Arial"/>
              </a:rPr>
              <a:t>execute</a:t>
            </a:r>
            <a:r>
              <a:rPr sz="1000" dirty="0">
                <a:solidFill>
                  <a:srgbClr val="0000FA"/>
                </a:solidFill>
                <a:latin typeface="Arial"/>
                <a:cs typeface="Arial"/>
              </a:rPr>
              <a:t> </a:t>
            </a:r>
            <a:r>
              <a:rPr sz="1000" spc="-5" dirty="0">
                <a:solidFill>
                  <a:srgbClr val="0000FA"/>
                </a:solidFill>
                <a:latin typeface="Arial"/>
                <a:cs typeface="Arial"/>
              </a:rPr>
              <a:t>the</a:t>
            </a:r>
            <a:r>
              <a:rPr sz="1000" dirty="0">
                <a:solidFill>
                  <a:srgbClr val="0000FA"/>
                </a:solidFill>
                <a:latin typeface="Arial"/>
                <a:cs typeface="Arial"/>
              </a:rPr>
              <a:t> </a:t>
            </a:r>
            <a:r>
              <a:rPr sz="1000" spc="-5" dirty="0">
                <a:solidFill>
                  <a:srgbClr val="0000FA"/>
                </a:solidFill>
                <a:latin typeface="Arial"/>
                <a:cs typeface="Arial"/>
              </a:rPr>
              <a:t>migrated </a:t>
            </a:r>
            <a:r>
              <a:rPr sz="1000" spc="-265" dirty="0">
                <a:solidFill>
                  <a:srgbClr val="0000FA"/>
                </a:solidFill>
                <a:latin typeface="Arial"/>
                <a:cs typeface="Arial"/>
              </a:rPr>
              <a:t> </a:t>
            </a:r>
            <a:r>
              <a:rPr sz="1000" spc="-5" dirty="0">
                <a:solidFill>
                  <a:srgbClr val="0000FA"/>
                </a:solidFill>
                <a:latin typeface="Arial"/>
                <a:cs typeface="Arial"/>
              </a:rPr>
              <a:t>code</a:t>
            </a:r>
            <a:endParaRPr sz="1000" dirty="0">
              <a:latin typeface="Arial"/>
              <a:cs typeface="Arial"/>
            </a:endParaRPr>
          </a:p>
          <a:p>
            <a:pPr marL="567055" marR="253365" indent="-168275">
              <a:lnSpc>
                <a:spcPct val="100000"/>
              </a:lnSpc>
              <a:spcBef>
                <a:spcPts val="585"/>
              </a:spcBef>
              <a:buClr>
                <a:srgbClr val="3333B2"/>
              </a:buClr>
              <a:buChar char="►"/>
              <a:tabLst>
                <a:tab pos="567690" algn="l"/>
              </a:tabLst>
            </a:pPr>
            <a:r>
              <a:rPr sz="1000" spc="-5" dirty="0">
                <a:latin typeface="Arial"/>
                <a:cs typeface="Arial"/>
              </a:rPr>
              <a:t>The</a:t>
            </a:r>
            <a:r>
              <a:rPr sz="1000" dirty="0">
                <a:latin typeface="Arial"/>
                <a:cs typeface="Arial"/>
              </a:rPr>
              <a:t> </a:t>
            </a:r>
            <a:r>
              <a:rPr sz="1000" spc="-5" dirty="0">
                <a:latin typeface="Arial"/>
                <a:cs typeface="Arial"/>
              </a:rPr>
              <a:t>definition</a:t>
            </a:r>
            <a:r>
              <a:rPr sz="1000" spc="5" dirty="0">
                <a:latin typeface="Arial"/>
                <a:cs typeface="Arial"/>
              </a:rPr>
              <a:t> </a:t>
            </a:r>
            <a:r>
              <a:rPr sz="1000" spc="-5" dirty="0">
                <a:latin typeface="Arial"/>
                <a:cs typeface="Arial"/>
              </a:rPr>
              <a:t>of</a:t>
            </a:r>
            <a:r>
              <a:rPr sz="1000" spc="5" dirty="0">
                <a:latin typeface="Arial"/>
                <a:cs typeface="Arial"/>
              </a:rPr>
              <a:t> </a:t>
            </a:r>
            <a:r>
              <a:rPr sz="1000" spc="-5" dirty="0">
                <a:latin typeface="Arial"/>
                <a:cs typeface="Arial"/>
              </a:rPr>
              <a:t>process/thread/processor</a:t>
            </a:r>
            <a:r>
              <a:rPr sz="1000" spc="5" dirty="0">
                <a:latin typeface="Arial"/>
                <a:cs typeface="Arial"/>
              </a:rPr>
              <a:t> </a:t>
            </a:r>
            <a:r>
              <a:rPr sz="1000" spc="-10" dirty="0">
                <a:latin typeface="Arial"/>
                <a:cs typeface="Arial"/>
              </a:rPr>
              <a:t>context</a:t>
            </a:r>
            <a:r>
              <a:rPr sz="1000" spc="5" dirty="0">
                <a:latin typeface="Arial"/>
                <a:cs typeface="Arial"/>
              </a:rPr>
              <a:t> </a:t>
            </a:r>
            <a:r>
              <a:rPr sz="1000" spc="-5" dirty="0">
                <a:latin typeface="Arial"/>
                <a:cs typeface="Arial"/>
              </a:rPr>
              <a:t>is</a:t>
            </a:r>
            <a:r>
              <a:rPr sz="1000" spc="5" dirty="0">
                <a:latin typeface="Arial"/>
                <a:cs typeface="Arial"/>
              </a:rPr>
              <a:t> </a:t>
            </a:r>
            <a:r>
              <a:rPr sz="1000" spc="-5" dirty="0">
                <a:solidFill>
                  <a:srgbClr val="0000FA"/>
                </a:solidFill>
                <a:latin typeface="Arial"/>
                <a:cs typeface="Arial"/>
              </a:rPr>
              <a:t>highly </a:t>
            </a:r>
            <a:r>
              <a:rPr sz="1000" dirty="0">
                <a:solidFill>
                  <a:srgbClr val="0000FA"/>
                </a:solidFill>
                <a:latin typeface="Arial"/>
                <a:cs typeface="Arial"/>
              </a:rPr>
              <a:t> </a:t>
            </a:r>
            <a:r>
              <a:rPr sz="1000" spc="-5" dirty="0">
                <a:solidFill>
                  <a:srgbClr val="0000FA"/>
                </a:solidFill>
                <a:latin typeface="Arial"/>
                <a:cs typeface="Arial"/>
              </a:rPr>
              <a:t>dependent</a:t>
            </a:r>
            <a:r>
              <a:rPr sz="1000" dirty="0">
                <a:solidFill>
                  <a:srgbClr val="0000FA"/>
                </a:solidFill>
                <a:latin typeface="Arial"/>
                <a:cs typeface="Arial"/>
              </a:rPr>
              <a:t> </a:t>
            </a:r>
            <a:r>
              <a:rPr sz="1000" spc="-5" dirty="0">
                <a:solidFill>
                  <a:srgbClr val="0000FA"/>
                </a:solidFill>
                <a:latin typeface="Arial"/>
                <a:cs typeface="Arial"/>
              </a:rPr>
              <a:t>on</a:t>
            </a:r>
            <a:r>
              <a:rPr sz="1000" spc="5" dirty="0">
                <a:solidFill>
                  <a:srgbClr val="0000FA"/>
                </a:solidFill>
                <a:latin typeface="Arial"/>
                <a:cs typeface="Arial"/>
              </a:rPr>
              <a:t> </a:t>
            </a:r>
            <a:r>
              <a:rPr sz="1000" spc="-5" dirty="0">
                <a:solidFill>
                  <a:srgbClr val="0000FA"/>
                </a:solidFill>
                <a:latin typeface="Arial"/>
                <a:cs typeface="Arial"/>
              </a:rPr>
              <a:t>local</a:t>
            </a:r>
            <a:r>
              <a:rPr sz="1000" spc="5" dirty="0">
                <a:solidFill>
                  <a:srgbClr val="0000FA"/>
                </a:solidFill>
                <a:latin typeface="Arial"/>
                <a:cs typeface="Arial"/>
              </a:rPr>
              <a:t> </a:t>
            </a:r>
            <a:r>
              <a:rPr sz="1000" spc="-10" dirty="0">
                <a:solidFill>
                  <a:srgbClr val="0000FA"/>
                </a:solidFill>
                <a:latin typeface="Arial"/>
                <a:cs typeface="Arial"/>
              </a:rPr>
              <a:t>hardware,</a:t>
            </a:r>
            <a:r>
              <a:rPr sz="1000" spc="5" dirty="0">
                <a:solidFill>
                  <a:srgbClr val="0000FA"/>
                </a:solidFill>
                <a:latin typeface="Arial"/>
                <a:cs typeface="Arial"/>
              </a:rPr>
              <a:t> </a:t>
            </a:r>
            <a:r>
              <a:rPr sz="1000" spc="-5" dirty="0">
                <a:solidFill>
                  <a:srgbClr val="0000FA"/>
                </a:solidFill>
                <a:latin typeface="Arial"/>
                <a:cs typeface="Arial"/>
              </a:rPr>
              <a:t>operating</a:t>
            </a:r>
            <a:r>
              <a:rPr sz="1000" spc="5" dirty="0">
                <a:solidFill>
                  <a:srgbClr val="0000FA"/>
                </a:solidFill>
                <a:latin typeface="Arial"/>
                <a:cs typeface="Arial"/>
              </a:rPr>
              <a:t> </a:t>
            </a:r>
            <a:r>
              <a:rPr sz="1000" spc="-5" dirty="0">
                <a:solidFill>
                  <a:srgbClr val="0000FA"/>
                </a:solidFill>
                <a:latin typeface="Arial"/>
                <a:cs typeface="Arial"/>
              </a:rPr>
              <a:t>system</a:t>
            </a:r>
            <a:r>
              <a:rPr sz="1000" spc="5" dirty="0">
                <a:solidFill>
                  <a:srgbClr val="0000FA"/>
                </a:solidFill>
                <a:latin typeface="Arial"/>
                <a:cs typeface="Arial"/>
              </a:rPr>
              <a:t> </a:t>
            </a:r>
            <a:r>
              <a:rPr sz="1000" spc="-5" dirty="0">
                <a:solidFill>
                  <a:srgbClr val="0000FA"/>
                </a:solidFill>
                <a:latin typeface="Arial"/>
                <a:cs typeface="Arial"/>
              </a:rPr>
              <a:t>and</a:t>
            </a:r>
            <a:r>
              <a:rPr sz="1000" spc="5" dirty="0">
                <a:solidFill>
                  <a:srgbClr val="0000FA"/>
                </a:solidFill>
                <a:latin typeface="Arial"/>
                <a:cs typeface="Arial"/>
              </a:rPr>
              <a:t> </a:t>
            </a:r>
            <a:r>
              <a:rPr sz="1000" spc="-5" dirty="0">
                <a:solidFill>
                  <a:srgbClr val="0000FA"/>
                </a:solidFill>
                <a:latin typeface="Arial"/>
                <a:cs typeface="Arial"/>
              </a:rPr>
              <a:t>runtime </a:t>
            </a:r>
            <a:r>
              <a:rPr sz="1000" spc="-265" dirty="0">
                <a:solidFill>
                  <a:srgbClr val="0000FA"/>
                </a:solidFill>
                <a:latin typeface="Arial"/>
                <a:cs typeface="Arial"/>
              </a:rPr>
              <a:t> </a:t>
            </a:r>
            <a:r>
              <a:rPr sz="1000" spc="-5" dirty="0">
                <a:solidFill>
                  <a:srgbClr val="0000FA"/>
                </a:solidFill>
                <a:latin typeface="Arial"/>
                <a:cs typeface="Arial"/>
              </a:rPr>
              <a:t>system</a:t>
            </a:r>
            <a:endParaRPr sz="1000" dirty="0">
              <a:latin typeface="Arial"/>
              <a:cs typeface="Arial"/>
            </a:endParaRPr>
          </a:p>
          <a:p>
            <a:pPr>
              <a:lnSpc>
                <a:spcPct val="100000"/>
              </a:lnSpc>
              <a:spcBef>
                <a:spcPts val="45"/>
              </a:spcBef>
              <a:buFont typeface="Arial"/>
              <a:buChar char="►"/>
            </a:pPr>
            <a:endParaRPr sz="1150" dirty="0">
              <a:latin typeface="Arial"/>
              <a:cs typeface="Arial"/>
            </a:endParaRPr>
          </a:p>
          <a:p>
            <a:pPr marL="289560" marR="60960">
              <a:lnSpc>
                <a:spcPts val="1390"/>
              </a:lnSpc>
            </a:pPr>
            <a:r>
              <a:rPr sz="1200" spc="-5" dirty="0">
                <a:solidFill>
                  <a:srgbClr val="FA0000"/>
                </a:solidFill>
                <a:latin typeface="Arial"/>
                <a:cs typeface="Arial"/>
              </a:rPr>
              <a:t>Only solution:</a:t>
            </a:r>
            <a:r>
              <a:rPr sz="1200" spc="85" dirty="0">
                <a:solidFill>
                  <a:srgbClr val="FA0000"/>
                </a:solidFill>
                <a:latin typeface="Arial"/>
                <a:cs typeface="Arial"/>
              </a:rPr>
              <a:t> </a:t>
            </a:r>
            <a:r>
              <a:rPr sz="1200" spc="-5" dirty="0">
                <a:solidFill>
                  <a:srgbClr val="FA0000"/>
                </a:solidFill>
                <a:latin typeface="Arial"/>
                <a:cs typeface="Arial"/>
              </a:rPr>
              <a:t>abstract</a:t>
            </a:r>
            <a:r>
              <a:rPr sz="1200" dirty="0">
                <a:solidFill>
                  <a:srgbClr val="FA0000"/>
                </a:solidFill>
                <a:latin typeface="Arial"/>
                <a:cs typeface="Arial"/>
              </a:rPr>
              <a:t> </a:t>
            </a:r>
            <a:r>
              <a:rPr sz="1200" spc="-5" dirty="0">
                <a:solidFill>
                  <a:srgbClr val="FA0000"/>
                </a:solidFill>
                <a:latin typeface="Arial"/>
                <a:cs typeface="Arial"/>
              </a:rPr>
              <a:t>machine</a:t>
            </a:r>
            <a:r>
              <a:rPr sz="1200" dirty="0">
                <a:solidFill>
                  <a:srgbClr val="FA0000"/>
                </a:solidFill>
                <a:latin typeface="Arial"/>
                <a:cs typeface="Arial"/>
              </a:rPr>
              <a:t> </a:t>
            </a:r>
            <a:r>
              <a:rPr sz="1200" spc="-5" dirty="0">
                <a:solidFill>
                  <a:srgbClr val="FA0000"/>
                </a:solidFill>
                <a:latin typeface="Arial"/>
                <a:cs typeface="Arial"/>
              </a:rPr>
              <a:t>implemented on</a:t>
            </a:r>
            <a:r>
              <a:rPr sz="1200" dirty="0">
                <a:solidFill>
                  <a:srgbClr val="FA0000"/>
                </a:solidFill>
                <a:latin typeface="Arial"/>
                <a:cs typeface="Arial"/>
              </a:rPr>
              <a:t> </a:t>
            </a:r>
            <a:r>
              <a:rPr sz="1200" spc="-10" dirty="0">
                <a:solidFill>
                  <a:srgbClr val="FA0000"/>
                </a:solidFill>
                <a:latin typeface="Arial"/>
                <a:cs typeface="Arial"/>
              </a:rPr>
              <a:t>different </a:t>
            </a:r>
            <a:r>
              <a:rPr sz="1200" spc="-315" dirty="0">
                <a:solidFill>
                  <a:srgbClr val="FA0000"/>
                </a:solidFill>
                <a:latin typeface="Arial"/>
                <a:cs typeface="Arial"/>
              </a:rPr>
              <a:t> </a:t>
            </a:r>
            <a:r>
              <a:rPr sz="1200" spc="-5" dirty="0">
                <a:solidFill>
                  <a:srgbClr val="FA0000"/>
                </a:solidFill>
                <a:latin typeface="Arial"/>
                <a:cs typeface="Arial"/>
              </a:rPr>
              <a:t>platforms</a:t>
            </a:r>
            <a:endParaRPr sz="1200" dirty="0">
              <a:latin typeface="Arial"/>
              <a:cs typeface="Arial"/>
            </a:endParaRPr>
          </a:p>
          <a:p>
            <a:pPr marL="567055" indent="-168275">
              <a:lnSpc>
                <a:spcPct val="100000"/>
              </a:lnSpc>
              <a:spcBef>
                <a:spcPts val="740"/>
              </a:spcBef>
              <a:buClr>
                <a:srgbClr val="FA0000"/>
              </a:buClr>
              <a:buChar char="►"/>
              <a:tabLst>
                <a:tab pos="567690" algn="l"/>
              </a:tabLst>
            </a:pPr>
            <a:r>
              <a:rPr sz="1000" dirty="0">
                <a:latin typeface="Arial"/>
                <a:cs typeface="Arial"/>
              </a:rPr>
              <a:t>Interpreted</a:t>
            </a:r>
            <a:r>
              <a:rPr sz="1000" spc="-5" dirty="0">
                <a:latin typeface="Arial"/>
                <a:cs typeface="Arial"/>
              </a:rPr>
              <a:t> languages, </a:t>
            </a:r>
            <a:r>
              <a:rPr sz="1000" spc="-10" dirty="0">
                <a:latin typeface="Arial"/>
                <a:cs typeface="Arial"/>
              </a:rPr>
              <a:t>effectively</a:t>
            </a:r>
            <a:r>
              <a:rPr sz="1000" dirty="0">
                <a:latin typeface="Arial"/>
                <a:cs typeface="Arial"/>
              </a:rPr>
              <a:t> </a:t>
            </a:r>
            <a:r>
              <a:rPr sz="1000" spc="-10" dirty="0">
                <a:latin typeface="Arial"/>
                <a:cs typeface="Arial"/>
              </a:rPr>
              <a:t>having</a:t>
            </a:r>
            <a:r>
              <a:rPr sz="1000" spc="-5" dirty="0">
                <a:latin typeface="Arial"/>
                <a:cs typeface="Arial"/>
              </a:rPr>
              <a:t> their</a:t>
            </a:r>
            <a:r>
              <a:rPr sz="1000" dirty="0">
                <a:latin typeface="Arial"/>
                <a:cs typeface="Arial"/>
              </a:rPr>
              <a:t> </a:t>
            </a:r>
            <a:r>
              <a:rPr sz="1000" spc="-10" dirty="0">
                <a:latin typeface="Arial"/>
                <a:cs typeface="Arial"/>
              </a:rPr>
              <a:t>own</a:t>
            </a:r>
            <a:r>
              <a:rPr sz="1000" spc="-5" dirty="0">
                <a:latin typeface="Arial"/>
                <a:cs typeface="Arial"/>
              </a:rPr>
              <a:t> VM</a:t>
            </a:r>
            <a:endParaRPr sz="1000" dirty="0">
              <a:latin typeface="Arial"/>
              <a:cs typeface="Arial"/>
            </a:endParaRPr>
          </a:p>
          <a:p>
            <a:pPr marL="567055" indent="-168275">
              <a:lnSpc>
                <a:spcPct val="100000"/>
              </a:lnSpc>
              <a:spcBef>
                <a:spcPts val="595"/>
              </a:spcBef>
              <a:buClr>
                <a:srgbClr val="FA0000"/>
              </a:buClr>
              <a:buChar char="►"/>
              <a:tabLst>
                <a:tab pos="567690" algn="l"/>
              </a:tabLst>
            </a:pPr>
            <a:r>
              <a:rPr sz="1000" dirty="0">
                <a:latin typeface="Arial"/>
                <a:cs typeface="Arial"/>
              </a:rPr>
              <a:t>Virtual</a:t>
            </a:r>
            <a:r>
              <a:rPr sz="1000" spc="-15" dirty="0">
                <a:latin typeface="Arial"/>
                <a:cs typeface="Arial"/>
              </a:rPr>
              <a:t> </a:t>
            </a:r>
            <a:r>
              <a:rPr sz="1000" spc="-5" dirty="0">
                <a:latin typeface="Arial"/>
                <a:cs typeface="Arial"/>
              </a:rPr>
              <a:t>machine</a:t>
            </a:r>
            <a:r>
              <a:rPr sz="1000" spc="-15" dirty="0">
                <a:latin typeface="Arial"/>
                <a:cs typeface="Arial"/>
              </a:rPr>
              <a:t> </a:t>
            </a:r>
            <a:r>
              <a:rPr sz="1000" spc="-5" dirty="0">
                <a:latin typeface="Arial"/>
                <a:cs typeface="Arial"/>
              </a:rPr>
              <a:t>monitors</a:t>
            </a:r>
            <a:endParaRPr sz="1000" dirty="0">
              <a:latin typeface="Arial"/>
              <a:cs typeface="Arial"/>
            </a:endParaRPr>
          </a:p>
        </p:txBody>
      </p:sp>
    </p:spTree>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 name="object 6"/>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46</a:t>
            </a:r>
            <a:r>
              <a:rPr spc="-40" dirty="0"/>
              <a:t> </a:t>
            </a:r>
            <a:r>
              <a:rPr spc="-5" dirty="0"/>
              <a:t>/</a:t>
            </a:r>
            <a:r>
              <a:rPr spc="-35" dirty="0"/>
              <a:t> </a:t>
            </a:r>
            <a:r>
              <a:rPr spc="-5" dirty="0"/>
              <a:t>47</a:t>
            </a:r>
          </a:p>
        </p:txBody>
      </p:sp>
      <p:sp>
        <p:nvSpPr>
          <p:cNvPr id="2" name="object 2"/>
          <p:cNvSpPr txBox="1"/>
          <p:nvPr/>
        </p:nvSpPr>
        <p:spPr>
          <a:xfrm>
            <a:off x="66713" y="716"/>
            <a:ext cx="953769"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3333B2"/>
                </a:solidFill>
                <a:latin typeface="Arial"/>
                <a:cs typeface="Arial"/>
                <a:hlinkClick r:id="rId3" action="ppaction://hlinksldjump"/>
              </a:rPr>
              <a:t>Processes:</a:t>
            </a:r>
            <a:r>
              <a:rPr sz="600" spc="12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5"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endParaRPr sz="600">
              <a:latin typeface="Arial"/>
              <a:cs typeface="Arial"/>
            </a:endParaRPr>
          </a:p>
        </p:txBody>
      </p:sp>
      <p:sp>
        <p:nvSpPr>
          <p:cNvPr id="3" name="object 3"/>
          <p:cNvSpPr txBox="1"/>
          <p:nvPr/>
        </p:nvSpPr>
        <p:spPr>
          <a:xfrm>
            <a:off x="3298057" y="716"/>
            <a:ext cx="1243330" cy="116839"/>
          </a:xfrm>
          <a:prstGeom prst="rect">
            <a:avLst/>
          </a:prstGeom>
        </p:spPr>
        <p:txBody>
          <a:bodyPr vert="horz" wrap="square" lIns="0" tIns="12065" rIns="0" bIns="0" rtlCol="0">
            <a:spAutoFit/>
          </a:bodyPr>
          <a:lstStyle/>
          <a:p>
            <a:pPr marL="12700">
              <a:lnSpc>
                <a:spcPct val="100000"/>
              </a:lnSpc>
              <a:spcBef>
                <a:spcPts val="95"/>
              </a:spcBef>
            </a:pPr>
            <a:r>
              <a:rPr sz="600" spc="-5" dirty="0">
                <a:solidFill>
                  <a:srgbClr val="262685"/>
                </a:solidFill>
                <a:latin typeface="Arial"/>
                <a:cs typeface="Arial"/>
                <a:hlinkClick r:id="rId5" action="ppaction://hlinksldjump"/>
              </a:rPr>
              <a:t>Migration</a:t>
            </a:r>
            <a:r>
              <a:rPr sz="600" spc="-10" dirty="0">
                <a:solidFill>
                  <a:srgbClr val="262685"/>
                </a:solidFill>
                <a:latin typeface="Arial"/>
                <a:cs typeface="Arial"/>
                <a:hlinkClick r:id="rId5" action="ppaction://hlinksldjump"/>
              </a:rPr>
              <a:t> </a:t>
            </a:r>
            <a:r>
              <a:rPr sz="600" spc="-5" dirty="0">
                <a:solidFill>
                  <a:srgbClr val="262685"/>
                </a:solidFill>
                <a:latin typeface="Arial"/>
                <a:cs typeface="Arial"/>
                <a:hlinkClick r:id="rId5" action="ppaction://hlinksldjump"/>
              </a:rPr>
              <a:t>in heterogeneous systems</a:t>
            </a:r>
            <a:endParaRPr sz="600">
              <a:latin typeface="Arial"/>
              <a:cs typeface="Arial"/>
            </a:endParaRPr>
          </a:p>
        </p:txBody>
      </p:sp>
      <p:sp>
        <p:nvSpPr>
          <p:cNvPr id="4" name="object 4"/>
          <p:cNvSpPr txBox="1"/>
          <p:nvPr/>
        </p:nvSpPr>
        <p:spPr>
          <a:xfrm>
            <a:off x="95300" y="188846"/>
            <a:ext cx="2205990" cy="244475"/>
          </a:xfrm>
          <a:prstGeom prst="rect">
            <a:avLst/>
          </a:prstGeom>
        </p:spPr>
        <p:txBody>
          <a:bodyPr vert="horz" wrap="square" lIns="0" tIns="17145" rIns="0" bIns="0" rtlCol="0">
            <a:spAutoFit/>
          </a:bodyPr>
          <a:lstStyle/>
          <a:p>
            <a:pPr marL="12700">
              <a:lnSpc>
                <a:spcPct val="100000"/>
              </a:lnSpc>
              <a:spcBef>
                <a:spcPts val="135"/>
              </a:spcBef>
            </a:pPr>
            <a:r>
              <a:rPr sz="1400" spc="10" dirty="0">
                <a:solidFill>
                  <a:srgbClr val="3333B2"/>
                </a:solidFill>
                <a:latin typeface="Arial"/>
                <a:cs typeface="Arial"/>
              </a:rPr>
              <a:t>Migrating</a:t>
            </a:r>
            <a:r>
              <a:rPr sz="1400" spc="-10" dirty="0">
                <a:solidFill>
                  <a:srgbClr val="3333B2"/>
                </a:solidFill>
                <a:latin typeface="Arial"/>
                <a:cs typeface="Arial"/>
              </a:rPr>
              <a:t> </a:t>
            </a:r>
            <a:r>
              <a:rPr sz="1400" spc="15" dirty="0">
                <a:solidFill>
                  <a:srgbClr val="3333B2"/>
                </a:solidFill>
                <a:latin typeface="Arial"/>
                <a:cs typeface="Arial"/>
              </a:rPr>
              <a:t>a</a:t>
            </a:r>
            <a:r>
              <a:rPr sz="1400" spc="-10" dirty="0">
                <a:solidFill>
                  <a:srgbClr val="3333B2"/>
                </a:solidFill>
                <a:latin typeface="Arial"/>
                <a:cs typeface="Arial"/>
              </a:rPr>
              <a:t> </a:t>
            </a:r>
            <a:r>
              <a:rPr sz="1400" spc="20" dirty="0">
                <a:solidFill>
                  <a:srgbClr val="3333B2"/>
                </a:solidFill>
                <a:latin typeface="Arial"/>
                <a:cs typeface="Arial"/>
              </a:rPr>
              <a:t>virtual</a:t>
            </a:r>
            <a:r>
              <a:rPr sz="1400" spc="-5" dirty="0">
                <a:solidFill>
                  <a:srgbClr val="3333B2"/>
                </a:solidFill>
                <a:latin typeface="Arial"/>
                <a:cs typeface="Arial"/>
              </a:rPr>
              <a:t> </a:t>
            </a:r>
            <a:r>
              <a:rPr sz="1400" spc="15" dirty="0">
                <a:solidFill>
                  <a:srgbClr val="3333B2"/>
                </a:solidFill>
                <a:latin typeface="Arial"/>
                <a:cs typeface="Arial"/>
              </a:rPr>
              <a:t>machine</a:t>
            </a:r>
            <a:endParaRPr sz="1400" dirty="0">
              <a:latin typeface="Arial"/>
              <a:cs typeface="Arial"/>
            </a:endParaRPr>
          </a:p>
        </p:txBody>
      </p:sp>
      <p:sp>
        <p:nvSpPr>
          <p:cNvPr id="5" name="object 5"/>
          <p:cNvSpPr txBox="1"/>
          <p:nvPr/>
        </p:nvSpPr>
        <p:spPr>
          <a:xfrm>
            <a:off x="347294" y="932520"/>
            <a:ext cx="3916679" cy="1523365"/>
          </a:xfrm>
          <a:prstGeom prst="rect">
            <a:avLst/>
          </a:prstGeom>
        </p:spPr>
        <p:txBody>
          <a:bodyPr vert="horz" wrap="square" lIns="0" tIns="12065" rIns="0" bIns="0" rtlCol="0">
            <a:spAutoFit/>
          </a:bodyPr>
          <a:lstStyle/>
          <a:p>
            <a:pPr marL="12700">
              <a:lnSpc>
                <a:spcPct val="100000"/>
              </a:lnSpc>
              <a:spcBef>
                <a:spcPts val="95"/>
              </a:spcBef>
            </a:pPr>
            <a:r>
              <a:rPr sz="1200" spc="-10" dirty="0">
                <a:solidFill>
                  <a:srgbClr val="3333B2"/>
                </a:solidFill>
                <a:latin typeface="Arial"/>
                <a:cs typeface="Arial"/>
              </a:rPr>
              <a:t>Migrating</a:t>
            </a:r>
            <a:r>
              <a:rPr sz="1200" spc="-5" dirty="0">
                <a:solidFill>
                  <a:srgbClr val="3333B2"/>
                </a:solidFill>
                <a:latin typeface="Arial"/>
                <a:cs typeface="Arial"/>
              </a:rPr>
              <a:t> images:</a:t>
            </a:r>
            <a:r>
              <a:rPr sz="1200" spc="75" dirty="0">
                <a:solidFill>
                  <a:srgbClr val="3333B2"/>
                </a:solidFill>
                <a:latin typeface="Arial"/>
                <a:cs typeface="Arial"/>
              </a:rPr>
              <a:t> </a:t>
            </a:r>
            <a:r>
              <a:rPr sz="1200" spc="-5" dirty="0">
                <a:solidFill>
                  <a:srgbClr val="3333B2"/>
                </a:solidFill>
                <a:latin typeface="Arial"/>
                <a:cs typeface="Arial"/>
              </a:rPr>
              <a:t>three alternatives</a:t>
            </a:r>
            <a:endParaRPr sz="1200" dirty="0">
              <a:latin typeface="Arial"/>
              <a:cs typeface="Arial"/>
            </a:endParaRPr>
          </a:p>
          <a:p>
            <a:pPr marL="289560" marR="107950" indent="-175260">
              <a:lnSpc>
                <a:spcPct val="100000"/>
              </a:lnSpc>
              <a:spcBef>
                <a:spcPts val="790"/>
              </a:spcBef>
              <a:buClr>
                <a:srgbClr val="3333B2"/>
              </a:buClr>
              <a:buAutoNum type="arabicPeriod"/>
              <a:tabLst>
                <a:tab pos="290195" algn="l"/>
              </a:tabLst>
            </a:pPr>
            <a:r>
              <a:rPr sz="1000" spc="-5" dirty="0">
                <a:latin typeface="Arial"/>
                <a:cs typeface="Arial"/>
              </a:rPr>
              <a:t>Pushing </a:t>
            </a:r>
            <a:r>
              <a:rPr sz="1000" dirty="0">
                <a:latin typeface="Arial"/>
                <a:cs typeface="Arial"/>
              </a:rPr>
              <a:t>memory </a:t>
            </a:r>
            <a:r>
              <a:rPr sz="1000" spc="-5" dirty="0">
                <a:latin typeface="Arial"/>
                <a:cs typeface="Arial"/>
              </a:rPr>
              <a:t>pages to</a:t>
            </a:r>
            <a:r>
              <a:rPr sz="1000" dirty="0">
                <a:latin typeface="Arial"/>
                <a:cs typeface="Arial"/>
              </a:rPr>
              <a:t> </a:t>
            </a:r>
            <a:r>
              <a:rPr sz="1000" spc="-5" dirty="0">
                <a:latin typeface="Arial"/>
                <a:cs typeface="Arial"/>
              </a:rPr>
              <a:t>the </a:t>
            </a:r>
            <a:r>
              <a:rPr sz="1000" spc="-10" dirty="0">
                <a:latin typeface="Arial"/>
                <a:cs typeface="Arial"/>
              </a:rPr>
              <a:t>new</a:t>
            </a:r>
            <a:r>
              <a:rPr sz="1000" dirty="0">
                <a:latin typeface="Arial"/>
                <a:cs typeface="Arial"/>
              </a:rPr>
              <a:t> </a:t>
            </a:r>
            <a:r>
              <a:rPr sz="1000" spc="-5" dirty="0">
                <a:latin typeface="Arial"/>
                <a:cs typeface="Arial"/>
              </a:rPr>
              <a:t>machine and</a:t>
            </a:r>
            <a:r>
              <a:rPr sz="1000" dirty="0">
                <a:latin typeface="Arial"/>
                <a:cs typeface="Arial"/>
              </a:rPr>
              <a:t> </a:t>
            </a:r>
            <a:r>
              <a:rPr sz="1000" spc="-5" dirty="0">
                <a:latin typeface="Arial"/>
                <a:cs typeface="Arial"/>
              </a:rPr>
              <a:t>resending</a:t>
            </a:r>
            <a:r>
              <a:rPr sz="1000" dirty="0">
                <a:latin typeface="Arial"/>
                <a:cs typeface="Arial"/>
              </a:rPr>
              <a:t> </a:t>
            </a:r>
            <a:r>
              <a:rPr sz="1000" spc="-5" dirty="0">
                <a:latin typeface="Arial"/>
                <a:cs typeface="Arial"/>
              </a:rPr>
              <a:t>the </a:t>
            </a:r>
            <a:r>
              <a:rPr sz="1000" spc="-265" dirty="0">
                <a:latin typeface="Arial"/>
                <a:cs typeface="Arial"/>
              </a:rPr>
              <a:t> </a:t>
            </a:r>
            <a:r>
              <a:rPr sz="1000" spc="-5" dirty="0">
                <a:latin typeface="Arial"/>
                <a:cs typeface="Arial"/>
              </a:rPr>
              <a:t>ones that are</a:t>
            </a:r>
            <a:r>
              <a:rPr sz="1000" dirty="0">
                <a:latin typeface="Arial"/>
                <a:cs typeface="Arial"/>
              </a:rPr>
              <a:t> </a:t>
            </a:r>
            <a:r>
              <a:rPr sz="1000" spc="-5" dirty="0">
                <a:latin typeface="Arial"/>
                <a:cs typeface="Arial"/>
              </a:rPr>
              <a:t>later modified</a:t>
            </a:r>
            <a:r>
              <a:rPr sz="1000" dirty="0">
                <a:latin typeface="Arial"/>
                <a:cs typeface="Arial"/>
              </a:rPr>
              <a:t> </a:t>
            </a:r>
            <a:r>
              <a:rPr sz="1000" spc="-5" dirty="0">
                <a:latin typeface="Arial"/>
                <a:cs typeface="Arial"/>
              </a:rPr>
              <a:t>during the migration</a:t>
            </a:r>
            <a:r>
              <a:rPr sz="1000" dirty="0">
                <a:latin typeface="Arial"/>
                <a:cs typeface="Arial"/>
              </a:rPr>
              <a:t> </a:t>
            </a:r>
            <a:r>
              <a:rPr sz="1000" spc="-5" dirty="0">
                <a:latin typeface="Arial"/>
                <a:cs typeface="Arial"/>
              </a:rPr>
              <a:t>process.</a:t>
            </a:r>
            <a:endParaRPr sz="1000" dirty="0">
              <a:latin typeface="Arial"/>
              <a:cs typeface="Arial"/>
            </a:endParaRPr>
          </a:p>
          <a:p>
            <a:pPr marL="289560" marR="47625" indent="-175260">
              <a:lnSpc>
                <a:spcPct val="100000"/>
              </a:lnSpc>
              <a:spcBef>
                <a:spcPts val="585"/>
              </a:spcBef>
              <a:buClr>
                <a:srgbClr val="3333B2"/>
              </a:buClr>
              <a:buAutoNum type="arabicPeriod"/>
              <a:tabLst>
                <a:tab pos="290195" algn="l"/>
              </a:tabLst>
            </a:pPr>
            <a:r>
              <a:rPr sz="1000" spc="-5" dirty="0">
                <a:latin typeface="Arial"/>
                <a:cs typeface="Arial"/>
              </a:rPr>
              <a:t>Stopping the</a:t>
            </a:r>
            <a:r>
              <a:rPr sz="1000" dirty="0">
                <a:latin typeface="Arial"/>
                <a:cs typeface="Arial"/>
              </a:rPr>
              <a:t> </a:t>
            </a:r>
            <a:r>
              <a:rPr sz="1000" spc="-5" dirty="0">
                <a:latin typeface="Arial"/>
                <a:cs typeface="Arial"/>
              </a:rPr>
              <a:t>current</a:t>
            </a:r>
            <a:r>
              <a:rPr sz="1000" dirty="0">
                <a:latin typeface="Arial"/>
                <a:cs typeface="Arial"/>
              </a:rPr>
              <a:t> virtual</a:t>
            </a:r>
            <a:r>
              <a:rPr sz="1000" spc="-5" dirty="0">
                <a:latin typeface="Arial"/>
                <a:cs typeface="Arial"/>
              </a:rPr>
              <a:t> machine;</a:t>
            </a:r>
            <a:r>
              <a:rPr sz="1000" dirty="0">
                <a:latin typeface="Arial"/>
                <a:cs typeface="Arial"/>
              </a:rPr>
              <a:t> </a:t>
            </a:r>
            <a:r>
              <a:rPr sz="1000" spc="-5" dirty="0">
                <a:latin typeface="Arial"/>
                <a:cs typeface="Arial"/>
              </a:rPr>
              <a:t>migrate</a:t>
            </a:r>
            <a:r>
              <a:rPr sz="1000" dirty="0">
                <a:latin typeface="Arial"/>
                <a:cs typeface="Arial"/>
              </a:rPr>
              <a:t> </a:t>
            </a:r>
            <a:r>
              <a:rPr sz="1000" spc="-15" dirty="0">
                <a:latin typeface="Arial"/>
                <a:cs typeface="Arial"/>
              </a:rPr>
              <a:t>memory,</a:t>
            </a:r>
            <a:r>
              <a:rPr sz="1000" dirty="0">
                <a:latin typeface="Arial"/>
                <a:cs typeface="Arial"/>
              </a:rPr>
              <a:t> </a:t>
            </a:r>
            <a:r>
              <a:rPr sz="1000" spc="-5" dirty="0">
                <a:latin typeface="Arial"/>
                <a:cs typeface="Arial"/>
              </a:rPr>
              <a:t>and </a:t>
            </a:r>
            <a:r>
              <a:rPr sz="1000" spc="5" dirty="0">
                <a:latin typeface="Arial"/>
                <a:cs typeface="Arial"/>
              </a:rPr>
              <a:t>start </a:t>
            </a:r>
            <a:r>
              <a:rPr sz="1000" spc="-260" dirty="0">
                <a:latin typeface="Arial"/>
                <a:cs typeface="Arial"/>
              </a:rPr>
              <a:t> </a:t>
            </a:r>
            <a:r>
              <a:rPr sz="1000" spc="-5" dirty="0">
                <a:latin typeface="Arial"/>
                <a:cs typeface="Arial"/>
              </a:rPr>
              <a:t>the</a:t>
            </a:r>
            <a:r>
              <a:rPr sz="1000" spc="-10" dirty="0">
                <a:latin typeface="Arial"/>
                <a:cs typeface="Arial"/>
              </a:rPr>
              <a:t> new</a:t>
            </a:r>
            <a:r>
              <a:rPr sz="1000" spc="-5" dirty="0">
                <a:latin typeface="Arial"/>
                <a:cs typeface="Arial"/>
              </a:rPr>
              <a:t> </a:t>
            </a:r>
            <a:r>
              <a:rPr sz="1000" dirty="0">
                <a:latin typeface="Arial"/>
                <a:cs typeface="Arial"/>
              </a:rPr>
              <a:t>virtual</a:t>
            </a:r>
            <a:r>
              <a:rPr sz="1000" spc="-5" dirty="0">
                <a:latin typeface="Arial"/>
                <a:cs typeface="Arial"/>
              </a:rPr>
              <a:t> machine.</a:t>
            </a:r>
            <a:endParaRPr sz="1000" dirty="0">
              <a:latin typeface="Arial"/>
              <a:cs typeface="Arial"/>
            </a:endParaRPr>
          </a:p>
          <a:p>
            <a:pPr marL="289560" marR="5080" indent="-175260">
              <a:lnSpc>
                <a:spcPct val="100000"/>
              </a:lnSpc>
              <a:spcBef>
                <a:spcPts val="590"/>
              </a:spcBef>
              <a:buClr>
                <a:srgbClr val="3333B2"/>
              </a:buClr>
              <a:buAutoNum type="arabicPeriod"/>
              <a:tabLst>
                <a:tab pos="290195" algn="l"/>
              </a:tabLst>
            </a:pPr>
            <a:r>
              <a:rPr sz="1000" spc="-5" dirty="0">
                <a:latin typeface="Arial"/>
                <a:cs typeface="Arial"/>
              </a:rPr>
              <a:t>Letting the </a:t>
            </a:r>
            <a:r>
              <a:rPr sz="1000" spc="-10" dirty="0">
                <a:latin typeface="Arial"/>
                <a:cs typeface="Arial"/>
              </a:rPr>
              <a:t>new</a:t>
            </a:r>
            <a:r>
              <a:rPr sz="1000" dirty="0">
                <a:latin typeface="Arial"/>
                <a:cs typeface="Arial"/>
              </a:rPr>
              <a:t> virtual</a:t>
            </a:r>
            <a:r>
              <a:rPr sz="1000" spc="-5" dirty="0">
                <a:latin typeface="Arial"/>
                <a:cs typeface="Arial"/>
              </a:rPr>
              <a:t> machine</a:t>
            </a:r>
            <a:r>
              <a:rPr sz="1000" dirty="0">
                <a:latin typeface="Arial"/>
                <a:cs typeface="Arial"/>
              </a:rPr>
              <a:t> </a:t>
            </a:r>
            <a:r>
              <a:rPr sz="1000" spc="-5" dirty="0">
                <a:latin typeface="Arial"/>
                <a:cs typeface="Arial"/>
              </a:rPr>
              <a:t>pull in</a:t>
            </a:r>
            <a:r>
              <a:rPr sz="1000" dirty="0">
                <a:latin typeface="Arial"/>
                <a:cs typeface="Arial"/>
              </a:rPr>
              <a:t> </a:t>
            </a:r>
            <a:r>
              <a:rPr sz="1000" spc="-10" dirty="0">
                <a:latin typeface="Arial"/>
                <a:cs typeface="Arial"/>
              </a:rPr>
              <a:t>new</a:t>
            </a:r>
            <a:r>
              <a:rPr sz="1000" spc="-5" dirty="0">
                <a:latin typeface="Arial"/>
                <a:cs typeface="Arial"/>
              </a:rPr>
              <a:t> pages</a:t>
            </a:r>
            <a:r>
              <a:rPr sz="1000" dirty="0">
                <a:latin typeface="Arial"/>
                <a:cs typeface="Arial"/>
              </a:rPr>
              <a:t> </a:t>
            </a:r>
            <a:r>
              <a:rPr sz="1000" spc="-5" dirty="0">
                <a:latin typeface="Arial"/>
                <a:cs typeface="Arial"/>
              </a:rPr>
              <a:t>as needed: </a:t>
            </a:r>
            <a:r>
              <a:rPr sz="1000" dirty="0">
                <a:latin typeface="Arial"/>
                <a:cs typeface="Arial"/>
              </a:rPr>
              <a:t> </a:t>
            </a:r>
            <a:r>
              <a:rPr sz="1000" spc="-10" dirty="0">
                <a:latin typeface="Arial"/>
                <a:cs typeface="Arial"/>
              </a:rPr>
              <a:t>processes </a:t>
            </a:r>
            <a:r>
              <a:rPr sz="1000" dirty="0">
                <a:latin typeface="Arial"/>
                <a:cs typeface="Arial"/>
              </a:rPr>
              <a:t>start</a:t>
            </a:r>
            <a:r>
              <a:rPr sz="1000" spc="-10" dirty="0">
                <a:latin typeface="Arial"/>
                <a:cs typeface="Arial"/>
              </a:rPr>
              <a:t> on</a:t>
            </a:r>
            <a:r>
              <a:rPr sz="1000" spc="-5" dirty="0">
                <a:latin typeface="Arial"/>
                <a:cs typeface="Arial"/>
              </a:rPr>
              <a:t> </a:t>
            </a:r>
            <a:r>
              <a:rPr sz="1000" spc="-10" dirty="0">
                <a:latin typeface="Arial"/>
                <a:cs typeface="Arial"/>
              </a:rPr>
              <a:t>the </a:t>
            </a:r>
            <a:r>
              <a:rPr sz="1000" spc="-20" dirty="0">
                <a:latin typeface="Arial"/>
                <a:cs typeface="Arial"/>
              </a:rPr>
              <a:t>new</a:t>
            </a:r>
            <a:r>
              <a:rPr sz="1000" spc="-5" dirty="0">
                <a:latin typeface="Arial"/>
                <a:cs typeface="Arial"/>
              </a:rPr>
              <a:t> virtual</a:t>
            </a:r>
            <a:r>
              <a:rPr sz="1000" spc="-10" dirty="0">
                <a:latin typeface="Arial"/>
                <a:cs typeface="Arial"/>
              </a:rPr>
              <a:t> machine</a:t>
            </a:r>
            <a:r>
              <a:rPr sz="1000" spc="-5" dirty="0">
                <a:latin typeface="Arial"/>
                <a:cs typeface="Arial"/>
              </a:rPr>
              <a:t> </a:t>
            </a:r>
            <a:r>
              <a:rPr sz="1000" spc="-10" dirty="0">
                <a:latin typeface="Arial"/>
                <a:cs typeface="Arial"/>
              </a:rPr>
              <a:t>immediately and </a:t>
            </a:r>
            <a:r>
              <a:rPr sz="1000" spc="-20" dirty="0">
                <a:latin typeface="Arial"/>
                <a:cs typeface="Arial"/>
              </a:rPr>
              <a:t>copy </a:t>
            </a:r>
            <a:r>
              <a:rPr sz="1000" spc="-260" dirty="0">
                <a:latin typeface="Arial"/>
                <a:cs typeface="Arial"/>
              </a:rPr>
              <a:t> </a:t>
            </a:r>
            <a:r>
              <a:rPr sz="1000" dirty="0">
                <a:latin typeface="Arial"/>
                <a:cs typeface="Arial"/>
              </a:rPr>
              <a:t>memory</a:t>
            </a:r>
            <a:r>
              <a:rPr sz="1000" spc="-10" dirty="0">
                <a:latin typeface="Arial"/>
                <a:cs typeface="Arial"/>
              </a:rPr>
              <a:t> </a:t>
            </a:r>
            <a:r>
              <a:rPr sz="1000" spc="-5" dirty="0">
                <a:latin typeface="Arial"/>
                <a:cs typeface="Arial"/>
              </a:rPr>
              <a:t>pages on demand.</a:t>
            </a:r>
            <a:endParaRPr sz="1000" dirty="0">
              <a:latin typeface="Arial"/>
              <a:cs typeface="Arial"/>
            </a:endParaRPr>
          </a:p>
        </p:txBody>
      </p:sp>
    </p:spTree>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66713" y="716"/>
            <a:ext cx="4474845" cy="116839"/>
          </a:xfrm>
          <a:prstGeom prst="rect">
            <a:avLst/>
          </a:prstGeom>
        </p:spPr>
        <p:txBody>
          <a:bodyPr vert="horz" wrap="square" lIns="0" tIns="12065" rIns="0" bIns="0" rtlCol="0">
            <a:spAutoFit/>
          </a:bodyPr>
          <a:lstStyle/>
          <a:p>
            <a:pPr marL="12700">
              <a:lnSpc>
                <a:spcPct val="100000"/>
              </a:lnSpc>
              <a:spcBef>
                <a:spcPts val="95"/>
              </a:spcBef>
              <a:tabLst>
                <a:tab pos="3243580" algn="l"/>
              </a:tabLst>
            </a:pPr>
            <a:r>
              <a:rPr sz="600" spc="-5" dirty="0">
                <a:solidFill>
                  <a:srgbClr val="3333B2"/>
                </a:solidFill>
                <a:latin typeface="Arial"/>
                <a:cs typeface="Arial"/>
                <a:hlinkClick r:id="rId3" action="ppaction://hlinksldjump"/>
              </a:rPr>
              <a:t>Processes:</a:t>
            </a:r>
            <a:r>
              <a:rPr sz="600" spc="165" dirty="0">
                <a:solidFill>
                  <a:srgbClr val="3333B2"/>
                </a:solidFill>
                <a:latin typeface="Arial"/>
                <a:cs typeface="Arial"/>
              </a:rPr>
              <a:t> </a:t>
            </a:r>
            <a:r>
              <a:rPr sz="600" spc="-5" dirty="0">
                <a:solidFill>
                  <a:srgbClr val="3333B2"/>
                </a:solidFill>
                <a:latin typeface="Arial"/>
                <a:cs typeface="Arial"/>
                <a:hlinkClick r:id="rId4" action="ppaction://hlinksldjump"/>
              </a:rPr>
              <a:t>Code</a:t>
            </a:r>
            <a:r>
              <a:rPr sz="600" spc="10" dirty="0">
                <a:solidFill>
                  <a:srgbClr val="3333B2"/>
                </a:solidFill>
                <a:latin typeface="Arial"/>
                <a:cs typeface="Arial"/>
                <a:hlinkClick r:id="rId4" action="ppaction://hlinksldjump"/>
              </a:rPr>
              <a:t> </a:t>
            </a:r>
            <a:r>
              <a:rPr sz="600" spc="-5" dirty="0">
                <a:solidFill>
                  <a:srgbClr val="3333B2"/>
                </a:solidFill>
                <a:latin typeface="Arial"/>
                <a:cs typeface="Arial"/>
                <a:hlinkClick r:id="rId4" action="ppaction://hlinksldjump"/>
              </a:rPr>
              <a:t>migration</a:t>
            </a:r>
            <a:r>
              <a:rPr sz="600" spc="-5" dirty="0">
                <a:solidFill>
                  <a:srgbClr val="3333B2"/>
                </a:solidFill>
                <a:latin typeface="Arial"/>
                <a:cs typeface="Arial"/>
              </a:rPr>
              <a:t>	</a:t>
            </a:r>
            <a:r>
              <a:rPr sz="600" spc="-5" dirty="0">
                <a:solidFill>
                  <a:srgbClr val="262685"/>
                </a:solidFill>
                <a:latin typeface="Arial"/>
                <a:cs typeface="Arial"/>
                <a:hlinkClick r:id="rId5" action="ppaction://hlinksldjump"/>
              </a:rPr>
              <a:t>Migration in heterogeneous systems</a:t>
            </a:r>
            <a:endParaRPr sz="600">
              <a:latin typeface="Arial"/>
              <a:cs typeface="Arial"/>
            </a:endParaRPr>
          </a:p>
        </p:txBody>
      </p:sp>
      <p:sp>
        <p:nvSpPr>
          <p:cNvPr id="3" name="object 3"/>
          <p:cNvSpPr txBox="1">
            <a:spLocks noGrp="1"/>
          </p:cNvSpPr>
          <p:nvPr>
            <p:ph type="title"/>
          </p:nvPr>
        </p:nvSpPr>
        <p:spPr>
          <a:xfrm>
            <a:off x="95300" y="188846"/>
            <a:ext cx="3431540" cy="244475"/>
          </a:xfrm>
          <a:prstGeom prst="rect">
            <a:avLst/>
          </a:prstGeom>
        </p:spPr>
        <p:txBody>
          <a:bodyPr vert="horz" wrap="square" lIns="0" tIns="17145" rIns="0" bIns="0" rtlCol="0">
            <a:spAutoFit/>
          </a:bodyPr>
          <a:lstStyle/>
          <a:p>
            <a:pPr marL="12700">
              <a:lnSpc>
                <a:spcPct val="100000"/>
              </a:lnSpc>
              <a:spcBef>
                <a:spcPts val="135"/>
              </a:spcBef>
            </a:pPr>
            <a:r>
              <a:rPr spc="10" dirty="0"/>
              <a:t>Performance</a:t>
            </a:r>
            <a:r>
              <a:rPr spc="-5" dirty="0"/>
              <a:t> </a:t>
            </a:r>
            <a:r>
              <a:rPr spc="10" dirty="0"/>
              <a:t>of</a:t>
            </a:r>
            <a:r>
              <a:rPr spc="-5" dirty="0"/>
              <a:t> </a:t>
            </a:r>
            <a:r>
              <a:rPr spc="10" dirty="0"/>
              <a:t>migrating</a:t>
            </a:r>
            <a:r>
              <a:rPr dirty="0"/>
              <a:t> </a:t>
            </a:r>
            <a:r>
              <a:rPr spc="20" dirty="0"/>
              <a:t>virtual</a:t>
            </a:r>
            <a:r>
              <a:rPr spc="-5" dirty="0"/>
              <a:t> </a:t>
            </a:r>
            <a:r>
              <a:rPr spc="15" dirty="0"/>
              <a:t>machines</a:t>
            </a:r>
          </a:p>
        </p:txBody>
      </p:sp>
      <p:sp>
        <p:nvSpPr>
          <p:cNvPr id="4" name="object 4"/>
          <p:cNvSpPr txBox="1"/>
          <p:nvPr/>
        </p:nvSpPr>
        <p:spPr>
          <a:xfrm>
            <a:off x="343128" y="492757"/>
            <a:ext cx="3917950" cy="1101725"/>
          </a:xfrm>
          <a:prstGeom prst="rect">
            <a:avLst/>
          </a:prstGeom>
        </p:spPr>
        <p:txBody>
          <a:bodyPr vert="horz" wrap="square" lIns="0" tIns="12065" rIns="0" bIns="0" rtlCol="0">
            <a:spAutoFit/>
          </a:bodyPr>
          <a:lstStyle/>
          <a:p>
            <a:pPr marL="16510">
              <a:lnSpc>
                <a:spcPts val="1410"/>
              </a:lnSpc>
              <a:spcBef>
                <a:spcPts val="95"/>
              </a:spcBef>
            </a:pPr>
            <a:r>
              <a:rPr sz="1200" spc="-10" dirty="0">
                <a:solidFill>
                  <a:srgbClr val="3333B2"/>
                </a:solidFill>
                <a:latin typeface="Arial"/>
                <a:cs typeface="Arial"/>
              </a:rPr>
              <a:t>Problem</a:t>
            </a:r>
            <a:endParaRPr sz="1200" dirty="0">
              <a:latin typeface="Arial"/>
              <a:cs typeface="Arial"/>
            </a:endParaRPr>
          </a:p>
          <a:p>
            <a:pPr marL="16510" marR="5080" indent="-4445">
              <a:lnSpc>
                <a:spcPts val="1200"/>
              </a:lnSpc>
              <a:spcBef>
                <a:spcPts val="10"/>
              </a:spcBef>
            </a:pPr>
            <a:r>
              <a:rPr sz="1000" spc="-20" dirty="0">
                <a:latin typeface="Arial"/>
                <a:cs typeface="Arial"/>
              </a:rPr>
              <a:t>A </a:t>
            </a:r>
            <a:r>
              <a:rPr sz="1000" spc="-15" dirty="0">
                <a:latin typeface="Arial"/>
                <a:cs typeface="Arial"/>
              </a:rPr>
              <a:t>complete migration </a:t>
            </a:r>
            <a:r>
              <a:rPr sz="1000" spc="-30" dirty="0">
                <a:latin typeface="Arial"/>
                <a:cs typeface="Arial"/>
              </a:rPr>
              <a:t>may </a:t>
            </a:r>
            <a:r>
              <a:rPr sz="1000" spc="-10" dirty="0">
                <a:latin typeface="Arial"/>
                <a:cs typeface="Arial"/>
              </a:rPr>
              <a:t>actually </a:t>
            </a:r>
            <a:r>
              <a:rPr sz="1000" spc="-20" dirty="0">
                <a:latin typeface="Arial"/>
                <a:cs typeface="Arial"/>
              </a:rPr>
              <a:t>take </a:t>
            </a:r>
            <a:r>
              <a:rPr sz="1000" spc="-15" dirty="0">
                <a:latin typeface="Arial"/>
                <a:cs typeface="Arial"/>
              </a:rPr>
              <a:t>tens </a:t>
            </a:r>
            <a:r>
              <a:rPr sz="1000" spc="-10" dirty="0">
                <a:latin typeface="Arial"/>
                <a:cs typeface="Arial"/>
              </a:rPr>
              <a:t>of </a:t>
            </a:r>
            <a:r>
              <a:rPr sz="1000" spc="-15" dirty="0">
                <a:latin typeface="Arial"/>
                <a:cs typeface="Arial"/>
              </a:rPr>
              <a:t>seconds.</a:t>
            </a:r>
            <a:r>
              <a:rPr sz="1000" spc="-10" dirty="0">
                <a:latin typeface="Arial"/>
                <a:cs typeface="Arial"/>
              </a:rPr>
              <a:t> </a:t>
            </a:r>
            <a:r>
              <a:rPr sz="1000" spc="-35" dirty="0">
                <a:latin typeface="Arial"/>
                <a:cs typeface="Arial"/>
              </a:rPr>
              <a:t>We </a:t>
            </a:r>
            <a:r>
              <a:rPr sz="1000" spc="-15" dirty="0">
                <a:latin typeface="Arial"/>
                <a:cs typeface="Arial"/>
              </a:rPr>
              <a:t>also need </a:t>
            </a:r>
            <a:r>
              <a:rPr sz="1000" spc="-265" dirty="0">
                <a:latin typeface="Arial"/>
                <a:cs typeface="Arial"/>
              </a:rPr>
              <a:t> </a:t>
            </a:r>
            <a:r>
              <a:rPr sz="1000" spc="-5" dirty="0">
                <a:latin typeface="Arial"/>
                <a:cs typeface="Arial"/>
              </a:rPr>
              <a:t>to realize that</a:t>
            </a:r>
            <a:r>
              <a:rPr sz="1000" dirty="0">
                <a:latin typeface="Arial"/>
                <a:cs typeface="Arial"/>
              </a:rPr>
              <a:t> </a:t>
            </a:r>
            <a:r>
              <a:rPr sz="1000" spc="-5" dirty="0">
                <a:latin typeface="Arial"/>
                <a:cs typeface="Arial"/>
              </a:rPr>
              <a:t>during the</a:t>
            </a:r>
            <a:r>
              <a:rPr sz="1000" dirty="0">
                <a:latin typeface="Arial"/>
                <a:cs typeface="Arial"/>
              </a:rPr>
              <a:t> </a:t>
            </a:r>
            <a:r>
              <a:rPr sz="1000" spc="-5" dirty="0">
                <a:latin typeface="Arial"/>
                <a:cs typeface="Arial"/>
              </a:rPr>
              <a:t>migration, a</a:t>
            </a:r>
            <a:r>
              <a:rPr sz="1000" dirty="0">
                <a:latin typeface="Arial"/>
                <a:cs typeface="Arial"/>
              </a:rPr>
              <a:t> service</a:t>
            </a:r>
            <a:r>
              <a:rPr sz="1000" spc="-5" dirty="0">
                <a:latin typeface="Arial"/>
                <a:cs typeface="Arial"/>
              </a:rPr>
              <a:t> will</a:t>
            </a:r>
            <a:r>
              <a:rPr sz="1000" dirty="0">
                <a:latin typeface="Arial"/>
                <a:cs typeface="Arial"/>
              </a:rPr>
              <a:t> </a:t>
            </a:r>
            <a:r>
              <a:rPr sz="1000" spc="-5" dirty="0">
                <a:latin typeface="Arial"/>
                <a:cs typeface="Arial"/>
              </a:rPr>
              <a:t>be completely </a:t>
            </a:r>
            <a:r>
              <a:rPr sz="1000" dirty="0">
                <a:latin typeface="Arial"/>
                <a:cs typeface="Arial"/>
              </a:rPr>
              <a:t> </a:t>
            </a:r>
            <a:r>
              <a:rPr sz="1000" spc="-10" dirty="0">
                <a:latin typeface="Arial"/>
                <a:cs typeface="Arial"/>
              </a:rPr>
              <a:t>unavailable </a:t>
            </a:r>
            <a:r>
              <a:rPr sz="1000" spc="-15" dirty="0">
                <a:latin typeface="Arial"/>
                <a:cs typeface="Arial"/>
              </a:rPr>
              <a:t>for</a:t>
            </a:r>
            <a:r>
              <a:rPr sz="1000" spc="-5" dirty="0">
                <a:latin typeface="Arial"/>
                <a:cs typeface="Arial"/>
              </a:rPr>
              <a:t> multiple seconds.</a:t>
            </a:r>
            <a:endParaRPr sz="1000" dirty="0">
              <a:latin typeface="Arial"/>
              <a:cs typeface="Arial"/>
            </a:endParaRPr>
          </a:p>
          <a:p>
            <a:pPr marL="16510" marR="396875">
              <a:lnSpc>
                <a:spcPts val="1390"/>
              </a:lnSpc>
              <a:spcBef>
                <a:spcPts val="710"/>
              </a:spcBef>
            </a:pPr>
            <a:r>
              <a:rPr sz="1200" spc="-5" dirty="0">
                <a:solidFill>
                  <a:srgbClr val="3333B2"/>
                </a:solidFill>
                <a:latin typeface="Arial"/>
                <a:cs typeface="Arial"/>
              </a:rPr>
              <a:t>Measurements regarding response times </a:t>
            </a:r>
            <a:r>
              <a:rPr sz="1200" dirty="0">
                <a:solidFill>
                  <a:srgbClr val="3333B2"/>
                </a:solidFill>
                <a:latin typeface="Arial"/>
                <a:cs typeface="Arial"/>
              </a:rPr>
              <a:t>during </a:t>
            </a:r>
            <a:r>
              <a:rPr sz="1200" spc="-5" dirty="0">
                <a:solidFill>
                  <a:srgbClr val="3333B2"/>
                </a:solidFill>
                <a:latin typeface="Arial"/>
                <a:cs typeface="Arial"/>
              </a:rPr>
              <a:t>VM </a:t>
            </a:r>
            <a:r>
              <a:rPr sz="1200" spc="-320" dirty="0">
                <a:solidFill>
                  <a:srgbClr val="3333B2"/>
                </a:solidFill>
                <a:latin typeface="Arial"/>
                <a:cs typeface="Arial"/>
              </a:rPr>
              <a:t> </a:t>
            </a:r>
            <a:r>
              <a:rPr sz="1200" spc="-10" dirty="0">
                <a:solidFill>
                  <a:srgbClr val="3333B2"/>
                </a:solidFill>
                <a:latin typeface="Arial"/>
                <a:cs typeface="Arial"/>
              </a:rPr>
              <a:t>migration</a:t>
            </a:r>
            <a:endParaRPr sz="1200" dirty="0">
              <a:latin typeface="Arial"/>
              <a:cs typeface="Arial"/>
            </a:endParaRPr>
          </a:p>
        </p:txBody>
      </p:sp>
      <p:grpSp>
        <p:nvGrpSpPr>
          <p:cNvPr id="5" name="object 5"/>
          <p:cNvGrpSpPr/>
          <p:nvPr/>
        </p:nvGrpSpPr>
        <p:grpSpPr>
          <a:xfrm>
            <a:off x="1359835" y="1757105"/>
            <a:ext cx="2012314" cy="1176655"/>
            <a:chOff x="1359835" y="1757105"/>
            <a:chExt cx="2012314" cy="1176655"/>
          </a:xfrm>
        </p:grpSpPr>
        <p:sp>
          <p:nvSpPr>
            <p:cNvPr id="6" name="object 6"/>
            <p:cNvSpPr/>
            <p:nvPr/>
          </p:nvSpPr>
          <p:spPr>
            <a:xfrm>
              <a:off x="1365233" y="1923928"/>
              <a:ext cx="1931670" cy="949325"/>
            </a:xfrm>
            <a:custGeom>
              <a:avLst/>
              <a:gdLst/>
              <a:ahLst/>
              <a:cxnLst/>
              <a:rect l="l" t="t" r="r" b="b"/>
              <a:pathLst>
                <a:path w="1931670" h="949325">
                  <a:moveTo>
                    <a:pt x="0" y="935866"/>
                  </a:moveTo>
                  <a:lnTo>
                    <a:pt x="18467" y="920447"/>
                  </a:lnTo>
                  <a:lnTo>
                    <a:pt x="19191" y="919750"/>
                  </a:lnTo>
                  <a:lnTo>
                    <a:pt x="19917" y="919516"/>
                  </a:lnTo>
                  <a:lnTo>
                    <a:pt x="21003" y="919516"/>
                  </a:lnTo>
                  <a:lnTo>
                    <a:pt x="21728" y="919750"/>
                  </a:lnTo>
                  <a:lnTo>
                    <a:pt x="22815" y="920216"/>
                  </a:lnTo>
                  <a:lnTo>
                    <a:pt x="23177" y="920912"/>
                  </a:lnTo>
                  <a:lnTo>
                    <a:pt x="40558" y="943579"/>
                  </a:lnTo>
                  <a:lnTo>
                    <a:pt x="57213" y="944983"/>
                  </a:lnTo>
                  <a:lnTo>
                    <a:pt x="74955" y="941718"/>
                  </a:lnTo>
                  <a:lnTo>
                    <a:pt x="75685" y="941484"/>
                  </a:lnTo>
                  <a:lnTo>
                    <a:pt x="76409" y="941722"/>
                  </a:lnTo>
                  <a:lnTo>
                    <a:pt x="76767" y="941948"/>
                  </a:lnTo>
                  <a:lnTo>
                    <a:pt x="93428" y="947791"/>
                  </a:lnTo>
                  <a:lnTo>
                    <a:pt x="110083" y="934706"/>
                  </a:lnTo>
                  <a:lnTo>
                    <a:pt x="111170" y="933775"/>
                  </a:lnTo>
                  <a:lnTo>
                    <a:pt x="112620" y="933775"/>
                  </a:lnTo>
                  <a:lnTo>
                    <a:pt x="113706" y="934240"/>
                  </a:lnTo>
                  <a:lnTo>
                    <a:pt x="131091" y="942888"/>
                  </a:lnTo>
                  <a:lnTo>
                    <a:pt x="147742" y="937045"/>
                  </a:lnTo>
                  <a:lnTo>
                    <a:pt x="148829" y="936818"/>
                  </a:lnTo>
                  <a:lnTo>
                    <a:pt x="149921" y="936818"/>
                  </a:lnTo>
                  <a:lnTo>
                    <a:pt x="150645" y="937283"/>
                  </a:lnTo>
                  <a:lnTo>
                    <a:pt x="167301" y="946161"/>
                  </a:lnTo>
                  <a:lnTo>
                    <a:pt x="184318" y="939387"/>
                  </a:lnTo>
                  <a:lnTo>
                    <a:pt x="184681" y="939149"/>
                  </a:lnTo>
                  <a:lnTo>
                    <a:pt x="185410" y="939149"/>
                  </a:lnTo>
                  <a:lnTo>
                    <a:pt x="204236" y="939387"/>
                  </a:lnTo>
                  <a:lnTo>
                    <a:pt x="204602" y="939387"/>
                  </a:lnTo>
                  <a:lnTo>
                    <a:pt x="204960" y="939618"/>
                  </a:lnTo>
                  <a:lnTo>
                    <a:pt x="205327" y="939618"/>
                  </a:lnTo>
                  <a:lnTo>
                    <a:pt x="222707" y="946396"/>
                  </a:lnTo>
                  <a:lnTo>
                    <a:pt x="240816" y="942195"/>
                  </a:lnTo>
                  <a:lnTo>
                    <a:pt x="259280" y="945226"/>
                  </a:lnTo>
                  <a:lnTo>
                    <a:pt x="277746" y="945226"/>
                  </a:lnTo>
                  <a:lnTo>
                    <a:pt x="295489" y="947565"/>
                  </a:lnTo>
                  <a:lnTo>
                    <a:pt x="313236" y="943830"/>
                  </a:lnTo>
                  <a:lnTo>
                    <a:pt x="313594" y="943830"/>
                  </a:lnTo>
                  <a:lnTo>
                    <a:pt x="331704" y="942422"/>
                  </a:lnTo>
                  <a:lnTo>
                    <a:pt x="332786" y="942422"/>
                  </a:lnTo>
                  <a:lnTo>
                    <a:pt x="351261" y="945696"/>
                  </a:lnTo>
                  <a:lnTo>
                    <a:pt x="367913" y="947334"/>
                  </a:lnTo>
                  <a:lnTo>
                    <a:pt x="384940" y="931910"/>
                  </a:lnTo>
                  <a:lnTo>
                    <a:pt x="385656" y="931206"/>
                  </a:lnTo>
                  <a:lnTo>
                    <a:pt x="387109" y="930740"/>
                  </a:lnTo>
                  <a:lnTo>
                    <a:pt x="388196" y="931206"/>
                  </a:lnTo>
                  <a:lnTo>
                    <a:pt x="406301" y="935883"/>
                  </a:lnTo>
                  <a:lnTo>
                    <a:pt x="407026" y="936118"/>
                  </a:lnTo>
                  <a:lnTo>
                    <a:pt x="424769" y="944996"/>
                  </a:lnTo>
                  <a:lnTo>
                    <a:pt x="441791" y="944296"/>
                  </a:lnTo>
                  <a:lnTo>
                    <a:pt x="459896" y="941030"/>
                  </a:lnTo>
                  <a:lnTo>
                    <a:pt x="460620" y="941030"/>
                  </a:lnTo>
                  <a:lnTo>
                    <a:pt x="479088" y="941726"/>
                  </a:lnTo>
                  <a:lnTo>
                    <a:pt x="496831" y="946400"/>
                  </a:lnTo>
                  <a:lnTo>
                    <a:pt x="514573" y="944296"/>
                  </a:lnTo>
                  <a:lnTo>
                    <a:pt x="532683" y="946400"/>
                  </a:lnTo>
                  <a:lnTo>
                    <a:pt x="548972" y="931910"/>
                  </a:lnTo>
                  <a:lnTo>
                    <a:pt x="567443" y="828624"/>
                  </a:lnTo>
                  <a:lnTo>
                    <a:pt x="585548" y="720196"/>
                  </a:lnTo>
                  <a:lnTo>
                    <a:pt x="585910" y="718562"/>
                  </a:lnTo>
                  <a:lnTo>
                    <a:pt x="587364" y="717397"/>
                  </a:lnTo>
                  <a:lnTo>
                    <a:pt x="590621" y="717397"/>
                  </a:lnTo>
                  <a:lnTo>
                    <a:pt x="592071" y="718562"/>
                  </a:lnTo>
                  <a:lnTo>
                    <a:pt x="592428" y="720196"/>
                  </a:lnTo>
                  <a:lnTo>
                    <a:pt x="608001" y="808761"/>
                  </a:lnTo>
                  <a:lnTo>
                    <a:pt x="622124" y="764370"/>
                  </a:lnTo>
                  <a:lnTo>
                    <a:pt x="622487" y="762961"/>
                  </a:lnTo>
                  <a:lnTo>
                    <a:pt x="623936" y="762030"/>
                  </a:lnTo>
                  <a:lnTo>
                    <a:pt x="625019" y="762030"/>
                  </a:lnTo>
                  <a:lnTo>
                    <a:pt x="626472" y="761796"/>
                  </a:lnTo>
                  <a:lnTo>
                    <a:pt x="627917" y="762501"/>
                  </a:lnTo>
                  <a:lnTo>
                    <a:pt x="628647" y="763665"/>
                  </a:lnTo>
                  <a:lnTo>
                    <a:pt x="647109" y="799418"/>
                  </a:lnTo>
                  <a:lnTo>
                    <a:pt x="647476" y="800123"/>
                  </a:lnTo>
                  <a:lnTo>
                    <a:pt x="660875" y="857143"/>
                  </a:lnTo>
                  <a:lnTo>
                    <a:pt x="677168" y="705011"/>
                  </a:lnTo>
                  <a:lnTo>
                    <a:pt x="677168" y="704545"/>
                  </a:lnTo>
                  <a:lnTo>
                    <a:pt x="677531" y="703849"/>
                  </a:lnTo>
                  <a:lnTo>
                    <a:pt x="677893" y="703380"/>
                  </a:lnTo>
                  <a:lnTo>
                    <a:pt x="696002" y="679543"/>
                  </a:lnTo>
                  <a:lnTo>
                    <a:pt x="696727" y="678605"/>
                  </a:lnTo>
                  <a:lnTo>
                    <a:pt x="698176" y="678139"/>
                  </a:lnTo>
                  <a:lnTo>
                    <a:pt x="699259" y="678139"/>
                  </a:lnTo>
                  <a:lnTo>
                    <a:pt x="700346" y="678370"/>
                  </a:lnTo>
                  <a:lnTo>
                    <a:pt x="701433" y="679078"/>
                  </a:lnTo>
                  <a:lnTo>
                    <a:pt x="701795" y="680247"/>
                  </a:lnTo>
                  <a:lnTo>
                    <a:pt x="716282" y="715535"/>
                  </a:lnTo>
                  <a:lnTo>
                    <a:pt x="732216" y="631175"/>
                  </a:lnTo>
                  <a:lnTo>
                    <a:pt x="732578" y="629770"/>
                  </a:lnTo>
                  <a:lnTo>
                    <a:pt x="734024" y="628605"/>
                  </a:lnTo>
                  <a:lnTo>
                    <a:pt x="737289" y="628605"/>
                  </a:lnTo>
                  <a:lnTo>
                    <a:pt x="738738" y="629770"/>
                  </a:lnTo>
                  <a:lnTo>
                    <a:pt x="739101" y="631405"/>
                  </a:lnTo>
                  <a:lnTo>
                    <a:pt x="753586" y="731186"/>
                  </a:lnTo>
                  <a:lnTo>
                    <a:pt x="768793" y="592852"/>
                  </a:lnTo>
                  <a:lnTo>
                    <a:pt x="768793" y="591214"/>
                  </a:lnTo>
                  <a:lnTo>
                    <a:pt x="770242" y="590048"/>
                  </a:lnTo>
                </a:path>
                <a:path w="1931670" h="949325">
                  <a:moveTo>
                    <a:pt x="770205" y="590019"/>
                  </a:moveTo>
                  <a:lnTo>
                    <a:pt x="772017" y="590019"/>
                  </a:lnTo>
                  <a:lnTo>
                    <a:pt x="773824" y="589788"/>
                  </a:lnTo>
                  <a:lnTo>
                    <a:pt x="775277" y="591188"/>
                  </a:lnTo>
                  <a:lnTo>
                    <a:pt x="775644" y="592827"/>
                  </a:lnTo>
                  <a:lnTo>
                    <a:pt x="790851" y="686770"/>
                  </a:lnTo>
                  <a:lnTo>
                    <a:pt x="805699" y="628814"/>
                  </a:lnTo>
                  <a:lnTo>
                    <a:pt x="806056" y="627415"/>
                  </a:lnTo>
                  <a:lnTo>
                    <a:pt x="807510" y="626241"/>
                  </a:lnTo>
                  <a:lnTo>
                    <a:pt x="809322" y="626241"/>
                  </a:lnTo>
                  <a:lnTo>
                    <a:pt x="810767" y="626481"/>
                  </a:lnTo>
                  <a:lnTo>
                    <a:pt x="812216" y="627650"/>
                  </a:lnTo>
                  <a:lnTo>
                    <a:pt x="812216" y="629280"/>
                  </a:lnTo>
                  <a:lnTo>
                    <a:pt x="829959" y="759911"/>
                  </a:lnTo>
                  <a:lnTo>
                    <a:pt x="842271" y="756406"/>
                  </a:lnTo>
                  <a:lnTo>
                    <a:pt x="860380" y="572268"/>
                  </a:lnTo>
                  <a:lnTo>
                    <a:pt x="860380" y="570864"/>
                  </a:lnTo>
                  <a:lnTo>
                    <a:pt x="861825" y="569691"/>
                  </a:lnTo>
                  <a:lnTo>
                    <a:pt x="863279" y="569460"/>
                  </a:lnTo>
                  <a:lnTo>
                    <a:pt x="864728" y="569225"/>
                  </a:lnTo>
                  <a:lnTo>
                    <a:pt x="866535" y="570164"/>
                  </a:lnTo>
                  <a:lnTo>
                    <a:pt x="866898" y="571568"/>
                  </a:lnTo>
                  <a:lnTo>
                    <a:pt x="882471" y="615264"/>
                  </a:lnTo>
                  <a:lnTo>
                    <a:pt x="897319" y="575303"/>
                  </a:lnTo>
                  <a:lnTo>
                    <a:pt x="897676" y="573668"/>
                  </a:lnTo>
                  <a:lnTo>
                    <a:pt x="899488" y="572968"/>
                  </a:lnTo>
                  <a:lnTo>
                    <a:pt x="900942" y="573207"/>
                  </a:lnTo>
                  <a:lnTo>
                    <a:pt x="902387" y="573207"/>
                  </a:lnTo>
                  <a:lnTo>
                    <a:pt x="903836" y="574603"/>
                  </a:lnTo>
                  <a:lnTo>
                    <a:pt x="903836" y="576007"/>
                  </a:lnTo>
                  <a:lnTo>
                    <a:pt x="918681" y="743090"/>
                  </a:lnTo>
                  <a:lnTo>
                    <a:pt x="933534" y="571337"/>
                  </a:lnTo>
                  <a:lnTo>
                    <a:pt x="933534" y="570173"/>
                  </a:lnTo>
                  <a:lnTo>
                    <a:pt x="934250" y="569234"/>
                  </a:lnTo>
                  <a:lnTo>
                    <a:pt x="935347" y="568764"/>
                  </a:lnTo>
                  <a:lnTo>
                    <a:pt x="936432" y="568069"/>
                  </a:lnTo>
                  <a:lnTo>
                    <a:pt x="937877" y="568069"/>
                  </a:lnTo>
                  <a:lnTo>
                    <a:pt x="938604" y="568764"/>
                  </a:lnTo>
                  <a:lnTo>
                    <a:pt x="956713" y="579050"/>
                  </a:lnTo>
                  <a:lnTo>
                    <a:pt x="970828" y="579050"/>
                  </a:lnTo>
                  <a:lnTo>
                    <a:pt x="988579" y="485342"/>
                  </a:lnTo>
                  <a:lnTo>
                    <a:pt x="988937" y="483707"/>
                  </a:lnTo>
                  <a:lnTo>
                    <a:pt x="990392" y="482538"/>
                  </a:lnTo>
                  <a:lnTo>
                    <a:pt x="992194" y="482773"/>
                  </a:lnTo>
                  <a:lnTo>
                    <a:pt x="994007" y="482773"/>
                  </a:lnTo>
                  <a:lnTo>
                    <a:pt x="995451" y="483942"/>
                  </a:lnTo>
                  <a:lnTo>
                    <a:pt x="995451" y="485581"/>
                  </a:lnTo>
                  <a:lnTo>
                    <a:pt x="1011748" y="625784"/>
                  </a:lnTo>
                  <a:lnTo>
                    <a:pt x="1025514" y="579515"/>
                  </a:lnTo>
                  <a:lnTo>
                    <a:pt x="1025873" y="578584"/>
                  </a:lnTo>
                  <a:lnTo>
                    <a:pt x="1026600" y="577885"/>
                  </a:lnTo>
                  <a:lnTo>
                    <a:pt x="1027686" y="577415"/>
                  </a:lnTo>
                  <a:lnTo>
                    <a:pt x="1028413" y="576950"/>
                  </a:lnTo>
                  <a:lnTo>
                    <a:pt x="1029499" y="576950"/>
                  </a:lnTo>
                  <a:lnTo>
                    <a:pt x="1030585" y="577420"/>
                  </a:lnTo>
                  <a:lnTo>
                    <a:pt x="1048694" y="586300"/>
                  </a:lnTo>
                  <a:lnTo>
                    <a:pt x="1049052" y="586531"/>
                  </a:lnTo>
                  <a:lnTo>
                    <a:pt x="1049421" y="586531"/>
                  </a:lnTo>
                  <a:lnTo>
                    <a:pt x="1049421" y="586997"/>
                  </a:lnTo>
                  <a:lnTo>
                    <a:pt x="1067889" y="604060"/>
                  </a:lnTo>
                  <a:lnTo>
                    <a:pt x="1068248" y="604760"/>
                  </a:lnTo>
                  <a:lnTo>
                    <a:pt x="1068606" y="605460"/>
                  </a:lnTo>
                  <a:lnTo>
                    <a:pt x="1068975" y="606164"/>
                  </a:lnTo>
                  <a:lnTo>
                    <a:pt x="1087074" y="745672"/>
                  </a:lnTo>
                  <a:lnTo>
                    <a:pt x="1100113" y="803161"/>
                  </a:lnTo>
                  <a:lnTo>
                    <a:pt x="1117126" y="470395"/>
                  </a:lnTo>
                  <a:lnTo>
                    <a:pt x="1117126" y="468526"/>
                  </a:lnTo>
                  <a:lnTo>
                    <a:pt x="1118581" y="467122"/>
                  </a:lnTo>
                  <a:lnTo>
                    <a:pt x="1122207" y="467122"/>
                  </a:lnTo>
                  <a:lnTo>
                    <a:pt x="1123651" y="468526"/>
                  </a:lnTo>
                  <a:lnTo>
                    <a:pt x="1124020" y="470399"/>
                  </a:lnTo>
                  <a:lnTo>
                    <a:pt x="1139589" y="685383"/>
                  </a:lnTo>
                  <a:lnTo>
                    <a:pt x="1153714" y="581162"/>
                  </a:lnTo>
                  <a:lnTo>
                    <a:pt x="1153714" y="579528"/>
                  </a:lnTo>
                  <a:lnTo>
                    <a:pt x="1155158" y="578358"/>
                  </a:lnTo>
                  <a:lnTo>
                    <a:pt x="1156971" y="578124"/>
                  </a:lnTo>
                  <a:lnTo>
                    <a:pt x="1158426" y="578124"/>
                  </a:lnTo>
                  <a:lnTo>
                    <a:pt x="1159870" y="579289"/>
                  </a:lnTo>
                  <a:lnTo>
                    <a:pt x="1160228" y="580932"/>
                  </a:lnTo>
                  <a:lnTo>
                    <a:pt x="1179055" y="668332"/>
                  </a:lnTo>
                  <a:lnTo>
                    <a:pt x="1179055" y="668558"/>
                  </a:lnTo>
                  <a:lnTo>
                    <a:pt x="1194993" y="774655"/>
                  </a:lnTo>
                  <a:lnTo>
                    <a:pt x="1208749" y="730256"/>
                  </a:lnTo>
                  <a:lnTo>
                    <a:pt x="1209476" y="728386"/>
                  </a:lnTo>
                  <a:lnTo>
                    <a:pt x="1211289" y="727448"/>
                  </a:lnTo>
                  <a:lnTo>
                    <a:pt x="1213102" y="727917"/>
                  </a:lnTo>
                  <a:lnTo>
                    <a:pt x="1214915" y="728386"/>
                  </a:lnTo>
                  <a:lnTo>
                    <a:pt x="1216001" y="730256"/>
                  </a:lnTo>
                </a:path>
                <a:path w="1931670" h="949325">
                  <a:moveTo>
                    <a:pt x="1288786" y="175499"/>
                  </a:moveTo>
                  <a:lnTo>
                    <a:pt x="1301815" y="235315"/>
                  </a:lnTo>
                  <a:lnTo>
                    <a:pt x="1318839" y="3267"/>
                  </a:lnTo>
                  <a:lnTo>
                    <a:pt x="1318839" y="1401"/>
                  </a:lnTo>
                  <a:lnTo>
                    <a:pt x="1320652" y="0"/>
                  </a:lnTo>
                  <a:lnTo>
                    <a:pt x="1322465" y="242"/>
                  </a:lnTo>
                  <a:lnTo>
                    <a:pt x="1324278" y="242"/>
                  </a:lnTo>
                  <a:lnTo>
                    <a:pt x="1325722" y="1633"/>
                  </a:lnTo>
                  <a:lnTo>
                    <a:pt x="1325722" y="3267"/>
                  </a:lnTo>
                  <a:lnTo>
                    <a:pt x="1343831" y="801766"/>
                  </a:lnTo>
                  <a:lnTo>
                    <a:pt x="1361941" y="940335"/>
                  </a:lnTo>
                  <a:lnTo>
                    <a:pt x="1397422" y="948751"/>
                  </a:lnTo>
                  <a:lnTo>
                    <a:pt x="1414446" y="940573"/>
                  </a:lnTo>
                  <a:lnTo>
                    <a:pt x="1449927" y="945012"/>
                  </a:lnTo>
                  <a:lnTo>
                    <a:pt x="1468036" y="939639"/>
                  </a:lnTo>
                  <a:lnTo>
                    <a:pt x="1468763" y="939404"/>
                  </a:lnTo>
                </a:path>
                <a:path w="1931670" h="949325">
                  <a:moveTo>
                    <a:pt x="1468711" y="939375"/>
                  </a:moveTo>
                  <a:lnTo>
                    <a:pt x="1469438" y="939375"/>
                  </a:lnTo>
                  <a:lnTo>
                    <a:pt x="1470165" y="939614"/>
                  </a:lnTo>
                  <a:lnTo>
                    <a:pt x="1486462" y="946622"/>
                  </a:lnTo>
                  <a:lnTo>
                    <a:pt x="1503117" y="934237"/>
                  </a:lnTo>
                  <a:lnTo>
                    <a:pt x="1504202" y="933537"/>
                  </a:lnTo>
                  <a:lnTo>
                    <a:pt x="1505288" y="933306"/>
                  </a:lnTo>
                  <a:lnTo>
                    <a:pt x="1506374" y="933771"/>
                  </a:lnTo>
                  <a:lnTo>
                    <a:pt x="1524483" y="939149"/>
                  </a:lnTo>
                  <a:lnTo>
                    <a:pt x="1525210" y="939379"/>
                  </a:lnTo>
                  <a:lnTo>
                    <a:pt x="1541496" y="947556"/>
                  </a:lnTo>
                  <a:lnTo>
                    <a:pt x="1558162" y="932602"/>
                  </a:lnTo>
                  <a:lnTo>
                    <a:pt x="1559247" y="931663"/>
                  </a:lnTo>
                  <a:lnTo>
                    <a:pt x="1560691" y="931436"/>
                  </a:lnTo>
                  <a:lnTo>
                    <a:pt x="1561777" y="931902"/>
                  </a:lnTo>
                  <a:lnTo>
                    <a:pt x="1579528" y="939614"/>
                  </a:lnTo>
                  <a:lnTo>
                    <a:pt x="1597269" y="942888"/>
                  </a:lnTo>
                  <a:lnTo>
                    <a:pt x="1615378" y="944992"/>
                  </a:lnTo>
                  <a:lnTo>
                    <a:pt x="1633488" y="943817"/>
                  </a:lnTo>
                  <a:lnTo>
                    <a:pt x="1651587" y="944292"/>
                  </a:lnTo>
                  <a:lnTo>
                    <a:pt x="1669685" y="946861"/>
                  </a:lnTo>
                  <a:lnTo>
                    <a:pt x="1687795" y="948491"/>
                  </a:lnTo>
                  <a:lnTo>
                    <a:pt x="1705546" y="940557"/>
                  </a:lnTo>
                  <a:lnTo>
                    <a:pt x="1706273" y="940318"/>
                  </a:lnTo>
                  <a:lnTo>
                    <a:pt x="1706990" y="940083"/>
                  </a:lnTo>
                  <a:lnTo>
                    <a:pt x="1707359" y="940083"/>
                  </a:lnTo>
                  <a:lnTo>
                    <a:pt x="1725827" y="941957"/>
                  </a:lnTo>
                  <a:lnTo>
                    <a:pt x="1726185" y="942195"/>
                  </a:lnTo>
                  <a:lnTo>
                    <a:pt x="1743209" y="947327"/>
                  </a:lnTo>
                  <a:lnTo>
                    <a:pt x="1759864" y="936583"/>
                  </a:lnTo>
                  <a:lnTo>
                    <a:pt x="1760591" y="936348"/>
                  </a:lnTo>
                  <a:lnTo>
                    <a:pt x="1761318" y="936118"/>
                  </a:lnTo>
                  <a:lnTo>
                    <a:pt x="1762035" y="936118"/>
                  </a:lnTo>
                  <a:lnTo>
                    <a:pt x="1780513" y="936818"/>
                  </a:lnTo>
                  <a:lnTo>
                    <a:pt x="1798612" y="936583"/>
                  </a:lnTo>
                  <a:lnTo>
                    <a:pt x="1799340" y="936583"/>
                  </a:lnTo>
                  <a:lnTo>
                    <a:pt x="1799698" y="936818"/>
                  </a:lnTo>
                  <a:lnTo>
                    <a:pt x="1817808" y="943126"/>
                  </a:lnTo>
                  <a:lnTo>
                    <a:pt x="1835190" y="945230"/>
                  </a:lnTo>
                  <a:lnTo>
                    <a:pt x="1853299" y="944996"/>
                  </a:lnTo>
                  <a:lnTo>
                    <a:pt x="1870312" y="942195"/>
                  </a:lnTo>
                  <a:lnTo>
                    <a:pt x="1887694" y="923033"/>
                  </a:lnTo>
                  <a:lnTo>
                    <a:pt x="1888422" y="922102"/>
                  </a:lnTo>
                  <a:lnTo>
                    <a:pt x="1889507" y="921863"/>
                  </a:lnTo>
                  <a:lnTo>
                    <a:pt x="1891689" y="921863"/>
                  </a:lnTo>
                  <a:lnTo>
                    <a:pt x="1892406" y="922567"/>
                  </a:lnTo>
                  <a:lnTo>
                    <a:pt x="1893134" y="923267"/>
                  </a:lnTo>
                  <a:lnTo>
                    <a:pt x="1909430" y="948273"/>
                  </a:lnTo>
                  <a:lnTo>
                    <a:pt x="1925357" y="939153"/>
                  </a:lnTo>
                  <a:lnTo>
                    <a:pt x="1926812" y="938222"/>
                  </a:lnTo>
                  <a:lnTo>
                    <a:pt x="1928994" y="938691"/>
                  </a:lnTo>
                  <a:lnTo>
                    <a:pt x="1930080" y="940322"/>
                  </a:lnTo>
                  <a:lnTo>
                    <a:pt x="1931155" y="941961"/>
                  </a:lnTo>
                </a:path>
              </a:pathLst>
            </a:custGeom>
            <a:ln w="10541">
              <a:solidFill>
                <a:srgbClr val="231F20"/>
              </a:solidFill>
            </a:ln>
          </p:spPr>
          <p:txBody>
            <a:bodyPr wrap="square" lIns="0" tIns="0" rIns="0" bIns="0" rtlCol="0"/>
            <a:lstStyle/>
            <a:p>
              <a:endParaRPr/>
            </a:p>
          </p:txBody>
        </p:sp>
        <p:sp>
          <p:nvSpPr>
            <p:cNvPr id="7" name="object 7"/>
            <p:cNvSpPr/>
            <p:nvPr/>
          </p:nvSpPr>
          <p:spPr>
            <a:xfrm>
              <a:off x="1365991" y="1759963"/>
              <a:ext cx="2003425" cy="1170940"/>
            </a:xfrm>
            <a:custGeom>
              <a:avLst/>
              <a:gdLst/>
              <a:ahLst/>
              <a:cxnLst/>
              <a:rect l="l" t="t" r="r" b="b"/>
              <a:pathLst>
                <a:path w="2003425" h="1170939">
                  <a:moveTo>
                    <a:pt x="0" y="29936"/>
                  </a:moveTo>
                  <a:lnTo>
                    <a:pt x="0" y="1168439"/>
                  </a:lnTo>
                  <a:lnTo>
                    <a:pt x="2002919" y="1168439"/>
                  </a:lnTo>
                </a:path>
                <a:path w="2003425" h="1170939">
                  <a:moveTo>
                    <a:pt x="548173" y="0"/>
                  </a:moveTo>
                  <a:lnTo>
                    <a:pt x="548173" y="1167080"/>
                  </a:lnTo>
                </a:path>
                <a:path w="2003425" h="1170939">
                  <a:moveTo>
                    <a:pt x="1370427" y="0"/>
                  </a:moveTo>
                  <a:lnTo>
                    <a:pt x="1370427" y="1167080"/>
                  </a:lnTo>
                </a:path>
                <a:path w="2003425" h="1170939">
                  <a:moveTo>
                    <a:pt x="1212608" y="221898"/>
                  </a:moveTo>
                  <a:lnTo>
                    <a:pt x="1212608" y="1170646"/>
                  </a:lnTo>
                </a:path>
                <a:path w="2003425" h="1170939">
                  <a:moveTo>
                    <a:pt x="1286405" y="221898"/>
                  </a:moveTo>
                  <a:lnTo>
                    <a:pt x="1286405" y="1170646"/>
                  </a:lnTo>
                </a:path>
                <a:path w="2003425" h="1170939">
                  <a:moveTo>
                    <a:pt x="585548" y="42163"/>
                  </a:moveTo>
                  <a:lnTo>
                    <a:pt x="1333049" y="42163"/>
                  </a:lnTo>
                </a:path>
              </a:pathLst>
            </a:custGeom>
            <a:ln w="5270">
              <a:solidFill>
                <a:srgbClr val="231F20"/>
              </a:solidFill>
            </a:ln>
          </p:spPr>
          <p:txBody>
            <a:bodyPr wrap="square" lIns="0" tIns="0" rIns="0" bIns="0" rtlCol="0"/>
            <a:lstStyle/>
            <a:p>
              <a:endParaRPr/>
            </a:p>
          </p:txBody>
        </p:sp>
        <p:pic>
          <p:nvPicPr>
            <p:cNvPr id="8" name="object 8"/>
            <p:cNvPicPr/>
            <p:nvPr/>
          </p:nvPicPr>
          <p:blipFill>
            <a:blip r:embed="rId6" cstate="print"/>
            <a:stretch>
              <a:fillRect/>
            </a:stretch>
          </p:blipFill>
          <p:spPr>
            <a:xfrm>
              <a:off x="1914160" y="1770251"/>
              <a:ext cx="74375" cy="63751"/>
            </a:xfrm>
            <a:prstGeom prst="rect">
              <a:avLst/>
            </a:prstGeom>
          </p:spPr>
        </p:pic>
        <p:pic>
          <p:nvPicPr>
            <p:cNvPr id="9" name="object 9"/>
            <p:cNvPicPr/>
            <p:nvPr/>
          </p:nvPicPr>
          <p:blipFill>
            <a:blip r:embed="rId7" cstate="print"/>
            <a:stretch>
              <a:fillRect/>
            </a:stretch>
          </p:blipFill>
          <p:spPr>
            <a:xfrm>
              <a:off x="2662031" y="1770251"/>
              <a:ext cx="74387" cy="63751"/>
            </a:xfrm>
            <a:prstGeom prst="rect">
              <a:avLst/>
            </a:prstGeom>
          </p:spPr>
        </p:pic>
        <p:sp>
          <p:nvSpPr>
            <p:cNvPr id="10" name="object 10"/>
            <p:cNvSpPr/>
            <p:nvPr/>
          </p:nvSpPr>
          <p:spPr>
            <a:xfrm>
              <a:off x="2578283" y="2055130"/>
              <a:ext cx="74295" cy="0"/>
            </a:xfrm>
            <a:custGeom>
              <a:avLst/>
              <a:gdLst/>
              <a:ahLst/>
              <a:cxnLst/>
              <a:rect l="l" t="t" r="r" b="b"/>
              <a:pathLst>
                <a:path w="74294">
                  <a:moveTo>
                    <a:pt x="0" y="0"/>
                  </a:moveTo>
                  <a:lnTo>
                    <a:pt x="74113" y="0"/>
                  </a:lnTo>
                </a:path>
              </a:pathLst>
            </a:custGeom>
            <a:ln w="5270">
              <a:solidFill>
                <a:srgbClr val="231F20"/>
              </a:solidFill>
            </a:ln>
          </p:spPr>
          <p:txBody>
            <a:bodyPr wrap="square" lIns="0" tIns="0" rIns="0" bIns="0" rtlCol="0"/>
            <a:lstStyle/>
            <a:p>
              <a:endParaRPr/>
            </a:p>
          </p:txBody>
        </p:sp>
      </p:grpSp>
      <p:sp>
        <p:nvSpPr>
          <p:cNvPr id="11" name="object 11"/>
          <p:cNvSpPr txBox="1"/>
          <p:nvPr/>
        </p:nvSpPr>
        <p:spPr>
          <a:xfrm>
            <a:off x="2892375" y="2948035"/>
            <a:ext cx="210185" cy="127000"/>
          </a:xfrm>
          <a:prstGeom prst="rect">
            <a:avLst/>
          </a:prstGeom>
        </p:spPr>
        <p:txBody>
          <a:bodyPr vert="horz" wrap="square" lIns="0" tIns="13970" rIns="0" bIns="0" rtlCol="0">
            <a:spAutoFit/>
          </a:bodyPr>
          <a:lstStyle/>
          <a:p>
            <a:pPr marL="12700">
              <a:lnSpc>
                <a:spcPct val="100000"/>
              </a:lnSpc>
              <a:spcBef>
                <a:spcPts val="110"/>
              </a:spcBef>
            </a:pPr>
            <a:r>
              <a:rPr sz="650" spc="-20" dirty="0">
                <a:solidFill>
                  <a:srgbClr val="231F20"/>
                </a:solidFill>
                <a:latin typeface="Arial"/>
                <a:cs typeface="Arial"/>
              </a:rPr>
              <a:t>T</a:t>
            </a:r>
            <a:r>
              <a:rPr sz="650" spc="5" dirty="0">
                <a:solidFill>
                  <a:srgbClr val="231F20"/>
                </a:solidFill>
                <a:latin typeface="Arial"/>
                <a:cs typeface="Arial"/>
              </a:rPr>
              <a:t>ime</a:t>
            </a:r>
            <a:endParaRPr sz="650">
              <a:latin typeface="Arial"/>
              <a:cs typeface="Arial"/>
            </a:endParaRPr>
          </a:p>
        </p:txBody>
      </p:sp>
      <p:sp>
        <p:nvSpPr>
          <p:cNvPr id="12" name="object 12"/>
          <p:cNvSpPr txBox="1"/>
          <p:nvPr/>
        </p:nvSpPr>
        <p:spPr>
          <a:xfrm>
            <a:off x="1964710" y="1676808"/>
            <a:ext cx="548005" cy="376555"/>
          </a:xfrm>
          <a:prstGeom prst="rect">
            <a:avLst/>
          </a:prstGeom>
        </p:spPr>
        <p:txBody>
          <a:bodyPr vert="horz" wrap="square" lIns="0" tIns="13970" rIns="0" bIns="0" rtlCol="0">
            <a:spAutoFit/>
          </a:bodyPr>
          <a:lstStyle/>
          <a:p>
            <a:pPr marL="187960">
              <a:lnSpc>
                <a:spcPct val="100000"/>
              </a:lnSpc>
              <a:spcBef>
                <a:spcPts val="110"/>
              </a:spcBef>
            </a:pPr>
            <a:r>
              <a:rPr sz="650" spc="5" dirty="0">
                <a:solidFill>
                  <a:srgbClr val="231F20"/>
                </a:solidFill>
                <a:latin typeface="Arial"/>
                <a:cs typeface="Arial"/>
              </a:rPr>
              <a:t>Migration</a:t>
            </a:r>
            <a:endParaRPr sz="650">
              <a:latin typeface="Arial"/>
              <a:cs typeface="Arial"/>
            </a:endParaRPr>
          </a:p>
          <a:p>
            <a:pPr>
              <a:lnSpc>
                <a:spcPct val="100000"/>
              </a:lnSpc>
            </a:pPr>
            <a:endParaRPr sz="600">
              <a:latin typeface="Arial"/>
              <a:cs typeface="Arial"/>
            </a:endParaRPr>
          </a:p>
          <a:p>
            <a:pPr marL="12700">
              <a:lnSpc>
                <a:spcPct val="100000"/>
              </a:lnSpc>
              <a:spcBef>
                <a:spcPts val="500"/>
              </a:spcBef>
            </a:pPr>
            <a:r>
              <a:rPr sz="650" spc="5" dirty="0">
                <a:solidFill>
                  <a:srgbClr val="231F20"/>
                </a:solidFill>
                <a:latin typeface="Arial"/>
                <a:cs typeface="Arial"/>
              </a:rPr>
              <a:t>Downtime</a:t>
            </a:r>
            <a:endParaRPr sz="650">
              <a:latin typeface="Arial"/>
              <a:cs typeface="Arial"/>
            </a:endParaRPr>
          </a:p>
        </p:txBody>
      </p:sp>
      <p:grpSp>
        <p:nvGrpSpPr>
          <p:cNvPr id="13" name="object 13"/>
          <p:cNvGrpSpPr/>
          <p:nvPr/>
        </p:nvGrpSpPr>
        <p:grpSpPr>
          <a:xfrm>
            <a:off x="2280478" y="1862746"/>
            <a:ext cx="367030" cy="200025"/>
            <a:chOff x="2280478" y="1862746"/>
            <a:chExt cx="367030" cy="200025"/>
          </a:xfrm>
        </p:grpSpPr>
        <p:sp>
          <p:nvSpPr>
            <p:cNvPr id="14" name="object 14"/>
            <p:cNvSpPr/>
            <p:nvPr/>
          </p:nvSpPr>
          <p:spPr>
            <a:xfrm>
              <a:off x="2283114" y="1865382"/>
              <a:ext cx="337820" cy="151765"/>
            </a:xfrm>
            <a:custGeom>
              <a:avLst/>
              <a:gdLst/>
              <a:ahLst/>
              <a:cxnLst/>
              <a:rect l="l" t="t" r="r" b="b"/>
              <a:pathLst>
                <a:path w="337819" h="151764">
                  <a:moveTo>
                    <a:pt x="0" y="56332"/>
                  </a:moveTo>
                  <a:lnTo>
                    <a:pt x="181679" y="0"/>
                  </a:lnTo>
                  <a:lnTo>
                    <a:pt x="283307" y="40518"/>
                  </a:lnTo>
                  <a:lnTo>
                    <a:pt x="327615" y="112661"/>
                  </a:lnTo>
                  <a:lnTo>
                    <a:pt x="337333" y="151203"/>
                  </a:lnTo>
                </a:path>
              </a:pathLst>
            </a:custGeom>
            <a:ln w="5270">
              <a:solidFill>
                <a:srgbClr val="231F20"/>
              </a:solidFill>
            </a:ln>
          </p:spPr>
          <p:txBody>
            <a:bodyPr wrap="square" lIns="0" tIns="0" rIns="0" bIns="0" rtlCol="0"/>
            <a:lstStyle/>
            <a:p>
              <a:endParaRPr/>
            </a:p>
          </p:txBody>
        </p:sp>
        <p:sp>
          <p:nvSpPr>
            <p:cNvPr id="15" name="object 15"/>
            <p:cNvSpPr/>
            <p:nvPr/>
          </p:nvSpPr>
          <p:spPr>
            <a:xfrm>
              <a:off x="2592344" y="2008930"/>
              <a:ext cx="55244" cy="53975"/>
            </a:xfrm>
            <a:custGeom>
              <a:avLst/>
              <a:gdLst/>
              <a:ahLst/>
              <a:cxnLst/>
              <a:rect l="l" t="t" r="r" b="b"/>
              <a:pathLst>
                <a:path w="55244" h="53975">
                  <a:moveTo>
                    <a:pt x="55161" y="0"/>
                  </a:moveTo>
                  <a:lnTo>
                    <a:pt x="0" y="6616"/>
                  </a:lnTo>
                  <a:lnTo>
                    <a:pt x="33594" y="53441"/>
                  </a:lnTo>
                  <a:lnTo>
                    <a:pt x="55161" y="0"/>
                  </a:lnTo>
                  <a:close/>
                </a:path>
              </a:pathLst>
            </a:custGeom>
            <a:solidFill>
              <a:srgbClr val="231F20"/>
            </a:solidFill>
          </p:spPr>
          <p:txBody>
            <a:bodyPr wrap="square" lIns="0" tIns="0" rIns="0" bIns="0" rtlCol="0"/>
            <a:lstStyle/>
            <a:p>
              <a:endParaRPr/>
            </a:p>
          </p:txBody>
        </p:sp>
      </p:grpSp>
      <p:sp>
        <p:nvSpPr>
          <p:cNvPr id="16" name="object 16"/>
          <p:cNvSpPr txBox="1"/>
          <p:nvPr/>
        </p:nvSpPr>
        <p:spPr>
          <a:xfrm>
            <a:off x="1221952" y="2059849"/>
            <a:ext cx="109855" cy="588010"/>
          </a:xfrm>
          <a:prstGeom prst="rect">
            <a:avLst/>
          </a:prstGeom>
        </p:spPr>
        <p:txBody>
          <a:bodyPr vert="vert270" wrap="square" lIns="0" tIns="0" rIns="0" bIns="0" rtlCol="0">
            <a:spAutoFit/>
          </a:bodyPr>
          <a:lstStyle/>
          <a:p>
            <a:pPr marL="12700">
              <a:lnSpc>
                <a:spcPts val="745"/>
              </a:lnSpc>
            </a:pPr>
            <a:r>
              <a:rPr sz="650" spc="5" dirty="0">
                <a:solidFill>
                  <a:srgbClr val="231F20"/>
                </a:solidFill>
                <a:latin typeface="Arial"/>
                <a:cs typeface="Arial"/>
              </a:rPr>
              <a:t>Response</a:t>
            </a:r>
            <a:r>
              <a:rPr sz="650" spc="-45" dirty="0">
                <a:solidFill>
                  <a:srgbClr val="231F20"/>
                </a:solidFill>
                <a:latin typeface="Arial"/>
                <a:cs typeface="Arial"/>
              </a:rPr>
              <a:t> </a:t>
            </a:r>
            <a:r>
              <a:rPr sz="650" spc="5" dirty="0">
                <a:solidFill>
                  <a:srgbClr val="231F20"/>
                </a:solidFill>
                <a:latin typeface="Arial"/>
                <a:cs typeface="Arial"/>
              </a:rPr>
              <a:t>time</a:t>
            </a:r>
            <a:endParaRPr sz="650">
              <a:latin typeface="Arial"/>
              <a:cs typeface="Arial"/>
            </a:endParaRPr>
          </a:p>
        </p:txBody>
      </p:sp>
      <p:grpSp>
        <p:nvGrpSpPr>
          <p:cNvPr id="17" name="object 17"/>
          <p:cNvGrpSpPr/>
          <p:nvPr/>
        </p:nvGrpSpPr>
        <p:grpSpPr>
          <a:xfrm>
            <a:off x="3136987" y="2993085"/>
            <a:ext cx="147955" cy="64135"/>
            <a:chOff x="3136987" y="2993085"/>
            <a:chExt cx="147955" cy="64135"/>
          </a:xfrm>
        </p:grpSpPr>
        <p:sp>
          <p:nvSpPr>
            <p:cNvPr id="18" name="object 18"/>
            <p:cNvSpPr/>
            <p:nvPr/>
          </p:nvSpPr>
          <p:spPr>
            <a:xfrm>
              <a:off x="3136987" y="3024964"/>
              <a:ext cx="110489" cy="0"/>
            </a:xfrm>
            <a:custGeom>
              <a:avLst/>
              <a:gdLst/>
              <a:ahLst/>
              <a:cxnLst/>
              <a:rect l="l" t="t" r="r" b="b"/>
              <a:pathLst>
                <a:path w="110489">
                  <a:moveTo>
                    <a:pt x="0" y="0"/>
                  </a:moveTo>
                  <a:lnTo>
                    <a:pt x="110206" y="0"/>
                  </a:lnTo>
                </a:path>
              </a:pathLst>
            </a:custGeom>
            <a:ln w="5270">
              <a:solidFill>
                <a:srgbClr val="231F20"/>
              </a:solidFill>
            </a:ln>
          </p:spPr>
          <p:txBody>
            <a:bodyPr wrap="square" lIns="0" tIns="0" rIns="0" bIns="0" rtlCol="0"/>
            <a:lstStyle/>
            <a:p>
              <a:endParaRPr/>
            </a:p>
          </p:txBody>
        </p:sp>
        <p:sp>
          <p:nvSpPr>
            <p:cNvPr id="19" name="object 19"/>
            <p:cNvSpPr/>
            <p:nvPr/>
          </p:nvSpPr>
          <p:spPr>
            <a:xfrm>
              <a:off x="3210195" y="2993085"/>
              <a:ext cx="74930" cy="64135"/>
            </a:xfrm>
            <a:custGeom>
              <a:avLst/>
              <a:gdLst/>
              <a:ahLst/>
              <a:cxnLst/>
              <a:rect l="l" t="t" r="r" b="b"/>
              <a:pathLst>
                <a:path w="74929" h="64135">
                  <a:moveTo>
                    <a:pt x="0" y="0"/>
                  </a:moveTo>
                  <a:lnTo>
                    <a:pt x="5976" y="15938"/>
                  </a:lnTo>
                  <a:lnTo>
                    <a:pt x="7968" y="31876"/>
                  </a:lnTo>
                  <a:lnTo>
                    <a:pt x="5976" y="47814"/>
                  </a:lnTo>
                  <a:lnTo>
                    <a:pt x="0" y="63752"/>
                  </a:lnTo>
                  <a:lnTo>
                    <a:pt x="74377" y="31878"/>
                  </a:lnTo>
                  <a:lnTo>
                    <a:pt x="0" y="0"/>
                  </a:lnTo>
                  <a:close/>
                </a:path>
              </a:pathLst>
            </a:custGeom>
            <a:solidFill>
              <a:srgbClr val="231F20"/>
            </a:solidFill>
          </p:spPr>
          <p:txBody>
            <a:bodyPr wrap="square" lIns="0" tIns="0" rIns="0" bIns="0" rtlCol="0"/>
            <a:lstStyle/>
            <a:p>
              <a:endParaRPr/>
            </a:p>
          </p:txBody>
        </p:sp>
      </p:grpSp>
      <p:grpSp>
        <p:nvGrpSpPr>
          <p:cNvPr id="20" name="object 20"/>
          <p:cNvGrpSpPr/>
          <p:nvPr/>
        </p:nvGrpSpPr>
        <p:grpSpPr>
          <a:xfrm>
            <a:off x="1239239" y="1875924"/>
            <a:ext cx="64135" cy="137160"/>
            <a:chOff x="1239239" y="1875924"/>
            <a:chExt cx="64135" cy="137160"/>
          </a:xfrm>
        </p:grpSpPr>
        <p:sp>
          <p:nvSpPr>
            <p:cNvPr id="21" name="object 21"/>
            <p:cNvSpPr/>
            <p:nvPr/>
          </p:nvSpPr>
          <p:spPr>
            <a:xfrm>
              <a:off x="1271117" y="1913303"/>
              <a:ext cx="0" cy="99695"/>
            </a:xfrm>
            <a:custGeom>
              <a:avLst/>
              <a:gdLst/>
              <a:ahLst/>
              <a:cxnLst/>
              <a:rect l="l" t="t" r="r" b="b"/>
              <a:pathLst>
                <a:path h="99694">
                  <a:moveTo>
                    <a:pt x="0" y="99654"/>
                  </a:moveTo>
                  <a:lnTo>
                    <a:pt x="0" y="0"/>
                  </a:lnTo>
                </a:path>
              </a:pathLst>
            </a:custGeom>
            <a:ln w="5270">
              <a:solidFill>
                <a:srgbClr val="231F20"/>
              </a:solidFill>
            </a:ln>
          </p:spPr>
          <p:txBody>
            <a:bodyPr wrap="square" lIns="0" tIns="0" rIns="0" bIns="0" rtlCol="0"/>
            <a:lstStyle/>
            <a:p>
              <a:endParaRPr/>
            </a:p>
          </p:txBody>
        </p:sp>
        <p:sp>
          <p:nvSpPr>
            <p:cNvPr id="22" name="object 22"/>
            <p:cNvSpPr/>
            <p:nvPr/>
          </p:nvSpPr>
          <p:spPr>
            <a:xfrm>
              <a:off x="1239239" y="1875924"/>
              <a:ext cx="64135" cy="74930"/>
            </a:xfrm>
            <a:custGeom>
              <a:avLst/>
              <a:gdLst/>
              <a:ahLst/>
              <a:cxnLst/>
              <a:rect l="l" t="t" r="r" b="b"/>
              <a:pathLst>
                <a:path w="64134" h="74930">
                  <a:moveTo>
                    <a:pt x="31878" y="0"/>
                  </a:moveTo>
                  <a:lnTo>
                    <a:pt x="0" y="74377"/>
                  </a:lnTo>
                  <a:lnTo>
                    <a:pt x="15938" y="68400"/>
                  </a:lnTo>
                  <a:lnTo>
                    <a:pt x="31876" y="66408"/>
                  </a:lnTo>
                  <a:lnTo>
                    <a:pt x="47814" y="68400"/>
                  </a:lnTo>
                  <a:lnTo>
                    <a:pt x="63752" y="74377"/>
                  </a:lnTo>
                  <a:lnTo>
                    <a:pt x="31878" y="0"/>
                  </a:lnTo>
                  <a:close/>
                </a:path>
              </a:pathLst>
            </a:custGeom>
            <a:solidFill>
              <a:srgbClr val="231F20"/>
            </a:solidFill>
          </p:spPr>
          <p:txBody>
            <a:bodyPr wrap="square" lIns="0" tIns="0" rIns="0" bIns="0" rtlCol="0"/>
            <a:lstStyle/>
            <a:p>
              <a:endParaRPr/>
            </a:p>
          </p:txBody>
        </p:sp>
      </p:grpSp>
      <p:sp>
        <p:nvSpPr>
          <p:cNvPr id="23" name="object 23"/>
          <p:cNvSpPr txBox="1">
            <a:spLocks noGrp="1"/>
          </p:cNvSpPr>
          <p:nvPr>
            <p:ph type="sldNum" sz="quarter" idx="7"/>
          </p:nvPr>
        </p:nvSpPr>
        <p:spPr>
          <a:prstGeom prst="rect">
            <a:avLst/>
          </a:prstGeom>
        </p:spPr>
        <p:txBody>
          <a:bodyPr vert="horz" wrap="square" lIns="0" tIns="8890" rIns="0" bIns="0" rtlCol="0">
            <a:spAutoFit/>
          </a:bodyPr>
          <a:lstStyle/>
          <a:p>
            <a:pPr marL="38100">
              <a:lnSpc>
                <a:spcPct val="100000"/>
              </a:lnSpc>
              <a:spcBef>
                <a:spcPts val="70"/>
              </a:spcBef>
            </a:pPr>
            <a:r>
              <a:rPr spc="-5" dirty="0"/>
              <a:t>47</a:t>
            </a:r>
            <a:r>
              <a:rPr spc="-40" dirty="0"/>
              <a:t> </a:t>
            </a:r>
            <a:r>
              <a:rPr spc="-5" dirty="0"/>
              <a:t>/</a:t>
            </a:r>
            <a:r>
              <a:rPr spc="-35" dirty="0"/>
              <a:t> </a:t>
            </a:r>
            <a:r>
              <a:rPr spc="-5" dirty="0"/>
              <a:t>47</a:t>
            </a:r>
          </a:p>
        </p:txBody>
      </p:sp>
    </p:spTree>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398</TotalTime>
  <Words>29057</Words>
  <Application>Microsoft Office PowerPoint</Application>
  <PresentationFormat>Custom</PresentationFormat>
  <Paragraphs>2676</Paragraphs>
  <Slides>62</Slides>
  <Notes>47</Notes>
  <HiddenSlides>15</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62</vt:i4>
      </vt:variant>
    </vt:vector>
  </HeadingPairs>
  <TitlesOfParts>
    <vt:vector size="68" baseType="lpstr">
      <vt:lpstr>メイリオ</vt:lpstr>
      <vt:lpstr>Arial</vt:lpstr>
      <vt:lpstr>Calibri</vt:lpstr>
      <vt:lpstr>DeepSeek-CJK-patch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cost of a context switch</vt:lpstr>
      <vt:lpstr>PowerPoint Presentation</vt:lpstr>
      <vt:lpstr>Threads and operating systems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threads at the client side</vt:lpstr>
      <vt:lpstr>PowerPoint Presentation</vt:lpstr>
      <vt:lpstr>PowerPoint Presentation</vt:lpstr>
      <vt:lpstr>PowerPoint Presentation</vt:lpstr>
      <vt:lpstr>Why multithreading is popular: organization</vt:lpstr>
      <vt:lpstr>PowerPoint Presentation</vt:lpstr>
      <vt:lpstr>PowerPoint Presentation</vt:lpstr>
      <vt:lpstr>PowerPoint Presentation</vt:lpstr>
      <vt:lpstr>PowerPoint Presentation</vt:lpstr>
      <vt:lpstr>Condition for virtualization</vt:lpstr>
      <vt:lpstr>PowerPoint Presentation</vt:lpstr>
      <vt:lpstr>PowerPoint Presentation</vt:lpstr>
      <vt:lpstr>PowerPoint Presentation</vt:lpstr>
      <vt:lpstr>PowerPoint Presentation</vt:lpstr>
      <vt:lpstr>PowerPoint Presentation</vt:lpstr>
      <vt:lpstr>Client-side software</vt:lpstr>
      <vt:lpstr>PowerPoint Presentation</vt:lpstr>
      <vt:lpstr>PowerPoint Presentation</vt:lpstr>
      <vt:lpstr>Contacting a server Observation: most services are tied to a specific port</vt:lpstr>
      <vt:lpstr>PowerPoint Presentation</vt:lpstr>
      <vt:lpstr>PowerPoint Presentation</vt:lpstr>
      <vt:lpstr>PowerPoint Presentation</vt:lpstr>
      <vt:lpstr>Servers and state</vt:lpstr>
      <vt:lpstr>Servers and state</vt:lpstr>
      <vt:lpstr>Servers and state</vt:lpstr>
      <vt:lpstr>PowerPoint Presentation</vt:lpstr>
      <vt:lpstr>PowerPoint Presentation</vt:lpstr>
      <vt:lpstr>PowerPoint Presentation</vt:lpstr>
      <vt:lpstr>PowerPoint Presentation</vt:lpstr>
      <vt:lpstr>Server clusters</vt:lpstr>
      <vt:lpstr>When servers are spread across the Internet</vt:lpstr>
      <vt:lpstr>PowerPoint Presentation</vt:lpstr>
      <vt:lpstr>PowerPoint Presentation</vt:lpstr>
      <vt:lpstr>PowerPoint Presentation</vt:lpstr>
      <vt:lpstr>PowerPoint Presentation</vt:lpstr>
      <vt:lpstr>PowerPoint Presentation</vt:lpstr>
      <vt:lpstr>PlanetLab VServers and slices</vt:lpstr>
      <vt:lpstr>Reasons to migrate code</vt:lpstr>
      <vt:lpstr>PowerPoint Presentation</vt:lpstr>
      <vt:lpstr>PowerPoint Presentation</vt:lpstr>
      <vt:lpstr>Strong and weak mobility</vt:lpstr>
      <vt:lpstr>PowerPoint Presentation</vt:lpstr>
      <vt:lpstr>PowerPoint Presentation</vt:lpstr>
      <vt:lpstr>Performance of migrating virtual machines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Distributed Systems   (3rd Edition)</dc:title>
  <cp:lastModifiedBy>Admin</cp:lastModifiedBy>
  <cp:revision>69</cp:revision>
  <dcterms:created xsi:type="dcterms:W3CDTF">2022-03-20T07:20:24Z</dcterms:created>
  <dcterms:modified xsi:type="dcterms:W3CDTF">2025-04-20T10:24:36Z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2022-03-20T00:00:00Z</vt:filetime>
  </property>
  <property fmtid="{D5CDD505-2E9C-101B-9397-08002B2CF9AE}" pid="3" name="Creator">
    <vt:lpwstr>LaTeX with Beamer class</vt:lpwstr>
  </property>
  <property fmtid="{D5CDD505-2E9C-101B-9397-08002B2CF9AE}" pid="4" name="LastSaved">
    <vt:filetime>2022-03-20T00:00:00Z</vt:filetime>
  </property>
</Properties>
</file>